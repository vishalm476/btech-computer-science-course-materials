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311" r:id="rId11"/>
    <p:sldId id="312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313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1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873C69-8B23-4466-A7D8-E006C8FD1FBA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431699-420E-4E40-BEAD-5670669F8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755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0029CEB2-F22B-CDB4-70B6-54B4DE8FE1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67A7060C-6458-4B1F-BCA7-19D1D4539F22}" type="slidenum">
              <a:rPr lang="zh-CN" altLang="en-US" sz="1200"/>
              <a:pPr eaLnBrk="1" hangingPunct="1"/>
              <a:t>2</a:t>
            </a:fld>
            <a:endParaRPr lang="en-US" altLang="zh-CN" sz="12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30702A04-F70D-3985-1296-FAC03CCB76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55F9622A-069E-9EBF-7AB2-09CA2F8DCF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  <a:ea typeface="ＭＳ Ｐゴシック" panose="020B0600070205080204" pitchFamily="34" charset="-128"/>
              </a:rPr>
              <a:t>The examples in the first bullet refer to the Cranfield data set which we have used as a programming exercise.</a:t>
            </a:r>
          </a:p>
          <a:p>
            <a:endParaRPr lang="zh-CN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8809CB0B-4FB8-52C2-0975-6202F0EC3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216C5345-96CC-43E1-8EB6-B88BFD5A2ABB}" type="slidenum">
              <a:rPr lang="zh-CN" altLang="en-US" sz="1200"/>
              <a:pPr eaLnBrk="1" hangingPunct="1"/>
              <a:t>3</a:t>
            </a:fld>
            <a:endParaRPr lang="en-US" altLang="zh-CN" sz="12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087A446A-F81F-2D70-9AD5-B11B50644D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7838" y="717550"/>
            <a:ext cx="6365875" cy="3581400"/>
          </a:xfrm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8A33BD19-4875-C5BD-1A67-E77ADAB66E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80554015-AD5E-8DAB-5EB5-5786E8FFF6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548CE8C1-02EE-4C1A-AA6A-83163825DC9F}" type="slidenum">
              <a:rPr lang="zh-CN" altLang="en-US" sz="1200"/>
              <a:pPr eaLnBrk="1" hangingPunct="1"/>
              <a:t>6</a:t>
            </a:fld>
            <a:endParaRPr lang="en-US" altLang="zh-CN" sz="12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3527F7BB-A4B4-52E9-5729-50F8C6F48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17550"/>
            <a:ext cx="4775200" cy="3581400"/>
          </a:xfrm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0150DE23-ED84-B890-B7E7-7020E38177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1A4F60D2-8A31-B199-96A2-AF7528824F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65FA3B26-8B84-4267-90C8-0AB138FFDA4B}" type="slidenum">
              <a:rPr lang="zh-CN" altLang="en-US" sz="1200"/>
              <a:pPr eaLnBrk="1" hangingPunct="1"/>
              <a:t>7</a:t>
            </a:fld>
            <a:endParaRPr lang="en-US" altLang="zh-CN" sz="12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5BE6B261-1078-568D-A12B-80F37BBDCA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17550"/>
            <a:ext cx="4775200" cy="3581400"/>
          </a:xfrm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8ACCC6D4-A123-862D-4A1E-86CB6EF91F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611C507C-994D-F24B-B75E-0E330CEBCC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CDCDAC07-CB3B-4BBB-9729-BA5AF93CACC0}" type="slidenum">
              <a:rPr lang="zh-CN" altLang="en-US" sz="1200"/>
              <a:pPr eaLnBrk="1" hangingPunct="1"/>
              <a:t>8</a:t>
            </a:fld>
            <a:endParaRPr lang="en-US" altLang="zh-CN" sz="12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9669CE73-E9C5-2BA4-28B7-964D26AEAD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17550"/>
            <a:ext cx="4775200" cy="3581400"/>
          </a:xfrm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22C5B2D1-E2B1-40A3-011D-F32C4AC77C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D5C0A13A-CDC7-6BE3-2375-2F6E7D6EF3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CD0ACAEC-6154-48A4-9233-63C8C1B8E735}" type="slidenum">
              <a:rPr lang="zh-CN" altLang="en-US" sz="1200"/>
              <a:pPr eaLnBrk="1" hangingPunct="1"/>
              <a:t>9</a:t>
            </a:fld>
            <a:endParaRPr lang="en-US" altLang="zh-CN" sz="12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7468762A-2F94-EF5D-4A0A-A927687755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17550"/>
            <a:ext cx="4775200" cy="3581400"/>
          </a:xfrm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B9CBBCD3-FDE8-C512-0244-BB9AB2D6BC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60F4DF10-F890-0161-8073-C29A500202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94FD1EFA-060F-4A33-9CE9-711E9CFFA476}" type="slidenum">
              <a:rPr lang="zh-CN" altLang="en-US" sz="1200"/>
              <a:pPr eaLnBrk="1" hangingPunct="1"/>
              <a:t>18</a:t>
            </a:fld>
            <a:endParaRPr lang="en-US" altLang="zh-CN" sz="12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7F5780D0-CD14-F9E3-35BF-F62848931B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7838" y="717550"/>
            <a:ext cx="6365875" cy="3581400"/>
          </a:xfrm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FA33F6D8-B5A5-A14C-857E-BA08542A83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  <a:ea typeface="ＭＳ Ｐゴシック" panose="020B0600070205080204" pitchFamily="34" charset="-128"/>
              </a:rPr>
              <a:t>SMART: Cornell (Salton) IR system of 1970s to 1990s.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7DA3696A-9627-486D-05C5-5AF7D56CC4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15CCA7BC-C4EF-4DD2-9AC1-B13337AEBA12}" type="slidenum">
              <a:rPr lang="zh-CN" altLang="en-US" sz="1200"/>
              <a:pPr eaLnBrk="1" hangingPunct="1"/>
              <a:t>21</a:t>
            </a:fld>
            <a:endParaRPr lang="en-US" altLang="zh-CN" sz="12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C55EC66D-963A-FDC2-3D16-B14308A4DB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7838" y="717550"/>
            <a:ext cx="6365875" cy="3581400"/>
          </a:xfrm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0FDF3B72-36B4-5049-F964-0C16B8253B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  <a:ea typeface="ＭＳ Ｐゴシック" panose="020B0600070205080204" pitchFamily="34" charset="-128"/>
              </a:rPr>
              <a:t>Just as we modified the query in the vector space model, we can also modify it here. I’m not aware of work that uses language model based Ir this way.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632B4CF4-E3ED-CDC8-A996-DAAB55A9D2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0BF8610D-9EAF-4A62-B097-B210F2163845}" type="slidenum">
              <a:rPr lang="zh-CN" altLang="en-US" sz="1200"/>
              <a:pPr eaLnBrk="1" hangingPunct="1"/>
              <a:t>22</a:t>
            </a:fld>
            <a:endParaRPr lang="en-US" altLang="zh-CN" sz="12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16201FC5-43F5-119C-1747-1DE40E685D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17550"/>
            <a:ext cx="4775200" cy="3581400"/>
          </a:xfrm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C346D404-B182-DCDB-4388-AFBE6B8728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  <a:ea typeface="ＭＳ Ｐゴシック" panose="020B0600070205080204" pitchFamily="34" charset="-128"/>
              </a:rPr>
              <a:t>It’s harder for user to give negative feedback (absence of evidence is not evidence of absence). It’s also harder to use since relevant documents can often  form tight cluster, but non-relevant documents rarely do.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238056E5-80AE-CCF7-3E95-11270EEACC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1FA26C36-E951-48D8-A87E-451493B4275F}" type="slidenum">
              <a:rPr lang="zh-CN" altLang="en-US" sz="1200"/>
              <a:pPr eaLnBrk="1" hangingPunct="1"/>
              <a:t>24</a:t>
            </a:fld>
            <a:endParaRPr lang="en-US" altLang="zh-CN" sz="1200"/>
          </a:p>
        </p:txBody>
      </p:sp>
      <p:sp>
        <p:nvSpPr>
          <p:cNvPr id="71683" name="Text Box 2">
            <a:extLst>
              <a:ext uri="{FF2B5EF4-FFF2-40B4-BE49-F238E27FC236}">
                <a16:creationId xmlns:a16="http://schemas.microsoft.com/office/drawing/2014/main" id="{35CBDC1D-3DC6-368C-A6E0-342854036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175" y="720725"/>
            <a:ext cx="5021263" cy="360203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5235" tIns="47617" rIns="95235" bIns="47617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684" name="Text Box 3">
            <a:extLst>
              <a:ext uri="{FF2B5EF4-FFF2-40B4-BE49-F238E27FC236}">
                <a16:creationId xmlns:a16="http://schemas.microsoft.com/office/drawing/2014/main" id="{A1714569-3CB9-8AE3-2F12-C83F967DE62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74725" y="4560888"/>
            <a:ext cx="5354638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74663"/>
            <a:r>
              <a:rPr lang="en-US" altLang="zh-CN">
                <a:latin typeface="Arial" panose="020B0604020202020204" pitchFamily="34" charset="0"/>
                <a:ea typeface="ＭＳ Ｐゴシック" panose="020B0600070205080204" pitchFamily="34" charset="-128"/>
              </a:rPr>
              <a:t>Snow document puts a lot of weird historical stuff into the vectory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304ADE34-E262-0CC7-0299-3442F6EC97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FD61D30C-589B-4791-AC2B-8A62C0E495E6}" type="slidenum">
              <a:rPr lang="zh-CN" altLang="en-US" sz="1200"/>
              <a:pPr eaLnBrk="1" hangingPunct="1"/>
              <a:t>25</a:t>
            </a:fld>
            <a:endParaRPr lang="en-US" altLang="zh-CN" sz="1200"/>
          </a:p>
        </p:txBody>
      </p:sp>
      <p:sp>
        <p:nvSpPr>
          <p:cNvPr id="72707" name="Text Box 2">
            <a:extLst>
              <a:ext uri="{FF2B5EF4-FFF2-40B4-BE49-F238E27FC236}">
                <a16:creationId xmlns:a16="http://schemas.microsoft.com/office/drawing/2014/main" id="{4186A180-AD98-3138-3E74-742E69322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3638" y="717550"/>
            <a:ext cx="4992687" cy="35814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5235" tIns="47617" rIns="95235" bIns="47617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2708" name="Text Box 3">
            <a:extLst>
              <a:ext uri="{FF2B5EF4-FFF2-40B4-BE49-F238E27FC236}">
                <a16:creationId xmlns:a16="http://schemas.microsoft.com/office/drawing/2014/main" id="{2A1E9D22-7BF3-0FD7-1AC7-A1E6D1E288A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74725" y="4537075"/>
            <a:ext cx="5362575" cy="2825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735" tIns="48742" rIns="93735" bIns="48742">
            <a:spAutoFit/>
          </a:bodyPr>
          <a:lstStyle/>
          <a:p>
            <a:pPr defTabSz="474663">
              <a:spcBef>
                <a:spcPts val="475"/>
              </a:spcBef>
              <a:tabLst>
                <a:tab pos="0" algn="l"/>
                <a:tab pos="474663" algn="l"/>
                <a:tab pos="950913" algn="l"/>
                <a:tab pos="1427163" algn="l"/>
                <a:tab pos="1903413" algn="l"/>
                <a:tab pos="2379663" algn="l"/>
                <a:tab pos="2855913" algn="l"/>
                <a:tab pos="3332163" algn="l"/>
                <a:tab pos="3808413" algn="l"/>
                <a:tab pos="4284663" algn="l"/>
                <a:tab pos="4760913" algn="l"/>
                <a:tab pos="5237163" algn="l"/>
                <a:tab pos="5713413" algn="l"/>
                <a:tab pos="6189663" algn="l"/>
                <a:tab pos="6665913" algn="l"/>
                <a:tab pos="7142163" algn="l"/>
                <a:tab pos="7618413" algn="l"/>
                <a:tab pos="8094663" algn="l"/>
                <a:tab pos="8570913" algn="l"/>
                <a:tab pos="9047163" algn="l"/>
                <a:tab pos="9523413" algn="l"/>
              </a:tabLst>
            </a:pPr>
            <a:r>
              <a:rPr lang="en-GB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Q = query, Cr = relevant documents Cnr = not relevant documents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28C188FF-B660-B477-1688-121BDB3685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31E6C271-AD1C-42F4-BE33-CE691660A501}" type="slidenum">
              <a:rPr lang="zh-CN" altLang="en-US" sz="1200"/>
              <a:pPr eaLnBrk="1" hangingPunct="1"/>
              <a:t>26</a:t>
            </a:fld>
            <a:endParaRPr lang="en-US" altLang="zh-CN" sz="12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315EC483-6FFB-286D-F19A-B16AEEF325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17550"/>
            <a:ext cx="4775200" cy="3581400"/>
          </a:xfrm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D4EEF24D-EE63-7D7B-DB0A-FC32C395E4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D2974BE6-5220-6599-B315-8D60D2C357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2CB4524C-C209-4C3B-B53D-25AC9BC60892}" type="slidenum">
              <a:rPr lang="zh-CN" altLang="en-US" sz="1200"/>
              <a:pPr eaLnBrk="1" hangingPunct="1"/>
              <a:t>27</a:t>
            </a:fld>
            <a:endParaRPr lang="en-US" altLang="zh-CN" sz="1200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B4905175-C505-049D-8907-F2695316C1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7838" y="717550"/>
            <a:ext cx="6365875" cy="3581400"/>
          </a:xfrm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32210E1C-0B5E-BB61-DF3B-259931D162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DD4545F8-2375-3FF2-B0DE-4C3B80352E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41EEC742-645F-48BF-958A-6B8E0BEE622F}" type="slidenum">
              <a:rPr lang="zh-CN" altLang="en-US" sz="1200"/>
              <a:pPr eaLnBrk="1" hangingPunct="1"/>
              <a:t>28</a:t>
            </a:fld>
            <a:endParaRPr lang="en-US" altLang="zh-CN" sz="12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6E535623-9E5D-83A8-4E2C-DD9C838445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17550"/>
            <a:ext cx="4775200" cy="3581400"/>
          </a:xfrm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26FFBE39-5855-5D53-517F-B6697A9E24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56945A8F-4D50-B5B7-6F6A-53F4758773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9FDE0999-710C-4F39-B2EE-7288C8F29CA1}" type="slidenum">
              <a:rPr lang="zh-CN" altLang="en-US" sz="1200"/>
              <a:pPr eaLnBrk="1" hangingPunct="1"/>
              <a:t>29</a:t>
            </a:fld>
            <a:endParaRPr lang="en-US" altLang="zh-CN" sz="120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FDBF4767-458A-EC18-5FF0-76D97E5B72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17550"/>
            <a:ext cx="4775200" cy="3581400"/>
          </a:xfrm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E9C710FC-6132-253C-C0B4-BE6F83FC32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  <a:ea typeface="ＭＳ Ｐゴシック" panose="020B0600070205080204" pitchFamily="34" charset="-128"/>
              </a:rPr>
              <a:t>A long vector space query is like a disjunction: you have to consider documents with any of the words, and sum partial cosine similarities over the various terms.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6F5EF0A2-8D4C-5DD9-9B1F-97FD58E88F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EAE2E3AC-D97E-4600-B4D5-CA0CB3FE6F56}" type="slidenum">
              <a:rPr lang="zh-CN" altLang="en-US" sz="1200"/>
              <a:pPr eaLnBrk="1" hangingPunct="1"/>
              <a:t>30</a:t>
            </a:fld>
            <a:endParaRPr lang="en-US" altLang="zh-CN" sz="12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81759E40-85DD-E09D-D87A-3429F27AA7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925827EB-5AF7-7F73-C1DD-BE3016EE3D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  <a:ea typeface="ＭＳ Ｐゴシック" panose="020B0600070205080204" pitchFamily="34" charset="-128"/>
              </a:rPr>
              <a:t>It’s lower because the results aren’t on the documents that came in top on the original query, which are the ones most likely to be relevant.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542AD854-F225-2A19-5D09-E7C82E4EEB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59368D6D-1128-4CF3-96CD-0E124810D511}" type="slidenum">
              <a:rPr lang="zh-CN" altLang="en-US" sz="1200"/>
              <a:pPr eaLnBrk="1" hangingPunct="1"/>
              <a:t>33</a:t>
            </a:fld>
            <a:endParaRPr lang="en-US" altLang="zh-CN" sz="1200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8CCA405E-2BB5-D4C5-6C63-84A0E0036A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7838" y="717550"/>
            <a:ext cx="6365875" cy="3581400"/>
          </a:xfrm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9EE98E2D-7D08-AC06-61EF-487ACC0F7A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5D251ED4-07CF-DB59-E598-1558169117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A852C7B9-4C6B-4DAD-A557-FA6E5A49C4F6}" type="slidenum">
              <a:rPr lang="zh-CN" altLang="en-US" sz="1200"/>
              <a:pPr eaLnBrk="1" hangingPunct="1"/>
              <a:t>36</a:t>
            </a:fld>
            <a:endParaRPr lang="en-US" altLang="zh-CN" sz="12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8A9CB8A8-0540-2924-4889-B478233794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17550"/>
            <a:ext cx="4775200" cy="3581400"/>
          </a:xfrm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DCA0A8E0-6D36-975E-8101-7270A99235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A0E5F232-4E56-3964-CD4C-4192D6853C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1312C5DA-999E-4AF3-BCEF-DF6753E7553E}" type="slidenum">
              <a:rPr lang="zh-CN" altLang="en-US" sz="1200"/>
              <a:pPr eaLnBrk="1" hangingPunct="1"/>
              <a:t>38</a:t>
            </a:fld>
            <a:endParaRPr lang="en-US" altLang="zh-CN" sz="12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3473321-6AC2-42EA-6E61-4DEC5F4FF0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7838" y="717550"/>
            <a:ext cx="6365875" cy="3581400"/>
          </a:xfrm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A22FB7DC-C873-DF96-667D-5A8EF61238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1BD679F7-D7CC-8E7F-DE80-2423EB175E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3119FF52-FD5D-4FC1-BAF5-D4279E6FE2DE}" type="slidenum">
              <a:rPr lang="zh-CN" altLang="en-US" sz="1200"/>
              <a:pPr eaLnBrk="1" hangingPunct="1"/>
              <a:t>39</a:t>
            </a:fld>
            <a:endParaRPr lang="en-US" altLang="zh-CN" sz="12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29CE3B90-8BC2-1884-C724-55CE343FF4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17550"/>
            <a:ext cx="4775200" cy="3581400"/>
          </a:xfrm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645A6D1F-8F95-1B65-CA9B-4658AACA13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B50D42BB-402C-1395-50BA-C4AC14FA9E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EA826F1C-B348-46B7-8149-328607282104}" type="slidenum">
              <a:rPr lang="zh-CN" altLang="en-US" sz="1200"/>
              <a:pPr eaLnBrk="1" hangingPunct="1"/>
              <a:t>41</a:t>
            </a:fld>
            <a:endParaRPr lang="en-US" altLang="zh-CN" sz="120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A96F0E68-7338-D173-ECC4-E554E0B532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7838" y="717550"/>
            <a:ext cx="6365875" cy="3581400"/>
          </a:xfrm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87B7B89F-D2AB-69D1-14EB-303317EE66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5718F354-8B1E-F4C7-F872-D771731133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3D3327F0-B081-4497-A1C9-9E70C79BE143}" type="slidenum">
              <a:rPr lang="zh-CN" altLang="en-US" sz="1200"/>
              <a:pPr eaLnBrk="1" hangingPunct="1"/>
              <a:t>43</a:t>
            </a:fld>
            <a:endParaRPr lang="en-US" altLang="zh-CN" sz="12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47283BD7-9C94-4FDC-2853-E6F193D7DB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7838" y="717550"/>
            <a:ext cx="6365875" cy="3581400"/>
          </a:xfrm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BE5E0B7F-0DAB-0696-157C-F8071788D0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593FC113-702E-93CE-3AB2-CB785986AE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A4AA43F0-6572-45A5-8344-66D4480D669F}" type="slidenum">
              <a:rPr lang="zh-CN" altLang="en-US" sz="1200"/>
              <a:pPr eaLnBrk="1" hangingPunct="1"/>
              <a:t>44</a:t>
            </a:fld>
            <a:endParaRPr lang="en-US" altLang="zh-CN" sz="1200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63E1E730-383A-8423-2797-C0ABE9D528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17550"/>
            <a:ext cx="4775200" cy="3581400"/>
          </a:xfrm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E8C3ED75-9B5C-F11B-63E0-13C127293F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909574A7-E6D4-AC5B-ABA1-9FE91048A0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fld id="{83343922-BE4B-4378-98D7-230D02711B05}" type="slidenum">
              <a:rPr lang="zh-CN" altLang="en-US" sz="1200"/>
              <a:pPr eaLnBrk="1" hangingPunct="1"/>
              <a:t>45</a:t>
            </a:fld>
            <a:endParaRPr lang="en-US" altLang="zh-CN" sz="1200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8D1B307C-9727-EE30-0158-7DA61DB93B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265A45DB-8884-889D-77C3-E00BA18940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  <a:ea typeface="ＭＳ Ｐゴシック" panose="020B0600070205080204" pitchFamily="34" charset="-128"/>
              </a:rPr>
              <a:t>Link analysis is kind of similar too.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FE90E-5CA0-84F2-8242-F696F69F5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3687D4-F2F8-0FCF-89C1-1E1D5216ED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17D56-2B3B-B8B9-8C39-6E1FFB72C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A838-D2ED-4881-8B6F-259E892AD89F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BFB84-7286-0FD9-36C9-A13D54B96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37BB4-21D6-6B80-E0CA-833BBABE8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1D938-BCDA-4803-87EC-EF123E6E4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274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7263F-1D80-4806-B5F8-8367A7865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8232F-0143-9C47-8888-D55608383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0B028-A3EE-C7D7-A1EA-F5C6B371E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A838-D2ED-4881-8B6F-259E892AD89F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11EE8-C6DE-8FCF-EA8D-E2541D641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79CA0-45CB-43B4-2C0F-FA341BBBC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1D938-BCDA-4803-87EC-EF123E6E4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590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3C67C-3AD4-4E22-7833-A46A0E33C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E3651-98D2-46C2-A7AC-4624721EE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E0D57-FFC9-6D32-F06D-40445620F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A838-D2ED-4881-8B6F-259E892AD89F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9FF30-A205-E020-A868-72A6631DF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C4F11-1A73-7E0B-B0E2-CAA641955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1D938-BCDA-4803-87EC-EF123E6E4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613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80156-BC0C-FD6F-9C36-479AD4C70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E5BDA-B0D1-7623-8D01-996110CDD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2064-E460-56B8-B6FB-94574D83F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E2876-1BE8-49D3-6B2F-1286796B4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A838-D2ED-4881-8B6F-259E892AD89F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DF21C-5708-BD51-13DC-29C4DC67E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94347-A5AE-4936-C223-4FD30E022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1D938-BCDA-4803-87EC-EF123E6E4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811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07B7-06DB-93BE-E48D-D539293C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BEF87-4CE5-3725-91BC-5BA9F821F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486B6-2E73-1D57-A647-471680A43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35BDCB-C797-6B60-95F6-4AEB6EA2A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004388-8D38-956B-603F-C29F5F7CC3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45F43C-E2C9-2773-D887-02ADEA88B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A838-D2ED-4881-8B6F-259E892AD89F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370625-303F-7B91-AC62-A65F100F1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642043-E83D-40B3-7C95-7BC517AAE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1D938-BCDA-4803-87EC-EF123E6E4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03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CDF39-3D02-C82C-4031-98E35F506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1D150A-2D70-6512-4C85-01F4CC40A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A838-D2ED-4881-8B6F-259E892AD89F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1C910A-C1A3-A9D4-F948-9A1937B90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4CDBF9-8EBF-4242-9D78-CA31E9019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1D938-BCDA-4803-87EC-EF123E6E4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217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0045EB-143F-42A5-7B3A-662671D06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A838-D2ED-4881-8B6F-259E892AD89F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AD9F0-BF56-52DB-0435-839FD4D8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AFE60-588D-AB9A-50C5-16A40C027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1D938-BCDA-4803-87EC-EF123E6E4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57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F8D20-3DDB-F30A-40A1-A441B9F6D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FDAEA-3EDD-6D5F-3FB9-331AD87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78748-3FFD-DE2F-652D-92004EEC1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4DFAE-59AF-C273-86E9-4BEF55CE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A838-D2ED-4881-8B6F-259E892AD89F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C52F1-C1A2-4862-0849-D5C0363A0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BA62A-9519-F64C-B720-C074E463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1D938-BCDA-4803-87EC-EF123E6E4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51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291EF-6054-98FA-8A69-4AE23CA6F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ABDD5F-AFB8-F0C5-7A36-F5E07F7C40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E51D1-6F83-34B9-44C3-F461EFAEB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A0988-AE95-4A2E-74C7-A406AA82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A838-D2ED-4881-8B6F-259E892AD89F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F1EC1-90BC-6F38-6E63-AF277D9A2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4BD1E7-84D3-0ED7-6F8B-538F8C4E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1D938-BCDA-4803-87EC-EF123E6E4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361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9E40D-3E4F-43A2-8D18-310FAD903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3B885-971A-7DFA-876A-B9E64146A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0C9D4-70EE-BCD7-90E4-DD1BA1950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A838-D2ED-4881-8B6F-259E892AD89F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D0C55-CB14-9C64-0734-BD0BB2A26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4D787-F7DD-3640-1FB4-B267344F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1D938-BCDA-4803-87EC-EF123E6E4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831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D7586-BF33-E2CE-62F6-3E65F18C4C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6733C0-D46E-1C4B-F861-4916E7E83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78888-7F06-0322-1942-C85CA4A97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A838-D2ED-4881-8B6F-259E892AD89F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39E9E-0029-D157-2624-BFFFE2A4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CE0EE-071E-BE42-93F0-A05593A01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1D938-BCDA-4803-87EC-EF123E6E4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125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752600"/>
            <a:ext cx="508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52600"/>
            <a:ext cx="508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0AE55D26-0F67-DB60-B1F0-97B5B92698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83ED6E4D-FE3C-A933-7A51-4309361050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ACE76214-F702-E7CE-D0BF-31D759DAE0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39431E-3246-4EBD-978F-80B55B9A7D8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1114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294E87-B939-7FDE-F1ED-9BF864520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D87DC-B1FC-EFE9-1EB1-5DEAA8DF9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564D2-A217-3D7E-E47F-259BDFE4C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2A838-D2ED-4881-8B6F-259E892AD89F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23859-287B-E1A6-A0EF-485FCEBE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CFACC-A3EF-A033-44E1-69FBC1C72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1D938-BCDA-4803-87EC-EF123E6E4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296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F2B3A-681C-7F1B-8D2F-627585B278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Relevance Feedback and </a:t>
            </a:r>
            <a:r>
              <a:rPr lang="en-US" altLang="en-US" dirty="0">
                <a:ea typeface="ＭＳ Ｐゴシック" panose="020B0600070205080204" pitchFamily="34" charset="-128"/>
              </a:rPr>
              <a:t>Query expansion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464074-A661-5E37-2D1C-9333655B11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24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05347D2-2972-CD87-5FC3-036B1C1EAD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Overview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E6314C0-14DC-C150-CF2C-8D08026A45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Improving results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For high recall. E.g., searching for </a:t>
            </a:r>
            <a:r>
              <a:rPr lang="en-US" altLang="zh-CN" i="1">
                <a:ea typeface="宋体" panose="02010600030101010101" pitchFamily="2" charset="-122"/>
              </a:rPr>
              <a:t>aircraft</a:t>
            </a:r>
            <a:r>
              <a:rPr lang="en-US" altLang="zh-CN">
                <a:ea typeface="宋体" panose="02010600030101010101" pitchFamily="2" charset="-122"/>
              </a:rPr>
              <a:t> doesn’t match with </a:t>
            </a:r>
            <a:r>
              <a:rPr lang="en-US" altLang="zh-CN" i="1">
                <a:ea typeface="宋体" panose="02010600030101010101" pitchFamily="2" charset="-122"/>
              </a:rPr>
              <a:t>plane; </a:t>
            </a:r>
            <a:r>
              <a:rPr lang="en-US" altLang="zh-CN">
                <a:ea typeface="宋体" panose="02010600030101010101" pitchFamily="2" charset="-122"/>
              </a:rPr>
              <a:t>nor </a:t>
            </a:r>
            <a:r>
              <a:rPr lang="en-US" altLang="zh-CN" i="1">
                <a:ea typeface="宋体" panose="02010600030101010101" pitchFamily="2" charset="-122"/>
              </a:rPr>
              <a:t>thermodynamic</a:t>
            </a:r>
            <a:r>
              <a:rPr lang="en-US" altLang="zh-CN">
                <a:ea typeface="宋体" panose="02010600030101010101" pitchFamily="2" charset="-122"/>
              </a:rPr>
              <a:t> with </a:t>
            </a:r>
            <a:r>
              <a:rPr lang="en-US" altLang="zh-CN" i="1">
                <a:ea typeface="宋体" panose="02010600030101010101" pitchFamily="2" charset="-122"/>
              </a:rPr>
              <a:t>heat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Options for improving results…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Global methods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Query expansion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Thesauri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Automatic thesaurus generation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Local methods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u="sng">
                <a:ea typeface="宋体" panose="02010600030101010101" pitchFamily="2" charset="-122"/>
              </a:rPr>
              <a:t>Relevance feedback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Pseudo relevance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94D7674-71D7-61F1-608E-EA1C90A905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Relevance Feedback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EFADB397-B8AE-055D-269D-A0DA7CE399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911350"/>
            <a:ext cx="8077200" cy="471805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Relevance feedback: user feedback on relevance of docs in initial set of results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User issues a (short, simple) query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The user marks some results as relevant or non-relevant.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The system computes a better representation of the information need based on feedback.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Relevance feedback can go through one or more iterations.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Idea: it may be difficult to formulate a good query when you don’t know the collection well, so iterate</a:t>
            </a:r>
          </a:p>
        </p:txBody>
      </p:sp>
      <p:sp>
        <p:nvSpPr>
          <p:cNvPr id="15364" name="TextBox 4">
            <a:extLst>
              <a:ext uri="{FF2B5EF4-FFF2-40B4-BE49-F238E27FC236}">
                <a16:creationId xmlns:a16="http://schemas.microsoft.com/office/drawing/2014/main" id="{9D447AAA-8B56-94B5-D3F0-60FE05B49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6088E8E0-7B82-FF51-200C-85ED86589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Relevance feedback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2E0DBC67-036F-BB5E-AD56-CB55B05EE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We will use </a:t>
            </a:r>
            <a:r>
              <a:rPr lang="en-US" altLang="en-US" i="1">
                <a:ea typeface="ＭＳ Ｐゴシック" panose="020B0600070205080204" pitchFamily="34" charset="-128"/>
              </a:rPr>
              <a:t>ad hoc retrieval </a:t>
            </a:r>
            <a:r>
              <a:rPr lang="en-US" altLang="en-US">
                <a:ea typeface="ＭＳ Ｐゴシック" panose="020B0600070205080204" pitchFamily="34" charset="-128"/>
              </a:rPr>
              <a:t>to refer to regular retrieval without relevance feedback.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We now look at four examples of relevance feedback that highlight different aspects.</a:t>
            </a:r>
          </a:p>
        </p:txBody>
      </p:sp>
      <p:sp>
        <p:nvSpPr>
          <p:cNvPr id="16388" name="TextBox 4">
            <a:extLst>
              <a:ext uri="{FF2B5EF4-FFF2-40B4-BE49-F238E27FC236}">
                <a16:creationId xmlns:a16="http://schemas.microsoft.com/office/drawing/2014/main" id="{105B57E3-5CE0-0382-07E3-CA1E0328C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>
            <a:extLst>
              <a:ext uri="{FF2B5EF4-FFF2-40B4-BE49-F238E27FC236}">
                <a16:creationId xmlns:a16="http://schemas.microsoft.com/office/drawing/2014/main" id="{4B128B0A-BC45-A36E-8250-6048D7B16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7391400" cy="9906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Similar pages</a:t>
            </a:r>
          </a:p>
        </p:txBody>
      </p:sp>
      <p:pic>
        <p:nvPicPr>
          <p:cNvPr id="17411" name="Content Placeholder 6" descr="goosim.gif">
            <a:extLst>
              <a:ext uri="{FF2B5EF4-FFF2-40B4-BE49-F238E27FC236}">
                <a16:creationId xmlns:a16="http://schemas.microsoft.com/office/drawing/2014/main" id="{471F079B-E11B-1277-A4AE-1D7A15005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1600200"/>
            <a:ext cx="8915400" cy="2649538"/>
          </a:xfrm>
        </p:spPr>
      </p:pic>
      <p:sp>
        <p:nvSpPr>
          <p:cNvPr id="17412" name="Oval 7">
            <a:extLst>
              <a:ext uri="{FF2B5EF4-FFF2-40B4-BE49-F238E27FC236}">
                <a16:creationId xmlns:a16="http://schemas.microsoft.com/office/drawing/2014/main" id="{015A8AE5-35F7-42D0-5F4D-F6ADF2491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886200"/>
            <a:ext cx="1371600" cy="381000"/>
          </a:xfrm>
          <a:prstGeom prst="ellipse">
            <a:avLst/>
          </a:prstGeom>
          <a:solidFill>
            <a:schemeClr val="accent1">
              <a:alpha val="3922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EE16F1D-5ABA-9B01-012F-070CCE465C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Relevance Feedback: Example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24493D7B-D174-6CCA-2085-1227509368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911350"/>
            <a:ext cx="8077200" cy="471805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Image search engine </a:t>
            </a:r>
            <a:r>
              <a:rPr lang="en-US" altLang="zh-CN" sz="2400">
                <a:ea typeface="宋体" panose="02010600030101010101" pitchFamily="2" charset="-122"/>
              </a:rPr>
              <a:t>http://nayana.ece.ucsb.edu/imsearch/imsearch.html</a:t>
            </a: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</p:txBody>
      </p:sp>
      <p:pic>
        <p:nvPicPr>
          <p:cNvPr id="18436" name="Picture 6" descr="imagequery">
            <a:extLst>
              <a:ext uri="{FF2B5EF4-FFF2-40B4-BE49-F238E27FC236}">
                <a16:creationId xmlns:a16="http://schemas.microsoft.com/office/drawing/2014/main" id="{D18B4C0C-F122-03E1-398C-D809B11A3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767014"/>
            <a:ext cx="8153400" cy="393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TextBox 4">
            <a:extLst>
              <a:ext uri="{FF2B5EF4-FFF2-40B4-BE49-F238E27FC236}">
                <a16:creationId xmlns:a16="http://schemas.microsoft.com/office/drawing/2014/main" id="{6A827B23-70E5-9634-BCD1-807E0FADA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27B1A11-56BD-A9F5-C046-FEC8961D08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Results for Initial Query</a:t>
            </a:r>
          </a:p>
        </p:txBody>
      </p:sp>
      <p:pic>
        <p:nvPicPr>
          <p:cNvPr id="19459" name="Picture 3" descr="beforefeedback">
            <a:extLst>
              <a:ext uri="{FF2B5EF4-FFF2-40B4-BE49-F238E27FC236}">
                <a16:creationId xmlns:a16="http://schemas.microsoft.com/office/drawing/2014/main" id="{975A3BED-C2AB-60B5-944E-0A0C279805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2600" y="1685925"/>
            <a:ext cx="8686800" cy="4870450"/>
          </a:xfrm>
          <a:noFill/>
        </p:spPr>
      </p:pic>
      <p:sp>
        <p:nvSpPr>
          <p:cNvPr id="19460" name="TextBox 4">
            <a:extLst>
              <a:ext uri="{FF2B5EF4-FFF2-40B4-BE49-F238E27FC236}">
                <a16:creationId xmlns:a16="http://schemas.microsoft.com/office/drawing/2014/main" id="{01B8B43D-8773-4F37-3A46-A00B663D9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67B06060-4FE7-3619-9E74-3DEED2124D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Relevance Feedback</a:t>
            </a:r>
          </a:p>
        </p:txBody>
      </p:sp>
      <p:pic>
        <p:nvPicPr>
          <p:cNvPr id="20483" name="Picture 3" descr="feedback">
            <a:extLst>
              <a:ext uri="{FF2B5EF4-FFF2-40B4-BE49-F238E27FC236}">
                <a16:creationId xmlns:a16="http://schemas.microsoft.com/office/drawing/2014/main" id="{73F56C7D-187C-428C-3A82-BB9D574BB8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2600" y="1643064"/>
            <a:ext cx="8686800" cy="4918075"/>
          </a:xfrm>
          <a:noFill/>
        </p:spPr>
      </p:pic>
      <p:sp>
        <p:nvSpPr>
          <p:cNvPr id="20484" name="TextBox 4">
            <a:extLst>
              <a:ext uri="{FF2B5EF4-FFF2-40B4-BE49-F238E27FC236}">
                <a16:creationId xmlns:a16="http://schemas.microsoft.com/office/drawing/2014/main" id="{7BDB01CA-8CA3-414C-1730-7600F611F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C5EC9E4-0835-9974-B288-F9E3E1350A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Results after Relevance Feedback</a:t>
            </a:r>
          </a:p>
        </p:txBody>
      </p:sp>
      <p:pic>
        <p:nvPicPr>
          <p:cNvPr id="21507" name="Picture 3" descr="afterfeedback">
            <a:extLst>
              <a:ext uri="{FF2B5EF4-FFF2-40B4-BE49-F238E27FC236}">
                <a16:creationId xmlns:a16="http://schemas.microsoft.com/office/drawing/2014/main" id="{E14C8791-CF08-40C8-5661-1411CF7985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2600" y="1600200"/>
            <a:ext cx="8915400" cy="5037138"/>
          </a:xfrm>
          <a:noFill/>
        </p:spPr>
      </p:pic>
      <p:sp>
        <p:nvSpPr>
          <p:cNvPr id="21508" name="TextBox 4">
            <a:extLst>
              <a:ext uri="{FF2B5EF4-FFF2-40B4-BE49-F238E27FC236}">
                <a16:creationId xmlns:a16="http://schemas.microsoft.com/office/drawing/2014/main" id="{B887D7A4-B6B9-B4AF-56AD-5803EBC9F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FE2F8C-9BD3-22CD-111D-FD3EF7A5E4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3810" y="643467"/>
            <a:ext cx="5104379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93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4F88BE-0D73-6E6F-206A-B153D4A68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3504" y="436990"/>
            <a:ext cx="5783980" cy="622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26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43C62E4A-DF7B-35CE-FBF4-500C32AC3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Initial query/results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7769BB70-0972-1E86-9DDD-9FE496113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Initial query: </a:t>
            </a:r>
            <a:r>
              <a:rPr lang="en-US" altLang="en-US" i="1">
                <a:ea typeface="ＭＳ Ｐゴシック" panose="020B0600070205080204" pitchFamily="34" charset="-128"/>
              </a:rPr>
              <a:t>New space satellite applications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1600">
                <a:ea typeface="ＭＳ Ｐゴシック" panose="020B0600070205080204" pitchFamily="34" charset="-128"/>
              </a:rPr>
              <a:t>1. 0.539, 08/13/91, </a:t>
            </a:r>
            <a:r>
              <a:rPr lang="en-US" altLang="en-US" sz="1600">
                <a:solidFill>
                  <a:srgbClr val="0000FF"/>
                </a:solidFill>
                <a:ea typeface="ＭＳ Ｐゴシック" panose="020B0600070205080204" pitchFamily="34" charset="-128"/>
              </a:rPr>
              <a:t>NASA Hasn’t Scrapped Imaging Spectrometer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1600">
                <a:ea typeface="ＭＳ Ｐゴシック" panose="020B0600070205080204" pitchFamily="34" charset="-128"/>
              </a:rPr>
              <a:t>2. 0.533, 07/09/91, </a:t>
            </a:r>
            <a:r>
              <a:rPr lang="en-US" altLang="en-US" sz="1600">
                <a:solidFill>
                  <a:srgbClr val="0000FF"/>
                </a:solidFill>
                <a:ea typeface="ＭＳ Ｐゴシック" panose="020B0600070205080204" pitchFamily="34" charset="-128"/>
              </a:rPr>
              <a:t>NASA Scratches Environment Gear From Satellite Plan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1600">
                <a:ea typeface="ＭＳ Ｐゴシック" panose="020B0600070205080204" pitchFamily="34" charset="-128"/>
              </a:rPr>
              <a:t>3. 0.528, 04/04/90, </a:t>
            </a:r>
            <a:r>
              <a:rPr lang="en-US" altLang="en-US" sz="1600">
                <a:solidFill>
                  <a:srgbClr val="0000FF"/>
                </a:solidFill>
                <a:ea typeface="ＭＳ Ｐゴシック" panose="020B0600070205080204" pitchFamily="34" charset="-128"/>
              </a:rPr>
              <a:t>Science Panel Backs NASA Satellite Plan, But Urges Launches of Smaller Probes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1600">
                <a:ea typeface="ＭＳ Ｐゴシック" panose="020B0600070205080204" pitchFamily="34" charset="-128"/>
              </a:rPr>
              <a:t>4. 0.526, 09/09/91, </a:t>
            </a:r>
            <a:r>
              <a:rPr lang="en-US" altLang="en-US" sz="1600">
                <a:solidFill>
                  <a:srgbClr val="0000FF"/>
                </a:solidFill>
                <a:ea typeface="ＭＳ Ｐゴシック" panose="020B0600070205080204" pitchFamily="34" charset="-128"/>
              </a:rPr>
              <a:t>A NASA Satellite Project Accomplishes Incredible Feat: Staying Within Budget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1600">
                <a:ea typeface="ＭＳ Ｐゴシック" panose="020B0600070205080204" pitchFamily="34" charset="-128"/>
              </a:rPr>
              <a:t>5. 0.525, 07/24/90, </a:t>
            </a:r>
            <a:r>
              <a:rPr lang="en-US" altLang="en-US" sz="1600">
                <a:solidFill>
                  <a:srgbClr val="0000FF"/>
                </a:solidFill>
                <a:ea typeface="ＭＳ Ｐゴシック" panose="020B0600070205080204" pitchFamily="34" charset="-128"/>
              </a:rPr>
              <a:t>Scientist Who Exposed Global Warming Proposes Satellites for Climate Research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1600">
                <a:ea typeface="ＭＳ Ｐゴシック" panose="020B0600070205080204" pitchFamily="34" charset="-128"/>
              </a:rPr>
              <a:t>6. 0.524, 08/22/90, </a:t>
            </a:r>
            <a:r>
              <a:rPr lang="en-US" altLang="en-US" sz="1600">
                <a:solidFill>
                  <a:srgbClr val="0000FF"/>
                </a:solidFill>
                <a:ea typeface="ＭＳ Ｐゴシック" panose="020B0600070205080204" pitchFamily="34" charset="-128"/>
              </a:rPr>
              <a:t>Report Provides Support for the Critics Of Using Big Satellites to Study Climate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1600">
                <a:ea typeface="ＭＳ Ｐゴシック" panose="020B0600070205080204" pitchFamily="34" charset="-128"/>
              </a:rPr>
              <a:t>7. 0.516, 04/13/87, </a:t>
            </a:r>
            <a:r>
              <a:rPr lang="en-US" altLang="en-US" sz="1600">
                <a:solidFill>
                  <a:srgbClr val="0000FF"/>
                </a:solidFill>
                <a:ea typeface="ＭＳ Ｐゴシック" panose="020B0600070205080204" pitchFamily="34" charset="-128"/>
              </a:rPr>
              <a:t>Arianespace Receives Satellite Launch Pact  From Telesat Canada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1600">
                <a:ea typeface="ＭＳ Ｐゴシック" panose="020B0600070205080204" pitchFamily="34" charset="-128"/>
              </a:rPr>
              <a:t>8. 0.509, 12/02/87, </a:t>
            </a:r>
            <a:r>
              <a:rPr lang="en-US" altLang="en-US" sz="1600">
                <a:solidFill>
                  <a:srgbClr val="0000FF"/>
                </a:solidFill>
                <a:ea typeface="ＭＳ Ｐゴシック" panose="020B0600070205080204" pitchFamily="34" charset="-128"/>
              </a:rPr>
              <a:t>Telecommunications Tale of Two Companies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User then marks relevant documents with “+”.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8D5D78CD-7607-04DE-C1EE-AFC0B3B793DA}"/>
              </a:ext>
            </a:extLst>
          </p:cNvPr>
          <p:cNvGrpSpPr>
            <a:grpSpLocks/>
          </p:cNvGrpSpPr>
          <p:nvPr/>
        </p:nvGrpSpPr>
        <p:grpSpPr bwMode="auto">
          <a:xfrm>
            <a:off x="2209799" y="1976439"/>
            <a:ext cx="378630" cy="3538157"/>
            <a:chOff x="762000" y="2133600"/>
            <a:chExt cx="379322" cy="3768294"/>
          </a:xfrm>
        </p:grpSpPr>
        <p:sp>
          <p:nvSpPr>
            <p:cNvPr id="26630" name="TextBox 3">
              <a:extLst>
                <a:ext uri="{FF2B5EF4-FFF2-40B4-BE49-F238E27FC236}">
                  <a16:creationId xmlns:a16="http://schemas.microsoft.com/office/drawing/2014/main" id="{0EF48CCE-2085-23E7-33BB-C262005C09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2133600"/>
              <a:ext cx="379322" cy="491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00A000"/>
                  </a:solidFill>
                </a:rPr>
                <a:t>+</a:t>
              </a:r>
            </a:p>
          </p:txBody>
        </p:sp>
        <p:sp>
          <p:nvSpPr>
            <p:cNvPr id="26631" name="TextBox 4">
              <a:extLst>
                <a:ext uri="{FF2B5EF4-FFF2-40B4-BE49-F238E27FC236}">
                  <a16:creationId xmlns:a16="http://schemas.microsoft.com/office/drawing/2014/main" id="{48853C7F-D11D-C730-AE3B-C128186F1B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2433935"/>
              <a:ext cx="379322" cy="491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00A000"/>
                  </a:solidFill>
                </a:rPr>
                <a:t>+</a:t>
              </a:r>
            </a:p>
          </p:txBody>
        </p:sp>
        <p:sp>
          <p:nvSpPr>
            <p:cNvPr id="26632" name="TextBox 5">
              <a:extLst>
                <a:ext uri="{FF2B5EF4-FFF2-40B4-BE49-F238E27FC236}">
                  <a16:creationId xmlns:a16="http://schemas.microsoft.com/office/drawing/2014/main" id="{7014D8D0-2718-10D8-1891-79D5B368F7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5410200"/>
              <a:ext cx="379322" cy="491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00A000"/>
                  </a:solidFill>
                </a:rPr>
                <a:t>+</a:t>
              </a:r>
            </a:p>
          </p:txBody>
        </p:sp>
      </p:grpSp>
      <p:sp>
        <p:nvSpPr>
          <p:cNvPr id="26629" name="TextBox 8">
            <a:extLst>
              <a:ext uri="{FF2B5EF4-FFF2-40B4-BE49-F238E27FC236}">
                <a16:creationId xmlns:a16="http://schemas.microsoft.com/office/drawing/2014/main" id="{25C2AAEE-BB7C-5A4A-CF98-458B914A2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8A27F0BE-752E-F731-A5C0-10C732CE8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>
                <a:ea typeface="ＭＳ Ｐゴシック" panose="020B0600070205080204" pitchFamily="34" charset="-128"/>
              </a:rPr>
              <a:t>Expanded query after relevance feedback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D2CEFB69-D96F-C9DD-23E1-E03302968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2.074</a:t>
            </a:r>
            <a:r>
              <a:rPr lang="en-US" altLang="en-US" dirty="0">
                <a:ea typeface="ＭＳ Ｐゴシック" panose="020B0600070205080204" pitchFamily="34" charset="-128"/>
              </a:rPr>
              <a:t> new 			</a:t>
            </a:r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15.106</a:t>
            </a:r>
            <a:r>
              <a:rPr lang="en-US" altLang="en-US" dirty="0">
                <a:ea typeface="ＭＳ Ｐゴシック" panose="020B0600070205080204" pitchFamily="34" charset="-128"/>
              </a:rPr>
              <a:t> space</a:t>
            </a:r>
          </a:p>
          <a:p>
            <a:pPr eaLnBrk="1" hangingPunct="1"/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30.816</a:t>
            </a:r>
            <a:r>
              <a:rPr lang="en-US" altLang="en-US" dirty="0">
                <a:ea typeface="ＭＳ Ｐゴシック" panose="020B0600070205080204" pitchFamily="34" charset="-128"/>
              </a:rPr>
              <a:t> satellite 		</a:t>
            </a:r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5.660</a:t>
            </a:r>
            <a:r>
              <a:rPr lang="en-US" altLang="en-US" dirty="0">
                <a:ea typeface="ＭＳ Ｐゴシック" panose="020B0600070205080204" pitchFamily="34" charset="-128"/>
              </a:rPr>
              <a:t> application</a:t>
            </a:r>
          </a:p>
          <a:p>
            <a:pPr eaLnBrk="1" hangingPunct="1"/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5.991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dirty="0" err="1">
                <a:ea typeface="ＭＳ Ｐゴシック" panose="020B0600070205080204" pitchFamily="34" charset="-128"/>
              </a:rPr>
              <a:t>nasa</a:t>
            </a:r>
            <a:r>
              <a:rPr lang="en-US" altLang="en-US" dirty="0">
                <a:ea typeface="ＭＳ Ｐゴシック" panose="020B0600070205080204" pitchFamily="34" charset="-128"/>
              </a:rPr>
              <a:t> 		</a:t>
            </a:r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5.196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dirty="0" err="1">
                <a:ea typeface="ＭＳ Ｐゴシック" panose="020B0600070205080204" pitchFamily="34" charset="-128"/>
              </a:rPr>
              <a:t>eos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4.196</a:t>
            </a:r>
            <a:r>
              <a:rPr lang="en-US" altLang="en-US" dirty="0">
                <a:ea typeface="ＭＳ Ｐゴシック" panose="020B0600070205080204" pitchFamily="34" charset="-128"/>
              </a:rPr>
              <a:t> launch 		</a:t>
            </a:r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3.972</a:t>
            </a:r>
            <a:r>
              <a:rPr lang="en-US" altLang="en-US" dirty="0">
                <a:ea typeface="ＭＳ Ｐゴシック" panose="020B0600070205080204" pitchFamily="34" charset="-128"/>
              </a:rPr>
              <a:t> aster</a:t>
            </a:r>
          </a:p>
          <a:p>
            <a:pPr eaLnBrk="1" hangingPunct="1"/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3.516</a:t>
            </a:r>
            <a:r>
              <a:rPr lang="en-US" altLang="en-US" dirty="0">
                <a:ea typeface="ＭＳ Ｐゴシック" panose="020B0600070205080204" pitchFamily="34" charset="-128"/>
              </a:rPr>
              <a:t> instrument 	</a:t>
            </a:r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3.446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dirty="0" err="1">
                <a:ea typeface="ＭＳ Ｐゴシック" panose="020B0600070205080204" pitchFamily="34" charset="-128"/>
              </a:rPr>
              <a:t>arianespace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3.004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dirty="0" err="1">
                <a:ea typeface="ＭＳ Ｐゴシック" panose="020B0600070205080204" pitchFamily="34" charset="-128"/>
              </a:rPr>
              <a:t>bundespost</a:t>
            </a:r>
            <a:r>
              <a:rPr lang="en-US" altLang="en-US" dirty="0">
                <a:ea typeface="ＭＳ Ｐゴシック" panose="020B0600070205080204" pitchFamily="34" charset="-128"/>
              </a:rPr>
              <a:t> 	</a:t>
            </a:r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2.806</a:t>
            </a:r>
            <a:r>
              <a:rPr lang="en-US" altLang="en-US" dirty="0">
                <a:ea typeface="ＭＳ Ｐゴシック" panose="020B0600070205080204" pitchFamily="34" charset="-128"/>
              </a:rPr>
              <a:t> ss</a:t>
            </a:r>
          </a:p>
          <a:p>
            <a:pPr eaLnBrk="1" hangingPunct="1"/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2.790</a:t>
            </a:r>
            <a:r>
              <a:rPr lang="en-US" altLang="en-US" dirty="0">
                <a:ea typeface="ＭＳ Ｐゴシック" panose="020B0600070205080204" pitchFamily="34" charset="-128"/>
              </a:rPr>
              <a:t> rocket 		</a:t>
            </a:r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2.053</a:t>
            </a:r>
            <a:r>
              <a:rPr lang="en-US" altLang="en-US" dirty="0">
                <a:ea typeface="ＭＳ Ｐゴシック" panose="020B0600070205080204" pitchFamily="34" charset="-128"/>
              </a:rPr>
              <a:t> scientist</a:t>
            </a:r>
          </a:p>
          <a:p>
            <a:pPr eaLnBrk="1" hangingPunct="1"/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2.003</a:t>
            </a:r>
            <a:r>
              <a:rPr lang="en-US" altLang="en-US" dirty="0">
                <a:ea typeface="ＭＳ Ｐゴシック" panose="020B0600070205080204" pitchFamily="34" charset="-128"/>
              </a:rPr>
              <a:t> broadcast 	</a:t>
            </a:r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1.172</a:t>
            </a:r>
            <a:r>
              <a:rPr lang="en-US" altLang="en-US" dirty="0">
                <a:ea typeface="ＭＳ Ｐゴシック" panose="020B0600070205080204" pitchFamily="34" charset="-128"/>
              </a:rPr>
              <a:t> earth</a:t>
            </a:r>
          </a:p>
          <a:p>
            <a:pPr eaLnBrk="1" hangingPunct="1"/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0.836</a:t>
            </a:r>
            <a:r>
              <a:rPr lang="en-US" altLang="en-US" dirty="0">
                <a:ea typeface="ＭＳ Ｐゴシック" panose="020B0600070205080204" pitchFamily="34" charset="-128"/>
              </a:rPr>
              <a:t> oil 			</a:t>
            </a:r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0.646</a:t>
            </a:r>
            <a:r>
              <a:rPr lang="en-US" altLang="en-US" dirty="0">
                <a:ea typeface="ＭＳ Ｐゴシック" panose="020B0600070205080204" pitchFamily="34" charset="-128"/>
              </a:rPr>
              <a:t> measure</a:t>
            </a:r>
          </a:p>
        </p:txBody>
      </p:sp>
      <p:sp>
        <p:nvSpPr>
          <p:cNvPr id="27652" name="TextBox 4">
            <a:extLst>
              <a:ext uri="{FF2B5EF4-FFF2-40B4-BE49-F238E27FC236}">
                <a16:creationId xmlns:a16="http://schemas.microsoft.com/office/drawing/2014/main" id="{9F66CAF0-699B-8600-CA45-731B2CD12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68ECCB1A-87F9-9D81-10E7-1AD791EE2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Results for expanded query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A1048EF6-3E83-40E6-EC2B-49A5A4B2C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1. 0.513, 07/09/91, </a:t>
            </a:r>
            <a:r>
              <a:rPr lang="en-US" altLang="en-US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NASA Scratches Environment Gear From Satellite Plan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2. 0.500, 08/13/91, </a:t>
            </a:r>
            <a:r>
              <a:rPr lang="en-US" altLang="en-US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NASA Hasn’t Scrapped Imaging Spectrometer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3. 0.493, 08/07/89, </a:t>
            </a:r>
            <a:r>
              <a:rPr lang="en-US" altLang="en-US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When the Pentagon Launches a Secret Satellite,  Space Sleuths Do Some Spy Work of Their Own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4. 0.493, 07/31/89, </a:t>
            </a:r>
            <a:r>
              <a:rPr lang="en-US" altLang="en-US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NASA Uses ‘Warm’ Superconductors For Fast Circuit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5. 0.492, 12/02/87, </a:t>
            </a:r>
            <a:r>
              <a:rPr lang="en-US" altLang="en-US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Telecommunications Tale of Two Companies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6. 0.491, 07/09/91, </a:t>
            </a:r>
            <a:r>
              <a:rPr lang="en-US" altLang="en-US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Soviets May Adapt Parts of SS-20 Missile For Commercial Use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7. 0.490, 07/12/88, </a:t>
            </a:r>
            <a:r>
              <a:rPr lang="en-US" altLang="en-US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Gaping Gap: Pentagon Lags in Race To Match the Soviets In Rocket Launchers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8. 0.490, 06/14/90, </a:t>
            </a:r>
            <a:r>
              <a:rPr lang="en-US" altLang="en-US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Rescue of Satellite By Space Agency To Cost $90 Million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C36F889E-B6A6-DDF3-F607-AD145897B248}"/>
              </a:ext>
            </a:extLst>
          </p:cNvPr>
          <p:cNvGrpSpPr>
            <a:grpSpLocks/>
          </p:cNvGrpSpPr>
          <p:nvPr/>
        </p:nvGrpSpPr>
        <p:grpSpPr bwMode="auto">
          <a:xfrm>
            <a:off x="621891" y="1816507"/>
            <a:ext cx="346570" cy="2069089"/>
            <a:chOff x="381000" y="1733490"/>
            <a:chExt cx="346897" cy="2069149"/>
          </a:xfrm>
        </p:grpSpPr>
        <p:sp>
          <p:nvSpPr>
            <p:cNvPr id="28678" name="TextBox 3">
              <a:extLst>
                <a:ext uri="{FF2B5EF4-FFF2-40B4-BE49-F238E27FC236}">
                  <a16:creationId xmlns:a16="http://schemas.microsoft.com/office/drawing/2014/main" id="{7F0093D9-0756-C5BC-B00D-3D9037CD3A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1733490"/>
              <a:ext cx="346897" cy="400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rgbClr val="00A000"/>
                  </a:solidFill>
                </a:rPr>
                <a:t>2</a:t>
              </a:r>
              <a:endParaRPr lang="en-US" altLang="en-US" dirty="0">
                <a:solidFill>
                  <a:srgbClr val="00A000"/>
                </a:solidFill>
              </a:endParaRPr>
            </a:p>
          </p:txBody>
        </p:sp>
        <p:sp>
          <p:nvSpPr>
            <p:cNvPr id="28679" name="TextBox 4">
              <a:extLst>
                <a:ext uri="{FF2B5EF4-FFF2-40B4-BE49-F238E27FC236}">
                  <a16:creationId xmlns:a16="http://schemas.microsoft.com/office/drawing/2014/main" id="{6D615101-314A-6C89-27D1-7970FA7CF0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2038290"/>
              <a:ext cx="346897" cy="400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9pPr>
            </a:lstStyle>
            <a:p>
              <a:pPr eaLnBrk="1" hangingPunct="1"/>
              <a:r>
                <a:rPr lang="en-US" altLang="en-US" sz="2000">
                  <a:solidFill>
                    <a:srgbClr val="00A000"/>
                  </a:solidFill>
                </a:rPr>
                <a:t>1</a:t>
              </a:r>
              <a:endParaRPr lang="en-US" altLang="en-US">
                <a:solidFill>
                  <a:srgbClr val="00A000"/>
                </a:solidFill>
              </a:endParaRPr>
            </a:p>
          </p:txBody>
        </p:sp>
        <p:sp>
          <p:nvSpPr>
            <p:cNvPr id="28680" name="TextBox 5">
              <a:extLst>
                <a:ext uri="{FF2B5EF4-FFF2-40B4-BE49-F238E27FC236}">
                  <a16:creationId xmlns:a16="http://schemas.microsoft.com/office/drawing/2014/main" id="{6657359C-C74F-1214-CBFC-2C5D402349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3402517"/>
              <a:ext cx="346897" cy="400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rgbClr val="00A000"/>
                  </a:solidFill>
                </a:rPr>
                <a:t>8</a:t>
              </a:r>
              <a:endParaRPr lang="en-US" altLang="en-US" dirty="0">
                <a:solidFill>
                  <a:srgbClr val="00A000"/>
                </a:solidFill>
              </a:endParaRPr>
            </a:p>
          </p:txBody>
        </p:sp>
      </p:grpSp>
      <p:sp>
        <p:nvSpPr>
          <p:cNvPr id="28677" name="TextBox 8">
            <a:extLst>
              <a:ext uri="{FF2B5EF4-FFF2-40B4-BE49-F238E27FC236}">
                <a16:creationId xmlns:a16="http://schemas.microsoft.com/office/drawing/2014/main" id="{34C7C672-D578-170B-0E17-DBDEE8161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7E3D9EF1-4B20-2E49-DA95-2C040D610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Key concept: Centroid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7B06F5D9-6D4D-22BF-6FC2-A7A4C69D1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The </a:t>
            </a:r>
            <a:r>
              <a:rPr lang="en-US" altLang="en-US" u="sng" dirty="0">
                <a:ea typeface="ＭＳ Ｐゴシック" panose="020B0600070205080204" pitchFamily="34" charset="-128"/>
              </a:rPr>
              <a:t>centroid</a:t>
            </a:r>
            <a:r>
              <a:rPr lang="en-US" altLang="en-US" dirty="0">
                <a:ea typeface="ＭＳ Ｐゴシック" panose="020B0600070205080204" pitchFamily="34" charset="-128"/>
              </a:rPr>
              <a:t> is the center of mass of a set of points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Recall that we represent documents as points in a high-dimensional space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Definition: Centroid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where C is a set of documents.</a:t>
            </a:r>
          </a:p>
        </p:txBody>
      </p:sp>
      <p:graphicFrame>
        <p:nvGraphicFramePr>
          <p:cNvPr id="29700" name="Object 2">
            <a:extLst>
              <a:ext uri="{FF2B5EF4-FFF2-40B4-BE49-F238E27FC236}">
                <a16:creationId xmlns:a16="http://schemas.microsoft.com/office/drawing/2014/main" id="{039F491B-7C96-4D20-4B09-661F68B9A9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51526" y="3352800"/>
          <a:ext cx="2987675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100" imgH="419100" progId="Equation.3">
                  <p:embed/>
                </p:oleObj>
              </mc:Choice>
              <mc:Fallback>
                <p:oleObj name="Equation" r:id="rId2" imgW="1054100" imgH="419100" progId="Equation.3">
                  <p:embed/>
                  <p:pic>
                    <p:nvPicPr>
                      <p:cNvPr id="29700" name="Object 2">
                        <a:extLst>
                          <a:ext uri="{FF2B5EF4-FFF2-40B4-BE49-F238E27FC236}">
                            <a16:creationId xmlns:a16="http://schemas.microsoft.com/office/drawing/2014/main" id="{039F491B-7C96-4D20-4B09-661F68B9A9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1526" y="3352800"/>
                        <a:ext cx="2987675" cy="118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1" name="TextBox 5">
            <a:extLst>
              <a:ext uri="{FF2B5EF4-FFF2-40B4-BE49-F238E27FC236}">
                <a16:creationId xmlns:a16="http://schemas.microsoft.com/office/drawing/2014/main" id="{23BE947C-C59C-2CA1-318A-A76197EB9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F1C88516-FA45-54FD-5AAC-6FC8CAFB8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Rocchio Algorithm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5B5A036F-E88E-AEFA-26B7-14C6A7E1D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The </a:t>
            </a:r>
            <a:r>
              <a:rPr lang="en-US" altLang="en-US" dirty="0" err="1">
                <a:ea typeface="ＭＳ Ｐゴシック" panose="020B0600070205080204" pitchFamily="34" charset="-128"/>
              </a:rPr>
              <a:t>Rocchio</a:t>
            </a:r>
            <a:r>
              <a:rPr lang="en-US" altLang="en-US" dirty="0">
                <a:ea typeface="ＭＳ Ｐゴシック" panose="020B0600070205080204" pitchFamily="34" charset="-128"/>
              </a:rPr>
              <a:t> algorithm uses the vector space model to pick a relevance feedback query</a:t>
            </a:r>
          </a:p>
          <a:p>
            <a:pPr eaLnBrk="1" hangingPunct="1"/>
            <a:r>
              <a:rPr lang="en-US" altLang="en-US" dirty="0" err="1">
                <a:ea typeface="ＭＳ Ｐゴシック" panose="020B0600070205080204" pitchFamily="34" charset="-128"/>
              </a:rPr>
              <a:t>Rocchio</a:t>
            </a:r>
            <a:r>
              <a:rPr lang="en-US" altLang="en-US" dirty="0">
                <a:ea typeface="ＭＳ Ｐゴシック" panose="020B0600070205080204" pitchFamily="34" charset="-128"/>
              </a:rPr>
              <a:t> seeks the query </a:t>
            </a:r>
            <a:r>
              <a:rPr lang="en-US" altLang="en-US" i="1" dirty="0" err="1">
                <a:ea typeface="ＭＳ Ｐゴシック" panose="020B0600070205080204" pitchFamily="34" charset="-128"/>
              </a:rPr>
              <a:t>q</a:t>
            </a:r>
            <a:r>
              <a:rPr lang="en-US" altLang="en-US" i="1" baseline="-25000" dirty="0" err="1">
                <a:ea typeface="ＭＳ Ｐゴシック" panose="020B0600070205080204" pitchFamily="34" charset="-128"/>
              </a:rPr>
              <a:t>opt</a:t>
            </a:r>
            <a:r>
              <a:rPr lang="en-US" altLang="en-US" dirty="0">
                <a:ea typeface="ＭＳ Ｐゴシック" panose="020B0600070205080204" pitchFamily="34" charset="-128"/>
              </a:rPr>
              <a:t> that maximizes</a:t>
            </a: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Tries to separate docs marked relevant and non-relevant</a:t>
            </a: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Problem: we don’t know the truly relevant docs</a:t>
            </a:r>
          </a:p>
        </p:txBody>
      </p:sp>
      <p:cxnSp>
        <p:nvCxnSpPr>
          <p:cNvPr id="30724" name="Straight Arrow Connector 4">
            <a:extLst>
              <a:ext uri="{FF2B5EF4-FFF2-40B4-BE49-F238E27FC236}">
                <a16:creationId xmlns:a16="http://schemas.microsoft.com/office/drawing/2014/main" id="{2F5970C8-F6ED-72BC-1443-76E4474173A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19800" y="2667000"/>
            <a:ext cx="228600" cy="15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0725" name="Object 2">
            <a:extLst>
              <a:ext uri="{FF2B5EF4-FFF2-40B4-BE49-F238E27FC236}">
                <a16:creationId xmlns:a16="http://schemas.microsoft.com/office/drawing/2014/main" id="{93AF9ADB-BB98-A544-0EF3-DF5F50921A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5751" y="3251200"/>
          <a:ext cx="66532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35300" imgH="393700" progId="Equation.3">
                  <p:embed/>
                </p:oleObj>
              </mc:Choice>
              <mc:Fallback>
                <p:oleObj name="Equation" r:id="rId2" imgW="3035300" imgH="393700" progId="Equation.3">
                  <p:embed/>
                  <p:pic>
                    <p:nvPicPr>
                      <p:cNvPr id="30725" name="Object 2">
                        <a:extLst>
                          <a:ext uri="{FF2B5EF4-FFF2-40B4-BE49-F238E27FC236}">
                            <a16:creationId xmlns:a16="http://schemas.microsoft.com/office/drawing/2014/main" id="{93AF9ADB-BB98-A544-0EF3-DF5F50921A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1" y="3251200"/>
                        <a:ext cx="66532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4">
            <a:extLst>
              <a:ext uri="{FF2B5EF4-FFF2-40B4-BE49-F238E27FC236}">
                <a16:creationId xmlns:a16="http://schemas.microsoft.com/office/drawing/2014/main" id="{8B45C4E8-3113-730D-CCC8-D00B12E68A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973746"/>
              </p:ext>
            </p:extLst>
          </p:nvPr>
        </p:nvGraphicFramePr>
        <p:xfrm>
          <a:off x="3830639" y="4513010"/>
          <a:ext cx="4867275" cy="1027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90700" imgH="457200" progId="Equation.3">
                  <p:embed/>
                </p:oleObj>
              </mc:Choice>
              <mc:Fallback>
                <p:oleObj name="Equation" r:id="rId4" imgW="1790700" imgH="457200" progId="Equation.3">
                  <p:embed/>
                  <p:pic>
                    <p:nvPicPr>
                      <p:cNvPr id="30726" name="Object 4">
                        <a:extLst>
                          <a:ext uri="{FF2B5EF4-FFF2-40B4-BE49-F238E27FC236}">
                            <a16:creationId xmlns:a16="http://schemas.microsoft.com/office/drawing/2014/main" id="{8B45C4E8-3113-730D-CCC8-D00B12E68A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0639" y="4513010"/>
                        <a:ext cx="4867275" cy="10273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TextBox 7">
            <a:extLst>
              <a:ext uri="{FF2B5EF4-FFF2-40B4-BE49-F238E27FC236}">
                <a16:creationId xmlns:a16="http://schemas.microsoft.com/office/drawing/2014/main" id="{E4433411-7EF1-6C7C-A924-618218BA8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reeform 2">
            <a:extLst>
              <a:ext uri="{FF2B5EF4-FFF2-40B4-BE49-F238E27FC236}">
                <a16:creationId xmlns:a16="http://schemas.microsoft.com/office/drawing/2014/main" id="{BCEB803C-8B13-A554-49F7-822C3A7976BE}"/>
              </a:ext>
            </a:extLst>
          </p:cNvPr>
          <p:cNvSpPr>
            <a:spLocks/>
          </p:cNvSpPr>
          <p:nvPr/>
        </p:nvSpPr>
        <p:spPr bwMode="auto">
          <a:xfrm>
            <a:off x="2452688" y="1616076"/>
            <a:ext cx="6234112" cy="4430713"/>
          </a:xfrm>
          <a:custGeom>
            <a:avLst/>
            <a:gdLst>
              <a:gd name="T0" fmla="*/ 2147483647 w 3927"/>
              <a:gd name="T1" fmla="*/ 2147483647 h 2791"/>
              <a:gd name="T2" fmla="*/ 2147483647 w 3927"/>
              <a:gd name="T3" fmla="*/ 2147483647 h 2791"/>
              <a:gd name="T4" fmla="*/ 2147483647 w 3927"/>
              <a:gd name="T5" fmla="*/ 2147483647 h 2791"/>
              <a:gd name="T6" fmla="*/ 2147483647 w 3927"/>
              <a:gd name="T7" fmla="*/ 2147483647 h 2791"/>
              <a:gd name="T8" fmla="*/ 2147483647 w 3927"/>
              <a:gd name="T9" fmla="*/ 2147483647 h 2791"/>
              <a:gd name="T10" fmla="*/ 2147483647 w 3927"/>
              <a:gd name="T11" fmla="*/ 2147483647 h 2791"/>
              <a:gd name="T12" fmla="*/ 2147483647 w 3927"/>
              <a:gd name="T13" fmla="*/ 2147483647 h 2791"/>
              <a:gd name="T14" fmla="*/ 2147483647 w 3927"/>
              <a:gd name="T15" fmla="*/ 2147483647 h 2791"/>
              <a:gd name="T16" fmla="*/ 2147483647 w 3927"/>
              <a:gd name="T17" fmla="*/ 2147483647 h 2791"/>
              <a:gd name="T18" fmla="*/ 2147483647 w 3927"/>
              <a:gd name="T19" fmla="*/ 2147483647 h 2791"/>
              <a:gd name="T20" fmla="*/ 2147483647 w 3927"/>
              <a:gd name="T21" fmla="*/ 2147483647 h 2791"/>
              <a:gd name="T22" fmla="*/ 2147483647 w 3927"/>
              <a:gd name="T23" fmla="*/ 2147483647 h 2791"/>
              <a:gd name="T24" fmla="*/ 2147483647 w 3927"/>
              <a:gd name="T25" fmla="*/ 2147483647 h 2791"/>
              <a:gd name="T26" fmla="*/ 2147483647 w 3927"/>
              <a:gd name="T27" fmla="*/ 2147483647 h 2791"/>
              <a:gd name="T28" fmla="*/ 2147483647 w 3927"/>
              <a:gd name="T29" fmla="*/ 2147483647 h 2791"/>
              <a:gd name="T30" fmla="*/ 2147483647 w 3927"/>
              <a:gd name="T31" fmla="*/ 2147483647 h 2791"/>
              <a:gd name="T32" fmla="*/ 2147483647 w 3927"/>
              <a:gd name="T33" fmla="*/ 2147483647 h 2791"/>
              <a:gd name="T34" fmla="*/ 2147483647 w 3927"/>
              <a:gd name="T35" fmla="*/ 2147483647 h 2791"/>
              <a:gd name="T36" fmla="*/ 2147483647 w 3927"/>
              <a:gd name="T37" fmla="*/ 2147483647 h 2791"/>
              <a:gd name="T38" fmla="*/ 2147483647 w 3927"/>
              <a:gd name="T39" fmla="*/ 2147483647 h 2791"/>
              <a:gd name="T40" fmla="*/ 2147483647 w 3927"/>
              <a:gd name="T41" fmla="*/ 2147483647 h 2791"/>
              <a:gd name="T42" fmla="*/ 2147483647 w 3927"/>
              <a:gd name="T43" fmla="*/ 2147483647 h 2791"/>
              <a:gd name="T44" fmla="*/ 2147483647 w 3927"/>
              <a:gd name="T45" fmla="*/ 2147483647 h 2791"/>
              <a:gd name="T46" fmla="*/ 2147483647 w 3927"/>
              <a:gd name="T47" fmla="*/ 2147483647 h 2791"/>
              <a:gd name="T48" fmla="*/ 2147483647 w 3927"/>
              <a:gd name="T49" fmla="*/ 2147483647 h 2791"/>
              <a:gd name="T50" fmla="*/ 2147483647 w 3927"/>
              <a:gd name="T51" fmla="*/ 2147483647 h 2791"/>
              <a:gd name="T52" fmla="*/ 2147483647 w 3927"/>
              <a:gd name="T53" fmla="*/ 2147483647 h 2791"/>
              <a:gd name="T54" fmla="*/ 2147483647 w 3927"/>
              <a:gd name="T55" fmla="*/ 2147483647 h 2791"/>
              <a:gd name="T56" fmla="*/ 2147483647 w 3927"/>
              <a:gd name="T57" fmla="*/ 2147483647 h 2791"/>
              <a:gd name="T58" fmla="*/ 2147483647 w 3927"/>
              <a:gd name="T59" fmla="*/ 2147483647 h 2791"/>
              <a:gd name="T60" fmla="*/ 2147483647 w 3927"/>
              <a:gd name="T61" fmla="*/ 2147483647 h 2791"/>
              <a:gd name="T62" fmla="*/ 2147483647 w 3927"/>
              <a:gd name="T63" fmla="*/ 2147483647 h 2791"/>
              <a:gd name="T64" fmla="*/ 2147483647 w 3927"/>
              <a:gd name="T65" fmla="*/ 2147483647 h 2791"/>
              <a:gd name="T66" fmla="*/ 2147483647 w 3927"/>
              <a:gd name="T67" fmla="*/ 2147483647 h 2791"/>
              <a:gd name="T68" fmla="*/ 2147483647 w 3927"/>
              <a:gd name="T69" fmla="*/ 2147483647 h 2791"/>
              <a:gd name="T70" fmla="*/ 2147483647 w 3927"/>
              <a:gd name="T71" fmla="*/ 2147483647 h 2791"/>
              <a:gd name="T72" fmla="*/ 2147483647 w 3927"/>
              <a:gd name="T73" fmla="*/ 2147483647 h 2791"/>
              <a:gd name="T74" fmla="*/ 2147483647 w 3927"/>
              <a:gd name="T75" fmla="*/ 2147483647 h 2791"/>
              <a:gd name="T76" fmla="*/ 2147483647 w 3927"/>
              <a:gd name="T77" fmla="*/ 2147483647 h 2791"/>
              <a:gd name="T78" fmla="*/ 2147483647 w 3927"/>
              <a:gd name="T79" fmla="*/ 2147483647 h 2791"/>
              <a:gd name="T80" fmla="*/ 2147483647 w 3927"/>
              <a:gd name="T81" fmla="*/ 2147483647 h 2791"/>
              <a:gd name="T82" fmla="*/ 2147483647 w 3927"/>
              <a:gd name="T83" fmla="*/ 2147483647 h 2791"/>
              <a:gd name="T84" fmla="*/ 2147483647 w 3927"/>
              <a:gd name="T85" fmla="*/ 2147483647 h 2791"/>
              <a:gd name="T86" fmla="*/ 2147483647 w 3927"/>
              <a:gd name="T87" fmla="*/ 2147483647 h 2791"/>
              <a:gd name="T88" fmla="*/ 2147483647 w 3927"/>
              <a:gd name="T89" fmla="*/ 2147483647 h 2791"/>
              <a:gd name="T90" fmla="*/ 2147483647 w 3927"/>
              <a:gd name="T91" fmla="*/ 2147483647 h 2791"/>
              <a:gd name="T92" fmla="*/ 2147483647 w 3927"/>
              <a:gd name="T93" fmla="*/ 2147483647 h 2791"/>
              <a:gd name="T94" fmla="*/ 2147483647 w 3927"/>
              <a:gd name="T95" fmla="*/ 2147483647 h 2791"/>
              <a:gd name="T96" fmla="*/ 2147483647 w 3927"/>
              <a:gd name="T97" fmla="*/ 2147483647 h 2791"/>
              <a:gd name="T98" fmla="*/ 2147483647 w 3927"/>
              <a:gd name="T99" fmla="*/ 2147483647 h 2791"/>
              <a:gd name="T100" fmla="*/ 2147483647 w 3927"/>
              <a:gd name="T101" fmla="*/ 2147483647 h 2791"/>
              <a:gd name="T102" fmla="*/ 2147483647 w 3927"/>
              <a:gd name="T103" fmla="*/ 2147483647 h 2791"/>
              <a:gd name="T104" fmla="*/ 2147483647 w 3927"/>
              <a:gd name="T105" fmla="*/ 2147483647 h 2791"/>
              <a:gd name="T106" fmla="*/ 2147483647 w 3927"/>
              <a:gd name="T107" fmla="*/ 2147483647 h 2791"/>
              <a:gd name="T108" fmla="*/ 2147483647 w 3927"/>
              <a:gd name="T109" fmla="*/ 2147483647 h 2791"/>
              <a:gd name="T110" fmla="*/ 2147483647 w 3927"/>
              <a:gd name="T111" fmla="*/ 2147483647 h 2791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3927"/>
              <a:gd name="T169" fmla="*/ 0 h 2791"/>
              <a:gd name="T170" fmla="*/ 3927 w 3927"/>
              <a:gd name="T171" fmla="*/ 2791 h 2791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3927" h="2791">
                <a:moveTo>
                  <a:pt x="329" y="2491"/>
                </a:moveTo>
                <a:cubicBezTo>
                  <a:pt x="284" y="2395"/>
                  <a:pt x="261" y="2289"/>
                  <a:pt x="221" y="2190"/>
                </a:cubicBezTo>
                <a:cubicBezTo>
                  <a:pt x="206" y="2113"/>
                  <a:pt x="189" y="2026"/>
                  <a:pt x="154" y="1956"/>
                </a:cubicBezTo>
                <a:cubicBezTo>
                  <a:pt x="135" y="1782"/>
                  <a:pt x="156" y="1989"/>
                  <a:pt x="137" y="1673"/>
                </a:cubicBezTo>
                <a:cubicBezTo>
                  <a:pt x="132" y="1591"/>
                  <a:pt x="111" y="1510"/>
                  <a:pt x="96" y="1430"/>
                </a:cubicBezTo>
                <a:cubicBezTo>
                  <a:pt x="101" y="1355"/>
                  <a:pt x="112" y="1280"/>
                  <a:pt x="112" y="1205"/>
                </a:cubicBezTo>
                <a:cubicBezTo>
                  <a:pt x="112" y="1191"/>
                  <a:pt x="68" y="1097"/>
                  <a:pt x="62" y="1080"/>
                </a:cubicBezTo>
                <a:cubicBezTo>
                  <a:pt x="54" y="1031"/>
                  <a:pt x="38" y="987"/>
                  <a:pt x="29" y="938"/>
                </a:cubicBezTo>
                <a:cubicBezTo>
                  <a:pt x="19" y="822"/>
                  <a:pt x="0" y="650"/>
                  <a:pt x="71" y="546"/>
                </a:cubicBezTo>
                <a:cubicBezTo>
                  <a:pt x="94" y="474"/>
                  <a:pt x="52" y="591"/>
                  <a:pt x="129" y="479"/>
                </a:cubicBezTo>
                <a:cubicBezTo>
                  <a:pt x="137" y="467"/>
                  <a:pt x="132" y="450"/>
                  <a:pt x="137" y="437"/>
                </a:cubicBezTo>
                <a:cubicBezTo>
                  <a:pt x="154" y="396"/>
                  <a:pt x="195" y="348"/>
                  <a:pt x="229" y="320"/>
                </a:cubicBezTo>
                <a:cubicBezTo>
                  <a:pt x="282" y="277"/>
                  <a:pt x="347" y="254"/>
                  <a:pt x="405" y="220"/>
                </a:cubicBezTo>
                <a:cubicBezTo>
                  <a:pt x="466" y="185"/>
                  <a:pt x="524" y="143"/>
                  <a:pt x="588" y="112"/>
                </a:cubicBezTo>
                <a:cubicBezTo>
                  <a:pt x="739" y="38"/>
                  <a:pt x="934" y="27"/>
                  <a:pt x="1097" y="20"/>
                </a:cubicBezTo>
                <a:cubicBezTo>
                  <a:pt x="1304" y="0"/>
                  <a:pt x="1509" y="22"/>
                  <a:pt x="1715" y="36"/>
                </a:cubicBezTo>
                <a:cubicBezTo>
                  <a:pt x="1863" y="63"/>
                  <a:pt x="2009" y="30"/>
                  <a:pt x="2158" y="20"/>
                </a:cubicBezTo>
                <a:cubicBezTo>
                  <a:pt x="2355" y="27"/>
                  <a:pt x="2546" y="49"/>
                  <a:pt x="2742" y="61"/>
                </a:cubicBezTo>
                <a:cubicBezTo>
                  <a:pt x="2883" y="91"/>
                  <a:pt x="2709" y="57"/>
                  <a:pt x="3059" y="78"/>
                </a:cubicBezTo>
                <a:cubicBezTo>
                  <a:pt x="3186" y="86"/>
                  <a:pt x="3308" y="119"/>
                  <a:pt x="3435" y="128"/>
                </a:cubicBezTo>
                <a:cubicBezTo>
                  <a:pt x="3504" y="147"/>
                  <a:pt x="3574" y="165"/>
                  <a:pt x="3644" y="178"/>
                </a:cubicBezTo>
                <a:cubicBezTo>
                  <a:pt x="3679" y="202"/>
                  <a:pt x="3713" y="224"/>
                  <a:pt x="3735" y="262"/>
                </a:cubicBezTo>
                <a:cubicBezTo>
                  <a:pt x="3748" y="284"/>
                  <a:pt x="3769" y="329"/>
                  <a:pt x="3769" y="329"/>
                </a:cubicBezTo>
                <a:cubicBezTo>
                  <a:pt x="3781" y="379"/>
                  <a:pt x="3799" y="411"/>
                  <a:pt x="3827" y="454"/>
                </a:cubicBezTo>
                <a:cubicBezTo>
                  <a:pt x="3855" y="564"/>
                  <a:pt x="3893" y="664"/>
                  <a:pt x="3927" y="771"/>
                </a:cubicBezTo>
                <a:cubicBezTo>
                  <a:pt x="3924" y="852"/>
                  <a:pt x="3924" y="932"/>
                  <a:pt x="3919" y="1013"/>
                </a:cubicBezTo>
                <a:cubicBezTo>
                  <a:pt x="3917" y="1050"/>
                  <a:pt x="3900" y="1085"/>
                  <a:pt x="3894" y="1122"/>
                </a:cubicBezTo>
                <a:cubicBezTo>
                  <a:pt x="3875" y="1240"/>
                  <a:pt x="3857" y="1367"/>
                  <a:pt x="3819" y="1481"/>
                </a:cubicBezTo>
                <a:cubicBezTo>
                  <a:pt x="3813" y="1520"/>
                  <a:pt x="3808" y="1558"/>
                  <a:pt x="3802" y="1597"/>
                </a:cubicBezTo>
                <a:cubicBezTo>
                  <a:pt x="3794" y="1647"/>
                  <a:pt x="3784" y="1698"/>
                  <a:pt x="3777" y="1748"/>
                </a:cubicBezTo>
                <a:cubicBezTo>
                  <a:pt x="3753" y="1909"/>
                  <a:pt x="3768" y="2005"/>
                  <a:pt x="3585" y="2040"/>
                </a:cubicBezTo>
                <a:cubicBezTo>
                  <a:pt x="3546" y="2066"/>
                  <a:pt x="3513" y="2093"/>
                  <a:pt x="3468" y="2107"/>
                </a:cubicBezTo>
                <a:cubicBezTo>
                  <a:pt x="3446" y="2114"/>
                  <a:pt x="3401" y="2123"/>
                  <a:pt x="3401" y="2123"/>
                </a:cubicBezTo>
                <a:cubicBezTo>
                  <a:pt x="3355" y="2154"/>
                  <a:pt x="3317" y="2150"/>
                  <a:pt x="3260" y="2157"/>
                </a:cubicBezTo>
                <a:cubicBezTo>
                  <a:pt x="3151" y="2170"/>
                  <a:pt x="3043" y="2186"/>
                  <a:pt x="2934" y="2198"/>
                </a:cubicBezTo>
                <a:cubicBezTo>
                  <a:pt x="2874" y="2184"/>
                  <a:pt x="2820" y="2172"/>
                  <a:pt x="2759" y="2165"/>
                </a:cubicBezTo>
                <a:cubicBezTo>
                  <a:pt x="2712" y="2168"/>
                  <a:pt x="2664" y="2168"/>
                  <a:pt x="2617" y="2173"/>
                </a:cubicBezTo>
                <a:cubicBezTo>
                  <a:pt x="2596" y="2175"/>
                  <a:pt x="2563" y="2200"/>
                  <a:pt x="2550" y="2207"/>
                </a:cubicBezTo>
                <a:cubicBezTo>
                  <a:pt x="2506" y="2229"/>
                  <a:pt x="2455" y="2236"/>
                  <a:pt x="2408" y="2249"/>
                </a:cubicBezTo>
                <a:cubicBezTo>
                  <a:pt x="2339" y="2293"/>
                  <a:pt x="2253" y="2286"/>
                  <a:pt x="2183" y="2324"/>
                </a:cubicBezTo>
                <a:cubicBezTo>
                  <a:pt x="2053" y="2394"/>
                  <a:pt x="2185" y="2342"/>
                  <a:pt x="2016" y="2399"/>
                </a:cubicBezTo>
                <a:cubicBezTo>
                  <a:pt x="2001" y="2404"/>
                  <a:pt x="1990" y="2420"/>
                  <a:pt x="1974" y="2424"/>
                </a:cubicBezTo>
                <a:cubicBezTo>
                  <a:pt x="1809" y="2464"/>
                  <a:pt x="1637" y="2472"/>
                  <a:pt x="1473" y="2516"/>
                </a:cubicBezTo>
                <a:cubicBezTo>
                  <a:pt x="1390" y="2538"/>
                  <a:pt x="1327" y="2582"/>
                  <a:pt x="1248" y="2608"/>
                </a:cubicBezTo>
                <a:cubicBezTo>
                  <a:pt x="1149" y="2641"/>
                  <a:pt x="1053" y="2676"/>
                  <a:pt x="956" y="2716"/>
                </a:cubicBezTo>
                <a:cubicBezTo>
                  <a:pt x="912" y="2760"/>
                  <a:pt x="951" y="2731"/>
                  <a:pt x="872" y="2749"/>
                </a:cubicBezTo>
                <a:cubicBezTo>
                  <a:pt x="797" y="2766"/>
                  <a:pt x="734" y="2783"/>
                  <a:pt x="655" y="2791"/>
                </a:cubicBezTo>
                <a:cubicBezTo>
                  <a:pt x="636" y="2785"/>
                  <a:pt x="615" y="2782"/>
                  <a:pt x="597" y="2774"/>
                </a:cubicBezTo>
                <a:cubicBezTo>
                  <a:pt x="584" y="2768"/>
                  <a:pt x="575" y="2756"/>
                  <a:pt x="563" y="2749"/>
                </a:cubicBezTo>
                <a:cubicBezTo>
                  <a:pt x="555" y="2745"/>
                  <a:pt x="546" y="2744"/>
                  <a:pt x="538" y="2741"/>
                </a:cubicBezTo>
                <a:cubicBezTo>
                  <a:pt x="521" y="2724"/>
                  <a:pt x="501" y="2710"/>
                  <a:pt x="488" y="2691"/>
                </a:cubicBezTo>
                <a:cubicBezTo>
                  <a:pt x="482" y="2683"/>
                  <a:pt x="478" y="2674"/>
                  <a:pt x="471" y="2666"/>
                </a:cubicBezTo>
                <a:cubicBezTo>
                  <a:pt x="455" y="2648"/>
                  <a:pt x="421" y="2616"/>
                  <a:pt x="421" y="2616"/>
                </a:cubicBezTo>
                <a:cubicBezTo>
                  <a:pt x="418" y="2608"/>
                  <a:pt x="418" y="2598"/>
                  <a:pt x="413" y="2591"/>
                </a:cubicBezTo>
                <a:cubicBezTo>
                  <a:pt x="407" y="2583"/>
                  <a:pt x="392" y="2583"/>
                  <a:pt x="388" y="2574"/>
                </a:cubicBezTo>
                <a:cubicBezTo>
                  <a:pt x="375" y="2548"/>
                  <a:pt x="389" y="2459"/>
                  <a:pt x="329" y="2491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972F3BE-592B-2607-2F72-171B631626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The Theoretically Best Query </a:t>
            </a:r>
          </a:p>
        </p:txBody>
      </p:sp>
      <p:sp>
        <p:nvSpPr>
          <p:cNvPr id="31748" name="Text Box 4">
            <a:extLst>
              <a:ext uri="{FF2B5EF4-FFF2-40B4-BE49-F238E27FC236}">
                <a16:creationId xmlns:a16="http://schemas.microsoft.com/office/drawing/2014/main" id="{3C7B6713-A6CA-795F-2403-5BB824264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32924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1749" name="Text Box 5">
            <a:extLst>
              <a:ext uri="{FF2B5EF4-FFF2-40B4-BE49-F238E27FC236}">
                <a16:creationId xmlns:a16="http://schemas.microsoft.com/office/drawing/2014/main" id="{346ECF2B-1421-CA77-7B63-AE732450A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9288" y="28352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1750" name="Text Box 6">
            <a:extLst>
              <a:ext uri="{FF2B5EF4-FFF2-40B4-BE49-F238E27FC236}">
                <a16:creationId xmlns:a16="http://schemas.microsoft.com/office/drawing/2014/main" id="{F6717671-A8EA-E655-031F-83FB52574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88" y="35972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1751" name="Text Box 7">
            <a:extLst>
              <a:ext uri="{FF2B5EF4-FFF2-40B4-BE49-F238E27FC236}">
                <a16:creationId xmlns:a16="http://schemas.microsoft.com/office/drawing/2014/main" id="{746B3CA1-D0F5-CF8E-C9FF-561328FA0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8100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1752" name="Text Box 8">
            <a:extLst>
              <a:ext uri="{FF2B5EF4-FFF2-40B4-BE49-F238E27FC236}">
                <a16:creationId xmlns:a16="http://schemas.microsoft.com/office/drawing/2014/main" id="{1DDF51B5-C759-CF9B-4AFF-5F4055DC9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88" y="420687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o</a:t>
            </a:r>
          </a:p>
        </p:txBody>
      </p:sp>
      <p:sp>
        <p:nvSpPr>
          <p:cNvPr id="31753" name="Text Box 9">
            <a:extLst>
              <a:ext uri="{FF2B5EF4-FFF2-40B4-BE49-F238E27FC236}">
                <a16:creationId xmlns:a16="http://schemas.microsoft.com/office/drawing/2014/main" id="{8244E435-FBF7-20E9-6EB9-F486C2C29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1088" y="397827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o</a:t>
            </a:r>
          </a:p>
        </p:txBody>
      </p:sp>
      <p:sp>
        <p:nvSpPr>
          <p:cNvPr id="31754" name="Text Box 10">
            <a:extLst>
              <a:ext uri="{FF2B5EF4-FFF2-40B4-BE49-F238E27FC236}">
                <a16:creationId xmlns:a16="http://schemas.microsoft.com/office/drawing/2014/main" id="{21F1FE60-D6D7-D24E-3BF8-3DFC2C9AE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8" y="420687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o</a:t>
            </a:r>
          </a:p>
        </p:txBody>
      </p:sp>
      <p:sp>
        <p:nvSpPr>
          <p:cNvPr id="31755" name="Text Box 11">
            <a:extLst>
              <a:ext uri="{FF2B5EF4-FFF2-40B4-BE49-F238E27FC236}">
                <a16:creationId xmlns:a16="http://schemas.microsoft.com/office/drawing/2014/main" id="{ED793AC4-D95D-8FA3-3B23-E9343A09D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5807076"/>
            <a:ext cx="1752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A000"/>
                </a:solidFill>
                <a:latin typeface="Times New Roman" panose="02020603050405020304" pitchFamily="18" charset="0"/>
              </a:rPr>
              <a:t>Optimal query</a:t>
            </a:r>
          </a:p>
        </p:txBody>
      </p:sp>
      <p:sp>
        <p:nvSpPr>
          <p:cNvPr id="31756" name="Line 12">
            <a:extLst>
              <a:ext uri="{FF2B5EF4-FFF2-40B4-BE49-F238E27FC236}">
                <a16:creationId xmlns:a16="http://schemas.microsoft.com/office/drawing/2014/main" id="{16FC37AD-3D32-F2E2-7AEA-7CCED82F39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4495801"/>
            <a:ext cx="152400" cy="1387475"/>
          </a:xfrm>
          <a:prstGeom prst="line">
            <a:avLst/>
          </a:prstGeom>
          <a:noFill/>
          <a:ln w="9525">
            <a:solidFill>
              <a:srgbClr val="00A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1757" name="Text Box 13">
            <a:extLst>
              <a:ext uri="{FF2B5EF4-FFF2-40B4-BE49-F238E27FC236}">
                <a16:creationId xmlns:a16="http://schemas.microsoft.com/office/drawing/2014/main" id="{C9710433-5560-7F66-C510-7E7C93DEB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638800"/>
            <a:ext cx="3581400" cy="86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r>
              <a:rPr lang="en-US" altLang="zh-CN">
                <a:latin typeface="Times New Roman" panose="02020603050405020304" pitchFamily="18" charset="0"/>
              </a:rPr>
              <a:t>  non-relevant documents</a:t>
            </a:r>
          </a:p>
          <a:p>
            <a:pPr>
              <a:spcBef>
                <a:spcPct val="10000"/>
              </a:spcBef>
            </a:pPr>
            <a:r>
              <a:rPr lang="en-US" altLang="zh-CN"/>
              <a:t>o</a:t>
            </a:r>
            <a:r>
              <a:rPr lang="en-US" altLang="zh-CN">
                <a:latin typeface="Times New Roman" panose="02020603050405020304" pitchFamily="18" charset="0"/>
              </a:rPr>
              <a:t>  relevant documents</a:t>
            </a:r>
          </a:p>
        </p:txBody>
      </p:sp>
      <p:sp>
        <p:nvSpPr>
          <p:cNvPr id="31758" name="Text Box 14">
            <a:extLst>
              <a:ext uri="{FF2B5EF4-FFF2-40B4-BE49-F238E27FC236}">
                <a16:creationId xmlns:a16="http://schemas.microsoft.com/office/drawing/2014/main" id="{41813C80-6B83-05DC-E8D7-8AA55809D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8100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o</a:t>
            </a:r>
          </a:p>
        </p:txBody>
      </p:sp>
      <p:sp>
        <p:nvSpPr>
          <p:cNvPr id="31759" name="Text Box 15">
            <a:extLst>
              <a:ext uri="{FF2B5EF4-FFF2-40B4-BE49-F238E27FC236}">
                <a16:creationId xmlns:a16="http://schemas.microsoft.com/office/drawing/2014/main" id="{80F7252A-B0CE-D4C3-0614-64EA39D3B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2488" y="253047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o</a:t>
            </a:r>
          </a:p>
        </p:txBody>
      </p:sp>
      <p:sp>
        <p:nvSpPr>
          <p:cNvPr id="31760" name="Text Box 16">
            <a:extLst>
              <a:ext uri="{FF2B5EF4-FFF2-40B4-BE49-F238E27FC236}">
                <a16:creationId xmlns:a16="http://schemas.microsoft.com/office/drawing/2014/main" id="{475E36C8-F12E-75BA-EFF6-D83D95D02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8" y="344487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o</a:t>
            </a:r>
          </a:p>
        </p:txBody>
      </p:sp>
      <p:sp>
        <p:nvSpPr>
          <p:cNvPr id="31761" name="Text Box 17">
            <a:extLst>
              <a:ext uri="{FF2B5EF4-FFF2-40B4-BE49-F238E27FC236}">
                <a16:creationId xmlns:a16="http://schemas.microsoft.com/office/drawing/2014/main" id="{2448B682-75A2-7276-545D-681549E42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133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1762" name="Text Box 18">
            <a:extLst>
              <a:ext uri="{FF2B5EF4-FFF2-40B4-BE49-F238E27FC236}">
                <a16:creationId xmlns:a16="http://schemas.microsoft.com/office/drawing/2014/main" id="{56BCAB7F-C577-DFD2-48FD-7F59CFAB3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488" y="19970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1763" name="Text Box 19">
            <a:extLst>
              <a:ext uri="{FF2B5EF4-FFF2-40B4-BE49-F238E27FC236}">
                <a16:creationId xmlns:a16="http://schemas.microsoft.com/office/drawing/2014/main" id="{4B0D9AD8-56C1-C6A1-46B6-49BB530B9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2895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1764" name="Text Box 20">
            <a:extLst>
              <a:ext uri="{FF2B5EF4-FFF2-40B4-BE49-F238E27FC236}">
                <a16:creationId xmlns:a16="http://schemas.microsoft.com/office/drawing/2014/main" id="{ADF05847-136C-0A92-0F0C-942E9C10C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6088" y="29114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1765" name="Text Box 21">
            <a:extLst>
              <a:ext uri="{FF2B5EF4-FFF2-40B4-BE49-F238E27FC236}">
                <a16:creationId xmlns:a16="http://schemas.microsoft.com/office/drawing/2014/main" id="{CB05BF73-9F06-C792-27CD-BCA1CEB18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5908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1766" name="Text Box 22">
            <a:extLst>
              <a:ext uri="{FF2B5EF4-FFF2-40B4-BE49-F238E27FC236}">
                <a16:creationId xmlns:a16="http://schemas.microsoft.com/office/drawing/2014/main" id="{7146C4DD-5D6B-7951-1000-BAADFD834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0888" y="19208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1767" name="Text Box 23">
            <a:extLst>
              <a:ext uri="{FF2B5EF4-FFF2-40B4-BE49-F238E27FC236}">
                <a16:creationId xmlns:a16="http://schemas.microsoft.com/office/drawing/2014/main" id="{8BD95639-9A19-25DD-F530-98FFCE0B0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9718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1768" name="Text Box 24">
            <a:extLst>
              <a:ext uri="{FF2B5EF4-FFF2-40B4-BE49-F238E27FC236}">
                <a16:creationId xmlns:a16="http://schemas.microsoft.com/office/drawing/2014/main" id="{2370ACDE-AB41-17F4-7D8B-AAA3C00D6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133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1769" name="Text Box 25">
            <a:extLst>
              <a:ext uri="{FF2B5EF4-FFF2-40B4-BE49-F238E27FC236}">
                <a16:creationId xmlns:a16="http://schemas.microsoft.com/office/drawing/2014/main" id="{F614BC70-A49E-C29E-9F99-5C459D7AE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46640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1770" name="Text Box 26">
            <a:extLst>
              <a:ext uri="{FF2B5EF4-FFF2-40B4-BE49-F238E27FC236}">
                <a16:creationId xmlns:a16="http://schemas.microsoft.com/office/drawing/2014/main" id="{D276FCBA-5F77-36F3-6741-C972E3872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962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1771" name="Text Box 27">
            <a:extLst>
              <a:ext uri="{FF2B5EF4-FFF2-40B4-BE49-F238E27FC236}">
                <a16:creationId xmlns:a16="http://schemas.microsoft.com/office/drawing/2014/main" id="{7B908E64-0AA0-FA20-E389-0087160DD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0488" y="32924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1772" name="Text Box 28">
            <a:extLst>
              <a:ext uri="{FF2B5EF4-FFF2-40B4-BE49-F238E27FC236}">
                <a16:creationId xmlns:a16="http://schemas.microsoft.com/office/drawing/2014/main" id="{1D17CA7F-D4DF-0B0F-768C-50EF2817D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7488" y="43592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grpSp>
        <p:nvGrpSpPr>
          <p:cNvPr id="31773" name="Group 29">
            <a:extLst>
              <a:ext uri="{FF2B5EF4-FFF2-40B4-BE49-F238E27FC236}">
                <a16:creationId xmlns:a16="http://schemas.microsoft.com/office/drawing/2014/main" id="{1AC2AADA-D9D3-AC95-72E1-3EA4E324EA7C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191001"/>
            <a:ext cx="457200" cy="396875"/>
            <a:chOff x="4896" y="1680"/>
            <a:chExt cx="288" cy="250"/>
          </a:xfrm>
        </p:grpSpPr>
        <p:sp>
          <p:nvSpPr>
            <p:cNvPr id="31777" name="Text Box 30">
              <a:extLst>
                <a:ext uri="{FF2B5EF4-FFF2-40B4-BE49-F238E27FC236}">
                  <a16:creationId xmlns:a16="http://schemas.microsoft.com/office/drawing/2014/main" id="{B95A5542-D8C3-EB3D-8E53-E7136F9EDF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168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endPara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778" name="Freeform 31">
              <a:extLst>
                <a:ext uri="{FF2B5EF4-FFF2-40B4-BE49-F238E27FC236}">
                  <a16:creationId xmlns:a16="http://schemas.microsoft.com/office/drawing/2014/main" id="{2F29C4FC-D6EB-78C2-80C8-1C51DBB56D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" y="1773"/>
              <a:ext cx="72" cy="87"/>
            </a:xfrm>
            <a:custGeom>
              <a:avLst/>
              <a:gdLst>
                <a:gd name="T0" fmla="*/ 0 w 72"/>
                <a:gd name="T1" fmla="*/ 87 h 87"/>
                <a:gd name="T2" fmla="*/ 37 w 72"/>
                <a:gd name="T3" fmla="*/ 0 h 87"/>
                <a:gd name="T4" fmla="*/ 72 w 72"/>
                <a:gd name="T5" fmla="*/ 87 h 87"/>
                <a:gd name="T6" fmla="*/ 0 w 72"/>
                <a:gd name="T7" fmla="*/ 87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"/>
                <a:gd name="T13" fmla="*/ 0 h 87"/>
                <a:gd name="T14" fmla="*/ 72 w 72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" h="87">
                  <a:moveTo>
                    <a:pt x="0" y="87"/>
                  </a:moveTo>
                  <a:lnTo>
                    <a:pt x="37" y="0"/>
                  </a:lnTo>
                  <a:lnTo>
                    <a:pt x="72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00A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1774" name="Text Box 32">
            <a:extLst>
              <a:ext uri="{FF2B5EF4-FFF2-40B4-BE49-F238E27FC236}">
                <a16:creationId xmlns:a16="http://schemas.microsoft.com/office/drawing/2014/main" id="{D9CA9CFA-843E-707E-C241-230A450E9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8088" y="39782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1775" name="Text Box 33">
            <a:extLst>
              <a:ext uri="{FF2B5EF4-FFF2-40B4-BE49-F238E27FC236}">
                <a16:creationId xmlns:a16="http://schemas.microsoft.com/office/drawing/2014/main" id="{E0543BD7-FDA6-B0A7-01D2-ACC326274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5288" y="25304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1776" name="TextBox 34">
            <a:extLst>
              <a:ext uri="{FF2B5EF4-FFF2-40B4-BE49-F238E27FC236}">
                <a16:creationId xmlns:a16="http://schemas.microsoft.com/office/drawing/2014/main" id="{6E194C05-694A-3C8E-370C-9840316D9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9.1.1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6D39F72-AF29-EB39-DB8D-10A52A1D85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Rocchio</a:t>
            </a:r>
            <a:r>
              <a:rPr lang="en-US" altLang="zh-CN" dirty="0">
                <a:ea typeface="宋体" panose="02010600030101010101" pitchFamily="2" charset="-122"/>
              </a:rPr>
              <a:t> 1971 Algorithm (SMART)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76EA975C-166E-30C2-0D6A-3BF405CA0A4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752600"/>
            <a:ext cx="80010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Used in practice:</a:t>
            </a:r>
          </a:p>
          <a:p>
            <a:pPr eaLnBrk="1" hangingPunct="1"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2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2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1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i="1" dirty="0">
                <a:ea typeface="宋体" panose="02010600030101010101" pitchFamily="2" charset="-122"/>
              </a:rPr>
              <a:t>D</a:t>
            </a:r>
            <a:r>
              <a:rPr lang="en-US" altLang="zh-CN" sz="2400" i="1" baseline="-25000" dirty="0">
                <a:ea typeface="宋体" panose="02010600030101010101" pitchFamily="2" charset="-122"/>
              </a:rPr>
              <a:t>r  </a:t>
            </a:r>
            <a:r>
              <a:rPr lang="en-US" altLang="zh-CN" sz="2400" i="1" dirty="0">
                <a:ea typeface="宋体" panose="02010600030101010101" pitchFamily="2" charset="-122"/>
              </a:rPr>
              <a:t>= </a:t>
            </a:r>
            <a:r>
              <a:rPr lang="en-US" altLang="zh-CN" sz="2400" dirty="0">
                <a:ea typeface="宋体" panose="02010600030101010101" pitchFamily="2" charset="-122"/>
              </a:rPr>
              <a:t>set of </a:t>
            </a:r>
            <a:r>
              <a:rPr lang="en-US" altLang="zh-CN" sz="2400" u="sng" dirty="0">
                <a:ea typeface="宋体" panose="02010600030101010101" pitchFamily="2" charset="-122"/>
              </a:rPr>
              <a:t>known</a:t>
            </a:r>
            <a:r>
              <a:rPr lang="en-US" altLang="zh-CN" sz="2400" dirty="0">
                <a:ea typeface="宋体" panose="02010600030101010101" pitchFamily="2" charset="-122"/>
              </a:rPr>
              <a:t> relevant doc vectors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i="1" dirty="0" err="1">
                <a:ea typeface="宋体" panose="02010600030101010101" pitchFamily="2" charset="-122"/>
              </a:rPr>
              <a:t>D</a:t>
            </a:r>
            <a:r>
              <a:rPr lang="en-US" altLang="zh-CN" sz="2400" i="1" baseline="-25000" dirty="0" err="1">
                <a:ea typeface="宋体" panose="02010600030101010101" pitchFamily="2" charset="-122"/>
              </a:rPr>
              <a:t>nr</a:t>
            </a:r>
            <a:r>
              <a:rPr lang="en-US" altLang="zh-CN" sz="2400" dirty="0">
                <a:ea typeface="宋体" panose="02010600030101010101" pitchFamily="2" charset="-122"/>
              </a:rPr>
              <a:t> = set of </a:t>
            </a:r>
            <a:r>
              <a:rPr lang="en-US" altLang="zh-CN" sz="2400" u="sng" dirty="0">
                <a:ea typeface="宋体" panose="02010600030101010101" pitchFamily="2" charset="-122"/>
              </a:rPr>
              <a:t>known</a:t>
            </a:r>
            <a:r>
              <a:rPr lang="en-US" altLang="zh-CN" sz="2400" dirty="0">
                <a:ea typeface="宋体" panose="02010600030101010101" pitchFamily="2" charset="-122"/>
              </a:rPr>
              <a:t> irrelevant doc vectors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dirty="0">
                <a:ea typeface="宋体" panose="02010600030101010101" pitchFamily="2" charset="-122"/>
              </a:rPr>
              <a:t>Different from </a:t>
            </a:r>
            <a:r>
              <a:rPr lang="en-US" altLang="zh-CN" sz="2000" i="1" dirty="0">
                <a:ea typeface="宋体" panose="02010600030101010101" pitchFamily="2" charset="-122"/>
              </a:rPr>
              <a:t>C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r </a:t>
            </a:r>
            <a:r>
              <a:rPr lang="en-US" altLang="zh-CN" sz="2200" dirty="0">
                <a:ea typeface="宋体" panose="02010600030101010101" pitchFamily="2" charset="-122"/>
              </a:rPr>
              <a:t>and </a:t>
            </a:r>
            <a:r>
              <a:rPr lang="en-US" altLang="zh-CN" sz="2200" i="1" dirty="0" err="1">
                <a:ea typeface="宋体" panose="02010600030101010101" pitchFamily="2" charset="-122"/>
              </a:rPr>
              <a:t>C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nr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i="1" dirty="0" err="1">
                <a:ea typeface="宋体" panose="02010600030101010101" pitchFamily="2" charset="-122"/>
              </a:rPr>
              <a:t>q</a:t>
            </a:r>
            <a:r>
              <a:rPr lang="en-US" altLang="zh-CN" sz="2400" i="1" baseline="-25000" dirty="0" err="1">
                <a:ea typeface="宋体" panose="02010600030101010101" pitchFamily="2" charset="-122"/>
              </a:rPr>
              <a:t>m</a:t>
            </a:r>
            <a:r>
              <a:rPr lang="en-US" altLang="zh-CN" sz="2400" dirty="0">
                <a:ea typeface="宋体" panose="02010600030101010101" pitchFamily="2" charset="-122"/>
              </a:rPr>
              <a:t> = modified query vector; </a:t>
            </a:r>
            <a:r>
              <a:rPr lang="en-US" altLang="zh-CN" sz="2400" i="1" dirty="0">
                <a:ea typeface="宋体" panose="02010600030101010101" pitchFamily="2" charset="-122"/>
              </a:rPr>
              <a:t>q</a:t>
            </a:r>
            <a:r>
              <a:rPr lang="en-US" altLang="zh-CN" sz="2400" i="1" baseline="-25000" dirty="0">
                <a:ea typeface="宋体" panose="02010600030101010101" pitchFamily="2" charset="-122"/>
              </a:rPr>
              <a:t>0</a:t>
            </a:r>
            <a:r>
              <a:rPr lang="en-US" altLang="zh-CN" sz="2400" dirty="0">
                <a:ea typeface="宋体" panose="02010600030101010101" pitchFamily="2" charset="-122"/>
              </a:rPr>
              <a:t> = original query vector; </a:t>
            </a:r>
            <a:r>
              <a:rPr lang="el-GR" altLang="en-US" sz="2400" i="1" dirty="0">
                <a:ea typeface="ＭＳ Ｐゴシック" panose="020B0600070205080204" pitchFamily="34" charset="-128"/>
                <a:cs typeface="Arial" panose="020B0604020202020204" pitchFamily="34" charset="0"/>
              </a:rPr>
              <a:t>α</a:t>
            </a:r>
            <a:r>
              <a:rPr lang="en-US" altLang="zh-CN" sz="2400" i="1" dirty="0"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el-GR" altLang="en-US" sz="2400" i="1" dirty="0">
                <a:ea typeface="ＭＳ Ｐゴシック" panose="020B0600070205080204" pitchFamily="34" charset="-128"/>
                <a:cs typeface="Arial" panose="020B0604020202020204" pitchFamily="34" charset="0"/>
              </a:rPr>
              <a:t>β</a:t>
            </a:r>
            <a:r>
              <a:rPr lang="en-US" altLang="zh-CN" sz="2400" i="1" dirty="0">
                <a:ea typeface="宋体" panose="02010600030101010101" pitchFamily="2" charset="-122"/>
              </a:rPr>
              <a:t>,</a:t>
            </a:r>
            <a:r>
              <a:rPr lang="el-GR" altLang="en-US" sz="2400" i="1" dirty="0">
                <a:ea typeface="ＭＳ Ｐゴシック" panose="020B0600070205080204" pitchFamily="34" charset="-128"/>
                <a:cs typeface="Arial" panose="020B0604020202020204" pitchFamily="34" charset="0"/>
              </a:rPr>
              <a:t>γ</a:t>
            </a:r>
            <a:r>
              <a:rPr lang="en-US" altLang="zh-CN" sz="2400" dirty="0">
                <a:ea typeface="宋体" panose="02010600030101010101" pitchFamily="2" charset="-122"/>
              </a:rPr>
              <a:t>: weights (hand-chosen or set empirically)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New query moves toward relevant documents and away from irrelevant documents</a:t>
            </a:r>
          </a:p>
        </p:txBody>
      </p:sp>
      <p:graphicFrame>
        <p:nvGraphicFramePr>
          <p:cNvPr id="32772" name="Object 7">
            <a:extLst>
              <a:ext uri="{FF2B5EF4-FFF2-40B4-BE49-F238E27FC236}">
                <a16:creationId xmlns:a16="http://schemas.microsoft.com/office/drawing/2014/main" id="{2516C4FA-0C6B-F6B1-5092-9CE363883D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9159799"/>
              </p:ext>
            </p:extLst>
          </p:nvPr>
        </p:nvGraphicFramePr>
        <p:xfrm>
          <a:off x="2593975" y="2168832"/>
          <a:ext cx="710565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13000" imgH="457200" progId="Equation.3">
                  <p:embed/>
                </p:oleObj>
              </mc:Choice>
              <mc:Fallback>
                <p:oleObj name="Equation" r:id="rId3" imgW="2413000" imgH="457200" progId="Equation.3">
                  <p:embed/>
                  <p:pic>
                    <p:nvPicPr>
                      <p:cNvPr id="32772" name="Object 7">
                        <a:extLst>
                          <a:ext uri="{FF2B5EF4-FFF2-40B4-BE49-F238E27FC236}">
                            <a16:creationId xmlns:a16="http://schemas.microsoft.com/office/drawing/2014/main" id="{2516C4FA-0C6B-F6B1-5092-9CE363883D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975" y="2168832"/>
                        <a:ext cx="7105650" cy="134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TextBox 6">
            <a:extLst>
              <a:ext uri="{FF2B5EF4-FFF2-40B4-BE49-F238E27FC236}">
                <a16:creationId xmlns:a16="http://schemas.microsoft.com/office/drawing/2014/main" id="{73BD87CE-5023-230E-DB1F-288BBB5F2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4">
            <a:extLst>
              <a:ext uri="{FF2B5EF4-FFF2-40B4-BE49-F238E27FC236}">
                <a16:creationId xmlns:a16="http://schemas.microsoft.com/office/drawing/2014/main" id="{125B7430-3403-6B28-2F95-AB5B8B767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Subtleties to note</a:t>
            </a:r>
          </a:p>
        </p:txBody>
      </p:sp>
      <p:sp>
        <p:nvSpPr>
          <p:cNvPr id="33795" name="Content Placeholder 5">
            <a:extLst>
              <a:ext uri="{FF2B5EF4-FFF2-40B4-BE49-F238E27FC236}">
                <a16:creationId xmlns:a16="http://schemas.microsoft.com/office/drawing/2014/main" id="{334F1ABD-E15D-7FE0-2F20-732604DE5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Tradeoff </a:t>
            </a:r>
            <a:r>
              <a:rPr lang="el-GR" altLang="en-US" dirty="0">
                <a:ea typeface="ＭＳ Ｐゴシック" panose="020B0600070205080204" pitchFamily="34" charset="-128"/>
                <a:cs typeface="Arial" panose="020B0604020202020204" pitchFamily="34" charset="0"/>
              </a:rPr>
              <a:t>α</a:t>
            </a:r>
            <a:r>
              <a:rPr lang="en-US" altLang="zh-CN" dirty="0">
                <a:ea typeface="宋体" panose="02010600030101010101" pitchFamily="2" charset="-122"/>
              </a:rPr>
              <a:t> vs. </a:t>
            </a:r>
            <a:r>
              <a:rPr lang="el-GR" altLang="en-US" dirty="0">
                <a:ea typeface="ＭＳ Ｐゴシック" panose="020B0600070205080204" pitchFamily="34" charset="-128"/>
                <a:cs typeface="Arial" panose="020B0604020202020204" pitchFamily="34" charset="0"/>
              </a:rPr>
              <a:t>β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el-GR" altLang="en-US" dirty="0">
                <a:ea typeface="ＭＳ Ｐゴシック" panose="020B0600070205080204" pitchFamily="34" charset="-128"/>
                <a:cs typeface="Arial" panose="020B0604020202020204" pitchFamily="34" charset="0"/>
              </a:rPr>
              <a:t>γ</a:t>
            </a:r>
            <a:r>
              <a:rPr lang="en-US" altLang="zh-CN" dirty="0">
                <a:ea typeface="宋体" panose="02010600030101010101" pitchFamily="2" charset="-122"/>
              </a:rPr>
              <a:t> : If we have a lot of judged documents, we want a higher </a:t>
            </a:r>
            <a:r>
              <a:rPr lang="el-GR" altLang="en-US" dirty="0">
                <a:ea typeface="ＭＳ Ｐゴシック" panose="020B0600070205080204" pitchFamily="34" charset="-128"/>
                <a:cs typeface="Arial" panose="020B0604020202020204" pitchFamily="34" charset="0"/>
              </a:rPr>
              <a:t>β</a:t>
            </a:r>
            <a:r>
              <a:rPr lang="en-US" altLang="en-US" dirty="0">
                <a:ea typeface="宋体" panose="02010600030101010101" pitchFamily="2" charset="-122"/>
                <a:cs typeface="Arial" panose="020B0604020202020204" pitchFamily="34" charset="0"/>
              </a:rPr>
              <a:t> than </a:t>
            </a:r>
            <a:r>
              <a:rPr lang="el-GR" altLang="en-US" dirty="0">
                <a:ea typeface="ＭＳ Ｐゴシック" panose="020B0600070205080204" pitchFamily="34" charset="-128"/>
                <a:cs typeface="Arial" panose="020B0604020202020204" pitchFamily="34" charset="0"/>
              </a:rPr>
              <a:t>γ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Some weights in query vector can go negative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Negative term weights are ignored (set to 0)</a:t>
            </a: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3796" name="TextBox 4">
            <a:extLst>
              <a:ext uri="{FF2B5EF4-FFF2-40B4-BE49-F238E27FC236}">
                <a16:creationId xmlns:a16="http://schemas.microsoft.com/office/drawing/2014/main" id="{06993942-9E4E-A9CD-91C4-B3BBCF5B8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reeform 2">
            <a:extLst>
              <a:ext uri="{FF2B5EF4-FFF2-40B4-BE49-F238E27FC236}">
                <a16:creationId xmlns:a16="http://schemas.microsoft.com/office/drawing/2014/main" id="{F863D047-97F1-F3B9-691E-D062CB592DB4}"/>
              </a:ext>
            </a:extLst>
          </p:cNvPr>
          <p:cNvSpPr>
            <a:spLocks/>
          </p:cNvSpPr>
          <p:nvPr/>
        </p:nvSpPr>
        <p:spPr bwMode="auto">
          <a:xfrm>
            <a:off x="2452688" y="1616076"/>
            <a:ext cx="6234112" cy="4430713"/>
          </a:xfrm>
          <a:custGeom>
            <a:avLst/>
            <a:gdLst>
              <a:gd name="T0" fmla="*/ 2147483647 w 3927"/>
              <a:gd name="T1" fmla="*/ 2147483647 h 2791"/>
              <a:gd name="T2" fmla="*/ 2147483647 w 3927"/>
              <a:gd name="T3" fmla="*/ 2147483647 h 2791"/>
              <a:gd name="T4" fmla="*/ 2147483647 w 3927"/>
              <a:gd name="T5" fmla="*/ 2147483647 h 2791"/>
              <a:gd name="T6" fmla="*/ 2147483647 w 3927"/>
              <a:gd name="T7" fmla="*/ 2147483647 h 2791"/>
              <a:gd name="T8" fmla="*/ 2147483647 w 3927"/>
              <a:gd name="T9" fmla="*/ 2147483647 h 2791"/>
              <a:gd name="T10" fmla="*/ 2147483647 w 3927"/>
              <a:gd name="T11" fmla="*/ 2147483647 h 2791"/>
              <a:gd name="T12" fmla="*/ 2147483647 w 3927"/>
              <a:gd name="T13" fmla="*/ 2147483647 h 2791"/>
              <a:gd name="T14" fmla="*/ 2147483647 w 3927"/>
              <a:gd name="T15" fmla="*/ 2147483647 h 2791"/>
              <a:gd name="T16" fmla="*/ 2147483647 w 3927"/>
              <a:gd name="T17" fmla="*/ 2147483647 h 2791"/>
              <a:gd name="T18" fmla="*/ 2147483647 w 3927"/>
              <a:gd name="T19" fmla="*/ 2147483647 h 2791"/>
              <a:gd name="T20" fmla="*/ 2147483647 w 3927"/>
              <a:gd name="T21" fmla="*/ 2147483647 h 2791"/>
              <a:gd name="T22" fmla="*/ 2147483647 w 3927"/>
              <a:gd name="T23" fmla="*/ 2147483647 h 2791"/>
              <a:gd name="T24" fmla="*/ 2147483647 w 3927"/>
              <a:gd name="T25" fmla="*/ 2147483647 h 2791"/>
              <a:gd name="T26" fmla="*/ 2147483647 w 3927"/>
              <a:gd name="T27" fmla="*/ 2147483647 h 2791"/>
              <a:gd name="T28" fmla="*/ 2147483647 w 3927"/>
              <a:gd name="T29" fmla="*/ 2147483647 h 2791"/>
              <a:gd name="T30" fmla="*/ 2147483647 w 3927"/>
              <a:gd name="T31" fmla="*/ 2147483647 h 2791"/>
              <a:gd name="T32" fmla="*/ 2147483647 w 3927"/>
              <a:gd name="T33" fmla="*/ 2147483647 h 2791"/>
              <a:gd name="T34" fmla="*/ 2147483647 w 3927"/>
              <a:gd name="T35" fmla="*/ 2147483647 h 2791"/>
              <a:gd name="T36" fmla="*/ 2147483647 w 3927"/>
              <a:gd name="T37" fmla="*/ 2147483647 h 2791"/>
              <a:gd name="T38" fmla="*/ 2147483647 w 3927"/>
              <a:gd name="T39" fmla="*/ 2147483647 h 2791"/>
              <a:gd name="T40" fmla="*/ 2147483647 w 3927"/>
              <a:gd name="T41" fmla="*/ 2147483647 h 2791"/>
              <a:gd name="T42" fmla="*/ 2147483647 w 3927"/>
              <a:gd name="T43" fmla="*/ 2147483647 h 2791"/>
              <a:gd name="T44" fmla="*/ 2147483647 w 3927"/>
              <a:gd name="T45" fmla="*/ 2147483647 h 2791"/>
              <a:gd name="T46" fmla="*/ 2147483647 w 3927"/>
              <a:gd name="T47" fmla="*/ 2147483647 h 2791"/>
              <a:gd name="T48" fmla="*/ 2147483647 w 3927"/>
              <a:gd name="T49" fmla="*/ 2147483647 h 2791"/>
              <a:gd name="T50" fmla="*/ 2147483647 w 3927"/>
              <a:gd name="T51" fmla="*/ 2147483647 h 2791"/>
              <a:gd name="T52" fmla="*/ 2147483647 w 3927"/>
              <a:gd name="T53" fmla="*/ 2147483647 h 2791"/>
              <a:gd name="T54" fmla="*/ 2147483647 w 3927"/>
              <a:gd name="T55" fmla="*/ 2147483647 h 2791"/>
              <a:gd name="T56" fmla="*/ 2147483647 w 3927"/>
              <a:gd name="T57" fmla="*/ 2147483647 h 2791"/>
              <a:gd name="T58" fmla="*/ 2147483647 w 3927"/>
              <a:gd name="T59" fmla="*/ 2147483647 h 2791"/>
              <a:gd name="T60" fmla="*/ 2147483647 w 3927"/>
              <a:gd name="T61" fmla="*/ 2147483647 h 2791"/>
              <a:gd name="T62" fmla="*/ 2147483647 w 3927"/>
              <a:gd name="T63" fmla="*/ 2147483647 h 2791"/>
              <a:gd name="T64" fmla="*/ 2147483647 w 3927"/>
              <a:gd name="T65" fmla="*/ 2147483647 h 2791"/>
              <a:gd name="T66" fmla="*/ 2147483647 w 3927"/>
              <a:gd name="T67" fmla="*/ 2147483647 h 2791"/>
              <a:gd name="T68" fmla="*/ 2147483647 w 3927"/>
              <a:gd name="T69" fmla="*/ 2147483647 h 2791"/>
              <a:gd name="T70" fmla="*/ 2147483647 w 3927"/>
              <a:gd name="T71" fmla="*/ 2147483647 h 2791"/>
              <a:gd name="T72" fmla="*/ 2147483647 w 3927"/>
              <a:gd name="T73" fmla="*/ 2147483647 h 2791"/>
              <a:gd name="T74" fmla="*/ 2147483647 w 3927"/>
              <a:gd name="T75" fmla="*/ 2147483647 h 2791"/>
              <a:gd name="T76" fmla="*/ 2147483647 w 3927"/>
              <a:gd name="T77" fmla="*/ 2147483647 h 2791"/>
              <a:gd name="T78" fmla="*/ 2147483647 w 3927"/>
              <a:gd name="T79" fmla="*/ 2147483647 h 2791"/>
              <a:gd name="T80" fmla="*/ 2147483647 w 3927"/>
              <a:gd name="T81" fmla="*/ 2147483647 h 2791"/>
              <a:gd name="T82" fmla="*/ 2147483647 w 3927"/>
              <a:gd name="T83" fmla="*/ 2147483647 h 2791"/>
              <a:gd name="T84" fmla="*/ 2147483647 w 3927"/>
              <a:gd name="T85" fmla="*/ 2147483647 h 2791"/>
              <a:gd name="T86" fmla="*/ 2147483647 w 3927"/>
              <a:gd name="T87" fmla="*/ 2147483647 h 2791"/>
              <a:gd name="T88" fmla="*/ 2147483647 w 3927"/>
              <a:gd name="T89" fmla="*/ 2147483647 h 2791"/>
              <a:gd name="T90" fmla="*/ 2147483647 w 3927"/>
              <a:gd name="T91" fmla="*/ 2147483647 h 2791"/>
              <a:gd name="T92" fmla="*/ 2147483647 w 3927"/>
              <a:gd name="T93" fmla="*/ 2147483647 h 2791"/>
              <a:gd name="T94" fmla="*/ 2147483647 w 3927"/>
              <a:gd name="T95" fmla="*/ 2147483647 h 2791"/>
              <a:gd name="T96" fmla="*/ 2147483647 w 3927"/>
              <a:gd name="T97" fmla="*/ 2147483647 h 2791"/>
              <a:gd name="T98" fmla="*/ 2147483647 w 3927"/>
              <a:gd name="T99" fmla="*/ 2147483647 h 2791"/>
              <a:gd name="T100" fmla="*/ 2147483647 w 3927"/>
              <a:gd name="T101" fmla="*/ 2147483647 h 2791"/>
              <a:gd name="T102" fmla="*/ 2147483647 w 3927"/>
              <a:gd name="T103" fmla="*/ 2147483647 h 2791"/>
              <a:gd name="T104" fmla="*/ 2147483647 w 3927"/>
              <a:gd name="T105" fmla="*/ 2147483647 h 2791"/>
              <a:gd name="T106" fmla="*/ 2147483647 w 3927"/>
              <a:gd name="T107" fmla="*/ 2147483647 h 2791"/>
              <a:gd name="T108" fmla="*/ 2147483647 w 3927"/>
              <a:gd name="T109" fmla="*/ 2147483647 h 2791"/>
              <a:gd name="T110" fmla="*/ 2147483647 w 3927"/>
              <a:gd name="T111" fmla="*/ 2147483647 h 2791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3927"/>
              <a:gd name="T169" fmla="*/ 0 h 2791"/>
              <a:gd name="T170" fmla="*/ 3927 w 3927"/>
              <a:gd name="T171" fmla="*/ 2791 h 2791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3927" h="2791">
                <a:moveTo>
                  <a:pt x="329" y="2491"/>
                </a:moveTo>
                <a:cubicBezTo>
                  <a:pt x="284" y="2395"/>
                  <a:pt x="261" y="2289"/>
                  <a:pt x="221" y="2190"/>
                </a:cubicBezTo>
                <a:cubicBezTo>
                  <a:pt x="206" y="2113"/>
                  <a:pt x="189" y="2026"/>
                  <a:pt x="154" y="1956"/>
                </a:cubicBezTo>
                <a:cubicBezTo>
                  <a:pt x="135" y="1782"/>
                  <a:pt x="156" y="1989"/>
                  <a:pt x="137" y="1673"/>
                </a:cubicBezTo>
                <a:cubicBezTo>
                  <a:pt x="132" y="1591"/>
                  <a:pt x="111" y="1510"/>
                  <a:pt x="96" y="1430"/>
                </a:cubicBezTo>
                <a:cubicBezTo>
                  <a:pt x="101" y="1355"/>
                  <a:pt x="112" y="1280"/>
                  <a:pt x="112" y="1205"/>
                </a:cubicBezTo>
                <a:cubicBezTo>
                  <a:pt x="112" y="1191"/>
                  <a:pt x="68" y="1097"/>
                  <a:pt x="62" y="1080"/>
                </a:cubicBezTo>
                <a:cubicBezTo>
                  <a:pt x="54" y="1031"/>
                  <a:pt x="38" y="987"/>
                  <a:pt x="29" y="938"/>
                </a:cubicBezTo>
                <a:cubicBezTo>
                  <a:pt x="19" y="822"/>
                  <a:pt x="0" y="650"/>
                  <a:pt x="71" y="546"/>
                </a:cubicBezTo>
                <a:cubicBezTo>
                  <a:pt x="94" y="474"/>
                  <a:pt x="52" y="591"/>
                  <a:pt x="129" y="479"/>
                </a:cubicBezTo>
                <a:cubicBezTo>
                  <a:pt x="137" y="467"/>
                  <a:pt x="132" y="450"/>
                  <a:pt x="137" y="437"/>
                </a:cubicBezTo>
                <a:cubicBezTo>
                  <a:pt x="154" y="396"/>
                  <a:pt x="195" y="348"/>
                  <a:pt x="229" y="320"/>
                </a:cubicBezTo>
                <a:cubicBezTo>
                  <a:pt x="282" y="277"/>
                  <a:pt x="347" y="254"/>
                  <a:pt x="405" y="220"/>
                </a:cubicBezTo>
                <a:cubicBezTo>
                  <a:pt x="466" y="185"/>
                  <a:pt x="524" y="143"/>
                  <a:pt x="588" y="112"/>
                </a:cubicBezTo>
                <a:cubicBezTo>
                  <a:pt x="739" y="38"/>
                  <a:pt x="934" y="27"/>
                  <a:pt x="1097" y="20"/>
                </a:cubicBezTo>
                <a:cubicBezTo>
                  <a:pt x="1304" y="0"/>
                  <a:pt x="1509" y="22"/>
                  <a:pt x="1715" y="36"/>
                </a:cubicBezTo>
                <a:cubicBezTo>
                  <a:pt x="1863" y="63"/>
                  <a:pt x="2009" y="30"/>
                  <a:pt x="2158" y="20"/>
                </a:cubicBezTo>
                <a:cubicBezTo>
                  <a:pt x="2355" y="27"/>
                  <a:pt x="2546" y="49"/>
                  <a:pt x="2742" y="61"/>
                </a:cubicBezTo>
                <a:cubicBezTo>
                  <a:pt x="2883" y="91"/>
                  <a:pt x="2709" y="57"/>
                  <a:pt x="3059" y="78"/>
                </a:cubicBezTo>
                <a:cubicBezTo>
                  <a:pt x="3186" y="86"/>
                  <a:pt x="3308" y="119"/>
                  <a:pt x="3435" y="128"/>
                </a:cubicBezTo>
                <a:cubicBezTo>
                  <a:pt x="3504" y="147"/>
                  <a:pt x="3574" y="165"/>
                  <a:pt x="3644" y="178"/>
                </a:cubicBezTo>
                <a:cubicBezTo>
                  <a:pt x="3679" y="202"/>
                  <a:pt x="3713" y="224"/>
                  <a:pt x="3735" y="262"/>
                </a:cubicBezTo>
                <a:cubicBezTo>
                  <a:pt x="3748" y="284"/>
                  <a:pt x="3769" y="329"/>
                  <a:pt x="3769" y="329"/>
                </a:cubicBezTo>
                <a:cubicBezTo>
                  <a:pt x="3781" y="379"/>
                  <a:pt x="3799" y="411"/>
                  <a:pt x="3827" y="454"/>
                </a:cubicBezTo>
                <a:cubicBezTo>
                  <a:pt x="3855" y="564"/>
                  <a:pt x="3893" y="664"/>
                  <a:pt x="3927" y="771"/>
                </a:cubicBezTo>
                <a:cubicBezTo>
                  <a:pt x="3924" y="852"/>
                  <a:pt x="3924" y="932"/>
                  <a:pt x="3919" y="1013"/>
                </a:cubicBezTo>
                <a:cubicBezTo>
                  <a:pt x="3917" y="1050"/>
                  <a:pt x="3900" y="1085"/>
                  <a:pt x="3894" y="1122"/>
                </a:cubicBezTo>
                <a:cubicBezTo>
                  <a:pt x="3875" y="1240"/>
                  <a:pt x="3857" y="1367"/>
                  <a:pt x="3819" y="1481"/>
                </a:cubicBezTo>
                <a:cubicBezTo>
                  <a:pt x="3813" y="1520"/>
                  <a:pt x="3808" y="1558"/>
                  <a:pt x="3802" y="1597"/>
                </a:cubicBezTo>
                <a:cubicBezTo>
                  <a:pt x="3794" y="1647"/>
                  <a:pt x="3784" y="1698"/>
                  <a:pt x="3777" y="1748"/>
                </a:cubicBezTo>
                <a:cubicBezTo>
                  <a:pt x="3753" y="1909"/>
                  <a:pt x="3768" y="2005"/>
                  <a:pt x="3585" y="2040"/>
                </a:cubicBezTo>
                <a:cubicBezTo>
                  <a:pt x="3546" y="2066"/>
                  <a:pt x="3513" y="2093"/>
                  <a:pt x="3468" y="2107"/>
                </a:cubicBezTo>
                <a:cubicBezTo>
                  <a:pt x="3446" y="2114"/>
                  <a:pt x="3401" y="2123"/>
                  <a:pt x="3401" y="2123"/>
                </a:cubicBezTo>
                <a:cubicBezTo>
                  <a:pt x="3355" y="2154"/>
                  <a:pt x="3317" y="2150"/>
                  <a:pt x="3260" y="2157"/>
                </a:cubicBezTo>
                <a:cubicBezTo>
                  <a:pt x="3151" y="2170"/>
                  <a:pt x="3043" y="2186"/>
                  <a:pt x="2934" y="2198"/>
                </a:cubicBezTo>
                <a:cubicBezTo>
                  <a:pt x="2874" y="2184"/>
                  <a:pt x="2820" y="2172"/>
                  <a:pt x="2759" y="2165"/>
                </a:cubicBezTo>
                <a:cubicBezTo>
                  <a:pt x="2712" y="2168"/>
                  <a:pt x="2664" y="2168"/>
                  <a:pt x="2617" y="2173"/>
                </a:cubicBezTo>
                <a:cubicBezTo>
                  <a:pt x="2596" y="2175"/>
                  <a:pt x="2563" y="2200"/>
                  <a:pt x="2550" y="2207"/>
                </a:cubicBezTo>
                <a:cubicBezTo>
                  <a:pt x="2506" y="2229"/>
                  <a:pt x="2455" y="2236"/>
                  <a:pt x="2408" y="2249"/>
                </a:cubicBezTo>
                <a:cubicBezTo>
                  <a:pt x="2339" y="2293"/>
                  <a:pt x="2253" y="2286"/>
                  <a:pt x="2183" y="2324"/>
                </a:cubicBezTo>
                <a:cubicBezTo>
                  <a:pt x="2053" y="2394"/>
                  <a:pt x="2185" y="2342"/>
                  <a:pt x="2016" y="2399"/>
                </a:cubicBezTo>
                <a:cubicBezTo>
                  <a:pt x="2001" y="2404"/>
                  <a:pt x="1990" y="2420"/>
                  <a:pt x="1974" y="2424"/>
                </a:cubicBezTo>
                <a:cubicBezTo>
                  <a:pt x="1809" y="2464"/>
                  <a:pt x="1637" y="2472"/>
                  <a:pt x="1473" y="2516"/>
                </a:cubicBezTo>
                <a:cubicBezTo>
                  <a:pt x="1390" y="2538"/>
                  <a:pt x="1327" y="2582"/>
                  <a:pt x="1248" y="2608"/>
                </a:cubicBezTo>
                <a:cubicBezTo>
                  <a:pt x="1149" y="2641"/>
                  <a:pt x="1053" y="2676"/>
                  <a:pt x="956" y="2716"/>
                </a:cubicBezTo>
                <a:cubicBezTo>
                  <a:pt x="912" y="2760"/>
                  <a:pt x="951" y="2731"/>
                  <a:pt x="872" y="2749"/>
                </a:cubicBezTo>
                <a:cubicBezTo>
                  <a:pt x="797" y="2766"/>
                  <a:pt x="734" y="2783"/>
                  <a:pt x="655" y="2791"/>
                </a:cubicBezTo>
                <a:cubicBezTo>
                  <a:pt x="636" y="2785"/>
                  <a:pt x="615" y="2782"/>
                  <a:pt x="597" y="2774"/>
                </a:cubicBezTo>
                <a:cubicBezTo>
                  <a:pt x="584" y="2768"/>
                  <a:pt x="575" y="2756"/>
                  <a:pt x="563" y="2749"/>
                </a:cubicBezTo>
                <a:cubicBezTo>
                  <a:pt x="555" y="2745"/>
                  <a:pt x="546" y="2744"/>
                  <a:pt x="538" y="2741"/>
                </a:cubicBezTo>
                <a:cubicBezTo>
                  <a:pt x="521" y="2724"/>
                  <a:pt x="501" y="2710"/>
                  <a:pt x="488" y="2691"/>
                </a:cubicBezTo>
                <a:cubicBezTo>
                  <a:pt x="482" y="2683"/>
                  <a:pt x="478" y="2674"/>
                  <a:pt x="471" y="2666"/>
                </a:cubicBezTo>
                <a:cubicBezTo>
                  <a:pt x="455" y="2648"/>
                  <a:pt x="421" y="2616"/>
                  <a:pt x="421" y="2616"/>
                </a:cubicBezTo>
                <a:cubicBezTo>
                  <a:pt x="418" y="2608"/>
                  <a:pt x="418" y="2598"/>
                  <a:pt x="413" y="2591"/>
                </a:cubicBezTo>
                <a:cubicBezTo>
                  <a:pt x="407" y="2583"/>
                  <a:pt x="392" y="2583"/>
                  <a:pt x="388" y="2574"/>
                </a:cubicBezTo>
                <a:cubicBezTo>
                  <a:pt x="375" y="2548"/>
                  <a:pt x="389" y="2459"/>
                  <a:pt x="329" y="2491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415D874D-828F-9FAF-3FF1-159008C04C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Relevance feedback on initial query </a:t>
            </a:r>
          </a:p>
        </p:txBody>
      </p:sp>
      <p:sp>
        <p:nvSpPr>
          <p:cNvPr id="34820" name="Text Box 4">
            <a:extLst>
              <a:ext uri="{FF2B5EF4-FFF2-40B4-BE49-F238E27FC236}">
                <a16:creationId xmlns:a16="http://schemas.microsoft.com/office/drawing/2014/main" id="{6E409B1B-C310-9DB3-5A96-2BC7C4A3C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32924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4821" name="Text Box 5">
            <a:extLst>
              <a:ext uri="{FF2B5EF4-FFF2-40B4-BE49-F238E27FC236}">
                <a16:creationId xmlns:a16="http://schemas.microsoft.com/office/drawing/2014/main" id="{7B899F75-0E98-8110-EC93-2E0E62D37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9288" y="28352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4822" name="Text Box 6">
            <a:extLst>
              <a:ext uri="{FF2B5EF4-FFF2-40B4-BE49-F238E27FC236}">
                <a16:creationId xmlns:a16="http://schemas.microsoft.com/office/drawing/2014/main" id="{CA0F95C9-7E1B-DBD4-82E1-7BC8FF74F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88" y="35972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4823" name="Text Box 7">
            <a:extLst>
              <a:ext uri="{FF2B5EF4-FFF2-40B4-BE49-F238E27FC236}">
                <a16:creationId xmlns:a16="http://schemas.microsoft.com/office/drawing/2014/main" id="{C0A44052-CBDC-137E-1BAF-0672CD489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7088" y="38258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4824" name="Text Box 8">
            <a:extLst>
              <a:ext uri="{FF2B5EF4-FFF2-40B4-BE49-F238E27FC236}">
                <a16:creationId xmlns:a16="http://schemas.microsoft.com/office/drawing/2014/main" id="{8E10D854-3A77-43C7-A8BB-336EE5ECE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88" y="420687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o</a:t>
            </a:r>
          </a:p>
        </p:txBody>
      </p:sp>
      <p:sp>
        <p:nvSpPr>
          <p:cNvPr id="34825" name="Text Box 9">
            <a:extLst>
              <a:ext uri="{FF2B5EF4-FFF2-40B4-BE49-F238E27FC236}">
                <a16:creationId xmlns:a16="http://schemas.microsoft.com/office/drawing/2014/main" id="{30900FB9-B2F6-6D32-DB40-78969772C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1088" y="397827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o</a:t>
            </a:r>
          </a:p>
        </p:txBody>
      </p:sp>
      <p:sp>
        <p:nvSpPr>
          <p:cNvPr id="34826" name="Text Box 10">
            <a:extLst>
              <a:ext uri="{FF2B5EF4-FFF2-40B4-BE49-F238E27FC236}">
                <a16:creationId xmlns:a16="http://schemas.microsoft.com/office/drawing/2014/main" id="{EA42D651-8B47-DCF2-9F37-DBDC9B802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8" y="420687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o</a:t>
            </a:r>
          </a:p>
        </p:txBody>
      </p:sp>
      <p:sp>
        <p:nvSpPr>
          <p:cNvPr id="34827" name="Text Box 11">
            <a:extLst>
              <a:ext uri="{FF2B5EF4-FFF2-40B4-BE49-F238E27FC236}">
                <a16:creationId xmlns:a16="http://schemas.microsoft.com/office/drawing/2014/main" id="{E98F62C7-450B-DC2B-7FA8-D181B371B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5807076"/>
            <a:ext cx="1752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A000"/>
                </a:solidFill>
                <a:latin typeface="Times New Roman" panose="02020603050405020304" pitchFamily="18" charset="0"/>
              </a:rPr>
              <a:t>Revised query</a:t>
            </a:r>
          </a:p>
        </p:txBody>
      </p:sp>
      <p:sp>
        <p:nvSpPr>
          <p:cNvPr id="34828" name="Line 12">
            <a:extLst>
              <a:ext uri="{FF2B5EF4-FFF2-40B4-BE49-F238E27FC236}">
                <a16:creationId xmlns:a16="http://schemas.microsoft.com/office/drawing/2014/main" id="{E269419D-EBD6-46B6-92E9-8A54F25444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4191000"/>
            <a:ext cx="1447800" cy="1676400"/>
          </a:xfrm>
          <a:prstGeom prst="line">
            <a:avLst/>
          </a:prstGeom>
          <a:noFill/>
          <a:ln w="9525">
            <a:solidFill>
              <a:srgbClr val="00A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29" name="Text Box 13">
            <a:extLst>
              <a:ext uri="{FF2B5EF4-FFF2-40B4-BE49-F238E27FC236}">
                <a16:creationId xmlns:a16="http://schemas.microsoft.com/office/drawing/2014/main" id="{C11BD13F-993B-86A5-973A-9C876DD40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638800"/>
            <a:ext cx="4495800" cy="86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r>
              <a:rPr lang="en-US" altLang="zh-CN">
                <a:latin typeface="Times New Roman" panose="02020603050405020304" pitchFamily="18" charset="0"/>
              </a:rPr>
              <a:t>  known non-relevant documents</a:t>
            </a:r>
          </a:p>
          <a:p>
            <a:pPr>
              <a:spcBef>
                <a:spcPct val="10000"/>
              </a:spcBef>
            </a:pPr>
            <a:r>
              <a:rPr lang="en-US" altLang="zh-CN"/>
              <a:t>o</a:t>
            </a:r>
            <a:r>
              <a:rPr lang="en-US" altLang="zh-CN">
                <a:latin typeface="Times New Roman" panose="02020603050405020304" pitchFamily="18" charset="0"/>
              </a:rPr>
              <a:t>  known relevant documents</a:t>
            </a:r>
          </a:p>
        </p:txBody>
      </p:sp>
      <p:sp>
        <p:nvSpPr>
          <p:cNvPr id="34830" name="Text Box 14">
            <a:extLst>
              <a:ext uri="{FF2B5EF4-FFF2-40B4-BE49-F238E27FC236}">
                <a16:creationId xmlns:a16="http://schemas.microsoft.com/office/drawing/2014/main" id="{0E0F229F-06B2-3BBD-234F-3CF6C8802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9088" y="374967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o</a:t>
            </a:r>
          </a:p>
        </p:txBody>
      </p:sp>
      <p:sp>
        <p:nvSpPr>
          <p:cNvPr id="34831" name="Text Box 15">
            <a:extLst>
              <a:ext uri="{FF2B5EF4-FFF2-40B4-BE49-F238E27FC236}">
                <a16:creationId xmlns:a16="http://schemas.microsoft.com/office/drawing/2014/main" id="{0E0E0EA1-467B-C0CB-FA18-BCAE62898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2488" y="253047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o</a:t>
            </a:r>
          </a:p>
        </p:txBody>
      </p:sp>
      <p:sp>
        <p:nvSpPr>
          <p:cNvPr id="34832" name="Text Box 16">
            <a:extLst>
              <a:ext uri="{FF2B5EF4-FFF2-40B4-BE49-F238E27FC236}">
                <a16:creationId xmlns:a16="http://schemas.microsoft.com/office/drawing/2014/main" id="{6DCE5101-65FB-8BA8-CFCC-63F3B2FA6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8" y="344487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o</a:t>
            </a:r>
          </a:p>
        </p:txBody>
      </p:sp>
      <p:sp>
        <p:nvSpPr>
          <p:cNvPr id="34833" name="Text Box 17">
            <a:extLst>
              <a:ext uri="{FF2B5EF4-FFF2-40B4-BE49-F238E27FC236}">
                <a16:creationId xmlns:a16="http://schemas.microsoft.com/office/drawing/2014/main" id="{6E8E6153-C29C-8F38-5FC7-8956BECF7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1242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4834" name="Text Box 18">
            <a:extLst>
              <a:ext uri="{FF2B5EF4-FFF2-40B4-BE49-F238E27FC236}">
                <a16:creationId xmlns:a16="http://schemas.microsoft.com/office/drawing/2014/main" id="{20EF68D2-3EE1-31AE-1BBE-7D541DE4B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488" y="19970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4835" name="Text Box 19">
            <a:extLst>
              <a:ext uri="{FF2B5EF4-FFF2-40B4-BE49-F238E27FC236}">
                <a16:creationId xmlns:a16="http://schemas.microsoft.com/office/drawing/2014/main" id="{09EF9851-A3EC-A4C3-FE15-3BB195021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3288" y="30638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4836" name="Text Box 20">
            <a:extLst>
              <a:ext uri="{FF2B5EF4-FFF2-40B4-BE49-F238E27FC236}">
                <a16:creationId xmlns:a16="http://schemas.microsoft.com/office/drawing/2014/main" id="{1E402D3E-6C65-0A56-06BB-00C0A4541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6088" y="29114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4837" name="Text Box 21">
            <a:extLst>
              <a:ext uri="{FF2B5EF4-FFF2-40B4-BE49-F238E27FC236}">
                <a16:creationId xmlns:a16="http://schemas.microsoft.com/office/drawing/2014/main" id="{DD0AE714-84C9-12AE-0FFB-F071473D4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6088" y="22256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4838" name="Text Box 22">
            <a:extLst>
              <a:ext uri="{FF2B5EF4-FFF2-40B4-BE49-F238E27FC236}">
                <a16:creationId xmlns:a16="http://schemas.microsoft.com/office/drawing/2014/main" id="{92ADA098-ABCE-BBC3-2B34-EBBC0C831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0888" y="19208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4839" name="Text Box 23">
            <a:extLst>
              <a:ext uri="{FF2B5EF4-FFF2-40B4-BE49-F238E27FC236}">
                <a16:creationId xmlns:a16="http://schemas.microsoft.com/office/drawing/2014/main" id="{B2CB804C-40D0-EB1D-886F-DA4B7AC98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6088" y="50450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4840" name="Text Box 24">
            <a:extLst>
              <a:ext uri="{FF2B5EF4-FFF2-40B4-BE49-F238E27FC236}">
                <a16:creationId xmlns:a16="http://schemas.microsoft.com/office/drawing/2014/main" id="{CFE0B5EF-8953-B0A0-4467-969FC770B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288" y="39782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4841" name="Text Box 25">
            <a:extLst>
              <a:ext uri="{FF2B5EF4-FFF2-40B4-BE49-F238E27FC236}">
                <a16:creationId xmlns:a16="http://schemas.microsoft.com/office/drawing/2014/main" id="{AB281BEA-93C4-2B67-35CD-4AF40370E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46640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4842" name="Text Box 26">
            <a:extLst>
              <a:ext uri="{FF2B5EF4-FFF2-40B4-BE49-F238E27FC236}">
                <a16:creationId xmlns:a16="http://schemas.microsoft.com/office/drawing/2014/main" id="{A5712269-F5C8-6368-AEAA-CEA82F749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1488" y="47402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4843" name="Text Box 27">
            <a:extLst>
              <a:ext uri="{FF2B5EF4-FFF2-40B4-BE49-F238E27FC236}">
                <a16:creationId xmlns:a16="http://schemas.microsoft.com/office/drawing/2014/main" id="{0CC85C16-D044-F1BF-A1AC-556E18986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0488" y="32924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4844" name="Text Box 28">
            <a:extLst>
              <a:ext uri="{FF2B5EF4-FFF2-40B4-BE49-F238E27FC236}">
                <a16:creationId xmlns:a16="http://schemas.microsoft.com/office/drawing/2014/main" id="{1F3FB711-97D6-E8DA-2A0C-4D7FA4196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7488" y="43592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grpSp>
        <p:nvGrpSpPr>
          <p:cNvPr id="34845" name="Group 29">
            <a:extLst>
              <a:ext uri="{FF2B5EF4-FFF2-40B4-BE49-F238E27FC236}">
                <a16:creationId xmlns:a16="http://schemas.microsoft.com/office/drawing/2014/main" id="{B25D39DD-537D-ADED-0A65-30A6C9C65469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810001"/>
            <a:ext cx="457200" cy="396875"/>
            <a:chOff x="4896" y="1680"/>
            <a:chExt cx="288" cy="250"/>
          </a:xfrm>
        </p:grpSpPr>
        <p:sp>
          <p:nvSpPr>
            <p:cNvPr id="34854" name="Text Box 30">
              <a:extLst>
                <a:ext uri="{FF2B5EF4-FFF2-40B4-BE49-F238E27FC236}">
                  <a16:creationId xmlns:a16="http://schemas.microsoft.com/office/drawing/2014/main" id="{B0CA6583-FCB4-9845-693F-024E439345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168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endPara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55" name="Freeform 31">
              <a:extLst>
                <a:ext uri="{FF2B5EF4-FFF2-40B4-BE49-F238E27FC236}">
                  <a16:creationId xmlns:a16="http://schemas.microsoft.com/office/drawing/2014/main" id="{760C22DD-28E8-D978-BAAA-9834DC6FE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" y="1773"/>
              <a:ext cx="72" cy="87"/>
            </a:xfrm>
            <a:custGeom>
              <a:avLst/>
              <a:gdLst>
                <a:gd name="T0" fmla="*/ 0 w 72"/>
                <a:gd name="T1" fmla="*/ 87 h 87"/>
                <a:gd name="T2" fmla="*/ 37 w 72"/>
                <a:gd name="T3" fmla="*/ 0 h 87"/>
                <a:gd name="T4" fmla="*/ 72 w 72"/>
                <a:gd name="T5" fmla="*/ 87 h 87"/>
                <a:gd name="T6" fmla="*/ 0 w 72"/>
                <a:gd name="T7" fmla="*/ 87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"/>
                <a:gd name="T13" fmla="*/ 0 h 87"/>
                <a:gd name="T14" fmla="*/ 72 w 72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" h="87">
                  <a:moveTo>
                    <a:pt x="0" y="87"/>
                  </a:moveTo>
                  <a:lnTo>
                    <a:pt x="37" y="0"/>
                  </a:lnTo>
                  <a:lnTo>
                    <a:pt x="72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00A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4846" name="Text Box 32">
            <a:extLst>
              <a:ext uri="{FF2B5EF4-FFF2-40B4-BE49-F238E27FC236}">
                <a16:creationId xmlns:a16="http://schemas.microsoft.com/office/drawing/2014/main" id="{C528002C-6E3F-AF2A-EEBA-AEEA59759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8088" y="39782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4847" name="Text Box 33">
            <a:extLst>
              <a:ext uri="{FF2B5EF4-FFF2-40B4-BE49-F238E27FC236}">
                <a16:creationId xmlns:a16="http://schemas.microsoft.com/office/drawing/2014/main" id="{32090989-CE16-F939-21C5-55BC486C6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5288" y="253047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x</a:t>
            </a:r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4848" name="Text Box 34">
            <a:extLst>
              <a:ext uri="{FF2B5EF4-FFF2-40B4-BE49-F238E27FC236}">
                <a16:creationId xmlns:a16="http://schemas.microsoft.com/office/drawing/2014/main" id="{ABA35C6E-6245-DC3F-019E-BA8E1BEC2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0688" y="1768476"/>
            <a:ext cx="1143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A40508"/>
                </a:solidFill>
                <a:latin typeface="Times New Roman" panose="02020603050405020304" pitchFamily="18" charset="0"/>
              </a:rPr>
              <a:t>Initial query</a:t>
            </a:r>
          </a:p>
        </p:txBody>
      </p:sp>
      <p:sp>
        <p:nvSpPr>
          <p:cNvPr id="34849" name="Line 35">
            <a:extLst>
              <a:ext uri="{FF2B5EF4-FFF2-40B4-BE49-F238E27FC236}">
                <a16:creationId xmlns:a16="http://schemas.microsoft.com/office/drawing/2014/main" id="{CB8FC9EA-71DE-2E84-A9F9-8EB760C95A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8888" y="2225675"/>
            <a:ext cx="1981200" cy="9144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4850" name="Group 36">
            <a:extLst>
              <a:ext uri="{FF2B5EF4-FFF2-40B4-BE49-F238E27FC236}">
                <a16:creationId xmlns:a16="http://schemas.microsoft.com/office/drawing/2014/main" id="{15A5BAAF-0487-9CC7-9CC6-247A686EF90D}"/>
              </a:ext>
            </a:extLst>
          </p:cNvPr>
          <p:cNvGrpSpPr>
            <a:grpSpLocks/>
          </p:cNvGrpSpPr>
          <p:nvPr/>
        </p:nvGrpSpPr>
        <p:grpSpPr bwMode="auto">
          <a:xfrm>
            <a:off x="4433888" y="2987676"/>
            <a:ext cx="457200" cy="396875"/>
            <a:chOff x="4896" y="1680"/>
            <a:chExt cx="288" cy="250"/>
          </a:xfrm>
        </p:grpSpPr>
        <p:sp>
          <p:nvSpPr>
            <p:cNvPr id="34852" name="Text Box 37">
              <a:extLst>
                <a:ext uri="{FF2B5EF4-FFF2-40B4-BE49-F238E27FC236}">
                  <a16:creationId xmlns:a16="http://schemas.microsoft.com/office/drawing/2014/main" id="{105B1102-597B-427E-7C21-1AAE2BBAF5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168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endPara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53" name="Freeform 38">
              <a:extLst>
                <a:ext uri="{FF2B5EF4-FFF2-40B4-BE49-F238E27FC236}">
                  <a16:creationId xmlns:a16="http://schemas.microsoft.com/office/drawing/2014/main" id="{4918C80E-C6A7-6C05-53EC-5A2C9E9B3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" y="1773"/>
              <a:ext cx="72" cy="87"/>
            </a:xfrm>
            <a:custGeom>
              <a:avLst/>
              <a:gdLst>
                <a:gd name="T0" fmla="*/ 0 w 72"/>
                <a:gd name="T1" fmla="*/ 87 h 87"/>
                <a:gd name="T2" fmla="*/ 37 w 72"/>
                <a:gd name="T3" fmla="*/ 0 h 87"/>
                <a:gd name="T4" fmla="*/ 72 w 72"/>
                <a:gd name="T5" fmla="*/ 87 h 87"/>
                <a:gd name="T6" fmla="*/ 0 w 72"/>
                <a:gd name="T7" fmla="*/ 87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"/>
                <a:gd name="T13" fmla="*/ 0 h 87"/>
                <a:gd name="T14" fmla="*/ 72 w 72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" h="87">
                  <a:moveTo>
                    <a:pt x="0" y="87"/>
                  </a:moveTo>
                  <a:lnTo>
                    <a:pt x="37" y="0"/>
                  </a:lnTo>
                  <a:lnTo>
                    <a:pt x="72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4851" name="TextBox 39">
            <a:extLst>
              <a:ext uri="{FF2B5EF4-FFF2-40B4-BE49-F238E27FC236}">
                <a16:creationId xmlns:a16="http://schemas.microsoft.com/office/drawing/2014/main" id="{10261F86-B373-D81E-1120-08BFDB72A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9.1.1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1EB8E661-AF48-8349-A4A7-419091ACAC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Relevance Feedback in vector spaces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CA61D606-A3E5-324A-1267-4EF1D2454F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911350"/>
            <a:ext cx="8077200" cy="471805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We can modify the query based on relevance feedback and apply standard vector space model.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Use only the docs that were marked.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Relevance feedback can improve recall and precision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Relevance feedback is most useful for increasing </a:t>
            </a:r>
            <a:r>
              <a:rPr lang="en-US" altLang="zh-CN" i="1" dirty="0">
                <a:ea typeface="宋体" panose="02010600030101010101" pitchFamily="2" charset="-122"/>
              </a:rPr>
              <a:t>recall </a:t>
            </a:r>
            <a:r>
              <a:rPr lang="en-US" altLang="zh-CN" dirty="0">
                <a:ea typeface="宋体" panose="02010600030101010101" pitchFamily="2" charset="-122"/>
              </a:rPr>
              <a:t>in situations where recall is important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Users can be expected to review results and to take time to iterate</a:t>
            </a:r>
          </a:p>
        </p:txBody>
      </p:sp>
      <p:sp>
        <p:nvSpPr>
          <p:cNvPr id="35844" name="TextBox 4">
            <a:extLst>
              <a:ext uri="{FF2B5EF4-FFF2-40B4-BE49-F238E27FC236}">
                <a16:creationId xmlns:a16="http://schemas.microsoft.com/office/drawing/2014/main" id="{496B50D6-D1D1-1CF1-3F33-0630D0824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3A4EFA9-24E0-D0EB-93E9-E6B199390C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Positive vs Negative Feedback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3CCB764B-7149-2DCB-16CF-FBF7EFD16C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911350"/>
            <a:ext cx="8077200" cy="471805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Positive feedback is more valuable than negative feedback (so, set  </a:t>
            </a:r>
            <a:r>
              <a:rPr lang="en-GB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 &lt; ; e.g.  = 0.25,  = 0.75)</a:t>
            </a:r>
            <a:r>
              <a:rPr lang="en-US" altLang="zh-CN">
                <a:ea typeface="宋体" panose="02010600030101010101" pitchFamily="2" charset="-122"/>
              </a:rPr>
              <a:t>.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Many systems only allow positive feedback </a:t>
            </a:r>
            <a:r>
              <a:rPr lang="en-GB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(=0)</a:t>
            </a:r>
            <a:r>
              <a:rPr lang="en-US" altLang="zh-CN">
                <a:ea typeface="宋体" panose="02010600030101010101" pitchFamily="2" charset="-122"/>
              </a:rPr>
              <a:t>.</a:t>
            </a: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6868" name="AutoShape 4">
            <a:extLst>
              <a:ext uri="{FF2B5EF4-FFF2-40B4-BE49-F238E27FC236}">
                <a16:creationId xmlns:a16="http://schemas.microsoft.com/office/drawing/2014/main" id="{886A0A4C-291B-ED80-FB50-6DD2824E0C49}"/>
              </a:ext>
            </a:extLst>
          </p:cNvPr>
          <p:cNvSpPr>
            <a:spLocks noChangeArrowheads="1"/>
          </p:cNvSpPr>
          <p:nvPr/>
        </p:nvSpPr>
        <p:spPr bwMode="auto">
          <a:xfrm rot="3367752">
            <a:off x="8267700" y="3543300"/>
            <a:ext cx="1371600" cy="838200"/>
          </a:xfrm>
          <a:prstGeom prst="leftArrowCallout">
            <a:avLst>
              <a:gd name="adj1" fmla="val 25000"/>
              <a:gd name="adj2" fmla="val 39019"/>
              <a:gd name="adj3" fmla="val 27273"/>
              <a:gd name="adj4" fmla="val 64819"/>
            </a:avLst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</a:rPr>
              <a:t>Why?</a:t>
            </a:r>
          </a:p>
        </p:txBody>
      </p:sp>
      <p:sp>
        <p:nvSpPr>
          <p:cNvPr id="36869" name="TextBox 5">
            <a:extLst>
              <a:ext uri="{FF2B5EF4-FFF2-40B4-BE49-F238E27FC236}">
                <a16:creationId xmlns:a16="http://schemas.microsoft.com/office/drawing/2014/main" id="{7DE19FA0-55E8-DC67-D68D-16CB9F722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4FD78-FA5F-FB0A-28DD-6D5BFF1BB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06" y="0"/>
            <a:ext cx="10515600" cy="843198"/>
          </a:xfrm>
        </p:spPr>
        <p:txBody>
          <a:bodyPr/>
          <a:lstStyle/>
          <a:p>
            <a:r>
              <a:rPr lang="en-IN" dirty="0"/>
              <a:t>Example of </a:t>
            </a:r>
            <a:r>
              <a:rPr lang="en-IN" dirty="0" err="1"/>
              <a:t>Rocchio</a:t>
            </a:r>
            <a:r>
              <a:rPr lang="en-IN" dirty="0"/>
              <a:t>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D5EF8-384B-7B5B-83EB-E8641C643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Original Query</a:t>
            </a:r>
          </a:p>
          <a:p>
            <a:endParaRPr lang="en-IN" dirty="0"/>
          </a:p>
          <a:p>
            <a:r>
              <a:rPr lang="en-IN" dirty="0"/>
              <a:t>Positive feedback</a:t>
            </a:r>
          </a:p>
          <a:p>
            <a:endParaRPr lang="en-IN" dirty="0"/>
          </a:p>
          <a:p>
            <a:r>
              <a:rPr lang="en-IN" dirty="0"/>
              <a:t>Negative feedback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ABA47E-AB8D-29C7-D21C-DE824E039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288370"/>
              </p:ext>
            </p:extLst>
          </p:nvPr>
        </p:nvGraphicFramePr>
        <p:xfrm>
          <a:off x="2474452" y="2351821"/>
          <a:ext cx="6207432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4572">
                  <a:extLst>
                    <a:ext uri="{9D8B030D-6E8A-4147-A177-3AD203B41FA5}">
                      <a16:colId xmlns:a16="http://schemas.microsoft.com/office/drawing/2014/main" val="2353643505"/>
                    </a:ext>
                  </a:extLst>
                </a:gridCol>
                <a:gridCol w="1034572">
                  <a:extLst>
                    <a:ext uri="{9D8B030D-6E8A-4147-A177-3AD203B41FA5}">
                      <a16:colId xmlns:a16="http://schemas.microsoft.com/office/drawing/2014/main" val="492483997"/>
                    </a:ext>
                  </a:extLst>
                </a:gridCol>
                <a:gridCol w="1034572">
                  <a:extLst>
                    <a:ext uri="{9D8B030D-6E8A-4147-A177-3AD203B41FA5}">
                      <a16:colId xmlns:a16="http://schemas.microsoft.com/office/drawing/2014/main" val="842724655"/>
                    </a:ext>
                  </a:extLst>
                </a:gridCol>
                <a:gridCol w="1034572">
                  <a:extLst>
                    <a:ext uri="{9D8B030D-6E8A-4147-A177-3AD203B41FA5}">
                      <a16:colId xmlns:a16="http://schemas.microsoft.com/office/drawing/2014/main" val="4095352861"/>
                    </a:ext>
                  </a:extLst>
                </a:gridCol>
                <a:gridCol w="1034572">
                  <a:extLst>
                    <a:ext uri="{9D8B030D-6E8A-4147-A177-3AD203B41FA5}">
                      <a16:colId xmlns:a16="http://schemas.microsoft.com/office/drawing/2014/main" val="4266360360"/>
                    </a:ext>
                  </a:extLst>
                </a:gridCol>
                <a:gridCol w="1034572">
                  <a:extLst>
                    <a:ext uri="{9D8B030D-6E8A-4147-A177-3AD203B41FA5}">
                      <a16:colId xmlns:a16="http://schemas.microsoft.com/office/drawing/2014/main" val="10379879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45722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EFEAE1-9A50-35BE-05C9-A14BF1BF0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002731"/>
              </p:ext>
            </p:extLst>
          </p:nvPr>
        </p:nvGraphicFramePr>
        <p:xfrm>
          <a:off x="2361381" y="3339963"/>
          <a:ext cx="6207432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4572">
                  <a:extLst>
                    <a:ext uri="{9D8B030D-6E8A-4147-A177-3AD203B41FA5}">
                      <a16:colId xmlns:a16="http://schemas.microsoft.com/office/drawing/2014/main" val="2353643505"/>
                    </a:ext>
                  </a:extLst>
                </a:gridCol>
                <a:gridCol w="1034572">
                  <a:extLst>
                    <a:ext uri="{9D8B030D-6E8A-4147-A177-3AD203B41FA5}">
                      <a16:colId xmlns:a16="http://schemas.microsoft.com/office/drawing/2014/main" val="492483997"/>
                    </a:ext>
                  </a:extLst>
                </a:gridCol>
                <a:gridCol w="1034572">
                  <a:extLst>
                    <a:ext uri="{9D8B030D-6E8A-4147-A177-3AD203B41FA5}">
                      <a16:colId xmlns:a16="http://schemas.microsoft.com/office/drawing/2014/main" val="842724655"/>
                    </a:ext>
                  </a:extLst>
                </a:gridCol>
                <a:gridCol w="1034572">
                  <a:extLst>
                    <a:ext uri="{9D8B030D-6E8A-4147-A177-3AD203B41FA5}">
                      <a16:colId xmlns:a16="http://schemas.microsoft.com/office/drawing/2014/main" val="4095352861"/>
                    </a:ext>
                  </a:extLst>
                </a:gridCol>
                <a:gridCol w="1034572">
                  <a:extLst>
                    <a:ext uri="{9D8B030D-6E8A-4147-A177-3AD203B41FA5}">
                      <a16:colId xmlns:a16="http://schemas.microsoft.com/office/drawing/2014/main" val="4266360360"/>
                    </a:ext>
                  </a:extLst>
                </a:gridCol>
                <a:gridCol w="1034572">
                  <a:extLst>
                    <a:ext uri="{9D8B030D-6E8A-4147-A177-3AD203B41FA5}">
                      <a16:colId xmlns:a16="http://schemas.microsoft.com/office/drawing/2014/main" val="10379879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45722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AFDC9DC-CA30-8E38-AC25-EC7BCB480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675352"/>
              </p:ext>
            </p:extLst>
          </p:nvPr>
        </p:nvGraphicFramePr>
        <p:xfrm>
          <a:off x="2415459" y="4485423"/>
          <a:ext cx="6207432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4572">
                  <a:extLst>
                    <a:ext uri="{9D8B030D-6E8A-4147-A177-3AD203B41FA5}">
                      <a16:colId xmlns:a16="http://schemas.microsoft.com/office/drawing/2014/main" val="2353643505"/>
                    </a:ext>
                  </a:extLst>
                </a:gridCol>
                <a:gridCol w="1034572">
                  <a:extLst>
                    <a:ext uri="{9D8B030D-6E8A-4147-A177-3AD203B41FA5}">
                      <a16:colId xmlns:a16="http://schemas.microsoft.com/office/drawing/2014/main" val="492483997"/>
                    </a:ext>
                  </a:extLst>
                </a:gridCol>
                <a:gridCol w="1034572">
                  <a:extLst>
                    <a:ext uri="{9D8B030D-6E8A-4147-A177-3AD203B41FA5}">
                      <a16:colId xmlns:a16="http://schemas.microsoft.com/office/drawing/2014/main" val="842724655"/>
                    </a:ext>
                  </a:extLst>
                </a:gridCol>
                <a:gridCol w="1034572">
                  <a:extLst>
                    <a:ext uri="{9D8B030D-6E8A-4147-A177-3AD203B41FA5}">
                      <a16:colId xmlns:a16="http://schemas.microsoft.com/office/drawing/2014/main" val="4095352861"/>
                    </a:ext>
                  </a:extLst>
                </a:gridCol>
                <a:gridCol w="1034572">
                  <a:extLst>
                    <a:ext uri="{9D8B030D-6E8A-4147-A177-3AD203B41FA5}">
                      <a16:colId xmlns:a16="http://schemas.microsoft.com/office/drawing/2014/main" val="4266360360"/>
                    </a:ext>
                  </a:extLst>
                </a:gridCol>
                <a:gridCol w="1034572">
                  <a:extLst>
                    <a:ext uri="{9D8B030D-6E8A-4147-A177-3AD203B41FA5}">
                      <a16:colId xmlns:a16="http://schemas.microsoft.com/office/drawing/2014/main" val="10379879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457220"/>
                  </a:ext>
                </a:extLst>
              </a:tr>
            </a:tbl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57EB2703-6802-12C3-1961-0BF9F68199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981081"/>
              </p:ext>
            </p:extLst>
          </p:nvPr>
        </p:nvGraphicFramePr>
        <p:xfrm>
          <a:off x="3454196" y="879191"/>
          <a:ext cx="6663198" cy="126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3000" imgH="457200" progId="Equation.3">
                  <p:embed/>
                </p:oleObj>
              </mc:Choice>
              <mc:Fallback>
                <p:oleObj name="Equation" r:id="rId2" imgW="2413000" imgH="457200" progId="Equation.3">
                  <p:embed/>
                  <p:pic>
                    <p:nvPicPr>
                      <p:cNvPr id="32772" name="Object 7">
                        <a:extLst>
                          <a:ext uri="{FF2B5EF4-FFF2-40B4-BE49-F238E27FC236}">
                            <a16:creationId xmlns:a16="http://schemas.microsoft.com/office/drawing/2014/main" id="{2516C4FA-0C6B-F6B1-5092-9CE363883D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196" y="879191"/>
                        <a:ext cx="6663198" cy="126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3734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reeform 2">
            <a:extLst>
              <a:ext uri="{FF2B5EF4-FFF2-40B4-BE49-F238E27FC236}">
                <a16:creationId xmlns:a16="http://schemas.microsoft.com/office/drawing/2014/main" id="{E78BE514-799C-C99A-56CD-D1F24C3BD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8" y="1616076"/>
            <a:ext cx="6234112" cy="4430713"/>
          </a:xfrm>
          <a:custGeom>
            <a:avLst/>
            <a:gdLst>
              <a:gd name="T0" fmla="*/ 2147483647 w 3927"/>
              <a:gd name="T1" fmla="*/ 2147483647 h 2791"/>
              <a:gd name="T2" fmla="*/ 2147483647 w 3927"/>
              <a:gd name="T3" fmla="*/ 2147483647 h 2791"/>
              <a:gd name="T4" fmla="*/ 2147483647 w 3927"/>
              <a:gd name="T5" fmla="*/ 2147483647 h 2791"/>
              <a:gd name="T6" fmla="*/ 2147483647 w 3927"/>
              <a:gd name="T7" fmla="*/ 2147483647 h 2791"/>
              <a:gd name="T8" fmla="*/ 2147483647 w 3927"/>
              <a:gd name="T9" fmla="*/ 2147483647 h 2791"/>
              <a:gd name="T10" fmla="*/ 2147483647 w 3927"/>
              <a:gd name="T11" fmla="*/ 2147483647 h 2791"/>
              <a:gd name="T12" fmla="*/ 2147483647 w 3927"/>
              <a:gd name="T13" fmla="*/ 2147483647 h 2791"/>
              <a:gd name="T14" fmla="*/ 2147483647 w 3927"/>
              <a:gd name="T15" fmla="*/ 2147483647 h 2791"/>
              <a:gd name="T16" fmla="*/ 2147483647 w 3927"/>
              <a:gd name="T17" fmla="*/ 2147483647 h 2791"/>
              <a:gd name="T18" fmla="*/ 2147483647 w 3927"/>
              <a:gd name="T19" fmla="*/ 2147483647 h 2791"/>
              <a:gd name="T20" fmla="*/ 2147483647 w 3927"/>
              <a:gd name="T21" fmla="*/ 2147483647 h 2791"/>
              <a:gd name="T22" fmla="*/ 2147483647 w 3927"/>
              <a:gd name="T23" fmla="*/ 2147483647 h 2791"/>
              <a:gd name="T24" fmla="*/ 2147483647 w 3927"/>
              <a:gd name="T25" fmla="*/ 2147483647 h 2791"/>
              <a:gd name="T26" fmla="*/ 2147483647 w 3927"/>
              <a:gd name="T27" fmla="*/ 2147483647 h 2791"/>
              <a:gd name="T28" fmla="*/ 2147483647 w 3927"/>
              <a:gd name="T29" fmla="*/ 2147483647 h 2791"/>
              <a:gd name="T30" fmla="*/ 2147483647 w 3927"/>
              <a:gd name="T31" fmla="*/ 2147483647 h 2791"/>
              <a:gd name="T32" fmla="*/ 2147483647 w 3927"/>
              <a:gd name="T33" fmla="*/ 2147483647 h 2791"/>
              <a:gd name="T34" fmla="*/ 2147483647 w 3927"/>
              <a:gd name="T35" fmla="*/ 2147483647 h 2791"/>
              <a:gd name="T36" fmla="*/ 2147483647 w 3927"/>
              <a:gd name="T37" fmla="*/ 2147483647 h 2791"/>
              <a:gd name="T38" fmla="*/ 2147483647 w 3927"/>
              <a:gd name="T39" fmla="*/ 2147483647 h 2791"/>
              <a:gd name="T40" fmla="*/ 2147483647 w 3927"/>
              <a:gd name="T41" fmla="*/ 2147483647 h 2791"/>
              <a:gd name="T42" fmla="*/ 2147483647 w 3927"/>
              <a:gd name="T43" fmla="*/ 2147483647 h 2791"/>
              <a:gd name="T44" fmla="*/ 2147483647 w 3927"/>
              <a:gd name="T45" fmla="*/ 2147483647 h 2791"/>
              <a:gd name="T46" fmla="*/ 2147483647 w 3927"/>
              <a:gd name="T47" fmla="*/ 2147483647 h 2791"/>
              <a:gd name="T48" fmla="*/ 2147483647 w 3927"/>
              <a:gd name="T49" fmla="*/ 2147483647 h 2791"/>
              <a:gd name="T50" fmla="*/ 2147483647 w 3927"/>
              <a:gd name="T51" fmla="*/ 2147483647 h 2791"/>
              <a:gd name="T52" fmla="*/ 2147483647 w 3927"/>
              <a:gd name="T53" fmla="*/ 2147483647 h 2791"/>
              <a:gd name="T54" fmla="*/ 2147483647 w 3927"/>
              <a:gd name="T55" fmla="*/ 2147483647 h 2791"/>
              <a:gd name="T56" fmla="*/ 2147483647 w 3927"/>
              <a:gd name="T57" fmla="*/ 2147483647 h 2791"/>
              <a:gd name="T58" fmla="*/ 2147483647 w 3927"/>
              <a:gd name="T59" fmla="*/ 2147483647 h 2791"/>
              <a:gd name="T60" fmla="*/ 2147483647 w 3927"/>
              <a:gd name="T61" fmla="*/ 2147483647 h 2791"/>
              <a:gd name="T62" fmla="*/ 2147483647 w 3927"/>
              <a:gd name="T63" fmla="*/ 2147483647 h 2791"/>
              <a:gd name="T64" fmla="*/ 2147483647 w 3927"/>
              <a:gd name="T65" fmla="*/ 2147483647 h 2791"/>
              <a:gd name="T66" fmla="*/ 2147483647 w 3927"/>
              <a:gd name="T67" fmla="*/ 2147483647 h 2791"/>
              <a:gd name="T68" fmla="*/ 2147483647 w 3927"/>
              <a:gd name="T69" fmla="*/ 2147483647 h 2791"/>
              <a:gd name="T70" fmla="*/ 2147483647 w 3927"/>
              <a:gd name="T71" fmla="*/ 2147483647 h 2791"/>
              <a:gd name="T72" fmla="*/ 2147483647 w 3927"/>
              <a:gd name="T73" fmla="*/ 2147483647 h 2791"/>
              <a:gd name="T74" fmla="*/ 2147483647 w 3927"/>
              <a:gd name="T75" fmla="*/ 2147483647 h 2791"/>
              <a:gd name="T76" fmla="*/ 2147483647 w 3927"/>
              <a:gd name="T77" fmla="*/ 2147483647 h 2791"/>
              <a:gd name="T78" fmla="*/ 2147483647 w 3927"/>
              <a:gd name="T79" fmla="*/ 2147483647 h 2791"/>
              <a:gd name="T80" fmla="*/ 2147483647 w 3927"/>
              <a:gd name="T81" fmla="*/ 2147483647 h 2791"/>
              <a:gd name="T82" fmla="*/ 2147483647 w 3927"/>
              <a:gd name="T83" fmla="*/ 2147483647 h 2791"/>
              <a:gd name="T84" fmla="*/ 2147483647 w 3927"/>
              <a:gd name="T85" fmla="*/ 2147483647 h 2791"/>
              <a:gd name="T86" fmla="*/ 2147483647 w 3927"/>
              <a:gd name="T87" fmla="*/ 2147483647 h 2791"/>
              <a:gd name="T88" fmla="*/ 2147483647 w 3927"/>
              <a:gd name="T89" fmla="*/ 2147483647 h 2791"/>
              <a:gd name="T90" fmla="*/ 2147483647 w 3927"/>
              <a:gd name="T91" fmla="*/ 2147483647 h 2791"/>
              <a:gd name="T92" fmla="*/ 2147483647 w 3927"/>
              <a:gd name="T93" fmla="*/ 2147483647 h 2791"/>
              <a:gd name="T94" fmla="*/ 2147483647 w 3927"/>
              <a:gd name="T95" fmla="*/ 2147483647 h 2791"/>
              <a:gd name="T96" fmla="*/ 2147483647 w 3927"/>
              <a:gd name="T97" fmla="*/ 2147483647 h 2791"/>
              <a:gd name="T98" fmla="*/ 2147483647 w 3927"/>
              <a:gd name="T99" fmla="*/ 2147483647 h 2791"/>
              <a:gd name="T100" fmla="*/ 2147483647 w 3927"/>
              <a:gd name="T101" fmla="*/ 2147483647 h 2791"/>
              <a:gd name="T102" fmla="*/ 2147483647 w 3927"/>
              <a:gd name="T103" fmla="*/ 2147483647 h 2791"/>
              <a:gd name="T104" fmla="*/ 2147483647 w 3927"/>
              <a:gd name="T105" fmla="*/ 2147483647 h 2791"/>
              <a:gd name="T106" fmla="*/ 2147483647 w 3927"/>
              <a:gd name="T107" fmla="*/ 2147483647 h 2791"/>
              <a:gd name="T108" fmla="*/ 2147483647 w 3927"/>
              <a:gd name="T109" fmla="*/ 2147483647 h 2791"/>
              <a:gd name="T110" fmla="*/ 2147483647 w 3927"/>
              <a:gd name="T111" fmla="*/ 2147483647 h 2791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3927"/>
              <a:gd name="T169" fmla="*/ 0 h 2791"/>
              <a:gd name="T170" fmla="*/ 3927 w 3927"/>
              <a:gd name="T171" fmla="*/ 2791 h 2791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3927" h="2791">
                <a:moveTo>
                  <a:pt x="329" y="2491"/>
                </a:moveTo>
                <a:cubicBezTo>
                  <a:pt x="284" y="2395"/>
                  <a:pt x="261" y="2289"/>
                  <a:pt x="221" y="2190"/>
                </a:cubicBezTo>
                <a:cubicBezTo>
                  <a:pt x="206" y="2113"/>
                  <a:pt x="189" y="2026"/>
                  <a:pt x="154" y="1956"/>
                </a:cubicBezTo>
                <a:cubicBezTo>
                  <a:pt x="135" y="1782"/>
                  <a:pt x="156" y="1989"/>
                  <a:pt x="137" y="1673"/>
                </a:cubicBezTo>
                <a:cubicBezTo>
                  <a:pt x="132" y="1591"/>
                  <a:pt x="111" y="1510"/>
                  <a:pt x="96" y="1430"/>
                </a:cubicBezTo>
                <a:cubicBezTo>
                  <a:pt x="101" y="1355"/>
                  <a:pt x="112" y="1280"/>
                  <a:pt x="112" y="1205"/>
                </a:cubicBezTo>
                <a:cubicBezTo>
                  <a:pt x="112" y="1191"/>
                  <a:pt x="68" y="1097"/>
                  <a:pt x="62" y="1080"/>
                </a:cubicBezTo>
                <a:cubicBezTo>
                  <a:pt x="54" y="1031"/>
                  <a:pt x="38" y="987"/>
                  <a:pt x="29" y="938"/>
                </a:cubicBezTo>
                <a:cubicBezTo>
                  <a:pt x="19" y="822"/>
                  <a:pt x="0" y="650"/>
                  <a:pt x="71" y="546"/>
                </a:cubicBezTo>
                <a:cubicBezTo>
                  <a:pt x="94" y="474"/>
                  <a:pt x="52" y="591"/>
                  <a:pt x="129" y="479"/>
                </a:cubicBezTo>
                <a:cubicBezTo>
                  <a:pt x="137" y="467"/>
                  <a:pt x="132" y="450"/>
                  <a:pt x="137" y="437"/>
                </a:cubicBezTo>
                <a:cubicBezTo>
                  <a:pt x="154" y="396"/>
                  <a:pt x="195" y="348"/>
                  <a:pt x="229" y="320"/>
                </a:cubicBezTo>
                <a:cubicBezTo>
                  <a:pt x="282" y="277"/>
                  <a:pt x="347" y="254"/>
                  <a:pt x="405" y="220"/>
                </a:cubicBezTo>
                <a:cubicBezTo>
                  <a:pt x="466" y="185"/>
                  <a:pt x="524" y="143"/>
                  <a:pt x="588" y="112"/>
                </a:cubicBezTo>
                <a:cubicBezTo>
                  <a:pt x="739" y="38"/>
                  <a:pt x="934" y="27"/>
                  <a:pt x="1097" y="20"/>
                </a:cubicBezTo>
                <a:cubicBezTo>
                  <a:pt x="1304" y="0"/>
                  <a:pt x="1509" y="22"/>
                  <a:pt x="1715" y="36"/>
                </a:cubicBezTo>
                <a:cubicBezTo>
                  <a:pt x="1863" y="63"/>
                  <a:pt x="2009" y="30"/>
                  <a:pt x="2158" y="20"/>
                </a:cubicBezTo>
                <a:cubicBezTo>
                  <a:pt x="2355" y="27"/>
                  <a:pt x="2546" y="49"/>
                  <a:pt x="2742" y="61"/>
                </a:cubicBezTo>
                <a:cubicBezTo>
                  <a:pt x="2883" y="91"/>
                  <a:pt x="2709" y="57"/>
                  <a:pt x="3059" y="78"/>
                </a:cubicBezTo>
                <a:cubicBezTo>
                  <a:pt x="3186" y="86"/>
                  <a:pt x="3308" y="119"/>
                  <a:pt x="3435" y="128"/>
                </a:cubicBezTo>
                <a:cubicBezTo>
                  <a:pt x="3504" y="147"/>
                  <a:pt x="3574" y="165"/>
                  <a:pt x="3644" y="178"/>
                </a:cubicBezTo>
                <a:cubicBezTo>
                  <a:pt x="3679" y="202"/>
                  <a:pt x="3713" y="224"/>
                  <a:pt x="3735" y="262"/>
                </a:cubicBezTo>
                <a:cubicBezTo>
                  <a:pt x="3748" y="284"/>
                  <a:pt x="3769" y="329"/>
                  <a:pt x="3769" y="329"/>
                </a:cubicBezTo>
                <a:cubicBezTo>
                  <a:pt x="3781" y="379"/>
                  <a:pt x="3799" y="411"/>
                  <a:pt x="3827" y="454"/>
                </a:cubicBezTo>
                <a:cubicBezTo>
                  <a:pt x="3855" y="564"/>
                  <a:pt x="3893" y="664"/>
                  <a:pt x="3927" y="771"/>
                </a:cubicBezTo>
                <a:cubicBezTo>
                  <a:pt x="3924" y="852"/>
                  <a:pt x="3924" y="932"/>
                  <a:pt x="3919" y="1013"/>
                </a:cubicBezTo>
                <a:cubicBezTo>
                  <a:pt x="3917" y="1050"/>
                  <a:pt x="3900" y="1085"/>
                  <a:pt x="3894" y="1122"/>
                </a:cubicBezTo>
                <a:cubicBezTo>
                  <a:pt x="3875" y="1240"/>
                  <a:pt x="3857" y="1367"/>
                  <a:pt x="3819" y="1481"/>
                </a:cubicBezTo>
                <a:cubicBezTo>
                  <a:pt x="3813" y="1520"/>
                  <a:pt x="3808" y="1558"/>
                  <a:pt x="3802" y="1597"/>
                </a:cubicBezTo>
                <a:cubicBezTo>
                  <a:pt x="3794" y="1647"/>
                  <a:pt x="3784" y="1698"/>
                  <a:pt x="3777" y="1748"/>
                </a:cubicBezTo>
                <a:cubicBezTo>
                  <a:pt x="3753" y="1909"/>
                  <a:pt x="3768" y="2005"/>
                  <a:pt x="3585" y="2040"/>
                </a:cubicBezTo>
                <a:cubicBezTo>
                  <a:pt x="3546" y="2066"/>
                  <a:pt x="3513" y="2093"/>
                  <a:pt x="3468" y="2107"/>
                </a:cubicBezTo>
                <a:cubicBezTo>
                  <a:pt x="3446" y="2114"/>
                  <a:pt x="3401" y="2123"/>
                  <a:pt x="3401" y="2123"/>
                </a:cubicBezTo>
                <a:cubicBezTo>
                  <a:pt x="3355" y="2154"/>
                  <a:pt x="3317" y="2150"/>
                  <a:pt x="3260" y="2157"/>
                </a:cubicBezTo>
                <a:cubicBezTo>
                  <a:pt x="3151" y="2170"/>
                  <a:pt x="3043" y="2186"/>
                  <a:pt x="2934" y="2198"/>
                </a:cubicBezTo>
                <a:cubicBezTo>
                  <a:pt x="2874" y="2184"/>
                  <a:pt x="2820" y="2172"/>
                  <a:pt x="2759" y="2165"/>
                </a:cubicBezTo>
                <a:cubicBezTo>
                  <a:pt x="2712" y="2168"/>
                  <a:pt x="2664" y="2168"/>
                  <a:pt x="2617" y="2173"/>
                </a:cubicBezTo>
                <a:cubicBezTo>
                  <a:pt x="2596" y="2175"/>
                  <a:pt x="2563" y="2200"/>
                  <a:pt x="2550" y="2207"/>
                </a:cubicBezTo>
                <a:cubicBezTo>
                  <a:pt x="2506" y="2229"/>
                  <a:pt x="2455" y="2236"/>
                  <a:pt x="2408" y="2249"/>
                </a:cubicBezTo>
                <a:cubicBezTo>
                  <a:pt x="2339" y="2293"/>
                  <a:pt x="2253" y="2286"/>
                  <a:pt x="2183" y="2324"/>
                </a:cubicBezTo>
                <a:cubicBezTo>
                  <a:pt x="2053" y="2394"/>
                  <a:pt x="2185" y="2342"/>
                  <a:pt x="2016" y="2399"/>
                </a:cubicBezTo>
                <a:cubicBezTo>
                  <a:pt x="2001" y="2404"/>
                  <a:pt x="1990" y="2420"/>
                  <a:pt x="1974" y="2424"/>
                </a:cubicBezTo>
                <a:cubicBezTo>
                  <a:pt x="1809" y="2464"/>
                  <a:pt x="1637" y="2472"/>
                  <a:pt x="1473" y="2516"/>
                </a:cubicBezTo>
                <a:cubicBezTo>
                  <a:pt x="1390" y="2538"/>
                  <a:pt x="1327" y="2582"/>
                  <a:pt x="1248" y="2608"/>
                </a:cubicBezTo>
                <a:cubicBezTo>
                  <a:pt x="1149" y="2641"/>
                  <a:pt x="1053" y="2676"/>
                  <a:pt x="956" y="2716"/>
                </a:cubicBezTo>
                <a:cubicBezTo>
                  <a:pt x="912" y="2760"/>
                  <a:pt x="951" y="2731"/>
                  <a:pt x="872" y="2749"/>
                </a:cubicBezTo>
                <a:cubicBezTo>
                  <a:pt x="797" y="2766"/>
                  <a:pt x="734" y="2783"/>
                  <a:pt x="655" y="2791"/>
                </a:cubicBezTo>
                <a:cubicBezTo>
                  <a:pt x="636" y="2785"/>
                  <a:pt x="615" y="2782"/>
                  <a:pt x="597" y="2774"/>
                </a:cubicBezTo>
                <a:cubicBezTo>
                  <a:pt x="584" y="2768"/>
                  <a:pt x="575" y="2756"/>
                  <a:pt x="563" y="2749"/>
                </a:cubicBezTo>
                <a:cubicBezTo>
                  <a:pt x="555" y="2745"/>
                  <a:pt x="546" y="2744"/>
                  <a:pt x="538" y="2741"/>
                </a:cubicBezTo>
                <a:cubicBezTo>
                  <a:pt x="521" y="2724"/>
                  <a:pt x="501" y="2710"/>
                  <a:pt x="488" y="2691"/>
                </a:cubicBezTo>
                <a:cubicBezTo>
                  <a:pt x="482" y="2683"/>
                  <a:pt x="478" y="2674"/>
                  <a:pt x="471" y="2666"/>
                </a:cubicBezTo>
                <a:cubicBezTo>
                  <a:pt x="455" y="2648"/>
                  <a:pt x="421" y="2616"/>
                  <a:pt x="421" y="2616"/>
                </a:cubicBezTo>
                <a:cubicBezTo>
                  <a:pt x="418" y="2608"/>
                  <a:pt x="418" y="2598"/>
                  <a:pt x="413" y="2591"/>
                </a:cubicBezTo>
                <a:cubicBezTo>
                  <a:pt x="407" y="2583"/>
                  <a:pt x="392" y="2583"/>
                  <a:pt x="388" y="2574"/>
                </a:cubicBezTo>
                <a:cubicBezTo>
                  <a:pt x="375" y="2548"/>
                  <a:pt x="389" y="2459"/>
                  <a:pt x="329" y="2491"/>
                </a:cubicBezTo>
                <a:close/>
              </a:path>
            </a:pathLst>
          </a:cu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5ACB248B-6A1D-D14B-8ECD-7EC5B74968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60326"/>
            <a:ext cx="8077200" cy="1312863"/>
          </a:xfrm>
        </p:spPr>
        <p:txBody>
          <a:bodyPr vert="horz" lIns="90000" tIns="46800" rIns="90000" bIns="46800" rtlCol="0" anchor="ctr">
            <a:sp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>
                <a:ea typeface="ＭＳ Ｐゴシック" panose="020B0600070205080204" pitchFamily="34" charset="-128"/>
              </a:rPr>
              <a:t>Aside: Vector Space can be Counterintuitive. </a:t>
            </a:r>
          </a:p>
        </p:txBody>
      </p:sp>
      <p:sp>
        <p:nvSpPr>
          <p:cNvPr id="37892" name="Text Box 4">
            <a:extLst>
              <a:ext uri="{FF2B5EF4-FFF2-40B4-BE49-F238E27FC236}">
                <a16:creationId xmlns:a16="http://schemas.microsoft.com/office/drawing/2014/main" id="{DFD7F862-6E61-17C9-6174-521CF4E76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3292476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893" name="Text Box 5">
            <a:extLst>
              <a:ext uri="{FF2B5EF4-FFF2-40B4-BE49-F238E27FC236}">
                <a16:creationId xmlns:a16="http://schemas.microsoft.com/office/drawing/2014/main" id="{6D5B4B9B-31C3-E0E4-0101-98A8776ED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9288" y="2835276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894" name="Text Box 6">
            <a:extLst>
              <a:ext uri="{FF2B5EF4-FFF2-40B4-BE49-F238E27FC236}">
                <a16:creationId xmlns:a16="http://schemas.microsoft.com/office/drawing/2014/main" id="{247D4FB4-B81D-9B16-FD6D-513A062F4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88" y="3597276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895" name="Text Box 7">
            <a:extLst>
              <a:ext uri="{FF2B5EF4-FFF2-40B4-BE49-F238E27FC236}">
                <a16:creationId xmlns:a16="http://schemas.microsoft.com/office/drawing/2014/main" id="{1A28A6AA-62D2-5C6C-447D-B8287CDA3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810001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896" name="Text Box 8">
            <a:extLst>
              <a:ext uri="{FF2B5EF4-FFF2-40B4-BE49-F238E27FC236}">
                <a16:creationId xmlns:a16="http://schemas.microsoft.com/office/drawing/2014/main" id="{84D70EAC-E4D8-8A88-A970-E9A55EBD0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200401"/>
            <a:ext cx="609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897" name="Text Box 9">
            <a:extLst>
              <a:ext uri="{FF2B5EF4-FFF2-40B4-BE49-F238E27FC236}">
                <a16:creationId xmlns:a16="http://schemas.microsoft.com/office/drawing/2014/main" id="{49EA111B-B909-1CDE-8A1B-D1CBFF9EE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1088" y="3978276"/>
            <a:ext cx="609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898" name="Text Box 10">
            <a:extLst>
              <a:ext uri="{FF2B5EF4-FFF2-40B4-BE49-F238E27FC236}">
                <a16:creationId xmlns:a16="http://schemas.microsoft.com/office/drawing/2014/main" id="{56D63A14-BD2D-FCB2-36C5-3525EBC51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8" y="4206876"/>
            <a:ext cx="609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899" name="Text Box 11">
            <a:extLst>
              <a:ext uri="{FF2B5EF4-FFF2-40B4-BE49-F238E27FC236}">
                <a16:creationId xmlns:a16="http://schemas.microsoft.com/office/drawing/2014/main" id="{7BFCC6AD-F3B9-5477-244C-9DD932919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5807075"/>
            <a:ext cx="23479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A000"/>
              </a:buClr>
              <a:buSzPct val="100000"/>
            </a:pPr>
            <a:r>
              <a:rPr lang="en-GB" altLang="en-US">
                <a:solidFill>
                  <a:srgbClr val="00A000"/>
                </a:solidFill>
                <a:latin typeface="Times New Roman" panose="02020603050405020304" pitchFamily="18" charset="0"/>
              </a:rPr>
              <a:t>Query</a:t>
            </a:r>
          </a:p>
          <a:p>
            <a:pPr>
              <a:spcBef>
                <a:spcPts val="1500"/>
              </a:spcBef>
              <a:buClr>
                <a:srgbClr val="00A000"/>
              </a:buClr>
              <a:buSzPct val="100000"/>
            </a:pPr>
            <a:r>
              <a:rPr lang="en-GB" altLang="en-US">
                <a:solidFill>
                  <a:srgbClr val="00A000"/>
                </a:solidFill>
                <a:latin typeface="Times New Roman" panose="02020603050405020304" pitchFamily="18" charset="0"/>
              </a:rPr>
              <a:t>“cholera”</a:t>
            </a:r>
          </a:p>
        </p:txBody>
      </p:sp>
      <p:sp>
        <p:nvSpPr>
          <p:cNvPr id="37900" name="Text Box 12">
            <a:extLst>
              <a:ext uri="{FF2B5EF4-FFF2-40B4-BE49-F238E27FC236}">
                <a16:creationId xmlns:a16="http://schemas.microsoft.com/office/drawing/2014/main" id="{F48DAD80-7D08-D628-EF07-46C281BE3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318125"/>
            <a:ext cx="4724400" cy="1279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  <a:latin typeface="Times New Roman" panose="02020603050405020304" pitchFamily="18" charset="0"/>
              </a:rPr>
              <a:t>q1 query “cholera”</a:t>
            </a:r>
          </a:p>
          <a:p>
            <a:pPr>
              <a:spcBef>
                <a:spcPts val="3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o</a:t>
            </a:r>
            <a:r>
              <a:rPr lang="en-GB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www.ph.ucla.edu/epi/snow.html</a:t>
            </a:r>
          </a:p>
          <a:p>
            <a:pPr>
              <a:spcBef>
                <a:spcPts val="3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  <a:latin typeface="Times New Roman" panose="02020603050405020304" pitchFamily="18" charset="0"/>
              </a:rPr>
              <a:t>x   other documents</a:t>
            </a:r>
          </a:p>
        </p:txBody>
      </p:sp>
      <p:sp>
        <p:nvSpPr>
          <p:cNvPr id="37901" name="Text Box 13">
            <a:extLst>
              <a:ext uri="{FF2B5EF4-FFF2-40B4-BE49-F238E27FC236}">
                <a16:creationId xmlns:a16="http://schemas.microsoft.com/office/drawing/2014/main" id="{F605843F-7B9D-3E41-8941-16439E918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654426"/>
            <a:ext cx="609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902" name="Text Box 14">
            <a:extLst>
              <a:ext uri="{FF2B5EF4-FFF2-40B4-BE49-F238E27FC236}">
                <a16:creationId xmlns:a16="http://schemas.microsoft.com/office/drawing/2014/main" id="{AB489C97-7259-B8B0-921E-818E5C470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971801"/>
            <a:ext cx="609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o</a:t>
            </a:r>
          </a:p>
        </p:txBody>
      </p:sp>
      <p:sp>
        <p:nvSpPr>
          <p:cNvPr id="37903" name="Text Box 15">
            <a:extLst>
              <a:ext uri="{FF2B5EF4-FFF2-40B4-BE49-F238E27FC236}">
                <a16:creationId xmlns:a16="http://schemas.microsoft.com/office/drawing/2014/main" id="{367C757B-4864-ACB1-D283-44F7CBDAA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429001"/>
            <a:ext cx="609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q1</a:t>
            </a:r>
          </a:p>
        </p:txBody>
      </p:sp>
      <p:sp>
        <p:nvSpPr>
          <p:cNvPr id="37904" name="Text Box 16">
            <a:extLst>
              <a:ext uri="{FF2B5EF4-FFF2-40B4-BE49-F238E27FC236}">
                <a16:creationId xmlns:a16="http://schemas.microsoft.com/office/drawing/2014/main" id="{83D202C7-E884-2589-BC13-BAE129163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133601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905" name="Text Box 17">
            <a:extLst>
              <a:ext uri="{FF2B5EF4-FFF2-40B4-BE49-F238E27FC236}">
                <a16:creationId xmlns:a16="http://schemas.microsoft.com/office/drawing/2014/main" id="{7A4DF5D2-59B2-BB0D-2B1D-2BF1B5E0B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488" y="1997076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906" name="Text Box 18">
            <a:extLst>
              <a:ext uri="{FF2B5EF4-FFF2-40B4-BE49-F238E27FC236}">
                <a16:creationId xmlns:a16="http://schemas.microsoft.com/office/drawing/2014/main" id="{C1AF830A-8C81-45BC-EB7D-5B1633DF4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2895601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907" name="Text Box 19">
            <a:extLst>
              <a:ext uri="{FF2B5EF4-FFF2-40B4-BE49-F238E27FC236}">
                <a16:creationId xmlns:a16="http://schemas.microsoft.com/office/drawing/2014/main" id="{DB84FB77-DB9F-7D28-2FF7-A35B02844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6088" y="2911476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908" name="Text Box 20">
            <a:extLst>
              <a:ext uri="{FF2B5EF4-FFF2-40B4-BE49-F238E27FC236}">
                <a16:creationId xmlns:a16="http://schemas.microsoft.com/office/drawing/2014/main" id="{C1A66C5D-58F2-F75C-700B-2EB85CC84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590801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909" name="Text Box 21">
            <a:extLst>
              <a:ext uri="{FF2B5EF4-FFF2-40B4-BE49-F238E27FC236}">
                <a16:creationId xmlns:a16="http://schemas.microsoft.com/office/drawing/2014/main" id="{7095491D-F0A6-1F4D-E10A-E9D2DB15D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0888" y="1920876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910" name="Text Box 22">
            <a:extLst>
              <a:ext uri="{FF2B5EF4-FFF2-40B4-BE49-F238E27FC236}">
                <a16:creationId xmlns:a16="http://schemas.microsoft.com/office/drawing/2014/main" id="{A6FF8BA3-900A-11CD-F12F-0538B3584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971801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911" name="Text Box 23">
            <a:extLst>
              <a:ext uri="{FF2B5EF4-FFF2-40B4-BE49-F238E27FC236}">
                <a16:creationId xmlns:a16="http://schemas.microsoft.com/office/drawing/2014/main" id="{D76BE5A9-A4ED-8E56-1969-790777832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133601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912" name="Text Box 24">
            <a:extLst>
              <a:ext uri="{FF2B5EF4-FFF2-40B4-BE49-F238E27FC236}">
                <a16:creationId xmlns:a16="http://schemas.microsoft.com/office/drawing/2014/main" id="{C7529CD4-CB7B-0717-12FB-07D2609CA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4664076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913" name="Text Box 25">
            <a:extLst>
              <a:ext uri="{FF2B5EF4-FFF2-40B4-BE49-F238E27FC236}">
                <a16:creationId xmlns:a16="http://schemas.microsoft.com/office/drawing/2014/main" id="{B9D368F5-8A87-D6E4-FA8F-D0579B86E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962401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914" name="Text Box 26">
            <a:extLst>
              <a:ext uri="{FF2B5EF4-FFF2-40B4-BE49-F238E27FC236}">
                <a16:creationId xmlns:a16="http://schemas.microsoft.com/office/drawing/2014/main" id="{9160E392-99A5-9AFD-B567-B05BFC2BB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0488" y="3292476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915" name="Text Box 27">
            <a:extLst>
              <a:ext uri="{FF2B5EF4-FFF2-40B4-BE49-F238E27FC236}">
                <a16:creationId xmlns:a16="http://schemas.microsoft.com/office/drawing/2014/main" id="{1EFCA30B-E66B-E9D7-302B-37CE7637E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7488" y="4359276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916" name="Text Box 28">
            <a:extLst>
              <a:ext uri="{FF2B5EF4-FFF2-40B4-BE49-F238E27FC236}">
                <a16:creationId xmlns:a16="http://schemas.microsoft.com/office/drawing/2014/main" id="{F1FAFF9B-3C71-E49E-19DF-C631B1ACC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8088" y="3978276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917" name="Text Box 29">
            <a:extLst>
              <a:ext uri="{FF2B5EF4-FFF2-40B4-BE49-F238E27FC236}">
                <a16:creationId xmlns:a16="http://schemas.microsoft.com/office/drawing/2014/main" id="{6E8CCCC7-6598-255F-4C9F-9C45424A5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5288" y="2530476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0000"/>
              </a:buClr>
              <a:buSzPct val="100000"/>
            </a:pPr>
            <a:r>
              <a:rPr lang="en-GB" altLang="en-US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7918" name="Line 30">
            <a:extLst>
              <a:ext uri="{FF2B5EF4-FFF2-40B4-BE49-F238E27FC236}">
                <a16:creationId xmlns:a16="http://schemas.microsoft.com/office/drawing/2014/main" id="{455579DD-DC50-0849-4E02-A5618B0135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3879850"/>
            <a:ext cx="1371600" cy="20701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7919" name="Text Box 31">
            <a:extLst>
              <a:ext uri="{FF2B5EF4-FFF2-40B4-BE49-F238E27FC236}">
                <a16:creationId xmlns:a16="http://schemas.microsoft.com/office/drawing/2014/main" id="{9D970E9F-04E8-3AD9-A9A6-D0269A98E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1600200"/>
            <a:ext cx="2347913" cy="158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ts val="1500"/>
              </a:spcBef>
              <a:buClr>
                <a:srgbClr val="00A000"/>
              </a:buClr>
              <a:buSzPct val="100000"/>
            </a:pPr>
            <a:r>
              <a:rPr lang="en-GB" altLang="en-US">
                <a:solidFill>
                  <a:srgbClr val="00A000"/>
                </a:solidFill>
                <a:latin typeface="Times New Roman" panose="02020603050405020304" pitchFamily="18" charset="0"/>
              </a:rPr>
              <a:t>Doc</a:t>
            </a:r>
          </a:p>
          <a:p>
            <a:pPr>
              <a:spcBef>
                <a:spcPts val="1500"/>
              </a:spcBef>
              <a:buClr>
                <a:srgbClr val="00A000"/>
              </a:buClr>
              <a:buSzPct val="100000"/>
            </a:pPr>
            <a:r>
              <a:rPr lang="en-GB" altLang="en-US">
                <a:solidFill>
                  <a:srgbClr val="00A000"/>
                </a:solidFill>
                <a:latin typeface="Times New Roman" panose="02020603050405020304" pitchFamily="18" charset="0"/>
              </a:rPr>
              <a:t>“J. Snow</a:t>
            </a:r>
          </a:p>
          <a:p>
            <a:pPr>
              <a:spcBef>
                <a:spcPts val="1500"/>
              </a:spcBef>
              <a:buClr>
                <a:srgbClr val="00A000"/>
              </a:buClr>
              <a:buSzPct val="100000"/>
            </a:pPr>
            <a:r>
              <a:rPr lang="en-GB" altLang="en-US">
                <a:solidFill>
                  <a:srgbClr val="00A000"/>
                </a:solidFill>
                <a:latin typeface="Times New Roman" panose="02020603050405020304" pitchFamily="18" charset="0"/>
              </a:rPr>
              <a:t>&amp; Cholera”</a:t>
            </a:r>
          </a:p>
        </p:txBody>
      </p:sp>
      <p:sp>
        <p:nvSpPr>
          <p:cNvPr id="37920" name="Line 32">
            <a:extLst>
              <a:ext uri="{FF2B5EF4-FFF2-40B4-BE49-F238E27FC236}">
                <a16:creationId xmlns:a16="http://schemas.microsoft.com/office/drawing/2014/main" id="{3A6F810C-F946-96A5-0774-0175A9AEC0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057400"/>
            <a:ext cx="2057400" cy="11430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795432F-88D0-CF96-15D8-767CE78517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669926"/>
            <a:ext cx="8077200" cy="701675"/>
          </a:xfrm>
        </p:spPr>
        <p:txBody>
          <a:bodyPr vert="horz" lIns="90000" tIns="46800" rIns="90000" bIns="46800" rtlCol="0" anchor="ctr">
            <a:sp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>
                <a:ea typeface="ＭＳ Ｐゴシック" panose="020B0600070205080204" pitchFamily="34" charset="-128"/>
              </a:rPr>
              <a:t>High-dimensional Vector Spaces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A211F516-6E48-E7AB-2EC2-D2F998CD74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909763"/>
            <a:ext cx="8077200" cy="4485460"/>
          </a:xfrm>
        </p:spPr>
        <p:txBody>
          <a:bodyPr vert="horz" lIns="90000" tIns="46800" rIns="90000" bIns="46800" rtlCol="0">
            <a:spAutoFit/>
          </a:bodyPr>
          <a:lstStyle/>
          <a:p>
            <a:pPr marL="333375" indent="-333375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en-US">
                <a:ea typeface="ＭＳ Ｐゴシック" panose="020B0600070205080204" pitchFamily="34" charset="-128"/>
              </a:rPr>
              <a:t>The queries “cholera” and “john snow” are far from each other in vector space.</a:t>
            </a:r>
          </a:p>
          <a:p>
            <a:pPr marL="333375" indent="-333375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en-US">
                <a:solidFill>
                  <a:srgbClr val="C00000"/>
                </a:solidFill>
                <a:ea typeface="ＭＳ Ｐゴシック" panose="020B0600070205080204" pitchFamily="34" charset="-128"/>
              </a:rPr>
              <a:t>How can the document “John Snow and Cholera” be close to both of them?</a:t>
            </a:r>
          </a:p>
          <a:p>
            <a:pPr marL="333375" indent="-333375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en-US">
                <a:ea typeface="ＭＳ Ｐゴシック" panose="020B0600070205080204" pitchFamily="34" charset="-128"/>
              </a:rPr>
              <a:t>Our intuitions for 2- and 3-dimensional space don't work in &gt;10,000 dimensions.</a:t>
            </a:r>
          </a:p>
          <a:p>
            <a:pPr marL="333375" indent="-333375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en-US">
                <a:solidFill>
                  <a:srgbClr val="C00000"/>
                </a:solidFill>
                <a:ea typeface="ＭＳ Ｐゴシック" panose="020B0600070205080204" pitchFamily="34" charset="-128"/>
              </a:rPr>
              <a:t>3 dimensions: If a document is close to many queries, then some of these queries must be close to each other.</a:t>
            </a:r>
          </a:p>
          <a:p>
            <a:pPr marL="333375" indent="-333375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en-US">
                <a:ea typeface="ＭＳ Ｐゴシック" panose="020B0600070205080204" pitchFamily="34" charset="-128"/>
              </a:rPr>
              <a:t>Doesn't hold for a high-dimensional space.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D7EA102C-6CDD-F2A2-0DD6-5515B5726B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Relevance Feedback: Assumptions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756CD6B3-370C-91BE-305E-66E0DAD7F5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911350"/>
            <a:ext cx="8077200" cy="471805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A1: User has sufficient knowledge for initial query.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A2: Relevance prototypes are “well-behaved”.</a:t>
            </a:r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  <a:ea typeface="宋体" panose="02010600030101010101" pitchFamily="2" charset="-122"/>
              </a:rPr>
              <a:t>Term distribution in relevant documents will be similar </a:t>
            </a:r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  <a:ea typeface="宋体" panose="02010600030101010101" pitchFamily="2" charset="-122"/>
              </a:rPr>
              <a:t>Term distribution in non-relevant documents will be different from those in relevant documents</a:t>
            </a:r>
          </a:p>
          <a:p>
            <a:pPr lvl="2" eaLnBrk="1" hangingPunct="1"/>
            <a:r>
              <a:rPr lang="en-US" altLang="zh-CN">
                <a:ea typeface="宋体" panose="02010600030101010101" pitchFamily="2" charset="-122"/>
              </a:rPr>
              <a:t>Either: All relevant documents are tightly clustered around a single prototype.</a:t>
            </a:r>
          </a:p>
          <a:p>
            <a:pPr lvl="2" eaLnBrk="1" hangingPunct="1"/>
            <a:r>
              <a:rPr lang="en-US" altLang="zh-CN">
                <a:ea typeface="宋体" panose="02010600030101010101" pitchFamily="2" charset="-122"/>
              </a:rPr>
              <a:t>Or: There are different prototypes, but they have significant vocabulary overlap.</a:t>
            </a:r>
          </a:p>
          <a:p>
            <a:pPr lvl="2" eaLnBrk="1" hangingPunct="1"/>
            <a:r>
              <a:rPr lang="en-US" altLang="zh-CN">
                <a:ea typeface="宋体" panose="02010600030101010101" pitchFamily="2" charset="-122"/>
              </a:rPr>
              <a:t>Similarities between relevant and irrelevant documents are small</a:t>
            </a:r>
          </a:p>
        </p:txBody>
      </p:sp>
      <p:sp>
        <p:nvSpPr>
          <p:cNvPr id="39940" name="TextBox 4">
            <a:extLst>
              <a:ext uri="{FF2B5EF4-FFF2-40B4-BE49-F238E27FC236}">
                <a16:creationId xmlns:a16="http://schemas.microsoft.com/office/drawing/2014/main" id="{0606E59B-CC7F-3847-3248-1537EF312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F6E652F1-A59B-ED0F-174D-F710AAE6D9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Violation of A1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15FA5269-1E4B-3C78-4258-D57F901E1B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911350"/>
            <a:ext cx="8077200" cy="471805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User does not have sufficient initial knowledge.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Examples: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Misspellings.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Cross-language information retrieval.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Mismatch of searcher’s vocabulary vs. collection vocabulary</a:t>
            </a: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Cosmonaut/astronaut</a:t>
            </a:r>
          </a:p>
          <a:p>
            <a:pPr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0964" name="TextBox 4">
            <a:extLst>
              <a:ext uri="{FF2B5EF4-FFF2-40B4-BE49-F238E27FC236}">
                <a16:creationId xmlns:a16="http://schemas.microsoft.com/office/drawing/2014/main" id="{3F6208FD-FA47-B3D0-7281-B1DB2A1BD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389A8949-1326-456E-28E5-F4EDC036DF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Violation of A2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6EBC055B-D030-8B84-B619-968BD7C4CF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911350"/>
            <a:ext cx="8077200" cy="471805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There are several relevance prototypes.</a:t>
            </a:r>
          </a:p>
          <a:p>
            <a:pPr eaLnBrk="1" hangingPunct="1"/>
            <a:r>
              <a:rPr lang="en-US" altLang="zh-CN">
                <a:solidFill>
                  <a:srgbClr val="C00000"/>
                </a:solidFill>
                <a:ea typeface="宋体" panose="02010600030101010101" pitchFamily="2" charset="-122"/>
              </a:rPr>
              <a:t>Examples:</a:t>
            </a:r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  <a:ea typeface="宋体" panose="02010600030101010101" pitchFamily="2" charset="-122"/>
              </a:rPr>
              <a:t>Burma/Myanmar</a:t>
            </a:r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  <a:ea typeface="宋体" panose="02010600030101010101" pitchFamily="2" charset="-122"/>
              </a:rPr>
              <a:t>Contradictory government policies</a:t>
            </a:r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  <a:ea typeface="宋体" panose="02010600030101010101" pitchFamily="2" charset="-122"/>
              </a:rPr>
              <a:t>Pop stars that worked at Burger King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Often: instances of a general concept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Good editorial content can address problem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Report on contradictory government policies</a:t>
            </a: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1988" name="TextBox 4">
            <a:extLst>
              <a:ext uri="{FF2B5EF4-FFF2-40B4-BE49-F238E27FC236}">
                <a16:creationId xmlns:a16="http://schemas.microsoft.com/office/drawing/2014/main" id="{9AFE1439-D943-ED99-3C77-2329F400C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5C075D96-9A09-02D0-AA57-3A6673DD37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Relevance Feedback: Problems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2C74AAD-CF91-5A01-BED1-AE4771F764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911350"/>
            <a:ext cx="8077200" cy="471805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Long queries are inefficient for typical IR engine.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Long response times for user.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High cost for retrieval system.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Partial solution:</a:t>
            </a:r>
          </a:p>
          <a:p>
            <a:pPr lvl="2" eaLnBrk="1" hangingPunct="1"/>
            <a:r>
              <a:rPr lang="en-US" altLang="zh-CN">
                <a:ea typeface="宋体" panose="02010600030101010101" pitchFamily="2" charset="-122"/>
              </a:rPr>
              <a:t>Only reweight certain prominent terms</a:t>
            </a:r>
          </a:p>
          <a:p>
            <a:pPr lvl="3" eaLnBrk="1" hangingPunct="1"/>
            <a:r>
              <a:rPr lang="en-US" altLang="zh-CN">
                <a:ea typeface="宋体" panose="02010600030101010101" pitchFamily="2" charset="-122"/>
              </a:rPr>
              <a:t>Perhaps top 20 by term frequency</a:t>
            </a:r>
          </a:p>
          <a:p>
            <a:pPr eaLnBrk="1" hangingPunct="1"/>
            <a:r>
              <a:rPr lang="en-US" altLang="zh-CN">
                <a:solidFill>
                  <a:srgbClr val="C00000"/>
                </a:solidFill>
                <a:ea typeface="宋体" panose="02010600030101010101" pitchFamily="2" charset="-122"/>
              </a:rPr>
              <a:t>Users are often reluctant to provide explicit feedback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It’s often harder to understand why a particular document was retrieved after applying relevance feedback</a:t>
            </a:r>
          </a:p>
        </p:txBody>
      </p:sp>
      <p:sp>
        <p:nvSpPr>
          <p:cNvPr id="43012" name="AutoShape 4">
            <a:extLst>
              <a:ext uri="{FF2B5EF4-FFF2-40B4-BE49-F238E27FC236}">
                <a16:creationId xmlns:a16="http://schemas.microsoft.com/office/drawing/2014/main" id="{E427EC7E-B188-9A79-99AA-978C84226A09}"/>
              </a:ext>
            </a:extLst>
          </p:cNvPr>
          <p:cNvSpPr>
            <a:spLocks noChangeArrowheads="1"/>
          </p:cNvSpPr>
          <p:nvPr/>
        </p:nvSpPr>
        <p:spPr bwMode="auto">
          <a:xfrm rot="2535216">
            <a:off x="8763000" y="2667000"/>
            <a:ext cx="1371600" cy="609600"/>
          </a:xfrm>
          <a:prstGeom prst="leftArrowCallout">
            <a:avLst>
              <a:gd name="adj1" fmla="val 25000"/>
              <a:gd name="adj2" fmla="val 25000"/>
              <a:gd name="adj3" fmla="val 37500"/>
              <a:gd name="adj4" fmla="val 66667"/>
            </a:avLst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</a:rPr>
              <a:t>Why?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84CD9DFC-E592-A272-27F1-F30FFE1862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Evaluation of relevance feedback strategies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F05F75CC-5BD3-40C1-51B9-326E143C4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 sz="2200">
                <a:ea typeface="ＭＳ Ｐゴシック" panose="020B0600070205080204" pitchFamily="34" charset="-128"/>
              </a:rPr>
              <a:t>Use </a:t>
            </a:r>
            <a:r>
              <a:rPr lang="en-GB" altLang="en-US" sz="2200" i="1">
                <a:ea typeface="ＭＳ Ｐゴシック" panose="020B0600070205080204" pitchFamily="34" charset="-128"/>
              </a:rPr>
              <a:t>q</a:t>
            </a:r>
            <a:r>
              <a:rPr lang="en-GB" altLang="en-US" sz="2200" i="1" baseline="-25000">
                <a:ea typeface="ＭＳ Ｐゴシック" panose="020B0600070205080204" pitchFamily="34" charset="-128"/>
              </a:rPr>
              <a:t>0</a:t>
            </a:r>
            <a:r>
              <a:rPr lang="en-GB" altLang="en-US" sz="2200">
                <a:ea typeface="ＭＳ Ｐゴシック" panose="020B0600070205080204" pitchFamily="34" charset="-128"/>
              </a:rPr>
              <a:t> and compute precision and recall graph</a:t>
            </a:r>
          </a:p>
          <a:p>
            <a:pPr eaLnBrk="1" hangingPunct="1"/>
            <a:r>
              <a:rPr lang="en-GB" altLang="en-US" sz="2200">
                <a:solidFill>
                  <a:srgbClr val="C00000"/>
                </a:solidFill>
                <a:ea typeface="ＭＳ Ｐゴシック" panose="020B0600070205080204" pitchFamily="34" charset="-128"/>
              </a:rPr>
              <a:t>Use q</a:t>
            </a:r>
            <a:r>
              <a:rPr lang="en-GB" altLang="en-US" sz="22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m</a:t>
            </a:r>
            <a:r>
              <a:rPr lang="en-GB" altLang="en-US" sz="2200">
                <a:solidFill>
                  <a:srgbClr val="C00000"/>
                </a:solidFill>
                <a:ea typeface="ＭＳ Ｐゴシック" panose="020B0600070205080204" pitchFamily="34" charset="-128"/>
              </a:rPr>
              <a:t> and compute precision recall graph</a:t>
            </a:r>
          </a:p>
          <a:p>
            <a:pPr lvl="1" eaLnBrk="1" hangingPunct="1"/>
            <a:r>
              <a:rPr lang="en-GB" altLang="en-US" sz="2000">
                <a:solidFill>
                  <a:srgbClr val="C00000"/>
                </a:solidFill>
                <a:ea typeface="ＭＳ Ｐゴシック" panose="020B0600070205080204" pitchFamily="34" charset="-128"/>
              </a:rPr>
              <a:t>Assess on all documents in the collection</a:t>
            </a:r>
          </a:p>
          <a:p>
            <a:pPr lvl="3" eaLnBrk="1" hangingPunct="1"/>
            <a:r>
              <a:rPr lang="en-GB" altLang="en-US">
                <a:solidFill>
                  <a:srgbClr val="C00000"/>
                </a:solidFill>
                <a:ea typeface="ＭＳ Ｐゴシック" panose="020B0600070205080204" pitchFamily="34" charset="-128"/>
              </a:rPr>
              <a:t>Spectacular improvements, but … it’s cheating!</a:t>
            </a:r>
          </a:p>
          <a:p>
            <a:pPr lvl="3" eaLnBrk="1" hangingPunct="1"/>
            <a:r>
              <a:rPr lang="en-GB" altLang="en-US">
                <a:solidFill>
                  <a:srgbClr val="C00000"/>
                </a:solidFill>
                <a:ea typeface="ＭＳ Ｐゴシック" panose="020B0600070205080204" pitchFamily="34" charset="-128"/>
              </a:rPr>
              <a:t>Partly due to known relevant documents ranked higher</a:t>
            </a:r>
          </a:p>
          <a:p>
            <a:pPr lvl="3" eaLnBrk="1" hangingPunct="1"/>
            <a:r>
              <a:rPr lang="en-GB" altLang="en-US">
                <a:solidFill>
                  <a:srgbClr val="C00000"/>
                </a:solidFill>
                <a:ea typeface="ＭＳ Ｐゴシック" panose="020B0600070205080204" pitchFamily="34" charset="-128"/>
              </a:rPr>
              <a:t>Must evaluate with respect to documents not seen by user</a:t>
            </a:r>
          </a:p>
          <a:p>
            <a:pPr lvl="1" eaLnBrk="1" hangingPunct="1"/>
            <a:r>
              <a:rPr lang="en-GB" altLang="en-US" sz="2000">
                <a:ea typeface="ＭＳ Ｐゴシック" panose="020B0600070205080204" pitchFamily="34" charset="-128"/>
              </a:rPr>
              <a:t>Use documents in residual collection (set of documents minus those assessed relevant)</a:t>
            </a:r>
          </a:p>
          <a:p>
            <a:pPr lvl="3" eaLnBrk="1" hangingPunct="1"/>
            <a:r>
              <a:rPr lang="en-GB" altLang="en-US">
                <a:ea typeface="ＭＳ Ｐゴシック" panose="020B0600070205080204" pitchFamily="34" charset="-128"/>
              </a:rPr>
              <a:t>Measures usually then lower than for original query</a:t>
            </a:r>
          </a:p>
          <a:p>
            <a:pPr lvl="3" eaLnBrk="1" hangingPunct="1"/>
            <a:r>
              <a:rPr lang="en-GB" altLang="en-US">
                <a:ea typeface="ＭＳ Ｐゴシック" panose="020B0600070205080204" pitchFamily="34" charset="-128"/>
              </a:rPr>
              <a:t>But a more realistic evaluation</a:t>
            </a:r>
          </a:p>
          <a:p>
            <a:pPr lvl="3" eaLnBrk="1" hangingPunct="1"/>
            <a:r>
              <a:rPr lang="en-GB" altLang="en-US">
                <a:ea typeface="ＭＳ Ｐゴシック" panose="020B0600070205080204" pitchFamily="34" charset="-128"/>
              </a:rPr>
              <a:t>Relative performance can be validly compared</a:t>
            </a:r>
          </a:p>
          <a:p>
            <a:pPr eaLnBrk="1" hangingPunct="1"/>
            <a:r>
              <a:rPr lang="en-GB" altLang="en-US" sz="2200">
                <a:solidFill>
                  <a:srgbClr val="C00000"/>
                </a:solidFill>
                <a:ea typeface="ＭＳ Ｐゴシック" panose="020B0600070205080204" pitchFamily="34" charset="-128"/>
              </a:rPr>
              <a:t>Empirically, one round of relevance feedback is often very useful. Two rounds is sometimes marginally useful.</a:t>
            </a:r>
          </a:p>
        </p:txBody>
      </p:sp>
      <p:sp>
        <p:nvSpPr>
          <p:cNvPr id="44036" name="TextBox 5">
            <a:extLst>
              <a:ext uri="{FF2B5EF4-FFF2-40B4-BE49-F238E27FC236}">
                <a16:creationId xmlns:a16="http://schemas.microsoft.com/office/drawing/2014/main" id="{263E3474-0C2A-D375-5FC6-5AF927FB2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1BC87AF1-9C7A-B2D0-E4B6-7CF783C6D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Evaluation of relevance feedback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E8F85269-3C1E-F55E-8852-B9BC70F13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Second method – assess only the docs </a:t>
            </a:r>
            <a:r>
              <a:rPr lang="en-US" altLang="en-US" i="1">
                <a:ea typeface="ＭＳ Ｐゴシック" panose="020B0600070205080204" pitchFamily="34" charset="-128"/>
              </a:rPr>
              <a:t>not</a:t>
            </a:r>
            <a:r>
              <a:rPr lang="en-US" altLang="en-US">
                <a:ea typeface="ＭＳ Ｐゴシック" panose="020B0600070205080204" pitchFamily="34" charset="-128"/>
              </a:rPr>
              <a:t> rated by the user in the first round</a:t>
            </a:r>
          </a:p>
          <a:p>
            <a:pPr lvl="1"/>
            <a:r>
              <a:rPr lang="en-US" altLang="en-US">
                <a:solidFill>
                  <a:srgbClr val="C00000"/>
                </a:solidFill>
                <a:ea typeface="ＭＳ Ｐゴシック" panose="020B0600070205080204" pitchFamily="34" charset="-128"/>
              </a:rPr>
              <a:t>Could make relevance feedback look worse than it really is</a:t>
            </a:r>
          </a:p>
          <a:p>
            <a:pPr lvl="1"/>
            <a:r>
              <a:rPr lang="en-US" altLang="en-US">
                <a:solidFill>
                  <a:srgbClr val="C00000"/>
                </a:solidFill>
                <a:ea typeface="ＭＳ Ｐゴシック" panose="020B0600070205080204" pitchFamily="34" charset="-128"/>
              </a:rPr>
              <a:t>Can still assess relative performance of algorithms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Most satisfactory – use two collections each with their own relevance assessments</a:t>
            </a:r>
          </a:p>
          <a:p>
            <a:pPr lvl="1"/>
            <a:r>
              <a:rPr lang="en-US" altLang="en-US" i="1">
                <a:solidFill>
                  <a:srgbClr val="C00000"/>
                </a:solidFill>
                <a:ea typeface="ＭＳ Ｐゴシック" panose="020B0600070205080204" pitchFamily="34" charset="-128"/>
              </a:rPr>
              <a:t>q</a:t>
            </a:r>
            <a:r>
              <a:rPr lang="en-US" altLang="en-US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0</a:t>
            </a:r>
            <a:r>
              <a:rPr lang="en-US" altLang="en-US" i="1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C00000"/>
                </a:solidFill>
                <a:ea typeface="ＭＳ Ｐゴシック" panose="020B0600070205080204" pitchFamily="34" charset="-128"/>
              </a:rPr>
              <a:t>and user feedback from first collection</a:t>
            </a:r>
          </a:p>
          <a:p>
            <a:pPr lvl="1"/>
            <a:r>
              <a:rPr lang="en-US" altLang="en-US" i="1">
                <a:solidFill>
                  <a:srgbClr val="C00000"/>
                </a:solidFill>
                <a:ea typeface="ＭＳ Ｐゴシック" panose="020B0600070205080204" pitchFamily="34" charset="-128"/>
              </a:rPr>
              <a:t>q</a:t>
            </a:r>
            <a:r>
              <a:rPr lang="en-US" altLang="en-US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m</a:t>
            </a:r>
            <a:r>
              <a:rPr lang="en-US" altLang="en-US" i="1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C00000"/>
                </a:solidFill>
                <a:ea typeface="ＭＳ Ｐゴシック" panose="020B0600070205080204" pitchFamily="34" charset="-128"/>
              </a:rPr>
              <a:t>run on second collection and measured</a:t>
            </a:r>
            <a:endParaRPr lang="en-US" altLang="en-US" i="1">
              <a:solidFill>
                <a:srgbClr val="C0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45060" name="TextBox 4">
            <a:extLst>
              <a:ext uri="{FF2B5EF4-FFF2-40B4-BE49-F238E27FC236}">
                <a16:creationId xmlns:a16="http://schemas.microsoft.com/office/drawing/2014/main" id="{C2271E1A-D667-A74E-6119-BB84D530D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DACE5418-1670-88DC-97FC-C52182F48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800">
                <a:ea typeface="ＭＳ Ｐゴシック" panose="020B0600070205080204" pitchFamily="34" charset="-128"/>
              </a:rPr>
              <a:t>Evaluation: Caveat</a:t>
            </a:r>
            <a:endParaRPr lang="en-US" altLang="en-US" sz="3600">
              <a:ea typeface="ＭＳ Ｐゴシック" panose="020B0600070205080204" pitchFamily="34" charset="-128"/>
            </a:endParaRP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2BDCA10E-5946-AE87-0FBE-E1B4D8B2C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True evaluation of usefulness must compare to other methods taking the same amount of time.</a:t>
            </a:r>
          </a:p>
          <a:p>
            <a:pPr eaLnBrk="1" hangingPunct="1"/>
            <a:r>
              <a:rPr lang="en-US" altLang="en-US">
                <a:solidFill>
                  <a:srgbClr val="C00000"/>
                </a:solidFill>
                <a:ea typeface="ＭＳ Ｐゴシック" panose="020B0600070205080204" pitchFamily="34" charset="-128"/>
              </a:rPr>
              <a:t>Alternative to relevance feedback: User revises and resubmits query.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Users may prefer revision/resubmission to having to judge relevance of documents.</a:t>
            </a:r>
          </a:p>
          <a:p>
            <a:pPr eaLnBrk="1" hangingPunct="1"/>
            <a:r>
              <a:rPr lang="en-US" altLang="en-US">
                <a:solidFill>
                  <a:srgbClr val="C00000"/>
                </a:solidFill>
                <a:ea typeface="ＭＳ Ｐゴシック" panose="020B0600070205080204" pitchFamily="34" charset="-128"/>
              </a:rPr>
              <a:t>There is no clear evidence that relevance feedback is the “best use” of the user’s time.</a:t>
            </a:r>
          </a:p>
        </p:txBody>
      </p:sp>
      <p:sp>
        <p:nvSpPr>
          <p:cNvPr id="46084" name="TextBox 4">
            <a:extLst>
              <a:ext uri="{FF2B5EF4-FFF2-40B4-BE49-F238E27FC236}">
                <a16:creationId xmlns:a16="http://schemas.microsoft.com/office/drawing/2014/main" id="{FBFD2B47-6734-6C98-0282-1A52ED7CC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3CE06C43-5A15-7C8D-45DD-1D04345AD4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Relevance Feedback on the Web</a:t>
            </a:r>
            <a:endParaRPr lang="en-US" altLang="zh-CN" sz="2000">
              <a:solidFill>
                <a:schemeClr val="folHlink"/>
              </a:solidFill>
              <a:ea typeface="宋体" panose="02010600030101010101" pitchFamily="2" charset="-122"/>
            </a:endParaRP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63708257-43FB-95D1-5EB7-6C7723412F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911350"/>
            <a:ext cx="8077200" cy="4718050"/>
          </a:xfrm>
        </p:spPr>
        <p:txBody>
          <a:bodyPr/>
          <a:lstStyle/>
          <a:p>
            <a:pPr eaLnBrk="1" hangingPunct="1"/>
            <a:r>
              <a:rPr lang="en-US" altLang="zh-CN" sz="2200">
                <a:ea typeface="宋体" panose="02010600030101010101" pitchFamily="2" charset="-122"/>
              </a:rPr>
              <a:t>Some search engines offer a similar/related pages feature (this is a trivial form of relevance feedback)</a:t>
            </a:r>
          </a:p>
          <a:p>
            <a:pPr lvl="1" eaLnBrk="1" hangingPunct="1"/>
            <a:r>
              <a:rPr lang="en-US" altLang="zh-CN" sz="2000">
                <a:ea typeface="宋体" panose="02010600030101010101" pitchFamily="2" charset="-122"/>
              </a:rPr>
              <a:t>Google (link-based)</a:t>
            </a:r>
          </a:p>
          <a:p>
            <a:pPr lvl="1" eaLnBrk="1" hangingPunct="1"/>
            <a:r>
              <a:rPr lang="en-US" altLang="zh-CN" sz="2000">
                <a:ea typeface="宋体" panose="02010600030101010101" pitchFamily="2" charset="-122"/>
              </a:rPr>
              <a:t>Altavista</a:t>
            </a:r>
          </a:p>
          <a:p>
            <a:pPr lvl="1" eaLnBrk="1" hangingPunct="1"/>
            <a:r>
              <a:rPr lang="en-US" altLang="zh-CN" sz="2000">
                <a:ea typeface="宋体" panose="02010600030101010101" pitchFamily="2" charset="-122"/>
              </a:rPr>
              <a:t>Stanford WebBase</a:t>
            </a:r>
          </a:p>
          <a:p>
            <a:pPr eaLnBrk="1" hangingPunct="1"/>
            <a:r>
              <a:rPr lang="en-US" altLang="zh-CN" sz="2200">
                <a:solidFill>
                  <a:srgbClr val="C00000"/>
                </a:solidFill>
                <a:ea typeface="宋体" panose="02010600030101010101" pitchFamily="2" charset="-122"/>
              </a:rPr>
              <a:t>But some don’t because it’s hard to explain to average user:</a:t>
            </a:r>
          </a:p>
          <a:p>
            <a:pPr lvl="1" eaLnBrk="1" hangingPunct="1"/>
            <a:r>
              <a:rPr lang="en-US" altLang="zh-CN" sz="2000">
                <a:solidFill>
                  <a:srgbClr val="C00000"/>
                </a:solidFill>
                <a:ea typeface="宋体" panose="02010600030101010101" pitchFamily="2" charset="-122"/>
              </a:rPr>
              <a:t>Alltheweb</a:t>
            </a:r>
          </a:p>
          <a:p>
            <a:pPr lvl="1" eaLnBrk="1" hangingPunct="1"/>
            <a:r>
              <a:rPr lang="en-US" altLang="zh-CN" sz="2000">
                <a:solidFill>
                  <a:srgbClr val="C00000"/>
                </a:solidFill>
                <a:ea typeface="宋体" panose="02010600030101010101" pitchFamily="2" charset="-122"/>
              </a:rPr>
              <a:t>bing</a:t>
            </a:r>
          </a:p>
          <a:p>
            <a:pPr lvl="1" eaLnBrk="1" hangingPunct="1"/>
            <a:r>
              <a:rPr lang="en-US" altLang="zh-CN" sz="2000">
                <a:solidFill>
                  <a:srgbClr val="C00000"/>
                </a:solidFill>
                <a:ea typeface="宋体" panose="02010600030101010101" pitchFamily="2" charset="-122"/>
              </a:rPr>
              <a:t>Yahoo</a:t>
            </a:r>
          </a:p>
          <a:p>
            <a:pPr eaLnBrk="1" hangingPunct="1"/>
            <a:r>
              <a:rPr lang="en-US" altLang="zh-CN" sz="2200">
                <a:ea typeface="宋体" panose="02010600030101010101" pitchFamily="2" charset="-122"/>
              </a:rPr>
              <a:t>Excite initially had true relevance feedback, but abandoned it due to lack of use.</a:t>
            </a:r>
          </a:p>
        </p:txBody>
      </p:sp>
      <p:sp>
        <p:nvSpPr>
          <p:cNvPr id="47109" name="TextBox 5">
            <a:extLst>
              <a:ext uri="{FF2B5EF4-FFF2-40B4-BE49-F238E27FC236}">
                <a16:creationId xmlns:a16="http://schemas.microsoft.com/office/drawing/2014/main" id="{A62EE489-3F1A-85BB-2F62-9C9EB5EDC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1EFD4B7F-955A-0C87-5549-055CF03DC5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Excite Relevance Feedback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AF715663-35F9-6AE9-E453-7E373D8F6A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folHlink"/>
                </a:solidFill>
                <a:ea typeface="宋体" panose="02010600030101010101" pitchFamily="2" charset="-122"/>
              </a:rPr>
              <a:t>Spink et al. 2000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Only about 4% of query sessions from a user used relevance feedback option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Expressed as “More like this” link next to each result</a:t>
            </a:r>
          </a:p>
          <a:p>
            <a:pPr eaLnBrk="1" hangingPunct="1"/>
            <a:r>
              <a:rPr lang="en-US" altLang="zh-CN">
                <a:solidFill>
                  <a:srgbClr val="C00000"/>
                </a:solidFill>
                <a:ea typeface="宋体" panose="02010600030101010101" pitchFamily="2" charset="-122"/>
              </a:rPr>
              <a:t>But about 70% of users only looked at first page of results and didn’t pursue things further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So 4% is about 1/8 of people extending search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Relevance feedback improved results about 2/3 of the time</a:t>
            </a:r>
          </a:p>
        </p:txBody>
      </p:sp>
      <p:sp>
        <p:nvSpPr>
          <p:cNvPr id="48132" name="TextBox 4">
            <a:extLst>
              <a:ext uri="{FF2B5EF4-FFF2-40B4-BE49-F238E27FC236}">
                <a16:creationId xmlns:a16="http://schemas.microsoft.com/office/drawing/2014/main" id="{286CB46A-DE0B-0D92-47FB-30906EFB8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A0873A18-B8E8-18DF-EB7F-787113945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Pseudo relevance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9506B-DA64-DBDA-B223-C3995E4C7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dirty="0"/>
              <a:t>Pseudo-relevance feedback automates the “manual” part of true relevance feedback.</a:t>
            </a:r>
          </a:p>
          <a:p>
            <a:pPr eaLnBrk="1" hangingPunct="1">
              <a:buFont typeface="Wingdings" charset="2"/>
              <a:buChar char="§"/>
              <a:defRPr/>
            </a:pPr>
            <a:r>
              <a:rPr lang="en-US" dirty="0">
                <a:solidFill>
                  <a:srgbClr val="C00000"/>
                </a:solidFill>
              </a:rPr>
              <a:t>Pseudo-relevance algorithm:</a:t>
            </a:r>
          </a:p>
          <a:p>
            <a:pPr lvl="1" eaLnBrk="1" hangingPunct="1">
              <a:buFont typeface="Wingdings" charset="2"/>
              <a:buChar char="§"/>
              <a:defRPr/>
            </a:pPr>
            <a:r>
              <a:rPr lang="en-US" dirty="0">
                <a:solidFill>
                  <a:srgbClr val="C00000"/>
                </a:solidFill>
                <a:ea typeface="+mn-ea"/>
              </a:rPr>
              <a:t>Retrieve a ranked list of hits for the user’s query</a:t>
            </a:r>
          </a:p>
          <a:p>
            <a:pPr lvl="1" eaLnBrk="1" hangingPunct="1">
              <a:buFont typeface="Wingdings" charset="2"/>
              <a:buChar char="§"/>
              <a:defRPr/>
            </a:pPr>
            <a:r>
              <a:rPr lang="en-US" dirty="0">
                <a:solidFill>
                  <a:srgbClr val="C00000"/>
                </a:solidFill>
                <a:ea typeface="+mn-ea"/>
              </a:rPr>
              <a:t>Assume that the top k documents are relevant.</a:t>
            </a:r>
          </a:p>
          <a:p>
            <a:pPr lvl="1" eaLnBrk="1" hangingPunct="1">
              <a:buFont typeface="Wingdings" charset="2"/>
              <a:buChar char="§"/>
              <a:defRPr/>
            </a:pPr>
            <a:r>
              <a:rPr lang="en-US" dirty="0">
                <a:solidFill>
                  <a:srgbClr val="C00000"/>
                </a:solidFill>
                <a:ea typeface="+mn-ea"/>
              </a:rPr>
              <a:t>Do relevance feedback (e.g., </a:t>
            </a:r>
            <a:r>
              <a:rPr lang="en-US" dirty="0" err="1">
                <a:solidFill>
                  <a:srgbClr val="C00000"/>
                </a:solidFill>
                <a:ea typeface="+mn-ea"/>
              </a:rPr>
              <a:t>Rocchio</a:t>
            </a:r>
            <a:r>
              <a:rPr lang="en-US" dirty="0">
                <a:solidFill>
                  <a:srgbClr val="C00000"/>
                </a:solidFill>
                <a:ea typeface="+mn-ea"/>
              </a:rPr>
              <a:t>)</a:t>
            </a:r>
          </a:p>
          <a:p>
            <a:pPr eaLnBrk="1" hangingPunct="1">
              <a:buFont typeface="Wingdings" charset="2"/>
              <a:buChar char="§"/>
              <a:defRPr/>
            </a:pPr>
            <a:r>
              <a:rPr lang="en-US" dirty="0"/>
              <a:t>Works very well on average</a:t>
            </a:r>
          </a:p>
          <a:p>
            <a:pPr eaLnBrk="1" hangingPunct="1">
              <a:buFont typeface="Wingdings" charset="2"/>
              <a:buChar char="§"/>
              <a:defRPr/>
            </a:pPr>
            <a:r>
              <a:rPr lang="en-US" dirty="0">
                <a:solidFill>
                  <a:srgbClr val="C00000"/>
                </a:solidFill>
              </a:rPr>
              <a:t>But can go horribly wrong for some queries.</a:t>
            </a:r>
          </a:p>
          <a:p>
            <a:pPr eaLnBrk="1" hangingPunct="1">
              <a:buFont typeface="Wingdings" charset="2"/>
              <a:buChar char="§"/>
              <a:defRPr/>
            </a:pPr>
            <a:r>
              <a:rPr lang="en-US" dirty="0"/>
              <a:t>Several iterations can cause query drift.</a:t>
            </a:r>
          </a:p>
          <a:p>
            <a:pPr eaLnBrk="1" hangingPunct="1">
              <a:buFont typeface="Wingdings" charset="2"/>
              <a:buChar char="§"/>
              <a:defRPr/>
            </a:pPr>
            <a:r>
              <a:rPr lang="en-US" dirty="0"/>
              <a:t>Why?</a:t>
            </a:r>
          </a:p>
        </p:txBody>
      </p:sp>
      <p:sp>
        <p:nvSpPr>
          <p:cNvPr id="49156" name="TextBox 4">
            <a:extLst>
              <a:ext uri="{FF2B5EF4-FFF2-40B4-BE49-F238E27FC236}">
                <a16:creationId xmlns:a16="http://schemas.microsoft.com/office/drawing/2014/main" id="{C6ADCE14-CAE8-3221-708F-57F61F538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9.1.6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755A76EE-0CE7-64E5-33BF-B426176A39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Query Expansion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68009AC7-DBB2-4A69-4084-5A7CC507B4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911350"/>
            <a:ext cx="8077200" cy="471805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In relevance feedback, users give additional input (relevant/non-relevant) on </a:t>
            </a:r>
            <a:r>
              <a:rPr lang="en-US" altLang="zh-CN">
                <a:solidFill>
                  <a:schemeClr val="folHlink"/>
                </a:solidFill>
                <a:ea typeface="宋体" panose="02010600030101010101" pitchFamily="2" charset="-122"/>
              </a:rPr>
              <a:t>documents</a:t>
            </a:r>
            <a:r>
              <a:rPr lang="en-US" altLang="zh-CN">
                <a:ea typeface="宋体" panose="02010600030101010101" pitchFamily="2" charset="-122"/>
              </a:rPr>
              <a:t>, which is used to reweight terms in the documents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In query expansion, users give additional input (good/bad search term) on </a:t>
            </a:r>
            <a:r>
              <a:rPr lang="en-US" altLang="zh-CN">
                <a:solidFill>
                  <a:schemeClr val="folHlink"/>
                </a:solidFill>
                <a:ea typeface="宋体" panose="02010600030101010101" pitchFamily="2" charset="-122"/>
              </a:rPr>
              <a:t>words or phrases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0180" name="TextBox 4">
            <a:extLst>
              <a:ext uri="{FF2B5EF4-FFF2-40B4-BE49-F238E27FC236}">
                <a16:creationId xmlns:a16="http://schemas.microsoft.com/office/drawing/2014/main" id="{1FA748C8-6BD0-593B-A8F7-04136DFE3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9.2.2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EE7FAB67-6EE9-FFE1-FC3E-604CA090D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Query assist</a:t>
            </a:r>
          </a:p>
        </p:txBody>
      </p:sp>
      <p:pic>
        <p:nvPicPr>
          <p:cNvPr id="51203" name="Content Placeholder 3" descr="queryexp.gif">
            <a:extLst>
              <a:ext uri="{FF2B5EF4-FFF2-40B4-BE49-F238E27FC236}">
                <a16:creationId xmlns:a16="http://schemas.microsoft.com/office/drawing/2014/main" id="{F34D72C7-D146-097E-CF35-0C154F0F94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49414" y="1600200"/>
            <a:ext cx="8866187" cy="2514600"/>
          </a:xfrm>
        </p:spPr>
      </p:pic>
      <p:sp>
        <p:nvSpPr>
          <p:cNvPr id="5" name="Up Arrow Callout 4">
            <a:extLst>
              <a:ext uri="{FF2B5EF4-FFF2-40B4-BE49-F238E27FC236}">
                <a16:creationId xmlns:a16="http://schemas.microsoft.com/office/drawing/2014/main" id="{68CDEEC2-C256-BB6C-4FE0-27C3E20E6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1" y="4267201"/>
            <a:ext cx="8315325" cy="1273175"/>
          </a:xfrm>
          <a:prstGeom prst="upArrowCallout">
            <a:avLst>
              <a:gd name="adj1" fmla="val 24976"/>
              <a:gd name="adj2" fmla="val 25006"/>
              <a:gd name="adj3" fmla="val 25000"/>
              <a:gd name="adj4" fmla="val 6497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/>
              <a:t>Would you expect such a feature to increase the query</a:t>
            </a:r>
          </a:p>
          <a:p>
            <a:pPr eaLnBrk="1" hangingPunct="1"/>
            <a:r>
              <a:rPr lang="en-US" altLang="en-US"/>
              <a:t>volume at a search engine?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02DF7D62-B264-51F5-BB42-0DB65DB908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381000"/>
            <a:ext cx="8077200" cy="990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How do we augment the user query?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B74DAEB9-5385-4A13-3C63-761DCB1C5E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911350"/>
            <a:ext cx="8077200" cy="471805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Manual thesaurus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E.g. </a:t>
            </a:r>
            <a:r>
              <a:rPr lang="en-US" altLang="zh-CN" dirty="0" err="1">
                <a:ea typeface="宋体" panose="02010600030101010101" pitchFamily="2" charset="-122"/>
              </a:rPr>
              <a:t>MedLine</a:t>
            </a:r>
            <a:r>
              <a:rPr lang="en-US" altLang="zh-CN" dirty="0">
                <a:ea typeface="宋体" panose="02010600030101010101" pitchFamily="2" charset="-122"/>
              </a:rPr>
              <a:t>: physician, syn: doc, doctor, MD, medico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Can be query rather than just synonyms</a:t>
            </a:r>
          </a:p>
          <a:p>
            <a:pPr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Global Analysis: </a:t>
            </a:r>
            <a:r>
              <a:rPr lang="en-US" altLang="zh-CN" sz="2200" dirty="0">
                <a:solidFill>
                  <a:srgbClr val="C00000"/>
                </a:solidFill>
                <a:ea typeface="宋体" panose="02010600030101010101" pitchFamily="2" charset="-122"/>
              </a:rPr>
              <a:t>(static; of all documents in collection)</a:t>
            </a:r>
          </a:p>
          <a:p>
            <a:pPr lvl="1"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Automatically derived thesaurus</a:t>
            </a:r>
          </a:p>
          <a:p>
            <a:pPr lvl="2"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(co-occurrence statistics)</a:t>
            </a:r>
          </a:p>
          <a:p>
            <a:pPr lvl="1"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Refinements based on query log mining</a:t>
            </a:r>
          </a:p>
          <a:p>
            <a:pPr lvl="2"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Common on the web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Local Analysis: (dynamic)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Analysis of documents in </a:t>
            </a:r>
            <a:r>
              <a:rPr lang="en-US" altLang="zh-CN" dirty="0">
                <a:solidFill>
                  <a:schemeClr val="folHlink"/>
                </a:solidFill>
                <a:ea typeface="宋体" panose="02010600030101010101" pitchFamily="2" charset="-122"/>
              </a:rPr>
              <a:t>result set</a:t>
            </a:r>
          </a:p>
        </p:txBody>
      </p:sp>
      <p:sp>
        <p:nvSpPr>
          <p:cNvPr id="52228" name="TextBox 4">
            <a:extLst>
              <a:ext uri="{FF2B5EF4-FFF2-40B4-BE49-F238E27FC236}">
                <a16:creationId xmlns:a16="http://schemas.microsoft.com/office/drawing/2014/main" id="{6DE9D6F1-C062-6580-F2D3-4A0AA1DFF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9.2.2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8D1AC578-0B19-5EBE-B7F4-6F1919476C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Example of manual thesaurus </a:t>
            </a:r>
          </a:p>
        </p:txBody>
      </p:sp>
      <p:pic>
        <p:nvPicPr>
          <p:cNvPr id="53251" name="Picture 3" descr="medlineexpansion">
            <a:extLst>
              <a:ext uri="{FF2B5EF4-FFF2-40B4-BE49-F238E27FC236}">
                <a16:creationId xmlns:a16="http://schemas.microsoft.com/office/drawing/2014/main" id="{6B69E35C-4E5C-CD36-1609-31DCB3D8D8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1701800"/>
            <a:ext cx="8305800" cy="4845050"/>
          </a:xfrm>
          <a:noFill/>
        </p:spPr>
      </p:pic>
      <p:sp>
        <p:nvSpPr>
          <p:cNvPr id="53252" name="TextBox 4">
            <a:extLst>
              <a:ext uri="{FF2B5EF4-FFF2-40B4-BE49-F238E27FC236}">
                <a16:creationId xmlns:a16="http://schemas.microsoft.com/office/drawing/2014/main" id="{367346FC-C314-22AE-1EBA-1F54DFB69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9.2.2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D463387A-CF62-EAA8-121E-942A305F55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8229600" cy="9906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Thesaurus-based query expansion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85C17E21-1B22-D254-B8F0-F07D9E082D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200">
                <a:ea typeface="宋体" panose="02010600030101010101" pitchFamily="2" charset="-122"/>
              </a:rPr>
              <a:t>For each term, </a:t>
            </a:r>
            <a:r>
              <a:rPr lang="en-US" altLang="zh-CN" sz="2200" i="1">
                <a:ea typeface="宋体" panose="02010600030101010101" pitchFamily="2" charset="-122"/>
              </a:rPr>
              <a:t>t</a:t>
            </a:r>
            <a:r>
              <a:rPr lang="en-US" altLang="zh-CN" sz="2200">
                <a:ea typeface="宋体" panose="02010600030101010101" pitchFamily="2" charset="-122"/>
              </a:rPr>
              <a:t>, in a query, expand the query with synonyms and related words of </a:t>
            </a:r>
            <a:r>
              <a:rPr lang="en-US" altLang="zh-CN" sz="2200" i="1">
                <a:ea typeface="宋体" panose="02010600030101010101" pitchFamily="2" charset="-122"/>
              </a:rPr>
              <a:t>t</a:t>
            </a:r>
            <a:r>
              <a:rPr lang="en-US" altLang="zh-CN" sz="2200">
                <a:ea typeface="宋体" panose="02010600030101010101" pitchFamily="2" charset="-122"/>
              </a:rPr>
              <a:t> from the thesaurus</a:t>
            </a:r>
          </a:p>
          <a:p>
            <a:pPr lvl="1" eaLnBrk="1" hangingPunct="1"/>
            <a:r>
              <a:rPr lang="en-US" altLang="zh-CN" sz="2000">
                <a:ea typeface="宋体" panose="02010600030101010101" pitchFamily="2" charset="-122"/>
              </a:rPr>
              <a:t>feline </a:t>
            </a:r>
            <a:r>
              <a:rPr lang="en-US" altLang="zh-CN" sz="2000">
                <a:ea typeface="宋体" panose="02010600030101010101" pitchFamily="2" charset="-122"/>
                <a:cs typeface="Arial" panose="020B0604020202020204" pitchFamily="34" charset="0"/>
              </a:rPr>
              <a:t>→ feline cat</a:t>
            </a:r>
          </a:p>
          <a:p>
            <a:pPr eaLnBrk="1" hangingPunct="1"/>
            <a:r>
              <a:rPr lang="en-US" altLang="zh-CN" sz="2200">
                <a:solidFill>
                  <a:srgbClr val="C00000"/>
                </a:solidFill>
                <a:ea typeface="宋体" panose="02010600030101010101" pitchFamily="2" charset="-122"/>
              </a:rPr>
              <a:t>May weight added terms less than original query terms.</a:t>
            </a:r>
          </a:p>
          <a:p>
            <a:pPr eaLnBrk="1" hangingPunct="1"/>
            <a:r>
              <a:rPr lang="en-US" altLang="zh-CN" sz="2200">
                <a:ea typeface="宋体" panose="02010600030101010101" pitchFamily="2" charset="-122"/>
              </a:rPr>
              <a:t>Generally increases recall</a:t>
            </a:r>
          </a:p>
          <a:p>
            <a:pPr eaLnBrk="1" hangingPunct="1"/>
            <a:r>
              <a:rPr lang="en-US" altLang="zh-CN" sz="2200">
                <a:solidFill>
                  <a:srgbClr val="C00000"/>
                </a:solidFill>
                <a:ea typeface="宋体" panose="02010600030101010101" pitchFamily="2" charset="-122"/>
              </a:rPr>
              <a:t>Widely used in many science/engineering fields</a:t>
            </a:r>
          </a:p>
          <a:p>
            <a:pPr eaLnBrk="1" hangingPunct="1"/>
            <a:r>
              <a:rPr lang="en-US" altLang="zh-CN" sz="2200">
                <a:ea typeface="宋体" panose="02010600030101010101" pitchFamily="2" charset="-122"/>
              </a:rPr>
              <a:t>May significantly decrease precision, particularly with ambiguous terms.</a:t>
            </a:r>
          </a:p>
          <a:p>
            <a:pPr lvl="1" eaLnBrk="1" hangingPunct="1"/>
            <a:r>
              <a:rPr lang="en-US" altLang="zh-CN" sz="2000">
                <a:ea typeface="宋体" panose="02010600030101010101" pitchFamily="2" charset="-122"/>
              </a:rPr>
              <a:t>“interest rate”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 “interest rate fascinate evaluate”</a:t>
            </a:r>
          </a:p>
          <a:p>
            <a:pPr eaLnBrk="1" hangingPunct="1"/>
            <a:r>
              <a:rPr lang="en-US" altLang="zh-CN" sz="2200">
                <a:solidFill>
                  <a:srgbClr val="C00000"/>
                </a:solidFill>
                <a:ea typeface="宋体" panose="02010600030101010101" pitchFamily="2" charset="-122"/>
              </a:rPr>
              <a:t>There is a high cost of manually producing a thesaurus</a:t>
            </a:r>
          </a:p>
          <a:p>
            <a:pPr lvl="1" eaLnBrk="1" hangingPunct="1"/>
            <a:r>
              <a:rPr lang="en-US" altLang="zh-CN" sz="2000">
                <a:solidFill>
                  <a:srgbClr val="C00000"/>
                </a:solidFill>
                <a:ea typeface="宋体" panose="02010600030101010101" pitchFamily="2" charset="-122"/>
              </a:rPr>
              <a:t>And for updating it for scientific changes</a:t>
            </a:r>
          </a:p>
        </p:txBody>
      </p:sp>
      <p:sp>
        <p:nvSpPr>
          <p:cNvPr id="54276" name="TextBox 4">
            <a:extLst>
              <a:ext uri="{FF2B5EF4-FFF2-40B4-BE49-F238E27FC236}">
                <a16:creationId xmlns:a16="http://schemas.microsoft.com/office/drawing/2014/main" id="{B0272115-F720-B075-CF17-725F673F5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9.2.2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32AE1DC1-54E3-7D39-335D-7E6D48EAF9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Automatic Thesaurus Generation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1A6A8BE5-EA0A-D0EA-CEBB-69ECDD3EC8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676400"/>
            <a:ext cx="8077200" cy="471805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Attempt to generate a thesaurus automatically by analyzing the collection of documents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Fundamental notion: similarity between two words</a:t>
            </a:r>
          </a:p>
          <a:p>
            <a:pPr eaLnBrk="1" hangingPunct="1"/>
            <a:r>
              <a:rPr lang="en-US" altLang="en-US">
                <a:solidFill>
                  <a:srgbClr val="C00000"/>
                </a:solidFill>
                <a:ea typeface="ＭＳ Ｐゴシック" panose="020B0600070205080204" pitchFamily="34" charset="-128"/>
              </a:rPr>
              <a:t>Definition 1: Two words are similar if they co-occur with similar words.</a:t>
            </a:r>
          </a:p>
          <a:p>
            <a:pPr eaLnBrk="1" hangingPunct="1"/>
            <a:r>
              <a:rPr lang="en-US" altLang="en-US">
                <a:solidFill>
                  <a:srgbClr val="C00000"/>
                </a:solidFill>
                <a:ea typeface="ＭＳ Ｐゴシック" panose="020B0600070205080204" pitchFamily="34" charset="-128"/>
              </a:rPr>
              <a:t>Definition 2: Two words are similar if they occur in a given grammatical relation with the same words.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You can harvest, peel, eat, prepare, etc. apples and pears, so apples and pears must be similar.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solidFill>
                  <a:srgbClr val="C00000"/>
                </a:solidFill>
                <a:ea typeface="宋体" panose="02010600030101010101" pitchFamily="2" charset="-122"/>
              </a:rPr>
              <a:t>Co-occurrence based is more robust, grammatical relations are more accurate.</a:t>
            </a:r>
          </a:p>
        </p:txBody>
      </p:sp>
      <p:sp>
        <p:nvSpPr>
          <p:cNvPr id="55301" name="TextBox 5">
            <a:extLst>
              <a:ext uri="{FF2B5EF4-FFF2-40B4-BE49-F238E27FC236}">
                <a16:creationId xmlns:a16="http://schemas.microsoft.com/office/drawing/2014/main" id="{9F9FD4E4-4C71-C728-F3AC-917696145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9.2.3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2D0245E8-5930-EE99-C5A8-9847BF0EB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Co-occurrence Thesaurus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1A448457-F7E8-566A-2E02-917F865B44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752599"/>
            <a:ext cx="7772400" cy="497266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200" dirty="0">
                <a:ea typeface="宋体" panose="02010600030101010101" pitchFamily="2" charset="-122"/>
                <a:cs typeface="Arial" panose="020B0604020202020204" pitchFamily="34" charset="0"/>
              </a:rPr>
              <a:t>Simplest way to compute one is based on term-term similarities in </a:t>
            </a:r>
            <a:r>
              <a:rPr lang="en-US" altLang="zh-CN" sz="2200" i="1" dirty="0">
                <a:ea typeface="宋体" panose="02010600030101010101" pitchFamily="2" charset="-122"/>
                <a:cs typeface="Arial" panose="020B0604020202020204" pitchFamily="34" charset="0"/>
              </a:rPr>
              <a:t>C = AA</a:t>
            </a:r>
            <a:r>
              <a:rPr lang="en-US" altLang="zh-CN" sz="2200" i="1" baseline="30000" dirty="0">
                <a:ea typeface="宋体" panose="02010600030101010101" pitchFamily="2" charset="-122"/>
                <a:cs typeface="Arial" panose="020B0604020202020204" pitchFamily="34" charset="0"/>
              </a:rPr>
              <a:t>T </a:t>
            </a:r>
            <a:r>
              <a:rPr lang="en-US" altLang="zh-CN" sz="2200" dirty="0">
                <a:ea typeface="宋体" panose="02010600030101010101" pitchFamily="2" charset="-122"/>
                <a:cs typeface="Arial" panose="020B0604020202020204" pitchFamily="34" charset="0"/>
              </a:rPr>
              <a:t>where </a:t>
            </a:r>
            <a:r>
              <a:rPr lang="en-US" altLang="zh-CN" sz="2200" i="1" dirty="0"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200" dirty="0">
                <a:ea typeface="宋体" panose="02010600030101010101" pitchFamily="2" charset="-122"/>
                <a:cs typeface="Arial" panose="020B0604020202020204" pitchFamily="34" charset="0"/>
              </a:rPr>
              <a:t> is term-document matrix.</a:t>
            </a:r>
            <a:endParaRPr lang="en-US" altLang="zh-CN" sz="2200" baseline="300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/>
            <a:r>
              <a:rPr lang="en-US" altLang="zh-CN" sz="2200" i="1" dirty="0" err="1">
                <a:ea typeface="宋体" panose="02010600030101010101" pitchFamily="2" charset="-122"/>
                <a:cs typeface="Arial" panose="020B0604020202020204" pitchFamily="34" charset="0"/>
              </a:rPr>
              <a:t>w</a:t>
            </a:r>
            <a:r>
              <a:rPr lang="en-US" altLang="zh-CN" sz="2200" i="1" baseline="-25000" dirty="0" err="1">
                <a:ea typeface="宋体" panose="02010600030101010101" pitchFamily="2" charset="-122"/>
                <a:cs typeface="Arial" panose="020B0604020202020204" pitchFamily="34" charset="0"/>
              </a:rPr>
              <a:t>i,j</a:t>
            </a:r>
            <a:r>
              <a:rPr lang="en-US" altLang="zh-CN" sz="2200" i="1" dirty="0"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2200" dirty="0">
                <a:ea typeface="宋体" panose="02010600030101010101" pitchFamily="2" charset="-122"/>
                <a:cs typeface="Arial" panose="020B0604020202020204" pitchFamily="34" charset="0"/>
              </a:rPr>
              <a:t>(normalized) weight for (</a:t>
            </a:r>
            <a:r>
              <a:rPr lang="en-US" altLang="zh-CN" sz="2200" i="1" dirty="0" err="1">
                <a:ea typeface="宋体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sz="2200" i="1" baseline="-25000" dirty="0" err="1"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200" i="1" baseline="-25000" dirty="0"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200" i="1" dirty="0"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en-US" altLang="zh-CN" sz="2200" b="1" i="1" dirty="0" err="1">
                <a:ea typeface="宋体" panose="02010600030101010101" pitchFamily="2" charset="-122"/>
                <a:cs typeface="Arial" panose="020B0604020202020204" pitchFamily="34" charset="0"/>
              </a:rPr>
              <a:t>d</a:t>
            </a:r>
            <a:r>
              <a:rPr lang="en-US" altLang="zh-CN" sz="2200" i="1" baseline="-25000" dirty="0" err="1">
                <a:ea typeface="宋体" panose="02010600030101010101" pitchFamily="2" charset="-122"/>
                <a:cs typeface="Arial" panose="020B0604020202020204" pitchFamily="34" charset="0"/>
              </a:rPr>
              <a:t>j</a:t>
            </a:r>
            <a:r>
              <a:rPr lang="en-US" altLang="zh-CN" sz="2200" dirty="0"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eaLnBrk="1" hangingPunct="1"/>
            <a:endParaRPr lang="en-US" altLang="zh-CN" sz="22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2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2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2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2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2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2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/>
            <a:r>
              <a:rPr lang="en-US" altLang="zh-CN" sz="2200" dirty="0">
                <a:ea typeface="宋体" panose="02010600030101010101" pitchFamily="2" charset="-122"/>
                <a:cs typeface="Arial" panose="020B0604020202020204" pitchFamily="34" charset="0"/>
              </a:rPr>
              <a:t>For each </a:t>
            </a:r>
            <a:r>
              <a:rPr lang="en-US" altLang="zh-CN" sz="2200" i="1" dirty="0" err="1">
                <a:ea typeface="宋体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sz="2200" i="1" baseline="-25000" dirty="0" err="1"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200" dirty="0">
                <a:ea typeface="宋体" panose="02010600030101010101" pitchFamily="2" charset="-122"/>
                <a:cs typeface="Arial" panose="020B0604020202020204" pitchFamily="34" charset="0"/>
              </a:rPr>
              <a:t>, pick terms with high values in </a:t>
            </a:r>
            <a:r>
              <a:rPr lang="en-US" altLang="zh-CN" sz="2200" i="1" dirty="0"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2200" dirty="0"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73188" name="Rectangle 4">
            <a:extLst>
              <a:ext uri="{FF2B5EF4-FFF2-40B4-BE49-F238E27FC236}">
                <a16:creationId xmlns:a16="http://schemas.microsoft.com/office/drawing/2014/main" id="{CEC526E4-B715-5031-666B-79B9CF8F4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06763"/>
            <a:ext cx="4648200" cy="22098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Lucida Sans" charset="0"/>
            </a:endParaRPr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A85A4A1B-D5AE-18B2-98EF-61F9772B2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16363"/>
            <a:ext cx="4648200" cy="228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6326" name="Text Box 6">
            <a:extLst>
              <a:ext uri="{FF2B5EF4-FFF2-40B4-BE49-F238E27FC236}">
                <a16:creationId xmlns:a16="http://schemas.microsoft.com/office/drawing/2014/main" id="{A913CFA9-56CE-6D92-4F2B-D521AC88B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810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r>
              <a:rPr lang="en-US" altLang="zh-CN" b="1" i="1">
                <a:latin typeface="Tahoma" panose="020B0604030504040204" pitchFamily="34" charset="0"/>
              </a:rPr>
              <a:t>t</a:t>
            </a:r>
            <a:r>
              <a:rPr lang="en-US" altLang="zh-CN" i="1" baseline="-25000">
                <a:latin typeface="Tahoma" panose="020B0604030504040204" pitchFamily="34" charset="0"/>
              </a:rPr>
              <a:t>i</a:t>
            </a:r>
            <a:endParaRPr lang="en-US" altLang="zh-CN" i="1">
              <a:latin typeface="Tahoma" panose="020B0604030504040204" pitchFamily="34" charset="0"/>
            </a:endParaRPr>
          </a:p>
        </p:txBody>
      </p:sp>
      <p:sp>
        <p:nvSpPr>
          <p:cNvPr id="56327" name="Rectangle 7">
            <a:extLst>
              <a:ext uri="{FF2B5EF4-FFF2-40B4-BE49-F238E27FC236}">
                <a16:creationId xmlns:a16="http://schemas.microsoft.com/office/drawing/2014/main" id="{1744A120-3788-D21B-FF45-DD3166C00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306763"/>
            <a:ext cx="228600" cy="2209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6328" name="Rectangle 8">
            <a:extLst>
              <a:ext uri="{FF2B5EF4-FFF2-40B4-BE49-F238E27FC236}">
                <a16:creationId xmlns:a16="http://schemas.microsoft.com/office/drawing/2014/main" id="{87FE8A83-7B21-A24C-A2D2-773BAD5EB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916363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6329" name="Text Box 9">
            <a:extLst>
              <a:ext uri="{FF2B5EF4-FFF2-40B4-BE49-F238E27FC236}">
                <a16:creationId xmlns:a16="http://schemas.microsoft.com/office/drawing/2014/main" id="{E32DA23E-1205-CF8D-96D4-C9F98BCBC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819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 i="1">
                <a:latin typeface="Tahoma" panose="020B0604030504040204" pitchFamily="34" charset="0"/>
              </a:rPr>
              <a:t>d</a:t>
            </a:r>
            <a:r>
              <a:rPr lang="en-US" altLang="zh-CN" i="1" baseline="-25000">
                <a:latin typeface="Tahoma" panose="020B0604030504040204" pitchFamily="34" charset="0"/>
              </a:rPr>
              <a:t>j</a:t>
            </a:r>
            <a:endParaRPr lang="en-US" altLang="zh-CN" i="1">
              <a:latin typeface="Tahoma" panose="020B0604030504040204" pitchFamily="34" charset="0"/>
            </a:endParaRPr>
          </a:p>
        </p:txBody>
      </p:sp>
      <p:sp>
        <p:nvSpPr>
          <p:cNvPr id="56330" name="Text Box 10">
            <a:extLst>
              <a:ext uri="{FF2B5EF4-FFF2-40B4-BE49-F238E27FC236}">
                <a16:creationId xmlns:a16="http://schemas.microsoft.com/office/drawing/2014/main" id="{9B1E65C5-8963-8A75-E6C0-CC8C17DEC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5351" y="2971801"/>
            <a:ext cx="688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r>
              <a:rPr lang="en-US" altLang="zh-CN" sz="2000" i="1">
                <a:latin typeface="Tahoma" panose="020B0604030504040204" pitchFamily="34" charset="0"/>
              </a:rPr>
              <a:t>N</a:t>
            </a:r>
          </a:p>
        </p:txBody>
      </p:sp>
      <p:sp>
        <p:nvSpPr>
          <p:cNvPr id="56331" name="Text Box 11">
            <a:extLst>
              <a:ext uri="{FF2B5EF4-FFF2-40B4-BE49-F238E27FC236}">
                <a16:creationId xmlns:a16="http://schemas.microsoft.com/office/drawing/2014/main" id="{E575C44F-775F-3111-D4CB-6A10928C3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6639" y="5318126"/>
            <a:ext cx="688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r>
              <a:rPr lang="en-US" altLang="zh-CN" sz="2000" i="1">
                <a:latin typeface="Tahoma" panose="020B0604030504040204" pitchFamily="34" charset="0"/>
              </a:rPr>
              <a:t>M</a:t>
            </a:r>
          </a:p>
        </p:txBody>
      </p:sp>
      <p:sp>
        <p:nvSpPr>
          <p:cNvPr id="1373198" name="Rectangle 14">
            <a:extLst>
              <a:ext uri="{FF2B5EF4-FFF2-40B4-BE49-F238E27FC236}">
                <a16:creationId xmlns:a16="http://schemas.microsoft.com/office/drawing/2014/main" id="{224C73EA-6D98-DD02-199D-A08FD020D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3625851"/>
            <a:ext cx="1828800" cy="246221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zh-CN" sz="2200"/>
              <a:t>What does </a:t>
            </a:r>
            <a:r>
              <a:rPr lang="en-US" altLang="zh-CN" sz="2200" i="1"/>
              <a:t>C</a:t>
            </a:r>
            <a:r>
              <a:rPr lang="en-US" altLang="zh-CN" sz="2200"/>
              <a:t> contain if </a:t>
            </a:r>
            <a:r>
              <a:rPr lang="en-US" altLang="zh-CN" sz="2200" i="1"/>
              <a:t>A</a:t>
            </a:r>
            <a:r>
              <a:rPr lang="en-US" altLang="zh-CN" sz="2200"/>
              <a:t> is a term-doc incidence (0/1) matrix?</a:t>
            </a:r>
          </a:p>
        </p:txBody>
      </p:sp>
      <p:sp>
        <p:nvSpPr>
          <p:cNvPr id="56333" name="TextBox 13">
            <a:extLst>
              <a:ext uri="{FF2B5EF4-FFF2-40B4-BE49-F238E27FC236}">
                <a16:creationId xmlns:a16="http://schemas.microsoft.com/office/drawing/2014/main" id="{2D60A26C-455F-7B9E-AB3E-F93024558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9.2.3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319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FFE64657-F3DD-3BCF-F24D-E52137616F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Automatic Thesaurus Generation</a:t>
            </a:r>
            <a:br>
              <a:rPr lang="en-US" altLang="zh-CN" sz="3600">
                <a:ea typeface="宋体" panose="02010600030101010101" pitchFamily="2" charset="-122"/>
              </a:rPr>
            </a:br>
            <a:r>
              <a:rPr lang="en-US" altLang="zh-CN" sz="3600">
                <a:ea typeface="宋体" panose="02010600030101010101" pitchFamily="2" charset="-122"/>
              </a:rPr>
              <a:t>Example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0E3686C8-1B0A-2A95-719D-D93F5B8399D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zh-CN" altLang="en-US" sz="2200">
              <a:ea typeface="宋体" panose="02010600030101010101" pitchFamily="2" charset="-122"/>
            </a:endParaRPr>
          </a:p>
          <a:p>
            <a:pPr eaLnBrk="1" hangingPunct="1"/>
            <a:endParaRPr lang="zh-CN" altLang="en-US" sz="2200">
              <a:ea typeface="宋体" panose="02010600030101010101" pitchFamily="2" charset="-122"/>
            </a:endParaRPr>
          </a:p>
        </p:txBody>
      </p:sp>
      <p:pic>
        <p:nvPicPr>
          <p:cNvPr id="57348" name="Picture 4" descr="wordspacenearest">
            <a:extLst>
              <a:ext uri="{FF2B5EF4-FFF2-40B4-BE49-F238E27FC236}">
                <a16:creationId xmlns:a16="http://schemas.microsoft.com/office/drawing/2014/main" id="{381186C3-8B04-05A1-DD9C-F46EDAC6F1C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1676400"/>
            <a:ext cx="8458200" cy="4591050"/>
          </a:xfrm>
          <a:noFill/>
        </p:spPr>
      </p:pic>
      <p:sp>
        <p:nvSpPr>
          <p:cNvPr id="57349" name="TextBox 5">
            <a:extLst>
              <a:ext uri="{FF2B5EF4-FFF2-40B4-BE49-F238E27FC236}">
                <a16:creationId xmlns:a16="http://schemas.microsoft.com/office/drawing/2014/main" id="{D580710E-0E2E-0E23-7239-8BE99FA04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9.2.3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2D70A3DD-0547-79C3-CE0B-4F3A61BB4A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Automatic Thesaurus Generation</a:t>
            </a:r>
            <a:br>
              <a:rPr lang="en-US" altLang="zh-CN" sz="3600">
                <a:ea typeface="宋体" panose="02010600030101010101" pitchFamily="2" charset="-122"/>
              </a:rPr>
            </a:br>
            <a:r>
              <a:rPr lang="en-US" altLang="zh-CN" sz="3600">
                <a:ea typeface="宋体" panose="02010600030101010101" pitchFamily="2" charset="-122"/>
              </a:rPr>
              <a:t>Discussion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E4C82E02-E256-6065-2510-1ACDE58169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911350"/>
            <a:ext cx="8077200" cy="4718050"/>
          </a:xfrm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C4A305BD-6EA9-ACB3-F213-3236AE09F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828800"/>
            <a:ext cx="8077200" cy="471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A5002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600"/>
              <a:t>Quality of associations is usually a problem.</a:t>
            </a:r>
          </a:p>
          <a:p>
            <a:pPr eaLnBrk="1" hangingPunct="1">
              <a:spcBef>
                <a:spcPct val="20000"/>
              </a:spcBef>
              <a:buClr>
                <a:srgbClr val="A5002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600"/>
              <a:t>Term ambiguity may introduce irrelevant statistically correlated terms.</a:t>
            </a:r>
          </a:p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000"/>
              <a:t>“Apple computer” </a:t>
            </a:r>
            <a:r>
              <a:rPr lang="en-US" altLang="zh-CN" sz="2000">
                <a:sym typeface="Symbol" panose="05050102010706020507" pitchFamily="18" charset="2"/>
              </a:rPr>
              <a:t> </a:t>
            </a:r>
            <a:r>
              <a:rPr lang="en-US" altLang="zh-CN" sz="2000"/>
              <a:t>“Apple red fruit computer”</a:t>
            </a:r>
            <a:endParaRPr lang="en-US" altLang="zh-CN"/>
          </a:p>
          <a:p>
            <a:pPr eaLnBrk="1" hangingPunct="1">
              <a:spcBef>
                <a:spcPct val="20000"/>
              </a:spcBef>
              <a:buClr>
                <a:srgbClr val="A5002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600">
                <a:solidFill>
                  <a:srgbClr val="C00000"/>
                </a:solidFill>
              </a:rPr>
              <a:t>Problems:</a:t>
            </a:r>
          </a:p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>
                <a:solidFill>
                  <a:srgbClr val="C00000"/>
                </a:solidFill>
              </a:rPr>
              <a:t>False positives: Words deemed similar that are not</a:t>
            </a:r>
          </a:p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>
                <a:solidFill>
                  <a:srgbClr val="C00000"/>
                </a:solidFill>
              </a:rPr>
              <a:t>False negatives: Words deemed dissimilar that are similar</a:t>
            </a:r>
          </a:p>
          <a:p>
            <a:pPr eaLnBrk="1" hangingPunct="1">
              <a:spcBef>
                <a:spcPct val="20000"/>
              </a:spcBef>
              <a:buClr>
                <a:srgbClr val="A5002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600"/>
              <a:t>Since terms are highly correlated anyway, expansion may not retrieve many additional documents.</a:t>
            </a:r>
          </a:p>
        </p:txBody>
      </p:sp>
      <p:sp>
        <p:nvSpPr>
          <p:cNvPr id="58373" name="TextBox 5">
            <a:extLst>
              <a:ext uri="{FF2B5EF4-FFF2-40B4-BE49-F238E27FC236}">
                <a16:creationId xmlns:a16="http://schemas.microsoft.com/office/drawing/2014/main" id="{8BF4B6DD-4101-F2CD-8F6C-5E1DE4CDF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9.2.3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B24A1826-E6E6-50A8-8EED-B97A85EC8B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Indirect relevance feedback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DBA3F940-E133-357E-92D4-A19ED12A04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On the web, DirectHit introduced a form of </a:t>
            </a:r>
            <a:r>
              <a:rPr lang="en-US" altLang="zh-CN">
                <a:solidFill>
                  <a:schemeClr val="folHlink"/>
                </a:solidFill>
                <a:ea typeface="宋体" panose="02010600030101010101" pitchFamily="2" charset="-122"/>
              </a:rPr>
              <a:t>indirect</a:t>
            </a:r>
            <a:r>
              <a:rPr lang="en-US" altLang="zh-CN">
                <a:ea typeface="宋体" panose="02010600030101010101" pitchFamily="2" charset="-122"/>
              </a:rPr>
              <a:t> relevance feedback.</a:t>
            </a:r>
          </a:p>
          <a:p>
            <a:pPr eaLnBrk="1" hangingPunct="1"/>
            <a:r>
              <a:rPr lang="en-US" altLang="zh-CN">
                <a:solidFill>
                  <a:srgbClr val="C00000"/>
                </a:solidFill>
                <a:ea typeface="宋体" panose="02010600030101010101" pitchFamily="2" charset="-122"/>
              </a:rPr>
              <a:t>DirectHit ranked documents higher that users look at more often.</a:t>
            </a:r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  <a:ea typeface="宋体" panose="02010600030101010101" pitchFamily="2" charset="-122"/>
              </a:rPr>
              <a:t>Clicked on links are assumed likely to be relevant</a:t>
            </a:r>
          </a:p>
          <a:p>
            <a:pPr lvl="2" eaLnBrk="1" hangingPunct="1"/>
            <a:r>
              <a:rPr lang="en-US" altLang="zh-CN">
                <a:solidFill>
                  <a:srgbClr val="C00000"/>
                </a:solidFill>
                <a:ea typeface="宋体" panose="02010600030101010101" pitchFamily="2" charset="-122"/>
              </a:rPr>
              <a:t>Assuming the displayed summaries are good, etc.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Globally: Not necessarily user or query specific.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This is the general area of </a:t>
            </a:r>
            <a:r>
              <a:rPr lang="en-US" altLang="zh-CN" b="1" i="1">
                <a:ea typeface="宋体" panose="02010600030101010101" pitchFamily="2" charset="-122"/>
              </a:rPr>
              <a:t>clickstream mining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Today – handled as part of machine-learned ranking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4186</TotalTime>
  <Words>2590</Words>
  <Application>Microsoft Office PowerPoint</Application>
  <PresentationFormat>Widescreen</PresentationFormat>
  <Paragraphs>449</Paragraphs>
  <Slides>45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Arial</vt:lpstr>
      <vt:lpstr>Arial Black</vt:lpstr>
      <vt:lpstr>Calibri</vt:lpstr>
      <vt:lpstr>Calibri Light</vt:lpstr>
      <vt:lpstr>Lucida Sans</vt:lpstr>
      <vt:lpstr>Tahoma</vt:lpstr>
      <vt:lpstr>Times New Roman</vt:lpstr>
      <vt:lpstr>Wingdings</vt:lpstr>
      <vt:lpstr>Office Theme</vt:lpstr>
      <vt:lpstr>Equation</vt:lpstr>
      <vt:lpstr>Relevance Feedback and Query expansion</vt:lpstr>
      <vt:lpstr>Overview</vt:lpstr>
      <vt:lpstr>Relevance Feedback</vt:lpstr>
      <vt:lpstr>Relevance feedback</vt:lpstr>
      <vt:lpstr>Similar pages</vt:lpstr>
      <vt:lpstr>Relevance Feedback: Example</vt:lpstr>
      <vt:lpstr>Results for Initial Query</vt:lpstr>
      <vt:lpstr>Relevance Feedback</vt:lpstr>
      <vt:lpstr>Results after Relevance Feedback</vt:lpstr>
      <vt:lpstr>PowerPoint Presentation</vt:lpstr>
      <vt:lpstr>PowerPoint Presentation</vt:lpstr>
      <vt:lpstr>Initial query/results</vt:lpstr>
      <vt:lpstr>Expanded query after relevance feedback</vt:lpstr>
      <vt:lpstr>Results for expanded query</vt:lpstr>
      <vt:lpstr>Key concept: Centroid</vt:lpstr>
      <vt:lpstr>Rocchio Algorithm</vt:lpstr>
      <vt:lpstr>The Theoretically Best Query </vt:lpstr>
      <vt:lpstr>Rocchio 1971 Algorithm (SMART)</vt:lpstr>
      <vt:lpstr>Subtleties to note</vt:lpstr>
      <vt:lpstr>Relevance feedback on initial query </vt:lpstr>
      <vt:lpstr>Relevance Feedback in vector spaces</vt:lpstr>
      <vt:lpstr>Positive vs Negative Feedback</vt:lpstr>
      <vt:lpstr>Example of Rocchio Algorithm</vt:lpstr>
      <vt:lpstr>Aside: Vector Space can be Counterintuitive. </vt:lpstr>
      <vt:lpstr>High-dimensional Vector Spaces</vt:lpstr>
      <vt:lpstr>Relevance Feedback: Assumptions</vt:lpstr>
      <vt:lpstr>Violation of A1</vt:lpstr>
      <vt:lpstr>Violation of A2</vt:lpstr>
      <vt:lpstr>Relevance Feedback: Problems</vt:lpstr>
      <vt:lpstr>Evaluation of relevance feedback strategies</vt:lpstr>
      <vt:lpstr>Evaluation of relevance feedback</vt:lpstr>
      <vt:lpstr>Evaluation: Caveat</vt:lpstr>
      <vt:lpstr>Relevance Feedback on the Web</vt:lpstr>
      <vt:lpstr>Excite Relevance Feedback</vt:lpstr>
      <vt:lpstr>Pseudo relevance feedback</vt:lpstr>
      <vt:lpstr>Query Expansion</vt:lpstr>
      <vt:lpstr>Query assist</vt:lpstr>
      <vt:lpstr>How do we augment the user query?</vt:lpstr>
      <vt:lpstr>Example of manual thesaurus </vt:lpstr>
      <vt:lpstr>Thesaurus-based query expansion</vt:lpstr>
      <vt:lpstr>Automatic Thesaurus Generation</vt:lpstr>
      <vt:lpstr>Co-occurrence Thesaurus</vt:lpstr>
      <vt:lpstr>Automatic Thesaurus Generation Example</vt:lpstr>
      <vt:lpstr>Automatic Thesaurus Generation Discussion</vt:lpstr>
      <vt:lpstr>Indirect relevance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Relevance Feedback and Query expansion</dc:title>
  <dc:creator>richa singh</dc:creator>
  <cp:lastModifiedBy>richa singh</cp:lastModifiedBy>
  <cp:revision>29</cp:revision>
  <dcterms:created xsi:type="dcterms:W3CDTF">2023-10-30T09:50:27Z</dcterms:created>
  <dcterms:modified xsi:type="dcterms:W3CDTF">2023-11-08T20:07:56Z</dcterms:modified>
</cp:coreProperties>
</file>