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413" r:id="rId4"/>
    <p:sldId id="258" r:id="rId5"/>
    <p:sldId id="259" r:id="rId6"/>
    <p:sldId id="261" r:id="rId7"/>
    <p:sldId id="262" r:id="rId8"/>
    <p:sldId id="263" r:id="rId9"/>
    <p:sldId id="264" r:id="rId10"/>
    <p:sldId id="380" r:id="rId11"/>
    <p:sldId id="273" r:id="rId12"/>
    <p:sldId id="414" r:id="rId13"/>
    <p:sldId id="275" r:id="rId14"/>
    <p:sldId id="415" r:id="rId15"/>
    <p:sldId id="416" r:id="rId16"/>
    <p:sldId id="417" r:id="rId17"/>
    <p:sldId id="419" r:id="rId18"/>
    <p:sldId id="420" r:id="rId19"/>
    <p:sldId id="346" r:id="rId20"/>
    <p:sldId id="347" r:id="rId21"/>
    <p:sldId id="348" r:id="rId22"/>
    <p:sldId id="349" r:id="rId23"/>
    <p:sldId id="350" r:id="rId24"/>
    <p:sldId id="351" r:id="rId25"/>
    <p:sldId id="421" r:id="rId26"/>
    <p:sldId id="385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76" r:id="rId36"/>
    <p:sldId id="377" r:id="rId37"/>
    <p:sldId id="265" r:id="rId38"/>
    <p:sldId id="425" r:id="rId39"/>
    <p:sldId id="426" r:id="rId40"/>
    <p:sldId id="427" r:id="rId41"/>
    <p:sldId id="367" r:id="rId42"/>
    <p:sldId id="387" r:id="rId43"/>
    <p:sldId id="412" r:id="rId44"/>
    <p:sldId id="410" r:id="rId45"/>
    <p:sldId id="411" r:id="rId46"/>
    <p:sldId id="353" r:id="rId47"/>
    <p:sldId id="389" r:id="rId48"/>
    <p:sldId id="390" r:id="rId49"/>
    <p:sldId id="391" r:id="rId50"/>
    <p:sldId id="392" r:id="rId51"/>
    <p:sldId id="393" r:id="rId52"/>
    <p:sldId id="394" r:id="rId53"/>
    <p:sldId id="395" r:id="rId54"/>
    <p:sldId id="396" r:id="rId55"/>
    <p:sldId id="397" r:id="rId56"/>
    <p:sldId id="400" r:id="rId57"/>
    <p:sldId id="333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3F96E-500E-47BA-9B4A-C29E6F64CE97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203916-7FFF-43B4-8520-08081180C2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708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136B9740-3B1C-A547-871A-15F1ED7F33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63F82E48-08B9-8441-B261-37A65F84AA95}" type="slidenum">
              <a:rPr lang="en-US" altLang="en-US" sz="1300"/>
              <a:pPr eaLnBrk="1" hangingPunct="1"/>
              <a:t>30</a:t>
            </a:fld>
            <a:endParaRPr lang="en-US" altLang="en-US" sz="13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5094EED8-AF95-6A45-BAC1-E1497AB913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08C8A35-9E4F-DF45-A3B4-097D8746C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 altLang="en-US" sz="3000">
                <a:latin typeface="Arial" panose="020B0604020202020204" pitchFamily="34" charset="0"/>
              </a:rPr>
              <a:t>For rank positions above b, do not discount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>
            <a:extLst>
              <a:ext uri="{FF2B5EF4-FFF2-40B4-BE49-F238E27FC236}">
                <a16:creationId xmlns:a16="http://schemas.microsoft.com/office/drawing/2014/main" id="{4D77807E-E991-6543-879C-05E1456C5B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6" name="Notes Placeholder 2">
            <a:extLst>
              <a:ext uri="{FF2B5EF4-FFF2-40B4-BE49-F238E27FC236}">
                <a16:creationId xmlns:a16="http://schemas.microsoft.com/office/drawing/2014/main" id="{0CEA1CFE-C413-9E41-A882-882ECACC5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Normalized DCG:</a:t>
            </a:r>
          </a:p>
          <a:p>
            <a:r>
              <a:rPr lang="en-US" altLang="en-US">
                <a:latin typeface="Arial" panose="020B0604020202020204" pitchFamily="34" charset="0"/>
              </a:rPr>
              <a:t>DCG values are often </a:t>
            </a:r>
            <a:r>
              <a:rPr lang="en-US" altLang="en-US" i="1">
                <a:latin typeface="Arial" panose="020B0604020202020204" pitchFamily="34" charset="0"/>
              </a:rPr>
              <a:t>normalized</a:t>
            </a:r>
            <a:r>
              <a:rPr lang="en-US" altLang="en-US">
                <a:latin typeface="Arial" panose="020B0604020202020204" pitchFamily="34" charset="0"/>
              </a:rPr>
              <a:t> by comparing the DCG at each rank with the DCG value for the </a:t>
            </a:r>
            <a:r>
              <a:rPr lang="en-US" altLang="en-US" i="1">
                <a:latin typeface="Arial" panose="020B0604020202020204" pitchFamily="34" charset="0"/>
              </a:rPr>
              <a:t>perfect ranking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makes averaging easier for queries with different numbers of relevant documents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C5984584-F6FC-D341-AC4A-F10706337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8A929AE7-3B53-904A-9543-AA1A2A1192E6}" type="slidenum">
              <a:rPr lang="en-US" altLang="en-US" sz="1300"/>
              <a:pPr eaLnBrk="1" hangingPunct="1"/>
              <a:t>32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F3E489C6-6643-BF44-ACAB-7FFD9BBD8D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AAECC28B-5590-B049-842B-34FF31E494C9}" type="slidenum">
              <a:rPr lang="en-US" altLang="en-US" sz="1300"/>
              <a:pPr eaLnBrk="1" hangingPunct="1"/>
              <a:t>33</a:t>
            </a:fld>
            <a:endParaRPr lang="en-US" altLang="en-US" sz="13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18C509A6-7FE9-2B4E-9EA5-AA3FB1885F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520261EC-26CE-B34F-AFC2-E16EE42DE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Perfect ranking: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3, 3, 3, 2, 2, 2, 1, 0, 0, 0</a:t>
            </a:r>
          </a:p>
          <a:p>
            <a:r>
              <a:rPr lang="en-US" altLang="en-US">
                <a:latin typeface="Arial" panose="020B0604020202020204" pitchFamily="34" charset="0"/>
              </a:rPr>
              <a:t>ideal DCG values: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3, 6, 7.89, 8.89, 9.75, 10.52, 10.88, 10.88, 10.88, 10</a:t>
            </a:r>
          </a:p>
          <a:p>
            <a:r>
              <a:rPr lang="en-US" altLang="en-US">
                <a:latin typeface="Arial" panose="020B0604020202020204" pitchFamily="34" charset="0"/>
              </a:rPr>
              <a:t>Actual DCG: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3, 5, 6.89, 6.89, 6.89, 7.28, 7.99, 8.66, 9.61, 9.61</a:t>
            </a:r>
          </a:p>
          <a:p>
            <a:r>
              <a:rPr lang="en-US" altLang="en-US">
                <a:latin typeface="Arial" panose="020B0604020202020204" pitchFamily="34" charset="0"/>
              </a:rPr>
              <a:t>NDCG values (divide actual by ideal):</a:t>
            </a:r>
          </a:p>
          <a:p>
            <a:r>
              <a:rPr lang="en-US" altLang="en-US">
                <a:latin typeface="Arial" panose="020B0604020202020204" pitchFamily="34" charset="0"/>
              </a:rPr>
              <a:t>     1, 0.83, 0.87, 0.76, 0.71, 0.69, 0.73, 0.8, 0.88, 0.88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NDCG </a:t>
            </a:r>
            <a:r>
              <a:rPr lang="en-US" altLang="en-US">
                <a:latin typeface="Symbol" pitchFamily="2" charset="2"/>
              </a:rPr>
              <a:t>£</a:t>
            </a:r>
            <a:r>
              <a:rPr lang="en-US" altLang="en-US">
                <a:latin typeface="Arial" panose="020B0604020202020204" pitchFamily="34" charset="0"/>
              </a:rPr>
              <a:t> 1 at any rank position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8C59F412-65E7-6847-8087-A77DE4E2C8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25F21C9C-D0CA-054C-A652-9C17FC004C74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F062A83B-A92E-3D41-AA93-44107ECC80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ACC0717-1475-BD4C-BAAF-A6B07BEB95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0320B65-B272-4646-A7DE-437D0C03DB08}" type="slidenum">
              <a:rPr lang="en-US" sz="1200">
                <a:solidFill>
                  <a:srgbClr val="000000"/>
                </a:solidFill>
                <a:latin typeface="Calibri" charset="0"/>
              </a:rPr>
              <a:pPr eaLnBrk="1" hangingPunct="1"/>
              <a:t>43</a:t>
            </a:fld>
            <a:endParaRPr lang="en-US" sz="1200">
              <a:solidFill>
                <a:srgbClr val="00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101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0320B65-B272-4646-A7DE-437D0C03DB08}" type="slidenum">
              <a:rPr lang="en-US" sz="1200">
                <a:solidFill>
                  <a:srgbClr val="000000"/>
                </a:solidFill>
                <a:latin typeface="Calibri" charset="0"/>
              </a:rPr>
              <a:pPr eaLnBrk="1" hangingPunct="1"/>
              <a:t>44</a:t>
            </a:fld>
            <a:endParaRPr lang="en-US" sz="1200">
              <a:solidFill>
                <a:srgbClr val="00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420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FEC65FC-5E08-6349-8E17-2238451C4A3D}" type="slidenum">
              <a:rPr lang="en-US" sz="1200">
                <a:solidFill>
                  <a:srgbClr val="000000"/>
                </a:solidFill>
                <a:latin typeface="Calibri" charset="0"/>
              </a:rPr>
              <a:pPr eaLnBrk="1" hangingPunct="1"/>
              <a:t>45</a:t>
            </a:fld>
            <a:endParaRPr lang="en-US" sz="1200">
              <a:solidFill>
                <a:srgbClr val="00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624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82310D5-9088-D143-9C10-BC781B3C21E9}" type="slidenum">
              <a:rPr lang="en-US" sz="1200">
                <a:latin typeface="Calibri" charset="0"/>
              </a:rPr>
              <a:pPr eaLnBrk="1" hangingPunct="1"/>
              <a:t>46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936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1AA6-CE04-9C5D-A913-B5F1B9E67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5E7D3-7E53-2664-E946-B1556F221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F9788-4E12-627D-D497-60863114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1F44B-544E-53F8-A224-3F5D9D7C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2D102-A51D-662B-4DCA-182B7DE4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93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D171-B112-7FC5-751F-F57B8FB1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B8068-2E70-3CC9-F761-F3FB03036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C8BAD-AF01-8821-2305-BAA564CC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09D6A-13D1-575A-B033-B7D86491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6B896-21A9-F6BC-E6E5-19D42FA2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740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8BCA-80EC-4E70-45A3-7CFD5B36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ADB76-A39A-4485-B657-2AA444A98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5330C-8CA6-10AE-1CC8-ECAD521B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BBFE4-EDBF-D8DF-8970-84B3ADA9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6CC97-1014-CFFE-0591-3A2092A1C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017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AE127-4E5F-8BC7-199D-E966550CD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918B6-B0E6-D816-B2E6-4E50108D4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14574-AFC6-AAFE-560A-B7315BE85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3B9A5-EF00-3206-718E-6FFF4769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A76AF-7D1C-51FF-25AC-D6BADCFF1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EB48C-56BE-606C-89D4-E867EBFD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4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C33D-C665-82FB-0EB9-683C05A0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0C74B-185E-C4E3-9D21-FB0A08F6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D2CB3-2F3A-DCD1-FF7D-0D6FF0BC3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DA8C5-7006-D9EC-876A-3655DAA30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395270-28B0-00CE-B0B9-7221BACD8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B9FA0-9F60-640E-51CE-2F7E472E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1F7FF9-C181-2CBE-D320-74C0754B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1E7F3-7559-4A13-61A0-808DC0E25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561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0BAF-C91F-A8D6-0C9C-E23D1125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BFC40-694E-4705-6EFC-3B90A2497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E2767-437F-E4F4-8196-64E71982E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5CC1A-6CCA-6BF6-98ED-FE1B1CBA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5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BC2ABF-74FE-BDAA-26D8-C8C96D1FE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E4349-8FB9-7380-5C3C-E79952EC4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EDF2-F6A8-8ED9-4232-4CF5275F0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04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ECF3E-51E9-F985-7391-A23C602D9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CD344-D93E-F42B-C62D-EFC1D3F2C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9CC1D-E8AC-3C09-0AC6-673A6D369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5C96D-2C09-96FB-F3C8-3238050D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8AEE0-1844-6959-C341-5A202BD8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89F5E-9EDF-17F3-62DC-A56AC416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85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9E84-28A5-BC67-6C1A-B57CB565E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B69B31-C377-C338-7652-7A9FFE90B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F064A-62F9-B23F-9D4A-B75FE10D0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461CF-BEA8-13DA-6887-09A13EFA3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0FBA9-60E1-EC28-3381-2AEFFB68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6E200-0105-BD12-8AA9-5921C15E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57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C385-1FDD-1166-5C3B-B70D2FAB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D8D6A-12A8-B05F-90D1-72EFFE7AB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B6318-75C0-9B81-5014-C0D96DC6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9A7F1-A899-BD28-88FC-CCBE61714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AD60A-15DE-7FEB-7D39-1020CC836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60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014C61-A349-75BF-14C2-372FCB6F4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6BC97-3194-4418-A455-5773CB848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ECABE-F94B-50E2-1DC9-DCF26FA9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15526-AEF1-63A0-C2C0-F21727A77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E4A57-D77E-E87C-BBA3-6F3C0D99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92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D4242B-2C72-A4AF-FE17-68CFF1CAC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58EDD-E8F5-98FA-CA39-BA41574A7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151B7-12BA-E024-BBD1-07EC8BA3A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D73D9-A28F-4B9F-B561-B5B06C36F0CF}" type="datetimeFigureOut">
              <a:rPr lang="en-IN" smtClean="0"/>
              <a:t>04-11-2023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0704C-E296-AF62-F71E-B23DE5C19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98449-3C7E-D608-31D4-3C26970D0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01BF1-7E29-444F-992F-DD794661B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26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4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084D4-C270-44E3-EED5-C6B6A01384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CF655-179A-BB73-7F40-CC9BA53FCE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87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6DB5-0C45-BE30-FC7F-40159299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Measure for search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200C2-CAED-7CF9-52AC-2736853DD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dirty="0"/>
              <a:t>How fast does it index?</a:t>
            </a:r>
          </a:p>
          <a:p>
            <a:pPr lvl="1" eaLnBrk="1" hangingPunct="1"/>
            <a:r>
              <a:rPr lang="en-US" altLang="en-US" dirty="0"/>
              <a:t>Number of documents/hour</a:t>
            </a:r>
          </a:p>
          <a:p>
            <a:pPr lvl="1" eaLnBrk="1" hangingPunct="1"/>
            <a:r>
              <a:rPr lang="en-US" altLang="en-US" dirty="0"/>
              <a:t>Incremental indexing –adds 10K products/day</a:t>
            </a:r>
          </a:p>
          <a:p>
            <a:pPr eaLnBrk="1" hangingPunct="1"/>
            <a:r>
              <a:rPr lang="en-US" altLang="en-US" dirty="0"/>
              <a:t>How fast does it search?</a:t>
            </a:r>
          </a:p>
          <a:p>
            <a:pPr lvl="1" eaLnBrk="1" hangingPunct="1"/>
            <a:r>
              <a:rPr lang="en-US" altLang="en-US" dirty="0"/>
              <a:t>Latency and CPU needs for 5 million products</a:t>
            </a:r>
          </a:p>
          <a:p>
            <a:pPr eaLnBrk="1" hangingPunct="1"/>
            <a:r>
              <a:rPr lang="en-US" altLang="en-US" dirty="0"/>
              <a:t>Expressiveness of query language</a:t>
            </a:r>
          </a:p>
          <a:p>
            <a:pPr lvl="1"/>
            <a:r>
              <a:rPr lang="en-US" altLang="en-US" dirty="0"/>
              <a:t>Ability to express complex information needs</a:t>
            </a:r>
          </a:p>
          <a:p>
            <a:pPr lvl="1"/>
            <a:r>
              <a:rPr lang="en-US" altLang="en-US" dirty="0"/>
              <a:t>Speed on complex queries</a:t>
            </a:r>
          </a:p>
          <a:p>
            <a:pPr lvl="1"/>
            <a:r>
              <a:rPr lang="en-US" altLang="en-US" dirty="0"/>
              <a:t>Does it recommend related products?</a:t>
            </a:r>
          </a:p>
          <a:p>
            <a:pPr eaLnBrk="1" hangingPunct="1"/>
            <a:r>
              <a:rPr lang="en-US" altLang="en-US" dirty="0"/>
              <a:t>Uncluttered UI</a:t>
            </a:r>
          </a:p>
          <a:p>
            <a:pPr eaLnBrk="1" hangingPunct="1"/>
            <a:r>
              <a:rPr lang="en-US" altLang="en-US" dirty="0"/>
              <a:t>Is it free</a:t>
            </a:r>
          </a:p>
          <a:p>
            <a:pPr lvl="1" eaLnBrk="1" hangingPunct="1"/>
            <a:r>
              <a:rPr lang="en-US" altLang="en-US" dirty="0"/>
              <a:t>You want users to be happy with the search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702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755B-0582-E747-9ACD-6D5FBF32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Measure for search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001C0-5250-1CA4-5CCB-EB9C524D2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 the preceding criteria are measurable: we can quantify speed/size</a:t>
            </a:r>
          </a:p>
          <a:p>
            <a:pPr lvl="1"/>
            <a:r>
              <a:rPr lang="en-IN" dirty="0"/>
              <a:t>We can make expressiveness precise</a:t>
            </a:r>
          </a:p>
          <a:p>
            <a:r>
              <a:rPr lang="en-IN" dirty="0"/>
              <a:t>The key measure: User happiness</a:t>
            </a:r>
          </a:p>
          <a:p>
            <a:pPr lvl="1"/>
            <a:r>
              <a:rPr lang="en-IN" dirty="0"/>
              <a:t>Speed of response/size of index are factors</a:t>
            </a:r>
          </a:p>
          <a:p>
            <a:pPr lvl="1"/>
            <a:r>
              <a:rPr lang="en-IN" dirty="0"/>
              <a:t>But blindingly fast, useless answers won't make a user happy</a:t>
            </a:r>
          </a:p>
          <a:p>
            <a:r>
              <a:rPr lang="en-IN" dirty="0"/>
              <a:t>Need  a way of quantifying user happiness</a:t>
            </a:r>
          </a:p>
        </p:txBody>
      </p:sp>
    </p:spTree>
    <p:extLst>
      <p:ext uri="{BB962C8B-B14F-4D97-AF65-F5344CB8AC3E}">
        <p14:creationId xmlns:p14="http://schemas.microsoft.com/office/powerpoint/2010/main" val="3118501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7839-249F-C217-F5FB-C2647D0F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Happiness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403BC-B994-67E1-F4CB-9E2BAFBA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Web Engine: Search returns products relevant to users</a:t>
            </a:r>
          </a:p>
          <a:p>
            <a:pPr lvl="1"/>
            <a:r>
              <a:rPr lang="en-US" altLang="en-US" dirty="0"/>
              <a:t>How do you assess this at scale?</a:t>
            </a:r>
          </a:p>
          <a:p>
            <a:pPr lvl="1"/>
            <a:r>
              <a:rPr lang="en-US" altLang="en-US" dirty="0"/>
              <a:t>Search results get clicked a lot</a:t>
            </a:r>
          </a:p>
          <a:p>
            <a:pPr lvl="1"/>
            <a:r>
              <a:rPr lang="en-US" altLang="en-US" dirty="0"/>
              <a:t>Misleading titles/summaries can cause users to click</a:t>
            </a:r>
          </a:p>
          <a:p>
            <a:pPr lvl="1"/>
            <a:r>
              <a:rPr lang="en-US" altLang="en-US" dirty="0"/>
              <a:t>users spend a lot of time after using the search engine</a:t>
            </a:r>
          </a:p>
          <a:p>
            <a:r>
              <a:rPr lang="en-US" altLang="en-US" dirty="0"/>
              <a:t>E-commerce website: Users buy after using the search engine</a:t>
            </a:r>
          </a:p>
          <a:p>
            <a:pPr lvl="1"/>
            <a:r>
              <a:rPr lang="en-US" altLang="en-US" dirty="0"/>
              <a:t>Repeat visitors/buyers</a:t>
            </a:r>
          </a:p>
          <a:p>
            <a:pPr lvl="1"/>
            <a:r>
              <a:rPr lang="en-US" altLang="en-US" dirty="0"/>
              <a:t>Do users leave soon after searching?</a:t>
            </a:r>
          </a:p>
          <a:p>
            <a:pPr lvl="1"/>
            <a:r>
              <a:rPr lang="en-US" altLang="en-US" dirty="0"/>
              <a:t>Do they come back within a week/month/… ?</a:t>
            </a:r>
          </a:p>
          <a:p>
            <a:r>
              <a:rPr lang="en-US" altLang="en-US" dirty="0"/>
              <a:t>Enterprise (company/govt/academic): care about user productivity</a:t>
            </a:r>
          </a:p>
          <a:p>
            <a:pPr lvl="1"/>
            <a:r>
              <a:rPr lang="en-US" altLang="en-US" dirty="0"/>
              <a:t>How much time do my user save when looking for information</a:t>
            </a:r>
          </a:p>
          <a:p>
            <a:pPr lvl="1"/>
            <a:r>
              <a:rPr lang="en-US" altLang="en-US" dirty="0"/>
              <a:t>Many other criteria having to do with breadth of access, secure access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898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34117-3A71-4D54-5BE4-61FF92B2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Happiness: elusive to measure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C65A3-008A-BA9C-CD88-9B57BF003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Most common proxy: relevance of search results</a:t>
            </a:r>
          </a:p>
          <a:p>
            <a:r>
              <a:rPr lang="en-US" altLang="en-US" dirty="0"/>
              <a:t>But how do you measure relevance?</a:t>
            </a:r>
          </a:p>
          <a:p>
            <a:pPr marL="495300" indent="-495300" eaLnBrk="1" hangingPunct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Three elements:</a:t>
            </a:r>
          </a:p>
          <a:p>
            <a:pPr marL="914400" lvl="1" indent="-457200" eaLnBrk="1" hangingPunct="1">
              <a:buFont typeface="Wingdings" charset="0"/>
              <a:buAutoNum type="arabicPeriod"/>
              <a:defRPr/>
            </a:pPr>
            <a:r>
              <a:rPr lang="en-US" dirty="0">
                <a:ea typeface="ＭＳ Ｐゴシック" charset="0"/>
                <a:cs typeface="+mn-cs"/>
              </a:rPr>
              <a:t>A benchmark document collection </a:t>
            </a:r>
          </a:p>
          <a:p>
            <a:pPr marL="914400" lvl="1" indent="-457200" eaLnBrk="1" hangingPunct="1">
              <a:buFont typeface="Wingdings" charset="0"/>
              <a:buAutoNum type="arabicPeriod"/>
              <a:defRPr/>
            </a:pPr>
            <a:r>
              <a:rPr lang="en-US" dirty="0">
                <a:ea typeface="ＭＳ Ｐゴシック" charset="0"/>
                <a:cs typeface="+mn-cs"/>
              </a:rPr>
              <a:t>A benchmark suite of queries</a:t>
            </a:r>
          </a:p>
          <a:p>
            <a:pPr marL="914400" lvl="1" indent="-457200" eaLnBrk="1" hangingPunct="1">
              <a:buFont typeface="Wingdings" charset="0"/>
              <a:buAutoNum type="arabicPeriod"/>
              <a:defRPr/>
            </a:pPr>
            <a:r>
              <a:rPr lang="en-US" dirty="0">
                <a:ea typeface="ＭＳ Ｐゴシック" charset="0"/>
                <a:cs typeface="+mn-cs"/>
              </a:rPr>
              <a:t>An assessment of either </a:t>
            </a:r>
            <a:r>
              <a:rPr lang="en-US" u="sng" dirty="0">
                <a:ea typeface="ＭＳ Ｐゴシック" charset="0"/>
                <a:cs typeface="+mn-cs"/>
              </a:rPr>
              <a:t>Relevant</a:t>
            </a:r>
            <a:r>
              <a:rPr lang="en-US" dirty="0">
                <a:ea typeface="ＭＳ Ｐゴシック" charset="0"/>
                <a:cs typeface="+mn-cs"/>
              </a:rPr>
              <a:t> or </a:t>
            </a:r>
            <a:r>
              <a:rPr lang="en-US" u="sng" dirty="0">
                <a:ea typeface="ＭＳ Ｐゴシック" charset="0"/>
                <a:cs typeface="+mn-cs"/>
              </a:rPr>
              <a:t>Nonrelevant</a:t>
            </a:r>
            <a:r>
              <a:rPr lang="en-US" dirty="0">
                <a:ea typeface="ＭＳ Ｐゴシック" charset="0"/>
                <a:cs typeface="+mn-cs"/>
              </a:rPr>
              <a:t> for each query and each document</a:t>
            </a:r>
          </a:p>
          <a:p>
            <a:endParaRPr lang="en-IN" dirty="0"/>
          </a:p>
          <a:p>
            <a:endParaRPr lang="en-US" alt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75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4FD4-422E-F4D1-BB6E-17DFA4598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 you want to measure the quality of a new search algorithm?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ECED3-2ED3-08F2-672B-AF107614C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Benchmark documents – </a:t>
            </a:r>
            <a:r>
              <a:rPr lang="en-US" altLang="en-US" dirty="0" err="1"/>
              <a:t>nozama’s</a:t>
            </a:r>
            <a:r>
              <a:rPr lang="en-US" altLang="en-US" dirty="0"/>
              <a:t> products</a:t>
            </a:r>
          </a:p>
          <a:p>
            <a:r>
              <a:rPr lang="en-US" altLang="en-US" dirty="0"/>
              <a:t>Benchmark query suite – more on this</a:t>
            </a:r>
          </a:p>
          <a:p>
            <a:r>
              <a:rPr lang="en-US" altLang="en-US" dirty="0"/>
              <a:t>Judgments of document relevance for each query</a:t>
            </a:r>
          </a:p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63B624-910C-D77B-A222-30D003A85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157" y="4267200"/>
            <a:ext cx="5791200" cy="2438400"/>
          </a:xfrm>
          <a:prstGeom prst="rect">
            <a:avLst/>
          </a:prstGeom>
          <a:gradFill rotWithShape="1">
            <a:gsLst>
              <a:gs pos="0">
                <a:srgbClr val="AFCCDF"/>
              </a:gs>
              <a:gs pos="100000">
                <a:srgbClr val="39748F"/>
              </a:gs>
            </a:gsLst>
            <a:lin ang="5400000"/>
          </a:gradFill>
          <a:ln w="9525">
            <a:solidFill>
              <a:srgbClr val="406E84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72EC63-A16D-CC9E-FB2F-C2A696F30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157" y="4267200"/>
            <a:ext cx="457200" cy="2438400"/>
          </a:xfrm>
          <a:prstGeom prst="rect">
            <a:avLst/>
          </a:prstGeom>
          <a:solidFill>
            <a:srgbClr val="C0504D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79A45E-E22E-114B-18EA-86A29C08D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157" y="4953000"/>
            <a:ext cx="5791200" cy="381000"/>
          </a:xfrm>
          <a:prstGeom prst="rect">
            <a:avLst/>
          </a:prstGeom>
          <a:solidFill>
            <a:srgbClr val="FFFF00">
              <a:alpha val="58038"/>
            </a:srgbClr>
          </a:solidFill>
          <a:ln w="9525">
            <a:solidFill>
              <a:srgbClr val="406E84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38EC6792-A34C-3817-9EA4-D1747E546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957" y="3733800"/>
            <a:ext cx="4932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/>
              <a:t>5 million nozama.com products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3311481E-0302-D89C-1B07-62EAB9DCE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870" y="4724400"/>
            <a:ext cx="12842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50000</a:t>
            </a:r>
          </a:p>
          <a:p>
            <a:pPr eaLnBrk="1" hangingPunct="1"/>
            <a:r>
              <a:rPr lang="en-US" altLang="en-US"/>
              <a:t>sample </a:t>
            </a:r>
          </a:p>
          <a:p>
            <a:pPr eaLnBrk="1" hangingPunct="1"/>
            <a:r>
              <a:rPr lang="en-US" altLang="en-US"/>
              <a:t>queries</a:t>
            </a:r>
          </a:p>
        </p:txBody>
      </p:sp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FFDF02F6-E463-52E3-EC7D-59B307B68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3557" y="3597275"/>
            <a:ext cx="1676400" cy="685800"/>
          </a:xfrm>
          <a:prstGeom prst="wedgeRectCallout">
            <a:avLst>
              <a:gd name="adj1" fmla="val -270435"/>
              <a:gd name="adj2" fmla="val 196255"/>
            </a:avLst>
          </a:prstGeom>
          <a:solidFill>
            <a:srgbClr val="FCD5B5"/>
          </a:solidFill>
          <a:ln w="9525">
            <a:solidFill>
              <a:srgbClr val="406E84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6600"/>
                </a:solidFill>
                <a:latin typeface="+mn-lt"/>
                <a:ea typeface="+mn-ea"/>
              </a:rPr>
              <a:t>Relevance</a:t>
            </a:r>
          </a:p>
          <a:p>
            <a:pPr algn="ctr">
              <a:defRPr/>
            </a:pPr>
            <a:r>
              <a:rPr lang="en-US" dirty="0">
                <a:solidFill>
                  <a:srgbClr val="006600"/>
                </a:solidFill>
                <a:latin typeface="+mn-lt"/>
                <a:ea typeface="+mn-ea"/>
              </a:rPr>
              <a:t>judgment</a:t>
            </a:r>
          </a:p>
        </p:txBody>
      </p:sp>
    </p:spTree>
    <p:extLst>
      <p:ext uri="{BB962C8B-B14F-4D97-AF65-F5344CB8AC3E}">
        <p14:creationId xmlns:p14="http://schemas.microsoft.com/office/powerpoint/2010/main" val="1888906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EBE1-E6A2-92E6-B2F9-BAC0E8FF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Relevance judgments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3E8F0-FFC4-6827-17DE-3D1241F25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Binary (relevant vs. non-relevant) in the simplest case</a:t>
            </a:r>
          </a:p>
          <a:p>
            <a:pPr lvl="1"/>
            <a:r>
              <a:rPr lang="en-US" altLang="en-US" dirty="0"/>
              <a:t>More nuanced relevance levels also used(0, 1, 2, 3 …)</a:t>
            </a:r>
          </a:p>
          <a:p>
            <a:r>
              <a:rPr lang="en-US" altLang="en-US" dirty="0"/>
              <a:t>What are some issues already?</a:t>
            </a:r>
          </a:p>
          <a:p>
            <a:r>
              <a:rPr lang="en-US" altLang="en-US" dirty="0"/>
              <a:t>5 million times 50K takes us into the range of a quarter trillion judgments</a:t>
            </a:r>
          </a:p>
          <a:p>
            <a:pPr lvl="1"/>
            <a:r>
              <a:rPr lang="en-US" altLang="en-US" dirty="0"/>
              <a:t>If each judgment took a human 2.5 seconds, we’d still need 10</a:t>
            </a:r>
            <a:r>
              <a:rPr lang="en-US" altLang="en-US" baseline="30000" dirty="0"/>
              <a:t>11</a:t>
            </a:r>
            <a:r>
              <a:rPr lang="en-US" altLang="en-US" dirty="0"/>
              <a:t> seconds, or nearly $300 million if you pay people $10 per hour to assess</a:t>
            </a:r>
          </a:p>
          <a:p>
            <a:pPr lvl="1"/>
            <a:r>
              <a:rPr lang="en-US" altLang="en-US" dirty="0"/>
              <a:t>10K new products per day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63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DE41-C19B-8576-79C9-AF8EABD9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Crowd source relevance judgments?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A11AA-7EA9-CCE3-AA60-1E17E9390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Present query-document pairs to low-cost labor on online crowd-sourcing platforms</a:t>
            </a:r>
          </a:p>
          <a:p>
            <a:pPr lvl="1"/>
            <a:r>
              <a:rPr lang="en-US" altLang="en-US" dirty="0"/>
              <a:t>Hope that this is cheaper than hiring qualified assessors</a:t>
            </a:r>
          </a:p>
          <a:p>
            <a:r>
              <a:rPr lang="en-US" altLang="en-US" dirty="0"/>
              <a:t>Lots of literature on using crowd-sourcing for such tasks</a:t>
            </a:r>
          </a:p>
          <a:p>
            <a:pPr lvl="1"/>
            <a:r>
              <a:rPr lang="en-US" altLang="en-US" dirty="0"/>
              <a:t>You get fairly good signal, but the variance in the resulting judgments is quite high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7458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2C59-758D-2C13-D59E-4799D471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else?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21F1-5914-03B6-5201-1641FED49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Still need test queries</a:t>
            </a:r>
          </a:p>
          <a:p>
            <a:pPr lvl="1" eaLnBrk="1" hangingPunct="1"/>
            <a:r>
              <a:rPr lang="en-US" altLang="en-US" dirty="0"/>
              <a:t>Must be relevant to docs available</a:t>
            </a:r>
          </a:p>
          <a:p>
            <a:pPr lvl="1" eaLnBrk="1" hangingPunct="1"/>
            <a:r>
              <a:rPr lang="en-US" altLang="en-US" dirty="0"/>
              <a:t>Must be representative of actual user needs</a:t>
            </a:r>
          </a:p>
          <a:p>
            <a:pPr lvl="1" eaLnBrk="1" hangingPunct="1"/>
            <a:r>
              <a:rPr lang="en-US" altLang="en-US" dirty="0"/>
              <a:t>Random query terms from the documents are not a good idea</a:t>
            </a:r>
          </a:p>
          <a:p>
            <a:pPr lvl="1" eaLnBrk="1" hangingPunct="1"/>
            <a:r>
              <a:rPr lang="en-US" altLang="en-US" dirty="0"/>
              <a:t>Sample from query logs if available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441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D874217C-A853-1A42-9523-38E9C0886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Now we have the basics of a benchmark</a:t>
            </a:r>
          </a:p>
        </p:txBody>
      </p:sp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967183DE-7831-CB47-A4BF-9EC207801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Let’s review some evaluation measures</a:t>
            </a:r>
          </a:p>
          <a:p>
            <a:pPr lvl="1"/>
            <a:r>
              <a:rPr lang="en-US" altLang="en-US" i="1"/>
              <a:t>Precision</a:t>
            </a:r>
          </a:p>
          <a:p>
            <a:pPr lvl="1"/>
            <a:r>
              <a:rPr lang="en-US" altLang="en-US" i="1"/>
              <a:t>Recall</a:t>
            </a:r>
          </a:p>
          <a:p>
            <a:pPr lvl="1"/>
            <a:r>
              <a:rPr lang="en-US" altLang="en-US"/>
              <a:t>DCG</a:t>
            </a:r>
          </a:p>
          <a:p>
            <a:pPr lvl="1"/>
            <a:r>
              <a:rPr lang="en-US" altLang="en-US"/>
              <a:t>… </a:t>
            </a:r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30B686D9-DD95-C948-AF31-AC609045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F04D3039-795C-964C-9956-AB40211B20B2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31C4CF15-8F5F-F741-8E77-C292324CF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2FFE7779-7805-DF42-99DB-FB118A5343F9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BA2CE9B1-DD50-8740-95BB-BEC653D66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Evaluating an IR system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AD11EE0-A5D6-7E40-9A48-911F9E9DBF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Note: </a:t>
            </a:r>
            <a:r>
              <a:rPr lang="en-US" altLang="en-US" b="1"/>
              <a:t>user need</a:t>
            </a:r>
            <a:r>
              <a:rPr lang="en-US" altLang="en-US"/>
              <a:t> is translated into a </a:t>
            </a:r>
            <a:r>
              <a:rPr lang="en-US" altLang="en-US" b="1"/>
              <a:t>query</a:t>
            </a:r>
          </a:p>
          <a:p>
            <a:pPr eaLnBrk="1" hangingPunct="1"/>
            <a:r>
              <a:rPr lang="en-US" altLang="en-US"/>
              <a:t>Relevance is assessed relative to the </a:t>
            </a:r>
            <a:r>
              <a:rPr lang="en-US" altLang="en-US" b="1"/>
              <a:t>user need</a:t>
            </a:r>
            <a:r>
              <a:rPr lang="en-US" altLang="en-US" b="1" i="1"/>
              <a:t>, </a:t>
            </a:r>
            <a:r>
              <a:rPr lang="en-US" altLang="en-US" i="1"/>
              <a:t>not </a:t>
            </a:r>
            <a:r>
              <a:rPr lang="en-US" altLang="en-US"/>
              <a:t>the</a:t>
            </a:r>
            <a:r>
              <a:rPr lang="en-US" altLang="en-US" i="1"/>
              <a:t> </a:t>
            </a:r>
            <a:r>
              <a:rPr lang="en-US" altLang="en-US" b="1"/>
              <a:t>query</a:t>
            </a:r>
          </a:p>
          <a:p>
            <a:pPr eaLnBrk="1" hangingPunct="1"/>
            <a:r>
              <a:rPr lang="en-US" altLang="en-US"/>
              <a:t>E.g., </a:t>
            </a:r>
            <a:r>
              <a:rPr lang="en-US" altLang="en-US" u="sng"/>
              <a:t>Information need</a:t>
            </a:r>
            <a:r>
              <a:rPr lang="en-US" altLang="en-US"/>
              <a:t>: </a:t>
            </a:r>
            <a:r>
              <a:rPr lang="en-US" altLang="en-US" i="1"/>
              <a:t>My swimming pool bottom is becoming black and needs to be cleaned.</a:t>
            </a:r>
          </a:p>
          <a:p>
            <a:pPr eaLnBrk="1" hangingPunct="1"/>
            <a:r>
              <a:rPr lang="en-US" altLang="en-US" u="sng"/>
              <a:t>Query</a:t>
            </a:r>
            <a:r>
              <a:rPr lang="en-US" altLang="en-US"/>
              <a:t>: </a:t>
            </a:r>
            <a:r>
              <a:rPr lang="en-US" altLang="en-US" b="1" i="1"/>
              <a:t>pool cleaner</a:t>
            </a:r>
          </a:p>
          <a:p>
            <a:pPr eaLnBrk="1" hangingPunct="1"/>
            <a:r>
              <a:rPr lang="en-US" altLang="en-US"/>
              <a:t>Assess whether the doc addresses the underlying need, not whether it has these words</a:t>
            </a:r>
          </a:p>
        </p:txBody>
      </p:sp>
      <p:sp>
        <p:nvSpPr>
          <p:cNvPr id="29700" name="TextBox 4">
            <a:extLst>
              <a:ext uri="{FF2B5EF4-FFF2-40B4-BE49-F238E27FC236}">
                <a16:creationId xmlns:a16="http://schemas.microsoft.com/office/drawing/2014/main" id="{9CB00B52-9FE1-CF48-A9AE-7AF8ACF03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8.1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68DF-C674-D55A-0EA4-1AA37021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Relevance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0E6EC-6C77-0B33-A117-9E3BACF02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TREC: National Institute of Standards and Technology (NIST) has run a large IR test bed for many years</a:t>
            </a:r>
          </a:p>
          <a:p>
            <a:r>
              <a:rPr lang="en-IN" dirty="0"/>
              <a:t>Reuters and other benchmark doc collections used </a:t>
            </a:r>
          </a:p>
          <a:p>
            <a:r>
              <a:rPr lang="en-IN" dirty="0"/>
              <a:t>“Retrieval tasks” specified </a:t>
            </a:r>
          </a:p>
          <a:p>
            <a:pPr lvl="1"/>
            <a:r>
              <a:rPr lang="en-IN" dirty="0"/>
              <a:t>Sometimes as query</a:t>
            </a:r>
          </a:p>
          <a:p>
            <a:r>
              <a:rPr lang="en-IN" dirty="0"/>
              <a:t>Human expert mark, for each query and for each doc, relevant or non relevant</a:t>
            </a:r>
          </a:p>
          <a:p>
            <a:pPr lvl="1"/>
            <a:r>
              <a:rPr lang="en-IN" dirty="0"/>
              <a:t>Or at least for subset of docs that some system returned for that query </a:t>
            </a:r>
          </a:p>
        </p:txBody>
      </p:sp>
    </p:spTree>
    <p:extLst>
      <p:ext uri="{BB962C8B-B14F-4D97-AF65-F5344CB8AC3E}">
        <p14:creationId xmlns:p14="http://schemas.microsoft.com/office/powerpoint/2010/main" val="860789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>
            <a:extLst>
              <a:ext uri="{FF2B5EF4-FFF2-40B4-BE49-F238E27FC236}">
                <a16:creationId xmlns:a16="http://schemas.microsoft.com/office/drawing/2014/main" id="{17D3F0DC-CBC1-4C46-A583-4A69862E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F742D1D7-F593-9F42-A30F-CE857B7CEC70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25B941D9-B830-6D4B-A83C-53DF435BD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274638"/>
            <a:ext cx="8610600" cy="11430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Unranked retrieval evaluation:</a:t>
            </a:r>
            <a:br>
              <a:rPr lang="en-US" altLang="en-US" sz="3600" dirty="0"/>
            </a:br>
            <a:r>
              <a:rPr lang="en-US" altLang="en-US" sz="3600" dirty="0"/>
              <a:t>Precision and Recall 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F781991-52BD-3C4A-9617-CFEFD4D7FC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6981" y="1825625"/>
            <a:ext cx="12015019" cy="435133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3200" b="1" u="sng" dirty="0"/>
              <a:t>Binary assessments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b="1" dirty="0"/>
              <a:t>Precision</a:t>
            </a:r>
            <a:r>
              <a:rPr lang="en-US" altLang="en-US" dirty="0"/>
              <a:t>: fraction of retrieved docs that are relevant =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P(relevant </a:t>
            </a:r>
            <a:r>
              <a:rPr lang="en-US" altLang="en-US" dirty="0" err="1"/>
              <a:t>returned|total</a:t>
            </a:r>
            <a:r>
              <a:rPr lang="en-US" altLang="en-US" dirty="0"/>
              <a:t> retrieved)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600" b="1" dirty="0"/>
              <a:t>Recall</a:t>
            </a:r>
            <a:r>
              <a:rPr lang="en-US" altLang="en-US" sz="2600" dirty="0"/>
              <a:t>: fraction of relevant docs that are retrieved= P(relevant </a:t>
            </a:r>
            <a:r>
              <a:rPr lang="en-US" altLang="en-US" sz="2600" dirty="0" err="1"/>
              <a:t>returned|total</a:t>
            </a:r>
            <a:r>
              <a:rPr lang="en-US" altLang="en-US" sz="2600" dirty="0"/>
              <a:t> relevant)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 typeface="Wingdings" pitchFamily="2" charset="2"/>
              <a:buNone/>
            </a:pPr>
            <a:endParaRPr lang="en-US" altLang="en-US" dirty="0"/>
          </a:p>
          <a:p>
            <a:pPr eaLnBrk="1" hangingPunct="1">
              <a:buFont typeface="Wingdings" pitchFamily="2" charset="2"/>
              <a:buNone/>
            </a:pPr>
            <a:endParaRPr lang="en-US" altLang="en-US" dirty="0"/>
          </a:p>
          <a:p>
            <a:pPr algn="ctr" eaLnBrk="1" hangingPunct="1"/>
            <a:r>
              <a:rPr lang="en-US" altLang="en-US" dirty="0"/>
              <a:t>Precision P = </a:t>
            </a:r>
            <a:r>
              <a:rPr lang="en-US" altLang="en-US" dirty="0" err="1"/>
              <a:t>tp</a:t>
            </a:r>
            <a:r>
              <a:rPr lang="en-US" altLang="en-US" dirty="0"/>
              <a:t>/(</a:t>
            </a:r>
            <a:r>
              <a:rPr lang="en-US" altLang="en-US" dirty="0" err="1"/>
              <a:t>tp</a:t>
            </a:r>
            <a:r>
              <a:rPr lang="en-US" altLang="en-US" dirty="0"/>
              <a:t> + </a:t>
            </a:r>
            <a:r>
              <a:rPr lang="en-US" altLang="en-US" dirty="0" err="1"/>
              <a:t>fp</a:t>
            </a:r>
            <a:r>
              <a:rPr lang="en-US" altLang="en-US" dirty="0"/>
              <a:t>)</a:t>
            </a:r>
          </a:p>
          <a:p>
            <a:pPr algn="ctr" eaLnBrk="1" hangingPunct="1"/>
            <a:r>
              <a:rPr lang="en-US" altLang="en-US" dirty="0"/>
              <a:t>Recall  </a:t>
            </a:r>
            <a:r>
              <a:rPr lang="en-US" altLang="en-US" sz="2000" dirty="0"/>
              <a:t> </a:t>
            </a:r>
            <a:r>
              <a:rPr lang="en-US" altLang="en-US" dirty="0"/>
              <a:t>   R = </a:t>
            </a:r>
            <a:r>
              <a:rPr lang="en-US" altLang="en-US" dirty="0" err="1"/>
              <a:t>tp</a:t>
            </a:r>
            <a:r>
              <a:rPr lang="en-US" altLang="en-US" dirty="0"/>
              <a:t>/(</a:t>
            </a:r>
            <a:r>
              <a:rPr lang="en-US" altLang="en-US" dirty="0" err="1"/>
              <a:t>tp</a:t>
            </a:r>
            <a:r>
              <a:rPr lang="en-US" altLang="en-US" dirty="0"/>
              <a:t> + </a:t>
            </a:r>
            <a:r>
              <a:rPr lang="en-US" altLang="en-US" dirty="0" err="1"/>
              <a:t>fn</a:t>
            </a:r>
            <a:r>
              <a:rPr lang="en-US" altLang="en-US" dirty="0"/>
              <a:t>)</a:t>
            </a:r>
          </a:p>
        </p:txBody>
      </p:sp>
      <p:graphicFrame>
        <p:nvGraphicFramePr>
          <p:cNvPr id="1201156" name="Group 4">
            <a:extLst>
              <a:ext uri="{FF2B5EF4-FFF2-40B4-BE49-F238E27FC236}">
                <a16:creationId xmlns:a16="http://schemas.microsoft.com/office/drawing/2014/main" id="{47FA41C9-2347-B741-B366-3F0C048DC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42227"/>
              </p:ext>
            </p:extLst>
          </p:nvPr>
        </p:nvGraphicFramePr>
        <p:xfrm>
          <a:off x="2438400" y="3700184"/>
          <a:ext cx="6172200" cy="14478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MS PGothic" charset="0"/>
                        <a:cs typeface="MS PGothic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Relevant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Nonrelevant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Retrieved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tp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fp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MS PGothic" charset="0"/>
                        <a:cs typeface="MS PGothic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Not Retrieved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fn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MS PGothic" charset="0"/>
                        <a:cs typeface="MS PGothic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tn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MS PGothic" charset="0"/>
                        <a:cs typeface="MS PGothic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42" name="TextBox 4">
            <a:extLst>
              <a:ext uri="{FF2B5EF4-FFF2-40B4-BE49-F238E27FC236}">
                <a16:creationId xmlns:a16="http://schemas.microsoft.com/office/drawing/2014/main" id="{B5BF006E-6CE5-BB4F-8B3C-B5F518003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8.3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3F48-C7D6-0E60-E33E-8CD00D2E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Should we instead use the accuracy measure for evaluation?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77E53-CE70-764D-7DF3-3A8C20F69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 query, an engine classifies each docs as “relevant” or “non relevant”</a:t>
            </a:r>
          </a:p>
          <a:p>
            <a:r>
              <a:rPr lang="en-IN" dirty="0"/>
              <a:t>The accuracy of an engine: the fraction of these classifications that are correct </a:t>
            </a:r>
          </a:p>
          <a:p>
            <a:pPr lvl="1"/>
            <a:r>
              <a:rPr lang="en-IN" dirty="0"/>
              <a:t>(</a:t>
            </a:r>
            <a:r>
              <a:rPr lang="en-IN" dirty="0" err="1"/>
              <a:t>tp+tn</a:t>
            </a:r>
            <a:r>
              <a:rPr lang="en-IN" dirty="0"/>
              <a:t>)/(</a:t>
            </a:r>
            <a:r>
              <a:rPr lang="en-IN" dirty="0" err="1"/>
              <a:t>tp+tn+fp+fn</a:t>
            </a:r>
            <a:r>
              <a:rPr lang="en-IN" dirty="0"/>
              <a:t>)</a:t>
            </a:r>
          </a:p>
          <a:p>
            <a:r>
              <a:rPr lang="en-IN" dirty="0"/>
              <a:t>Accuracy is a commonly used evaluation measure in machine learning classification work </a:t>
            </a:r>
          </a:p>
          <a:p>
            <a:r>
              <a:rPr lang="en-IN" dirty="0"/>
              <a:t>Why is this not a very useful evaluation measure in IR?</a:t>
            </a:r>
          </a:p>
        </p:txBody>
      </p:sp>
    </p:spTree>
    <p:extLst>
      <p:ext uri="{BB962C8B-B14F-4D97-AF65-F5344CB8AC3E}">
        <p14:creationId xmlns:p14="http://schemas.microsoft.com/office/powerpoint/2010/main" val="3678383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C3AF-5593-F4CB-3EBD-2C80491B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Precision/Recall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D56EC-7006-E138-0E84-2DA279E02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Recall is a non-decreasing function of the number of docs retrieved </a:t>
            </a:r>
          </a:p>
          <a:p>
            <a:r>
              <a:rPr lang="en-IN" dirty="0"/>
              <a:t>In a good system, precision decreases as either the number of docs retrieved or recall increases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073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040B-AA18-51EB-EA35-27968E1A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22661-2062-FDFC-799E-B94BBDEBA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IR system returns 8 relevant documents, and 10 nonrelevant documents. There are a total of 20 relevant documents in the collection. What is the precision of the system on this search, and what is its recall?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4984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018E-D131-AC0D-668C-E08F93558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Difficulties in using Precision/Recall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39EB-A684-9F34-CC92-27660FAA3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Should average over large document collection/query ensembles</a:t>
            </a:r>
          </a:p>
          <a:p>
            <a:r>
              <a:rPr lang="en-IN" dirty="0"/>
              <a:t>Need human relevance assessment </a:t>
            </a:r>
          </a:p>
          <a:p>
            <a:pPr lvl="1"/>
            <a:r>
              <a:rPr lang="en-IN" dirty="0"/>
              <a:t>People are not reliable assessor </a:t>
            </a:r>
          </a:p>
          <a:p>
            <a:r>
              <a:rPr lang="en-IN" dirty="0"/>
              <a:t>Assessment have to be binary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611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5654-12E3-03EE-7225-C038A11A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combined measure: F-score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F37CE-2101-D3B6-F27C-192BCB5BB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Combined measure that assess precision/recall </a:t>
            </a:r>
            <a:r>
              <a:rPr lang="en-IN" dirty="0" err="1"/>
              <a:t>tradeoff</a:t>
            </a:r>
            <a:r>
              <a:rPr lang="en-IN" dirty="0"/>
              <a:t> is F-measure (weighted harmonic mean)</a:t>
            </a:r>
          </a:p>
          <a:p>
            <a:pPr marL="0" indent="0">
              <a:buNone/>
            </a:pPr>
            <a:r>
              <a:rPr lang="en-IN" dirty="0"/>
              <a:t>	F=</a:t>
            </a:r>
            <a:r>
              <a:rPr lang="el-GR" b="1" i="0" dirty="0">
                <a:solidFill>
                  <a:srgbClr val="202124"/>
                </a:solidFill>
                <a:effectLst/>
                <a:latin typeface="Google Sans"/>
              </a:rPr>
              <a:t> </a:t>
            </a:r>
            <a:r>
              <a:rPr lang="en-IN" i="0" dirty="0">
                <a:solidFill>
                  <a:srgbClr val="202124"/>
                </a:solidFill>
                <a:effectLst/>
                <a:latin typeface="Google Sans"/>
              </a:rPr>
              <a:t>((</a:t>
            </a:r>
            <a:r>
              <a:rPr lang="el-GR" i="0" dirty="0">
                <a:solidFill>
                  <a:srgbClr val="202124"/>
                </a:solidFill>
                <a:effectLst/>
                <a:latin typeface="Google Sans"/>
              </a:rPr>
              <a:t>β</a:t>
            </a:r>
            <a:r>
              <a:rPr lang="en-IN" i="0" dirty="0">
                <a:solidFill>
                  <a:srgbClr val="202124"/>
                </a:solidFill>
                <a:effectLst/>
                <a:latin typeface="Google Sans"/>
              </a:rPr>
              <a:t>^2)+1)PR/((</a:t>
            </a:r>
            <a:r>
              <a:rPr lang="el-GR" i="0" dirty="0">
                <a:solidFill>
                  <a:srgbClr val="202124"/>
                </a:solidFill>
                <a:effectLst/>
                <a:latin typeface="Google Sans"/>
              </a:rPr>
              <a:t>β</a:t>
            </a:r>
            <a:r>
              <a:rPr lang="en-IN" i="0" dirty="0">
                <a:solidFill>
                  <a:srgbClr val="202124"/>
                </a:solidFill>
                <a:effectLst/>
                <a:latin typeface="Google Sans"/>
              </a:rPr>
              <a:t>^2)(P+R))</a:t>
            </a:r>
            <a:endParaRPr lang="en-IN" dirty="0"/>
          </a:p>
          <a:p>
            <a:r>
              <a:rPr lang="en-IN" dirty="0"/>
              <a:t>People usually use balanced F1 measure </a:t>
            </a:r>
          </a:p>
          <a:p>
            <a:pPr lvl="1"/>
            <a:r>
              <a:rPr lang="en-IN" dirty="0"/>
              <a:t>i.e. with beta=1 </a:t>
            </a:r>
          </a:p>
          <a:p>
            <a:r>
              <a:rPr lang="en-IN" dirty="0"/>
              <a:t>Harmonic mean is a conservative average </a:t>
            </a:r>
          </a:p>
        </p:txBody>
      </p:sp>
    </p:spTree>
    <p:extLst>
      <p:ext uri="{BB962C8B-B14F-4D97-AF65-F5344CB8AC3E}">
        <p14:creationId xmlns:p14="http://schemas.microsoft.com/office/powerpoint/2010/main" val="2943524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C2CF2517-18C2-A24D-92A3-BA050BBA44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Rank-Based Measures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BABB0D6E-D239-8E47-8067-DA7F6FE215B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Binary relevance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</a:rPr>
              <a:t>Precision@K (P@K)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</a:rPr>
              <a:t>Mean Average Precision (MAP)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</a:rPr>
              <a:t>Mean Reciprocal Rank (MRR)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Multiple levels of relevance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</a:rPr>
              <a:t>Normalized Discounted Cumulative Gain (NDCG)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35257E01-4FEB-474B-A9C7-DEA01E3DAE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Precision@K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5660485-55CA-284B-988B-AC5614C083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00">
                <a:latin typeface="Arial" panose="020B0604020202020204" pitchFamily="34" charset="0"/>
              </a:rPr>
              <a:t>Set a rank threshold K</a:t>
            </a:r>
          </a:p>
          <a:p>
            <a:pPr eaLnBrk="1" hangingPunct="1">
              <a:lnSpc>
                <a:spcPct val="90000"/>
              </a:lnSpc>
            </a:pPr>
            <a:endParaRPr lang="en-US" altLang="en-US" sz="190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>
                <a:latin typeface="Arial" panose="020B0604020202020204" pitchFamily="34" charset="0"/>
              </a:rPr>
              <a:t>Compute % relevant in top K</a:t>
            </a:r>
          </a:p>
          <a:p>
            <a:pPr eaLnBrk="1" hangingPunct="1">
              <a:lnSpc>
                <a:spcPct val="90000"/>
              </a:lnSpc>
            </a:pPr>
            <a:endParaRPr lang="en-US" altLang="en-US" sz="190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>
                <a:latin typeface="Arial" panose="020B0604020202020204" pitchFamily="34" charset="0"/>
              </a:rPr>
              <a:t>Ignores documents ranked lower than K</a:t>
            </a:r>
          </a:p>
          <a:p>
            <a:pPr eaLnBrk="1" hangingPunct="1">
              <a:lnSpc>
                <a:spcPct val="90000"/>
              </a:lnSpc>
            </a:pPr>
            <a:endParaRPr lang="en-US" altLang="en-US" sz="190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>
                <a:latin typeface="Arial" panose="020B0604020202020204" pitchFamily="34" charset="0"/>
              </a:rPr>
              <a:t>Ex:                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</a:rPr>
              <a:t>Prec@3 of 2/3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50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</a:rPr>
              <a:t>Prec@4 of 2/4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</a:rPr>
              <a:t>Prec@5 of 3/5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</a:rPr>
              <a:t>In similar fashion we have Recall@K</a:t>
            </a:r>
          </a:p>
        </p:txBody>
      </p:sp>
      <p:pic>
        <p:nvPicPr>
          <p:cNvPr id="88067" name="Picture 11">
            <a:extLst>
              <a:ext uri="{FF2B5EF4-FFF2-40B4-BE49-F238E27FC236}">
                <a16:creationId xmlns:a16="http://schemas.microsoft.com/office/drawing/2014/main" id="{50E451C4-819D-E240-A6BD-66B9C3DF7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548188"/>
            <a:ext cx="1828800" cy="328613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54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5CED8FCA-1AEE-8049-8AC4-AA6C1F051AD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Mean Average Precision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97BD33AA-23D7-4E47-BC13-192A690C92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latin typeface="Arial" panose="020B0604020202020204" pitchFamily="34" charset="0"/>
              </a:rPr>
              <a:t>Consider rank position of each </a:t>
            </a:r>
            <a:r>
              <a:rPr lang="en-US" altLang="en-US" sz="2600" b="1" i="1" dirty="0">
                <a:latin typeface="Arial" panose="020B0604020202020204" pitchFamily="34" charset="0"/>
              </a:rPr>
              <a:t>relevant</a:t>
            </a:r>
            <a:r>
              <a:rPr lang="en-US" altLang="en-US" sz="2600" dirty="0">
                <a:latin typeface="Arial" panose="020B0604020202020204" pitchFamily="34" charset="0"/>
              </a:rPr>
              <a:t> doc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latin typeface="Arial" panose="020B0604020202020204" pitchFamily="34" charset="0"/>
              </a:rPr>
              <a:t>K</a:t>
            </a:r>
            <a:r>
              <a:rPr lang="en-US" altLang="en-US" sz="2200" baseline="-25000" dirty="0">
                <a:latin typeface="Arial" panose="020B0604020202020204" pitchFamily="34" charset="0"/>
              </a:rPr>
              <a:t>1</a:t>
            </a:r>
            <a:r>
              <a:rPr lang="en-US" altLang="en-US" sz="2200" dirty="0">
                <a:latin typeface="Arial" panose="020B0604020202020204" pitchFamily="34" charset="0"/>
              </a:rPr>
              <a:t>, K</a:t>
            </a:r>
            <a:r>
              <a:rPr lang="en-US" altLang="en-US" sz="2200" baseline="-25000" dirty="0">
                <a:latin typeface="Arial" panose="020B0604020202020204" pitchFamily="34" charset="0"/>
              </a:rPr>
              <a:t>2</a:t>
            </a:r>
            <a:r>
              <a:rPr lang="en-US" altLang="en-US" sz="2200" dirty="0">
                <a:latin typeface="Arial" panose="020B0604020202020204" pitchFamily="34" charset="0"/>
              </a:rPr>
              <a:t>, … K</a:t>
            </a:r>
            <a:r>
              <a:rPr lang="en-US" altLang="en-US" sz="2200" baseline="-25000" dirty="0">
                <a:latin typeface="Arial" panose="020B0604020202020204" pitchFamily="34" charset="0"/>
              </a:rPr>
              <a:t>R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latin typeface="Arial" panose="020B0604020202020204" pitchFamily="34" charset="0"/>
              </a:rPr>
              <a:t>Compute </a:t>
            </a:r>
            <a:r>
              <a:rPr lang="en-US" altLang="en-US" sz="2600" dirty="0" err="1">
                <a:latin typeface="Arial" panose="020B0604020202020204" pitchFamily="34" charset="0"/>
              </a:rPr>
              <a:t>Precision@K</a:t>
            </a:r>
            <a:r>
              <a:rPr lang="en-US" altLang="en-US" sz="2600" dirty="0">
                <a:latin typeface="Arial" panose="020B0604020202020204" pitchFamily="34" charset="0"/>
              </a:rPr>
              <a:t> for each K</a:t>
            </a:r>
            <a:r>
              <a:rPr lang="en-US" altLang="en-US" sz="2600" baseline="-25000" dirty="0">
                <a:latin typeface="Arial" panose="020B0604020202020204" pitchFamily="34" charset="0"/>
              </a:rPr>
              <a:t>1</a:t>
            </a:r>
            <a:r>
              <a:rPr lang="en-US" altLang="en-US" sz="2600" dirty="0">
                <a:latin typeface="Arial" panose="020B0604020202020204" pitchFamily="34" charset="0"/>
              </a:rPr>
              <a:t>, K</a:t>
            </a:r>
            <a:r>
              <a:rPr lang="en-US" altLang="en-US" sz="2600" baseline="-25000" dirty="0">
                <a:latin typeface="Arial" panose="020B0604020202020204" pitchFamily="34" charset="0"/>
              </a:rPr>
              <a:t>2</a:t>
            </a:r>
            <a:r>
              <a:rPr lang="en-US" altLang="en-US" sz="2600" dirty="0">
                <a:latin typeface="Arial" panose="020B0604020202020204" pitchFamily="34" charset="0"/>
              </a:rPr>
              <a:t>, … K</a:t>
            </a:r>
            <a:r>
              <a:rPr lang="en-US" altLang="en-US" sz="2600" baseline="-25000" dirty="0">
                <a:latin typeface="Arial" panose="020B0604020202020204" pitchFamily="34" charset="0"/>
              </a:rPr>
              <a:t>R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500" baseline="-250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latin typeface="Arial" panose="020B0604020202020204" pitchFamily="34" charset="0"/>
              </a:rPr>
              <a:t>Average precision = average of P@K</a:t>
            </a:r>
          </a:p>
          <a:p>
            <a:pPr eaLnBrk="1" hangingPunct="1">
              <a:lnSpc>
                <a:spcPct val="90000"/>
              </a:lnSpc>
            </a:pPr>
            <a:endParaRPr lang="en-US" altLang="en-US" sz="26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1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latin typeface="Arial" panose="020B0604020202020204" pitchFamily="34" charset="0"/>
              </a:rPr>
              <a:t>Ex:                                 has </a:t>
            </a:r>
            <a:r>
              <a:rPr lang="en-US" altLang="en-US" sz="2600" dirty="0" err="1">
                <a:latin typeface="Arial" panose="020B0604020202020204" pitchFamily="34" charset="0"/>
              </a:rPr>
              <a:t>AvgPrec</a:t>
            </a:r>
            <a:r>
              <a:rPr lang="en-US" altLang="en-US" sz="2600" dirty="0">
                <a:latin typeface="Arial" panose="020B0604020202020204" pitchFamily="34" charset="0"/>
              </a:rPr>
              <a:t> of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latin typeface="Arial" panose="020B0604020202020204" pitchFamily="34" charset="0"/>
              </a:rPr>
              <a:t>MAP is Average Precision across multiple queries/rankings</a:t>
            </a:r>
          </a:p>
        </p:txBody>
      </p:sp>
      <p:pic>
        <p:nvPicPr>
          <p:cNvPr id="34819" name="Picture 11">
            <a:extLst>
              <a:ext uri="{FF2B5EF4-FFF2-40B4-BE49-F238E27FC236}">
                <a16:creationId xmlns:a16="http://schemas.microsoft.com/office/drawing/2014/main" id="{A2520EDC-6A0F-EF46-B342-3FA981418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189" y="3657600"/>
            <a:ext cx="3016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2" name="Object 8">
            <a:extLst>
              <a:ext uri="{FF2B5EF4-FFF2-40B4-BE49-F238E27FC236}">
                <a16:creationId xmlns:a16="http://schemas.microsoft.com/office/drawing/2014/main" id="{9A232456-D8BB-B04D-8BAE-D244A31788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4381500"/>
          <a:ext cx="2514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137100" imgH="9944100" progId="Equation.3">
                  <p:embed/>
                </p:oleObj>
              </mc:Choice>
              <mc:Fallback>
                <p:oleObj name="Equation" r:id="rId3" imgW="30137100" imgH="9944100" progId="Equation.3">
                  <p:embed/>
                  <p:pic>
                    <p:nvPicPr>
                      <p:cNvPr id="5122" name="Object 8">
                        <a:extLst>
                          <a:ext uri="{FF2B5EF4-FFF2-40B4-BE49-F238E27FC236}">
                            <a16:creationId xmlns:a16="http://schemas.microsoft.com/office/drawing/2014/main" id="{9A232456-D8BB-B04D-8BAE-D244A31788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381500"/>
                        <a:ext cx="2514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EC1B304D-717F-9444-ADAF-E985EA54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Average Precision</a:t>
            </a:r>
          </a:p>
        </p:txBody>
      </p:sp>
      <p:pic>
        <p:nvPicPr>
          <p:cNvPr id="35842" name="Picture 3" descr="C:\Users\croft\Desktop\chap8-2.tif">
            <a:extLst>
              <a:ext uri="{FF2B5EF4-FFF2-40B4-BE49-F238E27FC236}">
                <a16:creationId xmlns:a16="http://schemas.microsoft.com/office/drawing/2014/main" id="{FCFBCDC9-6E02-1948-9931-53972C5AD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600201"/>
            <a:ext cx="5118100" cy="314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9" descr="TP_tmp.png">
            <a:extLst>
              <a:ext uri="{FF2B5EF4-FFF2-40B4-BE49-F238E27FC236}">
                <a16:creationId xmlns:a16="http://schemas.microsoft.com/office/drawing/2014/main" id="{130DD765-15D6-EA4B-BA9A-C8BFBB2468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5029200"/>
            <a:ext cx="7419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E43F2CDE-5169-C64E-BACF-A6271346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MAP</a:t>
            </a:r>
          </a:p>
        </p:txBody>
      </p:sp>
      <p:pic>
        <p:nvPicPr>
          <p:cNvPr id="36866" name="Picture 2" descr="C:\Users\croft\Desktop\chap8-3.tif">
            <a:extLst>
              <a:ext uri="{FF2B5EF4-FFF2-40B4-BE49-F238E27FC236}">
                <a16:creationId xmlns:a16="http://schemas.microsoft.com/office/drawing/2014/main" id="{E7D0CEE0-F34F-A24F-A218-16A7D6CD6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676400"/>
            <a:ext cx="4465638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6" descr="TP_tmp.png">
            <a:extLst>
              <a:ext uri="{FF2B5EF4-FFF2-40B4-BE49-F238E27FC236}">
                <a16:creationId xmlns:a16="http://schemas.microsoft.com/office/drawing/2014/main" id="{14CA6D4D-4D5E-9045-BF2A-BD2D6F6E491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181601"/>
            <a:ext cx="7685088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1149FA15-BB3B-F64B-A1FC-D5C4D9587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Mean average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8A775-14C2-1C45-B7EF-00F654AF1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>
                <a:latin typeface="Arial" panose="020B0604020202020204" pitchFamily="34" charset="0"/>
              </a:rPr>
              <a:t>If a relevant document never gets retrieved, we assume the precision corresponding to that relevant doc to be zero 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MAP is macro-averaging: each query counts equally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Now perhaps most commonly used measure in research papers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Good for web search?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MAP assumes user is interested in finding many relevant documents for each query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MAP requires many relevance judgments in text collection</a:t>
            </a: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B4AB-C77F-FD65-B7ED-8A924575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R-precision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13F8-0F85-E32A-C124-C2A64DE42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R-precision is the precision after R-documents have been retrieved, where R is the number of relevant documents for the topic.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FD7980-32B8-D948-8787-CDE3DDB32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pitchFamily="-65" charset="-128"/>
                <a:cs typeface="ＭＳ Ｐゴシック" pitchFamily="-65" charset="-128"/>
              </a:rPr>
              <a:t>Beyond binary relevance</a:t>
            </a:r>
          </a:p>
        </p:txBody>
      </p:sp>
      <p:sp>
        <p:nvSpPr>
          <p:cNvPr id="38914" name="Text Placeholder 5">
            <a:extLst>
              <a:ext uri="{FF2B5EF4-FFF2-40B4-BE49-F238E27FC236}">
                <a16:creationId xmlns:a16="http://schemas.microsoft.com/office/drawing/2014/main" id="{281A4088-3803-EC43-86CE-2FFC6500A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086483E2-1986-9045-B7E0-D2F3A76B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C45E2D48-07FB-FD48-BB99-A8E523FFBF0E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2" descr="C:\Documents and Settings\sjavanma.UCI-ICS\Desktop\Yahoo-Toyota-Query.bmp">
            <a:extLst>
              <a:ext uri="{FF2B5EF4-FFF2-40B4-BE49-F238E27FC236}">
                <a16:creationId xmlns:a16="http://schemas.microsoft.com/office/drawing/2014/main" id="{62AC42B9-67AD-C54C-AB44-5835BB4C1FF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533401"/>
            <a:ext cx="6451600" cy="5973763"/>
          </a:xfrm>
        </p:spPr>
      </p:pic>
      <p:sp>
        <p:nvSpPr>
          <p:cNvPr id="39938" name="TextBox 4">
            <a:extLst>
              <a:ext uri="{FF2B5EF4-FFF2-40B4-BE49-F238E27FC236}">
                <a16:creationId xmlns:a16="http://schemas.microsoft.com/office/drawing/2014/main" id="{97B823EC-D23D-5342-9E65-7FF713744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286001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latin typeface="Calibri" panose="020F0502020204030204" pitchFamily="34" charset="0"/>
              </a:rPr>
              <a:t>fair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1154F3-B7E5-2742-9584-EB7F939F541A}"/>
              </a:ext>
            </a:extLst>
          </p:cNvPr>
          <p:cNvCxnSpPr/>
          <p:nvPr/>
        </p:nvCxnSpPr>
        <p:spPr>
          <a:xfrm rot="10800000" flipV="1">
            <a:off x="6172200" y="2395538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C56C72-C38D-4C46-96A2-02F5DC59B8C8}"/>
              </a:ext>
            </a:extLst>
          </p:cNvPr>
          <p:cNvCxnSpPr/>
          <p:nvPr/>
        </p:nvCxnSpPr>
        <p:spPr>
          <a:xfrm rot="10800000" flipV="1">
            <a:off x="6705600" y="2852738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1" name="TextBox 9">
            <a:extLst>
              <a:ext uri="{FF2B5EF4-FFF2-40B4-BE49-F238E27FC236}">
                <a16:creationId xmlns:a16="http://schemas.microsoft.com/office/drawing/2014/main" id="{FDDB71E8-B594-1A46-A1E4-99B1D17A1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700339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latin typeface="Calibri" panose="020F0502020204030204" pitchFamily="34" charset="0"/>
              </a:rPr>
              <a:t>fair</a:t>
            </a:r>
          </a:p>
        </p:txBody>
      </p:sp>
      <p:sp>
        <p:nvSpPr>
          <p:cNvPr id="39942" name="TextBox 10">
            <a:extLst>
              <a:ext uri="{FF2B5EF4-FFF2-40B4-BE49-F238E27FC236}">
                <a16:creationId xmlns:a16="http://schemas.microsoft.com/office/drawing/2014/main" id="{F6323F2B-80CB-E042-BD11-66BD4C327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309939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latin typeface="Calibri" panose="020F0502020204030204" pitchFamily="34" charset="0"/>
              </a:rPr>
              <a:t>Good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4332C1-2D5E-994F-B8D5-87479CA10E9F}"/>
              </a:ext>
            </a:extLst>
          </p:cNvPr>
          <p:cNvCxnSpPr/>
          <p:nvPr/>
        </p:nvCxnSpPr>
        <p:spPr>
          <a:xfrm rot="10800000" flipV="1">
            <a:off x="7010400" y="3462338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0E54E84A-9831-704C-9801-5B5F12460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Discounted Cumulative Gain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6B545559-1201-1F4B-B213-261072884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Popular measure for evaluating web search and related tasks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Two assumptions:</a:t>
            </a:r>
          </a:p>
          <a:p>
            <a:pPr lvl="1"/>
            <a:r>
              <a:rPr lang="en-US" altLang="en-US" sz="2800">
                <a:latin typeface="Arial" panose="020B0604020202020204" pitchFamily="34" charset="0"/>
              </a:rPr>
              <a:t>Highly relevant documents are more useful than marginally relevant documents</a:t>
            </a:r>
          </a:p>
          <a:p>
            <a:pPr lvl="1"/>
            <a:r>
              <a:rPr lang="en-US" altLang="en-US" sz="2800">
                <a:latin typeface="Arial" panose="020B0604020202020204" pitchFamily="34" charset="0"/>
              </a:rPr>
              <a:t>the lower the ranked position of a relevant document, the less useful it is for the user, since it is less likely to be examined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4BC39F50-A4D8-994F-8F01-0800A20F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Discounted Cumulative Gain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D872E226-C655-3A40-A8BE-0DF1610DD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Uses </a:t>
            </a:r>
            <a:r>
              <a:rPr lang="en-US" altLang="en-US" i="1">
                <a:latin typeface="Arial" panose="020B0604020202020204" pitchFamily="34" charset="0"/>
              </a:rPr>
              <a:t>graded relevance </a:t>
            </a:r>
            <a:r>
              <a:rPr lang="en-US" altLang="en-US">
                <a:latin typeface="Arial" panose="020B0604020202020204" pitchFamily="34" charset="0"/>
              </a:rPr>
              <a:t>as a measure of  usefulness, or </a:t>
            </a:r>
            <a:r>
              <a:rPr lang="en-US" altLang="en-US" i="1">
                <a:latin typeface="Arial" panose="020B0604020202020204" pitchFamily="34" charset="0"/>
              </a:rPr>
              <a:t>gain, </a:t>
            </a:r>
            <a:r>
              <a:rPr lang="en-US" altLang="en-US">
                <a:latin typeface="Arial" panose="020B0604020202020204" pitchFamily="34" charset="0"/>
              </a:rPr>
              <a:t>from examining a document</a:t>
            </a:r>
          </a:p>
          <a:p>
            <a:r>
              <a:rPr lang="en-US" altLang="en-US">
                <a:latin typeface="Arial" panose="020B0604020202020204" pitchFamily="34" charset="0"/>
              </a:rPr>
              <a:t>Gain is accumulated starting at the top of the ranking and may be reduced, or </a:t>
            </a:r>
            <a:r>
              <a:rPr lang="en-US" altLang="en-US" i="1">
                <a:latin typeface="Arial" panose="020B0604020202020204" pitchFamily="34" charset="0"/>
              </a:rPr>
              <a:t>discounted</a:t>
            </a:r>
            <a:r>
              <a:rPr lang="en-US" altLang="en-US">
                <a:latin typeface="Arial" panose="020B0604020202020204" pitchFamily="34" charset="0"/>
              </a:rPr>
              <a:t>, at lower ranks</a:t>
            </a:r>
          </a:p>
          <a:p>
            <a:r>
              <a:rPr lang="en-US" altLang="en-US">
                <a:latin typeface="Arial" panose="020B0604020202020204" pitchFamily="34" charset="0"/>
              </a:rPr>
              <a:t>Typical discount is 1/log</a:t>
            </a:r>
            <a:r>
              <a:rPr lang="en-US" altLang="en-US" i="1">
                <a:latin typeface="Arial" panose="020B0604020202020204" pitchFamily="34" charset="0"/>
              </a:rPr>
              <a:t> (rank)</a:t>
            </a:r>
            <a:endParaRPr lang="en-US" altLang="en-US">
              <a:latin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</a:rPr>
              <a:t>With base 2, the discount at rank 4 is 1/2, and at rank 8 it is 1/3</a:t>
            </a:r>
            <a:endParaRPr lang="en-US" altLang="en-US" sz="2800" i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Number Placeholder 4">
            <a:extLst>
              <a:ext uri="{FF2B5EF4-FFF2-40B4-BE49-F238E27FC236}">
                <a16:creationId xmlns:a16="http://schemas.microsoft.com/office/drawing/2014/main" id="{76413917-9765-BD44-8CEA-7F19170F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248400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algn="ctr" eaLnBrk="1" hangingPunct="1"/>
            <a:fld id="{80CCDB93-226C-9C44-B21F-A5BD56B1D9BB}" type="slidenum">
              <a:rPr lang="en-US" altLang="en-US" sz="1400">
                <a:latin typeface="Arial" panose="020B0604020202020204" pitchFamily="34" charset="0"/>
              </a:rPr>
              <a:pPr algn="ctr" eaLnBrk="1" hangingPunct="1"/>
              <a:t>30</a:t>
            </a:fld>
            <a:endParaRPr lang="en-US" altLang="en-US" sz="1400">
              <a:latin typeface="Arial" panose="020B0604020202020204" pitchFamily="34" charset="0"/>
            </a:endParaRPr>
          </a:p>
          <a:p>
            <a:pPr algn="ctr" eaLnBrk="1" hangingPunct="1"/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4BE91D46-DDAF-8040-AEA5-86D10EB72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8686800" cy="1066800"/>
          </a:xfrm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Summarize a Ranking: DCG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CFD4E83-F2B6-C047-B62A-0C0B44E6FE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143000"/>
            <a:ext cx="8534400" cy="54864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endParaRPr lang="en-US" altLang="en-US" sz="2000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What if relevance judgments are in a scale of [0,r]? r&gt;2</a:t>
            </a:r>
          </a:p>
          <a:p>
            <a:r>
              <a:rPr lang="en-US" altLang="en-US">
                <a:latin typeface="Arial" panose="020B0604020202020204" pitchFamily="34" charset="0"/>
              </a:rPr>
              <a:t>Cumulative Gain (CG) at rank n</a:t>
            </a:r>
          </a:p>
          <a:p>
            <a:pPr lvl="1"/>
            <a:r>
              <a:rPr lang="en-US" altLang="en-US" sz="2800">
                <a:latin typeface="Arial" panose="020B0604020202020204" pitchFamily="34" charset="0"/>
              </a:rPr>
              <a:t>Let the ratings of the n documents be r</a:t>
            </a:r>
            <a:r>
              <a:rPr lang="en-US" altLang="en-US" sz="2800" baseline="-25000">
                <a:latin typeface="Arial" panose="020B0604020202020204" pitchFamily="34" charset="0"/>
              </a:rPr>
              <a:t>1</a:t>
            </a:r>
            <a:r>
              <a:rPr lang="en-US" altLang="en-US" sz="2800">
                <a:latin typeface="Arial" panose="020B0604020202020204" pitchFamily="34" charset="0"/>
              </a:rPr>
              <a:t>, r</a:t>
            </a:r>
            <a:r>
              <a:rPr lang="en-US" altLang="en-US" sz="2800" baseline="-25000">
                <a:latin typeface="Arial" panose="020B0604020202020204" pitchFamily="34" charset="0"/>
              </a:rPr>
              <a:t>2</a:t>
            </a:r>
            <a:r>
              <a:rPr lang="en-US" altLang="en-US" sz="2800">
                <a:latin typeface="Arial" panose="020B0604020202020204" pitchFamily="34" charset="0"/>
              </a:rPr>
              <a:t>, …r</a:t>
            </a:r>
            <a:r>
              <a:rPr lang="en-US" altLang="en-US" sz="2800" baseline="-25000">
                <a:latin typeface="Arial" panose="020B0604020202020204" pitchFamily="34" charset="0"/>
              </a:rPr>
              <a:t>n</a:t>
            </a:r>
            <a:r>
              <a:rPr lang="en-US" altLang="en-US" sz="2800">
                <a:latin typeface="Arial" panose="020B0604020202020204" pitchFamily="34" charset="0"/>
              </a:rPr>
              <a:t> (in ranked order)</a:t>
            </a:r>
          </a:p>
          <a:p>
            <a:pPr lvl="1"/>
            <a:r>
              <a:rPr lang="en-US" altLang="en-US" sz="2800">
                <a:latin typeface="Arial" panose="020B0604020202020204" pitchFamily="34" charset="0"/>
              </a:rPr>
              <a:t>CG = r</a:t>
            </a:r>
            <a:r>
              <a:rPr lang="en-US" altLang="en-US" sz="2800" baseline="-25000">
                <a:latin typeface="Arial" panose="020B0604020202020204" pitchFamily="34" charset="0"/>
              </a:rPr>
              <a:t>1</a:t>
            </a:r>
            <a:r>
              <a:rPr lang="en-US" altLang="en-US" sz="2800">
                <a:latin typeface="Arial" panose="020B0604020202020204" pitchFamily="34" charset="0"/>
              </a:rPr>
              <a:t>+r</a:t>
            </a:r>
            <a:r>
              <a:rPr lang="en-US" altLang="en-US" sz="2800" baseline="-25000">
                <a:latin typeface="Arial" panose="020B0604020202020204" pitchFamily="34" charset="0"/>
              </a:rPr>
              <a:t>2</a:t>
            </a:r>
            <a:r>
              <a:rPr lang="en-US" altLang="en-US" sz="2800">
                <a:latin typeface="Arial" panose="020B0604020202020204" pitchFamily="34" charset="0"/>
              </a:rPr>
              <a:t>+…r</a:t>
            </a:r>
            <a:r>
              <a:rPr lang="en-US" altLang="en-US" sz="2800" baseline="-25000">
                <a:latin typeface="Arial" panose="020B0604020202020204" pitchFamily="34" charset="0"/>
              </a:rPr>
              <a:t>n</a:t>
            </a:r>
          </a:p>
          <a:p>
            <a:r>
              <a:rPr lang="en-US" altLang="en-US">
                <a:latin typeface="Arial" panose="020B0604020202020204" pitchFamily="34" charset="0"/>
              </a:rPr>
              <a:t>Discounted Cumulative Gain (DCG) at rank n</a:t>
            </a:r>
          </a:p>
          <a:p>
            <a:pPr lvl="1"/>
            <a:r>
              <a:rPr lang="en-US" altLang="en-US" sz="2800">
                <a:latin typeface="Arial" panose="020B0604020202020204" pitchFamily="34" charset="0"/>
              </a:rPr>
              <a:t>DCG = r</a:t>
            </a:r>
            <a:r>
              <a:rPr lang="en-US" altLang="en-US" sz="2800" baseline="-25000">
                <a:latin typeface="Arial" panose="020B0604020202020204" pitchFamily="34" charset="0"/>
              </a:rPr>
              <a:t>1</a:t>
            </a:r>
            <a:r>
              <a:rPr lang="en-US" altLang="en-US" sz="2800">
                <a:latin typeface="Arial" panose="020B0604020202020204" pitchFamily="34" charset="0"/>
              </a:rPr>
              <a:t> + r</a:t>
            </a:r>
            <a:r>
              <a:rPr lang="en-US" altLang="en-US" sz="2800" baseline="-25000">
                <a:latin typeface="Arial" panose="020B0604020202020204" pitchFamily="34" charset="0"/>
              </a:rPr>
              <a:t>2</a:t>
            </a:r>
            <a:r>
              <a:rPr lang="en-US" altLang="en-US" sz="2800">
                <a:latin typeface="Arial" panose="020B0604020202020204" pitchFamily="34" charset="0"/>
              </a:rPr>
              <a:t>/log</a:t>
            </a:r>
            <a:r>
              <a:rPr lang="en-US" altLang="en-US" sz="2800" baseline="-25000">
                <a:latin typeface="Arial" panose="020B0604020202020204" pitchFamily="34" charset="0"/>
              </a:rPr>
              <a:t>2</a:t>
            </a:r>
            <a:r>
              <a:rPr lang="en-US" altLang="en-US" sz="2800">
                <a:latin typeface="Arial" panose="020B0604020202020204" pitchFamily="34" charset="0"/>
              </a:rPr>
              <a:t>2 + r</a:t>
            </a:r>
            <a:r>
              <a:rPr lang="en-US" altLang="en-US" sz="2800" baseline="-25000">
                <a:latin typeface="Arial" panose="020B0604020202020204" pitchFamily="34" charset="0"/>
              </a:rPr>
              <a:t>3</a:t>
            </a:r>
            <a:r>
              <a:rPr lang="en-US" altLang="en-US" sz="2800">
                <a:latin typeface="Arial" panose="020B0604020202020204" pitchFamily="34" charset="0"/>
              </a:rPr>
              <a:t>/log</a:t>
            </a:r>
            <a:r>
              <a:rPr lang="en-US" altLang="en-US" sz="2800" baseline="-25000">
                <a:latin typeface="Arial" panose="020B0604020202020204" pitchFamily="34" charset="0"/>
              </a:rPr>
              <a:t>2</a:t>
            </a:r>
            <a:r>
              <a:rPr lang="en-US" altLang="en-US" sz="2800">
                <a:latin typeface="Arial" panose="020B0604020202020204" pitchFamily="34" charset="0"/>
              </a:rPr>
              <a:t>3 + … r</a:t>
            </a:r>
            <a:r>
              <a:rPr lang="en-US" altLang="en-US" sz="2800" baseline="-25000">
                <a:latin typeface="Arial" panose="020B0604020202020204" pitchFamily="34" charset="0"/>
              </a:rPr>
              <a:t>n</a:t>
            </a:r>
            <a:r>
              <a:rPr lang="en-US" altLang="en-US" sz="2800">
                <a:latin typeface="Arial" panose="020B0604020202020204" pitchFamily="34" charset="0"/>
              </a:rPr>
              <a:t>/log</a:t>
            </a:r>
            <a:r>
              <a:rPr lang="en-US" altLang="en-US" sz="2800" baseline="-25000">
                <a:latin typeface="Arial" panose="020B0604020202020204" pitchFamily="34" charset="0"/>
              </a:rPr>
              <a:t>2</a:t>
            </a:r>
            <a:r>
              <a:rPr lang="en-US" altLang="en-US" sz="2800">
                <a:latin typeface="Arial" panose="020B0604020202020204" pitchFamily="34" charset="0"/>
              </a:rPr>
              <a:t>n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We may use any base for the logarithm</a:t>
            </a:r>
          </a:p>
          <a:p>
            <a:pPr>
              <a:lnSpc>
                <a:spcPct val="80000"/>
              </a:lnSpc>
            </a:pPr>
            <a:endParaRPr lang="en-US" altLang="en-US" sz="2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00AA3CF3-054D-284F-BCAB-8B3F3D2B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Discounted Cumulative Gain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19CEDE11-E84C-484A-84F2-2C9A439D0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>
                <a:latin typeface="Arial" panose="020B0604020202020204" pitchFamily="34" charset="0"/>
              </a:rPr>
              <a:t>DCG</a:t>
            </a:r>
            <a:r>
              <a:rPr lang="en-US" altLang="en-US">
                <a:latin typeface="Arial" panose="020B0604020202020204" pitchFamily="34" charset="0"/>
              </a:rPr>
              <a:t> is the total gain accumulated at a particular rank </a:t>
            </a:r>
            <a:r>
              <a:rPr lang="en-US" altLang="en-US" i="1">
                <a:latin typeface="Arial" panose="020B0604020202020204" pitchFamily="34" charset="0"/>
              </a:rPr>
              <a:t>p</a:t>
            </a:r>
            <a:r>
              <a:rPr lang="en-US" altLang="en-US">
                <a:latin typeface="Arial" panose="020B0604020202020204" pitchFamily="34" charset="0"/>
              </a:rPr>
              <a:t>: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 altLang="en-US" sz="2400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Alternative formulation: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 altLang="en-US" sz="2400">
              <a:latin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</a:rPr>
              <a:t>used by some web search companies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emphasis on retrieving highly relevant documents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45059" name="Picture 3" descr="TP_tmp.png">
            <a:extLst>
              <a:ext uri="{FF2B5EF4-FFF2-40B4-BE49-F238E27FC236}">
                <a16:creationId xmlns:a16="http://schemas.microsoft.com/office/drawing/2014/main" id="{26D5E1F8-F0E4-9748-A225-2F1DFF16699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2819400"/>
            <a:ext cx="38957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Picture 5" descr="TP_tmp.png">
            <a:extLst>
              <a:ext uri="{FF2B5EF4-FFF2-40B4-BE49-F238E27FC236}">
                <a16:creationId xmlns:a16="http://schemas.microsoft.com/office/drawing/2014/main" id="{B934DAD7-0406-714D-A56B-441954186E4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886201"/>
            <a:ext cx="34290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57307C3D-DCED-5248-9D50-44563138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DCG Example</a:t>
            </a:r>
          </a:p>
        </p:txBody>
      </p:sp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13BB1842-531C-194B-88C3-A77F95879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10 ranked documents judged on 0–3 relevance scale: 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latin typeface="Arial" panose="020B0604020202020204" pitchFamily="34" charset="0"/>
              </a:rPr>
              <a:t>3, 2, 3, 0, 0, 1, 2, 2, 3, 0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discounted gain: 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latin typeface="Arial" panose="020B0604020202020204" pitchFamily="34" charset="0"/>
              </a:rPr>
              <a:t>3, 2/1, 3/1.59, 0, 0, 1/2.59, 2/2.81, 2/3, 3/3.17, 0 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latin typeface="Arial" panose="020B0604020202020204" pitchFamily="34" charset="0"/>
              </a:rPr>
              <a:t>= 3, 2, 1.89, 0, 0, 0.39, 0.71, 0.67, 0.95, 0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DCG: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latin typeface="Arial" panose="020B0604020202020204" pitchFamily="34" charset="0"/>
              </a:rPr>
              <a:t>3, 5, 6.89, 6.89, 6.89, 7.28, 7.99, 8.66, 9.61, 9.61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4">
            <a:extLst>
              <a:ext uri="{FF2B5EF4-FFF2-40B4-BE49-F238E27FC236}">
                <a16:creationId xmlns:a16="http://schemas.microsoft.com/office/drawing/2014/main" id="{F598F942-99C8-0A4B-9F4B-F63D4405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248400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algn="ctr" eaLnBrk="1" hangingPunct="1"/>
            <a:fld id="{E2C6C47F-EE4E-9F4D-95AA-136437AAA04B}" type="slidenum">
              <a:rPr lang="en-US" altLang="en-US" sz="1400">
                <a:latin typeface="Arial" panose="020B0604020202020204" pitchFamily="34" charset="0"/>
              </a:rPr>
              <a:pPr algn="ctr" eaLnBrk="1" hangingPunct="1"/>
              <a:t>33</a:t>
            </a:fld>
            <a:endParaRPr lang="en-US" altLang="en-US" sz="1400">
              <a:latin typeface="Arial" panose="020B0604020202020204" pitchFamily="34" charset="0"/>
            </a:endParaRPr>
          </a:p>
          <a:p>
            <a:pPr algn="ctr" eaLnBrk="1" hangingPunct="1"/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FA61FC3B-FD1F-3440-ACD6-ECB5D4F2CB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8686800" cy="1066800"/>
          </a:xfrm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NDCG for summarizing rankings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627C60F-852A-374C-9F19-2172FB48B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143000"/>
            <a:ext cx="8534400" cy="54864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>
                <a:latin typeface="Arial" panose="020B0604020202020204" pitchFamily="34" charset="0"/>
              </a:rPr>
              <a:t>Normalized Discounted Cumulative Gain (NDCG) at rank </a:t>
            </a:r>
            <a:r>
              <a:rPr lang="en-US" altLang="en-US" i="1">
                <a:latin typeface="Arial" panose="020B0604020202020204" pitchFamily="34" charset="0"/>
              </a:rPr>
              <a:t>n</a:t>
            </a:r>
          </a:p>
          <a:p>
            <a:pPr lvl="1">
              <a:lnSpc>
                <a:spcPct val="80000"/>
              </a:lnSpc>
            </a:pPr>
            <a:r>
              <a:rPr lang="en-US" altLang="en-US" sz="2800">
                <a:latin typeface="Arial" panose="020B0604020202020204" pitchFamily="34" charset="0"/>
              </a:rPr>
              <a:t>Normalize DCG at rank </a:t>
            </a:r>
            <a:r>
              <a:rPr lang="en-US" altLang="en-US" sz="2800" i="1">
                <a:latin typeface="Arial" panose="020B0604020202020204" pitchFamily="34" charset="0"/>
              </a:rPr>
              <a:t>n</a:t>
            </a:r>
            <a:r>
              <a:rPr lang="en-US" altLang="en-US" sz="2800">
                <a:latin typeface="Arial" panose="020B0604020202020204" pitchFamily="34" charset="0"/>
              </a:rPr>
              <a:t> by the DCG value at rank </a:t>
            </a:r>
            <a:r>
              <a:rPr lang="en-US" altLang="en-US" sz="2800" i="1">
                <a:latin typeface="Arial" panose="020B0604020202020204" pitchFamily="34" charset="0"/>
              </a:rPr>
              <a:t>n</a:t>
            </a:r>
            <a:r>
              <a:rPr lang="en-US" altLang="en-US" sz="2800">
                <a:latin typeface="Arial" panose="020B0604020202020204" pitchFamily="34" charset="0"/>
              </a:rPr>
              <a:t> of the ideal ranking</a:t>
            </a:r>
          </a:p>
          <a:p>
            <a:pPr lvl="1">
              <a:lnSpc>
                <a:spcPct val="80000"/>
              </a:lnSpc>
            </a:pPr>
            <a:r>
              <a:rPr lang="en-US" altLang="en-US" sz="2800">
                <a:latin typeface="Arial" panose="020B0604020202020204" pitchFamily="34" charset="0"/>
              </a:rPr>
              <a:t>The ideal ranking would first return the documents with the highest relevance level, then the next highest relevance level, etc</a:t>
            </a:r>
          </a:p>
          <a:p>
            <a:pPr>
              <a:lnSpc>
                <a:spcPct val="80000"/>
              </a:lnSpc>
            </a:pPr>
            <a:r>
              <a:rPr lang="en-US" altLang="en-US" sz="3200">
                <a:latin typeface="Arial" panose="020B0604020202020204" pitchFamily="34" charset="0"/>
              </a:rPr>
              <a:t>Normalization useful for contrasting queries with varying numbers of relevant results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>
                <a:latin typeface="Arial" panose="020B0604020202020204" pitchFamily="34" charset="0"/>
              </a:rPr>
              <a:t>NDCG is now quite popular in evaluating Web search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3EB74FEC-1602-6A40-AB1F-A56498EEE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58" y="69056"/>
            <a:ext cx="10515600" cy="6238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NDCG -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7DBC09-07A3-F24C-8281-4CBD7DF90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829986"/>
              </p:ext>
            </p:extLst>
          </p:nvPr>
        </p:nvGraphicFramePr>
        <p:xfrm>
          <a:off x="2123766" y="1614599"/>
          <a:ext cx="8839201" cy="3078480"/>
        </p:xfrm>
        <a:graphic>
          <a:graphicData uri="http://schemas.openxmlformats.org/drawingml/2006/table">
            <a:tbl>
              <a:tblPr/>
              <a:tblGrid>
                <a:gridCol w="1262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76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Ground Truth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Ranking Function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Ranking Function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Document Order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i</a:t>
                      </a:r>
                      <a:endParaRPr kumimoji="0" 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MS PGothic" charset="0"/>
                        <a:cs typeface="MS PGothic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Document Order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Document Order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d1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MS PGothic" charset="0"/>
                        <a:cs typeface="MS PGothic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NDCG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GT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=1.00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MS PGothic" charset="0"/>
                        <a:cs typeface="MS PGothic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NDCG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RF1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=1.00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NDCG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RF2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MS PGothic" charset="0"/>
                          <a:cs typeface="MS PGothic" charset="0"/>
                        </a:rPr>
                        <a:t>=0.9203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0234" name="Object 2">
            <a:extLst>
              <a:ext uri="{FF2B5EF4-FFF2-40B4-BE49-F238E27FC236}">
                <a16:creationId xmlns:a16="http://schemas.microsoft.com/office/drawing/2014/main" id="{C7A86300-186C-AA4A-BF8F-A0D45990E4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191421"/>
              </p:ext>
            </p:extLst>
          </p:nvPr>
        </p:nvGraphicFramePr>
        <p:xfrm>
          <a:off x="618815" y="4925432"/>
          <a:ext cx="4459061" cy="714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342000" imgH="11112500" progId="Equation.3">
                  <p:embed/>
                </p:oleObj>
              </mc:Choice>
              <mc:Fallback>
                <p:oleObj name="Equation" r:id="rId2" imgW="69342000" imgH="11112500" progId="Equation.3">
                  <p:embed/>
                  <p:pic>
                    <p:nvPicPr>
                      <p:cNvPr id="50234" name="Object 2">
                        <a:extLst>
                          <a:ext uri="{FF2B5EF4-FFF2-40B4-BE49-F238E27FC236}">
                            <a16:creationId xmlns:a16="http://schemas.microsoft.com/office/drawing/2014/main" id="{C7A86300-186C-AA4A-BF8F-A0D45990E4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15" y="4925432"/>
                        <a:ext cx="4459061" cy="714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5" name="Object 4">
            <a:extLst>
              <a:ext uri="{FF2B5EF4-FFF2-40B4-BE49-F238E27FC236}">
                <a16:creationId xmlns:a16="http://schemas.microsoft.com/office/drawing/2014/main" id="{95174DA8-4BEC-4449-8CEF-A096CD0BE0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964376"/>
              </p:ext>
            </p:extLst>
          </p:nvPr>
        </p:nvGraphicFramePr>
        <p:xfrm>
          <a:off x="5596476" y="4998732"/>
          <a:ext cx="4147292" cy="659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926200" imgH="11112500" progId="Equation.3">
                  <p:embed/>
                </p:oleObj>
              </mc:Choice>
              <mc:Fallback>
                <p:oleObj name="Equation" r:id="rId4" imgW="69926200" imgH="11112500" progId="Equation.3">
                  <p:embed/>
                  <p:pic>
                    <p:nvPicPr>
                      <p:cNvPr id="50235" name="Object 4">
                        <a:extLst>
                          <a:ext uri="{FF2B5EF4-FFF2-40B4-BE49-F238E27FC236}">
                            <a16:creationId xmlns:a16="http://schemas.microsoft.com/office/drawing/2014/main" id="{95174DA8-4BEC-4449-8CEF-A096CD0BE0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6476" y="4998732"/>
                        <a:ext cx="4147292" cy="659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6" name="Object 5">
            <a:extLst>
              <a:ext uri="{FF2B5EF4-FFF2-40B4-BE49-F238E27FC236}">
                <a16:creationId xmlns:a16="http://schemas.microsoft.com/office/drawing/2014/main" id="{326FC12B-4318-8245-B50D-71C0860F45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428467"/>
              </p:ext>
            </p:extLst>
          </p:nvPr>
        </p:nvGraphicFramePr>
        <p:xfrm>
          <a:off x="1075198" y="5880100"/>
          <a:ext cx="4164644" cy="659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0218300" imgH="11112500" progId="Equation.3">
                  <p:embed/>
                </p:oleObj>
              </mc:Choice>
              <mc:Fallback>
                <p:oleObj name="Equation" r:id="rId6" imgW="70218300" imgH="11112500" progId="Equation.3">
                  <p:embed/>
                  <p:pic>
                    <p:nvPicPr>
                      <p:cNvPr id="50236" name="Object 5">
                        <a:extLst>
                          <a:ext uri="{FF2B5EF4-FFF2-40B4-BE49-F238E27FC236}">
                            <a16:creationId xmlns:a16="http://schemas.microsoft.com/office/drawing/2014/main" id="{326FC12B-4318-8245-B50D-71C0860F45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198" y="5880100"/>
                        <a:ext cx="4164644" cy="659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7" name="Object 6">
            <a:extLst>
              <a:ext uri="{FF2B5EF4-FFF2-40B4-BE49-F238E27FC236}">
                <a16:creationId xmlns:a16="http://schemas.microsoft.com/office/drawing/2014/main" id="{8C98398E-DE47-AC4F-A866-07CC5B72BC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243435"/>
              </p:ext>
            </p:extLst>
          </p:nvPr>
        </p:nvGraphicFramePr>
        <p:xfrm>
          <a:off x="6543366" y="6095501"/>
          <a:ext cx="1841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418000" imgH="5270500" progId="Equation.3">
                  <p:embed/>
                </p:oleObj>
              </mc:Choice>
              <mc:Fallback>
                <p:oleObj name="Equation" r:id="rId8" imgW="42418000" imgH="5270500" progId="Equation.3">
                  <p:embed/>
                  <p:pic>
                    <p:nvPicPr>
                      <p:cNvPr id="50237" name="Object 6">
                        <a:extLst>
                          <a:ext uri="{FF2B5EF4-FFF2-40B4-BE49-F238E27FC236}">
                            <a16:creationId xmlns:a16="http://schemas.microsoft.com/office/drawing/2014/main" id="{8C98398E-DE47-AC4F-A866-07CC5B72B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366" y="6095501"/>
                        <a:ext cx="18415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38" name="TextBox 10">
            <a:extLst>
              <a:ext uri="{FF2B5EF4-FFF2-40B4-BE49-F238E27FC236}">
                <a16:creationId xmlns:a16="http://schemas.microsoft.com/office/drawing/2014/main" id="{3C1A15A3-5B11-F649-83C4-74788FF66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9746" y="1027522"/>
            <a:ext cx="42066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dirty="0"/>
              <a:t>4 documents: d</a:t>
            </a:r>
            <a:r>
              <a:rPr lang="en-US" altLang="en-US" baseline="-25000" dirty="0"/>
              <a:t>1</a:t>
            </a:r>
            <a:r>
              <a:rPr lang="en-US" altLang="en-US" dirty="0"/>
              <a:t>, d</a:t>
            </a:r>
            <a:r>
              <a:rPr lang="en-US" altLang="en-US" baseline="-25000" dirty="0"/>
              <a:t>2</a:t>
            </a:r>
            <a:r>
              <a:rPr lang="en-US" altLang="en-US" dirty="0"/>
              <a:t>, d</a:t>
            </a:r>
            <a:r>
              <a:rPr lang="en-US" altLang="en-US" baseline="-25000" dirty="0"/>
              <a:t>3</a:t>
            </a:r>
            <a:r>
              <a:rPr lang="en-US" altLang="en-US" dirty="0"/>
              <a:t>, d</a:t>
            </a:r>
            <a:r>
              <a:rPr lang="en-US" altLang="en-US" baseline="-25000" dirty="0"/>
              <a:t>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4">
            <a:extLst>
              <a:ext uri="{FF2B5EF4-FFF2-40B4-BE49-F238E27FC236}">
                <a16:creationId xmlns:a16="http://schemas.microsoft.com/office/drawing/2014/main" id="{0838083D-B9E9-0F4E-BCDA-C5A6AB9E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477001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algn="ctr" eaLnBrk="1" hangingPunct="1"/>
            <a:fld id="{5B78B0E7-B891-F24F-924E-409CF64929FA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ctr" eaLnBrk="1" hangingPunct="1"/>
              <a:t>35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  <a:p>
            <a:pPr algn="ctr" eaLnBrk="1" hangingPunct="1"/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F89E2F44-324E-3A40-A174-05208FB65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What if the results are not in a list?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E2A8E3D-262E-1E43-9C30-EDB8ECE33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Suppose there’s only one Relevant Document</a:t>
            </a:r>
          </a:p>
          <a:p>
            <a:r>
              <a:rPr lang="en-US" altLang="en-US"/>
              <a:t>Scenarios: </a:t>
            </a:r>
          </a:p>
          <a:p>
            <a:pPr lvl="1"/>
            <a:r>
              <a:rPr lang="en-US" altLang="en-US"/>
              <a:t>known-item search</a:t>
            </a:r>
          </a:p>
          <a:p>
            <a:pPr lvl="1"/>
            <a:r>
              <a:rPr lang="en-US" altLang="en-US"/>
              <a:t>navigational queries</a:t>
            </a:r>
          </a:p>
          <a:p>
            <a:pPr lvl="1"/>
            <a:r>
              <a:rPr lang="en-US" altLang="en-US"/>
              <a:t>looking for a fact</a:t>
            </a:r>
          </a:p>
          <a:p>
            <a:r>
              <a:rPr lang="en-US" altLang="en-US"/>
              <a:t>Search duration ~ Rank of the answer </a:t>
            </a:r>
          </a:p>
          <a:p>
            <a:pPr lvl="1"/>
            <a:r>
              <a:rPr lang="en-US" altLang="en-US"/>
              <a:t>measures a user’s effort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2EEE2D70-B65E-8147-BBAB-949D148F54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Mean Reciprocal Rank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AE29644A-C46E-4248-BE10-74BF3C2B265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2600">
                <a:latin typeface="Arial" panose="020B0604020202020204" pitchFamily="34" charset="0"/>
              </a:rPr>
              <a:t>Consider rank position, K, of first relevant doc</a:t>
            </a:r>
          </a:p>
          <a:p>
            <a:pPr lvl="1" eaLnBrk="1" hangingPunct="1"/>
            <a:r>
              <a:rPr lang="en-US" altLang="en-US" sz="2200">
                <a:latin typeface="Arial" panose="020B0604020202020204" pitchFamily="34" charset="0"/>
              </a:rPr>
              <a:t>Could be – only clicked doc</a:t>
            </a:r>
          </a:p>
          <a:p>
            <a:pPr lvl="1" eaLnBrk="1" hangingPunct="1"/>
            <a:endParaRPr lang="en-US" altLang="en-US" sz="2200" baseline="-25000">
              <a:latin typeface="Arial" panose="020B0604020202020204" pitchFamily="34" charset="0"/>
            </a:endParaRPr>
          </a:p>
          <a:p>
            <a:pPr lvl="1"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2600">
                <a:latin typeface="Arial" panose="020B0604020202020204" pitchFamily="34" charset="0"/>
              </a:rPr>
              <a:t>Reciprocal Rank score =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2600">
                <a:latin typeface="Arial" panose="020B0604020202020204" pitchFamily="34" charset="0"/>
              </a:rPr>
              <a:t>MRR is the mean RR across multiple queries  </a:t>
            </a:r>
            <a:r>
              <a:rPr lang="en-US" altLang="en-US"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53251" name="Object 5">
            <a:extLst>
              <a:ext uri="{FF2B5EF4-FFF2-40B4-BE49-F238E27FC236}">
                <a16:creationId xmlns:a16="http://schemas.microsoft.com/office/drawing/2014/main" id="{AA893103-4B6D-0B4E-A63E-55C11E3B84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901950"/>
          <a:ext cx="4762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94200" imgH="9067800" progId="Equation.3">
                  <p:embed/>
                </p:oleObj>
              </mc:Choice>
              <mc:Fallback>
                <p:oleObj name="Equation" r:id="rId2" imgW="4394200" imgH="9067800" progId="Equation.3">
                  <p:embed/>
                  <p:pic>
                    <p:nvPicPr>
                      <p:cNvPr id="53251" name="Object 5">
                        <a:extLst>
                          <a:ext uri="{FF2B5EF4-FFF2-40B4-BE49-F238E27FC236}">
                            <a16:creationId xmlns:a16="http://schemas.microsoft.com/office/drawing/2014/main" id="{AA893103-4B6D-0B4E-A63E-55C11E3B84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901950"/>
                        <a:ext cx="47625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454A-B074-C7DF-293F-F63D5006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Accessing Relevance: Cohen’s Kappa Statistic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7FFA-CA91-656C-9D0D-D6B76119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k = (p</a:t>
            </a:r>
            <a:r>
              <a:rPr lang="pl-PL" b="1" i="0" baseline="-25000" dirty="0">
                <a:solidFill>
                  <a:srgbClr val="000000"/>
                </a:solidFill>
                <a:effectLst/>
                <a:latin typeface="inherit"/>
              </a:rPr>
              <a:t>o</a:t>
            </a:r>
            <a:r>
              <a:rPr lang="pl-PL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– p</a:t>
            </a:r>
            <a:r>
              <a:rPr lang="pl-PL" b="1" i="0" baseline="-25000" dirty="0">
                <a:solidFill>
                  <a:srgbClr val="000000"/>
                </a:solidFill>
                <a:effectLst/>
                <a:latin typeface="inherit"/>
              </a:rPr>
              <a:t>e</a:t>
            </a:r>
            <a:r>
              <a:rPr lang="pl-PL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 / (1 – p</a:t>
            </a:r>
            <a:r>
              <a:rPr lang="pl-PL" b="1" i="0" baseline="-25000" dirty="0">
                <a:solidFill>
                  <a:srgbClr val="000000"/>
                </a:solidFill>
                <a:effectLst/>
                <a:latin typeface="inherit"/>
              </a:rPr>
              <a:t>e</a:t>
            </a:r>
            <a:r>
              <a:rPr lang="pl-PL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</a:t>
            </a:r>
            <a:endParaRPr lang="en-IN" b="1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p</a:t>
            </a:r>
            <a:r>
              <a:rPr lang="en-US" b="1" i="0" baseline="-25000" dirty="0">
                <a:solidFill>
                  <a:srgbClr val="000000"/>
                </a:solidFill>
                <a:effectLst/>
                <a:latin typeface="inherit"/>
              </a:rPr>
              <a:t>o</a:t>
            </a:r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Relative observed agreement among raters</a:t>
            </a:r>
            <a:endParaRPr lang="en-US" b="0" i="0" dirty="0">
              <a:solidFill>
                <a:srgbClr val="3D3D3D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p</a:t>
            </a:r>
            <a:r>
              <a:rPr lang="en-US" b="1" i="0" baseline="-25000" dirty="0">
                <a:solidFill>
                  <a:srgbClr val="000000"/>
                </a:solidFill>
                <a:effectLst/>
                <a:latin typeface="inherit"/>
              </a:rPr>
              <a:t>e</a:t>
            </a:r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Hypothetical probability of chance agreement</a:t>
            </a:r>
            <a:endParaRPr lang="en-US" b="0" i="0" dirty="0">
              <a:solidFill>
                <a:srgbClr val="3D3D3D"/>
              </a:solidFill>
              <a:effectLst/>
              <a:latin typeface="inherit"/>
            </a:endParaRPr>
          </a:p>
          <a:p>
            <a:endParaRPr lang="en-IN" dirty="0"/>
          </a:p>
        </p:txBody>
      </p:sp>
      <p:pic>
        <p:nvPicPr>
          <p:cNvPr id="7" name="Picture 2" descr="Cohen's Kappa">
            <a:extLst>
              <a:ext uri="{FF2B5EF4-FFF2-40B4-BE49-F238E27FC236}">
                <a16:creationId xmlns:a16="http://schemas.microsoft.com/office/drawing/2014/main" id="{23E92B95-D08C-6151-4193-0EF9B82B0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101" y="3362424"/>
            <a:ext cx="3863309" cy="294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005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0209-B31C-4D2C-9761-E4E9CFB8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Calculate relative agreement (p</a:t>
            </a:r>
            <a:r>
              <a:rPr lang="en-US" i="0" baseline="-25000" dirty="0">
                <a:solidFill>
                  <a:srgbClr val="000000"/>
                </a:solidFill>
                <a:effectLst/>
                <a:latin typeface="inherit"/>
              </a:rPr>
              <a:t>o</a:t>
            </a:r>
            <a:r>
              <a:rPr lang="en-US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 between raters.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E8653-E4FB-82BC-F03E-5B48C3FBE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p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inherit"/>
              </a:rPr>
              <a:t>o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= (Both said Yes + Both said No) / (Total Ratings)</a:t>
            </a:r>
            <a:endParaRPr lang="en-US" b="0" i="0" dirty="0">
              <a:solidFill>
                <a:srgbClr val="3D3D3D"/>
              </a:solidFill>
              <a:effectLst/>
              <a:latin typeface="inherit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2050" name="Picture 2" descr="Example of calculating Cohen's Kappa">
            <a:extLst>
              <a:ext uri="{FF2B5EF4-FFF2-40B4-BE49-F238E27FC236}">
                <a16:creationId xmlns:a16="http://schemas.microsoft.com/office/drawing/2014/main" id="{BD3701D3-6A20-2A24-AC17-B7475C880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459" y="3026806"/>
            <a:ext cx="3932341" cy="153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640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C8A8-166F-8863-EEE4-F1FABBC3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Calculate the hypothetical probability of chance agreement (p</a:t>
            </a:r>
            <a:r>
              <a:rPr lang="en-US" sz="3600" i="0" baseline="-25000" dirty="0">
                <a:solidFill>
                  <a:srgbClr val="000000"/>
                </a:solidFill>
                <a:effectLst/>
                <a:latin typeface="inherit"/>
              </a:rPr>
              <a:t>e</a:t>
            </a:r>
            <a:r>
              <a:rPr lang="en-US" sz="360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 between raters.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DC93E-01AA-14D3-E678-DE1BF7D0E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P(Yes)=(total number of times that Rater 1 said “Yes”)/ (the total number of responses)*(total number of times that Rater 2 said “Yes”/(the total number of responses)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P(No)=(total number of times that Rater 1 said “No”)/ (the total number of responses) *(the total number of times that Rater 2 said “No.”)/ (the total number of responses)</a:t>
            </a:r>
          </a:p>
          <a:p>
            <a:r>
              <a:rPr lang="en-US" sz="2000" dirty="0">
                <a:solidFill>
                  <a:srgbClr val="000000"/>
                </a:solidFill>
                <a:latin typeface="Helvetica" panose="020B0604020202020204" pitchFamily="34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</a:rPr>
              <a:t>e</a:t>
            </a:r>
            <a:r>
              <a:rPr lang="en-US" sz="2000" dirty="0">
                <a:solidFill>
                  <a:srgbClr val="000000"/>
                </a:solidFill>
                <a:latin typeface="Helvetica" panose="020B0604020202020204" pitchFamily="34" charset="0"/>
              </a:rPr>
              <a:t>=P(“Yes”)+P(“No”)</a:t>
            </a:r>
          </a:p>
          <a:p>
            <a:endParaRPr lang="en-US" sz="2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4" name="Picture 2" descr="Example of calculating Cohen's Kappa">
            <a:extLst>
              <a:ext uri="{FF2B5EF4-FFF2-40B4-BE49-F238E27FC236}">
                <a16:creationId xmlns:a16="http://schemas.microsoft.com/office/drawing/2014/main" id="{47055CD7-71E4-4144-F8B0-6EF575CC0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983" y="3428999"/>
            <a:ext cx="5014817" cy="1958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1042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66BA-C6DF-26C6-9A05-27C8AA48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Calculate Cohen’s Kappa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99687-FED9-B5EA-F34C-112548AA8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k = (p</a:t>
            </a:r>
            <a:r>
              <a:rPr lang="pl-PL" b="0" i="0" baseline="-25000" dirty="0">
                <a:solidFill>
                  <a:srgbClr val="000000"/>
                </a:solidFill>
                <a:effectLst/>
                <a:latin typeface="inherit"/>
              </a:rPr>
              <a:t>o</a:t>
            </a:r>
            <a:r>
              <a:rPr lang="pl-PL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– p</a:t>
            </a:r>
            <a:r>
              <a:rPr lang="pl-PL" b="0" i="0" baseline="-25000" dirty="0">
                <a:solidFill>
                  <a:srgbClr val="000000"/>
                </a:solidFill>
                <a:effectLst/>
                <a:latin typeface="inherit"/>
              </a:rPr>
              <a:t>e</a:t>
            </a:r>
            <a:r>
              <a:rPr lang="pl-PL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 / (1 – p</a:t>
            </a:r>
            <a:r>
              <a:rPr lang="pl-PL" b="0" i="0" baseline="-25000" dirty="0">
                <a:solidFill>
                  <a:srgbClr val="000000"/>
                </a:solidFill>
                <a:effectLst/>
                <a:latin typeface="inherit"/>
              </a:rPr>
              <a:t>e</a:t>
            </a:r>
            <a:r>
              <a:rPr lang="pl-PL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</a:t>
            </a:r>
            <a:endParaRPr lang="pl-PL" b="0" i="0" dirty="0">
              <a:solidFill>
                <a:srgbClr val="3D3D3D"/>
              </a:solidFill>
              <a:effectLst/>
              <a:latin typeface="inheri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5540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4">
            <a:extLst>
              <a:ext uri="{FF2B5EF4-FFF2-40B4-BE49-F238E27FC236}">
                <a16:creationId xmlns:a16="http://schemas.microsoft.com/office/drawing/2014/main" id="{7E4D3038-2D1E-E941-AA48-90D1A1D1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Human judgments are</a:t>
            </a:r>
          </a:p>
        </p:txBody>
      </p:sp>
      <p:sp>
        <p:nvSpPr>
          <p:cNvPr id="54274" name="Content Placeholder 5">
            <a:extLst>
              <a:ext uri="{FF2B5EF4-FFF2-40B4-BE49-F238E27FC236}">
                <a16:creationId xmlns:a16="http://schemas.microsoft.com/office/drawing/2014/main" id="{2D87F43D-8EFF-4E4C-9404-D6254C690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Expensive</a:t>
            </a:r>
          </a:p>
          <a:p>
            <a:r>
              <a:rPr lang="en-US" altLang="en-US" dirty="0"/>
              <a:t>Inconsistent</a:t>
            </a:r>
          </a:p>
          <a:p>
            <a:pPr lvl="1"/>
            <a:r>
              <a:rPr lang="en-US" altLang="en-US" dirty="0"/>
              <a:t>Between raters</a:t>
            </a:r>
          </a:p>
          <a:p>
            <a:pPr lvl="1"/>
            <a:r>
              <a:rPr lang="en-US" altLang="en-US" dirty="0"/>
              <a:t>Over time</a:t>
            </a:r>
          </a:p>
          <a:p>
            <a:r>
              <a:rPr lang="en-US" altLang="en-US" dirty="0"/>
              <a:t>Decay in value as documents/query mix evolves</a:t>
            </a:r>
          </a:p>
          <a:p>
            <a:r>
              <a:rPr lang="en-US" altLang="en-US" dirty="0"/>
              <a:t>Not always representative of “real users”</a:t>
            </a:r>
          </a:p>
          <a:p>
            <a:pPr lvl="1"/>
            <a:r>
              <a:rPr lang="en-US" altLang="en-US" dirty="0"/>
              <a:t>Rating vis-à-vis query, don’t know underlying need</a:t>
            </a:r>
          </a:p>
          <a:p>
            <a:pPr lvl="1"/>
            <a:r>
              <a:rPr lang="en-US" altLang="en-US" dirty="0"/>
              <a:t>May not understand meaning of terms, etc.</a:t>
            </a:r>
          </a:p>
          <a:p>
            <a:r>
              <a:rPr lang="en-US" altLang="en-US" dirty="0"/>
              <a:t>So – what alternatives do we have?</a:t>
            </a: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F2E77240-81EC-7348-B4C2-308C005C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E07350A1-5E8A-BA42-99F7-9F91A0748B98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41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C9BE3E-AEB5-254D-AC32-7B2AC148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pitchFamily="-65" charset="-128"/>
                <a:cs typeface="ＭＳ Ｐゴシック" pitchFamily="-65" charset="-128"/>
              </a:rPr>
              <a:t>Using user Clicks</a:t>
            </a:r>
          </a:p>
        </p:txBody>
      </p:sp>
      <p:sp>
        <p:nvSpPr>
          <p:cNvPr id="55298" name="Text Placeholder 5">
            <a:extLst>
              <a:ext uri="{FF2B5EF4-FFF2-40B4-BE49-F238E27FC236}">
                <a16:creationId xmlns:a16="http://schemas.microsoft.com/office/drawing/2014/main" id="{15FE816C-2ACF-294C-AE37-9C7716039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55299" name="Slide Number Placeholder 3">
            <a:extLst>
              <a:ext uri="{FF2B5EF4-FFF2-40B4-BE49-F238E27FC236}">
                <a16:creationId xmlns:a16="http://schemas.microsoft.com/office/drawing/2014/main" id="{A96BD661-B80A-274A-A34B-E16C2B3D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1910B877-E390-CF4E-9A4F-D8FA4E956E33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238" y="2670176"/>
            <a:ext cx="2647950" cy="413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User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rbel" charset="0"/>
              </a:rPr>
              <a:t>Search Results for “</a:t>
            </a:r>
            <a:r>
              <a:rPr lang="en-US" altLang="ja-JP" dirty="0">
                <a:latin typeface="Corbel" charset="0"/>
              </a:rPr>
              <a:t>CIKM” (in 2009!)</a:t>
            </a:r>
            <a:endParaRPr lang="en-US" dirty="0">
              <a:latin typeface="Corbel" charset="0"/>
            </a:endParaRPr>
          </a:p>
        </p:txBody>
      </p:sp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438400"/>
            <a:ext cx="5257800" cy="3913188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1749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66081AC-037C-714E-865F-AE7F511E0911}" type="slidenum">
              <a:rPr lang="en-US" sz="1200">
                <a:solidFill>
                  <a:srgbClr val="3F3F3F"/>
                </a:solidFill>
                <a:latin typeface="Corbel" charset="0"/>
              </a:rPr>
              <a:pPr eaLnBrk="1" hangingPunct="1"/>
              <a:t>43</a:t>
            </a:fld>
            <a:endParaRPr lang="en-US" sz="1200">
              <a:solidFill>
                <a:srgbClr val="3F3F3F"/>
              </a:solidFill>
              <a:latin typeface="Corbel" charset="0"/>
            </a:endParaRPr>
          </a:p>
        </p:txBody>
      </p:sp>
      <p:sp>
        <p:nvSpPr>
          <p:cNvPr id="31750" name="TextBox 11"/>
          <p:cNvSpPr txBox="1">
            <a:spLocks noChangeArrowheads="1"/>
          </p:cNvSpPr>
          <p:nvPr/>
        </p:nvSpPr>
        <p:spPr bwMode="auto">
          <a:xfrm>
            <a:off x="7848600" y="2405064"/>
            <a:ext cx="2362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7030A0"/>
                </a:solidFill>
                <a:latin typeface="Corbel" charset="0"/>
              </a:rPr>
              <a:t># of clicks received</a:t>
            </a:r>
          </a:p>
        </p:txBody>
      </p:sp>
      <p:sp>
        <p:nvSpPr>
          <p:cNvPr id="37" name="Oval 36"/>
          <p:cNvSpPr/>
          <p:nvPr/>
        </p:nvSpPr>
        <p:spPr>
          <a:xfrm>
            <a:off x="9817101" y="5303838"/>
            <a:ext cx="360363" cy="304800"/>
          </a:xfrm>
          <a:prstGeom prst="ellipse">
            <a:avLst/>
          </a:prstGeom>
          <a:noFill/>
          <a:ln w="25400" cmpd="sng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02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238" y="2670176"/>
            <a:ext cx="2647950" cy="413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User 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orbel" charset="0"/>
              </a:rPr>
              <a:t>Adapt ranking to user clicks?</a:t>
            </a:r>
          </a:p>
        </p:txBody>
      </p:sp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438400"/>
            <a:ext cx="5257800" cy="3913188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1749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66081AC-037C-714E-865F-AE7F511E0911}" type="slidenum">
              <a:rPr lang="en-US" sz="1200">
                <a:solidFill>
                  <a:srgbClr val="3F3F3F"/>
                </a:solidFill>
                <a:latin typeface="Corbel" charset="0"/>
              </a:rPr>
              <a:pPr eaLnBrk="1" hangingPunct="1"/>
              <a:t>44</a:t>
            </a:fld>
            <a:endParaRPr lang="en-US" sz="1200">
              <a:solidFill>
                <a:srgbClr val="3F3F3F"/>
              </a:solidFill>
              <a:latin typeface="Corbel" charset="0"/>
            </a:endParaRPr>
          </a:p>
        </p:txBody>
      </p:sp>
      <p:sp>
        <p:nvSpPr>
          <p:cNvPr id="31750" name="TextBox 11"/>
          <p:cNvSpPr txBox="1">
            <a:spLocks noChangeArrowheads="1"/>
          </p:cNvSpPr>
          <p:nvPr/>
        </p:nvSpPr>
        <p:spPr bwMode="auto">
          <a:xfrm>
            <a:off x="7848600" y="2405064"/>
            <a:ext cx="2362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7030A0"/>
                </a:solidFill>
                <a:latin typeface="Corbel" charset="0"/>
              </a:rPr>
              <a:t># of clicks received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3800" y="5105400"/>
            <a:ext cx="3886200" cy="60960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3454400" y="2601914"/>
            <a:ext cx="342900" cy="2503487"/>
          </a:xfrm>
          <a:custGeom>
            <a:avLst/>
            <a:gdLst>
              <a:gd name="connsiteX0" fmla="*/ 315157 w 341790"/>
              <a:gd name="connsiteY0" fmla="*/ 2503503 h 2503503"/>
              <a:gd name="connsiteX1" fmla="*/ 4439 w 341790"/>
              <a:gd name="connsiteY1" fmla="*/ 1171853 h 2503503"/>
              <a:gd name="connsiteX2" fmla="*/ 341790 w 341790"/>
              <a:gd name="connsiteY2" fmla="*/ 0 h 2503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790" h="2503503">
                <a:moveTo>
                  <a:pt x="315157" y="2503503"/>
                </a:moveTo>
                <a:cubicBezTo>
                  <a:pt x="157578" y="2046303"/>
                  <a:pt x="0" y="1589103"/>
                  <a:pt x="4439" y="1171853"/>
                </a:cubicBezTo>
                <a:cubicBezTo>
                  <a:pt x="8878" y="754603"/>
                  <a:pt x="175334" y="377301"/>
                  <a:pt x="341790" y="0"/>
                </a:cubicBezTo>
              </a:path>
            </a:pathLst>
          </a:custGeom>
          <a:ln w="22225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9817101" y="5303838"/>
            <a:ext cx="360363" cy="304800"/>
          </a:xfrm>
          <a:prstGeom prst="ellipse">
            <a:avLst/>
          </a:prstGeom>
          <a:noFill/>
          <a:ln w="25400" cmpd="sng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4048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238" y="2344738"/>
            <a:ext cx="2647950" cy="413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What do clicks tell us?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53000"/>
          </a:xfrm>
        </p:spPr>
        <p:txBody>
          <a:bodyPr/>
          <a:lstStyle/>
          <a:p>
            <a:pPr eaLnBrk="1" hangingPunct="1"/>
            <a:r>
              <a:rPr lang="en-US" dirty="0">
                <a:latin typeface="Corbel" charset="0"/>
              </a:rPr>
              <a:t>Tools needed for non-trivial cases</a:t>
            </a:r>
          </a:p>
        </p:txBody>
      </p:sp>
      <p:pic>
        <p:nvPicPr>
          <p:cNvPr id="3379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112962"/>
            <a:ext cx="5257800" cy="3913188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3797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8002D9E-4A04-DF41-B5DC-D029037E4598}" type="slidenum">
              <a:rPr lang="en-US" sz="1200">
                <a:solidFill>
                  <a:srgbClr val="3F3F3F"/>
                </a:solidFill>
                <a:latin typeface="Corbel" charset="0"/>
              </a:rPr>
              <a:pPr eaLnBrk="1" hangingPunct="1"/>
              <a:t>45</a:t>
            </a:fld>
            <a:endParaRPr lang="en-US" sz="1200">
              <a:solidFill>
                <a:srgbClr val="3F3F3F"/>
              </a:solidFill>
              <a:latin typeface="Corbel" charset="0"/>
            </a:endParaRPr>
          </a:p>
        </p:txBody>
      </p:sp>
      <p:sp>
        <p:nvSpPr>
          <p:cNvPr id="33798" name="TextBox 11"/>
          <p:cNvSpPr txBox="1">
            <a:spLocks noChangeArrowheads="1"/>
          </p:cNvSpPr>
          <p:nvPr/>
        </p:nvSpPr>
        <p:spPr bwMode="auto">
          <a:xfrm>
            <a:off x="7848600" y="2079626"/>
            <a:ext cx="2362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7030A0"/>
                </a:solidFill>
                <a:latin typeface="Corbel" charset="0"/>
              </a:rPr>
              <a:t># of clicks received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3800" y="4800600"/>
            <a:ext cx="3886200" cy="60960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3454400" y="2601914"/>
            <a:ext cx="342900" cy="2503487"/>
          </a:xfrm>
          <a:custGeom>
            <a:avLst/>
            <a:gdLst>
              <a:gd name="connsiteX0" fmla="*/ 315157 w 341790"/>
              <a:gd name="connsiteY0" fmla="*/ 2503503 h 2503503"/>
              <a:gd name="connsiteX1" fmla="*/ 4439 w 341790"/>
              <a:gd name="connsiteY1" fmla="*/ 1171853 h 2503503"/>
              <a:gd name="connsiteX2" fmla="*/ 341790 w 341790"/>
              <a:gd name="connsiteY2" fmla="*/ 0 h 2503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790" h="2503503">
                <a:moveTo>
                  <a:pt x="315157" y="2503503"/>
                </a:moveTo>
                <a:cubicBezTo>
                  <a:pt x="157578" y="2046303"/>
                  <a:pt x="0" y="1589103"/>
                  <a:pt x="4439" y="1171853"/>
                </a:cubicBezTo>
                <a:cubicBezTo>
                  <a:pt x="8878" y="754603"/>
                  <a:pt x="175334" y="377301"/>
                  <a:pt x="341790" y="0"/>
                </a:cubicBezTo>
              </a:path>
            </a:pathLst>
          </a:custGeom>
          <a:ln w="22225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886201"/>
            <a:ext cx="4191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8DB5F0BF-2C21-B34B-981B-60F52D66E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1" y="6172200"/>
            <a:ext cx="57508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chemeClr val="accent5"/>
                </a:solidFill>
                <a:latin typeface="+mn-lt"/>
              </a:rPr>
              <a:t>Strong position bias, so absolute click rates unreliable</a:t>
            </a:r>
          </a:p>
        </p:txBody>
      </p:sp>
    </p:spTree>
    <p:extLst>
      <p:ext uri="{BB962C8B-B14F-4D97-AF65-F5344CB8AC3E}">
        <p14:creationId xmlns:p14="http://schemas.microsoft.com/office/powerpoint/2010/main" val="1348850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0" y="1752600"/>
            <a:ext cx="3657600" cy="4191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orbel" charset="0"/>
              </a:rPr>
              <a:t>Higher positions receive more </a:t>
            </a:r>
            <a:r>
              <a:rPr lang="en-US" sz="2400" dirty="0">
                <a:solidFill>
                  <a:srgbClr val="0070C0"/>
                </a:solidFill>
                <a:latin typeface="Corbel" charset="0"/>
              </a:rPr>
              <a:t>user attention (eye fixation) </a:t>
            </a:r>
            <a:r>
              <a:rPr lang="en-US" sz="2400" dirty="0">
                <a:latin typeface="Corbel" charset="0"/>
              </a:rPr>
              <a:t>and</a:t>
            </a:r>
            <a:r>
              <a:rPr lang="en-US" sz="2400" dirty="0">
                <a:solidFill>
                  <a:srgbClr val="FF0000"/>
                </a:solidFill>
                <a:latin typeface="Corbel" charset="0"/>
              </a:rPr>
              <a:t> clicks </a:t>
            </a:r>
            <a:r>
              <a:rPr lang="en-US" sz="2400" dirty="0">
                <a:latin typeface="Corbel" charset="0"/>
              </a:rPr>
              <a:t>than lower positions.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Corbe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orbel" charset="0"/>
              </a:rPr>
              <a:t>This is true even in the extreme setting where the order of positions is </a:t>
            </a:r>
            <a:r>
              <a:rPr lang="en-US" sz="2400" dirty="0">
                <a:solidFill>
                  <a:srgbClr val="7030A0"/>
                </a:solidFill>
                <a:latin typeface="Corbel" charset="0"/>
              </a:rPr>
              <a:t>reversed</a:t>
            </a:r>
            <a:r>
              <a:rPr lang="en-US" sz="2400" dirty="0">
                <a:latin typeface="Corbel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Corbe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ja-JP" sz="2400" dirty="0">
                <a:latin typeface="Corbel" charset="0"/>
              </a:rPr>
              <a:t>“Clicks are informative but biased”.</a:t>
            </a:r>
            <a:endParaRPr lang="en-US" sz="2400" dirty="0">
              <a:latin typeface="Corbel" charset="0"/>
            </a:endParaRPr>
          </a:p>
        </p:txBody>
      </p:sp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115DAB4-5DBA-6248-8255-581A6E25BD89}" type="slidenum">
              <a:rPr lang="en-US" sz="1200">
                <a:solidFill>
                  <a:srgbClr val="3F3F3F"/>
                </a:solidFill>
                <a:latin typeface="Corbel" charset="0"/>
              </a:rPr>
              <a:pPr eaLnBrk="1" hangingPunct="1"/>
              <a:t>46</a:t>
            </a:fld>
            <a:endParaRPr lang="en-US" sz="1200" dirty="0">
              <a:solidFill>
                <a:srgbClr val="3F3F3F"/>
              </a:solidFill>
              <a:latin typeface="Corbel" charset="0"/>
            </a:endParaRPr>
          </a:p>
        </p:txBody>
      </p:sp>
      <p:sp>
        <p:nvSpPr>
          <p:cNvPr id="33" name="TextBox 12"/>
          <p:cNvSpPr txBox="1">
            <a:spLocks noChangeArrowheads="1"/>
          </p:cNvSpPr>
          <p:nvPr/>
        </p:nvSpPr>
        <p:spPr bwMode="auto">
          <a:xfrm>
            <a:off x="8229600" y="6046788"/>
            <a:ext cx="20574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200" dirty="0">
                <a:latin typeface="Corbel" charset="0"/>
              </a:rPr>
              <a:t>[Joachims+07]</a:t>
            </a:r>
          </a:p>
        </p:txBody>
      </p:sp>
      <p:sp>
        <p:nvSpPr>
          <p:cNvPr id="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Click Position-bias</a:t>
            </a:r>
          </a:p>
        </p:txBody>
      </p:sp>
      <p:grpSp>
        <p:nvGrpSpPr>
          <p:cNvPr id="2" name="Group 79"/>
          <p:cNvGrpSpPr>
            <a:grpSpLocks/>
          </p:cNvGrpSpPr>
          <p:nvPr/>
        </p:nvGrpSpPr>
        <p:grpSpPr bwMode="auto">
          <a:xfrm>
            <a:off x="2209800" y="1295401"/>
            <a:ext cx="3657600" cy="2720975"/>
            <a:chOff x="685800" y="1295401"/>
            <a:chExt cx="3657600" cy="2721707"/>
          </a:xfrm>
        </p:grpSpPr>
        <p:grpSp>
          <p:nvGrpSpPr>
            <p:cNvPr id="44063" name="Group 77"/>
            <p:cNvGrpSpPr>
              <a:grpSpLocks/>
            </p:cNvGrpSpPr>
            <p:nvPr/>
          </p:nvGrpSpPr>
          <p:grpSpPr bwMode="auto">
            <a:xfrm>
              <a:off x="685800" y="1752600"/>
              <a:ext cx="3657600" cy="2264508"/>
              <a:chOff x="685800" y="1752600"/>
              <a:chExt cx="3657600" cy="2264508"/>
            </a:xfrm>
          </p:grpSpPr>
          <p:pic>
            <p:nvPicPr>
              <p:cNvPr id="44065" name="Picture 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5601" y="1871785"/>
                <a:ext cx="3261727" cy="18188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066" name="TextBox 11"/>
              <p:cNvSpPr txBox="1">
                <a:spLocks noChangeArrowheads="1"/>
              </p:cNvSpPr>
              <p:nvPr/>
            </p:nvSpPr>
            <p:spPr bwMode="auto">
              <a:xfrm>
                <a:off x="1754945" y="3659554"/>
                <a:ext cx="1913206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500" b="1">
                    <a:latin typeface="Calibri" charset="0"/>
                  </a:rPr>
                  <a:t>Normal Position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685800" y="1752724"/>
                <a:ext cx="3657600" cy="226438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44068" name="Group 85"/>
              <p:cNvGrpSpPr>
                <a:grpSpLocks/>
              </p:cNvGrpSpPr>
              <p:nvPr/>
            </p:nvGrpSpPr>
            <p:grpSpPr bwMode="auto">
              <a:xfrm>
                <a:off x="1417320" y="2765669"/>
                <a:ext cx="2644726" cy="655515"/>
                <a:chOff x="1143000" y="1752600"/>
                <a:chExt cx="3581400" cy="838200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 rot="16200000" flipH="1">
                  <a:off x="1029113" y="1867112"/>
                  <a:ext cx="609139" cy="380503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1523934" y="2361934"/>
                  <a:ext cx="380505" cy="77158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1904438" y="2439091"/>
                  <a:ext cx="382654" cy="75128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3505994" y="2591377"/>
                  <a:ext cx="380505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 flipV="1">
                  <a:off x="2742837" y="2524371"/>
                  <a:ext cx="382654" cy="10153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3125491" y="2514219"/>
                  <a:ext cx="380503" cy="77158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2287092" y="2514219"/>
                  <a:ext cx="455745" cy="20305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3886498" y="2591377"/>
                  <a:ext cx="38050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>
                  <a:off x="4267002" y="2591377"/>
                  <a:ext cx="457895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069" name="Group 52"/>
              <p:cNvGrpSpPr>
                <a:grpSpLocks/>
              </p:cNvGrpSpPr>
              <p:nvPr/>
            </p:nvGrpSpPr>
            <p:grpSpPr bwMode="auto">
              <a:xfrm>
                <a:off x="1271016" y="2194560"/>
                <a:ext cx="2624328" cy="987552"/>
                <a:chOff x="1271016" y="2194560"/>
                <a:chExt cx="2624328" cy="987552"/>
              </a:xfrm>
            </p:grpSpPr>
            <p:cxnSp>
              <p:nvCxnSpPr>
                <p:cNvPr id="35" name="Straight Connector 34"/>
                <p:cNvCxnSpPr/>
                <p:nvPr/>
              </p:nvCxnSpPr>
              <p:spPr bwMode="auto">
                <a:xfrm>
                  <a:off x="1271588" y="2194168"/>
                  <a:ext cx="274637" cy="155617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auto">
                <a:xfrm>
                  <a:off x="1546225" y="2349785"/>
                  <a:ext cx="304800" cy="192140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 bwMode="auto">
                <a:xfrm>
                  <a:off x="1847850" y="2541925"/>
                  <a:ext cx="292100" cy="265183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 bwMode="auto">
                <a:xfrm>
                  <a:off x="2139950" y="2807108"/>
                  <a:ext cx="292100" cy="82572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 bwMode="auto">
                <a:xfrm>
                  <a:off x="2432050" y="2889680"/>
                  <a:ext cx="293688" cy="146089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auto">
                <a:xfrm>
                  <a:off x="2725738" y="3035770"/>
                  <a:ext cx="292100" cy="119095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auto">
                <a:xfrm>
                  <a:off x="3017838" y="3154865"/>
                  <a:ext cx="292100" cy="26994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auto">
                <a:xfrm flipV="1">
                  <a:off x="3309938" y="3135810"/>
                  <a:ext cx="293687" cy="46049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 bwMode="auto">
                <a:xfrm>
                  <a:off x="3603625" y="3135810"/>
                  <a:ext cx="292100" cy="36522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4064" name="TextBox 75"/>
            <p:cNvSpPr txBox="1">
              <a:spLocks noChangeArrowheads="1"/>
            </p:cNvSpPr>
            <p:nvPr/>
          </p:nvSpPr>
          <p:spPr bwMode="auto">
            <a:xfrm rot="-5400000">
              <a:off x="-109220" y="2090421"/>
              <a:ext cx="1913206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500" b="1">
                  <a:latin typeface="Calibri" charset="0"/>
                </a:rPr>
                <a:t>Percentage</a:t>
              </a:r>
            </a:p>
          </p:txBody>
        </p:sp>
      </p:grpSp>
      <p:grpSp>
        <p:nvGrpSpPr>
          <p:cNvPr id="8" name="Group 80"/>
          <p:cNvGrpSpPr>
            <a:grpSpLocks/>
          </p:cNvGrpSpPr>
          <p:nvPr/>
        </p:nvGrpSpPr>
        <p:grpSpPr bwMode="auto">
          <a:xfrm>
            <a:off x="2209800" y="3657600"/>
            <a:ext cx="3657600" cy="2743200"/>
            <a:chOff x="685800" y="3657601"/>
            <a:chExt cx="3657600" cy="2743199"/>
          </a:xfrm>
        </p:grpSpPr>
        <p:grpSp>
          <p:nvGrpSpPr>
            <p:cNvPr id="44039" name="Group 78"/>
            <p:cNvGrpSpPr>
              <a:grpSpLocks/>
            </p:cNvGrpSpPr>
            <p:nvPr/>
          </p:nvGrpSpPr>
          <p:grpSpPr bwMode="auto">
            <a:xfrm>
              <a:off x="685800" y="4136292"/>
              <a:ext cx="3657600" cy="2264508"/>
              <a:chOff x="685800" y="4136292"/>
              <a:chExt cx="3657600" cy="2264508"/>
            </a:xfrm>
          </p:grpSpPr>
          <p:pic>
            <p:nvPicPr>
              <p:cNvPr id="44041" name="Picture 2"/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8799" y="4195885"/>
                <a:ext cx="3264408" cy="1819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042" name="TextBox 12"/>
              <p:cNvSpPr txBox="1">
                <a:spLocks noChangeArrowheads="1"/>
              </p:cNvSpPr>
              <p:nvPr/>
            </p:nvSpPr>
            <p:spPr bwMode="auto">
              <a:xfrm>
                <a:off x="1642403" y="6043246"/>
                <a:ext cx="1913206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500" b="1">
                    <a:solidFill>
                      <a:srgbClr val="7030A0"/>
                    </a:solidFill>
                    <a:latin typeface="Calibri" charset="0"/>
                  </a:rPr>
                  <a:t>Reversed Impression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685800" y="4137026"/>
                <a:ext cx="3657600" cy="226377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44044" name="Group 86"/>
              <p:cNvGrpSpPr>
                <a:grpSpLocks/>
              </p:cNvGrpSpPr>
              <p:nvPr/>
            </p:nvGrpSpPr>
            <p:grpSpPr bwMode="auto">
              <a:xfrm>
                <a:off x="1417320" y="5506915"/>
                <a:ext cx="2644726" cy="238369"/>
                <a:chOff x="1143000" y="5257800"/>
                <a:chExt cx="3581400" cy="304800"/>
              </a:xfrm>
            </p:grpSpPr>
            <p:cxnSp>
              <p:nvCxnSpPr>
                <p:cNvPr id="63" name="Straight Connector 62"/>
                <p:cNvCxnSpPr/>
                <p:nvPr/>
              </p:nvCxnSpPr>
              <p:spPr>
                <a:xfrm flipV="1">
                  <a:off x="1143431" y="5268106"/>
                  <a:ext cx="380503" cy="66988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1523934" y="5257957"/>
                  <a:ext cx="380505" cy="152243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1904438" y="5410201"/>
                  <a:ext cx="457894" cy="77137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 flipV="1">
                  <a:off x="3505994" y="5487338"/>
                  <a:ext cx="380505" cy="75108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>
                  <a:off x="2742837" y="5487338"/>
                  <a:ext cx="382654" cy="812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/>
              </p:nvCxnSpPr>
              <p:spPr>
                <a:xfrm>
                  <a:off x="3125491" y="5487338"/>
                  <a:ext cx="380503" cy="75108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>
                  <a:off x="2362332" y="5487338"/>
                  <a:ext cx="380505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>
                  <a:off x="3886498" y="5487338"/>
                  <a:ext cx="380503" cy="54808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/>
                <p:cNvCxnSpPr/>
                <p:nvPr/>
              </p:nvCxnSpPr>
              <p:spPr>
                <a:xfrm flipV="1">
                  <a:off x="4267002" y="5487338"/>
                  <a:ext cx="457895" cy="54808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Straight Connector 53"/>
              <p:cNvCxnSpPr/>
              <p:nvPr/>
            </p:nvCxnSpPr>
            <p:spPr bwMode="auto">
              <a:xfrm>
                <a:off x="1262063" y="4568826"/>
                <a:ext cx="274637" cy="111125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auto">
              <a:xfrm>
                <a:off x="1536700" y="4681539"/>
                <a:ext cx="304800" cy="220662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1838325" y="4902201"/>
                <a:ext cx="292100" cy="80963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 bwMode="auto">
              <a:xfrm>
                <a:off x="2130425" y="4983164"/>
                <a:ext cx="292100" cy="82550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2422525" y="5065714"/>
                <a:ext cx="293688" cy="220662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auto">
              <a:xfrm>
                <a:off x="2716213" y="5286375"/>
                <a:ext cx="292100" cy="36513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auto">
              <a:xfrm>
                <a:off x="3008313" y="5322888"/>
                <a:ext cx="292100" cy="63500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3300413" y="5359400"/>
                <a:ext cx="293687" cy="36513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>
                <a:off x="3602038" y="5359400"/>
                <a:ext cx="293687" cy="44450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040" name="TextBox 76"/>
            <p:cNvSpPr txBox="1">
              <a:spLocks noChangeArrowheads="1"/>
            </p:cNvSpPr>
            <p:nvPr/>
          </p:nvSpPr>
          <p:spPr bwMode="auto">
            <a:xfrm rot="-5400000">
              <a:off x="-105117" y="4448519"/>
              <a:ext cx="190500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500" b="1">
                  <a:latin typeface="Calibri" charset="0"/>
                </a:rPr>
                <a:t>Percentage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69675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1B1ED4E5-6B64-BA42-B643-1965DEA5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Relative vs absolute ratings</a:t>
            </a:r>
          </a:p>
        </p:txBody>
      </p:sp>
      <p:sp>
        <p:nvSpPr>
          <p:cNvPr id="58370" name="Slide Number Placeholder 3">
            <a:extLst>
              <a:ext uri="{FF2B5EF4-FFF2-40B4-BE49-F238E27FC236}">
                <a16:creationId xmlns:a16="http://schemas.microsoft.com/office/drawing/2014/main" id="{19125E0B-D12D-1441-9C23-CF03A643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F0AF3F8A-8004-5F4F-BE0B-970FD610F85C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47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58371" name="Picture 3">
            <a:extLst>
              <a:ext uri="{FF2B5EF4-FFF2-40B4-BE49-F238E27FC236}">
                <a16:creationId xmlns:a16="http://schemas.microsoft.com/office/drawing/2014/main" id="{1E3326DB-36B1-1546-B37A-E3E6C01E7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33539"/>
            <a:ext cx="5257800" cy="3913187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reeform 14">
            <a:extLst>
              <a:ext uri="{FF2B5EF4-FFF2-40B4-BE49-F238E27FC236}">
                <a16:creationId xmlns:a16="http://schemas.microsoft.com/office/drawing/2014/main" id="{2D9E9292-7CB9-174B-AD23-5A51E0F3FA34}"/>
              </a:ext>
            </a:extLst>
          </p:cNvPr>
          <p:cNvSpPr>
            <a:spLocks/>
          </p:cNvSpPr>
          <p:nvPr/>
        </p:nvSpPr>
        <p:spPr bwMode="auto">
          <a:xfrm>
            <a:off x="6781801" y="2133600"/>
            <a:ext cx="1323975" cy="1270000"/>
          </a:xfrm>
          <a:custGeom>
            <a:avLst/>
            <a:gdLst>
              <a:gd name="T0" fmla="*/ 344241 w 1323466"/>
              <a:gd name="T1" fmla="*/ 0 h 1270057"/>
              <a:gd name="T2" fmla="*/ 1321644 w 1323466"/>
              <a:gd name="T3" fmla="*/ 337380 h 1270057"/>
              <a:gd name="T4" fmla="*/ 0 w 1323466"/>
              <a:gd name="T5" fmla="*/ 1269772 h 127005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23466" h="1270057">
                <a:moveTo>
                  <a:pt x="343581" y="0"/>
                </a:moveTo>
                <a:cubicBezTo>
                  <a:pt x="859974" y="62889"/>
                  <a:pt x="1376368" y="125779"/>
                  <a:pt x="1319105" y="337455"/>
                </a:cubicBezTo>
                <a:cubicBezTo>
                  <a:pt x="1261842" y="549131"/>
                  <a:pt x="0" y="1270057"/>
                  <a:pt x="0" y="1270057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36984CB2-F2BC-134C-B45F-14A66492AA18}"/>
              </a:ext>
            </a:extLst>
          </p:cNvPr>
          <p:cNvSpPr>
            <a:spLocks/>
          </p:cNvSpPr>
          <p:nvPr/>
        </p:nvSpPr>
        <p:spPr bwMode="auto">
          <a:xfrm>
            <a:off x="6705600" y="3505200"/>
            <a:ext cx="1219200" cy="1524000"/>
          </a:xfrm>
          <a:custGeom>
            <a:avLst/>
            <a:gdLst>
              <a:gd name="T0" fmla="*/ 227951 w 1323466"/>
              <a:gd name="T1" fmla="*/ 0 h 1270057"/>
              <a:gd name="T2" fmla="*/ 875166 w 1323466"/>
              <a:gd name="T3" fmla="*/ 839508 h 1270057"/>
              <a:gd name="T4" fmla="*/ 0 w 1323466"/>
              <a:gd name="T5" fmla="*/ 3159599 h 127005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23466" h="1270057">
                <a:moveTo>
                  <a:pt x="343581" y="0"/>
                </a:moveTo>
                <a:cubicBezTo>
                  <a:pt x="859974" y="62889"/>
                  <a:pt x="1376368" y="125779"/>
                  <a:pt x="1319105" y="337455"/>
                </a:cubicBezTo>
                <a:cubicBezTo>
                  <a:pt x="1261842" y="549131"/>
                  <a:pt x="0" y="1270057"/>
                  <a:pt x="0" y="1270057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58374" name="TextBox 17">
            <a:extLst>
              <a:ext uri="{FF2B5EF4-FFF2-40B4-BE49-F238E27FC236}">
                <a16:creationId xmlns:a16="http://schemas.microsoft.com/office/drawing/2014/main" id="{0A5DB367-9135-594C-AEF2-2E69C470B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1" y="5943601"/>
            <a:ext cx="6340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Hard to conclude </a:t>
            </a:r>
            <a:r>
              <a:rPr lang="en-US" altLang="en-US" u="sng"/>
              <a:t>Result1 &gt; Result3</a:t>
            </a:r>
          </a:p>
          <a:p>
            <a:pPr eaLnBrk="1" hangingPunct="1"/>
            <a:r>
              <a:rPr lang="en-US" altLang="en-US"/>
              <a:t>Probably can conclude </a:t>
            </a:r>
            <a:r>
              <a:rPr lang="en-US" altLang="en-US" u="sng"/>
              <a:t>Result3 &gt; Result2</a:t>
            </a:r>
          </a:p>
        </p:txBody>
      </p:sp>
      <p:sp>
        <p:nvSpPr>
          <p:cNvPr id="58375" name="TextBox 1">
            <a:extLst>
              <a:ext uri="{FF2B5EF4-FFF2-40B4-BE49-F238E27FC236}">
                <a16:creationId xmlns:a16="http://schemas.microsoft.com/office/drawing/2014/main" id="{E54C5555-F474-7249-90E6-39397E167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1" y="2514601"/>
            <a:ext cx="18907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User’s click</a:t>
            </a:r>
          </a:p>
          <a:p>
            <a:pPr eaLnBrk="1" hangingPunct="1"/>
            <a:r>
              <a:rPr lang="en-US" altLang="en-US"/>
              <a:t>sequence</a:t>
            </a:r>
          </a:p>
        </p:txBody>
      </p:sp>
    </p:spTree>
    <p:extLst>
      <p:ext uri="{BB962C8B-B14F-4D97-AF65-F5344CB8AC3E}">
        <p14:creationId xmlns:p14="http://schemas.microsoft.com/office/powerpoint/2010/main" val="1755269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9D6B9F3C-E0B1-C34D-8D5B-02236EB6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Evaluating pairwise relative ratings</a:t>
            </a:r>
          </a:p>
        </p:txBody>
      </p:sp>
      <p:sp>
        <p:nvSpPr>
          <p:cNvPr id="59394" name="Content Placeholder 2">
            <a:extLst>
              <a:ext uri="{FF2B5EF4-FFF2-40B4-BE49-F238E27FC236}">
                <a16:creationId xmlns:a16="http://schemas.microsoft.com/office/drawing/2014/main" id="{E1A31E14-6ABE-B94C-A9F1-6FA8BF0E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Pairs of the form: </a:t>
            </a:r>
            <a:r>
              <a:rPr lang="en-US" altLang="en-US" dirty="0" err="1"/>
              <a:t>DocA</a:t>
            </a:r>
            <a:r>
              <a:rPr lang="en-US" altLang="en-US" dirty="0"/>
              <a:t> </a:t>
            </a:r>
            <a:r>
              <a:rPr lang="en-US" altLang="en-US" u="sng" dirty="0"/>
              <a:t>better than</a:t>
            </a:r>
            <a:r>
              <a:rPr lang="en-US" altLang="en-US" dirty="0"/>
              <a:t> </a:t>
            </a:r>
            <a:r>
              <a:rPr lang="en-US" altLang="en-US" dirty="0" err="1"/>
              <a:t>DocB</a:t>
            </a:r>
            <a:r>
              <a:rPr lang="en-US" altLang="en-US" dirty="0"/>
              <a:t> for a query</a:t>
            </a:r>
          </a:p>
          <a:p>
            <a:pPr lvl="1"/>
            <a:r>
              <a:rPr lang="en-US" altLang="en-US" dirty="0"/>
              <a:t>Doesn’t mean that </a:t>
            </a:r>
            <a:r>
              <a:rPr lang="en-US" altLang="en-US" dirty="0" err="1"/>
              <a:t>DocA</a:t>
            </a:r>
            <a:r>
              <a:rPr lang="en-US" altLang="en-US" dirty="0"/>
              <a:t> </a:t>
            </a:r>
            <a:r>
              <a:rPr lang="en-US" altLang="en-US" u="sng" dirty="0"/>
              <a:t>relevant</a:t>
            </a:r>
            <a:r>
              <a:rPr lang="en-US" altLang="en-US" dirty="0"/>
              <a:t> to query</a:t>
            </a:r>
          </a:p>
          <a:p>
            <a:r>
              <a:rPr lang="en-US" altLang="en-US" dirty="0"/>
              <a:t>Now, rather than assess a rank-ordering </a:t>
            </a:r>
            <a:r>
              <a:rPr lang="en-US" altLang="en-US" dirty="0" err="1"/>
              <a:t>wrt</a:t>
            </a:r>
            <a:r>
              <a:rPr lang="en-US" altLang="en-US" dirty="0"/>
              <a:t> per-doc relevance assessments …</a:t>
            </a:r>
          </a:p>
          <a:p>
            <a:r>
              <a:rPr lang="en-US" altLang="en-US" dirty="0"/>
              <a:t>Assess in terms of conformance with historical pairwise preferences recorded from user clicks</a:t>
            </a:r>
          </a:p>
          <a:p>
            <a:r>
              <a:rPr lang="en-US" altLang="en-US" dirty="0"/>
              <a:t>BUT!</a:t>
            </a:r>
          </a:p>
          <a:p>
            <a:r>
              <a:rPr lang="en-US" altLang="en-US" dirty="0"/>
              <a:t>Don’t learn and test on the same ranking algorithm</a:t>
            </a:r>
          </a:p>
          <a:p>
            <a:pPr lvl="1"/>
            <a:r>
              <a:rPr lang="en-US" altLang="en-US" dirty="0"/>
              <a:t>I.e., if you learn historical clicks from </a:t>
            </a:r>
            <a:r>
              <a:rPr lang="en-US" altLang="en-US" dirty="0" err="1"/>
              <a:t>nozama</a:t>
            </a:r>
            <a:r>
              <a:rPr lang="en-US" altLang="en-US" dirty="0"/>
              <a:t> and compare Sergey vs </a:t>
            </a:r>
            <a:r>
              <a:rPr lang="en-US" altLang="en-US" dirty="0" err="1"/>
              <a:t>nozama</a:t>
            </a:r>
            <a:r>
              <a:rPr lang="en-US" altLang="en-US" dirty="0"/>
              <a:t> on this history …</a:t>
            </a:r>
          </a:p>
        </p:txBody>
      </p:sp>
      <p:sp>
        <p:nvSpPr>
          <p:cNvPr id="59395" name="Slide Number Placeholder 3">
            <a:extLst>
              <a:ext uri="{FF2B5EF4-FFF2-40B4-BE49-F238E27FC236}">
                <a16:creationId xmlns:a16="http://schemas.microsoft.com/office/drawing/2014/main" id="{D20986AE-1110-4C44-B7E7-C7D1DC6F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ABCD5B09-719D-7846-B949-CE3D6E8ED6A9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48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DEAF861A-A235-3F4A-A4BF-DD8136DC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Comparing two rankings via clicks</a:t>
            </a:r>
            <a:br>
              <a:rPr lang="en-US" altLang="en-US"/>
            </a:br>
            <a:r>
              <a:rPr lang="en-US" altLang="en-US"/>
              <a:t>(Joachims 2002)</a:t>
            </a:r>
          </a:p>
        </p:txBody>
      </p:sp>
      <p:sp>
        <p:nvSpPr>
          <p:cNvPr id="60418" name="Slide Number Placeholder 3">
            <a:extLst>
              <a:ext uri="{FF2B5EF4-FFF2-40B4-BE49-F238E27FC236}">
                <a16:creationId xmlns:a16="http://schemas.microsoft.com/office/drawing/2014/main" id="{D26C30EC-5ACD-6B40-80FF-453E210B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EC617659-1460-CF48-8262-A9F69E196532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49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0FCD0F-8A34-E344-BD9E-3A8B58CA7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8956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Kernel machines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C5C26F-6456-E34E-9F6A-CBE98D348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4290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SVM-light	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6D6DD7-5134-4F40-A0CC-D3D65C3E4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9624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Lucent SVM demo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8521A9-9258-8441-9952-F2D19E226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Royal </a:t>
            </a:r>
            <a:r>
              <a:rPr lang="en-US" dirty="0" err="1"/>
              <a:t>Holl</a:t>
            </a:r>
            <a:r>
              <a:rPr lang="en-US" dirty="0"/>
              <a:t>. SVM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B4BBD8-0304-DD41-815A-6386C9B5F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0292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SVM software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B32524-5DB8-0A48-8351-6A14F6C6A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5626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SVM tutorial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097AF7-8C6D-534D-B648-C7B81BD50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8956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Kernel machines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48C9E5-D7D9-6C45-803E-DEEB8F4A1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4290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SVMs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B6FD6A-B774-1741-9078-4A1537901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9624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Intro to SVMs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C91F84-1A27-A342-BF60-F5B2E5A76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4958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Archives of SVM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DA943B-FBC5-6042-BC67-327AFED6D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0292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SVM-light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E25F58-5C7C-9942-BDBE-26EF370A8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562600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SVM software</a:t>
            </a:r>
          </a:p>
        </p:txBody>
      </p:sp>
      <p:sp>
        <p:nvSpPr>
          <p:cNvPr id="60431" name="TextBox 23">
            <a:extLst>
              <a:ext uri="{FF2B5EF4-FFF2-40B4-BE49-F238E27FC236}">
                <a16:creationId xmlns:a16="http://schemas.microsoft.com/office/drawing/2014/main" id="{514FB990-ADDD-2D4B-8C80-EF462BAAF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1" y="1676401"/>
            <a:ext cx="5160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Query: [support vector machines]</a:t>
            </a:r>
          </a:p>
        </p:txBody>
      </p:sp>
      <p:sp>
        <p:nvSpPr>
          <p:cNvPr id="60432" name="TextBox 24">
            <a:extLst>
              <a:ext uri="{FF2B5EF4-FFF2-40B4-BE49-F238E27FC236}">
                <a16:creationId xmlns:a16="http://schemas.microsoft.com/office/drawing/2014/main" id="{890B640E-895B-DE42-8749-33EA499CD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1" y="2357438"/>
            <a:ext cx="1711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Ranking A</a:t>
            </a:r>
          </a:p>
        </p:txBody>
      </p:sp>
      <p:sp>
        <p:nvSpPr>
          <p:cNvPr id="60433" name="TextBox 25">
            <a:extLst>
              <a:ext uri="{FF2B5EF4-FFF2-40B4-BE49-F238E27FC236}">
                <a16:creationId xmlns:a16="http://schemas.microsoft.com/office/drawing/2014/main" id="{E58B984C-8562-EE4D-8049-86F64FA98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9276" y="2362201"/>
            <a:ext cx="1673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C0504D"/>
                </a:solidFill>
              </a:rPr>
              <a:t>Ranking B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0D1EFFC2-BFB2-444F-BDC5-3193AB4E2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Interleave the two rankings</a:t>
            </a:r>
          </a:p>
        </p:txBody>
      </p:sp>
      <p:sp>
        <p:nvSpPr>
          <p:cNvPr id="61442" name="Slide Number Placeholder 3">
            <a:extLst>
              <a:ext uri="{FF2B5EF4-FFF2-40B4-BE49-F238E27FC236}">
                <a16:creationId xmlns:a16="http://schemas.microsoft.com/office/drawing/2014/main" id="{A3412A5F-EECE-B445-8D28-6AF3DF19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CD8873FE-FA57-0D40-B76B-549966CCEE6C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50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EA7D9-817A-F841-98BD-B9B040F5C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2812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Kernel machines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884A34-51A3-5D4E-8112-9B2E666E7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3480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SVM-light	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5B668-6F6A-944E-B996-DD4BBB93A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4148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Lucent SVM demo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CD4C4-6B46-454D-B6C0-F91E46913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4816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Royal </a:t>
            </a:r>
            <a:r>
              <a:rPr lang="en-US" dirty="0" err="1"/>
              <a:t>Holl</a:t>
            </a:r>
            <a:r>
              <a:rPr lang="en-US" dirty="0"/>
              <a:t>. SVM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5796A6-2E99-EB41-A5D7-C6A2292DE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7478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Kernel machines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59B78D-AA12-F141-A95B-0F1C799E0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8146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SVMs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423269-3E5F-C548-A325-B1C76B36A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8814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Intro to SVMs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FCFCF9-54A4-E144-9576-6CE71823D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9482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Archives of SVM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D74331-E834-D34E-AA03-149985111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60150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SVM-light</a:t>
            </a:r>
          </a:p>
        </p:txBody>
      </p:sp>
      <p:sp>
        <p:nvSpPr>
          <p:cNvPr id="61452" name="TextBox 17">
            <a:extLst>
              <a:ext uri="{FF2B5EF4-FFF2-40B4-BE49-F238E27FC236}">
                <a16:creationId xmlns:a16="http://schemas.microsoft.com/office/drawing/2014/main" id="{5BF5DAF4-ACA0-9049-A257-CAD7EF372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276601"/>
            <a:ext cx="2667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This interleaving</a:t>
            </a:r>
            <a:br>
              <a:rPr lang="en-US" altLang="en-US"/>
            </a:br>
            <a:r>
              <a:rPr lang="en-US" altLang="en-US"/>
              <a:t>starts with B</a:t>
            </a:r>
          </a:p>
        </p:txBody>
      </p:sp>
      <p:sp>
        <p:nvSpPr>
          <p:cNvPr id="61453" name="TextBox 21">
            <a:extLst>
              <a:ext uri="{FF2B5EF4-FFF2-40B4-BE49-F238E27FC236}">
                <a16:creationId xmlns:a16="http://schemas.microsoft.com/office/drawing/2014/main" id="{08F11F1A-967E-1349-BBD0-3386A4E59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1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…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450440EC-3961-C940-9AC0-FEB32907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Remove duplicate results</a:t>
            </a:r>
          </a:p>
        </p:txBody>
      </p:sp>
      <p:sp>
        <p:nvSpPr>
          <p:cNvPr id="62466" name="Slide Number Placeholder 3">
            <a:extLst>
              <a:ext uri="{FF2B5EF4-FFF2-40B4-BE49-F238E27FC236}">
                <a16:creationId xmlns:a16="http://schemas.microsoft.com/office/drawing/2014/main" id="{F9FA4C38-1AFD-9D42-A576-65C00BBD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EF97ADC7-7643-814C-A0DD-502D664DA116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51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CF59A1-DA5C-DF44-B0EA-1BB82A77C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281238"/>
            <a:ext cx="2438400" cy="533400"/>
          </a:xfrm>
          <a:prstGeom prst="rect">
            <a:avLst/>
          </a:prstGeom>
          <a:solidFill>
            <a:srgbClr val="A6A6A6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/>
              <a:t>Kernel machines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27BAEE-388B-EF4E-AF8A-DE42274C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3480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SVM-light	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4A5215-1FD2-0045-9506-B62241A05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4148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Lucent SVM demo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F28A5B-7435-924B-8484-C7909B008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4816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Royal </a:t>
            </a:r>
            <a:r>
              <a:rPr lang="en-US" dirty="0" err="1"/>
              <a:t>Holl</a:t>
            </a:r>
            <a:r>
              <a:rPr lang="en-US" dirty="0"/>
              <a:t>. SVM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5D5979-C1E7-A34C-8813-B32A1D8D9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7478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Kernel machines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351270-44B7-8B46-B987-612B58E58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8146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SVMs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AA4737-0F0F-2B4A-A517-6B94B2264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8814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Intro to SVMs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1F5297-A6AA-B14F-8F8B-90B91036A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9482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Archives of SVM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FB8B01-DBC8-D742-9013-138E82ACE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6015038"/>
            <a:ext cx="2438400" cy="533400"/>
          </a:xfrm>
          <a:prstGeom prst="rect">
            <a:avLst/>
          </a:prstGeom>
          <a:solidFill>
            <a:srgbClr val="A6A6A6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SVM-light</a:t>
            </a:r>
          </a:p>
        </p:txBody>
      </p:sp>
      <p:sp>
        <p:nvSpPr>
          <p:cNvPr id="62476" name="TextBox 27">
            <a:extLst>
              <a:ext uri="{FF2B5EF4-FFF2-40B4-BE49-F238E27FC236}">
                <a16:creationId xmlns:a16="http://schemas.microsoft.com/office/drawing/2014/main" id="{8F3472E7-947C-0F40-A808-F5E6506E7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1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…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5B3D5225-6E7E-EC4F-A699-2C5A44D6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Count user clicks</a:t>
            </a:r>
          </a:p>
        </p:txBody>
      </p:sp>
      <p:sp>
        <p:nvSpPr>
          <p:cNvPr id="63490" name="Slide Number Placeholder 3">
            <a:extLst>
              <a:ext uri="{FF2B5EF4-FFF2-40B4-BE49-F238E27FC236}">
                <a16:creationId xmlns:a16="http://schemas.microsoft.com/office/drawing/2014/main" id="{DBCED404-27EC-164A-A86C-E025835A8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4C1FA6F7-19DB-E048-A48B-75AAB87ED42E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52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DBBBB6-2E17-674C-846D-0147C6594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281238"/>
            <a:ext cx="2438400" cy="533400"/>
          </a:xfrm>
          <a:prstGeom prst="rect">
            <a:avLst/>
          </a:prstGeom>
          <a:solidFill>
            <a:srgbClr val="A6A6A6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/>
              <a:t>Kernel machines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F781D1-CE9D-6449-AEB7-B61A4885C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3480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SVM-light	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0794DF-C285-264F-9E96-3B6B5BFAD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4148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Lucent SVM demo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C0B6D0-8AA6-A04C-A1A1-0E47EE55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4816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/>
              <a:t>Royal </a:t>
            </a:r>
            <a:r>
              <a:rPr lang="en-US" dirty="0" err="1"/>
              <a:t>Holl</a:t>
            </a:r>
            <a:r>
              <a:rPr lang="en-US" dirty="0"/>
              <a:t>. SVM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9347A9-E0A3-5046-B63E-161E82A81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7478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Kernel machines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C895ED-2C9E-3E49-9EFE-66C220893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8146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SVMs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7B3A32-474A-9E4B-88D1-490D7CE3D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8814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Intro to SVMs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BAAA23-BF1B-7248-BB79-D1BC0C192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948238"/>
            <a:ext cx="24384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Archives of SVM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B895FE-A302-D244-8330-52E57687C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6015038"/>
            <a:ext cx="2438400" cy="533400"/>
          </a:xfrm>
          <a:prstGeom prst="rect">
            <a:avLst/>
          </a:prstGeom>
          <a:solidFill>
            <a:srgbClr val="A6A6A6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SVM-light</a:t>
            </a:r>
          </a:p>
        </p:txBody>
      </p:sp>
      <p:sp>
        <p:nvSpPr>
          <p:cNvPr id="63500" name="TextBox 27">
            <a:extLst>
              <a:ext uri="{FF2B5EF4-FFF2-40B4-BE49-F238E27FC236}">
                <a16:creationId xmlns:a16="http://schemas.microsoft.com/office/drawing/2014/main" id="{6AC9563D-2552-784E-8C95-906784B54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1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…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8D4404-6F73-6D4E-9C14-999AB5066D9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543800" y="2057400"/>
            <a:ext cx="1600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4ED700-1121-274F-9A8B-7BDFAEDC5D9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543800" y="3581400"/>
            <a:ext cx="1600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6D39B4-5100-7843-A4B2-A9DB6306DAD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543800" y="4648200"/>
            <a:ext cx="1600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504" name="TextBox 29">
            <a:extLst>
              <a:ext uri="{FF2B5EF4-FFF2-40B4-BE49-F238E27FC236}">
                <a16:creationId xmlns:a16="http://schemas.microsoft.com/office/drawing/2014/main" id="{6228D689-0976-7E45-96CA-EF7DFED31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1" y="2667001"/>
            <a:ext cx="1069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Clicks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7C6920-B5D7-EF46-B392-7F51F7534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276601"/>
            <a:ext cx="20907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Ranking A: 3</a:t>
            </a:r>
            <a:br>
              <a:rPr lang="en-US" altLang="en-US"/>
            </a:br>
            <a:r>
              <a:rPr lang="en-US" altLang="en-US"/>
              <a:t>Ranking B: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81958-9789-5E42-ADF5-2B8376C6D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0" y="1824038"/>
            <a:ext cx="774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A, </a:t>
            </a:r>
            <a:r>
              <a:rPr lang="en-US" altLang="en-US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5D0D0F-CC86-AB42-99B3-403BD31B3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1" y="3348038"/>
            <a:ext cx="403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A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3AD990-6180-4444-8D24-6D1D991C0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1" y="4414838"/>
            <a:ext cx="403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A</a:t>
            </a:r>
            <a:endParaRPr lang="en-US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8" grpId="0"/>
      <p:bldP spid="32" grpId="0"/>
      <p:bldP spid="3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82E3F91A-B7CE-E74E-8331-513CDC61C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Interleaved ranking </a:t>
            </a:r>
          </a:p>
        </p:txBody>
      </p:sp>
      <p:sp>
        <p:nvSpPr>
          <p:cNvPr id="76802" name="Content Placeholder 2">
            <a:extLst>
              <a:ext uri="{FF2B5EF4-FFF2-40B4-BE49-F238E27FC236}">
                <a16:creationId xmlns:a16="http://schemas.microsoft.com/office/drawing/2014/main" id="{FD24BCC7-6E06-1F49-9680-DC08C63C8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Present interleaved ranking to users</a:t>
            </a:r>
          </a:p>
          <a:p>
            <a:pPr lvl="1"/>
            <a:r>
              <a:rPr lang="en-US" altLang="en-US" dirty="0"/>
              <a:t>Start randomly with ranking A or ranking B to even out presentation bias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Count clicks on results from A versus results from B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Better ranking will (on average) get more clicks</a:t>
            </a:r>
          </a:p>
          <a:p>
            <a:pPr lvl="1"/>
            <a:endParaRPr lang="en-US" altLang="en-US" dirty="0"/>
          </a:p>
        </p:txBody>
      </p:sp>
      <p:sp>
        <p:nvSpPr>
          <p:cNvPr id="76803" name="Slide Number Placeholder 3">
            <a:extLst>
              <a:ext uri="{FF2B5EF4-FFF2-40B4-BE49-F238E27FC236}">
                <a16:creationId xmlns:a16="http://schemas.microsoft.com/office/drawing/2014/main" id="{6752CB93-B0AE-F647-B889-A2F3F4A5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38685D86-B375-5541-BACE-55DD0FD83165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53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5D954327-7ADA-3542-9BCC-373F8110A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A/B testing at web search engines</a:t>
            </a:r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639F43C2-EABF-C347-BAB9-6D751E79A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Purpose: Test a single innovation</a:t>
            </a:r>
            <a:br>
              <a:rPr lang="en-US" altLang="en-US" dirty="0"/>
            </a:b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Prerequisite: You have a large search engine up and running.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Have most users use old system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Divert a small proportion of traffic (e.g., 0.1%) to an experiment to evaluate an innovation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Interleaved experiment</a:t>
            </a:r>
            <a:endParaRPr lang="en-US" altLang="en-US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Full page experiment</a:t>
            </a:r>
          </a:p>
        </p:txBody>
      </p:sp>
      <p:sp>
        <p:nvSpPr>
          <p:cNvPr id="64515" name="Slide Number Placeholder 3">
            <a:extLst>
              <a:ext uri="{FF2B5EF4-FFF2-40B4-BE49-F238E27FC236}">
                <a16:creationId xmlns:a16="http://schemas.microsoft.com/office/drawing/2014/main" id="{F8A65962-B645-0749-A3E8-9CFF804EF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ADE78E25-DB15-5D43-BC44-843A7D8EB8EE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54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4516" name="TextBox 4">
            <a:extLst>
              <a:ext uri="{FF2B5EF4-FFF2-40B4-BE49-F238E27FC236}">
                <a16:creationId xmlns:a16="http://schemas.microsoft.com/office/drawing/2014/main" id="{22B14F83-0A72-674E-8968-33800044D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8.6.3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48293E45-AAD2-BC43-89F0-6CB65332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Facts/entities (what happens to clicks?)</a:t>
            </a:r>
          </a:p>
        </p:txBody>
      </p:sp>
      <p:sp>
        <p:nvSpPr>
          <p:cNvPr id="65538" name="Slide Number Placeholder 3">
            <a:extLst>
              <a:ext uri="{FF2B5EF4-FFF2-40B4-BE49-F238E27FC236}">
                <a16:creationId xmlns:a16="http://schemas.microsoft.com/office/drawing/2014/main" id="{9F1276E6-3F7F-D445-8597-A7D4688A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D56E34DA-F3A4-2F45-8FF1-BF1F92F8F983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65539" name="Picture 4" descr="Screen Shot 2013-04-27 at 9.30.09 PM.png">
            <a:extLst>
              <a:ext uri="{FF2B5EF4-FFF2-40B4-BE49-F238E27FC236}">
                <a16:creationId xmlns:a16="http://schemas.microsoft.com/office/drawing/2014/main" id="{F7AC3F15-B628-EF41-8D83-6A040EEEEE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33"/>
          <a:stretch/>
        </p:blipFill>
        <p:spPr bwMode="auto">
          <a:xfrm>
            <a:off x="1524000" y="1447800"/>
            <a:ext cx="9144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87D55018-B28D-4D40-B944-72B0A390E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Recap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5ADF03F4-FF0A-D146-B977-971CC0D50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Benchmarks consist of</a:t>
            </a:r>
          </a:p>
          <a:p>
            <a:pPr lvl="1"/>
            <a:r>
              <a:rPr lang="en-US" altLang="en-US"/>
              <a:t>Document collection</a:t>
            </a:r>
          </a:p>
          <a:p>
            <a:pPr lvl="1"/>
            <a:r>
              <a:rPr lang="en-US" altLang="en-US"/>
              <a:t>Query set</a:t>
            </a:r>
          </a:p>
          <a:p>
            <a:pPr lvl="1"/>
            <a:r>
              <a:rPr lang="en-US" altLang="en-US"/>
              <a:t>Assessment methodology</a:t>
            </a:r>
          </a:p>
          <a:p>
            <a:r>
              <a:rPr lang="en-US" altLang="en-US"/>
              <a:t>Assessment methodology can use raters, user clicks, or a combination</a:t>
            </a:r>
          </a:p>
          <a:p>
            <a:pPr lvl="1"/>
            <a:r>
              <a:rPr lang="en-US" altLang="en-US"/>
              <a:t>These get quantized into a </a:t>
            </a:r>
            <a:r>
              <a:rPr lang="en-US" altLang="en-US" i="1"/>
              <a:t>goodness measure </a:t>
            </a:r>
            <a:r>
              <a:rPr lang="en-US" altLang="en-US"/>
              <a:t>– Precision/NDCG etc.</a:t>
            </a:r>
          </a:p>
          <a:p>
            <a:pPr lvl="1"/>
            <a:r>
              <a:rPr lang="en-US" altLang="en-US"/>
              <a:t>Different engines/algorithms compared on a </a:t>
            </a:r>
            <a:r>
              <a:rPr lang="en-US" altLang="en-US" u="sng"/>
              <a:t>benchmark</a:t>
            </a:r>
            <a:r>
              <a:rPr lang="en-US" altLang="en-US"/>
              <a:t> together with a </a:t>
            </a:r>
            <a:r>
              <a:rPr lang="en-US" altLang="en-US" u="sng"/>
              <a:t>goodness measure</a:t>
            </a:r>
          </a:p>
        </p:txBody>
      </p:sp>
      <p:sp>
        <p:nvSpPr>
          <p:cNvPr id="68611" name="Slide Number Placeholder 3">
            <a:extLst>
              <a:ext uri="{FF2B5EF4-FFF2-40B4-BE49-F238E27FC236}">
                <a16:creationId xmlns:a16="http://schemas.microsoft.com/office/drawing/2014/main" id="{6F9314C7-DB14-C244-96B0-AE454ACD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77"/>
                <a:ea typeface="MS PGothic" panose="020B0600070205080204" pitchFamily="34" charset="-128"/>
              </a:defRPr>
            </a:lvl9pPr>
          </a:lstStyle>
          <a:p>
            <a:pPr eaLnBrk="1" hangingPunct="1"/>
            <a:fld id="{EFA8E353-85C0-8B4F-99B1-3F1317CBD304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56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382000" cy="4953000"/>
          </a:xfrm>
        </p:spPr>
        <p:txBody>
          <a:bodyPr/>
          <a:lstStyle/>
          <a:p>
            <a:r>
              <a:rPr lang="en-US" dirty="0"/>
              <a:t>User behavior is an intriguing source of relevance data</a:t>
            </a:r>
          </a:p>
          <a:p>
            <a:pPr lvl="1"/>
            <a:r>
              <a:rPr lang="en-US" sz="2800" dirty="0"/>
              <a:t>Users make (somewhat) informed choices when they interact with search engines</a:t>
            </a:r>
          </a:p>
          <a:p>
            <a:pPr lvl="1"/>
            <a:r>
              <a:rPr lang="en-US" sz="2800" dirty="0"/>
              <a:t>Potentially a lot of data available in search logs</a:t>
            </a:r>
          </a:p>
          <a:p>
            <a:pPr lvl="1"/>
            <a:endParaRPr lang="en-US" sz="2800" dirty="0"/>
          </a:p>
          <a:p>
            <a:r>
              <a:rPr lang="en-US" dirty="0"/>
              <a:t>But there are significant caveats</a:t>
            </a:r>
          </a:p>
          <a:p>
            <a:pPr lvl="1"/>
            <a:r>
              <a:rPr lang="en-US" sz="2800" dirty="0"/>
              <a:t>User behavior data can be very noisy</a:t>
            </a:r>
          </a:p>
          <a:p>
            <a:pPr lvl="1"/>
            <a:r>
              <a:rPr lang="en-US" sz="2800" dirty="0"/>
              <a:t>Interpreting user behavior can be tricky</a:t>
            </a:r>
          </a:p>
          <a:p>
            <a:pPr lvl="1"/>
            <a:r>
              <a:rPr lang="en-US" sz="2800" dirty="0"/>
              <a:t>Spam can be a significant problem</a:t>
            </a:r>
          </a:p>
          <a:p>
            <a:pPr lvl="1"/>
            <a:r>
              <a:rPr lang="en-US" sz="2800" dirty="0"/>
              <a:t>Not all queries will have user behavior</a:t>
            </a:r>
          </a:p>
        </p:txBody>
      </p:sp>
    </p:spTree>
    <p:extLst>
      <p:ext uri="{BB962C8B-B14F-4D97-AF65-F5344CB8AC3E}">
        <p14:creationId xmlns:p14="http://schemas.microsoft.com/office/powerpoint/2010/main" val="20270415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Ranking \#1:&#10;$(1.0 + 0.67 + 0.75 + 0.8 + 0.83 + 0.6)/6 = 0.78$\\ \\&#10;Ranking \#2: $ (0.5 + 0.4 + 0.5 + 0.57 + 0.56 + 0.6)/6 = 0.52 $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62"/>
  <p:tag name="PICTUREFILESIZE" val="2079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it{average precision query 1} $= (1.0 + 0.67 + 0.5 + 0.44 + 0.5)/5 = 0.62$\\&#10;\textit{average precision query 2} $=(0.5 + 0.4 + 0.43)/3 = 0.44$\\ \\&#10;\textit{mean average precision} $= (0.62 + 0.44)/2 = 0.53$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94"/>
  <p:tag name="PICTUREFILESIZE" val="3420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DCG_p = rel_1 + \sum^p_{i=2} \frac{rel_i}{\log_2 i}  template TPT1  env TPENV1  fore 0  back 16777215  eqnno 2"/>
  <p:tag name="FILENAME" val="TP_tmp"/>
  <p:tag name="ORIGWIDTH" val="117"/>
  <p:tag name="PICTUREFILESIZE" val="576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DCG_p = \sum^p_{i=1} \frac{2^{rel_i}-1}{log(1+i)}  template TPT1  env TPENV1  fore 0  back 16777215  eqnno 3"/>
  <p:tag name="FILENAME" val="TP_tmp"/>
  <p:tag name="ORIGWIDTH" val="99"/>
  <p:tag name="PICTUREFILESIZE" val="525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3474</TotalTime>
  <Words>2711</Words>
  <Application>Microsoft Office PowerPoint</Application>
  <PresentationFormat>Widescreen</PresentationFormat>
  <Paragraphs>482</Paragraphs>
  <Slides>57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9" baseType="lpstr">
      <vt:lpstr>Arial</vt:lpstr>
      <vt:lpstr>Calibri</vt:lpstr>
      <vt:lpstr>Calibri Light</vt:lpstr>
      <vt:lpstr>Corbel</vt:lpstr>
      <vt:lpstr>Google Sans</vt:lpstr>
      <vt:lpstr>Helvetica</vt:lpstr>
      <vt:lpstr>inherit</vt:lpstr>
      <vt:lpstr>Lucida Sans</vt:lpstr>
      <vt:lpstr>Symbol</vt:lpstr>
      <vt:lpstr>Wingdings</vt:lpstr>
      <vt:lpstr>Office Theme</vt:lpstr>
      <vt:lpstr>Equation</vt:lpstr>
      <vt:lpstr>Evaluation</vt:lpstr>
      <vt:lpstr>Measure for search engine</vt:lpstr>
      <vt:lpstr>Measure for search engine</vt:lpstr>
      <vt:lpstr>User Happiness</vt:lpstr>
      <vt:lpstr>Happiness: elusive to measure</vt:lpstr>
      <vt:lpstr>So you want to measure the quality of a new search algorithm?</vt:lpstr>
      <vt:lpstr>Relevance judgments</vt:lpstr>
      <vt:lpstr>Crowd source relevance judgments?</vt:lpstr>
      <vt:lpstr>What else?</vt:lpstr>
      <vt:lpstr>Now we have the basics of a benchmark</vt:lpstr>
      <vt:lpstr>Evaluating an IR system</vt:lpstr>
      <vt:lpstr>Standard Relevance Benchmarks</vt:lpstr>
      <vt:lpstr>Unranked retrieval evaluation: Precision and Recall </vt:lpstr>
      <vt:lpstr>Should we instead use the accuracy measure for evaluation?</vt:lpstr>
      <vt:lpstr>Precision/Recall</vt:lpstr>
      <vt:lpstr>Example</vt:lpstr>
      <vt:lpstr>Difficulties in using Precision/Recall</vt:lpstr>
      <vt:lpstr>A combined measure: F-score</vt:lpstr>
      <vt:lpstr>Rank-Based Measures</vt:lpstr>
      <vt:lpstr>Precision@K</vt:lpstr>
      <vt:lpstr>Mean Average Precision</vt:lpstr>
      <vt:lpstr>Average Precision</vt:lpstr>
      <vt:lpstr>MAP</vt:lpstr>
      <vt:lpstr>Mean average precision</vt:lpstr>
      <vt:lpstr>R-precision</vt:lpstr>
      <vt:lpstr>Beyond binary relevance</vt:lpstr>
      <vt:lpstr>PowerPoint Presentation</vt:lpstr>
      <vt:lpstr>Discounted Cumulative Gain</vt:lpstr>
      <vt:lpstr>Discounted Cumulative Gain</vt:lpstr>
      <vt:lpstr>Summarize a Ranking: DCG</vt:lpstr>
      <vt:lpstr>Discounted Cumulative Gain</vt:lpstr>
      <vt:lpstr>DCG Example</vt:lpstr>
      <vt:lpstr>NDCG for summarizing rankings</vt:lpstr>
      <vt:lpstr>NDCG - Example</vt:lpstr>
      <vt:lpstr>What if the results are not in a list?</vt:lpstr>
      <vt:lpstr>Mean Reciprocal Rank</vt:lpstr>
      <vt:lpstr>Accessing Relevance: Cohen’s Kappa Statistic</vt:lpstr>
      <vt:lpstr>Calculate relative agreement (po) between raters.</vt:lpstr>
      <vt:lpstr>Calculate the hypothetical probability of chance agreement (pe) between raters.</vt:lpstr>
      <vt:lpstr>Calculate Cohen’s Kappa</vt:lpstr>
      <vt:lpstr>Human judgments are</vt:lpstr>
      <vt:lpstr>Using user Clicks</vt:lpstr>
      <vt:lpstr>User Behavior</vt:lpstr>
      <vt:lpstr>User  Behavior</vt:lpstr>
      <vt:lpstr>What do clicks tell us?</vt:lpstr>
      <vt:lpstr>Click Position-bias</vt:lpstr>
      <vt:lpstr>Relative vs absolute ratings</vt:lpstr>
      <vt:lpstr>Evaluating pairwise relative ratings</vt:lpstr>
      <vt:lpstr>Comparing two rankings via clicks (Joachims 2002)</vt:lpstr>
      <vt:lpstr>Interleave the two rankings</vt:lpstr>
      <vt:lpstr>Remove duplicate results</vt:lpstr>
      <vt:lpstr>Count user clicks</vt:lpstr>
      <vt:lpstr>Interleaved ranking </vt:lpstr>
      <vt:lpstr>A/B testing at web search engines</vt:lpstr>
      <vt:lpstr>Facts/entities (what happens to clicks?)</vt:lpstr>
      <vt:lpstr>Recap</vt:lpstr>
      <vt:lpstr>User behavior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</dc:title>
  <dc:creator>richa singh</dc:creator>
  <cp:lastModifiedBy>richa singh</cp:lastModifiedBy>
  <cp:revision>47</cp:revision>
  <dcterms:created xsi:type="dcterms:W3CDTF">2023-10-30T09:22:16Z</dcterms:created>
  <dcterms:modified xsi:type="dcterms:W3CDTF">2023-11-04T05:00:31Z</dcterms:modified>
</cp:coreProperties>
</file>