
<file path=[Content_Types].xml><?xml version="1.0" encoding="utf-8"?>
<Types xmlns="http://schemas.openxmlformats.org/package/2006/content-types">
  <Default Extension="bin" ContentType="application/vnd.openxmlformats-officedocument.oleObject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674" r:id="rId1"/>
  </p:sldMasterIdLst>
  <p:notesMasterIdLst>
    <p:notesMasterId r:id="rId60"/>
  </p:notesMasterIdLst>
  <p:handoutMasterIdLst>
    <p:handoutMasterId r:id="rId61"/>
  </p:handoutMasterIdLst>
  <p:sldIdLst>
    <p:sldId id="1037" r:id="rId2"/>
    <p:sldId id="975" r:id="rId3"/>
    <p:sldId id="976" r:id="rId4"/>
    <p:sldId id="977" r:id="rId5"/>
    <p:sldId id="978" r:id="rId6"/>
    <p:sldId id="979" r:id="rId7"/>
    <p:sldId id="980" r:id="rId8"/>
    <p:sldId id="981" r:id="rId9"/>
    <p:sldId id="982" r:id="rId10"/>
    <p:sldId id="984" r:id="rId11"/>
    <p:sldId id="985" r:id="rId12"/>
    <p:sldId id="986" r:id="rId13"/>
    <p:sldId id="987" r:id="rId14"/>
    <p:sldId id="988" r:id="rId15"/>
    <p:sldId id="989" r:id="rId16"/>
    <p:sldId id="990" r:id="rId17"/>
    <p:sldId id="1039" r:id="rId18"/>
    <p:sldId id="991" r:id="rId19"/>
    <p:sldId id="1041" r:id="rId20"/>
    <p:sldId id="993" r:id="rId21"/>
    <p:sldId id="994" r:id="rId22"/>
    <p:sldId id="995" r:id="rId23"/>
    <p:sldId id="996" r:id="rId24"/>
    <p:sldId id="997" r:id="rId25"/>
    <p:sldId id="998" r:id="rId26"/>
    <p:sldId id="1000" r:id="rId27"/>
    <p:sldId id="1001" r:id="rId28"/>
    <p:sldId id="1002" r:id="rId29"/>
    <p:sldId id="1003" r:id="rId30"/>
    <p:sldId id="1004" r:id="rId31"/>
    <p:sldId id="1005" r:id="rId32"/>
    <p:sldId id="1006" r:id="rId33"/>
    <p:sldId id="1007" r:id="rId34"/>
    <p:sldId id="1008" r:id="rId35"/>
    <p:sldId id="1009" r:id="rId36"/>
    <p:sldId id="1010" r:id="rId37"/>
    <p:sldId id="1012" r:id="rId38"/>
    <p:sldId id="1014" r:id="rId39"/>
    <p:sldId id="1015" r:id="rId40"/>
    <p:sldId id="1016" r:id="rId41"/>
    <p:sldId id="1017" r:id="rId42"/>
    <p:sldId id="1018" r:id="rId43"/>
    <p:sldId id="1036" r:id="rId44"/>
    <p:sldId id="1019" r:id="rId45"/>
    <p:sldId id="1020" r:id="rId46"/>
    <p:sldId id="1021" r:id="rId47"/>
    <p:sldId id="1022" r:id="rId48"/>
    <p:sldId id="1023" r:id="rId49"/>
    <p:sldId id="1024" r:id="rId50"/>
    <p:sldId id="1025" r:id="rId51"/>
    <p:sldId id="1026" r:id="rId52"/>
    <p:sldId id="1027" r:id="rId53"/>
    <p:sldId id="1028" r:id="rId54"/>
    <p:sldId id="1029" r:id="rId55"/>
    <p:sldId id="1030" r:id="rId56"/>
    <p:sldId id="1031" r:id="rId57"/>
    <p:sldId id="1032" r:id="rId58"/>
    <p:sldId id="1033" r:id="rId59"/>
  </p:sldIdLst>
  <p:sldSz cx="9144000" cy="6858000" type="screen4x3"/>
  <p:notesSz cx="7315200" cy="96012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36699"/>
    <a:srgbClr val="BDD3E9"/>
    <a:srgbClr val="2A7041"/>
    <a:srgbClr val="E6F2ED"/>
    <a:srgbClr val="DBEDE6"/>
    <a:srgbClr val="D7F1E6"/>
    <a:srgbClr val="D4F0E5"/>
    <a:srgbClr val="CCFF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EB344D84-9AFB-497E-A393-DC336BA19D2E}" styleName="Medium Style 3 - Accent 3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0505E3EF-67EA-436B-97B2-0124C06EBD24}" styleName="Medium Style 4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BDBED569-4797-4DF1-A0F4-6AAB3CD982D8}" styleName="Light Style 3 - Accent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5FD0F851-EC5A-4D38-B0AD-8093EC10F338}" styleName="Light Style 1 - Accent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72051" autoAdjust="0"/>
  </p:normalViewPr>
  <p:slideViewPr>
    <p:cSldViewPr>
      <p:cViewPr varScale="1">
        <p:scale>
          <a:sx n="82" d="100"/>
          <a:sy n="82" d="100"/>
        </p:scale>
        <p:origin x="1502" y="67"/>
      </p:cViewPr>
      <p:guideLst>
        <p:guide orient="horz" pos="2160"/>
        <p:guide pos="2880"/>
      </p:guideLst>
    </p:cSldViewPr>
  </p:slideViewPr>
  <p:outlineViewPr>
    <p:cViewPr varScale="1">
      <p:scale>
        <a:sx n="170" d="200"/>
        <a:sy n="170" d="2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474"/>
    </p:cViewPr>
  </p:sorterViewPr>
  <p:notesViewPr>
    <p:cSldViewPr>
      <p:cViewPr varScale="1">
        <p:scale>
          <a:sx n="35" d="100"/>
          <a:sy n="35" d="100"/>
        </p:scale>
        <p:origin x="-1578" y="-90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5" Type="http://schemas.openxmlformats.org/officeDocument/2006/relationships/slide" Target="slides/slide4.xml"/><Relationship Id="rId61" Type="http://schemas.openxmlformats.org/officeDocument/2006/relationships/handoutMaster" Target="handoutMasters/handoutMaster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theme" Target="theme/theme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notesMaster" Target="notesMasters/notesMaster1.xml"/><Relationship Id="rId65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170238" cy="47942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buClr>
                <a:srgbClr val="000000"/>
              </a:buClr>
              <a:buSzPct val="100000"/>
              <a:buFont typeface="Times New Roman" pitchFamily="16" charset="0"/>
              <a:buNone/>
              <a:defRPr sz="1200">
                <a:cs typeface="+mn-cs"/>
              </a:defRPr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4143375" y="0"/>
            <a:ext cx="3170238" cy="47942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buClr>
                <a:srgbClr val="000000"/>
              </a:buClr>
              <a:buSzPct val="100000"/>
              <a:buFont typeface="Times New Roman" pitchFamily="16" charset="0"/>
              <a:buNone/>
              <a:defRPr sz="1200">
                <a:cs typeface="+mn-cs"/>
              </a:defRPr>
            </a:lvl1pPr>
          </a:lstStyle>
          <a:p>
            <a:pPr>
              <a:defRPr/>
            </a:pPr>
            <a:fld id="{FAC8717C-415A-44F2-932B-9470F257B40D}" type="datetimeFigureOut">
              <a:rPr lang="de-DE"/>
              <a:pPr>
                <a:defRPr/>
              </a:pPr>
              <a:t>17.10.2023</a:t>
            </a:fld>
            <a:endParaRPr lang="de-DE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9120188"/>
            <a:ext cx="3170238" cy="4794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buClr>
                <a:srgbClr val="000000"/>
              </a:buClr>
              <a:buSzPct val="100000"/>
              <a:buFont typeface="Times New Roman" pitchFamily="16" charset="0"/>
              <a:buNone/>
              <a:defRPr sz="1200">
                <a:cs typeface="+mn-cs"/>
              </a:defRPr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4143375" y="9120188"/>
            <a:ext cx="3170238" cy="4794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buClr>
                <a:srgbClr val="000000"/>
              </a:buClr>
              <a:buSzPct val="100000"/>
              <a:buFont typeface="Times New Roman" pitchFamily="16" charset="0"/>
              <a:buNone/>
              <a:defRPr sz="1200">
                <a:cs typeface="+mn-cs"/>
              </a:defRPr>
            </a:lvl1pPr>
          </a:lstStyle>
          <a:p>
            <a:pPr>
              <a:defRPr/>
            </a:pPr>
            <a:fld id="{436286E6-33A4-43B5-AF89-26A9B7F2651B}" type="slidenum">
              <a:rPr lang="de-DE"/>
              <a:pPr>
                <a:defRPr/>
              </a:pPr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7" name="AutoShape 1"/>
          <p:cNvSpPr>
            <a:spLocks noChangeArrowheads="1"/>
          </p:cNvSpPr>
          <p:nvPr/>
        </p:nvSpPr>
        <p:spPr bwMode="auto">
          <a:xfrm>
            <a:off x="0" y="0"/>
            <a:ext cx="7315200" cy="9601200"/>
          </a:xfrm>
          <a:prstGeom prst="roundRect">
            <a:avLst>
              <a:gd name="adj" fmla="val 19"/>
            </a:avLst>
          </a:prstGeom>
          <a:solidFill>
            <a:srgbClr val="FFFFFF"/>
          </a:solidFill>
          <a:ln w="9360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buClr>
                <a:srgbClr val="000000"/>
              </a:buClr>
              <a:buSzPct val="100000"/>
              <a:buFont typeface="Times New Roman" pitchFamily="16" charset="0"/>
              <a:buNone/>
              <a:defRPr/>
            </a:pPr>
            <a:endParaRPr lang="de-DE">
              <a:ea typeface="+mn-ea"/>
              <a:cs typeface="Arial Unicode MS" charset="0"/>
            </a:endParaRPr>
          </a:p>
        </p:txBody>
      </p:sp>
      <p:sp>
        <p:nvSpPr>
          <p:cNvPr id="9218" name="AutoShape 2"/>
          <p:cNvSpPr>
            <a:spLocks noChangeArrowheads="1"/>
          </p:cNvSpPr>
          <p:nvPr/>
        </p:nvSpPr>
        <p:spPr bwMode="auto">
          <a:xfrm>
            <a:off x="0" y="0"/>
            <a:ext cx="7315200" cy="9601200"/>
          </a:xfrm>
          <a:prstGeom prst="roundRect">
            <a:avLst>
              <a:gd name="adj" fmla="val 19"/>
            </a:avLst>
          </a:prstGeom>
          <a:solidFill>
            <a:srgbClr val="FFFFFF"/>
          </a:solidFill>
          <a:ln w="9525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pPr>
              <a:buClr>
                <a:srgbClr val="000000"/>
              </a:buClr>
              <a:buSzPct val="100000"/>
              <a:buFont typeface="Times New Roman" pitchFamily="16" charset="0"/>
              <a:buNone/>
              <a:defRPr/>
            </a:pPr>
            <a:endParaRPr lang="de-DE">
              <a:ea typeface="+mn-ea"/>
              <a:cs typeface="Arial Unicode MS" charset="0"/>
            </a:endParaRPr>
          </a:p>
        </p:txBody>
      </p:sp>
      <p:sp>
        <p:nvSpPr>
          <p:cNvPr id="9219" name="AutoShape 3"/>
          <p:cNvSpPr>
            <a:spLocks noChangeArrowheads="1"/>
          </p:cNvSpPr>
          <p:nvPr/>
        </p:nvSpPr>
        <p:spPr bwMode="auto">
          <a:xfrm>
            <a:off x="0" y="0"/>
            <a:ext cx="7315200" cy="9601200"/>
          </a:xfrm>
          <a:prstGeom prst="roundRect">
            <a:avLst>
              <a:gd name="adj" fmla="val 19"/>
            </a:avLst>
          </a:prstGeom>
          <a:solidFill>
            <a:srgbClr val="FFFFFF"/>
          </a:solidFill>
          <a:ln w="9525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pPr>
              <a:buClr>
                <a:srgbClr val="000000"/>
              </a:buClr>
              <a:buSzPct val="100000"/>
              <a:buFont typeface="Times New Roman" pitchFamily="16" charset="0"/>
              <a:buNone/>
              <a:defRPr/>
            </a:pPr>
            <a:endParaRPr lang="de-DE">
              <a:ea typeface="+mn-ea"/>
              <a:cs typeface="Arial Unicode MS" charset="0"/>
            </a:endParaRPr>
          </a:p>
        </p:txBody>
      </p:sp>
      <p:sp>
        <p:nvSpPr>
          <p:cNvPr id="9220" name="AutoShape 4"/>
          <p:cNvSpPr>
            <a:spLocks noChangeArrowheads="1"/>
          </p:cNvSpPr>
          <p:nvPr/>
        </p:nvSpPr>
        <p:spPr bwMode="auto">
          <a:xfrm>
            <a:off x="0" y="0"/>
            <a:ext cx="7315200" cy="9601200"/>
          </a:xfrm>
          <a:prstGeom prst="roundRect">
            <a:avLst>
              <a:gd name="adj" fmla="val 19"/>
            </a:avLst>
          </a:prstGeom>
          <a:solidFill>
            <a:srgbClr val="FFFFFF"/>
          </a:solidFill>
          <a:ln w="9525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pPr>
              <a:buClr>
                <a:srgbClr val="000000"/>
              </a:buClr>
              <a:buSzPct val="100000"/>
              <a:buFont typeface="Times New Roman" pitchFamily="16" charset="0"/>
              <a:buNone/>
              <a:defRPr/>
            </a:pPr>
            <a:endParaRPr lang="de-DE">
              <a:ea typeface="+mn-ea"/>
              <a:cs typeface="Arial Unicode MS" charset="0"/>
            </a:endParaRPr>
          </a:p>
        </p:txBody>
      </p:sp>
      <p:sp>
        <p:nvSpPr>
          <p:cNvPr id="9221" name="Text Box 5"/>
          <p:cNvSpPr txBox="1">
            <a:spLocks noChangeArrowheads="1"/>
          </p:cNvSpPr>
          <p:nvPr/>
        </p:nvSpPr>
        <p:spPr bwMode="auto">
          <a:xfrm>
            <a:off x="0" y="0"/>
            <a:ext cx="3170238" cy="479425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pPr>
              <a:buClr>
                <a:srgbClr val="000000"/>
              </a:buClr>
              <a:buSzPct val="100000"/>
              <a:buFont typeface="Times New Roman" pitchFamily="16" charset="0"/>
              <a:buNone/>
              <a:defRPr/>
            </a:pPr>
            <a:endParaRPr lang="de-DE">
              <a:ea typeface="+mn-ea"/>
              <a:cs typeface="Arial Unicode MS" charset="0"/>
            </a:endParaRPr>
          </a:p>
        </p:txBody>
      </p:sp>
      <p:sp>
        <p:nvSpPr>
          <p:cNvPr id="9222" name="Text Box 6"/>
          <p:cNvSpPr txBox="1">
            <a:spLocks noChangeArrowheads="1"/>
          </p:cNvSpPr>
          <p:nvPr/>
        </p:nvSpPr>
        <p:spPr bwMode="auto">
          <a:xfrm>
            <a:off x="4144963" y="0"/>
            <a:ext cx="3170237" cy="479425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pPr>
              <a:buClr>
                <a:srgbClr val="000000"/>
              </a:buClr>
              <a:buSzPct val="100000"/>
              <a:buFont typeface="Times New Roman" pitchFamily="16" charset="0"/>
              <a:buNone/>
              <a:defRPr/>
            </a:pPr>
            <a:endParaRPr lang="de-DE">
              <a:ea typeface="+mn-ea"/>
              <a:cs typeface="Arial Unicode MS" charset="0"/>
            </a:endParaRPr>
          </a:p>
        </p:txBody>
      </p:sp>
      <p:sp>
        <p:nvSpPr>
          <p:cNvPr id="288776" name="Rectangle 7"/>
          <p:cNvSpPr>
            <a:spLocks noGrp="1" noRot="1" noChangeAspect="1" noChangeArrowheads="1"/>
          </p:cNvSpPr>
          <p:nvPr>
            <p:ph type="sldImg"/>
          </p:nvPr>
        </p:nvSpPr>
        <p:spPr bwMode="auto">
          <a:xfrm>
            <a:off x="1257300" y="720725"/>
            <a:ext cx="4794250" cy="3594100"/>
          </a:xfrm>
          <a:prstGeom prst="rect">
            <a:avLst/>
          </a:prstGeom>
          <a:noFill/>
          <a:ln w="9360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9224" name="Rectangle 8"/>
          <p:cNvSpPr>
            <a:spLocks noGrp="1" noChangeArrowheads="1"/>
          </p:cNvSpPr>
          <p:nvPr>
            <p:ph type="body"/>
          </p:nvPr>
        </p:nvSpPr>
        <p:spPr bwMode="auto">
          <a:xfrm>
            <a:off x="974725" y="4560888"/>
            <a:ext cx="5359400" cy="4313237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vert="horz" wrap="square" lIns="95400" tIns="47520" rIns="95400" bIns="47520" numCol="1" anchor="t" anchorCtr="0" compatLnSpc="1">
            <a:prstTxWarp prst="textNoShape">
              <a:avLst/>
            </a:prstTxWarp>
          </a:bodyPr>
          <a:lstStyle/>
          <a:p>
            <a:pPr lvl="0"/>
            <a:endParaRPr lang="de-DE" noProof="0"/>
          </a:p>
        </p:txBody>
      </p:sp>
      <p:sp>
        <p:nvSpPr>
          <p:cNvPr id="9225" name="Text Box 9"/>
          <p:cNvSpPr txBox="1">
            <a:spLocks noChangeArrowheads="1"/>
          </p:cNvSpPr>
          <p:nvPr/>
        </p:nvSpPr>
        <p:spPr bwMode="auto">
          <a:xfrm>
            <a:off x="0" y="9121775"/>
            <a:ext cx="3170238" cy="479425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pPr>
              <a:buClr>
                <a:srgbClr val="000000"/>
              </a:buClr>
              <a:buSzPct val="100000"/>
              <a:buFont typeface="Times New Roman" pitchFamily="16" charset="0"/>
              <a:buNone/>
              <a:defRPr/>
            </a:pPr>
            <a:endParaRPr lang="de-DE">
              <a:ea typeface="+mn-ea"/>
              <a:cs typeface="Arial Unicode MS" charset="0"/>
            </a:endParaRPr>
          </a:p>
        </p:txBody>
      </p:sp>
      <p:sp>
        <p:nvSpPr>
          <p:cNvPr id="9226" name="Rectangle 10"/>
          <p:cNvSpPr>
            <a:spLocks noGrp="1" noChangeArrowheads="1"/>
          </p:cNvSpPr>
          <p:nvPr>
            <p:ph type="sldNum"/>
          </p:nvPr>
        </p:nvSpPr>
        <p:spPr bwMode="auto">
          <a:xfrm>
            <a:off x="4144963" y="9120188"/>
            <a:ext cx="3163887" cy="473075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vert="horz" wrap="square" lIns="95400" tIns="47520" rIns="95400" bIns="47520" numCol="1" anchor="b" anchorCtr="0" compatLnSpc="1">
            <a:prstTxWarp prst="textNoShape">
              <a:avLst/>
            </a:prstTxWarp>
          </a:bodyPr>
          <a:lstStyle>
            <a:lvl1pPr algn="r">
              <a:buClrTx/>
              <a:buSzPct val="100000"/>
              <a:buFontTx/>
              <a:buNone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itchFamily="16" charset="0"/>
                <a:ea typeface="+mn-ea"/>
                <a:cs typeface="Arial Unicode MS" charset="0"/>
              </a:defRPr>
            </a:lvl1pPr>
          </a:lstStyle>
          <a:p>
            <a:pPr>
              <a:defRPr/>
            </a:pPr>
            <a:fld id="{655445CD-BE69-4A95-B1A9-CC7D8B1B044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defTabSz="449263" rtl="0" eaLnBrk="0" fontAlgn="base" hangingPunct="0">
      <a:spcBef>
        <a:spcPct val="30000"/>
      </a:spcBef>
      <a:spcAft>
        <a:spcPct val="0"/>
      </a:spcAft>
      <a:buClr>
        <a:srgbClr val="000000"/>
      </a:buClr>
      <a:buSzPct val="100000"/>
      <a:buFont typeface="Times New Roman" pitchFamily="16" charset="0"/>
      <a:defRPr sz="1200" kern="1200">
        <a:solidFill>
          <a:srgbClr val="000000"/>
        </a:solidFill>
        <a:latin typeface="Times New Roman" pitchFamily="16" charset="0"/>
        <a:ea typeface="+mn-ea"/>
        <a:cs typeface="+mn-cs"/>
      </a:defRPr>
    </a:lvl1pPr>
    <a:lvl2pPr marL="742950" indent="-285750" algn="l" defTabSz="449263" rtl="0" eaLnBrk="0" fontAlgn="base" hangingPunct="0">
      <a:spcBef>
        <a:spcPct val="30000"/>
      </a:spcBef>
      <a:spcAft>
        <a:spcPct val="0"/>
      </a:spcAft>
      <a:buClr>
        <a:srgbClr val="000000"/>
      </a:buClr>
      <a:buSzPct val="100000"/>
      <a:buFont typeface="Times New Roman" pitchFamily="16" charset="0"/>
      <a:defRPr sz="1200" kern="1200">
        <a:solidFill>
          <a:srgbClr val="000000"/>
        </a:solidFill>
        <a:latin typeface="Times New Roman" pitchFamily="16" charset="0"/>
        <a:ea typeface="+mn-ea"/>
        <a:cs typeface="+mn-cs"/>
      </a:defRPr>
    </a:lvl2pPr>
    <a:lvl3pPr marL="1143000" indent="-228600" algn="l" defTabSz="449263" rtl="0" eaLnBrk="0" fontAlgn="base" hangingPunct="0">
      <a:spcBef>
        <a:spcPct val="30000"/>
      </a:spcBef>
      <a:spcAft>
        <a:spcPct val="0"/>
      </a:spcAft>
      <a:buClr>
        <a:srgbClr val="000000"/>
      </a:buClr>
      <a:buSzPct val="100000"/>
      <a:buFont typeface="Times New Roman" pitchFamily="16" charset="0"/>
      <a:defRPr sz="1200" kern="1200">
        <a:solidFill>
          <a:srgbClr val="000000"/>
        </a:solidFill>
        <a:latin typeface="Times New Roman" pitchFamily="16" charset="0"/>
        <a:ea typeface="+mn-ea"/>
        <a:cs typeface="+mn-cs"/>
      </a:defRPr>
    </a:lvl3pPr>
    <a:lvl4pPr marL="1600200" indent="-228600" algn="l" defTabSz="449263" rtl="0" eaLnBrk="0" fontAlgn="base" hangingPunct="0">
      <a:spcBef>
        <a:spcPct val="30000"/>
      </a:spcBef>
      <a:spcAft>
        <a:spcPct val="0"/>
      </a:spcAft>
      <a:buClr>
        <a:srgbClr val="000000"/>
      </a:buClr>
      <a:buSzPct val="100000"/>
      <a:buFont typeface="Times New Roman" pitchFamily="16" charset="0"/>
      <a:defRPr sz="1200" kern="1200">
        <a:solidFill>
          <a:srgbClr val="000000"/>
        </a:solidFill>
        <a:latin typeface="Times New Roman" pitchFamily="16" charset="0"/>
        <a:ea typeface="+mn-ea"/>
        <a:cs typeface="+mn-cs"/>
      </a:defRPr>
    </a:lvl4pPr>
    <a:lvl5pPr marL="2057400" indent="-228600" algn="l" defTabSz="449263" rtl="0" eaLnBrk="0" fontAlgn="base" hangingPunct="0">
      <a:spcBef>
        <a:spcPct val="30000"/>
      </a:spcBef>
      <a:spcAft>
        <a:spcPct val="0"/>
      </a:spcAft>
      <a:buClr>
        <a:srgbClr val="000000"/>
      </a:buClr>
      <a:buSzPct val="100000"/>
      <a:buFont typeface="Times New Roman" pitchFamily="16" charset="0"/>
      <a:defRPr sz="1200" kern="1200">
        <a:solidFill>
          <a:srgbClr val="000000"/>
        </a:solidFill>
        <a:latin typeface="Times New Roman" pitchFamily="16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842" name="Rectangle 10"/>
          <p:cNvSpPr>
            <a:spLocks noGrp="1" noChangeArrowheads="1"/>
          </p:cNvSpPr>
          <p:nvPr>
            <p:ph type="sldNum" sz="quarter"/>
          </p:nvPr>
        </p:nvSpPr>
        <p:spPr>
          <a:noFill/>
        </p:spPr>
        <p:txBody>
          <a:bodyPr/>
          <a:lstStyle/>
          <a:p>
            <a:fld id="{7877EAF2-EF67-4E70-95E3-8FCEFB74D208}" type="slidenum">
              <a:rPr lang="en-US" smtClean="0">
                <a:ea typeface="ＭＳ Ｐゴシック" charset="-128"/>
              </a:rPr>
              <a:pPr/>
              <a:t>2</a:t>
            </a:fld>
            <a:endParaRPr lang="en-US">
              <a:ea typeface="ＭＳ Ｐゴシック" charset="-128"/>
            </a:endParaRPr>
          </a:p>
        </p:txBody>
      </p:sp>
      <p:sp>
        <p:nvSpPr>
          <p:cNvPr id="291843" name="Rectangle 1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57300" y="720725"/>
            <a:ext cx="4800600" cy="3600450"/>
          </a:xfrm>
          <a:solidFill>
            <a:srgbClr val="FFFFFF"/>
          </a:solidFill>
          <a:ln/>
        </p:spPr>
      </p:sp>
      <p:sp>
        <p:nvSpPr>
          <p:cNvPr id="291844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974725" y="4560888"/>
            <a:ext cx="5360988" cy="4316412"/>
          </a:xfrm>
          <a:noFill/>
          <a:ln/>
        </p:spPr>
        <p:txBody>
          <a:bodyPr wrap="none" anchor="ctr"/>
          <a:lstStyle/>
          <a:p>
            <a:endParaRPr lang="de-DE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842" name="Rectangle 10"/>
          <p:cNvSpPr>
            <a:spLocks noGrp="1" noChangeArrowheads="1"/>
          </p:cNvSpPr>
          <p:nvPr>
            <p:ph type="sldNum" sz="quarter"/>
          </p:nvPr>
        </p:nvSpPr>
        <p:spPr>
          <a:noFill/>
        </p:spPr>
        <p:txBody>
          <a:bodyPr/>
          <a:lstStyle/>
          <a:p>
            <a:fld id="{7877EAF2-EF67-4E70-95E3-8FCEFB74D208}" type="slidenum">
              <a:rPr lang="en-US" smtClean="0">
                <a:ea typeface="ＭＳ Ｐゴシック" charset="-128"/>
              </a:rPr>
              <a:pPr/>
              <a:t>3</a:t>
            </a:fld>
            <a:endParaRPr lang="en-US">
              <a:ea typeface="ＭＳ Ｐゴシック" charset="-128"/>
            </a:endParaRPr>
          </a:p>
        </p:txBody>
      </p:sp>
      <p:sp>
        <p:nvSpPr>
          <p:cNvPr id="291843" name="Rectangle 1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57300" y="720725"/>
            <a:ext cx="4800600" cy="3600450"/>
          </a:xfrm>
          <a:solidFill>
            <a:srgbClr val="FFFFFF"/>
          </a:solidFill>
          <a:ln/>
        </p:spPr>
      </p:sp>
      <p:sp>
        <p:nvSpPr>
          <p:cNvPr id="291844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974725" y="4560888"/>
            <a:ext cx="5360988" cy="4316412"/>
          </a:xfrm>
          <a:noFill/>
          <a:ln/>
        </p:spPr>
        <p:txBody>
          <a:bodyPr wrap="none" anchor="ctr"/>
          <a:lstStyle/>
          <a:p>
            <a:endParaRPr lang="de-DE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842" name="Rectangle 10"/>
          <p:cNvSpPr>
            <a:spLocks noGrp="1" noChangeArrowheads="1"/>
          </p:cNvSpPr>
          <p:nvPr>
            <p:ph type="sldNum" sz="quarter"/>
          </p:nvPr>
        </p:nvSpPr>
        <p:spPr>
          <a:noFill/>
        </p:spPr>
        <p:txBody>
          <a:bodyPr/>
          <a:lstStyle/>
          <a:p>
            <a:fld id="{7877EAF2-EF67-4E70-95E3-8FCEFB74D208}" type="slidenum">
              <a:rPr lang="en-US" smtClean="0">
                <a:ea typeface="ＭＳ Ｐゴシック" charset="-128"/>
              </a:rPr>
              <a:pPr/>
              <a:t>4</a:t>
            </a:fld>
            <a:endParaRPr lang="en-US">
              <a:ea typeface="ＭＳ Ｐゴシック" charset="-128"/>
            </a:endParaRPr>
          </a:p>
        </p:txBody>
      </p:sp>
      <p:sp>
        <p:nvSpPr>
          <p:cNvPr id="291843" name="Rectangle 1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57300" y="720725"/>
            <a:ext cx="4800600" cy="3600450"/>
          </a:xfrm>
          <a:solidFill>
            <a:srgbClr val="FFFFFF"/>
          </a:solidFill>
          <a:ln/>
        </p:spPr>
      </p:sp>
      <p:sp>
        <p:nvSpPr>
          <p:cNvPr id="291844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974725" y="4560888"/>
            <a:ext cx="5360988" cy="4316412"/>
          </a:xfrm>
          <a:noFill/>
          <a:ln/>
        </p:spPr>
        <p:txBody>
          <a:bodyPr wrap="none" anchor="ctr"/>
          <a:lstStyle/>
          <a:p>
            <a:endParaRPr lang="de-DE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842" name="Rectangle 10"/>
          <p:cNvSpPr>
            <a:spLocks noGrp="1" noChangeArrowheads="1"/>
          </p:cNvSpPr>
          <p:nvPr>
            <p:ph type="sldNum" sz="quarter"/>
          </p:nvPr>
        </p:nvSpPr>
        <p:spPr>
          <a:noFill/>
        </p:spPr>
        <p:txBody>
          <a:bodyPr/>
          <a:lstStyle/>
          <a:p>
            <a:fld id="{7877EAF2-EF67-4E70-95E3-8FCEFB74D208}" type="slidenum">
              <a:rPr lang="en-US" smtClean="0">
                <a:ea typeface="ＭＳ Ｐゴシック" charset="-128"/>
              </a:rPr>
              <a:pPr/>
              <a:t>5</a:t>
            </a:fld>
            <a:endParaRPr lang="en-US">
              <a:ea typeface="ＭＳ Ｐゴシック" charset="-128"/>
            </a:endParaRPr>
          </a:p>
        </p:txBody>
      </p:sp>
      <p:sp>
        <p:nvSpPr>
          <p:cNvPr id="291843" name="Rectangle 1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57300" y="720725"/>
            <a:ext cx="4800600" cy="3600450"/>
          </a:xfrm>
          <a:solidFill>
            <a:srgbClr val="FFFFFF"/>
          </a:solidFill>
          <a:ln/>
        </p:spPr>
      </p:sp>
      <p:sp>
        <p:nvSpPr>
          <p:cNvPr id="291844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974725" y="4560888"/>
            <a:ext cx="5360988" cy="4316412"/>
          </a:xfrm>
          <a:noFill/>
          <a:ln/>
        </p:spPr>
        <p:txBody>
          <a:bodyPr wrap="none" anchor="ctr"/>
          <a:lstStyle/>
          <a:p>
            <a:endParaRPr lang="de-DE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842" name="Rectangle 10"/>
          <p:cNvSpPr>
            <a:spLocks noGrp="1" noChangeArrowheads="1"/>
          </p:cNvSpPr>
          <p:nvPr>
            <p:ph type="sldNum" sz="quarter"/>
          </p:nvPr>
        </p:nvSpPr>
        <p:spPr>
          <a:noFill/>
        </p:spPr>
        <p:txBody>
          <a:bodyPr/>
          <a:lstStyle/>
          <a:p>
            <a:fld id="{7877EAF2-EF67-4E70-95E3-8FCEFB74D208}" type="slidenum">
              <a:rPr lang="en-US" smtClean="0">
                <a:ea typeface="ＭＳ Ｐゴシック" charset="-128"/>
              </a:rPr>
              <a:pPr/>
              <a:t>6</a:t>
            </a:fld>
            <a:endParaRPr lang="en-US">
              <a:ea typeface="ＭＳ Ｐゴシック" charset="-128"/>
            </a:endParaRPr>
          </a:p>
        </p:txBody>
      </p:sp>
      <p:sp>
        <p:nvSpPr>
          <p:cNvPr id="291843" name="Rectangle 1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57300" y="720725"/>
            <a:ext cx="4800600" cy="3600450"/>
          </a:xfrm>
          <a:solidFill>
            <a:srgbClr val="FFFFFF"/>
          </a:solidFill>
          <a:ln/>
        </p:spPr>
      </p:sp>
      <p:sp>
        <p:nvSpPr>
          <p:cNvPr id="291844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974725" y="4560888"/>
            <a:ext cx="5360988" cy="4316412"/>
          </a:xfrm>
          <a:noFill/>
          <a:ln/>
        </p:spPr>
        <p:txBody>
          <a:bodyPr wrap="none" anchor="ctr"/>
          <a:lstStyle/>
          <a:p>
            <a:endParaRPr lang="de-DE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842" name="Rectangle 10"/>
          <p:cNvSpPr>
            <a:spLocks noGrp="1" noChangeArrowheads="1"/>
          </p:cNvSpPr>
          <p:nvPr>
            <p:ph type="sldNum" sz="quarter"/>
          </p:nvPr>
        </p:nvSpPr>
        <p:spPr>
          <a:noFill/>
        </p:spPr>
        <p:txBody>
          <a:bodyPr/>
          <a:lstStyle/>
          <a:p>
            <a:fld id="{7877EAF2-EF67-4E70-95E3-8FCEFB74D208}" type="slidenum">
              <a:rPr lang="en-US" smtClean="0">
                <a:ea typeface="ＭＳ Ｐゴシック" charset="-128"/>
              </a:rPr>
              <a:pPr/>
              <a:t>7</a:t>
            </a:fld>
            <a:endParaRPr lang="en-US">
              <a:ea typeface="ＭＳ Ｐゴシック" charset="-128"/>
            </a:endParaRPr>
          </a:p>
        </p:txBody>
      </p:sp>
      <p:sp>
        <p:nvSpPr>
          <p:cNvPr id="291843" name="Rectangle 1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57300" y="720725"/>
            <a:ext cx="4800600" cy="3600450"/>
          </a:xfrm>
          <a:solidFill>
            <a:srgbClr val="FFFFFF"/>
          </a:solidFill>
          <a:ln/>
        </p:spPr>
      </p:sp>
      <p:sp>
        <p:nvSpPr>
          <p:cNvPr id="291844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974725" y="4560888"/>
            <a:ext cx="5360988" cy="4316412"/>
          </a:xfrm>
          <a:noFill/>
          <a:ln/>
        </p:spPr>
        <p:txBody>
          <a:bodyPr wrap="none" anchor="ctr"/>
          <a:lstStyle/>
          <a:p>
            <a:endParaRPr lang="de-DE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842" name="Rectangle 10"/>
          <p:cNvSpPr>
            <a:spLocks noGrp="1" noChangeArrowheads="1"/>
          </p:cNvSpPr>
          <p:nvPr>
            <p:ph type="sldNum" sz="quarter"/>
          </p:nvPr>
        </p:nvSpPr>
        <p:spPr>
          <a:noFill/>
        </p:spPr>
        <p:txBody>
          <a:bodyPr/>
          <a:lstStyle/>
          <a:p>
            <a:fld id="{7877EAF2-EF67-4E70-95E3-8FCEFB74D208}" type="slidenum">
              <a:rPr lang="en-US" smtClean="0">
                <a:ea typeface="ＭＳ Ｐゴシック" charset="-128"/>
              </a:rPr>
              <a:pPr/>
              <a:t>8</a:t>
            </a:fld>
            <a:endParaRPr lang="en-US">
              <a:ea typeface="ＭＳ Ｐゴシック" charset="-128"/>
            </a:endParaRPr>
          </a:p>
        </p:txBody>
      </p:sp>
      <p:sp>
        <p:nvSpPr>
          <p:cNvPr id="291843" name="Rectangle 1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57300" y="720725"/>
            <a:ext cx="4800600" cy="3600450"/>
          </a:xfrm>
          <a:solidFill>
            <a:srgbClr val="FFFFFF"/>
          </a:solidFill>
          <a:ln/>
        </p:spPr>
      </p:sp>
      <p:sp>
        <p:nvSpPr>
          <p:cNvPr id="291844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974725" y="4560888"/>
            <a:ext cx="5360988" cy="4316412"/>
          </a:xfrm>
          <a:noFill/>
          <a:ln/>
        </p:spPr>
        <p:txBody>
          <a:bodyPr wrap="none" anchor="ctr"/>
          <a:lstStyle/>
          <a:p>
            <a:endParaRPr lang="de-DE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842" name="Rectangle 10"/>
          <p:cNvSpPr>
            <a:spLocks noGrp="1" noChangeArrowheads="1"/>
          </p:cNvSpPr>
          <p:nvPr>
            <p:ph type="sldNum" sz="quarter"/>
          </p:nvPr>
        </p:nvSpPr>
        <p:spPr>
          <a:noFill/>
        </p:spPr>
        <p:txBody>
          <a:bodyPr/>
          <a:lstStyle/>
          <a:p>
            <a:fld id="{7877EAF2-EF67-4E70-95E3-8FCEFB74D208}" type="slidenum">
              <a:rPr lang="en-US" smtClean="0">
                <a:ea typeface="ＭＳ Ｐゴシック" charset="-128"/>
              </a:rPr>
              <a:pPr/>
              <a:t>9</a:t>
            </a:fld>
            <a:endParaRPr lang="en-US">
              <a:ea typeface="ＭＳ Ｐゴシック" charset="-128"/>
            </a:endParaRPr>
          </a:p>
        </p:txBody>
      </p:sp>
      <p:sp>
        <p:nvSpPr>
          <p:cNvPr id="291843" name="Rectangle 1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57300" y="720725"/>
            <a:ext cx="4800600" cy="3600450"/>
          </a:xfrm>
          <a:solidFill>
            <a:srgbClr val="FFFFFF"/>
          </a:solidFill>
          <a:ln/>
        </p:spPr>
      </p:sp>
      <p:sp>
        <p:nvSpPr>
          <p:cNvPr id="291844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974725" y="4560888"/>
            <a:ext cx="5360988" cy="4316412"/>
          </a:xfrm>
          <a:noFill/>
          <a:ln/>
        </p:spPr>
        <p:txBody>
          <a:bodyPr wrap="none" anchor="ctr"/>
          <a:lstStyle/>
          <a:p>
            <a:endParaRPr lang="de-DE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842" name="Rectangle 10"/>
          <p:cNvSpPr>
            <a:spLocks noGrp="1" noChangeArrowheads="1"/>
          </p:cNvSpPr>
          <p:nvPr>
            <p:ph type="sldNum" sz="quarter"/>
          </p:nvPr>
        </p:nvSpPr>
        <p:spPr>
          <a:noFill/>
        </p:spPr>
        <p:txBody>
          <a:bodyPr/>
          <a:lstStyle/>
          <a:p>
            <a:fld id="{7877EAF2-EF67-4E70-95E3-8FCEFB74D208}" type="slidenum">
              <a:rPr lang="en-US" smtClean="0">
                <a:ea typeface="ＭＳ Ｐゴシック" charset="-128"/>
              </a:rPr>
              <a:pPr/>
              <a:t>10</a:t>
            </a:fld>
            <a:endParaRPr lang="en-US">
              <a:ea typeface="ＭＳ Ｐゴシック" charset="-128"/>
            </a:endParaRPr>
          </a:p>
        </p:txBody>
      </p:sp>
      <p:sp>
        <p:nvSpPr>
          <p:cNvPr id="291843" name="Rectangle 1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57300" y="720725"/>
            <a:ext cx="4800600" cy="3600450"/>
          </a:xfrm>
          <a:solidFill>
            <a:srgbClr val="FFFFFF"/>
          </a:solidFill>
          <a:ln/>
        </p:spPr>
      </p:sp>
      <p:sp>
        <p:nvSpPr>
          <p:cNvPr id="291844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974725" y="4560888"/>
            <a:ext cx="5360988" cy="4316412"/>
          </a:xfrm>
          <a:noFill/>
          <a:ln/>
        </p:spPr>
        <p:txBody>
          <a:bodyPr wrap="none" anchor="ctr"/>
          <a:lstStyle/>
          <a:p>
            <a:endParaRPr lang="de-DE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842" name="Rectangle 10"/>
          <p:cNvSpPr>
            <a:spLocks noGrp="1" noChangeArrowheads="1"/>
          </p:cNvSpPr>
          <p:nvPr>
            <p:ph type="sldNum" sz="quarter"/>
          </p:nvPr>
        </p:nvSpPr>
        <p:spPr>
          <a:noFill/>
        </p:spPr>
        <p:txBody>
          <a:bodyPr/>
          <a:lstStyle/>
          <a:p>
            <a:fld id="{7877EAF2-EF67-4E70-95E3-8FCEFB74D208}" type="slidenum">
              <a:rPr lang="en-US" smtClean="0">
                <a:ea typeface="ＭＳ Ｐゴシック" charset="-128"/>
              </a:rPr>
              <a:pPr/>
              <a:t>11</a:t>
            </a:fld>
            <a:endParaRPr lang="en-US">
              <a:ea typeface="ＭＳ Ｐゴシック" charset="-128"/>
            </a:endParaRPr>
          </a:p>
        </p:txBody>
      </p:sp>
      <p:sp>
        <p:nvSpPr>
          <p:cNvPr id="291843" name="Rectangle 1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57300" y="720725"/>
            <a:ext cx="4800600" cy="3600450"/>
          </a:xfrm>
          <a:solidFill>
            <a:srgbClr val="FFFFFF"/>
          </a:solidFill>
          <a:ln/>
        </p:spPr>
      </p:sp>
      <p:sp>
        <p:nvSpPr>
          <p:cNvPr id="291844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974725" y="4560888"/>
            <a:ext cx="5360988" cy="4316412"/>
          </a:xfrm>
          <a:noFill/>
          <a:ln/>
        </p:spPr>
        <p:txBody>
          <a:bodyPr wrap="none" anchor="ctr"/>
          <a:lstStyle/>
          <a:p>
            <a:endParaRPr lang="de-DE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842" name="Rectangle 10"/>
          <p:cNvSpPr>
            <a:spLocks noGrp="1" noChangeArrowheads="1"/>
          </p:cNvSpPr>
          <p:nvPr>
            <p:ph type="sldNum" sz="quarter"/>
          </p:nvPr>
        </p:nvSpPr>
        <p:spPr>
          <a:noFill/>
        </p:spPr>
        <p:txBody>
          <a:bodyPr/>
          <a:lstStyle/>
          <a:p>
            <a:fld id="{7877EAF2-EF67-4E70-95E3-8FCEFB74D208}" type="slidenum">
              <a:rPr lang="en-US" smtClean="0">
                <a:ea typeface="ＭＳ Ｐゴシック" charset="-128"/>
              </a:rPr>
              <a:pPr/>
              <a:t>12</a:t>
            </a:fld>
            <a:endParaRPr lang="en-US">
              <a:ea typeface="ＭＳ Ｐゴシック" charset="-128"/>
            </a:endParaRPr>
          </a:p>
        </p:txBody>
      </p:sp>
      <p:sp>
        <p:nvSpPr>
          <p:cNvPr id="291843" name="Rectangle 1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57300" y="720725"/>
            <a:ext cx="4800600" cy="3600450"/>
          </a:xfrm>
          <a:solidFill>
            <a:srgbClr val="FFFFFF"/>
          </a:solidFill>
          <a:ln/>
        </p:spPr>
      </p:sp>
      <p:sp>
        <p:nvSpPr>
          <p:cNvPr id="291844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974725" y="4560888"/>
            <a:ext cx="5360988" cy="4316412"/>
          </a:xfrm>
          <a:noFill/>
          <a:ln/>
        </p:spPr>
        <p:txBody>
          <a:bodyPr wrap="none" anchor="ctr"/>
          <a:lstStyle/>
          <a:p>
            <a:endParaRPr lang="de-DE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842" name="Rectangle 10"/>
          <p:cNvSpPr>
            <a:spLocks noGrp="1" noChangeArrowheads="1"/>
          </p:cNvSpPr>
          <p:nvPr>
            <p:ph type="sldNum" sz="quarter"/>
          </p:nvPr>
        </p:nvSpPr>
        <p:spPr>
          <a:noFill/>
        </p:spPr>
        <p:txBody>
          <a:bodyPr/>
          <a:lstStyle/>
          <a:p>
            <a:fld id="{7877EAF2-EF67-4E70-95E3-8FCEFB74D208}" type="slidenum">
              <a:rPr lang="en-US" smtClean="0">
                <a:ea typeface="ＭＳ Ｐゴシック" charset="-128"/>
              </a:rPr>
              <a:pPr/>
              <a:t>13</a:t>
            </a:fld>
            <a:endParaRPr lang="en-US">
              <a:ea typeface="ＭＳ Ｐゴシック" charset="-128"/>
            </a:endParaRPr>
          </a:p>
        </p:txBody>
      </p:sp>
      <p:sp>
        <p:nvSpPr>
          <p:cNvPr id="291843" name="Rectangle 1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57300" y="720725"/>
            <a:ext cx="4800600" cy="3600450"/>
          </a:xfrm>
          <a:solidFill>
            <a:srgbClr val="FFFFFF"/>
          </a:solidFill>
          <a:ln/>
        </p:spPr>
      </p:sp>
      <p:sp>
        <p:nvSpPr>
          <p:cNvPr id="291844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974725" y="4560888"/>
            <a:ext cx="5360988" cy="4316412"/>
          </a:xfrm>
          <a:noFill/>
          <a:ln/>
        </p:spPr>
        <p:txBody>
          <a:bodyPr wrap="none" anchor="ctr"/>
          <a:lstStyle/>
          <a:p>
            <a:endParaRPr lang="de-DE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842" name="Rectangle 10"/>
          <p:cNvSpPr>
            <a:spLocks noGrp="1" noChangeArrowheads="1"/>
          </p:cNvSpPr>
          <p:nvPr>
            <p:ph type="sldNum" sz="quarter"/>
          </p:nvPr>
        </p:nvSpPr>
        <p:spPr>
          <a:noFill/>
        </p:spPr>
        <p:txBody>
          <a:bodyPr/>
          <a:lstStyle/>
          <a:p>
            <a:fld id="{7877EAF2-EF67-4E70-95E3-8FCEFB74D208}" type="slidenum">
              <a:rPr lang="en-US" smtClean="0">
                <a:ea typeface="ＭＳ Ｐゴシック" charset="-128"/>
              </a:rPr>
              <a:pPr/>
              <a:t>14</a:t>
            </a:fld>
            <a:endParaRPr lang="en-US">
              <a:ea typeface="ＭＳ Ｐゴシック" charset="-128"/>
            </a:endParaRPr>
          </a:p>
        </p:txBody>
      </p:sp>
      <p:sp>
        <p:nvSpPr>
          <p:cNvPr id="291843" name="Rectangle 1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57300" y="720725"/>
            <a:ext cx="4800600" cy="3600450"/>
          </a:xfrm>
          <a:solidFill>
            <a:srgbClr val="FFFFFF"/>
          </a:solidFill>
          <a:ln/>
        </p:spPr>
      </p:sp>
      <p:sp>
        <p:nvSpPr>
          <p:cNvPr id="291844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974725" y="4560888"/>
            <a:ext cx="5360988" cy="4316412"/>
          </a:xfrm>
          <a:noFill/>
          <a:ln/>
        </p:spPr>
        <p:txBody>
          <a:bodyPr wrap="none" anchor="ctr"/>
          <a:lstStyle/>
          <a:p>
            <a:endParaRPr lang="de-DE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842" name="Rectangle 10"/>
          <p:cNvSpPr>
            <a:spLocks noGrp="1" noChangeArrowheads="1"/>
          </p:cNvSpPr>
          <p:nvPr>
            <p:ph type="sldNum" sz="quarter"/>
          </p:nvPr>
        </p:nvSpPr>
        <p:spPr>
          <a:noFill/>
        </p:spPr>
        <p:txBody>
          <a:bodyPr/>
          <a:lstStyle/>
          <a:p>
            <a:fld id="{7877EAF2-EF67-4E70-95E3-8FCEFB74D208}" type="slidenum">
              <a:rPr lang="en-US" smtClean="0">
                <a:ea typeface="ＭＳ Ｐゴシック" charset="-128"/>
              </a:rPr>
              <a:pPr/>
              <a:t>15</a:t>
            </a:fld>
            <a:endParaRPr lang="en-US">
              <a:ea typeface="ＭＳ Ｐゴシック" charset="-128"/>
            </a:endParaRPr>
          </a:p>
        </p:txBody>
      </p:sp>
      <p:sp>
        <p:nvSpPr>
          <p:cNvPr id="291843" name="Rectangle 1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57300" y="720725"/>
            <a:ext cx="4800600" cy="3600450"/>
          </a:xfrm>
          <a:solidFill>
            <a:srgbClr val="FFFFFF"/>
          </a:solidFill>
          <a:ln/>
        </p:spPr>
      </p:sp>
      <p:sp>
        <p:nvSpPr>
          <p:cNvPr id="291844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974725" y="4560888"/>
            <a:ext cx="5360988" cy="4316412"/>
          </a:xfrm>
          <a:noFill/>
          <a:ln/>
        </p:spPr>
        <p:txBody>
          <a:bodyPr wrap="none" anchor="ctr"/>
          <a:lstStyle/>
          <a:p>
            <a:endParaRPr lang="de-DE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842" name="Rectangle 10"/>
          <p:cNvSpPr>
            <a:spLocks noGrp="1" noChangeArrowheads="1"/>
          </p:cNvSpPr>
          <p:nvPr>
            <p:ph type="sldNum" sz="quarter"/>
          </p:nvPr>
        </p:nvSpPr>
        <p:spPr>
          <a:noFill/>
        </p:spPr>
        <p:txBody>
          <a:bodyPr/>
          <a:lstStyle/>
          <a:p>
            <a:fld id="{7877EAF2-EF67-4E70-95E3-8FCEFB74D208}" type="slidenum">
              <a:rPr lang="en-US" smtClean="0">
                <a:ea typeface="ＭＳ Ｐゴシック" charset="-128"/>
              </a:rPr>
              <a:pPr/>
              <a:t>16</a:t>
            </a:fld>
            <a:endParaRPr lang="en-US">
              <a:ea typeface="ＭＳ Ｐゴシック" charset="-128"/>
            </a:endParaRPr>
          </a:p>
        </p:txBody>
      </p:sp>
      <p:sp>
        <p:nvSpPr>
          <p:cNvPr id="291843" name="Rectangle 1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57300" y="720725"/>
            <a:ext cx="4800600" cy="3600450"/>
          </a:xfrm>
          <a:solidFill>
            <a:srgbClr val="FFFFFF"/>
          </a:solidFill>
          <a:ln/>
        </p:spPr>
      </p:sp>
      <p:sp>
        <p:nvSpPr>
          <p:cNvPr id="291844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974725" y="4560888"/>
            <a:ext cx="5360988" cy="4316412"/>
          </a:xfrm>
          <a:noFill/>
          <a:ln/>
        </p:spPr>
        <p:txBody>
          <a:bodyPr wrap="none" anchor="ctr"/>
          <a:lstStyle/>
          <a:p>
            <a:endParaRPr lang="de-DE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842" name="Rectangle 10"/>
          <p:cNvSpPr>
            <a:spLocks noGrp="1" noChangeArrowheads="1"/>
          </p:cNvSpPr>
          <p:nvPr>
            <p:ph type="sldNum" sz="quarter"/>
          </p:nvPr>
        </p:nvSpPr>
        <p:spPr>
          <a:noFill/>
        </p:spPr>
        <p:txBody>
          <a:bodyPr/>
          <a:lstStyle/>
          <a:p>
            <a:fld id="{7877EAF2-EF67-4E70-95E3-8FCEFB74D208}" type="slidenum">
              <a:rPr lang="en-US" smtClean="0">
                <a:ea typeface="ＭＳ Ｐゴシック" charset="-128"/>
              </a:rPr>
              <a:pPr/>
              <a:t>17</a:t>
            </a:fld>
            <a:endParaRPr lang="en-US">
              <a:ea typeface="ＭＳ Ｐゴシック" charset="-128"/>
            </a:endParaRPr>
          </a:p>
        </p:txBody>
      </p:sp>
      <p:sp>
        <p:nvSpPr>
          <p:cNvPr id="291843" name="Rectangle 1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57300" y="720725"/>
            <a:ext cx="4800600" cy="3600450"/>
          </a:xfrm>
          <a:solidFill>
            <a:srgbClr val="FFFFFF"/>
          </a:solidFill>
          <a:ln/>
        </p:spPr>
      </p:sp>
      <p:sp>
        <p:nvSpPr>
          <p:cNvPr id="291844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974725" y="4560888"/>
            <a:ext cx="5360988" cy="4316412"/>
          </a:xfrm>
          <a:noFill/>
          <a:ln/>
        </p:spPr>
        <p:txBody>
          <a:bodyPr wrap="none" anchor="ctr"/>
          <a:lstStyle/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9564535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842" name="Rectangle 10"/>
          <p:cNvSpPr>
            <a:spLocks noGrp="1" noChangeArrowheads="1"/>
          </p:cNvSpPr>
          <p:nvPr>
            <p:ph type="sldNum" sz="quarter"/>
          </p:nvPr>
        </p:nvSpPr>
        <p:spPr>
          <a:noFill/>
        </p:spPr>
        <p:txBody>
          <a:bodyPr/>
          <a:lstStyle/>
          <a:p>
            <a:fld id="{7877EAF2-EF67-4E70-95E3-8FCEFB74D208}" type="slidenum">
              <a:rPr lang="en-US" smtClean="0">
                <a:ea typeface="ＭＳ Ｐゴシック" charset="-128"/>
              </a:rPr>
              <a:pPr/>
              <a:t>18</a:t>
            </a:fld>
            <a:endParaRPr lang="en-US">
              <a:ea typeface="ＭＳ Ｐゴシック" charset="-128"/>
            </a:endParaRPr>
          </a:p>
        </p:txBody>
      </p:sp>
      <p:sp>
        <p:nvSpPr>
          <p:cNvPr id="291843" name="Rectangle 1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57300" y="720725"/>
            <a:ext cx="4800600" cy="3600450"/>
          </a:xfrm>
          <a:solidFill>
            <a:srgbClr val="FFFFFF"/>
          </a:solidFill>
          <a:ln/>
        </p:spPr>
      </p:sp>
      <p:sp>
        <p:nvSpPr>
          <p:cNvPr id="291844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974725" y="4560888"/>
            <a:ext cx="5360988" cy="4316412"/>
          </a:xfrm>
          <a:noFill/>
          <a:ln/>
        </p:spPr>
        <p:txBody>
          <a:bodyPr wrap="none" anchor="ctr"/>
          <a:lstStyle/>
          <a:p>
            <a:endParaRPr lang="de-DE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842" name="Rectangle 10"/>
          <p:cNvSpPr>
            <a:spLocks noGrp="1" noChangeArrowheads="1"/>
          </p:cNvSpPr>
          <p:nvPr>
            <p:ph type="sldNum" sz="quarter"/>
          </p:nvPr>
        </p:nvSpPr>
        <p:spPr>
          <a:noFill/>
        </p:spPr>
        <p:txBody>
          <a:bodyPr/>
          <a:lstStyle/>
          <a:p>
            <a:fld id="{7877EAF2-EF67-4E70-95E3-8FCEFB74D208}" type="slidenum">
              <a:rPr lang="en-US" smtClean="0">
                <a:ea typeface="ＭＳ Ｐゴシック" charset="-128"/>
              </a:rPr>
              <a:pPr/>
              <a:t>19</a:t>
            </a:fld>
            <a:endParaRPr lang="en-US">
              <a:ea typeface="ＭＳ Ｐゴシック" charset="-128"/>
            </a:endParaRPr>
          </a:p>
        </p:txBody>
      </p:sp>
      <p:sp>
        <p:nvSpPr>
          <p:cNvPr id="291843" name="Rectangle 1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57300" y="720725"/>
            <a:ext cx="4800600" cy="3600450"/>
          </a:xfrm>
          <a:solidFill>
            <a:srgbClr val="FFFFFF"/>
          </a:solidFill>
          <a:ln/>
        </p:spPr>
      </p:sp>
      <p:sp>
        <p:nvSpPr>
          <p:cNvPr id="291844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974725" y="4560888"/>
            <a:ext cx="5360988" cy="4316412"/>
          </a:xfrm>
          <a:noFill/>
          <a:ln/>
        </p:spPr>
        <p:txBody>
          <a:bodyPr wrap="none" anchor="ctr"/>
          <a:lstStyle/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15368941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842" name="Rectangle 10"/>
          <p:cNvSpPr>
            <a:spLocks noGrp="1" noChangeArrowheads="1"/>
          </p:cNvSpPr>
          <p:nvPr>
            <p:ph type="sldNum" sz="quarter"/>
          </p:nvPr>
        </p:nvSpPr>
        <p:spPr>
          <a:noFill/>
        </p:spPr>
        <p:txBody>
          <a:bodyPr/>
          <a:lstStyle/>
          <a:p>
            <a:fld id="{7877EAF2-EF67-4E70-95E3-8FCEFB74D208}" type="slidenum">
              <a:rPr lang="en-US" smtClean="0">
                <a:ea typeface="ＭＳ Ｐゴシック" charset="-128"/>
              </a:rPr>
              <a:pPr/>
              <a:t>20</a:t>
            </a:fld>
            <a:endParaRPr lang="en-US">
              <a:ea typeface="ＭＳ Ｐゴシック" charset="-128"/>
            </a:endParaRPr>
          </a:p>
        </p:txBody>
      </p:sp>
      <p:sp>
        <p:nvSpPr>
          <p:cNvPr id="291843" name="Rectangle 1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57300" y="720725"/>
            <a:ext cx="4800600" cy="3600450"/>
          </a:xfrm>
          <a:solidFill>
            <a:srgbClr val="FFFFFF"/>
          </a:solidFill>
          <a:ln/>
        </p:spPr>
      </p:sp>
      <p:sp>
        <p:nvSpPr>
          <p:cNvPr id="291844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974725" y="4560888"/>
            <a:ext cx="5360988" cy="4316412"/>
          </a:xfrm>
          <a:noFill/>
          <a:ln/>
        </p:spPr>
        <p:txBody>
          <a:bodyPr wrap="none" anchor="ctr"/>
          <a:lstStyle/>
          <a:p>
            <a:endParaRPr lang="de-DE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842" name="Rectangle 10"/>
          <p:cNvSpPr>
            <a:spLocks noGrp="1" noChangeArrowheads="1"/>
          </p:cNvSpPr>
          <p:nvPr>
            <p:ph type="sldNum" sz="quarter"/>
          </p:nvPr>
        </p:nvSpPr>
        <p:spPr>
          <a:noFill/>
        </p:spPr>
        <p:txBody>
          <a:bodyPr/>
          <a:lstStyle/>
          <a:p>
            <a:fld id="{7877EAF2-EF67-4E70-95E3-8FCEFB74D208}" type="slidenum">
              <a:rPr lang="en-US" smtClean="0">
                <a:ea typeface="ＭＳ Ｐゴシック" charset="-128"/>
              </a:rPr>
              <a:pPr/>
              <a:t>21</a:t>
            </a:fld>
            <a:endParaRPr lang="en-US">
              <a:ea typeface="ＭＳ Ｐゴシック" charset="-128"/>
            </a:endParaRPr>
          </a:p>
        </p:txBody>
      </p:sp>
      <p:sp>
        <p:nvSpPr>
          <p:cNvPr id="291843" name="Rectangle 1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57300" y="720725"/>
            <a:ext cx="4800600" cy="3600450"/>
          </a:xfrm>
          <a:solidFill>
            <a:srgbClr val="FFFFFF"/>
          </a:solidFill>
          <a:ln/>
        </p:spPr>
      </p:sp>
      <p:sp>
        <p:nvSpPr>
          <p:cNvPr id="291844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974725" y="4560888"/>
            <a:ext cx="5360988" cy="4316412"/>
          </a:xfrm>
          <a:noFill/>
          <a:ln/>
        </p:spPr>
        <p:txBody>
          <a:bodyPr wrap="none" anchor="ctr"/>
          <a:lstStyle/>
          <a:p>
            <a:endParaRPr lang="de-DE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842" name="Rectangle 10"/>
          <p:cNvSpPr>
            <a:spLocks noGrp="1" noChangeArrowheads="1"/>
          </p:cNvSpPr>
          <p:nvPr>
            <p:ph type="sldNum" sz="quarter"/>
          </p:nvPr>
        </p:nvSpPr>
        <p:spPr>
          <a:noFill/>
        </p:spPr>
        <p:txBody>
          <a:bodyPr/>
          <a:lstStyle/>
          <a:p>
            <a:fld id="{7877EAF2-EF67-4E70-95E3-8FCEFB74D208}" type="slidenum">
              <a:rPr lang="en-US" smtClean="0">
                <a:ea typeface="ＭＳ Ｐゴシック" charset="-128"/>
              </a:rPr>
              <a:pPr/>
              <a:t>22</a:t>
            </a:fld>
            <a:endParaRPr lang="en-US">
              <a:ea typeface="ＭＳ Ｐゴシック" charset="-128"/>
            </a:endParaRPr>
          </a:p>
        </p:txBody>
      </p:sp>
      <p:sp>
        <p:nvSpPr>
          <p:cNvPr id="291843" name="Rectangle 1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57300" y="720725"/>
            <a:ext cx="4800600" cy="3600450"/>
          </a:xfrm>
          <a:solidFill>
            <a:srgbClr val="FFFFFF"/>
          </a:solidFill>
          <a:ln/>
        </p:spPr>
      </p:sp>
      <p:sp>
        <p:nvSpPr>
          <p:cNvPr id="291844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974725" y="4560888"/>
            <a:ext cx="5360988" cy="4316412"/>
          </a:xfrm>
          <a:noFill/>
          <a:ln/>
        </p:spPr>
        <p:txBody>
          <a:bodyPr wrap="none" anchor="ctr"/>
          <a:lstStyle/>
          <a:p>
            <a:endParaRPr lang="de-DE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842" name="Rectangle 10"/>
          <p:cNvSpPr>
            <a:spLocks noGrp="1" noChangeArrowheads="1"/>
          </p:cNvSpPr>
          <p:nvPr>
            <p:ph type="sldNum" sz="quarter"/>
          </p:nvPr>
        </p:nvSpPr>
        <p:spPr>
          <a:noFill/>
        </p:spPr>
        <p:txBody>
          <a:bodyPr/>
          <a:lstStyle/>
          <a:p>
            <a:fld id="{7877EAF2-EF67-4E70-95E3-8FCEFB74D208}" type="slidenum">
              <a:rPr lang="en-US" smtClean="0">
                <a:ea typeface="ＭＳ Ｐゴシック" charset="-128"/>
              </a:rPr>
              <a:pPr/>
              <a:t>23</a:t>
            </a:fld>
            <a:endParaRPr lang="en-US">
              <a:ea typeface="ＭＳ Ｐゴシック" charset="-128"/>
            </a:endParaRPr>
          </a:p>
        </p:txBody>
      </p:sp>
      <p:sp>
        <p:nvSpPr>
          <p:cNvPr id="291843" name="Rectangle 1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57300" y="720725"/>
            <a:ext cx="4800600" cy="3600450"/>
          </a:xfrm>
          <a:solidFill>
            <a:srgbClr val="FFFFFF"/>
          </a:solidFill>
          <a:ln/>
        </p:spPr>
      </p:sp>
      <p:sp>
        <p:nvSpPr>
          <p:cNvPr id="291844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974725" y="4560888"/>
            <a:ext cx="5360988" cy="4316412"/>
          </a:xfrm>
          <a:noFill/>
          <a:ln/>
        </p:spPr>
        <p:txBody>
          <a:bodyPr wrap="none" anchor="ctr"/>
          <a:lstStyle/>
          <a:p>
            <a:endParaRPr lang="de-DE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842" name="Rectangle 10"/>
          <p:cNvSpPr>
            <a:spLocks noGrp="1" noChangeArrowheads="1"/>
          </p:cNvSpPr>
          <p:nvPr>
            <p:ph type="sldNum" sz="quarter"/>
          </p:nvPr>
        </p:nvSpPr>
        <p:spPr>
          <a:noFill/>
        </p:spPr>
        <p:txBody>
          <a:bodyPr/>
          <a:lstStyle/>
          <a:p>
            <a:fld id="{7877EAF2-EF67-4E70-95E3-8FCEFB74D208}" type="slidenum">
              <a:rPr lang="en-US" smtClean="0">
                <a:ea typeface="ＭＳ Ｐゴシック" charset="-128"/>
              </a:rPr>
              <a:pPr/>
              <a:t>24</a:t>
            </a:fld>
            <a:endParaRPr lang="en-US">
              <a:ea typeface="ＭＳ Ｐゴシック" charset="-128"/>
            </a:endParaRPr>
          </a:p>
        </p:txBody>
      </p:sp>
      <p:sp>
        <p:nvSpPr>
          <p:cNvPr id="291843" name="Rectangle 1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57300" y="720725"/>
            <a:ext cx="4800600" cy="3600450"/>
          </a:xfrm>
          <a:solidFill>
            <a:srgbClr val="FFFFFF"/>
          </a:solidFill>
          <a:ln/>
        </p:spPr>
      </p:sp>
      <p:sp>
        <p:nvSpPr>
          <p:cNvPr id="291844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974725" y="4560888"/>
            <a:ext cx="5360988" cy="4316412"/>
          </a:xfrm>
          <a:noFill/>
          <a:ln/>
        </p:spPr>
        <p:txBody>
          <a:bodyPr wrap="none" anchor="ctr"/>
          <a:lstStyle/>
          <a:p>
            <a:endParaRPr lang="de-DE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842" name="Rectangle 10"/>
          <p:cNvSpPr>
            <a:spLocks noGrp="1" noChangeArrowheads="1"/>
          </p:cNvSpPr>
          <p:nvPr>
            <p:ph type="sldNum" sz="quarter"/>
          </p:nvPr>
        </p:nvSpPr>
        <p:spPr>
          <a:noFill/>
        </p:spPr>
        <p:txBody>
          <a:bodyPr/>
          <a:lstStyle/>
          <a:p>
            <a:fld id="{7877EAF2-EF67-4E70-95E3-8FCEFB74D208}" type="slidenum">
              <a:rPr lang="en-US" smtClean="0">
                <a:ea typeface="ＭＳ Ｐゴシック" charset="-128"/>
              </a:rPr>
              <a:pPr/>
              <a:t>25</a:t>
            </a:fld>
            <a:endParaRPr lang="en-US">
              <a:ea typeface="ＭＳ Ｐゴシック" charset="-128"/>
            </a:endParaRPr>
          </a:p>
        </p:txBody>
      </p:sp>
      <p:sp>
        <p:nvSpPr>
          <p:cNvPr id="291843" name="Rectangle 1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57300" y="720725"/>
            <a:ext cx="4800600" cy="3600450"/>
          </a:xfrm>
          <a:solidFill>
            <a:srgbClr val="FFFFFF"/>
          </a:solidFill>
          <a:ln/>
        </p:spPr>
      </p:sp>
      <p:sp>
        <p:nvSpPr>
          <p:cNvPr id="291844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974725" y="4560888"/>
            <a:ext cx="5360988" cy="4316412"/>
          </a:xfrm>
          <a:noFill/>
          <a:ln/>
        </p:spPr>
        <p:txBody>
          <a:bodyPr wrap="none" anchor="ctr"/>
          <a:lstStyle/>
          <a:p>
            <a:endParaRPr lang="de-DE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842" name="Rectangle 10"/>
          <p:cNvSpPr>
            <a:spLocks noGrp="1" noChangeArrowheads="1"/>
          </p:cNvSpPr>
          <p:nvPr>
            <p:ph type="sldNum" sz="quarter"/>
          </p:nvPr>
        </p:nvSpPr>
        <p:spPr>
          <a:noFill/>
        </p:spPr>
        <p:txBody>
          <a:bodyPr/>
          <a:lstStyle/>
          <a:p>
            <a:fld id="{7877EAF2-EF67-4E70-95E3-8FCEFB74D208}" type="slidenum">
              <a:rPr lang="en-US" smtClean="0">
                <a:ea typeface="ＭＳ Ｐゴシック" charset="-128"/>
              </a:rPr>
              <a:pPr/>
              <a:t>26</a:t>
            </a:fld>
            <a:endParaRPr lang="en-US">
              <a:ea typeface="ＭＳ Ｐゴシック" charset="-128"/>
            </a:endParaRPr>
          </a:p>
        </p:txBody>
      </p:sp>
      <p:sp>
        <p:nvSpPr>
          <p:cNvPr id="291843" name="Rectangle 1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57300" y="720725"/>
            <a:ext cx="4800600" cy="3600450"/>
          </a:xfrm>
          <a:solidFill>
            <a:srgbClr val="FFFFFF"/>
          </a:solidFill>
          <a:ln/>
        </p:spPr>
      </p:sp>
      <p:sp>
        <p:nvSpPr>
          <p:cNvPr id="291844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974725" y="4560888"/>
            <a:ext cx="5360988" cy="4316412"/>
          </a:xfrm>
          <a:noFill/>
          <a:ln/>
        </p:spPr>
        <p:txBody>
          <a:bodyPr wrap="none" anchor="ctr"/>
          <a:lstStyle/>
          <a:p>
            <a:endParaRPr lang="de-DE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842" name="Rectangle 10"/>
          <p:cNvSpPr>
            <a:spLocks noGrp="1" noChangeArrowheads="1"/>
          </p:cNvSpPr>
          <p:nvPr>
            <p:ph type="sldNum" sz="quarter"/>
          </p:nvPr>
        </p:nvSpPr>
        <p:spPr>
          <a:noFill/>
        </p:spPr>
        <p:txBody>
          <a:bodyPr/>
          <a:lstStyle/>
          <a:p>
            <a:fld id="{7877EAF2-EF67-4E70-95E3-8FCEFB74D208}" type="slidenum">
              <a:rPr lang="en-US" smtClean="0">
                <a:ea typeface="ＭＳ Ｐゴシック" charset="-128"/>
              </a:rPr>
              <a:pPr/>
              <a:t>27</a:t>
            </a:fld>
            <a:endParaRPr lang="en-US">
              <a:ea typeface="ＭＳ Ｐゴシック" charset="-128"/>
            </a:endParaRPr>
          </a:p>
        </p:txBody>
      </p:sp>
      <p:sp>
        <p:nvSpPr>
          <p:cNvPr id="291843" name="Rectangle 1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57300" y="720725"/>
            <a:ext cx="4800600" cy="3600450"/>
          </a:xfrm>
          <a:solidFill>
            <a:srgbClr val="FFFFFF"/>
          </a:solidFill>
          <a:ln/>
        </p:spPr>
      </p:sp>
      <p:sp>
        <p:nvSpPr>
          <p:cNvPr id="291844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974725" y="4560888"/>
            <a:ext cx="5360988" cy="4316412"/>
          </a:xfrm>
          <a:noFill/>
          <a:ln/>
        </p:spPr>
        <p:txBody>
          <a:bodyPr wrap="none" anchor="ctr"/>
          <a:lstStyle/>
          <a:p>
            <a:endParaRPr lang="de-DE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842" name="Rectangle 10"/>
          <p:cNvSpPr>
            <a:spLocks noGrp="1" noChangeArrowheads="1"/>
          </p:cNvSpPr>
          <p:nvPr>
            <p:ph type="sldNum" sz="quarter"/>
          </p:nvPr>
        </p:nvSpPr>
        <p:spPr>
          <a:noFill/>
        </p:spPr>
        <p:txBody>
          <a:bodyPr/>
          <a:lstStyle/>
          <a:p>
            <a:fld id="{7877EAF2-EF67-4E70-95E3-8FCEFB74D208}" type="slidenum">
              <a:rPr lang="en-US" smtClean="0">
                <a:ea typeface="ＭＳ Ｐゴシック" charset="-128"/>
              </a:rPr>
              <a:pPr/>
              <a:t>28</a:t>
            </a:fld>
            <a:endParaRPr lang="en-US">
              <a:ea typeface="ＭＳ Ｐゴシック" charset="-128"/>
            </a:endParaRPr>
          </a:p>
        </p:txBody>
      </p:sp>
      <p:sp>
        <p:nvSpPr>
          <p:cNvPr id="291843" name="Rectangle 1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57300" y="720725"/>
            <a:ext cx="4800600" cy="3600450"/>
          </a:xfrm>
          <a:solidFill>
            <a:srgbClr val="FFFFFF"/>
          </a:solidFill>
          <a:ln/>
        </p:spPr>
      </p:sp>
      <p:sp>
        <p:nvSpPr>
          <p:cNvPr id="291844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974725" y="4560888"/>
            <a:ext cx="5360988" cy="4316412"/>
          </a:xfrm>
          <a:noFill/>
          <a:ln/>
        </p:spPr>
        <p:txBody>
          <a:bodyPr wrap="none" anchor="ctr"/>
          <a:lstStyle/>
          <a:p>
            <a:endParaRPr lang="de-DE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842" name="Rectangle 10"/>
          <p:cNvSpPr>
            <a:spLocks noGrp="1" noChangeArrowheads="1"/>
          </p:cNvSpPr>
          <p:nvPr>
            <p:ph type="sldNum" sz="quarter"/>
          </p:nvPr>
        </p:nvSpPr>
        <p:spPr>
          <a:noFill/>
        </p:spPr>
        <p:txBody>
          <a:bodyPr/>
          <a:lstStyle/>
          <a:p>
            <a:fld id="{7877EAF2-EF67-4E70-95E3-8FCEFB74D208}" type="slidenum">
              <a:rPr lang="en-US" smtClean="0">
                <a:ea typeface="ＭＳ Ｐゴシック" charset="-128"/>
              </a:rPr>
              <a:pPr/>
              <a:t>29</a:t>
            </a:fld>
            <a:endParaRPr lang="en-US">
              <a:ea typeface="ＭＳ Ｐゴシック" charset="-128"/>
            </a:endParaRPr>
          </a:p>
        </p:txBody>
      </p:sp>
      <p:sp>
        <p:nvSpPr>
          <p:cNvPr id="291843" name="Rectangle 1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57300" y="720725"/>
            <a:ext cx="4800600" cy="3600450"/>
          </a:xfrm>
          <a:solidFill>
            <a:srgbClr val="FFFFFF"/>
          </a:solidFill>
          <a:ln/>
        </p:spPr>
      </p:sp>
      <p:sp>
        <p:nvSpPr>
          <p:cNvPr id="291844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974725" y="4560888"/>
            <a:ext cx="5360988" cy="4316412"/>
          </a:xfrm>
          <a:noFill/>
          <a:ln/>
        </p:spPr>
        <p:txBody>
          <a:bodyPr wrap="none" anchor="ctr"/>
          <a:lstStyle/>
          <a:p>
            <a:endParaRPr lang="de-DE"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842" name="Rectangle 10"/>
          <p:cNvSpPr>
            <a:spLocks noGrp="1" noChangeArrowheads="1"/>
          </p:cNvSpPr>
          <p:nvPr>
            <p:ph type="sldNum" sz="quarter"/>
          </p:nvPr>
        </p:nvSpPr>
        <p:spPr>
          <a:noFill/>
        </p:spPr>
        <p:txBody>
          <a:bodyPr/>
          <a:lstStyle/>
          <a:p>
            <a:fld id="{7877EAF2-EF67-4E70-95E3-8FCEFB74D208}" type="slidenum">
              <a:rPr lang="en-US" smtClean="0">
                <a:ea typeface="ＭＳ Ｐゴシック" charset="-128"/>
              </a:rPr>
              <a:pPr/>
              <a:t>30</a:t>
            </a:fld>
            <a:endParaRPr lang="en-US">
              <a:ea typeface="ＭＳ Ｐゴシック" charset="-128"/>
            </a:endParaRPr>
          </a:p>
        </p:txBody>
      </p:sp>
      <p:sp>
        <p:nvSpPr>
          <p:cNvPr id="291843" name="Rectangle 1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57300" y="720725"/>
            <a:ext cx="4800600" cy="3600450"/>
          </a:xfrm>
          <a:solidFill>
            <a:srgbClr val="FFFFFF"/>
          </a:solidFill>
          <a:ln/>
        </p:spPr>
      </p:sp>
      <p:sp>
        <p:nvSpPr>
          <p:cNvPr id="291844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974725" y="4560888"/>
            <a:ext cx="5360988" cy="4316412"/>
          </a:xfrm>
          <a:noFill/>
          <a:ln/>
        </p:spPr>
        <p:txBody>
          <a:bodyPr wrap="none" anchor="ctr"/>
          <a:lstStyle/>
          <a:p>
            <a:endParaRPr lang="de-DE"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842" name="Rectangle 10"/>
          <p:cNvSpPr>
            <a:spLocks noGrp="1" noChangeArrowheads="1"/>
          </p:cNvSpPr>
          <p:nvPr>
            <p:ph type="sldNum" sz="quarter"/>
          </p:nvPr>
        </p:nvSpPr>
        <p:spPr>
          <a:noFill/>
        </p:spPr>
        <p:txBody>
          <a:bodyPr/>
          <a:lstStyle/>
          <a:p>
            <a:fld id="{7877EAF2-EF67-4E70-95E3-8FCEFB74D208}" type="slidenum">
              <a:rPr lang="en-US" smtClean="0">
                <a:ea typeface="ＭＳ Ｐゴシック" charset="-128"/>
              </a:rPr>
              <a:pPr/>
              <a:t>31</a:t>
            </a:fld>
            <a:endParaRPr lang="en-US">
              <a:ea typeface="ＭＳ Ｐゴシック" charset="-128"/>
            </a:endParaRPr>
          </a:p>
        </p:txBody>
      </p:sp>
      <p:sp>
        <p:nvSpPr>
          <p:cNvPr id="291843" name="Rectangle 1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57300" y="720725"/>
            <a:ext cx="4800600" cy="3600450"/>
          </a:xfrm>
          <a:solidFill>
            <a:srgbClr val="FFFFFF"/>
          </a:solidFill>
          <a:ln/>
        </p:spPr>
      </p:sp>
      <p:sp>
        <p:nvSpPr>
          <p:cNvPr id="291844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974725" y="4560888"/>
            <a:ext cx="5360988" cy="4316412"/>
          </a:xfrm>
          <a:noFill/>
          <a:ln/>
        </p:spPr>
        <p:txBody>
          <a:bodyPr wrap="none" anchor="ctr"/>
          <a:lstStyle/>
          <a:p>
            <a:endParaRPr lang="de-DE"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842" name="Rectangle 10"/>
          <p:cNvSpPr>
            <a:spLocks noGrp="1" noChangeArrowheads="1"/>
          </p:cNvSpPr>
          <p:nvPr>
            <p:ph type="sldNum" sz="quarter"/>
          </p:nvPr>
        </p:nvSpPr>
        <p:spPr>
          <a:noFill/>
        </p:spPr>
        <p:txBody>
          <a:bodyPr/>
          <a:lstStyle/>
          <a:p>
            <a:fld id="{7877EAF2-EF67-4E70-95E3-8FCEFB74D208}" type="slidenum">
              <a:rPr lang="en-US" smtClean="0">
                <a:ea typeface="ＭＳ Ｐゴシック" charset="-128"/>
              </a:rPr>
              <a:pPr/>
              <a:t>32</a:t>
            </a:fld>
            <a:endParaRPr lang="en-US">
              <a:ea typeface="ＭＳ Ｐゴシック" charset="-128"/>
            </a:endParaRPr>
          </a:p>
        </p:txBody>
      </p:sp>
      <p:sp>
        <p:nvSpPr>
          <p:cNvPr id="291843" name="Rectangle 1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57300" y="720725"/>
            <a:ext cx="4800600" cy="3600450"/>
          </a:xfrm>
          <a:solidFill>
            <a:srgbClr val="FFFFFF"/>
          </a:solidFill>
          <a:ln/>
        </p:spPr>
      </p:sp>
      <p:sp>
        <p:nvSpPr>
          <p:cNvPr id="291844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974725" y="4560888"/>
            <a:ext cx="5360988" cy="4316412"/>
          </a:xfrm>
          <a:noFill/>
          <a:ln/>
        </p:spPr>
        <p:txBody>
          <a:bodyPr wrap="none" anchor="ctr"/>
          <a:lstStyle/>
          <a:p>
            <a:endParaRPr lang="de-DE"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842" name="Rectangle 10"/>
          <p:cNvSpPr>
            <a:spLocks noGrp="1" noChangeArrowheads="1"/>
          </p:cNvSpPr>
          <p:nvPr>
            <p:ph type="sldNum" sz="quarter"/>
          </p:nvPr>
        </p:nvSpPr>
        <p:spPr>
          <a:noFill/>
        </p:spPr>
        <p:txBody>
          <a:bodyPr/>
          <a:lstStyle/>
          <a:p>
            <a:fld id="{7877EAF2-EF67-4E70-95E3-8FCEFB74D208}" type="slidenum">
              <a:rPr lang="en-US" smtClean="0">
                <a:ea typeface="ＭＳ Ｐゴシック" charset="-128"/>
              </a:rPr>
              <a:pPr/>
              <a:t>33</a:t>
            </a:fld>
            <a:endParaRPr lang="en-US">
              <a:ea typeface="ＭＳ Ｐゴシック" charset="-128"/>
            </a:endParaRPr>
          </a:p>
        </p:txBody>
      </p:sp>
      <p:sp>
        <p:nvSpPr>
          <p:cNvPr id="291843" name="Rectangle 1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57300" y="720725"/>
            <a:ext cx="4800600" cy="3600450"/>
          </a:xfrm>
          <a:solidFill>
            <a:srgbClr val="FFFFFF"/>
          </a:solidFill>
          <a:ln/>
        </p:spPr>
      </p:sp>
      <p:sp>
        <p:nvSpPr>
          <p:cNvPr id="291844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974725" y="4560888"/>
            <a:ext cx="5360988" cy="4316412"/>
          </a:xfrm>
          <a:noFill/>
          <a:ln/>
        </p:spPr>
        <p:txBody>
          <a:bodyPr wrap="none" anchor="ctr"/>
          <a:lstStyle/>
          <a:p>
            <a:endParaRPr lang="de-DE"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842" name="Rectangle 10"/>
          <p:cNvSpPr>
            <a:spLocks noGrp="1" noChangeArrowheads="1"/>
          </p:cNvSpPr>
          <p:nvPr>
            <p:ph type="sldNum" sz="quarter"/>
          </p:nvPr>
        </p:nvSpPr>
        <p:spPr>
          <a:noFill/>
        </p:spPr>
        <p:txBody>
          <a:bodyPr/>
          <a:lstStyle/>
          <a:p>
            <a:fld id="{7877EAF2-EF67-4E70-95E3-8FCEFB74D208}" type="slidenum">
              <a:rPr lang="en-US" smtClean="0">
                <a:ea typeface="ＭＳ Ｐゴシック" charset="-128"/>
              </a:rPr>
              <a:pPr/>
              <a:t>34</a:t>
            </a:fld>
            <a:endParaRPr lang="en-US">
              <a:ea typeface="ＭＳ Ｐゴシック" charset="-128"/>
            </a:endParaRPr>
          </a:p>
        </p:txBody>
      </p:sp>
      <p:sp>
        <p:nvSpPr>
          <p:cNvPr id="291843" name="Rectangle 1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57300" y="720725"/>
            <a:ext cx="4800600" cy="3600450"/>
          </a:xfrm>
          <a:solidFill>
            <a:srgbClr val="FFFFFF"/>
          </a:solidFill>
          <a:ln/>
        </p:spPr>
      </p:sp>
      <p:sp>
        <p:nvSpPr>
          <p:cNvPr id="291844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974725" y="4560888"/>
            <a:ext cx="5360988" cy="4316412"/>
          </a:xfrm>
          <a:noFill/>
          <a:ln/>
        </p:spPr>
        <p:txBody>
          <a:bodyPr wrap="none" anchor="ctr"/>
          <a:lstStyle/>
          <a:p>
            <a:endParaRPr lang="de-DE"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842" name="Rectangle 10"/>
          <p:cNvSpPr>
            <a:spLocks noGrp="1" noChangeArrowheads="1"/>
          </p:cNvSpPr>
          <p:nvPr>
            <p:ph type="sldNum" sz="quarter"/>
          </p:nvPr>
        </p:nvSpPr>
        <p:spPr>
          <a:noFill/>
        </p:spPr>
        <p:txBody>
          <a:bodyPr/>
          <a:lstStyle/>
          <a:p>
            <a:fld id="{7877EAF2-EF67-4E70-95E3-8FCEFB74D208}" type="slidenum">
              <a:rPr lang="en-US" smtClean="0">
                <a:ea typeface="ＭＳ Ｐゴシック" charset="-128"/>
              </a:rPr>
              <a:pPr/>
              <a:t>35</a:t>
            </a:fld>
            <a:endParaRPr lang="en-US">
              <a:ea typeface="ＭＳ Ｐゴシック" charset="-128"/>
            </a:endParaRPr>
          </a:p>
        </p:txBody>
      </p:sp>
      <p:sp>
        <p:nvSpPr>
          <p:cNvPr id="291843" name="Rectangle 1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57300" y="720725"/>
            <a:ext cx="4800600" cy="3600450"/>
          </a:xfrm>
          <a:solidFill>
            <a:srgbClr val="FFFFFF"/>
          </a:solidFill>
          <a:ln/>
        </p:spPr>
      </p:sp>
      <p:sp>
        <p:nvSpPr>
          <p:cNvPr id="291844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974725" y="4560888"/>
            <a:ext cx="5360988" cy="4316412"/>
          </a:xfrm>
          <a:noFill/>
          <a:ln/>
        </p:spPr>
        <p:txBody>
          <a:bodyPr wrap="none" anchor="ctr"/>
          <a:lstStyle/>
          <a:p>
            <a:endParaRPr lang="de-DE"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842" name="Rectangle 10"/>
          <p:cNvSpPr>
            <a:spLocks noGrp="1" noChangeArrowheads="1"/>
          </p:cNvSpPr>
          <p:nvPr>
            <p:ph type="sldNum" sz="quarter"/>
          </p:nvPr>
        </p:nvSpPr>
        <p:spPr>
          <a:noFill/>
        </p:spPr>
        <p:txBody>
          <a:bodyPr/>
          <a:lstStyle/>
          <a:p>
            <a:fld id="{7877EAF2-EF67-4E70-95E3-8FCEFB74D208}" type="slidenum">
              <a:rPr lang="en-US" smtClean="0">
                <a:ea typeface="ＭＳ Ｐゴシック" charset="-128"/>
              </a:rPr>
              <a:pPr/>
              <a:t>36</a:t>
            </a:fld>
            <a:endParaRPr lang="en-US">
              <a:ea typeface="ＭＳ Ｐゴシック" charset="-128"/>
            </a:endParaRPr>
          </a:p>
        </p:txBody>
      </p:sp>
      <p:sp>
        <p:nvSpPr>
          <p:cNvPr id="291843" name="Rectangle 1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57300" y="720725"/>
            <a:ext cx="4800600" cy="3600450"/>
          </a:xfrm>
          <a:solidFill>
            <a:srgbClr val="FFFFFF"/>
          </a:solidFill>
          <a:ln/>
        </p:spPr>
      </p:sp>
      <p:sp>
        <p:nvSpPr>
          <p:cNvPr id="291844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974725" y="4560888"/>
            <a:ext cx="5360988" cy="4316412"/>
          </a:xfrm>
          <a:noFill/>
          <a:ln/>
        </p:spPr>
        <p:txBody>
          <a:bodyPr wrap="none" anchor="ctr"/>
          <a:lstStyle/>
          <a:p>
            <a:endParaRPr lang="de-DE"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842" name="Rectangle 10"/>
          <p:cNvSpPr>
            <a:spLocks noGrp="1" noChangeArrowheads="1"/>
          </p:cNvSpPr>
          <p:nvPr>
            <p:ph type="sldNum" sz="quarter"/>
          </p:nvPr>
        </p:nvSpPr>
        <p:spPr>
          <a:noFill/>
        </p:spPr>
        <p:txBody>
          <a:bodyPr/>
          <a:lstStyle/>
          <a:p>
            <a:fld id="{7877EAF2-EF67-4E70-95E3-8FCEFB74D208}" type="slidenum">
              <a:rPr lang="en-US" smtClean="0">
                <a:ea typeface="ＭＳ Ｐゴシック" charset="-128"/>
              </a:rPr>
              <a:pPr/>
              <a:t>37</a:t>
            </a:fld>
            <a:endParaRPr lang="en-US">
              <a:ea typeface="ＭＳ Ｐゴシック" charset="-128"/>
            </a:endParaRPr>
          </a:p>
        </p:txBody>
      </p:sp>
      <p:sp>
        <p:nvSpPr>
          <p:cNvPr id="291843" name="Rectangle 1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57300" y="720725"/>
            <a:ext cx="4800600" cy="3600450"/>
          </a:xfrm>
          <a:solidFill>
            <a:srgbClr val="FFFFFF"/>
          </a:solidFill>
          <a:ln/>
        </p:spPr>
      </p:sp>
      <p:sp>
        <p:nvSpPr>
          <p:cNvPr id="291844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974725" y="4560888"/>
            <a:ext cx="5360988" cy="4316412"/>
          </a:xfrm>
          <a:noFill/>
          <a:ln/>
        </p:spPr>
        <p:txBody>
          <a:bodyPr wrap="none" anchor="ctr"/>
          <a:lstStyle/>
          <a:p>
            <a:endParaRPr lang="de-DE"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842" name="Rectangle 10"/>
          <p:cNvSpPr>
            <a:spLocks noGrp="1" noChangeArrowheads="1"/>
          </p:cNvSpPr>
          <p:nvPr>
            <p:ph type="sldNum" sz="quarter"/>
          </p:nvPr>
        </p:nvSpPr>
        <p:spPr>
          <a:noFill/>
        </p:spPr>
        <p:txBody>
          <a:bodyPr/>
          <a:lstStyle/>
          <a:p>
            <a:fld id="{7877EAF2-EF67-4E70-95E3-8FCEFB74D208}" type="slidenum">
              <a:rPr lang="en-US" smtClean="0">
                <a:ea typeface="ＭＳ Ｐゴシック" charset="-128"/>
              </a:rPr>
              <a:pPr/>
              <a:t>38</a:t>
            </a:fld>
            <a:endParaRPr lang="en-US">
              <a:ea typeface="ＭＳ Ｐゴシック" charset="-128"/>
            </a:endParaRPr>
          </a:p>
        </p:txBody>
      </p:sp>
      <p:sp>
        <p:nvSpPr>
          <p:cNvPr id="291843" name="Rectangle 1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57300" y="720725"/>
            <a:ext cx="4800600" cy="3600450"/>
          </a:xfrm>
          <a:solidFill>
            <a:srgbClr val="FFFFFF"/>
          </a:solidFill>
          <a:ln/>
        </p:spPr>
      </p:sp>
      <p:sp>
        <p:nvSpPr>
          <p:cNvPr id="291844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974725" y="4560888"/>
            <a:ext cx="5360988" cy="4316412"/>
          </a:xfrm>
          <a:noFill/>
          <a:ln/>
        </p:spPr>
        <p:txBody>
          <a:bodyPr wrap="none" anchor="ctr"/>
          <a:lstStyle/>
          <a:p>
            <a:endParaRPr lang="de-DE"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842" name="Rectangle 10"/>
          <p:cNvSpPr>
            <a:spLocks noGrp="1" noChangeArrowheads="1"/>
          </p:cNvSpPr>
          <p:nvPr>
            <p:ph type="sldNum" sz="quarter"/>
          </p:nvPr>
        </p:nvSpPr>
        <p:spPr>
          <a:noFill/>
        </p:spPr>
        <p:txBody>
          <a:bodyPr/>
          <a:lstStyle/>
          <a:p>
            <a:fld id="{7877EAF2-EF67-4E70-95E3-8FCEFB74D208}" type="slidenum">
              <a:rPr lang="en-US" smtClean="0">
                <a:ea typeface="ＭＳ Ｐゴシック" charset="-128"/>
              </a:rPr>
              <a:pPr/>
              <a:t>39</a:t>
            </a:fld>
            <a:endParaRPr lang="en-US">
              <a:ea typeface="ＭＳ Ｐゴシック" charset="-128"/>
            </a:endParaRPr>
          </a:p>
        </p:txBody>
      </p:sp>
      <p:sp>
        <p:nvSpPr>
          <p:cNvPr id="291843" name="Rectangle 1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57300" y="720725"/>
            <a:ext cx="4800600" cy="3600450"/>
          </a:xfrm>
          <a:solidFill>
            <a:srgbClr val="FFFFFF"/>
          </a:solidFill>
          <a:ln/>
        </p:spPr>
      </p:sp>
      <p:sp>
        <p:nvSpPr>
          <p:cNvPr id="291844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974725" y="4560888"/>
            <a:ext cx="5360988" cy="4316412"/>
          </a:xfrm>
          <a:noFill/>
          <a:ln/>
        </p:spPr>
        <p:txBody>
          <a:bodyPr wrap="none" anchor="ctr"/>
          <a:lstStyle/>
          <a:p>
            <a:endParaRPr lang="de-DE"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842" name="Rectangle 10"/>
          <p:cNvSpPr>
            <a:spLocks noGrp="1" noChangeArrowheads="1"/>
          </p:cNvSpPr>
          <p:nvPr>
            <p:ph type="sldNum" sz="quarter"/>
          </p:nvPr>
        </p:nvSpPr>
        <p:spPr>
          <a:noFill/>
        </p:spPr>
        <p:txBody>
          <a:bodyPr/>
          <a:lstStyle/>
          <a:p>
            <a:fld id="{7877EAF2-EF67-4E70-95E3-8FCEFB74D208}" type="slidenum">
              <a:rPr lang="en-US" smtClean="0">
                <a:ea typeface="ＭＳ Ｐゴシック" charset="-128"/>
              </a:rPr>
              <a:pPr/>
              <a:t>40</a:t>
            </a:fld>
            <a:endParaRPr lang="en-US">
              <a:ea typeface="ＭＳ Ｐゴシック" charset="-128"/>
            </a:endParaRPr>
          </a:p>
        </p:txBody>
      </p:sp>
      <p:sp>
        <p:nvSpPr>
          <p:cNvPr id="291843" name="Rectangle 1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57300" y="720725"/>
            <a:ext cx="4800600" cy="3600450"/>
          </a:xfrm>
          <a:solidFill>
            <a:srgbClr val="FFFFFF"/>
          </a:solidFill>
          <a:ln/>
        </p:spPr>
      </p:sp>
      <p:sp>
        <p:nvSpPr>
          <p:cNvPr id="291844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974725" y="4560888"/>
            <a:ext cx="5360988" cy="4316412"/>
          </a:xfrm>
          <a:noFill/>
          <a:ln/>
        </p:spPr>
        <p:txBody>
          <a:bodyPr wrap="none" anchor="ctr"/>
          <a:lstStyle/>
          <a:p>
            <a:endParaRPr lang="de-DE"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842" name="Rectangle 10"/>
          <p:cNvSpPr>
            <a:spLocks noGrp="1" noChangeArrowheads="1"/>
          </p:cNvSpPr>
          <p:nvPr>
            <p:ph type="sldNum" sz="quarter"/>
          </p:nvPr>
        </p:nvSpPr>
        <p:spPr>
          <a:noFill/>
        </p:spPr>
        <p:txBody>
          <a:bodyPr/>
          <a:lstStyle/>
          <a:p>
            <a:fld id="{7877EAF2-EF67-4E70-95E3-8FCEFB74D208}" type="slidenum">
              <a:rPr lang="en-US" smtClean="0">
                <a:ea typeface="ＭＳ Ｐゴシック" charset="-128"/>
              </a:rPr>
              <a:pPr/>
              <a:t>41</a:t>
            </a:fld>
            <a:endParaRPr lang="en-US">
              <a:ea typeface="ＭＳ Ｐゴシック" charset="-128"/>
            </a:endParaRPr>
          </a:p>
        </p:txBody>
      </p:sp>
      <p:sp>
        <p:nvSpPr>
          <p:cNvPr id="291843" name="Rectangle 1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57300" y="720725"/>
            <a:ext cx="4800600" cy="3600450"/>
          </a:xfrm>
          <a:solidFill>
            <a:srgbClr val="FFFFFF"/>
          </a:solidFill>
          <a:ln/>
        </p:spPr>
      </p:sp>
      <p:sp>
        <p:nvSpPr>
          <p:cNvPr id="291844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974725" y="4560888"/>
            <a:ext cx="5360988" cy="4316412"/>
          </a:xfrm>
          <a:noFill/>
          <a:ln/>
        </p:spPr>
        <p:txBody>
          <a:bodyPr wrap="none" anchor="ctr"/>
          <a:lstStyle/>
          <a:p>
            <a:endParaRPr lang="de-DE"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842" name="Rectangle 10"/>
          <p:cNvSpPr>
            <a:spLocks noGrp="1" noChangeArrowheads="1"/>
          </p:cNvSpPr>
          <p:nvPr>
            <p:ph type="sldNum" sz="quarter"/>
          </p:nvPr>
        </p:nvSpPr>
        <p:spPr>
          <a:noFill/>
        </p:spPr>
        <p:txBody>
          <a:bodyPr/>
          <a:lstStyle/>
          <a:p>
            <a:fld id="{7877EAF2-EF67-4E70-95E3-8FCEFB74D208}" type="slidenum">
              <a:rPr lang="en-US" smtClean="0">
                <a:ea typeface="ＭＳ Ｐゴシック" charset="-128"/>
              </a:rPr>
              <a:pPr/>
              <a:t>42</a:t>
            </a:fld>
            <a:endParaRPr lang="en-US">
              <a:ea typeface="ＭＳ Ｐゴシック" charset="-128"/>
            </a:endParaRPr>
          </a:p>
        </p:txBody>
      </p:sp>
      <p:sp>
        <p:nvSpPr>
          <p:cNvPr id="291843" name="Rectangle 1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57300" y="720725"/>
            <a:ext cx="4800600" cy="3600450"/>
          </a:xfrm>
          <a:solidFill>
            <a:srgbClr val="FFFFFF"/>
          </a:solidFill>
          <a:ln/>
        </p:spPr>
      </p:sp>
      <p:sp>
        <p:nvSpPr>
          <p:cNvPr id="291844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974725" y="4560888"/>
            <a:ext cx="5360988" cy="4316412"/>
          </a:xfrm>
          <a:noFill/>
          <a:ln/>
        </p:spPr>
        <p:txBody>
          <a:bodyPr wrap="none" anchor="ctr"/>
          <a:lstStyle/>
          <a:p>
            <a:endParaRPr lang="de-DE"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842" name="Rectangle 10"/>
          <p:cNvSpPr>
            <a:spLocks noGrp="1" noChangeArrowheads="1"/>
          </p:cNvSpPr>
          <p:nvPr>
            <p:ph type="sldNum" sz="quarter"/>
          </p:nvPr>
        </p:nvSpPr>
        <p:spPr>
          <a:noFill/>
        </p:spPr>
        <p:txBody>
          <a:bodyPr/>
          <a:lstStyle/>
          <a:p>
            <a:fld id="{7877EAF2-EF67-4E70-95E3-8FCEFB74D208}" type="slidenum">
              <a:rPr lang="en-US" smtClean="0">
                <a:ea typeface="ＭＳ Ｐゴシック" charset="-128"/>
              </a:rPr>
              <a:pPr/>
              <a:t>43</a:t>
            </a:fld>
            <a:endParaRPr lang="en-US">
              <a:ea typeface="ＭＳ Ｐゴシック" charset="-128"/>
            </a:endParaRPr>
          </a:p>
        </p:txBody>
      </p:sp>
      <p:sp>
        <p:nvSpPr>
          <p:cNvPr id="291843" name="Rectangle 1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57300" y="720725"/>
            <a:ext cx="4800600" cy="3600450"/>
          </a:xfrm>
          <a:solidFill>
            <a:srgbClr val="FFFFFF"/>
          </a:solidFill>
          <a:ln/>
        </p:spPr>
      </p:sp>
      <p:sp>
        <p:nvSpPr>
          <p:cNvPr id="291844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974725" y="4560888"/>
            <a:ext cx="5360988" cy="4316412"/>
          </a:xfrm>
          <a:noFill/>
          <a:ln/>
        </p:spPr>
        <p:txBody>
          <a:bodyPr wrap="none" anchor="ctr"/>
          <a:lstStyle/>
          <a:p>
            <a:endParaRPr lang="de-DE"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842" name="Rectangle 10"/>
          <p:cNvSpPr>
            <a:spLocks noGrp="1" noChangeArrowheads="1"/>
          </p:cNvSpPr>
          <p:nvPr>
            <p:ph type="sldNum" sz="quarter"/>
          </p:nvPr>
        </p:nvSpPr>
        <p:spPr>
          <a:noFill/>
        </p:spPr>
        <p:txBody>
          <a:bodyPr/>
          <a:lstStyle/>
          <a:p>
            <a:fld id="{7877EAF2-EF67-4E70-95E3-8FCEFB74D208}" type="slidenum">
              <a:rPr lang="en-US" smtClean="0">
                <a:ea typeface="ＭＳ Ｐゴシック" charset="-128"/>
              </a:rPr>
              <a:pPr/>
              <a:t>44</a:t>
            </a:fld>
            <a:endParaRPr lang="en-US">
              <a:ea typeface="ＭＳ Ｐゴシック" charset="-128"/>
            </a:endParaRPr>
          </a:p>
        </p:txBody>
      </p:sp>
      <p:sp>
        <p:nvSpPr>
          <p:cNvPr id="291843" name="Rectangle 1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57300" y="720725"/>
            <a:ext cx="4800600" cy="3600450"/>
          </a:xfrm>
          <a:solidFill>
            <a:srgbClr val="FFFFFF"/>
          </a:solidFill>
          <a:ln/>
        </p:spPr>
      </p:sp>
      <p:sp>
        <p:nvSpPr>
          <p:cNvPr id="291844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974725" y="4560888"/>
            <a:ext cx="5360988" cy="4316412"/>
          </a:xfrm>
          <a:noFill/>
          <a:ln/>
        </p:spPr>
        <p:txBody>
          <a:bodyPr wrap="none" anchor="ctr"/>
          <a:lstStyle/>
          <a:p>
            <a:endParaRPr lang="de-DE"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842" name="Rectangle 10"/>
          <p:cNvSpPr>
            <a:spLocks noGrp="1" noChangeArrowheads="1"/>
          </p:cNvSpPr>
          <p:nvPr>
            <p:ph type="sldNum" sz="quarter"/>
          </p:nvPr>
        </p:nvSpPr>
        <p:spPr>
          <a:noFill/>
        </p:spPr>
        <p:txBody>
          <a:bodyPr/>
          <a:lstStyle/>
          <a:p>
            <a:fld id="{7877EAF2-EF67-4E70-95E3-8FCEFB74D208}" type="slidenum">
              <a:rPr lang="en-US" smtClean="0">
                <a:ea typeface="ＭＳ Ｐゴシック" charset="-128"/>
              </a:rPr>
              <a:pPr/>
              <a:t>45</a:t>
            </a:fld>
            <a:endParaRPr lang="en-US">
              <a:ea typeface="ＭＳ Ｐゴシック" charset="-128"/>
            </a:endParaRPr>
          </a:p>
        </p:txBody>
      </p:sp>
      <p:sp>
        <p:nvSpPr>
          <p:cNvPr id="291843" name="Rectangle 1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57300" y="720725"/>
            <a:ext cx="4800600" cy="3600450"/>
          </a:xfrm>
          <a:solidFill>
            <a:srgbClr val="FFFFFF"/>
          </a:solidFill>
          <a:ln/>
        </p:spPr>
      </p:sp>
      <p:sp>
        <p:nvSpPr>
          <p:cNvPr id="291844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974725" y="4560888"/>
            <a:ext cx="5360988" cy="4316412"/>
          </a:xfrm>
          <a:noFill/>
          <a:ln/>
        </p:spPr>
        <p:txBody>
          <a:bodyPr wrap="none" anchor="ctr"/>
          <a:lstStyle/>
          <a:p>
            <a:endParaRPr lang="de-DE"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842" name="Rectangle 10"/>
          <p:cNvSpPr>
            <a:spLocks noGrp="1" noChangeArrowheads="1"/>
          </p:cNvSpPr>
          <p:nvPr>
            <p:ph type="sldNum" sz="quarter"/>
          </p:nvPr>
        </p:nvSpPr>
        <p:spPr>
          <a:noFill/>
        </p:spPr>
        <p:txBody>
          <a:bodyPr/>
          <a:lstStyle/>
          <a:p>
            <a:fld id="{7877EAF2-EF67-4E70-95E3-8FCEFB74D208}" type="slidenum">
              <a:rPr lang="en-US" smtClean="0">
                <a:ea typeface="ＭＳ Ｐゴシック" charset="-128"/>
              </a:rPr>
              <a:pPr/>
              <a:t>46</a:t>
            </a:fld>
            <a:endParaRPr lang="en-US">
              <a:ea typeface="ＭＳ Ｐゴシック" charset="-128"/>
            </a:endParaRPr>
          </a:p>
        </p:txBody>
      </p:sp>
      <p:sp>
        <p:nvSpPr>
          <p:cNvPr id="291843" name="Rectangle 1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57300" y="720725"/>
            <a:ext cx="4800600" cy="3600450"/>
          </a:xfrm>
          <a:solidFill>
            <a:srgbClr val="FFFFFF"/>
          </a:solidFill>
          <a:ln/>
        </p:spPr>
      </p:sp>
      <p:sp>
        <p:nvSpPr>
          <p:cNvPr id="291844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974725" y="4560888"/>
            <a:ext cx="5360988" cy="4316412"/>
          </a:xfrm>
          <a:noFill/>
          <a:ln/>
        </p:spPr>
        <p:txBody>
          <a:bodyPr wrap="none" anchor="ctr"/>
          <a:lstStyle/>
          <a:p>
            <a:endParaRPr lang="de-DE"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842" name="Rectangle 10"/>
          <p:cNvSpPr>
            <a:spLocks noGrp="1" noChangeArrowheads="1"/>
          </p:cNvSpPr>
          <p:nvPr>
            <p:ph type="sldNum" sz="quarter"/>
          </p:nvPr>
        </p:nvSpPr>
        <p:spPr>
          <a:noFill/>
        </p:spPr>
        <p:txBody>
          <a:bodyPr/>
          <a:lstStyle/>
          <a:p>
            <a:fld id="{7877EAF2-EF67-4E70-95E3-8FCEFB74D208}" type="slidenum">
              <a:rPr lang="en-US" smtClean="0">
                <a:ea typeface="ＭＳ Ｐゴシック" charset="-128"/>
              </a:rPr>
              <a:pPr/>
              <a:t>47</a:t>
            </a:fld>
            <a:endParaRPr lang="en-US">
              <a:ea typeface="ＭＳ Ｐゴシック" charset="-128"/>
            </a:endParaRPr>
          </a:p>
        </p:txBody>
      </p:sp>
      <p:sp>
        <p:nvSpPr>
          <p:cNvPr id="291843" name="Rectangle 1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57300" y="720725"/>
            <a:ext cx="4800600" cy="3600450"/>
          </a:xfrm>
          <a:solidFill>
            <a:srgbClr val="FFFFFF"/>
          </a:solidFill>
          <a:ln/>
        </p:spPr>
      </p:sp>
      <p:sp>
        <p:nvSpPr>
          <p:cNvPr id="291844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974725" y="4560888"/>
            <a:ext cx="5360988" cy="4316412"/>
          </a:xfrm>
          <a:noFill/>
          <a:ln/>
        </p:spPr>
        <p:txBody>
          <a:bodyPr wrap="none" anchor="ctr"/>
          <a:lstStyle/>
          <a:p>
            <a:endParaRPr lang="de-DE"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842" name="Rectangle 10"/>
          <p:cNvSpPr>
            <a:spLocks noGrp="1" noChangeArrowheads="1"/>
          </p:cNvSpPr>
          <p:nvPr>
            <p:ph type="sldNum" sz="quarter"/>
          </p:nvPr>
        </p:nvSpPr>
        <p:spPr>
          <a:noFill/>
        </p:spPr>
        <p:txBody>
          <a:bodyPr/>
          <a:lstStyle/>
          <a:p>
            <a:fld id="{7877EAF2-EF67-4E70-95E3-8FCEFB74D208}" type="slidenum">
              <a:rPr lang="en-US" smtClean="0">
                <a:ea typeface="ＭＳ Ｐゴシック" charset="-128"/>
              </a:rPr>
              <a:pPr/>
              <a:t>48</a:t>
            </a:fld>
            <a:endParaRPr lang="en-US">
              <a:ea typeface="ＭＳ Ｐゴシック" charset="-128"/>
            </a:endParaRPr>
          </a:p>
        </p:txBody>
      </p:sp>
      <p:sp>
        <p:nvSpPr>
          <p:cNvPr id="291843" name="Rectangle 1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57300" y="720725"/>
            <a:ext cx="4800600" cy="3600450"/>
          </a:xfrm>
          <a:solidFill>
            <a:srgbClr val="FFFFFF"/>
          </a:solidFill>
          <a:ln/>
        </p:spPr>
      </p:sp>
      <p:sp>
        <p:nvSpPr>
          <p:cNvPr id="291844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974725" y="4560888"/>
            <a:ext cx="5360988" cy="4316412"/>
          </a:xfrm>
          <a:noFill/>
          <a:ln/>
        </p:spPr>
        <p:txBody>
          <a:bodyPr wrap="none" anchor="ctr"/>
          <a:lstStyle/>
          <a:p>
            <a:endParaRPr lang="de-DE"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842" name="Rectangle 10"/>
          <p:cNvSpPr>
            <a:spLocks noGrp="1" noChangeArrowheads="1"/>
          </p:cNvSpPr>
          <p:nvPr>
            <p:ph type="sldNum" sz="quarter"/>
          </p:nvPr>
        </p:nvSpPr>
        <p:spPr>
          <a:noFill/>
        </p:spPr>
        <p:txBody>
          <a:bodyPr/>
          <a:lstStyle/>
          <a:p>
            <a:fld id="{7877EAF2-EF67-4E70-95E3-8FCEFB74D208}" type="slidenum">
              <a:rPr lang="en-US" smtClean="0">
                <a:ea typeface="ＭＳ Ｐゴシック" charset="-128"/>
              </a:rPr>
              <a:pPr/>
              <a:t>49</a:t>
            </a:fld>
            <a:endParaRPr lang="en-US">
              <a:ea typeface="ＭＳ Ｐゴシック" charset="-128"/>
            </a:endParaRPr>
          </a:p>
        </p:txBody>
      </p:sp>
      <p:sp>
        <p:nvSpPr>
          <p:cNvPr id="291843" name="Rectangle 1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57300" y="720725"/>
            <a:ext cx="4800600" cy="3600450"/>
          </a:xfrm>
          <a:solidFill>
            <a:srgbClr val="FFFFFF"/>
          </a:solidFill>
          <a:ln/>
        </p:spPr>
      </p:sp>
      <p:sp>
        <p:nvSpPr>
          <p:cNvPr id="291844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974725" y="4560888"/>
            <a:ext cx="5360988" cy="4316412"/>
          </a:xfrm>
          <a:noFill/>
          <a:ln/>
        </p:spPr>
        <p:txBody>
          <a:bodyPr wrap="none" anchor="ctr"/>
          <a:lstStyle/>
          <a:p>
            <a:endParaRPr lang="de-DE"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842" name="Rectangle 10"/>
          <p:cNvSpPr>
            <a:spLocks noGrp="1" noChangeArrowheads="1"/>
          </p:cNvSpPr>
          <p:nvPr>
            <p:ph type="sldNum" sz="quarter"/>
          </p:nvPr>
        </p:nvSpPr>
        <p:spPr>
          <a:noFill/>
        </p:spPr>
        <p:txBody>
          <a:bodyPr/>
          <a:lstStyle/>
          <a:p>
            <a:fld id="{7877EAF2-EF67-4E70-95E3-8FCEFB74D208}" type="slidenum">
              <a:rPr lang="en-US" smtClean="0">
                <a:ea typeface="ＭＳ Ｐゴシック" charset="-128"/>
              </a:rPr>
              <a:pPr/>
              <a:t>50</a:t>
            </a:fld>
            <a:endParaRPr lang="en-US">
              <a:ea typeface="ＭＳ Ｐゴシック" charset="-128"/>
            </a:endParaRPr>
          </a:p>
        </p:txBody>
      </p:sp>
      <p:sp>
        <p:nvSpPr>
          <p:cNvPr id="291843" name="Rectangle 1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57300" y="720725"/>
            <a:ext cx="4800600" cy="3600450"/>
          </a:xfrm>
          <a:solidFill>
            <a:srgbClr val="FFFFFF"/>
          </a:solidFill>
          <a:ln/>
        </p:spPr>
      </p:sp>
      <p:sp>
        <p:nvSpPr>
          <p:cNvPr id="291844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974725" y="4560888"/>
            <a:ext cx="5360988" cy="4316412"/>
          </a:xfrm>
          <a:noFill/>
          <a:ln/>
        </p:spPr>
        <p:txBody>
          <a:bodyPr wrap="none" anchor="ctr"/>
          <a:lstStyle/>
          <a:p>
            <a:endParaRPr lang="de-DE"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842" name="Rectangle 10"/>
          <p:cNvSpPr>
            <a:spLocks noGrp="1" noChangeArrowheads="1"/>
          </p:cNvSpPr>
          <p:nvPr>
            <p:ph type="sldNum" sz="quarter"/>
          </p:nvPr>
        </p:nvSpPr>
        <p:spPr>
          <a:noFill/>
        </p:spPr>
        <p:txBody>
          <a:bodyPr/>
          <a:lstStyle/>
          <a:p>
            <a:fld id="{7877EAF2-EF67-4E70-95E3-8FCEFB74D208}" type="slidenum">
              <a:rPr lang="en-US" smtClean="0">
                <a:ea typeface="ＭＳ Ｐゴシック" charset="-128"/>
              </a:rPr>
              <a:pPr/>
              <a:t>51</a:t>
            </a:fld>
            <a:endParaRPr lang="en-US">
              <a:ea typeface="ＭＳ Ｐゴシック" charset="-128"/>
            </a:endParaRPr>
          </a:p>
        </p:txBody>
      </p:sp>
      <p:sp>
        <p:nvSpPr>
          <p:cNvPr id="291843" name="Rectangle 1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57300" y="720725"/>
            <a:ext cx="4800600" cy="3600450"/>
          </a:xfrm>
          <a:solidFill>
            <a:srgbClr val="FFFFFF"/>
          </a:solidFill>
          <a:ln/>
        </p:spPr>
      </p:sp>
      <p:sp>
        <p:nvSpPr>
          <p:cNvPr id="291844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974725" y="4560888"/>
            <a:ext cx="5360988" cy="4316412"/>
          </a:xfrm>
          <a:noFill/>
          <a:ln/>
        </p:spPr>
        <p:txBody>
          <a:bodyPr wrap="none" anchor="ctr"/>
          <a:lstStyle/>
          <a:p>
            <a:endParaRPr lang="de-DE"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842" name="Rectangle 10"/>
          <p:cNvSpPr>
            <a:spLocks noGrp="1" noChangeArrowheads="1"/>
          </p:cNvSpPr>
          <p:nvPr>
            <p:ph type="sldNum" sz="quarter"/>
          </p:nvPr>
        </p:nvSpPr>
        <p:spPr>
          <a:noFill/>
        </p:spPr>
        <p:txBody>
          <a:bodyPr/>
          <a:lstStyle/>
          <a:p>
            <a:fld id="{7877EAF2-EF67-4E70-95E3-8FCEFB74D208}" type="slidenum">
              <a:rPr lang="en-US" smtClean="0">
                <a:ea typeface="ＭＳ Ｐゴシック" charset="-128"/>
              </a:rPr>
              <a:pPr/>
              <a:t>52</a:t>
            </a:fld>
            <a:endParaRPr lang="en-US">
              <a:ea typeface="ＭＳ Ｐゴシック" charset="-128"/>
            </a:endParaRPr>
          </a:p>
        </p:txBody>
      </p:sp>
      <p:sp>
        <p:nvSpPr>
          <p:cNvPr id="291843" name="Rectangle 1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57300" y="720725"/>
            <a:ext cx="4800600" cy="3600450"/>
          </a:xfrm>
          <a:solidFill>
            <a:srgbClr val="FFFFFF"/>
          </a:solidFill>
          <a:ln/>
        </p:spPr>
      </p:sp>
      <p:sp>
        <p:nvSpPr>
          <p:cNvPr id="291844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974725" y="4560888"/>
            <a:ext cx="5360988" cy="4316412"/>
          </a:xfrm>
          <a:noFill/>
          <a:ln/>
        </p:spPr>
        <p:txBody>
          <a:bodyPr wrap="none" anchor="ctr"/>
          <a:lstStyle/>
          <a:p>
            <a:endParaRPr lang="de-DE"/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842" name="Rectangle 10"/>
          <p:cNvSpPr>
            <a:spLocks noGrp="1" noChangeArrowheads="1"/>
          </p:cNvSpPr>
          <p:nvPr>
            <p:ph type="sldNum" sz="quarter"/>
          </p:nvPr>
        </p:nvSpPr>
        <p:spPr>
          <a:noFill/>
        </p:spPr>
        <p:txBody>
          <a:bodyPr/>
          <a:lstStyle/>
          <a:p>
            <a:fld id="{7877EAF2-EF67-4E70-95E3-8FCEFB74D208}" type="slidenum">
              <a:rPr lang="en-US" smtClean="0">
                <a:ea typeface="ＭＳ Ｐゴシック" charset="-128"/>
              </a:rPr>
              <a:pPr/>
              <a:t>53</a:t>
            </a:fld>
            <a:endParaRPr lang="en-US">
              <a:ea typeface="ＭＳ Ｐゴシック" charset="-128"/>
            </a:endParaRPr>
          </a:p>
        </p:txBody>
      </p:sp>
      <p:sp>
        <p:nvSpPr>
          <p:cNvPr id="291843" name="Rectangle 1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57300" y="720725"/>
            <a:ext cx="4800600" cy="3600450"/>
          </a:xfrm>
          <a:solidFill>
            <a:srgbClr val="FFFFFF"/>
          </a:solidFill>
          <a:ln/>
        </p:spPr>
      </p:sp>
      <p:sp>
        <p:nvSpPr>
          <p:cNvPr id="291844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974725" y="4560888"/>
            <a:ext cx="5360988" cy="4316412"/>
          </a:xfrm>
          <a:noFill/>
          <a:ln/>
        </p:spPr>
        <p:txBody>
          <a:bodyPr wrap="none" anchor="ctr"/>
          <a:lstStyle/>
          <a:p>
            <a:endParaRPr lang="de-DE"/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842" name="Rectangle 10"/>
          <p:cNvSpPr>
            <a:spLocks noGrp="1" noChangeArrowheads="1"/>
          </p:cNvSpPr>
          <p:nvPr>
            <p:ph type="sldNum" sz="quarter"/>
          </p:nvPr>
        </p:nvSpPr>
        <p:spPr>
          <a:noFill/>
        </p:spPr>
        <p:txBody>
          <a:bodyPr/>
          <a:lstStyle/>
          <a:p>
            <a:fld id="{7877EAF2-EF67-4E70-95E3-8FCEFB74D208}" type="slidenum">
              <a:rPr lang="en-US" smtClean="0">
                <a:ea typeface="ＭＳ Ｐゴシック" charset="-128"/>
              </a:rPr>
              <a:pPr/>
              <a:t>54</a:t>
            </a:fld>
            <a:endParaRPr lang="en-US">
              <a:ea typeface="ＭＳ Ｐゴシック" charset="-128"/>
            </a:endParaRPr>
          </a:p>
        </p:txBody>
      </p:sp>
      <p:sp>
        <p:nvSpPr>
          <p:cNvPr id="291843" name="Rectangle 1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57300" y="720725"/>
            <a:ext cx="4800600" cy="3600450"/>
          </a:xfrm>
          <a:solidFill>
            <a:srgbClr val="FFFFFF"/>
          </a:solidFill>
          <a:ln/>
        </p:spPr>
      </p:sp>
      <p:sp>
        <p:nvSpPr>
          <p:cNvPr id="291844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974725" y="4560888"/>
            <a:ext cx="5360988" cy="4316412"/>
          </a:xfrm>
          <a:noFill/>
          <a:ln/>
        </p:spPr>
        <p:txBody>
          <a:bodyPr wrap="none" anchor="ctr"/>
          <a:lstStyle/>
          <a:p>
            <a:endParaRPr lang="de-DE"/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842" name="Rectangle 10"/>
          <p:cNvSpPr>
            <a:spLocks noGrp="1" noChangeArrowheads="1"/>
          </p:cNvSpPr>
          <p:nvPr>
            <p:ph type="sldNum" sz="quarter"/>
          </p:nvPr>
        </p:nvSpPr>
        <p:spPr>
          <a:noFill/>
        </p:spPr>
        <p:txBody>
          <a:bodyPr/>
          <a:lstStyle/>
          <a:p>
            <a:fld id="{7877EAF2-EF67-4E70-95E3-8FCEFB74D208}" type="slidenum">
              <a:rPr lang="en-US" smtClean="0">
                <a:ea typeface="ＭＳ Ｐゴシック" charset="-128"/>
              </a:rPr>
              <a:pPr/>
              <a:t>55</a:t>
            </a:fld>
            <a:endParaRPr lang="en-US">
              <a:ea typeface="ＭＳ Ｐゴシック" charset="-128"/>
            </a:endParaRPr>
          </a:p>
        </p:txBody>
      </p:sp>
      <p:sp>
        <p:nvSpPr>
          <p:cNvPr id="291843" name="Rectangle 1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57300" y="720725"/>
            <a:ext cx="4800600" cy="3600450"/>
          </a:xfrm>
          <a:solidFill>
            <a:srgbClr val="FFFFFF"/>
          </a:solidFill>
          <a:ln/>
        </p:spPr>
      </p:sp>
      <p:sp>
        <p:nvSpPr>
          <p:cNvPr id="291844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974725" y="4560888"/>
            <a:ext cx="5360988" cy="4316412"/>
          </a:xfrm>
          <a:noFill/>
          <a:ln/>
        </p:spPr>
        <p:txBody>
          <a:bodyPr wrap="none" anchor="ctr"/>
          <a:lstStyle/>
          <a:p>
            <a:endParaRPr lang="de-DE"/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842" name="Rectangle 10"/>
          <p:cNvSpPr>
            <a:spLocks noGrp="1" noChangeArrowheads="1"/>
          </p:cNvSpPr>
          <p:nvPr>
            <p:ph type="sldNum" sz="quarter"/>
          </p:nvPr>
        </p:nvSpPr>
        <p:spPr>
          <a:noFill/>
        </p:spPr>
        <p:txBody>
          <a:bodyPr/>
          <a:lstStyle/>
          <a:p>
            <a:fld id="{7877EAF2-EF67-4E70-95E3-8FCEFB74D208}" type="slidenum">
              <a:rPr lang="en-US" smtClean="0">
                <a:ea typeface="ＭＳ Ｐゴシック" charset="-128"/>
              </a:rPr>
              <a:pPr/>
              <a:t>56</a:t>
            </a:fld>
            <a:endParaRPr lang="en-US">
              <a:ea typeface="ＭＳ Ｐゴシック" charset="-128"/>
            </a:endParaRPr>
          </a:p>
        </p:txBody>
      </p:sp>
      <p:sp>
        <p:nvSpPr>
          <p:cNvPr id="291843" name="Rectangle 1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57300" y="720725"/>
            <a:ext cx="4800600" cy="3600450"/>
          </a:xfrm>
          <a:solidFill>
            <a:srgbClr val="FFFFFF"/>
          </a:solidFill>
          <a:ln/>
        </p:spPr>
      </p:sp>
      <p:sp>
        <p:nvSpPr>
          <p:cNvPr id="291844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974725" y="4560888"/>
            <a:ext cx="5360988" cy="4316412"/>
          </a:xfrm>
          <a:noFill/>
          <a:ln/>
        </p:spPr>
        <p:txBody>
          <a:bodyPr wrap="none" anchor="ctr"/>
          <a:lstStyle/>
          <a:p>
            <a:endParaRPr lang="de-DE"/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842" name="Rectangle 10"/>
          <p:cNvSpPr>
            <a:spLocks noGrp="1" noChangeArrowheads="1"/>
          </p:cNvSpPr>
          <p:nvPr>
            <p:ph type="sldNum" sz="quarter"/>
          </p:nvPr>
        </p:nvSpPr>
        <p:spPr>
          <a:noFill/>
        </p:spPr>
        <p:txBody>
          <a:bodyPr/>
          <a:lstStyle/>
          <a:p>
            <a:fld id="{7877EAF2-EF67-4E70-95E3-8FCEFB74D208}" type="slidenum">
              <a:rPr lang="en-US" smtClean="0">
                <a:ea typeface="ＭＳ Ｐゴシック" charset="-128"/>
              </a:rPr>
              <a:pPr/>
              <a:t>57</a:t>
            </a:fld>
            <a:endParaRPr lang="en-US">
              <a:ea typeface="ＭＳ Ｐゴシック" charset="-128"/>
            </a:endParaRPr>
          </a:p>
        </p:txBody>
      </p:sp>
      <p:sp>
        <p:nvSpPr>
          <p:cNvPr id="291843" name="Rectangle 1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57300" y="720725"/>
            <a:ext cx="4800600" cy="3600450"/>
          </a:xfrm>
          <a:solidFill>
            <a:srgbClr val="FFFFFF"/>
          </a:solidFill>
          <a:ln/>
        </p:spPr>
      </p:sp>
      <p:sp>
        <p:nvSpPr>
          <p:cNvPr id="291844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974725" y="4560888"/>
            <a:ext cx="5360988" cy="4316412"/>
          </a:xfrm>
          <a:noFill/>
          <a:ln/>
        </p:spPr>
        <p:txBody>
          <a:bodyPr wrap="none" anchor="ctr"/>
          <a:lstStyle/>
          <a:p>
            <a:endParaRPr lang="de-DE"/>
          </a:p>
        </p:txBody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842" name="Rectangle 10"/>
          <p:cNvSpPr>
            <a:spLocks noGrp="1" noChangeArrowheads="1"/>
          </p:cNvSpPr>
          <p:nvPr>
            <p:ph type="sldNum" sz="quarter"/>
          </p:nvPr>
        </p:nvSpPr>
        <p:spPr>
          <a:noFill/>
        </p:spPr>
        <p:txBody>
          <a:bodyPr/>
          <a:lstStyle/>
          <a:p>
            <a:fld id="{7877EAF2-EF67-4E70-95E3-8FCEFB74D208}" type="slidenum">
              <a:rPr lang="en-US" smtClean="0">
                <a:ea typeface="ＭＳ Ｐゴシック" charset="-128"/>
              </a:rPr>
              <a:pPr/>
              <a:t>58</a:t>
            </a:fld>
            <a:endParaRPr lang="en-US">
              <a:ea typeface="ＭＳ Ｐゴシック" charset="-128"/>
            </a:endParaRPr>
          </a:p>
        </p:txBody>
      </p:sp>
      <p:sp>
        <p:nvSpPr>
          <p:cNvPr id="291843" name="Rectangle 1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57300" y="720725"/>
            <a:ext cx="4800600" cy="3600450"/>
          </a:xfrm>
          <a:solidFill>
            <a:srgbClr val="FFFFFF"/>
          </a:solidFill>
          <a:ln/>
        </p:spPr>
      </p:sp>
      <p:sp>
        <p:nvSpPr>
          <p:cNvPr id="291844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974725" y="4560888"/>
            <a:ext cx="5360988" cy="4316412"/>
          </a:xfrm>
          <a:noFill/>
          <a:ln/>
        </p:spPr>
        <p:txBody>
          <a:bodyPr wrap="none" anchor="ctr"/>
          <a:lstStyle/>
          <a:p>
            <a:endParaRPr lang="de-DE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1E1BA6-031C-B30B-19B0-804C1DC32F8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B48CA0F-F4C5-C9FA-78B1-71C6D81B893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591D83D-C49F-758C-638A-CC4C78D0E1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FECED1-BEF8-4E6C-A78B-AED880F9BA87}" type="datetimeFigureOut">
              <a:rPr lang="en-IN" smtClean="0"/>
              <a:t>17-10-2023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1F9C45D-4743-583C-0449-C4B11AFB9B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EF3DD77-42A0-6901-6252-C82AD824A7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223EAC6-B8A6-4729-9D15-CF6953B4D465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96856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CBE3A7-C7E4-A9E3-A83E-355D2510F9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F6434C-6ADB-1E3F-C969-074C574CCCB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595ECC9-6051-AF0D-1253-E5E5AD9B41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FECED1-BEF8-4E6C-A78B-AED880F9BA87}" type="datetimeFigureOut">
              <a:rPr lang="en-IN" smtClean="0"/>
              <a:t>17-10-2023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912063F-EC09-4C98-83C9-B4B1DAE224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927FB2C-2F43-E106-C6AD-BD48BB1415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D463340-DC82-45FA-A377-A7AB4170FD4B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01544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0D5832-F63D-E776-2C7F-303500FC2E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0CDB7DF-9E71-56C7-9FFB-BF138B5CC0F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8EA64B-E4E0-65B5-792C-B323B7F4FC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FECED1-BEF8-4E6C-A78B-AED880F9BA87}" type="datetimeFigureOut">
              <a:rPr lang="en-IN" smtClean="0"/>
              <a:t>17-10-2023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825AFD3-321A-F84F-7474-F86A95AC13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516E97C-1117-63E6-7465-BDB6704418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43DC507-14BC-4563-BC2B-526CB70ECB64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71767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35D14C-EA55-AEB2-A3F8-0B0BCD5BC5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61A202-829A-7CE0-CEF4-3906ACCB618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11E6EC9-B11B-ECD1-76EB-ADF709D2F93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F975D04-C796-7565-9E9F-3966993AD6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FECED1-BEF8-4E6C-A78B-AED880F9BA87}" type="datetimeFigureOut">
              <a:rPr lang="en-IN" smtClean="0"/>
              <a:t>17-10-2023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AD7151E-9D33-5912-E54C-7D2D160318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B16AB92-E7C8-2E22-5A6D-A7A65FBCD4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2C6212D-7737-4098-AF0E-481200E4A69A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607324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DCC720-059F-1C47-3831-073DA3B771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34E949-6C68-C5E1-7BDA-F4FC89F121C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ECFF457-71E4-4A4E-0523-91FC6B44C5C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47028A9-BB0C-1D8B-3918-290FAEC7C8F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48485AD-F2FD-DC45-A03F-9FA207EE535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2B5B5D9-369A-F3DA-50F9-5C78E6FB96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FECED1-BEF8-4E6C-A78B-AED880F9BA87}" type="datetimeFigureOut">
              <a:rPr lang="en-IN" smtClean="0"/>
              <a:t>17-10-2023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22B622C-D824-EE35-FA8A-E6318F4723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83FE143-E76D-01E6-32EB-905DDA96C0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50F8727-6850-4BD8-A734-C0D1C5560A7B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02335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5BEDD0-AF8D-BB76-B6B9-F301E5FF8C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235CB5F-927C-E45D-2142-4C6129B564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FECED1-BEF8-4E6C-A78B-AED880F9BA87}" type="datetimeFigureOut">
              <a:rPr lang="en-IN" smtClean="0"/>
              <a:t>17-10-2023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604CBFD-B9EE-313E-3392-F95D25BAC1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01B71DE-923E-90DC-A9E1-04E57CF17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231DFBC-2454-451B-9C42-04D7F724382E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35307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FCDCCB6-6CD5-D7FF-BB97-8C24654900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FECED1-BEF8-4E6C-A78B-AED880F9BA87}" type="datetimeFigureOut">
              <a:rPr lang="en-IN" smtClean="0"/>
              <a:t>17-10-2023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2C21999-42D3-B847-C91A-A5DC03C677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A290D5F-63C9-2E84-89B1-F7E16C4837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4BF2C0F-05D6-4882-A325-BE394602789D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235928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DA88DE-CAF7-00EA-7FF2-951667A5A3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035BC0-2FCC-69DC-54DA-20C20CE0990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5FDA515-9E07-1BFB-B7F5-9A1F5E824F6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AB5873F-BED5-5FF1-62AF-6DA5EA36BD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FECED1-BEF8-4E6C-A78B-AED880F9BA87}" type="datetimeFigureOut">
              <a:rPr lang="en-IN" smtClean="0"/>
              <a:t>17-10-2023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35E8E94-1BCD-DCE8-7D61-2FCBA24553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4875314-6125-22F2-725B-BBFCDAFCE3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436A624-A21F-4536-94D3-C1AEDDF981C0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43676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299DFA-1DAD-B878-11FD-D64C905215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03AEDF0-A799-1648-05A1-1CD8F538615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3F5EE4F-CF80-290D-FD4C-ED284D301D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5265B84-ABA5-672E-E427-70CCE9AA21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FECED1-BEF8-4E6C-A78B-AED880F9BA87}" type="datetimeFigureOut">
              <a:rPr lang="en-IN" smtClean="0"/>
              <a:t>17-10-2023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173D178-27E0-C896-B716-3803327C31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6C80798-FB44-7D39-4D24-997A41BEE8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4EFD112-2322-4E3C-9DD3-0E36B4B34AEA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50136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E80338-F41A-861E-E9B4-688ED0F600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B990A54-667F-BB8F-F91D-D47DBE9544C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CD0078-F6E5-88C4-FF58-7941037395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FECED1-BEF8-4E6C-A78B-AED880F9BA87}" type="datetimeFigureOut">
              <a:rPr lang="en-IN" smtClean="0"/>
              <a:t>17-10-2023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61232B4-B5A2-6C75-58F8-6FAAF7B02B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DD082F0-38C3-C52C-CB1A-F5FCB362E4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EA5F79C-A3E0-437E-9228-F93ACDA809D3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770308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DA9ED6D-C2E1-7A6A-C152-9243D62E49B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CD47FE3-7B21-526F-A38B-58BF74BEC1B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3ADB0DE-B0F4-29D7-D886-55D2798EE2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FECED1-BEF8-4E6C-A78B-AED880F9BA87}" type="datetimeFigureOut">
              <a:rPr lang="en-IN" smtClean="0"/>
              <a:t>17-10-2023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1B29524-A985-ABC7-BDE6-BD7F81EBEB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3429974-965C-47C5-3650-9605761105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07B26C3-184D-4A6F-A3A7-0B42231C36FA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48113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19F1935-93F8-1975-66D3-4CD3338757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E5F114C-F63F-ED4E-DECC-3A629E58DB6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B280934-3B3E-D14E-8D8D-B22A3571A5E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9FECED1-BEF8-4E6C-A78B-AED880F9BA87}" type="datetimeFigureOut">
              <a:rPr lang="en-IN" smtClean="0"/>
              <a:t>17-10-2023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6C7D82F-D636-1C88-1C1C-7A9D39233D6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27956B-B7C0-E222-D3A7-5FCF80D52A2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F1FB7D08-67DA-430D-B31F-1498AA061A61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76787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5" r:id="rId1"/>
    <p:sldLayoutId id="2147483676" r:id="rId2"/>
    <p:sldLayoutId id="2147483677" r:id="rId3"/>
    <p:sldLayoutId id="2147483678" r:id="rId4"/>
    <p:sldLayoutId id="2147483679" r:id="rId5"/>
    <p:sldLayoutId id="2147483680" r:id="rId6"/>
    <p:sldLayoutId id="2147483681" r:id="rId7"/>
    <p:sldLayoutId id="2147483682" r:id="rId8"/>
    <p:sldLayoutId id="2147483683" r:id="rId9"/>
    <p:sldLayoutId id="2147483684" r:id="rId10"/>
    <p:sldLayoutId id="2147483685" r:id="rId11"/>
  </p:sldLayoutIdLst>
  <p:hf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2.wmf"/><Relationship Id="rId4" Type="http://schemas.openxmlformats.org/officeDocument/2006/relationships/oleObject" Target="../embeddings/oleObject1.bin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2.png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6.png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7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7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7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7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7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7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7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3.wmf"/><Relationship Id="rId5" Type="http://schemas.openxmlformats.org/officeDocument/2006/relationships/oleObject" Target="../embeddings/oleObject2.bin"/><Relationship Id="rId4" Type="http://schemas.openxmlformats.org/officeDocument/2006/relationships/image" Target="../media/image32.png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FFD48BC7-DC40-47DE-87EE-9F4B6ECB9A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Freeform: Shape 9">
            <a:extLst>
              <a:ext uri="{FF2B5EF4-FFF2-40B4-BE49-F238E27FC236}">
                <a16:creationId xmlns:a16="http://schemas.microsoft.com/office/drawing/2014/main" id="{E502BBC7-2C76-46F3-BC24-5985BC13DB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35818" y="0"/>
            <a:ext cx="7472363" cy="6858000"/>
          </a:xfrm>
          <a:custGeom>
            <a:avLst/>
            <a:gdLst>
              <a:gd name="connsiteX0" fmla="*/ 1595771 w 9963150"/>
              <a:gd name="connsiteY0" fmla="*/ 0 h 6858000"/>
              <a:gd name="connsiteX1" fmla="*/ 8367379 w 9963150"/>
              <a:gd name="connsiteY1" fmla="*/ 0 h 6858000"/>
              <a:gd name="connsiteX2" fmla="*/ 8504080 w 9963150"/>
              <a:gd name="connsiteY2" fmla="*/ 130333 h 6858000"/>
              <a:gd name="connsiteX3" fmla="*/ 9963150 w 9963150"/>
              <a:gd name="connsiteY3" fmla="*/ 3652838 h 6858000"/>
              <a:gd name="connsiteX4" fmla="*/ 8825600 w 9963150"/>
              <a:gd name="connsiteY4" fmla="*/ 6821583 h 6858000"/>
              <a:gd name="connsiteX5" fmla="*/ 8794055 w 9963150"/>
              <a:gd name="connsiteY5" fmla="*/ 6858000 h 6858000"/>
              <a:gd name="connsiteX6" fmla="*/ 1169096 w 9963150"/>
              <a:gd name="connsiteY6" fmla="*/ 6858000 h 6858000"/>
              <a:gd name="connsiteX7" fmla="*/ 1137550 w 9963150"/>
              <a:gd name="connsiteY7" fmla="*/ 6821583 h 6858000"/>
              <a:gd name="connsiteX8" fmla="*/ 0 w 9963150"/>
              <a:gd name="connsiteY8" fmla="*/ 3652838 h 6858000"/>
              <a:gd name="connsiteX9" fmla="*/ 1459070 w 9963150"/>
              <a:gd name="connsiteY9" fmla="*/ 130333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9963150" h="6858000">
                <a:moveTo>
                  <a:pt x="1595771" y="0"/>
                </a:moveTo>
                <a:lnTo>
                  <a:pt x="8367379" y="0"/>
                </a:lnTo>
                <a:lnTo>
                  <a:pt x="8504080" y="130333"/>
                </a:lnTo>
                <a:cubicBezTo>
                  <a:pt x="9405568" y="1031820"/>
                  <a:pt x="9963150" y="2277214"/>
                  <a:pt x="9963150" y="3652838"/>
                </a:cubicBezTo>
                <a:cubicBezTo>
                  <a:pt x="9963150" y="4856509"/>
                  <a:pt x="9536251" y="5960473"/>
                  <a:pt x="8825600" y="6821583"/>
                </a:cubicBezTo>
                <a:lnTo>
                  <a:pt x="8794055" y="6858000"/>
                </a:lnTo>
                <a:lnTo>
                  <a:pt x="1169096" y="6858000"/>
                </a:lnTo>
                <a:lnTo>
                  <a:pt x="1137550" y="6821583"/>
                </a:lnTo>
                <a:cubicBezTo>
                  <a:pt x="426899" y="5960473"/>
                  <a:pt x="0" y="4856509"/>
                  <a:pt x="0" y="3652838"/>
                </a:cubicBezTo>
                <a:cubicBezTo>
                  <a:pt x="0" y="2277214"/>
                  <a:pt x="557582" y="1031820"/>
                  <a:pt x="1459070" y="130333"/>
                </a:cubicBezTo>
                <a:close/>
              </a:path>
            </a:pathLst>
          </a:custGeom>
          <a:ln w="9525">
            <a:solidFill>
              <a:srgbClr val="EFEFEF"/>
            </a:solidFill>
          </a:ln>
          <a:effectLst>
            <a:outerShdw blurRad="139700" sx="102000" sy="102000" algn="ctr" rotWithShape="0">
              <a:schemeClr val="bg1">
                <a:lumMod val="85000"/>
                <a:alpha val="38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2" name="Freeform: Shape 11">
            <a:extLst>
              <a:ext uri="{FF2B5EF4-FFF2-40B4-BE49-F238E27FC236}">
                <a16:creationId xmlns:a16="http://schemas.microsoft.com/office/drawing/2014/main" id="{C7F28D52-2A5F-4D23-81AE-7CB8B591C7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41248" y="0"/>
            <a:ext cx="7461504" cy="6858000"/>
          </a:xfrm>
          <a:custGeom>
            <a:avLst/>
            <a:gdLst>
              <a:gd name="connsiteX0" fmla="*/ 1595771 w 9963150"/>
              <a:gd name="connsiteY0" fmla="*/ 0 h 6858000"/>
              <a:gd name="connsiteX1" fmla="*/ 8367379 w 9963150"/>
              <a:gd name="connsiteY1" fmla="*/ 0 h 6858000"/>
              <a:gd name="connsiteX2" fmla="*/ 8504080 w 9963150"/>
              <a:gd name="connsiteY2" fmla="*/ 130333 h 6858000"/>
              <a:gd name="connsiteX3" fmla="*/ 9963150 w 9963150"/>
              <a:gd name="connsiteY3" fmla="*/ 3652838 h 6858000"/>
              <a:gd name="connsiteX4" fmla="*/ 8825600 w 9963150"/>
              <a:gd name="connsiteY4" fmla="*/ 6821583 h 6858000"/>
              <a:gd name="connsiteX5" fmla="*/ 8794055 w 9963150"/>
              <a:gd name="connsiteY5" fmla="*/ 6858000 h 6858000"/>
              <a:gd name="connsiteX6" fmla="*/ 1169096 w 9963150"/>
              <a:gd name="connsiteY6" fmla="*/ 6858000 h 6858000"/>
              <a:gd name="connsiteX7" fmla="*/ 1137550 w 9963150"/>
              <a:gd name="connsiteY7" fmla="*/ 6821583 h 6858000"/>
              <a:gd name="connsiteX8" fmla="*/ 0 w 9963150"/>
              <a:gd name="connsiteY8" fmla="*/ 3652838 h 6858000"/>
              <a:gd name="connsiteX9" fmla="*/ 1459070 w 9963150"/>
              <a:gd name="connsiteY9" fmla="*/ 130333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9963150" h="6858000">
                <a:moveTo>
                  <a:pt x="1595771" y="0"/>
                </a:moveTo>
                <a:lnTo>
                  <a:pt x="8367379" y="0"/>
                </a:lnTo>
                <a:lnTo>
                  <a:pt x="8504080" y="130333"/>
                </a:lnTo>
                <a:cubicBezTo>
                  <a:pt x="9405568" y="1031820"/>
                  <a:pt x="9963150" y="2277214"/>
                  <a:pt x="9963150" y="3652838"/>
                </a:cubicBezTo>
                <a:cubicBezTo>
                  <a:pt x="9963150" y="4856509"/>
                  <a:pt x="9536251" y="5960473"/>
                  <a:pt x="8825600" y="6821583"/>
                </a:cubicBezTo>
                <a:lnTo>
                  <a:pt x="8794055" y="6858000"/>
                </a:lnTo>
                <a:lnTo>
                  <a:pt x="1169096" y="6858000"/>
                </a:lnTo>
                <a:lnTo>
                  <a:pt x="1137550" y="6821583"/>
                </a:lnTo>
                <a:cubicBezTo>
                  <a:pt x="426899" y="5960473"/>
                  <a:pt x="0" y="4856509"/>
                  <a:pt x="0" y="3652838"/>
                </a:cubicBezTo>
                <a:cubicBezTo>
                  <a:pt x="0" y="2277214"/>
                  <a:pt x="557582" y="1031820"/>
                  <a:pt x="1459070" y="130333"/>
                </a:cubicBez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9D24FF4-4ECD-3B1F-4827-9618291453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2" y="1999615"/>
            <a:ext cx="6858000" cy="2764028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 defTabSz="914400"/>
            <a:r>
              <a:rPr lang="en-US" sz="63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Ranked Retrieval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629484E-3792-4B3D-89AD-7C8A1ED0E0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788920" y="5524786"/>
            <a:ext cx="3566160" cy="2743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7B294EF-1B39-C6FA-E022-7796F15E59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866764" y="6356350"/>
            <a:ext cx="951613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  <a:defRPr/>
            </a:pPr>
            <a:fld id="{6231DFBC-2454-451B-9C42-04D7F724382E}" type="slidenum">
              <a:rPr lang="en-US" sz="1200">
                <a:solidFill>
                  <a:schemeClr val="tx1">
                    <a:lumMod val="50000"/>
                    <a:lumOff val="50000"/>
                  </a:schemeClr>
                </a:solidFill>
              </a:rPr>
              <a:pPr>
                <a:spcAft>
                  <a:spcPts val="600"/>
                </a:spcAft>
                <a:defRPr/>
              </a:pPr>
              <a:t>1</a:t>
            </a:fld>
            <a:endParaRPr lang="en-US" sz="120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1413816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Text Box 1"/>
          <p:cNvSpPr txBox="1">
            <a:spLocks noChangeArrowheads="1"/>
          </p:cNvSpPr>
          <p:nvPr/>
        </p:nvSpPr>
        <p:spPr bwMode="auto">
          <a:xfrm>
            <a:off x="6553200" y="6477000"/>
            <a:ext cx="2133600" cy="244475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lIns="90000" tIns="46800" rIns="90000" bIns="46800" anchor="ctr"/>
          <a:lstStyle/>
          <a:p>
            <a:pPr algn="r">
              <a:buSzPct val="10000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fld id="{48895EFF-1DBE-4654-84B8-EE5B6E2FA3CA}" type="slidenum">
              <a:rPr lang="en-US" sz="1200">
                <a:solidFill>
                  <a:srgbClr val="898989"/>
                </a:solidFill>
                <a:latin typeface="Calibri" charset="0"/>
              </a:rPr>
              <a:pPr algn="r">
                <a:buSzPct val="10000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</a:pPr>
              <a:t>2</a:t>
            </a:fld>
            <a:endParaRPr lang="en-US" sz="1200">
              <a:solidFill>
                <a:srgbClr val="898989"/>
              </a:solidFill>
              <a:latin typeface="Calibri" charset="0"/>
            </a:endParaRPr>
          </a:p>
        </p:txBody>
      </p:sp>
      <p:sp>
        <p:nvSpPr>
          <p:cNvPr id="84995" name="Text Box 2"/>
          <p:cNvSpPr txBox="1">
            <a:spLocks noChangeArrowheads="1"/>
          </p:cNvSpPr>
          <p:nvPr/>
        </p:nvSpPr>
        <p:spPr bwMode="auto">
          <a:xfrm>
            <a:off x="285720" y="12700"/>
            <a:ext cx="8572560" cy="1403350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anchor="b"/>
          <a:lstStyle/>
          <a:p>
            <a:r>
              <a:rPr lang="de-DE" sz="3600" dirty="0">
                <a:solidFill>
                  <a:schemeClr val="tx1"/>
                </a:solidFill>
                <a:latin typeface="+mj-lt"/>
              </a:rPr>
              <a:t>Heaps’ </a:t>
            </a:r>
            <a:r>
              <a:rPr lang="de-DE" sz="3600" dirty="0" err="1">
                <a:solidFill>
                  <a:schemeClr val="tx1"/>
                </a:solidFill>
                <a:latin typeface="+mj-lt"/>
              </a:rPr>
              <a:t>law</a:t>
            </a:r>
            <a:endParaRPr lang="de-DE" sz="3600" dirty="0">
              <a:solidFill>
                <a:schemeClr val="tx1"/>
              </a:solidFill>
              <a:latin typeface="+mj-lt"/>
            </a:endParaRPr>
          </a:p>
        </p:txBody>
      </p:sp>
      <p:sp>
        <p:nvSpPr>
          <p:cNvPr id="84996" name="Text Box 3"/>
          <p:cNvSpPr txBox="1">
            <a:spLocks noChangeArrowheads="1"/>
          </p:cNvSpPr>
          <p:nvPr/>
        </p:nvSpPr>
        <p:spPr bwMode="auto">
          <a:xfrm>
            <a:off x="4500562" y="1571612"/>
            <a:ext cx="4458622" cy="4572032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/>
          <a:lstStyle/>
          <a:p>
            <a:pPr lvl="1"/>
            <a:endParaRPr lang="en-US" dirty="0">
              <a:solidFill>
                <a:schemeClr val="tx1"/>
              </a:solidFill>
              <a:latin typeface="+mj-lt"/>
            </a:endParaRPr>
          </a:p>
          <a:p>
            <a:pPr lvl="1"/>
            <a:r>
              <a:rPr lang="en-US" dirty="0">
                <a:solidFill>
                  <a:schemeClr val="tx1"/>
                </a:solidFill>
                <a:latin typeface="+mj-lt"/>
              </a:rPr>
              <a:t>Vocabulary size M as a </a:t>
            </a:r>
            <a:r>
              <a:rPr lang="de-DE" dirty="0">
                <a:solidFill>
                  <a:schemeClr val="tx1"/>
                </a:solidFill>
                <a:latin typeface="+mj-lt"/>
              </a:rPr>
              <a:t>function of collection size </a:t>
            </a:r>
            <a:r>
              <a:rPr lang="en-US" i="1" dirty="0">
                <a:solidFill>
                  <a:schemeClr val="tx1"/>
                </a:solidFill>
                <a:latin typeface="+mj-lt"/>
              </a:rPr>
              <a:t>T</a:t>
            </a:r>
            <a:r>
              <a:rPr lang="en-US" dirty="0">
                <a:solidFill>
                  <a:schemeClr val="tx1"/>
                </a:solidFill>
                <a:latin typeface="+mj-lt"/>
              </a:rPr>
              <a:t> (number of tokens) for</a:t>
            </a:r>
          </a:p>
          <a:p>
            <a:pPr lvl="1"/>
            <a:r>
              <a:rPr lang="de-DE" dirty="0">
                <a:solidFill>
                  <a:schemeClr val="tx1"/>
                </a:solidFill>
                <a:latin typeface="+mj-lt"/>
              </a:rPr>
              <a:t>Reuters-RCV1. </a:t>
            </a:r>
          </a:p>
          <a:p>
            <a:pPr lvl="1"/>
            <a:r>
              <a:rPr lang="de-DE" dirty="0">
                <a:solidFill>
                  <a:schemeClr val="tx1"/>
                </a:solidFill>
                <a:latin typeface="+mj-lt"/>
              </a:rPr>
              <a:t>For these data, the dashed line</a:t>
            </a:r>
          </a:p>
          <a:p>
            <a:pPr lvl="1"/>
            <a:r>
              <a:rPr lang="de-DE" dirty="0">
                <a:solidFill>
                  <a:schemeClr val="tx1"/>
                </a:solidFill>
                <a:latin typeface="+mj-lt"/>
              </a:rPr>
              <a:t>log</a:t>
            </a:r>
            <a:r>
              <a:rPr lang="de-DE" baseline="-25000" dirty="0">
                <a:solidFill>
                  <a:schemeClr val="tx1"/>
                </a:solidFill>
                <a:latin typeface="+mj-lt"/>
              </a:rPr>
              <a:t>10</a:t>
            </a:r>
            <a:r>
              <a:rPr lang="de-DE" i="1" dirty="0">
                <a:solidFill>
                  <a:schemeClr val="tx1"/>
                </a:solidFill>
                <a:latin typeface="+mj-lt"/>
              </a:rPr>
              <a:t>M </a:t>
            </a:r>
            <a:r>
              <a:rPr lang="de-DE" dirty="0">
                <a:solidFill>
                  <a:schemeClr val="tx1"/>
                </a:solidFill>
                <a:latin typeface="+mj-lt"/>
              </a:rPr>
              <a:t>= </a:t>
            </a:r>
            <a:r>
              <a:rPr lang="en-US" dirty="0">
                <a:solidFill>
                  <a:schemeClr val="tx1"/>
                </a:solidFill>
                <a:latin typeface="+mj-lt"/>
              </a:rPr>
              <a:t>0.49 ∗ log</a:t>
            </a:r>
            <a:r>
              <a:rPr lang="en-US" baseline="-25000" dirty="0">
                <a:solidFill>
                  <a:schemeClr val="tx1"/>
                </a:solidFill>
                <a:latin typeface="+mj-lt"/>
              </a:rPr>
              <a:t>10 </a:t>
            </a:r>
            <a:r>
              <a:rPr lang="en-US" i="1" dirty="0">
                <a:solidFill>
                  <a:schemeClr val="tx1"/>
                </a:solidFill>
                <a:latin typeface="+mj-lt"/>
              </a:rPr>
              <a:t>T</a:t>
            </a:r>
            <a:r>
              <a:rPr lang="en-US" dirty="0">
                <a:solidFill>
                  <a:schemeClr val="tx1"/>
                </a:solidFill>
                <a:latin typeface="+mj-lt"/>
              </a:rPr>
              <a:t> + 1.64 is the</a:t>
            </a:r>
          </a:p>
          <a:p>
            <a:pPr lvl="1"/>
            <a:r>
              <a:rPr lang="de-DE" dirty="0" err="1">
                <a:solidFill>
                  <a:schemeClr val="tx1"/>
                </a:solidFill>
                <a:latin typeface="+mj-lt"/>
              </a:rPr>
              <a:t>best</a:t>
            </a:r>
            <a:r>
              <a:rPr lang="de-DE" dirty="0">
                <a:solidFill>
                  <a:schemeClr val="tx1"/>
                </a:solidFill>
                <a:latin typeface="+mj-lt"/>
              </a:rPr>
              <a:t> least </a:t>
            </a:r>
            <a:r>
              <a:rPr lang="de-DE" dirty="0" err="1">
                <a:solidFill>
                  <a:schemeClr val="tx1"/>
                </a:solidFill>
                <a:latin typeface="+mj-lt"/>
              </a:rPr>
              <a:t>squares</a:t>
            </a:r>
            <a:r>
              <a:rPr lang="de-DE" dirty="0">
                <a:solidFill>
                  <a:schemeClr val="tx1"/>
                </a:solidFill>
                <a:latin typeface="+mj-lt"/>
              </a:rPr>
              <a:t> fit.</a:t>
            </a:r>
          </a:p>
          <a:p>
            <a:pPr lvl="1"/>
            <a:r>
              <a:rPr lang="de-DE" dirty="0">
                <a:solidFill>
                  <a:schemeClr val="tx1"/>
                </a:solidFill>
                <a:latin typeface="+mj-lt"/>
              </a:rPr>
              <a:t>Thus, </a:t>
            </a:r>
            <a:r>
              <a:rPr lang="de-DE" i="1" dirty="0">
                <a:solidFill>
                  <a:schemeClr val="tx1"/>
                </a:solidFill>
                <a:latin typeface="+mj-lt"/>
              </a:rPr>
              <a:t>M </a:t>
            </a:r>
            <a:r>
              <a:rPr lang="de-DE" dirty="0">
                <a:solidFill>
                  <a:schemeClr val="tx1"/>
                </a:solidFill>
                <a:latin typeface="+mj-lt"/>
              </a:rPr>
              <a:t>= 10</a:t>
            </a:r>
            <a:r>
              <a:rPr lang="de-DE" baseline="30000" dirty="0">
                <a:solidFill>
                  <a:schemeClr val="tx1"/>
                </a:solidFill>
                <a:latin typeface="+mj-lt"/>
              </a:rPr>
              <a:t>1.64</a:t>
            </a:r>
            <a:r>
              <a:rPr lang="de-DE" i="1" dirty="0">
                <a:solidFill>
                  <a:schemeClr val="tx1"/>
                </a:solidFill>
                <a:latin typeface="+mj-lt"/>
              </a:rPr>
              <a:t>T</a:t>
            </a:r>
            <a:r>
              <a:rPr lang="de-DE" baseline="30000" dirty="0">
                <a:solidFill>
                  <a:schemeClr val="tx1"/>
                </a:solidFill>
                <a:latin typeface="+mj-lt"/>
              </a:rPr>
              <a:t>0.49 </a:t>
            </a:r>
            <a:r>
              <a:rPr lang="en-US" dirty="0">
                <a:solidFill>
                  <a:schemeClr val="tx1"/>
                </a:solidFill>
                <a:latin typeface="+mj-lt"/>
              </a:rPr>
              <a:t>and </a:t>
            </a:r>
            <a:r>
              <a:rPr lang="en-US" i="1" dirty="0">
                <a:solidFill>
                  <a:schemeClr val="tx1"/>
                </a:solidFill>
                <a:latin typeface="+mj-lt"/>
              </a:rPr>
              <a:t>k</a:t>
            </a:r>
            <a:r>
              <a:rPr lang="en-US" dirty="0">
                <a:solidFill>
                  <a:schemeClr val="tx1"/>
                </a:solidFill>
                <a:latin typeface="+mj-lt"/>
              </a:rPr>
              <a:t> = 10</a:t>
            </a:r>
            <a:r>
              <a:rPr lang="en-US" baseline="30000" dirty="0">
                <a:solidFill>
                  <a:schemeClr val="tx1"/>
                </a:solidFill>
                <a:latin typeface="+mj-lt"/>
              </a:rPr>
              <a:t>1.64</a:t>
            </a:r>
            <a:r>
              <a:rPr lang="en-US" dirty="0">
                <a:solidFill>
                  <a:schemeClr val="tx1"/>
                </a:solidFill>
                <a:latin typeface="+mj-lt"/>
              </a:rPr>
              <a:t> ≈ 44 and </a:t>
            </a:r>
            <a:r>
              <a:rPr lang="de-DE" i="1" dirty="0">
                <a:solidFill>
                  <a:schemeClr val="tx1"/>
                </a:solidFill>
                <a:latin typeface="+mj-lt"/>
              </a:rPr>
              <a:t>b</a:t>
            </a:r>
            <a:r>
              <a:rPr lang="de-DE" dirty="0">
                <a:solidFill>
                  <a:schemeClr val="tx1"/>
                </a:solidFill>
                <a:latin typeface="+mj-lt"/>
              </a:rPr>
              <a:t> = 0.49.</a:t>
            </a:r>
          </a:p>
          <a:p>
            <a:pPr lvl="1"/>
            <a:endParaRPr lang="en-US" dirty="0">
              <a:solidFill>
                <a:schemeClr val="tx1"/>
              </a:solidFill>
              <a:latin typeface="+mj-lt"/>
            </a:endParaRPr>
          </a:p>
        </p:txBody>
      </p:sp>
      <p:sp>
        <p:nvSpPr>
          <p:cNvPr id="84997" name="Text Box 4"/>
          <p:cNvSpPr txBox="1">
            <a:spLocks noChangeArrowheads="1"/>
          </p:cNvSpPr>
          <p:nvPr/>
        </p:nvSpPr>
        <p:spPr bwMode="auto">
          <a:xfrm>
            <a:off x="7640638" y="-33338"/>
            <a:ext cx="925512" cy="336551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wrap="none" anchor="ctr"/>
          <a:lstStyle/>
          <a:p>
            <a:pPr>
              <a:buClr>
                <a:srgbClr val="000000"/>
              </a:buClr>
              <a:buSzPct val="100000"/>
              <a:buFont typeface="Times New Roman" pitchFamily="16" charset="0"/>
              <a:buNone/>
            </a:pPr>
            <a:endParaRPr lang="de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4BF2C0F-05D6-4882-A325-BE394602789D}" type="slidenum">
              <a:rPr lang="en-US" smtClean="0"/>
              <a:pPr>
                <a:defRPr/>
              </a:pPr>
              <a:t>2</a:t>
            </a:fld>
            <a:endParaRPr lang="en-US"/>
          </a:p>
        </p:txBody>
      </p:sp>
      <p:pic>
        <p:nvPicPr>
          <p:cNvPr id="8" name="Picture 7" descr="60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5720" y="2000240"/>
            <a:ext cx="4458622" cy="4071966"/>
          </a:xfrm>
          <a:prstGeom prst="rect">
            <a:avLst/>
          </a:prstGeom>
        </p:spPr>
      </p:pic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Text Box 1"/>
          <p:cNvSpPr txBox="1">
            <a:spLocks noChangeArrowheads="1"/>
          </p:cNvSpPr>
          <p:nvPr/>
        </p:nvSpPr>
        <p:spPr bwMode="auto">
          <a:xfrm>
            <a:off x="6553200" y="6477000"/>
            <a:ext cx="2133600" cy="244475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lIns="90000" tIns="46800" rIns="90000" bIns="46800" anchor="ctr"/>
          <a:lstStyle/>
          <a:p>
            <a:pPr algn="r">
              <a:buSzPct val="10000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fld id="{48895EFF-1DBE-4654-84B8-EE5B6E2FA3CA}" type="slidenum">
              <a:rPr lang="en-US" sz="1200">
                <a:solidFill>
                  <a:srgbClr val="898989"/>
                </a:solidFill>
                <a:latin typeface="Calibri" charset="0"/>
              </a:rPr>
              <a:pPr algn="r">
                <a:buSzPct val="10000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</a:pPr>
              <a:t>3</a:t>
            </a:fld>
            <a:endParaRPr lang="en-US" sz="1200">
              <a:solidFill>
                <a:srgbClr val="898989"/>
              </a:solidFill>
              <a:latin typeface="Calibri" charset="0"/>
            </a:endParaRPr>
          </a:p>
        </p:txBody>
      </p:sp>
      <p:sp>
        <p:nvSpPr>
          <p:cNvPr id="84995" name="Text Box 2"/>
          <p:cNvSpPr txBox="1">
            <a:spLocks noChangeArrowheads="1"/>
          </p:cNvSpPr>
          <p:nvPr/>
        </p:nvSpPr>
        <p:spPr bwMode="auto">
          <a:xfrm>
            <a:off x="0" y="12700"/>
            <a:ext cx="8858280" cy="1403350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anchor="b"/>
          <a:lstStyle/>
          <a:p>
            <a:pPr lvl="1"/>
            <a:endParaRPr lang="de-DE" sz="3600" dirty="0">
              <a:solidFill>
                <a:schemeClr val="tx1"/>
              </a:solidFill>
              <a:latin typeface="+mj-lt"/>
            </a:endParaRPr>
          </a:p>
          <a:p>
            <a:pPr lvl="1"/>
            <a:r>
              <a:rPr lang="de-DE" sz="3600" dirty="0" err="1">
                <a:solidFill>
                  <a:schemeClr val="tx1"/>
                </a:solidFill>
                <a:latin typeface="+mj-lt"/>
              </a:rPr>
              <a:t>Zipf’s</a:t>
            </a:r>
            <a:r>
              <a:rPr lang="de-DE" sz="3600" dirty="0">
                <a:solidFill>
                  <a:schemeClr val="tx1"/>
                </a:solidFill>
                <a:latin typeface="+mj-lt"/>
              </a:rPr>
              <a:t> </a:t>
            </a:r>
            <a:r>
              <a:rPr lang="de-DE" sz="3600" dirty="0" err="1">
                <a:solidFill>
                  <a:schemeClr val="tx1"/>
                </a:solidFill>
                <a:latin typeface="+mj-lt"/>
              </a:rPr>
              <a:t>law</a:t>
            </a:r>
            <a:endParaRPr lang="de-DE" sz="3600" dirty="0">
              <a:solidFill>
                <a:schemeClr val="tx1"/>
              </a:solidFill>
              <a:latin typeface="+mj-lt"/>
            </a:endParaRPr>
          </a:p>
        </p:txBody>
      </p:sp>
      <p:sp>
        <p:nvSpPr>
          <p:cNvPr id="84996" name="Text Box 3"/>
          <p:cNvSpPr txBox="1">
            <a:spLocks noChangeArrowheads="1"/>
          </p:cNvSpPr>
          <p:nvPr/>
        </p:nvSpPr>
        <p:spPr bwMode="auto">
          <a:xfrm>
            <a:off x="4500562" y="1571612"/>
            <a:ext cx="4286280" cy="4572032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/>
          <a:lstStyle/>
          <a:p>
            <a:pPr lvl="1"/>
            <a:endParaRPr lang="de-DE" dirty="0">
              <a:solidFill>
                <a:schemeClr val="tx1"/>
              </a:solidFill>
              <a:latin typeface="+mj-lt"/>
            </a:endParaRPr>
          </a:p>
          <a:p>
            <a:pPr lvl="1"/>
            <a:endParaRPr lang="de-DE" dirty="0">
              <a:solidFill>
                <a:schemeClr val="tx1"/>
              </a:solidFill>
              <a:latin typeface="+mj-lt"/>
            </a:endParaRPr>
          </a:p>
          <a:p>
            <a:pPr lvl="1"/>
            <a:r>
              <a:rPr lang="de-DE" dirty="0">
                <a:solidFill>
                  <a:schemeClr val="tx1"/>
                </a:solidFill>
                <a:latin typeface="+mj-lt"/>
              </a:rPr>
              <a:t>The </a:t>
            </a:r>
            <a:r>
              <a:rPr lang="de-DE" dirty="0" err="1">
                <a:solidFill>
                  <a:schemeClr val="tx1"/>
                </a:solidFill>
                <a:latin typeface="+mj-lt"/>
              </a:rPr>
              <a:t>most</a:t>
            </a:r>
            <a:r>
              <a:rPr lang="de-DE" dirty="0">
                <a:solidFill>
                  <a:schemeClr val="tx1"/>
                </a:solidFill>
                <a:latin typeface="+mj-lt"/>
              </a:rPr>
              <a:t> </a:t>
            </a:r>
            <a:r>
              <a:rPr lang="de-DE" dirty="0" err="1">
                <a:solidFill>
                  <a:schemeClr val="tx1"/>
                </a:solidFill>
                <a:latin typeface="+mj-lt"/>
              </a:rPr>
              <a:t>frequent</a:t>
            </a:r>
            <a:r>
              <a:rPr lang="de-DE" dirty="0">
                <a:solidFill>
                  <a:schemeClr val="tx1"/>
                </a:solidFill>
                <a:latin typeface="+mj-lt"/>
              </a:rPr>
              <a:t> </a:t>
            </a:r>
            <a:r>
              <a:rPr lang="de-DE" dirty="0" err="1">
                <a:solidFill>
                  <a:schemeClr val="tx1"/>
                </a:solidFill>
                <a:latin typeface="+mj-lt"/>
              </a:rPr>
              <a:t>term</a:t>
            </a:r>
            <a:endParaRPr lang="de-DE" dirty="0">
              <a:solidFill>
                <a:schemeClr val="tx1"/>
              </a:solidFill>
              <a:latin typeface="+mj-lt"/>
            </a:endParaRPr>
          </a:p>
          <a:p>
            <a:pPr lvl="1"/>
            <a:r>
              <a:rPr lang="en-US" dirty="0">
                <a:solidFill>
                  <a:schemeClr val="tx1"/>
                </a:solidFill>
                <a:latin typeface="+mj-lt"/>
              </a:rPr>
              <a:t>(</a:t>
            </a:r>
            <a:r>
              <a:rPr lang="en-US" i="1" dirty="0">
                <a:solidFill>
                  <a:schemeClr val="tx1"/>
                </a:solidFill>
                <a:latin typeface="+mj-lt"/>
              </a:rPr>
              <a:t>the</a:t>
            </a:r>
            <a:r>
              <a:rPr lang="en-US" dirty="0">
                <a:solidFill>
                  <a:schemeClr val="tx1"/>
                </a:solidFill>
                <a:latin typeface="+mj-lt"/>
              </a:rPr>
              <a:t>) occurs cf</a:t>
            </a:r>
            <a:r>
              <a:rPr lang="en-US" baseline="-25000" dirty="0">
                <a:solidFill>
                  <a:schemeClr val="tx1"/>
                </a:solidFill>
                <a:latin typeface="+mj-lt"/>
              </a:rPr>
              <a:t>1</a:t>
            </a:r>
            <a:r>
              <a:rPr lang="en-US" dirty="0">
                <a:solidFill>
                  <a:schemeClr val="tx1"/>
                </a:solidFill>
                <a:latin typeface="+mj-lt"/>
              </a:rPr>
              <a:t> times, the</a:t>
            </a:r>
          </a:p>
          <a:p>
            <a:pPr lvl="1"/>
            <a:r>
              <a:rPr lang="de-DE" dirty="0" err="1">
                <a:solidFill>
                  <a:schemeClr val="tx1"/>
                </a:solidFill>
                <a:latin typeface="+mj-lt"/>
              </a:rPr>
              <a:t>second</a:t>
            </a:r>
            <a:r>
              <a:rPr lang="de-DE" dirty="0">
                <a:solidFill>
                  <a:schemeClr val="tx1"/>
                </a:solidFill>
                <a:latin typeface="+mj-lt"/>
              </a:rPr>
              <a:t> </a:t>
            </a:r>
            <a:r>
              <a:rPr lang="de-DE" dirty="0" err="1">
                <a:solidFill>
                  <a:schemeClr val="tx1"/>
                </a:solidFill>
                <a:latin typeface="+mj-lt"/>
              </a:rPr>
              <a:t>most</a:t>
            </a:r>
            <a:r>
              <a:rPr lang="de-DE" dirty="0">
                <a:solidFill>
                  <a:schemeClr val="tx1"/>
                </a:solidFill>
                <a:latin typeface="+mj-lt"/>
              </a:rPr>
              <a:t> </a:t>
            </a:r>
            <a:r>
              <a:rPr lang="de-DE" dirty="0" err="1">
                <a:solidFill>
                  <a:schemeClr val="tx1"/>
                </a:solidFill>
                <a:latin typeface="+mj-lt"/>
              </a:rPr>
              <a:t>frequent</a:t>
            </a:r>
            <a:r>
              <a:rPr lang="de-DE" dirty="0">
                <a:solidFill>
                  <a:schemeClr val="tx1"/>
                </a:solidFill>
                <a:latin typeface="+mj-lt"/>
              </a:rPr>
              <a:t> </a:t>
            </a:r>
            <a:r>
              <a:rPr lang="de-DE" dirty="0" err="1">
                <a:solidFill>
                  <a:schemeClr val="tx1"/>
                </a:solidFill>
                <a:latin typeface="+mj-lt"/>
              </a:rPr>
              <a:t>term</a:t>
            </a:r>
            <a:endParaRPr lang="de-DE" dirty="0">
              <a:solidFill>
                <a:schemeClr val="tx1"/>
              </a:solidFill>
              <a:latin typeface="+mj-lt"/>
            </a:endParaRPr>
          </a:p>
          <a:p>
            <a:pPr lvl="1"/>
            <a:r>
              <a:rPr lang="de-DE" dirty="0">
                <a:solidFill>
                  <a:schemeClr val="tx1"/>
                </a:solidFill>
                <a:latin typeface="+mj-lt"/>
              </a:rPr>
              <a:t>(</a:t>
            </a:r>
            <a:r>
              <a:rPr lang="de-DE" i="1" dirty="0" err="1">
                <a:solidFill>
                  <a:schemeClr val="tx1"/>
                </a:solidFill>
                <a:latin typeface="+mj-lt"/>
              </a:rPr>
              <a:t>of</a:t>
            </a:r>
            <a:r>
              <a:rPr lang="de-DE" dirty="0">
                <a:solidFill>
                  <a:schemeClr val="tx1"/>
                </a:solidFill>
                <a:latin typeface="+mj-lt"/>
              </a:rPr>
              <a:t>) </a:t>
            </a:r>
            <a:r>
              <a:rPr lang="de-DE" dirty="0" err="1">
                <a:solidFill>
                  <a:schemeClr val="tx1"/>
                </a:solidFill>
                <a:latin typeface="+mj-lt"/>
              </a:rPr>
              <a:t>occurs</a:t>
            </a:r>
            <a:r>
              <a:rPr lang="de-DE" dirty="0">
                <a:solidFill>
                  <a:schemeClr val="tx1"/>
                </a:solidFill>
                <a:latin typeface="+mj-lt"/>
              </a:rPr>
              <a:t> </a:t>
            </a:r>
          </a:p>
          <a:p>
            <a:pPr lvl="1"/>
            <a:r>
              <a:rPr lang="de-DE" dirty="0" err="1">
                <a:solidFill>
                  <a:schemeClr val="tx1"/>
                </a:solidFill>
                <a:latin typeface="+mj-lt"/>
              </a:rPr>
              <a:t>times</a:t>
            </a:r>
            <a:r>
              <a:rPr lang="de-DE" dirty="0">
                <a:solidFill>
                  <a:schemeClr val="tx1"/>
                </a:solidFill>
                <a:latin typeface="+mj-lt"/>
              </a:rPr>
              <a:t>, </a:t>
            </a:r>
            <a:r>
              <a:rPr lang="de-DE" dirty="0" err="1">
                <a:solidFill>
                  <a:schemeClr val="tx1"/>
                </a:solidFill>
                <a:latin typeface="+mj-lt"/>
              </a:rPr>
              <a:t>the</a:t>
            </a:r>
            <a:r>
              <a:rPr lang="de-DE" dirty="0">
                <a:solidFill>
                  <a:schemeClr val="tx1"/>
                </a:solidFill>
                <a:latin typeface="+mj-lt"/>
              </a:rPr>
              <a:t> </a:t>
            </a:r>
            <a:r>
              <a:rPr lang="de-DE" dirty="0" err="1">
                <a:solidFill>
                  <a:schemeClr val="tx1"/>
                </a:solidFill>
                <a:latin typeface="+mj-lt"/>
              </a:rPr>
              <a:t>third</a:t>
            </a:r>
            <a:r>
              <a:rPr lang="de-DE" dirty="0">
                <a:solidFill>
                  <a:schemeClr val="tx1"/>
                </a:solidFill>
                <a:latin typeface="+mj-lt"/>
              </a:rPr>
              <a:t> </a:t>
            </a:r>
            <a:r>
              <a:rPr lang="de-DE" dirty="0" err="1">
                <a:solidFill>
                  <a:schemeClr val="tx1"/>
                </a:solidFill>
                <a:latin typeface="+mj-lt"/>
              </a:rPr>
              <a:t>most</a:t>
            </a:r>
            <a:endParaRPr lang="de-DE" dirty="0">
              <a:solidFill>
                <a:schemeClr val="tx1"/>
              </a:solidFill>
              <a:latin typeface="+mj-lt"/>
            </a:endParaRPr>
          </a:p>
          <a:p>
            <a:pPr lvl="1"/>
            <a:r>
              <a:rPr lang="de-DE" dirty="0" err="1">
                <a:solidFill>
                  <a:schemeClr val="tx1"/>
                </a:solidFill>
                <a:latin typeface="+mj-lt"/>
              </a:rPr>
              <a:t>frequent</a:t>
            </a:r>
            <a:r>
              <a:rPr lang="de-DE" dirty="0">
                <a:solidFill>
                  <a:schemeClr val="tx1"/>
                </a:solidFill>
                <a:latin typeface="+mj-lt"/>
              </a:rPr>
              <a:t> </a:t>
            </a:r>
            <a:r>
              <a:rPr lang="de-DE" dirty="0" err="1">
                <a:solidFill>
                  <a:schemeClr val="tx1"/>
                </a:solidFill>
                <a:latin typeface="+mj-lt"/>
              </a:rPr>
              <a:t>term</a:t>
            </a:r>
            <a:r>
              <a:rPr lang="de-DE" dirty="0">
                <a:solidFill>
                  <a:schemeClr val="tx1"/>
                </a:solidFill>
                <a:latin typeface="+mj-lt"/>
              </a:rPr>
              <a:t> (</a:t>
            </a:r>
            <a:r>
              <a:rPr lang="de-DE" i="1" dirty="0" err="1">
                <a:solidFill>
                  <a:schemeClr val="tx1"/>
                </a:solidFill>
                <a:latin typeface="+mj-lt"/>
              </a:rPr>
              <a:t>and</a:t>
            </a:r>
            <a:r>
              <a:rPr lang="de-DE" dirty="0">
                <a:solidFill>
                  <a:schemeClr val="tx1"/>
                </a:solidFill>
                <a:latin typeface="+mj-lt"/>
              </a:rPr>
              <a:t>) </a:t>
            </a:r>
            <a:r>
              <a:rPr lang="de-DE" dirty="0" err="1">
                <a:solidFill>
                  <a:schemeClr val="tx1"/>
                </a:solidFill>
                <a:latin typeface="+mj-lt"/>
              </a:rPr>
              <a:t>occurs</a:t>
            </a:r>
            <a:endParaRPr lang="de-DE" dirty="0">
              <a:solidFill>
                <a:schemeClr val="tx1"/>
              </a:solidFill>
              <a:latin typeface="+mj-lt"/>
            </a:endParaRPr>
          </a:p>
          <a:p>
            <a:pPr lvl="1"/>
            <a:r>
              <a:rPr lang="de-DE" dirty="0">
                <a:solidFill>
                  <a:schemeClr val="tx1"/>
                </a:solidFill>
                <a:latin typeface="+mj-lt"/>
              </a:rPr>
              <a:t>                      times etc.</a:t>
            </a:r>
          </a:p>
        </p:txBody>
      </p:sp>
      <p:sp>
        <p:nvSpPr>
          <p:cNvPr id="84997" name="Text Box 4"/>
          <p:cNvSpPr txBox="1">
            <a:spLocks noChangeArrowheads="1"/>
          </p:cNvSpPr>
          <p:nvPr/>
        </p:nvSpPr>
        <p:spPr bwMode="auto">
          <a:xfrm>
            <a:off x="7640638" y="-33338"/>
            <a:ext cx="925512" cy="336551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wrap="none" anchor="ctr"/>
          <a:lstStyle/>
          <a:p>
            <a:pPr>
              <a:buClr>
                <a:srgbClr val="000000"/>
              </a:buClr>
              <a:buSzPct val="100000"/>
              <a:buFont typeface="Times New Roman" pitchFamily="16" charset="0"/>
              <a:buNone/>
            </a:pPr>
            <a:endParaRPr lang="de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4BF2C0F-05D6-4882-A325-BE394602789D}" type="slidenum">
              <a:rPr lang="en-US" smtClean="0"/>
              <a:pPr>
                <a:defRPr/>
              </a:pPr>
              <a:t>3</a:t>
            </a:fld>
            <a:endParaRPr lang="en-US"/>
          </a:p>
        </p:txBody>
      </p:sp>
      <p:pic>
        <p:nvPicPr>
          <p:cNvPr id="9" name="Picture 8" descr="60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4282" y="2000239"/>
            <a:ext cx="4572032" cy="4258383"/>
          </a:xfrm>
          <a:prstGeom prst="rect">
            <a:avLst/>
          </a:prstGeom>
        </p:spPr>
      </p:pic>
      <p:pic>
        <p:nvPicPr>
          <p:cNvPr id="10" name="Picture 9" descr="605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33879" y="4525438"/>
            <a:ext cx="1022399" cy="432000"/>
          </a:xfrm>
          <a:prstGeom prst="rect">
            <a:avLst/>
          </a:prstGeom>
        </p:spPr>
      </p:pic>
      <p:pic>
        <p:nvPicPr>
          <p:cNvPr id="11" name="Picture 10" descr="6053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64288" y="2996952"/>
            <a:ext cx="1175229" cy="396000"/>
          </a:xfrm>
          <a:prstGeom prst="rect">
            <a:avLst/>
          </a:prstGeom>
        </p:spPr>
      </p:pic>
      <p:pic>
        <p:nvPicPr>
          <p:cNvPr id="12" name="Picture 11" descr="6054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40232" y="3789040"/>
            <a:ext cx="1280120" cy="468000"/>
          </a:xfrm>
          <a:prstGeom prst="rect">
            <a:avLst/>
          </a:prstGeom>
        </p:spPr>
      </p:pic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5002" name="Rectangle 85001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5004" name="Rectangle 85003">
            <a:extLst>
              <a:ext uri="{FF2B5EF4-FFF2-40B4-BE49-F238E27FC236}">
                <a16:creationId xmlns:a16="http://schemas.microsoft.com/office/drawing/2014/main" id="{1199E1B1-A8C0-4FE8-A5A8-1CB41D69F8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1" y="0"/>
            <a:ext cx="9143999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5006" name="Rectangle 85005">
            <a:extLst>
              <a:ext uri="{FF2B5EF4-FFF2-40B4-BE49-F238E27FC236}">
                <a16:creationId xmlns:a16="http://schemas.microsoft.com/office/drawing/2014/main" id="{84A8DE83-DE75-4B41-9DB4-A7EC0B0DEC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6096642" cy="1575461"/>
          </a:xfrm>
          <a:prstGeom prst="rect">
            <a:avLst/>
          </a:prstGeom>
          <a:gradFill>
            <a:gsLst>
              <a:gs pos="0">
                <a:schemeClr val="accent1">
                  <a:alpha val="41000"/>
                </a:schemeClr>
              </a:gs>
              <a:gs pos="74000">
                <a:schemeClr val="accent1">
                  <a:lumMod val="60000"/>
                  <a:lumOff val="40000"/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5008" name="Rectangle 85007">
            <a:extLst>
              <a:ext uri="{FF2B5EF4-FFF2-40B4-BE49-F238E27FC236}">
                <a16:creationId xmlns:a16="http://schemas.microsoft.com/office/drawing/2014/main" id="{A7009A0A-BEF5-4EAC-AF15-E4F9F002E2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2" y="-1"/>
            <a:ext cx="9144001" cy="1574311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78000">
                <a:schemeClr val="accent1">
                  <a:alpha val="1500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4995" name="Text Box 2"/>
          <p:cNvSpPr txBox="1">
            <a:spLocks noChangeArrowheads="1"/>
          </p:cNvSpPr>
          <p:nvPr/>
        </p:nvSpPr>
        <p:spPr bwMode="auto">
          <a:xfrm>
            <a:off x="524784" y="248038"/>
            <a:ext cx="5297791" cy="11592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1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35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Dictionary as a string</a:t>
            </a:r>
          </a:p>
        </p:txBody>
      </p:sp>
      <p:sp>
        <p:nvSpPr>
          <p:cNvPr id="84996" name="Text Box 3"/>
          <p:cNvSpPr txBox="1">
            <a:spLocks noChangeArrowheads="1"/>
          </p:cNvSpPr>
          <p:nvPr/>
        </p:nvSpPr>
        <p:spPr bwMode="auto">
          <a:xfrm>
            <a:off x="4500562" y="1571612"/>
            <a:ext cx="4286280" cy="4572032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/>
          <a:lstStyle/>
          <a:p>
            <a:pPr lvl="1"/>
            <a:endParaRPr lang="de-DE" dirty="0">
              <a:solidFill>
                <a:schemeClr val="tx1"/>
              </a:solidFill>
              <a:latin typeface="+mj-lt"/>
            </a:endParaRPr>
          </a:p>
        </p:txBody>
      </p:sp>
      <p:sp>
        <p:nvSpPr>
          <p:cNvPr id="84997" name="Text Box 4"/>
          <p:cNvSpPr txBox="1">
            <a:spLocks noChangeArrowheads="1"/>
          </p:cNvSpPr>
          <p:nvPr/>
        </p:nvSpPr>
        <p:spPr bwMode="auto">
          <a:xfrm>
            <a:off x="7640638" y="-33338"/>
            <a:ext cx="925512" cy="336551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wrap="none" anchor="ctr"/>
          <a:lstStyle/>
          <a:p>
            <a:pPr>
              <a:buClr>
                <a:srgbClr val="000000"/>
              </a:buClr>
              <a:buSzPct val="100000"/>
              <a:buFont typeface="Times New Roman" pitchFamily="16" charset="0"/>
              <a:buNone/>
            </a:pPr>
            <a:endParaRPr lang="de-DE"/>
          </a:p>
        </p:txBody>
      </p:sp>
      <p:sp>
        <p:nvSpPr>
          <p:cNvPr id="84994" name="Text Box 1"/>
          <p:cNvSpPr txBox="1">
            <a:spLocks noChangeArrowheads="1"/>
          </p:cNvSpPr>
          <p:nvPr/>
        </p:nvSpPr>
        <p:spPr bwMode="auto">
          <a:xfrm>
            <a:off x="6333110" y="6194682"/>
            <a:ext cx="1952901" cy="223770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lIns="90000" tIns="46800" rIns="90000" bIns="46800" anchor="ctr"/>
          <a:lstStyle/>
          <a:p>
            <a:pPr algn="r" defTabSz="832104">
              <a:spcAft>
                <a:spcPts val="600"/>
              </a:spcAft>
              <a:buSzPct val="100000"/>
              <a:tabLst>
                <a:tab pos="0" algn="l"/>
                <a:tab pos="407384" algn="l"/>
                <a:tab pos="816214" algn="l"/>
                <a:tab pos="1225042" algn="l"/>
                <a:tab pos="1633871" algn="l"/>
                <a:tab pos="2042700" algn="l"/>
                <a:tab pos="2451529" algn="l"/>
                <a:tab pos="2860358" algn="l"/>
                <a:tab pos="3269187" algn="l"/>
                <a:tab pos="3678015" algn="l"/>
                <a:tab pos="4086845" algn="l"/>
                <a:tab pos="4495673" algn="l"/>
                <a:tab pos="4904502" algn="l"/>
                <a:tab pos="5313331" algn="l"/>
                <a:tab pos="5722160" algn="l"/>
                <a:tab pos="6130989" algn="l"/>
                <a:tab pos="6539818" algn="l"/>
                <a:tab pos="6948646" algn="l"/>
                <a:tab pos="7357476" algn="l"/>
                <a:tab pos="7766304" algn="l"/>
                <a:tab pos="8175133" algn="l"/>
              </a:tabLst>
            </a:pPr>
            <a:fld id="{48895EFF-1DBE-4654-84B8-EE5B6E2FA3CA}" type="slidenum">
              <a:rPr lang="en-US" sz="1092" kern="1200">
                <a:solidFill>
                  <a:srgbClr val="898989"/>
                </a:solidFill>
                <a:latin typeface="Calibri" charset="0"/>
                <a:ea typeface="+mn-ea"/>
                <a:cs typeface="+mn-cs"/>
              </a:rPr>
              <a:pPr algn="r" defTabSz="832104">
                <a:spcAft>
                  <a:spcPts val="600"/>
                </a:spcAft>
                <a:buSzPct val="100000"/>
                <a:tabLst>
                  <a:tab pos="0" algn="l"/>
                  <a:tab pos="407384" algn="l"/>
                  <a:tab pos="816214" algn="l"/>
                  <a:tab pos="1225042" algn="l"/>
                  <a:tab pos="1633871" algn="l"/>
                  <a:tab pos="2042700" algn="l"/>
                  <a:tab pos="2451529" algn="l"/>
                  <a:tab pos="2860358" algn="l"/>
                  <a:tab pos="3269187" algn="l"/>
                  <a:tab pos="3678015" algn="l"/>
                  <a:tab pos="4086845" algn="l"/>
                  <a:tab pos="4495673" algn="l"/>
                  <a:tab pos="4904502" algn="l"/>
                  <a:tab pos="5313331" algn="l"/>
                  <a:tab pos="5722160" algn="l"/>
                  <a:tab pos="6130989" algn="l"/>
                  <a:tab pos="6539818" algn="l"/>
                  <a:tab pos="6948646" algn="l"/>
                  <a:tab pos="7357476" algn="l"/>
                  <a:tab pos="7766304" algn="l"/>
                  <a:tab pos="8175133" algn="l"/>
                </a:tabLst>
              </a:pPr>
              <a:t>4</a:t>
            </a:fld>
            <a:endParaRPr lang="en-US" sz="1200">
              <a:solidFill>
                <a:srgbClr val="898989"/>
              </a:solidFill>
              <a:latin typeface="Calibri" charset="0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245927" y="6084251"/>
            <a:ext cx="1883155" cy="334202"/>
          </a:xfrm>
        </p:spPr>
        <p:txBody>
          <a:bodyPr/>
          <a:lstStyle/>
          <a:p>
            <a:pPr defTabSz="832104">
              <a:spcAft>
                <a:spcPts val="600"/>
              </a:spcAft>
              <a:defRPr/>
            </a:pPr>
            <a:fld id="{74BF2C0F-05D6-4882-A325-BE394602789D}" type="slidenum">
              <a:rPr lang="en-US" sz="819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rPr>
              <a:pPr defTabSz="832104">
                <a:spcAft>
                  <a:spcPts val="600"/>
                </a:spcAft>
                <a:defRPr/>
              </a:pPr>
              <a:t>4</a:t>
            </a:fld>
            <a:endParaRPr lang="en-US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857986" y="1966293"/>
            <a:ext cx="5935867" cy="346555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Text Box 1"/>
          <p:cNvSpPr txBox="1">
            <a:spLocks noChangeArrowheads="1"/>
          </p:cNvSpPr>
          <p:nvPr/>
        </p:nvSpPr>
        <p:spPr bwMode="auto">
          <a:xfrm>
            <a:off x="6553200" y="6477000"/>
            <a:ext cx="2133600" cy="244475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lIns="90000" tIns="46800" rIns="90000" bIns="46800" anchor="ctr"/>
          <a:lstStyle/>
          <a:p>
            <a:pPr algn="r">
              <a:buSzPct val="10000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fld id="{48895EFF-1DBE-4654-84B8-EE5B6E2FA3CA}" type="slidenum">
              <a:rPr lang="en-US" sz="1200">
                <a:solidFill>
                  <a:srgbClr val="898989"/>
                </a:solidFill>
                <a:latin typeface="Calibri" charset="0"/>
              </a:rPr>
              <a:pPr algn="r">
                <a:buSzPct val="10000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</a:pPr>
              <a:t>5</a:t>
            </a:fld>
            <a:endParaRPr lang="en-US" sz="1200">
              <a:solidFill>
                <a:srgbClr val="898989"/>
              </a:solidFill>
              <a:latin typeface="Calibri" charset="0"/>
            </a:endParaRPr>
          </a:p>
        </p:txBody>
      </p:sp>
      <p:sp>
        <p:nvSpPr>
          <p:cNvPr id="84995" name="Text Box 2"/>
          <p:cNvSpPr txBox="1">
            <a:spLocks noChangeArrowheads="1"/>
          </p:cNvSpPr>
          <p:nvPr/>
        </p:nvSpPr>
        <p:spPr bwMode="auto">
          <a:xfrm>
            <a:off x="0" y="12700"/>
            <a:ext cx="8858280" cy="1403350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anchor="b"/>
          <a:lstStyle/>
          <a:p>
            <a:pPr lvl="1"/>
            <a:r>
              <a:rPr lang="de-DE" sz="3600" dirty="0">
                <a:solidFill>
                  <a:schemeClr val="tx1"/>
                </a:solidFill>
                <a:latin typeface="+mj-lt"/>
              </a:rPr>
              <a:t>Gap </a:t>
            </a:r>
            <a:r>
              <a:rPr lang="de-DE" sz="3600" dirty="0" err="1">
                <a:solidFill>
                  <a:schemeClr val="tx1"/>
                </a:solidFill>
                <a:latin typeface="+mj-lt"/>
              </a:rPr>
              <a:t>encoding</a:t>
            </a:r>
            <a:endParaRPr lang="de-DE" sz="3600" dirty="0">
              <a:solidFill>
                <a:schemeClr val="tx1"/>
              </a:solidFill>
              <a:latin typeface="+mj-lt"/>
            </a:endParaRPr>
          </a:p>
        </p:txBody>
      </p:sp>
      <p:sp>
        <p:nvSpPr>
          <p:cNvPr id="84996" name="Text Box 3"/>
          <p:cNvSpPr txBox="1">
            <a:spLocks noChangeArrowheads="1"/>
          </p:cNvSpPr>
          <p:nvPr/>
        </p:nvSpPr>
        <p:spPr bwMode="auto">
          <a:xfrm>
            <a:off x="4500562" y="1571612"/>
            <a:ext cx="4286280" cy="4572032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/>
          <a:lstStyle/>
          <a:p>
            <a:pPr lvl="1"/>
            <a:endParaRPr lang="de-DE" dirty="0">
              <a:solidFill>
                <a:schemeClr val="tx1"/>
              </a:solidFill>
              <a:latin typeface="+mj-lt"/>
            </a:endParaRPr>
          </a:p>
        </p:txBody>
      </p:sp>
      <p:sp>
        <p:nvSpPr>
          <p:cNvPr id="84997" name="Text Box 4"/>
          <p:cNvSpPr txBox="1">
            <a:spLocks noChangeArrowheads="1"/>
          </p:cNvSpPr>
          <p:nvPr/>
        </p:nvSpPr>
        <p:spPr bwMode="auto">
          <a:xfrm>
            <a:off x="7640638" y="-33338"/>
            <a:ext cx="925512" cy="336551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wrap="none" anchor="ctr"/>
          <a:lstStyle/>
          <a:p>
            <a:pPr>
              <a:buClr>
                <a:srgbClr val="000000"/>
              </a:buClr>
              <a:buSzPct val="100000"/>
              <a:buFont typeface="Times New Roman" pitchFamily="16" charset="0"/>
              <a:buNone/>
            </a:pPr>
            <a:endParaRPr lang="de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4BF2C0F-05D6-4882-A325-BE394602789D}" type="slidenum">
              <a:rPr lang="en-US" smtClean="0"/>
              <a:pPr>
                <a:defRPr/>
              </a:pPr>
              <a:t>5</a:t>
            </a:fld>
            <a:endParaRPr lang="en-US"/>
          </a:p>
        </p:txBody>
      </p:sp>
      <p:pic>
        <p:nvPicPr>
          <p:cNvPr id="8" name="Picture 7" descr="60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5720" y="1857364"/>
            <a:ext cx="8459794" cy="1643074"/>
          </a:xfrm>
          <a:prstGeom prst="rect">
            <a:avLst/>
          </a:prstGeom>
        </p:spPr>
      </p:pic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Text Box 1"/>
          <p:cNvSpPr txBox="1">
            <a:spLocks noChangeArrowheads="1"/>
          </p:cNvSpPr>
          <p:nvPr/>
        </p:nvSpPr>
        <p:spPr bwMode="auto">
          <a:xfrm>
            <a:off x="6553200" y="6477000"/>
            <a:ext cx="2133600" cy="244475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lIns="90000" tIns="46800" rIns="90000" bIns="46800" anchor="ctr"/>
          <a:lstStyle/>
          <a:p>
            <a:pPr algn="r">
              <a:buSzPct val="10000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fld id="{48895EFF-1DBE-4654-84B8-EE5B6E2FA3CA}" type="slidenum">
              <a:rPr lang="en-US" sz="1200">
                <a:solidFill>
                  <a:srgbClr val="898989"/>
                </a:solidFill>
                <a:latin typeface="Calibri" charset="0"/>
              </a:rPr>
              <a:pPr algn="r">
                <a:buSzPct val="10000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</a:pPr>
              <a:t>6</a:t>
            </a:fld>
            <a:endParaRPr lang="en-US" sz="1200">
              <a:solidFill>
                <a:srgbClr val="898989"/>
              </a:solidFill>
              <a:latin typeface="Calibri" charset="0"/>
            </a:endParaRPr>
          </a:p>
        </p:txBody>
      </p:sp>
      <p:sp>
        <p:nvSpPr>
          <p:cNvPr id="84995" name="Text Box 2"/>
          <p:cNvSpPr txBox="1">
            <a:spLocks noChangeArrowheads="1"/>
          </p:cNvSpPr>
          <p:nvPr/>
        </p:nvSpPr>
        <p:spPr bwMode="auto">
          <a:xfrm>
            <a:off x="285720" y="12700"/>
            <a:ext cx="8572560" cy="1403350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anchor="b"/>
          <a:lstStyle/>
          <a:p>
            <a:r>
              <a:rPr lang="de-DE" sz="3600" dirty="0">
                <a:solidFill>
                  <a:schemeClr val="tx1"/>
                </a:solidFill>
                <a:latin typeface="+mj-lt"/>
              </a:rPr>
              <a:t>Variable </a:t>
            </a:r>
            <a:r>
              <a:rPr lang="de-DE" sz="3600" dirty="0" err="1">
                <a:solidFill>
                  <a:schemeClr val="tx1"/>
                </a:solidFill>
                <a:latin typeface="+mj-lt"/>
              </a:rPr>
              <a:t>byte</a:t>
            </a:r>
            <a:r>
              <a:rPr lang="de-DE" sz="3600" dirty="0">
                <a:solidFill>
                  <a:schemeClr val="tx1"/>
                </a:solidFill>
                <a:latin typeface="+mj-lt"/>
              </a:rPr>
              <a:t> (VB) </a:t>
            </a:r>
            <a:r>
              <a:rPr lang="de-DE" sz="3600" dirty="0" err="1">
                <a:solidFill>
                  <a:schemeClr val="tx1"/>
                </a:solidFill>
                <a:latin typeface="+mj-lt"/>
              </a:rPr>
              <a:t>code</a:t>
            </a:r>
            <a:endParaRPr lang="de-DE" sz="3600" dirty="0">
              <a:solidFill>
                <a:schemeClr val="tx1"/>
              </a:solidFill>
              <a:latin typeface="+mj-lt"/>
            </a:endParaRPr>
          </a:p>
        </p:txBody>
      </p:sp>
      <p:sp>
        <p:nvSpPr>
          <p:cNvPr id="84996" name="Text Box 3"/>
          <p:cNvSpPr txBox="1">
            <a:spLocks noChangeArrowheads="1"/>
          </p:cNvSpPr>
          <p:nvPr/>
        </p:nvSpPr>
        <p:spPr bwMode="auto">
          <a:xfrm>
            <a:off x="214282" y="1857364"/>
            <a:ext cx="8572560" cy="3571876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/>
          <a:lstStyle/>
          <a:p>
            <a:pPr lvl="1">
              <a:spcBef>
                <a:spcPts val="700"/>
              </a:spcBef>
              <a:buClr>
                <a:srgbClr val="336699"/>
              </a:buClr>
              <a:buFont typeface="Wingdings" pitchFamily="2" charset="2"/>
              <a:buChar char="§"/>
            </a:pPr>
            <a:r>
              <a:rPr lang="en-US" dirty="0">
                <a:latin typeface="+mj-lt"/>
              </a:rPr>
              <a:t>Dedicate 1 bit (high bit) to be a continuation bit </a:t>
            </a:r>
            <a:r>
              <a:rPr lang="en-US" i="1" dirty="0">
                <a:latin typeface="+mj-lt"/>
              </a:rPr>
              <a:t>c</a:t>
            </a:r>
            <a:r>
              <a:rPr lang="en-US" dirty="0">
                <a:latin typeface="+mj-lt"/>
              </a:rPr>
              <a:t>.</a:t>
            </a:r>
          </a:p>
          <a:p>
            <a:pPr lvl="1">
              <a:spcBef>
                <a:spcPts val="700"/>
              </a:spcBef>
              <a:buClr>
                <a:srgbClr val="336699"/>
              </a:buClr>
              <a:buFont typeface="Wingdings" pitchFamily="2" charset="2"/>
              <a:buChar char="§"/>
            </a:pPr>
            <a:r>
              <a:rPr lang="en-US" dirty="0">
                <a:latin typeface="+mj-lt"/>
              </a:rPr>
              <a:t>If the gap </a:t>
            </a:r>
            <a:r>
              <a:rPr lang="en-US" i="1" dirty="0">
                <a:latin typeface="+mj-lt"/>
              </a:rPr>
              <a:t>G</a:t>
            </a:r>
            <a:r>
              <a:rPr lang="en-US" dirty="0">
                <a:latin typeface="+mj-lt"/>
              </a:rPr>
              <a:t> fits within 7 bits, binary-encode it in the 7 available bits and set </a:t>
            </a:r>
            <a:r>
              <a:rPr lang="en-US" i="1" dirty="0">
                <a:latin typeface="+mj-lt"/>
              </a:rPr>
              <a:t>c</a:t>
            </a:r>
            <a:r>
              <a:rPr lang="en-US" dirty="0">
                <a:latin typeface="+mj-lt"/>
              </a:rPr>
              <a:t> = 1.</a:t>
            </a:r>
          </a:p>
          <a:p>
            <a:pPr lvl="1">
              <a:spcBef>
                <a:spcPts val="700"/>
              </a:spcBef>
              <a:buClr>
                <a:srgbClr val="336699"/>
              </a:buClr>
              <a:buFont typeface="Wingdings" pitchFamily="2" charset="2"/>
              <a:buChar char="§"/>
            </a:pPr>
            <a:r>
              <a:rPr lang="en-US" dirty="0">
                <a:latin typeface="+mj-lt"/>
              </a:rPr>
              <a:t>Else: set </a:t>
            </a:r>
            <a:r>
              <a:rPr lang="en-US" i="1" dirty="0">
                <a:latin typeface="+mj-lt"/>
              </a:rPr>
              <a:t>c</a:t>
            </a:r>
            <a:r>
              <a:rPr lang="en-US" dirty="0">
                <a:latin typeface="+mj-lt"/>
              </a:rPr>
              <a:t> = 0, encode high-order 7 bits and then use one or more additional bytes to encode the lower order bits using the </a:t>
            </a:r>
            <a:r>
              <a:rPr lang="de-DE" dirty="0">
                <a:latin typeface="+mj-lt"/>
              </a:rPr>
              <a:t>same </a:t>
            </a:r>
            <a:r>
              <a:rPr lang="de-DE" dirty="0" err="1">
                <a:latin typeface="+mj-lt"/>
              </a:rPr>
              <a:t>algorithm</a:t>
            </a:r>
            <a:r>
              <a:rPr lang="de-DE" dirty="0">
                <a:latin typeface="+mj-lt"/>
              </a:rPr>
              <a:t>.</a:t>
            </a:r>
          </a:p>
          <a:p>
            <a:pPr lvl="1">
              <a:spcBef>
                <a:spcPts val="700"/>
              </a:spcBef>
              <a:buClr>
                <a:srgbClr val="336699"/>
              </a:buClr>
              <a:buFont typeface="Wingdings" pitchFamily="2" charset="2"/>
              <a:buChar char="§"/>
            </a:pPr>
            <a:endParaRPr lang="de-DE" dirty="0">
              <a:latin typeface="+mj-lt"/>
            </a:endParaRPr>
          </a:p>
        </p:txBody>
      </p:sp>
      <p:sp>
        <p:nvSpPr>
          <p:cNvPr id="84997" name="Text Box 4"/>
          <p:cNvSpPr txBox="1">
            <a:spLocks noChangeArrowheads="1"/>
          </p:cNvSpPr>
          <p:nvPr/>
        </p:nvSpPr>
        <p:spPr bwMode="auto">
          <a:xfrm>
            <a:off x="7640638" y="-33338"/>
            <a:ext cx="925512" cy="336551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wrap="none" anchor="ctr"/>
          <a:lstStyle/>
          <a:p>
            <a:pPr>
              <a:buClr>
                <a:srgbClr val="000000"/>
              </a:buClr>
              <a:buSzPct val="100000"/>
              <a:buFont typeface="Times New Roman" pitchFamily="16" charset="0"/>
              <a:buNone/>
            </a:pPr>
            <a:endParaRPr lang="de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4BF2C0F-05D6-4882-A325-BE394602789D}" type="slidenum">
              <a:rPr lang="en-US" smtClean="0"/>
              <a:pPr>
                <a:defRPr/>
              </a:pPr>
              <a:t>6</a:t>
            </a:fld>
            <a:endParaRPr lang="en-US"/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Text Box 1"/>
          <p:cNvSpPr txBox="1">
            <a:spLocks noChangeArrowheads="1"/>
          </p:cNvSpPr>
          <p:nvPr/>
        </p:nvSpPr>
        <p:spPr bwMode="auto">
          <a:xfrm>
            <a:off x="6553200" y="6477000"/>
            <a:ext cx="2133600" cy="244475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lIns="90000" tIns="46800" rIns="90000" bIns="46800" anchor="ctr"/>
          <a:lstStyle/>
          <a:p>
            <a:pPr algn="r">
              <a:buSzPct val="10000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fld id="{48895EFF-1DBE-4654-84B8-EE5B6E2FA3CA}" type="slidenum">
              <a:rPr lang="en-US" sz="1200" smtClean="0">
                <a:solidFill>
                  <a:srgbClr val="898989"/>
                </a:solidFill>
                <a:latin typeface="Calibri" charset="0"/>
              </a:rPr>
              <a:pPr algn="r">
                <a:buSzPct val="10000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</a:pPr>
              <a:t>7</a:t>
            </a:fld>
            <a:endParaRPr lang="en-US" sz="1200">
              <a:solidFill>
                <a:srgbClr val="898989"/>
              </a:solidFill>
              <a:latin typeface="Calibri" charset="0"/>
            </a:endParaRPr>
          </a:p>
        </p:txBody>
      </p:sp>
      <p:sp>
        <p:nvSpPr>
          <p:cNvPr id="84995" name="Text Box 2"/>
          <p:cNvSpPr txBox="1">
            <a:spLocks noChangeArrowheads="1"/>
          </p:cNvSpPr>
          <p:nvPr/>
        </p:nvSpPr>
        <p:spPr bwMode="auto">
          <a:xfrm>
            <a:off x="285720" y="12700"/>
            <a:ext cx="8572560" cy="1403350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anchor="b"/>
          <a:lstStyle/>
          <a:p>
            <a:r>
              <a:rPr lang="nn-NO" sz="3600">
                <a:solidFill>
                  <a:schemeClr val="tx1"/>
                </a:solidFill>
              </a:rPr>
              <a:t>Gamma codes for gap encoding</a:t>
            </a:r>
            <a:endParaRPr lang="nn-NO" sz="3600" dirty="0">
              <a:solidFill>
                <a:schemeClr val="tx1"/>
              </a:solidFill>
            </a:endParaRPr>
          </a:p>
        </p:txBody>
      </p:sp>
      <p:sp>
        <p:nvSpPr>
          <p:cNvPr id="84996" name="Text Box 3"/>
          <p:cNvSpPr txBox="1">
            <a:spLocks noChangeArrowheads="1"/>
          </p:cNvSpPr>
          <p:nvPr/>
        </p:nvSpPr>
        <p:spPr bwMode="auto">
          <a:xfrm>
            <a:off x="214282" y="2357430"/>
            <a:ext cx="8572560" cy="3571876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/>
          <a:lstStyle/>
          <a:p>
            <a:pPr lvl="1">
              <a:spcBef>
                <a:spcPts val="700"/>
              </a:spcBef>
              <a:buClr>
                <a:srgbClr val="336699"/>
              </a:buClr>
              <a:buFont typeface="Wingdings" pitchFamily="2" charset="2"/>
              <a:buChar char="§"/>
            </a:pPr>
            <a:r>
              <a:rPr lang="en-US" dirty="0">
                <a:latin typeface="+mj-lt"/>
              </a:rPr>
              <a:t>Represent a gap </a:t>
            </a:r>
            <a:r>
              <a:rPr lang="en-US" i="1" dirty="0">
                <a:latin typeface="+mj-lt"/>
              </a:rPr>
              <a:t>G</a:t>
            </a:r>
            <a:r>
              <a:rPr lang="en-US" dirty="0">
                <a:latin typeface="+mj-lt"/>
              </a:rPr>
              <a:t> as a pair of length and offset.</a:t>
            </a:r>
          </a:p>
          <a:p>
            <a:pPr lvl="1">
              <a:spcBef>
                <a:spcPts val="700"/>
              </a:spcBef>
              <a:buClr>
                <a:srgbClr val="336699"/>
              </a:buClr>
              <a:buFont typeface="Wingdings" pitchFamily="2" charset="2"/>
              <a:buChar char="§"/>
            </a:pPr>
            <a:r>
              <a:rPr lang="en-US" dirty="0">
                <a:latin typeface="+mj-lt"/>
              </a:rPr>
              <a:t>Offset is the gap in binary, with the leading bit chopped off.</a:t>
            </a:r>
          </a:p>
          <a:p>
            <a:pPr lvl="1">
              <a:spcBef>
                <a:spcPts val="700"/>
              </a:spcBef>
              <a:buClr>
                <a:srgbClr val="336699"/>
              </a:buClr>
              <a:buFont typeface="Wingdings" pitchFamily="2" charset="2"/>
              <a:buChar char="§"/>
            </a:pPr>
            <a:r>
              <a:rPr lang="en-US" dirty="0">
                <a:latin typeface="+mj-lt"/>
              </a:rPr>
              <a:t>Length is the length of offset.</a:t>
            </a:r>
          </a:p>
          <a:p>
            <a:pPr lvl="1">
              <a:spcBef>
                <a:spcPts val="700"/>
              </a:spcBef>
              <a:buClr>
                <a:srgbClr val="336699"/>
              </a:buClr>
              <a:buFont typeface="Wingdings" pitchFamily="2" charset="2"/>
              <a:buChar char="§"/>
            </a:pPr>
            <a:r>
              <a:rPr lang="en-US" dirty="0">
                <a:latin typeface="+mj-lt"/>
              </a:rPr>
              <a:t>Encode length in unary code</a:t>
            </a:r>
          </a:p>
          <a:p>
            <a:pPr lvl="1">
              <a:spcBef>
                <a:spcPts val="700"/>
              </a:spcBef>
              <a:buClr>
                <a:srgbClr val="336699"/>
              </a:buClr>
              <a:buFont typeface="Wingdings" pitchFamily="2" charset="2"/>
              <a:buChar char="§"/>
            </a:pPr>
            <a:r>
              <a:rPr lang="en-US" dirty="0">
                <a:latin typeface="+mj-lt"/>
              </a:rPr>
              <a:t>The Gamma code is the concatenation of length and offset.</a:t>
            </a:r>
          </a:p>
        </p:txBody>
      </p:sp>
      <p:sp>
        <p:nvSpPr>
          <p:cNvPr id="84997" name="Text Box 4"/>
          <p:cNvSpPr txBox="1">
            <a:spLocks noChangeArrowheads="1"/>
          </p:cNvSpPr>
          <p:nvPr/>
        </p:nvSpPr>
        <p:spPr bwMode="auto">
          <a:xfrm>
            <a:off x="7640638" y="-33338"/>
            <a:ext cx="925512" cy="336551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wrap="none" anchor="ctr"/>
          <a:lstStyle/>
          <a:p>
            <a:pPr>
              <a:buClr>
                <a:srgbClr val="000000"/>
              </a:buClr>
              <a:buSzPct val="100000"/>
              <a:buFont typeface="Times New Roman" pitchFamily="16" charset="0"/>
              <a:buNone/>
            </a:pPr>
            <a:endParaRPr lang="de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4BF2C0F-05D6-4882-A325-BE394602789D}" type="slidenum">
              <a:rPr lang="en-US" smtClean="0"/>
              <a:pPr>
                <a:defRPr/>
              </a:pPr>
              <a:t>7</a:t>
            </a:fld>
            <a:endParaRPr lang="en-US"/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5002" name="Rectangle 85001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5004" name="Rectangle 85003">
            <a:extLst>
              <a:ext uri="{FF2B5EF4-FFF2-40B4-BE49-F238E27FC236}">
                <a16:creationId xmlns:a16="http://schemas.microsoft.com/office/drawing/2014/main" id="{1199E1B1-A8C0-4FE8-A5A8-1CB41D69F8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1" y="0"/>
            <a:ext cx="9143999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5006" name="Rectangle 85005">
            <a:extLst>
              <a:ext uri="{FF2B5EF4-FFF2-40B4-BE49-F238E27FC236}">
                <a16:creationId xmlns:a16="http://schemas.microsoft.com/office/drawing/2014/main" id="{84A8DE83-DE75-4B41-9DB4-A7EC0B0DEC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6096642" cy="1575461"/>
          </a:xfrm>
          <a:prstGeom prst="rect">
            <a:avLst/>
          </a:prstGeom>
          <a:gradFill>
            <a:gsLst>
              <a:gs pos="0">
                <a:schemeClr val="accent1">
                  <a:alpha val="41000"/>
                </a:schemeClr>
              </a:gs>
              <a:gs pos="74000">
                <a:schemeClr val="accent1">
                  <a:lumMod val="60000"/>
                  <a:lumOff val="40000"/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5008" name="Rectangle 85007">
            <a:extLst>
              <a:ext uri="{FF2B5EF4-FFF2-40B4-BE49-F238E27FC236}">
                <a16:creationId xmlns:a16="http://schemas.microsoft.com/office/drawing/2014/main" id="{A7009A0A-BEF5-4EAC-AF15-E4F9F002E2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2" y="-1"/>
            <a:ext cx="9144001" cy="1574311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78000">
                <a:schemeClr val="accent1">
                  <a:alpha val="1500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4995" name="Text Box 2"/>
          <p:cNvSpPr txBox="1">
            <a:spLocks noChangeArrowheads="1"/>
          </p:cNvSpPr>
          <p:nvPr/>
        </p:nvSpPr>
        <p:spPr bwMode="auto">
          <a:xfrm>
            <a:off x="524784" y="248038"/>
            <a:ext cx="5297791" cy="11592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35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Compression of Reuters</a:t>
            </a:r>
          </a:p>
        </p:txBody>
      </p:sp>
      <p:sp>
        <p:nvSpPr>
          <p:cNvPr id="84997" name="Text Box 4"/>
          <p:cNvSpPr txBox="1">
            <a:spLocks noChangeArrowheads="1"/>
          </p:cNvSpPr>
          <p:nvPr/>
        </p:nvSpPr>
        <p:spPr bwMode="auto">
          <a:xfrm>
            <a:off x="7640638" y="-33338"/>
            <a:ext cx="925512" cy="336551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wrap="none" anchor="ctr"/>
          <a:lstStyle/>
          <a:p>
            <a:pPr>
              <a:buClr>
                <a:srgbClr val="000000"/>
              </a:buClr>
              <a:buSzPct val="100000"/>
              <a:buFont typeface="Times New Roman" pitchFamily="16" charset="0"/>
              <a:buNone/>
            </a:pPr>
            <a:endParaRPr lang="de-DE"/>
          </a:p>
        </p:txBody>
      </p:sp>
      <p:sp>
        <p:nvSpPr>
          <p:cNvPr id="84994" name="Text Box 1"/>
          <p:cNvSpPr txBox="1">
            <a:spLocks noChangeArrowheads="1"/>
          </p:cNvSpPr>
          <p:nvPr/>
        </p:nvSpPr>
        <p:spPr bwMode="auto">
          <a:xfrm>
            <a:off x="6273578" y="6202246"/>
            <a:ext cx="1886886" cy="216206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lIns="90000" tIns="46800" rIns="90000" bIns="46800" anchor="ctr"/>
          <a:lstStyle/>
          <a:p>
            <a:pPr algn="r" defTabSz="804672">
              <a:spcAft>
                <a:spcPts val="600"/>
              </a:spcAft>
              <a:buSzPct val="100000"/>
              <a:tabLst>
                <a:tab pos="0" algn="l"/>
                <a:tab pos="393954" algn="l"/>
                <a:tab pos="789305" algn="l"/>
                <a:tab pos="1184656" algn="l"/>
                <a:tab pos="1580007" algn="l"/>
                <a:tab pos="1975358" algn="l"/>
                <a:tab pos="2370709" algn="l"/>
                <a:tab pos="2766060" algn="l"/>
                <a:tab pos="3161411" algn="l"/>
                <a:tab pos="3556762" algn="l"/>
                <a:tab pos="3952113" algn="l"/>
                <a:tab pos="4347464" algn="l"/>
                <a:tab pos="4742815" algn="l"/>
                <a:tab pos="5138166" algn="l"/>
                <a:tab pos="5533517" algn="l"/>
                <a:tab pos="5928868" algn="l"/>
                <a:tab pos="6324219" algn="l"/>
                <a:tab pos="6719570" algn="l"/>
                <a:tab pos="7114921" algn="l"/>
                <a:tab pos="7510272" algn="l"/>
                <a:tab pos="7905623" algn="l"/>
              </a:tabLst>
            </a:pPr>
            <a:fld id="{48895EFF-1DBE-4654-84B8-EE5B6E2FA3CA}" type="slidenum">
              <a:rPr lang="en-US" sz="1056" kern="1200">
                <a:solidFill>
                  <a:srgbClr val="898989"/>
                </a:solidFill>
                <a:latin typeface="Calibri" charset="0"/>
                <a:ea typeface="+mn-ea"/>
                <a:cs typeface="+mn-cs"/>
              </a:rPr>
              <a:pPr algn="r" defTabSz="804672">
                <a:spcAft>
                  <a:spcPts val="600"/>
                </a:spcAft>
                <a:buSzPct val="100000"/>
                <a:tabLst>
                  <a:tab pos="0" algn="l"/>
                  <a:tab pos="393954" algn="l"/>
                  <a:tab pos="789305" algn="l"/>
                  <a:tab pos="1184656" algn="l"/>
                  <a:tab pos="1580007" algn="l"/>
                  <a:tab pos="1975358" algn="l"/>
                  <a:tab pos="2370709" algn="l"/>
                  <a:tab pos="2766060" algn="l"/>
                  <a:tab pos="3161411" algn="l"/>
                  <a:tab pos="3556762" algn="l"/>
                  <a:tab pos="3952113" algn="l"/>
                  <a:tab pos="4347464" algn="l"/>
                  <a:tab pos="4742815" algn="l"/>
                  <a:tab pos="5138166" algn="l"/>
                  <a:tab pos="5533517" algn="l"/>
                  <a:tab pos="5928868" algn="l"/>
                  <a:tab pos="6324219" algn="l"/>
                  <a:tab pos="6719570" algn="l"/>
                  <a:tab pos="7114921" algn="l"/>
                  <a:tab pos="7510272" algn="l"/>
                  <a:tab pos="7905623" algn="l"/>
                </a:tabLst>
              </a:pPr>
              <a:t>8</a:t>
            </a:fld>
            <a:endParaRPr lang="en-US" sz="1200">
              <a:solidFill>
                <a:srgbClr val="898989"/>
              </a:solidFill>
              <a:latin typeface="Calibri" charset="0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189342" y="6095548"/>
            <a:ext cx="1819497" cy="322905"/>
          </a:xfrm>
        </p:spPr>
        <p:txBody>
          <a:bodyPr/>
          <a:lstStyle/>
          <a:p>
            <a:pPr defTabSz="804672">
              <a:spcAft>
                <a:spcPts val="600"/>
              </a:spcAft>
              <a:defRPr/>
            </a:pPr>
            <a:fld id="{74BF2C0F-05D6-4882-A325-BE394602789D}" type="slidenum">
              <a:rPr lang="en-US" sz="792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rPr>
              <a:pPr defTabSz="804672">
                <a:spcAft>
                  <a:spcPts val="600"/>
                </a:spcAft>
                <a:defRPr/>
              </a:pPr>
              <a:t>8</a:t>
            </a:fld>
            <a:endParaRPr lang="en-US"/>
          </a:p>
        </p:txBody>
      </p:sp>
      <p:graphicFrame>
        <p:nvGraphicFramePr>
          <p:cNvPr id="8" name="Table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07738150"/>
              </p:ext>
            </p:extLst>
          </p:nvPr>
        </p:nvGraphicFramePr>
        <p:xfrm>
          <a:off x="983533" y="1966293"/>
          <a:ext cx="7286676" cy="4937760"/>
        </p:xfrm>
        <a:graphic>
          <a:graphicData uri="http://schemas.openxmlformats.org/drawingml/2006/table">
            <a:tbl>
              <a:tblPr firstRow="1" bandRow="1">
                <a:tableStyleId>{C083E6E3-FA7D-4D7B-A595-EF9225AFEA82}</a:tableStyleId>
              </a:tblPr>
              <a:tblGrid>
                <a:gridCol w="512036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6630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2400" b="0" kern="1200" baseline="0"/>
                        <a:t>data structure</a:t>
                      </a:r>
                      <a:endParaRPr lang="en-US" sz="2400" b="0" kern="1200" baseline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400" b="0" kern="1200" baseline="0"/>
                        <a:t>size in MB</a:t>
                      </a:r>
                      <a:endParaRPr lang="de-DE" sz="24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 sz="2400" kern="1200" baseline="0" err="1"/>
                        <a:t>dictionary</a:t>
                      </a:r>
                      <a:r>
                        <a:rPr lang="de-DE" sz="2400" kern="1200" baseline="0"/>
                        <a:t>, </a:t>
                      </a:r>
                      <a:r>
                        <a:rPr lang="de-DE" sz="2400" kern="1200" baseline="0" err="1"/>
                        <a:t>fixed-width</a:t>
                      </a:r>
                      <a:r>
                        <a:rPr lang="de-DE" sz="2400" kern="1200" baseline="0"/>
                        <a:t> </a:t>
                      </a:r>
                    </a:p>
                    <a:p>
                      <a:r>
                        <a:rPr lang="en-US" sz="2400" kern="1200" baseline="0"/>
                        <a:t>dictionary, term pointers into string </a:t>
                      </a:r>
                    </a:p>
                    <a:p>
                      <a:r>
                        <a:rPr lang="en-US" sz="2400" kern="1200" baseline="0"/>
                        <a:t>∼, with blocking, k = 4 </a:t>
                      </a:r>
                    </a:p>
                    <a:p>
                      <a:r>
                        <a:rPr lang="en-US" sz="2400" kern="1200" baseline="0"/>
                        <a:t>∼, with blocking &amp; front coding </a:t>
                      </a:r>
                    </a:p>
                    <a:p>
                      <a:r>
                        <a:rPr lang="de-DE" sz="2400" kern="1200" baseline="0" err="1"/>
                        <a:t>collection</a:t>
                      </a:r>
                      <a:r>
                        <a:rPr lang="de-DE" sz="2400" kern="1200" baseline="0"/>
                        <a:t> (</a:t>
                      </a:r>
                      <a:r>
                        <a:rPr lang="de-DE" sz="2400" kern="1200" baseline="0" err="1"/>
                        <a:t>text</a:t>
                      </a:r>
                      <a:r>
                        <a:rPr lang="de-DE" sz="2400" kern="1200" baseline="0"/>
                        <a:t>, </a:t>
                      </a:r>
                      <a:r>
                        <a:rPr lang="de-DE" sz="2400" kern="1200" baseline="0" err="1"/>
                        <a:t>xml</a:t>
                      </a:r>
                      <a:r>
                        <a:rPr lang="de-DE" sz="2400" kern="1200" baseline="0"/>
                        <a:t> </a:t>
                      </a:r>
                      <a:r>
                        <a:rPr lang="de-DE" sz="2400" kern="1200" baseline="0" err="1"/>
                        <a:t>markup</a:t>
                      </a:r>
                      <a:r>
                        <a:rPr lang="de-DE" sz="2400" kern="1200" baseline="0"/>
                        <a:t> </a:t>
                      </a:r>
                      <a:r>
                        <a:rPr lang="de-DE" sz="2400" kern="1200" baseline="0" err="1"/>
                        <a:t>etc</a:t>
                      </a:r>
                      <a:r>
                        <a:rPr lang="de-DE" sz="2400" kern="1200" baseline="0"/>
                        <a:t>) </a:t>
                      </a:r>
                    </a:p>
                    <a:p>
                      <a:r>
                        <a:rPr lang="de-DE" sz="2400" kern="1200" baseline="0" err="1"/>
                        <a:t>collection</a:t>
                      </a:r>
                      <a:r>
                        <a:rPr lang="de-DE" sz="2400" kern="1200" baseline="0"/>
                        <a:t> (</a:t>
                      </a:r>
                      <a:r>
                        <a:rPr lang="de-DE" sz="2400" kern="1200" baseline="0" err="1"/>
                        <a:t>text</a:t>
                      </a:r>
                      <a:r>
                        <a:rPr lang="de-DE" sz="2400" kern="1200" baseline="0"/>
                        <a:t>) </a:t>
                      </a:r>
                    </a:p>
                    <a:p>
                      <a:r>
                        <a:rPr lang="de-DE" sz="2400" kern="1200" baseline="0"/>
                        <a:t>T/D </a:t>
                      </a:r>
                      <a:r>
                        <a:rPr lang="de-DE" sz="2400" kern="1200" baseline="0" err="1"/>
                        <a:t>incidence</a:t>
                      </a:r>
                      <a:r>
                        <a:rPr lang="de-DE" sz="2400" kern="1200" baseline="0"/>
                        <a:t> </a:t>
                      </a:r>
                      <a:r>
                        <a:rPr lang="de-DE" sz="2400" kern="1200" baseline="0" err="1"/>
                        <a:t>matrix</a:t>
                      </a:r>
                      <a:r>
                        <a:rPr lang="de-DE" sz="2400" kern="1200" baseline="0"/>
                        <a:t> </a:t>
                      </a:r>
                    </a:p>
                    <a:p>
                      <a:r>
                        <a:rPr lang="en-US" sz="2400" kern="1200" baseline="0"/>
                        <a:t>postings, uncompressed (32-bit words) </a:t>
                      </a:r>
                    </a:p>
                    <a:p>
                      <a:r>
                        <a:rPr lang="en-US" sz="2400" kern="1200" baseline="0"/>
                        <a:t>postings, uncompressed (20 bits) </a:t>
                      </a:r>
                    </a:p>
                    <a:p>
                      <a:r>
                        <a:rPr lang="nb-NO" sz="2400" kern="1200" baseline="0"/>
                        <a:t>postings, variable byte encoded </a:t>
                      </a:r>
                    </a:p>
                    <a:p>
                      <a:r>
                        <a:rPr lang="de-DE" sz="2400" kern="1200" baseline="0" err="1"/>
                        <a:t>postings</a:t>
                      </a:r>
                      <a:r>
                        <a:rPr lang="de-DE" sz="2400" kern="1200" baseline="0"/>
                        <a:t>, </a:t>
                      </a:r>
                      <a:r>
                        <a:rPr lang="el-GR" sz="2400" kern="1200" baseline="0"/>
                        <a:t>γ </a:t>
                      </a:r>
                      <a:r>
                        <a:rPr lang="de-DE" sz="2400" kern="1200" baseline="0" err="1"/>
                        <a:t>encoded</a:t>
                      </a:r>
                      <a:r>
                        <a:rPr lang="de-DE" sz="2400" kern="1200" baseline="0"/>
                        <a:t> </a:t>
                      </a:r>
                      <a:endParaRPr lang="de-DE" sz="2400"/>
                    </a:p>
                    <a:p>
                      <a:endParaRPr lang="de-DE" sz="24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de-DE" sz="2400" kern="1200" baseline="0"/>
                        <a:t>11.2</a:t>
                      </a:r>
                    </a:p>
                    <a:p>
                      <a:pPr algn="r"/>
                      <a:r>
                        <a:rPr lang="en-US" sz="2400" kern="1200" baseline="0"/>
                        <a:t>7.6</a:t>
                      </a:r>
                    </a:p>
                    <a:p>
                      <a:pPr algn="r"/>
                      <a:r>
                        <a:rPr lang="en-US" sz="2400" kern="1200" baseline="0"/>
                        <a:t>7.1</a:t>
                      </a:r>
                    </a:p>
                    <a:p>
                      <a:pPr algn="r"/>
                      <a:r>
                        <a:rPr lang="en-US" sz="2400" kern="1200" baseline="0"/>
                        <a:t>5.9</a:t>
                      </a:r>
                    </a:p>
                    <a:p>
                      <a:pPr algn="r"/>
                      <a:r>
                        <a:rPr lang="de-DE" sz="2400" kern="1200" baseline="0"/>
                        <a:t>3600.0</a:t>
                      </a:r>
                    </a:p>
                    <a:p>
                      <a:pPr algn="r"/>
                      <a:r>
                        <a:rPr lang="de-DE" sz="2400" kern="1200" baseline="0"/>
                        <a:t>960.0</a:t>
                      </a:r>
                    </a:p>
                    <a:p>
                      <a:pPr algn="r"/>
                      <a:r>
                        <a:rPr lang="de-DE" sz="2400" kern="1200" baseline="0"/>
                        <a:t>40,000.0</a:t>
                      </a:r>
                    </a:p>
                    <a:p>
                      <a:pPr algn="r"/>
                      <a:r>
                        <a:rPr lang="en-US" sz="2400" kern="1200" baseline="0"/>
                        <a:t>400.0</a:t>
                      </a:r>
                    </a:p>
                    <a:p>
                      <a:pPr algn="r"/>
                      <a:r>
                        <a:rPr lang="en-US" sz="2400" kern="1200" baseline="0"/>
                        <a:t>250.0</a:t>
                      </a:r>
                    </a:p>
                    <a:p>
                      <a:pPr algn="r"/>
                      <a:r>
                        <a:rPr lang="nb-NO" sz="2400" kern="1200" baseline="0"/>
                        <a:t>116.0</a:t>
                      </a:r>
                      <a:endParaRPr lang="de-DE" sz="2400" kern="1200" baseline="0"/>
                    </a:p>
                    <a:p>
                      <a:pPr algn="r"/>
                      <a:r>
                        <a:rPr lang="de-DE" sz="2400" kern="1200" baseline="0"/>
                        <a:t>101.0</a:t>
                      </a:r>
                      <a:endParaRPr lang="de-DE" sz="24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Text Box 1"/>
          <p:cNvSpPr txBox="1">
            <a:spLocks noChangeArrowheads="1"/>
          </p:cNvSpPr>
          <p:nvPr/>
        </p:nvSpPr>
        <p:spPr bwMode="auto">
          <a:xfrm>
            <a:off x="6553200" y="6477000"/>
            <a:ext cx="2133600" cy="244475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lIns="90000" tIns="46800" rIns="90000" bIns="46800" anchor="ctr"/>
          <a:lstStyle/>
          <a:p>
            <a:pPr algn="r">
              <a:buSzPct val="10000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fld id="{48895EFF-1DBE-4654-84B8-EE5B6E2FA3CA}" type="slidenum">
              <a:rPr lang="en-US" sz="1200">
                <a:solidFill>
                  <a:srgbClr val="898989"/>
                </a:solidFill>
                <a:latin typeface="Calibri" charset="0"/>
              </a:rPr>
              <a:pPr algn="r">
                <a:buSzPct val="10000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</a:pPr>
              <a:t>9</a:t>
            </a:fld>
            <a:endParaRPr lang="en-US" sz="1200">
              <a:solidFill>
                <a:srgbClr val="898989"/>
              </a:solidFill>
              <a:latin typeface="Calibri" charset="0"/>
            </a:endParaRPr>
          </a:p>
        </p:txBody>
      </p:sp>
      <p:sp>
        <p:nvSpPr>
          <p:cNvPr id="84995" name="Text Box 2"/>
          <p:cNvSpPr txBox="1">
            <a:spLocks noChangeArrowheads="1"/>
          </p:cNvSpPr>
          <p:nvPr/>
        </p:nvSpPr>
        <p:spPr bwMode="auto">
          <a:xfrm>
            <a:off x="285720" y="12700"/>
            <a:ext cx="8572560" cy="1403350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anchor="b"/>
          <a:lstStyle/>
          <a:p>
            <a:r>
              <a:rPr lang="de-DE" sz="3600" dirty="0">
                <a:solidFill>
                  <a:schemeClr val="tx1"/>
                </a:solidFill>
                <a:latin typeface="+mj-lt"/>
              </a:rPr>
              <a:t>Ranking</a:t>
            </a:r>
          </a:p>
        </p:txBody>
      </p:sp>
      <p:sp>
        <p:nvSpPr>
          <p:cNvPr id="84996" name="Text Box 3"/>
          <p:cNvSpPr txBox="1">
            <a:spLocks noChangeArrowheads="1"/>
          </p:cNvSpPr>
          <p:nvPr/>
        </p:nvSpPr>
        <p:spPr bwMode="auto">
          <a:xfrm>
            <a:off x="214282" y="2143116"/>
            <a:ext cx="8572560" cy="3571876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/>
          <a:lstStyle/>
          <a:p>
            <a:pPr lvl="1">
              <a:spcBef>
                <a:spcPts val="700"/>
              </a:spcBef>
              <a:buClr>
                <a:srgbClr val="336699"/>
              </a:buClr>
              <a:buFont typeface="Wingdings" pitchFamily="2" charset="2"/>
              <a:buChar char="§"/>
            </a:pPr>
            <a:r>
              <a:rPr lang="en-US" dirty="0">
                <a:latin typeface="+mj-lt"/>
              </a:rPr>
              <a:t>Ranking search results: why it is important (as opposed to just presenting a set of unordered Boolean results)</a:t>
            </a:r>
          </a:p>
          <a:p>
            <a:pPr lvl="1">
              <a:spcBef>
                <a:spcPts val="700"/>
              </a:spcBef>
              <a:buClr>
                <a:srgbClr val="336699"/>
              </a:buClr>
              <a:buFont typeface="Wingdings" pitchFamily="2" charset="2"/>
              <a:buChar char="§"/>
            </a:pPr>
            <a:r>
              <a:rPr lang="en-US" dirty="0">
                <a:latin typeface="+mj-lt"/>
              </a:rPr>
              <a:t>Term frequency: This is a key ingredient for ranking.</a:t>
            </a:r>
          </a:p>
          <a:p>
            <a:pPr lvl="1">
              <a:spcBef>
                <a:spcPts val="700"/>
              </a:spcBef>
              <a:buClr>
                <a:srgbClr val="336699"/>
              </a:buClr>
              <a:buFont typeface="Wingdings" pitchFamily="2" charset="2"/>
              <a:buChar char="§"/>
            </a:pPr>
            <a:r>
              <a:rPr lang="en-US" dirty="0" err="1">
                <a:latin typeface="+mj-lt"/>
              </a:rPr>
              <a:t>Tf-idf</a:t>
            </a:r>
            <a:r>
              <a:rPr lang="en-US" dirty="0">
                <a:latin typeface="+mj-lt"/>
              </a:rPr>
              <a:t> ranking: best known traditional ranking scheme</a:t>
            </a:r>
          </a:p>
          <a:p>
            <a:pPr lvl="1">
              <a:spcBef>
                <a:spcPts val="700"/>
              </a:spcBef>
              <a:buClr>
                <a:srgbClr val="336699"/>
              </a:buClr>
              <a:buFont typeface="Wingdings" pitchFamily="2" charset="2"/>
              <a:buChar char="§"/>
            </a:pPr>
            <a:r>
              <a:rPr lang="en-US" dirty="0">
                <a:latin typeface="+mj-lt"/>
              </a:rPr>
              <a:t>Vector space model: One of the most important formal models for information retrieval (along with Boolean and </a:t>
            </a:r>
            <a:r>
              <a:rPr lang="de-DE" dirty="0" err="1">
                <a:latin typeface="+mj-lt"/>
              </a:rPr>
              <a:t>probabilistic</a:t>
            </a:r>
            <a:r>
              <a:rPr lang="de-DE" dirty="0">
                <a:latin typeface="+mj-lt"/>
              </a:rPr>
              <a:t> </a:t>
            </a:r>
            <a:r>
              <a:rPr lang="de-DE" dirty="0" err="1">
                <a:latin typeface="+mj-lt"/>
              </a:rPr>
              <a:t>models</a:t>
            </a:r>
            <a:r>
              <a:rPr lang="de-DE" dirty="0">
                <a:latin typeface="+mj-lt"/>
              </a:rPr>
              <a:t>)</a:t>
            </a:r>
          </a:p>
          <a:p>
            <a:pPr lvl="1">
              <a:spcBef>
                <a:spcPts val="700"/>
              </a:spcBef>
              <a:buClr>
                <a:srgbClr val="336699"/>
              </a:buClr>
              <a:buFont typeface="Wingdings" pitchFamily="2" charset="2"/>
              <a:buChar char="§"/>
            </a:pPr>
            <a:endParaRPr lang="en-US" dirty="0">
              <a:latin typeface="+mj-lt"/>
            </a:endParaRPr>
          </a:p>
        </p:txBody>
      </p:sp>
      <p:sp>
        <p:nvSpPr>
          <p:cNvPr id="84997" name="Text Box 4"/>
          <p:cNvSpPr txBox="1">
            <a:spLocks noChangeArrowheads="1"/>
          </p:cNvSpPr>
          <p:nvPr/>
        </p:nvSpPr>
        <p:spPr bwMode="auto">
          <a:xfrm>
            <a:off x="7640638" y="-33338"/>
            <a:ext cx="925512" cy="336551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wrap="none" anchor="ctr"/>
          <a:lstStyle/>
          <a:p>
            <a:pPr>
              <a:buClr>
                <a:srgbClr val="000000"/>
              </a:buClr>
              <a:buSzPct val="100000"/>
              <a:buFont typeface="Times New Roman" pitchFamily="16" charset="0"/>
              <a:buNone/>
            </a:pPr>
            <a:endParaRPr lang="de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4BF2C0F-05D6-4882-A325-BE394602789D}" type="slidenum">
              <a:rPr lang="en-US" smtClean="0"/>
              <a:pPr>
                <a:defRPr/>
              </a:pPr>
              <a:t>9</a:t>
            </a:fld>
            <a:endParaRPr lang="en-US"/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Text Box 1"/>
          <p:cNvSpPr txBox="1">
            <a:spLocks noChangeArrowheads="1"/>
          </p:cNvSpPr>
          <p:nvPr/>
        </p:nvSpPr>
        <p:spPr bwMode="auto">
          <a:xfrm>
            <a:off x="6553200" y="6477000"/>
            <a:ext cx="2133600" cy="244475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lIns="90000" tIns="46800" rIns="90000" bIns="46800" anchor="ctr"/>
          <a:lstStyle/>
          <a:p>
            <a:pPr algn="r">
              <a:buSzPct val="10000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fld id="{48895EFF-1DBE-4654-84B8-EE5B6E2FA3CA}" type="slidenum">
              <a:rPr lang="en-US" sz="1200">
                <a:solidFill>
                  <a:srgbClr val="898989"/>
                </a:solidFill>
                <a:latin typeface="Calibri" charset="0"/>
              </a:rPr>
              <a:pPr algn="r">
                <a:buSzPct val="10000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</a:pPr>
              <a:t>10</a:t>
            </a:fld>
            <a:endParaRPr lang="en-US" sz="1200">
              <a:solidFill>
                <a:srgbClr val="898989"/>
              </a:solidFill>
              <a:latin typeface="Calibri" charset="0"/>
            </a:endParaRPr>
          </a:p>
        </p:txBody>
      </p:sp>
      <p:sp>
        <p:nvSpPr>
          <p:cNvPr id="84995" name="Text Box 2"/>
          <p:cNvSpPr txBox="1">
            <a:spLocks noChangeArrowheads="1"/>
          </p:cNvSpPr>
          <p:nvPr/>
        </p:nvSpPr>
        <p:spPr bwMode="auto">
          <a:xfrm>
            <a:off x="285720" y="12700"/>
            <a:ext cx="8572560" cy="1403350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anchor="b"/>
          <a:lstStyle/>
          <a:p>
            <a:r>
              <a:rPr lang="de-DE" sz="3600" dirty="0">
                <a:solidFill>
                  <a:schemeClr val="tx1"/>
                </a:solidFill>
                <a:latin typeface="+mj-lt"/>
              </a:rPr>
              <a:t>Ranked </a:t>
            </a:r>
            <a:r>
              <a:rPr lang="de-DE" sz="3600" dirty="0">
                <a:latin typeface="+mj-lt"/>
              </a:rPr>
              <a:t>R</a:t>
            </a:r>
            <a:r>
              <a:rPr lang="de-DE" sz="3600" dirty="0">
                <a:solidFill>
                  <a:schemeClr val="tx1"/>
                </a:solidFill>
                <a:latin typeface="+mj-lt"/>
              </a:rPr>
              <a:t>etrieval</a:t>
            </a:r>
          </a:p>
        </p:txBody>
      </p:sp>
      <p:sp>
        <p:nvSpPr>
          <p:cNvPr id="84996" name="Text Box 3"/>
          <p:cNvSpPr txBox="1">
            <a:spLocks noChangeArrowheads="1"/>
          </p:cNvSpPr>
          <p:nvPr/>
        </p:nvSpPr>
        <p:spPr bwMode="auto">
          <a:xfrm>
            <a:off x="214282" y="1571636"/>
            <a:ext cx="8572560" cy="3571876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/>
          <a:lstStyle/>
          <a:p>
            <a:pPr lvl="1">
              <a:spcBef>
                <a:spcPts val="700"/>
              </a:spcBef>
              <a:buClr>
                <a:srgbClr val="336699"/>
              </a:buClr>
              <a:buFont typeface="Wingdings" pitchFamily="2" charset="2"/>
              <a:buChar char="§"/>
            </a:pPr>
            <a:r>
              <a:rPr lang="en-US" dirty="0">
                <a:latin typeface="+mj-lt"/>
              </a:rPr>
              <a:t>Thus far, our queries have all been Boolean.</a:t>
            </a:r>
          </a:p>
          <a:p>
            <a:pPr lvl="2">
              <a:spcBef>
                <a:spcPts val="700"/>
              </a:spcBef>
              <a:buClr>
                <a:srgbClr val="336699"/>
              </a:buClr>
              <a:buFont typeface="Wingdings" pitchFamily="2" charset="2"/>
              <a:buChar char="§"/>
            </a:pPr>
            <a:r>
              <a:rPr lang="en-US" sz="2200" dirty="0">
                <a:latin typeface="+mj-lt"/>
              </a:rPr>
              <a:t>Documents either match or don’t.</a:t>
            </a:r>
          </a:p>
          <a:p>
            <a:pPr lvl="1">
              <a:spcBef>
                <a:spcPts val="700"/>
              </a:spcBef>
              <a:buClr>
                <a:srgbClr val="336699"/>
              </a:buClr>
              <a:buFont typeface="Wingdings" pitchFamily="2" charset="2"/>
              <a:buChar char="§"/>
            </a:pPr>
            <a:r>
              <a:rPr lang="en-US" dirty="0">
                <a:latin typeface="+mj-lt"/>
              </a:rPr>
              <a:t>Good for expert users with precise understanding of their needs and of the collection.</a:t>
            </a:r>
          </a:p>
          <a:p>
            <a:pPr lvl="1">
              <a:spcBef>
                <a:spcPts val="700"/>
              </a:spcBef>
              <a:buClr>
                <a:srgbClr val="336699"/>
              </a:buClr>
              <a:buFont typeface="Wingdings" pitchFamily="2" charset="2"/>
              <a:buChar char="§"/>
            </a:pPr>
            <a:r>
              <a:rPr lang="en-US" dirty="0">
                <a:latin typeface="+mj-lt"/>
              </a:rPr>
              <a:t>Also good for applications: Applications can easily consume </a:t>
            </a:r>
            <a:r>
              <a:rPr lang="de-DE" dirty="0">
                <a:latin typeface="+mj-lt"/>
              </a:rPr>
              <a:t>1000s </a:t>
            </a:r>
            <a:r>
              <a:rPr lang="de-DE" dirty="0" err="1">
                <a:latin typeface="+mj-lt"/>
              </a:rPr>
              <a:t>of</a:t>
            </a:r>
            <a:r>
              <a:rPr lang="de-DE" dirty="0">
                <a:latin typeface="+mj-lt"/>
              </a:rPr>
              <a:t> </a:t>
            </a:r>
            <a:r>
              <a:rPr lang="de-DE" dirty="0" err="1">
                <a:latin typeface="+mj-lt"/>
              </a:rPr>
              <a:t>results</a:t>
            </a:r>
            <a:r>
              <a:rPr lang="de-DE" dirty="0">
                <a:latin typeface="+mj-lt"/>
              </a:rPr>
              <a:t>.</a:t>
            </a:r>
          </a:p>
          <a:p>
            <a:pPr lvl="1">
              <a:spcBef>
                <a:spcPts val="700"/>
              </a:spcBef>
              <a:buClr>
                <a:srgbClr val="336699"/>
              </a:buClr>
              <a:buFont typeface="Wingdings" pitchFamily="2" charset="2"/>
              <a:buChar char="§"/>
            </a:pPr>
            <a:r>
              <a:rPr lang="en-US" dirty="0">
                <a:latin typeface="+mj-lt"/>
              </a:rPr>
              <a:t>Not good for the majority of users</a:t>
            </a:r>
          </a:p>
          <a:p>
            <a:pPr lvl="1">
              <a:spcBef>
                <a:spcPts val="700"/>
              </a:spcBef>
              <a:buClr>
                <a:srgbClr val="336699"/>
              </a:buClr>
              <a:buFont typeface="Wingdings" pitchFamily="2" charset="2"/>
              <a:buChar char="§"/>
            </a:pPr>
            <a:r>
              <a:rPr lang="en-US" dirty="0">
                <a:latin typeface="+mj-lt"/>
              </a:rPr>
              <a:t>Most users are not capable of writing Boolean queries . . .</a:t>
            </a:r>
          </a:p>
          <a:p>
            <a:pPr lvl="2">
              <a:spcBef>
                <a:spcPts val="700"/>
              </a:spcBef>
              <a:buClr>
                <a:srgbClr val="336699"/>
              </a:buClr>
              <a:buFont typeface="Wingdings" pitchFamily="2" charset="2"/>
              <a:buChar char="§"/>
            </a:pPr>
            <a:r>
              <a:rPr lang="en-US" sz="2200" dirty="0">
                <a:latin typeface="+mj-lt"/>
              </a:rPr>
              <a:t>. . . or they are, but they think it’s too much work.</a:t>
            </a:r>
          </a:p>
          <a:p>
            <a:pPr lvl="1">
              <a:spcBef>
                <a:spcPts val="700"/>
              </a:spcBef>
              <a:buClr>
                <a:srgbClr val="336699"/>
              </a:buClr>
              <a:buFont typeface="Wingdings" pitchFamily="2" charset="2"/>
              <a:buChar char="§"/>
            </a:pPr>
            <a:r>
              <a:rPr lang="en-US" dirty="0">
                <a:latin typeface="+mj-lt"/>
              </a:rPr>
              <a:t>Most users don’t want to wade through 1000s of results.</a:t>
            </a:r>
          </a:p>
          <a:p>
            <a:pPr lvl="1">
              <a:spcBef>
                <a:spcPts val="700"/>
              </a:spcBef>
              <a:buClr>
                <a:srgbClr val="336699"/>
              </a:buClr>
              <a:buFont typeface="Wingdings" pitchFamily="2" charset="2"/>
              <a:buChar char="§"/>
            </a:pPr>
            <a:r>
              <a:rPr lang="en-US" dirty="0">
                <a:latin typeface="+mj-lt"/>
              </a:rPr>
              <a:t>This is particularly true of web search.</a:t>
            </a:r>
          </a:p>
          <a:p>
            <a:pPr lvl="1">
              <a:spcBef>
                <a:spcPts val="700"/>
              </a:spcBef>
              <a:buClr>
                <a:srgbClr val="336699"/>
              </a:buClr>
              <a:buFont typeface="Wingdings" pitchFamily="2" charset="2"/>
              <a:buChar char="§"/>
            </a:pPr>
            <a:endParaRPr lang="en-US" dirty="0">
              <a:latin typeface="+mj-lt"/>
            </a:endParaRPr>
          </a:p>
        </p:txBody>
      </p:sp>
      <p:sp>
        <p:nvSpPr>
          <p:cNvPr id="84997" name="Text Box 4"/>
          <p:cNvSpPr txBox="1">
            <a:spLocks noChangeArrowheads="1"/>
          </p:cNvSpPr>
          <p:nvPr/>
        </p:nvSpPr>
        <p:spPr bwMode="auto">
          <a:xfrm>
            <a:off x="7640638" y="-33338"/>
            <a:ext cx="925512" cy="336551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wrap="none" anchor="ctr"/>
          <a:lstStyle/>
          <a:p>
            <a:pPr>
              <a:buClr>
                <a:srgbClr val="000000"/>
              </a:buClr>
              <a:buSzPct val="100000"/>
              <a:buFont typeface="Times New Roman" pitchFamily="16" charset="0"/>
              <a:buNone/>
            </a:pPr>
            <a:endParaRPr lang="de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4BF2C0F-05D6-4882-A325-BE394602789D}" type="slidenum">
              <a:rPr lang="en-US" smtClean="0"/>
              <a:pPr>
                <a:defRPr/>
              </a:pPr>
              <a:t>10</a:t>
            </a:fld>
            <a:endParaRPr lang="en-US"/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Text Box 1"/>
          <p:cNvSpPr txBox="1">
            <a:spLocks noChangeArrowheads="1"/>
          </p:cNvSpPr>
          <p:nvPr/>
        </p:nvSpPr>
        <p:spPr bwMode="auto">
          <a:xfrm>
            <a:off x="6553200" y="6477000"/>
            <a:ext cx="2133600" cy="244475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lIns="90000" tIns="46800" rIns="90000" bIns="46800" anchor="ctr"/>
          <a:lstStyle/>
          <a:p>
            <a:pPr algn="r">
              <a:buSzPct val="10000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fld id="{48895EFF-1DBE-4654-84B8-EE5B6E2FA3CA}" type="slidenum">
              <a:rPr lang="en-US" sz="1200">
                <a:solidFill>
                  <a:srgbClr val="898989"/>
                </a:solidFill>
                <a:latin typeface="Calibri" charset="0"/>
              </a:rPr>
              <a:pPr algn="r">
                <a:buSzPct val="10000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</a:pPr>
              <a:t>11</a:t>
            </a:fld>
            <a:endParaRPr lang="en-US" sz="1200">
              <a:solidFill>
                <a:srgbClr val="898989"/>
              </a:solidFill>
              <a:latin typeface="Calibri" charset="0"/>
            </a:endParaRPr>
          </a:p>
        </p:txBody>
      </p:sp>
      <p:sp>
        <p:nvSpPr>
          <p:cNvPr id="84995" name="Text Box 2"/>
          <p:cNvSpPr txBox="1">
            <a:spLocks noChangeArrowheads="1"/>
          </p:cNvSpPr>
          <p:nvPr/>
        </p:nvSpPr>
        <p:spPr bwMode="auto">
          <a:xfrm>
            <a:off x="285720" y="12700"/>
            <a:ext cx="8572560" cy="1403350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anchor="b"/>
          <a:lstStyle/>
          <a:p>
            <a:r>
              <a:rPr lang="en-US" sz="3400" dirty="0">
                <a:solidFill>
                  <a:schemeClr val="tx1"/>
                </a:solidFill>
                <a:latin typeface="+mj-lt"/>
              </a:rPr>
              <a:t>Problem with Boolean search: Feast or famine</a:t>
            </a:r>
          </a:p>
        </p:txBody>
      </p:sp>
      <p:sp>
        <p:nvSpPr>
          <p:cNvPr id="84996" name="Text Box 3"/>
          <p:cNvSpPr txBox="1">
            <a:spLocks noChangeArrowheads="1"/>
          </p:cNvSpPr>
          <p:nvPr/>
        </p:nvSpPr>
        <p:spPr bwMode="auto">
          <a:xfrm>
            <a:off x="214282" y="1928826"/>
            <a:ext cx="8572560" cy="3571876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/>
          <a:lstStyle/>
          <a:p>
            <a:pPr lvl="1">
              <a:spcBef>
                <a:spcPts val="700"/>
              </a:spcBef>
              <a:buClr>
                <a:srgbClr val="336699"/>
              </a:buClr>
              <a:buFont typeface="Wingdings" pitchFamily="2" charset="2"/>
              <a:buChar char="§"/>
            </a:pPr>
            <a:r>
              <a:rPr lang="en-US" dirty="0">
                <a:latin typeface="+mj-lt"/>
              </a:rPr>
              <a:t>Boolean queries often result in either too few (=0) or too </a:t>
            </a:r>
            <a:r>
              <a:rPr lang="de-DE" dirty="0" err="1">
                <a:latin typeface="+mj-lt"/>
              </a:rPr>
              <a:t>many</a:t>
            </a:r>
            <a:r>
              <a:rPr lang="de-DE" dirty="0">
                <a:latin typeface="+mj-lt"/>
              </a:rPr>
              <a:t> (1000s) </a:t>
            </a:r>
            <a:r>
              <a:rPr lang="de-DE" dirty="0" err="1">
                <a:latin typeface="+mj-lt"/>
              </a:rPr>
              <a:t>results</a:t>
            </a:r>
            <a:r>
              <a:rPr lang="de-DE" dirty="0">
                <a:latin typeface="+mj-lt"/>
              </a:rPr>
              <a:t>.</a:t>
            </a:r>
          </a:p>
          <a:p>
            <a:pPr lvl="1">
              <a:spcBef>
                <a:spcPts val="700"/>
              </a:spcBef>
              <a:buClr>
                <a:srgbClr val="336699"/>
              </a:buClr>
              <a:buFont typeface="Wingdings" pitchFamily="2" charset="2"/>
              <a:buChar char="§"/>
            </a:pPr>
            <a:r>
              <a:rPr lang="en-US" dirty="0">
                <a:latin typeface="+mj-lt"/>
              </a:rPr>
              <a:t>Query 1 (</a:t>
            </a:r>
            <a:r>
              <a:rPr lang="en-US" dirty="0" err="1">
                <a:latin typeface="+mj-lt"/>
              </a:rPr>
              <a:t>boolean</a:t>
            </a:r>
            <a:r>
              <a:rPr lang="en-US" dirty="0">
                <a:latin typeface="+mj-lt"/>
              </a:rPr>
              <a:t> conjunction): [standard user </a:t>
            </a:r>
            <a:r>
              <a:rPr lang="en-US" dirty="0" err="1">
                <a:latin typeface="+mj-lt"/>
              </a:rPr>
              <a:t>dlink</a:t>
            </a:r>
            <a:r>
              <a:rPr lang="en-US" dirty="0">
                <a:latin typeface="+mj-lt"/>
              </a:rPr>
              <a:t> 650]</a:t>
            </a:r>
          </a:p>
          <a:p>
            <a:pPr lvl="2">
              <a:spcBef>
                <a:spcPts val="700"/>
              </a:spcBef>
              <a:buClr>
                <a:srgbClr val="336699"/>
              </a:buClr>
              <a:buFont typeface="Wingdings" pitchFamily="2" charset="2"/>
              <a:buChar char="§"/>
            </a:pPr>
            <a:r>
              <a:rPr lang="de-DE" sz="2200" dirty="0">
                <a:latin typeface="+mj-lt"/>
              </a:rPr>
              <a:t>→ 200,000 </a:t>
            </a:r>
            <a:r>
              <a:rPr lang="de-DE" sz="2200" dirty="0" err="1">
                <a:latin typeface="+mj-lt"/>
              </a:rPr>
              <a:t>hits</a:t>
            </a:r>
            <a:r>
              <a:rPr lang="de-DE" sz="2200" dirty="0">
                <a:latin typeface="+mj-lt"/>
              </a:rPr>
              <a:t> – </a:t>
            </a:r>
            <a:r>
              <a:rPr lang="de-DE" sz="2200" dirty="0" err="1">
                <a:latin typeface="+mj-lt"/>
              </a:rPr>
              <a:t>feast</a:t>
            </a:r>
            <a:endParaRPr lang="de-DE" sz="2200" dirty="0">
              <a:latin typeface="+mj-lt"/>
            </a:endParaRPr>
          </a:p>
          <a:p>
            <a:pPr lvl="1">
              <a:spcBef>
                <a:spcPts val="700"/>
              </a:spcBef>
              <a:buClr>
                <a:srgbClr val="336699"/>
              </a:buClr>
              <a:buFont typeface="Wingdings" pitchFamily="2" charset="2"/>
              <a:buChar char="§"/>
            </a:pPr>
            <a:r>
              <a:rPr lang="en-US" dirty="0">
                <a:latin typeface="+mj-lt"/>
              </a:rPr>
              <a:t>Query 2 (</a:t>
            </a:r>
            <a:r>
              <a:rPr lang="en-US" dirty="0" err="1">
                <a:latin typeface="+mj-lt"/>
              </a:rPr>
              <a:t>boolean</a:t>
            </a:r>
            <a:r>
              <a:rPr lang="en-US" dirty="0">
                <a:latin typeface="+mj-lt"/>
              </a:rPr>
              <a:t> conjunction): [standard user </a:t>
            </a:r>
            <a:r>
              <a:rPr lang="en-US" dirty="0" err="1">
                <a:latin typeface="+mj-lt"/>
              </a:rPr>
              <a:t>dlink</a:t>
            </a:r>
            <a:r>
              <a:rPr lang="en-US" dirty="0">
                <a:latin typeface="+mj-lt"/>
              </a:rPr>
              <a:t> 650 no </a:t>
            </a:r>
            <a:r>
              <a:rPr lang="de-DE" dirty="0" err="1">
                <a:latin typeface="+mj-lt"/>
              </a:rPr>
              <a:t>card</a:t>
            </a:r>
            <a:r>
              <a:rPr lang="de-DE" dirty="0">
                <a:latin typeface="+mj-lt"/>
              </a:rPr>
              <a:t> </a:t>
            </a:r>
            <a:r>
              <a:rPr lang="de-DE" dirty="0" err="1">
                <a:latin typeface="+mj-lt"/>
              </a:rPr>
              <a:t>found</a:t>
            </a:r>
            <a:r>
              <a:rPr lang="de-DE" dirty="0">
                <a:latin typeface="+mj-lt"/>
              </a:rPr>
              <a:t>]</a:t>
            </a:r>
          </a:p>
          <a:p>
            <a:pPr lvl="2">
              <a:spcBef>
                <a:spcPts val="700"/>
              </a:spcBef>
              <a:buClr>
                <a:srgbClr val="336699"/>
              </a:buClr>
              <a:buFont typeface="Wingdings" pitchFamily="2" charset="2"/>
              <a:buChar char="§"/>
            </a:pPr>
            <a:r>
              <a:rPr lang="de-DE" sz="2200" dirty="0">
                <a:latin typeface="+mj-lt"/>
              </a:rPr>
              <a:t>→ 0 </a:t>
            </a:r>
            <a:r>
              <a:rPr lang="de-DE" sz="2200" dirty="0" err="1">
                <a:latin typeface="+mj-lt"/>
              </a:rPr>
              <a:t>hits</a:t>
            </a:r>
            <a:r>
              <a:rPr lang="de-DE" sz="2200" dirty="0">
                <a:latin typeface="+mj-lt"/>
              </a:rPr>
              <a:t> – </a:t>
            </a:r>
            <a:r>
              <a:rPr lang="de-DE" sz="2200" dirty="0" err="1">
                <a:latin typeface="+mj-lt"/>
              </a:rPr>
              <a:t>famine</a:t>
            </a:r>
            <a:endParaRPr lang="de-DE" sz="2200" dirty="0">
              <a:latin typeface="+mj-lt"/>
            </a:endParaRPr>
          </a:p>
          <a:p>
            <a:pPr lvl="1">
              <a:spcBef>
                <a:spcPts val="700"/>
              </a:spcBef>
              <a:buClr>
                <a:srgbClr val="336699"/>
              </a:buClr>
              <a:buFont typeface="Wingdings" pitchFamily="2" charset="2"/>
              <a:buChar char="§"/>
            </a:pPr>
            <a:r>
              <a:rPr lang="en-US" dirty="0">
                <a:latin typeface="+mj-lt"/>
              </a:rPr>
              <a:t>In Boolean retrieval, it takes a lot of skill to come up with a query that produces a manageable number of hits.</a:t>
            </a:r>
          </a:p>
          <a:p>
            <a:pPr lvl="1">
              <a:spcBef>
                <a:spcPts val="700"/>
              </a:spcBef>
              <a:buClr>
                <a:srgbClr val="336699"/>
              </a:buClr>
              <a:buFont typeface="Wingdings" pitchFamily="2" charset="2"/>
              <a:buChar char="§"/>
            </a:pPr>
            <a:endParaRPr lang="en-US" dirty="0">
              <a:latin typeface="+mj-lt"/>
            </a:endParaRPr>
          </a:p>
        </p:txBody>
      </p:sp>
      <p:sp>
        <p:nvSpPr>
          <p:cNvPr id="84997" name="Text Box 4"/>
          <p:cNvSpPr txBox="1">
            <a:spLocks noChangeArrowheads="1"/>
          </p:cNvSpPr>
          <p:nvPr/>
        </p:nvSpPr>
        <p:spPr bwMode="auto">
          <a:xfrm>
            <a:off x="7640638" y="-33338"/>
            <a:ext cx="925512" cy="336551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wrap="none" anchor="ctr"/>
          <a:lstStyle/>
          <a:p>
            <a:pPr>
              <a:buClr>
                <a:srgbClr val="000000"/>
              </a:buClr>
              <a:buSzPct val="100000"/>
              <a:buFont typeface="Times New Roman" pitchFamily="16" charset="0"/>
              <a:buNone/>
            </a:pPr>
            <a:endParaRPr lang="de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4BF2C0F-05D6-4882-A325-BE394602789D}" type="slidenum">
              <a:rPr lang="en-US" smtClean="0"/>
              <a:pPr>
                <a:defRPr/>
              </a:pPr>
              <a:t>11</a:t>
            </a:fld>
            <a:endParaRPr lang="en-US"/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Text Box 1"/>
          <p:cNvSpPr txBox="1">
            <a:spLocks noChangeArrowheads="1"/>
          </p:cNvSpPr>
          <p:nvPr/>
        </p:nvSpPr>
        <p:spPr bwMode="auto">
          <a:xfrm>
            <a:off x="6553200" y="6477000"/>
            <a:ext cx="2133600" cy="244475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lIns="90000" tIns="46800" rIns="90000" bIns="46800" anchor="ctr"/>
          <a:lstStyle/>
          <a:p>
            <a:pPr algn="r">
              <a:buSzPct val="10000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fld id="{48895EFF-1DBE-4654-84B8-EE5B6E2FA3CA}" type="slidenum">
              <a:rPr lang="en-US" sz="1200">
                <a:solidFill>
                  <a:srgbClr val="898989"/>
                </a:solidFill>
                <a:latin typeface="Calibri" charset="0"/>
              </a:rPr>
              <a:pPr algn="r">
                <a:buSzPct val="10000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</a:pPr>
              <a:t>12</a:t>
            </a:fld>
            <a:endParaRPr lang="en-US" sz="1200">
              <a:solidFill>
                <a:srgbClr val="898989"/>
              </a:solidFill>
              <a:latin typeface="Calibri" charset="0"/>
            </a:endParaRPr>
          </a:p>
        </p:txBody>
      </p:sp>
      <p:sp>
        <p:nvSpPr>
          <p:cNvPr id="84995" name="Text Box 2"/>
          <p:cNvSpPr txBox="1">
            <a:spLocks noChangeArrowheads="1"/>
          </p:cNvSpPr>
          <p:nvPr/>
        </p:nvSpPr>
        <p:spPr bwMode="auto">
          <a:xfrm>
            <a:off x="285720" y="12700"/>
            <a:ext cx="8572560" cy="1403350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anchor="b"/>
          <a:lstStyle/>
          <a:p>
            <a:r>
              <a:rPr lang="en-US" sz="3400" dirty="0">
                <a:solidFill>
                  <a:schemeClr val="tx1"/>
                </a:solidFill>
                <a:latin typeface="+mj-lt"/>
              </a:rPr>
              <a:t>Feast or famine: No problem in ranked retrieval</a:t>
            </a:r>
          </a:p>
        </p:txBody>
      </p:sp>
      <p:sp>
        <p:nvSpPr>
          <p:cNvPr id="84996" name="Text Box 3"/>
          <p:cNvSpPr txBox="1">
            <a:spLocks noChangeArrowheads="1"/>
          </p:cNvSpPr>
          <p:nvPr/>
        </p:nvSpPr>
        <p:spPr bwMode="auto">
          <a:xfrm>
            <a:off x="214282" y="2357454"/>
            <a:ext cx="8572560" cy="3571876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/>
          <a:lstStyle/>
          <a:p>
            <a:pPr lvl="1">
              <a:spcBef>
                <a:spcPts val="700"/>
              </a:spcBef>
              <a:buClr>
                <a:srgbClr val="336699"/>
              </a:buClr>
              <a:buFont typeface="Wingdings" pitchFamily="2" charset="2"/>
              <a:buChar char="§"/>
            </a:pPr>
            <a:r>
              <a:rPr lang="en-US" dirty="0">
                <a:latin typeface="+mj-lt"/>
              </a:rPr>
              <a:t>With ranking, large result sets are not an issue.</a:t>
            </a:r>
          </a:p>
          <a:p>
            <a:pPr lvl="1">
              <a:spcBef>
                <a:spcPts val="700"/>
              </a:spcBef>
              <a:buClr>
                <a:srgbClr val="336699"/>
              </a:buClr>
              <a:buFont typeface="Wingdings" pitchFamily="2" charset="2"/>
              <a:buChar char="§"/>
            </a:pPr>
            <a:r>
              <a:rPr lang="en-US" dirty="0">
                <a:latin typeface="+mj-lt"/>
              </a:rPr>
              <a:t>Just show the top 10 results</a:t>
            </a:r>
          </a:p>
          <a:p>
            <a:pPr lvl="1">
              <a:spcBef>
                <a:spcPts val="700"/>
              </a:spcBef>
              <a:buClr>
                <a:srgbClr val="336699"/>
              </a:buClr>
              <a:buFont typeface="Wingdings" pitchFamily="2" charset="2"/>
              <a:buChar char="§"/>
            </a:pPr>
            <a:r>
              <a:rPr lang="de-DE" dirty="0" err="1">
                <a:latin typeface="+mj-lt"/>
              </a:rPr>
              <a:t>Doesn’t</a:t>
            </a:r>
            <a:r>
              <a:rPr lang="de-DE" dirty="0">
                <a:latin typeface="+mj-lt"/>
              </a:rPr>
              <a:t> </a:t>
            </a:r>
            <a:r>
              <a:rPr lang="de-DE" dirty="0" err="1">
                <a:latin typeface="+mj-lt"/>
              </a:rPr>
              <a:t>overwhelm</a:t>
            </a:r>
            <a:r>
              <a:rPr lang="de-DE" dirty="0">
                <a:latin typeface="+mj-lt"/>
              </a:rPr>
              <a:t> </a:t>
            </a:r>
            <a:r>
              <a:rPr lang="de-DE" dirty="0" err="1">
                <a:latin typeface="+mj-lt"/>
              </a:rPr>
              <a:t>the</a:t>
            </a:r>
            <a:r>
              <a:rPr lang="de-DE" dirty="0">
                <a:latin typeface="+mj-lt"/>
              </a:rPr>
              <a:t> </a:t>
            </a:r>
            <a:r>
              <a:rPr lang="de-DE" dirty="0" err="1">
                <a:latin typeface="+mj-lt"/>
              </a:rPr>
              <a:t>user</a:t>
            </a:r>
            <a:endParaRPr lang="de-DE" dirty="0">
              <a:latin typeface="+mj-lt"/>
            </a:endParaRPr>
          </a:p>
          <a:p>
            <a:pPr lvl="1">
              <a:spcBef>
                <a:spcPts val="700"/>
              </a:spcBef>
              <a:buClr>
                <a:srgbClr val="336699"/>
              </a:buClr>
              <a:buFont typeface="Wingdings" pitchFamily="2" charset="2"/>
              <a:buChar char="§"/>
            </a:pPr>
            <a:r>
              <a:rPr lang="en-US" dirty="0">
                <a:latin typeface="+mj-lt"/>
              </a:rPr>
              <a:t>Premise: the ranking algorithm works: More relevant results are ranked higher than less relevant results.</a:t>
            </a:r>
          </a:p>
        </p:txBody>
      </p:sp>
      <p:sp>
        <p:nvSpPr>
          <p:cNvPr id="84997" name="Text Box 4"/>
          <p:cNvSpPr txBox="1">
            <a:spLocks noChangeArrowheads="1"/>
          </p:cNvSpPr>
          <p:nvPr/>
        </p:nvSpPr>
        <p:spPr bwMode="auto">
          <a:xfrm>
            <a:off x="7640638" y="-33338"/>
            <a:ext cx="925512" cy="336551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wrap="none" anchor="ctr"/>
          <a:lstStyle/>
          <a:p>
            <a:pPr>
              <a:buClr>
                <a:srgbClr val="000000"/>
              </a:buClr>
              <a:buSzPct val="100000"/>
              <a:buFont typeface="Times New Roman" pitchFamily="16" charset="0"/>
              <a:buNone/>
            </a:pPr>
            <a:endParaRPr lang="de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4BF2C0F-05D6-4882-A325-BE394602789D}" type="slidenum">
              <a:rPr lang="en-US" smtClean="0"/>
              <a:pPr>
                <a:defRPr/>
              </a:pPr>
              <a:t>12</a:t>
            </a:fld>
            <a:endParaRPr lang="en-US"/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Text Box 1"/>
          <p:cNvSpPr txBox="1">
            <a:spLocks noChangeArrowheads="1"/>
          </p:cNvSpPr>
          <p:nvPr/>
        </p:nvSpPr>
        <p:spPr bwMode="auto">
          <a:xfrm>
            <a:off x="6573838" y="6477001"/>
            <a:ext cx="2133600" cy="244475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lIns="90000" tIns="46800" rIns="90000" bIns="46800" anchor="ctr"/>
          <a:lstStyle/>
          <a:p>
            <a:pPr algn="r">
              <a:buSzPct val="10000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fld id="{48895EFF-1DBE-4654-84B8-EE5B6E2FA3CA}" type="slidenum">
              <a:rPr lang="en-US" sz="1200">
                <a:solidFill>
                  <a:srgbClr val="898989"/>
                </a:solidFill>
                <a:latin typeface="Calibri" charset="0"/>
              </a:rPr>
              <a:pPr algn="r">
                <a:buSzPct val="10000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</a:pPr>
              <a:t>13</a:t>
            </a:fld>
            <a:endParaRPr lang="en-US" sz="1200" dirty="0">
              <a:solidFill>
                <a:srgbClr val="898989"/>
              </a:solidFill>
              <a:latin typeface="Calibri" charset="0"/>
            </a:endParaRPr>
          </a:p>
        </p:txBody>
      </p:sp>
      <p:sp>
        <p:nvSpPr>
          <p:cNvPr id="84995" name="Text Box 2"/>
          <p:cNvSpPr txBox="1">
            <a:spLocks noChangeArrowheads="1"/>
          </p:cNvSpPr>
          <p:nvPr/>
        </p:nvSpPr>
        <p:spPr bwMode="auto">
          <a:xfrm>
            <a:off x="285720" y="12700"/>
            <a:ext cx="8572560" cy="1403350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anchor="b"/>
          <a:lstStyle/>
          <a:p>
            <a:r>
              <a:rPr lang="en-US" sz="3600" dirty="0">
                <a:solidFill>
                  <a:schemeClr val="tx1"/>
                </a:solidFill>
                <a:latin typeface="+mj-lt"/>
              </a:rPr>
              <a:t>Basic Idea of ranked retrieval</a:t>
            </a:r>
          </a:p>
        </p:txBody>
      </p:sp>
      <p:sp>
        <p:nvSpPr>
          <p:cNvPr id="84996" name="Text Box 3"/>
          <p:cNvSpPr txBox="1">
            <a:spLocks noChangeArrowheads="1"/>
          </p:cNvSpPr>
          <p:nvPr/>
        </p:nvSpPr>
        <p:spPr bwMode="auto">
          <a:xfrm>
            <a:off x="214282" y="2357454"/>
            <a:ext cx="8572560" cy="3571876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/>
          <a:lstStyle/>
          <a:p>
            <a:pPr lvl="1">
              <a:spcBef>
                <a:spcPts val="700"/>
              </a:spcBef>
              <a:buClr>
                <a:srgbClr val="336699"/>
              </a:buClr>
              <a:buFont typeface="Wingdings" pitchFamily="2" charset="2"/>
              <a:buChar char="§"/>
            </a:pPr>
            <a:r>
              <a:rPr lang="en-US" dirty="0">
                <a:solidFill>
                  <a:schemeClr val="tx1"/>
                </a:solidFill>
                <a:latin typeface="+mj-lt"/>
              </a:rPr>
              <a:t>We wish to rank documents that are more relevant higher than documents that are less relevant.</a:t>
            </a:r>
          </a:p>
          <a:p>
            <a:pPr lvl="1">
              <a:spcBef>
                <a:spcPts val="700"/>
              </a:spcBef>
              <a:buClr>
                <a:srgbClr val="336699"/>
              </a:buClr>
              <a:buFont typeface="Wingdings" pitchFamily="2" charset="2"/>
              <a:buChar char="§"/>
            </a:pPr>
            <a:r>
              <a:rPr lang="en-US" dirty="0">
                <a:solidFill>
                  <a:schemeClr val="tx1"/>
                </a:solidFill>
                <a:latin typeface="+mj-lt"/>
              </a:rPr>
              <a:t>How can we accomplish such a ranking of the documents in the collection with respect to a query?</a:t>
            </a:r>
          </a:p>
          <a:p>
            <a:pPr lvl="1">
              <a:spcBef>
                <a:spcPts val="700"/>
              </a:spcBef>
              <a:buClr>
                <a:srgbClr val="336699"/>
              </a:buClr>
              <a:buFont typeface="Wingdings" pitchFamily="2" charset="2"/>
              <a:buChar char="§"/>
            </a:pPr>
            <a:r>
              <a:rPr lang="en-US" dirty="0">
                <a:solidFill>
                  <a:schemeClr val="tx1"/>
                </a:solidFill>
                <a:latin typeface="+mj-lt"/>
              </a:rPr>
              <a:t>Assign a score to each query-document pair, say in [0, 1].</a:t>
            </a:r>
          </a:p>
          <a:p>
            <a:pPr lvl="1">
              <a:spcBef>
                <a:spcPts val="700"/>
              </a:spcBef>
              <a:buClr>
                <a:srgbClr val="336699"/>
              </a:buClr>
              <a:buFont typeface="Wingdings" pitchFamily="2" charset="2"/>
              <a:buChar char="§"/>
            </a:pPr>
            <a:r>
              <a:rPr lang="en-US" dirty="0">
                <a:solidFill>
                  <a:schemeClr val="tx1"/>
                </a:solidFill>
                <a:latin typeface="+mj-lt"/>
              </a:rPr>
              <a:t>This score measures how well document and query “match”.</a:t>
            </a:r>
          </a:p>
          <a:p>
            <a:pPr lvl="1">
              <a:spcBef>
                <a:spcPts val="700"/>
              </a:spcBef>
              <a:buClr>
                <a:srgbClr val="336699"/>
              </a:buClr>
              <a:buFont typeface="Wingdings" pitchFamily="2" charset="2"/>
              <a:buChar char="§"/>
            </a:pPr>
            <a:endParaRPr lang="en-US" dirty="0">
              <a:solidFill>
                <a:schemeClr val="tx1"/>
              </a:solidFill>
              <a:latin typeface="+mj-lt"/>
            </a:endParaRPr>
          </a:p>
        </p:txBody>
      </p:sp>
      <p:sp>
        <p:nvSpPr>
          <p:cNvPr id="84997" name="Text Box 4"/>
          <p:cNvSpPr txBox="1">
            <a:spLocks noChangeArrowheads="1"/>
          </p:cNvSpPr>
          <p:nvPr/>
        </p:nvSpPr>
        <p:spPr bwMode="auto">
          <a:xfrm>
            <a:off x="7640638" y="-33338"/>
            <a:ext cx="925512" cy="336551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wrap="none" anchor="ctr"/>
          <a:lstStyle/>
          <a:p>
            <a:pPr>
              <a:buClr>
                <a:srgbClr val="000000"/>
              </a:buClr>
              <a:buSzPct val="100000"/>
              <a:buFont typeface="Times New Roman" pitchFamily="16" charset="0"/>
              <a:buNone/>
            </a:pPr>
            <a:endParaRPr lang="de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4BF2C0F-05D6-4882-A325-BE394602789D}" type="slidenum">
              <a:rPr lang="en-US" smtClean="0"/>
              <a:pPr>
                <a:defRPr/>
              </a:pPr>
              <a:t>13</a:t>
            </a:fld>
            <a:endParaRPr lang="en-US"/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Text Box 1"/>
          <p:cNvSpPr txBox="1">
            <a:spLocks noChangeArrowheads="1"/>
          </p:cNvSpPr>
          <p:nvPr/>
        </p:nvSpPr>
        <p:spPr bwMode="auto">
          <a:xfrm>
            <a:off x="6553200" y="6477000"/>
            <a:ext cx="2133600" cy="244475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lIns="90000" tIns="46800" rIns="90000" bIns="46800" anchor="ctr"/>
          <a:lstStyle/>
          <a:p>
            <a:pPr algn="r">
              <a:buSzPct val="10000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fld id="{48895EFF-1DBE-4654-84B8-EE5B6E2FA3CA}" type="slidenum">
              <a:rPr lang="en-US" sz="1200">
                <a:solidFill>
                  <a:srgbClr val="898989"/>
                </a:solidFill>
                <a:latin typeface="Calibri" charset="0"/>
              </a:rPr>
              <a:pPr algn="r">
                <a:buSzPct val="10000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</a:pPr>
              <a:t>14</a:t>
            </a:fld>
            <a:endParaRPr lang="en-US" sz="1200">
              <a:solidFill>
                <a:srgbClr val="898989"/>
              </a:solidFill>
              <a:latin typeface="Calibri" charset="0"/>
            </a:endParaRPr>
          </a:p>
        </p:txBody>
      </p:sp>
      <p:sp>
        <p:nvSpPr>
          <p:cNvPr id="84995" name="Text Box 2"/>
          <p:cNvSpPr txBox="1">
            <a:spLocks noChangeArrowheads="1"/>
          </p:cNvSpPr>
          <p:nvPr/>
        </p:nvSpPr>
        <p:spPr bwMode="auto">
          <a:xfrm>
            <a:off x="285720" y="12700"/>
            <a:ext cx="8572560" cy="1403350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anchor="b"/>
          <a:lstStyle/>
          <a:p>
            <a:r>
              <a:rPr lang="de-DE" sz="3600" dirty="0">
                <a:solidFill>
                  <a:schemeClr val="tx1"/>
                </a:solidFill>
                <a:latin typeface="+mj-lt"/>
              </a:rPr>
              <a:t>Query-</a:t>
            </a:r>
            <a:r>
              <a:rPr lang="de-DE" sz="3600" dirty="0" err="1">
                <a:solidFill>
                  <a:schemeClr val="tx1"/>
                </a:solidFill>
                <a:latin typeface="+mj-lt"/>
              </a:rPr>
              <a:t>document</a:t>
            </a:r>
            <a:r>
              <a:rPr lang="de-DE" sz="3600" dirty="0">
                <a:solidFill>
                  <a:schemeClr val="tx1"/>
                </a:solidFill>
                <a:latin typeface="+mj-lt"/>
              </a:rPr>
              <a:t> </a:t>
            </a:r>
            <a:r>
              <a:rPr lang="de-DE" sz="3600" dirty="0" err="1">
                <a:solidFill>
                  <a:schemeClr val="tx1"/>
                </a:solidFill>
                <a:latin typeface="+mj-lt"/>
              </a:rPr>
              <a:t>matching</a:t>
            </a:r>
            <a:r>
              <a:rPr lang="de-DE" sz="3600" dirty="0">
                <a:solidFill>
                  <a:schemeClr val="tx1"/>
                </a:solidFill>
                <a:latin typeface="+mj-lt"/>
              </a:rPr>
              <a:t> </a:t>
            </a:r>
            <a:r>
              <a:rPr lang="de-DE" sz="3600" dirty="0" err="1">
                <a:solidFill>
                  <a:schemeClr val="tx1"/>
                </a:solidFill>
                <a:latin typeface="+mj-lt"/>
              </a:rPr>
              <a:t>scores</a:t>
            </a:r>
            <a:endParaRPr lang="de-DE" sz="3600" dirty="0">
              <a:solidFill>
                <a:schemeClr val="tx1"/>
              </a:solidFill>
              <a:latin typeface="+mj-lt"/>
            </a:endParaRPr>
          </a:p>
        </p:txBody>
      </p:sp>
      <p:sp>
        <p:nvSpPr>
          <p:cNvPr id="84996" name="Text Box 3"/>
          <p:cNvSpPr txBox="1">
            <a:spLocks noChangeArrowheads="1"/>
          </p:cNvSpPr>
          <p:nvPr/>
        </p:nvSpPr>
        <p:spPr bwMode="auto">
          <a:xfrm>
            <a:off x="214282" y="2214554"/>
            <a:ext cx="8572560" cy="3571876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/>
          <a:lstStyle/>
          <a:p>
            <a:pPr lvl="1">
              <a:spcBef>
                <a:spcPts val="700"/>
              </a:spcBef>
              <a:buClr>
                <a:srgbClr val="336699"/>
              </a:buClr>
              <a:buFont typeface="Wingdings" pitchFamily="2" charset="2"/>
              <a:buChar char="§"/>
            </a:pPr>
            <a:r>
              <a:rPr lang="en-US" dirty="0">
                <a:solidFill>
                  <a:schemeClr val="tx1"/>
                </a:solidFill>
                <a:latin typeface="+mj-lt"/>
              </a:rPr>
              <a:t>How do we compute the score of a query-document pair?</a:t>
            </a:r>
          </a:p>
          <a:p>
            <a:pPr lvl="1">
              <a:spcBef>
                <a:spcPts val="700"/>
              </a:spcBef>
              <a:buClr>
                <a:srgbClr val="336699"/>
              </a:buClr>
              <a:buFont typeface="Wingdings" pitchFamily="2" charset="2"/>
              <a:buChar char="§"/>
            </a:pPr>
            <a:r>
              <a:rPr lang="en-US" dirty="0">
                <a:solidFill>
                  <a:schemeClr val="tx1"/>
                </a:solidFill>
                <a:latin typeface="+mj-lt"/>
              </a:rPr>
              <a:t>Let’s start with a one-term query.</a:t>
            </a:r>
          </a:p>
          <a:p>
            <a:pPr lvl="1">
              <a:spcBef>
                <a:spcPts val="700"/>
              </a:spcBef>
              <a:buClr>
                <a:srgbClr val="336699"/>
              </a:buClr>
              <a:buFont typeface="Wingdings" pitchFamily="2" charset="2"/>
              <a:buChar char="§"/>
            </a:pPr>
            <a:r>
              <a:rPr lang="en-US" dirty="0">
                <a:solidFill>
                  <a:schemeClr val="tx1"/>
                </a:solidFill>
                <a:latin typeface="+mj-lt"/>
              </a:rPr>
              <a:t>If the query term does not occur in the document: score </a:t>
            </a:r>
            <a:r>
              <a:rPr lang="de-DE" dirty="0" err="1">
                <a:solidFill>
                  <a:schemeClr val="tx1"/>
                </a:solidFill>
                <a:latin typeface="+mj-lt"/>
              </a:rPr>
              <a:t>should</a:t>
            </a:r>
            <a:r>
              <a:rPr lang="de-DE" dirty="0">
                <a:solidFill>
                  <a:schemeClr val="tx1"/>
                </a:solidFill>
                <a:latin typeface="+mj-lt"/>
              </a:rPr>
              <a:t> </a:t>
            </a:r>
            <a:r>
              <a:rPr lang="de-DE" dirty="0" err="1">
                <a:solidFill>
                  <a:schemeClr val="tx1"/>
                </a:solidFill>
                <a:latin typeface="+mj-lt"/>
              </a:rPr>
              <a:t>be</a:t>
            </a:r>
            <a:r>
              <a:rPr lang="de-DE" dirty="0">
                <a:solidFill>
                  <a:schemeClr val="tx1"/>
                </a:solidFill>
                <a:latin typeface="+mj-lt"/>
              </a:rPr>
              <a:t> 0.</a:t>
            </a:r>
          </a:p>
          <a:p>
            <a:pPr lvl="1">
              <a:spcBef>
                <a:spcPts val="700"/>
              </a:spcBef>
              <a:buClr>
                <a:srgbClr val="336699"/>
              </a:buClr>
              <a:buFont typeface="Wingdings" pitchFamily="2" charset="2"/>
              <a:buChar char="§"/>
            </a:pPr>
            <a:r>
              <a:rPr lang="en-US" dirty="0">
                <a:solidFill>
                  <a:schemeClr val="tx1"/>
                </a:solidFill>
                <a:latin typeface="+mj-lt"/>
              </a:rPr>
              <a:t>The more frequent the query term in the document, the </a:t>
            </a:r>
            <a:r>
              <a:rPr lang="de-DE" dirty="0" err="1">
                <a:solidFill>
                  <a:schemeClr val="tx1"/>
                </a:solidFill>
                <a:latin typeface="+mj-lt"/>
              </a:rPr>
              <a:t>higher</a:t>
            </a:r>
            <a:r>
              <a:rPr lang="de-DE" dirty="0">
                <a:solidFill>
                  <a:schemeClr val="tx1"/>
                </a:solidFill>
                <a:latin typeface="+mj-lt"/>
              </a:rPr>
              <a:t> </a:t>
            </a:r>
            <a:r>
              <a:rPr lang="de-DE" dirty="0" err="1">
                <a:solidFill>
                  <a:schemeClr val="tx1"/>
                </a:solidFill>
                <a:latin typeface="+mj-lt"/>
              </a:rPr>
              <a:t>the</a:t>
            </a:r>
            <a:r>
              <a:rPr lang="de-DE" dirty="0">
                <a:solidFill>
                  <a:schemeClr val="tx1"/>
                </a:solidFill>
                <a:latin typeface="+mj-lt"/>
              </a:rPr>
              <a:t> score</a:t>
            </a:r>
          </a:p>
          <a:p>
            <a:pPr lvl="1">
              <a:spcBef>
                <a:spcPts val="700"/>
              </a:spcBef>
              <a:buClr>
                <a:srgbClr val="336699"/>
              </a:buClr>
              <a:buFont typeface="Wingdings" pitchFamily="2" charset="2"/>
              <a:buChar char="§"/>
            </a:pPr>
            <a:r>
              <a:rPr lang="en-US" dirty="0">
                <a:solidFill>
                  <a:schemeClr val="tx1"/>
                </a:solidFill>
                <a:latin typeface="+mj-lt"/>
              </a:rPr>
              <a:t>We will look at a number of alternatives for doing this.</a:t>
            </a:r>
          </a:p>
        </p:txBody>
      </p:sp>
      <p:sp>
        <p:nvSpPr>
          <p:cNvPr id="84997" name="Text Box 4"/>
          <p:cNvSpPr txBox="1">
            <a:spLocks noChangeArrowheads="1"/>
          </p:cNvSpPr>
          <p:nvPr/>
        </p:nvSpPr>
        <p:spPr bwMode="auto">
          <a:xfrm>
            <a:off x="7640638" y="-33338"/>
            <a:ext cx="925512" cy="336551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wrap="none" anchor="ctr"/>
          <a:lstStyle/>
          <a:p>
            <a:pPr>
              <a:buClr>
                <a:srgbClr val="000000"/>
              </a:buClr>
              <a:buSzPct val="100000"/>
              <a:buFont typeface="Times New Roman" pitchFamily="16" charset="0"/>
              <a:buNone/>
            </a:pPr>
            <a:endParaRPr lang="de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4BF2C0F-05D6-4882-A325-BE394602789D}" type="slidenum">
              <a:rPr lang="en-US" smtClean="0"/>
              <a:pPr>
                <a:defRPr/>
              </a:pPr>
              <a:t>14</a:t>
            </a:fld>
            <a:endParaRPr lang="en-US"/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Text Box 1"/>
          <p:cNvSpPr txBox="1">
            <a:spLocks noChangeArrowheads="1"/>
          </p:cNvSpPr>
          <p:nvPr/>
        </p:nvSpPr>
        <p:spPr bwMode="auto">
          <a:xfrm>
            <a:off x="6553200" y="6477000"/>
            <a:ext cx="2133600" cy="244475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lIns="90000" tIns="46800" rIns="90000" bIns="46800" anchor="ctr"/>
          <a:lstStyle/>
          <a:p>
            <a:pPr algn="r">
              <a:buSzPct val="10000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fld id="{48895EFF-1DBE-4654-84B8-EE5B6E2FA3CA}" type="slidenum">
              <a:rPr lang="en-US" sz="1200">
                <a:solidFill>
                  <a:srgbClr val="898989"/>
                </a:solidFill>
                <a:latin typeface="Calibri" charset="0"/>
              </a:rPr>
              <a:pPr algn="r">
                <a:buSzPct val="10000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</a:pPr>
              <a:t>15</a:t>
            </a:fld>
            <a:endParaRPr lang="en-US" sz="1200">
              <a:solidFill>
                <a:srgbClr val="898989"/>
              </a:solidFill>
              <a:latin typeface="Calibri" charset="0"/>
            </a:endParaRPr>
          </a:p>
        </p:txBody>
      </p:sp>
      <p:sp>
        <p:nvSpPr>
          <p:cNvPr id="84995" name="Text Box 2"/>
          <p:cNvSpPr txBox="1">
            <a:spLocks noChangeArrowheads="1"/>
          </p:cNvSpPr>
          <p:nvPr/>
        </p:nvSpPr>
        <p:spPr bwMode="auto">
          <a:xfrm>
            <a:off x="285720" y="12700"/>
            <a:ext cx="8572560" cy="1403350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anchor="b"/>
          <a:lstStyle/>
          <a:p>
            <a:r>
              <a:rPr lang="de-DE" sz="3600" dirty="0">
                <a:solidFill>
                  <a:schemeClr val="tx1"/>
                </a:solidFill>
                <a:latin typeface="+mj-lt"/>
              </a:rPr>
              <a:t>Take 1: </a:t>
            </a:r>
            <a:r>
              <a:rPr lang="de-DE" sz="3600" dirty="0" err="1">
                <a:solidFill>
                  <a:schemeClr val="tx1"/>
                </a:solidFill>
                <a:latin typeface="+mj-lt"/>
              </a:rPr>
              <a:t>Jaccard</a:t>
            </a:r>
            <a:r>
              <a:rPr lang="de-DE" sz="3600" dirty="0">
                <a:solidFill>
                  <a:schemeClr val="tx1"/>
                </a:solidFill>
                <a:latin typeface="+mj-lt"/>
              </a:rPr>
              <a:t> </a:t>
            </a:r>
            <a:r>
              <a:rPr lang="de-DE" sz="3600" dirty="0" err="1">
                <a:solidFill>
                  <a:schemeClr val="tx1"/>
                </a:solidFill>
                <a:latin typeface="+mj-lt"/>
              </a:rPr>
              <a:t>coefficient</a:t>
            </a:r>
            <a:endParaRPr lang="de-DE" sz="3600" dirty="0">
              <a:solidFill>
                <a:schemeClr val="tx1"/>
              </a:solidFill>
              <a:latin typeface="+mj-lt"/>
            </a:endParaRPr>
          </a:p>
        </p:txBody>
      </p:sp>
      <p:sp>
        <p:nvSpPr>
          <p:cNvPr id="84996" name="Text Box 3"/>
          <p:cNvSpPr txBox="1">
            <a:spLocks noChangeArrowheads="1"/>
          </p:cNvSpPr>
          <p:nvPr/>
        </p:nvSpPr>
        <p:spPr bwMode="auto">
          <a:xfrm>
            <a:off x="214282" y="1500198"/>
            <a:ext cx="8572560" cy="3571876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/>
          <a:lstStyle/>
          <a:p>
            <a:pPr lvl="1">
              <a:spcBef>
                <a:spcPts val="700"/>
              </a:spcBef>
              <a:buClr>
                <a:srgbClr val="336699"/>
              </a:buClr>
              <a:buFont typeface="Wingdings" pitchFamily="2" charset="2"/>
              <a:buChar char="§"/>
            </a:pPr>
            <a:r>
              <a:rPr lang="en-US" dirty="0">
                <a:solidFill>
                  <a:schemeClr val="tx1"/>
                </a:solidFill>
                <a:latin typeface="+mj-lt"/>
              </a:rPr>
              <a:t>A commonly used measure of overlap of two sets</a:t>
            </a:r>
          </a:p>
          <a:p>
            <a:pPr lvl="1">
              <a:spcBef>
                <a:spcPts val="700"/>
              </a:spcBef>
              <a:buClr>
                <a:srgbClr val="336699"/>
              </a:buClr>
              <a:buFont typeface="Wingdings" pitchFamily="2" charset="2"/>
              <a:buChar char="§"/>
            </a:pPr>
            <a:r>
              <a:rPr lang="en-US" dirty="0">
                <a:solidFill>
                  <a:schemeClr val="tx1"/>
                </a:solidFill>
                <a:latin typeface="+mj-lt"/>
              </a:rPr>
              <a:t>Let </a:t>
            </a:r>
            <a:r>
              <a:rPr lang="en-US" i="1" dirty="0">
                <a:solidFill>
                  <a:schemeClr val="tx1"/>
                </a:solidFill>
                <a:latin typeface="+mj-lt"/>
              </a:rPr>
              <a:t>A</a:t>
            </a:r>
            <a:r>
              <a:rPr lang="en-US" dirty="0">
                <a:solidFill>
                  <a:schemeClr val="tx1"/>
                </a:solidFill>
                <a:latin typeface="+mj-lt"/>
              </a:rPr>
              <a:t> and</a:t>
            </a:r>
            <a:r>
              <a:rPr lang="en-US" i="1" dirty="0">
                <a:solidFill>
                  <a:schemeClr val="tx1"/>
                </a:solidFill>
                <a:latin typeface="+mj-lt"/>
              </a:rPr>
              <a:t> B </a:t>
            </a:r>
            <a:r>
              <a:rPr lang="en-US" dirty="0">
                <a:solidFill>
                  <a:schemeClr val="tx1"/>
                </a:solidFill>
                <a:latin typeface="+mj-lt"/>
              </a:rPr>
              <a:t>be two sets</a:t>
            </a:r>
          </a:p>
          <a:p>
            <a:pPr lvl="1">
              <a:spcBef>
                <a:spcPts val="700"/>
              </a:spcBef>
              <a:buClr>
                <a:srgbClr val="336699"/>
              </a:buClr>
              <a:buFont typeface="Wingdings" pitchFamily="2" charset="2"/>
              <a:buChar char="§"/>
            </a:pPr>
            <a:r>
              <a:rPr lang="de-DE" dirty="0" err="1">
                <a:solidFill>
                  <a:schemeClr val="tx1"/>
                </a:solidFill>
                <a:latin typeface="+mj-lt"/>
              </a:rPr>
              <a:t>Jaccard</a:t>
            </a:r>
            <a:r>
              <a:rPr lang="de-DE" dirty="0">
                <a:solidFill>
                  <a:schemeClr val="tx1"/>
                </a:solidFill>
                <a:latin typeface="+mj-lt"/>
              </a:rPr>
              <a:t> </a:t>
            </a:r>
            <a:r>
              <a:rPr lang="de-DE" dirty="0" err="1">
                <a:solidFill>
                  <a:schemeClr val="tx1"/>
                </a:solidFill>
                <a:latin typeface="+mj-lt"/>
              </a:rPr>
              <a:t>coefficient</a:t>
            </a:r>
            <a:r>
              <a:rPr lang="de-DE" dirty="0">
                <a:solidFill>
                  <a:schemeClr val="tx1"/>
                </a:solidFill>
                <a:latin typeface="+mj-lt"/>
              </a:rPr>
              <a:t>:</a:t>
            </a:r>
          </a:p>
          <a:p>
            <a:pPr lvl="1">
              <a:spcBef>
                <a:spcPts val="700"/>
              </a:spcBef>
              <a:buClr>
                <a:srgbClr val="336699"/>
              </a:buClr>
              <a:buFont typeface="Wingdings" pitchFamily="2" charset="2"/>
              <a:buChar char="§"/>
            </a:pPr>
            <a:endParaRPr lang="en-US" dirty="0">
              <a:solidFill>
                <a:schemeClr val="tx1"/>
              </a:solidFill>
              <a:latin typeface="+mj-lt"/>
            </a:endParaRPr>
          </a:p>
          <a:p>
            <a:pPr lvl="1">
              <a:spcBef>
                <a:spcPts val="700"/>
              </a:spcBef>
              <a:buClr>
                <a:srgbClr val="336699"/>
              </a:buClr>
            </a:pPr>
            <a:endParaRPr lang="en-US" dirty="0">
              <a:solidFill>
                <a:schemeClr val="tx1"/>
              </a:solidFill>
              <a:latin typeface="+mj-lt"/>
            </a:endParaRPr>
          </a:p>
          <a:p>
            <a:pPr lvl="1">
              <a:spcBef>
                <a:spcPts val="700"/>
              </a:spcBef>
              <a:buClr>
                <a:srgbClr val="336699"/>
              </a:buClr>
              <a:buFont typeface="Wingdings" pitchFamily="2" charset="2"/>
              <a:buChar char="§"/>
            </a:pPr>
            <a:endParaRPr lang="de-DE" sz="2200" dirty="0">
              <a:solidFill>
                <a:schemeClr val="tx1"/>
              </a:solidFill>
              <a:latin typeface="+mj-lt"/>
            </a:endParaRPr>
          </a:p>
          <a:p>
            <a:pPr lvl="1">
              <a:spcBef>
                <a:spcPts val="700"/>
              </a:spcBef>
              <a:buClr>
                <a:srgbClr val="336699"/>
              </a:buClr>
              <a:buFont typeface="Wingdings" pitchFamily="2" charset="2"/>
              <a:buChar char="§"/>
            </a:pPr>
            <a:r>
              <a:rPr lang="de-DE" sz="2200" dirty="0">
                <a:solidFill>
                  <a:schemeClr val="tx1"/>
                </a:solidFill>
                <a:latin typeface="+mj-lt"/>
              </a:rPr>
              <a:t>JACCARD</a:t>
            </a:r>
            <a:r>
              <a:rPr lang="de-DE" dirty="0">
                <a:solidFill>
                  <a:schemeClr val="tx1"/>
                </a:solidFill>
                <a:latin typeface="+mj-lt"/>
              </a:rPr>
              <a:t> (</a:t>
            </a:r>
            <a:r>
              <a:rPr lang="de-DE" i="1" dirty="0">
                <a:solidFill>
                  <a:schemeClr val="tx1"/>
                </a:solidFill>
                <a:latin typeface="+mj-lt"/>
              </a:rPr>
              <a:t>A</a:t>
            </a:r>
            <a:r>
              <a:rPr lang="de-DE" dirty="0">
                <a:solidFill>
                  <a:schemeClr val="tx1"/>
                </a:solidFill>
                <a:latin typeface="+mj-lt"/>
              </a:rPr>
              <a:t>, </a:t>
            </a:r>
            <a:r>
              <a:rPr lang="de-DE" i="1" dirty="0">
                <a:solidFill>
                  <a:schemeClr val="tx1"/>
                </a:solidFill>
                <a:latin typeface="+mj-lt"/>
              </a:rPr>
              <a:t>A</a:t>
            </a:r>
            <a:r>
              <a:rPr lang="de-DE" dirty="0">
                <a:solidFill>
                  <a:schemeClr val="tx1"/>
                </a:solidFill>
                <a:latin typeface="+mj-lt"/>
              </a:rPr>
              <a:t>) = 1</a:t>
            </a:r>
          </a:p>
          <a:p>
            <a:pPr lvl="1">
              <a:spcBef>
                <a:spcPts val="700"/>
              </a:spcBef>
              <a:buClr>
                <a:srgbClr val="336699"/>
              </a:buClr>
              <a:buFont typeface="Wingdings" pitchFamily="2" charset="2"/>
              <a:buChar char="§"/>
            </a:pPr>
            <a:r>
              <a:rPr lang="de-DE" sz="2200" dirty="0">
                <a:solidFill>
                  <a:schemeClr val="tx1"/>
                </a:solidFill>
                <a:latin typeface="+mj-lt"/>
              </a:rPr>
              <a:t>JACCARD</a:t>
            </a:r>
            <a:r>
              <a:rPr lang="en-US" dirty="0">
                <a:solidFill>
                  <a:schemeClr val="tx1"/>
                </a:solidFill>
                <a:latin typeface="+mj-lt"/>
              </a:rPr>
              <a:t> (</a:t>
            </a:r>
            <a:r>
              <a:rPr lang="en-US" i="1" dirty="0">
                <a:solidFill>
                  <a:schemeClr val="tx1"/>
                </a:solidFill>
                <a:latin typeface="+mj-lt"/>
              </a:rPr>
              <a:t>A</a:t>
            </a:r>
            <a:r>
              <a:rPr lang="en-US" dirty="0">
                <a:solidFill>
                  <a:schemeClr val="tx1"/>
                </a:solidFill>
                <a:latin typeface="+mj-lt"/>
              </a:rPr>
              <a:t>, </a:t>
            </a:r>
            <a:r>
              <a:rPr lang="en-US" i="1" dirty="0">
                <a:solidFill>
                  <a:schemeClr val="tx1"/>
                </a:solidFill>
                <a:latin typeface="+mj-lt"/>
              </a:rPr>
              <a:t>B</a:t>
            </a:r>
            <a:r>
              <a:rPr lang="en-US" dirty="0">
                <a:solidFill>
                  <a:schemeClr val="tx1"/>
                </a:solidFill>
                <a:latin typeface="+mj-lt"/>
              </a:rPr>
              <a:t>) = 0 if </a:t>
            </a:r>
            <a:r>
              <a:rPr lang="en-US" i="1" dirty="0">
                <a:solidFill>
                  <a:schemeClr val="tx1"/>
                </a:solidFill>
                <a:latin typeface="+mj-lt"/>
              </a:rPr>
              <a:t>A</a:t>
            </a:r>
            <a:r>
              <a:rPr lang="en-US" dirty="0">
                <a:solidFill>
                  <a:schemeClr val="tx1"/>
                </a:solidFill>
                <a:latin typeface="+mj-lt"/>
              </a:rPr>
              <a:t> ∩ </a:t>
            </a:r>
            <a:r>
              <a:rPr lang="en-US" i="1" dirty="0">
                <a:solidFill>
                  <a:schemeClr val="tx1"/>
                </a:solidFill>
                <a:latin typeface="+mj-lt"/>
              </a:rPr>
              <a:t>B</a:t>
            </a:r>
            <a:r>
              <a:rPr lang="en-US" dirty="0">
                <a:solidFill>
                  <a:schemeClr val="tx1"/>
                </a:solidFill>
                <a:latin typeface="+mj-lt"/>
              </a:rPr>
              <a:t> = 0</a:t>
            </a:r>
          </a:p>
          <a:p>
            <a:pPr lvl="1">
              <a:spcBef>
                <a:spcPts val="700"/>
              </a:spcBef>
              <a:buClr>
                <a:srgbClr val="336699"/>
              </a:buClr>
              <a:buFont typeface="Wingdings" pitchFamily="2" charset="2"/>
              <a:buChar char="§"/>
            </a:pPr>
            <a:r>
              <a:rPr lang="en-US" dirty="0">
                <a:solidFill>
                  <a:schemeClr val="tx1"/>
                </a:solidFill>
                <a:latin typeface="+mj-lt"/>
              </a:rPr>
              <a:t>A and B don’t have to be the same size.</a:t>
            </a:r>
          </a:p>
          <a:p>
            <a:pPr lvl="1">
              <a:spcBef>
                <a:spcPts val="700"/>
              </a:spcBef>
              <a:buClr>
                <a:srgbClr val="336699"/>
              </a:buClr>
              <a:buFont typeface="Wingdings" pitchFamily="2" charset="2"/>
              <a:buChar char="§"/>
            </a:pPr>
            <a:r>
              <a:rPr lang="en-US" dirty="0">
                <a:solidFill>
                  <a:schemeClr val="tx1"/>
                </a:solidFill>
                <a:latin typeface="+mj-lt"/>
              </a:rPr>
              <a:t>Always assigns a number between 0 and 1.</a:t>
            </a:r>
          </a:p>
        </p:txBody>
      </p:sp>
      <p:sp>
        <p:nvSpPr>
          <p:cNvPr id="84997" name="Text Box 4"/>
          <p:cNvSpPr txBox="1">
            <a:spLocks noChangeArrowheads="1"/>
          </p:cNvSpPr>
          <p:nvPr/>
        </p:nvSpPr>
        <p:spPr bwMode="auto">
          <a:xfrm>
            <a:off x="7640638" y="-33338"/>
            <a:ext cx="925512" cy="336551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wrap="none" anchor="ctr"/>
          <a:lstStyle/>
          <a:p>
            <a:pPr>
              <a:buClr>
                <a:srgbClr val="000000"/>
              </a:buClr>
              <a:buSzPct val="100000"/>
              <a:buFont typeface="Times New Roman" pitchFamily="16" charset="0"/>
              <a:buNone/>
            </a:pPr>
            <a:endParaRPr lang="de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4BF2C0F-05D6-4882-A325-BE394602789D}" type="slidenum">
              <a:rPr lang="en-US" smtClean="0"/>
              <a:pPr>
                <a:defRPr/>
              </a:pPr>
              <a:t>15</a:t>
            </a:fld>
            <a:endParaRPr lang="en-US"/>
          </a:p>
        </p:txBody>
      </p:sp>
      <p:pic>
        <p:nvPicPr>
          <p:cNvPr id="8" name="Picture 7" descr="61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24567" y="2210788"/>
            <a:ext cx="3351990" cy="837998"/>
          </a:xfrm>
          <a:prstGeom prst="rect">
            <a:avLst/>
          </a:prstGeom>
        </p:spPr>
      </p:pic>
      <p:pic>
        <p:nvPicPr>
          <p:cNvPr id="10" name="Picture 9" descr="617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24567" y="3103066"/>
            <a:ext cx="2209942" cy="396000"/>
          </a:xfrm>
          <a:prstGeom prst="rect">
            <a:avLst/>
          </a:prstGeom>
        </p:spPr>
      </p:pic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Text Box 1"/>
          <p:cNvSpPr txBox="1">
            <a:spLocks noChangeArrowheads="1"/>
          </p:cNvSpPr>
          <p:nvPr/>
        </p:nvSpPr>
        <p:spPr bwMode="auto">
          <a:xfrm>
            <a:off x="6553200" y="6477000"/>
            <a:ext cx="2133600" cy="244475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lIns="90000" tIns="46800" rIns="90000" bIns="46800" anchor="ctr"/>
          <a:lstStyle/>
          <a:p>
            <a:pPr algn="r">
              <a:buSzPct val="10000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fld id="{48895EFF-1DBE-4654-84B8-EE5B6E2FA3CA}" type="slidenum">
              <a:rPr lang="en-US" sz="1200">
                <a:solidFill>
                  <a:srgbClr val="898989"/>
                </a:solidFill>
                <a:latin typeface="Calibri" charset="0"/>
              </a:rPr>
              <a:pPr algn="r">
                <a:buSzPct val="10000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</a:pPr>
              <a:t>16</a:t>
            </a:fld>
            <a:endParaRPr lang="en-US" sz="1200">
              <a:solidFill>
                <a:srgbClr val="898989"/>
              </a:solidFill>
              <a:latin typeface="Calibri" charset="0"/>
            </a:endParaRPr>
          </a:p>
        </p:txBody>
      </p:sp>
      <p:sp>
        <p:nvSpPr>
          <p:cNvPr id="84995" name="Text Box 2"/>
          <p:cNvSpPr txBox="1">
            <a:spLocks noChangeArrowheads="1"/>
          </p:cNvSpPr>
          <p:nvPr/>
        </p:nvSpPr>
        <p:spPr bwMode="auto">
          <a:xfrm>
            <a:off x="285720" y="12700"/>
            <a:ext cx="8572560" cy="1403350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anchor="b"/>
          <a:lstStyle/>
          <a:p>
            <a:r>
              <a:rPr lang="de-DE" sz="3600" dirty="0" err="1">
                <a:solidFill>
                  <a:schemeClr val="tx1"/>
                </a:solidFill>
                <a:latin typeface="+mj-lt"/>
              </a:rPr>
              <a:t>Jaccard</a:t>
            </a:r>
            <a:r>
              <a:rPr lang="de-DE" sz="3600" dirty="0">
                <a:solidFill>
                  <a:schemeClr val="tx1"/>
                </a:solidFill>
                <a:latin typeface="+mj-lt"/>
              </a:rPr>
              <a:t> </a:t>
            </a:r>
            <a:r>
              <a:rPr lang="de-DE" sz="3600" dirty="0" err="1">
                <a:solidFill>
                  <a:schemeClr val="tx1"/>
                </a:solidFill>
                <a:latin typeface="+mj-lt"/>
              </a:rPr>
              <a:t>coefficient</a:t>
            </a:r>
            <a:r>
              <a:rPr lang="de-DE" sz="3600" dirty="0">
                <a:solidFill>
                  <a:schemeClr val="tx1"/>
                </a:solidFill>
                <a:latin typeface="+mj-lt"/>
              </a:rPr>
              <a:t>: </a:t>
            </a:r>
            <a:r>
              <a:rPr lang="de-DE" sz="3600" dirty="0" err="1">
                <a:solidFill>
                  <a:schemeClr val="tx1"/>
                </a:solidFill>
                <a:latin typeface="+mj-lt"/>
              </a:rPr>
              <a:t>Example</a:t>
            </a:r>
            <a:endParaRPr lang="de-DE" sz="3600" dirty="0">
              <a:solidFill>
                <a:schemeClr val="tx1"/>
              </a:solidFill>
              <a:latin typeface="+mj-lt"/>
            </a:endParaRPr>
          </a:p>
        </p:txBody>
      </p:sp>
      <p:sp>
        <p:nvSpPr>
          <p:cNvPr id="84996" name="Text Box 3"/>
          <p:cNvSpPr txBox="1">
            <a:spLocks noChangeArrowheads="1"/>
          </p:cNvSpPr>
          <p:nvPr/>
        </p:nvSpPr>
        <p:spPr bwMode="auto">
          <a:xfrm>
            <a:off x="214282" y="2286016"/>
            <a:ext cx="8572560" cy="3571876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/>
          <a:lstStyle/>
          <a:p>
            <a:pPr lvl="1">
              <a:spcBef>
                <a:spcPts val="700"/>
              </a:spcBef>
              <a:buClr>
                <a:srgbClr val="336699"/>
              </a:buClr>
              <a:buFont typeface="Wingdings" pitchFamily="2" charset="2"/>
              <a:buChar char="§"/>
            </a:pPr>
            <a:r>
              <a:rPr lang="en-US" dirty="0">
                <a:solidFill>
                  <a:schemeClr val="tx1"/>
                </a:solidFill>
                <a:latin typeface="+mj-lt"/>
              </a:rPr>
              <a:t>What is the query-document match score that the </a:t>
            </a:r>
            <a:r>
              <a:rPr lang="en-US" dirty="0" err="1">
                <a:solidFill>
                  <a:schemeClr val="tx1"/>
                </a:solidFill>
                <a:latin typeface="+mj-lt"/>
              </a:rPr>
              <a:t>Jaccard</a:t>
            </a:r>
            <a:r>
              <a:rPr lang="en-US" dirty="0">
                <a:solidFill>
                  <a:schemeClr val="tx1"/>
                </a:solidFill>
                <a:latin typeface="+mj-lt"/>
              </a:rPr>
              <a:t> </a:t>
            </a:r>
            <a:r>
              <a:rPr lang="de-DE" dirty="0" err="1">
                <a:solidFill>
                  <a:schemeClr val="tx1"/>
                </a:solidFill>
                <a:latin typeface="+mj-lt"/>
              </a:rPr>
              <a:t>coefficient</a:t>
            </a:r>
            <a:r>
              <a:rPr lang="de-DE" dirty="0">
                <a:solidFill>
                  <a:schemeClr val="tx1"/>
                </a:solidFill>
                <a:latin typeface="+mj-lt"/>
              </a:rPr>
              <a:t> </a:t>
            </a:r>
            <a:r>
              <a:rPr lang="de-DE" dirty="0" err="1">
                <a:solidFill>
                  <a:schemeClr val="tx1"/>
                </a:solidFill>
                <a:latin typeface="+mj-lt"/>
              </a:rPr>
              <a:t>computes</a:t>
            </a:r>
            <a:r>
              <a:rPr lang="de-DE" dirty="0">
                <a:solidFill>
                  <a:schemeClr val="tx1"/>
                </a:solidFill>
                <a:latin typeface="+mj-lt"/>
              </a:rPr>
              <a:t> </a:t>
            </a:r>
            <a:r>
              <a:rPr lang="de-DE" dirty="0" err="1">
                <a:solidFill>
                  <a:schemeClr val="tx1"/>
                </a:solidFill>
                <a:latin typeface="+mj-lt"/>
              </a:rPr>
              <a:t>for</a:t>
            </a:r>
            <a:r>
              <a:rPr lang="de-DE" dirty="0">
                <a:solidFill>
                  <a:schemeClr val="tx1"/>
                </a:solidFill>
                <a:latin typeface="+mj-lt"/>
              </a:rPr>
              <a:t>:</a:t>
            </a:r>
          </a:p>
          <a:p>
            <a:pPr lvl="2">
              <a:spcBef>
                <a:spcPts val="700"/>
              </a:spcBef>
              <a:buClr>
                <a:srgbClr val="336699"/>
              </a:buClr>
              <a:buFont typeface="Wingdings" pitchFamily="2" charset="2"/>
              <a:buChar char="§"/>
            </a:pPr>
            <a:r>
              <a:rPr lang="de-DE" sz="2200" dirty="0">
                <a:solidFill>
                  <a:schemeClr val="tx1"/>
                </a:solidFill>
                <a:latin typeface="+mj-lt"/>
              </a:rPr>
              <a:t>Query: “</a:t>
            </a:r>
            <a:r>
              <a:rPr lang="de-DE" sz="2200" dirty="0" err="1">
                <a:solidFill>
                  <a:schemeClr val="tx1"/>
                </a:solidFill>
                <a:latin typeface="+mj-lt"/>
              </a:rPr>
              <a:t>ides</a:t>
            </a:r>
            <a:r>
              <a:rPr lang="de-DE" sz="2200" dirty="0">
                <a:solidFill>
                  <a:schemeClr val="tx1"/>
                </a:solidFill>
                <a:latin typeface="+mj-lt"/>
              </a:rPr>
              <a:t> </a:t>
            </a:r>
            <a:r>
              <a:rPr lang="de-DE" sz="2200" dirty="0" err="1">
                <a:solidFill>
                  <a:schemeClr val="tx1"/>
                </a:solidFill>
                <a:latin typeface="+mj-lt"/>
              </a:rPr>
              <a:t>of</a:t>
            </a:r>
            <a:r>
              <a:rPr lang="de-DE" sz="2200" dirty="0">
                <a:solidFill>
                  <a:schemeClr val="tx1"/>
                </a:solidFill>
                <a:latin typeface="+mj-lt"/>
              </a:rPr>
              <a:t> March”</a:t>
            </a:r>
          </a:p>
          <a:p>
            <a:pPr lvl="2">
              <a:spcBef>
                <a:spcPts val="700"/>
              </a:spcBef>
              <a:buClr>
                <a:srgbClr val="336699"/>
              </a:buClr>
              <a:buFont typeface="Wingdings" pitchFamily="2" charset="2"/>
              <a:buChar char="§"/>
            </a:pPr>
            <a:r>
              <a:rPr lang="en-US" sz="2200" dirty="0">
                <a:solidFill>
                  <a:schemeClr val="tx1"/>
                </a:solidFill>
                <a:latin typeface="+mj-lt"/>
              </a:rPr>
              <a:t>Document1 “Caesar died in March”</a:t>
            </a:r>
          </a:p>
          <a:p>
            <a:pPr lvl="2">
              <a:spcBef>
                <a:spcPts val="700"/>
              </a:spcBef>
              <a:buClr>
                <a:srgbClr val="336699"/>
              </a:buClr>
              <a:buFont typeface="Wingdings" pitchFamily="2" charset="2"/>
              <a:buChar char="§"/>
            </a:pPr>
            <a:r>
              <a:rPr lang="en-US" sz="2200" dirty="0">
                <a:latin typeface="+mj-lt"/>
              </a:rPr>
              <a:t>Document2 “</a:t>
            </a:r>
            <a:r>
              <a:rPr lang="en-IN" sz="2400" dirty="0"/>
              <a:t>the long march</a:t>
            </a:r>
            <a:r>
              <a:rPr lang="en-US" sz="2200" dirty="0">
                <a:latin typeface="+mj-lt"/>
              </a:rPr>
              <a:t>”</a:t>
            </a:r>
            <a:endParaRPr lang="en-US" sz="2200" dirty="0">
              <a:solidFill>
                <a:schemeClr val="tx1"/>
              </a:solidFill>
              <a:latin typeface="+mj-lt"/>
            </a:endParaRPr>
          </a:p>
          <a:p>
            <a:pPr lvl="2">
              <a:spcBef>
                <a:spcPts val="700"/>
              </a:spcBef>
              <a:buClr>
                <a:srgbClr val="336699"/>
              </a:buClr>
              <a:buFont typeface="Wingdings" pitchFamily="2" charset="2"/>
              <a:buChar char="§"/>
            </a:pPr>
            <a:r>
              <a:rPr lang="de-DE" sz="2200" dirty="0">
                <a:solidFill>
                  <a:schemeClr val="tx1"/>
                </a:solidFill>
                <a:latin typeface="+mj-lt"/>
              </a:rPr>
              <a:t>JACCARD(</a:t>
            </a:r>
            <a:r>
              <a:rPr lang="de-DE" sz="2200" i="1" dirty="0">
                <a:solidFill>
                  <a:schemeClr val="tx1"/>
                </a:solidFill>
                <a:latin typeface="+mj-lt"/>
              </a:rPr>
              <a:t>q</a:t>
            </a:r>
            <a:r>
              <a:rPr lang="de-DE" sz="2200" dirty="0">
                <a:solidFill>
                  <a:schemeClr val="tx1"/>
                </a:solidFill>
                <a:latin typeface="+mj-lt"/>
              </a:rPr>
              <a:t>, </a:t>
            </a:r>
            <a:r>
              <a:rPr lang="de-DE" sz="2200" i="1" dirty="0">
                <a:solidFill>
                  <a:schemeClr val="tx1"/>
                </a:solidFill>
                <a:latin typeface="+mj-lt"/>
              </a:rPr>
              <a:t>d</a:t>
            </a:r>
            <a:r>
              <a:rPr lang="de-DE" sz="2200" dirty="0">
                <a:solidFill>
                  <a:schemeClr val="tx1"/>
                </a:solidFill>
                <a:latin typeface="+mj-lt"/>
              </a:rPr>
              <a:t>) = 1/6</a:t>
            </a:r>
            <a:endParaRPr lang="de-DE" sz="2200" dirty="0">
              <a:latin typeface="+mj-lt"/>
            </a:endParaRPr>
          </a:p>
          <a:p>
            <a:pPr lvl="2">
              <a:spcBef>
                <a:spcPts val="700"/>
              </a:spcBef>
              <a:buClr>
                <a:srgbClr val="336699"/>
              </a:buClr>
            </a:pPr>
            <a:endParaRPr lang="de-DE" sz="2200" dirty="0">
              <a:solidFill>
                <a:schemeClr val="tx1"/>
              </a:solidFill>
              <a:latin typeface="+mj-lt"/>
            </a:endParaRPr>
          </a:p>
        </p:txBody>
      </p:sp>
      <p:sp>
        <p:nvSpPr>
          <p:cNvPr id="84997" name="Text Box 4"/>
          <p:cNvSpPr txBox="1">
            <a:spLocks noChangeArrowheads="1"/>
          </p:cNvSpPr>
          <p:nvPr/>
        </p:nvSpPr>
        <p:spPr bwMode="auto">
          <a:xfrm>
            <a:off x="7640638" y="-33338"/>
            <a:ext cx="925512" cy="336551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wrap="none" anchor="ctr"/>
          <a:lstStyle/>
          <a:p>
            <a:pPr>
              <a:buClr>
                <a:srgbClr val="000000"/>
              </a:buClr>
              <a:buSzPct val="100000"/>
              <a:buFont typeface="Times New Roman" pitchFamily="16" charset="0"/>
              <a:buNone/>
            </a:pPr>
            <a:endParaRPr lang="de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4BF2C0F-05D6-4882-A325-BE394602789D}" type="slidenum">
              <a:rPr lang="en-US" smtClean="0"/>
              <a:pPr>
                <a:defRPr/>
              </a:pPr>
              <a:t>16</a:t>
            </a:fld>
            <a:endParaRPr lang="en-US"/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Text Box 1"/>
          <p:cNvSpPr txBox="1">
            <a:spLocks noChangeArrowheads="1"/>
          </p:cNvSpPr>
          <p:nvPr/>
        </p:nvSpPr>
        <p:spPr bwMode="auto">
          <a:xfrm>
            <a:off x="6553200" y="6477000"/>
            <a:ext cx="2133600" cy="244475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lIns="90000" tIns="46800" rIns="90000" bIns="46800" anchor="ctr"/>
          <a:lstStyle/>
          <a:p>
            <a:pPr algn="r">
              <a:buSzPct val="10000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fld id="{48895EFF-1DBE-4654-84B8-EE5B6E2FA3CA}" type="slidenum">
              <a:rPr lang="en-US" sz="1200">
                <a:solidFill>
                  <a:srgbClr val="898989"/>
                </a:solidFill>
                <a:latin typeface="Calibri" charset="0"/>
              </a:rPr>
              <a:pPr algn="r">
                <a:buSzPct val="10000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</a:pPr>
              <a:t>17</a:t>
            </a:fld>
            <a:endParaRPr lang="en-US" sz="1200">
              <a:solidFill>
                <a:srgbClr val="898989"/>
              </a:solidFill>
              <a:latin typeface="Calibri" charset="0"/>
            </a:endParaRPr>
          </a:p>
        </p:txBody>
      </p:sp>
      <p:sp>
        <p:nvSpPr>
          <p:cNvPr id="84995" name="Text Box 2"/>
          <p:cNvSpPr txBox="1">
            <a:spLocks noChangeArrowheads="1"/>
          </p:cNvSpPr>
          <p:nvPr/>
        </p:nvSpPr>
        <p:spPr bwMode="auto">
          <a:xfrm>
            <a:off x="285720" y="12700"/>
            <a:ext cx="8572560" cy="1403350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anchor="b"/>
          <a:lstStyle/>
          <a:p>
            <a:r>
              <a:rPr lang="de-DE" sz="3600" dirty="0" err="1">
                <a:solidFill>
                  <a:schemeClr val="tx1"/>
                </a:solidFill>
                <a:latin typeface="+mj-lt"/>
              </a:rPr>
              <a:t>Jaccard</a:t>
            </a:r>
            <a:r>
              <a:rPr lang="de-DE" sz="3600" dirty="0">
                <a:solidFill>
                  <a:schemeClr val="tx1"/>
                </a:solidFill>
                <a:latin typeface="+mj-lt"/>
              </a:rPr>
              <a:t> </a:t>
            </a:r>
            <a:r>
              <a:rPr lang="de-DE" sz="3600" dirty="0" err="1">
                <a:solidFill>
                  <a:schemeClr val="tx1"/>
                </a:solidFill>
                <a:latin typeface="+mj-lt"/>
              </a:rPr>
              <a:t>coefficient</a:t>
            </a:r>
            <a:r>
              <a:rPr lang="de-DE" sz="3600" dirty="0">
                <a:solidFill>
                  <a:schemeClr val="tx1"/>
                </a:solidFill>
                <a:latin typeface="+mj-lt"/>
              </a:rPr>
              <a:t>: </a:t>
            </a:r>
            <a:r>
              <a:rPr lang="de-DE" sz="3600" dirty="0" err="1">
                <a:solidFill>
                  <a:schemeClr val="tx1"/>
                </a:solidFill>
                <a:latin typeface="+mj-lt"/>
              </a:rPr>
              <a:t>Example</a:t>
            </a:r>
            <a:endParaRPr lang="de-DE" sz="3600" dirty="0">
              <a:solidFill>
                <a:schemeClr val="tx1"/>
              </a:solidFill>
              <a:latin typeface="+mj-lt"/>
            </a:endParaRPr>
          </a:p>
        </p:txBody>
      </p:sp>
      <p:sp>
        <p:nvSpPr>
          <p:cNvPr id="84996" name="Text Box 3"/>
          <p:cNvSpPr txBox="1">
            <a:spLocks noChangeArrowheads="1"/>
          </p:cNvSpPr>
          <p:nvPr/>
        </p:nvSpPr>
        <p:spPr bwMode="auto">
          <a:xfrm>
            <a:off x="214282" y="2286016"/>
            <a:ext cx="8572560" cy="3571876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/>
          <a:lstStyle/>
          <a:p>
            <a:pPr algn="l"/>
            <a:r>
              <a:rPr lang="en-US" sz="2400" dirty="0">
                <a:latin typeface="+mj-lt"/>
              </a:rPr>
              <a:t>How similar are these two sets?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2400" dirty="0">
                <a:latin typeface="+mj-lt"/>
              </a:rPr>
              <a:t>A = {0,1,2,5,6}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2400" dirty="0">
                <a:latin typeface="+mj-lt"/>
              </a:rPr>
              <a:t>B = {0,2,3,4,5,7,9}</a:t>
            </a:r>
          </a:p>
          <a:p>
            <a:pPr lvl="2">
              <a:spcBef>
                <a:spcPts val="700"/>
              </a:spcBef>
              <a:buClr>
                <a:srgbClr val="336699"/>
              </a:buClr>
            </a:pPr>
            <a:endParaRPr lang="de-DE" sz="2800" dirty="0">
              <a:solidFill>
                <a:schemeClr val="tx1"/>
              </a:solidFill>
              <a:latin typeface="+mj-lt"/>
            </a:endParaRPr>
          </a:p>
        </p:txBody>
      </p:sp>
      <p:sp>
        <p:nvSpPr>
          <p:cNvPr id="84997" name="Text Box 4"/>
          <p:cNvSpPr txBox="1">
            <a:spLocks noChangeArrowheads="1"/>
          </p:cNvSpPr>
          <p:nvPr/>
        </p:nvSpPr>
        <p:spPr bwMode="auto">
          <a:xfrm>
            <a:off x="7640638" y="-33338"/>
            <a:ext cx="925512" cy="336551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wrap="none" anchor="ctr"/>
          <a:lstStyle/>
          <a:p>
            <a:pPr>
              <a:buClr>
                <a:srgbClr val="000000"/>
              </a:buClr>
              <a:buSzPct val="100000"/>
              <a:buFont typeface="Times New Roman" pitchFamily="16" charset="0"/>
              <a:buNone/>
            </a:pPr>
            <a:endParaRPr lang="de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4BF2C0F-05D6-4882-A325-BE394602789D}" type="slidenum">
              <a:rPr lang="en-US" smtClean="0"/>
              <a:pPr>
                <a:defRPr/>
              </a:pPr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9846036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Text Box 1"/>
          <p:cNvSpPr txBox="1">
            <a:spLocks noChangeArrowheads="1"/>
          </p:cNvSpPr>
          <p:nvPr/>
        </p:nvSpPr>
        <p:spPr bwMode="auto">
          <a:xfrm>
            <a:off x="6553200" y="6477000"/>
            <a:ext cx="2133600" cy="244475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lIns="90000" tIns="46800" rIns="90000" bIns="46800" anchor="ctr"/>
          <a:lstStyle/>
          <a:p>
            <a:pPr algn="r">
              <a:buSzPct val="10000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fld id="{48895EFF-1DBE-4654-84B8-EE5B6E2FA3CA}" type="slidenum">
              <a:rPr lang="en-US" sz="1200">
                <a:solidFill>
                  <a:srgbClr val="898989"/>
                </a:solidFill>
                <a:latin typeface="Calibri" charset="0"/>
              </a:rPr>
              <a:pPr algn="r">
                <a:buSzPct val="10000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</a:pPr>
              <a:t>18</a:t>
            </a:fld>
            <a:endParaRPr lang="en-US" sz="1200">
              <a:solidFill>
                <a:srgbClr val="898989"/>
              </a:solidFill>
              <a:latin typeface="Calibri" charset="0"/>
            </a:endParaRPr>
          </a:p>
        </p:txBody>
      </p:sp>
      <p:sp>
        <p:nvSpPr>
          <p:cNvPr id="84995" name="Text Box 2"/>
          <p:cNvSpPr txBox="1">
            <a:spLocks noChangeArrowheads="1"/>
          </p:cNvSpPr>
          <p:nvPr/>
        </p:nvSpPr>
        <p:spPr bwMode="auto">
          <a:xfrm>
            <a:off x="285720" y="12700"/>
            <a:ext cx="8572560" cy="1403350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anchor="b"/>
          <a:lstStyle/>
          <a:p>
            <a:r>
              <a:rPr lang="de-DE" sz="3600" dirty="0" err="1">
                <a:solidFill>
                  <a:schemeClr val="tx1"/>
                </a:solidFill>
                <a:latin typeface="+mj-lt"/>
              </a:rPr>
              <a:t>What’s</a:t>
            </a:r>
            <a:r>
              <a:rPr lang="de-DE" sz="3600" dirty="0">
                <a:solidFill>
                  <a:schemeClr val="tx1"/>
                </a:solidFill>
                <a:latin typeface="+mj-lt"/>
              </a:rPr>
              <a:t> </a:t>
            </a:r>
            <a:r>
              <a:rPr lang="de-DE" sz="3600" dirty="0" err="1">
                <a:solidFill>
                  <a:schemeClr val="tx1"/>
                </a:solidFill>
                <a:latin typeface="+mj-lt"/>
              </a:rPr>
              <a:t>wrong</a:t>
            </a:r>
            <a:r>
              <a:rPr lang="de-DE" sz="3600" dirty="0">
                <a:solidFill>
                  <a:schemeClr val="tx1"/>
                </a:solidFill>
                <a:latin typeface="+mj-lt"/>
              </a:rPr>
              <a:t> </a:t>
            </a:r>
            <a:r>
              <a:rPr lang="de-DE" sz="3600" dirty="0" err="1">
                <a:solidFill>
                  <a:schemeClr val="tx1"/>
                </a:solidFill>
                <a:latin typeface="+mj-lt"/>
              </a:rPr>
              <a:t>with</a:t>
            </a:r>
            <a:r>
              <a:rPr lang="de-DE" sz="3600" dirty="0">
                <a:solidFill>
                  <a:schemeClr val="tx1"/>
                </a:solidFill>
                <a:latin typeface="+mj-lt"/>
              </a:rPr>
              <a:t> </a:t>
            </a:r>
            <a:r>
              <a:rPr lang="de-DE" sz="3600" dirty="0" err="1">
                <a:solidFill>
                  <a:schemeClr val="tx1"/>
                </a:solidFill>
                <a:latin typeface="+mj-lt"/>
              </a:rPr>
              <a:t>Jaccard</a:t>
            </a:r>
            <a:r>
              <a:rPr lang="de-DE" sz="3600" dirty="0">
                <a:solidFill>
                  <a:schemeClr val="tx1"/>
                </a:solidFill>
                <a:latin typeface="+mj-lt"/>
              </a:rPr>
              <a:t>?</a:t>
            </a:r>
          </a:p>
        </p:txBody>
      </p:sp>
      <p:sp>
        <p:nvSpPr>
          <p:cNvPr id="84996" name="Text Box 3"/>
          <p:cNvSpPr txBox="1">
            <a:spLocks noChangeArrowheads="1"/>
          </p:cNvSpPr>
          <p:nvPr/>
        </p:nvSpPr>
        <p:spPr bwMode="auto">
          <a:xfrm>
            <a:off x="214282" y="2071702"/>
            <a:ext cx="8572560" cy="3571876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/>
          <a:lstStyle/>
          <a:p>
            <a:pPr lvl="1">
              <a:spcBef>
                <a:spcPts val="700"/>
              </a:spcBef>
              <a:buClr>
                <a:srgbClr val="336699"/>
              </a:buClr>
              <a:buFont typeface="Wingdings" pitchFamily="2" charset="2"/>
              <a:buChar char="§"/>
            </a:pPr>
            <a:r>
              <a:rPr lang="en-US" dirty="0">
                <a:solidFill>
                  <a:schemeClr val="tx1"/>
                </a:solidFill>
                <a:latin typeface="+mj-lt"/>
              </a:rPr>
              <a:t>It doesn’t consider term frequency (how many occurrences a </a:t>
            </a:r>
            <a:r>
              <a:rPr lang="de-DE" dirty="0" err="1">
                <a:solidFill>
                  <a:schemeClr val="tx1"/>
                </a:solidFill>
                <a:latin typeface="+mj-lt"/>
              </a:rPr>
              <a:t>term</a:t>
            </a:r>
            <a:r>
              <a:rPr lang="de-DE" dirty="0">
                <a:solidFill>
                  <a:schemeClr val="tx1"/>
                </a:solidFill>
                <a:latin typeface="+mj-lt"/>
              </a:rPr>
              <a:t> </a:t>
            </a:r>
            <a:r>
              <a:rPr lang="de-DE" dirty="0" err="1">
                <a:solidFill>
                  <a:schemeClr val="tx1"/>
                </a:solidFill>
                <a:latin typeface="+mj-lt"/>
              </a:rPr>
              <a:t>has</a:t>
            </a:r>
            <a:r>
              <a:rPr lang="de-DE" dirty="0">
                <a:solidFill>
                  <a:schemeClr val="tx1"/>
                </a:solidFill>
                <a:latin typeface="+mj-lt"/>
              </a:rPr>
              <a:t>).</a:t>
            </a:r>
          </a:p>
          <a:p>
            <a:pPr lvl="1">
              <a:spcBef>
                <a:spcPts val="700"/>
              </a:spcBef>
              <a:buClr>
                <a:srgbClr val="336699"/>
              </a:buClr>
              <a:buFont typeface="Wingdings" pitchFamily="2" charset="2"/>
              <a:buChar char="§"/>
            </a:pPr>
            <a:r>
              <a:rPr lang="en-US" dirty="0">
                <a:solidFill>
                  <a:schemeClr val="tx1"/>
                </a:solidFill>
                <a:latin typeface="+mj-lt"/>
              </a:rPr>
              <a:t>Rare terms are more informative than frequent terms. </a:t>
            </a:r>
            <a:r>
              <a:rPr lang="en-US" dirty="0" err="1">
                <a:solidFill>
                  <a:schemeClr val="tx1"/>
                </a:solidFill>
                <a:latin typeface="+mj-lt"/>
              </a:rPr>
              <a:t>Jaccard</a:t>
            </a:r>
            <a:r>
              <a:rPr lang="en-US" dirty="0">
                <a:solidFill>
                  <a:schemeClr val="tx1"/>
                </a:solidFill>
                <a:latin typeface="+mj-lt"/>
              </a:rPr>
              <a:t> does not consider this information.</a:t>
            </a:r>
          </a:p>
          <a:p>
            <a:pPr lvl="1">
              <a:spcBef>
                <a:spcPts val="700"/>
              </a:spcBef>
              <a:buClr>
                <a:srgbClr val="336699"/>
              </a:buClr>
              <a:buFont typeface="Wingdings" pitchFamily="2" charset="2"/>
              <a:buChar char="§"/>
            </a:pPr>
            <a:r>
              <a:rPr lang="en-US" dirty="0">
                <a:solidFill>
                  <a:schemeClr val="tx1"/>
                </a:solidFill>
                <a:latin typeface="+mj-lt"/>
              </a:rPr>
              <a:t>We need a more sophisticated way of normalizing for the </a:t>
            </a:r>
            <a:r>
              <a:rPr lang="de-DE" dirty="0" err="1">
                <a:solidFill>
                  <a:schemeClr val="tx1"/>
                </a:solidFill>
                <a:latin typeface="+mj-lt"/>
              </a:rPr>
              <a:t>length</a:t>
            </a:r>
            <a:r>
              <a:rPr lang="de-DE" dirty="0">
                <a:solidFill>
                  <a:schemeClr val="tx1"/>
                </a:solidFill>
                <a:latin typeface="+mj-lt"/>
              </a:rPr>
              <a:t> </a:t>
            </a:r>
            <a:r>
              <a:rPr lang="de-DE" dirty="0" err="1">
                <a:solidFill>
                  <a:schemeClr val="tx1"/>
                </a:solidFill>
                <a:latin typeface="+mj-lt"/>
              </a:rPr>
              <a:t>of</a:t>
            </a:r>
            <a:r>
              <a:rPr lang="de-DE" dirty="0">
                <a:solidFill>
                  <a:schemeClr val="tx1"/>
                </a:solidFill>
                <a:latin typeface="+mj-lt"/>
              </a:rPr>
              <a:t> a </a:t>
            </a:r>
            <a:r>
              <a:rPr lang="de-DE" dirty="0" err="1">
                <a:solidFill>
                  <a:schemeClr val="tx1"/>
                </a:solidFill>
                <a:latin typeface="+mj-lt"/>
              </a:rPr>
              <a:t>document</a:t>
            </a:r>
            <a:r>
              <a:rPr lang="de-DE" dirty="0">
                <a:solidFill>
                  <a:schemeClr val="tx1"/>
                </a:solidFill>
                <a:latin typeface="+mj-lt"/>
              </a:rPr>
              <a:t>.</a:t>
            </a:r>
          </a:p>
          <a:p>
            <a:pPr lvl="1">
              <a:spcBef>
                <a:spcPts val="700"/>
              </a:spcBef>
              <a:buClr>
                <a:srgbClr val="336699"/>
              </a:buClr>
              <a:buFont typeface="Wingdings" pitchFamily="2" charset="2"/>
              <a:buChar char="§"/>
            </a:pPr>
            <a:r>
              <a:rPr lang="en-US" dirty="0">
                <a:solidFill>
                  <a:schemeClr val="tx1"/>
                </a:solidFill>
                <a:latin typeface="+mj-lt"/>
              </a:rPr>
              <a:t>we’ll use (cosine) . . .</a:t>
            </a:r>
          </a:p>
          <a:p>
            <a:pPr lvl="1">
              <a:spcBef>
                <a:spcPts val="700"/>
              </a:spcBef>
              <a:buClr>
                <a:srgbClr val="336699"/>
              </a:buClr>
              <a:buFont typeface="Wingdings" pitchFamily="2" charset="2"/>
              <a:buChar char="§"/>
            </a:pPr>
            <a:r>
              <a:rPr lang="en-US" dirty="0">
                <a:solidFill>
                  <a:schemeClr val="tx1"/>
                </a:solidFill>
                <a:latin typeface="+mj-lt"/>
              </a:rPr>
              <a:t>. . . instead of |</a:t>
            </a:r>
            <a:r>
              <a:rPr lang="en-US" i="1" dirty="0">
                <a:solidFill>
                  <a:schemeClr val="tx1"/>
                </a:solidFill>
                <a:latin typeface="+mj-lt"/>
              </a:rPr>
              <a:t>A</a:t>
            </a:r>
            <a:r>
              <a:rPr lang="en-US" dirty="0">
                <a:solidFill>
                  <a:schemeClr val="tx1"/>
                </a:solidFill>
                <a:latin typeface="+mj-lt"/>
              </a:rPr>
              <a:t> ∩ </a:t>
            </a:r>
            <a:r>
              <a:rPr lang="en-US" i="1" dirty="0">
                <a:solidFill>
                  <a:schemeClr val="tx1"/>
                </a:solidFill>
                <a:latin typeface="+mj-lt"/>
              </a:rPr>
              <a:t>B</a:t>
            </a:r>
            <a:r>
              <a:rPr lang="en-US" dirty="0">
                <a:solidFill>
                  <a:schemeClr val="tx1"/>
                </a:solidFill>
                <a:latin typeface="+mj-lt"/>
              </a:rPr>
              <a:t>|/|</a:t>
            </a:r>
            <a:r>
              <a:rPr lang="en-US" i="1" dirty="0">
                <a:solidFill>
                  <a:schemeClr val="tx1"/>
                </a:solidFill>
                <a:latin typeface="+mj-lt"/>
              </a:rPr>
              <a:t>A</a:t>
            </a:r>
            <a:r>
              <a:rPr lang="en-US" dirty="0">
                <a:solidFill>
                  <a:schemeClr val="tx1"/>
                </a:solidFill>
                <a:latin typeface="+mj-lt"/>
              </a:rPr>
              <a:t> ∪ </a:t>
            </a:r>
            <a:r>
              <a:rPr lang="en-US" i="1" dirty="0">
                <a:solidFill>
                  <a:schemeClr val="tx1"/>
                </a:solidFill>
                <a:latin typeface="+mj-lt"/>
              </a:rPr>
              <a:t>B</a:t>
            </a:r>
            <a:r>
              <a:rPr lang="en-US" dirty="0">
                <a:solidFill>
                  <a:schemeClr val="tx1"/>
                </a:solidFill>
                <a:latin typeface="+mj-lt"/>
              </a:rPr>
              <a:t>| (</a:t>
            </a:r>
            <a:r>
              <a:rPr lang="en-US" dirty="0" err="1">
                <a:solidFill>
                  <a:schemeClr val="tx1"/>
                </a:solidFill>
                <a:latin typeface="+mj-lt"/>
              </a:rPr>
              <a:t>Jaccard</a:t>
            </a:r>
            <a:r>
              <a:rPr lang="en-US" dirty="0">
                <a:solidFill>
                  <a:schemeClr val="tx1"/>
                </a:solidFill>
                <a:latin typeface="+mj-lt"/>
              </a:rPr>
              <a:t>) for length </a:t>
            </a:r>
            <a:r>
              <a:rPr lang="de-DE" dirty="0">
                <a:solidFill>
                  <a:schemeClr val="tx1"/>
                </a:solidFill>
                <a:latin typeface="+mj-lt"/>
              </a:rPr>
              <a:t>normalization.</a:t>
            </a:r>
          </a:p>
          <a:p>
            <a:pPr lvl="1">
              <a:spcBef>
                <a:spcPts val="700"/>
              </a:spcBef>
              <a:buClr>
                <a:srgbClr val="336699"/>
              </a:buClr>
              <a:buFont typeface="Wingdings" pitchFamily="2" charset="2"/>
              <a:buChar char="§"/>
            </a:pPr>
            <a:endParaRPr lang="de-DE" dirty="0">
              <a:latin typeface="+mj-lt"/>
            </a:endParaRPr>
          </a:p>
          <a:p>
            <a:pPr lvl="1">
              <a:spcBef>
                <a:spcPts val="700"/>
              </a:spcBef>
              <a:buClr>
                <a:srgbClr val="336699"/>
              </a:buClr>
              <a:buFont typeface="Wingdings" pitchFamily="2" charset="2"/>
              <a:buChar char="§"/>
            </a:pPr>
            <a:endParaRPr lang="de-DE" dirty="0">
              <a:solidFill>
                <a:schemeClr val="tx1"/>
              </a:solidFill>
              <a:latin typeface="+mj-lt"/>
            </a:endParaRPr>
          </a:p>
          <a:p>
            <a:pPr lvl="1">
              <a:spcBef>
                <a:spcPts val="700"/>
              </a:spcBef>
              <a:buClr>
                <a:srgbClr val="336699"/>
              </a:buClr>
              <a:buFont typeface="Wingdings" pitchFamily="2" charset="2"/>
              <a:buChar char="§"/>
            </a:pPr>
            <a:endParaRPr lang="de-DE" dirty="0">
              <a:latin typeface="+mj-lt"/>
            </a:endParaRPr>
          </a:p>
        </p:txBody>
      </p:sp>
      <p:sp>
        <p:nvSpPr>
          <p:cNvPr id="84997" name="Text Box 4"/>
          <p:cNvSpPr txBox="1">
            <a:spLocks noChangeArrowheads="1"/>
          </p:cNvSpPr>
          <p:nvPr/>
        </p:nvSpPr>
        <p:spPr bwMode="auto">
          <a:xfrm>
            <a:off x="7640638" y="-33338"/>
            <a:ext cx="925512" cy="336551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wrap="none" anchor="ctr"/>
          <a:lstStyle/>
          <a:p>
            <a:pPr>
              <a:buClr>
                <a:srgbClr val="000000"/>
              </a:buClr>
              <a:buSzPct val="100000"/>
              <a:buFont typeface="Times New Roman" pitchFamily="16" charset="0"/>
              <a:buNone/>
            </a:pPr>
            <a:endParaRPr lang="de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4BF2C0F-05D6-4882-A325-BE394602789D}" type="slidenum">
              <a:rPr lang="en-US" smtClean="0"/>
              <a:pPr>
                <a:defRPr/>
              </a:pPr>
              <a:t>18</a:t>
            </a:fld>
            <a:endParaRPr lang="en-US"/>
          </a:p>
        </p:txBody>
      </p:sp>
      <p:pic>
        <p:nvPicPr>
          <p:cNvPr id="8" name="Picture 7" descr="62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17142" y="4572008"/>
            <a:ext cx="2140874" cy="396000"/>
          </a:xfrm>
          <a:prstGeom prst="rect">
            <a:avLst/>
          </a:prstGeom>
        </p:spPr>
      </p:pic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Text Box 1"/>
          <p:cNvSpPr txBox="1">
            <a:spLocks noChangeArrowheads="1"/>
          </p:cNvSpPr>
          <p:nvPr/>
        </p:nvSpPr>
        <p:spPr bwMode="auto">
          <a:xfrm>
            <a:off x="6553200" y="6477000"/>
            <a:ext cx="2133600" cy="244475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lIns="90000" tIns="46800" rIns="90000" bIns="46800" anchor="ctr"/>
          <a:lstStyle/>
          <a:p>
            <a:pPr algn="r">
              <a:buSzPct val="10000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fld id="{48895EFF-1DBE-4654-84B8-EE5B6E2FA3CA}" type="slidenum">
              <a:rPr lang="en-US" sz="1200">
                <a:solidFill>
                  <a:srgbClr val="898989"/>
                </a:solidFill>
                <a:latin typeface="Calibri" charset="0"/>
              </a:rPr>
              <a:pPr algn="r">
                <a:buSzPct val="10000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</a:pPr>
              <a:t>19</a:t>
            </a:fld>
            <a:endParaRPr lang="en-US" sz="1200">
              <a:solidFill>
                <a:srgbClr val="898989"/>
              </a:solidFill>
              <a:latin typeface="Calibri" charset="0"/>
            </a:endParaRPr>
          </a:p>
        </p:txBody>
      </p:sp>
      <p:sp>
        <p:nvSpPr>
          <p:cNvPr id="84995" name="Text Box 2"/>
          <p:cNvSpPr txBox="1">
            <a:spLocks noChangeArrowheads="1"/>
          </p:cNvSpPr>
          <p:nvPr/>
        </p:nvSpPr>
        <p:spPr bwMode="auto">
          <a:xfrm>
            <a:off x="285720" y="12700"/>
            <a:ext cx="8572560" cy="1403350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anchor="b"/>
          <a:lstStyle/>
          <a:p>
            <a:r>
              <a:rPr lang="de-DE" sz="3600" dirty="0">
                <a:solidFill>
                  <a:schemeClr val="tx1"/>
                </a:solidFill>
                <a:latin typeface="+mj-lt"/>
              </a:rPr>
              <a:t>Example</a:t>
            </a:r>
          </a:p>
        </p:txBody>
      </p:sp>
      <p:sp>
        <p:nvSpPr>
          <p:cNvPr id="84996" name="Text Box 3"/>
          <p:cNvSpPr txBox="1">
            <a:spLocks noChangeArrowheads="1"/>
          </p:cNvSpPr>
          <p:nvPr/>
        </p:nvSpPr>
        <p:spPr bwMode="auto">
          <a:xfrm>
            <a:off x="214282" y="2071702"/>
            <a:ext cx="8572560" cy="3571876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/>
          <a:lstStyle/>
          <a:p>
            <a:pPr lvl="1">
              <a:spcBef>
                <a:spcPts val="700"/>
              </a:spcBef>
              <a:buClr>
                <a:srgbClr val="336699"/>
              </a:buClr>
              <a:buFont typeface="Wingdings" pitchFamily="2" charset="2"/>
              <a:buChar char="§"/>
            </a:pPr>
            <a:r>
              <a:rPr lang="en-US" b="0" i="0" dirty="0">
                <a:solidFill>
                  <a:srgbClr val="273239"/>
                </a:solidFill>
                <a:effectLst/>
                <a:latin typeface="Nunito" pitchFamily="2" charset="0"/>
              </a:rPr>
              <a:t>considering A and B be two sets respectively where Set A = { 5, 10, 15, 20, 25, 30, 35,40, 45, 50} and Set B = {10, 20, 30, 40, 50, 60, 70, 80, 90, 100),</a:t>
            </a:r>
          </a:p>
          <a:p>
            <a:pPr lvl="1">
              <a:spcBef>
                <a:spcPts val="700"/>
              </a:spcBef>
              <a:buClr>
                <a:srgbClr val="336699"/>
              </a:buClr>
              <a:buFont typeface="Wingdings" pitchFamily="2" charset="2"/>
              <a:buChar char="§"/>
            </a:pPr>
            <a:r>
              <a:rPr lang="en-US" dirty="0">
                <a:solidFill>
                  <a:srgbClr val="273239"/>
                </a:solidFill>
                <a:latin typeface="Nunito" pitchFamily="2" charset="0"/>
              </a:rPr>
              <a:t>Use the </a:t>
            </a:r>
            <a:r>
              <a:rPr lang="en-US" dirty="0" err="1">
                <a:solidFill>
                  <a:srgbClr val="273239"/>
                </a:solidFill>
                <a:latin typeface="Nunito" pitchFamily="2" charset="0"/>
              </a:rPr>
              <a:t>Jacard</a:t>
            </a:r>
            <a:r>
              <a:rPr lang="en-US" dirty="0">
                <a:solidFill>
                  <a:srgbClr val="273239"/>
                </a:solidFill>
                <a:latin typeface="Nunito" pitchFamily="2" charset="0"/>
              </a:rPr>
              <a:t> Coefficient and Improved </a:t>
            </a:r>
            <a:r>
              <a:rPr lang="en-US" dirty="0" err="1">
                <a:solidFill>
                  <a:srgbClr val="273239"/>
                </a:solidFill>
                <a:latin typeface="Nunito" pitchFamily="2" charset="0"/>
              </a:rPr>
              <a:t>Jacard</a:t>
            </a:r>
            <a:r>
              <a:rPr lang="en-US" dirty="0">
                <a:solidFill>
                  <a:srgbClr val="273239"/>
                </a:solidFill>
                <a:latin typeface="Nunito" pitchFamily="2" charset="0"/>
              </a:rPr>
              <a:t> Coefficient to get the similarity between set A and B</a:t>
            </a:r>
            <a:endParaRPr lang="de-DE" dirty="0">
              <a:solidFill>
                <a:schemeClr val="tx1"/>
              </a:solidFill>
              <a:latin typeface="+mj-lt"/>
            </a:endParaRPr>
          </a:p>
        </p:txBody>
      </p:sp>
      <p:sp>
        <p:nvSpPr>
          <p:cNvPr id="84997" name="Text Box 4"/>
          <p:cNvSpPr txBox="1">
            <a:spLocks noChangeArrowheads="1"/>
          </p:cNvSpPr>
          <p:nvPr/>
        </p:nvSpPr>
        <p:spPr bwMode="auto">
          <a:xfrm>
            <a:off x="7640638" y="-33338"/>
            <a:ext cx="925512" cy="336551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wrap="none" anchor="ctr"/>
          <a:lstStyle/>
          <a:p>
            <a:pPr>
              <a:buClr>
                <a:srgbClr val="000000"/>
              </a:buClr>
              <a:buSzPct val="100000"/>
              <a:buFont typeface="Times New Roman" pitchFamily="16" charset="0"/>
              <a:buNone/>
            </a:pPr>
            <a:endParaRPr lang="de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4BF2C0F-05D6-4882-A325-BE394602789D}" type="slidenum">
              <a:rPr lang="en-US" smtClean="0"/>
              <a:pPr>
                <a:defRPr/>
              </a:pPr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5638761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Text Box 1"/>
          <p:cNvSpPr txBox="1">
            <a:spLocks noChangeArrowheads="1"/>
          </p:cNvSpPr>
          <p:nvPr/>
        </p:nvSpPr>
        <p:spPr bwMode="auto">
          <a:xfrm>
            <a:off x="6553200" y="6477000"/>
            <a:ext cx="2133600" cy="244475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lIns="90000" tIns="46800" rIns="90000" bIns="46800" anchor="ctr"/>
          <a:lstStyle/>
          <a:p>
            <a:pPr algn="r">
              <a:buSzPct val="10000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fld id="{48895EFF-1DBE-4654-84B8-EE5B6E2FA3CA}" type="slidenum">
              <a:rPr lang="en-US" sz="1200">
                <a:solidFill>
                  <a:srgbClr val="898989"/>
                </a:solidFill>
                <a:latin typeface="Calibri" charset="0"/>
              </a:rPr>
              <a:pPr algn="r">
                <a:buSzPct val="10000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</a:pPr>
              <a:t>20</a:t>
            </a:fld>
            <a:endParaRPr lang="en-US" sz="1200">
              <a:solidFill>
                <a:srgbClr val="898989"/>
              </a:solidFill>
              <a:latin typeface="Calibri" charset="0"/>
            </a:endParaRPr>
          </a:p>
        </p:txBody>
      </p:sp>
      <p:sp>
        <p:nvSpPr>
          <p:cNvPr id="84995" name="Text Box 2"/>
          <p:cNvSpPr txBox="1">
            <a:spLocks noChangeArrowheads="1"/>
          </p:cNvSpPr>
          <p:nvPr/>
        </p:nvSpPr>
        <p:spPr bwMode="auto">
          <a:xfrm>
            <a:off x="285720" y="12700"/>
            <a:ext cx="8572560" cy="1403350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anchor="b"/>
          <a:lstStyle/>
          <a:p>
            <a:r>
              <a:rPr lang="de-DE" sz="3600" dirty="0">
                <a:solidFill>
                  <a:schemeClr val="tx1"/>
                </a:solidFill>
                <a:latin typeface="+mj-lt"/>
              </a:rPr>
              <a:t>Binary </a:t>
            </a:r>
            <a:r>
              <a:rPr lang="de-DE" sz="3600" dirty="0" err="1">
                <a:solidFill>
                  <a:schemeClr val="tx1"/>
                </a:solidFill>
                <a:latin typeface="+mj-lt"/>
              </a:rPr>
              <a:t>incidence</a:t>
            </a:r>
            <a:r>
              <a:rPr lang="de-DE" sz="3600" dirty="0">
                <a:solidFill>
                  <a:schemeClr val="tx1"/>
                </a:solidFill>
                <a:latin typeface="+mj-lt"/>
              </a:rPr>
              <a:t> </a:t>
            </a:r>
            <a:r>
              <a:rPr lang="de-DE" sz="3600" dirty="0" err="1">
                <a:solidFill>
                  <a:schemeClr val="tx1"/>
                </a:solidFill>
                <a:latin typeface="+mj-lt"/>
              </a:rPr>
              <a:t>matrix</a:t>
            </a:r>
            <a:endParaRPr lang="de-DE" sz="3600" dirty="0">
              <a:solidFill>
                <a:schemeClr val="tx1"/>
              </a:solidFill>
              <a:latin typeface="+mj-lt"/>
            </a:endParaRPr>
          </a:p>
        </p:txBody>
      </p:sp>
      <p:sp>
        <p:nvSpPr>
          <p:cNvPr id="84996" name="Text Box 3"/>
          <p:cNvSpPr txBox="1">
            <a:spLocks noChangeArrowheads="1"/>
          </p:cNvSpPr>
          <p:nvPr/>
        </p:nvSpPr>
        <p:spPr bwMode="auto">
          <a:xfrm>
            <a:off x="214282" y="5143536"/>
            <a:ext cx="8572560" cy="1714464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/>
          <a:lstStyle/>
          <a:p>
            <a:r>
              <a:rPr lang="en-US" dirty="0">
                <a:solidFill>
                  <a:schemeClr val="tx1"/>
                </a:solidFill>
                <a:latin typeface="+mj-lt"/>
              </a:rPr>
              <a:t>	Each document is represented as a binary vector ∈ {0, 1}</a:t>
            </a:r>
            <a:r>
              <a:rPr lang="en-US" baseline="30000" dirty="0">
                <a:solidFill>
                  <a:schemeClr val="tx1"/>
                </a:solidFill>
                <a:latin typeface="+mj-lt"/>
              </a:rPr>
              <a:t>|V|.</a:t>
            </a:r>
          </a:p>
        </p:txBody>
      </p:sp>
      <p:sp>
        <p:nvSpPr>
          <p:cNvPr id="84997" name="Text Box 4"/>
          <p:cNvSpPr txBox="1">
            <a:spLocks noChangeArrowheads="1"/>
          </p:cNvSpPr>
          <p:nvPr/>
        </p:nvSpPr>
        <p:spPr bwMode="auto">
          <a:xfrm>
            <a:off x="7640638" y="-33338"/>
            <a:ext cx="925512" cy="336551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wrap="none" anchor="ctr"/>
          <a:lstStyle/>
          <a:p>
            <a:pPr>
              <a:buClr>
                <a:srgbClr val="000000"/>
              </a:buClr>
              <a:buSzPct val="100000"/>
              <a:buFont typeface="Times New Roman" pitchFamily="16" charset="0"/>
              <a:buNone/>
            </a:pPr>
            <a:endParaRPr lang="de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4BF2C0F-05D6-4882-A325-BE394602789D}" type="slidenum">
              <a:rPr lang="en-US" smtClean="0"/>
              <a:pPr>
                <a:defRPr/>
              </a:pPr>
              <a:t>20</a:t>
            </a:fld>
            <a:endParaRPr lang="en-US"/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214282" y="1617356"/>
          <a:ext cx="8524894" cy="2834640"/>
        </p:xfrm>
        <a:graphic>
          <a:graphicData uri="http://schemas.openxmlformats.org/drawingml/2006/table">
            <a:tbl>
              <a:tblPr firstRow="1" bandRow="1">
                <a:tableStyleId>{C083E6E3-FA7D-4D7B-A595-EF9225AFEA82}</a:tableStyleId>
              </a:tblPr>
              <a:tblGrid>
                <a:gridCol w="128588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8588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8175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1784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1784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21784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217842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de-DE" sz="2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200" b="0" kern="1200" baseline="0" dirty="0"/>
                        <a:t>Anthony </a:t>
                      </a:r>
                      <a:r>
                        <a:rPr lang="de-DE" sz="2200" b="0" kern="1200" baseline="0" dirty="0" err="1"/>
                        <a:t>and</a:t>
                      </a:r>
                      <a:r>
                        <a:rPr lang="de-DE" sz="2200" b="0" kern="1200" baseline="0" dirty="0"/>
                        <a:t>  Cleopatra</a:t>
                      </a:r>
                      <a:endParaRPr lang="de-DE" sz="2200" b="0" kern="1200" baseline="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200" b="0" kern="1200" baseline="0" dirty="0"/>
                        <a:t>Julius </a:t>
                      </a:r>
                      <a:r>
                        <a:rPr lang="de-DE" sz="2200" b="0" kern="1200" baseline="0" dirty="0"/>
                        <a:t>Caesar </a:t>
                      </a:r>
                      <a:endParaRPr lang="de-DE" sz="2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200" b="0" kern="1200" baseline="0" dirty="0"/>
                        <a:t>The  </a:t>
                      </a:r>
                      <a:r>
                        <a:rPr lang="de-DE" sz="2200" b="0" kern="1200" baseline="0" dirty="0"/>
                        <a:t>Tempest</a:t>
                      </a:r>
                      <a:endParaRPr lang="de-DE" sz="2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200" b="0" kern="1200" baseline="0" dirty="0"/>
                        <a:t>Hamlet </a:t>
                      </a:r>
                      <a:endParaRPr lang="de-DE" sz="2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200" b="0" kern="1200" baseline="0" dirty="0"/>
                        <a:t>Othello </a:t>
                      </a:r>
                      <a:endParaRPr lang="de-DE" sz="2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200" b="0" kern="1200" baseline="0" dirty="0"/>
                        <a:t>Macbeth . . .</a:t>
                      </a:r>
                    </a:p>
                    <a:p>
                      <a:endParaRPr lang="de-DE" sz="22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 dirty="0"/>
                        <a:t>ANTHONY</a:t>
                      </a:r>
                    </a:p>
                    <a:p>
                      <a:r>
                        <a:rPr lang="de-DE" dirty="0"/>
                        <a:t>BRUTUS</a:t>
                      </a:r>
                      <a:r>
                        <a:rPr lang="de-DE" baseline="0" dirty="0"/>
                        <a:t> </a:t>
                      </a:r>
                    </a:p>
                    <a:p>
                      <a:r>
                        <a:rPr lang="de-DE" baseline="0" dirty="0"/>
                        <a:t>CAESAR</a:t>
                      </a:r>
                    </a:p>
                    <a:p>
                      <a:r>
                        <a:rPr lang="de-DE" baseline="0" dirty="0"/>
                        <a:t>CALPURNIA</a:t>
                      </a:r>
                    </a:p>
                    <a:p>
                      <a:r>
                        <a:rPr lang="de-DE" baseline="0" dirty="0"/>
                        <a:t>CLEOPATRA</a:t>
                      </a:r>
                    </a:p>
                    <a:p>
                      <a:r>
                        <a:rPr lang="de-DE" baseline="0" dirty="0"/>
                        <a:t>MERCY</a:t>
                      </a:r>
                    </a:p>
                    <a:p>
                      <a:r>
                        <a:rPr lang="de-DE" baseline="0" dirty="0"/>
                        <a:t>WORSER</a:t>
                      </a:r>
                    </a:p>
                    <a:p>
                      <a:r>
                        <a:rPr lang="de-DE" baseline="0" dirty="0"/>
                        <a:t>. . .</a:t>
                      </a:r>
                      <a:endParaRPr lang="de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de-DE" dirty="0"/>
                        <a:t>1</a:t>
                      </a:r>
                    </a:p>
                    <a:p>
                      <a:pPr algn="r"/>
                      <a:r>
                        <a:rPr lang="de-DE" dirty="0"/>
                        <a:t>1</a:t>
                      </a:r>
                    </a:p>
                    <a:p>
                      <a:pPr algn="r"/>
                      <a:r>
                        <a:rPr lang="de-DE" dirty="0"/>
                        <a:t>1</a:t>
                      </a:r>
                    </a:p>
                    <a:p>
                      <a:pPr algn="r"/>
                      <a:r>
                        <a:rPr lang="de-DE" dirty="0"/>
                        <a:t>0</a:t>
                      </a:r>
                    </a:p>
                    <a:p>
                      <a:pPr algn="r"/>
                      <a:r>
                        <a:rPr lang="de-DE" dirty="0"/>
                        <a:t>1</a:t>
                      </a:r>
                    </a:p>
                    <a:p>
                      <a:pPr algn="r"/>
                      <a:r>
                        <a:rPr lang="de-DE" dirty="0"/>
                        <a:t>1</a:t>
                      </a:r>
                    </a:p>
                    <a:p>
                      <a:pPr algn="r"/>
                      <a:r>
                        <a:rPr lang="de-DE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de-DE" dirty="0"/>
                        <a:t>1</a:t>
                      </a:r>
                    </a:p>
                    <a:p>
                      <a:pPr algn="r"/>
                      <a:r>
                        <a:rPr lang="de-DE" dirty="0"/>
                        <a:t>1</a:t>
                      </a:r>
                    </a:p>
                    <a:p>
                      <a:pPr algn="r"/>
                      <a:r>
                        <a:rPr lang="de-DE" dirty="0"/>
                        <a:t>1</a:t>
                      </a:r>
                    </a:p>
                    <a:p>
                      <a:pPr algn="r"/>
                      <a:r>
                        <a:rPr lang="de-DE" dirty="0"/>
                        <a:t>1</a:t>
                      </a:r>
                    </a:p>
                    <a:p>
                      <a:pPr algn="r"/>
                      <a:r>
                        <a:rPr lang="de-DE" dirty="0"/>
                        <a:t>0</a:t>
                      </a:r>
                    </a:p>
                    <a:p>
                      <a:pPr algn="r"/>
                      <a:r>
                        <a:rPr lang="de-DE" dirty="0"/>
                        <a:t>0</a:t>
                      </a:r>
                    </a:p>
                    <a:p>
                      <a:pPr algn="r"/>
                      <a:r>
                        <a:rPr lang="de-DE" dirty="0"/>
                        <a:t>0</a:t>
                      </a:r>
                    </a:p>
                    <a:p>
                      <a:pPr algn="r"/>
                      <a:endParaRPr lang="de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de-DE" dirty="0"/>
                        <a:t>0</a:t>
                      </a:r>
                    </a:p>
                    <a:p>
                      <a:pPr algn="r"/>
                      <a:r>
                        <a:rPr lang="de-DE" dirty="0"/>
                        <a:t>0</a:t>
                      </a:r>
                    </a:p>
                    <a:p>
                      <a:pPr algn="r"/>
                      <a:r>
                        <a:rPr lang="de-DE" dirty="0"/>
                        <a:t>0</a:t>
                      </a:r>
                    </a:p>
                    <a:p>
                      <a:pPr algn="r"/>
                      <a:r>
                        <a:rPr lang="de-DE" dirty="0"/>
                        <a:t>0</a:t>
                      </a:r>
                    </a:p>
                    <a:p>
                      <a:pPr algn="r"/>
                      <a:r>
                        <a:rPr lang="de-DE" dirty="0"/>
                        <a:t>0</a:t>
                      </a:r>
                    </a:p>
                    <a:p>
                      <a:pPr algn="r"/>
                      <a:r>
                        <a:rPr lang="de-DE" dirty="0"/>
                        <a:t>1</a:t>
                      </a:r>
                    </a:p>
                    <a:p>
                      <a:pPr algn="r"/>
                      <a:r>
                        <a:rPr lang="de-DE" dirty="0"/>
                        <a:t>1</a:t>
                      </a:r>
                    </a:p>
                    <a:p>
                      <a:pPr algn="r"/>
                      <a:endParaRPr lang="de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de-DE" dirty="0"/>
                        <a:t>0</a:t>
                      </a:r>
                    </a:p>
                    <a:p>
                      <a:pPr algn="r"/>
                      <a:r>
                        <a:rPr lang="de-DE" dirty="0"/>
                        <a:t>1</a:t>
                      </a:r>
                    </a:p>
                    <a:p>
                      <a:pPr algn="r"/>
                      <a:r>
                        <a:rPr lang="de-DE" dirty="0"/>
                        <a:t>1</a:t>
                      </a:r>
                    </a:p>
                    <a:p>
                      <a:pPr algn="r"/>
                      <a:r>
                        <a:rPr lang="de-DE" dirty="0"/>
                        <a:t>0</a:t>
                      </a:r>
                    </a:p>
                    <a:p>
                      <a:pPr algn="r"/>
                      <a:r>
                        <a:rPr lang="de-DE" dirty="0"/>
                        <a:t>0</a:t>
                      </a:r>
                    </a:p>
                    <a:p>
                      <a:pPr algn="r"/>
                      <a:r>
                        <a:rPr lang="de-DE" dirty="0"/>
                        <a:t>1</a:t>
                      </a:r>
                    </a:p>
                    <a:p>
                      <a:pPr algn="r"/>
                      <a:r>
                        <a:rPr lang="de-DE" dirty="0"/>
                        <a:t>1</a:t>
                      </a:r>
                    </a:p>
                    <a:p>
                      <a:pPr algn="r"/>
                      <a:endParaRPr lang="de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de-DE" dirty="0"/>
                        <a:t>0</a:t>
                      </a:r>
                    </a:p>
                    <a:p>
                      <a:pPr algn="r"/>
                      <a:r>
                        <a:rPr lang="de-DE" dirty="0"/>
                        <a:t>0</a:t>
                      </a:r>
                    </a:p>
                    <a:p>
                      <a:pPr algn="r"/>
                      <a:r>
                        <a:rPr lang="de-DE" dirty="0"/>
                        <a:t>1</a:t>
                      </a:r>
                    </a:p>
                    <a:p>
                      <a:pPr algn="r"/>
                      <a:r>
                        <a:rPr lang="de-DE" dirty="0"/>
                        <a:t>0</a:t>
                      </a:r>
                    </a:p>
                    <a:p>
                      <a:pPr algn="r"/>
                      <a:r>
                        <a:rPr lang="de-DE" dirty="0"/>
                        <a:t>0</a:t>
                      </a:r>
                    </a:p>
                    <a:p>
                      <a:pPr algn="r"/>
                      <a:r>
                        <a:rPr lang="de-DE" dirty="0"/>
                        <a:t>1</a:t>
                      </a:r>
                    </a:p>
                    <a:p>
                      <a:pPr algn="r"/>
                      <a:r>
                        <a:rPr lang="de-DE" dirty="0"/>
                        <a:t>1</a:t>
                      </a:r>
                    </a:p>
                    <a:p>
                      <a:pPr algn="r"/>
                      <a:endParaRPr lang="de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de-DE" dirty="0"/>
                        <a:t>1</a:t>
                      </a:r>
                    </a:p>
                    <a:p>
                      <a:pPr algn="r"/>
                      <a:r>
                        <a:rPr lang="de-DE" dirty="0"/>
                        <a:t>0</a:t>
                      </a:r>
                    </a:p>
                    <a:p>
                      <a:pPr algn="r"/>
                      <a:r>
                        <a:rPr lang="de-DE" dirty="0"/>
                        <a:t>1</a:t>
                      </a:r>
                    </a:p>
                    <a:p>
                      <a:pPr algn="r"/>
                      <a:r>
                        <a:rPr lang="de-DE" dirty="0"/>
                        <a:t>0</a:t>
                      </a:r>
                    </a:p>
                    <a:p>
                      <a:pPr algn="r"/>
                      <a:r>
                        <a:rPr lang="de-DE" dirty="0"/>
                        <a:t>0</a:t>
                      </a:r>
                    </a:p>
                    <a:p>
                      <a:pPr algn="r"/>
                      <a:r>
                        <a:rPr lang="de-DE" dirty="0"/>
                        <a:t>1</a:t>
                      </a:r>
                    </a:p>
                    <a:p>
                      <a:pPr algn="r"/>
                      <a:r>
                        <a:rPr lang="de-DE" dirty="0"/>
                        <a:t>0</a:t>
                      </a:r>
                    </a:p>
                    <a:p>
                      <a:pPr algn="r"/>
                      <a:endParaRPr lang="de-D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Text Box 1"/>
          <p:cNvSpPr txBox="1">
            <a:spLocks noChangeArrowheads="1"/>
          </p:cNvSpPr>
          <p:nvPr/>
        </p:nvSpPr>
        <p:spPr bwMode="auto">
          <a:xfrm>
            <a:off x="6553200" y="6477000"/>
            <a:ext cx="2133600" cy="244475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lIns="90000" tIns="46800" rIns="90000" bIns="46800" anchor="ctr"/>
          <a:lstStyle/>
          <a:p>
            <a:pPr algn="r">
              <a:buSzPct val="10000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fld id="{48895EFF-1DBE-4654-84B8-EE5B6E2FA3CA}" type="slidenum">
              <a:rPr lang="en-US" sz="1200">
                <a:solidFill>
                  <a:srgbClr val="898989"/>
                </a:solidFill>
                <a:latin typeface="Calibri" charset="0"/>
              </a:rPr>
              <a:pPr algn="r">
                <a:buSzPct val="10000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</a:pPr>
              <a:t>21</a:t>
            </a:fld>
            <a:endParaRPr lang="en-US" sz="1200">
              <a:solidFill>
                <a:srgbClr val="898989"/>
              </a:solidFill>
              <a:latin typeface="Calibri" charset="0"/>
            </a:endParaRPr>
          </a:p>
        </p:txBody>
      </p:sp>
      <p:sp>
        <p:nvSpPr>
          <p:cNvPr id="84995" name="Text Box 2"/>
          <p:cNvSpPr txBox="1">
            <a:spLocks noChangeArrowheads="1"/>
          </p:cNvSpPr>
          <p:nvPr/>
        </p:nvSpPr>
        <p:spPr bwMode="auto">
          <a:xfrm>
            <a:off x="285720" y="12700"/>
            <a:ext cx="8572560" cy="1403350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anchor="b"/>
          <a:lstStyle/>
          <a:p>
            <a:r>
              <a:rPr lang="de-DE" sz="3600" dirty="0">
                <a:solidFill>
                  <a:schemeClr val="tx1"/>
                </a:solidFill>
                <a:latin typeface="+mj-lt"/>
              </a:rPr>
              <a:t>Binary </a:t>
            </a:r>
            <a:r>
              <a:rPr lang="de-DE" sz="3600" dirty="0" err="1">
                <a:solidFill>
                  <a:schemeClr val="tx1"/>
                </a:solidFill>
                <a:latin typeface="+mj-lt"/>
              </a:rPr>
              <a:t>incidence</a:t>
            </a:r>
            <a:r>
              <a:rPr lang="de-DE" sz="3600" dirty="0">
                <a:solidFill>
                  <a:schemeClr val="tx1"/>
                </a:solidFill>
                <a:latin typeface="+mj-lt"/>
              </a:rPr>
              <a:t> </a:t>
            </a:r>
            <a:r>
              <a:rPr lang="de-DE" sz="3600" dirty="0" err="1">
                <a:solidFill>
                  <a:schemeClr val="tx1"/>
                </a:solidFill>
                <a:latin typeface="+mj-lt"/>
              </a:rPr>
              <a:t>matrix</a:t>
            </a:r>
            <a:endParaRPr lang="de-DE" sz="3600" dirty="0">
              <a:solidFill>
                <a:schemeClr val="tx1"/>
              </a:solidFill>
              <a:latin typeface="+mj-lt"/>
            </a:endParaRPr>
          </a:p>
        </p:txBody>
      </p:sp>
      <p:sp>
        <p:nvSpPr>
          <p:cNvPr id="84996" name="Text Box 3"/>
          <p:cNvSpPr txBox="1">
            <a:spLocks noChangeArrowheads="1"/>
          </p:cNvSpPr>
          <p:nvPr/>
        </p:nvSpPr>
        <p:spPr bwMode="auto">
          <a:xfrm>
            <a:off x="214282" y="5143536"/>
            <a:ext cx="8572560" cy="1714464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/>
          <a:lstStyle/>
          <a:p>
            <a:r>
              <a:rPr lang="en-US" dirty="0">
                <a:solidFill>
                  <a:schemeClr val="tx1"/>
                </a:solidFill>
                <a:latin typeface="+mj-lt"/>
              </a:rPr>
              <a:t>     Each document is now represented as a count vector ∈ N</a:t>
            </a:r>
            <a:r>
              <a:rPr lang="en-US" baseline="30000" dirty="0">
                <a:solidFill>
                  <a:schemeClr val="tx1"/>
                </a:solidFill>
                <a:latin typeface="+mj-lt"/>
              </a:rPr>
              <a:t>|</a:t>
            </a:r>
            <a:r>
              <a:rPr lang="en-US" i="1" baseline="30000" dirty="0">
                <a:solidFill>
                  <a:schemeClr val="tx1"/>
                </a:solidFill>
                <a:latin typeface="+mj-lt"/>
              </a:rPr>
              <a:t>V</a:t>
            </a:r>
            <a:r>
              <a:rPr lang="en-US" baseline="30000" dirty="0">
                <a:solidFill>
                  <a:schemeClr val="tx1"/>
                </a:solidFill>
                <a:latin typeface="+mj-lt"/>
              </a:rPr>
              <a:t>|.</a:t>
            </a:r>
          </a:p>
        </p:txBody>
      </p:sp>
      <p:sp>
        <p:nvSpPr>
          <p:cNvPr id="84997" name="Text Box 4"/>
          <p:cNvSpPr txBox="1">
            <a:spLocks noChangeArrowheads="1"/>
          </p:cNvSpPr>
          <p:nvPr/>
        </p:nvSpPr>
        <p:spPr bwMode="auto">
          <a:xfrm>
            <a:off x="7640638" y="-33338"/>
            <a:ext cx="925512" cy="336551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wrap="none" anchor="ctr"/>
          <a:lstStyle/>
          <a:p>
            <a:pPr>
              <a:buClr>
                <a:srgbClr val="000000"/>
              </a:buClr>
              <a:buSzPct val="100000"/>
              <a:buFont typeface="Times New Roman" pitchFamily="16" charset="0"/>
              <a:buNone/>
            </a:pPr>
            <a:endParaRPr lang="de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4BF2C0F-05D6-4882-A325-BE394602789D}" type="slidenum">
              <a:rPr lang="en-US" smtClean="0"/>
              <a:pPr>
                <a:defRPr/>
              </a:pPr>
              <a:t>21</a:t>
            </a:fld>
            <a:endParaRPr lang="en-US"/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214282" y="1617356"/>
          <a:ext cx="8524894" cy="2834640"/>
        </p:xfrm>
        <a:graphic>
          <a:graphicData uri="http://schemas.openxmlformats.org/drawingml/2006/table">
            <a:tbl>
              <a:tblPr firstRow="1" bandRow="1">
                <a:tableStyleId>{C083E6E3-FA7D-4D7B-A595-EF9225AFEA82}</a:tableStyleId>
              </a:tblPr>
              <a:tblGrid>
                <a:gridCol w="128588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8588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8175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1784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1784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21784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217842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de-DE" sz="2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200" b="0" kern="1200" baseline="0" dirty="0"/>
                        <a:t>Anthony </a:t>
                      </a:r>
                      <a:r>
                        <a:rPr lang="de-DE" sz="2200" b="0" kern="1200" baseline="0" dirty="0" err="1"/>
                        <a:t>and</a:t>
                      </a:r>
                      <a:r>
                        <a:rPr lang="de-DE" sz="2200" b="0" kern="1200" baseline="0" dirty="0"/>
                        <a:t>  Cleopatra</a:t>
                      </a:r>
                      <a:endParaRPr lang="de-DE" sz="2200" b="0" kern="1200" baseline="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200" b="0" kern="1200" baseline="0" dirty="0"/>
                        <a:t>Julius </a:t>
                      </a:r>
                      <a:r>
                        <a:rPr lang="de-DE" sz="2200" b="0" kern="1200" baseline="0" dirty="0"/>
                        <a:t>Caesar </a:t>
                      </a:r>
                      <a:endParaRPr lang="de-DE" sz="2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200" b="0" kern="1200" baseline="0" dirty="0"/>
                        <a:t>The  </a:t>
                      </a:r>
                      <a:r>
                        <a:rPr lang="de-DE" sz="2200" b="0" kern="1200" baseline="0" dirty="0"/>
                        <a:t>Tempest</a:t>
                      </a:r>
                      <a:endParaRPr lang="de-DE" sz="2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200" b="0" kern="1200" baseline="0" dirty="0"/>
                        <a:t>Hamlet </a:t>
                      </a:r>
                      <a:endParaRPr lang="de-DE" sz="2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200" b="0" kern="1200" baseline="0" dirty="0"/>
                        <a:t>Othello </a:t>
                      </a:r>
                      <a:endParaRPr lang="de-DE" sz="2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200" b="0" kern="1200" baseline="0" dirty="0"/>
                        <a:t>Macbeth . . .</a:t>
                      </a:r>
                    </a:p>
                    <a:p>
                      <a:endParaRPr lang="de-DE" sz="22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 dirty="0"/>
                        <a:t>ANTHONY</a:t>
                      </a:r>
                    </a:p>
                    <a:p>
                      <a:r>
                        <a:rPr lang="de-DE" dirty="0"/>
                        <a:t>BRUTUS</a:t>
                      </a:r>
                      <a:r>
                        <a:rPr lang="de-DE" baseline="0" dirty="0"/>
                        <a:t> </a:t>
                      </a:r>
                    </a:p>
                    <a:p>
                      <a:r>
                        <a:rPr lang="de-DE" baseline="0" dirty="0"/>
                        <a:t>CAESAR</a:t>
                      </a:r>
                    </a:p>
                    <a:p>
                      <a:r>
                        <a:rPr lang="de-DE" baseline="0" dirty="0"/>
                        <a:t>CALPURNIA</a:t>
                      </a:r>
                    </a:p>
                    <a:p>
                      <a:r>
                        <a:rPr lang="de-DE" baseline="0" dirty="0"/>
                        <a:t>CLEOPATRA</a:t>
                      </a:r>
                    </a:p>
                    <a:p>
                      <a:r>
                        <a:rPr lang="de-DE" baseline="0" dirty="0"/>
                        <a:t>MERCY</a:t>
                      </a:r>
                    </a:p>
                    <a:p>
                      <a:r>
                        <a:rPr lang="de-DE" baseline="0" dirty="0"/>
                        <a:t>WORSER</a:t>
                      </a:r>
                    </a:p>
                    <a:p>
                      <a:r>
                        <a:rPr lang="de-DE" baseline="0" dirty="0"/>
                        <a:t>. . .</a:t>
                      </a:r>
                      <a:endParaRPr lang="de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de-DE" dirty="0"/>
                        <a:t>157</a:t>
                      </a:r>
                    </a:p>
                    <a:p>
                      <a:pPr algn="r"/>
                      <a:r>
                        <a:rPr lang="de-DE" dirty="0"/>
                        <a:t>4</a:t>
                      </a:r>
                    </a:p>
                    <a:p>
                      <a:pPr algn="r"/>
                      <a:r>
                        <a:rPr lang="de-DE" dirty="0"/>
                        <a:t>232</a:t>
                      </a:r>
                    </a:p>
                    <a:p>
                      <a:pPr algn="r"/>
                      <a:r>
                        <a:rPr lang="de-DE" dirty="0"/>
                        <a:t>0</a:t>
                      </a:r>
                    </a:p>
                    <a:p>
                      <a:pPr algn="r"/>
                      <a:r>
                        <a:rPr lang="de-DE" dirty="0"/>
                        <a:t>57</a:t>
                      </a:r>
                    </a:p>
                    <a:p>
                      <a:pPr algn="r"/>
                      <a:r>
                        <a:rPr lang="de-DE" dirty="0"/>
                        <a:t>2</a:t>
                      </a:r>
                    </a:p>
                    <a:p>
                      <a:pPr algn="r"/>
                      <a:r>
                        <a:rPr lang="de-DE" dirty="0"/>
                        <a:t>2</a:t>
                      </a:r>
                    </a:p>
                    <a:p>
                      <a:pPr algn="r"/>
                      <a:endParaRPr lang="de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de-DE" dirty="0"/>
                        <a:t>73</a:t>
                      </a:r>
                    </a:p>
                    <a:p>
                      <a:pPr algn="r"/>
                      <a:r>
                        <a:rPr lang="de-DE" dirty="0"/>
                        <a:t>157</a:t>
                      </a:r>
                    </a:p>
                    <a:p>
                      <a:pPr algn="r"/>
                      <a:r>
                        <a:rPr lang="de-DE" dirty="0"/>
                        <a:t>227</a:t>
                      </a:r>
                    </a:p>
                    <a:p>
                      <a:pPr algn="r"/>
                      <a:r>
                        <a:rPr lang="de-DE" dirty="0"/>
                        <a:t>10</a:t>
                      </a:r>
                    </a:p>
                    <a:p>
                      <a:pPr algn="r"/>
                      <a:r>
                        <a:rPr lang="de-DE" dirty="0"/>
                        <a:t>0</a:t>
                      </a:r>
                    </a:p>
                    <a:p>
                      <a:pPr algn="r"/>
                      <a:r>
                        <a:rPr lang="de-DE" dirty="0"/>
                        <a:t>0</a:t>
                      </a:r>
                    </a:p>
                    <a:p>
                      <a:pPr algn="r"/>
                      <a:r>
                        <a:rPr lang="de-DE" dirty="0"/>
                        <a:t>0</a:t>
                      </a:r>
                    </a:p>
                    <a:p>
                      <a:pPr algn="r"/>
                      <a:endParaRPr lang="de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de-DE" dirty="0"/>
                        <a:t>0</a:t>
                      </a:r>
                    </a:p>
                    <a:p>
                      <a:pPr algn="r"/>
                      <a:r>
                        <a:rPr lang="de-DE" dirty="0"/>
                        <a:t>0</a:t>
                      </a:r>
                    </a:p>
                    <a:p>
                      <a:pPr algn="r"/>
                      <a:r>
                        <a:rPr lang="de-DE" dirty="0"/>
                        <a:t>0</a:t>
                      </a:r>
                    </a:p>
                    <a:p>
                      <a:pPr algn="r"/>
                      <a:r>
                        <a:rPr lang="de-DE" dirty="0"/>
                        <a:t>0</a:t>
                      </a:r>
                    </a:p>
                    <a:p>
                      <a:pPr algn="r"/>
                      <a:r>
                        <a:rPr lang="de-DE" dirty="0"/>
                        <a:t>0</a:t>
                      </a:r>
                    </a:p>
                    <a:p>
                      <a:pPr algn="r"/>
                      <a:r>
                        <a:rPr lang="de-DE" dirty="0"/>
                        <a:t>3</a:t>
                      </a:r>
                    </a:p>
                    <a:p>
                      <a:pPr algn="r"/>
                      <a:r>
                        <a:rPr lang="de-DE" dirty="0"/>
                        <a:t>1</a:t>
                      </a:r>
                    </a:p>
                    <a:p>
                      <a:pPr algn="r"/>
                      <a:endParaRPr lang="de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de-DE" dirty="0"/>
                        <a:t>0</a:t>
                      </a:r>
                    </a:p>
                    <a:p>
                      <a:pPr algn="r"/>
                      <a:r>
                        <a:rPr lang="de-DE" dirty="0"/>
                        <a:t>2</a:t>
                      </a:r>
                    </a:p>
                    <a:p>
                      <a:pPr algn="r"/>
                      <a:r>
                        <a:rPr lang="de-DE" dirty="0"/>
                        <a:t>2</a:t>
                      </a:r>
                    </a:p>
                    <a:p>
                      <a:pPr algn="r"/>
                      <a:r>
                        <a:rPr lang="de-DE" dirty="0"/>
                        <a:t>0</a:t>
                      </a:r>
                    </a:p>
                    <a:p>
                      <a:pPr algn="r"/>
                      <a:r>
                        <a:rPr lang="de-DE" dirty="0"/>
                        <a:t>0</a:t>
                      </a:r>
                    </a:p>
                    <a:p>
                      <a:pPr algn="r"/>
                      <a:r>
                        <a:rPr lang="de-DE" dirty="0"/>
                        <a:t>8</a:t>
                      </a:r>
                    </a:p>
                    <a:p>
                      <a:pPr algn="r"/>
                      <a:r>
                        <a:rPr lang="de-DE" dirty="0"/>
                        <a:t>1</a:t>
                      </a:r>
                    </a:p>
                    <a:p>
                      <a:pPr algn="r"/>
                      <a:endParaRPr lang="de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de-DE" dirty="0"/>
                        <a:t>0</a:t>
                      </a:r>
                    </a:p>
                    <a:p>
                      <a:pPr algn="r"/>
                      <a:r>
                        <a:rPr lang="de-DE" dirty="0"/>
                        <a:t>0</a:t>
                      </a:r>
                    </a:p>
                    <a:p>
                      <a:pPr algn="r"/>
                      <a:r>
                        <a:rPr lang="de-DE" dirty="0"/>
                        <a:t>1</a:t>
                      </a:r>
                    </a:p>
                    <a:p>
                      <a:pPr algn="r"/>
                      <a:r>
                        <a:rPr lang="de-DE" dirty="0"/>
                        <a:t>0</a:t>
                      </a:r>
                    </a:p>
                    <a:p>
                      <a:pPr algn="r"/>
                      <a:r>
                        <a:rPr lang="de-DE" dirty="0"/>
                        <a:t>0</a:t>
                      </a:r>
                    </a:p>
                    <a:p>
                      <a:pPr algn="r"/>
                      <a:r>
                        <a:rPr lang="de-DE" dirty="0"/>
                        <a:t>5</a:t>
                      </a:r>
                    </a:p>
                    <a:p>
                      <a:pPr algn="r"/>
                      <a:r>
                        <a:rPr lang="de-DE" dirty="0"/>
                        <a:t>1</a:t>
                      </a:r>
                    </a:p>
                    <a:p>
                      <a:pPr algn="r"/>
                      <a:endParaRPr lang="de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de-DE" dirty="0"/>
                        <a:t>1</a:t>
                      </a:r>
                    </a:p>
                    <a:p>
                      <a:pPr algn="r"/>
                      <a:r>
                        <a:rPr lang="de-DE" dirty="0"/>
                        <a:t>0</a:t>
                      </a:r>
                    </a:p>
                    <a:p>
                      <a:pPr algn="r"/>
                      <a:r>
                        <a:rPr lang="de-DE" dirty="0"/>
                        <a:t>0</a:t>
                      </a:r>
                    </a:p>
                    <a:p>
                      <a:pPr algn="r"/>
                      <a:r>
                        <a:rPr lang="de-DE" dirty="0"/>
                        <a:t>0</a:t>
                      </a:r>
                    </a:p>
                    <a:p>
                      <a:pPr algn="r"/>
                      <a:r>
                        <a:rPr lang="de-DE" dirty="0"/>
                        <a:t>0</a:t>
                      </a:r>
                    </a:p>
                    <a:p>
                      <a:pPr algn="r"/>
                      <a:r>
                        <a:rPr lang="de-DE" dirty="0"/>
                        <a:t>8</a:t>
                      </a:r>
                    </a:p>
                    <a:p>
                      <a:pPr algn="r"/>
                      <a:r>
                        <a:rPr lang="de-DE" dirty="0"/>
                        <a:t>5</a:t>
                      </a:r>
                    </a:p>
                    <a:p>
                      <a:pPr algn="r"/>
                      <a:endParaRPr lang="de-D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Text Box 1"/>
          <p:cNvSpPr txBox="1">
            <a:spLocks noChangeArrowheads="1"/>
          </p:cNvSpPr>
          <p:nvPr/>
        </p:nvSpPr>
        <p:spPr bwMode="auto">
          <a:xfrm>
            <a:off x="6553200" y="6477000"/>
            <a:ext cx="2133600" cy="244475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lIns="90000" tIns="46800" rIns="90000" bIns="46800" anchor="ctr"/>
          <a:lstStyle/>
          <a:p>
            <a:pPr algn="r">
              <a:buSzPct val="10000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fld id="{48895EFF-1DBE-4654-84B8-EE5B6E2FA3CA}" type="slidenum">
              <a:rPr lang="en-US" sz="1200">
                <a:solidFill>
                  <a:srgbClr val="898989"/>
                </a:solidFill>
                <a:latin typeface="Calibri" charset="0"/>
              </a:rPr>
              <a:pPr algn="r">
                <a:buSzPct val="10000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</a:pPr>
              <a:t>22</a:t>
            </a:fld>
            <a:endParaRPr lang="en-US" sz="1200">
              <a:solidFill>
                <a:srgbClr val="898989"/>
              </a:solidFill>
              <a:latin typeface="Calibri" charset="0"/>
            </a:endParaRPr>
          </a:p>
        </p:txBody>
      </p:sp>
      <p:sp>
        <p:nvSpPr>
          <p:cNvPr id="84995" name="Text Box 2"/>
          <p:cNvSpPr txBox="1">
            <a:spLocks noChangeArrowheads="1"/>
          </p:cNvSpPr>
          <p:nvPr/>
        </p:nvSpPr>
        <p:spPr bwMode="auto">
          <a:xfrm>
            <a:off x="285720" y="12700"/>
            <a:ext cx="8572560" cy="1403350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anchor="b"/>
          <a:lstStyle/>
          <a:p>
            <a:r>
              <a:rPr lang="de-DE" sz="3600" dirty="0" err="1">
                <a:solidFill>
                  <a:schemeClr val="tx1"/>
                </a:solidFill>
                <a:latin typeface="+mj-lt"/>
              </a:rPr>
              <a:t>Bag</a:t>
            </a:r>
            <a:r>
              <a:rPr lang="de-DE" sz="3600" dirty="0">
                <a:solidFill>
                  <a:schemeClr val="tx1"/>
                </a:solidFill>
                <a:latin typeface="+mj-lt"/>
              </a:rPr>
              <a:t> </a:t>
            </a:r>
            <a:r>
              <a:rPr lang="de-DE" sz="3600" dirty="0" err="1">
                <a:solidFill>
                  <a:schemeClr val="tx1"/>
                </a:solidFill>
                <a:latin typeface="+mj-lt"/>
              </a:rPr>
              <a:t>of</a:t>
            </a:r>
            <a:r>
              <a:rPr lang="de-DE" sz="3600" dirty="0">
                <a:solidFill>
                  <a:schemeClr val="tx1"/>
                </a:solidFill>
                <a:latin typeface="+mj-lt"/>
              </a:rPr>
              <a:t> </a:t>
            </a:r>
            <a:r>
              <a:rPr lang="de-DE" sz="3600" dirty="0" err="1">
                <a:solidFill>
                  <a:schemeClr val="tx1"/>
                </a:solidFill>
                <a:latin typeface="+mj-lt"/>
              </a:rPr>
              <a:t>words</a:t>
            </a:r>
            <a:r>
              <a:rPr lang="de-DE" sz="3600" dirty="0">
                <a:solidFill>
                  <a:schemeClr val="tx1"/>
                </a:solidFill>
                <a:latin typeface="+mj-lt"/>
              </a:rPr>
              <a:t> model</a:t>
            </a:r>
          </a:p>
        </p:txBody>
      </p:sp>
      <p:sp>
        <p:nvSpPr>
          <p:cNvPr id="84996" name="Text Box 3"/>
          <p:cNvSpPr txBox="1">
            <a:spLocks noChangeArrowheads="1"/>
          </p:cNvSpPr>
          <p:nvPr/>
        </p:nvSpPr>
        <p:spPr bwMode="auto">
          <a:xfrm>
            <a:off x="214282" y="1857364"/>
            <a:ext cx="8286808" cy="5429264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/>
          <a:lstStyle/>
          <a:p>
            <a:pPr lvl="1">
              <a:spcBef>
                <a:spcPts val="700"/>
              </a:spcBef>
              <a:buClr>
                <a:srgbClr val="336699"/>
              </a:buClr>
              <a:buFont typeface="Wingdings" pitchFamily="2" charset="2"/>
              <a:buChar char="§"/>
            </a:pPr>
            <a:r>
              <a:rPr lang="en-US" dirty="0">
                <a:latin typeface="+mj-lt"/>
              </a:rPr>
              <a:t>We do not consider the order of words in a document.</a:t>
            </a:r>
          </a:p>
          <a:p>
            <a:pPr lvl="1">
              <a:spcBef>
                <a:spcPts val="700"/>
              </a:spcBef>
              <a:buClr>
                <a:srgbClr val="336699"/>
              </a:buClr>
              <a:buFont typeface="Wingdings" pitchFamily="2" charset="2"/>
              <a:buChar char="§"/>
            </a:pPr>
            <a:r>
              <a:rPr lang="en-US" i="1" dirty="0">
                <a:latin typeface="+mj-lt"/>
              </a:rPr>
              <a:t>John is quicker than Mary and Mary is quicker than John </a:t>
            </a:r>
            <a:r>
              <a:rPr lang="en-US" dirty="0">
                <a:latin typeface="+mj-lt"/>
              </a:rPr>
              <a:t>are </a:t>
            </a:r>
            <a:r>
              <a:rPr lang="de-DE" dirty="0" err="1">
                <a:latin typeface="+mj-lt"/>
              </a:rPr>
              <a:t>represented</a:t>
            </a:r>
            <a:r>
              <a:rPr lang="de-DE" dirty="0">
                <a:latin typeface="+mj-lt"/>
              </a:rPr>
              <a:t> </a:t>
            </a:r>
            <a:r>
              <a:rPr lang="de-DE" dirty="0" err="1">
                <a:latin typeface="+mj-lt"/>
              </a:rPr>
              <a:t>the</a:t>
            </a:r>
            <a:r>
              <a:rPr lang="de-DE" dirty="0">
                <a:latin typeface="+mj-lt"/>
              </a:rPr>
              <a:t> same </a:t>
            </a:r>
            <a:r>
              <a:rPr lang="de-DE" dirty="0" err="1">
                <a:latin typeface="+mj-lt"/>
              </a:rPr>
              <a:t>way</a:t>
            </a:r>
            <a:r>
              <a:rPr lang="de-DE" dirty="0">
                <a:latin typeface="+mj-lt"/>
              </a:rPr>
              <a:t>.</a:t>
            </a:r>
          </a:p>
          <a:p>
            <a:pPr lvl="1">
              <a:spcBef>
                <a:spcPts val="700"/>
              </a:spcBef>
              <a:buClr>
                <a:srgbClr val="336699"/>
              </a:buClr>
              <a:buFont typeface="Wingdings" pitchFamily="2" charset="2"/>
              <a:buChar char="§"/>
            </a:pPr>
            <a:r>
              <a:rPr lang="en-US" dirty="0">
                <a:latin typeface="+mj-lt"/>
              </a:rPr>
              <a:t>This is called a bag of words model.</a:t>
            </a:r>
          </a:p>
          <a:p>
            <a:pPr lvl="1">
              <a:spcBef>
                <a:spcPts val="700"/>
              </a:spcBef>
              <a:buClr>
                <a:srgbClr val="336699"/>
              </a:buClr>
              <a:buFont typeface="Wingdings" pitchFamily="2" charset="2"/>
              <a:buChar char="§"/>
            </a:pPr>
            <a:r>
              <a:rPr lang="en-US" dirty="0">
                <a:latin typeface="+mj-lt"/>
              </a:rPr>
              <a:t>In a sense, this is a step back: The positional index was able to distinguish these two documents.</a:t>
            </a:r>
          </a:p>
          <a:p>
            <a:pPr lvl="1">
              <a:spcBef>
                <a:spcPts val="700"/>
              </a:spcBef>
              <a:buClr>
                <a:srgbClr val="336699"/>
              </a:buClr>
              <a:buFont typeface="Wingdings" pitchFamily="2" charset="2"/>
              <a:buChar char="§"/>
            </a:pPr>
            <a:r>
              <a:rPr lang="en-US" dirty="0">
                <a:latin typeface="+mj-lt"/>
              </a:rPr>
              <a:t>For now: bag of words model</a:t>
            </a:r>
          </a:p>
        </p:txBody>
      </p:sp>
      <p:sp>
        <p:nvSpPr>
          <p:cNvPr id="84997" name="Text Box 4"/>
          <p:cNvSpPr txBox="1">
            <a:spLocks noChangeArrowheads="1"/>
          </p:cNvSpPr>
          <p:nvPr/>
        </p:nvSpPr>
        <p:spPr bwMode="auto">
          <a:xfrm>
            <a:off x="7640638" y="-33338"/>
            <a:ext cx="925512" cy="336551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wrap="none" anchor="ctr"/>
          <a:lstStyle/>
          <a:p>
            <a:pPr>
              <a:buClr>
                <a:srgbClr val="000000"/>
              </a:buClr>
              <a:buSzPct val="100000"/>
              <a:buFont typeface="Times New Roman" pitchFamily="16" charset="0"/>
              <a:buNone/>
            </a:pPr>
            <a:endParaRPr lang="de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4BF2C0F-05D6-4882-A325-BE394602789D}" type="slidenum">
              <a:rPr lang="en-US" smtClean="0"/>
              <a:pPr>
                <a:defRPr/>
              </a:pPr>
              <a:t>22</a:t>
            </a:fld>
            <a:endParaRPr lang="en-US"/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Text Box 1"/>
          <p:cNvSpPr txBox="1">
            <a:spLocks noChangeArrowheads="1"/>
          </p:cNvSpPr>
          <p:nvPr/>
        </p:nvSpPr>
        <p:spPr bwMode="auto">
          <a:xfrm>
            <a:off x="6553200" y="6477000"/>
            <a:ext cx="2133600" cy="244475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lIns="90000" tIns="46800" rIns="90000" bIns="46800" anchor="ctr"/>
          <a:lstStyle/>
          <a:p>
            <a:pPr algn="r">
              <a:buSzPct val="10000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fld id="{48895EFF-1DBE-4654-84B8-EE5B6E2FA3CA}" type="slidenum">
              <a:rPr lang="en-US" sz="1200">
                <a:solidFill>
                  <a:srgbClr val="898989"/>
                </a:solidFill>
                <a:latin typeface="Calibri" charset="0"/>
              </a:rPr>
              <a:pPr algn="r">
                <a:buSzPct val="10000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</a:pPr>
              <a:t>23</a:t>
            </a:fld>
            <a:endParaRPr lang="en-US" sz="1200">
              <a:solidFill>
                <a:srgbClr val="898989"/>
              </a:solidFill>
              <a:latin typeface="Calibri" charset="0"/>
            </a:endParaRPr>
          </a:p>
        </p:txBody>
      </p:sp>
      <p:sp>
        <p:nvSpPr>
          <p:cNvPr id="84995" name="Text Box 2"/>
          <p:cNvSpPr txBox="1">
            <a:spLocks noChangeArrowheads="1"/>
          </p:cNvSpPr>
          <p:nvPr/>
        </p:nvSpPr>
        <p:spPr bwMode="auto">
          <a:xfrm>
            <a:off x="285720" y="12700"/>
            <a:ext cx="8572560" cy="1403350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anchor="b"/>
          <a:lstStyle/>
          <a:p>
            <a:r>
              <a:rPr lang="de-DE" sz="3600" dirty="0">
                <a:solidFill>
                  <a:schemeClr val="tx1"/>
                </a:solidFill>
                <a:latin typeface="+mj-lt"/>
              </a:rPr>
              <a:t>Term </a:t>
            </a:r>
            <a:r>
              <a:rPr lang="de-DE" sz="3600" dirty="0" err="1">
                <a:solidFill>
                  <a:schemeClr val="tx1"/>
                </a:solidFill>
                <a:latin typeface="+mj-lt"/>
              </a:rPr>
              <a:t>frequency</a:t>
            </a:r>
            <a:r>
              <a:rPr lang="de-DE" sz="3600" dirty="0">
                <a:solidFill>
                  <a:schemeClr val="tx1"/>
                </a:solidFill>
                <a:latin typeface="+mj-lt"/>
              </a:rPr>
              <a:t> </a:t>
            </a:r>
            <a:r>
              <a:rPr lang="de-DE" sz="3600" dirty="0" err="1">
                <a:solidFill>
                  <a:schemeClr val="tx1"/>
                </a:solidFill>
                <a:latin typeface="+mj-lt"/>
              </a:rPr>
              <a:t>tf</a:t>
            </a:r>
            <a:endParaRPr lang="de-DE" sz="3600" dirty="0">
              <a:solidFill>
                <a:schemeClr val="tx1"/>
              </a:solidFill>
              <a:latin typeface="+mj-lt"/>
            </a:endParaRPr>
          </a:p>
        </p:txBody>
      </p:sp>
      <p:sp>
        <p:nvSpPr>
          <p:cNvPr id="84996" name="Text Box 3"/>
          <p:cNvSpPr txBox="1">
            <a:spLocks noChangeArrowheads="1"/>
          </p:cNvSpPr>
          <p:nvPr/>
        </p:nvSpPr>
        <p:spPr bwMode="auto">
          <a:xfrm>
            <a:off x="214282" y="1571612"/>
            <a:ext cx="8286808" cy="5429264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/>
          <a:lstStyle/>
          <a:p>
            <a:pPr lvl="1">
              <a:spcBef>
                <a:spcPts val="700"/>
              </a:spcBef>
              <a:buClr>
                <a:srgbClr val="336699"/>
              </a:buClr>
              <a:buFont typeface="Wingdings" pitchFamily="2" charset="2"/>
              <a:buChar char="§"/>
            </a:pPr>
            <a:r>
              <a:rPr lang="en-US" dirty="0">
                <a:latin typeface="+mj-lt"/>
              </a:rPr>
              <a:t>The term frequency </a:t>
            </a:r>
            <a:r>
              <a:rPr lang="en-US" dirty="0" err="1">
                <a:latin typeface="+mj-lt"/>
              </a:rPr>
              <a:t>tf</a:t>
            </a:r>
            <a:r>
              <a:rPr lang="en-US" i="1" baseline="-25000" dirty="0" err="1">
                <a:latin typeface="+mj-lt"/>
              </a:rPr>
              <a:t>t,d</a:t>
            </a:r>
            <a:r>
              <a:rPr lang="en-US" dirty="0">
                <a:latin typeface="+mj-lt"/>
              </a:rPr>
              <a:t> of term </a:t>
            </a:r>
            <a:r>
              <a:rPr lang="en-US" i="1" dirty="0">
                <a:latin typeface="+mj-lt"/>
              </a:rPr>
              <a:t>t</a:t>
            </a:r>
            <a:r>
              <a:rPr lang="en-US" dirty="0">
                <a:latin typeface="+mj-lt"/>
              </a:rPr>
              <a:t> in document </a:t>
            </a:r>
            <a:r>
              <a:rPr lang="en-US" i="1" dirty="0">
                <a:latin typeface="+mj-lt"/>
              </a:rPr>
              <a:t>d</a:t>
            </a:r>
            <a:r>
              <a:rPr lang="en-US" dirty="0">
                <a:latin typeface="+mj-lt"/>
              </a:rPr>
              <a:t> is defined as the number of times that </a:t>
            </a:r>
            <a:r>
              <a:rPr lang="en-US" i="1" dirty="0">
                <a:latin typeface="+mj-lt"/>
              </a:rPr>
              <a:t>t</a:t>
            </a:r>
            <a:r>
              <a:rPr lang="en-US" dirty="0">
                <a:latin typeface="+mj-lt"/>
              </a:rPr>
              <a:t> occurs in </a:t>
            </a:r>
            <a:r>
              <a:rPr lang="en-US" i="1" dirty="0">
                <a:latin typeface="+mj-lt"/>
              </a:rPr>
              <a:t>d</a:t>
            </a:r>
            <a:r>
              <a:rPr lang="en-US" dirty="0">
                <a:latin typeface="+mj-lt"/>
              </a:rPr>
              <a:t>.</a:t>
            </a:r>
          </a:p>
          <a:p>
            <a:pPr lvl="1">
              <a:spcBef>
                <a:spcPts val="700"/>
              </a:spcBef>
              <a:buClr>
                <a:srgbClr val="336699"/>
              </a:buClr>
              <a:buFont typeface="Wingdings" pitchFamily="2" charset="2"/>
              <a:buChar char="§"/>
            </a:pPr>
            <a:r>
              <a:rPr lang="en-US" dirty="0">
                <a:latin typeface="+mj-lt"/>
              </a:rPr>
              <a:t>We want to use </a:t>
            </a:r>
            <a:r>
              <a:rPr lang="en-US" dirty="0" err="1">
                <a:latin typeface="+mj-lt"/>
              </a:rPr>
              <a:t>tf</a:t>
            </a:r>
            <a:r>
              <a:rPr lang="en-US" dirty="0">
                <a:latin typeface="+mj-lt"/>
              </a:rPr>
              <a:t> when computing query-document match </a:t>
            </a:r>
            <a:r>
              <a:rPr lang="de-DE" dirty="0" err="1">
                <a:latin typeface="+mj-lt"/>
              </a:rPr>
              <a:t>scores</a:t>
            </a:r>
            <a:r>
              <a:rPr lang="de-DE" dirty="0">
                <a:latin typeface="+mj-lt"/>
              </a:rPr>
              <a:t>.</a:t>
            </a:r>
          </a:p>
          <a:p>
            <a:pPr lvl="1">
              <a:spcBef>
                <a:spcPts val="700"/>
              </a:spcBef>
              <a:buClr>
                <a:srgbClr val="336699"/>
              </a:buClr>
              <a:buFont typeface="Wingdings" pitchFamily="2" charset="2"/>
              <a:buChar char="§"/>
            </a:pPr>
            <a:r>
              <a:rPr lang="en-US" dirty="0">
                <a:latin typeface="+mj-lt"/>
              </a:rPr>
              <a:t>Raw term frequency is not what we want because:</a:t>
            </a:r>
          </a:p>
          <a:p>
            <a:pPr lvl="1">
              <a:spcBef>
                <a:spcPts val="700"/>
              </a:spcBef>
              <a:buClr>
                <a:srgbClr val="336699"/>
              </a:buClr>
              <a:buFont typeface="Wingdings" pitchFamily="2" charset="2"/>
              <a:buChar char="§"/>
            </a:pPr>
            <a:r>
              <a:rPr lang="en-US" dirty="0">
                <a:latin typeface="+mj-lt"/>
              </a:rPr>
              <a:t>A document with </a:t>
            </a:r>
            <a:r>
              <a:rPr lang="en-US" dirty="0" err="1">
                <a:latin typeface="+mj-lt"/>
              </a:rPr>
              <a:t>tf</a:t>
            </a:r>
            <a:r>
              <a:rPr lang="en-US" dirty="0">
                <a:latin typeface="+mj-lt"/>
              </a:rPr>
              <a:t> = 10 occurrences of the term is more relevant than a document with </a:t>
            </a:r>
            <a:r>
              <a:rPr lang="en-US" dirty="0" err="1">
                <a:latin typeface="+mj-lt"/>
              </a:rPr>
              <a:t>tf</a:t>
            </a:r>
            <a:r>
              <a:rPr lang="en-US" dirty="0">
                <a:latin typeface="+mj-lt"/>
              </a:rPr>
              <a:t> = 1 occurrence of the term.</a:t>
            </a:r>
          </a:p>
          <a:p>
            <a:pPr lvl="1">
              <a:spcBef>
                <a:spcPts val="700"/>
              </a:spcBef>
              <a:buClr>
                <a:srgbClr val="336699"/>
              </a:buClr>
              <a:buFont typeface="Wingdings" pitchFamily="2" charset="2"/>
              <a:buChar char="§"/>
            </a:pPr>
            <a:r>
              <a:rPr lang="en-US" dirty="0">
                <a:latin typeface="+mj-lt"/>
              </a:rPr>
              <a:t>But not 10 times more relevant.</a:t>
            </a:r>
          </a:p>
          <a:p>
            <a:pPr lvl="1">
              <a:spcBef>
                <a:spcPts val="700"/>
              </a:spcBef>
              <a:buClr>
                <a:srgbClr val="336699"/>
              </a:buClr>
              <a:buFont typeface="Wingdings" pitchFamily="2" charset="2"/>
              <a:buChar char="§"/>
            </a:pPr>
            <a:r>
              <a:rPr lang="en-US" dirty="0">
                <a:latin typeface="+mj-lt"/>
              </a:rPr>
              <a:t>Relevance does not increase proportionally with term </a:t>
            </a:r>
            <a:r>
              <a:rPr lang="de-DE" dirty="0" err="1">
                <a:latin typeface="+mj-lt"/>
              </a:rPr>
              <a:t>frequency</a:t>
            </a:r>
            <a:r>
              <a:rPr lang="de-DE" dirty="0">
                <a:latin typeface="+mj-lt"/>
              </a:rPr>
              <a:t>.</a:t>
            </a:r>
          </a:p>
        </p:txBody>
      </p:sp>
      <p:sp>
        <p:nvSpPr>
          <p:cNvPr id="84997" name="Text Box 4"/>
          <p:cNvSpPr txBox="1">
            <a:spLocks noChangeArrowheads="1"/>
          </p:cNvSpPr>
          <p:nvPr/>
        </p:nvSpPr>
        <p:spPr bwMode="auto">
          <a:xfrm>
            <a:off x="7640638" y="-33338"/>
            <a:ext cx="925512" cy="336551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wrap="none" anchor="ctr"/>
          <a:lstStyle/>
          <a:p>
            <a:pPr>
              <a:buClr>
                <a:srgbClr val="000000"/>
              </a:buClr>
              <a:buSzPct val="100000"/>
              <a:buFont typeface="Times New Roman" pitchFamily="16" charset="0"/>
              <a:buNone/>
            </a:pPr>
            <a:endParaRPr lang="de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4BF2C0F-05D6-4882-A325-BE394602789D}" type="slidenum">
              <a:rPr lang="en-US" smtClean="0"/>
              <a:pPr>
                <a:defRPr/>
              </a:pPr>
              <a:t>23</a:t>
            </a:fld>
            <a:endParaRPr lang="en-US"/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Text Box 1"/>
          <p:cNvSpPr txBox="1">
            <a:spLocks noChangeArrowheads="1"/>
          </p:cNvSpPr>
          <p:nvPr/>
        </p:nvSpPr>
        <p:spPr bwMode="auto">
          <a:xfrm>
            <a:off x="6553200" y="6477000"/>
            <a:ext cx="2133600" cy="244475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lIns="90000" tIns="46800" rIns="90000" bIns="46800" anchor="ctr"/>
          <a:lstStyle/>
          <a:p>
            <a:pPr algn="r">
              <a:buSzPct val="10000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fld id="{48895EFF-1DBE-4654-84B8-EE5B6E2FA3CA}" type="slidenum">
              <a:rPr lang="en-US" sz="1200">
                <a:solidFill>
                  <a:srgbClr val="898989"/>
                </a:solidFill>
                <a:latin typeface="Calibri" charset="0"/>
              </a:rPr>
              <a:pPr algn="r">
                <a:buSzPct val="10000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</a:pPr>
              <a:t>24</a:t>
            </a:fld>
            <a:endParaRPr lang="en-US" sz="1200">
              <a:solidFill>
                <a:srgbClr val="898989"/>
              </a:solidFill>
              <a:latin typeface="Calibri" charset="0"/>
            </a:endParaRPr>
          </a:p>
        </p:txBody>
      </p:sp>
      <p:sp>
        <p:nvSpPr>
          <p:cNvPr id="84995" name="Text Box 2"/>
          <p:cNvSpPr txBox="1">
            <a:spLocks noChangeArrowheads="1"/>
          </p:cNvSpPr>
          <p:nvPr/>
        </p:nvSpPr>
        <p:spPr bwMode="auto">
          <a:xfrm>
            <a:off x="285720" y="12700"/>
            <a:ext cx="8572560" cy="1403350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anchor="b"/>
          <a:lstStyle/>
          <a:p>
            <a:r>
              <a:rPr lang="en-US" sz="3400" dirty="0">
                <a:solidFill>
                  <a:schemeClr val="tx1"/>
                </a:solidFill>
                <a:latin typeface="+mj-lt"/>
              </a:rPr>
              <a:t>Instead of raw frequency: Log frequency weighting</a:t>
            </a:r>
          </a:p>
        </p:txBody>
      </p:sp>
      <p:sp>
        <p:nvSpPr>
          <p:cNvPr id="84996" name="Text Box 3"/>
          <p:cNvSpPr txBox="1">
            <a:spLocks noChangeArrowheads="1"/>
          </p:cNvSpPr>
          <p:nvPr/>
        </p:nvSpPr>
        <p:spPr bwMode="auto">
          <a:xfrm>
            <a:off x="214282" y="1571612"/>
            <a:ext cx="8501122" cy="5429264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/>
          <a:lstStyle/>
          <a:p>
            <a:pPr lvl="1">
              <a:spcBef>
                <a:spcPts val="700"/>
              </a:spcBef>
              <a:buClr>
                <a:srgbClr val="336699"/>
              </a:buClr>
              <a:buFont typeface="Wingdings" pitchFamily="2" charset="2"/>
              <a:buChar char="§"/>
            </a:pPr>
            <a:r>
              <a:rPr lang="en-US" dirty="0">
                <a:solidFill>
                  <a:schemeClr val="tx1"/>
                </a:solidFill>
                <a:latin typeface="+mj-lt"/>
              </a:rPr>
              <a:t>The log frequency weight of term t in d is defined as follows</a:t>
            </a:r>
          </a:p>
          <a:p>
            <a:pPr lvl="1">
              <a:spcBef>
                <a:spcPts val="700"/>
              </a:spcBef>
              <a:buClr>
                <a:srgbClr val="336699"/>
              </a:buClr>
              <a:buFont typeface="Wingdings" pitchFamily="2" charset="2"/>
              <a:buChar char="§"/>
            </a:pPr>
            <a:endParaRPr lang="de-DE" dirty="0">
              <a:solidFill>
                <a:schemeClr val="tx1"/>
              </a:solidFill>
              <a:latin typeface="+mj-lt"/>
            </a:endParaRPr>
          </a:p>
          <a:p>
            <a:pPr lvl="1">
              <a:spcBef>
                <a:spcPts val="700"/>
              </a:spcBef>
              <a:buClr>
                <a:srgbClr val="336699"/>
              </a:buClr>
            </a:pPr>
            <a:endParaRPr lang="de-DE" dirty="0">
              <a:solidFill>
                <a:schemeClr val="tx1"/>
              </a:solidFill>
              <a:latin typeface="+mj-lt"/>
            </a:endParaRPr>
          </a:p>
          <a:p>
            <a:pPr lvl="1">
              <a:spcBef>
                <a:spcPts val="700"/>
              </a:spcBef>
              <a:buClr>
                <a:srgbClr val="336699"/>
              </a:buClr>
            </a:pPr>
            <a:endParaRPr lang="de-DE" dirty="0">
              <a:solidFill>
                <a:schemeClr val="tx1"/>
              </a:solidFill>
              <a:latin typeface="+mj-lt"/>
            </a:endParaRPr>
          </a:p>
          <a:p>
            <a:pPr lvl="1">
              <a:spcBef>
                <a:spcPts val="700"/>
              </a:spcBef>
              <a:buClr>
                <a:srgbClr val="336699"/>
              </a:buClr>
              <a:buFont typeface="Wingdings" pitchFamily="2" charset="2"/>
              <a:buChar char="§"/>
            </a:pPr>
            <a:endParaRPr lang="de-DE" dirty="0">
              <a:solidFill>
                <a:schemeClr val="tx1"/>
              </a:solidFill>
              <a:latin typeface="+mj-lt"/>
            </a:endParaRPr>
          </a:p>
          <a:p>
            <a:pPr lvl="1">
              <a:spcBef>
                <a:spcPts val="700"/>
              </a:spcBef>
              <a:buClr>
                <a:srgbClr val="336699"/>
              </a:buClr>
              <a:buFont typeface="Wingdings" pitchFamily="2" charset="2"/>
              <a:buChar char="§"/>
            </a:pPr>
            <a:r>
              <a:rPr lang="de-DE" dirty="0">
                <a:solidFill>
                  <a:schemeClr val="tx1"/>
                </a:solidFill>
                <a:latin typeface="+mj-lt"/>
              </a:rPr>
              <a:t>tf</a:t>
            </a:r>
            <a:r>
              <a:rPr lang="de-DE" i="1" baseline="-25000" dirty="0">
                <a:solidFill>
                  <a:schemeClr val="tx1"/>
                </a:solidFill>
                <a:latin typeface="+mj-lt"/>
              </a:rPr>
              <a:t>t,d</a:t>
            </a:r>
            <a:r>
              <a:rPr lang="de-DE" dirty="0">
                <a:solidFill>
                  <a:schemeClr val="tx1"/>
                </a:solidFill>
                <a:latin typeface="+mj-lt"/>
              </a:rPr>
              <a:t> → w</a:t>
            </a:r>
            <a:r>
              <a:rPr lang="de-DE" i="1" baseline="-25000" dirty="0">
                <a:solidFill>
                  <a:schemeClr val="tx1"/>
                </a:solidFill>
                <a:latin typeface="+mj-lt"/>
              </a:rPr>
              <a:t>t,d</a:t>
            </a:r>
            <a:r>
              <a:rPr lang="de-DE" dirty="0">
                <a:solidFill>
                  <a:schemeClr val="tx1"/>
                </a:solidFill>
                <a:latin typeface="+mj-lt"/>
              </a:rPr>
              <a:t> :  0 → 0, 1 → 1, 2 → 1.3, 10 → 2, 1000 → 4, etc.</a:t>
            </a:r>
          </a:p>
          <a:p>
            <a:pPr lvl="1">
              <a:spcBef>
                <a:spcPts val="700"/>
              </a:spcBef>
              <a:buClr>
                <a:srgbClr val="336699"/>
              </a:buClr>
              <a:buFont typeface="Wingdings" pitchFamily="2" charset="2"/>
              <a:buChar char="§"/>
            </a:pPr>
            <a:r>
              <a:rPr lang="en-US" dirty="0">
                <a:solidFill>
                  <a:schemeClr val="tx1"/>
                </a:solidFill>
                <a:latin typeface="+mj-lt"/>
              </a:rPr>
              <a:t>Score for a document-query pair: sum over terms t in both </a:t>
            </a:r>
            <a:r>
              <a:rPr lang="en-US" i="1" dirty="0">
                <a:solidFill>
                  <a:schemeClr val="tx1"/>
                </a:solidFill>
                <a:latin typeface="+mj-lt"/>
              </a:rPr>
              <a:t>q</a:t>
            </a:r>
            <a:r>
              <a:rPr lang="en-US" dirty="0">
                <a:solidFill>
                  <a:schemeClr val="tx1"/>
                </a:solidFill>
                <a:latin typeface="+mj-lt"/>
              </a:rPr>
              <a:t>                                                                                                    </a:t>
            </a:r>
            <a:r>
              <a:rPr lang="de-DE" dirty="0">
                <a:solidFill>
                  <a:schemeClr val="tx1"/>
                </a:solidFill>
                <a:latin typeface="+mj-lt"/>
              </a:rPr>
              <a:t>and </a:t>
            </a:r>
            <a:r>
              <a:rPr lang="de-DE" i="1" dirty="0">
                <a:solidFill>
                  <a:schemeClr val="tx1"/>
                </a:solidFill>
                <a:latin typeface="+mj-lt"/>
              </a:rPr>
              <a:t>d</a:t>
            </a:r>
            <a:r>
              <a:rPr lang="de-DE" dirty="0">
                <a:solidFill>
                  <a:schemeClr val="tx1"/>
                </a:solidFill>
                <a:latin typeface="+mj-lt"/>
              </a:rPr>
              <a:t>:                                                                                               </a:t>
            </a:r>
          </a:p>
          <a:p>
            <a:pPr lvl="1">
              <a:spcBef>
                <a:spcPts val="700"/>
              </a:spcBef>
              <a:buClr>
                <a:srgbClr val="336699"/>
              </a:buClr>
              <a:buFont typeface="Wingdings" pitchFamily="2" charset="2"/>
              <a:buChar char="§"/>
            </a:pPr>
            <a:r>
              <a:rPr lang="de-DE" dirty="0">
                <a:solidFill>
                  <a:schemeClr val="tx1"/>
                </a:solidFill>
                <a:latin typeface="+mj-lt"/>
              </a:rPr>
              <a:t>  </a:t>
            </a:r>
            <a:r>
              <a:rPr lang="en-US" dirty="0" err="1">
                <a:solidFill>
                  <a:schemeClr val="tx1"/>
                </a:solidFill>
                <a:latin typeface="+mj-lt"/>
              </a:rPr>
              <a:t>tf</a:t>
            </a:r>
            <a:r>
              <a:rPr lang="en-US" dirty="0">
                <a:solidFill>
                  <a:schemeClr val="tx1"/>
                </a:solidFill>
                <a:latin typeface="+mj-lt"/>
              </a:rPr>
              <a:t>-matching-score(</a:t>
            </a:r>
            <a:r>
              <a:rPr lang="en-US" i="1" dirty="0">
                <a:solidFill>
                  <a:schemeClr val="tx1"/>
                </a:solidFill>
                <a:latin typeface="+mj-lt"/>
              </a:rPr>
              <a:t>q</a:t>
            </a:r>
            <a:r>
              <a:rPr lang="en-US" dirty="0">
                <a:solidFill>
                  <a:schemeClr val="tx1"/>
                </a:solidFill>
                <a:latin typeface="+mj-lt"/>
              </a:rPr>
              <a:t>, </a:t>
            </a:r>
            <a:r>
              <a:rPr lang="en-US" i="1" dirty="0">
                <a:solidFill>
                  <a:schemeClr val="tx1"/>
                </a:solidFill>
                <a:latin typeface="+mj-lt"/>
              </a:rPr>
              <a:t>d</a:t>
            </a:r>
            <a:r>
              <a:rPr lang="en-US" dirty="0">
                <a:solidFill>
                  <a:schemeClr val="tx1"/>
                </a:solidFill>
                <a:latin typeface="+mj-lt"/>
              </a:rPr>
              <a:t>) =       </a:t>
            </a:r>
            <a:r>
              <a:rPr lang="en-US" i="1" baseline="-25000" dirty="0" err="1">
                <a:solidFill>
                  <a:schemeClr val="tx1"/>
                </a:solidFill>
                <a:latin typeface="+mj-lt"/>
              </a:rPr>
              <a:t>t</a:t>
            </a:r>
            <a:r>
              <a:rPr lang="en-US" baseline="-25000" dirty="0" err="1">
                <a:solidFill>
                  <a:schemeClr val="tx1"/>
                </a:solidFill>
                <a:latin typeface="+mj-lt"/>
              </a:rPr>
              <a:t>∈</a:t>
            </a:r>
            <a:r>
              <a:rPr lang="en-US" i="1" baseline="-25000" dirty="0" err="1">
                <a:solidFill>
                  <a:schemeClr val="tx1"/>
                </a:solidFill>
                <a:latin typeface="+mj-lt"/>
              </a:rPr>
              <a:t>q</a:t>
            </a:r>
            <a:r>
              <a:rPr lang="en-US" baseline="-25000" dirty="0" err="1">
                <a:solidFill>
                  <a:schemeClr val="tx1"/>
                </a:solidFill>
                <a:latin typeface="+mj-lt"/>
              </a:rPr>
              <a:t>∩</a:t>
            </a:r>
            <a:r>
              <a:rPr lang="en-US" i="1" baseline="-25000" dirty="0" err="1">
                <a:solidFill>
                  <a:schemeClr val="tx1"/>
                </a:solidFill>
                <a:latin typeface="+mj-lt"/>
              </a:rPr>
              <a:t>d</a:t>
            </a:r>
            <a:r>
              <a:rPr lang="en-US" i="1" baseline="-25000" dirty="0">
                <a:solidFill>
                  <a:schemeClr val="tx1"/>
                </a:solidFill>
                <a:latin typeface="+mj-lt"/>
              </a:rPr>
              <a:t> </a:t>
            </a:r>
            <a:r>
              <a:rPr lang="en-US" dirty="0">
                <a:solidFill>
                  <a:schemeClr val="tx1"/>
                </a:solidFill>
                <a:latin typeface="+mj-lt"/>
              </a:rPr>
              <a:t>(1 + log </a:t>
            </a:r>
            <a:r>
              <a:rPr lang="en-US" dirty="0" err="1">
                <a:solidFill>
                  <a:schemeClr val="tx1"/>
                </a:solidFill>
                <a:latin typeface="+mj-lt"/>
              </a:rPr>
              <a:t>tf</a:t>
            </a:r>
            <a:r>
              <a:rPr lang="en-US" i="1" baseline="-25000" dirty="0" err="1">
                <a:solidFill>
                  <a:schemeClr val="tx1"/>
                </a:solidFill>
                <a:latin typeface="+mj-lt"/>
              </a:rPr>
              <a:t>t</a:t>
            </a:r>
            <a:r>
              <a:rPr lang="en-US" baseline="-25000" dirty="0" err="1">
                <a:solidFill>
                  <a:schemeClr val="tx1"/>
                </a:solidFill>
                <a:latin typeface="+mj-lt"/>
              </a:rPr>
              <a:t>,</a:t>
            </a:r>
            <a:r>
              <a:rPr lang="en-US" i="1" baseline="-25000" dirty="0" err="1">
                <a:solidFill>
                  <a:schemeClr val="tx1"/>
                </a:solidFill>
                <a:latin typeface="+mj-lt"/>
              </a:rPr>
              <a:t>d</a:t>
            </a:r>
            <a:r>
              <a:rPr lang="en-US" dirty="0">
                <a:solidFill>
                  <a:schemeClr val="tx1"/>
                </a:solidFill>
                <a:latin typeface="+mj-lt"/>
              </a:rPr>
              <a:t> )</a:t>
            </a:r>
          </a:p>
          <a:p>
            <a:pPr lvl="1">
              <a:spcBef>
                <a:spcPts val="700"/>
              </a:spcBef>
              <a:buClr>
                <a:srgbClr val="336699"/>
              </a:buClr>
              <a:buFont typeface="Wingdings" pitchFamily="2" charset="2"/>
              <a:buChar char="§"/>
            </a:pPr>
            <a:r>
              <a:rPr lang="en-US" dirty="0">
                <a:solidFill>
                  <a:schemeClr val="tx1"/>
                </a:solidFill>
                <a:latin typeface="+mj-lt"/>
              </a:rPr>
              <a:t>The score is 0 if none of the query terms is present in the </a:t>
            </a:r>
            <a:r>
              <a:rPr lang="de-DE" dirty="0" err="1">
                <a:solidFill>
                  <a:schemeClr val="tx1"/>
                </a:solidFill>
                <a:latin typeface="+mj-lt"/>
              </a:rPr>
              <a:t>document</a:t>
            </a:r>
            <a:r>
              <a:rPr lang="de-DE" dirty="0">
                <a:solidFill>
                  <a:schemeClr val="tx1"/>
                </a:solidFill>
                <a:latin typeface="+mj-lt"/>
              </a:rPr>
              <a:t>.</a:t>
            </a:r>
          </a:p>
        </p:txBody>
      </p:sp>
      <p:sp>
        <p:nvSpPr>
          <p:cNvPr id="84997" name="Text Box 4"/>
          <p:cNvSpPr txBox="1">
            <a:spLocks noChangeArrowheads="1"/>
          </p:cNvSpPr>
          <p:nvPr/>
        </p:nvSpPr>
        <p:spPr bwMode="auto">
          <a:xfrm>
            <a:off x="7640638" y="-33338"/>
            <a:ext cx="925512" cy="336551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wrap="none" anchor="ctr"/>
          <a:lstStyle/>
          <a:p>
            <a:pPr>
              <a:buClr>
                <a:srgbClr val="000000"/>
              </a:buClr>
              <a:buSzPct val="100000"/>
              <a:buFont typeface="Times New Roman" pitchFamily="16" charset="0"/>
              <a:buNone/>
            </a:pPr>
            <a:endParaRPr lang="de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4BF2C0F-05D6-4882-A325-BE394602789D}" type="slidenum">
              <a:rPr lang="en-US" smtClean="0"/>
              <a:pPr>
                <a:defRPr/>
              </a:pPr>
              <a:t>24</a:t>
            </a:fld>
            <a:endParaRPr lang="en-US"/>
          </a:p>
        </p:txBody>
      </p:sp>
      <p:pic>
        <p:nvPicPr>
          <p:cNvPr id="8" name="Picture 7" descr="62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11779" y="2357430"/>
            <a:ext cx="5189999" cy="900000"/>
          </a:xfrm>
          <a:prstGeom prst="rect">
            <a:avLst/>
          </a:prstGeom>
        </p:spPr>
      </p:pic>
      <p:graphicFrame>
        <p:nvGraphicFramePr>
          <p:cNvPr id="9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28894747"/>
              </p:ext>
            </p:extLst>
          </p:nvPr>
        </p:nvGraphicFramePr>
        <p:xfrm>
          <a:off x="3203848" y="4318293"/>
          <a:ext cx="538200" cy="46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ergelijking" r:id="rId4" imgW="291960" imgH="253800" progId="Equation.3">
                  <p:embed/>
                </p:oleObj>
              </mc:Choice>
              <mc:Fallback>
                <p:oleObj name="Vergelijking" r:id="rId4" imgW="291960" imgH="253800" progId="Equation.3">
                  <p:embed/>
                  <p:pic>
                    <p:nvPicPr>
                      <p:cNvPr id="9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03848" y="4318293"/>
                        <a:ext cx="538200" cy="4680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Text Box 1"/>
          <p:cNvSpPr txBox="1">
            <a:spLocks noChangeArrowheads="1"/>
          </p:cNvSpPr>
          <p:nvPr/>
        </p:nvSpPr>
        <p:spPr bwMode="auto">
          <a:xfrm>
            <a:off x="6553200" y="6477000"/>
            <a:ext cx="2133600" cy="244475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lIns="90000" tIns="46800" rIns="90000" bIns="46800" anchor="ctr"/>
          <a:lstStyle/>
          <a:p>
            <a:pPr algn="r">
              <a:buSzPct val="10000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fld id="{48895EFF-1DBE-4654-84B8-EE5B6E2FA3CA}" type="slidenum">
              <a:rPr lang="en-US" sz="1200">
                <a:solidFill>
                  <a:srgbClr val="898989"/>
                </a:solidFill>
                <a:latin typeface="Calibri" charset="0"/>
              </a:rPr>
              <a:pPr algn="r">
                <a:buSzPct val="10000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</a:pPr>
              <a:t>25</a:t>
            </a:fld>
            <a:endParaRPr lang="en-US" sz="1200">
              <a:solidFill>
                <a:srgbClr val="898989"/>
              </a:solidFill>
              <a:latin typeface="Calibri" charset="0"/>
            </a:endParaRPr>
          </a:p>
        </p:txBody>
      </p:sp>
      <p:sp>
        <p:nvSpPr>
          <p:cNvPr id="84995" name="Text Box 2"/>
          <p:cNvSpPr txBox="1">
            <a:spLocks noChangeArrowheads="1"/>
          </p:cNvSpPr>
          <p:nvPr/>
        </p:nvSpPr>
        <p:spPr bwMode="auto">
          <a:xfrm>
            <a:off x="285720" y="12700"/>
            <a:ext cx="8572560" cy="1403350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anchor="b"/>
          <a:lstStyle/>
          <a:p>
            <a:r>
              <a:rPr lang="de-DE" sz="3600" dirty="0" err="1">
                <a:solidFill>
                  <a:schemeClr val="tx1"/>
                </a:solidFill>
                <a:latin typeface="+mj-lt"/>
              </a:rPr>
              <a:t>Exercise</a:t>
            </a:r>
            <a:endParaRPr lang="de-DE" sz="3600" dirty="0">
              <a:solidFill>
                <a:schemeClr val="tx1"/>
              </a:solidFill>
              <a:latin typeface="+mj-lt"/>
            </a:endParaRPr>
          </a:p>
        </p:txBody>
      </p:sp>
      <p:sp>
        <p:nvSpPr>
          <p:cNvPr id="84996" name="Text Box 3"/>
          <p:cNvSpPr txBox="1">
            <a:spLocks noChangeArrowheads="1"/>
          </p:cNvSpPr>
          <p:nvPr/>
        </p:nvSpPr>
        <p:spPr bwMode="auto">
          <a:xfrm>
            <a:off x="214282" y="1928826"/>
            <a:ext cx="8286808" cy="5429264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/>
          <a:lstStyle/>
          <a:p>
            <a:pPr lvl="1">
              <a:spcBef>
                <a:spcPts val="700"/>
              </a:spcBef>
              <a:buClr>
                <a:srgbClr val="336699"/>
              </a:buClr>
              <a:buFont typeface="Wingdings" pitchFamily="2" charset="2"/>
              <a:buChar char="§"/>
            </a:pPr>
            <a:r>
              <a:rPr lang="en-US" dirty="0">
                <a:latin typeface="+mj-lt"/>
              </a:rPr>
              <a:t>Compute the </a:t>
            </a:r>
            <a:r>
              <a:rPr lang="en-US" dirty="0" err="1">
                <a:latin typeface="+mj-lt"/>
              </a:rPr>
              <a:t>Jaccard</a:t>
            </a:r>
            <a:r>
              <a:rPr lang="en-US" dirty="0">
                <a:latin typeface="+mj-lt"/>
              </a:rPr>
              <a:t> matching score and the </a:t>
            </a:r>
            <a:r>
              <a:rPr lang="en-US" dirty="0" err="1">
                <a:latin typeface="+mj-lt"/>
              </a:rPr>
              <a:t>tf</a:t>
            </a:r>
            <a:r>
              <a:rPr lang="en-US" dirty="0">
                <a:latin typeface="+mj-lt"/>
              </a:rPr>
              <a:t> matching score for the following query-document pairs.</a:t>
            </a:r>
          </a:p>
          <a:p>
            <a:pPr lvl="1">
              <a:spcBef>
                <a:spcPts val="700"/>
              </a:spcBef>
              <a:buClr>
                <a:srgbClr val="336699"/>
              </a:buClr>
              <a:buFont typeface="Wingdings" pitchFamily="2" charset="2"/>
              <a:buChar char="§"/>
            </a:pPr>
            <a:r>
              <a:rPr lang="en-US" dirty="0">
                <a:latin typeface="+mj-lt"/>
              </a:rPr>
              <a:t>q: [information on cars] d: “all you’ve ever wanted to know </a:t>
            </a:r>
            <a:r>
              <a:rPr lang="de-DE" dirty="0" err="1">
                <a:latin typeface="+mj-lt"/>
              </a:rPr>
              <a:t>about</a:t>
            </a:r>
            <a:r>
              <a:rPr lang="de-DE" dirty="0">
                <a:latin typeface="+mj-lt"/>
              </a:rPr>
              <a:t> </a:t>
            </a:r>
            <a:r>
              <a:rPr lang="de-DE" dirty="0" err="1">
                <a:latin typeface="+mj-lt"/>
              </a:rPr>
              <a:t>cars</a:t>
            </a:r>
            <a:r>
              <a:rPr lang="de-DE" dirty="0">
                <a:latin typeface="+mj-lt"/>
              </a:rPr>
              <a:t>”</a:t>
            </a:r>
          </a:p>
          <a:p>
            <a:pPr lvl="1">
              <a:spcBef>
                <a:spcPts val="700"/>
              </a:spcBef>
              <a:buClr>
                <a:srgbClr val="336699"/>
              </a:buClr>
              <a:buFont typeface="Wingdings" pitchFamily="2" charset="2"/>
              <a:buChar char="§"/>
            </a:pPr>
            <a:r>
              <a:rPr lang="de-DE" dirty="0">
                <a:latin typeface="+mj-lt"/>
              </a:rPr>
              <a:t>q: [</a:t>
            </a:r>
            <a:r>
              <a:rPr lang="de-DE" dirty="0" err="1">
                <a:latin typeface="+mj-lt"/>
              </a:rPr>
              <a:t>information</a:t>
            </a:r>
            <a:r>
              <a:rPr lang="de-DE" dirty="0">
                <a:latin typeface="+mj-lt"/>
              </a:rPr>
              <a:t> on </a:t>
            </a:r>
            <a:r>
              <a:rPr lang="de-DE" dirty="0" err="1">
                <a:latin typeface="+mj-lt"/>
              </a:rPr>
              <a:t>cars</a:t>
            </a:r>
            <a:r>
              <a:rPr lang="de-DE" dirty="0">
                <a:latin typeface="+mj-lt"/>
              </a:rPr>
              <a:t>] d: “</a:t>
            </a:r>
            <a:r>
              <a:rPr lang="de-DE" dirty="0" err="1">
                <a:latin typeface="+mj-lt"/>
              </a:rPr>
              <a:t>information</a:t>
            </a:r>
            <a:r>
              <a:rPr lang="de-DE" dirty="0">
                <a:latin typeface="+mj-lt"/>
              </a:rPr>
              <a:t> on </a:t>
            </a:r>
            <a:r>
              <a:rPr lang="de-DE" dirty="0" err="1">
                <a:latin typeface="+mj-lt"/>
              </a:rPr>
              <a:t>trucks</a:t>
            </a:r>
            <a:r>
              <a:rPr lang="de-DE" dirty="0">
                <a:latin typeface="+mj-lt"/>
              </a:rPr>
              <a:t>, </a:t>
            </a:r>
            <a:r>
              <a:rPr lang="fr-FR" dirty="0">
                <a:latin typeface="+mj-lt"/>
              </a:rPr>
              <a:t>information on planes, information on trains”</a:t>
            </a:r>
          </a:p>
          <a:p>
            <a:pPr lvl="1">
              <a:spcBef>
                <a:spcPts val="700"/>
              </a:spcBef>
              <a:buClr>
                <a:srgbClr val="336699"/>
              </a:buClr>
              <a:buFont typeface="Wingdings" pitchFamily="2" charset="2"/>
              <a:buChar char="§"/>
            </a:pPr>
            <a:r>
              <a:rPr lang="en-US" dirty="0">
                <a:latin typeface="+mj-lt"/>
              </a:rPr>
              <a:t>q: [red cars and red trucks] d: “cops stop red cars more </a:t>
            </a:r>
            <a:r>
              <a:rPr lang="de-DE" dirty="0" err="1">
                <a:latin typeface="+mj-lt"/>
              </a:rPr>
              <a:t>often</a:t>
            </a:r>
            <a:r>
              <a:rPr lang="de-DE" dirty="0">
                <a:latin typeface="+mj-lt"/>
              </a:rPr>
              <a:t>”</a:t>
            </a:r>
          </a:p>
        </p:txBody>
      </p:sp>
      <p:sp>
        <p:nvSpPr>
          <p:cNvPr id="84997" name="Text Box 4"/>
          <p:cNvSpPr txBox="1">
            <a:spLocks noChangeArrowheads="1"/>
          </p:cNvSpPr>
          <p:nvPr/>
        </p:nvSpPr>
        <p:spPr bwMode="auto">
          <a:xfrm>
            <a:off x="7640638" y="-33338"/>
            <a:ext cx="925512" cy="336551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wrap="none" anchor="ctr"/>
          <a:lstStyle/>
          <a:p>
            <a:pPr>
              <a:buClr>
                <a:srgbClr val="000000"/>
              </a:buClr>
              <a:buSzPct val="100000"/>
              <a:buFont typeface="Times New Roman" pitchFamily="16" charset="0"/>
              <a:buNone/>
            </a:pPr>
            <a:endParaRPr lang="de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4BF2C0F-05D6-4882-A325-BE394602789D}" type="slidenum">
              <a:rPr lang="en-US" smtClean="0"/>
              <a:pPr>
                <a:defRPr/>
              </a:pPr>
              <a:t>25</a:t>
            </a:fld>
            <a:endParaRPr lang="en-US"/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Text Box 1"/>
          <p:cNvSpPr txBox="1">
            <a:spLocks noChangeArrowheads="1"/>
          </p:cNvSpPr>
          <p:nvPr/>
        </p:nvSpPr>
        <p:spPr bwMode="auto">
          <a:xfrm>
            <a:off x="6553200" y="6477000"/>
            <a:ext cx="2133600" cy="244475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lIns="90000" tIns="46800" rIns="90000" bIns="46800" anchor="ctr"/>
          <a:lstStyle/>
          <a:p>
            <a:pPr algn="r">
              <a:buSzPct val="10000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fld id="{48895EFF-1DBE-4654-84B8-EE5B6E2FA3CA}" type="slidenum">
              <a:rPr lang="en-US" sz="1200">
                <a:solidFill>
                  <a:srgbClr val="898989"/>
                </a:solidFill>
                <a:latin typeface="Calibri" charset="0"/>
              </a:rPr>
              <a:pPr algn="r">
                <a:buSzPct val="10000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</a:pPr>
              <a:t>26</a:t>
            </a:fld>
            <a:endParaRPr lang="en-US" sz="1200">
              <a:solidFill>
                <a:srgbClr val="898989"/>
              </a:solidFill>
              <a:latin typeface="Calibri" charset="0"/>
            </a:endParaRPr>
          </a:p>
        </p:txBody>
      </p:sp>
      <p:sp>
        <p:nvSpPr>
          <p:cNvPr id="84995" name="Text Box 2"/>
          <p:cNvSpPr txBox="1">
            <a:spLocks noChangeArrowheads="1"/>
          </p:cNvSpPr>
          <p:nvPr/>
        </p:nvSpPr>
        <p:spPr bwMode="auto">
          <a:xfrm>
            <a:off x="285720" y="12700"/>
            <a:ext cx="8572560" cy="1403350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anchor="b"/>
          <a:lstStyle/>
          <a:p>
            <a:r>
              <a:rPr lang="en-US" sz="3600" dirty="0">
                <a:solidFill>
                  <a:schemeClr val="tx1"/>
                </a:solidFill>
                <a:latin typeface="+mj-lt"/>
              </a:rPr>
              <a:t>Frequency in document vs. frequency in collection</a:t>
            </a:r>
          </a:p>
        </p:txBody>
      </p:sp>
      <p:sp>
        <p:nvSpPr>
          <p:cNvPr id="84996" name="Text Box 3"/>
          <p:cNvSpPr txBox="1">
            <a:spLocks noChangeArrowheads="1"/>
          </p:cNvSpPr>
          <p:nvPr/>
        </p:nvSpPr>
        <p:spPr bwMode="auto">
          <a:xfrm>
            <a:off x="214282" y="2286016"/>
            <a:ext cx="8286808" cy="5429264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/>
          <a:lstStyle/>
          <a:p>
            <a:pPr lvl="1">
              <a:spcBef>
                <a:spcPts val="700"/>
              </a:spcBef>
              <a:buClr>
                <a:srgbClr val="336699"/>
              </a:buClr>
              <a:buFont typeface="Wingdings" pitchFamily="2" charset="2"/>
              <a:buChar char="§"/>
            </a:pPr>
            <a:r>
              <a:rPr lang="en-US" dirty="0">
                <a:latin typeface="+mj-lt"/>
              </a:rPr>
              <a:t>In addition, to term frequency (the frequency of the term in </a:t>
            </a:r>
            <a:r>
              <a:rPr lang="de-DE" dirty="0" err="1">
                <a:latin typeface="+mj-lt"/>
              </a:rPr>
              <a:t>the</a:t>
            </a:r>
            <a:r>
              <a:rPr lang="de-DE" dirty="0">
                <a:latin typeface="+mj-lt"/>
              </a:rPr>
              <a:t> </a:t>
            </a:r>
            <a:r>
              <a:rPr lang="de-DE" dirty="0" err="1">
                <a:latin typeface="+mj-lt"/>
              </a:rPr>
              <a:t>document</a:t>
            </a:r>
            <a:r>
              <a:rPr lang="de-DE" dirty="0">
                <a:latin typeface="+mj-lt"/>
              </a:rPr>
              <a:t>) . . .</a:t>
            </a:r>
          </a:p>
          <a:p>
            <a:pPr lvl="1">
              <a:spcBef>
                <a:spcPts val="700"/>
              </a:spcBef>
              <a:buClr>
                <a:srgbClr val="336699"/>
              </a:buClr>
              <a:buFont typeface="Wingdings" pitchFamily="2" charset="2"/>
              <a:buChar char="§"/>
            </a:pPr>
            <a:r>
              <a:rPr lang="en-US" dirty="0">
                <a:latin typeface="+mj-lt"/>
              </a:rPr>
              <a:t>. . .we also want to use the frequency of the term in the collection for weighting and ranking.</a:t>
            </a:r>
          </a:p>
        </p:txBody>
      </p:sp>
      <p:sp>
        <p:nvSpPr>
          <p:cNvPr id="84997" name="Text Box 4"/>
          <p:cNvSpPr txBox="1">
            <a:spLocks noChangeArrowheads="1"/>
          </p:cNvSpPr>
          <p:nvPr/>
        </p:nvSpPr>
        <p:spPr bwMode="auto">
          <a:xfrm>
            <a:off x="7640638" y="-33338"/>
            <a:ext cx="925512" cy="336551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wrap="none" anchor="ctr"/>
          <a:lstStyle/>
          <a:p>
            <a:pPr>
              <a:buClr>
                <a:srgbClr val="000000"/>
              </a:buClr>
              <a:buSzPct val="100000"/>
              <a:buFont typeface="Times New Roman" pitchFamily="16" charset="0"/>
              <a:buNone/>
            </a:pPr>
            <a:endParaRPr lang="de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4BF2C0F-05D6-4882-A325-BE394602789D}" type="slidenum">
              <a:rPr lang="en-US" smtClean="0"/>
              <a:pPr>
                <a:defRPr/>
              </a:pPr>
              <a:t>26</a:t>
            </a:fld>
            <a:endParaRPr lang="en-US"/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Text Box 1"/>
          <p:cNvSpPr txBox="1">
            <a:spLocks noChangeArrowheads="1"/>
          </p:cNvSpPr>
          <p:nvPr/>
        </p:nvSpPr>
        <p:spPr bwMode="auto">
          <a:xfrm>
            <a:off x="6553200" y="6477000"/>
            <a:ext cx="2133600" cy="244475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lIns="90000" tIns="46800" rIns="90000" bIns="46800" anchor="ctr"/>
          <a:lstStyle/>
          <a:p>
            <a:pPr algn="r">
              <a:buSzPct val="10000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fld id="{48895EFF-1DBE-4654-84B8-EE5B6E2FA3CA}" type="slidenum">
              <a:rPr lang="en-US" sz="1200">
                <a:solidFill>
                  <a:srgbClr val="898989"/>
                </a:solidFill>
                <a:latin typeface="Calibri" charset="0"/>
              </a:rPr>
              <a:pPr algn="r">
                <a:buSzPct val="10000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</a:pPr>
              <a:t>27</a:t>
            </a:fld>
            <a:endParaRPr lang="en-US" sz="1200">
              <a:solidFill>
                <a:srgbClr val="898989"/>
              </a:solidFill>
              <a:latin typeface="Calibri" charset="0"/>
            </a:endParaRPr>
          </a:p>
        </p:txBody>
      </p:sp>
      <p:sp>
        <p:nvSpPr>
          <p:cNvPr id="84995" name="Text Box 2"/>
          <p:cNvSpPr txBox="1">
            <a:spLocks noChangeArrowheads="1"/>
          </p:cNvSpPr>
          <p:nvPr/>
        </p:nvSpPr>
        <p:spPr bwMode="auto">
          <a:xfrm>
            <a:off x="285720" y="12700"/>
            <a:ext cx="8572560" cy="1403350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anchor="b"/>
          <a:lstStyle/>
          <a:p>
            <a:r>
              <a:rPr lang="en-US" sz="3600" dirty="0">
                <a:solidFill>
                  <a:schemeClr val="tx1"/>
                </a:solidFill>
                <a:latin typeface="+mj-lt"/>
              </a:rPr>
              <a:t>Desired weight for rare terms</a:t>
            </a:r>
          </a:p>
        </p:txBody>
      </p:sp>
      <p:sp>
        <p:nvSpPr>
          <p:cNvPr id="84996" name="Text Box 3"/>
          <p:cNvSpPr txBox="1">
            <a:spLocks noChangeArrowheads="1"/>
          </p:cNvSpPr>
          <p:nvPr/>
        </p:nvSpPr>
        <p:spPr bwMode="auto">
          <a:xfrm>
            <a:off x="214282" y="2286016"/>
            <a:ext cx="8286808" cy="5429264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/>
          <a:lstStyle/>
          <a:p>
            <a:pPr lvl="1">
              <a:spcBef>
                <a:spcPts val="700"/>
              </a:spcBef>
              <a:buClr>
                <a:srgbClr val="336699"/>
              </a:buClr>
              <a:buFont typeface="Wingdings" pitchFamily="2" charset="2"/>
              <a:buChar char="§"/>
            </a:pPr>
            <a:r>
              <a:rPr lang="en-US" dirty="0">
                <a:latin typeface="+mj-lt"/>
              </a:rPr>
              <a:t>Rare terms are more informative than frequent terms.</a:t>
            </a:r>
          </a:p>
          <a:p>
            <a:pPr lvl="1">
              <a:spcBef>
                <a:spcPts val="700"/>
              </a:spcBef>
              <a:buClr>
                <a:srgbClr val="336699"/>
              </a:buClr>
              <a:buFont typeface="Wingdings" pitchFamily="2" charset="2"/>
              <a:buChar char="§"/>
            </a:pPr>
            <a:r>
              <a:rPr lang="en-US" dirty="0">
                <a:latin typeface="+mj-lt"/>
              </a:rPr>
              <a:t>Consider a term in the query that is rare in the collection </a:t>
            </a:r>
            <a:r>
              <a:rPr lang="de-DE" dirty="0">
                <a:latin typeface="+mj-lt"/>
              </a:rPr>
              <a:t>(e.g., </a:t>
            </a:r>
            <a:r>
              <a:rPr lang="de-DE" sz="2200" dirty="0">
                <a:latin typeface="+mj-lt"/>
              </a:rPr>
              <a:t>ARACHNOCENTRIC</a:t>
            </a:r>
            <a:r>
              <a:rPr lang="de-DE" dirty="0">
                <a:latin typeface="+mj-lt"/>
              </a:rPr>
              <a:t>).</a:t>
            </a:r>
          </a:p>
          <a:p>
            <a:pPr lvl="1">
              <a:spcBef>
                <a:spcPts val="700"/>
              </a:spcBef>
              <a:buClr>
                <a:srgbClr val="336699"/>
              </a:buClr>
              <a:buFont typeface="Wingdings" pitchFamily="2" charset="2"/>
              <a:buChar char="§"/>
            </a:pPr>
            <a:r>
              <a:rPr lang="en-US" dirty="0">
                <a:latin typeface="+mj-lt"/>
              </a:rPr>
              <a:t>A document containing this term is very likely to be relevant.</a:t>
            </a:r>
          </a:p>
          <a:p>
            <a:pPr lvl="1">
              <a:spcBef>
                <a:spcPts val="700"/>
              </a:spcBef>
              <a:buClr>
                <a:srgbClr val="336699"/>
              </a:buClr>
              <a:buFont typeface="Wingdings" pitchFamily="2" charset="2"/>
              <a:buChar char="§"/>
            </a:pPr>
            <a:r>
              <a:rPr lang="en-US" dirty="0">
                <a:latin typeface="+mj-lt"/>
              </a:rPr>
              <a:t>→ We want high weights for rare terms like</a:t>
            </a:r>
            <a:r>
              <a:rPr lang="en-US" sz="2200" dirty="0">
                <a:latin typeface="+mj-lt"/>
              </a:rPr>
              <a:t> </a:t>
            </a:r>
            <a:r>
              <a:rPr lang="de-DE" sz="2200" dirty="0">
                <a:latin typeface="+mj-lt"/>
              </a:rPr>
              <a:t>ARACHNOCENTRIC</a:t>
            </a:r>
            <a:r>
              <a:rPr lang="de-DE" dirty="0">
                <a:latin typeface="+mj-lt"/>
              </a:rPr>
              <a:t>.</a:t>
            </a:r>
          </a:p>
          <a:p>
            <a:pPr lvl="1">
              <a:spcBef>
                <a:spcPts val="700"/>
              </a:spcBef>
              <a:buClr>
                <a:srgbClr val="336699"/>
              </a:buClr>
              <a:buFont typeface="Wingdings" pitchFamily="2" charset="2"/>
              <a:buChar char="§"/>
            </a:pPr>
            <a:endParaRPr lang="en-US" dirty="0">
              <a:latin typeface="+mj-lt"/>
            </a:endParaRPr>
          </a:p>
        </p:txBody>
      </p:sp>
      <p:sp>
        <p:nvSpPr>
          <p:cNvPr id="84997" name="Text Box 4"/>
          <p:cNvSpPr txBox="1">
            <a:spLocks noChangeArrowheads="1"/>
          </p:cNvSpPr>
          <p:nvPr/>
        </p:nvSpPr>
        <p:spPr bwMode="auto">
          <a:xfrm>
            <a:off x="7640638" y="-33338"/>
            <a:ext cx="925512" cy="336551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wrap="none" anchor="ctr"/>
          <a:lstStyle/>
          <a:p>
            <a:pPr>
              <a:buClr>
                <a:srgbClr val="000000"/>
              </a:buClr>
              <a:buSzPct val="100000"/>
              <a:buFont typeface="Times New Roman" pitchFamily="16" charset="0"/>
              <a:buNone/>
            </a:pPr>
            <a:endParaRPr lang="de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4BF2C0F-05D6-4882-A325-BE394602789D}" type="slidenum">
              <a:rPr lang="en-US" smtClean="0"/>
              <a:pPr>
                <a:defRPr/>
              </a:pPr>
              <a:t>27</a:t>
            </a:fld>
            <a:endParaRPr lang="en-US"/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Text Box 1"/>
          <p:cNvSpPr txBox="1">
            <a:spLocks noChangeArrowheads="1"/>
          </p:cNvSpPr>
          <p:nvPr/>
        </p:nvSpPr>
        <p:spPr bwMode="auto">
          <a:xfrm>
            <a:off x="6553200" y="6477000"/>
            <a:ext cx="2133600" cy="244475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lIns="90000" tIns="46800" rIns="90000" bIns="46800" anchor="ctr"/>
          <a:lstStyle/>
          <a:p>
            <a:pPr algn="r">
              <a:buSzPct val="10000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fld id="{48895EFF-1DBE-4654-84B8-EE5B6E2FA3CA}" type="slidenum">
              <a:rPr lang="en-US" sz="1200">
                <a:solidFill>
                  <a:srgbClr val="898989"/>
                </a:solidFill>
                <a:latin typeface="Calibri" charset="0"/>
              </a:rPr>
              <a:pPr algn="r">
                <a:buSzPct val="10000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</a:pPr>
              <a:t>28</a:t>
            </a:fld>
            <a:endParaRPr lang="en-US" sz="1200">
              <a:solidFill>
                <a:srgbClr val="898989"/>
              </a:solidFill>
              <a:latin typeface="Calibri" charset="0"/>
            </a:endParaRPr>
          </a:p>
        </p:txBody>
      </p:sp>
      <p:sp>
        <p:nvSpPr>
          <p:cNvPr id="84995" name="Text Box 2"/>
          <p:cNvSpPr txBox="1">
            <a:spLocks noChangeArrowheads="1"/>
          </p:cNvSpPr>
          <p:nvPr/>
        </p:nvSpPr>
        <p:spPr bwMode="auto">
          <a:xfrm>
            <a:off x="285720" y="12700"/>
            <a:ext cx="8572560" cy="1403350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anchor="b"/>
          <a:lstStyle/>
          <a:p>
            <a:r>
              <a:rPr lang="en-US" sz="3600" dirty="0">
                <a:solidFill>
                  <a:schemeClr val="tx1"/>
                </a:solidFill>
                <a:latin typeface="+mj-lt"/>
              </a:rPr>
              <a:t>Desired weight for frequent terms</a:t>
            </a:r>
          </a:p>
        </p:txBody>
      </p:sp>
      <p:sp>
        <p:nvSpPr>
          <p:cNvPr id="84996" name="Text Box 3"/>
          <p:cNvSpPr txBox="1">
            <a:spLocks noChangeArrowheads="1"/>
          </p:cNvSpPr>
          <p:nvPr/>
        </p:nvSpPr>
        <p:spPr bwMode="auto">
          <a:xfrm>
            <a:off x="214282" y="1785926"/>
            <a:ext cx="8286808" cy="5429264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/>
          <a:lstStyle/>
          <a:p>
            <a:pPr lvl="1">
              <a:spcBef>
                <a:spcPts val="700"/>
              </a:spcBef>
              <a:buClr>
                <a:srgbClr val="336699"/>
              </a:buClr>
              <a:buFont typeface="Wingdings" pitchFamily="2" charset="2"/>
              <a:buChar char="§"/>
            </a:pPr>
            <a:r>
              <a:rPr lang="en-US" dirty="0">
                <a:latin typeface="+mj-lt"/>
              </a:rPr>
              <a:t>Frequent terms are less informative than rare terms.</a:t>
            </a:r>
          </a:p>
          <a:p>
            <a:pPr lvl="1">
              <a:spcBef>
                <a:spcPts val="700"/>
              </a:spcBef>
              <a:buClr>
                <a:srgbClr val="336699"/>
              </a:buClr>
              <a:buFont typeface="Wingdings" pitchFamily="2" charset="2"/>
              <a:buChar char="§"/>
            </a:pPr>
            <a:r>
              <a:rPr lang="en-US" dirty="0">
                <a:latin typeface="+mj-lt"/>
              </a:rPr>
              <a:t>Consider a term in the query that is frequent in the collection </a:t>
            </a:r>
            <a:r>
              <a:rPr lang="de-DE" dirty="0">
                <a:latin typeface="+mj-lt"/>
              </a:rPr>
              <a:t>(e.g., </a:t>
            </a:r>
            <a:r>
              <a:rPr lang="en-US" sz="2200" dirty="0">
                <a:latin typeface="+mj-lt"/>
              </a:rPr>
              <a:t>GOOD, INCREASE, LINE</a:t>
            </a:r>
            <a:r>
              <a:rPr lang="de-DE" dirty="0">
                <a:latin typeface="+mj-lt"/>
              </a:rPr>
              <a:t>).</a:t>
            </a:r>
          </a:p>
          <a:p>
            <a:pPr lvl="1">
              <a:spcBef>
                <a:spcPts val="700"/>
              </a:spcBef>
              <a:buClr>
                <a:srgbClr val="336699"/>
              </a:buClr>
              <a:buFont typeface="Wingdings" pitchFamily="2" charset="2"/>
              <a:buChar char="§"/>
            </a:pPr>
            <a:r>
              <a:rPr lang="en-US" dirty="0">
                <a:latin typeface="+mj-lt"/>
              </a:rPr>
              <a:t>A document containing this term is more likely to be relevant than a document that doesn’t . . .</a:t>
            </a:r>
          </a:p>
          <a:p>
            <a:pPr lvl="1">
              <a:spcBef>
                <a:spcPts val="700"/>
              </a:spcBef>
              <a:buClr>
                <a:srgbClr val="336699"/>
              </a:buClr>
              <a:buFont typeface="Wingdings" pitchFamily="2" charset="2"/>
              <a:buChar char="§"/>
            </a:pPr>
            <a:r>
              <a:rPr lang="en-US" dirty="0">
                <a:latin typeface="+mj-lt"/>
              </a:rPr>
              <a:t>. . . but words like </a:t>
            </a:r>
            <a:r>
              <a:rPr lang="en-US" sz="2200" dirty="0">
                <a:latin typeface="+mj-lt"/>
              </a:rPr>
              <a:t>GOOD, INCREASE </a:t>
            </a:r>
            <a:r>
              <a:rPr lang="en-US" dirty="0">
                <a:latin typeface="+mj-lt"/>
              </a:rPr>
              <a:t>and </a:t>
            </a:r>
            <a:r>
              <a:rPr lang="en-US" sz="2200" dirty="0">
                <a:latin typeface="+mj-lt"/>
              </a:rPr>
              <a:t>LINE</a:t>
            </a:r>
            <a:r>
              <a:rPr lang="en-US" dirty="0">
                <a:latin typeface="+mj-lt"/>
              </a:rPr>
              <a:t> are not sure </a:t>
            </a:r>
            <a:r>
              <a:rPr lang="de-DE" dirty="0" err="1">
                <a:latin typeface="+mj-lt"/>
              </a:rPr>
              <a:t>indicators</a:t>
            </a:r>
            <a:r>
              <a:rPr lang="de-DE" dirty="0">
                <a:latin typeface="+mj-lt"/>
              </a:rPr>
              <a:t> </a:t>
            </a:r>
            <a:r>
              <a:rPr lang="de-DE" dirty="0" err="1">
                <a:latin typeface="+mj-lt"/>
              </a:rPr>
              <a:t>of</a:t>
            </a:r>
            <a:r>
              <a:rPr lang="de-DE" dirty="0">
                <a:latin typeface="+mj-lt"/>
              </a:rPr>
              <a:t> </a:t>
            </a:r>
            <a:r>
              <a:rPr lang="de-DE" dirty="0" err="1">
                <a:latin typeface="+mj-lt"/>
              </a:rPr>
              <a:t>relevance</a:t>
            </a:r>
            <a:r>
              <a:rPr lang="de-DE" dirty="0">
                <a:latin typeface="+mj-lt"/>
              </a:rPr>
              <a:t>.</a:t>
            </a:r>
          </a:p>
          <a:p>
            <a:pPr lvl="1">
              <a:spcBef>
                <a:spcPts val="700"/>
              </a:spcBef>
              <a:buClr>
                <a:srgbClr val="336699"/>
              </a:buClr>
              <a:buFont typeface="Wingdings" pitchFamily="2" charset="2"/>
              <a:buChar char="§"/>
            </a:pPr>
            <a:r>
              <a:rPr lang="en-US" dirty="0">
                <a:latin typeface="+mj-lt"/>
              </a:rPr>
              <a:t>→ For frequent terms like </a:t>
            </a:r>
            <a:r>
              <a:rPr lang="en-US" sz="2200" dirty="0">
                <a:latin typeface="+mj-lt"/>
              </a:rPr>
              <a:t>GOOD, INCREASE </a:t>
            </a:r>
            <a:r>
              <a:rPr lang="en-US" dirty="0">
                <a:latin typeface="+mj-lt"/>
              </a:rPr>
              <a:t>and </a:t>
            </a:r>
            <a:r>
              <a:rPr lang="en-US" sz="2200" dirty="0">
                <a:latin typeface="+mj-lt"/>
              </a:rPr>
              <a:t>LINE</a:t>
            </a:r>
            <a:r>
              <a:rPr lang="en-US" dirty="0">
                <a:latin typeface="+mj-lt"/>
              </a:rPr>
              <a:t>, we </a:t>
            </a:r>
            <a:r>
              <a:rPr lang="de-DE" dirty="0" err="1">
                <a:latin typeface="+mj-lt"/>
              </a:rPr>
              <a:t>want</a:t>
            </a:r>
            <a:r>
              <a:rPr lang="de-DE" dirty="0">
                <a:latin typeface="+mj-lt"/>
              </a:rPr>
              <a:t> positive </a:t>
            </a:r>
            <a:r>
              <a:rPr lang="de-DE" dirty="0" err="1">
                <a:latin typeface="+mj-lt"/>
              </a:rPr>
              <a:t>weights</a:t>
            </a:r>
            <a:r>
              <a:rPr lang="de-DE" dirty="0">
                <a:latin typeface="+mj-lt"/>
              </a:rPr>
              <a:t> . . .</a:t>
            </a:r>
          </a:p>
          <a:p>
            <a:pPr lvl="1">
              <a:spcBef>
                <a:spcPts val="700"/>
              </a:spcBef>
              <a:buClr>
                <a:srgbClr val="336699"/>
              </a:buClr>
              <a:buFont typeface="Wingdings" pitchFamily="2" charset="2"/>
              <a:buChar char="§"/>
            </a:pPr>
            <a:r>
              <a:rPr lang="en-US" dirty="0">
                <a:latin typeface="+mj-lt"/>
              </a:rPr>
              <a:t>. . . but lower weights than for rare terms.</a:t>
            </a:r>
          </a:p>
          <a:p>
            <a:pPr lvl="1">
              <a:spcBef>
                <a:spcPts val="700"/>
              </a:spcBef>
              <a:buClr>
                <a:srgbClr val="336699"/>
              </a:buClr>
              <a:buFont typeface="Wingdings" pitchFamily="2" charset="2"/>
              <a:buChar char="§"/>
            </a:pPr>
            <a:endParaRPr lang="en-US" dirty="0">
              <a:latin typeface="+mj-lt"/>
            </a:endParaRPr>
          </a:p>
        </p:txBody>
      </p:sp>
      <p:sp>
        <p:nvSpPr>
          <p:cNvPr id="84997" name="Text Box 4"/>
          <p:cNvSpPr txBox="1">
            <a:spLocks noChangeArrowheads="1"/>
          </p:cNvSpPr>
          <p:nvPr/>
        </p:nvSpPr>
        <p:spPr bwMode="auto">
          <a:xfrm>
            <a:off x="7640638" y="-33338"/>
            <a:ext cx="925512" cy="336551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wrap="none" anchor="ctr"/>
          <a:lstStyle/>
          <a:p>
            <a:pPr>
              <a:buClr>
                <a:srgbClr val="000000"/>
              </a:buClr>
              <a:buSzPct val="100000"/>
              <a:buFont typeface="Times New Roman" pitchFamily="16" charset="0"/>
              <a:buNone/>
            </a:pPr>
            <a:endParaRPr lang="de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4BF2C0F-05D6-4882-A325-BE394602789D}" type="slidenum">
              <a:rPr lang="en-US" smtClean="0"/>
              <a:pPr>
                <a:defRPr/>
              </a:pPr>
              <a:t>28</a:t>
            </a:fld>
            <a:endParaRPr lang="en-US"/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Text Box 1"/>
          <p:cNvSpPr txBox="1">
            <a:spLocks noChangeArrowheads="1"/>
          </p:cNvSpPr>
          <p:nvPr/>
        </p:nvSpPr>
        <p:spPr bwMode="auto">
          <a:xfrm>
            <a:off x="6553200" y="6477000"/>
            <a:ext cx="2133600" cy="244475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lIns="90000" tIns="46800" rIns="90000" bIns="46800" anchor="ctr"/>
          <a:lstStyle/>
          <a:p>
            <a:pPr algn="r">
              <a:buSzPct val="10000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fld id="{48895EFF-1DBE-4654-84B8-EE5B6E2FA3CA}" type="slidenum">
              <a:rPr lang="en-US" sz="1200">
                <a:solidFill>
                  <a:srgbClr val="898989"/>
                </a:solidFill>
                <a:latin typeface="Calibri" charset="0"/>
              </a:rPr>
              <a:pPr algn="r">
                <a:buSzPct val="10000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</a:pPr>
              <a:t>29</a:t>
            </a:fld>
            <a:endParaRPr lang="en-US" sz="1200">
              <a:solidFill>
                <a:srgbClr val="898989"/>
              </a:solidFill>
              <a:latin typeface="Calibri" charset="0"/>
            </a:endParaRPr>
          </a:p>
        </p:txBody>
      </p:sp>
      <p:sp>
        <p:nvSpPr>
          <p:cNvPr id="84995" name="Text Box 2"/>
          <p:cNvSpPr txBox="1">
            <a:spLocks noChangeArrowheads="1"/>
          </p:cNvSpPr>
          <p:nvPr/>
        </p:nvSpPr>
        <p:spPr bwMode="auto">
          <a:xfrm>
            <a:off x="285720" y="12700"/>
            <a:ext cx="8572560" cy="1403350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anchor="b"/>
          <a:lstStyle/>
          <a:p>
            <a:r>
              <a:rPr lang="de-DE" sz="3600" dirty="0" err="1">
                <a:solidFill>
                  <a:schemeClr val="tx1"/>
                </a:solidFill>
                <a:latin typeface="+mj-lt"/>
              </a:rPr>
              <a:t>Document</a:t>
            </a:r>
            <a:r>
              <a:rPr lang="de-DE" sz="3600" dirty="0">
                <a:solidFill>
                  <a:schemeClr val="tx1"/>
                </a:solidFill>
                <a:latin typeface="+mj-lt"/>
              </a:rPr>
              <a:t> </a:t>
            </a:r>
            <a:r>
              <a:rPr lang="de-DE" sz="3600" dirty="0" err="1">
                <a:solidFill>
                  <a:schemeClr val="tx1"/>
                </a:solidFill>
                <a:latin typeface="+mj-lt"/>
              </a:rPr>
              <a:t>frequency</a:t>
            </a:r>
            <a:endParaRPr lang="de-DE" sz="3600" dirty="0">
              <a:solidFill>
                <a:schemeClr val="tx1"/>
              </a:solidFill>
              <a:latin typeface="+mj-lt"/>
            </a:endParaRPr>
          </a:p>
        </p:txBody>
      </p:sp>
      <p:sp>
        <p:nvSpPr>
          <p:cNvPr id="84996" name="Text Box 3"/>
          <p:cNvSpPr txBox="1">
            <a:spLocks noChangeArrowheads="1"/>
          </p:cNvSpPr>
          <p:nvPr/>
        </p:nvSpPr>
        <p:spPr bwMode="auto">
          <a:xfrm>
            <a:off x="214282" y="1857388"/>
            <a:ext cx="8286808" cy="5429264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/>
          <a:lstStyle/>
          <a:p>
            <a:pPr lvl="1">
              <a:spcBef>
                <a:spcPts val="700"/>
              </a:spcBef>
              <a:buClr>
                <a:srgbClr val="336699"/>
              </a:buClr>
              <a:buFont typeface="Wingdings" pitchFamily="2" charset="2"/>
              <a:buChar char="§"/>
            </a:pPr>
            <a:r>
              <a:rPr lang="en-US" dirty="0">
                <a:latin typeface="+mj-lt"/>
              </a:rPr>
              <a:t>We want high weights for rare terms like </a:t>
            </a:r>
            <a:r>
              <a:rPr lang="en-US" sz="2200" dirty="0">
                <a:latin typeface="+mj-lt"/>
              </a:rPr>
              <a:t>ARACHNOCENTRIC</a:t>
            </a:r>
            <a:r>
              <a:rPr lang="en-US" dirty="0">
                <a:latin typeface="+mj-lt"/>
              </a:rPr>
              <a:t>.</a:t>
            </a:r>
          </a:p>
          <a:p>
            <a:pPr lvl="1">
              <a:spcBef>
                <a:spcPts val="700"/>
              </a:spcBef>
              <a:buClr>
                <a:srgbClr val="336699"/>
              </a:buClr>
              <a:buFont typeface="Wingdings" pitchFamily="2" charset="2"/>
              <a:buChar char="§"/>
            </a:pPr>
            <a:r>
              <a:rPr lang="en-US" dirty="0">
                <a:latin typeface="+mj-lt"/>
              </a:rPr>
              <a:t>We want low (positive) weights for frequent words like </a:t>
            </a:r>
            <a:r>
              <a:rPr lang="en-US" sz="2200" dirty="0">
                <a:latin typeface="+mj-lt"/>
              </a:rPr>
              <a:t>GOOD, INCREASE </a:t>
            </a:r>
            <a:r>
              <a:rPr lang="en-US" dirty="0">
                <a:latin typeface="+mj-lt"/>
              </a:rPr>
              <a:t>and</a:t>
            </a:r>
            <a:r>
              <a:rPr lang="en-US" sz="2800" dirty="0">
                <a:latin typeface="+mj-lt"/>
              </a:rPr>
              <a:t> </a:t>
            </a:r>
            <a:r>
              <a:rPr lang="en-US" sz="2200" dirty="0">
                <a:latin typeface="+mj-lt"/>
              </a:rPr>
              <a:t>LINE</a:t>
            </a:r>
            <a:r>
              <a:rPr lang="de-DE" dirty="0">
                <a:latin typeface="+mj-lt"/>
              </a:rPr>
              <a:t>.</a:t>
            </a:r>
          </a:p>
          <a:p>
            <a:pPr lvl="1">
              <a:spcBef>
                <a:spcPts val="700"/>
              </a:spcBef>
              <a:buClr>
                <a:srgbClr val="336699"/>
              </a:buClr>
              <a:buFont typeface="Wingdings" pitchFamily="2" charset="2"/>
              <a:buChar char="§"/>
            </a:pPr>
            <a:r>
              <a:rPr lang="en-US" dirty="0">
                <a:latin typeface="+mj-lt"/>
              </a:rPr>
              <a:t>We will use document frequency to factor this into computing </a:t>
            </a:r>
            <a:r>
              <a:rPr lang="de-DE" dirty="0" err="1">
                <a:latin typeface="+mj-lt"/>
              </a:rPr>
              <a:t>the</a:t>
            </a:r>
            <a:r>
              <a:rPr lang="de-DE" dirty="0">
                <a:latin typeface="+mj-lt"/>
              </a:rPr>
              <a:t> </a:t>
            </a:r>
            <a:r>
              <a:rPr lang="de-DE" dirty="0" err="1">
                <a:latin typeface="+mj-lt"/>
              </a:rPr>
              <a:t>matching</a:t>
            </a:r>
            <a:r>
              <a:rPr lang="de-DE" dirty="0">
                <a:latin typeface="+mj-lt"/>
              </a:rPr>
              <a:t> score.</a:t>
            </a:r>
          </a:p>
          <a:p>
            <a:pPr lvl="1">
              <a:spcBef>
                <a:spcPts val="700"/>
              </a:spcBef>
              <a:buClr>
                <a:srgbClr val="336699"/>
              </a:buClr>
              <a:buFont typeface="Wingdings" pitchFamily="2" charset="2"/>
              <a:buChar char="§"/>
            </a:pPr>
            <a:r>
              <a:rPr lang="en-US" dirty="0">
                <a:latin typeface="+mj-lt"/>
              </a:rPr>
              <a:t>The document frequency is the number of documents in the collection that the term occurs in.</a:t>
            </a:r>
          </a:p>
        </p:txBody>
      </p:sp>
      <p:sp>
        <p:nvSpPr>
          <p:cNvPr id="84997" name="Text Box 4"/>
          <p:cNvSpPr txBox="1">
            <a:spLocks noChangeArrowheads="1"/>
          </p:cNvSpPr>
          <p:nvPr/>
        </p:nvSpPr>
        <p:spPr bwMode="auto">
          <a:xfrm>
            <a:off x="7640638" y="-33338"/>
            <a:ext cx="925512" cy="336551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wrap="none" anchor="ctr"/>
          <a:lstStyle/>
          <a:p>
            <a:pPr>
              <a:buClr>
                <a:srgbClr val="000000"/>
              </a:buClr>
              <a:buSzPct val="100000"/>
              <a:buFont typeface="Times New Roman" pitchFamily="16" charset="0"/>
              <a:buNone/>
            </a:pPr>
            <a:endParaRPr lang="de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4BF2C0F-05D6-4882-A325-BE394602789D}" type="slidenum">
              <a:rPr lang="en-US" smtClean="0"/>
              <a:pPr>
                <a:defRPr/>
              </a:pPr>
              <a:t>29</a:t>
            </a:fld>
            <a:endParaRPr lang="en-US"/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Text Box 1"/>
          <p:cNvSpPr txBox="1">
            <a:spLocks noChangeArrowheads="1"/>
          </p:cNvSpPr>
          <p:nvPr/>
        </p:nvSpPr>
        <p:spPr bwMode="auto">
          <a:xfrm>
            <a:off x="6553200" y="6477000"/>
            <a:ext cx="2133600" cy="244475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lIns="90000" tIns="46800" rIns="90000" bIns="46800" anchor="ctr"/>
          <a:lstStyle/>
          <a:p>
            <a:pPr algn="r">
              <a:buSzPct val="10000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fld id="{48895EFF-1DBE-4654-84B8-EE5B6E2FA3CA}" type="slidenum">
              <a:rPr lang="en-US" sz="1200">
                <a:solidFill>
                  <a:srgbClr val="898989"/>
                </a:solidFill>
                <a:latin typeface="Calibri" charset="0"/>
              </a:rPr>
              <a:pPr algn="r">
                <a:buSzPct val="10000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</a:pPr>
              <a:t>30</a:t>
            </a:fld>
            <a:endParaRPr lang="en-US" sz="1200">
              <a:solidFill>
                <a:srgbClr val="898989"/>
              </a:solidFill>
              <a:latin typeface="Calibri" charset="0"/>
            </a:endParaRPr>
          </a:p>
        </p:txBody>
      </p:sp>
      <p:sp>
        <p:nvSpPr>
          <p:cNvPr id="84995" name="Text Box 2"/>
          <p:cNvSpPr txBox="1">
            <a:spLocks noChangeArrowheads="1"/>
          </p:cNvSpPr>
          <p:nvPr/>
        </p:nvSpPr>
        <p:spPr bwMode="auto">
          <a:xfrm>
            <a:off x="285720" y="12700"/>
            <a:ext cx="8572560" cy="1403350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anchor="b"/>
          <a:lstStyle/>
          <a:p>
            <a:r>
              <a:rPr lang="de-DE" sz="3600" dirty="0" err="1">
                <a:solidFill>
                  <a:schemeClr val="tx1"/>
                </a:solidFill>
                <a:latin typeface="+mj-lt"/>
              </a:rPr>
              <a:t>idf</a:t>
            </a:r>
            <a:r>
              <a:rPr lang="de-DE" sz="3600" dirty="0">
                <a:solidFill>
                  <a:schemeClr val="tx1"/>
                </a:solidFill>
                <a:latin typeface="+mj-lt"/>
              </a:rPr>
              <a:t> </a:t>
            </a:r>
            <a:r>
              <a:rPr lang="de-DE" sz="3600" dirty="0" err="1">
                <a:solidFill>
                  <a:schemeClr val="tx1"/>
                </a:solidFill>
                <a:latin typeface="+mj-lt"/>
              </a:rPr>
              <a:t>weight</a:t>
            </a:r>
            <a:endParaRPr lang="de-DE" sz="3600" dirty="0">
              <a:solidFill>
                <a:schemeClr val="tx1"/>
              </a:solidFill>
              <a:latin typeface="+mj-lt"/>
            </a:endParaRPr>
          </a:p>
        </p:txBody>
      </p:sp>
      <p:sp>
        <p:nvSpPr>
          <p:cNvPr id="84996" name="Text Box 3"/>
          <p:cNvSpPr txBox="1">
            <a:spLocks noChangeArrowheads="1"/>
          </p:cNvSpPr>
          <p:nvPr/>
        </p:nvSpPr>
        <p:spPr bwMode="auto">
          <a:xfrm>
            <a:off x="214282" y="1571612"/>
            <a:ext cx="8286808" cy="5429264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/>
          <a:lstStyle/>
          <a:p>
            <a:pPr lvl="1">
              <a:spcBef>
                <a:spcPts val="700"/>
              </a:spcBef>
              <a:buClr>
                <a:srgbClr val="336699"/>
              </a:buClr>
              <a:buFont typeface="Wingdings" pitchFamily="2" charset="2"/>
              <a:buChar char="§"/>
            </a:pPr>
            <a:r>
              <a:rPr lang="en-US" dirty="0" err="1">
                <a:latin typeface="+mj-lt"/>
              </a:rPr>
              <a:t>df</a:t>
            </a:r>
            <a:r>
              <a:rPr lang="en-US" i="1" baseline="-25000" dirty="0" err="1">
                <a:latin typeface="+mj-lt"/>
              </a:rPr>
              <a:t>t</a:t>
            </a:r>
            <a:r>
              <a:rPr lang="en-US" dirty="0">
                <a:latin typeface="+mj-lt"/>
              </a:rPr>
              <a:t> is the document frequency, the number of documents that</a:t>
            </a:r>
            <a:r>
              <a:rPr lang="en-US" i="1" dirty="0">
                <a:latin typeface="+mj-lt"/>
              </a:rPr>
              <a:t> </a:t>
            </a:r>
            <a:r>
              <a:rPr lang="de-DE" i="1" dirty="0">
                <a:latin typeface="+mj-lt"/>
              </a:rPr>
              <a:t>t </a:t>
            </a:r>
            <a:r>
              <a:rPr lang="de-DE" dirty="0" err="1">
                <a:latin typeface="+mj-lt"/>
              </a:rPr>
              <a:t>occurs</a:t>
            </a:r>
            <a:r>
              <a:rPr lang="de-DE" dirty="0">
                <a:latin typeface="+mj-lt"/>
              </a:rPr>
              <a:t> in.</a:t>
            </a:r>
          </a:p>
          <a:p>
            <a:pPr lvl="1">
              <a:spcBef>
                <a:spcPts val="700"/>
              </a:spcBef>
              <a:buClr>
                <a:srgbClr val="336699"/>
              </a:buClr>
              <a:buFont typeface="Wingdings" pitchFamily="2" charset="2"/>
              <a:buChar char="§"/>
            </a:pPr>
            <a:r>
              <a:rPr lang="en-US" dirty="0" err="1">
                <a:latin typeface="+mj-lt"/>
              </a:rPr>
              <a:t>df</a:t>
            </a:r>
            <a:r>
              <a:rPr lang="en-US" i="1" baseline="-25000" dirty="0" err="1">
                <a:latin typeface="+mj-lt"/>
              </a:rPr>
              <a:t>t</a:t>
            </a:r>
            <a:r>
              <a:rPr lang="en-US" dirty="0">
                <a:latin typeface="+mj-lt"/>
              </a:rPr>
              <a:t> is an inverse measure of the </a:t>
            </a:r>
            <a:r>
              <a:rPr lang="en-US" dirty="0" err="1">
                <a:latin typeface="+mj-lt"/>
              </a:rPr>
              <a:t>informativeness</a:t>
            </a:r>
            <a:r>
              <a:rPr lang="en-US" dirty="0">
                <a:latin typeface="+mj-lt"/>
              </a:rPr>
              <a:t> of term </a:t>
            </a:r>
            <a:r>
              <a:rPr lang="en-US" i="1" dirty="0">
                <a:latin typeface="+mj-lt"/>
              </a:rPr>
              <a:t>t</a:t>
            </a:r>
            <a:r>
              <a:rPr lang="en-US" dirty="0">
                <a:latin typeface="+mj-lt"/>
              </a:rPr>
              <a:t>.</a:t>
            </a:r>
          </a:p>
          <a:p>
            <a:pPr lvl="1">
              <a:spcBef>
                <a:spcPts val="700"/>
              </a:spcBef>
              <a:buClr>
                <a:srgbClr val="336699"/>
              </a:buClr>
              <a:buFont typeface="Wingdings" pitchFamily="2" charset="2"/>
              <a:buChar char="§"/>
            </a:pPr>
            <a:r>
              <a:rPr lang="en-US" dirty="0">
                <a:latin typeface="+mj-lt"/>
              </a:rPr>
              <a:t>We define the </a:t>
            </a:r>
            <a:r>
              <a:rPr lang="en-US" dirty="0" err="1">
                <a:latin typeface="+mj-lt"/>
              </a:rPr>
              <a:t>idf</a:t>
            </a:r>
            <a:r>
              <a:rPr lang="en-US" dirty="0">
                <a:latin typeface="+mj-lt"/>
              </a:rPr>
              <a:t> weight of term t as follows:</a:t>
            </a:r>
          </a:p>
          <a:p>
            <a:pPr lvl="1">
              <a:spcBef>
                <a:spcPts val="700"/>
              </a:spcBef>
              <a:buClr>
                <a:srgbClr val="336699"/>
              </a:buClr>
              <a:buFont typeface="Wingdings" pitchFamily="2" charset="2"/>
              <a:buChar char="§"/>
            </a:pPr>
            <a:endParaRPr lang="de-DE" dirty="0">
              <a:latin typeface="+mj-lt"/>
            </a:endParaRPr>
          </a:p>
          <a:p>
            <a:pPr lvl="1">
              <a:spcBef>
                <a:spcPts val="700"/>
              </a:spcBef>
              <a:buClr>
                <a:srgbClr val="336699"/>
              </a:buClr>
              <a:buFont typeface="Wingdings" pitchFamily="2" charset="2"/>
              <a:buChar char="§"/>
            </a:pPr>
            <a:endParaRPr lang="de-DE" dirty="0">
              <a:latin typeface="+mj-lt"/>
            </a:endParaRPr>
          </a:p>
          <a:p>
            <a:pPr lvl="1">
              <a:spcBef>
                <a:spcPts val="700"/>
              </a:spcBef>
              <a:buClr>
                <a:srgbClr val="336699"/>
              </a:buClr>
            </a:pPr>
            <a:r>
              <a:rPr lang="de-DE" dirty="0">
                <a:latin typeface="+mj-lt"/>
              </a:rPr>
              <a:t>    </a:t>
            </a:r>
            <a:r>
              <a:rPr lang="en-US" dirty="0">
                <a:latin typeface="+mj-lt"/>
              </a:rPr>
              <a:t>(</a:t>
            </a:r>
            <a:r>
              <a:rPr lang="en-US" i="1" dirty="0">
                <a:latin typeface="+mj-lt"/>
              </a:rPr>
              <a:t>N</a:t>
            </a:r>
            <a:r>
              <a:rPr lang="en-US" dirty="0">
                <a:latin typeface="+mj-lt"/>
              </a:rPr>
              <a:t> is the number of documents in the collection.)</a:t>
            </a:r>
          </a:p>
          <a:p>
            <a:pPr lvl="1">
              <a:spcBef>
                <a:spcPts val="700"/>
              </a:spcBef>
              <a:buClr>
                <a:srgbClr val="336699"/>
              </a:buClr>
              <a:buFont typeface="Wingdings" pitchFamily="2" charset="2"/>
              <a:buChar char="§"/>
            </a:pPr>
            <a:r>
              <a:rPr lang="en-US" dirty="0" err="1">
                <a:latin typeface="+mj-lt"/>
              </a:rPr>
              <a:t>idf</a:t>
            </a:r>
            <a:r>
              <a:rPr lang="en-US" i="1" baseline="-25000" dirty="0" err="1">
                <a:latin typeface="+mj-lt"/>
              </a:rPr>
              <a:t>t</a:t>
            </a:r>
            <a:r>
              <a:rPr lang="en-US" dirty="0">
                <a:latin typeface="+mj-lt"/>
              </a:rPr>
              <a:t> is a measure of the </a:t>
            </a:r>
            <a:r>
              <a:rPr lang="en-US" dirty="0" err="1">
                <a:latin typeface="+mj-lt"/>
              </a:rPr>
              <a:t>informativeness</a:t>
            </a:r>
            <a:r>
              <a:rPr lang="en-US" dirty="0">
                <a:latin typeface="+mj-lt"/>
              </a:rPr>
              <a:t> of the term.</a:t>
            </a:r>
          </a:p>
          <a:p>
            <a:pPr lvl="1">
              <a:spcBef>
                <a:spcPts val="700"/>
              </a:spcBef>
              <a:buClr>
                <a:srgbClr val="336699"/>
              </a:buClr>
              <a:buFont typeface="Wingdings" pitchFamily="2" charset="2"/>
              <a:buChar char="§"/>
            </a:pPr>
            <a:r>
              <a:rPr lang="en-US" dirty="0">
                <a:latin typeface="+mj-lt"/>
              </a:rPr>
              <a:t>[log </a:t>
            </a:r>
            <a:r>
              <a:rPr lang="en-US" i="1" dirty="0">
                <a:latin typeface="+mj-lt"/>
              </a:rPr>
              <a:t>N</a:t>
            </a:r>
            <a:r>
              <a:rPr lang="en-US" dirty="0">
                <a:latin typeface="+mj-lt"/>
              </a:rPr>
              <a:t>/</a:t>
            </a:r>
            <a:r>
              <a:rPr lang="en-US" dirty="0" err="1">
                <a:latin typeface="+mj-lt"/>
              </a:rPr>
              <a:t>df</a:t>
            </a:r>
            <a:r>
              <a:rPr lang="en-US" i="1" baseline="-25000" dirty="0" err="1">
                <a:latin typeface="+mj-lt"/>
              </a:rPr>
              <a:t>t</a:t>
            </a:r>
            <a:r>
              <a:rPr lang="en-US" dirty="0">
                <a:latin typeface="+mj-lt"/>
              </a:rPr>
              <a:t> ] instead of [</a:t>
            </a:r>
            <a:r>
              <a:rPr lang="en-US" i="1" dirty="0">
                <a:latin typeface="+mj-lt"/>
              </a:rPr>
              <a:t>N</a:t>
            </a:r>
            <a:r>
              <a:rPr lang="en-US" dirty="0">
                <a:latin typeface="+mj-lt"/>
              </a:rPr>
              <a:t>/</a:t>
            </a:r>
            <a:r>
              <a:rPr lang="en-US" dirty="0" err="1">
                <a:latin typeface="+mj-lt"/>
              </a:rPr>
              <a:t>df</a:t>
            </a:r>
            <a:r>
              <a:rPr lang="en-US" i="1" baseline="-25000" dirty="0" err="1">
                <a:latin typeface="+mj-lt"/>
              </a:rPr>
              <a:t>t</a:t>
            </a:r>
            <a:r>
              <a:rPr lang="en-US" dirty="0">
                <a:latin typeface="+mj-lt"/>
              </a:rPr>
              <a:t> ] to “dampen” the effect of </a:t>
            </a:r>
            <a:r>
              <a:rPr lang="en-US" dirty="0" err="1">
                <a:latin typeface="+mj-lt"/>
              </a:rPr>
              <a:t>idf</a:t>
            </a:r>
            <a:endParaRPr lang="en-US" dirty="0">
              <a:latin typeface="+mj-lt"/>
            </a:endParaRPr>
          </a:p>
          <a:p>
            <a:pPr lvl="1">
              <a:spcBef>
                <a:spcPts val="700"/>
              </a:spcBef>
              <a:buClr>
                <a:srgbClr val="336699"/>
              </a:buClr>
              <a:buFont typeface="Wingdings" pitchFamily="2" charset="2"/>
              <a:buChar char="§"/>
            </a:pPr>
            <a:r>
              <a:rPr lang="en-US" dirty="0">
                <a:latin typeface="+mj-lt"/>
              </a:rPr>
              <a:t>Note that we use the log transformation for both term </a:t>
            </a:r>
            <a:r>
              <a:rPr lang="de-DE" dirty="0" err="1">
                <a:latin typeface="+mj-lt"/>
              </a:rPr>
              <a:t>frequency</a:t>
            </a:r>
            <a:r>
              <a:rPr lang="de-DE" dirty="0">
                <a:latin typeface="+mj-lt"/>
              </a:rPr>
              <a:t> </a:t>
            </a:r>
            <a:r>
              <a:rPr lang="de-DE" dirty="0" err="1">
                <a:latin typeface="+mj-lt"/>
              </a:rPr>
              <a:t>and</a:t>
            </a:r>
            <a:r>
              <a:rPr lang="de-DE" dirty="0">
                <a:latin typeface="+mj-lt"/>
              </a:rPr>
              <a:t> </a:t>
            </a:r>
            <a:r>
              <a:rPr lang="de-DE" dirty="0" err="1">
                <a:latin typeface="+mj-lt"/>
              </a:rPr>
              <a:t>document</a:t>
            </a:r>
            <a:r>
              <a:rPr lang="de-DE" dirty="0">
                <a:latin typeface="+mj-lt"/>
              </a:rPr>
              <a:t> </a:t>
            </a:r>
            <a:r>
              <a:rPr lang="de-DE" dirty="0" err="1">
                <a:latin typeface="+mj-lt"/>
              </a:rPr>
              <a:t>frequency</a:t>
            </a:r>
            <a:r>
              <a:rPr lang="de-DE" dirty="0">
                <a:latin typeface="+mj-lt"/>
              </a:rPr>
              <a:t>.</a:t>
            </a:r>
          </a:p>
        </p:txBody>
      </p:sp>
      <p:sp>
        <p:nvSpPr>
          <p:cNvPr id="84997" name="Text Box 4"/>
          <p:cNvSpPr txBox="1">
            <a:spLocks noChangeArrowheads="1"/>
          </p:cNvSpPr>
          <p:nvPr/>
        </p:nvSpPr>
        <p:spPr bwMode="auto">
          <a:xfrm>
            <a:off x="7640638" y="-33338"/>
            <a:ext cx="925512" cy="336551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wrap="none" anchor="ctr"/>
          <a:lstStyle/>
          <a:p>
            <a:pPr>
              <a:buClr>
                <a:srgbClr val="000000"/>
              </a:buClr>
              <a:buSzPct val="100000"/>
              <a:buFont typeface="Times New Roman" pitchFamily="16" charset="0"/>
              <a:buNone/>
            </a:pPr>
            <a:endParaRPr lang="de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4BF2C0F-05D6-4882-A325-BE394602789D}" type="slidenum">
              <a:rPr lang="en-US" smtClean="0"/>
              <a:pPr>
                <a:defRPr/>
              </a:pPr>
              <a:t>30</a:t>
            </a:fld>
            <a:endParaRPr lang="en-US" dirty="0"/>
          </a:p>
        </p:txBody>
      </p:sp>
      <p:pic>
        <p:nvPicPr>
          <p:cNvPr id="8" name="Picture 7" descr="63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15816" y="2601000"/>
            <a:ext cx="2155653" cy="828000"/>
          </a:xfrm>
          <a:prstGeom prst="rect">
            <a:avLst/>
          </a:prstGeom>
        </p:spPr>
      </p:pic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Text Box 1"/>
          <p:cNvSpPr txBox="1">
            <a:spLocks noChangeArrowheads="1"/>
          </p:cNvSpPr>
          <p:nvPr/>
        </p:nvSpPr>
        <p:spPr bwMode="auto">
          <a:xfrm>
            <a:off x="6553200" y="6477000"/>
            <a:ext cx="2133600" cy="244475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lIns="90000" tIns="46800" rIns="90000" bIns="46800" anchor="ctr"/>
          <a:lstStyle/>
          <a:p>
            <a:pPr algn="r">
              <a:buSzPct val="10000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fld id="{48895EFF-1DBE-4654-84B8-EE5B6E2FA3CA}" type="slidenum">
              <a:rPr lang="en-US" sz="1200">
                <a:solidFill>
                  <a:srgbClr val="898989"/>
                </a:solidFill>
                <a:latin typeface="Calibri" charset="0"/>
              </a:rPr>
              <a:pPr algn="r">
                <a:buSzPct val="10000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</a:pPr>
              <a:t>31</a:t>
            </a:fld>
            <a:endParaRPr lang="en-US" sz="1200">
              <a:solidFill>
                <a:srgbClr val="898989"/>
              </a:solidFill>
              <a:latin typeface="Calibri" charset="0"/>
            </a:endParaRPr>
          </a:p>
        </p:txBody>
      </p:sp>
      <p:sp>
        <p:nvSpPr>
          <p:cNvPr id="84995" name="Text Box 2"/>
          <p:cNvSpPr txBox="1">
            <a:spLocks noChangeArrowheads="1"/>
          </p:cNvSpPr>
          <p:nvPr/>
        </p:nvSpPr>
        <p:spPr bwMode="auto">
          <a:xfrm>
            <a:off x="285720" y="12700"/>
            <a:ext cx="8572560" cy="1403350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anchor="b"/>
          <a:lstStyle/>
          <a:p>
            <a:r>
              <a:rPr lang="de-DE" sz="3600" dirty="0" err="1">
                <a:solidFill>
                  <a:schemeClr val="tx1"/>
                </a:solidFill>
                <a:latin typeface="+mj-lt"/>
              </a:rPr>
              <a:t>Examples</a:t>
            </a:r>
            <a:r>
              <a:rPr lang="de-DE" sz="3600" dirty="0">
                <a:solidFill>
                  <a:schemeClr val="tx1"/>
                </a:solidFill>
                <a:latin typeface="+mj-lt"/>
              </a:rPr>
              <a:t> </a:t>
            </a:r>
            <a:r>
              <a:rPr lang="de-DE" sz="3600" dirty="0" err="1">
                <a:solidFill>
                  <a:schemeClr val="tx1"/>
                </a:solidFill>
                <a:latin typeface="+mj-lt"/>
              </a:rPr>
              <a:t>for</a:t>
            </a:r>
            <a:r>
              <a:rPr lang="de-DE" sz="3600" dirty="0">
                <a:solidFill>
                  <a:schemeClr val="tx1"/>
                </a:solidFill>
                <a:latin typeface="+mj-lt"/>
              </a:rPr>
              <a:t> </a:t>
            </a:r>
            <a:r>
              <a:rPr lang="de-DE" sz="3600" dirty="0" err="1">
                <a:solidFill>
                  <a:schemeClr val="tx1"/>
                </a:solidFill>
                <a:latin typeface="+mj-lt"/>
              </a:rPr>
              <a:t>idf</a:t>
            </a:r>
            <a:endParaRPr lang="de-DE" sz="3600" dirty="0">
              <a:solidFill>
                <a:schemeClr val="tx1"/>
              </a:solidFill>
              <a:latin typeface="+mj-lt"/>
            </a:endParaRPr>
          </a:p>
        </p:txBody>
      </p:sp>
      <p:sp>
        <p:nvSpPr>
          <p:cNvPr id="84996" name="Text Box 3"/>
          <p:cNvSpPr txBox="1">
            <a:spLocks noChangeArrowheads="1"/>
          </p:cNvSpPr>
          <p:nvPr/>
        </p:nvSpPr>
        <p:spPr bwMode="auto">
          <a:xfrm>
            <a:off x="214282" y="1571612"/>
            <a:ext cx="8286808" cy="5429264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/>
          <a:lstStyle/>
          <a:p>
            <a:pPr lvl="1">
              <a:spcBef>
                <a:spcPts val="700"/>
              </a:spcBef>
              <a:buClr>
                <a:srgbClr val="336699"/>
              </a:buClr>
              <a:buFont typeface="Wingdings" pitchFamily="2" charset="2"/>
              <a:buChar char="§"/>
            </a:pPr>
            <a:r>
              <a:rPr lang="en-US" dirty="0">
                <a:latin typeface="+mj-lt"/>
              </a:rPr>
              <a:t>Compute </a:t>
            </a:r>
            <a:r>
              <a:rPr lang="en-US" dirty="0" err="1">
                <a:latin typeface="+mj-lt"/>
              </a:rPr>
              <a:t>idf</a:t>
            </a:r>
            <a:r>
              <a:rPr lang="en-US" i="1" baseline="-25000" dirty="0" err="1">
                <a:latin typeface="+mj-lt"/>
              </a:rPr>
              <a:t>t</a:t>
            </a:r>
            <a:r>
              <a:rPr lang="en-US" dirty="0">
                <a:latin typeface="+mj-lt"/>
              </a:rPr>
              <a:t> using the formula:</a:t>
            </a:r>
            <a:endParaRPr lang="de-DE" dirty="0">
              <a:latin typeface="+mj-lt"/>
            </a:endParaRPr>
          </a:p>
        </p:txBody>
      </p:sp>
      <p:sp>
        <p:nvSpPr>
          <p:cNvPr id="84997" name="Text Box 4"/>
          <p:cNvSpPr txBox="1">
            <a:spLocks noChangeArrowheads="1"/>
          </p:cNvSpPr>
          <p:nvPr/>
        </p:nvSpPr>
        <p:spPr bwMode="auto">
          <a:xfrm>
            <a:off x="7640638" y="-33338"/>
            <a:ext cx="925512" cy="336551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wrap="none" anchor="ctr"/>
          <a:lstStyle/>
          <a:p>
            <a:pPr>
              <a:buClr>
                <a:srgbClr val="000000"/>
              </a:buClr>
              <a:buSzPct val="100000"/>
              <a:buFont typeface="Times New Roman" pitchFamily="16" charset="0"/>
              <a:buNone/>
            </a:pPr>
            <a:endParaRPr lang="de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4BF2C0F-05D6-4882-A325-BE394602789D}" type="slidenum">
              <a:rPr lang="en-US" smtClean="0"/>
              <a:pPr>
                <a:defRPr/>
              </a:pPr>
              <a:t>31</a:t>
            </a:fld>
            <a:endParaRPr lang="en-US" dirty="0"/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1000100" y="2258692"/>
          <a:ext cx="5072098" cy="2743200"/>
        </p:xfrm>
        <a:graphic>
          <a:graphicData uri="http://schemas.openxmlformats.org/drawingml/2006/table">
            <a:tbl>
              <a:tblPr firstRow="1" bandRow="1">
                <a:tableStyleId>{C083E6E3-FA7D-4D7B-A595-EF9225AFEA82}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5421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8588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rtl="0"/>
                      <a:r>
                        <a:rPr lang="de-DE" sz="2400" b="0" kern="1200" baseline="0" dirty="0" err="1"/>
                        <a:t>term</a:t>
                      </a:r>
                      <a:endParaRPr lang="de-DE" sz="2400" b="0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/>
                      <a:r>
                        <a:rPr lang="de-DE" sz="2400" b="0" dirty="0" err="1"/>
                        <a:t>df</a:t>
                      </a:r>
                      <a:r>
                        <a:rPr lang="de-DE" sz="2400" b="0" i="1" baseline="-25000" dirty="0" err="1"/>
                        <a:t>t</a:t>
                      </a:r>
                      <a:endParaRPr lang="de-DE" sz="2400" b="0" i="1" baseline="-250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/>
                      <a:r>
                        <a:rPr lang="de-DE" sz="2400" b="0" dirty="0" err="1"/>
                        <a:t>idf</a:t>
                      </a:r>
                      <a:r>
                        <a:rPr lang="de-DE" sz="2400" b="0" i="1" baseline="-25000" dirty="0" err="1"/>
                        <a:t>t</a:t>
                      </a:r>
                      <a:endParaRPr lang="de-DE" sz="2400" b="0" i="1" baseline="-250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rtl="0"/>
                      <a:r>
                        <a:rPr lang="de-DE" sz="2400" kern="1200" baseline="0" dirty="0" err="1"/>
                        <a:t>calpurnia</a:t>
                      </a:r>
                      <a:endParaRPr lang="de-DE" sz="2400" kern="1200" baseline="0" dirty="0"/>
                    </a:p>
                    <a:p>
                      <a:pPr rtl="0"/>
                      <a:r>
                        <a:rPr lang="de-DE" sz="2400" kern="1200" baseline="0" dirty="0" err="1"/>
                        <a:t>animal</a:t>
                      </a:r>
                      <a:endParaRPr lang="de-DE" sz="2400" kern="1200" baseline="0" dirty="0"/>
                    </a:p>
                    <a:p>
                      <a:pPr rtl="0"/>
                      <a:r>
                        <a:rPr lang="de-DE" sz="2400" kern="1200" baseline="0" dirty="0" err="1"/>
                        <a:t>sunday</a:t>
                      </a:r>
                      <a:endParaRPr lang="de-DE" sz="2400" kern="1200" baseline="0" dirty="0"/>
                    </a:p>
                    <a:p>
                      <a:pPr rtl="0"/>
                      <a:r>
                        <a:rPr lang="de-DE" sz="2400" kern="1200" baseline="0" dirty="0" err="1"/>
                        <a:t>fly</a:t>
                      </a:r>
                      <a:endParaRPr lang="de-DE" sz="2400" kern="1200" baseline="0" dirty="0"/>
                    </a:p>
                    <a:p>
                      <a:pPr rtl="0"/>
                      <a:r>
                        <a:rPr lang="de-DE" sz="2400" kern="1200" baseline="0" dirty="0" err="1"/>
                        <a:t>under</a:t>
                      </a:r>
                      <a:endParaRPr lang="de-DE" sz="2400" kern="1200" baseline="0" dirty="0"/>
                    </a:p>
                    <a:p>
                      <a:pPr rtl="0"/>
                      <a:r>
                        <a:rPr lang="de-DE" sz="2400" kern="1200" baseline="0" dirty="0" err="1"/>
                        <a:t>the</a:t>
                      </a:r>
                      <a:endParaRPr lang="de-DE" sz="2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/>
                      <a:r>
                        <a:rPr lang="de-DE" sz="2400" dirty="0"/>
                        <a:t>1</a:t>
                      </a:r>
                    </a:p>
                    <a:p>
                      <a:pPr algn="r" rtl="0"/>
                      <a:r>
                        <a:rPr lang="de-DE" sz="2400" dirty="0"/>
                        <a:t>100</a:t>
                      </a:r>
                    </a:p>
                    <a:p>
                      <a:pPr algn="r" rtl="0"/>
                      <a:r>
                        <a:rPr lang="de-DE" sz="2400" dirty="0"/>
                        <a:t>1000</a:t>
                      </a:r>
                    </a:p>
                    <a:p>
                      <a:pPr algn="r" rtl="0"/>
                      <a:r>
                        <a:rPr lang="de-DE" sz="2400" dirty="0"/>
                        <a:t>10,000</a:t>
                      </a:r>
                    </a:p>
                    <a:p>
                      <a:pPr algn="r" rtl="0"/>
                      <a:r>
                        <a:rPr lang="de-DE" sz="2400" dirty="0"/>
                        <a:t>100,000</a:t>
                      </a:r>
                    </a:p>
                    <a:p>
                      <a:pPr algn="r" rtl="0"/>
                      <a:r>
                        <a:rPr lang="de-DE" sz="2400" dirty="0"/>
                        <a:t>1,000,000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/>
                      <a:r>
                        <a:rPr lang="de-DE" sz="2400" dirty="0"/>
                        <a:t>6</a:t>
                      </a:r>
                    </a:p>
                    <a:p>
                      <a:pPr algn="r" rtl="0"/>
                      <a:r>
                        <a:rPr lang="de-DE" sz="2400" dirty="0"/>
                        <a:t>4</a:t>
                      </a:r>
                    </a:p>
                    <a:p>
                      <a:pPr algn="r" rtl="0"/>
                      <a:r>
                        <a:rPr lang="de-DE" sz="2400" dirty="0"/>
                        <a:t>3</a:t>
                      </a:r>
                    </a:p>
                    <a:p>
                      <a:pPr algn="r" rtl="0"/>
                      <a:r>
                        <a:rPr lang="de-DE" sz="2400" dirty="0"/>
                        <a:t>2</a:t>
                      </a:r>
                    </a:p>
                    <a:p>
                      <a:pPr algn="r" rtl="0"/>
                      <a:r>
                        <a:rPr lang="de-DE" sz="2400" dirty="0"/>
                        <a:t>1</a:t>
                      </a:r>
                    </a:p>
                    <a:p>
                      <a:pPr algn="r" rtl="0"/>
                      <a:r>
                        <a:rPr lang="de-DE" sz="2400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pic>
        <p:nvPicPr>
          <p:cNvPr id="10" name="Picture 9" descr="63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5320" y="1571612"/>
            <a:ext cx="2558514" cy="576000"/>
          </a:xfrm>
          <a:prstGeom prst="rect">
            <a:avLst/>
          </a:prstGeom>
        </p:spPr>
      </p:pic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Text Box 1"/>
          <p:cNvSpPr txBox="1">
            <a:spLocks noChangeArrowheads="1"/>
          </p:cNvSpPr>
          <p:nvPr/>
        </p:nvSpPr>
        <p:spPr bwMode="auto">
          <a:xfrm>
            <a:off x="6553200" y="6477000"/>
            <a:ext cx="2133600" cy="244475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lIns="90000" tIns="46800" rIns="90000" bIns="46800" anchor="ctr"/>
          <a:lstStyle/>
          <a:p>
            <a:pPr algn="r">
              <a:buSzPct val="10000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fld id="{48895EFF-1DBE-4654-84B8-EE5B6E2FA3CA}" type="slidenum">
              <a:rPr lang="en-US" sz="1200">
                <a:solidFill>
                  <a:srgbClr val="898989"/>
                </a:solidFill>
                <a:latin typeface="Calibri" charset="0"/>
              </a:rPr>
              <a:pPr algn="r">
                <a:buSzPct val="10000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</a:pPr>
              <a:t>32</a:t>
            </a:fld>
            <a:endParaRPr lang="en-US" sz="1200">
              <a:solidFill>
                <a:srgbClr val="898989"/>
              </a:solidFill>
              <a:latin typeface="Calibri" charset="0"/>
            </a:endParaRPr>
          </a:p>
        </p:txBody>
      </p:sp>
      <p:sp>
        <p:nvSpPr>
          <p:cNvPr id="84995" name="Text Box 2"/>
          <p:cNvSpPr txBox="1">
            <a:spLocks noChangeArrowheads="1"/>
          </p:cNvSpPr>
          <p:nvPr/>
        </p:nvSpPr>
        <p:spPr bwMode="auto">
          <a:xfrm>
            <a:off x="285720" y="12700"/>
            <a:ext cx="8572560" cy="1403350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anchor="b"/>
          <a:lstStyle/>
          <a:p>
            <a:r>
              <a:rPr lang="en-US" sz="3600" dirty="0">
                <a:solidFill>
                  <a:schemeClr val="tx1"/>
                </a:solidFill>
                <a:latin typeface="+mj-lt"/>
              </a:rPr>
              <a:t>Effect of </a:t>
            </a:r>
            <a:r>
              <a:rPr lang="en-US" sz="3600" dirty="0" err="1">
                <a:solidFill>
                  <a:schemeClr val="tx1"/>
                </a:solidFill>
                <a:latin typeface="+mj-lt"/>
              </a:rPr>
              <a:t>idf</a:t>
            </a:r>
            <a:r>
              <a:rPr lang="en-US" sz="3600" dirty="0">
                <a:solidFill>
                  <a:schemeClr val="tx1"/>
                </a:solidFill>
                <a:latin typeface="+mj-lt"/>
              </a:rPr>
              <a:t> on ranking</a:t>
            </a:r>
          </a:p>
        </p:txBody>
      </p:sp>
      <p:sp>
        <p:nvSpPr>
          <p:cNvPr id="84996" name="Text Box 3"/>
          <p:cNvSpPr txBox="1">
            <a:spLocks noChangeArrowheads="1"/>
          </p:cNvSpPr>
          <p:nvPr/>
        </p:nvSpPr>
        <p:spPr bwMode="auto">
          <a:xfrm>
            <a:off x="214282" y="2071702"/>
            <a:ext cx="8286808" cy="5429264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/>
          <a:lstStyle/>
          <a:p>
            <a:pPr lvl="1">
              <a:spcBef>
                <a:spcPts val="700"/>
              </a:spcBef>
              <a:buClr>
                <a:srgbClr val="336699"/>
              </a:buClr>
              <a:buFont typeface="Wingdings" pitchFamily="2" charset="2"/>
              <a:buChar char="§"/>
            </a:pPr>
            <a:r>
              <a:rPr lang="en-US" dirty="0" err="1">
                <a:latin typeface="+mj-lt"/>
              </a:rPr>
              <a:t>idf</a:t>
            </a:r>
            <a:r>
              <a:rPr lang="en-US" dirty="0">
                <a:latin typeface="+mj-lt"/>
              </a:rPr>
              <a:t> affects the ranking of documents for queries with at least </a:t>
            </a:r>
            <a:r>
              <a:rPr lang="de-DE" dirty="0" err="1">
                <a:latin typeface="+mj-lt"/>
              </a:rPr>
              <a:t>two</a:t>
            </a:r>
            <a:r>
              <a:rPr lang="de-DE" dirty="0">
                <a:latin typeface="+mj-lt"/>
              </a:rPr>
              <a:t> </a:t>
            </a:r>
            <a:r>
              <a:rPr lang="de-DE" dirty="0" err="1">
                <a:latin typeface="+mj-lt"/>
              </a:rPr>
              <a:t>terms</a:t>
            </a:r>
            <a:r>
              <a:rPr lang="de-DE" dirty="0">
                <a:latin typeface="+mj-lt"/>
              </a:rPr>
              <a:t>.</a:t>
            </a:r>
          </a:p>
          <a:p>
            <a:pPr lvl="1">
              <a:spcBef>
                <a:spcPts val="700"/>
              </a:spcBef>
              <a:buClr>
                <a:srgbClr val="336699"/>
              </a:buClr>
              <a:buFont typeface="Wingdings" pitchFamily="2" charset="2"/>
              <a:buChar char="§"/>
            </a:pPr>
            <a:r>
              <a:rPr lang="en-US" dirty="0">
                <a:latin typeface="+mj-lt"/>
              </a:rPr>
              <a:t>For example, in the query “</a:t>
            </a:r>
            <a:r>
              <a:rPr lang="en-US" dirty="0" err="1">
                <a:latin typeface="+mj-lt"/>
              </a:rPr>
              <a:t>arachnocentric</a:t>
            </a:r>
            <a:r>
              <a:rPr lang="en-US" dirty="0">
                <a:latin typeface="+mj-lt"/>
              </a:rPr>
              <a:t> line”, </a:t>
            </a:r>
            <a:r>
              <a:rPr lang="en-US" dirty="0" err="1">
                <a:latin typeface="+mj-lt"/>
              </a:rPr>
              <a:t>idf</a:t>
            </a:r>
            <a:r>
              <a:rPr lang="en-US" dirty="0">
                <a:latin typeface="+mj-lt"/>
              </a:rPr>
              <a:t> weighting increases the relative weight of </a:t>
            </a:r>
            <a:r>
              <a:rPr lang="en-US" sz="2200" dirty="0">
                <a:latin typeface="+mj-lt"/>
              </a:rPr>
              <a:t>ARACHNOCENTRIC</a:t>
            </a:r>
            <a:r>
              <a:rPr lang="en-US" dirty="0">
                <a:latin typeface="+mj-lt"/>
              </a:rPr>
              <a:t> and decreases the relative weight of </a:t>
            </a:r>
            <a:r>
              <a:rPr lang="en-US" sz="2200" dirty="0">
                <a:latin typeface="+mj-lt"/>
              </a:rPr>
              <a:t>LINE</a:t>
            </a:r>
            <a:r>
              <a:rPr lang="en-US" dirty="0">
                <a:latin typeface="+mj-lt"/>
              </a:rPr>
              <a:t>.</a:t>
            </a:r>
          </a:p>
          <a:p>
            <a:pPr lvl="1">
              <a:spcBef>
                <a:spcPts val="700"/>
              </a:spcBef>
              <a:buClr>
                <a:srgbClr val="336699"/>
              </a:buClr>
              <a:buFont typeface="Wingdings" pitchFamily="2" charset="2"/>
              <a:buChar char="§"/>
            </a:pPr>
            <a:r>
              <a:rPr lang="en-US" dirty="0" err="1">
                <a:latin typeface="+mj-lt"/>
              </a:rPr>
              <a:t>idf</a:t>
            </a:r>
            <a:r>
              <a:rPr lang="en-US" dirty="0">
                <a:latin typeface="+mj-lt"/>
              </a:rPr>
              <a:t> has little effect on ranking for one-term queries.</a:t>
            </a:r>
          </a:p>
        </p:txBody>
      </p:sp>
      <p:sp>
        <p:nvSpPr>
          <p:cNvPr id="84997" name="Text Box 4"/>
          <p:cNvSpPr txBox="1">
            <a:spLocks noChangeArrowheads="1"/>
          </p:cNvSpPr>
          <p:nvPr/>
        </p:nvSpPr>
        <p:spPr bwMode="auto">
          <a:xfrm>
            <a:off x="7640638" y="-33338"/>
            <a:ext cx="925512" cy="336551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wrap="none" anchor="ctr"/>
          <a:lstStyle/>
          <a:p>
            <a:pPr>
              <a:buClr>
                <a:srgbClr val="000000"/>
              </a:buClr>
              <a:buSzPct val="100000"/>
              <a:buFont typeface="Times New Roman" pitchFamily="16" charset="0"/>
              <a:buNone/>
            </a:pPr>
            <a:endParaRPr lang="de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4BF2C0F-05D6-4882-A325-BE394602789D}" type="slidenum">
              <a:rPr lang="en-US" smtClean="0"/>
              <a:pPr>
                <a:defRPr/>
              </a:pPr>
              <a:t>32</a:t>
            </a:fld>
            <a:endParaRPr lang="en-US"/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Text Box 1"/>
          <p:cNvSpPr txBox="1">
            <a:spLocks noChangeArrowheads="1"/>
          </p:cNvSpPr>
          <p:nvPr/>
        </p:nvSpPr>
        <p:spPr bwMode="auto">
          <a:xfrm>
            <a:off x="6553200" y="6477000"/>
            <a:ext cx="2133600" cy="244475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lIns="90000" tIns="46800" rIns="90000" bIns="46800" anchor="ctr"/>
          <a:lstStyle/>
          <a:p>
            <a:pPr algn="r">
              <a:buSzPct val="10000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fld id="{48895EFF-1DBE-4654-84B8-EE5B6E2FA3CA}" type="slidenum">
              <a:rPr lang="en-US" sz="1200">
                <a:solidFill>
                  <a:srgbClr val="898989"/>
                </a:solidFill>
                <a:latin typeface="Calibri" charset="0"/>
              </a:rPr>
              <a:pPr algn="r">
                <a:buSzPct val="10000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</a:pPr>
              <a:t>33</a:t>
            </a:fld>
            <a:endParaRPr lang="en-US" sz="1200">
              <a:solidFill>
                <a:srgbClr val="898989"/>
              </a:solidFill>
              <a:latin typeface="Calibri" charset="0"/>
            </a:endParaRPr>
          </a:p>
        </p:txBody>
      </p:sp>
      <p:sp>
        <p:nvSpPr>
          <p:cNvPr id="84995" name="Text Box 2"/>
          <p:cNvSpPr txBox="1">
            <a:spLocks noChangeArrowheads="1"/>
          </p:cNvSpPr>
          <p:nvPr/>
        </p:nvSpPr>
        <p:spPr bwMode="auto">
          <a:xfrm>
            <a:off x="285720" y="12700"/>
            <a:ext cx="8572560" cy="1403350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anchor="b"/>
          <a:lstStyle/>
          <a:p>
            <a:r>
              <a:rPr lang="de-DE" sz="3400" dirty="0" err="1">
                <a:solidFill>
                  <a:schemeClr val="tx1"/>
                </a:solidFill>
                <a:latin typeface="+mj-lt"/>
              </a:rPr>
              <a:t>Collection</a:t>
            </a:r>
            <a:r>
              <a:rPr lang="de-DE" sz="3400" dirty="0">
                <a:solidFill>
                  <a:schemeClr val="tx1"/>
                </a:solidFill>
                <a:latin typeface="+mj-lt"/>
              </a:rPr>
              <a:t> </a:t>
            </a:r>
            <a:r>
              <a:rPr lang="de-DE" sz="3400" dirty="0" err="1">
                <a:solidFill>
                  <a:schemeClr val="tx1"/>
                </a:solidFill>
                <a:latin typeface="+mj-lt"/>
              </a:rPr>
              <a:t>frequency</a:t>
            </a:r>
            <a:r>
              <a:rPr lang="de-DE" sz="3400" dirty="0">
                <a:solidFill>
                  <a:schemeClr val="tx1"/>
                </a:solidFill>
                <a:latin typeface="+mj-lt"/>
              </a:rPr>
              <a:t> vs. </a:t>
            </a:r>
            <a:r>
              <a:rPr lang="de-DE" sz="3400" dirty="0" err="1">
                <a:solidFill>
                  <a:schemeClr val="tx1"/>
                </a:solidFill>
                <a:latin typeface="+mj-lt"/>
              </a:rPr>
              <a:t>Document</a:t>
            </a:r>
            <a:r>
              <a:rPr lang="de-DE" sz="3400" dirty="0">
                <a:solidFill>
                  <a:schemeClr val="tx1"/>
                </a:solidFill>
                <a:latin typeface="+mj-lt"/>
              </a:rPr>
              <a:t> </a:t>
            </a:r>
            <a:r>
              <a:rPr lang="de-DE" sz="3400" dirty="0" err="1">
                <a:solidFill>
                  <a:schemeClr val="tx1"/>
                </a:solidFill>
                <a:latin typeface="+mj-lt"/>
              </a:rPr>
              <a:t>frequency</a:t>
            </a:r>
            <a:endParaRPr lang="en-US" sz="3400" dirty="0">
              <a:solidFill>
                <a:schemeClr val="tx1"/>
              </a:solidFill>
              <a:latin typeface="+mj-lt"/>
            </a:endParaRPr>
          </a:p>
        </p:txBody>
      </p:sp>
      <p:sp>
        <p:nvSpPr>
          <p:cNvPr id="84996" name="Text Box 3"/>
          <p:cNvSpPr txBox="1">
            <a:spLocks noChangeArrowheads="1"/>
          </p:cNvSpPr>
          <p:nvPr/>
        </p:nvSpPr>
        <p:spPr bwMode="auto">
          <a:xfrm>
            <a:off x="285720" y="3071810"/>
            <a:ext cx="8286808" cy="4000528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/>
          <a:lstStyle/>
          <a:p>
            <a:pPr lvl="1">
              <a:spcBef>
                <a:spcPts val="700"/>
              </a:spcBef>
              <a:buClr>
                <a:srgbClr val="336699"/>
              </a:buClr>
              <a:buFont typeface="Wingdings" pitchFamily="2" charset="2"/>
              <a:buChar char="§"/>
            </a:pPr>
            <a:r>
              <a:rPr lang="en-US" dirty="0">
                <a:latin typeface="+mj-lt"/>
              </a:rPr>
              <a:t>Collection frequency of </a:t>
            </a:r>
            <a:r>
              <a:rPr lang="en-US" i="1" dirty="0">
                <a:latin typeface="+mj-lt"/>
              </a:rPr>
              <a:t>t</a:t>
            </a:r>
            <a:r>
              <a:rPr lang="en-US" dirty="0">
                <a:latin typeface="+mj-lt"/>
              </a:rPr>
              <a:t>: number of tokens of </a:t>
            </a:r>
            <a:r>
              <a:rPr lang="en-US" i="1" dirty="0">
                <a:latin typeface="+mj-lt"/>
              </a:rPr>
              <a:t>t</a:t>
            </a:r>
            <a:r>
              <a:rPr lang="en-US" dirty="0">
                <a:latin typeface="+mj-lt"/>
              </a:rPr>
              <a:t> in the </a:t>
            </a:r>
            <a:r>
              <a:rPr lang="de-DE" dirty="0" err="1">
                <a:latin typeface="+mj-lt"/>
              </a:rPr>
              <a:t>collection</a:t>
            </a:r>
            <a:endParaRPr lang="de-DE" dirty="0">
              <a:latin typeface="+mj-lt"/>
            </a:endParaRPr>
          </a:p>
          <a:p>
            <a:pPr lvl="1">
              <a:spcBef>
                <a:spcPts val="700"/>
              </a:spcBef>
              <a:buClr>
                <a:srgbClr val="336699"/>
              </a:buClr>
              <a:buFont typeface="Wingdings" pitchFamily="2" charset="2"/>
              <a:buChar char="§"/>
            </a:pPr>
            <a:r>
              <a:rPr lang="en-US" dirty="0">
                <a:latin typeface="+mj-lt"/>
              </a:rPr>
              <a:t>Document frequency of </a:t>
            </a:r>
            <a:r>
              <a:rPr lang="en-US" i="1" dirty="0">
                <a:latin typeface="+mj-lt"/>
              </a:rPr>
              <a:t>t</a:t>
            </a:r>
            <a:r>
              <a:rPr lang="en-US" dirty="0">
                <a:latin typeface="+mj-lt"/>
              </a:rPr>
              <a:t>: number of documents </a:t>
            </a:r>
            <a:r>
              <a:rPr lang="en-US" i="1" dirty="0">
                <a:latin typeface="+mj-lt"/>
              </a:rPr>
              <a:t>t</a:t>
            </a:r>
            <a:r>
              <a:rPr lang="en-US" dirty="0">
                <a:latin typeface="+mj-lt"/>
              </a:rPr>
              <a:t> occurs in</a:t>
            </a:r>
          </a:p>
          <a:p>
            <a:pPr lvl="1">
              <a:spcBef>
                <a:spcPts val="700"/>
              </a:spcBef>
              <a:buClr>
                <a:srgbClr val="336699"/>
              </a:buClr>
              <a:buFont typeface="Wingdings" pitchFamily="2" charset="2"/>
              <a:buChar char="§"/>
            </a:pPr>
            <a:r>
              <a:rPr lang="en-US" dirty="0">
                <a:latin typeface="+mj-lt"/>
              </a:rPr>
              <a:t>Which word is a better search term (and should get a higher </a:t>
            </a:r>
            <a:r>
              <a:rPr lang="de-DE" dirty="0" err="1">
                <a:latin typeface="+mj-lt"/>
              </a:rPr>
              <a:t>weight</a:t>
            </a:r>
            <a:r>
              <a:rPr lang="de-DE" dirty="0">
                <a:latin typeface="+mj-lt"/>
              </a:rPr>
              <a:t>)?</a:t>
            </a:r>
          </a:p>
          <a:p>
            <a:pPr lvl="1">
              <a:spcBef>
                <a:spcPts val="700"/>
              </a:spcBef>
              <a:buClr>
                <a:srgbClr val="336699"/>
              </a:buClr>
              <a:buFont typeface="Wingdings" pitchFamily="2" charset="2"/>
              <a:buChar char="§"/>
            </a:pPr>
            <a:r>
              <a:rPr lang="en-US" dirty="0">
                <a:latin typeface="+mj-lt"/>
              </a:rPr>
              <a:t>This example suggests that </a:t>
            </a:r>
            <a:r>
              <a:rPr lang="en-US" dirty="0" err="1">
                <a:latin typeface="+mj-lt"/>
              </a:rPr>
              <a:t>df</a:t>
            </a:r>
            <a:r>
              <a:rPr lang="en-US" dirty="0">
                <a:latin typeface="+mj-lt"/>
              </a:rPr>
              <a:t> (and </a:t>
            </a:r>
            <a:r>
              <a:rPr lang="en-US" dirty="0" err="1">
                <a:latin typeface="+mj-lt"/>
              </a:rPr>
              <a:t>idf</a:t>
            </a:r>
            <a:r>
              <a:rPr lang="en-US" dirty="0">
                <a:latin typeface="+mj-lt"/>
              </a:rPr>
              <a:t>) is better for weighting </a:t>
            </a:r>
            <a:r>
              <a:rPr lang="de-DE" dirty="0" err="1">
                <a:latin typeface="+mj-lt"/>
              </a:rPr>
              <a:t>than</a:t>
            </a:r>
            <a:r>
              <a:rPr lang="de-DE" dirty="0">
                <a:latin typeface="+mj-lt"/>
              </a:rPr>
              <a:t> cf (</a:t>
            </a:r>
            <a:r>
              <a:rPr lang="de-DE" dirty="0" err="1">
                <a:latin typeface="+mj-lt"/>
              </a:rPr>
              <a:t>and</a:t>
            </a:r>
            <a:r>
              <a:rPr lang="de-DE" dirty="0">
                <a:latin typeface="+mj-lt"/>
              </a:rPr>
              <a:t> “</a:t>
            </a:r>
            <a:r>
              <a:rPr lang="de-DE" dirty="0" err="1">
                <a:latin typeface="+mj-lt"/>
              </a:rPr>
              <a:t>icf</a:t>
            </a:r>
            <a:r>
              <a:rPr lang="de-DE" dirty="0">
                <a:latin typeface="+mj-lt"/>
              </a:rPr>
              <a:t>”).</a:t>
            </a:r>
            <a:endParaRPr lang="en-US" dirty="0">
              <a:latin typeface="+mj-lt"/>
            </a:endParaRPr>
          </a:p>
        </p:txBody>
      </p:sp>
      <p:sp>
        <p:nvSpPr>
          <p:cNvPr id="84997" name="Text Box 4"/>
          <p:cNvSpPr txBox="1">
            <a:spLocks noChangeArrowheads="1"/>
          </p:cNvSpPr>
          <p:nvPr/>
        </p:nvSpPr>
        <p:spPr bwMode="auto">
          <a:xfrm>
            <a:off x="7640638" y="-33338"/>
            <a:ext cx="925512" cy="336551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wrap="none" anchor="ctr"/>
          <a:lstStyle/>
          <a:p>
            <a:pPr>
              <a:buClr>
                <a:srgbClr val="000000"/>
              </a:buClr>
              <a:buSzPct val="100000"/>
              <a:buFont typeface="Times New Roman" pitchFamily="16" charset="0"/>
              <a:buNone/>
            </a:pPr>
            <a:endParaRPr lang="de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4BF2C0F-05D6-4882-A325-BE394602789D}" type="slidenum">
              <a:rPr lang="en-US" smtClean="0"/>
              <a:pPr>
                <a:defRPr/>
              </a:pPr>
              <a:t>33</a:t>
            </a:fld>
            <a:endParaRPr lang="en-US"/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857224" y="1615750"/>
          <a:ext cx="7643865" cy="1418592"/>
        </p:xfrm>
        <a:graphic>
          <a:graphicData uri="http://schemas.openxmlformats.org/drawingml/2006/table">
            <a:tbl>
              <a:tblPr firstRow="1" bandRow="1">
                <a:tableStyleId>{C083E6E3-FA7D-4D7B-A595-EF9225AFEA82}</a:tableStyleId>
              </a:tblPr>
              <a:tblGrid>
                <a:gridCol w="165272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4795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44318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56592">
                <a:tc>
                  <a:txBody>
                    <a:bodyPr/>
                    <a:lstStyle/>
                    <a:p>
                      <a:r>
                        <a:rPr lang="de-DE" sz="2200" b="0" dirty="0" err="1"/>
                        <a:t>word</a:t>
                      </a:r>
                      <a:endParaRPr lang="de-DE" sz="2200" b="0" dirty="0"/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de-DE" sz="2200" b="0" dirty="0" err="1"/>
                        <a:t>collection</a:t>
                      </a:r>
                      <a:r>
                        <a:rPr lang="de-DE" sz="2200" b="0" baseline="0" dirty="0"/>
                        <a:t> </a:t>
                      </a:r>
                      <a:r>
                        <a:rPr lang="de-DE" sz="2200" b="0" baseline="0" dirty="0" err="1"/>
                        <a:t>frequency</a:t>
                      </a:r>
                      <a:endParaRPr lang="de-DE" sz="2200" b="0" dirty="0"/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de-DE" sz="2200" b="0" dirty="0" err="1"/>
                        <a:t>document</a:t>
                      </a:r>
                      <a:r>
                        <a:rPr lang="de-DE" sz="2200" b="0" dirty="0"/>
                        <a:t>  </a:t>
                      </a:r>
                      <a:r>
                        <a:rPr lang="de-DE" sz="2200" b="0" dirty="0" err="1"/>
                        <a:t>frequency</a:t>
                      </a:r>
                      <a:endParaRPr lang="de-DE" sz="2200" b="0" dirty="0"/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56592">
                <a:tc>
                  <a:txBody>
                    <a:bodyPr/>
                    <a:lstStyle/>
                    <a:p>
                      <a:r>
                        <a:rPr lang="de-DE" sz="2200" dirty="0"/>
                        <a:t>INSURANCE</a:t>
                      </a:r>
                    </a:p>
                    <a:p>
                      <a:r>
                        <a:rPr lang="de-DE" sz="2200" dirty="0"/>
                        <a:t>TRY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de-DE" sz="2200" dirty="0"/>
                        <a:t>10440</a:t>
                      </a:r>
                    </a:p>
                    <a:p>
                      <a:pPr algn="r"/>
                      <a:r>
                        <a:rPr lang="de-DE" sz="2200" dirty="0"/>
                        <a:t>10422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de-DE" sz="2200" dirty="0"/>
                        <a:t>3997</a:t>
                      </a:r>
                    </a:p>
                    <a:p>
                      <a:pPr algn="r"/>
                      <a:r>
                        <a:rPr lang="de-DE" sz="2200" dirty="0"/>
                        <a:t>8760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Text Box 1"/>
          <p:cNvSpPr txBox="1">
            <a:spLocks noChangeArrowheads="1"/>
          </p:cNvSpPr>
          <p:nvPr/>
        </p:nvSpPr>
        <p:spPr bwMode="auto">
          <a:xfrm>
            <a:off x="6553200" y="6477000"/>
            <a:ext cx="2133600" cy="244475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lIns="90000" tIns="46800" rIns="90000" bIns="46800" anchor="ctr"/>
          <a:lstStyle/>
          <a:p>
            <a:pPr algn="r">
              <a:buSzPct val="10000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fld id="{48895EFF-1DBE-4654-84B8-EE5B6E2FA3CA}" type="slidenum">
              <a:rPr lang="en-US" sz="1200">
                <a:solidFill>
                  <a:srgbClr val="898989"/>
                </a:solidFill>
                <a:latin typeface="Calibri" charset="0"/>
              </a:rPr>
              <a:pPr algn="r">
                <a:buSzPct val="10000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</a:pPr>
              <a:t>34</a:t>
            </a:fld>
            <a:endParaRPr lang="en-US" sz="1200">
              <a:solidFill>
                <a:srgbClr val="898989"/>
              </a:solidFill>
              <a:latin typeface="Calibri" charset="0"/>
            </a:endParaRPr>
          </a:p>
        </p:txBody>
      </p:sp>
      <p:sp>
        <p:nvSpPr>
          <p:cNvPr id="84995" name="Text Box 2"/>
          <p:cNvSpPr txBox="1">
            <a:spLocks noChangeArrowheads="1"/>
          </p:cNvSpPr>
          <p:nvPr/>
        </p:nvSpPr>
        <p:spPr bwMode="auto">
          <a:xfrm>
            <a:off x="285720" y="12700"/>
            <a:ext cx="8572560" cy="1403350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anchor="b"/>
          <a:lstStyle/>
          <a:p>
            <a:r>
              <a:rPr lang="de-DE" sz="3600" dirty="0" err="1">
                <a:solidFill>
                  <a:schemeClr val="tx1"/>
                </a:solidFill>
                <a:latin typeface="+mj-lt"/>
              </a:rPr>
              <a:t>tf-idf</a:t>
            </a:r>
            <a:r>
              <a:rPr lang="de-DE" sz="3600" dirty="0">
                <a:solidFill>
                  <a:schemeClr val="tx1"/>
                </a:solidFill>
                <a:latin typeface="+mj-lt"/>
              </a:rPr>
              <a:t> </a:t>
            </a:r>
            <a:r>
              <a:rPr lang="de-DE" sz="3600" dirty="0" err="1">
                <a:solidFill>
                  <a:schemeClr val="tx1"/>
                </a:solidFill>
                <a:latin typeface="+mj-lt"/>
              </a:rPr>
              <a:t>weighting</a:t>
            </a:r>
            <a:endParaRPr lang="de-DE" sz="3600" dirty="0">
              <a:solidFill>
                <a:schemeClr val="tx1"/>
              </a:solidFill>
              <a:latin typeface="+mj-lt"/>
            </a:endParaRPr>
          </a:p>
        </p:txBody>
      </p:sp>
      <p:sp>
        <p:nvSpPr>
          <p:cNvPr id="84996" name="Text Box 3"/>
          <p:cNvSpPr txBox="1">
            <a:spLocks noChangeArrowheads="1"/>
          </p:cNvSpPr>
          <p:nvPr/>
        </p:nvSpPr>
        <p:spPr bwMode="auto">
          <a:xfrm>
            <a:off x="285720" y="1643050"/>
            <a:ext cx="8286808" cy="4643470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/>
          <a:lstStyle/>
          <a:p>
            <a:pPr lvl="1">
              <a:spcBef>
                <a:spcPts val="700"/>
              </a:spcBef>
              <a:buClr>
                <a:srgbClr val="336699"/>
              </a:buClr>
              <a:buFont typeface="Wingdings" pitchFamily="2" charset="2"/>
              <a:buChar char="§"/>
            </a:pPr>
            <a:r>
              <a:rPr lang="en-US" dirty="0">
                <a:latin typeface="+mj-lt"/>
              </a:rPr>
              <a:t>The </a:t>
            </a:r>
            <a:r>
              <a:rPr lang="en-US" dirty="0" err="1">
                <a:latin typeface="+mj-lt"/>
              </a:rPr>
              <a:t>tf-idf</a:t>
            </a:r>
            <a:r>
              <a:rPr lang="en-US" dirty="0">
                <a:latin typeface="+mj-lt"/>
              </a:rPr>
              <a:t> weight of a term is the product of its </a:t>
            </a:r>
            <a:r>
              <a:rPr lang="en-US" dirty="0" err="1">
                <a:latin typeface="+mj-lt"/>
              </a:rPr>
              <a:t>tf</a:t>
            </a:r>
            <a:r>
              <a:rPr lang="en-US" dirty="0">
                <a:latin typeface="+mj-lt"/>
              </a:rPr>
              <a:t> weight and </a:t>
            </a:r>
            <a:r>
              <a:rPr lang="de-DE" dirty="0" err="1">
                <a:latin typeface="+mj-lt"/>
              </a:rPr>
              <a:t>its</a:t>
            </a:r>
            <a:r>
              <a:rPr lang="de-DE" dirty="0">
                <a:latin typeface="+mj-lt"/>
              </a:rPr>
              <a:t> </a:t>
            </a:r>
            <a:r>
              <a:rPr lang="de-DE" dirty="0" err="1">
                <a:latin typeface="+mj-lt"/>
              </a:rPr>
              <a:t>idf</a:t>
            </a:r>
            <a:r>
              <a:rPr lang="de-DE" dirty="0">
                <a:latin typeface="+mj-lt"/>
              </a:rPr>
              <a:t> </a:t>
            </a:r>
            <a:r>
              <a:rPr lang="de-DE" dirty="0" err="1">
                <a:latin typeface="+mj-lt"/>
              </a:rPr>
              <a:t>weight</a:t>
            </a:r>
            <a:r>
              <a:rPr lang="de-DE" dirty="0">
                <a:latin typeface="+mj-lt"/>
              </a:rPr>
              <a:t>.</a:t>
            </a:r>
          </a:p>
          <a:p>
            <a:pPr lvl="1">
              <a:spcBef>
                <a:spcPts val="700"/>
              </a:spcBef>
              <a:buClr>
                <a:srgbClr val="336699"/>
              </a:buClr>
              <a:buFont typeface="Wingdings" pitchFamily="2" charset="2"/>
              <a:buChar char="§"/>
            </a:pPr>
            <a:endParaRPr lang="de-DE" sz="1400" dirty="0">
              <a:latin typeface="+mj-lt"/>
            </a:endParaRPr>
          </a:p>
          <a:p>
            <a:pPr lvl="1">
              <a:spcBef>
                <a:spcPts val="700"/>
              </a:spcBef>
              <a:buClr>
                <a:srgbClr val="336699"/>
              </a:buClr>
              <a:buFont typeface="Wingdings" pitchFamily="2" charset="2"/>
              <a:buChar char="§"/>
            </a:pPr>
            <a:endParaRPr lang="de-DE" sz="1400" dirty="0">
              <a:latin typeface="+mj-lt"/>
            </a:endParaRPr>
          </a:p>
          <a:p>
            <a:pPr lvl="1">
              <a:spcBef>
                <a:spcPts val="700"/>
              </a:spcBef>
              <a:buClr>
                <a:srgbClr val="336699"/>
              </a:buClr>
            </a:pPr>
            <a:endParaRPr lang="de-DE" sz="1400" dirty="0">
              <a:latin typeface="+mj-lt"/>
            </a:endParaRPr>
          </a:p>
          <a:p>
            <a:pPr lvl="1">
              <a:spcBef>
                <a:spcPts val="700"/>
              </a:spcBef>
              <a:buClr>
                <a:srgbClr val="336699"/>
              </a:buClr>
              <a:buFont typeface="Wingdings" pitchFamily="2" charset="2"/>
              <a:buChar char="§"/>
            </a:pPr>
            <a:r>
              <a:rPr lang="de-DE" dirty="0" err="1">
                <a:latin typeface="+mj-lt"/>
              </a:rPr>
              <a:t>tf-weight</a:t>
            </a:r>
            <a:endParaRPr lang="de-DE" dirty="0">
              <a:latin typeface="+mj-lt"/>
            </a:endParaRPr>
          </a:p>
          <a:p>
            <a:pPr lvl="1">
              <a:spcBef>
                <a:spcPts val="700"/>
              </a:spcBef>
              <a:buClr>
                <a:srgbClr val="336699"/>
              </a:buClr>
              <a:buFont typeface="Wingdings" pitchFamily="2" charset="2"/>
              <a:buChar char="§"/>
            </a:pPr>
            <a:r>
              <a:rPr lang="de-DE" dirty="0" err="1">
                <a:latin typeface="+mj-lt"/>
              </a:rPr>
              <a:t>idf-weight</a:t>
            </a:r>
            <a:endParaRPr lang="de-DE" dirty="0">
              <a:latin typeface="+mj-lt"/>
            </a:endParaRPr>
          </a:p>
          <a:p>
            <a:pPr lvl="1">
              <a:spcBef>
                <a:spcPts val="700"/>
              </a:spcBef>
              <a:buClr>
                <a:srgbClr val="336699"/>
              </a:buClr>
              <a:buFont typeface="Wingdings" pitchFamily="2" charset="2"/>
              <a:buChar char="§"/>
            </a:pPr>
            <a:r>
              <a:rPr lang="en-US" dirty="0">
                <a:latin typeface="+mj-lt"/>
              </a:rPr>
              <a:t>Best known weighting scheme in information retrieval</a:t>
            </a:r>
          </a:p>
          <a:p>
            <a:pPr lvl="1">
              <a:spcBef>
                <a:spcPts val="700"/>
              </a:spcBef>
              <a:buClr>
                <a:srgbClr val="336699"/>
              </a:buClr>
              <a:buFont typeface="Wingdings" pitchFamily="2" charset="2"/>
              <a:buChar char="§"/>
            </a:pPr>
            <a:r>
              <a:rPr lang="de-DE" dirty="0">
                <a:latin typeface="+mj-lt"/>
              </a:rPr>
              <a:t>Alternative names: tf.idf, tf x idf</a:t>
            </a:r>
          </a:p>
        </p:txBody>
      </p:sp>
      <p:sp>
        <p:nvSpPr>
          <p:cNvPr id="84997" name="Text Box 4"/>
          <p:cNvSpPr txBox="1">
            <a:spLocks noChangeArrowheads="1"/>
          </p:cNvSpPr>
          <p:nvPr/>
        </p:nvSpPr>
        <p:spPr bwMode="auto">
          <a:xfrm>
            <a:off x="7640638" y="-33338"/>
            <a:ext cx="925512" cy="336551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wrap="none" anchor="ctr"/>
          <a:lstStyle/>
          <a:p>
            <a:pPr>
              <a:buClr>
                <a:srgbClr val="000000"/>
              </a:buClr>
              <a:buSzPct val="100000"/>
              <a:buFont typeface="Times New Roman" pitchFamily="16" charset="0"/>
              <a:buNone/>
            </a:pPr>
            <a:endParaRPr lang="de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4BF2C0F-05D6-4882-A325-BE394602789D}" type="slidenum">
              <a:rPr lang="en-US" smtClean="0"/>
              <a:pPr>
                <a:defRPr/>
              </a:pPr>
              <a:t>34</a:t>
            </a:fld>
            <a:endParaRPr lang="en-US"/>
          </a:p>
        </p:txBody>
      </p:sp>
      <p:pic>
        <p:nvPicPr>
          <p:cNvPr id="9" name="Picture 8" descr="63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95736" y="2060848"/>
            <a:ext cx="3960002" cy="792000"/>
          </a:xfrm>
          <a:prstGeom prst="rect">
            <a:avLst/>
          </a:prstGeom>
        </p:spPr>
      </p:pic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Text Box 1"/>
          <p:cNvSpPr txBox="1">
            <a:spLocks noChangeArrowheads="1"/>
          </p:cNvSpPr>
          <p:nvPr/>
        </p:nvSpPr>
        <p:spPr bwMode="auto">
          <a:xfrm>
            <a:off x="6553200" y="6477000"/>
            <a:ext cx="2133600" cy="244475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lIns="90000" tIns="46800" rIns="90000" bIns="46800" anchor="ctr"/>
          <a:lstStyle/>
          <a:p>
            <a:pPr algn="r">
              <a:buSzPct val="10000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fld id="{48895EFF-1DBE-4654-84B8-EE5B6E2FA3CA}" type="slidenum">
              <a:rPr lang="en-US" sz="1200">
                <a:solidFill>
                  <a:srgbClr val="898989"/>
                </a:solidFill>
                <a:latin typeface="Calibri" charset="0"/>
              </a:rPr>
              <a:pPr algn="r">
                <a:buSzPct val="10000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</a:pPr>
              <a:t>35</a:t>
            </a:fld>
            <a:endParaRPr lang="en-US" sz="1200">
              <a:solidFill>
                <a:srgbClr val="898989"/>
              </a:solidFill>
              <a:latin typeface="Calibri" charset="0"/>
            </a:endParaRPr>
          </a:p>
        </p:txBody>
      </p:sp>
      <p:sp>
        <p:nvSpPr>
          <p:cNvPr id="84995" name="Text Box 2"/>
          <p:cNvSpPr txBox="1">
            <a:spLocks noChangeArrowheads="1"/>
          </p:cNvSpPr>
          <p:nvPr/>
        </p:nvSpPr>
        <p:spPr bwMode="auto">
          <a:xfrm>
            <a:off x="285720" y="12700"/>
            <a:ext cx="8572560" cy="1403350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anchor="b"/>
          <a:lstStyle/>
          <a:p>
            <a:r>
              <a:rPr lang="de-DE" sz="3600" dirty="0" err="1">
                <a:solidFill>
                  <a:schemeClr val="tx1"/>
                </a:solidFill>
                <a:latin typeface="+mj-lt"/>
              </a:rPr>
              <a:t>Summary</a:t>
            </a:r>
            <a:r>
              <a:rPr lang="de-DE" sz="3600" dirty="0">
                <a:solidFill>
                  <a:schemeClr val="tx1"/>
                </a:solidFill>
                <a:latin typeface="+mj-lt"/>
              </a:rPr>
              <a:t>: </a:t>
            </a:r>
            <a:r>
              <a:rPr lang="de-DE" sz="3600" dirty="0" err="1">
                <a:solidFill>
                  <a:schemeClr val="tx1"/>
                </a:solidFill>
                <a:latin typeface="+mj-lt"/>
              </a:rPr>
              <a:t>tf-idf</a:t>
            </a:r>
            <a:endParaRPr lang="de-DE" sz="3600" dirty="0">
              <a:solidFill>
                <a:schemeClr val="tx1"/>
              </a:solidFill>
              <a:latin typeface="+mj-lt"/>
            </a:endParaRPr>
          </a:p>
        </p:txBody>
      </p:sp>
      <p:sp>
        <p:nvSpPr>
          <p:cNvPr id="84996" name="Text Box 3"/>
          <p:cNvSpPr txBox="1">
            <a:spLocks noChangeArrowheads="1"/>
          </p:cNvSpPr>
          <p:nvPr/>
        </p:nvSpPr>
        <p:spPr bwMode="auto">
          <a:xfrm>
            <a:off x="285720" y="2000240"/>
            <a:ext cx="8286808" cy="4643470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/>
          <a:lstStyle/>
          <a:p>
            <a:pPr lvl="1">
              <a:spcBef>
                <a:spcPts val="700"/>
              </a:spcBef>
              <a:buClr>
                <a:srgbClr val="336699"/>
              </a:buClr>
              <a:buFont typeface="Wingdings" pitchFamily="2" charset="2"/>
              <a:buChar char="§"/>
            </a:pPr>
            <a:r>
              <a:rPr lang="en-US" dirty="0">
                <a:solidFill>
                  <a:schemeClr val="tx1"/>
                </a:solidFill>
                <a:latin typeface="+mj-lt"/>
              </a:rPr>
              <a:t>Assign a </a:t>
            </a:r>
            <a:r>
              <a:rPr lang="en-US" dirty="0" err="1">
                <a:solidFill>
                  <a:schemeClr val="tx1"/>
                </a:solidFill>
                <a:latin typeface="+mj-lt"/>
              </a:rPr>
              <a:t>tf-idf</a:t>
            </a:r>
            <a:r>
              <a:rPr lang="en-US" dirty="0">
                <a:solidFill>
                  <a:schemeClr val="tx1"/>
                </a:solidFill>
                <a:latin typeface="+mj-lt"/>
              </a:rPr>
              <a:t> weight for each term t in each document </a:t>
            </a:r>
            <a:r>
              <a:rPr lang="en-US" i="1" dirty="0">
                <a:solidFill>
                  <a:schemeClr val="tx1"/>
                </a:solidFill>
                <a:latin typeface="+mj-lt"/>
              </a:rPr>
              <a:t>d</a:t>
            </a:r>
            <a:r>
              <a:rPr lang="en-US" dirty="0">
                <a:solidFill>
                  <a:schemeClr val="tx1"/>
                </a:solidFill>
                <a:latin typeface="+mj-lt"/>
              </a:rPr>
              <a:t>:</a:t>
            </a:r>
          </a:p>
          <a:p>
            <a:pPr lvl="1">
              <a:spcBef>
                <a:spcPts val="700"/>
              </a:spcBef>
              <a:buClr>
                <a:srgbClr val="336699"/>
              </a:buClr>
            </a:pPr>
            <a:endParaRPr lang="de-DE" dirty="0">
              <a:solidFill>
                <a:schemeClr val="tx1"/>
              </a:solidFill>
              <a:latin typeface="+mj-lt"/>
            </a:endParaRPr>
          </a:p>
          <a:p>
            <a:pPr lvl="1">
              <a:spcBef>
                <a:spcPts val="700"/>
              </a:spcBef>
              <a:buClr>
                <a:srgbClr val="336699"/>
              </a:buClr>
              <a:buFont typeface="Wingdings" pitchFamily="2" charset="2"/>
              <a:buChar char="§"/>
            </a:pPr>
            <a:endParaRPr lang="de-DE" dirty="0">
              <a:solidFill>
                <a:schemeClr val="tx1"/>
              </a:solidFill>
              <a:latin typeface="+mj-lt"/>
            </a:endParaRPr>
          </a:p>
          <a:p>
            <a:pPr lvl="1">
              <a:spcBef>
                <a:spcPts val="700"/>
              </a:spcBef>
              <a:buClr>
                <a:srgbClr val="336699"/>
              </a:buClr>
              <a:buFont typeface="Wingdings" pitchFamily="2" charset="2"/>
              <a:buChar char="§"/>
            </a:pPr>
            <a:r>
              <a:rPr lang="de-DE" dirty="0">
                <a:solidFill>
                  <a:schemeClr val="tx1"/>
                </a:solidFill>
                <a:latin typeface="+mj-lt"/>
              </a:rPr>
              <a:t>The tf-idf weight . . .</a:t>
            </a:r>
          </a:p>
          <a:p>
            <a:pPr lvl="2">
              <a:spcBef>
                <a:spcPts val="700"/>
              </a:spcBef>
              <a:buClr>
                <a:srgbClr val="336699"/>
              </a:buClr>
              <a:buFont typeface="Wingdings" pitchFamily="2" charset="2"/>
              <a:buChar char="§"/>
            </a:pPr>
            <a:r>
              <a:rPr lang="en-US" sz="2200" dirty="0">
                <a:solidFill>
                  <a:schemeClr val="tx1"/>
                </a:solidFill>
                <a:latin typeface="+mj-lt"/>
              </a:rPr>
              <a:t>. . . increases with the number of occurrences within a </a:t>
            </a:r>
            <a:r>
              <a:rPr lang="de-DE" sz="2200" dirty="0" err="1">
                <a:solidFill>
                  <a:schemeClr val="tx1"/>
                </a:solidFill>
                <a:latin typeface="+mj-lt"/>
              </a:rPr>
              <a:t>document</a:t>
            </a:r>
            <a:r>
              <a:rPr lang="de-DE" sz="2200" dirty="0">
                <a:solidFill>
                  <a:schemeClr val="tx1"/>
                </a:solidFill>
                <a:latin typeface="+mj-lt"/>
              </a:rPr>
              <a:t>. (</a:t>
            </a:r>
            <a:r>
              <a:rPr lang="de-DE" sz="2200" dirty="0" err="1">
                <a:solidFill>
                  <a:schemeClr val="tx1"/>
                </a:solidFill>
                <a:latin typeface="+mj-lt"/>
              </a:rPr>
              <a:t>term</a:t>
            </a:r>
            <a:r>
              <a:rPr lang="de-DE" sz="2200" dirty="0">
                <a:solidFill>
                  <a:schemeClr val="tx1"/>
                </a:solidFill>
                <a:latin typeface="+mj-lt"/>
              </a:rPr>
              <a:t> </a:t>
            </a:r>
            <a:r>
              <a:rPr lang="de-DE" sz="2200" dirty="0" err="1">
                <a:solidFill>
                  <a:schemeClr val="tx1"/>
                </a:solidFill>
                <a:latin typeface="+mj-lt"/>
              </a:rPr>
              <a:t>frequency</a:t>
            </a:r>
            <a:r>
              <a:rPr lang="de-DE" sz="2200" dirty="0">
                <a:solidFill>
                  <a:schemeClr val="tx1"/>
                </a:solidFill>
                <a:latin typeface="+mj-lt"/>
              </a:rPr>
              <a:t>)</a:t>
            </a:r>
          </a:p>
          <a:p>
            <a:pPr lvl="2">
              <a:spcBef>
                <a:spcPts val="700"/>
              </a:spcBef>
              <a:buClr>
                <a:srgbClr val="336699"/>
              </a:buClr>
              <a:buFont typeface="Wingdings" pitchFamily="2" charset="2"/>
              <a:buChar char="§"/>
            </a:pPr>
            <a:r>
              <a:rPr lang="en-US" sz="2200" dirty="0">
                <a:solidFill>
                  <a:schemeClr val="tx1"/>
                </a:solidFill>
                <a:latin typeface="+mj-lt"/>
              </a:rPr>
              <a:t>. . . increases with the rarity of the term in the collection. </a:t>
            </a:r>
            <a:r>
              <a:rPr lang="de-DE" sz="2200" dirty="0">
                <a:solidFill>
                  <a:schemeClr val="tx1"/>
                </a:solidFill>
                <a:latin typeface="+mj-lt"/>
              </a:rPr>
              <a:t>(inverse </a:t>
            </a:r>
            <a:r>
              <a:rPr lang="de-DE" sz="2200" dirty="0" err="1">
                <a:solidFill>
                  <a:schemeClr val="tx1"/>
                </a:solidFill>
                <a:latin typeface="+mj-lt"/>
              </a:rPr>
              <a:t>document</a:t>
            </a:r>
            <a:r>
              <a:rPr lang="de-DE" sz="2200" dirty="0">
                <a:solidFill>
                  <a:schemeClr val="tx1"/>
                </a:solidFill>
                <a:latin typeface="+mj-lt"/>
              </a:rPr>
              <a:t> </a:t>
            </a:r>
            <a:r>
              <a:rPr lang="de-DE" sz="2200" dirty="0" err="1">
                <a:solidFill>
                  <a:schemeClr val="tx1"/>
                </a:solidFill>
                <a:latin typeface="+mj-lt"/>
              </a:rPr>
              <a:t>frequency</a:t>
            </a:r>
            <a:r>
              <a:rPr lang="de-DE" sz="2200" dirty="0">
                <a:solidFill>
                  <a:schemeClr val="tx1"/>
                </a:solidFill>
                <a:latin typeface="+mj-lt"/>
              </a:rPr>
              <a:t>)</a:t>
            </a:r>
          </a:p>
        </p:txBody>
      </p:sp>
      <p:sp>
        <p:nvSpPr>
          <p:cNvPr id="84997" name="Text Box 4"/>
          <p:cNvSpPr txBox="1">
            <a:spLocks noChangeArrowheads="1"/>
          </p:cNvSpPr>
          <p:nvPr/>
        </p:nvSpPr>
        <p:spPr bwMode="auto">
          <a:xfrm>
            <a:off x="7640638" y="-33338"/>
            <a:ext cx="925512" cy="336551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wrap="none" anchor="ctr"/>
          <a:lstStyle/>
          <a:p>
            <a:pPr>
              <a:buClr>
                <a:srgbClr val="000000"/>
              </a:buClr>
              <a:buSzPct val="100000"/>
              <a:buFont typeface="Times New Roman" pitchFamily="16" charset="0"/>
              <a:buNone/>
            </a:pPr>
            <a:endParaRPr lang="de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4BF2C0F-05D6-4882-A325-BE394602789D}" type="slidenum">
              <a:rPr lang="en-US" smtClean="0"/>
              <a:pPr>
                <a:defRPr/>
              </a:pPr>
              <a:t>35</a:t>
            </a:fld>
            <a:endParaRPr lang="en-US"/>
          </a:p>
        </p:txBody>
      </p:sp>
      <p:pic>
        <p:nvPicPr>
          <p:cNvPr id="8" name="Picture 7" descr="63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14414" y="2424934"/>
            <a:ext cx="3647366" cy="504000"/>
          </a:xfrm>
          <a:prstGeom prst="rect">
            <a:avLst/>
          </a:prstGeom>
        </p:spPr>
      </p:pic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Text Box 1"/>
          <p:cNvSpPr txBox="1">
            <a:spLocks noChangeArrowheads="1"/>
          </p:cNvSpPr>
          <p:nvPr/>
        </p:nvSpPr>
        <p:spPr bwMode="auto">
          <a:xfrm>
            <a:off x="6553200" y="6477000"/>
            <a:ext cx="2133600" cy="244475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lIns="90000" tIns="46800" rIns="90000" bIns="46800" anchor="ctr"/>
          <a:lstStyle/>
          <a:p>
            <a:pPr algn="r">
              <a:buSzPct val="10000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fld id="{48895EFF-1DBE-4654-84B8-EE5B6E2FA3CA}" type="slidenum">
              <a:rPr lang="en-US" sz="1200">
                <a:solidFill>
                  <a:srgbClr val="898989"/>
                </a:solidFill>
                <a:latin typeface="Calibri" charset="0"/>
              </a:rPr>
              <a:pPr algn="r">
                <a:buSzPct val="10000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</a:pPr>
              <a:t>36</a:t>
            </a:fld>
            <a:endParaRPr lang="en-US" sz="1200">
              <a:solidFill>
                <a:srgbClr val="898989"/>
              </a:solidFill>
              <a:latin typeface="Calibri" charset="0"/>
            </a:endParaRPr>
          </a:p>
        </p:txBody>
      </p:sp>
      <p:sp>
        <p:nvSpPr>
          <p:cNvPr id="84995" name="Text Box 2"/>
          <p:cNvSpPr txBox="1">
            <a:spLocks noChangeArrowheads="1"/>
          </p:cNvSpPr>
          <p:nvPr/>
        </p:nvSpPr>
        <p:spPr bwMode="auto">
          <a:xfrm>
            <a:off x="285720" y="12700"/>
            <a:ext cx="8858280" cy="1403350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anchor="b"/>
          <a:lstStyle/>
          <a:p>
            <a:r>
              <a:rPr lang="en-US" sz="3400" dirty="0">
                <a:solidFill>
                  <a:schemeClr val="tx1"/>
                </a:solidFill>
                <a:latin typeface="+mj-lt"/>
              </a:rPr>
              <a:t>Exercise: Term, collection and document frequency</a:t>
            </a:r>
          </a:p>
        </p:txBody>
      </p:sp>
      <p:sp>
        <p:nvSpPr>
          <p:cNvPr id="84996" name="Text Box 3"/>
          <p:cNvSpPr txBox="1">
            <a:spLocks noChangeArrowheads="1"/>
          </p:cNvSpPr>
          <p:nvPr/>
        </p:nvSpPr>
        <p:spPr bwMode="auto">
          <a:xfrm>
            <a:off x="285720" y="4643446"/>
            <a:ext cx="8286808" cy="2428892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/>
          <a:lstStyle/>
          <a:p>
            <a:pPr lvl="1">
              <a:spcBef>
                <a:spcPts val="700"/>
              </a:spcBef>
              <a:buClr>
                <a:srgbClr val="336699"/>
              </a:buClr>
              <a:buFont typeface="Wingdings" pitchFamily="2" charset="2"/>
              <a:buChar char="§"/>
            </a:pPr>
            <a:r>
              <a:rPr lang="en-US" dirty="0" err="1"/>
              <a:t>tf-idf</a:t>
            </a:r>
            <a:r>
              <a:rPr lang="en-US" sz="1200" dirty="0" err="1"/>
              <a:t>t,d</a:t>
            </a:r>
            <a:r>
              <a:rPr lang="en-US" dirty="0"/>
              <a:t> assigns to term t a weight in document d that is </a:t>
            </a:r>
          </a:p>
          <a:p>
            <a:pPr lvl="1">
              <a:spcBef>
                <a:spcPts val="700"/>
              </a:spcBef>
              <a:buClr>
                <a:srgbClr val="336699"/>
              </a:buClr>
              <a:buFont typeface="Wingdings" pitchFamily="2" charset="2"/>
              <a:buChar char="§"/>
            </a:pPr>
            <a:r>
              <a:rPr lang="en-US" dirty="0"/>
              <a:t>highest when t occurs many times within a small number of documents (thus lending high discriminating power to those documents); </a:t>
            </a:r>
          </a:p>
          <a:p>
            <a:pPr lvl="1">
              <a:spcBef>
                <a:spcPts val="700"/>
              </a:spcBef>
              <a:buClr>
                <a:srgbClr val="336699"/>
              </a:buClr>
              <a:buFont typeface="Wingdings" pitchFamily="2" charset="2"/>
              <a:buChar char="§"/>
            </a:pPr>
            <a:r>
              <a:rPr lang="en-US" dirty="0"/>
              <a:t>lower when the term occurs fewer times in a document, or occurs in many documents (thus offering a less pronounced relevance signal); </a:t>
            </a:r>
          </a:p>
          <a:p>
            <a:pPr lvl="1">
              <a:spcBef>
                <a:spcPts val="700"/>
              </a:spcBef>
              <a:buClr>
                <a:srgbClr val="336699"/>
              </a:buClr>
              <a:buFont typeface="Wingdings" pitchFamily="2" charset="2"/>
              <a:buChar char="§"/>
            </a:pPr>
            <a:r>
              <a:rPr lang="en-US" dirty="0"/>
              <a:t> lowest when the term occurs in virtually all documents.</a:t>
            </a:r>
            <a:endParaRPr lang="en-US" dirty="0">
              <a:latin typeface="+mj-lt"/>
            </a:endParaRPr>
          </a:p>
        </p:txBody>
      </p:sp>
      <p:sp>
        <p:nvSpPr>
          <p:cNvPr id="84997" name="Text Box 4"/>
          <p:cNvSpPr txBox="1">
            <a:spLocks noChangeArrowheads="1"/>
          </p:cNvSpPr>
          <p:nvPr/>
        </p:nvSpPr>
        <p:spPr bwMode="auto">
          <a:xfrm>
            <a:off x="7640638" y="-33338"/>
            <a:ext cx="925512" cy="336551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wrap="none" anchor="ctr"/>
          <a:lstStyle/>
          <a:p>
            <a:pPr>
              <a:buClr>
                <a:srgbClr val="000000"/>
              </a:buClr>
              <a:buSzPct val="100000"/>
              <a:buFont typeface="Times New Roman" pitchFamily="16" charset="0"/>
              <a:buNone/>
            </a:pPr>
            <a:endParaRPr lang="de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4BF2C0F-05D6-4882-A325-BE394602789D}" type="slidenum">
              <a:rPr lang="en-US" smtClean="0"/>
              <a:pPr>
                <a:defRPr/>
              </a:pPr>
              <a:t>36</a:t>
            </a:fld>
            <a:endParaRPr lang="en-US" dirty="0"/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42910" y="1571612"/>
          <a:ext cx="7786742" cy="3071834"/>
        </p:xfrm>
        <a:graphic>
          <a:graphicData uri="http://schemas.openxmlformats.org/drawingml/2006/table">
            <a:tbl>
              <a:tblPr firstRow="1" bandRow="1">
                <a:tableStyleId>{C083E6E3-FA7D-4D7B-A595-EF9225AFEA82}</a:tableStyleId>
              </a:tblPr>
              <a:tblGrid>
                <a:gridCol w="257176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2211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19286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66294">
                <a:tc>
                  <a:txBody>
                    <a:bodyPr/>
                    <a:lstStyle/>
                    <a:p>
                      <a:r>
                        <a:rPr lang="de-DE" sz="2200" b="0" kern="1200" baseline="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Quantity</a:t>
                      </a:r>
                      <a:endParaRPr lang="de-DE" sz="2200" b="0" dirty="0"/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2200" b="0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Symbol</a:t>
                      </a:r>
                      <a:endParaRPr lang="de-DE" sz="2200" b="0" dirty="0"/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de-DE" sz="2200" b="0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Definition</a:t>
                      </a:r>
                      <a:endParaRPr lang="de-DE" sz="2200" b="0" dirty="0"/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05540">
                <a:tc>
                  <a:txBody>
                    <a:bodyPr/>
                    <a:lstStyle/>
                    <a:p>
                      <a:pPr>
                        <a:spcBef>
                          <a:spcPts val="700"/>
                        </a:spcBef>
                      </a:pPr>
                      <a:r>
                        <a:rPr lang="en-US" sz="2200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term frequency </a:t>
                      </a:r>
                    </a:p>
                    <a:p>
                      <a:pPr>
                        <a:spcBef>
                          <a:spcPts val="700"/>
                        </a:spcBef>
                      </a:pPr>
                      <a:endParaRPr lang="en-US" sz="2200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>
                        <a:spcBef>
                          <a:spcPts val="700"/>
                        </a:spcBef>
                      </a:pPr>
                      <a:r>
                        <a:rPr lang="en-US" sz="2200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document frequency </a:t>
                      </a:r>
                    </a:p>
                    <a:p>
                      <a:pPr>
                        <a:spcBef>
                          <a:spcPts val="700"/>
                        </a:spcBef>
                      </a:pPr>
                      <a:endParaRPr lang="en-US" sz="2200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>
                        <a:spcBef>
                          <a:spcPts val="700"/>
                        </a:spcBef>
                      </a:pPr>
                      <a:r>
                        <a:rPr lang="en-US" sz="2200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collection frequency</a:t>
                      </a:r>
                      <a:endParaRPr lang="de-DE" sz="22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700"/>
                        </a:spcBef>
                      </a:pPr>
                      <a:r>
                        <a:rPr lang="en-US" sz="2200" kern="1200" baseline="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tf</a:t>
                      </a:r>
                      <a:r>
                        <a:rPr lang="en-US" sz="2200" i="1" kern="1200" baseline="-250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t,d</a:t>
                      </a:r>
                      <a:endParaRPr lang="en-US" sz="2200" i="1" kern="1200" baseline="-250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algn="ctr">
                        <a:spcBef>
                          <a:spcPts val="700"/>
                        </a:spcBef>
                      </a:pPr>
                      <a:endParaRPr lang="en-US" sz="2200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algn="ctr">
                        <a:spcBef>
                          <a:spcPts val="700"/>
                        </a:spcBef>
                      </a:pPr>
                      <a:r>
                        <a:rPr lang="en-US" sz="2200" kern="1200" baseline="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df</a:t>
                      </a:r>
                      <a:r>
                        <a:rPr lang="en-US" sz="2200" i="1" kern="1200" baseline="-250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t</a:t>
                      </a:r>
                      <a:endParaRPr lang="en-US" sz="2200" i="1" kern="1200" baseline="-250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algn="ctr">
                        <a:spcBef>
                          <a:spcPts val="700"/>
                        </a:spcBef>
                      </a:pPr>
                      <a:endParaRPr lang="en-US" sz="2200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algn="ctr">
                        <a:spcBef>
                          <a:spcPts val="700"/>
                        </a:spcBef>
                      </a:pPr>
                      <a:r>
                        <a:rPr lang="en-US" sz="2200" kern="1200" baseline="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cf</a:t>
                      </a:r>
                      <a:r>
                        <a:rPr lang="en-US" sz="2200" i="1" kern="1200" baseline="-250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t</a:t>
                      </a:r>
                      <a:r>
                        <a:rPr lang="en-US" sz="2200" i="1" kern="1200" baseline="-250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endParaRPr lang="de-DE" sz="2200" i="1" baseline="-250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700"/>
                        </a:spcBef>
                      </a:pPr>
                      <a:r>
                        <a:rPr lang="en-US" sz="2200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number of occurrences of </a:t>
                      </a:r>
                      <a:r>
                        <a:rPr lang="en-US" sz="2200" i="1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t</a:t>
                      </a:r>
                      <a:r>
                        <a:rPr lang="en-US" sz="2200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in</a:t>
                      </a:r>
                    </a:p>
                    <a:p>
                      <a:pPr>
                        <a:spcBef>
                          <a:spcPts val="700"/>
                        </a:spcBef>
                      </a:pPr>
                      <a:r>
                        <a:rPr lang="de-DE" sz="2200" i="1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d</a:t>
                      </a:r>
                    </a:p>
                    <a:p>
                      <a:pPr>
                        <a:spcBef>
                          <a:spcPts val="700"/>
                        </a:spcBef>
                      </a:pPr>
                      <a:r>
                        <a:rPr lang="en-US" sz="2200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number of documents in the</a:t>
                      </a:r>
                    </a:p>
                    <a:p>
                      <a:pPr>
                        <a:spcBef>
                          <a:spcPts val="700"/>
                        </a:spcBef>
                      </a:pPr>
                      <a:r>
                        <a:rPr lang="en-US" sz="2200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collection that</a:t>
                      </a:r>
                      <a:r>
                        <a:rPr lang="en-US" sz="2200" i="1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t </a:t>
                      </a:r>
                      <a:r>
                        <a:rPr lang="en-US" sz="2200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occurs in</a:t>
                      </a:r>
                    </a:p>
                    <a:p>
                      <a:pPr>
                        <a:spcBef>
                          <a:spcPts val="700"/>
                        </a:spcBef>
                      </a:pPr>
                      <a:r>
                        <a:rPr lang="en-US" sz="2200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total number of occurrences of</a:t>
                      </a:r>
                    </a:p>
                    <a:p>
                      <a:pPr>
                        <a:spcBef>
                          <a:spcPts val="700"/>
                        </a:spcBef>
                      </a:pPr>
                      <a:r>
                        <a:rPr lang="de-DE" sz="2200" i="1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t</a:t>
                      </a:r>
                      <a:r>
                        <a:rPr lang="de-DE" sz="2200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in </a:t>
                      </a:r>
                      <a:r>
                        <a:rPr lang="de-DE" sz="2200" kern="1200" baseline="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the</a:t>
                      </a:r>
                      <a:r>
                        <a:rPr lang="de-DE" sz="2200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de-DE" sz="2200" kern="1200" baseline="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collection</a:t>
                      </a:r>
                      <a:endParaRPr lang="de-DE" sz="2200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Text Box 1"/>
          <p:cNvSpPr txBox="1">
            <a:spLocks noChangeArrowheads="1"/>
          </p:cNvSpPr>
          <p:nvPr/>
        </p:nvSpPr>
        <p:spPr bwMode="auto">
          <a:xfrm>
            <a:off x="6553200" y="6477000"/>
            <a:ext cx="2133600" cy="244475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lIns="90000" tIns="46800" rIns="90000" bIns="46800" anchor="ctr"/>
          <a:lstStyle/>
          <a:p>
            <a:pPr algn="r">
              <a:buSzPct val="10000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fld id="{48895EFF-1DBE-4654-84B8-EE5B6E2FA3CA}" type="slidenum">
              <a:rPr lang="en-US" sz="1200">
                <a:solidFill>
                  <a:srgbClr val="898989"/>
                </a:solidFill>
                <a:latin typeface="Calibri" charset="0"/>
              </a:rPr>
              <a:pPr algn="r">
                <a:buSzPct val="10000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</a:pPr>
              <a:t>37</a:t>
            </a:fld>
            <a:endParaRPr lang="en-US" sz="1200">
              <a:solidFill>
                <a:srgbClr val="898989"/>
              </a:solidFill>
              <a:latin typeface="Calibri" charset="0"/>
            </a:endParaRPr>
          </a:p>
        </p:txBody>
      </p:sp>
      <p:sp>
        <p:nvSpPr>
          <p:cNvPr id="84995" name="Text Box 2"/>
          <p:cNvSpPr txBox="1">
            <a:spLocks noChangeArrowheads="1"/>
          </p:cNvSpPr>
          <p:nvPr/>
        </p:nvSpPr>
        <p:spPr bwMode="auto">
          <a:xfrm>
            <a:off x="285720" y="12700"/>
            <a:ext cx="8572560" cy="1403350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anchor="b"/>
          <a:lstStyle/>
          <a:p>
            <a:r>
              <a:rPr lang="de-DE" sz="3600" dirty="0">
                <a:solidFill>
                  <a:schemeClr val="tx1"/>
                </a:solidFill>
                <a:latin typeface="+mj-lt"/>
              </a:rPr>
              <a:t>Binary </a:t>
            </a:r>
            <a:r>
              <a:rPr lang="de-DE" sz="3600" dirty="0" err="1">
                <a:solidFill>
                  <a:schemeClr val="tx1"/>
                </a:solidFill>
                <a:latin typeface="+mj-lt"/>
              </a:rPr>
              <a:t>incidence</a:t>
            </a:r>
            <a:r>
              <a:rPr lang="de-DE" sz="3600" dirty="0">
                <a:solidFill>
                  <a:schemeClr val="tx1"/>
                </a:solidFill>
                <a:latin typeface="+mj-lt"/>
              </a:rPr>
              <a:t> </a:t>
            </a:r>
            <a:r>
              <a:rPr lang="de-DE" sz="3600" dirty="0" err="1">
                <a:solidFill>
                  <a:schemeClr val="tx1"/>
                </a:solidFill>
                <a:latin typeface="+mj-lt"/>
              </a:rPr>
              <a:t>matrix</a:t>
            </a:r>
            <a:endParaRPr lang="de-DE" sz="3600" dirty="0">
              <a:solidFill>
                <a:schemeClr val="tx1"/>
              </a:solidFill>
              <a:latin typeface="+mj-lt"/>
            </a:endParaRPr>
          </a:p>
        </p:txBody>
      </p:sp>
      <p:sp>
        <p:nvSpPr>
          <p:cNvPr id="84996" name="Text Box 3"/>
          <p:cNvSpPr txBox="1">
            <a:spLocks noChangeArrowheads="1"/>
          </p:cNvSpPr>
          <p:nvPr/>
        </p:nvSpPr>
        <p:spPr bwMode="auto">
          <a:xfrm>
            <a:off x="214282" y="5143536"/>
            <a:ext cx="8572560" cy="1714464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/>
          <a:lstStyle/>
          <a:p>
            <a:r>
              <a:rPr lang="en-US" dirty="0">
                <a:solidFill>
                  <a:schemeClr val="tx1"/>
                </a:solidFill>
                <a:latin typeface="+mj-lt"/>
              </a:rPr>
              <a:t>	Each document is represented as a binary vector ∈ {0, 1}</a:t>
            </a:r>
            <a:r>
              <a:rPr lang="en-US" baseline="30000" dirty="0">
                <a:solidFill>
                  <a:schemeClr val="tx1"/>
                </a:solidFill>
                <a:latin typeface="+mj-lt"/>
              </a:rPr>
              <a:t>|</a:t>
            </a:r>
            <a:r>
              <a:rPr lang="en-US" i="1" baseline="30000" dirty="0">
                <a:solidFill>
                  <a:schemeClr val="tx1"/>
                </a:solidFill>
                <a:latin typeface="+mj-lt"/>
              </a:rPr>
              <a:t>V</a:t>
            </a:r>
            <a:r>
              <a:rPr lang="en-US" baseline="30000" dirty="0">
                <a:solidFill>
                  <a:schemeClr val="tx1"/>
                </a:solidFill>
                <a:latin typeface="+mj-lt"/>
              </a:rPr>
              <a:t>|.</a:t>
            </a:r>
          </a:p>
        </p:txBody>
      </p:sp>
      <p:sp>
        <p:nvSpPr>
          <p:cNvPr id="84997" name="Text Box 4"/>
          <p:cNvSpPr txBox="1">
            <a:spLocks noChangeArrowheads="1"/>
          </p:cNvSpPr>
          <p:nvPr/>
        </p:nvSpPr>
        <p:spPr bwMode="auto">
          <a:xfrm>
            <a:off x="7640638" y="-33338"/>
            <a:ext cx="925512" cy="336551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wrap="none" anchor="ctr"/>
          <a:lstStyle/>
          <a:p>
            <a:pPr>
              <a:buClr>
                <a:srgbClr val="000000"/>
              </a:buClr>
              <a:buSzPct val="100000"/>
              <a:buFont typeface="Times New Roman" pitchFamily="16" charset="0"/>
              <a:buNone/>
            </a:pPr>
            <a:endParaRPr lang="de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4BF2C0F-05D6-4882-A325-BE394602789D}" type="slidenum">
              <a:rPr lang="en-US" smtClean="0"/>
              <a:pPr>
                <a:defRPr/>
              </a:pPr>
              <a:t>37</a:t>
            </a:fld>
            <a:endParaRPr lang="en-US"/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214282" y="1617356"/>
          <a:ext cx="8524894" cy="2834640"/>
        </p:xfrm>
        <a:graphic>
          <a:graphicData uri="http://schemas.openxmlformats.org/drawingml/2006/table">
            <a:tbl>
              <a:tblPr firstRow="1" bandRow="1">
                <a:tableStyleId>{C083E6E3-FA7D-4D7B-A595-EF9225AFEA82}</a:tableStyleId>
              </a:tblPr>
              <a:tblGrid>
                <a:gridCol w="128588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8588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8175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1784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1784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21784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217842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de-DE" sz="2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200" b="0" kern="1200" baseline="0" dirty="0"/>
                        <a:t>Anthony </a:t>
                      </a:r>
                      <a:r>
                        <a:rPr lang="de-DE" sz="2200" b="0" kern="1200" baseline="0" dirty="0" err="1"/>
                        <a:t>and</a:t>
                      </a:r>
                      <a:r>
                        <a:rPr lang="de-DE" sz="2200" b="0" kern="1200" baseline="0" dirty="0"/>
                        <a:t>  Cleopatra</a:t>
                      </a:r>
                      <a:endParaRPr lang="de-DE" sz="2200" b="0" kern="1200" baseline="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200" b="0" kern="1200" baseline="0" dirty="0"/>
                        <a:t>Julius </a:t>
                      </a:r>
                      <a:r>
                        <a:rPr lang="de-DE" sz="2200" b="0" kern="1200" baseline="0" dirty="0"/>
                        <a:t>Caesar </a:t>
                      </a:r>
                      <a:endParaRPr lang="de-DE" sz="2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200" b="0" kern="1200" baseline="0" dirty="0"/>
                        <a:t>The  </a:t>
                      </a:r>
                      <a:r>
                        <a:rPr lang="de-DE" sz="2200" b="0" kern="1200" baseline="0" dirty="0"/>
                        <a:t>Tempest</a:t>
                      </a:r>
                      <a:endParaRPr lang="de-DE" sz="2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200" b="0" kern="1200" baseline="0" dirty="0"/>
                        <a:t>Hamlet </a:t>
                      </a:r>
                      <a:endParaRPr lang="de-DE" sz="2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200" b="0" kern="1200" baseline="0" dirty="0"/>
                        <a:t>Othello </a:t>
                      </a:r>
                      <a:endParaRPr lang="de-DE" sz="2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200" b="0" kern="1200" baseline="0" dirty="0"/>
                        <a:t>Macbeth . . .</a:t>
                      </a:r>
                    </a:p>
                    <a:p>
                      <a:endParaRPr lang="de-DE" sz="22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 dirty="0"/>
                        <a:t>ANTHONY</a:t>
                      </a:r>
                    </a:p>
                    <a:p>
                      <a:r>
                        <a:rPr lang="de-DE" dirty="0"/>
                        <a:t>BRUTUS</a:t>
                      </a:r>
                      <a:r>
                        <a:rPr lang="de-DE" baseline="0" dirty="0"/>
                        <a:t> </a:t>
                      </a:r>
                    </a:p>
                    <a:p>
                      <a:r>
                        <a:rPr lang="de-DE" baseline="0" dirty="0"/>
                        <a:t>CAESAR</a:t>
                      </a:r>
                    </a:p>
                    <a:p>
                      <a:r>
                        <a:rPr lang="de-DE" baseline="0" dirty="0"/>
                        <a:t>CALPURNIA</a:t>
                      </a:r>
                    </a:p>
                    <a:p>
                      <a:r>
                        <a:rPr lang="de-DE" baseline="0" dirty="0"/>
                        <a:t>CLEOPATRA</a:t>
                      </a:r>
                    </a:p>
                    <a:p>
                      <a:r>
                        <a:rPr lang="de-DE" baseline="0" dirty="0"/>
                        <a:t>MERCY</a:t>
                      </a:r>
                    </a:p>
                    <a:p>
                      <a:r>
                        <a:rPr lang="de-DE" baseline="0" dirty="0"/>
                        <a:t>WORSER</a:t>
                      </a:r>
                    </a:p>
                    <a:p>
                      <a:r>
                        <a:rPr lang="de-DE" baseline="0" dirty="0"/>
                        <a:t>. . .</a:t>
                      </a:r>
                      <a:endParaRPr lang="de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de-DE" dirty="0"/>
                        <a:t>1</a:t>
                      </a:r>
                    </a:p>
                    <a:p>
                      <a:pPr algn="r"/>
                      <a:r>
                        <a:rPr lang="de-DE" dirty="0"/>
                        <a:t>1</a:t>
                      </a:r>
                    </a:p>
                    <a:p>
                      <a:pPr algn="r"/>
                      <a:r>
                        <a:rPr lang="de-DE" dirty="0"/>
                        <a:t>1</a:t>
                      </a:r>
                    </a:p>
                    <a:p>
                      <a:pPr algn="r"/>
                      <a:r>
                        <a:rPr lang="de-DE" dirty="0"/>
                        <a:t>0</a:t>
                      </a:r>
                    </a:p>
                    <a:p>
                      <a:pPr algn="r"/>
                      <a:r>
                        <a:rPr lang="de-DE" dirty="0"/>
                        <a:t>1</a:t>
                      </a:r>
                    </a:p>
                    <a:p>
                      <a:pPr algn="r"/>
                      <a:r>
                        <a:rPr lang="de-DE" dirty="0"/>
                        <a:t>1</a:t>
                      </a:r>
                    </a:p>
                    <a:p>
                      <a:pPr algn="r"/>
                      <a:r>
                        <a:rPr lang="de-DE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de-DE" dirty="0"/>
                        <a:t>1</a:t>
                      </a:r>
                    </a:p>
                    <a:p>
                      <a:pPr algn="r"/>
                      <a:r>
                        <a:rPr lang="de-DE" dirty="0"/>
                        <a:t>1</a:t>
                      </a:r>
                    </a:p>
                    <a:p>
                      <a:pPr algn="r"/>
                      <a:r>
                        <a:rPr lang="de-DE" dirty="0"/>
                        <a:t>1</a:t>
                      </a:r>
                    </a:p>
                    <a:p>
                      <a:pPr algn="r"/>
                      <a:r>
                        <a:rPr lang="de-DE" dirty="0"/>
                        <a:t>1</a:t>
                      </a:r>
                    </a:p>
                    <a:p>
                      <a:pPr algn="r"/>
                      <a:r>
                        <a:rPr lang="de-DE" dirty="0"/>
                        <a:t>0</a:t>
                      </a:r>
                    </a:p>
                    <a:p>
                      <a:pPr algn="r"/>
                      <a:r>
                        <a:rPr lang="de-DE" dirty="0"/>
                        <a:t>0</a:t>
                      </a:r>
                    </a:p>
                    <a:p>
                      <a:pPr algn="r"/>
                      <a:r>
                        <a:rPr lang="de-DE" dirty="0"/>
                        <a:t>0</a:t>
                      </a:r>
                    </a:p>
                    <a:p>
                      <a:pPr algn="r"/>
                      <a:endParaRPr lang="de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de-DE" dirty="0"/>
                        <a:t>0</a:t>
                      </a:r>
                    </a:p>
                    <a:p>
                      <a:pPr algn="r"/>
                      <a:r>
                        <a:rPr lang="de-DE" dirty="0"/>
                        <a:t>0</a:t>
                      </a:r>
                    </a:p>
                    <a:p>
                      <a:pPr algn="r"/>
                      <a:r>
                        <a:rPr lang="de-DE" dirty="0"/>
                        <a:t>0</a:t>
                      </a:r>
                    </a:p>
                    <a:p>
                      <a:pPr algn="r"/>
                      <a:r>
                        <a:rPr lang="de-DE" dirty="0"/>
                        <a:t>0</a:t>
                      </a:r>
                    </a:p>
                    <a:p>
                      <a:pPr algn="r"/>
                      <a:r>
                        <a:rPr lang="de-DE" dirty="0"/>
                        <a:t>0</a:t>
                      </a:r>
                    </a:p>
                    <a:p>
                      <a:pPr algn="r"/>
                      <a:r>
                        <a:rPr lang="de-DE" dirty="0"/>
                        <a:t>1</a:t>
                      </a:r>
                    </a:p>
                    <a:p>
                      <a:pPr algn="r"/>
                      <a:r>
                        <a:rPr lang="de-DE" dirty="0"/>
                        <a:t>1</a:t>
                      </a:r>
                    </a:p>
                    <a:p>
                      <a:pPr algn="r"/>
                      <a:endParaRPr lang="de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de-DE" dirty="0"/>
                        <a:t>0</a:t>
                      </a:r>
                    </a:p>
                    <a:p>
                      <a:pPr algn="r"/>
                      <a:r>
                        <a:rPr lang="de-DE" dirty="0"/>
                        <a:t>1</a:t>
                      </a:r>
                    </a:p>
                    <a:p>
                      <a:pPr algn="r"/>
                      <a:r>
                        <a:rPr lang="de-DE" dirty="0"/>
                        <a:t>1</a:t>
                      </a:r>
                    </a:p>
                    <a:p>
                      <a:pPr algn="r"/>
                      <a:r>
                        <a:rPr lang="de-DE" dirty="0"/>
                        <a:t>0</a:t>
                      </a:r>
                    </a:p>
                    <a:p>
                      <a:pPr algn="r"/>
                      <a:r>
                        <a:rPr lang="de-DE" dirty="0"/>
                        <a:t>0</a:t>
                      </a:r>
                    </a:p>
                    <a:p>
                      <a:pPr algn="r"/>
                      <a:r>
                        <a:rPr lang="de-DE" dirty="0"/>
                        <a:t>1</a:t>
                      </a:r>
                    </a:p>
                    <a:p>
                      <a:pPr algn="r"/>
                      <a:r>
                        <a:rPr lang="de-DE" dirty="0"/>
                        <a:t>1</a:t>
                      </a:r>
                    </a:p>
                    <a:p>
                      <a:pPr algn="r"/>
                      <a:endParaRPr lang="de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de-DE" dirty="0"/>
                        <a:t>0</a:t>
                      </a:r>
                    </a:p>
                    <a:p>
                      <a:pPr algn="r"/>
                      <a:r>
                        <a:rPr lang="de-DE" dirty="0"/>
                        <a:t>0</a:t>
                      </a:r>
                    </a:p>
                    <a:p>
                      <a:pPr algn="r"/>
                      <a:r>
                        <a:rPr lang="de-DE" dirty="0"/>
                        <a:t>1</a:t>
                      </a:r>
                    </a:p>
                    <a:p>
                      <a:pPr algn="r"/>
                      <a:r>
                        <a:rPr lang="de-DE" dirty="0"/>
                        <a:t>0</a:t>
                      </a:r>
                    </a:p>
                    <a:p>
                      <a:pPr algn="r"/>
                      <a:r>
                        <a:rPr lang="de-DE" dirty="0"/>
                        <a:t>0</a:t>
                      </a:r>
                    </a:p>
                    <a:p>
                      <a:pPr algn="r"/>
                      <a:r>
                        <a:rPr lang="de-DE" dirty="0"/>
                        <a:t>1</a:t>
                      </a:r>
                    </a:p>
                    <a:p>
                      <a:pPr algn="r"/>
                      <a:r>
                        <a:rPr lang="de-DE" dirty="0"/>
                        <a:t>1</a:t>
                      </a:r>
                    </a:p>
                    <a:p>
                      <a:pPr algn="r"/>
                      <a:endParaRPr lang="de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de-DE" dirty="0"/>
                        <a:t>1</a:t>
                      </a:r>
                    </a:p>
                    <a:p>
                      <a:pPr algn="r"/>
                      <a:r>
                        <a:rPr lang="de-DE" dirty="0"/>
                        <a:t>0</a:t>
                      </a:r>
                    </a:p>
                    <a:p>
                      <a:pPr algn="r"/>
                      <a:r>
                        <a:rPr lang="de-DE" dirty="0"/>
                        <a:t>1</a:t>
                      </a:r>
                    </a:p>
                    <a:p>
                      <a:pPr algn="r"/>
                      <a:r>
                        <a:rPr lang="de-DE" dirty="0"/>
                        <a:t>0</a:t>
                      </a:r>
                    </a:p>
                    <a:p>
                      <a:pPr algn="r"/>
                      <a:r>
                        <a:rPr lang="de-DE" dirty="0"/>
                        <a:t>0</a:t>
                      </a:r>
                    </a:p>
                    <a:p>
                      <a:pPr algn="r"/>
                      <a:r>
                        <a:rPr lang="de-DE" dirty="0"/>
                        <a:t>1</a:t>
                      </a:r>
                    </a:p>
                    <a:p>
                      <a:pPr algn="r"/>
                      <a:r>
                        <a:rPr lang="de-DE" dirty="0"/>
                        <a:t>0</a:t>
                      </a:r>
                    </a:p>
                    <a:p>
                      <a:pPr algn="r"/>
                      <a:endParaRPr lang="de-D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Text Box 1"/>
          <p:cNvSpPr txBox="1">
            <a:spLocks noChangeArrowheads="1"/>
          </p:cNvSpPr>
          <p:nvPr/>
        </p:nvSpPr>
        <p:spPr bwMode="auto">
          <a:xfrm>
            <a:off x="6553200" y="6477000"/>
            <a:ext cx="2133600" cy="244475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lIns="90000" tIns="46800" rIns="90000" bIns="46800" anchor="ctr"/>
          <a:lstStyle/>
          <a:p>
            <a:pPr algn="r">
              <a:buSzPct val="10000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fld id="{48895EFF-1DBE-4654-84B8-EE5B6E2FA3CA}" type="slidenum">
              <a:rPr lang="en-US" sz="1200">
                <a:solidFill>
                  <a:srgbClr val="898989"/>
                </a:solidFill>
                <a:latin typeface="Calibri" charset="0"/>
              </a:rPr>
              <a:pPr algn="r">
                <a:buSzPct val="10000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</a:pPr>
              <a:t>38</a:t>
            </a:fld>
            <a:endParaRPr lang="en-US" sz="1200">
              <a:solidFill>
                <a:srgbClr val="898989"/>
              </a:solidFill>
              <a:latin typeface="Calibri" charset="0"/>
            </a:endParaRPr>
          </a:p>
        </p:txBody>
      </p:sp>
      <p:sp>
        <p:nvSpPr>
          <p:cNvPr id="84995" name="Text Box 2"/>
          <p:cNvSpPr txBox="1">
            <a:spLocks noChangeArrowheads="1"/>
          </p:cNvSpPr>
          <p:nvPr/>
        </p:nvSpPr>
        <p:spPr bwMode="auto">
          <a:xfrm>
            <a:off x="285720" y="12700"/>
            <a:ext cx="8572560" cy="1403350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anchor="b"/>
          <a:lstStyle/>
          <a:p>
            <a:r>
              <a:rPr lang="de-DE" sz="3600" dirty="0">
                <a:solidFill>
                  <a:schemeClr val="tx1"/>
                </a:solidFill>
                <a:latin typeface="+mj-lt"/>
              </a:rPr>
              <a:t>Count </a:t>
            </a:r>
            <a:r>
              <a:rPr lang="de-DE" sz="3600" dirty="0" err="1">
                <a:solidFill>
                  <a:schemeClr val="tx1"/>
                </a:solidFill>
                <a:latin typeface="+mj-lt"/>
              </a:rPr>
              <a:t>matrix</a:t>
            </a:r>
            <a:endParaRPr lang="de-DE" sz="3600" dirty="0">
              <a:solidFill>
                <a:schemeClr val="tx1"/>
              </a:solidFill>
              <a:latin typeface="+mj-lt"/>
            </a:endParaRPr>
          </a:p>
        </p:txBody>
      </p:sp>
      <p:sp>
        <p:nvSpPr>
          <p:cNvPr id="84996" name="Text Box 3"/>
          <p:cNvSpPr txBox="1">
            <a:spLocks noChangeArrowheads="1"/>
          </p:cNvSpPr>
          <p:nvPr/>
        </p:nvSpPr>
        <p:spPr bwMode="auto">
          <a:xfrm>
            <a:off x="214282" y="5143536"/>
            <a:ext cx="8572560" cy="1714464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/>
          <a:lstStyle/>
          <a:p>
            <a:r>
              <a:rPr lang="en-US" dirty="0">
                <a:solidFill>
                  <a:schemeClr val="tx1"/>
                </a:solidFill>
                <a:latin typeface="+mj-lt"/>
              </a:rPr>
              <a:t>     Each document is now represented as a count vector ∈ N</a:t>
            </a:r>
            <a:r>
              <a:rPr lang="en-US" baseline="30000" dirty="0">
                <a:solidFill>
                  <a:schemeClr val="tx1"/>
                </a:solidFill>
                <a:latin typeface="+mj-lt"/>
              </a:rPr>
              <a:t>|</a:t>
            </a:r>
            <a:r>
              <a:rPr lang="en-US" i="1" baseline="30000" dirty="0">
                <a:solidFill>
                  <a:schemeClr val="tx1"/>
                </a:solidFill>
                <a:latin typeface="+mj-lt"/>
              </a:rPr>
              <a:t>V</a:t>
            </a:r>
            <a:r>
              <a:rPr lang="en-US" baseline="30000" dirty="0">
                <a:solidFill>
                  <a:schemeClr val="tx1"/>
                </a:solidFill>
                <a:latin typeface="+mj-lt"/>
              </a:rPr>
              <a:t>|.</a:t>
            </a:r>
          </a:p>
        </p:txBody>
      </p:sp>
      <p:sp>
        <p:nvSpPr>
          <p:cNvPr id="84997" name="Text Box 4"/>
          <p:cNvSpPr txBox="1">
            <a:spLocks noChangeArrowheads="1"/>
          </p:cNvSpPr>
          <p:nvPr/>
        </p:nvSpPr>
        <p:spPr bwMode="auto">
          <a:xfrm>
            <a:off x="7640638" y="-33338"/>
            <a:ext cx="925512" cy="336551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wrap="none" anchor="ctr"/>
          <a:lstStyle/>
          <a:p>
            <a:pPr>
              <a:buClr>
                <a:srgbClr val="000000"/>
              </a:buClr>
              <a:buSzPct val="100000"/>
              <a:buFont typeface="Times New Roman" pitchFamily="16" charset="0"/>
              <a:buNone/>
            </a:pPr>
            <a:endParaRPr lang="de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4BF2C0F-05D6-4882-A325-BE394602789D}" type="slidenum">
              <a:rPr lang="en-US" smtClean="0"/>
              <a:pPr>
                <a:defRPr/>
              </a:pPr>
              <a:t>38</a:t>
            </a:fld>
            <a:endParaRPr lang="en-US"/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214282" y="1617356"/>
          <a:ext cx="8524894" cy="2834640"/>
        </p:xfrm>
        <a:graphic>
          <a:graphicData uri="http://schemas.openxmlformats.org/drawingml/2006/table">
            <a:tbl>
              <a:tblPr firstRow="1" bandRow="1">
                <a:tableStyleId>{C083E6E3-FA7D-4D7B-A595-EF9225AFEA82}</a:tableStyleId>
              </a:tblPr>
              <a:tblGrid>
                <a:gridCol w="128588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8588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8175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1784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1784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21784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217842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de-DE" sz="2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200" b="0" kern="1200" baseline="0" dirty="0"/>
                        <a:t>Anthony </a:t>
                      </a:r>
                      <a:r>
                        <a:rPr lang="de-DE" sz="2200" b="0" kern="1200" baseline="0" dirty="0" err="1"/>
                        <a:t>and</a:t>
                      </a:r>
                      <a:r>
                        <a:rPr lang="de-DE" sz="2200" b="0" kern="1200" baseline="0" dirty="0"/>
                        <a:t>  Cleopatra</a:t>
                      </a:r>
                      <a:endParaRPr lang="de-DE" sz="2200" b="0" kern="1200" baseline="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200" b="0" kern="1200" baseline="0" dirty="0"/>
                        <a:t>Julius </a:t>
                      </a:r>
                      <a:r>
                        <a:rPr lang="de-DE" sz="2200" b="0" kern="1200" baseline="0" dirty="0"/>
                        <a:t>Caesar </a:t>
                      </a:r>
                      <a:endParaRPr lang="de-DE" sz="2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200" b="0" kern="1200" baseline="0" dirty="0"/>
                        <a:t>The  </a:t>
                      </a:r>
                      <a:r>
                        <a:rPr lang="de-DE" sz="2200" b="0" kern="1200" baseline="0" dirty="0"/>
                        <a:t>Tempest</a:t>
                      </a:r>
                      <a:endParaRPr lang="de-DE" sz="2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200" b="0" kern="1200" baseline="0" dirty="0"/>
                        <a:t>Hamlet </a:t>
                      </a:r>
                      <a:endParaRPr lang="de-DE" sz="2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200" b="0" kern="1200" baseline="0" dirty="0"/>
                        <a:t>Othello </a:t>
                      </a:r>
                      <a:endParaRPr lang="de-DE" sz="2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200" b="0" kern="1200" baseline="0" dirty="0"/>
                        <a:t>Macbeth . . .</a:t>
                      </a:r>
                    </a:p>
                    <a:p>
                      <a:endParaRPr lang="de-DE" sz="22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 dirty="0"/>
                        <a:t>ANTHONY</a:t>
                      </a:r>
                    </a:p>
                    <a:p>
                      <a:r>
                        <a:rPr lang="de-DE" dirty="0"/>
                        <a:t>BRUTUS</a:t>
                      </a:r>
                      <a:r>
                        <a:rPr lang="de-DE" baseline="0" dirty="0"/>
                        <a:t> </a:t>
                      </a:r>
                    </a:p>
                    <a:p>
                      <a:r>
                        <a:rPr lang="de-DE" baseline="0" dirty="0"/>
                        <a:t>CAESAR</a:t>
                      </a:r>
                    </a:p>
                    <a:p>
                      <a:r>
                        <a:rPr lang="de-DE" baseline="0" dirty="0"/>
                        <a:t>CALPURNIA</a:t>
                      </a:r>
                    </a:p>
                    <a:p>
                      <a:r>
                        <a:rPr lang="de-DE" baseline="0" dirty="0"/>
                        <a:t>CLEOPATRA</a:t>
                      </a:r>
                    </a:p>
                    <a:p>
                      <a:r>
                        <a:rPr lang="de-DE" baseline="0" dirty="0"/>
                        <a:t>MERCY</a:t>
                      </a:r>
                    </a:p>
                    <a:p>
                      <a:r>
                        <a:rPr lang="de-DE" baseline="0" dirty="0"/>
                        <a:t>WORSER</a:t>
                      </a:r>
                    </a:p>
                    <a:p>
                      <a:r>
                        <a:rPr lang="de-DE" baseline="0" dirty="0"/>
                        <a:t>. . .</a:t>
                      </a:r>
                      <a:endParaRPr lang="de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de-DE" dirty="0"/>
                        <a:t>157</a:t>
                      </a:r>
                    </a:p>
                    <a:p>
                      <a:pPr algn="r"/>
                      <a:r>
                        <a:rPr lang="de-DE" dirty="0"/>
                        <a:t>4</a:t>
                      </a:r>
                    </a:p>
                    <a:p>
                      <a:pPr algn="r"/>
                      <a:r>
                        <a:rPr lang="de-DE" dirty="0"/>
                        <a:t>232</a:t>
                      </a:r>
                    </a:p>
                    <a:p>
                      <a:pPr algn="r"/>
                      <a:r>
                        <a:rPr lang="de-DE" dirty="0"/>
                        <a:t>0</a:t>
                      </a:r>
                    </a:p>
                    <a:p>
                      <a:pPr algn="r"/>
                      <a:r>
                        <a:rPr lang="de-DE" dirty="0"/>
                        <a:t>57</a:t>
                      </a:r>
                    </a:p>
                    <a:p>
                      <a:pPr algn="r"/>
                      <a:r>
                        <a:rPr lang="de-DE" dirty="0"/>
                        <a:t>2</a:t>
                      </a:r>
                    </a:p>
                    <a:p>
                      <a:pPr algn="r"/>
                      <a:r>
                        <a:rPr lang="de-DE" dirty="0"/>
                        <a:t>2</a:t>
                      </a:r>
                    </a:p>
                    <a:p>
                      <a:pPr algn="r"/>
                      <a:endParaRPr lang="de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de-DE" dirty="0"/>
                        <a:t>73</a:t>
                      </a:r>
                    </a:p>
                    <a:p>
                      <a:pPr algn="r"/>
                      <a:r>
                        <a:rPr lang="de-DE" dirty="0"/>
                        <a:t>157</a:t>
                      </a:r>
                    </a:p>
                    <a:p>
                      <a:pPr algn="r"/>
                      <a:r>
                        <a:rPr lang="de-DE" dirty="0"/>
                        <a:t>227</a:t>
                      </a:r>
                    </a:p>
                    <a:p>
                      <a:pPr algn="r"/>
                      <a:r>
                        <a:rPr lang="de-DE" dirty="0"/>
                        <a:t>10</a:t>
                      </a:r>
                    </a:p>
                    <a:p>
                      <a:pPr algn="r"/>
                      <a:r>
                        <a:rPr lang="de-DE" dirty="0"/>
                        <a:t>0</a:t>
                      </a:r>
                    </a:p>
                    <a:p>
                      <a:pPr algn="r"/>
                      <a:r>
                        <a:rPr lang="de-DE" dirty="0"/>
                        <a:t>0</a:t>
                      </a:r>
                    </a:p>
                    <a:p>
                      <a:pPr algn="r"/>
                      <a:r>
                        <a:rPr lang="de-DE" dirty="0"/>
                        <a:t>0</a:t>
                      </a:r>
                    </a:p>
                    <a:p>
                      <a:pPr algn="r"/>
                      <a:endParaRPr lang="de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de-DE" dirty="0"/>
                        <a:t>0</a:t>
                      </a:r>
                    </a:p>
                    <a:p>
                      <a:pPr algn="r"/>
                      <a:r>
                        <a:rPr lang="de-DE" dirty="0"/>
                        <a:t>0</a:t>
                      </a:r>
                    </a:p>
                    <a:p>
                      <a:pPr algn="r"/>
                      <a:r>
                        <a:rPr lang="de-DE" dirty="0"/>
                        <a:t>0</a:t>
                      </a:r>
                    </a:p>
                    <a:p>
                      <a:pPr algn="r"/>
                      <a:r>
                        <a:rPr lang="de-DE" dirty="0"/>
                        <a:t>0</a:t>
                      </a:r>
                    </a:p>
                    <a:p>
                      <a:pPr algn="r"/>
                      <a:r>
                        <a:rPr lang="de-DE" dirty="0"/>
                        <a:t>0</a:t>
                      </a:r>
                    </a:p>
                    <a:p>
                      <a:pPr algn="r"/>
                      <a:r>
                        <a:rPr lang="de-DE" dirty="0"/>
                        <a:t>3</a:t>
                      </a:r>
                    </a:p>
                    <a:p>
                      <a:pPr algn="r"/>
                      <a:r>
                        <a:rPr lang="de-DE" dirty="0"/>
                        <a:t>1</a:t>
                      </a:r>
                    </a:p>
                    <a:p>
                      <a:pPr algn="r"/>
                      <a:endParaRPr lang="de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de-DE" dirty="0"/>
                        <a:t>0</a:t>
                      </a:r>
                    </a:p>
                    <a:p>
                      <a:pPr algn="r"/>
                      <a:r>
                        <a:rPr lang="de-DE" dirty="0"/>
                        <a:t>2</a:t>
                      </a:r>
                    </a:p>
                    <a:p>
                      <a:pPr algn="r"/>
                      <a:r>
                        <a:rPr lang="de-DE" dirty="0"/>
                        <a:t>2</a:t>
                      </a:r>
                    </a:p>
                    <a:p>
                      <a:pPr algn="r"/>
                      <a:r>
                        <a:rPr lang="de-DE" dirty="0"/>
                        <a:t>0</a:t>
                      </a:r>
                    </a:p>
                    <a:p>
                      <a:pPr algn="r"/>
                      <a:r>
                        <a:rPr lang="de-DE" dirty="0"/>
                        <a:t>0</a:t>
                      </a:r>
                    </a:p>
                    <a:p>
                      <a:pPr algn="r"/>
                      <a:r>
                        <a:rPr lang="de-DE" dirty="0"/>
                        <a:t>8</a:t>
                      </a:r>
                    </a:p>
                    <a:p>
                      <a:pPr algn="r"/>
                      <a:r>
                        <a:rPr lang="de-DE" dirty="0"/>
                        <a:t>1</a:t>
                      </a:r>
                    </a:p>
                    <a:p>
                      <a:pPr algn="r"/>
                      <a:endParaRPr lang="de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de-DE" dirty="0"/>
                        <a:t>0</a:t>
                      </a:r>
                    </a:p>
                    <a:p>
                      <a:pPr algn="r"/>
                      <a:r>
                        <a:rPr lang="de-DE" dirty="0"/>
                        <a:t>0</a:t>
                      </a:r>
                    </a:p>
                    <a:p>
                      <a:pPr algn="r"/>
                      <a:r>
                        <a:rPr lang="de-DE" dirty="0"/>
                        <a:t>1</a:t>
                      </a:r>
                    </a:p>
                    <a:p>
                      <a:pPr algn="r"/>
                      <a:r>
                        <a:rPr lang="de-DE" dirty="0"/>
                        <a:t>0</a:t>
                      </a:r>
                    </a:p>
                    <a:p>
                      <a:pPr algn="r"/>
                      <a:r>
                        <a:rPr lang="de-DE" dirty="0"/>
                        <a:t>0</a:t>
                      </a:r>
                    </a:p>
                    <a:p>
                      <a:pPr algn="r"/>
                      <a:r>
                        <a:rPr lang="de-DE" dirty="0"/>
                        <a:t>5</a:t>
                      </a:r>
                    </a:p>
                    <a:p>
                      <a:pPr algn="r"/>
                      <a:r>
                        <a:rPr lang="de-DE" dirty="0"/>
                        <a:t>1</a:t>
                      </a:r>
                    </a:p>
                    <a:p>
                      <a:pPr algn="r"/>
                      <a:endParaRPr lang="de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de-DE" dirty="0"/>
                        <a:t>1</a:t>
                      </a:r>
                    </a:p>
                    <a:p>
                      <a:pPr algn="r"/>
                      <a:r>
                        <a:rPr lang="de-DE" dirty="0"/>
                        <a:t>0</a:t>
                      </a:r>
                    </a:p>
                    <a:p>
                      <a:pPr algn="r"/>
                      <a:r>
                        <a:rPr lang="de-DE" dirty="0"/>
                        <a:t>0</a:t>
                      </a:r>
                    </a:p>
                    <a:p>
                      <a:pPr algn="r"/>
                      <a:r>
                        <a:rPr lang="de-DE" dirty="0"/>
                        <a:t>0</a:t>
                      </a:r>
                    </a:p>
                    <a:p>
                      <a:pPr algn="r"/>
                      <a:r>
                        <a:rPr lang="de-DE" dirty="0"/>
                        <a:t>0</a:t>
                      </a:r>
                    </a:p>
                    <a:p>
                      <a:pPr algn="r"/>
                      <a:r>
                        <a:rPr lang="de-DE" dirty="0"/>
                        <a:t>8</a:t>
                      </a:r>
                    </a:p>
                    <a:p>
                      <a:pPr algn="r"/>
                      <a:r>
                        <a:rPr lang="de-DE" dirty="0"/>
                        <a:t>5</a:t>
                      </a:r>
                    </a:p>
                    <a:p>
                      <a:pPr algn="r"/>
                      <a:endParaRPr lang="de-D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Text Box 1"/>
          <p:cNvSpPr txBox="1">
            <a:spLocks noChangeArrowheads="1"/>
          </p:cNvSpPr>
          <p:nvPr/>
        </p:nvSpPr>
        <p:spPr bwMode="auto">
          <a:xfrm>
            <a:off x="6553200" y="6477000"/>
            <a:ext cx="2133600" cy="244475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lIns="90000" tIns="46800" rIns="90000" bIns="46800" anchor="ctr"/>
          <a:lstStyle/>
          <a:p>
            <a:pPr algn="r">
              <a:buSzPct val="10000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fld id="{48895EFF-1DBE-4654-84B8-EE5B6E2FA3CA}" type="slidenum">
              <a:rPr lang="en-US" sz="1200">
                <a:solidFill>
                  <a:srgbClr val="898989"/>
                </a:solidFill>
                <a:latin typeface="Calibri" charset="0"/>
              </a:rPr>
              <a:pPr algn="r">
                <a:buSzPct val="10000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</a:pPr>
              <a:t>39</a:t>
            </a:fld>
            <a:endParaRPr lang="en-US" sz="1200">
              <a:solidFill>
                <a:srgbClr val="898989"/>
              </a:solidFill>
              <a:latin typeface="Calibri" charset="0"/>
            </a:endParaRPr>
          </a:p>
        </p:txBody>
      </p:sp>
      <p:sp>
        <p:nvSpPr>
          <p:cNvPr id="84995" name="Text Box 2"/>
          <p:cNvSpPr txBox="1">
            <a:spLocks noChangeArrowheads="1"/>
          </p:cNvSpPr>
          <p:nvPr/>
        </p:nvSpPr>
        <p:spPr bwMode="auto">
          <a:xfrm>
            <a:off x="285720" y="12700"/>
            <a:ext cx="8572560" cy="1403350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anchor="b"/>
          <a:lstStyle/>
          <a:p>
            <a:r>
              <a:rPr lang="de-DE" sz="3600" dirty="0">
                <a:solidFill>
                  <a:schemeClr val="tx1"/>
                </a:solidFill>
                <a:latin typeface="+mj-lt"/>
              </a:rPr>
              <a:t>Binary → </a:t>
            </a:r>
            <a:r>
              <a:rPr lang="de-DE" sz="3600" dirty="0" err="1">
                <a:solidFill>
                  <a:schemeClr val="tx1"/>
                </a:solidFill>
                <a:latin typeface="+mj-lt"/>
              </a:rPr>
              <a:t>count</a:t>
            </a:r>
            <a:r>
              <a:rPr lang="de-DE" sz="3600" dirty="0">
                <a:solidFill>
                  <a:schemeClr val="tx1"/>
                </a:solidFill>
                <a:latin typeface="+mj-lt"/>
              </a:rPr>
              <a:t> → </a:t>
            </a:r>
            <a:r>
              <a:rPr lang="de-DE" sz="3600" dirty="0" err="1">
                <a:solidFill>
                  <a:schemeClr val="tx1"/>
                </a:solidFill>
                <a:latin typeface="+mj-lt"/>
              </a:rPr>
              <a:t>weight</a:t>
            </a:r>
            <a:r>
              <a:rPr lang="de-DE" sz="3600" dirty="0">
                <a:solidFill>
                  <a:schemeClr val="tx1"/>
                </a:solidFill>
                <a:latin typeface="+mj-lt"/>
              </a:rPr>
              <a:t> </a:t>
            </a:r>
            <a:r>
              <a:rPr lang="de-DE" sz="3600" dirty="0" err="1">
                <a:solidFill>
                  <a:schemeClr val="tx1"/>
                </a:solidFill>
                <a:latin typeface="+mj-lt"/>
              </a:rPr>
              <a:t>matrix</a:t>
            </a:r>
            <a:endParaRPr lang="de-DE" sz="3600" dirty="0">
              <a:solidFill>
                <a:schemeClr val="tx1"/>
              </a:solidFill>
              <a:latin typeface="+mj-lt"/>
            </a:endParaRPr>
          </a:p>
        </p:txBody>
      </p:sp>
      <p:sp>
        <p:nvSpPr>
          <p:cNvPr id="84996" name="Text Box 3"/>
          <p:cNvSpPr txBox="1">
            <a:spLocks noChangeArrowheads="1"/>
          </p:cNvSpPr>
          <p:nvPr/>
        </p:nvSpPr>
        <p:spPr bwMode="auto">
          <a:xfrm>
            <a:off x="214282" y="5143536"/>
            <a:ext cx="8572560" cy="1714464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/>
          <a:lstStyle/>
          <a:p>
            <a:r>
              <a:rPr lang="en-US" dirty="0">
                <a:solidFill>
                  <a:schemeClr val="tx1"/>
                </a:solidFill>
                <a:latin typeface="+mj-lt"/>
              </a:rPr>
              <a:t>	Each document is now represented as a real-valued vector of </a:t>
            </a:r>
            <a:r>
              <a:rPr lang="en-US" dirty="0" err="1">
                <a:solidFill>
                  <a:schemeClr val="tx1"/>
                </a:solidFill>
                <a:latin typeface="+mj-lt"/>
              </a:rPr>
              <a:t>tf</a:t>
            </a:r>
            <a:r>
              <a:rPr lang="en-US" dirty="0">
                <a:solidFill>
                  <a:schemeClr val="tx1"/>
                </a:solidFill>
                <a:latin typeface="+mj-lt"/>
              </a:rPr>
              <a:t> -</a:t>
            </a:r>
            <a:r>
              <a:rPr lang="en-US" dirty="0" err="1">
                <a:solidFill>
                  <a:schemeClr val="tx1"/>
                </a:solidFill>
                <a:latin typeface="+mj-lt"/>
              </a:rPr>
              <a:t>idf</a:t>
            </a:r>
            <a:r>
              <a:rPr lang="en-US" dirty="0">
                <a:solidFill>
                  <a:schemeClr val="tx1"/>
                </a:solidFill>
                <a:latin typeface="+mj-lt"/>
              </a:rPr>
              <a:t> </a:t>
            </a:r>
            <a:r>
              <a:rPr lang="de-DE" dirty="0" err="1">
                <a:solidFill>
                  <a:schemeClr val="tx1"/>
                </a:solidFill>
                <a:latin typeface="+mj-lt"/>
              </a:rPr>
              <a:t>weights</a:t>
            </a:r>
            <a:r>
              <a:rPr lang="de-DE" dirty="0">
                <a:solidFill>
                  <a:schemeClr val="tx1"/>
                </a:solidFill>
                <a:latin typeface="+mj-lt"/>
              </a:rPr>
              <a:t> </a:t>
            </a:r>
            <a:r>
              <a:rPr lang="en-US" dirty="0">
                <a:solidFill>
                  <a:schemeClr val="tx1"/>
                </a:solidFill>
                <a:latin typeface="+mj-lt"/>
              </a:rPr>
              <a:t>∈ R</a:t>
            </a:r>
            <a:r>
              <a:rPr lang="en-US" baseline="30000" dirty="0">
                <a:solidFill>
                  <a:schemeClr val="tx1"/>
                </a:solidFill>
                <a:latin typeface="+mj-lt"/>
              </a:rPr>
              <a:t>|</a:t>
            </a:r>
            <a:r>
              <a:rPr lang="en-US" i="1" baseline="30000" dirty="0">
                <a:solidFill>
                  <a:schemeClr val="tx1"/>
                </a:solidFill>
                <a:latin typeface="+mj-lt"/>
              </a:rPr>
              <a:t>V</a:t>
            </a:r>
            <a:r>
              <a:rPr lang="en-US" baseline="30000" dirty="0">
                <a:solidFill>
                  <a:schemeClr val="tx1"/>
                </a:solidFill>
                <a:latin typeface="+mj-lt"/>
              </a:rPr>
              <a:t>|.</a:t>
            </a:r>
          </a:p>
        </p:txBody>
      </p:sp>
      <p:sp>
        <p:nvSpPr>
          <p:cNvPr id="84997" name="Text Box 4"/>
          <p:cNvSpPr txBox="1">
            <a:spLocks noChangeArrowheads="1"/>
          </p:cNvSpPr>
          <p:nvPr/>
        </p:nvSpPr>
        <p:spPr bwMode="auto">
          <a:xfrm>
            <a:off x="7640638" y="-33338"/>
            <a:ext cx="925512" cy="336551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wrap="none" anchor="ctr"/>
          <a:lstStyle/>
          <a:p>
            <a:pPr>
              <a:buClr>
                <a:srgbClr val="000000"/>
              </a:buClr>
              <a:buSzPct val="100000"/>
              <a:buFont typeface="Times New Roman" pitchFamily="16" charset="0"/>
              <a:buNone/>
            </a:pPr>
            <a:endParaRPr lang="de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4BF2C0F-05D6-4882-A325-BE394602789D}" type="slidenum">
              <a:rPr lang="en-US" smtClean="0"/>
              <a:pPr>
                <a:defRPr/>
              </a:pPr>
              <a:t>39</a:t>
            </a:fld>
            <a:endParaRPr lang="en-US"/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214282" y="1617356"/>
          <a:ext cx="8524894" cy="2834640"/>
        </p:xfrm>
        <a:graphic>
          <a:graphicData uri="http://schemas.openxmlformats.org/drawingml/2006/table">
            <a:tbl>
              <a:tblPr firstRow="1" bandRow="1">
                <a:tableStyleId>{C083E6E3-FA7D-4D7B-A595-EF9225AFEA82}</a:tableStyleId>
              </a:tblPr>
              <a:tblGrid>
                <a:gridCol w="128588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8588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8175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1784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1784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21784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217842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de-DE" sz="2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200" b="0" kern="1200" baseline="0" dirty="0"/>
                        <a:t>Anthony </a:t>
                      </a:r>
                      <a:r>
                        <a:rPr lang="de-DE" sz="2200" b="0" kern="1200" baseline="0" dirty="0" err="1"/>
                        <a:t>and</a:t>
                      </a:r>
                      <a:r>
                        <a:rPr lang="de-DE" sz="2200" b="0" kern="1200" baseline="0" dirty="0"/>
                        <a:t>  Cleopatra</a:t>
                      </a:r>
                      <a:endParaRPr lang="de-DE" sz="2200" b="0" kern="1200" baseline="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200" b="0" kern="1200" baseline="0" dirty="0"/>
                        <a:t>Julius </a:t>
                      </a:r>
                      <a:r>
                        <a:rPr lang="de-DE" sz="2200" b="0" kern="1200" baseline="0" dirty="0"/>
                        <a:t>Caesar </a:t>
                      </a:r>
                      <a:endParaRPr lang="de-DE" sz="2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200" b="0" kern="1200" baseline="0" dirty="0"/>
                        <a:t>The  </a:t>
                      </a:r>
                      <a:r>
                        <a:rPr lang="de-DE" sz="2200" b="0" kern="1200" baseline="0" dirty="0"/>
                        <a:t>Tempest</a:t>
                      </a:r>
                      <a:endParaRPr lang="de-DE" sz="2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200" b="0" kern="1200" baseline="0" dirty="0"/>
                        <a:t>Hamlet </a:t>
                      </a:r>
                      <a:endParaRPr lang="de-DE" sz="2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200" b="0" kern="1200" baseline="0" dirty="0"/>
                        <a:t>Othello </a:t>
                      </a:r>
                      <a:endParaRPr lang="de-DE" sz="2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200" b="0" kern="1200" baseline="0" dirty="0"/>
                        <a:t>Macbeth . . .</a:t>
                      </a:r>
                    </a:p>
                    <a:p>
                      <a:endParaRPr lang="de-DE" sz="22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 dirty="0"/>
                        <a:t>ANTHONY</a:t>
                      </a:r>
                    </a:p>
                    <a:p>
                      <a:r>
                        <a:rPr lang="de-DE" dirty="0"/>
                        <a:t>BRUTUS</a:t>
                      </a:r>
                      <a:r>
                        <a:rPr lang="de-DE" baseline="0" dirty="0"/>
                        <a:t> </a:t>
                      </a:r>
                    </a:p>
                    <a:p>
                      <a:r>
                        <a:rPr lang="de-DE" baseline="0" dirty="0"/>
                        <a:t>CAESAR</a:t>
                      </a:r>
                    </a:p>
                    <a:p>
                      <a:r>
                        <a:rPr lang="de-DE" baseline="0" dirty="0"/>
                        <a:t>CALPURNIA</a:t>
                      </a:r>
                    </a:p>
                    <a:p>
                      <a:r>
                        <a:rPr lang="de-DE" baseline="0" dirty="0"/>
                        <a:t>CLEOPATRA</a:t>
                      </a:r>
                    </a:p>
                    <a:p>
                      <a:r>
                        <a:rPr lang="de-DE" baseline="0" dirty="0"/>
                        <a:t>MERCY</a:t>
                      </a:r>
                    </a:p>
                    <a:p>
                      <a:r>
                        <a:rPr lang="de-DE" baseline="0" dirty="0"/>
                        <a:t>WORSER</a:t>
                      </a:r>
                    </a:p>
                    <a:p>
                      <a:r>
                        <a:rPr lang="de-DE" baseline="0" dirty="0"/>
                        <a:t>. . .</a:t>
                      </a:r>
                      <a:endParaRPr lang="de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de-DE" dirty="0"/>
                        <a:t>5.25</a:t>
                      </a:r>
                    </a:p>
                    <a:p>
                      <a:pPr algn="r"/>
                      <a:r>
                        <a:rPr lang="de-DE" dirty="0"/>
                        <a:t>1.21</a:t>
                      </a:r>
                    </a:p>
                    <a:p>
                      <a:pPr algn="r"/>
                      <a:r>
                        <a:rPr lang="de-DE" dirty="0"/>
                        <a:t>8.59</a:t>
                      </a:r>
                    </a:p>
                    <a:p>
                      <a:pPr algn="r"/>
                      <a:r>
                        <a:rPr lang="de-DE" dirty="0"/>
                        <a:t>0.0</a:t>
                      </a:r>
                    </a:p>
                    <a:p>
                      <a:pPr algn="r"/>
                      <a:r>
                        <a:rPr lang="de-DE" dirty="0"/>
                        <a:t>2.85</a:t>
                      </a:r>
                    </a:p>
                    <a:p>
                      <a:pPr algn="r"/>
                      <a:r>
                        <a:rPr lang="de-DE" dirty="0"/>
                        <a:t>1.51</a:t>
                      </a:r>
                    </a:p>
                    <a:p>
                      <a:pPr algn="r"/>
                      <a:r>
                        <a:rPr lang="de-DE" dirty="0"/>
                        <a:t>1.37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de-DE" dirty="0"/>
                        <a:t>3.18</a:t>
                      </a:r>
                    </a:p>
                    <a:p>
                      <a:pPr algn="r"/>
                      <a:r>
                        <a:rPr lang="de-DE" dirty="0"/>
                        <a:t>6.10</a:t>
                      </a:r>
                    </a:p>
                    <a:p>
                      <a:pPr algn="r"/>
                      <a:r>
                        <a:rPr lang="de-DE" dirty="0"/>
                        <a:t>2.54</a:t>
                      </a:r>
                    </a:p>
                    <a:p>
                      <a:pPr algn="r"/>
                      <a:r>
                        <a:rPr lang="de-DE" dirty="0"/>
                        <a:t>1.54</a:t>
                      </a:r>
                    </a:p>
                    <a:p>
                      <a:pPr algn="r"/>
                      <a:r>
                        <a:rPr lang="de-DE" dirty="0"/>
                        <a:t>0.0</a:t>
                      </a:r>
                    </a:p>
                    <a:p>
                      <a:pPr algn="r"/>
                      <a:r>
                        <a:rPr lang="de-DE" dirty="0"/>
                        <a:t>0.0</a:t>
                      </a:r>
                    </a:p>
                    <a:p>
                      <a:pPr algn="r"/>
                      <a:r>
                        <a:rPr lang="de-DE" dirty="0"/>
                        <a:t>0.0</a:t>
                      </a:r>
                    </a:p>
                    <a:p>
                      <a:pPr algn="r"/>
                      <a:endParaRPr lang="de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de-DE" dirty="0"/>
                        <a:t>0.0</a:t>
                      </a:r>
                    </a:p>
                    <a:p>
                      <a:pPr algn="r"/>
                      <a:r>
                        <a:rPr lang="de-DE" dirty="0"/>
                        <a:t>0.0</a:t>
                      </a:r>
                    </a:p>
                    <a:p>
                      <a:pPr algn="r"/>
                      <a:r>
                        <a:rPr lang="de-DE" dirty="0"/>
                        <a:t>0.0</a:t>
                      </a:r>
                    </a:p>
                    <a:p>
                      <a:pPr algn="r"/>
                      <a:r>
                        <a:rPr lang="de-DE" dirty="0"/>
                        <a:t>0.0</a:t>
                      </a:r>
                    </a:p>
                    <a:p>
                      <a:pPr algn="r"/>
                      <a:r>
                        <a:rPr lang="de-DE" dirty="0"/>
                        <a:t>0.0</a:t>
                      </a:r>
                    </a:p>
                    <a:p>
                      <a:pPr algn="r"/>
                      <a:r>
                        <a:rPr lang="de-DE" dirty="0"/>
                        <a:t>1.90</a:t>
                      </a:r>
                    </a:p>
                    <a:p>
                      <a:pPr algn="r"/>
                      <a:r>
                        <a:rPr lang="de-DE" dirty="0"/>
                        <a:t>0.11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de-DE" dirty="0"/>
                        <a:t>0.0</a:t>
                      </a:r>
                    </a:p>
                    <a:p>
                      <a:pPr algn="r"/>
                      <a:r>
                        <a:rPr lang="de-DE" dirty="0"/>
                        <a:t>1.0</a:t>
                      </a:r>
                    </a:p>
                    <a:p>
                      <a:pPr algn="r"/>
                      <a:r>
                        <a:rPr lang="de-DE" dirty="0"/>
                        <a:t>1.51</a:t>
                      </a:r>
                    </a:p>
                    <a:p>
                      <a:pPr algn="r"/>
                      <a:r>
                        <a:rPr lang="de-DE" dirty="0"/>
                        <a:t>0.0</a:t>
                      </a:r>
                    </a:p>
                    <a:p>
                      <a:pPr algn="r"/>
                      <a:r>
                        <a:rPr lang="de-DE" dirty="0"/>
                        <a:t>0.0</a:t>
                      </a:r>
                    </a:p>
                    <a:p>
                      <a:pPr algn="r"/>
                      <a:r>
                        <a:rPr lang="de-DE" dirty="0"/>
                        <a:t>0.12</a:t>
                      </a:r>
                    </a:p>
                    <a:p>
                      <a:pPr algn="r"/>
                      <a:r>
                        <a:rPr lang="de-DE" dirty="0"/>
                        <a:t>4.15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de-DE" dirty="0"/>
                        <a:t>0.0</a:t>
                      </a:r>
                    </a:p>
                    <a:p>
                      <a:pPr algn="r"/>
                      <a:r>
                        <a:rPr lang="de-DE" dirty="0"/>
                        <a:t>0.0</a:t>
                      </a:r>
                    </a:p>
                    <a:p>
                      <a:pPr algn="r"/>
                      <a:r>
                        <a:rPr lang="de-DE" dirty="0"/>
                        <a:t>0.25</a:t>
                      </a:r>
                    </a:p>
                    <a:p>
                      <a:pPr algn="r"/>
                      <a:r>
                        <a:rPr lang="de-DE" dirty="0"/>
                        <a:t>0.0</a:t>
                      </a:r>
                    </a:p>
                    <a:p>
                      <a:pPr algn="r"/>
                      <a:r>
                        <a:rPr lang="de-DE" dirty="0"/>
                        <a:t>0.0</a:t>
                      </a:r>
                    </a:p>
                    <a:p>
                      <a:pPr algn="r"/>
                      <a:r>
                        <a:rPr lang="de-DE" dirty="0"/>
                        <a:t>5.25</a:t>
                      </a:r>
                    </a:p>
                    <a:p>
                      <a:pPr algn="r"/>
                      <a:r>
                        <a:rPr lang="de-DE" dirty="0"/>
                        <a:t>0.25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de-DE" dirty="0"/>
                        <a:t>0.35</a:t>
                      </a:r>
                    </a:p>
                    <a:p>
                      <a:pPr algn="r"/>
                      <a:r>
                        <a:rPr lang="de-DE" dirty="0"/>
                        <a:t>0.0</a:t>
                      </a:r>
                    </a:p>
                    <a:p>
                      <a:pPr algn="r"/>
                      <a:r>
                        <a:rPr lang="de-DE" dirty="0"/>
                        <a:t>0.0</a:t>
                      </a:r>
                    </a:p>
                    <a:p>
                      <a:pPr algn="r"/>
                      <a:r>
                        <a:rPr lang="de-DE" dirty="0"/>
                        <a:t>0.0</a:t>
                      </a:r>
                    </a:p>
                    <a:p>
                      <a:pPr algn="r"/>
                      <a:r>
                        <a:rPr lang="de-DE" dirty="0"/>
                        <a:t>0.0</a:t>
                      </a:r>
                    </a:p>
                    <a:p>
                      <a:pPr algn="r"/>
                      <a:r>
                        <a:rPr lang="de-DE" dirty="0"/>
                        <a:t>0.88</a:t>
                      </a:r>
                    </a:p>
                    <a:p>
                      <a:pPr algn="r"/>
                      <a:r>
                        <a:rPr lang="de-DE" dirty="0"/>
                        <a:t>1.95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Text Box 1"/>
          <p:cNvSpPr txBox="1">
            <a:spLocks noChangeArrowheads="1"/>
          </p:cNvSpPr>
          <p:nvPr/>
        </p:nvSpPr>
        <p:spPr bwMode="auto">
          <a:xfrm>
            <a:off x="6553200" y="6477000"/>
            <a:ext cx="2133600" cy="244475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lIns="90000" tIns="46800" rIns="90000" bIns="46800" anchor="ctr"/>
          <a:lstStyle/>
          <a:p>
            <a:pPr algn="r">
              <a:buSzPct val="10000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fld id="{48895EFF-1DBE-4654-84B8-EE5B6E2FA3CA}" type="slidenum">
              <a:rPr lang="en-US" sz="1200">
                <a:solidFill>
                  <a:srgbClr val="898989"/>
                </a:solidFill>
                <a:latin typeface="Calibri" charset="0"/>
              </a:rPr>
              <a:pPr algn="r">
                <a:buSzPct val="10000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</a:pPr>
              <a:t>40</a:t>
            </a:fld>
            <a:endParaRPr lang="en-US" sz="1200">
              <a:solidFill>
                <a:srgbClr val="898989"/>
              </a:solidFill>
              <a:latin typeface="Calibri" charset="0"/>
            </a:endParaRPr>
          </a:p>
        </p:txBody>
      </p:sp>
      <p:sp>
        <p:nvSpPr>
          <p:cNvPr id="84995" name="Text Box 2"/>
          <p:cNvSpPr txBox="1">
            <a:spLocks noChangeArrowheads="1"/>
          </p:cNvSpPr>
          <p:nvPr/>
        </p:nvSpPr>
        <p:spPr bwMode="auto">
          <a:xfrm>
            <a:off x="285720" y="12700"/>
            <a:ext cx="8572560" cy="1403350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anchor="b"/>
          <a:lstStyle/>
          <a:p>
            <a:r>
              <a:rPr lang="de-DE" sz="3600" dirty="0" err="1">
                <a:solidFill>
                  <a:schemeClr val="tx1"/>
                </a:solidFill>
                <a:latin typeface="+mj-lt"/>
              </a:rPr>
              <a:t>Documents</a:t>
            </a:r>
            <a:r>
              <a:rPr lang="de-DE" sz="3600" dirty="0">
                <a:solidFill>
                  <a:schemeClr val="tx1"/>
                </a:solidFill>
                <a:latin typeface="+mj-lt"/>
              </a:rPr>
              <a:t> </a:t>
            </a:r>
            <a:r>
              <a:rPr lang="de-DE" sz="3600" dirty="0" err="1">
                <a:solidFill>
                  <a:schemeClr val="tx1"/>
                </a:solidFill>
                <a:latin typeface="+mj-lt"/>
              </a:rPr>
              <a:t>as</a:t>
            </a:r>
            <a:r>
              <a:rPr lang="de-DE" sz="3600" dirty="0">
                <a:solidFill>
                  <a:schemeClr val="tx1"/>
                </a:solidFill>
                <a:latin typeface="+mj-lt"/>
              </a:rPr>
              <a:t> </a:t>
            </a:r>
            <a:r>
              <a:rPr lang="de-DE" sz="3600" dirty="0" err="1">
                <a:solidFill>
                  <a:schemeClr val="tx1"/>
                </a:solidFill>
                <a:latin typeface="+mj-lt"/>
              </a:rPr>
              <a:t>vectors</a:t>
            </a:r>
            <a:endParaRPr lang="de-DE" sz="3600" dirty="0">
              <a:solidFill>
                <a:schemeClr val="tx1"/>
              </a:solidFill>
              <a:latin typeface="+mj-lt"/>
            </a:endParaRPr>
          </a:p>
        </p:txBody>
      </p:sp>
      <p:sp>
        <p:nvSpPr>
          <p:cNvPr id="84996" name="Text Box 3"/>
          <p:cNvSpPr txBox="1">
            <a:spLocks noChangeArrowheads="1"/>
          </p:cNvSpPr>
          <p:nvPr/>
        </p:nvSpPr>
        <p:spPr bwMode="auto">
          <a:xfrm>
            <a:off x="285720" y="1857364"/>
            <a:ext cx="8286808" cy="4643470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/>
          <a:lstStyle/>
          <a:p>
            <a:pPr lvl="1">
              <a:spcBef>
                <a:spcPts val="700"/>
              </a:spcBef>
              <a:buClr>
                <a:srgbClr val="336699"/>
              </a:buClr>
              <a:buFont typeface="Wingdings" pitchFamily="2" charset="2"/>
              <a:buChar char="§"/>
            </a:pPr>
            <a:r>
              <a:rPr lang="en-US" dirty="0">
                <a:latin typeface="+mj-lt"/>
              </a:rPr>
              <a:t>Each document is now represented as a real-valued vector of </a:t>
            </a:r>
            <a:r>
              <a:rPr lang="de-DE" dirty="0" err="1">
                <a:latin typeface="+mj-lt"/>
              </a:rPr>
              <a:t>tf-idf</a:t>
            </a:r>
            <a:r>
              <a:rPr lang="de-DE" dirty="0">
                <a:latin typeface="+mj-lt"/>
              </a:rPr>
              <a:t> </a:t>
            </a:r>
            <a:r>
              <a:rPr lang="de-DE" dirty="0" err="1">
                <a:latin typeface="+mj-lt"/>
              </a:rPr>
              <a:t>weights</a:t>
            </a:r>
            <a:r>
              <a:rPr lang="de-DE" dirty="0">
                <a:latin typeface="+mj-lt"/>
              </a:rPr>
              <a:t> ∈ R</a:t>
            </a:r>
            <a:r>
              <a:rPr lang="de-DE" baseline="30000" dirty="0">
                <a:latin typeface="+mj-lt"/>
              </a:rPr>
              <a:t>|</a:t>
            </a:r>
            <a:r>
              <a:rPr lang="de-DE" i="1" baseline="30000" dirty="0">
                <a:latin typeface="+mj-lt"/>
              </a:rPr>
              <a:t>V</a:t>
            </a:r>
            <a:r>
              <a:rPr lang="de-DE" baseline="30000" dirty="0">
                <a:latin typeface="+mj-lt"/>
              </a:rPr>
              <a:t>|.</a:t>
            </a:r>
          </a:p>
          <a:p>
            <a:pPr lvl="1">
              <a:spcBef>
                <a:spcPts val="700"/>
              </a:spcBef>
              <a:buClr>
                <a:srgbClr val="336699"/>
              </a:buClr>
              <a:buFont typeface="Wingdings" pitchFamily="2" charset="2"/>
              <a:buChar char="§"/>
            </a:pPr>
            <a:r>
              <a:rPr lang="en-US">
                <a:latin typeface="+mj-lt"/>
              </a:rPr>
              <a:t>So, </a:t>
            </a:r>
            <a:r>
              <a:rPr lang="en-US" dirty="0">
                <a:latin typeface="+mj-lt"/>
              </a:rPr>
              <a:t>we have a |</a:t>
            </a:r>
            <a:r>
              <a:rPr lang="en-US" i="1" dirty="0">
                <a:latin typeface="+mj-lt"/>
              </a:rPr>
              <a:t>V</a:t>
            </a:r>
            <a:r>
              <a:rPr lang="en-US" dirty="0">
                <a:latin typeface="+mj-lt"/>
              </a:rPr>
              <a:t>|-dimensional real-valued vector space.</a:t>
            </a:r>
          </a:p>
          <a:p>
            <a:pPr lvl="1">
              <a:spcBef>
                <a:spcPts val="700"/>
              </a:spcBef>
              <a:buClr>
                <a:srgbClr val="336699"/>
              </a:buClr>
              <a:buFont typeface="Wingdings" pitchFamily="2" charset="2"/>
              <a:buChar char="§"/>
            </a:pPr>
            <a:r>
              <a:rPr lang="en-US" dirty="0">
                <a:latin typeface="+mj-lt"/>
              </a:rPr>
              <a:t>Terms are axes of the space.</a:t>
            </a:r>
          </a:p>
          <a:p>
            <a:pPr lvl="1">
              <a:spcBef>
                <a:spcPts val="700"/>
              </a:spcBef>
              <a:buClr>
                <a:srgbClr val="336699"/>
              </a:buClr>
              <a:buFont typeface="Wingdings" pitchFamily="2" charset="2"/>
              <a:buChar char="§"/>
            </a:pPr>
            <a:r>
              <a:rPr lang="en-US" dirty="0">
                <a:latin typeface="+mj-lt"/>
              </a:rPr>
              <a:t>Documents are points or vectors in this space.</a:t>
            </a:r>
          </a:p>
          <a:p>
            <a:pPr lvl="1">
              <a:spcBef>
                <a:spcPts val="700"/>
              </a:spcBef>
              <a:buClr>
                <a:srgbClr val="336699"/>
              </a:buClr>
              <a:buFont typeface="Wingdings" pitchFamily="2" charset="2"/>
              <a:buChar char="§"/>
            </a:pPr>
            <a:r>
              <a:rPr lang="en-US" dirty="0">
                <a:latin typeface="+mj-lt"/>
              </a:rPr>
              <a:t>Very high-dimensional: tens of millions of dimensions when you apply this to web search engines</a:t>
            </a:r>
          </a:p>
          <a:p>
            <a:pPr lvl="1">
              <a:spcBef>
                <a:spcPts val="700"/>
              </a:spcBef>
              <a:buClr>
                <a:srgbClr val="336699"/>
              </a:buClr>
              <a:buFont typeface="Wingdings" pitchFamily="2" charset="2"/>
              <a:buChar char="§"/>
            </a:pPr>
            <a:r>
              <a:rPr lang="en-US" dirty="0">
                <a:latin typeface="+mj-lt"/>
              </a:rPr>
              <a:t>Each vector is very sparse - most entries are zero.</a:t>
            </a:r>
          </a:p>
        </p:txBody>
      </p:sp>
      <p:sp>
        <p:nvSpPr>
          <p:cNvPr id="84997" name="Text Box 4"/>
          <p:cNvSpPr txBox="1">
            <a:spLocks noChangeArrowheads="1"/>
          </p:cNvSpPr>
          <p:nvPr/>
        </p:nvSpPr>
        <p:spPr bwMode="auto">
          <a:xfrm>
            <a:off x="7640638" y="-33338"/>
            <a:ext cx="925512" cy="336551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wrap="none" anchor="ctr"/>
          <a:lstStyle/>
          <a:p>
            <a:pPr>
              <a:buClr>
                <a:srgbClr val="000000"/>
              </a:buClr>
              <a:buSzPct val="100000"/>
              <a:buFont typeface="Times New Roman" pitchFamily="16" charset="0"/>
              <a:buNone/>
            </a:pPr>
            <a:endParaRPr lang="de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4BF2C0F-05D6-4882-A325-BE394602789D}" type="slidenum">
              <a:rPr lang="en-US" smtClean="0"/>
              <a:pPr>
                <a:defRPr/>
              </a:pPr>
              <a:t>40</a:t>
            </a:fld>
            <a:endParaRPr lang="en-US"/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Text Box 1"/>
          <p:cNvSpPr txBox="1">
            <a:spLocks noChangeArrowheads="1"/>
          </p:cNvSpPr>
          <p:nvPr/>
        </p:nvSpPr>
        <p:spPr bwMode="auto">
          <a:xfrm>
            <a:off x="6553200" y="6477000"/>
            <a:ext cx="2133600" cy="244475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lIns="90000" tIns="46800" rIns="90000" bIns="46800" anchor="ctr"/>
          <a:lstStyle/>
          <a:p>
            <a:pPr algn="r">
              <a:buSzPct val="10000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fld id="{48895EFF-1DBE-4654-84B8-EE5B6E2FA3CA}" type="slidenum">
              <a:rPr lang="en-US" sz="1200">
                <a:solidFill>
                  <a:srgbClr val="898989"/>
                </a:solidFill>
                <a:latin typeface="Calibri" charset="0"/>
              </a:rPr>
              <a:pPr algn="r">
                <a:buSzPct val="10000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</a:pPr>
              <a:t>41</a:t>
            </a:fld>
            <a:endParaRPr lang="en-US" sz="1200">
              <a:solidFill>
                <a:srgbClr val="898989"/>
              </a:solidFill>
              <a:latin typeface="Calibri" charset="0"/>
            </a:endParaRPr>
          </a:p>
        </p:txBody>
      </p:sp>
      <p:sp>
        <p:nvSpPr>
          <p:cNvPr id="84995" name="Text Box 2"/>
          <p:cNvSpPr txBox="1">
            <a:spLocks noChangeArrowheads="1"/>
          </p:cNvSpPr>
          <p:nvPr/>
        </p:nvSpPr>
        <p:spPr bwMode="auto">
          <a:xfrm>
            <a:off x="285720" y="12700"/>
            <a:ext cx="8572560" cy="1403350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anchor="b"/>
          <a:lstStyle/>
          <a:p>
            <a:r>
              <a:rPr lang="de-DE" sz="3600" dirty="0" err="1">
                <a:solidFill>
                  <a:schemeClr val="tx1"/>
                </a:solidFill>
                <a:latin typeface="+mj-lt"/>
              </a:rPr>
              <a:t>Queries</a:t>
            </a:r>
            <a:r>
              <a:rPr lang="de-DE" sz="3600" dirty="0">
                <a:solidFill>
                  <a:schemeClr val="tx1"/>
                </a:solidFill>
                <a:latin typeface="+mj-lt"/>
              </a:rPr>
              <a:t> </a:t>
            </a:r>
            <a:r>
              <a:rPr lang="de-DE" sz="3600" dirty="0" err="1">
                <a:solidFill>
                  <a:schemeClr val="tx1"/>
                </a:solidFill>
                <a:latin typeface="+mj-lt"/>
              </a:rPr>
              <a:t>as</a:t>
            </a:r>
            <a:r>
              <a:rPr lang="de-DE" sz="3600" dirty="0">
                <a:solidFill>
                  <a:schemeClr val="tx1"/>
                </a:solidFill>
                <a:latin typeface="+mj-lt"/>
              </a:rPr>
              <a:t> </a:t>
            </a:r>
            <a:r>
              <a:rPr lang="de-DE" sz="3600" dirty="0" err="1">
                <a:solidFill>
                  <a:schemeClr val="tx1"/>
                </a:solidFill>
                <a:latin typeface="+mj-lt"/>
              </a:rPr>
              <a:t>vectors</a:t>
            </a:r>
            <a:endParaRPr lang="de-DE" sz="3600" dirty="0">
              <a:solidFill>
                <a:schemeClr val="tx1"/>
              </a:solidFill>
              <a:latin typeface="+mj-lt"/>
            </a:endParaRPr>
          </a:p>
        </p:txBody>
      </p:sp>
      <p:sp>
        <p:nvSpPr>
          <p:cNvPr id="84996" name="Text Box 3"/>
          <p:cNvSpPr txBox="1">
            <a:spLocks noChangeArrowheads="1"/>
          </p:cNvSpPr>
          <p:nvPr/>
        </p:nvSpPr>
        <p:spPr bwMode="auto">
          <a:xfrm>
            <a:off x="285720" y="1643050"/>
            <a:ext cx="8286808" cy="4643470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/>
          <a:lstStyle/>
          <a:p>
            <a:pPr lvl="1">
              <a:spcBef>
                <a:spcPts val="700"/>
              </a:spcBef>
              <a:buClr>
                <a:srgbClr val="336699"/>
              </a:buClr>
              <a:buFont typeface="Wingdings" pitchFamily="2" charset="2"/>
              <a:buChar char="§"/>
            </a:pPr>
            <a:r>
              <a:rPr lang="en-US" dirty="0">
                <a:solidFill>
                  <a:schemeClr val="tx1"/>
                </a:solidFill>
                <a:latin typeface="+mj-lt"/>
              </a:rPr>
              <a:t>Key idea 1: do the same for queries: represent them as vectors in the high-dimensional space</a:t>
            </a:r>
          </a:p>
          <a:p>
            <a:pPr lvl="1">
              <a:spcBef>
                <a:spcPts val="700"/>
              </a:spcBef>
              <a:buClr>
                <a:srgbClr val="336699"/>
              </a:buClr>
              <a:buFont typeface="Wingdings" pitchFamily="2" charset="2"/>
              <a:buChar char="§"/>
            </a:pPr>
            <a:r>
              <a:rPr lang="en-US" dirty="0">
                <a:solidFill>
                  <a:schemeClr val="tx1"/>
                </a:solidFill>
                <a:latin typeface="+mj-lt"/>
              </a:rPr>
              <a:t>Key idea 2: Rank documents according to their proximity to </a:t>
            </a:r>
            <a:r>
              <a:rPr lang="de-DE" dirty="0" err="1">
                <a:solidFill>
                  <a:schemeClr val="tx1"/>
                </a:solidFill>
                <a:latin typeface="+mj-lt"/>
              </a:rPr>
              <a:t>the</a:t>
            </a:r>
            <a:r>
              <a:rPr lang="de-DE" dirty="0">
                <a:solidFill>
                  <a:schemeClr val="tx1"/>
                </a:solidFill>
                <a:latin typeface="+mj-lt"/>
              </a:rPr>
              <a:t> </a:t>
            </a:r>
            <a:r>
              <a:rPr lang="de-DE" dirty="0" err="1">
                <a:solidFill>
                  <a:schemeClr val="tx1"/>
                </a:solidFill>
                <a:latin typeface="+mj-lt"/>
              </a:rPr>
              <a:t>query</a:t>
            </a:r>
            <a:endParaRPr lang="de-DE" dirty="0">
              <a:solidFill>
                <a:schemeClr val="tx1"/>
              </a:solidFill>
              <a:latin typeface="+mj-lt"/>
            </a:endParaRPr>
          </a:p>
          <a:p>
            <a:pPr lvl="1">
              <a:spcBef>
                <a:spcPts val="700"/>
              </a:spcBef>
              <a:buClr>
                <a:srgbClr val="336699"/>
              </a:buClr>
              <a:buFont typeface="Wingdings" pitchFamily="2" charset="2"/>
              <a:buChar char="§"/>
            </a:pPr>
            <a:r>
              <a:rPr lang="de-DE" dirty="0" err="1">
                <a:solidFill>
                  <a:schemeClr val="tx1"/>
                </a:solidFill>
                <a:latin typeface="+mj-lt"/>
              </a:rPr>
              <a:t>proximity</a:t>
            </a:r>
            <a:r>
              <a:rPr lang="de-DE" dirty="0">
                <a:solidFill>
                  <a:schemeClr val="tx1"/>
                </a:solidFill>
                <a:latin typeface="+mj-lt"/>
              </a:rPr>
              <a:t> = </a:t>
            </a:r>
            <a:r>
              <a:rPr lang="de-DE" dirty="0" err="1">
                <a:solidFill>
                  <a:schemeClr val="tx1"/>
                </a:solidFill>
                <a:latin typeface="+mj-lt"/>
              </a:rPr>
              <a:t>similarity</a:t>
            </a:r>
            <a:endParaRPr lang="de-DE" dirty="0">
              <a:solidFill>
                <a:schemeClr val="tx1"/>
              </a:solidFill>
              <a:latin typeface="+mj-lt"/>
            </a:endParaRPr>
          </a:p>
          <a:p>
            <a:pPr lvl="1">
              <a:spcBef>
                <a:spcPts val="700"/>
              </a:spcBef>
              <a:buClr>
                <a:srgbClr val="336699"/>
              </a:buClr>
              <a:buFont typeface="Wingdings" pitchFamily="2" charset="2"/>
              <a:buChar char="§"/>
            </a:pPr>
            <a:r>
              <a:rPr lang="de-DE" dirty="0" err="1">
                <a:solidFill>
                  <a:schemeClr val="tx1"/>
                </a:solidFill>
                <a:latin typeface="+mj-lt"/>
              </a:rPr>
              <a:t>proximity</a:t>
            </a:r>
            <a:r>
              <a:rPr lang="de-DE" dirty="0">
                <a:solidFill>
                  <a:schemeClr val="tx1"/>
                </a:solidFill>
                <a:latin typeface="+mj-lt"/>
              </a:rPr>
              <a:t> ≈ negative </a:t>
            </a:r>
            <a:r>
              <a:rPr lang="de-DE" dirty="0" err="1">
                <a:solidFill>
                  <a:schemeClr val="tx1"/>
                </a:solidFill>
                <a:latin typeface="+mj-lt"/>
              </a:rPr>
              <a:t>distance</a:t>
            </a:r>
            <a:endParaRPr lang="de-DE" dirty="0">
              <a:solidFill>
                <a:schemeClr val="tx1"/>
              </a:solidFill>
              <a:latin typeface="+mj-lt"/>
            </a:endParaRPr>
          </a:p>
          <a:p>
            <a:pPr lvl="1">
              <a:spcBef>
                <a:spcPts val="700"/>
              </a:spcBef>
              <a:buClr>
                <a:srgbClr val="336699"/>
              </a:buClr>
              <a:buFont typeface="Wingdings" pitchFamily="2" charset="2"/>
              <a:buChar char="§"/>
            </a:pPr>
            <a:r>
              <a:rPr lang="en-US" dirty="0">
                <a:solidFill>
                  <a:schemeClr val="tx1"/>
                </a:solidFill>
                <a:latin typeface="+mj-lt"/>
              </a:rPr>
              <a:t>Recall: We’re doing this because we want to get away from the you’re-either-in-or-out, feast-or-famine Boolean model.</a:t>
            </a:r>
          </a:p>
          <a:p>
            <a:pPr lvl="1">
              <a:spcBef>
                <a:spcPts val="700"/>
              </a:spcBef>
              <a:buClr>
                <a:srgbClr val="336699"/>
              </a:buClr>
              <a:buFont typeface="Wingdings" pitchFamily="2" charset="2"/>
              <a:buChar char="§"/>
            </a:pPr>
            <a:r>
              <a:rPr lang="en-US" dirty="0">
                <a:solidFill>
                  <a:schemeClr val="tx1"/>
                </a:solidFill>
                <a:latin typeface="+mj-lt"/>
              </a:rPr>
              <a:t>Instead: rank relevant documents higher than </a:t>
            </a:r>
            <a:r>
              <a:rPr lang="en-US" dirty="0" err="1">
                <a:solidFill>
                  <a:schemeClr val="tx1"/>
                </a:solidFill>
                <a:latin typeface="+mj-lt"/>
              </a:rPr>
              <a:t>nonrelevant</a:t>
            </a:r>
            <a:r>
              <a:rPr lang="en-US" dirty="0">
                <a:solidFill>
                  <a:schemeClr val="tx1"/>
                </a:solidFill>
                <a:latin typeface="+mj-lt"/>
              </a:rPr>
              <a:t> </a:t>
            </a:r>
            <a:r>
              <a:rPr lang="de-DE" dirty="0" err="1">
                <a:solidFill>
                  <a:schemeClr val="tx1"/>
                </a:solidFill>
                <a:latin typeface="+mj-lt"/>
              </a:rPr>
              <a:t>documents</a:t>
            </a:r>
            <a:endParaRPr lang="de-DE" dirty="0">
              <a:solidFill>
                <a:schemeClr val="tx1"/>
              </a:solidFill>
              <a:latin typeface="+mj-lt"/>
            </a:endParaRPr>
          </a:p>
        </p:txBody>
      </p:sp>
      <p:sp>
        <p:nvSpPr>
          <p:cNvPr id="84997" name="Text Box 4"/>
          <p:cNvSpPr txBox="1">
            <a:spLocks noChangeArrowheads="1"/>
          </p:cNvSpPr>
          <p:nvPr/>
        </p:nvSpPr>
        <p:spPr bwMode="auto">
          <a:xfrm>
            <a:off x="7640638" y="-33338"/>
            <a:ext cx="925512" cy="336551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wrap="none" anchor="ctr"/>
          <a:lstStyle/>
          <a:p>
            <a:pPr>
              <a:buClr>
                <a:srgbClr val="000000"/>
              </a:buClr>
              <a:buSzPct val="100000"/>
              <a:buFont typeface="Times New Roman" pitchFamily="16" charset="0"/>
              <a:buNone/>
            </a:pPr>
            <a:endParaRPr lang="de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4BF2C0F-05D6-4882-A325-BE394602789D}" type="slidenum">
              <a:rPr lang="en-US" smtClean="0"/>
              <a:pPr>
                <a:defRPr/>
              </a:pPr>
              <a:t>41</a:t>
            </a:fld>
            <a:endParaRPr lang="en-US"/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Text Box 1"/>
          <p:cNvSpPr txBox="1">
            <a:spLocks noChangeArrowheads="1"/>
          </p:cNvSpPr>
          <p:nvPr/>
        </p:nvSpPr>
        <p:spPr bwMode="auto">
          <a:xfrm>
            <a:off x="6553200" y="6477000"/>
            <a:ext cx="2133600" cy="244475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lIns="90000" tIns="46800" rIns="90000" bIns="46800" anchor="ctr"/>
          <a:lstStyle/>
          <a:p>
            <a:pPr algn="r">
              <a:buSzPct val="10000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fld id="{48895EFF-1DBE-4654-84B8-EE5B6E2FA3CA}" type="slidenum">
              <a:rPr lang="en-US" sz="1200">
                <a:solidFill>
                  <a:srgbClr val="898989"/>
                </a:solidFill>
                <a:latin typeface="Calibri" charset="0"/>
              </a:rPr>
              <a:pPr algn="r">
                <a:buSzPct val="10000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</a:pPr>
              <a:t>42</a:t>
            </a:fld>
            <a:endParaRPr lang="en-US" sz="1200">
              <a:solidFill>
                <a:srgbClr val="898989"/>
              </a:solidFill>
              <a:latin typeface="Calibri" charset="0"/>
            </a:endParaRPr>
          </a:p>
        </p:txBody>
      </p:sp>
      <p:sp>
        <p:nvSpPr>
          <p:cNvPr id="84995" name="Text Box 2"/>
          <p:cNvSpPr txBox="1">
            <a:spLocks noChangeArrowheads="1"/>
          </p:cNvSpPr>
          <p:nvPr/>
        </p:nvSpPr>
        <p:spPr bwMode="auto">
          <a:xfrm>
            <a:off x="285720" y="12700"/>
            <a:ext cx="8572560" cy="1403350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anchor="b"/>
          <a:lstStyle/>
          <a:p>
            <a:r>
              <a:rPr lang="en-US" sz="3600" dirty="0">
                <a:solidFill>
                  <a:schemeClr val="tx1"/>
                </a:solidFill>
                <a:latin typeface="+mj-lt"/>
              </a:rPr>
              <a:t>How do we formalize vector space similarity?</a:t>
            </a:r>
          </a:p>
        </p:txBody>
      </p:sp>
      <p:sp>
        <p:nvSpPr>
          <p:cNvPr id="84996" name="Text Box 3"/>
          <p:cNvSpPr txBox="1">
            <a:spLocks noChangeArrowheads="1"/>
          </p:cNvSpPr>
          <p:nvPr/>
        </p:nvSpPr>
        <p:spPr bwMode="auto">
          <a:xfrm>
            <a:off x="285720" y="2214554"/>
            <a:ext cx="8286808" cy="4643470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/>
          <a:lstStyle/>
          <a:p>
            <a:pPr lvl="1">
              <a:spcBef>
                <a:spcPts val="700"/>
              </a:spcBef>
              <a:buClr>
                <a:srgbClr val="336699"/>
              </a:buClr>
              <a:buFont typeface="Wingdings" pitchFamily="2" charset="2"/>
              <a:buChar char="§"/>
            </a:pPr>
            <a:r>
              <a:rPr lang="en-US" dirty="0">
                <a:latin typeface="+mj-lt"/>
              </a:rPr>
              <a:t>First cut: (negative) distance between two points</a:t>
            </a:r>
          </a:p>
          <a:p>
            <a:pPr lvl="1">
              <a:spcBef>
                <a:spcPts val="700"/>
              </a:spcBef>
              <a:buClr>
                <a:srgbClr val="336699"/>
              </a:buClr>
              <a:buFont typeface="Wingdings" pitchFamily="2" charset="2"/>
              <a:buChar char="§"/>
            </a:pPr>
            <a:r>
              <a:rPr lang="en-US" dirty="0">
                <a:latin typeface="+mj-lt"/>
              </a:rPr>
              <a:t>( = distance between the end points of the two vectors)</a:t>
            </a:r>
          </a:p>
          <a:p>
            <a:pPr lvl="1">
              <a:spcBef>
                <a:spcPts val="700"/>
              </a:spcBef>
              <a:buClr>
                <a:srgbClr val="336699"/>
              </a:buClr>
              <a:buFont typeface="Wingdings" pitchFamily="2" charset="2"/>
              <a:buChar char="§"/>
            </a:pPr>
            <a:r>
              <a:rPr lang="de-DE" dirty="0" err="1">
                <a:latin typeface="+mj-lt"/>
              </a:rPr>
              <a:t>Euclidean</a:t>
            </a:r>
            <a:r>
              <a:rPr lang="de-DE" dirty="0">
                <a:latin typeface="+mj-lt"/>
              </a:rPr>
              <a:t> </a:t>
            </a:r>
            <a:r>
              <a:rPr lang="de-DE" dirty="0" err="1">
                <a:latin typeface="+mj-lt"/>
              </a:rPr>
              <a:t>distance</a:t>
            </a:r>
            <a:r>
              <a:rPr lang="de-DE" dirty="0">
                <a:latin typeface="+mj-lt"/>
              </a:rPr>
              <a:t>?</a:t>
            </a:r>
          </a:p>
          <a:p>
            <a:pPr lvl="1">
              <a:spcBef>
                <a:spcPts val="700"/>
              </a:spcBef>
              <a:buClr>
                <a:srgbClr val="336699"/>
              </a:buClr>
              <a:buFont typeface="Wingdings" pitchFamily="2" charset="2"/>
              <a:buChar char="§"/>
            </a:pPr>
            <a:r>
              <a:rPr lang="en-US" dirty="0">
                <a:latin typeface="+mj-lt"/>
              </a:rPr>
              <a:t>Euclidean distance is a bad idea . . .</a:t>
            </a:r>
          </a:p>
          <a:p>
            <a:pPr lvl="1">
              <a:spcBef>
                <a:spcPts val="700"/>
              </a:spcBef>
              <a:buClr>
                <a:srgbClr val="336699"/>
              </a:buClr>
              <a:buFont typeface="Wingdings" pitchFamily="2" charset="2"/>
              <a:buChar char="§"/>
            </a:pPr>
            <a:r>
              <a:rPr lang="en-US" dirty="0">
                <a:latin typeface="+mj-lt"/>
              </a:rPr>
              <a:t>. . . because Euclidean distance is large for vectors of different </a:t>
            </a:r>
            <a:r>
              <a:rPr lang="de-DE" dirty="0" err="1">
                <a:latin typeface="+mj-lt"/>
              </a:rPr>
              <a:t>lengths</a:t>
            </a:r>
            <a:r>
              <a:rPr lang="de-DE" dirty="0">
                <a:latin typeface="+mj-lt"/>
              </a:rPr>
              <a:t>.</a:t>
            </a:r>
          </a:p>
        </p:txBody>
      </p:sp>
      <p:sp>
        <p:nvSpPr>
          <p:cNvPr id="84997" name="Text Box 4"/>
          <p:cNvSpPr txBox="1">
            <a:spLocks noChangeArrowheads="1"/>
          </p:cNvSpPr>
          <p:nvPr/>
        </p:nvSpPr>
        <p:spPr bwMode="auto">
          <a:xfrm>
            <a:off x="7640638" y="-33338"/>
            <a:ext cx="925512" cy="336551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wrap="none" anchor="ctr"/>
          <a:lstStyle/>
          <a:p>
            <a:pPr>
              <a:buClr>
                <a:srgbClr val="000000"/>
              </a:buClr>
              <a:buSzPct val="100000"/>
              <a:buFont typeface="Times New Roman" pitchFamily="16" charset="0"/>
              <a:buNone/>
            </a:pPr>
            <a:endParaRPr lang="de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4BF2C0F-05D6-4882-A325-BE394602789D}" type="slidenum">
              <a:rPr lang="en-US" smtClean="0"/>
              <a:pPr>
                <a:defRPr/>
              </a:pPr>
              <a:t>42</a:t>
            </a:fld>
            <a:endParaRPr lang="en-US"/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Text Box 1"/>
          <p:cNvSpPr txBox="1">
            <a:spLocks noChangeArrowheads="1"/>
          </p:cNvSpPr>
          <p:nvPr/>
        </p:nvSpPr>
        <p:spPr bwMode="auto">
          <a:xfrm>
            <a:off x="6553200" y="6477000"/>
            <a:ext cx="2133600" cy="244475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lIns="90000" tIns="46800" rIns="90000" bIns="46800" anchor="ctr"/>
          <a:lstStyle/>
          <a:p>
            <a:pPr algn="r">
              <a:buSzPct val="10000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fld id="{48895EFF-1DBE-4654-84B8-EE5B6E2FA3CA}" type="slidenum">
              <a:rPr lang="en-US" sz="1200">
                <a:solidFill>
                  <a:srgbClr val="898989"/>
                </a:solidFill>
                <a:latin typeface="Calibri" charset="0"/>
              </a:rPr>
              <a:pPr algn="r">
                <a:buSzPct val="10000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</a:pPr>
              <a:t>43</a:t>
            </a:fld>
            <a:endParaRPr lang="en-US" sz="1200">
              <a:solidFill>
                <a:srgbClr val="898989"/>
              </a:solidFill>
              <a:latin typeface="Calibri" charset="0"/>
            </a:endParaRPr>
          </a:p>
        </p:txBody>
      </p:sp>
      <p:sp>
        <p:nvSpPr>
          <p:cNvPr id="84995" name="Text Box 2"/>
          <p:cNvSpPr txBox="1">
            <a:spLocks noChangeArrowheads="1"/>
          </p:cNvSpPr>
          <p:nvPr/>
        </p:nvSpPr>
        <p:spPr bwMode="auto">
          <a:xfrm>
            <a:off x="285720" y="12700"/>
            <a:ext cx="8572560" cy="1403350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anchor="b"/>
          <a:lstStyle/>
          <a:p>
            <a:r>
              <a:rPr lang="en-US" sz="3600" dirty="0">
                <a:solidFill>
                  <a:schemeClr val="tx1"/>
                </a:solidFill>
                <a:latin typeface="+mj-lt"/>
              </a:rPr>
              <a:t>Why distance is a bad idea</a:t>
            </a:r>
          </a:p>
        </p:txBody>
      </p:sp>
      <p:sp>
        <p:nvSpPr>
          <p:cNvPr id="84996" name="Text Box 3"/>
          <p:cNvSpPr txBox="1">
            <a:spLocks noChangeArrowheads="1"/>
          </p:cNvSpPr>
          <p:nvPr/>
        </p:nvSpPr>
        <p:spPr bwMode="auto">
          <a:xfrm>
            <a:off x="285720" y="5143512"/>
            <a:ext cx="8286808" cy="1357322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/>
          <a:lstStyle/>
          <a:p>
            <a:r>
              <a:rPr lang="de-DE" sz="2200" dirty="0">
                <a:solidFill>
                  <a:schemeClr val="tx1"/>
                </a:solidFill>
                <a:latin typeface="+mj-lt"/>
              </a:rPr>
              <a:t>The </a:t>
            </a:r>
            <a:r>
              <a:rPr lang="de-DE" sz="2200" dirty="0" err="1">
                <a:solidFill>
                  <a:schemeClr val="tx1"/>
                </a:solidFill>
                <a:latin typeface="+mj-lt"/>
              </a:rPr>
              <a:t>Euclidean</a:t>
            </a:r>
            <a:r>
              <a:rPr lang="de-DE" sz="2200" dirty="0">
                <a:solidFill>
                  <a:schemeClr val="tx1"/>
                </a:solidFill>
                <a:latin typeface="+mj-lt"/>
              </a:rPr>
              <a:t> </a:t>
            </a:r>
            <a:r>
              <a:rPr lang="de-DE" sz="2200" dirty="0" err="1">
                <a:solidFill>
                  <a:schemeClr val="tx1"/>
                </a:solidFill>
                <a:latin typeface="+mj-lt"/>
              </a:rPr>
              <a:t>distance</a:t>
            </a:r>
            <a:r>
              <a:rPr lang="de-DE" sz="2200" dirty="0">
                <a:solidFill>
                  <a:schemeClr val="tx1"/>
                </a:solidFill>
                <a:latin typeface="+mj-lt"/>
              </a:rPr>
              <a:t> </a:t>
            </a:r>
            <a:r>
              <a:rPr lang="de-DE" sz="2200" dirty="0" err="1">
                <a:solidFill>
                  <a:schemeClr val="tx1"/>
                </a:solidFill>
                <a:latin typeface="+mj-lt"/>
              </a:rPr>
              <a:t>of</a:t>
            </a:r>
            <a:r>
              <a:rPr lang="de-DE" sz="2200" dirty="0">
                <a:solidFill>
                  <a:schemeClr val="tx1"/>
                </a:solidFill>
                <a:latin typeface="+mj-lt"/>
              </a:rPr>
              <a:t>      </a:t>
            </a:r>
            <a:r>
              <a:rPr lang="en-US" sz="2200" dirty="0">
                <a:solidFill>
                  <a:schemeClr val="tx1"/>
                </a:solidFill>
                <a:latin typeface="+mj-lt"/>
              </a:rPr>
              <a:t>and       is large although the distribution of terms in the query </a:t>
            </a:r>
            <a:r>
              <a:rPr lang="en-US" sz="2200" i="1" dirty="0">
                <a:solidFill>
                  <a:schemeClr val="tx1"/>
                </a:solidFill>
                <a:latin typeface="+mj-lt"/>
              </a:rPr>
              <a:t>q</a:t>
            </a:r>
          </a:p>
          <a:p>
            <a:r>
              <a:rPr lang="en-US" sz="2200" dirty="0">
                <a:solidFill>
                  <a:schemeClr val="tx1"/>
                </a:solidFill>
                <a:latin typeface="+mj-lt"/>
              </a:rPr>
              <a:t>and the distribution of terms in the document </a:t>
            </a:r>
            <a:r>
              <a:rPr lang="en-US" sz="2200" i="1" dirty="0">
                <a:solidFill>
                  <a:schemeClr val="tx1"/>
                </a:solidFill>
                <a:latin typeface="+mj-lt"/>
              </a:rPr>
              <a:t>d</a:t>
            </a:r>
            <a:r>
              <a:rPr lang="en-US" sz="2200" baseline="-25000" dirty="0">
                <a:solidFill>
                  <a:schemeClr val="tx1"/>
                </a:solidFill>
                <a:latin typeface="+mj-lt"/>
              </a:rPr>
              <a:t>2</a:t>
            </a:r>
            <a:r>
              <a:rPr lang="en-US" sz="2200" dirty="0">
                <a:solidFill>
                  <a:schemeClr val="tx1"/>
                </a:solidFill>
                <a:latin typeface="+mj-lt"/>
              </a:rPr>
              <a:t> are very similar.</a:t>
            </a:r>
          </a:p>
        </p:txBody>
      </p:sp>
      <p:sp>
        <p:nvSpPr>
          <p:cNvPr id="84997" name="Text Box 4"/>
          <p:cNvSpPr txBox="1">
            <a:spLocks noChangeArrowheads="1"/>
          </p:cNvSpPr>
          <p:nvPr/>
        </p:nvSpPr>
        <p:spPr bwMode="auto">
          <a:xfrm>
            <a:off x="7640638" y="-33338"/>
            <a:ext cx="925512" cy="336551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wrap="none" anchor="ctr"/>
          <a:lstStyle/>
          <a:p>
            <a:pPr>
              <a:buClr>
                <a:srgbClr val="000000"/>
              </a:buClr>
              <a:buSzPct val="100000"/>
              <a:buFont typeface="Times New Roman" pitchFamily="16" charset="0"/>
              <a:buNone/>
            </a:pPr>
            <a:endParaRPr lang="de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4BF2C0F-05D6-4882-A325-BE394602789D}" type="slidenum">
              <a:rPr lang="en-US" smtClean="0"/>
              <a:pPr>
                <a:defRPr/>
              </a:pPr>
              <a:t>43</a:t>
            </a:fld>
            <a:endParaRPr lang="en-US"/>
          </a:p>
        </p:txBody>
      </p:sp>
      <p:pic>
        <p:nvPicPr>
          <p:cNvPr id="9" name="Picture 8" descr="Picture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0035" y="1500174"/>
            <a:ext cx="7215238" cy="3452691"/>
          </a:xfrm>
          <a:prstGeom prst="rect">
            <a:avLst/>
          </a:prstGeom>
        </p:spPr>
      </p:pic>
      <p:pic>
        <p:nvPicPr>
          <p:cNvPr id="11" name="Picture 10" descr="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44269" y="5140140"/>
            <a:ext cx="302399" cy="432000"/>
          </a:xfrm>
          <a:prstGeom prst="rect">
            <a:avLst/>
          </a:prstGeom>
        </p:spPr>
      </p:pic>
      <p:pic>
        <p:nvPicPr>
          <p:cNvPr id="12" name="Picture 11" descr="2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43372" y="5140702"/>
            <a:ext cx="269999" cy="360000"/>
          </a:xfrm>
          <a:prstGeom prst="rect">
            <a:avLst/>
          </a:prstGeom>
        </p:spPr>
      </p:pic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Text Box 1"/>
          <p:cNvSpPr txBox="1">
            <a:spLocks noChangeArrowheads="1"/>
          </p:cNvSpPr>
          <p:nvPr/>
        </p:nvSpPr>
        <p:spPr bwMode="auto">
          <a:xfrm>
            <a:off x="6553200" y="6477000"/>
            <a:ext cx="2133600" cy="244475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lIns="90000" tIns="46800" rIns="90000" bIns="46800" anchor="ctr"/>
          <a:lstStyle/>
          <a:p>
            <a:pPr algn="r">
              <a:buSzPct val="10000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fld id="{48895EFF-1DBE-4654-84B8-EE5B6E2FA3CA}" type="slidenum">
              <a:rPr lang="en-US" sz="1200">
                <a:solidFill>
                  <a:srgbClr val="898989"/>
                </a:solidFill>
                <a:latin typeface="Calibri" charset="0"/>
              </a:rPr>
              <a:pPr algn="r">
                <a:buSzPct val="10000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</a:pPr>
              <a:t>44</a:t>
            </a:fld>
            <a:endParaRPr lang="en-US" sz="1200">
              <a:solidFill>
                <a:srgbClr val="898989"/>
              </a:solidFill>
              <a:latin typeface="Calibri" charset="0"/>
            </a:endParaRPr>
          </a:p>
        </p:txBody>
      </p:sp>
      <p:sp>
        <p:nvSpPr>
          <p:cNvPr id="84995" name="Text Box 2"/>
          <p:cNvSpPr txBox="1">
            <a:spLocks noChangeArrowheads="1"/>
          </p:cNvSpPr>
          <p:nvPr/>
        </p:nvSpPr>
        <p:spPr bwMode="auto">
          <a:xfrm>
            <a:off x="285720" y="12700"/>
            <a:ext cx="8572560" cy="1403350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anchor="b"/>
          <a:lstStyle/>
          <a:p>
            <a:r>
              <a:rPr lang="en-US" sz="3600" dirty="0">
                <a:solidFill>
                  <a:schemeClr val="tx1"/>
                </a:solidFill>
                <a:latin typeface="+mj-lt"/>
              </a:rPr>
              <a:t>Use angle instead of distance</a:t>
            </a:r>
          </a:p>
        </p:txBody>
      </p:sp>
      <p:sp>
        <p:nvSpPr>
          <p:cNvPr id="84996" name="Text Box 3"/>
          <p:cNvSpPr txBox="1">
            <a:spLocks noChangeArrowheads="1"/>
          </p:cNvSpPr>
          <p:nvPr/>
        </p:nvSpPr>
        <p:spPr bwMode="auto">
          <a:xfrm>
            <a:off x="285720" y="2214554"/>
            <a:ext cx="8286808" cy="4643470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/>
          <a:lstStyle/>
          <a:p>
            <a:pPr lvl="1">
              <a:spcBef>
                <a:spcPts val="700"/>
              </a:spcBef>
              <a:buClr>
                <a:srgbClr val="336699"/>
              </a:buClr>
              <a:buFont typeface="Wingdings" pitchFamily="2" charset="2"/>
              <a:buChar char="§"/>
            </a:pPr>
            <a:r>
              <a:rPr lang="en-US" dirty="0">
                <a:solidFill>
                  <a:schemeClr val="tx1"/>
                </a:solidFill>
                <a:latin typeface="+mj-lt"/>
              </a:rPr>
              <a:t>Rank documents according to angle with query</a:t>
            </a:r>
          </a:p>
          <a:p>
            <a:pPr lvl="1">
              <a:spcBef>
                <a:spcPts val="700"/>
              </a:spcBef>
              <a:buClr>
                <a:srgbClr val="336699"/>
              </a:buClr>
              <a:buFont typeface="Wingdings" pitchFamily="2" charset="2"/>
              <a:buChar char="§"/>
            </a:pPr>
            <a:r>
              <a:rPr lang="en-US" dirty="0">
                <a:solidFill>
                  <a:schemeClr val="tx1"/>
                </a:solidFill>
                <a:latin typeface="+mj-lt"/>
              </a:rPr>
              <a:t>Thought experiment: take a document d and append it to itself. Call this document </a:t>
            </a:r>
            <a:r>
              <a:rPr lang="en-US" i="1" dirty="0">
                <a:solidFill>
                  <a:schemeClr val="tx1"/>
                </a:solidFill>
                <a:latin typeface="+mj-lt"/>
              </a:rPr>
              <a:t>d′</a:t>
            </a:r>
            <a:r>
              <a:rPr lang="en-US" dirty="0">
                <a:solidFill>
                  <a:schemeClr val="tx1"/>
                </a:solidFill>
                <a:latin typeface="+mj-lt"/>
              </a:rPr>
              <a:t>. </a:t>
            </a:r>
            <a:r>
              <a:rPr lang="en-US" i="1" dirty="0">
                <a:solidFill>
                  <a:schemeClr val="tx1"/>
                </a:solidFill>
                <a:latin typeface="+mj-lt"/>
              </a:rPr>
              <a:t>d′ </a:t>
            </a:r>
            <a:r>
              <a:rPr lang="en-US" dirty="0">
                <a:solidFill>
                  <a:schemeClr val="tx1"/>
                </a:solidFill>
                <a:latin typeface="+mj-lt"/>
              </a:rPr>
              <a:t>is twice as long as </a:t>
            </a:r>
            <a:r>
              <a:rPr lang="en-US" i="1" dirty="0">
                <a:solidFill>
                  <a:schemeClr val="tx1"/>
                </a:solidFill>
                <a:latin typeface="+mj-lt"/>
              </a:rPr>
              <a:t>d</a:t>
            </a:r>
            <a:r>
              <a:rPr lang="en-US" dirty="0">
                <a:solidFill>
                  <a:schemeClr val="tx1"/>
                </a:solidFill>
                <a:latin typeface="+mj-lt"/>
              </a:rPr>
              <a:t>.</a:t>
            </a:r>
          </a:p>
          <a:p>
            <a:pPr lvl="1">
              <a:spcBef>
                <a:spcPts val="700"/>
              </a:spcBef>
              <a:buClr>
                <a:srgbClr val="336699"/>
              </a:buClr>
              <a:buFont typeface="Wingdings" pitchFamily="2" charset="2"/>
              <a:buChar char="§"/>
            </a:pPr>
            <a:r>
              <a:rPr lang="en-US" dirty="0">
                <a:solidFill>
                  <a:schemeClr val="tx1"/>
                </a:solidFill>
                <a:latin typeface="+mj-lt"/>
              </a:rPr>
              <a:t>“Semantically” </a:t>
            </a:r>
            <a:r>
              <a:rPr lang="en-US" i="1" dirty="0">
                <a:solidFill>
                  <a:schemeClr val="tx1"/>
                </a:solidFill>
                <a:latin typeface="+mj-lt"/>
              </a:rPr>
              <a:t>d</a:t>
            </a:r>
            <a:r>
              <a:rPr lang="en-US" dirty="0">
                <a:solidFill>
                  <a:schemeClr val="tx1"/>
                </a:solidFill>
                <a:latin typeface="+mj-lt"/>
              </a:rPr>
              <a:t> and </a:t>
            </a:r>
            <a:r>
              <a:rPr lang="en-US" i="1" dirty="0">
                <a:solidFill>
                  <a:schemeClr val="tx1"/>
                </a:solidFill>
                <a:latin typeface="+mj-lt"/>
              </a:rPr>
              <a:t>d′</a:t>
            </a:r>
            <a:r>
              <a:rPr lang="en-US" dirty="0">
                <a:solidFill>
                  <a:schemeClr val="tx1"/>
                </a:solidFill>
                <a:latin typeface="+mj-lt"/>
              </a:rPr>
              <a:t> have the same content.</a:t>
            </a:r>
          </a:p>
          <a:p>
            <a:pPr lvl="1">
              <a:spcBef>
                <a:spcPts val="700"/>
              </a:spcBef>
              <a:buClr>
                <a:srgbClr val="336699"/>
              </a:buClr>
              <a:buFont typeface="Wingdings" pitchFamily="2" charset="2"/>
              <a:buChar char="§"/>
            </a:pPr>
            <a:r>
              <a:rPr lang="en-US" dirty="0">
                <a:solidFill>
                  <a:schemeClr val="tx1"/>
                </a:solidFill>
                <a:latin typeface="+mj-lt"/>
              </a:rPr>
              <a:t>The angle between the two documents is 0, corresponding to </a:t>
            </a:r>
            <a:r>
              <a:rPr lang="de-DE" dirty="0">
                <a:solidFill>
                  <a:schemeClr val="tx1"/>
                </a:solidFill>
                <a:latin typeface="+mj-lt"/>
              </a:rPr>
              <a:t>maximal </a:t>
            </a:r>
            <a:r>
              <a:rPr lang="de-DE" dirty="0" err="1">
                <a:solidFill>
                  <a:schemeClr val="tx1"/>
                </a:solidFill>
                <a:latin typeface="+mj-lt"/>
              </a:rPr>
              <a:t>similarity</a:t>
            </a:r>
            <a:r>
              <a:rPr lang="de-DE" dirty="0">
                <a:solidFill>
                  <a:schemeClr val="tx1"/>
                </a:solidFill>
                <a:latin typeface="+mj-lt"/>
              </a:rPr>
              <a:t> . . .</a:t>
            </a:r>
          </a:p>
          <a:p>
            <a:pPr lvl="1">
              <a:spcBef>
                <a:spcPts val="700"/>
              </a:spcBef>
              <a:buClr>
                <a:srgbClr val="336699"/>
              </a:buClr>
              <a:buFont typeface="Wingdings" pitchFamily="2" charset="2"/>
              <a:buChar char="§"/>
            </a:pPr>
            <a:r>
              <a:rPr lang="en-US" dirty="0">
                <a:solidFill>
                  <a:schemeClr val="tx1"/>
                </a:solidFill>
                <a:latin typeface="+mj-lt"/>
              </a:rPr>
              <a:t>. . . even though the Euclidean distance between the two documents can be quite large.</a:t>
            </a:r>
          </a:p>
          <a:p>
            <a:pPr lvl="1">
              <a:spcBef>
                <a:spcPts val="700"/>
              </a:spcBef>
              <a:buClr>
                <a:srgbClr val="336699"/>
              </a:buClr>
              <a:buFont typeface="Wingdings" pitchFamily="2" charset="2"/>
              <a:buChar char="§"/>
            </a:pPr>
            <a:endParaRPr lang="de-DE" dirty="0">
              <a:solidFill>
                <a:schemeClr val="tx1"/>
              </a:solidFill>
              <a:latin typeface="+mj-lt"/>
            </a:endParaRPr>
          </a:p>
        </p:txBody>
      </p:sp>
      <p:sp>
        <p:nvSpPr>
          <p:cNvPr id="84997" name="Text Box 4"/>
          <p:cNvSpPr txBox="1">
            <a:spLocks noChangeArrowheads="1"/>
          </p:cNvSpPr>
          <p:nvPr/>
        </p:nvSpPr>
        <p:spPr bwMode="auto">
          <a:xfrm>
            <a:off x="7640638" y="-33338"/>
            <a:ext cx="925512" cy="336551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wrap="none" anchor="ctr"/>
          <a:lstStyle/>
          <a:p>
            <a:pPr>
              <a:buClr>
                <a:srgbClr val="000000"/>
              </a:buClr>
              <a:buSzPct val="100000"/>
              <a:buFont typeface="Times New Roman" pitchFamily="16" charset="0"/>
              <a:buNone/>
            </a:pPr>
            <a:endParaRPr lang="de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4BF2C0F-05D6-4882-A325-BE394602789D}" type="slidenum">
              <a:rPr lang="en-US" smtClean="0"/>
              <a:pPr>
                <a:defRPr/>
              </a:pPr>
              <a:t>44</a:t>
            </a:fld>
            <a:endParaRPr lang="en-US"/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Text Box 1"/>
          <p:cNvSpPr txBox="1">
            <a:spLocks noChangeArrowheads="1"/>
          </p:cNvSpPr>
          <p:nvPr/>
        </p:nvSpPr>
        <p:spPr bwMode="auto">
          <a:xfrm>
            <a:off x="6553200" y="6477000"/>
            <a:ext cx="2133600" cy="244475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lIns="90000" tIns="46800" rIns="90000" bIns="46800" anchor="ctr"/>
          <a:lstStyle/>
          <a:p>
            <a:pPr algn="r">
              <a:buSzPct val="10000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fld id="{48895EFF-1DBE-4654-84B8-EE5B6E2FA3CA}" type="slidenum">
              <a:rPr lang="en-US" sz="1200">
                <a:solidFill>
                  <a:srgbClr val="898989"/>
                </a:solidFill>
                <a:latin typeface="Calibri" charset="0"/>
              </a:rPr>
              <a:pPr algn="r">
                <a:buSzPct val="10000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</a:pPr>
              <a:t>45</a:t>
            </a:fld>
            <a:endParaRPr lang="en-US" sz="1200">
              <a:solidFill>
                <a:srgbClr val="898989"/>
              </a:solidFill>
              <a:latin typeface="Calibri" charset="0"/>
            </a:endParaRPr>
          </a:p>
        </p:txBody>
      </p:sp>
      <p:sp>
        <p:nvSpPr>
          <p:cNvPr id="84995" name="Text Box 2"/>
          <p:cNvSpPr txBox="1">
            <a:spLocks noChangeArrowheads="1"/>
          </p:cNvSpPr>
          <p:nvPr/>
        </p:nvSpPr>
        <p:spPr bwMode="auto">
          <a:xfrm>
            <a:off x="285720" y="12700"/>
            <a:ext cx="8572560" cy="1403350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anchor="b"/>
          <a:lstStyle/>
          <a:p>
            <a:r>
              <a:rPr lang="de-DE" sz="3600" dirty="0" err="1">
                <a:solidFill>
                  <a:schemeClr val="tx1"/>
                </a:solidFill>
                <a:latin typeface="+mj-lt"/>
              </a:rPr>
              <a:t>From</a:t>
            </a:r>
            <a:r>
              <a:rPr lang="de-DE" sz="3600" dirty="0">
                <a:solidFill>
                  <a:schemeClr val="tx1"/>
                </a:solidFill>
                <a:latin typeface="+mj-lt"/>
              </a:rPr>
              <a:t> </a:t>
            </a:r>
            <a:r>
              <a:rPr lang="de-DE" sz="3600" dirty="0" err="1">
                <a:solidFill>
                  <a:schemeClr val="tx1"/>
                </a:solidFill>
                <a:latin typeface="+mj-lt"/>
              </a:rPr>
              <a:t>angles</a:t>
            </a:r>
            <a:r>
              <a:rPr lang="de-DE" sz="3600" dirty="0">
                <a:solidFill>
                  <a:schemeClr val="tx1"/>
                </a:solidFill>
                <a:latin typeface="+mj-lt"/>
              </a:rPr>
              <a:t> </a:t>
            </a:r>
            <a:r>
              <a:rPr lang="de-DE" sz="3600" dirty="0" err="1">
                <a:solidFill>
                  <a:schemeClr val="tx1"/>
                </a:solidFill>
                <a:latin typeface="+mj-lt"/>
              </a:rPr>
              <a:t>to</a:t>
            </a:r>
            <a:r>
              <a:rPr lang="de-DE" sz="3600" dirty="0">
                <a:solidFill>
                  <a:schemeClr val="tx1"/>
                </a:solidFill>
                <a:latin typeface="+mj-lt"/>
              </a:rPr>
              <a:t> </a:t>
            </a:r>
            <a:r>
              <a:rPr lang="de-DE" sz="3600" dirty="0" err="1">
                <a:solidFill>
                  <a:schemeClr val="tx1"/>
                </a:solidFill>
                <a:latin typeface="+mj-lt"/>
              </a:rPr>
              <a:t>cosines</a:t>
            </a:r>
            <a:endParaRPr lang="de-DE" sz="3600" dirty="0">
              <a:solidFill>
                <a:schemeClr val="tx1"/>
              </a:solidFill>
              <a:latin typeface="+mj-lt"/>
            </a:endParaRPr>
          </a:p>
        </p:txBody>
      </p:sp>
      <p:sp>
        <p:nvSpPr>
          <p:cNvPr id="84996" name="Text Box 3"/>
          <p:cNvSpPr txBox="1">
            <a:spLocks noChangeArrowheads="1"/>
          </p:cNvSpPr>
          <p:nvPr/>
        </p:nvSpPr>
        <p:spPr bwMode="auto">
          <a:xfrm>
            <a:off x="285720" y="2143116"/>
            <a:ext cx="8286808" cy="3643338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/>
          <a:lstStyle/>
          <a:p>
            <a:pPr lvl="1">
              <a:spcBef>
                <a:spcPts val="700"/>
              </a:spcBef>
              <a:buClr>
                <a:srgbClr val="336699"/>
              </a:buClr>
              <a:buFont typeface="Wingdings" pitchFamily="2" charset="2"/>
              <a:buChar char="§"/>
            </a:pPr>
            <a:r>
              <a:rPr lang="en-US" dirty="0">
                <a:solidFill>
                  <a:schemeClr val="tx1"/>
                </a:solidFill>
                <a:latin typeface="+mj-lt"/>
              </a:rPr>
              <a:t>The following two notions are equivalent.</a:t>
            </a:r>
          </a:p>
          <a:p>
            <a:pPr lvl="2">
              <a:spcBef>
                <a:spcPts val="700"/>
              </a:spcBef>
              <a:buClr>
                <a:srgbClr val="336699"/>
              </a:buClr>
              <a:buFont typeface="Wingdings" pitchFamily="2" charset="2"/>
              <a:buChar char="§"/>
            </a:pPr>
            <a:r>
              <a:rPr lang="en-US" sz="2200" dirty="0">
                <a:solidFill>
                  <a:schemeClr val="tx1"/>
                </a:solidFill>
                <a:latin typeface="+mj-lt"/>
              </a:rPr>
              <a:t>Rank documents according to the </a:t>
            </a:r>
            <a:r>
              <a:rPr lang="en-US" sz="2200" dirty="0">
                <a:solidFill>
                  <a:srgbClr val="0070C0"/>
                </a:solidFill>
                <a:latin typeface="+mj-lt"/>
              </a:rPr>
              <a:t>angle</a:t>
            </a:r>
            <a:r>
              <a:rPr lang="en-US" sz="2200" dirty="0">
                <a:solidFill>
                  <a:schemeClr val="tx1"/>
                </a:solidFill>
                <a:latin typeface="+mj-lt"/>
              </a:rPr>
              <a:t> between query and </a:t>
            </a:r>
            <a:r>
              <a:rPr lang="de-DE" sz="2200" dirty="0" err="1">
                <a:solidFill>
                  <a:schemeClr val="tx1"/>
                </a:solidFill>
                <a:latin typeface="+mj-lt"/>
              </a:rPr>
              <a:t>document</a:t>
            </a:r>
            <a:r>
              <a:rPr lang="de-DE" sz="2200" dirty="0">
                <a:solidFill>
                  <a:schemeClr val="tx1"/>
                </a:solidFill>
                <a:latin typeface="+mj-lt"/>
              </a:rPr>
              <a:t> in </a:t>
            </a:r>
            <a:r>
              <a:rPr lang="de-DE" sz="2200" dirty="0" err="1">
                <a:solidFill>
                  <a:schemeClr val="tx1"/>
                </a:solidFill>
                <a:latin typeface="+mj-lt"/>
              </a:rPr>
              <a:t>decreasing</a:t>
            </a:r>
            <a:r>
              <a:rPr lang="de-DE" sz="2200" dirty="0">
                <a:solidFill>
                  <a:schemeClr val="tx1"/>
                </a:solidFill>
                <a:latin typeface="+mj-lt"/>
              </a:rPr>
              <a:t> order</a:t>
            </a:r>
          </a:p>
          <a:p>
            <a:pPr lvl="2">
              <a:spcBef>
                <a:spcPts val="700"/>
              </a:spcBef>
              <a:buClr>
                <a:srgbClr val="336699"/>
              </a:buClr>
              <a:buFont typeface="Wingdings" pitchFamily="2" charset="2"/>
              <a:buChar char="§"/>
            </a:pPr>
            <a:r>
              <a:rPr lang="de-DE" sz="2200" dirty="0">
                <a:solidFill>
                  <a:schemeClr val="tx1"/>
                </a:solidFill>
                <a:latin typeface="+mj-lt"/>
              </a:rPr>
              <a:t>Rank </a:t>
            </a:r>
            <a:r>
              <a:rPr lang="de-DE" sz="2200" dirty="0" err="1">
                <a:solidFill>
                  <a:schemeClr val="tx1"/>
                </a:solidFill>
                <a:latin typeface="+mj-lt"/>
              </a:rPr>
              <a:t>documents</a:t>
            </a:r>
            <a:r>
              <a:rPr lang="de-DE" sz="2200" dirty="0">
                <a:solidFill>
                  <a:schemeClr val="tx1"/>
                </a:solidFill>
                <a:latin typeface="+mj-lt"/>
              </a:rPr>
              <a:t> </a:t>
            </a:r>
            <a:r>
              <a:rPr lang="de-DE" sz="2200" dirty="0" err="1">
                <a:solidFill>
                  <a:schemeClr val="tx1"/>
                </a:solidFill>
                <a:latin typeface="+mj-lt"/>
              </a:rPr>
              <a:t>according</a:t>
            </a:r>
            <a:r>
              <a:rPr lang="de-DE" sz="2200" dirty="0">
                <a:solidFill>
                  <a:schemeClr val="tx1"/>
                </a:solidFill>
                <a:latin typeface="+mj-lt"/>
              </a:rPr>
              <a:t> </a:t>
            </a:r>
            <a:r>
              <a:rPr lang="de-DE" sz="2200" dirty="0" err="1">
                <a:solidFill>
                  <a:schemeClr val="tx1"/>
                </a:solidFill>
                <a:latin typeface="+mj-lt"/>
              </a:rPr>
              <a:t>to</a:t>
            </a:r>
            <a:r>
              <a:rPr lang="de-DE" sz="2200" dirty="0">
                <a:solidFill>
                  <a:schemeClr val="tx1"/>
                </a:solidFill>
                <a:latin typeface="+mj-lt"/>
              </a:rPr>
              <a:t> </a:t>
            </a:r>
            <a:r>
              <a:rPr lang="de-DE" sz="2200" dirty="0" err="1">
                <a:solidFill>
                  <a:srgbClr val="0070C0"/>
                </a:solidFill>
                <a:latin typeface="+mj-lt"/>
              </a:rPr>
              <a:t>cosine</a:t>
            </a:r>
            <a:r>
              <a:rPr lang="de-DE" sz="2200" dirty="0">
                <a:solidFill>
                  <a:schemeClr val="tx1"/>
                </a:solidFill>
                <a:latin typeface="+mj-lt"/>
              </a:rPr>
              <a:t>(</a:t>
            </a:r>
            <a:r>
              <a:rPr lang="de-DE" sz="2200" dirty="0" err="1">
                <a:solidFill>
                  <a:schemeClr val="tx1"/>
                </a:solidFill>
                <a:latin typeface="+mj-lt"/>
              </a:rPr>
              <a:t>query,document</a:t>
            </a:r>
            <a:r>
              <a:rPr lang="de-DE" sz="2200" dirty="0">
                <a:solidFill>
                  <a:schemeClr val="tx1"/>
                </a:solidFill>
                <a:latin typeface="+mj-lt"/>
              </a:rPr>
              <a:t>) in </a:t>
            </a:r>
            <a:r>
              <a:rPr lang="de-DE" sz="2200" dirty="0" err="1">
                <a:solidFill>
                  <a:schemeClr val="tx1"/>
                </a:solidFill>
                <a:latin typeface="+mj-lt"/>
              </a:rPr>
              <a:t>increasing</a:t>
            </a:r>
            <a:r>
              <a:rPr lang="de-DE" sz="2200" dirty="0">
                <a:solidFill>
                  <a:schemeClr val="tx1"/>
                </a:solidFill>
                <a:latin typeface="+mj-lt"/>
              </a:rPr>
              <a:t> order</a:t>
            </a:r>
          </a:p>
          <a:p>
            <a:pPr lvl="1">
              <a:spcBef>
                <a:spcPts val="700"/>
              </a:spcBef>
              <a:buClr>
                <a:srgbClr val="336699"/>
              </a:buClr>
              <a:buFont typeface="Wingdings" pitchFamily="2" charset="2"/>
              <a:buChar char="§"/>
            </a:pPr>
            <a:r>
              <a:rPr lang="en-US" dirty="0">
                <a:solidFill>
                  <a:schemeClr val="tx1"/>
                </a:solidFill>
                <a:latin typeface="+mj-lt"/>
              </a:rPr>
              <a:t>Cosine is a monotonically decreasing function of the angle for </a:t>
            </a:r>
            <a:r>
              <a:rPr lang="de-DE" dirty="0" err="1">
                <a:solidFill>
                  <a:schemeClr val="tx1"/>
                </a:solidFill>
                <a:latin typeface="+mj-lt"/>
              </a:rPr>
              <a:t>the</a:t>
            </a:r>
            <a:r>
              <a:rPr lang="de-DE" dirty="0">
                <a:solidFill>
                  <a:schemeClr val="tx1"/>
                </a:solidFill>
                <a:latin typeface="+mj-lt"/>
              </a:rPr>
              <a:t> </a:t>
            </a:r>
            <a:r>
              <a:rPr lang="de-DE" dirty="0" err="1">
                <a:solidFill>
                  <a:schemeClr val="tx1"/>
                </a:solidFill>
                <a:latin typeface="+mj-lt"/>
              </a:rPr>
              <a:t>interval</a:t>
            </a:r>
            <a:r>
              <a:rPr lang="de-DE" dirty="0">
                <a:solidFill>
                  <a:schemeClr val="tx1"/>
                </a:solidFill>
                <a:latin typeface="+mj-lt"/>
              </a:rPr>
              <a:t> [0</a:t>
            </a:r>
            <a:r>
              <a:rPr lang="de-DE" baseline="30000" dirty="0">
                <a:solidFill>
                  <a:schemeClr val="tx1"/>
                </a:solidFill>
                <a:latin typeface="+mj-lt"/>
              </a:rPr>
              <a:t>◦</a:t>
            </a:r>
            <a:r>
              <a:rPr lang="de-DE" dirty="0">
                <a:solidFill>
                  <a:schemeClr val="tx1"/>
                </a:solidFill>
                <a:latin typeface="+mj-lt"/>
              </a:rPr>
              <a:t>, 180</a:t>
            </a:r>
            <a:r>
              <a:rPr lang="de-DE" baseline="30000" dirty="0">
                <a:solidFill>
                  <a:schemeClr val="tx1"/>
                </a:solidFill>
                <a:latin typeface="+mj-lt"/>
              </a:rPr>
              <a:t>◦</a:t>
            </a:r>
            <a:r>
              <a:rPr lang="de-DE" dirty="0">
                <a:solidFill>
                  <a:schemeClr val="tx1"/>
                </a:solidFill>
                <a:latin typeface="+mj-lt"/>
              </a:rPr>
              <a:t>]</a:t>
            </a:r>
          </a:p>
          <a:p>
            <a:pPr lvl="1">
              <a:spcBef>
                <a:spcPts val="700"/>
              </a:spcBef>
              <a:buClr>
                <a:srgbClr val="336699"/>
              </a:buClr>
              <a:buFont typeface="Wingdings" pitchFamily="2" charset="2"/>
              <a:buChar char="§"/>
            </a:pPr>
            <a:endParaRPr lang="de-DE" dirty="0">
              <a:solidFill>
                <a:schemeClr val="tx1"/>
              </a:solidFill>
              <a:latin typeface="+mj-lt"/>
            </a:endParaRPr>
          </a:p>
        </p:txBody>
      </p:sp>
      <p:sp>
        <p:nvSpPr>
          <p:cNvPr id="84997" name="Text Box 4"/>
          <p:cNvSpPr txBox="1">
            <a:spLocks noChangeArrowheads="1"/>
          </p:cNvSpPr>
          <p:nvPr/>
        </p:nvSpPr>
        <p:spPr bwMode="auto">
          <a:xfrm>
            <a:off x="7640638" y="-33338"/>
            <a:ext cx="925512" cy="336551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wrap="none" anchor="ctr"/>
          <a:lstStyle/>
          <a:p>
            <a:pPr>
              <a:buClr>
                <a:srgbClr val="000000"/>
              </a:buClr>
              <a:buSzPct val="100000"/>
              <a:buFont typeface="Times New Roman" pitchFamily="16" charset="0"/>
              <a:buNone/>
            </a:pPr>
            <a:endParaRPr lang="de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4BF2C0F-05D6-4882-A325-BE394602789D}" type="slidenum">
              <a:rPr lang="en-US" smtClean="0"/>
              <a:pPr>
                <a:defRPr/>
              </a:pPr>
              <a:t>45</a:t>
            </a:fld>
            <a:endParaRPr lang="en-US"/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Text Box 1"/>
          <p:cNvSpPr txBox="1">
            <a:spLocks noChangeArrowheads="1"/>
          </p:cNvSpPr>
          <p:nvPr/>
        </p:nvSpPr>
        <p:spPr bwMode="auto">
          <a:xfrm>
            <a:off x="6553200" y="6477000"/>
            <a:ext cx="2133600" cy="244475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lIns="90000" tIns="46800" rIns="90000" bIns="46800" anchor="ctr"/>
          <a:lstStyle/>
          <a:p>
            <a:pPr algn="r">
              <a:buSzPct val="10000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fld id="{48895EFF-1DBE-4654-84B8-EE5B6E2FA3CA}" type="slidenum">
              <a:rPr lang="en-US" sz="1200">
                <a:solidFill>
                  <a:srgbClr val="898989"/>
                </a:solidFill>
                <a:latin typeface="Calibri" charset="0"/>
              </a:rPr>
              <a:pPr algn="r">
                <a:buSzPct val="10000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</a:pPr>
              <a:t>46</a:t>
            </a:fld>
            <a:endParaRPr lang="en-US" sz="1200">
              <a:solidFill>
                <a:srgbClr val="898989"/>
              </a:solidFill>
              <a:latin typeface="Calibri" charset="0"/>
            </a:endParaRPr>
          </a:p>
        </p:txBody>
      </p:sp>
      <p:sp>
        <p:nvSpPr>
          <p:cNvPr id="84995" name="Text Box 2"/>
          <p:cNvSpPr txBox="1">
            <a:spLocks noChangeArrowheads="1"/>
          </p:cNvSpPr>
          <p:nvPr/>
        </p:nvSpPr>
        <p:spPr bwMode="auto">
          <a:xfrm>
            <a:off x="285720" y="12700"/>
            <a:ext cx="8572560" cy="1403350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anchor="b"/>
          <a:lstStyle/>
          <a:p>
            <a:r>
              <a:rPr lang="de-DE" sz="3600" dirty="0" err="1">
                <a:solidFill>
                  <a:schemeClr val="tx1"/>
                </a:solidFill>
                <a:latin typeface="+mj-lt"/>
              </a:rPr>
              <a:t>Cosine</a:t>
            </a:r>
            <a:endParaRPr lang="de-DE" sz="3600" dirty="0">
              <a:solidFill>
                <a:schemeClr val="tx1"/>
              </a:solidFill>
              <a:latin typeface="+mj-lt"/>
            </a:endParaRPr>
          </a:p>
        </p:txBody>
      </p:sp>
      <p:sp>
        <p:nvSpPr>
          <p:cNvPr id="84996" name="Text Box 3"/>
          <p:cNvSpPr txBox="1">
            <a:spLocks noChangeArrowheads="1"/>
          </p:cNvSpPr>
          <p:nvPr/>
        </p:nvSpPr>
        <p:spPr bwMode="auto">
          <a:xfrm>
            <a:off x="285720" y="2143116"/>
            <a:ext cx="8286808" cy="3643338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/>
          <a:lstStyle/>
          <a:p>
            <a:pPr lvl="1">
              <a:spcBef>
                <a:spcPts val="700"/>
              </a:spcBef>
              <a:buClr>
                <a:srgbClr val="336699"/>
              </a:buClr>
              <a:buFont typeface="Wingdings" pitchFamily="2" charset="2"/>
              <a:buChar char="§"/>
            </a:pPr>
            <a:endParaRPr lang="de-DE" dirty="0">
              <a:solidFill>
                <a:schemeClr val="tx1"/>
              </a:solidFill>
              <a:latin typeface="+mj-lt"/>
            </a:endParaRPr>
          </a:p>
        </p:txBody>
      </p:sp>
      <p:sp>
        <p:nvSpPr>
          <p:cNvPr id="84997" name="Text Box 4"/>
          <p:cNvSpPr txBox="1">
            <a:spLocks noChangeArrowheads="1"/>
          </p:cNvSpPr>
          <p:nvPr/>
        </p:nvSpPr>
        <p:spPr bwMode="auto">
          <a:xfrm>
            <a:off x="7640638" y="-33338"/>
            <a:ext cx="925512" cy="336551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wrap="none" anchor="ctr"/>
          <a:lstStyle/>
          <a:p>
            <a:pPr>
              <a:buClr>
                <a:srgbClr val="000000"/>
              </a:buClr>
              <a:buSzPct val="100000"/>
              <a:buFont typeface="Times New Roman" pitchFamily="16" charset="0"/>
              <a:buNone/>
            </a:pPr>
            <a:endParaRPr lang="de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4BF2C0F-05D6-4882-A325-BE394602789D}" type="slidenum">
              <a:rPr lang="en-US" smtClean="0"/>
              <a:pPr>
                <a:defRPr/>
              </a:pPr>
              <a:t>46</a:t>
            </a:fld>
            <a:endParaRPr lang="en-US"/>
          </a:p>
        </p:txBody>
      </p:sp>
      <p:pic>
        <p:nvPicPr>
          <p:cNvPr id="8" name="Picture 7" descr="65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2910" y="2000240"/>
            <a:ext cx="6274591" cy="3929090"/>
          </a:xfrm>
          <a:prstGeom prst="rect">
            <a:avLst/>
          </a:prstGeom>
        </p:spPr>
      </p:pic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Text Box 1"/>
          <p:cNvSpPr txBox="1">
            <a:spLocks noChangeArrowheads="1"/>
          </p:cNvSpPr>
          <p:nvPr/>
        </p:nvSpPr>
        <p:spPr bwMode="auto">
          <a:xfrm>
            <a:off x="6553200" y="6477000"/>
            <a:ext cx="2133600" cy="244475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lIns="90000" tIns="46800" rIns="90000" bIns="46800" anchor="ctr"/>
          <a:lstStyle/>
          <a:p>
            <a:pPr algn="r">
              <a:buSzPct val="10000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fld id="{48895EFF-1DBE-4654-84B8-EE5B6E2FA3CA}" type="slidenum">
              <a:rPr lang="en-US" sz="1200">
                <a:solidFill>
                  <a:srgbClr val="898989"/>
                </a:solidFill>
                <a:latin typeface="Calibri" charset="0"/>
              </a:rPr>
              <a:pPr algn="r">
                <a:buSzPct val="10000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</a:pPr>
              <a:t>47</a:t>
            </a:fld>
            <a:endParaRPr lang="en-US" sz="1200">
              <a:solidFill>
                <a:srgbClr val="898989"/>
              </a:solidFill>
              <a:latin typeface="Calibri" charset="0"/>
            </a:endParaRPr>
          </a:p>
        </p:txBody>
      </p:sp>
      <p:sp>
        <p:nvSpPr>
          <p:cNvPr id="84995" name="Text Box 2"/>
          <p:cNvSpPr txBox="1">
            <a:spLocks noChangeArrowheads="1"/>
          </p:cNvSpPr>
          <p:nvPr/>
        </p:nvSpPr>
        <p:spPr bwMode="auto">
          <a:xfrm>
            <a:off x="285720" y="12700"/>
            <a:ext cx="8572560" cy="1403350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anchor="b"/>
          <a:lstStyle/>
          <a:p>
            <a:r>
              <a:rPr lang="de-DE" sz="3600" dirty="0" err="1">
                <a:solidFill>
                  <a:schemeClr val="tx1"/>
                </a:solidFill>
                <a:latin typeface="+mj-lt"/>
              </a:rPr>
              <a:t>Length</a:t>
            </a:r>
            <a:r>
              <a:rPr lang="de-DE" sz="3600" dirty="0">
                <a:solidFill>
                  <a:schemeClr val="tx1"/>
                </a:solidFill>
                <a:latin typeface="+mj-lt"/>
              </a:rPr>
              <a:t> </a:t>
            </a:r>
            <a:r>
              <a:rPr lang="de-DE" sz="3600" dirty="0" err="1">
                <a:solidFill>
                  <a:schemeClr val="tx1"/>
                </a:solidFill>
                <a:latin typeface="+mj-lt"/>
              </a:rPr>
              <a:t>normalization</a:t>
            </a:r>
            <a:endParaRPr lang="de-DE" sz="3600" dirty="0">
              <a:solidFill>
                <a:schemeClr val="tx1"/>
              </a:solidFill>
              <a:latin typeface="+mj-lt"/>
            </a:endParaRPr>
          </a:p>
        </p:txBody>
      </p:sp>
      <p:sp>
        <p:nvSpPr>
          <p:cNvPr id="84996" name="Text Box 3"/>
          <p:cNvSpPr txBox="1">
            <a:spLocks noChangeArrowheads="1"/>
          </p:cNvSpPr>
          <p:nvPr/>
        </p:nvSpPr>
        <p:spPr bwMode="auto">
          <a:xfrm>
            <a:off x="285720" y="1500174"/>
            <a:ext cx="8286808" cy="3643338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/>
          <a:lstStyle/>
          <a:p>
            <a:pPr lvl="1">
              <a:spcBef>
                <a:spcPts val="700"/>
              </a:spcBef>
              <a:buClr>
                <a:srgbClr val="336699"/>
              </a:buClr>
              <a:buFont typeface="Wingdings" pitchFamily="2" charset="2"/>
              <a:buChar char="§"/>
            </a:pPr>
            <a:r>
              <a:rPr lang="en-US" dirty="0">
                <a:solidFill>
                  <a:schemeClr val="tx1"/>
                </a:solidFill>
                <a:latin typeface="+mj-lt"/>
              </a:rPr>
              <a:t>How do we compute the cosine?</a:t>
            </a:r>
          </a:p>
          <a:p>
            <a:pPr lvl="1">
              <a:spcBef>
                <a:spcPts val="700"/>
              </a:spcBef>
              <a:buClr>
                <a:srgbClr val="336699"/>
              </a:buClr>
              <a:buFont typeface="Wingdings" pitchFamily="2" charset="2"/>
              <a:buChar char="§"/>
            </a:pPr>
            <a:r>
              <a:rPr lang="en-US" dirty="0">
                <a:solidFill>
                  <a:schemeClr val="tx1"/>
                </a:solidFill>
                <a:latin typeface="+mj-lt"/>
              </a:rPr>
              <a:t>A vector can be (length-) normalized by dividing each of its components by its length – here we use the </a:t>
            </a:r>
            <a:r>
              <a:rPr lang="en-US" i="1" dirty="0">
                <a:solidFill>
                  <a:schemeClr val="tx1"/>
                </a:solidFill>
                <a:latin typeface="+mj-lt"/>
              </a:rPr>
              <a:t>L</a:t>
            </a:r>
            <a:r>
              <a:rPr lang="en-US" baseline="-25000" dirty="0">
                <a:solidFill>
                  <a:schemeClr val="tx1"/>
                </a:solidFill>
                <a:latin typeface="+mj-lt"/>
              </a:rPr>
              <a:t>2</a:t>
            </a:r>
            <a:r>
              <a:rPr lang="en-US" dirty="0">
                <a:solidFill>
                  <a:schemeClr val="tx1"/>
                </a:solidFill>
                <a:latin typeface="+mj-lt"/>
              </a:rPr>
              <a:t> norm:</a:t>
            </a:r>
          </a:p>
          <a:p>
            <a:pPr lvl="1">
              <a:spcBef>
                <a:spcPts val="700"/>
              </a:spcBef>
              <a:buClr>
                <a:srgbClr val="336699"/>
              </a:buClr>
            </a:pPr>
            <a:endParaRPr lang="en-US" dirty="0">
              <a:solidFill>
                <a:schemeClr val="tx1"/>
              </a:solidFill>
              <a:latin typeface="+mj-lt"/>
            </a:endParaRPr>
          </a:p>
          <a:p>
            <a:pPr lvl="1">
              <a:spcBef>
                <a:spcPts val="700"/>
              </a:spcBef>
              <a:buClr>
                <a:srgbClr val="336699"/>
              </a:buClr>
              <a:buFont typeface="Wingdings" pitchFamily="2" charset="2"/>
              <a:buChar char="§"/>
            </a:pPr>
            <a:r>
              <a:rPr lang="en-US" dirty="0">
                <a:solidFill>
                  <a:schemeClr val="tx1"/>
                </a:solidFill>
                <a:latin typeface="+mj-lt"/>
              </a:rPr>
              <a:t>This maps vectors onto the unit sphere . . .</a:t>
            </a:r>
          </a:p>
          <a:p>
            <a:pPr lvl="1">
              <a:spcBef>
                <a:spcPts val="700"/>
              </a:spcBef>
              <a:buClr>
                <a:srgbClr val="336699"/>
              </a:buClr>
              <a:buFont typeface="Wingdings" pitchFamily="2" charset="2"/>
              <a:buChar char="§"/>
            </a:pPr>
            <a:r>
              <a:rPr lang="en-US" dirty="0">
                <a:solidFill>
                  <a:schemeClr val="tx1"/>
                </a:solidFill>
                <a:latin typeface="+mj-lt"/>
              </a:rPr>
              <a:t>. . . since after normalization: </a:t>
            </a:r>
          </a:p>
          <a:p>
            <a:pPr lvl="1">
              <a:spcBef>
                <a:spcPts val="700"/>
              </a:spcBef>
              <a:buClr>
                <a:srgbClr val="336699"/>
              </a:buClr>
              <a:buFont typeface="Wingdings" pitchFamily="2" charset="2"/>
              <a:buChar char="§"/>
            </a:pPr>
            <a:r>
              <a:rPr lang="en-US" dirty="0">
                <a:solidFill>
                  <a:schemeClr val="tx1"/>
                </a:solidFill>
                <a:latin typeface="+mj-lt"/>
              </a:rPr>
              <a:t>As a result, longer documents and shorter documents have weights of the same order of magnitude.</a:t>
            </a:r>
          </a:p>
          <a:p>
            <a:pPr lvl="1">
              <a:spcBef>
                <a:spcPts val="700"/>
              </a:spcBef>
              <a:buClr>
                <a:srgbClr val="336699"/>
              </a:buClr>
              <a:buFont typeface="Wingdings" pitchFamily="2" charset="2"/>
              <a:buChar char="§"/>
            </a:pPr>
            <a:r>
              <a:rPr lang="en-US" dirty="0">
                <a:solidFill>
                  <a:schemeClr val="tx1"/>
                </a:solidFill>
                <a:latin typeface="+mj-lt"/>
              </a:rPr>
              <a:t>Effect on the two documents </a:t>
            </a:r>
            <a:r>
              <a:rPr lang="en-US" i="1" dirty="0">
                <a:solidFill>
                  <a:schemeClr val="tx1"/>
                </a:solidFill>
                <a:latin typeface="+mj-lt"/>
              </a:rPr>
              <a:t>d</a:t>
            </a:r>
            <a:r>
              <a:rPr lang="en-US" dirty="0">
                <a:solidFill>
                  <a:schemeClr val="tx1"/>
                </a:solidFill>
                <a:latin typeface="+mj-lt"/>
              </a:rPr>
              <a:t> and </a:t>
            </a:r>
            <a:r>
              <a:rPr lang="en-US" i="1" dirty="0">
                <a:solidFill>
                  <a:schemeClr val="tx1"/>
                </a:solidFill>
                <a:latin typeface="+mj-lt"/>
              </a:rPr>
              <a:t>d′ </a:t>
            </a:r>
            <a:r>
              <a:rPr lang="en-US" dirty="0">
                <a:solidFill>
                  <a:schemeClr val="tx1"/>
                </a:solidFill>
                <a:latin typeface="+mj-lt"/>
              </a:rPr>
              <a:t>(</a:t>
            </a:r>
            <a:r>
              <a:rPr lang="en-US" i="1" dirty="0">
                <a:solidFill>
                  <a:schemeClr val="tx1"/>
                </a:solidFill>
                <a:latin typeface="+mj-lt"/>
              </a:rPr>
              <a:t>d</a:t>
            </a:r>
            <a:r>
              <a:rPr lang="en-US" dirty="0">
                <a:solidFill>
                  <a:schemeClr val="tx1"/>
                </a:solidFill>
                <a:latin typeface="+mj-lt"/>
              </a:rPr>
              <a:t> appended to itself) from earlier slide: they have </a:t>
            </a:r>
            <a:r>
              <a:rPr lang="en-US" dirty="0">
                <a:solidFill>
                  <a:srgbClr val="0070C0"/>
                </a:solidFill>
                <a:latin typeface="+mj-lt"/>
              </a:rPr>
              <a:t>identical vectors </a:t>
            </a:r>
            <a:r>
              <a:rPr lang="en-US" dirty="0">
                <a:solidFill>
                  <a:schemeClr val="tx1"/>
                </a:solidFill>
                <a:latin typeface="+mj-lt"/>
              </a:rPr>
              <a:t>after </a:t>
            </a:r>
            <a:r>
              <a:rPr lang="de-DE" dirty="0" err="1">
                <a:solidFill>
                  <a:schemeClr val="tx1"/>
                </a:solidFill>
                <a:latin typeface="+mj-lt"/>
              </a:rPr>
              <a:t>length-normalization</a:t>
            </a:r>
            <a:r>
              <a:rPr lang="de-DE" dirty="0">
                <a:solidFill>
                  <a:schemeClr val="tx1"/>
                </a:solidFill>
                <a:latin typeface="+mj-lt"/>
              </a:rPr>
              <a:t>.</a:t>
            </a:r>
          </a:p>
        </p:txBody>
      </p:sp>
      <p:sp>
        <p:nvSpPr>
          <p:cNvPr id="84997" name="Text Box 4"/>
          <p:cNvSpPr txBox="1">
            <a:spLocks noChangeArrowheads="1"/>
          </p:cNvSpPr>
          <p:nvPr/>
        </p:nvSpPr>
        <p:spPr bwMode="auto">
          <a:xfrm>
            <a:off x="7640638" y="-33338"/>
            <a:ext cx="925512" cy="336551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wrap="none" anchor="ctr"/>
          <a:lstStyle/>
          <a:p>
            <a:pPr>
              <a:buClr>
                <a:srgbClr val="000000"/>
              </a:buClr>
              <a:buSzPct val="100000"/>
              <a:buFont typeface="Times New Roman" pitchFamily="16" charset="0"/>
              <a:buNone/>
            </a:pPr>
            <a:endParaRPr lang="de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4BF2C0F-05D6-4882-A325-BE394602789D}" type="slidenum">
              <a:rPr lang="en-US" smtClean="0"/>
              <a:pPr>
                <a:defRPr/>
              </a:pPr>
              <a:t>47</a:t>
            </a:fld>
            <a:endParaRPr lang="en-US"/>
          </a:p>
        </p:txBody>
      </p:sp>
      <p:pic>
        <p:nvPicPr>
          <p:cNvPr id="8" name="Picture 7" descr="65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46771" y="2322889"/>
            <a:ext cx="2294999" cy="612000"/>
          </a:xfrm>
          <a:prstGeom prst="rect">
            <a:avLst/>
          </a:prstGeom>
        </p:spPr>
      </p:pic>
      <p:pic>
        <p:nvPicPr>
          <p:cNvPr id="9" name="Picture 8" descr="651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70127" y="3055538"/>
            <a:ext cx="3005602" cy="612000"/>
          </a:xfrm>
          <a:prstGeom prst="rect">
            <a:avLst/>
          </a:prstGeom>
        </p:spPr>
      </p:pic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Text Box 1"/>
          <p:cNvSpPr txBox="1">
            <a:spLocks noChangeArrowheads="1"/>
          </p:cNvSpPr>
          <p:nvPr/>
        </p:nvSpPr>
        <p:spPr bwMode="auto">
          <a:xfrm>
            <a:off x="6553200" y="6477000"/>
            <a:ext cx="2133600" cy="244475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lIns="90000" tIns="46800" rIns="90000" bIns="46800" anchor="ctr"/>
          <a:lstStyle/>
          <a:p>
            <a:pPr algn="r">
              <a:buSzPct val="10000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fld id="{48895EFF-1DBE-4654-84B8-EE5B6E2FA3CA}" type="slidenum">
              <a:rPr lang="en-US" sz="1200">
                <a:solidFill>
                  <a:srgbClr val="898989"/>
                </a:solidFill>
                <a:latin typeface="Calibri" charset="0"/>
              </a:rPr>
              <a:pPr algn="r">
                <a:buSzPct val="10000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</a:pPr>
              <a:t>48</a:t>
            </a:fld>
            <a:endParaRPr lang="en-US" sz="1200">
              <a:solidFill>
                <a:srgbClr val="898989"/>
              </a:solidFill>
              <a:latin typeface="Calibri" charset="0"/>
            </a:endParaRPr>
          </a:p>
        </p:txBody>
      </p:sp>
      <p:sp>
        <p:nvSpPr>
          <p:cNvPr id="84995" name="Text Box 2"/>
          <p:cNvSpPr txBox="1">
            <a:spLocks noChangeArrowheads="1"/>
          </p:cNvSpPr>
          <p:nvPr/>
        </p:nvSpPr>
        <p:spPr bwMode="auto">
          <a:xfrm>
            <a:off x="285720" y="12700"/>
            <a:ext cx="8572560" cy="1403350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anchor="b"/>
          <a:lstStyle/>
          <a:p>
            <a:r>
              <a:rPr lang="en-US" sz="3600" dirty="0">
                <a:solidFill>
                  <a:schemeClr val="tx1"/>
                </a:solidFill>
                <a:latin typeface="+mj-lt"/>
              </a:rPr>
              <a:t>Cosine similarity between query and document</a:t>
            </a:r>
            <a:endParaRPr lang="de-DE" sz="3600" dirty="0">
              <a:solidFill>
                <a:schemeClr val="tx1"/>
              </a:solidFill>
              <a:latin typeface="+mj-lt"/>
            </a:endParaRPr>
          </a:p>
        </p:txBody>
      </p:sp>
      <p:sp>
        <p:nvSpPr>
          <p:cNvPr id="84996" name="Text Box 3"/>
          <p:cNvSpPr txBox="1">
            <a:spLocks noChangeArrowheads="1"/>
          </p:cNvSpPr>
          <p:nvPr/>
        </p:nvSpPr>
        <p:spPr bwMode="auto">
          <a:xfrm>
            <a:off x="285720" y="3429000"/>
            <a:ext cx="8286808" cy="3643338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/>
          <a:lstStyle/>
          <a:p>
            <a:pPr lvl="1">
              <a:spcBef>
                <a:spcPts val="700"/>
              </a:spcBef>
              <a:buClr>
                <a:srgbClr val="336699"/>
              </a:buClr>
              <a:buFont typeface="Wingdings" pitchFamily="2" charset="2"/>
              <a:buChar char="§"/>
            </a:pPr>
            <a:r>
              <a:rPr lang="en-US" i="1" dirty="0" err="1">
                <a:solidFill>
                  <a:schemeClr val="tx1"/>
                </a:solidFill>
                <a:latin typeface="+mj-lt"/>
              </a:rPr>
              <a:t>q</a:t>
            </a:r>
            <a:r>
              <a:rPr lang="en-US" i="1" baseline="-25000" dirty="0" err="1">
                <a:solidFill>
                  <a:schemeClr val="tx1"/>
                </a:solidFill>
                <a:latin typeface="+mj-lt"/>
              </a:rPr>
              <a:t>i</a:t>
            </a:r>
            <a:r>
              <a:rPr lang="en-US" dirty="0">
                <a:solidFill>
                  <a:schemeClr val="tx1"/>
                </a:solidFill>
                <a:latin typeface="+mj-lt"/>
              </a:rPr>
              <a:t> is the </a:t>
            </a:r>
            <a:r>
              <a:rPr lang="en-US" dirty="0" err="1">
                <a:solidFill>
                  <a:schemeClr val="tx1"/>
                </a:solidFill>
                <a:latin typeface="+mj-lt"/>
              </a:rPr>
              <a:t>tf-idf</a:t>
            </a:r>
            <a:r>
              <a:rPr lang="en-US" dirty="0">
                <a:solidFill>
                  <a:schemeClr val="tx1"/>
                </a:solidFill>
                <a:latin typeface="+mj-lt"/>
              </a:rPr>
              <a:t> weight of term</a:t>
            </a:r>
            <a:r>
              <a:rPr lang="en-US" i="1" dirty="0">
                <a:solidFill>
                  <a:schemeClr val="tx1"/>
                </a:solidFill>
                <a:latin typeface="+mj-lt"/>
              </a:rPr>
              <a:t> </a:t>
            </a:r>
            <a:r>
              <a:rPr lang="en-US" i="1" dirty="0" err="1">
                <a:solidFill>
                  <a:schemeClr val="tx1"/>
                </a:solidFill>
                <a:latin typeface="+mj-lt"/>
              </a:rPr>
              <a:t>i</a:t>
            </a:r>
            <a:r>
              <a:rPr lang="en-US" i="1" dirty="0">
                <a:solidFill>
                  <a:schemeClr val="tx1"/>
                </a:solidFill>
                <a:latin typeface="+mj-lt"/>
              </a:rPr>
              <a:t> </a:t>
            </a:r>
            <a:r>
              <a:rPr lang="en-US" dirty="0">
                <a:solidFill>
                  <a:schemeClr val="tx1"/>
                </a:solidFill>
                <a:latin typeface="+mj-lt"/>
              </a:rPr>
              <a:t>in the query.</a:t>
            </a:r>
          </a:p>
          <a:p>
            <a:pPr lvl="1">
              <a:spcBef>
                <a:spcPts val="700"/>
              </a:spcBef>
              <a:buClr>
                <a:srgbClr val="336699"/>
              </a:buClr>
              <a:buFont typeface="Wingdings" pitchFamily="2" charset="2"/>
              <a:buChar char="§"/>
            </a:pPr>
            <a:r>
              <a:rPr lang="en-US" i="1" dirty="0" err="1">
                <a:solidFill>
                  <a:schemeClr val="tx1"/>
                </a:solidFill>
                <a:latin typeface="+mj-lt"/>
              </a:rPr>
              <a:t>d</a:t>
            </a:r>
            <a:r>
              <a:rPr lang="en-US" i="1" baseline="-25000" dirty="0" err="1">
                <a:solidFill>
                  <a:schemeClr val="tx1"/>
                </a:solidFill>
                <a:latin typeface="+mj-lt"/>
              </a:rPr>
              <a:t>i</a:t>
            </a:r>
            <a:r>
              <a:rPr lang="en-US" i="1" dirty="0">
                <a:solidFill>
                  <a:schemeClr val="tx1"/>
                </a:solidFill>
                <a:latin typeface="+mj-lt"/>
              </a:rPr>
              <a:t> </a:t>
            </a:r>
            <a:r>
              <a:rPr lang="en-US" dirty="0">
                <a:solidFill>
                  <a:schemeClr val="tx1"/>
                </a:solidFill>
                <a:latin typeface="+mj-lt"/>
              </a:rPr>
              <a:t>is the </a:t>
            </a:r>
            <a:r>
              <a:rPr lang="en-US" dirty="0" err="1">
                <a:solidFill>
                  <a:schemeClr val="tx1"/>
                </a:solidFill>
                <a:latin typeface="+mj-lt"/>
              </a:rPr>
              <a:t>tf-idf</a:t>
            </a:r>
            <a:r>
              <a:rPr lang="en-US" dirty="0">
                <a:solidFill>
                  <a:schemeClr val="tx1"/>
                </a:solidFill>
                <a:latin typeface="+mj-lt"/>
              </a:rPr>
              <a:t> weight of term</a:t>
            </a:r>
            <a:r>
              <a:rPr lang="en-US" i="1" dirty="0">
                <a:solidFill>
                  <a:schemeClr val="tx1"/>
                </a:solidFill>
                <a:latin typeface="+mj-lt"/>
              </a:rPr>
              <a:t> </a:t>
            </a:r>
            <a:r>
              <a:rPr lang="en-US" i="1" dirty="0" err="1">
                <a:solidFill>
                  <a:schemeClr val="tx1"/>
                </a:solidFill>
                <a:latin typeface="+mj-lt"/>
              </a:rPr>
              <a:t>i</a:t>
            </a:r>
            <a:r>
              <a:rPr lang="en-US" i="1" dirty="0">
                <a:solidFill>
                  <a:schemeClr val="tx1"/>
                </a:solidFill>
                <a:latin typeface="+mj-lt"/>
              </a:rPr>
              <a:t> </a:t>
            </a:r>
            <a:r>
              <a:rPr lang="en-US" dirty="0">
                <a:solidFill>
                  <a:schemeClr val="tx1"/>
                </a:solidFill>
                <a:latin typeface="+mj-lt"/>
              </a:rPr>
              <a:t>in the document.</a:t>
            </a:r>
          </a:p>
          <a:p>
            <a:pPr lvl="1">
              <a:spcBef>
                <a:spcPts val="700"/>
              </a:spcBef>
              <a:buClr>
                <a:srgbClr val="336699"/>
              </a:buClr>
              <a:buFont typeface="Wingdings" pitchFamily="2" charset="2"/>
              <a:buChar char="§"/>
            </a:pPr>
            <a:r>
              <a:rPr lang="en-US" dirty="0">
                <a:solidFill>
                  <a:schemeClr val="tx1"/>
                </a:solidFill>
                <a:latin typeface="+mj-lt"/>
              </a:rPr>
              <a:t>|    | and |    | are the lengths of       and </a:t>
            </a:r>
          </a:p>
          <a:p>
            <a:pPr lvl="1">
              <a:spcBef>
                <a:spcPts val="700"/>
              </a:spcBef>
              <a:buClr>
                <a:srgbClr val="336699"/>
              </a:buClr>
              <a:buFont typeface="Wingdings" pitchFamily="2" charset="2"/>
              <a:buChar char="§"/>
            </a:pPr>
            <a:r>
              <a:rPr lang="en-US" dirty="0">
                <a:solidFill>
                  <a:schemeClr val="tx1"/>
                </a:solidFill>
                <a:latin typeface="+mj-lt"/>
              </a:rPr>
              <a:t>This is the </a:t>
            </a:r>
            <a:r>
              <a:rPr lang="en-US" dirty="0">
                <a:solidFill>
                  <a:srgbClr val="0070C0"/>
                </a:solidFill>
                <a:latin typeface="+mj-lt"/>
              </a:rPr>
              <a:t>cosine similarity </a:t>
            </a:r>
            <a:r>
              <a:rPr lang="en-US" dirty="0">
                <a:solidFill>
                  <a:schemeClr val="tx1"/>
                </a:solidFill>
                <a:latin typeface="+mj-lt"/>
              </a:rPr>
              <a:t>of      and      . . . . . . or, equivalently, the cosine of the angle between      and </a:t>
            </a:r>
            <a:endParaRPr lang="de-DE" dirty="0">
              <a:solidFill>
                <a:schemeClr val="tx1"/>
              </a:solidFill>
              <a:latin typeface="+mj-lt"/>
            </a:endParaRPr>
          </a:p>
        </p:txBody>
      </p:sp>
      <p:sp>
        <p:nvSpPr>
          <p:cNvPr id="84997" name="Text Box 4"/>
          <p:cNvSpPr txBox="1">
            <a:spLocks noChangeArrowheads="1"/>
          </p:cNvSpPr>
          <p:nvPr/>
        </p:nvSpPr>
        <p:spPr bwMode="auto">
          <a:xfrm>
            <a:off x="7640638" y="-33338"/>
            <a:ext cx="925512" cy="336551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wrap="none" anchor="ctr"/>
          <a:lstStyle/>
          <a:p>
            <a:pPr>
              <a:buClr>
                <a:srgbClr val="000000"/>
              </a:buClr>
              <a:buSzPct val="100000"/>
              <a:buFont typeface="Times New Roman" pitchFamily="16" charset="0"/>
              <a:buNone/>
            </a:pPr>
            <a:endParaRPr lang="de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4BF2C0F-05D6-4882-A325-BE394602789D}" type="slidenum">
              <a:rPr lang="en-US" smtClean="0"/>
              <a:pPr>
                <a:defRPr/>
              </a:pPr>
              <a:t>48</a:t>
            </a:fld>
            <a:endParaRPr lang="en-US"/>
          </a:p>
        </p:txBody>
      </p:sp>
      <p:pic>
        <p:nvPicPr>
          <p:cNvPr id="10" name="Picture 9" descr="65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0100" y="1884934"/>
            <a:ext cx="6645180" cy="1080000"/>
          </a:xfrm>
          <a:prstGeom prst="rect">
            <a:avLst/>
          </a:prstGeom>
        </p:spPr>
      </p:pic>
      <p:pic>
        <p:nvPicPr>
          <p:cNvPr id="12" name="Picture 11" descr="652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0100" y="4079185"/>
            <a:ext cx="317031" cy="468000"/>
          </a:xfrm>
          <a:prstGeom prst="rect">
            <a:avLst/>
          </a:prstGeom>
        </p:spPr>
      </p:pic>
      <p:pic>
        <p:nvPicPr>
          <p:cNvPr id="13" name="Picture 12" descr="652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23928" y="4052256"/>
            <a:ext cx="317031" cy="468000"/>
          </a:xfrm>
          <a:prstGeom prst="rect">
            <a:avLst/>
          </a:prstGeom>
        </p:spPr>
      </p:pic>
      <p:pic>
        <p:nvPicPr>
          <p:cNvPr id="14" name="Picture 13" descr="652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06382" y="4498844"/>
            <a:ext cx="317031" cy="468000"/>
          </a:xfrm>
          <a:prstGeom prst="rect">
            <a:avLst/>
          </a:prstGeom>
        </p:spPr>
      </p:pic>
      <p:pic>
        <p:nvPicPr>
          <p:cNvPr id="15" name="Picture 14" descr="652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44845" y="4818425"/>
            <a:ext cx="317031" cy="468000"/>
          </a:xfrm>
          <a:prstGeom prst="rect">
            <a:avLst/>
          </a:prstGeom>
        </p:spPr>
      </p:pic>
      <p:pic>
        <p:nvPicPr>
          <p:cNvPr id="16" name="Picture 15" descr="6521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21001" y="4442039"/>
            <a:ext cx="366547" cy="504000"/>
          </a:xfrm>
          <a:prstGeom prst="rect">
            <a:avLst/>
          </a:prstGeom>
        </p:spPr>
      </p:pic>
      <p:pic>
        <p:nvPicPr>
          <p:cNvPr id="17" name="Picture 16" descr="6521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18547" y="4071215"/>
            <a:ext cx="340365" cy="468000"/>
          </a:xfrm>
          <a:prstGeom prst="rect">
            <a:avLst/>
          </a:prstGeom>
        </p:spPr>
      </p:pic>
      <p:pic>
        <p:nvPicPr>
          <p:cNvPr id="18" name="Picture 17" descr="6521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92002" y="4770629"/>
            <a:ext cx="366547" cy="504000"/>
          </a:xfrm>
          <a:prstGeom prst="rect">
            <a:avLst/>
          </a:prstGeom>
        </p:spPr>
      </p:pic>
      <p:pic>
        <p:nvPicPr>
          <p:cNvPr id="19" name="Picture 18" descr="Picture1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818255" y="4124805"/>
            <a:ext cx="361031" cy="468000"/>
          </a:xfrm>
          <a:prstGeom prst="rect">
            <a:avLst/>
          </a:prstGeom>
        </p:spPr>
      </p:pic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Text Box 1"/>
          <p:cNvSpPr txBox="1">
            <a:spLocks noChangeArrowheads="1"/>
          </p:cNvSpPr>
          <p:nvPr/>
        </p:nvSpPr>
        <p:spPr bwMode="auto">
          <a:xfrm>
            <a:off x="6553200" y="6477000"/>
            <a:ext cx="2133600" cy="244475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lIns="90000" tIns="46800" rIns="90000" bIns="46800" anchor="ctr"/>
          <a:lstStyle/>
          <a:p>
            <a:pPr algn="r">
              <a:buSzPct val="10000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fld id="{48895EFF-1DBE-4654-84B8-EE5B6E2FA3CA}" type="slidenum">
              <a:rPr lang="en-US" sz="1200">
                <a:solidFill>
                  <a:srgbClr val="898989"/>
                </a:solidFill>
                <a:latin typeface="Calibri" charset="0"/>
              </a:rPr>
              <a:pPr algn="r">
                <a:buSzPct val="10000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</a:pPr>
              <a:t>49</a:t>
            </a:fld>
            <a:endParaRPr lang="en-US" sz="1200">
              <a:solidFill>
                <a:srgbClr val="898989"/>
              </a:solidFill>
              <a:latin typeface="Calibri" charset="0"/>
            </a:endParaRPr>
          </a:p>
        </p:txBody>
      </p:sp>
      <p:sp>
        <p:nvSpPr>
          <p:cNvPr id="84995" name="Text Box 2"/>
          <p:cNvSpPr txBox="1">
            <a:spLocks noChangeArrowheads="1"/>
          </p:cNvSpPr>
          <p:nvPr/>
        </p:nvSpPr>
        <p:spPr bwMode="auto">
          <a:xfrm>
            <a:off x="285720" y="12700"/>
            <a:ext cx="8572560" cy="1403350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anchor="b"/>
          <a:lstStyle/>
          <a:p>
            <a:r>
              <a:rPr lang="de-DE" sz="3600" dirty="0" err="1">
                <a:solidFill>
                  <a:schemeClr val="tx1"/>
                </a:solidFill>
                <a:latin typeface="+mj-lt"/>
              </a:rPr>
              <a:t>Cosine</a:t>
            </a:r>
            <a:r>
              <a:rPr lang="de-DE" sz="3600" dirty="0">
                <a:solidFill>
                  <a:schemeClr val="tx1"/>
                </a:solidFill>
                <a:latin typeface="+mj-lt"/>
              </a:rPr>
              <a:t> </a:t>
            </a:r>
            <a:r>
              <a:rPr lang="de-DE" sz="3600" dirty="0" err="1">
                <a:solidFill>
                  <a:schemeClr val="tx1"/>
                </a:solidFill>
                <a:latin typeface="+mj-lt"/>
              </a:rPr>
              <a:t>for</a:t>
            </a:r>
            <a:r>
              <a:rPr lang="de-DE" sz="3600" dirty="0">
                <a:solidFill>
                  <a:schemeClr val="tx1"/>
                </a:solidFill>
                <a:latin typeface="+mj-lt"/>
              </a:rPr>
              <a:t> </a:t>
            </a:r>
            <a:r>
              <a:rPr lang="de-DE" sz="3600" dirty="0" err="1">
                <a:solidFill>
                  <a:schemeClr val="tx1"/>
                </a:solidFill>
                <a:latin typeface="+mj-lt"/>
              </a:rPr>
              <a:t>normalized</a:t>
            </a:r>
            <a:r>
              <a:rPr lang="de-DE" sz="3600" dirty="0">
                <a:solidFill>
                  <a:schemeClr val="tx1"/>
                </a:solidFill>
                <a:latin typeface="+mj-lt"/>
              </a:rPr>
              <a:t> </a:t>
            </a:r>
            <a:r>
              <a:rPr lang="de-DE" sz="3600" dirty="0" err="1">
                <a:solidFill>
                  <a:schemeClr val="tx1"/>
                </a:solidFill>
                <a:latin typeface="+mj-lt"/>
              </a:rPr>
              <a:t>vectors</a:t>
            </a:r>
            <a:endParaRPr lang="de-DE" sz="3600" dirty="0">
              <a:solidFill>
                <a:schemeClr val="tx1"/>
              </a:solidFill>
              <a:latin typeface="+mj-lt"/>
            </a:endParaRPr>
          </a:p>
        </p:txBody>
      </p:sp>
      <p:sp>
        <p:nvSpPr>
          <p:cNvPr id="84996" name="Text Box 3"/>
          <p:cNvSpPr txBox="1">
            <a:spLocks noChangeArrowheads="1"/>
          </p:cNvSpPr>
          <p:nvPr/>
        </p:nvSpPr>
        <p:spPr bwMode="auto">
          <a:xfrm>
            <a:off x="285720" y="2500306"/>
            <a:ext cx="8286808" cy="3643338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/>
          <a:lstStyle/>
          <a:p>
            <a:pPr lvl="1">
              <a:spcBef>
                <a:spcPts val="700"/>
              </a:spcBef>
              <a:buClr>
                <a:srgbClr val="336699"/>
              </a:buClr>
              <a:buFont typeface="Wingdings" pitchFamily="2" charset="2"/>
              <a:buChar char="§"/>
            </a:pPr>
            <a:r>
              <a:rPr lang="en-US" dirty="0">
                <a:solidFill>
                  <a:schemeClr val="tx1"/>
                </a:solidFill>
                <a:latin typeface="+mj-lt"/>
              </a:rPr>
              <a:t>For normalized vectors, the cosine is equivalent to the dot </a:t>
            </a:r>
            <a:r>
              <a:rPr lang="de-DE" dirty="0" err="1">
                <a:solidFill>
                  <a:schemeClr val="tx1"/>
                </a:solidFill>
                <a:latin typeface="+mj-lt"/>
              </a:rPr>
              <a:t>product</a:t>
            </a:r>
            <a:r>
              <a:rPr lang="de-DE" dirty="0">
                <a:solidFill>
                  <a:schemeClr val="tx1"/>
                </a:solidFill>
                <a:latin typeface="+mj-lt"/>
              </a:rPr>
              <a:t> </a:t>
            </a:r>
            <a:r>
              <a:rPr lang="de-DE" dirty="0" err="1">
                <a:solidFill>
                  <a:schemeClr val="tx1"/>
                </a:solidFill>
                <a:latin typeface="+mj-lt"/>
              </a:rPr>
              <a:t>or</a:t>
            </a:r>
            <a:r>
              <a:rPr lang="de-DE" dirty="0">
                <a:solidFill>
                  <a:schemeClr val="tx1"/>
                </a:solidFill>
                <a:latin typeface="+mj-lt"/>
              </a:rPr>
              <a:t> </a:t>
            </a:r>
            <a:r>
              <a:rPr lang="de-DE" dirty="0" err="1">
                <a:solidFill>
                  <a:schemeClr val="tx1"/>
                </a:solidFill>
                <a:latin typeface="+mj-lt"/>
              </a:rPr>
              <a:t>scalar</a:t>
            </a:r>
            <a:r>
              <a:rPr lang="de-DE" dirty="0">
                <a:solidFill>
                  <a:schemeClr val="tx1"/>
                </a:solidFill>
                <a:latin typeface="+mj-lt"/>
              </a:rPr>
              <a:t> </a:t>
            </a:r>
            <a:r>
              <a:rPr lang="de-DE" dirty="0" err="1">
                <a:solidFill>
                  <a:schemeClr val="tx1"/>
                </a:solidFill>
                <a:latin typeface="+mj-lt"/>
              </a:rPr>
              <a:t>product</a:t>
            </a:r>
            <a:r>
              <a:rPr lang="de-DE" dirty="0">
                <a:solidFill>
                  <a:schemeClr val="tx1"/>
                </a:solidFill>
                <a:latin typeface="+mj-lt"/>
              </a:rPr>
              <a:t>.</a:t>
            </a:r>
          </a:p>
          <a:p>
            <a:pPr lvl="1">
              <a:spcBef>
                <a:spcPts val="700"/>
              </a:spcBef>
              <a:buClr>
                <a:srgbClr val="336699"/>
              </a:buClr>
              <a:buFont typeface="Wingdings" pitchFamily="2" charset="2"/>
              <a:buChar char="§"/>
            </a:pPr>
            <a:endParaRPr lang="en-US" dirty="0">
              <a:solidFill>
                <a:schemeClr val="tx1"/>
              </a:solidFill>
              <a:latin typeface="+mj-lt"/>
            </a:endParaRPr>
          </a:p>
          <a:p>
            <a:pPr lvl="1">
              <a:spcBef>
                <a:spcPts val="700"/>
              </a:spcBef>
              <a:buClr>
                <a:srgbClr val="336699"/>
              </a:buClr>
              <a:buFont typeface="Wingdings" pitchFamily="2" charset="2"/>
              <a:buChar char="§"/>
            </a:pPr>
            <a:endParaRPr lang="en-US" dirty="0">
              <a:solidFill>
                <a:schemeClr val="tx1"/>
              </a:solidFill>
              <a:latin typeface="+mj-lt"/>
            </a:endParaRPr>
          </a:p>
          <a:p>
            <a:pPr lvl="2">
              <a:spcBef>
                <a:spcPts val="700"/>
              </a:spcBef>
              <a:buClr>
                <a:srgbClr val="336699"/>
              </a:buClr>
              <a:buFont typeface="Wingdings" pitchFamily="2" charset="2"/>
              <a:buChar char="§"/>
            </a:pPr>
            <a:endParaRPr lang="en-US" dirty="0">
              <a:solidFill>
                <a:schemeClr val="tx1"/>
              </a:solidFill>
              <a:latin typeface="+mj-lt"/>
            </a:endParaRPr>
          </a:p>
          <a:p>
            <a:pPr lvl="2">
              <a:spcBef>
                <a:spcPts val="700"/>
              </a:spcBef>
              <a:buClr>
                <a:srgbClr val="336699"/>
              </a:buClr>
              <a:buFont typeface="Wingdings" pitchFamily="2" charset="2"/>
              <a:buChar char="§"/>
            </a:pPr>
            <a:r>
              <a:rPr lang="en-US" dirty="0">
                <a:solidFill>
                  <a:schemeClr val="tx1"/>
                </a:solidFill>
                <a:latin typeface="+mj-lt"/>
              </a:rPr>
              <a:t>(if       and       are length-normalized).</a:t>
            </a:r>
          </a:p>
        </p:txBody>
      </p:sp>
      <p:sp>
        <p:nvSpPr>
          <p:cNvPr id="84997" name="Text Box 4"/>
          <p:cNvSpPr txBox="1">
            <a:spLocks noChangeArrowheads="1"/>
          </p:cNvSpPr>
          <p:nvPr/>
        </p:nvSpPr>
        <p:spPr bwMode="auto">
          <a:xfrm>
            <a:off x="7640638" y="-33338"/>
            <a:ext cx="925512" cy="336551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wrap="none" anchor="ctr"/>
          <a:lstStyle/>
          <a:p>
            <a:pPr>
              <a:buClr>
                <a:srgbClr val="000000"/>
              </a:buClr>
              <a:buSzPct val="100000"/>
              <a:buFont typeface="Times New Roman" pitchFamily="16" charset="0"/>
              <a:buNone/>
            </a:pPr>
            <a:endParaRPr lang="de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4BF2C0F-05D6-4882-A325-BE394602789D}" type="slidenum">
              <a:rPr lang="en-US" smtClean="0"/>
              <a:pPr>
                <a:defRPr/>
              </a:pPr>
              <a:t>49</a:t>
            </a:fld>
            <a:endParaRPr lang="en-US"/>
          </a:p>
        </p:txBody>
      </p:sp>
      <p:pic>
        <p:nvPicPr>
          <p:cNvPr id="12" name="Picture 11" descr="652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19672" y="4152190"/>
            <a:ext cx="317031" cy="468000"/>
          </a:xfrm>
          <a:prstGeom prst="rect">
            <a:avLst/>
          </a:prstGeom>
        </p:spPr>
      </p:pic>
      <p:pic>
        <p:nvPicPr>
          <p:cNvPr id="19" name="Picture 18" descr="Picture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39752" y="4134190"/>
            <a:ext cx="388803" cy="504000"/>
          </a:xfrm>
          <a:prstGeom prst="rect">
            <a:avLst/>
          </a:prstGeom>
        </p:spPr>
      </p:pic>
      <p:pic>
        <p:nvPicPr>
          <p:cNvPr id="29" name="Picture 28" descr="653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71538" y="3460504"/>
            <a:ext cx="4367646" cy="540000"/>
          </a:xfrm>
          <a:prstGeom prst="rect">
            <a:avLst/>
          </a:prstGeom>
        </p:spPr>
      </p:pic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Text Box 1"/>
          <p:cNvSpPr txBox="1">
            <a:spLocks noChangeArrowheads="1"/>
          </p:cNvSpPr>
          <p:nvPr/>
        </p:nvSpPr>
        <p:spPr bwMode="auto">
          <a:xfrm>
            <a:off x="6553200" y="6477000"/>
            <a:ext cx="2133600" cy="244475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lIns="90000" tIns="46800" rIns="90000" bIns="46800" anchor="ctr"/>
          <a:lstStyle/>
          <a:p>
            <a:pPr algn="r">
              <a:buSzPct val="10000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fld id="{48895EFF-1DBE-4654-84B8-EE5B6E2FA3CA}" type="slidenum">
              <a:rPr lang="en-US" sz="1200">
                <a:solidFill>
                  <a:srgbClr val="898989"/>
                </a:solidFill>
                <a:latin typeface="Calibri" charset="0"/>
              </a:rPr>
              <a:pPr algn="r">
                <a:buSzPct val="10000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</a:pPr>
              <a:t>50</a:t>
            </a:fld>
            <a:endParaRPr lang="en-US" sz="1200">
              <a:solidFill>
                <a:srgbClr val="898989"/>
              </a:solidFill>
              <a:latin typeface="Calibri" charset="0"/>
            </a:endParaRPr>
          </a:p>
        </p:txBody>
      </p:sp>
      <p:sp>
        <p:nvSpPr>
          <p:cNvPr id="84995" name="Text Box 2"/>
          <p:cNvSpPr txBox="1">
            <a:spLocks noChangeArrowheads="1"/>
          </p:cNvSpPr>
          <p:nvPr/>
        </p:nvSpPr>
        <p:spPr bwMode="auto">
          <a:xfrm>
            <a:off x="285720" y="12700"/>
            <a:ext cx="8572560" cy="1403350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anchor="b"/>
          <a:lstStyle/>
          <a:p>
            <a:r>
              <a:rPr lang="de-DE" sz="3600" dirty="0" err="1">
                <a:solidFill>
                  <a:schemeClr val="tx1"/>
                </a:solidFill>
                <a:latin typeface="+mj-lt"/>
              </a:rPr>
              <a:t>Cosine</a:t>
            </a:r>
            <a:r>
              <a:rPr lang="de-DE" sz="3600" dirty="0">
                <a:solidFill>
                  <a:schemeClr val="tx1"/>
                </a:solidFill>
                <a:latin typeface="+mj-lt"/>
              </a:rPr>
              <a:t> </a:t>
            </a:r>
            <a:r>
              <a:rPr lang="de-DE" sz="3600" dirty="0" err="1">
                <a:solidFill>
                  <a:schemeClr val="tx1"/>
                </a:solidFill>
                <a:latin typeface="+mj-lt"/>
              </a:rPr>
              <a:t>similarity</a:t>
            </a:r>
            <a:r>
              <a:rPr lang="de-DE" sz="3600" dirty="0">
                <a:solidFill>
                  <a:schemeClr val="tx1"/>
                </a:solidFill>
                <a:latin typeface="+mj-lt"/>
              </a:rPr>
              <a:t> </a:t>
            </a:r>
            <a:r>
              <a:rPr lang="de-DE" sz="3600" dirty="0" err="1">
                <a:solidFill>
                  <a:schemeClr val="tx1"/>
                </a:solidFill>
                <a:latin typeface="+mj-lt"/>
              </a:rPr>
              <a:t>illustrated</a:t>
            </a:r>
            <a:endParaRPr lang="de-DE" sz="3600" dirty="0">
              <a:solidFill>
                <a:schemeClr val="tx1"/>
              </a:solidFill>
              <a:latin typeface="+mj-lt"/>
            </a:endParaRPr>
          </a:p>
        </p:txBody>
      </p:sp>
      <p:sp>
        <p:nvSpPr>
          <p:cNvPr id="84996" name="Text Box 3"/>
          <p:cNvSpPr txBox="1">
            <a:spLocks noChangeArrowheads="1"/>
          </p:cNvSpPr>
          <p:nvPr/>
        </p:nvSpPr>
        <p:spPr bwMode="auto">
          <a:xfrm>
            <a:off x="285720" y="2143116"/>
            <a:ext cx="8286808" cy="3643338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/>
          <a:lstStyle/>
          <a:p>
            <a:pPr lvl="1">
              <a:spcBef>
                <a:spcPts val="700"/>
              </a:spcBef>
              <a:buClr>
                <a:srgbClr val="336699"/>
              </a:buClr>
              <a:buFont typeface="Wingdings" pitchFamily="2" charset="2"/>
              <a:buChar char="§"/>
            </a:pPr>
            <a:endParaRPr lang="de-DE" dirty="0">
              <a:solidFill>
                <a:schemeClr val="tx1"/>
              </a:solidFill>
              <a:latin typeface="+mj-lt"/>
            </a:endParaRPr>
          </a:p>
        </p:txBody>
      </p:sp>
      <p:sp>
        <p:nvSpPr>
          <p:cNvPr id="84997" name="Text Box 4"/>
          <p:cNvSpPr txBox="1">
            <a:spLocks noChangeArrowheads="1"/>
          </p:cNvSpPr>
          <p:nvPr/>
        </p:nvSpPr>
        <p:spPr bwMode="auto">
          <a:xfrm>
            <a:off x="7640638" y="-33338"/>
            <a:ext cx="925512" cy="336551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wrap="none" anchor="ctr"/>
          <a:lstStyle/>
          <a:p>
            <a:pPr>
              <a:buClr>
                <a:srgbClr val="000000"/>
              </a:buClr>
              <a:buSzPct val="100000"/>
              <a:buFont typeface="Times New Roman" pitchFamily="16" charset="0"/>
              <a:buNone/>
            </a:pPr>
            <a:endParaRPr lang="de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4BF2C0F-05D6-4882-A325-BE394602789D}" type="slidenum">
              <a:rPr lang="en-US" smtClean="0"/>
              <a:pPr>
                <a:defRPr/>
              </a:pPr>
              <a:t>50</a:t>
            </a:fld>
            <a:endParaRPr lang="en-US"/>
          </a:p>
        </p:txBody>
      </p:sp>
      <p:pic>
        <p:nvPicPr>
          <p:cNvPr id="8" name="Picture 7" descr="65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1538" y="1928802"/>
            <a:ext cx="5160694" cy="3895094"/>
          </a:xfrm>
          <a:prstGeom prst="rect">
            <a:avLst/>
          </a:prstGeom>
        </p:spPr>
      </p:pic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Text Box 1"/>
          <p:cNvSpPr txBox="1">
            <a:spLocks noChangeArrowheads="1"/>
          </p:cNvSpPr>
          <p:nvPr/>
        </p:nvSpPr>
        <p:spPr bwMode="auto">
          <a:xfrm>
            <a:off x="6553200" y="6477000"/>
            <a:ext cx="2133600" cy="244475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lIns="90000" tIns="46800" rIns="90000" bIns="46800" anchor="ctr"/>
          <a:lstStyle/>
          <a:p>
            <a:pPr algn="r">
              <a:buSzPct val="10000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fld id="{48895EFF-1DBE-4654-84B8-EE5B6E2FA3CA}" type="slidenum">
              <a:rPr lang="en-US" sz="1200">
                <a:solidFill>
                  <a:srgbClr val="898989"/>
                </a:solidFill>
                <a:latin typeface="Calibri" charset="0"/>
              </a:rPr>
              <a:pPr algn="r">
                <a:buSzPct val="10000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</a:pPr>
              <a:t>51</a:t>
            </a:fld>
            <a:endParaRPr lang="en-US" sz="1200">
              <a:solidFill>
                <a:srgbClr val="898989"/>
              </a:solidFill>
              <a:latin typeface="Calibri" charset="0"/>
            </a:endParaRPr>
          </a:p>
        </p:txBody>
      </p:sp>
      <p:sp>
        <p:nvSpPr>
          <p:cNvPr id="84995" name="Text Box 2"/>
          <p:cNvSpPr txBox="1">
            <a:spLocks noChangeArrowheads="1"/>
          </p:cNvSpPr>
          <p:nvPr/>
        </p:nvSpPr>
        <p:spPr bwMode="auto">
          <a:xfrm>
            <a:off x="285720" y="12700"/>
            <a:ext cx="8572560" cy="1403350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anchor="b"/>
          <a:lstStyle/>
          <a:p>
            <a:r>
              <a:rPr lang="de-DE" sz="3600" dirty="0" err="1">
                <a:solidFill>
                  <a:schemeClr val="tx1"/>
                </a:solidFill>
                <a:latin typeface="+mj-lt"/>
              </a:rPr>
              <a:t>Cosine</a:t>
            </a:r>
            <a:r>
              <a:rPr lang="de-DE" sz="3600" dirty="0">
                <a:solidFill>
                  <a:schemeClr val="tx1"/>
                </a:solidFill>
                <a:latin typeface="+mj-lt"/>
              </a:rPr>
              <a:t>: </a:t>
            </a:r>
            <a:r>
              <a:rPr lang="de-DE" sz="3600" dirty="0" err="1">
                <a:solidFill>
                  <a:schemeClr val="tx1"/>
                </a:solidFill>
                <a:latin typeface="+mj-lt"/>
              </a:rPr>
              <a:t>Example</a:t>
            </a:r>
            <a:endParaRPr lang="de-DE" sz="3600" dirty="0">
              <a:solidFill>
                <a:schemeClr val="tx1"/>
              </a:solidFill>
              <a:latin typeface="+mj-lt"/>
            </a:endParaRPr>
          </a:p>
        </p:txBody>
      </p:sp>
      <p:sp>
        <p:nvSpPr>
          <p:cNvPr id="84996" name="Text Box 3"/>
          <p:cNvSpPr txBox="1">
            <a:spLocks noChangeArrowheads="1"/>
          </p:cNvSpPr>
          <p:nvPr/>
        </p:nvSpPr>
        <p:spPr bwMode="auto">
          <a:xfrm>
            <a:off x="357158" y="1714488"/>
            <a:ext cx="8143932" cy="3643338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/>
          <a:lstStyle/>
          <a:p>
            <a:r>
              <a:rPr lang="de-DE" dirty="0">
                <a:solidFill>
                  <a:schemeClr val="tx1"/>
                </a:solidFill>
                <a:latin typeface="+mj-lt"/>
              </a:rPr>
              <a:t>                                                          </a:t>
            </a:r>
            <a:r>
              <a:rPr lang="de-DE" dirty="0" err="1">
                <a:solidFill>
                  <a:schemeClr val="tx1"/>
                </a:solidFill>
                <a:latin typeface="+mj-lt"/>
              </a:rPr>
              <a:t>term</a:t>
            </a:r>
            <a:r>
              <a:rPr lang="de-DE" dirty="0">
                <a:solidFill>
                  <a:schemeClr val="tx1"/>
                </a:solidFill>
                <a:latin typeface="+mj-lt"/>
              </a:rPr>
              <a:t> </a:t>
            </a:r>
            <a:r>
              <a:rPr lang="de-DE" dirty="0" err="1">
                <a:solidFill>
                  <a:schemeClr val="tx1"/>
                </a:solidFill>
                <a:latin typeface="+mj-lt"/>
              </a:rPr>
              <a:t>frequencies</a:t>
            </a:r>
            <a:r>
              <a:rPr lang="de-DE" dirty="0">
                <a:solidFill>
                  <a:schemeClr val="tx1"/>
                </a:solidFill>
                <a:latin typeface="+mj-lt"/>
              </a:rPr>
              <a:t> (</a:t>
            </a:r>
            <a:r>
              <a:rPr lang="de-DE" dirty="0" err="1">
                <a:solidFill>
                  <a:schemeClr val="tx1"/>
                </a:solidFill>
                <a:latin typeface="+mj-lt"/>
              </a:rPr>
              <a:t>counts</a:t>
            </a:r>
            <a:r>
              <a:rPr lang="de-DE" dirty="0">
                <a:solidFill>
                  <a:schemeClr val="tx1"/>
                </a:solidFill>
                <a:latin typeface="+mj-lt"/>
              </a:rPr>
              <a:t>)</a:t>
            </a:r>
          </a:p>
          <a:p>
            <a:endParaRPr lang="de-DE" dirty="0">
              <a:solidFill>
                <a:schemeClr val="tx1"/>
              </a:solidFill>
              <a:latin typeface="+mj-lt"/>
            </a:endParaRPr>
          </a:p>
          <a:p>
            <a:pPr lvl="1"/>
            <a:r>
              <a:rPr lang="de-DE" dirty="0" err="1">
                <a:solidFill>
                  <a:schemeClr val="tx1"/>
                </a:solidFill>
                <a:latin typeface="+mj-lt"/>
              </a:rPr>
              <a:t>How</a:t>
            </a:r>
            <a:r>
              <a:rPr lang="de-DE" dirty="0">
                <a:solidFill>
                  <a:schemeClr val="tx1"/>
                </a:solidFill>
                <a:latin typeface="+mj-lt"/>
              </a:rPr>
              <a:t> </a:t>
            </a:r>
            <a:r>
              <a:rPr lang="de-DE" dirty="0" err="1">
                <a:solidFill>
                  <a:schemeClr val="tx1"/>
                </a:solidFill>
                <a:latin typeface="+mj-lt"/>
              </a:rPr>
              <a:t>similar</a:t>
            </a:r>
            <a:r>
              <a:rPr lang="de-DE" dirty="0">
                <a:solidFill>
                  <a:schemeClr val="tx1"/>
                </a:solidFill>
                <a:latin typeface="+mj-lt"/>
              </a:rPr>
              <a:t> </a:t>
            </a:r>
            <a:r>
              <a:rPr lang="de-DE" dirty="0" err="1">
                <a:solidFill>
                  <a:schemeClr val="tx1"/>
                </a:solidFill>
                <a:latin typeface="+mj-lt"/>
              </a:rPr>
              <a:t>are</a:t>
            </a:r>
            <a:endParaRPr lang="de-DE" dirty="0">
              <a:solidFill>
                <a:schemeClr val="tx1"/>
              </a:solidFill>
              <a:latin typeface="+mj-lt"/>
            </a:endParaRPr>
          </a:p>
          <a:p>
            <a:pPr lvl="1"/>
            <a:r>
              <a:rPr lang="de-DE" dirty="0" err="1">
                <a:solidFill>
                  <a:schemeClr val="tx1"/>
                </a:solidFill>
                <a:latin typeface="+mj-lt"/>
              </a:rPr>
              <a:t>these</a:t>
            </a:r>
            <a:r>
              <a:rPr lang="de-DE" dirty="0">
                <a:solidFill>
                  <a:schemeClr val="tx1"/>
                </a:solidFill>
                <a:latin typeface="+mj-lt"/>
              </a:rPr>
              <a:t> </a:t>
            </a:r>
            <a:r>
              <a:rPr lang="de-DE" dirty="0" err="1">
                <a:solidFill>
                  <a:schemeClr val="tx1"/>
                </a:solidFill>
                <a:latin typeface="+mj-lt"/>
              </a:rPr>
              <a:t>novels</a:t>
            </a:r>
            <a:r>
              <a:rPr lang="de-DE" dirty="0">
                <a:solidFill>
                  <a:schemeClr val="tx1"/>
                </a:solidFill>
                <a:latin typeface="+mj-lt"/>
              </a:rPr>
              <a:t>? </a:t>
            </a:r>
            <a:r>
              <a:rPr lang="de-DE" dirty="0" err="1">
                <a:solidFill>
                  <a:schemeClr val="tx1"/>
                </a:solidFill>
                <a:latin typeface="+mj-lt"/>
              </a:rPr>
              <a:t>SaS</a:t>
            </a:r>
            <a:r>
              <a:rPr lang="de-DE" dirty="0">
                <a:solidFill>
                  <a:schemeClr val="tx1"/>
                </a:solidFill>
                <a:latin typeface="+mj-lt"/>
              </a:rPr>
              <a:t>:</a:t>
            </a:r>
          </a:p>
          <a:p>
            <a:pPr lvl="1"/>
            <a:r>
              <a:rPr lang="de-DE" dirty="0">
                <a:solidFill>
                  <a:schemeClr val="tx1"/>
                </a:solidFill>
                <a:latin typeface="+mj-lt"/>
              </a:rPr>
              <a:t>Sense </a:t>
            </a:r>
            <a:r>
              <a:rPr lang="de-DE" dirty="0" err="1">
                <a:solidFill>
                  <a:schemeClr val="tx1"/>
                </a:solidFill>
                <a:latin typeface="+mj-lt"/>
              </a:rPr>
              <a:t>and</a:t>
            </a:r>
            <a:endParaRPr lang="de-DE" dirty="0">
              <a:solidFill>
                <a:schemeClr val="tx1"/>
              </a:solidFill>
              <a:latin typeface="+mj-lt"/>
            </a:endParaRPr>
          </a:p>
          <a:p>
            <a:pPr lvl="1"/>
            <a:r>
              <a:rPr lang="de-DE" dirty="0" err="1">
                <a:solidFill>
                  <a:schemeClr val="tx1"/>
                </a:solidFill>
                <a:latin typeface="+mj-lt"/>
              </a:rPr>
              <a:t>Sensibility</a:t>
            </a:r>
            <a:r>
              <a:rPr lang="de-DE" dirty="0">
                <a:solidFill>
                  <a:schemeClr val="tx1"/>
                </a:solidFill>
                <a:latin typeface="+mj-lt"/>
              </a:rPr>
              <a:t> </a:t>
            </a:r>
            <a:r>
              <a:rPr lang="de-DE" dirty="0" err="1">
                <a:solidFill>
                  <a:schemeClr val="tx1"/>
                </a:solidFill>
                <a:latin typeface="+mj-lt"/>
              </a:rPr>
              <a:t>PaP</a:t>
            </a:r>
            <a:r>
              <a:rPr lang="de-DE" dirty="0">
                <a:solidFill>
                  <a:schemeClr val="tx1"/>
                </a:solidFill>
                <a:latin typeface="+mj-lt"/>
              </a:rPr>
              <a:t>:</a:t>
            </a:r>
          </a:p>
          <a:p>
            <a:pPr lvl="1"/>
            <a:r>
              <a:rPr lang="de-DE" dirty="0">
                <a:solidFill>
                  <a:schemeClr val="tx1"/>
                </a:solidFill>
                <a:latin typeface="+mj-lt"/>
              </a:rPr>
              <a:t>Pride </a:t>
            </a:r>
            <a:r>
              <a:rPr lang="de-DE" dirty="0" err="1">
                <a:solidFill>
                  <a:schemeClr val="tx1"/>
                </a:solidFill>
                <a:latin typeface="+mj-lt"/>
              </a:rPr>
              <a:t>and</a:t>
            </a:r>
            <a:endParaRPr lang="de-DE" dirty="0">
              <a:solidFill>
                <a:schemeClr val="tx1"/>
              </a:solidFill>
              <a:latin typeface="+mj-lt"/>
            </a:endParaRPr>
          </a:p>
          <a:p>
            <a:pPr lvl="1"/>
            <a:r>
              <a:rPr lang="de-DE" dirty="0" err="1">
                <a:solidFill>
                  <a:schemeClr val="tx1"/>
                </a:solidFill>
                <a:latin typeface="+mj-lt"/>
              </a:rPr>
              <a:t>Prejudice</a:t>
            </a:r>
            <a:r>
              <a:rPr lang="de-DE" dirty="0">
                <a:solidFill>
                  <a:schemeClr val="tx1"/>
                </a:solidFill>
                <a:latin typeface="+mj-lt"/>
              </a:rPr>
              <a:t> WH:</a:t>
            </a:r>
          </a:p>
          <a:p>
            <a:pPr lvl="1"/>
            <a:r>
              <a:rPr lang="de-DE" dirty="0">
                <a:solidFill>
                  <a:schemeClr val="tx1"/>
                </a:solidFill>
                <a:latin typeface="+mj-lt"/>
              </a:rPr>
              <a:t>Wuthering</a:t>
            </a:r>
          </a:p>
          <a:p>
            <a:pPr lvl="1"/>
            <a:r>
              <a:rPr lang="de-DE" dirty="0">
                <a:solidFill>
                  <a:schemeClr val="tx1"/>
                </a:solidFill>
                <a:latin typeface="+mj-lt"/>
              </a:rPr>
              <a:t>Heights</a:t>
            </a:r>
            <a:endParaRPr lang="en-US" dirty="0">
              <a:solidFill>
                <a:schemeClr val="tx1"/>
              </a:solidFill>
              <a:latin typeface="+mj-lt"/>
            </a:endParaRPr>
          </a:p>
        </p:txBody>
      </p:sp>
      <p:sp>
        <p:nvSpPr>
          <p:cNvPr id="84997" name="Text Box 4"/>
          <p:cNvSpPr txBox="1">
            <a:spLocks noChangeArrowheads="1"/>
          </p:cNvSpPr>
          <p:nvPr/>
        </p:nvSpPr>
        <p:spPr bwMode="auto">
          <a:xfrm>
            <a:off x="7640638" y="-33338"/>
            <a:ext cx="925512" cy="336551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wrap="none" anchor="ctr"/>
          <a:lstStyle/>
          <a:p>
            <a:pPr>
              <a:buClr>
                <a:srgbClr val="000000"/>
              </a:buClr>
              <a:buSzPct val="100000"/>
              <a:buFont typeface="Times New Roman" pitchFamily="16" charset="0"/>
              <a:buNone/>
            </a:pPr>
            <a:endParaRPr lang="de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4BF2C0F-05D6-4882-A325-BE394602789D}" type="slidenum">
              <a:rPr lang="en-US" smtClean="0"/>
              <a:pPr>
                <a:defRPr/>
              </a:pPr>
              <a:t>51</a:t>
            </a:fld>
            <a:endParaRPr lang="en-US"/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786182" y="2417452"/>
          <a:ext cx="4643438" cy="2011680"/>
        </p:xfrm>
        <a:graphic>
          <a:graphicData uri="http://schemas.openxmlformats.org/drawingml/2006/table">
            <a:tbl>
              <a:tblPr firstRow="1" bandRow="1">
                <a:tableStyleId>{C083E6E3-FA7D-4D7B-A595-EF9225AFEA82}</a:tableStyleId>
              </a:tblPr>
              <a:tblGrid>
                <a:gridCol w="17859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2869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7157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5722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56725">
                <a:tc>
                  <a:txBody>
                    <a:bodyPr/>
                    <a:lstStyle/>
                    <a:p>
                      <a:r>
                        <a:rPr lang="de-DE" sz="2400" b="0" dirty="0" err="1"/>
                        <a:t>term</a:t>
                      </a:r>
                      <a:endParaRPr lang="de-DE" sz="2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de-DE" sz="2400" b="0" dirty="0" err="1"/>
                        <a:t>SaS</a:t>
                      </a:r>
                      <a:endParaRPr lang="de-DE" sz="2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de-DE" sz="2400" b="0" dirty="0" err="1"/>
                        <a:t>PaP</a:t>
                      </a:r>
                      <a:endParaRPr lang="de-DE" sz="2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de-DE" sz="2400" b="0" dirty="0"/>
                        <a:t>WH</a:t>
                      </a:r>
                      <a:endParaRPr lang="de-DE" sz="2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43473">
                <a:tc>
                  <a:txBody>
                    <a:bodyPr/>
                    <a:lstStyle/>
                    <a:p>
                      <a:r>
                        <a:rPr lang="de-DE" sz="2200" dirty="0"/>
                        <a:t>AFFECTION</a:t>
                      </a:r>
                    </a:p>
                    <a:p>
                      <a:r>
                        <a:rPr lang="de-DE" sz="2200" dirty="0"/>
                        <a:t>JEALOUS</a:t>
                      </a:r>
                    </a:p>
                    <a:p>
                      <a:r>
                        <a:rPr lang="de-DE" sz="2200" dirty="0"/>
                        <a:t>GOSSIP</a:t>
                      </a:r>
                    </a:p>
                    <a:p>
                      <a:r>
                        <a:rPr lang="de-DE" sz="2200" dirty="0"/>
                        <a:t>WUTHERING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de-DE" sz="2400" dirty="0"/>
                        <a:t>115</a:t>
                      </a:r>
                    </a:p>
                    <a:p>
                      <a:pPr algn="r"/>
                      <a:r>
                        <a:rPr lang="de-DE" sz="2400" dirty="0"/>
                        <a:t>10</a:t>
                      </a:r>
                    </a:p>
                    <a:p>
                      <a:pPr algn="r"/>
                      <a:r>
                        <a:rPr lang="de-DE" sz="2400" dirty="0"/>
                        <a:t>2</a:t>
                      </a:r>
                    </a:p>
                    <a:p>
                      <a:pPr algn="r"/>
                      <a:r>
                        <a:rPr lang="de-DE" sz="2400" dirty="0"/>
                        <a:t>0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de-DE" sz="2400" dirty="0"/>
                        <a:t>58</a:t>
                      </a:r>
                    </a:p>
                    <a:p>
                      <a:pPr algn="r"/>
                      <a:r>
                        <a:rPr lang="de-DE" sz="2400" dirty="0"/>
                        <a:t>7</a:t>
                      </a:r>
                    </a:p>
                    <a:p>
                      <a:pPr algn="r"/>
                      <a:r>
                        <a:rPr lang="de-DE" sz="2400" dirty="0"/>
                        <a:t>0</a:t>
                      </a:r>
                    </a:p>
                    <a:p>
                      <a:pPr algn="r"/>
                      <a:r>
                        <a:rPr lang="de-DE" sz="2400" dirty="0"/>
                        <a:t>0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de-DE" sz="2400" dirty="0"/>
                        <a:t>20</a:t>
                      </a:r>
                    </a:p>
                    <a:p>
                      <a:pPr algn="r"/>
                      <a:r>
                        <a:rPr lang="de-DE" sz="2400" dirty="0"/>
                        <a:t>11</a:t>
                      </a:r>
                    </a:p>
                    <a:p>
                      <a:pPr algn="r"/>
                      <a:r>
                        <a:rPr lang="de-DE" sz="2400" dirty="0"/>
                        <a:t>6</a:t>
                      </a:r>
                    </a:p>
                    <a:p>
                      <a:pPr algn="r"/>
                      <a:r>
                        <a:rPr lang="de-DE" sz="2400" dirty="0"/>
                        <a:t>38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Text Box 1"/>
          <p:cNvSpPr txBox="1">
            <a:spLocks noChangeArrowheads="1"/>
          </p:cNvSpPr>
          <p:nvPr/>
        </p:nvSpPr>
        <p:spPr bwMode="auto">
          <a:xfrm>
            <a:off x="6553200" y="6477000"/>
            <a:ext cx="2133600" cy="244475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lIns="90000" tIns="46800" rIns="90000" bIns="46800" anchor="ctr"/>
          <a:lstStyle/>
          <a:p>
            <a:pPr algn="r">
              <a:buSzPct val="10000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fld id="{48895EFF-1DBE-4654-84B8-EE5B6E2FA3CA}" type="slidenum">
              <a:rPr lang="en-US" sz="1200">
                <a:solidFill>
                  <a:srgbClr val="898989"/>
                </a:solidFill>
                <a:latin typeface="Calibri" charset="0"/>
              </a:rPr>
              <a:pPr algn="r">
                <a:buSzPct val="10000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</a:pPr>
              <a:t>52</a:t>
            </a:fld>
            <a:endParaRPr lang="en-US" sz="1200">
              <a:solidFill>
                <a:srgbClr val="898989"/>
              </a:solidFill>
              <a:latin typeface="Calibri" charset="0"/>
            </a:endParaRPr>
          </a:p>
        </p:txBody>
      </p:sp>
      <p:sp>
        <p:nvSpPr>
          <p:cNvPr id="84995" name="Text Box 2"/>
          <p:cNvSpPr txBox="1">
            <a:spLocks noChangeArrowheads="1"/>
          </p:cNvSpPr>
          <p:nvPr/>
        </p:nvSpPr>
        <p:spPr bwMode="auto">
          <a:xfrm>
            <a:off x="285720" y="12700"/>
            <a:ext cx="8572560" cy="1403350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anchor="b"/>
          <a:lstStyle/>
          <a:p>
            <a:r>
              <a:rPr lang="de-DE" sz="3600" dirty="0" err="1">
                <a:solidFill>
                  <a:schemeClr val="tx1"/>
                </a:solidFill>
                <a:latin typeface="+mj-lt"/>
              </a:rPr>
              <a:t>Cosine</a:t>
            </a:r>
            <a:r>
              <a:rPr lang="de-DE" sz="3600" dirty="0">
                <a:solidFill>
                  <a:schemeClr val="tx1"/>
                </a:solidFill>
                <a:latin typeface="+mj-lt"/>
              </a:rPr>
              <a:t>: </a:t>
            </a:r>
            <a:r>
              <a:rPr lang="de-DE" sz="3600" dirty="0" err="1">
                <a:solidFill>
                  <a:schemeClr val="tx1"/>
                </a:solidFill>
                <a:latin typeface="+mj-lt"/>
              </a:rPr>
              <a:t>Example</a:t>
            </a:r>
            <a:endParaRPr lang="de-DE" sz="3600" dirty="0">
              <a:solidFill>
                <a:schemeClr val="tx1"/>
              </a:solidFill>
              <a:latin typeface="+mj-lt"/>
            </a:endParaRPr>
          </a:p>
        </p:txBody>
      </p:sp>
      <p:sp>
        <p:nvSpPr>
          <p:cNvPr id="84996" name="Text Box 3"/>
          <p:cNvSpPr txBox="1">
            <a:spLocks noChangeArrowheads="1"/>
          </p:cNvSpPr>
          <p:nvPr/>
        </p:nvSpPr>
        <p:spPr bwMode="auto">
          <a:xfrm>
            <a:off x="357158" y="1714488"/>
            <a:ext cx="8143932" cy="3643338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/>
          <a:lstStyle/>
          <a:p>
            <a:r>
              <a:rPr lang="de-DE" dirty="0">
                <a:solidFill>
                  <a:schemeClr val="tx1"/>
                </a:solidFill>
                <a:latin typeface="+mj-lt"/>
              </a:rPr>
              <a:t>         </a:t>
            </a:r>
            <a:r>
              <a:rPr lang="de-DE" dirty="0" err="1">
                <a:solidFill>
                  <a:schemeClr val="tx1"/>
                </a:solidFill>
                <a:latin typeface="+mj-lt"/>
              </a:rPr>
              <a:t>term</a:t>
            </a:r>
            <a:r>
              <a:rPr lang="de-DE" dirty="0">
                <a:solidFill>
                  <a:schemeClr val="tx1"/>
                </a:solidFill>
                <a:latin typeface="+mj-lt"/>
              </a:rPr>
              <a:t> </a:t>
            </a:r>
            <a:r>
              <a:rPr lang="de-DE" dirty="0" err="1">
                <a:solidFill>
                  <a:schemeClr val="tx1"/>
                </a:solidFill>
                <a:latin typeface="+mj-lt"/>
              </a:rPr>
              <a:t>frequencies</a:t>
            </a:r>
            <a:r>
              <a:rPr lang="de-DE" dirty="0">
                <a:solidFill>
                  <a:schemeClr val="tx1"/>
                </a:solidFill>
                <a:latin typeface="+mj-lt"/>
              </a:rPr>
              <a:t> (</a:t>
            </a:r>
            <a:r>
              <a:rPr lang="de-DE" dirty="0" err="1">
                <a:solidFill>
                  <a:schemeClr val="tx1"/>
                </a:solidFill>
                <a:latin typeface="+mj-lt"/>
              </a:rPr>
              <a:t>counts</a:t>
            </a:r>
            <a:r>
              <a:rPr lang="de-DE" dirty="0">
                <a:solidFill>
                  <a:schemeClr val="tx1"/>
                </a:solidFill>
                <a:latin typeface="+mj-lt"/>
              </a:rPr>
              <a:t>)               log </a:t>
            </a:r>
            <a:r>
              <a:rPr lang="de-DE" dirty="0" err="1">
                <a:solidFill>
                  <a:schemeClr val="tx1"/>
                </a:solidFill>
                <a:latin typeface="+mj-lt"/>
              </a:rPr>
              <a:t>frequency</a:t>
            </a:r>
            <a:r>
              <a:rPr lang="de-DE" dirty="0">
                <a:solidFill>
                  <a:schemeClr val="tx1"/>
                </a:solidFill>
                <a:latin typeface="+mj-lt"/>
              </a:rPr>
              <a:t> </a:t>
            </a:r>
            <a:r>
              <a:rPr lang="de-DE" dirty="0" err="1">
                <a:solidFill>
                  <a:schemeClr val="tx1"/>
                </a:solidFill>
                <a:latin typeface="+mj-lt"/>
              </a:rPr>
              <a:t>weighting</a:t>
            </a:r>
            <a:endParaRPr lang="de-DE" dirty="0">
              <a:solidFill>
                <a:schemeClr val="tx1"/>
              </a:solidFill>
              <a:latin typeface="+mj-lt"/>
            </a:endParaRPr>
          </a:p>
          <a:p>
            <a:endParaRPr lang="de-DE" dirty="0">
              <a:solidFill>
                <a:schemeClr val="tx1"/>
              </a:solidFill>
              <a:latin typeface="+mj-lt"/>
            </a:endParaRPr>
          </a:p>
          <a:p>
            <a:endParaRPr lang="de-DE" dirty="0">
              <a:solidFill>
                <a:schemeClr val="tx1"/>
              </a:solidFill>
              <a:latin typeface="+mj-lt"/>
            </a:endParaRPr>
          </a:p>
          <a:p>
            <a:endParaRPr lang="de-DE" dirty="0">
              <a:solidFill>
                <a:schemeClr val="tx1"/>
              </a:solidFill>
              <a:latin typeface="+mj-lt"/>
            </a:endParaRPr>
          </a:p>
          <a:p>
            <a:endParaRPr lang="de-DE" dirty="0">
              <a:solidFill>
                <a:schemeClr val="tx1"/>
              </a:solidFill>
              <a:latin typeface="+mj-lt"/>
            </a:endParaRPr>
          </a:p>
          <a:p>
            <a:endParaRPr lang="de-DE" dirty="0">
              <a:solidFill>
                <a:schemeClr val="tx1"/>
              </a:solidFill>
              <a:latin typeface="+mj-lt"/>
            </a:endParaRPr>
          </a:p>
          <a:p>
            <a:endParaRPr lang="de-DE" dirty="0">
              <a:solidFill>
                <a:schemeClr val="tx1"/>
              </a:solidFill>
              <a:latin typeface="+mj-lt"/>
            </a:endParaRPr>
          </a:p>
          <a:p>
            <a:endParaRPr lang="de-DE" dirty="0">
              <a:solidFill>
                <a:schemeClr val="tx1"/>
              </a:solidFill>
              <a:latin typeface="+mj-lt"/>
            </a:endParaRPr>
          </a:p>
          <a:p>
            <a:endParaRPr lang="de-DE" dirty="0">
              <a:solidFill>
                <a:schemeClr val="tx1"/>
              </a:solidFill>
              <a:latin typeface="+mj-lt"/>
            </a:endParaRPr>
          </a:p>
          <a:p>
            <a:r>
              <a:rPr lang="de-DE" dirty="0">
                <a:solidFill>
                  <a:schemeClr val="tx1"/>
                </a:solidFill>
                <a:latin typeface="+mj-lt"/>
              </a:rPr>
              <a:t>          (</a:t>
            </a:r>
            <a:r>
              <a:rPr lang="de-DE" dirty="0" err="1">
                <a:solidFill>
                  <a:schemeClr val="tx1"/>
                </a:solidFill>
                <a:latin typeface="+mj-lt"/>
              </a:rPr>
              <a:t>To</a:t>
            </a:r>
            <a:r>
              <a:rPr lang="de-DE" dirty="0">
                <a:solidFill>
                  <a:schemeClr val="tx1"/>
                </a:solidFill>
                <a:latin typeface="+mj-lt"/>
              </a:rPr>
              <a:t> </a:t>
            </a:r>
            <a:r>
              <a:rPr lang="de-DE" dirty="0" err="1">
                <a:solidFill>
                  <a:schemeClr val="tx1"/>
                </a:solidFill>
                <a:latin typeface="+mj-lt"/>
              </a:rPr>
              <a:t>simplify</a:t>
            </a:r>
            <a:r>
              <a:rPr lang="de-DE" dirty="0">
                <a:solidFill>
                  <a:schemeClr val="tx1"/>
                </a:solidFill>
                <a:latin typeface="+mj-lt"/>
              </a:rPr>
              <a:t> </a:t>
            </a:r>
            <a:r>
              <a:rPr lang="de-DE" dirty="0" err="1">
                <a:solidFill>
                  <a:schemeClr val="tx1"/>
                </a:solidFill>
                <a:latin typeface="+mj-lt"/>
              </a:rPr>
              <a:t>this</a:t>
            </a:r>
            <a:r>
              <a:rPr lang="de-DE" dirty="0">
                <a:solidFill>
                  <a:schemeClr val="tx1"/>
                </a:solidFill>
                <a:latin typeface="+mj-lt"/>
              </a:rPr>
              <a:t> </a:t>
            </a:r>
            <a:r>
              <a:rPr lang="de-DE" dirty="0" err="1">
                <a:solidFill>
                  <a:schemeClr val="tx1"/>
                </a:solidFill>
                <a:latin typeface="+mj-lt"/>
              </a:rPr>
              <a:t>example</a:t>
            </a:r>
            <a:r>
              <a:rPr lang="de-DE" dirty="0">
                <a:solidFill>
                  <a:schemeClr val="tx1"/>
                </a:solidFill>
                <a:latin typeface="+mj-lt"/>
              </a:rPr>
              <a:t>, </a:t>
            </a:r>
            <a:r>
              <a:rPr lang="de-DE" dirty="0" err="1">
                <a:solidFill>
                  <a:schemeClr val="tx1"/>
                </a:solidFill>
                <a:latin typeface="+mj-lt"/>
              </a:rPr>
              <a:t>we</a:t>
            </a:r>
            <a:r>
              <a:rPr lang="de-DE" dirty="0">
                <a:solidFill>
                  <a:schemeClr val="tx1"/>
                </a:solidFill>
                <a:latin typeface="+mj-lt"/>
              </a:rPr>
              <a:t> </a:t>
            </a:r>
            <a:r>
              <a:rPr lang="de-DE" dirty="0" err="1">
                <a:solidFill>
                  <a:schemeClr val="tx1"/>
                </a:solidFill>
                <a:latin typeface="+mj-lt"/>
              </a:rPr>
              <a:t>don</a:t>
            </a:r>
            <a:r>
              <a:rPr lang="de-DE" baseline="30000" dirty="0" err="1">
                <a:solidFill>
                  <a:schemeClr val="tx1"/>
                </a:solidFill>
                <a:latin typeface="Calibri"/>
                <a:cs typeface="Calibri"/>
              </a:rPr>
              <a:t>'</a:t>
            </a:r>
            <a:r>
              <a:rPr lang="de-DE" dirty="0" err="1">
                <a:solidFill>
                  <a:schemeClr val="tx1"/>
                </a:solidFill>
                <a:latin typeface="+mj-lt"/>
              </a:rPr>
              <a:t>t</a:t>
            </a:r>
            <a:r>
              <a:rPr lang="de-DE" dirty="0">
                <a:solidFill>
                  <a:schemeClr val="tx1"/>
                </a:solidFill>
                <a:latin typeface="+mj-lt"/>
              </a:rPr>
              <a:t> do </a:t>
            </a:r>
            <a:r>
              <a:rPr lang="de-DE" dirty="0" err="1">
                <a:solidFill>
                  <a:schemeClr val="tx1"/>
                </a:solidFill>
                <a:latin typeface="+mj-lt"/>
              </a:rPr>
              <a:t>idf</a:t>
            </a:r>
            <a:r>
              <a:rPr lang="de-DE" dirty="0">
                <a:solidFill>
                  <a:schemeClr val="tx1"/>
                </a:solidFill>
                <a:latin typeface="+mj-lt"/>
              </a:rPr>
              <a:t> </a:t>
            </a:r>
            <a:r>
              <a:rPr lang="de-DE" dirty="0" err="1">
                <a:solidFill>
                  <a:schemeClr val="tx1"/>
                </a:solidFill>
                <a:latin typeface="+mj-lt"/>
              </a:rPr>
              <a:t>weighting</a:t>
            </a:r>
            <a:r>
              <a:rPr lang="de-DE" dirty="0">
                <a:solidFill>
                  <a:schemeClr val="tx1"/>
                </a:solidFill>
                <a:latin typeface="+mj-lt"/>
              </a:rPr>
              <a:t>.)</a:t>
            </a:r>
          </a:p>
          <a:p>
            <a:endParaRPr lang="de-DE" dirty="0">
              <a:solidFill>
                <a:schemeClr val="tx1"/>
              </a:solidFill>
              <a:latin typeface="+mj-lt"/>
            </a:endParaRPr>
          </a:p>
        </p:txBody>
      </p:sp>
      <p:sp>
        <p:nvSpPr>
          <p:cNvPr id="84997" name="Text Box 4"/>
          <p:cNvSpPr txBox="1">
            <a:spLocks noChangeArrowheads="1"/>
          </p:cNvSpPr>
          <p:nvPr/>
        </p:nvSpPr>
        <p:spPr bwMode="auto">
          <a:xfrm>
            <a:off x="7640638" y="-33338"/>
            <a:ext cx="925512" cy="336551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wrap="none" anchor="ctr"/>
          <a:lstStyle/>
          <a:p>
            <a:pPr>
              <a:buClr>
                <a:srgbClr val="000000"/>
              </a:buClr>
              <a:buSzPct val="100000"/>
              <a:buFont typeface="Times New Roman" pitchFamily="16" charset="0"/>
              <a:buNone/>
            </a:pPr>
            <a:endParaRPr lang="de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4BF2C0F-05D6-4882-A325-BE394602789D}" type="slidenum">
              <a:rPr lang="en-US" smtClean="0"/>
              <a:pPr>
                <a:defRPr/>
              </a:pPr>
              <a:t>52</a:t>
            </a:fld>
            <a:endParaRPr lang="en-US"/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4643438" y="2417452"/>
          <a:ext cx="4214841" cy="2011680"/>
        </p:xfrm>
        <a:graphic>
          <a:graphicData uri="http://schemas.openxmlformats.org/drawingml/2006/table">
            <a:tbl>
              <a:tblPr firstRow="1" bandRow="1">
                <a:tableStyleId>{C083E6E3-FA7D-4D7B-A595-EF9225AFEA82}</a:tableStyleId>
              </a:tblPr>
              <a:tblGrid>
                <a:gridCol w="164307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2869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8581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5725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40044">
                <a:tc>
                  <a:txBody>
                    <a:bodyPr/>
                    <a:lstStyle/>
                    <a:p>
                      <a:r>
                        <a:rPr lang="de-DE" sz="2400" b="0" dirty="0" err="1"/>
                        <a:t>term</a:t>
                      </a:r>
                      <a:endParaRPr lang="de-DE" sz="2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de-DE" sz="2400" b="0" dirty="0" err="1"/>
                        <a:t>SaS</a:t>
                      </a:r>
                      <a:endParaRPr lang="de-DE" sz="2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de-DE" sz="2400" b="0" dirty="0" err="1"/>
                        <a:t>PaP</a:t>
                      </a:r>
                      <a:endParaRPr lang="de-DE" sz="2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de-DE" sz="2400" b="0" dirty="0"/>
                        <a:t>WH</a:t>
                      </a:r>
                      <a:endParaRPr lang="de-DE" sz="2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43473">
                <a:tc>
                  <a:txBody>
                    <a:bodyPr/>
                    <a:lstStyle/>
                    <a:p>
                      <a:r>
                        <a:rPr lang="de-DE" sz="2200" dirty="0"/>
                        <a:t>AFFECTION</a:t>
                      </a:r>
                    </a:p>
                    <a:p>
                      <a:r>
                        <a:rPr lang="de-DE" sz="2200" dirty="0"/>
                        <a:t>JEALOUS</a:t>
                      </a:r>
                    </a:p>
                    <a:p>
                      <a:r>
                        <a:rPr lang="de-DE" sz="2200" dirty="0"/>
                        <a:t>GOSSIP</a:t>
                      </a:r>
                    </a:p>
                    <a:p>
                      <a:r>
                        <a:rPr lang="de-DE" sz="2200" dirty="0"/>
                        <a:t>WUTHERING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de-DE" sz="2400" dirty="0"/>
                        <a:t>3.06</a:t>
                      </a:r>
                    </a:p>
                    <a:p>
                      <a:pPr algn="r"/>
                      <a:r>
                        <a:rPr lang="de-DE" sz="2400" dirty="0"/>
                        <a:t>2.0</a:t>
                      </a:r>
                    </a:p>
                    <a:p>
                      <a:pPr algn="r"/>
                      <a:r>
                        <a:rPr lang="de-DE" sz="2400" dirty="0"/>
                        <a:t>1.30</a:t>
                      </a:r>
                    </a:p>
                    <a:p>
                      <a:pPr algn="r"/>
                      <a:r>
                        <a:rPr lang="de-DE" sz="2400" dirty="0"/>
                        <a:t>0</a:t>
                      </a:r>
                      <a:endParaRPr lang="de-DE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de-DE" sz="2400" dirty="0"/>
                        <a:t>2.76</a:t>
                      </a:r>
                    </a:p>
                    <a:p>
                      <a:pPr algn="r"/>
                      <a:r>
                        <a:rPr lang="de-DE" sz="2400" dirty="0"/>
                        <a:t>1.85</a:t>
                      </a:r>
                    </a:p>
                    <a:p>
                      <a:pPr algn="r"/>
                      <a:r>
                        <a:rPr lang="de-DE" sz="2400" dirty="0"/>
                        <a:t>0</a:t>
                      </a:r>
                    </a:p>
                    <a:p>
                      <a:pPr algn="r"/>
                      <a:r>
                        <a:rPr lang="de-DE" sz="2400" dirty="0"/>
                        <a:t>0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de-DE" sz="2400" dirty="0"/>
                        <a:t>2.30</a:t>
                      </a:r>
                    </a:p>
                    <a:p>
                      <a:pPr algn="r"/>
                      <a:r>
                        <a:rPr lang="de-DE" sz="2400" dirty="0"/>
                        <a:t>2.04</a:t>
                      </a:r>
                    </a:p>
                    <a:p>
                      <a:pPr algn="r"/>
                      <a:r>
                        <a:rPr lang="de-DE" sz="2400" dirty="0"/>
                        <a:t>1.78</a:t>
                      </a:r>
                    </a:p>
                    <a:p>
                      <a:pPr algn="r"/>
                      <a:r>
                        <a:rPr lang="de-DE" sz="2400" dirty="0"/>
                        <a:t>2.58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785786" y="2428868"/>
          <a:ext cx="3714776" cy="2011680"/>
        </p:xfrm>
        <a:graphic>
          <a:graphicData uri="http://schemas.openxmlformats.org/drawingml/2006/table">
            <a:tbl>
              <a:tblPr firstRow="1" bandRow="1">
                <a:tableStyleId>{C083E6E3-FA7D-4D7B-A595-EF9225AFEA82}</a:tableStyleId>
              </a:tblPr>
              <a:tblGrid>
                <a:gridCol w="164307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143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4294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143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40044">
                <a:tc>
                  <a:txBody>
                    <a:bodyPr/>
                    <a:lstStyle/>
                    <a:p>
                      <a:r>
                        <a:rPr lang="de-DE" sz="2400" b="0" dirty="0" err="1"/>
                        <a:t>term</a:t>
                      </a:r>
                      <a:endParaRPr lang="de-DE" sz="2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de-DE" sz="2400" b="0" dirty="0" err="1"/>
                        <a:t>SaS</a:t>
                      </a:r>
                      <a:endParaRPr lang="de-DE" sz="2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de-DE" sz="2400" b="0" dirty="0" err="1"/>
                        <a:t>PaP</a:t>
                      </a:r>
                      <a:endParaRPr lang="de-DE" sz="2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de-DE" sz="2400" b="0" dirty="0"/>
                        <a:t>WH</a:t>
                      </a:r>
                      <a:endParaRPr lang="de-DE" sz="2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43473">
                <a:tc>
                  <a:txBody>
                    <a:bodyPr/>
                    <a:lstStyle/>
                    <a:p>
                      <a:r>
                        <a:rPr lang="de-DE" sz="2200" dirty="0"/>
                        <a:t>AFFECTION</a:t>
                      </a:r>
                    </a:p>
                    <a:p>
                      <a:r>
                        <a:rPr lang="de-DE" sz="2200" dirty="0"/>
                        <a:t>JEALOUS</a:t>
                      </a:r>
                    </a:p>
                    <a:p>
                      <a:r>
                        <a:rPr lang="de-DE" sz="2200" dirty="0"/>
                        <a:t>GOSSIP</a:t>
                      </a:r>
                    </a:p>
                    <a:p>
                      <a:r>
                        <a:rPr lang="de-DE" sz="2200" dirty="0"/>
                        <a:t>WUTHERING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de-DE" sz="2400" dirty="0"/>
                        <a:t>115</a:t>
                      </a:r>
                    </a:p>
                    <a:p>
                      <a:pPr algn="r"/>
                      <a:r>
                        <a:rPr lang="de-DE" sz="2400" dirty="0"/>
                        <a:t>10</a:t>
                      </a:r>
                    </a:p>
                    <a:p>
                      <a:pPr algn="r"/>
                      <a:r>
                        <a:rPr lang="de-DE" sz="2400" dirty="0"/>
                        <a:t>2</a:t>
                      </a:r>
                    </a:p>
                    <a:p>
                      <a:pPr algn="r"/>
                      <a:r>
                        <a:rPr lang="de-DE" sz="2400" dirty="0"/>
                        <a:t>0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de-DE" sz="2400" dirty="0"/>
                        <a:t>58</a:t>
                      </a:r>
                    </a:p>
                    <a:p>
                      <a:pPr algn="r"/>
                      <a:r>
                        <a:rPr lang="de-DE" sz="2400" dirty="0"/>
                        <a:t>7</a:t>
                      </a:r>
                    </a:p>
                    <a:p>
                      <a:pPr algn="r"/>
                      <a:r>
                        <a:rPr lang="de-DE" sz="2400" dirty="0"/>
                        <a:t>0</a:t>
                      </a:r>
                    </a:p>
                    <a:p>
                      <a:pPr algn="r"/>
                      <a:r>
                        <a:rPr lang="de-DE" sz="2400" dirty="0"/>
                        <a:t>0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de-DE" sz="2400" dirty="0"/>
                        <a:t>20</a:t>
                      </a:r>
                    </a:p>
                    <a:p>
                      <a:pPr algn="r"/>
                      <a:r>
                        <a:rPr lang="de-DE" sz="2400" dirty="0"/>
                        <a:t>11</a:t>
                      </a:r>
                    </a:p>
                    <a:p>
                      <a:pPr algn="r"/>
                      <a:r>
                        <a:rPr lang="de-DE" sz="2400" dirty="0"/>
                        <a:t>6</a:t>
                      </a:r>
                    </a:p>
                    <a:p>
                      <a:pPr algn="r"/>
                      <a:r>
                        <a:rPr lang="de-DE" sz="2400" dirty="0"/>
                        <a:t>38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Text Box 1"/>
          <p:cNvSpPr txBox="1">
            <a:spLocks noChangeArrowheads="1"/>
          </p:cNvSpPr>
          <p:nvPr/>
        </p:nvSpPr>
        <p:spPr bwMode="auto">
          <a:xfrm>
            <a:off x="6553200" y="6477000"/>
            <a:ext cx="2133600" cy="244475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lIns="90000" tIns="46800" rIns="90000" bIns="46800" anchor="ctr"/>
          <a:lstStyle/>
          <a:p>
            <a:pPr algn="r">
              <a:buSzPct val="10000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fld id="{48895EFF-1DBE-4654-84B8-EE5B6E2FA3CA}" type="slidenum">
              <a:rPr lang="en-US" sz="1200">
                <a:solidFill>
                  <a:srgbClr val="898989"/>
                </a:solidFill>
                <a:latin typeface="Calibri" charset="0"/>
              </a:rPr>
              <a:pPr algn="r">
                <a:buSzPct val="10000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</a:pPr>
              <a:t>53</a:t>
            </a:fld>
            <a:endParaRPr lang="en-US" sz="1200">
              <a:solidFill>
                <a:srgbClr val="898989"/>
              </a:solidFill>
              <a:latin typeface="Calibri" charset="0"/>
            </a:endParaRPr>
          </a:p>
        </p:txBody>
      </p:sp>
      <p:sp>
        <p:nvSpPr>
          <p:cNvPr id="84995" name="Text Box 2"/>
          <p:cNvSpPr txBox="1">
            <a:spLocks noChangeArrowheads="1"/>
          </p:cNvSpPr>
          <p:nvPr/>
        </p:nvSpPr>
        <p:spPr bwMode="auto">
          <a:xfrm>
            <a:off x="285720" y="12700"/>
            <a:ext cx="8572560" cy="1403350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anchor="b"/>
          <a:lstStyle/>
          <a:p>
            <a:r>
              <a:rPr lang="de-DE" sz="3600" dirty="0" err="1">
                <a:solidFill>
                  <a:schemeClr val="tx1"/>
                </a:solidFill>
                <a:latin typeface="+mj-lt"/>
              </a:rPr>
              <a:t>Cosine</a:t>
            </a:r>
            <a:r>
              <a:rPr lang="de-DE" sz="3600" dirty="0">
                <a:solidFill>
                  <a:schemeClr val="tx1"/>
                </a:solidFill>
                <a:latin typeface="+mj-lt"/>
              </a:rPr>
              <a:t>: </a:t>
            </a:r>
            <a:r>
              <a:rPr lang="de-DE" sz="3600" dirty="0" err="1">
                <a:solidFill>
                  <a:schemeClr val="tx1"/>
                </a:solidFill>
                <a:latin typeface="+mj-lt"/>
              </a:rPr>
              <a:t>Example</a:t>
            </a:r>
            <a:endParaRPr lang="de-DE" sz="3600" dirty="0">
              <a:solidFill>
                <a:schemeClr val="tx1"/>
              </a:solidFill>
              <a:latin typeface="+mj-lt"/>
            </a:endParaRPr>
          </a:p>
        </p:txBody>
      </p:sp>
      <p:sp>
        <p:nvSpPr>
          <p:cNvPr id="84996" name="Text Box 3"/>
          <p:cNvSpPr txBox="1">
            <a:spLocks noChangeArrowheads="1"/>
          </p:cNvSpPr>
          <p:nvPr/>
        </p:nvSpPr>
        <p:spPr bwMode="auto">
          <a:xfrm>
            <a:off x="357158" y="1714488"/>
            <a:ext cx="8501122" cy="3643338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/>
          <a:lstStyle/>
          <a:p>
            <a:r>
              <a:rPr lang="de-DE" dirty="0">
                <a:solidFill>
                  <a:schemeClr val="tx1"/>
                </a:solidFill>
                <a:latin typeface="+mj-lt"/>
              </a:rPr>
              <a:t>   log </a:t>
            </a:r>
            <a:r>
              <a:rPr lang="de-DE" dirty="0" err="1">
                <a:solidFill>
                  <a:schemeClr val="tx1"/>
                </a:solidFill>
                <a:latin typeface="+mj-lt"/>
              </a:rPr>
              <a:t>frequency</a:t>
            </a:r>
            <a:r>
              <a:rPr lang="de-DE" dirty="0">
                <a:solidFill>
                  <a:schemeClr val="tx1"/>
                </a:solidFill>
                <a:latin typeface="+mj-lt"/>
              </a:rPr>
              <a:t> </a:t>
            </a:r>
            <a:r>
              <a:rPr lang="de-DE" dirty="0" err="1">
                <a:solidFill>
                  <a:schemeClr val="tx1"/>
                </a:solidFill>
                <a:latin typeface="+mj-lt"/>
              </a:rPr>
              <a:t>weighting</a:t>
            </a:r>
            <a:r>
              <a:rPr lang="de-DE" dirty="0">
                <a:solidFill>
                  <a:schemeClr val="tx1"/>
                </a:solidFill>
                <a:latin typeface="+mj-lt"/>
              </a:rPr>
              <a:t>                     log </a:t>
            </a:r>
            <a:r>
              <a:rPr lang="de-DE" dirty="0" err="1">
                <a:solidFill>
                  <a:schemeClr val="tx1"/>
                </a:solidFill>
                <a:latin typeface="+mj-lt"/>
              </a:rPr>
              <a:t>frequency</a:t>
            </a:r>
            <a:r>
              <a:rPr lang="de-DE" dirty="0">
                <a:solidFill>
                  <a:schemeClr val="tx1"/>
                </a:solidFill>
                <a:latin typeface="+mj-lt"/>
              </a:rPr>
              <a:t> </a:t>
            </a:r>
            <a:r>
              <a:rPr lang="de-DE" dirty="0" err="1">
                <a:solidFill>
                  <a:schemeClr val="tx1"/>
                </a:solidFill>
                <a:latin typeface="+mj-lt"/>
              </a:rPr>
              <a:t>weighting</a:t>
            </a:r>
            <a:r>
              <a:rPr lang="de-DE" dirty="0">
                <a:solidFill>
                  <a:schemeClr val="tx1"/>
                </a:solidFill>
                <a:latin typeface="+mj-lt"/>
              </a:rPr>
              <a:t> &amp;</a:t>
            </a:r>
          </a:p>
          <a:p>
            <a:r>
              <a:rPr lang="de-DE" dirty="0">
                <a:solidFill>
                  <a:schemeClr val="tx1"/>
                </a:solidFill>
                <a:latin typeface="+mj-lt"/>
              </a:rPr>
              <a:t>                                                                        </a:t>
            </a:r>
            <a:r>
              <a:rPr lang="de-DE" dirty="0" err="1">
                <a:solidFill>
                  <a:schemeClr val="tx1"/>
                </a:solidFill>
                <a:latin typeface="+mj-lt"/>
              </a:rPr>
              <a:t>cosine</a:t>
            </a:r>
            <a:r>
              <a:rPr lang="de-DE" dirty="0">
                <a:solidFill>
                  <a:schemeClr val="tx1"/>
                </a:solidFill>
                <a:latin typeface="+mj-lt"/>
              </a:rPr>
              <a:t> </a:t>
            </a:r>
            <a:r>
              <a:rPr lang="de-DE" dirty="0" err="1">
                <a:solidFill>
                  <a:schemeClr val="tx1"/>
                </a:solidFill>
                <a:latin typeface="+mj-lt"/>
              </a:rPr>
              <a:t>normalization</a:t>
            </a:r>
            <a:endParaRPr lang="de-DE" dirty="0">
              <a:solidFill>
                <a:schemeClr val="tx1"/>
              </a:solidFill>
              <a:latin typeface="+mj-lt"/>
            </a:endParaRPr>
          </a:p>
          <a:p>
            <a:endParaRPr lang="de-DE" dirty="0">
              <a:solidFill>
                <a:schemeClr val="tx1"/>
              </a:solidFill>
              <a:latin typeface="+mj-lt"/>
            </a:endParaRPr>
          </a:p>
          <a:p>
            <a:endParaRPr lang="de-DE" dirty="0">
              <a:solidFill>
                <a:schemeClr val="tx1"/>
              </a:solidFill>
              <a:latin typeface="+mj-lt"/>
            </a:endParaRPr>
          </a:p>
          <a:p>
            <a:endParaRPr lang="de-DE" dirty="0">
              <a:solidFill>
                <a:schemeClr val="tx1"/>
              </a:solidFill>
              <a:latin typeface="+mj-lt"/>
            </a:endParaRPr>
          </a:p>
          <a:p>
            <a:endParaRPr lang="de-DE" dirty="0">
              <a:solidFill>
                <a:schemeClr val="tx1"/>
              </a:solidFill>
              <a:latin typeface="+mj-lt"/>
            </a:endParaRPr>
          </a:p>
          <a:p>
            <a:endParaRPr lang="de-DE" dirty="0">
              <a:solidFill>
                <a:schemeClr val="tx1"/>
              </a:solidFill>
              <a:latin typeface="+mj-lt"/>
            </a:endParaRPr>
          </a:p>
          <a:p>
            <a:endParaRPr lang="de-DE" dirty="0">
              <a:solidFill>
                <a:schemeClr val="tx1"/>
              </a:solidFill>
              <a:latin typeface="+mj-lt"/>
            </a:endParaRPr>
          </a:p>
          <a:p>
            <a:endParaRPr lang="de-DE" dirty="0">
              <a:solidFill>
                <a:schemeClr val="tx1"/>
              </a:solidFill>
              <a:latin typeface="+mj-lt"/>
            </a:endParaRPr>
          </a:p>
          <a:p>
            <a:endParaRPr lang="de-DE" dirty="0">
              <a:solidFill>
                <a:schemeClr val="tx1"/>
              </a:solidFill>
              <a:latin typeface="+mj-lt"/>
            </a:endParaRPr>
          </a:p>
          <a:p>
            <a:r>
              <a:rPr lang="de-DE" dirty="0">
                <a:solidFill>
                  <a:schemeClr val="tx1"/>
                </a:solidFill>
                <a:latin typeface="+mj-lt"/>
              </a:rPr>
              <a:t>          </a:t>
            </a:r>
          </a:p>
          <a:p>
            <a:endParaRPr lang="de-DE" dirty="0">
              <a:solidFill>
                <a:schemeClr val="tx1"/>
              </a:solidFill>
              <a:latin typeface="+mj-lt"/>
            </a:endParaRPr>
          </a:p>
        </p:txBody>
      </p:sp>
      <p:sp>
        <p:nvSpPr>
          <p:cNvPr id="84997" name="Text Box 4"/>
          <p:cNvSpPr txBox="1">
            <a:spLocks noChangeArrowheads="1"/>
          </p:cNvSpPr>
          <p:nvPr/>
        </p:nvSpPr>
        <p:spPr bwMode="auto">
          <a:xfrm>
            <a:off x="7640638" y="-33338"/>
            <a:ext cx="925512" cy="336551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wrap="none" anchor="ctr"/>
          <a:lstStyle/>
          <a:p>
            <a:pPr>
              <a:buClr>
                <a:srgbClr val="000000"/>
              </a:buClr>
              <a:buSzPct val="100000"/>
              <a:buFont typeface="Times New Roman" pitchFamily="16" charset="0"/>
              <a:buNone/>
            </a:pPr>
            <a:endParaRPr lang="de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4BF2C0F-05D6-4882-A325-BE394602789D}" type="slidenum">
              <a:rPr lang="en-US" smtClean="0"/>
              <a:pPr>
                <a:defRPr/>
              </a:pPr>
              <a:t>53</a:t>
            </a:fld>
            <a:endParaRPr lang="en-US"/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57159" y="2417452"/>
          <a:ext cx="4000528" cy="2011680"/>
        </p:xfrm>
        <a:graphic>
          <a:graphicData uri="http://schemas.openxmlformats.org/drawingml/2006/table">
            <a:tbl>
              <a:tblPr firstRow="1" bandRow="1">
                <a:tableStyleId>{C083E6E3-FA7D-4D7B-A595-EF9225AFEA82}</a:tableStyleId>
              </a:tblPr>
              <a:tblGrid>
                <a:gridCol w="164307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143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5725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8581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86697">
                <a:tc>
                  <a:txBody>
                    <a:bodyPr/>
                    <a:lstStyle/>
                    <a:p>
                      <a:r>
                        <a:rPr lang="de-DE" sz="2400" b="0" dirty="0" err="1"/>
                        <a:t>term</a:t>
                      </a:r>
                      <a:endParaRPr lang="de-DE" sz="2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de-DE" sz="2400" b="0" dirty="0" err="1"/>
                        <a:t>SaS</a:t>
                      </a:r>
                      <a:endParaRPr lang="de-DE" sz="2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de-DE" sz="2400" b="0" dirty="0" err="1"/>
                        <a:t>PaP</a:t>
                      </a:r>
                      <a:endParaRPr lang="de-DE" sz="2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de-DE" sz="2400" b="0" dirty="0"/>
                        <a:t>WH</a:t>
                      </a:r>
                      <a:endParaRPr lang="de-DE" sz="2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524983">
                <a:tc>
                  <a:txBody>
                    <a:bodyPr/>
                    <a:lstStyle/>
                    <a:p>
                      <a:r>
                        <a:rPr lang="de-DE" sz="2200" dirty="0"/>
                        <a:t>AFFECTION</a:t>
                      </a:r>
                    </a:p>
                    <a:p>
                      <a:r>
                        <a:rPr lang="de-DE" sz="2200" dirty="0"/>
                        <a:t>JEALOUS</a:t>
                      </a:r>
                    </a:p>
                    <a:p>
                      <a:r>
                        <a:rPr lang="de-DE" sz="2200" dirty="0"/>
                        <a:t>GOSSIP</a:t>
                      </a:r>
                    </a:p>
                    <a:p>
                      <a:r>
                        <a:rPr lang="de-DE" sz="2200" dirty="0"/>
                        <a:t>WUTHERING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de-DE" sz="2200" dirty="0"/>
                        <a:t>3.06</a:t>
                      </a:r>
                    </a:p>
                    <a:p>
                      <a:pPr algn="r"/>
                      <a:r>
                        <a:rPr lang="de-DE" sz="2200" dirty="0"/>
                        <a:t>2.0</a:t>
                      </a:r>
                    </a:p>
                    <a:p>
                      <a:pPr algn="r"/>
                      <a:r>
                        <a:rPr lang="de-DE" sz="2200" dirty="0"/>
                        <a:t>1.30</a:t>
                      </a:r>
                    </a:p>
                    <a:p>
                      <a:pPr algn="r"/>
                      <a:r>
                        <a:rPr lang="de-DE" sz="2200" dirty="0"/>
                        <a:t>0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de-DE" sz="2200" dirty="0"/>
                        <a:t>2.76</a:t>
                      </a:r>
                    </a:p>
                    <a:p>
                      <a:pPr algn="r"/>
                      <a:r>
                        <a:rPr lang="de-DE" sz="2200" dirty="0"/>
                        <a:t>1.85</a:t>
                      </a:r>
                    </a:p>
                    <a:p>
                      <a:pPr algn="r"/>
                      <a:r>
                        <a:rPr lang="de-DE" sz="2200" dirty="0"/>
                        <a:t>0</a:t>
                      </a:r>
                    </a:p>
                    <a:p>
                      <a:pPr algn="r"/>
                      <a:r>
                        <a:rPr lang="de-DE" sz="2200" dirty="0"/>
                        <a:t>0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de-DE" sz="2200" dirty="0"/>
                        <a:t>2.30</a:t>
                      </a:r>
                    </a:p>
                    <a:p>
                      <a:pPr algn="r"/>
                      <a:r>
                        <a:rPr lang="de-DE" sz="2200" dirty="0"/>
                        <a:t>2.04</a:t>
                      </a:r>
                    </a:p>
                    <a:p>
                      <a:pPr algn="r"/>
                      <a:r>
                        <a:rPr lang="de-DE" sz="2200" dirty="0"/>
                        <a:t>1.78</a:t>
                      </a:r>
                    </a:p>
                    <a:p>
                      <a:pPr algn="r"/>
                      <a:r>
                        <a:rPr lang="de-DE" sz="2200" dirty="0"/>
                        <a:t>2.58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4500563" y="2467934"/>
          <a:ext cx="4357718" cy="1889760"/>
        </p:xfrm>
        <a:graphic>
          <a:graphicData uri="http://schemas.openxmlformats.org/drawingml/2006/table">
            <a:tbl>
              <a:tblPr firstRow="1" bandRow="1">
                <a:tableStyleId>{C083E6E3-FA7D-4D7B-A595-EF9225AFEA82}</a:tableStyleId>
              </a:tblPr>
              <a:tblGrid>
                <a:gridCol w="164307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2869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5725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2869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40044">
                <a:tc>
                  <a:txBody>
                    <a:bodyPr/>
                    <a:lstStyle/>
                    <a:p>
                      <a:r>
                        <a:rPr lang="de-DE" sz="2400" b="0" dirty="0" err="1"/>
                        <a:t>term</a:t>
                      </a:r>
                      <a:endParaRPr lang="de-DE" sz="2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de-DE" sz="2400" b="0" dirty="0" err="1"/>
                        <a:t>SaS</a:t>
                      </a:r>
                      <a:endParaRPr lang="de-DE" sz="2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de-DE" sz="2400" b="0" dirty="0" err="1"/>
                        <a:t>PaP</a:t>
                      </a:r>
                      <a:endParaRPr lang="de-DE" sz="2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de-DE" sz="2400" b="0" dirty="0"/>
                        <a:t>WH</a:t>
                      </a:r>
                      <a:endParaRPr lang="de-DE" sz="2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43473">
                <a:tc>
                  <a:txBody>
                    <a:bodyPr/>
                    <a:lstStyle/>
                    <a:p>
                      <a:r>
                        <a:rPr lang="de-DE" sz="2200" dirty="0"/>
                        <a:t>AFFECTION</a:t>
                      </a:r>
                    </a:p>
                    <a:p>
                      <a:r>
                        <a:rPr lang="de-DE" sz="2200" dirty="0"/>
                        <a:t>JEALOUS</a:t>
                      </a:r>
                    </a:p>
                    <a:p>
                      <a:r>
                        <a:rPr lang="de-DE" sz="2200" dirty="0"/>
                        <a:t>GOSSIP</a:t>
                      </a:r>
                    </a:p>
                    <a:p>
                      <a:r>
                        <a:rPr lang="de-DE" sz="2200" dirty="0"/>
                        <a:t>WUTHERING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de-DE" sz="2200" dirty="0"/>
                        <a:t>0.789</a:t>
                      </a:r>
                    </a:p>
                    <a:p>
                      <a:pPr algn="r"/>
                      <a:r>
                        <a:rPr lang="de-DE" sz="2200" dirty="0"/>
                        <a:t>0.515</a:t>
                      </a:r>
                    </a:p>
                    <a:p>
                      <a:pPr algn="r"/>
                      <a:r>
                        <a:rPr lang="de-DE" sz="2200" dirty="0"/>
                        <a:t>0.335</a:t>
                      </a:r>
                    </a:p>
                    <a:p>
                      <a:pPr algn="r"/>
                      <a:r>
                        <a:rPr lang="de-DE" sz="2200" dirty="0"/>
                        <a:t>0.0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r>
                        <a:rPr lang="de-DE" sz="2200" dirty="0"/>
                        <a:t>0.832</a:t>
                      </a:r>
                    </a:p>
                    <a:p>
                      <a:r>
                        <a:rPr lang="de-DE" sz="2200" dirty="0"/>
                        <a:t>0.555</a:t>
                      </a:r>
                    </a:p>
                    <a:p>
                      <a:r>
                        <a:rPr lang="de-DE" sz="2200" dirty="0"/>
                        <a:t>0.0</a:t>
                      </a:r>
                    </a:p>
                    <a:p>
                      <a:r>
                        <a:rPr lang="de-DE" sz="2200" dirty="0"/>
                        <a:t>0.0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r>
                        <a:rPr lang="de-DE" sz="2200" dirty="0"/>
                        <a:t>0.524</a:t>
                      </a:r>
                    </a:p>
                    <a:p>
                      <a:r>
                        <a:rPr lang="de-DE" sz="2200" dirty="0"/>
                        <a:t>0.465</a:t>
                      </a:r>
                    </a:p>
                    <a:p>
                      <a:r>
                        <a:rPr lang="de-DE" sz="2200" dirty="0"/>
                        <a:t>0.405</a:t>
                      </a:r>
                    </a:p>
                    <a:p>
                      <a:r>
                        <a:rPr lang="de-DE" sz="2200" dirty="0"/>
                        <a:t>0.588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1" name="Rectangle 10"/>
          <p:cNvSpPr/>
          <p:nvPr/>
        </p:nvSpPr>
        <p:spPr>
          <a:xfrm>
            <a:off x="428596" y="4429132"/>
            <a:ext cx="8501122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1">
              <a:buClr>
                <a:srgbClr val="336699"/>
              </a:buClr>
              <a:buFont typeface="Wingdings" pitchFamily="2" charset="2"/>
              <a:buChar char="§"/>
            </a:pPr>
            <a:r>
              <a:rPr lang="de-DE" dirty="0">
                <a:solidFill>
                  <a:schemeClr val="tx1"/>
                </a:solidFill>
                <a:latin typeface="+mj-lt"/>
              </a:rPr>
              <a:t>cos(</a:t>
            </a:r>
            <a:r>
              <a:rPr lang="de-DE" dirty="0" err="1">
                <a:solidFill>
                  <a:schemeClr val="tx1"/>
                </a:solidFill>
                <a:latin typeface="+mj-lt"/>
              </a:rPr>
              <a:t>SaS,PaP</a:t>
            </a:r>
            <a:r>
              <a:rPr lang="de-DE" dirty="0">
                <a:solidFill>
                  <a:schemeClr val="tx1"/>
                </a:solidFill>
                <a:latin typeface="+mj-lt"/>
              </a:rPr>
              <a:t>) ≈                                                                             0.789 ∗ 0.832 + 0.515 ∗ 0.555 + 0.335 ∗ 0.0 + 0.0 ∗ 0.0 ≈ 0.94.</a:t>
            </a:r>
          </a:p>
          <a:p>
            <a:pPr lvl="1">
              <a:buClr>
                <a:srgbClr val="336699"/>
              </a:buClr>
              <a:buFont typeface="Wingdings" pitchFamily="2" charset="2"/>
              <a:buChar char="§"/>
            </a:pPr>
            <a:r>
              <a:rPr lang="de-DE" dirty="0">
                <a:solidFill>
                  <a:schemeClr val="tx1"/>
                </a:solidFill>
                <a:latin typeface="+mj-lt"/>
              </a:rPr>
              <a:t>cos(</a:t>
            </a:r>
            <a:r>
              <a:rPr lang="de-DE" dirty="0" err="1">
                <a:solidFill>
                  <a:schemeClr val="tx1"/>
                </a:solidFill>
                <a:latin typeface="+mj-lt"/>
              </a:rPr>
              <a:t>SaS,WH</a:t>
            </a:r>
            <a:r>
              <a:rPr lang="de-DE" dirty="0">
                <a:solidFill>
                  <a:schemeClr val="tx1"/>
                </a:solidFill>
                <a:latin typeface="+mj-lt"/>
              </a:rPr>
              <a:t>) ≈ 0.79</a:t>
            </a:r>
          </a:p>
          <a:p>
            <a:pPr lvl="1">
              <a:buClr>
                <a:srgbClr val="336699"/>
              </a:buClr>
              <a:buFont typeface="Wingdings" pitchFamily="2" charset="2"/>
              <a:buChar char="§"/>
            </a:pPr>
            <a:r>
              <a:rPr lang="de-DE" dirty="0">
                <a:solidFill>
                  <a:schemeClr val="tx1"/>
                </a:solidFill>
                <a:latin typeface="+mj-lt"/>
              </a:rPr>
              <a:t>cos(</a:t>
            </a:r>
            <a:r>
              <a:rPr lang="de-DE" dirty="0" err="1">
                <a:solidFill>
                  <a:schemeClr val="tx1"/>
                </a:solidFill>
                <a:latin typeface="+mj-lt"/>
              </a:rPr>
              <a:t>PaP,WH</a:t>
            </a:r>
            <a:r>
              <a:rPr lang="de-DE" dirty="0">
                <a:solidFill>
                  <a:schemeClr val="tx1"/>
                </a:solidFill>
                <a:latin typeface="+mj-lt"/>
              </a:rPr>
              <a:t>) ≈ 0.69</a:t>
            </a:r>
          </a:p>
          <a:p>
            <a:pPr lvl="1">
              <a:buClr>
                <a:srgbClr val="336699"/>
              </a:buClr>
              <a:buFont typeface="Wingdings" pitchFamily="2" charset="2"/>
              <a:buChar char="§"/>
            </a:pPr>
            <a:r>
              <a:rPr lang="en-US" dirty="0">
                <a:solidFill>
                  <a:srgbClr val="00B050"/>
                </a:solidFill>
                <a:latin typeface="+mj-lt"/>
              </a:rPr>
              <a:t>Why do we have </a:t>
            </a:r>
            <a:r>
              <a:rPr lang="en-US" dirty="0" err="1">
                <a:solidFill>
                  <a:srgbClr val="00B050"/>
                </a:solidFill>
                <a:latin typeface="+mj-lt"/>
              </a:rPr>
              <a:t>cos</a:t>
            </a:r>
            <a:r>
              <a:rPr lang="en-US" dirty="0">
                <a:solidFill>
                  <a:srgbClr val="00B050"/>
                </a:solidFill>
                <a:latin typeface="+mj-lt"/>
              </a:rPr>
              <a:t>(</a:t>
            </a:r>
            <a:r>
              <a:rPr lang="en-US" dirty="0" err="1">
                <a:solidFill>
                  <a:srgbClr val="00B050"/>
                </a:solidFill>
                <a:latin typeface="+mj-lt"/>
              </a:rPr>
              <a:t>SaS,PaP</a:t>
            </a:r>
            <a:r>
              <a:rPr lang="en-US" dirty="0">
                <a:solidFill>
                  <a:srgbClr val="00B050"/>
                </a:solidFill>
                <a:latin typeface="+mj-lt"/>
              </a:rPr>
              <a:t>) &gt; </a:t>
            </a:r>
            <a:r>
              <a:rPr lang="en-US" dirty="0" err="1">
                <a:solidFill>
                  <a:srgbClr val="00B050"/>
                </a:solidFill>
                <a:latin typeface="+mj-lt"/>
              </a:rPr>
              <a:t>cos</a:t>
            </a:r>
            <a:r>
              <a:rPr lang="en-US" dirty="0">
                <a:solidFill>
                  <a:srgbClr val="00B050"/>
                </a:solidFill>
                <a:latin typeface="+mj-lt"/>
              </a:rPr>
              <a:t>(SAS,WH)?</a:t>
            </a:r>
            <a:endParaRPr lang="de-DE" dirty="0">
              <a:solidFill>
                <a:srgbClr val="00B050"/>
              </a:solidFill>
              <a:latin typeface="+mj-lt"/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Text Box 1"/>
          <p:cNvSpPr txBox="1">
            <a:spLocks noChangeArrowheads="1"/>
          </p:cNvSpPr>
          <p:nvPr/>
        </p:nvSpPr>
        <p:spPr bwMode="auto">
          <a:xfrm>
            <a:off x="6553200" y="6477000"/>
            <a:ext cx="2133600" cy="244475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lIns="90000" tIns="46800" rIns="90000" bIns="46800" anchor="ctr"/>
          <a:lstStyle/>
          <a:p>
            <a:pPr algn="r">
              <a:buSzPct val="10000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fld id="{48895EFF-1DBE-4654-84B8-EE5B6E2FA3CA}" type="slidenum">
              <a:rPr lang="en-US" sz="1200">
                <a:solidFill>
                  <a:srgbClr val="898989"/>
                </a:solidFill>
                <a:latin typeface="Calibri" charset="0"/>
              </a:rPr>
              <a:pPr algn="r">
                <a:buSzPct val="10000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</a:pPr>
              <a:t>54</a:t>
            </a:fld>
            <a:endParaRPr lang="en-US" sz="1200">
              <a:solidFill>
                <a:srgbClr val="898989"/>
              </a:solidFill>
              <a:latin typeface="Calibri" charset="0"/>
            </a:endParaRPr>
          </a:p>
        </p:txBody>
      </p:sp>
      <p:sp>
        <p:nvSpPr>
          <p:cNvPr id="84995" name="Text Box 2"/>
          <p:cNvSpPr txBox="1">
            <a:spLocks noChangeArrowheads="1"/>
          </p:cNvSpPr>
          <p:nvPr/>
        </p:nvSpPr>
        <p:spPr bwMode="auto">
          <a:xfrm>
            <a:off x="285720" y="12700"/>
            <a:ext cx="8572560" cy="1403350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anchor="b"/>
          <a:lstStyle/>
          <a:p>
            <a:r>
              <a:rPr lang="de-DE" sz="3600" dirty="0">
                <a:solidFill>
                  <a:schemeClr val="tx1"/>
                </a:solidFill>
                <a:latin typeface="+mj-lt"/>
              </a:rPr>
              <a:t>Computing </a:t>
            </a:r>
            <a:r>
              <a:rPr lang="de-DE" sz="3600" dirty="0" err="1">
                <a:solidFill>
                  <a:schemeClr val="tx1"/>
                </a:solidFill>
                <a:latin typeface="+mj-lt"/>
              </a:rPr>
              <a:t>the</a:t>
            </a:r>
            <a:r>
              <a:rPr lang="de-DE" sz="3600" dirty="0">
                <a:solidFill>
                  <a:schemeClr val="tx1"/>
                </a:solidFill>
                <a:latin typeface="+mj-lt"/>
              </a:rPr>
              <a:t> </a:t>
            </a:r>
            <a:r>
              <a:rPr lang="de-DE" sz="3600" dirty="0" err="1">
                <a:solidFill>
                  <a:schemeClr val="tx1"/>
                </a:solidFill>
                <a:latin typeface="+mj-lt"/>
              </a:rPr>
              <a:t>cosine</a:t>
            </a:r>
            <a:r>
              <a:rPr lang="de-DE" sz="3600" dirty="0">
                <a:solidFill>
                  <a:schemeClr val="tx1"/>
                </a:solidFill>
                <a:latin typeface="+mj-lt"/>
              </a:rPr>
              <a:t> score</a:t>
            </a:r>
          </a:p>
        </p:txBody>
      </p:sp>
      <p:sp>
        <p:nvSpPr>
          <p:cNvPr id="84996" name="Text Box 3"/>
          <p:cNvSpPr txBox="1">
            <a:spLocks noChangeArrowheads="1"/>
          </p:cNvSpPr>
          <p:nvPr/>
        </p:nvSpPr>
        <p:spPr bwMode="auto">
          <a:xfrm>
            <a:off x="285720" y="2500306"/>
            <a:ext cx="8286808" cy="3643338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/>
          <a:lstStyle/>
          <a:p>
            <a:pPr lvl="1">
              <a:spcBef>
                <a:spcPts val="700"/>
              </a:spcBef>
              <a:buClr>
                <a:srgbClr val="336699"/>
              </a:buClr>
              <a:buFont typeface="Wingdings" pitchFamily="2" charset="2"/>
              <a:buChar char="§"/>
            </a:pPr>
            <a:endParaRPr lang="en-US" dirty="0">
              <a:solidFill>
                <a:schemeClr val="tx1"/>
              </a:solidFill>
              <a:latin typeface="+mj-lt"/>
            </a:endParaRPr>
          </a:p>
        </p:txBody>
      </p:sp>
      <p:sp>
        <p:nvSpPr>
          <p:cNvPr id="84997" name="Text Box 4"/>
          <p:cNvSpPr txBox="1">
            <a:spLocks noChangeArrowheads="1"/>
          </p:cNvSpPr>
          <p:nvPr/>
        </p:nvSpPr>
        <p:spPr bwMode="auto">
          <a:xfrm>
            <a:off x="7640638" y="-33338"/>
            <a:ext cx="925512" cy="336551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wrap="none" anchor="ctr"/>
          <a:lstStyle/>
          <a:p>
            <a:pPr>
              <a:buClr>
                <a:srgbClr val="000000"/>
              </a:buClr>
              <a:buSzPct val="100000"/>
              <a:buFont typeface="Times New Roman" pitchFamily="16" charset="0"/>
              <a:buNone/>
            </a:pPr>
            <a:endParaRPr lang="de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4BF2C0F-05D6-4882-A325-BE394602789D}" type="slidenum">
              <a:rPr lang="en-US" smtClean="0"/>
              <a:pPr>
                <a:defRPr/>
              </a:pPr>
              <a:t>54</a:t>
            </a:fld>
            <a:endParaRPr lang="en-US"/>
          </a:p>
        </p:txBody>
      </p:sp>
      <p:pic>
        <p:nvPicPr>
          <p:cNvPr id="10" name="Picture 9" descr="65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0033" y="1785926"/>
            <a:ext cx="6166419" cy="4000528"/>
          </a:xfrm>
          <a:prstGeom prst="rect">
            <a:avLst/>
          </a:prstGeom>
        </p:spPr>
      </p:pic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Text Box 1"/>
          <p:cNvSpPr txBox="1">
            <a:spLocks noChangeArrowheads="1"/>
          </p:cNvSpPr>
          <p:nvPr/>
        </p:nvSpPr>
        <p:spPr bwMode="auto">
          <a:xfrm>
            <a:off x="6553200" y="6477000"/>
            <a:ext cx="2133600" cy="244475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lIns="90000" tIns="46800" rIns="90000" bIns="46800" anchor="ctr"/>
          <a:lstStyle/>
          <a:p>
            <a:pPr algn="r">
              <a:buSzPct val="10000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fld id="{48895EFF-1DBE-4654-84B8-EE5B6E2FA3CA}" type="slidenum">
              <a:rPr lang="en-US" sz="1200">
                <a:solidFill>
                  <a:srgbClr val="898989"/>
                </a:solidFill>
                <a:latin typeface="Calibri" charset="0"/>
              </a:rPr>
              <a:pPr algn="r">
                <a:buSzPct val="10000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</a:pPr>
              <a:t>55</a:t>
            </a:fld>
            <a:endParaRPr lang="en-US" sz="1200">
              <a:solidFill>
                <a:srgbClr val="898989"/>
              </a:solidFill>
              <a:latin typeface="Calibri" charset="0"/>
            </a:endParaRPr>
          </a:p>
        </p:txBody>
      </p:sp>
      <p:sp>
        <p:nvSpPr>
          <p:cNvPr id="84995" name="Text Box 2"/>
          <p:cNvSpPr txBox="1">
            <a:spLocks noChangeArrowheads="1"/>
          </p:cNvSpPr>
          <p:nvPr/>
        </p:nvSpPr>
        <p:spPr bwMode="auto">
          <a:xfrm>
            <a:off x="285720" y="12700"/>
            <a:ext cx="8572560" cy="1403350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anchor="b"/>
          <a:lstStyle/>
          <a:p>
            <a:r>
              <a:rPr lang="de-DE" sz="3600" dirty="0">
                <a:solidFill>
                  <a:schemeClr val="tx1"/>
                </a:solidFill>
                <a:latin typeface="+mj-lt"/>
              </a:rPr>
              <a:t>Components </a:t>
            </a:r>
            <a:r>
              <a:rPr lang="de-DE" sz="3600" dirty="0" err="1">
                <a:solidFill>
                  <a:schemeClr val="tx1"/>
                </a:solidFill>
                <a:latin typeface="+mj-lt"/>
              </a:rPr>
              <a:t>of</a:t>
            </a:r>
            <a:r>
              <a:rPr lang="de-DE" sz="3600" dirty="0">
                <a:solidFill>
                  <a:schemeClr val="tx1"/>
                </a:solidFill>
                <a:latin typeface="+mj-lt"/>
              </a:rPr>
              <a:t> </a:t>
            </a:r>
            <a:r>
              <a:rPr lang="de-DE" sz="3600" dirty="0" err="1">
                <a:solidFill>
                  <a:schemeClr val="tx1"/>
                </a:solidFill>
                <a:latin typeface="+mj-lt"/>
              </a:rPr>
              <a:t>tf-idf</a:t>
            </a:r>
            <a:r>
              <a:rPr lang="de-DE" sz="3600" dirty="0">
                <a:solidFill>
                  <a:schemeClr val="tx1"/>
                </a:solidFill>
                <a:latin typeface="+mj-lt"/>
              </a:rPr>
              <a:t> </a:t>
            </a:r>
            <a:r>
              <a:rPr lang="de-DE" sz="3600" dirty="0" err="1">
                <a:solidFill>
                  <a:schemeClr val="tx1"/>
                </a:solidFill>
                <a:latin typeface="+mj-lt"/>
              </a:rPr>
              <a:t>weighting</a:t>
            </a:r>
            <a:endParaRPr lang="de-DE" sz="3600" dirty="0">
              <a:solidFill>
                <a:schemeClr val="tx1"/>
              </a:solidFill>
              <a:latin typeface="+mj-lt"/>
            </a:endParaRPr>
          </a:p>
        </p:txBody>
      </p:sp>
      <p:sp>
        <p:nvSpPr>
          <p:cNvPr id="84997" name="Text Box 4"/>
          <p:cNvSpPr txBox="1">
            <a:spLocks noChangeArrowheads="1"/>
          </p:cNvSpPr>
          <p:nvPr/>
        </p:nvSpPr>
        <p:spPr bwMode="auto">
          <a:xfrm>
            <a:off x="7640638" y="-33338"/>
            <a:ext cx="925512" cy="336551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wrap="none" anchor="ctr"/>
          <a:lstStyle/>
          <a:p>
            <a:pPr>
              <a:buClr>
                <a:srgbClr val="000000"/>
              </a:buClr>
              <a:buSzPct val="100000"/>
              <a:buFont typeface="Times New Roman" pitchFamily="16" charset="0"/>
              <a:buNone/>
            </a:pPr>
            <a:endParaRPr lang="de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4BF2C0F-05D6-4882-A325-BE394602789D}" type="slidenum">
              <a:rPr lang="en-US" smtClean="0"/>
              <a:pPr>
                <a:defRPr/>
              </a:pPr>
              <a:t>55</a:t>
            </a:fld>
            <a:endParaRPr lang="en-US"/>
          </a:p>
        </p:txBody>
      </p:sp>
      <p:pic>
        <p:nvPicPr>
          <p:cNvPr id="9" name="Picture 8" descr="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4282" y="2143117"/>
            <a:ext cx="8728422" cy="3429023"/>
          </a:xfrm>
          <a:prstGeom prst="rect">
            <a:avLst/>
          </a:prstGeom>
        </p:spPr>
      </p:pic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Text Box 1"/>
          <p:cNvSpPr txBox="1">
            <a:spLocks noChangeArrowheads="1"/>
          </p:cNvSpPr>
          <p:nvPr/>
        </p:nvSpPr>
        <p:spPr bwMode="auto">
          <a:xfrm>
            <a:off x="6553200" y="6477000"/>
            <a:ext cx="2133600" cy="244475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lIns="90000" tIns="46800" rIns="90000" bIns="46800" anchor="ctr"/>
          <a:lstStyle/>
          <a:p>
            <a:pPr algn="r">
              <a:buSzPct val="10000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fld id="{48895EFF-1DBE-4654-84B8-EE5B6E2FA3CA}" type="slidenum">
              <a:rPr lang="en-US" sz="1200">
                <a:solidFill>
                  <a:srgbClr val="898989"/>
                </a:solidFill>
                <a:latin typeface="Calibri" charset="0"/>
              </a:rPr>
              <a:pPr algn="r">
                <a:buSzPct val="10000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</a:pPr>
              <a:t>56</a:t>
            </a:fld>
            <a:endParaRPr lang="en-US" sz="1200">
              <a:solidFill>
                <a:srgbClr val="898989"/>
              </a:solidFill>
              <a:latin typeface="Calibri" charset="0"/>
            </a:endParaRPr>
          </a:p>
        </p:txBody>
      </p:sp>
      <p:sp>
        <p:nvSpPr>
          <p:cNvPr id="84995" name="Text Box 2"/>
          <p:cNvSpPr txBox="1">
            <a:spLocks noChangeArrowheads="1"/>
          </p:cNvSpPr>
          <p:nvPr/>
        </p:nvSpPr>
        <p:spPr bwMode="auto">
          <a:xfrm>
            <a:off x="285720" y="12700"/>
            <a:ext cx="8572560" cy="1403350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anchor="b"/>
          <a:lstStyle/>
          <a:p>
            <a:r>
              <a:rPr lang="de-DE" sz="3600" dirty="0" err="1">
                <a:solidFill>
                  <a:schemeClr val="tx1"/>
                </a:solidFill>
                <a:latin typeface="+mj-lt"/>
              </a:rPr>
              <a:t>tf-idf</a:t>
            </a:r>
            <a:r>
              <a:rPr lang="de-DE" sz="3600" dirty="0">
                <a:solidFill>
                  <a:schemeClr val="tx1"/>
                </a:solidFill>
                <a:latin typeface="+mj-lt"/>
              </a:rPr>
              <a:t> </a:t>
            </a:r>
            <a:r>
              <a:rPr lang="de-DE" sz="3600" dirty="0" err="1">
                <a:solidFill>
                  <a:schemeClr val="tx1"/>
                </a:solidFill>
                <a:latin typeface="+mj-lt"/>
              </a:rPr>
              <a:t>example</a:t>
            </a:r>
            <a:endParaRPr lang="de-DE" sz="3600" dirty="0">
              <a:solidFill>
                <a:schemeClr val="tx1"/>
              </a:solidFill>
              <a:latin typeface="+mj-lt"/>
            </a:endParaRPr>
          </a:p>
        </p:txBody>
      </p:sp>
      <p:sp>
        <p:nvSpPr>
          <p:cNvPr id="84996" name="Text Box 3"/>
          <p:cNvSpPr txBox="1">
            <a:spLocks noChangeArrowheads="1"/>
          </p:cNvSpPr>
          <p:nvPr/>
        </p:nvSpPr>
        <p:spPr bwMode="auto">
          <a:xfrm>
            <a:off x="285720" y="1643050"/>
            <a:ext cx="8643998" cy="4643470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/>
          <a:lstStyle/>
          <a:p>
            <a:pPr lvl="1">
              <a:spcBef>
                <a:spcPts val="700"/>
              </a:spcBef>
              <a:buClr>
                <a:srgbClr val="336699"/>
              </a:buClr>
              <a:buFont typeface="Wingdings" pitchFamily="2" charset="2"/>
              <a:buChar char="§"/>
            </a:pPr>
            <a:r>
              <a:rPr lang="en-US" dirty="0">
                <a:solidFill>
                  <a:schemeClr val="tx1"/>
                </a:solidFill>
                <a:latin typeface="+mj-lt"/>
              </a:rPr>
              <a:t>We often use </a:t>
            </a:r>
            <a:r>
              <a:rPr lang="en-US" dirty="0">
                <a:solidFill>
                  <a:srgbClr val="0070C0"/>
                </a:solidFill>
                <a:latin typeface="+mj-lt"/>
              </a:rPr>
              <a:t>different weightings </a:t>
            </a:r>
            <a:r>
              <a:rPr lang="en-US" dirty="0">
                <a:solidFill>
                  <a:schemeClr val="tx1"/>
                </a:solidFill>
                <a:latin typeface="+mj-lt"/>
              </a:rPr>
              <a:t>for queries and documents.</a:t>
            </a:r>
          </a:p>
          <a:p>
            <a:pPr lvl="1">
              <a:spcBef>
                <a:spcPts val="700"/>
              </a:spcBef>
              <a:buClr>
                <a:srgbClr val="336699"/>
              </a:buClr>
              <a:buFont typeface="Wingdings" pitchFamily="2" charset="2"/>
              <a:buChar char="§"/>
            </a:pPr>
            <a:r>
              <a:rPr lang="de-DE" dirty="0">
                <a:solidFill>
                  <a:schemeClr val="tx1"/>
                </a:solidFill>
                <a:latin typeface="+mj-lt"/>
              </a:rPr>
              <a:t>Notation: ddd.qqq</a:t>
            </a:r>
          </a:p>
          <a:p>
            <a:pPr lvl="1">
              <a:spcBef>
                <a:spcPts val="700"/>
              </a:spcBef>
              <a:buClr>
                <a:srgbClr val="336699"/>
              </a:buClr>
              <a:buFont typeface="Wingdings" pitchFamily="2" charset="2"/>
              <a:buChar char="§"/>
            </a:pPr>
            <a:r>
              <a:rPr lang="de-DE" dirty="0" err="1">
                <a:solidFill>
                  <a:schemeClr val="tx1"/>
                </a:solidFill>
                <a:latin typeface="+mj-lt"/>
              </a:rPr>
              <a:t>Example</a:t>
            </a:r>
            <a:r>
              <a:rPr lang="de-DE" dirty="0">
                <a:solidFill>
                  <a:schemeClr val="tx1"/>
                </a:solidFill>
                <a:latin typeface="+mj-lt"/>
              </a:rPr>
              <a:t>: lnc.ltn</a:t>
            </a:r>
          </a:p>
          <a:p>
            <a:pPr lvl="1">
              <a:spcBef>
                <a:spcPts val="700"/>
              </a:spcBef>
              <a:buClr>
                <a:srgbClr val="336699"/>
              </a:buClr>
              <a:buFont typeface="Wingdings" pitchFamily="2" charset="2"/>
              <a:buChar char="§"/>
            </a:pPr>
            <a:r>
              <a:rPr lang="en-US" dirty="0">
                <a:solidFill>
                  <a:schemeClr val="tx1"/>
                </a:solidFill>
                <a:latin typeface="+mj-lt"/>
              </a:rPr>
              <a:t>document: logarithmic </a:t>
            </a:r>
            <a:r>
              <a:rPr lang="en-US" dirty="0" err="1">
                <a:solidFill>
                  <a:schemeClr val="tx1"/>
                </a:solidFill>
                <a:latin typeface="+mj-lt"/>
              </a:rPr>
              <a:t>tf</a:t>
            </a:r>
            <a:r>
              <a:rPr lang="en-US" dirty="0">
                <a:solidFill>
                  <a:schemeClr val="tx1"/>
                </a:solidFill>
                <a:latin typeface="+mj-lt"/>
              </a:rPr>
              <a:t>, no </a:t>
            </a:r>
            <a:r>
              <a:rPr lang="en-US" dirty="0" err="1">
                <a:solidFill>
                  <a:schemeClr val="tx1"/>
                </a:solidFill>
                <a:latin typeface="+mj-lt"/>
              </a:rPr>
              <a:t>df</a:t>
            </a:r>
            <a:r>
              <a:rPr lang="en-US" dirty="0">
                <a:solidFill>
                  <a:schemeClr val="tx1"/>
                </a:solidFill>
                <a:latin typeface="+mj-lt"/>
              </a:rPr>
              <a:t> weighting, cosine </a:t>
            </a:r>
            <a:r>
              <a:rPr lang="de-DE" dirty="0" err="1">
                <a:solidFill>
                  <a:schemeClr val="tx1"/>
                </a:solidFill>
                <a:latin typeface="+mj-lt"/>
              </a:rPr>
              <a:t>normalization</a:t>
            </a:r>
            <a:endParaRPr lang="de-DE" dirty="0">
              <a:solidFill>
                <a:schemeClr val="tx1"/>
              </a:solidFill>
              <a:latin typeface="+mj-lt"/>
            </a:endParaRPr>
          </a:p>
          <a:p>
            <a:pPr lvl="1">
              <a:spcBef>
                <a:spcPts val="700"/>
              </a:spcBef>
              <a:buClr>
                <a:srgbClr val="336699"/>
              </a:buClr>
              <a:buFont typeface="Wingdings" pitchFamily="2" charset="2"/>
              <a:buChar char="§"/>
            </a:pPr>
            <a:r>
              <a:rPr lang="en-US" dirty="0">
                <a:solidFill>
                  <a:schemeClr val="tx1"/>
                </a:solidFill>
                <a:latin typeface="+mj-lt"/>
              </a:rPr>
              <a:t>query: logarithmic </a:t>
            </a:r>
            <a:r>
              <a:rPr lang="en-US" dirty="0" err="1">
                <a:solidFill>
                  <a:schemeClr val="tx1"/>
                </a:solidFill>
                <a:latin typeface="+mj-lt"/>
              </a:rPr>
              <a:t>tf</a:t>
            </a:r>
            <a:r>
              <a:rPr lang="en-US" dirty="0">
                <a:solidFill>
                  <a:schemeClr val="tx1"/>
                </a:solidFill>
                <a:latin typeface="+mj-lt"/>
              </a:rPr>
              <a:t>, </a:t>
            </a:r>
            <a:r>
              <a:rPr lang="en-US" dirty="0" err="1">
                <a:solidFill>
                  <a:schemeClr val="tx1"/>
                </a:solidFill>
                <a:latin typeface="+mj-lt"/>
              </a:rPr>
              <a:t>idf</a:t>
            </a:r>
            <a:r>
              <a:rPr lang="en-US" dirty="0">
                <a:solidFill>
                  <a:schemeClr val="tx1"/>
                </a:solidFill>
                <a:latin typeface="+mj-lt"/>
              </a:rPr>
              <a:t>, no normalization</a:t>
            </a:r>
          </a:p>
          <a:p>
            <a:pPr lvl="1">
              <a:spcBef>
                <a:spcPts val="700"/>
              </a:spcBef>
              <a:buClr>
                <a:srgbClr val="336699"/>
              </a:buClr>
              <a:buFont typeface="Wingdings" pitchFamily="2" charset="2"/>
              <a:buChar char="§"/>
            </a:pPr>
            <a:r>
              <a:rPr lang="en-US" dirty="0">
                <a:solidFill>
                  <a:srgbClr val="00B050"/>
                </a:solidFill>
                <a:latin typeface="+mj-lt"/>
              </a:rPr>
              <a:t>Isn’t it bad to not </a:t>
            </a:r>
            <a:r>
              <a:rPr lang="en-US" dirty="0" err="1">
                <a:solidFill>
                  <a:srgbClr val="00B050"/>
                </a:solidFill>
                <a:latin typeface="+mj-lt"/>
              </a:rPr>
              <a:t>idf</a:t>
            </a:r>
            <a:r>
              <a:rPr lang="en-US" dirty="0">
                <a:solidFill>
                  <a:srgbClr val="00B050"/>
                </a:solidFill>
                <a:latin typeface="+mj-lt"/>
              </a:rPr>
              <a:t>-weight the document?</a:t>
            </a:r>
          </a:p>
          <a:p>
            <a:pPr lvl="1">
              <a:spcBef>
                <a:spcPts val="700"/>
              </a:spcBef>
              <a:buClr>
                <a:srgbClr val="336699"/>
              </a:buClr>
              <a:buFont typeface="Wingdings" pitchFamily="2" charset="2"/>
              <a:buChar char="§"/>
            </a:pPr>
            <a:r>
              <a:rPr lang="en-US" dirty="0">
                <a:solidFill>
                  <a:schemeClr val="tx1"/>
                </a:solidFill>
                <a:latin typeface="+mj-lt"/>
              </a:rPr>
              <a:t>Example query: “best car insurance”</a:t>
            </a:r>
          </a:p>
          <a:p>
            <a:pPr lvl="1">
              <a:spcBef>
                <a:spcPts val="700"/>
              </a:spcBef>
              <a:buClr>
                <a:srgbClr val="336699"/>
              </a:buClr>
              <a:buFont typeface="Wingdings" pitchFamily="2" charset="2"/>
              <a:buChar char="§"/>
            </a:pPr>
            <a:r>
              <a:rPr lang="fr-FR" dirty="0" err="1">
                <a:solidFill>
                  <a:schemeClr val="tx1"/>
                </a:solidFill>
                <a:latin typeface="+mj-lt"/>
              </a:rPr>
              <a:t>Example</a:t>
            </a:r>
            <a:r>
              <a:rPr lang="fr-FR" dirty="0">
                <a:solidFill>
                  <a:schemeClr val="tx1"/>
                </a:solidFill>
                <a:latin typeface="+mj-lt"/>
              </a:rPr>
              <a:t> document: “car </a:t>
            </a:r>
            <a:r>
              <a:rPr lang="fr-FR" dirty="0" err="1">
                <a:solidFill>
                  <a:schemeClr val="tx1"/>
                </a:solidFill>
                <a:latin typeface="+mj-lt"/>
              </a:rPr>
              <a:t>insurance</a:t>
            </a:r>
            <a:r>
              <a:rPr lang="fr-FR" dirty="0">
                <a:solidFill>
                  <a:schemeClr val="tx1"/>
                </a:solidFill>
                <a:latin typeface="+mj-lt"/>
              </a:rPr>
              <a:t> auto </a:t>
            </a:r>
            <a:r>
              <a:rPr lang="fr-FR" dirty="0" err="1">
                <a:solidFill>
                  <a:schemeClr val="tx1"/>
                </a:solidFill>
                <a:latin typeface="+mj-lt"/>
              </a:rPr>
              <a:t>insurance</a:t>
            </a:r>
            <a:r>
              <a:rPr lang="fr-FR" dirty="0">
                <a:solidFill>
                  <a:schemeClr val="tx1"/>
                </a:solidFill>
                <a:latin typeface="+mj-lt"/>
              </a:rPr>
              <a:t>”</a:t>
            </a:r>
          </a:p>
          <a:p>
            <a:pPr lvl="1">
              <a:spcBef>
                <a:spcPts val="700"/>
              </a:spcBef>
              <a:buClr>
                <a:srgbClr val="336699"/>
              </a:buClr>
              <a:buFont typeface="Wingdings" pitchFamily="2" charset="2"/>
              <a:buChar char="§"/>
            </a:pPr>
            <a:endParaRPr lang="de-DE" dirty="0">
              <a:solidFill>
                <a:schemeClr val="tx1"/>
              </a:solidFill>
              <a:latin typeface="+mj-lt"/>
            </a:endParaRPr>
          </a:p>
        </p:txBody>
      </p:sp>
      <p:sp>
        <p:nvSpPr>
          <p:cNvPr id="84997" name="Text Box 4"/>
          <p:cNvSpPr txBox="1">
            <a:spLocks noChangeArrowheads="1"/>
          </p:cNvSpPr>
          <p:nvPr/>
        </p:nvSpPr>
        <p:spPr bwMode="auto">
          <a:xfrm>
            <a:off x="7640638" y="-33338"/>
            <a:ext cx="925512" cy="336551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wrap="none" anchor="ctr"/>
          <a:lstStyle/>
          <a:p>
            <a:pPr>
              <a:buClr>
                <a:srgbClr val="000000"/>
              </a:buClr>
              <a:buSzPct val="100000"/>
              <a:buFont typeface="Times New Roman" pitchFamily="16" charset="0"/>
              <a:buNone/>
            </a:pPr>
            <a:endParaRPr lang="de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4BF2C0F-05D6-4882-A325-BE394602789D}" type="slidenum">
              <a:rPr lang="en-US" smtClean="0"/>
              <a:pPr>
                <a:defRPr/>
              </a:pPr>
              <a:t>56</a:t>
            </a:fld>
            <a:endParaRPr lang="en-US"/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Text Box 1"/>
          <p:cNvSpPr txBox="1">
            <a:spLocks noChangeArrowheads="1"/>
          </p:cNvSpPr>
          <p:nvPr/>
        </p:nvSpPr>
        <p:spPr bwMode="auto">
          <a:xfrm>
            <a:off x="6553200" y="6477000"/>
            <a:ext cx="2133600" cy="244475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lIns="90000" tIns="46800" rIns="90000" bIns="46800" anchor="ctr"/>
          <a:lstStyle/>
          <a:p>
            <a:pPr algn="r">
              <a:buSzPct val="10000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fld id="{48895EFF-1DBE-4654-84B8-EE5B6E2FA3CA}" type="slidenum">
              <a:rPr lang="en-US" sz="1200">
                <a:solidFill>
                  <a:srgbClr val="898989"/>
                </a:solidFill>
                <a:latin typeface="Calibri" charset="0"/>
              </a:rPr>
              <a:pPr algn="r">
                <a:buSzPct val="10000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</a:pPr>
              <a:t>57</a:t>
            </a:fld>
            <a:endParaRPr lang="en-US" sz="1200">
              <a:solidFill>
                <a:srgbClr val="898989"/>
              </a:solidFill>
              <a:latin typeface="Calibri" charset="0"/>
            </a:endParaRPr>
          </a:p>
        </p:txBody>
      </p:sp>
      <p:sp>
        <p:nvSpPr>
          <p:cNvPr id="84995" name="Text Box 2"/>
          <p:cNvSpPr txBox="1">
            <a:spLocks noChangeArrowheads="1"/>
          </p:cNvSpPr>
          <p:nvPr/>
        </p:nvSpPr>
        <p:spPr bwMode="auto">
          <a:xfrm>
            <a:off x="285720" y="12700"/>
            <a:ext cx="8572560" cy="1403350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anchor="b"/>
          <a:lstStyle/>
          <a:p>
            <a:r>
              <a:rPr lang="de-DE" sz="3600" dirty="0" err="1">
                <a:solidFill>
                  <a:schemeClr val="tx1"/>
                </a:solidFill>
                <a:latin typeface="+mj-lt"/>
              </a:rPr>
              <a:t>tf-idf</a:t>
            </a:r>
            <a:r>
              <a:rPr lang="de-DE" sz="3600" dirty="0">
                <a:solidFill>
                  <a:schemeClr val="tx1"/>
                </a:solidFill>
                <a:latin typeface="+mj-lt"/>
              </a:rPr>
              <a:t> </a:t>
            </a:r>
            <a:r>
              <a:rPr lang="de-DE" sz="3600" dirty="0" err="1">
                <a:solidFill>
                  <a:schemeClr val="tx1"/>
                </a:solidFill>
                <a:latin typeface="+mj-lt"/>
              </a:rPr>
              <a:t>example</a:t>
            </a:r>
            <a:r>
              <a:rPr lang="de-DE" sz="3600" dirty="0">
                <a:solidFill>
                  <a:schemeClr val="tx1"/>
                </a:solidFill>
                <a:latin typeface="+mj-lt"/>
              </a:rPr>
              <a:t>: </a:t>
            </a:r>
            <a:r>
              <a:rPr lang="de-DE" sz="3600" dirty="0" err="1">
                <a:solidFill>
                  <a:schemeClr val="tx1"/>
                </a:solidFill>
                <a:latin typeface="+mj-lt"/>
              </a:rPr>
              <a:t>Inc.Itn</a:t>
            </a:r>
            <a:endParaRPr lang="de-DE" sz="3600" dirty="0">
              <a:solidFill>
                <a:schemeClr val="tx1"/>
              </a:solidFill>
              <a:latin typeface="+mj-lt"/>
            </a:endParaRPr>
          </a:p>
        </p:txBody>
      </p:sp>
      <p:sp>
        <p:nvSpPr>
          <p:cNvPr id="84996" name="Text Box 3"/>
          <p:cNvSpPr txBox="1">
            <a:spLocks noChangeArrowheads="1"/>
          </p:cNvSpPr>
          <p:nvPr/>
        </p:nvSpPr>
        <p:spPr bwMode="auto">
          <a:xfrm>
            <a:off x="0" y="1428736"/>
            <a:ext cx="9144000" cy="714380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/>
          <a:lstStyle/>
          <a:p>
            <a:pPr lvl="1">
              <a:spcBef>
                <a:spcPts val="700"/>
              </a:spcBef>
              <a:buClr>
                <a:srgbClr val="336699"/>
              </a:buClr>
            </a:pPr>
            <a:r>
              <a:rPr lang="de-DE" sz="2200" dirty="0">
                <a:solidFill>
                  <a:schemeClr val="tx1"/>
                </a:solidFill>
                <a:latin typeface="+mj-lt"/>
              </a:rPr>
              <a:t>Query: “</a:t>
            </a:r>
            <a:r>
              <a:rPr lang="de-DE" sz="2200" dirty="0" err="1">
                <a:solidFill>
                  <a:schemeClr val="tx1"/>
                </a:solidFill>
                <a:latin typeface="+mj-lt"/>
              </a:rPr>
              <a:t>best</a:t>
            </a:r>
            <a:r>
              <a:rPr lang="de-DE" sz="2200" dirty="0">
                <a:solidFill>
                  <a:schemeClr val="tx1"/>
                </a:solidFill>
                <a:latin typeface="+mj-lt"/>
              </a:rPr>
              <a:t> </a:t>
            </a:r>
            <a:r>
              <a:rPr lang="de-DE" sz="2200" dirty="0" err="1">
                <a:solidFill>
                  <a:schemeClr val="tx1"/>
                </a:solidFill>
                <a:latin typeface="+mj-lt"/>
              </a:rPr>
              <a:t>car</a:t>
            </a:r>
            <a:r>
              <a:rPr lang="de-DE" sz="2200" dirty="0">
                <a:solidFill>
                  <a:schemeClr val="tx1"/>
                </a:solidFill>
                <a:latin typeface="+mj-lt"/>
              </a:rPr>
              <a:t> </a:t>
            </a:r>
            <a:r>
              <a:rPr lang="de-DE" sz="2200" dirty="0" err="1">
                <a:solidFill>
                  <a:schemeClr val="tx1"/>
                </a:solidFill>
                <a:latin typeface="+mj-lt"/>
              </a:rPr>
              <a:t>insurance</a:t>
            </a:r>
            <a:r>
              <a:rPr lang="de-DE" sz="2200" dirty="0">
                <a:solidFill>
                  <a:schemeClr val="tx1"/>
                </a:solidFill>
                <a:latin typeface="+mj-lt"/>
              </a:rPr>
              <a:t>”. </a:t>
            </a:r>
            <a:r>
              <a:rPr lang="de-DE" sz="2200" dirty="0" err="1">
                <a:solidFill>
                  <a:schemeClr val="tx1"/>
                </a:solidFill>
                <a:latin typeface="+mj-lt"/>
              </a:rPr>
              <a:t>Document</a:t>
            </a:r>
            <a:r>
              <a:rPr lang="de-DE" sz="2200" dirty="0">
                <a:solidFill>
                  <a:schemeClr val="tx1"/>
                </a:solidFill>
                <a:latin typeface="+mj-lt"/>
              </a:rPr>
              <a:t>: “</a:t>
            </a:r>
            <a:r>
              <a:rPr lang="de-DE" sz="2200" dirty="0" err="1">
                <a:solidFill>
                  <a:schemeClr val="tx1"/>
                </a:solidFill>
                <a:latin typeface="+mj-lt"/>
              </a:rPr>
              <a:t>car</a:t>
            </a:r>
            <a:r>
              <a:rPr lang="de-DE" sz="2200" dirty="0">
                <a:solidFill>
                  <a:schemeClr val="tx1"/>
                </a:solidFill>
                <a:latin typeface="+mj-lt"/>
              </a:rPr>
              <a:t> </a:t>
            </a:r>
            <a:r>
              <a:rPr lang="de-DE" sz="2200" dirty="0" err="1">
                <a:solidFill>
                  <a:schemeClr val="tx1"/>
                </a:solidFill>
                <a:latin typeface="+mj-lt"/>
              </a:rPr>
              <a:t>insurance</a:t>
            </a:r>
            <a:r>
              <a:rPr lang="de-DE" sz="2200" dirty="0">
                <a:solidFill>
                  <a:schemeClr val="tx1"/>
                </a:solidFill>
                <a:latin typeface="+mj-lt"/>
              </a:rPr>
              <a:t> </a:t>
            </a:r>
            <a:r>
              <a:rPr lang="de-DE" sz="2200" dirty="0" err="1">
                <a:solidFill>
                  <a:schemeClr val="tx1"/>
                </a:solidFill>
                <a:latin typeface="+mj-lt"/>
              </a:rPr>
              <a:t>auto</a:t>
            </a:r>
            <a:r>
              <a:rPr lang="de-DE" sz="2200" dirty="0">
                <a:solidFill>
                  <a:schemeClr val="tx1"/>
                </a:solidFill>
                <a:latin typeface="+mj-lt"/>
              </a:rPr>
              <a:t> </a:t>
            </a:r>
            <a:r>
              <a:rPr lang="de-DE" sz="2200" dirty="0" err="1">
                <a:solidFill>
                  <a:schemeClr val="tx1"/>
                </a:solidFill>
                <a:latin typeface="+mj-lt"/>
              </a:rPr>
              <a:t>insurance</a:t>
            </a:r>
            <a:r>
              <a:rPr lang="de-DE" sz="2200" dirty="0">
                <a:solidFill>
                  <a:schemeClr val="tx1"/>
                </a:solidFill>
                <a:latin typeface="+mj-lt"/>
              </a:rPr>
              <a:t>”.</a:t>
            </a:r>
          </a:p>
        </p:txBody>
      </p:sp>
      <p:sp>
        <p:nvSpPr>
          <p:cNvPr id="84997" name="Text Box 4"/>
          <p:cNvSpPr txBox="1">
            <a:spLocks noChangeArrowheads="1"/>
          </p:cNvSpPr>
          <p:nvPr/>
        </p:nvSpPr>
        <p:spPr bwMode="auto">
          <a:xfrm>
            <a:off x="7640638" y="-33338"/>
            <a:ext cx="925512" cy="336551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wrap="none" anchor="ctr"/>
          <a:lstStyle/>
          <a:p>
            <a:pPr>
              <a:buClr>
                <a:srgbClr val="000000"/>
              </a:buClr>
              <a:buSzPct val="100000"/>
              <a:buFont typeface="Times New Roman" pitchFamily="16" charset="0"/>
              <a:buNone/>
            </a:pPr>
            <a:endParaRPr lang="de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4BF2C0F-05D6-4882-A325-BE394602789D}" type="slidenum">
              <a:rPr lang="en-US" smtClean="0"/>
              <a:pPr>
                <a:defRPr/>
              </a:pPr>
              <a:t>57</a:t>
            </a:fld>
            <a:endParaRPr lang="en-US"/>
          </a:p>
        </p:txBody>
      </p:sp>
      <p:pic>
        <p:nvPicPr>
          <p:cNvPr id="8" name="Picture 7" descr="66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4314" y="1802405"/>
            <a:ext cx="8643966" cy="1698033"/>
          </a:xfrm>
          <a:prstGeom prst="rect">
            <a:avLst/>
          </a:prstGeom>
        </p:spPr>
      </p:pic>
      <p:sp>
        <p:nvSpPr>
          <p:cNvPr id="9" name="Text Box 3"/>
          <p:cNvSpPr txBox="1">
            <a:spLocks noChangeArrowheads="1"/>
          </p:cNvSpPr>
          <p:nvPr/>
        </p:nvSpPr>
        <p:spPr bwMode="auto">
          <a:xfrm>
            <a:off x="357158" y="3357562"/>
            <a:ext cx="8939242" cy="714380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/>
          <a:lstStyle/>
          <a:p>
            <a:r>
              <a:rPr lang="en-US" sz="2200" dirty="0">
                <a:solidFill>
                  <a:schemeClr val="tx1"/>
                </a:solidFill>
                <a:latin typeface="+mj-lt"/>
              </a:rPr>
              <a:t>Key to columns: </a:t>
            </a:r>
            <a:r>
              <a:rPr lang="en-US" sz="2200" dirty="0" err="1">
                <a:solidFill>
                  <a:schemeClr val="tx1"/>
                </a:solidFill>
                <a:latin typeface="+mj-lt"/>
              </a:rPr>
              <a:t>tf</a:t>
            </a:r>
            <a:r>
              <a:rPr lang="en-US" sz="2200" dirty="0">
                <a:solidFill>
                  <a:schemeClr val="tx1"/>
                </a:solidFill>
                <a:latin typeface="+mj-lt"/>
              </a:rPr>
              <a:t>-raw: raw (</a:t>
            </a:r>
            <a:r>
              <a:rPr lang="en-US" sz="2200" dirty="0" err="1">
                <a:solidFill>
                  <a:schemeClr val="tx1"/>
                </a:solidFill>
                <a:latin typeface="+mj-lt"/>
              </a:rPr>
              <a:t>unweighted</a:t>
            </a:r>
            <a:r>
              <a:rPr lang="en-US" sz="2200" dirty="0">
                <a:solidFill>
                  <a:schemeClr val="tx1"/>
                </a:solidFill>
                <a:latin typeface="+mj-lt"/>
              </a:rPr>
              <a:t>) term frequency, </a:t>
            </a:r>
            <a:r>
              <a:rPr lang="en-US" sz="2200" dirty="0" err="1">
                <a:solidFill>
                  <a:schemeClr val="tx1"/>
                </a:solidFill>
                <a:latin typeface="+mj-lt"/>
              </a:rPr>
              <a:t>tf-wght</a:t>
            </a:r>
            <a:r>
              <a:rPr lang="en-US" sz="2200" dirty="0">
                <a:solidFill>
                  <a:schemeClr val="tx1"/>
                </a:solidFill>
                <a:latin typeface="+mj-lt"/>
              </a:rPr>
              <a:t>: logarithmically weighted term frequency, </a:t>
            </a:r>
            <a:r>
              <a:rPr lang="en-US" sz="2200" dirty="0" err="1">
                <a:solidFill>
                  <a:schemeClr val="tx1"/>
                </a:solidFill>
                <a:latin typeface="+mj-lt"/>
              </a:rPr>
              <a:t>df</a:t>
            </a:r>
            <a:r>
              <a:rPr lang="en-US" sz="2200" dirty="0">
                <a:solidFill>
                  <a:schemeClr val="tx1"/>
                </a:solidFill>
                <a:latin typeface="+mj-lt"/>
              </a:rPr>
              <a:t>: document frequency, </a:t>
            </a:r>
            <a:r>
              <a:rPr lang="en-US" sz="2200" dirty="0" err="1">
                <a:solidFill>
                  <a:schemeClr val="tx1"/>
                </a:solidFill>
                <a:latin typeface="+mj-lt"/>
              </a:rPr>
              <a:t>idf</a:t>
            </a:r>
            <a:r>
              <a:rPr lang="en-US" sz="2200" dirty="0">
                <a:solidFill>
                  <a:schemeClr val="tx1"/>
                </a:solidFill>
                <a:latin typeface="+mj-lt"/>
              </a:rPr>
              <a:t>: inverse document frequency, weight: the final weight of the term in the query or document, </a:t>
            </a:r>
            <a:r>
              <a:rPr lang="en-US" sz="2200" dirty="0" err="1">
                <a:solidFill>
                  <a:schemeClr val="tx1"/>
                </a:solidFill>
                <a:latin typeface="+mj-lt"/>
              </a:rPr>
              <a:t>n’lized</a:t>
            </a:r>
            <a:r>
              <a:rPr lang="en-US" sz="2200" dirty="0">
                <a:solidFill>
                  <a:schemeClr val="tx1"/>
                </a:solidFill>
                <a:latin typeface="+mj-lt"/>
              </a:rPr>
              <a:t>: document weights after cosine normalization, product: the product of final query weight and final document weight</a:t>
            </a:r>
          </a:p>
          <a:p>
            <a:endParaRPr lang="de-DE" sz="2200" dirty="0">
              <a:solidFill>
                <a:schemeClr val="tx1"/>
              </a:solidFill>
              <a:latin typeface="+mj-lt"/>
            </a:endParaRPr>
          </a:p>
        </p:txBody>
      </p:sp>
      <p:pic>
        <p:nvPicPr>
          <p:cNvPr id="11" name="Picture 10" descr="Picture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4282" y="5000636"/>
            <a:ext cx="3182402" cy="468000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357158" y="5447758"/>
            <a:ext cx="8429684" cy="112451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de-DE" sz="2200" dirty="0">
                <a:solidFill>
                  <a:schemeClr val="tx1"/>
                </a:solidFill>
                <a:latin typeface="+mj-lt"/>
              </a:rPr>
              <a:t>1/1.92 ≈ 0.52</a:t>
            </a:r>
          </a:p>
          <a:p>
            <a:r>
              <a:rPr lang="en-US" sz="2200" dirty="0">
                <a:solidFill>
                  <a:schemeClr val="tx1"/>
                </a:solidFill>
                <a:latin typeface="+mj-lt"/>
              </a:rPr>
              <a:t>1.3/1.92 ≈ 0.68 Final similarity score between query and</a:t>
            </a:r>
          </a:p>
          <a:p>
            <a:r>
              <a:rPr lang="de-DE" sz="2200" dirty="0" err="1">
                <a:solidFill>
                  <a:schemeClr val="tx1"/>
                </a:solidFill>
                <a:latin typeface="+mj-lt"/>
              </a:rPr>
              <a:t>document</a:t>
            </a:r>
            <a:r>
              <a:rPr lang="de-DE" sz="2200" dirty="0">
                <a:solidFill>
                  <a:schemeClr val="tx1"/>
                </a:solidFill>
                <a:latin typeface="+mj-lt"/>
              </a:rPr>
              <a:t>:        </a:t>
            </a:r>
            <a:r>
              <a:rPr lang="de-DE" sz="2200" i="1" baseline="-25000" dirty="0">
                <a:solidFill>
                  <a:schemeClr val="tx1"/>
                </a:solidFill>
                <a:latin typeface="+mj-lt"/>
              </a:rPr>
              <a:t>i </a:t>
            </a:r>
            <a:r>
              <a:rPr lang="de-DE" sz="2200" i="1" dirty="0" err="1">
                <a:solidFill>
                  <a:schemeClr val="tx1"/>
                </a:solidFill>
                <a:latin typeface="+mj-lt"/>
              </a:rPr>
              <a:t>w</a:t>
            </a:r>
            <a:r>
              <a:rPr lang="de-DE" sz="2200" i="1" baseline="-25000" dirty="0" err="1">
                <a:solidFill>
                  <a:schemeClr val="tx1"/>
                </a:solidFill>
                <a:latin typeface="+mj-lt"/>
              </a:rPr>
              <a:t>qi</a:t>
            </a:r>
            <a:r>
              <a:rPr lang="de-DE" sz="2200" i="1" dirty="0">
                <a:solidFill>
                  <a:schemeClr val="tx1"/>
                </a:solidFill>
                <a:latin typeface="+mj-lt"/>
              </a:rPr>
              <a:t> · </a:t>
            </a:r>
            <a:r>
              <a:rPr lang="de-DE" sz="2200" i="1" dirty="0" err="1">
                <a:solidFill>
                  <a:schemeClr val="tx1"/>
                </a:solidFill>
                <a:latin typeface="+mj-lt"/>
              </a:rPr>
              <a:t>w</a:t>
            </a:r>
            <a:r>
              <a:rPr lang="de-DE" sz="2200" i="1" baseline="-25000" dirty="0" err="1">
                <a:solidFill>
                  <a:schemeClr val="tx1"/>
                </a:solidFill>
                <a:latin typeface="+mj-lt"/>
              </a:rPr>
              <a:t>di</a:t>
            </a:r>
            <a:r>
              <a:rPr lang="de-DE" sz="2200" i="1" dirty="0">
                <a:solidFill>
                  <a:schemeClr val="tx1"/>
                </a:solidFill>
                <a:latin typeface="+mj-lt"/>
              </a:rPr>
              <a:t> </a:t>
            </a:r>
            <a:r>
              <a:rPr lang="de-DE" sz="2200" dirty="0">
                <a:solidFill>
                  <a:schemeClr val="tx1"/>
                </a:solidFill>
                <a:latin typeface="+mj-lt"/>
              </a:rPr>
              <a:t>= 0 + 0 + 1.04 + 2.04 = 3.08 </a:t>
            </a:r>
            <a:r>
              <a:rPr lang="de-DE" sz="2200" dirty="0" err="1">
                <a:solidFill>
                  <a:srgbClr val="00B050"/>
                </a:solidFill>
                <a:latin typeface="+mj-lt"/>
              </a:rPr>
              <a:t>Questions</a:t>
            </a:r>
            <a:r>
              <a:rPr lang="de-DE" sz="2200" dirty="0">
                <a:solidFill>
                  <a:srgbClr val="00B050"/>
                </a:solidFill>
                <a:latin typeface="+mj-lt"/>
              </a:rPr>
              <a:t>?</a:t>
            </a:r>
          </a:p>
        </p:txBody>
      </p:sp>
      <p:graphicFrame>
        <p:nvGraphicFramePr>
          <p:cNvPr id="13" name="Object 12"/>
          <p:cNvGraphicFramePr>
            <a:graphicFrameLocks noChangeAspect="1"/>
          </p:cNvGraphicFramePr>
          <p:nvPr/>
        </p:nvGraphicFramePr>
        <p:xfrm>
          <a:off x="1857356" y="6140834"/>
          <a:ext cx="414000" cy="360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ergelijking" r:id="rId5" imgW="291960" imgH="253800" progId="Equation.3">
                  <p:embed/>
                </p:oleObj>
              </mc:Choice>
              <mc:Fallback>
                <p:oleObj name="Vergelijking" r:id="rId5" imgW="291960" imgH="253800" progId="Equation.3">
                  <p:embed/>
                  <p:pic>
                    <p:nvPicPr>
                      <p:cNvPr id="13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57356" y="6140834"/>
                        <a:ext cx="414000" cy="3600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Text Box 1"/>
          <p:cNvSpPr txBox="1">
            <a:spLocks noChangeArrowheads="1"/>
          </p:cNvSpPr>
          <p:nvPr/>
        </p:nvSpPr>
        <p:spPr bwMode="auto">
          <a:xfrm>
            <a:off x="6553200" y="6477000"/>
            <a:ext cx="2133600" cy="244475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lIns="90000" tIns="46800" rIns="90000" bIns="46800" anchor="ctr"/>
          <a:lstStyle/>
          <a:p>
            <a:pPr algn="r">
              <a:buSzPct val="10000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fld id="{48895EFF-1DBE-4654-84B8-EE5B6E2FA3CA}" type="slidenum">
              <a:rPr lang="en-US" sz="1200">
                <a:solidFill>
                  <a:srgbClr val="898989"/>
                </a:solidFill>
                <a:latin typeface="Calibri" charset="0"/>
              </a:rPr>
              <a:pPr algn="r">
                <a:buSzPct val="10000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</a:pPr>
              <a:t>58</a:t>
            </a:fld>
            <a:endParaRPr lang="en-US" sz="1200">
              <a:solidFill>
                <a:srgbClr val="898989"/>
              </a:solidFill>
              <a:latin typeface="Calibri" charset="0"/>
            </a:endParaRPr>
          </a:p>
        </p:txBody>
      </p:sp>
      <p:sp>
        <p:nvSpPr>
          <p:cNvPr id="84995" name="Text Box 2"/>
          <p:cNvSpPr txBox="1">
            <a:spLocks noChangeArrowheads="1"/>
          </p:cNvSpPr>
          <p:nvPr/>
        </p:nvSpPr>
        <p:spPr bwMode="auto">
          <a:xfrm>
            <a:off x="285720" y="12700"/>
            <a:ext cx="8572560" cy="1403350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anchor="b"/>
          <a:lstStyle/>
          <a:p>
            <a:r>
              <a:rPr lang="en-US" sz="3400" dirty="0">
                <a:solidFill>
                  <a:schemeClr val="tx1"/>
                </a:solidFill>
                <a:latin typeface="+mj-lt"/>
              </a:rPr>
              <a:t>Summary: Ranked retrieval in the vector space model</a:t>
            </a:r>
          </a:p>
        </p:txBody>
      </p:sp>
      <p:sp>
        <p:nvSpPr>
          <p:cNvPr id="84996" name="Text Box 3"/>
          <p:cNvSpPr txBox="1">
            <a:spLocks noChangeArrowheads="1"/>
          </p:cNvSpPr>
          <p:nvPr/>
        </p:nvSpPr>
        <p:spPr bwMode="auto">
          <a:xfrm>
            <a:off x="285720" y="2285992"/>
            <a:ext cx="8643998" cy="4643470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/>
          <a:lstStyle/>
          <a:p>
            <a:pPr lvl="1">
              <a:spcBef>
                <a:spcPts val="700"/>
              </a:spcBef>
              <a:buClr>
                <a:srgbClr val="336699"/>
              </a:buClr>
              <a:buFont typeface="Wingdings" pitchFamily="2" charset="2"/>
              <a:buChar char="§"/>
            </a:pPr>
            <a:r>
              <a:rPr lang="en-US" dirty="0">
                <a:solidFill>
                  <a:schemeClr val="tx1"/>
                </a:solidFill>
                <a:latin typeface="+mj-lt"/>
              </a:rPr>
              <a:t>Represent the query as a weighted </a:t>
            </a:r>
            <a:r>
              <a:rPr lang="en-US" dirty="0" err="1">
                <a:solidFill>
                  <a:schemeClr val="tx1"/>
                </a:solidFill>
                <a:latin typeface="+mj-lt"/>
              </a:rPr>
              <a:t>tf-idf</a:t>
            </a:r>
            <a:r>
              <a:rPr lang="en-US" dirty="0">
                <a:solidFill>
                  <a:schemeClr val="tx1"/>
                </a:solidFill>
                <a:latin typeface="+mj-lt"/>
              </a:rPr>
              <a:t> vector</a:t>
            </a:r>
          </a:p>
          <a:p>
            <a:pPr lvl="1">
              <a:spcBef>
                <a:spcPts val="700"/>
              </a:spcBef>
              <a:buClr>
                <a:srgbClr val="336699"/>
              </a:buClr>
              <a:buFont typeface="Wingdings" pitchFamily="2" charset="2"/>
              <a:buChar char="§"/>
            </a:pPr>
            <a:r>
              <a:rPr lang="en-US" dirty="0">
                <a:solidFill>
                  <a:schemeClr val="tx1"/>
                </a:solidFill>
                <a:latin typeface="+mj-lt"/>
              </a:rPr>
              <a:t>Represent each document as a weighted </a:t>
            </a:r>
            <a:r>
              <a:rPr lang="en-US" dirty="0" err="1">
                <a:solidFill>
                  <a:schemeClr val="tx1"/>
                </a:solidFill>
                <a:latin typeface="+mj-lt"/>
              </a:rPr>
              <a:t>tf-idf</a:t>
            </a:r>
            <a:r>
              <a:rPr lang="en-US" dirty="0">
                <a:solidFill>
                  <a:schemeClr val="tx1"/>
                </a:solidFill>
                <a:latin typeface="+mj-lt"/>
              </a:rPr>
              <a:t> vector</a:t>
            </a:r>
          </a:p>
          <a:p>
            <a:pPr lvl="1">
              <a:spcBef>
                <a:spcPts val="700"/>
              </a:spcBef>
              <a:buClr>
                <a:srgbClr val="336699"/>
              </a:buClr>
              <a:buFont typeface="Wingdings" pitchFamily="2" charset="2"/>
              <a:buChar char="§"/>
            </a:pPr>
            <a:r>
              <a:rPr lang="en-US" dirty="0">
                <a:solidFill>
                  <a:schemeClr val="tx1"/>
                </a:solidFill>
                <a:latin typeface="+mj-lt"/>
              </a:rPr>
              <a:t>Compute the cosine similarity between the query vector and </a:t>
            </a:r>
            <a:r>
              <a:rPr lang="de-DE" dirty="0" err="1">
                <a:solidFill>
                  <a:schemeClr val="tx1"/>
                </a:solidFill>
                <a:latin typeface="+mj-lt"/>
              </a:rPr>
              <a:t>each</a:t>
            </a:r>
            <a:r>
              <a:rPr lang="de-DE" dirty="0">
                <a:solidFill>
                  <a:schemeClr val="tx1"/>
                </a:solidFill>
                <a:latin typeface="+mj-lt"/>
              </a:rPr>
              <a:t> </a:t>
            </a:r>
            <a:r>
              <a:rPr lang="de-DE" dirty="0" err="1">
                <a:solidFill>
                  <a:schemeClr val="tx1"/>
                </a:solidFill>
                <a:latin typeface="+mj-lt"/>
              </a:rPr>
              <a:t>document</a:t>
            </a:r>
            <a:r>
              <a:rPr lang="de-DE" dirty="0">
                <a:solidFill>
                  <a:schemeClr val="tx1"/>
                </a:solidFill>
                <a:latin typeface="+mj-lt"/>
              </a:rPr>
              <a:t> </a:t>
            </a:r>
            <a:r>
              <a:rPr lang="de-DE" dirty="0" err="1">
                <a:solidFill>
                  <a:schemeClr val="tx1"/>
                </a:solidFill>
                <a:latin typeface="+mj-lt"/>
              </a:rPr>
              <a:t>vector</a:t>
            </a:r>
            <a:endParaRPr lang="de-DE" dirty="0">
              <a:solidFill>
                <a:schemeClr val="tx1"/>
              </a:solidFill>
              <a:latin typeface="+mj-lt"/>
            </a:endParaRPr>
          </a:p>
          <a:p>
            <a:pPr lvl="1">
              <a:spcBef>
                <a:spcPts val="700"/>
              </a:spcBef>
              <a:buClr>
                <a:srgbClr val="336699"/>
              </a:buClr>
              <a:buFont typeface="Wingdings" pitchFamily="2" charset="2"/>
              <a:buChar char="§"/>
            </a:pPr>
            <a:r>
              <a:rPr lang="en-US" dirty="0">
                <a:solidFill>
                  <a:schemeClr val="tx1"/>
                </a:solidFill>
                <a:latin typeface="+mj-lt"/>
              </a:rPr>
              <a:t>Rank documents with respect to the query</a:t>
            </a:r>
          </a:p>
          <a:p>
            <a:pPr lvl="1">
              <a:spcBef>
                <a:spcPts val="700"/>
              </a:spcBef>
              <a:buClr>
                <a:srgbClr val="336699"/>
              </a:buClr>
              <a:buFont typeface="Wingdings" pitchFamily="2" charset="2"/>
              <a:buChar char="§"/>
            </a:pPr>
            <a:r>
              <a:rPr lang="en-US" dirty="0">
                <a:solidFill>
                  <a:schemeClr val="tx1"/>
                </a:solidFill>
                <a:latin typeface="+mj-lt"/>
              </a:rPr>
              <a:t>Return the top </a:t>
            </a:r>
            <a:r>
              <a:rPr lang="en-US" i="1" dirty="0">
                <a:solidFill>
                  <a:schemeClr val="tx1"/>
                </a:solidFill>
                <a:latin typeface="+mj-lt"/>
              </a:rPr>
              <a:t>K</a:t>
            </a:r>
            <a:r>
              <a:rPr lang="en-US" dirty="0">
                <a:solidFill>
                  <a:schemeClr val="tx1"/>
                </a:solidFill>
                <a:latin typeface="+mj-lt"/>
              </a:rPr>
              <a:t> (e.g., </a:t>
            </a:r>
            <a:r>
              <a:rPr lang="en-US" i="1" dirty="0">
                <a:solidFill>
                  <a:schemeClr val="tx1"/>
                </a:solidFill>
                <a:latin typeface="+mj-lt"/>
              </a:rPr>
              <a:t>K</a:t>
            </a:r>
            <a:r>
              <a:rPr lang="en-US" dirty="0">
                <a:solidFill>
                  <a:schemeClr val="tx1"/>
                </a:solidFill>
                <a:latin typeface="+mj-lt"/>
              </a:rPr>
              <a:t> = 10) to the user</a:t>
            </a:r>
          </a:p>
        </p:txBody>
      </p:sp>
      <p:sp>
        <p:nvSpPr>
          <p:cNvPr id="84997" name="Text Box 4"/>
          <p:cNvSpPr txBox="1">
            <a:spLocks noChangeArrowheads="1"/>
          </p:cNvSpPr>
          <p:nvPr/>
        </p:nvSpPr>
        <p:spPr bwMode="auto">
          <a:xfrm>
            <a:off x="7640638" y="-33338"/>
            <a:ext cx="925512" cy="336551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wrap="none" anchor="ctr"/>
          <a:lstStyle/>
          <a:p>
            <a:pPr>
              <a:buClr>
                <a:srgbClr val="000000"/>
              </a:buClr>
              <a:buSzPct val="100000"/>
              <a:buFont typeface="Times New Roman" pitchFamily="16" charset="0"/>
              <a:buNone/>
            </a:pPr>
            <a:endParaRPr lang="de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4BF2C0F-05D6-4882-A325-BE394602789D}" type="slidenum">
              <a:rPr lang="en-US" smtClean="0"/>
              <a:pPr>
                <a:defRPr/>
              </a:pPr>
              <a:t>58</a:t>
            </a:fld>
            <a:endParaRPr lang="en-US"/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1503</TotalTime>
  <Words>3752</Words>
  <Application>Microsoft Office PowerPoint</Application>
  <PresentationFormat>On-screen Show (4:3)</PresentationFormat>
  <Paragraphs>943</Paragraphs>
  <Slides>58</Slides>
  <Notes>57</Notes>
  <HiddenSlides>0</HiddenSlides>
  <MMClips>0</MMClips>
  <ScaleCrop>false</ScaleCrop>
  <HeadingPairs>
    <vt:vector size="8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58</vt:i4>
      </vt:variant>
    </vt:vector>
  </HeadingPairs>
  <TitlesOfParts>
    <vt:vector size="66" baseType="lpstr">
      <vt:lpstr>Arial</vt:lpstr>
      <vt:lpstr>Calibri</vt:lpstr>
      <vt:lpstr>Calibri Light</vt:lpstr>
      <vt:lpstr>Nunito</vt:lpstr>
      <vt:lpstr>Times New Roman</vt:lpstr>
      <vt:lpstr>Wingdings</vt:lpstr>
      <vt:lpstr>Office Theme</vt:lpstr>
      <vt:lpstr>Vergelijking</vt:lpstr>
      <vt:lpstr>Ranked Retrieval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Title</dc:title>
  <dc:creator>Christopher Manning</dc:creator>
  <cp:lastModifiedBy>richa singh</cp:lastModifiedBy>
  <cp:revision>1218</cp:revision>
  <cp:lastPrinted>2009-09-22T15:48:09Z</cp:lastPrinted>
  <dcterms:created xsi:type="dcterms:W3CDTF">2009-09-21T23:46:17Z</dcterms:created>
  <dcterms:modified xsi:type="dcterms:W3CDTF">2023-10-17T13:37:08Z</dcterms:modified>
</cp:coreProperties>
</file>