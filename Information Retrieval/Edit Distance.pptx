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61" r:id="rId7"/>
    <p:sldId id="278"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524000"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524000" y="3943232"/>
            <a:ext cx="9144000" cy="1655762"/>
          </a:xfrm>
        </p:spPr>
        <p:txBody>
          <a:bodyPr>
            <a:normAutofit/>
          </a:bodyPr>
          <a:lstStyle>
            <a:lvl1pPr marL="0" indent="0" algn="ctr">
              <a:lnSpc>
                <a:spcPts val="32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C1D965B-87A4-4F43-BE02-800BCCDF42EF}"/>
              </a:ext>
            </a:extLst>
          </p:cNvPr>
          <p:cNvSpPr>
            <a:spLocks noGrp="1"/>
          </p:cNvSpPr>
          <p:nvPr>
            <p:ph type="dt" sz="half" idx="10"/>
          </p:nvPr>
        </p:nvSpPr>
        <p:spPr>
          <a:xfrm>
            <a:off x="420624" y="6217920"/>
            <a:ext cx="2743200" cy="640080"/>
          </a:xfrm>
        </p:spPr>
        <p:txBody>
          <a:bodyPr anchor="ctr" anchorCtr="0"/>
          <a:lstStyle/>
          <a:p>
            <a:fld id="{403CB87E-4591-47A1-9046-CF63F17215EF}" type="datetime2">
              <a:rPr lang="en-US" smtClean="0"/>
              <a:t>Wednesday, August 30, 2023</a:t>
            </a:fld>
            <a:endParaRPr lang="en-US" dirty="0"/>
          </a:p>
        </p:txBody>
      </p:sp>
      <p:sp>
        <p:nvSpPr>
          <p:cNvPr id="5" name="Footer Placeholder 4">
            <a:extLst>
              <a:ext uri="{FF2B5EF4-FFF2-40B4-BE49-F238E27FC236}">
                <a16:creationId xmlns:a16="http://schemas.microsoft.com/office/drawing/2014/main" id="{389ED35B-CBF1-40D9-BAA7-CF9E1E22B8FC}"/>
              </a:ext>
            </a:extLst>
          </p:cNvPr>
          <p:cNvSpPr>
            <a:spLocks noGrp="1"/>
          </p:cNvSpPr>
          <p:nvPr>
            <p:ph type="ftr" sz="quarter" idx="11"/>
          </p:nvPr>
        </p:nvSpPr>
        <p:spPr>
          <a:xfrm>
            <a:off x="3767328" y="6217920"/>
            <a:ext cx="7196328" cy="640080"/>
          </a:xfrm>
        </p:spPr>
        <p:txBody>
          <a:bodyPr anchor="ctr" anchorCtr="0"/>
          <a:lstStyle/>
          <a:p>
            <a:r>
              <a:rPr lang="en-US" dirty="0"/>
              <a:t>Sample Footer Text</a:t>
            </a:r>
          </a:p>
        </p:txBody>
      </p:sp>
      <p:sp>
        <p:nvSpPr>
          <p:cNvPr id="6" name="Slide Number Placeholder 5">
            <a:extLst>
              <a:ext uri="{FF2B5EF4-FFF2-40B4-BE49-F238E27FC236}">
                <a16:creationId xmlns:a16="http://schemas.microsoft.com/office/drawing/2014/main" id="{3D26653A-450D-4BDE-8718-99F2D9314259}"/>
              </a:ext>
            </a:extLst>
          </p:cNvPr>
          <p:cNvSpPr>
            <a:spLocks noGrp="1"/>
          </p:cNvSpPr>
          <p:nvPr>
            <p:ph type="sldNum" sz="quarter" idx="12"/>
          </p:nvPr>
        </p:nvSpPr>
        <p:spPr>
          <a:xfrm>
            <a:off x="11503152" y="0"/>
            <a:ext cx="685800" cy="685800"/>
          </a:xfrm>
        </p:spPr>
        <p:txBody>
          <a:bodyPr/>
          <a:lstStyle>
            <a:lvl1pPr algn="ctr">
              <a:defRPr/>
            </a:lvl1pPr>
          </a:lstStyle>
          <a:p>
            <a:fld id="{3A4F6043-7A67-491B-98BC-F933DED7226D}" type="slidenum">
              <a:rPr lang="en-US" smtClean="0"/>
              <a:t>‹#›</a:t>
            </a:fld>
            <a:endParaRPr lang="en-US"/>
          </a:p>
        </p:txBody>
      </p:sp>
    </p:spTree>
    <p:extLst>
      <p:ext uri="{BB962C8B-B14F-4D97-AF65-F5344CB8AC3E}">
        <p14:creationId xmlns:p14="http://schemas.microsoft.com/office/powerpoint/2010/main" val="1450624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a:xfrm>
            <a:off x="420624" y="365125"/>
            <a:ext cx="10543032" cy="1325563"/>
          </a:xfrm>
        </p:spPr>
        <p:txBody>
          <a:bodyPr>
            <a:normAutofit/>
          </a:bodyPr>
          <a:lstStyle>
            <a:lvl1pPr>
              <a:lnSpc>
                <a:spcPct val="90000"/>
              </a:lnSpc>
              <a:defRPr sz="5200"/>
            </a:lvl1pPr>
          </a:lstStyle>
          <a:p>
            <a:r>
              <a:rPr lang="en-US" dirty="0"/>
              <a:t>Click to edit Master title style</a:t>
            </a:r>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5" y="1825625"/>
            <a:ext cx="10543031" cy="4206383"/>
          </a:xfrm>
        </p:spPr>
        <p:txBody>
          <a:bodyPr/>
          <a:lstStyle>
            <a:lvl1pPr>
              <a:defRPr sz="24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8D1A7D4-E57E-4789-896B-B2A051BF94F6}"/>
              </a:ext>
            </a:extLst>
          </p:cNvPr>
          <p:cNvSpPr>
            <a:spLocks noGrp="1"/>
          </p:cNvSpPr>
          <p:nvPr>
            <p:ph type="dt" sz="half" idx="10"/>
          </p:nvPr>
        </p:nvSpPr>
        <p:spPr>
          <a:xfrm>
            <a:off x="420624" y="6217920"/>
            <a:ext cx="2743200" cy="640080"/>
          </a:xfrm>
        </p:spPr>
        <p:txBody>
          <a:bodyPr/>
          <a:lstStyle>
            <a:lvl1pPr>
              <a:defRPr>
                <a:solidFill>
                  <a:schemeClr val="tx2"/>
                </a:solidFill>
              </a:defRPr>
            </a:lvl1pPr>
          </a:lstStyle>
          <a:p>
            <a:fld id="{F33DE70B-B772-416E-A790-995760B1742E}" type="datetime2">
              <a:rPr lang="en-US" smtClean="0"/>
              <a:t>Wednesday, August 30, 2023</a:t>
            </a:fld>
            <a:endParaRPr lang="en-US" dirty="0"/>
          </a:p>
        </p:txBody>
      </p:sp>
      <p:sp>
        <p:nvSpPr>
          <p:cNvPr id="5" name="Footer Placeholder 4">
            <a:extLst>
              <a:ext uri="{FF2B5EF4-FFF2-40B4-BE49-F238E27FC236}">
                <a16:creationId xmlns:a16="http://schemas.microsoft.com/office/drawing/2014/main" id="{A07B63EE-3B35-4F8A-BDA3-E778BFE14CA1}"/>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C8339EF2-7937-4C30-A883-7F7BD02802BC}"/>
              </a:ext>
            </a:extLst>
          </p:cNvPr>
          <p:cNvSpPr>
            <a:spLocks noGrp="1"/>
          </p:cNvSpPr>
          <p:nvPr>
            <p:ph type="sldNum" sz="quarter" idx="12"/>
          </p:nvPr>
        </p:nvSpPr>
        <p:spPr/>
        <p:txBody>
          <a:bodyPr/>
          <a:lstStyle>
            <a:lvl1pPr algn="ctr">
              <a:defRPr>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733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43032"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43032" cy="1500187"/>
          </a:xfrm>
        </p:spPr>
        <p:txBody>
          <a:bodyPr>
            <a:no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64E2B4-314C-4D4F-8938-E437A2EF527B}"/>
              </a:ext>
            </a:extLst>
          </p:cNvPr>
          <p:cNvSpPr>
            <a:spLocks noGrp="1"/>
          </p:cNvSpPr>
          <p:nvPr>
            <p:ph type="dt" sz="half" idx="10"/>
          </p:nvPr>
        </p:nvSpPr>
        <p:spPr/>
        <p:txBody>
          <a:bodyPr/>
          <a:lstStyle/>
          <a:p>
            <a:fld id="{76760CDE-A6F1-4138-AF12-ED09E8E5FB6B}" type="datetime2">
              <a:rPr lang="en-US" smtClean="0"/>
              <a:t>Wednesday, August 30, 2023</a:t>
            </a:fld>
            <a:endParaRPr lang="en-US"/>
          </a:p>
        </p:txBody>
      </p:sp>
      <p:sp>
        <p:nvSpPr>
          <p:cNvPr id="5" name="Footer Placeholder 4">
            <a:extLst>
              <a:ext uri="{FF2B5EF4-FFF2-40B4-BE49-F238E27FC236}">
                <a16:creationId xmlns:a16="http://schemas.microsoft.com/office/drawing/2014/main" id="{72442F23-6986-4A36-97F0-13F305A2DEB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94BA1B9-2423-42BD-A553-DC5703F6243F}"/>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746018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a:xfrm>
            <a:off x="420624" y="365125"/>
            <a:ext cx="10543032" cy="1325563"/>
          </a:xfrm>
        </p:spPr>
        <p:txBody>
          <a:bodyPr>
            <a:normAutofit/>
          </a:bodyPr>
          <a:lstStyle>
            <a:lvl1pPr>
              <a:defRPr sz="5200"/>
            </a:lvl1pPr>
          </a:lstStyle>
          <a:p>
            <a:r>
              <a:rPr lang="en-US" dirty="0"/>
              <a:t>Click to edit Master title style</a:t>
            </a:r>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599176" cy="4206382"/>
          </a:xfrm>
        </p:spPr>
        <p:txBody>
          <a:bodyPr/>
          <a:lstStyle>
            <a:lvl1pPr marL="457200" indent="-457200">
              <a:buFont typeface="Wingdings 2" panose="05020102010507070707" pitchFamily="18" charset="2"/>
              <a:buChar char="¬"/>
              <a:defRPr/>
            </a:lvl1pPr>
            <a:lvl2pPr marL="800100" indent="-342900">
              <a:buFont typeface="Wingdings 2" panose="05020102010507070707" pitchFamily="18" charset="2"/>
              <a:buChar char="¬"/>
              <a:defRPr/>
            </a:lvl2pPr>
            <a:lvl3pPr marL="1257300" indent="-342900">
              <a:buFont typeface="Wingdings 2" panose="05020102010507070707" pitchFamily="18" charset="2"/>
              <a:buChar char="¬"/>
              <a:defRPr/>
            </a:lvl3pPr>
            <a:lvl4pPr marL="1657350" indent="-285750">
              <a:buFont typeface="Wingdings 2" panose="05020102010507070707" pitchFamily="18" charset="2"/>
              <a:buChar char="¬"/>
              <a:defRPr/>
            </a:lvl4pPr>
            <a:lvl5pPr marL="2114550" indent="-285750">
              <a:buFont typeface="Wingdings 2" panose="05020102010507070707" pitchFamily="18"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6172200" y="1825625"/>
            <a:ext cx="479145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FA1B49-6AAA-4DA7-970F-B75899F1AB51}"/>
              </a:ext>
            </a:extLst>
          </p:cNvPr>
          <p:cNvSpPr>
            <a:spLocks noGrp="1"/>
          </p:cNvSpPr>
          <p:nvPr>
            <p:ph type="dt" sz="half" idx="10"/>
          </p:nvPr>
        </p:nvSpPr>
        <p:spPr/>
        <p:txBody>
          <a:bodyPr/>
          <a:lstStyle/>
          <a:p>
            <a:fld id="{DB15F8B1-DB7B-4D28-A97D-40FB2DD1EF78}" type="datetime2">
              <a:rPr lang="en-US" smtClean="0"/>
              <a:t>Wednesday, August 30, 2023</a:t>
            </a:fld>
            <a:endParaRPr lang="en-US"/>
          </a:p>
        </p:txBody>
      </p:sp>
      <p:sp>
        <p:nvSpPr>
          <p:cNvPr id="6" name="Footer Placeholder 5">
            <a:extLst>
              <a:ext uri="{FF2B5EF4-FFF2-40B4-BE49-F238E27FC236}">
                <a16:creationId xmlns:a16="http://schemas.microsoft.com/office/drawing/2014/main" id="{DEE3649A-B9A2-4737-B47E-758DC140688B}"/>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250C1407-C705-451C-878E-8175DCCD500D}"/>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4260459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0624" y="365125"/>
            <a:ext cx="10543032" cy="1325563"/>
          </a:xfrm>
        </p:spPr>
        <p:txBody>
          <a:bodyPr>
            <a:normAutofit/>
          </a:bodyPr>
          <a:lstStyle>
            <a:lvl1pPr>
              <a:defRPr sz="5200"/>
            </a:lvl1pPr>
          </a:lstStyle>
          <a:p>
            <a:r>
              <a:rPr lang="en-US" dirty="0"/>
              <a:t>Click to edit Master title style</a:t>
            </a:r>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0624" y="1681163"/>
            <a:ext cx="554969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0624" y="2505075"/>
            <a:ext cx="554969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970321" y="1681163"/>
            <a:ext cx="4993335"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970321" y="2505075"/>
            <a:ext cx="4993335" cy="3526932"/>
          </a:xfrm>
        </p:spPr>
        <p:txBody>
          <a:bodyPr/>
          <a:lstStyle>
            <a:lvl1pPr>
              <a:defRPr sz="24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6A6298F3-0AEC-4811-99A4-B78AE3A70B1E}"/>
              </a:ext>
            </a:extLst>
          </p:cNvPr>
          <p:cNvSpPr>
            <a:spLocks noGrp="1"/>
          </p:cNvSpPr>
          <p:nvPr>
            <p:ph type="dt" sz="half" idx="10"/>
          </p:nvPr>
        </p:nvSpPr>
        <p:spPr>
          <a:xfrm>
            <a:off x="420624" y="6217920"/>
            <a:ext cx="2743200" cy="640080"/>
          </a:xfrm>
        </p:spPr>
        <p:txBody>
          <a:bodyPr/>
          <a:lstStyle/>
          <a:p>
            <a:fld id="{14039161-23B8-4738-9069-73EBE8884FDD}" type="datetime2">
              <a:rPr lang="en-US" smtClean="0"/>
              <a:t>Wednesday, August 30, 2023</a:t>
            </a:fld>
            <a:endParaRPr lang="en-US"/>
          </a:p>
        </p:txBody>
      </p:sp>
      <p:sp>
        <p:nvSpPr>
          <p:cNvPr id="8" name="Footer Placeholder 7">
            <a:extLst>
              <a:ext uri="{FF2B5EF4-FFF2-40B4-BE49-F238E27FC236}">
                <a16:creationId xmlns:a16="http://schemas.microsoft.com/office/drawing/2014/main" id="{AA7690B4-8A9A-4717-8B0B-2C921292656C}"/>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5328F00A-44BE-4E0A-B1CE-1FC489654F71}"/>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2771160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43032" cy="1325563"/>
          </a:xfrm>
        </p:spPr>
        <p:txBody>
          <a:bodyPr>
            <a:normAutofit/>
          </a:bodyPr>
          <a:lstStyle>
            <a:lvl1pPr>
              <a:defRPr sz="5200"/>
            </a:lvl1pPr>
          </a:lstStyle>
          <a:p>
            <a:r>
              <a:rPr lang="en-US" dirty="0"/>
              <a:t>Click to edit Master title style</a:t>
            </a:r>
          </a:p>
        </p:txBody>
      </p:sp>
      <p:sp>
        <p:nvSpPr>
          <p:cNvPr id="3" name="Date Placeholder 2">
            <a:extLst>
              <a:ext uri="{FF2B5EF4-FFF2-40B4-BE49-F238E27FC236}">
                <a16:creationId xmlns:a16="http://schemas.microsoft.com/office/drawing/2014/main" id="{D443A871-5A76-4349-99F0-C46C77380477}"/>
              </a:ext>
            </a:extLst>
          </p:cNvPr>
          <p:cNvSpPr>
            <a:spLocks noGrp="1"/>
          </p:cNvSpPr>
          <p:nvPr>
            <p:ph type="dt" sz="half" idx="10"/>
          </p:nvPr>
        </p:nvSpPr>
        <p:spPr/>
        <p:txBody>
          <a:bodyPr/>
          <a:lstStyle/>
          <a:p>
            <a:fld id="{FA994D44-7693-499F-AC6C-11696134FE3F}" type="datetime2">
              <a:rPr lang="en-US" smtClean="0"/>
              <a:t>Wednesday, August 30, 2023</a:t>
            </a:fld>
            <a:endParaRPr lang="en-US"/>
          </a:p>
        </p:txBody>
      </p:sp>
      <p:sp>
        <p:nvSpPr>
          <p:cNvPr id="4" name="Footer Placeholder 3">
            <a:extLst>
              <a:ext uri="{FF2B5EF4-FFF2-40B4-BE49-F238E27FC236}">
                <a16:creationId xmlns:a16="http://schemas.microsoft.com/office/drawing/2014/main" id="{F472E803-8BD9-40A2-8389-C19DA11480E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F05414ED-B772-4B84-813E-E34C9A97C053}"/>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572054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62BDD-CBFF-4046-A6B2-A9ECCB7EA144}"/>
              </a:ext>
            </a:extLst>
          </p:cNvPr>
          <p:cNvSpPr>
            <a:spLocks noGrp="1"/>
          </p:cNvSpPr>
          <p:nvPr>
            <p:ph type="dt" sz="half" idx="10"/>
          </p:nvPr>
        </p:nvSpPr>
        <p:spPr/>
        <p:txBody>
          <a:bodyPr/>
          <a:lstStyle/>
          <a:p>
            <a:fld id="{363AF2AE-472C-4EF3-ABB2-24BAA9AE3CF7}" type="datetime2">
              <a:rPr lang="en-US" smtClean="0"/>
              <a:t>Wednesday, August 30, 2023</a:t>
            </a:fld>
            <a:endParaRPr lang="en-US"/>
          </a:p>
        </p:txBody>
      </p:sp>
      <p:sp>
        <p:nvSpPr>
          <p:cNvPr id="3" name="Footer Placeholder 2">
            <a:extLst>
              <a:ext uri="{FF2B5EF4-FFF2-40B4-BE49-F238E27FC236}">
                <a16:creationId xmlns:a16="http://schemas.microsoft.com/office/drawing/2014/main" id="{4690B5F6-6C28-4A86-AFD0-D7F93D461945}"/>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75910D5C-1634-451B-8D99-4D47EB3A11E7}"/>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00169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43032" cy="1600200"/>
          </a:xfrm>
        </p:spPr>
        <p:txBody>
          <a:bodyPr anchor="b">
            <a:noAutofit/>
          </a:bodyPr>
          <a:lstStyle>
            <a:lvl1pPr>
              <a:defRPr sz="5200">
                <a:latin typeface="Dante (Headings)2"/>
              </a:defRPr>
            </a:lvl1pPr>
          </a:lstStyle>
          <a:p>
            <a:r>
              <a:rPr lang="en-US" dirty="0"/>
              <a:t>Click to edit Master title style</a:t>
            </a:r>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5183188" y="2199340"/>
            <a:ext cx="5780468"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4489180"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94813E-250B-4422-AE46-5E1AB964A417}"/>
              </a:ext>
            </a:extLst>
          </p:cNvPr>
          <p:cNvSpPr>
            <a:spLocks noGrp="1"/>
          </p:cNvSpPr>
          <p:nvPr>
            <p:ph type="dt" sz="half" idx="10"/>
          </p:nvPr>
        </p:nvSpPr>
        <p:spPr>
          <a:xfrm>
            <a:off x="420624" y="6217920"/>
            <a:ext cx="2743200" cy="640080"/>
          </a:xfrm>
        </p:spPr>
        <p:txBody>
          <a:bodyPr/>
          <a:lstStyle/>
          <a:p>
            <a:fld id="{EAEA162C-A7C1-4263-9453-1BAFF8C39559}" type="datetime2">
              <a:rPr lang="en-US" smtClean="0"/>
              <a:t>Wednesday, August 30, 2023</a:t>
            </a:fld>
            <a:endParaRPr lang="en-US"/>
          </a:p>
        </p:txBody>
      </p:sp>
      <p:sp>
        <p:nvSpPr>
          <p:cNvPr id="6" name="Footer Placeholder 5">
            <a:extLst>
              <a:ext uri="{FF2B5EF4-FFF2-40B4-BE49-F238E27FC236}">
                <a16:creationId xmlns:a16="http://schemas.microsoft.com/office/drawing/2014/main" id="{61CB5B81-E9CC-45F3-8EF1-35D2C8FF155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F5DA7E97-5A73-4602-9582-6CDACB9185F3}"/>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102472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4489180" cy="1600200"/>
          </a:xfrm>
        </p:spPr>
        <p:txBody>
          <a:bodyPr anchor="b">
            <a:norm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5183188"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4489180"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BAF6305-9768-4792-866C-91238D45695D}"/>
              </a:ext>
            </a:extLst>
          </p:cNvPr>
          <p:cNvSpPr>
            <a:spLocks noGrp="1"/>
          </p:cNvSpPr>
          <p:nvPr>
            <p:ph type="dt" sz="half" idx="10"/>
          </p:nvPr>
        </p:nvSpPr>
        <p:spPr>
          <a:xfrm>
            <a:off x="420624" y="6217920"/>
            <a:ext cx="2743200" cy="640080"/>
          </a:xfrm>
        </p:spPr>
        <p:txBody>
          <a:bodyPr/>
          <a:lstStyle/>
          <a:p>
            <a:fld id="{64DF6793-3458-4587-8168-65F0C37A92D2}" type="datetime2">
              <a:rPr lang="en-US" smtClean="0"/>
              <a:t>Wednesday, August 30, 2023</a:t>
            </a:fld>
            <a:endParaRPr lang="en-US"/>
          </a:p>
        </p:txBody>
      </p:sp>
      <p:sp>
        <p:nvSpPr>
          <p:cNvPr id="6" name="Footer Placeholder 5">
            <a:extLst>
              <a:ext uri="{FF2B5EF4-FFF2-40B4-BE49-F238E27FC236}">
                <a16:creationId xmlns:a16="http://schemas.microsoft.com/office/drawing/2014/main" id="{2CDBF050-0FF1-499F-936E-FAAE50DC3D3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8902C2E-1542-46B4-85B1-7A4B3F7724FC}"/>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761045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CB8191-8A0C-4077-9A2D-0255BF81A9D0}"/>
              </a:ext>
            </a:extLst>
          </p:cNvPr>
          <p:cNvSpPr>
            <a:spLocks noGrp="1"/>
          </p:cNvSpPr>
          <p:nvPr>
            <p:ph type="dt" sz="half" idx="10"/>
          </p:nvPr>
        </p:nvSpPr>
        <p:spPr/>
        <p:txBody>
          <a:bodyPr/>
          <a:lstStyle/>
          <a:p>
            <a:fld id="{2FA17F0E-8070-4DFE-A821-9A699EDBAD7E}" type="datetime2">
              <a:rPr lang="en-US" smtClean="0"/>
              <a:t>Wednesday, August 30, 2023</a:t>
            </a:fld>
            <a:endParaRPr lang="en-US"/>
          </a:p>
        </p:txBody>
      </p:sp>
      <p:sp>
        <p:nvSpPr>
          <p:cNvPr id="5" name="Footer Placeholder 4">
            <a:extLst>
              <a:ext uri="{FF2B5EF4-FFF2-40B4-BE49-F238E27FC236}">
                <a16:creationId xmlns:a16="http://schemas.microsoft.com/office/drawing/2014/main" id="{BF441B40-57AC-45F3-9AAC-DC2BEBB1218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B6D65F4-29FA-451A-878F-768E426A7EDA}"/>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2911198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1141D6-1E1A-4A54-A9B4-57F86865FC03}"/>
              </a:ext>
            </a:extLst>
          </p:cNvPr>
          <p:cNvSpPr>
            <a:spLocks noGrp="1"/>
          </p:cNvSpPr>
          <p:nvPr>
            <p:ph type="dt" sz="half" idx="10"/>
          </p:nvPr>
        </p:nvSpPr>
        <p:spPr/>
        <p:txBody>
          <a:bodyPr/>
          <a:lstStyle/>
          <a:p>
            <a:fld id="{D88D34AE-C7BF-46E5-A968-01C6641F6476}" type="datetime2">
              <a:rPr lang="en-US" smtClean="0"/>
              <a:t>Wednesday, August 30, 2023</a:t>
            </a:fld>
            <a:endParaRPr lang="en-US"/>
          </a:p>
        </p:txBody>
      </p:sp>
      <p:sp>
        <p:nvSpPr>
          <p:cNvPr id="5" name="Footer Placeholder 4">
            <a:extLst>
              <a:ext uri="{FF2B5EF4-FFF2-40B4-BE49-F238E27FC236}">
                <a16:creationId xmlns:a16="http://schemas.microsoft.com/office/drawing/2014/main" id="{E57541D6-4702-4421-AEB2-D6CA3AADBA4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C3C9F43-CD60-4C38-94C9-0E6D3B7224FD}"/>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157904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86836B-C327-49CB-ADF2-2E730C4A91BF}"/>
              </a:ext>
            </a:extLst>
          </p:cNvPr>
          <p:cNvSpPr/>
          <p:nvPr/>
        </p:nvSpPr>
        <p:spPr>
          <a:xfrm>
            <a:off x="0"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8310F61-136C-42B3-981B-FDE3DD0A8135}"/>
              </a:ext>
            </a:extLst>
          </p:cNvPr>
          <p:cNvSpPr/>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43032"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4303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000">
                <a:solidFill>
                  <a:schemeClr val="tx2"/>
                </a:solidFill>
              </a:defRPr>
            </a:lvl1pPr>
          </a:lstStyle>
          <a:p>
            <a:fld id="{E8352ED3-3C46-4C9A-9738-67B2D875E7E2}" type="datetime2">
              <a:rPr lang="en-US" smtClean="0"/>
              <a:pPr/>
              <a:t>Wednesday, August 30, 2023</a:t>
            </a:fld>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000">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0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57453424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defTabSz="914400" rtl="0" eaLnBrk="1" latinLnBrk="0" hangingPunct="1">
        <a:lnSpc>
          <a:spcPct val="9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Wingdings 2" panose="05020102010507070707" pitchFamily="18" charset="2"/>
        <a:buChar char=""/>
        <a:defRPr sz="20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Wingdings 2" panose="05020102010507070707" pitchFamily="18" charset="2"/>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B3B2C43-5E36-4768-8319-6752D24B4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Rectangle 10">
            <a:extLst>
              <a:ext uri="{FF2B5EF4-FFF2-40B4-BE49-F238E27FC236}">
                <a16:creationId xmlns:a16="http://schemas.microsoft.com/office/drawing/2014/main" id="{B044326E-7BB3-4929-BE33-05CA64DBB2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731CF4E0-AA2D-43CA-A528-C52FB15824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3C7257-6DB1-1D6C-973D-195AA98E7AE6}"/>
              </a:ext>
            </a:extLst>
          </p:cNvPr>
          <p:cNvSpPr>
            <a:spLocks noGrp="1"/>
          </p:cNvSpPr>
          <p:nvPr>
            <p:ph type="ctrTitle"/>
          </p:nvPr>
        </p:nvSpPr>
        <p:spPr>
          <a:xfrm>
            <a:off x="5989319" y="576263"/>
            <a:ext cx="5054196" cy="2967606"/>
          </a:xfrm>
        </p:spPr>
        <p:txBody>
          <a:bodyPr anchor="b">
            <a:normAutofit/>
          </a:bodyPr>
          <a:lstStyle/>
          <a:p>
            <a:pPr algn="l"/>
            <a:r>
              <a:rPr lang="en-IN" sz="4800"/>
              <a:t>Edit Distance</a:t>
            </a:r>
          </a:p>
        </p:txBody>
      </p:sp>
      <p:sp>
        <p:nvSpPr>
          <p:cNvPr id="3" name="Subtitle 2">
            <a:extLst>
              <a:ext uri="{FF2B5EF4-FFF2-40B4-BE49-F238E27FC236}">
                <a16:creationId xmlns:a16="http://schemas.microsoft.com/office/drawing/2014/main" id="{C1C3D3EC-2C6A-2A66-B70F-E64BF7E23BAA}"/>
              </a:ext>
            </a:extLst>
          </p:cNvPr>
          <p:cNvSpPr>
            <a:spLocks noGrp="1"/>
          </p:cNvSpPr>
          <p:nvPr>
            <p:ph type="subTitle" idx="1"/>
          </p:nvPr>
        </p:nvSpPr>
        <p:spPr>
          <a:xfrm>
            <a:off x="5989319" y="3764975"/>
            <a:ext cx="5054196" cy="2192683"/>
          </a:xfrm>
        </p:spPr>
        <p:txBody>
          <a:bodyPr>
            <a:normAutofit/>
          </a:bodyPr>
          <a:lstStyle/>
          <a:p>
            <a:pPr algn="l"/>
            <a:endParaRPr lang="en-IN" sz="2200"/>
          </a:p>
        </p:txBody>
      </p:sp>
      <p:pic>
        <p:nvPicPr>
          <p:cNvPr id="4" name="Picture 3" descr="Close up of pushpins on roadmap route">
            <a:extLst>
              <a:ext uri="{FF2B5EF4-FFF2-40B4-BE49-F238E27FC236}">
                <a16:creationId xmlns:a16="http://schemas.microsoft.com/office/drawing/2014/main" id="{7968D78A-8D37-F53F-491E-63B05E35FADF}"/>
              </a:ext>
            </a:extLst>
          </p:cNvPr>
          <p:cNvPicPr>
            <a:picLocks noChangeAspect="1"/>
          </p:cNvPicPr>
          <p:nvPr/>
        </p:nvPicPr>
        <p:blipFill rotWithShape="1">
          <a:blip r:embed="rId2"/>
          <a:srcRect l="10960" r="35840"/>
          <a:stretch/>
        </p:blipFill>
        <p:spPr>
          <a:xfrm>
            <a:off x="-6472" y="10"/>
            <a:ext cx="5486394" cy="6857982"/>
          </a:xfrm>
          <a:prstGeom prst="rect">
            <a:avLst/>
          </a:prstGeom>
        </p:spPr>
      </p:pic>
      <p:sp>
        <p:nvSpPr>
          <p:cNvPr id="15" name="Rectangle 14">
            <a:extLst>
              <a:ext uri="{FF2B5EF4-FFF2-40B4-BE49-F238E27FC236}">
                <a16:creationId xmlns:a16="http://schemas.microsoft.com/office/drawing/2014/main" id="{3B083774-A903-4B1B-BC6A-94C1F048E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479921" y="0"/>
            <a:ext cx="287517" cy="6857992"/>
          </a:xfrm>
          <a:prstGeom prst="rect">
            <a:avLst/>
          </a:prstGeom>
          <a:solidFill>
            <a:srgbClr val="2168B6">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cxnSp>
        <p:nvCxnSpPr>
          <p:cNvPr id="17" name="Straight Connector 16">
            <a:extLst>
              <a:ext uri="{FF2B5EF4-FFF2-40B4-BE49-F238E27FC236}">
                <a16:creationId xmlns:a16="http://schemas.microsoft.com/office/drawing/2014/main" id="{5D5FB189-1F48-4A47-B036-6AF7E11A8E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504676" y="-14198"/>
            <a:ext cx="0" cy="6858000"/>
          </a:xfrm>
          <a:prstGeom prst="line">
            <a:avLst/>
          </a:prstGeom>
          <a:ln w="9525" cap="rnd">
            <a:solidFill>
              <a:srgbClr val="2168B6"/>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5B335DD-3163-4EC5-8B6B-2AB53E64D1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2168B6"/>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06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F2BBE-34DA-909F-3CF2-DD07397F0841}"/>
              </a:ext>
            </a:extLst>
          </p:cNvPr>
          <p:cNvSpPr>
            <a:spLocks noGrp="1"/>
          </p:cNvSpPr>
          <p:nvPr>
            <p:ph type="title"/>
          </p:nvPr>
        </p:nvSpPr>
        <p:spPr/>
        <p:txBody>
          <a:bodyPr/>
          <a:lstStyle/>
          <a:p>
            <a:r>
              <a:rPr lang="en-IN"/>
              <a:t>Introduction</a:t>
            </a:r>
            <a:endParaRPr lang="en-IN" dirty="0"/>
          </a:p>
        </p:txBody>
      </p:sp>
      <p:sp>
        <p:nvSpPr>
          <p:cNvPr id="3" name="Content Placeholder 2">
            <a:extLst>
              <a:ext uri="{FF2B5EF4-FFF2-40B4-BE49-F238E27FC236}">
                <a16:creationId xmlns:a16="http://schemas.microsoft.com/office/drawing/2014/main" id="{94B04FDF-D786-8B12-ED47-967CD02ED5FE}"/>
              </a:ext>
            </a:extLst>
          </p:cNvPr>
          <p:cNvSpPr>
            <a:spLocks noGrp="1"/>
          </p:cNvSpPr>
          <p:nvPr>
            <p:ph idx="1"/>
          </p:nvPr>
        </p:nvSpPr>
        <p:spPr/>
        <p:txBody>
          <a:bodyPr>
            <a:normAutofit/>
          </a:bodyPr>
          <a:lstStyle/>
          <a:p>
            <a:pPr algn="l" rtl="0" fontAlgn="base"/>
            <a:r>
              <a:rPr lang="en-US" sz="2000" b="0" i="0" dirty="0">
                <a:solidFill>
                  <a:srgbClr val="273239"/>
                </a:solidFill>
                <a:effectLst/>
                <a:latin typeface="Times New Roman" panose="02020603050405020304" pitchFamily="18" charset="0"/>
                <a:cs typeface="Times New Roman" panose="02020603050405020304" pitchFamily="18" charset="0"/>
              </a:rPr>
              <a:t>Given two strings </a:t>
            </a:r>
            <a:r>
              <a:rPr lang="en-US" sz="2000" b="1" i="0" dirty="0">
                <a:solidFill>
                  <a:srgbClr val="273239"/>
                </a:solidFill>
                <a:effectLst/>
                <a:latin typeface="Times New Roman" panose="02020603050405020304" pitchFamily="18" charset="0"/>
                <a:cs typeface="Times New Roman" panose="02020603050405020304" pitchFamily="18" charset="0"/>
              </a:rPr>
              <a:t>str1</a:t>
            </a:r>
            <a:r>
              <a:rPr lang="en-US" sz="2000" b="0" i="0" dirty="0">
                <a:solidFill>
                  <a:srgbClr val="273239"/>
                </a:solidFill>
                <a:effectLst/>
                <a:latin typeface="Times New Roman" panose="02020603050405020304" pitchFamily="18" charset="0"/>
                <a:cs typeface="Times New Roman" panose="02020603050405020304" pitchFamily="18" charset="0"/>
              </a:rPr>
              <a:t> and </a:t>
            </a:r>
            <a:r>
              <a:rPr lang="en-US" sz="2000" b="1" i="0" dirty="0">
                <a:solidFill>
                  <a:srgbClr val="273239"/>
                </a:solidFill>
                <a:effectLst/>
                <a:latin typeface="Times New Roman" panose="02020603050405020304" pitchFamily="18" charset="0"/>
                <a:cs typeface="Times New Roman" panose="02020603050405020304" pitchFamily="18" charset="0"/>
              </a:rPr>
              <a:t>str2 </a:t>
            </a:r>
            <a:r>
              <a:rPr lang="en-US" sz="2000" b="0" i="0" dirty="0">
                <a:solidFill>
                  <a:srgbClr val="273239"/>
                </a:solidFill>
                <a:effectLst/>
                <a:latin typeface="Times New Roman" panose="02020603050405020304" pitchFamily="18" charset="0"/>
                <a:cs typeface="Times New Roman" panose="02020603050405020304" pitchFamily="18" charset="0"/>
              </a:rPr>
              <a:t>of length</a:t>
            </a:r>
            <a:r>
              <a:rPr lang="en-US" sz="2000" b="1" i="0" dirty="0">
                <a:solidFill>
                  <a:srgbClr val="273239"/>
                </a:solidFill>
                <a:effectLst/>
                <a:latin typeface="Times New Roman" panose="02020603050405020304" pitchFamily="18" charset="0"/>
                <a:cs typeface="Times New Roman" panose="02020603050405020304" pitchFamily="18" charset="0"/>
              </a:rPr>
              <a:t> M </a:t>
            </a:r>
            <a:r>
              <a:rPr lang="en-US" sz="2000" b="0" i="0" dirty="0">
                <a:solidFill>
                  <a:srgbClr val="273239"/>
                </a:solidFill>
                <a:effectLst/>
                <a:latin typeface="Times New Roman" panose="02020603050405020304" pitchFamily="18" charset="0"/>
                <a:cs typeface="Times New Roman" panose="02020603050405020304" pitchFamily="18" charset="0"/>
              </a:rPr>
              <a:t>and</a:t>
            </a:r>
            <a:r>
              <a:rPr lang="en-US" sz="2000" b="1" i="0" dirty="0">
                <a:solidFill>
                  <a:srgbClr val="273239"/>
                </a:solidFill>
                <a:effectLst/>
                <a:latin typeface="Times New Roman" panose="02020603050405020304" pitchFamily="18" charset="0"/>
                <a:cs typeface="Times New Roman" panose="02020603050405020304" pitchFamily="18" charset="0"/>
              </a:rPr>
              <a:t> N </a:t>
            </a:r>
            <a:r>
              <a:rPr lang="en-US" sz="2000" b="0" i="0" dirty="0">
                <a:solidFill>
                  <a:srgbClr val="273239"/>
                </a:solidFill>
                <a:effectLst/>
                <a:latin typeface="Times New Roman" panose="02020603050405020304" pitchFamily="18" charset="0"/>
                <a:cs typeface="Times New Roman" panose="02020603050405020304" pitchFamily="18" charset="0"/>
              </a:rPr>
              <a:t>respectively and below operations that can be performed on </a:t>
            </a:r>
            <a:r>
              <a:rPr lang="en-US" sz="2000" b="1" i="0" dirty="0">
                <a:solidFill>
                  <a:srgbClr val="273239"/>
                </a:solidFill>
                <a:effectLst/>
                <a:latin typeface="Times New Roman" panose="02020603050405020304" pitchFamily="18" charset="0"/>
                <a:cs typeface="Times New Roman" panose="02020603050405020304" pitchFamily="18" charset="0"/>
              </a:rPr>
              <a:t>str1</a:t>
            </a:r>
            <a:r>
              <a:rPr lang="en-US" sz="2000" b="0" i="0" dirty="0">
                <a:solidFill>
                  <a:srgbClr val="273239"/>
                </a:solidFill>
                <a:effectLst/>
                <a:latin typeface="Times New Roman" panose="02020603050405020304" pitchFamily="18" charset="0"/>
                <a:cs typeface="Times New Roman" panose="02020603050405020304" pitchFamily="18" charset="0"/>
              </a:rPr>
              <a:t>. Find the minimum number of edits (operations) to convert ‘</a:t>
            </a:r>
            <a:r>
              <a:rPr lang="en-US" sz="2000" b="1" i="0" dirty="0">
                <a:solidFill>
                  <a:srgbClr val="273239"/>
                </a:solidFill>
                <a:effectLst/>
                <a:latin typeface="Times New Roman" panose="02020603050405020304" pitchFamily="18" charset="0"/>
                <a:cs typeface="Times New Roman" panose="02020603050405020304" pitchFamily="18" charset="0"/>
              </a:rPr>
              <a:t>str1</a:t>
            </a:r>
            <a:r>
              <a:rPr lang="en-US" sz="2000" b="0" i="0" dirty="0">
                <a:solidFill>
                  <a:srgbClr val="273239"/>
                </a:solidFill>
                <a:effectLst/>
                <a:latin typeface="Times New Roman" panose="02020603050405020304" pitchFamily="18" charset="0"/>
                <a:cs typeface="Times New Roman" panose="02020603050405020304" pitchFamily="18" charset="0"/>
              </a:rPr>
              <a:t>‘ into ‘</a:t>
            </a:r>
            <a:r>
              <a:rPr lang="en-US" sz="2000" b="1" i="0" dirty="0">
                <a:solidFill>
                  <a:srgbClr val="273239"/>
                </a:solidFill>
                <a:effectLst/>
                <a:latin typeface="Times New Roman" panose="02020603050405020304" pitchFamily="18" charset="0"/>
                <a:cs typeface="Times New Roman" panose="02020603050405020304" pitchFamily="18" charset="0"/>
              </a:rPr>
              <a:t>str2</a:t>
            </a:r>
            <a:r>
              <a:rPr lang="en-US" sz="2000" b="0" i="0" dirty="0">
                <a:solidFill>
                  <a:srgbClr val="273239"/>
                </a:solidFill>
                <a:effectLst/>
                <a:latin typeface="Times New Roman" panose="02020603050405020304" pitchFamily="18" charset="0"/>
                <a:cs typeface="Times New Roman" panose="02020603050405020304" pitchFamily="18" charset="0"/>
              </a:rPr>
              <a:t>‘.  </a:t>
            </a:r>
          </a:p>
          <a:p>
            <a:pPr algn="l" fontAlgn="base">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Operation 1 (INSERT)</a:t>
            </a:r>
            <a:r>
              <a:rPr lang="en-US" sz="2000" b="0" i="0" dirty="0">
                <a:solidFill>
                  <a:srgbClr val="273239"/>
                </a:solidFill>
                <a:effectLst/>
                <a:latin typeface="Times New Roman" panose="02020603050405020304" pitchFamily="18" charset="0"/>
                <a:cs typeface="Times New Roman" panose="02020603050405020304" pitchFamily="18" charset="0"/>
              </a:rPr>
              <a:t>: Insert any character before or after any index of </a:t>
            </a:r>
            <a:r>
              <a:rPr lang="en-US" sz="2000" b="1" i="0" dirty="0">
                <a:solidFill>
                  <a:srgbClr val="273239"/>
                </a:solidFill>
                <a:effectLst/>
                <a:latin typeface="Times New Roman" panose="02020603050405020304" pitchFamily="18" charset="0"/>
                <a:cs typeface="Times New Roman" panose="02020603050405020304" pitchFamily="18" charset="0"/>
              </a:rPr>
              <a:t>str1</a:t>
            </a:r>
            <a:endParaRPr lang="en-US" sz="2000"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Operation 2 (REMOVE): </a:t>
            </a:r>
            <a:r>
              <a:rPr lang="en-US" sz="2000" b="0" i="0" dirty="0">
                <a:solidFill>
                  <a:srgbClr val="273239"/>
                </a:solidFill>
                <a:effectLst/>
                <a:latin typeface="Times New Roman" panose="02020603050405020304" pitchFamily="18" charset="0"/>
                <a:cs typeface="Times New Roman" panose="02020603050405020304" pitchFamily="18" charset="0"/>
              </a:rPr>
              <a:t>Remove a character of </a:t>
            </a:r>
            <a:r>
              <a:rPr lang="en-US" sz="2000" b="1" i="0" dirty="0">
                <a:solidFill>
                  <a:srgbClr val="273239"/>
                </a:solidFill>
                <a:effectLst/>
                <a:latin typeface="Times New Roman" panose="02020603050405020304" pitchFamily="18" charset="0"/>
                <a:cs typeface="Times New Roman" panose="02020603050405020304" pitchFamily="18" charset="0"/>
              </a:rPr>
              <a:t>str1</a:t>
            </a:r>
            <a:endParaRPr lang="en-US" sz="2000"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Operation 3 (Replace): </a:t>
            </a:r>
            <a:r>
              <a:rPr lang="en-US" sz="2000" b="0" i="0" dirty="0">
                <a:solidFill>
                  <a:srgbClr val="273239"/>
                </a:solidFill>
                <a:effectLst/>
                <a:latin typeface="Times New Roman" panose="02020603050405020304" pitchFamily="18" charset="0"/>
                <a:cs typeface="Times New Roman" panose="02020603050405020304" pitchFamily="18" charset="0"/>
              </a:rPr>
              <a:t>Replace a character at any index of </a:t>
            </a:r>
            <a:r>
              <a:rPr lang="en-US" sz="2000" b="1" i="0" dirty="0">
                <a:solidFill>
                  <a:srgbClr val="273239"/>
                </a:solidFill>
                <a:effectLst/>
                <a:latin typeface="Times New Roman" panose="02020603050405020304" pitchFamily="18" charset="0"/>
                <a:cs typeface="Times New Roman" panose="02020603050405020304" pitchFamily="18" charset="0"/>
              </a:rPr>
              <a:t>str1</a:t>
            </a:r>
            <a:r>
              <a:rPr lang="en-US" sz="2000" b="0" i="0" dirty="0">
                <a:solidFill>
                  <a:srgbClr val="273239"/>
                </a:solidFill>
                <a:effectLst/>
                <a:latin typeface="Times New Roman" panose="02020603050405020304" pitchFamily="18" charset="0"/>
                <a:cs typeface="Times New Roman" panose="02020603050405020304" pitchFamily="18" charset="0"/>
              </a:rPr>
              <a:t> with some other character.</a:t>
            </a:r>
          </a:p>
          <a:p>
            <a:pPr algn="l"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Example1 : Input: X[]=“cat” Y[] = “cut” Output=1</a:t>
            </a:r>
          </a:p>
          <a:p>
            <a:pPr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Example2 : Input: X[]=“horse” Y[] = “</a:t>
            </a:r>
            <a:r>
              <a:rPr lang="en-US" sz="2000" dirty="0" err="1">
                <a:solidFill>
                  <a:srgbClr val="273239"/>
                </a:solidFill>
                <a:latin typeface="Times New Roman" panose="02020603050405020304" pitchFamily="18" charset="0"/>
                <a:cs typeface="Times New Roman" panose="02020603050405020304" pitchFamily="18" charset="0"/>
              </a:rPr>
              <a:t>ros</a:t>
            </a:r>
            <a:r>
              <a:rPr lang="en-US" sz="2000" dirty="0">
                <a:solidFill>
                  <a:srgbClr val="273239"/>
                </a:solidFill>
                <a:latin typeface="Times New Roman" panose="02020603050405020304" pitchFamily="18" charset="0"/>
                <a:cs typeface="Times New Roman" panose="02020603050405020304" pitchFamily="18" charset="0"/>
              </a:rPr>
              <a:t>” Output=3, Explanation: replace ‘h’ with ‘r’ resulting ‘</a:t>
            </a:r>
            <a:r>
              <a:rPr lang="en-US" sz="2000" dirty="0" err="1">
                <a:solidFill>
                  <a:srgbClr val="273239"/>
                </a:solidFill>
                <a:latin typeface="Times New Roman" panose="02020603050405020304" pitchFamily="18" charset="0"/>
                <a:cs typeface="Times New Roman" panose="02020603050405020304" pitchFamily="18" charset="0"/>
              </a:rPr>
              <a:t>rorse</a:t>
            </a:r>
            <a:r>
              <a:rPr lang="en-US" sz="2000" dirty="0">
                <a:solidFill>
                  <a:srgbClr val="273239"/>
                </a:solidFill>
                <a:latin typeface="Times New Roman" panose="02020603050405020304" pitchFamily="18" charset="0"/>
                <a:cs typeface="Times New Roman" panose="02020603050405020304" pitchFamily="18" charset="0"/>
              </a:rPr>
              <a:t>’, then removing ‘r’ and ‘e’ resulting into ‘</a:t>
            </a:r>
            <a:r>
              <a:rPr lang="en-US" sz="2000" dirty="0" err="1">
                <a:solidFill>
                  <a:srgbClr val="273239"/>
                </a:solidFill>
                <a:latin typeface="Times New Roman" panose="02020603050405020304" pitchFamily="18" charset="0"/>
                <a:cs typeface="Times New Roman" panose="02020603050405020304" pitchFamily="18" charset="0"/>
              </a:rPr>
              <a:t>ros</a:t>
            </a:r>
            <a:r>
              <a:rPr lang="en-US" sz="2000" dirty="0">
                <a:solidFill>
                  <a:srgbClr val="273239"/>
                </a:solidFill>
                <a:latin typeface="Times New Roman" panose="02020603050405020304" pitchFamily="18" charset="0"/>
                <a:cs typeface="Times New Roman" panose="02020603050405020304" pitchFamily="18" charset="0"/>
              </a:rPr>
              <a:t>’</a:t>
            </a:r>
          </a:p>
          <a:p>
            <a:pPr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Example1 : Input: X[]=“</a:t>
            </a:r>
            <a:r>
              <a:rPr lang="en-US" sz="2000" dirty="0" err="1">
                <a:solidFill>
                  <a:srgbClr val="273239"/>
                </a:solidFill>
                <a:latin typeface="Times New Roman" panose="02020603050405020304" pitchFamily="18" charset="0"/>
                <a:cs typeface="Times New Roman" panose="02020603050405020304" pitchFamily="18" charset="0"/>
              </a:rPr>
              <a:t>sunday</a:t>
            </a:r>
            <a:r>
              <a:rPr lang="en-US" sz="2000" dirty="0">
                <a:solidFill>
                  <a:srgbClr val="273239"/>
                </a:solidFill>
                <a:latin typeface="Times New Roman" panose="02020603050405020304" pitchFamily="18" charset="0"/>
                <a:cs typeface="Times New Roman" panose="02020603050405020304" pitchFamily="18" charset="0"/>
              </a:rPr>
              <a:t>” Y[] = “</a:t>
            </a:r>
            <a:r>
              <a:rPr lang="en-US" sz="2000" dirty="0" err="1">
                <a:solidFill>
                  <a:srgbClr val="273239"/>
                </a:solidFill>
                <a:latin typeface="Times New Roman" panose="02020603050405020304" pitchFamily="18" charset="0"/>
                <a:cs typeface="Times New Roman" panose="02020603050405020304" pitchFamily="18" charset="0"/>
              </a:rPr>
              <a:t>saturday</a:t>
            </a:r>
            <a:r>
              <a:rPr lang="en-US" sz="2000" dirty="0">
                <a:solidFill>
                  <a:srgbClr val="273239"/>
                </a:solidFill>
                <a:latin typeface="Times New Roman" panose="02020603050405020304" pitchFamily="18" charset="0"/>
                <a:cs typeface="Times New Roman" panose="02020603050405020304" pitchFamily="18" charset="0"/>
              </a:rPr>
              <a:t>” Output=3</a:t>
            </a:r>
            <a:endParaRPr lang="en-US" sz="2000" b="0" i="0" dirty="0">
              <a:solidFill>
                <a:srgbClr val="273239"/>
              </a:solidFill>
              <a:effectLst/>
              <a:latin typeface="Times New Roman" panose="02020603050405020304" pitchFamily="18" charset="0"/>
              <a:cs typeface="Times New Roman" panose="02020603050405020304" pitchFamily="18" charset="0"/>
            </a:endParaRPr>
          </a:p>
          <a:p>
            <a:pPr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Example1 : Input: X[]=“intention” Y[] = “execution” Output=5</a:t>
            </a:r>
          </a:p>
          <a:p>
            <a:pPr algn="l" fontAlgn="base">
              <a:buFont typeface="Arial" panose="020B0604020202020204" pitchFamily="34" charset="0"/>
              <a:buChar char="•"/>
            </a:pPr>
            <a:endParaRPr lang="en-US" sz="2000" b="0" i="0" dirty="0">
              <a:solidFill>
                <a:srgbClr val="273239"/>
              </a:solidFill>
              <a:effectLst/>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5429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9E6DF-112A-65FD-63FA-F8C60BB02522}"/>
              </a:ext>
            </a:extLst>
          </p:cNvPr>
          <p:cNvSpPr>
            <a:spLocks noGrp="1"/>
          </p:cNvSpPr>
          <p:nvPr>
            <p:ph type="title"/>
          </p:nvPr>
        </p:nvSpPr>
        <p:spPr/>
        <p:txBody>
          <a:bodyPr/>
          <a:lstStyle/>
          <a:p>
            <a:r>
              <a:rPr lang="en-IN" dirty="0"/>
              <a:t>Solution Approaches</a:t>
            </a:r>
          </a:p>
        </p:txBody>
      </p:sp>
      <p:sp>
        <p:nvSpPr>
          <p:cNvPr id="3" name="Content Placeholder 2">
            <a:extLst>
              <a:ext uri="{FF2B5EF4-FFF2-40B4-BE49-F238E27FC236}">
                <a16:creationId xmlns:a16="http://schemas.microsoft.com/office/drawing/2014/main" id="{5547240A-7538-2005-5860-82564198C78B}"/>
              </a:ext>
            </a:extLst>
          </p:cNvPr>
          <p:cNvSpPr>
            <a:spLocks noGrp="1"/>
          </p:cNvSpPr>
          <p:nvPr>
            <p:ph idx="1"/>
          </p:nvPr>
        </p:nvSpPr>
        <p:spPr/>
        <p:txBody>
          <a:bodyPr/>
          <a:lstStyle/>
          <a:p>
            <a:r>
              <a:rPr lang="en-IN" dirty="0"/>
              <a:t>Brute force recursive approach</a:t>
            </a:r>
          </a:p>
          <a:p>
            <a:r>
              <a:rPr lang="en-IN" dirty="0"/>
              <a:t>Dynamic Programming </a:t>
            </a:r>
          </a:p>
        </p:txBody>
      </p:sp>
    </p:spTree>
    <p:extLst>
      <p:ext uri="{BB962C8B-B14F-4D97-AF65-F5344CB8AC3E}">
        <p14:creationId xmlns:p14="http://schemas.microsoft.com/office/powerpoint/2010/main" val="3701149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F70FE-6301-46B6-D252-5FDCD474FE6C}"/>
              </a:ext>
            </a:extLst>
          </p:cNvPr>
          <p:cNvSpPr>
            <a:spLocks noGrp="1"/>
          </p:cNvSpPr>
          <p:nvPr>
            <p:ph type="title"/>
          </p:nvPr>
        </p:nvSpPr>
        <p:spPr/>
        <p:txBody>
          <a:bodyPr/>
          <a:lstStyle/>
          <a:p>
            <a:r>
              <a:rPr lang="en-IN" dirty="0"/>
              <a:t>Brute force approach</a:t>
            </a:r>
          </a:p>
        </p:txBody>
      </p:sp>
      <p:sp>
        <p:nvSpPr>
          <p:cNvPr id="3" name="Content Placeholder 2">
            <a:extLst>
              <a:ext uri="{FF2B5EF4-FFF2-40B4-BE49-F238E27FC236}">
                <a16:creationId xmlns:a16="http://schemas.microsoft.com/office/drawing/2014/main" id="{F2E2CFE8-E8C0-EB94-8A2B-2F5312D3102F}"/>
              </a:ext>
            </a:extLst>
          </p:cNvPr>
          <p:cNvSpPr>
            <a:spLocks noGrp="1"/>
          </p:cNvSpPr>
          <p:nvPr>
            <p:ph idx="1"/>
          </p:nvPr>
        </p:nvSpPr>
        <p:spPr/>
        <p:txBody>
          <a:bodyPr>
            <a:normAutofit/>
          </a:bodyPr>
          <a:lstStyle/>
          <a:p>
            <a:r>
              <a:rPr lang="en-US" sz="2000" b="0" dirty="0">
                <a:solidFill>
                  <a:srgbClr val="273239"/>
                </a:solidFill>
                <a:effectLst/>
                <a:latin typeface="Times New Roman" panose="02020603050405020304" pitchFamily="18" charset="0"/>
                <a:cs typeface="Times New Roman" panose="02020603050405020304" pitchFamily="18" charset="0"/>
              </a:rPr>
              <a:t>The idea is to process all characters one by one starting from either from </a:t>
            </a:r>
            <a:r>
              <a:rPr lang="en-US" sz="2000" b="1" dirty="0">
                <a:solidFill>
                  <a:srgbClr val="273239"/>
                </a:solidFill>
                <a:effectLst/>
                <a:latin typeface="Times New Roman" panose="02020603050405020304" pitchFamily="18" charset="0"/>
                <a:cs typeface="Times New Roman" panose="02020603050405020304" pitchFamily="18" charset="0"/>
              </a:rPr>
              <a:t>left</a:t>
            </a:r>
            <a:r>
              <a:rPr lang="en-US" sz="2000" b="0" dirty="0">
                <a:solidFill>
                  <a:srgbClr val="273239"/>
                </a:solidFill>
                <a:effectLst/>
                <a:latin typeface="Times New Roman" panose="02020603050405020304" pitchFamily="18" charset="0"/>
                <a:cs typeface="Times New Roman" panose="02020603050405020304" pitchFamily="18" charset="0"/>
              </a:rPr>
              <a:t> or </a:t>
            </a:r>
            <a:r>
              <a:rPr lang="en-US" sz="2000" b="1" dirty="0">
                <a:solidFill>
                  <a:srgbClr val="273239"/>
                </a:solidFill>
                <a:effectLst/>
                <a:latin typeface="Times New Roman" panose="02020603050405020304" pitchFamily="18" charset="0"/>
                <a:cs typeface="Times New Roman" panose="02020603050405020304" pitchFamily="18" charset="0"/>
              </a:rPr>
              <a:t>right</a:t>
            </a:r>
            <a:r>
              <a:rPr lang="en-US" sz="2000" b="0" dirty="0">
                <a:solidFill>
                  <a:srgbClr val="273239"/>
                </a:solidFill>
                <a:effectLst/>
                <a:latin typeface="Times New Roman" panose="02020603050405020304" pitchFamily="18" charset="0"/>
                <a:cs typeface="Times New Roman" panose="02020603050405020304" pitchFamily="18" charset="0"/>
              </a:rPr>
              <a:t> sides of both strings. </a:t>
            </a:r>
          </a:p>
          <a:p>
            <a:pPr lvl="1"/>
            <a:r>
              <a:rPr lang="en-US" sz="1800" b="0" dirty="0">
                <a:solidFill>
                  <a:srgbClr val="273239"/>
                </a:solidFill>
                <a:effectLst/>
                <a:latin typeface="Times New Roman" panose="02020603050405020304" pitchFamily="18" charset="0"/>
                <a:cs typeface="Times New Roman" panose="02020603050405020304" pitchFamily="18" charset="0"/>
              </a:rPr>
              <a:t>Process from the </a:t>
            </a:r>
            <a:r>
              <a:rPr lang="en-US" sz="1800" b="1" dirty="0">
                <a:solidFill>
                  <a:srgbClr val="273239"/>
                </a:solidFill>
                <a:effectLst/>
                <a:latin typeface="Times New Roman" panose="02020603050405020304" pitchFamily="18" charset="0"/>
                <a:cs typeface="Times New Roman" panose="02020603050405020304" pitchFamily="18" charset="0"/>
              </a:rPr>
              <a:t>right end</a:t>
            </a:r>
            <a:r>
              <a:rPr lang="en-US" sz="1800" b="0" dirty="0">
                <a:solidFill>
                  <a:srgbClr val="273239"/>
                </a:solidFill>
                <a:effectLst/>
                <a:latin typeface="Times New Roman" panose="02020603050405020304" pitchFamily="18" charset="0"/>
                <a:cs typeface="Times New Roman" panose="02020603050405020304" pitchFamily="18" charset="0"/>
              </a:rPr>
              <a:t> of the strings, there are two possibilities for every pair of characters being traversed, either they </a:t>
            </a:r>
            <a:r>
              <a:rPr lang="en-US" sz="1800" b="1" dirty="0">
                <a:solidFill>
                  <a:srgbClr val="273239"/>
                </a:solidFill>
                <a:effectLst/>
                <a:latin typeface="Times New Roman" panose="02020603050405020304" pitchFamily="18" charset="0"/>
                <a:cs typeface="Times New Roman" panose="02020603050405020304" pitchFamily="18" charset="0"/>
              </a:rPr>
              <a:t>match</a:t>
            </a:r>
            <a:r>
              <a:rPr lang="en-US" sz="1800" b="0" dirty="0">
                <a:solidFill>
                  <a:srgbClr val="273239"/>
                </a:solidFill>
                <a:effectLst/>
                <a:latin typeface="Times New Roman" panose="02020603050405020304" pitchFamily="18" charset="0"/>
                <a:cs typeface="Times New Roman" panose="02020603050405020304" pitchFamily="18" charset="0"/>
              </a:rPr>
              <a:t> or they </a:t>
            </a:r>
            <a:r>
              <a:rPr lang="en-US" sz="1800" b="1" dirty="0">
                <a:solidFill>
                  <a:srgbClr val="273239"/>
                </a:solidFill>
                <a:effectLst/>
                <a:latin typeface="Times New Roman" panose="02020603050405020304" pitchFamily="18" charset="0"/>
                <a:cs typeface="Times New Roman" panose="02020603050405020304" pitchFamily="18" charset="0"/>
              </a:rPr>
              <a:t>don’t match</a:t>
            </a:r>
            <a:r>
              <a:rPr lang="en-US" sz="1800" b="0" dirty="0">
                <a:solidFill>
                  <a:srgbClr val="273239"/>
                </a:solidFill>
                <a:effectLst/>
                <a:latin typeface="Times New Roman" panose="02020603050405020304" pitchFamily="18" charset="0"/>
                <a:cs typeface="Times New Roman" panose="02020603050405020304" pitchFamily="18" charset="0"/>
              </a:rPr>
              <a:t>. </a:t>
            </a:r>
          </a:p>
          <a:p>
            <a:pPr lvl="1"/>
            <a:r>
              <a:rPr lang="en-US" sz="1800" b="0" dirty="0">
                <a:solidFill>
                  <a:srgbClr val="273239"/>
                </a:solidFill>
                <a:effectLst/>
                <a:latin typeface="Times New Roman" panose="02020603050405020304" pitchFamily="18" charset="0"/>
                <a:cs typeface="Times New Roman" panose="02020603050405020304" pitchFamily="18" charset="0"/>
              </a:rPr>
              <a:t>If last characters of both string matches then there is no need to perform any operation So, recursively calculate the </a:t>
            </a:r>
            <a:r>
              <a:rPr lang="en-US" sz="1800" b="1" dirty="0">
                <a:solidFill>
                  <a:srgbClr val="273239"/>
                </a:solidFill>
                <a:effectLst/>
                <a:latin typeface="Times New Roman" panose="02020603050405020304" pitchFamily="18" charset="0"/>
                <a:cs typeface="Times New Roman" panose="02020603050405020304" pitchFamily="18" charset="0"/>
              </a:rPr>
              <a:t>answer</a:t>
            </a:r>
            <a:r>
              <a:rPr lang="en-US" sz="1800" b="0" dirty="0">
                <a:solidFill>
                  <a:srgbClr val="273239"/>
                </a:solidFill>
                <a:effectLst/>
                <a:latin typeface="Times New Roman" panose="02020603050405020304" pitchFamily="18" charset="0"/>
                <a:cs typeface="Times New Roman" panose="02020603050405020304" pitchFamily="18" charset="0"/>
              </a:rPr>
              <a:t> for rest of part of the strings. </a:t>
            </a:r>
          </a:p>
          <a:p>
            <a:pPr lvl="1"/>
            <a:r>
              <a:rPr lang="en-US" sz="1800" b="0" dirty="0">
                <a:solidFill>
                  <a:srgbClr val="273239"/>
                </a:solidFill>
                <a:effectLst/>
                <a:latin typeface="Times New Roman" panose="02020603050405020304" pitchFamily="18" charset="0"/>
                <a:cs typeface="Times New Roman" panose="02020603050405020304" pitchFamily="18" charset="0"/>
              </a:rPr>
              <a:t>When last characters do not match, we can perform all three operations to match the last characters in the given strings, i.e. </a:t>
            </a:r>
            <a:r>
              <a:rPr lang="en-US" sz="1800" b="1" dirty="0">
                <a:solidFill>
                  <a:srgbClr val="273239"/>
                </a:solidFill>
                <a:effectLst/>
                <a:latin typeface="Times New Roman" panose="02020603050405020304" pitchFamily="18" charset="0"/>
                <a:cs typeface="Times New Roman" panose="02020603050405020304" pitchFamily="18" charset="0"/>
              </a:rPr>
              <a:t>insert, replace, and remove.</a:t>
            </a:r>
            <a:r>
              <a:rPr lang="en-US" sz="1800" b="0" dirty="0">
                <a:solidFill>
                  <a:srgbClr val="273239"/>
                </a:solidFill>
                <a:effectLst/>
                <a:latin typeface="Times New Roman" panose="02020603050405020304" pitchFamily="18" charset="0"/>
                <a:cs typeface="Times New Roman" panose="02020603050405020304" pitchFamily="18" charset="0"/>
              </a:rPr>
              <a:t> </a:t>
            </a:r>
          </a:p>
          <a:p>
            <a:pPr lvl="1"/>
            <a:r>
              <a:rPr lang="en-US" sz="1800" b="0" dirty="0">
                <a:solidFill>
                  <a:srgbClr val="273239"/>
                </a:solidFill>
                <a:effectLst/>
                <a:latin typeface="Times New Roman" panose="02020603050405020304" pitchFamily="18" charset="0"/>
                <a:cs typeface="Times New Roman" panose="02020603050405020304" pitchFamily="18" charset="0"/>
              </a:rPr>
              <a:t>We then recursively calculate the result for the remaining part of the string. Upon completion of these operations, we will select the minimum </a:t>
            </a:r>
            <a:r>
              <a:rPr lang="en-US" sz="1800" b="1" dirty="0">
                <a:solidFill>
                  <a:srgbClr val="273239"/>
                </a:solidFill>
                <a:effectLst/>
                <a:latin typeface="Times New Roman" panose="02020603050405020304" pitchFamily="18" charset="0"/>
                <a:cs typeface="Times New Roman" panose="02020603050405020304" pitchFamily="18" charset="0"/>
              </a:rPr>
              <a:t>answer</a:t>
            </a:r>
            <a:r>
              <a:rPr lang="en-US" sz="1800" b="0" dirty="0">
                <a:solidFill>
                  <a:srgbClr val="273239"/>
                </a:solidFill>
                <a:effectLst/>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7314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5FD38-79AE-D2AF-D005-6CBCCCBADD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71F444-D93B-FD0E-5F74-C2D98A33DD99}"/>
              </a:ext>
            </a:extLst>
          </p:cNvPr>
          <p:cNvSpPr>
            <a:spLocks noGrp="1"/>
          </p:cNvSpPr>
          <p:nvPr>
            <p:ph idx="1"/>
          </p:nvPr>
        </p:nvSpPr>
        <p:spPr/>
        <p:txBody>
          <a:bodyPr>
            <a:normAutofit/>
          </a:bodyPr>
          <a:lstStyle/>
          <a:p>
            <a:r>
              <a:rPr lang="en-IN" dirty="0" err="1"/>
              <a:t>EditDistance</a:t>
            </a:r>
            <a:r>
              <a:rPr lang="en-IN" dirty="0"/>
              <a:t>(</a:t>
            </a:r>
            <a:r>
              <a:rPr lang="en-IN" dirty="0" err="1"/>
              <a:t>X,Y,m,n</a:t>
            </a:r>
            <a:r>
              <a:rPr lang="en-IN" dirty="0"/>
              <a:t>)</a:t>
            </a:r>
          </a:p>
          <a:p>
            <a:r>
              <a:rPr lang="en-IN" dirty="0"/>
              <a:t>Case-1: if (X[m-1]==Y[n-1]) then do not perform any operation. Ignore the last character and perform the same operation recursively for the remaining string of size (X,Y,m-1,n-1)</a:t>
            </a:r>
          </a:p>
          <a:p>
            <a:r>
              <a:rPr lang="en-IN" dirty="0"/>
              <a:t>Case-2: if(X[m-1]!=Y[n-1]) then consider all three operation (insert delete or replace) to make the last character of first string to be equal to the last character of the second string</a:t>
            </a:r>
          </a:p>
          <a:p>
            <a:pPr lvl="1" fontAlgn="base">
              <a:buFont typeface="Arial" panose="020B0604020202020204" pitchFamily="34" charset="0"/>
              <a:buChar char="•"/>
            </a:pPr>
            <a:r>
              <a:rPr lang="en-US" b="0" i="1" dirty="0">
                <a:solidFill>
                  <a:srgbClr val="273239"/>
                </a:solidFill>
                <a:effectLst/>
                <a:latin typeface="Nunito" pitchFamily="2" charset="0"/>
              </a:rPr>
              <a:t>Insert str1[N-1] at last of str2 : </a:t>
            </a:r>
            <a:r>
              <a:rPr lang="en-US" b="0" i="1" dirty="0" err="1">
                <a:solidFill>
                  <a:srgbClr val="273239"/>
                </a:solidFill>
                <a:effectLst/>
                <a:latin typeface="Nunito" pitchFamily="2" charset="0"/>
              </a:rPr>
              <a:t>EditDistance</a:t>
            </a:r>
            <a:r>
              <a:rPr lang="en-US" b="0" i="1" dirty="0">
                <a:solidFill>
                  <a:srgbClr val="273239"/>
                </a:solidFill>
                <a:effectLst/>
                <a:latin typeface="Nunito" pitchFamily="2" charset="0"/>
              </a:rPr>
              <a:t>(M, N-1)</a:t>
            </a:r>
          </a:p>
          <a:p>
            <a:pPr lvl="1" fontAlgn="base">
              <a:buFont typeface="Arial" panose="020B0604020202020204" pitchFamily="34" charset="0"/>
              <a:buChar char="•"/>
            </a:pPr>
            <a:r>
              <a:rPr lang="en-US" b="0" i="1" dirty="0">
                <a:solidFill>
                  <a:srgbClr val="273239"/>
                </a:solidFill>
                <a:effectLst/>
                <a:latin typeface="Nunito" pitchFamily="2" charset="0"/>
              </a:rPr>
              <a:t>Replace str2[M-1] with str1[N-1] : </a:t>
            </a:r>
            <a:r>
              <a:rPr lang="en-US" b="0" i="1" dirty="0" err="1">
                <a:solidFill>
                  <a:srgbClr val="273239"/>
                </a:solidFill>
                <a:effectLst/>
                <a:latin typeface="Nunito" pitchFamily="2" charset="0"/>
              </a:rPr>
              <a:t>EditDistance</a:t>
            </a:r>
            <a:r>
              <a:rPr lang="en-US" b="0" i="1" dirty="0">
                <a:solidFill>
                  <a:srgbClr val="273239"/>
                </a:solidFill>
                <a:effectLst/>
                <a:latin typeface="Nunito" pitchFamily="2" charset="0"/>
              </a:rPr>
              <a:t>(M-1, N-1)</a:t>
            </a:r>
          </a:p>
          <a:p>
            <a:pPr lvl="1" fontAlgn="base">
              <a:buFont typeface="Arial" panose="020B0604020202020204" pitchFamily="34" charset="0"/>
              <a:buChar char="•"/>
            </a:pPr>
            <a:r>
              <a:rPr lang="en-US" b="0" i="1" dirty="0">
                <a:solidFill>
                  <a:srgbClr val="273239"/>
                </a:solidFill>
                <a:effectLst/>
                <a:latin typeface="Nunito" pitchFamily="2" charset="0"/>
              </a:rPr>
              <a:t>Remove str2[M-1] : </a:t>
            </a:r>
            <a:r>
              <a:rPr lang="en-US" b="0" i="1" dirty="0" err="1">
                <a:solidFill>
                  <a:srgbClr val="273239"/>
                </a:solidFill>
                <a:effectLst/>
                <a:latin typeface="Nunito" pitchFamily="2" charset="0"/>
              </a:rPr>
              <a:t>EditDistance</a:t>
            </a:r>
            <a:r>
              <a:rPr lang="en-US" b="0" i="1" dirty="0">
                <a:solidFill>
                  <a:srgbClr val="273239"/>
                </a:solidFill>
                <a:effectLst/>
                <a:latin typeface="Nunito" pitchFamily="2" charset="0"/>
              </a:rPr>
              <a:t>(M-1, N)</a:t>
            </a:r>
          </a:p>
          <a:p>
            <a:endParaRPr lang="en-IN" dirty="0"/>
          </a:p>
        </p:txBody>
      </p:sp>
    </p:spTree>
    <p:extLst>
      <p:ext uri="{BB962C8B-B14F-4D97-AF65-F5344CB8AC3E}">
        <p14:creationId xmlns:p14="http://schemas.microsoft.com/office/powerpoint/2010/main" val="3609608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E7DEF-83EF-CCBA-C120-1BC5D67E6A57}"/>
              </a:ext>
            </a:extLst>
          </p:cNvPr>
          <p:cNvSpPr>
            <a:spLocks noGrp="1"/>
          </p:cNvSpPr>
          <p:nvPr>
            <p:ph type="title"/>
          </p:nvPr>
        </p:nvSpPr>
        <p:spPr/>
        <p:txBody>
          <a:bodyPr>
            <a:normAutofit fontScale="90000"/>
          </a:bodyPr>
          <a:lstStyle/>
          <a:p>
            <a:r>
              <a:rPr lang="en-IN" dirty="0"/>
              <a:t>Recurrence Relation for edit distance</a:t>
            </a:r>
          </a:p>
        </p:txBody>
      </p:sp>
      <p:sp>
        <p:nvSpPr>
          <p:cNvPr id="3" name="Content Placeholder 2">
            <a:extLst>
              <a:ext uri="{FF2B5EF4-FFF2-40B4-BE49-F238E27FC236}">
                <a16:creationId xmlns:a16="http://schemas.microsoft.com/office/drawing/2014/main" id="{DA40A1B9-E5F0-A099-32B6-C247F0034E55}"/>
              </a:ext>
            </a:extLst>
          </p:cNvPr>
          <p:cNvSpPr>
            <a:spLocks noGrp="1"/>
          </p:cNvSpPr>
          <p:nvPr>
            <p:ph idx="1"/>
          </p:nvPr>
        </p:nvSpPr>
        <p:spPr>
          <a:xfrm>
            <a:off x="420625" y="1825625"/>
            <a:ext cx="11230601" cy="4206383"/>
          </a:xfrm>
        </p:spPr>
        <p:txBody>
          <a:bodyPr>
            <a:normAutofit fontScale="85000" lnSpcReduction="20000"/>
          </a:bodyPr>
          <a:lstStyle/>
          <a:p>
            <a:pPr marL="0" indent="0">
              <a:buNone/>
            </a:pPr>
            <a:r>
              <a:rPr lang="en-IN" dirty="0" err="1"/>
              <a:t>editDistance</a:t>
            </a:r>
            <a:r>
              <a:rPr lang="en-IN" dirty="0"/>
              <a:t>(</a:t>
            </a:r>
            <a:r>
              <a:rPr lang="en-IN" dirty="0" err="1"/>
              <a:t>X,Y,m,n</a:t>
            </a:r>
            <a:r>
              <a:rPr lang="en-IN" dirty="0"/>
              <a:t>)</a:t>
            </a:r>
          </a:p>
          <a:p>
            <a:pPr marL="0" indent="0">
              <a:buNone/>
            </a:pPr>
            <a:r>
              <a:rPr lang="en-IN" dirty="0"/>
              <a:t>if(m==0)</a:t>
            </a:r>
          </a:p>
          <a:p>
            <a:pPr marL="0" indent="0">
              <a:buNone/>
            </a:pPr>
            <a:r>
              <a:rPr lang="en-IN" dirty="0"/>
              <a:t>	return m		</a:t>
            </a:r>
          </a:p>
          <a:p>
            <a:pPr marL="0" indent="0">
              <a:buNone/>
            </a:pPr>
            <a:r>
              <a:rPr lang="en-IN" dirty="0"/>
              <a:t>if(n==0)		   base case</a:t>
            </a:r>
          </a:p>
          <a:p>
            <a:pPr marL="0" indent="0">
              <a:buNone/>
            </a:pPr>
            <a:r>
              <a:rPr lang="en-IN" dirty="0"/>
              <a:t>	return n</a:t>
            </a:r>
          </a:p>
          <a:p>
            <a:pPr marL="0" indent="0">
              <a:buNone/>
            </a:pPr>
            <a:r>
              <a:rPr lang="en-IN" dirty="0"/>
              <a:t>if(X[m-1]==Y[n-1])</a:t>
            </a:r>
          </a:p>
          <a:p>
            <a:pPr marL="0" indent="0">
              <a:buNone/>
            </a:pPr>
            <a:r>
              <a:rPr lang="en-IN" dirty="0"/>
              <a:t>	return </a:t>
            </a:r>
            <a:r>
              <a:rPr lang="en-IN" dirty="0" err="1"/>
              <a:t>editDistance</a:t>
            </a:r>
            <a:r>
              <a:rPr lang="en-IN" dirty="0"/>
              <a:t>(X,Y,m-1,n-1)</a:t>
            </a:r>
          </a:p>
          <a:p>
            <a:pPr marL="0" indent="0">
              <a:buNone/>
            </a:pPr>
            <a:r>
              <a:rPr lang="en-IN" dirty="0"/>
              <a:t>else</a:t>
            </a:r>
          </a:p>
          <a:p>
            <a:pPr marL="0" indent="0">
              <a:buNone/>
            </a:pPr>
            <a:r>
              <a:rPr lang="en-IN" dirty="0"/>
              <a:t>{</a:t>
            </a:r>
          </a:p>
          <a:p>
            <a:pPr marL="0" indent="0">
              <a:buNone/>
            </a:pPr>
            <a:r>
              <a:rPr lang="en-IN" dirty="0"/>
              <a:t>    return 1+min({</a:t>
            </a:r>
            <a:r>
              <a:rPr lang="en-IN" dirty="0" err="1"/>
              <a:t>editDistance</a:t>
            </a:r>
            <a:r>
              <a:rPr lang="en-IN" dirty="0"/>
              <a:t>(X,Y,m,n-1),</a:t>
            </a:r>
            <a:r>
              <a:rPr lang="en-IN" dirty="0" err="1"/>
              <a:t>editDistance</a:t>
            </a:r>
            <a:r>
              <a:rPr lang="en-IN" dirty="0"/>
              <a:t>(X,Y,m-1,n), </a:t>
            </a:r>
            <a:r>
              <a:rPr lang="en-IN" dirty="0" err="1"/>
              <a:t>editDistance</a:t>
            </a:r>
            <a:r>
              <a:rPr lang="en-IN" dirty="0"/>
              <a:t>(X,Y, m-1,n-1)}</a:t>
            </a:r>
          </a:p>
          <a:p>
            <a:pPr marL="0" indent="0">
              <a:buNone/>
            </a:pPr>
            <a:r>
              <a:rPr lang="en-IN" dirty="0"/>
              <a:t>}</a:t>
            </a:r>
          </a:p>
        </p:txBody>
      </p:sp>
      <p:sp>
        <p:nvSpPr>
          <p:cNvPr id="4" name="Right Brace 3">
            <a:extLst>
              <a:ext uri="{FF2B5EF4-FFF2-40B4-BE49-F238E27FC236}">
                <a16:creationId xmlns:a16="http://schemas.microsoft.com/office/drawing/2014/main" id="{EC4BCA3B-FB82-2B52-2660-FBF088C77CD0}"/>
              </a:ext>
            </a:extLst>
          </p:cNvPr>
          <p:cNvSpPr/>
          <p:nvPr/>
        </p:nvSpPr>
        <p:spPr>
          <a:xfrm>
            <a:off x="2969342" y="2382121"/>
            <a:ext cx="403123" cy="1046879"/>
          </a:xfrm>
          <a:prstGeom prst="righ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pic>
        <p:nvPicPr>
          <p:cNvPr id="5" name="Picture 2" descr="Find minimum edit distance between given two strings - IDeserve">
            <a:extLst>
              <a:ext uri="{FF2B5EF4-FFF2-40B4-BE49-F238E27FC236}">
                <a16:creationId xmlns:a16="http://schemas.microsoft.com/office/drawing/2014/main" id="{8212FD44-7B73-BD19-5060-53E7F3CF9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9935" y="1629210"/>
            <a:ext cx="4171950" cy="255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3374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C84CE-ECE5-C79B-A122-7C20794D217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356A5DA-3E92-F7A2-8CC9-C50F2E15D5EB}"/>
              </a:ext>
            </a:extLst>
          </p:cNvPr>
          <p:cNvSpPr>
            <a:spLocks noGrp="1"/>
          </p:cNvSpPr>
          <p:nvPr>
            <p:ph idx="1"/>
          </p:nvPr>
        </p:nvSpPr>
        <p:spPr/>
        <p:txBody>
          <a:bodyPr/>
          <a:lstStyle/>
          <a:p>
            <a:endParaRPr lang="en-IN" dirty="0"/>
          </a:p>
        </p:txBody>
      </p:sp>
      <p:pic>
        <p:nvPicPr>
          <p:cNvPr id="2050" name="Picture 2" descr="Edit Distance – Embedded Sense">
            <a:extLst>
              <a:ext uri="{FF2B5EF4-FFF2-40B4-BE49-F238E27FC236}">
                <a16:creationId xmlns:a16="http://schemas.microsoft.com/office/drawing/2014/main" id="{D2DD6C27-2251-8C25-03C3-03F4CCAFE4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8344" y="544001"/>
            <a:ext cx="8436766" cy="6009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063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A25DF-F776-9312-9D83-0F665E5FB091}"/>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D2DA70C4-EF97-ADC6-FCA8-684EA9F9EB32}"/>
              </a:ext>
            </a:extLst>
          </p:cNvPr>
          <p:cNvSpPr>
            <a:spLocks noGrp="1"/>
          </p:cNvSpPr>
          <p:nvPr>
            <p:ph idx="1"/>
          </p:nvPr>
        </p:nvSpPr>
        <p:spPr/>
        <p:txBody>
          <a:bodyPr/>
          <a:lstStyle/>
          <a:p>
            <a:pPr algn="l"/>
            <a:r>
              <a:rPr lang="en-US" dirty="0">
                <a:solidFill>
                  <a:srgbClr val="242424"/>
                </a:solidFill>
                <a:latin typeface="Times New Roman" panose="02020603050405020304" pitchFamily="18" charset="0"/>
                <a:cs typeface="Times New Roman" panose="02020603050405020304" pitchFamily="18" charset="0"/>
              </a:rPr>
              <a:t>T</a:t>
            </a:r>
            <a:r>
              <a:rPr lang="en-US" b="0" i="0" dirty="0">
                <a:solidFill>
                  <a:srgbClr val="242424"/>
                </a:solidFill>
                <a:effectLst/>
                <a:latin typeface="Times New Roman" panose="02020603050405020304" pitchFamily="18" charset="0"/>
                <a:cs typeface="Times New Roman" panose="02020603050405020304" pitchFamily="18" charset="0"/>
              </a:rPr>
              <a:t>o convert BIRD to HEARD, I would need to make 3 changes, those being:</a:t>
            </a:r>
          </a:p>
          <a:p>
            <a:pPr lvl="1"/>
            <a:r>
              <a:rPr lang="en-US" b="0" i="0" dirty="0">
                <a:solidFill>
                  <a:srgbClr val="242424"/>
                </a:solidFill>
                <a:effectLst/>
                <a:latin typeface="Times New Roman" panose="02020603050405020304" pitchFamily="18" charset="0"/>
                <a:cs typeface="Times New Roman" panose="02020603050405020304" pitchFamily="18" charset="0"/>
              </a:rPr>
              <a:t>Replacing ‘I’ of BIRD with ‘A’. Thus, BIRD now changes to BARD.</a:t>
            </a:r>
          </a:p>
          <a:p>
            <a:pPr lvl="1"/>
            <a:r>
              <a:rPr lang="en-US" b="0" i="0" dirty="0">
                <a:solidFill>
                  <a:srgbClr val="242424"/>
                </a:solidFill>
                <a:effectLst/>
                <a:latin typeface="Times New Roman" panose="02020603050405020304" pitchFamily="18" charset="0"/>
                <a:cs typeface="Times New Roman" panose="02020603050405020304" pitchFamily="18" charset="0"/>
              </a:rPr>
              <a:t>Replacing ‘B’ of BIRD with ‘E’. Hence, it further changes to EARD.</a:t>
            </a:r>
          </a:p>
          <a:p>
            <a:pPr lvl="1"/>
            <a:r>
              <a:rPr lang="en-US" b="0" i="0" dirty="0">
                <a:solidFill>
                  <a:srgbClr val="242424"/>
                </a:solidFill>
                <a:effectLst/>
                <a:latin typeface="Times New Roman" panose="02020603050405020304" pitchFamily="18" charset="0"/>
                <a:cs typeface="Times New Roman" panose="02020603050405020304" pitchFamily="18" charset="0"/>
              </a:rPr>
              <a:t>Adding H at the beginning. Finally, we get HEARD.</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4846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C0804-F651-895F-3F26-CCF02AE2C88D}"/>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0258537B-7878-F0ED-6EE0-5B8253D253E1}"/>
              </a:ext>
            </a:extLst>
          </p:cNvPr>
          <p:cNvSpPr>
            <a:spLocks noGrp="1"/>
          </p:cNvSpPr>
          <p:nvPr>
            <p:ph idx="1"/>
          </p:nvPr>
        </p:nvSpPr>
        <p:spPr/>
        <p:txBody>
          <a:bodyPr/>
          <a:lstStyle/>
          <a:p>
            <a:r>
              <a:rPr lang="en-IN" dirty="0"/>
              <a:t>                 Do nothing</a:t>
            </a:r>
          </a:p>
          <a:p>
            <a:endParaRPr lang="en-IN" dirty="0"/>
          </a:p>
          <a:p>
            <a:r>
              <a:rPr lang="en-IN" sz="2000" dirty="0"/>
              <a:t>Replace: </a:t>
            </a:r>
            <a:r>
              <a:rPr lang="en-US" sz="2000" dirty="0"/>
              <a:t>To convert ‘BI’ to ‘HEA’, then notice that the last characters of those strings are different. Hence to convert ‘BI’ to ‘HEA’, we just need to convert ‘B’ to ‘HE’ and simply replace the ‘I’ in ‘BI’ to ‘A’. This way we have changed the string to ‘BA’ instead of ‘BI’. So now, we just need to calculate the distance between the strings minus the last character. Hence our edit distance of ‘BI’ and ‘HEA’ is 1 + edit distance of ‘B’ and ‘HE’.</a:t>
            </a:r>
            <a:endParaRPr lang="en-IN" sz="2000" dirty="0"/>
          </a:p>
        </p:txBody>
      </p:sp>
      <p:pic>
        <p:nvPicPr>
          <p:cNvPr id="2052" name="Picture 4">
            <a:extLst>
              <a:ext uri="{FF2B5EF4-FFF2-40B4-BE49-F238E27FC236}">
                <a16:creationId xmlns:a16="http://schemas.microsoft.com/office/drawing/2014/main" id="{1CE00483-7D0E-D32F-CA2C-B9DF798FEB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7774" y="1206192"/>
            <a:ext cx="4796452" cy="155679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4CA0625E-8A7B-D135-80F8-85E6911966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7774" y="4426887"/>
            <a:ext cx="5052090" cy="1605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85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8578F-CE27-8FB4-0347-B2ACD218CE71}"/>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35982FDF-80B7-3525-C913-9354CB59A784}"/>
              </a:ext>
            </a:extLst>
          </p:cNvPr>
          <p:cNvSpPr>
            <a:spLocks noGrp="1"/>
          </p:cNvSpPr>
          <p:nvPr>
            <p:ph idx="1"/>
          </p:nvPr>
        </p:nvSpPr>
        <p:spPr/>
        <p:txBody>
          <a:bodyPr/>
          <a:lstStyle/>
          <a:p>
            <a:r>
              <a:rPr lang="en-US" sz="2000" dirty="0"/>
              <a:t> </a:t>
            </a:r>
            <a:r>
              <a:rPr lang="en-US" sz="2000" b="1" dirty="0"/>
              <a:t>Deletion</a:t>
            </a:r>
            <a:r>
              <a:rPr lang="en-US" sz="2000" dirty="0"/>
              <a:t>: Deletion can also be considered for cases where the last character is a mismatch. In this example; if we want to convert ‘BI’ to ‘HEA’, we can simply drop the ‘I’ from ‘BI’ and then find the edit distance between the rest of the strings. Remember, if the last character is a mismatch simply delete the last character and find edit distance of the rest.</a:t>
            </a:r>
            <a:endParaRPr lang="en-IN" sz="2000" dirty="0"/>
          </a:p>
        </p:txBody>
      </p:sp>
      <p:pic>
        <p:nvPicPr>
          <p:cNvPr id="4100" name="Picture 4">
            <a:extLst>
              <a:ext uri="{FF2B5EF4-FFF2-40B4-BE49-F238E27FC236}">
                <a16:creationId xmlns:a16="http://schemas.microsoft.com/office/drawing/2014/main" id="{91440030-A361-A3A9-1B01-A1A03FF1E0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2362" y="3276293"/>
            <a:ext cx="5514207" cy="1802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545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F34E7-F64E-C5AB-AA0E-9A773EFD50BE}"/>
              </a:ext>
            </a:extLst>
          </p:cNvPr>
          <p:cNvSpPr>
            <a:spLocks noGrp="1"/>
          </p:cNvSpPr>
          <p:nvPr>
            <p:ph type="title"/>
          </p:nvPr>
        </p:nvSpPr>
        <p:spPr/>
        <p:txBody>
          <a:bodyPr/>
          <a:lstStyle/>
          <a:p>
            <a:r>
              <a:rPr lang="en-IN" dirty="0"/>
              <a:t>Example </a:t>
            </a:r>
          </a:p>
        </p:txBody>
      </p:sp>
      <p:sp>
        <p:nvSpPr>
          <p:cNvPr id="3" name="Content Placeholder 2">
            <a:extLst>
              <a:ext uri="{FF2B5EF4-FFF2-40B4-BE49-F238E27FC236}">
                <a16:creationId xmlns:a16="http://schemas.microsoft.com/office/drawing/2014/main" id="{7600441F-5455-5154-676A-0D318183750A}"/>
              </a:ext>
            </a:extLst>
          </p:cNvPr>
          <p:cNvSpPr>
            <a:spLocks noGrp="1"/>
          </p:cNvSpPr>
          <p:nvPr>
            <p:ph idx="1"/>
          </p:nvPr>
        </p:nvSpPr>
        <p:spPr/>
        <p:txBody>
          <a:bodyPr>
            <a:normAutofit lnSpcReduction="10000"/>
          </a:bodyPr>
          <a:lstStyle/>
          <a:p>
            <a:pPr algn="l"/>
            <a:r>
              <a:rPr lang="en-US" sz="2200" b="1" dirty="0"/>
              <a:t>Insertion</a:t>
            </a:r>
            <a:r>
              <a:rPr lang="en-US" sz="2200" dirty="0"/>
              <a:t>: Another way to resolve a mismatched character is to drop the mismatched character from the source string and find edit distance for the rest. In this example; we wish to convert ‘BI’ to ‘HEA’, notice the last character is a mismatch. One possible solution is to drop ‘A’ from ‘HEA’. This way we’ll end up with ‘BI’ and ‘HE’, after finding the distance between these substrings, because if we find the distance successfully, we’ll just have to simply insert an ‘A’ at the end of ‘BI’ to solve the sub problem.</a:t>
            </a:r>
          </a:p>
          <a:p>
            <a:pPr algn="l"/>
            <a:r>
              <a:rPr lang="en-US" sz="2200" dirty="0"/>
              <a:t>Remember, if the last character is a mismatch simply ignore the last letter of the source string, find the distance between the rest and then insert the last character in the end of destination string.</a:t>
            </a:r>
          </a:p>
          <a:p>
            <a:br>
              <a:rPr lang="en-US" dirty="0">
                <a:effectLst/>
              </a:rPr>
            </a:br>
            <a:endParaRPr lang="en-IN" dirty="0"/>
          </a:p>
        </p:txBody>
      </p:sp>
      <p:pic>
        <p:nvPicPr>
          <p:cNvPr id="5122" name="Picture 2">
            <a:extLst>
              <a:ext uri="{FF2B5EF4-FFF2-40B4-BE49-F238E27FC236}">
                <a16:creationId xmlns:a16="http://schemas.microsoft.com/office/drawing/2014/main" id="{91420CC1-9A92-2B98-7754-5E4216B6B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7148" y="4775867"/>
            <a:ext cx="4914439" cy="1611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124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D9583-AF2D-9701-23EA-EF6013F686ED}"/>
              </a:ext>
            </a:extLst>
          </p:cNvPr>
          <p:cNvSpPr>
            <a:spLocks noGrp="1"/>
          </p:cNvSpPr>
          <p:nvPr>
            <p:ph type="title"/>
          </p:nvPr>
        </p:nvSpPr>
        <p:spPr/>
        <p:txBody>
          <a:bodyPr/>
          <a:lstStyle/>
          <a:p>
            <a:r>
              <a:rPr lang="en-IN" dirty="0"/>
              <a:t>Example </a:t>
            </a:r>
          </a:p>
        </p:txBody>
      </p:sp>
      <p:sp>
        <p:nvSpPr>
          <p:cNvPr id="3" name="Content Placeholder 2">
            <a:extLst>
              <a:ext uri="{FF2B5EF4-FFF2-40B4-BE49-F238E27FC236}">
                <a16:creationId xmlns:a16="http://schemas.microsoft.com/office/drawing/2014/main" id="{C923B9E5-9C9C-0DE9-F7AA-FCCD75955DDD}"/>
              </a:ext>
            </a:extLst>
          </p:cNvPr>
          <p:cNvSpPr>
            <a:spLocks noGrp="1"/>
          </p:cNvSpPr>
          <p:nvPr>
            <p:ph idx="1"/>
          </p:nvPr>
        </p:nvSpPr>
        <p:spPr/>
        <p:txBody>
          <a:bodyPr/>
          <a:lstStyle/>
          <a:p>
            <a:r>
              <a:rPr lang="en-US" sz="2200" dirty="0"/>
              <a:t>Take the minimum of these operations and add one to it because we’re performing an operation on these two characters that didn’t match.</a:t>
            </a:r>
            <a:endParaRPr lang="en-IN" sz="2200" dirty="0"/>
          </a:p>
        </p:txBody>
      </p:sp>
    </p:spTree>
    <p:extLst>
      <p:ext uri="{BB962C8B-B14F-4D97-AF65-F5344CB8AC3E}">
        <p14:creationId xmlns:p14="http://schemas.microsoft.com/office/powerpoint/2010/main" val="1379152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58949-DB64-1ACA-53F1-8DD0E0E346C5}"/>
              </a:ext>
            </a:extLst>
          </p:cNvPr>
          <p:cNvSpPr>
            <a:spLocks noGrp="1"/>
          </p:cNvSpPr>
          <p:nvPr>
            <p:ph type="title"/>
          </p:nvPr>
        </p:nvSpPr>
        <p:spPr/>
        <p:txBody>
          <a:bodyPr/>
          <a:lstStyle/>
          <a:p>
            <a:r>
              <a:rPr lang="en-IN" dirty="0"/>
              <a:t>Base Case </a:t>
            </a:r>
          </a:p>
        </p:txBody>
      </p:sp>
      <p:sp>
        <p:nvSpPr>
          <p:cNvPr id="3" name="Content Placeholder 2">
            <a:extLst>
              <a:ext uri="{FF2B5EF4-FFF2-40B4-BE49-F238E27FC236}">
                <a16:creationId xmlns:a16="http://schemas.microsoft.com/office/drawing/2014/main" id="{77D47EC4-2691-A827-37EB-334A18461F38}"/>
              </a:ext>
            </a:extLst>
          </p:cNvPr>
          <p:cNvSpPr>
            <a:spLocks noGrp="1"/>
          </p:cNvSpPr>
          <p:nvPr>
            <p:ph idx="1"/>
          </p:nvPr>
        </p:nvSpPr>
        <p:spPr/>
        <p:txBody>
          <a:bodyPr/>
          <a:lstStyle/>
          <a:p>
            <a:pPr algn="l"/>
            <a:r>
              <a:rPr lang="en-US" sz="2200" dirty="0"/>
              <a:t>In order to convert an empty string to any string “</a:t>
            </a:r>
            <a:r>
              <a:rPr lang="en-US" sz="2200" dirty="0" err="1"/>
              <a:t>xyz</a:t>
            </a:r>
            <a:r>
              <a:rPr lang="en-US" sz="2200" dirty="0"/>
              <a:t>”, we essentially need to insert all the missing characters in our empty string. Hence, in order to convert an empty string to a string of length m, we need to do m insertions; hence our edit distance would become m.</a:t>
            </a:r>
          </a:p>
          <a:p>
            <a:pPr algn="l"/>
            <a:r>
              <a:rPr lang="en-US" sz="2200" dirty="0"/>
              <a:t>Similarly in order to convert a string of length m to an empty string “” we need to perform m number of deletions; hence our edit distance becomes m.</a:t>
            </a:r>
          </a:p>
          <a:p>
            <a:endParaRPr lang="en-IN" dirty="0"/>
          </a:p>
        </p:txBody>
      </p:sp>
    </p:spTree>
    <p:extLst>
      <p:ext uri="{BB962C8B-B14F-4D97-AF65-F5344CB8AC3E}">
        <p14:creationId xmlns:p14="http://schemas.microsoft.com/office/powerpoint/2010/main" val="3148689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B94D3-829F-3D17-FB35-32DBF143D226}"/>
              </a:ext>
            </a:extLst>
          </p:cNvPr>
          <p:cNvSpPr>
            <a:spLocks noGrp="1"/>
          </p:cNvSpPr>
          <p:nvPr>
            <p:ph type="title"/>
          </p:nvPr>
        </p:nvSpPr>
        <p:spPr/>
        <p:txBody>
          <a:bodyPr/>
          <a:lstStyle/>
          <a:p>
            <a:r>
              <a:rPr lang="en-IN" dirty="0"/>
              <a:t>Using Dynamic Programming</a:t>
            </a:r>
          </a:p>
        </p:txBody>
      </p:sp>
      <p:sp>
        <p:nvSpPr>
          <p:cNvPr id="3" name="Content Placeholder 2">
            <a:extLst>
              <a:ext uri="{FF2B5EF4-FFF2-40B4-BE49-F238E27FC236}">
                <a16:creationId xmlns:a16="http://schemas.microsoft.com/office/drawing/2014/main" id="{81289143-3E2B-894E-2CF9-30C1B1A51055}"/>
              </a:ext>
            </a:extLst>
          </p:cNvPr>
          <p:cNvSpPr>
            <a:spLocks noGrp="1"/>
          </p:cNvSpPr>
          <p:nvPr>
            <p:ph idx="1"/>
          </p:nvPr>
        </p:nvSpPr>
        <p:spPr/>
        <p:txBody>
          <a:bodyPr/>
          <a:lstStyle/>
          <a:p>
            <a:r>
              <a:rPr lang="en-US" sz="2200" dirty="0"/>
              <a:t>In Dynamic Programming algorithm we solve each sub problem just once and then save the answer in a table.</a:t>
            </a:r>
          </a:p>
          <a:p>
            <a:r>
              <a:rPr lang="en-US" sz="2200" dirty="0"/>
              <a:t>Steps</a:t>
            </a:r>
          </a:p>
          <a:p>
            <a:pPr lvl="1"/>
            <a:r>
              <a:rPr lang="en-US" sz="2000" dirty="0" err="1"/>
              <a:t>editDistance</a:t>
            </a:r>
            <a:r>
              <a:rPr lang="en-US" sz="2000" dirty="0"/>
              <a:t>(</a:t>
            </a:r>
            <a:r>
              <a:rPr lang="en-US" sz="2000" dirty="0" err="1"/>
              <a:t>X,Y,m,n,DP</a:t>
            </a:r>
            <a:r>
              <a:rPr lang="en-US" sz="2000" dirty="0"/>
              <a:t>) where X and Y are strings, m and n are length of X and Y respectively and DP is two dimensional matrix that has dimension of DP[m+1][n+1] and initialize it with -1.</a:t>
            </a:r>
          </a:p>
          <a:p>
            <a:pPr lvl="1"/>
            <a:r>
              <a:rPr lang="en-US" sz="2000" dirty="0"/>
              <a:t>Base Condition : if (m==0) return n and if(n==0) then return m.</a:t>
            </a:r>
          </a:p>
          <a:p>
            <a:pPr lvl="1"/>
            <a:r>
              <a:rPr lang="en-US" sz="2000" dirty="0"/>
              <a:t>Check if edit distance of current m and n values has already been calculated and stored at DP[</a:t>
            </a:r>
            <a:r>
              <a:rPr lang="en-US" sz="2000" dirty="0" err="1"/>
              <a:t>m,n</a:t>
            </a:r>
            <a:r>
              <a:rPr lang="en-US" sz="2000" dirty="0"/>
              <a:t>] then return the stored value i.e. if(DP[m][n]!=-1) return DP[m][n]</a:t>
            </a:r>
          </a:p>
          <a:p>
            <a:pPr lvl="1"/>
            <a:r>
              <a:rPr lang="en-US" sz="2000" dirty="0"/>
              <a:t>If (X[m-1]==Y[n-1]) we recursively call the </a:t>
            </a:r>
            <a:r>
              <a:rPr lang="en-US" sz="2000" dirty="0" err="1"/>
              <a:t>editDistance</a:t>
            </a:r>
            <a:r>
              <a:rPr lang="en-US" sz="2000" dirty="0"/>
              <a:t>(X,Y,m-1,n-1,DP) to compute the edit distance without considering the last character and will store DP[m][n].</a:t>
            </a:r>
          </a:p>
          <a:p>
            <a:pPr lvl="1"/>
            <a:endParaRPr lang="en-IN" sz="2000" dirty="0"/>
          </a:p>
        </p:txBody>
      </p:sp>
    </p:spTree>
    <p:extLst>
      <p:ext uri="{BB962C8B-B14F-4D97-AF65-F5344CB8AC3E}">
        <p14:creationId xmlns:p14="http://schemas.microsoft.com/office/powerpoint/2010/main" val="2606859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C6C4E-ECCD-AD8A-486C-46E790CCF0A0}"/>
              </a:ext>
            </a:extLst>
          </p:cNvPr>
          <p:cNvSpPr>
            <a:spLocks noGrp="1"/>
          </p:cNvSpPr>
          <p:nvPr>
            <p:ph type="title"/>
          </p:nvPr>
        </p:nvSpPr>
        <p:spPr/>
        <p:txBody>
          <a:bodyPr/>
          <a:lstStyle/>
          <a:p>
            <a:r>
              <a:rPr lang="en-IN" dirty="0"/>
              <a:t>Algorithm</a:t>
            </a:r>
          </a:p>
        </p:txBody>
      </p:sp>
      <p:sp>
        <p:nvSpPr>
          <p:cNvPr id="3" name="Content Placeholder 2">
            <a:extLst>
              <a:ext uri="{FF2B5EF4-FFF2-40B4-BE49-F238E27FC236}">
                <a16:creationId xmlns:a16="http://schemas.microsoft.com/office/drawing/2014/main" id="{1F6F7259-46FE-97D7-B50F-33E25497D393}"/>
              </a:ext>
            </a:extLst>
          </p:cNvPr>
          <p:cNvSpPr>
            <a:spLocks noGrp="1"/>
          </p:cNvSpPr>
          <p:nvPr>
            <p:ph idx="1"/>
          </p:nvPr>
        </p:nvSpPr>
        <p:spPr/>
        <p:txBody>
          <a:bodyPr/>
          <a:lstStyle/>
          <a:p>
            <a:r>
              <a:rPr lang="en-IN" dirty="0"/>
              <a:t>If(X[m-1]!=Y[n-1] then </a:t>
            </a:r>
          </a:p>
          <a:p>
            <a:pPr lvl="1"/>
            <a:r>
              <a:rPr lang="en-IN" dirty="0" err="1"/>
              <a:t>editDistance</a:t>
            </a:r>
            <a:r>
              <a:rPr lang="en-IN" dirty="0"/>
              <a:t>(X,Y,m,n-1,DP)</a:t>
            </a:r>
          </a:p>
          <a:p>
            <a:pPr lvl="1"/>
            <a:r>
              <a:rPr lang="en-IN" dirty="0" err="1"/>
              <a:t>editDistance</a:t>
            </a:r>
            <a:r>
              <a:rPr lang="en-IN" dirty="0"/>
              <a:t>(X,Y,m-1,n,DP)</a:t>
            </a:r>
          </a:p>
          <a:p>
            <a:pPr lvl="1"/>
            <a:r>
              <a:rPr lang="en-IN" dirty="0" err="1"/>
              <a:t>editDistance</a:t>
            </a:r>
            <a:r>
              <a:rPr lang="en-IN" dirty="0"/>
              <a:t>(X,Y,m-1,n-1,DP)</a:t>
            </a:r>
          </a:p>
          <a:p>
            <a:r>
              <a:rPr lang="en-IN" dirty="0"/>
              <a:t>Compute the minimum of above and add 1 because of the operation performed and store the result in DP[m][n]</a:t>
            </a:r>
          </a:p>
        </p:txBody>
      </p:sp>
    </p:spTree>
    <p:extLst>
      <p:ext uri="{BB962C8B-B14F-4D97-AF65-F5344CB8AC3E}">
        <p14:creationId xmlns:p14="http://schemas.microsoft.com/office/powerpoint/2010/main" val="1650857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6F719-9BA6-6D65-32A2-E0544483712F}"/>
              </a:ext>
            </a:extLst>
          </p:cNvPr>
          <p:cNvSpPr>
            <a:spLocks noGrp="1"/>
          </p:cNvSpPr>
          <p:nvPr>
            <p:ph type="title"/>
          </p:nvPr>
        </p:nvSpPr>
        <p:spPr/>
        <p:txBody>
          <a:bodyPr/>
          <a:lstStyle/>
          <a:p>
            <a:r>
              <a:rPr lang="en-IN" dirty="0"/>
              <a:t>Algorithm</a:t>
            </a:r>
          </a:p>
        </p:txBody>
      </p:sp>
      <p:sp>
        <p:nvSpPr>
          <p:cNvPr id="3" name="Content Placeholder 2">
            <a:extLst>
              <a:ext uri="{FF2B5EF4-FFF2-40B4-BE49-F238E27FC236}">
                <a16:creationId xmlns:a16="http://schemas.microsoft.com/office/drawing/2014/main" id="{69BEA905-77A3-B967-7EA5-DC81C345B01F}"/>
              </a:ext>
            </a:extLst>
          </p:cNvPr>
          <p:cNvSpPr>
            <a:spLocks noGrp="1"/>
          </p:cNvSpPr>
          <p:nvPr>
            <p:ph idx="1"/>
          </p:nvPr>
        </p:nvSpPr>
        <p:spPr/>
        <p:txBody>
          <a:bodyPr>
            <a:normAutofit fontScale="92500" lnSpcReduction="20000"/>
          </a:bodyPr>
          <a:lstStyle/>
          <a:p>
            <a:pPr marL="0" indent="0">
              <a:buNone/>
            </a:pPr>
            <a:r>
              <a:rPr lang="en-IN" dirty="0" err="1"/>
              <a:t>editDistance</a:t>
            </a:r>
            <a:r>
              <a:rPr lang="en-IN" dirty="0"/>
              <a:t>(</a:t>
            </a:r>
            <a:r>
              <a:rPr lang="en-IN" dirty="0" err="1"/>
              <a:t>X,Y,m,n</a:t>
            </a:r>
            <a:r>
              <a:rPr lang="en-IN" dirty="0"/>
              <a:t>, DP)</a:t>
            </a:r>
          </a:p>
          <a:p>
            <a:pPr marL="0" indent="0">
              <a:buNone/>
            </a:pPr>
            <a:r>
              <a:rPr lang="en-IN" dirty="0"/>
              <a:t>{</a:t>
            </a:r>
          </a:p>
          <a:p>
            <a:pPr marL="0" indent="0">
              <a:buNone/>
            </a:pPr>
            <a:r>
              <a:rPr lang="en-IN" dirty="0"/>
              <a:t>	if(m==0)</a:t>
            </a:r>
          </a:p>
          <a:p>
            <a:pPr marL="0" indent="0">
              <a:buNone/>
            </a:pPr>
            <a:r>
              <a:rPr lang="en-IN" dirty="0"/>
              <a:t>		return n</a:t>
            </a:r>
          </a:p>
          <a:p>
            <a:pPr marL="0" indent="0">
              <a:buNone/>
            </a:pPr>
            <a:r>
              <a:rPr lang="en-IN" dirty="0"/>
              <a:t>	if(n==0)</a:t>
            </a:r>
          </a:p>
          <a:p>
            <a:pPr marL="0" indent="0">
              <a:buNone/>
            </a:pPr>
            <a:r>
              <a:rPr lang="en-IN" dirty="0"/>
              <a:t>		return m</a:t>
            </a:r>
          </a:p>
          <a:p>
            <a:pPr marL="0" indent="0">
              <a:buNone/>
            </a:pPr>
            <a:r>
              <a:rPr lang="en-IN" dirty="0"/>
              <a:t>	if(DP[m][n]!=-1)</a:t>
            </a:r>
          </a:p>
          <a:p>
            <a:pPr marL="0" indent="0">
              <a:buNone/>
            </a:pPr>
            <a:r>
              <a:rPr lang="en-IN" dirty="0"/>
              <a:t>		return DP[m][n]</a:t>
            </a:r>
          </a:p>
          <a:p>
            <a:pPr marL="0" indent="0">
              <a:buNone/>
            </a:pPr>
            <a:r>
              <a:rPr lang="en-IN" dirty="0"/>
              <a:t>	if(X[m-1]==Y[n-1])</a:t>
            </a:r>
          </a:p>
          <a:p>
            <a:pPr marL="0" indent="0">
              <a:buNone/>
            </a:pPr>
            <a:r>
              <a:rPr lang="en-IN" dirty="0"/>
              <a:t>		DP[][]=</a:t>
            </a:r>
            <a:r>
              <a:rPr lang="en-IN" dirty="0" err="1"/>
              <a:t>editDistance</a:t>
            </a:r>
            <a:r>
              <a:rPr lang="en-IN" dirty="0"/>
              <a:t>(X,Y,m-1,n-1,DP)</a:t>
            </a:r>
          </a:p>
        </p:txBody>
      </p:sp>
      <p:sp>
        <p:nvSpPr>
          <p:cNvPr id="5" name="TextBox 4">
            <a:extLst>
              <a:ext uri="{FF2B5EF4-FFF2-40B4-BE49-F238E27FC236}">
                <a16:creationId xmlns:a16="http://schemas.microsoft.com/office/drawing/2014/main" id="{914D8EE1-2604-D010-0949-D782C36021CB}"/>
              </a:ext>
            </a:extLst>
          </p:cNvPr>
          <p:cNvSpPr txBox="1"/>
          <p:nvPr/>
        </p:nvSpPr>
        <p:spPr>
          <a:xfrm>
            <a:off x="5958349" y="1997248"/>
            <a:ext cx="6096000" cy="2031325"/>
          </a:xfrm>
          <a:prstGeom prst="rect">
            <a:avLst/>
          </a:prstGeom>
          <a:noFill/>
        </p:spPr>
        <p:txBody>
          <a:bodyPr wrap="square">
            <a:spAutoFit/>
          </a:bodyPr>
          <a:lstStyle/>
          <a:p>
            <a:pPr marL="0" indent="0">
              <a:buNone/>
            </a:pPr>
            <a:r>
              <a:rPr lang="en-IN" dirty="0"/>
              <a:t>else</a:t>
            </a:r>
          </a:p>
          <a:p>
            <a:pPr marL="0" indent="0">
              <a:buNone/>
            </a:pPr>
            <a:r>
              <a:rPr lang="en-IN" dirty="0"/>
              <a:t>{</a:t>
            </a:r>
          </a:p>
          <a:p>
            <a:pPr marL="0" indent="0">
              <a:buNone/>
            </a:pPr>
            <a:r>
              <a:rPr lang="en-IN" dirty="0"/>
              <a:t>	</a:t>
            </a:r>
            <a:r>
              <a:rPr lang="en-IN" dirty="0" err="1"/>
              <a:t>dp</a:t>
            </a:r>
            <a:r>
              <a:rPr lang="en-IN" dirty="0"/>
              <a:t>[][]=1+min({</a:t>
            </a:r>
            <a:r>
              <a:rPr lang="en-IN" dirty="0" err="1"/>
              <a:t>editDistance</a:t>
            </a:r>
            <a:r>
              <a:rPr lang="en-IN" dirty="0"/>
              <a:t>(X,Y,m,n-1,DP),</a:t>
            </a:r>
          </a:p>
          <a:p>
            <a:pPr marL="0" indent="0">
              <a:buNone/>
            </a:pPr>
            <a:r>
              <a:rPr lang="en-IN" dirty="0"/>
              <a:t>		min(</a:t>
            </a:r>
            <a:r>
              <a:rPr lang="en-IN" dirty="0" err="1"/>
              <a:t>editDistance</a:t>
            </a:r>
            <a:r>
              <a:rPr lang="en-IN" dirty="0"/>
              <a:t>(X,Y,m-1,n,DP), </a:t>
            </a:r>
          </a:p>
          <a:p>
            <a:pPr marL="0" indent="0">
              <a:buNone/>
            </a:pPr>
            <a:r>
              <a:rPr lang="en-IN" dirty="0"/>
              <a:t>		min(</a:t>
            </a:r>
            <a:r>
              <a:rPr lang="en-IN" dirty="0" err="1"/>
              <a:t>editDistance</a:t>
            </a:r>
            <a:r>
              <a:rPr lang="en-IN" dirty="0"/>
              <a:t>(X,Y,m-1,n-1,DP)})</a:t>
            </a:r>
          </a:p>
          <a:p>
            <a:pPr marL="0" indent="0">
              <a:buNone/>
            </a:pPr>
            <a:r>
              <a:rPr lang="en-IN" dirty="0"/>
              <a:t>}</a:t>
            </a:r>
          </a:p>
          <a:p>
            <a:pPr marL="0" indent="0">
              <a:buNone/>
            </a:pPr>
            <a:r>
              <a:rPr lang="en-IN" dirty="0"/>
              <a:t>return DP[m][n] </a:t>
            </a:r>
          </a:p>
        </p:txBody>
      </p:sp>
    </p:spTree>
    <p:extLst>
      <p:ext uri="{BB962C8B-B14F-4D97-AF65-F5344CB8AC3E}">
        <p14:creationId xmlns:p14="http://schemas.microsoft.com/office/powerpoint/2010/main" val="701913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3678D-C488-FCD2-919E-01FE6DF8F3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D9D3C6E-91D5-9C34-49C3-0B39547E214A}"/>
              </a:ext>
            </a:extLst>
          </p:cNvPr>
          <p:cNvSpPr>
            <a:spLocks noGrp="1"/>
          </p:cNvSpPr>
          <p:nvPr>
            <p:ph idx="1"/>
          </p:nvPr>
        </p:nvSpPr>
        <p:spPr/>
        <p:txBody>
          <a:bodyPr>
            <a:normAutofit/>
          </a:bodyPr>
          <a:lstStyle/>
          <a:p>
            <a:r>
              <a:rPr lang="en-US" sz="2200" dirty="0"/>
              <a:t>Writing all the characters in our strings. Put the string to be changed in the horizontal axis and the source string on the vertical axis.</a:t>
            </a:r>
          </a:p>
          <a:p>
            <a:r>
              <a:rPr lang="en-US" sz="2200" dirty="0"/>
              <a:t>Fill base case values.</a:t>
            </a:r>
          </a:p>
          <a:p>
            <a:endParaRPr lang="en-US" b="0" i="0" dirty="0">
              <a:solidFill>
                <a:srgbClr val="242424"/>
              </a:solidFill>
              <a:effectLst/>
              <a:latin typeface="source-serif-pro"/>
            </a:endParaRPr>
          </a:p>
          <a:p>
            <a:endParaRPr lang="en-US" dirty="0">
              <a:solidFill>
                <a:srgbClr val="242424"/>
              </a:solidFill>
              <a:latin typeface="source-serif-pro"/>
            </a:endParaRPr>
          </a:p>
          <a:p>
            <a:endParaRPr lang="en-US" b="0" i="0" dirty="0">
              <a:solidFill>
                <a:srgbClr val="242424"/>
              </a:solidFill>
              <a:effectLst/>
              <a:latin typeface="source-serif-pro"/>
            </a:endParaRPr>
          </a:p>
          <a:p>
            <a:endParaRPr lang="en-US" dirty="0">
              <a:solidFill>
                <a:srgbClr val="242424"/>
              </a:solidFill>
              <a:latin typeface="source-serif-pro"/>
            </a:endParaRPr>
          </a:p>
          <a:p>
            <a:endParaRPr lang="en-IN" dirty="0"/>
          </a:p>
        </p:txBody>
      </p:sp>
      <p:pic>
        <p:nvPicPr>
          <p:cNvPr id="6146" name="Picture 2">
            <a:extLst>
              <a:ext uri="{FF2B5EF4-FFF2-40B4-BE49-F238E27FC236}">
                <a16:creationId xmlns:a16="http://schemas.microsoft.com/office/drawing/2014/main" id="{64B64155-BCC3-AAE1-29A9-890D60084E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9325" y="2341983"/>
            <a:ext cx="2460521" cy="3352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0114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177" name="Rectangle 7176">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179" name="Rectangle 7178">
            <a:extLst>
              <a:ext uri="{FF2B5EF4-FFF2-40B4-BE49-F238E27FC236}">
                <a16:creationId xmlns:a16="http://schemas.microsoft.com/office/drawing/2014/main" id="{1335D9B3-B2C5-40E1-BFF9-E01D0DB42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52BBA5-0F76-AEAB-43C9-B14B66CA6B85}"/>
              </a:ext>
            </a:extLst>
          </p:cNvPr>
          <p:cNvSpPr>
            <a:spLocks noGrp="1"/>
          </p:cNvSpPr>
          <p:nvPr>
            <p:ph type="title"/>
          </p:nvPr>
        </p:nvSpPr>
        <p:spPr>
          <a:xfrm>
            <a:off x="422900" y="540167"/>
            <a:ext cx="4028783" cy="2135867"/>
          </a:xfrm>
        </p:spPr>
        <p:txBody>
          <a:bodyPr anchor="b">
            <a:normAutofit/>
          </a:bodyPr>
          <a:lstStyle/>
          <a:p>
            <a:endParaRPr lang="en-IN" sz="4800">
              <a:solidFill>
                <a:schemeClr val="tx1"/>
              </a:solidFill>
            </a:endParaRPr>
          </a:p>
        </p:txBody>
      </p:sp>
      <p:sp>
        <p:nvSpPr>
          <p:cNvPr id="3" name="Content Placeholder 2">
            <a:extLst>
              <a:ext uri="{FF2B5EF4-FFF2-40B4-BE49-F238E27FC236}">
                <a16:creationId xmlns:a16="http://schemas.microsoft.com/office/drawing/2014/main" id="{CEEF413B-3F0F-94DF-0E7B-726B75EA6A17}"/>
              </a:ext>
            </a:extLst>
          </p:cNvPr>
          <p:cNvSpPr>
            <a:spLocks noGrp="1"/>
          </p:cNvSpPr>
          <p:nvPr>
            <p:ph idx="1"/>
          </p:nvPr>
        </p:nvSpPr>
        <p:spPr>
          <a:xfrm>
            <a:off x="422900" y="2880452"/>
            <a:ext cx="4028783" cy="3095445"/>
          </a:xfrm>
        </p:spPr>
        <p:txBody>
          <a:bodyPr anchor="t">
            <a:normAutofit/>
          </a:bodyPr>
          <a:lstStyle/>
          <a:p>
            <a:pPr algn="just"/>
            <a:r>
              <a:rPr lang="en-US" sz="2200" dirty="0"/>
              <a:t>Edit distance to convert any string to an empty string is the length of the string itself. So, the edit distance to convert “B” to empty string is 1; to convert “BI” to empty string is 2 and so on.</a:t>
            </a:r>
          </a:p>
          <a:p>
            <a:endParaRPr lang="en-IN" sz="1800" dirty="0">
              <a:solidFill>
                <a:schemeClr val="tx1"/>
              </a:solidFill>
            </a:endParaRPr>
          </a:p>
        </p:txBody>
      </p:sp>
      <p:sp>
        <p:nvSpPr>
          <p:cNvPr id="7181" name="Rectangle 7180">
            <a:extLst>
              <a:ext uri="{FF2B5EF4-FFF2-40B4-BE49-F238E27FC236}">
                <a16:creationId xmlns:a16="http://schemas.microsoft.com/office/drawing/2014/main" id="{6D95061B-ADFC-4592-8BB1-0D542F6F64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042523" y="6081915"/>
            <a:ext cx="6460098" cy="781696"/>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7170" name="Picture 2">
            <a:extLst>
              <a:ext uri="{FF2B5EF4-FFF2-40B4-BE49-F238E27FC236}">
                <a16:creationId xmlns:a16="http://schemas.microsoft.com/office/drawing/2014/main" id="{BF6F4AE3-2DAF-6075-90C5-D582E7D812A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36801" y="1850770"/>
            <a:ext cx="6460089" cy="4312109"/>
          </a:xfrm>
          <a:prstGeom prst="rect">
            <a:avLst/>
          </a:prstGeom>
          <a:noFill/>
          <a:extLst>
            <a:ext uri="{909E8E84-426E-40DD-AFC4-6F175D3DCCD1}">
              <a14:hiddenFill xmlns:a14="http://schemas.microsoft.com/office/drawing/2010/main">
                <a:solidFill>
                  <a:srgbClr val="FFFFFF"/>
                </a:solidFill>
              </a14:hiddenFill>
            </a:ext>
          </a:extLst>
        </p:spPr>
      </p:pic>
      <p:cxnSp>
        <p:nvCxnSpPr>
          <p:cNvPr id="7183" name="Straight Connector 7182">
            <a:extLst>
              <a:ext uri="{FF2B5EF4-FFF2-40B4-BE49-F238E27FC236}">
                <a16:creationId xmlns:a16="http://schemas.microsoft.com/office/drawing/2014/main" id="{2B67C3E3-D148-40AD-9F4C-431AA28AC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7278EC"/>
            </a:solidFill>
            <a:prstDash val="dash"/>
          </a:ln>
        </p:spPr>
        <p:style>
          <a:lnRef idx="1">
            <a:schemeClr val="accent1"/>
          </a:lnRef>
          <a:fillRef idx="0">
            <a:schemeClr val="accent1"/>
          </a:fillRef>
          <a:effectRef idx="0">
            <a:schemeClr val="accent1"/>
          </a:effectRef>
          <a:fontRef idx="minor">
            <a:schemeClr val="tx1"/>
          </a:fontRef>
        </p:style>
      </p:cxnSp>
      <p:cxnSp>
        <p:nvCxnSpPr>
          <p:cNvPr id="7185" name="Straight Connector 7184">
            <a:extLst>
              <a:ext uri="{FF2B5EF4-FFF2-40B4-BE49-F238E27FC236}">
                <a16:creationId xmlns:a16="http://schemas.microsoft.com/office/drawing/2014/main" id="{C30DD030-ACB5-4C2C-AD03-51D52E277D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7278EC"/>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696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9" name="Rectangle 8198">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201" name="Rectangle 8200">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203" name="Rectangle 8202">
            <a:extLst>
              <a:ext uri="{FF2B5EF4-FFF2-40B4-BE49-F238E27FC236}">
                <a16:creationId xmlns:a16="http://schemas.microsoft.com/office/drawing/2014/main" id="{1335D9B3-B2C5-40E1-BFF9-E01D0DB42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793497-3023-137E-4451-C202A1B238B3}"/>
              </a:ext>
            </a:extLst>
          </p:cNvPr>
          <p:cNvSpPr>
            <a:spLocks noGrp="1"/>
          </p:cNvSpPr>
          <p:nvPr>
            <p:ph type="title"/>
          </p:nvPr>
        </p:nvSpPr>
        <p:spPr>
          <a:xfrm>
            <a:off x="422900" y="540167"/>
            <a:ext cx="4028783" cy="2135867"/>
          </a:xfrm>
        </p:spPr>
        <p:txBody>
          <a:bodyPr anchor="b">
            <a:normAutofit/>
          </a:bodyPr>
          <a:lstStyle/>
          <a:p>
            <a:endParaRPr lang="en-IN" sz="4800">
              <a:solidFill>
                <a:schemeClr val="tx1"/>
              </a:solidFill>
            </a:endParaRPr>
          </a:p>
        </p:txBody>
      </p:sp>
      <p:sp>
        <p:nvSpPr>
          <p:cNvPr id="3" name="Content Placeholder 2">
            <a:extLst>
              <a:ext uri="{FF2B5EF4-FFF2-40B4-BE49-F238E27FC236}">
                <a16:creationId xmlns:a16="http://schemas.microsoft.com/office/drawing/2014/main" id="{71FC536B-8C20-B746-25AD-42B2AD15C3BB}"/>
              </a:ext>
            </a:extLst>
          </p:cNvPr>
          <p:cNvSpPr>
            <a:spLocks noGrp="1"/>
          </p:cNvSpPr>
          <p:nvPr>
            <p:ph idx="1"/>
          </p:nvPr>
        </p:nvSpPr>
        <p:spPr>
          <a:xfrm>
            <a:off x="422900" y="2880452"/>
            <a:ext cx="4028783" cy="3095445"/>
          </a:xfrm>
        </p:spPr>
        <p:txBody>
          <a:bodyPr anchor="t">
            <a:normAutofit/>
          </a:bodyPr>
          <a:lstStyle/>
          <a:p>
            <a:pPr algn="just"/>
            <a:r>
              <a:rPr lang="en-US" sz="2200" dirty="0"/>
              <a:t>Similarly, to convert an empty string to a string of length m, we would need m insertions. Thus, to convert an empty string to “HEA” the distance is 3; to convert to “HE” the distance is 2 and so on.</a:t>
            </a:r>
            <a:endParaRPr lang="en-IN" sz="2200" dirty="0"/>
          </a:p>
        </p:txBody>
      </p:sp>
      <p:sp>
        <p:nvSpPr>
          <p:cNvPr id="8205" name="Rectangle 8204">
            <a:extLst>
              <a:ext uri="{FF2B5EF4-FFF2-40B4-BE49-F238E27FC236}">
                <a16:creationId xmlns:a16="http://schemas.microsoft.com/office/drawing/2014/main" id="{6D95061B-ADFC-4592-8BB1-0D542F6F64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042523" y="6081915"/>
            <a:ext cx="6460098" cy="781696"/>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8194" name="Picture 2">
            <a:extLst>
              <a:ext uri="{FF2B5EF4-FFF2-40B4-BE49-F238E27FC236}">
                <a16:creationId xmlns:a16="http://schemas.microsoft.com/office/drawing/2014/main" id="{A56E5CA6-A3A1-F925-B93F-B2F094DFA06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36801" y="1753868"/>
            <a:ext cx="6460089" cy="4409010"/>
          </a:xfrm>
          <a:prstGeom prst="rect">
            <a:avLst/>
          </a:prstGeom>
          <a:noFill/>
          <a:extLst>
            <a:ext uri="{909E8E84-426E-40DD-AFC4-6F175D3DCCD1}">
              <a14:hiddenFill xmlns:a14="http://schemas.microsoft.com/office/drawing/2010/main">
                <a:solidFill>
                  <a:srgbClr val="FFFFFF"/>
                </a:solidFill>
              </a14:hiddenFill>
            </a:ext>
          </a:extLst>
        </p:spPr>
      </p:pic>
      <p:cxnSp>
        <p:nvCxnSpPr>
          <p:cNvPr id="8207" name="Straight Connector 8206">
            <a:extLst>
              <a:ext uri="{FF2B5EF4-FFF2-40B4-BE49-F238E27FC236}">
                <a16:creationId xmlns:a16="http://schemas.microsoft.com/office/drawing/2014/main" id="{2B67C3E3-D148-40AD-9F4C-431AA28AC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5059CB"/>
            </a:solidFill>
            <a:prstDash val="dash"/>
          </a:ln>
        </p:spPr>
        <p:style>
          <a:lnRef idx="1">
            <a:schemeClr val="accent1"/>
          </a:lnRef>
          <a:fillRef idx="0">
            <a:schemeClr val="accent1"/>
          </a:fillRef>
          <a:effectRef idx="0">
            <a:schemeClr val="accent1"/>
          </a:effectRef>
          <a:fontRef idx="minor">
            <a:schemeClr val="tx1"/>
          </a:fontRef>
        </p:style>
      </p:cxnSp>
      <p:cxnSp>
        <p:nvCxnSpPr>
          <p:cNvPr id="8209" name="Straight Connector 8208">
            <a:extLst>
              <a:ext uri="{FF2B5EF4-FFF2-40B4-BE49-F238E27FC236}">
                <a16:creationId xmlns:a16="http://schemas.microsoft.com/office/drawing/2014/main" id="{C30DD030-ACB5-4C2C-AD03-51D52E277D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5059CB"/>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219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25" name="Rectangle 9224">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27" name="Rectangle 9226">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5492DA">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9229" name="Rectangle 9228">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CFEFF1-2C11-DBC6-9277-8A784C637282}"/>
              </a:ext>
            </a:extLst>
          </p:cNvPr>
          <p:cNvSpPr>
            <a:spLocks noGrp="1"/>
          </p:cNvSpPr>
          <p:nvPr>
            <p:ph type="title"/>
          </p:nvPr>
        </p:nvSpPr>
        <p:spPr>
          <a:xfrm>
            <a:off x="5132026" y="540167"/>
            <a:ext cx="5828376" cy="2135867"/>
          </a:xfrm>
        </p:spPr>
        <p:txBody>
          <a:bodyPr anchor="b">
            <a:normAutofit/>
          </a:bodyPr>
          <a:lstStyle/>
          <a:p>
            <a:endParaRPr lang="en-IN" sz="4800">
              <a:solidFill>
                <a:schemeClr val="tx1"/>
              </a:solidFill>
            </a:endParaRPr>
          </a:p>
        </p:txBody>
      </p:sp>
      <p:pic>
        <p:nvPicPr>
          <p:cNvPr id="9218" name="Picture 2">
            <a:extLst>
              <a:ext uri="{FF2B5EF4-FFF2-40B4-BE49-F238E27FC236}">
                <a16:creationId xmlns:a16="http://schemas.microsoft.com/office/drawing/2014/main" id="{8A455926-C901-481F-028C-5048DD29FF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5" r="3" b="3"/>
          <a:stretch/>
        </p:blipFill>
        <p:spPr bwMode="auto">
          <a:xfrm>
            <a:off x="413003" y="685800"/>
            <a:ext cx="4073933" cy="54864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0D68F91-9780-749E-65CC-5C446A87F5CC}"/>
              </a:ext>
            </a:extLst>
          </p:cNvPr>
          <p:cNvSpPr>
            <a:spLocks noGrp="1"/>
          </p:cNvSpPr>
          <p:nvPr>
            <p:ph idx="1"/>
          </p:nvPr>
        </p:nvSpPr>
        <p:spPr>
          <a:xfrm>
            <a:off x="5132026" y="2860788"/>
            <a:ext cx="5828376" cy="3095445"/>
          </a:xfrm>
        </p:spPr>
        <p:txBody>
          <a:bodyPr anchor="t">
            <a:normAutofit fontScale="77500" lnSpcReduction="20000"/>
          </a:bodyPr>
          <a:lstStyle/>
          <a:p>
            <a:pPr algn="just">
              <a:lnSpc>
                <a:spcPct val="110000"/>
              </a:lnSpc>
            </a:pPr>
            <a:r>
              <a:rPr lang="en-US" sz="2200" dirty="0"/>
              <a:t>Consider the next case where we have to convert “B” to “H”. Here we will perform a simple replace operation. We want to take the minimum of these operations and add one when there is a mismatch. So, in the table, we will just take the minimum value between cells [i-1,j], [i-1, j-1] and [</a:t>
            </a:r>
            <a:r>
              <a:rPr lang="en-US" sz="2200" dirty="0" err="1"/>
              <a:t>i</a:t>
            </a:r>
            <a:r>
              <a:rPr lang="en-US" sz="2200" dirty="0"/>
              <a:t>, j-1] and add one. In this case, we take 0 from diagonal cell and add one i.e. we performed a replace operation.</a:t>
            </a:r>
          </a:p>
          <a:p>
            <a:pPr algn="just">
              <a:lnSpc>
                <a:spcPct val="110000"/>
              </a:lnSpc>
            </a:pPr>
            <a:r>
              <a:rPr lang="en-US" sz="2200" dirty="0"/>
              <a:t>When the two characters match, we simply take the value of the [i-1,j-1] cell and place it in the place without any incrementation.</a:t>
            </a:r>
            <a:endParaRPr lang="en-IN" sz="2200" dirty="0"/>
          </a:p>
        </p:txBody>
      </p:sp>
      <p:cxnSp>
        <p:nvCxnSpPr>
          <p:cNvPr id="9231" name="Straight Connector 9230">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5492DA"/>
            </a:solidFill>
            <a:prstDash val="dash"/>
          </a:ln>
        </p:spPr>
        <p:style>
          <a:lnRef idx="1">
            <a:schemeClr val="accent1"/>
          </a:lnRef>
          <a:fillRef idx="0">
            <a:schemeClr val="accent1"/>
          </a:fillRef>
          <a:effectRef idx="0">
            <a:schemeClr val="accent1"/>
          </a:effectRef>
          <a:fontRef idx="minor">
            <a:schemeClr val="tx1"/>
          </a:fontRef>
        </p:style>
      </p:cxnSp>
      <p:cxnSp>
        <p:nvCxnSpPr>
          <p:cNvPr id="9233" name="Straight Connector 9232">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5492DA"/>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9079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5C4B5-5546-7B1A-6DA9-D830B90778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9A367D-2644-CAFE-2E30-0469AEE5A618}"/>
              </a:ext>
            </a:extLst>
          </p:cNvPr>
          <p:cNvSpPr>
            <a:spLocks noGrp="1"/>
          </p:cNvSpPr>
          <p:nvPr>
            <p:ph idx="1"/>
          </p:nvPr>
        </p:nvSpPr>
        <p:spPr/>
        <p:txBody>
          <a:bodyPr/>
          <a:lstStyle/>
          <a:p>
            <a:r>
              <a:rPr lang="en-IN" dirty="0"/>
              <a:t>After filling up the table</a:t>
            </a:r>
          </a:p>
        </p:txBody>
      </p:sp>
      <p:pic>
        <p:nvPicPr>
          <p:cNvPr id="10242" name="Picture 2">
            <a:extLst>
              <a:ext uri="{FF2B5EF4-FFF2-40B4-BE49-F238E27FC236}">
                <a16:creationId xmlns:a16="http://schemas.microsoft.com/office/drawing/2014/main" id="{F0B7085D-F088-0401-4F71-580995DC9C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25625"/>
            <a:ext cx="3438525"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771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83" name="Rectangle 11270">
            <a:extLst>
              <a:ext uri="{FF2B5EF4-FFF2-40B4-BE49-F238E27FC236}">
                <a16:creationId xmlns:a16="http://schemas.microsoft.com/office/drawing/2014/main" id="{3A2DC49B-D61A-403C-A0C2-61E1F9E5E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284" name="Rectangle 11272">
            <a:extLst>
              <a:ext uri="{FF2B5EF4-FFF2-40B4-BE49-F238E27FC236}">
                <a16:creationId xmlns:a16="http://schemas.microsoft.com/office/drawing/2014/main" id="{5FDB116B-0A77-4678-89C9-93F73F8A8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14198"/>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285" name="Rectangle 11274">
            <a:extLst>
              <a:ext uri="{FF2B5EF4-FFF2-40B4-BE49-F238E27FC236}">
                <a16:creationId xmlns:a16="http://schemas.microsoft.com/office/drawing/2014/main" id="{945295E5-34CF-4AEF-8F16-536607D46C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019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905A1C-E623-5744-FDED-EDEB85CEF762}"/>
              </a:ext>
            </a:extLst>
          </p:cNvPr>
          <p:cNvSpPr>
            <a:spLocks noGrp="1"/>
          </p:cNvSpPr>
          <p:nvPr>
            <p:ph type="title"/>
          </p:nvPr>
        </p:nvSpPr>
        <p:spPr>
          <a:xfrm>
            <a:off x="422900" y="540168"/>
            <a:ext cx="5370576" cy="944504"/>
          </a:xfrm>
        </p:spPr>
        <p:txBody>
          <a:bodyPr anchor="b">
            <a:normAutofit/>
          </a:bodyPr>
          <a:lstStyle/>
          <a:p>
            <a:r>
              <a:rPr lang="en-IN" sz="4800" dirty="0">
                <a:solidFill>
                  <a:schemeClr val="tx1"/>
                </a:solidFill>
              </a:rPr>
              <a:t>Getting the result</a:t>
            </a:r>
          </a:p>
        </p:txBody>
      </p:sp>
      <p:sp>
        <p:nvSpPr>
          <p:cNvPr id="3" name="Content Placeholder 2">
            <a:extLst>
              <a:ext uri="{FF2B5EF4-FFF2-40B4-BE49-F238E27FC236}">
                <a16:creationId xmlns:a16="http://schemas.microsoft.com/office/drawing/2014/main" id="{A0BC74D2-991D-4AF0-2265-B46FE01B431C}"/>
              </a:ext>
            </a:extLst>
          </p:cNvPr>
          <p:cNvSpPr>
            <a:spLocks noGrp="1"/>
          </p:cNvSpPr>
          <p:nvPr>
            <p:ph idx="1"/>
          </p:nvPr>
        </p:nvSpPr>
        <p:spPr>
          <a:xfrm>
            <a:off x="422900" y="1624694"/>
            <a:ext cx="5370576" cy="5051408"/>
          </a:xfrm>
        </p:spPr>
        <p:txBody>
          <a:bodyPr anchor="t">
            <a:normAutofit/>
          </a:bodyPr>
          <a:lstStyle/>
          <a:p>
            <a:pPr>
              <a:lnSpc>
                <a:spcPct val="90000"/>
              </a:lnSpc>
            </a:pPr>
            <a:r>
              <a:rPr lang="en-US" sz="1600" b="0" i="0" dirty="0">
                <a:solidFill>
                  <a:schemeClr val="tx1"/>
                </a:solidFill>
                <a:effectLst/>
                <a:latin typeface="source-serif-pro"/>
              </a:rPr>
              <a:t>We start with cell [5,4] where our value is 3 with a diagonal arrow. But since the characters at those positions are the same, we don’t need to perform an operation. Hence we simply move to cell [4,3]</a:t>
            </a:r>
          </a:p>
          <a:p>
            <a:pPr>
              <a:lnSpc>
                <a:spcPct val="90000"/>
              </a:lnSpc>
            </a:pPr>
            <a:r>
              <a:rPr lang="en-US" sz="1600" b="0" i="0" dirty="0">
                <a:solidFill>
                  <a:schemeClr val="tx1"/>
                </a:solidFill>
                <a:effectLst/>
                <a:latin typeface="source-serif-pro"/>
              </a:rPr>
              <a:t>In cell [4,3] we also have a matching set of characters so we move to [3,2] without doing anything.</a:t>
            </a:r>
          </a:p>
          <a:p>
            <a:pPr>
              <a:lnSpc>
                <a:spcPct val="90000"/>
              </a:lnSpc>
            </a:pPr>
            <a:r>
              <a:rPr lang="en-US" sz="1600" b="0" i="0" dirty="0">
                <a:solidFill>
                  <a:schemeClr val="tx1"/>
                </a:solidFill>
                <a:effectLst/>
                <a:latin typeface="source-serif-pro"/>
              </a:rPr>
              <a:t>At [3,2] we have mismatched characters with a diagonal arrow indicating a replacement operation. Hence, we replace ‘I’ in ‘BIRD’ with ‘A’ and again follow the arrow.</a:t>
            </a:r>
          </a:p>
          <a:p>
            <a:pPr>
              <a:lnSpc>
                <a:spcPct val="90000"/>
              </a:lnSpc>
            </a:pPr>
            <a:r>
              <a:rPr lang="en-US" sz="1600" b="0" i="0" dirty="0">
                <a:solidFill>
                  <a:schemeClr val="tx1"/>
                </a:solidFill>
                <a:effectLst/>
                <a:latin typeface="source-serif-pro"/>
              </a:rPr>
              <a:t>At [2,1] we again have mismatched characters similar to point 3 so we simply replace ‘B’ with ‘E’ and move forward.</a:t>
            </a:r>
          </a:p>
          <a:p>
            <a:pPr>
              <a:lnSpc>
                <a:spcPct val="90000"/>
              </a:lnSpc>
            </a:pPr>
            <a:r>
              <a:rPr lang="en-US" sz="1600" b="0" i="0">
                <a:solidFill>
                  <a:schemeClr val="tx1"/>
                </a:solidFill>
                <a:effectLst/>
                <a:latin typeface="source-serif-pro"/>
              </a:rPr>
              <a:t>At </a:t>
            </a:r>
            <a:r>
              <a:rPr lang="en-US" sz="1600" b="0" i="0" dirty="0">
                <a:solidFill>
                  <a:schemeClr val="tx1"/>
                </a:solidFill>
                <a:effectLst/>
                <a:latin typeface="source-serif-pro"/>
              </a:rPr>
              <a:t>[1,0] we have an upwards arrow meaning insertion. Hence we insert ‘H’ at the beginning of our string then we’ll finally have ‘HEARD’.</a:t>
            </a:r>
          </a:p>
          <a:p>
            <a:pPr>
              <a:lnSpc>
                <a:spcPct val="90000"/>
              </a:lnSpc>
            </a:pPr>
            <a:endParaRPr lang="en-IN" sz="1600" dirty="0">
              <a:solidFill>
                <a:schemeClr val="tx1"/>
              </a:solidFill>
            </a:endParaRPr>
          </a:p>
        </p:txBody>
      </p:sp>
      <p:sp>
        <p:nvSpPr>
          <p:cNvPr id="11286" name="Rectangle 11276">
            <a:extLst>
              <a:ext uri="{FF2B5EF4-FFF2-40B4-BE49-F238E27FC236}">
                <a16:creationId xmlns:a16="http://schemas.microsoft.com/office/drawing/2014/main" id="{0888C27D-5B01-459C-AD27-511C9689F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94658" y="6172199"/>
            <a:ext cx="697342" cy="685800"/>
          </a:xfrm>
          <a:prstGeom prst="rect">
            <a:avLst/>
          </a:prstGeom>
          <a:solidFill>
            <a:srgbClr val="E8A050">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cxnSp>
        <p:nvCxnSpPr>
          <p:cNvPr id="11287" name="Straight Connector 11278">
            <a:extLst>
              <a:ext uri="{FF2B5EF4-FFF2-40B4-BE49-F238E27FC236}">
                <a16:creationId xmlns:a16="http://schemas.microsoft.com/office/drawing/2014/main" id="{7DBDB75C-8DE5-4ABB-B562-3B34BC5521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E8A050"/>
            </a:solidFill>
            <a:prstDash val="dash"/>
          </a:ln>
        </p:spPr>
        <p:style>
          <a:lnRef idx="1">
            <a:schemeClr val="accent1"/>
          </a:lnRef>
          <a:fillRef idx="0">
            <a:schemeClr val="accent1"/>
          </a:fillRef>
          <a:effectRef idx="0">
            <a:schemeClr val="accent1"/>
          </a:effectRef>
          <a:fontRef idx="minor">
            <a:schemeClr val="tx1"/>
          </a:fontRef>
        </p:style>
      </p:cxnSp>
      <p:cxnSp>
        <p:nvCxnSpPr>
          <p:cNvPr id="11288" name="Straight Connector 11280">
            <a:extLst>
              <a:ext uri="{FF2B5EF4-FFF2-40B4-BE49-F238E27FC236}">
                <a16:creationId xmlns:a16="http://schemas.microsoft.com/office/drawing/2014/main" id="{5BD90595-18FC-4F56-88B7-A0D8D47F69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E8A050"/>
            </a:solidFill>
            <a:prstDash val="dash"/>
          </a:ln>
        </p:spPr>
        <p:style>
          <a:lnRef idx="1">
            <a:schemeClr val="accent1"/>
          </a:lnRef>
          <a:fillRef idx="0">
            <a:schemeClr val="accent1"/>
          </a:fillRef>
          <a:effectRef idx="0">
            <a:schemeClr val="accent1"/>
          </a:effectRef>
          <a:fontRef idx="minor">
            <a:schemeClr val="tx1"/>
          </a:fontRef>
        </p:style>
      </p:cxnSp>
      <p:pic>
        <p:nvPicPr>
          <p:cNvPr id="11266" name="Picture 2">
            <a:extLst>
              <a:ext uri="{FF2B5EF4-FFF2-40B4-BE49-F238E27FC236}">
                <a16:creationId xmlns:a16="http://schemas.microsoft.com/office/drawing/2014/main" id="{6508CBB6-3A30-19A8-38E4-FBC06129300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56003" y="1288240"/>
            <a:ext cx="4145544" cy="4898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4385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Background Gray Rectangle">
            <a:extLst>
              <a:ext uri="{FF2B5EF4-FFF2-40B4-BE49-F238E27FC236}">
                <a16:creationId xmlns:a16="http://schemas.microsoft.com/office/drawing/2014/main" id="{B65D7E18-2636-47CB-BDA7-4DE8C5BEB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3" name="Background Gray Rectangle">
            <a:extLst>
              <a:ext uri="{FF2B5EF4-FFF2-40B4-BE49-F238E27FC236}">
                <a16:creationId xmlns:a16="http://schemas.microsoft.com/office/drawing/2014/main" id="{1FF5E391-13EA-4378-95B1-C73488181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5" name="White Rectangle">
            <a:extLst>
              <a:ext uri="{FF2B5EF4-FFF2-40B4-BE49-F238E27FC236}">
                <a16:creationId xmlns:a16="http://schemas.microsoft.com/office/drawing/2014/main" id="{AD0DC7A3-7ED0-4155-ADCF-D332541FA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7" name="Vertical Connector">
            <a:extLst>
              <a:ext uri="{FF2B5EF4-FFF2-40B4-BE49-F238E27FC236}">
                <a16:creationId xmlns:a16="http://schemas.microsoft.com/office/drawing/2014/main" id="{4CDF7082-55B3-4B7D-8ECF-F1C96C500D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FCBE5E"/>
            </a:solidFill>
            <a:prstDash val="dash"/>
          </a:ln>
        </p:spPr>
        <p:style>
          <a:lnRef idx="1">
            <a:schemeClr val="accent1"/>
          </a:lnRef>
          <a:fillRef idx="0">
            <a:schemeClr val="accent1"/>
          </a:fillRef>
          <a:effectRef idx="0">
            <a:schemeClr val="accent1"/>
          </a:effectRef>
          <a:fontRef idx="minor">
            <a:schemeClr val="tx1"/>
          </a:fontRef>
        </p:style>
      </p:cxnSp>
      <p:cxnSp>
        <p:nvCxnSpPr>
          <p:cNvPr id="1039" name="Horizontal Connector 2">
            <a:extLst>
              <a:ext uri="{FF2B5EF4-FFF2-40B4-BE49-F238E27FC236}">
                <a16:creationId xmlns:a16="http://schemas.microsoft.com/office/drawing/2014/main" id="{67D64140-8BC6-4CD1-8C2A-FB5BCE2354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FCBE5E"/>
            </a:solidFill>
            <a:prstDash val="dash"/>
          </a:ln>
        </p:spPr>
        <p:style>
          <a:lnRef idx="1">
            <a:schemeClr val="accent1"/>
          </a:lnRef>
          <a:fillRef idx="0">
            <a:schemeClr val="accent1"/>
          </a:fillRef>
          <a:effectRef idx="0">
            <a:schemeClr val="accent1"/>
          </a:effectRef>
          <a:fontRef idx="minor">
            <a:schemeClr val="tx1"/>
          </a:fontRef>
        </p:style>
      </p:cxnSp>
      <p:sp>
        <p:nvSpPr>
          <p:cNvPr id="2" name="Content Placeholder 1">
            <a:extLst>
              <a:ext uri="{FF2B5EF4-FFF2-40B4-BE49-F238E27FC236}">
                <a16:creationId xmlns:a16="http://schemas.microsoft.com/office/drawing/2014/main" id="{77B5BDE0-EE44-C0DF-34FD-F38508FC4698}"/>
              </a:ext>
            </a:extLst>
          </p:cNvPr>
          <p:cNvSpPr>
            <a:spLocks noGrp="1"/>
          </p:cNvSpPr>
          <p:nvPr>
            <p:ph idx="1"/>
          </p:nvPr>
        </p:nvSpPr>
        <p:spPr/>
        <p:txBody>
          <a:bodyPr/>
          <a:lstStyle/>
          <a:p>
            <a:endParaRPr lang="en-IN" dirty="0"/>
          </a:p>
        </p:txBody>
      </p:sp>
      <p:pic>
        <p:nvPicPr>
          <p:cNvPr id="3" name="Picture 2" descr="Python Edit distance algorithm with dynamic programming and 2D Array -  Output is not optimal - Stack Overflow">
            <a:extLst>
              <a:ext uri="{FF2B5EF4-FFF2-40B4-BE49-F238E27FC236}">
                <a16:creationId xmlns:a16="http://schemas.microsoft.com/office/drawing/2014/main" id="{FCCB4178-7C6A-9D2F-CC1C-1BBAA48B99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577" y="946032"/>
            <a:ext cx="5048967" cy="48053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nimum edit distance of two strings – Ritambhara Technologies">
            <a:extLst>
              <a:ext uri="{FF2B5EF4-FFF2-40B4-BE49-F238E27FC236}">
                <a16:creationId xmlns:a16="http://schemas.microsoft.com/office/drawing/2014/main" id="{6285BAF3-FF99-6307-5539-3EC79808E0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207" y="1918290"/>
            <a:ext cx="5366686" cy="2648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368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57" name="Rectangle 2056">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59" name="Rectangle 2058">
            <a:extLst>
              <a:ext uri="{FF2B5EF4-FFF2-40B4-BE49-F238E27FC236}">
                <a16:creationId xmlns:a16="http://schemas.microsoft.com/office/drawing/2014/main" id="{1335D9B3-B2C5-40E1-BFF9-E01D0DB42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66ADC0-0969-1C95-7129-AF3EB52391E4}"/>
              </a:ext>
            </a:extLst>
          </p:cNvPr>
          <p:cNvSpPr>
            <a:spLocks noGrp="1"/>
          </p:cNvSpPr>
          <p:nvPr>
            <p:ph type="title"/>
          </p:nvPr>
        </p:nvSpPr>
        <p:spPr>
          <a:xfrm>
            <a:off x="422900" y="540167"/>
            <a:ext cx="4028783" cy="2135867"/>
          </a:xfrm>
        </p:spPr>
        <p:txBody>
          <a:bodyPr anchor="b">
            <a:normAutofit/>
          </a:bodyPr>
          <a:lstStyle/>
          <a:p>
            <a:endParaRPr lang="en-IN" sz="4800">
              <a:solidFill>
                <a:schemeClr val="tx1"/>
              </a:solidFill>
            </a:endParaRPr>
          </a:p>
        </p:txBody>
      </p:sp>
      <p:sp>
        <p:nvSpPr>
          <p:cNvPr id="3" name="Content Placeholder 2">
            <a:extLst>
              <a:ext uri="{FF2B5EF4-FFF2-40B4-BE49-F238E27FC236}">
                <a16:creationId xmlns:a16="http://schemas.microsoft.com/office/drawing/2014/main" id="{D2EF8CB1-E0A3-1654-085E-44C375FAAE9A}"/>
              </a:ext>
            </a:extLst>
          </p:cNvPr>
          <p:cNvSpPr>
            <a:spLocks noGrp="1"/>
          </p:cNvSpPr>
          <p:nvPr>
            <p:ph idx="1"/>
          </p:nvPr>
        </p:nvSpPr>
        <p:spPr>
          <a:xfrm>
            <a:off x="422900" y="2880452"/>
            <a:ext cx="4028783" cy="3095445"/>
          </a:xfrm>
        </p:spPr>
        <p:txBody>
          <a:bodyPr anchor="t">
            <a:normAutofit/>
          </a:bodyPr>
          <a:lstStyle/>
          <a:p>
            <a:endParaRPr lang="en-IN" sz="1800">
              <a:solidFill>
                <a:schemeClr val="tx1"/>
              </a:solidFill>
            </a:endParaRPr>
          </a:p>
        </p:txBody>
      </p:sp>
      <p:sp>
        <p:nvSpPr>
          <p:cNvPr id="2061" name="Rectangle 2060">
            <a:extLst>
              <a:ext uri="{FF2B5EF4-FFF2-40B4-BE49-F238E27FC236}">
                <a16:creationId xmlns:a16="http://schemas.microsoft.com/office/drawing/2014/main" id="{6D95061B-ADFC-4592-8BB1-0D542F6F64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042523" y="6081915"/>
            <a:ext cx="6460098" cy="781696"/>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2050" name="Picture 2" descr="Information 13 00452 g002 550">
            <a:extLst>
              <a:ext uri="{FF2B5EF4-FFF2-40B4-BE49-F238E27FC236}">
                <a16:creationId xmlns:a16="http://schemas.microsoft.com/office/drawing/2014/main" id="{D685394F-08EE-9069-B6A9-E88008C1FAD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36801" y="2222224"/>
            <a:ext cx="6460089" cy="3940654"/>
          </a:xfrm>
          <a:prstGeom prst="rect">
            <a:avLst/>
          </a:prstGeom>
          <a:noFill/>
          <a:extLst>
            <a:ext uri="{909E8E84-426E-40DD-AFC4-6F175D3DCCD1}">
              <a14:hiddenFill xmlns:a14="http://schemas.microsoft.com/office/drawing/2010/main">
                <a:solidFill>
                  <a:srgbClr val="FFFFFF"/>
                </a:solidFill>
              </a14:hiddenFill>
            </a:ext>
          </a:extLst>
        </p:spPr>
      </p:pic>
      <p:cxnSp>
        <p:nvCxnSpPr>
          <p:cNvPr id="2063" name="Straight Connector 2062">
            <a:extLst>
              <a:ext uri="{FF2B5EF4-FFF2-40B4-BE49-F238E27FC236}">
                <a16:creationId xmlns:a16="http://schemas.microsoft.com/office/drawing/2014/main" id="{2B67C3E3-D148-40AD-9F4C-431AA28AC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65" name="Straight Connector 2064">
            <a:extLst>
              <a:ext uri="{FF2B5EF4-FFF2-40B4-BE49-F238E27FC236}">
                <a16:creationId xmlns:a16="http://schemas.microsoft.com/office/drawing/2014/main" id="{C30DD030-ACB5-4C2C-AD03-51D52E277D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31330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83" name="Rectangle 3082">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85" name="Rectangle 3084">
            <a:extLst>
              <a:ext uri="{FF2B5EF4-FFF2-40B4-BE49-F238E27FC236}">
                <a16:creationId xmlns:a16="http://schemas.microsoft.com/office/drawing/2014/main" id="{4D4D99EB-C4F3-4F0C-91F7-AB4DC2A08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8C8721-29DB-CC29-02AB-D954B88E66D2}"/>
              </a:ext>
            </a:extLst>
          </p:cNvPr>
          <p:cNvSpPr>
            <a:spLocks noGrp="1"/>
          </p:cNvSpPr>
          <p:nvPr>
            <p:ph type="title"/>
          </p:nvPr>
        </p:nvSpPr>
        <p:spPr>
          <a:xfrm>
            <a:off x="422900" y="576263"/>
            <a:ext cx="3932532" cy="2967606"/>
          </a:xfrm>
        </p:spPr>
        <p:txBody>
          <a:bodyPr vert="horz" lIns="91440" tIns="45720" rIns="91440" bIns="45720" rtlCol="0" anchor="b">
            <a:normAutofit/>
          </a:bodyPr>
          <a:lstStyle/>
          <a:p>
            <a:endParaRPr lang="en-US" sz="4800"/>
          </a:p>
        </p:txBody>
      </p:sp>
      <p:sp>
        <p:nvSpPr>
          <p:cNvPr id="3087" name="Rectangle 3086">
            <a:extLst>
              <a:ext uri="{FF2B5EF4-FFF2-40B4-BE49-F238E27FC236}">
                <a16:creationId xmlns:a16="http://schemas.microsoft.com/office/drawing/2014/main" id="{04B69146-C1C0-4B58-86FC-34F3390E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64091" y="698677"/>
            <a:ext cx="826383" cy="547913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3074" name="Picture 2" descr="The Levenshtein Algorithm - Cuelogic An LTI Company">
            <a:extLst>
              <a:ext uri="{FF2B5EF4-FFF2-40B4-BE49-F238E27FC236}">
                <a16:creationId xmlns:a16="http://schemas.microsoft.com/office/drawing/2014/main" id="{FDBB6BE2-DFD6-A680-7EB3-C706CC89414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987132" y="1866109"/>
            <a:ext cx="6774155" cy="3133046"/>
          </a:xfrm>
          <a:prstGeom prst="rect">
            <a:avLst/>
          </a:prstGeom>
          <a:noFill/>
          <a:extLst>
            <a:ext uri="{909E8E84-426E-40DD-AFC4-6F175D3DCCD1}">
              <a14:hiddenFill xmlns:a14="http://schemas.microsoft.com/office/drawing/2010/main">
                <a:solidFill>
                  <a:srgbClr val="FFFFFF"/>
                </a:solidFill>
              </a14:hiddenFill>
            </a:ext>
          </a:extLst>
        </p:spPr>
      </p:pic>
      <p:cxnSp>
        <p:nvCxnSpPr>
          <p:cNvPr id="3089" name="Straight Connector 3088">
            <a:extLst>
              <a:ext uri="{FF2B5EF4-FFF2-40B4-BE49-F238E27FC236}">
                <a16:creationId xmlns:a16="http://schemas.microsoft.com/office/drawing/2014/main" id="{EC540AD5-A993-4DA3-B064-D004E2CC6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89A8DA"/>
            </a:solidFill>
            <a:prstDash val="dash"/>
          </a:ln>
        </p:spPr>
        <p:style>
          <a:lnRef idx="1">
            <a:schemeClr val="accent1"/>
          </a:lnRef>
          <a:fillRef idx="0">
            <a:schemeClr val="accent1"/>
          </a:fillRef>
          <a:effectRef idx="0">
            <a:schemeClr val="accent1"/>
          </a:effectRef>
          <a:fontRef idx="minor">
            <a:schemeClr val="tx1"/>
          </a:fontRef>
        </p:style>
      </p:cxnSp>
      <p:cxnSp>
        <p:nvCxnSpPr>
          <p:cNvPr id="3091" name="Straight Connector 3090">
            <a:extLst>
              <a:ext uri="{FF2B5EF4-FFF2-40B4-BE49-F238E27FC236}">
                <a16:creationId xmlns:a16="http://schemas.microsoft.com/office/drawing/2014/main" id="{8E6A9698-2C5E-4B0F-B3FA-0CE9BCA6E1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89A8DA"/>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6621239"/>
      </p:ext>
    </p:extLst>
  </p:cSld>
  <p:clrMapOvr>
    <a:masterClrMapping/>
  </p:clrMapOvr>
</p:sld>
</file>

<file path=ppt/theme/theme1.xml><?xml version="1.0" encoding="utf-8"?>
<a:theme xmlns:a="http://schemas.openxmlformats.org/drawingml/2006/main" name="OffsetVTI">
  <a:themeElements>
    <a:clrScheme name="Office">
      <a:dk1>
        <a:srgbClr val="000000"/>
      </a:dk1>
      <a:lt1>
        <a:srgbClr val="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Dante">
      <a:majorFont>
        <a:latin typeface="Georgia Pro"/>
        <a:ea typeface=""/>
        <a:cs typeface=""/>
      </a:majorFont>
      <a:minorFont>
        <a:latin typeface="Georgia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docProps/app.xml><?xml version="1.0" encoding="utf-8"?>
<Properties xmlns="http://schemas.openxmlformats.org/officeDocument/2006/extended-properties" xmlns:vt="http://schemas.openxmlformats.org/officeDocument/2006/docPropsVTypes">
  <TotalTime>763</TotalTime>
  <Words>1966</Words>
  <Application>Microsoft Office PowerPoint</Application>
  <PresentationFormat>Widescreen</PresentationFormat>
  <Paragraphs>104</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Dante (Headings)2</vt:lpstr>
      <vt:lpstr>Georgia Pro</vt:lpstr>
      <vt:lpstr>Helvetica Neue Medium</vt:lpstr>
      <vt:lpstr>Nunito</vt:lpstr>
      <vt:lpstr>source-serif-pro</vt:lpstr>
      <vt:lpstr>Times New Roman</vt:lpstr>
      <vt:lpstr>Wingdings 2</vt:lpstr>
      <vt:lpstr>OffsetVTI</vt:lpstr>
      <vt:lpstr>Edit Distance</vt:lpstr>
      <vt:lpstr>Introduction</vt:lpstr>
      <vt:lpstr>Solution Approaches</vt:lpstr>
      <vt:lpstr>Brute force approach</vt:lpstr>
      <vt:lpstr>PowerPoint Presentation</vt:lpstr>
      <vt:lpstr>Recurrence Relation for edit distance</vt:lpstr>
      <vt:lpstr>PowerPoint Presentation</vt:lpstr>
      <vt:lpstr>Example</vt:lpstr>
      <vt:lpstr>Example</vt:lpstr>
      <vt:lpstr>Example</vt:lpstr>
      <vt:lpstr>Example </vt:lpstr>
      <vt:lpstr>Example </vt:lpstr>
      <vt:lpstr>Base Case </vt:lpstr>
      <vt:lpstr>Using Dynamic Programming</vt:lpstr>
      <vt:lpstr>Algorithm</vt:lpstr>
      <vt:lpstr>Algorithm</vt:lpstr>
      <vt:lpstr>PowerPoint Presentation</vt:lpstr>
      <vt:lpstr>PowerPoint Presentation</vt:lpstr>
      <vt:lpstr>PowerPoint Presentation</vt:lpstr>
      <vt:lpstr>PowerPoint Presentation</vt:lpstr>
      <vt:lpstr>PowerPoint Presentation</vt:lpstr>
      <vt:lpstr>Getting the result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Edit Distance</dc:title>
  <dc:creator>richa singh</dc:creator>
  <cp:lastModifiedBy>richa singh</cp:lastModifiedBy>
  <cp:revision>44</cp:revision>
  <dcterms:created xsi:type="dcterms:W3CDTF">2023-08-22T15:20:38Z</dcterms:created>
  <dcterms:modified xsi:type="dcterms:W3CDTF">2023-08-30T06:23:14Z</dcterms:modified>
</cp:coreProperties>
</file>