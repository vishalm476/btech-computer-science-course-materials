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8" r:id="rId17"/>
    <p:sldId id="272" r:id="rId18"/>
    <p:sldId id="273" r:id="rId19"/>
    <p:sldId id="274" r:id="rId20"/>
    <p:sldId id="276" r:id="rId21"/>
    <p:sldId id="277" r:id="rId22"/>
    <p:sldId id="280" r:id="rId23"/>
    <p:sldId id="275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3AEDA6-5462-460A-BF87-730E6A45EBDD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3D0B310-52CE-4D5C-AFF1-F6E4359B11CB}">
      <dgm:prSet phldrT="[Text]"/>
      <dgm:spPr/>
      <dgm:t>
        <a:bodyPr/>
        <a:lstStyle/>
        <a:p>
          <a:r>
            <a:rPr lang="en-IN" dirty="0"/>
            <a:t>Tokenization</a:t>
          </a:r>
        </a:p>
      </dgm:t>
    </dgm:pt>
    <dgm:pt modelId="{7BA2F5C4-FCD3-4DFD-95DB-CE1BFF4B562A}" type="parTrans" cxnId="{A52E81D5-50FD-4987-980D-284D61D6FA6A}">
      <dgm:prSet/>
      <dgm:spPr/>
      <dgm:t>
        <a:bodyPr/>
        <a:lstStyle/>
        <a:p>
          <a:endParaRPr lang="en-IN"/>
        </a:p>
      </dgm:t>
    </dgm:pt>
    <dgm:pt modelId="{FD6513A9-EDAE-4765-B2C7-9909351483B1}" type="sibTrans" cxnId="{A52E81D5-50FD-4987-980D-284D61D6FA6A}">
      <dgm:prSet/>
      <dgm:spPr/>
      <dgm:t>
        <a:bodyPr/>
        <a:lstStyle/>
        <a:p>
          <a:endParaRPr lang="en-IN"/>
        </a:p>
      </dgm:t>
    </dgm:pt>
    <dgm:pt modelId="{897BD804-13F4-4B59-964C-17D8CF22F276}">
      <dgm:prSet phldrT="[Text]"/>
      <dgm:spPr/>
      <dgm:t>
        <a:bodyPr/>
        <a:lstStyle/>
        <a:p>
          <a:r>
            <a:rPr lang="en-IN" dirty="0"/>
            <a:t>Friends, Roman, Countryman</a:t>
          </a:r>
        </a:p>
      </dgm:t>
    </dgm:pt>
    <dgm:pt modelId="{213B1CC7-3224-43C7-87C7-A31C2DF40A7C}" type="parTrans" cxnId="{0EED4552-2CCC-4788-8400-8E6F1FB3A7F4}">
      <dgm:prSet/>
      <dgm:spPr/>
      <dgm:t>
        <a:bodyPr/>
        <a:lstStyle/>
        <a:p>
          <a:endParaRPr lang="en-IN"/>
        </a:p>
      </dgm:t>
    </dgm:pt>
    <dgm:pt modelId="{35FEB3EC-1657-41E3-87FC-6E762BD70A60}" type="sibTrans" cxnId="{0EED4552-2CCC-4788-8400-8E6F1FB3A7F4}">
      <dgm:prSet/>
      <dgm:spPr/>
      <dgm:t>
        <a:bodyPr/>
        <a:lstStyle/>
        <a:p>
          <a:endParaRPr lang="en-IN"/>
        </a:p>
      </dgm:t>
    </dgm:pt>
    <dgm:pt modelId="{1882614B-20B8-41AC-8D3C-A14F5A8A62C2}">
      <dgm:prSet phldrT="[Text]"/>
      <dgm:spPr/>
      <dgm:t>
        <a:bodyPr/>
        <a:lstStyle/>
        <a:p>
          <a:r>
            <a:rPr lang="en-IN" dirty="0"/>
            <a:t>Linguistic Modules</a:t>
          </a:r>
        </a:p>
      </dgm:t>
    </dgm:pt>
    <dgm:pt modelId="{A99763EE-064D-415B-83C5-477198DB9732}" type="parTrans" cxnId="{6FD9D33C-B4FC-45CA-9B12-8EF24BBBDA0D}">
      <dgm:prSet/>
      <dgm:spPr/>
      <dgm:t>
        <a:bodyPr/>
        <a:lstStyle/>
        <a:p>
          <a:endParaRPr lang="en-IN"/>
        </a:p>
      </dgm:t>
    </dgm:pt>
    <dgm:pt modelId="{B373DDC6-9B02-46FE-84A5-78AF29F176F6}" type="sibTrans" cxnId="{6FD9D33C-B4FC-45CA-9B12-8EF24BBBDA0D}">
      <dgm:prSet/>
      <dgm:spPr/>
      <dgm:t>
        <a:bodyPr/>
        <a:lstStyle/>
        <a:p>
          <a:endParaRPr lang="en-IN"/>
        </a:p>
      </dgm:t>
    </dgm:pt>
    <dgm:pt modelId="{14A98F8B-DB7C-41E4-A8FE-E98BD0B76428}">
      <dgm:prSet phldrT="[Text]"/>
      <dgm:spPr/>
      <dgm:t>
        <a:bodyPr/>
        <a:lstStyle/>
        <a:p>
          <a:r>
            <a:rPr lang="en-IN" dirty="0"/>
            <a:t>Friend</a:t>
          </a:r>
        </a:p>
      </dgm:t>
    </dgm:pt>
    <dgm:pt modelId="{759AED44-5272-4836-B5E5-93CD7DB2C582}" type="parTrans" cxnId="{79078F63-DEBD-4A75-9089-65ADC4ACE537}">
      <dgm:prSet/>
      <dgm:spPr/>
      <dgm:t>
        <a:bodyPr/>
        <a:lstStyle/>
        <a:p>
          <a:endParaRPr lang="en-IN"/>
        </a:p>
      </dgm:t>
    </dgm:pt>
    <dgm:pt modelId="{65AB2845-4347-4807-83E5-F553233FA963}" type="sibTrans" cxnId="{79078F63-DEBD-4A75-9089-65ADC4ACE537}">
      <dgm:prSet/>
      <dgm:spPr/>
      <dgm:t>
        <a:bodyPr/>
        <a:lstStyle/>
        <a:p>
          <a:endParaRPr lang="en-IN"/>
        </a:p>
      </dgm:t>
    </dgm:pt>
    <dgm:pt modelId="{735AFB3D-B768-49D9-8098-377D4B55631C}">
      <dgm:prSet phldrT="[Text]"/>
      <dgm:spPr/>
      <dgm:t>
        <a:bodyPr/>
        <a:lstStyle/>
        <a:p>
          <a:r>
            <a:rPr lang="en-IN" dirty="0"/>
            <a:t>Indexer</a:t>
          </a:r>
        </a:p>
      </dgm:t>
    </dgm:pt>
    <dgm:pt modelId="{A650F530-2497-490E-A3EA-EF036739ED46}" type="parTrans" cxnId="{5FED41FF-D902-4C40-993E-447A5598609C}">
      <dgm:prSet/>
      <dgm:spPr/>
      <dgm:t>
        <a:bodyPr/>
        <a:lstStyle/>
        <a:p>
          <a:endParaRPr lang="en-IN"/>
        </a:p>
      </dgm:t>
    </dgm:pt>
    <dgm:pt modelId="{9CA303AE-09DF-4E24-8139-5ED53BA5A5B9}" type="sibTrans" cxnId="{5FED41FF-D902-4C40-993E-447A5598609C}">
      <dgm:prSet/>
      <dgm:spPr/>
      <dgm:t>
        <a:bodyPr/>
        <a:lstStyle/>
        <a:p>
          <a:endParaRPr lang="en-IN"/>
        </a:p>
      </dgm:t>
    </dgm:pt>
    <dgm:pt modelId="{69CE1B67-6365-4B8F-B909-AAA3EC90763F}">
      <dgm:prSet phldrT="[Text]"/>
      <dgm:spPr/>
      <dgm:t>
        <a:bodyPr/>
        <a:lstStyle/>
        <a:p>
          <a:r>
            <a:rPr lang="en-IN" dirty="0"/>
            <a:t>Friend</a:t>
          </a:r>
          <a:r>
            <a:rPr lang="en-IN" dirty="0">
              <a:sym typeface="Wingdings" panose="05000000000000000000" pitchFamily="2" charset="2"/>
            </a:rPr>
            <a:t>24</a:t>
          </a:r>
          <a:endParaRPr lang="en-IN" dirty="0"/>
        </a:p>
      </dgm:t>
    </dgm:pt>
    <dgm:pt modelId="{DDF177B4-4C89-447F-8DD1-AC83B37F6157}" type="parTrans" cxnId="{6A4CC374-795C-4F24-9561-2E28FAD4667D}">
      <dgm:prSet/>
      <dgm:spPr/>
      <dgm:t>
        <a:bodyPr/>
        <a:lstStyle/>
        <a:p>
          <a:endParaRPr lang="en-IN"/>
        </a:p>
      </dgm:t>
    </dgm:pt>
    <dgm:pt modelId="{3EEF2900-501B-490A-B57A-D29EE0EA41D2}" type="sibTrans" cxnId="{6A4CC374-795C-4F24-9561-2E28FAD4667D}">
      <dgm:prSet/>
      <dgm:spPr/>
      <dgm:t>
        <a:bodyPr/>
        <a:lstStyle/>
        <a:p>
          <a:endParaRPr lang="en-IN"/>
        </a:p>
      </dgm:t>
    </dgm:pt>
    <dgm:pt modelId="{571FDB8E-E585-48A7-B2B0-B88A0F260B43}">
      <dgm:prSet phldrT="[Text]"/>
      <dgm:spPr/>
      <dgm:t>
        <a:bodyPr/>
        <a:lstStyle/>
        <a:p>
          <a:r>
            <a:rPr lang="en-IN" dirty="0"/>
            <a:t>Roman</a:t>
          </a:r>
        </a:p>
      </dgm:t>
    </dgm:pt>
    <dgm:pt modelId="{3D8D06EB-0A3E-4FDE-817E-BF27AA8703C8}" type="parTrans" cxnId="{DD438B10-DEAE-408D-A5F8-85DF2F4D0331}">
      <dgm:prSet/>
      <dgm:spPr/>
      <dgm:t>
        <a:bodyPr/>
        <a:lstStyle/>
        <a:p>
          <a:endParaRPr lang="en-IN"/>
        </a:p>
      </dgm:t>
    </dgm:pt>
    <dgm:pt modelId="{5A360668-970D-4120-9497-5FA28E5D82A8}" type="sibTrans" cxnId="{DD438B10-DEAE-408D-A5F8-85DF2F4D0331}">
      <dgm:prSet/>
      <dgm:spPr/>
      <dgm:t>
        <a:bodyPr/>
        <a:lstStyle/>
        <a:p>
          <a:endParaRPr lang="en-IN"/>
        </a:p>
      </dgm:t>
    </dgm:pt>
    <dgm:pt modelId="{DD8D28CD-F147-42AA-82EF-AAAA38F6C973}">
      <dgm:prSet phldrT="[Text]"/>
      <dgm:spPr/>
      <dgm:t>
        <a:bodyPr/>
        <a:lstStyle/>
        <a:p>
          <a:r>
            <a:rPr lang="en-IN" dirty="0"/>
            <a:t>Countryman</a:t>
          </a:r>
        </a:p>
      </dgm:t>
    </dgm:pt>
    <dgm:pt modelId="{5FC3699F-E040-4474-B85D-B763F5131E95}" type="parTrans" cxnId="{ADC2049E-AF38-494C-914C-257EE3F56C84}">
      <dgm:prSet/>
      <dgm:spPr/>
      <dgm:t>
        <a:bodyPr/>
        <a:lstStyle/>
        <a:p>
          <a:endParaRPr lang="en-IN"/>
        </a:p>
      </dgm:t>
    </dgm:pt>
    <dgm:pt modelId="{805122B8-BD57-4D06-9ECB-7DA0B0526C7D}" type="sibTrans" cxnId="{ADC2049E-AF38-494C-914C-257EE3F56C84}">
      <dgm:prSet/>
      <dgm:spPr/>
      <dgm:t>
        <a:bodyPr/>
        <a:lstStyle/>
        <a:p>
          <a:endParaRPr lang="en-IN"/>
        </a:p>
      </dgm:t>
    </dgm:pt>
    <dgm:pt modelId="{FAE90B94-7A65-4AA5-B26E-65FE43B7AF98}">
      <dgm:prSet phldrT="[Text]"/>
      <dgm:spPr/>
      <dgm:t>
        <a:bodyPr/>
        <a:lstStyle/>
        <a:p>
          <a:r>
            <a:rPr lang="en-IN" dirty="0"/>
            <a:t>Roman</a:t>
          </a:r>
          <a:r>
            <a:rPr lang="en-IN" dirty="0">
              <a:sym typeface="Wingdings" panose="05000000000000000000" pitchFamily="2" charset="2"/>
            </a:rPr>
            <a:t>12</a:t>
          </a:r>
          <a:endParaRPr lang="en-IN" dirty="0"/>
        </a:p>
      </dgm:t>
    </dgm:pt>
    <dgm:pt modelId="{528857C2-8D79-4757-AA01-E74B3C7E24DD}" type="parTrans" cxnId="{D2C624F4-7F13-45EC-B117-771C6D2D8025}">
      <dgm:prSet/>
      <dgm:spPr/>
      <dgm:t>
        <a:bodyPr/>
        <a:lstStyle/>
        <a:p>
          <a:endParaRPr lang="en-IN"/>
        </a:p>
      </dgm:t>
    </dgm:pt>
    <dgm:pt modelId="{ADB0B445-E42B-483E-8D9C-CACCBF5CCFC4}" type="sibTrans" cxnId="{D2C624F4-7F13-45EC-B117-771C6D2D8025}">
      <dgm:prSet/>
      <dgm:spPr/>
      <dgm:t>
        <a:bodyPr/>
        <a:lstStyle/>
        <a:p>
          <a:endParaRPr lang="en-IN"/>
        </a:p>
      </dgm:t>
    </dgm:pt>
    <dgm:pt modelId="{831169A7-F3CE-4653-AA1D-8678F3DE67FA}">
      <dgm:prSet phldrT="[Text]"/>
      <dgm:spPr/>
      <dgm:t>
        <a:bodyPr/>
        <a:lstStyle/>
        <a:p>
          <a:r>
            <a:rPr lang="en-IN" dirty="0"/>
            <a:t>….</a:t>
          </a:r>
        </a:p>
      </dgm:t>
    </dgm:pt>
    <dgm:pt modelId="{028CCB53-2E9F-4C27-BF07-6DB4B083DAD7}" type="parTrans" cxnId="{2DB19696-83EC-46C6-B6E7-E50B84AECCEF}">
      <dgm:prSet/>
      <dgm:spPr/>
      <dgm:t>
        <a:bodyPr/>
        <a:lstStyle/>
        <a:p>
          <a:endParaRPr lang="en-IN"/>
        </a:p>
      </dgm:t>
    </dgm:pt>
    <dgm:pt modelId="{D06D8936-4DEA-4E8F-8E45-5049BEBE3800}" type="sibTrans" cxnId="{2DB19696-83EC-46C6-B6E7-E50B84AECCEF}">
      <dgm:prSet/>
      <dgm:spPr/>
      <dgm:t>
        <a:bodyPr/>
        <a:lstStyle/>
        <a:p>
          <a:endParaRPr lang="en-IN"/>
        </a:p>
      </dgm:t>
    </dgm:pt>
    <dgm:pt modelId="{649ACD1D-A32E-4A87-92F9-2D4209293ED1}" type="pres">
      <dgm:prSet presAssocID="{A53AEDA6-5462-460A-BF87-730E6A45EBDD}" presName="rootnode" presStyleCnt="0">
        <dgm:presLayoutVars>
          <dgm:chMax/>
          <dgm:chPref/>
          <dgm:dir/>
          <dgm:animLvl val="lvl"/>
        </dgm:presLayoutVars>
      </dgm:prSet>
      <dgm:spPr/>
    </dgm:pt>
    <dgm:pt modelId="{31F503BE-283A-4BF1-B95B-B37E33A816E1}" type="pres">
      <dgm:prSet presAssocID="{43D0B310-52CE-4D5C-AFF1-F6E4359B11CB}" presName="composite" presStyleCnt="0"/>
      <dgm:spPr/>
    </dgm:pt>
    <dgm:pt modelId="{788440FA-CD52-411C-92A5-45B57F2E473E}" type="pres">
      <dgm:prSet presAssocID="{43D0B310-52CE-4D5C-AFF1-F6E4359B11CB}" presName="bentUpArrow1" presStyleLbl="alignImgPlace1" presStyleIdx="0" presStyleCnt="2"/>
      <dgm:spPr/>
    </dgm:pt>
    <dgm:pt modelId="{F1D40882-402B-4DAA-81B6-9213C5E5D6B5}" type="pres">
      <dgm:prSet presAssocID="{43D0B310-52CE-4D5C-AFF1-F6E4359B11CB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C31D9108-D97C-45C2-802E-B7451233ED39}" type="pres">
      <dgm:prSet presAssocID="{43D0B310-52CE-4D5C-AFF1-F6E4359B11CB}" presName="ChildText" presStyleLbl="revTx" presStyleIdx="0" presStyleCnt="3" custScaleX="220558" custLinFactNeighborX="74159" custLinFactNeighborY="4705">
        <dgm:presLayoutVars>
          <dgm:chMax val="0"/>
          <dgm:chPref val="0"/>
          <dgm:bulletEnabled val="1"/>
        </dgm:presLayoutVars>
      </dgm:prSet>
      <dgm:spPr/>
    </dgm:pt>
    <dgm:pt modelId="{C9B9C32E-DFFE-404F-A834-0CC93ED06F08}" type="pres">
      <dgm:prSet presAssocID="{FD6513A9-EDAE-4765-B2C7-9909351483B1}" presName="sibTrans" presStyleCnt="0"/>
      <dgm:spPr/>
    </dgm:pt>
    <dgm:pt modelId="{4C3A236F-CCE4-42AD-A7C4-83F2C1C5D063}" type="pres">
      <dgm:prSet presAssocID="{1882614B-20B8-41AC-8D3C-A14F5A8A62C2}" presName="composite" presStyleCnt="0"/>
      <dgm:spPr/>
    </dgm:pt>
    <dgm:pt modelId="{3E5A87ED-99C0-4893-8787-97BA96E0E735}" type="pres">
      <dgm:prSet presAssocID="{1882614B-20B8-41AC-8D3C-A14F5A8A62C2}" presName="bentUpArrow1" presStyleLbl="alignImgPlace1" presStyleIdx="1" presStyleCnt="2"/>
      <dgm:spPr/>
    </dgm:pt>
    <dgm:pt modelId="{B6746C92-CDFA-4EF6-A317-1D4D996C698B}" type="pres">
      <dgm:prSet presAssocID="{1882614B-20B8-41AC-8D3C-A14F5A8A62C2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EDDFADC3-CED4-4B65-9BDB-0DBD69407196}" type="pres">
      <dgm:prSet presAssocID="{1882614B-20B8-41AC-8D3C-A14F5A8A62C2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E13E95E-C1C4-4904-A03F-F09878C9D546}" type="pres">
      <dgm:prSet presAssocID="{B373DDC6-9B02-46FE-84A5-78AF29F176F6}" presName="sibTrans" presStyleCnt="0"/>
      <dgm:spPr/>
    </dgm:pt>
    <dgm:pt modelId="{EB2A9AA4-34BD-4EEF-8116-3F1ABACDED6F}" type="pres">
      <dgm:prSet presAssocID="{735AFB3D-B768-49D9-8098-377D4B55631C}" presName="composite" presStyleCnt="0"/>
      <dgm:spPr/>
    </dgm:pt>
    <dgm:pt modelId="{1874F2B9-8112-4F2B-9FB7-C1B24862707E}" type="pres">
      <dgm:prSet presAssocID="{735AFB3D-B768-49D9-8098-377D4B55631C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8A28A9BF-E611-4B1F-A49A-8215AEED4AA0}" type="pres">
      <dgm:prSet presAssocID="{735AFB3D-B768-49D9-8098-377D4B55631C}" presName="FinalChildText" presStyleLbl="revTx" presStyleIdx="2" presStyleCnt="3" custScaleX="114640" custLinFactNeighborX="14241" custLinFactNeighborY="-963">
        <dgm:presLayoutVars>
          <dgm:chMax val="0"/>
          <dgm:chPref val="0"/>
          <dgm:bulletEnabled val="1"/>
        </dgm:presLayoutVars>
      </dgm:prSet>
      <dgm:spPr/>
    </dgm:pt>
  </dgm:ptLst>
  <dgm:cxnLst>
    <dgm:cxn modelId="{DD438B10-DEAE-408D-A5F8-85DF2F4D0331}" srcId="{1882614B-20B8-41AC-8D3C-A14F5A8A62C2}" destId="{571FDB8E-E585-48A7-B2B0-B88A0F260B43}" srcOrd="1" destOrd="0" parTransId="{3D8D06EB-0A3E-4FDE-817E-BF27AA8703C8}" sibTransId="{5A360668-970D-4120-9497-5FA28E5D82A8}"/>
    <dgm:cxn modelId="{CABEE41A-05D7-432F-8680-D725A21B043F}" type="presOf" srcId="{897BD804-13F4-4B59-964C-17D8CF22F276}" destId="{C31D9108-D97C-45C2-802E-B7451233ED39}" srcOrd="0" destOrd="0" presId="urn:microsoft.com/office/officeart/2005/8/layout/StepDownProcess"/>
    <dgm:cxn modelId="{075D0720-CA03-4648-AA4F-030C4A0634EF}" type="presOf" srcId="{FAE90B94-7A65-4AA5-B26E-65FE43B7AF98}" destId="{8A28A9BF-E611-4B1F-A49A-8215AEED4AA0}" srcOrd="0" destOrd="1" presId="urn:microsoft.com/office/officeart/2005/8/layout/StepDownProcess"/>
    <dgm:cxn modelId="{6FD9D33C-B4FC-45CA-9B12-8EF24BBBDA0D}" srcId="{A53AEDA6-5462-460A-BF87-730E6A45EBDD}" destId="{1882614B-20B8-41AC-8D3C-A14F5A8A62C2}" srcOrd="1" destOrd="0" parTransId="{A99763EE-064D-415B-83C5-477198DB9732}" sibTransId="{B373DDC6-9B02-46FE-84A5-78AF29F176F6}"/>
    <dgm:cxn modelId="{79078F63-DEBD-4A75-9089-65ADC4ACE537}" srcId="{1882614B-20B8-41AC-8D3C-A14F5A8A62C2}" destId="{14A98F8B-DB7C-41E4-A8FE-E98BD0B76428}" srcOrd="0" destOrd="0" parTransId="{759AED44-5272-4836-B5E5-93CD7DB2C582}" sibTransId="{65AB2845-4347-4807-83E5-F553233FA963}"/>
    <dgm:cxn modelId="{CE81E167-B655-481E-B586-178F9EDB0178}" type="presOf" srcId="{831169A7-F3CE-4653-AA1D-8678F3DE67FA}" destId="{8A28A9BF-E611-4B1F-A49A-8215AEED4AA0}" srcOrd="0" destOrd="2" presId="urn:microsoft.com/office/officeart/2005/8/layout/StepDownProcess"/>
    <dgm:cxn modelId="{68C4114D-48BA-4235-81C9-42FFBDC25C10}" type="presOf" srcId="{735AFB3D-B768-49D9-8098-377D4B55631C}" destId="{1874F2B9-8112-4F2B-9FB7-C1B24862707E}" srcOrd="0" destOrd="0" presId="urn:microsoft.com/office/officeart/2005/8/layout/StepDownProcess"/>
    <dgm:cxn modelId="{0EED4552-2CCC-4788-8400-8E6F1FB3A7F4}" srcId="{43D0B310-52CE-4D5C-AFF1-F6E4359B11CB}" destId="{897BD804-13F4-4B59-964C-17D8CF22F276}" srcOrd="0" destOrd="0" parTransId="{213B1CC7-3224-43C7-87C7-A31C2DF40A7C}" sibTransId="{35FEB3EC-1657-41E3-87FC-6E762BD70A60}"/>
    <dgm:cxn modelId="{6A4CC374-795C-4F24-9561-2E28FAD4667D}" srcId="{735AFB3D-B768-49D9-8098-377D4B55631C}" destId="{69CE1B67-6365-4B8F-B909-AAA3EC90763F}" srcOrd="0" destOrd="0" parTransId="{DDF177B4-4C89-447F-8DD1-AC83B37F6157}" sibTransId="{3EEF2900-501B-490A-B57A-D29EE0EA41D2}"/>
    <dgm:cxn modelId="{556F2E78-2DE3-46A6-8919-6C2C54F1EDCA}" type="presOf" srcId="{1882614B-20B8-41AC-8D3C-A14F5A8A62C2}" destId="{B6746C92-CDFA-4EF6-A317-1D4D996C698B}" srcOrd="0" destOrd="0" presId="urn:microsoft.com/office/officeart/2005/8/layout/StepDownProcess"/>
    <dgm:cxn modelId="{E7BB687A-2E68-4651-9E1B-E2042A8236B7}" type="presOf" srcId="{DD8D28CD-F147-42AA-82EF-AAAA38F6C973}" destId="{EDDFADC3-CED4-4B65-9BDB-0DBD69407196}" srcOrd="0" destOrd="2" presId="urn:microsoft.com/office/officeart/2005/8/layout/StepDownProcess"/>
    <dgm:cxn modelId="{745AE87B-22D2-43CA-90E2-A55FCA17424B}" type="presOf" srcId="{571FDB8E-E585-48A7-B2B0-B88A0F260B43}" destId="{EDDFADC3-CED4-4B65-9BDB-0DBD69407196}" srcOrd="0" destOrd="1" presId="urn:microsoft.com/office/officeart/2005/8/layout/StepDownProcess"/>
    <dgm:cxn modelId="{2DB19696-83EC-46C6-B6E7-E50B84AECCEF}" srcId="{735AFB3D-B768-49D9-8098-377D4B55631C}" destId="{831169A7-F3CE-4653-AA1D-8678F3DE67FA}" srcOrd="2" destOrd="0" parTransId="{028CCB53-2E9F-4C27-BF07-6DB4B083DAD7}" sibTransId="{D06D8936-4DEA-4E8F-8E45-5049BEBE3800}"/>
    <dgm:cxn modelId="{ADC2049E-AF38-494C-914C-257EE3F56C84}" srcId="{1882614B-20B8-41AC-8D3C-A14F5A8A62C2}" destId="{DD8D28CD-F147-42AA-82EF-AAAA38F6C973}" srcOrd="2" destOrd="0" parTransId="{5FC3699F-E040-4474-B85D-B763F5131E95}" sibTransId="{805122B8-BD57-4D06-9ECB-7DA0B0526C7D}"/>
    <dgm:cxn modelId="{B11A9CA4-14D7-46CB-A055-D86AEDB3CDC2}" type="presOf" srcId="{69CE1B67-6365-4B8F-B909-AAA3EC90763F}" destId="{8A28A9BF-E611-4B1F-A49A-8215AEED4AA0}" srcOrd="0" destOrd="0" presId="urn:microsoft.com/office/officeart/2005/8/layout/StepDownProcess"/>
    <dgm:cxn modelId="{25F1BCAB-8E1A-45D4-AD60-3BD4FDD291F5}" type="presOf" srcId="{A53AEDA6-5462-460A-BF87-730E6A45EBDD}" destId="{649ACD1D-A32E-4A87-92F9-2D4209293ED1}" srcOrd="0" destOrd="0" presId="urn:microsoft.com/office/officeart/2005/8/layout/StepDownProcess"/>
    <dgm:cxn modelId="{5F50EDC6-D5EA-4814-838C-A5889671A93D}" type="presOf" srcId="{43D0B310-52CE-4D5C-AFF1-F6E4359B11CB}" destId="{F1D40882-402B-4DAA-81B6-9213C5E5D6B5}" srcOrd="0" destOrd="0" presId="urn:microsoft.com/office/officeart/2005/8/layout/StepDownProcess"/>
    <dgm:cxn modelId="{D4D6F3C6-28E4-4A1E-837E-D11300936CD8}" type="presOf" srcId="{14A98F8B-DB7C-41E4-A8FE-E98BD0B76428}" destId="{EDDFADC3-CED4-4B65-9BDB-0DBD69407196}" srcOrd="0" destOrd="0" presId="urn:microsoft.com/office/officeart/2005/8/layout/StepDownProcess"/>
    <dgm:cxn modelId="{A52E81D5-50FD-4987-980D-284D61D6FA6A}" srcId="{A53AEDA6-5462-460A-BF87-730E6A45EBDD}" destId="{43D0B310-52CE-4D5C-AFF1-F6E4359B11CB}" srcOrd="0" destOrd="0" parTransId="{7BA2F5C4-FCD3-4DFD-95DB-CE1BFF4B562A}" sibTransId="{FD6513A9-EDAE-4765-B2C7-9909351483B1}"/>
    <dgm:cxn modelId="{D2C624F4-7F13-45EC-B117-771C6D2D8025}" srcId="{735AFB3D-B768-49D9-8098-377D4B55631C}" destId="{FAE90B94-7A65-4AA5-B26E-65FE43B7AF98}" srcOrd="1" destOrd="0" parTransId="{528857C2-8D79-4757-AA01-E74B3C7E24DD}" sibTransId="{ADB0B445-E42B-483E-8D9C-CACCBF5CCFC4}"/>
    <dgm:cxn modelId="{5FED41FF-D902-4C40-993E-447A5598609C}" srcId="{A53AEDA6-5462-460A-BF87-730E6A45EBDD}" destId="{735AFB3D-B768-49D9-8098-377D4B55631C}" srcOrd="2" destOrd="0" parTransId="{A650F530-2497-490E-A3EA-EF036739ED46}" sibTransId="{9CA303AE-09DF-4E24-8139-5ED53BA5A5B9}"/>
    <dgm:cxn modelId="{7AC9DB3E-BF8B-48F5-854F-6CE244AE7A2E}" type="presParOf" srcId="{649ACD1D-A32E-4A87-92F9-2D4209293ED1}" destId="{31F503BE-283A-4BF1-B95B-B37E33A816E1}" srcOrd="0" destOrd="0" presId="urn:microsoft.com/office/officeart/2005/8/layout/StepDownProcess"/>
    <dgm:cxn modelId="{1F7AFDD8-02F7-44AD-BF3C-19004E3E25F7}" type="presParOf" srcId="{31F503BE-283A-4BF1-B95B-B37E33A816E1}" destId="{788440FA-CD52-411C-92A5-45B57F2E473E}" srcOrd="0" destOrd="0" presId="urn:microsoft.com/office/officeart/2005/8/layout/StepDownProcess"/>
    <dgm:cxn modelId="{C9F7DAC1-D8E4-4BC3-9529-4B6CAD61992E}" type="presParOf" srcId="{31F503BE-283A-4BF1-B95B-B37E33A816E1}" destId="{F1D40882-402B-4DAA-81B6-9213C5E5D6B5}" srcOrd="1" destOrd="0" presId="urn:microsoft.com/office/officeart/2005/8/layout/StepDownProcess"/>
    <dgm:cxn modelId="{57242598-C276-426B-B0C1-7E024FA91D40}" type="presParOf" srcId="{31F503BE-283A-4BF1-B95B-B37E33A816E1}" destId="{C31D9108-D97C-45C2-802E-B7451233ED39}" srcOrd="2" destOrd="0" presId="urn:microsoft.com/office/officeart/2005/8/layout/StepDownProcess"/>
    <dgm:cxn modelId="{9D02FA77-1EF9-46B4-935A-CAC1A0406C32}" type="presParOf" srcId="{649ACD1D-A32E-4A87-92F9-2D4209293ED1}" destId="{C9B9C32E-DFFE-404F-A834-0CC93ED06F08}" srcOrd="1" destOrd="0" presId="urn:microsoft.com/office/officeart/2005/8/layout/StepDownProcess"/>
    <dgm:cxn modelId="{F2A7C861-79B8-49AB-99C5-1C7E1067CA28}" type="presParOf" srcId="{649ACD1D-A32E-4A87-92F9-2D4209293ED1}" destId="{4C3A236F-CCE4-42AD-A7C4-83F2C1C5D063}" srcOrd="2" destOrd="0" presId="urn:microsoft.com/office/officeart/2005/8/layout/StepDownProcess"/>
    <dgm:cxn modelId="{FD011F1F-E5C3-427E-962C-A001B64FF740}" type="presParOf" srcId="{4C3A236F-CCE4-42AD-A7C4-83F2C1C5D063}" destId="{3E5A87ED-99C0-4893-8787-97BA96E0E735}" srcOrd="0" destOrd="0" presId="urn:microsoft.com/office/officeart/2005/8/layout/StepDownProcess"/>
    <dgm:cxn modelId="{F5A4A452-B3AE-4FF1-A7EA-6B81BF6113C4}" type="presParOf" srcId="{4C3A236F-CCE4-42AD-A7C4-83F2C1C5D063}" destId="{B6746C92-CDFA-4EF6-A317-1D4D996C698B}" srcOrd="1" destOrd="0" presId="urn:microsoft.com/office/officeart/2005/8/layout/StepDownProcess"/>
    <dgm:cxn modelId="{F3C563CF-D901-47C5-83FC-9AA043757349}" type="presParOf" srcId="{4C3A236F-CCE4-42AD-A7C4-83F2C1C5D063}" destId="{EDDFADC3-CED4-4B65-9BDB-0DBD69407196}" srcOrd="2" destOrd="0" presId="urn:microsoft.com/office/officeart/2005/8/layout/StepDownProcess"/>
    <dgm:cxn modelId="{658C8F1E-96A4-4A47-ADDE-B084FC3D2BEB}" type="presParOf" srcId="{649ACD1D-A32E-4A87-92F9-2D4209293ED1}" destId="{CE13E95E-C1C4-4904-A03F-F09878C9D546}" srcOrd="3" destOrd="0" presId="urn:microsoft.com/office/officeart/2005/8/layout/StepDownProcess"/>
    <dgm:cxn modelId="{BFD3B885-94D6-4491-9019-4098AFEF6CC7}" type="presParOf" srcId="{649ACD1D-A32E-4A87-92F9-2D4209293ED1}" destId="{EB2A9AA4-34BD-4EEF-8116-3F1ABACDED6F}" srcOrd="4" destOrd="0" presId="urn:microsoft.com/office/officeart/2005/8/layout/StepDownProcess"/>
    <dgm:cxn modelId="{4DD6C5E0-F264-429A-B2D5-3A06321DB9B0}" type="presParOf" srcId="{EB2A9AA4-34BD-4EEF-8116-3F1ABACDED6F}" destId="{1874F2B9-8112-4F2B-9FB7-C1B24862707E}" srcOrd="0" destOrd="0" presId="urn:microsoft.com/office/officeart/2005/8/layout/StepDownProcess"/>
    <dgm:cxn modelId="{C038CAE3-E576-40DD-A4E1-80F000B6B2FA}" type="presParOf" srcId="{EB2A9AA4-34BD-4EEF-8116-3F1ABACDED6F}" destId="{8A28A9BF-E611-4B1F-A49A-8215AEED4AA0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440FA-CD52-411C-92A5-45B57F2E473E}">
      <dsp:nvSpPr>
        <dsp:cNvPr id="0" name=""/>
        <dsp:cNvSpPr/>
      </dsp:nvSpPr>
      <dsp:spPr>
        <a:xfrm rot="5400000">
          <a:off x="2391126" y="1177171"/>
          <a:ext cx="1041106" cy="118526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D40882-402B-4DAA-81B6-9213C5E5D6B5}">
      <dsp:nvSpPr>
        <dsp:cNvPr id="0" name=""/>
        <dsp:cNvSpPr/>
      </dsp:nvSpPr>
      <dsp:spPr>
        <a:xfrm>
          <a:off x="2115296" y="23083"/>
          <a:ext cx="1752610" cy="122677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Tokenization</a:t>
          </a:r>
        </a:p>
      </dsp:txBody>
      <dsp:txXfrm>
        <a:off x="2175193" y="82980"/>
        <a:ext cx="1632816" cy="1106976"/>
      </dsp:txXfrm>
    </dsp:sp>
    <dsp:sp modelId="{C31D9108-D97C-45C2-802E-B7451233ED39}">
      <dsp:nvSpPr>
        <dsp:cNvPr id="0" name=""/>
        <dsp:cNvSpPr/>
      </dsp:nvSpPr>
      <dsp:spPr>
        <a:xfrm>
          <a:off x="4044833" y="186735"/>
          <a:ext cx="2811413" cy="9915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Friends, Roman, Countryman</a:t>
          </a:r>
        </a:p>
      </dsp:txBody>
      <dsp:txXfrm>
        <a:off x="4044833" y="186735"/>
        <a:ext cx="2811413" cy="991530"/>
      </dsp:txXfrm>
    </dsp:sp>
    <dsp:sp modelId="{3E5A87ED-99C0-4893-8787-97BA96E0E735}">
      <dsp:nvSpPr>
        <dsp:cNvPr id="0" name=""/>
        <dsp:cNvSpPr/>
      </dsp:nvSpPr>
      <dsp:spPr>
        <a:xfrm rot="5400000">
          <a:off x="4213042" y="2555239"/>
          <a:ext cx="1041106" cy="118526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746C92-CDFA-4EF6-A317-1D4D996C698B}">
      <dsp:nvSpPr>
        <dsp:cNvPr id="0" name=""/>
        <dsp:cNvSpPr/>
      </dsp:nvSpPr>
      <dsp:spPr>
        <a:xfrm>
          <a:off x="3937212" y="1401152"/>
          <a:ext cx="1752610" cy="122677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Linguistic Modules</a:t>
          </a:r>
        </a:p>
      </dsp:txBody>
      <dsp:txXfrm>
        <a:off x="3997109" y="1461049"/>
        <a:ext cx="1632816" cy="1106976"/>
      </dsp:txXfrm>
    </dsp:sp>
    <dsp:sp modelId="{EDDFADC3-CED4-4B65-9BDB-0DBD69407196}">
      <dsp:nvSpPr>
        <dsp:cNvPr id="0" name=""/>
        <dsp:cNvSpPr/>
      </dsp:nvSpPr>
      <dsp:spPr>
        <a:xfrm>
          <a:off x="5689823" y="1518152"/>
          <a:ext cx="1274682" cy="9915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Friend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Roman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Countryman</a:t>
          </a:r>
        </a:p>
      </dsp:txBody>
      <dsp:txXfrm>
        <a:off x="5689823" y="1518152"/>
        <a:ext cx="1274682" cy="991530"/>
      </dsp:txXfrm>
    </dsp:sp>
    <dsp:sp modelId="{1874F2B9-8112-4F2B-9FB7-C1B24862707E}">
      <dsp:nvSpPr>
        <dsp:cNvPr id="0" name=""/>
        <dsp:cNvSpPr/>
      </dsp:nvSpPr>
      <dsp:spPr>
        <a:xfrm>
          <a:off x="5759128" y="2779220"/>
          <a:ext cx="1752610" cy="122677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Indexer</a:t>
          </a:r>
        </a:p>
      </dsp:txBody>
      <dsp:txXfrm>
        <a:off x="5819025" y="2839117"/>
        <a:ext cx="1632816" cy="1106976"/>
      </dsp:txXfrm>
    </dsp:sp>
    <dsp:sp modelId="{8A28A9BF-E611-4B1F-A49A-8215AEED4AA0}">
      <dsp:nvSpPr>
        <dsp:cNvPr id="0" name=""/>
        <dsp:cNvSpPr/>
      </dsp:nvSpPr>
      <dsp:spPr>
        <a:xfrm>
          <a:off x="7599960" y="2886672"/>
          <a:ext cx="1461295" cy="9915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Friend</a:t>
          </a:r>
          <a:r>
            <a:rPr lang="en-IN" sz="1400" kern="1200" dirty="0">
              <a:sym typeface="Wingdings" panose="05000000000000000000" pitchFamily="2" charset="2"/>
            </a:rPr>
            <a:t>24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Roman</a:t>
          </a:r>
          <a:r>
            <a:rPr lang="en-IN" sz="1400" kern="1200" dirty="0">
              <a:sym typeface="Wingdings" panose="05000000000000000000" pitchFamily="2" charset="2"/>
            </a:rPr>
            <a:t>12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….</a:t>
          </a:r>
        </a:p>
      </dsp:txBody>
      <dsp:txXfrm>
        <a:off x="7599960" y="2886672"/>
        <a:ext cx="1461295" cy="9915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7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9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6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23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98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06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32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311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4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48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3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8/16/2023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230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34">
            <a:extLst>
              <a:ext uri="{FF2B5EF4-FFF2-40B4-BE49-F238E27FC236}">
                <a16:creationId xmlns:a16="http://schemas.microsoft.com/office/drawing/2014/main" id="{B5FF0679-3E39-B302-DA79-73020F7963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734" b="14266"/>
          <a:stretch/>
        </p:blipFill>
        <p:spPr>
          <a:xfrm>
            <a:off x="1" y="10"/>
            <a:ext cx="12191999" cy="685799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487A1D-AD25-00B6-B357-F5D12151A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3928770"/>
            <a:ext cx="5127674" cy="2129129"/>
          </a:xfrm>
        </p:spPr>
        <p:txBody>
          <a:bodyPr anchor="b">
            <a:normAutofit/>
          </a:bodyPr>
          <a:lstStyle/>
          <a:p>
            <a:r>
              <a:rPr lang="en-IN" sz="5400">
                <a:solidFill>
                  <a:srgbClr val="FFFFFF"/>
                </a:solidFill>
              </a:rPr>
              <a:t>Tokenization</a:t>
            </a:r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EEE29103-7EAD-4144-AEB1-9015FB7BF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86" y="952506"/>
            <a:ext cx="5127674" cy="1338358"/>
          </a:xfrm>
        </p:spPr>
        <p:txBody>
          <a:bodyPr anchor="t"/>
          <a:lstStyle/>
          <a:p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578F8F34-BF99-476E-86C4-4B4576C75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7924" y="173776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7F85241D-C269-487B-9FC3-6FC98CC7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8729" y="6449535"/>
            <a:ext cx="2983095" cy="30845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E31B4FC-6860-443D-BC09-903AB3D0191F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8/16/2023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E27B8990-9A72-47E9-AC0A-F6EB302F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0710" y="6449535"/>
            <a:ext cx="932279" cy="30845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FAE4C1A-77DB-4702-BC27-716D2520402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22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535A-D795-B3BD-BD4F-14A010A7D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Document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DB11D-FF9C-29BA-C7A5-F7707D833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a format is it in</a:t>
            </a:r>
          </a:p>
          <a:p>
            <a:pPr lvl="1"/>
            <a:r>
              <a:rPr lang="en-IN" dirty="0"/>
              <a:t>Pdf /word/ excel/html</a:t>
            </a:r>
          </a:p>
          <a:p>
            <a:r>
              <a:rPr lang="en-IN" dirty="0"/>
              <a:t>What language is it in?</a:t>
            </a:r>
          </a:p>
          <a:p>
            <a:r>
              <a:rPr lang="en-IN" dirty="0"/>
              <a:t>What character set is in use?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3451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74955-95DD-DF9B-56C3-7FA1B404C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501A5D-1D7F-EC68-75ED-54DCC4208B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396040"/>
              </p:ext>
            </p:extLst>
          </p:nvPr>
        </p:nvGraphicFramePr>
        <p:xfrm>
          <a:off x="549275" y="2028825"/>
          <a:ext cx="10995025" cy="4029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AA4F0E-231E-9EC3-792D-DE586A12A3EB}"/>
              </a:ext>
            </a:extLst>
          </p:cNvPr>
          <p:cNvSpPr/>
          <p:nvPr/>
        </p:nvSpPr>
        <p:spPr>
          <a:xfrm>
            <a:off x="1259633" y="1576873"/>
            <a:ext cx="2967134" cy="4519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Document to be indexed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9328D-8B3D-074A-5987-B2741703E8D5}"/>
              </a:ext>
            </a:extLst>
          </p:cNvPr>
          <p:cNvSpPr/>
          <p:nvPr/>
        </p:nvSpPr>
        <p:spPr>
          <a:xfrm>
            <a:off x="814874" y="3429000"/>
            <a:ext cx="1928326" cy="4519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Token Stream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A6297D-1C0D-C9F1-037E-5B41715E342F}"/>
              </a:ext>
            </a:extLst>
          </p:cNvPr>
          <p:cNvSpPr/>
          <p:nvPr/>
        </p:nvSpPr>
        <p:spPr>
          <a:xfrm>
            <a:off x="2628123" y="4845213"/>
            <a:ext cx="1928326" cy="4519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Modified Token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ED575C-0FD4-8116-3CAE-804DD47C8B78}"/>
              </a:ext>
            </a:extLst>
          </p:cNvPr>
          <p:cNvSpPr/>
          <p:nvPr/>
        </p:nvSpPr>
        <p:spPr>
          <a:xfrm>
            <a:off x="4226767" y="5986315"/>
            <a:ext cx="1928326" cy="4519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Inverted Index</a:t>
            </a:r>
          </a:p>
        </p:txBody>
      </p:sp>
    </p:spTree>
    <p:extLst>
      <p:ext uri="{BB962C8B-B14F-4D97-AF65-F5344CB8AC3E}">
        <p14:creationId xmlns:p14="http://schemas.microsoft.com/office/powerpoint/2010/main" val="341385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CE92-8871-BA20-81E3-AD9282E5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Complication: Format/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8359C-1850-1222-D2BF-A61C833FC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Document being indexed can include docs from many different languages</a:t>
            </a:r>
          </a:p>
          <a:p>
            <a:r>
              <a:rPr lang="en-IN" dirty="0"/>
              <a:t>A single index may have to contain terms of several language</a:t>
            </a:r>
          </a:p>
          <a:p>
            <a:r>
              <a:rPr lang="en-IN" dirty="0"/>
              <a:t>Sometimes a document or its component can contain multiple language/format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5711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EB883-CED1-BAB7-AE77-857C1635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B39EB-5083-F248-6C78-F9530AA50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Input: “friends, Roman, Countryman”</a:t>
            </a:r>
          </a:p>
          <a:p>
            <a:r>
              <a:rPr lang="en-IN" dirty="0"/>
              <a:t>Output: Token</a:t>
            </a:r>
          </a:p>
          <a:p>
            <a:pPr lvl="1"/>
            <a:r>
              <a:rPr lang="en-IN" dirty="0"/>
              <a:t>Friends </a:t>
            </a:r>
          </a:p>
          <a:p>
            <a:pPr lvl="1"/>
            <a:r>
              <a:rPr lang="en-IN" dirty="0"/>
              <a:t>Roman</a:t>
            </a:r>
          </a:p>
          <a:p>
            <a:pPr lvl="1"/>
            <a:r>
              <a:rPr lang="en-IN" dirty="0"/>
              <a:t>Countryman</a:t>
            </a:r>
          </a:p>
          <a:p>
            <a:r>
              <a:rPr lang="en-IN" dirty="0"/>
              <a:t> A token is a sequence of character in a document</a:t>
            </a:r>
          </a:p>
          <a:p>
            <a:r>
              <a:rPr lang="en-IN" dirty="0"/>
              <a:t>Each such token is now a candidate for an index entry after further processing</a:t>
            </a:r>
          </a:p>
          <a:p>
            <a:r>
              <a:rPr lang="en-IN" dirty="0"/>
              <a:t>But what are valid tokens to emit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0878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5EC97-DF19-0150-6EDD-D971C29AB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Issues in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77992-D9D9-99EE-2326-4ACA9D550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Hewlett-</a:t>
            </a:r>
            <a:r>
              <a:rPr lang="en-IN" dirty="0" err="1"/>
              <a:t>Pakcard</a:t>
            </a:r>
            <a:r>
              <a:rPr lang="en-IN" dirty="0">
                <a:sym typeface="Wingdings" panose="05000000000000000000" pitchFamily="2" charset="2"/>
              </a:rPr>
              <a:t> Hewlett and Packard as two tokens&gt;</a:t>
            </a:r>
          </a:p>
          <a:p>
            <a:pPr lvl="1"/>
            <a:r>
              <a:rPr lang="en-IN" dirty="0">
                <a:sym typeface="Wingdings" panose="05000000000000000000" pitchFamily="2" charset="2"/>
              </a:rPr>
              <a:t>State-of-the-art</a:t>
            </a:r>
          </a:p>
          <a:p>
            <a:pPr lvl="1"/>
            <a:r>
              <a:rPr lang="en-IN" dirty="0">
                <a:sym typeface="Wingdings" panose="05000000000000000000" pitchFamily="2" charset="2"/>
              </a:rPr>
              <a:t>Co-education</a:t>
            </a:r>
          </a:p>
          <a:p>
            <a:pPr lvl="1"/>
            <a:r>
              <a:rPr lang="en-IN" dirty="0">
                <a:sym typeface="Wingdings" panose="05000000000000000000" pitchFamily="2" charset="2"/>
              </a:rPr>
              <a:t>Lowercase, lower-case, lower case?</a:t>
            </a:r>
            <a:endParaRPr lang="en-IN" dirty="0"/>
          </a:p>
          <a:p>
            <a:r>
              <a:rPr lang="en-IN" dirty="0"/>
              <a:t>San Francisco: one token or two</a:t>
            </a:r>
          </a:p>
          <a:p>
            <a:pPr lvl="1"/>
            <a:r>
              <a:rPr lang="en-IN" dirty="0"/>
              <a:t>How do we decide it is one token</a:t>
            </a:r>
          </a:p>
          <a:p>
            <a:r>
              <a:rPr lang="en-IN" dirty="0"/>
              <a:t>Finland’s Capital</a:t>
            </a:r>
          </a:p>
          <a:p>
            <a:pPr lvl="1"/>
            <a:r>
              <a:rPr lang="en-IN" dirty="0"/>
              <a:t>Finland? </a:t>
            </a:r>
            <a:r>
              <a:rPr lang="en-IN" dirty="0" err="1"/>
              <a:t>Finlands</a:t>
            </a:r>
            <a:r>
              <a:rPr lang="en-IN" dirty="0"/>
              <a:t>? Finland’s?</a:t>
            </a:r>
          </a:p>
        </p:txBody>
      </p:sp>
    </p:spTree>
    <p:extLst>
      <p:ext uri="{BB962C8B-B14F-4D97-AF65-F5344CB8AC3E}">
        <p14:creationId xmlns:p14="http://schemas.microsoft.com/office/powerpoint/2010/main" val="3419923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EC920-B548-C16F-30E7-8C997405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Issues in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0DF36-AEE9-1556-3D15-BC78F3383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Numbers</a:t>
            </a:r>
          </a:p>
          <a:p>
            <a:pPr lvl="1"/>
            <a:r>
              <a:rPr lang="en-IN" dirty="0"/>
              <a:t>3/12/21    Mar. 12, 2021      12/3/21</a:t>
            </a:r>
          </a:p>
          <a:p>
            <a:pPr lvl="1"/>
            <a:r>
              <a:rPr lang="en-IN" dirty="0"/>
              <a:t>(011) 234-235</a:t>
            </a:r>
          </a:p>
          <a:p>
            <a:pPr lvl="2"/>
            <a:r>
              <a:rPr lang="en-IN" dirty="0"/>
              <a:t>Often have embedded space</a:t>
            </a:r>
          </a:p>
          <a:p>
            <a:pPr lvl="2"/>
            <a:r>
              <a:rPr lang="en-IN" dirty="0"/>
              <a:t>Older IR systems may not index numbers</a:t>
            </a:r>
          </a:p>
          <a:p>
            <a:pPr lvl="3"/>
            <a:r>
              <a:rPr lang="en-IN" dirty="0"/>
              <a:t>But often very useful about things like looking up error/code/</a:t>
            </a:r>
            <a:r>
              <a:rPr lang="en-IN" dirty="0" err="1"/>
              <a:t>stacktrace</a:t>
            </a:r>
            <a:r>
              <a:rPr lang="en-IN" dirty="0"/>
              <a:t> on the web</a:t>
            </a:r>
          </a:p>
          <a:p>
            <a:pPr lvl="2"/>
            <a:r>
              <a:rPr lang="en-IN" dirty="0"/>
              <a:t>Index meta-data separately</a:t>
            </a:r>
          </a:p>
          <a:p>
            <a:pPr lvl="3"/>
            <a:r>
              <a:rPr lang="en-IN" dirty="0"/>
              <a:t>Creation date, format etc.</a:t>
            </a:r>
          </a:p>
        </p:txBody>
      </p:sp>
    </p:spTree>
    <p:extLst>
      <p:ext uri="{BB962C8B-B14F-4D97-AF65-F5344CB8AC3E}">
        <p14:creationId xmlns:p14="http://schemas.microsoft.com/office/powerpoint/2010/main" val="3833381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4798-A264-C678-0B62-154D8238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Stopwords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CDEF4-F5C2-7754-5510-53CC730A4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With a stop list you exclude from the dictionary entirely the common words</a:t>
            </a:r>
          </a:p>
          <a:p>
            <a:pPr lvl="1"/>
            <a:r>
              <a:rPr lang="en-IN" dirty="0"/>
              <a:t>They have little semantic content: </a:t>
            </a:r>
            <a:r>
              <a:rPr lang="en-IN" dirty="0" err="1"/>
              <a:t>the,a,and,to,be</a:t>
            </a:r>
            <a:endParaRPr lang="en-IN" dirty="0"/>
          </a:p>
          <a:p>
            <a:pPr lvl="1"/>
            <a:r>
              <a:rPr lang="en-IN" dirty="0"/>
              <a:t>There are a lot of them: ~30% of postings for top-30 words</a:t>
            </a:r>
          </a:p>
          <a:p>
            <a:r>
              <a:rPr lang="en-IN" dirty="0"/>
              <a:t>But what trends suggest otherwise</a:t>
            </a:r>
          </a:p>
          <a:p>
            <a:pPr lvl="1"/>
            <a:r>
              <a:rPr lang="en-IN" dirty="0"/>
              <a:t>Good compression technique means the space for including </a:t>
            </a:r>
            <a:r>
              <a:rPr lang="en-IN" dirty="0" err="1"/>
              <a:t>stopwords</a:t>
            </a:r>
            <a:r>
              <a:rPr lang="en-IN" dirty="0"/>
              <a:t> in a system is very small</a:t>
            </a:r>
          </a:p>
          <a:p>
            <a:pPr lvl="1"/>
            <a:r>
              <a:rPr lang="en-IN" dirty="0"/>
              <a:t>Good query optimization technique means you pay little at query time for including </a:t>
            </a:r>
            <a:r>
              <a:rPr lang="en-IN" dirty="0" err="1"/>
              <a:t>stopwords</a:t>
            </a:r>
            <a:endParaRPr lang="en-IN" dirty="0"/>
          </a:p>
          <a:p>
            <a:pPr lvl="1"/>
            <a:r>
              <a:rPr lang="en-IN" dirty="0"/>
              <a:t>You need them for </a:t>
            </a:r>
          </a:p>
          <a:p>
            <a:pPr lvl="2"/>
            <a:r>
              <a:rPr lang="en-IN" dirty="0"/>
              <a:t>Phrase queries: “King of Denmark”</a:t>
            </a:r>
          </a:p>
          <a:p>
            <a:pPr lvl="2"/>
            <a:r>
              <a:rPr lang="en-IN" dirty="0"/>
              <a:t>Various song titles etc.</a:t>
            </a:r>
          </a:p>
          <a:p>
            <a:pPr lvl="2"/>
            <a:r>
              <a:rPr lang="en-IN" dirty="0"/>
              <a:t>“Relational Queries” : flight to </a:t>
            </a:r>
            <a:r>
              <a:rPr lang="en-IN" dirty="0" err="1"/>
              <a:t>london</a:t>
            </a:r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5657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75BD3-1729-09A0-C881-BB6036EE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Normalization to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581E9-9587-357F-9422-258C436C4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need to normalize words in indexed text as well as query words into the same form</a:t>
            </a:r>
          </a:p>
          <a:p>
            <a:pPr lvl="1"/>
            <a:r>
              <a:rPr lang="en-IN" dirty="0"/>
              <a:t>To match U.S.A. AND USA</a:t>
            </a:r>
          </a:p>
          <a:p>
            <a:r>
              <a:rPr lang="en-IN" dirty="0"/>
              <a:t>Results in terms: A term is a (normalized) word type, which is an entry in our IR system dictionary</a:t>
            </a:r>
          </a:p>
          <a:p>
            <a:r>
              <a:rPr lang="en-IN" dirty="0"/>
              <a:t>We most commonly implicitly define equivalence classes of terms</a:t>
            </a:r>
          </a:p>
          <a:p>
            <a:pPr lvl="1"/>
            <a:r>
              <a:rPr lang="en-IN" dirty="0"/>
              <a:t>Deleting dots to form a term</a:t>
            </a:r>
          </a:p>
          <a:p>
            <a:pPr lvl="1"/>
            <a:r>
              <a:rPr lang="en-IN" dirty="0"/>
              <a:t>Deleting hyphen to form a term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7207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1505-6B8F-28EA-9823-20B81B785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Normalization: Other Languages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B2729-204A-B7C7-0F83-F5DD048F1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Accents: cliché or resume </a:t>
            </a:r>
          </a:p>
          <a:p>
            <a:r>
              <a:rPr lang="en-IN" dirty="0"/>
              <a:t>Most important criteria </a:t>
            </a:r>
          </a:p>
          <a:p>
            <a:pPr lvl="1"/>
            <a:r>
              <a:rPr lang="en-IN" dirty="0"/>
              <a:t>How user like to write their queries for these words</a:t>
            </a:r>
          </a:p>
          <a:p>
            <a:r>
              <a:rPr lang="en-IN" dirty="0"/>
              <a:t>Even in language that standardized accent user often may not type them</a:t>
            </a:r>
          </a:p>
          <a:p>
            <a:pPr lvl="1"/>
            <a:r>
              <a:rPr lang="en-IN" dirty="0"/>
              <a:t>Often best to </a:t>
            </a:r>
            <a:r>
              <a:rPr lang="en-IN" dirty="0" err="1"/>
              <a:t>defrormalize</a:t>
            </a:r>
            <a:r>
              <a:rPr lang="en-IN" dirty="0"/>
              <a:t> to de accented terms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1942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9A5C0-2468-EA54-2AB5-1DB42A6DC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Case-folding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77378-BB24-B2B1-2A14-FC6CBD120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Reduce all letter to lower case </a:t>
            </a:r>
          </a:p>
          <a:p>
            <a:pPr lvl="1"/>
            <a:r>
              <a:rPr lang="en-IN" dirty="0"/>
              <a:t>Exception: uppercase , in mid sentence</a:t>
            </a:r>
          </a:p>
          <a:p>
            <a:pPr lvl="2"/>
            <a:r>
              <a:rPr lang="en-IN" dirty="0"/>
              <a:t>e.g. general Motors</a:t>
            </a:r>
          </a:p>
          <a:p>
            <a:pPr lvl="2"/>
            <a:r>
              <a:rPr lang="en-IN" dirty="0"/>
              <a:t>SAIL vs. sail</a:t>
            </a:r>
          </a:p>
          <a:p>
            <a:pPr lvl="2"/>
            <a:r>
              <a:rPr lang="en-IN" dirty="0"/>
              <a:t>Fed vs. fed </a:t>
            </a:r>
          </a:p>
          <a:p>
            <a:pPr lvl="1"/>
            <a:r>
              <a:rPr lang="en-IN" dirty="0"/>
              <a:t>Often best to lower case everything since users will use lowercase regardless of context capitalization</a:t>
            </a:r>
          </a:p>
          <a:p>
            <a:pPr lvl="1"/>
            <a:r>
              <a:rPr lang="en-IN" dirty="0"/>
              <a:t>Google Example : Query: C.A.T.</a:t>
            </a:r>
          </a:p>
          <a:p>
            <a:pPr lvl="2"/>
            <a:r>
              <a:rPr lang="en-IN" dirty="0"/>
              <a:t>#1 result will be cat</a:t>
            </a:r>
          </a:p>
        </p:txBody>
      </p:sp>
    </p:spTree>
    <p:extLst>
      <p:ext uri="{BB962C8B-B14F-4D97-AF65-F5344CB8AC3E}">
        <p14:creationId xmlns:p14="http://schemas.microsoft.com/office/powerpoint/2010/main" val="3817619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56B37-4E1D-21E1-E021-D01EB67D5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Normalization to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1FFE-9268-C08E-B951-1E1438CBD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alternative to equivalence classes is to do asymmetric expansion</a:t>
            </a:r>
          </a:p>
          <a:p>
            <a:r>
              <a:rPr lang="en-IN" dirty="0"/>
              <a:t>An example of where this may be useful</a:t>
            </a:r>
          </a:p>
          <a:p>
            <a:pPr lvl="1"/>
            <a:r>
              <a:rPr lang="en-IN" dirty="0"/>
              <a:t>Enter window, search: window, windows</a:t>
            </a:r>
          </a:p>
          <a:p>
            <a:pPr lvl="1"/>
            <a:r>
              <a:rPr lang="en-IN" dirty="0"/>
              <a:t>Enter Windows search Windows</a:t>
            </a:r>
          </a:p>
          <a:p>
            <a:r>
              <a:rPr lang="en-IN" dirty="0"/>
              <a:t>Potentially more powerful bit less efficient</a:t>
            </a:r>
          </a:p>
        </p:txBody>
      </p:sp>
    </p:spTree>
    <p:extLst>
      <p:ext uri="{BB962C8B-B14F-4D97-AF65-F5344CB8AC3E}">
        <p14:creationId xmlns:p14="http://schemas.microsoft.com/office/powerpoint/2010/main" val="455589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83E85-A022-61AC-B77E-D4A3E0873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Thesaurus and Soundex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57B96-CFAE-632F-4074-C62FC580F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 we handle synonym and homonym?</a:t>
            </a:r>
          </a:p>
          <a:p>
            <a:pPr lvl="1"/>
            <a:r>
              <a:rPr lang="en-IN" dirty="0"/>
              <a:t>e.g. by hand constructed </a:t>
            </a:r>
            <a:r>
              <a:rPr lang="en-IN" dirty="0" err="1"/>
              <a:t>equivalenve</a:t>
            </a:r>
            <a:r>
              <a:rPr lang="en-IN" dirty="0"/>
              <a:t> class</a:t>
            </a:r>
          </a:p>
          <a:p>
            <a:pPr lvl="2"/>
            <a:r>
              <a:rPr lang="en-IN" dirty="0"/>
              <a:t>Car=automobile, </a:t>
            </a:r>
            <a:r>
              <a:rPr lang="en-IN" dirty="0" err="1"/>
              <a:t>color</a:t>
            </a:r>
            <a:r>
              <a:rPr lang="en-IN" dirty="0"/>
              <a:t>=colour</a:t>
            </a:r>
          </a:p>
          <a:p>
            <a:pPr lvl="1"/>
            <a:r>
              <a:rPr lang="en-IN" dirty="0"/>
              <a:t>We can rewrite to form equivalence class terms</a:t>
            </a:r>
          </a:p>
          <a:p>
            <a:pPr lvl="2"/>
            <a:r>
              <a:rPr lang="en-IN" dirty="0"/>
              <a:t>When the document contains automobile, index it under </a:t>
            </a:r>
            <a:r>
              <a:rPr lang="en-IN" b="1" dirty="0"/>
              <a:t>car-automobile</a:t>
            </a:r>
            <a:r>
              <a:rPr lang="en-IN" dirty="0"/>
              <a:t> (and vice-versa)</a:t>
            </a:r>
          </a:p>
          <a:p>
            <a:pPr lvl="2"/>
            <a:r>
              <a:rPr lang="en-IN" dirty="0"/>
              <a:t>Or we can expand a query contain automobile look under </a:t>
            </a:r>
            <a:r>
              <a:rPr lang="en-IN" b="1" dirty="0"/>
              <a:t>car</a:t>
            </a:r>
            <a:r>
              <a:rPr lang="en-IN" dirty="0"/>
              <a:t> as well.</a:t>
            </a:r>
          </a:p>
          <a:p>
            <a:pPr lvl="1"/>
            <a:r>
              <a:rPr lang="en-IN" dirty="0"/>
              <a:t>What about spelling mistakes?</a:t>
            </a:r>
          </a:p>
          <a:p>
            <a:pPr lvl="2"/>
            <a:r>
              <a:rPr lang="en-IN" dirty="0"/>
              <a:t>One approach is Soundex, which forms equivalence classes of words based on phonetic heuristic</a:t>
            </a:r>
          </a:p>
        </p:txBody>
      </p:sp>
    </p:spTree>
    <p:extLst>
      <p:ext uri="{BB962C8B-B14F-4D97-AF65-F5344CB8AC3E}">
        <p14:creationId xmlns:p14="http://schemas.microsoft.com/office/powerpoint/2010/main" val="2401111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FEA93-149B-20A0-1D17-05BAAC92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Lemmatization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6193-0BA7-70C2-B24A-58577BD5B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Reduce inflectional/ variant form to base form</a:t>
            </a:r>
          </a:p>
          <a:p>
            <a:r>
              <a:rPr lang="en-IN" dirty="0"/>
              <a:t>e.g. </a:t>
            </a:r>
          </a:p>
          <a:p>
            <a:pPr lvl="1"/>
            <a:r>
              <a:rPr lang="en-IN" dirty="0"/>
              <a:t>Am, are, </a:t>
            </a:r>
            <a:r>
              <a:rPr lang="en-IN" dirty="0" err="1"/>
              <a:t>is</a:t>
            </a:r>
            <a:r>
              <a:rPr lang="en-IN" dirty="0" err="1">
                <a:sym typeface="Wingdings" panose="05000000000000000000" pitchFamily="2" charset="2"/>
              </a:rPr>
              <a:t>be</a:t>
            </a:r>
            <a:endParaRPr lang="en-IN" dirty="0">
              <a:sym typeface="Wingdings" panose="05000000000000000000" pitchFamily="2" charset="2"/>
            </a:endParaRPr>
          </a:p>
          <a:p>
            <a:pPr lvl="1"/>
            <a:r>
              <a:rPr lang="en-IN" dirty="0">
                <a:sym typeface="Wingdings" panose="05000000000000000000" pitchFamily="2" charset="2"/>
              </a:rPr>
              <a:t>Car, cars, car’s, cars’  car</a:t>
            </a:r>
            <a:endParaRPr lang="en-IN" dirty="0"/>
          </a:p>
          <a:p>
            <a:r>
              <a:rPr lang="en-IN" dirty="0"/>
              <a:t>The boys cars are different colours </a:t>
            </a:r>
            <a:r>
              <a:rPr lang="en-IN" dirty="0">
                <a:sym typeface="Wingdings" panose="05000000000000000000" pitchFamily="2" charset="2"/>
              </a:rPr>
              <a:t> the boy car be diff colour</a:t>
            </a:r>
          </a:p>
          <a:p>
            <a:r>
              <a:rPr lang="en-IN" dirty="0">
                <a:sym typeface="Wingdings" panose="05000000000000000000" pitchFamily="2" charset="2"/>
              </a:rPr>
              <a:t>Lemmatization implies doing proper reduction to dictionary headword form</a:t>
            </a:r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8259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5D58C-F20B-C3A8-24E3-CCE1845DA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Stemming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4DF02-8348-1357-F19F-6D83AD48B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Reduces terms to their roots before indexing</a:t>
            </a:r>
          </a:p>
          <a:p>
            <a:r>
              <a:rPr lang="en-IN" dirty="0"/>
              <a:t>Stemming suggest crude affix chopping</a:t>
            </a:r>
          </a:p>
          <a:p>
            <a:pPr lvl="1"/>
            <a:r>
              <a:rPr lang="en-IN" dirty="0"/>
              <a:t>Language dependent</a:t>
            </a:r>
          </a:p>
          <a:p>
            <a:pPr lvl="1"/>
            <a:r>
              <a:rPr lang="en-IN" dirty="0"/>
              <a:t>e.g. automate(s), automatic, automation all are reduced to automat</a:t>
            </a:r>
          </a:p>
          <a:p>
            <a:pPr lvl="1"/>
            <a:r>
              <a:rPr lang="en-IN" dirty="0"/>
              <a:t>For example compressed and compression are both accept as equivalent to compress </a:t>
            </a:r>
            <a:r>
              <a:rPr lang="en-IN" dirty="0">
                <a:sym typeface="Wingdings" panose="05000000000000000000" pitchFamily="2" charset="2"/>
              </a:rPr>
              <a:t> for </a:t>
            </a:r>
            <a:r>
              <a:rPr lang="en-IN" dirty="0" err="1">
                <a:sym typeface="Wingdings" panose="05000000000000000000" pitchFamily="2" charset="2"/>
              </a:rPr>
              <a:t>exampl</a:t>
            </a:r>
            <a:r>
              <a:rPr lang="en-IN" dirty="0">
                <a:sym typeface="Wingdings" panose="05000000000000000000" pitchFamily="2" charset="2"/>
              </a:rPr>
              <a:t> compress and compress </a:t>
            </a:r>
            <a:r>
              <a:rPr lang="en-IN" dirty="0" err="1">
                <a:sym typeface="Wingdings" panose="05000000000000000000" pitchFamily="2" charset="2"/>
              </a:rPr>
              <a:t>ar</a:t>
            </a:r>
            <a:r>
              <a:rPr lang="en-IN" dirty="0">
                <a:sym typeface="Wingdings" panose="05000000000000000000" pitchFamily="2" charset="2"/>
              </a:rPr>
              <a:t> both accept as equivale to compress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548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BC193-6922-4F70-7A3B-EA68A4F7D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F95E9-DDE6-FF44-CCEA-CA7DCE1BF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Stemming Algorithms are divided into: </a:t>
            </a:r>
          </a:p>
          <a:p>
            <a:pPr lvl="1"/>
            <a:r>
              <a:rPr lang="en-IN" dirty="0"/>
              <a:t>Truncating</a:t>
            </a:r>
          </a:p>
          <a:p>
            <a:pPr lvl="2"/>
            <a:r>
              <a:rPr lang="en-IN" dirty="0" err="1"/>
              <a:t>Lovins</a:t>
            </a:r>
            <a:r>
              <a:rPr lang="en-IN" dirty="0"/>
              <a:t>, Porters, Dawson</a:t>
            </a:r>
          </a:p>
          <a:p>
            <a:pPr lvl="1"/>
            <a:r>
              <a:rPr lang="en-IN" dirty="0"/>
              <a:t>Statistical</a:t>
            </a:r>
          </a:p>
          <a:p>
            <a:pPr lvl="2"/>
            <a:r>
              <a:rPr lang="en-IN" dirty="0"/>
              <a:t>N-gram, HMM, YASS</a:t>
            </a:r>
          </a:p>
          <a:p>
            <a:pPr lvl="1"/>
            <a:r>
              <a:rPr lang="en-IN" dirty="0"/>
              <a:t>Mixed</a:t>
            </a:r>
          </a:p>
          <a:p>
            <a:pPr lvl="2"/>
            <a:r>
              <a:rPr lang="en-IN" dirty="0"/>
              <a:t>Inflectional and Derivational</a:t>
            </a:r>
          </a:p>
          <a:p>
            <a:pPr lvl="3"/>
            <a:r>
              <a:rPr lang="en-IN" dirty="0" err="1"/>
              <a:t>Krovetz</a:t>
            </a:r>
            <a:r>
              <a:rPr lang="en-IN" dirty="0"/>
              <a:t>, Xerox</a:t>
            </a:r>
          </a:p>
          <a:p>
            <a:pPr lvl="3"/>
            <a:r>
              <a:rPr lang="en-IN" dirty="0"/>
              <a:t>Corpus based</a:t>
            </a:r>
          </a:p>
          <a:p>
            <a:pPr lvl="3"/>
            <a:r>
              <a:rPr lang="en-IN" dirty="0"/>
              <a:t>Context </a:t>
            </a:r>
            <a:r>
              <a:rPr lang="en-IN" dirty="0" err="1"/>
              <a:t>senstive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1418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9774-7E8F-F7E0-CFFB-5051EEF6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Porter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755D4-1392-2809-5197-FBE052B4C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Commonest algorithm for stemming English</a:t>
            </a:r>
          </a:p>
          <a:p>
            <a:pPr lvl="1"/>
            <a:r>
              <a:rPr lang="en-IN" dirty="0"/>
              <a:t>Results suggest it is at least as good as other stemming option</a:t>
            </a:r>
          </a:p>
          <a:p>
            <a:r>
              <a:rPr lang="en-IN" dirty="0"/>
              <a:t>Convention +5 phases of reduction</a:t>
            </a:r>
          </a:p>
          <a:p>
            <a:pPr lvl="1"/>
            <a:r>
              <a:rPr lang="en-IN" dirty="0"/>
              <a:t>Phase applied sequentially </a:t>
            </a:r>
          </a:p>
          <a:p>
            <a:pPr lvl="1"/>
            <a:r>
              <a:rPr lang="en-IN" dirty="0"/>
              <a:t>Each phase consists of a set of document</a:t>
            </a:r>
          </a:p>
          <a:p>
            <a:pPr lvl="1"/>
            <a:r>
              <a:rPr lang="en-IN" dirty="0"/>
              <a:t>Sample convention: of the rule in a compound command, select the one that applied to the longest suffix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145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E0319-EC65-86D5-42EB-48E96EB1A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Typical rule in porter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2BF19-16CF-F19A-D222-3FF59002A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sses</a:t>
            </a:r>
            <a:r>
              <a:rPr lang="en-IN" dirty="0" err="1">
                <a:sym typeface="Wingdings" panose="05000000000000000000" pitchFamily="2" charset="2"/>
              </a:rPr>
              <a:t>ss</a:t>
            </a:r>
            <a:endParaRPr lang="en-IN" dirty="0">
              <a:sym typeface="Wingdings" panose="05000000000000000000" pitchFamily="2" charset="2"/>
            </a:endParaRPr>
          </a:p>
          <a:p>
            <a:r>
              <a:rPr lang="en-IN" dirty="0" err="1">
                <a:sym typeface="Wingdings" panose="05000000000000000000" pitchFamily="2" charset="2"/>
              </a:rPr>
              <a:t>iesI</a:t>
            </a:r>
            <a:endParaRPr lang="en-IN" dirty="0">
              <a:sym typeface="Wingdings" panose="05000000000000000000" pitchFamily="2" charset="2"/>
            </a:endParaRPr>
          </a:p>
          <a:p>
            <a:r>
              <a:rPr lang="en-IN" dirty="0" err="1">
                <a:sym typeface="Wingdings" panose="05000000000000000000" pitchFamily="2" charset="2"/>
              </a:rPr>
              <a:t>ationalate</a:t>
            </a:r>
            <a:endParaRPr lang="en-IN" dirty="0">
              <a:sym typeface="Wingdings" panose="05000000000000000000" pitchFamily="2" charset="2"/>
            </a:endParaRPr>
          </a:p>
          <a:p>
            <a:r>
              <a:rPr lang="en-IN" dirty="0" err="1"/>
              <a:t>Tional</a:t>
            </a:r>
            <a:r>
              <a:rPr lang="en-IN" dirty="0" err="1">
                <a:sym typeface="Wingdings" panose="05000000000000000000" pitchFamily="2" charset="2"/>
              </a:rPr>
              <a:t>tion</a:t>
            </a:r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Rules sensitive to the measure of words</a:t>
            </a:r>
          </a:p>
          <a:p>
            <a:r>
              <a:rPr lang="en-IN" dirty="0">
                <a:sym typeface="Wingdings" panose="05000000000000000000" pitchFamily="2" charset="2"/>
              </a:rPr>
              <a:t>(m&gt;1)EMENT</a:t>
            </a:r>
          </a:p>
          <a:p>
            <a:pPr lvl="1"/>
            <a:r>
              <a:rPr lang="en-IN" dirty="0" err="1">
                <a:sym typeface="Wingdings" panose="05000000000000000000" pitchFamily="2" charset="2"/>
              </a:rPr>
              <a:t>Replacementreplac</a:t>
            </a:r>
            <a:endParaRPr lang="en-IN" dirty="0">
              <a:sym typeface="Wingdings" panose="05000000000000000000" pitchFamily="2" charset="2"/>
            </a:endParaRPr>
          </a:p>
          <a:p>
            <a:pPr lvl="1"/>
            <a:r>
              <a:rPr lang="en-IN" dirty="0" err="1">
                <a:sym typeface="Wingdings" panose="05000000000000000000" pitchFamily="2" charset="2"/>
              </a:rPr>
              <a:t>Cementcement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4724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6FF2A-E4A0-8D30-D3E7-F706EDAF6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Other stemmer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742E1-399E-000F-201B-E10410B5D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Other stemmer exist, e.g. </a:t>
            </a:r>
            <a:r>
              <a:rPr lang="en-IN" dirty="0" err="1"/>
              <a:t>Lovins</a:t>
            </a:r>
            <a:r>
              <a:rPr lang="en-IN" dirty="0"/>
              <a:t> stemmer</a:t>
            </a:r>
          </a:p>
          <a:p>
            <a:pPr lvl="1"/>
            <a:r>
              <a:rPr lang="en-IN" dirty="0"/>
              <a:t>Single pass, longest suffix removal (more than 250 rules)</a:t>
            </a:r>
          </a:p>
          <a:p>
            <a:r>
              <a:rPr lang="en-IN" dirty="0"/>
              <a:t>Full morphological analysis- at most modest benefits for retrieval</a:t>
            </a:r>
          </a:p>
          <a:p>
            <a:r>
              <a:rPr lang="en-IN" dirty="0"/>
              <a:t>Do stemming and other normalization help?</a:t>
            </a:r>
          </a:p>
          <a:p>
            <a:pPr lvl="1"/>
            <a:r>
              <a:rPr lang="en-IN" dirty="0"/>
              <a:t>English: very mixed results, helps recall but harms precision</a:t>
            </a:r>
          </a:p>
          <a:p>
            <a:pPr lvl="2"/>
            <a:r>
              <a:rPr lang="en-IN" dirty="0"/>
              <a:t>Operative (dentistry) </a:t>
            </a:r>
            <a:r>
              <a:rPr lang="en-IN" dirty="0">
                <a:sym typeface="Wingdings" panose="05000000000000000000" pitchFamily="2" charset="2"/>
              </a:rPr>
              <a:t></a:t>
            </a:r>
            <a:r>
              <a:rPr lang="en-IN" dirty="0" err="1">
                <a:sym typeface="Wingdings" panose="05000000000000000000" pitchFamily="2" charset="2"/>
              </a:rPr>
              <a:t>oper</a:t>
            </a:r>
            <a:endParaRPr lang="en-IN" dirty="0">
              <a:sym typeface="Wingdings" panose="05000000000000000000" pitchFamily="2" charset="2"/>
            </a:endParaRPr>
          </a:p>
          <a:p>
            <a:pPr lvl="2"/>
            <a:r>
              <a:rPr lang="en-IN" dirty="0">
                <a:sym typeface="Wingdings" panose="05000000000000000000" pitchFamily="2" charset="2"/>
              </a:rPr>
              <a:t>Operational (research) </a:t>
            </a:r>
            <a:r>
              <a:rPr lang="en-IN" dirty="0" err="1">
                <a:sym typeface="Wingdings" panose="05000000000000000000" pitchFamily="2" charset="2"/>
              </a:rPr>
              <a:t>oper</a:t>
            </a:r>
            <a:endParaRPr lang="en-IN" dirty="0">
              <a:sym typeface="Wingdings" panose="05000000000000000000" pitchFamily="2" charset="2"/>
            </a:endParaRPr>
          </a:p>
          <a:p>
            <a:pPr lvl="2"/>
            <a:r>
              <a:rPr lang="en-IN" dirty="0">
                <a:sym typeface="Wingdings" panose="05000000000000000000" pitchFamily="2" charset="2"/>
              </a:rPr>
              <a:t>Operating (system) </a:t>
            </a:r>
            <a:r>
              <a:rPr lang="en-IN" dirty="0" err="1">
                <a:sym typeface="Wingdings" panose="05000000000000000000" pitchFamily="2" charset="2"/>
              </a:rPr>
              <a:t>oper</a:t>
            </a:r>
            <a:endParaRPr lang="en-IN" dirty="0"/>
          </a:p>
          <a:p>
            <a:pPr lvl="1"/>
            <a:r>
              <a:rPr lang="en-IN" dirty="0" err="1"/>
              <a:t>Defenetly</a:t>
            </a:r>
            <a:r>
              <a:rPr lang="en-IN" dirty="0"/>
              <a:t> useful for Spanish, German, Finnish</a:t>
            </a:r>
          </a:p>
          <a:p>
            <a:pPr marL="27432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7904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EB6BD-5901-314A-4A04-3BF5AD013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Lovins</a:t>
            </a:r>
            <a:r>
              <a:rPr lang="en-IN" dirty="0"/>
              <a:t> Stemmer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C2304-1DEC-9290-D69B-1B5E29013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Lovins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algorithm is bigger than the Porter algorithm because of its very extensive endings list. </a:t>
            </a:r>
            <a:endParaRPr lang="en-US" dirty="0">
              <a:solidFill>
                <a:srgbClr val="333333"/>
              </a:solidFill>
              <a:latin typeface="inter-regular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proposed that removes the longest suffix from a word, and then the word is recorded to convert this stem into valid words.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Lovins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stemmer has 294 </a:t>
            </a:r>
            <a:r>
              <a:rPr lang="en-US" b="1" i="1" dirty="0">
                <a:solidFill>
                  <a:srgbClr val="333333"/>
                </a:solidFill>
                <a:effectLst/>
                <a:latin typeface="inter-bold"/>
              </a:rPr>
              <a:t>endings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, 29 </a:t>
            </a:r>
            <a:r>
              <a:rPr lang="en-US" b="1" i="1" dirty="0">
                <a:solidFill>
                  <a:srgbClr val="333333"/>
                </a:solidFill>
                <a:effectLst/>
                <a:latin typeface="inter-bold"/>
              </a:rPr>
              <a:t>conditions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, and 35 </a:t>
            </a:r>
            <a:r>
              <a:rPr lang="en-US" b="1" i="1" dirty="0">
                <a:solidFill>
                  <a:srgbClr val="333333"/>
                </a:solidFill>
                <a:effectLst/>
                <a:latin typeface="inter-bold"/>
              </a:rPr>
              <a:t>transformation rules.</a:t>
            </a:r>
          </a:p>
          <a:p>
            <a:pPr lvl="1"/>
            <a:r>
              <a:rPr lang="en-IN" b="0" i="0" dirty="0">
                <a:solidFill>
                  <a:srgbClr val="333333"/>
                </a:solidFill>
                <a:effectLst/>
                <a:latin typeface="inter-regular"/>
              </a:rPr>
              <a:t>sitting -&gt; </a:t>
            </a:r>
            <a:r>
              <a:rPr lang="en-IN" b="0" i="0" dirty="0" err="1">
                <a:solidFill>
                  <a:srgbClr val="333333"/>
                </a:solidFill>
                <a:effectLst/>
                <a:latin typeface="inter-regular"/>
              </a:rPr>
              <a:t>sitt</a:t>
            </a:r>
            <a:r>
              <a:rPr lang="en-IN" b="0" i="0" dirty="0">
                <a:solidFill>
                  <a:srgbClr val="333333"/>
                </a:solidFill>
                <a:effectLst/>
                <a:latin typeface="inter-regular"/>
              </a:rPr>
              <a:t> -&gt; sit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fast and handles irregular plurals like 'teeth' and 'tooth’ </a:t>
            </a:r>
            <a:endParaRPr lang="en-IN" dirty="0">
              <a:solidFill>
                <a:srgbClr val="333333"/>
              </a:solidFill>
              <a:latin typeface="inter-regular"/>
            </a:endParaRPr>
          </a:p>
          <a:p>
            <a:pPr lvl="1"/>
            <a:r>
              <a:rPr lang="en-IN" b="0" i="0" dirty="0">
                <a:solidFill>
                  <a:srgbClr val="333333"/>
                </a:solidFill>
                <a:effectLst/>
                <a:latin typeface="inter-regular"/>
              </a:rPr>
              <a:t>time and data-consuming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1137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2674F-394A-AD42-98E0-6ADB5EF2B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Dawson Stemmer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F1004-AE99-1726-5097-AC9FCDE43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  <a:latin typeface="inter-regular"/>
              </a:rPr>
              <a:t>E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xtends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Lovins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approach, except it covers a more comprehensive list of about 1200 suffixes.</a:t>
            </a:r>
          </a:p>
          <a:p>
            <a:pPr lvl="1"/>
            <a:r>
              <a:rPr lang="en-US" dirty="0">
                <a:solidFill>
                  <a:srgbClr val="333333"/>
                </a:solidFill>
                <a:latin typeface="inter-regular"/>
              </a:rPr>
              <a:t>Single pass stemmer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fast execution, covers more suffice, and produces a more accurate stemming output.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complex to implement and lacks a standard reusable implementation.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5484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9CE28-BE5D-8EAF-40B3-D51F5235E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D0721-EDA6-FA47-EBB0-FD16B37F0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\begin{figure}\raggedright&#10;\begin{description}&#10;\item[\emph{Sample text:}]&#10;Such a...&#10;...at is mor biolog transp and access to&#10;interpret&#10;\end{description}&#10;\end{figure}">
            <a:extLst>
              <a:ext uri="{FF2B5EF4-FFF2-40B4-BE49-F238E27FC236}">
                <a16:creationId xmlns:a16="http://schemas.microsoft.com/office/drawing/2014/main" id="{516456E2-D720-C97C-4BE2-AF2244D44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049" y="2028825"/>
            <a:ext cx="7781925" cy="400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003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0A94-63D4-42F8-B463-85849411D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Errors in Stemming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BEE4B-A0E9-41C4-2E43-4698AE045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Over-stemming: </a:t>
            </a:r>
          </a:p>
          <a:p>
            <a:pPr lvl="1"/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T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wo words are stemmed from the same root that are of different stems. </a:t>
            </a:r>
          </a:p>
          <a:p>
            <a:pPr lvl="1"/>
            <a:r>
              <a:rPr lang="en-IN" dirty="0"/>
              <a:t>Refers to false positive</a:t>
            </a:r>
          </a:p>
          <a:p>
            <a:pPr lvl="1"/>
            <a:r>
              <a:rPr lang="en-IN" dirty="0"/>
              <a:t>Universe , university will stem to </a:t>
            </a:r>
            <a:r>
              <a:rPr lang="en-IN" dirty="0" err="1"/>
              <a:t>univers</a:t>
            </a:r>
            <a:endParaRPr lang="en-IN" dirty="0"/>
          </a:p>
          <a:p>
            <a:r>
              <a:rPr lang="en-IN" dirty="0"/>
              <a:t>Under-stemming</a:t>
            </a:r>
          </a:p>
          <a:p>
            <a:pPr lvl="1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when two words are stemmed from the same root that are not of different stems. </a:t>
            </a:r>
          </a:p>
          <a:p>
            <a:pPr lvl="1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Under-stemming can be interpreted as false-negatives.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1120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00080-9D3D-7D33-ACAB-C98884B54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994" y="92559"/>
            <a:ext cx="10995659" cy="1077849"/>
          </a:xfrm>
        </p:spPr>
        <p:txBody>
          <a:bodyPr/>
          <a:lstStyle/>
          <a:p>
            <a:r>
              <a:rPr lang="en-IN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F1794-1DC8-BEE0-6186-40C16048B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170" y="778524"/>
            <a:ext cx="10995660" cy="5463656"/>
          </a:xfrm>
        </p:spPr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Are the following statements true or false?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 a Boolean retrieval system, stemming never lowers precision.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 a Boolean retrieval system, stemming never lowers recall.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Stemming increases the size of the vocabulary.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Stemming should be invoked at indexing time but not while processing a query.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Suggest what normalized form should be used for these words (including the word itself as a possibility):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'Cos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Shi'ite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cont'd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Hawai'i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O'Rourke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following pairs of words are stemmed to the same form by the Porter stemmer. Which pairs would you argue shouldn't be conflated. Give your reasoning.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abandon/abandonment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absorbency/absorbent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marketing/markets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university/universe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volume/volumes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1867029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DarkSeedLeftStep">
      <a:dk1>
        <a:srgbClr val="000000"/>
      </a:dk1>
      <a:lt1>
        <a:srgbClr val="FFFFFF"/>
      </a:lt1>
      <a:dk2>
        <a:srgbClr val="1D2A34"/>
      </a:dk2>
      <a:lt2>
        <a:srgbClr val="E3E8E2"/>
      </a:lt2>
      <a:accent1>
        <a:srgbClr val="B34DC3"/>
      </a:accent1>
      <a:accent2>
        <a:srgbClr val="6F3BB1"/>
      </a:accent2>
      <a:accent3>
        <a:srgbClr val="504DC3"/>
      </a:accent3>
      <a:accent4>
        <a:srgbClr val="3B69B1"/>
      </a:accent4>
      <a:accent5>
        <a:srgbClr val="4DACC3"/>
      </a:accent5>
      <a:accent6>
        <a:srgbClr val="3BB197"/>
      </a:accent6>
      <a:hlink>
        <a:srgbClr val="3C8AB5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2836</TotalTime>
  <Words>1259</Words>
  <Application>Microsoft Office PowerPoint</Application>
  <PresentationFormat>Widescreen</PresentationFormat>
  <Paragraphs>191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Amasis MT Pro Medium</vt:lpstr>
      <vt:lpstr>Arial</vt:lpstr>
      <vt:lpstr>inter-bold</vt:lpstr>
      <vt:lpstr>inter-regular</vt:lpstr>
      <vt:lpstr>Nunito</vt:lpstr>
      <vt:lpstr>Times New Roman</vt:lpstr>
      <vt:lpstr>Univers Light</vt:lpstr>
      <vt:lpstr>Wingdings</vt:lpstr>
      <vt:lpstr>TribuneVTI</vt:lpstr>
      <vt:lpstr>Tokenization</vt:lpstr>
      <vt:lpstr>Document Parsing</vt:lpstr>
      <vt:lpstr>Introduction</vt:lpstr>
      <vt:lpstr>Complication: Format/ Language</vt:lpstr>
      <vt:lpstr>Tokenization</vt:lpstr>
      <vt:lpstr>Issues in Tokenization</vt:lpstr>
      <vt:lpstr>Issues in Tokenization</vt:lpstr>
      <vt:lpstr>Stopwords</vt:lpstr>
      <vt:lpstr>Normalization to Terms</vt:lpstr>
      <vt:lpstr>Normalization: Other Languages </vt:lpstr>
      <vt:lpstr>Case-folding</vt:lpstr>
      <vt:lpstr>Normalization to Terms</vt:lpstr>
      <vt:lpstr>Thesaurus and Soundex </vt:lpstr>
      <vt:lpstr>Lemmatization</vt:lpstr>
      <vt:lpstr>Stemming </vt:lpstr>
      <vt:lpstr>Stemming</vt:lpstr>
      <vt:lpstr>Porter Algorithm</vt:lpstr>
      <vt:lpstr>Typical rule in porter </vt:lpstr>
      <vt:lpstr>Other stemmer</vt:lpstr>
      <vt:lpstr>Lovins Stemmer</vt:lpstr>
      <vt:lpstr>Dawson Stemmer</vt:lpstr>
      <vt:lpstr>PowerPoint Presentation</vt:lpstr>
      <vt:lpstr>Errors in Stemming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Crawler</dc:title>
  <dc:creator>richa singh</dc:creator>
  <cp:lastModifiedBy>richa singh</cp:lastModifiedBy>
  <cp:revision>123</cp:revision>
  <dcterms:created xsi:type="dcterms:W3CDTF">2023-07-30T12:57:45Z</dcterms:created>
  <dcterms:modified xsi:type="dcterms:W3CDTF">2023-08-16T17:35:32Z</dcterms:modified>
</cp:coreProperties>
</file>