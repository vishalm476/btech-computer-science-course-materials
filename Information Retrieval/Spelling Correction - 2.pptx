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130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9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4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65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5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8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5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9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58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200" spc="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4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11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11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11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1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11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23E9331F-D6FD-5AE0-4A4A-CBD860E4B7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3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49C35-D9D8-3FAB-5850-EFECAA2AF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6699568" cy="3204134"/>
          </a:xfrm>
        </p:spPr>
        <p:txBody>
          <a:bodyPr anchor="b">
            <a:normAutofit fontScale="90000"/>
          </a:bodyPr>
          <a:lstStyle/>
          <a:p>
            <a:r>
              <a:rPr lang="en-IN" sz="4800" dirty="0"/>
              <a:t>Spelling Correction-2</a:t>
            </a:r>
            <a:br>
              <a:rPr lang="en-IN" sz="4800" dirty="0"/>
            </a:br>
            <a:r>
              <a:rPr lang="en-IN" sz="4800" dirty="0"/>
              <a:t>Spelling Correction using Weighted Edit Distance and n-gram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122D-D6A2-DDAF-C100-CE422595A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endParaRPr lang="en-IN" sz="2000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3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93665-4511-C803-87C3-67B6CA26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Weighted Edit Distance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70310-6CC1-C897-39D2-6C3595F15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weight of an operation depends on the character involved</a:t>
            </a:r>
          </a:p>
          <a:p>
            <a:pPr lvl="1"/>
            <a:r>
              <a:rPr lang="en-IN" dirty="0"/>
              <a:t>Meant to capture OCR or keyboard error, example: m more likely to be mistyped an ‘n’ than as ‘q’.</a:t>
            </a:r>
          </a:p>
          <a:p>
            <a:pPr lvl="1"/>
            <a:r>
              <a:rPr lang="en-IN" dirty="0"/>
              <a:t>Therefore replacing ‘m’ by ‘n’ is a smaller edit distance than by q.</a:t>
            </a:r>
          </a:p>
          <a:p>
            <a:pPr lvl="1"/>
            <a:r>
              <a:rPr lang="en-IN" dirty="0"/>
              <a:t>This may be formulated as a probability model.</a:t>
            </a:r>
          </a:p>
          <a:p>
            <a:r>
              <a:rPr lang="en-IN" sz="2400" dirty="0"/>
              <a:t>Require weight matrix as input.</a:t>
            </a:r>
          </a:p>
          <a:p>
            <a:r>
              <a:rPr lang="en-IN" sz="2400" dirty="0"/>
              <a:t>Modify dynamic programming to handle weight.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69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FDB5-16D8-661D-9B99-B765E9B1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Edit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EF94D-2C75-9E6A-4C70-DCCF1C578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Given Query, first enumerate all character sequence within a preset (weighted) edit distance (e.g. z).</a:t>
            </a:r>
          </a:p>
          <a:p>
            <a:r>
              <a:rPr lang="en-IN" sz="2000" dirty="0"/>
              <a:t>Intersect this set with list of “correct” words.</a:t>
            </a:r>
          </a:p>
          <a:p>
            <a:r>
              <a:rPr lang="en-IN" sz="2000" dirty="0"/>
              <a:t>Show term you found to user as suggestions</a:t>
            </a:r>
          </a:p>
          <a:p>
            <a:r>
              <a:rPr lang="en-IN" sz="2000" dirty="0"/>
              <a:t>Alternatively</a:t>
            </a:r>
          </a:p>
          <a:p>
            <a:pPr lvl="1"/>
            <a:r>
              <a:rPr lang="en-IN" sz="1800" dirty="0"/>
              <a:t>We can lookup all primitive correction in our inverted index and return all document show.</a:t>
            </a:r>
          </a:p>
          <a:p>
            <a:pPr lvl="1"/>
            <a:r>
              <a:rPr lang="en-IN" sz="1800" dirty="0"/>
              <a:t>We can run with a single most likely correction</a:t>
            </a:r>
          </a:p>
          <a:p>
            <a:r>
              <a:rPr lang="en-IN" sz="2000" dirty="0"/>
              <a:t>The alternatively disempower the user, but save a round of interaction with the user</a:t>
            </a:r>
          </a:p>
          <a:p>
            <a:pPr lvl="1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333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88A9-A69D-01C1-2434-386505B4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K-gram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8469E-739A-C06E-22CA-7D3A282A4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 k-gram index maps a k-gram to a postings list of all possible vocabulary terms that contain it. The figure below shows the k-gram postings list corresponding to the bigram “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ur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”.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265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7" name="Freeform: Shape 1036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A186F-8C68-3282-063E-6B3C5164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IN" sz="2800"/>
              <a:t>Spelling Correction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551F3-4F9D-DE64-B169-EC15F2E4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b="0" i="0" dirty="0">
                <a:effectLst/>
                <a:latin typeface="Nunito" pitchFamily="2" charset="0"/>
              </a:rPr>
              <a:t>Consider the misspelt word: “</a:t>
            </a:r>
            <a:r>
              <a:rPr lang="en-US" sz="1700" b="0" i="0" dirty="0" err="1">
                <a:effectLst/>
                <a:latin typeface="Nunito" pitchFamily="2" charset="0"/>
              </a:rPr>
              <a:t>appe</a:t>
            </a:r>
            <a:r>
              <a:rPr lang="en-US" sz="1700" b="0" i="0" dirty="0">
                <a:effectLst/>
                <a:latin typeface="Nunito" pitchFamily="2" charset="0"/>
              </a:rPr>
              <a:t>”. </a:t>
            </a:r>
          </a:p>
          <a:p>
            <a:endParaRPr lang="en-IN" sz="17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F0EDC9F-2561-A97A-94D0-D5159B777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01184" y="1852620"/>
            <a:ext cx="6922008" cy="325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3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BD0A-99E0-B350-5F6C-8ED88BD9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Spelling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B673-900C-FCCC-7792-73C23BDAB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find the k-gram overlap between two postings list, we use the Jaccard coefficient. 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 and B are two sets (postings lists), A for the misspelt word and B for the corrected word.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4DA6076-CBB5-B8B4-0275-31BF0BC3F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44592"/>
            <a:ext cx="76200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89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7682-DC0D-E3EA-07A8-876DE6B3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7F5AB-4632-F6B1-8BAE-B2E2261A7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sz="2000" b="0" i="0" dirty="0">
                <a:solidFill>
                  <a:srgbClr val="273239"/>
                </a:solidFill>
                <a:effectLst/>
                <a:latin typeface="Nunito" pitchFamily="2" charset="0"/>
              </a:rPr>
              <a:t>Some candidate terms for spelling correction, namely “ape” and “apple”.</a:t>
            </a:r>
          </a:p>
          <a:p>
            <a:pPr algn="l" fontAlgn="base"/>
            <a:r>
              <a:rPr lang="en-US" sz="2000" b="1" i="0" dirty="0">
                <a:solidFill>
                  <a:srgbClr val="273239"/>
                </a:solidFill>
                <a:effectLst/>
                <a:latin typeface="Nunito" pitchFamily="2" charset="0"/>
              </a:rPr>
              <a:t>“ape”</a:t>
            </a:r>
          </a:p>
          <a:p>
            <a:pPr lvl="1" fontAlgn="base"/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scan through the postings lists of all bigrams of “</a:t>
            </a:r>
            <a:r>
              <a:rPr lang="en-US" sz="18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appe</a:t>
            </a:r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” and count the instances where “ape” appears.</a:t>
            </a:r>
          </a:p>
          <a:p>
            <a:pPr lvl="1" fontAlgn="base"/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 the first postings list, “ape” appears 1 time. In the second postings list, “ape” appears 0 times. In the third postings list, “ape” appears 1 time. </a:t>
            </a:r>
            <a:endParaRPr lang="en-US" sz="1800" dirty="0">
              <a:solidFill>
                <a:srgbClr val="273239"/>
              </a:solidFill>
              <a:latin typeface="Nunito" pitchFamily="2" charset="0"/>
            </a:endParaRPr>
          </a:p>
          <a:p>
            <a:pPr lvl="1" fontAlgn="base"/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Therefore, A intersection B=2</a:t>
            </a:r>
          </a:p>
          <a:p>
            <a:pPr lvl="1" fontAlgn="base"/>
            <a:r>
              <a:rPr lang="en-US" sz="1800" dirty="0">
                <a:solidFill>
                  <a:srgbClr val="273239"/>
                </a:solidFill>
                <a:latin typeface="Nunito" pitchFamily="2" charset="0"/>
              </a:rPr>
              <a:t>T</a:t>
            </a:r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he no. of bigrams in “</a:t>
            </a:r>
            <a:r>
              <a:rPr lang="en-US" sz="1800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appe</a:t>
            </a:r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” is 3, and the no. of bigrams in “ape” is 2. </a:t>
            </a:r>
          </a:p>
          <a:p>
            <a:pPr lvl="1" fontAlgn="base"/>
            <a:r>
              <a:rPr lang="en-US" sz="1800" b="0" i="0" dirty="0">
                <a:solidFill>
                  <a:srgbClr val="273239"/>
                </a:solidFill>
                <a:effectLst/>
                <a:latin typeface="Nunito" pitchFamily="2" charset="0"/>
              </a:rPr>
              <a:t>Therefore, A union B=3+2-2=3</a:t>
            </a:r>
          </a:p>
          <a:p>
            <a:pPr lvl="1" fontAlgn="base"/>
            <a:r>
              <a:rPr lang="en-US" sz="1800" dirty="0">
                <a:solidFill>
                  <a:srgbClr val="273239"/>
                </a:solidFill>
                <a:latin typeface="Nunito" pitchFamily="2" charset="0"/>
              </a:rPr>
              <a:t>J(A,B)=2/3=0.67</a:t>
            </a:r>
            <a:endParaRPr lang="en-US" sz="18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endParaRPr lang="en-IN" sz="2000" dirty="0"/>
          </a:p>
        </p:txBody>
      </p:sp>
      <p:sp>
        <p:nvSpPr>
          <p:cNvPr id="6" name="AutoShape 4" descr="A \cap B = 2">
            <a:extLst>
              <a:ext uri="{FF2B5EF4-FFF2-40B4-BE49-F238E27FC236}">
                <a16:creationId xmlns:a16="http://schemas.microsoft.com/office/drawing/2014/main" id="{DA1A0159-5F3D-CABB-1DEB-57157BFF37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148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5242-C650-7400-668B-F2C0C7CA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42E1-E474-6292-E13E-5CC66B0B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“apple”</a:t>
            </a:r>
          </a:p>
          <a:p>
            <a:r>
              <a:rPr lang="en-IN" dirty="0">
                <a:solidFill>
                  <a:srgbClr val="273239"/>
                </a:solidFill>
                <a:latin typeface="Nunito" pitchFamily="2" charset="0"/>
              </a:rPr>
              <a:t>A intersection B=3, the number of bigram in “</a:t>
            </a:r>
            <a:r>
              <a:rPr lang="en-IN" dirty="0" err="1">
                <a:solidFill>
                  <a:srgbClr val="273239"/>
                </a:solidFill>
                <a:latin typeface="Nunito" pitchFamily="2" charset="0"/>
              </a:rPr>
              <a:t>appe</a:t>
            </a:r>
            <a:r>
              <a:rPr lang="en-IN" dirty="0">
                <a:solidFill>
                  <a:srgbClr val="273239"/>
                </a:solidFill>
                <a:latin typeface="Nunito" pitchFamily="2" charset="0"/>
              </a:rPr>
              <a:t>” is 3 and the number of bigram in apple is 4. So A union B=3+4-3=4</a:t>
            </a:r>
          </a:p>
          <a:p>
            <a:r>
              <a:rPr lang="en-IN" dirty="0">
                <a:solidFill>
                  <a:srgbClr val="273239"/>
                </a:solidFill>
                <a:latin typeface="Nunito" pitchFamily="2" charset="0"/>
              </a:rPr>
              <a:t>J(A,B)=3/4=0.75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suggests that “apple” is a more plausible correction. Practically, this method is used to filter out unlikely corrections.</a:t>
            </a:r>
            <a:r>
              <a:rPr lang="en-IN" dirty="0">
                <a:solidFill>
                  <a:srgbClr val="273239"/>
                </a:solidFill>
                <a:latin typeface="Nunito" pitchFamily="2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91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93FB-924C-E67E-83DE-C1ED86304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2E4C2-A43F-E16A-9698-0B8EFFAA5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steps involved for spelling correction are: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Find the k-grams of the misspelled word.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For each k-gram, linearly scan through the postings list in the k-gram index.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Find k-gram overlaps after having linearly scanned the lists (no extra time complexity because we are finding the Jaccard coefficient).</a:t>
            </a:r>
          </a:p>
          <a:p>
            <a:pPr lvl="1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Return the terms with the maximum k-gram overlaps.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8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2B0D-B196-6F4A-2DB2-F70B658C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4929B-C7DC-6B21-12E6-058CFA333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Query is for bord</a:t>
            </a:r>
          </a:p>
        </p:txBody>
      </p:sp>
      <p:pic>
        <p:nvPicPr>
          <p:cNvPr id="1026" name="Picture 2" descr="k-gram indexes for spelling correction">
            <a:extLst>
              <a:ext uri="{FF2B5EF4-FFF2-40B4-BE49-F238E27FC236}">
                <a16:creationId xmlns:a16="http://schemas.microsoft.com/office/drawing/2014/main" id="{7B0C689E-C176-EC80-E60E-33CC1D3B3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364" y="3348806"/>
            <a:ext cx="8265566" cy="2294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417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E931-FDAE-C21D-C2E3-216F9F993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1CDF0-1853-075B-3F37-F953EFB91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oardroom and bord</a:t>
            </a:r>
          </a:p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Jaccard coefficient =2/8+3-2=2/9</a:t>
            </a: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bord and board?</a:t>
            </a: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bord and aboard?</a:t>
            </a:r>
          </a:p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bord </a:t>
            </a:r>
            <a:r>
              <a:rPr lang="en-IN">
                <a:solidFill>
                  <a:srgbClr val="000000"/>
                </a:solidFill>
                <a:latin typeface="Times New Roman" panose="02020603050405020304" pitchFamily="18" charset="0"/>
              </a:rPr>
              <a:t>and border?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03740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311C22"/>
      </a:dk2>
      <a:lt2>
        <a:srgbClr val="F0F3F3"/>
      </a:lt2>
      <a:accent1>
        <a:srgbClr val="E74429"/>
      </a:accent1>
      <a:accent2>
        <a:srgbClr val="D5174B"/>
      </a:accent2>
      <a:accent3>
        <a:srgbClr val="E729AC"/>
      </a:accent3>
      <a:accent4>
        <a:srgbClr val="C117D5"/>
      </a:accent4>
      <a:accent5>
        <a:srgbClr val="8329E7"/>
      </a:accent5>
      <a:accent6>
        <a:srgbClr val="3E34DA"/>
      </a:accent6>
      <a:hlink>
        <a:srgbClr val="913FBF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545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Neue Haas Grotesk Text Pro</vt:lpstr>
      <vt:lpstr>Nunito</vt:lpstr>
      <vt:lpstr>Times New Roman</vt:lpstr>
      <vt:lpstr>AccentBoxVTI</vt:lpstr>
      <vt:lpstr>Spelling Correction-2 Spelling Correction using Weighted Edit Distance and n-gram </vt:lpstr>
      <vt:lpstr>Weighted Edit Distance </vt:lpstr>
      <vt:lpstr>Using Edit Distance</vt:lpstr>
      <vt:lpstr>K-gram index</vt:lpstr>
      <vt:lpstr>Spelling Correction</vt:lpstr>
      <vt:lpstr>Spelling Correction</vt:lpstr>
      <vt:lpstr>Contd..</vt:lpstr>
      <vt:lpstr>Contd..</vt:lpstr>
      <vt:lpstr>Steps to Follow</vt:lpstr>
      <vt:lpstr>Practice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Spelling Correction</dc:title>
  <dc:creator>richa singh</dc:creator>
  <cp:lastModifiedBy>richa singh</cp:lastModifiedBy>
  <cp:revision>26</cp:revision>
  <dcterms:created xsi:type="dcterms:W3CDTF">2023-08-23T03:05:34Z</dcterms:created>
  <dcterms:modified xsi:type="dcterms:W3CDTF">2023-08-30T03:59:46Z</dcterms:modified>
</cp:coreProperties>
</file>