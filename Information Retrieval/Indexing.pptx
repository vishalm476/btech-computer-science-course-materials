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480" r:id="rId7"/>
    <p:sldId id="257" r:id="rId8"/>
    <p:sldId id="258" r:id="rId9"/>
    <p:sldId id="259" r:id="rId10"/>
    <p:sldId id="260" r:id="rId11"/>
    <p:sldId id="261" r:id="rId12"/>
    <p:sldId id="262" r:id="rId13"/>
    <p:sldId id="482" r:id="rId14"/>
    <p:sldId id="483" r:id="rId15"/>
    <p:sldId id="484" r:id="rId16"/>
    <p:sldId id="485" r:id="rId17"/>
    <p:sldId id="486" r:id="rId18"/>
    <p:sldId id="487" r:id="rId19"/>
    <p:sldId id="488" r:id="rId20"/>
    <p:sldId id="489" r:id="rId21"/>
    <p:sldId id="495" r:id="rId22"/>
    <p:sldId id="490" r:id="rId23"/>
    <p:sldId id="491" r:id="rId24"/>
    <p:sldId id="492" r:id="rId25"/>
    <p:sldId id="493" r:id="rId26"/>
    <p:sldId id="494" r:id="rId27"/>
    <p:sldId id="496" r:id="rId28"/>
    <p:sldId id="497" r:id="rId29"/>
    <p:sldId id="498" r:id="rId30"/>
    <p:sldId id="499" r:id="rId31"/>
    <p:sldId id="500" r:id="rId32"/>
    <p:sldId id="501" r:id="rId33"/>
    <p:sldId id="502" r:id="rId34"/>
    <p:sldId id="503" r:id="rId35"/>
    <p:sldId id="504" r:id="rId36"/>
    <p:sldId id="505" r:id="rId37"/>
    <p:sldId id="507" r:id="rId38"/>
    <p:sldId id="508" r:id="rId39"/>
    <p:sldId id="509" r:id="rId40"/>
    <p:sldId id="510" r:id="rId41"/>
    <p:sldId id="511" r:id="rId42"/>
    <p:sldId id="512" r:id="rId43"/>
    <p:sldId id="513" r:id="rId44"/>
    <p:sldId id="514" r:id="rId45"/>
    <p:sldId id="515" r:id="rId46"/>
    <p:sldId id="516" r:id="rId47"/>
    <p:sldId id="517" r:id="rId48"/>
    <p:sldId id="518" r:id="rId49"/>
    <p:sldId id="520" r:id="rId50"/>
    <p:sldId id="519" r:id="rId51"/>
    <p:sldId id="521" r:id="rId52"/>
    <p:sldId id="522" r:id="rId53"/>
    <p:sldId id="523" r:id="rId54"/>
    <p:sldId id="524" r:id="rId55"/>
    <p:sldId id="525" r:id="rId56"/>
    <p:sldId id="526" r:id="rId57"/>
    <p:sldId id="527" r:id="rId58"/>
    <p:sldId id="528" r:id="rId59"/>
    <p:sldId id="529" r:id="rId60"/>
    <p:sldId id="530" r:id="rId61"/>
    <p:sldId id="531" r:id="rId62"/>
    <p:sldId id="532" r:id="rId63"/>
    <p:sldId id="533" r:id="rId64"/>
    <p:sldId id="534" r:id="rId65"/>
    <p:sldId id="535" r:id="rId66"/>
    <p:sldId id="536" r:id="rId67"/>
    <p:sldId id="537" r:id="rId68"/>
    <p:sldId id="538" r:id="rId69"/>
    <p:sldId id="539" r:id="rId70"/>
    <p:sldId id="540" r:id="rId71"/>
    <p:sldId id="541" r:id="rId72"/>
    <p:sldId id="542" r:id="rId73"/>
    <p:sldId id="543" r:id="rId74"/>
    <p:sldId id="544" r:id="rId75"/>
    <p:sldId id="545" r:id="rId76"/>
    <p:sldId id="551" r:id="rId77"/>
    <p:sldId id="552" r:id="rId78"/>
    <p:sldId id="546" r:id="rId79"/>
    <p:sldId id="547" r:id="rId80"/>
    <p:sldId id="548" r:id="rId81"/>
    <p:sldId id="549" r:id="rId82"/>
    <p:sldId id="550" r:id="rId83"/>
    <p:sldId id="553" r:id="rId84"/>
    <p:sldId id="555" r:id="rId85"/>
    <p:sldId id="556" r:id="rId86"/>
    <p:sldId id="557" r:id="rId87"/>
    <p:sldId id="558" r:id="rId88"/>
    <p:sldId id="560" r:id="rId89"/>
    <p:sldId id="561" r:id="rId90"/>
    <p:sldId id="562" r:id="rId91"/>
    <p:sldId id="559" r:id="rId92"/>
    <p:sldId id="563" r:id="rId93"/>
    <p:sldId id="567" r:id="rId94"/>
    <p:sldId id="564" r:id="rId95"/>
    <p:sldId id="565" r:id="rId96"/>
    <p:sldId id="574" r:id="rId97"/>
    <p:sldId id="568" r:id="rId98"/>
    <p:sldId id="569" r:id="rId99"/>
    <p:sldId id="570" r:id="rId100"/>
    <p:sldId id="575" r:id="rId101"/>
    <p:sldId id="579" r:id="rId102"/>
    <p:sldId id="581" r:id="rId103"/>
    <p:sldId id="577" r:id="rId104"/>
    <p:sldId id="571" r:id="rId105"/>
    <p:sldId id="578"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9F6A0-8A93-8744-3FD2-3C9937888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A05A86E-7694-F521-4F3F-B2EFD6E5A5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E10A11-AA54-FF4A-5776-6CD1268E69A3}"/>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5" name="Footer Placeholder 4">
            <a:extLst>
              <a:ext uri="{FF2B5EF4-FFF2-40B4-BE49-F238E27FC236}">
                <a16:creationId xmlns:a16="http://schemas.microsoft.com/office/drawing/2014/main" id="{32ADABDB-0C7A-8FAB-5608-8FEAABFE66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D96E69-F0E1-9DA2-65FF-52327C54E3AB}"/>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1798284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F63C3-72C6-DE40-2089-C9B54DB115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BE49E2-D0B8-22E8-A1A6-10E9DCA393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D06B89-C302-DA5A-A7FF-880C0C7C53D7}"/>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5" name="Footer Placeholder 4">
            <a:extLst>
              <a:ext uri="{FF2B5EF4-FFF2-40B4-BE49-F238E27FC236}">
                <a16:creationId xmlns:a16="http://schemas.microsoft.com/office/drawing/2014/main" id="{DD631A1A-0BAC-41FF-EE8A-6D7C79EF0A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526508-8B77-A112-319D-2538C59B30A6}"/>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75401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A72C4-70DD-8F87-45F0-E79B11E2E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18845E-7AFA-3B2C-9560-E911783434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5D14E-6D8B-52F9-8CD8-6B8BEF6FB4F7}"/>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5" name="Footer Placeholder 4">
            <a:extLst>
              <a:ext uri="{FF2B5EF4-FFF2-40B4-BE49-F238E27FC236}">
                <a16:creationId xmlns:a16="http://schemas.microsoft.com/office/drawing/2014/main" id="{CB947DB6-CBAE-6DB1-E70D-FFF017916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F24F62-27B6-0AD4-1A5B-8C19F4FE3ED3}"/>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93697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A1DE-064B-CD9A-8B71-66A617711A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CCDAB9-37B6-05DB-63E9-07817BC055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FDE782-51FF-956E-0FD0-53379CA1EF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2E4CC2-F849-47C5-8845-AD97340F9AD5}"/>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6" name="Footer Placeholder 5">
            <a:extLst>
              <a:ext uri="{FF2B5EF4-FFF2-40B4-BE49-F238E27FC236}">
                <a16:creationId xmlns:a16="http://schemas.microsoft.com/office/drawing/2014/main" id="{2A95ECF8-E243-BE94-25D5-56254E511C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807616-5AAB-506B-6BAD-0421AF9A9362}"/>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15368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FE673-0560-3836-342C-18E8F3DFF4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F1A6E7-558E-A3BF-69C6-DE36CC99F6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3C9BB4-160B-BF5C-80E5-6A505C631B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E4FE43-46AE-7078-40F7-F3FCFA4778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4EB9CC-AD33-796E-76BD-0C100E20A2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BDD9E86-1BF4-53C1-88E8-025A283540E0}"/>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8" name="Footer Placeholder 7">
            <a:extLst>
              <a:ext uri="{FF2B5EF4-FFF2-40B4-BE49-F238E27FC236}">
                <a16:creationId xmlns:a16="http://schemas.microsoft.com/office/drawing/2014/main" id="{1FD5B0C2-EFE6-2795-C631-2E6023A1B1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3614DE-4B40-40F2-FAC2-69EE4838AF6C}"/>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492488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43AC-BCA9-C4DE-1AEE-A2C0EE3BBB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4A8632-BCCA-0D67-2002-AA84E595A10F}"/>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4" name="Footer Placeholder 3">
            <a:extLst>
              <a:ext uri="{FF2B5EF4-FFF2-40B4-BE49-F238E27FC236}">
                <a16:creationId xmlns:a16="http://schemas.microsoft.com/office/drawing/2014/main" id="{2FADC478-D376-1DBD-7524-4BF167A2344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9ACAA7-9338-6780-005B-886F206650B9}"/>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193838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E53ED-248C-A590-C257-D5AA5FBACA63}"/>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3" name="Footer Placeholder 2">
            <a:extLst>
              <a:ext uri="{FF2B5EF4-FFF2-40B4-BE49-F238E27FC236}">
                <a16:creationId xmlns:a16="http://schemas.microsoft.com/office/drawing/2014/main" id="{19A926E2-E499-020B-772D-D8B0ACFC89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80BBD6-47EA-A257-CE4E-8B70DC75DC83}"/>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81627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D6F90-6F38-C1DD-BBC4-B16FC5EADB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A0FBA2-A7B7-681A-FD8A-B595901D1D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B1E1A7-3734-6539-6D0A-187E53696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B7B565-7BAC-62B1-45F8-A3C472610D54}"/>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6" name="Footer Placeholder 5">
            <a:extLst>
              <a:ext uri="{FF2B5EF4-FFF2-40B4-BE49-F238E27FC236}">
                <a16:creationId xmlns:a16="http://schemas.microsoft.com/office/drawing/2014/main" id="{6C563C2A-707A-3515-797E-D48FD7026C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7BF21D-B125-172E-F572-906437F18177}"/>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3342876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5E4F-1ECA-386C-CD22-CF31D69CAE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553F81-EF22-37FA-2716-76A75AAAAD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CB2358-FBD7-D163-8799-C8C8D7E9D5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6F43BC-EE1E-B04B-8C6C-4EED1C425DA5}"/>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6" name="Footer Placeholder 5">
            <a:extLst>
              <a:ext uri="{FF2B5EF4-FFF2-40B4-BE49-F238E27FC236}">
                <a16:creationId xmlns:a16="http://schemas.microsoft.com/office/drawing/2014/main" id="{54CA893C-5859-B2FA-F238-EC2CFC112C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2A20D1-BC92-99DE-699C-59401D28F436}"/>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1218969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96EF-25B8-E2C5-47E6-01FA52B59F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CF984B-C49D-1D1B-ABB8-A72C7E44DA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AE81DF-E16C-503D-8F14-1B55CEB52175}"/>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5" name="Footer Placeholder 4">
            <a:extLst>
              <a:ext uri="{FF2B5EF4-FFF2-40B4-BE49-F238E27FC236}">
                <a16:creationId xmlns:a16="http://schemas.microsoft.com/office/drawing/2014/main" id="{7CA30C78-C992-DB26-F616-2B37677C96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2276EB-6FE5-3C5F-1465-C206F40BB17A}"/>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3601628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A5D0C7-71D7-01D0-4A0C-5DE8827B62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DA9DE0-0090-CC0E-1B73-4AD1B20A24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88E7E5-8CEC-0AC1-0823-D15A023EF07C}"/>
              </a:ext>
            </a:extLst>
          </p:cNvPr>
          <p:cNvSpPr>
            <a:spLocks noGrp="1"/>
          </p:cNvSpPr>
          <p:nvPr>
            <p:ph type="dt" sz="half" idx="10"/>
          </p:nvPr>
        </p:nvSpPr>
        <p:spPr/>
        <p:txBody>
          <a:bodyPr/>
          <a:lstStyle/>
          <a:p>
            <a:fld id="{D1F02BE6-65B1-443B-BC4A-AD4AA46805D8}" type="datetimeFigureOut">
              <a:rPr lang="en-IN" smtClean="0"/>
              <a:t>16-10-2023</a:t>
            </a:fld>
            <a:endParaRPr lang="en-IN"/>
          </a:p>
        </p:txBody>
      </p:sp>
      <p:sp>
        <p:nvSpPr>
          <p:cNvPr id="5" name="Footer Placeholder 4">
            <a:extLst>
              <a:ext uri="{FF2B5EF4-FFF2-40B4-BE49-F238E27FC236}">
                <a16:creationId xmlns:a16="http://schemas.microsoft.com/office/drawing/2014/main" id="{77427C38-12A9-C80C-1909-8B38E880AF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161108-DC25-FED4-E2BA-6EE5B266F990}"/>
              </a:ext>
            </a:extLst>
          </p:cNvPr>
          <p:cNvSpPr>
            <a:spLocks noGrp="1"/>
          </p:cNvSpPr>
          <p:nvPr>
            <p:ph type="sldNum" sz="quarter" idx="12"/>
          </p:nvPr>
        </p:nvSpPr>
        <p:spPr/>
        <p:txBody>
          <a:bodyPr/>
          <a:lstStyle/>
          <a:p>
            <a:fld id="{99683CE2-D798-4AB9-9633-E6E72A93F0ED}" type="slidenum">
              <a:rPr lang="en-IN" smtClean="0"/>
              <a:t>‹#›</a:t>
            </a:fld>
            <a:endParaRPr lang="en-IN"/>
          </a:p>
        </p:txBody>
      </p:sp>
    </p:spTree>
    <p:extLst>
      <p:ext uri="{BB962C8B-B14F-4D97-AF65-F5344CB8AC3E}">
        <p14:creationId xmlns:p14="http://schemas.microsoft.com/office/powerpoint/2010/main" val="44925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843786-BA80-BC72-9207-36AACEE44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A8E086-B147-4878-7959-113F52282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02CFBC-6F4C-967C-68C5-11A6D22C38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F02BE6-65B1-443B-BC4A-AD4AA46805D8}" type="datetimeFigureOut">
              <a:rPr lang="en-IN" smtClean="0"/>
              <a:t>16-10-2023</a:t>
            </a:fld>
            <a:endParaRPr lang="en-IN"/>
          </a:p>
        </p:txBody>
      </p:sp>
      <p:sp>
        <p:nvSpPr>
          <p:cNvPr id="5" name="Footer Placeholder 4">
            <a:extLst>
              <a:ext uri="{FF2B5EF4-FFF2-40B4-BE49-F238E27FC236}">
                <a16:creationId xmlns:a16="http://schemas.microsoft.com/office/drawing/2014/main" id="{D79A83D3-CBD3-CC0F-C4F0-51C3F63FF8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017DA2-9C77-BE29-E68B-5C26A88DA6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683CE2-D798-4AB9-9633-E6E72A93F0ED}" type="slidenum">
              <a:rPr lang="en-IN" smtClean="0"/>
              <a:t>‹#›</a:t>
            </a:fld>
            <a:endParaRPr lang="en-IN"/>
          </a:p>
        </p:txBody>
      </p:sp>
    </p:spTree>
    <p:extLst>
      <p:ext uri="{BB962C8B-B14F-4D97-AF65-F5344CB8AC3E}">
        <p14:creationId xmlns:p14="http://schemas.microsoft.com/office/powerpoint/2010/main" val="1322436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B0FB-335D-02A1-7DF6-52EC40B0B48F}"/>
              </a:ext>
            </a:extLst>
          </p:cNvPr>
          <p:cNvSpPr>
            <a:spLocks noGrp="1"/>
          </p:cNvSpPr>
          <p:nvPr>
            <p:ph type="ctrTitle"/>
          </p:nvPr>
        </p:nvSpPr>
        <p:spPr/>
        <p:txBody>
          <a:bodyPr/>
          <a:lstStyle/>
          <a:p>
            <a:r>
              <a:rPr lang="en-IN" dirty="0"/>
              <a:t>Index Construction</a:t>
            </a:r>
          </a:p>
        </p:txBody>
      </p:sp>
      <p:sp>
        <p:nvSpPr>
          <p:cNvPr id="3" name="Subtitle 2">
            <a:extLst>
              <a:ext uri="{FF2B5EF4-FFF2-40B4-BE49-F238E27FC236}">
                <a16:creationId xmlns:a16="http://schemas.microsoft.com/office/drawing/2014/main" id="{C6A1B729-B266-F654-22CC-01007B85A76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70180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9A145-EC59-791F-1CAF-1DD92A140AA4}"/>
              </a:ext>
            </a:extLst>
          </p:cNvPr>
          <p:cNvSpPr>
            <a:spLocks noGrp="1"/>
          </p:cNvSpPr>
          <p:nvPr>
            <p:ph type="title"/>
          </p:nvPr>
        </p:nvSpPr>
        <p:spPr/>
        <p:txBody>
          <a:bodyPr/>
          <a:lstStyle/>
          <a:p>
            <a:r>
              <a:rPr lang="en-IN" dirty="0"/>
              <a:t>Inverted Index Revision</a:t>
            </a:r>
          </a:p>
        </p:txBody>
      </p:sp>
      <p:sp>
        <p:nvSpPr>
          <p:cNvPr id="3" name="Content Placeholder 2">
            <a:extLst>
              <a:ext uri="{FF2B5EF4-FFF2-40B4-BE49-F238E27FC236}">
                <a16:creationId xmlns:a16="http://schemas.microsoft.com/office/drawing/2014/main" id="{A204FC0E-DF52-04EF-627C-88763E1535AB}"/>
              </a:ext>
            </a:extLst>
          </p:cNvPr>
          <p:cNvSpPr>
            <a:spLocks noGrp="1"/>
          </p:cNvSpPr>
          <p:nvPr>
            <p:ph idx="1"/>
          </p:nvPr>
        </p:nvSpPr>
        <p:spPr/>
        <p:txBody>
          <a:bodyPr>
            <a:normAutofit/>
          </a:bodyPr>
          <a:lstStyle/>
          <a:p>
            <a:pPr marL="457200" lvl="1" indent="0">
              <a:lnSpc>
                <a:spcPct val="90000"/>
              </a:lnSpc>
              <a:buNone/>
            </a:pPr>
            <a:r>
              <a:rPr lang="en-IN" b="1" dirty="0"/>
              <a:t>Document1: </a:t>
            </a:r>
          </a:p>
          <a:p>
            <a:pPr marL="457200" lvl="1" indent="0">
              <a:lnSpc>
                <a:spcPct val="90000"/>
              </a:lnSpc>
              <a:buNone/>
            </a:pPr>
            <a:r>
              <a:rPr lang="en-IN" dirty="0"/>
              <a:t>		I did enact Julius Caeser. I was killed </a:t>
            </a:r>
            <a:r>
              <a:rPr lang="en-IN" dirty="0" err="1"/>
              <a:t>i</a:t>
            </a:r>
            <a:r>
              <a:rPr lang="en-IN" dirty="0"/>
              <a:t>’ the capitol; Brutus killed me</a:t>
            </a:r>
          </a:p>
          <a:p>
            <a:pPr marL="457200" lvl="1" indent="0">
              <a:lnSpc>
                <a:spcPct val="90000"/>
              </a:lnSpc>
              <a:buNone/>
            </a:pPr>
            <a:r>
              <a:rPr lang="en-IN" dirty="0"/>
              <a:t>	</a:t>
            </a:r>
            <a:r>
              <a:rPr lang="en-IN" b="1" dirty="0"/>
              <a:t>Document2:</a:t>
            </a:r>
          </a:p>
          <a:p>
            <a:pPr marL="457200" lvl="1" indent="0">
              <a:lnSpc>
                <a:spcPct val="90000"/>
              </a:lnSpc>
              <a:buNone/>
            </a:pPr>
            <a:r>
              <a:rPr lang="en-IN" dirty="0"/>
              <a:t>		so let it be with Caeser. The noble Brutus hath hold you Caeser was ambitious </a:t>
            </a:r>
          </a:p>
          <a:p>
            <a:endParaRPr lang="en-IN" sz="2400" dirty="0"/>
          </a:p>
        </p:txBody>
      </p:sp>
    </p:spTree>
    <p:extLst>
      <p:ext uri="{BB962C8B-B14F-4D97-AF65-F5344CB8AC3E}">
        <p14:creationId xmlns:p14="http://schemas.microsoft.com/office/powerpoint/2010/main" val="1015153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B0D0E-E102-5155-B828-2B9F615B3D98}"/>
              </a:ext>
            </a:extLst>
          </p:cNvPr>
          <p:cNvSpPr>
            <a:spLocks noGrp="1"/>
          </p:cNvSpPr>
          <p:nvPr>
            <p:ph type="title"/>
          </p:nvPr>
        </p:nvSpPr>
        <p:spPr/>
        <p:txBody>
          <a:bodyPr/>
          <a:lstStyle/>
          <a:p>
            <a:r>
              <a:rPr lang="en-IN" sz="4400" dirty="0"/>
              <a:t>Tokenization</a:t>
            </a:r>
            <a:endParaRPr lang="en-IN" dirty="0"/>
          </a:p>
        </p:txBody>
      </p:sp>
      <p:sp>
        <p:nvSpPr>
          <p:cNvPr id="3" name="Content Placeholder 2">
            <a:extLst>
              <a:ext uri="{FF2B5EF4-FFF2-40B4-BE49-F238E27FC236}">
                <a16:creationId xmlns:a16="http://schemas.microsoft.com/office/drawing/2014/main" id="{28E02274-1AC0-ED2E-71B9-8EFD22DCD1C8}"/>
              </a:ext>
            </a:extLst>
          </p:cNvPr>
          <p:cNvSpPr>
            <a:spLocks noGrp="1"/>
          </p:cNvSpPr>
          <p:nvPr>
            <p:ph idx="1"/>
          </p:nvPr>
        </p:nvSpPr>
        <p:spPr/>
        <p:txBody>
          <a:bodyPr>
            <a:normAutofit/>
          </a:bodyPr>
          <a:lstStyle/>
          <a:p>
            <a:pPr>
              <a:lnSpc>
                <a:spcPct val="90000"/>
              </a:lnSpc>
            </a:pPr>
            <a:r>
              <a:rPr lang="en-IN" sz="1600" dirty="0"/>
              <a:t>Task</a:t>
            </a:r>
          </a:p>
          <a:p>
            <a:pPr lvl="1">
              <a:lnSpc>
                <a:spcPct val="90000"/>
              </a:lnSpc>
            </a:pPr>
            <a:r>
              <a:rPr lang="en-IN" sz="1600" dirty="0"/>
              <a:t>Chop document into pieces</a:t>
            </a:r>
          </a:p>
          <a:p>
            <a:pPr lvl="1">
              <a:lnSpc>
                <a:spcPct val="90000"/>
              </a:lnSpc>
            </a:pPr>
            <a:r>
              <a:rPr lang="en-IN" sz="1600" dirty="0"/>
              <a:t>Throw away characters such as punctuations</a:t>
            </a:r>
          </a:p>
          <a:p>
            <a:pPr marL="457200" lvl="1" indent="0">
              <a:lnSpc>
                <a:spcPct val="90000"/>
              </a:lnSpc>
              <a:buNone/>
            </a:pPr>
            <a:r>
              <a:rPr lang="en-IN" sz="1600" dirty="0"/>
              <a:t>Example1: </a:t>
            </a:r>
          </a:p>
          <a:p>
            <a:pPr marL="457200" lvl="1" indent="0">
              <a:lnSpc>
                <a:spcPct val="90000"/>
              </a:lnSpc>
              <a:buNone/>
            </a:pPr>
            <a:r>
              <a:rPr lang="en-IN" sz="1600" b="1" dirty="0"/>
              <a:t>Document1: </a:t>
            </a:r>
          </a:p>
          <a:p>
            <a:pPr marL="457200" lvl="1" indent="0">
              <a:lnSpc>
                <a:spcPct val="90000"/>
              </a:lnSpc>
              <a:buNone/>
            </a:pPr>
            <a:r>
              <a:rPr lang="en-IN" sz="1600" dirty="0"/>
              <a:t>	I did enact Julius Caeser. I was killed </a:t>
            </a:r>
            <a:r>
              <a:rPr lang="en-IN" sz="1600" dirty="0" err="1"/>
              <a:t>i</a:t>
            </a:r>
            <a:r>
              <a:rPr lang="en-IN" sz="1600" dirty="0"/>
              <a:t>’ the capitol; Brutus killed me</a:t>
            </a:r>
          </a:p>
          <a:p>
            <a:pPr marL="457200" lvl="1" indent="0">
              <a:lnSpc>
                <a:spcPct val="90000"/>
              </a:lnSpc>
              <a:buNone/>
            </a:pPr>
            <a:r>
              <a:rPr lang="en-IN" sz="1600" b="1" dirty="0"/>
              <a:t>Document2:</a:t>
            </a:r>
          </a:p>
          <a:p>
            <a:pPr marL="457200" lvl="1" indent="0">
              <a:lnSpc>
                <a:spcPct val="90000"/>
              </a:lnSpc>
              <a:buNone/>
            </a:pPr>
            <a:r>
              <a:rPr lang="en-IN" sz="1600" dirty="0"/>
              <a:t>	so let it be with Caeser. The noble Brutus hath hold you Caeser was ambitious </a:t>
            </a:r>
          </a:p>
          <a:p>
            <a:pPr lvl="1">
              <a:lnSpc>
                <a:spcPct val="90000"/>
              </a:lnSpc>
            </a:pPr>
            <a:endParaRPr lang="en-IN" sz="1600" dirty="0"/>
          </a:p>
        </p:txBody>
      </p:sp>
      <p:graphicFrame>
        <p:nvGraphicFramePr>
          <p:cNvPr id="4" name="Table 7">
            <a:extLst>
              <a:ext uri="{FF2B5EF4-FFF2-40B4-BE49-F238E27FC236}">
                <a16:creationId xmlns:a16="http://schemas.microsoft.com/office/drawing/2014/main" id="{BF3C2ADA-67AB-ADD5-1909-0D35386A6EDC}"/>
              </a:ext>
            </a:extLst>
          </p:cNvPr>
          <p:cNvGraphicFramePr>
            <a:graphicFrameLocks noGrp="1"/>
          </p:cNvGraphicFramePr>
          <p:nvPr/>
        </p:nvGraphicFramePr>
        <p:xfrm>
          <a:off x="8390044" y="0"/>
          <a:ext cx="1514336" cy="6892452"/>
        </p:xfrm>
        <a:graphic>
          <a:graphicData uri="http://schemas.openxmlformats.org/drawingml/2006/table">
            <a:tbl>
              <a:tblPr firstRow="1" bandRow="1">
                <a:tableStyleId>{5C22544A-7EE6-4342-B048-85BDC9FD1C3A}</a:tableStyleId>
              </a:tblPr>
              <a:tblGrid>
                <a:gridCol w="1024707">
                  <a:extLst>
                    <a:ext uri="{9D8B030D-6E8A-4147-A177-3AD203B41FA5}">
                      <a16:colId xmlns:a16="http://schemas.microsoft.com/office/drawing/2014/main" val="2358747565"/>
                    </a:ext>
                  </a:extLst>
                </a:gridCol>
                <a:gridCol w="489629">
                  <a:extLst>
                    <a:ext uri="{9D8B030D-6E8A-4147-A177-3AD203B41FA5}">
                      <a16:colId xmlns:a16="http://schemas.microsoft.com/office/drawing/2014/main" val="1719220205"/>
                    </a:ext>
                  </a:extLst>
                </a:gridCol>
              </a:tblGrid>
              <a:tr h="328212">
                <a:tc>
                  <a:txBody>
                    <a:bodyPr/>
                    <a:lstStyle/>
                    <a:p>
                      <a:r>
                        <a:rPr lang="en-IN" sz="1400" dirty="0"/>
                        <a:t>Caeser</a:t>
                      </a:r>
                    </a:p>
                  </a:txBody>
                  <a:tcPr/>
                </a:tc>
                <a:tc>
                  <a:txBody>
                    <a:bodyPr/>
                    <a:lstStyle/>
                    <a:p>
                      <a:r>
                        <a:rPr lang="en-IN" sz="1400" dirty="0"/>
                        <a:t>1</a:t>
                      </a:r>
                    </a:p>
                  </a:txBody>
                  <a:tcPr/>
                </a:tc>
                <a:extLst>
                  <a:ext uri="{0D108BD9-81ED-4DB2-BD59-A6C34878D82A}">
                    <a16:rowId xmlns:a16="http://schemas.microsoft.com/office/drawing/2014/main" val="1530896262"/>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2754582852"/>
                  </a:ext>
                </a:extLst>
              </a:tr>
              <a:tr h="328212">
                <a:tc>
                  <a:txBody>
                    <a:bodyPr/>
                    <a:lstStyle/>
                    <a:p>
                      <a:r>
                        <a:rPr lang="en-IN" sz="1400" dirty="0"/>
                        <a:t>Did</a:t>
                      </a:r>
                    </a:p>
                  </a:txBody>
                  <a:tcPr/>
                </a:tc>
                <a:tc>
                  <a:txBody>
                    <a:bodyPr/>
                    <a:lstStyle/>
                    <a:p>
                      <a:r>
                        <a:rPr lang="en-IN" sz="1400" dirty="0"/>
                        <a:t>1</a:t>
                      </a:r>
                    </a:p>
                  </a:txBody>
                  <a:tcPr/>
                </a:tc>
                <a:extLst>
                  <a:ext uri="{0D108BD9-81ED-4DB2-BD59-A6C34878D82A}">
                    <a16:rowId xmlns:a16="http://schemas.microsoft.com/office/drawing/2014/main" val="4188370983"/>
                  </a:ext>
                </a:extLst>
              </a:tr>
              <a:tr h="328212">
                <a:tc>
                  <a:txBody>
                    <a:bodyPr/>
                    <a:lstStyle/>
                    <a:p>
                      <a:r>
                        <a:rPr lang="en-IN" sz="1400" dirty="0"/>
                        <a:t>Enact</a:t>
                      </a:r>
                    </a:p>
                  </a:txBody>
                  <a:tcPr/>
                </a:tc>
                <a:tc>
                  <a:txBody>
                    <a:bodyPr/>
                    <a:lstStyle/>
                    <a:p>
                      <a:r>
                        <a:rPr lang="en-IN" sz="1400" dirty="0"/>
                        <a:t>1</a:t>
                      </a:r>
                    </a:p>
                  </a:txBody>
                  <a:tcPr/>
                </a:tc>
                <a:extLst>
                  <a:ext uri="{0D108BD9-81ED-4DB2-BD59-A6C34878D82A}">
                    <a16:rowId xmlns:a16="http://schemas.microsoft.com/office/drawing/2014/main" val="1239110911"/>
                  </a:ext>
                </a:extLst>
              </a:tr>
              <a:tr h="328212">
                <a:tc>
                  <a:txBody>
                    <a:bodyPr/>
                    <a:lstStyle/>
                    <a:p>
                      <a:r>
                        <a:rPr lang="en-IN" sz="1400" dirty="0"/>
                        <a:t>Julius</a:t>
                      </a:r>
                    </a:p>
                  </a:txBody>
                  <a:tcPr/>
                </a:tc>
                <a:tc>
                  <a:txBody>
                    <a:bodyPr/>
                    <a:lstStyle/>
                    <a:p>
                      <a:r>
                        <a:rPr lang="en-IN" sz="1400" dirty="0"/>
                        <a:t>1</a:t>
                      </a:r>
                    </a:p>
                  </a:txBody>
                  <a:tcPr/>
                </a:tc>
                <a:extLst>
                  <a:ext uri="{0D108BD9-81ED-4DB2-BD59-A6C34878D82A}">
                    <a16:rowId xmlns:a16="http://schemas.microsoft.com/office/drawing/2014/main" val="673166107"/>
                  </a:ext>
                </a:extLst>
              </a:tr>
              <a:tr h="328212">
                <a:tc>
                  <a:txBody>
                    <a:bodyPr/>
                    <a:lstStyle/>
                    <a:p>
                      <a:r>
                        <a:rPr lang="en-IN" sz="1400" dirty="0"/>
                        <a:t>Caeser</a:t>
                      </a:r>
                    </a:p>
                  </a:txBody>
                  <a:tcPr/>
                </a:tc>
                <a:tc>
                  <a:txBody>
                    <a:bodyPr/>
                    <a:lstStyle/>
                    <a:p>
                      <a:r>
                        <a:rPr lang="en-IN" sz="1400" dirty="0"/>
                        <a:t>1</a:t>
                      </a:r>
                    </a:p>
                  </a:txBody>
                  <a:tcPr/>
                </a:tc>
                <a:extLst>
                  <a:ext uri="{0D108BD9-81ED-4DB2-BD59-A6C34878D82A}">
                    <a16:rowId xmlns:a16="http://schemas.microsoft.com/office/drawing/2014/main" val="3614102983"/>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1225232380"/>
                  </a:ext>
                </a:extLst>
              </a:tr>
              <a:tr h="328212">
                <a:tc>
                  <a:txBody>
                    <a:bodyPr/>
                    <a:lstStyle/>
                    <a:p>
                      <a:r>
                        <a:rPr lang="en-IN" sz="1400" dirty="0"/>
                        <a:t>Was</a:t>
                      </a:r>
                    </a:p>
                  </a:txBody>
                  <a:tcPr/>
                </a:tc>
                <a:tc>
                  <a:txBody>
                    <a:bodyPr/>
                    <a:lstStyle/>
                    <a:p>
                      <a:r>
                        <a:rPr lang="en-IN" sz="1400" dirty="0"/>
                        <a:t>1</a:t>
                      </a:r>
                    </a:p>
                  </a:txBody>
                  <a:tcPr/>
                </a:tc>
                <a:extLst>
                  <a:ext uri="{0D108BD9-81ED-4DB2-BD59-A6C34878D82A}">
                    <a16:rowId xmlns:a16="http://schemas.microsoft.com/office/drawing/2014/main" val="126349215"/>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803179129"/>
                  </a:ext>
                </a:extLst>
              </a:tr>
              <a:tr h="328212">
                <a:tc>
                  <a:txBody>
                    <a:bodyPr/>
                    <a:lstStyle/>
                    <a:p>
                      <a:r>
                        <a:rPr lang="en-IN" sz="1400" dirty="0" err="1"/>
                        <a:t>i</a:t>
                      </a:r>
                      <a:r>
                        <a:rPr lang="en-IN" sz="1400" dirty="0"/>
                        <a:t>’</a:t>
                      </a:r>
                    </a:p>
                  </a:txBody>
                  <a:tcPr/>
                </a:tc>
                <a:tc>
                  <a:txBody>
                    <a:bodyPr/>
                    <a:lstStyle/>
                    <a:p>
                      <a:r>
                        <a:rPr lang="en-IN" sz="1400" dirty="0"/>
                        <a:t>1</a:t>
                      </a:r>
                    </a:p>
                  </a:txBody>
                  <a:tcPr/>
                </a:tc>
                <a:extLst>
                  <a:ext uri="{0D108BD9-81ED-4DB2-BD59-A6C34878D82A}">
                    <a16:rowId xmlns:a16="http://schemas.microsoft.com/office/drawing/2014/main" val="3037035409"/>
                  </a:ext>
                </a:extLst>
              </a:tr>
              <a:tr h="328212">
                <a:tc>
                  <a:txBody>
                    <a:bodyPr/>
                    <a:lstStyle/>
                    <a:p>
                      <a:r>
                        <a:rPr lang="en-IN" sz="1400" dirty="0"/>
                        <a:t>The</a:t>
                      </a:r>
                    </a:p>
                  </a:txBody>
                  <a:tcPr/>
                </a:tc>
                <a:tc>
                  <a:txBody>
                    <a:bodyPr/>
                    <a:lstStyle/>
                    <a:p>
                      <a:r>
                        <a:rPr lang="en-IN" sz="1400" dirty="0"/>
                        <a:t>1</a:t>
                      </a:r>
                    </a:p>
                  </a:txBody>
                  <a:tcPr/>
                </a:tc>
                <a:extLst>
                  <a:ext uri="{0D108BD9-81ED-4DB2-BD59-A6C34878D82A}">
                    <a16:rowId xmlns:a16="http://schemas.microsoft.com/office/drawing/2014/main" val="1234850896"/>
                  </a:ext>
                </a:extLst>
              </a:tr>
              <a:tr h="328212">
                <a:tc>
                  <a:txBody>
                    <a:bodyPr/>
                    <a:lstStyle/>
                    <a:p>
                      <a:r>
                        <a:rPr lang="en-IN" sz="1400" dirty="0"/>
                        <a:t>Capitol</a:t>
                      </a:r>
                    </a:p>
                  </a:txBody>
                  <a:tcPr/>
                </a:tc>
                <a:tc>
                  <a:txBody>
                    <a:bodyPr/>
                    <a:lstStyle/>
                    <a:p>
                      <a:r>
                        <a:rPr lang="en-IN" sz="1400" dirty="0"/>
                        <a:t>1</a:t>
                      </a:r>
                    </a:p>
                  </a:txBody>
                  <a:tcPr/>
                </a:tc>
                <a:extLst>
                  <a:ext uri="{0D108BD9-81ED-4DB2-BD59-A6C34878D82A}">
                    <a16:rowId xmlns:a16="http://schemas.microsoft.com/office/drawing/2014/main" val="3361466289"/>
                  </a:ext>
                </a:extLst>
              </a:tr>
              <a:tr h="328212">
                <a:tc>
                  <a:txBody>
                    <a:bodyPr/>
                    <a:lstStyle/>
                    <a:p>
                      <a:r>
                        <a:rPr lang="en-IN" sz="1400" dirty="0"/>
                        <a:t>Brutus</a:t>
                      </a:r>
                    </a:p>
                  </a:txBody>
                  <a:tcPr/>
                </a:tc>
                <a:tc>
                  <a:txBody>
                    <a:bodyPr/>
                    <a:lstStyle/>
                    <a:p>
                      <a:r>
                        <a:rPr lang="en-IN" sz="1400" dirty="0"/>
                        <a:t>1</a:t>
                      </a:r>
                    </a:p>
                  </a:txBody>
                  <a:tcPr/>
                </a:tc>
                <a:extLst>
                  <a:ext uri="{0D108BD9-81ED-4DB2-BD59-A6C34878D82A}">
                    <a16:rowId xmlns:a16="http://schemas.microsoft.com/office/drawing/2014/main" val="100907215"/>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1152569216"/>
                  </a:ext>
                </a:extLst>
              </a:tr>
              <a:tr h="328212">
                <a:tc>
                  <a:txBody>
                    <a:bodyPr/>
                    <a:lstStyle/>
                    <a:p>
                      <a:r>
                        <a:rPr lang="en-IN" sz="1400" dirty="0"/>
                        <a:t>Me</a:t>
                      </a:r>
                    </a:p>
                  </a:txBody>
                  <a:tcPr/>
                </a:tc>
                <a:tc>
                  <a:txBody>
                    <a:bodyPr/>
                    <a:lstStyle/>
                    <a:p>
                      <a:r>
                        <a:rPr lang="en-IN" sz="1400" dirty="0"/>
                        <a:t>1</a:t>
                      </a:r>
                    </a:p>
                  </a:txBody>
                  <a:tcPr/>
                </a:tc>
                <a:extLst>
                  <a:ext uri="{0D108BD9-81ED-4DB2-BD59-A6C34878D82A}">
                    <a16:rowId xmlns:a16="http://schemas.microsoft.com/office/drawing/2014/main" val="2747595521"/>
                  </a:ext>
                </a:extLst>
              </a:tr>
              <a:tr h="328212">
                <a:tc>
                  <a:txBody>
                    <a:bodyPr/>
                    <a:lstStyle/>
                    <a:p>
                      <a:r>
                        <a:rPr lang="en-IN" sz="1400" dirty="0"/>
                        <a:t>So</a:t>
                      </a:r>
                    </a:p>
                  </a:txBody>
                  <a:tcPr/>
                </a:tc>
                <a:tc>
                  <a:txBody>
                    <a:bodyPr/>
                    <a:lstStyle/>
                    <a:p>
                      <a:r>
                        <a:rPr lang="en-IN" sz="1400" dirty="0"/>
                        <a:t>2</a:t>
                      </a:r>
                    </a:p>
                  </a:txBody>
                  <a:tcPr/>
                </a:tc>
                <a:extLst>
                  <a:ext uri="{0D108BD9-81ED-4DB2-BD59-A6C34878D82A}">
                    <a16:rowId xmlns:a16="http://schemas.microsoft.com/office/drawing/2014/main" val="3168747146"/>
                  </a:ext>
                </a:extLst>
              </a:tr>
              <a:tr h="328212">
                <a:tc>
                  <a:txBody>
                    <a:bodyPr/>
                    <a:lstStyle/>
                    <a:p>
                      <a:r>
                        <a:rPr lang="en-IN" sz="1400" dirty="0"/>
                        <a:t>Let</a:t>
                      </a:r>
                    </a:p>
                  </a:txBody>
                  <a:tcPr/>
                </a:tc>
                <a:tc>
                  <a:txBody>
                    <a:bodyPr/>
                    <a:lstStyle/>
                    <a:p>
                      <a:r>
                        <a:rPr lang="en-IN" sz="1400" dirty="0"/>
                        <a:t>2</a:t>
                      </a:r>
                    </a:p>
                  </a:txBody>
                  <a:tcPr/>
                </a:tc>
                <a:extLst>
                  <a:ext uri="{0D108BD9-81ED-4DB2-BD59-A6C34878D82A}">
                    <a16:rowId xmlns:a16="http://schemas.microsoft.com/office/drawing/2014/main" val="2544166912"/>
                  </a:ext>
                </a:extLst>
              </a:tr>
              <a:tr h="328212">
                <a:tc>
                  <a:txBody>
                    <a:bodyPr/>
                    <a:lstStyle/>
                    <a:p>
                      <a:r>
                        <a:rPr lang="en-IN" sz="1400" dirty="0"/>
                        <a:t>It</a:t>
                      </a:r>
                    </a:p>
                  </a:txBody>
                  <a:tcPr/>
                </a:tc>
                <a:tc>
                  <a:txBody>
                    <a:bodyPr/>
                    <a:lstStyle/>
                    <a:p>
                      <a:r>
                        <a:rPr lang="en-IN" sz="1400" dirty="0"/>
                        <a:t>2</a:t>
                      </a:r>
                    </a:p>
                  </a:txBody>
                  <a:tcPr/>
                </a:tc>
                <a:extLst>
                  <a:ext uri="{0D108BD9-81ED-4DB2-BD59-A6C34878D82A}">
                    <a16:rowId xmlns:a16="http://schemas.microsoft.com/office/drawing/2014/main" val="670784296"/>
                  </a:ext>
                </a:extLst>
              </a:tr>
              <a:tr h="328212">
                <a:tc>
                  <a:txBody>
                    <a:bodyPr/>
                    <a:lstStyle/>
                    <a:p>
                      <a:r>
                        <a:rPr lang="en-IN" sz="1400" dirty="0"/>
                        <a:t>Be</a:t>
                      </a:r>
                    </a:p>
                  </a:txBody>
                  <a:tcPr/>
                </a:tc>
                <a:tc>
                  <a:txBody>
                    <a:bodyPr/>
                    <a:lstStyle/>
                    <a:p>
                      <a:r>
                        <a:rPr lang="en-IN" sz="1400" dirty="0"/>
                        <a:t>2</a:t>
                      </a:r>
                    </a:p>
                  </a:txBody>
                  <a:tcPr/>
                </a:tc>
                <a:extLst>
                  <a:ext uri="{0D108BD9-81ED-4DB2-BD59-A6C34878D82A}">
                    <a16:rowId xmlns:a16="http://schemas.microsoft.com/office/drawing/2014/main" val="3425743784"/>
                  </a:ext>
                </a:extLst>
              </a:tr>
              <a:tr h="328212">
                <a:tc>
                  <a:txBody>
                    <a:bodyPr/>
                    <a:lstStyle/>
                    <a:p>
                      <a:r>
                        <a:rPr lang="en-IN" sz="1400" dirty="0"/>
                        <a:t>with</a:t>
                      </a:r>
                    </a:p>
                  </a:txBody>
                  <a:tcPr/>
                </a:tc>
                <a:tc>
                  <a:txBody>
                    <a:bodyPr/>
                    <a:lstStyle/>
                    <a:p>
                      <a:r>
                        <a:rPr lang="en-IN" sz="1400" dirty="0"/>
                        <a:t>2</a:t>
                      </a:r>
                    </a:p>
                  </a:txBody>
                  <a:tcPr/>
                </a:tc>
                <a:extLst>
                  <a:ext uri="{0D108BD9-81ED-4DB2-BD59-A6C34878D82A}">
                    <a16:rowId xmlns:a16="http://schemas.microsoft.com/office/drawing/2014/main" val="4204018637"/>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3620769898"/>
                  </a:ext>
                </a:extLst>
              </a:tr>
            </a:tbl>
          </a:graphicData>
        </a:graphic>
      </p:graphicFrame>
      <p:graphicFrame>
        <p:nvGraphicFramePr>
          <p:cNvPr id="5" name="Table 4">
            <a:extLst>
              <a:ext uri="{FF2B5EF4-FFF2-40B4-BE49-F238E27FC236}">
                <a16:creationId xmlns:a16="http://schemas.microsoft.com/office/drawing/2014/main" id="{B8FE976D-D598-5208-F289-0BFCEDE1C22D}"/>
              </a:ext>
            </a:extLst>
          </p:cNvPr>
          <p:cNvGraphicFramePr>
            <a:graphicFrameLocks noGrp="1"/>
          </p:cNvGraphicFramePr>
          <p:nvPr/>
        </p:nvGraphicFramePr>
        <p:xfrm>
          <a:off x="10032199" y="2679929"/>
          <a:ext cx="1712033" cy="2953908"/>
        </p:xfrm>
        <a:graphic>
          <a:graphicData uri="http://schemas.openxmlformats.org/drawingml/2006/table">
            <a:tbl>
              <a:tblPr firstRow="1" bandRow="1">
                <a:tableStyleId>{5C22544A-7EE6-4342-B048-85BDC9FD1C3A}</a:tableStyleId>
              </a:tblPr>
              <a:tblGrid>
                <a:gridCol w="1063100">
                  <a:extLst>
                    <a:ext uri="{9D8B030D-6E8A-4147-A177-3AD203B41FA5}">
                      <a16:colId xmlns:a16="http://schemas.microsoft.com/office/drawing/2014/main" val="1265301180"/>
                    </a:ext>
                  </a:extLst>
                </a:gridCol>
                <a:gridCol w="648933">
                  <a:extLst>
                    <a:ext uri="{9D8B030D-6E8A-4147-A177-3AD203B41FA5}">
                      <a16:colId xmlns:a16="http://schemas.microsoft.com/office/drawing/2014/main" val="851005271"/>
                    </a:ext>
                  </a:extLst>
                </a:gridCol>
              </a:tblGrid>
              <a:tr h="328212">
                <a:tc>
                  <a:txBody>
                    <a:bodyPr/>
                    <a:lstStyle/>
                    <a:p>
                      <a:r>
                        <a:rPr lang="en-IN" sz="1400" dirty="0"/>
                        <a:t>The</a:t>
                      </a:r>
                    </a:p>
                  </a:txBody>
                  <a:tcPr/>
                </a:tc>
                <a:tc>
                  <a:txBody>
                    <a:bodyPr/>
                    <a:lstStyle/>
                    <a:p>
                      <a:r>
                        <a:rPr lang="en-IN" sz="1400" dirty="0"/>
                        <a:t>2</a:t>
                      </a:r>
                    </a:p>
                  </a:txBody>
                  <a:tcPr/>
                </a:tc>
                <a:extLst>
                  <a:ext uri="{0D108BD9-81ED-4DB2-BD59-A6C34878D82A}">
                    <a16:rowId xmlns:a16="http://schemas.microsoft.com/office/drawing/2014/main" val="1170832418"/>
                  </a:ext>
                </a:extLst>
              </a:tr>
              <a:tr h="328212">
                <a:tc>
                  <a:txBody>
                    <a:bodyPr/>
                    <a:lstStyle/>
                    <a:p>
                      <a:r>
                        <a:rPr lang="en-IN" sz="1400" dirty="0"/>
                        <a:t>Noble</a:t>
                      </a:r>
                    </a:p>
                  </a:txBody>
                  <a:tcPr/>
                </a:tc>
                <a:tc>
                  <a:txBody>
                    <a:bodyPr/>
                    <a:lstStyle/>
                    <a:p>
                      <a:r>
                        <a:rPr lang="en-IN" sz="1400" dirty="0"/>
                        <a:t>2</a:t>
                      </a:r>
                    </a:p>
                  </a:txBody>
                  <a:tcPr/>
                </a:tc>
                <a:extLst>
                  <a:ext uri="{0D108BD9-81ED-4DB2-BD59-A6C34878D82A}">
                    <a16:rowId xmlns:a16="http://schemas.microsoft.com/office/drawing/2014/main" val="1885991465"/>
                  </a:ext>
                </a:extLst>
              </a:tr>
              <a:tr h="328212">
                <a:tc>
                  <a:txBody>
                    <a:bodyPr/>
                    <a:lstStyle/>
                    <a:p>
                      <a:r>
                        <a:rPr lang="en-IN" sz="1400" dirty="0"/>
                        <a:t>Brutus</a:t>
                      </a:r>
                    </a:p>
                  </a:txBody>
                  <a:tcPr/>
                </a:tc>
                <a:tc>
                  <a:txBody>
                    <a:bodyPr/>
                    <a:lstStyle/>
                    <a:p>
                      <a:r>
                        <a:rPr lang="en-IN" sz="1400" dirty="0"/>
                        <a:t>2</a:t>
                      </a:r>
                    </a:p>
                  </a:txBody>
                  <a:tcPr/>
                </a:tc>
                <a:extLst>
                  <a:ext uri="{0D108BD9-81ED-4DB2-BD59-A6C34878D82A}">
                    <a16:rowId xmlns:a16="http://schemas.microsoft.com/office/drawing/2014/main" val="1116847449"/>
                  </a:ext>
                </a:extLst>
              </a:tr>
              <a:tr h="328212">
                <a:tc>
                  <a:txBody>
                    <a:bodyPr/>
                    <a:lstStyle/>
                    <a:p>
                      <a:r>
                        <a:rPr lang="en-IN" sz="1400" dirty="0"/>
                        <a:t>Hath</a:t>
                      </a:r>
                    </a:p>
                  </a:txBody>
                  <a:tcPr/>
                </a:tc>
                <a:tc>
                  <a:txBody>
                    <a:bodyPr/>
                    <a:lstStyle/>
                    <a:p>
                      <a:r>
                        <a:rPr lang="en-IN" sz="1400" dirty="0"/>
                        <a:t>2</a:t>
                      </a:r>
                    </a:p>
                  </a:txBody>
                  <a:tcPr/>
                </a:tc>
                <a:extLst>
                  <a:ext uri="{0D108BD9-81ED-4DB2-BD59-A6C34878D82A}">
                    <a16:rowId xmlns:a16="http://schemas.microsoft.com/office/drawing/2014/main" val="3875887977"/>
                  </a:ext>
                </a:extLst>
              </a:tr>
              <a:tr h="328212">
                <a:tc>
                  <a:txBody>
                    <a:bodyPr/>
                    <a:lstStyle/>
                    <a:p>
                      <a:r>
                        <a:rPr lang="en-IN" sz="1400" dirty="0"/>
                        <a:t>Hold</a:t>
                      </a:r>
                    </a:p>
                  </a:txBody>
                  <a:tcPr/>
                </a:tc>
                <a:tc>
                  <a:txBody>
                    <a:bodyPr/>
                    <a:lstStyle/>
                    <a:p>
                      <a:r>
                        <a:rPr lang="en-IN" sz="1400" dirty="0"/>
                        <a:t>2</a:t>
                      </a:r>
                    </a:p>
                  </a:txBody>
                  <a:tcPr/>
                </a:tc>
                <a:extLst>
                  <a:ext uri="{0D108BD9-81ED-4DB2-BD59-A6C34878D82A}">
                    <a16:rowId xmlns:a16="http://schemas.microsoft.com/office/drawing/2014/main" val="424376329"/>
                  </a:ext>
                </a:extLst>
              </a:tr>
              <a:tr h="328212">
                <a:tc>
                  <a:txBody>
                    <a:bodyPr/>
                    <a:lstStyle/>
                    <a:p>
                      <a:r>
                        <a:rPr lang="en-IN" sz="1400" dirty="0"/>
                        <a:t>You</a:t>
                      </a:r>
                    </a:p>
                  </a:txBody>
                  <a:tcPr/>
                </a:tc>
                <a:tc>
                  <a:txBody>
                    <a:bodyPr/>
                    <a:lstStyle/>
                    <a:p>
                      <a:r>
                        <a:rPr lang="en-IN" sz="1400" dirty="0"/>
                        <a:t>2</a:t>
                      </a:r>
                    </a:p>
                  </a:txBody>
                  <a:tcPr/>
                </a:tc>
                <a:extLst>
                  <a:ext uri="{0D108BD9-81ED-4DB2-BD59-A6C34878D82A}">
                    <a16:rowId xmlns:a16="http://schemas.microsoft.com/office/drawing/2014/main" val="2534437829"/>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922739181"/>
                  </a:ext>
                </a:extLst>
              </a:tr>
              <a:tr h="328212">
                <a:tc>
                  <a:txBody>
                    <a:bodyPr/>
                    <a:lstStyle/>
                    <a:p>
                      <a:r>
                        <a:rPr lang="en-IN" sz="1400" dirty="0"/>
                        <a:t>Was</a:t>
                      </a:r>
                    </a:p>
                  </a:txBody>
                  <a:tcPr/>
                </a:tc>
                <a:tc>
                  <a:txBody>
                    <a:bodyPr/>
                    <a:lstStyle/>
                    <a:p>
                      <a:r>
                        <a:rPr lang="en-IN" sz="1400" dirty="0"/>
                        <a:t>2</a:t>
                      </a:r>
                    </a:p>
                  </a:txBody>
                  <a:tcPr/>
                </a:tc>
                <a:extLst>
                  <a:ext uri="{0D108BD9-81ED-4DB2-BD59-A6C34878D82A}">
                    <a16:rowId xmlns:a16="http://schemas.microsoft.com/office/drawing/2014/main" val="3197416536"/>
                  </a:ext>
                </a:extLst>
              </a:tr>
              <a:tr h="328212">
                <a:tc>
                  <a:txBody>
                    <a:bodyPr/>
                    <a:lstStyle/>
                    <a:p>
                      <a:r>
                        <a:rPr lang="en-IN" sz="1400" dirty="0"/>
                        <a:t>Ambitious</a:t>
                      </a:r>
                    </a:p>
                  </a:txBody>
                  <a:tcPr/>
                </a:tc>
                <a:tc>
                  <a:txBody>
                    <a:bodyPr/>
                    <a:lstStyle/>
                    <a:p>
                      <a:r>
                        <a:rPr lang="en-IN" sz="1400" dirty="0"/>
                        <a:t>2</a:t>
                      </a:r>
                    </a:p>
                  </a:txBody>
                  <a:tcPr/>
                </a:tc>
                <a:extLst>
                  <a:ext uri="{0D108BD9-81ED-4DB2-BD59-A6C34878D82A}">
                    <a16:rowId xmlns:a16="http://schemas.microsoft.com/office/drawing/2014/main" val="4112815857"/>
                  </a:ext>
                </a:extLst>
              </a:tr>
            </a:tbl>
          </a:graphicData>
        </a:graphic>
      </p:graphicFrame>
    </p:spTree>
    <p:extLst>
      <p:ext uri="{BB962C8B-B14F-4D97-AF65-F5344CB8AC3E}">
        <p14:creationId xmlns:p14="http://schemas.microsoft.com/office/powerpoint/2010/main" val="138170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057C5-B89D-0F03-595A-DEC6D84A6048}"/>
              </a:ext>
            </a:extLst>
          </p:cNvPr>
          <p:cNvSpPr>
            <a:spLocks noGrp="1"/>
          </p:cNvSpPr>
          <p:nvPr>
            <p:ph type="title"/>
          </p:nvPr>
        </p:nvSpPr>
        <p:spPr/>
        <p:txBody>
          <a:bodyPr/>
          <a:lstStyle/>
          <a:p>
            <a:r>
              <a:rPr lang="en-IN" dirty="0"/>
              <a:t>Sorting</a:t>
            </a:r>
          </a:p>
        </p:txBody>
      </p:sp>
      <p:sp>
        <p:nvSpPr>
          <p:cNvPr id="3" name="Content Placeholder 2">
            <a:extLst>
              <a:ext uri="{FF2B5EF4-FFF2-40B4-BE49-F238E27FC236}">
                <a16:creationId xmlns:a16="http://schemas.microsoft.com/office/drawing/2014/main" id="{A31C7630-3C2E-6FBF-D702-0D872BD43FD4}"/>
              </a:ext>
            </a:extLst>
          </p:cNvPr>
          <p:cNvSpPr>
            <a:spLocks noGrp="1"/>
          </p:cNvSpPr>
          <p:nvPr>
            <p:ph idx="1"/>
          </p:nvPr>
        </p:nvSpPr>
        <p:spPr/>
        <p:txBody>
          <a:bodyPr/>
          <a:lstStyle/>
          <a:p>
            <a:endParaRPr lang="en-IN"/>
          </a:p>
        </p:txBody>
      </p:sp>
      <p:graphicFrame>
        <p:nvGraphicFramePr>
          <p:cNvPr id="4" name="Table 7">
            <a:extLst>
              <a:ext uri="{FF2B5EF4-FFF2-40B4-BE49-F238E27FC236}">
                <a16:creationId xmlns:a16="http://schemas.microsoft.com/office/drawing/2014/main" id="{2E858710-E1B2-AAF4-5FDF-6B710471301A}"/>
              </a:ext>
            </a:extLst>
          </p:cNvPr>
          <p:cNvGraphicFramePr>
            <a:graphicFrameLocks noGrp="1"/>
          </p:cNvGraphicFramePr>
          <p:nvPr/>
        </p:nvGraphicFramePr>
        <p:xfrm>
          <a:off x="2932552" y="-34452"/>
          <a:ext cx="1514336" cy="6892452"/>
        </p:xfrm>
        <a:graphic>
          <a:graphicData uri="http://schemas.openxmlformats.org/drawingml/2006/table">
            <a:tbl>
              <a:tblPr firstRow="1" bandRow="1">
                <a:tableStyleId>{5C22544A-7EE6-4342-B048-85BDC9FD1C3A}</a:tableStyleId>
              </a:tblPr>
              <a:tblGrid>
                <a:gridCol w="1024707">
                  <a:extLst>
                    <a:ext uri="{9D8B030D-6E8A-4147-A177-3AD203B41FA5}">
                      <a16:colId xmlns:a16="http://schemas.microsoft.com/office/drawing/2014/main" val="2358747565"/>
                    </a:ext>
                  </a:extLst>
                </a:gridCol>
                <a:gridCol w="489629">
                  <a:extLst>
                    <a:ext uri="{9D8B030D-6E8A-4147-A177-3AD203B41FA5}">
                      <a16:colId xmlns:a16="http://schemas.microsoft.com/office/drawing/2014/main" val="1719220205"/>
                    </a:ext>
                  </a:extLst>
                </a:gridCol>
              </a:tblGrid>
              <a:tr h="328212">
                <a:tc>
                  <a:txBody>
                    <a:bodyPr/>
                    <a:lstStyle/>
                    <a:p>
                      <a:r>
                        <a:rPr lang="en-IN" sz="1400" dirty="0"/>
                        <a:t>Caeser</a:t>
                      </a:r>
                    </a:p>
                  </a:txBody>
                  <a:tcPr/>
                </a:tc>
                <a:tc>
                  <a:txBody>
                    <a:bodyPr/>
                    <a:lstStyle/>
                    <a:p>
                      <a:r>
                        <a:rPr lang="en-IN" sz="1400" dirty="0"/>
                        <a:t>1</a:t>
                      </a:r>
                    </a:p>
                  </a:txBody>
                  <a:tcPr/>
                </a:tc>
                <a:extLst>
                  <a:ext uri="{0D108BD9-81ED-4DB2-BD59-A6C34878D82A}">
                    <a16:rowId xmlns:a16="http://schemas.microsoft.com/office/drawing/2014/main" val="1530896262"/>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2754582852"/>
                  </a:ext>
                </a:extLst>
              </a:tr>
              <a:tr h="328212">
                <a:tc>
                  <a:txBody>
                    <a:bodyPr/>
                    <a:lstStyle/>
                    <a:p>
                      <a:r>
                        <a:rPr lang="en-IN" sz="1400" dirty="0"/>
                        <a:t>Did</a:t>
                      </a:r>
                    </a:p>
                  </a:txBody>
                  <a:tcPr/>
                </a:tc>
                <a:tc>
                  <a:txBody>
                    <a:bodyPr/>
                    <a:lstStyle/>
                    <a:p>
                      <a:r>
                        <a:rPr lang="en-IN" sz="1400" dirty="0"/>
                        <a:t>1</a:t>
                      </a:r>
                    </a:p>
                  </a:txBody>
                  <a:tcPr/>
                </a:tc>
                <a:extLst>
                  <a:ext uri="{0D108BD9-81ED-4DB2-BD59-A6C34878D82A}">
                    <a16:rowId xmlns:a16="http://schemas.microsoft.com/office/drawing/2014/main" val="4188370983"/>
                  </a:ext>
                </a:extLst>
              </a:tr>
              <a:tr h="328212">
                <a:tc>
                  <a:txBody>
                    <a:bodyPr/>
                    <a:lstStyle/>
                    <a:p>
                      <a:r>
                        <a:rPr lang="en-IN" sz="1400" dirty="0"/>
                        <a:t>Enact</a:t>
                      </a:r>
                    </a:p>
                  </a:txBody>
                  <a:tcPr/>
                </a:tc>
                <a:tc>
                  <a:txBody>
                    <a:bodyPr/>
                    <a:lstStyle/>
                    <a:p>
                      <a:r>
                        <a:rPr lang="en-IN" sz="1400" dirty="0"/>
                        <a:t>1</a:t>
                      </a:r>
                    </a:p>
                  </a:txBody>
                  <a:tcPr/>
                </a:tc>
                <a:extLst>
                  <a:ext uri="{0D108BD9-81ED-4DB2-BD59-A6C34878D82A}">
                    <a16:rowId xmlns:a16="http://schemas.microsoft.com/office/drawing/2014/main" val="1239110911"/>
                  </a:ext>
                </a:extLst>
              </a:tr>
              <a:tr h="328212">
                <a:tc>
                  <a:txBody>
                    <a:bodyPr/>
                    <a:lstStyle/>
                    <a:p>
                      <a:r>
                        <a:rPr lang="en-IN" sz="1400" dirty="0"/>
                        <a:t>Julius</a:t>
                      </a:r>
                    </a:p>
                  </a:txBody>
                  <a:tcPr/>
                </a:tc>
                <a:tc>
                  <a:txBody>
                    <a:bodyPr/>
                    <a:lstStyle/>
                    <a:p>
                      <a:r>
                        <a:rPr lang="en-IN" sz="1400" dirty="0"/>
                        <a:t>1</a:t>
                      </a:r>
                    </a:p>
                  </a:txBody>
                  <a:tcPr/>
                </a:tc>
                <a:extLst>
                  <a:ext uri="{0D108BD9-81ED-4DB2-BD59-A6C34878D82A}">
                    <a16:rowId xmlns:a16="http://schemas.microsoft.com/office/drawing/2014/main" val="673166107"/>
                  </a:ext>
                </a:extLst>
              </a:tr>
              <a:tr h="328212">
                <a:tc>
                  <a:txBody>
                    <a:bodyPr/>
                    <a:lstStyle/>
                    <a:p>
                      <a:r>
                        <a:rPr lang="en-IN" sz="1400" dirty="0"/>
                        <a:t>Caeser</a:t>
                      </a:r>
                    </a:p>
                  </a:txBody>
                  <a:tcPr/>
                </a:tc>
                <a:tc>
                  <a:txBody>
                    <a:bodyPr/>
                    <a:lstStyle/>
                    <a:p>
                      <a:r>
                        <a:rPr lang="en-IN" sz="1400" dirty="0"/>
                        <a:t>1</a:t>
                      </a:r>
                    </a:p>
                  </a:txBody>
                  <a:tcPr/>
                </a:tc>
                <a:extLst>
                  <a:ext uri="{0D108BD9-81ED-4DB2-BD59-A6C34878D82A}">
                    <a16:rowId xmlns:a16="http://schemas.microsoft.com/office/drawing/2014/main" val="3614102983"/>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1225232380"/>
                  </a:ext>
                </a:extLst>
              </a:tr>
              <a:tr h="328212">
                <a:tc>
                  <a:txBody>
                    <a:bodyPr/>
                    <a:lstStyle/>
                    <a:p>
                      <a:r>
                        <a:rPr lang="en-IN" sz="1400" dirty="0"/>
                        <a:t>Was</a:t>
                      </a:r>
                    </a:p>
                  </a:txBody>
                  <a:tcPr/>
                </a:tc>
                <a:tc>
                  <a:txBody>
                    <a:bodyPr/>
                    <a:lstStyle/>
                    <a:p>
                      <a:r>
                        <a:rPr lang="en-IN" sz="1400" dirty="0"/>
                        <a:t>1</a:t>
                      </a:r>
                    </a:p>
                  </a:txBody>
                  <a:tcPr/>
                </a:tc>
                <a:extLst>
                  <a:ext uri="{0D108BD9-81ED-4DB2-BD59-A6C34878D82A}">
                    <a16:rowId xmlns:a16="http://schemas.microsoft.com/office/drawing/2014/main" val="126349215"/>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803179129"/>
                  </a:ext>
                </a:extLst>
              </a:tr>
              <a:tr h="328212">
                <a:tc>
                  <a:txBody>
                    <a:bodyPr/>
                    <a:lstStyle/>
                    <a:p>
                      <a:r>
                        <a:rPr lang="en-IN" sz="1400" dirty="0" err="1"/>
                        <a:t>i</a:t>
                      </a:r>
                      <a:r>
                        <a:rPr lang="en-IN" sz="1400" dirty="0"/>
                        <a:t>’</a:t>
                      </a:r>
                    </a:p>
                  </a:txBody>
                  <a:tcPr/>
                </a:tc>
                <a:tc>
                  <a:txBody>
                    <a:bodyPr/>
                    <a:lstStyle/>
                    <a:p>
                      <a:r>
                        <a:rPr lang="en-IN" sz="1400" dirty="0"/>
                        <a:t>1</a:t>
                      </a:r>
                    </a:p>
                  </a:txBody>
                  <a:tcPr/>
                </a:tc>
                <a:extLst>
                  <a:ext uri="{0D108BD9-81ED-4DB2-BD59-A6C34878D82A}">
                    <a16:rowId xmlns:a16="http://schemas.microsoft.com/office/drawing/2014/main" val="3037035409"/>
                  </a:ext>
                </a:extLst>
              </a:tr>
              <a:tr h="328212">
                <a:tc>
                  <a:txBody>
                    <a:bodyPr/>
                    <a:lstStyle/>
                    <a:p>
                      <a:r>
                        <a:rPr lang="en-IN" sz="1400" dirty="0"/>
                        <a:t>The</a:t>
                      </a:r>
                    </a:p>
                  </a:txBody>
                  <a:tcPr/>
                </a:tc>
                <a:tc>
                  <a:txBody>
                    <a:bodyPr/>
                    <a:lstStyle/>
                    <a:p>
                      <a:r>
                        <a:rPr lang="en-IN" sz="1400" dirty="0"/>
                        <a:t>1</a:t>
                      </a:r>
                    </a:p>
                  </a:txBody>
                  <a:tcPr/>
                </a:tc>
                <a:extLst>
                  <a:ext uri="{0D108BD9-81ED-4DB2-BD59-A6C34878D82A}">
                    <a16:rowId xmlns:a16="http://schemas.microsoft.com/office/drawing/2014/main" val="1234850896"/>
                  </a:ext>
                </a:extLst>
              </a:tr>
              <a:tr h="328212">
                <a:tc>
                  <a:txBody>
                    <a:bodyPr/>
                    <a:lstStyle/>
                    <a:p>
                      <a:r>
                        <a:rPr lang="en-IN" sz="1400" dirty="0"/>
                        <a:t>Capitol</a:t>
                      </a:r>
                    </a:p>
                  </a:txBody>
                  <a:tcPr/>
                </a:tc>
                <a:tc>
                  <a:txBody>
                    <a:bodyPr/>
                    <a:lstStyle/>
                    <a:p>
                      <a:r>
                        <a:rPr lang="en-IN" sz="1400" dirty="0"/>
                        <a:t>1</a:t>
                      </a:r>
                    </a:p>
                  </a:txBody>
                  <a:tcPr/>
                </a:tc>
                <a:extLst>
                  <a:ext uri="{0D108BD9-81ED-4DB2-BD59-A6C34878D82A}">
                    <a16:rowId xmlns:a16="http://schemas.microsoft.com/office/drawing/2014/main" val="3361466289"/>
                  </a:ext>
                </a:extLst>
              </a:tr>
              <a:tr h="328212">
                <a:tc>
                  <a:txBody>
                    <a:bodyPr/>
                    <a:lstStyle/>
                    <a:p>
                      <a:r>
                        <a:rPr lang="en-IN" sz="1400" dirty="0"/>
                        <a:t>Brutus</a:t>
                      </a:r>
                    </a:p>
                  </a:txBody>
                  <a:tcPr/>
                </a:tc>
                <a:tc>
                  <a:txBody>
                    <a:bodyPr/>
                    <a:lstStyle/>
                    <a:p>
                      <a:r>
                        <a:rPr lang="en-IN" sz="1400" dirty="0"/>
                        <a:t>1</a:t>
                      </a:r>
                    </a:p>
                  </a:txBody>
                  <a:tcPr/>
                </a:tc>
                <a:extLst>
                  <a:ext uri="{0D108BD9-81ED-4DB2-BD59-A6C34878D82A}">
                    <a16:rowId xmlns:a16="http://schemas.microsoft.com/office/drawing/2014/main" val="100907215"/>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1152569216"/>
                  </a:ext>
                </a:extLst>
              </a:tr>
              <a:tr h="328212">
                <a:tc>
                  <a:txBody>
                    <a:bodyPr/>
                    <a:lstStyle/>
                    <a:p>
                      <a:r>
                        <a:rPr lang="en-IN" sz="1400" dirty="0"/>
                        <a:t>Me</a:t>
                      </a:r>
                    </a:p>
                  </a:txBody>
                  <a:tcPr/>
                </a:tc>
                <a:tc>
                  <a:txBody>
                    <a:bodyPr/>
                    <a:lstStyle/>
                    <a:p>
                      <a:r>
                        <a:rPr lang="en-IN" sz="1400" dirty="0"/>
                        <a:t>1</a:t>
                      </a:r>
                    </a:p>
                  </a:txBody>
                  <a:tcPr/>
                </a:tc>
                <a:extLst>
                  <a:ext uri="{0D108BD9-81ED-4DB2-BD59-A6C34878D82A}">
                    <a16:rowId xmlns:a16="http://schemas.microsoft.com/office/drawing/2014/main" val="2747595521"/>
                  </a:ext>
                </a:extLst>
              </a:tr>
              <a:tr h="328212">
                <a:tc>
                  <a:txBody>
                    <a:bodyPr/>
                    <a:lstStyle/>
                    <a:p>
                      <a:r>
                        <a:rPr lang="en-IN" sz="1400" dirty="0"/>
                        <a:t>So</a:t>
                      </a:r>
                    </a:p>
                  </a:txBody>
                  <a:tcPr/>
                </a:tc>
                <a:tc>
                  <a:txBody>
                    <a:bodyPr/>
                    <a:lstStyle/>
                    <a:p>
                      <a:r>
                        <a:rPr lang="en-IN" sz="1400" dirty="0"/>
                        <a:t>2</a:t>
                      </a:r>
                    </a:p>
                  </a:txBody>
                  <a:tcPr/>
                </a:tc>
                <a:extLst>
                  <a:ext uri="{0D108BD9-81ED-4DB2-BD59-A6C34878D82A}">
                    <a16:rowId xmlns:a16="http://schemas.microsoft.com/office/drawing/2014/main" val="3168747146"/>
                  </a:ext>
                </a:extLst>
              </a:tr>
              <a:tr h="328212">
                <a:tc>
                  <a:txBody>
                    <a:bodyPr/>
                    <a:lstStyle/>
                    <a:p>
                      <a:r>
                        <a:rPr lang="en-IN" sz="1400" dirty="0"/>
                        <a:t>Let</a:t>
                      </a:r>
                    </a:p>
                  </a:txBody>
                  <a:tcPr/>
                </a:tc>
                <a:tc>
                  <a:txBody>
                    <a:bodyPr/>
                    <a:lstStyle/>
                    <a:p>
                      <a:r>
                        <a:rPr lang="en-IN" sz="1400" dirty="0"/>
                        <a:t>2</a:t>
                      </a:r>
                    </a:p>
                  </a:txBody>
                  <a:tcPr/>
                </a:tc>
                <a:extLst>
                  <a:ext uri="{0D108BD9-81ED-4DB2-BD59-A6C34878D82A}">
                    <a16:rowId xmlns:a16="http://schemas.microsoft.com/office/drawing/2014/main" val="2544166912"/>
                  </a:ext>
                </a:extLst>
              </a:tr>
              <a:tr h="328212">
                <a:tc>
                  <a:txBody>
                    <a:bodyPr/>
                    <a:lstStyle/>
                    <a:p>
                      <a:r>
                        <a:rPr lang="en-IN" sz="1400" dirty="0"/>
                        <a:t>It</a:t>
                      </a:r>
                    </a:p>
                  </a:txBody>
                  <a:tcPr/>
                </a:tc>
                <a:tc>
                  <a:txBody>
                    <a:bodyPr/>
                    <a:lstStyle/>
                    <a:p>
                      <a:r>
                        <a:rPr lang="en-IN" sz="1400" dirty="0"/>
                        <a:t>2</a:t>
                      </a:r>
                    </a:p>
                  </a:txBody>
                  <a:tcPr/>
                </a:tc>
                <a:extLst>
                  <a:ext uri="{0D108BD9-81ED-4DB2-BD59-A6C34878D82A}">
                    <a16:rowId xmlns:a16="http://schemas.microsoft.com/office/drawing/2014/main" val="670784296"/>
                  </a:ext>
                </a:extLst>
              </a:tr>
              <a:tr h="328212">
                <a:tc>
                  <a:txBody>
                    <a:bodyPr/>
                    <a:lstStyle/>
                    <a:p>
                      <a:r>
                        <a:rPr lang="en-IN" sz="1400" dirty="0"/>
                        <a:t>Be</a:t>
                      </a:r>
                    </a:p>
                  </a:txBody>
                  <a:tcPr/>
                </a:tc>
                <a:tc>
                  <a:txBody>
                    <a:bodyPr/>
                    <a:lstStyle/>
                    <a:p>
                      <a:r>
                        <a:rPr lang="en-IN" sz="1400" dirty="0"/>
                        <a:t>2</a:t>
                      </a:r>
                    </a:p>
                  </a:txBody>
                  <a:tcPr/>
                </a:tc>
                <a:extLst>
                  <a:ext uri="{0D108BD9-81ED-4DB2-BD59-A6C34878D82A}">
                    <a16:rowId xmlns:a16="http://schemas.microsoft.com/office/drawing/2014/main" val="3425743784"/>
                  </a:ext>
                </a:extLst>
              </a:tr>
              <a:tr h="328212">
                <a:tc>
                  <a:txBody>
                    <a:bodyPr/>
                    <a:lstStyle/>
                    <a:p>
                      <a:r>
                        <a:rPr lang="en-IN" sz="1400" dirty="0"/>
                        <a:t>with</a:t>
                      </a:r>
                    </a:p>
                  </a:txBody>
                  <a:tcPr/>
                </a:tc>
                <a:tc>
                  <a:txBody>
                    <a:bodyPr/>
                    <a:lstStyle/>
                    <a:p>
                      <a:r>
                        <a:rPr lang="en-IN" sz="1400" dirty="0"/>
                        <a:t>2</a:t>
                      </a:r>
                    </a:p>
                  </a:txBody>
                  <a:tcPr/>
                </a:tc>
                <a:extLst>
                  <a:ext uri="{0D108BD9-81ED-4DB2-BD59-A6C34878D82A}">
                    <a16:rowId xmlns:a16="http://schemas.microsoft.com/office/drawing/2014/main" val="4204018637"/>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3620769898"/>
                  </a:ext>
                </a:extLst>
              </a:tr>
            </a:tbl>
          </a:graphicData>
        </a:graphic>
      </p:graphicFrame>
      <p:graphicFrame>
        <p:nvGraphicFramePr>
          <p:cNvPr id="5" name="Table 4">
            <a:extLst>
              <a:ext uri="{FF2B5EF4-FFF2-40B4-BE49-F238E27FC236}">
                <a16:creationId xmlns:a16="http://schemas.microsoft.com/office/drawing/2014/main" id="{41DB0B11-1BBF-46F2-9232-1FAA7CEAAA78}"/>
              </a:ext>
            </a:extLst>
          </p:cNvPr>
          <p:cNvGraphicFramePr>
            <a:graphicFrameLocks noGrp="1"/>
          </p:cNvGraphicFramePr>
          <p:nvPr/>
        </p:nvGraphicFramePr>
        <p:xfrm>
          <a:off x="4446888" y="3145758"/>
          <a:ext cx="1712033" cy="2953908"/>
        </p:xfrm>
        <a:graphic>
          <a:graphicData uri="http://schemas.openxmlformats.org/drawingml/2006/table">
            <a:tbl>
              <a:tblPr firstRow="1" bandRow="1">
                <a:tableStyleId>{5C22544A-7EE6-4342-B048-85BDC9FD1C3A}</a:tableStyleId>
              </a:tblPr>
              <a:tblGrid>
                <a:gridCol w="1063100">
                  <a:extLst>
                    <a:ext uri="{9D8B030D-6E8A-4147-A177-3AD203B41FA5}">
                      <a16:colId xmlns:a16="http://schemas.microsoft.com/office/drawing/2014/main" val="1265301180"/>
                    </a:ext>
                  </a:extLst>
                </a:gridCol>
                <a:gridCol w="648933">
                  <a:extLst>
                    <a:ext uri="{9D8B030D-6E8A-4147-A177-3AD203B41FA5}">
                      <a16:colId xmlns:a16="http://schemas.microsoft.com/office/drawing/2014/main" val="851005271"/>
                    </a:ext>
                  </a:extLst>
                </a:gridCol>
              </a:tblGrid>
              <a:tr h="328212">
                <a:tc>
                  <a:txBody>
                    <a:bodyPr/>
                    <a:lstStyle/>
                    <a:p>
                      <a:r>
                        <a:rPr lang="en-IN" sz="1400" dirty="0"/>
                        <a:t>The</a:t>
                      </a:r>
                    </a:p>
                  </a:txBody>
                  <a:tcPr/>
                </a:tc>
                <a:tc>
                  <a:txBody>
                    <a:bodyPr/>
                    <a:lstStyle/>
                    <a:p>
                      <a:r>
                        <a:rPr lang="en-IN" sz="1400" dirty="0"/>
                        <a:t>2</a:t>
                      </a:r>
                    </a:p>
                  </a:txBody>
                  <a:tcPr/>
                </a:tc>
                <a:extLst>
                  <a:ext uri="{0D108BD9-81ED-4DB2-BD59-A6C34878D82A}">
                    <a16:rowId xmlns:a16="http://schemas.microsoft.com/office/drawing/2014/main" val="1170832418"/>
                  </a:ext>
                </a:extLst>
              </a:tr>
              <a:tr h="328212">
                <a:tc>
                  <a:txBody>
                    <a:bodyPr/>
                    <a:lstStyle/>
                    <a:p>
                      <a:r>
                        <a:rPr lang="en-IN" sz="1400" dirty="0"/>
                        <a:t>Noble</a:t>
                      </a:r>
                    </a:p>
                  </a:txBody>
                  <a:tcPr/>
                </a:tc>
                <a:tc>
                  <a:txBody>
                    <a:bodyPr/>
                    <a:lstStyle/>
                    <a:p>
                      <a:r>
                        <a:rPr lang="en-IN" sz="1400" dirty="0"/>
                        <a:t>2</a:t>
                      </a:r>
                    </a:p>
                  </a:txBody>
                  <a:tcPr/>
                </a:tc>
                <a:extLst>
                  <a:ext uri="{0D108BD9-81ED-4DB2-BD59-A6C34878D82A}">
                    <a16:rowId xmlns:a16="http://schemas.microsoft.com/office/drawing/2014/main" val="1885991465"/>
                  </a:ext>
                </a:extLst>
              </a:tr>
              <a:tr h="328212">
                <a:tc>
                  <a:txBody>
                    <a:bodyPr/>
                    <a:lstStyle/>
                    <a:p>
                      <a:r>
                        <a:rPr lang="en-IN" sz="1400" dirty="0"/>
                        <a:t>Brutus</a:t>
                      </a:r>
                    </a:p>
                  </a:txBody>
                  <a:tcPr/>
                </a:tc>
                <a:tc>
                  <a:txBody>
                    <a:bodyPr/>
                    <a:lstStyle/>
                    <a:p>
                      <a:r>
                        <a:rPr lang="en-IN" sz="1400" dirty="0"/>
                        <a:t>2</a:t>
                      </a:r>
                    </a:p>
                  </a:txBody>
                  <a:tcPr/>
                </a:tc>
                <a:extLst>
                  <a:ext uri="{0D108BD9-81ED-4DB2-BD59-A6C34878D82A}">
                    <a16:rowId xmlns:a16="http://schemas.microsoft.com/office/drawing/2014/main" val="1116847449"/>
                  </a:ext>
                </a:extLst>
              </a:tr>
              <a:tr h="328212">
                <a:tc>
                  <a:txBody>
                    <a:bodyPr/>
                    <a:lstStyle/>
                    <a:p>
                      <a:r>
                        <a:rPr lang="en-IN" sz="1400" dirty="0"/>
                        <a:t>Hath</a:t>
                      </a:r>
                    </a:p>
                  </a:txBody>
                  <a:tcPr/>
                </a:tc>
                <a:tc>
                  <a:txBody>
                    <a:bodyPr/>
                    <a:lstStyle/>
                    <a:p>
                      <a:r>
                        <a:rPr lang="en-IN" sz="1400" dirty="0"/>
                        <a:t>2</a:t>
                      </a:r>
                    </a:p>
                  </a:txBody>
                  <a:tcPr/>
                </a:tc>
                <a:extLst>
                  <a:ext uri="{0D108BD9-81ED-4DB2-BD59-A6C34878D82A}">
                    <a16:rowId xmlns:a16="http://schemas.microsoft.com/office/drawing/2014/main" val="3875887977"/>
                  </a:ext>
                </a:extLst>
              </a:tr>
              <a:tr h="328212">
                <a:tc>
                  <a:txBody>
                    <a:bodyPr/>
                    <a:lstStyle/>
                    <a:p>
                      <a:r>
                        <a:rPr lang="en-IN" sz="1400" dirty="0"/>
                        <a:t>Hold</a:t>
                      </a:r>
                    </a:p>
                  </a:txBody>
                  <a:tcPr/>
                </a:tc>
                <a:tc>
                  <a:txBody>
                    <a:bodyPr/>
                    <a:lstStyle/>
                    <a:p>
                      <a:r>
                        <a:rPr lang="en-IN" sz="1400" dirty="0"/>
                        <a:t>2</a:t>
                      </a:r>
                    </a:p>
                  </a:txBody>
                  <a:tcPr/>
                </a:tc>
                <a:extLst>
                  <a:ext uri="{0D108BD9-81ED-4DB2-BD59-A6C34878D82A}">
                    <a16:rowId xmlns:a16="http://schemas.microsoft.com/office/drawing/2014/main" val="424376329"/>
                  </a:ext>
                </a:extLst>
              </a:tr>
              <a:tr h="328212">
                <a:tc>
                  <a:txBody>
                    <a:bodyPr/>
                    <a:lstStyle/>
                    <a:p>
                      <a:r>
                        <a:rPr lang="en-IN" sz="1400" dirty="0"/>
                        <a:t>You</a:t>
                      </a:r>
                    </a:p>
                  </a:txBody>
                  <a:tcPr/>
                </a:tc>
                <a:tc>
                  <a:txBody>
                    <a:bodyPr/>
                    <a:lstStyle/>
                    <a:p>
                      <a:r>
                        <a:rPr lang="en-IN" sz="1400" dirty="0"/>
                        <a:t>2</a:t>
                      </a:r>
                    </a:p>
                  </a:txBody>
                  <a:tcPr/>
                </a:tc>
                <a:extLst>
                  <a:ext uri="{0D108BD9-81ED-4DB2-BD59-A6C34878D82A}">
                    <a16:rowId xmlns:a16="http://schemas.microsoft.com/office/drawing/2014/main" val="2534437829"/>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922739181"/>
                  </a:ext>
                </a:extLst>
              </a:tr>
              <a:tr h="328212">
                <a:tc>
                  <a:txBody>
                    <a:bodyPr/>
                    <a:lstStyle/>
                    <a:p>
                      <a:r>
                        <a:rPr lang="en-IN" sz="1400" dirty="0"/>
                        <a:t>Was</a:t>
                      </a:r>
                    </a:p>
                  </a:txBody>
                  <a:tcPr/>
                </a:tc>
                <a:tc>
                  <a:txBody>
                    <a:bodyPr/>
                    <a:lstStyle/>
                    <a:p>
                      <a:r>
                        <a:rPr lang="en-IN" sz="1400" dirty="0"/>
                        <a:t>2</a:t>
                      </a:r>
                    </a:p>
                  </a:txBody>
                  <a:tcPr/>
                </a:tc>
                <a:extLst>
                  <a:ext uri="{0D108BD9-81ED-4DB2-BD59-A6C34878D82A}">
                    <a16:rowId xmlns:a16="http://schemas.microsoft.com/office/drawing/2014/main" val="3197416536"/>
                  </a:ext>
                </a:extLst>
              </a:tr>
              <a:tr h="328212">
                <a:tc>
                  <a:txBody>
                    <a:bodyPr/>
                    <a:lstStyle/>
                    <a:p>
                      <a:r>
                        <a:rPr lang="en-IN" sz="1400" dirty="0"/>
                        <a:t>Ambitious</a:t>
                      </a:r>
                    </a:p>
                  </a:txBody>
                  <a:tcPr/>
                </a:tc>
                <a:tc>
                  <a:txBody>
                    <a:bodyPr/>
                    <a:lstStyle/>
                    <a:p>
                      <a:r>
                        <a:rPr lang="en-IN" sz="1400" dirty="0"/>
                        <a:t>2</a:t>
                      </a:r>
                    </a:p>
                  </a:txBody>
                  <a:tcPr/>
                </a:tc>
                <a:extLst>
                  <a:ext uri="{0D108BD9-81ED-4DB2-BD59-A6C34878D82A}">
                    <a16:rowId xmlns:a16="http://schemas.microsoft.com/office/drawing/2014/main" val="4112815857"/>
                  </a:ext>
                </a:extLst>
              </a:tr>
            </a:tbl>
          </a:graphicData>
        </a:graphic>
      </p:graphicFrame>
      <p:graphicFrame>
        <p:nvGraphicFramePr>
          <p:cNvPr id="6" name="Table 5">
            <a:extLst>
              <a:ext uri="{FF2B5EF4-FFF2-40B4-BE49-F238E27FC236}">
                <a16:creationId xmlns:a16="http://schemas.microsoft.com/office/drawing/2014/main" id="{3CF1E146-E9E7-83B4-C9CB-C2B7F975E4D1}"/>
              </a:ext>
            </a:extLst>
          </p:cNvPr>
          <p:cNvGraphicFramePr>
            <a:graphicFrameLocks noGrp="1"/>
          </p:cNvGraphicFramePr>
          <p:nvPr/>
        </p:nvGraphicFramePr>
        <p:xfrm>
          <a:off x="7306491" y="129654"/>
          <a:ext cx="1897891" cy="6564240"/>
        </p:xfrm>
        <a:graphic>
          <a:graphicData uri="http://schemas.openxmlformats.org/drawingml/2006/table">
            <a:tbl>
              <a:tblPr firstRow="1" bandRow="1">
                <a:tableStyleId>{5C22544A-7EE6-4342-B048-85BDC9FD1C3A}</a:tableStyleId>
              </a:tblPr>
              <a:tblGrid>
                <a:gridCol w="1009603">
                  <a:extLst>
                    <a:ext uri="{9D8B030D-6E8A-4147-A177-3AD203B41FA5}">
                      <a16:colId xmlns:a16="http://schemas.microsoft.com/office/drawing/2014/main" val="2358747565"/>
                    </a:ext>
                  </a:extLst>
                </a:gridCol>
                <a:gridCol w="888288">
                  <a:extLst>
                    <a:ext uri="{9D8B030D-6E8A-4147-A177-3AD203B41FA5}">
                      <a16:colId xmlns:a16="http://schemas.microsoft.com/office/drawing/2014/main" val="1719220205"/>
                    </a:ext>
                  </a:extLst>
                </a:gridCol>
              </a:tblGrid>
              <a:tr h="328212">
                <a:tc>
                  <a:txBody>
                    <a:bodyPr/>
                    <a:lstStyle/>
                    <a:p>
                      <a:r>
                        <a:rPr lang="en-IN" sz="1400" dirty="0"/>
                        <a:t>Term</a:t>
                      </a:r>
                    </a:p>
                  </a:txBody>
                  <a:tcPr/>
                </a:tc>
                <a:tc>
                  <a:txBody>
                    <a:bodyPr/>
                    <a:lstStyle/>
                    <a:p>
                      <a:r>
                        <a:rPr lang="en-IN" sz="1400" dirty="0" err="1"/>
                        <a:t>DocID</a:t>
                      </a:r>
                      <a:endParaRPr lang="en-IN" sz="1400" dirty="0"/>
                    </a:p>
                  </a:txBody>
                  <a:tcPr/>
                </a:tc>
                <a:extLst>
                  <a:ext uri="{0D108BD9-81ED-4DB2-BD59-A6C34878D82A}">
                    <a16:rowId xmlns:a16="http://schemas.microsoft.com/office/drawing/2014/main" val="453302718"/>
                  </a:ext>
                </a:extLst>
              </a:tr>
              <a:tr h="328212">
                <a:tc>
                  <a:txBody>
                    <a:bodyPr/>
                    <a:lstStyle/>
                    <a:p>
                      <a:r>
                        <a:rPr lang="en-IN" sz="1400" dirty="0"/>
                        <a:t>ambitious</a:t>
                      </a:r>
                    </a:p>
                  </a:txBody>
                  <a:tcPr/>
                </a:tc>
                <a:tc>
                  <a:txBody>
                    <a:bodyPr/>
                    <a:lstStyle/>
                    <a:p>
                      <a:r>
                        <a:rPr lang="en-IN" sz="1400" dirty="0"/>
                        <a:t>2</a:t>
                      </a:r>
                    </a:p>
                  </a:txBody>
                  <a:tcPr/>
                </a:tc>
                <a:extLst>
                  <a:ext uri="{0D108BD9-81ED-4DB2-BD59-A6C34878D82A}">
                    <a16:rowId xmlns:a16="http://schemas.microsoft.com/office/drawing/2014/main" val="1530896262"/>
                  </a:ext>
                </a:extLst>
              </a:tr>
              <a:tr h="328212">
                <a:tc>
                  <a:txBody>
                    <a:bodyPr/>
                    <a:lstStyle/>
                    <a:p>
                      <a:r>
                        <a:rPr lang="en-IN" sz="1400" dirty="0"/>
                        <a:t>Be</a:t>
                      </a:r>
                    </a:p>
                  </a:txBody>
                  <a:tcPr/>
                </a:tc>
                <a:tc>
                  <a:txBody>
                    <a:bodyPr/>
                    <a:lstStyle/>
                    <a:p>
                      <a:r>
                        <a:rPr lang="en-IN" sz="1400" dirty="0"/>
                        <a:t>1</a:t>
                      </a:r>
                    </a:p>
                  </a:txBody>
                  <a:tcPr/>
                </a:tc>
                <a:extLst>
                  <a:ext uri="{0D108BD9-81ED-4DB2-BD59-A6C34878D82A}">
                    <a16:rowId xmlns:a16="http://schemas.microsoft.com/office/drawing/2014/main" val="2754582852"/>
                  </a:ext>
                </a:extLst>
              </a:tr>
              <a:tr h="328212">
                <a:tc>
                  <a:txBody>
                    <a:bodyPr/>
                    <a:lstStyle/>
                    <a:p>
                      <a:r>
                        <a:rPr lang="en-IN" sz="1400" dirty="0"/>
                        <a:t>Brutus</a:t>
                      </a:r>
                    </a:p>
                  </a:txBody>
                  <a:tcPr/>
                </a:tc>
                <a:tc>
                  <a:txBody>
                    <a:bodyPr/>
                    <a:lstStyle/>
                    <a:p>
                      <a:r>
                        <a:rPr lang="en-IN" sz="1400" dirty="0"/>
                        <a:t>1</a:t>
                      </a:r>
                    </a:p>
                  </a:txBody>
                  <a:tcPr/>
                </a:tc>
                <a:extLst>
                  <a:ext uri="{0D108BD9-81ED-4DB2-BD59-A6C34878D82A}">
                    <a16:rowId xmlns:a16="http://schemas.microsoft.com/office/drawing/2014/main" val="126349215"/>
                  </a:ext>
                </a:extLst>
              </a:tr>
              <a:tr h="328212">
                <a:tc>
                  <a:txBody>
                    <a:bodyPr/>
                    <a:lstStyle/>
                    <a:p>
                      <a:r>
                        <a:rPr lang="en-IN" sz="1400" dirty="0"/>
                        <a:t>Brutus</a:t>
                      </a:r>
                    </a:p>
                  </a:txBody>
                  <a:tcPr/>
                </a:tc>
                <a:tc>
                  <a:txBody>
                    <a:bodyPr/>
                    <a:lstStyle/>
                    <a:p>
                      <a:r>
                        <a:rPr lang="en-IN" sz="1400" dirty="0"/>
                        <a:t>2</a:t>
                      </a:r>
                    </a:p>
                  </a:txBody>
                  <a:tcPr/>
                </a:tc>
                <a:extLst>
                  <a:ext uri="{0D108BD9-81ED-4DB2-BD59-A6C34878D82A}">
                    <a16:rowId xmlns:a16="http://schemas.microsoft.com/office/drawing/2014/main" val="803179129"/>
                  </a:ext>
                </a:extLst>
              </a:tr>
              <a:tr h="328212">
                <a:tc>
                  <a:txBody>
                    <a:bodyPr/>
                    <a:lstStyle/>
                    <a:p>
                      <a:r>
                        <a:rPr lang="en-IN" sz="1400" dirty="0"/>
                        <a:t>Capitol</a:t>
                      </a:r>
                    </a:p>
                  </a:txBody>
                  <a:tcPr/>
                </a:tc>
                <a:tc>
                  <a:txBody>
                    <a:bodyPr/>
                    <a:lstStyle/>
                    <a:p>
                      <a:r>
                        <a:rPr lang="en-IN" sz="1400" dirty="0"/>
                        <a:t>1</a:t>
                      </a:r>
                    </a:p>
                  </a:txBody>
                  <a:tcPr/>
                </a:tc>
                <a:extLst>
                  <a:ext uri="{0D108BD9-81ED-4DB2-BD59-A6C34878D82A}">
                    <a16:rowId xmlns:a16="http://schemas.microsoft.com/office/drawing/2014/main" val="3037035409"/>
                  </a:ext>
                </a:extLst>
              </a:tr>
              <a:tr h="328212">
                <a:tc>
                  <a:txBody>
                    <a:bodyPr/>
                    <a:lstStyle/>
                    <a:p>
                      <a:r>
                        <a:rPr lang="en-IN" sz="1400" dirty="0"/>
                        <a:t>Caeser</a:t>
                      </a:r>
                    </a:p>
                  </a:txBody>
                  <a:tcPr/>
                </a:tc>
                <a:tc>
                  <a:txBody>
                    <a:bodyPr/>
                    <a:lstStyle/>
                    <a:p>
                      <a:r>
                        <a:rPr lang="en-IN" sz="1400" dirty="0"/>
                        <a:t>1</a:t>
                      </a:r>
                    </a:p>
                  </a:txBody>
                  <a:tcPr/>
                </a:tc>
                <a:extLst>
                  <a:ext uri="{0D108BD9-81ED-4DB2-BD59-A6C34878D82A}">
                    <a16:rowId xmlns:a16="http://schemas.microsoft.com/office/drawing/2014/main" val="1234850896"/>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3361466289"/>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100907215"/>
                  </a:ext>
                </a:extLst>
              </a:tr>
              <a:tr h="328212">
                <a:tc>
                  <a:txBody>
                    <a:bodyPr/>
                    <a:lstStyle/>
                    <a:p>
                      <a:r>
                        <a:rPr lang="en-IN" sz="1400" dirty="0"/>
                        <a:t>Did</a:t>
                      </a:r>
                    </a:p>
                  </a:txBody>
                  <a:tcPr/>
                </a:tc>
                <a:tc>
                  <a:txBody>
                    <a:bodyPr/>
                    <a:lstStyle/>
                    <a:p>
                      <a:r>
                        <a:rPr lang="en-IN" sz="1400" dirty="0"/>
                        <a:t>1</a:t>
                      </a:r>
                    </a:p>
                  </a:txBody>
                  <a:tcPr/>
                </a:tc>
                <a:extLst>
                  <a:ext uri="{0D108BD9-81ED-4DB2-BD59-A6C34878D82A}">
                    <a16:rowId xmlns:a16="http://schemas.microsoft.com/office/drawing/2014/main" val="1152569216"/>
                  </a:ext>
                </a:extLst>
              </a:tr>
              <a:tr h="328212">
                <a:tc>
                  <a:txBody>
                    <a:bodyPr/>
                    <a:lstStyle/>
                    <a:p>
                      <a:r>
                        <a:rPr lang="en-IN" sz="1400" dirty="0"/>
                        <a:t>Enact</a:t>
                      </a:r>
                    </a:p>
                  </a:txBody>
                  <a:tcPr/>
                </a:tc>
                <a:tc>
                  <a:txBody>
                    <a:bodyPr/>
                    <a:lstStyle/>
                    <a:p>
                      <a:r>
                        <a:rPr lang="en-IN" sz="1400" dirty="0"/>
                        <a:t>1</a:t>
                      </a:r>
                    </a:p>
                  </a:txBody>
                  <a:tcPr/>
                </a:tc>
                <a:extLst>
                  <a:ext uri="{0D108BD9-81ED-4DB2-BD59-A6C34878D82A}">
                    <a16:rowId xmlns:a16="http://schemas.microsoft.com/office/drawing/2014/main" val="2747595521"/>
                  </a:ext>
                </a:extLst>
              </a:tr>
              <a:tr h="328212">
                <a:tc>
                  <a:txBody>
                    <a:bodyPr/>
                    <a:lstStyle/>
                    <a:p>
                      <a:r>
                        <a:rPr lang="en-IN" sz="1400" dirty="0"/>
                        <a:t>Hath</a:t>
                      </a:r>
                    </a:p>
                  </a:txBody>
                  <a:tcPr/>
                </a:tc>
                <a:tc>
                  <a:txBody>
                    <a:bodyPr/>
                    <a:lstStyle/>
                    <a:p>
                      <a:r>
                        <a:rPr lang="en-IN" sz="1400" dirty="0"/>
                        <a:t>1</a:t>
                      </a:r>
                    </a:p>
                  </a:txBody>
                  <a:tcPr/>
                </a:tc>
                <a:extLst>
                  <a:ext uri="{0D108BD9-81ED-4DB2-BD59-A6C34878D82A}">
                    <a16:rowId xmlns:a16="http://schemas.microsoft.com/office/drawing/2014/main" val="3168747146"/>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2544166912"/>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670784296"/>
                  </a:ext>
                </a:extLst>
              </a:tr>
              <a:tr h="328212">
                <a:tc>
                  <a:txBody>
                    <a:bodyPr/>
                    <a:lstStyle/>
                    <a:p>
                      <a:r>
                        <a:rPr lang="en-IN" sz="1400" dirty="0" err="1"/>
                        <a:t>i</a:t>
                      </a:r>
                      <a:r>
                        <a:rPr lang="en-IN" sz="1400" dirty="0"/>
                        <a:t>’</a:t>
                      </a:r>
                    </a:p>
                  </a:txBody>
                  <a:tcPr/>
                </a:tc>
                <a:tc>
                  <a:txBody>
                    <a:bodyPr/>
                    <a:lstStyle/>
                    <a:p>
                      <a:r>
                        <a:rPr lang="en-IN" sz="1400" dirty="0"/>
                        <a:t>1</a:t>
                      </a:r>
                    </a:p>
                  </a:txBody>
                  <a:tcPr/>
                </a:tc>
                <a:extLst>
                  <a:ext uri="{0D108BD9-81ED-4DB2-BD59-A6C34878D82A}">
                    <a16:rowId xmlns:a16="http://schemas.microsoft.com/office/drawing/2014/main" val="3425743784"/>
                  </a:ext>
                </a:extLst>
              </a:tr>
              <a:tr h="328212">
                <a:tc>
                  <a:txBody>
                    <a:bodyPr/>
                    <a:lstStyle/>
                    <a:p>
                      <a:r>
                        <a:rPr lang="en-IN" sz="1400" dirty="0"/>
                        <a:t>It</a:t>
                      </a:r>
                    </a:p>
                  </a:txBody>
                  <a:tcPr/>
                </a:tc>
                <a:tc>
                  <a:txBody>
                    <a:bodyPr/>
                    <a:lstStyle/>
                    <a:p>
                      <a:r>
                        <a:rPr lang="en-IN" sz="1400" dirty="0"/>
                        <a:t>2</a:t>
                      </a:r>
                    </a:p>
                  </a:txBody>
                  <a:tcPr/>
                </a:tc>
                <a:extLst>
                  <a:ext uri="{0D108BD9-81ED-4DB2-BD59-A6C34878D82A}">
                    <a16:rowId xmlns:a16="http://schemas.microsoft.com/office/drawing/2014/main" val="4204018637"/>
                  </a:ext>
                </a:extLst>
              </a:tr>
              <a:tr h="328212">
                <a:tc>
                  <a:txBody>
                    <a:bodyPr/>
                    <a:lstStyle/>
                    <a:p>
                      <a:r>
                        <a:rPr lang="en-IN" sz="1400" dirty="0"/>
                        <a:t>Julius</a:t>
                      </a:r>
                    </a:p>
                  </a:txBody>
                  <a:tcPr/>
                </a:tc>
                <a:tc>
                  <a:txBody>
                    <a:bodyPr/>
                    <a:lstStyle/>
                    <a:p>
                      <a:r>
                        <a:rPr lang="en-IN" sz="1400" dirty="0"/>
                        <a:t>1</a:t>
                      </a:r>
                    </a:p>
                  </a:txBody>
                  <a:tcPr/>
                </a:tc>
                <a:extLst>
                  <a:ext uri="{0D108BD9-81ED-4DB2-BD59-A6C34878D82A}">
                    <a16:rowId xmlns:a16="http://schemas.microsoft.com/office/drawing/2014/main" val="3620769898"/>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3230897307"/>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3206519964"/>
                  </a:ext>
                </a:extLst>
              </a:tr>
              <a:tr h="328212">
                <a:tc>
                  <a:txBody>
                    <a:bodyPr/>
                    <a:lstStyle/>
                    <a:p>
                      <a:r>
                        <a:rPr lang="en-IN" sz="1400" dirty="0"/>
                        <a:t>Let</a:t>
                      </a:r>
                    </a:p>
                  </a:txBody>
                  <a:tcPr/>
                </a:tc>
                <a:tc>
                  <a:txBody>
                    <a:bodyPr/>
                    <a:lstStyle/>
                    <a:p>
                      <a:r>
                        <a:rPr lang="en-IN" sz="1400" dirty="0"/>
                        <a:t>2</a:t>
                      </a:r>
                    </a:p>
                  </a:txBody>
                  <a:tcPr/>
                </a:tc>
                <a:extLst>
                  <a:ext uri="{0D108BD9-81ED-4DB2-BD59-A6C34878D82A}">
                    <a16:rowId xmlns:a16="http://schemas.microsoft.com/office/drawing/2014/main" val="187283288"/>
                  </a:ext>
                </a:extLst>
              </a:tr>
            </a:tbl>
          </a:graphicData>
        </a:graphic>
      </p:graphicFrame>
      <p:graphicFrame>
        <p:nvGraphicFramePr>
          <p:cNvPr id="7" name="Table 6">
            <a:extLst>
              <a:ext uri="{FF2B5EF4-FFF2-40B4-BE49-F238E27FC236}">
                <a16:creationId xmlns:a16="http://schemas.microsoft.com/office/drawing/2014/main" id="{E71EDAD1-B4E7-250E-9DFE-08BC06D485AC}"/>
              </a:ext>
            </a:extLst>
          </p:cNvPr>
          <p:cNvGraphicFramePr>
            <a:graphicFrameLocks noGrp="1"/>
          </p:cNvGraphicFramePr>
          <p:nvPr/>
        </p:nvGraphicFramePr>
        <p:xfrm>
          <a:off x="9386920" y="1368691"/>
          <a:ext cx="2027726" cy="3610332"/>
        </p:xfrm>
        <a:graphic>
          <a:graphicData uri="http://schemas.openxmlformats.org/drawingml/2006/table">
            <a:tbl>
              <a:tblPr firstRow="1" bandRow="1">
                <a:tableStyleId>{5C22544A-7EE6-4342-B048-85BDC9FD1C3A}</a:tableStyleId>
              </a:tblPr>
              <a:tblGrid>
                <a:gridCol w="1259132">
                  <a:extLst>
                    <a:ext uri="{9D8B030D-6E8A-4147-A177-3AD203B41FA5}">
                      <a16:colId xmlns:a16="http://schemas.microsoft.com/office/drawing/2014/main" val="1265301180"/>
                    </a:ext>
                  </a:extLst>
                </a:gridCol>
                <a:gridCol w="768594">
                  <a:extLst>
                    <a:ext uri="{9D8B030D-6E8A-4147-A177-3AD203B41FA5}">
                      <a16:colId xmlns:a16="http://schemas.microsoft.com/office/drawing/2014/main" val="851005271"/>
                    </a:ext>
                  </a:extLst>
                </a:gridCol>
              </a:tblGrid>
              <a:tr h="328212">
                <a:tc>
                  <a:txBody>
                    <a:bodyPr/>
                    <a:lstStyle/>
                    <a:p>
                      <a:r>
                        <a:rPr lang="en-IN" sz="1400" dirty="0"/>
                        <a:t>Term</a:t>
                      </a:r>
                    </a:p>
                  </a:txBody>
                  <a:tcPr/>
                </a:tc>
                <a:tc>
                  <a:txBody>
                    <a:bodyPr/>
                    <a:lstStyle/>
                    <a:p>
                      <a:r>
                        <a:rPr lang="en-IN" sz="1400" dirty="0" err="1"/>
                        <a:t>DocID</a:t>
                      </a:r>
                      <a:endParaRPr lang="en-IN" sz="1400" dirty="0"/>
                    </a:p>
                  </a:txBody>
                  <a:tcPr/>
                </a:tc>
                <a:extLst>
                  <a:ext uri="{0D108BD9-81ED-4DB2-BD59-A6C34878D82A}">
                    <a16:rowId xmlns:a16="http://schemas.microsoft.com/office/drawing/2014/main" val="3518731746"/>
                  </a:ext>
                </a:extLst>
              </a:tr>
              <a:tr h="328212">
                <a:tc>
                  <a:txBody>
                    <a:bodyPr/>
                    <a:lstStyle/>
                    <a:p>
                      <a:r>
                        <a:rPr lang="en-IN" sz="1400" dirty="0"/>
                        <a:t>Me</a:t>
                      </a:r>
                    </a:p>
                  </a:txBody>
                  <a:tcPr/>
                </a:tc>
                <a:tc>
                  <a:txBody>
                    <a:bodyPr/>
                    <a:lstStyle/>
                    <a:p>
                      <a:r>
                        <a:rPr lang="en-IN" sz="1400" dirty="0"/>
                        <a:t>1</a:t>
                      </a:r>
                    </a:p>
                  </a:txBody>
                  <a:tcPr/>
                </a:tc>
                <a:extLst>
                  <a:ext uri="{0D108BD9-81ED-4DB2-BD59-A6C34878D82A}">
                    <a16:rowId xmlns:a16="http://schemas.microsoft.com/office/drawing/2014/main" val="3875887977"/>
                  </a:ext>
                </a:extLst>
              </a:tr>
              <a:tr h="328212">
                <a:tc>
                  <a:txBody>
                    <a:bodyPr/>
                    <a:lstStyle/>
                    <a:p>
                      <a:r>
                        <a:rPr lang="en-IN" sz="1400" dirty="0"/>
                        <a:t>Noble</a:t>
                      </a:r>
                    </a:p>
                  </a:txBody>
                  <a:tcPr/>
                </a:tc>
                <a:tc>
                  <a:txBody>
                    <a:bodyPr/>
                    <a:lstStyle/>
                    <a:p>
                      <a:r>
                        <a:rPr lang="en-IN" sz="1400" dirty="0"/>
                        <a:t>2</a:t>
                      </a:r>
                    </a:p>
                  </a:txBody>
                  <a:tcPr/>
                </a:tc>
                <a:extLst>
                  <a:ext uri="{0D108BD9-81ED-4DB2-BD59-A6C34878D82A}">
                    <a16:rowId xmlns:a16="http://schemas.microsoft.com/office/drawing/2014/main" val="424376329"/>
                  </a:ext>
                </a:extLst>
              </a:tr>
              <a:tr h="328212">
                <a:tc>
                  <a:txBody>
                    <a:bodyPr/>
                    <a:lstStyle/>
                    <a:p>
                      <a:r>
                        <a:rPr lang="en-IN" sz="1400" dirty="0"/>
                        <a:t>So</a:t>
                      </a:r>
                    </a:p>
                  </a:txBody>
                  <a:tcPr/>
                </a:tc>
                <a:tc>
                  <a:txBody>
                    <a:bodyPr/>
                    <a:lstStyle/>
                    <a:p>
                      <a:r>
                        <a:rPr lang="en-IN" sz="1400" dirty="0"/>
                        <a:t>2</a:t>
                      </a:r>
                    </a:p>
                  </a:txBody>
                  <a:tcPr/>
                </a:tc>
                <a:extLst>
                  <a:ext uri="{0D108BD9-81ED-4DB2-BD59-A6C34878D82A}">
                    <a16:rowId xmlns:a16="http://schemas.microsoft.com/office/drawing/2014/main" val="2534437829"/>
                  </a:ext>
                </a:extLst>
              </a:tr>
              <a:tr h="328212">
                <a:tc>
                  <a:txBody>
                    <a:bodyPr/>
                    <a:lstStyle/>
                    <a:p>
                      <a:r>
                        <a:rPr lang="en-IN" sz="1400" dirty="0"/>
                        <a:t>The</a:t>
                      </a:r>
                    </a:p>
                  </a:txBody>
                  <a:tcPr/>
                </a:tc>
                <a:tc>
                  <a:txBody>
                    <a:bodyPr/>
                    <a:lstStyle/>
                    <a:p>
                      <a:r>
                        <a:rPr lang="en-IN" sz="1400" dirty="0"/>
                        <a:t>1</a:t>
                      </a:r>
                    </a:p>
                  </a:txBody>
                  <a:tcPr/>
                </a:tc>
                <a:extLst>
                  <a:ext uri="{0D108BD9-81ED-4DB2-BD59-A6C34878D82A}">
                    <a16:rowId xmlns:a16="http://schemas.microsoft.com/office/drawing/2014/main" val="922739181"/>
                  </a:ext>
                </a:extLst>
              </a:tr>
              <a:tr h="328212">
                <a:tc>
                  <a:txBody>
                    <a:bodyPr/>
                    <a:lstStyle/>
                    <a:p>
                      <a:r>
                        <a:rPr lang="en-IN" sz="1400" dirty="0"/>
                        <a:t>The</a:t>
                      </a:r>
                    </a:p>
                  </a:txBody>
                  <a:tcPr/>
                </a:tc>
                <a:tc>
                  <a:txBody>
                    <a:bodyPr/>
                    <a:lstStyle/>
                    <a:p>
                      <a:r>
                        <a:rPr lang="en-IN" sz="1400" dirty="0"/>
                        <a:t>2</a:t>
                      </a:r>
                    </a:p>
                  </a:txBody>
                  <a:tcPr/>
                </a:tc>
                <a:extLst>
                  <a:ext uri="{0D108BD9-81ED-4DB2-BD59-A6C34878D82A}">
                    <a16:rowId xmlns:a16="http://schemas.microsoft.com/office/drawing/2014/main" val="3197416536"/>
                  </a:ext>
                </a:extLst>
              </a:tr>
              <a:tr h="328212">
                <a:tc>
                  <a:txBody>
                    <a:bodyPr/>
                    <a:lstStyle/>
                    <a:p>
                      <a:r>
                        <a:rPr lang="en-IN" sz="1400" dirty="0"/>
                        <a:t>Told</a:t>
                      </a:r>
                    </a:p>
                  </a:txBody>
                  <a:tcPr/>
                </a:tc>
                <a:tc>
                  <a:txBody>
                    <a:bodyPr/>
                    <a:lstStyle/>
                    <a:p>
                      <a:r>
                        <a:rPr lang="en-IN" sz="1400" dirty="0"/>
                        <a:t>2</a:t>
                      </a:r>
                    </a:p>
                  </a:txBody>
                  <a:tcPr/>
                </a:tc>
                <a:extLst>
                  <a:ext uri="{0D108BD9-81ED-4DB2-BD59-A6C34878D82A}">
                    <a16:rowId xmlns:a16="http://schemas.microsoft.com/office/drawing/2014/main" val="4112815857"/>
                  </a:ext>
                </a:extLst>
              </a:tr>
              <a:tr h="328212">
                <a:tc>
                  <a:txBody>
                    <a:bodyPr/>
                    <a:lstStyle/>
                    <a:p>
                      <a:r>
                        <a:rPr lang="en-IN" sz="1400" dirty="0"/>
                        <a:t>You</a:t>
                      </a:r>
                    </a:p>
                  </a:txBody>
                  <a:tcPr/>
                </a:tc>
                <a:tc>
                  <a:txBody>
                    <a:bodyPr/>
                    <a:lstStyle/>
                    <a:p>
                      <a:r>
                        <a:rPr lang="en-IN" sz="1400" dirty="0"/>
                        <a:t>2</a:t>
                      </a:r>
                    </a:p>
                  </a:txBody>
                  <a:tcPr/>
                </a:tc>
                <a:extLst>
                  <a:ext uri="{0D108BD9-81ED-4DB2-BD59-A6C34878D82A}">
                    <a16:rowId xmlns:a16="http://schemas.microsoft.com/office/drawing/2014/main" val="164851343"/>
                  </a:ext>
                </a:extLst>
              </a:tr>
              <a:tr h="328212">
                <a:tc>
                  <a:txBody>
                    <a:bodyPr/>
                    <a:lstStyle/>
                    <a:p>
                      <a:r>
                        <a:rPr lang="en-IN" sz="1400" dirty="0"/>
                        <a:t>Was</a:t>
                      </a:r>
                    </a:p>
                  </a:txBody>
                  <a:tcPr/>
                </a:tc>
                <a:tc>
                  <a:txBody>
                    <a:bodyPr/>
                    <a:lstStyle/>
                    <a:p>
                      <a:r>
                        <a:rPr lang="en-IN" sz="1400" dirty="0"/>
                        <a:t>1</a:t>
                      </a:r>
                    </a:p>
                  </a:txBody>
                  <a:tcPr/>
                </a:tc>
                <a:extLst>
                  <a:ext uri="{0D108BD9-81ED-4DB2-BD59-A6C34878D82A}">
                    <a16:rowId xmlns:a16="http://schemas.microsoft.com/office/drawing/2014/main" val="904625723"/>
                  </a:ext>
                </a:extLst>
              </a:tr>
              <a:tr h="328212">
                <a:tc>
                  <a:txBody>
                    <a:bodyPr/>
                    <a:lstStyle/>
                    <a:p>
                      <a:r>
                        <a:rPr lang="en-IN" sz="1400" dirty="0"/>
                        <a:t>Was</a:t>
                      </a:r>
                    </a:p>
                  </a:txBody>
                  <a:tcPr/>
                </a:tc>
                <a:tc>
                  <a:txBody>
                    <a:bodyPr/>
                    <a:lstStyle/>
                    <a:p>
                      <a:r>
                        <a:rPr lang="en-IN" sz="1400" dirty="0"/>
                        <a:t>2</a:t>
                      </a:r>
                    </a:p>
                  </a:txBody>
                  <a:tcPr/>
                </a:tc>
                <a:extLst>
                  <a:ext uri="{0D108BD9-81ED-4DB2-BD59-A6C34878D82A}">
                    <a16:rowId xmlns:a16="http://schemas.microsoft.com/office/drawing/2014/main" val="1899489041"/>
                  </a:ext>
                </a:extLst>
              </a:tr>
              <a:tr h="328212">
                <a:tc>
                  <a:txBody>
                    <a:bodyPr/>
                    <a:lstStyle/>
                    <a:p>
                      <a:r>
                        <a:rPr lang="en-IN" sz="1400" dirty="0"/>
                        <a:t>With</a:t>
                      </a:r>
                    </a:p>
                  </a:txBody>
                  <a:tcPr/>
                </a:tc>
                <a:tc>
                  <a:txBody>
                    <a:bodyPr/>
                    <a:lstStyle/>
                    <a:p>
                      <a:r>
                        <a:rPr lang="en-IN" sz="1400" dirty="0"/>
                        <a:t>2</a:t>
                      </a:r>
                    </a:p>
                  </a:txBody>
                  <a:tcPr/>
                </a:tc>
                <a:extLst>
                  <a:ext uri="{0D108BD9-81ED-4DB2-BD59-A6C34878D82A}">
                    <a16:rowId xmlns:a16="http://schemas.microsoft.com/office/drawing/2014/main" val="3638270523"/>
                  </a:ext>
                </a:extLst>
              </a:tr>
            </a:tbl>
          </a:graphicData>
        </a:graphic>
      </p:graphicFrame>
    </p:spTree>
    <p:extLst>
      <p:ext uri="{BB962C8B-B14F-4D97-AF65-F5344CB8AC3E}">
        <p14:creationId xmlns:p14="http://schemas.microsoft.com/office/powerpoint/2010/main" val="1431610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A746-1B44-AD27-3F3A-0C0ACBB4DAB6}"/>
              </a:ext>
            </a:extLst>
          </p:cNvPr>
          <p:cNvSpPr>
            <a:spLocks noGrp="1"/>
          </p:cNvSpPr>
          <p:nvPr>
            <p:ph type="title"/>
          </p:nvPr>
        </p:nvSpPr>
        <p:spPr/>
        <p:txBody>
          <a:bodyPr/>
          <a:lstStyle/>
          <a:p>
            <a:r>
              <a:rPr lang="en-IN" sz="4400" dirty="0"/>
              <a:t>Inverted index: Dictionary &amp; Postings</a:t>
            </a:r>
            <a:endParaRPr lang="en-IN" dirty="0"/>
          </a:p>
        </p:txBody>
      </p:sp>
      <p:sp>
        <p:nvSpPr>
          <p:cNvPr id="3" name="Content Placeholder 2">
            <a:extLst>
              <a:ext uri="{FF2B5EF4-FFF2-40B4-BE49-F238E27FC236}">
                <a16:creationId xmlns:a16="http://schemas.microsoft.com/office/drawing/2014/main" id="{9CBB2F69-83D3-D06D-BA06-BC3D796AFF93}"/>
              </a:ext>
            </a:extLst>
          </p:cNvPr>
          <p:cNvSpPr>
            <a:spLocks noGrp="1"/>
          </p:cNvSpPr>
          <p:nvPr>
            <p:ph idx="1"/>
          </p:nvPr>
        </p:nvSpPr>
        <p:spPr/>
        <p:txBody>
          <a:bodyPr/>
          <a:lstStyle/>
          <a:p>
            <a:r>
              <a:rPr lang="en-IN" sz="2800" dirty="0"/>
              <a:t>Multiple term entries in a single document are merged</a:t>
            </a:r>
          </a:p>
          <a:p>
            <a:r>
              <a:rPr lang="en-IN" sz="2800" dirty="0"/>
              <a:t>Split into dictionary and postings</a:t>
            </a:r>
          </a:p>
          <a:p>
            <a:endParaRPr lang="en-IN" sz="2800" dirty="0"/>
          </a:p>
          <a:p>
            <a:endParaRPr lang="en-IN" dirty="0"/>
          </a:p>
        </p:txBody>
      </p:sp>
    </p:spTree>
    <p:extLst>
      <p:ext uri="{BB962C8B-B14F-4D97-AF65-F5344CB8AC3E}">
        <p14:creationId xmlns:p14="http://schemas.microsoft.com/office/powerpoint/2010/main" val="4170441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B6068-D7A1-60CD-1320-D722C77CBB4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86A4D7D2-7C68-EC44-FD30-3648C8EC7F12}"/>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id="{F627B659-802A-C3DB-438F-3A67473E8B34}"/>
              </a:ext>
            </a:extLst>
          </p:cNvPr>
          <p:cNvSpPr>
            <a:spLocks noGrp="1"/>
          </p:cNvSpPr>
          <p:nvPr>
            <p:ph type="ftr" sz="quarter" idx="11"/>
          </p:nvPr>
        </p:nvSpPr>
        <p:spPr/>
        <p:txBody>
          <a:bodyPr/>
          <a:lstStyle/>
          <a:p>
            <a:r>
              <a:rPr lang="en-US"/>
              <a:t>Dr. Richa, Assistant Professor, BIT</a:t>
            </a:r>
          </a:p>
        </p:txBody>
      </p:sp>
      <p:sp>
        <p:nvSpPr>
          <p:cNvPr id="5" name="Slide Number Placeholder 4">
            <a:extLst>
              <a:ext uri="{FF2B5EF4-FFF2-40B4-BE49-F238E27FC236}">
                <a16:creationId xmlns:a16="http://schemas.microsoft.com/office/drawing/2014/main" id="{6A6E9FD5-2D62-225B-614C-1F30138C2851}"/>
              </a:ext>
            </a:extLst>
          </p:cNvPr>
          <p:cNvSpPr>
            <a:spLocks noGrp="1"/>
          </p:cNvSpPr>
          <p:nvPr>
            <p:ph type="sldNum" sz="quarter" idx="12"/>
          </p:nvPr>
        </p:nvSpPr>
        <p:spPr/>
        <p:txBody>
          <a:bodyPr/>
          <a:lstStyle/>
          <a:p>
            <a:fld id="{B6F15528-21DE-4FAA-801E-634DDDAF4B2B}" type="slidenum">
              <a:rPr lang="en-US" smtClean="0"/>
              <a:pPr/>
              <a:t>6</a:t>
            </a:fld>
            <a:endParaRPr lang="en-US"/>
          </a:p>
        </p:txBody>
      </p:sp>
      <p:graphicFrame>
        <p:nvGraphicFramePr>
          <p:cNvPr id="6" name="Table 5">
            <a:extLst>
              <a:ext uri="{FF2B5EF4-FFF2-40B4-BE49-F238E27FC236}">
                <a16:creationId xmlns:a16="http://schemas.microsoft.com/office/drawing/2014/main" id="{87C00ACB-B1FF-77E9-B12E-BC2045853322}"/>
              </a:ext>
            </a:extLst>
          </p:cNvPr>
          <p:cNvGraphicFramePr>
            <a:graphicFrameLocks noGrp="1"/>
          </p:cNvGraphicFramePr>
          <p:nvPr/>
        </p:nvGraphicFramePr>
        <p:xfrm>
          <a:off x="1752601" y="76200"/>
          <a:ext cx="1897891" cy="6564240"/>
        </p:xfrm>
        <a:graphic>
          <a:graphicData uri="http://schemas.openxmlformats.org/drawingml/2006/table">
            <a:tbl>
              <a:tblPr firstRow="1" bandRow="1">
                <a:tableStyleId>{5C22544A-7EE6-4342-B048-85BDC9FD1C3A}</a:tableStyleId>
              </a:tblPr>
              <a:tblGrid>
                <a:gridCol w="1009603">
                  <a:extLst>
                    <a:ext uri="{9D8B030D-6E8A-4147-A177-3AD203B41FA5}">
                      <a16:colId xmlns:a16="http://schemas.microsoft.com/office/drawing/2014/main" val="2358747565"/>
                    </a:ext>
                  </a:extLst>
                </a:gridCol>
                <a:gridCol w="888288">
                  <a:extLst>
                    <a:ext uri="{9D8B030D-6E8A-4147-A177-3AD203B41FA5}">
                      <a16:colId xmlns:a16="http://schemas.microsoft.com/office/drawing/2014/main" val="1719220205"/>
                    </a:ext>
                  </a:extLst>
                </a:gridCol>
              </a:tblGrid>
              <a:tr h="328212">
                <a:tc>
                  <a:txBody>
                    <a:bodyPr/>
                    <a:lstStyle/>
                    <a:p>
                      <a:r>
                        <a:rPr lang="en-IN" sz="1400" dirty="0"/>
                        <a:t>Term</a:t>
                      </a:r>
                    </a:p>
                  </a:txBody>
                  <a:tcPr/>
                </a:tc>
                <a:tc>
                  <a:txBody>
                    <a:bodyPr/>
                    <a:lstStyle/>
                    <a:p>
                      <a:r>
                        <a:rPr lang="en-IN" sz="1400" dirty="0" err="1"/>
                        <a:t>DocID</a:t>
                      </a:r>
                      <a:endParaRPr lang="en-IN" sz="1400" dirty="0"/>
                    </a:p>
                  </a:txBody>
                  <a:tcPr/>
                </a:tc>
                <a:extLst>
                  <a:ext uri="{0D108BD9-81ED-4DB2-BD59-A6C34878D82A}">
                    <a16:rowId xmlns:a16="http://schemas.microsoft.com/office/drawing/2014/main" val="453302718"/>
                  </a:ext>
                </a:extLst>
              </a:tr>
              <a:tr h="328212">
                <a:tc>
                  <a:txBody>
                    <a:bodyPr/>
                    <a:lstStyle/>
                    <a:p>
                      <a:r>
                        <a:rPr lang="en-IN" sz="1400" dirty="0"/>
                        <a:t>ambitious</a:t>
                      </a:r>
                    </a:p>
                  </a:txBody>
                  <a:tcPr/>
                </a:tc>
                <a:tc>
                  <a:txBody>
                    <a:bodyPr/>
                    <a:lstStyle/>
                    <a:p>
                      <a:r>
                        <a:rPr lang="en-IN" sz="1400" dirty="0"/>
                        <a:t>2</a:t>
                      </a:r>
                    </a:p>
                  </a:txBody>
                  <a:tcPr/>
                </a:tc>
                <a:extLst>
                  <a:ext uri="{0D108BD9-81ED-4DB2-BD59-A6C34878D82A}">
                    <a16:rowId xmlns:a16="http://schemas.microsoft.com/office/drawing/2014/main" val="1530896262"/>
                  </a:ext>
                </a:extLst>
              </a:tr>
              <a:tr h="328212">
                <a:tc>
                  <a:txBody>
                    <a:bodyPr/>
                    <a:lstStyle/>
                    <a:p>
                      <a:r>
                        <a:rPr lang="en-IN" sz="1400" dirty="0"/>
                        <a:t>Be</a:t>
                      </a:r>
                    </a:p>
                  </a:txBody>
                  <a:tcPr/>
                </a:tc>
                <a:tc>
                  <a:txBody>
                    <a:bodyPr/>
                    <a:lstStyle/>
                    <a:p>
                      <a:r>
                        <a:rPr lang="en-IN" sz="1400" dirty="0"/>
                        <a:t>1</a:t>
                      </a:r>
                    </a:p>
                  </a:txBody>
                  <a:tcPr/>
                </a:tc>
                <a:extLst>
                  <a:ext uri="{0D108BD9-81ED-4DB2-BD59-A6C34878D82A}">
                    <a16:rowId xmlns:a16="http://schemas.microsoft.com/office/drawing/2014/main" val="2754582852"/>
                  </a:ext>
                </a:extLst>
              </a:tr>
              <a:tr h="328212">
                <a:tc>
                  <a:txBody>
                    <a:bodyPr/>
                    <a:lstStyle/>
                    <a:p>
                      <a:r>
                        <a:rPr lang="en-IN" sz="1400" dirty="0"/>
                        <a:t>Brutus</a:t>
                      </a:r>
                    </a:p>
                  </a:txBody>
                  <a:tcPr/>
                </a:tc>
                <a:tc>
                  <a:txBody>
                    <a:bodyPr/>
                    <a:lstStyle/>
                    <a:p>
                      <a:r>
                        <a:rPr lang="en-IN" sz="1400" dirty="0"/>
                        <a:t>1</a:t>
                      </a:r>
                    </a:p>
                  </a:txBody>
                  <a:tcPr/>
                </a:tc>
                <a:extLst>
                  <a:ext uri="{0D108BD9-81ED-4DB2-BD59-A6C34878D82A}">
                    <a16:rowId xmlns:a16="http://schemas.microsoft.com/office/drawing/2014/main" val="126349215"/>
                  </a:ext>
                </a:extLst>
              </a:tr>
              <a:tr h="328212">
                <a:tc>
                  <a:txBody>
                    <a:bodyPr/>
                    <a:lstStyle/>
                    <a:p>
                      <a:r>
                        <a:rPr lang="en-IN" sz="1400" dirty="0"/>
                        <a:t>Brutus</a:t>
                      </a:r>
                    </a:p>
                  </a:txBody>
                  <a:tcPr/>
                </a:tc>
                <a:tc>
                  <a:txBody>
                    <a:bodyPr/>
                    <a:lstStyle/>
                    <a:p>
                      <a:r>
                        <a:rPr lang="en-IN" sz="1400" dirty="0"/>
                        <a:t>2</a:t>
                      </a:r>
                    </a:p>
                  </a:txBody>
                  <a:tcPr/>
                </a:tc>
                <a:extLst>
                  <a:ext uri="{0D108BD9-81ED-4DB2-BD59-A6C34878D82A}">
                    <a16:rowId xmlns:a16="http://schemas.microsoft.com/office/drawing/2014/main" val="803179129"/>
                  </a:ext>
                </a:extLst>
              </a:tr>
              <a:tr h="328212">
                <a:tc>
                  <a:txBody>
                    <a:bodyPr/>
                    <a:lstStyle/>
                    <a:p>
                      <a:r>
                        <a:rPr lang="en-IN" sz="1400" dirty="0"/>
                        <a:t>Capitol</a:t>
                      </a:r>
                    </a:p>
                  </a:txBody>
                  <a:tcPr/>
                </a:tc>
                <a:tc>
                  <a:txBody>
                    <a:bodyPr/>
                    <a:lstStyle/>
                    <a:p>
                      <a:r>
                        <a:rPr lang="en-IN" sz="1400" dirty="0"/>
                        <a:t>1</a:t>
                      </a:r>
                    </a:p>
                  </a:txBody>
                  <a:tcPr/>
                </a:tc>
                <a:extLst>
                  <a:ext uri="{0D108BD9-81ED-4DB2-BD59-A6C34878D82A}">
                    <a16:rowId xmlns:a16="http://schemas.microsoft.com/office/drawing/2014/main" val="3037035409"/>
                  </a:ext>
                </a:extLst>
              </a:tr>
              <a:tr h="328212">
                <a:tc>
                  <a:txBody>
                    <a:bodyPr/>
                    <a:lstStyle/>
                    <a:p>
                      <a:r>
                        <a:rPr lang="en-IN" sz="1400" dirty="0"/>
                        <a:t>Caeser</a:t>
                      </a:r>
                    </a:p>
                  </a:txBody>
                  <a:tcPr/>
                </a:tc>
                <a:tc>
                  <a:txBody>
                    <a:bodyPr/>
                    <a:lstStyle/>
                    <a:p>
                      <a:r>
                        <a:rPr lang="en-IN" sz="1400" dirty="0"/>
                        <a:t>1</a:t>
                      </a:r>
                    </a:p>
                  </a:txBody>
                  <a:tcPr/>
                </a:tc>
                <a:extLst>
                  <a:ext uri="{0D108BD9-81ED-4DB2-BD59-A6C34878D82A}">
                    <a16:rowId xmlns:a16="http://schemas.microsoft.com/office/drawing/2014/main" val="1234850896"/>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3361466289"/>
                  </a:ext>
                </a:extLst>
              </a:tr>
              <a:tr h="328212">
                <a:tc>
                  <a:txBody>
                    <a:bodyPr/>
                    <a:lstStyle/>
                    <a:p>
                      <a:r>
                        <a:rPr lang="en-IN" sz="1400" dirty="0"/>
                        <a:t>Caeser</a:t>
                      </a:r>
                    </a:p>
                  </a:txBody>
                  <a:tcPr/>
                </a:tc>
                <a:tc>
                  <a:txBody>
                    <a:bodyPr/>
                    <a:lstStyle/>
                    <a:p>
                      <a:r>
                        <a:rPr lang="en-IN" sz="1400" dirty="0"/>
                        <a:t>2</a:t>
                      </a:r>
                    </a:p>
                  </a:txBody>
                  <a:tcPr/>
                </a:tc>
                <a:extLst>
                  <a:ext uri="{0D108BD9-81ED-4DB2-BD59-A6C34878D82A}">
                    <a16:rowId xmlns:a16="http://schemas.microsoft.com/office/drawing/2014/main" val="100907215"/>
                  </a:ext>
                </a:extLst>
              </a:tr>
              <a:tr h="328212">
                <a:tc>
                  <a:txBody>
                    <a:bodyPr/>
                    <a:lstStyle/>
                    <a:p>
                      <a:r>
                        <a:rPr lang="en-IN" sz="1400" dirty="0"/>
                        <a:t>Did</a:t>
                      </a:r>
                    </a:p>
                  </a:txBody>
                  <a:tcPr/>
                </a:tc>
                <a:tc>
                  <a:txBody>
                    <a:bodyPr/>
                    <a:lstStyle/>
                    <a:p>
                      <a:r>
                        <a:rPr lang="en-IN" sz="1400" dirty="0"/>
                        <a:t>1</a:t>
                      </a:r>
                    </a:p>
                  </a:txBody>
                  <a:tcPr/>
                </a:tc>
                <a:extLst>
                  <a:ext uri="{0D108BD9-81ED-4DB2-BD59-A6C34878D82A}">
                    <a16:rowId xmlns:a16="http://schemas.microsoft.com/office/drawing/2014/main" val="1152569216"/>
                  </a:ext>
                </a:extLst>
              </a:tr>
              <a:tr h="328212">
                <a:tc>
                  <a:txBody>
                    <a:bodyPr/>
                    <a:lstStyle/>
                    <a:p>
                      <a:r>
                        <a:rPr lang="en-IN" sz="1400" dirty="0"/>
                        <a:t>Enact</a:t>
                      </a:r>
                    </a:p>
                  </a:txBody>
                  <a:tcPr/>
                </a:tc>
                <a:tc>
                  <a:txBody>
                    <a:bodyPr/>
                    <a:lstStyle/>
                    <a:p>
                      <a:r>
                        <a:rPr lang="en-IN" sz="1400" dirty="0"/>
                        <a:t>1</a:t>
                      </a:r>
                    </a:p>
                  </a:txBody>
                  <a:tcPr/>
                </a:tc>
                <a:extLst>
                  <a:ext uri="{0D108BD9-81ED-4DB2-BD59-A6C34878D82A}">
                    <a16:rowId xmlns:a16="http://schemas.microsoft.com/office/drawing/2014/main" val="2747595521"/>
                  </a:ext>
                </a:extLst>
              </a:tr>
              <a:tr h="328212">
                <a:tc>
                  <a:txBody>
                    <a:bodyPr/>
                    <a:lstStyle/>
                    <a:p>
                      <a:r>
                        <a:rPr lang="en-IN" sz="1400" dirty="0"/>
                        <a:t>Hath</a:t>
                      </a:r>
                    </a:p>
                  </a:txBody>
                  <a:tcPr/>
                </a:tc>
                <a:tc>
                  <a:txBody>
                    <a:bodyPr/>
                    <a:lstStyle/>
                    <a:p>
                      <a:r>
                        <a:rPr lang="en-IN" sz="1400" dirty="0"/>
                        <a:t>1</a:t>
                      </a:r>
                    </a:p>
                  </a:txBody>
                  <a:tcPr/>
                </a:tc>
                <a:extLst>
                  <a:ext uri="{0D108BD9-81ED-4DB2-BD59-A6C34878D82A}">
                    <a16:rowId xmlns:a16="http://schemas.microsoft.com/office/drawing/2014/main" val="3168747146"/>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2544166912"/>
                  </a:ext>
                </a:extLst>
              </a:tr>
              <a:tr h="328212">
                <a:tc>
                  <a:txBody>
                    <a:bodyPr/>
                    <a:lstStyle/>
                    <a:p>
                      <a:r>
                        <a:rPr lang="en-IN" sz="1400" dirty="0"/>
                        <a:t>I</a:t>
                      </a:r>
                    </a:p>
                  </a:txBody>
                  <a:tcPr/>
                </a:tc>
                <a:tc>
                  <a:txBody>
                    <a:bodyPr/>
                    <a:lstStyle/>
                    <a:p>
                      <a:r>
                        <a:rPr lang="en-IN" sz="1400" dirty="0"/>
                        <a:t>1</a:t>
                      </a:r>
                    </a:p>
                  </a:txBody>
                  <a:tcPr/>
                </a:tc>
                <a:extLst>
                  <a:ext uri="{0D108BD9-81ED-4DB2-BD59-A6C34878D82A}">
                    <a16:rowId xmlns:a16="http://schemas.microsoft.com/office/drawing/2014/main" val="670784296"/>
                  </a:ext>
                </a:extLst>
              </a:tr>
              <a:tr h="328212">
                <a:tc>
                  <a:txBody>
                    <a:bodyPr/>
                    <a:lstStyle/>
                    <a:p>
                      <a:r>
                        <a:rPr lang="en-IN" sz="1400" dirty="0" err="1"/>
                        <a:t>i</a:t>
                      </a:r>
                      <a:r>
                        <a:rPr lang="en-IN" sz="1400" dirty="0"/>
                        <a:t>’</a:t>
                      </a:r>
                    </a:p>
                  </a:txBody>
                  <a:tcPr/>
                </a:tc>
                <a:tc>
                  <a:txBody>
                    <a:bodyPr/>
                    <a:lstStyle/>
                    <a:p>
                      <a:r>
                        <a:rPr lang="en-IN" sz="1400" dirty="0"/>
                        <a:t>1</a:t>
                      </a:r>
                    </a:p>
                  </a:txBody>
                  <a:tcPr/>
                </a:tc>
                <a:extLst>
                  <a:ext uri="{0D108BD9-81ED-4DB2-BD59-A6C34878D82A}">
                    <a16:rowId xmlns:a16="http://schemas.microsoft.com/office/drawing/2014/main" val="3425743784"/>
                  </a:ext>
                </a:extLst>
              </a:tr>
              <a:tr h="328212">
                <a:tc>
                  <a:txBody>
                    <a:bodyPr/>
                    <a:lstStyle/>
                    <a:p>
                      <a:r>
                        <a:rPr lang="en-IN" sz="1400" dirty="0"/>
                        <a:t>It</a:t>
                      </a:r>
                    </a:p>
                  </a:txBody>
                  <a:tcPr/>
                </a:tc>
                <a:tc>
                  <a:txBody>
                    <a:bodyPr/>
                    <a:lstStyle/>
                    <a:p>
                      <a:r>
                        <a:rPr lang="en-IN" sz="1400" dirty="0"/>
                        <a:t>2</a:t>
                      </a:r>
                    </a:p>
                  </a:txBody>
                  <a:tcPr/>
                </a:tc>
                <a:extLst>
                  <a:ext uri="{0D108BD9-81ED-4DB2-BD59-A6C34878D82A}">
                    <a16:rowId xmlns:a16="http://schemas.microsoft.com/office/drawing/2014/main" val="4204018637"/>
                  </a:ext>
                </a:extLst>
              </a:tr>
              <a:tr h="328212">
                <a:tc>
                  <a:txBody>
                    <a:bodyPr/>
                    <a:lstStyle/>
                    <a:p>
                      <a:r>
                        <a:rPr lang="en-IN" sz="1400" dirty="0"/>
                        <a:t>Julius</a:t>
                      </a:r>
                    </a:p>
                  </a:txBody>
                  <a:tcPr/>
                </a:tc>
                <a:tc>
                  <a:txBody>
                    <a:bodyPr/>
                    <a:lstStyle/>
                    <a:p>
                      <a:r>
                        <a:rPr lang="en-IN" sz="1400" dirty="0"/>
                        <a:t>1</a:t>
                      </a:r>
                    </a:p>
                  </a:txBody>
                  <a:tcPr/>
                </a:tc>
                <a:extLst>
                  <a:ext uri="{0D108BD9-81ED-4DB2-BD59-A6C34878D82A}">
                    <a16:rowId xmlns:a16="http://schemas.microsoft.com/office/drawing/2014/main" val="3620769898"/>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3230897307"/>
                  </a:ext>
                </a:extLst>
              </a:tr>
              <a:tr h="328212">
                <a:tc>
                  <a:txBody>
                    <a:bodyPr/>
                    <a:lstStyle/>
                    <a:p>
                      <a:r>
                        <a:rPr lang="en-IN" sz="1400" dirty="0"/>
                        <a:t>Killed</a:t>
                      </a:r>
                    </a:p>
                  </a:txBody>
                  <a:tcPr/>
                </a:tc>
                <a:tc>
                  <a:txBody>
                    <a:bodyPr/>
                    <a:lstStyle/>
                    <a:p>
                      <a:r>
                        <a:rPr lang="en-IN" sz="1400" dirty="0"/>
                        <a:t>1</a:t>
                      </a:r>
                    </a:p>
                  </a:txBody>
                  <a:tcPr/>
                </a:tc>
                <a:extLst>
                  <a:ext uri="{0D108BD9-81ED-4DB2-BD59-A6C34878D82A}">
                    <a16:rowId xmlns:a16="http://schemas.microsoft.com/office/drawing/2014/main" val="3206519964"/>
                  </a:ext>
                </a:extLst>
              </a:tr>
              <a:tr h="328212">
                <a:tc>
                  <a:txBody>
                    <a:bodyPr/>
                    <a:lstStyle/>
                    <a:p>
                      <a:r>
                        <a:rPr lang="en-IN" sz="1400" dirty="0"/>
                        <a:t>Let</a:t>
                      </a:r>
                    </a:p>
                  </a:txBody>
                  <a:tcPr/>
                </a:tc>
                <a:tc>
                  <a:txBody>
                    <a:bodyPr/>
                    <a:lstStyle/>
                    <a:p>
                      <a:r>
                        <a:rPr lang="en-IN" sz="1400" dirty="0"/>
                        <a:t>2</a:t>
                      </a:r>
                    </a:p>
                  </a:txBody>
                  <a:tcPr/>
                </a:tc>
                <a:extLst>
                  <a:ext uri="{0D108BD9-81ED-4DB2-BD59-A6C34878D82A}">
                    <a16:rowId xmlns:a16="http://schemas.microsoft.com/office/drawing/2014/main" val="187283288"/>
                  </a:ext>
                </a:extLst>
              </a:tr>
            </a:tbl>
          </a:graphicData>
        </a:graphic>
      </p:graphicFrame>
      <p:graphicFrame>
        <p:nvGraphicFramePr>
          <p:cNvPr id="7" name="Table 6">
            <a:extLst>
              <a:ext uri="{FF2B5EF4-FFF2-40B4-BE49-F238E27FC236}">
                <a16:creationId xmlns:a16="http://schemas.microsoft.com/office/drawing/2014/main" id="{674B8365-3577-C744-FEBD-0F626B388AD9}"/>
              </a:ext>
            </a:extLst>
          </p:cNvPr>
          <p:cNvGraphicFramePr>
            <a:graphicFrameLocks noGrp="1"/>
          </p:cNvGraphicFramePr>
          <p:nvPr/>
        </p:nvGraphicFramePr>
        <p:xfrm>
          <a:off x="3650491" y="2746018"/>
          <a:ext cx="2027726" cy="3610332"/>
        </p:xfrm>
        <a:graphic>
          <a:graphicData uri="http://schemas.openxmlformats.org/drawingml/2006/table">
            <a:tbl>
              <a:tblPr firstRow="1" bandRow="1">
                <a:tableStyleId>{5C22544A-7EE6-4342-B048-85BDC9FD1C3A}</a:tableStyleId>
              </a:tblPr>
              <a:tblGrid>
                <a:gridCol w="1259132">
                  <a:extLst>
                    <a:ext uri="{9D8B030D-6E8A-4147-A177-3AD203B41FA5}">
                      <a16:colId xmlns:a16="http://schemas.microsoft.com/office/drawing/2014/main" val="1265301180"/>
                    </a:ext>
                  </a:extLst>
                </a:gridCol>
                <a:gridCol w="768594">
                  <a:extLst>
                    <a:ext uri="{9D8B030D-6E8A-4147-A177-3AD203B41FA5}">
                      <a16:colId xmlns:a16="http://schemas.microsoft.com/office/drawing/2014/main" val="851005271"/>
                    </a:ext>
                  </a:extLst>
                </a:gridCol>
              </a:tblGrid>
              <a:tr h="328212">
                <a:tc>
                  <a:txBody>
                    <a:bodyPr/>
                    <a:lstStyle/>
                    <a:p>
                      <a:r>
                        <a:rPr lang="en-IN" sz="1400" dirty="0"/>
                        <a:t>Term</a:t>
                      </a:r>
                    </a:p>
                  </a:txBody>
                  <a:tcPr/>
                </a:tc>
                <a:tc>
                  <a:txBody>
                    <a:bodyPr/>
                    <a:lstStyle/>
                    <a:p>
                      <a:r>
                        <a:rPr lang="en-IN" sz="1400" dirty="0" err="1"/>
                        <a:t>DocID</a:t>
                      </a:r>
                      <a:endParaRPr lang="en-IN" sz="1400" dirty="0"/>
                    </a:p>
                  </a:txBody>
                  <a:tcPr/>
                </a:tc>
                <a:extLst>
                  <a:ext uri="{0D108BD9-81ED-4DB2-BD59-A6C34878D82A}">
                    <a16:rowId xmlns:a16="http://schemas.microsoft.com/office/drawing/2014/main" val="3518731746"/>
                  </a:ext>
                </a:extLst>
              </a:tr>
              <a:tr h="328212">
                <a:tc>
                  <a:txBody>
                    <a:bodyPr/>
                    <a:lstStyle/>
                    <a:p>
                      <a:r>
                        <a:rPr lang="en-IN" sz="1400" dirty="0"/>
                        <a:t>Me</a:t>
                      </a:r>
                    </a:p>
                  </a:txBody>
                  <a:tcPr/>
                </a:tc>
                <a:tc>
                  <a:txBody>
                    <a:bodyPr/>
                    <a:lstStyle/>
                    <a:p>
                      <a:r>
                        <a:rPr lang="en-IN" sz="1400" dirty="0"/>
                        <a:t>1</a:t>
                      </a:r>
                    </a:p>
                  </a:txBody>
                  <a:tcPr/>
                </a:tc>
                <a:extLst>
                  <a:ext uri="{0D108BD9-81ED-4DB2-BD59-A6C34878D82A}">
                    <a16:rowId xmlns:a16="http://schemas.microsoft.com/office/drawing/2014/main" val="3875887977"/>
                  </a:ext>
                </a:extLst>
              </a:tr>
              <a:tr h="328212">
                <a:tc>
                  <a:txBody>
                    <a:bodyPr/>
                    <a:lstStyle/>
                    <a:p>
                      <a:r>
                        <a:rPr lang="en-IN" sz="1400" dirty="0"/>
                        <a:t>Noble</a:t>
                      </a:r>
                    </a:p>
                  </a:txBody>
                  <a:tcPr/>
                </a:tc>
                <a:tc>
                  <a:txBody>
                    <a:bodyPr/>
                    <a:lstStyle/>
                    <a:p>
                      <a:r>
                        <a:rPr lang="en-IN" sz="1400" dirty="0"/>
                        <a:t>2</a:t>
                      </a:r>
                    </a:p>
                  </a:txBody>
                  <a:tcPr/>
                </a:tc>
                <a:extLst>
                  <a:ext uri="{0D108BD9-81ED-4DB2-BD59-A6C34878D82A}">
                    <a16:rowId xmlns:a16="http://schemas.microsoft.com/office/drawing/2014/main" val="424376329"/>
                  </a:ext>
                </a:extLst>
              </a:tr>
              <a:tr h="328212">
                <a:tc>
                  <a:txBody>
                    <a:bodyPr/>
                    <a:lstStyle/>
                    <a:p>
                      <a:r>
                        <a:rPr lang="en-IN" sz="1400" dirty="0"/>
                        <a:t>So</a:t>
                      </a:r>
                    </a:p>
                  </a:txBody>
                  <a:tcPr/>
                </a:tc>
                <a:tc>
                  <a:txBody>
                    <a:bodyPr/>
                    <a:lstStyle/>
                    <a:p>
                      <a:r>
                        <a:rPr lang="en-IN" sz="1400" dirty="0"/>
                        <a:t>2</a:t>
                      </a:r>
                    </a:p>
                  </a:txBody>
                  <a:tcPr/>
                </a:tc>
                <a:extLst>
                  <a:ext uri="{0D108BD9-81ED-4DB2-BD59-A6C34878D82A}">
                    <a16:rowId xmlns:a16="http://schemas.microsoft.com/office/drawing/2014/main" val="2534437829"/>
                  </a:ext>
                </a:extLst>
              </a:tr>
              <a:tr h="328212">
                <a:tc>
                  <a:txBody>
                    <a:bodyPr/>
                    <a:lstStyle/>
                    <a:p>
                      <a:r>
                        <a:rPr lang="en-IN" sz="1400" dirty="0"/>
                        <a:t>The</a:t>
                      </a:r>
                    </a:p>
                  </a:txBody>
                  <a:tcPr/>
                </a:tc>
                <a:tc>
                  <a:txBody>
                    <a:bodyPr/>
                    <a:lstStyle/>
                    <a:p>
                      <a:r>
                        <a:rPr lang="en-IN" sz="1400" dirty="0"/>
                        <a:t>1</a:t>
                      </a:r>
                    </a:p>
                  </a:txBody>
                  <a:tcPr/>
                </a:tc>
                <a:extLst>
                  <a:ext uri="{0D108BD9-81ED-4DB2-BD59-A6C34878D82A}">
                    <a16:rowId xmlns:a16="http://schemas.microsoft.com/office/drawing/2014/main" val="922739181"/>
                  </a:ext>
                </a:extLst>
              </a:tr>
              <a:tr h="328212">
                <a:tc>
                  <a:txBody>
                    <a:bodyPr/>
                    <a:lstStyle/>
                    <a:p>
                      <a:r>
                        <a:rPr lang="en-IN" sz="1400" dirty="0"/>
                        <a:t>The</a:t>
                      </a:r>
                    </a:p>
                  </a:txBody>
                  <a:tcPr/>
                </a:tc>
                <a:tc>
                  <a:txBody>
                    <a:bodyPr/>
                    <a:lstStyle/>
                    <a:p>
                      <a:r>
                        <a:rPr lang="en-IN" sz="1400" dirty="0"/>
                        <a:t>2</a:t>
                      </a:r>
                    </a:p>
                  </a:txBody>
                  <a:tcPr/>
                </a:tc>
                <a:extLst>
                  <a:ext uri="{0D108BD9-81ED-4DB2-BD59-A6C34878D82A}">
                    <a16:rowId xmlns:a16="http://schemas.microsoft.com/office/drawing/2014/main" val="3197416536"/>
                  </a:ext>
                </a:extLst>
              </a:tr>
              <a:tr h="328212">
                <a:tc>
                  <a:txBody>
                    <a:bodyPr/>
                    <a:lstStyle/>
                    <a:p>
                      <a:r>
                        <a:rPr lang="en-IN" sz="1400" dirty="0"/>
                        <a:t>Told</a:t>
                      </a:r>
                    </a:p>
                  </a:txBody>
                  <a:tcPr/>
                </a:tc>
                <a:tc>
                  <a:txBody>
                    <a:bodyPr/>
                    <a:lstStyle/>
                    <a:p>
                      <a:r>
                        <a:rPr lang="en-IN" sz="1400" dirty="0"/>
                        <a:t>2</a:t>
                      </a:r>
                    </a:p>
                  </a:txBody>
                  <a:tcPr/>
                </a:tc>
                <a:extLst>
                  <a:ext uri="{0D108BD9-81ED-4DB2-BD59-A6C34878D82A}">
                    <a16:rowId xmlns:a16="http://schemas.microsoft.com/office/drawing/2014/main" val="4112815857"/>
                  </a:ext>
                </a:extLst>
              </a:tr>
              <a:tr h="328212">
                <a:tc>
                  <a:txBody>
                    <a:bodyPr/>
                    <a:lstStyle/>
                    <a:p>
                      <a:r>
                        <a:rPr lang="en-IN" sz="1400" dirty="0"/>
                        <a:t>You</a:t>
                      </a:r>
                    </a:p>
                  </a:txBody>
                  <a:tcPr/>
                </a:tc>
                <a:tc>
                  <a:txBody>
                    <a:bodyPr/>
                    <a:lstStyle/>
                    <a:p>
                      <a:r>
                        <a:rPr lang="en-IN" sz="1400" dirty="0"/>
                        <a:t>2</a:t>
                      </a:r>
                    </a:p>
                  </a:txBody>
                  <a:tcPr/>
                </a:tc>
                <a:extLst>
                  <a:ext uri="{0D108BD9-81ED-4DB2-BD59-A6C34878D82A}">
                    <a16:rowId xmlns:a16="http://schemas.microsoft.com/office/drawing/2014/main" val="164851343"/>
                  </a:ext>
                </a:extLst>
              </a:tr>
              <a:tr h="328212">
                <a:tc>
                  <a:txBody>
                    <a:bodyPr/>
                    <a:lstStyle/>
                    <a:p>
                      <a:r>
                        <a:rPr lang="en-IN" sz="1400" dirty="0"/>
                        <a:t>Was</a:t>
                      </a:r>
                    </a:p>
                  </a:txBody>
                  <a:tcPr/>
                </a:tc>
                <a:tc>
                  <a:txBody>
                    <a:bodyPr/>
                    <a:lstStyle/>
                    <a:p>
                      <a:r>
                        <a:rPr lang="en-IN" sz="1400" dirty="0"/>
                        <a:t>1</a:t>
                      </a:r>
                    </a:p>
                  </a:txBody>
                  <a:tcPr/>
                </a:tc>
                <a:extLst>
                  <a:ext uri="{0D108BD9-81ED-4DB2-BD59-A6C34878D82A}">
                    <a16:rowId xmlns:a16="http://schemas.microsoft.com/office/drawing/2014/main" val="904625723"/>
                  </a:ext>
                </a:extLst>
              </a:tr>
              <a:tr h="328212">
                <a:tc>
                  <a:txBody>
                    <a:bodyPr/>
                    <a:lstStyle/>
                    <a:p>
                      <a:r>
                        <a:rPr lang="en-IN" sz="1400" dirty="0"/>
                        <a:t>Was</a:t>
                      </a:r>
                    </a:p>
                  </a:txBody>
                  <a:tcPr/>
                </a:tc>
                <a:tc>
                  <a:txBody>
                    <a:bodyPr/>
                    <a:lstStyle/>
                    <a:p>
                      <a:r>
                        <a:rPr lang="en-IN" sz="1400" dirty="0"/>
                        <a:t>2</a:t>
                      </a:r>
                    </a:p>
                  </a:txBody>
                  <a:tcPr/>
                </a:tc>
                <a:extLst>
                  <a:ext uri="{0D108BD9-81ED-4DB2-BD59-A6C34878D82A}">
                    <a16:rowId xmlns:a16="http://schemas.microsoft.com/office/drawing/2014/main" val="1899489041"/>
                  </a:ext>
                </a:extLst>
              </a:tr>
              <a:tr h="328212">
                <a:tc>
                  <a:txBody>
                    <a:bodyPr/>
                    <a:lstStyle/>
                    <a:p>
                      <a:r>
                        <a:rPr lang="en-IN" sz="1400" dirty="0"/>
                        <a:t>With</a:t>
                      </a:r>
                    </a:p>
                  </a:txBody>
                  <a:tcPr/>
                </a:tc>
                <a:tc>
                  <a:txBody>
                    <a:bodyPr/>
                    <a:lstStyle/>
                    <a:p>
                      <a:r>
                        <a:rPr lang="en-IN" sz="1400" dirty="0"/>
                        <a:t>2</a:t>
                      </a:r>
                    </a:p>
                  </a:txBody>
                  <a:tcPr/>
                </a:tc>
                <a:extLst>
                  <a:ext uri="{0D108BD9-81ED-4DB2-BD59-A6C34878D82A}">
                    <a16:rowId xmlns:a16="http://schemas.microsoft.com/office/drawing/2014/main" val="3638270523"/>
                  </a:ext>
                </a:extLst>
              </a:tr>
            </a:tbl>
          </a:graphicData>
        </a:graphic>
      </p:graphicFrame>
      <p:graphicFrame>
        <p:nvGraphicFramePr>
          <p:cNvPr id="8" name="Table 7">
            <a:extLst>
              <a:ext uri="{FF2B5EF4-FFF2-40B4-BE49-F238E27FC236}">
                <a16:creationId xmlns:a16="http://schemas.microsoft.com/office/drawing/2014/main" id="{F4E57CE4-5675-F695-7F71-462DBBDDA20E}"/>
              </a:ext>
            </a:extLst>
          </p:cNvPr>
          <p:cNvGraphicFramePr>
            <a:graphicFrameLocks noGrp="1"/>
          </p:cNvGraphicFramePr>
          <p:nvPr/>
        </p:nvGraphicFramePr>
        <p:xfrm>
          <a:off x="6398563" y="136525"/>
          <a:ext cx="1897891" cy="6546132"/>
        </p:xfrm>
        <a:graphic>
          <a:graphicData uri="http://schemas.openxmlformats.org/drawingml/2006/table">
            <a:tbl>
              <a:tblPr firstRow="1" bandRow="1">
                <a:tableStyleId>{5C22544A-7EE6-4342-B048-85BDC9FD1C3A}</a:tableStyleId>
              </a:tblPr>
              <a:tblGrid>
                <a:gridCol w="1297638">
                  <a:extLst>
                    <a:ext uri="{9D8B030D-6E8A-4147-A177-3AD203B41FA5}">
                      <a16:colId xmlns:a16="http://schemas.microsoft.com/office/drawing/2014/main" val="2358747565"/>
                    </a:ext>
                  </a:extLst>
                </a:gridCol>
                <a:gridCol w="600253">
                  <a:extLst>
                    <a:ext uri="{9D8B030D-6E8A-4147-A177-3AD203B41FA5}">
                      <a16:colId xmlns:a16="http://schemas.microsoft.com/office/drawing/2014/main" val="1719220205"/>
                    </a:ext>
                  </a:extLst>
                </a:gridCol>
              </a:tblGrid>
              <a:tr h="328212">
                <a:tc>
                  <a:txBody>
                    <a:bodyPr/>
                    <a:lstStyle/>
                    <a:p>
                      <a:r>
                        <a:rPr lang="en-IN" sz="1200" dirty="0"/>
                        <a:t>Term</a:t>
                      </a:r>
                    </a:p>
                  </a:txBody>
                  <a:tcPr/>
                </a:tc>
                <a:tc>
                  <a:txBody>
                    <a:bodyPr/>
                    <a:lstStyle/>
                    <a:p>
                      <a:r>
                        <a:rPr lang="en-IN" sz="1200" dirty="0"/>
                        <a:t>Doc </a:t>
                      </a:r>
                      <a:r>
                        <a:rPr lang="en-IN" sz="1200" dirty="0" err="1"/>
                        <a:t>freq</a:t>
                      </a:r>
                      <a:endParaRPr lang="en-IN" sz="1200" dirty="0"/>
                    </a:p>
                  </a:txBody>
                  <a:tcPr/>
                </a:tc>
                <a:extLst>
                  <a:ext uri="{0D108BD9-81ED-4DB2-BD59-A6C34878D82A}">
                    <a16:rowId xmlns:a16="http://schemas.microsoft.com/office/drawing/2014/main" val="453302718"/>
                  </a:ext>
                </a:extLst>
              </a:tr>
              <a:tr h="221063">
                <a:tc>
                  <a:txBody>
                    <a:bodyPr/>
                    <a:lstStyle/>
                    <a:p>
                      <a:r>
                        <a:rPr lang="en-IN" sz="1200" dirty="0"/>
                        <a:t>ambitious</a:t>
                      </a:r>
                    </a:p>
                  </a:txBody>
                  <a:tcPr/>
                </a:tc>
                <a:tc>
                  <a:txBody>
                    <a:bodyPr/>
                    <a:lstStyle/>
                    <a:p>
                      <a:r>
                        <a:rPr lang="en-IN" sz="1200" dirty="0"/>
                        <a:t>1</a:t>
                      </a:r>
                    </a:p>
                  </a:txBody>
                  <a:tcPr/>
                </a:tc>
                <a:extLst>
                  <a:ext uri="{0D108BD9-81ED-4DB2-BD59-A6C34878D82A}">
                    <a16:rowId xmlns:a16="http://schemas.microsoft.com/office/drawing/2014/main" val="1530896262"/>
                  </a:ext>
                </a:extLst>
              </a:tr>
              <a:tr h="0">
                <a:tc>
                  <a:txBody>
                    <a:bodyPr/>
                    <a:lstStyle/>
                    <a:p>
                      <a:r>
                        <a:rPr lang="en-IN" sz="1200" dirty="0"/>
                        <a:t>Be</a:t>
                      </a:r>
                    </a:p>
                  </a:txBody>
                  <a:tcPr/>
                </a:tc>
                <a:tc>
                  <a:txBody>
                    <a:bodyPr/>
                    <a:lstStyle/>
                    <a:p>
                      <a:r>
                        <a:rPr lang="en-IN" sz="1200" dirty="0"/>
                        <a:t>1</a:t>
                      </a:r>
                    </a:p>
                  </a:txBody>
                  <a:tcPr/>
                </a:tc>
                <a:extLst>
                  <a:ext uri="{0D108BD9-81ED-4DB2-BD59-A6C34878D82A}">
                    <a16:rowId xmlns:a16="http://schemas.microsoft.com/office/drawing/2014/main" val="2754582852"/>
                  </a:ext>
                </a:extLst>
              </a:tr>
              <a:tr h="205823">
                <a:tc>
                  <a:txBody>
                    <a:bodyPr/>
                    <a:lstStyle/>
                    <a:p>
                      <a:r>
                        <a:rPr lang="en-IN" sz="1200" dirty="0"/>
                        <a:t>Brutus</a:t>
                      </a:r>
                    </a:p>
                  </a:txBody>
                  <a:tcPr/>
                </a:tc>
                <a:tc>
                  <a:txBody>
                    <a:bodyPr/>
                    <a:lstStyle/>
                    <a:p>
                      <a:r>
                        <a:rPr lang="en-IN" sz="1200" dirty="0"/>
                        <a:t>2</a:t>
                      </a:r>
                    </a:p>
                  </a:txBody>
                  <a:tcPr/>
                </a:tc>
                <a:extLst>
                  <a:ext uri="{0D108BD9-81ED-4DB2-BD59-A6C34878D82A}">
                    <a16:rowId xmlns:a16="http://schemas.microsoft.com/office/drawing/2014/main" val="126349215"/>
                  </a:ext>
                </a:extLst>
              </a:tr>
              <a:tr h="160103">
                <a:tc>
                  <a:txBody>
                    <a:bodyPr/>
                    <a:lstStyle/>
                    <a:p>
                      <a:r>
                        <a:rPr lang="en-IN" sz="1200" dirty="0"/>
                        <a:t>Capitol</a:t>
                      </a:r>
                    </a:p>
                  </a:txBody>
                  <a:tcPr/>
                </a:tc>
                <a:tc>
                  <a:txBody>
                    <a:bodyPr/>
                    <a:lstStyle/>
                    <a:p>
                      <a:r>
                        <a:rPr lang="en-IN" sz="1200" dirty="0"/>
                        <a:t>1</a:t>
                      </a:r>
                    </a:p>
                  </a:txBody>
                  <a:tcPr/>
                </a:tc>
                <a:extLst>
                  <a:ext uri="{0D108BD9-81ED-4DB2-BD59-A6C34878D82A}">
                    <a16:rowId xmlns:a16="http://schemas.microsoft.com/office/drawing/2014/main" val="3037035409"/>
                  </a:ext>
                </a:extLst>
              </a:tr>
              <a:tr h="190583">
                <a:tc>
                  <a:txBody>
                    <a:bodyPr/>
                    <a:lstStyle/>
                    <a:p>
                      <a:r>
                        <a:rPr lang="en-IN" sz="1200" dirty="0"/>
                        <a:t>Caeser</a:t>
                      </a:r>
                    </a:p>
                  </a:txBody>
                  <a:tcPr/>
                </a:tc>
                <a:tc>
                  <a:txBody>
                    <a:bodyPr/>
                    <a:lstStyle/>
                    <a:p>
                      <a:r>
                        <a:rPr lang="en-IN" sz="1200" dirty="0"/>
                        <a:t>2</a:t>
                      </a:r>
                    </a:p>
                  </a:txBody>
                  <a:tcPr/>
                </a:tc>
                <a:extLst>
                  <a:ext uri="{0D108BD9-81ED-4DB2-BD59-A6C34878D82A}">
                    <a16:rowId xmlns:a16="http://schemas.microsoft.com/office/drawing/2014/main" val="1234850896"/>
                  </a:ext>
                </a:extLst>
              </a:tr>
              <a:tr h="144863">
                <a:tc>
                  <a:txBody>
                    <a:bodyPr/>
                    <a:lstStyle/>
                    <a:p>
                      <a:r>
                        <a:rPr lang="en-IN" sz="1200" dirty="0"/>
                        <a:t>Did</a:t>
                      </a:r>
                    </a:p>
                  </a:txBody>
                  <a:tcPr/>
                </a:tc>
                <a:tc>
                  <a:txBody>
                    <a:bodyPr/>
                    <a:lstStyle/>
                    <a:p>
                      <a:r>
                        <a:rPr lang="en-IN" sz="1200" dirty="0"/>
                        <a:t>1</a:t>
                      </a:r>
                    </a:p>
                  </a:txBody>
                  <a:tcPr/>
                </a:tc>
                <a:extLst>
                  <a:ext uri="{0D108BD9-81ED-4DB2-BD59-A6C34878D82A}">
                    <a16:rowId xmlns:a16="http://schemas.microsoft.com/office/drawing/2014/main" val="1152569216"/>
                  </a:ext>
                </a:extLst>
              </a:tr>
              <a:tr h="175343">
                <a:tc>
                  <a:txBody>
                    <a:bodyPr/>
                    <a:lstStyle/>
                    <a:p>
                      <a:r>
                        <a:rPr lang="en-IN" sz="1200" dirty="0"/>
                        <a:t>Enact</a:t>
                      </a:r>
                    </a:p>
                  </a:txBody>
                  <a:tcPr/>
                </a:tc>
                <a:tc>
                  <a:txBody>
                    <a:bodyPr/>
                    <a:lstStyle/>
                    <a:p>
                      <a:r>
                        <a:rPr lang="en-IN" sz="1200" dirty="0"/>
                        <a:t>1</a:t>
                      </a:r>
                    </a:p>
                  </a:txBody>
                  <a:tcPr/>
                </a:tc>
                <a:extLst>
                  <a:ext uri="{0D108BD9-81ED-4DB2-BD59-A6C34878D82A}">
                    <a16:rowId xmlns:a16="http://schemas.microsoft.com/office/drawing/2014/main" val="2747595521"/>
                  </a:ext>
                </a:extLst>
              </a:tr>
              <a:tr h="129623">
                <a:tc>
                  <a:txBody>
                    <a:bodyPr/>
                    <a:lstStyle/>
                    <a:p>
                      <a:r>
                        <a:rPr lang="en-IN" sz="1200" dirty="0"/>
                        <a:t>Hath</a:t>
                      </a:r>
                    </a:p>
                  </a:txBody>
                  <a:tcPr/>
                </a:tc>
                <a:tc>
                  <a:txBody>
                    <a:bodyPr/>
                    <a:lstStyle/>
                    <a:p>
                      <a:r>
                        <a:rPr lang="en-IN" sz="1200" dirty="0"/>
                        <a:t>1</a:t>
                      </a:r>
                    </a:p>
                  </a:txBody>
                  <a:tcPr/>
                </a:tc>
                <a:extLst>
                  <a:ext uri="{0D108BD9-81ED-4DB2-BD59-A6C34878D82A}">
                    <a16:rowId xmlns:a16="http://schemas.microsoft.com/office/drawing/2014/main" val="3168747146"/>
                  </a:ext>
                </a:extLst>
              </a:tr>
              <a:tr h="160103">
                <a:tc>
                  <a:txBody>
                    <a:bodyPr/>
                    <a:lstStyle/>
                    <a:p>
                      <a:r>
                        <a:rPr lang="en-IN" sz="1200" dirty="0"/>
                        <a:t>I</a:t>
                      </a:r>
                    </a:p>
                  </a:txBody>
                  <a:tcPr/>
                </a:tc>
                <a:tc>
                  <a:txBody>
                    <a:bodyPr/>
                    <a:lstStyle/>
                    <a:p>
                      <a:r>
                        <a:rPr lang="en-IN" sz="1200" dirty="0"/>
                        <a:t>2</a:t>
                      </a:r>
                    </a:p>
                  </a:txBody>
                  <a:tcPr/>
                </a:tc>
                <a:extLst>
                  <a:ext uri="{0D108BD9-81ED-4DB2-BD59-A6C34878D82A}">
                    <a16:rowId xmlns:a16="http://schemas.microsoft.com/office/drawing/2014/main" val="2544166912"/>
                  </a:ext>
                </a:extLst>
              </a:tr>
              <a:tr h="266783">
                <a:tc>
                  <a:txBody>
                    <a:bodyPr/>
                    <a:lstStyle/>
                    <a:p>
                      <a:r>
                        <a:rPr lang="en-IN" sz="1200" dirty="0" err="1"/>
                        <a:t>i</a:t>
                      </a:r>
                      <a:r>
                        <a:rPr lang="en-IN" sz="1200" dirty="0"/>
                        <a:t>’</a:t>
                      </a:r>
                    </a:p>
                  </a:txBody>
                  <a:tcPr/>
                </a:tc>
                <a:tc>
                  <a:txBody>
                    <a:bodyPr/>
                    <a:lstStyle/>
                    <a:p>
                      <a:r>
                        <a:rPr lang="en-IN" sz="1200" dirty="0"/>
                        <a:t>1</a:t>
                      </a:r>
                    </a:p>
                  </a:txBody>
                  <a:tcPr/>
                </a:tc>
                <a:extLst>
                  <a:ext uri="{0D108BD9-81ED-4DB2-BD59-A6C34878D82A}">
                    <a16:rowId xmlns:a16="http://schemas.microsoft.com/office/drawing/2014/main" val="3425743784"/>
                  </a:ext>
                </a:extLst>
              </a:tr>
              <a:tr h="221063">
                <a:tc>
                  <a:txBody>
                    <a:bodyPr/>
                    <a:lstStyle/>
                    <a:p>
                      <a:r>
                        <a:rPr lang="en-IN" sz="1200" dirty="0"/>
                        <a:t>It</a:t>
                      </a:r>
                    </a:p>
                  </a:txBody>
                  <a:tcPr/>
                </a:tc>
                <a:tc>
                  <a:txBody>
                    <a:bodyPr/>
                    <a:lstStyle/>
                    <a:p>
                      <a:r>
                        <a:rPr lang="en-IN" sz="1200" dirty="0"/>
                        <a:t>1</a:t>
                      </a:r>
                    </a:p>
                  </a:txBody>
                  <a:tcPr/>
                </a:tc>
                <a:extLst>
                  <a:ext uri="{0D108BD9-81ED-4DB2-BD59-A6C34878D82A}">
                    <a16:rowId xmlns:a16="http://schemas.microsoft.com/office/drawing/2014/main" val="4204018637"/>
                  </a:ext>
                </a:extLst>
              </a:tr>
              <a:tr h="175343">
                <a:tc>
                  <a:txBody>
                    <a:bodyPr/>
                    <a:lstStyle/>
                    <a:p>
                      <a:r>
                        <a:rPr lang="en-IN" sz="1200" dirty="0"/>
                        <a:t>Julius</a:t>
                      </a:r>
                    </a:p>
                  </a:txBody>
                  <a:tcPr/>
                </a:tc>
                <a:tc>
                  <a:txBody>
                    <a:bodyPr/>
                    <a:lstStyle/>
                    <a:p>
                      <a:r>
                        <a:rPr lang="en-IN" sz="1200" dirty="0"/>
                        <a:t>1</a:t>
                      </a:r>
                    </a:p>
                  </a:txBody>
                  <a:tcPr/>
                </a:tc>
                <a:extLst>
                  <a:ext uri="{0D108BD9-81ED-4DB2-BD59-A6C34878D82A}">
                    <a16:rowId xmlns:a16="http://schemas.microsoft.com/office/drawing/2014/main" val="3620769898"/>
                  </a:ext>
                </a:extLst>
              </a:tr>
              <a:tr h="129623">
                <a:tc>
                  <a:txBody>
                    <a:bodyPr/>
                    <a:lstStyle/>
                    <a:p>
                      <a:r>
                        <a:rPr lang="en-IN" sz="1200" dirty="0"/>
                        <a:t>Killed</a:t>
                      </a:r>
                    </a:p>
                  </a:txBody>
                  <a:tcPr/>
                </a:tc>
                <a:tc>
                  <a:txBody>
                    <a:bodyPr/>
                    <a:lstStyle/>
                    <a:p>
                      <a:r>
                        <a:rPr lang="en-IN" sz="1200" dirty="0"/>
                        <a:t>1</a:t>
                      </a:r>
                    </a:p>
                  </a:txBody>
                  <a:tcPr/>
                </a:tc>
                <a:extLst>
                  <a:ext uri="{0D108BD9-81ED-4DB2-BD59-A6C34878D82A}">
                    <a16:rowId xmlns:a16="http://schemas.microsoft.com/office/drawing/2014/main" val="3230897307"/>
                  </a:ext>
                </a:extLst>
              </a:tr>
              <a:tr h="160103">
                <a:tc>
                  <a:txBody>
                    <a:bodyPr/>
                    <a:lstStyle/>
                    <a:p>
                      <a:r>
                        <a:rPr lang="en-IN" sz="1200" dirty="0"/>
                        <a:t>Let</a:t>
                      </a:r>
                    </a:p>
                  </a:txBody>
                  <a:tcPr/>
                </a:tc>
                <a:tc>
                  <a:txBody>
                    <a:bodyPr/>
                    <a:lstStyle/>
                    <a:p>
                      <a:r>
                        <a:rPr lang="en-IN" sz="1200" dirty="0"/>
                        <a:t>1</a:t>
                      </a:r>
                    </a:p>
                  </a:txBody>
                  <a:tcPr/>
                </a:tc>
                <a:extLst>
                  <a:ext uri="{0D108BD9-81ED-4DB2-BD59-A6C34878D82A}">
                    <a16:rowId xmlns:a16="http://schemas.microsoft.com/office/drawing/2014/main" val="187283288"/>
                  </a:ext>
                </a:extLst>
              </a:tr>
              <a:tr h="190583">
                <a:tc>
                  <a:txBody>
                    <a:bodyPr/>
                    <a:lstStyle/>
                    <a:p>
                      <a:r>
                        <a:rPr lang="en-IN" sz="1200" dirty="0"/>
                        <a:t>Me</a:t>
                      </a:r>
                    </a:p>
                  </a:txBody>
                  <a:tcPr/>
                </a:tc>
                <a:tc>
                  <a:txBody>
                    <a:bodyPr/>
                    <a:lstStyle/>
                    <a:p>
                      <a:r>
                        <a:rPr lang="en-IN" sz="1200" dirty="0"/>
                        <a:t>1</a:t>
                      </a:r>
                    </a:p>
                  </a:txBody>
                  <a:tcPr/>
                </a:tc>
                <a:extLst>
                  <a:ext uri="{0D108BD9-81ED-4DB2-BD59-A6C34878D82A}">
                    <a16:rowId xmlns:a16="http://schemas.microsoft.com/office/drawing/2014/main" val="1323423523"/>
                  </a:ext>
                </a:extLst>
              </a:tr>
              <a:tr h="144863">
                <a:tc>
                  <a:txBody>
                    <a:bodyPr/>
                    <a:lstStyle/>
                    <a:p>
                      <a:r>
                        <a:rPr lang="en-IN" sz="1200" dirty="0"/>
                        <a:t>Noble</a:t>
                      </a:r>
                    </a:p>
                  </a:txBody>
                  <a:tcPr/>
                </a:tc>
                <a:tc>
                  <a:txBody>
                    <a:bodyPr/>
                    <a:lstStyle/>
                    <a:p>
                      <a:r>
                        <a:rPr lang="en-IN" sz="1200" dirty="0"/>
                        <a:t>1</a:t>
                      </a:r>
                    </a:p>
                  </a:txBody>
                  <a:tcPr/>
                </a:tc>
                <a:extLst>
                  <a:ext uri="{0D108BD9-81ED-4DB2-BD59-A6C34878D82A}">
                    <a16:rowId xmlns:a16="http://schemas.microsoft.com/office/drawing/2014/main" val="3213530002"/>
                  </a:ext>
                </a:extLst>
              </a:tr>
              <a:tr h="175343">
                <a:tc>
                  <a:txBody>
                    <a:bodyPr/>
                    <a:lstStyle/>
                    <a:p>
                      <a:r>
                        <a:rPr lang="en-IN" sz="1200" dirty="0"/>
                        <a:t>So</a:t>
                      </a:r>
                    </a:p>
                  </a:txBody>
                  <a:tcPr/>
                </a:tc>
                <a:tc>
                  <a:txBody>
                    <a:bodyPr/>
                    <a:lstStyle/>
                    <a:p>
                      <a:r>
                        <a:rPr lang="en-IN" sz="1200" dirty="0"/>
                        <a:t>1</a:t>
                      </a:r>
                    </a:p>
                  </a:txBody>
                  <a:tcPr/>
                </a:tc>
                <a:extLst>
                  <a:ext uri="{0D108BD9-81ED-4DB2-BD59-A6C34878D82A}">
                    <a16:rowId xmlns:a16="http://schemas.microsoft.com/office/drawing/2014/main" val="3168744953"/>
                  </a:ext>
                </a:extLst>
              </a:tr>
              <a:tr h="205823">
                <a:tc>
                  <a:txBody>
                    <a:bodyPr/>
                    <a:lstStyle/>
                    <a:p>
                      <a:r>
                        <a:rPr lang="en-IN" sz="1200" dirty="0"/>
                        <a:t>The</a:t>
                      </a:r>
                    </a:p>
                  </a:txBody>
                  <a:tcPr/>
                </a:tc>
                <a:tc>
                  <a:txBody>
                    <a:bodyPr/>
                    <a:lstStyle/>
                    <a:p>
                      <a:r>
                        <a:rPr lang="en-IN" sz="1200" dirty="0"/>
                        <a:t>2</a:t>
                      </a:r>
                    </a:p>
                  </a:txBody>
                  <a:tcPr/>
                </a:tc>
                <a:extLst>
                  <a:ext uri="{0D108BD9-81ED-4DB2-BD59-A6C34878D82A}">
                    <a16:rowId xmlns:a16="http://schemas.microsoft.com/office/drawing/2014/main" val="3070244500"/>
                  </a:ext>
                </a:extLst>
              </a:tr>
              <a:tr h="0">
                <a:tc>
                  <a:txBody>
                    <a:bodyPr/>
                    <a:lstStyle/>
                    <a:p>
                      <a:r>
                        <a:rPr lang="en-IN" sz="1200" dirty="0"/>
                        <a:t>Told</a:t>
                      </a:r>
                    </a:p>
                  </a:txBody>
                  <a:tcPr/>
                </a:tc>
                <a:tc>
                  <a:txBody>
                    <a:bodyPr/>
                    <a:lstStyle/>
                    <a:p>
                      <a:r>
                        <a:rPr lang="en-IN" sz="1200" dirty="0"/>
                        <a:t>1</a:t>
                      </a:r>
                    </a:p>
                  </a:txBody>
                  <a:tcPr/>
                </a:tc>
                <a:extLst>
                  <a:ext uri="{0D108BD9-81ED-4DB2-BD59-A6C34878D82A}">
                    <a16:rowId xmlns:a16="http://schemas.microsoft.com/office/drawing/2014/main" val="2081224057"/>
                  </a:ext>
                </a:extLst>
              </a:tr>
              <a:tr h="190583">
                <a:tc>
                  <a:txBody>
                    <a:bodyPr/>
                    <a:lstStyle/>
                    <a:p>
                      <a:r>
                        <a:rPr lang="en-IN" sz="1200" dirty="0"/>
                        <a:t>You</a:t>
                      </a:r>
                    </a:p>
                  </a:txBody>
                  <a:tcPr/>
                </a:tc>
                <a:tc>
                  <a:txBody>
                    <a:bodyPr/>
                    <a:lstStyle/>
                    <a:p>
                      <a:r>
                        <a:rPr lang="en-IN" sz="1200" dirty="0"/>
                        <a:t>1</a:t>
                      </a:r>
                    </a:p>
                  </a:txBody>
                  <a:tcPr/>
                </a:tc>
                <a:extLst>
                  <a:ext uri="{0D108BD9-81ED-4DB2-BD59-A6C34878D82A}">
                    <a16:rowId xmlns:a16="http://schemas.microsoft.com/office/drawing/2014/main" val="1241018699"/>
                  </a:ext>
                </a:extLst>
              </a:tr>
              <a:tr h="144863">
                <a:tc>
                  <a:txBody>
                    <a:bodyPr/>
                    <a:lstStyle/>
                    <a:p>
                      <a:r>
                        <a:rPr lang="en-IN" sz="1200" dirty="0"/>
                        <a:t>Was</a:t>
                      </a:r>
                    </a:p>
                  </a:txBody>
                  <a:tcPr/>
                </a:tc>
                <a:tc>
                  <a:txBody>
                    <a:bodyPr/>
                    <a:lstStyle/>
                    <a:p>
                      <a:r>
                        <a:rPr lang="en-IN" sz="1200" dirty="0"/>
                        <a:t>2</a:t>
                      </a:r>
                    </a:p>
                  </a:txBody>
                  <a:tcPr/>
                </a:tc>
                <a:extLst>
                  <a:ext uri="{0D108BD9-81ED-4DB2-BD59-A6C34878D82A}">
                    <a16:rowId xmlns:a16="http://schemas.microsoft.com/office/drawing/2014/main" val="1639138742"/>
                  </a:ext>
                </a:extLst>
              </a:tr>
              <a:tr h="328212">
                <a:tc>
                  <a:txBody>
                    <a:bodyPr/>
                    <a:lstStyle/>
                    <a:p>
                      <a:r>
                        <a:rPr lang="en-IN" sz="1200" dirty="0"/>
                        <a:t>With</a:t>
                      </a:r>
                    </a:p>
                  </a:txBody>
                  <a:tcPr/>
                </a:tc>
                <a:tc>
                  <a:txBody>
                    <a:bodyPr/>
                    <a:lstStyle/>
                    <a:p>
                      <a:r>
                        <a:rPr lang="en-IN" sz="1200" dirty="0"/>
                        <a:t>1</a:t>
                      </a:r>
                    </a:p>
                  </a:txBody>
                  <a:tcPr/>
                </a:tc>
                <a:extLst>
                  <a:ext uri="{0D108BD9-81ED-4DB2-BD59-A6C34878D82A}">
                    <a16:rowId xmlns:a16="http://schemas.microsoft.com/office/drawing/2014/main" val="3060373279"/>
                  </a:ext>
                </a:extLst>
              </a:tr>
            </a:tbl>
          </a:graphicData>
        </a:graphic>
      </p:graphicFrame>
      <p:cxnSp>
        <p:nvCxnSpPr>
          <p:cNvPr id="10" name="Straight Arrow Connector 9">
            <a:extLst>
              <a:ext uri="{FF2B5EF4-FFF2-40B4-BE49-F238E27FC236}">
                <a16:creationId xmlns:a16="http://schemas.microsoft.com/office/drawing/2014/main" id="{704E0D71-499D-6F8C-9E3A-8698B296C507}"/>
              </a:ext>
            </a:extLst>
          </p:cNvPr>
          <p:cNvCxnSpPr/>
          <p:nvPr/>
        </p:nvCxnSpPr>
        <p:spPr>
          <a:xfrm>
            <a:off x="8312910" y="6858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3DFF35EB-5FE9-E7BD-A56C-0526544FED32}"/>
              </a:ext>
            </a:extLst>
          </p:cNvPr>
          <p:cNvCxnSpPr/>
          <p:nvPr/>
        </p:nvCxnSpPr>
        <p:spPr>
          <a:xfrm>
            <a:off x="8305801" y="9906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81E316B1-D59A-99F5-E0FA-F74CA1DA6BF1}"/>
              </a:ext>
            </a:extLst>
          </p:cNvPr>
          <p:cNvCxnSpPr/>
          <p:nvPr/>
        </p:nvCxnSpPr>
        <p:spPr>
          <a:xfrm>
            <a:off x="8305801" y="12954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966B52F4-CB84-8FD8-1889-99BB758FE5BB}"/>
              </a:ext>
            </a:extLst>
          </p:cNvPr>
          <p:cNvCxnSpPr/>
          <p:nvPr/>
        </p:nvCxnSpPr>
        <p:spPr>
          <a:xfrm>
            <a:off x="8305801" y="15240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3A5220C-02F8-8BC8-9234-71E2CA832B0D}"/>
              </a:ext>
            </a:extLst>
          </p:cNvPr>
          <p:cNvCxnSpPr/>
          <p:nvPr/>
        </p:nvCxnSpPr>
        <p:spPr>
          <a:xfrm>
            <a:off x="8305801" y="18288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C10A8E2C-CDBA-871D-E05C-C06D961051FE}"/>
              </a:ext>
            </a:extLst>
          </p:cNvPr>
          <p:cNvCxnSpPr/>
          <p:nvPr/>
        </p:nvCxnSpPr>
        <p:spPr>
          <a:xfrm>
            <a:off x="8305801" y="21336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685B46B7-D3D8-F349-AF4D-956405166D79}"/>
              </a:ext>
            </a:extLst>
          </p:cNvPr>
          <p:cNvCxnSpPr/>
          <p:nvPr/>
        </p:nvCxnSpPr>
        <p:spPr>
          <a:xfrm>
            <a:off x="8305801" y="23622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8F6D780-D90D-3957-4E13-E5B8363399C6}"/>
              </a:ext>
            </a:extLst>
          </p:cNvPr>
          <p:cNvCxnSpPr/>
          <p:nvPr/>
        </p:nvCxnSpPr>
        <p:spPr>
          <a:xfrm>
            <a:off x="8305801" y="26670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70DBD05D-C554-7274-1B69-CA3F77A1CAF4}"/>
              </a:ext>
            </a:extLst>
          </p:cNvPr>
          <p:cNvCxnSpPr/>
          <p:nvPr/>
        </p:nvCxnSpPr>
        <p:spPr>
          <a:xfrm>
            <a:off x="8305801" y="28956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E6714E9-2E43-8577-0803-A2C98271A601}"/>
              </a:ext>
            </a:extLst>
          </p:cNvPr>
          <p:cNvCxnSpPr/>
          <p:nvPr/>
        </p:nvCxnSpPr>
        <p:spPr>
          <a:xfrm>
            <a:off x="8305801" y="32004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24F6916-4C2A-7212-3DB6-96BB904108E1}"/>
              </a:ext>
            </a:extLst>
          </p:cNvPr>
          <p:cNvCxnSpPr/>
          <p:nvPr/>
        </p:nvCxnSpPr>
        <p:spPr>
          <a:xfrm>
            <a:off x="8305801" y="35052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D31B025-FBBF-C8A9-158B-52F992454686}"/>
              </a:ext>
            </a:extLst>
          </p:cNvPr>
          <p:cNvCxnSpPr/>
          <p:nvPr/>
        </p:nvCxnSpPr>
        <p:spPr>
          <a:xfrm>
            <a:off x="8305801" y="37338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7F47472C-1CF3-CFF3-39E6-009A78F434DD}"/>
              </a:ext>
            </a:extLst>
          </p:cNvPr>
          <p:cNvCxnSpPr/>
          <p:nvPr/>
        </p:nvCxnSpPr>
        <p:spPr>
          <a:xfrm>
            <a:off x="8305801" y="40386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314F9DC7-24D7-2378-FFB7-19FAF4357B3D}"/>
              </a:ext>
            </a:extLst>
          </p:cNvPr>
          <p:cNvCxnSpPr/>
          <p:nvPr/>
        </p:nvCxnSpPr>
        <p:spPr>
          <a:xfrm>
            <a:off x="8305801" y="42672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98CDA865-7A07-64ED-AD57-EF9059066945}"/>
              </a:ext>
            </a:extLst>
          </p:cNvPr>
          <p:cNvCxnSpPr/>
          <p:nvPr/>
        </p:nvCxnSpPr>
        <p:spPr>
          <a:xfrm>
            <a:off x="8305801" y="45720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F10F407-05C6-DCA5-BF9A-7C92609B6430}"/>
              </a:ext>
            </a:extLst>
          </p:cNvPr>
          <p:cNvCxnSpPr/>
          <p:nvPr/>
        </p:nvCxnSpPr>
        <p:spPr>
          <a:xfrm>
            <a:off x="8305801" y="48768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36B6E2F-8EE3-A8AC-FC0E-1C18D27587A6}"/>
              </a:ext>
            </a:extLst>
          </p:cNvPr>
          <p:cNvCxnSpPr/>
          <p:nvPr/>
        </p:nvCxnSpPr>
        <p:spPr>
          <a:xfrm>
            <a:off x="8305801" y="51054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FD830F5-66DA-DFA4-BC3C-2619E13B87D8}"/>
              </a:ext>
            </a:extLst>
          </p:cNvPr>
          <p:cNvCxnSpPr/>
          <p:nvPr/>
        </p:nvCxnSpPr>
        <p:spPr>
          <a:xfrm>
            <a:off x="8305801" y="54102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8F9206E0-FE8C-A63A-400C-45A369F63135}"/>
              </a:ext>
            </a:extLst>
          </p:cNvPr>
          <p:cNvCxnSpPr/>
          <p:nvPr/>
        </p:nvCxnSpPr>
        <p:spPr>
          <a:xfrm>
            <a:off x="8305801" y="56388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E62E918D-E8BF-F994-AF31-DB55CE2A2059}"/>
              </a:ext>
            </a:extLst>
          </p:cNvPr>
          <p:cNvCxnSpPr/>
          <p:nvPr/>
        </p:nvCxnSpPr>
        <p:spPr>
          <a:xfrm>
            <a:off x="8305801" y="59436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71714433-BA1D-FB64-E1B3-3464CAC70B39}"/>
              </a:ext>
            </a:extLst>
          </p:cNvPr>
          <p:cNvCxnSpPr/>
          <p:nvPr/>
        </p:nvCxnSpPr>
        <p:spPr>
          <a:xfrm>
            <a:off x="8305801" y="61722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C3B82733-D8E1-6CA2-E2BE-21B83243C0E6}"/>
              </a:ext>
            </a:extLst>
          </p:cNvPr>
          <p:cNvCxnSpPr/>
          <p:nvPr/>
        </p:nvCxnSpPr>
        <p:spPr>
          <a:xfrm>
            <a:off x="8305801" y="64770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95358CBB-AE33-A8A4-C39F-36E8D62ACA1B}"/>
              </a:ext>
            </a:extLst>
          </p:cNvPr>
          <p:cNvSpPr/>
          <p:nvPr/>
        </p:nvSpPr>
        <p:spPr>
          <a:xfrm>
            <a:off x="8801101" y="5334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33" name="Rectangle 32">
            <a:extLst>
              <a:ext uri="{FF2B5EF4-FFF2-40B4-BE49-F238E27FC236}">
                <a16:creationId xmlns:a16="http://schemas.microsoft.com/office/drawing/2014/main" id="{2B44067B-D57E-EC40-9DDB-993104DE69CE}"/>
              </a:ext>
            </a:extLst>
          </p:cNvPr>
          <p:cNvSpPr/>
          <p:nvPr/>
        </p:nvSpPr>
        <p:spPr>
          <a:xfrm>
            <a:off x="8763001" y="8302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34" name="Rectangle 33">
            <a:extLst>
              <a:ext uri="{FF2B5EF4-FFF2-40B4-BE49-F238E27FC236}">
                <a16:creationId xmlns:a16="http://schemas.microsoft.com/office/drawing/2014/main" id="{DEC3D03C-0F6C-AA3B-7AE8-BCEF2625097A}"/>
              </a:ext>
            </a:extLst>
          </p:cNvPr>
          <p:cNvSpPr/>
          <p:nvPr/>
        </p:nvSpPr>
        <p:spPr>
          <a:xfrm>
            <a:off x="8763001" y="11350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35" name="Rectangle 34">
            <a:extLst>
              <a:ext uri="{FF2B5EF4-FFF2-40B4-BE49-F238E27FC236}">
                <a16:creationId xmlns:a16="http://schemas.microsoft.com/office/drawing/2014/main" id="{C007B65C-81D1-061A-DBC7-815C320160FB}"/>
              </a:ext>
            </a:extLst>
          </p:cNvPr>
          <p:cNvSpPr/>
          <p:nvPr/>
        </p:nvSpPr>
        <p:spPr>
          <a:xfrm>
            <a:off x="8763001" y="14398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36" name="Rectangle 35">
            <a:extLst>
              <a:ext uri="{FF2B5EF4-FFF2-40B4-BE49-F238E27FC236}">
                <a16:creationId xmlns:a16="http://schemas.microsoft.com/office/drawing/2014/main" id="{2082011E-C051-EDEC-926A-E329ACA9B751}"/>
              </a:ext>
            </a:extLst>
          </p:cNvPr>
          <p:cNvSpPr/>
          <p:nvPr/>
        </p:nvSpPr>
        <p:spPr>
          <a:xfrm>
            <a:off x="8801101" y="17526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37" name="Rectangle 36">
            <a:extLst>
              <a:ext uri="{FF2B5EF4-FFF2-40B4-BE49-F238E27FC236}">
                <a16:creationId xmlns:a16="http://schemas.microsoft.com/office/drawing/2014/main" id="{25B5E9BE-B7AB-3197-8504-A490182EF9F6}"/>
              </a:ext>
            </a:extLst>
          </p:cNvPr>
          <p:cNvSpPr/>
          <p:nvPr/>
        </p:nvSpPr>
        <p:spPr>
          <a:xfrm>
            <a:off x="8763001" y="20494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38" name="Rectangle 37">
            <a:extLst>
              <a:ext uri="{FF2B5EF4-FFF2-40B4-BE49-F238E27FC236}">
                <a16:creationId xmlns:a16="http://schemas.microsoft.com/office/drawing/2014/main" id="{9A83FBB0-CF96-D2EC-B7EB-A45595624355}"/>
              </a:ext>
            </a:extLst>
          </p:cNvPr>
          <p:cNvSpPr/>
          <p:nvPr/>
        </p:nvSpPr>
        <p:spPr>
          <a:xfrm>
            <a:off x="8763001" y="23542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39" name="Rectangle 38">
            <a:extLst>
              <a:ext uri="{FF2B5EF4-FFF2-40B4-BE49-F238E27FC236}">
                <a16:creationId xmlns:a16="http://schemas.microsoft.com/office/drawing/2014/main" id="{B92DDEA4-3FBB-626D-E4E3-8247AD19D458}"/>
              </a:ext>
            </a:extLst>
          </p:cNvPr>
          <p:cNvSpPr/>
          <p:nvPr/>
        </p:nvSpPr>
        <p:spPr>
          <a:xfrm>
            <a:off x="8763001" y="26590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40" name="Rectangle 39">
            <a:extLst>
              <a:ext uri="{FF2B5EF4-FFF2-40B4-BE49-F238E27FC236}">
                <a16:creationId xmlns:a16="http://schemas.microsoft.com/office/drawing/2014/main" id="{8FE26D0C-F5DE-77A8-95E5-407D02F60CB2}"/>
              </a:ext>
            </a:extLst>
          </p:cNvPr>
          <p:cNvSpPr/>
          <p:nvPr/>
        </p:nvSpPr>
        <p:spPr>
          <a:xfrm>
            <a:off x="8801101" y="30480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1" name="Rectangle 40">
            <a:extLst>
              <a:ext uri="{FF2B5EF4-FFF2-40B4-BE49-F238E27FC236}">
                <a16:creationId xmlns:a16="http://schemas.microsoft.com/office/drawing/2014/main" id="{4FE38377-850B-33BE-5608-AC7735D96A39}"/>
              </a:ext>
            </a:extLst>
          </p:cNvPr>
          <p:cNvSpPr/>
          <p:nvPr/>
        </p:nvSpPr>
        <p:spPr>
          <a:xfrm>
            <a:off x="8763001" y="33448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42" name="Rectangle 41">
            <a:extLst>
              <a:ext uri="{FF2B5EF4-FFF2-40B4-BE49-F238E27FC236}">
                <a16:creationId xmlns:a16="http://schemas.microsoft.com/office/drawing/2014/main" id="{CA399A96-2C69-1C45-5EAC-30A6B292C7E1}"/>
              </a:ext>
            </a:extLst>
          </p:cNvPr>
          <p:cNvSpPr/>
          <p:nvPr/>
        </p:nvSpPr>
        <p:spPr>
          <a:xfrm>
            <a:off x="8763001" y="36496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3" name="Rectangle 42">
            <a:extLst>
              <a:ext uri="{FF2B5EF4-FFF2-40B4-BE49-F238E27FC236}">
                <a16:creationId xmlns:a16="http://schemas.microsoft.com/office/drawing/2014/main" id="{15E4C30F-49B0-6ED3-3718-5E9B2947CD92}"/>
              </a:ext>
            </a:extLst>
          </p:cNvPr>
          <p:cNvSpPr/>
          <p:nvPr/>
        </p:nvSpPr>
        <p:spPr>
          <a:xfrm>
            <a:off x="8763001" y="39544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4" name="Rectangle 43">
            <a:extLst>
              <a:ext uri="{FF2B5EF4-FFF2-40B4-BE49-F238E27FC236}">
                <a16:creationId xmlns:a16="http://schemas.microsoft.com/office/drawing/2014/main" id="{9622E7A6-4B7D-21FD-E0CF-20FDCF014C13}"/>
              </a:ext>
            </a:extLst>
          </p:cNvPr>
          <p:cNvSpPr/>
          <p:nvPr/>
        </p:nvSpPr>
        <p:spPr>
          <a:xfrm>
            <a:off x="8763001" y="41910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45" name="Rectangle 44">
            <a:extLst>
              <a:ext uri="{FF2B5EF4-FFF2-40B4-BE49-F238E27FC236}">
                <a16:creationId xmlns:a16="http://schemas.microsoft.com/office/drawing/2014/main" id="{03231B71-C38A-E1D7-5E83-9278FF58A3E5}"/>
              </a:ext>
            </a:extLst>
          </p:cNvPr>
          <p:cNvSpPr/>
          <p:nvPr/>
        </p:nvSpPr>
        <p:spPr>
          <a:xfrm>
            <a:off x="8763001" y="445647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6" name="Rectangle 45">
            <a:extLst>
              <a:ext uri="{FF2B5EF4-FFF2-40B4-BE49-F238E27FC236}">
                <a16:creationId xmlns:a16="http://schemas.microsoft.com/office/drawing/2014/main" id="{7E3A8F20-EEEC-1F5F-108A-66DE83EA3490}"/>
              </a:ext>
            </a:extLst>
          </p:cNvPr>
          <p:cNvSpPr/>
          <p:nvPr/>
        </p:nvSpPr>
        <p:spPr>
          <a:xfrm>
            <a:off x="8763001" y="47244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7" name="Rectangle 46">
            <a:extLst>
              <a:ext uri="{FF2B5EF4-FFF2-40B4-BE49-F238E27FC236}">
                <a16:creationId xmlns:a16="http://schemas.microsoft.com/office/drawing/2014/main" id="{D71BECB9-3C9B-5379-0293-7976643FED3E}"/>
              </a:ext>
            </a:extLst>
          </p:cNvPr>
          <p:cNvSpPr/>
          <p:nvPr/>
        </p:nvSpPr>
        <p:spPr>
          <a:xfrm>
            <a:off x="8763001" y="50292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8" name="Rectangle 47">
            <a:extLst>
              <a:ext uri="{FF2B5EF4-FFF2-40B4-BE49-F238E27FC236}">
                <a16:creationId xmlns:a16="http://schemas.microsoft.com/office/drawing/2014/main" id="{AF26E3C5-B94A-4F3F-C9FA-4F5A61C80EE5}"/>
              </a:ext>
            </a:extLst>
          </p:cNvPr>
          <p:cNvSpPr/>
          <p:nvPr/>
        </p:nvSpPr>
        <p:spPr>
          <a:xfrm>
            <a:off x="8763001" y="52498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49" name="Rectangle 48">
            <a:extLst>
              <a:ext uri="{FF2B5EF4-FFF2-40B4-BE49-F238E27FC236}">
                <a16:creationId xmlns:a16="http://schemas.microsoft.com/office/drawing/2014/main" id="{F864A083-89A4-BB86-F140-473C8133C1EF}"/>
              </a:ext>
            </a:extLst>
          </p:cNvPr>
          <p:cNvSpPr/>
          <p:nvPr/>
        </p:nvSpPr>
        <p:spPr>
          <a:xfrm>
            <a:off x="8763001" y="55546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50" name="Rectangle 49">
            <a:extLst>
              <a:ext uri="{FF2B5EF4-FFF2-40B4-BE49-F238E27FC236}">
                <a16:creationId xmlns:a16="http://schemas.microsoft.com/office/drawing/2014/main" id="{868D35E5-E327-8898-0003-C81B845FDEAF}"/>
              </a:ext>
            </a:extLst>
          </p:cNvPr>
          <p:cNvSpPr/>
          <p:nvPr/>
        </p:nvSpPr>
        <p:spPr>
          <a:xfrm>
            <a:off x="8763001" y="58594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51" name="Rectangle 50">
            <a:extLst>
              <a:ext uri="{FF2B5EF4-FFF2-40B4-BE49-F238E27FC236}">
                <a16:creationId xmlns:a16="http://schemas.microsoft.com/office/drawing/2014/main" id="{92EB88D4-E36D-0214-315F-396584C9DE61}"/>
              </a:ext>
            </a:extLst>
          </p:cNvPr>
          <p:cNvSpPr/>
          <p:nvPr/>
        </p:nvSpPr>
        <p:spPr>
          <a:xfrm>
            <a:off x="8763001" y="60880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
        <p:nvSpPr>
          <p:cNvPr id="52" name="Rectangle 51">
            <a:extLst>
              <a:ext uri="{FF2B5EF4-FFF2-40B4-BE49-F238E27FC236}">
                <a16:creationId xmlns:a16="http://schemas.microsoft.com/office/drawing/2014/main" id="{292F4A6A-7F90-E9B2-430C-0E3D5197E12B}"/>
              </a:ext>
            </a:extLst>
          </p:cNvPr>
          <p:cNvSpPr/>
          <p:nvPr/>
        </p:nvSpPr>
        <p:spPr>
          <a:xfrm>
            <a:off x="8763001" y="63166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
        <p:nvSpPr>
          <p:cNvPr id="53" name="Rectangle 52">
            <a:extLst>
              <a:ext uri="{FF2B5EF4-FFF2-40B4-BE49-F238E27FC236}">
                <a16:creationId xmlns:a16="http://schemas.microsoft.com/office/drawing/2014/main" id="{FA4ED894-9FA2-928F-DCE8-0B8192056ADC}"/>
              </a:ext>
            </a:extLst>
          </p:cNvPr>
          <p:cNvSpPr/>
          <p:nvPr/>
        </p:nvSpPr>
        <p:spPr>
          <a:xfrm>
            <a:off x="8458201" y="117499"/>
            <a:ext cx="1516891" cy="279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Posting List</a:t>
            </a:r>
          </a:p>
        </p:txBody>
      </p:sp>
      <p:cxnSp>
        <p:nvCxnSpPr>
          <p:cNvPr id="54" name="Straight Arrow Connector 53">
            <a:extLst>
              <a:ext uri="{FF2B5EF4-FFF2-40B4-BE49-F238E27FC236}">
                <a16:creationId xmlns:a16="http://schemas.microsoft.com/office/drawing/2014/main" id="{C1A744CF-E977-F0B6-795A-204DBFFA3267}"/>
              </a:ext>
            </a:extLst>
          </p:cNvPr>
          <p:cNvCxnSpPr/>
          <p:nvPr/>
        </p:nvCxnSpPr>
        <p:spPr>
          <a:xfrm>
            <a:off x="9227310" y="1227128"/>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5" name="Rectangle 54">
            <a:extLst>
              <a:ext uri="{FF2B5EF4-FFF2-40B4-BE49-F238E27FC236}">
                <a16:creationId xmlns:a16="http://schemas.microsoft.com/office/drawing/2014/main" id="{3CC1523C-40DA-A46D-4066-CCBCCDA65151}"/>
              </a:ext>
            </a:extLst>
          </p:cNvPr>
          <p:cNvSpPr/>
          <p:nvPr/>
        </p:nvSpPr>
        <p:spPr>
          <a:xfrm>
            <a:off x="9684510" y="10668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cxnSp>
        <p:nvCxnSpPr>
          <p:cNvPr id="59" name="Straight Arrow Connector 58">
            <a:extLst>
              <a:ext uri="{FF2B5EF4-FFF2-40B4-BE49-F238E27FC236}">
                <a16:creationId xmlns:a16="http://schemas.microsoft.com/office/drawing/2014/main" id="{4B6C82D8-D66C-5B19-D00A-7D9946B86908}"/>
              </a:ext>
            </a:extLst>
          </p:cNvPr>
          <p:cNvCxnSpPr/>
          <p:nvPr/>
        </p:nvCxnSpPr>
        <p:spPr>
          <a:xfrm>
            <a:off x="9296401" y="19050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0" name="Rectangle 59">
            <a:extLst>
              <a:ext uri="{FF2B5EF4-FFF2-40B4-BE49-F238E27FC236}">
                <a16:creationId xmlns:a16="http://schemas.microsoft.com/office/drawing/2014/main" id="{E3EC23B9-1A71-25A7-2D66-30A987448498}"/>
              </a:ext>
            </a:extLst>
          </p:cNvPr>
          <p:cNvSpPr/>
          <p:nvPr/>
        </p:nvSpPr>
        <p:spPr>
          <a:xfrm>
            <a:off x="9753601" y="17446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cxnSp>
        <p:nvCxnSpPr>
          <p:cNvPr id="61" name="Straight Arrow Connector 60">
            <a:extLst>
              <a:ext uri="{FF2B5EF4-FFF2-40B4-BE49-F238E27FC236}">
                <a16:creationId xmlns:a16="http://schemas.microsoft.com/office/drawing/2014/main" id="{5EDAE61D-7939-FE0F-59BB-1C7F1D4D1898}"/>
              </a:ext>
            </a:extLst>
          </p:cNvPr>
          <p:cNvCxnSpPr/>
          <p:nvPr/>
        </p:nvCxnSpPr>
        <p:spPr>
          <a:xfrm>
            <a:off x="9296401" y="5418128"/>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C35DEB29-53A1-BAC2-8067-0FCEB1A298BB}"/>
              </a:ext>
            </a:extLst>
          </p:cNvPr>
          <p:cNvSpPr/>
          <p:nvPr/>
        </p:nvSpPr>
        <p:spPr>
          <a:xfrm>
            <a:off x="9753601" y="5257800"/>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cxnSp>
        <p:nvCxnSpPr>
          <p:cNvPr id="63" name="Straight Arrow Connector 62">
            <a:extLst>
              <a:ext uri="{FF2B5EF4-FFF2-40B4-BE49-F238E27FC236}">
                <a16:creationId xmlns:a16="http://schemas.microsoft.com/office/drawing/2014/main" id="{E5361DBE-C7F5-5E69-0DF4-F4E73D3F592A}"/>
              </a:ext>
            </a:extLst>
          </p:cNvPr>
          <p:cNvCxnSpPr/>
          <p:nvPr/>
        </p:nvCxnSpPr>
        <p:spPr>
          <a:xfrm>
            <a:off x="9296401" y="6172200"/>
            <a:ext cx="45009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4" name="Rectangle 63">
            <a:extLst>
              <a:ext uri="{FF2B5EF4-FFF2-40B4-BE49-F238E27FC236}">
                <a16:creationId xmlns:a16="http://schemas.microsoft.com/office/drawing/2014/main" id="{C5256206-A243-D2BD-797F-87B846C72705}"/>
              </a:ext>
            </a:extLst>
          </p:cNvPr>
          <p:cNvSpPr/>
          <p:nvPr/>
        </p:nvSpPr>
        <p:spPr>
          <a:xfrm>
            <a:off x="9753601" y="6011872"/>
            <a:ext cx="450091" cy="2365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Tree>
    <p:extLst>
      <p:ext uri="{BB962C8B-B14F-4D97-AF65-F5344CB8AC3E}">
        <p14:creationId xmlns:p14="http://schemas.microsoft.com/office/powerpoint/2010/main" val="68767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D3D9E-7ED7-100F-C541-71E6913EBBC5}"/>
              </a:ext>
            </a:extLst>
          </p:cNvPr>
          <p:cNvSpPr>
            <a:spLocks noGrp="1"/>
          </p:cNvSpPr>
          <p:nvPr>
            <p:ph type="title"/>
          </p:nvPr>
        </p:nvSpPr>
        <p:spPr/>
        <p:txBody>
          <a:bodyPr/>
          <a:lstStyle/>
          <a:p>
            <a:r>
              <a:rPr lang="en-IN" dirty="0"/>
              <a:t>Construction</a:t>
            </a:r>
          </a:p>
        </p:txBody>
      </p:sp>
      <p:sp>
        <p:nvSpPr>
          <p:cNvPr id="3" name="Content Placeholder 2">
            <a:extLst>
              <a:ext uri="{FF2B5EF4-FFF2-40B4-BE49-F238E27FC236}">
                <a16:creationId xmlns:a16="http://schemas.microsoft.com/office/drawing/2014/main" id="{2F599221-FC6F-1E09-622F-A4CC4DFBB76E}"/>
              </a:ext>
            </a:extLst>
          </p:cNvPr>
          <p:cNvSpPr>
            <a:spLocks noGrp="1"/>
          </p:cNvSpPr>
          <p:nvPr>
            <p:ph idx="1"/>
          </p:nvPr>
        </p:nvSpPr>
        <p:spPr/>
        <p:txBody>
          <a:bodyPr/>
          <a:lstStyle/>
          <a:p>
            <a:r>
              <a:rPr lang="en-US" dirty="0"/>
              <a:t>How do we construct an index?</a:t>
            </a:r>
          </a:p>
          <a:p>
            <a:r>
              <a:rPr lang="en-US" dirty="0"/>
              <a:t>What strategies can we use with limited main memory? </a:t>
            </a:r>
            <a:endParaRPr lang="en-IN" dirty="0"/>
          </a:p>
        </p:txBody>
      </p:sp>
    </p:spTree>
    <p:extLst>
      <p:ext uri="{BB962C8B-B14F-4D97-AF65-F5344CB8AC3E}">
        <p14:creationId xmlns:p14="http://schemas.microsoft.com/office/powerpoint/2010/main" val="863299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26EF-CCE9-1D65-313C-CAEBAF8ADF39}"/>
              </a:ext>
            </a:extLst>
          </p:cNvPr>
          <p:cNvSpPr>
            <a:spLocks noGrp="1"/>
          </p:cNvSpPr>
          <p:nvPr>
            <p:ph type="title"/>
          </p:nvPr>
        </p:nvSpPr>
        <p:spPr/>
        <p:txBody>
          <a:bodyPr/>
          <a:lstStyle/>
          <a:p>
            <a:r>
              <a:rPr lang="en-IN" dirty="0"/>
              <a:t>Hardware basics </a:t>
            </a:r>
          </a:p>
        </p:txBody>
      </p:sp>
      <p:sp>
        <p:nvSpPr>
          <p:cNvPr id="3" name="Content Placeholder 2">
            <a:extLst>
              <a:ext uri="{FF2B5EF4-FFF2-40B4-BE49-F238E27FC236}">
                <a16:creationId xmlns:a16="http://schemas.microsoft.com/office/drawing/2014/main" id="{CE85196C-0F7A-8565-60BB-FA95079244A8}"/>
              </a:ext>
            </a:extLst>
          </p:cNvPr>
          <p:cNvSpPr>
            <a:spLocks noGrp="1"/>
          </p:cNvSpPr>
          <p:nvPr>
            <p:ph idx="1"/>
          </p:nvPr>
        </p:nvSpPr>
        <p:spPr/>
        <p:txBody>
          <a:bodyPr/>
          <a:lstStyle/>
          <a:p>
            <a:r>
              <a:rPr lang="en-US" dirty="0"/>
              <a:t>Many design decisions in information retrieval are based on the characteristics of hardware </a:t>
            </a:r>
          </a:p>
        </p:txBody>
      </p:sp>
    </p:spTree>
    <p:extLst>
      <p:ext uri="{BB962C8B-B14F-4D97-AF65-F5344CB8AC3E}">
        <p14:creationId xmlns:p14="http://schemas.microsoft.com/office/powerpoint/2010/main" val="3148981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D3CB5-C3DC-842B-84E1-10D8DEE8217C}"/>
              </a:ext>
            </a:extLst>
          </p:cNvPr>
          <p:cNvSpPr>
            <a:spLocks noGrp="1"/>
          </p:cNvSpPr>
          <p:nvPr>
            <p:ph type="title"/>
          </p:nvPr>
        </p:nvSpPr>
        <p:spPr/>
        <p:txBody>
          <a:bodyPr/>
          <a:lstStyle/>
          <a:p>
            <a:r>
              <a:rPr lang="en-IN" dirty="0"/>
              <a:t>Hardware basics </a:t>
            </a:r>
          </a:p>
        </p:txBody>
      </p:sp>
      <p:sp>
        <p:nvSpPr>
          <p:cNvPr id="3" name="Content Placeholder 2">
            <a:extLst>
              <a:ext uri="{FF2B5EF4-FFF2-40B4-BE49-F238E27FC236}">
                <a16:creationId xmlns:a16="http://schemas.microsoft.com/office/drawing/2014/main" id="{CA1EEAE7-8706-AB5C-F6BD-1D10B516BEA2}"/>
              </a:ext>
            </a:extLst>
          </p:cNvPr>
          <p:cNvSpPr>
            <a:spLocks noGrp="1"/>
          </p:cNvSpPr>
          <p:nvPr>
            <p:ph idx="1"/>
          </p:nvPr>
        </p:nvSpPr>
        <p:spPr/>
        <p:txBody>
          <a:bodyPr/>
          <a:lstStyle/>
          <a:p>
            <a:r>
              <a:rPr lang="en-US" dirty="0"/>
              <a:t>Access to data in memory is much faster than access to data on disk</a:t>
            </a:r>
          </a:p>
          <a:p>
            <a:r>
              <a:rPr lang="en-US" dirty="0"/>
              <a:t>Disk seeks: No data is transferred from disk while the disk head is being positioned</a:t>
            </a:r>
          </a:p>
          <a:p>
            <a:r>
              <a:rPr lang="en-US" dirty="0"/>
              <a:t>Therefore, transferring one large chunk of data from disk to memory is faster than transferring many small chunks </a:t>
            </a:r>
          </a:p>
          <a:p>
            <a:r>
              <a:rPr lang="en-US" dirty="0"/>
              <a:t>Disk I/O is block-based: Reading and writing of entire blocks (as opposed to smaller chunks) </a:t>
            </a:r>
          </a:p>
          <a:p>
            <a:r>
              <a:rPr lang="en-US" dirty="0"/>
              <a:t>Block sizes: 8KB to 256 KB. </a:t>
            </a:r>
          </a:p>
          <a:p>
            <a:endParaRPr lang="en-IN" dirty="0"/>
          </a:p>
        </p:txBody>
      </p:sp>
    </p:spTree>
    <p:extLst>
      <p:ext uri="{BB962C8B-B14F-4D97-AF65-F5344CB8AC3E}">
        <p14:creationId xmlns:p14="http://schemas.microsoft.com/office/powerpoint/2010/main" val="2506983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353E-C6A4-BEF0-4ED3-72F50AEFAB01}"/>
              </a:ext>
            </a:extLst>
          </p:cNvPr>
          <p:cNvSpPr>
            <a:spLocks noGrp="1"/>
          </p:cNvSpPr>
          <p:nvPr>
            <p:ph type="title"/>
          </p:nvPr>
        </p:nvSpPr>
        <p:spPr/>
        <p:txBody>
          <a:bodyPr/>
          <a:lstStyle/>
          <a:p>
            <a:r>
              <a:rPr lang="en-IN" dirty="0"/>
              <a:t>Hardware basics </a:t>
            </a:r>
          </a:p>
        </p:txBody>
      </p:sp>
      <p:sp>
        <p:nvSpPr>
          <p:cNvPr id="3" name="Content Placeholder 2">
            <a:extLst>
              <a:ext uri="{FF2B5EF4-FFF2-40B4-BE49-F238E27FC236}">
                <a16:creationId xmlns:a16="http://schemas.microsoft.com/office/drawing/2014/main" id="{65705623-2EEC-194D-22F1-58A150B8D8B0}"/>
              </a:ext>
            </a:extLst>
          </p:cNvPr>
          <p:cNvSpPr>
            <a:spLocks noGrp="1"/>
          </p:cNvSpPr>
          <p:nvPr>
            <p:ph idx="1"/>
          </p:nvPr>
        </p:nvSpPr>
        <p:spPr/>
        <p:txBody>
          <a:bodyPr/>
          <a:lstStyle/>
          <a:p>
            <a:r>
              <a:rPr lang="en-US" dirty="0"/>
              <a:t>Servers used in IR systems now typically have several GB of main memory, sometimes tens of GB </a:t>
            </a:r>
          </a:p>
          <a:p>
            <a:r>
              <a:rPr lang="en-US" dirty="0"/>
              <a:t>Available disk space is several (2–3) orders of magnitude larger</a:t>
            </a:r>
          </a:p>
          <a:p>
            <a:r>
              <a:rPr lang="en-US" dirty="0"/>
              <a:t>Fault tolerance is very expensive: It’s much cheaper to use many regular machines rather than one fault tolerant machine</a:t>
            </a:r>
            <a:endParaRPr lang="en-IN" dirty="0"/>
          </a:p>
        </p:txBody>
      </p:sp>
    </p:spTree>
    <p:extLst>
      <p:ext uri="{BB962C8B-B14F-4D97-AF65-F5344CB8AC3E}">
        <p14:creationId xmlns:p14="http://schemas.microsoft.com/office/powerpoint/2010/main" val="4143017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8BFA3-66C1-DB7F-23AB-D6F9B1A3A43F}"/>
              </a:ext>
            </a:extLst>
          </p:cNvPr>
          <p:cNvSpPr>
            <a:spLocks noGrp="1"/>
          </p:cNvSpPr>
          <p:nvPr>
            <p:ph type="title"/>
          </p:nvPr>
        </p:nvSpPr>
        <p:spPr/>
        <p:txBody>
          <a:bodyPr/>
          <a:lstStyle/>
          <a:p>
            <a:r>
              <a:rPr lang="en-IN" dirty="0"/>
              <a:t>Hardware assumptions </a:t>
            </a:r>
          </a:p>
        </p:txBody>
      </p:sp>
      <p:sp>
        <p:nvSpPr>
          <p:cNvPr id="3" name="Content Placeholder 2">
            <a:extLst>
              <a:ext uri="{FF2B5EF4-FFF2-40B4-BE49-F238E27FC236}">
                <a16:creationId xmlns:a16="http://schemas.microsoft.com/office/drawing/2014/main" id="{153B12EB-B09C-58D2-8215-16017F3E81E2}"/>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6F761985-0B41-C40B-D69E-33C49F52A674}"/>
              </a:ext>
            </a:extLst>
          </p:cNvPr>
          <p:cNvPicPr>
            <a:picLocks noChangeAspect="1"/>
          </p:cNvPicPr>
          <p:nvPr/>
        </p:nvPicPr>
        <p:blipFill>
          <a:blip r:embed="rId2"/>
          <a:stretch>
            <a:fillRect/>
          </a:stretch>
        </p:blipFill>
        <p:spPr>
          <a:xfrm>
            <a:off x="926179" y="1895382"/>
            <a:ext cx="8923793" cy="3558848"/>
          </a:xfrm>
          <a:prstGeom prst="rect">
            <a:avLst/>
          </a:prstGeom>
        </p:spPr>
      </p:pic>
    </p:spTree>
    <p:extLst>
      <p:ext uri="{BB962C8B-B14F-4D97-AF65-F5344CB8AC3E}">
        <p14:creationId xmlns:p14="http://schemas.microsoft.com/office/powerpoint/2010/main" val="466561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B3259-39F7-5626-0D3F-9BE3CF3262EF}"/>
              </a:ext>
            </a:extLst>
          </p:cNvPr>
          <p:cNvSpPr>
            <a:spLocks noGrp="1"/>
          </p:cNvSpPr>
          <p:nvPr>
            <p:ph type="title"/>
          </p:nvPr>
        </p:nvSpPr>
        <p:spPr/>
        <p:txBody>
          <a:bodyPr/>
          <a:lstStyle/>
          <a:p>
            <a:r>
              <a:rPr lang="en-IN" dirty="0"/>
              <a:t>Reuters RCV1 Statistics</a:t>
            </a:r>
          </a:p>
        </p:txBody>
      </p:sp>
      <p:sp>
        <p:nvSpPr>
          <p:cNvPr id="3" name="Content Placeholder 2">
            <a:extLst>
              <a:ext uri="{FF2B5EF4-FFF2-40B4-BE49-F238E27FC236}">
                <a16:creationId xmlns:a16="http://schemas.microsoft.com/office/drawing/2014/main" id="{431E8D12-94FA-E54F-6624-9C8E59BE53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287A846-7A22-F606-EB72-0F5F9E0DCFFC}"/>
              </a:ext>
            </a:extLst>
          </p:cNvPr>
          <p:cNvPicPr>
            <a:picLocks noChangeAspect="1"/>
          </p:cNvPicPr>
          <p:nvPr/>
        </p:nvPicPr>
        <p:blipFill>
          <a:blip r:embed="rId2"/>
          <a:stretch>
            <a:fillRect/>
          </a:stretch>
        </p:blipFill>
        <p:spPr>
          <a:xfrm>
            <a:off x="838200" y="1734147"/>
            <a:ext cx="8824725" cy="4534293"/>
          </a:xfrm>
          <a:prstGeom prst="rect">
            <a:avLst/>
          </a:prstGeom>
        </p:spPr>
      </p:pic>
    </p:spTree>
    <p:extLst>
      <p:ext uri="{BB962C8B-B14F-4D97-AF65-F5344CB8AC3E}">
        <p14:creationId xmlns:p14="http://schemas.microsoft.com/office/powerpoint/2010/main" val="643251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487FF-901D-7D4B-078B-32678E3BFA69}"/>
              </a:ext>
            </a:extLst>
          </p:cNvPr>
          <p:cNvSpPr>
            <a:spLocks noGrp="1"/>
          </p:cNvSpPr>
          <p:nvPr>
            <p:ph type="title"/>
          </p:nvPr>
        </p:nvSpPr>
        <p:spPr/>
        <p:txBody>
          <a:bodyPr/>
          <a:lstStyle/>
          <a:p>
            <a:r>
              <a:rPr lang="en-IN" dirty="0"/>
              <a:t>Scaling index construction</a:t>
            </a:r>
          </a:p>
        </p:txBody>
      </p:sp>
      <p:sp>
        <p:nvSpPr>
          <p:cNvPr id="3" name="Content Placeholder 2">
            <a:extLst>
              <a:ext uri="{FF2B5EF4-FFF2-40B4-BE49-F238E27FC236}">
                <a16:creationId xmlns:a16="http://schemas.microsoft.com/office/drawing/2014/main" id="{8A18D981-A610-25E5-C0EB-C951D1B6C862}"/>
              </a:ext>
            </a:extLst>
          </p:cNvPr>
          <p:cNvSpPr>
            <a:spLocks noGrp="1"/>
          </p:cNvSpPr>
          <p:nvPr>
            <p:ph idx="1"/>
          </p:nvPr>
        </p:nvSpPr>
        <p:spPr/>
        <p:txBody>
          <a:bodyPr/>
          <a:lstStyle/>
          <a:p>
            <a:r>
              <a:rPr lang="en-US" dirty="0"/>
              <a:t>In-memory index construction does not scale </a:t>
            </a:r>
          </a:p>
          <a:p>
            <a:r>
              <a:rPr lang="en-US" dirty="0"/>
              <a:t>How can we construct an index for very large collections? </a:t>
            </a:r>
          </a:p>
          <a:p>
            <a:r>
              <a:rPr lang="en-US" dirty="0"/>
              <a:t>Taking into account the hardware constraints</a:t>
            </a:r>
          </a:p>
          <a:p>
            <a:r>
              <a:rPr lang="en-US" dirty="0"/>
              <a:t>Memory, disk, speed, etc. </a:t>
            </a:r>
            <a:endParaRPr lang="en-IN" dirty="0"/>
          </a:p>
        </p:txBody>
      </p:sp>
    </p:spTree>
    <p:extLst>
      <p:ext uri="{BB962C8B-B14F-4D97-AF65-F5344CB8AC3E}">
        <p14:creationId xmlns:p14="http://schemas.microsoft.com/office/powerpoint/2010/main" val="3389189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9609D-0407-C953-65AE-A5C9B4463A5F}"/>
              </a:ext>
            </a:extLst>
          </p:cNvPr>
          <p:cNvSpPr>
            <a:spLocks noGrp="1"/>
          </p:cNvSpPr>
          <p:nvPr>
            <p:ph type="title"/>
          </p:nvPr>
        </p:nvSpPr>
        <p:spPr/>
        <p:txBody>
          <a:bodyPr/>
          <a:lstStyle/>
          <a:p>
            <a:r>
              <a:rPr lang="en-IN" dirty="0"/>
              <a:t>Sort-based index construction</a:t>
            </a:r>
          </a:p>
        </p:txBody>
      </p:sp>
      <p:sp>
        <p:nvSpPr>
          <p:cNvPr id="3" name="Content Placeholder 2">
            <a:extLst>
              <a:ext uri="{FF2B5EF4-FFF2-40B4-BE49-F238E27FC236}">
                <a16:creationId xmlns:a16="http://schemas.microsoft.com/office/drawing/2014/main" id="{D684784F-CBF5-6FFF-C5D7-B07F582D638E}"/>
              </a:ext>
            </a:extLst>
          </p:cNvPr>
          <p:cNvSpPr>
            <a:spLocks noGrp="1"/>
          </p:cNvSpPr>
          <p:nvPr>
            <p:ph idx="1"/>
          </p:nvPr>
        </p:nvSpPr>
        <p:spPr/>
        <p:txBody>
          <a:bodyPr>
            <a:normAutofit/>
          </a:bodyPr>
          <a:lstStyle/>
          <a:p>
            <a:r>
              <a:rPr lang="en-US" dirty="0"/>
              <a:t>As we build the index, we parse docs one at a time4</a:t>
            </a:r>
          </a:p>
          <a:p>
            <a:pPr lvl="1"/>
            <a:r>
              <a:rPr lang="en-US" dirty="0"/>
              <a:t>The final postings for any term are incomplete until the end</a:t>
            </a:r>
          </a:p>
          <a:p>
            <a:r>
              <a:rPr lang="en-US" dirty="0"/>
              <a:t>At 12 bytes per non-positional postings entry (term, doc, </a:t>
            </a:r>
            <a:r>
              <a:rPr lang="en-US" dirty="0" err="1"/>
              <a:t>freq</a:t>
            </a:r>
            <a:r>
              <a:rPr lang="en-US" dirty="0"/>
              <a:t>), demands a lot of space for large collections </a:t>
            </a:r>
          </a:p>
          <a:p>
            <a:r>
              <a:rPr lang="en-US" dirty="0"/>
              <a:t>T = 100,000,000 in the case of RCV1 – so 1.2GB </a:t>
            </a:r>
          </a:p>
          <a:p>
            <a:pPr lvl="1"/>
            <a:r>
              <a:rPr lang="en-US" dirty="0"/>
              <a:t>So … we can do this in memory in 2015, but typical collections are much larger - e.g. the New York Times provides an index of &gt;150 years of newswire </a:t>
            </a:r>
          </a:p>
          <a:p>
            <a:r>
              <a:rPr lang="en-US" dirty="0"/>
              <a:t>Thus: We need to store intermediate results on disk. </a:t>
            </a:r>
          </a:p>
          <a:p>
            <a:pPr lvl="1"/>
            <a:endParaRPr lang="en-US" dirty="0"/>
          </a:p>
        </p:txBody>
      </p:sp>
    </p:spTree>
    <p:extLst>
      <p:ext uri="{BB962C8B-B14F-4D97-AF65-F5344CB8AC3E}">
        <p14:creationId xmlns:p14="http://schemas.microsoft.com/office/powerpoint/2010/main" val="3362051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31363-A5FA-E962-913C-39A6E9065186}"/>
              </a:ext>
            </a:extLst>
          </p:cNvPr>
          <p:cNvSpPr>
            <a:spLocks noGrp="1"/>
          </p:cNvSpPr>
          <p:nvPr>
            <p:ph type="title"/>
          </p:nvPr>
        </p:nvSpPr>
        <p:spPr/>
        <p:txBody>
          <a:bodyPr/>
          <a:lstStyle/>
          <a:p>
            <a:r>
              <a:rPr lang="en-US" dirty="0"/>
              <a:t>Use the same algorithm for disk?</a:t>
            </a:r>
            <a:endParaRPr lang="en-IN" dirty="0"/>
          </a:p>
        </p:txBody>
      </p:sp>
      <p:sp>
        <p:nvSpPr>
          <p:cNvPr id="3" name="Content Placeholder 2">
            <a:extLst>
              <a:ext uri="{FF2B5EF4-FFF2-40B4-BE49-F238E27FC236}">
                <a16:creationId xmlns:a16="http://schemas.microsoft.com/office/drawing/2014/main" id="{24B0FBA7-0052-3C3F-E862-72362C2BD63C}"/>
              </a:ext>
            </a:extLst>
          </p:cNvPr>
          <p:cNvSpPr>
            <a:spLocks noGrp="1"/>
          </p:cNvSpPr>
          <p:nvPr>
            <p:ph idx="1"/>
          </p:nvPr>
        </p:nvSpPr>
        <p:spPr/>
        <p:txBody>
          <a:bodyPr/>
          <a:lstStyle/>
          <a:p>
            <a:r>
              <a:rPr lang="en-US" dirty="0"/>
              <a:t>Can we use the same index construction algorithm for larger collections, but by using disk instead of memory? </a:t>
            </a:r>
          </a:p>
          <a:p>
            <a:pPr lvl="1"/>
            <a:r>
              <a:rPr lang="en-US" dirty="0"/>
              <a:t>i.e. scan the documents, and for each term write the corresponding posting (term, doc, </a:t>
            </a:r>
            <a:r>
              <a:rPr lang="en-US" dirty="0" err="1"/>
              <a:t>freq</a:t>
            </a:r>
            <a:r>
              <a:rPr lang="en-US" dirty="0"/>
              <a:t>) on a file </a:t>
            </a:r>
          </a:p>
          <a:p>
            <a:pPr lvl="1"/>
            <a:r>
              <a:rPr lang="en-US" dirty="0"/>
              <a:t>Finally sort the postings and build the postings lists for all the terms </a:t>
            </a:r>
          </a:p>
          <a:p>
            <a:r>
              <a:rPr lang="en-US" dirty="0"/>
              <a:t>No: Sorting T = 100,000,000 records (term, doc, </a:t>
            </a:r>
            <a:r>
              <a:rPr lang="en-US" dirty="0" err="1"/>
              <a:t>freq</a:t>
            </a:r>
            <a:r>
              <a:rPr lang="en-US" dirty="0"/>
              <a:t>) on disk is too slow – too many disk seeks </a:t>
            </a:r>
          </a:p>
          <a:p>
            <a:r>
              <a:rPr lang="en-US" dirty="0"/>
              <a:t>We need an external sorting algorithm.</a:t>
            </a:r>
            <a:endParaRPr lang="en-IN" dirty="0"/>
          </a:p>
        </p:txBody>
      </p:sp>
    </p:spTree>
    <p:extLst>
      <p:ext uri="{BB962C8B-B14F-4D97-AF65-F5344CB8AC3E}">
        <p14:creationId xmlns:p14="http://schemas.microsoft.com/office/powerpoint/2010/main" val="3914450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EDE8A-F510-3B03-50A0-6187940382E3}"/>
              </a:ext>
            </a:extLst>
          </p:cNvPr>
          <p:cNvSpPr>
            <a:spLocks noGrp="1"/>
          </p:cNvSpPr>
          <p:nvPr>
            <p:ph type="title"/>
          </p:nvPr>
        </p:nvSpPr>
        <p:spPr/>
        <p:txBody>
          <a:bodyPr/>
          <a:lstStyle/>
          <a:p>
            <a:r>
              <a:rPr lang="en-US" dirty="0"/>
              <a:t>BSBI: Blocked sort-based Indexing (Sorting with fewer disk seeks)</a:t>
            </a:r>
            <a:endParaRPr lang="en-IN" dirty="0"/>
          </a:p>
        </p:txBody>
      </p:sp>
      <p:sp>
        <p:nvSpPr>
          <p:cNvPr id="3" name="Content Placeholder 2">
            <a:extLst>
              <a:ext uri="{FF2B5EF4-FFF2-40B4-BE49-F238E27FC236}">
                <a16:creationId xmlns:a16="http://schemas.microsoft.com/office/drawing/2014/main" id="{2E1C8689-0110-67BE-A693-7B4C2EFA5AF5}"/>
              </a:ext>
            </a:extLst>
          </p:cNvPr>
          <p:cNvSpPr>
            <a:spLocks noGrp="1"/>
          </p:cNvSpPr>
          <p:nvPr>
            <p:ph idx="1"/>
          </p:nvPr>
        </p:nvSpPr>
        <p:spPr/>
        <p:txBody>
          <a:bodyPr>
            <a:normAutofit/>
          </a:bodyPr>
          <a:lstStyle/>
          <a:p>
            <a:r>
              <a:rPr lang="en-US" dirty="0"/>
              <a:t>8-byte records (</a:t>
            </a:r>
            <a:r>
              <a:rPr lang="en-US" dirty="0" err="1"/>
              <a:t>termID</a:t>
            </a:r>
            <a:r>
              <a:rPr lang="en-US" dirty="0"/>
              <a:t>, </a:t>
            </a:r>
            <a:r>
              <a:rPr lang="en-US" dirty="0" err="1"/>
              <a:t>docID</a:t>
            </a:r>
            <a:r>
              <a:rPr lang="en-US" dirty="0"/>
              <a:t>) </a:t>
            </a:r>
          </a:p>
          <a:p>
            <a:r>
              <a:rPr lang="en-US" dirty="0"/>
              <a:t>These are generated as we parse docs </a:t>
            </a:r>
          </a:p>
          <a:p>
            <a:r>
              <a:rPr lang="en-US" dirty="0"/>
              <a:t>Must now sort 100M such 8-byte records by </a:t>
            </a:r>
            <a:r>
              <a:rPr lang="en-US" dirty="0" err="1"/>
              <a:t>termID</a:t>
            </a:r>
            <a:r>
              <a:rPr lang="en-US" dirty="0"/>
              <a:t> </a:t>
            </a:r>
          </a:p>
          <a:p>
            <a:r>
              <a:rPr lang="en-US" dirty="0"/>
              <a:t>Define a Block ~ 10M such records </a:t>
            </a:r>
          </a:p>
          <a:p>
            <a:r>
              <a:rPr lang="en-US" dirty="0"/>
              <a:t>Can easily fit a couple into memory </a:t>
            </a:r>
          </a:p>
          <a:p>
            <a:pPr lvl="1"/>
            <a:r>
              <a:rPr lang="en-US" dirty="0"/>
              <a:t>Will have 10 such blocks to start with </a:t>
            </a:r>
          </a:p>
          <a:p>
            <a:r>
              <a:rPr lang="en-US" dirty="0"/>
              <a:t>Basic idea of algorithm: </a:t>
            </a:r>
          </a:p>
          <a:p>
            <a:pPr lvl="1"/>
            <a:r>
              <a:rPr lang="en-US" dirty="0"/>
              <a:t>Accumulate postings for each block, sort, write to disk </a:t>
            </a:r>
          </a:p>
          <a:p>
            <a:pPr lvl="1"/>
            <a:r>
              <a:rPr lang="en-US" dirty="0"/>
              <a:t>Then merge the blocks into one long sorted order</a:t>
            </a:r>
            <a:endParaRPr lang="en-IN" dirty="0"/>
          </a:p>
        </p:txBody>
      </p:sp>
    </p:spTree>
    <p:extLst>
      <p:ext uri="{BB962C8B-B14F-4D97-AF65-F5344CB8AC3E}">
        <p14:creationId xmlns:p14="http://schemas.microsoft.com/office/powerpoint/2010/main" val="1518466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4E3BB-5790-6BF8-21AE-2570A41F0FC5}"/>
              </a:ext>
            </a:extLst>
          </p:cNvPr>
          <p:cNvSpPr>
            <a:spLocks noGrp="1"/>
          </p:cNvSpPr>
          <p:nvPr>
            <p:ph type="title"/>
          </p:nvPr>
        </p:nvSpPr>
        <p:spPr/>
        <p:txBody>
          <a:bodyPr/>
          <a:lstStyle/>
          <a:p>
            <a:r>
              <a:rPr lang="en-IN" dirty="0"/>
              <a:t>Algorithm</a:t>
            </a:r>
          </a:p>
        </p:txBody>
      </p:sp>
      <p:sp>
        <p:nvSpPr>
          <p:cNvPr id="3" name="Content Placeholder 2">
            <a:extLst>
              <a:ext uri="{FF2B5EF4-FFF2-40B4-BE49-F238E27FC236}">
                <a16:creationId xmlns:a16="http://schemas.microsoft.com/office/drawing/2014/main" id="{9046796A-DE32-5783-A48C-19537A07FCB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206EB86-96B3-4156-1D02-ECE5B4BD043F}"/>
              </a:ext>
            </a:extLst>
          </p:cNvPr>
          <p:cNvPicPr>
            <a:picLocks noChangeAspect="1"/>
          </p:cNvPicPr>
          <p:nvPr/>
        </p:nvPicPr>
        <p:blipFill>
          <a:blip r:embed="rId2"/>
          <a:stretch>
            <a:fillRect/>
          </a:stretch>
        </p:blipFill>
        <p:spPr>
          <a:xfrm>
            <a:off x="922581" y="1825625"/>
            <a:ext cx="7130038" cy="3913480"/>
          </a:xfrm>
          <a:prstGeom prst="rect">
            <a:avLst/>
          </a:prstGeom>
        </p:spPr>
      </p:pic>
    </p:spTree>
    <p:extLst>
      <p:ext uri="{BB962C8B-B14F-4D97-AF65-F5344CB8AC3E}">
        <p14:creationId xmlns:p14="http://schemas.microsoft.com/office/powerpoint/2010/main" val="4125059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0E48B-C53C-5F7E-475F-E0E65298B4DF}"/>
              </a:ext>
            </a:extLst>
          </p:cNvPr>
          <p:cNvSpPr>
            <a:spLocks noGrp="1"/>
          </p:cNvSpPr>
          <p:nvPr>
            <p:ph type="title"/>
          </p:nvPr>
        </p:nvSpPr>
        <p:spPr/>
        <p:txBody>
          <a:bodyPr/>
          <a:lstStyle/>
          <a:p>
            <a:r>
              <a:rPr lang="en-US" dirty="0"/>
              <a:t>Sorting 10 blocks of 10M records</a:t>
            </a:r>
            <a:endParaRPr lang="en-IN" dirty="0"/>
          </a:p>
        </p:txBody>
      </p:sp>
      <p:sp>
        <p:nvSpPr>
          <p:cNvPr id="3" name="Content Placeholder 2">
            <a:extLst>
              <a:ext uri="{FF2B5EF4-FFF2-40B4-BE49-F238E27FC236}">
                <a16:creationId xmlns:a16="http://schemas.microsoft.com/office/drawing/2014/main" id="{03723690-02A2-41DF-A020-7C7275ABF997}"/>
              </a:ext>
            </a:extLst>
          </p:cNvPr>
          <p:cNvSpPr>
            <a:spLocks noGrp="1"/>
          </p:cNvSpPr>
          <p:nvPr>
            <p:ph idx="1"/>
          </p:nvPr>
        </p:nvSpPr>
        <p:spPr/>
        <p:txBody>
          <a:bodyPr/>
          <a:lstStyle/>
          <a:p>
            <a:r>
              <a:rPr lang="en-US" dirty="0"/>
              <a:t>First, read each block and sort within:  </a:t>
            </a:r>
          </a:p>
          <a:p>
            <a:r>
              <a:rPr lang="en-US" dirty="0"/>
              <a:t>Quicksort takes O(N ln N) expected steps </a:t>
            </a:r>
          </a:p>
          <a:p>
            <a:r>
              <a:rPr lang="en-US" dirty="0"/>
              <a:t>In our case N=10M </a:t>
            </a:r>
          </a:p>
          <a:p>
            <a:r>
              <a:rPr lang="en-US" dirty="0"/>
              <a:t>10 times this estimate – gives us 10 sorted </a:t>
            </a:r>
            <a:r>
              <a:rPr lang="en-US" u="sng" dirty="0"/>
              <a:t>runs</a:t>
            </a:r>
            <a:r>
              <a:rPr lang="en-US" dirty="0"/>
              <a:t> of 10M records each. </a:t>
            </a:r>
          </a:p>
          <a:p>
            <a:r>
              <a:rPr lang="en-US" dirty="0"/>
              <a:t>Done straightforwardly, need 2 copies of data on disk </a:t>
            </a:r>
          </a:p>
          <a:p>
            <a:pPr lvl="1"/>
            <a:r>
              <a:rPr lang="en-US" dirty="0"/>
              <a:t>But can optimize this</a:t>
            </a:r>
            <a:endParaRPr lang="en-IN" dirty="0"/>
          </a:p>
        </p:txBody>
      </p:sp>
    </p:spTree>
    <p:extLst>
      <p:ext uri="{BB962C8B-B14F-4D97-AF65-F5344CB8AC3E}">
        <p14:creationId xmlns:p14="http://schemas.microsoft.com/office/powerpoint/2010/main" val="1991773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B3B2D-0B25-0E54-B38B-2BD7DEDB215A}"/>
              </a:ext>
            </a:extLst>
          </p:cNvPr>
          <p:cNvSpPr>
            <a:spLocks noGrp="1"/>
          </p:cNvSpPr>
          <p:nvPr>
            <p:ph type="title"/>
          </p:nvPr>
        </p:nvSpPr>
        <p:spPr/>
        <p:txBody>
          <a:bodyPr/>
          <a:lstStyle/>
          <a:p>
            <a:r>
              <a:rPr lang="en-US" dirty="0"/>
              <a:t>How to merge the sorted runs?</a:t>
            </a:r>
            <a:endParaRPr lang="en-IN" dirty="0"/>
          </a:p>
        </p:txBody>
      </p:sp>
      <p:sp>
        <p:nvSpPr>
          <p:cNvPr id="3" name="Content Placeholder 2">
            <a:extLst>
              <a:ext uri="{FF2B5EF4-FFF2-40B4-BE49-F238E27FC236}">
                <a16:creationId xmlns:a16="http://schemas.microsoft.com/office/drawing/2014/main" id="{9480DA6F-480D-E241-5DDA-15887F2A1BD4}"/>
              </a:ext>
            </a:extLst>
          </p:cNvPr>
          <p:cNvSpPr>
            <a:spLocks noGrp="1"/>
          </p:cNvSpPr>
          <p:nvPr>
            <p:ph idx="1"/>
          </p:nvPr>
        </p:nvSpPr>
        <p:spPr/>
        <p:txBody>
          <a:bodyPr/>
          <a:lstStyle/>
          <a:p>
            <a:r>
              <a:rPr lang="en-US" dirty="0"/>
              <a:t>Can do binary merges, with a merge tree of log210 = 4 layers. </a:t>
            </a:r>
          </a:p>
          <a:p>
            <a:r>
              <a:rPr lang="en-US" dirty="0"/>
              <a:t>During each layer, read into memory runs in blocks of 10M, merge, write back.</a:t>
            </a:r>
            <a:endParaRPr lang="en-IN" dirty="0"/>
          </a:p>
        </p:txBody>
      </p:sp>
      <p:graphicFrame>
        <p:nvGraphicFramePr>
          <p:cNvPr id="4" name="Table 4">
            <a:extLst>
              <a:ext uri="{FF2B5EF4-FFF2-40B4-BE49-F238E27FC236}">
                <a16:creationId xmlns:a16="http://schemas.microsoft.com/office/drawing/2014/main" id="{985E96A0-5CC6-BD2F-7C34-B2F7BABD4DBE}"/>
              </a:ext>
            </a:extLst>
          </p:cNvPr>
          <p:cNvGraphicFramePr>
            <a:graphicFrameLocks noGrp="1"/>
          </p:cNvGraphicFramePr>
          <p:nvPr>
            <p:extLst>
              <p:ext uri="{D42A27DB-BD31-4B8C-83A1-F6EECF244321}">
                <p14:modId xmlns:p14="http://schemas.microsoft.com/office/powerpoint/2010/main" val="2559093804"/>
              </p:ext>
            </p:extLst>
          </p:nvPr>
        </p:nvGraphicFramePr>
        <p:xfrm>
          <a:off x="1134399" y="3597512"/>
          <a:ext cx="2569498" cy="1463040"/>
        </p:xfrm>
        <a:graphic>
          <a:graphicData uri="http://schemas.openxmlformats.org/drawingml/2006/table">
            <a:tbl>
              <a:tblPr firstRow="1" bandRow="1">
                <a:tableStyleId>{D7AC3CCA-C797-4891-BE02-D94E43425B78}</a:tableStyleId>
              </a:tblPr>
              <a:tblGrid>
                <a:gridCol w="1035665">
                  <a:extLst>
                    <a:ext uri="{9D8B030D-6E8A-4147-A177-3AD203B41FA5}">
                      <a16:colId xmlns:a16="http://schemas.microsoft.com/office/drawing/2014/main" val="2376934881"/>
                    </a:ext>
                  </a:extLst>
                </a:gridCol>
                <a:gridCol w="1533833">
                  <a:extLst>
                    <a:ext uri="{9D8B030D-6E8A-4147-A177-3AD203B41FA5}">
                      <a16:colId xmlns:a16="http://schemas.microsoft.com/office/drawing/2014/main" val="3787366621"/>
                    </a:ext>
                  </a:extLst>
                </a:gridCol>
              </a:tblGrid>
              <a:tr h="331391">
                <a:tc>
                  <a:txBody>
                    <a:bodyPr/>
                    <a:lstStyle/>
                    <a:p>
                      <a:r>
                        <a:rPr lang="en-IN" dirty="0"/>
                        <a:t>Brutus</a:t>
                      </a:r>
                    </a:p>
                  </a:txBody>
                  <a:tcPr/>
                </a:tc>
                <a:tc>
                  <a:txBody>
                    <a:bodyPr/>
                    <a:lstStyle/>
                    <a:p>
                      <a:r>
                        <a:rPr lang="en-IN" dirty="0"/>
                        <a:t>D1, D3,</a:t>
                      </a:r>
                    </a:p>
                  </a:txBody>
                  <a:tcPr/>
                </a:tc>
                <a:extLst>
                  <a:ext uri="{0D108BD9-81ED-4DB2-BD59-A6C34878D82A}">
                    <a16:rowId xmlns:a16="http://schemas.microsoft.com/office/drawing/2014/main" val="1687810483"/>
                  </a:ext>
                </a:extLst>
              </a:tr>
              <a:tr h="331391">
                <a:tc>
                  <a:txBody>
                    <a:bodyPr/>
                    <a:lstStyle/>
                    <a:p>
                      <a:r>
                        <a:rPr lang="en-IN" dirty="0"/>
                        <a:t>Caeser</a:t>
                      </a:r>
                    </a:p>
                  </a:txBody>
                  <a:tcPr/>
                </a:tc>
                <a:tc>
                  <a:txBody>
                    <a:bodyPr/>
                    <a:lstStyle/>
                    <a:p>
                      <a:r>
                        <a:rPr lang="en-IN" dirty="0"/>
                        <a:t>D1,D2,D3</a:t>
                      </a:r>
                    </a:p>
                  </a:txBody>
                  <a:tcPr/>
                </a:tc>
                <a:extLst>
                  <a:ext uri="{0D108BD9-81ED-4DB2-BD59-A6C34878D82A}">
                    <a16:rowId xmlns:a16="http://schemas.microsoft.com/office/drawing/2014/main" val="3589225252"/>
                  </a:ext>
                </a:extLst>
              </a:tr>
              <a:tr h="331391">
                <a:tc>
                  <a:txBody>
                    <a:bodyPr/>
                    <a:lstStyle/>
                    <a:p>
                      <a:r>
                        <a:rPr lang="en-IN" dirty="0"/>
                        <a:t>Noble</a:t>
                      </a:r>
                    </a:p>
                  </a:txBody>
                  <a:tcPr/>
                </a:tc>
                <a:tc>
                  <a:txBody>
                    <a:bodyPr/>
                    <a:lstStyle/>
                    <a:p>
                      <a:r>
                        <a:rPr lang="en-IN" dirty="0"/>
                        <a:t>D5</a:t>
                      </a:r>
                    </a:p>
                  </a:txBody>
                  <a:tcPr/>
                </a:tc>
                <a:extLst>
                  <a:ext uri="{0D108BD9-81ED-4DB2-BD59-A6C34878D82A}">
                    <a16:rowId xmlns:a16="http://schemas.microsoft.com/office/drawing/2014/main" val="1138659224"/>
                  </a:ext>
                </a:extLst>
              </a:tr>
              <a:tr h="331391">
                <a:tc>
                  <a:txBody>
                    <a:bodyPr/>
                    <a:lstStyle/>
                    <a:p>
                      <a:r>
                        <a:rPr lang="en-IN" dirty="0"/>
                        <a:t>With </a:t>
                      </a:r>
                    </a:p>
                  </a:txBody>
                  <a:tcPr/>
                </a:tc>
                <a:tc>
                  <a:txBody>
                    <a:bodyPr/>
                    <a:lstStyle/>
                    <a:p>
                      <a:r>
                        <a:rPr lang="en-IN" dirty="0"/>
                        <a:t>D1,D2,D3,D5</a:t>
                      </a:r>
                    </a:p>
                  </a:txBody>
                  <a:tcPr/>
                </a:tc>
                <a:extLst>
                  <a:ext uri="{0D108BD9-81ED-4DB2-BD59-A6C34878D82A}">
                    <a16:rowId xmlns:a16="http://schemas.microsoft.com/office/drawing/2014/main" val="593686380"/>
                  </a:ext>
                </a:extLst>
              </a:tr>
            </a:tbl>
          </a:graphicData>
        </a:graphic>
      </p:graphicFrame>
      <p:graphicFrame>
        <p:nvGraphicFramePr>
          <p:cNvPr id="5" name="Table 4">
            <a:extLst>
              <a:ext uri="{FF2B5EF4-FFF2-40B4-BE49-F238E27FC236}">
                <a16:creationId xmlns:a16="http://schemas.microsoft.com/office/drawing/2014/main" id="{CA3ED5AE-3019-433A-5834-3DD9DCDCF549}"/>
              </a:ext>
            </a:extLst>
          </p:cNvPr>
          <p:cNvGraphicFramePr>
            <a:graphicFrameLocks noGrp="1"/>
          </p:cNvGraphicFramePr>
          <p:nvPr>
            <p:extLst>
              <p:ext uri="{D42A27DB-BD31-4B8C-83A1-F6EECF244321}">
                <p14:modId xmlns:p14="http://schemas.microsoft.com/office/powerpoint/2010/main" val="1007751761"/>
              </p:ext>
            </p:extLst>
          </p:nvPr>
        </p:nvGraphicFramePr>
        <p:xfrm>
          <a:off x="4259005" y="3577848"/>
          <a:ext cx="2569498" cy="1463040"/>
        </p:xfrm>
        <a:graphic>
          <a:graphicData uri="http://schemas.openxmlformats.org/drawingml/2006/table">
            <a:tbl>
              <a:tblPr firstRow="1" bandRow="1">
                <a:tableStyleId>{D7AC3CCA-C797-4891-BE02-D94E43425B78}</a:tableStyleId>
              </a:tblPr>
              <a:tblGrid>
                <a:gridCol w="1035665">
                  <a:extLst>
                    <a:ext uri="{9D8B030D-6E8A-4147-A177-3AD203B41FA5}">
                      <a16:colId xmlns:a16="http://schemas.microsoft.com/office/drawing/2014/main" val="2376934881"/>
                    </a:ext>
                  </a:extLst>
                </a:gridCol>
                <a:gridCol w="1533833">
                  <a:extLst>
                    <a:ext uri="{9D8B030D-6E8A-4147-A177-3AD203B41FA5}">
                      <a16:colId xmlns:a16="http://schemas.microsoft.com/office/drawing/2014/main" val="3787366621"/>
                    </a:ext>
                  </a:extLst>
                </a:gridCol>
              </a:tblGrid>
              <a:tr h="331391">
                <a:tc>
                  <a:txBody>
                    <a:bodyPr/>
                    <a:lstStyle/>
                    <a:p>
                      <a:r>
                        <a:rPr lang="en-IN" dirty="0"/>
                        <a:t>Brutus</a:t>
                      </a:r>
                    </a:p>
                  </a:txBody>
                  <a:tcPr/>
                </a:tc>
                <a:tc>
                  <a:txBody>
                    <a:bodyPr/>
                    <a:lstStyle/>
                    <a:p>
                      <a:r>
                        <a:rPr lang="en-IN" dirty="0"/>
                        <a:t>D6, D7,</a:t>
                      </a:r>
                    </a:p>
                  </a:txBody>
                  <a:tcPr/>
                </a:tc>
                <a:extLst>
                  <a:ext uri="{0D108BD9-81ED-4DB2-BD59-A6C34878D82A}">
                    <a16:rowId xmlns:a16="http://schemas.microsoft.com/office/drawing/2014/main" val="1687810483"/>
                  </a:ext>
                </a:extLst>
              </a:tr>
              <a:tr h="331391">
                <a:tc>
                  <a:txBody>
                    <a:bodyPr/>
                    <a:lstStyle/>
                    <a:p>
                      <a:r>
                        <a:rPr lang="en-IN" dirty="0"/>
                        <a:t>Caeser</a:t>
                      </a:r>
                    </a:p>
                  </a:txBody>
                  <a:tcPr/>
                </a:tc>
                <a:tc>
                  <a:txBody>
                    <a:bodyPr/>
                    <a:lstStyle/>
                    <a:p>
                      <a:r>
                        <a:rPr lang="en-IN" dirty="0"/>
                        <a:t>D8,D9</a:t>
                      </a:r>
                    </a:p>
                  </a:txBody>
                  <a:tcPr/>
                </a:tc>
                <a:extLst>
                  <a:ext uri="{0D108BD9-81ED-4DB2-BD59-A6C34878D82A}">
                    <a16:rowId xmlns:a16="http://schemas.microsoft.com/office/drawing/2014/main" val="3589225252"/>
                  </a:ext>
                </a:extLst>
              </a:tr>
              <a:tr h="331391">
                <a:tc>
                  <a:txBody>
                    <a:bodyPr/>
                    <a:lstStyle/>
                    <a:p>
                      <a:r>
                        <a:rPr lang="en-IN" dirty="0"/>
                        <a:t>Julius</a:t>
                      </a:r>
                    </a:p>
                  </a:txBody>
                  <a:tcPr/>
                </a:tc>
                <a:tc>
                  <a:txBody>
                    <a:bodyPr/>
                    <a:lstStyle/>
                    <a:p>
                      <a:r>
                        <a:rPr lang="en-IN" dirty="0"/>
                        <a:t>D10</a:t>
                      </a:r>
                    </a:p>
                  </a:txBody>
                  <a:tcPr/>
                </a:tc>
                <a:extLst>
                  <a:ext uri="{0D108BD9-81ED-4DB2-BD59-A6C34878D82A}">
                    <a16:rowId xmlns:a16="http://schemas.microsoft.com/office/drawing/2014/main" val="1138659224"/>
                  </a:ext>
                </a:extLst>
              </a:tr>
              <a:tr h="331391">
                <a:tc>
                  <a:txBody>
                    <a:bodyPr/>
                    <a:lstStyle/>
                    <a:p>
                      <a:r>
                        <a:rPr lang="en-IN" dirty="0"/>
                        <a:t>Killed </a:t>
                      </a:r>
                    </a:p>
                  </a:txBody>
                  <a:tcPr/>
                </a:tc>
                <a:tc>
                  <a:txBody>
                    <a:bodyPr/>
                    <a:lstStyle/>
                    <a:p>
                      <a:r>
                        <a:rPr lang="en-IN" dirty="0"/>
                        <a:t>D8</a:t>
                      </a:r>
                    </a:p>
                  </a:txBody>
                  <a:tcPr/>
                </a:tc>
                <a:extLst>
                  <a:ext uri="{0D108BD9-81ED-4DB2-BD59-A6C34878D82A}">
                    <a16:rowId xmlns:a16="http://schemas.microsoft.com/office/drawing/2014/main" val="593686380"/>
                  </a:ext>
                </a:extLst>
              </a:tr>
            </a:tbl>
          </a:graphicData>
        </a:graphic>
      </p:graphicFrame>
      <p:graphicFrame>
        <p:nvGraphicFramePr>
          <p:cNvPr id="6" name="Table 5">
            <a:extLst>
              <a:ext uri="{FF2B5EF4-FFF2-40B4-BE49-F238E27FC236}">
                <a16:creationId xmlns:a16="http://schemas.microsoft.com/office/drawing/2014/main" id="{FE61FA3B-EF50-AAEC-9552-682725B6E6C1}"/>
              </a:ext>
            </a:extLst>
          </p:cNvPr>
          <p:cNvGraphicFramePr>
            <a:graphicFrameLocks noGrp="1"/>
          </p:cNvGraphicFramePr>
          <p:nvPr>
            <p:extLst>
              <p:ext uri="{D42A27DB-BD31-4B8C-83A1-F6EECF244321}">
                <p14:modId xmlns:p14="http://schemas.microsoft.com/office/powerpoint/2010/main" val="1546044808"/>
              </p:ext>
            </p:extLst>
          </p:nvPr>
        </p:nvGraphicFramePr>
        <p:xfrm>
          <a:off x="7767890" y="3429000"/>
          <a:ext cx="2978768" cy="2194560"/>
        </p:xfrm>
        <a:graphic>
          <a:graphicData uri="http://schemas.openxmlformats.org/drawingml/2006/table">
            <a:tbl>
              <a:tblPr firstRow="1" bandRow="1">
                <a:tableStyleId>{D7AC3CCA-C797-4891-BE02-D94E43425B78}</a:tableStyleId>
              </a:tblPr>
              <a:tblGrid>
                <a:gridCol w="1200626">
                  <a:extLst>
                    <a:ext uri="{9D8B030D-6E8A-4147-A177-3AD203B41FA5}">
                      <a16:colId xmlns:a16="http://schemas.microsoft.com/office/drawing/2014/main" val="2376934881"/>
                    </a:ext>
                  </a:extLst>
                </a:gridCol>
                <a:gridCol w="1778142">
                  <a:extLst>
                    <a:ext uri="{9D8B030D-6E8A-4147-A177-3AD203B41FA5}">
                      <a16:colId xmlns:a16="http://schemas.microsoft.com/office/drawing/2014/main" val="3787366621"/>
                    </a:ext>
                  </a:extLst>
                </a:gridCol>
              </a:tblGrid>
              <a:tr h="331391">
                <a:tc>
                  <a:txBody>
                    <a:bodyPr/>
                    <a:lstStyle/>
                    <a:p>
                      <a:r>
                        <a:rPr lang="en-IN" dirty="0"/>
                        <a:t>Brutus</a:t>
                      </a:r>
                    </a:p>
                  </a:txBody>
                  <a:tcPr/>
                </a:tc>
                <a:tc>
                  <a:txBody>
                    <a:bodyPr/>
                    <a:lstStyle/>
                    <a:p>
                      <a:r>
                        <a:rPr lang="en-IN" dirty="0"/>
                        <a:t>D1,D3,D6, D7,</a:t>
                      </a:r>
                    </a:p>
                  </a:txBody>
                  <a:tcPr/>
                </a:tc>
                <a:extLst>
                  <a:ext uri="{0D108BD9-81ED-4DB2-BD59-A6C34878D82A}">
                    <a16:rowId xmlns:a16="http://schemas.microsoft.com/office/drawing/2014/main" val="1687810483"/>
                  </a:ext>
                </a:extLst>
              </a:tr>
              <a:tr h="331391">
                <a:tc>
                  <a:txBody>
                    <a:bodyPr/>
                    <a:lstStyle/>
                    <a:p>
                      <a:r>
                        <a:rPr lang="en-IN" dirty="0"/>
                        <a:t>Caeser</a:t>
                      </a:r>
                    </a:p>
                  </a:txBody>
                  <a:tcPr/>
                </a:tc>
                <a:tc>
                  <a:txBody>
                    <a:bodyPr/>
                    <a:lstStyle/>
                    <a:p>
                      <a:r>
                        <a:rPr lang="en-IN" dirty="0"/>
                        <a:t>D1,D2,D3,D8,D9</a:t>
                      </a:r>
                    </a:p>
                  </a:txBody>
                  <a:tcPr/>
                </a:tc>
                <a:extLst>
                  <a:ext uri="{0D108BD9-81ED-4DB2-BD59-A6C34878D82A}">
                    <a16:rowId xmlns:a16="http://schemas.microsoft.com/office/drawing/2014/main" val="3589225252"/>
                  </a:ext>
                </a:extLst>
              </a:tr>
              <a:tr h="331391">
                <a:tc>
                  <a:txBody>
                    <a:bodyPr/>
                    <a:lstStyle/>
                    <a:p>
                      <a:r>
                        <a:rPr lang="en-IN" dirty="0"/>
                        <a:t>Julius</a:t>
                      </a:r>
                    </a:p>
                  </a:txBody>
                  <a:tcPr/>
                </a:tc>
                <a:tc>
                  <a:txBody>
                    <a:bodyPr/>
                    <a:lstStyle/>
                    <a:p>
                      <a:r>
                        <a:rPr lang="en-IN" dirty="0"/>
                        <a:t>D10</a:t>
                      </a:r>
                    </a:p>
                  </a:txBody>
                  <a:tcPr/>
                </a:tc>
                <a:extLst>
                  <a:ext uri="{0D108BD9-81ED-4DB2-BD59-A6C34878D82A}">
                    <a16:rowId xmlns:a16="http://schemas.microsoft.com/office/drawing/2014/main" val="1138659224"/>
                  </a:ext>
                </a:extLst>
              </a:tr>
              <a:tr h="331391">
                <a:tc>
                  <a:txBody>
                    <a:bodyPr/>
                    <a:lstStyle/>
                    <a:p>
                      <a:r>
                        <a:rPr lang="en-IN" dirty="0"/>
                        <a:t>Killed </a:t>
                      </a:r>
                    </a:p>
                  </a:txBody>
                  <a:tcPr/>
                </a:tc>
                <a:tc>
                  <a:txBody>
                    <a:bodyPr/>
                    <a:lstStyle/>
                    <a:p>
                      <a:r>
                        <a:rPr lang="en-IN" dirty="0"/>
                        <a:t>D8</a:t>
                      </a:r>
                    </a:p>
                  </a:txBody>
                  <a:tcPr/>
                </a:tc>
                <a:extLst>
                  <a:ext uri="{0D108BD9-81ED-4DB2-BD59-A6C34878D82A}">
                    <a16:rowId xmlns:a16="http://schemas.microsoft.com/office/drawing/2014/main" val="593686380"/>
                  </a:ext>
                </a:extLst>
              </a:tr>
              <a:tr h="331391">
                <a:tc>
                  <a:txBody>
                    <a:bodyPr/>
                    <a:lstStyle/>
                    <a:p>
                      <a:r>
                        <a:rPr lang="en-IN" dirty="0"/>
                        <a:t>Noble</a:t>
                      </a:r>
                    </a:p>
                  </a:txBody>
                  <a:tcPr/>
                </a:tc>
                <a:tc>
                  <a:txBody>
                    <a:bodyPr/>
                    <a:lstStyle/>
                    <a:p>
                      <a:r>
                        <a:rPr lang="en-IN" dirty="0"/>
                        <a:t>D5</a:t>
                      </a:r>
                    </a:p>
                  </a:txBody>
                  <a:tcPr/>
                </a:tc>
                <a:extLst>
                  <a:ext uri="{0D108BD9-81ED-4DB2-BD59-A6C34878D82A}">
                    <a16:rowId xmlns:a16="http://schemas.microsoft.com/office/drawing/2014/main" val="3703220393"/>
                  </a:ext>
                </a:extLst>
              </a:tr>
              <a:tr h="331391">
                <a:tc>
                  <a:txBody>
                    <a:bodyPr/>
                    <a:lstStyle/>
                    <a:p>
                      <a:r>
                        <a:rPr lang="en-IN" dirty="0"/>
                        <a:t>With</a:t>
                      </a:r>
                    </a:p>
                  </a:txBody>
                  <a:tcPr/>
                </a:tc>
                <a:tc>
                  <a:txBody>
                    <a:bodyPr/>
                    <a:lstStyle/>
                    <a:p>
                      <a:r>
                        <a:rPr lang="en-IN" dirty="0"/>
                        <a:t>D1,D2,D3,D5</a:t>
                      </a:r>
                    </a:p>
                  </a:txBody>
                  <a:tcPr/>
                </a:tc>
                <a:extLst>
                  <a:ext uri="{0D108BD9-81ED-4DB2-BD59-A6C34878D82A}">
                    <a16:rowId xmlns:a16="http://schemas.microsoft.com/office/drawing/2014/main" val="3794282253"/>
                  </a:ext>
                </a:extLst>
              </a:tr>
            </a:tbl>
          </a:graphicData>
        </a:graphic>
      </p:graphicFrame>
      <p:sp>
        <p:nvSpPr>
          <p:cNvPr id="7" name="Cylinder 6">
            <a:extLst>
              <a:ext uri="{FF2B5EF4-FFF2-40B4-BE49-F238E27FC236}">
                <a16:creationId xmlns:a16="http://schemas.microsoft.com/office/drawing/2014/main" id="{1A4472C0-5850-2161-E588-F74558A0A813}"/>
              </a:ext>
            </a:extLst>
          </p:cNvPr>
          <p:cNvSpPr/>
          <p:nvPr/>
        </p:nvSpPr>
        <p:spPr>
          <a:xfrm>
            <a:off x="3762684" y="5833191"/>
            <a:ext cx="2487562" cy="878656"/>
          </a:xfrm>
          <a:prstGeom prst="can">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solidFill>
                  <a:schemeClr val="tx1"/>
                </a:solidFill>
              </a:rPr>
              <a:t>Disk</a:t>
            </a:r>
          </a:p>
        </p:txBody>
      </p:sp>
      <p:cxnSp>
        <p:nvCxnSpPr>
          <p:cNvPr id="9" name="Straight Arrow Connector 8">
            <a:extLst>
              <a:ext uri="{FF2B5EF4-FFF2-40B4-BE49-F238E27FC236}">
                <a16:creationId xmlns:a16="http://schemas.microsoft.com/office/drawing/2014/main" id="{CAA00834-7147-2946-9E32-130B633F449A}"/>
              </a:ext>
            </a:extLst>
          </p:cNvPr>
          <p:cNvCxnSpPr/>
          <p:nvPr/>
        </p:nvCxnSpPr>
        <p:spPr>
          <a:xfrm>
            <a:off x="6931742" y="4309368"/>
            <a:ext cx="69809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02B257D0-7F96-462D-3638-4B69BEBBEEC6}"/>
              </a:ext>
            </a:extLst>
          </p:cNvPr>
          <p:cNvCxnSpPr>
            <a:cxnSpLocks/>
          </p:cNvCxnSpPr>
          <p:nvPr/>
        </p:nvCxnSpPr>
        <p:spPr>
          <a:xfrm flipH="1" flipV="1">
            <a:off x="3018503" y="5220929"/>
            <a:ext cx="820995" cy="58785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5DBC660-65D4-495E-A7BF-700CDDB4E233}"/>
              </a:ext>
            </a:extLst>
          </p:cNvPr>
          <p:cNvCxnSpPr>
            <a:cxnSpLocks/>
          </p:cNvCxnSpPr>
          <p:nvPr/>
        </p:nvCxnSpPr>
        <p:spPr>
          <a:xfrm flipH="1">
            <a:off x="6285271" y="5247825"/>
            <a:ext cx="1344561" cy="586106"/>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99C20602-00E1-0674-93E3-0F405310832A}"/>
              </a:ext>
            </a:extLst>
          </p:cNvPr>
          <p:cNvSpPr txBox="1"/>
          <p:nvPr/>
        </p:nvSpPr>
        <p:spPr>
          <a:xfrm>
            <a:off x="6443816" y="5794678"/>
            <a:ext cx="2346223" cy="369332"/>
          </a:xfrm>
          <a:prstGeom prst="rect">
            <a:avLst/>
          </a:prstGeom>
          <a:noFill/>
        </p:spPr>
        <p:txBody>
          <a:bodyPr wrap="square">
            <a:spAutoFit/>
          </a:bodyPr>
          <a:lstStyle/>
          <a:p>
            <a:r>
              <a:rPr lang="en-IN" dirty="0"/>
              <a:t>Merged Posting List</a:t>
            </a:r>
          </a:p>
        </p:txBody>
      </p:sp>
      <p:sp>
        <p:nvSpPr>
          <p:cNvPr id="18" name="TextBox 17">
            <a:extLst>
              <a:ext uri="{FF2B5EF4-FFF2-40B4-BE49-F238E27FC236}">
                <a16:creationId xmlns:a16="http://schemas.microsoft.com/office/drawing/2014/main" id="{C0400C7E-E32C-0258-5A51-826FB4D7167D}"/>
              </a:ext>
            </a:extLst>
          </p:cNvPr>
          <p:cNvSpPr txBox="1"/>
          <p:nvPr/>
        </p:nvSpPr>
        <p:spPr>
          <a:xfrm>
            <a:off x="648929" y="5425762"/>
            <a:ext cx="2657581" cy="369332"/>
          </a:xfrm>
          <a:prstGeom prst="rect">
            <a:avLst/>
          </a:prstGeom>
          <a:noFill/>
        </p:spPr>
        <p:txBody>
          <a:bodyPr wrap="square">
            <a:spAutoFit/>
          </a:bodyPr>
          <a:lstStyle/>
          <a:p>
            <a:r>
              <a:rPr lang="en-IN" dirty="0"/>
              <a:t>Posting List to be merged</a:t>
            </a:r>
          </a:p>
        </p:txBody>
      </p:sp>
    </p:spTree>
    <p:extLst>
      <p:ext uri="{BB962C8B-B14F-4D97-AF65-F5344CB8AC3E}">
        <p14:creationId xmlns:p14="http://schemas.microsoft.com/office/powerpoint/2010/main" val="1773849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77290-7878-8609-4236-2A71715E1A21}"/>
              </a:ext>
            </a:extLst>
          </p:cNvPr>
          <p:cNvSpPr>
            <a:spLocks noGrp="1"/>
          </p:cNvSpPr>
          <p:nvPr>
            <p:ph type="title"/>
          </p:nvPr>
        </p:nvSpPr>
        <p:spPr/>
        <p:txBody>
          <a:bodyPr/>
          <a:lstStyle/>
          <a:p>
            <a:r>
              <a:rPr lang="en-US" dirty="0"/>
              <a:t>How to merge the sorted runs?</a:t>
            </a:r>
            <a:endParaRPr lang="en-IN" dirty="0"/>
          </a:p>
        </p:txBody>
      </p:sp>
      <p:sp>
        <p:nvSpPr>
          <p:cNvPr id="3" name="Content Placeholder 2">
            <a:extLst>
              <a:ext uri="{FF2B5EF4-FFF2-40B4-BE49-F238E27FC236}">
                <a16:creationId xmlns:a16="http://schemas.microsoft.com/office/drawing/2014/main" id="{F67A25FF-40DA-EDF6-9C31-C4D57B8A978A}"/>
              </a:ext>
            </a:extLst>
          </p:cNvPr>
          <p:cNvSpPr>
            <a:spLocks noGrp="1"/>
          </p:cNvSpPr>
          <p:nvPr>
            <p:ph idx="1"/>
          </p:nvPr>
        </p:nvSpPr>
        <p:spPr/>
        <p:txBody>
          <a:bodyPr>
            <a:normAutofit/>
          </a:bodyPr>
          <a:lstStyle/>
          <a:p>
            <a:r>
              <a:rPr lang="en-US" dirty="0"/>
              <a:t>But it is more efficient to do a multi-way merge, where you are reading from all blocks simultaneously </a:t>
            </a:r>
          </a:p>
          <a:p>
            <a:pPr lvl="1"/>
            <a:r>
              <a:rPr lang="en-US" dirty="0"/>
              <a:t>Open all block files simultaneously and maintain a read buffer for each one and a write buffer for the output file </a:t>
            </a:r>
          </a:p>
          <a:p>
            <a:pPr lvl="1"/>
            <a:r>
              <a:rPr lang="en-US" dirty="0"/>
              <a:t>In each iteration, pick the lowest </a:t>
            </a:r>
            <a:r>
              <a:rPr lang="en-US" dirty="0" err="1"/>
              <a:t>termID</a:t>
            </a:r>
            <a:r>
              <a:rPr lang="en-US" dirty="0"/>
              <a:t> that hasn’t been processed using a priority queue </a:t>
            </a:r>
          </a:p>
          <a:p>
            <a:pPr lvl="1"/>
            <a:r>
              <a:rPr lang="en-US" dirty="0"/>
              <a:t>Merge all postings- lists for that </a:t>
            </a:r>
            <a:r>
              <a:rPr lang="en-US" dirty="0" err="1"/>
              <a:t>termID</a:t>
            </a:r>
            <a:r>
              <a:rPr lang="en-US" dirty="0"/>
              <a:t> and write it out </a:t>
            </a:r>
          </a:p>
          <a:p>
            <a:r>
              <a:rPr lang="en-US" dirty="0"/>
              <a:t>Providing you read decent-sized chunks of each block into memory and then write out a decent-sized output chunk, then you’re not killed by disk seeks</a:t>
            </a:r>
            <a:endParaRPr lang="en-IN" dirty="0"/>
          </a:p>
        </p:txBody>
      </p:sp>
    </p:spTree>
    <p:extLst>
      <p:ext uri="{BB962C8B-B14F-4D97-AF65-F5344CB8AC3E}">
        <p14:creationId xmlns:p14="http://schemas.microsoft.com/office/powerpoint/2010/main" val="4094678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BA90-0046-BED1-0A07-07031AD9BA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ED56B7-0710-9057-2C7A-2D66B037F58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551E31A-35A4-819B-4E7B-BAC9E8247F51}"/>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988744" y="2186832"/>
            <a:ext cx="10443761" cy="2955439"/>
          </a:xfrm>
          <a:prstGeom prst="rect">
            <a:avLst/>
          </a:prstGeom>
        </p:spPr>
      </p:pic>
    </p:spTree>
    <p:extLst>
      <p:ext uri="{BB962C8B-B14F-4D97-AF65-F5344CB8AC3E}">
        <p14:creationId xmlns:p14="http://schemas.microsoft.com/office/powerpoint/2010/main" val="3553963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F9810-7D55-80B0-712A-5D6EB4EF06B7}"/>
              </a:ext>
            </a:extLst>
          </p:cNvPr>
          <p:cNvSpPr>
            <a:spLocks noGrp="1"/>
          </p:cNvSpPr>
          <p:nvPr>
            <p:ph type="title"/>
          </p:nvPr>
        </p:nvSpPr>
        <p:spPr/>
        <p:txBody>
          <a:bodyPr/>
          <a:lstStyle/>
          <a:p>
            <a:r>
              <a:rPr lang="en-US" dirty="0"/>
              <a:t>Remaining problem with sort-based algorithm</a:t>
            </a:r>
            <a:endParaRPr lang="en-IN" dirty="0"/>
          </a:p>
        </p:txBody>
      </p:sp>
      <p:sp>
        <p:nvSpPr>
          <p:cNvPr id="3" name="Content Placeholder 2">
            <a:extLst>
              <a:ext uri="{FF2B5EF4-FFF2-40B4-BE49-F238E27FC236}">
                <a16:creationId xmlns:a16="http://schemas.microsoft.com/office/drawing/2014/main" id="{61538C80-D727-DCC7-3C01-ADA965230B31}"/>
              </a:ext>
            </a:extLst>
          </p:cNvPr>
          <p:cNvSpPr>
            <a:spLocks noGrp="1"/>
          </p:cNvSpPr>
          <p:nvPr>
            <p:ph idx="1"/>
          </p:nvPr>
        </p:nvSpPr>
        <p:spPr/>
        <p:txBody>
          <a:bodyPr/>
          <a:lstStyle/>
          <a:p>
            <a:r>
              <a:rPr lang="en-US" dirty="0"/>
              <a:t>Our assumption was: we can keep the dictionary in memory. </a:t>
            </a:r>
          </a:p>
          <a:p>
            <a:r>
              <a:rPr lang="en-US" dirty="0"/>
              <a:t>We need the dictionary (which grows dynamically) to implement a term to </a:t>
            </a:r>
            <a:r>
              <a:rPr lang="en-US" dirty="0" err="1"/>
              <a:t>termID</a:t>
            </a:r>
            <a:r>
              <a:rPr lang="en-US" dirty="0"/>
              <a:t> mapping.</a:t>
            </a:r>
          </a:p>
          <a:p>
            <a:r>
              <a:rPr lang="en-US" dirty="0"/>
              <a:t>We could work with term, </a:t>
            </a:r>
            <a:r>
              <a:rPr lang="en-US" dirty="0" err="1"/>
              <a:t>docID</a:t>
            </a:r>
            <a:r>
              <a:rPr lang="en-US" dirty="0"/>
              <a:t> postings instead of </a:t>
            </a:r>
            <a:r>
              <a:rPr lang="en-US" dirty="0" err="1"/>
              <a:t>termID</a:t>
            </a:r>
            <a:r>
              <a:rPr lang="en-US" dirty="0"/>
              <a:t>, </a:t>
            </a:r>
            <a:r>
              <a:rPr lang="en-US" dirty="0" err="1"/>
              <a:t>docID</a:t>
            </a:r>
            <a:r>
              <a:rPr lang="en-US" dirty="0"/>
              <a:t> postings . . . </a:t>
            </a:r>
          </a:p>
          <a:p>
            <a:r>
              <a:rPr lang="en-US" dirty="0"/>
              <a:t> . . . but then intermediate files become very large. (We would end up with a scalable, but very slow index construction method.)</a:t>
            </a:r>
            <a:endParaRPr lang="en-IN" dirty="0"/>
          </a:p>
        </p:txBody>
      </p:sp>
    </p:spTree>
    <p:extLst>
      <p:ext uri="{BB962C8B-B14F-4D97-AF65-F5344CB8AC3E}">
        <p14:creationId xmlns:p14="http://schemas.microsoft.com/office/powerpoint/2010/main" val="2692993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13ED2-B2DD-AEF0-C67F-C03C28D9081A}"/>
              </a:ext>
            </a:extLst>
          </p:cNvPr>
          <p:cNvSpPr>
            <a:spLocks noGrp="1"/>
          </p:cNvSpPr>
          <p:nvPr>
            <p:ph type="title"/>
          </p:nvPr>
        </p:nvSpPr>
        <p:spPr/>
        <p:txBody>
          <a:bodyPr/>
          <a:lstStyle/>
          <a:p>
            <a:r>
              <a:rPr lang="en-IN" dirty="0"/>
              <a:t>SPIMI: Single-pass in-memory indexing</a:t>
            </a:r>
          </a:p>
        </p:txBody>
      </p:sp>
      <p:sp>
        <p:nvSpPr>
          <p:cNvPr id="3" name="Content Placeholder 2">
            <a:extLst>
              <a:ext uri="{FF2B5EF4-FFF2-40B4-BE49-F238E27FC236}">
                <a16:creationId xmlns:a16="http://schemas.microsoft.com/office/drawing/2014/main" id="{B80B03FF-7DF1-B35F-1F8E-7990FAE166D4}"/>
              </a:ext>
            </a:extLst>
          </p:cNvPr>
          <p:cNvSpPr>
            <a:spLocks noGrp="1"/>
          </p:cNvSpPr>
          <p:nvPr>
            <p:ph idx="1"/>
          </p:nvPr>
        </p:nvSpPr>
        <p:spPr/>
        <p:txBody>
          <a:bodyPr/>
          <a:lstStyle/>
          <a:p>
            <a:r>
              <a:rPr lang="en-US" dirty="0"/>
              <a:t>Key idea 1: Generate separate dictionaries for each block – no need to maintain term-</a:t>
            </a:r>
            <a:r>
              <a:rPr lang="en-US" dirty="0" err="1"/>
              <a:t>termID</a:t>
            </a:r>
            <a:r>
              <a:rPr lang="en-US" dirty="0"/>
              <a:t> mapping across blocks. </a:t>
            </a:r>
          </a:p>
          <a:p>
            <a:r>
              <a:rPr lang="en-US" dirty="0"/>
              <a:t>Key idea 2: Don’t sort. Accumulate postings in postings lists as they occur. </a:t>
            </a:r>
          </a:p>
          <a:p>
            <a:r>
              <a:rPr lang="en-US" dirty="0"/>
              <a:t>With these two ideas we can generate a complete inverted index for each block. </a:t>
            </a:r>
          </a:p>
          <a:p>
            <a:r>
              <a:rPr lang="en-US" dirty="0"/>
              <a:t>These separate indexes can then be merged into one big index.</a:t>
            </a:r>
            <a:endParaRPr lang="en-IN" dirty="0"/>
          </a:p>
        </p:txBody>
      </p:sp>
      <p:sp>
        <p:nvSpPr>
          <p:cNvPr id="4" name="Title 1">
            <a:extLst>
              <a:ext uri="{FF2B5EF4-FFF2-40B4-BE49-F238E27FC236}">
                <a16:creationId xmlns:a16="http://schemas.microsoft.com/office/drawing/2014/main" id="{45A7AD18-AC0A-00E6-96E5-067D0B9D0ADB}"/>
              </a:ext>
            </a:extLst>
          </p:cNvPr>
          <p:cNvSpPr txBox="1">
            <a:spLocks/>
          </p:cNvSpPr>
          <p:nvPr/>
        </p:nvSpPr>
        <p:spPr>
          <a:xfrm>
            <a:off x="838200" y="3356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a:p>
        </p:txBody>
      </p:sp>
    </p:spTree>
    <p:extLst>
      <p:ext uri="{BB962C8B-B14F-4D97-AF65-F5344CB8AC3E}">
        <p14:creationId xmlns:p14="http://schemas.microsoft.com/office/powerpoint/2010/main" val="1570056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747AC-B040-BD64-418E-74A7CE9AAA39}"/>
              </a:ext>
            </a:extLst>
          </p:cNvPr>
          <p:cNvSpPr>
            <a:spLocks noGrp="1"/>
          </p:cNvSpPr>
          <p:nvPr>
            <p:ph type="title"/>
          </p:nvPr>
        </p:nvSpPr>
        <p:spPr/>
        <p:txBody>
          <a:bodyPr/>
          <a:lstStyle/>
          <a:p>
            <a:r>
              <a:rPr lang="en-IN" dirty="0"/>
              <a:t>SPIMI-Invert</a:t>
            </a:r>
          </a:p>
        </p:txBody>
      </p:sp>
      <p:sp>
        <p:nvSpPr>
          <p:cNvPr id="3" name="Content Placeholder 2">
            <a:extLst>
              <a:ext uri="{FF2B5EF4-FFF2-40B4-BE49-F238E27FC236}">
                <a16:creationId xmlns:a16="http://schemas.microsoft.com/office/drawing/2014/main" id="{BDD86128-2E4D-A846-6AFB-F5D01CCBAC79}"/>
              </a:ext>
            </a:extLst>
          </p:cNvPr>
          <p:cNvSpPr>
            <a:spLocks noGrp="1"/>
          </p:cNvSpPr>
          <p:nvPr>
            <p:ph idx="1"/>
          </p:nvPr>
        </p:nvSpPr>
        <p:spPr>
          <a:xfrm>
            <a:off x="838200" y="1825624"/>
            <a:ext cx="10515600" cy="4870143"/>
          </a:xfrm>
        </p:spPr>
        <p:txBody>
          <a:bodyPr>
            <a:normAutofit fontScale="775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US" dirty="0"/>
              <a:t>Merging of blocks is analogous to BSBI.</a:t>
            </a:r>
            <a:endParaRPr lang="en-IN" dirty="0"/>
          </a:p>
        </p:txBody>
      </p:sp>
      <p:pic>
        <p:nvPicPr>
          <p:cNvPr id="5" name="Picture 4">
            <a:extLst>
              <a:ext uri="{FF2B5EF4-FFF2-40B4-BE49-F238E27FC236}">
                <a16:creationId xmlns:a16="http://schemas.microsoft.com/office/drawing/2014/main" id="{590B6590-B127-25FE-58E0-2C46E0D3259B}"/>
              </a:ext>
            </a:extLst>
          </p:cNvPr>
          <p:cNvPicPr>
            <a:picLocks noChangeAspect="1"/>
          </p:cNvPicPr>
          <p:nvPr/>
        </p:nvPicPr>
        <p:blipFill>
          <a:blip r:embed="rId2"/>
          <a:stretch>
            <a:fillRect/>
          </a:stretch>
        </p:blipFill>
        <p:spPr>
          <a:xfrm>
            <a:off x="916858" y="1825626"/>
            <a:ext cx="7845169" cy="4073730"/>
          </a:xfrm>
          <a:prstGeom prst="rect">
            <a:avLst/>
          </a:prstGeom>
        </p:spPr>
      </p:pic>
    </p:spTree>
    <p:extLst>
      <p:ext uri="{BB962C8B-B14F-4D97-AF65-F5344CB8AC3E}">
        <p14:creationId xmlns:p14="http://schemas.microsoft.com/office/powerpoint/2010/main" val="1580903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98F87-5D56-9699-20F0-342E7D2A0BEC}"/>
              </a:ext>
            </a:extLst>
          </p:cNvPr>
          <p:cNvSpPr>
            <a:spLocks noGrp="1"/>
          </p:cNvSpPr>
          <p:nvPr>
            <p:ph type="title"/>
          </p:nvPr>
        </p:nvSpPr>
        <p:spPr/>
        <p:txBody>
          <a:bodyPr/>
          <a:lstStyle/>
          <a:p>
            <a:r>
              <a:rPr lang="en-IN" dirty="0"/>
              <a:t>SPIMI in action</a:t>
            </a:r>
          </a:p>
        </p:txBody>
      </p:sp>
      <p:graphicFrame>
        <p:nvGraphicFramePr>
          <p:cNvPr id="5" name="Content Placeholder 4">
            <a:extLst>
              <a:ext uri="{FF2B5EF4-FFF2-40B4-BE49-F238E27FC236}">
                <a16:creationId xmlns:a16="http://schemas.microsoft.com/office/drawing/2014/main" id="{759349BC-DCD3-29F0-1162-5E3177E42B4A}"/>
              </a:ext>
            </a:extLst>
          </p:cNvPr>
          <p:cNvGraphicFramePr>
            <a:graphicFrameLocks noGrp="1"/>
          </p:cNvGraphicFramePr>
          <p:nvPr>
            <p:ph idx="1"/>
            <p:extLst>
              <p:ext uri="{D42A27DB-BD31-4B8C-83A1-F6EECF244321}">
                <p14:modId xmlns:p14="http://schemas.microsoft.com/office/powerpoint/2010/main" val="3755049920"/>
              </p:ext>
            </p:extLst>
          </p:nvPr>
        </p:nvGraphicFramePr>
        <p:xfrm>
          <a:off x="3453580" y="1896532"/>
          <a:ext cx="2426109" cy="1828800"/>
        </p:xfrm>
        <a:graphic>
          <a:graphicData uri="http://schemas.openxmlformats.org/drawingml/2006/table">
            <a:tbl>
              <a:tblPr firstRow="1" bandRow="1">
                <a:tableStyleId>{D7AC3CCA-C797-4891-BE02-D94E43425B78}</a:tableStyleId>
              </a:tblPr>
              <a:tblGrid>
                <a:gridCol w="2426109">
                  <a:extLst>
                    <a:ext uri="{9D8B030D-6E8A-4147-A177-3AD203B41FA5}">
                      <a16:colId xmlns:a16="http://schemas.microsoft.com/office/drawing/2014/main" val="2702117822"/>
                    </a:ext>
                  </a:extLst>
                </a:gridCol>
              </a:tblGrid>
              <a:tr h="331391">
                <a:tc>
                  <a:txBody>
                    <a:bodyPr/>
                    <a:lstStyle/>
                    <a:p>
                      <a:r>
                        <a:rPr lang="en-IN" dirty="0"/>
                        <a:t>Dictionary</a:t>
                      </a:r>
                    </a:p>
                  </a:txBody>
                  <a:tcPr/>
                </a:tc>
                <a:extLst>
                  <a:ext uri="{0D108BD9-81ED-4DB2-BD59-A6C34878D82A}">
                    <a16:rowId xmlns:a16="http://schemas.microsoft.com/office/drawing/2014/main" val="3851536327"/>
                  </a:ext>
                </a:extLst>
              </a:tr>
              <a:tr h="331391">
                <a:tc>
                  <a:txBody>
                    <a:bodyPr/>
                    <a:lstStyle/>
                    <a:p>
                      <a:r>
                        <a:rPr lang="en-IN" dirty="0"/>
                        <a:t>Brutus D1 D3</a:t>
                      </a:r>
                    </a:p>
                  </a:txBody>
                  <a:tcPr/>
                </a:tc>
                <a:extLst>
                  <a:ext uri="{0D108BD9-81ED-4DB2-BD59-A6C34878D82A}">
                    <a16:rowId xmlns:a16="http://schemas.microsoft.com/office/drawing/2014/main" val="1830851146"/>
                  </a:ext>
                </a:extLst>
              </a:tr>
              <a:tr h="331391">
                <a:tc>
                  <a:txBody>
                    <a:bodyPr/>
                    <a:lstStyle/>
                    <a:p>
                      <a:r>
                        <a:rPr lang="en-IN" dirty="0"/>
                        <a:t>With  D1 D2 D3 D4 D5</a:t>
                      </a:r>
                    </a:p>
                  </a:txBody>
                  <a:tcPr/>
                </a:tc>
                <a:extLst>
                  <a:ext uri="{0D108BD9-81ED-4DB2-BD59-A6C34878D82A}">
                    <a16:rowId xmlns:a16="http://schemas.microsoft.com/office/drawing/2014/main" val="4186088689"/>
                  </a:ext>
                </a:extLst>
              </a:tr>
              <a:tr h="331391">
                <a:tc>
                  <a:txBody>
                    <a:bodyPr/>
                    <a:lstStyle/>
                    <a:p>
                      <a:r>
                        <a:rPr lang="en-IN" dirty="0"/>
                        <a:t>Noble D5</a:t>
                      </a:r>
                    </a:p>
                  </a:txBody>
                  <a:tcPr/>
                </a:tc>
                <a:extLst>
                  <a:ext uri="{0D108BD9-81ED-4DB2-BD59-A6C34878D82A}">
                    <a16:rowId xmlns:a16="http://schemas.microsoft.com/office/drawing/2014/main" val="4117159223"/>
                  </a:ext>
                </a:extLst>
              </a:tr>
              <a:tr h="331391">
                <a:tc>
                  <a:txBody>
                    <a:bodyPr/>
                    <a:lstStyle/>
                    <a:p>
                      <a:r>
                        <a:rPr lang="en-IN" dirty="0"/>
                        <a:t>Caeser  D1 D2 D4 </a:t>
                      </a:r>
                    </a:p>
                  </a:txBody>
                  <a:tcPr/>
                </a:tc>
                <a:extLst>
                  <a:ext uri="{0D108BD9-81ED-4DB2-BD59-A6C34878D82A}">
                    <a16:rowId xmlns:a16="http://schemas.microsoft.com/office/drawing/2014/main" val="558872147"/>
                  </a:ext>
                </a:extLst>
              </a:tr>
            </a:tbl>
          </a:graphicData>
        </a:graphic>
      </p:graphicFrame>
      <p:graphicFrame>
        <p:nvGraphicFramePr>
          <p:cNvPr id="4" name="Table 4">
            <a:extLst>
              <a:ext uri="{FF2B5EF4-FFF2-40B4-BE49-F238E27FC236}">
                <a16:creationId xmlns:a16="http://schemas.microsoft.com/office/drawing/2014/main" id="{065B539F-D4F6-C103-7193-F7BBEA4FF79E}"/>
              </a:ext>
            </a:extLst>
          </p:cNvPr>
          <p:cNvGraphicFramePr>
            <a:graphicFrameLocks noGrp="1"/>
          </p:cNvGraphicFramePr>
          <p:nvPr>
            <p:extLst>
              <p:ext uri="{D42A27DB-BD31-4B8C-83A1-F6EECF244321}">
                <p14:modId xmlns:p14="http://schemas.microsoft.com/office/powerpoint/2010/main" val="2562871174"/>
              </p:ext>
            </p:extLst>
          </p:nvPr>
        </p:nvGraphicFramePr>
        <p:xfrm>
          <a:off x="1193392" y="1896532"/>
          <a:ext cx="1697292" cy="4023360"/>
        </p:xfrm>
        <a:graphic>
          <a:graphicData uri="http://schemas.openxmlformats.org/drawingml/2006/table">
            <a:tbl>
              <a:tblPr firstRow="1" bandRow="1">
                <a:tableStyleId>{D7AC3CCA-C797-4891-BE02-D94E43425B78}</a:tableStyleId>
              </a:tblPr>
              <a:tblGrid>
                <a:gridCol w="1697292">
                  <a:extLst>
                    <a:ext uri="{9D8B030D-6E8A-4147-A177-3AD203B41FA5}">
                      <a16:colId xmlns:a16="http://schemas.microsoft.com/office/drawing/2014/main" val="2376934881"/>
                    </a:ext>
                  </a:extLst>
                </a:gridCol>
              </a:tblGrid>
              <a:tr h="331391">
                <a:tc>
                  <a:txBody>
                    <a:bodyPr/>
                    <a:lstStyle/>
                    <a:p>
                      <a:r>
                        <a:rPr lang="en-IN" dirty="0"/>
                        <a:t>Input Token</a:t>
                      </a:r>
                    </a:p>
                  </a:txBody>
                  <a:tcPr/>
                </a:tc>
                <a:extLst>
                  <a:ext uri="{0D108BD9-81ED-4DB2-BD59-A6C34878D82A}">
                    <a16:rowId xmlns:a16="http://schemas.microsoft.com/office/drawing/2014/main" val="2411602981"/>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Caeser D1</a:t>
                      </a:r>
                    </a:p>
                  </a:txBody>
                  <a:tcPr/>
                </a:tc>
                <a:extLst>
                  <a:ext uri="{0D108BD9-81ED-4DB2-BD59-A6C34878D82A}">
                    <a16:rowId xmlns:a16="http://schemas.microsoft.com/office/drawing/2014/main" val="1687810483"/>
                  </a:ext>
                </a:extLst>
              </a:tr>
              <a:tr h="331391">
                <a:tc>
                  <a:txBody>
                    <a:bodyPr/>
                    <a:lstStyle/>
                    <a:p>
                      <a:r>
                        <a:rPr lang="en-IN" dirty="0"/>
                        <a:t>With  D1</a:t>
                      </a:r>
                    </a:p>
                  </a:txBody>
                  <a:tcPr/>
                </a:tc>
                <a:extLst>
                  <a:ext uri="{0D108BD9-81ED-4DB2-BD59-A6C34878D82A}">
                    <a16:rowId xmlns:a16="http://schemas.microsoft.com/office/drawing/2014/main" val="3589225252"/>
                  </a:ext>
                </a:extLst>
              </a:tr>
              <a:tr h="331391">
                <a:tc>
                  <a:txBody>
                    <a:bodyPr/>
                    <a:lstStyle/>
                    <a:p>
                      <a:r>
                        <a:rPr lang="en-IN" dirty="0"/>
                        <a:t>Brutus D1</a:t>
                      </a:r>
                    </a:p>
                  </a:txBody>
                  <a:tcPr/>
                </a:tc>
                <a:extLst>
                  <a:ext uri="{0D108BD9-81ED-4DB2-BD59-A6C34878D82A}">
                    <a16:rowId xmlns:a16="http://schemas.microsoft.com/office/drawing/2014/main" val="1138659224"/>
                  </a:ext>
                </a:extLst>
              </a:tr>
              <a:tr h="331391">
                <a:tc>
                  <a:txBody>
                    <a:bodyPr/>
                    <a:lstStyle/>
                    <a:p>
                      <a:r>
                        <a:rPr lang="en-IN" dirty="0"/>
                        <a:t>Caeser  D2 </a:t>
                      </a:r>
                    </a:p>
                  </a:txBody>
                  <a:tcPr/>
                </a:tc>
                <a:extLst>
                  <a:ext uri="{0D108BD9-81ED-4DB2-BD59-A6C34878D82A}">
                    <a16:rowId xmlns:a16="http://schemas.microsoft.com/office/drawing/2014/main" val="593686380"/>
                  </a:ext>
                </a:extLst>
              </a:tr>
              <a:tr h="331391">
                <a:tc>
                  <a:txBody>
                    <a:bodyPr/>
                    <a:lstStyle/>
                    <a:p>
                      <a:r>
                        <a:rPr lang="en-IN" dirty="0"/>
                        <a:t>With D2</a:t>
                      </a:r>
                    </a:p>
                  </a:txBody>
                  <a:tcPr/>
                </a:tc>
                <a:extLst>
                  <a:ext uri="{0D108BD9-81ED-4DB2-BD59-A6C34878D82A}">
                    <a16:rowId xmlns:a16="http://schemas.microsoft.com/office/drawing/2014/main" val="2069110719"/>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Brutus D3</a:t>
                      </a:r>
                    </a:p>
                  </a:txBody>
                  <a:tcPr/>
                </a:tc>
                <a:extLst>
                  <a:ext uri="{0D108BD9-81ED-4DB2-BD59-A6C34878D82A}">
                    <a16:rowId xmlns:a16="http://schemas.microsoft.com/office/drawing/2014/main" val="3269199479"/>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With D3</a:t>
                      </a:r>
                    </a:p>
                  </a:txBody>
                  <a:tcPr/>
                </a:tc>
                <a:extLst>
                  <a:ext uri="{0D108BD9-81ED-4DB2-BD59-A6C34878D82A}">
                    <a16:rowId xmlns:a16="http://schemas.microsoft.com/office/drawing/2014/main" val="3021773155"/>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Caeser D4</a:t>
                      </a:r>
                    </a:p>
                  </a:txBody>
                  <a:tcPr/>
                </a:tc>
                <a:extLst>
                  <a:ext uri="{0D108BD9-81ED-4DB2-BD59-A6C34878D82A}">
                    <a16:rowId xmlns:a16="http://schemas.microsoft.com/office/drawing/2014/main" val="2810104744"/>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Noble  D5</a:t>
                      </a:r>
                    </a:p>
                  </a:txBody>
                  <a:tcPr/>
                </a:tc>
                <a:extLst>
                  <a:ext uri="{0D108BD9-81ED-4DB2-BD59-A6C34878D82A}">
                    <a16:rowId xmlns:a16="http://schemas.microsoft.com/office/drawing/2014/main" val="284696922"/>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With D5</a:t>
                      </a:r>
                    </a:p>
                  </a:txBody>
                  <a:tcPr/>
                </a:tc>
                <a:extLst>
                  <a:ext uri="{0D108BD9-81ED-4DB2-BD59-A6C34878D82A}">
                    <a16:rowId xmlns:a16="http://schemas.microsoft.com/office/drawing/2014/main" val="1462405806"/>
                  </a:ext>
                </a:extLst>
              </a:tr>
            </a:tbl>
          </a:graphicData>
        </a:graphic>
      </p:graphicFrame>
      <p:graphicFrame>
        <p:nvGraphicFramePr>
          <p:cNvPr id="6" name="Content Placeholder 4">
            <a:extLst>
              <a:ext uri="{FF2B5EF4-FFF2-40B4-BE49-F238E27FC236}">
                <a16:creationId xmlns:a16="http://schemas.microsoft.com/office/drawing/2014/main" id="{9524EA8F-FF43-D422-EE75-7CC1683DAF60}"/>
              </a:ext>
            </a:extLst>
          </p:cNvPr>
          <p:cNvGraphicFramePr>
            <a:graphicFrameLocks/>
          </p:cNvGraphicFramePr>
          <p:nvPr>
            <p:extLst>
              <p:ext uri="{D42A27DB-BD31-4B8C-83A1-F6EECF244321}">
                <p14:modId xmlns:p14="http://schemas.microsoft.com/office/powerpoint/2010/main" val="2290121423"/>
              </p:ext>
            </p:extLst>
          </p:nvPr>
        </p:nvGraphicFramePr>
        <p:xfrm>
          <a:off x="7007941" y="1896532"/>
          <a:ext cx="2287905" cy="1828800"/>
        </p:xfrm>
        <a:graphic>
          <a:graphicData uri="http://schemas.openxmlformats.org/drawingml/2006/table">
            <a:tbl>
              <a:tblPr firstRow="1" bandRow="1">
                <a:tableStyleId>{D7AC3CCA-C797-4891-BE02-D94E43425B78}</a:tableStyleId>
              </a:tblPr>
              <a:tblGrid>
                <a:gridCol w="2287905">
                  <a:extLst>
                    <a:ext uri="{9D8B030D-6E8A-4147-A177-3AD203B41FA5}">
                      <a16:colId xmlns:a16="http://schemas.microsoft.com/office/drawing/2014/main" val="2702117822"/>
                    </a:ext>
                  </a:extLst>
                </a:gridCol>
              </a:tblGrid>
              <a:tr h="331391">
                <a:tc>
                  <a:txBody>
                    <a:bodyPr/>
                    <a:lstStyle/>
                    <a:p>
                      <a:r>
                        <a:rPr lang="en-IN" dirty="0"/>
                        <a:t>Sorted Dictionary</a:t>
                      </a:r>
                    </a:p>
                  </a:txBody>
                  <a:tcPr/>
                </a:tc>
                <a:extLst>
                  <a:ext uri="{0D108BD9-81ED-4DB2-BD59-A6C34878D82A}">
                    <a16:rowId xmlns:a16="http://schemas.microsoft.com/office/drawing/2014/main" val="3851536327"/>
                  </a:ext>
                </a:extLst>
              </a:tr>
              <a:tr h="331391">
                <a:tc>
                  <a:txBody>
                    <a:bodyPr/>
                    <a:lstStyle/>
                    <a:p>
                      <a:r>
                        <a:rPr lang="en-IN" dirty="0"/>
                        <a:t>Brutus D1 D3</a:t>
                      </a:r>
                    </a:p>
                  </a:txBody>
                  <a:tcPr/>
                </a:tc>
                <a:extLst>
                  <a:ext uri="{0D108BD9-81ED-4DB2-BD59-A6C34878D82A}">
                    <a16:rowId xmlns:a16="http://schemas.microsoft.com/office/drawing/2014/main" val="1830851146"/>
                  </a:ext>
                </a:extLst>
              </a:tr>
              <a:tr h="331391">
                <a:tc>
                  <a:txBody>
                    <a:bodyPr/>
                    <a:lstStyle/>
                    <a:p>
                      <a:r>
                        <a:rPr lang="en-IN" dirty="0"/>
                        <a:t>Caeser  D1 D2 D4 </a:t>
                      </a:r>
                    </a:p>
                  </a:txBody>
                  <a:tcPr/>
                </a:tc>
                <a:extLst>
                  <a:ext uri="{0D108BD9-81ED-4DB2-BD59-A6C34878D82A}">
                    <a16:rowId xmlns:a16="http://schemas.microsoft.com/office/drawing/2014/main" val="1802320664"/>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Noble D5</a:t>
                      </a:r>
                    </a:p>
                  </a:txBody>
                  <a:tcPr/>
                </a:tc>
                <a:extLst>
                  <a:ext uri="{0D108BD9-81ED-4DB2-BD59-A6C34878D82A}">
                    <a16:rowId xmlns:a16="http://schemas.microsoft.com/office/drawing/2014/main" val="4186088689"/>
                  </a:ext>
                </a:extLst>
              </a:tr>
              <a:tr h="3313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With  D1 D2 D3 D4 D5</a:t>
                      </a:r>
                    </a:p>
                  </a:txBody>
                  <a:tcPr/>
                </a:tc>
                <a:extLst>
                  <a:ext uri="{0D108BD9-81ED-4DB2-BD59-A6C34878D82A}">
                    <a16:rowId xmlns:a16="http://schemas.microsoft.com/office/drawing/2014/main" val="4117159223"/>
                  </a:ext>
                </a:extLst>
              </a:tr>
            </a:tbl>
          </a:graphicData>
        </a:graphic>
      </p:graphicFrame>
    </p:spTree>
    <p:extLst>
      <p:ext uri="{BB962C8B-B14F-4D97-AF65-F5344CB8AC3E}">
        <p14:creationId xmlns:p14="http://schemas.microsoft.com/office/powerpoint/2010/main" val="1873452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F68DA-5EA6-110A-AE92-E41908476630}"/>
              </a:ext>
            </a:extLst>
          </p:cNvPr>
          <p:cNvSpPr>
            <a:spLocks noGrp="1"/>
          </p:cNvSpPr>
          <p:nvPr>
            <p:ph type="title"/>
          </p:nvPr>
        </p:nvSpPr>
        <p:spPr/>
        <p:txBody>
          <a:bodyPr/>
          <a:lstStyle/>
          <a:p>
            <a:r>
              <a:rPr lang="en-IN" dirty="0"/>
              <a:t>SPIMI: Compression </a:t>
            </a:r>
          </a:p>
        </p:txBody>
      </p:sp>
      <p:sp>
        <p:nvSpPr>
          <p:cNvPr id="3" name="Content Placeholder 2">
            <a:extLst>
              <a:ext uri="{FF2B5EF4-FFF2-40B4-BE49-F238E27FC236}">
                <a16:creationId xmlns:a16="http://schemas.microsoft.com/office/drawing/2014/main" id="{5522C408-23D3-5821-165C-9C77668E4A7C}"/>
              </a:ext>
            </a:extLst>
          </p:cNvPr>
          <p:cNvSpPr>
            <a:spLocks noGrp="1"/>
          </p:cNvSpPr>
          <p:nvPr>
            <p:ph idx="1"/>
          </p:nvPr>
        </p:nvSpPr>
        <p:spPr/>
        <p:txBody>
          <a:bodyPr/>
          <a:lstStyle/>
          <a:p>
            <a:r>
              <a:rPr lang="en-US" dirty="0"/>
              <a:t>Compression makes SPIMI even more efficient. </a:t>
            </a:r>
          </a:p>
          <a:p>
            <a:pPr lvl="1"/>
            <a:r>
              <a:rPr lang="en-US" dirty="0"/>
              <a:t>Compression of terms </a:t>
            </a:r>
          </a:p>
          <a:p>
            <a:pPr lvl="1"/>
            <a:r>
              <a:rPr lang="en-US" dirty="0"/>
              <a:t>Compression of postings</a:t>
            </a:r>
            <a:endParaRPr lang="en-IN" dirty="0"/>
          </a:p>
        </p:txBody>
      </p:sp>
    </p:spTree>
    <p:extLst>
      <p:ext uri="{BB962C8B-B14F-4D97-AF65-F5344CB8AC3E}">
        <p14:creationId xmlns:p14="http://schemas.microsoft.com/office/powerpoint/2010/main" val="3400538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66DD8-718B-FFD2-F9E3-0BBD4C50DB9F}"/>
              </a:ext>
            </a:extLst>
          </p:cNvPr>
          <p:cNvSpPr>
            <a:spLocks noGrp="1"/>
          </p:cNvSpPr>
          <p:nvPr>
            <p:ph type="title"/>
          </p:nvPr>
        </p:nvSpPr>
        <p:spPr/>
        <p:txBody>
          <a:bodyPr/>
          <a:lstStyle/>
          <a:p>
            <a:r>
              <a:rPr lang="en-IN" dirty="0"/>
              <a:t>Distributed Indexing</a:t>
            </a:r>
          </a:p>
        </p:txBody>
      </p:sp>
      <p:sp>
        <p:nvSpPr>
          <p:cNvPr id="3" name="Content Placeholder 2">
            <a:extLst>
              <a:ext uri="{FF2B5EF4-FFF2-40B4-BE49-F238E27FC236}">
                <a16:creationId xmlns:a16="http://schemas.microsoft.com/office/drawing/2014/main" id="{5BD9D5BA-AAB7-4F95-96D7-E6DEC0E9E49B}"/>
              </a:ext>
            </a:extLst>
          </p:cNvPr>
          <p:cNvSpPr>
            <a:spLocks noGrp="1"/>
          </p:cNvSpPr>
          <p:nvPr>
            <p:ph idx="1"/>
          </p:nvPr>
        </p:nvSpPr>
        <p:spPr/>
        <p:txBody>
          <a:bodyPr/>
          <a:lstStyle/>
          <a:p>
            <a:r>
              <a:rPr lang="en-US" dirty="0"/>
              <a:t>For web-scale indexing: must use a distributed computing cluster  </a:t>
            </a:r>
          </a:p>
          <a:p>
            <a:r>
              <a:rPr lang="en-US" dirty="0"/>
              <a:t>Individual machines are fault-prone </a:t>
            </a:r>
          </a:p>
          <a:p>
            <a:pPr lvl="1"/>
            <a:r>
              <a:rPr lang="en-US" dirty="0"/>
              <a:t>Can unpredictably slow down or fail </a:t>
            </a:r>
          </a:p>
          <a:p>
            <a:r>
              <a:rPr lang="en-US" dirty="0"/>
              <a:t>How do we exploit such a pool of machines?</a:t>
            </a:r>
            <a:endParaRPr lang="en-IN" dirty="0"/>
          </a:p>
        </p:txBody>
      </p:sp>
    </p:spTree>
    <p:extLst>
      <p:ext uri="{BB962C8B-B14F-4D97-AF65-F5344CB8AC3E}">
        <p14:creationId xmlns:p14="http://schemas.microsoft.com/office/powerpoint/2010/main" val="1276709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93C76-3284-C232-F98B-CD067018EEBE}"/>
              </a:ext>
            </a:extLst>
          </p:cNvPr>
          <p:cNvSpPr>
            <a:spLocks noGrp="1"/>
          </p:cNvSpPr>
          <p:nvPr>
            <p:ph type="title"/>
          </p:nvPr>
        </p:nvSpPr>
        <p:spPr/>
        <p:txBody>
          <a:bodyPr/>
          <a:lstStyle/>
          <a:p>
            <a:r>
              <a:rPr lang="en-IN" dirty="0"/>
              <a:t>Google Data Centre</a:t>
            </a:r>
          </a:p>
        </p:txBody>
      </p:sp>
      <p:sp>
        <p:nvSpPr>
          <p:cNvPr id="3" name="Content Placeholder 2">
            <a:extLst>
              <a:ext uri="{FF2B5EF4-FFF2-40B4-BE49-F238E27FC236}">
                <a16:creationId xmlns:a16="http://schemas.microsoft.com/office/drawing/2014/main" id="{C0637BB9-E252-8A19-791F-5A8690053BDB}"/>
              </a:ext>
            </a:extLst>
          </p:cNvPr>
          <p:cNvSpPr>
            <a:spLocks noGrp="1"/>
          </p:cNvSpPr>
          <p:nvPr>
            <p:ph idx="1"/>
          </p:nvPr>
        </p:nvSpPr>
        <p:spPr/>
        <p:txBody>
          <a:bodyPr/>
          <a:lstStyle/>
          <a:p>
            <a:r>
              <a:rPr lang="en-US" dirty="0"/>
              <a:t>Google data centers mainly contain commodity machines  </a:t>
            </a:r>
          </a:p>
          <a:p>
            <a:r>
              <a:rPr lang="en-US" dirty="0"/>
              <a:t>Data centers are distributed around the world </a:t>
            </a:r>
          </a:p>
          <a:p>
            <a:r>
              <a:rPr lang="en-US" dirty="0"/>
              <a:t>Estimate: a total of 2 million servers </a:t>
            </a:r>
          </a:p>
          <a:p>
            <a:r>
              <a:rPr lang="en-US" dirty="0"/>
              <a:t>Estimate: Google installs 100,000 servers each quarter </a:t>
            </a:r>
          </a:p>
          <a:p>
            <a:pPr lvl="1"/>
            <a:r>
              <a:rPr lang="en-US" dirty="0"/>
              <a:t>Based on expenditures of 200–250 million dollars per year </a:t>
            </a:r>
          </a:p>
          <a:p>
            <a:r>
              <a:rPr lang="en-US" dirty="0"/>
              <a:t>This would be 10% of the computing capacity of the world!?!</a:t>
            </a:r>
            <a:endParaRPr lang="en-IN" dirty="0"/>
          </a:p>
        </p:txBody>
      </p:sp>
    </p:spTree>
    <p:extLst>
      <p:ext uri="{BB962C8B-B14F-4D97-AF65-F5344CB8AC3E}">
        <p14:creationId xmlns:p14="http://schemas.microsoft.com/office/powerpoint/2010/main" val="1128267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7F5F-4E25-8DC0-FF2A-F6B1FC73C57C}"/>
              </a:ext>
            </a:extLst>
          </p:cNvPr>
          <p:cNvSpPr>
            <a:spLocks noGrp="1"/>
          </p:cNvSpPr>
          <p:nvPr>
            <p:ph type="title"/>
          </p:nvPr>
        </p:nvSpPr>
        <p:spPr/>
        <p:txBody>
          <a:bodyPr/>
          <a:lstStyle/>
          <a:p>
            <a:r>
              <a:rPr lang="en-IN" dirty="0"/>
              <a:t>Google Data Centre</a:t>
            </a:r>
          </a:p>
        </p:txBody>
      </p:sp>
      <p:sp>
        <p:nvSpPr>
          <p:cNvPr id="3" name="Content Placeholder 2">
            <a:extLst>
              <a:ext uri="{FF2B5EF4-FFF2-40B4-BE49-F238E27FC236}">
                <a16:creationId xmlns:a16="http://schemas.microsoft.com/office/drawing/2014/main" id="{DC466FDE-6EDC-46A9-39B7-963B9EBCA575}"/>
              </a:ext>
            </a:extLst>
          </p:cNvPr>
          <p:cNvSpPr>
            <a:spLocks noGrp="1"/>
          </p:cNvSpPr>
          <p:nvPr>
            <p:ph idx="1"/>
          </p:nvPr>
        </p:nvSpPr>
        <p:spPr/>
        <p:txBody>
          <a:bodyPr/>
          <a:lstStyle/>
          <a:p>
            <a:r>
              <a:rPr lang="en-US" dirty="0"/>
              <a:t>Consider a non-fault-tolerant system with 1000 nodes </a:t>
            </a:r>
          </a:p>
          <a:p>
            <a:r>
              <a:rPr lang="en-US" dirty="0"/>
              <a:t>Each node has 99.9% availability (probability to be up in a time unit), what is the availability of the system? </a:t>
            </a:r>
          </a:p>
          <a:p>
            <a:pPr lvl="1"/>
            <a:r>
              <a:rPr lang="en-US" dirty="0"/>
              <a:t>All of them should be simultaneously up </a:t>
            </a:r>
          </a:p>
          <a:p>
            <a:pPr lvl="1"/>
            <a:r>
              <a:rPr lang="en-US" dirty="0"/>
              <a:t>Answer: 37% </a:t>
            </a:r>
          </a:p>
          <a:p>
            <a:pPr lvl="1"/>
            <a:r>
              <a:rPr lang="en-US" dirty="0"/>
              <a:t>(p of staying up)# of server = (0.999)1000 </a:t>
            </a:r>
          </a:p>
        </p:txBody>
      </p:sp>
    </p:spTree>
    <p:extLst>
      <p:ext uri="{BB962C8B-B14F-4D97-AF65-F5344CB8AC3E}">
        <p14:creationId xmlns:p14="http://schemas.microsoft.com/office/powerpoint/2010/main" val="3287129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2A9D-F221-967A-0478-F45014E00A93}"/>
              </a:ext>
            </a:extLst>
          </p:cNvPr>
          <p:cNvSpPr>
            <a:spLocks noGrp="1"/>
          </p:cNvSpPr>
          <p:nvPr>
            <p:ph type="title"/>
          </p:nvPr>
        </p:nvSpPr>
        <p:spPr/>
        <p:txBody>
          <a:bodyPr/>
          <a:lstStyle/>
          <a:p>
            <a:r>
              <a:rPr lang="en-IN" dirty="0"/>
              <a:t>Distributed Indexing</a:t>
            </a:r>
          </a:p>
        </p:txBody>
      </p:sp>
      <p:sp>
        <p:nvSpPr>
          <p:cNvPr id="3" name="Content Placeholder 2">
            <a:extLst>
              <a:ext uri="{FF2B5EF4-FFF2-40B4-BE49-F238E27FC236}">
                <a16:creationId xmlns:a16="http://schemas.microsoft.com/office/drawing/2014/main" id="{4F5C99A9-4B41-9829-9ED0-02C93C13145C}"/>
              </a:ext>
            </a:extLst>
          </p:cNvPr>
          <p:cNvSpPr>
            <a:spLocks noGrp="1"/>
          </p:cNvSpPr>
          <p:nvPr>
            <p:ph idx="1"/>
          </p:nvPr>
        </p:nvSpPr>
        <p:spPr/>
        <p:txBody>
          <a:bodyPr/>
          <a:lstStyle/>
          <a:p>
            <a:r>
              <a:rPr lang="en-US" dirty="0"/>
              <a:t>Maintain a master machine directing the indexing job – considered “safe” </a:t>
            </a:r>
          </a:p>
          <a:p>
            <a:r>
              <a:rPr lang="en-US" dirty="0"/>
              <a:t>Break up indexing into sets of (parallel) tasks </a:t>
            </a:r>
          </a:p>
          <a:p>
            <a:r>
              <a:rPr lang="en-US" dirty="0"/>
              <a:t>Master machine assigns each task to an idle machine from a pool. </a:t>
            </a:r>
            <a:endParaRPr lang="en-IN" dirty="0"/>
          </a:p>
        </p:txBody>
      </p:sp>
    </p:spTree>
    <p:extLst>
      <p:ext uri="{BB962C8B-B14F-4D97-AF65-F5344CB8AC3E}">
        <p14:creationId xmlns:p14="http://schemas.microsoft.com/office/powerpoint/2010/main" val="1700415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C3A3-F3E7-1238-5560-AACA2DA984E3}"/>
              </a:ext>
            </a:extLst>
          </p:cNvPr>
          <p:cNvSpPr>
            <a:spLocks noGrp="1"/>
          </p:cNvSpPr>
          <p:nvPr>
            <p:ph type="title"/>
          </p:nvPr>
        </p:nvSpPr>
        <p:spPr/>
        <p:txBody>
          <a:bodyPr/>
          <a:lstStyle/>
          <a:p>
            <a:r>
              <a:rPr lang="en-IN" dirty="0"/>
              <a:t>Parallel Task</a:t>
            </a:r>
          </a:p>
        </p:txBody>
      </p:sp>
      <p:sp>
        <p:nvSpPr>
          <p:cNvPr id="3" name="Content Placeholder 2">
            <a:extLst>
              <a:ext uri="{FF2B5EF4-FFF2-40B4-BE49-F238E27FC236}">
                <a16:creationId xmlns:a16="http://schemas.microsoft.com/office/drawing/2014/main" id="{D08EFE19-B219-ED0D-A31F-DAF9EE0C925A}"/>
              </a:ext>
            </a:extLst>
          </p:cNvPr>
          <p:cNvSpPr>
            <a:spLocks noGrp="1"/>
          </p:cNvSpPr>
          <p:nvPr>
            <p:ph idx="1"/>
          </p:nvPr>
        </p:nvSpPr>
        <p:spPr/>
        <p:txBody>
          <a:bodyPr/>
          <a:lstStyle/>
          <a:p>
            <a:r>
              <a:rPr lang="en-US" dirty="0"/>
              <a:t>We will use two sets of parallel tasks </a:t>
            </a:r>
          </a:p>
          <a:p>
            <a:pPr lvl="1"/>
            <a:r>
              <a:rPr lang="en-US" dirty="0"/>
              <a:t>Parsers </a:t>
            </a:r>
          </a:p>
          <a:p>
            <a:pPr lvl="1"/>
            <a:r>
              <a:rPr lang="en-US" dirty="0"/>
              <a:t>Inverters </a:t>
            </a:r>
          </a:p>
          <a:p>
            <a:r>
              <a:rPr lang="en-US" dirty="0"/>
              <a:t>Break the input document collection into splits</a:t>
            </a:r>
          </a:p>
          <a:p>
            <a:endParaRPr lang="en-US" dirty="0"/>
          </a:p>
          <a:p>
            <a:endParaRPr lang="en-US" dirty="0"/>
          </a:p>
          <a:p>
            <a:endParaRPr lang="en-US" dirty="0"/>
          </a:p>
          <a:p>
            <a:r>
              <a:rPr lang="en-US" dirty="0"/>
              <a:t>Each split is a subset of documents (corresponding to blocks in BSBI/SPIMI)</a:t>
            </a:r>
            <a:endParaRPr lang="en-IN" dirty="0"/>
          </a:p>
        </p:txBody>
      </p:sp>
      <p:pic>
        <p:nvPicPr>
          <p:cNvPr id="5" name="Picture 4">
            <a:extLst>
              <a:ext uri="{FF2B5EF4-FFF2-40B4-BE49-F238E27FC236}">
                <a16:creationId xmlns:a16="http://schemas.microsoft.com/office/drawing/2014/main" id="{C95A9B6D-D5ED-D178-BF82-B74818183E10}"/>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176529" y="3527908"/>
            <a:ext cx="6721665" cy="1740431"/>
          </a:xfrm>
          <a:prstGeom prst="rect">
            <a:avLst/>
          </a:prstGeom>
        </p:spPr>
      </p:pic>
    </p:spTree>
    <p:extLst>
      <p:ext uri="{BB962C8B-B14F-4D97-AF65-F5344CB8AC3E}">
        <p14:creationId xmlns:p14="http://schemas.microsoft.com/office/powerpoint/2010/main" val="260732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81D9-3DFD-5799-BDB1-31BF7DEDBAA6}"/>
              </a:ext>
            </a:extLst>
          </p:cNvPr>
          <p:cNvSpPr>
            <a:spLocks noGrp="1"/>
          </p:cNvSpPr>
          <p:nvPr>
            <p:ph type="title"/>
          </p:nvPr>
        </p:nvSpPr>
        <p:spPr/>
        <p:txBody>
          <a:bodyPr/>
          <a:lstStyle/>
          <a:p>
            <a:r>
              <a:rPr lang="en-IN" dirty="0"/>
              <a:t>Parser</a:t>
            </a:r>
          </a:p>
        </p:txBody>
      </p:sp>
      <p:sp>
        <p:nvSpPr>
          <p:cNvPr id="3" name="Content Placeholder 2">
            <a:extLst>
              <a:ext uri="{FF2B5EF4-FFF2-40B4-BE49-F238E27FC236}">
                <a16:creationId xmlns:a16="http://schemas.microsoft.com/office/drawing/2014/main" id="{8F17EC9D-3AFA-2E61-3983-34EE0776142E}"/>
              </a:ext>
            </a:extLst>
          </p:cNvPr>
          <p:cNvSpPr>
            <a:spLocks noGrp="1"/>
          </p:cNvSpPr>
          <p:nvPr>
            <p:ph idx="1"/>
          </p:nvPr>
        </p:nvSpPr>
        <p:spPr/>
        <p:txBody>
          <a:bodyPr/>
          <a:lstStyle/>
          <a:p>
            <a:r>
              <a:rPr lang="en-US" dirty="0"/>
              <a:t>Master assigns a split to an idle parser machine </a:t>
            </a:r>
          </a:p>
          <a:p>
            <a:r>
              <a:rPr lang="en-US" dirty="0"/>
              <a:t>Parser reads a document at a time and emits (term, doc-id) pairs </a:t>
            </a:r>
          </a:p>
          <a:p>
            <a:r>
              <a:rPr lang="en-US" dirty="0"/>
              <a:t>Parser writes pairs into j partitions </a:t>
            </a:r>
          </a:p>
          <a:p>
            <a:r>
              <a:rPr lang="en-US" dirty="0"/>
              <a:t>Each partition is for a range of terms’ first letters </a:t>
            </a:r>
          </a:p>
          <a:p>
            <a:pPr lvl="1"/>
            <a:r>
              <a:rPr lang="en-US" dirty="0"/>
              <a:t>(e.g., a-f, g-p, q-z) – here j = 3. </a:t>
            </a:r>
          </a:p>
          <a:p>
            <a:r>
              <a:rPr lang="en-US" dirty="0"/>
              <a:t>Now to complete the index inversion …</a:t>
            </a:r>
            <a:endParaRPr lang="en-IN" dirty="0"/>
          </a:p>
        </p:txBody>
      </p:sp>
      <p:pic>
        <p:nvPicPr>
          <p:cNvPr id="5" name="Picture 4">
            <a:extLst>
              <a:ext uri="{FF2B5EF4-FFF2-40B4-BE49-F238E27FC236}">
                <a16:creationId xmlns:a16="http://schemas.microsoft.com/office/drawing/2014/main" id="{EDD8A444-9688-B5C5-CF69-1DCA81FDE21C}"/>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900773" y="4789741"/>
            <a:ext cx="6797629" cy="975445"/>
          </a:xfrm>
          <a:prstGeom prst="rect">
            <a:avLst/>
          </a:prstGeom>
        </p:spPr>
      </p:pic>
    </p:spTree>
    <p:extLst>
      <p:ext uri="{BB962C8B-B14F-4D97-AF65-F5344CB8AC3E}">
        <p14:creationId xmlns:p14="http://schemas.microsoft.com/office/powerpoint/2010/main" val="1928706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2F80B-DB56-0E0E-7702-BFC12BA5B7CE}"/>
              </a:ext>
            </a:extLst>
          </p:cNvPr>
          <p:cNvSpPr>
            <a:spLocks noGrp="1"/>
          </p:cNvSpPr>
          <p:nvPr>
            <p:ph type="title"/>
          </p:nvPr>
        </p:nvSpPr>
        <p:spPr/>
        <p:txBody>
          <a:bodyPr/>
          <a:lstStyle/>
          <a:p>
            <a:r>
              <a:rPr lang="en-IN" dirty="0"/>
              <a:t>Inverter</a:t>
            </a:r>
          </a:p>
        </p:txBody>
      </p:sp>
      <p:sp>
        <p:nvSpPr>
          <p:cNvPr id="3" name="Content Placeholder 2">
            <a:extLst>
              <a:ext uri="{FF2B5EF4-FFF2-40B4-BE49-F238E27FC236}">
                <a16:creationId xmlns:a16="http://schemas.microsoft.com/office/drawing/2014/main" id="{C4CD9BE0-96CB-D555-F58B-4E7FC5C209F0}"/>
              </a:ext>
            </a:extLst>
          </p:cNvPr>
          <p:cNvSpPr>
            <a:spLocks noGrp="1"/>
          </p:cNvSpPr>
          <p:nvPr>
            <p:ph idx="1"/>
          </p:nvPr>
        </p:nvSpPr>
        <p:spPr/>
        <p:txBody>
          <a:bodyPr/>
          <a:lstStyle/>
          <a:p>
            <a:r>
              <a:rPr lang="en-US" dirty="0"/>
              <a:t>An inverter collects all (term-id, doc-id) pairs (= postings) for one term-partition (from the different segments produced by the parsers) </a:t>
            </a:r>
          </a:p>
          <a:p>
            <a:r>
              <a:rPr lang="en-US" dirty="0"/>
              <a:t>Sorts and writes to postings lists. </a:t>
            </a:r>
            <a:endParaRPr lang="en-IN" dirty="0"/>
          </a:p>
        </p:txBody>
      </p:sp>
      <p:pic>
        <p:nvPicPr>
          <p:cNvPr id="5" name="Picture 4">
            <a:extLst>
              <a:ext uri="{FF2B5EF4-FFF2-40B4-BE49-F238E27FC236}">
                <a16:creationId xmlns:a16="http://schemas.microsoft.com/office/drawing/2014/main" id="{2ECC40FF-96E1-CB51-74BB-F5C25C699BA4}"/>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043595" y="3308912"/>
            <a:ext cx="5881206" cy="3183963"/>
          </a:xfrm>
          <a:prstGeom prst="rect">
            <a:avLst/>
          </a:prstGeom>
        </p:spPr>
      </p:pic>
    </p:spTree>
    <p:extLst>
      <p:ext uri="{BB962C8B-B14F-4D97-AF65-F5344CB8AC3E}">
        <p14:creationId xmlns:p14="http://schemas.microsoft.com/office/powerpoint/2010/main" val="3913784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00B9-63DD-757E-C275-31293062C5DA}"/>
              </a:ext>
            </a:extLst>
          </p:cNvPr>
          <p:cNvSpPr>
            <a:spLocks noGrp="1"/>
          </p:cNvSpPr>
          <p:nvPr>
            <p:ph type="title"/>
          </p:nvPr>
        </p:nvSpPr>
        <p:spPr/>
        <p:txBody>
          <a:bodyPr/>
          <a:lstStyle/>
          <a:p>
            <a:r>
              <a:rPr lang="en-IN" dirty="0"/>
              <a:t>Data flow: MapReduce</a:t>
            </a:r>
          </a:p>
        </p:txBody>
      </p:sp>
      <p:sp>
        <p:nvSpPr>
          <p:cNvPr id="3" name="Content Placeholder 2">
            <a:extLst>
              <a:ext uri="{FF2B5EF4-FFF2-40B4-BE49-F238E27FC236}">
                <a16:creationId xmlns:a16="http://schemas.microsoft.com/office/drawing/2014/main" id="{9888CDDC-714E-2501-09AC-8E14EF4DE03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17EEE95-C31B-7C89-F94A-23568301EFEF}"/>
              </a:ext>
            </a:extLst>
          </p:cNvPr>
          <p:cNvPicPr>
            <a:picLocks noChangeAspect="1"/>
          </p:cNvPicPr>
          <p:nvPr/>
        </p:nvPicPr>
        <p:blipFill>
          <a:blip r:embed="rId2"/>
          <a:stretch>
            <a:fillRect/>
          </a:stretch>
        </p:blipFill>
        <p:spPr>
          <a:xfrm>
            <a:off x="1438684" y="1690688"/>
            <a:ext cx="7805606" cy="4765319"/>
          </a:xfrm>
          <a:prstGeom prst="rect">
            <a:avLst/>
          </a:prstGeom>
        </p:spPr>
      </p:pic>
    </p:spTree>
    <p:extLst>
      <p:ext uri="{BB962C8B-B14F-4D97-AF65-F5344CB8AC3E}">
        <p14:creationId xmlns:p14="http://schemas.microsoft.com/office/powerpoint/2010/main" val="2947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9657-ACCA-D9E3-A678-8D51165DFD3F}"/>
              </a:ext>
            </a:extLst>
          </p:cNvPr>
          <p:cNvSpPr>
            <a:spLocks noGrp="1"/>
          </p:cNvSpPr>
          <p:nvPr>
            <p:ph type="title"/>
          </p:nvPr>
        </p:nvSpPr>
        <p:spPr/>
        <p:txBody>
          <a:bodyPr/>
          <a:lstStyle/>
          <a:p>
            <a:r>
              <a:rPr lang="en-IN" dirty="0"/>
              <a:t>Map Reduce</a:t>
            </a:r>
          </a:p>
        </p:txBody>
      </p:sp>
      <p:sp>
        <p:nvSpPr>
          <p:cNvPr id="3" name="Content Placeholder 2">
            <a:extLst>
              <a:ext uri="{FF2B5EF4-FFF2-40B4-BE49-F238E27FC236}">
                <a16:creationId xmlns:a16="http://schemas.microsoft.com/office/drawing/2014/main" id="{A0DFC3B9-4E42-8F7A-D231-9D86A2EF561E}"/>
              </a:ext>
            </a:extLst>
          </p:cNvPr>
          <p:cNvSpPr>
            <a:spLocks noGrp="1"/>
          </p:cNvSpPr>
          <p:nvPr>
            <p:ph idx="1"/>
          </p:nvPr>
        </p:nvSpPr>
        <p:spPr/>
        <p:txBody>
          <a:bodyPr>
            <a:normAutofit/>
          </a:bodyPr>
          <a:lstStyle/>
          <a:p>
            <a:r>
              <a:rPr lang="en-US" dirty="0"/>
              <a:t>The index construction algorithm we just described is an instance of MapReduce </a:t>
            </a:r>
          </a:p>
          <a:p>
            <a:r>
              <a:rPr lang="en-US" dirty="0"/>
              <a:t>MapReduce (Dean and Ghemawat 2004) is a robust and conceptually simple framework for distributed computing … </a:t>
            </a:r>
          </a:p>
          <a:p>
            <a:pPr lvl="1"/>
            <a:r>
              <a:rPr lang="en-US" dirty="0"/>
              <a:t>… without having to write code for the distribution part </a:t>
            </a:r>
          </a:p>
          <a:p>
            <a:r>
              <a:rPr lang="en-US" dirty="0"/>
              <a:t>Solve large computing problems on cheap commodity machines or nodes that are built from standard parts (processor, memory, disk) as opposed to on a supercomputer with specialized hardware </a:t>
            </a:r>
          </a:p>
          <a:p>
            <a:r>
              <a:rPr lang="en-US" dirty="0"/>
              <a:t>They describe the Google indexing system (ca. 2002) as consisting of a number of phases, each implemented in MapReduce. </a:t>
            </a:r>
            <a:endParaRPr lang="en-IN" dirty="0"/>
          </a:p>
        </p:txBody>
      </p:sp>
    </p:spTree>
    <p:extLst>
      <p:ext uri="{BB962C8B-B14F-4D97-AF65-F5344CB8AC3E}">
        <p14:creationId xmlns:p14="http://schemas.microsoft.com/office/powerpoint/2010/main" val="663866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6ADE3-D2AF-C589-77C4-4FBDD8781EF2}"/>
              </a:ext>
            </a:extLst>
          </p:cNvPr>
          <p:cNvSpPr>
            <a:spLocks noGrp="1"/>
          </p:cNvSpPr>
          <p:nvPr>
            <p:ph type="title"/>
          </p:nvPr>
        </p:nvSpPr>
        <p:spPr/>
        <p:txBody>
          <a:bodyPr/>
          <a:lstStyle/>
          <a:p>
            <a:r>
              <a:rPr lang="en-IN" dirty="0"/>
              <a:t>MapReduce</a:t>
            </a:r>
          </a:p>
        </p:txBody>
      </p:sp>
      <p:sp>
        <p:nvSpPr>
          <p:cNvPr id="3" name="Content Placeholder 2">
            <a:extLst>
              <a:ext uri="{FF2B5EF4-FFF2-40B4-BE49-F238E27FC236}">
                <a16:creationId xmlns:a16="http://schemas.microsoft.com/office/drawing/2014/main" id="{FE95BFDF-B7E1-C8FA-6708-E680EB53B646}"/>
              </a:ext>
            </a:extLst>
          </p:cNvPr>
          <p:cNvSpPr>
            <a:spLocks noGrp="1"/>
          </p:cNvSpPr>
          <p:nvPr>
            <p:ph idx="1"/>
          </p:nvPr>
        </p:nvSpPr>
        <p:spPr/>
        <p:txBody>
          <a:bodyPr/>
          <a:lstStyle/>
          <a:p>
            <a:r>
              <a:rPr lang="en-US" dirty="0"/>
              <a:t>Index construction was just one phase </a:t>
            </a:r>
          </a:p>
          <a:p>
            <a:r>
              <a:rPr lang="en-US" dirty="0"/>
              <a:t>Another phase (not shown here): transforming a term-partitioned index into a document-partitioned index (for query processing) </a:t>
            </a:r>
          </a:p>
          <a:p>
            <a:pPr lvl="1"/>
            <a:r>
              <a:rPr lang="en-US" dirty="0"/>
              <a:t>Term-partitioned: one machine handles a subrange of terms </a:t>
            </a:r>
          </a:p>
          <a:p>
            <a:pPr lvl="1"/>
            <a:r>
              <a:rPr lang="en-US" dirty="0"/>
              <a:t>Document-partitioned: one machine handles a subrange of documents </a:t>
            </a:r>
          </a:p>
          <a:p>
            <a:r>
              <a:rPr lang="en-US" dirty="0"/>
              <a:t>As we will discuss in the web part of the course - most search engines use a document-partitioned index … better load balancing, etc.</a:t>
            </a:r>
            <a:endParaRPr lang="en-IN" dirty="0"/>
          </a:p>
        </p:txBody>
      </p:sp>
    </p:spTree>
    <p:extLst>
      <p:ext uri="{BB962C8B-B14F-4D97-AF65-F5344CB8AC3E}">
        <p14:creationId xmlns:p14="http://schemas.microsoft.com/office/powerpoint/2010/main" val="4217731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E580-43AC-CCC8-7FC8-4D8D5D5298EF}"/>
              </a:ext>
            </a:extLst>
          </p:cNvPr>
          <p:cNvSpPr>
            <a:spLocks noGrp="1"/>
          </p:cNvSpPr>
          <p:nvPr>
            <p:ph type="title"/>
          </p:nvPr>
        </p:nvSpPr>
        <p:spPr/>
        <p:txBody>
          <a:bodyPr/>
          <a:lstStyle/>
          <a:p>
            <a:r>
              <a:rPr lang="en-IN" dirty="0"/>
              <a:t>Schema for index construction in MapReduce</a:t>
            </a:r>
          </a:p>
        </p:txBody>
      </p:sp>
      <p:sp>
        <p:nvSpPr>
          <p:cNvPr id="3" name="Content Placeholder 2">
            <a:extLst>
              <a:ext uri="{FF2B5EF4-FFF2-40B4-BE49-F238E27FC236}">
                <a16:creationId xmlns:a16="http://schemas.microsoft.com/office/drawing/2014/main" id="{055D36F2-FB0C-DF15-CCBA-7EBA891A1716}"/>
              </a:ext>
            </a:extLst>
          </p:cNvPr>
          <p:cNvSpPr>
            <a:spLocks noGrp="1"/>
          </p:cNvSpPr>
          <p:nvPr>
            <p:ph idx="1"/>
          </p:nvPr>
        </p:nvSpPr>
        <p:spPr/>
        <p:txBody>
          <a:bodyPr>
            <a:normAutofit fontScale="92500" lnSpcReduction="10000"/>
          </a:bodyPr>
          <a:lstStyle/>
          <a:p>
            <a:r>
              <a:rPr kumimoji="0" lang="en-US" altLang="en-US" sz="2800" b="0" i="0" u="none" strike="noStrike" cap="none" normalizeH="0" baseline="0" dirty="0">
                <a:ln>
                  <a:noFill/>
                </a:ln>
                <a:solidFill>
                  <a:schemeClr val="tx1"/>
                </a:solidFill>
                <a:effectLst/>
                <a:latin typeface="Arial" panose="020B0604020202020204" pitchFamily="34" charset="0"/>
              </a:rPr>
              <a:t>Schema of map and reduce functions </a:t>
            </a:r>
            <a:endParaRPr lang="en-US" altLang="en-US" dirty="0">
              <a:latin typeface="Arial" panose="020B0604020202020204" pitchFamily="34" charset="0"/>
            </a:endParaRPr>
          </a:p>
          <a:p>
            <a:r>
              <a:rPr kumimoji="0" lang="en-US" altLang="en-US" sz="2800" b="0" i="0" u="none" strike="noStrike" cap="none" normalizeH="0" baseline="0" dirty="0">
                <a:ln>
                  <a:noFill/>
                </a:ln>
                <a:solidFill>
                  <a:schemeClr val="tx1"/>
                </a:solidFill>
                <a:effectLst/>
                <a:latin typeface="Arial" panose="020B0604020202020204" pitchFamily="34" charset="0"/>
              </a:rPr>
              <a:t>map: input → list(k, v) reduce: (</a:t>
            </a:r>
            <a:r>
              <a:rPr kumimoji="0" lang="en-US" altLang="en-US" sz="2800" b="0" i="0" u="none" strike="noStrike" cap="none" normalizeH="0" baseline="0" dirty="0" err="1">
                <a:ln>
                  <a:noFill/>
                </a:ln>
                <a:solidFill>
                  <a:schemeClr val="tx1"/>
                </a:solidFill>
                <a:effectLst/>
                <a:latin typeface="Arial" panose="020B0604020202020204" pitchFamily="34" charset="0"/>
              </a:rPr>
              <a:t>k,list</a:t>
            </a:r>
            <a:r>
              <a:rPr kumimoji="0" lang="en-US" altLang="en-US" sz="2800" b="0" i="0" u="none" strike="noStrike" cap="none" normalizeH="0" baseline="0" dirty="0">
                <a:ln>
                  <a:noFill/>
                </a:ln>
                <a:solidFill>
                  <a:schemeClr val="tx1"/>
                </a:solidFill>
                <a:effectLst/>
                <a:latin typeface="Arial" panose="020B0604020202020204" pitchFamily="34" charset="0"/>
              </a:rPr>
              <a:t>(v)) → output </a:t>
            </a:r>
          </a:p>
          <a:p>
            <a:r>
              <a:rPr kumimoji="0" lang="en-US" altLang="en-US" sz="2800" b="0" i="0" u="none" strike="noStrike" cap="none" normalizeH="0" baseline="0" dirty="0">
                <a:ln>
                  <a:noFill/>
                </a:ln>
                <a:solidFill>
                  <a:schemeClr val="tx1"/>
                </a:solidFill>
                <a:effectLst/>
                <a:latin typeface="Arial" panose="020B0604020202020204" pitchFamily="34" charset="0"/>
              </a:rPr>
              <a:t>Instantiation of the schema for index construction </a:t>
            </a:r>
          </a:p>
          <a:p>
            <a:r>
              <a:rPr kumimoji="0" lang="en-US" altLang="en-US" sz="2800" b="0" i="0" u="none" strike="noStrike" cap="none" normalizeH="0" baseline="0" dirty="0">
                <a:ln>
                  <a:noFill/>
                </a:ln>
                <a:solidFill>
                  <a:schemeClr val="tx1"/>
                </a:solidFill>
                <a:effectLst/>
                <a:latin typeface="Arial" panose="020B0604020202020204" pitchFamily="34" charset="0"/>
              </a:rPr>
              <a:t>map: web collection → list(</a:t>
            </a:r>
            <a:r>
              <a:rPr kumimoji="0" lang="en-US" altLang="en-US" sz="2800" b="0" i="0" u="none" strike="noStrike" cap="none" normalizeH="0" baseline="0" dirty="0" err="1">
                <a:ln>
                  <a:noFill/>
                </a:ln>
                <a:solidFill>
                  <a:schemeClr val="tx1"/>
                </a:solidFill>
                <a:effectLst/>
                <a:latin typeface="Arial" panose="020B0604020202020204" pitchFamily="34" charset="0"/>
              </a:rPr>
              <a:t>termID</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0" u="none" strike="noStrike" cap="none" normalizeH="0" baseline="0" dirty="0" err="1">
                <a:ln>
                  <a:noFill/>
                </a:ln>
                <a:solidFill>
                  <a:schemeClr val="tx1"/>
                </a:solidFill>
                <a:effectLst/>
                <a:latin typeface="Arial" panose="020B0604020202020204" pitchFamily="34" charset="0"/>
              </a:rPr>
              <a:t>docID</a:t>
            </a:r>
            <a:r>
              <a:rPr kumimoji="0" lang="en-US" altLang="en-US" sz="2800" b="0" i="0" u="none" strike="noStrike" cap="none" normalizeH="0" baseline="0" dirty="0">
                <a:ln>
                  <a:noFill/>
                </a:ln>
                <a:solidFill>
                  <a:schemeClr val="tx1"/>
                </a:solidFill>
                <a:effectLst/>
                <a:latin typeface="Arial" panose="020B0604020202020204" pitchFamily="34" charset="0"/>
              </a:rPr>
              <a:t>) </a:t>
            </a:r>
          </a:p>
          <a:p>
            <a:r>
              <a:rPr kumimoji="0" lang="en-US" altLang="en-US" sz="2800" b="0" i="0" u="none" strike="noStrike" cap="none" normalizeH="0" baseline="0" dirty="0">
                <a:ln>
                  <a:noFill/>
                </a:ln>
                <a:solidFill>
                  <a:schemeClr val="tx1"/>
                </a:solidFill>
                <a:effectLst/>
                <a:latin typeface="Arial" panose="020B0604020202020204" pitchFamily="34" charset="0"/>
              </a:rPr>
              <a:t>reduce: (, , …) → (postings list1, postings list2, …) </a:t>
            </a:r>
          </a:p>
          <a:p>
            <a:r>
              <a:rPr kumimoji="0" lang="en-US" altLang="en-US" sz="2800" b="0" i="0" u="none" strike="noStrike" cap="none" normalizeH="0" baseline="0" dirty="0">
                <a:ln>
                  <a:noFill/>
                </a:ln>
                <a:solidFill>
                  <a:schemeClr val="tx1"/>
                </a:solidFill>
                <a:effectLst/>
                <a:latin typeface="Arial" panose="020B0604020202020204" pitchFamily="34" charset="0"/>
              </a:rPr>
              <a:t>Example for index construction </a:t>
            </a:r>
            <a:endParaRPr lang="en-US" altLang="en-US" dirty="0">
              <a:latin typeface="Arial" panose="020B0604020202020204" pitchFamily="34" charset="0"/>
            </a:endParaRPr>
          </a:p>
          <a:p>
            <a:r>
              <a:rPr kumimoji="0" lang="en-US" altLang="en-US" sz="2800" b="0" i="0" u="none" strike="noStrike" cap="none" normalizeH="0" baseline="0" dirty="0">
                <a:ln>
                  <a:noFill/>
                </a:ln>
                <a:solidFill>
                  <a:schemeClr val="tx1"/>
                </a:solidFill>
                <a:effectLst/>
                <a:latin typeface="Arial" panose="020B0604020202020204" pitchFamily="34" charset="0"/>
              </a:rPr>
              <a:t>map: (d2 : "C died.", d1 : "C came, C </a:t>
            </a:r>
            <a:r>
              <a:rPr kumimoji="0" lang="en-US" altLang="en-US" sz="2800" b="0" i="0" u="none" strike="noStrike" cap="none" normalizeH="0" baseline="0" dirty="0" err="1">
                <a:ln>
                  <a:noFill/>
                </a:ln>
                <a:solidFill>
                  <a:schemeClr val="tx1"/>
                </a:solidFill>
                <a:effectLst/>
                <a:latin typeface="Arial" panose="020B0604020202020204" pitchFamily="34" charset="0"/>
              </a:rPr>
              <a:t>c’ed</a:t>
            </a:r>
            <a:r>
              <a:rPr kumimoji="0" lang="en-US" altLang="en-US" sz="2800" b="0" i="0" u="none" strike="noStrike" cap="none" normalizeH="0" baseline="0" dirty="0">
                <a:ln>
                  <a:noFill/>
                </a:ln>
                <a:solidFill>
                  <a:schemeClr val="tx1"/>
                </a:solidFill>
                <a:effectLst/>
                <a:latin typeface="Arial" panose="020B0604020202020204" pitchFamily="34" charset="0"/>
              </a:rPr>
              <a:t>.") → (&lt;C,d2&gt;,&lt;died,d2&gt;,&lt;C,d1&gt;,&lt;came,d1&gt;,&lt;C,d1&gt;,&lt;C’ed,d1&gt;</a:t>
            </a:r>
          </a:p>
          <a:p>
            <a:r>
              <a:rPr kumimoji="0" lang="en-US" altLang="en-US" sz="2800" b="0" i="0" u="none" strike="noStrike" cap="none" normalizeH="0" baseline="0" dirty="0">
                <a:ln>
                  <a:noFill/>
                </a:ln>
                <a:solidFill>
                  <a:schemeClr val="tx1"/>
                </a:solidFill>
                <a:effectLst/>
                <a:latin typeface="Arial" panose="020B0604020202020204" pitchFamily="34" charset="0"/>
              </a:rPr>
              <a:t>reduce: (&lt;C,d2,d1,d1&gt;,&lt;died,d2&gt;,&lt;came,d1&gt;,&lt;C’ed,d1&gt; → (&lt;C,(d1:2,d2:1)&gt;,&lt;died,(d2:1)&gt;,&lt;came,(d1:1)&gt;) </a:t>
            </a:r>
          </a:p>
          <a:p>
            <a:endParaRPr lang="en-IN" dirty="0"/>
          </a:p>
        </p:txBody>
      </p:sp>
    </p:spTree>
    <p:extLst>
      <p:ext uri="{BB962C8B-B14F-4D97-AF65-F5344CB8AC3E}">
        <p14:creationId xmlns:p14="http://schemas.microsoft.com/office/powerpoint/2010/main" val="2904249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69E76-2217-495B-DCC8-72887C8B8CDB}"/>
              </a:ext>
            </a:extLst>
          </p:cNvPr>
          <p:cNvSpPr>
            <a:spLocks noGrp="1"/>
          </p:cNvSpPr>
          <p:nvPr>
            <p:ph type="title"/>
          </p:nvPr>
        </p:nvSpPr>
        <p:spPr/>
        <p:txBody>
          <a:bodyPr/>
          <a:lstStyle/>
          <a:p>
            <a:r>
              <a:rPr lang="en-IN" dirty="0"/>
              <a:t>Dynamic Indexing</a:t>
            </a:r>
          </a:p>
        </p:txBody>
      </p:sp>
      <p:sp>
        <p:nvSpPr>
          <p:cNvPr id="3" name="Content Placeholder 2">
            <a:extLst>
              <a:ext uri="{FF2B5EF4-FFF2-40B4-BE49-F238E27FC236}">
                <a16:creationId xmlns:a16="http://schemas.microsoft.com/office/drawing/2014/main" id="{3933089F-7B5C-13B0-80A9-60BAA77070C3}"/>
              </a:ext>
            </a:extLst>
          </p:cNvPr>
          <p:cNvSpPr>
            <a:spLocks noGrp="1"/>
          </p:cNvSpPr>
          <p:nvPr>
            <p:ph idx="1"/>
          </p:nvPr>
        </p:nvSpPr>
        <p:spPr/>
        <p:txBody>
          <a:bodyPr/>
          <a:lstStyle/>
          <a:p>
            <a:r>
              <a:rPr lang="en-US" dirty="0"/>
              <a:t>Up to now, we have assumed that collections are static </a:t>
            </a:r>
          </a:p>
          <a:p>
            <a:r>
              <a:rPr lang="en-US" dirty="0"/>
              <a:t>They rarely are: </a:t>
            </a:r>
          </a:p>
          <a:p>
            <a:pPr lvl="1"/>
            <a:r>
              <a:rPr lang="en-US" dirty="0"/>
              <a:t>Documents come in over time and need to be inserted </a:t>
            </a:r>
          </a:p>
          <a:p>
            <a:pPr lvl="1"/>
            <a:r>
              <a:rPr lang="en-US" dirty="0"/>
              <a:t>Documents are deleted and modified </a:t>
            </a:r>
          </a:p>
          <a:p>
            <a:r>
              <a:rPr lang="en-US" dirty="0"/>
              <a:t>This means that the dictionary and postings lists have to be modified: </a:t>
            </a:r>
          </a:p>
          <a:p>
            <a:pPr lvl="1"/>
            <a:r>
              <a:rPr lang="en-US" dirty="0"/>
              <a:t>Postings updates for terms already in dictionary </a:t>
            </a:r>
          </a:p>
          <a:p>
            <a:pPr lvl="1"/>
            <a:r>
              <a:rPr lang="en-US" dirty="0"/>
              <a:t>New terms added to dictionary</a:t>
            </a:r>
            <a:endParaRPr lang="en-IN" dirty="0"/>
          </a:p>
        </p:txBody>
      </p:sp>
    </p:spTree>
    <p:extLst>
      <p:ext uri="{BB962C8B-B14F-4D97-AF65-F5344CB8AC3E}">
        <p14:creationId xmlns:p14="http://schemas.microsoft.com/office/powerpoint/2010/main" val="3383005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3850-343B-1F88-8180-AF2ED190492B}"/>
              </a:ext>
            </a:extLst>
          </p:cNvPr>
          <p:cNvSpPr>
            <a:spLocks noGrp="1"/>
          </p:cNvSpPr>
          <p:nvPr>
            <p:ph type="title"/>
          </p:nvPr>
        </p:nvSpPr>
        <p:spPr/>
        <p:txBody>
          <a:bodyPr/>
          <a:lstStyle/>
          <a:p>
            <a:r>
              <a:rPr lang="en-IN" dirty="0"/>
              <a:t>Simplest Approach</a:t>
            </a:r>
          </a:p>
        </p:txBody>
      </p:sp>
      <p:sp>
        <p:nvSpPr>
          <p:cNvPr id="3" name="Content Placeholder 2">
            <a:extLst>
              <a:ext uri="{FF2B5EF4-FFF2-40B4-BE49-F238E27FC236}">
                <a16:creationId xmlns:a16="http://schemas.microsoft.com/office/drawing/2014/main" id="{B9B2A5D4-3C73-42F7-1A0F-95FCAC4511C5}"/>
              </a:ext>
            </a:extLst>
          </p:cNvPr>
          <p:cNvSpPr>
            <a:spLocks noGrp="1"/>
          </p:cNvSpPr>
          <p:nvPr>
            <p:ph idx="1"/>
          </p:nvPr>
        </p:nvSpPr>
        <p:spPr/>
        <p:txBody>
          <a:bodyPr/>
          <a:lstStyle/>
          <a:p>
            <a:r>
              <a:rPr lang="en-IN" dirty="0"/>
              <a:t>Maintain big main index  </a:t>
            </a:r>
          </a:p>
          <a:p>
            <a:r>
              <a:rPr lang="en-IN" dirty="0"/>
              <a:t>New docs go into small auxiliary index </a:t>
            </a:r>
          </a:p>
          <a:p>
            <a:r>
              <a:rPr lang="en-IN" dirty="0"/>
              <a:t>Search across both, merge results </a:t>
            </a:r>
          </a:p>
          <a:p>
            <a:r>
              <a:rPr lang="en-IN" dirty="0"/>
              <a:t>Deletions </a:t>
            </a:r>
          </a:p>
          <a:p>
            <a:pPr lvl="1"/>
            <a:r>
              <a:rPr lang="en-IN" dirty="0"/>
              <a:t>Invalidation bit-vector for deleted docs </a:t>
            </a:r>
          </a:p>
          <a:p>
            <a:pPr lvl="1"/>
            <a:r>
              <a:rPr lang="en-IN" dirty="0"/>
              <a:t>Filter docs output on a search result by this invalidation bit-vector </a:t>
            </a:r>
          </a:p>
          <a:p>
            <a:r>
              <a:rPr lang="en-IN" dirty="0"/>
              <a:t>Periodically, re-index into one main index.</a:t>
            </a:r>
          </a:p>
        </p:txBody>
      </p:sp>
    </p:spTree>
    <p:extLst>
      <p:ext uri="{BB962C8B-B14F-4D97-AF65-F5344CB8AC3E}">
        <p14:creationId xmlns:p14="http://schemas.microsoft.com/office/powerpoint/2010/main" val="3762432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33ADF-8404-0D7F-DB65-BAB44F3A59CB}"/>
              </a:ext>
            </a:extLst>
          </p:cNvPr>
          <p:cNvSpPr>
            <a:spLocks noGrp="1"/>
          </p:cNvSpPr>
          <p:nvPr>
            <p:ph type="title"/>
          </p:nvPr>
        </p:nvSpPr>
        <p:spPr/>
        <p:txBody>
          <a:bodyPr/>
          <a:lstStyle/>
          <a:p>
            <a:r>
              <a:rPr lang="en-IN" dirty="0"/>
              <a:t>Issues with main and Auxiliary indexes</a:t>
            </a:r>
          </a:p>
        </p:txBody>
      </p:sp>
      <p:sp>
        <p:nvSpPr>
          <p:cNvPr id="3" name="Content Placeholder 2">
            <a:extLst>
              <a:ext uri="{FF2B5EF4-FFF2-40B4-BE49-F238E27FC236}">
                <a16:creationId xmlns:a16="http://schemas.microsoft.com/office/drawing/2014/main" id="{F3388B57-1024-17EB-19A8-8C327A931FE8}"/>
              </a:ext>
            </a:extLst>
          </p:cNvPr>
          <p:cNvSpPr>
            <a:spLocks noGrp="1"/>
          </p:cNvSpPr>
          <p:nvPr>
            <p:ph idx="1"/>
          </p:nvPr>
        </p:nvSpPr>
        <p:spPr/>
        <p:txBody>
          <a:bodyPr>
            <a:normAutofit lnSpcReduction="10000"/>
          </a:bodyPr>
          <a:lstStyle/>
          <a:p>
            <a:r>
              <a:rPr lang="en-US" dirty="0"/>
              <a:t>Problem of frequent merges – you touch stuff a lot </a:t>
            </a:r>
          </a:p>
          <a:p>
            <a:r>
              <a:rPr lang="en-US" dirty="0"/>
              <a:t>Poor performance during merge </a:t>
            </a:r>
          </a:p>
          <a:p>
            <a:r>
              <a:rPr lang="en-US" dirty="0"/>
              <a:t>Actually: </a:t>
            </a:r>
          </a:p>
          <a:p>
            <a:pPr lvl="1"/>
            <a:r>
              <a:rPr lang="en-US" dirty="0"/>
              <a:t>Merging of the auxiliary index into the main index is efficient if we keep a separate file for each postings list </a:t>
            </a:r>
          </a:p>
          <a:p>
            <a:pPr lvl="1"/>
            <a:r>
              <a:rPr lang="en-US" dirty="0"/>
              <a:t>Merge is the same as a simple append </a:t>
            </a:r>
          </a:p>
          <a:p>
            <a:pPr lvl="1"/>
            <a:r>
              <a:rPr lang="en-US" dirty="0"/>
              <a:t>But then we would need a lot of files – inefficient for the OS</a:t>
            </a:r>
          </a:p>
          <a:p>
            <a:r>
              <a:rPr lang="en-US"/>
              <a:t>Assumption : </a:t>
            </a:r>
            <a:r>
              <a:rPr lang="en-US" dirty="0"/>
              <a:t>The index is one big file </a:t>
            </a:r>
          </a:p>
          <a:p>
            <a:r>
              <a:rPr lang="en-US" dirty="0"/>
              <a:t>In reality: use a scheme somewhere in between (e.g., split very large postings lists, collect postings lists of length 1 in one file etc.).</a:t>
            </a:r>
            <a:endParaRPr lang="en-IN" dirty="0"/>
          </a:p>
        </p:txBody>
      </p:sp>
    </p:spTree>
    <p:extLst>
      <p:ext uri="{BB962C8B-B14F-4D97-AF65-F5344CB8AC3E}">
        <p14:creationId xmlns:p14="http://schemas.microsoft.com/office/powerpoint/2010/main" val="28657428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666B-9FA2-DC2C-883F-2B22B7E59F39}"/>
              </a:ext>
            </a:extLst>
          </p:cNvPr>
          <p:cNvSpPr>
            <a:spLocks noGrp="1"/>
          </p:cNvSpPr>
          <p:nvPr>
            <p:ph type="title"/>
          </p:nvPr>
        </p:nvSpPr>
        <p:spPr/>
        <p:txBody>
          <a:bodyPr/>
          <a:lstStyle/>
          <a:p>
            <a:r>
              <a:rPr lang="en-IN" dirty="0"/>
              <a:t>Logarithmic Merge</a:t>
            </a:r>
          </a:p>
        </p:txBody>
      </p:sp>
      <p:sp>
        <p:nvSpPr>
          <p:cNvPr id="3" name="Content Placeholder 2">
            <a:extLst>
              <a:ext uri="{FF2B5EF4-FFF2-40B4-BE49-F238E27FC236}">
                <a16:creationId xmlns:a16="http://schemas.microsoft.com/office/drawing/2014/main" id="{252D1F87-0BAB-E3CF-34E1-459EDC4A51EA}"/>
              </a:ext>
            </a:extLst>
          </p:cNvPr>
          <p:cNvSpPr>
            <a:spLocks noGrp="1"/>
          </p:cNvSpPr>
          <p:nvPr>
            <p:ph idx="1"/>
          </p:nvPr>
        </p:nvSpPr>
        <p:spPr/>
        <p:txBody>
          <a:bodyPr/>
          <a:lstStyle/>
          <a:p>
            <a:r>
              <a:rPr lang="en-US" dirty="0"/>
              <a:t>Maintain a series of indexes, each twice as large as the previous one  </a:t>
            </a:r>
          </a:p>
          <a:p>
            <a:r>
              <a:rPr lang="en-US" dirty="0"/>
              <a:t>Keep smallest (Z0) in memory </a:t>
            </a:r>
          </a:p>
          <a:p>
            <a:r>
              <a:rPr lang="en-US" dirty="0"/>
              <a:t>Larger ones (I0, I1, …) on disk </a:t>
            </a:r>
          </a:p>
          <a:p>
            <a:r>
              <a:rPr lang="en-US" dirty="0"/>
              <a:t>If Z0 gets too big (&gt; n), write to disk as I0 </a:t>
            </a:r>
          </a:p>
          <a:p>
            <a:r>
              <a:rPr lang="en-US" dirty="0"/>
              <a:t>or merge with I0 (if I0 already exists) as Z1 </a:t>
            </a:r>
          </a:p>
          <a:p>
            <a:r>
              <a:rPr lang="en-US" dirty="0"/>
              <a:t>Either write merge Z1 to disk as I1 (if no I1) </a:t>
            </a:r>
          </a:p>
          <a:p>
            <a:r>
              <a:rPr lang="en-US" dirty="0"/>
              <a:t>Or merge with I1 to form Z2 </a:t>
            </a:r>
          </a:p>
          <a:p>
            <a:r>
              <a:rPr lang="en-US" dirty="0"/>
              <a:t>etc.</a:t>
            </a:r>
            <a:endParaRPr lang="en-IN" dirty="0"/>
          </a:p>
        </p:txBody>
      </p:sp>
    </p:spTree>
    <p:extLst>
      <p:ext uri="{BB962C8B-B14F-4D97-AF65-F5344CB8AC3E}">
        <p14:creationId xmlns:p14="http://schemas.microsoft.com/office/powerpoint/2010/main" val="1288608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AEC42-5059-D005-0B39-40E0B6D31C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09E3A2-3AC6-0FBD-4784-C2BCB57CE62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F84B511-6249-F1CD-29F9-7B7D20A47248}"/>
              </a:ext>
            </a:extLst>
          </p:cNvPr>
          <p:cNvPicPr>
            <a:picLocks noChangeAspect="1"/>
          </p:cNvPicPr>
          <p:nvPr/>
        </p:nvPicPr>
        <p:blipFill>
          <a:blip r:embed="rId2"/>
          <a:stretch>
            <a:fillRect/>
          </a:stretch>
        </p:blipFill>
        <p:spPr>
          <a:xfrm>
            <a:off x="1001774" y="510657"/>
            <a:ext cx="8733277" cy="5982218"/>
          </a:xfrm>
          <a:prstGeom prst="rect">
            <a:avLst/>
          </a:prstGeom>
        </p:spPr>
      </p:pic>
    </p:spTree>
    <p:extLst>
      <p:ext uri="{BB962C8B-B14F-4D97-AF65-F5344CB8AC3E}">
        <p14:creationId xmlns:p14="http://schemas.microsoft.com/office/powerpoint/2010/main" val="661752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07297-D410-BADE-E0F1-9F730144A51D}"/>
              </a:ext>
            </a:extLst>
          </p:cNvPr>
          <p:cNvSpPr>
            <a:spLocks noGrp="1"/>
          </p:cNvSpPr>
          <p:nvPr>
            <p:ph type="title"/>
          </p:nvPr>
        </p:nvSpPr>
        <p:spPr/>
        <p:txBody>
          <a:bodyPr/>
          <a:lstStyle/>
          <a:p>
            <a:r>
              <a:rPr lang="en-IN" dirty="0"/>
              <a:t>Logarithmic Merge</a:t>
            </a:r>
          </a:p>
        </p:txBody>
      </p:sp>
      <p:sp>
        <p:nvSpPr>
          <p:cNvPr id="3" name="Content Placeholder 2">
            <a:extLst>
              <a:ext uri="{FF2B5EF4-FFF2-40B4-BE49-F238E27FC236}">
                <a16:creationId xmlns:a16="http://schemas.microsoft.com/office/drawing/2014/main" id="{99B8980F-8E26-06CD-5FE4-5B37BA87BBA4}"/>
              </a:ext>
            </a:extLst>
          </p:cNvPr>
          <p:cNvSpPr>
            <a:spLocks noGrp="1"/>
          </p:cNvSpPr>
          <p:nvPr>
            <p:ph idx="1"/>
          </p:nvPr>
        </p:nvSpPr>
        <p:spPr/>
        <p:txBody>
          <a:bodyPr/>
          <a:lstStyle/>
          <a:p>
            <a:r>
              <a:rPr lang="en-US" dirty="0"/>
              <a:t>Auxiliary and main index: index construction time is O(T2) as each posting is touched in each merge </a:t>
            </a:r>
          </a:p>
          <a:p>
            <a:r>
              <a:rPr lang="en-US" dirty="0"/>
              <a:t>Logarithmic merge: Each posting is merged O(log T) times, so complexity is O(T log T) </a:t>
            </a:r>
          </a:p>
          <a:p>
            <a:r>
              <a:rPr lang="en-US" dirty="0"/>
              <a:t>So, logarithmic merge is much more efficient for index construction </a:t>
            </a:r>
          </a:p>
          <a:p>
            <a:r>
              <a:rPr lang="en-US" dirty="0"/>
              <a:t>But query processing now requires the merging of O(log T) indexes </a:t>
            </a:r>
          </a:p>
          <a:p>
            <a:pPr lvl="1"/>
            <a:r>
              <a:rPr lang="en-US" dirty="0"/>
              <a:t>Whereas it is O(1) if you just have a main and auxiliary index</a:t>
            </a:r>
            <a:endParaRPr lang="en-IN" dirty="0"/>
          </a:p>
        </p:txBody>
      </p:sp>
    </p:spTree>
    <p:extLst>
      <p:ext uri="{BB962C8B-B14F-4D97-AF65-F5344CB8AC3E}">
        <p14:creationId xmlns:p14="http://schemas.microsoft.com/office/powerpoint/2010/main" val="3910746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CE88-6BF1-C9D3-A905-5C19CC6388FE}"/>
              </a:ext>
            </a:extLst>
          </p:cNvPr>
          <p:cNvSpPr>
            <a:spLocks noGrp="1"/>
          </p:cNvSpPr>
          <p:nvPr>
            <p:ph type="title"/>
          </p:nvPr>
        </p:nvSpPr>
        <p:spPr/>
        <p:txBody>
          <a:bodyPr/>
          <a:lstStyle/>
          <a:p>
            <a:r>
              <a:rPr lang="en-IN" dirty="0"/>
              <a:t>Further Issues with Multiple Indexes</a:t>
            </a:r>
          </a:p>
        </p:txBody>
      </p:sp>
      <p:sp>
        <p:nvSpPr>
          <p:cNvPr id="3" name="Content Placeholder 2">
            <a:extLst>
              <a:ext uri="{FF2B5EF4-FFF2-40B4-BE49-F238E27FC236}">
                <a16:creationId xmlns:a16="http://schemas.microsoft.com/office/drawing/2014/main" id="{709FB73C-F786-8FB9-D699-2213C44B4C20}"/>
              </a:ext>
            </a:extLst>
          </p:cNvPr>
          <p:cNvSpPr>
            <a:spLocks noGrp="1"/>
          </p:cNvSpPr>
          <p:nvPr>
            <p:ph idx="1"/>
          </p:nvPr>
        </p:nvSpPr>
        <p:spPr/>
        <p:txBody>
          <a:bodyPr/>
          <a:lstStyle/>
          <a:p>
            <a:r>
              <a:rPr lang="en-US" dirty="0"/>
              <a:t>Collection-wide statistics are hard to maintain </a:t>
            </a:r>
          </a:p>
          <a:p>
            <a:r>
              <a:rPr lang="en-US" dirty="0"/>
              <a:t>E.g., when we spoke of spell-correction: which of several corrected alternatives do we present to the user? </a:t>
            </a:r>
          </a:p>
          <a:p>
            <a:pPr lvl="1"/>
            <a:r>
              <a:rPr lang="en-US" dirty="0"/>
              <a:t>We said, pick the one with the most hits </a:t>
            </a:r>
          </a:p>
          <a:p>
            <a:r>
              <a:rPr lang="en-US" dirty="0"/>
              <a:t>How do we maintain the top ones with multiple indexes and invalidation bit vectors? </a:t>
            </a:r>
          </a:p>
          <a:p>
            <a:pPr lvl="1"/>
            <a:r>
              <a:rPr lang="en-US" dirty="0"/>
              <a:t>One possibility: ignore everything but the main index for such ordering </a:t>
            </a:r>
          </a:p>
          <a:p>
            <a:r>
              <a:rPr lang="en-US" dirty="0"/>
              <a:t>Will see more such statistics used in results ranking.</a:t>
            </a:r>
            <a:endParaRPr lang="en-IN" dirty="0"/>
          </a:p>
        </p:txBody>
      </p:sp>
    </p:spTree>
    <p:extLst>
      <p:ext uri="{BB962C8B-B14F-4D97-AF65-F5344CB8AC3E}">
        <p14:creationId xmlns:p14="http://schemas.microsoft.com/office/powerpoint/2010/main" val="2106547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C130-D5F4-FDEF-1160-5F0802199949}"/>
              </a:ext>
            </a:extLst>
          </p:cNvPr>
          <p:cNvSpPr>
            <a:spLocks noGrp="1"/>
          </p:cNvSpPr>
          <p:nvPr>
            <p:ph type="title"/>
          </p:nvPr>
        </p:nvSpPr>
        <p:spPr/>
        <p:txBody>
          <a:bodyPr/>
          <a:lstStyle/>
          <a:p>
            <a:r>
              <a:rPr lang="en-IN" dirty="0"/>
              <a:t>Dynamic Indexing at Search Engine</a:t>
            </a:r>
          </a:p>
        </p:txBody>
      </p:sp>
      <p:sp>
        <p:nvSpPr>
          <p:cNvPr id="3" name="Content Placeholder 2">
            <a:extLst>
              <a:ext uri="{FF2B5EF4-FFF2-40B4-BE49-F238E27FC236}">
                <a16:creationId xmlns:a16="http://schemas.microsoft.com/office/drawing/2014/main" id="{8638F07F-B45E-9ED7-8F60-6D1B761B72FC}"/>
              </a:ext>
            </a:extLst>
          </p:cNvPr>
          <p:cNvSpPr>
            <a:spLocks noGrp="1"/>
          </p:cNvSpPr>
          <p:nvPr>
            <p:ph idx="1"/>
          </p:nvPr>
        </p:nvSpPr>
        <p:spPr/>
        <p:txBody>
          <a:bodyPr/>
          <a:lstStyle/>
          <a:p>
            <a:r>
              <a:rPr lang="en-US" dirty="0"/>
              <a:t>All the large search engines now do dynamic indexing  </a:t>
            </a:r>
          </a:p>
          <a:p>
            <a:r>
              <a:rPr lang="en-US" dirty="0"/>
              <a:t>Their indices have frequent incremental changes </a:t>
            </a:r>
          </a:p>
          <a:p>
            <a:pPr lvl="1"/>
            <a:r>
              <a:rPr lang="en-US" dirty="0"/>
              <a:t>News items, blogs, new topical web pages </a:t>
            </a:r>
          </a:p>
          <a:p>
            <a:pPr lvl="2"/>
            <a:r>
              <a:rPr lang="en-US" dirty="0"/>
              <a:t>Grillo, Crimea, … </a:t>
            </a:r>
          </a:p>
          <a:p>
            <a:r>
              <a:rPr lang="en-US" dirty="0"/>
              <a:t>But (sometimes/typically) they also periodically reconstruct the index from scratch </a:t>
            </a:r>
          </a:p>
          <a:p>
            <a:pPr lvl="1"/>
            <a:r>
              <a:rPr lang="en-US" dirty="0"/>
              <a:t>Query processing is then switched to the new index, and the old index is then deleted</a:t>
            </a:r>
            <a:endParaRPr lang="en-IN" dirty="0"/>
          </a:p>
        </p:txBody>
      </p:sp>
    </p:spTree>
    <p:extLst>
      <p:ext uri="{BB962C8B-B14F-4D97-AF65-F5344CB8AC3E}">
        <p14:creationId xmlns:p14="http://schemas.microsoft.com/office/powerpoint/2010/main" val="539617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9C325-D93C-0B69-DB05-74910BAEEB3D}"/>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83D125F6-6BBB-5005-02DB-6090E5C6BB0A}"/>
              </a:ext>
            </a:extLst>
          </p:cNvPr>
          <p:cNvSpPr>
            <a:spLocks noGrp="1"/>
          </p:cNvSpPr>
          <p:nvPr>
            <p:ph idx="1"/>
          </p:nvPr>
        </p:nvSpPr>
        <p:spPr/>
        <p:txBody>
          <a:bodyPr>
            <a:normAutofit lnSpcReduction="10000"/>
          </a:bodyPr>
          <a:lstStyle/>
          <a:p>
            <a:r>
              <a:rPr lang="en-US" altLang="en-US" dirty="0"/>
              <a:t>Sort-based indexing</a:t>
            </a:r>
          </a:p>
          <a:p>
            <a:pPr lvl="1"/>
            <a:r>
              <a:rPr lang="en-US" altLang="en-US" dirty="0"/>
              <a:t>Naïve in-memory inversion</a:t>
            </a:r>
          </a:p>
          <a:p>
            <a:pPr lvl="1"/>
            <a:r>
              <a:rPr lang="en-US" altLang="en-US" dirty="0"/>
              <a:t>Blocked Sort-Based Indexing</a:t>
            </a:r>
          </a:p>
          <a:p>
            <a:pPr lvl="2"/>
            <a:r>
              <a:rPr lang="en-US" altLang="en-US" dirty="0"/>
              <a:t>Merge sort is effective for disk-based sorting (avoid seeks!)</a:t>
            </a:r>
          </a:p>
          <a:p>
            <a:r>
              <a:rPr lang="en-US" altLang="en-US" dirty="0"/>
              <a:t>Single-Pass In-Memory Indexing</a:t>
            </a:r>
          </a:p>
          <a:p>
            <a:pPr lvl="1"/>
            <a:r>
              <a:rPr lang="en-US" altLang="en-US" dirty="0"/>
              <a:t>No global dictionary</a:t>
            </a:r>
          </a:p>
          <a:p>
            <a:pPr lvl="2"/>
            <a:r>
              <a:rPr lang="en-US" altLang="en-US" dirty="0"/>
              <a:t>Generate separate dictionary for each block</a:t>
            </a:r>
          </a:p>
          <a:p>
            <a:pPr lvl="1"/>
            <a:r>
              <a:rPr lang="en-US" altLang="en-US" dirty="0"/>
              <a:t>Don’t sort postings</a:t>
            </a:r>
          </a:p>
          <a:p>
            <a:pPr lvl="2"/>
            <a:r>
              <a:rPr lang="en-US" altLang="en-US" dirty="0"/>
              <a:t>Accumulate postings in postings lists as they occur</a:t>
            </a:r>
          </a:p>
          <a:p>
            <a:r>
              <a:rPr lang="en-US" altLang="en-US" dirty="0"/>
              <a:t>Distributed indexing using MapReduce</a:t>
            </a:r>
          </a:p>
          <a:p>
            <a:r>
              <a:rPr lang="en-US" altLang="en-US" dirty="0"/>
              <a:t>Dynamic indexing: Multiple indices, logarithmic merge</a:t>
            </a:r>
          </a:p>
          <a:p>
            <a:endParaRPr lang="en-IN" dirty="0"/>
          </a:p>
        </p:txBody>
      </p:sp>
    </p:spTree>
    <p:extLst>
      <p:ext uri="{BB962C8B-B14F-4D97-AF65-F5344CB8AC3E}">
        <p14:creationId xmlns:p14="http://schemas.microsoft.com/office/powerpoint/2010/main" val="2952261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A6E0-FF00-EA9B-FDE8-6CCB799352C2}"/>
              </a:ext>
            </a:extLst>
          </p:cNvPr>
          <p:cNvSpPr>
            <a:spLocks noGrp="1"/>
          </p:cNvSpPr>
          <p:nvPr>
            <p:ph type="title"/>
          </p:nvPr>
        </p:nvSpPr>
        <p:spPr/>
        <p:txBody>
          <a:bodyPr/>
          <a:lstStyle/>
          <a:p>
            <a:r>
              <a:rPr lang="en-IN" dirty="0"/>
              <a:t>Why Compression</a:t>
            </a:r>
          </a:p>
        </p:txBody>
      </p:sp>
      <p:sp>
        <p:nvSpPr>
          <p:cNvPr id="3" name="Content Placeholder 2">
            <a:extLst>
              <a:ext uri="{FF2B5EF4-FFF2-40B4-BE49-F238E27FC236}">
                <a16:creationId xmlns:a16="http://schemas.microsoft.com/office/drawing/2014/main" id="{FA5D6584-FF1B-9FB0-ADBB-A8051B0D010F}"/>
              </a:ext>
            </a:extLst>
          </p:cNvPr>
          <p:cNvSpPr>
            <a:spLocks noGrp="1"/>
          </p:cNvSpPr>
          <p:nvPr>
            <p:ph idx="1"/>
          </p:nvPr>
        </p:nvSpPr>
        <p:spPr/>
        <p:txBody>
          <a:bodyPr/>
          <a:lstStyle/>
          <a:p>
            <a:r>
              <a:rPr lang="en-US" altLang="en-US" dirty="0"/>
              <a:t>Use less disk space</a:t>
            </a:r>
          </a:p>
          <a:p>
            <a:pPr lvl="1"/>
            <a:r>
              <a:rPr lang="en-US" altLang="en-US" dirty="0"/>
              <a:t>Saves a little money</a:t>
            </a:r>
          </a:p>
          <a:p>
            <a:r>
              <a:rPr lang="en-US" altLang="en-US" dirty="0"/>
              <a:t>Keep more stuff in memory</a:t>
            </a:r>
          </a:p>
          <a:p>
            <a:pPr lvl="1"/>
            <a:r>
              <a:rPr lang="en-US" altLang="en-US" dirty="0"/>
              <a:t>Increases speed</a:t>
            </a:r>
          </a:p>
          <a:p>
            <a:r>
              <a:rPr lang="en-US" altLang="en-US" dirty="0"/>
              <a:t>Increase speed of data transfer from disk to memory</a:t>
            </a:r>
          </a:p>
          <a:p>
            <a:pPr lvl="1"/>
            <a:r>
              <a:rPr lang="en-US" altLang="en-US" dirty="0"/>
              <a:t>[read compressed data | decompress] is faster than     [read uncompressed data]</a:t>
            </a:r>
          </a:p>
          <a:p>
            <a:pPr lvl="1"/>
            <a:r>
              <a:rPr lang="en-US" altLang="en-US" dirty="0"/>
              <a:t>Premise: Decompression algorithms are fast</a:t>
            </a:r>
          </a:p>
          <a:p>
            <a:pPr lvl="2"/>
            <a:r>
              <a:rPr lang="en-US" altLang="en-US" dirty="0"/>
              <a:t>True of the decompression algorithms we use</a:t>
            </a:r>
            <a:endParaRPr lang="en-IN" dirty="0"/>
          </a:p>
        </p:txBody>
      </p:sp>
    </p:spTree>
    <p:extLst>
      <p:ext uri="{BB962C8B-B14F-4D97-AF65-F5344CB8AC3E}">
        <p14:creationId xmlns:p14="http://schemas.microsoft.com/office/powerpoint/2010/main" val="4001416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8E3F-BA95-DDD9-1170-F83B23BDAF00}"/>
              </a:ext>
            </a:extLst>
          </p:cNvPr>
          <p:cNvSpPr>
            <a:spLocks noGrp="1"/>
          </p:cNvSpPr>
          <p:nvPr>
            <p:ph type="title"/>
          </p:nvPr>
        </p:nvSpPr>
        <p:spPr/>
        <p:txBody>
          <a:bodyPr/>
          <a:lstStyle/>
          <a:p>
            <a:r>
              <a:rPr lang="en-IN" dirty="0"/>
              <a:t>Why Compression for Inverted Index</a:t>
            </a:r>
          </a:p>
        </p:txBody>
      </p:sp>
      <p:sp>
        <p:nvSpPr>
          <p:cNvPr id="3" name="Content Placeholder 2">
            <a:extLst>
              <a:ext uri="{FF2B5EF4-FFF2-40B4-BE49-F238E27FC236}">
                <a16:creationId xmlns:a16="http://schemas.microsoft.com/office/drawing/2014/main" id="{1089E2CB-13A1-37A5-B8DE-08AFF73A1F03}"/>
              </a:ext>
            </a:extLst>
          </p:cNvPr>
          <p:cNvSpPr>
            <a:spLocks noGrp="1"/>
          </p:cNvSpPr>
          <p:nvPr>
            <p:ph idx="1"/>
          </p:nvPr>
        </p:nvSpPr>
        <p:spPr/>
        <p:txBody>
          <a:bodyPr/>
          <a:lstStyle/>
          <a:p>
            <a:r>
              <a:rPr lang="en-US" altLang="en-US" sz="2600" dirty="0"/>
              <a:t>Dictionary</a:t>
            </a:r>
          </a:p>
          <a:p>
            <a:pPr lvl="1"/>
            <a:r>
              <a:rPr lang="en-US" altLang="en-US" dirty="0"/>
              <a:t>Make it small enough to keep in main memory</a:t>
            </a:r>
          </a:p>
          <a:p>
            <a:pPr lvl="1"/>
            <a:r>
              <a:rPr lang="en-US" altLang="en-US" dirty="0"/>
              <a:t>Make it so small that you can keep some postings lists in main memory too</a:t>
            </a:r>
          </a:p>
          <a:p>
            <a:r>
              <a:rPr lang="en-US" altLang="en-US" sz="2600" dirty="0"/>
              <a:t>Postings file(s)</a:t>
            </a:r>
          </a:p>
          <a:p>
            <a:pPr lvl="1"/>
            <a:r>
              <a:rPr lang="en-US" altLang="en-US" dirty="0"/>
              <a:t>Reduce disk space needed</a:t>
            </a:r>
          </a:p>
          <a:p>
            <a:pPr lvl="1"/>
            <a:r>
              <a:rPr lang="en-US" altLang="en-US" dirty="0"/>
              <a:t>Decrease time needed to read postings lists from disk</a:t>
            </a:r>
          </a:p>
          <a:p>
            <a:pPr lvl="1"/>
            <a:r>
              <a:rPr lang="en-US" altLang="en-US" dirty="0"/>
              <a:t>Large search engines keep a significant part of the postings in memory.</a:t>
            </a:r>
          </a:p>
          <a:p>
            <a:pPr lvl="2"/>
            <a:r>
              <a:rPr lang="en-US" altLang="en-US" dirty="0"/>
              <a:t>Compression lets you keep more in memory</a:t>
            </a:r>
          </a:p>
          <a:p>
            <a:r>
              <a:rPr lang="en-US" altLang="en-US" sz="2600" dirty="0"/>
              <a:t>We will devise various IR-specific compression schemes</a:t>
            </a:r>
          </a:p>
          <a:p>
            <a:endParaRPr lang="en-IN" dirty="0"/>
          </a:p>
        </p:txBody>
      </p:sp>
    </p:spTree>
    <p:extLst>
      <p:ext uri="{BB962C8B-B14F-4D97-AF65-F5344CB8AC3E}">
        <p14:creationId xmlns:p14="http://schemas.microsoft.com/office/powerpoint/2010/main" val="3538011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B3259-39F7-5626-0D3F-9BE3CF3262EF}"/>
              </a:ext>
            </a:extLst>
          </p:cNvPr>
          <p:cNvSpPr>
            <a:spLocks noGrp="1"/>
          </p:cNvSpPr>
          <p:nvPr>
            <p:ph type="title"/>
          </p:nvPr>
        </p:nvSpPr>
        <p:spPr/>
        <p:txBody>
          <a:bodyPr/>
          <a:lstStyle/>
          <a:p>
            <a:r>
              <a:rPr lang="en-IN" dirty="0"/>
              <a:t>Reuters RCV1 Statistics</a:t>
            </a:r>
          </a:p>
        </p:txBody>
      </p:sp>
      <p:sp>
        <p:nvSpPr>
          <p:cNvPr id="3" name="Content Placeholder 2">
            <a:extLst>
              <a:ext uri="{FF2B5EF4-FFF2-40B4-BE49-F238E27FC236}">
                <a16:creationId xmlns:a16="http://schemas.microsoft.com/office/drawing/2014/main" id="{431E8D12-94FA-E54F-6624-9C8E59BE53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287A846-7A22-F606-EB72-0F5F9E0DCFFC}"/>
              </a:ext>
            </a:extLst>
          </p:cNvPr>
          <p:cNvPicPr>
            <a:picLocks noChangeAspect="1"/>
          </p:cNvPicPr>
          <p:nvPr/>
        </p:nvPicPr>
        <p:blipFill>
          <a:blip r:embed="rId2"/>
          <a:stretch>
            <a:fillRect/>
          </a:stretch>
        </p:blipFill>
        <p:spPr>
          <a:xfrm>
            <a:off x="838200" y="1734147"/>
            <a:ext cx="8824725" cy="4534293"/>
          </a:xfrm>
          <a:prstGeom prst="rect">
            <a:avLst/>
          </a:prstGeom>
        </p:spPr>
      </p:pic>
    </p:spTree>
    <p:extLst>
      <p:ext uri="{BB962C8B-B14F-4D97-AF65-F5344CB8AC3E}">
        <p14:creationId xmlns:p14="http://schemas.microsoft.com/office/powerpoint/2010/main" val="3908391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00FC-F2C5-90B1-EE36-6FCF5248EA2A}"/>
              </a:ext>
            </a:extLst>
          </p:cNvPr>
          <p:cNvSpPr>
            <a:spLocks noGrp="1"/>
          </p:cNvSpPr>
          <p:nvPr>
            <p:ph type="title"/>
          </p:nvPr>
        </p:nvSpPr>
        <p:spPr/>
        <p:txBody>
          <a:bodyPr/>
          <a:lstStyle/>
          <a:p>
            <a:r>
              <a:rPr lang="en-US" altLang="en-US" dirty="0"/>
              <a:t>Lossless vs. lossy compression</a:t>
            </a:r>
            <a:endParaRPr lang="en-IN" dirty="0"/>
          </a:p>
        </p:txBody>
      </p:sp>
      <p:sp>
        <p:nvSpPr>
          <p:cNvPr id="3" name="Content Placeholder 2">
            <a:extLst>
              <a:ext uri="{FF2B5EF4-FFF2-40B4-BE49-F238E27FC236}">
                <a16:creationId xmlns:a16="http://schemas.microsoft.com/office/drawing/2014/main" id="{D7B56E10-B711-AAC0-15D1-4D63C48AA4C8}"/>
              </a:ext>
            </a:extLst>
          </p:cNvPr>
          <p:cNvSpPr>
            <a:spLocks noGrp="1"/>
          </p:cNvSpPr>
          <p:nvPr>
            <p:ph idx="1"/>
          </p:nvPr>
        </p:nvSpPr>
        <p:spPr/>
        <p:txBody>
          <a:bodyPr/>
          <a:lstStyle/>
          <a:p>
            <a:r>
              <a:rPr lang="en-US" altLang="en-US" dirty="0"/>
              <a:t>Lossless compression: All information is preserved.</a:t>
            </a:r>
          </a:p>
          <a:p>
            <a:pPr lvl="1"/>
            <a:r>
              <a:rPr lang="en-US" altLang="en-US" dirty="0"/>
              <a:t>What we mostly do in IR.</a:t>
            </a:r>
          </a:p>
          <a:p>
            <a:r>
              <a:rPr lang="en-US" altLang="en-US" dirty="0"/>
              <a:t>Lossy compression: Discard some information</a:t>
            </a:r>
          </a:p>
          <a:p>
            <a:r>
              <a:rPr lang="en-US" altLang="en-US" dirty="0"/>
              <a:t>Several of the preprocessing steps can be viewed as lossy compression: case folding, stop words, stemming, number elimination.</a:t>
            </a:r>
          </a:p>
          <a:p>
            <a:endParaRPr lang="en-IN" dirty="0"/>
          </a:p>
        </p:txBody>
      </p:sp>
    </p:spTree>
    <p:extLst>
      <p:ext uri="{BB962C8B-B14F-4D97-AF65-F5344CB8AC3E}">
        <p14:creationId xmlns:p14="http://schemas.microsoft.com/office/powerpoint/2010/main" val="19458696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C3559-22ED-65B2-2E26-93D20141EFB9}"/>
              </a:ext>
            </a:extLst>
          </p:cNvPr>
          <p:cNvSpPr>
            <a:spLocks noGrp="1"/>
          </p:cNvSpPr>
          <p:nvPr>
            <p:ph type="title"/>
          </p:nvPr>
        </p:nvSpPr>
        <p:spPr/>
        <p:txBody>
          <a:bodyPr/>
          <a:lstStyle/>
          <a:p>
            <a:r>
              <a:rPr lang="en-US" dirty="0"/>
              <a:t>Vocabulary size vs. collection size</a:t>
            </a:r>
            <a:endParaRPr lang="en-IN" dirty="0"/>
          </a:p>
        </p:txBody>
      </p:sp>
      <p:sp>
        <p:nvSpPr>
          <p:cNvPr id="3" name="Content Placeholder 2">
            <a:extLst>
              <a:ext uri="{FF2B5EF4-FFF2-40B4-BE49-F238E27FC236}">
                <a16:creationId xmlns:a16="http://schemas.microsoft.com/office/drawing/2014/main" id="{548A2F73-0A8B-D472-2E1E-FC3564A3DDB5}"/>
              </a:ext>
            </a:extLst>
          </p:cNvPr>
          <p:cNvSpPr>
            <a:spLocks noGrp="1"/>
          </p:cNvSpPr>
          <p:nvPr>
            <p:ph idx="1"/>
          </p:nvPr>
        </p:nvSpPr>
        <p:spPr/>
        <p:txBody>
          <a:bodyPr/>
          <a:lstStyle/>
          <a:p>
            <a:r>
              <a:rPr lang="en-US" dirty="0"/>
              <a:t>How big is the term vocabulary? </a:t>
            </a:r>
          </a:p>
          <a:p>
            <a:pPr lvl="1"/>
            <a:r>
              <a:rPr lang="en-US" dirty="0"/>
              <a:t>That is, how many distinct words are there? </a:t>
            </a:r>
          </a:p>
          <a:p>
            <a:r>
              <a:rPr lang="en-US" dirty="0"/>
              <a:t>Can we assume an upper bound? </a:t>
            </a:r>
          </a:p>
          <a:p>
            <a:pPr lvl="1"/>
            <a:r>
              <a:rPr lang="en-US" dirty="0"/>
              <a:t>Not really: At least 7020 = 1037 different words of length 20 </a:t>
            </a:r>
          </a:p>
          <a:p>
            <a:r>
              <a:rPr lang="en-US" dirty="0"/>
              <a:t>In practice, the vocabulary will keep growing with the collection size </a:t>
            </a:r>
          </a:p>
          <a:p>
            <a:pPr lvl="1"/>
            <a:r>
              <a:rPr lang="en-US" dirty="0"/>
              <a:t>Especially with Unicode</a:t>
            </a:r>
            <a:endParaRPr lang="en-IN" dirty="0"/>
          </a:p>
        </p:txBody>
      </p:sp>
    </p:spTree>
    <p:extLst>
      <p:ext uri="{BB962C8B-B14F-4D97-AF65-F5344CB8AC3E}">
        <p14:creationId xmlns:p14="http://schemas.microsoft.com/office/powerpoint/2010/main" val="3001532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AAF8-3455-5289-6228-AD030788229C}"/>
              </a:ext>
            </a:extLst>
          </p:cNvPr>
          <p:cNvSpPr>
            <a:spLocks noGrp="1"/>
          </p:cNvSpPr>
          <p:nvPr>
            <p:ph type="title"/>
          </p:nvPr>
        </p:nvSpPr>
        <p:spPr/>
        <p:txBody>
          <a:bodyPr/>
          <a:lstStyle/>
          <a:p>
            <a:r>
              <a:rPr lang="en-US" dirty="0"/>
              <a:t>Vocabulary size vs. collection size</a:t>
            </a:r>
            <a:endParaRPr lang="en-IN" dirty="0"/>
          </a:p>
        </p:txBody>
      </p:sp>
      <p:sp>
        <p:nvSpPr>
          <p:cNvPr id="3" name="Content Placeholder 2">
            <a:extLst>
              <a:ext uri="{FF2B5EF4-FFF2-40B4-BE49-F238E27FC236}">
                <a16:creationId xmlns:a16="http://schemas.microsoft.com/office/drawing/2014/main" id="{5F8D25A1-04C2-1326-075C-0642ED075A51}"/>
              </a:ext>
            </a:extLst>
          </p:cNvPr>
          <p:cNvSpPr>
            <a:spLocks noGrp="1"/>
          </p:cNvSpPr>
          <p:nvPr>
            <p:ph idx="1"/>
          </p:nvPr>
        </p:nvSpPr>
        <p:spPr/>
        <p:txBody>
          <a:bodyPr>
            <a:normAutofit/>
          </a:bodyPr>
          <a:lstStyle/>
          <a:p>
            <a:r>
              <a:rPr lang="en-US" dirty="0"/>
              <a:t>Heaps’ law: M = </a:t>
            </a:r>
            <a:r>
              <a:rPr lang="en-US" dirty="0" err="1"/>
              <a:t>kT</a:t>
            </a:r>
            <a:r>
              <a:rPr lang="en-US" sz="2000" dirty="0" err="1"/>
              <a:t>b</a:t>
            </a:r>
            <a:r>
              <a:rPr lang="en-US" dirty="0"/>
              <a:t> </a:t>
            </a:r>
          </a:p>
          <a:p>
            <a:r>
              <a:rPr lang="en-US" dirty="0"/>
              <a:t>M is the size of the vocabulary, T is the number of tokens in the collection </a:t>
            </a:r>
          </a:p>
          <a:p>
            <a:r>
              <a:rPr lang="en-US" dirty="0"/>
              <a:t>Typical values: 30 ≤ k ≤ 100 and b ≈ 0.5 </a:t>
            </a:r>
          </a:p>
          <a:p>
            <a:r>
              <a:rPr lang="en-US" dirty="0"/>
              <a:t>In a log-log plot of vocabulary size M vs. T, Heaps’ law predicts a line with slope about ½ </a:t>
            </a:r>
          </a:p>
          <a:p>
            <a:pPr lvl="1"/>
            <a:r>
              <a:rPr lang="en-US" dirty="0"/>
              <a:t>It is the simplest possible (linear) relationship between the two in log-log space </a:t>
            </a:r>
          </a:p>
          <a:p>
            <a:pPr lvl="2"/>
            <a:r>
              <a:rPr lang="en-US" dirty="0"/>
              <a:t>log M = log k + b log T </a:t>
            </a:r>
          </a:p>
          <a:p>
            <a:r>
              <a:rPr lang="en-US" dirty="0"/>
              <a:t>An empirical finding (“empirical law”)</a:t>
            </a:r>
            <a:endParaRPr lang="en-IN" dirty="0"/>
          </a:p>
        </p:txBody>
      </p:sp>
    </p:spTree>
    <p:extLst>
      <p:ext uri="{BB962C8B-B14F-4D97-AF65-F5344CB8AC3E}">
        <p14:creationId xmlns:p14="http://schemas.microsoft.com/office/powerpoint/2010/main" val="670697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3CF37-3F62-A929-AADD-37E7F21E54DD}"/>
              </a:ext>
            </a:extLst>
          </p:cNvPr>
          <p:cNvSpPr>
            <a:spLocks noGrp="1"/>
          </p:cNvSpPr>
          <p:nvPr>
            <p:ph type="title"/>
          </p:nvPr>
        </p:nvSpPr>
        <p:spPr/>
        <p:txBody>
          <a:bodyPr/>
          <a:lstStyle/>
          <a:p>
            <a:r>
              <a:rPr lang="en-IN" dirty="0"/>
              <a:t>Heaps’ Law</a:t>
            </a:r>
          </a:p>
        </p:txBody>
      </p:sp>
      <p:sp>
        <p:nvSpPr>
          <p:cNvPr id="3" name="Content Placeholder 2">
            <a:extLst>
              <a:ext uri="{FF2B5EF4-FFF2-40B4-BE49-F238E27FC236}">
                <a16:creationId xmlns:a16="http://schemas.microsoft.com/office/drawing/2014/main" id="{74120BEF-3093-C8DB-D809-A83C505CE8E1}"/>
              </a:ext>
            </a:extLst>
          </p:cNvPr>
          <p:cNvSpPr>
            <a:spLocks noGrp="1"/>
          </p:cNvSpPr>
          <p:nvPr>
            <p:ph idx="1"/>
          </p:nvPr>
        </p:nvSpPr>
        <p:spPr/>
        <p:txBody>
          <a:bodyPr/>
          <a:lstStyle/>
          <a:p>
            <a:r>
              <a:rPr lang="en-US" dirty="0"/>
              <a:t>For RCV1, the dashed line </a:t>
            </a:r>
          </a:p>
          <a:p>
            <a:r>
              <a:rPr lang="en-US" dirty="0"/>
              <a:t>log10M = 0.49 log10T + 1.64 is the best least squares fit. </a:t>
            </a:r>
          </a:p>
          <a:p>
            <a:r>
              <a:rPr lang="en-US" dirty="0"/>
              <a:t>Thus, M = 101.64T0.49 so k = 101.64 ≈ 44 and b = 0.49. </a:t>
            </a:r>
          </a:p>
          <a:p>
            <a:r>
              <a:rPr lang="en-US" dirty="0"/>
              <a:t>Good empirical fit for Reuters RCV1 ! </a:t>
            </a:r>
          </a:p>
          <a:p>
            <a:r>
              <a:rPr lang="en-US" dirty="0"/>
              <a:t>For first 1,000,020 tokens, law predicts 38,323 terms; actually, 38,365 terms</a:t>
            </a:r>
            <a:endParaRPr lang="en-IN" dirty="0"/>
          </a:p>
        </p:txBody>
      </p:sp>
    </p:spTree>
    <p:extLst>
      <p:ext uri="{BB962C8B-B14F-4D97-AF65-F5344CB8AC3E}">
        <p14:creationId xmlns:p14="http://schemas.microsoft.com/office/powerpoint/2010/main" val="26047417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B866C-F6B0-69A2-8552-669C0ED4AF3B}"/>
              </a:ext>
            </a:extLst>
          </p:cNvPr>
          <p:cNvSpPr>
            <a:spLocks noGrp="1"/>
          </p:cNvSpPr>
          <p:nvPr>
            <p:ph type="title"/>
          </p:nvPr>
        </p:nvSpPr>
        <p:spPr/>
        <p:txBody>
          <a:bodyPr/>
          <a:lstStyle/>
          <a:p>
            <a:r>
              <a:rPr lang="en-IN" dirty="0"/>
              <a:t>Heaps’ Law</a:t>
            </a:r>
          </a:p>
        </p:txBody>
      </p:sp>
      <p:sp>
        <p:nvSpPr>
          <p:cNvPr id="3" name="Content Placeholder 2">
            <a:extLst>
              <a:ext uri="{FF2B5EF4-FFF2-40B4-BE49-F238E27FC236}">
                <a16:creationId xmlns:a16="http://schemas.microsoft.com/office/drawing/2014/main" id="{3FE35033-440D-4480-6FF0-AA0AB6CBF95B}"/>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865F4FF-78CA-0B68-0D10-8E57282EDA5F}"/>
              </a:ext>
            </a:extLst>
          </p:cNvPr>
          <p:cNvPicPr>
            <a:picLocks noChangeAspect="1"/>
          </p:cNvPicPr>
          <p:nvPr/>
        </p:nvPicPr>
        <p:blipFill>
          <a:blip r:embed="rId2"/>
          <a:stretch>
            <a:fillRect/>
          </a:stretch>
        </p:blipFill>
        <p:spPr>
          <a:xfrm>
            <a:off x="4503922" y="1690688"/>
            <a:ext cx="5425910" cy="4968671"/>
          </a:xfrm>
          <a:prstGeom prst="rect">
            <a:avLst/>
          </a:prstGeom>
        </p:spPr>
      </p:pic>
    </p:spTree>
    <p:extLst>
      <p:ext uri="{BB962C8B-B14F-4D97-AF65-F5344CB8AC3E}">
        <p14:creationId xmlns:p14="http://schemas.microsoft.com/office/powerpoint/2010/main" val="1648287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FEC0C-2107-464C-2571-B21E2FF579E1}"/>
              </a:ext>
            </a:extLst>
          </p:cNvPr>
          <p:cNvSpPr>
            <a:spLocks noGrp="1"/>
          </p:cNvSpPr>
          <p:nvPr>
            <p:ph type="title"/>
          </p:nvPr>
        </p:nvSpPr>
        <p:spPr/>
        <p:txBody>
          <a:bodyPr/>
          <a:lstStyle/>
          <a:p>
            <a:r>
              <a:rPr lang="en-IN" dirty="0" err="1"/>
              <a:t>Zipf’s</a:t>
            </a:r>
            <a:r>
              <a:rPr lang="en-IN" dirty="0"/>
              <a:t> law</a:t>
            </a:r>
          </a:p>
        </p:txBody>
      </p:sp>
      <p:sp>
        <p:nvSpPr>
          <p:cNvPr id="3" name="Content Placeholder 2">
            <a:extLst>
              <a:ext uri="{FF2B5EF4-FFF2-40B4-BE49-F238E27FC236}">
                <a16:creationId xmlns:a16="http://schemas.microsoft.com/office/drawing/2014/main" id="{566C4166-F2CC-202C-2404-B070F1D1C2D7}"/>
              </a:ext>
            </a:extLst>
          </p:cNvPr>
          <p:cNvSpPr>
            <a:spLocks noGrp="1"/>
          </p:cNvSpPr>
          <p:nvPr>
            <p:ph idx="1"/>
          </p:nvPr>
        </p:nvSpPr>
        <p:spPr/>
        <p:txBody>
          <a:bodyPr/>
          <a:lstStyle/>
          <a:p>
            <a:r>
              <a:rPr lang="en-US" dirty="0"/>
              <a:t>Heaps’ law gives the vocabulary size in collections. </a:t>
            </a:r>
          </a:p>
          <a:p>
            <a:r>
              <a:rPr lang="en-US" dirty="0"/>
              <a:t>We also study the relative frequencies of terms. </a:t>
            </a:r>
          </a:p>
          <a:p>
            <a:r>
              <a:rPr lang="en-US" dirty="0"/>
              <a:t>In natural language, there are a few very frequent terms and very many very rare terms. </a:t>
            </a:r>
          </a:p>
          <a:p>
            <a:r>
              <a:rPr lang="en-US" dirty="0" err="1"/>
              <a:t>Zipf’s</a:t>
            </a:r>
            <a:r>
              <a:rPr lang="en-US" dirty="0"/>
              <a:t> law: The </a:t>
            </a:r>
            <a:r>
              <a:rPr lang="en-US" dirty="0" err="1"/>
              <a:t>i</a:t>
            </a:r>
            <a:r>
              <a:rPr lang="en-US" dirty="0"/>
              <a:t> </a:t>
            </a:r>
            <a:r>
              <a:rPr lang="en-US" dirty="0" err="1"/>
              <a:t>th</a:t>
            </a:r>
            <a:r>
              <a:rPr lang="en-US" dirty="0"/>
              <a:t> most frequent term has frequency proportional to 1/</a:t>
            </a:r>
            <a:r>
              <a:rPr lang="en-US" dirty="0" err="1"/>
              <a:t>i</a:t>
            </a:r>
            <a:r>
              <a:rPr lang="en-US" dirty="0"/>
              <a:t> . </a:t>
            </a:r>
          </a:p>
          <a:p>
            <a:r>
              <a:rPr lang="en-US" dirty="0"/>
              <a:t>cfi ∝ 1/</a:t>
            </a:r>
            <a:r>
              <a:rPr lang="en-US" dirty="0" err="1"/>
              <a:t>i</a:t>
            </a:r>
            <a:r>
              <a:rPr lang="en-US" dirty="0"/>
              <a:t> = K/</a:t>
            </a:r>
            <a:r>
              <a:rPr lang="en-US" dirty="0" err="1"/>
              <a:t>i</a:t>
            </a:r>
            <a:r>
              <a:rPr lang="en-US" dirty="0"/>
              <a:t> where K is a normalizing constant </a:t>
            </a:r>
          </a:p>
          <a:p>
            <a:r>
              <a:rPr lang="en-US" dirty="0"/>
              <a:t>cfi is collection frequency: the number of occurrences of the term </a:t>
            </a:r>
            <a:r>
              <a:rPr lang="en-US" dirty="0" err="1"/>
              <a:t>ti</a:t>
            </a:r>
            <a:r>
              <a:rPr lang="en-US" dirty="0"/>
              <a:t> in the collection.</a:t>
            </a:r>
            <a:endParaRPr lang="en-IN" dirty="0"/>
          </a:p>
        </p:txBody>
      </p:sp>
    </p:spTree>
    <p:extLst>
      <p:ext uri="{BB962C8B-B14F-4D97-AF65-F5344CB8AC3E}">
        <p14:creationId xmlns:p14="http://schemas.microsoft.com/office/powerpoint/2010/main" val="39615753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49222-BE80-3970-3B45-98566F7362B5}"/>
              </a:ext>
            </a:extLst>
          </p:cNvPr>
          <p:cNvSpPr>
            <a:spLocks noGrp="1"/>
          </p:cNvSpPr>
          <p:nvPr>
            <p:ph type="title"/>
          </p:nvPr>
        </p:nvSpPr>
        <p:spPr/>
        <p:txBody>
          <a:bodyPr/>
          <a:lstStyle/>
          <a:p>
            <a:r>
              <a:rPr lang="en-IN" dirty="0" err="1"/>
              <a:t>Zipf</a:t>
            </a:r>
            <a:r>
              <a:rPr lang="en-IN" dirty="0"/>
              <a:t> consequences</a:t>
            </a:r>
          </a:p>
        </p:txBody>
      </p:sp>
      <p:sp>
        <p:nvSpPr>
          <p:cNvPr id="3" name="Content Placeholder 2">
            <a:extLst>
              <a:ext uri="{FF2B5EF4-FFF2-40B4-BE49-F238E27FC236}">
                <a16:creationId xmlns:a16="http://schemas.microsoft.com/office/drawing/2014/main" id="{4CA17537-DF17-02ED-0EE1-B9F329DAFA76}"/>
              </a:ext>
            </a:extLst>
          </p:cNvPr>
          <p:cNvSpPr>
            <a:spLocks noGrp="1"/>
          </p:cNvSpPr>
          <p:nvPr>
            <p:ph idx="1"/>
          </p:nvPr>
        </p:nvSpPr>
        <p:spPr/>
        <p:txBody>
          <a:bodyPr/>
          <a:lstStyle/>
          <a:p>
            <a:r>
              <a:rPr lang="en-US" dirty="0"/>
              <a:t>If the most frequent term (the) occurs cf1 times </a:t>
            </a:r>
          </a:p>
          <a:p>
            <a:pPr lvl="1"/>
            <a:r>
              <a:rPr lang="en-US" dirty="0"/>
              <a:t>then the second most frequent term (of) occurs cf1/2 times </a:t>
            </a:r>
          </a:p>
          <a:p>
            <a:pPr lvl="1"/>
            <a:r>
              <a:rPr lang="en-US" dirty="0"/>
              <a:t>the third most frequent term (and) occurs cf1/3 times … </a:t>
            </a:r>
          </a:p>
          <a:p>
            <a:r>
              <a:rPr lang="en-US" dirty="0"/>
              <a:t>Equivalent: cfi = K/</a:t>
            </a:r>
            <a:r>
              <a:rPr lang="en-US" dirty="0" err="1"/>
              <a:t>i</a:t>
            </a:r>
            <a:r>
              <a:rPr lang="en-US" dirty="0"/>
              <a:t> where K is a normalizing factor, so </a:t>
            </a:r>
          </a:p>
          <a:p>
            <a:pPr lvl="1"/>
            <a:r>
              <a:rPr lang="en-US" dirty="0"/>
              <a:t>log cfi = log K - log </a:t>
            </a:r>
            <a:r>
              <a:rPr lang="en-US" dirty="0" err="1"/>
              <a:t>i</a:t>
            </a:r>
            <a:r>
              <a:rPr lang="en-US" dirty="0"/>
              <a:t> </a:t>
            </a:r>
          </a:p>
          <a:p>
            <a:pPr lvl="1"/>
            <a:r>
              <a:rPr lang="en-US" dirty="0"/>
              <a:t>Linear relationship between log cfi and log </a:t>
            </a:r>
            <a:r>
              <a:rPr lang="en-US" dirty="0" err="1"/>
              <a:t>i</a:t>
            </a:r>
            <a:r>
              <a:rPr lang="en-US" dirty="0"/>
              <a:t> </a:t>
            </a:r>
          </a:p>
          <a:p>
            <a:r>
              <a:rPr lang="en-US" dirty="0"/>
              <a:t>Another power law relationship</a:t>
            </a:r>
            <a:endParaRPr lang="en-IN" dirty="0"/>
          </a:p>
        </p:txBody>
      </p:sp>
    </p:spTree>
    <p:extLst>
      <p:ext uri="{BB962C8B-B14F-4D97-AF65-F5344CB8AC3E}">
        <p14:creationId xmlns:p14="http://schemas.microsoft.com/office/powerpoint/2010/main" val="15961636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951B-8F4A-AA5F-4A65-E36D8395AB61}"/>
              </a:ext>
            </a:extLst>
          </p:cNvPr>
          <p:cNvSpPr>
            <a:spLocks noGrp="1"/>
          </p:cNvSpPr>
          <p:nvPr>
            <p:ph type="title"/>
          </p:nvPr>
        </p:nvSpPr>
        <p:spPr/>
        <p:txBody>
          <a:bodyPr/>
          <a:lstStyle/>
          <a:p>
            <a:r>
              <a:rPr lang="en-US" dirty="0" err="1"/>
              <a:t>Zipf’s</a:t>
            </a:r>
            <a:r>
              <a:rPr lang="en-US" dirty="0"/>
              <a:t> law for Reuters RCV1</a:t>
            </a:r>
            <a:endParaRPr lang="en-IN" dirty="0"/>
          </a:p>
        </p:txBody>
      </p:sp>
      <p:sp>
        <p:nvSpPr>
          <p:cNvPr id="3" name="Content Placeholder 2">
            <a:extLst>
              <a:ext uri="{FF2B5EF4-FFF2-40B4-BE49-F238E27FC236}">
                <a16:creationId xmlns:a16="http://schemas.microsoft.com/office/drawing/2014/main" id="{61733E22-190F-0828-BEEE-D78844D4158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D429D2F-7C11-933E-30B8-49F535CB42F5}"/>
              </a:ext>
            </a:extLst>
          </p:cNvPr>
          <p:cNvPicPr>
            <a:picLocks noChangeAspect="1"/>
          </p:cNvPicPr>
          <p:nvPr/>
        </p:nvPicPr>
        <p:blipFill>
          <a:blip r:embed="rId2"/>
          <a:stretch>
            <a:fillRect/>
          </a:stretch>
        </p:blipFill>
        <p:spPr>
          <a:xfrm>
            <a:off x="1792271" y="1684965"/>
            <a:ext cx="5375445" cy="4632657"/>
          </a:xfrm>
          <a:prstGeom prst="rect">
            <a:avLst/>
          </a:prstGeom>
        </p:spPr>
      </p:pic>
    </p:spTree>
    <p:extLst>
      <p:ext uri="{BB962C8B-B14F-4D97-AF65-F5344CB8AC3E}">
        <p14:creationId xmlns:p14="http://schemas.microsoft.com/office/powerpoint/2010/main" val="24979516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8768-CA36-ADA4-4F5D-33A8916C3672}"/>
              </a:ext>
            </a:extLst>
          </p:cNvPr>
          <p:cNvSpPr>
            <a:spLocks noGrp="1"/>
          </p:cNvSpPr>
          <p:nvPr>
            <p:ph type="title"/>
          </p:nvPr>
        </p:nvSpPr>
        <p:spPr/>
        <p:txBody>
          <a:bodyPr/>
          <a:lstStyle/>
          <a:p>
            <a:r>
              <a:rPr lang="en-IN" dirty="0"/>
              <a:t>Compression</a:t>
            </a:r>
          </a:p>
        </p:txBody>
      </p:sp>
      <p:sp>
        <p:nvSpPr>
          <p:cNvPr id="3" name="Content Placeholder 2">
            <a:extLst>
              <a:ext uri="{FF2B5EF4-FFF2-40B4-BE49-F238E27FC236}">
                <a16:creationId xmlns:a16="http://schemas.microsoft.com/office/drawing/2014/main" id="{723D1206-DCFA-9C96-54EE-6CDC1083855F}"/>
              </a:ext>
            </a:extLst>
          </p:cNvPr>
          <p:cNvSpPr>
            <a:spLocks noGrp="1"/>
          </p:cNvSpPr>
          <p:nvPr>
            <p:ph idx="1"/>
          </p:nvPr>
        </p:nvSpPr>
        <p:spPr/>
        <p:txBody>
          <a:bodyPr/>
          <a:lstStyle/>
          <a:p>
            <a:r>
              <a:rPr lang="en-US" dirty="0"/>
              <a:t>Now, we will consider compressing the space for the dictionary and postings. We’ll do: </a:t>
            </a:r>
          </a:p>
          <a:p>
            <a:pPr lvl="1"/>
            <a:r>
              <a:rPr lang="en-US" dirty="0"/>
              <a:t>Basic Boolean index only </a:t>
            </a:r>
          </a:p>
          <a:p>
            <a:pPr lvl="1"/>
            <a:r>
              <a:rPr lang="en-US" dirty="0"/>
              <a:t>No study of positional indexes, etc. </a:t>
            </a:r>
          </a:p>
          <a:p>
            <a:r>
              <a:rPr lang="en-US" dirty="0"/>
              <a:t>But these ideas can be extended </a:t>
            </a:r>
          </a:p>
          <a:p>
            <a:r>
              <a:rPr lang="en-US" dirty="0"/>
              <a:t>We will consider compression schemes</a:t>
            </a:r>
            <a:endParaRPr lang="en-IN" dirty="0"/>
          </a:p>
        </p:txBody>
      </p:sp>
    </p:spTree>
    <p:extLst>
      <p:ext uri="{BB962C8B-B14F-4D97-AF65-F5344CB8AC3E}">
        <p14:creationId xmlns:p14="http://schemas.microsoft.com/office/powerpoint/2010/main" val="3672904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653A1-4CCE-822A-09C4-330D56F73DAF}"/>
              </a:ext>
            </a:extLst>
          </p:cNvPr>
          <p:cNvSpPr>
            <a:spLocks noGrp="1"/>
          </p:cNvSpPr>
          <p:nvPr>
            <p:ph type="title"/>
          </p:nvPr>
        </p:nvSpPr>
        <p:spPr/>
        <p:txBody>
          <a:bodyPr/>
          <a:lstStyle/>
          <a:p>
            <a:r>
              <a:rPr lang="en-IN" dirty="0"/>
              <a:t>DICTIONARY COMPRESSION</a:t>
            </a:r>
          </a:p>
        </p:txBody>
      </p:sp>
      <p:sp>
        <p:nvSpPr>
          <p:cNvPr id="3" name="Content Placeholder 2">
            <a:extLst>
              <a:ext uri="{FF2B5EF4-FFF2-40B4-BE49-F238E27FC236}">
                <a16:creationId xmlns:a16="http://schemas.microsoft.com/office/drawing/2014/main" id="{1BFEA5E8-CFA5-1AC8-14EB-3B11147EAC77}"/>
              </a:ext>
            </a:extLst>
          </p:cNvPr>
          <p:cNvSpPr>
            <a:spLocks noGrp="1"/>
          </p:cNvSpPr>
          <p:nvPr>
            <p:ph idx="1"/>
          </p:nvPr>
        </p:nvSpPr>
        <p:spPr/>
        <p:txBody>
          <a:bodyPr/>
          <a:lstStyle/>
          <a:p>
            <a:r>
              <a:rPr lang="en-IN" dirty="0"/>
              <a:t>Why compress the dictionary? </a:t>
            </a:r>
          </a:p>
          <a:p>
            <a:pPr lvl="1"/>
            <a:r>
              <a:rPr lang="en-US" dirty="0"/>
              <a:t>Search begins with the dictionary </a:t>
            </a:r>
          </a:p>
          <a:p>
            <a:pPr lvl="1"/>
            <a:r>
              <a:rPr lang="en-US" dirty="0"/>
              <a:t>We want to keep it in memory </a:t>
            </a:r>
          </a:p>
          <a:p>
            <a:pPr lvl="1"/>
            <a:r>
              <a:rPr lang="en-US" dirty="0"/>
              <a:t>Memory footprint competition with other applications</a:t>
            </a:r>
          </a:p>
          <a:p>
            <a:pPr lvl="1"/>
            <a:r>
              <a:rPr lang="en-US" dirty="0"/>
              <a:t>Embedded/mobile devices may have very little memory </a:t>
            </a:r>
          </a:p>
          <a:p>
            <a:pPr lvl="1"/>
            <a:r>
              <a:rPr lang="en-US" dirty="0"/>
              <a:t>Even if the dictionary isn’t in memory, we want it to be small for a fast search startup time </a:t>
            </a:r>
          </a:p>
          <a:p>
            <a:pPr lvl="1"/>
            <a:r>
              <a:rPr lang="en-US" dirty="0"/>
              <a:t>So, compressing the dictionary is important</a:t>
            </a:r>
            <a:endParaRPr lang="en-IN" dirty="0"/>
          </a:p>
        </p:txBody>
      </p:sp>
    </p:spTree>
    <p:extLst>
      <p:ext uri="{BB962C8B-B14F-4D97-AF65-F5344CB8AC3E}">
        <p14:creationId xmlns:p14="http://schemas.microsoft.com/office/powerpoint/2010/main" val="11702961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E8B12-452C-DA5A-483A-401A8D9D6EAB}"/>
              </a:ext>
            </a:extLst>
          </p:cNvPr>
          <p:cNvSpPr>
            <a:spLocks noGrp="1"/>
          </p:cNvSpPr>
          <p:nvPr>
            <p:ph type="title"/>
          </p:nvPr>
        </p:nvSpPr>
        <p:spPr/>
        <p:txBody>
          <a:bodyPr/>
          <a:lstStyle/>
          <a:p>
            <a:r>
              <a:rPr lang="en-IN" dirty="0"/>
              <a:t>Dictionary storage – naïve version</a:t>
            </a:r>
          </a:p>
        </p:txBody>
      </p:sp>
      <p:sp>
        <p:nvSpPr>
          <p:cNvPr id="3" name="Content Placeholder 2">
            <a:extLst>
              <a:ext uri="{FF2B5EF4-FFF2-40B4-BE49-F238E27FC236}">
                <a16:creationId xmlns:a16="http://schemas.microsoft.com/office/drawing/2014/main" id="{1E889B3E-E725-2B4F-C834-2EDE8BA42476}"/>
              </a:ext>
            </a:extLst>
          </p:cNvPr>
          <p:cNvSpPr>
            <a:spLocks noGrp="1"/>
          </p:cNvSpPr>
          <p:nvPr>
            <p:ph idx="1"/>
          </p:nvPr>
        </p:nvSpPr>
        <p:spPr/>
        <p:txBody>
          <a:bodyPr/>
          <a:lstStyle/>
          <a:p>
            <a:r>
              <a:rPr lang="en-US" dirty="0"/>
              <a:t>Array of fixed-width entries </a:t>
            </a:r>
          </a:p>
          <a:p>
            <a:pPr lvl="1"/>
            <a:r>
              <a:rPr lang="en-US" dirty="0"/>
              <a:t>~400,000 terms; 28 bytes/term = 11.2 MB</a:t>
            </a:r>
            <a:endParaRPr lang="en-IN" dirty="0"/>
          </a:p>
        </p:txBody>
      </p:sp>
      <p:pic>
        <p:nvPicPr>
          <p:cNvPr id="5" name="Picture 4">
            <a:extLst>
              <a:ext uri="{FF2B5EF4-FFF2-40B4-BE49-F238E27FC236}">
                <a16:creationId xmlns:a16="http://schemas.microsoft.com/office/drawing/2014/main" id="{6B47F685-8083-4968-B71C-15CD9DD91507}"/>
              </a:ext>
            </a:extLst>
          </p:cNvPr>
          <p:cNvPicPr>
            <a:picLocks noChangeAspect="1"/>
          </p:cNvPicPr>
          <p:nvPr/>
        </p:nvPicPr>
        <p:blipFill>
          <a:blip r:embed="rId2"/>
          <a:stretch>
            <a:fillRect/>
          </a:stretch>
        </p:blipFill>
        <p:spPr>
          <a:xfrm>
            <a:off x="1086935" y="2763471"/>
            <a:ext cx="8371698" cy="3729404"/>
          </a:xfrm>
          <a:prstGeom prst="rect">
            <a:avLst/>
          </a:prstGeom>
        </p:spPr>
      </p:pic>
    </p:spTree>
    <p:extLst>
      <p:ext uri="{BB962C8B-B14F-4D97-AF65-F5344CB8AC3E}">
        <p14:creationId xmlns:p14="http://schemas.microsoft.com/office/powerpoint/2010/main" val="10900044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C701D-BBC8-4560-A6F2-97F6E7BDABCB}"/>
              </a:ext>
            </a:extLst>
          </p:cNvPr>
          <p:cNvSpPr>
            <a:spLocks noGrp="1"/>
          </p:cNvSpPr>
          <p:nvPr>
            <p:ph type="title"/>
          </p:nvPr>
        </p:nvSpPr>
        <p:spPr/>
        <p:txBody>
          <a:bodyPr/>
          <a:lstStyle/>
          <a:p>
            <a:r>
              <a:rPr lang="en-IN" dirty="0"/>
              <a:t>Fixed-width terms are wasteful</a:t>
            </a:r>
          </a:p>
        </p:txBody>
      </p:sp>
      <p:sp>
        <p:nvSpPr>
          <p:cNvPr id="3" name="Content Placeholder 2">
            <a:extLst>
              <a:ext uri="{FF2B5EF4-FFF2-40B4-BE49-F238E27FC236}">
                <a16:creationId xmlns:a16="http://schemas.microsoft.com/office/drawing/2014/main" id="{37EFF284-F7BB-BD71-2DBD-DF864682CFE8}"/>
              </a:ext>
            </a:extLst>
          </p:cNvPr>
          <p:cNvSpPr>
            <a:spLocks noGrp="1"/>
          </p:cNvSpPr>
          <p:nvPr>
            <p:ph idx="1"/>
          </p:nvPr>
        </p:nvSpPr>
        <p:spPr/>
        <p:txBody>
          <a:bodyPr>
            <a:normAutofit/>
          </a:bodyPr>
          <a:lstStyle/>
          <a:p>
            <a:r>
              <a:rPr lang="en-US" dirty="0"/>
              <a:t>Most of the bytes in the Term column are wasted – we allot 20 bytes for 1 letter terms. </a:t>
            </a:r>
          </a:p>
          <a:p>
            <a:pPr lvl="1"/>
            <a:r>
              <a:rPr lang="en-US" dirty="0"/>
              <a:t>And we still can’t handle supercalifragilisticexpialidocious or hydrochlorofluorocarbons. </a:t>
            </a:r>
          </a:p>
          <a:p>
            <a:r>
              <a:rPr lang="en-US" dirty="0"/>
              <a:t>Written English averages ~4.5 characters/word. </a:t>
            </a:r>
          </a:p>
          <a:p>
            <a:r>
              <a:rPr lang="en-US" dirty="0"/>
              <a:t>Avg. dictionary word in English: ~8 characters </a:t>
            </a:r>
          </a:p>
          <a:p>
            <a:pPr lvl="1"/>
            <a:r>
              <a:rPr lang="en-US" dirty="0"/>
              <a:t>How do we use ~8 characters per dictionary term? </a:t>
            </a:r>
          </a:p>
          <a:p>
            <a:r>
              <a:rPr lang="en-US" dirty="0"/>
              <a:t>Short words dominate token counts but not type average.</a:t>
            </a:r>
            <a:endParaRPr lang="en-IN" dirty="0"/>
          </a:p>
        </p:txBody>
      </p:sp>
    </p:spTree>
    <p:extLst>
      <p:ext uri="{BB962C8B-B14F-4D97-AF65-F5344CB8AC3E}">
        <p14:creationId xmlns:p14="http://schemas.microsoft.com/office/powerpoint/2010/main" val="15588884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5D1A7-4E1C-DE08-B0FC-913A282D7E9E}"/>
              </a:ext>
            </a:extLst>
          </p:cNvPr>
          <p:cNvSpPr>
            <a:spLocks noGrp="1"/>
          </p:cNvSpPr>
          <p:nvPr>
            <p:ph type="title"/>
          </p:nvPr>
        </p:nvSpPr>
        <p:spPr/>
        <p:txBody>
          <a:bodyPr/>
          <a:lstStyle/>
          <a:p>
            <a:r>
              <a:rPr lang="en-US" dirty="0"/>
              <a:t>Compressing the term list: Dictionary-as-a-String </a:t>
            </a:r>
            <a:endParaRPr lang="en-IN" dirty="0"/>
          </a:p>
        </p:txBody>
      </p:sp>
      <p:sp>
        <p:nvSpPr>
          <p:cNvPr id="3" name="Content Placeholder 2">
            <a:extLst>
              <a:ext uri="{FF2B5EF4-FFF2-40B4-BE49-F238E27FC236}">
                <a16:creationId xmlns:a16="http://schemas.microsoft.com/office/drawing/2014/main" id="{0ECC015D-8469-908A-86FD-CA19C81B5BF8}"/>
              </a:ext>
            </a:extLst>
          </p:cNvPr>
          <p:cNvSpPr>
            <a:spLocks noGrp="1"/>
          </p:cNvSpPr>
          <p:nvPr>
            <p:ph idx="1"/>
          </p:nvPr>
        </p:nvSpPr>
        <p:spPr/>
        <p:txBody>
          <a:bodyPr/>
          <a:lstStyle/>
          <a:p>
            <a:r>
              <a:rPr lang="en-US" dirty="0"/>
              <a:t>Store dictionary as a (long) string of characters: </a:t>
            </a:r>
          </a:p>
          <a:p>
            <a:pPr lvl="1"/>
            <a:r>
              <a:rPr lang="en-US" dirty="0"/>
              <a:t>Pointer to next word shows end of current word </a:t>
            </a:r>
          </a:p>
          <a:p>
            <a:pPr lvl="1"/>
            <a:r>
              <a:rPr lang="en-US" dirty="0"/>
              <a:t>Hope to save up to 60% of dictionary space</a:t>
            </a:r>
            <a:endParaRPr lang="en-IN" dirty="0"/>
          </a:p>
        </p:txBody>
      </p:sp>
      <p:pic>
        <p:nvPicPr>
          <p:cNvPr id="5" name="Picture 4">
            <a:extLst>
              <a:ext uri="{FF2B5EF4-FFF2-40B4-BE49-F238E27FC236}">
                <a16:creationId xmlns:a16="http://schemas.microsoft.com/office/drawing/2014/main" id="{EEC6DB30-F6AA-68CB-E642-5481A4FB5CD9}"/>
              </a:ext>
            </a:extLst>
          </p:cNvPr>
          <p:cNvPicPr>
            <a:picLocks noChangeAspect="1"/>
          </p:cNvPicPr>
          <p:nvPr/>
        </p:nvPicPr>
        <p:blipFill>
          <a:blip r:embed="rId2"/>
          <a:stretch>
            <a:fillRect/>
          </a:stretch>
        </p:blipFill>
        <p:spPr>
          <a:xfrm>
            <a:off x="1255415" y="3182182"/>
            <a:ext cx="9464860" cy="3482642"/>
          </a:xfrm>
          <a:prstGeom prst="rect">
            <a:avLst/>
          </a:prstGeom>
        </p:spPr>
      </p:pic>
    </p:spTree>
    <p:extLst>
      <p:ext uri="{BB962C8B-B14F-4D97-AF65-F5344CB8AC3E}">
        <p14:creationId xmlns:p14="http://schemas.microsoft.com/office/powerpoint/2010/main" val="21978817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CA7E-AD4A-7322-EB54-0BBF878D8F59}"/>
              </a:ext>
            </a:extLst>
          </p:cNvPr>
          <p:cNvSpPr>
            <a:spLocks noGrp="1"/>
          </p:cNvSpPr>
          <p:nvPr>
            <p:ph type="title"/>
          </p:nvPr>
        </p:nvSpPr>
        <p:spPr/>
        <p:txBody>
          <a:bodyPr/>
          <a:lstStyle/>
          <a:p>
            <a:r>
              <a:rPr lang="en-US" dirty="0"/>
              <a:t>Space for dictionary as a string</a:t>
            </a:r>
            <a:endParaRPr lang="en-IN" dirty="0"/>
          </a:p>
        </p:txBody>
      </p:sp>
      <p:sp>
        <p:nvSpPr>
          <p:cNvPr id="3" name="Content Placeholder 2">
            <a:extLst>
              <a:ext uri="{FF2B5EF4-FFF2-40B4-BE49-F238E27FC236}">
                <a16:creationId xmlns:a16="http://schemas.microsoft.com/office/drawing/2014/main" id="{27EA589F-CCE8-2763-6D90-A3F6DD16B598}"/>
              </a:ext>
            </a:extLst>
          </p:cNvPr>
          <p:cNvSpPr>
            <a:spLocks noGrp="1"/>
          </p:cNvSpPr>
          <p:nvPr>
            <p:ph idx="1"/>
          </p:nvPr>
        </p:nvSpPr>
        <p:spPr/>
        <p:txBody>
          <a:bodyPr/>
          <a:lstStyle/>
          <a:p>
            <a:r>
              <a:rPr lang="en-IN" dirty="0"/>
              <a:t>4 bytes per term for Freq. </a:t>
            </a:r>
          </a:p>
          <a:p>
            <a:r>
              <a:rPr lang="en-IN" dirty="0"/>
              <a:t>4 bytes per term for pointer to Postings. </a:t>
            </a:r>
          </a:p>
          <a:p>
            <a:r>
              <a:rPr lang="en-IN" dirty="0"/>
              <a:t>3 bytes per term pointer </a:t>
            </a:r>
          </a:p>
          <a:p>
            <a:r>
              <a:rPr lang="en-IN" dirty="0"/>
              <a:t>Avg. 8 bytes per term in term string </a:t>
            </a:r>
          </a:p>
          <a:p>
            <a:r>
              <a:rPr lang="en-IN" dirty="0"/>
              <a:t>400K terms x 19 = 7.6 MB (against 11.2MB for fixed width)</a:t>
            </a:r>
          </a:p>
        </p:txBody>
      </p:sp>
    </p:spTree>
    <p:extLst>
      <p:ext uri="{BB962C8B-B14F-4D97-AF65-F5344CB8AC3E}">
        <p14:creationId xmlns:p14="http://schemas.microsoft.com/office/powerpoint/2010/main" val="41573436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8259-612C-338A-7267-C32F5CE89749}"/>
              </a:ext>
            </a:extLst>
          </p:cNvPr>
          <p:cNvSpPr>
            <a:spLocks noGrp="1"/>
          </p:cNvSpPr>
          <p:nvPr>
            <p:ph type="title"/>
          </p:nvPr>
        </p:nvSpPr>
        <p:spPr/>
        <p:txBody>
          <a:bodyPr/>
          <a:lstStyle/>
          <a:p>
            <a:r>
              <a:rPr lang="en-IN" dirty="0"/>
              <a:t>Blocking</a:t>
            </a:r>
          </a:p>
        </p:txBody>
      </p:sp>
      <p:sp>
        <p:nvSpPr>
          <p:cNvPr id="3" name="Content Placeholder 2">
            <a:extLst>
              <a:ext uri="{FF2B5EF4-FFF2-40B4-BE49-F238E27FC236}">
                <a16:creationId xmlns:a16="http://schemas.microsoft.com/office/drawing/2014/main" id="{640B238E-7886-13F9-DE5C-B2AC145DD3C9}"/>
              </a:ext>
            </a:extLst>
          </p:cNvPr>
          <p:cNvSpPr>
            <a:spLocks noGrp="1"/>
          </p:cNvSpPr>
          <p:nvPr>
            <p:ph idx="1"/>
          </p:nvPr>
        </p:nvSpPr>
        <p:spPr/>
        <p:txBody>
          <a:bodyPr/>
          <a:lstStyle/>
          <a:p>
            <a:r>
              <a:rPr lang="en-US" dirty="0"/>
              <a:t>Store pointers to every kth term string. </a:t>
            </a:r>
          </a:p>
          <a:p>
            <a:pPr lvl="1"/>
            <a:r>
              <a:rPr lang="en-US" dirty="0"/>
              <a:t>Example below: k=4. </a:t>
            </a:r>
          </a:p>
          <a:p>
            <a:r>
              <a:rPr lang="en-US" dirty="0"/>
              <a:t>Need to store term lengths (1 extra byte)</a:t>
            </a:r>
            <a:endParaRPr lang="en-IN" dirty="0"/>
          </a:p>
        </p:txBody>
      </p:sp>
      <p:pic>
        <p:nvPicPr>
          <p:cNvPr id="5" name="Picture 4">
            <a:extLst>
              <a:ext uri="{FF2B5EF4-FFF2-40B4-BE49-F238E27FC236}">
                <a16:creationId xmlns:a16="http://schemas.microsoft.com/office/drawing/2014/main" id="{6C750CBF-C9CB-78DF-8A6D-BF8FADA447A9}"/>
              </a:ext>
            </a:extLst>
          </p:cNvPr>
          <p:cNvPicPr>
            <a:picLocks noChangeAspect="1"/>
          </p:cNvPicPr>
          <p:nvPr/>
        </p:nvPicPr>
        <p:blipFill>
          <a:blip r:embed="rId2"/>
          <a:stretch>
            <a:fillRect/>
          </a:stretch>
        </p:blipFill>
        <p:spPr>
          <a:xfrm>
            <a:off x="838201" y="3168781"/>
            <a:ext cx="9131710" cy="3454263"/>
          </a:xfrm>
          <a:prstGeom prst="rect">
            <a:avLst/>
          </a:prstGeom>
        </p:spPr>
      </p:pic>
    </p:spTree>
    <p:extLst>
      <p:ext uri="{BB962C8B-B14F-4D97-AF65-F5344CB8AC3E}">
        <p14:creationId xmlns:p14="http://schemas.microsoft.com/office/powerpoint/2010/main" val="29989639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7B1C1-B13E-0069-3166-AC4EB5DD53DB}"/>
              </a:ext>
            </a:extLst>
          </p:cNvPr>
          <p:cNvSpPr>
            <a:spLocks noGrp="1"/>
          </p:cNvSpPr>
          <p:nvPr>
            <p:ph type="title"/>
          </p:nvPr>
        </p:nvSpPr>
        <p:spPr/>
        <p:txBody>
          <a:bodyPr/>
          <a:lstStyle/>
          <a:p>
            <a:r>
              <a:rPr lang="en-IN" dirty="0"/>
              <a:t>Blocking Net Gains</a:t>
            </a:r>
          </a:p>
        </p:txBody>
      </p:sp>
      <p:sp>
        <p:nvSpPr>
          <p:cNvPr id="3" name="Content Placeholder 2">
            <a:extLst>
              <a:ext uri="{FF2B5EF4-FFF2-40B4-BE49-F238E27FC236}">
                <a16:creationId xmlns:a16="http://schemas.microsoft.com/office/drawing/2014/main" id="{4B7AE431-D36B-3CAD-C9C2-5E7DC19D8BBF}"/>
              </a:ext>
            </a:extLst>
          </p:cNvPr>
          <p:cNvSpPr>
            <a:spLocks noGrp="1"/>
          </p:cNvSpPr>
          <p:nvPr>
            <p:ph idx="1"/>
          </p:nvPr>
        </p:nvSpPr>
        <p:spPr/>
        <p:txBody>
          <a:bodyPr>
            <a:normAutofit fontScale="92500" lnSpcReduction="10000"/>
          </a:bodyPr>
          <a:lstStyle/>
          <a:p>
            <a:r>
              <a:rPr lang="en-US" dirty="0"/>
              <a:t>Example for block size k = 4 </a:t>
            </a:r>
          </a:p>
          <a:p>
            <a:r>
              <a:rPr lang="en-US" dirty="0"/>
              <a:t>Where we used 3 bytes/pointer without blocking </a:t>
            </a:r>
          </a:p>
          <a:p>
            <a:r>
              <a:rPr lang="en-US" dirty="0"/>
              <a:t>3 x 4 = 12 bytes, now we use 3 + 4 = 7 bytes. </a:t>
            </a:r>
          </a:p>
          <a:p>
            <a:r>
              <a:rPr lang="en-US" dirty="0"/>
              <a:t>Shaved another ~0.5MB. This reduces the size of the dictionary from 7.6 MB to 7.1 MB. We can save more with larger k.</a:t>
            </a:r>
          </a:p>
          <a:p>
            <a:pPr lvl="1"/>
            <a:r>
              <a:rPr lang="en-US" dirty="0"/>
              <a:t>400K x 3B=1.2 MB</a:t>
            </a:r>
          </a:p>
          <a:p>
            <a:pPr lvl="1"/>
            <a:r>
              <a:rPr lang="en-US" dirty="0"/>
              <a:t>100K x 3B=0.3 MB</a:t>
            </a:r>
          </a:p>
          <a:p>
            <a:pPr lvl="1"/>
            <a:r>
              <a:rPr lang="en-US" dirty="0"/>
              <a:t>0.9 MB storage</a:t>
            </a:r>
          </a:p>
          <a:p>
            <a:pPr lvl="1"/>
            <a:r>
              <a:rPr lang="en-US" dirty="0"/>
              <a:t>But add 400k i.e. 0.4MB extra space</a:t>
            </a:r>
          </a:p>
          <a:p>
            <a:pPr lvl="1"/>
            <a:r>
              <a:rPr lang="en-US" dirty="0"/>
              <a:t>So total saving =0.3+0.4=0.7,</a:t>
            </a:r>
            <a:r>
              <a:rPr lang="en-US" dirty="0">
                <a:sym typeface="Wingdings" panose="05000000000000000000" pitchFamily="2" charset="2"/>
              </a:rPr>
              <a:t>1.2-0.7=</a:t>
            </a:r>
            <a:r>
              <a:rPr lang="en-US" dirty="0"/>
              <a:t>0.5 MB</a:t>
            </a:r>
          </a:p>
          <a:p>
            <a:r>
              <a:rPr lang="en-US" dirty="0"/>
              <a:t>Question: Why not go with larger k? </a:t>
            </a:r>
            <a:endParaRPr lang="en-IN" dirty="0"/>
          </a:p>
        </p:txBody>
      </p:sp>
    </p:spTree>
    <p:extLst>
      <p:ext uri="{BB962C8B-B14F-4D97-AF65-F5344CB8AC3E}">
        <p14:creationId xmlns:p14="http://schemas.microsoft.com/office/powerpoint/2010/main" val="6814960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56CC6-9EA2-DB6D-C905-25EA0F60669F}"/>
              </a:ext>
            </a:extLst>
          </p:cNvPr>
          <p:cNvSpPr>
            <a:spLocks noGrp="1"/>
          </p:cNvSpPr>
          <p:nvPr>
            <p:ph type="title"/>
          </p:nvPr>
        </p:nvSpPr>
        <p:spPr/>
        <p:txBody>
          <a:bodyPr/>
          <a:lstStyle/>
          <a:p>
            <a:r>
              <a:rPr lang="en-IN" dirty="0"/>
              <a:t>Dictionary search without blocking</a:t>
            </a:r>
          </a:p>
        </p:txBody>
      </p:sp>
      <p:sp>
        <p:nvSpPr>
          <p:cNvPr id="3" name="Content Placeholder 2">
            <a:extLst>
              <a:ext uri="{FF2B5EF4-FFF2-40B4-BE49-F238E27FC236}">
                <a16:creationId xmlns:a16="http://schemas.microsoft.com/office/drawing/2014/main" id="{B3533329-4C80-488C-E94B-78F92FE00C68}"/>
              </a:ext>
            </a:extLst>
          </p:cNvPr>
          <p:cNvSpPr>
            <a:spLocks noGrp="1"/>
          </p:cNvSpPr>
          <p:nvPr>
            <p:ph idx="1"/>
          </p:nvPr>
        </p:nvSpPr>
        <p:spPr/>
        <p:txBody>
          <a:bodyPr/>
          <a:lstStyle/>
          <a:p>
            <a:r>
              <a:rPr lang="en-US" dirty="0"/>
              <a:t>Assuming each dictionary term equally likely in query (not really so in practice!), average number of comparisons = (1+2·2+4·3+4)/8 ~2.6</a:t>
            </a:r>
            <a:endParaRPr lang="en-IN" dirty="0"/>
          </a:p>
        </p:txBody>
      </p:sp>
      <p:pic>
        <p:nvPicPr>
          <p:cNvPr id="5" name="Picture 4">
            <a:extLst>
              <a:ext uri="{FF2B5EF4-FFF2-40B4-BE49-F238E27FC236}">
                <a16:creationId xmlns:a16="http://schemas.microsoft.com/office/drawing/2014/main" id="{5746CEDD-86E6-9288-4691-42B652CA3990}"/>
              </a:ext>
            </a:extLst>
          </p:cNvPr>
          <p:cNvPicPr>
            <a:picLocks noChangeAspect="1"/>
          </p:cNvPicPr>
          <p:nvPr/>
        </p:nvPicPr>
        <p:blipFill>
          <a:blip r:embed="rId2"/>
          <a:stretch>
            <a:fillRect/>
          </a:stretch>
        </p:blipFill>
        <p:spPr>
          <a:xfrm>
            <a:off x="3474279" y="2929424"/>
            <a:ext cx="3378805" cy="3928576"/>
          </a:xfrm>
          <a:prstGeom prst="rect">
            <a:avLst/>
          </a:prstGeom>
        </p:spPr>
      </p:pic>
    </p:spTree>
    <p:extLst>
      <p:ext uri="{BB962C8B-B14F-4D97-AF65-F5344CB8AC3E}">
        <p14:creationId xmlns:p14="http://schemas.microsoft.com/office/powerpoint/2010/main" val="6544419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F546-076B-AFFD-8628-531B9C7639D2}"/>
              </a:ext>
            </a:extLst>
          </p:cNvPr>
          <p:cNvSpPr>
            <a:spLocks noGrp="1"/>
          </p:cNvSpPr>
          <p:nvPr>
            <p:ph type="title"/>
          </p:nvPr>
        </p:nvSpPr>
        <p:spPr/>
        <p:txBody>
          <a:bodyPr/>
          <a:lstStyle/>
          <a:p>
            <a:r>
              <a:rPr lang="en-IN" dirty="0"/>
              <a:t>Dictionary search with blocking</a:t>
            </a:r>
          </a:p>
        </p:txBody>
      </p:sp>
      <p:sp>
        <p:nvSpPr>
          <p:cNvPr id="3" name="Content Placeholder 2">
            <a:extLst>
              <a:ext uri="{FF2B5EF4-FFF2-40B4-BE49-F238E27FC236}">
                <a16:creationId xmlns:a16="http://schemas.microsoft.com/office/drawing/2014/main" id="{14AD2A75-BE6D-2A52-1F5D-4AE48BF5340E}"/>
              </a:ext>
            </a:extLst>
          </p:cNvPr>
          <p:cNvSpPr>
            <a:spLocks noGrp="1"/>
          </p:cNvSpPr>
          <p:nvPr>
            <p:ph idx="1"/>
          </p:nvPr>
        </p:nvSpPr>
        <p:spPr/>
        <p:txBody>
          <a:bodyPr/>
          <a:lstStyle/>
          <a:p>
            <a:r>
              <a:rPr lang="en-US" dirty="0"/>
              <a:t>Binary search down to 4-term block; </a:t>
            </a:r>
          </a:p>
          <a:p>
            <a:pPr lvl="1"/>
            <a:r>
              <a:rPr lang="en-US" dirty="0"/>
              <a:t>Then linear search through terms in block. </a:t>
            </a:r>
          </a:p>
          <a:p>
            <a:r>
              <a:rPr lang="en-US" dirty="0"/>
              <a:t>Blocks of 4 (binary tree), avg. = (1+2·2+2·3+2·4+5)/8 = 3 compares</a:t>
            </a:r>
            <a:endParaRPr lang="en-IN" dirty="0"/>
          </a:p>
        </p:txBody>
      </p:sp>
      <p:pic>
        <p:nvPicPr>
          <p:cNvPr id="5" name="Picture 4">
            <a:extLst>
              <a:ext uri="{FF2B5EF4-FFF2-40B4-BE49-F238E27FC236}">
                <a16:creationId xmlns:a16="http://schemas.microsoft.com/office/drawing/2014/main" id="{7F965AC4-ED2F-9895-616A-10DB29E63EFA}"/>
              </a:ext>
            </a:extLst>
          </p:cNvPr>
          <p:cNvPicPr>
            <a:picLocks noChangeAspect="1"/>
          </p:cNvPicPr>
          <p:nvPr/>
        </p:nvPicPr>
        <p:blipFill>
          <a:blip r:embed="rId2"/>
          <a:stretch>
            <a:fillRect/>
          </a:stretch>
        </p:blipFill>
        <p:spPr>
          <a:xfrm>
            <a:off x="1105479" y="3429000"/>
            <a:ext cx="9312447" cy="2339543"/>
          </a:xfrm>
          <a:prstGeom prst="rect">
            <a:avLst/>
          </a:prstGeom>
        </p:spPr>
      </p:pic>
    </p:spTree>
    <p:extLst>
      <p:ext uri="{BB962C8B-B14F-4D97-AF65-F5344CB8AC3E}">
        <p14:creationId xmlns:p14="http://schemas.microsoft.com/office/powerpoint/2010/main" val="25279369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720F8-E75B-E9E8-D48D-E953CE8DDCF8}"/>
              </a:ext>
            </a:extLst>
          </p:cNvPr>
          <p:cNvSpPr>
            <a:spLocks noGrp="1"/>
          </p:cNvSpPr>
          <p:nvPr>
            <p:ph type="title"/>
          </p:nvPr>
        </p:nvSpPr>
        <p:spPr/>
        <p:txBody>
          <a:bodyPr/>
          <a:lstStyle/>
          <a:p>
            <a:r>
              <a:rPr lang="en-IN" dirty="0"/>
              <a:t>Exercises</a:t>
            </a:r>
          </a:p>
        </p:txBody>
      </p:sp>
      <p:sp>
        <p:nvSpPr>
          <p:cNvPr id="3" name="Content Placeholder 2">
            <a:extLst>
              <a:ext uri="{FF2B5EF4-FFF2-40B4-BE49-F238E27FC236}">
                <a16:creationId xmlns:a16="http://schemas.microsoft.com/office/drawing/2014/main" id="{C53C33C5-D562-8547-FE84-33B0A18FAE70}"/>
              </a:ext>
            </a:extLst>
          </p:cNvPr>
          <p:cNvSpPr>
            <a:spLocks noGrp="1"/>
          </p:cNvSpPr>
          <p:nvPr>
            <p:ph idx="1"/>
          </p:nvPr>
        </p:nvSpPr>
        <p:spPr/>
        <p:txBody>
          <a:bodyPr/>
          <a:lstStyle/>
          <a:p>
            <a:r>
              <a:rPr lang="en-US" dirty="0"/>
              <a:t>Estimate the space usage (and savings compared to 7.6 MB) with blocking, for block sizes of k = 4, 8 and 16. </a:t>
            </a:r>
          </a:p>
          <a:p>
            <a:r>
              <a:rPr lang="en-US" dirty="0"/>
              <a:t>Estimate the impact on search performance (and slowdown compared to k=1) with blocking, for block sizes of k = 4, 8 and 16.</a:t>
            </a:r>
            <a:endParaRPr lang="en-IN" dirty="0"/>
          </a:p>
        </p:txBody>
      </p:sp>
    </p:spTree>
    <p:extLst>
      <p:ext uri="{BB962C8B-B14F-4D97-AF65-F5344CB8AC3E}">
        <p14:creationId xmlns:p14="http://schemas.microsoft.com/office/powerpoint/2010/main" val="19589966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F13D-D109-27A1-7C4F-BBBB8E450EAB}"/>
              </a:ext>
            </a:extLst>
          </p:cNvPr>
          <p:cNvSpPr>
            <a:spLocks noGrp="1"/>
          </p:cNvSpPr>
          <p:nvPr>
            <p:ph type="title"/>
          </p:nvPr>
        </p:nvSpPr>
        <p:spPr/>
        <p:txBody>
          <a:bodyPr/>
          <a:lstStyle/>
          <a:p>
            <a:r>
              <a:rPr lang="en-IN" dirty="0"/>
              <a:t>Front coding</a:t>
            </a:r>
          </a:p>
        </p:txBody>
      </p:sp>
      <p:sp>
        <p:nvSpPr>
          <p:cNvPr id="3" name="Content Placeholder 2">
            <a:extLst>
              <a:ext uri="{FF2B5EF4-FFF2-40B4-BE49-F238E27FC236}">
                <a16:creationId xmlns:a16="http://schemas.microsoft.com/office/drawing/2014/main" id="{B6F4F9CE-33CF-4935-5626-B533328A9815}"/>
              </a:ext>
            </a:extLst>
          </p:cNvPr>
          <p:cNvSpPr>
            <a:spLocks noGrp="1"/>
          </p:cNvSpPr>
          <p:nvPr>
            <p:ph idx="1"/>
          </p:nvPr>
        </p:nvSpPr>
        <p:spPr/>
        <p:txBody>
          <a:bodyPr/>
          <a:lstStyle/>
          <a:p>
            <a:r>
              <a:rPr lang="en-US" dirty="0"/>
              <a:t>Front-coding: </a:t>
            </a:r>
          </a:p>
          <a:p>
            <a:pPr lvl="1"/>
            <a:r>
              <a:rPr lang="en-US" dirty="0"/>
              <a:t>Sorted words commonly have long common prefix – store differences only </a:t>
            </a:r>
          </a:p>
          <a:p>
            <a:pPr lvl="1"/>
            <a:r>
              <a:rPr lang="en-US" dirty="0"/>
              <a:t>(for last k-1 in a block of k)</a:t>
            </a:r>
            <a:endParaRPr lang="en-IN" dirty="0"/>
          </a:p>
        </p:txBody>
      </p:sp>
      <p:pic>
        <p:nvPicPr>
          <p:cNvPr id="5" name="Picture 4">
            <a:extLst>
              <a:ext uri="{FF2B5EF4-FFF2-40B4-BE49-F238E27FC236}">
                <a16:creationId xmlns:a16="http://schemas.microsoft.com/office/drawing/2014/main" id="{8E86F2F1-7003-FFD7-AC28-622FB74244DB}"/>
              </a:ext>
            </a:extLst>
          </p:cNvPr>
          <p:cNvPicPr>
            <a:picLocks noChangeAspect="1"/>
          </p:cNvPicPr>
          <p:nvPr/>
        </p:nvPicPr>
        <p:blipFill>
          <a:blip r:embed="rId2"/>
          <a:stretch>
            <a:fillRect/>
          </a:stretch>
        </p:blipFill>
        <p:spPr>
          <a:xfrm>
            <a:off x="1031165" y="3187429"/>
            <a:ext cx="8359864" cy="3124471"/>
          </a:xfrm>
          <a:prstGeom prst="rect">
            <a:avLst/>
          </a:prstGeom>
        </p:spPr>
      </p:pic>
    </p:spTree>
    <p:extLst>
      <p:ext uri="{BB962C8B-B14F-4D97-AF65-F5344CB8AC3E}">
        <p14:creationId xmlns:p14="http://schemas.microsoft.com/office/powerpoint/2010/main" val="22110309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A47E-5336-EB02-C87B-3562BAA95E9D}"/>
              </a:ext>
            </a:extLst>
          </p:cNvPr>
          <p:cNvSpPr>
            <a:spLocks noGrp="1"/>
          </p:cNvSpPr>
          <p:nvPr>
            <p:ph type="title"/>
          </p:nvPr>
        </p:nvSpPr>
        <p:spPr/>
        <p:txBody>
          <a:bodyPr/>
          <a:lstStyle/>
          <a:p>
            <a:r>
              <a:rPr lang="en-IN" dirty="0"/>
              <a:t>RCV1 dictionary compression summary</a:t>
            </a:r>
          </a:p>
        </p:txBody>
      </p:sp>
      <p:sp>
        <p:nvSpPr>
          <p:cNvPr id="3" name="Content Placeholder 2">
            <a:extLst>
              <a:ext uri="{FF2B5EF4-FFF2-40B4-BE49-F238E27FC236}">
                <a16:creationId xmlns:a16="http://schemas.microsoft.com/office/drawing/2014/main" id="{E9CD1EFA-A009-5ECA-338D-2FE8A9EF147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9088269-7063-1419-324E-41BA6C480606}"/>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285551" y="1825625"/>
            <a:ext cx="8893311" cy="4351397"/>
          </a:xfrm>
          <a:prstGeom prst="rect">
            <a:avLst/>
          </a:prstGeom>
        </p:spPr>
      </p:pic>
    </p:spTree>
    <p:extLst>
      <p:ext uri="{BB962C8B-B14F-4D97-AF65-F5344CB8AC3E}">
        <p14:creationId xmlns:p14="http://schemas.microsoft.com/office/powerpoint/2010/main" val="24497164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BA19C-02A5-D509-858C-8E60811AE8AA}"/>
              </a:ext>
            </a:extLst>
          </p:cNvPr>
          <p:cNvSpPr>
            <a:spLocks noGrp="1"/>
          </p:cNvSpPr>
          <p:nvPr>
            <p:ph type="title"/>
          </p:nvPr>
        </p:nvSpPr>
        <p:spPr/>
        <p:txBody>
          <a:bodyPr/>
          <a:lstStyle/>
          <a:p>
            <a:r>
              <a:rPr lang="en-IN" dirty="0"/>
              <a:t>POSTINGS COMPRESSION</a:t>
            </a:r>
          </a:p>
        </p:txBody>
      </p:sp>
      <p:sp>
        <p:nvSpPr>
          <p:cNvPr id="3" name="Content Placeholder 2">
            <a:extLst>
              <a:ext uri="{FF2B5EF4-FFF2-40B4-BE49-F238E27FC236}">
                <a16:creationId xmlns:a16="http://schemas.microsoft.com/office/drawing/2014/main" id="{BEC0D9C8-8ECC-EC74-5E19-99664926125C}"/>
              </a:ext>
            </a:extLst>
          </p:cNvPr>
          <p:cNvSpPr>
            <a:spLocks noGrp="1"/>
          </p:cNvSpPr>
          <p:nvPr>
            <p:ph idx="1"/>
          </p:nvPr>
        </p:nvSpPr>
        <p:spPr/>
        <p:txBody>
          <a:bodyPr/>
          <a:lstStyle/>
          <a:p>
            <a:r>
              <a:rPr lang="en-US" dirty="0"/>
              <a:t>The postings file is much larger than the dictionary, factor of at least 10, often over 100 times larger </a:t>
            </a:r>
          </a:p>
          <a:p>
            <a:r>
              <a:rPr lang="en-US" dirty="0"/>
              <a:t>Key desideratum: store each posting compactly. </a:t>
            </a:r>
          </a:p>
          <a:p>
            <a:r>
              <a:rPr lang="en-US" dirty="0"/>
              <a:t>A posting for our purposes is a </a:t>
            </a:r>
            <a:r>
              <a:rPr lang="en-US" dirty="0" err="1"/>
              <a:t>docID</a:t>
            </a:r>
            <a:r>
              <a:rPr lang="en-US" dirty="0"/>
              <a:t>. </a:t>
            </a:r>
          </a:p>
          <a:p>
            <a:r>
              <a:rPr lang="en-US" dirty="0"/>
              <a:t>For Reuters (800,000 documents), we would use 32 bits per </a:t>
            </a:r>
            <a:r>
              <a:rPr lang="en-US" dirty="0" err="1"/>
              <a:t>docID</a:t>
            </a:r>
            <a:r>
              <a:rPr lang="en-US" dirty="0"/>
              <a:t> when using 4-byte integers. </a:t>
            </a:r>
          </a:p>
          <a:p>
            <a:r>
              <a:rPr lang="en-US" dirty="0"/>
              <a:t>Alternatively, we can use log2 800,000 ≈ 20 bits per </a:t>
            </a:r>
            <a:r>
              <a:rPr lang="en-US" dirty="0" err="1"/>
              <a:t>docID</a:t>
            </a:r>
            <a:r>
              <a:rPr lang="en-US" dirty="0"/>
              <a:t>. </a:t>
            </a:r>
          </a:p>
          <a:p>
            <a:r>
              <a:rPr lang="en-US" dirty="0"/>
              <a:t>Our goal: use far fewer than 20 bits per </a:t>
            </a:r>
            <a:r>
              <a:rPr lang="en-US" dirty="0" err="1"/>
              <a:t>docID</a:t>
            </a:r>
            <a:r>
              <a:rPr lang="en-US" dirty="0"/>
              <a:t>.</a:t>
            </a:r>
            <a:endParaRPr lang="en-IN" dirty="0"/>
          </a:p>
        </p:txBody>
      </p:sp>
    </p:spTree>
    <p:extLst>
      <p:ext uri="{BB962C8B-B14F-4D97-AF65-F5344CB8AC3E}">
        <p14:creationId xmlns:p14="http://schemas.microsoft.com/office/powerpoint/2010/main" val="21748239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08AFB-CCD3-BCB2-B684-CC6631A2F9EC}"/>
              </a:ext>
            </a:extLst>
          </p:cNvPr>
          <p:cNvSpPr>
            <a:spLocks noGrp="1"/>
          </p:cNvSpPr>
          <p:nvPr>
            <p:ph type="title"/>
          </p:nvPr>
        </p:nvSpPr>
        <p:spPr/>
        <p:txBody>
          <a:bodyPr/>
          <a:lstStyle/>
          <a:p>
            <a:r>
              <a:rPr lang="en-IN" dirty="0"/>
              <a:t>Postings: two conflicting forces</a:t>
            </a:r>
          </a:p>
        </p:txBody>
      </p:sp>
      <p:sp>
        <p:nvSpPr>
          <p:cNvPr id="3" name="Content Placeholder 2">
            <a:extLst>
              <a:ext uri="{FF2B5EF4-FFF2-40B4-BE49-F238E27FC236}">
                <a16:creationId xmlns:a16="http://schemas.microsoft.com/office/drawing/2014/main" id="{74E85839-F978-16CD-693E-738D9D7DF534}"/>
              </a:ext>
            </a:extLst>
          </p:cNvPr>
          <p:cNvSpPr>
            <a:spLocks noGrp="1"/>
          </p:cNvSpPr>
          <p:nvPr>
            <p:ph idx="1"/>
          </p:nvPr>
        </p:nvSpPr>
        <p:spPr/>
        <p:txBody>
          <a:bodyPr/>
          <a:lstStyle/>
          <a:p>
            <a:r>
              <a:rPr lang="en-US" dirty="0"/>
              <a:t>A term like </a:t>
            </a:r>
            <a:r>
              <a:rPr lang="en-US" dirty="0" err="1"/>
              <a:t>arachnocentric</a:t>
            </a:r>
            <a:r>
              <a:rPr lang="en-US" dirty="0"/>
              <a:t> occurs in maybe one doc out of a million – we would like to store this posting using log2 1M ≈ 20 bits. </a:t>
            </a:r>
          </a:p>
          <a:p>
            <a:r>
              <a:rPr lang="en-US" dirty="0"/>
              <a:t>A term like ‘the’ occurs in virtually every doc, so 20 bits/posting ≈ 2MB is too expensive. </a:t>
            </a:r>
          </a:p>
          <a:p>
            <a:pPr lvl="1"/>
            <a:r>
              <a:rPr lang="en-US" dirty="0"/>
              <a:t>Prefer 0/1 bitmap vector in this case (≈100K)</a:t>
            </a:r>
            <a:endParaRPr lang="en-IN" dirty="0"/>
          </a:p>
        </p:txBody>
      </p:sp>
    </p:spTree>
    <p:extLst>
      <p:ext uri="{BB962C8B-B14F-4D97-AF65-F5344CB8AC3E}">
        <p14:creationId xmlns:p14="http://schemas.microsoft.com/office/powerpoint/2010/main" val="1413850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8CEA7-CD02-57F0-A328-D7DA0D442796}"/>
              </a:ext>
            </a:extLst>
          </p:cNvPr>
          <p:cNvSpPr>
            <a:spLocks noGrp="1"/>
          </p:cNvSpPr>
          <p:nvPr>
            <p:ph type="title"/>
          </p:nvPr>
        </p:nvSpPr>
        <p:spPr/>
        <p:txBody>
          <a:bodyPr/>
          <a:lstStyle/>
          <a:p>
            <a:r>
              <a:rPr lang="en-US" dirty="0"/>
              <a:t>Gap encoding of postings file entries</a:t>
            </a:r>
            <a:endParaRPr lang="en-IN" dirty="0"/>
          </a:p>
        </p:txBody>
      </p:sp>
      <p:sp>
        <p:nvSpPr>
          <p:cNvPr id="3" name="Content Placeholder 2">
            <a:extLst>
              <a:ext uri="{FF2B5EF4-FFF2-40B4-BE49-F238E27FC236}">
                <a16:creationId xmlns:a16="http://schemas.microsoft.com/office/drawing/2014/main" id="{C020C194-FA20-14DD-A31F-14E787FA194F}"/>
              </a:ext>
            </a:extLst>
          </p:cNvPr>
          <p:cNvSpPr>
            <a:spLocks noGrp="1"/>
          </p:cNvSpPr>
          <p:nvPr>
            <p:ph idx="1"/>
          </p:nvPr>
        </p:nvSpPr>
        <p:spPr/>
        <p:txBody>
          <a:bodyPr/>
          <a:lstStyle/>
          <a:p>
            <a:r>
              <a:rPr lang="en-US" dirty="0"/>
              <a:t>We store the list of docs containing a term in increasing order of </a:t>
            </a:r>
            <a:r>
              <a:rPr lang="en-US" dirty="0" err="1"/>
              <a:t>docID</a:t>
            </a:r>
            <a:r>
              <a:rPr lang="en-US" dirty="0"/>
              <a:t>. </a:t>
            </a:r>
          </a:p>
          <a:p>
            <a:pPr lvl="1"/>
            <a:r>
              <a:rPr lang="en-US" dirty="0"/>
              <a:t>computer: 33,47,154,159,202 … </a:t>
            </a:r>
          </a:p>
          <a:p>
            <a:r>
              <a:rPr lang="en-US" dirty="0"/>
              <a:t>Consequence: it suffices to store gaps. </a:t>
            </a:r>
          </a:p>
          <a:p>
            <a:pPr lvl="1"/>
            <a:r>
              <a:rPr lang="en-US" dirty="0"/>
              <a:t>33,14,107,5,43 … </a:t>
            </a:r>
          </a:p>
          <a:p>
            <a:r>
              <a:rPr lang="en-US" dirty="0"/>
              <a:t>Hope: most gaps can be encoded/stored with far fewer than 20 bits. </a:t>
            </a:r>
          </a:p>
          <a:p>
            <a:r>
              <a:rPr lang="en-US" dirty="0"/>
              <a:t>Especially for common words</a:t>
            </a:r>
            <a:endParaRPr lang="en-IN" dirty="0"/>
          </a:p>
        </p:txBody>
      </p:sp>
    </p:spTree>
    <p:extLst>
      <p:ext uri="{BB962C8B-B14F-4D97-AF65-F5344CB8AC3E}">
        <p14:creationId xmlns:p14="http://schemas.microsoft.com/office/powerpoint/2010/main" val="37563732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2BCC-5821-7E55-8EA8-0BFC8F8ABABC}"/>
              </a:ext>
            </a:extLst>
          </p:cNvPr>
          <p:cNvSpPr>
            <a:spLocks noGrp="1"/>
          </p:cNvSpPr>
          <p:nvPr>
            <p:ph type="title"/>
          </p:nvPr>
        </p:nvSpPr>
        <p:spPr/>
        <p:txBody>
          <a:bodyPr/>
          <a:lstStyle/>
          <a:p>
            <a:r>
              <a:rPr lang="en-IN" dirty="0"/>
              <a:t>Three postings entries</a:t>
            </a:r>
          </a:p>
        </p:txBody>
      </p:sp>
      <p:sp>
        <p:nvSpPr>
          <p:cNvPr id="3" name="Content Placeholder 2">
            <a:extLst>
              <a:ext uri="{FF2B5EF4-FFF2-40B4-BE49-F238E27FC236}">
                <a16:creationId xmlns:a16="http://schemas.microsoft.com/office/drawing/2014/main" id="{2AFF00E4-D3EC-3080-F528-E5F530AEAAF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8F9A498-15C5-24F2-F33A-D7832A79D122}"/>
              </a:ext>
            </a:extLst>
          </p:cNvPr>
          <p:cNvPicPr>
            <a:picLocks noChangeAspect="1"/>
          </p:cNvPicPr>
          <p:nvPr/>
        </p:nvPicPr>
        <p:blipFill>
          <a:blip r:embed="rId2"/>
          <a:stretch>
            <a:fillRect/>
          </a:stretch>
        </p:blipFill>
        <p:spPr>
          <a:xfrm>
            <a:off x="951840" y="2373538"/>
            <a:ext cx="9541067" cy="2110923"/>
          </a:xfrm>
          <a:prstGeom prst="rect">
            <a:avLst/>
          </a:prstGeom>
        </p:spPr>
      </p:pic>
    </p:spTree>
    <p:extLst>
      <p:ext uri="{BB962C8B-B14F-4D97-AF65-F5344CB8AC3E}">
        <p14:creationId xmlns:p14="http://schemas.microsoft.com/office/powerpoint/2010/main" val="21577456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610B-A54B-2E48-6B3E-FB99BEB5C940}"/>
              </a:ext>
            </a:extLst>
          </p:cNvPr>
          <p:cNvSpPr>
            <a:spLocks noGrp="1"/>
          </p:cNvSpPr>
          <p:nvPr>
            <p:ph type="title"/>
          </p:nvPr>
        </p:nvSpPr>
        <p:spPr/>
        <p:txBody>
          <a:bodyPr/>
          <a:lstStyle/>
          <a:p>
            <a:r>
              <a:rPr lang="en-IN" dirty="0"/>
              <a:t>Variable length encoding</a:t>
            </a:r>
          </a:p>
        </p:txBody>
      </p:sp>
      <p:sp>
        <p:nvSpPr>
          <p:cNvPr id="3" name="Content Placeholder 2">
            <a:extLst>
              <a:ext uri="{FF2B5EF4-FFF2-40B4-BE49-F238E27FC236}">
                <a16:creationId xmlns:a16="http://schemas.microsoft.com/office/drawing/2014/main" id="{E4D43633-17B2-FCD2-9295-FC2136DE0F14}"/>
              </a:ext>
            </a:extLst>
          </p:cNvPr>
          <p:cNvSpPr>
            <a:spLocks noGrp="1"/>
          </p:cNvSpPr>
          <p:nvPr>
            <p:ph idx="1"/>
          </p:nvPr>
        </p:nvSpPr>
        <p:spPr/>
        <p:txBody>
          <a:bodyPr>
            <a:normAutofit lnSpcReduction="10000"/>
          </a:bodyPr>
          <a:lstStyle/>
          <a:p>
            <a:r>
              <a:rPr lang="en-US" dirty="0"/>
              <a:t>Aim: </a:t>
            </a:r>
          </a:p>
          <a:p>
            <a:pPr lvl="1"/>
            <a:r>
              <a:rPr lang="en-US" dirty="0"/>
              <a:t>For </a:t>
            </a:r>
            <a:r>
              <a:rPr lang="en-US" dirty="0" err="1"/>
              <a:t>arachnocentric</a:t>
            </a:r>
            <a:r>
              <a:rPr lang="en-US" dirty="0"/>
              <a:t>, we will use ~20 bits/gap entry. </a:t>
            </a:r>
          </a:p>
          <a:p>
            <a:pPr lvl="1"/>
            <a:r>
              <a:rPr lang="en-US" dirty="0"/>
              <a:t>For the, we will use ~1 bit/gap entry. </a:t>
            </a:r>
          </a:p>
          <a:p>
            <a:r>
              <a:rPr lang="en-US" dirty="0"/>
              <a:t>If the average gap for a term is G, we want to use ~log2G bits/gap entry. </a:t>
            </a:r>
          </a:p>
          <a:p>
            <a:r>
              <a:rPr lang="en-US" dirty="0"/>
              <a:t>Key challenge: encode every integer (gap) with about as few bits as needed for that integer. </a:t>
            </a:r>
          </a:p>
          <a:p>
            <a:r>
              <a:rPr lang="en-US" dirty="0"/>
              <a:t>This requires a variable length encoding </a:t>
            </a:r>
          </a:p>
          <a:p>
            <a:r>
              <a:rPr lang="en-US" dirty="0"/>
              <a:t>Variable length codes achieve this by using short codes for small numbers</a:t>
            </a:r>
            <a:endParaRPr lang="en-IN" dirty="0"/>
          </a:p>
        </p:txBody>
      </p:sp>
    </p:spTree>
    <p:extLst>
      <p:ext uri="{BB962C8B-B14F-4D97-AF65-F5344CB8AC3E}">
        <p14:creationId xmlns:p14="http://schemas.microsoft.com/office/powerpoint/2010/main" val="8565121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FA41-28DA-12A9-F4B6-CC57BA68351F}"/>
              </a:ext>
            </a:extLst>
          </p:cNvPr>
          <p:cNvSpPr>
            <a:spLocks noGrp="1"/>
          </p:cNvSpPr>
          <p:nvPr>
            <p:ph type="title"/>
          </p:nvPr>
        </p:nvSpPr>
        <p:spPr/>
        <p:txBody>
          <a:bodyPr/>
          <a:lstStyle/>
          <a:p>
            <a:r>
              <a:rPr lang="en-IN" dirty="0"/>
              <a:t>Variable Byte (VB) codes</a:t>
            </a:r>
          </a:p>
        </p:txBody>
      </p:sp>
      <p:sp>
        <p:nvSpPr>
          <p:cNvPr id="3" name="Content Placeholder 2">
            <a:extLst>
              <a:ext uri="{FF2B5EF4-FFF2-40B4-BE49-F238E27FC236}">
                <a16:creationId xmlns:a16="http://schemas.microsoft.com/office/drawing/2014/main" id="{5F2837D0-A3C4-D0D7-A990-2918E363DDFF}"/>
              </a:ext>
            </a:extLst>
          </p:cNvPr>
          <p:cNvSpPr>
            <a:spLocks noGrp="1"/>
          </p:cNvSpPr>
          <p:nvPr>
            <p:ph idx="1"/>
          </p:nvPr>
        </p:nvSpPr>
        <p:spPr/>
        <p:txBody>
          <a:bodyPr/>
          <a:lstStyle/>
          <a:p>
            <a:r>
              <a:rPr lang="en-US" dirty="0"/>
              <a:t>For a gap value G, we want to use close to the fewest bytes needed to hold log2 G bits </a:t>
            </a:r>
          </a:p>
          <a:p>
            <a:r>
              <a:rPr lang="en-US" dirty="0"/>
              <a:t>Begin with one byte to store G and dedicate 1 bit in it to be a continuation bit c </a:t>
            </a:r>
          </a:p>
          <a:p>
            <a:r>
              <a:rPr lang="en-US" dirty="0"/>
              <a:t>If G ≤127, binary-encode it in the 7 available bits and set c =1 </a:t>
            </a:r>
          </a:p>
          <a:p>
            <a:r>
              <a:rPr lang="en-US" dirty="0"/>
              <a:t>Else encode G’s lower-order 7 bits and then use additional bytes to encode the higher order bits using the same algorithm </a:t>
            </a:r>
          </a:p>
          <a:p>
            <a:r>
              <a:rPr lang="en-US" dirty="0"/>
              <a:t>At the end set the continuation bit of the last byte to 1 (c =1) – and for the other bytes c = 0.</a:t>
            </a:r>
            <a:endParaRPr lang="en-IN" dirty="0"/>
          </a:p>
        </p:txBody>
      </p:sp>
    </p:spTree>
    <p:extLst>
      <p:ext uri="{BB962C8B-B14F-4D97-AF65-F5344CB8AC3E}">
        <p14:creationId xmlns:p14="http://schemas.microsoft.com/office/powerpoint/2010/main" val="11693223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4E964-8D26-21F6-2674-22EE432DA1F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FA70C81-3031-7F1C-B162-866ACF39542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A5C2E17-6460-BED9-A52E-3306087242FF}"/>
              </a:ext>
            </a:extLst>
          </p:cNvPr>
          <p:cNvPicPr>
            <a:picLocks noChangeAspect="1"/>
          </p:cNvPicPr>
          <p:nvPr/>
        </p:nvPicPr>
        <p:blipFill>
          <a:blip r:embed="rId2"/>
          <a:stretch>
            <a:fillRect/>
          </a:stretch>
        </p:blipFill>
        <p:spPr>
          <a:xfrm>
            <a:off x="969667" y="1573667"/>
            <a:ext cx="8272656" cy="4855253"/>
          </a:xfrm>
          <a:prstGeom prst="rect">
            <a:avLst/>
          </a:prstGeom>
        </p:spPr>
      </p:pic>
    </p:spTree>
    <p:extLst>
      <p:ext uri="{BB962C8B-B14F-4D97-AF65-F5344CB8AC3E}">
        <p14:creationId xmlns:p14="http://schemas.microsoft.com/office/powerpoint/2010/main" val="33757985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8987-B740-0C78-FDBC-BB90F79A2399}"/>
              </a:ext>
            </a:extLst>
          </p:cNvPr>
          <p:cNvSpPr>
            <a:spLocks noGrp="1"/>
          </p:cNvSpPr>
          <p:nvPr>
            <p:ph type="title"/>
          </p:nvPr>
        </p:nvSpPr>
        <p:spPr/>
        <p:txBody>
          <a:bodyPr/>
          <a:lstStyle/>
          <a:p>
            <a:r>
              <a:rPr lang="en-IN" dirty="0"/>
              <a:t>Unary code</a:t>
            </a:r>
          </a:p>
        </p:txBody>
      </p:sp>
      <p:sp>
        <p:nvSpPr>
          <p:cNvPr id="3" name="Content Placeholder 2">
            <a:extLst>
              <a:ext uri="{FF2B5EF4-FFF2-40B4-BE49-F238E27FC236}">
                <a16:creationId xmlns:a16="http://schemas.microsoft.com/office/drawing/2014/main" id="{A3840250-D39D-1D8E-897D-CF1306E99955}"/>
              </a:ext>
            </a:extLst>
          </p:cNvPr>
          <p:cNvSpPr>
            <a:spLocks noGrp="1"/>
          </p:cNvSpPr>
          <p:nvPr>
            <p:ph idx="1"/>
          </p:nvPr>
        </p:nvSpPr>
        <p:spPr/>
        <p:txBody>
          <a:bodyPr>
            <a:normAutofit lnSpcReduction="10000"/>
          </a:bodyPr>
          <a:lstStyle/>
          <a:p>
            <a:r>
              <a:rPr lang="en-US" dirty="0"/>
              <a:t>Represent n as n 1s with a final 0. </a:t>
            </a:r>
          </a:p>
          <a:p>
            <a:r>
              <a:rPr lang="en-US" dirty="0"/>
              <a:t>Unary code for 3 is 1110. </a:t>
            </a:r>
          </a:p>
          <a:p>
            <a:r>
              <a:rPr lang="en-US" dirty="0"/>
              <a:t>Unary code for 40 is 11111111111111111111111111111111111111110 . </a:t>
            </a:r>
          </a:p>
          <a:p>
            <a:r>
              <a:rPr lang="en-US" dirty="0"/>
              <a:t>Unary code for 80 is: 11111111111111111111111111111111111111111111 1111111111111111111111111111111111110 </a:t>
            </a:r>
          </a:p>
          <a:p>
            <a:r>
              <a:rPr lang="en-US" dirty="0"/>
              <a:t>This doesn’t look promising, but…. </a:t>
            </a:r>
          </a:p>
          <a:p>
            <a:pPr lvl="1"/>
            <a:r>
              <a:rPr lang="en-US" dirty="0"/>
              <a:t>Optimal if P(n) = 2–n </a:t>
            </a:r>
          </a:p>
          <a:p>
            <a:pPr lvl="1"/>
            <a:r>
              <a:rPr lang="en-US" dirty="0"/>
              <a:t>We can use it as part of our solution</a:t>
            </a:r>
            <a:endParaRPr lang="en-IN" dirty="0"/>
          </a:p>
        </p:txBody>
      </p:sp>
    </p:spTree>
    <p:extLst>
      <p:ext uri="{BB962C8B-B14F-4D97-AF65-F5344CB8AC3E}">
        <p14:creationId xmlns:p14="http://schemas.microsoft.com/office/powerpoint/2010/main" val="3421926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F085-1964-0826-9A6A-391B350F3F03}"/>
              </a:ext>
            </a:extLst>
          </p:cNvPr>
          <p:cNvSpPr>
            <a:spLocks noGrp="1"/>
          </p:cNvSpPr>
          <p:nvPr>
            <p:ph type="title"/>
          </p:nvPr>
        </p:nvSpPr>
        <p:spPr/>
        <p:txBody>
          <a:bodyPr/>
          <a:lstStyle/>
          <a:p>
            <a:r>
              <a:rPr lang="en-IN" dirty="0"/>
              <a:t>Gamma codes</a:t>
            </a:r>
          </a:p>
        </p:txBody>
      </p:sp>
      <p:sp>
        <p:nvSpPr>
          <p:cNvPr id="3" name="Content Placeholder 2">
            <a:extLst>
              <a:ext uri="{FF2B5EF4-FFF2-40B4-BE49-F238E27FC236}">
                <a16:creationId xmlns:a16="http://schemas.microsoft.com/office/drawing/2014/main" id="{AC6D56D3-839A-6B9B-DBB2-B61D84F0000C}"/>
              </a:ext>
            </a:extLst>
          </p:cNvPr>
          <p:cNvSpPr>
            <a:spLocks noGrp="1"/>
          </p:cNvSpPr>
          <p:nvPr>
            <p:ph idx="1"/>
          </p:nvPr>
        </p:nvSpPr>
        <p:spPr/>
        <p:txBody>
          <a:bodyPr>
            <a:normAutofit/>
          </a:bodyPr>
          <a:lstStyle/>
          <a:p>
            <a:r>
              <a:rPr lang="en-US" dirty="0"/>
              <a:t>We can compress better with bit-level codes </a:t>
            </a:r>
          </a:p>
          <a:p>
            <a:pPr lvl="1"/>
            <a:r>
              <a:rPr lang="en-US" dirty="0"/>
              <a:t>The Gamma code is the best known of these. </a:t>
            </a:r>
          </a:p>
          <a:p>
            <a:r>
              <a:rPr lang="en-US" dirty="0"/>
              <a:t>Represent a gap G as a pair length and offset </a:t>
            </a:r>
          </a:p>
          <a:p>
            <a:r>
              <a:rPr lang="en-US" dirty="0"/>
              <a:t>offset is G in binary, with the leading bit cut off </a:t>
            </a:r>
          </a:p>
          <a:p>
            <a:pPr lvl="1"/>
            <a:r>
              <a:rPr lang="en-US" dirty="0"/>
              <a:t>For example 13 → 1101 → 101 </a:t>
            </a:r>
          </a:p>
          <a:p>
            <a:r>
              <a:rPr lang="en-US" dirty="0"/>
              <a:t>length is the length of offset </a:t>
            </a:r>
          </a:p>
          <a:p>
            <a:pPr lvl="1"/>
            <a:r>
              <a:rPr lang="en-US" dirty="0"/>
              <a:t>For 13 (offset 101), this is 3. </a:t>
            </a:r>
          </a:p>
          <a:p>
            <a:r>
              <a:rPr lang="en-US" dirty="0"/>
              <a:t>We encode length with unary code: 1110. </a:t>
            </a:r>
          </a:p>
          <a:p>
            <a:r>
              <a:rPr lang="en-US" dirty="0"/>
              <a:t>Gamma code of 13 is the concatenation of length and offset: 1110101</a:t>
            </a:r>
            <a:endParaRPr lang="en-IN" dirty="0"/>
          </a:p>
        </p:txBody>
      </p:sp>
    </p:spTree>
    <p:extLst>
      <p:ext uri="{BB962C8B-B14F-4D97-AF65-F5344CB8AC3E}">
        <p14:creationId xmlns:p14="http://schemas.microsoft.com/office/powerpoint/2010/main" val="42821350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2687-B326-7A33-2283-0FA97A28A177}"/>
              </a:ext>
            </a:extLst>
          </p:cNvPr>
          <p:cNvSpPr>
            <a:spLocks noGrp="1"/>
          </p:cNvSpPr>
          <p:nvPr>
            <p:ph type="title"/>
          </p:nvPr>
        </p:nvSpPr>
        <p:spPr/>
        <p:txBody>
          <a:bodyPr/>
          <a:lstStyle/>
          <a:p>
            <a:r>
              <a:rPr lang="en-IN" dirty="0"/>
              <a:t>Gamma code examples</a:t>
            </a:r>
          </a:p>
        </p:txBody>
      </p:sp>
      <p:sp>
        <p:nvSpPr>
          <p:cNvPr id="3" name="Content Placeholder 2">
            <a:extLst>
              <a:ext uri="{FF2B5EF4-FFF2-40B4-BE49-F238E27FC236}">
                <a16:creationId xmlns:a16="http://schemas.microsoft.com/office/drawing/2014/main" id="{8AFE8BB0-F80D-446E-E605-4956EE9157B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5F7EA69-59D3-D85E-5891-6D903BF84B3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194609" y="1825625"/>
            <a:ext cx="8740897" cy="4343776"/>
          </a:xfrm>
          <a:prstGeom prst="rect">
            <a:avLst/>
          </a:prstGeom>
        </p:spPr>
      </p:pic>
    </p:spTree>
    <p:extLst>
      <p:ext uri="{BB962C8B-B14F-4D97-AF65-F5344CB8AC3E}">
        <p14:creationId xmlns:p14="http://schemas.microsoft.com/office/powerpoint/2010/main" val="10865645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46DA-2FD9-67BF-7204-1E603F12B8DC}"/>
              </a:ext>
            </a:extLst>
          </p:cNvPr>
          <p:cNvSpPr>
            <a:spLocks noGrp="1"/>
          </p:cNvSpPr>
          <p:nvPr>
            <p:ph type="title"/>
          </p:nvPr>
        </p:nvSpPr>
        <p:spPr/>
        <p:txBody>
          <a:bodyPr/>
          <a:lstStyle/>
          <a:p>
            <a:r>
              <a:rPr lang="en-IN" dirty="0"/>
              <a:t>Gamma code properties</a:t>
            </a:r>
          </a:p>
        </p:txBody>
      </p:sp>
      <p:sp>
        <p:nvSpPr>
          <p:cNvPr id="3" name="Content Placeholder 2">
            <a:extLst>
              <a:ext uri="{FF2B5EF4-FFF2-40B4-BE49-F238E27FC236}">
                <a16:creationId xmlns:a16="http://schemas.microsoft.com/office/drawing/2014/main" id="{692CD1CD-72EF-2971-13F5-390846B39677}"/>
              </a:ext>
            </a:extLst>
          </p:cNvPr>
          <p:cNvSpPr>
            <a:spLocks noGrp="1"/>
          </p:cNvSpPr>
          <p:nvPr>
            <p:ph idx="1"/>
          </p:nvPr>
        </p:nvSpPr>
        <p:spPr>
          <a:xfrm>
            <a:off x="838200" y="1835457"/>
            <a:ext cx="10515600" cy="4351338"/>
          </a:xfrm>
        </p:spPr>
        <p:txBody>
          <a:bodyPr>
            <a:normAutofit/>
          </a:bodyPr>
          <a:lstStyle/>
          <a:p>
            <a:r>
              <a:rPr lang="en-IN" dirty="0"/>
              <a:t>G is encoded using 2 </a:t>
            </a:r>
            <a:r>
              <a:rPr lang="en-IN" b="0" i="0" dirty="0">
                <a:solidFill>
                  <a:srgbClr val="040C28"/>
                </a:solidFill>
                <a:effectLst/>
                <a:latin typeface="Google Sans"/>
              </a:rPr>
              <a:t>⌊</a:t>
            </a:r>
            <a:r>
              <a:rPr lang="en-IN" dirty="0"/>
              <a:t> log G </a:t>
            </a:r>
            <a:r>
              <a:rPr lang="en-IN" b="0" i="0" dirty="0">
                <a:solidFill>
                  <a:srgbClr val="040C28"/>
                </a:solidFill>
                <a:effectLst/>
                <a:latin typeface="Google Sans"/>
              </a:rPr>
              <a:t>⌋</a:t>
            </a:r>
            <a:r>
              <a:rPr lang="en-IN" b="0" i="0" dirty="0">
                <a:solidFill>
                  <a:srgbClr val="202124"/>
                </a:solidFill>
                <a:effectLst/>
                <a:latin typeface="Google Sans"/>
              </a:rPr>
              <a:t> </a:t>
            </a:r>
            <a:r>
              <a:rPr lang="en-IN" dirty="0"/>
              <a:t> + 1 bits  </a:t>
            </a:r>
          </a:p>
          <a:p>
            <a:pPr lvl="1"/>
            <a:r>
              <a:rPr lang="en-IN" dirty="0"/>
              <a:t>Length of offset is </a:t>
            </a:r>
            <a:r>
              <a:rPr lang="en-IN" b="0" i="0" dirty="0">
                <a:solidFill>
                  <a:srgbClr val="040C28"/>
                </a:solidFill>
                <a:effectLst/>
                <a:latin typeface="Google Sans"/>
              </a:rPr>
              <a:t>⌊ </a:t>
            </a:r>
            <a:r>
              <a:rPr lang="en-IN" dirty="0"/>
              <a:t>log G</a:t>
            </a:r>
            <a:r>
              <a:rPr lang="en-IN" b="0" i="0" dirty="0">
                <a:solidFill>
                  <a:srgbClr val="040C28"/>
                </a:solidFill>
                <a:effectLst/>
                <a:latin typeface="Google Sans"/>
              </a:rPr>
              <a:t>⌋</a:t>
            </a:r>
            <a:r>
              <a:rPr lang="en-IN" b="0" i="0" dirty="0">
                <a:solidFill>
                  <a:srgbClr val="202124"/>
                </a:solidFill>
                <a:effectLst/>
                <a:latin typeface="Google Sans"/>
              </a:rPr>
              <a:t> </a:t>
            </a:r>
            <a:r>
              <a:rPr lang="en-IN" dirty="0"/>
              <a:t> bits </a:t>
            </a:r>
          </a:p>
          <a:p>
            <a:pPr lvl="1"/>
            <a:r>
              <a:rPr lang="en-IN" dirty="0"/>
              <a:t>Length of length is </a:t>
            </a:r>
            <a:r>
              <a:rPr lang="en-IN" b="0" i="0" dirty="0">
                <a:solidFill>
                  <a:srgbClr val="040C28"/>
                </a:solidFill>
                <a:effectLst/>
                <a:latin typeface="Google Sans"/>
              </a:rPr>
              <a:t>⌊</a:t>
            </a:r>
            <a:r>
              <a:rPr lang="en-IN" dirty="0"/>
              <a:t> log G </a:t>
            </a:r>
            <a:r>
              <a:rPr lang="en-IN" b="0" i="0" dirty="0">
                <a:solidFill>
                  <a:srgbClr val="040C28"/>
                </a:solidFill>
                <a:effectLst/>
                <a:latin typeface="Google Sans"/>
              </a:rPr>
              <a:t>⌋</a:t>
            </a:r>
            <a:r>
              <a:rPr lang="en-IN" dirty="0"/>
              <a:t> + 1 bits </a:t>
            </a:r>
          </a:p>
          <a:p>
            <a:r>
              <a:rPr lang="en-IN" dirty="0"/>
              <a:t>Almost within a factor of 2 of best possible, log</a:t>
            </a:r>
            <a:r>
              <a:rPr lang="en-IN" sz="1600" dirty="0"/>
              <a:t>2</a:t>
            </a:r>
            <a:r>
              <a:rPr lang="en-IN" dirty="0"/>
              <a:t> G </a:t>
            </a:r>
          </a:p>
          <a:p>
            <a:r>
              <a:rPr lang="en-IN" dirty="0"/>
              <a:t>Gamma code is uniquely prefix-decodable. </a:t>
            </a:r>
          </a:p>
        </p:txBody>
      </p:sp>
    </p:spTree>
    <p:extLst>
      <p:ext uri="{BB962C8B-B14F-4D97-AF65-F5344CB8AC3E}">
        <p14:creationId xmlns:p14="http://schemas.microsoft.com/office/powerpoint/2010/main" val="6619052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33C6-EB39-9C4A-EDD4-A20B41E0628E}"/>
              </a:ext>
            </a:extLst>
          </p:cNvPr>
          <p:cNvSpPr>
            <a:spLocks noGrp="1"/>
          </p:cNvSpPr>
          <p:nvPr>
            <p:ph type="title"/>
          </p:nvPr>
        </p:nvSpPr>
        <p:spPr/>
        <p:txBody>
          <a:bodyPr/>
          <a:lstStyle/>
          <a:p>
            <a:r>
              <a:rPr lang="en-US" dirty="0"/>
              <a:t>Gamma seldom used in practice</a:t>
            </a:r>
            <a:endParaRPr lang="en-IN" dirty="0"/>
          </a:p>
        </p:txBody>
      </p:sp>
      <p:sp>
        <p:nvSpPr>
          <p:cNvPr id="3" name="Content Placeholder 2">
            <a:extLst>
              <a:ext uri="{FF2B5EF4-FFF2-40B4-BE49-F238E27FC236}">
                <a16:creationId xmlns:a16="http://schemas.microsoft.com/office/drawing/2014/main" id="{2A55BD6A-8189-1D6B-EFE0-B262B0AE4C10}"/>
              </a:ext>
            </a:extLst>
          </p:cNvPr>
          <p:cNvSpPr>
            <a:spLocks noGrp="1"/>
          </p:cNvSpPr>
          <p:nvPr>
            <p:ph idx="1"/>
          </p:nvPr>
        </p:nvSpPr>
        <p:spPr/>
        <p:txBody>
          <a:bodyPr/>
          <a:lstStyle/>
          <a:p>
            <a:r>
              <a:rPr lang="en-US" dirty="0"/>
              <a:t>Machines have word boundaries – 8, 16, 32, 64 bits </a:t>
            </a:r>
          </a:p>
          <a:p>
            <a:pPr lvl="1"/>
            <a:r>
              <a:rPr lang="en-US" dirty="0"/>
              <a:t>Operations that cross word boundaries are slower </a:t>
            </a:r>
          </a:p>
          <a:p>
            <a:r>
              <a:rPr lang="en-US" dirty="0"/>
              <a:t>Compressing and manipulating at the granularity of bits can be too slow </a:t>
            </a:r>
          </a:p>
          <a:p>
            <a:r>
              <a:rPr lang="en-US" dirty="0"/>
              <a:t>All modern practice is to use byte or word aligned codes </a:t>
            </a:r>
          </a:p>
          <a:p>
            <a:pPr lvl="1"/>
            <a:r>
              <a:rPr lang="en-US" dirty="0"/>
              <a:t>Variable byte encoding is a faster, conceptually simpler compression scheme, with decent compression</a:t>
            </a:r>
            <a:endParaRPr lang="en-IN" dirty="0"/>
          </a:p>
        </p:txBody>
      </p:sp>
    </p:spTree>
    <p:extLst>
      <p:ext uri="{BB962C8B-B14F-4D97-AF65-F5344CB8AC3E}">
        <p14:creationId xmlns:p14="http://schemas.microsoft.com/office/powerpoint/2010/main" val="21266749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DF65-034B-24CE-4188-D941A84E33A5}"/>
              </a:ext>
            </a:extLst>
          </p:cNvPr>
          <p:cNvSpPr>
            <a:spLocks noGrp="1"/>
          </p:cNvSpPr>
          <p:nvPr>
            <p:ph type="title"/>
          </p:nvPr>
        </p:nvSpPr>
        <p:spPr/>
        <p:txBody>
          <a:bodyPr/>
          <a:lstStyle/>
          <a:p>
            <a:r>
              <a:rPr lang="en-IN" dirty="0"/>
              <a:t>RCV1 compression</a:t>
            </a:r>
          </a:p>
        </p:txBody>
      </p:sp>
      <p:sp>
        <p:nvSpPr>
          <p:cNvPr id="3" name="Content Placeholder 2">
            <a:extLst>
              <a:ext uri="{FF2B5EF4-FFF2-40B4-BE49-F238E27FC236}">
                <a16:creationId xmlns:a16="http://schemas.microsoft.com/office/drawing/2014/main" id="{536B00FA-A608-F8DD-4583-A32C0D00ED1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D5CBFE4-E63D-1740-F7F9-ABDAA4B7A6E7}"/>
              </a:ext>
            </a:extLst>
          </p:cNvPr>
          <p:cNvPicPr>
            <a:picLocks noChangeAspect="1"/>
          </p:cNvPicPr>
          <p:nvPr/>
        </p:nvPicPr>
        <p:blipFill>
          <a:blip r:embed="rId2"/>
          <a:stretch>
            <a:fillRect/>
          </a:stretch>
        </p:blipFill>
        <p:spPr>
          <a:xfrm>
            <a:off x="1079713" y="1722342"/>
            <a:ext cx="8321761" cy="4770533"/>
          </a:xfrm>
          <a:prstGeom prst="rect">
            <a:avLst/>
          </a:prstGeom>
        </p:spPr>
      </p:pic>
    </p:spTree>
    <p:extLst>
      <p:ext uri="{BB962C8B-B14F-4D97-AF65-F5344CB8AC3E}">
        <p14:creationId xmlns:p14="http://schemas.microsoft.com/office/powerpoint/2010/main" val="36454856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6EA6-BF5B-A944-B03E-5FA9B1D68992}"/>
              </a:ext>
            </a:extLst>
          </p:cNvPr>
          <p:cNvSpPr>
            <a:spLocks noGrp="1"/>
          </p:cNvSpPr>
          <p:nvPr>
            <p:ph type="title"/>
          </p:nvPr>
        </p:nvSpPr>
        <p:spPr/>
        <p:txBody>
          <a:bodyPr/>
          <a:lstStyle/>
          <a:p>
            <a:r>
              <a:rPr lang="en-IN" dirty="0"/>
              <a:t>Index compression summary</a:t>
            </a:r>
          </a:p>
        </p:txBody>
      </p:sp>
      <p:sp>
        <p:nvSpPr>
          <p:cNvPr id="3" name="Content Placeholder 2">
            <a:extLst>
              <a:ext uri="{FF2B5EF4-FFF2-40B4-BE49-F238E27FC236}">
                <a16:creationId xmlns:a16="http://schemas.microsoft.com/office/drawing/2014/main" id="{4B2BFCAD-DF0D-C8DF-D9A4-FAE4E26D290F}"/>
              </a:ext>
            </a:extLst>
          </p:cNvPr>
          <p:cNvSpPr>
            <a:spLocks noGrp="1"/>
          </p:cNvSpPr>
          <p:nvPr>
            <p:ph idx="1"/>
          </p:nvPr>
        </p:nvSpPr>
        <p:spPr/>
        <p:txBody>
          <a:bodyPr/>
          <a:lstStyle/>
          <a:p>
            <a:r>
              <a:rPr lang="en-US" dirty="0"/>
              <a:t>We can now create an index for highly efficient Boolean retrieval that is very space efficient </a:t>
            </a:r>
          </a:p>
          <a:p>
            <a:r>
              <a:rPr lang="en-US" dirty="0"/>
              <a:t>Only 4% of the total size of the collection </a:t>
            </a:r>
          </a:p>
          <a:p>
            <a:r>
              <a:rPr lang="en-US" dirty="0"/>
              <a:t>Only 10-15% of the total size of the text in the collection </a:t>
            </a:r>
          </a:p>
          <a:p>
            <a:r>
              <a:rPr lang="en-US" dirty="0"/>
              <a:t>We’ve ignored positional information </a:t>
            </a:r>
          </a:p>
          <a:p>
            <a:r>
              <a:rPr lang="en-US"/>
              <a:t>Hence, space savings are less for indexes used in practice </a:t>
            </a:r>
          </a:p>
          <a:p>
            <a:pPr lvl="1"/>
            <a:r>
              <a:rPr lang="en-US"/>
              <a:t>But techniques substantially the same</a:t>
            </a:r>
            <a:endParaRPr lang="en-IN" dirty="0"/>
          </a:p>
        </p:txBody>
      </p:sp>
    </p:spTree>
    <p:extLst>
      <p:ext uri="{BB962C8B-B14F-4D97-AF65-F5344CB8AC3E}">
        <p14:creationId xmlns:p14="http://schemas.microsoft.com/office/powerpoint/2010/main" val="34265682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2BCC-5821-7E55-8EA8-0BFC8F8ABABC}"/>
              </a:ext>
            </a:extLst>
          </p:cNvPr>
          <p:cNvSpPr>
            <a:spLocks noGrp="1"/>
          </p:cNvSpPr>
          <p:nvPr>
            <p:ph type="title"/>
          </p:nvPr>
        </p:nvSpPr>
        <p:spPr/>
        <p:txBody>
          <a:bodyPr/>
          <a:lstStyle/>
          <a:p>
            <a:r>
              <a:rPr lang="en-IN" dirty="0"/>
              <a:t>Three postings entries</a:t>
            </a:r>
          </a:p>
        </p:txBody>
      </p:sp>
      <p:sp>
        <p:nvSpPr>
          <p:cNvPr id="3" name="Content Placeholder 2">
            <a:extLst>
              <a:ext uri="{FF2B5EF4-FFF2-40B4-BE49-F238E27FC236}">
                <a16:creationId xmlns:a16="http://schemas.microsoft.com/office/drawing/2014/main" id="{2AFF00E4-D3EC-3080-F528-E5F530AEAAF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8F9A498-15C5-24F2-F33A-D7832A79D122}"/>
              </a:ext>
            </a:extLst>
          </p:cNvPr>
          <p:cNvPicPr>
            <a:picLocks noChangeAspect="1"/>
          </p:cNvPicPr>
          <p:nvPr/>
        </p:nvPicPr>
        <p:blipFill>
          <a:blip r:embed="rId2"/>
          <a:stretch>
            <a:fillRect/>
          </a:stretch>
        </p:blipFill>
        <p:spPr>
          <a:xfrm>
            <a:off x="951840" y="2373538"/>
            <a:ext cx="9541067" cy="2110923"/>
          </a:xfrm>
          <a:prstGeom prst="rect">
            <a:avLst/>
          </a:prstGeom>
        </p:spPr>
      </p:pic>
    </p:spTree>
    <p:extLst>
      <p:ext uri="{BB962C8B-B14F-4D97-AF65-F5344CB8AC3E}">
        <p14:creationId xmlns:p14="http://schemas.microsoft.com/office/powerpoint/2010/main" val="36145069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2687-B326-7A33-2283-0FA97A28A177}"/>
              </a:ext>
            </a:extLst>
          </p:cNvPr>
          <p:cNvSpPr>
            <a:spLocks noGrp="1"/>
          </p:cNvSpPr>
          <p:nvPr>
            <p:ph type="title"/>
          </p:nvPr>
        </p:nvSpPr>
        <p:spPr/>
        <p:txBody>
          <a:bodyPr/>
          <a:lstStyle/>
          <a:p>
            <a:r>
              <a:rPr lang="en-IN" dirty="0"/>
              <a:t>Gamma code examples</a:t>
            </a:r>
          </a:p>
        </p:txBody>
      </p:sp>
      <p:sp>
        <p:nvSpPr>
          <p:cNvPr id="3" name="Content Placeholder 2">
            <a:extLst>
              <a:ext uri="{FF2B5EF4-FFF2-40B4-BE49-F238E27FC236}">
                <a16:creationId xmlns:a16="http://schemas.microsoft.com/office/drawing/2014/main" id="{8AFE8BB0-F80D-446E-E605-4956EE9157B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5F7EA69-59D3-D85E-5891-6D903BF84B3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194609" y="1825625"/>
            <a:ext cx="8740897" cy="4343776"/>
          </a:xfrm>
          <a:prstGeom prst="rect">
            <a:avLst/>
          </a:prstGeom>
        </p:spPr>
      </p:pic>
    </p:spTree>
    <p:extLst>
      <p:ext uri="{BB962C8B-B14F-4D97-AF65-F5344CB8AC3E}">
        <p14:creationId xmlns:p14="http://schemas.microsoft.com/office/powerpoint/2010/main" val="40764051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7A5D-C388-1EF4-C6BC-E20A420BF7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936BAE-B64E-C354-F479-1EDA09222180}"/>
              </a:ext>
            </a:extLst>
          </p:cNvPr>
          <p:cNvSpPr>
            <a:spLocks noGrp="1"/>
          </p:cNvSpPr>
          <p:nvPr>
            <p:ph idx="1"/>
          </p:nvPr>
        </p:nvSpPr>
        <p:spPr/>
        <p:txBody>
          <a:bodyPr/>
          <a:lstStyle/>
          <a:p>
            <a:r>
              <a:rPr lang="en-US" dirty="0"/>
              <a:t>Compute variable byte and γ codes for the postings list &lt;777, 17743, 294068, 31251336&gt;. Use gaps instead of </a:t>
            </a:r>
            <a:r>
              <a:rPr lang="en-US" dirty="0" err="1"/>
              <a:t>docIDs</a:t>
            </a:r>
            <a:r>
              <a:rPr lang="en-US" dirty="0"/>
              <a:t> where possible. Write binary codes in 8-bit blocks</a:t>
            </a:r>
          </a:p>
          <a:p>
            <a:endParaRPr lang="en-IN" dirty="0"/>
          </a:p>
        </p:txBody>
      </p:sp>
    </p:spTree>
    <p:extLst>
      <p:ext uri="{BB962C8B-B14F-4D97-AF65-F5344CB8AC3E}">
        <p14:creationId xmlns:p14="http://schemas.microsoft.com/office/powerpoint/2010/main" val="7645513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7B1C1-B13E-0069-3166-AC4EB5DD53DB}"/>
              </a:ext>
            </a:extLst>
          </p:cNvPr>
          <p:cNvSpPr>
            <a:spLocks noGrp="1"/>
          </p:cNvSpPr>
          <p:nvPr>
            <p:ph type="title"/>
          </p:nvPr>
        </p:nvSpPr>
        <p:spPr/>
        <p:txBody>
          <a:bodyPr/>
          <a:lstStyle/>
          <a:p>
            <a:r>
              <a:rPr lang="en-IN" dirty="0"/>
              <a:t>Blocking Net Gains</a:t>
            </a:r>
          </a:p>
        </p:txBody>
      </p:sp>
      <p:sp>
        <p:nvSpPr>
          <p:cNvPr id="3" name="Content Placeholder 2">
            <a:extLst>
              <a:ext uri="{FF2B5EF4-FFF2-40B4-BE49-F238E27FC236}">
                <a16:creationId xmlns:a16="http://schemas.microsoft.com/office/drawing/2014/main" id="{4B7AE431-D36B-3CAD-C9C2-5E7DC19D8BBF}"/>
              </a:ext>
            </a:extLst>
          </p:cNvPr>
          <p:cNvSpPr>
            <a:spLocks noGrp="1"/>
          </p:cNvSpPr>
          <p:nvPr>
            <p:ph idx="1"/>
          </p:nvPr>
        </p:nvSpPr>
        <p:spPr/>
        <p:txBody>
          <a:bodyPr>
            <a:normAutofit fontScale="92500" lnSpcReduction="10000"/>
          </a:bodyPr>
          <a:lstStyle/>
          <a:p>
            <a:r>
              <a:rPr lang="en-US" dirty="0"/>
              <a:t>Example for block size k = 4 </a:t>
            </a:r>
          </a:p>
          <a:p>
            <a:r>
              <a:rPr lang="en-US" dirty="0"/>
              <a:t>Where we used 3 bytes/pointer without blocking </a:t>
            </a:r>
          </a:p>
          <a:p>
            <a:r>
              <a:rPr lang="en-US" dirty="0"/>
              <a:t>3 x 4 = 12 bytes, now we use 3 + 4 = 7 bytes. </a:t>
            </a:r>
          </a:p>
          <a:p>
            <a:r>
              <a:rPr lang="en-US" dirty="0"/>
              <a:t>Shaved another ~0.5MB. This reduces the size of the dictionary from 7.6 MB to 7.1 MB. We can save more with larger k.</a:t>
            </a:r>
          </a:p>
          <a:p>
            <a:pPr lvl="1"/>
            <a:r>
              <a:rPr lang="en-US" dirty="0"/>
              <a:t>400K x 3B=1.2 MB</a:t>
            </a:r>
          </a:p>
          <a:p>
            <a:pPr lvl="1"/>
            <a:r>
              <a:rPr lang="en-US" dirty="0"/>
              <a:t>100K x 3B=0.3 MB</a:t>
            </a:r>
          </a:p>
          <a:p>
            <a:pPr lvl="1"/>
            <a:r>
              <a:rPr lang="en-US" dirty="0"/>
              <a:t>0.9 MB storage</a:t>
            </a:r>
          </a:p>
          <a:p>
            <a:pPr lvl="1"/>
            <a:r>
              <a:rPr lang="en-US" dirty="0"/>
              <a:t>But add 400k i.e. 0.4MB extra space</a:t>
            </a:r>
          </a:p>
          <a:p>
            <a:pPr lvl="1"/>
            <a:r>
              <a:rPr lang="en-US" dirty="0"/>
              <a:t>So total saving =0.3+0.4=0.7,</a:t>
            </a:r>
            <a:r>
              <a:rPr lang="en-US" dirty="0">
                <a:sym typeface="Wingdings" panose="05000000000000000000" pitchFamily="2" charset="2"/>
              </a:rPr>
              <a:t>1.2-0.7=</a:t>
            </a:r>
            <a:r>
              <a:rPr lang="en-US" dirty="0"/>
              <a:t>0.5 MB</a:t>
            </a:r>
          </a:p>
          <a:p>
            <a:r>
              <a:rPr lang="en-US" dirty="0"/>
              <a:t>Question: Why not go with larger k? </a:t>
            </a:r>
            <a:endParaRPr lang="en-IN" dirty="0"/>
          </a:p>
        </p:txBody>
      </p:sp>
    </p:spTree>
    <p:extLst>
      <p:ext uri="{BB962C8B-B14F-4D97-AF65-F5344CB8AC3E}">
        <p14:creationId xmlns:p14="http://schemas.microsoft.com/office/powerpoint/2010/main" val="31049299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56CC6-9EA2-DB6D-C905-25EA0F60669F}"/>
              </a:ext>
            </a:extLst>
          </p:cNvPr>
          <p:cNvSpPr>
            <a:spLocks noGrp="1"/>
          </p:cNvSpPr>
          <p:nvPr>
            <p:ph type="title"/>
          </p:nvPr>
        </p:nvSpPr>
        <p:spPr/>
        <p:txBody>
          <a:bodyPr/>
          <a:lstStyle/>
          <a:p>
            <a:r>
              <a:rPr lang="en-IN" dirty="0"/>
              <a:t>Dictionary search without blocking</a:t>
            </a:r>
          </a:p>
        </p:txBody>
      </p:sp>
      <p:sp>
        <p:nvSpPr>
          <p:cNvPr id="3" name="Content Placeholder 2">
            <a:extLst>
              <a:ext uri="{FF2B5EF4-FFF2-40B4-BE49-F238E27FC236}">
                <a16:creationId xmlns:a16="http://schemas.microsoft.com/office/drawing/2014/main" id="{B3533329-4C80-488C-E94B-78F92FE00C68}"/>
              </a:ext>
            </a:extLst>
          </p:cNvPr>
          <p:cNvSpPr>
            <a:spLocks noGrp="1"/>
          </p:cNvSpPr>
          <p:nvPr>
            <p:ph idx="1"/>
          </p:nvPr>
        </p:nvSpPr>
        <p:spPr/>
        <p:txBody>
          <a:bodyPr/>
          <a:lstStyle/>
          <a:p>
            <a:r>
              <a:rPr lang="en-US" dirty="0"/>
              <a:t>Assuming each dictionary term equally likely in query (not really so in practice!), average number of comparisons = (1+2·2+4·3+4)/8 ~2.6</a:t>
            </a:r>
            <a:endParaRPr lang="en-IN" dirty="0"/>
          </a:p>
        </p:txBody>
      </p:sp>
      <p:pic>
        <p:nvPicPr>
          <p:cNvPr id="5" name="Picture 4">
            <a:extLst>
              <a:ext uri="{FF2B5EF4-FFF2-40B4-BE49-F238E27FC236}">
                <a16:creationId xmlns:a16="http://schemas.microsoft.com/office/drawing/2014/main" id="{5746CEDD-86E6-9288-4691-42B652CA3990}"/>
              </a:ext>
            </a:extLst>
          </p:cNvPr>
          <p:cNvPicPr>
            <a:picLocks noChangeAspect="1"/>
          </p:cNvPicPr>
          <p:nvPr/>
        </p:nvPicPr>
        <p:blipFill>
          <a:blip r:embed="rId2"/>
          <a:stretch>
            <a:fillRect/>
          </a:stretch>
        </p:blipFill>
        <p:spPr>
          <a:xfrm>
            <a:off x="3474279" y="2929424"/>
            <a:ext cx="3378805" cy="3928576"/>
          </a:xfrm>
          <a:prstGeom prst="rect">
            <a:avLst/>
          </a:prstGeom>
        </p:spPr>
      </p:pic>
    </p:spTree>
    <p:extLst>
      <p:ext uri="{BB962C8B-B14F-4D97-AF65-F5344CB8AC3E}">
        <p14:creationId xmlns:p14="http://schemas.microsoft.com/office/powerpoint/2010/main" val="36779568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F546-076B-AFFD-8628-531B9C7639D2}"/>
              </a:ext>
            </a:extLst>
          </p:cNvPr>
          <p:cNvSpPr>
            <a:spLocks noGrp="1"/>
          </p:cNvSpPr>
          <p:nvPr>
            <p:ph type="title"/>
          </p:nvPr>
        </p:nvSpPr>
        <p:spPr/>
        <p:txBody>
          <a:bodyPr/>
          <a:lstStyle/>
          <a:p>
            <a:r>
              <a:rPr lang="en-IN" dirty="0"/>
              <a:t>Dictionary search with blocking</a:t>
            </a:r>
          </a:p>
        </p:txBody>
      </p:sp>
      <p:sp>
        <p:nvSpPr>
          <p:cNvPr id="3" name="Content Placeholder 2">
            <a:extLst>
              <a:ext uri="{FF2B5EF4-FFF2-40B4-BE49-F238E27FC236}">
                <a16:creationId xmlns:a16="http://schemas.microsoft.com/office/drawing/2014/main" id="{14AD2A75-BE6D-2A52-1F5D-4AE48BF5340E}"/>
              </a:ext>
            </a:extLst>
          </p:cNvPr>
          <p:cNvSpPr>
            <a:spLocks noGrp="1"/>
          </p:cNvSpPr>
          <p:nvPr>
            <p:ph idx="1"/>
          </p:nvPr>
        </p:nvSpPr>
        <p:spPr/>
        <p:txBody>
          <a:bodyPr/>
          <a:lstStyle/>
          <a:p>
            <a:r>
              <a:rPr lang="en-US" dirty="0"/>
              <a:t>Binary search down to 4-term block; </a:t>
            </a:r>
          </a:p>
          <a:p>
            <a:pPr lvl="1"/>
            <a:r>
              <a:rPr lang="en-US" dirty="0"/>
              <a:t>Then linear search through terms in block. </a:t>
            </a:r>
          </a:p>
          <a:p>
            <a:r>
              <a:rPr lang="en-US" dirty="0"/>
              <a:t>Blocks of 4 (binary tree), avg. = (1+2·2+2·3+2·4+5)/8 = 3 compares</a:t>
            </a:r>
            <a:endParaRPr lang="en-IN" dirty="0"/>
          </a:p>
        </p:txBody>
      </p:sp>
      <p:pic>
        <p:nvPicPr>
          <p:cNvPr id="5" name="Picture 4">
            <a:extLst>
              <a:ext uri="{FF2B5EF4-FFF2-40B4-BE49-F238E27FC236}">
                <a16:creationId xmlns:a16="http://schemas.microsoft.com/office/drawing/2014/main" id="{7F965AC4-ED2F-9895-616A-10DB29E63EFA}"/>
              </a:ext>
            </a:extLst>
          </p:cNvPr>
          <p:cNvPicPr>
            <a:picLocks noChangeAspect="1"/>
          </p:cNvPicPr>
          <p:nvPr/>
        </p:nvPicPr>
        <p:blipFill>
          <a:blip r:embed="rId2"/>
          <a:stretch>
            <a:fillRect/>
          </a:stretch>
        </p:blipFill>
        <p:spPr>
          <a:xfrm>
            <a:off x="1105479" y="3429000"/>
            <a:ext cx="9312447" cy="2339543"/>
          </a:xfrm>
          <a:prstGeom prst="rect">
            <a:avLst/>
          </a:prstGeom>
        </p:spPr>
      </p:pic>
    </p:spTree>
    <p:extLst>
      <p:ext uri="{BB962C8B-B14F-4D97-AF65-F5344CB8AC3E}">
        <p14:creationId xmlns:p14="http://schemas.microsoft.com/office/powerpoint/2010/main" val="7462461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230E1-9AAB-031A-5723-F513F66DAC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284B4A-4A6E-5499-7F3C-D860BE1730C8}"/>
              </a:ext>
            </a:extLst>
          </p:cNvPr>
          <p:cNvSpPr>
            <a:spLocks noGrp="1"/>
          </p:cNvSpPr>
          <p:nvPr>
            <p:ph idx="1"/>
          </p:nvPr>
        </p:nvSpPr>
        <p:spPr/>
        <p:txBody>
          <a:bodyPr/>
          <a:lstStyle/>
          <a:p>
            <a:r>
              <a:rPr lang="en-US" dirty="0"/>
              <a:t>Estimate the space usage (and savings compared to 7.6 MB) with blocking, for block sizes of k = 4, 8 and 16. </a:t>
            </a:r>
          </a:p>
          <a:p>
            <a:r>
              <a:rPr lang="en-US" dirty="0"/>
              <a:t>Estimate the impact on search performance (and slowdown compared to k=1) with blocking, for block sizes of k = 4, 8 and 16.</a:t>
            </a:r>
            <a:endParaRPr lang="en-IN" dirty="0"/>
          </a:p>
          <a:p>
            <a:endParaRPr lang="en-IN" dirty="0"/>
          </a:p>
        </p:txBody>
      </p:sp>
    </p:spTree>
    <p:extLst>
      <p:ext uri="{BB962C8B-B14F-4D97-AF65-F5344CB8AC3E}">
        <p14:creationId xmlns:p14="http://schemas.microsoft.com/office/powerpoint/2010/main" val="28624190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ECB5B-6FE2-FEA1-D632-BE705E1D64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87D96A-3884-2932-E42C-0963E342401E}"/>
              </a:ext>
            </a:extLst>
          </p:cNvPr>
          <p:cNvSpPr>
            <a:spLocks noGrp="1"/>
          </p:cNvSpPr>
          <p:nvPr>
            <p:ph idx="1"/>
          </p:nvPr>
        </p:nvSpPr>
        <p:spPr/>
        <p:txBody>
          <a:bodyPr>
            <a:normAutofit lnSpcReduction="10000"/>
          </a:bodyPr>
          <a:lstStyle/>
          <a:p>
            <a:r>
              <a:rPr lang="en-US" dirty="0"/>
              <a:t>Example for block size k = 8</a:t>
            </a:r>
          </a:p>
          <a:p>
            <a:r>
              <a:rPr lang="en-US" dirty="0"/>
              <a:t>Where we used 3 bytes/pointer without blocking </a:t>
            </a:r>
          </a:p>
          <a:p>
            <a:r>
              <a:rPr lang="en-US" dirty="0"/>
              <a:t>3 x (8-1) = 21 bytes, now we use 3 + 7 = 10 bytes. </a:t>
            </a:r>
          </a:p>
          <a:p>
            <a:r>
              <a:rPr lang="en-US" dirty="0"/>
              <a:t>We can save more with larger k.</a:t>
            </a:r>
          </a:p>
          <a:p>
            <a:pPr lvl="1"/>
            <a:r>
              <a:rPr lang="en-US" dirty="0"/>
              <a:t>400K x 3B=1.2 MB</a:t>
            </a:r>
          </a:p>
          <a:p>
            <a:pPr lvl="1"/>
            <a:r>
              <a:rPr lang="en-US" dirty="0"/>
              <a:t>50K x 3B=0.15 MB</a:t>
            </a:r>
          </a:p>
          <a:p>
            <a:pPr lvl="1"/>
            <a:r>
              <a:rPr lang="en-US" dirty="0"/>
              <a:t>0.9 MB storage</a:t>
            </a:r>
          </a:p>
          <a:p>
            <a:pPr lvl="1"/>
            <a:r>
              <a:rPr lang="en-US" dirty="0"/>
              <a:t>But add 400k i.e. 0.4MB extra space</a:t>
            </a:r>
          </a:p>
          <a:p>
            <a:pPr lvl="1"/>
            <a:r>
              <a:rPr lang="en-US" dirty="0"/>
              <a:t>So total saving =0.15+0.4=0.55,</a:t>
            </a:r>
            <a:r>
              <a:rPr lang="en-US" dirty="0">
                <a:sym typeface="Wingdings" panose="05000000000000000000" pitchFamily="2" charset="2"/>
              </a:rPr>
              <a:t>1.2-0.55=</a:t>
            </a:r>
            <a:r>
              <a:rPr lang="en-US" dirty="0"/>
              <a:t>0.65 MB</a:t>
            </a:r>
          </a:p>
          <a:p>
            <a:pPr lvl="1"/>
            <a:r>
              <a:rPr lang="en-US" dirty="0"/>
              <a:t>7.6-0.65=6.95 MB</a:t>
            </a:r>
          </a:p>
          <a:p>
            <a:pPr lvl="1"/>
            <a:endParaRPr lang="en-US" dirty="0"/>
          </a:p>
          <a:p>
            <a:endParaRPr lang="en-IN" dirty="0"/>
          </a:p>
        </p:txBody>
      </p:sp>
    </p:spTree>
    <p:extLst>
      <p:ext uri="{BB962C8B-B14F-4D97-AF65-F5344CB8AC3E}">
        <p14:creationId xmlns:p14="http://schemas.microsoft.com/office/powerpoint/2010/main" val="23789573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7D11C-4C91-14B8-5E1B-F735F00745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894E9ED-86A7-CC06-F516-CAE13EA6A148}"/>
              </a:ext>
            </a:extLst>
          </p:cNvPr>
          <p:cNvSpPr>
            <a:spLocks noGrp="1"/>
          </p:cNvSpPr>
          <p:nvPr>
            <p:ph idx="1"/>
          </p:nvPr>
        </p:nvSpPr>
        <p:spPr/>
        <p:txBody>
          <a:bodyPr>
            <a:normAutofit lnSpcReduction="10000"/>
          </a:bodyPr>
          <a:lstStyle/>
          <a:p>
            <a:r>
              <a:rPr lang="en-US" dirty="0"/>
              <a:t>Example for block size k = 16</a:t>
            </a:r>
          </a:p>
          <a:p>
            <a:r>
              <a:rPr lang="en-US" dirty="0"/>
              <a:t>Where we used 3 bytes/pointer without blocking </a:t>
            </a:r>
          </a:p>
          <a:p>
            <a:r>
              <a:rPr lang="en-US" dirty="0"/>
              <a:t>3 x (16-1) = 45 bytes, now we use 3 + 15 = 15 bytes. </a:t>
            </a:r>
          </a:p>
          <a:p>
            <a:r>
              <a:rPr lang="en-US" dirty="0"/>
              <a:t>We can save more with larger k.</a:t>
            </a:r>
          </a:p>
          <a:p>
            <a:pPr lvl="1"/>
            <a:r>
              <a:rPr lang="en-US" dirty="0"/>
              <a:t>400K x 3B=1.2 MB</a:t>
            </a:r>
          </a:p>
          <a:p>
            <a:pPr lvl="1"/>
            <a:r>
              <a:rPr lang="en-US" dirty="0"/>
              <a:t>25K x 3B=0.075 MB</a:t>
            </a:r>
          </a:p>
          <a:p>
            <a:pPr lvl="1"/>
            <a:r>
              <a:rPr lang="en-US" dirty="0"/>
              <a:t>0.9 MB storage</a:t>
            </a:r>
          </a:p>
          <a:p>
            <a:pPr lvl="1"/>
            <a:r>
              <a:rPr lang="en-US" dirty="0"/>
              <a:t>But add 400k i.e. 0.4MB extra space</a:t>
            </a:r>
          </a:p>
          <a:p>
            <a:pPr lvl="1"/>
            <a:r>
              <a:rPr lang="en-US" dirty="0"/>
              <a:t>So total saving =0.075+0.4=0.475,</a:t>
            </a:r>
            <a:r>
              <a:rPr lang="en-US" dirty="0">
                <a:sym typeface="Wingdings" panose="05000000000000000000" pitchFamily="2" charset="2"/>
              </a:rPr>
              <a:t>1.2-0.475=</a:t>
            </a:r>
            <a:r>
              <a:rPr lang="en-US" dirty="0"/>
              <a:t>0.625 MB</a:t>
            </a:r>
          </a:p>
          <a:p>
            <a:pPr lvl="1"/>
            <a:r>
              <a:rPr lang="en-US" dirty="0"/>
              <a:t>7.6-0.625=6.875 MB</a:t>
            </a:r>
          </a:p>
        </p:txBody>
      </p:sp>
    </p:spTree>
    <p:extLst>
      <p:ext uri="{BB962C8B-B14F-4D97-AF65-F5344CB8AC3E}">
        <p14:creationId xmlns:p14="http://schemas.microsoft.com/office/powerpoint/2010/main" val="2811586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56CC6-9EA2-DB6D-C905-25EA0F60669F}"/>
              </a:ext>
            </a:extLst>
          </p:cNvPr>
          <p:cNvSpPr>
            <a:spLocks noGrp="1"/>
          </p:cNvSpPr>
          <p:nvPr>
            <p:ph type="title"/>
          </p:nvPr>
        </p:nvSpPr>
        <p:spPr/>
        <p:txBody>
          <a:bodyPr/>
          <a:lstStyle/>
          <a:p>
            <a:r>
              <a:rPr lang="en-IN" dirty="0"/>
              <a:t>Dictionary search without blocking</a:t>
            </a:r>
          </a:p>
        </p:txBody>
      </p:sp>
      <p:sp>
        <p:nvSpPr>
          <p:cNvPr id="3" name="Content Placeholder 2">
            <a:extLst>
              <a:ext uri="{FF2B5EF4-FFF2-40B4-BE49-F238E27FC236}">
                <a16:creationId xmlns:a16="http://schemas.microsoft.com/office/drawing/2014/main" id="{B3533329-4C80-488C-E94B-78F92FE00C68}"/>
              </a:ext>
            </a:extLst>
          </p:cNvPr>
          <p:cNvSpPr>
            <a:spLocks noGrp="1"/>
          </p:cNvSpPr>
          <p:nvPr>
            <p:ph idx="1"/>
          </p:nvPr>
        </p:nvSpPr>
        <p:spPr/>
        <p:txBody>
          <a:bodyPr/>
          <a:lstStyle/>
          <a:p>
            <a:r>
              <a:rPr lang="en-US" dirty="0"/>
              <a:t>Assuming each dictionary term equally likely in query (not really so in practice!), average number of comparisons = (1+2·2+4·3+4.8+5.16+6.32)/8 ~2.6</a:t>
            </a:r>
            <a:endParaRPr lang="en-IN" dirty="0"/>
          </a:p>
        </p:txBody>
      </p:sp>
      <p:pic>
        <p:nvPicPr>
          <p:cNvPr id="5" name="Picture 4">
            <a:extLst>
              <a:ext uri="{FF2B5EF4-FFF2-40B4-BE49-F238E27FC236}">
                <a16:creationId xmlns:a16="http://schemas.microsoft.com/office/drawing/2014/main" id="{5746CEDD-86E6-9288-4691-42B652CA3990}"/>
              </a:ext>
            </a:extLst>
          </p:cNvPr>
          <p:cNvPicPr>
            <a:picLocks noChangeAspect="1"/>
          </p:cNvPicPr>
          <p:nvPr/>
        </p:nvPicPr>
        <p:blipFill>
          <a:blip r:embed="rId2"/>
          <a:stretch>
            <a:fillRect/>
          </a:stretch>
        </p:blipFill>
        <p:spPr>
          <a:xfrm>
            <a:off x="3474279" y="2929424"/>
            <a:ext cx="3378805" cy="3928576"/>
          </a:xfrm>
          <a:prstGeom prst="rect">
            <a:avLst/>
          </a:prstGeom>
        </p:spPr>
      </p:pic>
    </p:spTree>
    <p:extLst>
      <p:ext uri="{BB962C8B-B14F-4D97-AF65-F5344CB8AC3E}">
        <p14:creationId xmlns:p14="http://schemas.microsoft.com/office/powerpoint/2010/main" val="10509832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F546-076B-AFFD-8628-531B9C7639D2}"/>
              </a:ext>
            </a:extLst>
          </p:cNvPr>
          <p:cNvSpPr>
            <a:spLocks noGrp="1"/>
          </p:cNvSpPr>
          <p:nvPr>
            <p:ph type="title"/>
          </p:nvPr>
        </p:nvSpPr>
        <p:spPr/>
        <p:txBody>
          <a:bodyPr/>
          <a:lstStyle/>
          <a:p>
            <a:r>
              <a:rPr lang="en-IN" dirty="0"/>
              <a:t>Dictionary search with blocking</a:t>
            </a:r>
          </a:p>
        </p:txBody>
      </p:sp>
      <p:sp>
        <p:nvSpPr>
          <p:cNvPr id="3" name="Content Placeholder 2">
            <a:extLst>
              <a:ext uri="{FF2B5EF4-FFF2-40B4-BE49-F238E27FC236}">
                <a16:creationId xmlns:a16="http://schemas.microsoft.com/office/drawing/2014/main" id="{14AD2A75-BE6D-2A52-1F5D-4AE48BF5340E}"/>
              </a:ext>
            </a:extLst>
          </p:cNvPr>
          <p:cNvSpPr>
            <a:spLocks noGrp="1"/>
          </p:cNvSpPr>
          <p:nvPr>
            <p:ph idx="1"/>
          </p:nvPr>
        </p:nvSpPr>
        <p:spPr/>
        <p:txBody>
          <a:bodyPr/>
          <a:lstStyle/>
          <a:p>
            <a:r>
              <a:rPr lang="en-US" dirty="0"/>
              <a:t>Binary search down to 4-term block; </a:t>
            </a:r>
          </a:p>
          <a:p>
            <a:pPr lvl="1"/>
            <a:r>
              <a:rPr lang="en-US" dirty="0"/>
              <a:t>Then linear search through terms in block. </a:t>
            </a:r>
          </a:p>
          <a:p>
            <a:r>
              <a:rPr lang="en-US" dirty="0"/>
              <a:t>Blocks of 4 (binary tree), avg. = (1+2·2+2·3+2·4+2.5+2.6)/8 = 3 compares</a:t>
            </a:r>
            <a:endParaRPr lang="en-IN" dirty="0"/>
          </a:p>
        </p:txBody>
      </p:sp>
      <p:pic>
        <p:nvPicPr>
          <p:cNvPr id="5" name="Picture 4">
            <a:extLst>
              <a:ext uri="{FF2B5EF4-FFF2-40B4-BE49-F238E27FC236}">
                <a16:creationId xmlns:a16="http://schemas.microsoft.com/office/drawing/2014/main" id="{7F965AC4-ED2F-9895-616A-10DB29E63EFA}"/>
              </a:ext>
            </a:extLst>
          </p:cNvPr>
          <p:cNvPicPr>
            <a:picLocks noChangeAspect="1"/>
          </p:cNvPicPr>
          <p:nvPr/>
        </p:nvPicPr>
        <p:blipFill>
          <a:blip r:embed="rId2"/>
          <a:stretch>
            <a:fillRect/>
          </a:stretch>
        </p:blipFill>
        <p:spPr>
          <a:xfrm>
            <a:off x="1105479" y="3429000"/>
            <a:ext cx="9312447" cy="2339543"/>
          </a:xfrm>
          <a:prstGeom prst="rect">
            <a:avLst/>
          </a:prstGeom>
        </p:spPr>
      </p:pic>
    </p:spTree>
    <p:extLst>
      <p:ext uri="{BB962C8B-B14F-4D97-AF65-F5344CB8AC3E}">
        <p14:creationId xmlns:p14="http://schemas.microsoft.com/office/powerpoint/2010/main" val="24712037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FCBDF4-CB20-FAFB-5EDD-C9C3AA99697F}"/>
              </a:ext>
            </a:extLst>
          </p:cNvPr>
          <p:cNvSpPr>
            <a:spLocks noGrp="1"/>
          </p:cNvSpPr>
          <p:nvPr>
            <p:ph type="title"/>
          </p:nvPr>
        </p:nvSpPr>
        <p:spPr>
          <a:xfrm>
            <a:off x="630936" y="457200"/>
            <a:ext cx="4343400" cy="1929384"/>
          </a:xfrm>
        </p:spPr>
        <p:txBody>
          <a:bodyPr anchor="ctr">
            <a:normAutofit/>
          </a:bodyPr>
          <a:lstStyle/>
          <a:p>
            <a:endParaRPr lang="en-IN" sz="4800"/>
          </a:p>
        </p:txBody>
      </p:sp>
      <p:sp>
        <p:nvSpPr>
          <p:cNvPr id="12"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0CFC36-5480-B1BB-B44F-FCA12EDD5499}"/>
              </a:ext>
            </a:extLst>
          </p:cNvPr>
          <p:cNvSpPr>
            <a:spLocks noGrp="1"/>
          </p:cNvSpPr>
          <p:nvPr>
            <p:ph idx="1"/>
          </p:nvPr>
        </p:nvSpPr>
        <p:spPr>
          <a:xfrm>
            <a:off x="5541263" y="457200"/>
            <a:ext cx="6007608" cy="1929384"/>
          </a:xfrm>
        </p:spPr>
        <p:txBody>
          <a:bodyPr anchor="ctr">
            <a:normAutofit/>
          </a:bodyPr>
          <a:lstStyle/>
          <a:p>
            <a:r>
              <a:rPr lang="en-IN" sz="2200"/>
              <a:t>Compute the </a:t>
            </a:r>
            <a:r>
              <a:rPr lang="en-US" sz="2200"/>
              <a:t>variable byte codes for the numbers</a:t>
            </a:r>
          </a:p>
          <a:p>
            <a:endParaRPr lang="en-IN" sz="2200"/>
          </a:p>
        </p:txBody>
      </p:sp>
      <p:pic>
        <p:nvPicPr>
          <p:cNvPr id="5" name="Picture 4" descr="A screenshot of a computer code&#10;&#10;Description automatically generated">
            <a:extLst>
              <a:ext uri="{FF2B5EF4-FFF2-40B4-BE49-F238E27FC236}">
                <a16:creationId xmlns:a16="http://schemas.microsoft.com/office/drawing/2014/main" id="{B0D7061C-C807-FEDB-FFBF-B4CD08C56814}"/>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66344" y="3050247"/>
            <a:ext cx="5468112" cy="2717370"/>
          </a:xfrm>
          <a:prstGeom prst="rect">
            <a:avLst/>
          </a:prstGeom>
        </p:spPr>
      </p:pic>
      <p:pic>
        <p:nvPicPr>
          <p:cNvPr id="4" name="Picture 3">
            <a:extLst>
              <a:ext uri="{FF2B5EF4-FFF2-40B4-BE49-F238E27FC236}">
                <a16:creationId xmlns:a16="http://schemas.microsoft.com/office/drawing/2014/main" id="{6DA0F5B7-295A-28DF-C9D6-3F1A390400DC}"/>
              </a:ext>
            </a:extLst>
          </p:cNvPr>
          <p:cNvPicPr>
            <a:picLocks noChangeAspect="1"/>
          </p:cNvPicPr>
          <p:nvPr/>
        </p:nvPicPr>
        <p:blipFill>
          <a:blip r:embed="rId4"/>
          <a:stretch>
            <a:fillRect/>
          </a:stretch>
        </p:blipFill>
        <p:spPr>
          <a:xfrm>
            <a:off x="6254496" y="3050247"/>
            <a:ext cx="5468112" cy="2426321"/>
          </a:xfrm>
          <a:prstGeom prst="rect">
            <a:avLst/>
          </a:prstGeom>
        </p:spPr>
      </p:pic>
    </p:spTree>
    <p:extLst>
      <p:ext uri="{BB962C8B-B14F-4D97-AF65-F5344CB8AC3E}">
        <p14:creationId xmlns:p14="http://schemas.microsoft.com/office/powerpoint/2010/main" val="31094822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C2BCC-5821-7E55-8EA8-0BFC8F8ABABC}"/>
              </a:ext>
            </a:extLst>
          </p:cNvPr>
          <p:cNvSpPr>
            <a:spLocks noGrp="1"/>
          </p:cNvSpPr>
          <p:nvPr>
            <p:ph type="title"/>
          </p:nvPr>
        </p:nvSpPr>
        <p:spPr/>
        <p:txBody>
          <a:bodyPr/>
          <a:lstStyle/>
          <a:p>
            <a:r>
              <a:rPr lang="en-IN" dirty="0"/>
              <a:t>Three postings entries</a:t>
            </a:r>
          </a:p>
        </p:txBody>
      </p:sp>
      <p:sp>
        <p:nvSpPr>
          <p:cNvPr id="3" name="Content Placeholder 2">
            <a:extLst>
              <a:ext uri="{FF2B5EF4-FFF2-40B4-BE49-F238E27FC236}">
                <a16:creationId xmlns:a16="http://schemas.microsoft.com/office/drawing/2014/main" id="{2AFF00E4-D3EC-3080-F528-E5F530AEAAF1}"/>
              </a:ext>
            </a:extLst>
          </p:cNvPr>
          <p:cNvSpPr>
            <a:spLocks noGrp="1"/>
          </p:cNvSpPr>
          <p:nvPr>
            <p:ph idx="1"/>
          </p:nvPr>
        </p:nvSpPr>
        <p:spPr/>
        <p:txBody>
          <a:bodyPr/>
          <a:lstStyle/>
          <a:p>
            <a:r>
              <a:rPr lang="en-IN" dirty="0"/>
              <a:t>Compute the </a:t>
            </a:r>
            <a:r>
              <a:rPr lang="en-US" dirty="0"/>
              <a:t>variable byte codes for the numbers</a:t>
            </a:r>
          </a:p>
          <a:p>
            <a:r>
              <a:rPr lang="en-IN" dirty="0"/>
              <a:t>283042: 000100010010001110100010 , 1 : 10000001, 1 : 10000001, 1: 10000001 , 283047: 010011110100011010001000, 107: 01101011, 5 : 10000101, 43 : 10101011 ,252000:000011110011000011100000, 248100 : 000011110001001010100100 , </a:t>
            </a:r>
          </a:p>
        </p:txBody>
      </p:sp>
      <p:pic>
        <p:nvPicPr>
          <p:cNvPr id="5" name="Picture 4">
            <a:extLst>
              <a:ext uri="{FF2B5EF4-FFF2-40B4-BE49-F238E27FC236}">
                <a16:creationId xmlns:a16="http://schemas.microsoft.com/office/drawing/2014/main" id="{98F9A498-15C5-24F2-F33A-D7832A79D122}"/>
              </a:ext>
            </a:extLst>
          </p:cNvPr>
          <p:cNvPicPr>
            <a:picLocks noChangeAspect="1"/>
          </p:cNvPicPr>
          <p:nvPr/>
        </p:nvPicPr>
        <p:blipFill>
          <a:blip r:embed="rId2"/>
          <a:stretch>
            <a:fillRect/>
          </a:stretch>
        </p:blipFill>
        <p:spPr>
          <a:xfrm>
            <a:off x="1109156" y="4001294"/>
            <a:ext cx="9541067" cy="2110923"/>
          </a:xfrm>
          <a:prstGeom prst="rect">
            <a:avLst/>
          </a:prstGeom>
        </p:spPr>
      </p:pic>
    </p:spTree>
    <p:extLst>
      <p:ext uri="{BB962C8B-B14F-4D97-AF65-F5344CB8AC3E}">
        <p14:creationId xmlns:p14="http://schemas.microsoft.com/office/powerpoint/2010/main" val="31781991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B931CD-5A9F-A0F8-424D-9D43FBDA0054}"/>
              </a:ext>
            </a:extLst>
          </p:cNvPr>
          <p:cNvSpPr>
            <a:spLocks noGrp="1"/>
          </p:cNvSpPr>
          <p:nvPr>
            <p:ph type="title"/>
          </p:nvPr>
        </p:nvSpPr>
        <p:spPr>
          <a:xfrm>
            <a:off x="630936" y="639520"/>
            <a:ext cx="3429000" cy="1719072"/>
          </a:xfrm>
        </p:spPr>
        <p:txBody>
          <a:bodyPr anchor="b">
            <a:normAutofit/>
          </a:bodyPr>
          <a:lstStyle/>
          <a:p>
            <a:endParaRPr lang="en-IN" sz="5400"/>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9B6BE0-6EFE-B134-31D0-30E8AB0E8355}"/>
              </a:ext>
            </a:extLst>
          </p:cNvPr>
          <p:cNvSpPr>
            <a:spLocks noGrp="1"/>
          </p:cNvSpPr>
          <p:nvPr>
            <p:ph idx="1"/>
          </p:nvPr>
        </p:nvSpPr>
        <p:spPr>
          <a:xfrm>
            <a:off x="630936" y="2807208"/>
            <a:ext cx="3429000" cy="3410712"/>
          </a:xfrm>
        </p:spPr>
        <p:txBody>
          <a:bodyPr anchor="t">
            <a:normAutofit/>
          </a:bodyPr>
          <a:lstStyle/>
          <a:p>
            <a:r>
              <a:rPr lang="en-IN" sz="2200"/>
              <a:t>0 : 10000000 , 2:10000010 , 3: 10000011 , 4 : 10000100 , 9 : 10001001 , 13 : 10001101 , 24 : 10011000 , 511 : 0000001111111111 , 1025 : 0000100010000001</a:t>
            </a:r>
          </a:p>
        </p:txBody>
      </p:sp>
      <p:pic>
        <p:nvPicPr>
          <p:cNvPr id="4" name="Picture 3" descr="A screenshot of a computer code&#10;&#10;Description automatically generated">
            <a:extLst>
              <a:ext uri="{FF2B5EF4-FFF2-40B4-BE49-F238E27FC236}">
                <a16:creationId xmlns:a16="http://schemas.microsoft.com/office/drawing/2014/main" id="{C27DD9BD-A06F-0802-BA23-A0EEC98178B1}"/>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654296" y="1713603"/>
            <a:ext cx="6903720" cy="3430793"/>
          </a:xfrm>
          <a:prstGeom prst="rect">
            <a:avLst/>
          </a:prstGeom>
        </p:spPr>
      </p:pic>
    </p:spTree>
    <p:extLst>
      <p:ext uri="{BB962C8B-B14F-4D97-AF65-F5344CB8AC3E}">
        <p14:creationId xmlns:p14="http://schemas.microsoft.com/office/powerpoint/2010/main" val="625400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58F44C-E891-60B2-E4BC-72955F405597}"/>
              </a:ext>
            </a:extLst>
          </p:cNvPr>
          <p:cNvSpPr>
            <a:spLocks noGrp="1"/>
          </p:cNvSpPr>
          <p:nvPr>
            <p:ph type="title"/>
          </p:nvPr>
        </p:nvSpPr>
        <p:spPr>
          <a:xfrm>
            <a:off x="838200" y="365125"/>
            <a:ext cx="10515600" cy="1325563"/>
          </a:xfrm>
        </p:spPr>
        <p:txBody>
          <a:bodyPr>
            <a:normAutofit/>
          </a:bodyPr>
          <a:lstStyle/>
          <a:p>
            <a:r>
              <a:rPr lang="en-IN" sz="5400" dirty="0"/>
              <a:t>Practice Question</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FDE38C-3FD6-30F4-DF1E-978B8F4A87E1}"/>
              </a:ext>
            </a:extLst>
          </p:cNvPr>
          <p:cNvSpPr>
            <a:spLocks noGrp="1"/>
          </p:cNvSpPr>
          <p:nvPr>
            <p:ph idx="1"/>
          </p:nvPr>
        </p:nvSpPr>
        <p:spPr>
          <a:xfrm>
            <a:off x="838200" y="1929384"/>
            <a:ext cx="10515600" cy="4251960"/>
          </a:xfrm>
        </p:spPr>
        <p:txBody>
          <a:bodyPr>
            <a:normAutofit/>
          </a:bodyPr>
          <a:lstStyle/>
          <a:p>
            <a:r>
              <a:rPr lang="en-US" sz="2200" dirty="0"/>
              <a:t>Compute variable byte and γ codes for the postings list &lt;777, 17743, 294068, 31251336&gt;. Use gaps instead of </a:t>
            </a:r>
            <a:r>
              <a:rPr lang="en-US" sz="2200"/>
              <a:t>docIDs</a:t>
            </a:r>
            <a:r>
              <a:rPr lang="en-US" sz="2200" dirty="0"/>
              <a:t> where possible. Write binary codes in 8- bit blocks.</a:t>
            </a:r>
            <a:endParaRPr lang="en-IN" sz="2200" dirty="0"/>
          </a:p>
        </p:txBody>
      </p:sp>
    </p:spTree>
    <p:extLst>
      <p:ext uri="{BB962C8B-B14F-4D97-AF65-F5344CB8AC3E}">
        <p14:creationId xmlns:p14="http://schemas.microsoft.com/office/powerpoint/2010/main" val="8667368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3FF3-75EA-8E6E-E10E-C731D6AA26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C17D44-B240-BB30-50AA-6C73C282470D}"/>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8F55753-243E-C3D9-A893-A7DF39C6F278}"/>
              </a:ext>
            </a:extLst>
          </p:cNvPr>
          <p:cNvPicPr>
            <a:picLocks noChangeAspect="1"/>
          </p:cNvPicPr>
          <p:nvPr/>
        </p:nvPicPr>
        <p:blipFill>
          <a:blip r:embed="rId2"/>
          <a:stretch>
            <a:fillRect/>
          </a:stretch>
        </p:blipFill>
        <p:spPr>
          <a:xfrm>
            <a:off x="1420635" y="1865839"/>
            <a:ext cx="7730469" cy="4627036"/>
          </a:xfrm>
          <a:prstGeom prst="rect">
            <a:avLst/>
          </a:prstGeom>
        </p:spPr>
      </p:pic>
    </p:spTree>
    <p:extLst>
      <p:ext uri="{BB962C8B-B14F-4D97-AF65-F5344CB8AC3E}">
        <p14:creationId xmlns:p14="http://schemas.microsoft.com/office/powerpoint/2010/main" val="6865989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D3F1-5369-DD35-1390-0A32EF2EF6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CFE8BA-CA1C-6931-B467-7E3B71D865EC}"/>
              </a:ext>
            </a:extLst>
          </p:cNvPr>
          <p:cNvSpPr>
            <a:spLocks noGrp="1"/>
          </p:cNvSpPr>
          <p:nvPr>
            <p:ph idx="1"/>
          </p:nvPr>
        </p:nvSpPr>
        <p:spPr/>
        <p:txBody>
          <a:bodyPr/>
          <a:lstStyle/>
          <a:p>
            <a:r>
              <a:rPr lang="en-US" b="0" i="0" dirty="0">
                <a:solidFill>
                  <a:srgbClr val="000000"/>
                </a:solidFill>
                <a:effectLst/>
                <a:latin typeface="SFRM1095_10_2"/>
              </a:rPr>
              <a:t>Consider a postings list: &lt;4, 15, 62, 63, 265, 268, 270, 500&gt; with the corresponding list of document gaps: &lt;4, 11, 47, 1, 202, 3, 2, 230&gt; Assume that the length of the postings list is stored separately, so the system knows when a postings list is complete. We are going to contrast the size and speed tradeoffs of using variable byte encoding with gamma encoding. (a) Encode the document gaps using variable byte encoding. (b) Encode the document gaps using gamma encoding.</a:t>
            </a:r>
            <a:endParaRPr lang="en-IN" dirty="0"/>
          </a:p>
        </p:txBody>
      </p:sp>
    </p:spTree>
    <p:extLst>
      <p:ext uri="{BB962C8B-B14F-4D97-AF65-F5344CB8AC3E}">
        <p14:creationId xmlns:p14="http://schemas.microsoft.com/office/powerpoint/2010/main" val="26342537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C559-7E4B-1438-061F-E1BC63A3CC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C00C57-9934-D33D-0340-6AD762F231AA}"/>
              </a:ext>
            </a:extLst>
          </p:cNvPr>
          <p:cNvSpPr>
            <a:spLocks noGrp="1"/>
          </p:cNvSpPr>
          <p:nvPr>
            <p:ph idx="1"/>
          </p:nvPr>
        </p:nvSpPr>
        <p:spPr/>
        <p:txBody>
          <a:bodyPr>
            <a:normAutofit fontScale="92500" lnSpcReduction="10000"/>
          </a:bodyPr>
          <a:lstStyle/>
          <a:p>
            <a:r>
              <a:rPr kumimoji="0" lang="en-US" altLang="en-US" sz="2800" b="0" i="0" u="none" strike="noStrike" cap="none" normalizeH="0" baseline="0" dirty="0">
                <a:ln>
                  <a:noFill/>
                </a:ln>
                <a:solidFill>
                  <a:srgbClr val="212529"/>
                </a:solidFill>
                <a:effectLst/>
                <a:latin typeface="ElzaText-Regular"/>
              </a:rPr>
              <a:t>Compute variable byte and Î³ codes for the postings list 7, 17, 29, 31, 45, 90, 110. Use gaps instead of </a:t>
            </a:r>
            <a:r>
              <a:rPr kumimoji="0" lang="en-US" altLang="en-US" sz="2800" b="0" i="0" u="none" strike="noStrike" cap="none" normalizeH="0" baseline="0" dirty="0" err="1">
                <a:ln>
                  <a:noFill/>
                </a:ln>
                <a:solidFill>
                  <a:srgbClr val="212529"/>
                </a:solidFill>
                <a:effectLst/>
                <a:latin typeface="ElzaText-Regular"/>
              </a:rPr>
              <a:t>docIDs</a:t>
            </a:r>
            <a:r>
              <a:rPr kumimoji="0" lang="en-US" altLang="en-US" sz="2800" b="0" i="0" u="none" strike="noStrike" cap="none" normalizeH="0" baseline="0" dirty="0">
                <a:ln>
                  <a:noFill/>
                </a:ln>
                <a:solidFill>
                  <a:srgbClr val="212529"/>
                </a:solidFill>
                <a:effectLst/>
                <a:latin typeface="ElzaText-Regular"/>
              </a:rPr>
              <a:t> where possible. Write binary codes in 8-bit blocks.</a:t>
            </a:r>
          </a:p>
          <a:p>
            <a:pPr marL="0" indent="0">
              <a:buNone/>
            </a:pPr>
            <a:br>
              <a:rPr lang="en-US" sz="2000" dirty="0">
                <a:effectLst/>
              </a:rPr>
            </a:br>
            <a:br>
              <a:rPr lang="en-US" sz="2000" dirty="0">
                <a:effectLst/>
              </a:rPr>
            </a:br>
            <a:br>
              <a:rPr lang="en-US" sz="2000" dirty="0">
                <a:effectLst/>
              </a:rPr>
            </a:br>
            <a:r>
              <a:rPr lang="en-US" sz="2000" b="0" i="0" dirty="0">
                <a:solidFill>
                  <a:srgbClr val="212529"/>
                </a:solidFill>
                <a:effectLst/>
                <a:latin typeface="ElzaText-Regular"/>
              </a:rPr>
              <a:t>1. Variable byte code: - 7: 00000111 - 17: 00010001 - 29: 00011101 - 31: 00011111 - 45: 00101101 - 90: 01011010 - 110: 01101110 </a:t>
            </a:r>
          </a:p>
          <a:p>
            <a:pPr marL="0" indent="0">
              <a:buNone/>
            </a:pPr>
            <a:r>
              <a:rPr lang="en-US" sz="2000" b="0" i="0" dirty="0">
                <a:solidFill>
                  <a:srgbClr val="212529"/>
                </a:solidFill>
                <a:effectLst/>
                <a:latin typeface="ElzaText-Regular"/>
              </a:rPr>
              <a:t>γ code: - 7: 0000111 - 17: 0010001 - 29: 0011101 - 31: 0011111 - 45: 0101101 - 90: 1011010 - 110: 1101110</a:t>
            </a:r>
            <a:br>
              <a:rPr lang="en-US" sz="2000" dirty="0">
                <a:effectLst/>
              </a:rPr>
            </a:br>
            <a:br>
              <a:rPr lang="en-US" sz="2000" dirty="0">
                <a:effectLst/>
              </a:rPr>
            </a:br>
            <a:br>
              <a:rPr lang="en-US" sz="2000" dirty="0">
                <a:effectLst/>
              </a:rPr>
            </a:br>
            <a:br>
              <a:rPr lang="en-US" sz="2000" dirty="0">
                <a:effectLst/>
              </a:rPr>
            </a:br>
            <a:endParaRPr kumimoji="0" lang="en-US" altLang="en-US" sz="3200" b="0" i="0" u="none" strike="noStrike" cap="none" normalizeH="0" baseline="0" dirty="0">
              <a:ln>
                <a:noFill/>
              </a:ln>
              <a:solidFill>
                <a:schemeClr val="tx1"/>
              </a:solidFill>
              <a:effectLst/>
              <a:latin typeface="Arial" panose="020B0604020202020204" pitchFamily="34" charset="0"/>
            </a:endParaRPr>
          </a:p>
          <a:p>
            <a:r>
              <a:rPr kumimoji="0" lang="en-US" altLang="en-US" sz="2000" b="0" i="0" u="none" strike="noStrike" cap="none" normalizeH="0" baseline="0" dirty="0">
                <a:ln>
                  <a:noFill/>
                </a:ln>
                <a:solidFill>
                  <a:schemeClr val="tx1"/>
                </a:solidFill>
                <a:effectLst/>
              </a:rPr>
              <a:t> </a:t>
            </a:r>
            <a:endParaRPr kumimoji="0" lang="en-US" altLang="en-US" sz="54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29641255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9CA88-3487-489F-7F3A-5E213E5EA261}"/>
              </a:ext>
            </a:extLst>
          </p:cNvPr>
          <p:cNvSpPr>
            <a:spLocks noGrp="1"/>
          </p:cNvSpPr>
          <p:nvPr>
            <p:ph type="title"/>
          </p:nvPr>
        </p:nvSpPr>
        <p:spPr/>
        <p:txBody>
          <a:bodyPr/>
          <a:lstStyle/>
          <a:p>
            <a:r>
              <a:rPr lang="en-IN" dirty="0"/>
              <a:t>Practice Question</a:t>
            </a:r>
          </a:p>
        </p:txBody>
      </p:sp>
      <p:sp>
        <p:nvSpPr>
          <p:cNvPr id="3" name="Content Placeholder 2">
            <a:extLst>
              <a:ext uri="{FF2B5EF4-FFF2-40B4-BE49-F238E27FC236}">
                <a16:creationId xmlns:a16="http://schemas.microsoft.com/office/drawing/2014/main" id="{B59EE959-D764-C913-5EC0-99C74E6CB984}"/>
              </a:ext>
            </a:extLst>
          </p:cNvPr>
          <p:cNvSpPr>
            <a:spLocks noGrp="1"/>
          </p:cNvSpPr>
          <p:nvPr>
            <p:ph idx="1"/>
          </p:nvPr>
        </p:nvSpPr>
        <p:spPr/>
        <p:txBody>
          <a:bodyPr/>
          <a:lstStyle/>
          <a:p>
            <a:r>
              <a:rPr lang="en-US" dirty="0"/>
              <a:t>From the following sequence of γ-coded gaps, reconstruct first the gap sequence and then the postings sequence: 1110001110101011111101101111011.</a:t>
            </a:r>
            <a:endParaRPr lang="en-IN" dirty="0"/>
          </a:p>
          <a:p>
            <a:endParaRPr lang="en-IN" dirty="0"/>
          </a:p>
        </p:txBody>
      </p:sp>
    </p:spTree>
    <p:extLst>
      <p:ext uri="{BB962C8B-B14F-4D97-AF65-F5344CB8AC3E}">
        <p14:creationId xmlns:p14="http://schemas.microsoft.com/office/powerpoint/2010/main" val="25806239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5BDB4-B1E3-7BA5-5AB2-9B43E73AD6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13DF7B-AB9F-E9F9-A48C-208B2D57589A}"/>
              </a:ext>
            </a:extLst>
          </p:cNvPr>
          <p:cNvSpPr>
            <a:spLocks noGrp="1"/>
          </p:cNvSpPr>
          <p:nvPr>
            <p:ph idx="1"/>
          </p:nvPr>
        </p:nvSpPr>
        <p:spPr/>
        <p:txBody>
          <a:bodyPr/>
          <a:lstStyle/>
          <a:p>
            <a:r>
              <a:rPr lang="en-US" dirty="0"/>
              <a:t>From the following sequence of γ-coded gaps, reconstruct first the gap sequence and then the postings sequence: 1110001110101011111101101111011.</a:t>
            </a:r>
            <a:endParaRPr lang="en-IN" dirty="0"/>
          </a:p>
        </p:txBody>
      </p:sp>
      <p:pic>
        <p:nvPicPr>
          <p:cNvPr id="5" name="Picture 4">
            <a:extLst>
              <a:ext uri="{FF2B5EF4-FFF2-40B4-BE49-F238E27FC236}">
                <a16:creationId xmlns:a16="http://schemas.microsoft.com/office/drawing/2014/main" id="{1FF12017-6213-6A1B-5CFA-D9A85BA9FC11}"/>
              </a:ext>
            </a:extLst>
          </p:cNvPr>
          <p:cNvPicPr>
            <a:picLocks noChangeAspect="1"/>
          </p:cNvPicPr>
          <p:nvPr/>
        </p:nvPicPr>
        <p:blipFill>
          <a:blip r:embed="rId2"/>
          <a:stretch>
            <a:fillRect/>
          </a:stretch>
        </p:blipFill>
        <p:spPr>
          <a:xfrm>
            <a:off x="2299658" y="3117297"/>
            <a:ext cx="8683097" cy="2890213"/>
          </a:xfrm>
          <a:prstGeom prst="rect">
            <a:avLst/>
          </a:prstGeom>
        </p:spPr>
      </p:pic>
    </p:spTree>
    <p:extLst>
      <p:ext uri="{BB962C8B-B14F-4D97-AF65-F5344CB8AC3E}">
        <p14:creationId xmlns:p14="http://schemas.microsoft.com/office/powerpoint/2010/main" val="30069189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F009-640C-E7DB-2FF2-FDD6066767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9646637-2272-C1E3-6B33-BA0399BB6926}"/>
              </a:ext>
            </a:extLst>
          </p:cNvPr>
          <p:cNvSpPr>
            <a:spLocks noGrp="1"/>
          </p:cNvSpPr>
          <p:nvPr>
            <p:ph idx="1"/>
          </p:nvPr>
        </p:nvSpPr>
        <p:spPr/>
        <p:txBody>
          <a:bodyPr>
            <a:normAutofit fontScale="92500" lnSpcReduction="20000"/>
          </a:bodyPr>
          <a:lstStyle/>
          <a:p>
            <a:r>
              <a:rPr lang="en-US" b="0" i="0" dirty="0">
                <a:solidFill>
                  <a:srgbClr val="000000"/>
                </a:solidFill>
                <a:effectLst/>
                <a:latin typeface="SFRM1095_10_2"/>
              </a:rPr>
              <a:t>Suppose the vocabulary for your inverted index consists of the following 6 terms: </a:t>
            </a:r>
          </a:p>
          <a:p>
            <a:pPr lvl="1"/>
            <a:r>
              <a:rPr lang="en-US" b="0" i="0" dirty="0">
                <a:solidFill>
                  <a:srgbClr val="000000"/>
                </a:solidFill>
                <a:effectLst/>
                <a:latin typeface="SFRM1095_10_2"/>
              </a:rPr>
              <a:t>elite </a:t>
            </a:r>
          </a:p>
          <a:p>
            <a:pPr lvl="1"/>
            <a:r>
              <a:rPr lang="en-US" b="0" i="0" dirty="0">
                <a:solidFill>
                  <a:srgbClr val="000000"/>
                </a:solidFill>
                <a:effectLst/>
                <a:latin typeface="SFRM1095_10_2"/>
              </a:rPr>
              <a:t>elope </a:t>
            </a:r>
          </a:p>
          <a:p>
            <a:pPr lvl="1"/>
            <a:r>
              <a:rPr lang="en-US" b="0" i="0" dirty="0">
                <a:solidFill>
                  <a:srgbClr val="000000"/>
                </a:solidFill>
                <a:effectLst/>
                <a:latin typeface="SFRM1095_10_2"/>
              </a:rPr>
              <a:t>ellipse </a:t>
            </a:r>
          </a:p>
          <a:p>
            <a:pPr lvl="1"/>
            <a:r>
              <a:rPr lang="en-US" b="0" i="0" dirty="0">
                <a:solidFill>
                  <a:srgbClr val="000000"/>
                </a:solidFill>
                <a:effectLst/>
                <a:latin typeface="SFRM1095_10_2"/>
              </a:rPr>
              <a:t>eloquent </a:t>
            </a:r>
          </a:p>
          <a:p>
            <a:pPr lvl="1"/>
            <a:r>
              <a:rPr lang="en-US" b="0" i="0" dirty="0">
                <a:solidFill>
                  <a:srgbClr val="000000"/>
                </a:solidFill>
                <a:effectLst/>
                <a:latin typeface="SFRM1095_10_2"/>
              </a:rPr>
              <a:t>eligible </a:t>
            </a:r>
          </a:p>
          <a:p>
            <a:pPr lvl="1"/>
            <a:r>
              <a:rPr lang="en-US" b="0" i="0" dirty="0">
                <a:solidFill>
                  <a:srgbClr val="000000"/>
                </a:solidFill>
                <a:effectLst/>
                <a:latin typeface="SFRM1095_10_2"/>
              </a:rPr>
              <a:t>elongate </a:t>
            </a:r>
          </a:p>
          <a:p>
            <a:r>
              <a:rPr lang="en-US" b="0" i="0" dirty="0">
                <a:solidFill>
                  <a:srgbClr val="000000"/>
                </a:solidFill>
                <a:effectLst/>
                <a:latin typeface="SFRM1095_10_2"/>
              </a:rPr>
              <a:t>Assume that the dictionary data structure used for this index stores the sorted list of terms using dictionary-as-a-string storage with front coding and a block size of 3. Show the resulting storage of the above vocabulary of 6 terms. Use the special symbols * and </a:t>
            </a:r>
            <a:r>
              <a:rPr lang="en-US" b="0" i="0" dirty="0">
                <a:solidFill>
                  <a:srgbClr val="000000"/>
                </a:solidFill>
                <a:effectLst/>
                <a:latin typeface="CMSY10_17_2"/>
              </a:rPr>
              <a:t>♦ </a:t>
            </a:r>
            <a:r>
              <a:rPr lang="en-US" dirty="0">
                <a:solidFill>
                  <a:srgbClr val="000000"/>
                </a:solidFill>
                <a:latin typeface="SFRM1095_10_2"/>
              </a:rPr>
              <a:t>i</a:t>
            </a:r>
            <a:r>
              <a:rPr lang="en-US" b="0" i="0" dirty="0">
                <a:solidFill>
                  <a:srgbClr val="000000"/>
                </a:solidFill>
                <a:effectLst/>
                <a:latin typeface="SFRM1095_10_2"/>
              </a:rPr>
              <a:t>s used in the discussion on front coding</a:t>
            </a:r>
            <a:endParaRPr lang="en-IN" dirty="0"/>
          </a:p>
        </p:txBody>
      </p:sp>
    </p:spTree>
    <p:extLst>
      <p:ext uri="{BB962C8B-B14F-4D97-AF65-F5344CB8AC3E}">
        <p14:creationId xmlns:p14="http://schemas.microsoft.com/office/powerpoint/2010/main" val="3826278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7203</TotalTime>
  <Words>5491</Words>
  <Application>Microsoft Office PowerPoint</Application>
  <PresentationFormat>Widescreen</PresentationFormat>
  <Paragraphs>879</Paragraphs>
  <Slides>105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105</vt:i4>
      </vt:variant>
    </vt:vector>
  </HeadingPairs>
  <TitlesOfParts>
    <vt:vector size="113" baseType="lpstr">
      <vt:lpstr>Arial</vt:lpstr>
      <vt:lpstr>Calibri</vt:lpstr>
      <vt:lpstr>Calibri Light</vt:lpstr>
      <vt:lpstr>CMSY10_17_2</vt:lpstr>
      <vt:lpstr>ElzaText-Regular</vt:lpstr>
      <vt:lpstr>Google Sans</vt:lpstr>
      <vt:lpstr>SFRM1095_10_2</vt:lpstr>
      <vt:lpstr>Office Theme</vt:lpstr>
      <vt:lpstr>Index Construction</vt:lpstr>
      <vt:lpstr>Inverted Index Revision</vt:lpstr>
      <vt:lpstr>Tokenization</vt:lpstr>
      <vt:lpstr>Sorting</vt:lpstr>
      <vt:lpstr>Inverted index: Dictionary &amp; Postings</vt:lpstr>
      <vt:lpstr>PowerPoint Presentation</vt:lpstr>
      <vt:lpstr>Construction</vt:lpstr>
      <vt:lpstr>Hardware basics </vt:lpstr>
      <vt:lpstr>Hardware basics </vt:lpstr>
      <vt:lpstr>Hardware basics </vt:lpstr>
      <vt:lpstr>Hardware assumptions </vt:lpstr>
      <vt:lpstr>Reuters RCV1 Statistics</vt:lpstr>
      <vt:lpstr>Scaling index construction</vt:lpstr>
      <vt:lpstr>Sort-based index construction</vt:lpstr>
      <vt:lpstr>Use the same algorithm for disk?</vt:lpstr>
      <vt:lpstr>BSBI: Blocked sort-based Indexing (Sorting with fewer disk seeks)</vt:lpstr>
      <vt:lpstr>Algorithm</vt:lpstr>
      <vt:lpstr>Sorting 10 blocks of 10M records</vt:lpstr>
      <vt:lpstr>How to merge the sorted runs?</vt:lpstr>
      <vt:lpstr>How to merge the sorted runs?</vt:lpstr>
      <vt:lpstr>PowerPoint Presentation</vt:lpstr>
      <vt:lpstr>Remaining problem with sort-based algorithm</vt:lpstr>
      <vt:lpstr>SPIMI: Single-pass in-memory indexing</vt:lpstr>
      <vt:lpstr>SPIMI-Invert</vt:lpstr>
      <vt:lpstr>SPIMI in action</vt:lpstr>
      <vt:lpstr>SPIMI: Compression </vt:lpstr>
      <vt:lpstr>Distributed Indexing</vt:lpstr>
      <vt:lpstr>Google Data Centre</vt:lpstr>
      <vt:lpstr>Google Data Centre</vt:lpstr>
      <vt:lpstr>Distributed Indexing</vt:lpstr>
      <vt:lpstr>Parallel Task</vt:lpstr>
      <vt:lpstr>Parser</vt:lpstr>
      <vt:lpstr>Inverter</vt:lpstr>
      <vt:lpstr>Data flow: MapReduce</vt:lpstr>
      <vt:lpstr>Map Reduce</vt:lpstr>
      <vt:lpstr>MapReduce</vt:lpstr>
      <vt:lpstr>Schema for index construction in MapReduce</vt:lpstr>
      <vt:lpstr>Dynamic Indexing</vt:lpstr>
      <vt:lpstr>Simplest Approach</vt:lpstr>
      <vt:lpstr>Issues with main and Auxiliary indexes</vt:lpstr>
      <vt:lpstr>Logarithmic Merge</vt:lpstr>
      <vt:lpstr>PowerPoint Presentation</vt:lpstr>
      <vt:lpstr>Logarithmic Merge</vt:lpstr>
      <vt:lpstr>Further Issues with Multiple Indexes</vt:lpstr>
      <vt:lpstr>Dynamic Indexing at Search Engine</vt:lpstr>
      <vt:lpstr>Summary</vt:lpstr>
      <vt:lpstr>Why Compression</vt:lpstr>
      <vt:lpstr>Why Compression for Inverted Index</vt:lpstr>
      <vt:lpstr>Reuters RCV1 Statistics</vt:lpstr>
      <vt:lpstr>Lossless vs. lossy compression</vt:lpstr>
      <vt:lpstr>Vocabulary size vs. collection size</vt:lpstr>
      <vt:lpstr>Vocabulary size vs. collection size</vt:lpstr>
      <vt:lpstr>Heaps’ Law</vt:lpstr>
      <vt:lpstr>Heaps’ Law</vt:lpstr>
      <vt:lpstr>Zipf’s law</vt:lpstr>
      <vt:lpstr>Zipf consequences</vt:lpstr>
      <vt:lpstr>Zipf’s law for Reuters RCV1</vt:lpstr>
      <vt:lpstr>Compression</vt:lpstr>
      <vt:lpstr>DICTIONARY COMPRESSION</vt:lpstr>
      <vt:lpstr>Dictionary storage – naïve version</vt:lpstr>
      <vt:lpstr>Fixed-width terms are wasteful</vt:lpstr>
      <vt:lpstr>Compressing the term list: Dictionary-as-a-String </vt:lpstr>
      <vt:lpstr>Space for dictionary as a string</vt:lpstr>
      <vt:lpstr>Blocking</vt:lpstr>
      <vt:lpstr>Blocking Net Gains</vt:lpstr>
      <vt:lpstr>Dictionary search without blocking</vt:lpstr>
      <vt:lpstr>Dictionary search with blocking</vt:lpstr>
      <vt:lpstr>Exercises</vt:lpstr>
      <vt:lpstr>Front coding</vt:lpstr>
      <vt:lpstr>RCV1 dictionary compression summary</vt:lpstr>
      <vt:lpstr>POSTINGS COMPRESSION</vt:lpstr>
      <vt:lpstr>Postings: two conflicting forces</vt:lpstr>
      <vt:lpstr>Gap encoding of postings file entries</vt:lpstr>
      <vt:lpstr>Three postings entries</vt:lpstr>
      <vt:lpstr>Variable length encoding</vt:lpstr>
      <vt:lpstr>Variable Byte (VB) codes</vt:lpstr>
      <vt:lpstr>Example</vt:lpstr>
      <vt:lpstr>Unary code</vt:lpstr>
      <vt:lpstr>Gamma codes</vt:lpstr>
      <vt:lpstr>Gamma code examples</vt:lpstr>
      <vt:lpstr>Gamma code properties</vt:lpstr>
      <vt:lpstr>Gamma seldom used in practice</vt:lpstr>
      <vt:lpstr>RCV1 compression</vt:lpstr>
      <vt:lpstr>Index compression summary</vt:lpstr>
      <vt:lpstr>Three postings entries</vt:lpstr>
      <vt:lpstr>Gamma code examples</vt:lpstr>
      <vt:lpstr>PowerPoint Presentation</vt:lpstr>
      <vt:lpstr>Blocking Net Gains</vt:lpstr>
      <vt:lpstr>Dictionary search without blocking</vt:lpstr>
      <vt:lpstr>Dictionary search with blocking</vt:lpstr>
      <vt:lpstr>PowerPoint Presentation</vt:lpstr>
      <vt:lpstr>PowerPoint Presentation</vt:lpstr>
      <vt:lpstr>PowerPoint Presentation</vt:lpstr>
      <vt:lpstr>Dictionary search without blocking</vt:lpstr>
      <vt:lpstr>Dictionary search with blocking</vt:lpstr>
      <vt:lpstr>PowerPoint Presentation</vt:lpstr>
      <vt:lpstr>Three postings entries</vt:lpstr>
      <vt:lpstr>PowerPoint Presentation</vt:lpstr>
      <vt:lpstr>Practice Question</vt:lpstr>
      <vt:lpstr>PowerPoint Presentation</vt:lpstr>
      <vt:lpstr>PowerPoint Presentation</vt:lpstr>
      <vt:lpstr>PowerPoint Presentation</vt:lpstr>
      <vt:lpstr>Practice Question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Indexing</dc:title>
  <dc:creator>richa singh</dc:creator>
  <cp:lastModifiedBy>richa singh</cp:lastModifiedBy>
  <cp:revision>121</cp:revision>
  <dcterms:created xsi:type="dcterms:W3CDTF">2023-09-06T05:19:30Z</dcterms:created>
  <dcterms:modified xsi:type="dcterms:W3CDTF">2023-10-16T15:22:09Z</dcterms:modified>
</cp:coreProperties>
</file>