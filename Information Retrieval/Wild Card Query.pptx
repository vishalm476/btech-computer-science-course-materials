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71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9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62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223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98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06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132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311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947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748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30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8/23/2023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230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18181-6CFB-D75D-CECC-22B765C033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Wild Card Queries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1408AC-CE36-453C-98B4-3EF6DF1733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474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F820C-67F2-56F3-C9C6-33E2AD250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Dictionary Data Structure for Inverted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FEE92-E9D8-974D-76C8-2A70BFB42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dictionary data structures stores the terms vocabulary, document frequency pointers to each posting list…in what data structure?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14692F-62F8-FA16-4BC8-AC50B38F2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003842"/>
              </p:ext>
            </p:extLst>
          </p:nvPr>
        </p:nvGraphicFramePr>
        <p:xfrm>
          <a:off x="1349375" y="3286125"/>
          <a:ext cx="8195873" cy="41988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10508">
                  <a:extLst>
                    <a:ext uri="{9D8B030D-6E8A-4147-A177-3AD203B41FA5}">
                      <a16:colId xmlns:a16="http://schemas.microsoft.com/office/drawing/2014/main" val="3013780436"/>
                    </a:ext>
                  </a:extLst>
                </a:gridCol>
                <a:gridCol w="1090242">
                  <a:extLst>
                    <a:ext uri="{9D8B030D-6E8A-4147-A177-3AD203B41FA5}">
                      <a16:colId xmlns:a16="http://schemas.microsoft.com/office/drawing/2014/main" val="2740300919"/>
                    </a:ext>
                  </a:extLst>
                </a:gridCol>
                <a:gridCol w="1030364">
                  <a:extLst>
                    <a:ext uri="{9D8B030D-6E8A-4147-A177-3AD203B41FA5}">
                      <a16:colId xmlns:a16="http://schemas.microsoft.com/office/drawing/2014/main" val="296899320"/>
                    </a:ext>
                  </a:extLst>
                </a:gridCol>
                <a:gridCol w="1086878">
                  <a:extLst>
                    <a:ext uri="{9D8B030D-6E8A-4147-A177-3AD203B41FA5}">
                      <a16:colId xmlns:a16="http://schemas.microsoft.com/office/drawing/2014/main" val="1081678965"/>
                    </a:ext>
                  </a:extLst>
                </a:gridCol>
                <a:gridCol w="1030364">
                  <a:extLst>
                    <a:ext uri="{9D8B030D-6E8A-4147-A177-3AD203B41FA5}">
                      <a16:colId xmlns:a16="http://schemas.microsoft.com/office/drawing/2014/main" val="1833182576"/>
                    </a:ext>
                  </a:extLst>
                </a:gridCol>
                <a:gridCol w="1030364">
                  <a:extLst>
                    <a:ext uri="{9D8B030D-6E8A-4147-A177-3AD203B41FA5}">
                      <a16:colId xmlns:a16="http://schemas.microsoft.com/office/drawing/2014/main" val="1142467378"/>
                    </a:ext>
                  </a:extLst>
                </a:gridCol>
                <a:gridCol w="1117153">
                  <a:extLst>
                    <a:ext uri="{9D8B030D-6E8A-4147-A177-3AD203B41FA5}">
                      <a16:colId xmlns:a16="http://schemas.microsoft.com/office/drawing/2014/main" val="2318464684"/>
                    </a:ext>
                  </a:extLst>
                </a:gridCol>
              </a:tblGrid>
              <a:tr h="419882">
                <a:tc>
                  <a:txBody>
                    <a:bodyPr/>
                    <a:lstStyle/>
                    <a:p>
                      <a:r>
                        <a:rPr lang="en-IN" sz="1700" dirty="0"/>
                        <a:t>Brutus</a:t>
                      </a:r>
                      <a:r>
                        <a:rPr lang="en-IN" sz="17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1700" dirty="0"/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1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2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4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11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31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45</a:t>
                      </a:r>
                    </a:p>
                  </a:txBody>
                  <a:tcPr marL="122780" marR="122780" marT="61390" marB="61390"/>
                </a:tc>
                <a:extLst>
                  <a:ext uri="{0D108BD9-81ED-4DB2-BD59-A6C34878D82A}">
                    <a16:rowId xmlns:a16="http://schemas.microsoft.com/office/drawing/2014/main" val="317962325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729E9CA-1742-1DAC-1688-02F44D545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668415"/>
              </p:ext>
            </p:extLst>
          </p:nvPr>
        </p:nvGraphicFramePr>
        <p:xfrm>
          <a:off x="1408465" y="3961041"/>
          <a:ext cx="8195873" cy="41988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10508">
                  <a:extLst>
                    <a:ext uri="{9D8B030D-6E8A-4147-A177-3AD203B41FA5}">
                      <a16:colId xmlns:a16="http://schemas.microsoft.com/office/drawing/2014/main" val="3013780436"/>
                    </a:ext>
                  </a:extLst>
                </a:gridCol>
                <a:gridCol w="1090242">
                  <a:extLst>
                    <a:ext uri="{9D8B030D-6E8A-4147-A177-3AD203B41FA5}">
                      <a16:colId xmlns:a16="http://schemas.microsoft.com/office/drawing/2014/main" val="2740300919"/>
                    </a:ext>
                  </a:extLst>
                </a:gridCol>
                <a:gridCol w="1030364">
                  <a:extLst>
                    <a:ext uri="{9D8B030D-6E8A-4147-A177-3AD203B41FA5}">
                      <a16:colId xmlns:a16="http://schemas.microsoft.com/office/drawing/2014/main" val="296899320"/>
                    </a:ext>
                  </a:extLst>
                </a:gridCol>
                <a:gridCol w="1086878">
                  <a:extLst>
                    <a:ext uri="{9D8B030D-6E8A-4147-A177-3AD203B41FA5}">
                      <a16:colId xmlns:a16="http://schemas.microsoft.com/office/drawing/2014/main" val="1081678965"/>
                    </a:ext>
                  </a:extLst>
                </a:gridCol>
                <a:gridCol w="1030364">
                  <a:extLst>
                    <a:ext uri="{9D8B030D-6E8A-4147-A177-3AD203B41FA5}">
                      <a16:colId xmlns:a16="http://schemas.microsoft.com/office/drawing/2014/main" val="1833182576"/>
                    </a:ext>
                  </a:extLst>
                </a:gridCol>
                <a:gridCol w="1030364">
                  <a:extLst>
                    <a:ext uri="{9D8B030D-6E8A-4147-A177-3AD203B41FA5}">
                      <a16:colId xmlns:a16="http://schemas.microsoft.com/office/drawing/2014/main" val="1142467378"/>
                    </a:ext>
                  </a:extLst>
                </a:gridCol>
                <a:gridCol w="1117153">
                  <a:extLst>
                    <a:ext uri="{9D8B030D-6E8A-4147-A177-3AD203B41FA5}">
                      <a16:colId xmlns:a16="http://schemas.microsoft.com/office/drawing/2014/main" val="2318464684"/>
                    </a:ext>
                  </a:extLst>
                </a:gridCol>
              </a:tblGrid>
              <a:tr h="419882">
                <a:tc>
                  <a:txBody>
                    <a:bodyPr/>
                    <a:lstStyle/>
                    <a:p>
                      <a:r>
                        <a:rPr lang="en-IN" sz="1700" dirty="0"/>
                        <a:t>Caeser</a:t>
                      </a:r>
                      <a:r>
                        <a:rPr lang="en-IN" sz="17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1700" dirty="0"/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1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2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4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5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6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16</a:t>
                      </a:r>
                    </a:p>
                  </a:txBody>
                  <a:tcPr marL="122780" marR="122780" marT="61390" marB="61390"/>
                </a:tc>
                <a:extLst>
                  <a:ext uri="{0D108BD9-81ED-4DB2-BD59-A6C34878D82A}">
                    <a16:rowId xmlns:a16="http://schemas.microsoft.com/office/drawing/2014/main" val="317962325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AEAFBC-77AD-632A-CF92-CA3C8952C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22222"/>
              </p:ext>
            </p:extLst>
          </p:nvPr>
        </p:nvGraphicFramePr>
        <p:xfrm>
          <a:off x="1408465" y="4672012"/>
          <a:ext cx="8195873" cy="41988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10508">
                  <a:extLst>
                    <a:ext uri="{9D8B030D-6E8A-4147-A177-3AD203B41FA5}">
                      <a16:colId xmlns:a16="http://schemas.microsoft.com/office/drawing/2014/main" val="3013780436"/>
                    </a:ext>
                  </a:extLst>
                </a:gridCol>
                <a:gridCol w="1090242">
                  <a:extLst>
                    <a:ext uri="{9D8B030D-6E8A-4147-A177-3AD203B41FA5}">
                      <a16:colId xmlns:a16="http://schemas.microsoft.com/office/drawing/2014/main" val="2740300919"/>
                    </a:ext>
                  </a:extLst>
                </a:gridCol>
                <a:gridCol w="1030364">
                  <a:extLst>
                    <a:ext uri="{9D8B030D-6E8A-4147-A177-3AD203B41FA5}">
                      <a16:colId xmlns:a16="http://schemas.microsoft.com/office/drawing/2014/main" val="296899320"/>
                    </a:ext>
                  </a:extLst>
                </a:gridCol>
                <a:gridCol w="1086878">
                  <a:extLst>
                    <a:ext uri="{9D8B030D-6E8A-4147-A177-3AD203B41FA5}">
                      <a16:colId xmlns:a16="http://schemas.microsoft.com/office/drawing/2014/main" val="1081678965"/>
                    </a:ext>
                  </a:extLst>
                </a:gridCol>
                <a:gridCol w="1030364">
                  <a:extLst>
                    <a:ext uri="{9D8B030D-6E8A-4147-A177-3AD203B41FA5}">
                      <a16:colId xmlns:a16="http://schemas.microsoft.com/office/drawing/2014/main" val="1833182576"/>
                    </a:ext>
                  </a:extLst>
                </a:gridCol>
                <a:gridCol w="1030364">
                  <a:extLst>
                    <a:ext uri="{9D8B030D-6E8A-4147-A177-3AD203B41FA5}">
                      <a16:colId xmlns:a16="http://schemas.microsoft.com/office/drawing/2014/main" val="1142467378"/>
                    </a:ext>
                  </a:extLst>
                </a:gridCol>
                <a:gridCol w="1117153">
                  <a:extLst>
                    <a:ext uri="{9D8B030D-6E8A-4147-A177-3AD203B41FA5}">
                      <a16:colId xmlns:a16="http://schemas.microsoft.com/office/drawing/2014/main" val="2318464684"/>
                    </a:ext>
                  </a:extLst>
                </a:gridCol>
              </a:tblGrid>
              <a:tr h="419882">
                <a:tc>
                  <a:txBody>
                    <a:bodyPr/>
                    <a:lstStyle/>
                    <a:p>
                      <a:r>
                        <a:rPr lang="en-IN" sz="1700" dirty="0"/>
                        <a:t>Calpurnia</a:t>
                      </a:r>
                      <a:r>
                        <a:rPr lang="en-IN" sz="17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1700" dirty="0"/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2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31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54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101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110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145</a:t>
                      </a:r>
                    </a:p>
                  </a:txBody>
                  <a:tcPr marL="122780" marR="122780" marT="61390" marB="61390"/>
                </a:tc>
                <a:extLst>
                  <a:ext uri="{0D108BD9-81ED-4DB2-BD59-A6C34878D82A}">
                    <a16:rowId xmlns:a16="http://schemas.microsoft.com/office/drawing/2014/main" val="3179623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3192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8D05B-B732-825D-EF93-9CAB07ED1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Naïve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FBBDE-C94E-C98F-6D4E-A904AD02A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An array of structure</a:t>
            </a:r>
          </a:p>
          <a:p>
            <a:r>
              <a:rPr lang="en-IN" dirty="0"/>
              <a:t>Term		Document Frequency		Pointer to Posting List</a:t>
            </a:r>
          </a:p>
          <a:p>
            <a:pPr marL="274320" lvl="1" indent="0">
              <a:buNone/>
            </a:pPr>
            <a:r>
              <a:rPr lang="en-IN" dirty="0"/>
              <a:t>a			656,265				</a:t>
            </a:r>
            <a:r>
              <a:rPr lang="en-IN" dirty="0">
                <a:sym typeface="Wingdings" panose="05000000000000000000" pitchFamily="2" charset="2"/>
              </a:rPr>
              <a:t></a:t>
            </a:r>
          </a:p>
          <a:p>
            <a:pPr marL="274320" lvl="1" indent="0">
              <a:buNone/>
            </a:pPr>
            <a:r>
              <a:rPr lang="en-IN" dirty="0">
                <a:sym typeface="Wingdings" panose="05000000000000000000" pitchFamily="2" charset="2"/>
              </a:rPr>
              <a:t>Aachen		65				</a:t>
            </a:r>
            <a:r>
              <a:rPr lang="en-IN" dirty="0"/>
              <a:t>	</a:t>
            </a:r>
          </a:p>
          <a:p>
            <a:pPr marL="274320" lvl="1" indent="0">
              <a:buNone/>
            </a:pPr>
            <a:r>
              <a:rPr lang="en-IN" dirty="0"/>
              <a:t>….			….				….</a:t>
            </a:r>
          </a:p>
          <a:p>
            <a:pPr marL="274320" lvl="1" indent="0">
              <a:buNone/>
            </a:pPr>
            <a:r>
              <a:rPr lang="en-IN" dirty="0"/>
              <a:t>Zulu			221				</a:t>
            </a:r>
            <a:r>
              <a:rPr lang="en-IN" dirty="0">
                <a:sym typeface="Wingdings" panose="05000000000000000000" pitchFamily="2" charset="2"/>
              </a:rPr>
              <a:t></a:t>
            </a:r>
          </a:p>
          <a:p>
            <a:pPr marL="274320" lvl="1" indent="0">
              <a:buNone/>
            </a:pPr>
            <a:r>
              <a:rPr lang="en-IN" dirty="0">
                <a:sym typeface="Wingdings" panose="05000000000000000000" pitchFamily="2" charset="2"/>
              </a:rPr>
              <a:t>Char[20]		int				Postings*</a:t>
            </a:r>
          </a:p>
          <a:p>
            <a:pPr marL="274320" lvl="1" indent="0">
              <a:buNone/>
            </a:pPr>
            <a:r>
              <a:rPr lang="en-IN" dirty="0">
                <a:sym typeface="Wingdings" panose="05000000000000000000" pitchFamily="2" charset="2"/>
              </a:rPr>
              <a:t>20 bytes		4/8 bytes			4/8 bytes</a:t>
            </a:r>
          </a:p>
          <a:p>
            <a:pPr marL="274320" lvl="1" indent="0">
              <a:buNone/>
            </a:pPr>
            <a:endParaRPr lang="en-IN" dirty="0">
              <a:sym typeface="Wingdings" panose="05000000000000000000" pitchFamily="2" charset="2"/>
            </a:endParaRPr>
          </a:p>
          <a:p>
            <a:pPr marL="274320" lvl="1" indent="0">
              <a:buNone/>
            </a:pPr>
            <a:r>
              <a:rPr lang="en-IN" dirty="0">
                <a:sym typeface="Wingdings" panose="05000000000000000000" pitchFamily="2" charset="2"/>
              </a:rPr>
              <a:t>How do we store a dictionary in memory efficient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4507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865E7-FEEB-DBE7-9046-2E075A51D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Dictionary 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FA8E7-DEF5-C314-0FFD-8E35BEB18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Two main choices:</a:t>
            </a:r>
          </a:p>
          <a:p>
            <a:pPr lvl="1"/>
            <a:r>
              <a:rPr lang="en-IN" dirty="0"/>
              <a:t>Hash Tables</a:t>
            </a:r>
          </a:p>
          <a:p>
            <a:pPr lvl="1"/>
            <a:r>
              <a:rPr lang="en-IN" dirty="0"/>
              <a:t>Trees</a:t>
            </a:r>
          </a:p>
          <a:p>
            <a:r>
              <a:rPr lang="en-IN" dirty="0"/>
              <a:t>Some IR System use hash tables, some trees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221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93D27-1594-9A03-E48E-C88ECBF13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Hash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305FD-C8F9-053D-D249-F2C61D5B3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Each vocabulary term in hashed to an integer</a:t>
            </a:r>
          </a:p>
          <a:p>
            <a:r>
              <a:rPr lang="en-IN" dirty="0"/>
              <a:t>Pros:</a:t>
            </a:r>
          </a:p>
          <a:p>
            <a:pPr lvl="1"/>
            <a:r>
              <a:rPr lang="en-IN" dirty="0"/>
              <a:t>Look up is faster than for a tree: O(1)</a:t>
            </a:r>
          </a:p>
          <a:p>
            <a:r>
              <a:rPr lang="en-IN" dirty="0"/>
              <a:t>Cons:</a:t>
            </a:r>
          </a:p>
          <a:p>
            <a:pPr lvl="1"/>
            <a:r>
              <a:rPr lang="en-IN" dirty="0"/>
              <a:t>No easy way to find minor variants </a:t>
            </a:r>
          </a:p>
          <a:p>
            <a:pPr lvl="2"/>
            <a:r>
              <a:rPr lang="en-IN" dirty="0"/>
              <a:t>Judgment/Judgement</a:t>
            </a:r>
          </a:p>
          <a:p>
            <a:pPr lvl="1"/>
            <a:r>
              <a:rPr lang="en-IN" dirty="0"/>
              <a:t>No prefix search</a:t>
            </a:r>
          </a:p>
          <a:p>
            <a:pPr lvl="1"/>
            <a:r>
              <a:rPr lang="en-IN" dirty="0"/>
              <a:t>If vocabulary keeps growing need to occasionally do the expensive operation</a:t>
            </a:r>
          </a:p>
        </p:txBody>
      </p:sp>
    </p:spTree>
    <p:extLst>
      <p:ext uri="{BB962C8B-B14F-4D97-AF65-F5344CB8AC3E}">
        <p14:creationId xmlns:p14="http://schemas.microsoft.com/office/powerpoint/2010/main" val="248486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9CF90-73E5-FD62-DE4F-5C1B85740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Tree : 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8B7D1-B251-F7CA-21BA-D8E38F127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6D0D686-FA64-7EDB-964D-1A2E63E15999}"/>
              </a:ext>
            </a:extLst>
          </p:cNvPr>
          <p:cNvSpPr/>
          <p:nvPr/>
        </p:nvSpPr>
        <p:spPr>
          <a:xfrm>
            <a:off x="3928188" y="2146041"/>
            <a:ext cx="1203649" cy="5318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Root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3F97273-D20F-8201-BD4D-46B508FF6480}"/>
              </a:ext>
            </a:extLst>
          </p:cNvPr>
          <p:cNvSpPr/>
          <p:nvPr/>
        </p:nvSpPr>
        <p:spPr>
          <a:xfrm>
            <a:off x="3219061" y="3350466"/>
            <a:ext cx="615821" cy="4618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13E18B2-A5F2-2B66-5628-E6070DEE3F4E}"/>
              </a:ext>
            </a:extLst>
          </p:cNvPr>
          <p:cNvSpPr/>
          <p:nvPr/>
        </p:nvSpPr>
        <p:spPr>
          <a:xfrm>
            <a:off x="5345195" y="3350467"/>
            <a:ext cx="615821" cy="4618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5222157-7ED0-7A51-774D-53C7A8B6AF10}"/>
              </a:ext>
            </a:extLst>
          </p:cNvPr>
          <p:cNvSpPr/>
          <p:nvPr/>
        </p:nvSpPr>
        <p:spPr>
          <a:xfrm>
            <a:off x="3982771" y="4441173"/>
            <a:ext cx="615821" cy="4618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12CCDF3-C5DA-F0A7-165A-C957BE136EEB}"/>
              </a:ext>
            </a:extLst>
          </p:cNvPr>
          <p:cNvSpPr/>
          <p:nvPr/>
        </p:nvSpPr>
        <p:spPr>
          <a:xfrm>
            <a:off x="1883851" y="4344171"/>
            <a:ext cx="615821" cy="4618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44A7AA6-7A71-F925-A568-35F0AD820854}"/>
              </a:ext>
            </a:extLst>
          </p:cNvPr>
          <p:cNvCxnSpPr>
            <a:stCxn id="4" idx="4"/>
            <a:endCxn id="6" idx="0"/>
          </p:cNvCxnSpPr>
          <p:nvPr/>
        </p:nvCxnSpPr>
        <p:spPr>
          <a:xfrm flipH="1">
            <a:off x="3526972" y="2677886"/>
            <a:ext cx="1003041" cy="6725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1F4368-7CC5-9D41-FBEA-2A4CDEF18724}"/>
              </a:ext>
            </a:extLst>
          </p:cNvPr>
          <p:cNvCxnSpPr>
            <a:stCxn id="4" idx="4"/>
            <a:endCxn id="7" idx="0"/>
          </p:cNvCxnSpPr>
          <p:nvPr/>
        </p:nvCxnSpPr>
        <p:spPr>
          <a:xfrm>
            <a:off x="4530013" y="2677886"/>
            <a:ext cx="1123093" cy="6725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EED368-5930-28A8-AA89-84F56BE2A7AC}"/>
              </a:ext>
            </a:extLst>
          </p:cNvPr>
          <p:cNvCxnSpPr/>
          <p:nvPr/>
        </p:nvCxnSpPr>
        <p:spPr>
          <a:xfrm flipH="1">
            <a:off x="2339651" y="3715526"/>
            <a:ext cx="1003041" cy="6725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530DDF3-09DE-3025-7871-7E988868440A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678510" y="3768592"/>
            <a:ext cx="612172" cy="6725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51B8FB6-9A34-EEC8-A905-EB5181B4328D}"/>
              </a:ext>
            </a:extLst>
          </p:cNvPr>
          <p:cNvSpPr/>
          <p:nvPr/>
        </p:nvSpPr>
        <p:spPr>
          <a:xfrm>
            <a:off x="3025064" y="2629101"/>
            <a:ext cx="763710" cy="3483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a-m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941EE7-3E9B-ECB0-7644-08CFE1FFD86F}"/>
              </a:ext>
            </a:extLst>
          </p:cNvPr>
          <p:cNvSpPr/>
          <p:nvPr/>
        </p:nvSpPr>
        <p:spPr>
          <a:xfrm>
            <a:off x="5200884" y="2665837"/>
            <a:ext cx="763710" cy="3483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n-z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5DF7D6-8E61-DB38-8E91-F3729641FB87}"/>
              </a:ext>
            </a:extLst>
          </p:cNvPr>
          <p:cNvSpPr/>
          <p:nvPr/>
        </p:nvSpPr>
        <p:spPr>
          <a:xfrm>
            <a:off x="4009518" y="3750328"/>
            <a:ext cx="763710" cy="3483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hy</a:t>
            </a:r>
            <a:r>
              <a:rPr lang="en-IN" dirty="0"/>
              <a:t>-m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D3316B-EA24-178F-63B5-33EF2E49B75D}"/>
              </a:ext>
            </a:extLst>
          </p:cNvPr>
          <p:cNvSpPr/>
          <p:nvPr/>
        </p:nvSpPr>
        <p:spPr>
          <a:xfrm>
            <a:off x="2031972" y="3622612"/>
            <a:ext cx="763710" cy="3483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a-hu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4071589-86FD-9E9E-3BA4-BAC22CD4AB76}"/>
              </a:ext>
            </a:extLst>
          </p:cNvPr>
          <p:cNvCxnSpPr>
            <a:cxnSpLocks/>
          </p:cNvCxnSpPr>
          <p:nvPr/>
        </p:nvCxnSpPr>
        <p:spPr>
          <a:xfrm flipH="1">
            <a:off x="1530220" y="4759388"/>
            <a:ext cx="487756" cy="63370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98ECD40-212F-EB9D-0312-E373F6BFC73E}"/>
              </a:ext>
            </a:extLst>
          </p:cNvPr>
          <p:cNvCxnSpPr>
            <a:cxnSpLocks/>
          </p:cNvCxnSpPr>
          <p:nvPr/>
        </p:nvCxnSpPr>
        <p:spPr>
          <a:xfrm>
            <a:off x="2383142" y="4789901"/>
            <a:ext cx="311145" cy="6031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70056F0-AF31-4F85-9769-5075B8E181E4}"/>
              </a:ext>
            </a:extLst>
          </p:cNvPr>
          <p:cNvCxnSpPr>
            <a:cxnSpLocks/>
          </p:cNvCxnSpPr>
          <p:nvPr/>
        </p:nvCxnSpPr>
        <p:spPr>
          <a:xfrm flipH="1">
            <a:off x="1522181" y="4753935"/>
            <a:ext cx="487756" cy="63370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93AD911-4A38-FC99-9217-12D0EC017B57}"/>
              </a:ext>
            </a:extLst>
          </p:cNvPr>
          <p:cNvCxnSpPr>
            <a:cxnSpLocks/>
          </p:cNvCxnSpPr>
          <p:nvPr/>
        </p:nvCxnSpPr>
        <p:spPr>
          <a:xfrm>
            <a:off x="2375103" y="4784448"/>
            <a:ext cx="311145" cy="6031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F84BD6B-0740-BC7C-DD8F-FFD098736E86}"/>
              </a:ext>
            </a:extLst>
          </p:cNvPr>
          <p:cNvCxnSpPr>
            <a:cxnSpLocks/>
          </p:cNvCxnSpPr>
          <p:nvPr/>
        </p:nvCxnSpPr>
        <p:spPr>
          <a:xfrm flipH="1">
            <a:off x="3587353" y="4887673"/>
            <a:ext cx="487756" cy="63370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07F262D-1994-F78B-637B-17F032A8211F}"/>
              </a:ext>
            </a:extLst>
          </p:cNvPr>
          <p:cNvCxnSpPr>
            <a:cxnSpLocks/>
          </p:cNvCxnSpPr>
          <p:nvPr/>
        </p:nvCxnSpPr>
        <p:spPr>
          <a:xfrm>
            <a:off x="4440275" y="4918186"/>
            <a:ext cx="311145" cy="6031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41DDC30-ED97-68C9-D16E-9108F4CDA589}"/>
              </a:ext>
            </a:extLst>
          </p:cNvPr>
          <p:cNvCxnSpPr>
            <a:cxnSpLocks/>
          </p:cNvCxnSpPr>
          <p:nvPr/>
        </p:nvCxnSpPr>
        <p:spPr>
          <a:xfrm flipH="1">
            <a:off x="5046037" y="3799098"/>
            <a:ext cx="487756" cy="63370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965C5BE-C85B-05C4-F1D7-40EE04B4E4E6}"/>
              </a:ext>
            </a:extLst>
          </p:cNvPr>
          <p:cNvCxnSpPr>
            <a:cxnSpLocks/>
          </p:cNvCxnSpPr>
          <p:nvPr/>
        </p:nvCxnSpPr>
        <p:spPr>
          <a:xfrm>
            <a:off x="5898959" y="3829611"/>
            <a:ext cx="311145" cy="6031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E6D138C-595E-A7E3-8046-2B575998CAF9}"/>
              </a:ext>
            </a:extLst>
          </p:cNvPr>
          <p:cNvSpPr/>
          <p:nvPr/>
        </p:nvSpPr>
        <p:spPr>
          <a:xfrm>
            <a:off x="5271250" y="4019553"/>
            <a:ext cx="763710" cy="3483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n-</a:t>
            </a:r>
            <a:r>
              <a:rPr lang="en-IN" dirty="0" err="1"/>
              <a:t>sh</a:t>
            </a:r>
            <a:endParaRPr lang="en-IN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59B25FD-DCDB-8234-6D08-93EFC12C0715}"/>
              </a:ext>
            </a:extLst>
          </p:cNvPr>
          <p:cNvSpPr/>
          <p:nvPr/>
        </p:nvSpPr>
        <p:spPr>
          <a:xfrm>
            <a:off x="6130465" y="3715526"/>
            <a:ext cx="763710" cy="3483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si</a:t>
            </a:r>
            <a:r>
              <a:rPr lang="en-IN" dirty="0"/>
              <a:t>-z</a:t>
            </a:r>
          </a:p>
        </p:txBody>
      </p:sp>
    </p:spTree>
    <p:extLst>
      <p:ext uri="{BB962C8B-B14F-4D97-AF65-F5344CB8AC3E}">
        <p14:creationId xmlns:p14="http://schemas.microsoft.com/office/powerpoint/2010/main" val="1310088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253C6-F61F-EDAC-377E-582565D3A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52D87-93A6-BA4D-BEE7-24F38B145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Definition: Every internal node has a number of children in the interval [</a:t>
            </a:r>
            <a:r>
              <a:rPr lang="en-IN" dirty="0" err="1"/>
              <a:t>a,b</a:t>
            </a:r>
            <a:r>
              <a:rPr lang="en-IN" dirty="0"/>
              <a:t>] where </a:t>
            </a:r>
            <a:r>
              <a:rPr lang="en-IN" dirty="0" err="1"/>
              <a:t>a,b</a:t>
            </a:r>
            <a:r>
              <a:rPr lang="en-IN" dirty="0"/>
              <a:t> are appropriate natural numbers e.g. [2,4]</a:t>
            </a:r>
          </a:p>
          <a:p>
            <a:r>
              <a:rPr lang="en-IN" dirty="0"/>
              <a:t>Simplest: Binary Tree</a:t>
            </a:r>
          </a:p>
          <a:p>
            <a:r>
              <a:rPr lang="en-IN" dirty="0"/>
              <a:t>More usual : B- Tree</a:t>
            </a:r>
          </a:p>
          <a:p>
            <a:r>
              <a:rPr lang="en-IN" dirty="0"/>
              <a:t>Tree require a standard ordering of character and hence strings but we typically have one</a:t>
            </a:r>
          </a:p>
          <a:p>
            <a:r>
              <a:rPr lang="en-IN" dirty="0"/>
              <a:t>Pros: </a:t>
            </a:r>
          </a:p>
          <a:p>
            <a:pPr lvl="1"/>
            <a:r>
              <a:rPr lang="en-IN" dirty="0"/>
              <a:t>Solve the prefix problem</a:t>
            </a:r>
          </a:p>
          <a:p>
            <a:r>
              <a:rPr lang="en-IN" dirty="0"/>
              <a:t>Cons: </a:t>
            </a:r>
          </a:p>
          <a:p>
            <a:pPr lvl="1"/>
            <a:r>
              <a:rPr lang="en-IN" dirty="0"/>
              <a:t>Slower: O(</a:t>
            </a:r>
            <a:r>
              <a:rPr lang="en-IN" dirty="0" err="1"/>
              <a:t>logn</a:t>
            </a:r>
            <a:r>
              <a:rPr lang="en-IN" dirty="0"/>
              <a:t>) [and it require balanced tree]</a:t>
            </a:r>
          </a:p>
          <a:p>
            <a:pPr lvl="1"/>
            <a:r>
              <a:rPr lang="en-IN" dirty="0"/>
              <a:t>Rebalancing binary tree is expensive</a:t>
            </a:r>
          </a:p>
          <a:p>
            <a:pPr lvl="2"/>
            <a:r>
              <a:rPr lang="en-IN" dirty="0"/>
              <a:t>But b-tree mitigate the rebalancing problem</a:t>
            </a:r>
          </a:p>
        </p:txBody>
      </p:sp>
    </p:spTree>
    <p:extLst>
      <p:ext uri="{BB962C8B-B14F-4D97-AF65-F5344CB8AC3E}">
        <p14:creationId xmlns:p14="http://schemas.microsoft.com/office/powerpoint/2010/main" val="283978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9692D-315F-A6A9-69CA-FB9A963F0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Wildcard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A9E8A-BB75-A5E8-8FA3-72224DEEC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mon</a:t>
            </a:r>
            <a:r>
              <a:rPr lang="en-IN" dirty="0"/>
              <a:t>* : find all docs containing any word beginning with “</a:t>
            </a:r>
            <a:r>
              <a:rPr lang="en-IN" dirty="0" err="1"/>
              <a:t>mon</a:t>
            </a:r>
            <a:r>
              <a:rPr lang="en-IN" dirty="0"/>
              <a:t>”</a:t>
            </a:r>
          </a:p>
          <a:p>
            <a:r>
              <a:rPr lang="en-IN" dirty="0"/>
              <a:t>Easy with binary tree (or B-tree) lexicon: retrieve all word in range </a:t>
            </a:r>
            <a:r>
              <a:rPr lang="en-IN" dirty="0" err="1"/>
              <a:t>mon</a:t>
            </a:r>
            <a:r>
              <a:rPr lang="en-IN" dirty="0"/>
              <a:t>&lt;=w&lt;moo</a:t>
            </a:r>
          </a:p>
          <a:p>
            <a:r>
              <a:rPr lang="en-IN" dirty="0"/>
              <a:t>*</a:t>
            </a:r>
            <a:r>
              <a:rPr lang="en-IN" dirty="0" err="1"/>
              <a:t>mon</a:t>
            </a:r>
            <a:r>
              <a:rPr lang="en-IN" dirty="0"/>
              <a:t>: find word ending in “</a:t>
            </a:r>
            <a:r>
              <a:rPr lang="en-IN" dirty="0" err="1"/>
              <a:t>mon</a:t>
            </a:r>
            <a:r>
              <a:rPr lang="en-IN" dirty="0"/>
              <a:t>”: harder</a:t>
            </a:r>
          </a:p>
          <a:p>
            <a:pPr lvl="1"/>
            <a:r>
              <a:rPr lang="en-IN" dirty="0"/>
              <a:t>Maintain an additional B-tree  for terms backwards.</a:t>
            </a:r>
          </a:p>
          <a:p>
            <a:pPr marL="274320" lvl="1" indent="0">
              <a:buNone/>
            </a:pPr>
            <a:r>
              <a:rPr lang="en-IN" dirty="0"/>
              <a:t>Can retrieve all words in range: nom&lt;=w&lt;non</a:t>
            </a:r>
          </a:p>
          <a:p>
            <a:pPr marL="274320" lvl="1" indent="0">
              <a:buNone/>
            </a:pPr>
            <a:endParaRPr lang="en-IN" dirty="0"/>
          </a:p>
          <a:p>
            <a:pPr marL="274320" lvl="1" indent="0">
              <a:buNone/>
            </a:pPr>
            <a:r>
              <a:rPr lang="en-IN" dirty="0"/>
              <a:t>Exercise, from this how can we enumerate all terms meeting the wild card query pro*cent</a:t>
            </a:r>
          </a:p>
        </p:txBody>
      </p:sp>
    </p:spTree>
    <p:extLst>
      <p:ext uri="{BB962C8B-B14F-4D97-AF65-F5344CB8AC3E}">
        <p14:creationId xmlns:p14="http://schemas.microsoft.com/office/powerpoint/2010/main" val="3868273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3A2C7-9CF8-9971-7AAC-8970A3E30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 processing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31CF1-CEA3-70B8-4218-73202D676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At this point, we have an enumeration of all terms in the dictionary that match the wild card query </a:t>
            </a:r>
          </a:p>
          <a:p>
            <a:r>
              <a:rPr lang="en-IN" dirty="0"/>
              <a:t>We still have to look up the postings for each enumerated term </a:t>
            </a:r>
          </a:p>
          <a:p>
            <a:r>
              <a:rPr lang="en-IN" dirty="0"/>
              <a:t>E.g. consider the query </a:t>
            </a:r>
          </a:p>
          <a:p>
            <a:pPr marL="0" indent="0">
              <a:buNone/>
            </a:pPr>
            <a:r>
              <a:rPr lang="en-IN" dirty="0"/>
              <a:t>	se*ate AND fil*er</a:t>
            </a:r>
          </a:p>
          <a:p>
            <a:pPr marL="0" indent="0">
              <a:buNone/>
            </a:pPr>
            <a:r>
              <a:rPr lang="en-IN" dirty="0"/>
              <a:t>  This may result in the execution of many Boolean AND Queries</a:t>
            </a:r>
          </a:p>
          <a:p>
            <a:pPr marL="0" indent="0">
              <a:buNone/>
            </a:pPr>
            <a:r>
              <a:rPr lang="en-IN" dirty="0"/>
              <a:t>Query – Jay*a</a:t>
            </a:r>
          </a:p>
        </p:txBody>
      </p:sp>
    </p:spTree>
    <p:extLst>
      <p:ext uri="{BB962C8B-B14F-4D97-AF65-F5344CB8AC3E}">
        <p14:creationId xmlns:p14="http://schemas.microsoft.com/office/powerpoint/2010/main" val="2595835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01A1F-6E7E-0A06-04CE-9CD1D4FC4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B-tree handle *’s at the end of a Query term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7B717-C821-2465-9725-024666B54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How can we handle *’s in the middle of the query term	</a:t>
            </a:r>
          </a:p>
          <a:p>
            <a:pPr lvl="1"/>
            <a:r>
              <a:rPr lang="en-IN" dirty="0"/>
              <a:t>co*</a:t>
            </a:r>
            <a:r>
              <a:rPr lang="en-IN" dirty="0" err="1"/>
              <a:t>tion</a:t>
            </a:r>
            <a:endParaRPr lang="en-IN" dirty="0"/>
          </a:p>
          <a:p>
            <a:r>
              <a:rPr lang="en-IN" dirty="0"/>
              <a:t>We could lookup co* AND *</a:t>
            </a:r>
            <a:r>
              <a:rPr lang="en-IN" dirty="0" err="1"/>
              <a:t>tion</a:t>
            </a:r>
            <a:r>
              <a:rPr lang="en-IN" dirty="0"/>
              <a:t> in a B-Tree and intersect the two term sets</a:t>
            </a:r>
          </a:p>
          <a:p>
            <a:pPr lvl="1"/>
            <a:r>
              <a:rPr lang="en-IN" dirty="0"/>
              <a:t>Expensive </a:t>
            </a:r>
          </a:p>
          <a:p>
            <a:r>
              <a:rPr lang="en-IN" dirty="0"/>
              <a:t>The solution: transform wild card queries so that the *’s occur 	at the end</a:t>
            </a:r>
          </a:p>
          <a:p>
            <a:r>
              <a:rPr lang="en-IN" dirty="0"/>
              <a:t>This gives rise to the </a:t>
            </a:r>
            <a:r>
              <a:rPr lang="en-IN" dirty="0" err="1"/>
              <a:t>Permuterm</a:t>
            </a:r>
            <a:r>
              <a:rPr lang="en-IN" dirty="0"/>
              <a:t> index</a:t>
            </a:r>
          </a:p>
        </p:txBody>
      </p:sp>
    </p:spTree>
    <p:extLst>
      <p:ext uri="{BB962C8B-B14F-4D97-AF65-F5344CB8AC3E}">
        <p14:creationId xmlns:p14="http://schemas.microsoft.com/office/powerpoint/2010/main" val="3109594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98557-1F46-22EC-9A4D-2A412556E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Permuterm</a:t>
            </a:r>
            <a:r>
              <a:rPr lang="en-IN" dirty="0"/>
              <a:t>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35EA3-5110-174A-F273-28C259A73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 term hello, index under:</a:t>
            </a:r>
          </a:p>
          <a:p>
            <a:pPr lvl="1"/>
            <a:r>
              <a:rPr lang="en-IN" dirty="0"/>
              <a:t>hello$, </a:t>
            </a:r>
            <a:r>
              <a:rPr lang="en-IN" dirty="0" err="1"/>
              <a:t>ello$h</a:t>
            </a:r>
            <a:r>
              <a:rPr lang="en-IN" dirty="0"/>
              <a:t>, </a:t>
            </a:r>
            <a:r>
              <a:rPr lang="en-IN" dirty="0" err="1"/>
              <a:t>llo$he</a:t>
            </a:r>
            <a:r>
              <a:rPr lang="en-IN" dirty="0"/>
              <a:t>, </a:t>
            </a:r>
            <a:r>
              <a:rPr lang="en-IN" dirty="0" err="1"/>
              <a:t>lo$hel</a:t>
            </a:r>
            <a:r>
              <a:rPr lang="en-IN" dirty="0"/>
              <a:t>, o*hell, *hello</a:t>
            </a:r>
          </a:p>
          <a:p>
            <a:pPr lvl="1"/>
            <a:r>
              <a:rPr lang="en-IN" dirty="0"/>
              <a:t>Where $ is a special symbol</a:t>
            </a:r>
          </a:p>
          <a:p>
            <a:r>
              <a:rPr lang="en-IN" dirty="0"/>
              <a:t>Queries:</a:t>
            </a:r>
          </a:p>
          <a:p>
            <a:pPr lvl="1"/>
            <a:r>
              <a:rPr lang="en-IN" dirty="0"/>
              <a:t>X lookup on X$    X* lookup on $X*</a:t>
            </a:r>
          </a:p>
          <a:p>
            <a:pPr lvl="1"/>
            <a:r>
              <a:rPr lang="en-IN" dirty="0"/>
              <a:t>*X lookup on X$*      *X* lookup on X*</a:t>
            </a:r>
          </a:p>
          <a:p>
            <a:pPr lvl="1"/>
            <a:r>
              <a:rPr lang="en-IN" dirty="0"/>
              <a:t>X*Y lookup on Y$X* 	   X*Y*Z</a:t>
            </a:r>
          </a:p>
        </p:txBody>
      </p:sp>
    </p:spTree>
    <p:extLst>
      <p:ext uri="{BB962C8B-B14F-4D97-AF65-F5344CB8AC3E}">
        <p14:creationId xmlns:p14="http://schemas.microsoft.com/office/powerpoint/2010/main" val="1022546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02D87-0CB7-48FB-9059-52D27EFE2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Permuterm</a:t>
            </a:r>
            <a:r>
              <a:rPr lang="en-IN" dirty="0"/>
              <a:t> Query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BAFB6-BB70-7CB9-D911-E9DA9E7F6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Rotate query wild card to the right</a:t>
            </a:r>
          </a:p>
          <a:p>
            <a:r>
              <a:rPr lang="en-IN" dirty="0"/>
              <a:t>Now use B-tree lookup as before</a:t>
            </a:r>
          </a:p>
          <a:p>
            <a:r>
              <a:rPr lang="en-IN" dirty="0" err="1"/>
              <a:t>Permuterm</a:t>
            </a:r>
            <a:r>
              <a:rPr lang="en-IN" dirty="0"/>
              <a:t> problem :=</a:t>
            </a:r>
            <a:r>
              <a:rPr lang="en-IN" dirty="0" err="1"/>
              <a:t>quadraple</a:t>
            </a:r>
            <a:r>
              <a:rPr lang="en-IN" dirty="0"/>
              <a:t> lexicon size</a:t>
            </a:r>
          </a:p>
        </p:txBody>
      </p:sp>
      <p:sp>
        <p:nvSpPr>
          <p:cNvPr id="4" name="Callout: Up Arrow 3">
            <a:extLst>
              <a:ext uri="{FF2B5EF4-FFF2-40B4-BE49-F238E27FC236}">
                <a16:creationId xmlns:a16="http://schemas.microsoft.com/office/drawing/2014/main" id="{CB5E0C9C-27F8-7163-0B97-A12BFB5165F7}"/>
              </a:ext>
            </a:extLst>
          </p:cNvPr>
          <p:cNvSpPr/>
          <p:nvPr/>
        </p:nvSpPr>
        <p:spPr>
          <a:xfrm>
            <a:off x="3060441" y="3536302"/>
            <a:ext cx="2435290" cy="1362269"/>
          </a:xfrm>
          <a:prstGeom prst="up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Empirical Observation for English</a:t>
            </a:r>
          </a:p>
        </p:txBody>
      </p:sp>
    </p:spTree>
    <p:extLst>
      <p:ext uri="{BB962C8B-B14F-4D97-AF65-F5344CB8AC3E}">
        <p14:creationId xmlns:p14="http://schemas.microsoft.com/office/powerpoint/2010/main" val="3936319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30AD-6303-DBAA-354C-06811D8B6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Bi-gram (k-gram)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0F23C-CFD9-F4B3-4E9E-989B4EF7C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Enumerate all k-gram (sequence of k chars) occurring in any term</a:t>
            </a:r>
          </a:p>
          <a:p>
            <a:r>
              <a:rPr lang="en-IN" dirty="0"/>
              <a:t>e.g. from text “April is the </a:t>
            </a:r>
            <a:r>
              <a:rPr lang="en-IN" dirty="0" err="1"/>
              <a:t>cruelest</a:t>
            </a:r>
            <a:r>
              <a:rPr lang="en-IN" dirty="0"/>
              <a:t> month” we get the 2- gram (bigrams)</a:t>
            </a:r>
          </a:p>
          <a:p>
            <a:pPr marL="0" indent="0">
              <a:buNone/>
            </a:pPr>
            <a:r>
              <a:rPr lang="en-IN" dirty="0"/>
              <a:t>	$a, ap, pr, </a:t>
            </a:r>
            <a:r>
              <a:rPr lang="en-IN" dirty="0" err="1"/>
              <a:t>ri</a:t>
            </a:r>
            <a:r>
              <a:rPr lang="en-IN" dirty="0"/>
              <a:t>, il, l$, $</a:t>
            </a:r>
            <a:r>
              <a:rPr lang="en-IN" dirty="0" err="1"/>
              <a:t>i</a:t>
            </a:r>
            <a:r>
              <a:rPr lang="en-IN" dirty="0"/>
              <a:t>, is, s$, $t, </a:t>
            </a:r>
            <a:r>
              <a:rPr lang="en-IN" dirty="0" err="1"/>
              <a:t>th</a:t>
            </a:r>
            <a:r>
              <a:rPr lang="en-IN" dirty="0"/>
              <a:t>, he, e$, …. </a:t>
            </a:r>
          </a:p>
          <a:p>
            <a:pPr lvl="1"/>
            <a:r>
              <a:rPr lang="en-IN" dirty="0"/>
              <a:t>$ is a special word boundary symbol</a:t>
            </a:r>
          </a:p>
          <a:p>
            <a:r>
              <a:rPr lang="en-IN" dirty="0"/>
              <a:t>Maintain a second inverted index from bigrams to dictionary terms that match each bigram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0141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573F5-1AED-2374-F15D-1AA287B3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Bigram index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02A77-AB3A-27C0-82EF-2EB2139C6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k-gram index finds terms based on a query consisting of k-gram (here k=2)</a:t>
            </a:r>
          </a:p>
          <a:p>
            <a:pPr marL="0" indent="0">
              <a:buNone/>
            </a:pPr>
            <a:r>
              <a:rPr lang="en-IN" dirty="0"/>
              <a:t>	$m </a:t>
            </a:r>
            <a:r>
              <a:rPr lang="en-IN" dirty="0">
                <a:sym typeface="Wingdings" panose="05000000000000000000" pitchFamily="2" charset="2"/>
              </a:rPr>
              <a:t> mace  madden …&gt;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	</a:t>
            </a:r>
            <a:r>
              <a:rPr lang="en-IN" dirty="0" err="1">
                <a:sym typeface="Wingdings" panose="05000000000000000000" pitchFamily="2" charset="2"/>
              </a:rPr>
              <a:t>mo</a:t>
            </a:r>
            <a:r>
              <a:rPr lang="en-IN" dirty="0">
                <a:sym typeface="Wingdings" panose="05000000000000000000" pitchFamily="2" charset="2"/>
              </a:rPr>
              <a:t>  among  amortize …&gt;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	on  along  among ….&gt;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5330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A2B9D-B0D3-ADBE-E535-9549FA70A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Processing Wild Card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91D6D-0B1D-64B5-3040-C45AB3880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Query </a:t>
            </a:r>
            <a:r>
              <a:rPr lang="en-IN" dirty="0" err="1"/>
              <a:t>mon</a:t>
            </a:r>
            <a:r>
              <a:rPr lang="en-IN" dirty="0"/>
              <a:t>* can how be run as</a:t>
            </a:r>
          </a:p>
          <a:p>
            <a:pPr marL="274320" lvl="1" indent="0">
              <a:buNone/>
            </a:pPr>
            <a:r>
              <a:rPr lang="en-IN" dirty="0"/>
              <a:t>	$m AND </a:t>
            </a:r>
            <a:r>
              <a:rPr lang="en-IN" dirty="0" err="1"/>
              <a:t>mo</a:t>
            </a:r>
            <a:r>
              <a:rPr lang="en-IN" dirty="0"/>
              <a:t> AND on</a:t>
            </a:r>
          </a:p>
          <a:p>
            <a:r>
              <a:rPr lang="en-IN" dirty="0"/>
              <a:t>Gets terms that match AND version of our wildcard query</a:t>
            </a:r>
          </a:p>
          <a:p>
            <a:r>
              <a:rPr lang="en-IN" dirty="0"/>
              <a:t>But we’d enumerate moon.</a:t>
            </a:r>
          </a:p>
          <a:p>
            <a:r>
              <a:rPr lang="en-IN" dirty="0"/>
              <a:t>Must post-filter these terms against query</a:t>
            </a:r>
          </a:p>
          <a:p>
            <a:r>
              <a:rPr lang="en-IN" dirty="0"/>
              <a:t>Surviving enumerate terms are then looked up in the term –document inverted index </a:t>
            </a:r>
          </a:p>
          <a:p>
            <a:r>
              <a:rPr lang="en-IN" dirty="0"/>
              <a:t>East space efficient</a:t>
            </a:r>
          </a:p>
        </p:txBody>
      </p:sp>
    </p:spTree>
    <p:extLst>
      <p:ext uri="{BB962C8B-B14F-4D97-AF65-F5344CB8AC3E}">
        <p14:creationId xmlns:p14="http://schemas.microsoft.com/office/powerpoint/2010/main" val="1802650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C6E90-EC8E-F030-0AAC-49DCFE435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Processing Wild Card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D5DE0-6B24-98BA-E476-048E1583E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As before, we must execute a Boolean query for each enumerated, filtered term</a:t>
            </a:r>
          </a:p>
          <a:p>
            <a:r>
              <a:rPr lang="en-IN"/>
              <a:t>Wild </a:t>
            </a:r>
            <a:r>
              <a:rPr lang="en-IN" dirty="0"/>
              <a:t>card can result in expensive query execution (very large disjunctions..)</a:t>
            </a:r>
          </a:p>
          <a:p>
            <a:pPr lvl="1"/>
            <a:r>
              <a:rPr lang="en-IN" dirty="0" err="1"/>
              <a:t>pyth</a:t>
            </a:r>
            <a:r>
              <a:rPr lang="en-IN" dirty="0"/>
              <a:t>* AND prog*</a:t>
            </a:r>
          </a:p>
          <a:p>
            <a:r>
              <a:rPr lang="en-IN" dirty="0"/>
              <a:t>If you encourage “laziness” people will respond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Which web search engine allow wildcard queries?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1BA0F7-AC75-1E0D-79CB-89D6B485EDFC}"/>
              </a:ext>
            </a:extLst>
          </p:cNvPr>
          <p:cNvSpPr/>
          <p:nvPr/>
        </p:nvSpPr>
        <p:spPr>
          <a:xfrm>
            <a:off x="1156996" y="3881535"/>
            <a:ext cx="6316824" cy="1558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             Search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Type your search terms, use ‘*’ if you need to e.g. </a:t>
            </a:r>
            <a:r>
              <a:rPr lang="en-IN" dirty="0" err="1"/>
              <a:t>alex</a:t>
            </a:r>
            <a:r>
              <a:rPr lang="en-IN" dirty="0"/>
              <a:t>* will match Alexander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D430EE-98C8-E3D4-11A1-CC931159BB91}"/>
              </a:ext>
            </a:extLst>
          </p:cNvPr>
          <p:cNvSpPr/>
          <p:nvPr/>
        </p:nvSpPr>
        <p:spPr>
          <a:xfrm>
            <a:off x="1950098" y="4058816"/>
            <a:ext cx="2379306" cy="40121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562482"/>
      </p:ext>
    </p:extLst>
  </p:cSld>
  <p:clrMapOvr>
    <a:masterClrMapping/>
  </p:clrMapOvr>
</p:sld>
</file>

<file path=ppt/theme/theme1.xml><?xml version="1.0" encoding="utf-8"?>
<a:theme xmlns:a="http://schemas.openxmlformats.org/drawingml/2006/main" name="TribuneVTI">
  <a:themeElements>
    <a:clrScheme name="AnalogousFromDarkSeedLeftStep">
      <a:dk1>
        <a:srgbClr val="000000"/>
      </a:dk1>
      <a:lt1>
        <a:srgbClr val="FFFFFF"/>
      </a:lt1>
      <a:dk2>
        <a:srgbClr val="1D2A34"/>
      </a:dk2>
      <a:lt2>
        <a:srgbClr val="E3E8E2"/>
      </a:lt2>
      <a:accent1>
        <a:srgbClr val="B34DC3"/>
      </a:accent1>
      <a:accent2>
        <a:srgbClr val="6F3BB1"/>
      </a:accent2>
      <a:accent3>
        <a:srgbClr val="504DC3"/>
      </a:accent3>
      <a:accent4>
        <a:srgbClr val="3B69B1"/>
      </a:accent4>
      <a:accent5>
        <a:srgbClr val="4DACC3"/>
      </a:accent5>
      <a:accent6>
        <a:srgbClr val="3BB197"/>
      </a:accent6>
      <a:hlink>
        <a:srgbClr val="3C8AB5"/>
      </a:hlink>
      <a:folHlink>
        <a:srgbClr val="7F7F7F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3018</TotalTime>
  <Words>907</Words>
  <Application>Microsoft Office PowerPoint</Application>
  <PresentationFormat>Widescreen</PresentationFormat>
  <Paragraphs>134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Amasis MT Pro Medium</vt:lpstr>
      <vt:lpstr>Arial</vt:lpstr>
      <vt:lpstr>Univers Light</vt:lpstr>
      <vt:lpstr>Wingdings</vt:lpstr>
      <vt:lpstr>TribuneVTI</vt:lpstr>
      <vt:lpstr>Wild Card Queries</vt:lpstr>
      <vt:lpstr>Dictionary Data Structure for Inverted Index</vt:lpstr>
      <vt:lpstr>A Naïve Dictionary</vt:lpstr>
      <vt:lpstr>Dictionary Data Structures</vt:lpstr>
      <vt:lpstr>Hash Tables</vt:lpstr>
      <vt:lpstr>Tree : Binary Tree</vt:lpstr>
      <vt:lpstr>Tree</vt:lpstr>
      <vt:lpstr>Wildcard Queries</vt:lpstr>
      <vt:lpstr>Query processing </vt:lpstr>
      <vt:lpstr>B-tree handle *’s at the end of a Query term</vt:lpstr>
      <vt:lpstr>Permuterm index</vt:lpstr>
      <vt:lpstr>Permuterm Query Processing</vt:lpstr>
      <vt:lpstr>Bi-gram (k-gram) index</vt:lpstr>
      <vt:lpstr>Bigram index example</vt:lpstr>
      <vt:lpstr>Processing Wild Card </vt:lpstr>
      <vt:lpstr>Processing Wild Card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Crawler</dc:title>
  <dc:creator>richa singh</dc:creator>
  <cp:lastModifiedBy>richa singh</cp:lastModifiedBy>
  <cp:revision>134</cp:revision>
  <dcterms:created xsi:type="dcterms:W3CDTF">2023-07-30T12:57:45Z</dcterms:created>
  <dcterms:modified xsi:type="dcterms:W3CDTF">2023-08-23T06:28:27Z</dcterms:modified>
</cp:coreProperties>
</file>