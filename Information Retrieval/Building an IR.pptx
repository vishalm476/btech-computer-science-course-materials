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6"/>
  </p:notesMasterIdLst>
  <p:sldIdLst>
    <p:sldId id="460" r:id="rId2"/>
    <p:sldId id="472" r:id="rId3"/>
    <p:sldId id="459" r:id="rId4"/>
    <p:sldId id="257" r:id="rId5"/>
    <p:sldId id="456" r:id="rId6"/>
    <p:sldId id="461" r:id="rId7"/>
    <p:sldId id="462" r:id="rId8"/>
    <p:sldId id="464" r:id="rId9"/>
    <p:sldId id="463" r:id="rId10"/>
    <p:sldId id="465" r:id="rId11"/>
    <p:sldId id="466" r:id="rId12"/>
    <p:sldId id="467" r:id="rId13"/>
    <p:sldId id="468" r:id="rId14"/>
    <p:sldId id="469" r:id="rId15"/>
    <p:sldId id="470" r:id="rId16"/>
    <p:sldId id="473" r:id="rId17"/>
    <p:sldId id="475" r:id="rId18"/>
    <p:sldId id="478" r:id="rId19"/>
    <p:sldId id="474" r:id="rId20"/>
    <p:sldId id="476" r:id="rId21"/>
    <p:sldId id="477" r:id="rId22"/>
    <p:sldId id="479" r:id="rId23"/>
    <p:sldId id="480" r:id="rId24"/>
    <p:sldId id="482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09C741-A3B9-4BC3-892D-6EBD141FCEF4}" type="datetimeFigureOut">
              <a:rPr lang="en-US" smtClean="0"/>
              <a:pPr/>
              <a:t>8/2/2023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2314CA-13B7-4AC8-87AD-637999ED41A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78DBC-711F-4E7E-A88D-1A8E228D1401}" type="datetime1">
              <a:rPr lang="en-US" smtClean="0"/>
              <a:t>8/2/2023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Richa, Assistant Professor, BIT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81E06-A78C-43D4-AEE8-B66F33337211}" type="datetime1">
              <a:rPr lang="en-US" smtClean="0"/>
              <a:t>8/2/2023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Richa, Assistant Professor, BIT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7A337-F6F3-4354-A05F-C8C7A1CED91B}" type="datetime1">
              <a:rPr lang="en-US" smtClean="0"/>
              <a:t>8/2/2023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Richa, Assistant Professor, BIT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C47DD-E59F-407E-8560-0196F89C2BF8}" type="datetime1">
              <a:rPr lang="en-US" smtClean="0"/>
              <a:t>8/2/2023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Richa, Assistant Professor, BIT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B5F74-074B-4F18-91F0-FD4D2CA30FA7}" type="datetime1">
              <a:rPr lang="en-US" smtClean="0"/>
              <a:t>8/2/2023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Richa, Assistant Professor, BIT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6D313-4A7D-4CA6-A3AA-4190DABD267B}" type="datetime1">
              <a:rPr lang="en-US" smtClean="0"/>
              <a:t>8/2/2023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Richa, Assistant Professor, BIT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102C-0059-4262-A68D-EA2042C88588}" type="datetime1">
              <a:rPr lang="en-US" smtClean="0"/>
              <a:t>8/2/2023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Richa, Assistant Professor, BIT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EF7B1-B2BE-440E-937E-5E65DA6A09BE}" type="datetime1">
              <a:rPr lang="en-US" smtClean="0"/>
              <a:t>8/2/2023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Richa, Assistant Professor, BIT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48804-9406-46C1-BDF5-B620EC0D6E11}" type="datetime1">
              <a:rPr lang="en-US" smtClean="0"/>
              <a:t>8/2/2023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Richa, Assistant Professor, BIT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509DC-FF49-4ADB-841A-06BA4F693A6B}" type="datetime1">
              <a:rPr lang="en-US" smtClean="0"/>
              <a:t>8/2/2023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Richa, Assistant Professor, BIT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CD5EE-F32A-45B3-B9C7-FD8ED85DD0D8}" type="datetime1">
              <a:rPr lang="en-US" smtClean="0"/>
              <a:t>8/2/2023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Richa, Assistant Professor, BIT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B2795C-1B7C-4CD1-99AD-DCA8D821BFF5}" type="datetime1">
              <a:rPr lang="en-US" smtClean="0"/>
              <a:t>8/2/2023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Richa, Assistant Professor, BIT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5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Pipette adding DNA sample to a petri dish">
            <a:extLst>
              <a:ext uri="{FF2B5EF4-FFF2-40B4-BE49-F238E27FC236}">
                <a16:creationId xmlns:a16="http://schemas.microsoft.com/office/drawing/2014/main" id="{4D6400B9-F710-2461-C582-5E1E8097B92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68C7F6B-C195-E3AE-6721-404963E8B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122362"/>
            <a:ext cx="6858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6000" dirty="0">
                <a:solidFill>
                  <a:srgbClr val="FFFFFF"/>
                </a:solidFill>
              </a:rPr>
              <a:t>To make a Retrieval System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F82117-0418-4105-0989-1EC880461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sz="1000" kern="1200" dirty="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rPr>
              <a:t>Dr. Richa, Assistant Professor, BIT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F9FFE9-7A40-6D57-0690-5F258EFD3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6F15528-21DE-4FAA-801E-634DDDAF4B2B}" type="slidenum">
              <a:rPr lang="en-US" sz="1000" smtClean="0">
                <a:solidFill>
                  <a:srgbClr val="FFFFFF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1</a:t>
            </a:fld>
            <a:endParaRPr lang="en-US" sz="1000">
              <a:solidFill>
                <a:srgbClr val="FFFFFF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5852950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1324FD-D610-D6D3-AAE5-7E724203C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5299" y="548464"/>
            <a:ext cx="5098906" cy="1675623"/>
          </a:xfrm>
        </p:spPr>
        <p:txBody>
          <a:bodyPr anchor="b">
            <a:normAutofit/>
          </a:bodyPr>
          <a:lstStyle/>
          <a:p>
            <a:r>
              <a:rPr lang="en-IN" sz="3500"/>
              <a:t>Outline</a:t>
            </a:r>
          </a:p>
        </p:txBody>
      </p:sp>
      <p:pic>
        <p:nvPicPr>
          <p:cNvPr id="9" name="Picture 6" descr="Technological background">
            <a:extLst>
              <a:ext uri="{FF2B5EF4-FFF2-40B4-BE49-F238E27FC236}">
                <a16:creationId xmlns:a16="http://schemas.microsoft.com/office/drawing/2014/main" id="{FB8E0915-A7AB-6F0D-54B2-BBAE28D2616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215" r="42151" b="-1"/>
          <a:stretch/>
        </p:blipFill>
        <p:spPr>
          <a:xfrm>
            <a:off x="20" y="10"/>
            <a:ext cx="3147352" cy="6857990"/>
          </a:xfrm>
          <a:prstGeom prst="rect">
            <a:avLst/>
          </a:prstGeom>
          <a:effectLst/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47C8B86-5072-1B72-1ECA-C350743D7A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5300" y="2409830"/>
            <a:ext cx="5098904" cy="3705217"/>
          </a:xfrm>
        </p:spPr>
        <p:txBody>
          <a:bodyPr>
            <a:normAutofit/>
          </a:bodyPr>
          <a:lstStyle/>
          <a:p>
            <a:r>
              <a:rPr lang="en-IN" sz="1700" dirty="0"/>
              <a:t>Search Engine Architecture</a:t>
            </a:r>
          </a:p>
          <a:p>
            <a:r>
              <a:rPr lang="en-IN" sz="1700" dirty="0"/>
              <a:t>One Basic Information Retrieval</a:t>
            </a:r>
          </a:p>
          <a:p>
            <a:r>
              <a:rPr lang="en-IN" sz="1700" dirty="0"/>
              <a:t>Boolean Retrieval System</a:t>
            </a:r>
          </a:p>
          <a:p>
            <a:r>
              <a:rPr lang="en-IN" sz="1700" dirty="0"/>
              <a:t>Modification in Boolean Retrieval System</a:t>
            </a:r>
          </a:p>
          <a:p>
            <a:r>
              <a:rPr lang="en-IN" sz="1700" dirty="0"/>
              <a:t>Inverted Index: Dictionary and Posting</a:t>
            </a:r>
          </a:p>
          <a:p>
            <a:r>
              <a:rPr lang="en-IN" sz="1700"/>
              <a:t>Conclusion</a:t>
            </a:r>
            <a:endParaRPr lang="en-IN" sz="17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51EECD-3BBD-4DAA-ED9D-D58C5E8BC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5299" y="6356350"/>
            <a:ext cx="3328527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/>
              <a:t>Dr. Richa, Assistant Professor, BIT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5F345D-2E36-FD97-9DE8-3F682BB0D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95264" y="6356350"/>
            <a:ext cx="162008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715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142713" y="-1142284"/>
            <a:ext cx="68580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125298" y="-161647"/>
            <a:ext cx="4894564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997398-76B5-72A8-0582-70D1D3017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371600" y="2002536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10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Dr. Richa, Assistant Professor, BIT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7BE83D7-76A8-4257-9536-E989A7D7A9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2900" y="521493"/>
            <a:ext cx="8458200" cy="581501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955662-40E9-723A-35A2-DC187FE65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78240" y="6455664"/>
            <a:ext cx="33604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 sz="1000" smtClean="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3</a:t>
            </a:fld>
            <a:endParaRPr lang="en-US" sz="1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0452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5299" y="548464"/>
            <a:ext cx="5098906" cy="167562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b">
            <a:normAutofit/>
          </a:bodyPr>
          <a:lstStyle/>
          <a:p>
            <a:r>
              <a:rPr lang="en-US" sz="3500" dirty="0"/>
              <a:t>The problem</a:t>
            </a:r>
          </a:p>
        </p:txBody>
      </p:sp>
      <p:pic>
        <p:nvPicPr>
          <p:cNvPr id="7" name="Picture 6" descr="3D box skeletons">
            <a:extLst>
              <a:ext uri="{FF2B5EF4-FFF2-40B4-BE49-F238E27FC236}">
                <a16:creationId xmlns:a16="http://schemas.microsoft.com/office/drawing/2014/main" id="{E235C408-D192-4B59-13A1-149F0E0802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399" r="32967" b="-1"/>
          <a:stretch/>
        </p:blipFill>
        <p:spPr>
          <a:xfrm>
            <a:off x="20" y="10"/>
            <a:ext cx="3147352" cy="6857990"/>
          </a:xfrm>
          <a:prstGeom prst="rect">
            <a:avLst/>
          </a:prstGeom>
          <a:effectLst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15300" y="2409830"/>
            <a:ext cx="5098904" cy="3705217"/>
          </a:xfrm>
        </p:spPr>
        <p:txBody>
          <a:bodyPr>
            <a:normAutofit/>
          </a:bodyPr>
          <a:lstStyle/>
          <a:p>
            <a:r>
              <a:rPr lang="en-US" sz="1700" dirty="0"/>
              <a:t>Query is: To find “BIT </a:t>
            </a:r>
            <a:r>
              <a:rPr lang="en-US" sz="1700" dirty="0" err="1"/>
              <a:t>Mesra</a:t>
            </a:r>
            <a:r>
              <a:rPr lang="en-US" sz="1700" dirty="0"/>
              <a:t>”</a:t>
            </a:r>
          </a:p>
          <a:p>
            <a:r>
              <a:rPr lang="en-US" sz="1700" dirty="0"/>
              <a:t>Collection of 5 document is available</a:t>
            </a:r>
          </a:p>
          <a:p>
            <a:r>
              <a:rPr lang="en-US" sz="1700" dirty="0"/>
              <a:t>Which document will be matched and why?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415299" y="6356350"/>
            <a:ext cx="3328527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/>
              <a:t>Dr. Richa, Assistant Professor, BIT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895264" y="6356350"/>
            <a:ext cx="162008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DEAB6-7E95-455C-92AC-1A7E0269D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1417" y="1138036"/>
            <a:ext cx="4083287" cy="1402470"/>
          </a:xfrm>
        </p:spPr>
        <p:txBody>
          <a:bodyPr anchor="t">
            <a:normAutofit/>
          </a:bodyPr>
          <a:lstStyle/>
          <a:p>
            <a:r>
              <a:rPr lang="en-US" sz="2800"/>
              <a:t>One Possible Solution</a:t>
            </a:r>
          </a:p>
        </p:txBody>
      </p:sp>
      <p:pic>
        <p:nvPicPr>
          <p:cNvPr id="23" name="Picture 22" descr="Pen placed on top of a signature line">
            <a:extLst>
              <a:ext uri="{FF2B5EF4-FFF2-40B4-BE49-F238E27FC236}">
                <a16:creationId xmlns:a16="http://schemas.microsoft.com/office/drawing/2014/main" id="{16F17BF9-5010-8C77-530D-05C8D04A8D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146" r="6251" b="-1"/>
          <a:stretch/>
        </p:blipFill>
        <p:spPr>
          <a:xfrm>
            <a:off x="20" y="10"/>
            <a:ext cx="3863363" cy="6857990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478772" y="871146"/>
            <a:ext cx="552705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1CAA446-62AE-00BE-FFB3-133D77728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1417" y="2551176"/>
            <a:ext cx="4083287" cy="3591207"/>
          </a:xfrm>
        </p:spPr>
        <p:txBody>
          <a:bodyPr>
            <a:normAutofit/>
          </a:bodyPr>
          <a:lstStyle/>
          <a:p>
            <a:r>
              <a:rPr lang="en-IN" sz="1700" dirty="0"/>
              <a:t>Match 1</a:t>
            </a:r>
            <a:r>
              <a:rPr lang="en-IN" sz="1700" baseline="30000" dirty="0"/>
              <a:t>st</a:t>
            </a:r>
            <a:r>
              <a:rPr lang="en-IN" sz="1700" dirty="0"/>
              <a:t> term </a:t>
            </a:r>
          </a:p>
          <a:p>
            <a:pPr lvl="1"/>
            <a:r>
              <a:rPr lang="en-IN" sz="1700" dirty="0"/>
              <a:t>Filter documents that contains this term</a:t>
            </a:r>
          </a:p>
          <a:p>
            <a:r>
              <a:rPr lang="en-IN" sz="1700" dirty="0"/>
              <a:t>Match 2</a:t>
            </a:r>
            <a:r>
              <a:rPr lang="en-IN" sz="1700" baseline="30000" dirty="0"/>
              <a:t>nd</a:t>
            </a:r>
            <a:r>
              <a:rPr lang="en-IN" sz="1700" dirty="0"/>
              <a:t> term </a:t>
            </a:r>
          </a:p>
          <a:p>
            <a:pPr lvl="1"/>
            <a:r>
              <a:rPr lang="en-IN" sz="1700" dirty="0"/>
              <a:t>Filter documents that contains this term</a:t>
            </a:r>
          </a:p>
          <a:p>
            <a:r>
              <a:rPr lang="en-IN" sz="1700" dirty="0"/>
              <a:t>Match next term </a:t>
            </a:r>
          </a:p>
          <a:p>
            <a:pPr lvl="1"/>
            <a:r>
              <a:rPr lang="en-IN" sz="1700" dirty="0"/>
              <a:t>Filter documents that contains this term</a:t>
            </a:r>
          </a:p>
          <a:p>
            <a:pPr lvl="1"/>
            <a:endParaRPr lang="en-IN" sz="17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517ED2-50A6-4F1B-A47A-315EB8AE2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16698" y="6356350"/>
            <a:ext cx="2440767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t>Dr. Richa, Assistant Professor, BIT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EA601B-5968-4033-A480-A944E768E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6375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Blue arrows pointing at a red button">
            <a:extLst>
              <a:ext uri="{FF2B5EF4-FFF2-40B4-BE49-F238E27FC236}">
                <a16:creationId xmlns:a16="http://schemas.microsoft.com/office/drawing/2014/main" id="{26F91FB6-77B0-7CA1-57B9-D5A1EACB7E3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836" t="9091" r="25637"/>
          <a:stretch/>
        </p:blipFill>
        <p:spPr>
          <a:xfrm>
            <a:off x="2642616" y="10"/>
            <a:ext cx="6501384" cy="68579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7004404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E25A72-7A61-6CBA-F4F5-54E6398C3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485" y="1122363"/>
            <a:ext cx="301752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4200">
                <a:solidFill>
                  <a:schemeClr val="bg1"/>
                </a:solidFill>
              </a:rPr>
              <a:t>Problem with the approach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1653" y="434802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771" y="4546920"/>
            <a:ext cx="298323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54CCB3-5C57-F5F9-3822-4012BC2AE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69240" y="6356350"/>
            <a:ext cx="2106763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  <a:defRPr/>
            </a:pPr>
            <a:r>
              <a:rPr lang="en-US" sz="1000" kern="1200">
                <a:solidFill>
                  <a:schemeClr val="bg1"/>
                </a:solidFill>
                <a:latin typeface="Calibri" panose="020F0502020204030204"/>
                <a:ea typeface="+mn-ea"/>
                <a:cs typeface="+mn-cs"/>
              </a:rPr>
              <a:t>Dr. Richa, Assistant Professor, BIT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07CDFF-A644-61E7-9E2A-4D6E72EB8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28114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6F15528-21DE-4FAA-801E-634DDDAF4B2B}" type="slidenum">
              <a:rPr lang="en-US" sz="1000">
                <a:solidFill>
                  <a:schemeClr val="bg1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6</a:t>
            </a:fld>
            <a:endParaRPr lang="en-US" sz="1000">
              <a:solidFill>
                <a:schemeClr val="bg1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997166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5D11FD0E-2D27-4A5A-949D-222E61ECB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BC8109F-B452-45EE-8BB3-65433C039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26075" y="-1"/>
            <a:ext cx="7817925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847537-389A-A355-2BFD-9C36DA272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9400"/>
            <a:ext cx="7886700" cy="189230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 kern="1200" dirty="0">
                <a:latin typeface="+mj-lt"/>
                <a:ea typeface="+mj-ea"/>
                <a:cs typeface="+mj-cs"/>
              </a:rPr>
              <a:t>Representing document as a term document incidence matrix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6D4EE9-416E-24F4-AFE7-95257B764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latin typeface="+mn-lt"/>
                <a:ea typeface="+mn-ea"/>
                <a:cs typeface="+mn-cs"/>
              </a:rPr>
              <a:t>Dr. Richa, Assistant Professor, BIT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C3AD15-1232-035A-8F11-5A3A766C8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6457D635-4BDF-9146-8E6C-4885284351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5886614"/>
              </p:ext>
            </p:extLst>
          </p:nvPr>
        </p:nvGraphicFramePr>
        <p:xfrm>
          <a:off x="1905000" y="2353619"/>
          <a:ext cx="7048502" cy="3566535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832917">
                  <a:extLst>
                    <a:ext uri="{9D8B030D-6E8A-4147-A177-3AD203B41FA5}">
                      <a16:colId xmlns:a16="http://schemas.microsoft.com/office/drawing/2014/main" val="2348740338"/>
                    </a:ext>
                  </a:extLst>
                </a:gridCol>
                <a:gridCol w="1043117">
                  <a:extLst>
                    <a:ext uri="{9D8B030D-6E8A-4147-A177-3AD203B41FA5}">
                      <a16:colId xmlns:a16="http://schemas.microsoft.com/office/drawing/2014/main" val="3053361523"/>
                    </a:ext>
                  </a:extLst>
                </a:gridCol>
                <a:gridCol w="1043117">
                  <a:extLst>
                    <a:ext uri="{9D8B030D-6E8A-4147-A177-3AD203B41FA5}">
                      <a16:colId xmlns:a16="http://schemas.microsoft.com/office/drawing/2014/main" val="2552722946"/>
                    </a:ext>
                  </a:extLst>
                </a:gridCol>
                <a:gridCol w="1043117">
                  <a:extLst>
                    <a:ext uri="{9D8B030D-6E8A-4147-A177-3AD203B41FA5}">
                      <a16:colId xmlns:a16="http://schemas.microsoft.com/office/drawing/2014/main" val="3940681295"/>
                    </a:ext>
                  </a:extLst>
                </a:gridCol>
                <a:gridCol w="1043117">
                  <a:extLst>
                    <a:ext uri="{9D8B030D-6E8A-4147-A177-3AD203B41FA5}">
                      <a16:colId xmlns:a16="http://schemas.microsoft.com/office/drawing/2014/main" val="579533320"/>
                    </a:ext>
                  </a:extLst>
                </a:gridCol>
                <a:gridCol w="1043117">
                  <a:extLst>
                    <a:ext uri="{9D8B030D-6E8A-4147-A177-3AD203B41FA5}">
                      <a16:colId xmlns:a16="http://schemas.microsoft.com/office/drawing/2014/main" val="1844591680"/>
                    </a:ext>
                  </a:extLst>
                </a:gridCol>
              </a:tblGrid>
              <a:tr h="509505">
                <a:tc>
                  <a:txBody>
                    <a:bodyPr/>
                    <a:lstStyle/>
                    <a:p>
                      <a:endParaRPr lang="en-IN" sz="2300" dirty="0"/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2300"/>
                        <a:t>D1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2300"/>
                        <a:t>D2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2300"/>
                        <a:t>D3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2300"/>
                        <a:t>D4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2300"/>
                        <a:t>D5</a:t>
                      </a:r>
                    </a:p>
                  </a:txBody>
                  <a:tcPr marL="115884" marR="115884" marT="57942" marB="57942"/>
                </a:tc>
                <a:extLst>
                  <a:ext uri="{0D108BD9-81ED-4DB2-BD59-A6C34878D82A}">
                    <a16:rowId xmlns:a16="http://schemas.microsoft.com/office/drawing/2014/main" val="2522930231"/>
                  </a:ext>
                </a:extLst>
              </a:tr>
              <a:tr h="509505">
                <a:tc>
                  <a:txBody>
                    <a:bodyPr/>
                    <a:lstStyle/>
                    <a:p>
                      <a:r>
                        <a:rPr lang="en-IN" sz="2300"/>
                        <a:t>BIT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2300" dirty="0"/>
                        <a:t>1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2300" dirty="0"/>
                        <a:t>1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2300" dirty="0"/>
                        <a:t>1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2300" dirty="0"/>
                        <a:t>1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2300" dirty="0"/>
                        <a:t>1</a:t>
                      </a:r>
                    </a:p>
                  </a:txBody>
                  <a:tcPr marL="115884" marR="115884" marT="57942" marB="57942"/>
                </a:tc>
                <a:extLst>
                  <a:ext uri="{0D108BD9-81ED-4DB2-BD59-A6C34878D82A}">
                    <a16:rowId xmlns:a16="http://schemas.microsoft.com/office/drawing/2014/main" val="43438783"/>
                  </a:ext>
                </a:extLst>
              </a:tr>
              <a:tr h="509505">
                <a:tc>
                  <a:txBody>
                    <a:bodyPr/>
                    <a:lstStyle/>
                    <a:p>
                      <a:r>
                        <a:rPr lang="en-IN" sz="2300" dirty="0" err="1"/>
                        <a:t>Mesra</a:t>
                      </a:r>
                      <a:endParaRPr lang="en-IN" sz="2300" dirty="0"/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2300" dirty="0"/>
                        <a:t>1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2300" dirty="0"/>
                        <a:t>0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2300" dirty="0"/>
                        <a:t>0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2300" dirty="0"/>
                        <a:t>0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2300" dirty="0"/>
                        <a:t>0</a:t>
                      </a:r>
                    </a:p>
                  </a:txBody>
                  <a:tcPr marL="115884" marR="115884" marT="57942" marB="57942"/>
                </a:tc>
                <a:extLst>
                  <a:ext uri="{0D108BD9-81ED-4DB2-BD59-A6C34878D82A}">
                    <a16:rowId xmlns:a16="http://schemas.microsoft.com/office/drawing/2014/main" val="1093306964"/>
                  </a:ext>
                </a:extLst>
              </a:tr>
              <a:tr h="509505">
                <a:tc>
                  <a:txBody>
                    <a:bodyPr/>
                    <a:lstStyle/>
                    <a:p>
                      <a:r>
                        <a:rPr lang="en-IN" sz="2300" dirty="0"/>
                        <a:t>Patna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2300" dirty="0"/>
                        <a:t>0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2300" dirty="0"/>
                        <a:t>1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2300" dirty="0"/>
                        <a:t>0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2300" dirty="0"/>
                        <a:t>0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2300" dirty="0"/>
                        <a:t>0</a:t>
                      </a:r>
                    </a:p>
                  </a:txBody>
                  <a:tcPr marL="115884" marR="115884" marT="57942" marB="57942"/>
                </a:tc>
                <a:extLst>
                  <a:ext uri="{0D108BD9-81ED-4DB2-BD59-A6C34878D82A}">
                    <a16:rowId xmlns:a16="http://schemas.microsoft.com/office/drawing/2014/main" val="3381011029"/>
                  </a:ext>
                </a:extLst>
              </a:tr>
              <a:tr h="509505">
                <a:tc>
                  <a:txBody>
                    <a:bodyPr/>
                    <a:lstStyle/>
                    <a:p>
                      <a:r>
                        <a:rPr lang="en-IN" sz="2300" dirty="0"/>
                        <a:t>Jaipur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2300" dirty="0"/>
                        <a:t>0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2300" dirty="0"/>
                        <a:t>0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2300" dirty="0"/>
                        <a:t>1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2300" dirty="0"/>
                        <a:t>0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2300" dirty="0"/>
                        <a:t>0</a:t>
                      </a:r>
                    </a:p>
                  </a:txBody>
                  <a:tcPr marL="115884" marR="115884" marT="57942" marB="57942"/>
                </a:tc>
                <a:extLst>
                  <a:ext uri="{0D108BD9-81ED-4DB2-BD59-A6C34878D82A}">
                    <a16:rowId xmlns:a16="http://schemas.microsoft.com/office/drawing/2014/main" val="1021428936"/>
                  </a:ext>
                </a:extLst>
              </a:tr>
              <a:tr h="509505">
                <a:tc>
                  <a:txBody>
                    <a:bodyPr/>
                    <a:lstStyle/>
                    <a:p>
                      <a:r>
                        <a:rPr lang="en-IN" sz="2300" dirty="0" err="1"/>
                        <a:t>Lalpur</a:t>
                      </a:r>
                      <a:endParaRPr lang="en-IN" sz="2300" dirty="0"/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2300" dirty="0"/>
                        <a:t>0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2300" dirty="0"/>
                        <a:t>0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2300" dirty="0"/>
                        <a:t>0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2300" dirty="0"/>
                        <a:t>1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2300" dirty="0"/>
                        <a:t>0</a:t>
                      </a:r>
                    </a:p>
                  </a:txBody>
                  <a:tcPr marL="115884" marR="115884" marT="57942" marB="57942"/>
                </a:tc>
                <a:extLst>
                  <a:ext uri="{0D108BD9-81ED-4DB2-BD59-A6C34878D82A}">
                    <a16:rowId xmlns:a16="http://schemas.microsoft.com/office/drawing/2014/main" val="1796751709"/>
                  </a:ext>
                </a:extLst>
              </a:tr>
              <a:tr h="509505">
                <a:tc>
                  <a:txBody>
                    <a:bodyPr/>
                    <a:lstStyle/>
                    <a:p>
                      <a:r>
                        <a:rPr lang="en-IN" sz="2300" dirty="0" err="1"/>
                        <a:t>Deoghar</a:t>
                      </a:r>
                      <a:endParaRPr lang="en-IN" sz="2300" dirty="0"/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2300" dirty="0"/>
                        <a:t>0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2300" dirty="0"/>
                        <a:t>0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2300" dirty="0"/>
                        <a:t>0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2300" dirty="0"/>
                        <a:t>0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2300" dirty="0"/>
                        <a:t>1</a:t>
                      </a:r>
                    </a:p>
                  </a:txBody>
                  <a:tcPr marL="115884" marR="115884" marT="57942" marB="57942"/>
                </a:tc>
                <a:extLst>
                  <a:ext uri="{0D108BD9-81ED-4DB2-BD59-A6C34878D82A}">
                    <a16:rowId xmlns:a16="http://schemas.microsoft.com/office/drawing/2014/main" val="3291345400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8E6043FC-FF1F-67FB-1524-8DCC1C682BC9}"/>
              </a:ext>
            </a:extLst>
          </p:cNvPr>
          <p:cNvSpPr/>
          <p:nvPr/>
        </p:nvSpPr>
        <p:spPr>
          <a:xfrm>
            <a:off x="797001" y="3581400"/>
            <a:ext cx="929890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Term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646C0F-496C-277E-6DEA-6E4975E9046E}"/>
              </a:ext>
            </a:extLst>
          </p:cNvPr>
          <p:cNvSpPr/>
          <p:nvPr/>
        </p:nvSpPr>
        <p:spPr>
          <a:xfrm>
            <a:off x="4267200" y="1847543"/>
            <a:ext cx="1371600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Documents</a:t>
            </a:r>
          </a:p>
        </p:txBody>
      </p:sp>
    </p:spTree>
    <p:extLst>
      <p:ext uri="{BB962C8B-B14F-4D97-AF65-F5344CB8AC3E}">
        <p14:creationId xmlns:p14="http://schemas.microsoft.com/office/powerpoint/2010/main" val="3244118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847537-389A-A355-2BFD-9C36DA272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256032"/>
            <a:ext cx="7879842" cy="101498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 kern="1200" dirty="0">
                <a:latin typeface="+mj-lt"/>
                <a:ea typeface="+mj-ea"/>
                <a:cs typeface="+mj-cs"/>
              </a:rPr>
              <a:t>Representing document as a term document incidence matrix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6D4EE9-416E-24F4-AFE7-95257B764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rPr>
              <a:t>Dr. Richa, Assistant Professor, BIT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C3AD15-1232-035A-8F11-5A3A766C8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54940" y="6356350"/>
            <a:ext cx="1858124" cy="365125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8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6457D635-4BDF-9146-8E6C-4885284351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9573057"/>
              </p:ext>
            </p:extLst>
          </p:nvPr>
        </p:nvGraphicFramePr>
        <p:xfrm>
          <a:off x="1143000" y="2362200"/>
          <a:ext cx="7886700" cy="35208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050885">
                  <a:extLst>
                    <a:ext uri="{9D8B030D-6E8A-4147-A177-3AD203B41FA5}">
                      <a16:colId xmlns:a16="http://schemas.microsoft.com/office/drawing/2014/main" val="2348740338"/>
                    </a:ext>
                  </a:extLst>
                </a:gridCol>
                <a:gridCol w="1167163">
                  <a:extLst>
                    <a:ext uri="{9D8B030D-6E8A-4147-A177-3AD203B41FA5}">
                      <a16:colId xmlns:a16="http://schemas.microsoft.com/office/drawing/2014/main" val="3053361523"/>
                    </a:ext>
                  </a:extLst>
                </a:gridCol>
                <a:gridCol w="1167163">
                  <a:extLst>
                    <a:ext uri="{9D8B030D-6E8A-4147-A177-3AD203B41FA5}">
                      <a16:colId xmlns:a16="http://schemas.microsoft.com/office/drawing/2014/main" val="2552722946"/>
                    </a:ext>
                  </a:extLst>
                </a:gridCol>
                <a:gridCol w="1167163">
                  <a:extLst>
                    <a:ext uri="{9D8B030D-6E8A-4147-A177-3AD203B41FA5}">
                      <a16:colId xmlns:a16="http://schemas.microsoft.com/office/drawing/2014/main" val="3940681295"/>
                    </a:ext>
                  </a:extLst>
                </a:gridCol>
                <a:gridCol w="1167163">
                  <a:extLst>
                    <a:ext uri="{9D8B030D-6E8A-4147-A177-3AD203B41FA5}">
                      <a16:colId xmlns:a16="http://schemas.microsoft.com/office/drawing/2014/main" val="579533320"/>
                    </a:ext>
                  </a:extLst>
                </a:gridCol>
                <a:gridCol w="1167163">
                  <a:extLst>
                    <a:ext uri="{9D8B030D-6E8A-4147-A177-3AD203B41FA5}">
                      <a16:colId xmlns:a16="http://schemas.microsoft.com/office/drawing/2014/main" val="1844591680"/>
                    </a:ext>
                  </a:extLst>
                </a:gridCol>
              </a:tblGrid>
              <a:tr h="502980">
                <a:tc>
                  <a:txBody>
                    <a:bodyPr/>
                    <a:lstStyle/>
                    <a:p>
                      <a:endParaRPr lang="en-IN" sz="2300"/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2300"/>
                        <a:t>D1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2300"/>
                        <a:t>D2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2300"/>
                        <a:t>D3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2300"/>
                        <a:t>D4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2300"/>
                        <a:t>D5</a:t>
                      </a:r>
                    </a:p>
                  </a:txBody>
                  <a:tcPr marL="115884" marR="115884" marT="57942" marB="57942"/>
                </a:tc>
                <a:extLst>
                  <a:ext uri="{0D108BD9-81ED-4DB2-BD59-A6C34878D82A}">
                    <a16:rowId xmlns:a16="http://schemas.microsoft.com/office/drawing/2014/main" val="2522930231"/>
                  </a:ext>
                </a:extLst>
              </a:tr>
              <a:tr h="502980">
                <a:tc>
                  <a:txBody>
                    <a:bodyPr/>
                    <a:lstStyle/>
                    <a:p>
                      <a:r>
                        <a:rPr lang="en-IN" sz="2300"/>
                        <a:t>BIT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230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230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230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230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230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marL="115884" marR="115884" marT="57942" marB="57942"/>
                </a:tc>
                <a:extLst>
                  <a:ext uri="{0D108BD9-81ED-4DB2-BD59-A6C34878D82A}">
                    <a16:rowId xmlns:a16="http://schemas.microsoft.com/office/drawing/2014/main" val="43438783"/>
                  </a:ext>
                </a:extLst>
              </a:tr>
              <a:tr h="502980">
                <a:tc>
                  <a:txBody>
                    <a:bodyPr/>
                    <a:lstStyle/>
                    <a:p>
                      <a:r>
                        <a:rPr lang="en-IN" sz="2300" dirty="0" err="1"/>
                        <a:t>Mesra</a:t>
                      </a:r>
                      <a:endParaRPr lang="en-IN" sz="2300" dirty="0"/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230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230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230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230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230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 marL="115884" marR="115884" marT="57942" marB="57942"/>
                </a:tc>
                <a:extLst>
                  <a:ext uri="{0D108BD9-81ED-4DB2-BD59-A6C34878D82A}">
                    <a16:rowId xmlns:a16="http://schemas.microsoft.com/office/drawing/2014/main" val="1093306964"/>
                  </a:ext>
                </a:extLst>
              </a:tr>
              <a:tr h="502980">
                <a:tc>
                  <a:txBody>
                    <a:bodyPr/>
                    <a:lstStyle/>
                    <a:p>
                      <a:r>
                        <a:rPr lang="en-IN" sz="2300" dirty="0"/>
                        <a:t>Patna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2300" dirty="0"/>
                        <a:t>0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2300" dirty="0"/>
                        <a:t>1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2300" dirty="0"/>
                        <a:t>0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2300" dirty="0"/>
                        <a:t>0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2300" dirty="0"/>
                        <a:t>0</a:t>
                      </a:r>
                    </a:p>
                  </a:txBody>
                  <a:tcPr marL="115884" marR="115884" marT="57942" marB="57942"/>
                </a:tc>
                <a:extLst>
                  <a:ext uri="{0D108BD9-81ED-4DB2-BD59-A6C34878D82A}">
                    <a16:rowId xmlns:a16="http://schemas.microsoft.com/office/drawing/2014/main" val="3381011029"/>
                  </a:ext>
                </a:extLst>
              </a:tr>
              <a:tr h="502980">
                <a:tc>
                  <a:txBody>
                    <a:bodyPr/>
                    <a:lstStyle/>
                    <a:p>
                      <a:r>
                        <a:rPr lang="en-IN" sz="2300" dirty="0"/>
                        <a:t>Jaipur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2300" dirty="0"/>
                        <a:t>0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2300" dirty="0"/>
                        <a:t>0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2300" dirty="0"/>
                        <a:t>1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2300" dirty="0"/>
                        <a:t>0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2300" dirty="0"/>
                        <a:t>0</a:t>
                      </a:r>
                    </a:p>
                  </a:txBody>
                  <a:tcPr marL="115884" marR="115884" marT="57942" marB="57942"/>
                </a:tc>
                <a:extLst>
                  <a:ext uri="{0D108BD9-81ED-4DB2-BD59-A6C34878D82A}">
                    <a16:rowId xmlns:a16="http://schemas.microsoft.com/office/drawing/2014/main" val="1021428936"/>
                  </a:ext>
                </a:extLst>
              </a:tr>
              <a:tr h="502980">
                <a:tc>
                  <a:txBody>
                    <a:bodyPr/>
                    <a:lstStyle/>
                    <a:p>
                      <a:r>
                        <a:rPr lang="en-IN" sz="2300" dirty="0" err="1"/>
                        <a:t>Lalpur</a:t>
                      </a:r>
                      <a:endParaRPr lang="en-IN" sz="2300" dirty="0"/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2300" dirty="0"/>
                        <a:t>0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2300" dirty="0"/>
                        <a:t>0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2300" dirty="0"/>
                        <a:t>0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2300" dirty="0"/>
                        <a:t>1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2300" dirty="0"/>
                        <a:t>0</a:t>
                      </a:r>
                    </a:p>
                  </a:txBody>
                  <a:tcPr marL="115884" marR="115884" marT="57942" marB="57942"/>
                </a:tc>
                <a:extLst>
                  <a:ext uri="{0D108BD9-81ED-4DB2-BD59-A6C34878D82A}">
                    <a16:rowId xmlns:a16="http://schemas.microsoft.com/office/drawing/2014/main" val="1796751709"/>
                  </a:ext>
                </a:extLst>
              </a:tr>
              <a:tr h="502980">
                <a:tc>
                  <a:txBody>
                    <a:bodyPr/>
                    <a:lstStyle/>
                    <a:p>
                      <a:r>
                        <a:rPr lang="en-IN" sz="2300" dirty="0" err="1"/>
                        <a:t>Deoghar</a:t>
                      </a:r>
                      <a:endParaRPr lang="en-IN" sz="2300" dirty="0"/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2300" dirty="0"/>
                        <a:t>0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2300" dirty="0"/>
                        <a:t>0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2300" dirty="0"/>
                        <a:t>0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2300" dirty="0"/>
                        <a:t>0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2300" dirty="0"/>
                        <a:t>1</a:t>
                      </a:r>
                    </a:p>
                  </a:txBody>
                  <a:tcPr marL="115884" marR="115884" marT="57942" marB="57942"/>
                </a:tc>
                <a:extLst>
                  <a:ext uri="{0D108BD9-81ED-4DB2-BD59-A6C34878D82A}">
                    <a16:rowId xmlns:a16="http://schemas.microsoft.com/office/drawing/2014/main" val="3291345400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C18EE780-FC5C-837B-A1E0-BFA7C5C829B1}"/>
              </a:ext>
            </a:extLst>
          </p:cNvPr>
          <p:cNvSpPr/>
          <p:nvPr/>
        </p:nvSpPr>
        <p:spPr>
          <a:xfrm>
            <a:off x="111201" y="3581400"/>
            <a:ext cx="929890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Term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51EA81-02C1-2EAB-C798-2B26CEC869CB}"/>
              </a:ext>
            </a:extLst>
          </p:cNvPr>
          <p:cNvSpPr/>
          <p:nvPr/>
        </p:nvSpPr>
        <p:spPr>
          <a:xfrm>
            <a:off x="3581400" y="1847543"/>
            <a:ext cx="1371600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Documents</a:t>
            </a:r>
          </a:p>
        </p:txBody>
      </p:sp>
    </p:spTree>
    <p:extLst>
      <p:ext uri="{BB962C8B-B14F-4D97-AF65-F5344CB8AC3E}">
        <p14:creationId xmlns:p14="http://schemas.microsoft.com/office/powerpoint/2010/main" val="602448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0">
            <a:extLst>
              <a:ext uri="{FF2B5EF4-FFF2-40B4-BE49-F238E27FC236}">
                <a16:creationId xmlns:a16="http://schemas.microsoft.com/office/drawing/2014/main" id="{8380AD67-C5CA-4918-B4BB-C359BB03EE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AF5785-B398-5C98-16A9-5F3BFEB88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162" y="1076324"/>
            <a:ext cx="4704588" cy="1535051"/>
          </a:xfrm>
        </p:spPr>
        <p:txBody>
          <a:bodyPr anchor="b">
            <a:normAutofit/>
          </a:bodyPr>
          <a:lstStyle/>
          <a:p>
            <a:r>
              <a:rPr lang="en-IN" sz="4500"/>
              <a:t>Boolean Retrieval Model</a:t>
            </a:r>
          </a:p>
        </p:txBody>
      </p:sp>
      <p:pic>
        <p:nvPicPr>
          <p:cNvPr id="16" name="Picture 6" descr="Coloured organisers on shelves">
            <a:extLst>
              <a:ext uri="{FF2B5EF4-FFF2-40B4-BE49-F238E27FC236}">
                <a16:creationId xmlns:a16="http://schemas.microsoft.com/office/drawing/2014/main" id="{0AA4A883-871F-0740-D0B5-2B0B1043BB3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540" r="43202"/>
          <a:stretch/>
        </p:blipFill>
        <p:spPr>
          <a:xfrm>
            <a:off x="20" y="10"/>
            <a:ext cx="3378973" cy="6857990"/>
          </a:xfrm>
          <a:prstGeom prst="rect">
            <a:avLst/>
          </a:prstGeom>
        </p:spPr>
      </p:pic>
      <p:sp>
        <p:nvSpPr>
          <p:cNvPr id="13" name="!!accent">
            <a:extLst>
              <a:ext uri="{FF2B5EF4-FFF2-40B4-BE49-F238E27FC236}">
                <a16:creationId xmlns:a16="http://schemas.microsoft.com/office/drawing/2014/main" id="{EABAD4DA-87BA-4F70-9EF0-45C6BCF17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79326" y="431969"/>
            <a:ext cx="73152" cy="411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15128D9-2797-47FA-B6FE-EC24E6B84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4449" y="2935541"/>
            <a:ext cx="46634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F64B3-F255-1691-2A0C-843792AEF9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162" y="3351276"/>
            <a:ext cx="4704588" cy="2825686"/>
          </a:xfrm>
        </p:spPr>
        <p:txBody>
          <a:bodyPr>
            <a:normAutofit/>
          </a:bodyPr>
          <a:lstStyle/>
          <a:p>
            <a:pPr algn="just"/>
            <a:r>
              <a:rPr lang="en-IN" sz="1900" dirty="0"/>
              <a:t>The assumptions:</a:t>
            </a:r>
          </a:p>
          <a:p>
            <a:pPr lvl="1" algn="just"/>
            <a:r>
              <a:rPr lang="en-IN" sz="1900" dirty="0"/>
              <a:t>The conjunction operators are used in Boolean queries e.g. AND, OR and NOT to join query terms</a:t>
            </a:r>
          </a:p>
          <a:p>
            <a:pPr lvl="1" algn="just"/>
            <a:r>
              <a:rPr lang="en-IN" sz="1900" dirty="0"/>
              <a:t>Each document is considered as set of words</a:t>
            </a:r>
          </a:p>
          <a:p>
            <a:pPr lvl="1" algn="just"/>
            <a:r>
              <a:rPr lang="en-IN" sz="1900" dirty="0"/>
              <a:t>Either match or no match</a:t>
            </a:r>
          </a:p>
          <a:p>
            <a:pPr lvl="1" algn="just"/>
            <a:endParaRPr lang="en-IN" sz="1900" dirty="0"/>
          </a:p>
          <a:p>
            <a:pPr lvl="1" algn="just"/>
            <a:endParaRPr lang="en-IN" sz="19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0637A-837A-E404-15B4-F8799C887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70282" y="6356350"/>
            <a:ext cx="278494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Dr. Richa, Assistant Professor, BIT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B9C6A9-E795-DE37-C191-0D5B09A36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55231" y="6356350"/>
            <a:ext cx="96012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9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94387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41761-FA65-09D8-2168-22012CF8E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Simple Conjunctive 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CC988-0D36-EE39-DC9B-39AA7F35AA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r>
              <a:rPr lang="en-IN" sz="1400" b="1" dirty="0"/>
              <a:t>Query=“Brutus and Caeser </a:t>
            </a:r>
          </a:p>
          <a:p>
            <a:pPr marL="0" indent="0">
              <a:buNone/>
            </a:pPr>
            <a:r>
              <a:rPr lang="en-IN" sz="1400" b="1" dirty="0"/>
              <a:t>and not Calpurnia”</a:t>
            </a:r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r>
              <a:rPr lang="en-IN" sz="1400" b="1" dirty="0"/>
              <a:t>Results=?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D01873-7FA3-C1EF-3159-E5E382FD5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Richa, Assistant Professor, BIT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38FB85-0876-44D1-3B51-75561E919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70881D-058A-12CF-2BEB-C6712FF37875}"/>
              </a:ext>
            </a:extLst>
          </p:cNvPr>
          <p:cNvSpPr/>
          <p:nvPr/>
        </p:nvSpPr>
        <p:spPr>
          <a:xfrm>
            <a:off x="2743200" y="2539181"/>
            <a:ext cx="1219200" cy="9144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Retrieval System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955E2FD-97A6-124A-E2D1-3C6D4C6016ED}"/>
              </a:ext>
            </a:extLst>
          </p:cNvPr>
          <p:cNvCxnSpPr/>
          <p:nvPr/>
        </p:nvCxnSpPr>
        <p:spPr>
          <a:xfrm>
            <a:off x="609600" y="2971800"/>
            <a:ext cx="198120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9F7DEA1-6EE0-D27F-D712-393AE573607B}"/>
              </a:ext>
            </a:extLst>
          </p:cNvPr>
          <p:cNvCxnSpPr>
            <a:cxnSpLocks/>
          </p:cNvCxnSpPr>
          <p:nvPr/>
        </p:nvCxnSpPr>
        <p:spPr>
          <a:xfrm flipH="1">
            <a:off x="609600" y="3276600"/>
            <a:ext cx="194310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22FFD9F-4EB4-48BA-0D69-C9705CBC967B}"/>
              </a:ext>
            </a:extLst>
          </p:cNvPr>
          <p:cNvCxnSpPr>
            <a:stCxn id="6" idx="3"/>
          </p:cNvCxnSpPr>
          <p:nvPr/>
        </p:nvCxnSpPr>
        <p:spPr>
          <a:xfrm>
            <a:off x="3962400" y="2996381"/>
            <a:ext cx="1143000" cy="0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3668A43D-8437-5C2E-FE4B-D97B5CD8E66A}"/>
              </a:ext>
            </a:extLst>
          </p:cNvPr>
          <p:cNvSpPr/>
          <p:nvPr/>
        </p:nvSpPr>
        <p:spPr>
          <a:xfrm>
            <a:off x="5105400" y="2504767"/>
            <a:ext cx="2057400" cy="122902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r>
              <a:rPr lang="en-IN" dirty="0"/>
              <a:t>Collection</a:t>
            </a:r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AC2A2D5-12B2-DFDA-61CD-3DC5F897B67A}"/>
              </a:ext>
            </a:extLst>
          </p:cNvPr>
          <p:cNvSpPr/>
          <p:nvPr/>
        </p:nvSpPr>
        <p:spPr>
          <a:xfrm>
            <a:off x="5257800" y="2971800"/>
            <a:ext cx="1752600" cy="6096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Shakespeare</a:t>
            </a:r>
          </a:p>
          <a:p>
            <a:pPr algn="ctr"/>
            <a:r>
              <a:rPr lang="en-IN" dirty="0"/>
              <a:t>Work</a:t>
            </a:r>
          </a:p>
        </p:txBody>
      </p:sp>
    </p:spTree>
    <p:extLst>
      <p:ext uri="{BB962C8B-B14F-4D97-AF65-F5344CB8AC3E}">
        <p14:creationId xmlns:p14="http://schemas.microsoft.com/office/powerpoint/2010/main" val="21664143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847537-389A-A355-2BFD-9C36DA272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256032"/>
            <a:ext cx="7879842" cy="101498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 dirty="0"/>
              <a:t>A</a:t>
            </a:r>
            <a:r>
              <a:rPr lang="en-US" sz="31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3100" dirty="0"/>
              <a:t>T</a:t>
            </a:r>
            <a:r>
              <a:rPr lang="en-US" sz="3100" kern="1200" dirty="0">
                <a:latin typeface="+mj-lt"/>
                <a:ea typeface="+mj-ea"/>
                <a:cs typeface="+mj-cs"/>
              </a:rPr>
              <a:t>erm-document </a:t>
            </a:r>
            <a:r>
              <a:rPr lang="en-US" sz="3100" dirty="0"/>
              <a:t>I</a:t>
            </a:r>
            <a:r>
              <a:rPr lang="en-US" sz="3100" kern="1200" dirty="0">
                <a:latin typeface="+mj-lt"/>
                <a:ea typeface="+mj-ea"/>
                <a:cs typeface="+mj-cs"/>
              </a:rPr>
              <a:t>ncidence </a:t>
            </a:r>
            <a:r>
              <a:rPr lang="en-US" sz="3100" dirty="0"/>
              <a:t>M</a:t>
            </a:r>
            <a:r>
              <a:rPr lang="en-US" sz="3100" kern="1200" dirty="0">
                <a:latin typeface="+mj-lt"/>
                <a:ea typeface="+mj-ea"/>
                <a:cs typeface="+mj-cs"/>
              </a:rPr>
              <a:t>atrix Example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6D4EE9-416E-24F4-AFE7-95257B764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rPr>
              <a:t>Dr. Richa, Assistant Professor, BIT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C3AD15-1232-035A-8F11-5A3A766C8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54940" y="6356350"/>
            <a:ext cx="1858124" cy="365125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11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6457D635-4BDF-9146-8E6C-4885284351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2800414"/>
              </p:ext>
            </p:extLst>
          </p:nvPr>
        </p:nvGraphicFramePr>
        <p:xfrm>
          <a:off x="1524000" y="2549911"/>
          <a:ext cx="7543801" cy="3460362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708825">
                  <a:extLst>
                    <a:ext uri="{9D8B030D-6E8A-4147-A177-3AD203B41FA5}">
                      <a16:colId xmlns:a16="http://schemas.microsoft.com/office/drawing/2014/main" val="2348740338"/>
                    </a:ext>
                  </a:extLst>
                </a:gridCol>
                <a:gridCol w="972496">
                  <a:extLst>
                    <a:ext uri="{9D8B030D-6E8A-4147-A177-3AD203B41FA5}">
                      <a16:colId xmlns:a16="http://schemas.microsoft.com/office/drawing/2014/main" val="3053361523"/>
                    </a:ext>
                  </a:extLst>
                </a:gridCol>
                <a:gridCol w="972496">
                  <a:extLst>
                    <a:ext uri="{9D8B030D-6E8A-4147-A177-3AD203B41FA5}">
                      <a16:colId xmlns:a16="http://schemas.microsoft.com/office/drawing/2014/main" val="2552722946"/>
                    </a:ext>
                  </a:extLst>
                </a:gridCol>
                <a:gridCol w="972496">
                  <a:extLst>
                    <a:ext uri="{9D8B030D-6E8A-4147-A177-3AD203B41FA5}">
                      <a16:colId xmlns:a16="http://schemas.microsoft.com/office/drawing/2014/main" val="3940681295"/>
                    </a:ext>
                  </a:extLst>
                </a:gridCol>
                <a:gridCol w="972496">
                  <a:extLst>
                    <a:ext uri="{9D8B030D-6E8A-4147-A177-3AD203B41FA5}">
                      <a16:colId xmlns:a16="http://schemas.microsoft.com/office/drawing/2014/main" val="579533320"/>
                    </a:ext>
                  </a:extLst>
                </a:gridCol>
                <a:gridCol w="972496">
                  <a:extLst>
                    <a:ext uri="{9D8B030D-6E8A-4147-A177-3AD203B41FA5}">
                      <a16:colId xmlns:a16="http://schemas.microsoft.com/office/drawing/2014/main" val="1662781066"/>
                    </a:ext>
                  </a:extLst>
                </a:gridCol>
                <a:gridCol w="972496">
                  <a:extLst>
                    <a:ext uri="{9D8B030D-6E8A-4147-A177-3AD203B41FA5}">
                      <a16:colId xmlns:a16="http://schemas.microsoft.com/office/drawing/2014/main" val="1844591680"/>
                    </a:ext>
                  </a:extLst>
                </a:gridCol>
              </a:tblGrid>
              <a:tr h="554326">
                <a:tc>
                  <a:txBody>
                    <a:bodyPr/>
                    <a:lstStyle/>
                    <a:p>
                      <a:endParaRPr lang="en-IN" sz="2300"/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Antony &amp; Cleopatra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Julius Caeser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The Tempest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Hamlet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Othello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Macbeth</a:t>
                      </a:r>
                    </a:p>
                  </a:txBody>
                  <a:tcPr marL="115884" marR="115884" marT="57942" marB="57942"/>
                </a:tc>
                <a:extLst>
                  <a:ext uri="{0D108BD9-81ED-4DB2-BD59-A6C34878D82A}">
                    <a16:rowId xmlns:a16="http://schemas.microsoft.com/office/drawing/2014/main" val="2522930231"/>
                  </a:ext>
                </a:extLst>
              </a:tr>
              <a:tr h="415148">
                <a:tc>
                  <a:txBody>
                    <a:bodyPr/>
                    <a:lstStyle/>
                    <a:p>
                      <a:r>
                        <a:rPr lang="en-IN" sz="1600" dirty="0"/>
                        <a:t>Antony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1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1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0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0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0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1</a:t>
                      </a:r>
                    </a:p>
                  </a:txBody>
                  <a:tcPr marL="115884" marR="115884" marT="57942" marB="57942"/>
                </a:tc>
                <a:extLst>
                  <a:ext uri="{0D108BD9-81ED-4DB2-BD59-A6C34878D82A}">
                    <a16:rowId xmlns:a16="http://schemas.microsoft.com/office/drawing/2014/main" val="43438783"/>
                  </a:ext>
                </a:extLst>
              </a:tr>
              <a:tr h="415148">
                <a:tc>
                  <a:txBody>
                    <a:bodyPr/>
                    <a:lstStyle/>
                    <a:p>
                      <a:r>
                        <a:rPr lang="en-IN" sz="1600" dirty="0"/>
                        <a:t>Brutus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1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1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0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1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0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0</a:t>
                      </a:r>
                    </a:p>
                  </a:txBody>
                  <a:tcPr marL="115884" marR="115884" marT="57942" marB="57942"/>
                </a:tc>
                <a:extLst>
                  <a:ext uri="{0D108BD9-81ED-4DB2-BD59-A6C34878D82A}">
                    <a16:rowId xmlns:a16="http://schemas.microsoft.com/office/drawing/2014/main" val="1093306964"/>
                  </a:ext>
                </a:extLst>
              </a:tr>
              <a:tr h="415148">
                <a:tc>
                  <a:txBody>
                    <a:bodyPr/>
                    <a:lstStyle/>
                    <a:p>
                      <a:r>
                        <a:rPr lang="en-IN" sz="1600" dirty="0"/>
                        <a:t>Caeser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1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1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0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1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1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1</a:t>
                      </a:r>
                    </a:p>
                  </a:txBody>
                  <a:tcPr marL="115884" marR="115884" marT="57942" marB="57942"/>
                </a:tc>
                <a:extLst>
                  <a:ext uri="{0D108BD9-81ED-4DB2-BD59-A6C34878D82A}">
                    <a16:rowId xmlns:a16="http://schemas.microsoft.com/office/drawing/2014/main" val="3381011029"/>
                  </a:ext>
                </a:extLst>
              </a:tr>
              <a:tr h="415148">
                <a:tc>
                  <a:txBody>
                    <a:bodyPr/>
                    <a:lstStyle/>
                    <a:p>
                      <a:r>
                        <a:rPr lang="en-IN" sz="1600" dirty="0"/>
                        <a:t>Calpurnia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0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1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0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0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0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0</a:t>
                      </a:r>
                    </a:p>
                  </a:txBody>
                  <a:tcPr marL="115884" marR="115884" marT="57942" marB="57942"/>
                </a:tc>
                <a:extLst>
                  <a:ext uri="{0D108BD9-81ED-4DB2-BD59-A6C34878D82A}">
                    <a16:rowId xmlns:a16="http://schemas.microsoft.com/office/drawing/2014/main" val="1021428936"/>
                  </a:ext>
                </a:extLst>
              </a:tr>
              <a:tr h="415148">
                <a:tc>
                  <a:txBody>
                    <a:bodyPr/>
                    <a:lstStyle/>
                    <a:p>
                      <a:r>
                        <a:rPr lang="en-IN" sz="1600" dirty="0"/>
                        <a:t>Cleopatra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1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0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0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0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0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0</a:t>
                      </a:r>
                    </a:p>
                  </a:txBody>
                  <a:tcPr marL="115884" marR="115884" marT="57942" marB="57942"/>
                </a:tc>
                <a:extLst>
                  <a:ext uri="{0D108BD9-81ED-4DB2-BD59-A6C34878D82A}">
                    <a16:rowId xmlns:a16="http://schemas.microsoft.com/office/drawing/2014/main" val="1796751709"/>
                  </a:ext>
                </a:extLst>
              </a:tr>
              <a:tr h="415148">
                <a:tc>
                  <a:txBody>
                    <a:bodyPr/>
                    <a:lstStyle/>
                    <a:p>
                      <a:r>
                        <a:rPr lang="en-IN" sz="1600" dirty="0"/>
                        <a:t>Mercy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1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0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1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1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1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1</a:t>
                      </a:r>
                    </a:p>
                  </a:txBody>
                  <a:tcPr marL="115884" marR="115884" marT="57942" marB="57942"/>
                </a:tc>
                <a:extLst>
                  <a:ext uri="{0D108BD9-81ED-4DB2-BD59-A6C34878D82A}">
                    <a16:rowId xmlns:a16="http://schemas.microsoft.com/office/drawing/2014/main" val="3291345400"/>
                  </a:ext>
                </a:extLst>
              </a:tr>
              <a:tr h="415148">
                <a:tc>
                  <a:txBody>
                    <a:bodyPr/>
                    <a:lstStyle/>
                    <a:p>
                      <a:r>
                        <a:rPr lang="en-IN" sz="1600" dirty="0"/>
                        <a:t>Worser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1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0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1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1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1</a:t>
                      </a:r>
                    </a:p>
                  </a:txBody>
                  <a:tcPr marL="115884" marR="115884" marT="57942" marB="57942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0</a:t>
                      </a:r>
                    </a:p>
                  </a:txBody>
                  <a:tcPr marL="115884" marR="115884" marT="57942" marB="57942"/>
                </a:tc>
                <a:extLst>
                  <a:ext uri="{0D108BD9-81ED-4DB2-BD59-A6C34878D82A}">
                    <a16:rowId xmlns:a16="http://schemas.microsoft.com/office/drawing/2014/main" val="228920759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6F39ED44-E986-0966-5091-BB841BD3DC85}"/>
              </a:ext>
            </a:extLst>
          </p:cNvPr>
          <p:cNvSpPr/>
          <p:nvPr/>
        </p:nvSpPr>
        <p:spPr>
          <a:xfrm>
            <a:off x="492201" y="3733800"/>
            <a:ext cx="929890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Term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6C43D3-DEE7-E4F0-486F-1DB5B3123751}"/>
              </a:ext>
            </a:extLst>
          </p:cNvPr>
          <p:cNvSpPr/>
          <p:nvPr/>
        </p:nvSpPr>
        <p:spPr>
          <a:xfrm>
            <a:off x="3962400" y="1999943"/>
            <a:ext cx="1371600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Documents</a:t>
            </a:r>
          </a:p>
        </p:txBody>
      </p:sp>
    </p:spTree>
    <p:extLst>
      <p:ext uri="{BB962C8B-B14F-4D97-AF65-F5344CB8AC3E}">
        <p14:creationId xmlns:p14="http://schemas.microsoft.com/office/powerpoint/2010/main" val="13947141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847537-389A-A355-2BFD-9C36DA272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138" y="174032"/>
            <a:ext cx="7631723" cy="111184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500"/>
              <a:t>“Brutus &amp; Caeser and not Calpurnia”</a:t>
            </a:r>
            <a:endParaRPr lang="en-US" sz="3500" kern="1200">
              <a:latin typeface="+mj-lt"/>
              <a:ea typeface="+mj-ea"/>
              <a:cs typeface="+mj-cs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1BF9248-6A6F-FDA4-A85A-0FB7450237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158" y="5365149"/>
            <a:ext cx="7631722" cy="767904"/>
          </a:xfrm>
        </p:spPr>
        <p:txBody>
          <a:bodyPr anchor="ctr">
            <a:normAutofit fontScale="85000" lnSpcReduction="20000"/>
          </a:bodyPr>
          <a:lstStyle/>
          <a:p>
            <a:pPr algn="ctr">
              <a:lnSpc>
                <a:spcPct val="90000"/>
              </a:lnSpc>
            </a:pPr>
            <a:endParaRPr lang="en-IN" sz="400" dirty="0"/>
          </a:p>
          <a:p>
            <a:pPr algn="ctr">
              <a:lnSpc>
                <a:spcPct val="90000"/>
              </a:lnSpc>
            </a:pPr>
            <a:endParaRPr lang="en-IN" sz="400" dirty="0"/>
          </a:p>
          <a:p>
            <a:pPr algn="ctr">
              <a:lnSpc>
                <a:spcPct val="90000"/>
              </a:lnSpc>
            </a:pPr>
            <a:endParaRPr lang="en-IN" sz="400" dirty="0"/>
          </a:p>
          <a:p>
            <a:pPr algn="ctr">
              <a:lnSpc>
                <a:spcPct val="90000"/>
              </a:lnSpc>
            </a:pPr>
            <a:endParaRPr lang="en-IN" sz="400" dirty="0"/>
          </a:p>
          <a:p>
            <a:pPr algn="ctr">
              <a:lnSpc>
                <a:spcPct val="90000"/>
              </a:lnSpc>
            </a:pPr>
            <a:endParaRPr lang="en-IN" sz="400" dirty="0"/>
          </a:p>
          <a:p>
            <a:pPr algn="ctr">
              <a:lnSpc>
                <a:spcPct val="90000"/>
              </a:lnSpc>
            </a:pPr>
            <a:endParaRPr lang="en-IN" sz="400" dirty="0"/>
          </a:p>
          <a:p>
            <a:pPr marL="0" indent="0" algn="ctr">
              <a:lnSpc>
                <a:spcPct val="90000"/>
              </a:lnSpc>
              <a:buNone/>
            </a:pPr>
            <a:endParaRPr lang="en-IN" sz="160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IN" sz="1600" dirty="0"/>
              <a:t>Doc 1 and Doc4 satisfy the users query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6D4EE9-416E-24F4-AFE7-95257B764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latin typeface="+mn-lt"/>
                <a:ea typeface="+mn-ea"/>
                <a:cs typeface="+mn-cs"/>
              </a:rPr>
              <a:t>Dr. Richa, Assistant Professor, BIT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C3AD15-1232-035A-8F11-5A3A766C8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graphicFrame>
        <p:nvGraphicFramePr>
          <p:cNvPr id="9" name="Table 6">
            <a:extLst>
              <a:ext uri="{FF2B5EF4-FFF2-40B4-BE49-F238E27FC236}">
                <a16:creationId xmlns:a16="http://schemas.microsoft.com/office/drawing/2014/main" id="{7E88E05A-6217-57FE-F2CF-05D1E6CFA53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35184708"/>
              </p:ext>
            </p:extLst>
          </p:nvPr>
        </p:nvGraphicFramePr>
        <p:xfrm>
          <a:off x="1230431" y="2111714"/>
          <a:ext cx="7886702" cy="3418797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742210">
                  <a:extLst>
                    <a:ext uri="{9D8B030D-6E8A-4147-A177-3AD203B41FA5}">
                      <a16:colId xmlns:a16="http://schemas.microsoft.com/office/drawing/2014/main" val="2348740338"/>
                    </a:ext>
                  </a:extLst>
                </a:gridCol>
                <a:gridCol w="1049115">
                  <a:extLst>
                    <a:ext uri="{9D8B030D-6E8A-4147-A177-3AD203B41FA5}">
                      <a16:colId xmlns:a16="http://schemas.microsoft.com/office/drawing/2014/main" val="3053361523"/>
                    </a:ext>
                  </a:extLst>
                </a:gridCol>
                <a:gridCol w="991496">
                  <a:extLst>
                    <a:ext uri="{9D8B030D-6E8A-4147-A177-3AD203B41FA5}">
                      <a16:colId xmlns:a16="http://schemas.microsoft.com/office/drawing/2014/main" val="2552722946"/>
                    </a:ext>
                  </a:extLst>
                </a:gridCol>
                <a:gridCol w="1045878">
                  <a:extLst>
                    <a:ext uri="{9D8B030D-6E8A-4147-A177-3AD203B41FA5}">
                      <a16:colId xmlns:a16="http://schemas.microsoft.com/office/drawing/2014/main" val="3940681295"/>
                    </a:ext>
                  </a:extLst>
                </a:gridCol>
                <a:gridCol w="991496">
                  <a:extLst>
                    <a:ext uri="{9D8B030D-6E8A-4147-A177-3AD203B41FA5}">
                      <a16:colId xmlns:a16="http://schemas.microsoft.com/office/drawing/2014/main" val="579533320"/>
                    </a:ext>
                  </a:extLst>
                </a:gridCol>
                <a:gridCol w="991496">
                  <a:extLst>
                    <a:ext uri="{9D8B030D-6E8A-4147-A177-3AD203B41FA5}">
                      <a16:colId xmlns:a16="http://schemas.microsoft.com/office/drawing/2014/main" val="1662781066"/>
                    </a:ext>
                  </a:extLst>
                </a:gridCol>
                <a:gridCol w="1075011">
                  <a:extLst>
                    <a:ext uri="{9D8B030D-6E8A-4147-A177-3AD203B41FA5}">
                      <a16:colId xmlns:a16="http://schemas.microsoft.com/office/drawing/2014/main" val="1844591680"/>
                    </a:ext>
                  </a:extLst>
                </a:gridCol>
              </a:tblGrid>
              <a:tr h="590496">
                <a:tc>
                  <a:txBody>
                    <a:bodyPr/>
                    <a:lstStyle/>
                    <a:p>
                      <a:endParaRPr lang="en-IN" sz="2300" dirty="0"/>
                    </a:p>
                  </a:txBody>
                  <a:tcPr marL="118148" marR="118148" marT="59074" marB="59074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Antony &amp; Cleopatra</a:t>
                      </a:r>
                    </a:p>
                  </a:txBody>
                  <a:tcPr marL="118148" marR="118148" marT="59074" marB="59074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Julius Caeser</a:t>
                      </a:r>
                    </a:p>
                  </a:txBody>
                  <a:tcPr marL="118148" marR="118148" marT="59074" marB="59074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The Tempest</a:t>
                      </a:r>
                    </a:p>
                  </a:txBody>
                  <a:tcPr marL="118148" marR="118148" marT="59074" marB="59074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Hamlet</a:t>
                      </a:r>
                    </a:p>
                  </a:txBody>
                  <a:tcPr marL="118148" marR="118148" marT="59074" marB="59074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Othello</a:t>
                      </a:r>
                    </a:p>
                  </a:txBody>
                  <a:tcPr marL="118148" marR="118148" marT="59074" marB="59074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Macbeth</a:t>
                      </a:r>
                    </a:p>
                  </a:txBody>
                  <a:tcPr marL="118148" marR="118148" marT="59074" marB="59074"/>
                </a:tc>
                <a:extLst>
                  <a:ext uri="{0D108BD9-81ED-4DB2-BD59-A6C34878D82A}">
                    <a16:rowId xmlns:a16="http://schemas.microsoft.com/office/drawing/2014/main" val="2522930231"/>
                  </a:ext>
                </a:extLst>
              </a:tr>
              <a:tr h="404043">
                <a:tc>
                  <a:txBody>
                    <a:bodyPr/>
                    <a:lstStyle/>
                    <a:p>
                      <a:r>
                        <a:rPr lang="en-IN" sz="1600" dirty="0"/>
                        <a:t>Antony</a:t>
                      </a:r>
                    </a:p>
                  </a:txBody>
                  <a:tcPr marL="118148" marR="118148" marT="59074" marB="59074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1</a:t>
                      </a:r>
                    </a:p>
                  </a:txBody>
                  <a:tcPr marL="118148" marR="118148" marT="59074" marB="59074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1</a:t>
                      </a:r>
                    </a:p>
                  </a:txBody>
                  <a:tcPr marL="118148" marR="118148" marT="59074" marB="59074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0</a:t>
                      </a:r>
                    </a:p>
                  </a:txBody>
                  <a:tcPr marL="118148" marR="118148" marT="59074" marB="59074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0</a:t>
                      </a:r>
                    </a:p>
                  </a:txBody>
                  <a:tcPr marL="118148" marR="118148" marT="59074" marB="59074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0</a:t>
                      </a:r>
                    </a:p>
                  </a:txBody>
                  <a:tcPr marL="118148" marR="118148" marT="59074" marB="59074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1</a:t>
                      </a:r>
                    </a:p>
                  </a:txBody>
                  <a:tcPr marL="118148" marR="118148" marT="59074" marB="59074"/>
                </a:tc>
                <a:extLst>
                  <a:ext uri="{0D108BD9-81ED-4DB2-BD59-A6C34878D82A}">
                    <a16:rowId xmlns:a16="http://schemas.microsoft.com/office/drawing/2014/main" val="43438783"/>
                  </a:ext>
                </a:extLst>
              </a:tr>
              <a:tr h="404043">
                <a:tc>
                  <a:txBody>
                    <a:bodyPr/>
                    <a:lstStyle/>
                    <a:p>
                      <a:r>
                        <a:rPr lang="en-IN" sz="1600" dirty="0"/>
                        <a:t>Brutus</a:t>
                      </a:r>
                    </a:p>
                  </a:txBody>
                  <a:tcPr marL="118148" marR="118148" marT="59074" marB="59074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1</a:t>
                      </a:r>
                    </a:p>
                  </a:txBody>
                  <a:tcPr marL="118148" marR="118148" marT="59074" marB="59074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1</a:t>
                      </a:r>
                    </a:p>
                  </a:txBody>
                  <a:tcPr marL="118148" marR="118148" marT="59074" marB="59074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0</a:t>
                      </a:r>
                    </a:p>
                  </a:txBody>
                  <a:tcPr marL="118148" marR="118148" marT="59074" marB="59074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1</a:t>
                      </a:r>
                    </a:p>
                  </a:txBody>
                  <a:tcPr marL="118148" marR="118148" marT="59074" marB="59074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0</a:t>
                      </a:r>
                    </a:p>
                  </a:txBody>
                  <a:tcPr marL="118148" marR="118148" marT="59074" marB="59074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0</a:t>
                      </a:r>
                    </a:p>
                  </a:txBody>
                  <a:tcPr marL="118148" marR="118148" marT="59074" marB="59074"/>
                </a:tc>
                <a:extLst>
                  <a:ext uri="{0D108BD9-81ED-4DB2-BD59-A6C34878D82A}">
                    <a16:rowId xmlns:a16="http://schemas.microsoft.com/office/drawing/2014/main" val="1093306964"/>
                  </a:ext>
                </a:extLst>
              </a:tr>
              <a:tr h="404043">
                <a:tc>
                  <a:txBody>
                    <a:bodyPr/>
                    <a:lstStyle/>
                    <a:p>
                      <a:r>
                        <a:rPr lang="en-IN" sz="1600" dirty="0"/>
                        <a:t>Caeser</a:t>
                      </a:r>
                    </a:p>
                  </a:txBody>
                  <a:tcPr marL="118148" marR="118148" marT="59074" marB="59074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1</a:t>
                      </a:r>
                    </a:p>
                  </a:txBody>
                  <a:tcPr marL="118148" marR="118148" marT="59074" marB="59074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1</a:t>
                      </a:r>
                    </a:p>
                  </a:txBody>
                  <a:tcPr marL="118148" marR="118148" marT="59074" marB="59074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0</a:t>
                      </a:r>
                    </a:p>
                  </a:txBody>
                  <a:tcPr marL="118148" marR="118148" marT="59074" marB="59074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1</a:t>
                      </a:r>
                    </a:p>
                  </a:txBody>
                  <a:tcPr marL="118148" marR="118148" marT="59074" marB="59074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1</a:t>
                      </a:r>
                    </a:p>
                  </a:txBody>
                  <a:tcPr marL="118148" marR="118148" marT="59074" marB="59074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1</a:t>
                      </a:r>
                    </a:p>
                  </a:txBody>
                  <a:tcPr marL="118148" marR="118148" marT="59074" marB="59074"/>
                </a:tc>
                <a:extLst>
                  <a:ext uri="{0D108BD9-81ED-4DB2-BD59-A6C34878D82A}">
                    <a16:rowId xmlns:a16="http://schemas.microsoft.com/office/drawing/2014/main" val="3381011029"/>
                  </a:ext>
                </a:extLst>
              </a:tr>
              <a:tr h="404043">
                <a:tc>
                  <a:txBody>
                    <a:bodyPr/>
                    <a:lstStyle/>
                    <a:p>
                      <a:r>
                        <a:rPr lang="en-IN" sz="1600" dirty="0"/>
                        <a:t>Calpurnia</a:t>
                      </a:r>
                    </a:p>
                  </a:txBody>
                  <a:tcPr marL="118148" marR="118148" marT="59074" marB="59074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0</a:t>
                      </a:r>
                    </a:p>
                  </a:txBody>
                  <a:tcPr marL="118148" marR="118148" marT="59074" marB="59074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1</a:t>
                      </a:r>
                    </a:p>
                  </a:txBody>
                  <a:tcPr marL="118148" marR="118148" marT="59074" marB="59074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0</a:t>
                      </a:r>
                    </a:p>
                  </a:txBody>
                  <a:tcPr marL="118148" marR="118148" marT="59074" marB="59074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0</a:t>
                      </a:r>
                    </a:p>
                  </a:txBody>
                  <a:tcPr marL="118148" marR="118148" marT="59074" marB="59074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0</a:t>
                      </a:r>
                    </a:p>
                  </a:txBody>
                  <a:tcPr marL="118148" marR="118148" marT="59074" marB="59074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0</a:t>
                      </a:r>
                    </a:p>
                  </a:txBody>
                  <a:tcPr marL="118148" marR="118148" marT="59074" marB="59074"/>
                </a:tc>
                <a:extLst>
                  <a:ext uri="{0D108BD9-81ED-4DB2-BD59-A6C34878D82A}">
                    <a16:rowId xmlns:a16="http://schemas.microsoft.com/office/drawing/2014/main" val="1021428936"/>
                  </a:ext>
                </a:extLst>
              </a:tr>
              <a:tr h="404043">
                <a:tc>
                  <a:txBody>
                    <a:bodyPr/>
                    <a:lstStyle/>
                    <a:p>
                      <a:r>
                        <a:rPr lang="en-IN" sz="1600" dirty="0"/>
                        <a:t>Cleopatra</a:t>
                      </a:r>
                    </a:p>
                  </a:txBody>
                  <a:tcPr marL="118148" marR="118148" marT="59074" marB="59074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1</a:t>
                      </a:r>
                    </a:p>
                  </a:txBody>
                  <a:tcPr marL="118148" marR="118148" marT="59074" marB="59074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0</a:t>
                      </a:r>
                    </a:p>
                  </a:txBody>
                  <a:tcPr marL="118148" marR="118148" marT="59074" marB="59074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0</a:t>
                      </a:r>
                    </a:p>
                  </a:txBody>
                  <a:tcPr marL="118148" marR="118148" marT="59074" marB="59074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0</a:t>
                      </a:r>
                    </a:p>
                  </a:txBody>
                  <a:tcPr marL="118148" marR="118148" marT="59074" marB="59074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0</a:t>
                      </a:r>
                    </a:p>
                  </a:txBody>
                  <a:tcPr marL="118148" marR="118148" marT="59074" marB="59074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0</a:t>
                      </a:r>
                    </a:p>
                  </a:txBody>
                  <a:tcPr marL="118148" marR="118148" marT="59074" marB="59074"/>
                </a:tc>
                <a:extLst>
                  <a:ext uri="{0D108BD9-81ED-4DB2-BD59-A6C34878D82A}">
                    <a16:rowId xmlns:a16="http://schemas.microsoft.com/office/drawing/2014/main" val="1796751709"/>
                  </a:ext>
                </a:extLst>
              </a:tr>
              <a:tr h="404043">
                <a:tc>
                  <a:txBody>
                    <a:bodyPr/>
                    <a:lstStyle/>
                    <a:p>
                      <a:r>
                        <a:rPr lang="en-IN" sz="1600" dirty="0"/>
                        <a:t>Mercy</a:t>
                      </a:r>
                    </a:p>
                  </a:txBody>
                  <a:tcPr marL="118148" marR="118148" marT="59074" marB="59074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1</a:t>
                      </a:r>
                    </a:p>
                  </a:txBody>
                  <a:tcPr marL="118148" marR="118148" marT="59074" marB="59074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0</a:t>
                      </a:r>
                    </a:p>
                  </a:txBody>
                  <a:tcPr marL="118148" marR="118148" marT="59074" marB="59074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1</a:t>
                      </a:r>
                    </a:p>
                  </a:txBody>
                  <a:tcPr marL="118148" marR="118148" marT="59074" marB="59074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1</a:t>
                      </a:r>
                    </a:p>
                  </a:txBody>
                  <a:tcPr marL="118148" marR="118148" marT="59074" marB="59074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1</a:t>
                      </a:r>
                    </a:p>
                  </a:txBody>
                  <a:tcPr marL="118148" marR="118148" marT="59074" marB="59074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1</a:t>
                      </a:r>
                    </a:p>
                  </a:txBody>
                  <a:tcPr marL="118148" marR="118148" marT="59074" marB="59074"/>
                </a:tc>
                <a:extLst>
                  <a:ext uri="{0D108BD9-81ED-4DB2-BD59-A6C34878D82A}">
                    <a16:rowId xmlns:a16="http://schemas.microsoft.com/office/drawing/2014/main" val="3291345400"/>
                  </a:ext>
                </a:extLst>
              </a:tr>
              <a:tr h="404043">
                <a:tc>
                  <a:txBody>
                    <a:bodyPr/>
                    <a:lstStyle/>
                    <a:p>
                      <a:r>
                        <a:rPr lang="en-IN" sz="1600" dirty="0"/>
                        <a:t>Worser</a:t>
                      </a:r>
                    </a:p>
                  </a:txBody>
                  <a:tcPr marL="118148" marR="118148" marT="59074" marB="59074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1</a:t>
                      </a:r>
                    </a:p>
                  </a:txBody>
                  <a:tcPr marL="118148" marR="118148" marT="59074" marB="59074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0</a:t>
                      </a:r>
                    </a:p>
                  </a:txBody>
                  <a:tcPr marL="118148" marR="118148" marT="59074" marB="59074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1</a:t>
                      </a:r>
                    </a:p>
                  </a:txBody>
                  <a:tcPr marL="118148" marR="118148" marT="59074" marB="59074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1</a:t>
                      </a:r>
                    </a:p>
                  </a:txBody>
                  <a:tcPr marL="118148" marR="118148" marT="59074" marB="59074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1</a:t>
                      </a:r>
                    </a:p>
                  </a:txBody>
                  <a:tcPr marL="118148" marR="118148" marT="59074" marB="59074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0</a:t>
                      </a:r>
                    </a:p>
                  </a:txBody>
                  <a:tcPr marL="118148" marR="118148" marT="59074" marB="59074"/>
                </a:tc>
                <a:extLst>
                  <a:ext uri="{0D108BD9-81ED-4DB2-BD59-A6C34878D82A}">
                    <a16:rowId xmlns:a16="http://schemas.microsoft.com/office/drawing/2014/main" val="228920759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A1F23767-C4AC-9E0D-07FD-980399B5184F}"/>
              </a:ext>
            </a:extLst>
          </p:cNvPr>
          <p:cNvSpPr/>
          <p:nvPr/>
        </p:nvSpPr>
        <p:spPr>
          <a:xfrm>
            <a:off x="187401" y="3328861"/>
            <a:ext cx="929890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Term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DAED41-A5EB-F276-F6B9-D5920C8925ED}"/>
              </a:ext>
            </a:extLst>
          </p:cNvPr>
          <p:cNvSpPr/>
          <p:nvPr/>
        </p:nvSpPr>
        <p:spPr>
          <a:xfrm>
            <a:off x="3657600" y="1595004"/>
            <a:ext cx="1371600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Documents</a:t>
            </a:r>
          </a:p>
        </p:txBody>
      </p:sp>
    </p:spTree>
    <p:extLst>
      <p:ext uri="{BB962C8B-B14F-4D97-AF65-F5344CB8AC3E}">
        <p14:creationId xmlns:p14="http://schemas.microsoft.com/office/powerpoint/2010/main" val="25576376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944E337-3E5D-4A1F-A5A1-2057F25B8A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DA50D69-7CF7-4844-B844-A2B821C77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54"/>
            <a:ext cx="9144000" cy="6865854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499CE7-4A4C-1E0C-29DA-521B56788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0" y="601744"/>
            <a:ext cx="5086350" cy="133869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3400"/>
              <a:t>Disadvantage of Term Document Matrix</a:t>
            </a:r>
          </a:p>
        </p:txBody>
      </p:sp>
      <p:pic>
        <p:nvPicPr>
          <p:cNvPr id="7" name="Picture 6" descr="A hand holding a pen and shading circles on a sheet">
            <a:extLst>
              <a:ext uri="{FF2B5EF4-FFF2-40B4-BE49-F238E27FC236}">
                <a16:creationId xmlns:a16="http://schemas.microsoft.com/office/drawing/2014/main" id="{C35FA932-58EB-34D6-9344-4EFC0406C80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276" r="25805" b="-1"/>
          <a:stretch/>
        </p:blipFill>
        <p:spPr>
          <a:xfrm>
            <a:off x="20" y="10"/>
            <a:ext cx="2816049" cy="6857990"/>
          </a:xfrm>
          <a:custGeom>
            <a:avLst/>
            <a:gdLst/>
            <a:ahLst/>
            <a:cxnLst/>
            <a:rect l="l" t="t" r="r" b="b"/>
            <a:pathLst>
              <a:path w="3754759" h="6858000">
                <a:moveTo>
                  <a:pt x="0" y="0"/>
                </a:moveTo>
                <a:lnTo>
                  <a:pt x="3405358" y="0"/>
                </a:lnTo>
                <a:lnTo>
                  <a:pt x="3406298" y="5103"/>
                </a:lnTo>
                <a:cubicBezTo>
                  <a:pt x="3408705" y="9272"/>
                  <a:pt x="3410993" y="13534"/>
                  <a:pt x="3408744" y="22806"/>
                </a:cubicBezTo>
                <a:cubicBezTo>
                  <a:pt x="3398212" y="18869"/>
                  <a:pt x="3412504" y="58782"/>
                  <a:pt x="3403554" y="60481"/>
                </a:cubicBezTo>
                <a:cubicBezTo>
                  <a:pt x="3417198" y="75379"/>
                  <a:pt x="3401704" y="83956"/>
                  <a:pt x="3406685" y="104437"/>
                </a:cubicBezTo>
                <a:cubicBezTo>
                  <a:pt x="3412035" y="113935"/>
                  <a:pt x="3413215" y="120918"/>
                  <a:pt x="3408439" y="130745"/>
                </a:cubicBezTo>
                <a:cubicBezTo>
                  <a:pt x="3434362" y="174436"/>
                  <a:pt x="3410826" y="157826"/>
                  <a:pt x="3422002" y="199353"/>
                </a:cubicBezTo>
                <a:cubicBezTo>
                  <a:pt x="3433366" y="235046"/>
                  <a:pt x="3441595" y="275734"/>
                  <a:pt x="3466217" y="309590"/>
                </a:cubicBezTo>
                <a:cubicBezTo>
                  <a:pt x="3473022" y="315692"/>
                  <a:pt x="3476249" y="331335"/>
                  <a:pt x="3473425" y="344525"/>
                </a:cubicBezTo>
                <a:cubicBezTo>
                  <a:pt x="3472938" y="346792"/>
                  <a:pt x="3472286" y="348904"/>
                  <a:pt x="3471491" y="350788"/>
                </a:cubicBezTo>
                <a:cubicBezTo>
                  <a:pt x="3476473" y="380853"/>
                  <a:pt x="3497528" y="490678"/>
                  <a:pt x="3503314" y="524915"/>
                </a:cubicBezTo>
                <a:cubicBezTo>
                  <a:pt x="3495110" y="528110"/>
                  <a:pt x="3511009" y="544789"/>
                  <a:pt x="3506208" y="556205"/>
                </a:cubicBezTo>
                <a:cubicBezTo>
                  <a:pt x="3501906" y="564424"/>
                  <a:pt x="3505727" y="571402"/>
                  <a:pt x="3506503" y="579730"/>
                </a:cubicBezTo>
                <a:cubicBezTo>
                  <a:pt x="3503352" y="590904"/>
                  <a:pt x="3511763" y="626437"/>
                  <a:pt x="3516997" y="635552"/>
                </a:cubicBezTo>
                <a:cubicBezTo>
                  <a:pt x="3534688" y="657082"/>
                  <a:pt x="3524838" y="708447"/>
                  <a:pt x="3538464" y="726388"/>
                </a:cubicBezTo>
                <a:cubicBezTo>
                  <a:pt x="3540659" y="733032"/>
                  <a:pt x="3541735" y="739585"/>
                  <a:pt x="3542115" y="746049"/>
                </a:cubicBezTo>
                <a:lnTo>
                  <a:pt x="3541598" y="764218"/>
                </a:lnTo>
                <a:lnTo>
                  <a:pt x="3538294" y="769538"/>
                </a:lnTo>
                <a:lnTo>
                  <a:pt x="3539714" y="780556"/>
                </a:lnTo>
                <a:lnTo>
                  <a:pt x="3539328" y="783752"/>
                </a:lnTo>
                <a:cubicBezTo>
                  <a:pt x="3538575" y="789859"/>
                  <a:pt x="3537953" y="795880"/>
                  <a:pt x="3537882" y="801812"/>
                </a:cubicBezTo>
                <a:cubicBezTo>
                  <a:pt x="3555332" y="793164"/>
                  <a:pt x="3540143" y="850853"/>
                  <a:pt x="3553763" y="833773"/>
                </a:cubicBezTo>
                <a:cubicBezTo>
                  <a:pt x="3556400" y="864868"/>
                  <a:pt x="3568671" y="840452"/>
                  <a:pt x="3557696" y="878520"/>
                </a:cubicBezTo>
                <a:cubicBezTo>
                  <a:pt x="3574636" y="926170"/>
                  <a:pt x="3572932" y="1002669"/>
                  <a:pt x="3596902" y="1039468"/>
                </a:cubicBezTo>
                <a:cubicBezTo>
                  <a:pt x="3588227" y="1035176"/>
                  <a:pt x="3582669" y="1055878"/>
                  <a:pt x="3587550" y="1069793"/>
                </a:cubicBezTo>
                <a:cubicBezTo>
                  <a:pt x="3553603" y="1054905"/>
                  <a:pt x="3620138" y="1124159"/>
                  <a:pt x="3598129" y="1137690"/>
                </a:cubicBezTo>
                <a:cubicBezTo>
                  <a:pt x="3619154" y="1137277"/>
                  <a:pt x="3657845" y="1198819"/>
                  <a:pt x="3642072" y="1229443"/>
                </a:cubicBezTo>
                <a:cubicBezTo>
                  <a:pt x="3648492" y="1274612"/>
                  <a:pt x="3667414" y="1305895"/>
                  <a:pt x="3662799" y="1353804"/>
                </a:cubicBezTo>
                <a:cubicBezTo>
                  <a:pt x="3665680" y="1355144"/>
                  <a:pt x="3668149" y="1357448"/>
                  <a:pt x="3670319" y="1360420"/>
                </a:cubicBezTo>
                <a:lnTo>
                  <a:pt x="3675717" y="1370453"/>
                </a:lnTo>
                <a:lnTo>
                  <a:pt x="3675458" y="1372456"/>
                </a:lnTo>
                <a:cubicBezTo>
                  <a:pt x="3675775" y="1380261"/>
                  <a:pt x="3677154" y="1384198"/>
                  <a:pt x="3678998" y="1386422"/>
                </a:cubicBezTo>
                <a:lnTo>
                  <a:pt x="3681613" y="1387932"/>
                </a:lnTo>
                <a:lnTo>
                  <a:pt x="3684619" y="1397028"/>
                </a:lnTo>
                <a:lnTo>
                  <a:pt x="3692094" y="1413643"/>
                </a:lnTo>
                <a:lnTo>
                  <a:pt x="3692036" y="1417975"/>
                </a:lnTo>
                <a:lnTo>
                  <a:pt x="3701043" y="1444940"/>
                </a:lnTo>
                <a:lnTo>
                  <a:pt x="3700474" y="1445893"/>
                </a:lnTo>
                <a:cubicBezTo>
                  <a:pt x="3699407" y="1448641"/>
                  <a:pt x="3699006" y="1451835"/>
                  <a:pt x="3699990" y="1456030"/>
                </a:cubicBezTo>
                <a:cubicBezTo>
                  <a:pt x="3688343" y="1458099"/>
                  <a:pt x="3696713" y="1461887"/>
                  <a:pt x="3700642" y="1474079"/>
                </a:cubicBezTo>
                <a:cubicBezTo>
                  <a:pt x="3683431" y="1480016"/>
                  <a:pt x="3700716" y="1509516"/>
                  <a:pt x="3693587" y="1522890"/>
                </a:cubicBezTo>
                <a:cubicBezTo>
                  <a:pt x="3696861" y="1531716"/>
                  <a:pt x="3700010" y="1541157"/>
                  <a:pt x="3702900" y="1551068"/>
                </a:cubicBezTo>
                <a:lnTo>
                  <a:pt x="3708038" y="1631578"/>
                </a:lnTo>
                <a:lnTo>
                  <a:pt x="3698097" y="1716642"/>
                </a:lnTo>
                <a:cubicBezTo>
                  <a:pt x="3699314" y="1747867"/>
                  <a:pt x="3695412" y="1775147"/>
                  <a:pt x="3700384" y="1801382"/>
                </a:cubicBezTo>
                <a:cubicBezTo>
                  <a:pt x="3696845" y="1812311"/>
                  <a:pt x="3695699" y="1822504"/>
                  <a:pt x="3702257" y="1832013"/>
                </a:cubicBezTo>
                <a:cubicBezTo>
                  <a:pt x="3701651" y="1861238"/>
                  <a:pt x="3693313" y="1868713"/>
                  <a:pt x="3700986" y="1886838"/>
                </a:cubicBezTo>
                <a:cubicBezTo>
                  <a:pt x="3687741" y="1903887"/>
                  <a:pt x="3693148" y="1904594"/>
                  <a:pt x="3697545" y="1912087"/>
                </a:cubicBezTo>
                <a:lnTo>
                  <a:pt x="3697885" y="1913171"/>
                </a:lnTo>
                <a:lnTo>
                  <a:pt x="3695987" y="1915505"/>
                </a:lnTo>
                <a:lnTo>
                  <a:pt x="3695284" y="1920179"/>
                </a:lnTo>
                <a:lnTo>
                  <a:pt x="3696499" y="1932787"/>
                </a:lnTo>
                <a:lnTo>
                  <a:pt x="3697473" y="1937503"/>
                </a:lnTo>
                <a:cubicBezTo>
                  <a:pt x="3697953" y="1940760"/>
                  <a:pt x="3698023" y="1942937"/>
                  <a:pt x="3697799" y="1944457"/>
                </a:cubicBezTo>
                <a:lnTo>
                  <a:pt x="3697642" y="1944638"/>
                </a:lnTo>
                <a:lnTo>
                  <a:pt x="3698268" y="1951136"/>
                </a:lnTo>
                <a:cubicBezTo>
                  <a:pt x="3699704" y="1962083"/>
                  <a:pt x="3701457" y="1972719"/>
                  <a:pt x="3703418" y="1982828"/>
                </a:cubicBezTo>
                <a:cubicBezTo>
                  <a:pt x="3694620" y="1991887"/>
                  <a:pt x="3707345" y="2028973"/>
                  <a:pt x="3689767" y="2025705"/>
                </a:cubicBezTo>
                <a:cubicBezTo>
                  <a:pt x="3691896" y="2039367"/>
                  <a:pt x="3699517" y="2047321"/>
                  <a:pt x="3687894" y="2043252"/>
                </a:cubicBezTo>
                <a:cubicBezTo>
                  <a:pt x="3688268" y="2047766"/>
                  <a:pt x="3687435" y="2050599"/>
                  <a:pt x="3686015" y="2052668"/>
                </a:cubicBezTo>
                <a:lnTo>
                  <a:pt x="3685329" y="2053280"/>
                </a:lnTo>
                <a:lnTo>
                  <a:pt x="3690348" y="2083660"/>
                </a:lnTo>
                <a:lnTo>
                  <a:pt x="3689688" y="2087758"/>
                </a:lnTo>
                <a:lnTo>
                  <a:pt x="3694656" y="2107476"/>
                </a:lnTo>
                <a:lnTo>
                  <a:pt x="3696317" y="2117709"/>
                </a:lnTo>
                <a:lnTo>
                  <a:pt x="3698652" y="2120508"/>
                </a:lnTo>
                <a:cubicBezTo>
                  <a:pt x="3700138" y="2123582"/>
                  <a:pt x="3700933" y="2128051"/>
                  <a:pt x="3700157" y="2135655"/>
                </a:cubicBezTo>
                <a:lnTo>
                  <a:pt x="3699626" y="2137431"/>
                </a:lnTo>
                <a:lnTo>
                  <a:pt x="3703486" y="2149795"/>
                </a:lnTo>
                <a:cubicBezTo>
                  <a:pt x="3705184" y="2153754"/>
                  <a:pt x="3707268" y="2157232"/>
                  <a:pt x="3709885" y="2160002"/>
                </a:cubicBezTo>
                <a:cubicBezTo>
                  <a:pt x="3698737" y="2203287"/>
                  <a:pt x="3712805" y="2242927"/>
                  <a:pt x="3712777" y="2289319"/>
                </a:cubicBezTo>
                <a:cubicBezTo>
                  <a:pt x="3693169" y="2310331"/>
                  <a:pt x="3722276" y="2389074"/>
                  <a:pt x="3742794" y="2399589"/>
                </a:cubicBezTo>
                <a:cubicBezTo>
                  <a:pt x="3725319" y="2400703"/>
                  <a:pt x="3751962" y="2457534"/>
                  <a:pt x="3753311" y="2472464"/>
                </a:cubicBezTo>
                <a:cubicBezTo>
                  <a:pt x="3753760" y="2477441"/>
                  <a:pt x="3751399" y="2477762"/>
                  <a:pt x="3743656" y="2469811"/>
                </a:cubicBezTo>
                <a:cubicBezTo>
                  <a:pt x="3746474" y="2485608"/>
                  <a:pt x="3738186" y="2502460"/>
                  <a:pt x="3730339" y="2493869"/>
                </a:cubicBezTo>
                <a:cubicBezTo>
                  <a:pt x="3748556" y="2541387"/>
                  <a:pt x="3736267" y="2613433"/>
                  <a:pt x="3746134" y="2667651"/>
                </a:cubicBezTo>
                <a:cubicBezTo>
                  <a:pt x="3730160" y="2698252"/>
                  <a:pt x="3745496" y="2681337"/>
                  <a:pt x="3743743" y="2712354"/>
                </a:cubicBezTo>
                <a:cubicBezTo>
                  <a:pt x="3759373" y="2703131"/>
                  <a:pt x="3736572" y="2750256"/>
                  <a:pt x="3754759" y="2751060"/>
                </a:cubicBezTo>
                <a:cubicBezTo>
                  <a:pt x="3753864" y="2756679"/>
                  <a:pt x="3752424" y="2762098"/>
                  <a:pt x="3750841" y="2767527"/>
                </a:cubicBezTo>
                <a:lnTo>
                  <a:pt x="3750021" y="2770377"/>
                </a:lnTo>
                <a:lnTo>
                  <a:pt x="3749874" y="2781617"/>
                </a:lnTo>
                <a:lnTo>
                  <a:pt x="3745916" y="2784975"/>
                </a:lnTo>
                <a:lnTo>
                  <a:pt x="3742888" y="2802030"/>
                </a:lnTo>
                <a:cubicBezTo>
                  <a:pt x="3742360" y="2808388"/>
                  <a:pt x="3742498" y="2815196"/>
                  <a:pt x="3743710" y="2822667"/>
                </a:cubicBezTo>
                <a:cubicBezTo>
                  <a:pt x="3751787" y="2840797"/>
                  <a:pt x="3744398" y="2870002"/>
                  <a:pt x="3746201" y="2896003"/>
                </a:cubicBezTo>
                <a:lnTo>
                  <a:pt x="3749006" y="2907846"/>
                </a:lnTo>
                <a:lnTo>
                  <a:pt x="3747206" y="2947037"/>
                </a:lnTo>
                <a:cubicBezTo>
                  <a:pt x="3747030" y="2958176"/>
                  <a:pt x="3747214" y="2969719"/>
                  <a:pt x="3748070" y="2981841"/>
                </a:cubicBezTo>
                <a:lnTo>
                  <a:pt x="3750937" y="3004278"/>
                </a:lnTo>
                <a:lnTo>
                  <a:pt x="3749761" y="3010254"/>
                </a:lnTo>
                <a:cubicBezTo>
                  <a:pt x="3750425" y="3020530"/>
                  <a:pt x="3756245" y="3033889"/>
                  <a:pt x="3749923" y="3032983"/>
                </a:cubicBezTo>
                <a:lnTo>
                  <a:pt x="3752658" y="3044429"/>
                </a:lnTo>
                <a:lnTo>
                  <a:pt x="3748217" y="3056076"/>
                </a:lnTo>
                <a:cubicBezTo>
                  <a:pt x="3747117" y="3057381"/>
                  <a:pt x="3745928" y="3058381"/>
                  <a:pt x="3744691" y="3059042"/>
                </a:cubicBezTo>
                <a:lnTo>
                  <a:pt x="3747123" y="3075102"/>
                </a:lnTo>
                <a:lnTo>
                  <a:pt x="3744190" y="3088509"/>
                </a:lnTo>
                <a:lnTo>
                  <a:pt x="3747093" y="3099930"/>
                </a:lnTo>
                <a:lnTo>
                  <a:pt x="3746799" y="3104743"/>
                </a:lnTo>
                <a:lnTo>
                  <a:pt x="3745610" y="3116729"/>
                </a:lnTo>
                <a:cubicBezTo>
                  <a:pt x="3744666" y="3122891"/>
                  <a:pt x="3743503" y="3129792"/>
                  <a:pt x="3742676" y="3137453"/>
                </a:cubicBezTo>
                <a:lnTo>
                  <a:pt x="3742441" y="3143884"/>
                </a:lnTo>
                <a:lnTo>
                  <a:pt x="3737104" y="3158122"/>
                </a:lnTo>
                <a:cubicBezTo>
                  <a:pt x="3733050" y="3168490"/>
                  <a:pt x="3730374" y="3176626"/>
                  <a:pt x="3733275" y="3185367"/>
                </a:cubicBezTo>
                <a:cubicBezTo>
                  <a:pt x="3728135" y="3200760"/>
                  <a:pt x="3712176" y="3212117"/>
                  <a:pt x="3717639" y="3233769"/>
                </a:cubicBezTo>
                <a:cubicBezTo>
                  <a:pt x="3709851" y="3227497"/>
                  <a:pt x="3717920" y="3258095"/>
                  <a:pt x="3710433" y="3262123"/>
                </a:cubicBezTo>
                <a:cubicBezTo>
                  <a:pt x="3704342" y="3264110"/>
                  <a:pt x="3705370" y="3273856"/>
                  <a:pt x="3703458" y="3281408"/>
                </a:cubicBezTo>
                <a:cubicBezTo>
                  <a:pt x="3697412" y="3287020"/>
                  <a:pt x="3693483" y="3324746"/>
                  <a:pt x="3695027" y="3337739"/>
                </a:cubicBezTo>
                <a:cubicBezTo>
                  <a:pt x="3703095" y="3374177"/>
                  <a:pt x="3679154" y="3404974"/>
                  <a:pt x="3684951" y="3434139"/>
                </a:cubicBezTo>
                <a:cubicBezTo>
                  <a:pt x="3684732" y="3441861"/>
                  <a:pt x="3683615" y="3448308"/>
                  <a:pt x="3681946" y="3453928"/>
                </a:cubicBezTo>
                <a:lnTo>
                  <a:pt x="3675939" y="3468021"/>
                </a:lnTo>
                <a:cubicBezTo>
                  <a:pt x="3674480" y="3468264"/>
                  <a:pt x="3673022" y="3468506"/>
                  <a:pt x="3671563" y="3468748"/>
                </a:cubicBezTo>
                <a:lnTo>
                  <a:pt x="3669360" y="3479164"/>
                </a:lnTo>
                <a:lnTo>
                  <a:pt x="3668060" y="3481325"/>
                </a:lnTo>
                <a:cubicBezTo>
                  <a:pt x="3665560" y="3485437"/>
                  <a:pt x="3663197" y="3489622"/>
                  <a:pt x="3661315" y="3494328"/>
                </a:cubicBezTo>
                <a:cubicBezTo>
                  <a:pt x="3678446" y="3506175"/>
                  <a:pt x="3648136" y="3536311"/>
                  <a:pt x="3664679" y="3537226"/>
                </a:cubicBezTo>
                <a:cubicBezTo>
                  <a:pt x="3657322" y="3565147"/>
                  <a:pt x="3674997" y="3558694"/>
                  <a:pt x="3654205" y="3577551"/>
                </a:cubicBezTo>
                <a:cubicBezTo>
                  <a:pt x="3653633" y="3634248"/>
                  <a:pt x="3628736" y="3694092"/>
                  <a:pt x="3637325" y="3749618"/>
                </a:cubicBezTo>
                <a:cubicBezTo>
                  <a:pt x="3631446" y="3736800"/>
                  <a:pt x="3620480" y="3747498"/>
                  <a:pt x="3620258" y="3763981"/>
                </a:cubicBezTo>
                <a:cubicBezTo>
                  <a:pt x="3596667" y="3715365"/>
                  <a:pt x="3630603" y="3842969"/>
                  <a:pt x="3608193" y="3830141"/>
                </a:cubicBezTo>
                <a:cubicBezTo>
                  <a:pt x="3625759" y="3852486"/>
                  <a:pt x="3638965" y="3943841"/>
                  <a:pt x="3616479" y="3951521"/>
                </a:cubicBezTo>
                <a:cubicBezTo>
                  <a:pt x="3607940" y="3994867"/>
                  <a:pt x="3614033" y="4040502"/>
                  <a:pt x="3595498" y="4074157"/>
                </a:cubicBezTo>
                <a:cubicBezTo>
                  <a:pt x="3597477" y="4078342"/>
                  <a:pt x="3598819" y="4082864"/>
                  <a:pt x="3599706" y="4087599"/>
                </a:cubicBezTo>
                <a:lnTo>
                  <a:pt x="3601103" y="4101515"/>
                </a:lnTo>
                <a:lnTo>
                  <a:pt x="3600274" y="4102849"/>
                </a:lnTo>
                <a:cubicBezTo>
                  <a:pt x="3598143" y="4109482"/>
                  <a:pt x="3598077" y="4114144"/>
                  <a:pt x="3598925" y="4117926"/>
                </a:cubicBezTo>
                <a:lnTo>
                  <a:pt x="3600630" y="4121966"/>
                </a:lnTo>
                <a:lnTo>
                  <a:pt x="3600331" y="4132543"/>
                </a:lnTo>
                <a:lnTo>
                  <a:pt x="3601432" y="4154003"/>
                </a:lnTo>
                <a:lnTo>
                  <a:pt x="3600054" y="4157433"/>
                </a:lnTo>
                <a:lnTo>
                  <a:pt x="3599248" y="4188888"/>
                </a:lnTo>
                <a:cubicBezTo>
                  <a:pt x="3598993" y="4188940"/>
                  <a:pt x="3598738" y="4188992"/>
                  <a:pt x="3598484" y="4189044"/>
                </a:cubicBezTo>
                <a:cubicBezTo>
                  <a:pt x="3596754" y="4190111"/>
                  <a:pt x="3595443" y="4192250"/>
                  <a:pt x="3594971" y="4196698"/>
                </a:cubicBezTo>
                <a:cubicBezTo>
                  <a:pt x="3584674" y="4185805"/>
                  <a:pt x="3590455" y="4197885"/>
                  <a:pt x="3589971" y="4211958"/>
                </a:cubicBezTo>
                <a:cubicBezTo>
                  <a:pt x="3573870" y="4198179"/>
                  <a:pt x="3579156" y="4240607"/>
                  <a:pt x="3569135" y="4243705"/>
                </a:cubicBezTo>
                <a:cubicBezTo>
                  <a:pt x="3569142" y="4254351"/>
                  <a:pt x="3568856" y="4265362"/>
                  <a:pt x="3568210" y="4276468"/>
                </a:cubicBezTo>
                <a:lnTo>
                  <a:pt x="3567613" y="4282925"/>
                </a:lnTo>
                <a:cubicBezTo>
                  <a:pt x="3567553" y="4282949"/>
                  <a:pt x="3567492" y="4282974"/>
                  <a:pt x="3567432" y="4282999"/>
                </a:cubicBezTo>
                <a:cubicBezTo>
                  <a:pt x="3566940" y="4284280"/>
                  <a:pt x="3566607" y="4286359"/>
                  <a:pt x="3566464" y="4289697"/>
                </a:cubicBezTo>
                <a:lnTo>
                  <a:pt x="3566526" y="4294698"/>
                </a:lnTo>
                <a:lnTo>
                  <a:pt x="3565367" y="4307225"/>
                </a:lnTo>
                <a:lnTo>
                  <a:pt x="3563841" y="4311164"/>
                </a:lnTo>
                <a:lnTo>
                  <a:pt x="3561610" y="4312189"/>
                </a:lnTo>
                <a:lnTo>
                  <a:pt x="3561734" y="4313408"/>
                </a:lnTo>
                <a:cubicBezTo>
                  <a:pt x="3564537" y="4323096"/>
                  <a:pt x="3569544" y="4327053"/>
                  <a:pt x="3553832" y="4334910"/>
                </a:cubicBezTo>
                <a:cubicBezTo>
                  <a:pt x="3557797" y="4356533"/>
                  <a:pt x="3548502" y="4358433"/>
                  <a:pt x="3542564" y="4385380"/>
                </a:cubicBezTo>
                <a:cubicBezTo>
                  <a:pt x="3547050" y="4398267"/>
                  <a:pt x="3544091" y="4407098"/>
                  <a:pt x="3538724" y="4415150"/>
                </a:cubicBezTo>
                <a:cubicBezTo>
                  <a:pt x="3538633" y="4442707"/>
                  <a:pt x="3529920" y="4465824"/>
                  <a:pt x="3525348" y="4495753"/>
                </a:cubicBezTo>
                <a:cubicBezTo>
                  <a:pt x="3529387" y="4530212"/>
                  <a:pt x="3514579" y="4543935"/>
                  <a:pt x="3509749" y="4575934"/>
                </a:cubicBezTo>
                <a:cubicBezTo>
                  <a:pt x="3519579" y="4606914"/>
                  <a:pt x="3496418" y="4596497"/>
                  <a:pt x="3489779" y="4611927"/>
                </a:cubicBezTo>
                <a:lnTo>
                  <a:pt x="3488856" y="4616508"/>
                </a:lnTo>
                <a:lnTo>
                  <a:pt x="3489486" y="4629163"/>
                </a:lnTo>
                <a:lnTo>
                  <a:pt x="3490242" y="4633947"/>
                </a:lnTo>
                <a:cubicBezTo>
                  <a:pt x="3490570" y="4637233"/>
                  <a:pt x="3490539" y="4639406"/>
                  <a:pt x="3490244" y="4640894"/>
                </a:cubicBezTo>
                <a:lnTo>
                  <a:pt x="3490078" y="4641059"/>
                </a:lnTo>
                <a:lnTo>
                  <a:pt x="3490403" y="4647582"/>
                </a:lnTo>
                <a:cubicBezTo>
                  <a:pt x="3491330" y="4658608"/>
                  <a:pt x="3492590" y="4669354"/>
                  <a:pt x="3494082" y="4679601"/>
                </a:cubicBezTo>
                <a:cubicBezTo>
                  <a:pt x="3484854" y="4687754"/>
                  <a:pt x="3495864" y="4725869"/>
                  <a:pt x="3478421" y="4720918"/>
                </a:cubicBezTo>
                <a:cubicBezTo>
                  <a:pt x="3479918" y="4734712"/>
                  <a:pt x="3487176" y="4743359"/>
                  <a:pt x="3475730" y="4738188"/>
                </a:cubicBezTo>
                <a:cubicBezTo>
                  <a:pt x="3475894" y="4742712"/>
                  <a:pt x="3474928" y="4745450"/>
                  <a:pt x="3473409" y="4747368"/>
                </a:cubicBezTo>
                <a:lnTo>
                  <a:pt x="3472696" y="4747913"/>
                </a:lnTo>
                <a:lnTo>
                  <a:pt x="3476304" y="4778609"/>
                </a:lnTo>
                <a:lnTo>
                  <a:pt x="3475454" y="4782623"/>
                </a:lnTo>
                <a:lnTo>
                  <a:pt x="3479507" y="4802712"/>
                </a:lnTo>
                <a:lnTo>
                  <a:pt x="3480695" y="4813049"/>
                </a:lnTo>
                <a:lnTo>
                  <a:pt x="3482902" y="4816057"/>
                </a:lnTo>
                <a:cubicBezTo>
                  <a:pt x="3484247" y="4819259"/>
                  <a:pt x="3484834" y="4823783"/>
                  <a:pt x="3483703" y="4831270"/>
                </a:cubicBezTo>
                <a:lnTo>
                  <a:pt x="3483090" y="4832984"/>
                </a:lnTo>
                <a:lnTo>
                  <a:pt x="3486378" y="4845654"/>
                </a:lnTo>
                <a:cubicBezTo>
                  <a:pt x="3487893" y="4849755"/>
                  <a:pt x="3489817" y="4853416"/>
                  <a:pt x="3492309" y="4856425"/>
                </a:cubicBezTo>
                <a:cubicBezTo>
                  <a:pt x="3479133" y="4898390"/>
                  <a:pt x="3491371" y="4939174"/>
                  <a:pt x="3489182" y="4985308"/>
                </a:cubicBezTo>
                <a:cubicBezTo>
                  <a:pt x="3492413" y="5037202"/>
                  <a:pt x="3496839" y="5073159"/>
                  <a:pt x="3498182" y="5107346"/>
                </a:cubicBezTo>
                <a:cubicBezTo>
                  <a:pt x="3500266" y="5123329"/>
                  <a:pt x="3506680" y="5240376"/>
                  <a:pt x="3499225" y="5231073"/>
                </a:cubicBezTo>
                <a:cubicBezTo>
                  <a:pt x="3515247" y="5280090"/>
                  <a:pt x="3497607" y="5309911"/>
                  <a:pt x="3504960" y="5364785"/>
                </a:cubicBezTo>
                <a:cubicBezTo>
                  <a:pt x="3487546" y="5393671"/>
                  <a:pt x="3503686" y="5378336"/>
                  <a:pt x="3500486" y="5409009"/>
                </a:cubicBezTo>
                <a:cubicBezTo>
                  <a:pt x="3516561" y="5401350"/>
                  <a:pt x="3491544" y="5446009"/>
                  <a:pt x="3509710" y="5448570"/>
                </a:cubicBezTo>
                <a:cubicBezTo>
                  <a:pt x="3508555" y="5454072"/>
                  <a:pt x="3506859" y="5459319"/>
                  <a:pt x="3505022" y="5464568"/>
                </a:cubicBezTo>
                <a:lnTo>
                  <a:pt x="3504070" y="5467320"/>
                </a:lnTo>
                <a:lnTo>
                  <a:pt x="3503399" y="5478483"/>
                </a:lnTo>
                <a:lnTo>
                  <a:pt x="3499281" y="5481443"/>
                </a:lnTo>
                <a:lnTo>
                  <a:pt x="3499047" y="5616712"/>
                </a:lnTo>
                <a:cubicBezTo>
                  <a:pt x="3502347" y="5628424"/>
                  <a:pt x="3503819" y="5666768"/>
                  <a:pt x="3498775" y="5675291"/>
                </a:cubicBezTo>
                <a:cubicBezTo>
                  <a:pt x="3497984" y="5683547"/>
                  <a:pt x="3500335" y="5692400"/>
                  <a:pt x="3494739" y="5697458"/>
                </a:cubicBezTo>
                <a:cubicBezTo>
                  <a:pt x="3492180" y="5715432"/>
                  <a:pt x="3486290" y="5756597"/>
                  <a:pt x="3483423" y="5783137"/>
                </a:cubicBezTo>
                <a:cubicBezTo>
                  <a:pt x="3491452" y="5796973"/>
                  <a:pt x="3477643" y="5819988"/>
                  <a:pt x="3477532" y="5856699"/>
                </a:cubicBezTo>
                <a:cubicBezTo>
                  <a:pt x="3486776" y="5871818"/>
                  <a:pt x="3477340" y="5881447"/>
                  <a:pt x="3490032" y="5910638"/>
                </a:cubicBezTo>
                <a:cubicBezTo>
                  <a:pt x="3488930" y="5911913"/>
                  <a:pt x="3487924" y="5913488"/>
                  <a:pt x="3487046" y="5915313"/>
                </a:cubicBezTo>
                <a:cubicBezTo>
                  <a:pt x="3481941" y="5925917"/>
                  <a:pt x="3482137" y="5942505"/>
                  <a:pt x="3487484" y="5952365"/>
                </a:cubicBezTo>
                <a:cubicBezTo>
                  <a:pt x="3504666" y="5999029"/>
                  <a:pt x="3505019" y="6042078"/>
                  <a:pt x="3509266" y="6082373"/>
                </a:cubicBezTo>
                <a:cubicBezTo>
                  <a:pt x="3512265" y="6128005"/>
                  <a:pt x="3492950" y="6098121"/>
                  <a:pt x="3509564" y="6154771"/>
                </a:cubicBezTo>
                <a:cubicBezTo>
                  <a:pt x="3503223" y="6161045"/>
                  <a:pt x="3503062" y="6168289"/>
                  <a:pt x="3506404" y="6180433"/>
                </a:cubicBezTo>
                <a:cubicBezTo>
                  <a:pt x="3507378" y="6202614"/>
                  <a:pt x="3491084" y="6201180"/>
                  <a:pt x="3501312" y="6223427"/>
                </a:cubicBezTo>
                <a:cubicBezTo>
                  <a:pt x="3492497" y="6219559"/>
                  <a:pt x="3498753" y="6265580"/>
                  <a:pt x="3489469" y="6255476"/>
                </a:cubicBezTo>
                <a:cubicBezTo>
                  <a:pt x="3481791" y="6270065"/>
                  <a:pt x="3495037" y="6276996"/>
                  <a:pt x="3488398" y="6291462"/>
                </a:cubicBezTo>
                <a:cubicBezTo>
                  <a:pt x="3487099" y="6307679"/>
                  <a:pt x="3497555" y="6282019"/>
                  <a:pt x="3498547" y="6299935"/>
                </a:cubicBezTo>
                <a:cubicBezTo>
                  <a:pt x="3498173" y="6321676"/>
                  <a:pt x="3514193" y="6321381"/>
                  <a:pt x="3494028" y="6338390"/>
                </a:cubicBezTo>
                <a:lnTo>
                  <a:pt x="3486030" y="6396716"/>
                </a:lnTo>
                <a:cubicBezTo>
                  <a:pt x="3491309" y="6409668"/>
                  <a:pt x="3488928" y="6420134"/>
                  <a:pt x="3484103" y="6430386"/>
                </a:cubicBezTo>
                <a:cubicBezTo>
                  <a:pt x="3485763" y="6460632"/>
                  <a:pt x="3478568" y="6488285"/>
                  <a:pt x="3475922" y="6522318"/>
                </a:cubicBezTo>
                <a:cubicBezTo>
                  <a:pt x="3482128" y="6559051"/>
                  <a:pt x="3468277" y="6578006"/>
                  <a:pt x="3465506" y="6614374"/>
                </a:cubicBezTo>
                <a:cubicBezTo>
                  <a:pt x="3478925" y="6650248"/>
                  <a:pt x="3446064" y="6638174"/>
                  <a:pt x="3446789" y="6668768"/>
                </a:cubicBezTo>
                <a:cubicBezTo>
                  <a:pt x="3458869" y="6718505"/>
                  <a:pt x="3435878" y="6667592"/>
                  <a:pt x="3439582" y="6744454"/>
                </a:cubicBezTo>
                <a:cubicBezTo>
                  <a:pt x="3441631" y="6748797"/>
                  <a:pt x="3439393" y="6758101"/>
                  <a:pt x="3436538" y="6757102"/>
                </a:cubicBezTo>
                <a:cubicBezTo>
                  <a:pt x="3437461" y="6773941"/>
                  <a:pt x="3420846" y="6822488"/>
                  <a:pt x="3424061" y="6846522"/>
                </a:cubicBezTo>
                <a:lnTo>
                  <a:pt x="3423032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422A1-514B-F4A6-02C8-92513F379B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0" y="2201958"/>
            <a:ext cx="5086350" cy="3900730"/>
          </a:xfrm>
        </p:spPr>
        <p:txBody>
          <a:bodyPr anchor="t">
            <a:normAutofit/>
          </a:bodyPr>
          <a:lstStyle/>
          <a:p>
            <a:r>
              <a:rPr lang="en-IN" sz="1700"/>
              <a:t>Addition of new column after addition of new document</a:t>
            </a:r>
          </a:p>
          <a:p>
            <a:r>
              <a:rPr lang="en-IN" sz="1700"/>
              <a:t>Sparse Matrix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663C91-5ADA-9B12-BEB4-230E126B3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900"/>
              <a:t>Dr. Richa, Assistant Professor, BIT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7FA014-CB82-373F-D3FB-2F908EC39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 sz="900"/>
              <a:pPr>
                <a:spcAft>
                  <a:spcPts val="600"/>
                </a:spcAft>
              </a:pPr>
              <a:t>13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35991624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White bulbs with a yellow one standing out">
            <a:extLst>
              <a:ext uri="{FF2B5EF4-FFF2-40B4-BE49-F238E27FC236}">
                <a16:creationId xmlns:a16="http://schemas.microsoft.com/office/drawing/2014/main" id="{A34CD600-B71B-49B9-9127-A7CBEB3E8DF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771" r="22641" b="-1"/>
          <a:stretch/>
        </p:blipFill>
        <p:spPr>
          <a:xfrm>
            <a:off x="20" y="10"/>
            <a:ext cx="7252212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843764" y="0"/>
            <a:ext cx="530023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C1705C-2461-57FA-1850-2B9867586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1551" y="743447"/>
            <a:ext cx="2584324" cy="3692028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4500"/>
              <a:t>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060FB-F066-184B-F7E4-3C96F362AD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1552" y="4629234"/>
            <a:ext cx="2584324" cy="1485319"/>
          </a:xfrm>
          <a:noFill/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/>
              <a:t>The world of Data Structure have the solution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9D2595-DDD2-A27C-5F53-0863A4585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90754" y="6356350"/>
            <a:ext cx="27119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  <a:defRPr/>
            </a:pPr>
            <a:r>
              <a:rPr lang="en-US" kern="120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rPr>
              <a:t>Dr. Richa, Assistant Professor, BIT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7DD81A-C164-2DBE-C5A7-A1AA5E72F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14</a:t>
            </a:fld>
            <a:endParaRPr lang="en-US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7741283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D407D2-A61D-86D4-476B-C7248ED82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IN" sz="410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FB77E-C402-2E04-43CE-E6C0E080F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lang="en-IN" dirty="0"/>
              <a:t>The n dimensional vector can be represented as </a:t>
            </a:r>
          </a:p>
          <a:p>
            <a:pPr lvl="1"/>
            <a:r>
              <a:rPr lang="en-IN" dirty="0"/>
              <a:t>An array of n element can be represented as int [] </a:t>
            </a:r>
            <a:r>
              <a:rPr lang="en-IN" dirty="0" err="1"/>
              <a:t>Arr</a:t>
            </a:r>
            <a:r>
              <a:rPr lang="en-IN" dirty="0"/>
              <a:t>={1,1,1};</a:t>
            </a:r>
          </a:p>
          <a:p>
            <a:pPr lvl="1"/>
            <a:r>
              <a:rPr lang="en-IN" dirty="0"/>
              <a:t>So, a large vector; say 10k, can be represented  by {1,1,0,0,0,…,10Kelements}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BFA5D7-0EBD-6648-5EDA-FFE545853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9383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Dr. Richa, Assistant Professor, BIT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C63C57-64B5-C977-7DD4-84B5FF9B8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56173" y="6356350"/>
            <a:ext cx="135917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7544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C86C3-B47D-5348-8048-86B985F6B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041" y="1138265"/>
            <a:ext cx="3632822" cy="1401183"/>
          </a:xfrm>
        </p:spPr>
        <p:txBody>
          <a:bodyPr anchor="t">
            <a:normAutofit/>
          </a:bodyPr>
          <a:lstStyle/>
          <a:p>
            <a:r>
              <a:rPr lang="en-IN" sz="2800"/>
              <a:t>Solution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C23E3B9-5ABF-58B3-E2B0-E9A5DAA90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6096" y="871146"/>
            <a:ext cx="552704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C36FB-AA8F-B400-AC18-A7491528E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041" y="2551176"/>
            <a:ext cx="3632822" cy="3602935"/>
          </a:xfrm>
        </p:spPr>
        <p:txBody>
          <a:bodyPr>
            <a:normAutofit/>
          </a:bodyPr>
          <a:lstStyle/>
          <a:p>
            <a:r>
              <a:rPr lang="en-IN" sz="1700" dirty="0"/>
              <a:t>{1,1,0,…,10k elements} is</a:t>
            </a:r>
          </a:p>
          <a:p>
            <a:endParaRPr lang="en-IN" sz="1700" dirty="0"/>
          </a:p>
          <a:p>
            <a:endParaRPr lang="en-IN" sz="1700" dirty="0"/>
          </a:p>
          <a:p>
            <a:endParaRPr lang="en-IN" sz="1700" dirty="0"/>
          </a:p>
          <a:p>
            <a:r>
              <a:rPr lang="en-IN" sz="1700" dirty="0"/>
              <a:t>{0,0,1,0,1,0,0,….,10 k </a:t>
            </a:r>
            <a:r>
              <a:rPr lang="en-IN" sz="1700" dirty="0" err="1"/>
              <a:t>elemets</a:t>
            </a:r>
            <a:r>
              <a:rPr lang="en-IN" sz="1700" dirty="0"/>
              <a:t>}</a:t>
            </a:r>
          </a:p>
        </p:txBody>
      </p:sp>
      <p:pic>
        <p:nvPicPr>
          <p:cNvPr id="21" name="Picture 20" descr="Light bulb on yellow background with sketched light beams and cord">
            <a:extLst>
              <a:ext uri="{FF2B5EF4-FFF2-40B4-BE49-F238E27FC236}">
                <a16:creationId xmlns:a16="http://schemas.microsoft.com/office/drawing/2014/main" id="{72F7390A-01DB-C23B-768B-0988A6A548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362" r="4514" b="2"/>
          <a:stretch/>
        </p:blipFill>
        <p:spPr>
          <a:xfrm>
            <a:off x="4893705" y="1023779"/>
            <a:ext cx="3607832" cy="4810442"/>
          </a:xfrm>
          <a:custGeom>
            <a:avLst/>
            <a:gdLst/>
            <a:ahLst/>
            <a:cxnLst/>
            <a:rect l="l" t="t" r="r" b="b"/>
            <a:pathLst>
              <a:path w="4810442" h="4810442">
                <a:moveTo>
                  <a:pt x="2405221" y="0"/>
                </a:moveTo>
                <a:cubicBezTo>
                  <a:pt x="3733588" y="0"/>
                  <a:pt x="4810442" y="1076854"/>
                  <a:pt x="4810442" y="2405221"/>
                </a:cubicBezTo>
                <a:cubicBezTo>
                  <a:pt x="4810442" y="3733588"/>
                  <a:pt x="3733588" y="4810442"/>
                  <a:pt x="2405221" y="4810442"/>
                </a:cubicBezTo>
                <a:cubicBezTo>
                  <a:pt x="1076854" y="4810442"/>
                  <a:pt x="0" y="3733588"/>
                  <a:pt x="0" y="2405221"/>
                </a:cubicBezTo>
                <a:cubicBezTo>
                  <a:pt x="0" y="1076854"/>
                  <a:pt x="1076854" y="0"/>
                  <a:pt x="2405221" y="0"/>
                </a:cubicBezTo>
                <a:close/>
              </a:path>
            </a:pathLst>
          </a:cu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C662A5-CD69-8219-AA7D-E2E56584C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Dr. Richa, Assistant Professor, BIT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07CEB8-03D0-D7EB-65BB-07680F814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27C873-B472-4BF3-3A36-9C3483706EDC}"/>
              </a:ext>
            </a:extLst>
          </p:cNvPr>
          <p:cNvSpPr/>
          <p:nvPr/>
        </p:nvSpPr>
        <p:spPr>
          <a:xfrm>
            <a:off x="1295400" y="3048000"/>
            <a:ext cx="685800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BEF0FA5-B794-5D7B-DA3D-E32AB5BB20DA}"/>
              </a:ext>
            </a:extLst>
          </p:cNvPr>
          <p:cNvCxnSpPr/>
          <p:nvPr/>
        </p:nvCxnSpPr>
        <p:spPr>
          <a:xfrm>
            <a:off x="1981200" y="3200400"/>
            <a:ext cx="4572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5E29823C-DE1A-2623-A0A3-4DFF404EB4DB}"/>
              </a:ext>
            </a:extLst>
          </p:cNvPr>
          <p:cNvSpPr/>
          <p:nvPr/>
        </p:nvSpPr>
        <p:spPr>
          <a:xfrm>
            <a:off x="2433484" y="3009900"/>
            <a:ext cx="685800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cxnSp>
        <p:nvCxnSpPr>
          <p:cNvPr id="22" name="Connector: Curved 21">
            <a:extLst>
              <a:ext uri="{FF2B5EF4-FFF2-40B4-BE49-F238E27FC236}">
                <a16:creationId xmlns:a16="http://schemas.microsoft.com/office/drawing/2014/main" id="{E0D8746B-908D-E586-F06A-EF27EE547C94}"/>
              </a:ext>
            </a:extLst>
          </p:cNvPr>
          <p:cNvCxnSpPr/>
          <p:nvPr/>
        </p:nvCxnSpPr>
        <p:spPr>
          <a:xfrm>
            <a:off x="565041" y="3009900"/>
            <a:ext cx="633759" cy="266700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A33A4D93-EADF-D6F7-7D05-01A521D2E743}"/>
              </a:ext>
            </a:extLst>
          </p:cNvPr>
          <p:cNvSpPr/>
          <p:nvPr/>
        </p:nvSpPr>
        <p:spPr>
          <a:xfrm>
            <a:off x="1447800" y="4343400"/>
            <a:ext cx="685800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3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03DA185-80F3-2E66-1EDE-646468FDD68C}"/>
              </a:ext>
            </a:extLst>
          </p:cNvPr>
          <p:cNvCxnSpPr/>
          <p:nvPr/>
        </p:nvCxnSpPr>
        <p:spPr>
          <a:xfrm>
            <a:off x="2133600" y="4495800"/>
            <a:ext cx="4572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02915140-551B-7FE9-C331-AD55E5A3E547}"/>
              </a:ext>
            </a:extLst>
          </p:cNvPr>
          <p:cNvSpPr/>
          <p:nvPr/>
        </p:nvSpPr>
        <p:spPr>
          <a:xfrm>
            <a:off x="2585884" y="4305300"/>
            <a:ext cx="685800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5</a:t>
            </a:r>
          </a:p>
        </p:txBody>
      </p:sp>
      <p:cxnSp>
        <p:nvCxnSpPr>
          <p:cNvPr id="31" name="Connector: Curved 30">
            <a:extLst>
              <a:ext uri="{FF2B5EF4-FFF2-40B4-BE49-F238E27FC236}">
                <a16:creationId xmlns:a16="http://schemas.microsoft.com/office/drawing/2014/main" id="{D015C47D-C3CE-8D20-E272-0B8DA3E03402}"/>
              </a:ext>
            </a:extLst>
          </p:cNvPr>
          <p:cNvCxnSpPr/>
          <p:nvPr/>
        </p:nvCxnSpPr>
        <p:spPr>
          <a:xfrm>
            <a:off x="717441" y="4305300"/>
            <a:ext cx="633759" cy="266700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7305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847537-389A-A355-2BFD-9C36DA272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700">
                <a:solidFill>
                  <a:srgbClr val="FFFFFF"/>
                </a:solidFill>
              </a:rPr>
              <a:t>A</a:t>
            </a:r>
            <a:r>
              <a:rPr lang="en-US" sz="2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700">
                <a:solidFill>
                  <a:srgbClr val="FFFFFF"/>
                </a:solidFill>
              </a:rPr>
              <a:t>T</a:t>
            </a:r>
            <a:r>
              <a:rPr lang="en-US" sz="2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erm-document </a:t>
            </a:r>
            <a:r>
              <a:rPr lang="en-US" sz="2700">
                <a:solidFill>
                  <a:srgbClr val="FFFFFF"/>
                </a:solidFill>
              </a:rPr>
              <a:t>I</a:t>
            </a:r>
            <a:r>
              <a:rPr lang="en-US" sz="2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ncidence </a:t>
            </a:r>
            <a:r>
              <a:rPr lang="en-US" sz="2700">
                <a:solidFill>
                  <a:srgbClr val="FFFFFF"/>
                </a:solidFill>
              </a:rPr>
              <a:t>M</a:t>
            </a:r>
            <a:r>
              <a:rPr lang="en-US" sz="2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atrix Example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6D4EE9-416E-24F4-AFE7-95257B764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371600" y="1984248"/>
            <a:ext cx="3086100" cy="365125"/>
          </a:xfrm>
        </p:spPr>
        <p:txBody>
          <a:bodyPr vert="horz" lIns="91440" tIns="45720" rIns="91440" bIns="45720" rtlCol="0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10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Dr. Richa, Assistant Professor, BIT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C3AD15-1232-035A-8F11-5A3A766C8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78240" y="6455664"/>
            <a:ext cx="336042" cy="365125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17</a:t>
            </a:fld>
            <a:endParaRPr lang="en-US" sz="10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6457D635-4BDF-9146-8E6C-4885284351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5771302"/>
              </p:ext>
            </p:extLst>
          </p:nvPr>
        </p:nvGraphicFramePr>
        <p:xfrm>
          <a:off x="914400" y="2002830"/>
          <a:ext cx="8195873" cy="3552818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810508">
                  <a:extLst>
                    <a:ext uri="{9D8B030D-6E8A-4147-A177-3AD203B41FA5}">
                      <a16:colId xmlns:a16="http://schemas.microsoft.com/office/drawing/2014/main" val="2348740338"/>
                    </a:ext>
                  </a:extLst>
                </a:gridCol>
                <a:gridCol w="1090242">
                  <a:extLst>
                    <a:ext uri="{9D8B030D-6E8A-4147-A177-3AD203B41FA5}">
                      <a16:colId xmlns:a16="http://schemas.microsoft.com/office/drawing/2014/main" val="3053361523"/>
                    </a:ext>
                  </a:extLst>
                </a:gridCol>
                <a:gridCol w="1030364">
                  <a:extLst>
                    <a:ext uri="{9D8B030D-6E8A-4147-A177-3AD203B41FA5}">
                      <a16:colId xmlns:a16="http://schemas.microsoft.com/office/drawing/2014/main" val="2552722946"/>
                    </a:ext>
                  </a:extLst>
                </a:gridCol>
                <a:gridCol w="1086878">
                  <a:extLst>
                    <a:ext uri="{9D8B030D-6E8A-4147-A177-3AD203B41FA5}">
                      <a16:colId xmlns:a16="http://schemas.microsoft.com/office/drawing/2014/main" val="3940681295"/>
                    </a:ext>
                  </a:extLst>
                </a:gridCol>
                <a:gridCol w="1030364">
                  <a:extLst>
                    <a:ext uri="{9D8B030D-6E8A-4147-A177-3AD203B41FA5}">
                      <a16:colId xmlns:a16="http://schemas.microsoft.com/office/drawing/2014/main" val="579533320"/>
                    </a:ext>
                  </a:extLst>
                </a:gridCol>
                <a:gridCol w="1030364">
                  <a:extLst>
                    <a:ext uri="{9D8B030D-6E8A-4147-A177-3AD203B41FA5}">
                      <a16:colId xmlns:a16="http://schemas.microsoft.com/office/drawing/2014/main" val="1662781066"/>
                    </a:ext>
                  </a:extLst>
                </a:gridCol>
                <a:gridCol w="1117153">
                  <a:extLst>
                    <a:ext uri="{9D8B030D-6E8A-4147-A177-3AD203B41FA5}">
                      <a16:colId xmlns:a16="http://schemas.microsoft.com/office/drawing/2014/main" val="1844591680"/>
                    </a:ext>
                  </a:extLst>
                </a:gridCol>
              </a:tblGrid>
              <a:tr h="613644">
                <a:tc>
                  <a:txBody>
                    <a:bodyPr/>
                    <a:lstStyle/>
                    <a:p>
                      <a:endParaRPr lang="en-IN" sz="2400"/>
                    </a:p>
                  </a:txBody>
                  <a:tcPr marL="122780" marR="122780" marT="61390" marB="61390"/>
                </a:tc>
                <a:tc>
                  <a:txBody>
                    <a:bodyPr/>
                    <a:lstStyle/>
                    <a:p>
                      <a:r>
                        <a:rPr lang="en-IN" sz="1300"/>
                        <a:t>Antony &amp; Cleopatra</a:t>
                      </a:r>
                    </a:p>
                  </a:txBody>
                  <a:tcPr marL="122780" marR="122780" marT="61390" marB="61390"/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Julius Caeser</a:t>
                      </a:r>
                    </a:p>
                  </a:txBody>
                  <a:tcPr marL="122780" marR="122780" marT="61390" marB="61390"/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The Templet</a:t>
                      </a:r>
                    </a:p>
                  </a:txBody>
                  <a:tcPr marL="122780" marR="122780" marT="61390" marB="61390"/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Hamlet</a:t>
                      </a:r>
                    </a:p>
                  </a:txBody>
                  <a:tcPr marL="122780" marR="122780" marT="61390" marB="61390"/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Othello</a:t>
                      </a:r>
                    </a:p>
                  </a:txBody>
                  <a:tcPr marL="122780" marR="122780" marT="61390" marB="61390"/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Macbeth</a:t>
                      </a:r>
                    </a:p>
                  </a:txBody>
                  <a:tcPr marL="122780" marR="122780" marT="61390" marB="61390"/>
                </a:tc>
                <a:extLst>
                  <a:ext uri="{0D108BD9-81ED-4DB2-BD59-A6C34878D82A}">
                    <a16:rowId xmlns:a16="http://schemas.microsoft.com/office/drawing/2014/main" val="2522930231"/>
                  </a:ext>
                </a:extLst>
              </a:tr>
              <a:tr h="419882">
                <a:tc>
                  <a:txBody>
                    <a:bodyPr/>
                    <a:lstStyle/>
                    <a:p>
                      <a:r>
                        <a:rPr lang="en-IN" sz="1700"/>
                        <a:t>Antony</a:t>
                      </a:r>
                    </a:p>
                  </a:txBody>
                  <a:tcPr marL="122780" marR="122780" marT="61390" marB="61390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1</a:t>
                      </a:r>
                    </a:p>
                  </a:txBody>
                  <a:tcPr marL="122780" marR="122780" marT="61390" marB="61390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1</a:t>
                      </a:r>
                    </a:p>
                  </a:txBody>
                  <a:tcPr marL="122780" marR="122780" marT="61390" marB="61390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0</a:t>
                      </a:r>
                    </a:p>
                  </a:txBody>
                  <a:tcPr marL="122780" marR="122780" marT="61390" marB="61390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0</a:t>
                      </a:r>
                    </a:p>
                  </a:txBody>
                  <a:tcPr marL="122780" marR="122780" marT="61390" marB="61390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0</a:t>
                      </a:r>
                    </a:p>
                  </a:txBody>
                  <a:tcPr marL="122780" marR="122780" marT="61390" marB="61390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1</a:t>
                      </a:r>
                    </a:p>
                  </a:txBody>
                  <a:tcPr marL="122780" marR="122780" marT="61390" marB="61390"/>
                </a:tc>
                <a:extLst>
                  <a:ext uri="{0D108BD9-81ED-4DB2-BD59-A6C34878D82A}">
                    <a16:rowId xmlns:a16="http://schemas.microsoft.com/office/drawing/2014/main" val="43438783"/>
                  </a:ext>
                </a:extLst>
              </a:tr>
              <a:tr h="419882">
                <a:tc>
                  <a:txBody>
                    <a:bodyPr/>
                    <a:lstStyle/>
                    <a:p>
                      <a:r>
                        <a:rPr lang="en-IN" sz="1700"/>
                        <a:t>Brutus</a:t>
                      </a:r>
                    </a:p>
                  </a:txBody>
                  <a:tcPr marL="122780" marR="122780" marT="61390" marB="61390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1</a:t>
                      </a:r>
                    </a:p>
                  </a:txBody>
                  <a:tcPr marL="122780" marR="122780" marT="61390" marB="61390"/>
                </a:tc>
                <a:tc>
                  <a:txBody>
                    <a:bodyPr/>
                    <a:lstStyle/>
                    <a:p>
                      <a:r>
                        <a:rPr lang="en-IN" sz="1700" dirty="0"/>
                        <a:t>1</a:t>
                      </a:r>
                    </a:p>
                  </a:txBody>
                  <a:tcPr marL="122780" marR="122780" marT="61390" marB="61390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0</a:t>
                      </a:r>
                    </a:p>
                  </a:txBody>
                  <a:tcPr marL="122780" marR="122780" marT="61390" marB="61390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1</a:t>
                      </a:r>
                    </a:p>
                  </a:txBody>
                  <a:tcPr marL="122780" marR="122780" marT="61390" marB="61390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0</a:t>
                      </a:r>
                    </a:p>
                  </a:txBody>
                  <a:tcPr marL="122780" marR="122780" marT="61390" marB="61390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0</a:t>
                      </a:r>
                    </a:p>
                  </a:txBody>
                  <a:tcPr marL="122780" marR="122780" marT="61390" marB="61390"/>
                </a:tc>
                <a:extLst>
                  <a:ext uri="{0D108BD9-81ED-4DB2-BD59-A6C34878D82A}">
                    <a16:rowId xmlns:a16="http://schemas.microsoft.com/office/drawing/2014/main" val="1093306964"/>
                  </a:ext>
                </a:extLst>
              </a:tr>
              <a:tr h="419882">
                <a:tc>
                  <a:txBody>
                    <a:bodyPr/>
                    <a:lstStyle/>
                    <a:p>
                      <a:r>
                        <a:rPr lang="en-IN" sz="1700"/>
                        <a:t>Caeser</a:t>
                      </a:r>
                    </a:p>
                  </a:txBody>
                  <a:tcPr marL="122780" marR="122780" marT="61390" marB="61390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1</a:t>
                      </a:r>
                    </a:p>
                  </a:txBody>
                  <a:tcPr marL="122780" marR="122780" marT="61390" marB="61390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1</a:t>
                      </a:r>
                    </a:p>
                  </a:txBody>
                  <a:tcPr marL="122780" marR="122780" marT="61390" marB="61390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0</a:t>
                      </a:r>
                    </a:p>
                  </a:txBody>
                  <a:tcPr marL="122780" marR="122780" marT="61390" marB="61390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1</a:t>
                      </a:r>
                    </a:p>
                  </a:txBody>
                  <a:tcPr marL="122780" marR="122780" marT="61390" marB="61390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1</a:t>
                      </a:r>
                    </a:p>
                  </a:txBody>
                  <a:tcPr marL="122780" marR="122780" marT="61390" marB="61390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1</a:t>
                      </a:r>
                    </a:p>
                  </a:txBody>
                  <a:tcPr marL="122780" marR="122780" marT="61390" marB="61390"/>
                </a:tc>
                <a:extLst>
                  <a:ext uri="{0D108BD9-81ED-4DB2-BD59-A6C34878D82A}">
                    <a16:rowId xmlns:a16="http://schemas.microsoft.com/office/drawing/2014/main" val="3381011029"/>
                  </a:ext>
                </a:extLst>
              </a:tr>
              <a:tr h="419882">
                <a:tc>
                  <a:txBody>
                    <a:bodyPr/>
                    <a:lstStyle/>
                    <a:p>
                      <a:r>
                        <a:rPr lang="en-IN" sz="1700"/>
                        <a:t>Calpurnia</a:t>
                      </a:r>
                    </a:p>
                  </a:txBody>
                  <a:tcPr marL="122780" marR="122780" marT="61390" marB="61390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0</a:t>
                      </a:r>
                    </a:p>
                  </a:txBody>
                  <a:tcPr marL="122780" marR="122780" marT="61390" marB="61390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1</a:t>
                      </a:r>
                    </a:p>
                  </a:txBody>
                  <a:tcPr marL="122780" marR="122780" marT="61390" marB="61390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0</a:t>
                      </a:r>
                    </a:p>
                  </a:txBody>
                  <a:tcPr marL="122780" marR="122780" marT="61390" marB="61390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0</a:t>
                      </a:r>
                    </a:p>
                  </a:txBody>
                  <a:tcPr marL="122780" marR="122780" marT="61390" marB="61390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0</a:t>
                      </a:r>
                    </a:p>
                  </a:txBody>
                  <a:tcPr marL="122780" marR="122780" marT="61390" marB="61390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0</a:t>
                      </a:r>
                    </a:p>
                  </a:txBody>
                  <a:tcPr marL="122780" marR="122780" marT="61390" marB="61390"/>
                </a:tc>
                <a:extLst>
                  <a:ext uri="{0D108BD9-81ED-4DB2-BD59-A6C34878D82A}">
                    <a16:rowId xmlns:a16="http://schemas.microsoft.com/office/drawing/2014/main" val="1021428936"/>
                  </a:ext>
                </a:extLst>
              </a:tr>
              <a:tr h="419882">
                <a:tc>
                  <a:txBody>
                    <a:bodyPr/>
                    <a:lstStyle/>
                    <a:p>
                      <a:r>
                        <a:rPr lang="en-IN" sz="1700"/>
                        <a:t>Cleopatra</a:t>
                      </a:r>
                    </a:p>
                  </a:txBody>
                  <a:tcPr marL="122780" marR="122780" marT="61390" marB="61390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1</a:t>
                      </a:r>
                    </a:p>
                  </a:txBody>
                  <a:tcPr marL="122780" marR="122780" marT="61390" marB="61390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0</a:t>
                      </a:r>
                    </a:p>
                  </a:txBody>
                  <a:tcPr marL="122780" marR="122780" marT="61390" marB="61390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0</a:t>
                      </a:r>
                    </a:p>
                  </a:txBody>
                  <a:tcPr marL="122780" marR="122780" marT="61390" marB="61390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0</a:t>
                      </a:r>
                    </a:p>
                  </a:txBody>
                  <a:tcPr marL="122780" marR="122780" marT="61390" marB="61390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0</a:t>
                      </a:r>
                    </a:p>
                  </a:txBody>
                  <a:tcPr marL="122780" marR="122780" marT="61390" marB="61390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0</a:t>
                      </a:r>
                    </a:p>
                  </a:txBody>
                  <a:tcPr marL="122780" marR="122780" marT="61390" marB="61390"/>
                </a:tc>
                <a:extLst>
                  <a:ext uri="{0D108BD9-81ED-4DB2-BD59-A6C34878D82A}">
                    <a16:rowId xmlns:a16="http://schemas.microsoft.com/office/drawing/2014/main" val="1796751709"/>
                  </a:ext>
                </a:extLst>
              </a:tr>
              <a:tr h="419882">
                <a:tc>
                  <a:txBody>
                    <a:bodyPr/>
                    <a:lstStyle/>
                    <a:p>
                      <a:r>
                        <a:rPr lang="en-IN" sz="1700"/>
                        <a:t>Mercy</a:t>
                      </a:r>
                    </a:p>
                  </a:txBody>
                  <a:tcPr marL="122780" marR="122780" marT="61390" marB="61390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1</a:t>
                      </a:r>
                    </a:p>
                  </a:txBody>
                  <a:tcPr marL="122780" marR="122780" marT="61390" marB="61390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0</a:t>
                      </a:r>
                    </a:p>
                  </a:txBody>
                  <a:tcPr marL="122780" marR="122780" marT="61390" marB="61390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1</a:t>
                      </a:r>
                    </a:p>
                  </a:txBody>
                  <a:tcPr marL="122780" marR="122780" marT="61390" marB="61390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1</a:t>
                      </a:r>
                    </a:p>
                  </a:txBody>
                  <a:tcPr marL="122780" marR="122780" marT="61390" marB="61390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1</a:t>
                      </a:r>
                    </a:p>
                  </a:txBody>
                  <a:tcPr marL="122780" marR="122780" marT="61390" marB="61390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1</a:t>
                      </a:r>
                    </a:p>
                  </a:txBody>
                  <a:tcPr marL="122780" marR="122780" marT="61390" marB="61390"/>
                </a:tc>
                <a:extLst>
                  <a:ext uri="{0D108BD9-81ED-4DB2-BD59-A6C34878D82A}">
                    <a16:rowId xmlns:a16="http://schemas.microsoft.com/office/drawing/2014/main" val="3291345400"/>
                  </a:ext>
                </a:extLst>
              </a:tr>
              <a:tr h="419882">
                <a:tc>
                  <a:txBody>
                    <a:bodyPr/>
                    <a:lstStyle/>
                    <a:p>
                      <a:r>
                        <a:rPr lang="en-IN" sz="1700"/>
                        <a:t>Worser</a:t>
                      </a:r>
                    </a:p>
                  </a:txBody>
                  <a:tcPr marL="122780" marR="122780" marT="61390" marB="61390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1</a:t>
                      </a:r>
                    </a:p>
                  </a:txBody>
                  <a:tcPr marL="122780" marR="122780" marT="61390" marB="61390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0</a:t>
                      </a:r>
                    </a:p>
                  </a:txBody>
                  <a:tcPr marL="122780" marR="122780" marT="61390" marB="61390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1</a:t>
                      </a:r>
                    </a:p>
                  </a:txBody>
                  <a:tcPr marL="122780" marR="122780" marT="61390" marB="61390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1</a:t>
                      </a:r>
                    </a:p>
                  </a:txBody>
                  <a:tcPr marL="122780" marR="122780" marT="61390" marB="61390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1</a:t>
                      </a:r>
                    </a:p>
                  </a:txBody>
                  <a:tcPr marL="122780" marR="122780" marT="61390" marB="61390"/>
                </a:tc>
                <a:tc>
                  <a:txBody>
                    <a:bodyPr/>
                    <a:lstStyle/>
                    <a:p>
                      <a:r>
                        <a:rPr lang="en-IN" sz="1700" dirty="0"/>
                        <a:t>0</a:t>
                      </a:r>
                    </a:p>
                  </a:txBody>
                  <a:tcPr marL="122780" marR="122780" marT="61390" marB="61390"/>
                </a:tc>
                <a:extLst>
                  <a:ext uri="{0D108BD9-81ED-4DB2-BD59-A6C34878D82A}">
                    <a16:rowId xmlns:a16="http://schemas.microsoft.com/office/drawing/2014/main" val="228920759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33557A3B-0E34-2B55-3930-1EE66024B77A}"/>
              </a:ext>
            </a:extLst>
          </p:cNvPr>
          <p:cNvSpPr/>
          <p:nvPr/>
        </p:nvSpPr>
        <p:spPr>
          <a:xfrm>
            <a:off x="2290916" y="5905500"/>
            <a:ext cx="685800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58ACEAB-33C9-A751-3013-99B453F2A724}"/>
              </a:ext>
            </a:extLst>
          </p:cNvPr>
          <p:cNvCxnSpPr/>
          <p:nvPr/>
        </p:nvCxnSpPr>
        <p:spPr>
          <a:xfrm>
            <a:off x="2976716" y="6057900"/>
            <a:ext cx="4572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F936C68E-176B-79BD-E930-ADD148E90D1F}"/>
              </a:ext>
            </a:extLst>
          </p:cNvPr>
          <p:cNvSpPr/>
          <p:nvPr/>
        </p:nvSpPr>
        <p:spPr>
          <a:xfrm>
            <a:off x="3429000" y="5867400"/>
            <a:ext cx="685800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0D42C532-0E5F-1AA4-BDC7-AE59E4F3D649}"/>
              </a:ext>
            </a:extLst>
          </p:cNvPr>
          <p:cNvCxnSpPr/>
          <p:nvPr/>
        </p:nvCxnSpPr>
        <p:spPr>
          <a:xfrm>
            <a:off x="1560557" y="5867400"/>
            <a:ext cx="633759" cy="266700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8237AB26-9D8C-3E67-B544-43307DC30B6A}"/>
              </a:ext>
            </a:extLst>
          </p:cNvPr>
          <p:cNvSpPr/>
          <p:nvPr/>
        </p:nvSpPr>
        <p:spPr>
          <a:xfrm>
            <a:off x="582367" y="5619750"/>
            <a:ext cx="929890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Brutus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E73D386-CD43-E95E-1574-09E33A95D2D6}"/>
              </a:ext>
            </a:extLst>
          </p:cNvPr>
          <p:cNvSpPr/>
          <p:nvPr/>
        </p:nvSpPr>
        <p:spPr>
          <a:xfrm>
            <a:off x="4572000" y="5867400"/>
            <a:ext cx="685800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4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B61EC34-FE2C-3CEF-4E84-F6EF19BC1382}"/>
              </a:ext>
            </a:extLst>
          </p:cNvPr>
          <p:cNvCxnSpPr/>
          <p:nvPr/>
        </p:nvCxnSpPr>
        <p:spPr>
          <a:xfrm>
            <a:off x="4114800" y="6057900"/>
            <a:ext cx="4572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DFCA4368-C72F-8F09-BA75-CE463A7190EC}"/>
              </a:ext>
            </a:extLst>
          </p:cNvPr>
          <p:cNvSpPr/>
          <p:nvPr/>
        </p:nvSpPr>
        <p:spPr>
          <a:xfrm>
            <a:off x="-41199" y="3328861"/>
            <a:ext cx="929890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Term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E92EF1A-2F4A-9F7F-B568-E8ED10FDBB71}"/>
              </a:ext>
            </a:extLst>
          </p:cNvPr>
          <p:cNvSpPr/>
          <p:nvPr/>
        </p:nvSpPr>
        <p:spPr>
          <a:xfrm>
            <a:off x="3429000" y="1595004"/>
            <a:ext cx="1371600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Documents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4474736-7A9F-C23B-8B8E-9ED27668265D}"/>
              </a:ext>
            </a:extLst>
          </p:cNvPr>
          <p:cNvSpPr/>
          <p:nvPr/>
        </p:nvSpPr>
        <p:spPr>
          <a:xfrm>
            <a:off x="5867400" y="5725421"/>
            <a:ext cx="929890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Caeser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92254CA-9F41-FBC3-C05C-6170D673EA61}"/>
              </a:ext>
            </a:extLst>
          </p:cNvPr>
          <p:cNvSpPr/>
          <p:nvPr/>
        </p:nvSpPr>
        <p:spPr>
          <a:xfrm>
            <a:off x="5897754" y="6302477"/>
            <a:ext cx="1265045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Calpurnia</a:t>
            </a:r>
          </a:p>
        </p:txBody>
      </p:sp>
    </p:spTree>
    <p:extLst>
      <p:ext uri="{BB962C8B-B14F-4D97-AF65-F5344CB8AC3E}">
        <p14:creationId xmlns:p14="http://schemas.microsoft.com/office/powerpoint/2010/main" val="12851065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5666830-9A19-4E01-8505-D6C7F9AC5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Pencil and answer-sheet">
            <a:extLst>
              <a:ext uri="{FF2B5EF4-FFF2-40B4-BE49-F238E27FC236}">
                <a16:creationId xmlns:a16="http://schemas.microsoft.com/office/drawing/2014/main" id="{234B8909-C9F0-6833-BB04-4A15A366CF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842" r="-1" b="-1"/>
          <a:stretch/>
        </p:blipFill>
        <p:spPr>
          <a:xfrm>
            <a:off x="3082595" y="10"/>
            <a:ext cx="6061405" cy="6857990"/>
          </a:xfrm>
          <a:custGeom>
            <a:avLst/>
            <a:gdLst/>
            <a:ahLst/>
            <a:cxnLst/>
            <a:rect l="l" t="t" r="r" b="b"/>
            <a:pathLst>
              <a:path w="8081873" h="6858000">
                <a:moveTo>
                  <a:pt x="0" y="0"/>
                </a:moveTo>
                <a:lnTo>
                  <a:pt x="8081873" y="0"/>
                </a:lnTo>
                <a:lnTo>
                  <a:pt x="8081873" y="6858000"/>
                </a:lnTo>
                <a:lnTo>
                  <a:pt x="0" y="6858000"/>
                </a:lnTo>
                <a:lnTo>
                  <a:pt x="68897" y="6734633"/>
                </a:lnTo>
                <a:cubicBezTo>
                  <a:pt x="558802" y="5812845"/>
                  <a:pt x="848920" y="4668597"/>
                  <a:pt x="848920" y="3429000"/>
                </a:cubicBezTo>
                <a:cubicBezTo>
                  <a:pt x="848920" y="2189404"/>
                  <a:pt x="558802" y="1045156"/>
                  <a:pt x="68897" y="123368"/>
                </a:cubicBezTo>
                <a:close/>
              </a:path>
            </a:pathLst>
          </a:custGeom>
        </p:spPr>
      </p:pic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AE9FC877-7FB6-4D22-9988-35420644E2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719285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E41809D1-F12E-46BB-B804-5F209D325E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711665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2EB620-AC9E-2D70-8BB3-DA2CD085D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485" y="1122363"/>
            <a:ext cx="301752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3600" dirty="0"/>
              <a:t>Converting the previous example in linked list form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1653" y="434802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771" y="4546920"/>
            <a:ext cx="30175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DED731-C3EF-28C4-84C8-DD9B7CAC3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0633" y="6356350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  <a:defRPr/>
            </a:pPr>
            <a:r>
              <a:rPr lang="en-US" sz="1000" kern="1200">
                <a:solidFill>
                  <a:schemeClr val="bg1"/>
                </a:solidFill>
                <a:latin typeface="Calibri" panose="020F0502020204030204"/>
                <a:ea typeface="+mn-ea"/>
                <a:cs typeface="+mn-cs"/>
              </a:rPr>
              <a:t>Dr. Richa, Assistant Professor, BIT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445E6B-671E-F549-3D51-77BC9C630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15200" y="6356350"/>
            <a:ext cx="120015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6F15528-21DE-4FAA-801E-634DDDAF4B2B}" type="slidenum">
              <a:rPr lang="en-US" sz="1000">
                <a:solidFill>
                  <a:schemeClr val="bg1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18</a:t>
            </a:fld>
            <a:endParaRPr lang="en-US" sz="1000">
              <a:solidFill>
                <a:schemeClr val="bg1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0923897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AD33D4-4C9A-E5C2-0BE1-0B004693C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/>
          </a:bodyPr>
          <a:lstStyle/>
          <a:p>
            <a:r>
              <a:rPr lang="en-IN" sz="4700"/>
              <a:t>Tokenization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3D0CA-BCE4-0011-91B7-C8607835B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245" y="2599509"/>
            <a:ext cx="7607751" cy="3435531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2100" dirty="0"/>
              <a:t>Task</a:t>
            </a:r>
          </a:p>
          <a:p>
            <a:pPr lvl="1">
              <a:lnSpc>
                <a:spcPct val="90000"/>
              </a:lnSpc>
            </a:pPr>
            <a:r>
              <a:rPr lang="en-IN" sz="2100" dirty="0"/>
              <a:t>Chop document into pieces</a:t>
            </a:r>
          </a:p>
          <a:p>
            <a:pPr lvl="1">
              <a:lnSpc>
                <a:spcPct val="90000"/>
              </a:lnSpc>
            </a:pPr>
            <a:r>
              <a:rPr lang="en-IN" sz="2100" dirty="0"/>
              <a:t>Throw away characters such as punctuations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IN" sz="2100" dirty="0"/>
              <a:t>Example1: 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IN" sz="2100" dirty="0"/>
              <a:t>	</a:t>
            </a:r>
            <a:r>
              <a:rPr lang="en-IN" sz="2100" b="1" dirty="0"/>
              <a:t>Document1: 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IN" sz="2100" dirty="0"/>
              <a:t>		I did enact Julius Caeser. I was killed </a:t>
            </a:r>
            <a:r>
              <a:rPr lang="en-IN" sz="2100" dirty="0" err="1"/>
              <a:t>i</a:t>
            </a:r>
            <a:r>
              <a:rPr lang="en-IN" sz="2100" dirty="0"/>
              <a:t>’ the capitol; Brutus killed me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IN" sz="2100" dirty="0"/>
              <a:t>	</a:t>
            </a:r>
            <a:r>
              <a:rPr lang="en-IN" sz="2100" b="1" dirty="0"/>
              <a:t>Document2: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IN" sz="2100" dirty="0"/>
              <a:t>		so let it be with Caeser. The noble Brutus hath hold you Caeser was ambitious </a:t>
            </a:r>
          </a:p>
          <a:p>
            <a:pPr lvl="1">
              <a:lnSpc>
                <a:spcPct val="90000"/>
              </a:lnSpc>
            </a:pPr>
            <a:endParaRPr lang="en-IN" sz="2100" dirty="0"/>
          </a:p>
          <a:p>
            <a:pPr lvl="1">
              <a:lnSpc>
                <a:spcPct val="90000"/>
              </a:lnSpc>
            </a:pPr>
            <a:endParaRPr lang="en-IN" sz="21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F180E2-6474-5C7B-92B2-79B534EB9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492240"/>
            <a:ext cx="30861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Dr. Richa, Assistant Professor, BIT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A1D225-DF58-00CB-01CA-597659BB1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49224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 smtClean="0"/>
              <a:pPr>
                <a:spcAft>
                  <a:spcPts val="600"/>
                </a:spcAft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9164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D33D4-4C9A-E5C2-0BE1-0B004693C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1138036"/>
            <a:ext cx="3064248" cy="1402470"/>
          </a:xfrm>
        </p:spPr>
        <p:txBody>
          <a:bodyPr anchor="t">
            <a:normAutofit/>
          </a:bodyPr>
          <a:lstStyle/>
          <a:p>
            <a:r>
              <a:rPr lang="en-IN" sz="2800"/>
              <a:t>Tokenization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8855" y="871146"/>
            <a:ext cx="552704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3D0CA-BCE4-0011-91B7-C8607835B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2551176"/>
            <a:ext cx="3559548" cy="359120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1400" dirty="0"/>
              <a:t>Task</a:t>
            </a:r>
          </a:p>
          <a:p>
            <a:pPr lvl="1">
              <a:lnSpc>
                <a:spcPct val="90000"/>
              </a:lnSpc>
            </a:pPr>
            <a:r>
              <a:rPr lang="en-IN" sz="1400" dirty="0"/>
              <a:t>Chop document into pieces</a:t>
            </a:r>
          </a:p>
          <a:p>
            <a:pPr lvl="1">
              <a:lnSpc>
                <a:spcPct val="90000"/>
              </a:lnSpc>
            </a:pPr>
            <a:r>
              <a:rPr lang="en-IN" sz="1400" dirty="0"/>
              <a:t>Throw away characters such as punctuations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IN" sz="1400" dirty="0"/>
              <a:t>Example1: 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IN" sz="1400" dirty="0"/>
              <a:t>	</a:t>
            </a:r>
            <a:r>
              <a:rPr lang="en-IN" sz="1400" b="1" dirty="0"/>
              <a:t>Document1: 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IN" sz="1400" dirty="0"/>
              <a:t>		I did enact Julius Caeser. I was killed </a:t>
            </a:r>
            <a:r>
              <a:rPr lang="en-IN" sz="1400" dirty="0" err="1"/>
              <a:t>i</a:t>
            </a:r>
            <a:r>
              <a:rPr lang="en-IN" sz="1400" dirty="0"/>
              <a:t>’ the capitol; Brutus killed me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IN" sz="1400" dirty="0"/>
              <a:t>	</a:t>
            </a:r>
            <a:r>
              <a:rPr lang="en-IN" sz="1400" b="1" dirty="0"/>
              <a:t>Document2: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IN" sz="1400" dirty="0"/>
              <a:t>		so let it be with Caeser. The noble Brutus hath hold you Caeser was ambitious </a:t>
            </a:r>
          </a:p>
          <a:p>
            <a:pPr lvl="1">
              <a:lnSpc>
                <a:spcPct val="90000"/>
              </a:lnSpc>
            </a:pPr>
            <a:endParaRPr lang="en-IN" sz="1400" dirty="0"/>
          </a:p>
          <a:p>
            <a:pPr lvl="1">
              <a:lnSpc>
                <a:spcPct val="90000"/>
              </a:lnSpc>
            </a:pPr>
            <a:endParaRPr lang="en-IN" sz="1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F180E2-6474-5C7B-92B2-79B534EB9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40762" y="6356350"/>
            <a:ext cx="2440767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1100">
                <a:solidFill>
                  <a:srgbClr val="FFFFFF"/>
                </a:solidFill>
              </a:rPr>
              <a:t>Dr. Richa, Assistant Professor, BIT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A1D225-DF58-00CB-01CA-597659BB1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20</a:t>
            </a:fld>
            <a:endParaRPr lang="en-US">
              <a:solidFill>
                <a:srgbClr val="FFFFFF"/>
              </a:solidFill>
            </a:endParaRPr>
          </a:p>
        </p:txBody>
      </p:sp>
      <p:graphicFrame>
        <p:nvGraphicFramePr>
          <p:cNvPr id="6" name="Table 7">
            <a:extLst>
              <a:ext uri="{FF2B5EF4-FFF2-40B4-BE49-F238E27FC236}">
                <a16:creationId xmlns:a16="http://schemas.microsoft.com/office/drawing/2014/main" id="{06281A99-0051-C344-7695-E8764F580F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9487376"/>
              </p:ext>
            </p:extLst>
          </p:nvPr>
        </p:nvGraphicFramePr>
        <p:xfrm>
          <a:off x="4014689" y="-34452"/>
          <a:ext cx="1514336" cy="68924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4707">
                  <a:extLst>
                    <a:ext uri="{9D8B030D-6E8A-4147-A177-3AD203B41FA5}">
                      <a16:colId xmlns:a16="http://schemas.microsoft.com/office/drawing/2014/main" val="2358747565"/>
                    </a:ext>
                  </a:extLst>
                </a:gridCol>
                <a:gridCol w="489629">
                  <a:extLst>
                    <a:ext uri="{9D8B030D-6E8A-4147-A177-3AD203B41FA5}">
                      <a16:colId xmlns:a16="http://schemas.microsoft.com/office/drawing/2014/main" val="1719220205"/>
                    </a:ext>
                  </a:extLst>
                </a:gridCol>
              </a:tblGrid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Caeser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896262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4582852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Did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8370983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Enact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9110911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Julius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166107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Caeser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4102983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5232380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Was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349215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Killed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3179129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 err="1"/>
                        <a:t>i</a:t>
                      </a:r>
                      <a:r>
                        <a:rPr lang="en-IN" sz="1400" dirty="0"/>
                        <a:t>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7035409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The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850896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Capitol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1466289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Brutus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907215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Killed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2569216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7595521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8747146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4166912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0784296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5743784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with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4018637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Caeser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0769898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0A3475F-1F41-EF7E-B423-59469EB69C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8061022"/>
              </p:ext>
            </p:extLst>
          </p:nvPr>
        </p:nvGraphicFramePr>
        <p:xfrm>
          <a:off x="5907967" y="1834355"/>
          <a:ext cx="1712033" cy="29539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3100">
                  <a:extLst>
                    <a:ext uri="{9D8B030D-6E8A-4147-A177-3AD203B41FA5}">
                      <a16:colId xmlns:a16="http://schemas.microsoft.com/office/drawing/2014/main" val="1265301180"/>
                    </a:ext>
                  </a:extLst>
                </a:gridCol>
                <a:gridCol w="648933">
                  <a:extLst>
                    <a:ext uri="{9D8B030D-6E8A-4147-A177-3AD203B41FA5}">
                      <a16:colId xmlns:a16="http://schemas.microsoft.com/office/drawing/2014/main" val="851005271"/>
                    </a:ext>
                  </a:extLst>
                </a:gridCol>
              </a:tblGrid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The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0832418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Noble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5991465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Brutus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6847449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Hath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5887977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376329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You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4437829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Caeser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2739181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Was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7416536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Ambitious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8158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40606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2468898-5A6E-4D55-85EC-308E785EE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2C53D8-7179-F928-F70B-B80814473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326" y="411480"/>
            <a:ext cx="8401050" cy="1106424"/>
          </a:xfrm>
        </p:spPr>
        <p:txBody>
          <a:bodyPr>
            <a:normAutofit/>
          </a:bodyPr>
          <a:lstStyle/>
          <a:p>
            <a:pPr algn="l"/>
            <a:r>
              <a:rPr lang="en-IN" sz="3100" dirty="0"/>
              <a:t>                 Sort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3A947-2D45-4208-AE2B-64948C87A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9845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5BBB0F9-6A59-4D02-A9C7-A2D651668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7850" y="1721922"/>
            <a:ext cx="3163824" cy="4520560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1A24E-7CE1-D8FE-8A40-9BBCF2E66F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4064" y="2020824"/>
            <a:ext cx="2591322" cy="3959352"/>
          </a:xfrm>
        </p:spPr>
        <p:txBody>
          <a:bodyPr anchor="ctr">
            <a:normAutofit/>
          </a:bodyPr>
          <a:lstStyle/>
          <a:p>
            <a:endParaRPr lang="en-IN" sz="16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26A76E-161A-3651-7C9D-06DD18EF1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61458" y="5976082"/>
            <a:ext cx="2062909" cy="260126"/>
          </a:xfrm>
        </p:spPr>
        <p:txBody>
          <a:bodyPr/>
          <a:lstStyle/>
          <a:p>
            <a:pPr defTabSz="649224">
              <a:spcAft>
                <a:spcPts val="600"/>
              </a:spcAft>
            </a:pPr>
            <a:r>
              <a:rPr lang="en-US" sz="852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Dr. Richa, Assistant Professor, BIT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F333DE-47B3-19A8-2939-490127BFA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04376" y="5976082"/>
            <a:ext cx="1520038" cy="260126"/>
          </a:xfrm>
        </p:spPr>
        <p:txBody>
          <a:bodyPr/>
          <a:lstStyle/>
          <a:p>
            <a:pPr defTabSz="649224">
              <a:spcAft>
                <a:spcPts val="600"/>
              </a:spcAft>
            </a:pPr>
            <a:fld id="{B6F15528-21DE-4FAA-801E-634DDDAF4B2B}" type="slidenum">
              <a:rPr lang="en-US" sz="852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defTabSz="649224">
                <a:spcAft>
                  <a:spcPts val="600"/>
                </a:spcAft>
              </a:pPr>
              <a:t>21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84085B3-2FD9-3372-71AC-E8AF99BA03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584353"/>
              </p:ext>
            </p:extLst>
          </p:nvPr>
        </p:nvGraphicFramePr>
        <p:xfrm>
          <a:off x="4835227" y="76200"/>
          <a:ext cx="1897891" cy="6564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9603">
                  <a:extLst>
                    <a:ext uri="{9D8B030D-6E8A-4147-A177-3AD203B41FA5}">
                      <a16:colId xmlns:a16="http://schemas.microsoft.com/office/drawing/2014/main" val="2358747565"/>
                    </a:ext>
                  </a:extLst>
                </a:gridCol>
                <a:gridCol w="888288">
                  <a:extLst>
                    <a:ext uri="{9D8B030D-6E8A-4147-A177-3AD203B41FA5}">
                      <a16:colId xmlns:a16="http://schemas.microsoft.com/office/drawing/2014/main" val="1719220205"/>
                    </a:ext>
                  </a:extLst>
                </a:gridCol>
              </a:tblGrid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err="1"/>
                        <a:t>DocID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302718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ambitious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896262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4582852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Brutus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349215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Brutus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3179129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Capitol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7035409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Caeser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850896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Caeser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1466289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Caeser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907215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Did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2569216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Enact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7595521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Hath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8747146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4166912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0784296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 err="1"/>
                        <a:t>i</a:t>
                      </a:r>
                      <a:r>
                        <a:rPr lang="en-IN" sz="1400" dirty="0"/>
                        <a:t>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5743784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4018637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Julius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0769898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Killed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0897307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Killed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6519964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283288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370335A-7059-6F65-11B2-6B37AD6E2F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3526111"/>
              </p:ext>
            </p:extLst>
          </p:nvPr>
        </p:nvGraphicFramePr>
        <p:xfrm>
          <a:off x="6625389" y="1219200"/>
          <a:ext cx="2027726" cy="3610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132">
                  <a:extLst>
                    <a:ext uri="{9D8B030D-6E8A-4147-A177-3AD203B41FA5}">
                      <a16:colId xmlns:a16="http://schemas.microsoft.com/office/drawing/2014/main" val="1265301180"/>
                    </a:ext>
                  </a:extLst>
                </a:gridCol>
                <a:gridCol w="768594">
                  <a:extLst>
                    <a:ext uri="{9D8B030D-6E8A-4147-A177-3AD203B41FA5}">
                      <a16:colId xmlns:a16="http://schemas.microsoft.com/office/drawing/2014/main" val="851005271"/>
                    </a:ext>
                  </a:extLst>
                </a:gridCol>
              </a:tblGrid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err="1"/>
                        <a:t>DocID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8731746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5887977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Noble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376329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4437829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The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2739181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The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7416536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Told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815857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You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851343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Was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4625723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Was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9489041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With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8270523"/>
                  </a:ext>
                </a:extLst>
              </a:tr>
            </a:tbl>
          </a:graphicData>
        </a:graphic>
      </p:graphicFrame>
      <p:graphicFrame>
        <p:nvGraphicFramePr>
          <p:cNvPr id="10" name="Table 7">
            <a:extLst>
              <a:ext uri="{FF2B5EF4-FFF2-40B4-BE49-F238E27FC236}">
                <a16:creationId xmlns:a16="http://schemas.microsoft.com/office/drawing/2014/main" id="{2E2104B4-EA7E-1C0C-9095-FDC9B5836A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0671186"/>
              </p:ext>
            </p:extLst>
          </p:nvPr>
        </p:nvGraphicFramePr>
        <p:xfrm>
          <a:off x="336836" y="-17226"/>
          <a:ext cx="1514336" cy="68924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4707">
                  <a:extLst>
                    <a:ext uri="{9D8B030D-6E8A-4147-A177-3AD203B41FA5}">
                      <a16:colId xmlns:a16="http://schemas.microsoft.com/office/drawing/2014/main" val="2358747565"/>
                    </a:ext>
                  </a:extLst>
                </a:gridCol>
                <a:gridCol w="489629">
                  <a:extLst>
                    <a:ext uri="{9D8B030D-6E8A-4147-A177-3AD203B41FA5}">
                      <a16:colId xmlns:a16="http://schemas.microsoft.com/office/drawing/2014/main" val="1719220205"/>
                    </a:ext>
                  </a:extLst>
                </a:gridCol>
              </a:tblGrid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Caeser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896262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4582852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Did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8370983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Enact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9110911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Julius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166107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Caeser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4102983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5232380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Was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349215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Killed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3179129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 err="1"/>
                        <a:t>i</a:t>
                      </a:r>
                      <a:r>
                        <a:rPr lang="en-IN" sz="1400" dirty="0"/>
                        <a:t>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7035409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The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850896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Capitol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1466289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Brutus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907215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Killed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2569216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7595521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8747146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4166912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0784296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5743784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with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4018637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Caeser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0769898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4017324-0DC3-EAAE-E0F1-E32822FA8B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1156097"/>
              </p:ext>
            </p:extLst>
          </p:nvPr>
        </p:nvGraphicFramePr>
        <p:xfrm>
          <a:off x="1844236" y="3686532"/>
          <a:ext cx="1712033" cy="29539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3100">
                  <a:extLst>
                    <a:ext uri="{9D8B030D-6E8A-4147-A177-3AD203B41FA5}">
                      <a16:colId xmlns:a16="http://schemas.microsoft.com/office/drawing/2014/main" val="1265301180"/>
                    </a:ext>
                  </a:extLst>
                </a:gridCol>
                <a:gridCol w="648933">
                  <a:extLst>
                    <a:ext uri="{9D8B030D-6E8A-4147-A177-3AD203B41FA5}">
                      <a16:colId xmlns:a16="http://schemas.microsoft.com/office/drawing/2014/main" val="851005271"/>
                    </a:ext>
                  </a:extLst>
                </a:gridCol>
              </a:tblGrid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The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0832418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Noble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5991465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Brutus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6847449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Hath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5887977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376329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You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4437829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Caeser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2739181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Was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7416536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Ambitious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8158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81141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E39CA-EA1A-FE10-EC9C-5926912C6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1417" y="1138036"/>
            <a:ext cx="4083287" cy="1402470"/>
          </a:xfrm>
        </p:spPr>
        <p:txBody>
          <a:bodyPr anchor="t">
            <a:normAutofit/>
          </a:bodyPr>
          <a:lstStyle/>
          <a:p>
            <a:r>
              <a:rPr lang="en-IN" sz="2800"/>
              <a:t>Inverted index: Dictionary &amp; Postings</a:t>
            </a:r>
          </a:p>
        </p:txBody>
      </p:sp>
      <p:pic>
        <p:nvPicPr>
          <p:cNvPr id="8" name="Picture 6" descr="Open book">
            <a:extLst>
              <a:ext uri="{FF2B5EF4-FFF2-40B4-BE49-F238E27FC236}">
                <a16:creationId xmlns:a16="http://schemas.microsoft.com/office/drawing/2014/main" id="{2CC8F8CC-40F9-1718-9525-82BAAF8E0A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546" r="31851" b="-1"/>
          <a:stretch/>
        </p:blipFill>
        <p:spPr>
          <a:xfrm>
            <a:off x="20" y="10"/>
            <a:ext cx="3863363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478772" y="871146"/>
            <a:ext cx="552705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8FEB4-2C5A-F6ED-15B5-7D2D017AE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1417" y="2551176"/>
            <a:ext cx="4083287" cy="3591207"/>
          </a:xfrm>
        </p:spPr>
        <p:txBody>
          <a:bodyPr>
            <a:normAutofit/>
          </a:bodyPr>
          <a:lstStyle/>
          <a:p>
            <a:r>
              <a:rPr lang="en-IN" sz="1700"/>
              <a:t>Multiple term entries in a single document are merged</a:t>
            </a:r>
          </a:p>
          <a:p>
            <a:r>
              <a:rPr lang="en-IN" sz="1700"/>
              <a:t>Split into dictionary and postings</a:t>
            </a:r>
          </a:p>
          <a:p>
            <a:endParaRPr lang="en-IN" sz="17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A0EEC-C348-BF7D-9324-AACEFA150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16698" y="6356350"/>
            <a:ext cx="2440767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t>Dr. Richa, Assistant Professor, BIT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440EDB-634B-D077-88D6-3083BED5C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22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74259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B6068-D7A1-60CD-1320-D722C77CB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4D7D2-7C68-EC44-FD30-3648C8EC7F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27B659-802A-C3DB-438F-3A67473E8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Richa, Assistant Professor, BIT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6E9FD5-2D62-225B-614C-1F30138C2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7C00ACB-B1FF-77E9-B12E-BC20458533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0180235"/>
              </p:ext>
            </p:extLst>
          </p:nvPr>
        </p:nvGraphicFramePr>
        <p:xfrm>
          <a:off x="228600" y="76200"/>
          <a:ext cx="1897891" cy="6564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9603">
                  <a:extLst>
                    <a:ext uri="{9D8B030D-6E8A-4147-A177-3AD203B41FA5}">
                      <a16:colId xmlns:a16="http://schemas.microsoft.com/office/drawing/2014/main" val="2358747565"/>
                    </a:ext>
                  </a:extLst>
                </a:gridCol>
                <a:gridCol w="888288">
                  <a:extLst>
                    <a:ext uri="{9D8B030D-6E8A-4147-A177-3AD203B41FA5}">
                      <a16:colId xmlns:a16="http://schemas.microsoft.com/office/drawing/2014/main" val="1719220205"/>
                    </a:ext>
                  </a:extLst>
                </a:gridCol>
              </a:tblGrid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err="1"/>
                        <a:t>DocID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302718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ambitious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896262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4582852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Brutus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349215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Brutus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3179129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Capitol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7035409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Caeser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850896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Caeser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1466289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Caeser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907215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Did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2569216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Enact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7595521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Hath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8747146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4166912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0784296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 err="1"/>
                        <a:t>i</a:t>
                      </a:r>
                      <a:r>
                        <a:rPr lang="en-IN" sz="1400" dirty="0"/>
                        <a:t>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5743784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4018637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Julius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0769898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Killed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0897307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Killed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6519964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28328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74B8365-3577-C744-FEBD-0F626B388A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344568"/>
              </p:ext>
            </p:extLst>
          </p:nvPr>
        </p:nvGraphicFramePr>
        <p:xfrm>
          <a:off x="2126491" y="2746018"/>
          <a:ext cx="2027726" cy="3610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132">
                  <a:extLst>
                    <a:ext uri="{9D8B030D-6E8A-4147-A177-3AD203B41FA5}">
                      <a16:colId xmlns:a16="http://schemas.microsoft.com/office/drawing/2014/main" val="1265301180"/>
                    </a:ext>
                  </a:extLst>
                </a:gridCol>
                <a:gridCol w="768594">
                  <a:extLst>
                    <a:ext uri="{9D8B030D-6E8A-4147-A177-3AD203B41FA5}">
                      <a16:colId xmlns:a16="http://schemas.microsoft.com/office/drawing/2014/main" val="851005271"/>
                    </a:ext>
                  </a:extLst>
                </a:gridCol>
              </a:tblGrid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err="1"/>
                        <a:t>DocID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8731746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5887977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Noble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376329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4437829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The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2739181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The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7416536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Told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815857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You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851343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Was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4625723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Was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9489041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400" dirty="0"/>
                        <a:t>With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827052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4E57CE4-5675-F695-7F71-462DBBDDA2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4516571"/>
              </p:ext>
            </p:extLst>
          </p:nvPr>
        </p:nvGraphicFramePr>
        <p:xfrm>
          <a:off x="4874562" y="136525"/>
          <a:ext cx="1897891" cy="65461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7638">
                  <a:extLst>
                    <a:ext uri="{9D8B030D-6E8A-4147-A177-3AD203B41FA5}">
                      <a16:colId xmlns:a16="http://schemas.microsoft.com/office/drawing/2014/main" val="2358747565"/>
                    </a:ext>
                  </a:extLst>
                </a:gridCol>
                <a:gridCol w="600253">
                  <a:extLst>
                    <a:ext uri="{9D8B030D-6E8A-4147-A177-3AD203B41FA5}">
                      <a16:colId xmlns:a16="http://schemas.microsoft.com/office/drawing/2014/main" val="1719220205"/>
                    </a:ext>
                  </a:extLst>
                </a:gridCol>
              </a:tblGrid>
              <a:tr h="328212">
                <a:tc>
                  <a:txBody>
                    <a:bodyPr/>
                    <a:lstStyle/>
                    <a:p>
                      <a:r>
                        <a:rPr lang="en-IN" sz="1200" dirty="0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Doc </a:t>
                      </a:r>
                      <a:r>
                        <a:rPr lang="en-IN" sz="1200" dirty="0" err="1"/>
                        <a:t>freq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302718"/>
                  </a:ext>
                </a:extLst>
              </a:tr>
              <a:tr h="221063">
                <a:tc>
                  <a:txBody>
                    <a:bodyPr/>
                    <a:lstStyle/>
                    <a:p>
                      <a:r>
                        <a:rPr lang="en-IN" sz="1200" dirty="0"/>
                        <a:t>ambitious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8962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200" dirty="0"/>
                        <a:t>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4582852"/>
                  </a:ext>
                </a:extLst>
              </a:tr>
              <a:tr h="205823">
                <a:tc>
                  <a:txBody>
                    <a:bodyPr/>
                    <a:lstStyle/>
                    <a:p>
                      <a:r>
                        <a:rPr lang="en-IN" sz="1200" dirty="0"/>
                        <a:t>Brutus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349215"/>
                  </a:ext>
                </a:extLst>
              </a:tr>
              <a:tr h="160103">
                <a:tc>
                  <a:txBody>
                    <a:bodyPr/>
                    <a:lstStyle/>
                    <a:p>
                      <a:r>
                        <a:rPr lang="en-IN" sz="1200" dirty="0"/>
                        <a:t>Capitol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7035409"/>
                  </a:ext>
                </a:extLst>
              </a:tr>
              <a:tr h="190583">
                <a:tc>
                  <a:txBody>
                    <a:bodyPr/>
                    <a:lstStyle/>
                    <a:p>
                      <a:r>
                        <a:rPr lang="en-IN" sz="1200" dirty="0"/>
                        <a:t>Caeser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850896"/>
                  </a:ext>
                </a:extLst>
              </a:tr>
              <a:tr h="144863">
                <a:tc>
                  <a:txBody>
                    <a:bodyPr/>
                    <a:lstStyle/>
                    <a:p>
                      <a:r>
                        <a:rPr lang="en-IN" sz="1200" dirty="0"/>
                        <a:t>Did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2569216"/>
                  </a:ext>
                </a:extLst>
              </a:tr>
              <a:tr h="175343">
                <a:tc>
                  <a:txBody>
                    <a:bodyPr/>
                    <a:lstStyle/>
                    <a:p>
                      <a:r>
                        <a:rPr lang="en-IN" sz="1200" dirty="0"/>
                        <a:t>Enact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7595521"/>
                  </a:ext>
                </a:extLst>
              </a:tr>
              <a:tr h="129623">
                <a:tc>
                  <a:txBody>
                    <a:bodyPr/>
                    <a:lstStyle/>
                    <a:p>
                      <a:r>
                        <a:rPr lang="en-IN" sz="1200" dirty="0"/>
                        <a:t>Hath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8747146"/>
                  </a:ext>
                </a:extLst>
              </a:tr>
              <a:tr h="160103">
                <a:tc>
                  <a:txBody>
                    <a:bodyPr/>
                    <a:lstStyle/>
                    <a:p>
                      <a:r>
                        <a:rPr lang="en-IN" sz="1200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4166912"/>
                  </a:ext>
                </a:extLst>
              </a:tr>
              <a:tr h="266783">
                <a:tc>
                  <a:txBody>
                    <a:bodyPr/>
                    <a:lstStyle/>
                    <a:p>
                      <a:r>
                        <a:rPr lang="en-IN" sz="1200" dirty="0" err="1"/>
                        <a:t>i</a:t>
                      </a:r>
                      <a:r>
                        <a:rPr lang="en-IN" sz="1200" dirty="0"/>
                        <a:t>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5743784"/>
                  </a:ext>
                </a:extLst>
              </a:tr>
              <a:tr h="221063">
                <a:tc>
                  <a:txBody>
                    <a:bodyPr/>
                    <a:lstStyle/>
                    <a:p>
                      <a:r>
                        <a:rPr lang="en-IN" sz="1200" dirty="0"/>
                        <a:t>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4018637"/>
                  </a:ext>
                </a:extLst>
              </a:tr>
              <a:tr h="175343">
                <a:tc>
                  <a:txBody>
                    <a:bodyPr/>
                    <a:lstStyle/>
                    <a:p>
                      <a:r>
                        <a:rPr lang="en-IN" sz="1200" dirty="0"/>
                        <a:t>Julius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0769898"/>
                  </a:ext>
                </a:extLst>
              </a:tr>
              <a:tr h="129623">
                <a:tc>
                  <a:txBody>
                    <a:bodyPr/>
                    <a:lstStyle/>
                    <a:p>
                      <a:r>
                        <a:rPr lang="en-IN" sz="1200" dirty="0"/>
                        <a:t>Killed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0897307"/>
                  </a:ext>
                </a:extLst>
              </a:tr>
              <a:tr h="160103">
                <a:tc>
                  <a:txBody>
                    <a:bodyPr/>
                    <a:lstStyle/>
                    <a:p>
                      <a:r>
                        <a:rPr lang="en-IN" sz="1200" dirty="0"/>
                        <a:t>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283288"/>
                  </a:ext>
                </a:extLst>
              </a:tr>
              <a:tr h="190583">
                <a:tc>
                  <a:txBody>
                    <a:bodyPr/>
                    <a:lstStyle/>
                    <a:p>
                      <a:r>
                        <a:rPr lang="en-IN" sz="1200" dirty="0"/>
                        <a:t>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423523"/>
                  </a:ext>
                </a:extLst>
              </a:tr>
              <a:tr h="144863">
                <a:tc>
                  <a:txBody>
                    <a:bodyPr/>
                    <a:lstStyle/>
                    <a:p>
                      <a:r>
                        <a:rPr lang="en-IN" sz="1200" dirty="0"/>
                        <a:t>Noble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3530002"/>
                  </a:ext>
                </a:extLst>
              </a:tr>
              <a:tr h="175343">
                <a:tc>
                  <a:txBody>
                    <a:bodyPr/>
                    <a:lstStyle/>
                    <a:p>
                      <a:r>
                        <a:rPr lang="en-IN" sz="1200" dirty="0"/>
                        <a:t>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8744953"/>
                  </a:ext>
                </a:extLst>
              </a:tr>
              <a:tr h="205823">
                <a:tc>
                  <a:txBody>
                    <a:bodyPr/>
                    <a:lstStyle/>
                    <a:p>
                      <a:r>
                        <a:rPr lang="en-IN" sz="1200" dirty="0"/>
                        <a:t>The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02445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200" dirty="0"/>
                        <a:t>Told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1224057"/>
                  </a:ext>
                </a:extLst>
              </a:tr>
              <a:tr h="190583">
                <a:tc>
                  <a:txBody>
                    <a:bodyPr/>
                    <a:lstStyle/>
                    <a:p>
                      <a:r>
                        <a:rPr lang="en-IN" sz="1200" dirty="0"/>
                        <a:t>You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1018699"/>
                  </a:ext>
                </a:extLst>
              </a:tr>
              <a:tr h="144863">
                <a:tc>
                  <a:txBody>
                    <a:bodyPr/>
                    <a:lstStyle/>
                    <a:p>
                      <a:r>
                        <a:rPr lang="en-IN" sz="1200" dirty="0"/>
                        <a:t>Was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9138742"/>
                  </a:ext>
                </a:extLst>
              </a:tr>
              <a:tr h="328212">
                <a:tc>
                  <a:txBody>
                    <a:bodyPr/>
                    <a:lstStyle/>
                    <a:p>
                      <a:r>
                        <a:rPr lang="en-IN" sz="1200" dirty="0"/>
                        <a:t>With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37327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04E0D71-499D-6F8C-9E3A-8698B296C507}"/>
              </a:ext>
            </a:extLst>
          </p:cNvPr>
          <p:cNvCxnSpPr/>
          <p:nvPr/>
        </p:nvCxnSpPr>
        <p:spPr>
          <a:xfrm>
            <a:off x="6788909" y="685800"/>
            <a:ext cx="45009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DFF35EB-5FE9-E7BD-A56C-0526544FED32}"/>
              </a:ext>
            </a:extLst>
          </p:cNvPr>
          <p:cNvCxnSpPr/>
          <p:nvPr/>
        </p:nvCxnSpPr>
        <p:spPr>
          <a:xfrm>
            <a:off x="6781800" y="990600"/>
            <a:ext cx="45009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1E316B1-D59A-99F5-E0FA-F74CA1DA6BF1}"/>
              </a:ext>
            </a:extLst>
          </p:cNvPr>
          <p:cNvCxnSpPr/>
          <p:nvPr/>
        </p:nvCxnSpPr>
        <p:spPr>
          <a:xfrm>
            <a:off x="6781800" y="1295400"/>
            <a:ext cx="45009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66B52F4-CB84-8FD8-1889-99BB758FE5BB}"/>
              </a:ext>
            </a:extLst>
          </p:cNvPr>
          <p:cNvCxnSpPr/>
          <p:nvPr/>
        </p:nvCxnSpPr>
        <p:spPr>
          <a:xfrm>
            <a:off x="6781800" y="1524000"/>
            <a:ext cx="45009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3A5220C-02F8-8BC8-9234-71E2CA832B0D}"/>
              </a:ext>
            </a:extLst>
          </p:cNvPr>
          <p:cNvCxnSpPr/>
          <p:nvPr/>
        </p:nvCxnSpPr>
        <p:spPr>
          <a:xfrm>
            <a:off x="6781800" y="1828800"/>
            <a:ext cx="45009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10A8E2C-CDBA-871D-E05C-C06D961051FE}"/>
              </a:ext>
            </a:extLst>
          </p:cNvPr>
          <p:cNvCxnSpPr/>
          <p:nvPr/>
        </p:nvCxnSpPr>
        <p:spPr>
          <a:xfrm>
            <a:off x="6781800" y="2133600"/>
            <a:ext cx="45009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85B46B7-D3D8-F349-AF4D-956405166D79}"/>
              </a:ext>
            </a:extLst>
          </p:cNvPr>
          <p:cNvCxnSpPr/>
          <p:nvPr/>
        </p:nvCxnSpPr>
        <p:spPr>
          <a:xfrm>
            <a:off x="6781800" y="2362200"/>
            <a:ext cx="45009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8F6D780-D90D-3957-4E13-E5B8363399C6}"/>
              </a:ext>
            </a:extLst>
          </p:cNvPr>
          <p:cNvCxnSpPr/>
          <p:nvPr/>
        </p:nvCxnSpPr>
        <p:spPr>
          <a:xfrm>
            <a:off x="6781800" y="2667000"/>
            <a:ext cx="45009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0DBD05D-C554-7274-1B69-CA3F77A1CAF4}"/>
              </a:ext>
            </a:extLst>
          </p:cNvPr>
          <p:cNvCxnSpPr/>
          <p:nvPr/>
        </p:nvCxnSpPr>
        <p:spPr>
          <a:xfrm>
            <a:off x="6781800" y="2895600"/>
            <a:ext cx="45009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E6714E9-2E43-8577-0803-A2C98271A601}"/>
              </a:ext>
            </a:extLst>
          </p:cNvPr>
          <p:cNvCxnSpPr/>
          <p:nvPr/>
        </p:nvCxnSpPr>
        <p:spPr>
          <a:xfrm>
            <a:off x="6781800" y="3200400"/>
            <a:ext cx="45009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24F6916-4C2A-7212-3DB6-96BB904108E1}"/>
              </a:ext>
            </a:extLst>
          </p:cNvPr>
          <p:cNvCxnSpPr/>
          <p:nvPr/>
        </p:nvCxnSpPr>
        <p:spPr>
          <a:xfrm>
            <a:off x="6781800" y="3505200"/>
            <a:ext cx="45009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D31B025-FBBF-C8A9-158B-52F992454686}"/>
              </a:ext>
            </a:extLst>
          </p:cNvPr>
          <p:cNvCxnSpPr/>
          <p:nvPr/>
        </p:nvCxnSpPr>
        <p:spPr>
          <a:xfrm>
            <a:off x="6781800" y="3733800"/>
            <a:ext cx="45009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F47472C-1CF3-CFF3-39E6-009A78F434DD}"/>
              </a:ext>
            </a:extLst>
          </p:cNvPr>
          <p:cNvCxnSpPr/>
          <p:nvPr/>
        </p:nvCxnSpPr>
        <p:spPr>
          <a:xfrm>
            <a:off x="6781800" y="4038600"/>
            <a:ext cx="45009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14F9DC7-24D7-2378-FFB7-19FAF4357B3D}"/>
              </a:ext>
            </a:extLst>
          </p:cNvPr>
          <p:cNvCxnSpPr/>
          <p:nvPr/>
        </p:nvCxnSpPr>
        <p:spPr>
          <a:xfrm>
            <a:off x="6781800" y="4267200"/>
            <a:ext cx="45009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8CDA865-7A07-64ED-AD57-EF9059066945}"/>
              </a:ext>
            </a:extLst>
          </p:cNvPr>
          <p:cNvCxnSpPr/>
          <p:nvPr/>
        </p:nvCxnSpPr>
        <p:spPr>
          <a:xfrm>
            <a:off x="6781800" y="4572000"/>
            <a:ext cx="45009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F10F407-05C6-DCA5-BF9A-7C92609B6430}"/>
              </a:ext>
            </a:extLst>
          </p:cNvPr>
          <p:cNvCxnSpPr/>
          <p:nvPr/>
        </p:nvCxnSpPr>
        <p:spPr>
          <a:xfrm>
            <a:off x="6781800" y="4876800"/>
            <a:ext cx="45009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36B6E2F-8EE3-A8AC-FC0E-1C18D27587A6}"/>
              </a:ext>
            </a:extLst>
          </p:cNvPr>
          <p:cNvCxnSpPr/>
          <p:nvPr/>
        </p:nvCxnSpPr>
        <p:spPr>
          <a:xfrm>
            <a:off x="6781800" y="5105400"/>
            <a:ext cx="45009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FD830F5-66DA-DFA4-BC3C-2619E13B87D8}"/>
              </a:ext>
            </a:extLst>
          </p:cNvPr>
          <p:cNvCxnSpPr/>
          <p:nvPr/>
        </p:nvCxnSpPr>
        <p:spPr>
          <a:xfrm>
            <a:off x="6781800" y="5410200"/>
            <a:ext cx="45009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F9206E0-FE8C-A63A-400C-45A369F63135}"/>
              </a:ext>
            </a:extLst>
          </p:cNvPr>
          <p:cNvCxnSpPr/>
          <p:nvPr/>
        </p:nvCxnSpPr>
        <p:spPr>
          <a:xfrm>
            <a:off x="6781800" y="5638800"/>
            <a:ext cx="45009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62E918D-E8BF-F994-AF31-DB55CE2A2059}"/>
              </a:ext>
            </a:extLst>
          </p:cNvPr>
          <p:cNvCxnSpPr/>
          <p:nvPr/>
        </p:nvCxnSpPr>
        <p:spPr>
          <a:xfrm>
            <a:off x="6781800" y="5943600"/>
            <a:ext cx="45009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1714433-BA1D-FB64-E1B3-3464CAC70B39}"/>
              </a:ext>
            </a:extLst>
          </p:cNvPr>
          <p:cNvCxnSpPr/>
          <p:nvPr/>
        </p:nvCxnSpPr>
        <p:spPr>
          <a:xfrm>
            <a:off x="6781800" y="6172200"/>
            <a:ext cx="45009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3B82733-D8E1-6CA2-E2BE-21B83243C0E6}"/>
              </a:ext>
            </a:extLst>
          </p:cNvPr>
          <p:cNvCxnSpPr/>
          <p:nvPr/>
        </p:nvCxnSpPr>
        <p:spPr>
          <a:xfrm>
            <a:off x="6781800" y="6477000"/>
            <a:ext cx="45009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95358CBB-AE33-A8A4-C39F-36E8D62ACA1B}"/>
              </a:ext>
            </a:extLst>
          </p:cNvPr>
          <p:cNvSpPr/>
          <p:nvPr/>
        </p:nvSpPr>
        <p:spPr>
          <a:xfrm>
            <a:off x="7277100" y="533400"/>
            <a:ext cx="450091" cy="2365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B44067B-D57E-EC40-9DDB-993104DE69CE}"/>
              </a:ext>
            </a:extLst>
          </p:cNvPr>
          <p:cNvSpPr/>
          <p:nvPr/>
        </p:nvSpPr>
        <p:spPr>
          <a:xfrm>
            <a:off x="7239000" y="830272"/>
            <a:ext cx="450091" cy="2365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EC3D03C-0F6C-AA3B-7AE8-BCEF2625097A}"/>
              </a:ext>
            </a:extLst>
          </p:cNvPr>
          <p:cNvSpPr/>
          <p:nvPr/>
        </p:nvSpPr>
        <p:spPr>
          <a:xfrm>
            <a:off x="7239000" y="1135072"/>
            <a:ext cx="450091" cy="2365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007B65C-81D1-061A-DBC7-815C320160FB}"/>
              </a:ext>
            </a:extLst>
          </p:cNvPr>
          <p:cNvSpPr/>
          <p:nvPr/>
        </p:nvSpPr>
        <p:spPr>
          <a:xfrm>
            <a:off x="7239000" y="1439872"/>
            <a:ext cx="450091" cy="2365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082011E-C051-EDEC-926A-E329ACA9B751}"/>
              </a:ext>
            </a:extLst>
          </p:cNvPr>
          <p:cNvSpPr/>
          <p:nvPr/>
        </p:nvSpPr>
        <p:spPr>
          <a:xfrm>
            <a:off x="7277100" y="1752600"/>
            <a:ext cx="450091" cy="2365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5B5E9BE-B7AB-3197-8504-A490182EF9F6}"/>
              </a:ext>
            </a:extLst>
          </p:cNvPr>
          <p:cNvSpPr/>
          <p:nvPr/>
        </p:nvSpPr>
        <p:spPr>
          <a:xfrm>
            <a:off x="7239000" y="2049472"/>
            <a:ext cx="450091" cy="2365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A83FBB0-CF96-D2EC-B7EB-A45595624355}"/>
              </a:ext>
            </a:extLst>
          </p:cNvPr>
          <p:cNvSpPr/>
          <p:nvPr/>
        </p:nvSpPr>
        <p:spPr>
          <a:xfrm>
            <a:off x="7239000" y="2354272"/>
            <a:ext cx="450091" cy="2365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92DDEA4-3FBB-626D-E4E3-8247AD19D458}"/>
              </a:ext>
            </a:extLst>
          </p:cNvPr>
          <p:cNvSpPr/>
          <p:nvPr/>
        </p:nvSpPr>
        <p:spPr>
          <a:xfrm>
            <a:off x="7239000" y="2659072"/>
            <a:ext cx="450091" cy="2365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FE26D0C-F5DE-77A8-95E5-407D02F60CB2}"/>
              </a:ext>
            </a:extLst>
          </p:cNvPr>
          <p:cNvSpPr/>
          <p:nvPr/>
        </p:nvSpPr>
        <p:spPr>
          <a:xfrm>
            <a:off x="7277100" y="3048000"/>
            <a:ext cx="450091" cy="2365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FE38377-850B-33BE-5608-AC7735D96A39}"/>
              </a:ext>
            </a:extLst>
          </p:cNvPr>
          <p:cNvSpPr/>
          <p:nvPr/>
        </p:nvSpPr>
        <p:spPr>
          <a:xfrm>
            <a:off x="7239000" y="3344872"/>
            <a:ext cx="450091" cy="2365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A399A96-2C69-1C45-5EAC-30A6B292C7E1}"/>
              </a:ext>
            </a:extLst>
          </p:cNvPr>
          <p:cNvSpPr/>
          <p:nvPr/>
        </p:nvSpPr>
        <p:spPr>
          <a:xfrm>
            <a:off x="7239000" y="3649672"/>
            <a:ext cx="450091" cy="2365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5E4C30F-49B0-6ED3-3718-5E9B2947CD92}"/>
              </a:ext>
            </a:extLst>
          </p:cNvPr>
          <p:cNvSpPr/>
          <p:nvPr/>
        </p:nvSpPr>
        <p:spPr>
          <a:xfrm>
            <a:off x="7239000" y="3954472"/>
            <a:ext cx="450091" cy="2365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622E7A6-4B7D-21FD-E0CF-20FDCF014C13}"/>
              </a:ext>
            </a:extLst>
          </p:cNvPr>
          <p:cNvSpPr/>
          <p:nvPr/>
        </p:nvSpPr>
        <p:spPr>
          <a:xfrm>
            <a:off x="7239000" y="4191000"/>
            <a:ext cx="450091" cy="2365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3231B71-C38A-E1D7-5E83-9278FF58A3E5}"/>
              </a:ext>
            </a:extLst>
          </p:cNvPr>
          <p:cNvSpPr/>
          <p:nvPr/>
        </p:nvSpPr>
        <p:spPr>
          <a:xfrm>
            <a:off x="7239000" y="4456470"/>
            <a:ext cx="450091" cy="2365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E3A8F20-EEEC-1F5F-108A-66DE83EA3490}"/>
              </a:ext>
            </a:extLst>
          </p:cNvPr>
          <p:cNvSpPr/>
          <p:nvPr/>
        </p:nvSpPr>
        <p:spPr>
          <a:xfrm>
            <a:off x="7239000" y="4724400"/>
            <a:ext cx="450091" cy="2365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71BECB9-3C9B-5379-0293-7976643FED3E}"/>
              </a:ext>
            </a:extLst>
          </p:cNvPr>
          <p:cNvSpPr/>
          <p:nvPr/>
        </p:nvSpPr>
        <p:spPr>
          <a:xfrm>
            <a:off x="7239000" y="5029200"/>
            <a:ext cx="450091" cy="2365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F26E3C5-B94A-4F3F-C9FA-4F5A61C80EE5}"/>
              </a:ext>
            </a:extLst>
          </p:cNvPr>
          <p:cNvSpPr/>
          <p:nvPr/>
        </p:nvSpPr>
        <p:spPr>
          <a:xfrm>
            <a:off x="7239000" y="5249872"/>
            <a:ext cx="450091" cy="2365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864A083-89A4-BB86-F140-473C8133C1EF}"/>
              </a:ext>
            </a:extLst>
          </p:cNvPr>
          <p:cNvSpPr/>
          <p:nvPr/>
        </p:nvSpPr>
        <p:spPr>
          <a:xfrm>
            <a:off x="7239000" y="5554672"/>
            <a:ext cx="450091" cy="2365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68D35E5-E327-8898-0003-C81B845FDEAF}"/>
              </a:ext>
            </a:extLst>
          </p:cNvPr>
          <p:cNvSpPr/>
          <p:nvPr/>
        </p:nvSpPr>
        <p:spPr>
          <a:xfrm>
            <a:off x="7239000" y="5859472"/>
            <a:ext cx="450091" cy="2365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2EB88D4-E36D-0214-315F-396584C9DE61}"/>
              </a:ext>
            </a:extLst>
          </p:cNvPr>
          <p:cNvSpPr/>
          <p:nvPr/>
        </p:nvSpPr>
        <p:spPr>
          <a:xfrm>
            <a:off x="7239000" y="6088072"/>
            <a:ext cx="450091" cy="2365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92F4A6A-7F90-E9B2-430C-0E3D5197E12B}"/>
              </a:ext>
            </a:extLst>
          </p:cNvPr>
          <p:cNvSpPr/>
          <p:nvPr/>
        </p:nvSpPr>
        <p:spPr>
          <a:xfrm>
            <a:off x="7239000" y="6316672"/>
            <a:ext cx="450091" cy="2365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A4ED894-9FA2-928F-DCE8-0B8192056ADC}"/>
              </a:ext>
            </a:extLst>
          </p:cNvPr>
          <p:cNvSpPr/>
          <p:nvPr/>
        </p:nvSpPr>
        <p:spPr>
          <a:xfrm>
            <a:off x="6934200" y="117498"/>
            <a:ext cx="1516891" cy="2793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Posting List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C1A744CF-E977-F0B6-795A-204DBFFA3267}"/>
              </a:ext>
            </a:extLst>
          </p:cNvPr>
          <p:cNvCxnSpPr/>
          <p:nvPr/>
        </p:nvCxnSpPr>
        <p:spPr>
          <a:xfrm>
            <a:off x="7703309" y="1227128"/>
            <a:ext cx="45009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3CC1523C-40DA-A46D-4066-CCBCCDA65151}"/>
              </a:ext>
            </a:extLst>
          </p:cNvPr>
          <p:cNvSpPr/>
          <p:nvPr/>
        </p:nvSpPr>
        <p:spPr>
          <a:xfrm>
            <a:off x="8160509" y="1066800"/>
            <a:ext cx="450091" cy="2365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4B6C82D8-D66C-5B19-D00A-7D9946B86908}"/>
              </a:ext>
            </a:extLst>
          </p:cNvPr>
          <p:cNvCxnSpPr/>
          <p:nvPr/>
        </p:nvCxnSpPr>
        <p:spPr>
          <a:xfrm>
            <a:off x="7772400" y="1905000"/>
            <a:ext cx="45009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E3EC23B9-1A71-25A7-2D66-30A987448498}"/>
              </a:ext>
            </a:extLst>
          </p:cNvPr>
          <p:cNvSpPr/>
          <p:nvPr/>
        </p:nvSpPr>
        <p:spPr>
          <a:xfrm>
            <a:off x="8229600" y="1744672"/>
            <a:ext cx="450091" cy="2365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5EDAE61D-7939-FE0F-59BB-1C7F1D4D1898}"/>
              </a:ext>
            </a:extLst>
          </p:cNvPr>
          <p:cNvCxnSpPr/>
          <p:nvPr/>
        </p:nvCxnSpPr>
        <p:spPr>
          <a:xfrm>
            <a:off x="7772400" y="5418128"/>
            <a:ext cx="45009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C35DEB29-53A1-BAC2-8067-0FCEB1A298BB}"/>
              </a:ext>
            </a:extLst>
          </p:cNvPr>
          <p:cNvSpPr/>
          <p:nvPr/>
        </p:nvSpPr>
        <p:spPr>
          <a:xfrm>
            <a:off x="8229600" y="5257800"/>
            <a:ext cx="450091" cy="2365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E5361DBE-C7F5-5E69-0DF4-F4E73D3F592A}"/>
              </a:ext>
            </a:extLst>
          </p:cNvPr>
          <p:cNvCxnSpPr/>
          <p:nvPr/>
        </p:nvCxnSpPr>
        <p:spPr>
          <a:xfrm>
            <a:off x="7772400" y="6172200"/>
            <a:ext cx="45009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C5256206-A243-D2BD-797F-87B846C72705}"/>
              </a:ext>
            </a:extLst>
          </p:cNvPr>
          <p:cNvSpPr/>
          <p:nvPr/>
        </p:nvSpPr>
        <p:spPr>
          <a:xfrm>
            <a:off x="8229600" y="6011872"/>
            <a:ext cx="450091" cy="2365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1966981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41761-FA65-09D8-2168-22012CF8E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3794"/>
            <a:ext cx="7467600" cy="1143000"/>
          </a:xfrm>
        </p:spPr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CC988-0D36-EE39-DC9B-39AA7F35AA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r>
              <a:rPr lang="en-IN" sz="1400" b="1" dirty="0"/>
              <a:t>Query=“Brutus and Caeser </a:t>
            </a:r>
          </a:p>
          <a:p>
            <a:pPr marL="0" indent="0">
              <a:buNone/>
            </a:pPr>
            <a:r>
              <a:rPr lang="en-IN" sz="1400" b="1" dirty="0"/>
              <a:t>and not Calpurnia”</a:t>
            </a:r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r>
              <a:rPr lang="en-IN" sz="1400" b="1" dirty="0"/>
              <a:t>Results=?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D01873-7FA3-C1EF-3159-E5E382FD5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Richa, Assistant Professor, BIT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38FB85-0876-44D1-3B51-75561E919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70881D-058A-12CF-2BEB-C6712FF37875}"/>
              </a:ext>
            </a:extLst>
          </p:cNvPr>
          <p:cNvSpPr/>
          <p:nvPr/>
        </p:nvSpPr>
        <p:spPr>
          <a:xfrm>
            <a:off x="2743200" y="2539181"/>
            <a:ext cx="1219200" cy="91440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Retrieval System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955E2FD-97A6-124A-E2D1-3C6D4C6016ED}"/>
              </a:ext>
            </a:extLst>
          </p:cNvPr>
          <p:cNvCxnSpPr/>
          <p:nvPr/>
        </p:nvCxnSpPr>
        <p:spPr>
          <a:xfrm>
            <a:off x="609600" y="2971800"/>
            <a:ext cx="198120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9F7DEA1-6EE0-D27F-D712-393AE573607B}"/>
              </a:ext>
            </a:extLst>
          </p:cNvPr>
          <p:cNvCxnSpPr>
            <a:cxnSpLocks/>
          </p:cNvCxnSpPr>
          <p:nvPr/>
        </p:nvCxnSpPr>
        <p:spPr>
          <a:xfrm flipH="1">
            <a:off x="609600" y="3276600"/>
            <a:ext cx="194310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22FFD9F-4EB4-48BA-0D69-C9705CBC967B}"/>
              </a:ext>
            </a:extLst>
          </p:cNvPr>
          <p:cNvCxnSpPr>
            <a:stCxn id="6" idx="3"/>
          </p:cNvCxnSpPr>
          <p:nvPr/>
        </p:nvCxnSpPr>
        <p:spPr>
          <a:xfrm>
            <a:off x="3962400" y="2996381"/>
            <a:ext cx="1143000" cy="0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3668A43D-8437-5C2E-FE4B-D97B5CD8E66A}"/>
              </a:ext>
            </a:extLst>
          </p:cNvPr>
          <p:cNvSpPr/>
          <p:nvPr/>
        </p:nvSpPr>
        <p:spPr>
          <a:xfrm>
            <a:off x="5105400" y="2504767"/>
            <a:ext cx="2057400" cy="122902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r>
              <a:rPr lang="en-IN" dirty="0"/>
              <a:t>Collection</a:t>
            </a:r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AC2A2D5-12B2-DFDA-61CD-3DC5F897B67A}"/>
              </a:ext>
            </a:extLst>
          </p:cNvPr>
          <p:cNvSpPr/>
          <p:nvPr/>
        </p:nvSpPr>
        <p:spPr>
          <a:xfrm>
            <a:off x="5257800" y="2971800"/>
            <a:ext cx="1752600" cy="6096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Inverted Index</a:t>
            </a:r>
          </a:p>
        </p:txBody>
      </p:sp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BE80C6E2-E4AA-41D3-9338-A36FD99AA395}"/>
              </a:ext>
            </a:extLst>
          </p:cNvPr>
          <p:cNvCxnSpPr/>
          <p:nvPr/>
        </p:nvCxnSpPr>
        <p:spPr>
          <a:xfrm rot="5400000">
            <a:off x="5867400" y="1785784"/>
            <a:ext cx="838200" cy="533400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Flowchart: Multidocument 10">
            <a:extLst>
              <a:ext uri="{FF2B5EF4-FFF2-40B4-BE49-F238E27FC236}">
                <a16:creationId xmlns:a16="http://schemas.microsoft.com/office/drawing/2014/main" id="{DC4F6981-785C-4E7D-E730-DC487F591D4D}"/>
              </a:ext>
            </a:extLst>
          </p:cNvPr>
          <p:cNvSpPr/>
          <p:nvPr/>
        </p:nvSpPr>
        <p:spPr>
          <a:xfrm>
            <a:off x="6553200" y="707923"/>
            <a:ext cx="1524000" cy="1026805"/>
          </a:xfrm>
          <a:prstGeom prst="flowChartMultidocumen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Document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2DE4DE-65A4-BC11-5A3B-8B328B67110E}"/>
              </a:ext>
            </a:extLst>
          </p:cNvPr>
          <p:cNvSpPr/>
          <p:nvPr/>
        </p:nvSpPr>
        <p:spPr>
          <a:xfrm>
            <a:off x="4815348" y="1647825"/>
            <a:ext cx="1219200" cy="42401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Indexing</a:t>
            </a:r>
          </a:p>
        </p:txBody>
      </p:sp>
    </p:spTree>
    <p:extLst>
      <p:ext uri="{BB962C8B-B14F-4D97-AF65-F5344CB8AC3E}">
        <p14:creationId xmlns:p14="http://schemas.microsoft.com/office/powerpoint/2010/main" val="2985275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27492</TotalTime>
  <Words>1252</Words>
  <Application>Microsoft Office PowerPoint</Application>
  <PresentationFormat>On-screen Show (4:3)</PresentationFormat>
  <Paragraphs>740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Book Antiqua</vt:lpstr>
      <vt:lpstr>Calibri</vt:lpstr>
      <vt:lpstr>Lucida Sans</vt:lpstr>
      <vt:lpstr>Office Theme</vt:lpstr>
      <vt:lpstr>To make a Retrieval System</vt:lpstr>
      <vt:lpstr>Outline</vt:lpstr>
      <vt:lpstr>PowerPoint Presentation</vt:lpstr>
      <vt:lpstr>The problem</vt:lpstr>
      <vt:lpstr>One Possible Solution</vt:lpstr>
      <vt:lpstr>Problem with the approach</vt:lpstr>
      <vt:lpstr>Representing document as a term document incidence matrix</vt:lpstr>
      <vt:lpstr>Representing document as a term document incidence matrix</vt:lpstr>
      <vt:lpstr>Boolean Retrieval Model</vt:lpstr>
      <vt:lpstr>Simple Conjunctive Queries</vt:lpstr>
      <vt:lpstr>A Term-document Incidence Matrix Example</vt:lpstr>
      <vt:lpstr>“Brutus &amp; Caeser and not Calpurnia”</vt:lpstr>
      <vt:lpstr>Disadvantage of Term Document Matrix</vt:lpstr>
      <vt:lpstr>Idea</vt:lpstr>
      <vt:lpstr>The problem</vt:lpstr>
      <vt:lpstr>Solution</vt:lpstr>
      <vt:lpstr>A Term-document Incidence Matrix Example</vt:lpstr>
      <vt:lpstr>Converting the previous example in linked list form</vt:lpstr>
      <vt:lpstr>Tokenization</vt:lpstr>
      <vt:lpstr>Tokenization</vt:lpstr>
      <vt:lpstr>                 Sort</vt:lpstr>
      <vt:lpstr>Inverted index: Dictionary &amp; Postings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richa</dc:creator>
  <cp:lastModifiedBy>richa singh</cp:lastModifiedBy>
  <cp:revision>989</cp:revision>
  <dcterms:created xsi:type="dcterms:W3CDTF">2006-08-16T00:00:00Z</dcterms:created>
  <dcterms:modified xsi:type="dcterms:W3CDTF">2023-08-02T06:15:59Z</dcterms:modified>
</cp:coreProperties>
</file>