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460" r:id="rId2"/>
    <p:sldId id="472" r:id="rId3"/>
    <p:sldId id="456" r:id="rId4"/>
    <p:sldId id="457" r:id="rId5"/>
    <p:sldId id="257" r:id="rId6"/>
    <p:sldId id="461" r:id="rId7"/>
    <p:sldId id="458" r:id="rId8"/>
    <p:sldId id="464" r:id="rId9"/>
    <p:sldId id="465" r:id="rId10"/>
    <p:sldId id="466" r:id="rId11"/>
    <p:sldId id="4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9C741-A3B9-4BC3-892D-6EBD141FCEF4}" type="datetimeFigureOut">
              <a:rPr lang="en-US" smtClean="0"/>
              <a:pPr/>
              <a:t>7/31/2023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314CA-13B7-4AC8-87AD-637999ED41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8DBC-711F-4E7E-A88D-1A8E228D1401}" type="datetime1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E06-A78C-43D4-AEE8-B66F33337211}" type="datetime1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A337-F6F3-4354-A05F-C8C7A1CED91B}" type="datetime1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47DD-E59F-407E-8560-0196F89C2BF8}" type="datetime1">
              <a:rPr lang="en-US" smtClean="0"/>
              <a:t>7/31/2023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5F74-074B-4F18-91F0-FD4D2CA30FA7}" type="datetime1">
              <a:rPr lang="en-US" smtClean="0"/>
              <a:t>7/31/2023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D313-4A7D-4CA6-A3AA-4190DABD267B}" type="datetime1">
              <a:rPr lang="en-US" smtClean="0"/>
              <a:t>7/31/2023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102C-0059-4262-A68D-EA2042C88588}" type="datetime1">
              <a:rPr lang="en-US" smtClean="0"/>
              <a:t>7/31/2023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F7B1-B2BE-440E-937E-5E65DA6A09BE}" type="datetime1">
              <a:rPr lang="en-US" smtClean="0"/>
              <a:t>7/31/2023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48804-9406-46C1-BDF5-B620EC0D6E11}" type="datetime1">
              <a:rPr lang="en-US" smtClean="0"/>
              <a:t>7/31/2023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509DC-FF49-4ADB-841A-06BA4F693A6B}" type="datetime1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D5EE-F32A-45B3-B9C7-FD8ED85DD0D8}" type="datetime1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2795C-1B7C-4CD1-99AD-DCA8D821BFF5}" type="datetime1">
              <a:rPr lang="en-US" smtClean="0"/>
              <a:t>7/31/2023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Pipette adding DNA sample to a petri dish">
            <a:extLst>
              <a:ext uri="{FF2B5EF4-FFF2-40B4-BE49-F238E27FC236}">
                <a16:creationId xmlns:a16="http://schemas.microsoft.com/office/drawing/2014/main" id="{4D6400B9-F710-2461-C582-5E1E8097B9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8C7F6B-C195-E3AE-6721-404963E8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rgbClr val="FFFFFF"/>
                </a:solidFill>
              </a:rPr>
              <a:t>Information Retrieval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82117-0418-4105-0989-1EC880461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000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9FFE9-7A40-6D57-0690-5F258EFD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 sz="1000" smtClean="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sz="10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85295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F70F1-936C-AB65-21A7-B7301CFB7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IN" sz="4700"/>
              <a:t>Outline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  <a:gd name="connsiteX0" fmla="*/ 0 w 2606040"/>
              <a:gd name="connsiteY0" fmla="*/ 0 h 18288"/>
              <a:gd name="connsiteX1" fmla="*/ 599389 w 2606040"/>
              <a:gd name="connsiteY1" fmla="*/ 0 h 18288"/>
              <a:gd name="connsiteX2" fmla="*/ 1303020 w 2606040"/>
              <a:gd name="connsiteY2" fmla="*/ 0 h 18288"/>
              <a:gd name="connsiteX3" fmla="*/ 1876349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80590 w 2606040"/>
              <a:gd name="connsiteY6" fmla="*/ 18288 h 18288"/>
              <a:gd name="connsiteX7" fmla="*/ 1276960 w 2606040"/>
              <a:gd name="connsiteY7" fmla="*/ 18288 h 18288"/>
              <a:gd name="connsiteX8" fmla="*/ 65151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11079" y="-22080"/>
                  <a:pt x="479378" y="-26537"/>
                  <a:pt x="625450" y="0"/>
                </a:cubicBezTo>
                <a:cubicBezTo>
                  <a:pt x="925937" y="-4758"/>
                  <a:pt x="973176" y="15739"/>
                  <a:pt x="1224839" y="0"/>
                </a:cubicBezTo>
                <a:cubicBezTo>
                  <a:pt x="1479663" y="-11328"/>
                  <a:pt x="1566636" y="18697"/>
                  <a:pt x="1824228" y="0"/>
                </a:cubicBezTo>
                <a:cubicBezTo>
                  <a:pt x="2086799" y="-72665"/>
                  <a:pt x="2306223" y="-891"/>
                  <a:pt x="2606040" y="0"/>
                </a:cubicBezTo>
                <a:cubicBezTo>
                  <a:pt x="2606645" y="4461"/>
                  <a:pt x="2607031" y="13181"/>
                  <a:pt x="2606040" y="18288"/>
                </a:cubicBezTo>
                <a:cubicBezTo>
                  <a:pt x="2260204" y="29342"/>
                  <a:pt x="2175708" y="5614"/>
                  <a:pt x="1902409" y="18288"/>
                </a:cubicBezTo>
                <a:cubicBezTo>
                  <a:pt x="1638502" y="41064"/>
                  <a:pt x="1460923" y="-16269"/>
                  <a:pt x="1276960" y="18288"/>
                </a:cubicBezTo>
                <a:cubicBezTo>
                  <a:pt x="1057717" y="14361"/>
                  <a:pt x="867956" y="2320"/>
                  <a:pt x="677570" y="18288"/>
                </a:cubicBezTo>
                <a:cubicBezTo>
                  <a:pt x="457951" y="33373"/>
                  <a:pt x="189752" y="55388"/>
                  <a:pt x="0" y="18288"/>
                </a:cubicBezTo>
                <a:cubicBezTo>
                  <a:pt x="1586" y="13022"/>
                  <a:pt x="-95" y="4569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72759" y="3236"/>
                  <a:pt x="361166" y="-13413"/>
                  <a:pt x="599389" y="0"/>
                </a:cubicBezTo>
                <a:cubicBezTo>
                  <a:pt x="841226" y="37042"/>
                  <a:pt x="968991" y="14587"/>
                  <a:pt x="1303020" y="0"/>
                </a:cubicBezTo>
                <a:cubicBezTo>
                  <a:pt x="1643101" y="-7120"/>
                  <a:pt x="1717813" y="7213"/>
                  <a:pt x="1876349" y="0"/>
                </a:cubicBezTo>
                <a:cubicBezTo>
                  <a:pt x="2036762" y="-14138"/>
                  <a:pt x="2426397" y="-4451"/>
                  <a:pt x="2606040" y="0"/>
                </a:cubicBezTo>
                <a:cubicBezTo>
                  <a:pt x="2606314" y="8448"/>
                  <a:pt x="2606550" y="14527"/>
                  <a:pt x="2606040" y="18288"/>
                </a:cubicBezTo>
                <a:cubicBezTo>
                  <a:pt x="2344840" y="2643"/>
                  <a:pt x="2192043" y="7399"/>
                  <a:pt x="1980590" y="18288"/>
                </a:cubicBezTo>
                <a:cubicBezTo>
                  <a:pt x="1783984" y="-9745"/>
                  <a:pt x="1487673" y="45908"/>
                  <a:pt x="1276960" y="18288"/>
                </a:cubicBezTo>
                <a:cubicBezTo>
                  <a:pt x="1088134" y="-41257"/>
                  <a:pt x="877974" y="49968"/>
                  <a:pt x="651510" y="18288"/>
                </a:cubicBezTo>
                <a:cubicBezTo>
                  <a:pt x="430798" y="-27764"/>
                  <a:pt x="132889" y="-33467"/>
                  <a:pt x="0" y="18288"/>
                </a:cubicBezTo>
                <a:cubicBezTo>
                  <a:pt x="212" y="10845"/>
                  <a:pt x="-833" y="6193"/>
                  <a:pt x="0" y="0"/>
                </a:cubicBezTo>
                <a:close/>
              </a:path>
              <a:path w="2606040" h="18288" fill="none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27712" y="6878"/>
                  <a:pt x="971143" y="7084"/>
                  <a:pt x="1224839" y="0"/>
                </a:cubicBezTo>
                <a:cubicBezTo>
                  <a:pt x="1477775" y="-16815"/>
                  <a:pt x="1569904" y="19146"/>
                  <a:pt x="1824228" y="0"/>
                </a:cubicBezTo>
                <a:cubicBezTo>
                  <a:pt x="2055206" y="24867"/>
                  <a:pt x="2317192" y="-62872"/>
                  <a:pt x="2606040" y="0"/>
                </a:cubicBezTo>
                <a:cubicBezTo>
                  <a:pt x="2606166" y="3680"/>
                  <a:pt x="2606905" y="11461"/>
                  <a:pt x="2606040" y="18288"/>
                </a:cubicBezTo>
                <a:cubicBezTo>
                  <a:pt x="2234648" y="26976"/>
                  <a:pt x="2180202" y="-10361"/>
                  <a:pt x="1902409" y="18288"/>
                </a:cubicBezTo>
                <a:cubicBezTo>
                  <a:pt x="1635562" y="47194"/>
                  <a:pt x="1477339" y="4794"/>
                  <a:pt x="1276960" y="18288"/>
                </a:cubicBezTo>
                <a:cubicBezTo>
                  <a:pt x="1058094" y="66922"/>
                  <a:pt x="904206" y="-20636"/>
                  <a:pt x="677570" y="18288"/>
                </a:cubicBezTo>
                <a:cubicBezTo>
                  <a:pt x="485746" y="14713"/>
                  <a:pt x="195925" y="33005"/>
                  <a:pt x="0" y="18288"/>
                </a:cubicBezTo>
                <a:cubicBezTo>
                  <a:pt x="1168" y="12774"/>
                  <a:pt x="-229" y="374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custGeom>
                    <a:avLst/>
                    <a:gdLst>
                      <a:gd name="connsiteX0" fmla="*/ 0 w 2606040"/>
                      <a:gd name="connsiteY0" fmla="*/ 0 h 18288"/>
                      <a:gd name="connsiteX1" fmla="*/ 625450 w 2606040"/>
                      <a:gd name="connsiteY1" fmla="*/ 0 h 18288"/>
                      <a:gd name="connsiteX2" fmla="*/ 1224839 w 2606040"/>
                      <a:gd name="connsiteY2" fmla="*/ 0 h 18288"/>
                      <a:gd name="connsiteX3" fmla="*/ 1824228 w 2606040"/>
                      <a:gd name="connsiteY3" fmla="*/ 0 h 18288"/>
                      <a:gd name="connsiteX4" fmla="*/ 2606040 w 2606040"/>
                      <a:gd name="connsiteY4" fmla="*/ 0 h 18288"/>
                      <a:gd name="connsiteX5" fmla="*/ 2606040 w 2606040"/>
                      <a:gd name="connsiteY5" fmla="*/ 18288 h 18288"/>
                      <a:gd name="connsiteX6" fmla="*/ 1902409 w 2606040"/>
                      <a:gd name="connsiteY6" fmla="*/ 18288 h 18288"/>
                      <a:gd name="connsiteX7" fmla="*/ 1276960 w 2606040"/>
                      <a:gd name="connsiteY7" fmla="*/ 18288 h 18288"/>
                      <a:gd name="connsiteX8" fmla="*/ 677570 w 2606040"/>
                      <a:gd name="connsiteY8" fmla="*/ 18288 h 18288"/>
                      <a:gd name="connsiteX9" fmla="*/ 0 w 2606040"/>
                      <a:gd name="connsiteY9" fmla="*/ 18288 h 18288"/>
                      <a:gd name="connsiteX10" fmla="*/ 0 w 2606040"/>
                      <a:gd name="connsiteY10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06040" h="18288" fill="none" extrusionOk="0">
                        <a:moveTo>
                          <a:pt x="0" y="0"/>
                        </a:moveTo>
                        <a:cubicBezTo>
                          <a:pt x="266776" y="-600"/>
                          <a:pt x="322756" y="3201"/>
                          <a:pt x="625450" y="0"/>
                        </a:cubicBezTo>
                        <a:cubicBezTo>
                          <a:pt x="928144" y="-3201"/>
                          <a:pt x="968141" y="9269"/>
                          <a:pt x="1224839" y="0"/>
                        </a:cubicBezTo>
                        <a:cubicBezTo>
                          <a:pt x="1481537" y="-9269"/>
                          <a:pt x="1569059" y="21947"/>
                          <a:pt x="1824228" y="0"/>
                        </a:cubicBezTo>
                        <a:cubicBezTo>
                          <a:pt x="2079397" y="-21947"/>
                          <a:pt x="2326053" y="-10194"/>
                          <a:pt x="2606040" y="0"/>
                        </a:cubicBezTo>
                        <a:cubicBezTo>
                          <a:pt x="2605462" y="4771"/>
                          <a:pt x="2606793" y="12323"/>
                          <a:pt x="2606040" y="18288"/>
                        </a:cubicBezTo>
                        <a:cubicBezTo>
                          <a:pt x="2256758" y="31410"/>
                          <a:pt x="2173673" y="-12878"/>
                          <a:pt x="1902409" y="18288"/>
                        </a:cubicBezTo>
                        <a:cubicBezTo>
                          <a:pt x="1631145" y="49454"/>
                          <a:pt x="1461378" y="5466"/>
                          <a:pt x="1276960" y="18288"/>
                        </a:cubicBezTo>
                        <a:cubicBezTo>
                          <a:pt x="1092542" y="31110"/>
                          <a:pt x="890442" y="13213"/>
                          <a:pt x="677570" y="18288"/>
                        </a:cubicBezTo>
                        <a:cubicBezTo>
                          <a:pt x="464698" y="23364"/>
                          <a:pt x="187648" y="35837"/>
                          <a:pt x="0" y="18288"/>
                        </a:cubicBezTo>
                        <a:cubicBezTo>
                          <a:pt x="841" y="12879"/>
                          <a:pt x="-726" y="3977"/>
                          <a:pt x="0" y="0"/>
                        </a:cubicBezTo>
                        <a:close/>
                      </a:path>
                      <a:path w="2606040" h="18288" stroke="0" extrusionOk="0">
                        <a:moveTo>
                          <a:pt x="0" y="0"/>
                        </a:moveTo>
                        <a:cubicBezTo>
                          <a:pt x="197231" y="3803"/>
                          <a:pt x="358914" y="-9291"/>
                          <a:pt x="599389" y="0"/>
                        </a:cubicBezTo>
                        <a:cubicBezTo>
                          <a:pt x="839864" y="9291"/>
                          <a:pt x="979371" y="8509"/>
                          <a:pt x="1303020" y="0"/>
                        </a:cubicBezTo>
                        <a:cubicBezTo>
                          <a:pt x="1626669" y="-8509"/>
                          <a:pt x="1726300" y="7440"/>
                          <a:pt x="1876349" y="0"/>
                        </a:cubicBezTo>
                        <a:cubicBezTo>
                          <a:pt x="2026398" y="-7440"/>
                          <a:pt x="2430712" y="17957"/>
                          <a:pt x="2606040" y="0"/>
                        </a:cubicBezTo>
                        <a:cubicBezTo>
                          <a:pt x="2605426" y="8857"/>
                          <a:pt x="2606544" y="13619"/>
                          <a:pt x="2606040" y="18288"/>
                        </a:cubicBezTo>
                        <a:cubicBezTo>
                          <a:pt x="2393024" y="2241"/>
                          <a:pt x="2191161" y="39259"/>
                          <a:pt x="1980590" y="18288"/>
                        </a:cubicBezTo>
                        <a:cubicBezTo>
                          <a:pt x="1770019" y="-2683"/>
                          <a:pt x="1476440" y="36114"/>
                          <a:pt x="1276960" y="18288"/>
                        </a:cubicBezTo>
                        <a:cubicBezTo>
                          <a:pt x="1077480" y="463"/>
                          <a:pt x="880988" y="42125"/>
                          <a:pt x="651510" y="18288"/>
                        </a:cubicBezTo>
                        <a:cubicBezTo>
                          <a:pt x="422032" y="-5549"/>
                          <a:pt x="130744" y="-1947"/>
                          <a:pt x="0" y="18288"/>
                        </a:cubicBezTo>
                        <a:cubicBezTo>
                          <a:pt x="-487" y="10816"/>
                          <a:pt x="-839" y="60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936B4-AF1A-3FA2-E500-4A6FFFB2A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IN" sz="1900" dirty="0"/>
              <a:t>Search</a:t>
            </a:r>
          </a:p>
          <a:p>
            <a:r>
              <a:rPr lang="en-IN" sz="1900" dirty="0"/>
              <a:t>Information Retrieval</a:t>
            </a:r>
          </a:p>
          <a:p>
            <a:r>
              <a:rPr lang="en-IN" sz="1900" dirty="0"/>
              <a:t>History</a:t>
            </a:r>
          </a:p>
          <a:p>
            <a:r>
              <a:rPr lang="en-IN" sz="1900" dirty="0"/>
              <a:t>Syllabus</a:t>
            </a:r>
          </a:p>
          <a:p>
            <a:r>
              <a:rPr lang="en-IN" sz="1900" dirty="0"/>
              <a:t>Conclusion</a:t>
            </a:r>
          </a:p>
          <a:p>
            <a:endParaRPr lang="en-IN" sz="1900" dirty="0"/>
          </a:p>
        </p:txBody>
      </p:sp>
      <p:pic>
        <p:nvPicPr>
          <p:cNvPr id="7" name="Picture 6" descr="Magnifying glass showing decling performance">
            <a:extLst>
              <a:ext uri="{FF2B5EF4-FFF2-40B4-BE49-F238E27FC236}">
                <a16:creationId xmlns:a16="http://schemas.microsoft.com/office/drawing/2014/main" id="{0971B07E-79B1-E257-17B9-6DA0A1D5FE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49" r="40136" b="-1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3A705-C5FD-91A2-E7D9-CF3B87FA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6300" y="6356350"/>
            <a:ext cx="30861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15105-A1DF-BE45-745B-6F027348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6356350"/>
            <a:ext cx="685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221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DEAB6-7E95-455C-92AC-1A7E0269D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Search in Various Fields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517ED2-50A6-4F1B-A47A-315EB8AE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0793" y="2002536"/>
            <a:ext cx="3086099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Dr. Richa, Assistant Professor, BIT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9549AD-ED21-6A3E-3259-BFB00A813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33400"/>
            <a:ext cx="6781800" cy="6912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E8CC8-4661-47B6-8ED9-B3567CA98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496" y="2914877"/>
            <a:ext cx="6249619" cy="266718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800" dirty="0"/>
              <a:t>In </a:t>
            </a:r>
          </a:p>
          <a:p>
            <a:pPr lvl="1">
              <a:lnSpc>
                <a:spcPct val="90000"/>
              </a:lnSpc>
            </a:pPr>
            <a:r>
              <a:rPr lang="en-IN" sz="1800" dirty="0"/>
              <a:t>Sports</a:t>
            </a:r>
          </a:p>
          <a:p>
            <a:pPr lvl="1">
              <a:lnSpc>
                <a:spcPct val="90000"/>
              </a:lnSpc>
            </a:pPr>
            <a:r>
              <a:rPr lang="en-IN" sz="1800" dirty="0"/>
              <a:t>Travel</a:t>
            </a:r>
          </a:p>
          <a:p>
            <a:pPr lvl="1">
              <a:lnSpc>
                <a:spcPct val="90000"/>
              </a:lnSpc>
            </a:pPr>
            <a:r>
              <a:rPr lang="en-IN" sz="1800" dirty="0"/>
              <a:t>Entertainment</a:t>
            </a:r>
          </a:p>
          <a:p>
            <a:pPr lvl="1">
              <a:lnSpc>
                <a:spcPct val="90000"/>
              </a:lnSpc>
            </a:pPr>
            <a:r>
              <a:rPr lang="en-IN" sz="1800" dirty="0"/>
              <a:t>Education </a:t>
            </a:r>
          </a:p>
          <a:p>
            <a:pPr lvl="1">
              <a:lnSpc>
                <a:spcPct val="90000"/>
              </a:lnSpc>
            </a:pPr>
            <a:r>
              <a:rPr lang="en-IN" sz="1800" dirty="0"/>
              <a:t>E-commerce</a:t>
            </a:r>
          </a:p>
          <a:p>
            <a:pPr lvl="1">
              <a:lnSpc>
                <a:spcPct val="90000"/>
              </a:lnSpc>
            </a:pPr>
            <a:r>
              <a:rPr lang="en-IN" sz="1800" dirty="0"/>
              <a:t>Healthcare</a:t>
            </a:r>
          </a:p>
          <a:p>
            <a:pPr lvl="1">
              <a:lnSpc>
                <a:spcPct val="90000"/>
              </a:lnSpc>
            </a:pPr>
            <a:endParaRPr lang="en-IN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A601B-5968-4033-A480-A944E768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431"/>
            <a:ext cx="33443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z="1000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00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EDD431-576D-1CF4-2A38-B8D8736DC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9" y="1537868"/>
            <a:ext cx="6781801" cy="746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37364E-C4E3-C445-3224-E1E9BD71B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074" y="2597336"/>
            <a:ext cx="6324600" cy="7987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ADFF85-2146-5174-524D-FE4DFC64A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3774" y="3377447"/>
            <a:ext cx="6460224" cy="170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7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7059D-92DB-CF10-6139-E97CDB1B9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76" y="102125"/>
            <a:ext cx="5679324" cy="124170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4200" dirty="0"/>
              <a:t>What is information Retrieval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06529-6CAB-AE92-1D7B-CA5E42B9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2002536"/>
            <a:ext cx="3086338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US"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2502" y="-3"/>
            <a:ext cx="3051498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2502" y="-3"/>
            <a:ext cx="2708597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1305" y="401193"/>
            <a:ext cx="3853890" cy="3051499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Magnifying glass and question mark">
            <a:extLst>
              <a:ext uri="{FF2B5EF4-FFF2-40B4-BE49-F238E27FC236}">
                <a16:creationId xmlns:a16="http://schemas.microsoft.com/office/drawing/2014/main" id="{91627D9C-DB60-F327-0644-D75E8CC038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84" r="27428" b="-2"/>
          <a:stretch/>
        </p:blipFill>
        <p:spPr>
          <a:xfrm>
            <a:off x="4572000" y="1012536"/>
            <a:ext cx="3567121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776A8-1908-10C0-5555-A1EDB9CE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 sz="10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sz="100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1840B2B5-D657-447A-6326-9F589417D78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132" y="3711298"/>
            <a:ext cx="1241702" cy="1241702"/>
          </a:xfrm>
          <a:prstGeom prst="ellipse">
            <a:avLst/>
          </a:prstGeom>
          <a:ln w="19050" cap="rnd">
            <a:solidFill>
              <a:srgbClr val="404040"/>
            </a:solidFill>
          </a:ln>
          <a:effectLst/>
        </p:spPr>
      </p:pic>
      <p:pic>
        <p:nvPicPr>
          <p:cNvPr id="8" name="Graphic 7" descr="Thought bubble outline">
            <a:extLst>
              <a:ext uri="{FF2B5EF4-FFF2-40B4-BE49-F238E27FC236}">
                <a16:creationId xmlns:a16="http://schemas.microsoft.com/office/drawing/2014/main" id="{1AAB6807-DF0C-A3E4-6A8E-BBD9AD01CF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258" y="2274749"/>
            <a:ext cx="3016877" cy="18288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5A47123-F466-44D7-22C8-8389024A3A91}"/>
              </a:ext>
            </a:extLst>
          </p:cNvPr>
          <p:cNvSpPr txBox="1">
            <a:spLocks/>
          </p:cNvSpPr>
          <p:nvPr/>
        </p:nvSpPr>
        <p:spPr>
          <a:xfrm>
            <a:off x="1447800" y="2679129"/>
            <a:ext cx="2224696" cy="10546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       Information Need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    I want to know about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	BIT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279842E-EC63-5851-6369-AF09F576919A}"/>
              </a:ext>
            </a:extLst>
          </p:cNvPr>
          <p:cNvSpPr/>
          <p:nvPr/>
        </p:nvSpPr>
        <p:spPr>
          <a:xfrm>
            <a:off x="851250" y="4969323"/>
            <a:ext cx="307258" cy="6096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FF9DF6-0E59-CFA2-4F86-B460F5AF8EE1}"/>
              </a:ext>
            </a:extLst>
          </p:cNvPr>
          <p:cNvSpPr/>
          <p:nvPr/>
        </p:nvSpPr>
        <p:spPr>
          <a:xfrm>
            <a:off x="304800" y="5638800"/>
            <a:ext cx="1626751" cy="44705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Query=“BIT”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0FDF2C-A77D-B0C6-7C6D-17BFBD6543AA}"/>
              </a:ext>
            </a:extLst>
          </p:cNvPr>
          <p:cNvCxnSpPr/>
          <p:nvPr/>
        </p:nvCxnSpPr>
        <p:spPr>
          <a:xfrm>
            <a:off x="2057400" y="5768698"/>
            <a:ext cx="50274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C0F56A-8DDF-EA4A-52A4-8FC5EFE0114C}"/>
              </a:ext>
            </a:extLst>
          </p:cNvPr>
          <p:cNvCxnSpPr/>
          <p:nvPr/>
        </p:nvCxnSpPr>
        <p:spPr>
          <a:xfrm flipH="1">
            <a:off x="2057400" y="6085855"/>
            <a:ext cx="50274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4B43A89-9DE9-F367-125D-B1AB76B11FB6}"/>
              </a:ext>
            </a:extLst>
          </p:cNvPr>
          <p:cNvSpPr/>
          <p:nvPr/>
        </p:nvSpPr>
        <p:spPr>
          <a:xfrm>
            <a:off x="2571459" y="5545170"/>
            <a:ext cx="1626751" cy="91049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Retrieval</a:t>
            </a:r>
          </a:p>
          <a:p>
            <a:pPr algn="ctr"/>
            <a:r>
              <a:rPr lang="en-IN" dirty="0"/>
              <a:t>System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85C99B-69DA-1C4D-DA35-CFF650F57598}"/>
              </a:ext>
            </a:extLst>
          </p:cNvPr>
          <p:cNvCxnSpPr/>
          <p:nvPr/>
        </p:nvCxnSpPr>
        <p:spPr>
          <a:xfrm flipV="1">
            <a:off x="3377489" y="5045523"/>
            <a:ext cx="0" cy="53340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A4A3E84-B169-310D-647C-1861E96C8D31}"/>
              </a:ext>
            </a:extLst>
          </p:cNvPr>
          <p:cNvSpPr/>
          <p:nvPr/>
        </p:nvSpPr>
        <p:spPr>
          <a:xfrm>
            <a:off x="2347644" y="4114800"/>
            <a:ext cx="2112280" cy="91049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Collection</a:t>
            </a:r>
          </a:p>
          <a:p>
            <a:pPr algn="ctr"/>
            <a:r>
              <a:rPr lang="en-IN" dirty="0"/>
              <a:t>d1: “BIT </a:t>
            </a:r>
            <a:r>
              <a:rPr lang="en-IN" dirty="0" err="1"/>
              <a:t>Mesra</a:t>
            </a:r>
            <a:r>
              <a:rPr lang="en-IN" dirty="0"/>
              <a:t>”</a:t>
            </a:r>
          </a:p>
          <a:p>
            <a:pPr algn="ctr"/>
            <a:r>
              <a:rPr lang="en-IN" dirty="0"/>
              <a:t>d2: “IIIT Ranchi”</a:t>
            </a:r>
          </a:p>
        </p:txBody>
      </p:sp>
    </p:spTree>
    <p:extLst>
      <p:ext uri="{BB962C8B-B14F-4D97-AF65-F5344CB8AC3E}">
        <p14:creationId xmlns:p14="http://schemas.microsoft.com/office/powerpoint/2010/main" val="143487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b">
            <a:normAutofit/>
          </a:bodyPr>
          <a:lstStyle/>
          <a:p>
            <a:r>
              <a:rPr lang="en-US" sz="3500" dirty="0"/>
              <a:t>Information Retrieval</a:t>
            </a:r>
          </a:p>
        </p:txBody>
      </p:sp>
      <p:pic>
        <p:nvPicPr>
          <p:cNvPr id="7" name="Picture 6" descr="3D box skeletons">
            <a:extLst>
              <a:ext uri="{FF2B5EF4-FFF2-40B4-BE49-F238E27FC236}">
                <a16:creationId xmlns:a16="http://schemas.microsoft.com/office/drawing/2014/main" id="{E235C408-D192-4B59-13A1-149F0E0802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399" r="32967" b="-1"/>
          <a:stretch/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5300" y="2409830"/>
            <a:ext cx="5098904" cy="3705217"/>
          </a:xfrm>
        </p:spPr>
        <p:txBody>
          <a:bodyPr>
            <a:normAutofit/>
          </a:bodyPr>
          <a:lstStyle/>
          <a:p>
            <a:pPr algn="just"/>
            <a:r>
              <a:rPr lang="en-IN" sz="1700" dirty="0"/>
              <a:t>Gerard Salton proposed the definition of information retrieval as:</a:t>
            </a:r>
          </a:p>
          <a:p>
            <a:pPr lvl="1" algn="just"/>
            <a:r>
              <a:rPr lang="en-US" sz="1700" dirty="0"/>
              <a:t>Information retrieval is a field concerned with the structure, analysis, organization, storage, searching, and retrieval of information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5299" y="6356350"/>
            <a:ext cx="3328527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Dr. Richa, Assistant Professor,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95264" y="6356350"/>
            <a:ext cx="162008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37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5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1F7568E-C531-84EE-0BED-54037AD1B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825" y="1371600"/>
            <a:ext cx="7330348" cy="469053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5D52E-9B50-F221-91AB-7C30B006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D8866-8E65-375D-487A-A7B2E118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45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4CBDBB-4FBD-4B9E-BD01-054A81D4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1A6F03-171F-40B2-8B2C-A061B8924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2C4834C-B602-4125-8264-BD0D55A58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172EE5-132F-4DD4-8855-4DBBD9C34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883" y="1110000"/>
            <a:ext cx="7646805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8D287-1FF5-FB8E-696A-7A7562A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91956" y="18288"/>
            <a:ext cx="356616" cy="475488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B6F15528-21DE-4FAA-801E-634DDDAF4B2B}" type="slidenum">
              <a:rPr lang="en-US" sz="800" smtClean="0">
                <a:solidFill>
                  <a:schemeClr val="tx1">
                    <a:alpha val="70000"/>
                  </a:schemeClr>
                </a:solidFill>
              </a:rPr>
              <a:pPr algn="ctr">
                <a:spcAft>
                  <a:spcPts val="600"/>
                </a:spcAft>
              </a:pPr>
              <a:t>7</a:t>
            </a:fld>
            <a:endParaRPr lang="en-US" sz="80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D898-2370-9DFC-DACC-FBC726028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230" y="3519236"/>
            <a:ext cx="6144633" cy="2057046"/>
          </a:xfrm>
        </p:spPr>
        <p:txBody>
          <a:bodyPr anchor="t">
            <a:normAutofit/>
          </a:bodyPr>
          <a:lstStyle/>
          <a:p>
            <a:pPr algn="ctr"/>
            <a:endParaRPr lang="en-IN" sz="16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EBD61-691B-3047-3072-4CA875A79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7701771" y="3246438"/>
            <a:ext cx="260604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tx1">
                    <a:alpha val="70000"/>
                  </a:schemeClr>
                </a:solidFill>
              </a:rPr>
              <a:t>Dr. Richa, Assistant Professor, BIT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FF6C65-F367-FAF6-3A02-582FEDACA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6" y="-63679"/>
            <a:ext cx="7964129" cy="3819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498BDC-078F-7EB7-BB89-85F91E440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352401"/>
            <a:ext cx="7367570" cy="346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2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White door in white room">
            <a:extLst>
              <a:ext uri="{FF2B5EF4-FFF2-40B4-BE49-F238E27FC236}">
                <a16:creationId xmlns:a16="http://schemas.microsoft.com/office/drawing/2014/main" id="{7026D1BE-E5A0-98E5-6373-072555101A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9" r="3" b="3"/>
          <a:stretch/>
        </p:blipFill>
        <p:spPr>
          <a:xfrm>
            <a:off x="3410952" y="-58999"/>
            <a:ext cx="5733047" cy="3681406"/>
          </a:xfrm>
          <a:prstGeom prst="rect">
            <a:avLst/>
          </a:prstGeom>
        </p:spPr>
      </p:pic>
      <p:pic>
        <p:nvPicPr>
          <p:cNvPr id="7" name="Picture 6" descr="Room with walls, green and pink neon lights on both sides">
            <a:extLst>
              <a:ext uri="{FF2B5EF4-FFF2-40B4-BE49-F238E27FC236}">
                <a16:creationId xmlns:a16="http://schemas.microsoft.com/office/drawing/2014/main" id="{AD2FDD1F-84D5-726C-42EC-1BD35CD1493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1" r="3" b="12922"/>
          <a:stretch/>
        </p:blipFill>
        <p:spPr>
          <a:xfrm>
            <a:off x="3410953" y="3681409"/>
            <a:ext cx="5733047" cy="3176595"/>
          </a:xfrm>
          <a:prstGeom prst="rect">
            <a:avLst/>
          </a:prstGeom>
        </p:spPr>
      </p:pic>
      <p:sp>
        <p:nvSpPr>
          <p:cNvPr id="42" name="Rectangle 3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D117F-5767-8860-CEBB-C339F828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15219"/>
            <a:ext cx="4046934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Deprival of information</a:t>
            </a:r>
          </a:p>
        </p:txBody>
      </p:sp>
      <p:cxnSp>
        <p:nvCxnSpPr>
          <p:cNvPr id="43" name="Straight Connector 3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3681408"/>
            <a:ext cx="851534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8E167-5818-3D36-7CFD-963DECE9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265CE-532E-DF86-601F-CF856EF3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94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lowchart: Document 3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6533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5BFF0-9B89-EB10-D84C-4EE78754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Syllabus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1533EE0-AD93-57B9-837E-9C38BB54B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8805" y="1600200"/>
            <a:ext cx="5999603" cy="39447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4E847-EF8D-A7A1-DE3F-30D5BCF4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B889E-86A0-D64B-9BFE-252A4874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B6F15528-21DE-4FAA-801E-634DDDAF4B2B}" type="slidenum">
              <a:rPr lang="en-US" smtClean="0"/>
              <a:pPr algn="l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79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647371" cy="6858000"/>
          </a:xfrm>
          <a:prstGeom prst="rect">
            <a:avLst/>
          </a:prstGeom>
          <a:solidFill>
            <a:srgbClr val="2B2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BDB844-D92E-3D4E-EF2F-BD43A7D2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32" y="2250610"/>
            <a:ext cx="2391675" cy="235424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75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About Course Outcome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F41C53-D631-E27C-F93A-C3BBF55DC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066800"/>
            <a:ext cx="6096000" cy="501395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1DCBA-1D5F-9426-C674-66502D5D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5993" y="6473597"/>
            <a:ext cx="5274129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50" kern="1200">
                <a:solidFill>
                  <a:srgbClr val="898989"/>
                </a:solidFill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6B2A1-2E8E-09E4-D114-6A7D308E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2693" y="6473597"/>
            <a:ext cx="420007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z="1050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05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963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ocument 33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EF74C-1356-B51E-0DD1-66A8581E9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Evaluation</a:t>
            </a:r>
          </a:p>
        </p:txBody>
      </p:sp>
      <p:pic>
        <p:nvPicPr>
          <p:cNvPr id="15" name="Picture 6" descr="Black pen against a sheet with shaded numbers">
            <a:extLst>
              <a:ext uri="{FF2B5EF4-FFF2-40B4-BE49-F238E27FC236}">
                <a16:creationId xmlns:a16="http://schemas.microsoft.com/office/drawing/2014/main" id="{8B6774E7-3F01-97EF-A577-8EB5FFADF7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00" r="-1" b="-1"/>
          <a:stretch/>
        </p:blipFill>
        <p:spPr>
          <a:xfrm>
            <a:off x="3155949" y="1362996"/>
            <a:ext cx="5510653" cy="413298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2ED37-043A-6CDF-91FC-5FE1E8DA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50F1C-7B27-524A-CE25-C452F3E1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fld id="{B6F15528-21DE-4FAA-801E-634DDDAF4B2B}" type="slidenum">
              <a:rPr lang="en-US"/>
              <a:pPr algn="l">
                <a:spcAft>
                  <a:spcPts val="600"/>
                </a:spcAft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2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27638</TotalTime>
  <Words>195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 Antiqua</vt:lpstr>
      <vt:lpstr>Calibri</vt:lpstr>
      <vt:lpstr>Lucida Sans</vt:lpstr>
      <vt:lpstr>Office Theme</vt:lpstr>
      <vt:lpstr>Information Retrieval</vt:lpstr>
      <vt:lpstr>Outline</vt:lpstr>
      <vt:lpstr>Search in Various Fields </vt:lpstr>
      <vt:lpstr>What is information Retrieval</vt:lpstr>
      <vt:lpstr>Information Retrieval</vt:lpstr>
      <vt:lpstr>PowerPoint Presentation</vt:lpstr>
      <vt:lpstr>PowerPoint Presentation</vt:lpstr>
      <vt:lpstr>Deprival of information</vt:lpstr>
      <vt:lpstr>Syllabus</vt:lpstr>
      <vt:lpstr>About Course Outcome</vt:lpstr>
      <vt:lpstr>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richa</dc:creator>
  <cp:lastModifiedBy>richa singh</cp:lastModifiedBy>
  <cp:revision>955</cp:revision>
  <dcterms:created xsi:type="dcterms:W3CDTF">2006-08-16T00:00:00Z</dcterms:created>
  <dcterms:modified xsi:type="dcterms:W3CDTF">2023-07-31T17:18:07Z</dcterms:modified>
</cp:coreProperties>
</file>