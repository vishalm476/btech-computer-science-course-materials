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58" r:id="rId9"/>
    <p:sldId id="259" r:id="rId10"/>
    <p:sldId id="260" r:id="rId11"/>
    <p:sldId id="261" r:id="rId12"/>
    <p:sldId id="262" r:id="rId13"/>
    <p:sldId id="273" r:id="rId14"/>
    <p:sldId id="268" r:id="rId15"/>
    <p:sldId id="269" r:id="rId16"/>
    <p:sldId id="270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74" r:id="rId26"/>
    <p:sldId id="283" r:id="rId27"/>
    <p:sldId id="284" r:id="rId28"/>
    <p:sldId id="271" r:id="rId29"/>
    <p:sldId id="272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9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0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3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1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4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4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8/9/2023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3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8051F-0BA4-4C80-832C-1845011B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pider's web with a spider">
            <a:extLst>
              <a:ext uri="{FF2B5EF4-FFF2-40B4-BE49-F238E27FC236}">
                <a16:creationId xmlns:a16="http://schemas.microsoft.com/office/drawing/2014/main" id="{F67BE590-BFD4-036D-AEEB-3E6E95BCF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81" b="3633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61205" y="-372795"/>
            <a:ext cx="6857999" cy="7603591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87A1D-AD25-00B6-B357-F5D12151A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3699" y="952500"/>
            <a:ext cx="4854071" cy="3893582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solidFill>
                  <a:srgbClr val="FFFFFF"/>
                </a:solidFill>
              </a:rPr>
              <a:t>Web Crawler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53817-BDAF-5F37-A6A5-3B52083D8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3699" y="4846083"/>
            <a:ext cx="4872618" cy="1211818"/>
          </a:xfrm>
        </p:spPr>
        <p:txBody>
          <a:bodyPr anchor="b">
            <a:normAutofit/>
          </a:bodyPr>
          <a:lstStyle/>
          <a:p>
            <a:pPr algn="r"/>
            <a:endParaRPr lang="en-IN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9E64-78CC-08C3-001A-D6A7B96C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936D-CD2E-C924-92BF-AC88B9D3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				</a:t>
            </a:r>
          </a:p>
          <a:p>
            <a:pPr marL="0" indent="0">
              <a:buNone/>
            </a:pPr>
            <a:r>
              <a:rPr lang="en-IN" dirty="0"/>
              <a:t>								…..more apps…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66873F17-1160-490E-0977-3273DF9A7712}"/>
              </a:ext>
            </a:extLst>
          </p:cNvPr>
          <p:cNvSpPr/>
          <p:nvPr/>
        </p:nvSpPr>
        <p:spPr>
          <a:xfrm>
            <a:off x="1110343" y="2441317"/>
            <a:ext cx="1632216" cy="1156996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1177F85-9D8A-F542-7B68-9737C96B5080}"/>
              </a:ext>
            </a:extLst>
          </p:cNvPr>
          <p:cNvCxnSpPr/>
          <p:nvPr/>
        </p:nvCxnSpPr>
        <p:spPr>
          <a:xfrm>
            <a:off x="2379306" y="3508310"/>
            <a:ext cx="1138335" cy="52251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A09B0DB-D240-BBA4-F128-3B378ED18948}"/>
              </a:ext>
            </a:extLst>
          </p:cNvPr>
          <p:cNvSpPr/>
          <p:nvPr/>
        </p:nvSpPr>
        <p:spPr>
          <a:xfrm>
            <a:off x="3517641" y="3713584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Crawler (</a:t>
            </a:r>
            <a:r>
              <a:rPr lang="en-IN" dirty="0" err="1"/>
              <a:t>a.k.a</a:t>
            </a:r>
            <a:r>
              <a:rPr lang="en-IN" dirty="0"/>
              <a:t> bot or spider)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E6DF1F3-2AF4-BBEA-6709-B327BAE860C9}"/>
              </a:ext>
            </a:extLst>
          </p:cNvPr>
          <p:cNvCxnSpPr>
            <a:cxnSpLocks/>
          </p:cNvCxnSpPr>
          <p:nvPr/>
        </p:nvCxnSpPr>
        <p:spPr>
          <a:xfrm>
            <a:off x="5348306" y="4363715"/>
            <a:ext cx="2532243" cy="154330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7B64D6A-7898-8E62-89B3-63500C293284}"/>
              </a:ext>
            </a:extLst>
          </p:cNvPr>
          <p:cNvCxnSpPr/>
          <p:nvPr/>
        </p:nvCxnSpPr>
        <p:spPr>
          <a:xfrm flipV="1">
            <a:off x="5348306" y="1735494"/>
            <a:ext cx="2312127" cy="2307869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0FEBA-EFBD-2403-0BBF-03433D98861A}"/>
              </a:ext>
            </a:extLst>
          </p:cNvPr>
          <p:cNvSpPr/>
          <p:nvPr/>
        </p:nvSpPr>
        <p:spPr>
          <a:xfrm>
            <a:off x="7771700" y="1187904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Content aggregator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50AB3-6926-CD26-3757-8D8FBC1B4BBF}"/>
              </a:ext>
            </a:extLst>
          </p:cNvPr>
          <p:cNvSpPr/>
          <p:nvPr/>
        </p:nvSpPr>
        <p:spPr>
          <a:xfrm>
            <a:off x="7849452" y="2441317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archive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3F8373-CF3A-71F5-8F36-F688D2352204}"/>
              </a:ext>
            </a:extLst>
          </p:cNvPr>
          <p:cNvSpPr/>
          <p:nvPr/>
        </p:nvSpPr>
        <p:spPr>
          <a:xfrm>
            <a:off x="7880549" y="3694730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monitoring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56A2AF-ED02-DEC8-1E35-2992370C2769}"/>
              </a:ext>
            </a:extLst>
          </p:cNvPr>
          <p:cNvSpPr/>
          <p:nvPr/>
        </p:nvSpPr>
        <p:spPr>
          <a:xfrm>
            <a:off x="7911116" y="5440493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Search engine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4B6E8583-09C0-A270-1A81-02492AFD5627}"/>
              </a:ext>
            </a:extLst>
          </p:cNvPr>
          <p:cNvCxnSpPr>
            <a:cxnSpLocks/>
          </p:cNvCxnSpPr>
          <p:nvPr/>
        </p:nvCxnSpPr>
        <p:spPr>
          <a:xfrm flipV="1">
            <a:off x="5330577" y="2889428"/>
            <a:ext cx="2441120" cy="1212987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22ACBEC-7E40-78CF-5CA9-A9B840ED8A81}"/>
              </a:ext>
            </a:extLst>
          </p:cNvPr>
          <p:cNvCxnSpPr>
            <a:cxnSpLocks/>
          </p:cNvCxnSpPr>
          <p:nvPr/>
        </p:nvCxnSpPr>
        <p:spPr>
          <a:xfrm>
            <a:off x="5378873" y="4220821"/>
            <a:ext cx="2470579" cy="83842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673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FCAB-1563-9365-B037-2A1DC2AE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Content Aggregator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2D25-E01C-6D0D-B327-1D20267D8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						……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213BF-15EC-78C0-F333-0DB4ACC76379}"/>
              </a:ext>
            </a:extLst>
          </p:cNvPr>
          <p:cNvSpPr/>
          <p:nvPr/>
        </p:nvSpPr>
        <p:spPr>
          <a:xfrm>
            <a:off x="1604165" y="2326239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3B9AE-A48C-252B-D991-E1E72F4239EE}"/>
              </a:ext>
            </a:extLst>
          </p:cNvPr>
          <p:cNvSpPr/>
          <p:nvPr/>
        </p:nvSpPr>
        <p:spPr>
          <a:xfrm>
            <a:off x="3585366" y="2338678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A2E37-F8B2-6223-739D-E8074A8F7FF2}"/>
              </a:ext>
            </a:extLst>
          </p:cNvPr>
          <p:cNvSpPr/>
          <p:nvPr/>
        </p:nvSpPr>
        <p:spPr>
          <a:xfrm>
            <a:off x="7564833" y="2338678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n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F72B148-F880-D3F8-0AA9-CC8DA887FEA7}"/>
              </a:ext>
            </a:extLst>
          </p:cNvPr>
          <p:cNvSpPr/>
          <p:nvPr/>
        </p:nvSpPr>
        <p:spPr>
          <a:xfrm rot="16200000">
            <a:off x="4704844" y="744931"/>
            <a:ext cx="915333" cy="6283469"/>
          </a:xfrm>
          <a:prstGeom prst="lef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A5082-361C-14C2-4BA4-FF2EEA51FE28}"/>
              </a:ext>
            </a:extLst>
          </p:cNvPr>
          <p:cNvSpPr/>
          <p:nvPr/>
        </p:nvSpPr>
        <p:spPr>
          <a:xfrm>
            <a:off x="4265335" y="4344332"/>
            <a:ext cx="1830665" cy="933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Content Aggregator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D65EFE-17A7-D919-E99C-2EBA68849836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180667" y="5277393"/>
            <a:ext cx="1" cy="5542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F86103E5-C786-6F19-05D9-9534B80FF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3467" y="5831633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7251E7-4EAE-C727-EE88-E225BF53F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195" y="5907024"/>
            <a:ext cx="5829805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2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233A-BB51-BC6E-D916-964E83A5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Archive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5898-3234-54F1-097D-0E598B0D4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: archive.org, have 20+ years of web history and contains 830 billions  of web pages, 20 millions of book, 4.5 millions of recording, 4 million of videos</a:t>
            </a:r>
          </a:p>
          <a:p>
            <a:r>
              <a:rPr lang="en-IN" dirty="0"/>
              <a:t>What to do with these archive</a:t>
            </a:r>
          </a:p>
          <a:p>
            <a:pPr lvl="1"/>
            <a:r>
              <a:rPr lang="en-IN" dirty="0"/>
              <a:t>Wealth of information</a:t>
            </a:r>
          </a:p>
          <a:p>
            <a:pPr lvl="1"/>
            <a:r>
              <a:rPr lang="en-IN" dirty="0"/>
              <a:t>A library</a:t>
            </a:r>
          </a:p>
          <a:p>
            <a:pPr lvl="1"/>
            <a:r>
              <a:rPr lang="en-IN" dirty="0"/>
              <a:t>At the downtime of web host</a:t>
            </a:r>
          </a:p>
        </p:txBody>
      </p:sp>
    </p:spTree>
    <p:extLst>
      <p:ext uri="{BB962C8B-B14F-4D97-AF65-F5344CB8AC3E}">
        <p14:creationId xmlns:p14="http://schemas.microsoft.com/office/powerpoint/2010/main" val="121549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AF2D-1D7F-A676-6998-0256A554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Monitoring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216A2-7634-521D-1BDC-A6E731D1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monitor the uptime of the website</a:t>
            </a:r>
          </a:p>
        </p:txBody>
      </p:sp>
    </p:spTree>
    <p:extLst>
      <p:ext uri="{BB962C8B-B14F-4D97-AF65-F5344CB8AC3E}">
        <p14:creationId xmlns:p14="http://schemas.microsoft.com/office/powerpoint/2010/main" val="259422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889B-B81F-7E0C-8F75-4C96285E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 a Crawler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F3F47-F1E0-423A-551B-7B141400E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What meta-information would a crawler like to know about a page?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6FD3C23F-13E1-7AFC-66C6-F647EB46681A}"/>
              </a:ext>
            </a:extLst>
          </p:cNvPr>
          <p:cNvSpPr/>
          <p:nvPr/>
        </p:nvSpPr>
        <p:spPr>
          <a:xfrm>
            <a:off x="1110342" y="1918801"/>
            <a:ext cx="2425960" cy="1888089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Does the owner want this page “not” to be searchable</a:t>
            </a: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4A98F0A0-9FC9-D996-81D2-F8E67A00C636}"/>
              </a:ext>
            </a:extLst>
          </p:cNvPr>
          <p:cNvSpPr/>
          <p:nvPr/>
        </p:nvSpPr>
        <p:spPr>
          <a:xfrm>
            <a:off x="4098003" y="1399397"/>
            <a:ext cx="2284136" cy="125982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When was the page last updated?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88D5BBC2-643A-98F5-87CE-65BBFEC13949}"/>
              </a:ext>
            </a:extLst>
          </p:cNvPr>
          <p:cNvSpPr/>
          <p:nvPr/>
        </p:nvSpPr>
        <p:spPr>
          <a:xfrm>
            <a:off x="6597286" y="2327793"/>
            <a:ext cx="2425960" cy="147909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Are there more related pages on the site?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BFED70D8-FF98-B0C6-6936-2070E043A109}"/>
              </a:ext>
            </a:extLst>
          </p:cNvPr>
          <p:cNvSpPr/>
          <p:nvPr/>
        </p:nvSpPr>
        <p:spPr>
          <a:xfrm>
            <a:off x="984689" y="4546923"/>
            <a:ext cx="2284136" cy="125982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Importance of the page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E7091C14-E1A1-A31C-08E4-DDA41EE1CC69}"/>
              </a:ext>
            </a:extLst>
          </p:cNvPr>
          <p:cNvSpPr/>
          <p:nvPr/>
        </p:nvSpPr>
        <p:spPr>
          <a:xfrm>
            <a:off x="5900056" y="4468779"/>
            <a:ext cx="2954696" cy="1589122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How frequently does the page get updated</a:t>
            </a:r>
          </a:p>
        </p:txBody>
      </p:sp>
    </p:spTree>
    <p:extLst>
      <p:ext uri="{BB962C8B-B14F-4D97-AF65-F5344CB8AC3E}">
        <p14:creationId xmlns:p14="http://schemas.microsoft.com/office/powerpoint/2010/main" val="12176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F14B-1103-89ED-1F49-5251AA7F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get the Previously Mentioned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D9F66-7CF9-8FCE-C9E3-38C1988A4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Sitemap.txt: for any website go to sitemap generator and place the URL of the website</a:t>
            </a:r>
          </a:p>
          <a:p>
            <a:r>
              <a:rPr lang="en-IN" dirty="0"/>
              <a:t>Robot.txt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4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8EC1-A988-F37B-13F1-05FAB135B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16" y="745701"/>
            <a:ext cx="3528060" cy="3893582"/>
          </a:xfrm>
        </p:spPr>
        <p:txBody>
          <a:bodyPr>
            <a:normAutofit/>
          </a:bodyPr>
          <a:lstStyle/>
          <a:p>
            <a:r>
              <a:rPr lang="en-IN" sz="3600" dirty="0"/>
              <a:t>Sitemap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B619E2F-7682-403B-9AEB-E32B1087C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6" y="4846083"/>
            <a:ext cx="3509514" cy="12118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F422342-7AC9-4223-85E5-22A9760D5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E9BBE-3524-12F8-1BE3-1F1EA1116E5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309055" y="1212981"/>
            <a:ext cx="10727929" cy="5471244"/>
          </a:xfrm>
          <a:noFill/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4ADA0D0-1AB0-408C-B918-0F356096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F305E9-AE7B-46C7-A36C-F5B9B8A0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7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004BB2-EFB4-6E79-AE3B-F651821623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34"/>
          <a:stretch/>
        </p:blipFill>
        <p:spPr>
          <a:xfrm>
            <a:off x="19" y="0"/>
            <a:ext cx="12191981" cy="6857990"/>
          </a:xfrm>
          <a:prstGeom prst="rect">
            <a:avLst/>
          </a:prstGeom>
          <a:noFill/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8F8F34-BF99-476E-86C4-4B4576C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Footer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F85241D-C269-487B-9FC3-6FC98CC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8/9/2023</a:t>
            </a:fld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27B8990-9A72-47E9-AC0A-F6EB302F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222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76F3-F016-4CA7-9219-E414C231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8000-3C41-8CBF-09BE-669C60DFC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08B61-413B-E643-0021-1890CFBC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323"/>
            <a:ext cx="12192000" cy="563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19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4B1949-F4A7-44BB-A4B7-EB27A9663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2724282"/>
            <a:ext cx="3528060" cy="3333618"/>
          </a:xfrm>
        </p:spPr>
        <p:txBody>
          <a:bodyPr anchor="b">
            <a:normAutofit/>
          </a:bodyPr>
          <a:lstStyle/>
          <a:p>
            <a:r>
              <a:rPr lang="en-US" sz="3600" dirty="0"/>
              <a:t>Robots.txt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EE29103-7EAD-4144-AEB1-9015FB7BF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7" y="952505"/>
            <a:ext cx="3509513" cy="1676390"/>
          </a:xfrm>
        </p:spPr>
        <p:txBody>
          <a:bodyPr anchor="t"/>
          <a:lstStyle/>
          <a:p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8F8F34-BF99-476E-86C4-4B4576C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CDF07-04F2-736C-12F3-7658CE60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24" y="952506"/>
            <a:ext cx="6023627" cy="5105392"/>
          </a:xfrm>
          <a:prstGeom prst="rect">
            <a:avLst/>
          </a:prstGeom>
          <a:noFill/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F85241D-C269-487B-9FC3-6FC98CC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27B8990-9A72-47E9-AC0A-F6EB302F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2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4B1949-F4A7-44BB-A4B7-EB27A9663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2724282"/>
            <a:ext cx="3528060" cy="3333618"/>
          </a:xfrm>
        </p:spPr>
        <p:txBody>
          <a:bodyPr anchor="b">
            <a:normAutofit/>
          </a:bodyPr>
          <a:lstStyle/>
          <a:p>
            <a:r>
              <a:rPr lang="en-US" sz="3600" dirty="0"/>
              <a:t>Robots.txt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EE29103-7EAD-4144-AEB1-9015FB7BF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7" y="952505"/>
            <a:ext cx="3509513" cy="1676390"/>
          </a:xfrm>
        </p:spPr>
        <p:txBody>
          <a:bodyPr anchor="t"/>
          <a:lstStyle/>
          <a:p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8F8F34-BF99-476E-86C4-4B4576C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F48BF-6301-BA44-7A9D-70FDAD90E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6" y="443089"/>
            <a:ext cx="6438620" cy="5971821"/>
          </a:xfrm>
          <a:prstGeom prst="rect">
            <a:avLst/>
          </a:prstGeom>
          <a:noFill/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F85241D-C269-487B-9FC3-6FC98CC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27B8990-9A72-47E9-AC0A-F6EB302F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84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4B1949-F4A7-44BB-A4B7-EB27A9663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2724282"/>
            <a:ext cx="3528060" cy="3333618"/>
          </a:xfrm>
        </p:spPr>
        <p:txBody>
          <a:bodyPr anchor="b">
            <a:normAutofit/>
          </a:bodyPr>
          <a:lstStyle/>
          <a:p>
            <a:r>
              <a:rPr lang="en-US" sz="3600" dirty="0"/>
              <a:t>EXAMPLE OF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EE29103-7EAD-4144-AEB1-9015FB7BF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7" y="952505"/>
            <a:ext cx="3509513" cy="1676390"/>
          </a:xfrm>
        </p:spPr>
        <p:txBody>
          <a:bodyPr anchor="t"/>
          <a:lstStyle/>
          <a:p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8F8F34-BF99-476E-86C4-4B4576C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A069C-F34E-9E62-ADF6-2F3ECC17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400" y="952506"/>
            <a:ext cx="6151074" cy="5105392"/>
          </a:xfrm>
          <a:prstGeom prst="rect">
            <a:avLst/>
          </a:prstGeom>
          <a:noFill/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7F85241D-C269-487B-9FC3-6FC98CC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27B8990-9A72-47E9-AC0A-F6EB302F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58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D059-FB60-30A9-B101-7CB0F9C4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Basic Crawl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B0CE-C5D8-FBA1-4945-13C392249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1019C-5574-4F50-87E6-70E2A113FCB2}"/>
              </a:ext>
            </a:extLst>
          </p:cNvPr>
          <p:cNvSpPr/>
          <p:nvPr/>
        </p:nvSpPr>
        <p:spPr>
          <a:xfrm>
            <a:off x="4035490" y="2284253"/>
            <a:ext cx="1595535" cy="783771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Download web pages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E52ADD-6EA3-7DB4-3177-1F2809E06D53}"/>
              </a:ext>
            </a:extLst>
          </p:cNvPr>
          <p:cNvSpPr/>
          <p:nvPr/>
        </p:nvSpPr>
        <p:spPr>
          <a:xfrm>
            <a:off x="4973216" y="1679510"/>
            <a:ext cx="1296955" cy="419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Seed URL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AF951A-B52A-6A1B-34B2-1D0601FB6873}"/>
              </a:ext>
            </a:extLst>
          </p:cNvPr>
          <p:cNvCxnSpPr>
            <a:cxnSpLocks/>
          </p:cNvCxnSpPr>
          <p:nvPr/>
        </p:nvCxnSpPr>
        <p:spPr>
          <a:xfrm>
            <a:off x="4683969" y="1548882"/>
            <a:ext cx="0" cy="746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F1C6C9F-13C7-6512-CC80-4D23B0EE06D0}"/>
              </a:ext>
            </a:extLst>
          </p:cNvPr>
          <p:cNvSpPr/>
          <p:nvPr/>
        </p:nvSpPr>
        <p:spPr>
          <a:xfrm>
            <a:off x="3480318" y="3428415"/>
            <a:ext cx="2621902" cy="391886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Extract Links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5099C8C6-EFC2-50AF-1BB3-268D6CD568B5}"/>
              </a:ext>
            </a:extLst>
          </p:cNvPr>
          <p:cNvSpPr/>
          <p:nvPr/>
        </p:nvSpPr>
        <p:spPr>
          <a:xfrm>
            <a:off x="3636606" y="4332904"/>
            <a:ext cx="2393302" cy="169117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Unvisited Link Available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BC8F50-2378-D6A7-991D-AC9F3A87157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833257" y="3820301"/>
            <a:ext cx="0" cy="512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1E0134-FACF-D6A5-6BC3-7D9E6894596B}"/>
              </a:ext>
            </a:extLst>
          </p:cNvPr>
          <p:cNvCxnSpPr>
            <a:cxnSpLocks/>
          </p:cNvCxnSpPr>
          <p:nvPr/>
        </p:nvCxnSpPr>
        <p:spPr>
          <a:xfrm>
            <a:off x="4705740" y="3111755"/>
            <a:ext cx="0" cy="3166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5BAC3F-32A0-A89B-7E98-5B15CDE7B7DF}"/>
              </a:ext>
            </a:extLst>
          </p:cNvPr>
          <p:cNvCxnSpPr>
            <a:cxnSpLocks/>
          </p:cNvCxnSpPr>
          <p:nvPr/>
        </p:nvCxnSpPr>
        <p:spPr>
          <a:xfrm>
            <a:off x="6046468" y="5178490"/>
            <a:ext cx="19591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C63E8-0BC2-C687-EA2E-870187B625A7}"/>
              </a:ext>
            </a:extLst>
          </p:cNvPr>
          <p:cNvSpPr/>
          <p:nvPr/>
        </p:nvSpPr>
        <p:spPr>
          <a:xfrm>
            <a:off x="6029908" y="4180692"/>
            <a:ext cx="1789144" cy="741497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No more Links to fetch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4E6D65A4-865E-8BAF-541C-C76A086F6519}"/>
              </a:ext>
            </a:extLst>
          </p:cNvPr>
          <p:cNvSpPr/>
          <p:nvPr/>
        </p:nvSpPr>
        <p:spPr>
          <a:xfrm rot="16470498">
            <a:off x="1886530" y="3512392"/>
            <a:ext cx="2649893" cy="85024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3C18ED-623F-DF81-94CB-481A5F8D5C04}"/>
              </a:ext>
            </a:extLst>
          </p:cNvPr>
          <p:cNvSpPr/>
          <p:nvPr/>
        </p:nvSpPr>
        <p:spPr>
          <a:xfrm>
            <a:off x="2562998" y="5442232"/>
            <a:ext cx="1296955" cy="419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016911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C0B3-9E1D-8B1C-1A5D-1FCDE47C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Crawler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3262-C54D-B16A-90D4-EC8C6D20A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Begin with known “seed” URL</a:t>
            </a:r>
          </a:p>
          <a:p>
            <a:r>
              <a:rPr lang="en-IN" dirty="0"/>
              <a:t>Fetch and parse them</a:t>
            </a:r>
          </a:p>
          <a:p>
            <a:pPr lvl="1"/>
            <a:r>
              <a:rPr lang="en-IN" dirty="0"/>
              <a:t>Extract URLs they point to</a:t>
            </a:r>
          </a:p>
          <a:p>
            <a:pPr lvl="1"/>
            <a:r>
              <a:rPr lang="en-IN" dirty="0"/>
              <a:t>Place the extracted URLs on a queue</a:t>
            </a:r>
          </a:p>
          <a:p>
            <a:r>
              <a:rPr lang="en-IN" dirty="0"/>
              <a:t>Fetch each URL on the queue and repeat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B406A-306B-F138-C505-6767360D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50975"/>
            <a:ext cx="5242858" cy="49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89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8210-764C-835E-6DDF-4DD7FE14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Complication in Crawling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6396-912A-4EFF-8605-14DCA0FA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Scaling: Web crawling is not feasible with one machine</a:t>
            </a:r>
          </a:p>
          <a:p>
            <a:r>
              <a:rPr lang="en-IN" dirty="0"/>
              <a:t>Malicious pages</a:t>
            </a:r>
          </a:p>
          <a:p>
            <a:pPr lvl="1"/>
            <a:r>
              <a:rPr lang="en-IN" dirty="0"/>
              <a:t>Spam pages</a:t>
            </a:r>
          </a:p>
          <a:p>
            <a:pPr lvl="1"/>
            <a:r>
              <a:rPr lang="en-IN" dirty="0"/>
              <a:t>Spider traps- include dynamically generated</a:t>
            </a:r>
          </a:p>
          <a:p>
            <a:r>
              <a:rPr lang="en-IN" dirty="0"/>
              <a:t>Even non malicious pages pose challenges</a:t>
            </a:r>
          </a:p>
          <a:p>
            <a:pPr lvl="1"/>
            <a:r>
              <a:rPr lang="en-IN" dirty="0"/>
              <a:t>Latency( bandwidth to remote servers vary)</a:t>
            </a:r>
          </a:p>
          <a:p>
            <a:pPr lvl="1"/>
            <a:r>
              <a:rPr lang="en-IN" dirty="0"/>
              <a:t>Webmaster’s stipulations</a:t>
            </a:r>
          </a:p>
          <a:p>
            <a:pPr lvl="2"/>
            <a:r>
              <a:rPr lang="en-IN" dirty="0"/>
              <a:t>How deep should you crawl a site URL hierarchy?</a:t>
            </a:r>
          </a:p>
          <a:p>
            <a:pPr lvl="2"/>
            <a:r>
              <a:rPr lang="en-IN" dirty="0"/>
              <a:t>Site mirror &amp; duplicate pages</a:t>
            </a:r>
          </a:p>
          <a:p>
            <a:r>
              <a:rPr lang="en-IN" dirty="0"/>
              <a:t>Politeness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22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5058-B80C-DA83-6646-F314069F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(Contd..)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36425-299C-1D4F-92D7-1E2DB9DF9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Can I get high value content quickly</a:t>
            </a:r>
          </a:p>
          <a:p>
            <a:r>
              <a:rPr lang="en-IN" dirty="0"/>
              <a:t>Coverage and freshness</a:t>
            </a:r>
          </a:p>
          <a:p>
            <a:r>
              <a:rPr lang="en-IN" dirty="0"/>
              <a:t>How to be fair?</a:t>
            </a:r>
          </a:p>
          <a:p>
            <a:r>
              <a:rPr lang="en-IN" dirty="0"/>
              <a:t>Politeness </a:t>
            </a:r>
          </a:p>
          <a:p>
            <a:r>
              <a:rPr lang="en-IN" dirty="0"/>
              <a:t>Beware of adversaries </a:t>
            </a:r>
          </a:p>
        </p:txBody>
      </p:sp>
    </p:spTree>
    <p:extLst>
      <p:ext uri="{BB962C8B-B14F-4D97-AF65-F5344CB8AC3E}">
        <p14:creationId xmlns:p14="http://schemas.microsoft.com/office/powerpoint/2010/main" val="351519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AD55-4BA3-274E-0B41-90A87277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Scaling to the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D014-346A-1A2F-B31C-F0E8DE18D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Caching</a:t>
            </a:r>
          </a:p>
          <a:p>
            <a:pPr lvl="1"/>
            <a:r>
              <a:rPr lang="en-IN" dirty="0"/>
              <a:t>Cache IP address to avoid repeated DNS lookup</a:t>
            </a:r>
          </a:p>
          <a:p>
            <a:pPr lvl="1"/>
            <a:r>
              <a:rPr lang="en-IN" dirty="0"/>
              <a:t>Cache robots.txt</a:t>
            </a:r>
          </a:p>
          <a:p>
            <a:r>
              <a:rPr lang="en-IN" dirty="0"/>
              <a:t>Avoid fetching duplicate pages</a:t>
            </a:r>
          </a:p>
          <a:p>
            <a:pPr lvl="1"/>
            <a:r>
              <a:rPr lang="en-IN" dirty="0"/>
              <a:t>Remember fetched URLs</a:t>
            </a:r>
          </a:p>
          <a:p>
            <a:r>
              <a:rPr lang="en-IN" dirty="0"/>
              <a:t>Prioritize</a:t>
            </a:r>
          </a:p>
          <a:p>
            <a:pPr lvl="1"/>
            <a:r>
              <a:rPr lang="en-IN" dirty="0"/>
              <a:t>For freshness</a:t>
            </a:r>
          </a:p>
        </p:txBody>
      </p:sp>
    </p:spTree>
    <p:extLst>
      <p:ext uri="{BB962C8B-B14F-4D97-AF65-F5344CB8AC3E}">
        <p14:creationId xmlns:p14="http://schemas.microsoft.com/office/powerpoint/2010/main" val="992643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3990-E593-B456-97D2-F6CDFE7E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15" y="930113"/>
            <a:ext cx="3536516" cy="2245737"/>
          </a:xfrm>
        </p:spPr>
        <p:txBody>
          <a:bodyPr>
            <a:normAutofit/>
          </a:bodyPr>
          <a:lstStyle/>
          <a:p>
            <a:r>
              <a:rPr lang="en-IN" dirty="0"/>
              <a:t>Scalable Crawl Architecture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2580D06-6FE4-4119-8751-FC50CB22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88D9F9BB-08AC-4DDA-BFD1-DA29A99B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37" y="3429000"/>
            <a:ext cx="3521564" cy="26369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A6CC8-305D-C2FD-1C65-44E7556F5A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94" t="29787" r="34610" b="23750"/>
          <a:stretch/>
        </p:blipFill>
        <p:spPr>
          <a:xfrm>
            <a:off x="3571824" y="1293817"/>
            <a:ext cx="7705725" cy="4546490"/>
          </a:xfrm>
          <a:prstGeom prst="rect">
            <a:avLst/>
          </a:prstGeom>
          <a:noFill/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9625D53-AF20-4FA5-A107-0467640F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ACFA3A88-BE9B-4766-8AA5-E2A9B5C4BB10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936915-9740-4DE1-9465-4DC7FD64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/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94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218A-816A-0987-95ED-F6E9B41F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93BBD-EB49-83E8-A5D8-F2F8B34E3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queue of URLs/website</a:t>
            </a:r>
          </a:p>
          <a:p>
            <a:pPr lvl="1"/>
            <a:r>
              <a:rPr lang="en-IN" dirty="0"/>
              <a:t>Allows throttling the access per site</a:t>
            </a:r>
          </a:p>
          <a:p>
            <a:r>
              <a:rPr lang="en-IN" dirty="0"/>
              <a:t>Dequeue an URL </a:t>
            </a:r>
            <a:r>
              <a:rPr lang="en-IN" dirty="0">
                <a:sym typeface="Wingdings" panose="05000000000000000000" pitchFamily="2" charset="2"/>
              </a:rPr>
              <a:t> Download the page  Extract URLs  Add them to queue  Iterate</a:t>
            </a:r>
          </a:p>
          <a:p>
            <a:r>
              <a:rPr lang="en-IN" dirty="0">
                <a:sym typeface="Wingdings" panose="05000000000000000000" pitchFamily="2" charset="2"/>
              </a:rPr>
              <a:t>A bloom filter to avoid revisiting same URL.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489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C7E0-5E06-4957-FEC5-14598445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Bloom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BA32-996B-C640-7110-053020A4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bloom filter is a space –efficient probabilistic data structure that is used to test structure that is used to test whether an element is a member of a set.</a:t>
            </a:r>
          </a:p>
          <a:p>
            <a:r>
              <a:rPr lang="en-IN" dirty="0"/>
              <a:t>Working of bloom filter</a:t>
            </a:r>
          </a:p>
          <a:p>
            <a:pPr lvl="1"/>
            <a:r>
              <a:rPr lang="en-IN" dirty="0"/>
              <a:t>An empty bloom filter is a bit array of m bits, all set to zero.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/>
              <a:t>We need k number of hash function to calculate the hashes for a given input. </a:t>
            </a:r>
          </a:p>
          <a:p>
            <a:pPr lvl="1"/>
            <a:r>
              <a:rPr lang="en-IN" dirty="0"/>
              <a:t>To add an item the bits at k indices h1(x), h2(x),..,</a:t>
            </a:r>
            <a:r>
              <a:rPr lang="en-IN" dirty="0" err="1"/>
              <a:t>hk</a:t>
            </a:r>
            <a:r>
              <a:rPr lang="en-IN" dirty="0"/>
              <a:t>(x) are set. Indices are calculated using hash function.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585914-19BA-22C1-4598-CB1ECD142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75397"/>
              </p:ext>
            </p:extLst>
          </p:nvPr>
        </p:nvGraphicFramePr>
        <p:xfrm>
          <a:off x="1537477" y="377277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52316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46560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8987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795367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58354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69939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574770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91043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463292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3000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13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2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570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30F6-E7C4-F412-9A4D-9D180559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AC15-9204-F79F-4A5A-E74C26A1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“BIT”</a:t>
            </a:r>
          </a:p>
          <a:p>
            <a:pPr lvl="1"/>
            <a:r>
              <a:rPr lang="en-IN" dirty="0"/>
              <a:t>h1(“BIT”)%10=1</a:t>
            </a:r>
          </a:p>
          <a:p>
            <a:pPr lvl="1"/>
            <a:r>
              <a:rPr lang="en-IN" dirty="0"/>
              <a:t>h2(“BIT”)%10=4					</a:t>
            </a:r>
          </a:p>
          <a:p>
            <a:pPr lvl="1"/>
            <a:r>
              <a:rPr lang="en-IN" dirty="0"/>
              <a:t>h3(“BIT”)%10=7					</a:t>
            </a:r>
            <a:r>
              <a:rPr lang="en-IN" b="1" dirty="0"/>
              <a:t>BIT</a:t>
            </a:r>
          </a:p>
          <a:p>
            <a:endParaRPr lang="en-IN" dirty="0"/>
          </a:p>
          <a:p>
            <a:r>
              <a:rPr lang="en-IN" dirty="0"/>
              <a:t>Again “Bloom”</a:t>
            </a:r>
          </a:p>
          <a:p>
            <a:pPr lvl="1"/>
            <a:r>
              <a:rPr lang="en-IN" dirty="0"/>
              <a:t>h1(“Bloom”)%10=3					</a:t>
            </a:r>
            <a:r>
              <a:rPr lang="en-IN" b="1" dirty="0"/>
              <a:t> BLOOM</a:t>
            </a:r>
          </a:p>
          <a:p>
            <a:pPr lvl="1"/>
            <a:r>
              <a:rPr lang="en-IN" dirty="0"/>
              <a:t>h2(“Bloom”)%10=5</a:t>
            </a:r>
          </a:p>
          <a:p>
            <a:pPr lvl="1"/>
            <a:r>
              <a:rPr lang="en-IN" dirty="0"/>
              <a:t>h3(“Bloom”)%10=4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44A6BF-4BC1-0216-2D54-0A60ABB4A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260134"/>
              </p:ext>
            </p:extLst>
          </p:nvPr>
        </p:nvGraphicFramePr>
        <p:xfrm>
          <a:off x="3416298" y="202882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52316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46560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8987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795367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58354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69939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574770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91043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463292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3000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13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2933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62FD2B3-31FA-526C-3FB1-8D5AA56A9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724628"/>
              </p:ext>
            </p:extLst>
          </p:nvPr>
        </p:nvGraphicFramePr>
        <p:xfrm>
          <a:off x="3416298" y="380475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52316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46560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8987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795367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58354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69939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574770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91043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463292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3000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13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2933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630DDDE-B0E5-68CB-0A89-AFC4C007B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319407"/>
              </p:ext>
            </p:extLst>
          </p:nvPr>
        </p:nvGraphicFramePr>
        <p:xfrm>
          <a:off x="3416298" y="543138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352316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46560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8987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795367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58354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069939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574770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91043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463292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3000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13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29337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6492C200-84FB-03DF-25F1-61E0761BF5B5}"/>
              </a:ext>
            </a:extLst>
          </p:cNvPr>
          <p:cNvSpPr/>
          <p:nvPr/>
        </p:nvSpPr>
        <p:spPr>
          <a:xfrm rot="5400000">
            <a:off x="7300685" y="1468211"/>
            <a:ext cx="359225" cy="7567127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0D1BD92-03C5-C7EB-B584-DF545F3B4DC2}"/>
              </a:ext>
            </a:extLst>
          </p:cNvPr>
          <p:cNvSpPr/>
          <p:nvPr/>
        </p:nvSpPr>
        <p:spPr>
          <a:xfrm rot="5400000">
            <a:off x="7182496" y="-180193"/>
            <a:ext cx="359225" cy="7567127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9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724E-0DB2-3A29-48C1-F757FA34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Bloom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CD9F-474E-3517-46AC-8530E0D04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I want to check “BIT” is present or not, then repeat the same process in reverse order.</a:t>
            </a:r>
          </a:p>
          <a:p>
            <a:r>
              <a:rPr lang="en-IN" dirty="0"/>
              <a:t>Compute the respective hashes using h1, h2 and h3 and check if all these indices are set to 1 in the bit array.</a:t>
            </a:r>
          </a:p>
          <a:p>
            <a:pPr lvl="1"/>
            <a:r>
              <a:rPr lang="en-IN" dirty="0"/>
              <a:t>If all the bits are set to 1of corresponding bits then we can say that the “BIT” is probably present. </a:t>
            </a:r>
          </a:p>
          <a:p>
            <a:pPr lvl="1"/>
            <a:r>
              <a:rPr lang="en-IN" dirty="0"/>
              <a:t>If any of the bits at these indices are 0 then “BIT” is not present</a:t>
            </a:r>
          </a:p>
          <a:p>
            <a:r>
              <a:rPr lang="en-IN" dirty="0"/>
              <a:t>False positive in bloom filter</a:t>
            </a:r>
          </a:p>
          <a:p>
            <a:pPr lvl="1"/>
            <a:r>
              <a:rPr lang="en-IN" dirty="0"/>
              <a:t>Can be controlled by the size of bloom filter</a:t>
            </a:r>
          </a:p>
          <a:p>
            <a:pPr marL="27432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716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45C2-84A2-BD70-608B-A73C9B9D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Frontier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5EE6-3D6D-E936-CF22-E0790D186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URL frontier is priority queue contains unseen URLs.</a:t>
            </a:r>
          </a:p>
          <a:p>
            <a:r>
              <a:rPr lang="en-IN" dirty="0"/>
              <a:t>Starts with a seed URLs</a:t>
            </a:r>
          </a:p>
          <a:p>
            <a:pPr lvl="1"/>
            <a:r>
              <a:rPr lang="en-IN" dirty="0"/>
              <a:t>Should we do BFS or DFS</a:t>
            </a:r>
          </a:p>
        </p:txBody>
      </p:sp>
    </p:spTree>
    <p:extLst>
      <p:ext uri="{BB962C8B-B14F-4D97-AF65-F5344CB8AC3E}">
        <p14:creationId xmlns:p14="http://schemas.microsoft.com/office/powerpoint/2010/main" val="3944838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F7EF-58A1-144E-C4FE-7011518E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>
            <a:normAutofit/>
          </a:bodyPr>
          <a:lstStyle/>
          <a:p>
            <a:r>
              <a:rPr lang="en-IN" sz="4400"/>
              <a:t>Metric and Terminology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2580D06-6FE4-4119-8751-FC50CB22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9D4F94C-ADDE-4388-B413-18D186CF9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247091"/>
            <a:ext cx="3528060" cy="38254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ABDF0-DBAA-F34C-E285-4E4718213E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54" r="1" b="4369"/>
          <a:stretch/>
        </p:blipFill>
        <p:spPr>
          <a:xfrm>
            <a:off x="2080276" y="2028825"/>
            <a:ext cx="7940024" cy="4202470"/>
          </a:xfrm>
          <a:prstGeom prst="rect">
            <a:avLst/>
          </a:prstGeom>
          <a:noFill/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9625D53-AF20-4FA5-A107-0467640F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FA3A88-BE9B-4766-8AA5-E2A9B5C4BB10}" type="datetime1">
              <a:rPr lang="en-US" smtClean="0"/>
              <a:pPr>
                <a:spcAft>
                  <a:spcPts val="600"/>
                </a:spcAft>
              </a:pPr>
              <a:t>8/9/2023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936915-9740-4DE1-9465-4DC7FD64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81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BB2F7-A4C6-62E3-45E1-FABF2ADC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Crawler Traps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D472B-81F5-2A93-6675-138F2CB9B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Website can generate possibly infinite URLs</a:t>
            </a:r>
          </a:p>
          <a:p>
            <a:pPr lvl="1"/>
            <a:r>
              <a:rPr lang="en-IN" dirty="0"/>
              <a:t>Often setup by spammers</a:t>
            </a:r>
          </a:p>
          <a:p>
            <a:pPr lvl="1"/>
            <a:r>
              <a:rPr lang="en-IN" dirty="0"/>
              <a:t>Dynamically redirect to infinitely deep directory structure</a:t>
            </a:r>
          </a:p>
          <a:p>
            <a:r>
              <a:rPr lang="en-IN" dirty="0"/>
              <a:t>Several Ideas to counter the traps has been suggested</a:t>
            </a:r>
          </a:p>
          <a:p>
            <a:pPr lvl="1"/>
            <a:r>
              <a:rPr lang="en-IN" dirty="0"/>
              <a:t>Budget Enforcement with anti-spam “Budget Enforcement with AntiSpam Tactics” (BEAST)     </a:t>
            </a:r>
          </a:p>
        </p:txBody>
      </p:sp>
    </p:spTree>
    <p:extLst>
      <p:ext uri="{BB962C8B-B14F-4D97-AF65-F5344CB8AC3E}">
        <p14:creationId xmlns:p14="http://schemas.microsoft.com/office/powerpoint/2010/main" val="2232643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F299-A731-D9A7-C298-4793BBDC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vs Incremental Crawling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0C97-E21A-5F39-409D-4F7D10380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Incremental crawling</a:t>
            </a:r>
          </a:p>
          <a:p>
            <a:pPr lvl="1"/>
            <a:r>
              <a:rPr lang="en-IN" dirty="0"/>
              <a:t>Works with a base snapshot of web</a:t>
            </a:r>
          </a:p>
          <a:p>
            <a:pPr lvl="1"/>
            <a:r>
              <a:rPr lang="en-IN" dirty="0"/>
              <a:t>Incrementally update the snapshot with new/ modified / removed pages</a:t>
            </a:r>
          </a:p>
          <a:p>
            <a:pPr lvl="1"/>
            <a:r>
              <a:rPr lang="en-IN" dirty="0"/>
              <a:t>Works well for static web pages</a:t>
            </a:r>
          </a:p>
          <a:p>
            <a:r>
              <a:rPr lang="en-IN" dirty="0"/>
              <a:t>Batch crawling</a:t>
            </a:r>
          </a:p>
          <a:p>
            <a:pPr lvl="1"/>
            <a:r>
              <a:rPr lang="en-IN" dirty="0"/>
              <a:t>Easier to implement</a:t>
            </a:r>
          </a:p>
          <a:p>
            <a:pPr lvl="1"/>
            <a:r>
              <a:rPr lang="en-IN" dirty="0"/>
              <a:t>Works well for dynamic web pages</a:t>
            </a:r>
          </a:p>
          <a:p>
            <a:r>
              <a:rPr lang="en-IN" dirty="0"/>
              <a:t>Usually we mix both</a:t>
            </a:r>
          </a:p>
        </p:txBody>
      </p:sp>
    </p:spTree>
    <p:extLst>
      <p:ext uri="{BB962C8B-B14F-4D97-AF65-F5344CB8AC3E}">
        <p14:creationId xmlns:p14="http://schemas.microsoft.com/office/powerpoint/2010/main" val="3463548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1CB0-2D89-03F7-9762-D7064977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 Crawler Must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33C96-747B-1A2D-77EA-6C0BA50AD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 Polite: Respect implicit and explicit politeness consideration</a:t>
            </a:r>
          </a:p>
          <a:p>
            <a:pPr lvl="1"/>
            <a:r>
              <a:rPr lang="en-IN" dirty="0"/>
              <a:t>Only crawled allowed pages</a:t>
            </a:r>
          </a:p>
          <a:p>
            <a:pPr lvl="1"/>
            <a:r>
              <a:rPr lang="en-IN" dirty="0"/>
              <a:t>Respect robots.txt </a:t>
            </a:r>
          </a:p>
          <a:p>
            <a:r>
              <a:rPr lang="en-IN" dirty="0"/>
              <a:t>Be robust: Be immune to spider  traps and other malicious behaviour from web server</a:t>
            </a:r>
          </a:p>
        </p:txBody>
      </p:sp>
    </p:spTree>
    <p:extLst>
      <p:ext uri="{BB962C8B-B14F-4D97-AF65-F5344CB8AC3E}">
        <p14:creationId xmlns:p14="http://schemas.microsoft.com/office/powerpoint/2010/main" val="285680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2DD5-FE01-A8AB-B7C9-3A23AC8F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any crawler should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C8664-E98B-7AC2-6DC3-619A210C5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Fetch pages of higher quality first</a:t>
            </a:r>
          </a:p>
          <a:p>
            <a:r>
              <a:rPr lang="en-IN" dirty="0"/>
              <a:t>Continuous operation: continue fetching fresh copies of a previously fetched page</a:t>
            </a:r>
          </a:p>
          <a:p>
            <a:r>
              <a:rPr lang="en-IN" dirty="0"/>
              <a:t>Be capable of distributed operation: designed to run on multiple distributed machine.</a:t>
            </a:r>
          </a:p>
          <a:p>
            <a:r>
              <a:rPr lang="en-IN" dirty="0"/>
              <a:t>Be scalable: designed to increase the crawl rate by adding more machine</a:t>
            </a:r>
          </a:p>
          <a:p>
            <a:r>
              <a:rPr lang="en-IN" dirty="0"/>
              <a:t>Performance/Efficiency: Permit full use of available processing and network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08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7F56-A2BB-1138-86CF-4A0066E5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 for a 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B9AF0-82CD-3274-7E4A-5D966ACE5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fast does it index</a:t>
            </a:r>
          </a:p>
          <a:p>
            <a:pPr lvl="1"/>
            <a:r>
              <a:rPr lang="en-IN" dirty="0"/>
              <a:t>No of document per hour</a:t>
            </a:r>
          </a:p>
          <a:p>
            <a:pPr lvl="1"/>
            <a:r>
              <a:rPr lang="en-IN" dirty="0"/>
              <a:t>Average document size</a:t>
            </a:r>
          </a:p>
          <a:p>
            <a:r>
              <a:rPr lang="en-IN" dirty="0"/>
              <a:t>How fast does it index</a:t>
            </a:r>
          </a:p>
          <a:p>
            <a:pPr lvl="1"/>
            <a:r>
              <a:rPr lang="en-IN" dirty="0"/>
              <a:t>Latency as a fraction of index size</a:t>
            </a:r>
          </a:p>
          <a:p>
            <a:r>
              <a:rPr lang="en-IN" dirty="0"/>
              <a:t>Expressiveness of query language</a:t>
            </a:r>
          </a:p>
          <a:p>
            <a:pPr lvl="1"/>
            <a:r>
              <a:rPr lang="en-IN" dirty="0"/>
              <a:t>Ability to express complex information needs</a:t>
            </a:r>
          </a:p>
          <a:p>
            <a:pPr lvl="1"/>
            <a:r>
              <a:rPr lang="en-IN" dirty="0"/>
              <a:t>Speed on complex queries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94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07EA-D54F-9E2F-A1C8-B7E1FED8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Measure for a 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1746-7A0B-12EE-889A-1CE8D5AD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of the preceding criteria are measurable are measurable: we can quantify speed/</a:t>
            </a:r>
            <a:r>
              <a:rPr lang="en-IN" dirty="0" err="1"/>
              <a:t>sixe</a:t>
            </a:r>
            <a:endParaRPr lang="en-IN" dirty="0"/>
          </a:p>
          <a:p>
            <a:r>
              <a:rPr lang="en-IN" dirty="0"/>
              <a:t>The key measure: User Happiness</a:t>
            </a:r>
          </a:p>
          <a:p>
            <a:pPr lvl="1"/>
            <a:r>
              <a:rPr lang="en-IN" dirty="0"/>
              <a:t>Speed of response/size of index are factors</a:t>
            </a:r>
          </a:p>
          <a:p>
            <a:pPr lvl="1"/>
            <a:r>
              <a:rPr lang="en-IN" dirty="0"/>
              <a:t>But blindingly fast, useless answer won’t make a user happy</a:t>
            </a:r>
          </a:p>
          <a:p>
            <a:r>
              <a:rPr lang="en-IN" dirty="0"/>
              <a:t>Needs a way to quantifying user happiness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574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401EA-39C0-1628-0A49-CD5B846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Measuring User Happiness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AF05-A2A5-A3DD-4558-53FD422A4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Issue: who is the user</a:t>
            </a:r>
          </a:p>
          <a:p>
            <a:r>
              <a:rPr lang="en-IN" dirty="0"/>
              <a:t>Web Engine:</a:t>
            </a:r>
          </a:p>
          <a:p>
            <a:pPr lvl="1"/>
            <a:r>
              <a:rPr lang="en-IN" dirty="0"/>
              <a:t>User finds what s/he wants and return to the engine</a:t>
            </a:r>
          </a:p>
          <a:p>
            <a:pPr lvl="2"/>
            <a:r>
              <a:rPr lang="en-IN" dirty="0"/>
              <a:t>Can measure rate of return </a:t>
            </a:r>
          </a:p>
          <a:p>
            <a:r>
              <a:rPr lang="en-IN" dirty="0"/>
              <a:t>E-commerce site:</a:t>
            </a:r>
          </a:p>
          <a:p>
            <a:pPr lvl="1"/>
            <a:r>
              <a:rPr lang="en-IN" dirty="0"/>
              <a:t>User finds what s/he wants and purchase</a:t>
            </a:r>
          </a:p>
          <a:p>
            <a:pPr lvl="1"/>
            <a:r>
              <a:rPr lang="en-IN" dirty="0"/>
              <a:t>Can be measured in time to purchase or fraction of searches who becomes buyer</a:t>
            </a:r>
          </a:p>
          <a:p>
            <a:r>
              <a:rPr lang="en-IN" dirty="0"/>
              <a:t>Enterprise (Company/Govt/Academic): care about “User productivity”</a:t>
            </a:r>
          </a:p>
          <a:p>
            <a:pPr lvl="1"/>
            <a:r>
              <a:rPr lang="en-IN" dirty="0"/>
              <a:t>How much time do my user save when looking for information</a:t>
            </a:r>
          </a:p>
          <a:p>
            <a:pPr lvl="1"/>
            <a:r>
              <a:rPr lang="en-IN" dirty="0"/>
              <a:t>Many other criteria having to do with breadth of access, secure access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138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EB49-7BC3-DF8F-751A-D619B28F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Evaluating IR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3A04-BD36-1D3D-50DA-4BE74F70E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information need is transfer into a query</a:t>
            </a:r>
          </a:p>
          <a:p>
            <a:r>
              <a:rPr lang="en-IN" dirty="0"/>
              <a:t>Relevance is accessed relative to the information need not the query. Example?</a:t>
            </a:r>
          </a:p>
          <a:p>
            <a:r>
              <a:rPr lang="en-IN" dirty="0"/>
              <a:t>Query: Wine Red White Heart Attack Effective</a:t>
            </a:r>
          </a:p>
          <a:p>
            <a:r>
              <a:rPr lang="en-IN" dirty="0"/>
              <a:t>Information Need: I am looking for information on whether drinking red wine is more effective at reducing your risk of heart attack than white wine.</a:t>
            </a:r>
          </a:p>
          <a:p>
            <a:r>
              <a:rPr lang="en-IN" dirty="0"/>
              <a:t>Evaluate whether the doc address the information need, not whether it has these words </a:t>
            </a:r>
          </a:p>
        </p:txBody>
      </p:sp>
    </p:spTree>
    <p:extLst>
      <p:ext uri="{BB962C8B-B14F-4D97-AF65-F5344CB8AC3E}">
        <p14:creationId xmlns:p14="http://schemas.microsoft.com/office/powerpoint/2010/main" val="3910851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E07B-6636-9FE4-CFC4-72A6CA7F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Unranked Retrieval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40B9A-C264-4F99-6AA9-B699B3F7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Precision and Recall:</a:t>
            </a:r>
          </a:p>
          <a:p>
            <a:pPr lvl="1"/>
            <a:r>
              <a:rPr lang="en-IN" dirty="0"/>
              <a:t>Precision: fraction of retrieved docs that are relevant = P(Relevant/Retrieved)</a:t>
            </a:r>
          </a:p>
          <a:p>
            <a:pPr lvl="1"/>
            <a:r>
              <a:rPr lang="en-IN" dirty="0"/>
              <a:t>Recall: fraction of relevant of relevant docs that are retrieved = P(Retrieved/Relevant)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/>
              <a:t>P=TP/TP+FP</a:t>
            </a:r>
          </a:p>
          <a:p>
            <a:pPr lvl="1"/>
            <a:r>
              <a:rPr lang="en-IN" dirty="0"/>
              <a:t>R=TP/TP+FN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BCF598E-CE59-5454-7655-C9DE3B15D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87862"/>
              </p:ext>
            </p:extLst>
          </p:nvPr>
        </p:nvGraphicFramePr>
        <p:xfrm>
          <a:off x="1882710" y="3487103"/>
          <a:ext cx="45367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89">
                  <a:extLst>
                    <a:ext uri="{9D8B030D-6E8A-4147-A177-3AD203B41FA5}">
                      <a16:colId xmlns:a16="http://schemas.microsoft.com/office/drawing/2014/main" val="1155889517"/>
                    </a:ext>
                  </a:extLst>
                </a:gridCol>
                <a:gridCol w="1148462">
                  <a:extLst>
                    <a:ext uri="{9D8B030D-6E8A-4147-A177-3AD203B41FA5}">
                      <a16:colId xmlns:a16="http://schemas.microsoft.com/office/drawing/2014/main" val="2287202303"/>
                    </a:ext>
                  </a:extLst>
                </a:gridCol>
                <a:gridCol w="1742300">
                  <a:extLst>
                    <a:ext uri="{9D8B030D-6E8A-4147-A177-3AD203B41FA5}">
                      <a16:colId xmlns:a16="http://schemas.microsoft.com/office/drawing/2014/main" val="2104573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Non-Relevant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1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Retrieved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3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Not Retrieved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1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354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92B-2F6B-0E75-DDF5-C81BFCF4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 and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AEF22-AF9A-7B96-50EA-E101B890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can get high Recall (but low precision) by retrieving all docs for all queries.</a:t>
            </a:r>
          </a:p>
          <a:p>
            <a:r>
              <a:rPr lang="en-IN" dirty="0"/>
              <a:t>Recall is a non-decreasing function of the number of docs retrieved</a:t>
            </a:r>
          </a:p>
          <a:p>
            <a:r>
              <a:rPr lang="en-IN" dirty="0"/>
              <a:t>In a good system, precision decreased as either the number of docs retrieved or recall increases.</a:t>
            </a:r>
          </a:p>
          <a:p>
            <a:pPr lvl="1"/>
            <a:r>
              <a:rPr lang="en-IN" dirty="0"/>
              <a:t>This is not a theorem but a result with strong empirical confirmation</a:t>
            </a:r>
          </a:p>
        </p:txBody>
      </p:sp>
    </p:spTree>
    <p:extLst>
      <p:ext uri="{BB962C8B-B14F-4D97-AF65-F5344CB8AC3E}">
        <p14:creationId xmlns:p14="http://schemas.microsoft.com/office/powerpoint/2010/main" val="1954021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8A62-E008-6966-FDEC-835860D9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F-measure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1FF21-E158-7322-9C78-3BB428815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Combined measure that assesses precision /recall </a:t>
            </a:r>
            <a:r>
              <a:rPr lang="en-IN" dirty="0" err="1"/>
              <a:t>tradeoff</a:t>
            </a:r>
            <a:r>
              <a:rPr lang="en-IN" dirty="0"/>
              <a:t> is F-measure (weighted harmonic mean) </a:t>
            </a:r>
          </a:p>
          <a:p>
            <a:r>
              <a:rPr lang="en-IN" dirty="0"/>
              <a:t>F-Measure=2*P*R/P+R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611625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3E8E2"/>
      </a:lt2>
      <a:accent1>
        <a:srgbClr val="B34DC3"/>
      </a:accent1>
      <a:accent2>
        <a:srgbClr val="6F3BB1"/>
      </a:accent2>
      <a:accent3>
        <a:srgbClr val="504DC3"/>
      </a:accent3>
      <a:accent4>
        <a:srgbClr val="3B69B1"/>
      </a:accent4>
      <a:accent5>
        <a:srgbClr val="4DACC3"/>
      </a:accent5>
      <a:accent6>
        <a:srgbClr val="3BB197"/>
      </a:accent6>
      <a:hlink>
        <a:srgbClr val="3C8AB5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1434</Words>
  <Application>Microsoft Office PowerPoint</Application>
  <PresentationFormat>Widescreen</PresentationFormat>
  <Paragraphs>308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Amasis MT Pro Medium</vt:lpstr>
      <vt:lpstr>Arial</vt:lpstr>
      <vt:lpstr>Univers Light</vt:lpstr>
      <vt:lpstr>TribuneVTI</vt:lpstr>
      <vt:lpstr>Web Crawler</vt:lpstr>
      <vt:lpstr>PowerPoint Presentation</vt:lpstr>
      <vt:lpstr>Role of Content Aggregator</vt:lpstr>
      <vt:lpstr>Web Archive</vt:lpstr>
      <vt:lpstr>Web Monitoring Services</vt:lpstr>
      <vt:lpstr>Information a Crawler Need</vt:lpstr>
      <vt:lpstr>How to get the Previously Mentioned Information</vt:lpstr>
      <vt:lpstr>Sitemap</vt:lpstr>
      <vt:lpstr>PowerPoint Presentation</vt:lpstr>
      <vt:lpstr>PowerPoint Presentation</vt:lpstr>
      <vt:lpstr>Robots.txt</vt:lpstr>
      <vt:lpstr>Robots.txt</vt:lpstr>
      <vt:lpstr>EXAMPLE OF </vt:lpstr>
      <vt:lpstr>A Basic Crawl Algorithm</vt:lpstr>
      <vt:lpstr>Basic Crawler Operation</vt:lpstr>
      <vt:lpstr>Challenges and Complication in Crawling</vt:lpstr>
      <vt:lpstr>Challenges (Contd..)</vt:lpstr>
      <vt:lpstr>Scaling to the Web</vt:lpstr>
      <vt:lpstr>Scalable Crawl Architecture</vt:lpstr>
      <vt:lpstr>Data Structure</vt:lpstr>
      <vt:lpstr>Bloom Filter</vt:lpstr>
      <vt:lpstr>Example </vt:lpstr>
      <vt:lpstr>Bloom Filter</vt:lpstr>
      <vt:lpstr>Frontier Expansion</vt:lpstr>
      <vt:lpstr>Metric and Terminology</vt:lpstr>
      <vt:lpstr>Crawler Traps</vt:lpstr>
      <vt:lpstr>Batch vs Incremental Crawling</vt:lpstr>
      <vt:lpstr>What a Crawler Must Do?</vt:lpstr>
      <vt:lpstr>What any crawler should do?</vt:lpstr>
      <vt:lpstr>Measure for a Search Engine</vt:lpstr>
      <vt:lpstr>Measure for a Search Engine</vt:lpstr>
      <vt:lpstr>Measuring User Happiness</vt:lpstr>
      <vt:lpstr>Evaluating IR System</vt:lpstr>
      <vt:lpstr>Unranked Retrieval Evaluation</vt:lpstr>
      <vt:lpstr>Precision and Recall</vt:lpstr>
      <vt:lpstr>F-measure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Crawler</dc:title>
  <dc:creator>richa singh</dc:creator>
  <cp:lastModifiedBy>richa singh</cp:lastModifiedBy>
  <cp:revision>91</cp:revision>
  <dcterms:created xsi:type="dcterms:W3CDTF">2023-07-30T12:57:45Z</dcterms:created>
  <dcterms:modified xsi:type="dcterms:W3CDTF">2023-08-09T14:49:11Z</dcterms:modified>
</cp:coreProperties>
</file>