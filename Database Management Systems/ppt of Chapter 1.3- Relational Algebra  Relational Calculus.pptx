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1" r:id="rId2"/>
  </p:sldMasterIdLst>
  <p:notesMasterIdLst>
    <p:notesMasterId r:id="rId3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9144000"/>
  <p:embeddedFontLst>
    <p:embeddedFont>
      <p:font typeface="Arimo" panose="020B060402020202020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2CT0W/EfmLkI8tJLijQ0WSgH2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43AD856-601C-442C-ADE2-F0223B0326DF}">
  <a:tblStyle styleId="{943AD856-601C-442C-ADE2-F0223B0326D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0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51"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15" name="Google Shape;215;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16" name="Google Shape;216;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19" name="Google Shape;219;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28" name="Google Shape;228;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29" name="Google Shape;229;p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32" name="Google Shape;232;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44" name="Google Shape;244;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45" name="Google Shape;245;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48" name="Google Shape;248;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61" name="Google Shape;261;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62" name="Google Shape;262;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65" name="Google Shape;265;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82" name="Google Shape;282;p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83" name="Google Shape;283;p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286" name="Google Shape;286;p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04" name="Google Shape;304;p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05" name="Google Shape;305;p1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08" name="Google Shape;308;p1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26" name="Google Shape;326;p1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27" name="Google Shape;327;p1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1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30" name="Google Shape;330;p1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44" name="Google Shape;344;p1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45" name="Google Shape;345;p1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1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1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48" name="Google Shape;348;p1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65" name="Google Shape;365;p1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66" name="Google Shape;366;p1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1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1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69" name="Google Shape;369;p1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83" name="Google Shape;383;p1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84" name="Google Shape;384;p1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p1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1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87" name="Google Shape;387;p1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03" name="Google Shape;403;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04" name="Google Shape;404;p1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07" name="Google Shape;407;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20" name="Google Shape;420;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21" name="Google Shape;421;p1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24" name="Google Shape;424;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1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41" name="Google Shape;441;p1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42" name="Google Shape;442;p1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1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1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45" name="Google Shape;445;p1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59" name="Google Shape;459;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60" name="Google Shape;460;p1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63" name="Google Shape;463;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79" name="Google Shape;479;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80" name="Google Shape;480;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2" name="Google Shape;482;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83" name="Google Shape;483;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498" name="Google Shape;498;p2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99" name="Google Shape;499;p2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p2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p2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02" name="Google Shape;502;p2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2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18" name="Google Shape;518;p2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19" name="Google Shape;519;p2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2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2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22" name="Google Shape;522;p2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2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39" name="Google Shape;539;p2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40" name="Google Shape;540;p2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1" name="Google Shape;541;p2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2" name="Google Shape;542;p2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43" name="Google Shape;543;p2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2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54" name="Google Shape;554;p2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55" name="Google Shape;555;p2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6" name="Google Shape;556;p2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7" name="Google Shape;557;p2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58" name="Google Shape;558;p2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2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74" name="Google Shape;574;p2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75" name="Google Shape;575;p2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2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7" name="Google Shape;577;p2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78" name="Google Shape;578;p2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2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93" name="Google Shape;593;p2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94" name="Google Shape;594;p2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5" name="Google Shape;595;p2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6" name="Google Shape;596;p2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597" name="Google Shape;597;p2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2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12" name="Google Shape;612;p2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13" name="Google Shape;613;p2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4" name="Google Shape;614;p2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5" name="Google Shape;615;p2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16" name="Google Shape;616;p2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2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27" name="Google Shape;627;p2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28" name="Google Shape;628;p2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9" name="Google Shape;629;p2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0" name="Google Shape;630;p2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31" name="Google Shape;631;p2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2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44" name="Google Shape;644;p2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45" name="Google Shape;645;p2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p2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7" name="Google Shape;647;p2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48" name="Google Shape;648;p2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2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62" name="Google Shape;662;p2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63" name="Google Shape;663;p2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p2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2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66" name="Google Shape;666;p2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3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77" name="Google Shape;677;p3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78" name="Google Shape;678;p3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p3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3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81" name="Google Shape;681;p3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94" name="Google Shape;694;p3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95" name="Google Shape;695;p3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p3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p3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98" name="Google Shape;698;p3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3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11" name="Google Shape;711;p3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12" name="Google Shape;712;p3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3" name="Google Shape;713;p3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p3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15" name="Google Shape;715;p3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3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26" name="Google Shape;726;p3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27" name="Google Shape;727;p3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p3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p3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30" name="Google Shape;730;p3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3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43" name="Google Shape;743;p3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44" name="Google Shape;744;p3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p3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p3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47" name="Google Shape;747;p3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3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61" name="Google Shape;761;p3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62" name="Google Shape;762;p3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3" name="Google Shape;763;p3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4" name="Google Shape;764;p3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65" name="Google Shape;765;p3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3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76" name="Google Shape;776;p3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77" name="Google Shape;777;p3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p3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p3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80" name="Google Shape;780;p3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3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4"/>
        <p:cNvGrpSpPr/>
        <p:nvPr/>
      </p:nvGrpSpPr>
      <p:grpSpPr>
        <a:xfrm>
          <a:off x="0" y="0"/>
          <a:ext cx="0" cy="0"/>
          <a:chOff x="0" y="0"/>
          <a:chExt cx="0" cy="0"/>
        </a:xfrm>
      </p:grpSpPr>
      <p:sp>
        <p:nvSpPr>
          <p:cNvPr id="25" name="Google Shape;25;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30"/>
        <p:cNvGrpSpPr/>
        <p:nvPr/>
      </p:nvGrpSpPr>
      <p:grpSpPr>
        <a:xfrm>
          <a:off x="0" y="0"/>
          <a:ext cx="0" cy="0"/>
          <a:chOff x="0" y="0"/>
          <a:chExt cx="0" cy="0"/>
        </a:xfrm>
      </p:grpSpPr>
      <p:sp>
        <p:nvSpPr>
          <p:cNvPr id="31" name="Google Shape;31;p4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3" name="Google Shape;33;p4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4" name="Google Shape;34;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7"/>
        <p:cNvGrpSpPr/>
        <p:nvPr/>
      </p:nvGrpSpPr>
      <p:grpSpPr>
        <a:xfrm>
          <a:off x="0" y="0"/>
          <a:ext cx="0" cy="0"/>
          <a:chOff x="0" y="0"/>
          <a:chExt cx="0" cy="0"/>
        </a:xfrm>
      </p:grpSpPr>
      <p:sp>
        <p:nvSpPr>
          <p:cNvPr id="38" name="Google Shape;3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1"/>
        <p:cNvGrpSpPr/>
        <p:nvPr/>
      </p:nvGrpSpPr>
      <p:grpSpPr>
        <a:xfrm>
          <a:off x="0" y="0"/>
          <a:ext cx="0" cy="0"/>
          <a:chOff x="0" y="0"/>
          <a:chExt cx="0" cy="0"/>
        </a:xfrm>
      </p:grpSpPr>
      <p:sp>
        <p:nvSpPr>
          <p:cNvPr id="42" name="Google Shape;42;p4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4" name="Google Shape;44;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7"/>
        <p:cNvGrpSpPr/>
        <p:nvPr/>
      </p:nvGrpSpPr>
      <p:grpSpPr>
        <a:xfrm>
          <a:off x="0" y="0"/>
          <a:ext cx="0" cy="0"/>
          <a:chOff x="0" y="0"/>
          <a:chExt cx="0" cy="0"/>
        </a:xfrm>
      </p:grpSpPr>
      <p:sp>
        <p:nvSpPr>
          <p:cNvPr id="48" name="Google Shape;48;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4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4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4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4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63"/>
        <p:cNvGrpSpPr/>
        <p:nvPr/>
      </p:nvGrpSpPr>
      <p:grpSpPr>
        <a:xfrm>
          <a:off x="0" y="0"/>
          <a:ext cx="0" cy="0"/>
          <a:chOff x="0" y="0"/>
          <a:chExt cx="0" cy="0"/>
        </a:xfrm>
      </p:grpSpPr>
      <p:sp>
        <p:nvSpPr>
          <p:cNvPr id="64" name="Google Shape;64;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a:spLocks noGrp="1"/>
          </p:cNvSpPr>
          <p:nvPr>
            <p:ph type="pic" idx="2"/>
          </p:nvPr>
        </p:nvSpPr>
        <p:spPr>
          <a:xfrm>
            <a:off x="5183188" y="987425"/>
            <a:ext cx="6172200" cy="4873625"/>
          </a:xfrm>
          <a:prstGeom prst="rect">
            <a:avLst/>
          </a:prstGeom>
          <a:noFill/>
          <a:ln>
            <a:noFill/>
          </a:ln>
        </p:spPr>
      </p:sp>
      <p:sp>
        <p:nvSpPr>
          <p:cNvPr id="71" name="Google Shape;71;p4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4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Титульный слайд">
  <p:cSld name="1_Титульный слайд">
    <p:spTree>
      <p:nvGrpSpPr>
        <p:cNvPr id="1" name="Shape 87"/>
        <p:cNvGrpSpPr/>
        <p:nvPr/>
      </p:nvGrpSpPr>
      <p:grpSpPr>
        <a:xfrm>
          <a:off x="0" y="0"/>
          <a:ext cx="0" cy="0"/>
          <a:chOff x="0" y="0"/>
          <a:chExt cx="0" cy="0"/>
        </a:xfrm>
      </p:grpSpPr>
      <p:sp>
        <p:nvSpPr>
          <p:cNvPr id="88" name="Google Shape;88;p49"/>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9" name="Google Shape;89;p49"/>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90;p49"/>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1" name="Google Shape;91;p49"/>
          <p:cNvSpPr>
            <a:spLocks noGrp="1"/>
          </p:cNvSpPr>
          <p:nvPr>
            <p:ph type="pic" idx="2"/>
          </p:nvPr>
        </p:nvSpPr>
        <p:spPr>
          <a:xfrm>
            <a:off x="1847850" y="2819400"/>
            <a:ext cx="8496300" cy="280035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Agenda Layout">
  <p:cSld name="Agenda Layout">
    <p:spTree>
      <p:nvGrpSpPr>
        <p:cNvPr id="1" name="Shape 93"/>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asic Layout">
  <p:cSld name="Basic Layout">
    <p:spTree>
      <p:nvGrpSpPr>
        <p:cNvPr id="1" name="Shape 94"/>
        <p:cNvGrpSpPr/>
        <p:nvPr/>
      </p:nvGrpSpPr>
      <p:grpSpPr>
        <a:xfrm>
          <a:off x="0" y="0"/>
          <a:ext cx="0" cy="0"/>
          <a:chOff x="0" y="0"/>
          <a:chExt cx="0" cy="0"/>
        </a:xfrm>
      </p:grpSpPr>
      <p:sp>
        <p:nvSpPr>
          <p:cNvPr id="95" name="Google Shape;95;p52"/>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96" name="Google Shape;96;p52"/>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373"/>
              </a:spcBef>
              <a:spcAft>
                <a:spcPts val="0"/>
              </a:spcAft>
              <a:buClr>
                <a:schemeClr val="dk1"/>
              </a:buClr>
              <a:buSzPts val="1865"/>
              <a:buFont typeface="Arial"/>
              <a:buNone/>
              <a:defRPr sz="1865" b="0" i="0" u="none" strike="noStrike" cap="none">
                <a:solidFill>
                  <a:schemeClr val="dk1"/>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97" name="Google Shape;97;p52"/>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98" name="Google Shape;98;p52"/>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1_Basic Layout">
  <p:cSld name="1_Basic Layout">
    <p:spTree>
      <p:nvGrpSpPr>
        <p:cNvPr id="1" name="Shape 99"/>
        <p:cNvGrpSpPr/>
        <p:nvPr/>
      </p:nvGrpSpPr>
      <p:grpSpPr>
        <a:xfrm>
          <a:off x="0" y="0"/>
          <a:ext cx="0" cy="0"/>
          <a:chOff x="0" y="0"/>
          <a:chExt cx="0" cy="0"/>
        </a:xfrm>
      </p:grpSpPr>
      <p:sp>
        <p:nvSpPr>
          <p:cNvPr id="100" name="Google Shape;100;p53"/>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1" name="Google Shape;101;p53"/>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2" name="Google Shape;102;p53"/>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03" name="Google Shape;103;p53"/>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2_Basic Layout">
  <p:cSld name="2_Basic Layout">
    <p:spTree>
      <p:nvGrpSpPr>
        <p:cNvPr id="1" name="Shape 104"/>
        <p:cNvGrpSpPr/>
        <p:nvPr/>
      </p:nvGrpSpPr>
      <p:grpSpPr>
        <a:xfrm>
          <a:off x="0" y="0"/>
          <a:ext cx="0" cy="0"/>
          <a:chOff x="0" y="0"/>
          <a:chExt cx="0" cy="0"/>
        </a:xfrm>
      </p:grpSpPr>
      <p:sp>
        <p:nvSpPr>
          <p:cNvPr id="105" name="Google Shape;105;p54"/>
          <p:cNvSpPr txBox="1">
            <a:spLocks noGrp="1"/>
          </p:cNvSpPr>
          <p:nvPr>
            <p:ph type="body" idx="1"/>
          </p:nvPr>
        </p:nvSpPr>
        <p:spPr>
          <a:xfrm>
            <a:off x="2735627" y="164638"/>
            <a:ext cx="9456373" cy="768085"/>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6" name="Google Shape;106;p54"/>
          <p:cNvSpPr txBox="1">
            <a:spLocks noGrp="1"/>
          </p:cNvSpPr>
          <p:nvPr>
            <p:ph type="body" idx="2"/>
          </p:nvPr>
        </p:nvSpPr>
        <p:spPr>
          <a:xfrm>
            <a:off x="2735627" y="932723"/>
            <a:ext cx="9456373" cy="38404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7" name="Google Shape;107;p54"/>
          <p:cNvSpPr/>
          <p:nvPr/>
        </p:nvSpPr>
        <p:spPr>
          <a:xfrm>
            <a:off x="0" y="1"/>
            <a:ext cx="2543605" cy="686418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Images and Contents Layout">
  <p:cSld name="Images and Contents Layout">
    <p:spTree>
      <p:nvGrpSpPr>
        <p:cNvPr id="1" name="Shape 108"/>
        <p:cNvGrpSpPr/>
        <p:nvPr/>
      </p:nvGrpSpPr>
      <p:grpSpPr>
        <a:xfrm>
          <a:off x="0" y="0"/>
          <a:ext cx="0" cy="0"/>
          <a:chOff x="0" y="0"/>
          <a:chExt cx="0" cy="0"/>
        </a:xfrm>
      </p:grpSpPr>
      <p:sp>
        <p:nvSpPr>
          <p:cNvPr id="109" name="Google Shape;109;p55"/>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0" name="Google Shape;110;p55"/>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1" name="Google Shape;111;p55"/>
          <p:cNvSpPr/>
          <p:nvPr/>
        </p:nvSpPr>
        <p:spPr>
          <a:xfrm>
            <a:off x="0" y="2276872"/>
            <a:ext cx="12192000" cy="2400267"/>
          </a:xfrm>
          <a:prstGeom prst="rect">
            <a:avLst/>
          </a:prstGeom>
          <a:solidFill>
            <a:schemeClr val="accent1"/>
          </a:solidFill>
          <a:ln>
            <a:noFill/>
          </a:ln>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12" name="Google Shape;112;p55"/>
          <p:cNvSpPr/>
          <p:nvPr/>
        </p:nvSpPr>
        <p:spPr>
          <a:xfrm rot="10800000">
            <a:off x="158339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13" name="Google Shape;113;p55"/>
          <p:cNvSpPr/>
          <p:nvPr/>
        </p:nvSpPr>
        <p:spPr>
          <a:xfrm rot="10800000">
            <a:off x="446371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14" name="Google Shape;114;p55"/>
          <p:cNvSpPr/>
          <p:nvPr/>
        </p:nvSpPr>
        <p:spPr>
          <a:xfrm rot="10800000">
            <a:off x="734403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15" name="Google Shape;115;p55"/>
          <p:cNvSpPr/>
          <p:nvPr/>
        </p:nvSpPr>
        <p:spPr>
          <a:xfrm rot="10800000">
            <a:off x="10224348"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16" name="Google Shape;116;p55"/>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17" name="Google Shape;117;p55"/>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18" name="Google Shape;118;p55"/>
          <p:cNvSpPr>
            <a:spLocks noGrp="1"/>
          </p:cNvSpPr>
          <p:nvPr>
            <p:ph type="pic" idx="3"/>
          </p:nvPr>
        </p:nvSpPr>
        <p:spPr>
          <a:xfrm>
            <a:off x="815413" y="2517005"/>
            <a:ext cx="1920000" cy="1920000"/>
          </a:xfrm>
          <a:prstGeom prst="ellipse">
            <a:avLst/>
          </a:prstGeom>
          <a:solidFill>
            <a:srgbClr val="F2F2F2"/>
          </a:solidFill>
          <a:ln>
            <a:noFill/>
          </a:ln>
        </p:spPr>
      </p:sp>
      <p:sp>
        <p:nvSpPr>
          <p:cNvPr id="119" name="Google Shape;119;p55"/>
          <p:cNvSpPr>
            <a:spLocks noGrp="1"/>
          </p:cNvSpPr>
          <p:nvPr>
            <p:ph type="pic" idx="4"/>
          </p:nvPr>
        </p:nvSpPr>
        <p:spPr>
          <a:xfrm>
            <a:off x="3695732" y="2517005"/>
            <a:ext cx="1920000" cy="1920000"/>
          </a:xfrm>
          <a:prstGeom prst="ellipse">
            <a:avLst/>
          </a:prstGeom>
          <a:solidFill>
            <a:srgbClr val="F2F2F2"/>
          </a:solidFill>
          <a:ln>
            <a:noFill/>
          </a:ln>
        </p:spPr>
      </p:sp>
      <p:sp>
        <p:nvSpPr>
          <p:cNvPr id="120" name="Google Shape;120;p55"/>
          <p:cNvSpPr>
            <a:spLocks noGrp="1"/>
          </p:cNvSpPr>
          <p:nvPr>
            <p:ph type="pic" idx="5"/>
          </p:nvPr>
        </p:nvSpPr>
        <p:spPr>
          <a:xfrm>
            <a:off x="6576051" y="2517005"/>
            <a:ext cx="1920000" cy="1920000"/>
          </a:xfrm>
          <a:prstGeom prst="ellipse">
            <a:avLst/>
          </a:prstGeom>
          <a:solidFill>
            <a:srgbClr val="F2F2F2"/>
          </a:solidFill>
          <a:ln>
            <a:noFill/>
          </a:ln>
        </p:spPr>
      </p:sp>
      <p:sp>
        <p:nvSpPr>
          <p:cNvPr id="121" name="Google Shape;121;p55"/>
          <p:cNvSpPr>
            <a:spLocks noGrp="1"/>
          </p:cNvSpPr>
          <p:nvPr>
            <p:ph type="pic" idx="6"/>
          </p:nvPr>
        </p:nvSpPr>
        <p:spPr>
          <a:xfrm>
            <a:off x="9456369" y="2517005"/>
            <a:ext cx="1920000" cy="1920000"/>
          </a:xfrm>
          <a:prstGeom prst="ellipse">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1_Images and Contents Layout">
  <p:cSld name="1_Images and Contents Layout">
    <p:spTree>
      <p:nvGrpSpPr>
        <p:cNvPr id="1" name="Shape 122"/>
        <p:cNvGrpSpPr/>
        <p:nvPr/>
      </p:nvGrpSpPr>
      <p:grpSpPr>
        <a:xfrm>
          <a:off x="0" y="0"/>
          <a:ext cx="0" cy="0"/>
          <a:chOff x="0" y="0"/>
          <a:chExt cx="0" cy="0"/>
        </a:xfrm>
      </p:grpSpPr>
      <p:sp>
        <p:nvSpPr>
          <p:cNvPr id="123" name="Google Shape;123;p56"/>
          <p:cNvSpPr/>
          <p:nvPr/>
        </p:nvSpPr>
        <p:spPr>
          <a:xfrm>
            <a:off x="5231904" y="2276872"/>
            <a:ext cx="5711957" cy="3936437"/>
          </a:xfrm>
          <a:prstGeom prst="rect">
            <a:avLst/>
          </a:prstGeom>
          <a:solidFill>
            <a:srgbClr val="F2F2F2"/>
          </a:solidFill>
          <a:ln>
            <a:noFill/>
          </a:ln>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3F3F3F"/>
              </a:solidFill>
              <a:latin typeface="Arial"/>
              <a:ea typeface="Arial"/>
              <a:cs typeface="Arial"/>
              <a:sym typeface="Arial"/>
            </a:endParaRPr>
          </a:p>
        </p:txBody>
      </p:sp>
      <p:sp>
        <p:nvSpPr>
          <p:cNvPr id="124" name="Google Shape;124;p56"/>
          <p:cNvSpPr>
            <a:spLocks noGrp="1"/>
          </p:cNvSpPr>
          <p:nvPr>
            <p:ph type="pic" idx="2"/>
          </p:nvPr>
        </p:nvSpPr>
        <p:spPr>
          <a:xfrm>
            <a:off x="1103445" y="1412776"/>
            <a:ext cx="4560000" cy="3696000"/>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2_Images and Contents Layout">
  <p:cSld name="2_Images and Contents Layout">
    <p:spTree>
      <p:nvGrpSpPr>
        <p:cNvPr id="1" name="Shape 125"/>
        <p:cNvGrpSpPr/>
        <p:nvPr/>
      </p:nvGrpSpPr>
      <p:grpSpPr>
        <a:xfrm>
          <a:off x="0" y="0"/>
          <a:ext cx="0" cy="0"/>
          <a:chOff x="0" y="0"/>
          <a:chExt cx="0" cy="0"/>
        </a:xfrm>
      </p:grpSpPr>
      <p:sp>
        <p:nvSpPr>
          <p:cNvPr id="126" name="Google Shape;126;p57"/>
          <p:cNvSpPr>
            <a:spLocks noGrp="1"/>
          </p:cNvSpPr>
          <p:nvPr>
            <p:ph type="pic" idx="2"/>
          </p:nvPr>
        </p:nvSpPr>
        <p:spPr>
          <a:xfrm>
            <a:off x="0" y="990600"/>
            <a:ext cx="3887755" cy="5867400"/>
          </a:xfrm>
          <a:prstGeom prst="rect">
            <a:avLst/>
          </a:prstGeom>
          <a:solidFill>
            <a:srgbClr val="F2F2F2"/>
          </a:solidFill>
          <a:ln>
            <a:noFill/>
          </a:ln>
        </p:spPr>
      </p:sp>
      <p:sp>
        <p:nvSpPr>
          <p:cNvPr id="127" name="Google Shape;127;p57"/>
          <p:cNvSpPr>
            <a:spLocks noGrp="1"/>
          </p:cNvSpPr>
          <p:nvPr>
            <p:ph type="pic" idx="3"/>
          </p:nvPr>
        </p:nvSpPr>
        <p:spPr>
          <a:xfrm>
            <a:off x="4079776" y="0"/>
            <a:ext cx="8112224" cy="3621021"/>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3_Images and Contents Layout">
  <p:cSld name="3_Images and Contents Layout">
    <p:spTree>
      <p:nvGrpSpPr>
        <p:cNvPr id="1" name="Shape 128"/>
        <p:cNvGrpSpPr/>
        <p:nvPr/>
      </p:nvGrpSpPr>
      <p:grpSpPr>
        <a:xfrm>
          <a:off x="0" y="0"/>
          <a:ext cx="0" cy="0"/>
          <a:chOff x="0" y="0"/>
          <a:chExt cx="0" cy="0"/>
        </a:xfrm>
      </p:grpSpPr>
      <p:sp>
        <p:nvSpPr>
          <p:cNvPr id="129" name="Google Shape;129;p58"/>
          <p:cNvSpPr>
            <a:spLocks noGrp="1"/>
          </p:cNvSpPr>
          <p:nvPr>
            <p:ph type="pic" idx="2"/>
          </p:nvPr>
        </p:nvSpPr>
        <p:spPr>
          <a:xfrm>
            <a:off x="0" y="1013496"/>
            <a:ext cx="3887755" cy="3567632"/>
          </a:xfrm>
          <a:prstGeom prst="rect">
            <a:avLst/>
          </a:prstGeom>
          <a:solidFill>
            <a:srgbClr val="F2F2F2"/>
          </a:solidFill>
          <a:ln>
            <a:noFill/>
          </a:ln>
        </p:spPr>
      </p:sp>
      <p:sp>
        <p:nvSpPr>
          <p:cNvPr id="130" name="Google Shape;130;p58"/>
          <p:cNvSpPr>
            <a:spLocks noGrp="1"/>
          </p:cNvSpPr>
          <p:nvPr>
            <p:ph type="pic" idx="3"/>
          </p:nvPr>
        </p:nvSpPr>
        <p:spPr>
          <a:xfrm>
            <a:off x="8304245" y="0"/>
            <a:ext cx="3887755" cy="4581128"/>
          </a:xfrm>
          <a:prstGeom prst="rect">
            <a:avLst/>
          </a:prstGeom>
          <a:solidFill>
            <a:srgbClr val="F2F2F2"/>
          </a:solidFill>
          <a:ln>
            <a:noFill/>
          </a:ln>
        </p:spPr>
      </p:sp>
      <p:sp>
        <p:nvSpPr>
          <p:cNvPr id="131" name="Google Shape;131;p58"/>
          <p:cNvSpPr>
            <a:spLocks noGrp="1"/>
          </p:cNvSpPr>
          <p:nvPr>
            <p:ph type="pic" idx="4"/>
          </p:nvPr>
        </p:nvSpPr>
        <p:spPr>
          <a:xfrm>
            <a:off x="0" y="4773149"/>
            <a:ext cx="6096000" cy="2084851"/>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4_Images and Contents Layout">
  <p:cSld name="4_Images and Contents Layout">
    <p:spTree>
      <p:nvGrpSpPr>
        <p:cNvPr id="1" name="Shape 132"/>
        <p:cNvGrpSpPr/>
        <p:nvPr/>
      </p:nvGrpSpPr>
      <p:grpSpPr>
        <a:xfrm>
          <a:off x="0" y="0"/>
          <a:ext cx="0" cy="0"/>
          <a:chOff x="0" y="0"/>
          <a:chExt cx="0" cy="0"/>
        </a:xfrm>
      </p:grpSpPr>
      <p:sp>
        <p:nvSpPr>
          <p:cNvPr id="133" name="Google Shape;133;p59"/>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34" name="Google Shape;134;p59"/>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35" name="Google Shape;135;p59"/>
          <p:cNvSpPr/>
          <p:nvPr/>
        </p:nvSpPr>
        <p:spPr>
          <a:xfrm>
            <a:off x="595027" y="4101331"/>
            <a:ext cx="2400000" cy="2304000"/>
          </a:xfrm>
          <a:prstGeom prst="rect">
            <a:avLst/>
          </a:prstGeom>
          <a:solidFill>
            <a:schemeClr val="accent2"/>
          </a:solidFill>
          <a:ln>
            <a:noFill/>
          </a:ln>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Arial"/>
              <a:ea typeface="Arial"/>
              <a:cs typeface="Arial"/>
              <a:sym typeface="Arial"/>
            </a:endParaRPr>
          </a:p>
        </p:txBody>
      </p:sp>
      <p:sp>
        <p:nvSpPr>
          <p:cNvPr id="136" name="Google Shape;136;p59"/>
          <p:cNvSpPr/>
          <p:nvPr/>
        </p:nvSpPr>
        <p:spPr>
          <a:xfrm>
            <a:off x="9196973" y="1700808"/>
            <a:ext cx="2400000" cy="2304000"/>
          </a:xfrm>
          <a:prstGeom prst="rect">
            <a:avLst/>
          </a:prstGeom>
          <a:solidFill>
            <a:schemeClr val="accent3"/>
          </a:solidFill>
          <a:ln>
            <a:noFill/>
          </a:ln>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Arial"/>
              <a:ea typeface="Arial"/>
              <a:cs typeface="Arial"/>
              <a:sym typeface="Arial"/>
            </a:endParaRPr>
          </a:p>
        </p:txBody>
      </p:sp>
      <p:sp>
        <p:nvSpPr>
          <p:cNvPr id="137" name="Google Shape;137;p59"/>
          <p:cNvSpPr>
            <a:spLocks noGrp="1"/>
          </p:cNvSpPr>
          <p:nvPr>
            <p:ph type="pic" idx="3"/>
          </p:nvPr>
        </p:nvSpPr>
        <p:spPr>
          <a:xfrm>
            <a:off x="595027" y="1700808"/>
            <a:ext cx="2400000" cy="2304000"/>
          </a:xfrm>
          <a:prstGeom prst="rect">
            <a:avLst/>
          </a:prstGeom>
          <a:solidFill>
            <a:srgbClr val="F2F2F2"/>
          </a:solidFill>
          <a:ln>
            <a:noFill/>
          </a:ln>
        </p:spPr>
      </p:sp>
      <p:sp>
        <p:nvSpPr>
          <p:cNvPr id="138" name="Google Shape;138;p59"/>
          <p:cNvSpPr>
            <a:spLocks noGrp="1"/>
          </p:cNvSpPr>
          <p:nvPr>
            <p:ph type="pic" idx="4"/>
          </p:nvPr>
        </p:nvSpPr>
        <p:spPr>
          <a:xfrm>
            <a:off x="9196973" y="4101331"/>
            <a:ext cx="2400000" cy="2304000"/>
          </a:xfrm>
          <a:prstGeom prst="rect">
            <a:avLst/>
          </a:prstGeom>
          <a:solidFill>
            <a:srgbClr val="F2F2F2"/>
          </a:solidFill>
          <a:ln>
            <a:noFill/>
          </a:ln>
        </p:spPr>
      </p:sp>
      <p:sp>
        <p:nvSpPr>
          <p:cNvPr id="139" name="Google Shape;139;p59"/>
          <p:cNvSpPr>
            <a:spLocks noGrp="1"/>
          </p:cNvSpPr>
          <p:nvPr>
            <p:ph type="pic" idx="5"/>
          </p:nvPr>
        </p:nvSpPr>
        <p:spPr>
          <a:xfrm>
            <a:off x="3119669" y="4101331"/>
            <a:ext cx="5952663" cy="2304000"/>
          </a:xfrm>
          <a:prstGeom prst="rect">
            <a:avLst/>
          </a:prstGeom>
          <a:solidFill>
            <a:srgbClr val="F2F2F2"/>
          </a:solidFill>
          <a:ln>
            <a:noFill/>
          </a:ln>
        </p:spPr>
      </p:sp>
      <p:sp>
        <p:nvSpPr>
          <p:cNvPr id="140" name="Google Shape;140;p59"/>
          <p:cNvSpPr>
            <a:spLocks noGrp="1"/>
          </p:cNvSpPr>
          <p:nvPr>
            <p:ph type="pic" idx="6"/>
          </p:nvPr>
        </p:nvSpPr>
        <p:spPr>
          <a:xfrm>
            <a:off x="3119669" y="1700808"/>
            <a:ext cx="5952663" cy="2304000"/>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5_Images and Contents Layout">
  <p:cSld name="5_Images and Contents Layout">
    <p:spTree>
      <p:nvGrpSpPr>
        <p:cNvPr id="1" name="Shape 141"/>
        <p:cNvGrpSpPr/>
        <p:nvPr/>
      </p:nvGrpSpPr>
      <p:grpSpPr>
        <a:xfrm>
          <a:off x="0" y="0"/>
          <a:ext cx="0" cy="0"/>
          <a:chOff x="0" y="0"/>
          <a:chExt cx="0" cy="0"/>
        </a:xfrm>
      </p:grpSpPr>
      <p:sp>
        <p:nvSpPr>
          <p:cNvPr id="142" name="Google Shape;142;p60"/>
          <p:cNvSpPr>
            <a:spLocks noGrp="1"/>
          </p:cNvSpPr>
          <p:nvPr>
            <p:ph type="pic" idx="2"/>
          </p:nvPr>
        </p:nvSpPr>
        <p:spPr>
          <a:xfrm>
            <a:off x="709650" y="480055"/>
            <a:ext cx="4224469" cy="4197085"/>
          </a:xfrm>
          <a:prstGeom prst="rect">
            <a:avLst/>
          </a:prstGeom>
          <a:solidFill>
            <a:srgbClr val="F2F2F2"/>
          </a:solidFill>
          <a:ln>
            <a:noFill/>
          </a:ln>
        </p:spPr>
      </p:sp>
      <p:sp>
        <p:nvSpPr>
          <p:cNvPr id="143" name="Google Shape;143;p60"/>
          <p:cNvSpPr>
            <a:spLocks noGrp="1"/>
          </p:cNvSpPr>
          <p:nvPr>
            <p:ph type="pic" idx="3"/>
          </p:nvPr>
        </p:nvSpPr>
        <p:spPr>
          <a:xfrm>
            <a:off x="5126140" y="480056"/>
            <a:ext cx="6336704" cy="2296105"/>
          </a:xfrm>
          <a:prstGeom prst="rect">
            <a:avLst/>
          </a:prstGeom>
          <a:solidFill>
            <a:srgbClr val="F2F2F2"/>
          </a:solidFill>
          <a:ln>
            <a:noFill/>
          </a:ln>
        </p:spPr>
      </p:sp>
      <p:sp>
        <p:nvSpPr>
          <p:cNvPr id="144" name="Google Shape;144;p60"/>
          <p:cNvSpPr>
            <a:spLocks noGrp="1"/>
          </p:cNvSpPr>
          <p:nvPr>
            <p:ph type="pic" idx="4"/>
          </p:nvPr>
        </p:nvSpPr>
        <p:spPr>
          <a:xfrm>
            <a:off x="5126140" y="2948948"/>
            <a:ext cx="1968000" cy="1728192"/>
          </a:xfrm>
          <a:prstGeom prst="rect">
            <a:avLst/>
          </a:prstGeom>
          <a:solidFill>
            <a:srgbClr val="F2F2F2"/>
          </a:solidFill>
          <a:ln>
            <a:noFill/>
          </a:ln>
        </p:spPr>
      </p:sp>
      <p:sp>
        <p:nvSpPr>
          <p:cNvPr id="145" name="Google Shape;145;p60"/>
          <p:cNvSpPr>
            <a:spLocks noGrp="1"/>
          </p:cNvSpPr>
          <p:nvPr>
            <p:ph type="pic" idx="5"/>
          </p:nvPr>
        </p:nvSpPr>
        <p:spPr>
          <a:xfrm>
            <a:off x="7310492" y="2948948"/>
            <a:ext cx="1968000" cy="1728192"/>
          </a:xfrm>
          <a:prstGeom prst="rect">
            <a:avLst/>
          </a:prstGeom>
          <a:solidFill>
            <a:srgbClr val="F2F2F2"/>
          </a:solidFill>
          <a:ln>
            <a:noFill/>
          </a:ln>
        </p:spPr>
      </p:sp>
      <p:sp>
        <p:nvSpPr>
          <p:cNvPr id="146" name="Google Shape;146;p60"/>
          <p:cNvSpPr>
            <a:spLocks noGrp="1"/>
          </p:cNvSpPr>
          <p:nvPr>
            <p:ph type="pic" idx="6"/>
          </p:nvPr>
        </p:nvSpPr>
        <p:spPr>
          <a:xfrm>
            <a:off x="9494844" y="2948948"/>
            <a:ext cx="1968000" cy="1728192"/>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7_Images and Contents Layout">
  <p:cSld name="7_Images and Contents Layout">
    <p:spTree>
      <p:nvGrpSpPr>
        <p:cNvPr id="1" name="Shape 147"/>
        <p:cNvGrpSpPr/>
        <p:nvPr/>
      </p:nvGrpSpPr>
      <p:grpSpPr>
        <a:xfrm>
          <a:off x="0" y="0"/>
          <a:ext cx="0" cy="0"/>
          <a:chOff x="0" y="0"/>
          <a:chExt cx="0" cy="0"/>
        </a:xfrm>
      </p:grpSpPr>
      <p:sp>
        <p:nvSpPr>
          <p:cNvPr id="148" name="Google Shape;148;p61"/>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49" name="Google Shape;149;p61"/>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pic>
        <p:nvPicPr>
          <p:cNvPr id="150" name="Google Shape;150;p61"/>
          <p:cNvPicPr preferRelativeResize="0"/>
          <p:nvPr/>
        </p:nvPicPr>
        <p:blipFill rotWithShape="1">
          <a:blip r:embed="rId2">
            <a:alphaModFix/>
          </a:blip>
          <a:srcRect/>
          <a:stretch/>
        </p:blipFill>
        <p:spPr>
          <a:xfrm>
            <a:off x="4546767" y="2276873"/>
            <a:ext cx="7238124" cy="3966041"/>
          </a:xfrm>
          <a:prstGeom prst="rect">
            <a:avLst/>
          </a:prstGeom>
          <a:noFill/>
          <a:ln>
            <a:noFill/>
          </a:ln>
        </p:spPr>
      </p:pic>
      <p:sp>
        <p:nvSpPr>
          <p:cNvPr id="151" name="Google Shape;151;p61"/>
          <p:cNvSpPr>
            <a:spLocks noGrp="1"/>
          </p:cNvSpPr>
          <p:nvPr>
            <p:ph type="pic" idx="3"/>
          </p:nvPr>
        </p:nvSpPr>
        <p:spPr>
          <a:xfrm>
            <a:off x="5705875" y="2485912"/>
            <a:ext cx="4832891" cy="3124239"/>
          </a:xfrm>
          <a:prstGeom prst="rect">
            <a:avLst/>
          </a:prstGeom>
          <a:solidFill>
            <a:srgbClr val="F2F2F2"/>
          </a:solidFill>
          <a:ln>
            <a:noFill/>
          </a:ln>
        </p:spPr>
      </p:sp>
      <p:sp>
        <p:nvSpPr>
          <p:cNvPr id="152" name="Google Shape;152;p61"/>
          <p:cNvSpPr/>
          <p:nvPr/>
        </p:nvSpPr>
        <p:spPr>
          <a:xfrm>
            <a:off x="4037371" y="1"/>
            <a:ext cx="4128459" cy="60959"/>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53" name="Google Shape;153;p61"/>
          <p:cNvSpPr/>
          <p:nvPr/>
        </p:nvSpPr>
        <p:spPr>
          <a:xfrm>
            <a:off x="0" y="6753308"/>
            <a:ext cx="12192000" cy="110875"/>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8_Images and Contents Layout">
  <p:cSld name="8_Images and Contents Layout">
    <p:spTree>
      <p:nvGrpSpPr>
        <p:cNvPr id="1" name="Shape 154"/>
        <p:cNvGrpSpPr/>
        <p:nvPr/>
      </p:nvGrpSpPr>
      <p:grpSpPr>
        <a:xfrm>
          <a:off x="0" y="0"/>
          <a:ext cx="0" cy="0"/>
          <a:chOff x="0" y="0"/>
          <a:chExt cx="0" cy="0"/>
        </a:xfrm>
      </p:grpSpPr>
      <p:sp>
        <p:nvSpPr>
          <p:cNvPr id="155" name="Google Shape;155;p62"/>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56" name="Google Shape;156;p62"/>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pic>
        <p:nvPicPr>
          <p:cNvPr id="157" name="Google Shape;157;p62" descr="D:\Fullppt\005-PNG이미지\모니터.png"/>
          <p:cNvPicPr preferRelativeResize="0"/>
          <p:nvPr/>
        </p:nvPicPr>
        <p:blipFill rotWithShape="1">
          <a:blip r:embed="rId2">
            <a:alphaModFix/>
          </a:blip>
          <a:srcRect/>
          <a:stretch/>
        </p:blipFill>
        <p:spPr>
          <a:xfrm>
            <a:off x="776400" y="1815747"/>
            <a:ext cx="3360373" cy="3350541"/>
          </a:xfrm>
          <a:prstGeom prst="rect">
            <a:avLst/>
          </a:prstGeom>
          <a:noFill/>
          <a:ln>
            <a:noFill/>
          </a:ln>
        </p:spPr>
      </p:pic>
      <p:pic>
        <p:nvPicPr>
          <p:cNvPr id="158" name="Google Shape;158;p62" descr="D:\Fullppt\005-PNG이미지\모니터.png"/>
          <p:cNvPicPr preferRelativeResize="0"/>
          <p:nvPr/>
        </p:nvPicPr>
        <p:blipFill rotWithShape="1">
          <a:blip r:embed="rId2">
            <a:alphaModFix/>
          </a:blip>
          <a:srcRect/>
          <a:stretch/>
        </p:blipFill>
        <p:spPr>
          <a:xfrm>
            <a:off x="4406826" y="1815747"/>
            <a:ext cx="3360373" cy="3350541"/>
          </a:xfrm>
          <a:prstGeom prst="rect">
            <a:avLst/>
          </a:prstGeom>
          <a:noFill/>
          <a:ln>
            <a:noFill/>
          </a:ln>
        </p:spPr>
      </p:pic>
      <p:pic>
        <p:nvPicPr>
          <p:cNvPr id="159" name="Google Shape;159;p62" descr="D:\Fullppt\005-PNG이미지\모니터.png"/>
          <p:cNvPicPr preferRelativeResize="0"/>
          <p:nvPr/>
        </p:nvPicPr>
        <p:blipFill rotWithShape="1">
          <a:blip r:embed="rId2">
            <a:alphaModFix/>
          </a:blip>
          <a:srcRect/>
          <a:stretch/>
        </p:blipFill>
        <p:spPr>
          <a:xfrm>
            <a:off x="8037251" y="1815747"/>
            <a:ext cx="3360373" cy="3350541"/>
          </a:xfrm>
          <a:prstGeom prst="rect">
            <a:avLst/>
          </a:prstGeom>
          <a:noFill/>
          <a:ln>
            <a:noFill/>
          </a:ln>
        </p:spPr>
      </p:pic>
      <p:sp>
        <p:nvSpPr>
          <p:cNvPr id="160" name="Google Shape;160;p62"/>
          <p:cNvSpPr>
            <a:spLocks noGrp="1"/>
          </p:cNvSpPr>
          <p:nvPr>
            <p:ph type="pic" idx="3"/>
          </p:nvPr>
        </p:nvSpPr>
        <p:spPr>
          <a:xfrm>
            <a:off x="909901" y="1957962"/>
            <a:ext cx="3073864" cy="2080028"/>
          </a:xfrm>
          <a:prstGeom prst="rect">
            <a:avLst/>
          </a:prstGeom>
          <a:solidFill>
            <a:srgbClr val="F2F2F2"/>
          </a:solidFill>
          <a:ln>
            <a:noFill/>
          </a:ln>
        </p:spPr>
      </p:sp>
      <p:sp>
        <p:nvSpPr>
          <p:cNvPr id="161" name="Google Shape;161;p62"/>
          <p:cNvSpPr>
            <a:spLocks noGrp="1"/>
          </p:cNvSpPr>
          <p:nvPr>
            <p:ph type="pic" idx="4"/>
          </p:nvPr>
        </p:nvSpPr>
        <p:spPr>
          <a:xfrm>
            <a:off x="4539561" y="1957962"/>
            <a:ext cx="3073864" cy="2080028"/>
          </a:xfrm>
          <a:prstGeom prst="rect">
            <a:avLst/>
          </a:prstGeom>
          <a:solidFill>
            <a:srgbClr val="F2F2F2"/>
          </a:solidFill>
          <a:ln>
            <a:noFill/>
          </a:ln>
        </p:spPr>
      </p:sp>
      <p:sp>
        <p:nvSpPr>
          <p:cNvPr id="162" name="Google Shape;162;p62"/>
          <p:cNvSpPr>
            <a:spLocks noGrp="1"/>
          </p:cNvSpPr>
          <p:nvPr>
            <p:ph type="pic" idx="5"/>
          </p:nvPr>
        </p:nvSpPr>
        <p:spPr>
          <a:xfrm>
            <a:off x="8169221" y="1957962"/>
            <a:ext cx="3073864" cy="2080028"/>
          </a:xfrm>
          <a:prstGeom prst="rect">
            <a:avLst/>
          </a:prstGeom>
          <a:solidFill>
            <a:srgbClr val="F2F2F2"/>
          </a:solidFill>
          <a:ln>
            <a:noFill/>
          </a:ln>
        </p:spPr>
      </p:sp>
      <p:sp>
        <p:nvSpPr>
          <p:cNvPr id="163" name="Google Shape;163;p62"/>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64" name="Google Shape;164;p62"/>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9_Images and Contents Layout">
  <p:cSld name="9_Images and Contents Layout">
    <p:spTree>
      <p:nvGrpSpPr>
        <p:cNvPr id="1" name="Shape 165"/>
        <p:cNvGrpSpPr/>
        <p:nvPr/>
      </p:nvGrpSpPr>
      <p:grpSpPr>
        <a:xfrm>
          <a:off x="0" y="0"/>
          <a:ext cx="0" cy="0"/>
          <a:chOff x="0" y="0"/>
          <a:chExt cx="0" cy="0"/>
        </a:xfrm>
      </p:grpSpPr>
      <p:sp>
        <p:nvSpPr>
          <p:cNvPr id="166" name="Google Shape;166;p63"/>
          <p:cNvSpPr>
            <a:spLocks noGrp="1"/>
          </p:cNvSpPr>
          <p:nvPr>
            <p:ph type="pic" idx="2"/>
          </p:nvPr>
        </p:nvSpPr>
        <p:spPr>
          <a:xfrm>
            <a:off x="0" y="0"/>
            <a:ext cx="12192000" cy="4101075"/>
          </a:xfrm>
          <a:prstGeom prst="rect">
            <a:avLst/>
          </a:prstGeom>
          <a:solidFill>
            <a:srgbClr val="D8D8D8"/>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icon sets layout">
  <p:cSld name="icon sets layout">
    <p:spTree>
      <p:nvGrpSpPr>
        <p:cNvPr id="1" name="Shape 167"/>
        <p:cNvGrpSpPr/>
        <p:nvPr/>
      </p:nvGrpSpPr>
      <p:grpSpPr>
        <a:xfrm>
          <a:off x="0" y="0"/>
          <a:ext cx="0" cy="0"/>
          <a:chOff x="0" y="0"/>
          <a:chExt cx="0" cy="0"/>
        </a:xfrm>
      </p:grpSpPr>
      <p:sp>
        <p:nvSpPr>
          <p:cNvPr id="168" name="Google Shape;168;p64"/>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lnSpc>
                <a:spcPct val="100000"/>
              </a:lnSpc>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lnSpc>
                <a:spcPct val="100000"/>
              </a:lnSpc>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grpSp>
        <p:nvGrpSpPr>
          <p:cNvPr id="169" name="Google Shape;169;p64"/>
          <p:cNvGrpSpPr/>
          <p:nvPr/>
        </p:nvGrpSpPr>
        <p:grpSpPr>
          <a:xfrm>
            <a:off x="472011" y="1508786"/>
            <a:ext cx="3799787" cy="4865561"/>
            <a:chOff x="354008" y="1131589"/>
            <a:chExt cx="2849840" cy="3649171"/>
          </a:xfrm>
        </p:grpSpPr>
        <p:sp>
          <p:nvSpPr>
            <p:cNvPr id="170" name="Google Shape;170;p64"/>
            <p:cNvSpPr/>
            <p:nvPr/>
          </p:nvSpPr>
          <p:spPr>
            <a:xfrm>
              <a:off x="354008" y="1131589"/>
              <a:ext cx="2849840" cy="364917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71" name="Google Shape;171;p64"/>
            <p:cNvSpPr/>
            <p:nvPr/>
          </p:nvSpPr>
          <p:spPr>
            <a:xfrm>
              <a:off x="531932" y="1347500"/>
              <a:ext cx="108520" cy="3240473"/>
            </a:xfrm>
            <a:prstGeom prst="roundRect">
              <a:avLst>
                <a:gd name="adj" fmla="val 50000"/>
              </a:avLst>
            </a:prstGeom>
            <a:solidFill>
              <a:schemeClr val="lt1">
                <a:alpha val="4039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72" name="Google Shape;172;p64"/>
            <p:cNvSpPr/>
            <p:nvPr/>
          </p:nvSpPr>
          <p:spPr>
            <a:xfrm rot="5400000">
              <a:off x="2592642" y="1238201"/>
              <a:ext cx="502331" cy="502331"/>
            </a:xfrm>
            <a:prstGeom prst="halfFrame">
              <a:avLst>
                <a:gd name="adj1" fmla="val 23728"/>
                <a:gd name="adj2" fmla="val 24642"/>
              </a:avLst>
            </a:prstGeom>
            <a:solidFill>
              <a:schemeClr val="lt1">
                <a:alpha val="2235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37"/>
          <p:cNvPicPr preferRelativeResize="0"/>
          <p:nvPr/>
        </p:nvPicPr>
        <p:blipFill rotWithShape="1">
          <a:blip r:embed="rId15">
            <a:alphaModFix/>
          </a:blip>
          <a:srcRect/>
          <a:stretch/>
        </p:blipFill>
        <p:spPr>
          <a:xfrm>
            <a:off x="8313446" y="0"/>
            <a:ext cx="882927" cy="785252"/>
          </a:xfrm>
          <a:prstGeom prst="rect">
            <a:avLst/>
          </a:prstGeom>
          <a:noFill/>
          <a:ln>
            <a:noFill/>
          </a:ln>
        </p:spPr>
      </p:pic>
      <p:pic>
        <p:nvPicPr>
          <p:cNvPr id="16" name="Google Shape;16;p37" descr="National Board of Accreditation - Wikipedia"/>
          <p:cNvPicPr preferRelativeResize="0"/>
          <p:nvPr/>
        </p:nvPicPr>
        <p:blipFill rotWithShape="1">
          <a:blip r:embed="rId16">
            <a:alphaModFix/>
          </a:blip>
          <a:srcRect/>
          <a:stretch/>
        </p:blipFill>
        <p:spPr>
          <a:xfrm>
            <a:off x="9299701" y="49261"/>
            <a:ext cx="872490" cy="688340"/>
          </a:xfrm>
          <a:prstGeom prst="rect">
            <a:avLst/>
          </a:prstGeom>
          <a:noFill/>
          <a:ln>
            <a:noFill/>
          </a:ln>
        </p:spPr>
      </p:pic>
      <p:pic>
        <p:nvPicPr>
          <p:cNvPr id="17" name="Google Shape;17;p37"/>
          <p:cNvPicPr preferRelativeResize="0"/>
          <p:nvPr/>
        </p:nvPicPr>
        <p:blipFill rotWithShape="1">
          <a:blip r:embed="rId17">
            <a:alphaModFix/>
          </a:blip>
          <a:srcRect/>
          <a:stretch/>
        </p:blipFill>
        <p:spPr>
          <a:xfrm>
            <a:off x="10275519" y="113999"/>
            <a:ext cx="1916480" cy="64155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hyperlink" Target="https://www.geeksforgeeks.org/rename-operation-in-relational-algebra/" TargetMode="External"/><Relationship Id="rId3" Type="http://schemas.openxmlformats.org/officeDocument/2006/relationships/hyperlink" Target="https://www.geeksforgeeks.org/select-operation-in-relational-algebra/" TargetMode="External"/><Relationship Id="rId7" Type="http://schemas.openxmlformats.org/officeDocument/2006/relationships/hyperlink" Target="https://www.geeksforgeeks.org/sql-intersect-clause/"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hyperlink" Target="https://www.geeksforgeeks.org/set-theory-operations-in-relational-algebra/" TargetMode="External"/><Relationship Id="rId5" Type="http://schemas.openxmlformats.org/officeDocument/2006/relationships/hyperlink" Target="https://www.geeksforgeeks.org/sql-union-operator/" TargetMode="External"/><Relationship Id="rId4" Type="http://schemas.openxmlformats.org/officeDocument/2006/relationships/hyperlink" Target="https://www.geeksforgeeks.org/difference-between-selection-and-projection-in-dbms/" TargetMode="External"/><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76"/>
        <p:cNvGrpSpPr/>
        <p:nvPr/>
      </p:nvGrpSpPr>
      <p:grpSpPr>
        <a:xfrm>
          <a:off x="0" y="0"/>
          <a:ext cx="0" cy="0"/>
          <a:chOff x="0" y="0"/>
          <a:chExt cx="0" cy="0"/>
        </a:xfrm>
      </p:grpSpPr>
      <p:sp>
        <p:nvSpPr>
          <p:cNvPr id="177" name="Google Shape;177;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 name="Google Shape;178;p1"/>
          <p:cNvSpPr txBox="1">
            <a:spLocks noGrp="1"/>
          </p:cNvSpPr>
          <p:nvPr>
            <p:ph type="subTitle" idx="1"/>
          </p:nvPr>
        </p:nvSpPr>
        <p:spPr>
          <a:xfrm>
            <a:off x="562662" y="4891470"/>
            <a:ext cx="4156822" cy="123659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b="1">
                <a:latin typeface="Times New Roman"/>
                <a:ea typeface="Times New Roman"/>
                <a:cs typeface="Times New Roman"/>
                <a:sym typeface="Times New Roman"/>
              </a:rPr>
              <a:t>DR. GITANJALI</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E16525</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ASSISTANT PROFESSOR</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CSE </a:t>
            </a:r>
            <a:endParaRPr/>
          </a:p>
        </p:txBody>
      </p:sp>
      <p:sp>
        <p:nvSpPr>
          <p:cNvPr id="179" name="Google Shape;179;p1"/>
          <p:cNvSpPr/>
          <p:nvPr/>
        </p:nvSpPr>
        <p:spPr>
          <a:xfrm flipH="1">
            <a:off x="9344623" y="4901508"/>
            <a:ext cx="2466377" cy="1712909"/>
          </a:xfrm>
          <a:prstGeom prst="rtTriangle">
            <a:avLst/>
          </a:prstGeom>
          <a:solidFill>
            <a:srgbClr val="C00000"/>
          </a:solidFill>
          <a:ln>
            <a:noFill/>
          </a:ln>
        </p:spPr>
        <p:txBody>
          <a:bodyPr spcFirstLastPara="1" wrap="square" lIns="75575" tIns="37775" rIns="75575" bIns="37775" anchor="ctr" anchorCtr="0">
            <a:noAutofit/>
          </a:bodyPr>
          <a:lstStyle/>
          <a:p>
            <a:pPr marL="0" marR="0" lvl="0" indent="0" algn="ctr" rtl="0">
              <a:lnSpc>
                <a:spcPct val="100000"/>
              </a:lnSpc>
              <a:spcBef>
                <a:spcPts val="0"/>
              </a:spcBef>
              <a:spcAft>
                <a:spcPts val="0"/>
              </a:spcAft>
              <a:buClr>
                <a:srgbClr val="000000"/>
              </a:buClr>
              <a:buSzPts val="1488"/>
              <a:buFont typeface="Arial"/>
              <a:buNone/>
            </a:pPr>
            <a:endParaRPr sz="1488" b="0" i="0" u="none" strike="noStrike" cap="none">
              <a:solidFill>
                <a:schemeClr val="lt1"/>
              </a:solidFill>
              <a:latin typeface="Calibri"/>
              <a:ea typeface="Calibri"/>
              <a:cs typeface="Calibri"/>
              <a:sym typeface="Calibri"/>
            </a:endParaRPr>
          </a:p>
        </p:txBody>
      </p:sp>
      <p:sp>
        <p:nvSpPr>
          <p:cNvPr id="180" name="Google Shape;180;p1"/>
          <p:cNvSpPr txBox="1"/>
          <p:nvPr/>
        </p:nvSpPr>
        <p:spPr>
          <a:xfrm>
            <a:off x="7158646" y="5490468"/>
            <a:ext cx="4075113" cy="534988"/>
          </a:xfrm>
          <a:prstGeom prst="rect">
            <a:avLst/>
          </a:prstGeom>
          <a:noFill/>
          <a:ln>
            <a:noFill/>
          </a:ln>
        </p:spPr>
        <p:txBody>
          <a:bodyPr spcFirstLastPara="1" wrap="square" lIns="75575" tIns="37775" rIns="75575" bIns="37775" anchor="t" anchorCtr="0">
            <a:spAutoFit/>
          </a:bodyPr>
          <a:lstStyle/>
          <a:p>
            <a:pPr marL="0" marR="0" lvl="0" indent="0" algn="l" rtl="0">
              <a:lnSpc>
                <a:spcPct val="100000"/>
              </a:lnSpc>
              <a:spcBef>
                <a:spcPts val="0"/>
              </a:spcBef>
              <a:spcAft>
                <a:spcPts val="0"/>
              </a:spcAft>
              <a:buClr>
                <a:srgbClr val="000000"/>
              </a:buClr>
              <a:buSzPts val="1653"/>
              <a:buFont typeface="Arial"/>
              <a:buNone/>
            </a:pPr>
            <a:r>
              <a:rPr lang="en-US" sz="1653" b="1" i="0" u="none" strike="noStrike" cap="none">
                <a:solidFill>
                  <a:srgbClr val="595959"/>
                </a:solidFill>
                <a:latin typeface="Arial"/>
                <a:ea typeface="Arial"/>
                <a:cs typeface="Arial"/>
                <a:sym typeface="Arial"/>
              </a:rPr>
              <a:t>DISCOVER . </a:t>
            </a:r>
            <a:r>
              <a:rPr lang="en-US" sz="1653" b="1" i="0" u="none" strike="noStrike" cap="none">
                <a:solidFill>
                  <a:srgbClr val="C00000"/>
                </a:solidFill>
                <a:latin typeface="Arial"/>
                <a:ea typeface="Arial"/>
                <a:cs typeface="Arial"/>
                <a:sym typeface="Arial"/>
              </a:rPr>
              <a:t>LEARN</a:t>
            </a:r>
            <a:r>
              <a:rPr lang="en-US" sz="1653" b="1" i="0" u="none" strike="noStrike" cap="none">
                <a:solidFill>
                  <a:srgbClr val="595959"/>
                </a:solidFill>
                <a:latin typeface="Arial"/>
                <a:ea typeface="Arial"/>
                <a:cs typeface="Arial"/>
                <a:sym typeface="Arial"/>
              </a:rPr>
              <a:t> . EMPOWER</a:t>
            </a:r>
            <a:endParaRPr sz="992"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23"/>
              <a:buFont typeface="Arial"/>
              <a:buNone/>
            </a:pPr>
            <a:endParaRPr sz="1323" b="1" i="0" u="none" strike="noStrike" cap="none">
              <a:solidFill>
                <a:schemeClr val="dk1"/>
              </a:solidFill>
              <a:latin typeface="Arial"/>
              <a:ea typeface="Arial"/>
              <a:cs typeface="Arial"/>
              <a:sym typeface="Arial"/>
            </a:endParaRPr>
          </a:p>
        </p:txBody>
      </p:sp>
      <p:sp>
        <p:nvSpPr>
          <p:cNvPr id="181" name="Google Shape;181;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2" name="Google Shape;182;p1"/>
          <p:cNvSpPr txBox="1"/>
          <p:nvPr/>
        </p:nvSpPr>
        <p:spPr>
          <a:xfrm>
            <a:off x="1040825" y="892905"/>
            <a:ext cx="9722858" cy="39702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Arial"/>
                <a:ea typeface="Arial"/>
                <a:cs typeface="Arial"/>
                <a:sym typeface="Arial"/>
              </a:rPr>
              <a:t>UNIVERSITY INSTITUTE OF ENGINEERING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Department of Computer Science &amp; Engineering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Databases Management System</a:t>
            </a:r>
            <a:endParaRPr sz="1400" b="0" i="0" u="none" strike="noStrike" cap="none">
              <a:solidFill>
                <a:srgbClr val="000000"/>
              </a:solidFill>
              <a:latin typeface="Arial"/>
              <a:ea typeface="Arial"/>
              <a:cs typeface="Arial"/>
              <a:sym typeface="Arial"/>
            </a:endParaRPr>
          </a:p>
          <a:p>
            <a:pPr marL="0" marR="0" lvl="0" indent="0" algn="ctr" rtl="0">
              <a:lnSpc>
                <a:spcPct val="116444"/>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(23CSH-205/23ITH-205)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
          <p:cNvSpPr txBox="1">
            <a:spLocks noGrp="1"/>
          </p:cNvSpPr>
          <p:nvPr>
            <p:ph type="title"/>
          </p:nvPr>
        </p:nvSpPr>
        <p:spPr>
          <a:xfrm>
            <a:off x="2152650" y="4909"/>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Arial"/>
              <a:buNone/>
            </a:pPr>
            <a:r>
              <a:rPr lang="en-US" b="1">
                <a:solidFill>
                  <a:srgbClr val="C00000"/>
                </a:solidFill>
                <a:latin typeface="Arial"/>
                <a:ea typeface="Arial"/>
                <a:cs typeface="Arial"/>
                <a:sym typeface="Arial"/>
              </a:rPr>
              <a:t>ABOUT COURSE</a:t>
            </a:r>
            <a:endParaRPr>
              <a:solidFill>
                <a:srgbClr val="C00000"/>
              </a:solidFill>
            </a:endParaRPr>
          </a:p>
        </p:txBody>
      </p:sp>
      <p:sp>
        <p:nvSpPr>
          <p:cNvPr id="188" name="Google Shape;188;p2"/>
          <p:cNvSpPr txBox="1">
            <a:spLocks noGrp="1"/>
          </p:cNvSpPr>
          <p:nvPr>
            <p:ph type="body" idx="1"/>
          </p:nvPr>
        </p:nvSpPr>
        <p:spPr>
          <a:xfrm>
            <a:off x="838200" y="1374824"/>
            <a:ext cx="11107993" cy="4455775"/>
          </a:xfrm>
          <a:prstGeom prst="rect">
            <a:avLst/>
          </a:prstGeom>
          <a:noFill/>
          <a:ln>
            <a:noFill/>
          </a:ln>
        </p:spPr>
        <p:txBody>
          <a:bodyPr spcFirstLastPara="1" wrap="square" lIns="68575" tIns="34275" rIns="68575" bIns="34275" anchor="t" anchorCtr="0">
            <a:noAutofit/>
          </a:bodyPr>
          <a:lstStyle/>
          <a:p>
            <a:pPr marL="228600" lvl="0" indent="-228600" algn="just"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main DBMS course, we learn about the </a:t>
            </a:r>
            <a:r>
              <a:rPr lang="en-US" sz="2400">
                <a:solidFill>
                  <a:srgbClr val="833C0B"/>
                </a:solidFill>
                <a:latin typeface="Times New Roman"/>
                <a:ea typeface="Times New Roman"/>
                <a:cs typeface="Times New Roman"/>
                <a:sym typeface="Times New Roman"/>
              </a:rPr>
              <a:t>structural formation of data</a:t>
            </a:r>
            <a:r>
              <a:rPr lang="en-US" sz="2400">
                <a:latin typeface="Times New Roman"/>
                <a:ea typeface="Times New Roman"/>
                <a:cs typeface="Times New Roman"/>
                <a:sym typeface="Times New Roman"/>
              </a:rPr>
              <a:t>, </a:t>
            </a:r>
            <a:r>
              <a:rPr lang="en-US" sz="2400">
                <a:solidFill>
                  <a:srgbClr val="2F5496"/>
                </a:solidFill>
                <a:latin typeface="Times New Roman"/>
                <a:ea typeface="Times New Roman"/>
                <a:cs typeface="Times New Roman"/>
                <a:sym typeface="Times New Roman"/>
              </a:rPr>
              <a:t>maintain data integrity</a:t>
            </a:r>
            <a:r>
              <a:rPr lang="en-US" sz="2400">
                <a:latin typeface="Times New Roman"/>
                <a:ea typeface="Times New Roman"/>
                <a:cs typeface="Times New Roman"/>
                <a:sym typeface="Times New Roman"/>
              </a:rPr>
              <a:t>, </a:t>
            </a:r>
            <a:r>
              <a:rPr lang="en-US" sz="2400">
                <a:solidFill>
                  <a:srgbClr val="385623"/>
                </a:solidFill>
                <a:latin typeface="Times New Roman"/>
                <a:ea typeface="Times New Roman"/>
                <a:cs typeface="Times New Roman"/>
                <a:sym typeface="Times New Roman"/>
              </a:rPr>
              <a:t>multitasking with concurrent access </a:t>
            </a:r>
            <a:r>
              <a:rPr lang="en-US" sz="2400">
                <a:latin typeface="Times New Roman"/>
                <a:ea typeface="Times New Roman"/>
                <a:cs typeface="Times New Roman"/>
                <a:sym typeface="Times New Roman"/>
              </a:rPr>
              <a:t>and </a:t>
            </a:r>
            <a:r>
              <a:rPr lang="en-US" sz="2400">
                <a:solidFill>
                  <a:schemeClr val="dk2"/>
                </a:solidFill>
                <a:latin typeface="Times New Roman"/>
                <a:ea typeface="Times New Roman"/>
                <a:cs typeface="Times New Roman"/>
                <a:sym typeface="Times New Roman"/>
              </a:rPr>
              <a:t>recovery without occurring crashes</a:t>
            </a:r>
            <a:r>
              <a:rPr lang="en-US" sz="2400">
                <a:latin typeface="Times New Roman"/>
                <a:ea typeface="Times New Roman"/>
                <a:cs typeface="Times New Roman"/>
                <a:sym typeface="Times New Roman"/>
              </a:rPr>
              <a:t>, data structures, data models etc. and their working in which every organization is based. </a:t>
            </a:r>
            <a:endParaRPr/>
          </a:p>
          <a:p>
            <a:pPr marL="228600" lvl="0" indent="-228600" algn="just"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marL="228600" lvl="0" indent="-76200" algn="just" rtl="0">
              <a:lnSpc>
                <a:spcPct val="90000"/>
              </a:lnSpc>
              <a:spcBef>
                <a:spcPts val="1000"/>
              </a:spcBef>
              <a:spcAft>
                <a:spcPts val="0"/>
              </a:spcAft>
              <a:buClr>
                <a:schemeClr val="dk1"/>
              </a:buClr>
              <a:buSzPts val="2400"/>
              <a:buNone/>
            </a:pPr>
            <a:endParaRPr sz="2400" i="1">
              <a:latin typeface="Times New Roman"/>
              <a:ea typeface="Times New Roman"/>
              <a:cs typeface="Times New Roman"/>
              <a:sym typeface="Times New Roman"/>
            </a:endParaRPr>
          </a:p>
        </p:txBody>
      </p:sp>
      <p:sp>
        <p:nvSpPr>
          <p:cNvPr id="189" name="Google Shape;18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190" name="Google Shape;19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
        <p:nvSpPr>
          <p:cNvPr id="191" name="Google Shape;19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graphicFrame>
        <p:nvGraphicFramePr>
          <p:cNvPr id="196" name="Google Shape;196;p3"/>
          <p:cNvGraphicFramePr/>
          <p:nvPr/>
        </p:nvGraphicFramePr>
        <p:xfrm>
          <a:off x="309716" y="1798609"/>
          <a:ext cx="7843700" cy="4387290"/>
        </p:xfrm>
        <a:graphic>
          <a:graphicData uri="http://schemas.openxmlformats.org/drawingml/2006/table">
            <a:tbl>
              <a:tblPr>
                <a:noFill/>
                <a:tableStyleId>{943AD856-601C-442C-ADE2-F0223B0326DF}</a:tableStyleId>
              </a:tblPr>
              <a:tblGrid>
                <a:gridCol w="842250">
                  <a:extLst>
                    <a:ext uri="{9D8B030D-6E8A-4147-A177-3AD203B41FA5}">
                      <a16:colId xmlns:a16="http://schemas.microsoft.com/office/drawing/2014/main" val="20000"/>
                    </a:ext>
                  </a:extLst>
                </a:gridCol>
                <a:gridCol w="5406775">
                  <a:extLst>
                    <a:ext uri="{9D8B030D-6E8A-4147-A177-3AD203B41FA5}">
                      <a16:colId xmlns:a16="http://schemas.microsoft.com/office/drawing/2014/main" val="20001"/>
                    </a:ext>
                  </a:extLst>
                </a:gridCol>
                <a:gridCol w="1594675">
                  <a:extLst>
                    <a:ext uri="{9D8B030D-6E8A-4147-A177-3AD203B41FA5}">
                      <a16:colId xmlns:a16="http://schemas.microsoft.com/office/drawing/2014/main" val="20002"/>
                    </a:ext>
                  </a:extLst>
                </a:gridCol>
              </a:tblGrid>
              <a:tr h="509675">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CO No.</a:t>
                      </a:r>
                      <a:endParaRPr sz="1400" u="none" strike="noStrike" cap="none"/>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Title</a:t>
                      </a:r>
                      <a:endParaRPr sz="1400" u="none" strike="noStrike" cap="none"/>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BT Level</a:t>
                      </a:r>
                      <a:endParaRPr sz="1400" u="none" strike="noStrike" cap="none"/>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19375">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B050"/>
                          </a:solidFill>
                          <a:highlight>
                            <a:srgbClr val="FFFF00"/>
                          </a:highlight>
                          <a:latin typeface="Times New Roman"/>
                          <a:ea typeface="Times New Roman"/>
                          <a:cs typeface="Times New Roman"/>
                          <a:sym typeface="Times New Roman"/>
                        </a:rPr>
                        <a:t>CO1</a:t>
                      </a:r>
                      <a:endParaRPr sz="1400" u="none" strike="noStrike" cap="none"/>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sz="1400" u="none" strike="noStrike" cap="none"/>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7CAAC"/>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highlight>
                            <a:srgbClr val="FFFF00"/>
                          </a:highlight>
                          <a:latin typeface="Calibri"/>
                          <a:ea typeface="Calibri"/>
                          <a:cs typeface="Calibri"/>
                          <a:sym typeface="Calibri"/>
                        </a:rPr>
                        <a:t>Memorize</a:t>
                      </a:r>
                      <a:endParaRPr sz="1400" u="none" strike="noStrike" cap="none"/>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97075">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B050"/>
                          </a:solidFill>
                          <a:highlight>
                            <a:srgbClr val="FFFF00"/>
                          </a:highlight>
                          <a:latin typeface="Times New Roman"/>
                          <a:ea typeface="Times New Roman"/>
                          <a:cs typeface="Times New Roman"/>
                          <a:sym typeface="Times New Roman"/>
                        </a:rPr>
                        <a:t>CO2</a:t>
                      </a:r>
                      <a:endParaRPr sz="1400" u="none" strike="noStrike" cap="none"/>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sz="16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3C6E7"/>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highlight>
                            <a:srgbClr val="FFFF00"/>
                          </a:highlight>
                          <a:latin typeface="Calibri"/>
                          <a:ea typeface="Calibri"/>
                          <a:cs typeface="Calibri"/>
                          <a:sym typeface="Calibri"/>
                        </a:rPr>
                        <a:t>Understanding</a:t>
                      </a:r>
                      <a:endParaRPr sz="1400" u="none" strike="noStrike" cap="none"/>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66475">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B050"/>
                          </a:solidFill>
                          <a:latin typeface="Times New Roman"/>
                          <a:ea typeface="Times New Roman"/>
                          <a:cs typeface="Times New Roman"/>
                          <a:sym typeface="Times New Roman"/>
                        </a:rPr>
                        <a:t>CO3</a:t>
                      </a:r>
                      <a:endParaRPr sz="1400" u="none" strike="noStrike" cap="none"/>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8D08C"/>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latin typeface="Calibri"/>
                          <a:ea typeface="Calibri"/>
                          <a:cs typeface="Calibri"/>
                          <a:sym typeface="Calibri"/>
                        </a:rPr>
                        <a:t>Apply</a:t>
                      </a:r>
                      <a:endParaRPr sz="1400" u="none" strike="noStrike" cap="none"/>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9675">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B050"/>
                          </a:solidFill>
                          <a:latin typeface="Times New Roman"/>
                          <a:ea typeface="Times New Roman"/>
                          <a:cs typeface="Times New Roman"/>
                          <a:sym typeface="Times New Roman"/>
                        </a:rPr>
                        <a:t>CO4</a:t>
                      </a:r>
                      <a:endParaRPr sz="1400" u="none" strike="noStrike" cap="none"/>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599"/>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latin typeface="Calibri"/>
                          <a:ea typeface="Calibri"/>
                          <a:cs typeface="Calibri"/>
                          <a:sym typeface="Calibri"/>
                        </a:rPr>
                        <a:t>Analyze</a:t>
                      </a:r>
                      <a:endParaRPr sz="1400" u="none" strike="noStrike" cap="none"/>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5175">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B050"/>
                          </a:solidFill>
                          <a:latin typeface="Times New Roman"/>
                          <a:ea typeface="Times New Roman"/>
                          <a:cs typeface="Times New Roman"/>
                          <a:sym typeface="Times New Roman"/>
                        </a:rPr>
                        <a:t>CO5</a:t>
                      </a:r>
                      <a:endParaRPr sz="1400" u="none" strike="noStrike" cap="none"/>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latin typeface="Calibri"/>
                          <a:ea typeface="Calibri"/>
                          <a:cs typeface="Calibri"/>
                          <a:sym typeface="Calibri"/>
                        </a:rPr>
                        <a:t>Evaluate</a:t>
                      </a:r>
                      <a:endParaRPr sz="1400" u="none" strike="noStrike" cap="none"/>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97" name="Google Shape;197;p3"/>
          <p:cNvSpPr txBox="1">
            <a:spLocks noGrp="1"/>
          </p:cNvSpPr>
          <p:nvPr>
            <p:ph type="title"/>
          </p:nvPr>
        </p:nvSpPr>
        <p:spPr>
          <a:xfrm>
            <a:off x="1719416" y="376190"/>
            <a:ext cx="7886700" cy="65250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3600"/>
              <a:buFont typeface="Arial Rounded"/>
              <a:buNone/>
            </a:pPr>
            <a:r>
              <a:rPr lang="en-US" sz="3600" b="1">
                <a:solidFill>
                  <a:srgbClr val="C00000"/>
                </a:solidFill>
                <a:latin typeface="Arial Rounded"/>
                <a:ea typeface="Arial Rounded"/>
                <a:cs typeface="Arial Rounded"/>
                <a:sym typeface="Arial Rounded"/>
              </a:rPr>
              <a:t>COURSE OUTCOMES </a:t>
            </a:r>
            <a:endParaRPr sz="3600" b="1">
              <a:solidFill>
                <a:srgbClr val="C00000"/>
              </a:solidFill>
              <a:latin typeface="Arial Rounded"/>
              <a:ea typeface="Arial Rounded"/>
              <a:cs typeface="Arial Rounded"/>
              <a:sym typeface="Arial Rounded"/>
            </a:endParaRPr>
          </a:p>
        </p:txBody>
      </p:sp>
      <p:sp>
        <p:nvSpPr>
          <p:cNvPr id="198" name="Google Shape;19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199" name="Google Shape;19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
        <p:nvSpPr>
          <p:cNvPr id="200" name="Google Shape;200;p3"/>
          <p:cNvSpPr/>
          <p:nvPr/>
        </p:nvSpPr>
        <p:spPr>
          <a:xfrm>
            <a:off x="8371907" y="1161441"/>
            <a:ext cx="3602379" cy="4139901"/>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 name="Google Shape;201;p3"/>
          <p:cNvSpPr/>
          <p:nvPr/>
        </p:nvSpPr>
        <p:spPr>
          <a:xfrm>
            <a:off x="9163335" y="1780920"/>
            <a:ext cx="2244894" cy="106820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Will be covered in this lecture</a:t>
            </a:r>
            <a:endParaRPr sz="1400" b="0" i="0" u="none" strike="noStrike" cap="none">
              <a:solidFill>
                <a:srgbClr val="000000"/>
              </a:solidFill>
              <a:latin typeface="Arial"/>
              <a:ea typeface="Arial"/>
              <a:cs typeface="Arial"/>
              <a:sym typeface="Arial"/>
            </a:endParaRPr>
          </a:p>
        </p:txBody>
      </p:sp>
      <p:cxnSp>
        <p:nvCxnSpPr>
          <p:cNvPr id="202" name="Google Shape;202;p3"/>
          <p:cNvCxnSpPr/>
          <p:nvPr/>
        </p:nvCxnSpPr>
        <p:spPr>
          <a:xfrm rot="10800000" flipH="1">
            <a:off x="7924800" y="2125686"/>
            <a:ext cx="1238535" cy="598209"/>
          </a:xfrm>
          <a:prstGeom prst="straightConnector1">
            <a:avLst/>
          </a:prstGeom>
          <a:noFill/>
          <a:ln w="9525" cap="flat" cmpd="sng">
            <a:solidFill>
              <a:srgbClr val="4A7DBA"/>
            </a:solidFill>
            <a:prstDash val="solid"/>
            <a:round/>
            <a:headEnd type="none" w="sm" len="sm"/>
            <a:tailEnd type="triangle" w="med" len="med"/>
          </a:ln>
        </p:spPr>
      </p:cxnSp>
      <p:cxnSp>
        <p:nvCxnSpPr>
          <p:cNvPr id="203" name="Google Shape;203;p3"/>
          <p:cNvCxnSpPr/>
          <p:nvPr/>
        </p:nvCxnSpPr>
        <p:spPr>
          <a:xfrm rot="10800000" flipH="1">
            <a:off x="8153400" y="2894341"/>
            <a:ext cx="1452716" cy="793799"/>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4"/>
          <p:cNvSpPr/>
          <p:nvPr/>
        </p:nvSpPr>
        <p:spPr>
          <a:xfrm>
            <a:off x="381913" y="1925013"/>
            <a:ext cx="11549531" cy="334995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have good </a:t>
            </a:r>
            <a:r>
              <a:rPr lang="en-US" sz="2400" b="1" i="0" u="none" strike="noStrike" cap="none">
                <a:solidFill>
                  <a:schemeClr val="dk1"/>
                </a:solidFill>
                <a:latin typeface="Times New Roman"/>
                <a:ea typeface="Times New Roman"/>
                <a:cs typeface="Times New Roman"/>
                <a:sym typeface="Times New Roman"/>
              </a:rPr>
              <a:t>understanding of database system </a:t>
            </a:r>
            <a:r>
              <a:rPr lang="en-US" sz="2400" b="0" i="0" u="none" strike="noStrike" cap="none">
                <a:solidFill>
                  <a:schemeClr val="dk1"/>
                </a:solidFill>
                <a:latin typeface="Times New Roman"/>
                <a:ea typeface="Times New Roman"/>
                <a:cs typeface="Times New Roman"/>
                <a:sym typeface="Times New Roman"/>
              </a:rPr>
              <a:t>concepts and </a:t>
            </a:r>
            <a:r>
              <a:rPr lang="en-US" sz="2400" b="1" i="0" u="none" strike="noStrike" cap="none">
                <a:solidFill>
                  <a:schemeClr val="dk1"/>
                </a:solidFill>
                <a:latin typeface="Times New Roman"/>
                <a:ea typeface="Times New Roman"/>
                <a:cs typeface="Times New Roman"/>
                <a:sym typeface="Times New Roman"/>
              </a:rPr>
              <a:t>design databases </a:t>
            </a:r>
            <a:r>
              <a:rPr lang="en-US" sz="2400" b="0" i="0" u="none" strike="noStrike" cap="none">
                <a:solidFill>
                  <a:schemeClr val="dk1"/>
                </a:solidFill>
                <a:latin typeface="Times New Roman"/>
                <a:ea typeface="Times New Roman"/>
                <a:cs typeface="Times New Roman"/>
                <a:sym typeface="Times New Roman"/>
              </a:rPr>
              <a:t>for different applications.</a:t>
            </a:r>
            <a:endParaRPr sz="1400" b="0" i="0" u="none" strike="noStrike" cap="none">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learn how to use a </a:t>
            </a:r>
            <a:r>
              <a:rPr lang="en-US" sz="2400" b="1" i="0" u="none" strike="noStrike" cap="none">
                <a:solidFill>
                  <a:schemeClr val="dk1"/>
                </a:solidFill>
                <a:latin typeface="Times New Roman"/>
                <a:ea typeface="Times New Roman"/>
                <a:cs typeface="Times New Roman"/>
                <a:sym typeface="Times New Roman"/>
              </a:rPr>
              <a:t>DBMS and RDBMS.</a:t>
            </a:r>
            <a:endParaRPr sz="1400" b="0" i="0" u="none" strike="noStrike" cap="none">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implement and understand different types of </a:t>
            </a:r>
            <a:r>
              <a:rPr lang="en-US" sz="2400" b="1" i="0" u="none" strike="noStrike" cap="none">
                <a:solidFill>
                  <a:schemeClr val="dk1"/>
                </a:solidFill>
                <a:latin typeface="Times New Roman"/>
                <a:ea typeface="Times New Roman"/>
                <a:cs typeface="Times New Roman"/>
                <a:sym typeface="Times New Roman"/>
              </a:rPr>
              <a:t>DDL, DML and DCL </a:t>
            </a:r>
            <a:r>
              <a:rPr lang="en-US" sz="2400" b="0" i="0" u="none" strike="noStrike" cap="none">
                <a:solidFill>
                  <a:schemeClr val="dk1"/>
                </a:solidFill>
                <a:latin typeface="Times New Roman"/>
                <a:ea typeface="Times New Roman"/>
                <a:cs typeface="Times New Roman"/>
                <a:sym typeface="Times New Roman"/>
              </a:rPr>
              <a:t>statements.</a:t>
            </a:r>
            <a:endParaRPr sz="1400" b="0" i="0" u="none" strike="noStrike" cap="none">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understand </a:t>
            </a:r>
            <a:r>
              <a:rPr lang="en-US" sz="2400" b="1" i="0" u="none" strike="noStrike" cap="none">
                <a:solidFill>
                  <a:schemeClr val="dk1"/>
                </a:solidFill>
                <a:latin typeface="Times New Roman"/>
                <a:ea typeface="Times New Roman"/>
                <a:cs typeface="Times New Roman"/>
                <a:sym typeface="Times New Roman"/>
              </a:rPr>
              <a:t>transaction concepts </a:t>
            </a:r>
            <a:r>
              <a:rPr lang="en-US" sz="2400" b="0" i="0" u="none" strike="noStrike" cap="none">
                <a:solidFill>
                  <a:schemeClr val="dk1"/>
                </a:solidFill>
                <a:latin typeface="Times New Roman"/>
                <a:ea typeface="Times New Roman"/>
                <a:cs typeface="Times New Roman"/>
                <a:sym typeface="Times New Roman"/>
              </a:rPr>
              <a:t>related to databases and </a:t>
            </a:r>
            <a:r>
              <a:rPr lang="en-US" sz="2400" b="1" i="0" u="none" strike="noStrike" cap="none">
                <a:solidFill>
                  <a:schemeClr val="dk1"/>
                </a:solidFill>
                <a:latin typeface="Times New Roman"/>
                <a:ea typeface="Times New Roman"/>
                <a:cs typeface="Times New Roman"/>
                <a:sym typeface="Times New Roman"/>
              </a:rPr>
              <a:t>recovery/backup techniques </a:t>
            </a:r>
            <a:r>
              <a:rPr lang="en-US" sz="2400" b="0" i="0" u="none" strike="noStrike" cap="none">
                <a:solidFill>
                  <a:schemeClr val="dk1"/>
                </a:solidFill>
                <a:latin typeface="Times New Roman"/>
                <a:ea typeface="Times New Roman"/>
                <a:cs typeface="Times New Roman"/>
                <a:sym typeface="Times New Roman"/>
              </a:rPr>
              <a:t>required for the proper storage of data.</a:t>
            </a:r>
            <a:endParaRPr sz="1400" b="0" i="0" u="none" strike="noStrike" cap="none">
              <a:solidFill>
                <a:srgbClr val="000000"/>
              </a:solidFill>
              <a:latin typeface="Arial"/>
              <a:ea typeface="Arial"/>
              <a:cs typeface="Arial"/>
              <a:sym typeface="Arial"/>
            </a:endParaRPr>
          </a:p>
        </p:txBody>
      </p:sp>
      <p:sp>
        <p:nvSpPr>
          <p:cNvPr id="209" name="Google Shape;209;p4"/>
          <p:cNvSpPr/>
          <p:nvPr/>
        </p:nvSpPr>
        <p:spPr>
          <a:xfrm>
            <a:off x="1255771" y="1384771"/>
            <a:ext cx="735482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This course will enable students to,</a:t>
            </a:r>
            <a:endParaRPr sz="1400" b="0" i="0" u="none" strike="noStrike" cap="none">
              <a:solidFill>
                <a:srgbClr val="000000"/>
              </a:solidFill>
              <a:latin typeface="Arial"/>
              <a:ea typeface="Arial"/>
              <a:cs typeface="Arial"/>
              <a:sym typeface="Arial"/>
            </a:endParaRPr>
          </a:p>
        </p:txBody>
      </p:sp>
      <p:sp>
        <p:nvSpPr>
          <p:cNvPr id="210" name="Google Shape;210;p4"/>
          <p:cNvSpPr txBox="1">
            <a:spLocks noGrp="1"/>
          </p:cNvSpPr>
          <p:nvPr>
            <p:ph type="title"/>
          </p:nvPr>
        </p:nvSpPr>
        <p:spPr>
          <a:xfrm>
            <a:off x="2409648" y="449984"/>
            <a:ext cx="7886700" cy="549381"/>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rgbClr val="C00000"/>
              </a:buClr>
              <a:buSzPts val="3300"/>
              <a:buFont typeface="Arial Rounded"/>
              <a:buNone/>
            </a:pPr>
            <a:r>
              <a:rPr lang="en-US" sz="3300" b="1">
                <a:solidFill>
                  <a:srgbClr val="C00000"/>
                </a:solidFill>
                <a:latin typeface="Arial Rounded"/>
                <a:ea typeface="Arial Rounded"/>
                <a:cs typeface="Arial Rounded"/>
                <a:sym typeface="Arial Rounded"/>
              </a:rPr>
              <a:t>COURSE OBJECTIVES </a:t>
            </a:r>
            <a:endParaRPr/>
          </a:p>
        </p:txBody>
      </p:sp>
      <p:sp>
        <p:nvSpPr>
          <p:cNvPr id="211" name="Google Shape;211;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212" name="Google Shape;212;p4"/>
          <p:cNvSpPr txBox="1">
            <a:spLocks noGrp="1"/>
          </p:cNvSpPr>
          <p:nvPr>
            <p:ph type="ftr" idx="11"/>
          </p:nvPr>
        </p:nvSpPr>
        <p:spPr>
          <a:xfrm>
            <a:off x="3948545" y="623122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5"/>
          <p:cNvSpPr txBox="1"/>
          <p:nvPr/>
        </p:nvSpPr>
        <p:spPr>
          <a:xfrm>
            <a:off x="2152650" y="659011"/>
            <a:ext cx="7886700" cy="1000274"/>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Topics covered</a:t>
            </a:r>
            <a:endParaRPr sz="1400" b="0" i="0" u="none" strike="noStrike" cap="none">
              <a:solidFill>
                <a:srgbClr val="000000"/>
              </a:solidFill>
              <a:latin typeface="Arial"/>
              <a:ea typeface="Arial"/>
              <a:cs typeface="Arial"/>
              <a:sym typeface="Arial"/>
            </a:endParaRPr>
          </a:p>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 </a:t>
            </a:r>
            <a:endParaRPr sz="1400" b="0" i="0" u="none" strike="noStrike" cap="none">
              <a:solidFill>
                <a:srgbClr val="000000"/>
              </a:solidFill>
              <a:latin typeface="Arial"/>
              <a:ea typeface="Arial"/>
              <a:cs typeface="Arial"/>
              <a:sym typeface="Arial"/>
            </a:endParaRPr>
          </a:p>
        </p:txBody>
      </p:sp>
      <p:sp>
        <p:nvSpPr>
          <p:cNvPr id="222" name="Google Shape;222;p5"/>
          <p:cNvSpPr txBox="1"/>
          <p:nvPr/>
        </p:nvSpPr>
        <p:spPr>
          <a:xfrm>
            <a:off x="2060448" y="1984871"/>
            <a:ext cx="5701065" cy="333425"/>
          </a:xfrm>
          <a:prstGeom prst="rect">
            <a:avLst/>
          </a:prstGeom>
          <a:noFill/>
          <a:ln>
            <a:noFill/>
          </a:ln>
        </p:spPr>
        <p:txBody>
          <a:bodyPr spcFirstLastPara="1" wrap="square" lIns="0" tIns="0" rIns="0" bIns="0" anchor="t" anchorCtr="0">
            <a:spAutoFit/>
          </a:bodyPr>
          <a:lstStyle/>
          <a:p>
            <a:pPr marL="0" marR="0" lvl="0" indent="0" algn="l" rtl="0">
              <a:lnSpc>
                <a:spcPct val="107833"/>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Relational Algebra &amp; Relational Calculus:</a:t>
            </a:r>
            <a:endParaRPr sz="2400" b="1" i="0" u="none" strike="noStrike" cap="none">
              <a:solidFill>
                <a:schemeClr val="dk1"/>
              </a:solidFill>
              <a:latin typeface="Times New Roman"/>
              <a:ea typeface="Times New Roman"/>
              <a:cs typeface="Times New Roman"/>
              <a:sym typeface="Times New Roman"/>
            </a:endParaRPr>
          </a:p>
        </p:txBody>
      </p:sp>
      <p:sp>
        <p:nvSpPr>
          <p:cNvPr id="223" name="Google Shape;223;p5"/>
          <p:cNvSpPr txBox="1"/>
          <p:nvPr/>
        </p:nvSpPr>
        <p:spPr>
          <a:xfrm>
            <a:off x="2060449" y="2512114"/>
            <a:ext cx="8397673" cy="884858"/>
          </a:xfrm>
          <a:prstGeom prst="rect">
            <a:avLst/>
          </a:prstGeom>
          <a:noFill/>
          <a:ln>
            <a:noFill/>
          </a:ln>
        </p:spPr>
        <p:txBody>
          <a:bodyPr spcFirstLastPara="1" wrap="square" lIns="0" tIns="0" rIns="0" bIns="0" anchor="t" anchorCtr="0">
            <a:spAutoFit/>
          </a:bodyPr>
          <a:lstStyle/>
          <a:p>
            <a:pPr marL="0" marR="0" lvl="0" indent="0" algn="just" rtl="0">
              <a:lnSpc>
                <a:spcPct val="1125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Introduction, Syntax, Semantics, Additional operators, Grouping and Ungrouping, Relational comparisons, Tuple Calculus, Domain Calculus, Calculus Vs Algebra, Computational capabilities.</a:t>
            </a:r>
            <a:endParaRPr sz="1875" b="0" i="0" u="none" strike="noStrike" cap="none">
              <a:solidFill>
                <a:srgbClr val="000000"/>
              </a:solidFill>
              <a:latin typeface="Arial"/>
              <a:ea typeface="Arial"/>
              <a:cs typeface="Arial"/>
              <a:sym typeface="Arial"/>
            </a:endParaRPr>
          </a:p>
        </p:txBody>
      </p:sp>
      <p:sp>
        <p:nvSpPr>
          <p:cNvPr id="224" name="Google Shape;22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225" name="Google Shape;22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grpSp>
        <p:nvGrpSpPr>
          <p:cNvPr id="234" name="Google Shape;234;p6"/>
          <p:cNvGrpSpPr/>
          <p:nvPr/>
        </p:nvGrpSpPr>
        <p:grpSpPr>
          <a:xfrm>
            <a:off x="1524000" y="6356604"/>
            <a:ext cx="9144000" cy="88404"/>
            <a:chOff x="0" y="0"/>
            <a:chExt cx="13004800" cy="125730"/>
          </a:xfrm>
        </p:grpSpPr>
        <p:sp>
          <p:nvSpPr>
            <p:cNvPr id="235" name="Google Shape;235;p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36" name="Google Shape;236;p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37" name="Google Shape;237;p6"/>
          <p:cNvSpPr txBox="1"/>
          <p:nvPr/>
        </p:nvSpPr>
        <p:spPr>
          <a:xfrm>
            <a:off x="1786275" y="1307800"/>
            <a:ext cx="5154600" cy="47910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Relational algebra consists of a certain set of rules or operations that are widely used to manipulate and query data from a relational database. It can be facilitated by utilizing SQL language and helps users interact with database tables based on querying data from the database more efficiently and effectively.</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Relational Algebra incorporates a collection of operations, such as filtering data or combining data, that help us organize and manipulate data more efficiently. This ” algebra ” is the foundation for most database queries, and it enables us to extract the required information from the databases by using SQL query language.</a:t>
            </a:r>
            <a:endParaRPr sz="1400" b="0" i="0" u="none" strike="noStrike" cap="none">
              <a:solidFill>
                <a:srgbClr val="000000"/>
              </a:solidFill>
              <a:latin typeface="Arial"/>
              <a:ea typeface="Arial"/>
              <a:cs typeface="Arial"/>
              <a:sym typeface="Arial"/>
            </a:endParaRPr>
          </a:p>
        </p:txBody>
      </p:sp>
      <p:sp>
        <p:nvSpPr>
          <p:cNvPr id="238" name="Google Shape;238;p6"/>
          <p:cNvSpPr txBox="1"/>
          <p:nvPr/>
        </p:nvSpPr>
        <p:spPr>
          <a:xfrm>
            <a:off x="4191101" y="659012"/>
            <a:ext cx="380979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239" name="Google Shape;239;p6"/>
          <p:cNvSpPr/>
          <p:nvPr/>
        </p:nvSpPr>
        <p:spPr>
          <a:xfrm>
            <a:off x="7530725" y="2057412"/>
            <a:ext cx="3237682" cy="2743200"/>
          </a:xfrm>
          <a:custGeom>
            <a:avLst/>
            <a:gdLst/>
            <a:ahLst/>
            <a:cxnLst/>
            <a:rect l="l" t="t" r="r" b="b"/>
            <a:pathLst>
              <a:path w="3453528" h="2926080" extrusionOk="0">
                <a:moveTo>
                  <a:pt x="0" y="0"/>
                </a:moveTo>
                <a:lnTo>
                  <a:pt x="3453528" y="0"/>
                </a:lnTo>
                <a:lnTo>
                  <a:pt x="3453528" y="2926080"/>
                </a:lnTo>
                <a:lnTo>
                  <a:pt x="0" y="2926080"/>
                </a:lnTo>
                <a:lnTo>
                  <a:pt x="0" y="0"/>
                </a:lnTo>
                <a:close/>
              </a:path>
            </a:pathLst>
          </a:custGeom>
          <a:blipFill rotWithShape="1">
            <a:blip r:embed="rId3">
              <a:alphaModFix/>
            </a:blip>
            <a:stretch>
              <a:fillRect/>
            </a:stretch>
          </a:blipFill>
          <a:ln>
            <a:noFill/>
          </a:ln>
        </p:spPr>
      </p:sp>
      <p:sp>
        <p:nvSpPr>
          <p:cNvPr id="240" name="Google Shape;24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241" name="Google Shape;24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grpSp>
        <p:nvGrpSpPr>
          <p:cNvPr id="250" name="Google Shape;250;p7"/>
          <p:cNvGrpSpPr/>
          <p:nvPr/>
        </p:nvGrpSpPr>
        <p:grpSpPr>
          <a:xfrm>
            <a:off x="1524000" y="6356604"/>
            <a:ext cx="9144000" cy="88404"/>
            <a:chOff x="0" y="0"/>
            <a:chExt cx="13004800" cy="125730"/>
          </a:xfrm>
        </p:grpSpPr>
        <p:sp>
          <p:nvSpPr>
            <p:cNvPr id="251" name="Google Shape;251;p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52" name="Google Shape;252;p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53" name="Google Shape;253;p7"/>
          <p:cNvSpPr txBox="1"/>
          <p:nvPr/>
        </p:nvSpPr>
        <p:spPr>
          <a:xfrm>
            <a:off x="1796354" y="1456135"/>
            <a:ext cx="8599292" cy="646459"/>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Clr>
                <a:srgbClr val="000000"/>
              </a:buClr>
              <a:buSzPts val="2156"/>
              <a:buFont typeface="Arial"/>
              <a:buNone/>
            </a:pPr>
            <a:r>
              <a:rPr lang="en-US" sz="2156" b="1" i="0" u="none" strike="noStrike" cap="none">
                <a:solidFill>
                  <a:srgbClr val="000000"/>
                </a:solidFill>
                <a:latin typeface="Arial"/>
                <a:ea typeface="Arial"/>
                <a:cs typeface="Arial"/>
                <a:sym typeface="Arial"/>
              </a:rPr>
              <a:t>These are the basic/fundamental operators used in Relational Algebra</a:t>
            </a:r>
            <a:endParaRPr sz="1400" b="0" i="0" u="none" strike="noStrike" cap="none">
              <a:solidFill>
                <a:srgbClr val="000000"/>
              </a:solidFill>
              <a:latin typeface="Arial"/>
              <a:ea typeface="Arial"/>
              <a:cs typeface="Arial"/>
              <a:sym typeface="Arial"/>
            </a:endParaRPr>
          </a:p>
        </p:txBody>
      </p:sp>
      <p:sp>
        <p:nvSpPr>
          <p:cNvPr id="254" name="Google Shape;254;p7"/>
          <p:cNvSpPr txBox="1"/>
          <p:nvPr/>
        </p:nvSpPr>
        <p:spPr>
          <a:xfrm>
            <a:off x="1833968" y="1902285"/>
            <a:ext cx="5141124" cy="2930546"/>
          </a:xfrm>
          <a:prstGeom prst="rect">
            <a:avLst/>
          </a:prstGeom>
          <a:noFill/>
          <a:ln>
            <a:noFill/>
          </a:ln>
        </p:spPr>
        <p:txBody>
          <a:bodyPr spcFirstLastPara="1" wrap="square" lIns="0" tIns="0" rIns="0" bIns="0" anchor="t" anchorCtr="0">
            <a:spAutoFit/>
          </a:bodyPr>
          <a:lstStyle/>
          <a:p>
            <a:pPr marL="0" marR="0" lvl="0" indent="0" algn="l" rtl="0">
              <a:lnSpc>
                <a:spcPct val="133293"/>
              </a:lnSpc>
              <a:spcBef>
                <a:spcPts val="0"/>
              </a:spcBef>
              <a:spcAft>
                <a:spcPts val="0"/>
              </a:spcAft>
              <a:buClr>
                <a:srgbClr val="000000"/>
              </a:buClr>
              <a:buSzPts val="1687"/>
              <a:buFont typeface="Arial"/>
              <a:buNone/>
            </a:pPr>
            <a:endParaRPr sz="1687" b="0" i="0" u="none" strike="noStrike" cap="none">
              <a:solidFill>
                <a:schemeClr val="dk1"/>
              </a:solidFill>
              <a:latin typeface="Calibri"/>
              <a:ea typeface="Calibri"/>
              <a:cs typeface="Calibri"/>
              <a:sym typeface="Calibri"/>
            </a:endParaRPr>
          </a:p>
          <a:p>
            <a:pPr marL="0" marR="0" lvl="0" indent="0" algn="l" rtl="0">
              <a:lnSpc>
                <a:spcPct val="133293"/>
              </a:lnSpc>
              <a:spcBef>
                <a:spcPts val="0"/>
              </a:spcBef>
              <a:spcAft>
                <a:spcPts val="0"/>
              </a:spcAft>
              <a:buClr>
                <a:srgbClr val="000000"/>
              </a:buClr>
              <a:buSzPts val="1687"/>
              <a:buFont typeface="Arial"/>
              <a:buNone/>
            </a:pPr>
            <a:endParaRPr sz="1687" b="0" i="0" u="none" strike="noStrike" cap="none">
              <a:solidFill>
                <a:schemeClr val="dk1"/>
              </a:solidFill>
              <a:latin typeface="Calibri"/>
              <a:ea typeface="Calibri"/>
              <a:cs typeface="Calibri"/>
              <a:sym typeface="Calibri"/>
            </a:endParaRPr>
          </a:p>
          <a:p>
            <a:pPr marL="404813" marR="0" lvl="1" indent="-202406" algn="l" rtl="0">
              <a:lnSpc>
                <a:spcPct val="120000"/>
              </a:lnSpc>
              <a:spcBef>
                <a:spcPts val="0"/>
              </a:spcBef>
              <a:spcAft>
                <a:spcPts val="0"/>
              </a:spcAft>
              <a:buClr>
                <a:srgbClr val="000000"/>
              </a:buClr>
              <a:buSzPts val="1875"/>
              <a:buFont typeface="Arial"/>
              <a:buAutoNum type="arabicPeriod"/>
            </a:pPr>
            <a:r>
              <a:rPr lang="en-US" sz="1875"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Selection(σ)</a:t>
            </a:r>
            <a:endParaRPr sz="1400" b="0" i="0" u="none" strike="noStrike" cap="none">
              <a:solidFill>
                <a:srgbClr val="000000"/>
              </a:solidFill>
              <a:latin typeface="Arial"/>
              <a:ea typeface="Arial"/>
              <a:cs typeface="Arial"/>
              <a:sym typeface="Arial"/>
            </a:endParaRPr>
          </a:p>
          <a:p>
            <a:pPr marL="404813" marR="0" lvl="1" indent="-202406" algn="l" rtl="0">
              <a:lnSpc>
                <a:spcPct val="120000"/>
              </a:lnSpc>
              <a:spcBef>
                <a:spcPts val="0"/>
              </a:spcBef>
              <a:spcAft>
                <a:spcPts val="0"/>
              </a:spcAft>
              <a:buClr>
                <a:srgbClr val="000000"/>
              </a:buClr>
              <a:buSzPts val="1875"/>
              <a:buFont typeface="Arial"/>
              <a:buAutoNum type="arabicPeriod"/>
            </a:pPr>
            <a:r>
              <a:rPr lang="en-US" sz="1875"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Projection(π)</a:t>
            </a:r>
            <a:endParaRPr sz="1400" b="0" i="0" u="none" strike="noStrike" cap="none">
              <a:solidFill>
                <a:srgbClr val="000000"/>
              </a:solidFill>
              <a:latin typeface="Arial"/>
              <a:ea typeface="Arial"/>
              <a:cs typeface="Arial"/>
              <a:sym typeface="Arial"/>
            </a:endParaRPr>
          </a:p>
          <a:p>
            <a:pPr marL="404813" marR="0" lvl="1" indent="-202406" algn="l" rtl="0">
              <a:lnSpc>
                <a:spcPct val="120000"/>
              </a:lnSpc>
              <a:spcBef>
                <a:spcPts val="0"/>
              </a:spcBef>
              <a:spcAft>
                <a:spcPts val="0"/>
              </a:spcAft>
              <a:buClr>
                <a:srgbClr val="000000"/>
              </a:buClr>
              <a:buSzPts val="1875"/>
              <a:buFont typeface="Arial"/>
              <a:buAutoNum type="arabicPeriod"/>
            </a:pPr>
            <a:r>
              <a:rPr lang="en-US" sz="1875" b="0" i="0" u="sng" strike="noStrike" cap="none">
                <a:solidFill>
                  <a:srgbClr val="000000"/>
                </a:solidFill>
                <a:latin typeface="Arial"/>
                <a:ea typeface="Arial"/>
                <a:cs typeface="Arial"/>
                <a:sym typeface="Arial"/>
                <a:hlinkClick r:id="rId5">
                  <a:extLst>
                    <a:ext uri="{A12FA001-AC4F-418D-AE19-62706E023703}">
                      <ahyp:hlinkClr xmlns:ahyp="http://schemas.microsoft.com/office/drawing/2018/hyperlinkcolor" val="tx"/>
                    </a:ext>
                  </a:extLst>
                </a:hlinkClick>
              </a:rPr>
              <a:t>Union(U)</a:t>
            </a:r>
            <a:endParaRPr sz="1400" b="0" i="0" u="none" strike="noStrike" cap="none">
              <a:solidFill>
                <a:srgbClr val="000000"/>
              </a:solidFill>
              <a:latin typeface="Arial"/>
              <a:ea typeface="Arial"/>
              <a:cs typeface="Arial"/>
              <a:sym typeface="Arial"/>
            </a:endParaRPr>
          </a:p>
          <a:p>
            <a:pPr marL="404813" marR="0" lvl="1" indent="-202406" algn="l" rtl="0">
              <a:lnSpc>
                <a:spcPct val="120000"/>
              </a:lnSpc>
              <a:spcBef>
                <a:spcPts val="0"/>
              </a:spcBef>
              <a:spcAft>
                <a:spcPts val="0"/>
              </a:spcAft>
              <a:buClr>
                <a:srgbClr val="000000"/>
              </a:buClr>
              <a:buSzPts val="1875"/>
              <a:buFont typeface="Arial"/>
              <a:buAutoNum type="arabicPeriod"/>
            </a:pPr>
            <a:r>
              <a:rPr lang="en-US" sz="1875" b="0" i="0" u="sng" strike="noStrike" cap="none">
                <a:solidFill>
                  <a:srgbClr val="000000"/>
                </a:solidFill>
                <a:latin typeface="Arial"/>
                <a:ea typeface="Arial"/>
                <a:cs typeface="Arial"/>
                <a:sym typeface="Arial"/>
                <a:hlinkClick r:id="rId6">
                  <a:extLst>
                    <a:ext uri="{A12FA001-AC4F-418D-AE19-62706E023703}">
                      <ahyp:hlinkClr xmlns:ahyp="http://schemas.microsoft.com/office/drawing/2018/hyperlinkcolor" val="tx"/>
                    </a:ext>
                  </a:extLst>
                </a:hlinkClick>
              </a:rPr>
              <a:t>Set Difference(-)</a:t>
            </a:r>
            <a:endParaRPr sz="1400" b="0" i="0" u="none" strike="noStrike" cap="none">
              <a:solidFill>
                <a:srgbClr val="000000"/>
              </a:solidFill>
              <a:latin typeface="Arial"/>
              <a:ea typeface="Arial"/>
              <a:cs typeface="Arial"/>
              <a:sym typeface="Arial"/>
            </a:endParaRPr>
          </a:p>
          <a:p>
            <a:pPr marL="404813" marR="0" lvl="1" indent="-202406" algn="l" rtl="0">
              <a:lnSpc>
                <a:spcPct val="120000"/>
              </a:lnSpc>
              <a:spcBef>
                <a:spcPts val="0"/>
              </a:spcBef>
              <a:spcAft>
                <a:spcPts val="0"/>
              </a:spcAft>
              <a:buClr>
                <a:srgbClr val="000000"/>
              </a:buClr>
              <a:buSzPts val="1875"/>
              <a:buFont typeface="Arial"/>
              <a:buAutoNum type="arabicPeriod"/>
            </a:pPr>
            <a:r>
              <a:rPr lang="en-US" sz="1875" b="0" i="0" u="sng" strike="noStrike" cap="none">
                <a:solidFill>
                  <a:srgbClr val="000000"/>
                </a:solidFill>
                <a:latin typeface="Arial"/>
                <a:ea typeface="Arial"/>
                <a:cs typeface="Arial"/>
                <a:sym typeface="Arial"/>
                <a:hlinkClick r:id="rId7">
                  <a:extLst>
                    <a:ext uri="{A12FA001-AC4F-418D-AE19-62706E023703}">
                      <ahyp:hlinkClr xmlns:ahyp="http://schemas.microsoft.com/office/drawing/2018/hyperlinkcolor" val="tx"/>
                    </a:ext>
                  </a:extLst>
                </a:hlinkClick>
              </a:rPr>
              <a:t>Set Intersection(∩)</a:t>
            </a:r>
            <a:endParaRPr sz="1400" b="0" i="0" u="none" strike="noStrike" cap="none">
              <a:solidFill>
                <a:srgbClr val="000000"/>
              </a:solidFill>
              <a:latin typeface="Arial"/>
              <a:ea typeface="Arial"/>
              <a:cs typeface="Arial"/>
              <a:sym typeface="Arial"/>
            </a:endParaRPr>
          </a:p>
          <a:p>
            <a:pPr marL="404813" marR="0" lvl="1" indent="-202406" algn="l" rtl="0">
              <a:lnSpc>
                <a:spcPct val="120000"/>
              </a:lnSpc>
              <a:spcBef>
                <a:spcPts val="0"/>
              </a:spcBef>
              <a:spcAft>
                <a:spcPts val="0"/>
              </a:spcAft>
              <a:buClr>
                <a:srgbClr val="000000"/>
              </a:buClr>
              <a:buSzPts val="1875"/>
              <a:buFont typeface="Arial"/>
              <a:buAutoNum type="arabicPeriod"/>
            </a:pPr>
            <a:r>
              <a:rPr lang="en-US" sz="1875" b="0" i="0" u="sng" strike="noStrike" cap="none">
                <a:solidFill>
                  <a:srgbClr val="000000"/>
                </a:solidFill>
                <a:latin typeface="Arial"/>
                <a:ea typeface="Arial"/>
                <a:cs typeface="Arial"/>
                <a:sym typeface="Arial"/>
                <a:hlinkClick r:id="rId8">
                  <a:extLst>
                    <a:ext uri="{A12FA001-AC4F-418D-AE19-62706E023703}">
                      <ahyp:hlinkClr xmlns:ahyp="http://schemas.microsoft.com/office/drawing/2018/hyperlinkcolor" val="tx"/>
                    </a:ext>
                  </a:extLst>
                </a:hlinkClick>
              </a:rPr>
              <a:t>Rename(ρ)</a:t>
            </a:r>
            <a:endParaRPr sz="1400" b="0" i="0" u="none" strike="noStrike" cap="none">
              <a:solidFill>
                <a:srgbClr val="000000"/>
              </a:solidFill>
              <a:latin typeface="Arial"/>
              <a:ea typeface="Arial"/>
              <a:cs typeface="Arial"/>
              <a:sym typeface="Arial"/>
            </a:endParaRPr>
          </a:p>
          <a:p>
            <a:pPr marL="404813" marR="0" lvl="1" indent="-202406" algn="l" rtl="0">
              <a:lnSpc>
                <a:spcPct val="120000"/>
              </a:lnSpc>
              <a:spcBef>
                <a:spcPts val="0"/>
              </a:spcBef>
              <a:spcAft>
                <a:spcPts val="0"/>
              </a:spcAft>
              <a:buClr>
                <a:srgbClr val="000000"/>
              </a:buClr>
              <a:buSzPts val="1875"/>
              <a:buFont typeface="Arial"/>
              <a:buAutoNum type="arabicPeriod"/>
            </a:pPr>
            <a:r>
              <a:rPr lang="en-US" sz="1875" b="0" i="0" u="none" strike="noStrike" cap="none">
                <a:solidFill>
                  <a:srgbClr val="000000"/>
                </a:solidFill>
                <a:latin typeface="Arial"/>
                <a:ea typeface="Arial"/>
                <a:cs typeface="Arial"/>
                <a:sym typeface="Arial"/>
              </a:rPr>
              <a:t>Cartesian Product(X)</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875"/>
              <a:buFont typeface="Arial"/>
              <a:buNone/>
            </a:pPr>
            <a:endParaRPr sz="1875" b="0" i="0" u="none" strike="noStrike" cap="none">
              <a:solidFill>
                <a:srgbClr val="000000"/>
              </a:solidFill>
              <a:latin typeface="Arial"/>
              <a:ea typeface="Arial"/>
              <a:cs typeface="Arial"/>
              <a:sym typeface="Arial"/>
            </a:endParaRPr>
          </a:p>
        </p:txBody>
      </p:sp>
      <p:sp>
        <p:nvSpPr>
          <p:cNvPr id="255" name="Google Shape;255;p7"/>
          <p:cNvSpPr/>
          <p:nvPr/>
        </p:nvSpPr>
        <p:spPr>
          <a:xfrm>
            <a:off x="7263268" y="2599052"/>
            <a:ext cx="2817150" cy="2743200"/>
          </a:xfrm>
          <a:custGeom>
            <a:avLst/>
            <a:gdLst/>
            <a:ahLst/>
            <a:cxnLst/>
            <a:rect l="l" t="t" r="r" b="b"/>
            <a:pathLst>
              <a:path w="3004960" h="2926080" extrusionOk="0">
                <a:moveTo>
                  <a:pt x="0" y="0"/>
                </a:moveTo>
                <a:lnTo>
                  <a:pt x="3004960" y="0"/>
                </a:lnTo>
                <a:lnTo>
                  <a:pt x="3004960" y="2926080"/>
                </a:lnTo>
                <a:lnTo>
                  <a:pt x="0" y="2926080"/>
                </a:lnTo>
                <a:lnTo>
                  <a:pt x="0" y="0"/>
                </a:lnTo>
                <a:close/>
              </a:path>
            </a:pathLst>
          </a:custGeom>
          <a:blipFill rotWithShape="1">
            <a:blip r:embed="rId9">
              <a:alphaModFix/>
            </a:blip>
            <a:stretch>
              <a:fillRect/>
            </a:stretch>
          </a:blipFill>
          <a:ln>
            <a:noFill/>
          </a:ln>
        </p:spPr>
      </p:sp>
      <p:sp>
        <p:nvSpPr>
          <p:cNvPr id="256" name="Google Shape;256;p7"/>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257" name="Google Shape;25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258" name="Google Shape;25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grpSp>
        <p:nvGrpSpPr>
          <p:cNvPr id="267" name="Google Shape;267;p8"/>
          <p:cNvGrpSpPr/>
          <p:nvPr/>
        </p:nvGrpSpPr>
        <p:grpSpPr>
          <a:xfrm>
            <a:off x="1524000" y="6356604"/>
            <a:ext cx="9144000" cy="88404"/>
            <a:chOff x="0" y="0"/>
            <a:chExt cx="13004800" cy="125730"/>
          </a:xfrm>
        </p:grpSpPr>
        <p:sp>
          <p:nvSpPr>
            <p:cNvPr id="268" name="Google Shape;268;p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69" name="Google Shape;269;p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grpSp>
        <p:nvGrpSpPr>
          <p:cNvPr id="270" name="Google Shape;270;p8"/>
          <p:cNvGrpSpPr/>
          <p:nvPr/>
        </p:nvGrpSpPr>
        <p:grpSpPr>
          <a:xfrm>
            <a:off x="6486117" y="4420832"/>
            <a:ext cx="3909530" cy="1456299"/>
            <a:chOff x="0" y="0"/>
            <a:chExt cx="5560220" cy="2071182"/>
          </a:xfrm>
        </p:grpSpPr>
        <p:sp>
          <p:nvSpPr>
            <p:cNvPr id="271" name="Google Shape;271;p8"/>
            <p:cNvSpPr/>
            <p:nvPr/>
          </p:nvSpPr>
          <p:spPr>
            <a:xfrm>
              <a:off x="0" y="0"/>
              <a:ext cx="5560220" cy="2071182"/>
            </a:xfrm>
            <a:custGeom>
              <a:avLst/>
              <a:gdLst/>
              <a:ahLst/>
              <a:cxnLst/>
              <a:rect l="l" t="t" r="r" b="b"/>
              <a:pathLst>
                <a:path w="5560220" h="2071182" extrusionOk="0">
                  <a:moveTo>
                    <a:pt x="0" y="0"/>
                  </a:moveTo>
                  <a:lnTo>
                    <a:pt x="5560220" y="0"/>
                  </a:lnTo>
                  <a:lnTo>
                    <a:pt x="5560220" y="2071182"/>
                  </a:lnTo>
                  <a:lnTo>
                    <a:pt x="0" y="2071182"/>
                  </a:lnTo>
                  <a:lnTo>
                    <a:pt x="0" y="0"/>
                  </a:lnTo>
                  <a:close/>
                </a:path>
              </a:pathLst>
            </a:custGeom>
            <a:blipFill rotWithShape="1">
              <a:blip r:embed="rId3">
                <a:alphaModFix/>
              </a:blip>
              <a:stretch>
                <a:fillRect/>
              </a:stretch>
            </a:blipFill>
            <a:ln>
              <a:noFill/>
            </a:ln>
          </p:spPr>
        </p:sp>
        <p:sp>
          <p:nvSpPr>
            <p:cNvPr id="272" name="Google Shape;272;p8"/>
            <p:cNvSpPr txBox="1"/>
            <p:nvPr/>
          </p:nvSpPr>
          <p:spPr>
            <a:xfrm>
              <a:off x="277059" y="201230"/>
              <a:ext cx="5006102" cy="711306"/>
            </a:xfrm>
            <a:prstGeom prst="rect">
              <a:avLst/>
            </a:prstGeom>
            <a:noFill/>
            <a:ln>
              <a:noFill/>
            </a:ln>
          </p:spPr>
          <p:txBody>
            <a:bodyPr spcFirstLastPara="1" wrap="square" lIns="0" tIns="0" rIns="0" bIns="0" anchor="t" anchorCtr="0">
              <a:spAutoFit/>
            </a:bodyPr>
            <a:lstStyle/>
            <a:p>
              <a:pPr marL="0" marR="0" lvl="0" indent="0" algn="ctr" rtl="0">
                <a:lnSpc>
                  <a:spcPct val="119969"/>
                </a:lnSpc>
                <a:spcBef>
                  <a:spcPts val="0"/>
                </a:spcBef>
                <a:spcAft>
                  <a:spcPts val="0"/>
                </a:spcAft>
                <a:buClr>
                  <a:srgbClr val="000000"/>
                </a:buClr>
                <a:buSzPts val="3275"/>
                <a:buFont typeface="Arial"/>
                <a:buNone/>
              </a:pPr>
              <a:r>
                <a:rPr lang="en-US" sz="3275" b="0" i="0" u="none" strike="noStrike" cap="none">
                  <a:solidFill>
                    <a:srgbClr val="000000"/>
                  </a:solidFill>
                  <a:latin typeface="Arial"/>
                  <a:ea typeface="Arial"/>
                  <a:cs typeface="Arial"/>
                  <a:sym typeface="Arial"/>
                </a:rPr>
                <a:t>SELECTION</a:t>
              </a:r>
              <a:endParaRPr sz="1400" b="0" i="0" u="none" strike="noStrike" cap="none">
                <a:solidFill>
                  <a:srgbClr val="000000"/>
                </a:solidFill>
                <a:latin typeface="Arial"/>
                <a:ea typeface="Arial"/>
                <a:cs typeface="Arial"/>
                <a:sym typeface="Arial"/>
              </a:endParaRPr>
            </a:p>
          </p:txBody>
        </p:sp>
      </p:grpSp>
      <p:sp>
        <p:nvSpPr>
          <p:cNvPr id="273" name="Google Shape;273;p8"/>
          <p:cNvSpPr/>
          <p:nvPr/>
        </p:nvSpPr>
        <p:spPr>
          <a:xfrm>
            <a:off x="8104422" y="5148982"/>
            <a:ext cx="672919" cy="570298"/>
          </a:xfrm>
          <a:custGeom>
            <a:avLst/>
            <a:gdLst/>
            <a:ahLst/>
            <a:cxnLst/>
            <a:rect l="l" t="t" r="r" b="b"/>
            <a:pathLst>
              <a:path w="717780" h="608318" extrusionOk="0">
                <a:moveTo>
                  <a:pt x="0" y="0"/>
                </a:moveTo>
                <a:lnTo>
                  <a:pt x="717779" y="0"/>
                </a:lnTo>
                <a:lnTo>
                  <a:pt x="717779" y="608319"/>
                </a:lnTo>
                <a:lnTo>
                  <a:pt x="0" y="608319"/>
                </a:lnTo>
                <a:lnTo>
                  <a:pt x="0" y="0"/>
                </a:lnTo>
                <a:close/>
              </a:path>
            </a:pathLst>
          </a:custGeom>
          <a:blipFill rotWithShape="1">
            <a:blip r:embed="rId4">
              <a:alphaModFix/>
            </a:blip>
            <a:stretch>
              <a:fillRect/>
            </a:stretch>
          </a:blipFill>
          <a:ln>
            <a:noFill/>
          </a:ln>
        </p:spPr>
      </p:sp>
      <p:sp>
        <p:nvSpPr>
          <p:cNvPr id="274" name="Google Shape;274;p8"/>
          <p:cNvSpPr txBox="1"/>
          <p:nvPr/>
        </p:nvSpPr>
        <p:spPr>
          <a:xfrm>
            <a:off x="1796354" y="1456135"/>
            <a:ext cx="8599292" cy="646459"/>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Clr>
                <a:srgbClr val="000000"/>
              </a:buClr>
              <a:buSzPts val="2156"/>
              <a:buFont typeface="Arial"/>
              <a:buNone/>
            </a:pPr>
            <a:r>
              <a:rPr lang="en-US" sz="2156" b="1" i="0" u="none" strike="noStrike" cap="none">
                <a:solidFill>
                  <a:srgbClr val="000000"/>
                </a:solidFill>
                <a:latin typeface="Arial"/>
                <a:ea typeface="Arial"/>
                <a:cs typeface="Arial"/>
                <a:sym typeface="Arial"/>
              </a:rPr>
              <a:t>These are the basic/fundamental operators used in Relational Algebra</a:t>
            </a:r>
            <a:endParaRPr sz="1400" b="0" i="0" u="none" strike="noStrike" cap="none">
              <a:solidFill>
                <a:srgbClr val="000000"/>
              </a:solidFill>
              <a:latin typeface="Arial"/>
              <a:ea typeface="Arial"/>
              <a:cs typeface="Arial"/>
              <a:sym typeface="Arial"/>
            </a:endParaRPr>
          </a:p>
        </p:txBody>
      </p:sp>
      <p:sp>
        <p:nvSpPr>
          <p:cNvPr id="275" name="Google Shape;275;p8"/>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276" name="Google Shape;276;p8"/>
          <p:cNvSpPr txBox="1"/>
          <p:nvPr/>
        </p:nvSpPr>
        <p:spPr>
          <a:xfrm>
            <a:off x="1796354" y="2304373"/>
            <a:ext cx="8599292"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1. Selection(σ): </a:t>
            </a:r>
            <a:r>
              <a:rPr lang="en-US" sz="1875" b="0" i="0" u="none" strike="noStrike" cap="none">
                <a:solidFill>
                  <a:srgbClr val="000000"/>
                </a:solidFill>
                <a:latin typeface="Arial"/>
                <a:ea typeface="Arial"/>
                <a:cs typeface="Arial"/>
                <a:sym typeface="Arial"/>
              </a:rPr>
              <a:t>Selection Operation is basically used to filter out rows from a given table based on certain given condition. It basically allows you to retrieve only those rows that match the condition as per condition passed during SQL Query. It is used to select required tuples of the relations.</a:t>
            </a:r>
            <a:endParaRPr sz="1400" b="0" i="0" u="none" strike="noStrike" cap="none">
              <a:solidFill>
                <a:srgbClr val="000000"/>
              </a:solidFill>
              <a:latin typeface="Arial"/>
              <a:ea typeface="Arial"/>
              <a:cs typeface="Arial"/>
              <a:sym typeface="Arial"/>
            </a:endParaRPr>
          </a:p>
        </p:txBody>
      </p:sp>
      <p:sp>
        <p:nvSpPr>
          <p:cNvPr id="277" name="Google Shape;277;p8"/>
          <p:cNvSpPr txBox="1"/>
          <p:nvPr/>
        </p:nvSpPr>
        <p:spPr>
          <a:xfrm>
            <a:off x="1798731" y="3599259"/>
            <a:ext cx="8596915" cy="57092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If we want to get the details of all the work in the Department “IT”, we would use the selection operator to filter out these based on the given condition.</a:t>
            </a:r>
            <a:endParaRPr sz="1400" b="0" i="0" u="none" strike="noStrike" cap="none">
              <a:solidFill>
                <a:srgbClr val="000000"/>
              </a:solidFill>
              <a:latin typeface="Arial"/>
              <a:ea typeface="Arial"/>
              <a:cs typeface="Arial"/>
              <a:sym typeface="Arial"/>
            </a:endParaRPr>
          </a:p>
        </p:txBody>
      </p:sp>
      <p:sp>
        <p:nvSpPr>
          <p:cNvPr id="278" name="Google Shape;27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279" name="Google Shape;27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grpSp>
        <p:nvGrpSpPr>
          <p:cNvPr id="288" name="Google Shape;288;p9"/>
          <p:cNvGrpSpPr/>
          <p:nvPr/>
        </p:nvGrpSpPr>
        <p:grpSpPr>
          <a:xfrm>
            <a:off x="1524000" y="6356604"/>
            <a:ext cx="9144000" cy="88404"/>
            <a:chOff x="0" y="0"/>
            <a:chExt cx="13004800" cy="125730"/>
          </a:xfrm>
        </p:grpSpPr>
        <p:sp>
          <p:nvSpPr>
            <p:cNvPr id="289" name="Google Shape;289;p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90" name="Google Shape;290;p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91" name="Google Shape;291;p9"/>
          <p:cNvSpPr/>
          <p:nvPr/>
        </p:nvSpPr>
        <p:spPr>
          <a:xfrm>
            <a:off x="6463665" y="3384727"/>
            <a:ext cx="4057060" cy="2771161"/>
          </a:xfrm>
          <a:custGeom>
            <a:avLst/>
            <a:gdLst/>
            <a:ahLst/>
            <a:cxnLst/>
            <a:rect l="l" t="t" r="r" b="b"/>
            <a:pathLst>
              <a:path w="4327531" h="2955905" extrusionOk="0">
                <a:moveTo>
                  <a:pt x="0" y="0"/>
                </a:moveTo>
                <a:lnTo>
                  <a:pt x="4327531" y="0"/>
                </a:lnTo>
                <a:lnTo>
                  <a:pt x="4327531" y="2955905"/>
                </a:lnTo>
                <a:lnTo>
                  <a:pt x="0" y="2955905"/>
                </a:lnTo>
                <a:lnTo>
                  <a:pt x="0" y="0"/>
                </a:lnTo>
                <a:close/>
              </a:path>
            </a:pathLst>
          </a:custGeom>
          <a:blipFill rotWithShape="1">
            <a:blip r:embed="rId3">
              <a:alphaModFix/>
            </a:blip>
            <a:stretch>
              <a:fillRect l="-1957" t="-4290"/>
            </a:stretch>
          </a:blipFill>
          <a:ln>
            <a:noFill/>
          </a:ln>
        </p:spPr>
      </p:sp>
      <p:sp>
        <p:nvSpPr>
          <p:cNvPr id="292" name="Google Shape;292;p9"/>
          <p:cNvSpPr/>
          <p:nvPr/>
        </p:nvSpPr>
        <p:spPr>
          <a:xfrm>
            <a:off x="2026863" y="4259797"/>
            <a:ext cx="3225419" cy="510510"/>
          </a:xfrm>
          <a:custGeom>
            <a:avLst/>
            <a:gdLst/>
            <a:ahLst/>
            <a:cxnLst/>
            <a:rect l="l" t="t" r="r" b="b"/>
            <a:pathLst>
              <a:path w="3440447" h="544544" extrusionOk="0">
                <a:moveTo>
                  <a:pt x="0" y="0"/>
                </a:moveTo>
                <a:lnTo>
                  <a:pt x="3440447" y="0"/>
                </a:lnTo>
                <a:lnTo>
                  <a:pt x="3440447" y="544544"/>
                </a:lnTo>
                <a:lnTo>
                  <a:pt x="0" y="544544"/>
                </a:lnTo>
                <a:lnTo>
                  <a:pt x="0" y="0"/>
                </a:lnTo>
                <a:close/>
              </a:path>
            </a:pathLst>
          </a:custGeom>
          <a:blipFill rotWithShape="1">
            <a:blip r:embed="rId4">
              <a:alphaModFix/>
            </a:blip>
            <a:stretch>
              <a:fillRect l="-5383" t="-36184" r="-5382" b="-24773"/>
            </a:stretch>
          </a:blipFill>
          <a:ln>
            <a:noFill/>
          </a:ln>
        </p:spPr>
      </p:sp>
      <p:sp>
        <p:nvSpPr>
          <p:cNvPr id="293" name="Google Shape;293;p9"/>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294" name="Google Shape;294;p9"/>
          <p:cNvSpPr txBox="1"/>
          <p:nvPr/>
        </p:nvSpPr>
        <p:spPr>
          <a:xfrm>
            <a:off x="2026863" y="2035685"/>
            <a:ext cx="8201095"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where ‘c’ is the selection condition which is a boolean expression(condition), we can have a single condition like Roll= 3 or a combination of conditions like X&gt;2 AND Y&lt;1, and symbol ‘σ (sigma)’ is used to denote select(choose) operator, R is a relational algebra expression, whose result is a relation. </a:t>
            </a:r>
            <a:endParaRPr sz="1400" b="0" i="0" u="none" strike="noStrike" cap="none">
              <a:solidFill>
                <a:srgbClr val="000000"/>
              </a:solidFill>
              <a:latin typeface="Arial"/>
              <a:ea typeface="Arial"/>
              <a:cs typeface="Arial"/>
              <a:sym typeface="Arial"/>
            </a:endParaRPr>
          </a:p>
        </p:txBody>
      </p:sp>
      <p:sp>
        <p:nvSpPr>
          <p:cNvPr id="295" name="Google Shape;295;p9"/>
          <p:cNvSpPr txBox="1"/>
          <p:nvPr/>
        </p:nvSpPr>
        <p:spPr>
          <a:xfrm>
            <a:off x="2026863" y="3454839"/>
            <a:ext cx="5342474" cy="27597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Example:</a:t>
            </a:r>
            <a:endParaRPr sz="1400" b="0" i="0" u="none" strike="noStrike" cap="none">
              <a:solidFill>
                <a:srgbClr val="000000"/>
              </a:solidFill>
              <a:latin typeface="Arial"/>
              <a:ea typeface="Arial"/>
              <a:cs typeface="Arial"/>
              <a:sym typeface="Arial"/>
            </a:endParaRPr>
          </a:p>
        </p:txBody>
      </p:sp>
      <p:sp>
        <p:nvSpPr>
          <p:cNvPr id="296" name="Google Shape;296;p9"/>
          <p:cNvSpPr txBox="1"/>
          <p:nvPr/>
        </p:nvSpPr>
        <p:spPr>
          <a:xfrm>
            <a:off x="2026863" y="3777573"/>
            <a:ext cx="3626652"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Select all the students of Team A :</a:t>
            </a:r>
            <a:endParaRPr sz="1400" b="0" i="0" u="none" strike="noStrike" cap="none">
              <a:solidFill>
                <a:srgbClr val="000000"/>
              </a:solidFill>
              <a:latin typeface="Arial"/>
              <a:ea typeface="Arial"/>
              <a:cs typeface="Arial"/>
              <a:sym typeface="Arial"/>
            </a:endParaRPr>
          </a:p>
        </p:txBody>
      </p:sp>
      <p:grpSp>
        <p:nvGrpSpPr>
          <p:cNvPr id="297" name="Google Shape;297;p9"/>
          <p:cNvGrpSpPr/>
          <p:nvPr/>
        </p:nvGrpSpPr>
        <p:grpSpPr>
          <a:xfrm>
            <a:off x="1805455" y="1653889"/>
            <a:ext cx="2144886" cy="374287"/>
            <a:chOff x="0" y="-47625"/>
            <a:chExt cx="3050503" cy="532319"/>
          </a:xfrm>
        </p:grpSpPr>
        <p:sp>
          <p:nvSpPr>
            <p:cNvPr id="298" name="Google Shape;298;p9"/>
            <p:cNvSpPr txBox="1"/>
            <p:nvPr/>
          </p:nvSpPr>
          <p:spPr>
            <a:xfrm>
              <a:off x="0" y="-47625"/>
              <a:ext cx="3050503" cy="39249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Notation: </a:t>
              </a:r>
              <a:r>
                <a:rPr lang="en-US" sz="1875" b="0" i="0" u="none" strike="noStrike" cap="none">
                  <a:solidFill>
                    <a:srgbClr val="000000"/>
                  </a:solidFill>
                  <a:latin typeface="Arial"/>
                  <a:ea typeface="Arial"/>
                  <a:cs typeface="Arial"/>
                  <a:sym typeface="Arial"/>
                </a:rPr>
                <a:t>σ (R)</a:t>
              </a:r>
              <a:endParaRPr sz="1400" b="0" i="0" u="none" strike="noStrike" cap="none">
                <a:solidFill>
                  <a:srgbClr val="000000"/>
                </a:solidFill>
                <a:latin typeface="Arial"/>
                <a:ea typeface="Arial"/>
                <a:cs typeface="Arial"/>
                <a:sym typeface="Arial"/>
              </a:endParaRPr>
            </a:p>
          </p:txBody>
        </p:sp>
        <p:sp>
          <p:nvSpPr>
            <p:cNvPr id="299" name="Google Shape;299;p9"/>
            <p:cNvSpPr txBox="1"/>
            <p:nvPr/>
          </p:nvSpPr>
          <p:spPr>
            <a:xfrm>
              <a:off x="2129534" y="174639"/>
              <a:ext cx="128764" cy="31005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425"/>
                <a:buFont typeface="Arial"/>
                <a:buNone/>
              </a:pPr>
              <a:r>
                <a:rPr lang="en-US" sz="1425" b="0" i="0" u="none" strike="noStrike" cap="none">
                  <a:solidFill>
                    <a:srgbClr val="000000"/>
                  </a:solidFill>
                  <a:latin typeface="Arial"/>
                  <a:ea typeface="Arial"/>
                  <a:cs typeface="Arial"/>
                  <a:sym typeface="Arial"/>
                </a:rPr>
                <a:t>c</a:t>
              </a:r>
              <a:endParaRPr sz="1400" b="0" i="0" u="none" strike="noStrike" cap="none">
                <a:solidFill>
                  <a:srgbClr val="000000"/>
                </a:solidFill>
                <a:latin typeface="Arial"/>
                <a:ea typeface="Arial"/>
                <a:cs typeface="Arial"/>
                <a:sym typeface="Arial"/>
              </a:endParaRPr>
            </a:p>
          </p:txBody>
        </p:sp>
      </p:grpSp>
      <p:sp>
        <p:nvSpPr>
          <p:cNvPr id="300" name="Google Shape;30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301" name="Google Shape;30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grpSp>
        <p:nvGrpSpPr>
          <p:cNvPr id="310" name="Google Shape;310;p10"/>
          <p:cNvGrpSpPr/>
          <p:nvPr/>
        </p:nvGrpSpPr>
        <p:grpSpPr>
          <a:xfrm>
            <a:off x="1524000" y="6356604"/>
            <a:ext cx="9144000" cy="88404"/>
            <a:chOff x="0" y="0"/>
            <a:chExt cx="13004800" cy="125730"/>
          </a:xfrm>
        </p:grpSpPr>
        <p:sp>
          <p:nvSpPr>
            <p:cNvPr id="311" name="Google Shape;311;p1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12" name="Google Shape;312;p1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13" name="Google Shape;313;p10"/>
          <p:cNvSpPr txBox="1"/>
          <p:nvPr/>
        </p:nvSpPr>
        <p:spPr>
          <a:xfrm>
            <a:off x="1901057" y="3369194"/>
            <a:ext cx="8389500" cy="9813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where ‘A’ is the attribute list, it is the desired set of attributes from the attributes of relation(R), symbol ‘π(pi)’ is used to denote the Project operator, R is generally a relational algebra expression, which results in a relation.</a:t>
            </a:r>
            <a:endParaRPr sz="1400" b="0" i="0" u="none" strike="noStrike" cap="none">
              <a:solidFill>
                <a:srgbClr val="000000"/>
              </a:solidFill>
              <a:latin typeface="Arial"/>
              <a:ea typeface="Arial"/>
              <a:cs typeface="Arial"/>
              <a:sym typeface="Arial"/>
            </a:endParaRPr>
          </a:p>
        </p:txBody>
      </p:sp>
      <p:sp>
        <p:nvSpPr>
          <p:cNvPr id="314" name="Google Shape;314;p10"/>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315" name="Google Shape;315;p10"/>
          <p:cNvSpPr txBox="1"/>
          <p:nvPr/>
        </p:nvSpPr>
        <p:spPr>
          <a:xfrm>
            <a:off x="1901019" y="1291247"/>
            <a:ext cx="8389500" cy="13275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2. Projection(π):</a:t>
            </a:r>
            <a:r>
              <a:rPr lang="en-US" sz="1875" b="0" i="0" u="none" strike="noStrike" cap="none">
                <a:solidFill>
                  <a:srgbClr val="000000"/>
                </a:solidFill>
                <a:latin typeface="Arial"/>
                <a:ea typeface="Arial"/>
                <a:cs typeface="Arial"/>
                <a:sym typeface="Arial"/>
              </a:rPr>
              <a:t> While Selection operation works on rows , similarly projection operation of relational algebra works on columns. It basically allows you to pick specific columns from a given relational table based on the given condition and ignoring all the other remaining columns.</a:t>
            </a:r>
            <a:endParaRPr sz="1400" b="0" i="0" u="none" strike="noStrike" cap="none">
              <a:solidFill>
                <a:srgbClr val="000000"/>
              </a:solidFill>
              <a:latin typeface="Arial"/>
              <a:ea typeface="Arial"/>
              <a:cs typeface="Arial"/>
              <a:sym typeface="Arial"/>
            </a:endParaRPr>
          </a:p>
        </p:txBody>
      </p:sp>
      <p:sp>
        <p:nvSpPr>
          <p:cNvPr id="316" name="Google Shape;316;p10"/>
          <p:cNvSpPr txBox="1"/>
          <p:nvPr/>
        </p:nvSpPr>
        <p:spPr>
          <a:xfrm>
            <a:off x="1901220" y="2724618"/>
            <a:ext cx="1740900" cy="2886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Notation:</a:t>
            </a:r>
            <a:r>
              <a:rPr lang="en-US" sz="1875" b="0" i="0" u="none" strike="noStrike" cap="none">
                <a:solidFill>
                  <a:srgbClr val="000000"/>
                </a:solidFill>
                <a:latin typeface="Arial"/>
                <a:ea typeface="Arial"/>
                <a:cs typeface="Arial"/>
                <a:sym typeface="Arial"/>
              </a:rPr>
              <a:t> π  (R)</a:t>
            </a:r>
            <a:endParaRPr sz="1400" b="0" i="0" u="none" strike="noStrike" cap="none">
              <a:solidFill>
                <a:srgbClr val="000000"/>
              </a:solidFill>
              <a:latin typeface="Arial"/>
              <a:ea typeface="Arial"/>
              <a:cs typeface="Arial"/>
              <a:sym typeface="Arial"/>
            </a:endParaRPr>
          </a:p>
        </p:txBody>
      </p:sp>
      <p:sp>
        <p:nvSpPr>
          <p:cNvPr id="317" name="Google Shape;317;p10"/>
          <p:cNvSpPr txBox="1"/>
          <p:nvPr/>
        </p:nvSpPr>
        <p:spPr>
          <a:xfrm>
            <a:off x="3181904" y="2822470"/>
            <a:ext cx="112800" cy="192600"/>
          </a:xfrm>
          <a:prstGeom prst="rect">
            <a:avLst/>
          </a:prstGeom>
          <a:noFill/>
          <a:ln>
            <a:noFill/>
          </a:ln>
        </p:spPr>
        <p:txBody>
          <a:bodyPr spcFirstLastPara="1" wrap="square" lIns="0" tIns="0" rIns="0" bIns="0" anchor="t" anchorCtr="0">
            <a:spAutoFit/>
          </a:bodyPr>
          <a:lstStyle/>
          <a:p>
            <a:pPr marL="0" marR="0" lvl="0" indent="0" algn="ctr" rtl="0">
              <a:lnSpc>
                <a:spcPct val="120060"/>
              </a:lnSpc>
              <a:spcBef>
                <a:spcPts val="0"/>
              </a:spcBef>
              <a:spcAft>
                <a:spcPts val="0"/>
              </a:spcAft>
              <a:buClr>
                <a:srgbClr val="000000"/>
              </a:buClr>
              <a:buSzPts val="1331"/>
              <a:buFont typeface="Arial"/>
              <a:buNone/>
            </a:pPr>
            <a:r>
              <a:rPr lang="en-US" sz="1331" b="0" i="0" u="none" strike="noStrike" cap="none">
                <a:solidFill>
                  <a:srgbClr val="000000"/>
                </a:solidFill>
                <a:latin typeface="Arial"/>
                <a:ea typeface="Arial"/>
                <a:cs typeface="Arial"/>
                <a:sym typeface="Arial"/>
              </a:rPr>
              <a:t>A</a:t>
            </a:r>
            <a:endParaRPr sz="1400" b="0" i="0" u="none" strike="noStrike" cap="none">
              <a:solidFill>
                <a:srgbClr val="000000"/>
              </a:solidFill>
              <a:latin typeface="Arial"/>
              <a:ea typeface="Arial"/>
              <a:cs typeface="Arial"/>
              <a:sym typeface="Arial"/>
            </a:endParaRPr>
          </a:p>
        </p:txBody>
      </p:sp>
      <p:grpSp>
        <p:nvGrpSpPr>
          <p:cNvPr id="318" name="Google Shape;318;p10"/>
          <p:cNvGrpSpPr/>
          <p:nvPr/>
        </p:nvGrpSpPr>
        <p:grpSpPr>
          <a:xfrm>
            <a:off x="6381252" y="4455242"/>
            <a:ext cx="3909530" cy="1456299"/>
            <a:chOff x="0" y="0"/>
            <a:chExt cx="5560220" cy="2071182"/>
          </a:xfrm>
        </p:grpSpPr>
        <p:sp>
          <p:nvSpPr>
            <p:cNvPr id="319" name="Google Shape;319;p10"/>
            <p:cNvSpPr/>
            <p:nvPr/>
          </p:nvSpPr>
          <p:spPr>
            <a:xfrm>
              <a:off x="0" y="0"/>
              <a:ext cx="5560220" cy="2071182"/>
            </a:xfrm>
            <a:custGeom>
              <a:avLst/>
              <a:gdLst/>
              <a:ahLst/>
              <a:cxnLst/>
              <a:rect l="l" t="t" r="r" b="b"/>
              <a:pathLst>
                <a:path w="5560220" h="2071182" extrusionOk="0">
                  <a:moveTo>
                    <a:pt x="0" y="0"/>
                  </a:moveTo>
                  <a:lnTo>
                    <a:pt x="5560220" y="0"/>
                  </a:lnTo>
                  <a:lnTo>
                    <a:pt x="5560220" y="2071182"/>
                  </a:lnTo>
                  <a:lnTo>
                    <a:pt x="0" y="2071182"/>
                  </a:lnTo>
                  <a:lnTo>
                    <a:pt x="0" y="0"/>
                  </a:lnTo>
                  <a:close/>
                </a:path>
              </a:pathLst>
            </a:custGeom>
            <a:blipFill rotWithShape="1">
              <a:blip r:embed="rId3">
                <a:alphaModFix/>
              </a:blip>
              <a:stretch>
                <a:fillRect/>
              </a:stretch>
            </a:blipFill>
            <a:ln>
              <a:noFill/>
            </a:ln>
          </p:spPr>
        </p:sp>
        <p:sp>
          <p:nvSpPr>
            <p:cNvPr id="320" name="Google Shape;320;p10"/>
            <p:cNvSpPr/>
            <p:nvPr/>
          </p:nvSpPr>
          <p:spPr>
            <a:xfrm>
              <a:off x="2415650" y="901728"/>
              <a:ext cx="968223" cy="968223"/>
            </a:xfrm>
            <a:custGeom>
              <a:avLst/>
              <a:gdLst/>
              <a:ahLst/>
              <a:cxnLst/>
              <a:rect l="l" t="t" r="r" b="b"/>
              <a:pathLst>
                <a:path w="968223" h="968223" extrusionOk="0">
                  <a:moveTo>
                    <a:pt x="0" y="0"/>
                  </a:moveTo>
                  <a:lnTo>
                    <a:pt x="968223" y="0"/>
                  </a:lnTo>
                  <a:lnTo>
                    <a:pt x="968223" y="968223"/>
                  </a:lnTo>
                  <a:lnTo>
                    <a:pt x="0" y="968223"/>
                  </a:lnTo>
                  <a:lnTo>
                    <a:pt x="0" y="0"/>
                  </a:lnTo>
                  <a:close/>
                </a:path>
              </a:pathLst>
            </a:custGeom>
            <a:blipFill rotWithShape="1">
              <a:blip r:embed="rId4">
                <a:alphaModFix/>
              </a:blip>
              <a:stretch>
                <a:fillRect/>
              </a:stretch>
            </a:blipFill>
            <a:ln>
              <a:noFill/>
            </a:ln>
          </p:spPr>
        </p:sp>
        <p:sp>
          <p:nvSpPr>
            <p:cNvPr id="321" name="Google Shape;321;p10"/>
            <p:cNvSpPr txBox="1"/>
            <p:nvPr/>
          </p:nvSpPr>
          <p:spPr>
            <a:xfrm>
              <a:off x="277059" y="201230"/>
              <a:ext cx="5006102" cy="711306"/>
            </a:xfrm>
            <a:prstGeom prst="rect">
              <a:avLst/>
            </a:prstGeom>
            <a:noFill/>
            <a:ln>
              <a:noFill/>
            </a:ln>
          </p:spPr>
          <p:txBody>
            <a:bodyPr spcFirstLastPara="1" wrap="square" lIns="0" tIns="0" rIns="0" bIns="0" anchor="t" anchorCtr="0">
              <a:spAutoFit/>
            </a:bodyPr>
            <a:lstStyle/>
            <a:p>
              <a:pPr marL="0" marR="0" lvl="0" indent="0" algn="ctr" rtl="0">
                <a:lnSpc>
                  <a:spcPct val="119969"/>
                </a:lnSpc>
                <a:spcBef>
                  <a:spcPts val="0"/>
                </a:spcBef>
                <a:spcAft>
                  <a:spcPts val="0"/>
                </a:spcAft>
                <a:buClr>
                  <a:srgbClr val="000000"/>
                </a:buClr>
                <a:buSzPts val="3275"/>
                <a:buFont typeface="Arial"/>
                <a:buNone/>
              </a:pPr>
              <a:r>
                <a:rPr lang="en-US" sz="3275" b="0" i="0" u="none" strike="noStrike" cap="none">
                  <a:solidFill>
                    <a:srgbClr val="000000"/>
                  </a:solidFill>
                  <a:latin typeface="Arial"/>
                  <a:ea typeface="Arial"/>
                  <a:cs typeface="Arial"/>
                  <a:sym typeface="Arial"/>
                </a:rPr>
                <a:t>PROJECTION</a:t>
              </a:r>
              <a:endParaRPr sz="1400" b="0" i="0" u="none" strike="noStrike" cap="none">
                <a:solidFill>
                  <a:srgbClr val="000000"/>
                </a:solidFill>
                <a:latin typeface="Arial"/>
                <a:ea typeface="Arial"/>
                <a:cs typeface="Arial"/>
                <a:sym typeface="Arial"/>
              </a:endParaRPr>
            </a:p>
          </p:txBody>
        </p:sp>
      </p:grpSp>
      <p:sp>
        <p:nvSpPr>
          <p:cNvPr id="322" name="Google Shape;32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323" name="Google Shape;32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grpSp>
        <p:nvGrpSpPr>
          <p:cNvPr id="332" name="Google Shape;332;p11"/>
          <p:cNvGrpSpPr/>
          <p:nvPr/>
        </p:nvGrpSpPr>
        <p:grpSpPr>
          <a:xfrm>
            <a:off x="1524000" y="6356604"/>
            <a:ext cx="9144000" cy="88404"/>
            <a:chOff x="0" y="0"/>
            <a:chExt cx="13004800" cy="125730"/>
          </a:xfrm>
        </p:grpSpPr>
        <p:sp>
          <p:nvSpPr>
            <p:cNvPr id="333" name="Google Shape;333;p1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34" name="Google Shape;334;p1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35" name="Google Shape;335;p11"/>
          <p:cNvSpPr/>
          <p:nvPr/>
        </p:nvSpPr>
        <p:spPr>
          <a:xfrm>
            <a:off x="6797913" y="2470067"/>
            <a:ext cx="3783335" cy="3672423"/>
          </a:xfrm>
          <a:custGeom>
            <a:avLst/>
            <a:gdLst/>
            <a:ahLst/>
            <a:cxnLst/>
            <a:rect l="l" t="t" r="r" b="b"/>
            <a:pathLst>
              <a:path w="4035557" h="3917251" extrusionOk="0">
                <a:moveTo>
                  <a:pt x="0" y="0"/>
                </a:moveTo>
                <a:lnTo>
                  <a:pt x="4035556" y="0"/>
                </a:lnTo>
                <a:lnTo>
                  <a:pt x="4035556" y="3917250"/>
                </a:lnTo>
                <a:lnTo>
                  <a:pt x="0" y="3917250"/>
                </a:lnTo>
                <a:lnTo>
                  <a:pt x="0" y="0"/>
                </a:lnTo>
                <a:close/>
              </a:path>
            </a:pathLst>
          </a:custGeom>
          <a:blipFill rotWithShape="1">
            <a:blip r:embed="rId3">
              <a:alphaModFix/>
            </a:blip>
            <a:stretch>
              <a:fillRect/>
            </a:stretch>
          </a:blipFill>
          <a:ln>
            <a:noFill/>
          </a:ln>
        </p:spPr>
      </p:sp>
      <p:sp>
        <p:nvSpPr>
          <p:cNvPr id="336" name="Google Shape;336;p11"/>
          <p:cNvSpPr/>
          <p:nvPr/>
        </p:nvSpPr>
        <p:spPr>
          <a:xfrm>
            <a:off x="1855430" y="2728198"/>
            <a:ext cx="4896693" cy="525393"/>
          </a:xfrm>
          <a:custGeom>
            <a:avLst/>
            <a:gdLst/>
            <a:ahLst/>
            <a:cxnLst/>
            <a:rect l="l" t="t" r="r" b="b"/>
            <a:pathLst>
              <a:path w="5223139" h="560419" extrusionOk="0">
                <a:moveTo>
                  <a:pt x="0" y="0"/>
                </a:moveTo>
                <a:lnTo>
                  <a:pt x="5223139" y="0"/>
                </a:lnTo>
                <a:lnTo>
                  <a:pt x="5223139" y="560420"/>
                </a:lnTo>
                <a:lnTo>
                  <a:pt x="0" y="560420"/>
                </a:lnTo>
                <a:lnTo>
                  <a:pt x="0" y="0"/>
                </a:lnTo>
                <a:close/>
              </a:path>
            </a:pathLst>
          </a:custGeom>
          <a:blipFill rotWithShape="1">
            <a:blip r:embed="rId4">
              <a:alphaModFix/>
            </a:blip>
            <a:stretch>
              <a:fillRect b="-20099"/>
            </a:stretch>
          </a:blipFill>
          <a:ln>
            <a:noFill/>
          </a:ln>
        </p:spPr>
      </p:sp>
      <p:sp>
        <p:nvSpPr>
          <p:cNvPr id="337" name="Google Shape;337;p11"/>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338" name="Google Shape;338;p11"/>
          <p:cNvSpPr txBox="1"/>
          <p:nvPr/>
        </p:nvSpPr>
        <p:spPr>
          <a:xfrm>
            <a:off x="1901219" y="1558367"/>
            <a:ext cx="8389562" cy="57092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The following query retrieves only the Name and Salary columns from the Employees table:</a:t>
            </a:r>
            <a:endParaRPr sz="1400" b="0" i="0" u="none" strike="noStrike" cap="none">
              <a:solidFill>
                <a:srgbClr val="000000"/>
              </a:solidFill>
              <a:latin typeface="Arial"/>
              <a:ea typeface="Arial"/>
              <a:cs typeface="Arial"/>
              <a:sym typeface="Arial"/>
            </a:endParaRPr>
          </a:p>
        </p:txBody>
      </p:sp>
      <p:sp>
        <p:nvSpPr>
          <p:cNvPr id="339" name="Google Shape;339;p11"/>
          <p:cNvSpPr txBox="1"/>
          <p:nvPr/>
        </p:nvSpPr>
        <p:spPr>
          <a:xfrm>
            <a:off x="1855430" y="3414326"/>
            <a:ext cx="4341027"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Project operator is denoted by Pi symbol.</a:t>
            </a:r>
            <a:endParaRPr sz="1400" b="0" i="0" u="none" strike="noStrike" cap="none">
              <a:solidFill>
                <a:srgbClr val="000000"/>
              </a:solidFill>
              <a:latin typeface="Arial"/>
              <a:ea typeface="Arial"/>
              <a:cs typeface="Arial"/>
              <a:sym typeface="Arial"/>
            </a:endParaRPr>
          </a:p>
        </p:txBody>
      </p:sp>
      <p:sp>
        <p:nvSpPr>
          <p:cNvPr id="340" name="Google Shape;34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341" name="Google Shape;34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grpSp>
        <p:nvGrpSpPr>
          <p:cNvPr id="350" name="Google Shape;350;p12"/>
          <p:cNvGrpSpPr/>
          <p:nvPr/>
        </p:nvGrpSpPr>
        <p:grpSpPr>
          <a:xfrm>
            <a:off x="1524000" y="6356604"/>
            <a:ext cx="9144000" cy="88404"/>
            <a:chOff x="0" y="0"/>
            <a:chExt cx="13004800" cy="125730"/>
          </a:xfrm>
        </p:grpSpPr>
        <p:sp>
          <p:nvSpPr>
            <p:cNvPr id="351" name="Google Shape;351;p1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52" name="Google Shape;352;p1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53" name="Google Shape;353;p12"/>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354" name="Google Shape;354;p12"/>
          <p:cNvSpPr txBox="1"/>
          <p:nvPr/>
        </p:nvSpPr>
        <p:spPr>
          <a:xfrm>
            <a:off x="1901219" y="1558367"/>
            <a:ext cx="8389562"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3. Union(U):</a:t>
            </a:r>
            <a:r>
              <a:rPr lang="en-US" sz="1875" b="0" i="0" u="none" strike="noStrike" cap="none">
                <a:solidFill>
                  <a:srgbClr val="000000"/>
                </a:solidFill>
                <a:latin typeface="Arial"/>
                <a:ea typeface="Arial"/>
                <a:cs typeface="Arial"/>
                <a:sym typeface="Arial"/>
              </a:rPr>
              <a:t> Union Operator is basically used to combine the results of two queries into a single result. The only condition is that both queries must return same number of columns with same data types.</a:t>
            </a:r>
            <a:endParaRPr sz="1400" b="0" i="0" u="none" strike="noStrike" cap="none">
              <a:solidFill>
                <a:srgbClr val="000000"/>
              </a:solidFill>
              <a:latin typeface="Arial"/>
              <a:ea typeface="Arial"/>
              <a:cs typeface="Arial"/>
              <a:sym typeface="Arial"/>
            </a:endParaRPr>
          </a:p>
        </p:txBody>
      </p:sp>
      <p:sp>
        <p:nvSpPr>
          <p:cNvPr id="355" name="Google Shape;355;p12"/>
          <p:cNvSpPr txBox="1"/>
          <p:nvPr/>
        </p:nvSpPr>
        <p:spPr>
          <a:xfrm>
            <a:off x="1901219" y="2527467"/>
            <a:ext cx="4472378" cy="1392689"/>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Syntax:</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The Syntax of the SQL UNION operator is: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SELECT columnnames FROM table1</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UNION</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SELECT columnnames FROM table2;</a:t>
            </a:r>
            <a:endParaRPr sz="1400" b="0" i="0" u="none" strike="noStrike" cap="none">
              <a:solidFill>
                <a:srgbClr val="000000"/>
              </a:solidFill>
              <a:latin typeface="Arial"/>
              <a:ea typeface="Arial"/>
              <a:cs typeface="Arial"/>
              <a:sym typeface="Arial"/>
            </a:endParaRPr>
          </a:p>
        </p:txBody>
      </p:sp>
      <p:grpSp>
        <p:nvGrpSpPr>
          <p:cNvPr id="356" name="Google Shape;356;p12"/>
          <p:cNvGrpSpPr/>
          <p:nvPr/>
        </p:nvGrpSpPr>
        <p:grpSpPr>
          <a:xfrm>
            <a:off x="7188734" y="2772475"/>
            <a:ext cx="3239255" cy="1206623"/>
            <a:chOff x="0" y="0"/>
            <a:chExt cx="4606940" cy="1716085"/>
          </a:xfrm>
        </p:grpSpPr>
        <p:sp>
          <p:nvSpPr>
            <p:cNvPr id="357" name="Google Shape;357;p12"/>
            <p:cNvSpPr/>
            <p:nvPr/>
          </p:nvSpPr>
          <p:spPr>
            <a:xfrm>
              <a:off x="0" y="0"/>
              <a:ext cx="4606940" cy="1716085"/>
            </a:xfrm>
            <a:custGeom>
              <a:avLst/>
              <a:gdLst/>
              <a:ahLst/>
              <a:cxnLst/>
              <a:rect l="l" t="t" r="r" b="b"/>
              <a:pathLst>
                <a:path w="4606940" h="1716085" extrusionOk="0">
                  <a:moveTo>
                    <a:pt x="0" y="0"/>
                  </a:moveTo>
                  <a:lnTo>
                    <a:pt x="4606940" y="0"/>
                  </a:lnTo>
                  <a:lnTo>
                    <a:pt x="4606940" y="1716085"/>
                  </a:lnTo>
                  <a:lnTo>
                    <a:pt x="0" y="1716085"/>
                  </a:lnTo>
                  <a:lnTo>
                    <a:pt x="0" y="0"/>
                  </a:lnTo>
                  <a:close/>
                </a:path>
              </a:pathLst>
            </a:custGeom>
            <a:blipFill rotWithShape="1">
              <a:blip r:embed="rId3">
                <a:alphaModFix/>
              </a:blip>
              <a:stretch>
                <a:fillRect/>
              </a:stretch>
            </a:blipFill>
            <a:ln>
              <a:noFill/>
            </a:ln>
          </p:spPr>
        </p:sp>
        <p:sp>
          <p:nvSpPr>
            <p:cNvPr id="358" name="Google Shape;358;p12"/>
            <p:cNvSpPr txBox="1"/>
            <p:nvPr/>
          </p:nvSpPr>
          <p:spPr>
            <a:xfrm>
              <a:off x="229559" y="166731"/>
              <a:ext cx="4147824" cy="564029"/>
            </a:xfrm>
            <a:prstGeom prst="rect">
              <a:avLst/>
            </a:prstGeom>
            <a:noFill/>
            <a:ln>
              <a:noFill/>
            </a:ln>
          </p:spPr>
          <p:txBody>
            <a:bodyPr spcFirstLastPara="1" wrap="square" lIns="0" tIns="0" rIns="0" bIns="0" anchor="t" anchorCtr="0">
              <a:spAutoFit/>
            </a:bodyPr>
            <a:lstStyle/>
            <a:p>
              <a:pPr marL="0" marR="0" lvl="0" indent="0" algn="ctr" rtl="0">
                <a:lnSpc>
                  <a:spcPct val="120014"/>
                </a:lnSpc>
                <a:spcBef>
                  <a:spcPts val="0"/>
                </a:spcBef>
                <a:spcAft>
                  <a:spcPts val="0"/>
                </a:spcAft>
                <a:buClr>
                  <a:srgbClr val="000000"/>
                </a:buClr>
                <a:buSzPts val="2713"/>
                <a:buFont typeface="Arial"/>
                <a:buNone/>
              </a:pPr>
              <a:r>
                <a:rPr lang="en-US" sz="2713" b="0" i="0" u="none" strike="noStrike" cap="none">
                  <a:solidFill>
                    <a:srgbClr val="000000"/>
                  </a:solidFill>
                  <a:latin typeface="Arial"/>
                  <a:ea typeface="Arial"/>
                  <a:cs typeface="Arial"/>
                  <a:sym typeface="Arial"/>
                </a:rPr>
                <a:t>UNION</a:t>
              </a:r>
              <a:endParaRPr sz="1400" b="0" i="0" u="none" strike="noStrike" cap="none">
                <a:solidFill>
                  <a:srgbClr val="000000"/>
                </a:solidFill>
                <a:latin typeface="Arial"/>
                <a:ea typeface="Arial"/>
                <a:cs typeface="Arial"/>
                <a:sym typeface="Arial"/>
              </a:endParaRPr>
            </a:p>
          </p:txBody>
        </p:sp>
        <p:sp>
          <p:nvSpPr>
            <p:cNvPr id="359" name="Google Shape;359;p12"/>
            <p:cNvSpPr txBox="1"/>
            <p:nvPr/>
          </p:nvSpPr>
          <p:spPr>
            <a:xfrm>
              <a:off x="1998962" y="624000"/>
              <a:ext cx="609020" cy="1021361"/>
            </a:xfrm>
            <a:prstGeom prst="rect">
              <a:avLst/>
            </a:prstGeom>
            <a:noFill/>
            <a:ln>
              <a:noFill/>
            </a:ln>
          </p:spPr>
          <p:txBody>
            <a:bodyPr spcFirstLastPara="1" wrap="square" lIns="0" tIns="0" rIns="0" bIns="0" anchor="t" anchorCtr="0">
              <a:spAutoFit/>
            </a:bodyPr>
            <a:lstStyle/>
            <a:p>
              <a:pPr marL="0" marR="0" lvl="0" indent="0" algn="ctr" rtl="0">
                <a:lnSpc>
                  <a:spcPct val="120004"/>
                </a:lnSpc>
                <a:spcBef>
                  <a:spcPts val="0"/>
                </a:spcBef>
                <a:spcAft>
                  <a:spcPts val="0"/>
                </a:spcAft>
                <a:buClr>
                  <a:srgbClr val="000000"/>
                </a:buClr>
                <a:buSzPts val="4669"/>
                <a:buFont typeface="Arial"/>
                <a:buNone/>
              </a:pPr>
              <a:r>
                <a:rPr lang="en-US" sz="4669" b="1" i="0" u="none" strike="noStrike" cap="none">
                  <a:solidFill>
                    <a:srgbClr val="000000"/>
                  </a:solidFill>
                  <a:latin typeface="Arial"/>
                  <a:ea typeface="Arial"/>
                  <a:cs typeface="Arial"/>
                  <a:sym typeface="Arial"/>
                </a:rPr>
                <a:t>U</a:t>
              </a:r>
              <a:endParaRPr sz="1400" b="0" i="0" u="none" strike="noStrike" cap="none">
                <a:solidFill>
                  <a:srgbClr val="000000"/>
                </a:solidFill>
                <a:latin typeface="Arial"/>
                <a:ea typeface="Arial"/>
                <a:cs typeface="Arial"/>
                <a:sym typeface="Arial"/>
              </a:endParaRPr>
            </a:p>
          </p:txBody>
        </p:sp>
      </p:grpSp>
      <p:sp>
        <p:nvSpPr>
          <p:cNvPr id="360" name="Google Shape;360;p12"/>
          <p:cNvSpPr txBox="1"/>
          <p:nvPr/>
        </p:nvSpPr>
        <p:spPr>
          <a:xfrm>
            <a:off x="1901219" y="4246989"/>
            <a:ext cx="5287515" cy="1674817"/>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Rules for SQL UNION </a:t>
            </a:r>
            <a:endParaRPr sz="1400" b="0" i="0" u="none" strike="noStrike" cap="none">
              <a:solidFill>
                <a:srgbClr val="000000"/>
              </a:solidFill>
              <a:latin typeface="Arial"/>
              <a:ea typeface="Arial"/>
              <a:cs typeface="Arial"/>
              <a:sym typeface="Arial"/>
            </a:endParaRPr>
          </a:p>
          <a:p>
            <a:pPr marL="388620" marR="0" lvl="1" indent="-194310" algn="just" rtl="0">
              <a:lnSpc>
                <a:spcPct val="12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Each table used within UNION must have the same number of columns.</a:t>
            </a:r>
            <a:endParaRPr sz="1400" b="0" i="0" u="none" strike="noStrike" cap="none">
              <a:solidFill>
                <a:srgbClr val="000000"/>
              </a:solidFill>
              <a:latin typeface="Arial"/>
              <a:ea typeface="Arial"/>
              <a:cs typeface="Arial"/>
              <a:sym typeface="Arial"/>
            </a:endParaRPr>
          </a:p>
          <a:p>
            <a:pPr marL="388620" marR="0" lvl="1" indent="-194310" algn="just" rtl="0">
              <a:lnSpc>
                <a:spcPct val="12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The columns must have the same data types.</a:t>
            </a:r>
            <a:endParaRPr sz="1400" b="0" i="0" u="none" strike="noStrike" cap="none">
              <a:solidFill>
                <a:srgbClr val="000000"/>
              </a:solidFill>
              <a:latin typeface="Arial"/>
              <a:ea typeface="Arial"/>
              <a:cs typeface="Arial"/>
              <a:sym typeface="Arial"/>
            </a:endParaRPr>
          </a:p>
          <a:p>
            <a:pPr marL="388620" marR="0" lvl="1" indent="-194310" algn="just" rtl="0">
              <a:lnSpc>
                <a:spcPct val="12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The columns in each table must be in the same order.</a:t>
            </a:r>
            <a:endParaRPr sz="1400" b="0" i="0" u="none" strike="noStrike" cap="none">
              <a:solidFill>
                <a:srgbClr val="000000"/>
              </a:solidFill>
              <a:latin typeface="Arial"/>
              <a:ea typeface="Arial"/>
              <a:cs typeface="Arial"/>
              <a:sym typeface="Arial"/>
            </a:endParaRPr>
          </a:p>
        </p:txBody>
      </p:sp>
      <p:sp>
        <p:nvSpPr>
          <p:cNvPr id="361" name="Google Shape;36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362" name="Google Shape;36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grpSp>
        <p:nvGrpSpPr>
          <p:cNvPr id="371" name="Google Shape;371;p13"/>
          <p:cNvGrpSpPr/>
          <p:nvPr/>
        </p:nvGrpSpPr>
        <p:grpSpPr>
          <a:xfrm>
            <a:off x="1524000" y="6356604"/>
            <a:ext cx="9144000" cy="88404"/>
            <a:chOff x="0" y="0"/>
            <a:chExt cx="13004800" cy="125730"/>
          </a:xfrm>
        </p:grpSpPr>
        <p:sp>
          <p:nvSpPr>
            <p:cNvPr id="372" name="Google Shape;372;p1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73" name="Google Shape;373;p1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74" name="Google Shape;374;p13"/>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375" name="Google Shape;375;p13"/>
          <p:cNvSpPr txBox="1"/>
          <p:nvPr/>
        </p:nvSpPr>
        <p:spPr>
          <a:xfrm>
            <a:off x="2967664" y="5367140"/>
            <a:ext cx="5911887" cy="54630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π(Student_Name)FRENCH U π(Student_Name)GERMAN</a:t>
            </a:r>
            <a:endParaRPr sz="1400" b="0" i="0" u="none" strike="noStrike" cap="none">
              <a:solidFill>
                <a:srgbClr val="000000"/>
              </a:solidFill>
              <a:latin typeface="Arial"/>
              <a:ea typeface="Arial"/>
              <a:cs typeface="Arial"/>
              <a:sym typeface="Arial"/>
            </a:endParaRPr>
          </a:p>
        </p:txBody>
      </p:sp>
      <p:sp>
        <p:nvSpPr>
          <p:cNvPr id="376" name="Google Shape;376;p13"/>
          <p:cNvSpPr/>
          <p:nvPr/>
        </p:nvSpPr>
        <p:spPr>
          <a:xfrm>
            <a:off x="2209800" y="1447205"/>
            <a:ext cx="3108941" cy="3018037"/>
          </a:xfrm>
          <a:custGeom>
            <a:avLst/>
            <a:gdLst/>
            <a:ahLst/>
            <a:cxnLst/>
            <a:rect l="l" t="t" r="r" b="b"/>
            <a:pathLst>
              <a:path w="3316204" h="3219239" extrusionOk="0">
                <a:moveTo>
                  <a:pt x="0" y="0"/>
                </a:moveTo>
                <a:lnTo>
                  <a:pt x="3316204" y="0"/>
                </a:lnTo>
                <a:lnTo>
                  <a:pt x="3316204" y="3219239"/>
                </a:lnTo>
                <a:lnTo>
                  <a:pt x="0" y="3219239"/>
                </a:lnTo>
                <a:lnTo>
                  <a:pt x="0" y="0"/>
                </a:lnTo>
                <a:close/>
              </a:path>
            </a:pathLst>
          </a:custGeom>
          <a:blipFill rotWithShape="1">
            <a:blip r:embed="rId3">
              <a:alphaModFix/>
            </a:blip>
            <a:stretch>
              <a:fillRect/>
            </a:stretch>
          </a:blipFill>
          <a:ln>
            <a:noFill/>
          </a:ln>
        </p:spPr>
      </p:sp>
      <p:sp>
        <p:nvSpPr>
          <p:cNvPr id="377" name="Google Shape;377;p13"/>
          <p:cNvSpPr/>
          <p:nvPr/>
        </p:nvSpPr>
        <p:spPr>
          <a:xfrm>
            <a:off x="6703659" y="1447205"/>
            <a:ext cx="3084169" cy="3018037"/>
          </a:xfrm>
          <a:custGeom>
            <a:avLst/>
            <a:gdLst/>
            <a:ahLst/>
            <a:cxnLst/>
            <a:rect l="l" t="t" r="r" b="b"/>
            <a:pathLst>
              <a:path w="3289780" h="3219239" extrusionOk="0">
                <a:moveTo>
                  <a:pt x="0" y="0"/>
                </a:moveTo>
                <a:lnTo>
                  <a:pt x="3289779" y="0"/>
                </a:lnTo>
                <a:lnTo>
                  <a:pt x="3289779" y="3219239"/>
                </a:lnTo>
                <a:lnTo>
                  <a:pt x="0" y="3219239"/>
                </a:lnTo>
                <a:lnTo>
                  <a:pt x="0" y="0"/>
                </a:lnTo>
                <a:close/>
              </a:path>
            </a:pathLst>
          </a:custGeom>
          <a:blipFill rotWithShape="1">
            <a:blip r:embed="rId4">
              <a:alphaModFix/>
            </a:blip>
            <a:stretch>
              <a:fillRect/>
            </a:stretch>
          </a:blipFill>
          <a:ln>
            <a:noFill/>
          </a:ln>
        </p:spPr>
      </p:sp>
      <p:sp>
        <p:nvSpPr>
          <p:cNvPr id="378" name="Google Shape;378;p13"/>
          <p:cNvSpPr txBox="1"/>
          <p:nvPr/>
        </p:nvSpPr>
        <p:spPr>
          <a:xfrm>
            <a:off x="1642816" y="4625976"/>
            <a:ext cx="8561584" cy="546303"/>
          </a:xfrm>
          <a:prstGeom prst="rect">
            <a:avLst/>
          </a:prstGeom>
          <a:noFill/>
          <a:ln>
            <a:noFill/>
          </a:ln>
        </p:spPr>
        <p:txBody>
          <a:bodyPr spcFirstLastPara="1" wrap="square" lIns="0" tIns="0" rIns="0" bIns="0" anchor="t" anchorCtr="0">
            <a:spAutoFit/>
          </a:bodyPr>
          <a:lstStyle/>
          <a:p>
            <a:pPr marL="388620" marR="0" lvl="1" indent="-194310" algn="just" rtl="0">
              <a:lnSpc>
                <a:spcPct val="12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Consider the following table of Students having different optional subjects in their course.</a:t>
            </a:r>
            <a:endParaRPr sz="1400" b="0" i="0" u="none" strike="noStrike" cap="none">
              <a:solidFill>
                <a:srgbClr val="000000"/>
              </a:solidFill>
              <a:latin typeface="Arial"/>
              <a:ea typeface="Arial"/>
              <a:cs typeface="Arial"/>
              <a:sym typeface="Arial"/>
            </a:endParaRPr>
          </a:p>
        </p:txBody>
      </p:sp>
      <p:sp>
        <p:nvSpPr>
          <p:cNvPr id="379" name="Google Shape;37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380" name="Google Shape;38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grpSp>
        <p:nvGrpSpPr>
          <p:cNvPr id="389" name="Google Shape;389;p14"/>
          <p:cNvGrpSpPr/>
          <p:nvPr/>
        </p:nvGrpSpPr>
        <p:grpSpPr>
          <a:xfrm>
            <a:off x="1524000" y="6356604"/>
            <a:ext cx="9144000" cy="88404"/>
            <a:chOff x="0" y="0"/>
            <a:chExt cx="13004800" cy="125730"/>
          </a:xfrm>
        </p:grpSpPr>
        <p:sp>
          <p:nvSpPr>
            <p:cNvPr id="390" name="Google Shape;390;p1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91" name="Google Shape;391;p1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92" name="Google Shape;392;p14"/>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393" name="Google Shape;393;p14"/>
          <p:cNvSpPr txBox="1"/>
          <p:nvPr/>
        </p:nvSpPr>
        <p:spPr>
          <a:xfrm>
            <a:off x="1901219" y="1558367"/>
            <a:ext cx="8389562"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4. Set Difference(-):</a:t>
            </a:r>
            <a:r>
              <a:rPr lang="en-US" sz="1875" b="0" i="0" u="none" strike="noStrike" cap="none">
                <a:solidFill>
                  <a:srgbClr val="000000"/>
                </a:solidFill>
                <a:latin typeface="Arial"/>
                <a:ea typeface="Arial"/>
                <a:cs typeface="Arial"/>
                <a:sym typeface="Arial"/>
              </a:rPr>
              <a:t> Set difference basically provides the rows that are present in one table, but not in another tables.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endParaRPr sz="1875" b="0" i="0" u="none" strike="noStrike" cap="none">
              <a:solidFill>
                <a:srgbClr val="000000"/>
              </a:solidFill>
              <a:latin typeface="Arial"/>
              <a:ea typeface="Arial"/>
              <a:cs typeface="Arial"/>
              <a:sym typeface="Arial"/>
            </a:endParaRPr>
          </a:p>
        </p:txBody>
      </p:sp>
      <p:grpSp>
        <p:nvGrpSpPr>
          <p:cNvPr id="394" name="Google Shape;394;p14"/>
          <p:cNvGrpSpPr/>
          <p:nvPr/>
        </p:nvGrpSpPr>
        <p:grpSpPr>
          <a:xfrm>
            <a:off x="6612121" y="3728343"/>
            <a:ext cx="3909530" cy="2351540"/>
            <a:chOff x="0" y="0"/>
            <a:chExt cx="5560220" cy="2227356"/>
          </a:xfrm>
        </p:grpSpPr>
        <p:sp>
          <p:nvSpPr>
            <p:cNvPr id="395" name="Google Shape;395;p14"/>
            <p:cNvSpPr/>
            <p:nvPr/>
          </p:nvSpPr>
          <p:spPr>
            <a:xfrm>
              <a:off x="0" y="0"/>
              <a:ext cx="5560220" cy="2071182"/>
            </a:xfrm>
            <a:custGeom>
              <a:avLst/>
              <a:gdLst/>
              <a:ahLst/>
              <a:cxnLst/>
              <a:rect l="l" t="t" r="r" b="b"/>
              <a:pathLst>
                <a:path w="5560220" h="2071182" extrusionOk="0">
                  <a:moveTo>
                    <a:pt x="0" y="0"/>
                  </a:moveTo>
                  <a:lnTo>
                    <a:pt x="5560220" y="0"/>
                  </a:lnTo>
                  <a:lnTo>
                    <a:pt x="5560220" y="2071182"/>
                  </a:lnTo>
                  <a:lnTo>
                    <a:pt x="0" y="2071182"/>
                  </a:lnTo>
                  <a:lnTo>
                    <a:pt x="0" y="0"/>
                  </a:lnTo>
                  <a:close/>
                </a:path>
              </a:pathLst>
            </a:custGeom>
            <a:blipFill rotWithShape="1">
              <a:blip r:embed="rId3">
                <a:alphaModFix/>
              </a:blip>
              <a:stretch>
                <a:fillRect/>
              </a:stretch>
            </a:blipFill>
            <a:ln>
              <a:noFill/>
            </a:ln>
          </p:spPr>
        </p:sp>
        <p:sp>
          <p:nvSpPr>
            <p:cNvPr id="396" name="Google Shape;396;p14"/>
            <p:cNvSpPr txBox="1"/>
            <p:nvPr/>
          </p:nvSpPr>
          <p:spPr>
            <a:xfrm>
              <a:off x="277059" y="201230"/>
              <a:ext cx="5006102" cy="1422613"/>
            </a:xfrm>
            <a:prstGeom prst="rect">
              <a:avLst/>
            </a:prstGeom>
            <a:noFill/>
            <a:ln>
              <a:noFill/>
            </a:ln>
          </p:spPr>
          <p:txBody>
            <a:bodyPr spcFirstLastPara="1" wrap="square" lIns="0" tIns="0" rIns="0" bIns="0" anchor="t" anchorCtr="0">
              <a:spAutoFit/>
            </a:bodyPr>
            <a:lstStyle/>
            <a:p>
              <a:pPr marL="0" marR="0" lvl="0" indent="0" algn="ctr" rtl="0">
                <a:lnSpc>
                  <a:spcPct val="119969"/>
                </a:lnSpc>
                <a:spcBef>
                  <a:spcPts val="0"/>
                </a:spcBef>
                <a:spcAft>
                  <a:spcPts val="0"/>
                </a:spcAft>
                <a:buClr>
                  <a:srgbClr val="000000"/>
                </a:buClr>
                <a:buSzPts val="3275"/>
                <a:buFont typeface="Arial"/>
                <a:buNone/>
              </a:pPr>
              <a:r>
                <a:rPr lang="en-US" sz="3275" b="0" i="0" u="none" strike="noStrike" cap="none" dirty="0">
                  <a:solidFill>
                    <a:srgbClr val="000000"/>
                  </a:solidFill>
                  <a:latin typeface="Arial"/>
                  <a:ea typeface="Arial"/>
                  <a:cs typeface="Arial"/>
                  <a:sym typeface="Arial"/>
                </a:rPr>
                <a:t> SET DIFFERENCE</a:t>
              </a:r>
              <a:endParaRPr sz="1400" b="0" i="0" u="none" strike="noStrike" cap="none" dirty="0">
                <a:solidFill>
                  <a:srgbClr val="000000"/>
                </a:solidFill>
                <a:latin typeface="Arial"/>
                <a:ea typeface="Arial"/>
                <a:cs typeface="Arial"/>
                <a:sym typeface="Arial"/>
              </a:endParaRPr>
            </a:p>
          </p:txBody>
        </p:sp>
        <p:sp>
          <p:nvSpPr>
            <p:cNvPr id="397" name="Google Shape;397;p14"/>
            <p:cNvSpPr txBox="1"/>
            <p:nvPr/>
          </p:nvSpPr>
          <p:spPr>
            <a:xfrm>
              <a:off x="1988063" y="1063275"/>
              <a:ext cx="1584092" cy="116408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5635"/>
                <a:buFont typeface="Arial"/>
                <a:buNone/>
              </a:pPr>
              <a:r>
                <a:rPr lang="en-US" sz="5635" b="1"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grpSp>
      <p:sp>
        <p:nvSpPr>
          <p:cNvPr id="398" name="Google Shape;398;p14"/>
          <p:cNvSpPr txBox="1"/>
          <p:nvPr/>
        </p:nvSpPr>
        <p:spPr>
          <a:xfrm>
            <a:off x="1901219" y="2178844"/>
            <a:ext cx="4472378" cy="2239074"/>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Notations: </a:t>
            </a:r>
            <a:r>
              <a:rPr lang="en-US" sz="1800" b="0" i="0" u="none" strike="noStrike" cap="none">
                <a:solidFill>
                  <a:srgbClr val="000000"/>
                </a:solidFill>
                <a:latin typeface="Arial"/>
                <a:ea typeface="Arial"/>
                <a:cs typeface="Arial"/>
                <a:sym typeface="Arial"/>
              </a:rPr>
              <a:t>A - 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where, A and S are the relations,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symbol ‘ – ’ is used to denote the Minus operator.</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The result of Intersection operation, which is denoted by A – S, is a relation that basically includes all the tuples that are present in A but not in S.</a:t>
            </a:r>
            <a:endParaRPr sz="1400" b="0" i="0" u="none" strike="noStrike" cap="none">
              <a:solidFill>
                <a:srgbClr val="000000"/>
              </a:solidFill>
              <a:latin typeface="Arial"/>
              <a:ea typeface="Arial"/>
              <a:cs typeface="Arial"/>
              <a:sym typeface="Arial"/>
            </a:endParaRPr>
          </a:p>
        </p:txBody>
      </p:sp>
      <p:sp>
        <p:nvSpPr>
          <p:cNvPr id="399" name="Google Shape;39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400" name="Google Shape;40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grpSp>
        <p:nvGrpSpPr>
          <p:cNvPr id="409" name="Google Shape;409;p15"/>
          <p:cNvGrpSpPr/>
          <p:nvPr/>
        </p:nvGrpSpPr>
        <p:grpSpPr>
          <a:xfrm>
            <a:off x="1524000" y="6356604"/>
            <a:ext cx="9144000" cy="88404"/>
            <a:chOff x="0" y="0"/>
            <a:chExt cx="13004800" cy="125730"/>
          </a:xfrm>
        </p:grpSpPr>
        <p:sp>
          <p:nvSpPr>
            <p:cNvPr id="410" name="Google Shape;410;p1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11" name="Google Shape;411;p1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12" name="Google Shape;412;p15"/>
          <p:cNvSpPr/>
          <p:nvPr/>
        </p:nvSpPr>
        <p:spPr>
          <a:xfrm>
            <a:off x="2654441" y="2935595"/>
            <a:ext cx="3108941" cy="3018037"/>
          </a:xfrm>
          <a:custGeom>
            <a:avLst/>
            <a:gdLst/>
            <a:ahLst/>
            <a:cxnLst/>
            <a:rect l="l" t="t" r="r" b="b"/>
            <a:pathLst>
              <a:path w="3316204" h="3219239" extrusionOk="0">
                <a:moveTo>
                  <a:pt x="0" y="0"/>
                </a:moveTo>
                <a:lnTo>
                  <a:pt x="3316204" y="0"/>
                </a:lnTo>
                <a:lnTo>
                  <a:pt x="3316204" y="3219239"/>
                </a:lnTo>
                <a:lnTo>
                  <a:pt x="0" y="3219239"/>
                </a:lnTo>
                <a:lnTo>
                  <a:pt x="0" y="0"/>
                </a:lnTo>
                <a:close/>
              </a:path>
            </a:pathLst>
          </a:custGeom>
          <a:blipFill rotWithShape="1">
            <a:blip r:embed="rId3">
              <a:alphaModFix/>
            </a:blip>
            <a:stretch>
              <a:fillRect/>
            </a:stretch>
          </a:blipFill>
          <a:ln>
            <a:noFill/>
          </a:ln>
        </p:spPr>
      </p:sp>
      <p:sp>
        <p:nvSpPr>
          <p:cNvPr id="413" name="Google Shape;413;p15"/>
          <p:cNvSpPr/>
          <p:nvPr/>
        </p:nvSpPr>
        <p:spPr>
          <a:xfrm>
            <a:off x="6703659" y="2935595"/>
            <a:ext cx="3084169" cy="3018037"/>
          </a:xfrm>
          <a:custGeom>
            <a:avLst/>
            <a:gdLst/>
            <a:ahLst/>
            <a:cxnLst/>
            <a:rect l="l" t="t" r="r" b="b"/>
            <a:pathLst>
              <a:path w="3289780" h="3219239" extrusionOk="0">
                <a:moveTo>
                  <a:pt x="0" y="0"/>
                </a:moveTo>
                <a:lnTo>
                  <a:pt x="3289779" y="0"/>
                </a:lnTo>
                <a:lnTo>
                  <a:pt x="3289779" y="3219239"/>
                </a:lnTo>
                <a:lnTo>
                  <a:pt x="0" y="3219239"/>
                </a:lnTo>
                <a:lnTo>
                  <a:pt x="0" y="0"/>
                </a:lnTo>
                <a:close/>
              </a:path>
            </a:pathLst>
          </a:custGeom>
          <a:blipFill rotWithShape="1">
            <a:blip r:embed="rId4">
              <a:alphaModFix/>
            </a:blip>
            <a:stretch>
              <a:fillRect/>
            </a:stretch>
          </a:blipFill>
          <a:ln>
            <a:noFill/>
          </a:ln>
        </p:spPr>
      </p:sp>
      <p:sp>
        <p:nvSpPr>
          <p:cNvPr id="414" name="Google Shape;414;p15"/>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415" name="Google Shape;415;p15"/>
          <p:cNvSpPr txBox="1"/>
          <p:nvPr/>
        </p:nvSpPr>
        <p:spPr>
          <a:xfrm>
            <a:off x="1901219" y="1630663"/>
            <a:ext cx="8389562"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Example: </a:t>
            </a:r>
            <a:r>
              <a:rPr lang="en-US" sz="1875" b="0" i="0" u="none" strike="noStrike" cap="none">
                <a:solidFill>
                  <a:srgbClr val="000000"/>
                </a:solidFill>
                <a:latin typeface="Arial"/>
                <a:ea typeface="Arial"/>
                <a:cs typeface="Arial"/>
                <a:sym typeface="Arial"/>
              </a:rPr>
              <a:t>From the given table of FRENCH and GERMAN, Set Difference is used as follows: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endParaRPr sz="1875"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π(Student_Name)FRENCH - π(Student_Name)GERMAN</a:t>
            </a:r>
            <a:endParaRPr sz="1400" b="0" i="0" u="none" strike="noStrike" cap="none">
              <a:solidFill>
                <a:srgbClr val="000000"/>
              </a:solidFill>
              <a:latin typeface="Arial"/>
              <a:ea typeface="Arial"/>
              <a:cs typeface="Arial"/>
              <a:sym typeface="Arial"/>
            </a:endParaRPr>
          </a:p>
        </p:txBody>
      </p:sp>
      <p:sp>
        <p:nvSpPr>
          <p:cNvPr id="416" name="Google Shape;41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417" name="Google Shape;41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grpSp>
        <p:nvGrpSpPr>
          <p:cNvPr id="426" name="Google Shape;426;p16"/>
          <p:cNvGrpSpPr/>
          <p:nvPr/>
        </p:nvGrpSpPr>
        <p:grpSpPr>
          <a:xfrm>
            <a:off x="1524000" y="6356604"/>
            <a:ext cx="9144000" cy="88404"/>
            <a:chOff x="0" y="0"/>
            <a:chExt cx="13004800" cy="125730"/>
          </a:xfrm>
        </p:grpSpPr>
        <p:sp>
          <p:nvSpPr>
            <p:cNvPr id="427" name="Google Shape;427;p1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28" name="Google Shape;428;p1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29" name="Google Shape;429;p16"/>
          <p:cNvSpPr/>
          <p:nvPr/>
        </p:nvSpPr>
        <p:spPr>
          <a:xfrm>
            <a:off x="2410911" y="3228719"/>
            <a:ext cx="2957532" cy="2069148"/>
          </a:xfrm>
          <a:custGeom>
            <a:avLst/>
            <a:gdLst/>
            <a:ahLst/>
            <a:cxnLst/>
            <a:rect l="l" t="t" r="r" b="b"/>
            <a:pathLst>
              <a:path w="3154701" h="2207091" extrusionOk="0">
                <a:moveTo>
                  <a:pt x="0" y="0"/>
                </a:moveTo>
                <a:lnTo>
                  <a:pt x="3154701" y="0"/>
                </a:lnTo>
                <a:lnTo>
                  <a:pt x="3154701" y="2207091"/>
                </a:lnTo>
                <a:lnTo>
                  <a:pt x="0" y="2207091"/>
                </a:lnTo>
                <a:lnTo>
                  <a:pt x="0" y="0"/>
                </a:lnTo>
                <a:close/>
              </a:path>
            </a:pathLst>
          </a:custGeom>
          <a:blipFill rotWithShape="1">
            <a:blip r:embed="rId3">
              <a:alphaModFix/>
            </a:blip>
            <a:stretch>
              <a:fillRect/>
            </a:stretch>
          </a:blipFill>
          <a:ln>
            <a:noFill/>
          </a:ln>
        </p:spPr>
      </p:sp>
      <p:sp>
        <p:nvSpPr>
          <p:cNvPr id="430" name="Google Shape;430;p16"/>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431" name="Google Shape;431;p16"/>
          <p:cNvSpPr txBox="1"/>
          <p:nvPr/>
        </p:nvSpPr>
        <p:spPr>
          <a:xfrm>
            <a:off x="1801596" y="1456135"/>
            <a:ext cx="8644868" cy="54630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5. Set Intersection(∩): </a:t>
            </a:r>
            <a:r>
              <a:rPr lang="en-US" sz="1800" b="0" i="0" u="none" strike="noStrike" cap="none">
                <a:solidFill>
                  <a:srgbClr val="000000"/>
                </a:solidFill>
                <a:latin typeface="Arial"/>
                <a:ea typeface="Arial"/>
                <a:cs typeface="Arial"/>
                <a:sym typeface="Arial"/>
              </a:rPr>
              <a:t>Set Intersection basically allows to fetches only those rows of data that are common between two sets of relational tables.</a:t>
            </a:r>
            <a:endParaRPr sz="1400" b="0" i="0" u="none" strike="noStrike" cap="none">
              <a:solidFill>
                <a:srgbClr val="000000"/>
              </a:solidFill>
              <a:latin typeface="Arial"/>
              <a:ea typeface="Arial"/>
              <a:cs typeface="Arial"/>
              <a:sym typeface="Arial"/>
            </a:endParaRPr>
          </a:p>
        </p:txBody>
      </p:sp>
      <p:grpSp>
        <p:nvGrpSpPr>
          <p:cNvPr id="432" name="Google Shape;432;p16"/>
          <p:cNvGrpSpPr/>
          <p:nvPr/>
        </p:nvGrpSpPr>
        <p:grpSpPr>
          <a:xfrm>
            <a:off x="6454925" y="3535152"/>
            <a:ext cx="3991126" cy="1907718"/>
            <a:chOff x="0" y="0"/>
            <a:chExt cx="5560220" cy="2113581"/>
          </a:xfrm>
        </p:grpSpPr>
        <p:sp>
          <p:nvSpPr>
            <p:cNvPr id="433" name="Google Shape;433;p16"/>
            <p:cNvSpPr/>
            <p:nvPr/>
          </p:nvSpPr>
          <p:spPr>
            <a:xfrm>
              <a:off x="0" y="0"/>
              <a:ext cx="5560220" cy="2071182"/>
            </a:xfrm>
            <a:custGeom>
              <a:avLst/>
              <a:gdLst/>
              <a:ahLst/>
              <a:cxnLst/>
              <a:rect l="l" t="t" r="r" b="b"/>
              <a:pathLst>
                <a:path w="5560220" h="2071182" extrusionOk="0">
                  <a:moveTo>
                    <a:pt x="0" y="0"/>
                  </a:moveTo>
                  <a:lnTo>
                    <a:pt x="5560220" y="0"/>
                  </a:lnTo>
                  <a:lnTo>
                    <a:pt x="5560220" y="2071182"/>
                  </a:lnTo>
                  <a:lnTo>
                    <a:pt x="0" y="2071182"/>
                  </a:lnTo>
                  <a:lnTo>
                    <a:pt x="0" y="0"/>
                  </a:lnTo>
                  <a:close/>
                </a:path>
              </a:pathLst>
            </a:custGeom>
            <a:blipFill rotWithShape="1">
              <a:blip r:embed="rId4">
                <a:alphaModFix/>
              </a:blip>
              <a:stretch>
                <a:fillRect/>
              </a:stretch>
            </a:blipFill>
            <a:ln>
              <a:noFill/>
            </a:ln>
          </p:spPr>
        </p:sp>
        <p:sp>
          <p:nvSpPr>
            <p:cNvPr id="434" name="Google Shape;434;p16"/>
            <p:cNvSpPr txBox="1"/>
            <p:nvPr/>
          </p:nvSpPr>
          <p:spPr>
            <a:xfrm>
              <a:off x="172035" y="0"/>
              <a:ext cx="5216100" cy="1158600"/>
            </a:xfrm>
            <a:prstGeom prst="rect">
              <a:avLst/>
            </a:prstGeom>
            <a:noFill/>
            <a:ln>
              <a:noFill/>
            </a:ln>
          </p:spPr>
          <p:txBody>
            <a:bodyPr spcFirstLastPara="1" wrap="square" lIns="0" tIns="0" rIns="0" bIns="0" anchor="t" anchorCtr="0">
              <a:spAutoFit/>
            </a:bodyPr>
            <a:lstStyle/>
            <a:p>
              <a:pPr marL="0" marR="0" lvl="0" indent="0" algn="ctr" rtl="0">
                <a:lnSpc>
                  <a:spcPct val="120012"/>
                </a:lnSpc>
                <a:spcBef>
                  <a:spcPts val="0"/>
                </a:spcBef>
                <a:spcAft>
                  <a:spcPts val="0"/>
                </a:spcAft>
                <a:buClr>
                  <a:srgbClr val="000000"/>
                </a:buClr>
                <a:buSzPts val="3088"/>
                <a:buFont typeface="Arial"/>
                <a:buNone/>
              </a:pPr>
              <a:r>
                <a:rPr lang="en-US" sz="3088" b="0" i="0" u="none" strike="noStrike" cap="none">
                  <a:solidFill>
                    <a:srgbClr val="000000"/>
                  </a:solidFill>
                  <a:latin typeface="Arial"/>
                  <a:ea typeface="Arial"/>
                  <a:cs typeface="Arial"/>
                  <a:sym typeface="Arial"/>
                </a:rPr>
                <a:t> SET INTERSECTION</a:t>
              </a:r>
              <a:endParaRPr sz="1400" b="0" i="0" u="none" strike="noStrike" cap="none">
                <a:solidFill>
                  <a:srgbClr val="000000"/>
                </a:solidFill>
                <a:latin typeface="Arial"/>
                <a:ea typeface="Arial"/>
                <a:cs typeface="Arial"/>
                <a:sym typeface="Arial"/>
              </a:endParaRPr>
            </a:p>
          </p:txBody>
        </p:sp>
        <p:sp>
          <p:nvSpPr>
            <p:cNvPr id="435" name="Google Shape;435;p16"/>
            <p:cNvSpPr txBox="1"/>
            <p:nvPr/>
          </p:nvSpPr>
          <p:spPr>
            <a:xfrm rot="10800000">
              <a:off x="1988155" y="1152681"/>
              <a:ext cx="1584000" cy="960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5635"/>
                <a:buFont typeface="Arial"/>
                <a:buNone/>
              </a:pPr>
              <a:r>
                <a:rPr lang="en-US" sz="5635" b="1" i="0" u="none" strike="noStrike" cap="none">
                  <a:solidFill>
                    <a:srgbClr val="000000"/>
                  </a:solidFill>
                  <a:latin typeface="Arial"/>
                  <a:ea typeface="Arial"/>
                  <a:cs typeface="Arial"/>
                  <a:sym typeface="Arial"/>
                </a:rPr>
                <a:t>U</a:t>
              </a:r>
              <a:endParaRPr sz="1400" b="0" i="0" u="none" strike="noStrike" cap="none">
                <a:solidFill>
                  <a:srgbClr val="000000"/>
                </a:solidFill>
                <a:latin typeface="Arial"/>
                <a:ea typeface="Arial"/>
                <a:cs typeface="Arial"/>
                <a:sym typeface="Arial"/>
              </a:endParaRPr>
            </a:p>
          </p:txBody>
        </p:sp>
      </p:grpSp>
      <p:sp>
        <p:nvSpPr>
          <p:cNvPr id="436" name="Google Shape;436;p16"/>
          <p:cNvSpPr txBox="1"/>
          <p:nvPr/>
        </p:nvSpPr>
        <p:spPr>
          <a:xfrm>
            <a:off x="1802676" y="2192876"/>
            <a:ext cx="8643788" cy="54630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The INTERSECT statement will return only those rows which will be common to both of the SELECT statements.</a:t>
            </a:r>
            <a:endParaRPr sz="1400" b="0" i="0" u="none" strike="noStrike" cap="none">
              <a:solidFill>
                <a:srgbClr val="000000"/>
              </a:solidFill>
              <a:latin typeface="Arial"/>
              <a:ea typeface="Arial"/>
              <a:cs typeface="Arial"/>
              <a:sym typeface="Arial"/>
            </a:endParaRPr>
          </a:p>
        </p:txBody>
      </p:sp>
      <p:sp>
        <p:nvSpPr>
          <p:cNvPr id="437" name="Google Shape;43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438" name="Google Shape;43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grpSp>
        <p:nvGrpSpPr>
          <p:cNvPr id="447" name="Google Shape;447;p17"/>
          <p:cNvGrpSpPr/>
          <p:nvPr/>
        </p:nvGrpSpPr>
        <p:grpSpPr>
          <a:xfrm>
            <a:off x="1524000" y="6356604"/>
            <a:ext cx="9144000" cy="88404"/>
            <a:chOff x="0" y="0"/>
            <a:chExt cx="13004800" cy="125730"/>
          </a:xfrm>
        </p:grpSpPr>
        <p:sp>
          <p:nvSpPr>
            <p:cNvPr id="448" name="Google Shape;448;p1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49" name="Google Shape;449;p1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50" name="Google Shape;450;p17"/>
          <p:cNvSpPr txBox="1"/>
          <p:nvPr/>
        </p:nvSpPr>
        <p:spPr>
          <a:xfrm>
            <a:off x="1773567" y="3848878"/>
            <a:ext cx="6472177"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Example: </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From the above table of FRENCH and GERMAN, the Set Intersection is used as follows: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π(Student_Name)FRENCH ∩ π(Student_Name)GERMAN</a:t>
            </a:r>
            <a:endParaRPr sz="1400" b="0" i="0" u="none" strike="noStrike" cap="none">
              <a:solidFill>
                <a:srgbClr val="000000"/>
              </a:solidFill>
              <a:latin typeface="Arial"/>
              <a:ea typeface="Arial"/>
              <a:cs typeface="Arial"/>
              <a:sym typeface="Arial"/>
            </a:endParaRPr>
          </a:p>
        </p:txBody>
      </p:sp>
      <p:sp>
        <p:nvSpPr>
          <p:cNvPr id="451" name="Google Shape;451;p17"/>
          <p:cNvSpPr/>
          <p:nvPr/>
        </p:nvSpPr>
        <p:spPr>
          <a:xfrm>
            <a:off x="3140262" y="1250752"/>
            <a:ext cx="2722376" cy="2642774"/>
          </a:xfrm>
          <a:custGeom>
            <a:avLst/>
            <a:gdLst/>
            <a:ahLst/>
            <a:cxnLst/>
            <a:rect l="l" t="t" r="r" b="b"/>
            <a:pathLst>
              <a:path w="2903868" h="2818959" extrusionOk="0">
                <a:moveTo>
                  <a:pt x="0" y="0"/>
                </a:moveTo>
                <a:lnTo>
                  <a:pt x="2903867" y="0"/>
                </a:lnTo>
                <a:lnTo>
                  <a:pt x="2903867" y="2818959"/>
                </a:lnTo>
                <a:lnTo>
                  <a:pt x="0" y="2818959"/>
                </a:lnTo>
                <a:lnTo>
                  <a:pt x="0" y="0"/>
                </a:lnTo>
                <a:close/>
              </a:path>
            </a:pathLst>
          </a:custGeom>
          <a:blipFill rotWithShape="1">
            <a:blip r:embed="rId3">
              <a:alphaModFix/>
            </a:blip>
            <a:stretch>
              <a:fillRect/>
            </a:stretch>
          </a:blipFill>
          <a:ln>
            <a:noFill/>
          </a:ln>
        </p:spPr>
      </p:sp>
      <p:sp>
        <p:nvSpPr>
          <p:cNvPr id="452" name="Google Shape;452;p17"/>
          <p:cNvSpPr/>
          <p:nvPr/>
        </p:nvSpPr>
        <p:spPr>
          <a:xfrm>
            <a:off x="6594872" y="1197174"/>
            <a:ext cx="2755436" cy="2696352"/>
          </a:xfrm>
          <a:custGeom>
            <a:avLst/>
            <a:gdLst/>
            <a:ahLst/>
            <a:cxnLst/>
            <a:rect l="l" t="t" r="r" b="b"/>
            <a:pathLst>
              <a:path w="2939132" h="2876109" extrusionOk="0">
                <a:moveTo>
                  <a:pt x="0" y="0"/>
                </a:moveTo>
                <a:lnTo>
                  <a:pt x="2939132" y="0"/>
                </a:lnTo>
                <a:lnTo>
                  <a:pt x="2939132" y="2876109"/>
                </a:lnTo>
                <a:lnTo>
                  <a:pt x="0" y="2876109"/>
                </a:lnTo>
                <a:lnTo>
                  <a:pt x="0" y="0"/>
                </a:lnTo>
                <a:close/>
              </a:path>
            </a:pathLst>
          </a:custGeom>
          <a:blipFill rotWithShape="1">
            <a:blip r:embed="rId4">
              <a:alphaModFix/>
            </a:blip>
            <a:stretch>
              <a:fillRect/>
            </a:stretch>
          </a:blipFill>
          <a:ln>
            <a:noFill/>
          </a:ln>
        </p:spPr>
      </p:sp>
      <p:sp>
        <p:nvSpPr>
          <p:cNvPr id="453" name="Google Shape;453;p17"/>
          <p:cNvSpPr/>
          <p:nvPr/>
        </p:nvSpPr>
        <p:spPr>
          <a:xfrm>
            <a:off x="8525499" y="4218096"/>
            <a:ext cx="1649618" cy="1954104"/>
          </a:xfrm>
          <a:custGeom>
            <a:avLst/>
            <a:gdLst/>
            <a:ahLst/>
            <a:cxnLst/>
            <a:rect l="l" t="t" r="r" b="b"/>
            <a:pathLst>
              <a:path w="1759592" h="2084378" extrusionOk="0">
                <a:moveTo>
                  <a:pt x="0" y="0"/>
                </a:moveTo>
                <a:lnTo>
                  <a:pt x="1759592" y="0"/>
                </a:lnTo>
                <a:lnTo>
                  <a:pt x="1759592" y="2084378"/>
                </a:lnTo>
                <a:lnTo>
                  <a:pt x="0" y="2084378"/>
                </a:lnTo>
                <a:lnTo>
                  <a:pt x="0" y="0"/>
                </a:lnTo>
                <a:close/>
              </a:path>
            </a:pathLst>
          </a:custGeom>
          <a:blipFill rotWithShape="1">
            <a:blip r:embed="rId5">
              <a:alphaModFix/>
            </a:blip>
            <a:stretch>
              <a:fillRect l="-4225" r="-11097" b="-4203"/>
            </a:stretch>
          </a:blipFill>
          <a:ln>
            <a:noFill/>
          </a:ln>
        </p:spPr>
      </p:sp>
      <p:sp>
        <p:nvSpPr>
          <p:cNvPr id="454" name="Google Shape;454;p17"/>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455" name="Google Shape;45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456" name="Google Shape;45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grpSp>
        <p:nvGrpSpPr>
          <p:cNvPr id="465" name="Google Shape;465;p18"/>
          <p:cNvGrpSpPr/>
          <p:nvPr/>
        </p:nvGrpSpPr>
        <p:grpSpPr>
          <a:xfrm>
            <a:off x="1524000" y="6356604"/>
            <a:ext cx="9144000" cy="88404"/>
            <a:chOff x="0" y="0"/>
            <a:chExt cx="13004800" cy="125730"/>
          </a:xfrm>
        </p:grpSpPr>
        <p:sp>
          <p:nvSpPr>
            <p:cNvPr id="466" name="Google Shape;466;p1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67" name="Google Shape;467;p1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68" name="Google Shape;468;p18"/>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469" name="Google Shape;469;p18"/>
          <p:cNvSpPr txBox="1"/>
          <p:nvPr/>
        </p:nvSpPr>
        <p:spPr>
          <a:xfrm>
            <a:off x="1801597" y="1681815"/>
            <a:ext cx="8597544"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6. Rename(ρ):</a:t>
            </a:r>
            <a:r>
              <a:rPr lang="en-US" sz="1875" b="0" i="0" u="none" strike="noStrike" cap="none">
                <a:solidFill>
                  <a:srgbClr val="000000"/>
                </a:solidFill>
                <a:latin typeface="Arial"/>
                <a:ea typeface="Arial"/>
                <a:cs typeface="Arial"/>
                <a:sym typeface="Arial"/>
              </a:rPr>
              <a:t> Rename operator basically allows you to give a temporary name to a specific relational table or to its columns. It is very useful when we want to avoid ambiguity, especially in complex Queries. Rename is a unary operation used for renaming attributes of a relation</a:t>
            </a:r>
            <a:endParaRPr sz="1400" b="0" i="0" u="none" strike="noStrike" cap="none">
              <a:solidFill>
                <a:srgbClr val="000000"/>
              </a:solidFill>
              <a:latin typeface="Arial"/>
              <a:ea typeface="Arial"/>
              <a:cs typeface="Arial"/>
              <a:sym typeface="Arial"/>
            </a:endParaRPr>
          </a:p>
        </p:txBody>
      </p:sp>
      <p:grpSp>
        <p:nvGrpSpPr>
          <p:cNvPr id="470" name="Google Shape;470;p18"/>
          <p:cNvGrpSpPr/>
          <p:nvPr/>
        </p:nvGrpSpPr>
        <p:grpSpPr>
          <a:xfrm>
            <a:off x="6620733" y="4012545"/>
            <a:ext cx="3909530" cy="1456299"/>
            <a:chOff x="0" y="0"/>
            <a:chExt cx="5560220" cy="2071182"/>
          </a:xfrm>
        </p:grpSpPr>
        <p:sp>
          <p:nvSpPr>
            <p:cNvPr id="471" name="Google Shape;471;p18"/>
            <p:cNvSpPr/>
            <p:nvPr/>
          </p:nvSpPr>
          <p:spPr>
            <a:xfrm>
              <a:off x="0" y="0"/>
              <a:ext cx="5560220" cy="2071182"/>
            </a:xfrm>
            <a:custGeom>
              <a:avLst/>
              <a:gdLst/>
              <a:ahLst/>
              <a:cxnLst/>
              <a:rect l="l" t="t" r="r" b="b"/>
              <a:pathLst>
                <a:path w="5560220" h="2071182" extrusionOk="0">
                  <a:moveTo>
                    <a:pt x="0" y="0"/>
                  </a:moveTo>
                  <a:lnTo>
                    <a:pt x="5560220" y="0"/>
                  </a:lnTo>
                  <a:lnTo>
                    <a:pt x="5560220" y="2071182"/>
                  </a:lnTo>
                  <a:lnTo>
                    <a:pt x="0" y="2071182"/>
                  </a:lnTo>
                  <a:lnTo>
                    <a:pt x="0" y="0"/>
                  </a:lnTo>
                  <a:close/>
                </a:path>
              </a:pathLst>
            </a:custGeom>
            <a:blipFill rotWithShape="1">
              <a:blip r:embed="rId3">
                <a:alphaModFix/>
              </a:blip>
              <a:stretch>
                <a:fillRect/>
              </a:stretch>
            </a:blipFill>
            <a:ln>
              <a:noFill/>
            </a:ln>
          </p:spPr>
        </p:sp>
        <p:sp>
          <p:nvSpPr>
            <p:cNvPr id="472" name="Google Shape;472;p18"/>
            <p:cNvSpPr/>
            <p:nvPr/>
          </p:nvSpPr>
          <p:spPr>
            <a:xfrm>
              <a:off x="2481472" y="852992"/>
              <a:ext cx="597275" cy="953732"/>
            </a:xfrm>
            <a:custGeom>
              <a:avLst/>
              <a:gdLst/>
              <a:ahLst/>
              <a:cxnLst/>
              <a:rect l="l" t="t" r="r" b="b"/>
              <a:pathLst>
                <a:path w="597275" h="953732" extrusionOk="0">
                  <a:moveTo>
                    <a:pt x="0" y="0"/>
                  </a:moveTo>
                  <a:lnTo>
                    <a:pt x="597275" y="0"/>
                  </a:lnTo>
                  <a:lnTo>
                    <a:pt x="597275" y="953732"/>
                  </a:lnTo>
                  <a:lnTo>
                    <a:pt x="0" y="953732"/>
                  </a:lnTo>
                  <a:lnTo>
                    <a:pt x="0" y="0"/>
                  </a:lnTo>
                  <a:close/>
                </a:path>
              </a:pathLst>
            </a:custGeom>
            <a:blipFill rotWithShape="1">
              <a:blip r:embed="rId4">
                <a:alphaModFix/>
              </a:blip>
              <a:stretch>
                <a:fillRect/>
              </a:stretch>
            </a:blipFill>
            <a:ln>
              <a:noFill/>
            </a:ln>
          </p:spPr>
        </p:sp>
        <p:sp>
          <p:nvSpPr>
            <p:cNvPr id="473" name="Google Shape;473;p18"/>
            <p:cNvSpPr txBox="1"/>
            <p:nvPr/>
          </p:nvSpPr>
          <p:spPr>
            <a:xfrm>
              <a:off x="172035" y="192397"/>
              <a:ext cx="5216152" cy="674829"/>
            </a:xfrm>
            <a:prstGeom prst="rect">
              <a:avLst/>
            </a:prstGeom>
            <a:noFill/>
            <a:ln>
              <a:noFill/>
            </a:ln>
          </p:spPr>
          <p:txBody>
            <a:bodyPr spcFirstLastPara="1" wrap="square" lIns="0" tIns="0" rIns="0" bIns="0" anchor="t" anchorCtr="0">
              <a:spAutoFit/>
            </a:bodyPr>
            <a:lstStyle/>
            <a:p>
              <a:pPr marL="0" marR="0" lvl="0" indent="0" algn="ctr" rtl="0">
                <a:lnSpc>
                  <a:spcPct val="120012"/>
                </a:lnSpc>
                <a:spcBef>
                  <a:spcPts val="0"/>
                </a:spcBef>
                <a:spcAft>
                  <a:spcPts val="0"/>
                </a:spcAft>
                <a:buClr>
                  <a:srgbClr val="000000"/>
                </a:buClr>
                <a:buSzPts val="3088"/>
                <a:buFont typeface="Arial"/>
                <a:buNone/>
              </a:pPr>
              <a:r>
                <a:rPr lang="en-US" sz="3088" b="0" i="0" u="none" strike="noStrike" cap="none">
                  <a:solidFill>
                    <a:srgbClr val="000000"/>
                  </a:solidFill>
                  <a:latin typeface="Arial"/>
                  <a:ea typeface="Arial"/>
                  <a:cs typeface="Arial"/>
                  <a:sym typeface="Arial"/>
                </a:rPr>
                <a:t>RENAME</a:t>
              </a:r>
              <a:endParaRPr sz="1400" b="0" i="0" u="none" strike="noStrike" cap="none">
                <a:solidFill>
                  <a:srgbClr val="000000"/>
                </a:solidFill>
                <a:latin typeface="Arial"/>
                <a:ea typeface="Arial"/>
                <a:cs typeface="Arial"/>
                <a:sym typeface="Arial"/>
              </a:endParaRPr>
            </a:p>
          </p:txBody>
        </p:sp>
      </p:grpSp>
      <p:sp>
        <p:nvSpPr>
          <p:cNvPr id="474" name="Google Shape;474;p18"/>
          <p:cNvSpPr txBox="1"/>
          <p:nvPr/>
        </p:nvSpPr>
        <p:spPr>
          <a:xfrm>
            <a:off x="1801597" y="3030279"/>
            <a:ext cx="4572000" cy="195694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Notation:</a:t>
            </a:r>
            <a:r>
              <a:rPr lang="en-US" sz="1800" b="0" i="0" u="none" strike="noStrike" cap="none">
                <a:solidFill>
                  <a:srgbClr val="000000"/>
                </a:solidFill>
                <a:latin typeface="Arial"/>
                <a:ea typeface="Arial"/>
                <a:cs typeface="Arial"/>
                <a:sym typeface="Arial"/>
              </a:rPr>
              <a:t> ρ X (R)</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where the symbol ‘ρ’ is used to denote the RENAME operator and R is the result of the sequence of operation or expression which is saved with the name X.</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75" name="Google Shape;47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476" name="Google Shape;47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grpSp>
        <p:nvGrpSpPr>
          <p:cNvPr id="485" name="Google Shape;485;p19"/>
          <p:cNvGrpSpPr/>
          <p:nvPr/>
        </p:nvGrpSpPr>
        <p:grpSpPr>
          <a:xfrm>
            <a:off x="1524000" y="6356604"/>
            <a:ext cx="9144000" cy="88404"/>
            <a:chOff x="0" y="0"/>
            <a:chExt cx="13004800" cy="125730"/>
          </a:xfrm>
        </p:grpSpPr>
        <p:sp>
          <p:nvSpPr>
            <p:cNvPr id="486" name="Google Shape;486;p1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87" name="Google Shape;487;p1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88" name="Google Shape;488;p19"/>
          <p:cNvSpPr/>
          <p:nvPr/>
        </p:nvSpPr>
        <p:spPr>
          <a:xfrm>
            <a:off x="8496817" y="1726462"/>
            <a:ext cx="2041834" cy="2440478"/>
          </a:xfrm>
          <a:custGeom>
            <a:avLst/>
            <a:gdLst/>
            <a:ahLst/>
            <a:cxnLst/>
            <a:rect l="l" t="t" r="r" b="b"/>
            <a:pathLst>
              <a:path w="2177956" h="2603176" extrusionOk="0">
                <a:moveTo>
                  <a:pt x="0" y="0"/>
                </a:moveTo>
                <a:lnTo>
                  <a:pt x="2177956" y="0"/>
                </a:lnTo>
                <a:lnTo>
                  <a:pt x="2177956" y="2603176"/>
                </a:lnTo>
                <a:lnTo>
                  <a:pt x="0" y="2603176"/>
                </a:lnTo>
                <a:lnTo>
                  <a:pt x="0" y="0"/>
                </a:lnTo>
                <a:close/>
              </a:path>
            </a:pathLst>
          </a:custGeom>
          <a:blipFill rotWithShape="1">
            <a:blip r:embed="rId3">
              <a:alphaModFix/>
            </a:blip>
            <a:stretch>
              <a:fillRect/>
            </a:stretch>
          </a:blipFill>
          <a:ln>
            <a:noFill/>
          </a:ln>
        </p:spPr>
      </p:sp>
      <p:sp>
        <p:nvSpPr>
          <p:cNvPr id="489" name="Google Shape;489;p19"/>
          <p:cNvSpPr/>
          <p:nvPr/>
        </p:nvSpPr>
        <p:spPr>
          <a:xfrm>
            <a:off x="1801597" y="2946701"/>
            <a:ext cx="6695221" cy="391646"/>
          </a:xfrm>
          <a:custGeom>
            <a:avLst/>
            <a:gdLst/>
            <a:ahLst/>
            <a:cxnLst/>
            <a:rect l="l" t="t" r="r" b="b"/>
            <a:pathLst>
              <a:path w="7141569" h="417756" extrusionOk="0">
                <a:moveTo>
                  <a:pt x="0" y="0"/>
                </a:moveTo>
                <a:lnTo>
                  <a:pt x="7141569" y="0"/>
                </a:lnTo>
                <a:lnTo>
                  <a:pt x="7141569" y="417756"/>
                </a:lnTo>
                <a:lnTo>
                  <a:pt x="0" y="417756"/>
                </a:lnTo>
                <a:lnTo>
                  <a:pt x="0" y="0"/>
                </a:lnTo>
                <a:close/>
              </a:path>
            </a:pathLst>
          </a:custGeom>
          <a:blipFill rotWithShape="1">
            <a:blip r:embed="rId4">
              <a:alphaModFix/>
            </a:blip>
            <a:stretch>
              <a:fillRect b="-9874"/>
            </a:stretch>
          </a:blipFill>
          <a:ln>
            <a:noFill/>
          </a:ln>
        </p:spPr>
      </p:sp>
      <p:sp>
        <p:nvSpPr>
          <p:cNvPr id="490" name="Google Shape;490;p19"/>
          <p:cNvSpPr/>
          <p:nvPr/>
        </p:nvSpPr>
        <p:spPr>
          <a:xfrm>
            <a:off x="2083160" y="4883461"/>
            <a:ext cx="4642739" cy="667643"/>
          </a:xfrm>
          <a:custGeom>
            <a:avLst/>
            <a:gdLst/>
            <a:ahLst/>
            <a:cxnLst/>
            <a:rect l="l" t="t" r="r" b="b"/>
            <a:pathLst>
              <a:path w="4952255" h="712152" extrusionOk="0">
                <a:moveTo>
                  <a:pt x="0" y="0"/>
                </a:moveTo>
                <a:lnTo>
                  <a:pt x="4952255" y="0"/>
                </a:lnTo>
                <a:lnTo>
                  <a:pt x="4952255" y="712153"/>
                </a:lnTo>
                <a:lnTo>
                  <a:pt x="0" y="712153"/>
                </a:lnTo>
                <a:lnTo>
                  <a:pt x="0" y="0"/>
                </a:lnTo>
                <a:close/>
              </a:path>
            </a:pathLst>
          </a:custGeom>
          <a:blipFill rotWithShape="1">
            <a:blip r:embed="rId5">
              <a:alphaModFix/>
            </a:blip>
            <a:stretch>
              <a:fillRect t="-38629" b="-6632"/>
            </a:stretch>
          </a:blipFill>
          <a:ln>
            <a:noFill/>
          </a:ln>
        </p:spPr>
      </p:sp>
      <p:sp>
        <p:nvSpPr>
          <p:cNvPr id="491" name="Google Shape;491;p19"/>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492" name="Google Shape;492;p19"/>
          <p:cNvSpPr txBox="1"/>
          <p:nvPr/>
        </p:nvSpPr>
        <p:spPr>
          <a:xfrm>
            <a:off x="1801597" y="1681815"/>
            <a:ext cx="6444146"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Example-1: </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Query to rename the relation Student as Male Student and the attributes of Student – RollNo, SName as (Sno, Name).</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endParaRPr sz="1875" b="0" i="0" u="none" strike="noStrike" cap="none">
              <a:solidFill>
                <a:srgbClr val="000000"/>
              </a:solidFill>
              <a:latin typeface="Arial"/>
              <a:ea typeface="Arial"/>
              <a:cs typeface="Arial"/>
              <a:sym typeface="Arial"/>
            </a:endParaRPr>
          </a:p>
        </p:txBody>
      </p:sp>
      <p:sp>
        <p:nvSpPr>
          <p:cNvPr id="493" name="Google Shape;493;p19"/>
          <p:cNvSpPr txBox="1"/>
          <p:nvPr/>
        </p:nvSpPr>
        <p:spPr>
          <a:xfrm>
            <a:off x="1801597" y="3890161"/>
            <a:ext cx="6444146" cy="82843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Example-2: </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Query to rename the attributes Name, Age of table Department to A,B.</a:t>
            </a:r>
            <a:endParaRPr sz="1400" b="0" i="0" u="none" strike="noStrike" cap="none">
              <a:solidFill>
                <a:srgbClr val="000000"/>
              </a:solidFill>
              <a:latin typeface="Arial"/>
              <a:ea typeface="Arial"/>
              <a:cs typeface="Arial"/>
              <a:sym typeface="Arial"/>
            </a:endParaRPr>
          </a:p>
        </p:txBody>
      </p:sp>
      <p:sp>
        <p:nvSpPr>
          <p:cNvPr id="494" name="Google Shape;49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495" name="Google Shape;49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pSp>
        <p:nvGrpSpPr>
          <p:cNvPr id="504" name="Google Shape;504;p20"/>
          <p:cNvGrpSpPr/>
          <p:nvPr/>
        </p:nvGrpSpPr>
        <p:grpSpPr>
          <a:xfrm>
            <a:off x="1524000" y="6356604"/>
            <a:ext cx="9144000" cy="88404"/>
            <a:chOff x="0" y="0"/>
            <a:chExt cx="13004800" cy="125730"/>
          </a:xfrm>
        </p:grpSpPr>
        <p:sp>
          <p:nvSpPr>
            <p:cNvPr id="505" name="Google Shape;505;p2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06" name="Google Shape;506;p2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07" name="Google Shape;507;p20"/>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508" name="Google Shape;508;p20"/>
          <p:cNvSpPr txBox="1"/>
          <p:nvPr/>
        </p:nvSpPr>
        <p:spPr>
          <a:xfrm>
            <a:off x="1797228" y="1626997"/>
            <a:ext cx="8597544"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7. Cross Product(X):</a:t>
            </a:r>
            <a:r>
              <a:rPr lang="en-US" sz="1875" b="0" i="0" u="none" strike="noStrike" cap="none">
                <a:solidFill>
                  <a:srgbClr val="000000"/>
                </a:solidFill>
                <a:latin typeface="Arial"/>
                <a:ea typeface="Arial"/>
                <a:cs typeface="Arial"/>
                <a:sym typeface="Arial"/>
              </a:rPr>
              <a:t> Cartesian product Operator combines every row of one table with every row of another table , producing all the possible combination. It’s mostly used as a precursor to more complex operation like joins.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Cross-product between two relations. Let’s say A and B, so the cross product between A X B will result in all the attributes of A followed by each attribute of B. Each record of A will pair with every record of B.</a:t>
            </a:r>
            <a:endParaRPr sz="1400" b="0" i="0" u="none" strike="noStrike" cap="none">
              <a:solidFill>
                <a:srgbClr val="000000"/>
              </a:solidFill>
              <a:latin typeface="Arial"/>
              <a:ea typeface="Arial"/>
              <a:cs typeface="Arial"/>
              <a:sym typeface="Arial"/>
            </a:endParaRPr>
          </a:p>
        </p:txBody>
      </p:sp>
      <p:sp>
        <p:nvSpPr>
          <p:cNvPr id="509" name="Google Shape;509;p20"/>
          <p:cNvSpPr/>
          <p:nvPr/>
        </p:nvSpPr>
        <p:spPr>
          <a:xfrm>
            <a:off x="6620725" y="4012551"/>
            <a:ext cx="3909530" cy="1751443"/>
          </a:xfrm>
          <a:custGeom>
            <a:avLst/>
            <a:gdLst/>
            <a:ahLst/>
            <a:cxnLst/>
            <a:rect l="l" t="t" r="r" b="b"/>
            <a:pathLst>
              <a:path w="4170165" h="1553386" extrusionOk="0">
                <a:moveTo>
                  <a:pt x="0" y="0"/>
                </a:moveTo>
                <a:lnTo>
                  <a:pt x="4170165" y="0"/>
                </a:lnTo>
                <a:lnTo>
                  <a:pt x="4170165" y="1553387"/>
                </a:lnTo>
                <a:lnTo>
                  <a:pt x="0" y="1553387"/>
                </a:lnTo>
                <a:lnTo>
                  <a:pt x="0" y="0"/>
                </a:lnTo>
                <a:close/>
              </a:path>
            </a:pathLst>
          </a:custGeom>
          <a:blipFill rotWithShape="1">
            <a:blip r:embed="rId3">
              <a:alphaModFix/>
            </a:blip>
            <a:stretch>
              <a:fillRect/>
            </a:stretch>
          </a:blipFill>
          <a:ln>
            <a:noFill/>
          </a:ln>
        </p:spPr>
      </p:sp>
      <p:sp>
        <p:nvSpPr>
          <p:cNvPr id="510" name="Google Shape;510;p20"/>
          <p:cNvSpPr txBox="1"/>
          <p:nvPr/>
        </p:nvSpPr>
        <p:spPr>
          <a:xfrm>
            <a:off x="6741695" y="4012546"/>
            <a:ext cx="3667607" cy="474489"/>
          </a:xfrm>
          <a:prstGeom prst="rect">
            <a:avLst/>
          </a:prstGeom>
          <a:noFill/>
          <a:ln>
            <a:noFill/>
          </a:ln>
        </p:spPr>
        <p:txBody>
          <a:bodyPr spcFirstLastPara="1" wrap="square" lIns="0" tIns="0" rIns="0" bIns="0" anchor="t" anchorCtr="0">
            <a:spAutoFit/>
          </a:bodyPr>
          <a:lstStyle/>
          <a:p>
            <a:pPr marL="0" marR="0" lvl="0" indent="0" algn="ctr" rtl="0">
              <a:lnSpc>
                <a:spcPct val="120012"/>
              </a:lnSpc>
              <a:spcBef>
                <a:spcPts val="0"/>
              </a:spcBef>
              <a:spcAft>
                <a:spcPts val="0"/>
              </a:spcAft>
              <a:buClr>
                <a:srgbClr val="000000"/>
              </a:buClr>
              <a:buSzPts val="3088"/>
              <a:buFont typeface="Arial"/>
              <a:buNone/>
            </a:pPr>
            <a:r>
              <a:rPr lang="en-US" sz="3088" b="0" i="0" u="none" strike="noStrike" cap="none">
                <a:solidFill>
                  <a:srgbClr val="000000"/>
                </a:solidFill>
                <a:latin typeface="Arial"/>
                <a:ea typeface="Arial"/>
                <a:cs typeface="Arial"/>
                <a:sym typeface="Arial"/>
              </a:rPr>
              <a:t>CROSS PRODUCT</a:t>
            </a:r>
            <a:endParaRPr sz="1400" b="0" i="0" u="none" strike="noStrike" cap="none">
              <a:solidFill>
                <a:srgbClr val="000000"/>
              </a:solidFill>
              <a:latin typeface="Arial"/>
              <a:ea typeface="Arial"/>
              <a:cs typeface="Arial"/>
              <a:sym typeface="Arial"/>
            </a:endParaRPr>
          </a:p>
        </p:txBody>
      </p:sp>
      <p:sp>
        <p:nvSpPr>
          <p:cNvPr id="511" name="Google Shape;511;p20"/>
          <p:cNvSpPr txBox="1"/>
          <p:nvPr/>
        </p:nvSpPr>
        <p:spPr>
          <a:xfrm>
            <a:off x="8371386" y="4176986"/>
            <a:ext cx="408224" cy="1317477"/>
          </a:xfrm>
          <a:prstGeom prst="rect">
            <a:avLst/>
          </a:prstGeom>
          <a:noFill/>
          <a:ln>
            <a:noFill/>
          </a:ln>
        </p:spPr>
        <p:txBody>
          <a:bodyPr spcFirstLastPara="1" wrap="square" lIns="0" tIns="0" rIns="0" bIns="0" anchor="t" anchorCtr="0">
            <a:spAutoFit/>
          </a:bodyPr>
          <a:lstStyle/>
          <a:p>
            <a:pPr marL="0" marR="0" lvl="0" indent="0" algn="ctr" rtl="0">
              <a:lnSpc>
                <a:spcPct val="119995"/>
              </a:lnSpc>
              <a:spcBef>
                <a:spcPts val="0"/>
              </a:spcBef>
              <a:spcAft>
                <a:spcPts val="0"/>
              </a:spcAft>
              <a:buClr>
                <a:srgbClr val="000000"/>
              </a:buClr>
              <a:buSzPts val="4386"/>
              <a:buFont typeface="Arial"/>
              <a:buNone/>
            </a:pPr>
            <a:r>
              <a:rPr lang="en-US" sz="4386" b="1" i="0" u="none" strike="noStrike" cap="none">
                <a:solidFill>
                  <a:srgbClr val="000000"/>
                </a:solidFill>
                <a:latin typeface="Arial"/>
                <a:ea typeface="Arial"/>
                <a:cs typeface="Arial"/>
                <a:sym typeface="Arial"/>
              </a:rPr>
              <a:t> X</a:t>
            </a:r>
            <a:endParaRPr sz="1400" b="0" i="0" u="none" strike="noStrike" cap="none">
              <a:solidFill>
                <a:srgbClr val="000000"/>
              </a:solidFill>
              <a:latin typeface="Arial"/>
              <a:ea typeface="Arial"/>
              <a:cs typeface="Arial"/>
              <a:sym typeface="Arial"/>
            </a:endParaRPr>
          </a:p>
        </p:txBody>
      </p:sp>
      <p:sp>
        <p:nvSpPr>
          <p:cNvPr id="512" name="Google Shape;512;p20"/>
          <p:cNvSpPr txBox="1"/>
          <p:nvPr/>
        </p:nvSpPr>
        <p:spPr>
          <a:xfrm>
            <a:off x="1366295" y="3670183"/>
            <a:ext cx="25065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Notation:</a:t>
            </a:r>
            <a:r>
              <a:rPr lang="en-US" sz="1800" b="0" i="0" u="none" strike="noStrike" cap="none">
                <a:solidFill>
                  <a:srgbClr val="000000"/>
                </a:solidFill>
                <a:latin typeface="Arial"/>
                <a:ea typeface="Arial"/>
                <a:cs typeface="Arial"/>
                <a:sym typeface="Arial"/>
              </a:rPr>
              <a:t> A ✕ S</a:t>
            </a:r>
            <a:endParaRPr sz="1400" b="0" i="0" u="none" strike="noStrike" cap="none">
              <a:solidFill>
                <a:srgbClr val="000000"/>
              </a:solidFill>
              <a:latin typeface="Arial"/>
              <a:ea typeface="Arial"/>
              <a:cs typeface="Arial"/>
              <a:sym typeface="Arial"/>
            </a:endParaRPr>
          </a:p>
        </p:txBody>
      </p:sp>
      <p:sp>
        <p:nvSpPr>
          <p:cNvPr id="513" name="Google Shape;513;p20"/>
          <p:cNvSpPr txBox="1"/>
          <p:nvPr/>
        </p:nvSpPr>
        <p:spPr>
          <a:xfrm>
            <a:off x="1797228" y="4027481"/>
            <a:ext cx="4453184"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where A and S are the relations,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the symbol ‘✕’ is used to denote the CROSS PRODUCT operator.</a:t>
            </a:r>
            <a:endParaRPr sz="1400" b="0" i="0" u="none" strike="noStrike" cap="none">
              <a:solidFill>
                <a:srgbClr val="000000"/>
              </a:solidFill>
              <a:latin typeface="Arial"/>
              <a:ea typeface="Arial"/>
              <a:cs typeface="Arial"/>
              <a:sym typeface="Arial"/>
            </a:endParaRPr>
          </a:p>
        </p:txBody>
      </p:sp>
      <p:sp>
        <p:nvSpPr>
          <p:cNvPr id="514" name="Google Shape;51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515" name="Google Shape;51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grpSp>
        <p:nvGrpSpPr>
          <p:cNvPr id="524" name="Google Shape;524;p21"/>
          <p:cNvGrpSpPr/>
          <p:nvPr/>
        </p:nvGrpSpPr>
        <p:grpSpPr>
          <a:xfrm>
            <a:off x="1524000" y="6356604"/>
            <a:ext cx="9144000" cy="88404"/>
            <a:chOff x="0" y="0"/>
            <a:chExt cx="13004800" cy="125730"/>
          </a:xfrm>
        </p:grpSpPr>
        <p:sp>
          <p:nvSpPr>
            <p:cNvPr id="525" name="Google Shape;525;p2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26" name="Google Shape;526;p2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27" name="Google Shape;527;p21"/>
          <p:cNvSpPr/>
          <p:nvPr/>
        </p:nvSpPr>
        <p:spPr>
          <a:xfrm>
            <a:off x="1699780" y="2240133"/>
            <a:ext cx="2216965" cy="1871680"/>
          </a:xfrm>
          <a:custGeom>
            <a:avLst/>
            <a:gdLst/>
            <a:ahLst/>
            <a:cxnLst/>
            <a:rect l="l" t="t" r="r" b="b"/>
            <a:pathLst>
              <a:path w="2364763" h="1996459" extrusionOk="0">
                <a:moveTo>
                  <a:pt x="0" y="0"/>
                </a:moveTo>
                <a:lnTo>
                  <a:pt x="2364762" y="0"/>
                </a:lnTo>
                <a:lnTo>
                  <a:pt x="2364762" y="1996459"/>
                </a:lnTo>
                <a:lnTo>
                  <a:pt x="0" y="1996459"/>
                </a:lnTo>
                <a:lnTo>
                  <a:pt x="0" y="0"/>
                </a:lnTo>
                <a:close/>
              </a:path>
            </a:pathLst>
          </a:custGeom>
          <a:blipFill rotWithShape="1">
            <a:blip r:embed="rId3">
              <a:alphaModFix/>
            </a:blip>
            <a:stretch>
              <a:fillRect b="-3413"/>
            </a:stretch>
          </a:blipFill>
          <a:ln>
            <a:noFill/>
          </a:ln>
        </p:spPr>
      </p:sp>
      <p:sp>
        <p:nvSpPr>
          <p:cNvPr id="528" name="Google Shape;528;p21"/>
          <p:cNvSpPr/>
          <p:nvPr/>
        </p:nvSpPr>
        <p:spPr>
          <a:xfrm>
            <a:off x="1779205" y="4733323"/>
            <a:ext cx="1899128" cy="1556825"/>
          </a:xfrm>
          <a:custGeom>
            <a:avLst/>
            <a:gdLst/>
            <a:ahLst/>
            <a:cxnLst/>
            <a:rect l="l" t="t" r="r" b="b"/>
            <a:pathLst>
              <a:path w="2025736" h="1660613" extrusionOk="0">
                <a:moveTo>
                  <a:pt x="0" y="0"/>
                </a:moveTo>
                <a:lnTo>
                  <a:pt x="2025736" y="0"/>
                </a:lnTo>
                <a:lnTo>
                  <a:pt x="2025736" y="1660613"/>
                </a:lnTo>
                <a:lnTo>
                  <a:pt x="0" y="1660613"/>
                </a:lnTo>
                <a:lnTo>
                  <a:pt x="0" y="0"/>
                </a:lnTo>
                <a:close/>
              </a:path>
            </a:pathLst>
          </a:custGeom>
          <a:blipFill rotWithShape="1">
            <a:blip r:embed="rId4">
              <a:alphaModFix/>
            </a:blip>
            <a:stretch>
              <a:fillRect t="-9175" b="-8533"/>
            </a:stretch>
          </a:blipFill>
          <a:ln>
            <a:noFill/>
          </a:ln>
        </p:spPr>
      </p:sp>
      <p:sp>
        <p:nvSpPr>
          <p:cNvPr id="529" name="Google Shape;529;p21"/>
          <p:cNvSpPr/>
          <p:nvPr/>
        </p:nvSpPr>
        <p:spPr>
          <a:xfrm>
            <a:off x="6113232" y="1975111"/>
            <a:ext cx="4265024" cy="3810608"/>
          </a:xfrm>
          <a:custGeom>
            <a:avLst/>
            <a:gdLst/>
            <a:ahLst/>
            <a:cxnLst/>
            <a:rect l="l" t="t" r="r" b="b"/>
            <a:pathLst>
              <a:path w="4549359" h="4064648" extrusionOk="0">
                <a:moveTo>
                  <a:pt x="0" y="0"/>
                </a:moveTo>
                <a:lnTo>
                  <a:pt x="4549359" y="0"/>
                </a:lnTo>
                <a:lnTo>
                  <a:pt x="4549359" y="4064648"/>
                </a:lnTo>
                <a:lnTo>
                  <a:pt x="0" y="4064648"/>
                </a:lnTo>
                <a:lnTo>
                  <a:pt x="0" y="0"/>
                </a:lnTo>
                <a:close/>
              </a:path>
            </a:pathLst>
          </a:custGeom>
          <a:blipFill rotWithShape="1">
            <a:blip r:embed="rId5">
              <a:alphaModFix/>
            </a:blip>
            <a:stretch>
              <a:fillRect/>
            </a:stretch>
          </a:blipFill>
          <a:ln>
            <a:noFill/>
          </a:ln>
        </p:spPr>
      </p:sp>
      <p:sp>
        <p:nvSpPr>
          <p:cNvPr id="530" name="Google Shape;530;p21"/>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531" name="Google Shape;531;p21"/>
          <p:cNvSpPr txBox="1"/>
          <p:nvPr/>
        </p:nvSpPr>
        <p:spPr>
          <a:xfrm>
            <a:off x="1683265" y="1492888"/>
            <a:ext cx="1124996"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Example: </a:t>
            </a:r>
            <a:endParaRPr sz="1400" b="0" i="0" u="none" strike="noStrike" cap="none">
              <a:solidFill>
                <a:srgbClr val="000000"/>
              </a:solidFill>
              <a:latin typeface="Arial"/>
              <a:ea typeface="Arial"/>
              <a:cs typeface="Arial"/>
              <a:sym typeface="Arial"/>
            </a:endParaRPr>
          </a:p>
        </p:txBody>
      </p:sp>
      <p:sp>
        <p:nvSpPr>
          <p:cNvPr id="532" name="Google Shape;532;p21"/>
          <p:cNvSpPr txBox="1"/>
          <p:nvPr/>
        </p:nvSpPr>
        <p:spPr>
          <a:xfrm>
            <a:off x="6195529" y="1492888"/>
            <a:ext cx="925938"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Output: </a:t>
            </a:r>
            <a:endParaRPr sz="1400" b="0" i="0" u="none" strike="noStrike" cap="none">
              <a:solidFill>
                <a:srgbClr val="000000"/>
              </a:solidFill>
              <a:latin typeface="Arial"/>
              <a:ea typeface="Arial"/>
              <a:cs typeface="Arial"/>
              <a:sym typeface="Arial"/>
            </a:endParaRPr>
          </a:p>
        </p:txBody>
      </p:sp>
      <p:sp>
        <p:nvSpPr>
          <p:cNvPr id="533" name="Google Shape;533;p21"/>
          <p:cNvSpPr txBox="1"/>
          <p:nvPr/>
        </p:nvSpPr>
        <p:spPr>
          <a:xfrm>
            <a:off x="1779205" y="1909714"/>
            <a:ext cx="966143"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Table 1: </a:t>
            </a:r>
            <a:endParaRPr sz="1400" b="0" i="0" u="none" strike="noStrike" cap="none">
              <a:solidFill>
                <a:srgbClr val="000000"/>
              </a:solidFill>
              <a:latin typeface="Arial"/>
              <a:ea typeface="Arial"/>
              <a:cs typeface="Arial"/>
              <a:sym typeface="Arial"/>
            </a:endParaRPr>
          </a:p>
        </p:txBody>
      </p:sp>
      <p:sp>
        <p:nvSpPr>
          <p:cNvPr id="534" name="Google Shape;534;p21"/>
          <p:cNvSpPr txBox="1"/>
          <p:nvPr/>
        </p:nvSpPr>
        <p:spPr>
          <a:xfrm>
            <a:off x="1779205" y="4336449"/>
            <a:ext cx="966143"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Table 2: </a:t>
            </a:r>
            <a:endParaRPr sz="1400" b="0" i="0" u="none" strike="noStrike" cap="none">
              <a:solidFill>
                <a:srgbClr val="000000"/>
              </a:solidFill>
              <a:latin typeface="Arial"/>
              <a:ea typeface="Arial"/>
              <a:cs typeface="Arial"/>
              <a:sym typeface="Arial"/>
            </a:endParaRPr>
          </a:p>
        </p:txBody>
      </p:sp>
      <p:sp>
        <p:nvSpPr>
          <p:cNvPr id="535" name="Google Shape;53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536" name="Google Shape;53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grpSp>
        <p:nvGrpSpPr>
          <p:cNvPr id="545" name="Google Shape;545;p22"/>
          <p:cNvGrpSpPr/>
          <p:nvPr/>
        </p:nvGrpSpPr>
        <p:grpSpPr>
          <a:xfrm>
            <a:off x="1524000" y="6356604"/>
            <a:ext cx="9144000" cy="88404"/>
            <a:chOff x="0" y="0"/>
            <a:chExt cx="13004800" cy="125730"/>
          </a:xfrm>
        </p:grpSpPr>
        <p:sp>
          <p:nvSpPr>
            <p:cNvPr id="546" name="Google Shape;546;p2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47" name="Google Shape;547;p2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48" name="Google Shape;548;p22"/>
          <p:cNvSpPr txBox="1"/>
          <p:nvPr/>
        </p:nvSpPr>
        <p:spPr>
          <a:xfrm>
            <a:off x="4501451" y="518559"/>
            <a:ext cx="374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Algebra</a:t>
            </a:r>
            <a:endParaRPr sz="1400" b="0" i="0" u="none" strike="noStrike" cap="none">
              <a:solidFill>
                <a:srgbClr val="000000"/>
              </a:solidFill>
              <a:latin typeface="Arial"/>
              <a:ea typeface="Arial"/>
              <a:cs typeface="Arial"/>
              <a:sym typeface="Arial"/>
            </a:endParaRPr>
          </a:p>
        </p:txBody>
      </p:sp>
      <p:sp>
        <p:nvSpPr>
          <p:cNvPr id="549" name="Google Shape;549;p22"/>
          <p:cNvSpPr txBox="1"/>
          <p:nvPr/>
        </p:nvSpPr>
        <p:spPr>
          <a:xfrm>
            <a:off x="1860725" y="1211675"/>
            <a:ext cx="9016500" cy="47355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 </a:t>
            </a:r>
            <a:r>
              <a:rPr lang="en-US" sz="1800" b="1" i="0" u="none" strike="noStrike" cap="none">
                <a:solidFill>
                  <a:srgbClr val="000000"/>
                </a:solidFill>
                <a:latin typeface="Arial"/>
                <a:ea typeface="Arial"/>
                <a:cs typeface="Arial"/>
                <a:sym typeface="Arial"/>
              </a:rPr>
              <a:t>Join </a:t>
            </a:r>
            <a:r>
              <a:rPr lang="en-US" sz="1800" b="0" i="0" u="none" strike="noStrike" cap="none">
                <a:solidFill>
                  <a:srgbClr val="000000"/>
                </a:solidFill>
                <a:latin typeface="Arial"/>
                <a:ea typeface="Arial"/>
                <a:cs typeface="Arial"/>
                <a:sym typeface="Arial"/>
              </a:rPr>
              <a:t>operation is used to combine related tuples from two relations (tables) into a single relation based on a specified condition. It is one of the most commonly used operations in relational databases.</a:t>
            </a:r>
            <a:endParaRPr sz="1800"/>
          </a:p>
          <a:p>
            <a:pPr marL="0" marR="0" lvl="0" indent="0" algn="just" rtl="0">
              <a:lnSpc>
                <a:spcPct val="120000"/>
              </a:lnSpc>
              <a:spcBef>
                <a:spcPts val="0"/>
              </a:spcBef>
              <a:spcAft>
                <a:spcPts val="0"/>
              </a:spcAft>
              <a:buClr>
                <a:srgbClr val="000000"/>
              </a:buClr>
              <a:buSzPts val="1800"/>
              <a:buFont typeface="Arial"/>
              <a:buNone/>
            </a:pPr>
            <a:endParaRPr sz="1800"/>
          </a:p>
          <a:p>
            <a:pPr marL="0" lvl="0" indent="0" algn="just" rtl="0">
              <a:lnSpc>
                <a:spcPct val="120000"/>
              </a:lnSpc>
              <a:spcBef>
                <a:spcPts val="0"/>
              </a:spcBef>
              <a:spcAft>
                <a:spcPts val="0"/>
              </a:spcAft>
              <a:buClr>
                <a:schemeClr val="dk1"/>
              </a:buClr>
              <a:buSzPts val="1875"/>
              <a:buFont typeface="Arial"/>
              <a:buNone/>
            </a:pPr>
            <a:r>
              <a:rPr lang="en-US" sz="1875" b="1">
                <a:solidFill>
                  <a:schemeClr val="dk1"/>
                </a:solidFill>
              </a:rPr>
              <a:t>Types of Join:</a:t>
            </a:r>
            <a:endParaRPr sz="1875" b="1">
              <a:solidFill>
                <a:schemeClr val="dk1"/>
              </a:solidFill>
            </a:endParaRPr>
          </a:p>
          <a:p>
            <a:pPr marL="0" lvl="0" indent="0" algn="just" rtl="0">
              <a:lnSpc>
                <a:spcPct val="120000"/>
              </a:lnSpc>
              <a:spcBef>
                <a:spcPts val="0"/>
              </a:spcBef>
              <a:spcAft>
                <a:spcPts val="0"/>
              </a:spcAft>
              <a:buClr>
                <a:schemeClr val="dk1"/>
              </a:buClr>
              <a:buSzPts val="1875"/>
              <a:buFont typeface="Arial"/>
              <a:buNone/>
            </a:pPr>
            <a:endParaRPr sz="1875" b="1">
              <a:solidFill>
                <a:schemeClr val="dk1"/>
              </a:solidFill>
            </a:endParaRPr>
          </a:p>
          <a:p>
            <a:pPr marL="404812" lvl="1" indent="-202404" algn="just" rtl="0">
              <a:lnSpc>
                <a:spcPct val="120000"/>
              </a:lnSpc>
              <a:spcBef>
                <a:spcPts val="0"/>
              </a:spcBef>
              <a:spcAft>
                <a:spcPts val="0"/>
              </a:spcAft>
              <a:buClr>
                <a:schemeClr val="dk1"/>
              </a:buClr>
              <a:buSzPts val="1875"/>
              <a:buFont typeface="Arimo"/>
              <a:buAutoNum type="arabicPeriod"/>
            </a:pPr>
            <a:r>
              <a:rPr lang="en-US" sz="1875" b="1">
                <a:solidFill>
                  <a:schemeClr val="dk1"/>
                </a:solidFill>
                <a:latin typeface="Arimo"/>
                <a:ea typeface="Arimo"/>
                <a:cs typeface="Arimo"/>
                <a:sym typeface="Arimo"/>
              </a:rPr>
              <a:t>Inner Join:</a:t>
            </a:r>
            <a:r>
              <a:rPr lang="en-US" sz="1875">
                <a:solidFill>
                  <a:schemeClr val="dk1"/>
                </a:solidFill>
                <a:latin typeface="Arimo"/>
                <a:ea typeface="Arimo"/>
                <a:cs typeface="Arimo"/>
                <a:sym typeface="Arimo"/>
              </a:rPr>
              <a:t> Combines rows with matching values in both tables.</a:t>
            </a:r>
            <a:endParaRPr>
              <a:solidFill>
                <a:schemeClr val="dk1"/>
              </a:solidFill>
            </a:endParaRPr>
          </a:p>
          <a:p>
            <a:pPr marL="404812" lvl="1" indent="-202404" algn="just" rtl="0">
              <a:lnSpc>
                <a:spcPct val="120000"/>
              </a:lnSpc>
              <a:spcBef>
                <a:spcPts val="0"/>
              </a:spcBef>
              <a:spcAft>
                <a:spcPts val="0"/>
              </a:spcAft>
              <a:buClr>
                <a:schemeClr val="dk1"/>
              </a:buClr>
              <a:buSzPts val="1875"/>
              <a:buChar char="•"/>
            </a:pPr>
            <a:r>
              <a:rPr lang="en-US" sz="1875">
                <a:solidFill>
                  <a:schemeClr val="dk1"/>
                </a:solidFill>
                <a:latin typeface="Arimo"/>
                <a:ea typeface="Arimo"/>
                <a:cs typeface="Arimo"/>
                <a:sym typeface="Arimo"/>
              </a:rPr>
              <a:t>Conditional Join: Matches rows based on a specified condition.</a:t>
            </a:r>
            <a:endParaRPr>
              <a:solidFill>
                <a:schemeClr val="dk1"/>
              </a:solidFill>
            </a:endParaRPr>
          </a:p>
          <a:p>
            <a:pPr marL="404812" lvl="1" indent="-202404" algn="just" rtl="0">
              <a:lnSpc>
                <a:spcPct val="120000"/>
              </a:lnSpc>
              <a:spcBef>
                <a:spcPts val="0"/>
              </a:spcBef>
              <a:spcAft>
                <a:spcPts val="0"/>
              </a:spcAft>
              <a:buClr>
                <a:schemeClr val="dk1"/>
              </a:buClr>
              <a:buSzPts val="1875"/>
              <a:buChar char="•"/>
            </a:pPr>
            <a:r>
              <a:rPr lang="en-US" sz="1875">
                <a:solidFill>
                  <a:schemeClr val="dk1"/>
                </a:solidFill>
                <a:latin typeface="Arimo"/>
                <a:ea typeface="Arimo"/>
                <a:cs typeface="Arimo"/>
                <a:sym typeface="Arimo"/>
              </a:rPr>
              <a:t>Equi Join: Matches rows where values in specific columns are equal.</a:t>
            </a:r>
            <a:endParaRPr>
              <a:solidFill>
                <a:schemeClr val="dk1"/>
              </a:solidFill>
            </a:endParaRPr>
          </a:p>
          <a:p>
            <a:pPr marL="404812" lvl="1" indent="-202404" algn="just" rtl="0">
              <a:lnSpc>
                <a:spcPct val="120000"/>
              </a:lnSpc>
              <a:spcBef>
                <a:spcPts val="0"/>
              </a:spcBef>
              <a:spcAft>
                <a:spcPts val="0"/>
              </a:spcAft>
              <a:buClr>
                <a:schemeClr val="dk1"/>
              </a:buClr>
              <a:buSzPts val="1875"/>
              <a:buChar char="•"/>
            </a:pPr>
            <a:r>
              <a:rPr lang="en-US" sz="1875">
                <a:solidFill>
                  <a:schemeClr val="dk1"/>
                </a:solidFill>
                <a:latin typeface="Arimo"/>
                <a:ea typeface="Arimo"/>
                <a:cs typeface="Arimo"/>
                <a:sym typeface="Arimo"/>
              </a:rPr>
              <a:t>Natural Join: Automatically matches rows based on common column names.</a:t>
            </a:r>
            <a:endParaRPr sz="1875">
              <a:solidFill>
                <a:schemeClr val="dk1"/>
              </a:solidFill>
              <a:latin typeface="Arimo"/>
              <a:ea typeface="Arimo"/>
              <a:cs typeface="Arimo"/>
              <a:sym typeface="Arimo"/>
            </a:endParaRPr>
          </a:p>
          <a:p>
            <a:pPr marL="0" lvl="0" indent="0" algn="just" rtl="0">
              <a:lnSpc>
                <a:spcPct val="120000"/>
              </a:lnSpc>
              <a:spcBef>
                <a:spcPts val="0"/>
              </a:spcBef>
              <a:spcAft>
                <a:spcPts val="0"/>
              </a:spcAft>
              <a:buNone/>
            </a:pPr>
            <a:r>
              <a:rPr lang="en-US" sz="1875" b="1">
                <a:solidFill>
                  <a:schemeClr val="dk1"/>
                </a:solidFill>
                <a:latin typeface="Arimo"/>
                <a:ea typeface="Arimo"/>
                <a:cs typeface="Arimo"/>
                <a:sym typeface="Arimo"/>
              </a:rPr>
              <a:t>  2. Outer Join:</a:t>
            </a:r>
            <a:r>
              <a:rPr lang="en-US" sz="1875">
                <a:solidFill>
                  <a:schemeClr val="dk1"/>
                </a:solidFill>
                <a:latin typeface="Arimo"/>
                <a:ea typeface="Arimo"/>
                <a:cs typeface="Arimo"/>
                <a:sym typeface="Arimo"/>
              </a:rPr>
              <a:t> Includes matching and non-matching rows from one or both tables.</a:t>
            </a:r>
            <a:endParaRPr>
              <a:solidFill>
                <a:schemeClr val="dk1"/>
              </a:solidFill>
            </a:endParaRPr>
          </a:p>
          <a:p>
            <a:pPr marL="404812" lvl="1" indent="-202404" algn="just" rtl="0">
              <a:lnSpc>
                <a:spcPct val="120000"/>
              </a:lnSpc>
              <a:spcBef>
                <a:spcPts val="0"/>
              </a:spcBef>
              <a:spcAft>
                <a:spcPts val="0"/>
              </a:spcAft>
              <a:buClr>
                <a:schemeClr val="dk1"/>
              </a:buClr>
              <a:buSzPts val="1875"/>
              <a:buChar char="•"/>
            </a:pPr>
            <a:r>
              <a:rPr lang="en-US" sz="1875">
                <a:solidFill>
                  <a:schemeClr val="dk1"/>
                </a:solidFill>
                <a:latin typeface="Arimo"/>
                <a:ea typeface="Arimo"/>
                <a:cs typeface="Arimo"/>
                <a:sym typeface="Arimo"/>
              </a:rPr>
              <a:t>Left Outer Join: Includes all rows from the left table and matching rows of right.</a:t>
            </a:r>
            <a:endParaRPr>
              <a:solidFill>
                <a:schemeClr val="dk1"/>
              </a:solidFill>
            </a:endParaRPr>
          </a:p>
          <a:p>
            <a:pPr marL="404812" lvl="1" indent="-202404" algn="just" rtl="0">
              <a:lnSpc>
                <a:spcPct val="120000"/>
              </a:lnSpc>
              <a:spcBef>
                <a:spcPts val="0"/>
              </a:spcBef>
              <a:spcAft>
                <a:spcPts val="0"/>
              </a:spcAft>
              <a:buClr>
                <a:schemeClr val="dk1"/>
              </a:buClr>
              <a:buSzPts val="1875"/>
              <a:buChar char="•"/>
            </a:pPr>
            <a:r>
              <a:rPr lang="en-US" sz="1875">
                <a:solidFill>
                  <a:schemeClr val="dk1"/>
                </a:solidFill>
                <a:latin typeface="Arimo"/>
                <a:ea typeface="Arimo"/>
                <a:cs typeface="Arimo"/>
                <a:sym typeface="Arimo"/>
              </a:rPr>
              <a:t>Right Outer Join: Includes all rows from the right table and matching rows of left.</a:t>
            </a:r>
            <a:endParaRPr>
              <a:solidFill>
                <a:schemeClr val="dk1"/>
              </a:solidFill>
            </a:endParaRPr>
          </a:p>
          <a:p>
            <a:pPr marL="404812" lvl="1" indent="-202404" algn="just" rtl="0">
              <a:lnSpc>
                <a:spcPct val="120000"/>
              </a:lnSpc>
              <a:spcBef>
                <a:spcPts val="0"/>
              </a:spcBef>
              <a:spcAft>
                <a:spcPts val="0"/>
              </a:spcAft>
              <a:buClr>
                <a:schemeClr val="dk1"/>
              </a:buClr>
              <a:buSzPts val="1875"/>
              <a:buChar char="•"/>
            </a:pPr>
            <a:r>
              <a:rPr lang="en-US" sz="1875">
                <a:solidFill>
                  <a:schemeClr val="dk1"/>
                </a:solidFill>
                <a:latin typeface="Arimo"/>
                <a:ea typeface="Arimo"/>
                <a:cs typeface="Arimo"/>
                <a:sym typeface="Arimo"/>
              </a:rPr>
              <a:t>Full Outer Join: Includes all rows from both tables, with NULLs for non-matches.</a:t>
            </a:r>
            <a:endParaRPr sz="1875" b="1">
              <a:solidFill>
                <a:schemeClr val="dk1"/>
              </a:solidFill>
            </a:endParaRPr>
          </a:p>
        </p:txBody>
      </p:sp>
      <p:sp>
        <p:nvSpPr>
          <p:cNvPr id="550" name="Google Shape;55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551" name="Google Shape;55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grpSp>
        <p:nvGrpSpPr>
          <p:cNvPr id="560" name="Google Shape;560;p23"/>
          <p:cNvGrpSpPr/>
          <p:nvPr/>
        </p:nvGrpSpPr>
        <p:grpSpPr>
          <a:xfrm>
            <a:off x="1524000" y="6356604"/>
            <a:ext cx="9144000" cy="88404"/>
            <a:chOff x="0" y="0"/>
            <a:chExt cx="13004800" cy="125730"/>
          </a:xfrm>
        </p:grpSpPr>
        <p:sp>
          <p:nvSpPr>
            <p:cNvPr id="561" name="Google Shape;561;p2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62" name="Google Shape;562;p2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63" name="Google Shape;563;p23"/>
          <p:cNvSpPr/>
          <p:nvPr/>
        </p:nvSpPr>
        <p:spPr>
          <a:xfrm>
            <a:off x="5346468" y="3018356"/>
            <a:ext cx="5084915" cy="3048861"/>
          </a:xfrm>
          <a:custGeom>
            <a:avLst/>
            <a:gdLst/>
            <a:ahLst/>
            <a:cxnLst/>
            <a:rect l="l" t="t" r="r" b="b"/>
            <a:pathLst>
              <a:path w="5423909" h="3252118" extrusionOk="0">
                <a:moveTo>
                  <a:pt x="0" y="0"/>
                </a:moveTo>
                <a:lnTo>
                  <a:pt x="5423909" y="0"/>
                </a:lnTo>
                <a:lnTo>
                  <a:pt x="5423909" y="3252118"/>
                </a:lnTo>
                <a:lnTo>
                  <a:pt x="0" y="3252118"/>
                </a:lnTo>
                <a:lnTo>
                  <a:pt x="0" y="0"/>
                </a:lnTo>
                <a:close/>
              </a:path>
            </a:pathLst>
          </a:custGeom>
          <a:blipFill rotWithShape="1">
            <a:blip r:embed="rId3">
              <a:alphaModFix/>
            </a:blip>
            <a:stretch>
              <a:fillRect/>
            </a:stretch>
          </a:blipFill>
          <a:ln>
            <a:noFill/>
          </a:ln>
        </p:spPr>
      </p:sp>
      <p:grpSp>
        <p:nvGrpSpPr>
          <p:cNvPr id="564" name="Google Shape;564;p23"/>
          <p:cNvGrpSpPr/>
          <p:nvPr/>
        </p:nvGrpSpPr>
        <p:grpSpPr>
          <a:xfrm>
            <a:off x="9336376" y="5360171"/>
            <a:ext cx="448045" cy="368106"/>
            <a:chOff x="0" y="-28575"/>
            <a:chExt cx="177006" cy="145425"/>
          </a:xfrm>
        </p:grpSpPr>
        <p:sp>
          <p:nvSpPr>
            <p:cNvPr id="565" name="Google Shape;565;p23"/>
            <p:cNvSpPr/>
            <p:nvPr/>
          </p:nvSpPr>
          <p:spPr>
            <a:xfrm>
              <a:off x="0" y="0"/>
              <a:ext cx="177006" cy="116850"/>
            </a:xfrm>
            <a:custGeom>
              <a:avLst/>
              <a:gdLst/>
              <a:ahLst/>
              <a:cxnLst/>
              <a:rect l="l" t="t" r="r" b="b"/>
              <a:pathLst>
                <a:path w="177006" h="116850" extrusionOk="0">
                  <a:moveTo>
                    <a:pt x="58425" y="0"/>
                  </a:moveTo>
                  <a:lnTo>
                    <a:pt x="118581" y="0"/>
                  </a:lnTo>
                  <a:cubicBezTo>
                    <a:pt x="134076" y="0"/>
                    <a:pt x="148937" y="6155"/>
                    <a:pt x="159893" y="17112"/>
                  </a:cubicBezTo>
                  <a:cubicBezTo>
                    <a:pt x="170850" y="28069"/>
                    <a:pt x="177006" y="42930"/>
                    <a:pt x="177006" y="58425"/>
                  </a:cubicBezTo>
                  <a:lnTo>
                    <a:pt x="177006" y="58425"/>
                  </a:lnTo>
                  <a:cubicBezTo>
                    <a:pt x="177006" y="73920"/>
                    <a:pt x="170850" y="88781"/>
                    <a:pt x="159893" y="99738"/>
                  </a:cubicBezTo>
                  <a:cubicBezTo>
                    <a:pt x="148937" y="110694"/>
                    <a:pt x="134076" y="116850"/>
                    <a:pt x="118581" y="116850"/>
                  </a:cubicBezTo>
                  <a:lnTo>
                    <a:pt x="58425" y="116850"/>
                  </a:lnTo>
                  <a:cubicBezTo>
                    <a:pt x="42930" y="116850"/>
                    <a:pt x="28069" y="110694"/>
                    <a:pt x="17112" y="99738"/>
                  </a:cubicBezTo>
                  <a:cubicBezTo>
                    <a:pt x="6155" y="88781"/>
                    <a:pt x="0" y="73920"/>
                    <a:pt x="0" y="58425"/>
                  </a:cubicBezTo>
                  <a:lnTo>
                    <a:pt x="0" y="58425"/>
                  </a:lnTo>
                  <a:cubicBezTo>
                    <a:pt x="0" y="42930"/>
                    <a:pt x="6155" y="28069"/>
                    <a:pt x="17112" y="17112"/>
                  </a:cubicBezTo>
                  <a:cubicBezTo>
                    <a:pt x="28069" y="6155"/>
                    <a:pt x="42930" y="0"/>
                    <a:pt x="58425" y="0"/>
                  </a:cubicBezTo>
                  <a:close/>
                </a:path>
              </a:pathLst>
            </a:custGeom>
            <a:solidFill>
              <a:srgbClr val="8F92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23"/>
            <p:cNvSpPr txBox="1"/>
            <p:nvPr/>
          </p:nvSpPr>
          <p:spPr>
            <a:xfrm>
              <a:off x="0" y="-28575"/>
              <a:ext cx="177006" cy="145425"/>
            </a:xfrm>
            <a:prstGeom prst="rect">
              <a:avLst/>
            </a:prstGeom>
            <a:noFill/>
            <a:ln>
              <a:noFill/>
            </a:ln>
          </p:spPr>
          <p:txBody>
            <a:bodyPr spcFirstLastPara="1" wrap="square" lIns="47625" tIns="47625" rIns="47625" bIns="47625" anchor="ctr" anchorCtr="0">
              <a:noAutofit/>
            </a:bodyPr>
            <a:lstStyle/>
            <a:p>
              <a:pPr marL="0" marR="0" lvl="0" indent="0" algn="ctr" rtl="0">
                <a:lnSpc>
                  <a:spcPct val="108886"/>
                </a:lnSpc>
                <a:spcBef>
                  <a:spcPts val="0"/>
                </a:spcBef>
                <a:spcAft>
                  <a:spcPts val="0"/>
                </a:spcAft>
                <a:buClr>
                  <a:srgbClr val="000000"/>
                </a:buClr>
                <a:buSzPts val="1687"/>
                <a:buFont typeface="Arial"/>
                <a:buNone/>
              </a:pPr>
              <a:endParaRPr sz="1687" b="0" i="0" u="none" strike="noStrike" cap="none">
                <a:solidFill>
                  <a:schemeClr val="dk1"/>
                </a:solidFill>
                <a:latin typeface="Calibri"/>
                <a:ea typeface="Calibri"/>
                <a:cs typeface="Calibri"/>
                <a:sym typeface="Calibri"/>
              </a:endParaRPr>
            </a:p>
          </p:txBody>
        </p:sp>
      </p:grpSp>
      <p:sp>
        <p:nvSpPr>
          <p:cNvPr id="567" name="Google Shape;567;p23"/>
          <p:cNvSpPr txBox="1"/>
          <p:nvPr/>
        </p:nvSpPr>
        <p:spPr>
          <a:xfrm>
            <a:off x="4501451" y="518558"/>
            <a:ext cx="5218767" cy="1000274"/>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Calculus</a:t>
            </a:r>
            <a:endParaRPr sz="1400" b="0" i="0" u="none" strike="noStrike" cap="none">
              <a:solidFill>
                <a:srgbClr val="000000"/>
              </a:solidFill>
              <a:latin typeface="Arial"/>
              <a:ea typeface="Arial"/>
              <a:cs typeface="Arial"/>
              <a:sym typeface="Arial"/>
            </a:endParaRPr>
          </a:p>
          <a:p>
            <a:pPr marL="0" marR="0" lvl="0" indent="0" algn="l"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568" name="Google Shape;568;p23"/>
          <p:cNvSpPr txBox="1"/>
          <p:nvPr/>
        </p:nvSpPr>
        <p:spPr>
          <a:xfrm>
            <a:off x="1866900" y="1652546"/>
            <a:ext cx="8420100" cy="204568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As Relational Algebra is a procedural query language, </a:t>
            </a:r>
            <a:r>
              <a:rPr lang="en-US" sz="1875" b="1" i="0" u="none" strike="noStrike" cap="none">
                <a:solidFill>
                  <a:srgbClr val="000000"/>
                </a:solidFill>
                <a:latin typeface="Arial"/>
                <a:ea typeface="Arial"/>
                <a:cs typeface="Arial"/>
                <a:sym typeface="Arial"/>
              </a:rPr>
              <a:t>Relational Calculus </a:t>
            </a:r>
            <a:r>
              <a:rPr lang="en-US" sz="1875" b="0" i="0" u="none" strike="noStrike" cap="none">
                <a:solidFill>
                  <a:srgbClr val="000000"/>
                </a:solidFill>
                <a:latin typeface="Arial"/>
                <a:ea typeface="Arial"/>
                <a:cs typeface="Arial"/>
                <a:sym typeface="Arial"/>
              </a:rPr>
              <a:t>is a non-procedural query language. It basically deals with the end results. It always tells me what to do but never tells me how to do it.</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endParaRPr sz="1875"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There are two types of Relational Calculus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Tuple Relational Calculus(TRC)</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Domain Relational Calculus(DRC)</a:t>
            </a:r>
            <a:endParaRPr sz="1400" b="0" i="0" u="none" strike="noStrike" cap="none">
              <a:solidFill>
                <a:srgbClr val="000000"/>
              </a:solidFill>
              <a:latin typeface="Arial"/>
              <a:ea typeface="Arial"/>
              <a:cs typeface="Arial"/>
              <a:sym typeface="Arial"/>
            </a:endParaRPr>
          </a:p>
        </p:txBody>
      </p:sp>
      <p:sp>
        <p:nvSpPr>
          <p:cNvPr id="569" name="Google Shape;569;p23"/>
          <p:cNvSpPr txBox="1"/>
          <p:nvPr/>
        </p:nvSpPr>
        <p:spPr>
          <a:xfrm>
            <a:off x="9337108" y="5450555"/>
            <a:ext cx="447311" cy="496290"/>
          </a:xfrm>
          <a:prstGeom prst="rect">
            <a:avLst/>
          </a:prstGeom>
          <a:noFill/>
          <a:ln>
            <a:noFill/>
          </a:ln>
        </p:spPr>
        <p:txBody>
          <a:bodyPr spcFirstLastPara="1" wrap="square" lIns="0" tIns="0" rIns="0" bIns="0" anchor="t" anchorCtr="0">
            <a:spAutoFit/>
          </a:bodyPr>
          <a:lstStyle/>
          <a:p>
            <a:pPr marL="0" marR="0" lvl="0" indent="0" algn="ctr" rtl="0">
              <a:lnSpc>
                <a:spcPct val="119987"/>
              </a:lnSpc>
              <a:spcBef>
                <a:spcPts val="0"/>
              </a:spcBef>
              <a:spcAft>
                <a:spcPts val="0"/>
              </a:spcAft>
              <a:buClr>
                <a:srgbClr val="000000"/>
              </a:buClr>
              <a:buSzPts val="1626"/>
              <a:buFont typeface="Arial"/>
              <a:buNone/>
            </a:pPr>
            <a:r>
              <a:rPr lang="en-US" sz="1626" b="1" i="0" u="none" strike="noStrike" cap="none">
                <a:solidFill>
                  <a:srgbClr val="000000"/>
                </a:solidFill>
                <a:latin typeface="Arial"/>
                <a:ea typeface="Arial"/>
                <a:cs typeface="Arial"/>
                <a:sym typeface="Arial"/>
              </a:rPr>
              <a:t>DRC</a:t>
            </a:r>
            <a:endParaRPr sz="1400" b="0" i="0" u="none" strike="noStrike" cap="none">
              <a:solidFill>
                <a:srgbClr val="000000"/>
              </a:solidFill>
              <a:latin typeface="Arial"/>
              <a:ea typeface="Arial"/>
              <a:cs typeface="Arial"/>
              <a:sym typeface="Arial"/>
            </a:endParaRPr>
          </a:p>
        </p:txBody>
      </p:sp>
      <p:sp>
        <p:nvSpPr>
          <p:cNvPr id="570" name="Google Shape;5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571" name="Google Shape;5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grpSp>
        <p:nvGrpSpPr>
          <p:cNvPr id="580" name="Google Shape;580;p24"/>
          <p:cNvGrpSpPr/>
          <p:nvPr/>
        </p:nvGrpSpPr>
        <p:grpSpPr>
          <a:xfrm>
            <a:off x="1524000" y="6356604"/>
            <a:ext cx="9144000" cy="88404"/>
            <a:chOff x="0" y="0"/>
            <a:chExt cx="13004800" cy="125730"/>
          </a:xfrm>
        </p:grpSpPr>
        <p:sp>
          <p:nvSpPr>
            <p:cNvPr id="581" name="Google Shape;581;p2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82" name="Google Shape;582;p2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83" name="Google Shape;583;p24"/>
          <p:cNvSpPr txBox="1"/>
          <p:nvPr/>
        </p:nvSpPr>
        <p:spPr>
          <a:xfrm>
            <a:off x="4501451" y="518558"/>
            <a:ext cx="5218767" cy="1000274"/>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Calculus</a:t>
            </a:r>
            <a:endParaRPr sz="1400" b="0" i="0" u="none" strike="noStrike" cap="none">
              <a:solidFill>
                <a:srgbClr val="000000"/>
              </a:solidFill>
              <a:latin typeface="Arial"/>
              <a:ea typeface="Arial"/>
              <a:cs typeface="Arial"/>
              <a:sym typeface="Arial"/>
            </a:endParaRPr>
          </a:p>
          <a:p>
            <a:pPr marL="0" marR="0" lvl="0" indent="0" algn="l"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584" name="Google Shape;584;p24"/>
          <p:cNvSpPr txBox="1"/>
          <p:nvPr/>
        </p:nvSpPr>
        <p:spPr>
          <a:xfrm>
            <a:off x="1524000" y="1080275"/>
            <a:ext cx="9377700" cy="34056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Tuple Relational Calculus (TRC)</a:t>
            </a:r>
            <a:r>
              <a:rPr lang="en-US" sz="1875" b="0" i="0" u="none" strike="noStrike" cap="none">
                <a:solidFill>
                  <a:srgbClr val="000000"/>
                </a:solidFill>
                <a:latin typeface="Arial"/>
                <a:ea typeface="Arial"/>
                <a:cs typeface="Arial"/>
                <a:sym typeface="Arial"/>
              </a:rPr>
              <a:t> is a non-procedural query language used in relational database management systems (RDBMS) to retrieve data from tables. TRC is based on the concept of tuples, which are ordered sets of attribute values that represent a single row or record in a database table.</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TRC is a declarative language, meaning that it specifies what data is required from the database, rather than how to retrieve it. TRC queries are expressed as logical formulas that describe the desired tuples.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Syntax: </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The basic syntax of TRC is as follows: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 t | P(t) }</a:t>
            </a:r>
            <a:endParaRPr sz="1400" b="0" i="0" u="none" strike="noStrike" cap="none">
              <a:solidFill>
                <a:srgbClr val="000000"/>
              </a:solidFill>
              <a:latin typeface="Arial"/>
              <a:ea typeface="Arial"/>
              <a:cs typeface="Arial"/>
              <a:sym typeface="Arial"/>
            </a:endParaRPr>
          </a:p>
        </p:txBody>
      </p:sp>
      <p:sp>
        <p:nvSpPr>
          <p:cNvPr id="585" name="Google Shape;585;p24"/>
          <p:cNvSpPr txBox="1"/>
          <p:nvPr/>
        </p:nvSpPr>
        <p:spPr>
          <a:xfrm>
            <a:off x="1524000" y="4543975"/>
            <a:ext cx="4849500" cy="16740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where t is a tuple variable and P(t) is a logical formula that describes the conditions that the tuples in the result must satisfy. The curly braces {} are used to indicate that the expression is a set of tuples.</a:t>
            </a:r>
            <a:endParaRPr sz="1400" b="0" i="0" u="none" strike="noStrike" cap="none">
              <a:solidFill>
                <a:srgbClr val="000000"/>
              </a:solidFill>
              <a:latin typeface="Arial"/>
              <a:ea typeface="Arial"/>
              <a:cs typeface="Arial"/>
              <a:sym typeface="Arial"/>
            </a:endParaRPr>
          </a:p>
        </p:txBody>
      </p:sp>
      <p:grpSp>
        <p:nvGrpSpPr>
          <p:cNvPr id="586" name="Google Shape;586;p24"/>
          <p:cNvGrpSpPr/>
          <p:nvPr/>
        </p:nvGrpSpPr>
        <p:grpSpPr>
          <a:xfrm>
            <a:off x="6724094" y="4168625"/>
            <a:ext cx="4846703" cy="1383446"/>
            <a:chOff x="681219" y="4"/>
            <a:chExt cx="6893088" cy="1967567"/>
          </a:xfrm>
        </p:grpSpPr>
        <p:sp>
          <p:nvSpPr>
            <p:cNvPr id="587" name="Google Shape;587;p24"/>
            <p:cNvSpPr/>
            <p:nvPr/>
          </p:nvSpPr>
          <p:spPr>
            <a:xfrm>
              <a:off x="681219" y="4"/>
              <a:ext cx="6893088" cy="1967567"/>
            </a:xfrm>
            <a:custGeom>
              <a:avLst/>
              <a:gdLst/>
              <a:ahLst/>
              <a:cxnLst/>
              <a:rect l="l" t="t" r="r" b="b"/>
              <a:pathLst>
                <a:path w="5282060" h="1967567" extrusionOk="0">
                  <a:moveTo>
                    <a:pt x="0" y="0"/>
                  </a:moveTo>
                  <a:lnTo>
                    <a:pt x="5282060" y="0"/>
                  </a:lnTo>
                  <a:lnTo>
                    <a:pt x="5282060" y="1967567"/>
                  </a:lnTo>
                  <a:lnTo>
                    <a:pt x="0" y="1967567"/>
                  </a:lnTo>
                  <a:lnTo>
                    <a:pt x="0" y="0"/>
                  </a:lnTo>
                  <a:close/>
                </a:path>
              </a:pathLst>
            </a:custGeom>
            <a:blipFill rotWithShape="1">
              <a:blip r:embed="rId3">
                <a:alphaModFix/>
              </a:blip>
              <a:stretch>
                <a:fillRect/>
              </a:stretch>
            </a:blipFill>
            <a:ln>
              <a:noFill/>
            </a:ln>
          </p:spPr>
        </p:sp>
        <p:sp>
          <p:nvSpPr>
            <p:cNvPr id="588" name="Google Shape;588;p24"/>
            <p:cNvSpPr txBox="1"/>
            <p:nvPr/>
          </p:nvSpPr>
          <p:spPr>
            <a:xfrm>
              <a:off x="834573" y="473266"/>
              <a:ext cx="6588000" cy="1118700"/>
            </a:xfrm>
            <a:prstGeom prst="rect">
              <a:avLst/>
            </a:prstGeom>
            <a:noFill/>
            <a:ln>
              <a:noFill/>
            </a:ln>
          </p:spPr>
          <p:txBody>
            <a:bodyPr spcFirstLastPara="1" wrap="square" lIns="0" tIns="0" rIns="0" bIns="0" anchor="t" anchorCtr="0">
              <a:spAutoFit/>
            </a:bodyPr>
            <a:lstStyle/>
            <a:p>
              <a:pPr marL="0" marR="0" lvl="0" indent="0" algn="ctr" rtl="0">
                <a:lnSpc>
                  <a:spcPct val="119974"/>
                </a:lnSpc>
                <a:spcBef>
                  <a:spcPts val="0"/>
                </a:spcBef>
                <a:spcAft>
                  <a:spcPts val="0"/>
                </a:spcAft>
                <a:buClr>
                  <a:srgbClr val="000000"/>
                </a:buClr>
                <a:buSzPts val="2323"/>
                <a:buFont typeface="Arial"/>
                <a:buNone/>
              </a:pPr>
              <a:r>
                <a:rPr lang="en-US" sz="2323" b="0" i="0" u="none" strike="noStrike" cap="none">
                  <a:solidFill>
                    <a:srgbClr val="000000"/>
                  </a:solidFill>
                  <a:latin typeface="Arial"/>
                  <a:ea typeface="Arial"/>
                  <a:cs typeface="Arial"/>
                  <a:sym typeface="Arial"/>
                </a:rPr>
                <a:t>Tuple Relational Calculus (TRC)</a:t>
              </a:r>
              <a:endParaRPr sz="1400" b="0" i="0" u="none" strike="noStrike" cap="none">
                <a:solidFill>
                  <a:srgbClr val="000000"/>
                </a:solidFill>
                <a:latin typeface="Arial"/>
                <a:ea typeface="Arial"/>
                <a:cs typeface="Arial"/>
                <a:sym typeface="Arial"/>
              </a:endParaRPr>
            </a:p>
            <a:p>
              <a:pPr marL="0" marR="0" lvl="0" indent="0" algn="ctr" rtl="0">
                <a:lnSpc>
                  <a:spcPct val="119974"/>
                </a:lnSpc>
                <a:spcBef>
                  <a:spcPts val="0"/>
                </a:spcBef>
                <a:spcAft>
                  <a:spcPts val="0"/>
                </a:spcAft>
                <a:buClr>
                  <a:srgbClr val="000000"/>
                </a:buClr>
                <a:buSzPts val="2323"/>
                <a:buFont typeface="Arial"/>
                <a:buNone/>
              </a:pPr>
              <a:endParaRPr sz="2323" b="0" i="0" u="none" strike="noStrike" cap="none">
                <a:solidFill>
                  <a:srgbClr val="000000"/>
                </a:solidFill>
                <a:latin typeface="Arial"/>
                <a:ea typeface="Arial"/>
                <a:cs typeface="Arial"/>
                <a:sym typeface="Arial"/>
              </a:endParaRPr>
            </a:p>
          </p:txBody>
        </p:sp>
      </p:grpSp>
      <p:sp>
        <p:nvSpPr>
          <p:cNvPr id="589" name="Google Shape;58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590" name="Google Shape;59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grpSp>
        <p:nvGrpSpPr>
          <p:cNvPr id="599" name="Google Shape;599;p25"/>
          <p:cNvGrpSpPr/>
          <p:nvPr/>
        </p:nvGrpSpPr>
        <p:grpSpPr>
          <a:xfrm>
            <a:off x="1524000" y="6356604"/>
            <a:ext cx="9144000" cy="88404"/>
            <a:chOff x="0" y="0"/>
            <a:chExt cx="13004800" cy="125730"/>
          </a:xfrm>
        </p:grpSpPr>
        <p:sp>
          <p:nvSpPr>
            <p:cNvPr id="600" name="Google Shape;600;p2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01" name="Google Shape;601;p2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02" name="Google Shape;602;p25"/>
          <p:cNvSpPr txBox="1"/>
          <p:nvPr/>
        </p:nvSpPr>
        <p:spPr>
          <a:xfrm>
            <a:off x="4501451" y="518558"/>
            <a:ext cx="5218767" cy="1000274"/>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Calculus</a:t>
            </a:r>
            <a:endParaRPr sz="1400" b="0" i="0" u="none" strike="noStrike" cap="none">
              <a:solidFill>
                <a:srgbClr val="000000"/>
              </a:solidFill>
              <a:latin typeface="Arial"/>
              <a:ea typeface="Arial"/>
              <a:cs typeface="Arial"/>
              <a:sym typeface="Arial"/>
            </a:endParaRPr>
          </a:p>
          <a:p>
            <a:pPr marL="0" marR="0" lvl="0" indent="0" algn="l"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603" name="Google Shape;603;p25"/>
          <p:cNvSpPr txBox="1"/>
          <p:nvPr/>
        </p:nvSpPr>
        <p:spPr>
          <a:xfrm>
            <a:off x="1862067" y="1500742"/>
            <a:ext cx="8467868" cy="145578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Domain Relational Calculus</a:t>
            </a:r>
            <a:r>
              <a:rPr lang="en-US" sz="1875" b="0" i="0" u="none" strike="noStrike" cap="none">
                <a:solidFill>
                  <a:srgbClr val="000000"/>
                </a:solidFill>
                <a:latin typeface="Arial"/>
                <a:ea typeface="Arial"/>
                <a:cs typeface="Arial"/>
                <a:sym typeface="Arial"/>
              </a:rPr>
              <a:t> is a non-procedural query language equivalent in power to Tuple Relational Calculus. Domain Relational Calculus provides only the description of the query but it does not provide the methods to solve it. In Domain Relational Calculus, a query is expressed as,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 &lt; x1, x2, x3, ..., xn &gt; | P (x1, x2, x3, ..., xn ) } </a:t>
            </a:r>
            <a:endParaRPr sz="1400" b="0" i="0" u="none" strike="noStrike" cap="none">
              <a:solidFill>
                <a:srgbClr val="000000"/>
              </a:solidFill>
              <a:latin typeface="Arial"/>
              <a:ea typeface="Arial"/>
              <a:cs typeface="Arial"/>
              <a:sym typeface="Arial"/>
            </a:endParaRPr>
          </a:p>
        </p:txBody>
      </p:sp>
      <p:sp>
        <p:nvSpPr>
          <p:cNvPr id="604" name="Google Shape;604;p25"/>
          <p:cNvSpPr txBox="1"/>
          <p:nvPr/>
        </p:nvSpPr>
        <p:spPr>
          <a:xfrm>
            <a:off x="1862066" y="3179626"/>
            <a:ext cx="4233934" cy="1674817"/>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where, &lt; x1, x2, x3, …, xn&gt; represents resulting domains variables and P (x1, x2, x3, …, xn ) represents the condition or formula equivalent to the Predicate calculus.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605" name="Google Shape;605;p25"/>
          <p:cNvGrpSpPr/>
          <p:nvPr/>
        </p:nvGrpSpPr>
        <p:grpSpPr>
          <a:xfrm>
            <a:off x="6225641" y="3448171"/>
            <a:ext cx="6145653" cy="1557967"/>
            <a:chOff x="0" y="0"/>
            <a:chExt cx="6622985" cy="1967567"/>
          </a:xfrm>
        </p:grpSpPr>
        <p:sp>
          <p:nvSpPr>
            <p:cNvPr id="606" name="Google Shape;606;p25"/>
            <p:cNvSpPr/>
            <p:nvPr/>
          </p:nvSpPr>
          <p:spPr>
            <a:xfrm>
              <a:off x="681207" y="0"/>
              <a:ext cx="5282060" cy="1967567"/>
            </a:xfrm>
            <a:custGeom>
              <a:avLst/>
              <a:gdLst/>
              <a:ahLst/>
              <a:cxnLst/>
              <a:rect l="l" t="t" r="r" b="b"/>
              <a:pathLst>
                <a:path w="5282060" h="1967567" extrusionOk="0">
                  <a:moveTo>
                    <a:pt x="0" y="0"/>
                  </a:moveTo>
                  <a:lnTo>
                    <a:pt x="5282060" y="0"/>
                  </a:lnTo>
                  <a:lnTo>
                    <a:pt x="5282060" y="1967567"/>
                  </a:lnTo>
                  <a:lnTo>
                    <a:pt x="0" y="1967567"/>
                  </a:lnTo>
                  <a:lnTo>
                    <a:pt x="0" y="0"/>
                  </a:lnTo>
                  <a:close/>
                </a:path>
              </a:pathLst>
            </a:custGeom>
            <a:blipFill rotWithShape="1">
              <a:blip r:embed="rId3">
                <a:alphaModFix/>
              </a:blip>
              <a:stretch>
                <a:fillRect/>
              </a:stretch>
            </a:blipFill>
            <a:ln>
              <a:noFill/>
            </a:ln>
          </p:spPr>
        </p:sp>
        <p:sp>
          <p:nvSpPr>
            <p:cNvPr id="607" name="Google Shape;607;p25"/>
            <p:cNvSpPr txBox="1"/>
            <p:nvPr/>
          </p:nvSpPr>
          <p:spPr>
            <a:xfrm>
              <a:off x="0" y="473254"/>
              <a:ext cx="6622985" cy="990174"/>
            </a:xfrm>
            <a:prstGeom prst="rect">
              <a:avLst/>
            </a:prstGeom>
            <a:noFill/>
            <a:ln>
              <a:noFill/>
            </a:ln>
          </p:spPr>
          <p:txBody>
            <a:bodyPr spcFirstLastPara="1" wrap="square" lIns="0" tIns="0" rIns="0" bIns="0" anchor="t" anchorCtr="0">
              <a:spAutoFit/>
            </a:bodyPr>
            <a:lstStyle/>
            <a:p>
              <a:pPr marL="0" marR="0" lvl="0" indent="0" algn="ctr" rtl="0">
                <a:lnSpc>
                  <a:spcPct val="119974"/>
                </a:lnSpc>
                <a:spcBef>
                  <a:spcPts val="0"/>
                </a:spcBef>
                <a:spcAft>
                  <a:spcPts val="0"/>
                </a:spcAft>
                <a:buClr>
                  <a:srgbClr val="000000"/>
                </a:buClr>
                <a:buSzPts val="2323"/>
                <a:buFont typeface="Arial"/>
                <a:buNone/>
              </a:pPr>
              <a:r>
                <a:rPr lang="en-US" sz="2323" b="0" i="0" u="none" strike="noStrike" cap="none" dirty="0">
                  <a:solidFill>
                    <a:srgbClr val="000000"/>
                  </a:solidFill>
                  <a:latin typeface="Arial"/>
                  <a:ea typeface="Arial"/>
                  <a:cs typeface="Arial"/>
                  <a:sym typeface="Arial"/>
                </a:rPr>
                <a:t>Domain Relational Calculus (DRC)</a:t>
              </a:r>
              <a:endParaRPr sz="1400" b="0" i="0" u="none" strike="noStrike" cap="none" dirty="0">
                <a:solidFill>
                  <a:srgbClr val="000000"/>
                </a:solidFill>
                <a:latin typeface="Arial"/>
                <a:ea typeface="Arial"/>
                <a:cs typeface="Arial"/>
                <a:sym typeface="Arial"/>
              </a:endParaRPr>
            </a:p>
            <a:p>
              <a:pPr marL="0" marR="0" lvl="0" indent="0" algn="ctr" rtl="0">
                <a:lnSpc>
                  <a:spcPct val="119974"/>
                </a:lnSpc>
                <a:spcBef>
                  <a:spcPts val="0"/>
                </a:spcBef>
                <a:spcAft>
                  <a:spcPts val="0"/>
                </a:spcAft>
                <a:buClr>
                  <a:srgbClr val="000000"/>
                </a:buClr>
                <a:buSzPts val="2323"/>
                <a:buFont typeface="Arial"/>
                <a:buNone/>
              </a:pPr>
              <a:endParaRPr sz="2323" b="0" i="0" u="none" strike="noStrike" cap="none" dirty="0">
                <a:solidFill>
                  <a:srgbClr val="000000"/>
                </a:solidFill>
                <a:latin typeface="Arial"/>
                <a:ea typeface="Arial"/>
                <a:cs typeface="Arial"/>
                <a:sym typeface="Arial"/>
              </a:endParaRPr>
            </a:p>
          </p:txBody>
        </p:sp>
      </p:grpSp>
      <p:sp>
        <p:nvSpPr>
          <p:cNvPr id="608" name="Google Shape;60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609" name="Google Shape;60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grpSp>
        <p:nvGrpSpPr>
          <p:cNvPr id="618" name="Google Shape;618;p26"/>
          <p:cNvGrpSpPr/>
          <p:nvPr/>
        </p:nvGrpSpPr>
        <p:grpSpPr>
          <a:xfrm>
            <a:off x="1524000" y="6356604"/>
            <a:ext cx="9144000" cy="88404"/>
            <a:chOff x="0" y="0"/>
            <a:chExt cx="13004800" cy="125730"/>
          </a:xfrm>
        </p:grpSpPr>
        <p:sp>
          <p:nvSpPr>
            <p:cNvPr id="619" name="Google Shape;619;p2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20" name="Google Shape;620;p2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21" name="Google Shape;621;p26"/>
          <p:cNvSpPr/>
          <p:nvPr/>
        </p:nvSpPr>
        <p:spPr>
          <a:xfrm>
            <a:off x="2410911" y="1491853"/>
            <a:ext cx="7909385" cy="4241408"/>
          </a:xfrm>
          <a:custGeom>
            <a:avLst/>
            <a:gdLst/>
            <a:ahLst/>
            <a:cxnLst/>
            <a:rect l="l" t="t" r="r" b="b"/>
            <a:pathLst>
              <a:path w="8436677" h="4524168" extrusionOk="0">
                <a:moveTo>
                  <a:pt x="0" y="0"/>
                </a:moveTo>
                <a:lnTo>
                  <a:pt x="8436677" y="0"/>
                </a:lnTo>
                <a:lnTo>
                  <a:pt x="8436677" y="4524168"/>
                </a:lnTo>
                <a:lnTo>
                  <a:pt x="0" y="4524168"/>
                </a:lnTo>
                <a:lnTo>
                  <a:pt x="0" y="0"/>
                </a:lnTo>
                <a:close/>
              </a:path>
            </a:pathLst>
          </a:custGeom>
          <a:blipFill rotWithShape="1">
            <a:blip r:embed="rId3">
              <a:alphaModFix/>
            </a:blip>
            <a:stretch>
              <a:fillRect/>
            </a:stretch>
          </a:blipFill>
          <a:ln>
            <a:noFill/>
          </a:ln>
        </p:spPr>
      </p:sp>
      <p:sp>
        <p:nvSpPr>
          <p:cNvPr id="622" name="Google Shape;622;p26"/>
          <p:cNvSpPr txBox="1"/>
          <p:nvPr/>
        </p:nvSpPr>
        <p:spPr>
          <a:xfrm>
            <a:off x="2593981" y="561467"/>
            <a:ext cx="7983738" cy="50013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Calculus Vs Algebra</a:t>
            </a:r>
            <a:endParaRPr sz="1400" b="0" i="0" u="none" strike="noStrike" cap="none">
              <a:solidFill>
                <a:srgbClr val="000000"/>
              </a:solidFill>
              <a:latin typeface="Arial"/>
              <a:ea typeface="Arial"/>
              <a:cs typeface="Arial"/>
              <a:sym typeface="Arial"/>
            </a:endParaRPr>
          </a:p>
        </p:txBody>
      </p:sp>
      <p:sp>
        <p:nvSpPr>
          <p:cNvPr id="623" name="Google Shape;62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624" name="Google Shape;62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grpSp>
        <p:nvGrpSpPr>
          <p:cNvPr id="633" name="Google Shape;633;p27"/>
          <p:cNvGrpSpPr/>
          <p:nvPr/>
        </p:nvGrpSpPr>
        <p:grpSpPr>
          <a:xfrm>
            <a:off x="1524000" y="6356604"/>
            <a:ext cx="9144000" cy="88404"/>
            <a:chOff x="0" y="0"/>
            <a:chExt cx="13004800" cy="125730"/>
          </a:xfrm>
        </p:grpSpPr>
        <p:sp>
          <p:nvSpPr>
            <p:cNvPr id="634" name="Google Shape;634;p2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35" name="Google Shape;635;p2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36" name="Google Shape;636;p27"/>
          <p:cNvSpPr txBox="1"/>
          <p:nvPr/>
        </p:nvSpPr>
        <p:spPr>
          <a:xfrm>
            <a:off x="1032325" y="659000"/>
            <a:ext cx="10584300" cy="1111200"/>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Grouping and Ungrouping in Relational Databases</a:t>
            </a:r>
            <a:endParaRPr sz="1400" b="0" i="0" u="none" strike="noStrike" cap="none">
              <a:solidFill>
                <a:srgbClr val="000000"/>
              </a:solidFill>
              <a:latin typeface="Arial"/>
              <a:ea typeface="Arial"/>
              <a:cs typeface="Arial"/>
              <a:sym typeface="Arial"/>
            </a:endParaRPr>
          </a:p>
          <a:p>
            <a:pPr marL="0" marR="0" lvl="0" indent="0" algn="ctr"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637" name="Google Shape;637;p27"/>
          <p:cNvSpPr txBox="1"/>
          <p:nvPr/>
        </p:nvSpPr>
        <p:spPr>
          <a:xfrm>
            <a:off x="1850313" y="1377894"/>
            <a:ext cx="8528400" cy="23667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1. Grouping</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Grouping is a process of aggregating rows in a relation based on one or more attributes and then performing aggregate operations like SUM, COUNT, AVG, MAX, or MIN on them.</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Purpose</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To summarize or condense data.</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Commonly used for generating reports or statistical analysis.</a:t>
            </a:r>
            <a:endParaRPr sz="1400" b="0" i="0" u="none" strike="noStrike" cap="none">
              <a:solidFill>
                <a:srgbClr val="000000"/>
              </a:solidFill>
              <a:latin typeface="Arial"/>
              <a:ea typeface="Arial"/>
              <a:cs typeface="Arial"/>
              <a:sym typeface="Arial"/>
            </a:endParaRPr>
          </a:p>
        </p:txBody>
      </p:sp>
      <p:sp>
        <p:nvSpPr>
          <p:cNvPr id="638" name="Google Shape;638;p27"/>
          <p:cNvSpPr txBox="1"/>
          <p:nvPr/>
        </p:nvSpPr>
        <p:spPr>
          <a:xfrm>
            <a:off x="1833720" y="3819795"/>
            <a:ext cx="8561678"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Syntax</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Grouping in extended relational algebra can be represented using a GROUP operator:</a:t>
            </a:r>
            <a:endParaRPr sz="1400" b="0" i="0" u="none" strike="noStrike" cap="none">
              <a:solidFill>
                <a:srgbClr val="000000"/>
              </a:solidFill>
              <a:latin typeface="Arial"/>
              <a:ea typeface="Arial"/>
              <a:cs typeface="Arial"/>
              <a:sym typeface="Arial"/>
            </a:endParaRPr>
          </a:p>
        </p:txBody>
      </p:sp>
      <p:sp>
        <p:nvSpPr>
          <p:cNvPr id="639" name="Google Shape;639;p27"/>
          <p:cNvSpPr txBox="1"/>
          <p:nvPr/>
        </p:nvSpPr>
        <p:spPr>
          <a:xfrm>
            <a:off x="2800698" y="4828913"/>
            <a:ext cx="6590605"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GROUP_BY(attributes, aggregate_function(attribute))(relation)</a:t>
            </a:r>
            <a:endParaRPr sz="1400" b="0" i="0" u="none" strike="noStrike" cap="none">
              <a:solidFill>
                <a:srgbClr val="000000"/>
              </a:solidFill>
              <a:latin typeface="Arial"/>
              <a:ea typeface="Arial"/>
              <a:cs typeface="Arial"/>
              <a:sym typeface="Arial"/>
            </a:endParaRPr>
          </a:p>
        </p:txBody>
      </p:sp>
      <p:sp>
        <p:nvSpPr>
          <p:cNvPr id="640" name="Google Shape;64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641" name="Google Shape;64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grpSp>
        <p:nvGrpSpPr>
          <p:cNvPr id="650" name="Google Shape;650;p28"/>
          <p:cNvGrpSpPr/>
          <p:nvPr/>
        </p:nvGrpSpPr>
        <p:grpSpPr>
          <a:xfrm>
            <a:off x="1524000" y="6356604"/>
            <a:ext cx="9144000" cy="88404"/>
            <a:chOff x="0" y="0"/>
            <a:chExt cx="13004800" cy="125730"/>
          </a:xfrm>
        </p:grpSpPr>
        <p:sp>
          <p:nvSpPr>
            <p:cNvPr id="651" name="Google Shape;651;p2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52" name="Google Shape;652;p2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53" name="Google Shape;653;p28"/>
          <p:cNvSpPr/>
          <p:nvPr/>
        </p:nvSpPr>
        <p:spPr>
          <a:xfrm>
            <a:off x="3335667" y="2525261"/>
            <a:ext cx="5650629" cy="1334962"/>
          </a:xfrm>
          <a:custGeom>
            <a:avLst/>
            <a:gdLst/>
            <a:ahLst/>
            <a:cxnLst/>
            <a:rect l="l" t="t" r="r" b="b"/>
            <a:pathLst>
              <a:path w="6027338" h="1423959" extrusionOk="0">
                <a:moveTo>
                  <a:pt x="0" y="0"/>
                </a:moveTo>
                <a:lnTo>
                  <a:pt x="6027338" y="0"/>
                </a:lnTo>
                <a:lnTo>
                  <a:pt x="6027338" y="1423958"/>
                </a:lnTo>
                <a:lnTo>
                  <a:pt x="0" y="1423958"/>
                </a:lnTo>
                <a:lnTo>
                  <a:pt x="0" y="0"/>
                </a:lnTo>
                <a:close/>
              </a:path>
            </a:pathLst>
          </a:custGeom>
          <a:blipFill rotWithShape="1">
            <a:blip r:embed="rId3">
              <a:alphaModFix/>
            </a:blip>
            <a:stretch>
              <a:fillRect/>
            </a:stretch>
          </a:blipFill>
          <a:ln>
            <a:noFill/>
          </a:ln>
        </p:spPr>
      </p:sp>
      <p:sp>
        <p:nvSpPr>
          <p:cNvPr id="654" name="Google Shape;654;p28"/>
          <p:cNvSpPr/>
          <p:nvPr/>
        </p:nvSpPr>
        <p:spPr>
          <a:xfrm>
            <a:off x="3335667" y="4699701"/>
            <a:ext cx="5650629" cy="1313771"/>
          </a:xfrm>
          <a:custGeom>
            <a:avLst/>
            <a:gdLst/>
            <a:ahLst/>
            <a:cxnLst/>
            <a:rect l="l" t="t" r="r" b="b"/>
            <a:pathLst>
              <a:path w="6027338" h="1401356" extrusionOk="0">
                <a:moveTo>
                  <a:pt x="0" y="0"/>
                </a:moveTo>
                <a:lnTo>
                  <a:pt x="6027338" y="0"/>
                </a:lnTo>
                <a:lnTo>
                  <a:pt x="6027338" y="1401356"/>
                </a:lnTo>
                <a:lnTo>
                  <a:pt x="0" y="1401356"/>
                </a:lnTo>
                <a:lnTo>
                  <a:pt x="0" y="0"/>
                </a:lnTo>
                <a:close/>
              </a:path>
            </a:pathLst>
          </a:custGeom>
          <a:blipFill rotWithShape="1">
            <a:blip r:embed="rId4">
              <a:alphaModFix/>
            </a:blip>
            <a:stretch>
              <a:fillRect/>
            </a:stretch>
          </a:blipFill>
          <a:ln>
            <a:noFill/>
          </a:ln>
        </p:spPr>
      </p:sp>
      <p:sp>
        <p:nvSpPr>
          <p:cNvPr id="655" name="Google Shape;655;p28"/>
          <p:cNvSpPr txBox="1"/>
          <p:nvPr/>
        </p:nvSpPr>
        <p:spPr>
          <a:xfrm>
            <a:off x="2547713" y="659012"/>
            <a:ext cx="7983738" cy="1500411"/>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Grouping and Ungrouping in Relational Databases</a:t>
            </a:r>
            <a:endParaRPr sz="1400" b="0" i="0" u="none" strike="noStrike" cap="none">
              <a:solidFill>
                <a:srgbClr val="000000"/>
              </a:solidFill>
              <a:latin typeface="Arial"/>
              <a:ea typeface="Arial"/>
              <a:cs typeface="Arial"/>
              <a:sym typeface="Arial"/>
            </a:endParaRPr>
          </a:p>
          <a:p>
            <a:pPr marL="0" marR="0" lvl="0" indent="0" algn="ctr"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656" name="Google Shape;656;p28"/>
          <p:cNvSpPr txBox="1"/>
          <p:nvPr/>
        </p:nvSpPr>
        <p:spPr>
          <a:xfrm>
            <a:off x="1824498" y="1917931"/>
            <a:ext cx="6361266" cy="275973"/>
          </a:xfrm>
          <a:prstGeom prst="rect">
            <a:avLst/>
          </a:prstGeom>
          <a:noFill/>
          <a:ln>
            <a:noFill/>
          </a:ln>
        </p:spPr>
        <p:txBody>
          <a:bodyPr spcFirstLastPara="1" wrap="square" lIns="0" tIns="0" rIns="0" bIns="0" anchor="t" anchorCtr="0">
            <a:spAutoFit/>
          </a:bodyPr>
          <a:lstStyle/>
          <a:p>
            <a:pPr marL="404813" marR="0" lvl="1" indent="-202406" algn="ctr"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If we want to find the total quantity sold for each product:</a:t>
            </a:r>
            <a:endParaRPr sz="1400" b="0" i="0" u="none" strike="noStrike" cap="none">
              <a:solidFill>
                <a:srgbClr val="000000"/>
              </a:solidFill>
              <a:latin typeface="Arial"/>
              <a:ea typeface="Arial"/>
              <a:cs typeface="Arial"/>
              <a:sym typeface="Arial"/>
            </a:endParaRPr>
          </a:p>
        </p:txBody>
      </p:sp>
      <p:sp>
        <p:nvSpPr>
          <p:cNvPr id="657" name="Google Shape;657;p28"/>
          <p:cNvSpPr txBox="1"/>
          <p:nvPr/>
        </p:nvSpPr>
        <p:spPr>
          <a:xfrm>
            <a:off x="2718655" y="4168334"/>
            <a:ext cx="4572951" cy="26417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GROUP_BY(Product, SUM(Quantity))(Sales)</a:t>
            </a:r>
            <a:endParaRPr sz="1400" b="0" i="0" u="none" strike="noStrike" cap="none">
              <a:solidFill>
                <a:srgbClr val="000000"/>
              </a:solidFill>
              <a:latin typeface="Arial"/>
              <a:ea typeface="Arial"/>
              <a:cs typeface="Arial"/>
              <a:sym typeface="Arial"/>
            </a:endParaRPr>
          </a:p>
        </p:txBody>
      </p:sp>
      <p:sp>
        <p:nvSpPr>
          <p:cNvPr id="658" name="Google Shape;65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659" name="Google Shape;65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grpSp>
        <p:nvGrpSpPr>
          <p:cNvPr id="668" name="Google Shape;668;p29"/>
          <p:cNvGrpSpPr/>
          <p:nvPr/>
        </p:nvGrpSpPr>
        <p:grpSpPr>
          <a:xfrm>
            <a:off x="1524000" y="6356604"/>
            <a:ext cx="9144000" cy="88404"/>
            <a:chOff x="0" y="0"/>
            <a:chExt cx="13004800" cy="125730"/>
          </a:xfrm>
        </p:grpSpPr>
        <p:sp>
          <p:nvSpPr>
            <p:cNvPr id="669" name="Google Shape;669;p2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70" name="Google Shape;670;p2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71" name="Google Shape;671;p29"/>
          <p:cNvSpPr txBox="1"/>
          <p:nvPr/>
        </p:nvSpPr>
        <p:spPr>
          <a:xfrm>
            <a:off x="2547713" y="659012"/>
            <a:ext cx="7983738" cy="1500411"/>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Grouping and Ungrouping in Relational Databases</a:t>
            </a:r>
            <a:endParaRPr sz="1400" b="0" i="0" u="none" strike="noStrike" cap="none">
              <a:solidFill>
                <a:srgbClr val="000000"/>
              </a:solidFill>
              <a:latin typeface="Arial"/>
              <a:ea typeface="Arial"/>
              <a:cs typeface="Arial"/>
              <a:sym typeface="Arial"/>
            </a:endParaRPr>
          </a:p>
          <a:p>
            <a:pPr marL="0" marR="0" lvl="0" indent="0" algn="ctr"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672" name="Google Shape;672;p29"/>
          <p:cNvSpPr txBox="1"/>
          <p:nvPr/>
        </p:nvSpPr>
        <p:spPr>
          <a:xfrm>
            <a:off x="2209800" y="2141215"/>
            <a:ext cx="6517948"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Aggregate Functions: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endParaRPr sz="1875" b="1"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SUM: </a:t>
            </a:r>
            <a:r>
              <a:rPr lang="en-US" sz="1875" b="0" i="0" u="none" strike="noStrike" cap="none">
                <a:solidFill>
                  <a:srgbClr val="000000"/>
                </a:solidFill>
                <a:latin typeface="Arial"/>
                <a:ea typeface="Arial"/>
                <a:cs typeface="Arial"/>
                <a:sym typeface="Arial"/>
              </a:rPr>
              <a:t>Adds up values in a group.</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COUNT:</a:t>
            </a:r>
            <a:r>
              <a:rPr lang="en-US" sz="1875" b="0" i="0" u="none" strike="noStrike" cap="none">
                <a:solidFill>
                  <a:srgbClr val="000000"/>
                </a:solidFill>
                <a:latin typeface="Arial"/>
                <a:ea typeface="Arial"/>
                <a:cs typeface="Arial"/>
                <a:sym typeface="Arial"/>
              </a:rPr>
              <a:t> Counts the number of rows in a group.</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AVG:</a:t>
            </a:r>
            <a:r>
              <a:rPr lang="en-US" sz="1875" b="0" i="0" u="none" strike="noStrike" cap="none">
                <a:solidFill>
                  <a:srgbClr val="000000"/>
                </a:solidFill>
                <a:latin typeface="Arial"/>
                <a:ea typeface="Arial"/>
                <a:cs typeface="Arial"/>
                <a:sym typeface="Arial"/>
              </a:rPr>
              <a:t> Computes the average value in a group.</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MAX/MIN: </a:t>
            </a:r>
            <a:r>
              <a:rPr lang="en-US" sz="1875" b="0" i="0" u="none" strike="noStrike" cap="none">
                <a:solidFill>
                  <a:srgbClr val="000000"/>
                </a:solidFill>
                <a:latin typeface="Arial"/>
                <a:ea typeface="Arial"/>
                <a:cs typeface="Arial"/>
                <a:sym typeface="Arial"/>
              </a:rPr>
              <a:t>Finds the maximum/minimum value in a group.</a:t>
            </a:r>
            <a:endParaRPr sz="1400" b="0" i="0" u="none" strike="noStrike" cap="none">
              <a:solidFill>
                <a:srgbClr val="000000"/>
              </a:solidFill>
              <a:latin typeface="Arial"/>
              <a:ea typeface="Arial"/>
              <a:cs typeface="Arial"/>
              <a:sym typeface="Arial"/>
            </a:endParaRPr>
          </a:p>
        </p:txBody>
      </p:sp>
      <p:sp>
        <p:nvSpPr>
          <p:cNvPr id="673" name="Google Shape;673;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674" name="Google Shape;674;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grpSp>
        <p:nvGrpSpPr>
          <p:cNvPr id="683" name="Google Shape;683;p30"/>
          <p:cNvGrpSpPr/>
          <p:nvPr/>
        </p:nvGrpSpPr>
        <p:grpSpPr>
          <a:xfrm>
            <a:off x="1524000" y="6356604"/>
            <a:ext cx="9144000" cy="88404"/>
            <a:chOff x="0" y="0"/>
            <a:chExt cx="13004800" cy="125730"/>
          </a:xfrm>
        </p:grpSpPr>
        <p:sp>
          <p:nvSpPr>
            <p:cNvPr id="684" name="Google Shape;684;p3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85" name="Google Shape;685;p3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86" name="Google Shape;686;p30"/>
          <p:cNvSpPr txBox="1"/>
          <p:nvPr/>
        </p:nvSpPr>
        <p:spPr>
          <a:xfrm>
            <a:off x="2547713" y="659012"/>
            <a:ext cx="7983738" cy="1500411"/>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Grouping and Ungrouping in Relational Databases</a:t>
            </a:r>
            <a:endParaRPr sz="1400" b="0" i="0" u="none" strike="noStrike" cap="none">
              <a:solidFill>
                <a:srgbClr val="000000"/>
              </a:solidFill>
              <a:latin typeface="Arial"/>
              <a:ea typeface="Arial"/>
              <a:cs typeface="Arial"/>
              <a:sym typeface="Arial"/>
            </a:endParaRPr>
          </a:p>
          <a:p>
            <a:pPr marL="0" marR="0" lvl="0" indent="0" algn="ctr"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687" name="Google Shape;687;p30"/>
          <p:cNvSpPr txBox="1"/>
          <p:nvPr/>
        </p:nvSpPr>
        <p:spPr>
          <a:xfrm>
            <a:off x="2026863" y="1965970"/>
            <a:ext cx="8212762"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2. Ungrouping</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Ungrouping is the reverse process of grouping, where aggregated data is broken down into individual rows or components.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Purpose</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To expand summarized data back to its detailed representation.</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Useful for reconstructing the original dataset from grouped data.</a:t>
            </a:r>
            <a:endParaRPr sz="1400" b="0" i="0" u="none" strike="noStrike" cap="none">
              <a:solidFill>
                <a:srgbClr val="000000"/>
              </a:solidFill>
              <a:latin typeface="Arial"/>
              <a:ea typeface="Arial"/>
              <a:cs typeface="Arial"/>
              <a:sym typeface="Arial"/>
            </a:endParaRPr>
          </a:p>
        </p:txBody>
      </p:sp>
      <p:sp>
        <p:nvSpPr>
          <p:cNvPr id="688" name="Google Shape;688;p30"/>
          <p:cNvSpPr/>
          <p:nvPr/>
        </p:nvSpPr>
        <p:spPr>
          <a:xfrm>
            <a:off x="3121480" y="4886143"/>
            <a:ext cx="5650629" cy="1052430"/>
          </a:xfrm>
          <a:custGeom>
            <a:avLst/>
            <a:gdLst/>
            <a:ahLst/>
            <a:cxnLst/>
            <a:rect l="l" t="t" r="r" b="b"/>
            <a:pathLst>
              <a:path w="6027338" h="1122592" extrusionOk="0">
                <a:moveTo>
                  <a:pt x="0" y="0"/>
                </a:moveTo>
                <a:lnTo>
                  <a:pt x="6027338" y="0"/>
                </a:lnTo>
                <a:lnTo>
                  <a:pt x="6027338" y="1122592"/>
                </a:lnTo>
                <a:lnTo>
                  <a:pt x="0" y="1122592"/>
                </a:lnTo>
                <a:lnTo>
                  <a:pt x="0" y="0"/>
                </a:lnTo>
                <a:close/>
              </a:path>
            </a:pathLst>
          </a:custGeom>
          <a:blipFill rotWithShape="1">
            <a:blip r:embed="rId3">
              <a:alphaModFix/>
            </a:blip>
            <a:stretch>
              <a:fillRect/>
            </a:stretch>
          </a:blipFill>
          <a:ln>
            <a:noFill/>
          </a:ln>
        </p:spPr>
      </p:sp>
      <p:sp>
        <p:nvSpPr>
          <p:cNvPr id="689" name="Google Shape;689;p30"/>
          <p:cNvSpPr txBox="1"/>
          <p:nvPr/>
        </p:nvSpPr>
        <p:spPr>
          <a:xfrm>
            <a:off x="2034433" y="3975274"/>
            <a:ext cx="4126550" cy="57092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Example</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Given the grouped relation:</a:t>
            </a:r>
            <a:endParaRPr sz="1400" b="0" i="0" u="none" strike="noStrike" cap="none">
              <a:solidFill>
                <a:srgbClr val="000000"/>
              </a:solidFill>
              <a:latin typeface="Arial"/>
              <a:ea typeface="Arial"/>
              <a:cs typeface="Arial"/>
              <a:sym typeface="Arial"/>
            </a:endParaRPr>
          </a:p>
        </p:txBody>
      </p:sp>
      <p:sp>
        <p:nvSpPr>
          <p:cNvPr id="690" name="Google Shape;69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691" name="Google Shape;69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grpSp>
        <p:nvGrpSpPr>
          <p:cNvPr id="700" name="Google Shape;700;p31"/>
          <p:cNvGrpSpPr/>
          <p:nvPr/>
        </p:nvGrpSpPr>
        <p:grpSpPr>
          <a:xfrm>
            <a:off x="1524000" y="6356604"/>
            <a:ext cx="9144000" cy="88404"/>
            <a:chOff x="0" y="0"/>
            <a:chExt cx="13004800" cy="125730"/>
          </a:xfrm>
        </p:grpSpPr>
        <p:sp>
          <p:nvSpPr>
            <p:cNvPr id="701" name="Google Shape;701;p3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02" name="Google Shape;702;p3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03" name="Google Shape;703;p31"/>
          <p:cNvSpPr/>
          <p:nvPr/>
        </p:nvSpPr>
        <p:spPr>
          <a:xfrm>
            <a:off x="3095441" y="2722433"/>
            <a:ext cx="5650629" cy="1306708"/>
          </a:xfrm>
          <a:custGeom>
            <a:avLst/>
            <a:gdLst/>
            <a:ahLst/>
            <a:cxnLst/>
            <a:rect l="l" t="t" r="r" b="b"/>
            <a:pathLst>
              <a:path w="6027338" h="1393822" extrusionOk="0">
                <a:moveTo>
                  <a:pt x="0" y="0"/>
                </a:moveTo>
                <a:lnTo>
                  <a:pt x="6027338" y="0"/>
                </a:lnTo>
                <a:lnTo>
                  <a:pt x="6027338" y="1393822"/>
                </a:lnTo>
                <a:lnTo>
                  <a:pt x="0" y="1393822"/>
                </a:lnTo>
                <a:lnTo>
                  <a:pt x="0" y="0"/>
                </a:lnTo>
                <a:close/>
              </a:path>
            </a:pathLst>
          </a:custGeom>
          <a:blipFill rotWithShape="1">
            <a:blip r:embed="rId3">
              <a:alphaModFix/>
            </a:blip>
            <a:stretch>
              <a:fillRect/>
            </a:stretch>
          </a:blipFill>
          <a:ln>
            <a:noFill/>
          </a:ln>
        </p:spPr>
      </p:sp>
      <p:sp>
        <p:nvSpPr>
          <p:cNvPr id="704" name="Google Shape;704;p31"/>
          <p:cNvSpPr txBox="1"/>
          <p:nvPr/>
        </p:nvSpPr>
        <p:spPr>
          <a:xfrm>
            <a:off x="2547713" y="659012"/>
            <a:ext cx="7983738" cy="1500411"/>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Grouping and Ungrouping in Relational Databases</a:t>
            </a:r>
            <a:endParaRPr sz="1400" b="0" i="0" u="none" strike="noStrike" cap="none">
              <a:solidFill>
                <a:srgbClr val="000000"/>
              </a:solidFill>
              <a:latin typeface="Arial"/>
              <a:ea typeface="Arial"/>
              <a:cs typeface="Arial"/>
              <a:sym typeface="Arial"/>
            </a:endParaRPr>
          </a:p>
          <a:p>
            <a:pPr marL="0" marR="0" lvl="0" indent="0" algn="ctr"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705" name="Google Shape;705;p31"/>
          <p:cNvSpPr txBox="1"/>
          <p:nvPr/>
        </p:nvSpPr>
        <p:spPr>
          <a:xfrm>
            <a:off x="1962268" y="2141216"/>
            <a:ext cx="3229467"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And the original relation Sales:</a:t>
            </a:r>
            <a:endParaRPr sz="1400" b="0" i="0" u="none" strike="noStrike" cap="none">
              <a:solidFill>
                <a:srgbClr val="000000"/>
              </a:solidFill>
              <a:latin typeface="Arial"/>
              <a:ea typeface="Arial"/>
              <a:cs typeface="Arial"/>
              <a:sym typeface="Arial"/>
            </a:endParaRPr>
          </a:p>
        </p:txBody>
      </p:sp>
      <p:sp>
        <p:nvSpPr>
          <p:cNvPr id="706" name="Google Shape;706;p31"/>
          <p:cNvSpPr txBox="1"/>
          <p:nvPr/>
        </p:nvSpPr>
        <p:spPr>
          <a:xfrm>
            <a:off x="2026863" y="4520274"/>
            <a:ext cx="8321899" cy="57092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We can "ungroup" the data by rejoining the grouped relation with the original using the Product attribute.</a:t>
            </a:r>
            <a:endParaRPr sz="1400" b="0" i="0" u="none" strike="noStrike" cap="none">
              <a:solidFill>
                <a:srgbClr val="000000"/>
              </a:solidFill>
              <a:latin typeface="Arial"/>
              <a:ea typeface="Arial"/>
              <a:cs typeface="Arial"/>
              <a:sym typeface="Arial"/>
            </a:endParaRPr>
          </a:p>
        </p:txBody>
      </p:sp>
      <p:sp>
        <p:nvSpPr>
          <p:cNvPr id="707" name="Google Shape;70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708" name="Google Shape;70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grpSp>
        <p:nvGrpSpPr>
          <p:cNvPr id="717" name="Google Shape;717;p32"/>
          <p:cNvGrpSpPr/>
          <p:nvPr/>
        </p:nvGrpSpPr>
        <p:grpSpPr>
          <a:xfrm>
            <a:off x="1524000" y="6356604"/>
            <a:ext cx="9144000" cy="88404"/>
            <a:chOff x="0" y="0"/>
            <a:chExt cx="13004800" cy="125730"/>
          </a:xfrm>
        </p:grpSpPr>
        <p:sp>
          <p:nvSpPr>
            <p:cNvPr id="718" name="Google Shape;718;p3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19" name="Google Shape;719;p3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20" name="Google Shape;720;p32"/>
          <p:cNvSpPr txBox="1"/>
          <p:nvPr/>
        </p:nvSpPr>
        <p:spPr>
          <a:xfrm>
            <a:off x="2026863" y="2141216"/>
            <a:ext cx="5739617" cy="263559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Practical Use Cases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Grouping:</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Finding total sales per region or product.</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Calculating average salary by department.</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Summarizing inventory by category.</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al"/>
                <a:ea typeface="Arial"/>
                <a:cs typeface="Arial"/>
                <a:sym typeface="Arial"/>
              </a:rPr>
              <a:t>Ungrouping:</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Expanding summarized sales reports back into individual transactions.</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Analyzing aggregated metrics at a granular level.</a:t>
            </a:r>
            <a:endParaRPr sz="1400" b="0" i="0" u="none" strike="noStrike" cap="none">
              <a:solidFill>
                <a:srgbClr val="000000"/>
              </a:solidFill>
              <a:latin typeface="Arial"/>
              <a:ea typeface="Arial"/>
              <a:cs typeface="Arial"/>
              <a:sym typeface="Arial"/>
            </a:endParaRPr>
          </a:p>
        </p:txBody>
      </p:sp>
      <p:sp>
        <p:nvSpPr>
          <p:cNvPr id="721" name="Google Shape;721;p32"/>
          <p:cNvSpPr txBox="1"/>
          <p:nvPr/>
        </p:nvSpPr>
        <p:spPr>
          <a:xfrm>
            <a:off x="2547713" y="659012"/>
            <a:ext cx="7983738" cy="1500411"/>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Grouping and Ungrouping in Relational Databases</a:t>
            </a:r>
            <a:endParaRPr sz="1400" b="0" i="0" u="none" strike="noStrike" cap="none">
              <a:solidFill>
                <a:srgbClr val="000000"/>
              </a:solidFill>
              <a:latin typeface="Arial"/>
              <a:ea typeface="Arial"/>
              <a:cs typeface="Arial"/>
              <a:sym typeface="Arial"/>
            </a:endParaRPr>
          </a:p>
          <a:p>
            <a:pPr marL="0" marR="0" lvl="0" indent="0" algn="ctr" rtl="0">
              <a:lnSpc>
                <a:spcPct val="120024"/>
              </a:lnSpc>
              <a:spcBef>
                <a:spcPts val="0"/>
              </a:spcBef>
              <a:spcAft>
                <a:spcPts val="0"/>
              </a:spcAft>
              <a:buClr>
                <a:srgbClr val="000000"/>
              </a:buClr>
              <a:buSzPts val="3281"/>
              <a:buFont typeface="Arial"/>
              <a:buNone/>
            </a:pPr>
            <a:endParaRPr sz="3281" b="1" i="0" u="none" strike="noStrike" cap="none">
              <a:solidFill>
                <a:srgbClr val="C00000"/>
              </a:solidFill>
              <a:latin typeface="Arimo"/>
              <a:ea typeface="Arimo"/>
              <a:cs typeface="Arimo"/>
              <a:sym typeface="Arimo"/>
            </a:endParaRPr>
          </a:p>
        </p:txBody>
      </p:sp>
      <p:sp>
        <p:nvSpPr>
          <p:cNvPr id="722" name="Google Shape;72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723" name="Google Shape;72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grpSp>
        <p:nvGrpSpPr>
          <p:cNvPr id="732" name="Google Shape;732;p33"/>
          <p:cNvGrpSpPr/>
          <p:nvPr/>
        </p:nvGrpSpPr>
        <p:grpSpPr>
          <a:xfrm>
            <a:off x="1524000" y="6356604"/>
            <a:ext cx="9144000" cy="88404"/>
            <a:chOff x="0" y="0"/>
            <a:chExt cx="13004800" cy="125730"/>
          </a:xfrm>
        </p:grpSpPr>
        <p:sp>
          <p:nvSpPr>
            <p:cNvPr id="733" name="Google Shape;733;p3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34" name="Google Shape;734;p3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35" name="Google Shape;735;p33"/>
          <p:cNvSpPr/>
          <p:nvPr/>
        </p:nvSpPr>
        <p:spPr>
          <a:xfrm>
            <a:off x="7239000" y="3092196"/>
            <a:ext cx="2743200" cy="2743200"/>
          </a:xfrm>
          <a:custGeom>
            <a:avLst/>
            <a:gdLst/>
            <a:ahLst/>
            <a:cxnLst/>
            <a:rect l="l" t="t" r="r" b="b"/>
            <a:pathLst>
              <a:path w="2926080" h="2926080" extrusionOk="0">
                <a:moveTo>
                  <a:pt x="0" y="0"/>
                </a:moveTo>
                <a:lnTo>
                  <a:pt x="2926080" y="0"/>
                </a:lnTo>
                <a:lnTo>
                  <a:pt x="2926080" y="2926080"/>
                </a:lnTo>
                <a:lnTo>
                  <a:pt x="0" y="2926080"/>
                </a:lnTo>
                <a:lnTo>
                  <a:pt x="0" y="0"/>
                </a:lnTo>
                <a:close/>
              </a:path>
            </a:pathLst>
          </a:custGeom>
          <a:blipFill rotWithShape="1">
            <a:blip r:embed="rId3">
              <a:alphaModFix/>
            </a:blip>
            <a:stretch>
              <a:fillRect/>
            </a:stretch>
          </a:blipFill>
          <a:ln>
            <a:noFill/>
          </a:ln>
        </p:spPr>
      </p:sp>
      <p:sp>
        <p:nvSpPr>
          <p:cNvPr id="736" name="Google Shape;736;p33"/>
          <p:cNvSpPr txBox="1"/>
          <p:nvPr/>
        </p:nvSpPr>
        <p:spPr>
          <a:xfrm>
            <a:off x="2026863" y="1732311"/>
            <a:ext cx="7955337"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0" i="0" u="none" strike="noStrike" cap="none">
                <a:solidFill>
                  <a:srgbClr val="000000"/>
                </a:solidFill>
                <a:latin typeface="Arial"/>
                <a:ea typeface="Arial"/>
                <a:cs typeface="Arial"/>
                <a:sym typeface="Arial"/>
              </a:rPr>
              <a:t>Relational comparisons in databases involve evaluating relationships between data attributes or between tuples in a relation. These comparisons are typically used in query conditions to filter, join, or manipulate data.</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endParaRPr sz="1875" b="0" i="0" u="none" strike="noStrike" cap="none">
              <a:solidFill>
                <a:srgbClr val="000000"/>
              </a:solidFill>
              <a:latin typeface="Arial"/>
              <a:ea typeface="Arial"/>
              <a:cs typeface="Arial"/>
              <a:sym typeface="Arial"/>
            </a:endParaRPr>
          </a:p>
        </p:txBody>
      </p:sp>
      <p:sp>
        <p:nvSpPr>
          <p:cNvPr id="737" name="Google Shape;737;p33"/>
          <p:cNvSpPr txBox="1"/>
          <p:nvPr/>
        </p:nvSpPr>
        <p:spPr>
          <a:xfrm>
            <a:off x="2547713" y="659012"/>
            <a:ext cx="7983738" cy="50013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Comparisons</a:t>
            </a:r>
            <a:endParaRPr sz="1400" b="0" i="0" u="none" strike="noStrike" cap="none">
              <a:solidFill>
                <a:srgbClr val="000000"/>
              </a:solidFill>
              <a:latin typeface="Arial"/>
              <a:ea typeface="Arial"/>
              <a:cs typeface="Arial"/>
              <a:sym typeface="Arial"/>
            </a:endParaRPr>
          </a:p>
        </p:txBody>
      </p:sp>
      <p:sp>
        <p:nvSpPr>
          <p:cNvPr id="738" name="Google Shape;738;p33"/>
          <p:cNvSpPr txBox="1"/>
          <p:nvPr/>
        </p:nvSpPr>
        <p:spPr>
          <a:xfrm>
            <a:off x="2034555" y="2848570"/>
            <a:ext cx="4505026" cy="82843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Relational comparisons compare values in tuples or attributes using comparison operators such as =, &lt;, &gt;, &lt;=, &gt;=, &lt;&gt;.</a:t>
            </a:r>
            <a:endParaRPr sz="1400" b="0" i="0" u="none" strike="noStrike" cap="none">
              <a:solidFill>
                <a:srgbClr val="000000"/>
              </a:solidFill>
              <a:latin typeface="Arial"/>
              <a:ea typeface="Arial"/>
              <a:cs typeface="Arial"/>
              <a:sym typeface="Arial"/>
            </a:endParaRPr>
          </a:p>
        </p:txBody>
      </p:sp>
      <p:sp>
        <p:nvSpPr>
          <p:cNvPr id="739" name="Google Shape;739;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740" name="Google Shape;740;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grpSp>
        <p:nvGrpSpPr>
          <p:cNvPr id="749" name="Google Shape;749;p34"/>
          <p:cNvGrpSpPr/>
          <p:nvPr/>
        </p:nvGrpSpPr>
        <p:grpSpPr>
          <a:xfrm>
            <a:off x="1524000" y="6356604"/>
            <a:ext cx="9144000" cy="88404"/>
            <a:chOff x="0" y="0"/>
            <a:chExt cx="13004800" cy="125730"/>
          </a:xfrm>
        </p:grpSpPr>
        <p:sp>
          <p:nvSpPr>
            <p:cNvPr id="750" name="Google Shape;750;p3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51" name="Google Shape;751;p3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52" name="Google Shape;752;p34"/>
          <p:cNvSpPr/>
          <p:nvPr/>
        </p:nvSpPr>
        <p:spPr>
          <a:xfrm>
            <a:off x="5690086" y="5105665"/>
            <a:ext cx="895765" cy="314999"/>
          </a:xfrm>
          <a:custGeom>
            <a:avLst/>
            <a:gdLst/>
            <a:ahLst/>
            <a:cxnLst/>
            <a:rect l="l" t="t" r="r" b="b"/>
            <a:pathLst>
              <a:path w="955483" h="335999" extrusionOk="0">
                <a:moveTo>
                  <a:pt x="0" y="0"/>
                </a:moveTo>
                <a:lnTo>
                  <a:pt x="955483" y="0"/>
                </a:lnTo>
                <a:lnTo>
                  <a:pt x="955483" y="335999"/>
                </a:lnTo>
                <a:lnTo>
                  <a:pt x="0" y="335999"/>
                </a:lnTo>
                <a:lnTo>
                  <a:pt x="0" y="0"/>
                </a:lnTo>
                <a:close/>
              </a:path>
            </a:pathLst>
          </a:custGeom>
          <a:blipFill rotWithShape="1">
            <a:blip r:embed="rId3">
              <a:alphaModFix/>
            </a:blip>
            <a:stretch>
              <a:fillRect l="-271289" t="-1007898" r="-279456" b="-4449"/>
            </a:stretch>
          </a:blipFill>
          <a:ln>
            <a:noFill/>
          </a:ln>
        </p:spPr>
      </p:sp>
      <p:sp>
        <p:nvSpPr>
          <p:cNvPr id="753" name="Google Shape;753;p34"/>
          <p:cNvSpPr/>
          <p:nvPr/>
        </p:nvSpPr>
        <p:spPr>
          <a:xfrm>
            <a:off x="3491942" y="1900873"/>
            <a:ext cx="5650629" cy="268405"/>
          </a:xfrm>
          <a:custGeom>
            <a:avLst/>
            <a:gdLst/>
            <a:ahLst/>
            <a:cxnLst/>
            <a:rect l="l" t="t" r="r" b="b"/>
            <a:pathLst>
              <a:path w="6027338" h="286299" extrusionOk="0">
                <a:moveTo>
                  <a:pt x="0" y="0"/>
                </a:moveTo>
                <a:lnTo>
                  <a:pt x="6027338" y="0"/>
                </a:lnTo>
                <a:lnTo>
                  <a:pt x="6027338" y="286299"/>
                </a:lnTo>
                <a:lnTo>
                  <a:pt x="0" y="286299"/>
                </a:lnTo>
                <a:lnTo>
                  <a:pt x="0" y="0"/>
                </a:lnTo>
                <a:close/>
              </a:path>
            </a:pathLst>
          </a:custGeom>
          <a:blipFill rotWithShape="1">
            <a:blip r:embed="rId4">
              <a:alphaModFix/>
            </a:blip>
            <a:stretch>
              <a:fillRect/>
            </a:stretch>
          </a:blipFill>
          <a:ln>
            <a:noFill/>
          </a:ln>
        </p:spPr>
      </p:sp>
      <p:sp>
        <p:nvSpPr>
          <p:cNvPr id="754" name="Google Shape;754;p34"/>
          <p:cNvSpPr/>
          <p:nvPr/>
        </p:nvSpPr>
        <p:spPr>
          <a:xfrm>
            <a:off x="3021023" y="1284729"/>
            <a:ext cx="6546783" cy="4378161"/>
          </a:xfrm>
          <a:custGeom>
            <a:avLst/>
            <a:gdLst/>
            <a:ahLst/>
            <a:cxnLst/>
            <a:rect l="l" t="t" r="r" b="b"/>
            <a:pathLst>
              <a:path w="6983235" h="4670038" extrusionOk="0">
                <a:moveTo>
                  <a:pt x="0" y="0"/>
                </a:moveTo>
                <a:lnTo>
                  <a:pt x="6983234" y="0"/>
                </a:lnTo>
                <a:lnTo>
                  <a:pt x="6983234" y="4670038"/>
                </a:lnTo>
                <a:lnTo>
                  <a:pt x="0" y="4670038"/>
                </a:lnTo>
                <a:lnTo>
                  <a:pt x="0" y="0"/>
                </a:lnTo>
                <a:close/>
              </a:path>
            </a:pathLst>
          </a:custGeom>
          <a:blipFill rotWithShape="1">
            <a:blip r:embed="rId5">
              <a:alphaModFix/>
            </a:blip>
            <a:stretch>
              <a:fillRect/>
            </a:stretch>
          </a:blipFill>
          <a:ln>
            <a:noFill/>
          </a:ln>
        </p:spPr>
      </p:sp>
      <p:sp>
        <p:nvSpPr>
          <p:cNvPr id="755" name="Google Shape;755;p34"/>
          <p:cNvSpPr txBox="1"/>
          <p:nvPr/>
        </p:nvSpPr>
        <p:spPr>
          <a:xfrm>
            <a:off x="2593981" y="561467"/>
            <a:ext cx="7983738" cy="50013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Relational Comparisons</a:t>
            </a:r>
            <a:endParaRPr sz="1400" b="0" i="0" u="none" strike="noStrike" cap="none">
              <a:solidFill>
                <a:srgbClr val="000000"/>
              </a:solidFill>
              <a:latin typeface="Arial"/>
              <a:ea typeface="Arial"/>
              <a:cs typeface="Arial"/>
              <a:sym typeface="Arial"/>
            </a:endParaRPr>
          </a:p>
        </p:txBody>
      </p:sp>
      <p:sp>
        <p:nvSpPr>
          <p:cNvPr id="756" name="Google Shape;756;p34"/>
          <p:cNvSpPr/>
          <p:nvPr/>
        </p:nvSpPr>
        <p:spPr>
          <a:xfrm>
            <a:off x="5934879" y="4993835"/>
            <a:ext cx="1184833" cy="566333"/>
          </a:xfrm>
          <a:custGeom>
            <a:avLst/>
            <a:gdLst/>
            <a:ahLst/>
            <a:cxnLst/>
            <a:rect l="l" t="t" r="r" b="b"/>
            <a:pathLst>
              <a:path w="1263822" h="604088" extrusionOk="0">
                <a:moveTo>
                  <a:pt x="0" y="0"/>
                </a:moveTo>
                <a:lnTo>
                  <a:pt x="1263822" y="0"/>
                </a:lnTo>
                <a:lnTo>
                  <a:pt x="1263822" y="604087"/>
                </a:lnTo>
                <a:lnTo>
                  <a:pt x="0" y="604087"/>
                </a:lnTo>
                <a:lnTo>
                  <a:pt x="0" y="0"/>
                </a:lnTo>
                <a:close/>
              </a:path>
            </a:pathLst>
          </a:custGeom>
          <a:blipFill rotWithShape="1">
            <a:blip r:embed="rId3">
              <a:alphaModFix/>
            </a:blip>
            <a:stretch>
              <a:fillRect l="-229006" t="-560924" r="-205781" b="-11751"/>
            </a:stretch>
          </a:blipFill>
          <a:ln>
            <a:noFill/>
          </a:ln>
        </p:spPr>
      </p:sp>
      <p:sp>
        <p:nvSpPr>
          <p:cNvPr id="757" name="Google Shape;75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758" name="Google Shape;75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grpSp>
        <p:nvGrpSpPr>
          <p:cNvPr id="767" name="Google Shape;767;p35"/>
          <p:cNvGrpSpPr/>
          <p:nvPr/>
        </p:nvGrpSpPr>
        <p:grpSpPr>
          <a:xfrm>
            <a:off x="1524000" y="6356604"/>
            <a:ext cx="9144000" cy="88404"/>
            <a:chOff x="0" y="0"/>
            <a:chExt cx="13004800" cy="125730"/>
          </a:xfrm>
        </p:grpSpPr>
        <p:sp>
          <p:nvSpPr>
            <p:cNvPr id="768" name="Google Shape;768;p3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69" name="Google Shape;769;p3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70" name="Google Shape;770;p35"/>
          <p:cNvSpPr txBox="1"/>
          <p:nvPr/>
        </p:nvSpPr>
        <p:spPr>
          <a:xfrm>
            <a:off x="2410911" y="659012"/>
            <a:ext cx="7983738" cy="50013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000000"/>
              </a:buClr>
              <a:buSzPts val="3281"/>
              <a:buFont typeface="Arial"/>
              <a:buNone/>
            </a:pPr>
            <a:r>
              <a:rPr lang="en-US" sz="3281" b="1" i="0" u="none" strike="noStrike" cap="none">
                <a:solidFill>
                  <a:srgbClr val="C00000"/>
                </a:solidFill>
                <a:latin typeface="Arimo"/>
                <a:ea typeface="Arimo"/>
                <a:cs typeface="Arimo"/>
                <a:sym typeface="Arimo"/>
              </a:rPr>
              <a:t>Computational Capabilities</a:t>
            </a:r>
            <a:endParaRPr sz="1400" b="0" i="0" u="none" strike="noStrike" cap="none">
              <a:solidFill>
                <a:srgbClr val="000000"/>
              </a:solidFill>
              <a:latin typeface="Arial"/>
              <a:ea typeface="Arial"/>
              <a:cs typeface="Arial"/>
              <a:sym typeface="Arial"/>
            </a:endParaRPr>
          </a:p>
        </p:txBody>
      </p:sp>
      <p:sp>
        <p:nvSpPr>
          <p:cNvPr id="771" name="Google Shape;771;p35"/>
          <p:cNvSpPr txBox="1"/>
          <p:nvPr/>
        </p:nvSpPr>
        <p:spPr>
          <a:xfrm>
            <a:off x="1843700" y="1228750"/>
            <a:ext cx="9143700" cy="51372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mo"/>
                <a:ea typeface="Arimo"/>
                <a:cs typeface="Arimo"/>
                <a:sym typeface="Arimo"/>
              </a:rPr>
              <a:t>Computational Capabilities:</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mo"/>
                <a:ea typeface="Arimo"/>
                <a:cs typeface="Arimo"/>
                <a:sym typeface="Arimo"/>
              </a:rPr>
              <a:t>Expressive Power</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mo"/>
                <a:ea typeface="Arimo"/>
                <a:cs typeface="Arimo"/>
                <a:sym typeface="Arimo"/>
              </a:rPr>
              <a:t>Both Relational Algebra and Relational Calculus are equivalent in terms of computational capabilities. Codd’s Theorem proves this equivalence.</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mo"/>
                <a:ea typeface="Arimo"/>
                <a:cs typeface="Arimo"/>
                <a:sym typeface="Arimo"/>
              </a:rPr>
              <a:t>Efficiency</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mo"/>
                <a:ea typeface="Arimo"/>
                <a:cs typeface="Arimo"/>
                <a:sym typeface="Arimo"/>
              </a:rPr>
              <a:t>Relational Algebra provides a procedural approach, making it better suited for optimization and implementation in database management systems (DBMS).</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mo"/>
                <a:ea typeface="Arimo"/>
                <a:cs typeface="Arimo"/>
                <a:sym typeface="Arimo"/>
              </a:rPr>
              <a:t>Relational Calculus, being declarative, is more user-friendly for expressing complex queries without concern for execution.</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mo"/>
                <a:ea typeface="Arimo"/>
                <a:cs typeface="Arimo"/>
                <a:sym typeface="Arimo"/>
              </a:rPr>
              <a:t>Query Optimization</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mo"/>
                <a:ea typeface="Arimo"/>
                <a:cs typeface="Arimo"/>
                <a:sym typeface="Arimo"/>
              </a:rPr>
              <a:t>DBMS converts declarative queries (Relational Calculus) into procedural queries    (Relational Algebra) for optimization and execution.</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0"/>
              </a:spcBef>
              <a:spcAft>
                <a:spcPts val="0"/>
              </a:spcAft>
              <a:buClr>
                <a:srgbClr val="000000"/>
              </a:buClr>
              <a:buSzPts val="1875"/>
              <a:buFont typeface="Arial"/>
              <a:buNone/>
            </a:pPr>
            <a:r>
              <a:rPr lang="en-US" sz="1875" b="1" i="0" u="none" strike="noStrike" cap="none">
                <a:solidFill>
                  <a:srgbClr val="000000"/>
                </a:solidFill>
                <a:latin typeface="Arimo"/>
                <a:ea typeface="Arimo"/>
                <a:cs typeface="Arimo"/>
                <a:sym typeface="Arimo"/>
              </a:rPr>
              <a:t>Safety</a:t>
            </a:r>
            <a:endParaRPr sz="1400" b="0" i="0" u="none" strike="noStrike" cap="none">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mo"/>
                <a:ea typeface="Arimo"/>
                <a:cs typeface="Arimo"/>
                <a:sym typeface="Arimo"/>
              </a:rPr>
              <a:t>Calculus expressions must be safe, ensuring that the query produces a finite result.</a:t>
            </a:r>
            <a:endParaRPr sz="1400" b="0" i="0" u="none" strike="noStrike" cap="none">
              <a:solidFill>
                <a:srgbClr val="000000"/>
              </a:solidFill>
              <a:latin typeface="Arial"/>
              <a:ea typeface="Arial"/>
              <a:cs typeface="Arial"/>
              <a:sym typeface="Arial"/>
            </a:endParaRPr>
          </a:p>
        </p:txBody>
      </p:sp>
      <p:sp>
        <p:nvSpPr>
          <p:cNvPr id="772" name="Google Shape;772;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773" name="Google Shape;773;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grpSp>
        <p:nvGrpSpPr>
          <p:cNvPr id="782" name="Google Shape;782;p36"/>
          <p:cNvGrpSpPr/>
          <p:nvPr/>
        </p:nvGrpSpPr>
        <p:grpSpPr>
          <a:xfrm>
            <a:off x="1524000" y="6356604"/>
            <a:ext cx="9144000" cy="88404"/>
            <a:chOff x="0" y="0"/>
            <a:chExt cx="13004800" cy="125730"/>
          </a:xfrm>
        </p:grpSpPr>
        <p:sp>
          <p:nvSpPr>
            <p:cNvPr id="783" name="Google Shape;783;p3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84" name="Google Shape;784;p3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85" name="Google Shape;785;p36"/>
          <p:cNvSpPr txBox="1"/>
          <p:nvPr/>
        </p:nvSpPr>
        <p:spPr>
          <a:xfrm>
            <a:off x="3497975" y="2697131"/>
            <a:ext cx="5472121" cy="1023293"/>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Clr>
                <a:srgbClr val="000000"/>
              </a:buClr>
              <a:buSzPts val="7049"/>
              <a:buFont typeface="Arial"/>
              <a:buNone/>
            </a:pPr>
            <a:r>
              <a:rPr lang="en-US" sz="7049" b="0" i="0" u="none" strike="noStrike" cap="none">
                <a:solidFill>
                  <a:srgbClr val="000000"/>
                </a:solidFill>
                <a:latin typeface="Arial"/>
                <a:ea typeface="Arial"/>
                <a:cs typeface="Arial"/>
                <a:sym typeface="Arial"/>
              </a:rPr>
              <a:t>THANK YOU </a:t>
            </a:r>
            <a:endParaRPr sz="1400" b="0" i="0" u="none" strike="noStrike" cap="none">
              <a:solidFill>
                <a:srgbClr val="000000"/>
              </a:solidFill>
              <a:latin typeface="Arial"/>
              <a:ea typeface="Arial"/>
              <a:cs typeface="Arial"/>
              <a:sym typeface="Arial"/>
            </a:endParaRPr>
          </a:p>
        </p:txBody>
      </p:sp>
      <p:sp>
        <p:nvSpPr>
          <p:cNvPr id="786" name="Google Shape;786;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12/24/2024</a:t>
            </a:r>
            <a:endParaRPr/>
          </a:p>
        </p:txBody>
      </p:sp>
      <p:sp>
        <p:nvSpPr>
          <p:cNvPr id="787" name="Google Shape;787;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Dr. Gitanjali , Asst. Prof., UIE-CSE, Chandigarh University</a:t>
            </a:r>
            <a:endParaRPr/>
          </a:p>
        </p:txBody>
      </p:sp>
      <p:sp>
        <p:nvSpPr>
          <p:cNvPr id="788" name="Google Shape;788;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Tree>
  </p:cSld>
  <p:clrMapOvr>
    <a:masterClrMapping/>
  </p:clrMapOvr>
</p:sld>
</file>

<file path=ppt/theme/theme1.xml><?xml version="1.0" encoding="utf-8"?>
<a:theme xmlns:a="http://schemas.openxmlformats.org/drawingml/2006/main" name="Theme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3">
      <a:dk1>
        <a:srgbClr val="000000"/>
      </a:dk1>
      <a:lt1>
        <a:srgbClr val="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2938</Words>
  <Application>Microsoft Office PowerPoint</Application>
  <PresentationFormat>Widescreen</PresentationFormat>
  <Paragraphs>364</Paragraphs>
  <Slides>36</Slides>
  <Notes>36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36</vt:i4>
      </vt:variant>
    </vt:vector>
  </HeadingPairs>
  <TitlesOfParts>
    <vt:vector size="43" baseType="lpstr">
      <vt:lpstr>Arimo</vt:lpstr>
      <vt:lpstr>Calibri</vt:lpstr>
      <vt:lpstr>Arial</vt:lpstr>
      <vt:lpstr>Arial Rounded</vt:lpstr>
      <vt:lpstr>Times New Roman</vt:lpstr>
      <vt:lpstr>Theme1</vt:lpstr>
      <vt:lpstr>Contents Slide Master</vt:lpstr>
      <vt:lpstr>PowerPoint Presentation</vt:lpstr>
      <vt:lpstr>ABOUT COURSE</vt:lpstr>
      <vt:lpstr>COURSE OUTCOMES </vt:lpstr>
      <vt:lpstr>COURSE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gaurav srivastav</dc:creator>
  <cp:lastModifiedBy>dell</cp:lastModifiedBy>
  <cp:revision>1</cp:revision>
  <dcterms:created xsi:type="dcterms:W3CDTF">2020-08-04T18:57:56Z</dcterms:created>
  <dcterms:modified xsi:type="dcterms:W3CDTF">2025-01-11T10:31:38Z</dcterms:modified>
</cp:coreProperties>
</file>