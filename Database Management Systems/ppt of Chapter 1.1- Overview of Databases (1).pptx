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sldSz cx="12192000" cy="6858000"/>
  <p:notesSz cx="6858000" cy="9144000"/>
  <p:embeddedFontLst>
    <p:embeddedFont>
      <p:font typeface="Arimo" panose="020B0604020202020204" charset="0"/>
      <p:regular r:id="rId54"/>
      <p:bold r:id="rId55"/>
      <p:italic r:id="rId56"/>
      <p:boldItalic r:id="rId57"/>
    </p:embeddedFont>
    <p:embeddedFont>
      <p:font typeface="Trebuchet MS" panose="020B0603020202020204" pitchFamily="34"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2" roundtripDataSignature="AMtx7mic9/iD+pk1nwrdkL3jCL8xIRvDR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EC9231-041A-40A6-AB31-EC42F43FF73A}">
  <a:tblStyle styleId="{DEEC9231-041A-40A6-AB31-EC42F43FF73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C95B516-BE01-4FC8-9785-2EA43326EE01}"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10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font" Target="fonts/font1.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61"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22d76e7002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g322d76e700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2d76e7002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22d76e7002_0_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5" name="Google Shape;165;p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66" name="Google Shape;166;p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 name="Google Shape;167;p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8" name="Google Shape;168;p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69" name="Google Shape;169;p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4" name="Google Shape;184;p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185" name="Google Shape;185;p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88" name="Google Shape;188;p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6" name="Google Shape;216;p1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17" name="Google Shape;217;p1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8" name="Google Shape;218;p1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9" name="Google Shape;219;p1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0" name="Google Shape;220;p1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5" name="Google Shape;245;p1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46" name="Google Shape;246;p1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1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1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49" name="Google Shape;249;p1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29" name="Google Shape;229;p1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30" name="Google Shape;230;p1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p1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33" name="Google Shape;233;p1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0" name="Google Shape;260;p1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61" name="Google Shape;261;p1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2" name="Google Shape;262;p1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64" name="Google Shape;264;p1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76" name="Google Shape;276;p1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77" name="Google Shape;277;p1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8" name="Google Shape;278;p1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80" name="Google Shape;280;p1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1" name="Google Shape;291;p1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292" name="Google Shape;292;p1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4" name="Google Shape;294;p1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95" name="Google Shape;295;p1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09" name="Google Shape;309;p1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10" name="Google Shape;310;p1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1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1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13" name="Google Shape;313;p1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p2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27" name="Google Shape;327;p2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28" name="Google Shape;328;p2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2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p2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31" name="Google Shape;331;p2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5" name="Google Shape;345;p1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46" name="Google Shape;346;p1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7" name="Google Shape;347;p1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8" name="Google Shape;348;p1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49" name="Google Shape;349;p1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2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0" name="Google Shape;360;p2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61" name="Google Shape;361;p2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2" name="Google Shape;362;p2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3" name="Google Shape;363;p2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64" name="Google Shape;364;p2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77" name="Google Shape;377;p2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78" name="Google Shape;378;p2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2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2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81" name="Google Shape;381;p2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2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94" name="Google Shape;394;p2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395" name="Google Shape;395;p2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6" name="Google Shape;396;p2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7" name="Google Shape;397;p2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398" name="Google Shape;398;p2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1" name="Google Shape;411;p2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12" name="Google Shape;412;p2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3" name="Google Shape;413;p2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4" name="Google Shape;414;p2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15" name="Google Shape;415;p2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26" name="Google Shape;426;p2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27" name="Google Shape;427;p2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8" name="Google Shape;428;p2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9" name="Google Shape;429;p2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30" name="Google Shape;430;p2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9" name="Google Shape;449;p2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50" name="Google Shape;450;p2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2" name="Google Shape;452;p2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53" name="Google Shape;453;p2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2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5" name="Google Shape;465;p2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66" name="Google Shape;466;p2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7" name="Google Shape;467;p2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2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69" name="Google Shape;469;p2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2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1" name="Google Shape;481;p2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82" name="Google Shape;482;p2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3" name="Google Shape;483;p2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2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85" name="Google Shape;485;p2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96" name="Google Shape;496;p3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97" name="Google Shape;497;p3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8" name="Google Shape;498;p3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9" name="Google Shape;499;p3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00" name="Google Shape;500;p3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3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12" name="Google Shape;512;p3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13" name="Google Shape;513;p3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4" name="Google Shape;514;p3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p3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16" name="Google Shape;516;p3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3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27" name="Google Shape;527;p3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28" name="Google Shape;528;p3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9" name="Google Shape;529;p3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0" name="Google Shape;530;p3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31" name="Google Shape;531;p3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3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42" name="Google Shape;542;p3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43" name="Google Shape;543;p3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3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46" name="Google Shape;546;p3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3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56" name="Google Shape;556;p3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57" name="Google Shape;557;p3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8" name="Google Shape;558;p3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9" name="Google Shape;559;p3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60" name="Google Shape;560;p3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9"/>
        <p:cNvGrpSpPr/>
        <p:nvPr/>
      </p:nvGrpSpPr>
      <p:grpSpPr>
        <a:xfrm>
          <a:off x="0" y="0"/>
          <a:ext cx="0" cy="0"/>
          <a:chOff x="0" y="0"/>
          <a:chExt cx="0" cy="0"/>
        </a:xfrm>
      </p:grpSpPr>
      <p:sp>
        <p:nvSpPr>
          <p:cNvPr id="570" name="Google Shape;570;p3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71" name="Google Shape;571;p3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72" name="Google Shape;572;p3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3" name="Google Shape;573;p3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p3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75" name="Google Shape;575;p3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3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86" name="Google Shape;586;p3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587" name="Google Shape;587;p3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8" name="Google Shape;588;p3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9" name="Google Shape;589;p3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90" name="Google Shape;590;p3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p3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01" name="Google Shape;601;p3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02" name="Google Shape;602;p3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3" name="Google Shape;603;p3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4" name="Google Shape;604;p3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05" name="Google Shape;605;p3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3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18" name="Google Shape;618;p3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19" name="Google Shape;619;p3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0" name="Google Shape;620;p3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1" name="Google Shape;621;p3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2" name="Google Shape;622;p3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3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35" name="Google Shape;635;p3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36" name="Google Shape;636;p3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p3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3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39" name="Google Shape;639;p3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4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52" name="Google Shape;652;p4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53" name="Google Shape;653;p4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4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4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56" name="Google Shape;656;p4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4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69" name="Google Shape;669;p4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70" name="Google Shape;670;p4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1" name="Google Shape;671;p4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2" name="Google Shape;672;p4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3" name="Google Shape;673;p4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42: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87" name="Google Shape;687;p42: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688" name="Google Shape;688;p42: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p42: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0" name="Google Shape;690;p42: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91" name="Google Shape;691;p42: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43: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05" name="Google Shape;705;p43: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06" name="Google Shape;706;p43: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43: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43: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09" name="Google Shape;709;p43: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p44: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24" name="Google Shape;724;p44: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25" name="Google Shape;725;p44: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p44: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7" name="Google Shape;727;p44: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28" name="Google Shape;728;p44: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45: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41" name="Google Shape;741;p45: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42" name="Google Shape;742;p45: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p45: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4" name="Google Shape;744;p45: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45" name="Google Shape;745;p45: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46: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58" name="Google Shape;758;p46: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59" name="Google Shape;759;p46: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0" name="Google Shape;760;p46: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1" name="Google Shape;761;p46: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62" name="Google Shape;762;p46: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4"/>
        <p:cNvGrpSpPr/>
        <p:nvPr/>
      </p:nvGrpSpPr>
      <p:grpSpPr>
        <a:xfrm>
          <a:off x="0" y="0"/>
          <a:ext cx="0" cy="0"/>
          <a:chOff x="0" y="0"/>
          <a:chExt cx="0" cy="0"/>
        </a:xfrm>
      </p:grpSpPr>
      <p:sp>
        <p:nvSpPr>
          <p:cNvPr id="775" name="Google Shape;775;p47: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76" name="Google Shape;776;p47: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77" name="Google Shape;777;p47: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p47: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9" name="Google Shape;779;p47: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80" name="Google Shape;780;p47: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p48: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91" name="Google Shape;791;p48: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792" name="Google Shape;792;p48: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3" name="Google Shape;793;p48: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p48: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795" name="Google Shape;795;p48: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49: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49: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08" name="Google Shape;808;p49: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9" name="Google Shape;809;p49: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0" name="Google Shape;810;p49: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11" name="Google Shape;811;p49: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50: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23" name="Google Shape;823;p50: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24" name="Google Shape;824;p50: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p50: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6" name="Google Shape;826;p50: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27" name="Google Shape;827;p50: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51:notes"/>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38" name="Google Shape;838;p51:notes"/>
          <p:cNvSpPr txBox="1">
            <a:spLocks noGrp="1"/>
          </p:cNvSpPr>
          <p:nvPr>
            <p:ph type="dt" idx="10"/>
          </p:nvPr>
        </p:nvSpPr>
        <p:spPr>
          <a:xfrm>
            <a:off x="5180013" y="0"/>
            <a:ext cx="3962400" cy="3429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839" name="Google Shape;839;p51:notes"/>
          <p:cNvSpPr>
            <a:spLocks noGrp="1" noRot="1" noChangeAspect="1"/>
          </p:cNvSpPr>
          <p:nvPr>
            <p:ph type="sldImg" idx="3"/>
          </p:nvPr>
        </p:nvSpPr>
        <p:spPr>
          <a:xfrm>
            <a:off x="2290763" y="512763"/>
            <a:ext cx="4562475" cy="256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p51:notes"/>
          <p:cNvSpPr txBox="1">
            <a:spLocks noGrp="1"/>
          </p:cNvSpPr>
          <p:nvPr>
            <p:ph type="body" idx="1"/>
          </p:nvPr>
        </p:nvSpPr>
        <p:spPr>
          <a:xfrm>
            <a:off x="914400" y="3251200"/>
            <a:ext cx="7315200" cy="308133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1" name="Google Shape;841;p51:notes"/>
          <p:cNvSpPr txBox="1">
            <a:spLocks noGrp="1"/>
          </p:cNvSpPr>
          <p:nvPr>
            <p:ph type="ftr" idx="11"/>
          </p:nvPr>
        </p:nvSpPr>
        <p:spPr>
          <a:xfrm>
            <a:off x="0" y="6502400"/>
            <a:ext cx="3962400" cy="34131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42" name="Google Shape;842;p51:notes"/>
          <p:cNvSpPr txBox="1">
            <a:spLocks noGrp="1"/>
          </p:cNvSpPr>
          <p:nvPr>
            <p:ph type="sldNum" idx="12"/>
          </p:nvPr>
        </p:nvSpPr>
        <p:spPr>
          <a:xfrm>
            <a:off x="5180013" y="6502400"/>
            <a:ext cx="3962400" cy="341313"/>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5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5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1" name="Google Shape;2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24"/>
        <p:cNvGrpSpPr/>
        <p:nvPr/>
      </p:nvGrpSpPr>
      <p:grpSpPr>
        <a:xfrm>
          <a:off x="0" y="0"/>
          <a:ext cx="0" cy="0"/>
          <a:chOff x="0" y="0"/>
          <a:chExt cx="0" cy="0"/>
        </a:xfrm>
      </p:grpSpPr>
      <p:sp>
        <p:nvSpPr>
          <p:cNvPr id="25" name="Google Shape;25;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30" name="Google Shape;30;p54"/>
          <p:cNvPicPr preferRelativeResize="0"/>
          <p:nvPr/>
        </p:nvPicPr>
        <p:blipFill rotWithShape="1">
          <a:blip r:embed="rId2">
            <a:alphaModFix/>
          </a:blip>
          <a:srcRect/>
          <a:stretch/>
        </p:blipFill>
        <p:spPr>
          <a:xfrm>
            <a:off x="8313446" y="0"/>
            <a:ext cx="882927" cy="785252"/>
          </a:xfrm>
          <a:prstGeom prst="rect">
            <a:avLst/>
          </a:prstGeom>
          <a:noFill/>
          <a:ln>
            <a:noFill/>
          </a:ln>
        </p:spPr>
      </p:pic>
      <p:pic>
        <p:nvPicPr>
          <p:cNvPr id="31" name="Google Shape;31;p54" descr="National Board of Accreditation - Wikipedia"/>
          <p:cNvPicPr preferRelativeResize="0"/>
          <p:nvPr/>
        </p:nvPicPr>
        <p:blipFill rotWithShape="1">
          <a:blip r:embed="rId3">
            <a:alphaModFix/>
          </a:blip>
          <a:srcRect/>
          <a:stretch/>
        </p:blipFill>
        <p:spPr>
          <a:xfrm>
            <a:off x="9299701" y="49261"/>
            <a:ext cx="872490" cy="688340"/>
          </a:xfrm>
          <a:prstGeom prst="rect">
            <a:avLst/>
          </a:prstGeom>
          <a:noFill/>
          <a:ln>
            <a:noFill/>
          </a:ln>
        </p:spPr>
      </p:pic>
      <p:pic>
        <p:nvPicPr>
          <p:cNvPr id="32" name="Google Shape;32;p54"/>
          <p:cNvPicPr preferRelativeResize="0"/>
          <p:nvPr/>
        </p:nvPicPr>
        <p:blipFill rotWithShape="1">
          <a:blip r:embed="rId4">
            <a:alphaModFix/>
          </a:blip>
          <a:srcRect/>
          <a:stretch/>
        </p:blipFill>
        <p:spPr>
          <a:xfrm>
            <a:off x="10275519" y="58916"/>
            <a:ext cx="1916480" cy="641551"/>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33"/>
        <p:cNvGrpSpPr/>
        <p:nvPr/>
      </p:nvGrpSpPr>
      <p:grpSpPr>
        <a:xfrm>
          <a:off x="0" y="0"/>
          <a:ext cx="0" cy="0"/>
          <a:chOff x="0" y="0"/>
          <a:chExt cx="0" cy="0"/>
        </a:xfrm>
      </p:grpSpPr>
      <p:sp>
        <p:nvSpPr>
          <p:cNvPr id="34" name="Google Shape;34;p5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6" name="Google Shape;36;p5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7" name="Google Shape;37;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0"/>
        <p:cNvGrpSpPr/>
        <p:nvPr/>
      </p:nvGrpSpPr>
      <p:grpSpPr>
        <a:xfrm>
          <a:off x="0" y="0"/>
          <a:ext cx="0" cy="0"/>
          <a:chOff x="0" y="0"/>
          <a:chExt cx="0" cy="0"/>
        </a:xfrm>
      </p:grpSpPr>
      <p:sp>
        <p:nvSpPr>
          <p:cNvPr id="41" name="Google Shape;41;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44"/>
        <p:cNvGrpSpPr/>
        <p:nvPr/>
      </p:nvGrpSpPr>
      <p:grpSpPr>
        <a:xfrm>
          <a:off x="0" y="0"/>
          <a:ext cx="0" cy="0"/>
          <a:chOff x="0" y="0"/>
          <a:chExt cx="0" cy="0"/>
        </a:xfrm>
      </p:grpSpPr>
      <p:sp>
        <p:nvSpPr>
          <p:cNvPr id="45" name="Google Shape;45;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5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5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51"/>
        <p:cNvGrpSpPr/>
        <p:nvPr/>
      </p:nvGrpSpPr>
      <p:grpSpPr>
        <a:xfrm>
          <a:off x="0" y="0"/>
          <a:ext cx="0" cy="0"/>
          <a:chOff x="0" y="0"/>
          <a:chExt cx="0" cy="0"/>
        </a:xfrm>
      </p:grpSpPr>
      <p:sp>
        <p:nvSpPr>
          <p:cNvPr id="52" name="Google Shape;52;p5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5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54" name="Google Shape;54;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57"/>
        <p:cNvGrpSpPr/>
        <p:nvPr/>
      </p:nvGrpSpPr>
      <p:grpSpPr>
        <a:xfrm>
          <a:off x="0" y="0"/>
          <a:ext cx="0" cy="0"/>
          <a:chOff x="0" y="0"/>
          <a:chExt cx="0" cy="0"/>
        </a:xfrm>
      </p:grpSpPr>
      <p:sp>
        <p:nvSpPr>
          <p:cNvPr id="58" name="Google Shape;58;p5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5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5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6"/>
        <p:cNvGrpSpPr/>
        <p:nvPr/>
      </p:nvGrpSpPr>
      <p:grpSpPr>
        <a:xfrm>
          <a:off x="0" y="0"/>
          <a:ext cx="0" cy="0"/>
          <a:chOff x="0" y="0"/>
          <a:chExt cx="0" cy="0"/>
        </a:xfrm>
      </p:grpSpPr>
      <p:sp>
        <p:nvSpPr>
          <p:cNvPr id="67" name="Google Shape;67;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1"/>
        <p:cNvGrpSpPr/>
        <p:nvPr/>
      </p:nvGrpSpPr>
      <p:grpSpPr>
        <a:xfrm>
          <a:off x="0" y="0"/>
          <a:ext cx="0" cy="0"/>
          <a:chOff x="0" y="0"/>
          <a:chExt cx="0" cy="0"/>
        </a:xfrm>
      </p:grpSpPr>
      <p:sp>
        <p:nvSpPr>
          <p:cNvPr id="72" name="Google Shape;72;p6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61"/>
          <p:cNvSpPr>
            <a:spLocks noGrp="1"/>
          </p:cNvSpPr>
          <p:nvPr>
            <p:ph type="pic" idx="2"/>
          </p:nvPr>
        </p:nvSpPr>
        <p:spPr>
          <a:xfrm>
            <a:off x="5183188" y="987425"/>
            <a:ext cx="6172200" cy="4873625"/>
          </a:xfrm>
          <a:prstGeom prst="rect">
            <a:avLst/>
          </a:prstGeom>
          <a:noFill/>
          <a:ln>
            <a:noFill/>
          </a:ln>
        </p:spPr>
      </p:sp>
      <p:sp>
        <p:nvSpPr>
          <p:cNvPr id="74" name="Google Shape;74;p6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5" name="Google Shape;75;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78"/>
        <p:cNvGrpSpPr/>
        <p:nvPr/>
      </p:nvGrpSpPr>
      <p:grpSpPr>
        <a:xfrm>
          <a:off x="0" y="0"/>
          <a:ext cx="0" cy="0"/>
          <a:chOff x="0" y="0"/>
          <a:chExt cx="0" cy="0"/>
        </a:xfrm>
      </p:grpSpPr>
      <p:sp>
        <p:nvSpPr>
          <p:cNvPr id="79" name="Google Shape;79;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6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6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6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1_Титульный слайд">
  <p:cSld name="1_Титульный слайд">
    <p:spTree>
      <p:nvGrpSpPr>
        <p:cNvPr id="1" name="Shape 90"/>
        <p:cNvGrpSpPr/>
        <p:nvPr/>
      </p:nvGrpSpPr>
      <p:grpSpPr>
        <a:xfrm>
          <a:off x="0" y="0"/>
          <a:ext cx="0" cy="0"/>
          <a:chOff x="0" y="0"/>
          <a:chExt cx="0" cy="0"/>
        </a:xfrm>
      </p:grpSpPr>
      <p:sp>
        <p:nvSpPr>
          <p:cNvPr id="91" name="Google Shape;91;p64"/>
          <p:cNvSpPr/>
          <p:nvPr/>
        </p:nvSpPr>
        <p:spPr>
          <a:xfrm>
            <a:off x="-19050" y="1905000"/>
            <a:ext cx="12211050" cy="4953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2" name="Google Shape;92;p64"/>
          <p:cNvSpPr/>
          <p:nvPr/>
        </p:nvSpPr>
        <p:spPr>
          <a:xfrm>
            <a:off x="-19050" y="0"/>
            <a:ext cx="12211050" cy="4438650"/>
          </a:xfrm>
          <a:custGeom>
            <a:avLst/>
            <a:gdLst/>
            <a:ahLst/>
            <a:cxnLst/>
            <a:rect l="l" t="t" r="r" b="b"/>
            <a:pathLst>
              <a:path w="12211050" h="4438650" extrusionOk="0">
                <a:moveTo>
                  <a:pt x="19050" y="0"/>
                </a:moveTo>
                <a:lnTo>
                  <a:pt x="12211050" y="0"/>
                </a:lnTo>
                <a:lnTo>
                  <a:pt x="12211050" y="4438650"/>
                </a:lnTo>
                <a:lnTo>
                  <a:pt x="0" y="3219450"/>
                </a:lnTo>
                <a:lnTo>
                  <a:pt x="19050" y="0"/>
                </a:lnTo>
                <a:close/>
              </a:path>
            </a:pathLst>
          </a:custGeom>
          <a:solidFill>
            <a:srgbClr val="17161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3" name="Google Shape;93;p64"/>
          <p:cNvSpPr/>
          <p:nvPr/>
        </p:nvSpPr>
        <p:spPr>
          <a:xfrm>
            <a:off x="1085850" y="1009650"/>
            <a:ext cx="10020300" cy="52387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94" name="Google Shape;94;p64"/>
          <p:cNvSpPr>
            <a:spLocks noGrp="1"/>
          </p:cNvSpPr>
          <p:nvPr>
            <p:ph type="pic" idx="2"/>
          </p:nvPr>
        </p:nvSpPr>
        <p:spPr>
          <a:xfrm>
            <a:off x="1847850" y="2819400"/>
            <a:ext cx="8496300" cy="280035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5" name="Google Shape;15;p52"/>
          <p:cNvPicPr preferRelativeResize="0"/>
          <p:nvPr/>
        </p:nvPicPr>
        <p:blipFill rotWithShape="1">
          <a:blip r:embed="rId15">
            <a:alphaModFix/>
          </a:blip>
          <a:srcRect/>
          <a:stretch/>
        </p:blipFill>
        <p:spPr>
          <a:xfrm>
            <a:off x="8313446" y="0"/>
            <a:ext cx="882927" cy="785252"/>
          </a:xfrm>
          <a:prstGeom prst="rect">
            <a:avLst/>
          </a:prstGeom>
          <a:noFill/>
          <a:ln>
            <a:noFill/>
          </a:ln>
        </p:spPr>
      </p:pic>
      <p:pic>
        <p:nvPicPr>
          <p:cNvPr id="16" name="Google Shape;16;p52" descr="National Board of Accreditation - Wikipedia"/>
          <p:cNvPicPr preferRelativeResize="0"/>
          <p:nvPr/>
        </p:nvPicPr>
        <p:blipFill rotWithShape="1">
          <a:blip r:embed="rId16">
            <a:alphaModFix/>
          </a:blip>
          <a:srcRect/>
          <a:stretch/>
        </p:blipFill>
        <p:spPr>
          <a:xfrm>
            <a:off x="9299701" y="49261"/>
            <a:ext cx="872490" cy="688340"/>
          </a:xfrm>
          <a:prstGeom prst="rect">
            <a:avLst/>
          </a:prstGeom>
          <a:noFill/>
          <a:ln>
            <a:noFill/>
          </a:ln>
        </p:spPr>
      </p:pic>
      <p:pic>
        <p:nvPicPr>
          <p:cNvPr id="17" name="Google Shape;17;p52"/>
          <p:cNvPicPr preferRelativeResize="0"/>
          <p:nvPr/>
        </p:nvPicPr>
        <p:blipFill rotWithShape="1">
          <a:blip r:embed="rId17">
            <a:alphaModFix/>
          </a:blip>
          <a:srcRect/>
          <a:stretch/>
        </p:blipFill>
        <p:spPr>
          <a:xfrm>
            <a:off x="10275519" y="113999"/>
            <a:ext cx="1916480" cy="64155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coursera.org/learn/sql-data-science"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8"/>
        <p:cNvGrpSpPr/>
        <p:nvPr/>
      </p:nvGrpSpPr>
      <p:grpSpPr>
        <a:xfrm>
          <a:off x="0" y="0"/>
          <a:ext cx="0" cy="0"/>
          <a:chOff x="0" y="0"/>
          <a:chExt cx="0" cy="0"/>
        </a:xfrm>
      </p:grpSpPr>
      <p:sp>
        <p:nvSpPr>
          <p:cNvPr id="99" name="Google Shape;99;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0" name="Google Shape;100;p1"/>
          <p:cNvSpPr txBox="1">
            <a:spLocks noGrp="1"/>
          </p:cNvSpPr>
          <p:nvPr>
            <p:ph type="subTitle" idx="1"/>
          </p:nvPr>
        </p:nvSpPr>
        <p:spPr>
          <a:xfrm>
            <a:off x="562662" y="4891470"/>
            <a:ext cx="4156822" cy="1236591"/>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dk1"/>
              </a:buClr>
              <a:buSzPts val="1800"/>
              <a:buNone/>
            </a:pPr>
            <a:r>
              <a:rPr lang="en-US" sz="1800" b="1">
                <a:latin typeface="Times New Roman"/>
                <a:ea typeface="Times New Roman"/>
                <a:cs typeface="Times New Roman"/>
                <a:sym typeface="Times New Roman"/>
              </a:rPr>
              <a:t>DR. GITANJALI</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E16525</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ASSISTANT PROFESSOR</a:t>
            </a:r>
            <a:endParaRPr/>
          </a:p>
          <a:p>
            <a:pPr marL="0" lvl="0" indent="0" algn="l" rtl="0">
              <a:lnSpc>
                <a:spcPct val="90000"/>
              </a:lnSpc>
              <a:spcBef>
                <a:spcPts val="1000"/>
              </a:spcBef>
              <a:spcAft>
                <a:spcPts val="0"/>
              </a:spcAft>
              <a:buClr>
                <a:schemeClr val="dk1"/>
              </a:buClr>
              <a:buSzPts val="1400"/>
              <a:buNone/>
            </a:pPr>
            <a:r>
              <a:rPr lang="en-US" sz="1400" b="1">
                <a:latin typeface="Times New Roman"/>
                <a:ea typeface="Times New Roman"/>
                <a:cs typeface="Times New Roman"/>
                <a:sym typeface="Times New Roman"/>
              </a:rPr>
              <a:t>CSE </a:t>
            </a:r>
            <a:endParaRPr/>
          </a:p>
        </p:txBody>
      </p:sp>
      <p:sp>
        <p:nvSpPr>
          <p:cNvPr id="101" name="Google Shape;101;p1"/>
          <p:cNvSpPr/>
          <p:nvPr/>
        </p:nvSpPr>
        <p:spPr>
          <a:xfrm flipH="1">
            <a:off x="9344623" y="4901508"/>
            <a:ext cx="2466377" cy="1712909"/>
          </a:xfrm>
          <a:prstGeom prst="rtTriangle">
            <a:avLst/>
          </a:prstGeom>
          <a:solidFill>
            <a:srgbClr val="C00000"/>
          </a:solidFill>
          <a:ln>
            <a:noFill/>
          </a:ln>
        </p:spPr>
        <p:txBody>
          <a:bodyPr spcFirstLastPara="1" wrap="square" lIns="75575" tIns="37775" rIns="75575" bIns="37775" anchor="ctr" anchorCtr="0">
            <a:noAutofit/>
          </a:bodyPr>
          <a:lstStyle/>
          <a:p>
            <a:pPr marL="0" marR="0" lvl="0" indent="0" algn="ctr" rtl="0">
              <a:spcBef>
                <a:spcPts val="0"/>
              </a:spcBef>
              <a:spcAft>
                <a:spcPts val="0"/>
              </a:spcAft>
              <a:buNone/>
            </a:pPr>
            <a:endParaRPr sz="1488" b="0" i="0" u="none" strike="noStrike" cap="none">
              <a:solidFill>
                <a:schemeClr val="lt1"/>
              </a:solidFill>
              <a:latin typeface="Calibri"/>
              <a:ea typeface="Calibri"/>
              <a:cs typeface="Calibri"/>
              <a:sym typeface="Calibri"/>
            </a:endParaRPr>
          </a:p>
        </p:txBody>
      </p:sp>
      <p:sp>
        <p:nvSpPr>
          <p:cNvPr id="102" name="Google Shape;102;p1"/>
          <p:cNvSpPr txBox="1"/>
          <p:nvPr/>
        </p:nvSpPr>
        <p:spPr>
          <a:xfrm>
            <a:off x="7158646" y="5490468"/>
            <a:ext cx="4075113" cy="534988"/>
          </a:xfrm>
          <a:prstGeom prst="rect">
            <a:avLst/>
          </a:prstGeom>
          <a:noFill/>
          <a:ln>
            <a:noFill/>
          </a:ln>
        </p:spPr>
        <p:txBody>
          <a:bodyPr spcFirstLastPara="1" wrap="square" lIns="75575" tIns="37775" rIns="75575" bIns="37775" anchor="t" anchorCtr="0">
            <a:spAutoFit/>
          </a:bodyPr>
          <a:lstStyle/>
          <a:p>
            <a:pPr marL="0" marR="0" lvl="0" indent="0" algn="l" rtl="0">
              <a:spcBef>
                <a:spcPts val="0"/>
              </a:spcBef>
              <a:spcAft>
                <a:spcPts val="0"/>
              </a:spcAft>
              <a:buNone/>
            </a:pPr>
            <a:r>
              <a:rPr lang="en-US" sz="1653" b="1" i="0" u="none" strike="noStrike" cap="none">
                <a:solidFill>
                  <a:srgbClr val="595959"/>
                </a:solidFill>
                <a:latin typeface="Arial"/>
                <a:ea typeface="Arial"/>
                <a:cs typeface="Arial"/>
                <a:sym typeface="Arial"/>
              </a:rPr>
              <a:t>DISCOVER . </a:t>
            </a:r>
            <a:r>
              <a:rPr lang="en-US" sz="1653" b="1" i="0" u="none" strike="noStrike" cap="none">
                <a:solidFill>
                  <a:srgbClr val="C00000"/>
                </a:solidFill>
                <a:latin typeface="Arial"/>
                <a:ea typeface="Arial"/>
                <a:cs typeface="Arial"/>
                <a:sym typeface="Arial"/>
              </a:rPr>
              <a:t>LEARN</a:t>
            </a:r>
            <a:r>
              <a:rPr lang="en-US" sz="1653" b="1" i="0" u="none" strike="noStrike" cap="none">
                <a:solidFill>
                  <a:srgbClr val="595959"/>
                </a:solidFill>
                <a:latin typeface="Arial"/>
                <a:ea typeface="Arial"/>
                <a:cs typeface="Arial"/>
                <a:sym typeface="Arial"/>
              </a:rPr>
              <a:t> . EMPOWER</a:t>
            </a:r>
            <a:endParaRPr sz="992" b="1" i="0" u="none" strike="noStrike" cap="none">
              <a:solidFill>
                <a:srgbClr val="000000"/>
              </a:solidFill>
              <a:latin typeface="Arial"/>
              <a:ea typeface="Arial"/>
              <a:cs typeface="Arial"/>
              <a:sym typeface="Arial"/>
            </a:endParaRPr>
          </a:p>
          <a:p>
            <a:pPr marL="0" marR="0" lvl="0" indent="0" algn="l" rtl="0">
              <a:spcBef>
                <a:spcPts val="0"/>
              </a:spcBef>
              <a:spcAft>
                <a:spcPts val="0"/>
              </a:spcAft>
              <a:buNone/>
            </a:pPr>
            <a:endParaRPr sz="1323" b="1" i="0" u="none" strike="noStrike" cap="none">
              <a:solidFill>
                <a:schemeClr val="dk1"/>
              </a:solidFill>
              <a:latin typeface="Arial"/>
              <a:ea typeface="Arial"/>
              <a:cs typeface="Arial"/>
              <a:sym typeface="Arial"/>
            </a:endParaRPr>
          </a:p>
        </p:txBody>
      </p:sp>
      <p:sp>
        <p:nvSpPr>
          <p:cNvPr id="103" name="Google Shape;103;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4" name="Google Shape;104;p1"/>
          <p:cNvSpPr txBox="1"/>
          <p:nvPr/>
        </p:nvSpPr>
        <p:spPr>
          <a:xfrm>
            <a:off x="1040825" y="892905"/>
            <a:ext cx="9722858" cy="397027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i="0" u="none" strike="noStrike" cap="none">
                <a:solidFill>
                  <a:schemeClr val="dk1"/>
                </a:solidFill>
                <a:latin typeface="Arial"/>
                <a:ea typeface="Arial"/>
                <a:cs typeface="Arial"/>
                <a:sym typeface="Arial"/>
              </a:rPr>
              <a:t>UNIVERSITY INSTITUTE OF ENGINEERING</a:t>
            </a:r>
            <a:endParaRPr/>
          </a:p>
          <a:p>
            <a:pPr marL="0" marR="0" lvl="0" indent="0" algn="ctr" rtl="0">
              <a:spcBef>
                <a:spcPts val="0"/>
              </a:spcBef>
              <a:spcAft>
                <a:spcPts val="0"/>
              </a:spcAft>
              <a:buNone/>
            </a:pPr>
            <a:endParaRPr sz="4400" b="0" i="0" u="none" strike="noStrike" cap="none">
              <a:solidFill>
                <a:schemeClr val="dk1"/>
              </a:solidFill>
              <a:latin typeface="Arial"/>
              <a:ea typeface="Arial"/>
              <a:cs typeface="Arial"/>
              <a:sym typeface="Arial"/>
            </a:endParaRPr>
          </a:p>
          <a:p>
            <a:pPr marL="0" marR="0" lvl="0" indent="0" algn="ctr" rtl="0">
              <a:spcBef>
                <a:spcPts val="0"/>
              </a:spcBef>
              <a:spcAft>
                <a:spcPts val="0"/>
              </a:spcAft>
              <a:buNone/>
            </a:pPr>
            <a:r>
              <a:rPr lang="en-US" sz="2800" b="1" i="0" u="none" strike="noStrike" cap="none">
                <a:solidFill>
                  <a:schemeClr val="dk1"/>
                </a:solidFill>
                <a:latin typeface="Arial"/>
                <a:ea typeface="Arial"/>
                <a:cs typeface="Arial"/>
                <a:sym typeface="Arial"/>
              </a:rPr>
              <a:t>Department of Computer Science &amp; Engineering</a:t>
            </a:r>
            <a:endParaRPr/>
          </a:p>
          <a:p>
            <a:pPr marL="0" marR="0" lvl="0" indent="0" algn="ctr" rtl="0">
              <a:spcBef>
                <a:spcPts val="0"/>
              </a:spcBef>
              <a:spcAft>
                <a:spcPts val="0"/>
              </a:spcAft>
              <a:buNone/>
            </a:pPr>
            <a:endParaRPr sz="2800" b="1" i="0" u="none" strike="noStrike" cap="none">
              <a:solidFill>
                <a:schemeClr val="dk1"/>
              </a:solidFill>
              <a:latin typeface="Calibri"/>
              <a:ea typeface="Calibri"/>
              <a:cs typeface="Calibri"/>
              <a:sym typeface="Calibri"/>
            </a:endParaRPr>
          </a:p>
          <a:p>
            <a:pPr marL="0" marR="0" lvl="0" indent="0" algn="ctr" rtl="0">
              <a:spcBef>
                <a:spcPts val="0"/>
              </a:spcBef>
              <a:spcAft>
                <a:spcPts val="0"/>
              </a:spcAft>
              <a:buNone/>
            </a:pPr>
            <a:r>
              <a:rPr lang="en-US" sz="2800" b="1" i="0" u="none" strike="noStrike" cap="none">
                <a:solidFill>
                  <a:srgbClr val="000000"/>
                </a:solidFill>
                <a:latin typeface="Arial"/>
                <a:ea typeface="Arial"/>
                <a:cs typeface="Arial"/>
                <a:sym typeface="Arial"/>
              </a:rPr>
              <a:t>Databases Management System</a:t>
            </a:r>
            <a:endParaRPr/>
          </a:p>
          <a:p>
            <a:pPr marL="0" marR="0" lvl="0" indent="0" algn="ctr" rtl="0">
              <a:lnSpc>
                <a:spcPct val="116444"/>
              </a:lnSpc>
              <a:spcBef>
                <a:spcPts val="0"/>
              </a:spcBef>
              <a:spcAft>
                <a:spcPts val="0"/>
              </a:spcAft>
              <a:buNone/>
            </a:pPr>
            <a:r>
              <a:rPr lang="en-US" sz="3600" b="1" i="0" u="none" strike="noStrike" cap="none">
                <a:solidFill>
                  <a:srgbClr val="000000"/>
                </a:solidFill>
                <a:latin typeface="Arial"/>
                <a:ea typeface="Arial"/>
                <a:cs typeface="Arial"/>
                <a:sym typeface="Arial"/>
              </a:rPr>
              <a:t>(23CSH-205/23ITH-205)</a:t>
            </a:r>
            <a:endParaRPr/>
          </a:p>
        </p:txBody>
      </p:sp>
      <p:sp>
        <p:nvSpPr>
          <p:cNvPr id="105" name="Google Shape;105;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06" name="Google Shape;106;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10"/>
        <p:cNvGrpSpPr/>
        <p:nvPr/>
      </p:nvGrpSpPr>
      <p:grpSpPr>
        <a:xfrm>
          <a:off x="0" y="0"/>
          <a:ext cx="0" cy="0"/>
          <a:chOff x="0" y="0"/>
          <a:chExt cx="0" cy="0"/>
        </a:xfrm>
      </p:grpSpPr>
      <p:sp>
        <p:nvSpPr>
          <p:cNvPr id="111" name="Google Shape;111;p2"/>
          <p:cNvSpPr txBox="1">
            <a:spLocks noGrp="1"/>
          </p:cNvSpPr>
          <p:nvPr>
            <p:ph type="title"/>
          </p:nvPr>
        </p:nvSpPr>
        <p:spPr>
          <a:xfrm>
            <a:off x="2152650" y="4909"/>
            <a:ext cx="78867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al"/>
              <a:buNone/>
            </a:pPr>
            <a:r>
              <a:rPr lang="en-US" b="1">
                <a:solidFill>
                  <a:srgbClr val="C00000"/>
                </a:solidFill>
                <a:latin typeface="Arial"/>
                <a:ea typeface="Arial"/>
                <a:cs typeface="Arial"/>
                <a:sym typeface="Arial"/>
              </a:rPr>
              <a:t>ABOUT COURSE</a:t>
            </a:r>
            <a:endParaRPr>
              <a:solidFill>
                <a:srgbClr val="C00000"/>
              </a:solidFill>
            </a:endParaRPr>
          </a:p>
        </p:txBody>
      </p:sp>
      <p:sp>
        <p:nvSpPr>
          <p:cNvPr id="112" name="Google Shape;112;p2"/>
          <p:cNvSpPr txBox="1">
            <a:spLocks noGrp="1"/>
          </p:cNvSpPr>
          <p:nvPr>
            <p:ph type="body" idx="1"/>
          </p:nvPr>
        </p:nvSpPr>
        <p:spPr>
          <a:xfrm>
            <a:off x="838200" y="1374824"/>
            <a:ext cx="11107993" cy="4455775"/>
          </a:xfrm>
          <a:prstGeom prst="rect">
            <a:avLst/>
          </a:prstGeom>
          <a:noFill/>
          <a:ln>
            <a:noFill/>
          </a:ln>
        </p:spPr>
        <p:txBody>
          <a:bodyPr spcFirstLastPara="1" wrap="square" lIns="68575" tIns="34275" rIns="68575" bIns="34275" anchor="t" anchorCtr="0">
            <a:noAutofit/>
          </a:bodyPr>
          <a:lstStyle/>
          <a:p>
            <a:pPr marL="228600" lvl="0" indent="-228600" algn="just" rtl="0">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The main DBMS course, we learn about the </a:t>
            </a:r>
            <a:r>
              <a:rPr lang="en-US" sz="2400">
                <a:solidFill>
                  <a:srgbClr val="833C0B"/>
                </a:solidFill>
                <a:latin typeface="Times New Roman"/>
                <a:ea typeface="Times New Roman"/>
                <a:cs typeface="Times New Roman"/>
                <a:sym typeface="Times New Roman"/>
              </a:rPr>
              <a:t>structural formation of data</a:t>
            </a:r>
            <a:r>
              <a:rPr lang="en-US" sz="2400">
                <a:latin typeface="Times New Roman"/>
                <a:ea typeface="Times New Roman"/>
                <a:cs typeface="Times New Roman"/>
                <a:sym typeface="Times New Roman"/>
              </a:rPr>
              <a:t>, </a:t>
            </a:r>
            <a:r>
              <a:rPr lang="en-US" sz="2400">
                <a:solidFill>
                  <a:srgbClr val="2F5496"/>
                </a:solidFill>
                <a:latin typeface="Times New Roman"/>
                <a:ea typeface="Times New Roman"/>
                <a:cs typeface="Times New Roman"/>
                <a:sym typeface="Times New Roman"/>
              </a:rPr>
              <a:t>maintain data integrity</a:t>
            </a:r>
            <a:r>
              <a:rPr lang="en-US" sz="2400">
                <a:latin typeface="Times New Roman"/>
                <a:ea typeface="Times New Roman"/>
                <a:cs typeface="Times New Roman"/>
                <a:sym typeface="Times New Roman"/>
              </a:rPr>
              <a:t>, </a:t>
            </a:r>
            <a:r>
              <a:rPr lang="en-US" sz="2400">
                <a:solidFill>
                  <a:srgbClr val="385623"/>
                </a:solidFill>
                <a:latin typeface="Times New Roman"/>
                <a:ea typeface="Times New Roman"/>
                <a:cs typeface="Times New Roman"/>
                <a:sym typeface="Times New Roman"/>
              </a:rPr>
              <a:t>multitasking with concurrent access </a:t>
            </a:r>
            <a:r>
              <a:rPr lang="en-US" sz="2400">
                <a:latin typeface="Times New Roman"/>
                <a:ea typeface="Times New Roman"/>
                <a:cs typeface="Times New Roman"/>
                <a:sym typeface="Times New Roman"/>
              </a:rPr>
              <a:t>and </a:t>
            </a:r>
            <a:r>
              <a:rPr lang="en-US" sz="2400">
                <a:solidFill>
                  <a:schemeClr val="dk2"/>
                </a:solidFill>
                <a:latin typeface="Times New Roman"/>
                <a:ea typeface="Times New Roman"/>
                <a:cs typeface="Times New Roman"/>
                <a:sym typeface="Times New Roman"/>
              </a:rPr>
              <a:t>recovery without occurring crashes</a:t>
            </a:r>
            <a:r>
              <a:rPr lang="en-US" sz="2400">
                <a:latin typeface="Times New Roman"/>
                <a:ea typeface="Times New Roman"/>
                <a:cs typeface="Times New Roman"/>
                <a:sym typeface="Times New Roman"/>
              </a:rPr>
              <a:t>, data structures, data models etc. and their working in which every organization is based. </a:t>
            </a:r>
            <a:endParaRPr/>
          </a:p>
          <a:p>
            <a:pPr marL="228600" lvl="0" indent="-228600" algn="just" rtl="0">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At the end of the course, the students may understand the concepts of data structures, data models and design, construction of queries by using SQL, uses and applications of database design etc</a:t>
            </a:r>
            <a:endParaRPr/>
          </a:p>
          <a:p>
            <a:pPr marL="228600" lvl="0" indent="-76200" algn="just" rtl="0">
              <a:lnSpc>
                <a:spcPct val="90000"/>
              </a:lnSpc>
              <a:spcBef>
                <a:spcPts val="1000"/>
              </a:spcBef>
              <a:spcAft>
                <a:spcPts val="0"/>
              </a:spcAft>
              <a:buClr>
                <a:schemeClr val="dk1"/>
              </a:buClr>
              <a:buSzPts val="2400"/>
              <a:buNone/>
            </a:pPr>
            <a:endParaRPr sz="2400" i="1">
              <a:latin typeface="Times New Roman"/>
              <a:ea typeface="Times New Roman"/>
              <a:cs typeface="Times New Roman"/>
              <a:sym typeface="Times New Roman"/>
            </a:endParaRPr>
          </a:p>
        </p:txBody>
      </p:sp>
      <p:sp>
        <p:nvSpPr>
          <p:cNvPr id="113" name="Google Shape;113;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14" name="Google Shape;114;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graphicFrame>
        <p:nvGraphicFramePr>
          <p:cNvPr id="119" name="Google Shape;119;p3"/>
          <p:cNvGraphicFramePr/>
          <p:nvPr/>
        </p:nvGraphicFramePr>
        <p:xfrm>
          <a:off x="309716" y="1798609"/>
          <a:ext cx="7843700" cy="4387290"/>
        </p:xfrm>
        <a:graphic>
          <a:graphicData uri="http://schemas.openxmlformats.org/drawingml/2006/table">
            <a:tbl>
              <a:tblPr>
                <a:noFill/>
                <a:tableStyleId>{DEEC9231-041A-40A6-AB31-EC42F43FF73A}</a:tableStyleId>
              </a:tblPr>
              <a:tblGrid>
                <a:gridCol w="842250">
                  <a:extLst>
                    <a:ext uri="{9D8B030D-6E8A-4147-A177-3AD203B41FA5}">
                      <a16:colId xmlns:a16="http://schemas.microsoft.com/office/drawing/2014/main" val="20000"/>
                    </a:ext>
                  </a:extLst>
                </a:gridCol>
                <a:gridCol w="5406775">
                  <a:extLst>
                    <a:ext uri="{9D8B030D-6E8A-4147-A177-3AD203B41FA5}">
                      <a16:colId xmlns:a16="http://schemas.microsoft.com/office/drawing/2014/main" val="20001"/>
                    </a:ext>
                  </a:extLst>
                </a:gridCol>
                <a:gridCol w="1594675">
                  <a:extLst>
                    <a:ext uri="{9D8B030D-6E8A-4147-A177-3AD203B41FA5}">
                      <a16:colId xmlns:a16="http://schemas.microsoft.com/office/drawing/2014/main" val="20002"/>
                    </a:ext>
                  </a:extLst>
                </a:gridCol>
              </a:tblGrid>
              <a:tr h="509675">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CO No.</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Title</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b="1" i="0" u="none" strike="noStrike" cap="none">
                          <a:solidFill>
                            <a:srgbClr val="000000"/>
                          </a:solidFill>
                          <a:latin typeface="Calibri"/>
                          <a:ea typeface="Calibri"/>
                          <a:cs typeface="Calibri"/>
                          <a:sym typeface="Calibri"/>
                        </a:rPr>
                        <a:t>BT Level</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19375">
                <a:tc>
                  <a:txBody>
                    <a:bodyPr/>
                    <a:lstStyle/>
                    <a:p>
                      <a:pPr marL="0" marR="0" lvl="0" indent="0" algn="ctr" rtl="0">
                        <a:spcBef>
                          <a:spcPts val="0"/>
                        </a:spcBef>
                        <a:spcAft>
                          <a:spcPts val="0"/>
                        </a:spcAft>
                        <a:buNone/>
                      </a:pPr>
                      <a:r>
                        <a:rPr lang="en-US" sz="1600" b="1" i="0" u="none" strike="noStrike" cap="none">
                          <a:solidFill>
                            <a:srgbClr val="00B050"/>
                          </a:solidFill>
                          <a:highlight>
                            <a:srgbClr val="FFFF00"/>
                          </a:highlight>
                          <a:latin typeface="Times New Roman"/>
                          <a:ea typeface="Times New Roman"/>
                          <a:cs typeface="Times New Roman"/>
                          <a:sym typeface="Times New Roman"/>
                        </a:rPr>
                        <a:t>CO1</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understand the database system concepts and design databases for different applications. </a:t>
                      </a:r>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7CAAC"/>
                    </a:solidFill>
                  </a:tcPr>
                </a:tc>
                <a:tc>
                  <a:txBody>
                    <a:bodyPr/>
                    <a:lstStyle/>
                    <a:p>
                      <a:pPr marL="0" marR="0" lvl="0" indent="0" algn="ctr" rtl="0">
                        <a:spcBef>
                          <a:spcPts val="0"/>
                        </a:spcBef>
                        <a:spcAft>
                          <a:spcPts val="0"/>
                        </a:spcAft>
                        <a:buNone/>
                      </a:pPr>
                      <a:r>
                        <a:rPr lang="en-US" sz="2000" b="1" i="0" u="none" strike="noStrike" cap="none">
                          <a:solidFill>
                            <a:srgbClr val="C00000"/>
                          </a:solidFill>
                          <a:highlight>
                            <a:srgbClr val="FFFF00"/>
                          </a:highlight>
                          <a:latin typeface="Calibri"/>
                          <a:ea typeface="Calibri"/>
                          <a:cs typeface="Calibri"/>
                          <a:sym typeface="Calibri"/>
                        </a:rPr>
                        <a:t>Memorize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970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CO2</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identify different types of DDL, DML, DCL and TCL commands and their usage.</a:t>
                      </a:r>
                      <a:endParaRPr sz="1600" b="1" i="0" u="none" strike="noStrike" cap="none">
                        <a:solidFill>
                          <a:srgbClr val="000000"/>
                        </a:solidFill>
                        <a:latin typeface="Times New Roman"/>
                        <a:ea typeface="Times New Roman"/>
                        <a:cs typeface="Times New Roman"/>
                        <a:sym typeface="Times New Roman"/>
                      </a:endParaRPr>
                    </a:p>
                    <a:p>
                      <a:pPr marL="0" marR="0" lvl="0" indent="0" algn="ctr" rtl="0">
                        <a:spcBef>
                          <a:spcPts val="0"/>
                        </a:spcBef>
                        <a:spcAft>
                          <a:spcPts val="0"/>
                        </a:spcAft>
                        <a:buNone/>
                      </a:pP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3C6E7"/>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Understanding</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664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CO3</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classifying Normalization, Dependencies and Denormalization along with their requirements.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8D08C"/>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Apply</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96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CO4</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analyse and Compare Transaction Processing techniques and Recovery techniques.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99"/>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Analyze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35175">
                <a:tc>
                  <a:txBody>
                    <a:bodyPr/>
                    <a:lstStyle/>
                    <a:p>
                      <a:pPr marL="0" marR="0" lvl="0" indent="0" algn="ctr" rtl="0">
                        <a:spcBef>
                          <a:spcPts val="0"/>
                        </a:spcBef>
                        <a:spcAft>
                          <a:spcPts val="0"/>
                        </a:spcAft>
                        <a:buNone/>
                      </a:pPr>
                      <a:r>
                        <a:rPr lang="en-US" sz="1600" b="1" i="0" u="none" strike="noStrike" cap="none">
                          <a:solidFill>
                            <a:srgbClr val="00B050"/>
                          </a:solidFill>
                          <a:latin typeface="Times New Roman"/>
                          <a:ea typeface="Times New Roman"/>
                          <a:cs typeface="Times New Roman"/>
                          <a:sym typeface="Times New Roman"/>
                        </a:rPr>
                        <a:t>CO5</a:t>
                      </a:r>
                      <a:endParaRPr/>
                    </a:p>
                  </a:txBody>
                  <a:tcPr marL="9525" marR="9525" marT="9525" marB="0" anchor="ctr">
                    <a:lnL w="1270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600" b="1" i="0" u="none" strike="noStrike" cap="none">
                          <a:solidFill>
                            <a:srgbClr val="000000"/>
                          </a:solidFill>
                          <a:latin typeface="Times New Roman"/>
                          <a:ea typeface="Times New Roman"/>
                          <a:cs typeface="Times New Roman"/>
                          <a:sym typeface="Times New Roman"/>
                        </a:rPr>
                        <a:t>Students will be able to evaluate database performance after implementing Triggers, procedures, packages, cursors and views.</a:t>
                      </a:r>
                      <a:endParaRPr sz="1600" b="1" i="0" u="none" strike="noStrike" cap="none">
                        <a:solidFill>
                          <a:srgbClr val="000000"/>
                        </a:solidFill>
                        <a:latin typeface="Times New Roman"/>
                        <a:ea typeface="Times New Roman"/>
                        <a:cs typeface="Times New Roman"/>
                        <a:sym typeface="Times New Roman"/>
                      </a:endParaRPr>
                    </a:p>
                  </a:txBody>
                  <a:tcPr marL="9525" marR="9525" marT="952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D8D8D8"/>
                    </a:solidFill>
                  </a:tcPr>
                </a:tc>
                <a:tc>
                  <a:txBody>
                    <a:bodyPr/>
                    <a:lstStyle/>
                    <a:p>
                      <a:pPr marL="0" marR="0" lvl="0" indent="0" algn="ctr" rtl="0">
                        <a:spcBef>
                          <a:spcPts val="0"/>
                        </a:spcBef>
                        <a:spcAft>
                          <a:spcPts val="0"/>
                        </a:spcAft>
                        <a:buNone/>
                      </a:pPr>
                      <a:r>
                        <a:rPr lang="en-US" sz="2000" b="1" i="0" u="none" strike="noStrike" cap="none">
                          <a:solidFill>
                            <a:srgbClr val="C00000"/>
                          </a:solidFill>
                          <a:latin typeface="Calibri"/>
                          <a:ea typeface="Calibri"/>
                          <a:cs typeface="Calibri"/>
                          <a:sym typeface="Calibri"/>
                        </a:rPr>
                        <a:t>Evaluate</a:t>
                      </a:r>
                      <a:endParaRPr/>
                    </a:p>
                  </a:txBody>
                  <a:tcPr marL="9525" marR="9525" marT="9525" marB="0" anchor="ctr">
                    <a:lnL w="9525"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20" name="Google Shape;120;p3"/>
          <p:cNvSpPr txBox="1">
            <a:spLocks noGrp="1"/>
          </p:cNvSpPr>
          <p:nvPr>
            <p:ph type="title"/>
          </p:nvPr>
        </p:nvSpPr>
        <p:spPr>
          <a:xfrm>
            <a:off x="1719416" y="376190"/>
            <a:ext cx="7886700" cy="65250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3600"/>
              <a:buFont typeface="Arial Rounded"/>
              <a:buNone/>
            </a:pPr>
            <a:r>
              <a:rPr lang="en-US" sz="3600" b="1">
                <a:solidFill>
                  <a:srgbClr val="C00000"/>
                </a:solidFill>
                <a:latin typeface="Arial Rounded"/>
                <a:ea typeface="Arial Rounded"/>
                <a:cs typeface="Arial Rounded"/>
                <a:sym typeface="Arial Rounded"/>
              </a:rPr>
              <a:t>COURSE OUTCOMES </a:t>
            </a:r>
            <a:endParaRPr sz="3600" b="1">
              <a:solidFill>
                <a:srgbClr val="C00000"/>
              </a:solidFill>
              <a:latin typeface="Arial Rounded"/>
              <a:ea typeface="Arial Rounded"/>
              <a:cs typeface="Arial Rounded"/>
              <a:sym typeface="Arial Rounded"/>
            </a:endParaRPr>
          </a:p>
        </p:txBody>
      </p:sp>
      <p:sp>
        <p:nvSpPr>
          <p:cNvPr id="121" name="Google Shape;121;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22" name="Google Shape;122;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123" name="Google Shape;123;p3"/>
          <p:cNvSpPr/>
          <p:nvPr/>
        </p:nvSpPr>
        <p:spPr>
          <a:xfrm>
            <a:off x="8371907" y="1161441"/>
            <a:ext cx="3602379" cy="4139901"/>
          </a:xfrm>
          <a:prstGeom prst="rect">
            <a:avLst/>
          </a:prstGeom>
          <a:no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24" name="Google Shape;124;p3"/>
          <p:cNvSpPr/>
          <p:nvPr/>
        </p:nvSpPr>
        <p:spPr>
          <a:xfrm>
            <a:off x="9163335" y="1780920"/>
            <a:ext cx="2244894" cy="1068207"/>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Calibri"/>
                <a:ea typeface="Calibri"/>
                <a:cs typeface="Calibri"/>
                <a:sym typeface="Calibri"/>
              </a:rPr>
              <a:t>Will be covered in this lecture</a:t>
            </a:r>
            <a:endParaRPr sz="1400" b="0" i="0" u="none" strike="noStrike" cap="none">
              <a:solidFill>
                <a:srgbClr val="000000"/>
              </a:solidFill>
              <a:latin typeface="Arial"/>
              <a:ea typeface="Arial"/>
              <a:cs typeface="Arial"/>
              <a:sym typeface="Arial"/>
            </a:endParaRPr>
          </a:p>
        </p:txBody>
      </p:sp>
      <p:cxnSp>
        <p:nvCxnSpPr>
          <p:cNvPr id="125" name="Google Shape;125;p3"/>
          <p:cNvCxnSpPr/>
          <p:nvPr/>
        </p:nvCxnSpPr>
        <p:spPr>
          <a:xfrm rot="10800000" flipH="1">
            <a:off x="7924800" y="2125686"/>
            <a:ext cx="1238535" cy="598209"/>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29"/>
        <p:cNvGrpSpPr/>
        <p:nvPr/>
      </p:nvGrpSpPr>
      <p:grpSpPr>
        <a:xfrm>
          <a:off x="0" y="0"/>
          <a:ext cx="0" cy="0"/>
          <a:chOff x="0" y="0"/>
          <a:chExt cx="0" cy="0"/>
        </a:xfrm>
      </p:grpSpPr>
      <p:sp>
        <p:nvSpPr>
          <p:cNvPr id="130" name="Google Shape;130;p5"/>
          <p:cNvSpPr/>
          <p:nvPr/>
        </p:nvSpPr>
        <p:spPr>
          <a:xfrm>
            <a:off x="381913" y="1925013"/>
            <a:ext cx="11549400" cy="33501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have good </a:t>
            </a:r>
            <a:r>
              <a:rPr lang="en-US" sz="2400" b="1" i="0" u="none" strike="noStrike" cap="none">
                <a:solidFill>
                  <a:schemeClr val="dk1"/>
                </a:solidFill>
                <a:latin typeface="Times New Roman"/>
                <a:ea typeface="Times New Roman"/>
                <a:cs typeface="Times New Roman"/>
                <a:sym typeface="Times New Roman"/>
              </a:rPr>
              <a:t>understanding of database system </a:t>
            </a:r>
            <a:r>
              <a:rPr lang="en-US" sz="2400" b="0" i="0" u="none" strike="noStrike" cap="none">
                <a:solidFill>
                  <a:schemeClr val="dk1"/>
                </a:solidFill>
                <a:latin typeface="Times New Roman"/>
                <a:ea typeface="Times New Roman"/>
                <a:cs typeface="Times New Roman"/>
                <a:sym typeface="Times New Roman"/>
              </a:rPr>
              <a:t>concepts and </a:t>
            </a:r>
            <a:r>
              <a:rPr lang="en-US" sz="2400" b="1" i="0" u="none" strike="noStrike" cap="none">
                <a:solidFill>
                  <a:schemeClr val="dk1"/>
                </a:solidFill>
                <a:latin typeface="Times New Roman"/>
                <a:ea typeface="Times New Roman"/>
                <a:cs typeface="Times New Roman"/>
                <a:sym typeface="Times New Roman"/>
              </a:rPr>
              <a:t>design databases </a:t>
            </a:r>
            <a:r>
              <a:rPr lang="en-US" sz="2400" b="0" i="0" u="none" strike="noStrike" cap="none">
                <a:solidFill>
                  <a:schemeClr val="dk1"/>
                </a:solidFill>
                <a:latin typeface="Times New Roman"/>
                <a:ea typeface="Times New Roman"/>
                <a:cs typeface="Times New Roman"/>
                <a:sym typeface="Times New Roman"/>
              </a:rPr>
              <a:t>for different applications.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learn how to use a </a:t>
            </a:r>
            <a:r>
              <a:rPr lang="en-US" sz="2400" b="1" i="0" u="none" strike="noStrike" cap="none">
                <a:solidFill>
                  <a:schemeClr val="dk1"/>
                </a:solidFill>
                <a:latin typeface="Times New Roman"/>
                <a:ea typeface="Times New Roman"/>
                <a:cs typeface="Times New Roman"/>
                <a:sym typeface="Times New Roman"/>
              </a:rPr>
              <a:t>DBMS and RDBMS.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implement and understand different types of </a:t>
            </a:r>
            <a:r>
              <a:rPr lang="en-US" sz="2400" b="1" i="0" u="none" strike="noStrike" cap="none">
                <a:solidFill>
                  <a:schemeClr val="dk1"/>
                </a:solidFill>
                <a:latin typeface="Times New Roman"/>
                <a:ea typeface="Times New Roman"/>
                <a:cs typeface="Times New Roman"/>
                <a:sym typeface="Times New Roman"/>
              </a:rPr>
              <a:t>DDL, DML and DCL </a:t>
            </a:r>
            <a:r>
              <a:rPr lang="en-US" sz="2400" b="0" i="0" u="none" strike="noStrike" cap="none">
                <a:solidFill>
                  <a:schemeClr val="dk1"/>
                </a:solidFill>
                <a:latin typeface="Times New Roman"/>
                <a:ea typeface="Times New Roman"/>
                <a:cs typeface="Times New Roman"/>
                <a:sym typeface="Times New Roman"/>
              </a:rPr>
              <a:t>statements.</a:t>
            </a:r>
            <a:endParaRPr/>
          </a:p>
          <a:p>
            <a:pPr marL="342900" marR="0" lvl="0" indent="-342900" algn="l" rtl="0">
              <a:lnSpc>
                <a:spcPct val="15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Times New Roman"/>
                <a:ea typeface="Times New Roman"/>
                <a:cs typeface="Times New Roman"/>
                <a:sym typeface="Times New Roman"/>
              </a:rPr>
              <a:t>To understand </a:t>
            </a:r>
            <a:r>
              <a:rPr lang="en-US" sz="2400" b="1" i="0" u="none" strike="noStrike" cap="none">
                <a:solidFill>
                  <a:schemeClr val="dk1"/>
                </a:solidFill>
                <a:latin typeface="Times New Roman"/>
                <a:ea typeface="Times New Roman"/>
                <a:cs typeface="Times New Roman"/>
                <a:sym typeface="Times New Roman"/>
              </a:rPr>
              <a:t>transaction concepts </a:t>
            </a:r>
            <a:r>
              <a:rPr lang="en-US" sz="2400" b="0" i="0" u="none" strike="noStrike" cap="none">
                <a:solidFill>
                  <a:schemeClr val="dk1"/>
                </a:solidFill>
                <a:latin typeface="Times New Roman"/>
                <a:ea typeface="Times New Roman"/>
                <a:cs typeface="Times New Roman"/>
                <a:sym typeface="Times New Roman"/>
              </a:rPr>
              <a:t>related to databases and </a:t>
            </a:r>
            <a:r>
              <a:rPr lang="en-US" sz="2400" b="1" i="0" u="none" strike="noStrike" cap="none">
                <a:solidFill>
                  <a:schemeClr val="dk1"/>
                </a:solidFill>
                <a:latin typeface="Times New Roman"/>
                <a:ea typeface="Times New Roman"/>
                <a:cs typeface="Times New Roman"/>
                <a:sym typeface="Times New Roman"/>
              </a:rPr>
              <a:t>recovery/backup techniques </a:t>
            </a:r>
            <a:r>
              <a:rPr lang="en-US" sz="2400" b="0" i="0" u="none" strike="noStrike" cap="none">
                <a:solidFill>
                  <a:schemeClr val="dk1"/>
                </a:solidFill>
                <a:latin typeface="Times New Roman"/>
                <a:ea typeface="Times New Roman"/>
                <a:cs typeface="Times New Roman"/>
                <a:sym typeface="Times New Roman"/>
              </a:rPr>
              <a:t>required for the proper storage of data.</a:t>
            </a:r>
            <a:endParaRPr/>
          </a:p>
        </p:txBody>
      </p:sp>
      <p:sp>
        <p:nvSpPr>
          <p:cNvPr id="131" name="Google Shape;131;p5"/>
          <p:cNvSpPr/>
          <p:nvPr/>
        </p:nvSpPr>
        <p:spPr>
          <a:xfrm>
            <a:off x="1255771" y="1384771"/>
            <a:ext cx="7354800" cy="4617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i="0" u="none" strike="noStrike" cap="none">
                <a:solidFill>
                  <a:schemeClr val="dk1"/>
                </a:solidFill>
                <a:latin typeface="Times New Roman"/>
                <a:ea typeface="Times New Roman"/>
                <a:cs typeface="Times New Roman"/>
                <a:sym typeface="Times New Roman"/>
              </a:rPr>
              <a:t>This course will enable students to,</a:t>
            </a:r>
            <a:endParaRPr/>
          </a:p>
        </p:txBody>
      </p:sp>
      <p:sp>
        <p:nvSpPr>
          <p:cNvPr id="132" name="Google Shape;132;p5"/>
          <p:cNvSpPr txBox="1">
            <a:spLocks noGrp="1"/>
          </p:cNvSpPr>
          <p:nvPr>
            <p:ph type="title"/>
          </p:nvPr>
        </p:nvSpPr>
        <p:spPr>
          <a:xfrm>
            <a:off x="2409648" y="449984"/>
            <a:ext cx="7886700" cy="549600"/>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3300"/>
              <a:buFont typeface="Arial Rounded"/>
              <a:buNone/>
            </a:pPr>
            <a:r>
              <a:rPr lang="en-US" sz="3300" b="1">
                <a:solidFill>
                  <a:srgbClr val="C00000"/>
                </a:solidFill>
                <a:latin typeface="Arial Rounded"/>
                <a:ea typeface="Arial Rounded"/>
                <a:cs typeface="Arial Rounded"/>
                <a:sym typeface="Arial Rounded"/>
              </a:rPr>
              <a:t>COURSE OBJECTIVES </a:t>
            </a:r>
            <a:endParaRPr/>
          </a:p>
        </p:txBody>
      </p:sp>
      <p:sp>
        <p:nvSpPr>
          <p:cNvPr id="133" name="Google Shape;133;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34" name="Google Shape;134;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38"/>
        <p:cNvGrpSpPr/>
        <p:nvPr/>
      </p:nvGrpSpPr>
      <p:grpSpPr>
        <a:xfrm>
          <a:off x="0" y="0"/>
          <a:ext cx="0" cy="0"/>
          <a:chOff x="0" y="0"/>
          <a:chExt cx="0" cy="0"/>
        </a:xfrm>
      </p:grpSpPr>
      <p:sp>
        <p:nvSpPr>
          <p:cNvPr id="139" name="Google Shape;139;g322d76e7002_0_0"/>
          <p:cNvSpPr txBox="1">
            <a:spLocks noGrp="1"/>
          </p:cNvSpPr>
          <p:nvPr>
            <p:ph type="title"/>
          </p:nvPr>
        </p:nvSpPr>
        <p:spPr>
          <a:xfrm>
            <a:off x="1120263" y="438043"/>
            <a:ext cx="7886700" cy="1311300"/>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4400"/>
              <a:buFont typeface="Arial Rounded"/>
              <a:buNone/>
            </a:pPr>
            <a:r>
              <a:rPr lang="en-US" b="1">
                <a:solidFill>
                  <a:srgbClr val="C00000"/>
                </a:solidFill>
                <a:latin typeface="Arial Rounded"/>
                <a:ea typeface="Arial Rounded"/>
                <a:cs typeface="Arial Rounded"/>
                <a:sym typeface="Arial Rounded"/>
              </a:rPr>
              <a:t>ASSESSMENT  MODEL</a:t>
            </a:r>
            <a:br>
              <a:rPr lang="en-US" b="1">
                <a:solidFill>
                  <a:srgbClr val="C00000"/>
                </a:solidFill>
                <a:latin typeface="Arial Rounded"/>
                <a:ea typeface="Arial Rounded"/>
                <a:cs typeface="Arial Rounded"/>
                <a:sym typeface="Arial Rounded"/>
              </a:rPr>
            </a:br>
            <a:endParaRPr b="1">
              <a:solidFill>
                <a:srgbClr val="C00000"/>
              </a:solidFill>
              <a:latin typeface="Arial Rounded"/>
              <a:ea typeface="Arial Rounded"/>
              <a:cs typeface="Arial Rounded"/>
              <a:sym typeface="Arial Rounded"/>
            </a:endParaRPr>
          </a:p>
        </p:txBody>
      </p:sp>
      <p:sp>
        <p:nvSpPr>
          <p:cNvPr id="140" name="Google Shape;140;g322d76e7002_0_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41" name="Google Shape;141;g322d76e7002_0_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142" name="Google Shape;142;g322d76e7002_0_0"/>
          <p:cNvSpPr/>
          <p:nvPr/>
        </p:nvSpPr>
        <p:spPr>
          <a:xfrm>
            <a:off x="5943600" y="3276600"/>
            <a:ext cx="1116000" cy="111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43" name="Google Shape;143;g322d76e7002_0_0"/>
          <p:cNvSpPr/>
          <p:nvPr/>
        </p:nvSpPr>
        <p:spPr>
          <a:xfrm>
            <a:off x="6096000" y="3429000"/>
            <a:ext cx="1116000" cy="111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44" name="Google Shape;144;g322d76e7002_0_0"/>
          <p:cNvPicPr preferRelativeResize="0"/>
          <p:nvPr/>
        </p:nvPicPr>
        <p:blipFill rotWithShape="1">
          <a:blip r:embed="rId3">
            <a:alphaModFix/>
          </a:blip>
          <a:srcRect/>
          <a:stretch/>
        </p:blipFill>
        <p:spPr>
          <a:xfrm>
            <a:off x="1965600" y="1834677"/>
            <a:ext cx="9072001" cy="3557032"/>
          </a:xfrm>
          <a:prstGeom prst="rect">
            <a:avLst/>
          </a:prstGeom>
          <a:noFill/>
          <a:ln w="19050" cap="flat" cmpd="sng">
            <a:solidFill>
              <a:schemeClr val="dk1"/>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48"/>
        <p:cNvGrpSpPr/>
        <p:nvPr/>
      </p:nvGrpSpPr>
      <p:grpSpPr>
        <a:xfrm>
          <a:off x="0" y="0"/>
          <a:ext cx="0" cy="0"/>
          <a:chOff x="0" y="0"/>
          <a:chExt cx="0" cy="0"/>
        </a:xfrm>
      </p:grpSpPr>
      <p:sp>
        <p:nvSpPr>
          <p:cNvPr id="149" name="Google Shape;149;p7"/>
          <p:cNvSpPr txBox="1">
            <a:spLocks noGrp="1"/>
          </p:cNvSpPr>
          <p:nvPr>
            <p:ph type="title"/>
          </p:nvPr>
        </p:nvSpPr>
        <p:spPr>
          <a:xfrm>
            <a:off x="2409648" y="449984"/>
            <a:ext cx="7886700" cy="549600"/>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3300"/>
              <a:buFont typeface="Arial Rounded"/>
              <a:buNone/>
            </a:pPr>
            <a:r>
              <a:rPr lang="en-US" sz="3300" b="1">
                <a:solidFill>
                  <a:srgbClr val="C00000"/>
                </a:solidFill>
                <a:latin typeface="Arial Rounded"/>
                <a:ea typeface="Arial Rounded"/>
                <a:cs typeface="Arial Rounded"/>
                <a:sym typeface="Arial Rounded"/>
              </a:rPr>
              <a:t>SUGGESTED COURSES</a:t>
            </a:r>
            <a:endParaRPr/>
          </a:p>
        </p:txBody>
      </p:sp>
      <p:sp>
        <p:nvSpPr>
          <p:cNvPr id="150" name="Google Shape;150;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graphicFrame>
        <p:nvGraphicFramePr>
          <p:cNvPr id="151" name="Google Shape;151;p7"/>
          <p:cNvGraphicFramePr/>
          <p:nvPr/>
        </p:nvGraphicFramePr>
        <p:xfrm>
          <a:off x="1741714" y="1042471"/>
          <a:ext cx="9405250" cy="5145625"/>
        </p:xfrm>
        <a:graphic>
          <a:graphicData uri="http://schemas.openxmlformats.org/drawingml/2006/table">
            <a:tbl>
              <a:tblPr firstRow="1" firstCol="1" bandRow="1">
                <a:noFill/>
                <a:tableStyleId>{FC95B516-BE01-4FC8-9785-2EA43326EE01}</a:tableStyleId>
              </a:tblPr>
              <a:tblGrid>
                <a:gridCol w="2220675">
                  <a:extLst>
                    <a:ext uri="{9D8B030D-6E8A-4147-A177-3AD203B41FA5}">
                      <a16:colId xmlns:a16="http://schemas.microsoft.com/office/drawing/2014/main" val="20000"/>
                    </a:ext>
                  </a:extLst>
                </a:gridCol>
                <a:gridCol w="1164775">
                  <a:extLst>
                    <a:ext uri="{9D8B030D-6E8A-4147-A177-3AD203B41FA5}">
                      <a16:colId xmlns:a16="http://schemas.microsoft.com/office/drawing/2014/main" val="20001"/>
                    </a:ext>
                  </a:extLst>
                </a:gridCol>
                <a:gridCol w="1197425">
                  <a:extLst>
                    <a:ext uri="{9D8B030D-6E8A-4147-A177-3AD203B41FA5}">
                      <a16:colId xmlns:a16="http://schemas.microsoft.com/office/drawing/2014/main" val="20002"/>
                    </a:ext>
                  </a:extLst>
                </a:gridCol>
                <a:gridCol w="1326925">
                  <a:extLst>
                    <a:ext uri="{9D8B030D-6E8A-4147-A177-3AD203B41FA5}">
                      <a16:colId xmlns:a16="http://schemas.microsoft.com/office/drawing/2014/main" val="20003"/>
                    </a:ext>
                  </a:extLst>
                </a:gridCol>
                <a:gridCol w="3495450">
                  <a:extLst>
                    <a:ext uri="{9D8B030D-6E8A-4147-A177-3AD203B41FA5}">
                      <a16:colId xmlns:a16="http://schemas.microsoft.com/office/drawing/2014/main" val="20004"/>
                    </a:ext>
                  </a:extLst>
                </a:gridCol>
              </a:tblGrid>
              <a:tr h="290925">
                <a:tc>
                  <a:txBody>
                    <a:bodyPr/>
                    <a:lstStyle/>
                    <a:p>
                      <a:pPr marL="111760" marR="0" lvl="0" indent="0" algn="l" rtl="0">
                        <a:lnSpc>
                          <a:spcPct val="107000"/>
                        </a:lnSpc>
                        <a:spcBef>
                          <a:spcPts val="0"/>
                        </a:spcBef>
                        <a:spcAft>
                          <a:spcPts val="0"/>
                        </a:spcAft>
                        <a:buNone/>
                      </a:pPr>
                      <a:r>
                        <a:rPr lang="en-US" sz="1800" u="none" strike="noStrike" cap="none"/>
                        <a:t>Course Name</a:t>
                      </a:r>
                      <a:endParaRPr sz="1600" u="none" strike="noStrike" cap="none">
                        <a:latin typeface="Calibri"/>
                        <a:ea typeface="Calibri"/>
                        <a:cs typeface="Calibri"/>
                        <a:sym typeface="Calibri"/>
                      </a:endParaRPr>
                    </a:p>
                  </a:txBody>
                  <a:tcPr marL="68575" marR="68575" marT="0" marB="0"/>
                </a:tc>
                <a:tc>
                  <a:txBody>
                    <a:bodyPr/>
                    <a:lstStyle/>
                    <a:p>
                      <a:pPr marL="97155" marR="0" lvl="0" indent="90170" algn="l" rtl="0">
                        <a:lnSpc>
                          <a:spcPct val="107000"/>
                        </a:lnSpc>
                        <a:spcBef>
                          <a:spcPts val="0"/>
                        </a:spcBef>
                        <a:spcAft>
                          <a:spcPts val="0"/>
                        </a:spcAft>
                        <a:buNone/>
                      </a:pPr>
                      <a:r>
                        <a:rPr lang="en-US" sz="1800" u="none" strike="noStrike" cap="none"/>
                        <a:t>Provider</a:t>
                      </a:r>
                      <a:endParaRPr sz="1600" u="none" strike="noStrike" cap="none">
                        <a:latin typeface="Calibri"/>
                        <a:ea typeface="Calibri"/>
                        <a:cs typeface="Calibri"/>
                        <a:sym typeface="Calibri"/>
                      </a:endParaRPr>
                    </a:p>
                  </a:txBody>
                  <a:tcPr marL="68575" marR="68575" marT="0" marB="0"/>
                </a:tc>
                <a:tc>
                  <a:txBody>
                    <a:bodyPr/>
                    <a:lstStyle/>
                    <a:p>
                      <a:pPr marL="112395" marR="0" lvl="0" indent="0" algn="l" rtl="0">
                        <a:lnSpc>
                          <a:spcPct val="107000"/>
                        </a:lnSpc>
                        <a:spcBef>
                          <a:spcPts val="0"/>
                        </a:spcBef>
                        <a:spcAft>
                          <a:spcPts val="0"/>
                        </a:spcAft>
                        <a:buNone/>
                      </a:pPr>
                      <a:r>
                        <a:rPr lang="en-US" sz="1800" u="none" strike="noStrike" cap="none"/>
                        <a:t>Duration</a:t>
                      </a:r>
                      <a:endParaRPr sz="1600" u="none" strike="noStrike" cap="none">
                        <a:latin typeface="Calibri"/>
                        <a:ea typeface="Calibri"/>
                        <a:cs typeface="Calibri"/>
                        <a:sym typeface="Calibri"/>
                      </a:endParaRPr>
                    </a:p>
                  </a:txBody>
                  <a:tcPr marL="68575" marR="68575" marT="0" marB="0"/>
                </a:tc>
                <a:tc>
                  <a:txBody>
                    <a:bodyPr/>
                    <a:lstStyle/>
                    <a:p>
                      <a:pPr marL="111760" marR="0" lvl="0" indent="0" algn="l" rtl="0">
                        <a:lnSpc>
                          <a:spcPct val="107000"/>
                        </a:lnSpc>
                        <a:spcBef>
                          <a:spcPts val="0"/>
                        </a:spcBef>
                        <a:spcAft>
                          <a:spcPts val="0"/>
                        </a:spcAft>
                        <a:buNone/>
                      </a:pPr>
                      <a:r>
                        <a:rPr lang="en-US" sz="1800" u="none" strike="noStrike" cap="none"/>
                        <a:t>Focus Area</a:t>
                      </a:r>
                      <a:endParaRPr sz="1600" u="none" strike="noStrike" cap="none">
                        <a:latin typeface="Calibri"/>
                        <a:ea typeface="Calibri"/>
                        <a:cs typeface="Calibri"/>
                        <a:sym typeface="Calibri"/>
                      </a:endParaRPr>
                    </a:p>
                  </a:txBody>
                  <a:tcPr marL="68575" marR="68575" marT="0" marB="0"/>
                </a:tc>
                <a:tc>
                  <a:txBody>
                    <a:bodyPr/>
                    <a:lstStyle/>
                    <a:p>
                      <a:pPr marL="457200" marR="0" lvl="0" indent="0" algn="l" rtl="0">
                        <a:lnSpc>
                          <a:spcPct val="107000"/>
                        </a:lnSpc>
                        <a:spcBef>
                          <a:spcPts val="0"/>
                        </a:spcBef>
                        <a:spcAft>
                          <a:spcPts val="0"/>
                        </a:spcAft>
                        <a:buNone/>
                      </a:pPr>
                      <a:r>
                        <a:rPr lang="en-US" sz="1800" u="none" strike="noStrike" cap="none"/>
                        <a:t>Link</a:t>
                      </a:r>
                      <a:endParaRPr sz="1600" u="none" strike="noStrike" cap="none">
                        <a:latin typeface="Calibri"/>
                        <a:ea typeface="Calibri"/>
                        <a:cs typeface="Calibri"/>
                        <a:sym typeface="Calibri"/>
                      </a:endParaRPr>
                    </a:p>
                  </a:txBody>
                  <a:tcPr marL="68575" marR="68575" marT="0" marB="0"/>
                </a:tc>
                <a:extLst>
                  <a:ext uri="{0D108BD9-81ED-4DB2-BD59-A6C34878D82A}">
                    <a16:rowId xmlns:a16="http://schemas.microsoft.com/office/drawing/2014/main" val="10000"/>
                  </a:ext>
                </a:extLst>
              </a:tr>
              <a:tr h="545625">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Introduction to Databases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IBM</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27 hours</a:t>
                      </a:r>
                      <a:endParaRPr sz="1800" u="none" strike="noStrike" cap="none">
                        <a:latin typeface="Arial"/>
                        <a:ea typeface="Arial"/>
                        <a:cs typeface="Arial"/>
                        <a:sym typeface="Arial"/>
                      </a:endParaRPr>
                    </a:p>
                  </a:txBody>
                  <a:tcPr marL="68575" marR="68575" marT="0" marB="0"/>
                </a:tc>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General Database Fundamentals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800" u="sng" strike="noStrike" cap="none">
                          <a:solidFill>
                            <a:srgbClr val="2F5496"/>
                          </a:solidFill>
                          <a:latin typeface="Arial"/>
                          <a:ea typeface="Arial"/>
                          <a:cs typeface="Arial"/>
                          <a:sym typeface="Arial"/>
                        </a:rPr>
                        <a:t>https://www.coursera.org/learn/introduction-to-databases</a:t>
                      </a:r>
                      <a:endParaRPr/>
                    </a:p>
                  </a:txBody>
                  <a:tcPr marL="68575" marR="68575" marT="0" marB="0"/>
                </a:tc>
                <a:extLst>
                  <a:ext uri="{0D108BD9-81ED-4DB2-BD59-A6C34878D82A}">
                    <a16:rowId xmlns:a16="http://schemas.microsoft.com/office/drawing/2014/main" val="10001"/>
                  </a:ext>
                </a:extLst>
              </a:tr>
              <a:tr h="749550">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Databases and SQL for Data Science with Python</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IBM</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13 hours</a:t>
                      </a:r>
                      <a:endParaRPr sz="1800" u="none" strike="noStrike" cap="none">
                        <a:latin typeface="Arial"/>
                        <a:ea typeface="Arial"/>
                        <a:cs typeface="Arial"/>
                        <a:sym typeface="Arial"/>
                      </a:endParaRPr>
                    </a:p>
                  </a:txBody>
                  <a:tcPr marL="68575" marR="68575" marT="0" marB="0"/>
                </a:tc>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SQL and Data Science</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800" u="sng" strike="noStrike" cap="none">
                          <a:solidFill>
                            <a:srgbClr val="2F5496"/>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https://www.coursera.org/learn/sql-data-science</a:t>
                      </a:r>
                      <a:endParaRPr sz="1800" u="none" strike="noStrike" cap="none">
                        <a:solidFill>
                          <a:srgbClr val="2F5496"/>
                        </a:solidFill>
                        <a:latin typeface="Arial"/>
                        <a:ea typeface="Arial"/>
                        <a:cs typeface="Arial"/>
                        <a:sym typeface="Arial"/>
                      </a:endParaRPr>
                    </a:p>
                  </a:txBody>
                  <a:tcPr marL="68575" marR="68575" marT="0" marB="0"/>
                </a:tc>
                <a:extLst>
                  <a:ext uri="{0D108BD9-81ED-4DB2-BD59-A6C34878D82A}">
                    <a16:rowId xmlns:a16="http://schemas.microsoft.com/office/drawing/2014/main" val="10002"/>
                  </a:ext>
                </a:extLst>
              </a:tr>
              <a:tr h="824625">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SQL: A Practical Introduction for Querying Databases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IBM</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21 hours</a:t>
                      </a:r>
                      <a:endParaRPr sz="1800" u="none" strike="noStrike" cap="none">
                        <a:latin typeface="Arial"/>
                        <a:ea typeface="Arial"/>
                        <a:cs typeface="Arial"/>
                        <a:sym typeface="Arial"/>
                      </a:endParaRPr>
                    </a:p>
                  </a:txBody>
                  <a:tcPr marL="68575" marR="68575" marT="0" marB="0"/>
                </a:tc>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Practical SQL Querying</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800" u="sng" strike="noStrike" cap="none">
                          <a:solidFill>
                            <a:srgbClr val="2F5496"/>
                          </a:solidFill>
                          <a:latin typeface="Arial"/>
                          <a:ea typeface="Arial"/>
                          <a:cs typeface="Arial"/>
                          <a:sym typeface="Arial"/>
                        </a:rPr>
                        <a:t>https://www.coursera.org/learn/sql-practical-introduction-for-querying-databases</a:t>
                      </a:r>
                      <a:endParaRPr sz="1800" u="none" strike="noStrike" cap="none">
                        <a:solidFill>
                          <a:srgbClr val="2F5496"/>
                        </a:solidFill>
                        <a:latin typeface="Arial"/>
                        <a:ea typeface="Arial"/>
                        <a:cs typeface="Arial"/>
                        <a:sym typeface="Arial"/>
                      </a:endParaRPr>
                    </a:p>
                  </a:txBody>
                  <a:tcPr marL="68575" marR="68575" marT="0" marB="0"/>
                </a:tc>
                <a:extLst>
                  <a:ext uri="{0D108BD9-81ED-4DB2-BD59-A6C34878D82A}">
                    <a16:rowId xmlns:a16="http://schemas.microsoft.com/office/drawing/2014/main" val="10003"/>
                  </a:ext>
                </a:extLst>
              </a:tr>
              <a:tr h="545625">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Introduction to NoSQL Databases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IBM</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16 hours</a:t>
                      </a:r>
                      <a:endParaRPr sz="1800" u="none" strike="noStrike" cap="none">
                        <a:latin typeface="Arial"/>
                        <a:ea typeface="Arial"/>
                        <a:cs typeface="Arial"/>
                        <a:sym typeface="Arial"/>
                      </a:endParaRPr>
                    </a:p>
                  </a:txBody>
                  <a:tcPr marL="68575" marR="68575" marT="0" marB="0"/>
                </a:tc>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NoSQL Database Concepts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800" u="sng" strike="noStrike" cap="none">
                          <a:solidFill>
                            <a:srgbClr val="2F5496"/>
                          </a:solidFill>
                          <a:latin typeface="Arial"/>
                          <a:ea typeface="Arial"/>
                          <a:cs typeface="Arial"/>
                          <a:sym typeface="Arial"/>
                        </a:rPr>
                        <a:t>https://www.coursera.org/learn/introduction-to-nosql-databases</a:t>
                      </a:r>
                      <a:endParaRPr sz="1800" u="none" strike="noStrike" cap="none">
                        <a:solidFill>
                          <a:srgbClr val="2F5496"/>
                        </a:solidFill>
                        <a:latin typeface="Arial"/>
                        <a:ea typeface="Arial"/>
                        <a:cs typeface="Arial"/>
                        <a:sym typeface="Arial"/>
                      </a:endParaRPr>
                    </a:p>
                  </a:txBody>
                  <a:tcPr marL="68575" marR="68575" marT="0" marB="0"/>
                </a:tc>
                <a:extLst>
                  <a:ext uri="{0D108BD9-81ED-4DB2-BD59-A6C34878D82A}">
                    <a16:rowId xmlns:a16="http://schemas.microsoft.com/office/drawing/2014/main" val="10004"/>
                  </a:ext>
                </a:extLst>
              </a:tr>
              <a:tr h="749550">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Introduction to Relational Databases (RDBMS)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IBM</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18 hours</a:t>
                      </a:r>
                      <a:endParaRPr sz="1800" u="none" strike="noStrike" cap="none">
                        <a:latin typeface="Arial"/>
                        <a:ea typeface="Arial"/>
                        <a:cs typeface="Arial"/>
                        <a:sym typeface="Arial"/>
                      </a:endParaRPr>
                    </a:p>
                  </a:txBody>
                  <a:tcPr marL="68575" marR="68575" marT="0" marB="0"/>
                </a:tc>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Relational Database Fundamentals</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800" u="sng" strike="noStrike" cap="none">
                          <a:solidFill>
                            <a:srgbClr val="2F5496"/>
                          </a:solidFill>
                          <a:latin typeface="Arial"/>
                          <a:ea typeface="Arial"/>
                          <a:cs typeface="Arial"/>
                          <a:sym typeface="Arial"/>
                        </a:rPr>
                        <a:t>https://www.coursera.org/learn/introduction-to-relational-databases</a:t>
                      </a:r>
                      <a:endParaRPr sz="1800" u="none" strike="noStrike" cap="none">
                        <a:solidFill>
                          <a:srgbClr val="2F5496"/>
                        </a:solidFill>
                        <a:latin typeface="Arial"/>
                        <a:ea typeface="Arial"/>
                        <a:cs typeface="Arial"/>
                        <a:sym typeface="Arial"/>
                      </a:endParaRPr>
                    </a:p>
                  </a:txBody>
                  <a:tcPr marL="68575" marR="68575" marT="0" marB="0"/>
                </a:tc>
                <a:extLst>
                  <a:ext uri="{0D108BD9-81ED-4DB2-BD59-A6C34878D82A}">
                    <a16:rowId xmlns:a16="http://schemas.microsoft.com/office/drawing/2014/main" val="10005"/>
                  </a:ext>
                </a:extLst>
              </a:tr>
              <a:tr h="545625">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Relational Database Administrator (DBA)</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IBM</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400" u="none" strike="noStrike" cap="none">
                          <a:latin typeface="Arial"/>
                          <a:ea typeface="Arial"/>
                          <a:cs typeface="Arial"/>
                          <a:sym typeface="Arial"/>
                        </a:rPr>
                        <a:t>Not Specified</a:t>
                      </a:r>
                      <a:endParaRPr sz="1800" u="none" strike="noStrike" cap="none">
                        <a:latin typeface="Arial"/>
                        <a:ea typeface="Arial"/>
                        <a:cs typeface="Arial"/>
                        <a:sym typeface="Arial"/>
                      </a:endParaRPr>
                    </a:p>
                  </a:txBody>
                  <a:tcPr marL="68575" marR="68575" marT="0" marB="0"/>
                </a:tc>
                <a:tc>
                  <a:txBody>
                    <a:bodyPr/>
                    <a:lstStyle/>
                    <a:p>
                      <a:pPr marL="21590" marR="0" lvl="0" indent="0" algn="l" rtl="0">
                        <a:lnSpc>
                          <a:spcPct val="107000"/>
                        </a:lnSpc>
                        <a:spcBef>
                          <a:spcPts val="0"/>
                        </a:spcBef>
                        <a:spcAft>
                          <a:spcPts val="0"/>
                        </a:spcAft>
                        <a:buNone/>
                      </a:pPr>
                      <a:r>
                        <a:rPr lang="en-US" sz="1400" u="none" strike="noStrike" cap="none">
                          <a:latin typeface="Arial"/>
                          <a:ea typeface="Arial"/>
                          <a:cs typeface="Arial"/>
                          <a:sym typeface="Arial"/>
                        </a:rPr>
                        <a:t>Database Administration</a:t>
                      </a:r>
                      <a:endParaRPr sz="1800" u="none" strike="noStrike" cap="none">
                        <a:latin typeface="Arial"/>
                        <a:ea typeface="Arial"/>
                        <a:cs typeface="Arial"/>
                        <a:sym typeface="Arial"/>
                      </a:endParaRPr>
                    </a:p>
                  </a:txBody>
                  <a:tcPr marL="68575" marR="68575" marT="0" marB="0"/>
                </a:tc>
                <a:tc>
                  <a:txBody>
                    <a:bodyPr/>
                    <a:lstStyle/>
                    <a:p>
                      <a:pPr marL="201930" marR="0" lvl="0" indent="0" algn="l" rtl="0">
                        <a:lnSpc>
                          <a:spcPct val="107000"/>
                        </a:lnSpc>
                        <a:spcBef>
                          <a:spcPts val="0"/>
                        </a:spcBef>
                        <a:spcAft>
                          <a:spcPts val="0"/>
                        </a:spcAft>
                        <a:buNone/>
                      </a:pPr>
                      <a:r>
                        <a:rPr lang="en-US" sz="1800" u="sng" strike="noStrike" cap="none">
                          <a:solidFill>
                            <a:srgbClr val="2F5496"/>
                          </a:solidFill>
                          <a:latin typeface="Arial"/>
                          <a:ea typeface="Arial"/>
                          <a:cs typeface="Arial"/>
                          <a:sym typeface="Arial"/>
                        </a:rPr>
                        <a:t>https://www.coursera.org/learn/relational-database-administration</a:t>
                      </a:r>
                      <a:endParaRPr sz="1800" u="none" strike="noStrike" cap="none">
                        <a:solidFill>
                          <a:srgbClr val="2F5496"/>
                        </a:solidFill>
                        <a:latin typeface="Arial"/>
                        <a:ea typeface="Arial"/>
                        <a:cs typeface="Arial"/>
                        <a:sym typeface="Arial"/>
                      </a:endParaRPr>
                    </a:p>
                  </a:txBody>
                  <a:tcPr marL="68575" marR="68575" marT="0" marB="0"/>
                </a:tc>
                <a:extLst>
                  <a:ext uri="{0D108BD9-81ED-4DB2-BD59-A6C34878D82A}">
                    <a16:rowId xmlns:a16="http://schemas.microsoft.com/office/drawing/2014/main" val="10006"/>
                  </a:ext>
                </a:extLst>
              </a:tr>
            </a:tbl>
          </a:graphicData>
        </a:graphic>
      </p:graphicFrame>
      <p:sp>
        <p:nvSpPr>
          <p:cNvPr id="152" name="Google Shape;152;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56"/>
        <p:cNvGrpSpPr/>
        <p:nvPr/>
      </p:nvGrpSpPr>
      <p:grpSpPr>
        <a:xfrm>
          <a:off x="0" y="0"/>
          <a:ext cx="0" cy="0"/>
          <a:chOff x="0" y="0"/>
          <a:chExt cx="0" cy="0"/>
        </a:xfrm>
      </p:grpSpPr>
      <p:sp>
        <p:nvSpPr>
          <p:cNvPr id="157" name="Google Shape;157;g322d76e7002_0_14"/>
          <p:cNvSpPr txBox="1">
            <a:spLocks noGrp="1"/>
          </p:cNvSpPr>
          <p:nvPr>
            <p:ph type="title"/>
          </p:nvPr>
        </p:nvSpPr>
        <p:spPr>
          <a:xfrm>
            <a:off x="1120263" y="438043"/>
            <a:ext cx="7886700" cy="1311300"/>
          </a:xfrm>
          <a:prstGeom prst="rect">
            <a:avLst/>
          </a:prstGeom>
          <a:noFill/>
          <a:ln>
            <a:noFill/>
          </a:ln>
        </p:spPr>
        <p:txBody>
          <a:bodyPr spcFirstLastPara="1" wrap="square" lIns="91425" tIns="45700" rIns="91425" bIns="45700" anchor="ctr" anchorCtr="0">
            <a:spAutoFit/>
          </a:bodyPr>
          <a:lstStyle/>
          <a:p>
            <a:pPr marL="0" lvl="0" indent="0" algn="l" rtl="0">
              <a:lnSpc>
                <a:spcPct val="90000"/>
              </a:lnSpc>
              <a:spcBef>
                <a:spcPts val="0"/>
              </a:spcBef>
              <a:spcAft>
                <a:spcPts val="0"/>
              </a:spcAft>
              <a:buClr>
                <a:srgbClr val="C00000"/>
              </a:buClr>
              <a:buSzPts val="4400"/>
              <a:buFont typeface="Arial Rounded"/>
              <a:buNone/>
            </a:pPr>
            <a:r>
              <a:rPr lang="en-US" b="1">
                <a:solidFill>
                  <a:srgbClr val="C00000"/>
                </a:solidFill>
                <a:latin typeface="Arial Rounded"/>
                <a:ea typeface="Arial Rounded"/>
                <a:cs typeface="Arial Rounded"/>
                <a:sym typeface="Arial Rounded"/>
              </a:rPr>
              <a:t>Activity based learning</a:t>
            </a:r>
            <a:br>
              <a:rPr lang="en-US" b="1">
                <a:solidFill>
                  <a:srgbClr val="C00000"/>
                </a:solidFill>
                <a:latin typeface="Arial Rounded"/>
                <a:ea typeface="Arial Rounded"/>
                <a:cs typeface="Arial Rounded"/>
                <a:sym typeface="Arial Rounded"/>
              </a:rPr>
            </a:br>
            <a:endParaRPr b="1">
              <a:solidFill>
                <a:srgbClr val="C00000"/>
              </a:solidFill>
              <a:latin typeface="Arial Rounded"/>
              <a:ea typeface="Arial Rounded"/>
              <a:cs typeface="Arial Rounded"/>
              <a:sym typeface="Arial Rounded"/>
            </a:endParaRPr>
          </a:p>
        </p:txBody>
      </p:sp>
      <p:sp>
        <p:nvSpPr>
          <p:cNvPr id="158" name="Google Shape;158;g322d76e7002_0_1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59" name="Google Shape;159;g322d76e7002_0_1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160" name="Google Shape;160;g322d76e7002_0_14"/>
          <p:cNvSpPr/>
          <p:nvPr/>
        </p:nvSpPr>
        <p:spPr>
          <a:xfrm>
            <a:off x="5943600" y="3276600"/>
            <a:ext cx="1116000" cy="111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1" name="Google Shape;161;g322d76e7002_0_14"/>
          <p:cNvSpPr/>
          <p:nvPr/>
        </p:nvSpPr>
        <p:spPr>
          <a:xfrm>
            <a:off x="6096000" y="3429000"/>
            <a:ext cx="1116000" cy="111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62" name="Google Shape;162;g322d76e7002_0_14"/>
          <p:cNvPicPr preferRelativeResize="0"/>
          <p:nvPr/>
        </p:nvPicPr>
        <p:blipFill rotWithShape="1">
          <a:blip r:embed="rId3">
            <a:alphaModFix/>
          </a:blip>
          <a:srcRect/>
          <a:stretch/>
        </p:blipFill>
        <p:spPr>
          <a:xfrm>
            <a:off x="2402931" y="1602600"/>
            <a:ext cx="8917910" cy="39600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grpSp>
        <p:nvGrpSpPr>
          <p:cNvPr id="171" name="Google Shape;171;p8"/>
          <p:cNvGrpSpPr/>
          <p:nvPr/>
        </p:nvGrpSpPr>
        <p:grpSpPr>
          <a:xfrm>
            <a:off x="1524000" y="6356604"/>
            <a:ext cx="9144000" cy="88404"/>
            <a:chOff x="0" y="0"/>
            <a:chExt cx="13004800" cy="125730"/>
          </a:xfrm>
        </p:grpSpPr>
        <p:sp>
          <p:nvSpPr>
            <p:cNvPr id="172" name="Google Shape;172;p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173" name="Google Shape;173;p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174" name="Google Shape;174;p8"/>
          <p:cNvSpPr/>
          <p:nvPr/>
        </p:nvSpPr>
        <p:spPr>
          <a:xfrm>
            <a:off x="1755066" y="4541131"/>
            <a:ext cx="1311689" cy="1314977"/>
          </a:xfrm>
          <a:custGeom>
            <a:avLst/>
            <a:gdLst/>
            <a:ahLst/>
            <a:cxnLst/>
            <a:rect l="l" t="t" r="r" b="b"/>
            <a:pathLst>
              <a:path w="1399135" h="1402642" extrusionOk="0">
                <a:moveTo>
                  <a:pt x="0" y="0"/>
                </a:moveTo>
                <a:lnTo>
                  <a:pt x="1399135" y="0"/>
                </a:lnTo>
                <a:lnTo>
                  <a:pt x="1399135" y="1402642"/>
                </a:lnTo>
                <a:lnTo>
                  <a:pt x="0" y="1402642"/>
                </a:lnTo>
                <a:lnTo>
                  <a:pt x="0" y="0"/>
                </a:lnTo>
                <a:close/>
              </a:path>
            </a:pathLst>
          </a:custGeom>
          <a:blipFill rotWithShape="1">
            <a:blip r:embed="rId3">
              <a:alphaModFix/>
            </a:blip>
            <a:stretch>
              <a:fillRect/>
            </a:stretch>
          </a:blipFill>
          <a:ln>
            <a:noFill/>
          </a:ln>
        </p:spPr>
      </p:sp>
      <p:sp>
        <p:nvSpPr>
          <p:cNvPr id="175" name="Google Shape;175;p8"/>
          <p:cNvSpPr/>
          <p:nvPr/>
        </p:nvSpPr>
        <p:spPr>
          <a:xfrm>
            <a:off x="5600401" y="4541131"/>
            <a:ext cx="1393561" cy="1314977"/>
          </a:xfrm>
          <a:custGeom>
            <a:avLst/>
            <a:gdLst/>
            <a:ahLst/>
            <a:cxnLst/>
            <a:rect l="l" t="t" r="r" b="b"/>
            <a:pathLst>
              <a:path w="1486465" h="1402642" extrusionOk="0">
                <a:moveTo>
                  <a:pt x="0" y="0"/>
                </a:moveTo>
                <a:lnTo>
                  <a:pt x="1486465" y="0"/>
                </a:lnTo>
                <a:lnTo>
                  <a:pt x="1486465" y="1402642"/>
                </a:lnTo>
                <a:lnTo>
                  <a:pt x="0" y="1402642"/>
                </a:lnTo>
                <a:lnTo>
                  <a:pt x="0" y="0"/>
                </a:lnTo>
                <a:close/>
              </a:path>
            </a:pathLst>
          </a:custGeom>
          <a:blipFill rotWithShape="1">
            <a:blip r:embed="rId4">
              <a:alphaModFix/>
            </a:blip>
            <a:stretch>
              <a:fillRect/>
            </a:stretch>
          </a:blipFill>
          <a:ln>
            <a:noFill/>
          </a:ln>
        </p:spPr>
      </p:sp>
      <p:sp>
        <p:nvSpPr>
          <p:cNvPr id="176" name="Google Shape;176;p8"/>
          <p:cNvSpPr/>
          <p:nvPr/>
        </p:nvSpPr>
        <p:spPr>
          <a:xfrm>
            <a:off x="7333290" y="4541131"/>
            <a:ext cx="2995417" cy="1314977"/>
          </a:xfrm>
          <a:custGeom>
            <a:avLst/>
            <a:gdLst/>
            <a:ahLst/>
            <a:cxnLst/>
            <a:rect l="l" t="t" r="r" b="b"/>
            <a:pathLst>
              <a:path w="3195111" h="1402642" extrusionOk="0">
                <a:moveTo>
                  <a:pt x="0" y="0"/>
                </a:moveTo>
                <a:lnTo>
                  <a:pt x="3195112" y="0"/>
                </a:lnTo>
                <a:lnTo>
                  <a:pt x="3195112" y="1402642"/>
                </a:lnTo>
                <a:lnTo>
                  <a:pt x="0" y="1402642"/>
                </a:lnTo>
                <a:lnTo>
                  <a:pt x="0" y="0"/>
                </a:lnTo>
                <a:close/>
              </a:path>
            </a:pathLst>
          </a:custGeom>
          <a:blipFill rotWithShape="1">
            <a:blip r:embed="rId5">
              <a:alphaModFix/>
            </a:blip>
            <a:stretch>
              <a:fillRect l="-24413" t="-64229" r="-28048" b="-66148"/>
            </a:stretch>
          </a:blipFill>
          <a:ln>
            <a:noFill/>
          </a:ln>
        </p:spPr>
      </p:sp>
      <p:sp>
        <p:nvSpPr>
          <p:cNvPr id="177" name="Google Shape;177;p8"/>
          <p:cNvSpPr/>
          <p:nvPr/>
        </p:nvSpPr>
        <p:spPr>
          <a:xfrm>
            <a:off x="3410033" y="4364472"/>
            <a:ext cx="1623357" cy="1491637"/>
          </a:xfrm>
          <a:custGeom>
            <a:avLst/>
            <a:gdLst/>
            <a:ahLst/>
            <a:cxnLst/>
            <a:rect l="l" t="t" r="r" b="b"/>
            <a:pathLst>
              <a:path w="1731581" h="1591079" extrusionOk="0">
                <a:moveTo>
                  <a:pt x="0" y="0"/>
                </a:moveTo>
                <a:lnTo>
                  <a:pt x="1731581" y="0"/>
                </a:lnTo>
                <a:lnTo>
                  <a:pt x="1731581" y="1591079"/>
                </a:lnTo>
                <a:lnTo>
                  <a:pt x="0" y="1591079"/>
                </a:lnTo>
                <a:lnTo>
                  <a:pt x="0" y="0"/>
                </a:lnTo>
                <a:close/>
              </a:path>
            </a:pathLst>
          </a:custGeom>
          <a:blipFill rotWithShape="1">
            <a:blip r:embed="rId6">
              <a:alphaModFix/>
            </a:blip>
            <a:stretch>
              <a:fillRect l="-45495" t="-15289" r="-48242" b="-25834"/>
            </a:stretch>
          </a:blipFill>
          <a:ln>
            <a:noFill/>
          </a:ln>
        </p:spPr>
      </p:sp>
      <p:sp>
        <p:nvSpPr>
          <p:cNvPr id="178" name="Google Shape;178;p8"/>
          <p:cNvSpPr txBox="1"/>
          <p:nvPr/>
        </p:nvSpPr>
        <p:spPr>
          <a:xfrm>
            <a:off x="1882125" y="1766484"/>
            <a:ext cx="7954824" cy="1943096"/>
          </a:xfrm>
          <a:prstGeom prst="rect">
            <a:avLst/>
          </a:prstGeom>
          <a:noFill/>
          <a:ln>
            <a:noFill/>
          </a:ln>
        </p:spPr>
        <p:txBody>
          <a:bodyPr spcFirstLastPara="1" wrap="square" lIns="0" tIns="0" rIns="0" bIns="0" anchor="t" anchorCtr="0">
            <a:spAutoFit/>
          </a:bodyPr>
          <a:lstStyle/>
          <a:p>
            <a:pPr marL="0" marR="0" lvl="0" indent="0" algn="just" rtl="0">
              <a:lnSpc>
                <a:spcPct val="164000"/>
              </a:lnSpc>
              <a:spcBef>
                <a:spcPts val="0"/>
              </a:spcBef>
              <a:spcAft>
                <a:spcPts val="0"/>
              </a:spcAft>
              <a:buNone/>
            </a:pPr>
            <a:r>
              <a:rPr lang="en-US" sz="1875" b="1">
                <a:solidFill>
                  <a:srgbClr val="000000"/>
                </a:solidFill>
                <a:latin typeface="Arial"/>
                <a:ea typeface="Arial"/>
                <a:cs typeface="Arial"/>
                <a:sym typeface="Arial"/>
              </a:rPr>
              <a:t>Top Companies:</a:t>
            </a:r>
            <a:endParaRPr/>
          </a:p>
          <a:p>
            <a:pPr marL="404813" marR="0" lvl="1" indent="-202406" algn="just" rtl="0">
              <a:lnSpc>
                <a:spcPct val="164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Google:</a:t>
            </a:r>
            <a:r>
              <a:rPr lang="en-US" sz="1875" b="0" i="0" u="none" strike="noStrike" cap="none">
                <a:solidFill>
                  <a:srgbClr val="000000"/>
                </a:solidFill>
                <a:latin typeface="Arial"/>
                <a:ea typeface="Arial"/>
                <a:cs typeface="Arial"/>
                <a:sym typeface="Arial"/>
              </a:rPr>
              <a:t> Known for paying $139,000–$185,000 for data-related roles.</a:t>
            </a:r>
            <a:endParaRPr/>
          </a:p>
          <a:p>
            <a:pPr marL="404813" marR="0" lvl="1" indent="-202406" algn="just" rtl="0">
              <a:lnSpc>
                <a:spcPct val="164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Meta (Facebook): </a:t>
            </a:r>
            <a:r>
              <a:rPr lang="en-US" sz="1875" b="0" i="0" u="none" strike="noStrike" cap="none">
                <a:solidFill>
                  <a:srgbClr val="000000"/>
                </a:solidFill>
                <a:latin typeface="Arial"/>
                <a:ea typeface="Arial"/>
                <a:cs typeface="Arial"/>
                <a:sym typeface="Arial"/>
              </a:rPr>
              <a:t>Offers $150,000–$193,000 for big data engineers​</a:t>
            </a:r>
            <a:endParaRPr/>
          </a:p>
          <a:p>
            <a:pPr marL="404813" marR="0" lvl="1" indent="-202406" algn="just" rtl="0">
              <a:lnSpc>
                <a:spcPct val="164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Microsoft and Amazon:</a:t>
            </a:r>
            <a:r>
              <a:rPr lang="en-US" sz="1875" b="0" i="0" u="none" strike="noStrike" cap="none">
                <a:solidFill>
                  <a:srgbClr val="000000"/>
                </a:solidFill>
                <a:latin typeface="Arial"/>
                <a:ea typeface="Arial"/>
                <a:cs typeface="Arial"/>
                <a:sym typeface="Arial"/>
              </a:rPr>
              <a:t> Regularly hire database professionals with competitive packages exceeding $100,000 for experienced hires​</a:t>
            </a:r>
            <a:endParaRPr/>
          </a:p>
        </p:txBody>
      </p:sp>
      <p:sp>
        <p:nvSpPr>
          <p:cNvPr id="179" name="Google Shape;179;p8"/>
          <p:cNvSpPr txBox="1"/>
          <p:nvPr/>
        </p:nvSpPr>
        <p:spPr>
          <a:xfrm>
            <a:off x="1524001" y="659012"/>
            <a:ext cx="8312948" cy="533672"/>
          </a:xfrm>
          <a:prstGeom prst="rect">
            <a:avLst/>
          </a:prstGeom>
          <a:noFill/>
          <a:ln>
            <a:noFill/>
          </a:ln>
        </p:spPr>
        <p:txBody>
          <a:bodyPr spcFirstLastPara="1" wrap="square" lIns="0" tIns="0" rIns="0" bIns="0" anchor="t" anchorCtr="0">
            <a:spAutoFit/>
          </a:bodyPr>
          <a:lstStyle/>
          <a:p>
            <a:pPr marL="0" marR="0" lvl="0" indent="0" algn="l" rtl="0">
              <a:lnSpc>
                <a:spcPct val="89500"/>
              </a:lnSpc>
              <a:spcBef>
                <a:spcPts val="0"/>
              </a:spcBef>
              <a:spcAft>
                <a:spcPts val="0"/>
              </a:spcAft>
              <a:buNone/>
            </a:pPr>
            <a:r>
              <a:rPr lang="en-US" sz="4400" b="1">
                <a:solidFill>
                  <a:srgbClr val="C00000"/>
                </a:solidFill>
                <a:latin typeface="Times New Roman"/>
                <a:ea typeface="Times New Roman"/>
                <a:cs typeface="Times New Roman"/>
                <a:sym typeface="Times New Roman"/>
              </a:rPr>
              <a:t>Have you ever heard of !</a:t>
            </a:r>
            <a:endParaRPr sz="1800" b="1">
              <a:solidFill>
                <a:srgbClr val="C00000"/>
              </a:solidFill>
              <a:latin typeface="Arimo"/>
              <a:ea typeface="Arimo"/>
              <a:cs typeface="Arimo"/>
              <a:sym typeface="Arimo"/>
            </a:endParaRPr>
          </a:p>
        </p:txBody>
      </p:sp>
      <p:sp>
        <p:nvSpPr>
          <p:cNvPr id="180" name="Google Shape;180;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81" name="Google Shape;18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grpSp>
        <p:nvGrpSpPr>
          <p:cNvPr id="190" name="Google Shape;190;p9"/>
          <p:cNvGrpSpPr/>
          <p:nvPr/>
        </p:nvGrpSpPr>
        <p:grpSpPr>
          <a:xfrm>
            <a:off x="1524000" y="6356604"/>
            <a:ext cx="9144000" cy="88404"/>
            <a:chOff x="0" y="0"/>
            <a:chExt cx="13004800" cy="125730"/>
          </a:xfrm>
        </p:grpSpPr>
        <p:sp>
          <p:nvSpPr>
            <p:cNvPr id="191" name="Google Shape;191;p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192" name="Google Shape;192;p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193" name="Google Shape;193;p9"/>
          <p:cNvSpPr/>
          <p:nvPr/>
        </p:nvSpPr>
        <p:spPr>
          <a:xfrm>
            <a:off x="7013751" y="2082028"/>
            <a:ext cx="3520508" cy="3080403"/>
          </a:xfrm>
          <a:custGeom>
            <a:avLst/>
            <a:gdLst/>
            <a:ahLst/>
            <a:cxnLst/>
            <a:rect l="l" t="t" r="r" b="b"/>
            <a:pathLst>
              <a:path w="3755208" h="3285763" extrusionOk="0">
                <a:moveTo>
                  <a:pt x="0" y="0"/>
                </a:moveTo>
                <a:lnTo>
                  <a:pt x="3755208" y="0"/>
                </a:lnTo>
                <a:lnTo>
                  <a:pt x="3755208" y="3285763"/>
                </a:lnTo>
                <a:lnTo>
                  <a:pt x="0" y="3285763"/>
                </a:lnTo>
                <a:lnTo>
                  <a:pt x="0" y="0"/>
                </a:lnTo>
                <a:close/>
              </a:path>
            </a:pathLst>
          </a:custGeom>
          <a:blipFill rotWithShape="1">
            <a:blip r:embed="rId3">
              <a:alphaModFix/>
            </a:blip>
            <a:stretch>
              <a:fillRect r="-31328"/>
            </a:stretch>
          </a:blipFill>
          <a:ln>
            <a:noFill/>
          </a:ln>
        </p:spPr>
      </p:sp>
      <p:sp>
        <p:nvSpPr>
          <p:cNvPr id="194" name="Google Shape;194;p9"/>
          <p:cNvSpPr txBox="1"/>
          <p:nvPr/>
        </p:nvSpPr>
        <p:spPr>
          <a:xfrm>
            <a:off x="3534385" y="659012"/>
            <a:ext cx="567842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Highest Salaries Package</a:t>
            </a:r>
            <a:endParaRPr/>
          </a:p>
        </p:txBody>
      </p:sp>
      <p:sp>
        <p:nvSpPr>
          <p:cNvPr id="195" name="Google Shape;195;p9"/>
          <p:cNvSpPr txBox="1"/>
          <p:nvPr/>
        </p:nvSpPr>
        <p:spPr>
          <a:xfrm>
            <a:off x="1657741" y="1200328"/>
            <a:ext cx="4771970" cy="5193729"/>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875" b="1" dirty="0">
                <a:solidFill>
                  <a:srgbClr val="000000"/>
                </a:solidFill>
                <a:latin typeface="Arial"/>
                <a:ea typeface="Arial"/>
                <a:cs typeface="Arial"/>
                <a:sym typeface="Arial"/>
              </a:rPr>
              <a:t>Highest Salaries: </a:t>
            </a:r>
            <a:endParaRPr dirty="0"/>
          </a:p>
          <a:p>
            <a:pPr marL="0" marR="0" lvl="0" indent="0" algn="just" rtl="0">
              <a:spcBef>
                <a:spcPts val="0"/>
              </a:spcBef>
              <a:spcAft>
                <a:spcPts val="0"/>
              </a:spcAft>
              <a:buNone/>
            </a:pPr>
            <a:endParaRPr sz="1875" b="1" dirty="0">
              <a:solidFill>
                <a:srgbClr val="000000"/>
              </a:solidFill>
              <a:latin typeface="Arial"/>
              <a:ea typeface="Arial"/>
              <a:cs typeface="Arial"/>
              <a:sym typeface="Arial"/>
            </a:endParaRPr>
          </a:p>
          <a:p>
            <a:pPr marL="0" marR="0" lvl="0" indent="0" algn="just" rtl="0">
              <a:spcBef>
                <a:spcPts val="0"/>
              </a:spcBef>
              <a:spcAft>
                <a:spcPts val="0"/>
              </a:spcAft>
              <a:buNone/>
            </a:pPr>
            <a:r>
              <a:rPr lang="en-US" sz="1875" b="1" dirty="0">
                <a:solidFill>
                  <a:srgbClr val="000000"/>
                </a:solidFill>
                <a:latin typeface="Arial"/>
                <a:ea typeface="Arial"/>
                <a:cs typeface="Arial"/>
                <a:sym typeface="Arial"/>
              </a:rPr>
              <a:t>Senior Database Administrator:</a:t>
            </a:r>
            <a:r>
              <a:rPr lang="en-US" sz="1875" dirty="0">
                <a:solidFill>
                  <a:srgbClr val="000000"/>
                </a:solidFill>
                <a:latin typeface="Arial"/>
                <a:ea typeface="Arial"/>
                <a:cs typeface="Arial"/>
                <a:sym typeface="Arial"/>
              </a:rPr>
              <a:t> $99,500–$137,000 annually​</a:t>
            </a:r>
            <a:endParaRPr dirty="0"/>
          </a:p>
          <a:p>
            <a:pPr marL="0" marR="0" lvl="0" indent="0" algn="just" rtl="0">
              <a:spcBef>
                <a:spcPts val="0"/>
              </a:spcBef>
              <a:spcAft>
                <a:spcPts val="0"/>
              </a:spcAft>
              <a:buNone/>
            </a:pPr>
            <a:endParaRPr sz="1875" dirty="0">
              <a:solidFill>
                <a:srgbClr val="000000"/>
              </a:solidFill>
              <a:latin typeface="Arial"/>
              <a:ea typeface="Arial"/>
              <a:cs typeface="Arial"/>
              <a:sym typeface="Arial"/>
            </a:endParaRPr>
          </a:p>
          <a:p>
            <a:pPr marL="0" marR="0" lvl="0" indent="0" algn="just" rtl="0">
              <a:spcBef>
                <a:spcPts val="0"/>
              </a:spcBef>
              <a:spcAft>
                <a:spcPts val="0"/>
              </a:spcAft>
              <a:buNone/>
            </a:pPr>
            <a:r>
              <a:rPr lang="en-US" sz="1875" b="1" dirty="0">
                <a:solidFill>
                  <a:srgbClr val="000000"/>
                </a:solidFill>
                <a:latin typeface="Arial"/>
                <a:ea typeface="Arial"/>
                <a:cs typeface="Arial"/>
                <a:sym typeface="Arial"/>
              </a:rPr>
              <a:t>Big Data Engineer:</a:t>
            </a:r>
            <a:r>
              <a:rPr lang="en-US" sz="1875" dirty="0">
                <a:solidFill>
                  <a:srgbClr val="000000"/>
                </a:solidFill>
                <a:latin typeface="Arial"/>
                <a:ea typeface="Arial"/>
                <a:cs typeface="Arial"/>
                <a:sym typeface="Arial"/>
              </a:rPr>
              <a:t> Base salaries range from $139,000–$193,000 at top companies like Google and Meta​</a:t>
            </a:r>
            <a:endParaRPr dirty="0"/>
          </a:p>
          <a:p>
            <a:pPr marL="0" marR="0" lvl="0" indent="0" algn="just" rtl="0">
              <a:spcBef>
                <a:spcPts val="0"/>
              </a:spcBef>
              <a:spcAft>
                <a:spcPts val="0"/>
              </a:spcAft>
              <a:buNone/>
            </a:pPr>
            <a:r>
              <a:rPr lang="en-US" sz="1875" dirty="0">
                <a:solidFill>
                  <a:srgbClr val="000000"/>
                </a:solidFill>
                <a:latin typeface="Arial"/>
                <a:ea typeface="Arial"/>
                <a:cs typeface="Arial"/>
                <a:sym typeface="Arial"/>
              </a:rPr>
              <a:t>.</a:t>
            </a:r>
            <a:endParaRPr dirty="0"/>
          </a:p>
          <a:p>
            <a:pPr marL="0" marR="0" lvl="0" indent="0" algn="just" rtl="0">
              <a:spcBef>
                <a:spcPts val="0"/>
              </a:spcBef>
              <a:spcAft>
                <a:spcPts val="0"/>
              </a:spcAft>
              <a:buNone/>
            </a:pPr>
            <a:r>
              <a:rPr lang="en-US" sz="1875" b="1" dirty="0">
                <a:solidFill>
                  <a:srgbClr val="000000"/>
                </a:solidFill>
                <a:latin typeface="Arial"/>
                <a:ea typeface="Arial"/>
                <a:cs typeface="Arial"/>
                <a:sym typeface="Arial"/>
              </a:rPr>
              <a:t>Data Architect:</a:t>
            </a:r>
            <a:r>
              <a:rPr lang="en-US" sz="1875" dirty="0">
                <a:solidFill>
                  <a:srgbClr val="000000"/>
                </a:solidFill>
                <a:latin typeface="Arial"/>
                <a:ea typeface="Arial"/>
                <a:cs typeface="Arial"/>
                <a:sym typeface="Arial"/>
              </a:rPr>
              <a:t> Senior roles often earn up to $130,000 annually, reflecting the demand for designing and managing large-scale data systems​</a:t>
            </a:r>
            <a:endParaRPr dirty="0"/>
          </a:p>
          <a:p>
            <a:pPr marL="0" marR="0" lvl="0" indent="0" algn="just" rtl="0">
              <a:spcBef>
                <a:spcPts val="0"/>
              </a:spcBef>
              <a:spcAft>
                <a:spcPts val="0"/>
              </a:spcAft>
              <a:buNone/>
            </a:pPr>
            <a:r>
              <a:rPr lang="en-US" sz="1875" dirty="0">
                <a:solidFill>
                  <a:srgbClr val="000000"/>
                </a:solidFill>
                <a:latin typeface="Arial"/>
                <a:ea typeface="Arial"/>
                <a:cs typeface="Arial"/>
                <a:sym typeface="Arial"/>
              </a:rPr>
              <a:t>Springboard</a:t>
            </a:r>
            <a:endParaRPr dirty="0"/>
          </a:p>
          <a:p>
            <a:pPr marL="0" marR="0" lvl="0" indent="0" algn="just" rtl="0">
              <a:spcBef>
                <a:spcPts val="0"/>
              </a:spcBef>
              <a:spcAft>
                <a:spcPts val="0"/>
              </a:spcAft>
              <a:buNone/>
            </a:pPr>
            <a:r>
              <a:rPr lang="en-US" sz="1875" dirty="0">
                <a:solidFill>
                  <a:srgbClr val="000000"/>
                </a:solidFill>
                <a:latin typeface="Arial"/>
                <a:ea typeface="Arial"/>
                <a:cs typeface="Arial"/>
                <a:sym typeface="Arial"/>
              </a:rPr>
              <a:t>​</a:t>
            </a:r>
            <a:endParaRPr dirty="0"/>
          </a:p>
          <a:p>
            <a:pPr marL="0" marR="0" lvl="0" indent="0" algn="just" rtl="0">
              <a:spcBef>
                <a:spcPts val="0"/>
              </a:spcBef>
              <a:spcAft>
                <a:spcPts val="0"/>
              </a:spcAft>
              <a:buNone/>
            </a:pPr>
            <a:r>
              <a:rPr lang="en-US" sz="1875" b="1" dirty="0">
                <a:solidFill>
                  <a:srgbClr val="000000"/>
                </a:solidFill>
                <a:latin typeface="Arial"/>
                <a:ea typeface="Arial"/>
                <a:cs typeface="Arial"/>
                <a:sym typeface="Arial"/>
              </a:rPr>
              <a:t>Data Engineer:</a:t>
            </a:r>
            <a:r>
              <a:rPr lang="en-US" sz="1875" dirty="0">
                <a:solidFill>
                  <a:srgbClr val="000000"/>
                </a:solidFill>
                <a:latin typeface="Arial"/>
                <a:ea typeface="Arial"/>
                <a:cs typeface="Arial"/>
                <a:sym typeface="Arial"/>
              </a:rPr>
              <a:t> Salaries for mid-level engineers are around $106,000, with senior roles exceeding $137,000​</a:t>
            </a:r>
            <a:endParaRPr dirty="0"/>
          </a:p>
        </p:txBody>
      </p:sp>
      <p:sp>
        <p:nvSpPr>
          <p:cNvPr id="196" name="Google Shape;19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197" name="Google Shape;19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C00000"/>
              </a:buClr>
              <a:buSzPts val="4400"/>
              <a:buFont typeface="Arimo"/>
              <a:buNone/>
            </a:pPr>
            <a:r>
              <a:rPr lang="en-US" sz="4400" b="1">
                <a:solidFill>
                  <a:srgbClr val="C00000"/>
                </a:solidFill>
                <a:latin typeface="Arimo"/>
                <a:ea typeface="Arimo"/>
                <a:cs typeface="Arimo"/>
                <a:sym typeface="Arimo"/>
              </a:rPr>
              <a:t>Applications of DBMS</a:t>
            </a:r>
            <a:br>
              <a:rPr lang="en-US" sz="4400" b="1">
                <a:solidFill>
                  <a:srgbClr val="C00000"/>
                </a:solidFill>
                <a:latin typeface="Arimo"/>
                <a:ea typeface="Arimo"/>
                <a:cs typeface="Arimo"/>
                <a:sym typeface="Arimo"/>
              </a:rPr>
            </a:br>
            <a:endParaRPr/>
          </a:p>
        </p:txBody>
      </p:sp>
      <p:sp>
        <p:nvSpPr>
          <p:cNvPr id="203" name="Google Shape;203;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04" name="Google Shape;204;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pic>
        <p:nvPicPr>
          <p:cNvPr id="205" name="Google Shape;205;p10"/>
          <p:cNvPicPr preferRelativeResize="0"/>
          <p:nvPr/>
        </p:nvPicPr>
        <p:blipFill rotWithShape="1">
          <a:blip r:embed="rId3">
            <a:alphaModFix/>
          </a:blip>
          <a:srcRect/>
          <a:stretch/>
        </p:blipFill>
        <p:spPr>
          <a:xfrm>
            <a:off x="5614481" y="1500820"/>
            <a:ext cx="5077838" cy="4680000"/>
          </a:xfrm>
          <a:prstGeom prst="rect">
            <a:avLst/>
          </a:prstGeom>
          <a:noFill/>
          <a:ln w="12700" cap="flat" cmpd="sng">
            <a:solidFill>
              <a:schemeClr val="dk1"/>
            </a:solidFill>
            <a:prstDash val="solid"/>
            <a:round/>
            <a:headEnd type="none" w="sm" len="sm"/>
            <a:tailEnd type="none" w="sm" len="sm"/>
          </a:ln>
        </p:spPr>
      </p:pic>
      <p:pic>
        <p:nvPicPr>
          <p:cNvPr id="206" name="Google Shape;206;p10" descr="Applications of DBMS"/>
          <p:cNvPicPr preferRelativeResize="0">
            <a:picLocks noGrp="1"/>
          </p:cNvPicPr>
          <p:nvPr>
            <p:ph type="body" idx="1"/>
          </p:nvPr>
        </p:nvPicPr>
        <p:blipFill rotWithShape="1">
          <a:blip r:embed="rId4">
            <a:alphaModFix/>
          </a:blip>
          <a:srcRect t="14679" b="17720"/>
          <a:stretch/>
        </p:blipFill>
        <p:spPr>
          <a:xfrm>
            <a:off x="816426" y="1476522"/>
            <a:ext cx="4655828" cy="4680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12" name="Google Shape;21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pic>
        <p:nvPicPr>
          <p:cNvPr id="213" name="Google Shape;213;p11" descr="Database Management System | What Is DBMS | Types Of DBMS"/>
          <p:cNvPicPr preferRelativeResize="0"/>
          <p:nvPr/>
        </p:nvPicPr>
        <p:blipFill rotWithShape="1">
          <a:blip r:embed="rId3">
            <a:alphaModFix/>
          </a:blip>
          <a:srcRect b="7643"/>
          <a:stretch/>
        </p:blipFill>
        <p:spPr>
          <a:xfrm>
            <a:off x="2010000" y="1017797"/>
            <a:ext cx="8172000" cy="4740464"/>
          </a:xfrm>
          <a:prstGeom prst="rect">
            <a:avLst/>
          </a:prstGeom>
          <a:noFill/>
          <a:ln w="12700" cap="flat" cmpd="sng">
            <a:solidFill>
              <a:schemeClr val="dk1"/>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12"/>
          <p:cNvSpPr txBox="1"/>
          <p:nvPr/>
        </p:nvSpPr>
        <p:spPr>
          <a:xfrm>
            <a:off x="2152650" y="659011"/>
            <a:ext cx="7886700" cy="1000274"/>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Topics covered</a:t>
            </a:r>
            <a:endParaRPr/>
          </a:p>
          <a:p>
            <a:pPr marL="0" marR="0" lvl="0" indent="0" algn="ctr" rtl="0">
              <a:lnSpc>
                <a:spcPct val="120024"/>
              </a:lnSpc>
              <a:spcBef>
                <a:spcPts val="0"/>
              </a:spcBef>
              <a:spcAft>
                <a:spcPts val="0"/>
              </a:spcAft>
              <a:buNone/>
            </a:pPr>
            <a:r>
              <a:rPr lang="en-US" sz="3281" b="1">
                <a:solidFill>
                  <a:srgbClr val="C00000"/>
                </a:solidFill>
                <a:latin typeface="Arimo"/>
                <a:ea typeface="Arimo"/>
                <a:cs typeface="Arimo"/>
                <a:sym typeface="Arimo"/>
              </a:rPr>
              <a:t> </a:t>
            </a:r>
            <a:endParaRPr/>
          </a:p>
        </p:txBody>
      </p:sp>
      <p:sp>
        <p:nvSpPr>
          <p:cNvPr id="223" name="Google Shape;223;p12"/>
          <p:cNvSpPr txBox="1"/>
          <p:nvPr/>
        </p:nvSpPr>
        <p:spPr>
          <a:xfrm>
            <a:off x="2060449" y="1984871"/>
            <a:ext cx="3943350" cy="333425"/>
          </a:xfrm>
          <a:prstGeom prst="rect">
            <a:avLst/>
          </a:prstGeom>
          <a:noFill/>
          <a:ln>
            <a:noFill/>
          </a:ln>
        </p:spPr>
        <p:txBody>
          <a:bodyPr spcFirstLastPara="1" wrap="square" lIns="0" tIns="0" rIns="0" bIns="0" anchor="t" anchorCtr="0">
            <a:spAutoFit/>
          </a:bodyPr>
          <a:lstStyle/>
          <a:p>
            <a:pPr marL="0" marR="0" lvl="0" indent="0" algn="l" rtl="0">
              <a:lnSpc>
                <a:spcPct val="107833"/>
              </a:lnSpc>
              <a:spcBef>
                <a:spcPts val="0"/>
              </a:spcBef>
              <a:spcAft>
                <a:spcPts val="0"/>
              </a:spcAft>
              <a:buNone/>
            </a:pPr>
            <a:r>
              <a:rPr lang="en-US" sz="2400" b="1">
                <a:solidFill>
                  <a:schemeClr val="dk1"/>
                </a:solidFill>
                <a:latin typeface="Times New Roman"/>
                <a:ea typeface="Times New Roman"/>
                <a:cs typeface="Times New Roman"/>
                <a:sym typeface="Times New Roman"/>
              </a:rPr>
              <a:t>Overview of Databases:</a:t>
            </a:r>
            <a:endParaRPr sz="2400" b="1">
              <a:solidFill>
                <a:schemeClr val="dk1"/>
              </a:solidFill>
              <a:latin typeface="Times New Roman"/>
              <a:ea typeface="Times New Roman"/>
              <a:cs typeface="Times New Roman"/>
              <a:sym typeface="Times New Roman"/>
            </a:endParaRPr>
          </a:p>
        </p:txBody>
      </p:sp>
      <p:sp>
        <p:nvSpPr>
          <p:cNvPr id="224" name="Google Shape;224;p12"/>
          <p:cNvSpPr txBox="1"/>
          <p:nvPr/>
        </p:nvSpPr>
        <p:spPr>
          <a:xfrm>
            <a:off x="2060449" y="2512114"/>
            <a:ext cx="8397673" cy="1179810"/>
          </a:xfrm>
          <a:prstGeom prst="rect">
            <a:avLst/>
          </a:prstGeom>
          <a:noFill/>
          <a:ln>
            <a:noFill/>
          </a:ln>
        </p:spPr>
        <p:txBody>
          <a:bodyPr spcFirstLastPara="1" wrap="square" lIns="0" tIns="0" rIns="0" bIns="0" anchor="t" anchorCtr="0">
            <a:spAutoFit/>
          </a:bodyPr>
          <a:lstStyle/>
          <a:p>
            <a:pPr marL="0" marR="0" lvl="0" indent="0" algn="just" rtl="0">
              <a:lnSpc>
                <a:spcPct val="112500"/>
              </a:lnSpc>
              <a:spcBef>
                <a:spcPts val="0"/>
              </a:spcBef>
              <a:spcAft>
                <a:spcPts val="0"/>
              </a:spcAft>
              <a:buNone/>
            </a:pPr>
            <a:r>
              <a:rPr lang="en-US" sz="2000">
                <a:solidFill>
                  <a:schemeClr val="dk1"/>
                </a:solidFill>
                <a:latin typeface="Calibri"/>
                <a:ea typeface="Calibri"/>
                <a:cs typeface="Calibri"/>
                <a:sym typeface="Calibri"/>
              </a:rPr>
              <a:t>Database concepts, DBMS, Data Base System Architecture (Three Level ANSI-SPARC Architecture), Advantages and Disadvantages of DBMS, Data Independence, DBA and Responsibilities of DBA, Relational Data Structure, Keys, Relations, Attributes, Schema and Instances, Referential integrity, Entity integrity.</a:t>
            </a:r>
            <a:endParaRPr sz="1875">
              <a:solidFill>
                <a:srgbClr val="000000"/>
              </a:solidFill>
              <a:latin typeface="Arial"/>
              <a:ea typeface="Arial"/>
              <a:cs typeface="Arial"/>
              <a:sym typeface="Arial"/>
            </a:endParaRPr>
          </a:p>
        </p:txBody>
      </p:sp>
      <p:sp>
        <p:nvSpPr>
          <p:cNvPr id="225" name="Google Shape;22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26" name="Google Shape;22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grpSp>
        <p:nvGrpSpPr>
          <p:cNvPr id="251" name="Google Shape;251;p14"/>
          <p:cNvGrpSpPr/>
          <p:nvPr/>
        </p:nvGrpSpPr>
        <p:grpSpPr>
          <a:xfrm>
            <a:off x="1524000" y="6356604"/>
            <a:ext cx="9144000" cy="88404"/>
            <a:chOff x="0" y="0"/>
            <a:chExt cx="13004800" cy="125730"/>
          </a:xfrm>
        </p:grpSpPr>
        <p:sp>
          <p:nvSpPr>
            <p:cNvPr id="252" name="Google Shape;252;p1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53" name="Google Shape;253;p1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54" name="Google Shape;254;p14"/>
          <p:cNvSpPr/>
          <p:nvPr/>
        </p:nvSpPr>
        <p:spPr>
          <a:xfrm>
            <a:off x="2043655" y="1555340"/>
            <a:ext cx="8102786" cy="4431744"/>
          </a:xfrm>
          <a:custGeom>
            <a:avLst/>
            <a:gdLst/>
            <a:ahLst/>
            <a:cxnLst/>
            <a:rect l="l" t="t" r="r" b="b"/>
            <a:pathLst>
              <a:path w="8642972" h="4727194" extrusionOk="0">
                <a:moveTo>
                  <a:pt x="0" y="0"/>
                </a:moveTo>
                <a:lnTo>
                  <a:pt x="8642972" y="0"/>
                </a:lnTo>
                <a:lnTo>
                  <a:pt x="8642972" y="4727194"/>
                </a:lnTo>
                <a:lnTo>
                  <a:pt x="0" y="4727194"/>
                </a:lnTo>
                <a:lnTo>
                  <a:pt x="0" y="0"/>
                </a:lnTo>
                <a:close/>
              </a:path>
            </a:pathLst>
          </a:custGeom>
          <a:blipFill rotWithShape="1">
            <a:blip r:embed="rId3">
              <a:alphaModFix/>
            </a:blip>
            <a:stretch>
              <a:fillRect t="-15409"/>
            </a:stretch>
          </a:blipFill>
          <a:ln>
            <a:noFill/>
          </a:ln>
        </p:spPr>
      </p:sp>
      <p:sp>
        <p:nvSpPr>
          <p:cNvPr id="255" name="Google Shape;255;p14"/>
          <p:cNvSpPr txBox="1"/>
          <p:nvPr/>
        </p:nvSpPr>
        <p:spPr>
          <a:xfrm>
            <a:off x="2427703" y="659012"/>
            <a:ext cx="8964990"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Difference between Data and Information</a:t>
            </a:r>
            <a:endParaRPr/>
          </a:p>
        </p:txBody>
      </p:sp>
      <p:sp>
        <p:nvSpPr>
          <p:cNvPr id="256" name="Google Shape;256;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57" name="Google Shape;257;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grpSp>
        <p:nvGrpSpPr>
          <p:cNvPr id="235" name="Google Shape;235;p13"/>
          <p:cNvGrpSpPr/>
          <p:nvPr/>
        </p:nvGrpSpPr>
        <p:grpSpPr>
          <a:xfrm>
            <a:off x="1524000" y="6356604"/>
            <a:ext cx="9144000" cy="88404"/>
            <a:chOff x="0" y="0"/>
            <a:chExt cx="13004800" cy="125730"/>
          </a:xfrm>
        </p:grpSpPr>
        <p:sp>
          <p:nvSpPr>
            <p:cNvPr id="236" name="Google Shape;236;p1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37" name="Google Shape;237;p1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38" name="Google Shape;238;p13"/>
          <p:cNvSpPr/>
          <p:nvPr/>
        </p:nvSpPr>
        <p:spPr>
          <a:xfrm>
            <a:off x="7261656" y="2004187"/>
            <a:ext cx="3033133" cy="3537182"/>
          </a:xfrm>
          <a:custGeom>
            <a:avLst/>
            <a:gdLst/>
            <a:ahLst/>
            <a:cxnLst/>
            <a:rect l="l" t="t" r="r" b="b"/>
            <a:pathLst>
              <a:path w="3235342" h="3772994" extrusionOk="0">
                <a:moveTo>
                  <a:pt x="0" y="0"/>
                </a:moveTo>
                <a:lnTo>
                  <a:pt x="3235342" y="0"/>
                </a:lnTo>
                <a:lnTo>
                  <a:pt x="3235342" y="3772994"/>
                </a:lnTo>
                <a:lnTo>
                  <a:pt x="0" y="3772994"/>
                </a:lnTo>
                <a:lnTo>
                  <a:pt x="0" y="0"/>
                </a:lnTo>
                <a:close/>
              </a:path>
            </a:pathLst>
          </a:custGeom>
          <a:blipFill rotWithShape="1">
            <a:blip r:embed="rId3">
              <a:alphaModFix/>
            </a:blip>
            <a:stretch>
              <a:fillRect/>
            </a:stretch>
          </a:blipFill>
          <a:ln>
            <a:noFill/>
          </a:ln>
        </p:spPr>
      </p:sp>
      <p:sp>
        <p:nvSpPr>
          <p:cNvPr id="239" name="Google Shape;239;p13"/>
          <p:cNvSpPr txBox="1"/>
          <p:nvPr/>
        </p:nvSpPr>
        <p:spPr>
          <a:xfrm>
            <a:off x="2209800" y="1959538"/>
            <a:ext cx="4776395"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A Database is a collection of related data organized to serve multiple applications.</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Example:</a:t>
            </a:r>
            <a:r>
              <a:rPr lang="en-US" sz="1875">
                <a:solidFill>
                  <a:srgbClr val="000000"/>
                </a:solidFill>
                <a:latin typeface="Arial"/>
                <a:ea typeface="Arial"/>
                <a:cs typeface="Arial"/>
                <a:sym typeface="Arial"/>
              </a:rPr>
              <a:t> A library database containing details about books, members, and borrowing records.</a:t>
            </a:r>
            <a:endParaRPr/>
          </a:p>
        </p:txBody>
      </p:sp>
      <p:sp>
        <p:nvSpPr>
          <p:cNvPr id="240" name="Google Shape;240;p13"/>
          <p:cNvSpPr txBox="1"/>
          <p:nvPr/>
        </p:nvSpPr>
        <p:spPr>
          <a:xfrm>
            <a:off x="3855311" y="659012"/>
            <a:ext cx="6812690"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Database Concepts</a:t>
            </a:r>
            <a:endParaRPr/>
          </a:p>
        </p:txBody>
      </p:sp>
      <p:sp>
        <p:nvSpPr>
          <p:cNvPr id="241" name="Google Shape;24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42" name="Google Shape;24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grpSp>
        <p:nvGrpSpPr>
          <p:cNvPr id="266" name="Google Shape;266;p15"/>
          <p:cNvGrpSpPr/>
          <p:nvPr/>
        </p:nvGrpSpPr>
        <p:grpSpPr>
          <a:xfrm>
            <a:off x="1524000" y="6356604"/>
            <a:ext cx="9144000" cy="88404"/>
            <a:chOff x="0" y="0"/>
            <a:chExt cx="13004800" cy="125730"/>
          </a:xfrm>
        </p:grpSpPr>
        <p:sp>
          <p:nvSpPr>
            <p:cNvPr id="267" name="Google Shape;267;p1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68" name="Google Shape;268;p1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69" name="Google Shape;269;p15"/>
          <p:cNvSpPr txBox="1"/>
          <p:nvPr/>
        </p:nvSpPr>
        <p:spPr>
          <a:xfrm>
            <a:off x="3277053" y="535862"/>
            <a:ext cx="570924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dirty="0">
                <a:solidFill>
                  <a:srgbClr val="C00000"/>
                </a:solidFill>
                <a:latin typeface="Arimo"/>
                <a:ea typeface="Arimo"/>
                <a:cs typeface="Arimo"/>
                <a:sym typeface="Arimo"/>
              </a:rPr>
              <a:t>Why DBMS is important?</a:t>
            </a:r>
            <a:endParaRPr dirty="0"/>
          </a:p>
        </p:txBody>
      </p:sp>
      <p:sp>
        <p:nvSpPr>
          <p:cNvPr id="270" name="Google Shape;270;p15"/>
          <p:cNvSpPr txBox="1"/>
          <p:nvPr/>
        </p:nvSpPr>
        <p:spPr>
          <a:xfrm>
            <a:off x="2026863" y="1173821"/>
            <a:ext cx="9144000" cy="167584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Purpose of Database System</a:t>
            </a:r>
            <a:endParaRPr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In DBMS, database systems provide a safe and effective platform to manage vast amounts of data. Their role is to provide services like data organization, storage, and manipulation, as well as to guarantee data integrity. A database system’s primary goal is to facilitate data retrieval and provide a dependable storage platform for essential data.</a:t>
            </a:r>
            <a:endParaRPr sz="1200" dirty="0"/>
          </a:p>
        </p:txBody>
      </p:sp>
      <p:sp>
        <p:nvSpPr>
          <p:cNvPr id="271" name="Google Shape;271;p15"/>
          <p:cNvSpPr txBox="1"/>
          <p:nvPr/>
        </p:nvSpPr>
        <p:spPr>
          <a:xfrm>
            <a:off x="2026863" y="3045288"/>
            <a:ext cx="9144000" cy="3337837"/>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A Database Management System (DBMS) is crucial in modern computing for the following reasons:</a:t>
            </a:r>
            <a:endParaRPr sz="1200" dirty="0"/>
          </a:p>
          <a:p>
            <a:pPr marL="0" marR="0" lvl="0" indent="0" algn="just" rtl="0">
              <a:lnSpc>
                <a:spcPct val="120000"/>
              </a:lnSpc>
              <a:spcBef>
                <a:spcPts val="0"/>
              </a:spcBef>
              <a:spcAft>
                <a:spcPts val="0"/>
              </a:spcAft>
              <a:buNone/>
            </a:pPr>
            <a:r>
              <a:rPr lang="en-US" sz="1800" b="1" dirty="0">
                <a:solidFill>
                  <a:srgbClr val="000000"/>
                </a:solidFill>
                <a:latin typeface="Arial"/>
                <a:ea typeface="Arial"/>
                <a:cs typeface="Arial"/>
                <a:sym typeface="Arial"/>
              </a:rPr>
              <a:t>1. Efficient Data Management</a:t>
            </a:r>
            <a:endParaRPr sz="1200"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DBMS provides a systematic way to store, organize, and manage large amounts of data.</a:t>
            </a:r>
            <a:endParaRPr sz="1200"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It eliminates redundancy and ensures consistency in data.</a:t>
            </a:r>
            <a:endParaRPr sz="1200" dirty="0"/>
          </a:p>
          <a:p>
            <a:pPr marL="0" marR="0" lvl="0" indent="0" algn="just" rtl="0">
              <a:lnSpc>
                <a:spcPct val="120000"/>
              </a:lnSpc>
              <a:spcBef>
                <a:spcPts val="0"/>
              </a:spcBef>
              <a:spcAft>
                <a:spcPts val="0"/>
              </a:spcAft>
              <a:buNone/>
            </a:pPr>
            <a:r>
              <a:rPr lang="en-US" sz="1800" b="1" dirty="0">
                <a:solidFill>
                  <a:srgbClr val="000000"/>
                </a:solidFill>
                <a:latin typeface="Arial"/>
                <a:ea typeface="Arial"/>
                <a:cs typeface="Arial"/>
                <a:sym typeface="Arial"/>
              </a:rPr>
              <a:t>2. Data Security</a:t>
            </a:r>
            <a:endParaRPr sz="1200"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DBMS offers tools to restrict unauthorized access and ensures data integrity through user authentication and encryption.</a:t>
            </a:r>
            <a:endParaRPr sz="1200" dirty="0"/>
          </a:p>
          <a:p>
            <a:pPr marL="0" marR="0" lvl="0" indent="0" algn="just" rtl="0">
              <a:lnSpc>
                <a:spcPct val="120000"/>
              </a:lnSpc>
              <a:spcBef>
                <a:spcPts val="0"/>
              </a:spcBef>
              <a:spcAft>
                <a:spcPts val="0"/>
              </a:spcAft>
              <a:buNone/>
            </a:pPr>
            <a:r>
              <a:rPr lang="en-US" sz="1800" dirty="0">
                <a:solidFill>
                  <a:srgbClr val="000000"/>
                </a:solidFill>
                <a:latin typeface="Arial"/>
                <a:ea typeface="Arial"/>
                <a:cs typeface="Arial"/>
                <a:sym typeface="Arial"/>
              </a:rPr>
              <a:t>It allows role-based access, where specific permissions are granted based on user roles.</a:t>
            </a:r>
            <a:endParaRPr sz="1200"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272" name="Google Shape;27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73" name="Google Shape;27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grpSp>
        <p:nvGrpSpPr>
          <p:cNvPr id="282" name="Google Shape;282;p16"/>
          <p:cNvGrpSpPr/>
          <p:nvPr/>
        </p:nvGrpSpPr>
        <p:grpSpPr>
          <a:xfrm>
            <a:off x="1524000" y="6356604"/>
            <a:ext cx="9144000" cy="88404"/>
            <a:chOff x="0" y="0"/>
            <a:chExt cx="13004800" cy="125730"/>
          </a:xfrm>
        </p:grpSpPr>
        <p:sp>
          <p:nvSpPr>
            <p:cNvPr id="283" name="Google Shape;283;p1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84" name="Google Shape;284;p1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285" name="Google Shape;285;p16"/>
          <p:cNvSpPr txBox="1"/>
          <p:nvPr/>
        </p:nvSpPr>
        <p:spPr>
          <a:xfrm>
            <a:off x="3518975" y="517955"/>
            <a:ext cx="570924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Why DBMS is important?</a:t>
            </a:r>
            <a:endParaRPr/>
          </a:p>
        </p:txBody>
      </p:sp>
      <p:sp>
        <p:nvSpPr>
          <p:cNvPr id="286" name="Google Shape;286;p16"/>
          <p:cNvSpPr txBox="1"/>
          <p:nvPr/>
        </p:nvSpPr>
        <p:spPr>
          <a:xfrm>
            <a:off x="2008212" y="1484440"/>
            <a:ext cx="8175575" cy="4405309"/>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3. Data Integrity and Accuracy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Ensures the accuracy and reliability of data through integrity constraints and validation rules.</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Prevents inconsistencies, such as duplication or outdated data.</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4. Simplifies Data Access</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Provides a user-friendly interface for querying, updating, and managing data.</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Query languages like SQL enable users to retrieve specific data efficiently without needing technical expertise in programming.</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5. Concurrency Control</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DBMS allows multiple users to access and manipulate data simultaneously without conflicts, ensuring smooth multitasking and collaboration.</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6. Backup and Recovery</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Automates data backup processes and provides robust recovery mechanisms to restore data after accidental deletion or system failure.</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p:txBody>
      </p:sp>
      <p:sp>
        <p:nvSpPr>
          <p:cNvPr id="287" name="Google Shape;287;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288" name="Google Shape;288;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grpSp>
        <p:nvGrpSpPr>
          <p:cNvPr id="297" name="Google Shape;297;p17"/>
          <p:cNvGrpSpPr/>
          <p:nvPr/>
        </p:nvGrpSpPr>
        <p:grpSpPr>
          <a:xfrm>
            <a:off x="1524000" y="6356604"/>
            <a:ext cx="9144000" cy="88404"/>
            <a:chOff x="0" y="0"/>
            <a:chExt cx="13004800" cy="125730"/>
          </a:xfrm>
        </p:grpSpPr>
        <p:sp>
          <p:nvSpPr>
            <p:cNvPr id="298" name="Google Shape;298;p1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299" name="Google Shape;299;p1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00" name="Google Shape;300;p17"/>
          <p:cNvSpPr/>
          <p:nvPr/>
        </p:nvSpPr>
        <p:spPr>
          <a:xfrm>
            <a:off x="7173867" y="3657314"/>
            <a:ext cx="3302621" cy="2390272"/>
          </a:xfrm>
          <a:custGeom>
            <a:avLst/>
            <a:gdLst/>
            <a:ahLst/>
            <a:cxnLst/>
            <a:rect l="l" t="t" r="r" b="b"/>
            <a:pathLst>
              <a:path w="3522796" h="2549623" extrusionOk="0">
                <a:moveTo>
                  <a:pt x="0" y="0"/>
                </a:moveTo>
                <a:lnTo>
                  <a:pt x="3522796" y="0"/>
                </a:lnTo>
                <a:lnTo>
                  <a:pt x="3522796" y="2549624"/>
                </a:lnTo>
                <a:lnTo>
                  <a:pt x="0" y="2549624"/>
                </a:lnTo>
                <a:lnTo>
                  <a:pt x="0" y="0"/>
                </a:lnTo>
                <a:close/>
              </a:path>
            </a:pathLst>
          </a:custGeom>
          <a:blipFill rotWithShape="1">
            <a:blip r:embed="rId3">
              <a:alphaModFix/>
            </a:blip>
            <a:stretch>
              <a:fillRect/>
            </a:stretch>
          </a:blipFill>
          <a:ln>
            <a:noFill/>
          </a:ln>
        </p:spPr>
      </p:sp>
      <p:sp>
        <p:nvSpPr>
          <p:cNvPr id="301" name="Google Shape;301;p17"/>
          <p:cNvSpPr txBox="1"/>
          <p:nvPr/>
        </p:nvSpPr>
        <p:spPr>
          <a:xfrm>
            <a:off x="1802605" y="1484378"/>
            <a:ext cx="8480765" cy="1410643"/>
          </a:xfrm>
          <a:prstGeom prst="rect">
            <a:avLst/>
          </a:prstGeom>
          <a:noFill/>
          <a:ln>
            <a:noFill/>
          </a:ln>
        </p:spPr>
        <p:txBody>
          <a:bodyPr spcFirstLastPara="1" wrap="square" lIns="0" tIns="0" rIns="0" bIns="0" anchor="t" anchorCtr="0">
            <a:spAutoFit/>
          </a:bodyPr>
          <a:lstStyle/>
          <a:p>
            <a:pPr marL="0" marR="0" lvl="0" indent="0" algn="just" rtl="0">
              <a:lnSpc>
                <a:spcPct val="120010"/>
              </a:lnSpc>
              <a:spcBef>
                <a:spcPts val="0"/>
              </a:spcBef>
              <a:spcAft>
                <a:spcPts val="0"/>
              </a:spcAft>
              <a:buNone/>
            </a:pPr>
            <a:r>
              <a:rPr lang="en-US" sz="1874">
                <a:solidFill>
                  <a:srgbClr val="000000"/>
                </a:solidFill>
                <a:latin typeface="Arial"/>
                <a:ea typeface="Arial"/>
                <a:cs typeface="Arial"/>
                <a:sym typeface="Arial"/>
              </a:rPr>
              <a:t>The traditional file system is a method of organizing and managing data using files. It was widely used before the emergence of Database Management Systems (DBMS). In this system, data is stored in individual files created by specific applications, and each file operates independently.</a:t>
            </a:r>
            <a:endParaRPr/>
          </a:p>
          <a:p>
            <a:pPr marL="0" marR="0" lvl="0" indent="0" algn="just" rtl="0">
              <a:lnSpc>
                <a:spcPct val="120010"/>
              </a:lnSpc>
              <a:spcBef>
                <a:spcPts val="0"/>
              </a:spcBef>
              <a:spcAft>
                <a:spcPts val="0"/>
              </a:spcAft>
              <a:buNone/>
            </a:pPr>
            <a:endParaRPr sz="1874">
              <a:solidFill>
                <a:srgbClr val="000000"/>
              </a:solidFill>
              <a:latin typeface="Arial"/>
              <a:ea typeface="Arial"/>
              <a:cs typeface="Arial"/>
              <a:sym typeface="Arial"/>
            </a:endParaRPr>
          </a:p>
        </p:txBody>
      </p:sp>
      <p:sp>
        <p:nvSpPr>
          <p:cNvPr id="302" name="Google Shape;302;p17"/>
          <p:cNvSpPr txBox="1"/>
          <p:nvPr/>
        </p:nvSpPr>
        <p:spPr>
          <a:xfrm>
            <a:off x="3368346" y="603144"/>
            <a:ext cx="5456832"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al"/>
                <a:ea typeface="Arial"/>
                <a:cs typeface="Arial"/>
                <a:sym typeface="Arial"/>
              </a:rPr>
              <a:t>Traditional File System</a:t>
            </a:r>
            <a:endParaRPr/>
          </a:p>
        </p:txBody>
      </p:sp>
      <p:sp>
        <p:nvSpPr>
          <p:cNvPr id="303" name="Google Shape;303;p17"/>
          <p:cNvSpPr txBox="1"/>
          <p:nvPr/>
        </p:nvSpPr>
        <p:spPr>
          <a:xfrm>
            <a:off x="1659608" y="3397869"/>
            <a:ext cx="5371263" cy="2340641"/>
          </a:xfrm>
          <a:prstGeom prst="rect">
            <a:avLst/>
          </a:prstGeom>
          <a:noFill/>
          <a:ln>
            <a:noFill/>
          </a:ln>
        </p:spPr>
        <p:txBody>
          <a:bodyPr spcFirstLastPara="1" wrap="square" lIns="0" tIns="0" rIns="0" bIns="0" anchor="t" anchorCtr="0">
            <a:spAutoFit/>
          </a:bodyPr>
          <a:lstStyle/>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Data Redundancy: </a:t>
            </a:r>
            <a:r>
              <a:rPr lang="en-US" sz="1875" b="0" i="0" u="none" strike="noStrike" cap="none" dirty="0">
                <a:solidFill>
                  <a:srgbClr val="000000"/>
                </a:solidFill>
                <a:latin typeface="Arial"/>
                <a:ea typeface="Arial"/>
                <a:cs typeface="Arial"/>
                <a:sym typeface="Arial"/>
              </a:rPr>
              <a:t>Multiple copies of the same data lead to inconsistencies.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Data Inconsistency: </a:t>
            </a:r>
            <a:r>
              <a:rPr lang="en-US" sz="1875" b="0" i="0" u="none" strike="noStrike" cap="none" dirty="0">
                <a:solidFill>
                  <a:srgbClr val="000000"/>
                </a:solidFill>
                <a:latin typeface="Arial"/>
                <a:ea typeface="Arial"/>
                <a:cs typeface="Arial"/>
                <a:sym typeface="Arial"/>
              </a:rPr>
              <a:t>Difficult to maintain uniform data across files.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Poor Security: </a:t>
            </a:r>
            <a:r>
              <a:rPr lang="en-US" sz="1875" b="0" i="0" u="none" strike="noStrike" cap="none" dirty="0">
                <a:solidFill>
                  <a:srgbClr val="000000"/>
                </a:solidFill>
                <a:latin typeface="Arial"/>
                <a:ea typeface="Arial"/>
                <a:cs typeface="Arial"/>
                <a:sym typeface="Arial"/>
              </a:rPr>
              <a:t>No built-in mechanisms to protect data from unauthorized access.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1" i="0" u="none" strike="noStrike" cap="none" dirty="0">
                <a:solidFill>
                  <a:srgbClr val="000000"/>
                </a:solidFill>
                <a:latin typeface="Arial"/>
                <a:ea typeface="Arial"/>
                <a:cs typeface="Arial"/>
                <a:sym typeface="Arial"/>
              </a:rPr>
              <a:t>Limited Query Capability: </a:t>
            </a:r>
            <a:r>
              <a:rPr lang="en-US" sz="1875" b="0" i="0" u="none" strike="noStrike" cap="none" dirty="0">
                <a:solidFill>
                  <a:srgbClr val="000000"/>
                </a:solidFill>
                <a:latin typeface="Arial"/>
                <a:ea typeface="Arial"/>
                <a:cs typeface="Arial"/>
                <a:sym typeface="Arial"/>
              </a:rPr>
              <a:t>Querying and data retrieval are slow and manual.</a:t>
            </a:r>
            <a:endParaRPr dirty="0"/>
          </a:p>
        </p:txBody>
      </p:sp>
      <p:sp>
        <p:nvSpPr>
          <p:cNvPr id="304" name="Google Shape;304;p17"/>
          <p:cNvSpPr txBox="1"/>
          <p:nvPr/>
        </p:nvSpPr>
        <p:spPr>
          <a:xfrm>
            <a:off x="-241024" y="2853158"/>
            <a:ext cx="8480765" cy="346249"/>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1875" b="1" dirty="0">
                <a:solidFill>
                  <a:srgbClr val="000000"/>
                </a:solidFill>
                <a:latin typeface="Arial"/>
                <a:ea typeface="Arial"/>
                <a:cs typeface="Arial"/>
                <a:sym typeface="Arial"/>
              </a:rPr>
              <a:t>   Disadvantages of Traditional File System</a:t>
            </a:r>
            <a:endParaRPr dirty="0"/>
          </a:p>
        </p:txBody>
      </p:sp>
      <p:sp>
        <p:nvSpPr>
          <p:cNvPr id="305" name="Google Shape;30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306" name="Google Shape;30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grpSp>
        <p:nvGrpSpPr>
          <p:cNvPr id="315" name="Google Shape;315;p18"/>
          <p:cNvGrpSpPr/>
          <p:nvPr/>
        </p:nvGrpSpPr>
        <p:grpSpPr>
          <a:xfrm>
            <a:off x="1524000" y="6356604"/>
            <a:ext cx="9144000" cy="88404"/>
            <a:chOff x="0" y="0"/>
            <a:chExt cx="13004800" cy="125730"/>
          </a:xfrm>
        </p:grpSpPr>
        <p:sp>
          <p:nvSpPr>
            <p:cNvPr id="316" name="Google Shape;316;p1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17" name="Google Shape;317;p1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18" name="Google Shape;318;p18"/>
          <p:cNvSpPr/>
          <p:nvPr/>
        </p:nvSpPr>
        <p:spPr>
          <a:xfrm>
            <a:off x="7658636" y="2275699"/>
            <a:ext cx="2743200" cy="2743200"/>
          </a:xfrm>
          <a:custGeom>
            <a:avLst/>
            <a:gdLst/>
            <a:ahLst/>
            <a:cxnLst/>
            <a:rect l="l" t="t" r="r" b="b"/>
            <a:pathLst>
              <a:path w="2926080" h="2926080" extrusionOk="0">
                <a:moveTo>
                  <a:pt x="0" y="0"/>
                </a:moveTo>
                <a:lnTo>
                  <a:pt x="2926080" y="0"/>
                </a:lnTo>
                <a:lnTo>
                  <a:pt x="2926080" y="2926080"/>
                </a:lnTo>
                <a:lnTo>
                  <a:pt x="0" y="2926080"/>
                </a:lnTo>
                <a:lnTo>
                  <a:pt x="0" y="0"/>
                </a:lnTo>
                <a:close/>
              </a:path>
            </a:pathLst>
          </a:custGeom>
          <a:blipFill rotWithShape="1">
            <a:blip r:embed="rId3">
              <a:alphaModFix/>
            </a:blip>
            <a:stretch>
              <a:fillRect/>
            </a:stretch>
          </a:blipFill>
          <a:ln>
            <a:noFill/>
          </a:ln>
        </p:spPr>
      </p:sp>
      <p:grpSp>
        <p:nvGrpSpPr>
          <p:cNvPr id="319" name="Google Shape;319;p18"/>
          <p:cNvGrpSpPr/>
          <p:nvPr/>
        </p:nvGrpSpPr>
        <p:grpSpPr>
          <a:xfrm>
            <a:off x="2043656" y="2080943"/>
            <a:ext cx="7164847" cy="2559655"/>
            <a:chOff x="0" y="-19051"/>
            <a:chExt cx="10190004" cy="3640398"/>
          </a:xfrm>
        </p:grpSpPr>
        <p:sp>
          <p:nvSpPr>
            <p:cNvPr id="320" name="Google Shape;320;p18"/>
            <p:cNvSpPr txBox="1"/>
            <p:nvPr/>
          </p:nvSpPr>
          <p:spPr>
            <a:xfrm>
              <a:off x="0" y="-19051"/>
              <a:ext cx="10190004" cy="445204"/>
            </a:xfrm>
            <a:prstGeom prst="rect">
              <a:avLst/>
            </a:prstGeom>
            <a:noFill/>
            <a:ln>
              <a:noFill/>
            </a:ln>
          </p:spPr>
          <p:txBody>
            <a:bodyPr spcFirstLastPara="1" wrap="square" lIns="0" tIns="0" rIns="0" bIns="0" anchor="t" anchorCtr="0">
              <a:spAutoFit/>
            </a:bodyPr>
            <a:lstStyle/>
            <a:p>
              <a:pPr marL="0" marR="0" lvl="0" indent="0" algn="l" rtl="0">
                <a:lnSpc>
                  <a:spcPct val="120037"/>
                </a:lnSpc>
                <a:spcBef>
                  <a:spcPts val="0"/>
                </a:spcBef>
                <a:spcAft>
                  <a:spcPts val="0"/>
                </a:spcAft>
                <a:buNone/>
              </a:pPr>
              <a:r>
                <a:rPr lang="en-US" sz="2156" b="1">
                  <a:solidFill>
                    <a:srgbClr val="000000"/>
                  </a:solidFill>
                  <a:latin typeface="Arimo"/>
                  <a:ea typeface="Arimo"/>
                  <a:cs typeface="Arimo"/>
                  <a:sym typeface="Arimo"/>
                </a:rPr>
                <a:t>DBMS (Database Management System):</a:t>
              </a:r>
              <a:endParaRPr/>
            </a:p>
          </p:txBody>
        </p:sp>
        <p:sp>
          <p:nvSpPr>
            <p:cNvPr id="321" name="Google Shape;321;p18"/>
            <p:cNvSpPr txBox="1"/>
            <p:nvPr/>
          </p:nvSpPr>
          <p:spPr>
            <a:xfrm>
              <a:off x="0" y="711924"/>
              <a:ext cx="7288325" cy="290942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A Database Management System (DBMS) is software that enables users to create, manage, and interact with databases, ensuring efficient data storage, retrieval, security, and integrity while supporting multiple users and applications simultaneously. Examples include MySQL and Oracle.</a:t>
              </a:r>
              <a:endParaRPr/>
            </a:p>
          </p:txBody>
        </p:sp>
      </p:grpSp>
      <p:sp>
        <p:nvSpPr>
          <p:cNvPr id="322" name="Google Shape;322;p18"/>
          <p:cNvSpPr txBox="1"/>
          <p:nvPr/>
        </p:nvSpPr>
        <p:spPr>
          <a:xfrm>
            <a:off x="3094767" y="690563"/>
            <a:ext cx="6113736" cy="500137"/>
          </a:xfrm>
          <a:prstGeom prst="rect">
            <a:avLst/>
          </a:prstGeom>
          <a:noFill/>
          <a:ln>
            <a:noFill/>
          </a:ln>
        </p:spPr>
        <p:txBody>
          <a:bodyPr spcFirstLastPara="1" wrap="square" lIns="0" tIns="0" rIns="0" bIns="0" anchor="t" anchorCtr="0">
            <a:spAutoFit/>
          </a:bodyPr>
          <a:lstStyle/>
          <a:p>
            <a:pPr marL="0" marR="0" lvl="0" indent="0" algn="ctr" rtl="0">
              <a:lnSpc>
                <a:spcPct val="120024"/>
              </a:lnSpc>
              <a:spcBef>
                <a:spcPts val="0"/>
              </a:spcBef>
              <a:spcAft>
                <a:spcPts val="0"/>
              </a:spcAft>
              <a:buNone/>
            </a:pPr>
            <a:r>
              <a:rPr lang="en-US" sz="3281" b="1">
                <a:solidFill>
                  <a:srgbClr val="C00000"/>
                </a:solidFill>
                <a:latin typeface="Arial"/>
                <a:ea typeface="Arial"/>
                <a:cs typeface="Arial"/>
                <a:sym typeface="Arial"/>
              </a:rPr>
              <a:t>Database Management System</a:t>
            </a:r>
            <a:endParaRPr/>
          </a:p>
        </p:txBody>
      </p:sp>
      <p:sp>
        <p:nvSpPr>
          <p:cNvPr id="323" name="Google Shape;323;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324" name="Google Shape;324;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grpSp>
        <p:nvGrpSpPr>
          <p:cNvPr id="333" name="Google Shape;333;p20"/>
          <p:cNvGrpSpPr/>
          <p:nvPr/>
        </p:nvGrpSpPr>
        <p:grpSpPr>
          <a:xfrm>
            <a:off x="1524000" y="6356604"/>
            <a:ext cx="9144000" cy="88404"/>
            <a:chOff x="0" y="0"/>
            <a:chExt cx="13004800" cy="125730"/>
          </a:xfrm>
        </p:grpSpPr>
        <p:sp>
          <p:nvSpPr>
            <p:cNvPr id="334" name="Google Shape;334;p2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35" name="Google Shape;335;p2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36" name="Google Shape;336;p20"/>
          <p:cNvSpPr txBox="1"/>
          <p:nvPr/>
        </p:nvSpPr>
        <p:spPr>
          <a:xfrm>
            <a:off x="1732284" y="1487399"/>
            <a:ext cx="7164847" cy="313034"/>
          </a:xfrm>
          <a:prstGeom prst="rect">
            <a:avLst/>
          </a:prstGeom>
          <a:noFill/>
          <a:ln>
            <a:noFill/>
          </a:ln>
        </p:spPr>
        <p:txBody>
          <a:bodyPr spcFirstLastPara="1" wrap="square" lIns="0" tIns="0" rIns="0" bIns="0" anchor="t" anchorCtr="0">
            <a:spAutoFit/>
          </a:bodyPr>
          <a:lstStyle/>
          <a:p>
            <a:pPr marL="0" marR="0" lvl="0" indent="0" algn="l" rtl="0">
              <a:lnSpc>
                <a:spcPct val="120037"/>
              </a:lnSpc>
              <a:spcBef>
                <a:spcPts val="0"/>
              </a:spcBef>
              <a:spcAft>
                <a:spcPts val="0"/>
              </a:spcAft>
              <a:buNone/>
            </a:pPr>
            <a:r>
              <a:rPr lang="en-US" sz="2156" b="1">
                <a:solidFill>
                  <a:srgbClr val="000000"/>
                </a:solidFill>
                <a:latin typeface="Arimo"/>
                <a:ea typeface="Arimo"/>
                <a:cs typeface="Arimo"/>
                <a:sym typeface="Arimo"/>
              </a:rPr>
              <a:t>Database System Architecture: </a:t>
            </a:r>
            <a:endParaRPr/>
          </a:p>
        </p:txBody>
      </p:sp>
      <p:sp>
        <p:nvSpPr>
          <p:cNvPr id="337" name="Google Shape;337;p20"/>
          <p:cNvSpPr txBox="1"/>
          <p:nvPr/>
        </p:nvSpPr>
        <p:spPr>
          <a:xfrm>
            <a:off x="1732284" y="3288204"/>
            <a:ext cx="5522397" cy="204568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The ANSI-SPARC (American National Standards Institute - Standards Planning and Requirements Committee) architecture defines a three-level abstraction model for database systems. It separates database design into three distinct layers to enhance flexibility, data independence, and security.</a:t>
            </a:r>
            <a:endParaRPr dirty="0"/>
          </a:p>
        </p:txBody>
      </p:sp>
      <p:sp>
        <p:nvSpPr>
          <p:cNvPr id="338" name="Google Shape;338;p20"/>
          <p:cNvSpPr txBox="1"/>
          <p:nvPr/>
        </p:nvSpPr>
        <p:spPr>
          <a:xfrm>
            <a:off x="1732284" y="1872599"/>
            <a:ext cx="5631133" cy="116083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Database system architecture refers to the design and organization of a database system, defining how data is stored, managed, and accessed by users and applications.</a:t>
            </a:r>
            <a:endParaRPr dirty="0"/>
          </a:p>
        </p:txBody>
      </p:sp>
      <p:sp>
        <p:nvSpPr>
          <p:cNvPr id="339" name="Google Shape;339;p20"/>
          <p:cNvSpPr txBox="1"/>
          <p:nvPr/>
        </p:nvSpPr>
        <p:spPr>
          <a:xfrm>
            <a:off x="3077624" y="615377"/>
            <a:ext cx="6036753" cy="500137"/>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a:solidFill>
                  <a:srgbClr val="C00000"/>
                </a:solidFill>
                <a:latin typeface="Arimo"/>
                <a:ea typeface="Arimo"/>
                <a:cs typeface="Arimo"/>
                <a:sym typeface="Arimo"/>
              </a:rPr>
              <a:t>Database System Architecture</a:t>
            </a:r>
            <a:endParaRPr/>
          </a:p>
        </p:txBody>
      </p:sp>
      <p:sp>
        <p:nvSpPr>
          <p:cNvPr id="340" name="Google Shape;34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341" name="Google Shape;34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342" name="Google Shape;342;p20"/>
          <p:cNvSpPr/>
          <p:nvPr/>
        </p:nvSpPr>
        <p:spPr>
          <a:xfrm>
            <a:off x="7593946" y="1496267"/>
            <a:ext cx="4284000" cy="4140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grpSp>
        <p:nvGrpSpPr>
          <p:cNvPr id="351" name="Google Shape;351;p19"/>
          <p:cNvGrpSpPr/>
          <p:nvPr/>
        </p:nvGrpSpPr>
        <p:grpSpPr>
          <a:xfrm>
            <a:off x="1524000" y="6356604"/>
            <a:ext cx="9144000" cy="88404"/>
            <a:chOff x="0" y="0"/>
            <a:chExt cx="13004800" cy="125730"/>
          </a:xfrm>
        </p:grpSpPr>
        <p:sp>
          <p:nvSpPr>
            <p:cNvPr id="352" name="Google Shape;352;p1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53" name="Google Shape;353;p1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54" name="Google Shape;354;p19"/>
          <p:cNvSpPr/>
          <p:nvPr/>
        </p:nvSpPr>
        <p:spPr>
          <a:xfrm>
            <a:off x="2043656" y="1788785"/>
            <a:ext cx="8436624" cy="3280431"/>
          </a:xfrm>
          <a:custGeom>
            <a:avLst/>
            <a:gdLst/>
            <a:ahLst/>
            <a:cxnLst/>
            <a:rect l="l" t="t" r="r" b="b"/>
            <a:pathLst>
              <a:path w="8999066" h="3499126" extrusionOk="0">
                <a:moveTo>
                  <a:pt x="0" y="0"/>
                </a:moveTo>
                <a:lnTo>
                  <a:pt x="8999066" y="0"/>
                </a:lnTo>
                <a:lnTo>
                  <a:pt x="8999066" y="3499126"/>
                </a:lnTo>
                <a:lnTo>
                  <a:pt x="0" y="3499126"/>
                </a:lnTo>
                <a:lnTo>
                  <a:pt x="0" y="0"/>
                </a:lnTo>
                <a:close/>
              </a:path>
            </a:pathLst>
          </a:custGeom>
          <a:blipFill rotWithShape="1">
            <a:blip r:embed="rId3">
              <a:alphaModFix/>
            </a:blip>
            <a:stretch>
              <a:fillRect l="-7147" t="-16411" r="-3931"/>
            </a:stretch>
          </a:blipFill>
          <a:ln>
            <a:noFill/>
          </a:ln>
        </p:spPr>
      </p:sp>
      <p:sp>
        <p:nvSpPr>
          <p:cNvPr id="355" name="Google Shape;355;p19"/>
          <p:cNvSpPr txBox="1"/>
          <p:nvPr/>
        </p:nvSpPr>
        <p:spPr>
          <a:xfrm>
            <a:off x="2817354" y="659012"/>
            <a:ext cx="7164847"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Traditional File System vs DBMS</a:t>
            </a:r>
            <a:endParaRPr/>
          </a:p>
        </p:txBody>
      </p:sp>
      <p:sp>
        <p:nvSpPr>
          <p:cNvPr id="356" name="Google Shape;35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357" name="Google Shape;357;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grpSp>
        <p:nvGrpSpPr>
          <p:cNvPr id="366" name="Google Shape;366;p21"/>
          <p:cNvGrpSpPr/>
          <p:nvPr/>
        </p:nvGrpSpPr>
        <p:grpSpPr>
          <a:xfrm>
            <a:off x="1524000" y="6356604"/>
            <a:ext cx="9144000" cy="88404"/>
            <a:chOff x="0" y="0"/>
            <a:chExt cx="13004800" cy="125730"/>
          </a:xfrm>
        </p:grpSpPr>
        <p:sp>
          <p:nvSpPr>
            <p:cNvPr id="367" name="Google Shape;367;p2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68" name="Google Shape;368;p2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69" name="Google Shape;369;p21"/>
          <p:cNvSpPr/>
          <p:nvPr/>
        </p:nvSpPr>
        <p:spPr>
          <a:xfrm>
            <a:off x="7566124" y="2249088"/>
            <a:ext cx="2703156" cy="3321850"/>
          </a:xfrm>
          <a:custGeom>
            <a:avLst/>
            <a:gdLst/>
            <a:ahLst/>
            <a:cxnLst/>
            <a:rect l="l" t="t" r="r" b="b"/>
            <a:pathLst>
              <a:path w="2883366" h="3543307" extrusionOk="0">
                <a:moveTo>
                  <a:pt x="0" y="0"/>
                </a:moveTo>
                <a:lnTo>
                  <a:pt x="2883367" y="0"/>
                </a:lnTo>
                <a:lnTo>
                  <a:pt x="2883367" y="3543307"/>
                </a:lnTo>
                <a:lnTo>
                  <a:pt x="0" y="3543307"/>
                </a:lnTo>
                <a:lnTo>
                  <a:pt x="0" y="0"/>
                </a:lnTo>
                <a:close/>
              </a:path>
            </a:pathLst>
          </a:custGeom>
          <a:blipFill rotWithShape="1">
            <a:blip r:embed="rId3">
              <a:alphaModFix/>
            </a:blip>
            <a:stretch>
              <a:fillRect/>
            </a:stretch>
          </a:blipFill>
          <a:ln>
            <a:noFill/>
          </a:ln>
        </p:spPr>
      </p:sp>
      <p:sp>
        <p:nvSpPr>
          <p:cNvPr id="370" name="Google Shape;370;p21"/>
          <p:cNvSpPr txBox="1"/>
          <p:nvPr/>
        </p:nvSpPr>
        <p:spPr>
          <a:xfrm>
            <a:off x="1805234" y="1544526"/>
            <a:ext cx="7164847" cy="313034"/>
          </a:xfrm>
          <a:prstGeom prst="rect">
            <a:avLst/>
          </a:prstGeom>
          <a:noFill/>
          <a:ln>
            <a:noFill/>
          </a:ln>
        </p:spPr>
        <p:txBody>
          <a:bodyPr spcFirstLastPara="1" wrap="square" lIns="0" tIns="0" rIns="0" bIns="0" anchor="t" anchorCtr="0">
            <a:spAutoFit/>
          </a:bodyPr>
          <a:lstStyle/>
          <a:p>
            <a:pPr marL="0" marR="0" lvl="0" indent="0" algn="l" rtl="0">
              <a:lnSpc>
                <a:spcPct val="120037"/>
              </a:lnSpc>
              <a:spcBef>
                <a:spcPts val="0"/>
              </a:spcBef>
              <a:spcAft>
                <a:spcPts val="0"/>
              </a:spcAft>
              <a:buNone/>
            </a:pPr>
            <a:r>
              <a:rPr lang="en-US" sz="2156" b="1">
                <a:solidFill>
                  <a:srgbClr val="000000"/>
                </a:solidFill>
                <a:latin typeface="Arimo"/>
                <a:ea typeface="Arimo"/>
                <a:cs typeface="Arimo"/>
                <a:sym typeface="Arimo"/>
              </a:rPr>
              <a:t>Three-Level ANSI-SPARC Architecture</a:t>
            </a:r>
            <a:endParaRPr/>
          </a:p>
        </p:txBody>
      </p:sp>
      <p:sp>
        <p:nvSpPr>
          <p:cNvPr id="371" name="Google Shape;371;p21"/>
          <p:cNvSpPr txBox="1"/>
          <p:nvPr/>
        </p:nvSpPr>
        <p:spPr>
          <a:xfrm>
            <a:off x="1805235" y="2308978"/>
            <a:ext cx="4997084" cy="2539157"/>
          </a:xfrm>
          <a:prstGeom prst="rect">
            <a:avLst/>
          </a:prstGeom>
          <a:noFill/>
          <a:ln>
            <a:noFill/>
          </a:ln>
        </p:spPr>
        <p:txBody>
          <a:bodyPr spcFirstLastPara="1" wrap="square" lIns="0" tIns="0" rIns="0" bIns="0" anchor="t" anchorCtr="0">
            <a:spAutoFit/>
          </a:bodyPr>
          <a:lstStyle/>
          <a:p>
            <a:pPr marL="0" marR="0" lvl="0" indent="0" algn="just" rtl="0">
              <a:lnSpc>
                <a:spcPct val="120021"/>
              </a:lnSpc>
              <a:spcBef>
                <a:spcPts val="0"/>
              </a:spcBef>
              <a:spcAft>
                <a:spcPts val="0"/>
              </a:spcAft>
              <a:buNone/>
            </a:pPr>
            <a:r>
              <a:rPr lang="en-US" sz="1873" b="1">
                <a:solidFill>
                  <a:srgbClr val="000000"/>
                </a:solidFill>
                <a:latin typeface="Arial"/>
                <a:ea typeface="Arial"/>
                <a:cs typeface="Arial"/>
                <a:sym typeface="Arial"/>
              </a:rPr>
              <a:t>External level (User view):</a:t>
            </a:r>
            <a:r>
              <a:rPr lang="en-US" sz="1873">
                <a:solidFill>
                  <a:srgbClr val="000000"/>
                </a:solidFill>
                <a:latin typeface="Arial"/>
                <a:ea typeface="Arial"/>
                <a:cs typeface="Arial"/>
                <a:sym typeface="Arial"/>
              </a:rPr>
              <a:t> It is the view how the user views the database. The data of the database that is relevant to that user is described at this level. The external level consists of several different external views of the database. In the external view only that entities, attributes, and relationships are included that the user wants. </a:t>
            </a:r>
            <a:endParaRPr/>
          </a:p>
          <a:p>
            <a:pPr marL="0" marR="0" lvl="0" indent="0" algn="just" rtl="0">
              <a:lnSpc>
                <a:spcPct val="120021"/>
              </a:lnSpc>
              <a:spcBef>
                <a:spcPts val="0"/>
              </a:spcBef>
              <a:spcAft>
                <a:spcPts val="0"/>
              </a:spcAft>
              <a:buNone/>
            </a:pPr>
            <a:endParaRPr sz="1873">
              <a:solidFill>
                <a:srgbClr val="000000"/>
              </a:solidFill>
              <a:latin typeface="Arial"/>
              <a:ea typeface="Arial"/>
              <a:cs typeface="Arial"/>
              <a:sym typeface="Arial"/>
            </a:endParaRPr>
          </a:p>
        </p:txBody>
      </p:sp>
      <p:sp>
        <p:nvSpPr>
          <p:cNvPr id="372" name="Google Shape;372;p21"/>
          <p:cNvSpPr txBox="1"/>
          <p:nvPr/>
        </p:nvSpPr>
        <p:spPr>
          <a:xfrm>
            <a:off x="3220499" y="758252"/>
            <a:ext cx="6036753" cy="500137"/>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a:solidFill>
                  <a:srgbClr val="C00000"/>
                </a:solidFill>
                <a:latin typeface="Arimo"/>
                <a:ea typeface="Arimo"/>
                <a:cs typeface="Arimo"/>
                <a:sym typeface="Arimo"/>
              </a:rPr>
              <a:t>Database System Architecture</a:t>
            </a:r>
            <a:endParaRPr/>
          </a:p>
        </p:txBody>
      </p:sp>
      <p:sp>
        <p:nvSpPr>
          <p:cNvPr id="373" name="Google Shape;373;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374" name="Google Shape;374;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grpSp>
        <p:nvGrpSpPr>
          <p:cNvPr id="383" name="Google Shape;383;p22"/>
          <p:cNvGrpSpPr/>
          <p:nvPr/>
        </p:nvGrpSpPr>
        <p:grpSpPr>
          <a:xfrm>
            <a:off x="1524000" y="6356604"/>
            <a:ext cx="9144000" cy="88404"/>
            <a:chOff x="0" y="0"/>
            <a:chExt cx="13004800" cy="125730"/>
          </a:xfrm>
        </p:grpSpPr>
        <p:sp>
          <p:nvSpPr>
            <p:cNvPr id="384" name="Google Shape;384;p2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385" name="Google Shape;385;p2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386" name="Google Shape;386;p22"/>
          <p:cNvSpPr/>
          <p:nvPr/>
        </p:nvSpPr>
        <p:spPr>
          <a:xfrm>
            <a:off x="7290472" y="1937642"/>
            <a:ext cx="2963592" cy="3641896"/>
          </a:xfrm>
          <a:custGeom>
            <a:avLst/>
            <a:gdLst/>
            <a:ahLst/>
            <a:cxnLst/>
            <a:rect l="l" t="t" r="r" b="b"/>
            <a:pathLst>
              <a:path w="3161165" h="3884689" extrusionOk="0">
                <a:moveTo>
                  <a:pt x="0" y="0"/>
                </a:moveTo>
                <a:lnTo>
                  <a:pt x="3161165" y="0"/>
                </a:lnTo>
                <a:lnTo>
                  <a:pt x="3161165" y="3884688"/>
                </a:lnTo>
                <a:lnTo>
                  <a:pt x="0" y="3884688"/>
                </a:lnTo>
                <a:lnTo>
                  <a:pt x="0" y="0"/>
                </a:lnTo>
                <a:close/>
              </a:path>
            </a:pathLst>
          </a:custGeom>
          <a:blipFill rotWithShape="1">
            <a:blip r:embed="rId3">
              <a:alphaModFix/>
            </a:blip>
            <a:stretch>
              <a:fillRect/>
            </a:stretch>
          </a:blipFill>
          <a:ln>
            <a:noFill/>
          </a:ln>
        </p:spPr>
      </p:sp>
      <p:sp>
        <p:nvSpPr>
          <p:cNvPr id="387" name="Google Shape;387;p22"/>
          <p:cNvSpPr txBox="1"/>
          <p:nvPr/>
        </p:nvSpPr>
        <p:spPr>
          <a:xfrm>
            <a:off x="1805234" y="1500067"/>
            <a:ext cx="7164847" cy="423193"/>
          </a:xfrm>
          <a:prstGeom prst="rect">
            <a:avLst/>
          </a:prstGeom>
          <a:noFill/>
          <a:ln>
            <a:noFill/>
          </a:ln>
        </p:spPr>
        <p:txBody>
          <a:bodyPr spcFirstLastPara="1" wrap="square" lIns="0" tIns="0" rIns="0" bIns="0" anchor="t" anchorCtr="0">
            <a:spAutoFit/>
          </a:bodyPr>
          <a:lstStyle/>
          <a:p>
            <a:pPr marL="0" marR="0" lvl="0" indent="0" algn="l" rtl="0">
              <a:lnSpc>
                <a:spcPct val="120029"/>
              </a:lnSpc>
              <a:spcBef>
                <a:spcPts val="0"/>
              </a:spcBef>
              <a:spcAft>
                <a:spcPts val="0"/>
              </a:spcAft>
              <a:buNone/>
            </a:pPr>
            <a:r>
              <a:rPr lang="en-US" sz="2756" b="1">
                <a:solidFill>
                  <a:srgbClr val="000000"/>
                </a:solidFill>
                <a:latin typeface="Arimo"/>
                <a:ea typeface="Arimo"/>
                <a:cs typeface="Arimo"/>
                <a:sym typeface="Arimo"/>
              </a:rPr>
              <a:t>Three-Level ANSI-SPARC Architecture</a:t>
            </a:r>
            <a:endParaRPr/>
          </a:p>
        </p:txBody>
      </p:sp>
      <p:sp>
        <p:nvSpPr>
          <p:cNvPr id="388" name="Google Shape;388;p22"/>
          <p:cNvSpPr txBox="1"/>
          <p:nvPr/>
        </p:nvSpPr>
        <p:spPr>
          <a:xfrm>
            <a:off x="1805235" y="2125165"/>
            <a:ext cx="4997084" cy="3667671"/>
          </a:xfrm>
          <a:prstGeom prst="rect">
            <a:avLst/>
          </a:prstGeom>
          <a:noFill/>
          <a:ln>
            <a:noFill/>
          </a:ln>
        </p:spPr>
        <p:txBody>
          <a:bodyPr spcFirstLastPara="1" wrap="square" lIns="0" tIns="0" rIns="0" bIns="0" anchor="t" anchorCtr="0">
            <a:spAutoFit/>
          </a:bodyPr>
          <a:lstStyle/>
          <a:p>
            <a:pPr marL="0" marR="0" lvl="0" indent="0" algn="just" rtl="0">
              <a:lnSpc>
                <a:spcPct val="120021"/>
              </a:lnSpc>
              <a:spcBef>
                <a:spcPts val="0"/>
              </a:spcBef>
              <a:spcAft>
                <a:spcPts val="0"/>
              </a:spcAft>
              <a:buNone/>
            </a:pPr>
            <a:r>
              <a:rPr lang="en-US" sz="1873" b="1" dirty="0">
                <a:solidFill>
                  <a:srgbClr val="000000"/>
                </a:solidFill>
                <a:latin typeface="Arial"/>
                <a:ea typeface="Arial"/>
                <a:cs typeface="Arial"/>
                <a:sym typeface="Arial"/>
              </a:rPr>
              <a:t>Conceptual level:</a:t>
            </a:r>
            <a:r>
              <a:rPr lang="en-US" sz="1873" dirty="0">
                <a:solidFill>
                  <a:srgbClr val="000000"/>
                </a:solidFill>
                <a:latin typeface="Arial"/>
                <a:ea typeface="Arial"/>
                <a:cs typeface="Arial"/>
                <a:sym typeface="Arial"/>
              </a:rPr>
              <a:t> It is the community view of the database and describes what data is stored in the database and represents the entities, their attributes, and their relationships. It represents the semantic, security, and integrity information about the data. The middle-level or the second-level in the three-level architecture is the conceptual level. This level contains the logical structure of the entire database, it represents the complete view of the database that the organization demands independent of any storage consideration.</a:t>
            </a:r>
            <a:endParaRPr dirty="0"/>
          </a:p>
          <a:p>
            <a:pPr marL="0" marR="0" lvl="0" indent="0" algn="just" rtl="0">
              <a:lnSpc>
                <a:spcPct val="120021"/>
              </a:lnSpc>
              <a:spcBef>
                <a:spcPts val="0"/>
              </a:spcBef>
              <a:spcAft>
                <a:spcPts val="0"/>
              </a:spcAft>
              <a:buNone/>
            </a:pPr>
            <a:endParaRPr sz="1873" dirty="0">
              <a:solidFill>
                <a:srgbClr val="000000"/>
              </a:solidFill>
              <a:latin typeface="Arial"/>
              <a:ea typeface="Arial"/>
              <a:cs typeface="Arial"/>
              <a:sym typeface="Arial"/>
            </a:endParaRPr>
          </a:p>
        </p:txBody>
      </p:sp>
      <p:sp>
        <p:nvSpPr>
          <p:cNvPr id="389" name="Google Shape;389;p22"/>
          <p:cNvSpPr txBox="1"/>
          <p:nvPr/>
        </p:nvSpPr>
        <p:spPr>
          <a:xfrm>
            <a:off x="3363374" y="901127"/>
            <a:ext cx="6036753" cy="500137"/>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a:solidFill>
                  <a:srgbClr val="C00000"/>
                </a:solidFill>
                <a:latin typeface="Arimo"/>
                <a:ea typeface="Arimo"/>
                <a:cs typeface="Arimo"/>
                <a:sym typeface="Arimo"/>
              </a:rPr>
              <a:t>Database System Architecture</a:t>
            </a:r>
            <a:endParaRPr/>
          </a:p>
        </p:txBody>
      </p:sp>
      <p:sp>
        <p:nvSpPr>
          <p:cNvPr id="390" name="Google Shape;390;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391" name="Google Shape;391;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grpSp>
        <p:nvGrpSpPr>
          <p:cNvPr id="400" name="Google Shape;400;p23"/>
          <p:cNvGrpSpPr/>
          <p:nvPr/>
        </p:nvGrpSpPr>
        <p:grpSpPr>
          <a:xfrm>
            <a:off x="1524000" y="6356604"/>
            <a:ext cx="9144000" cy="88404"/>
            <a:chOff x="0" y="0"/>
            <a:chExt cx="13004800" cy="125730"/>
          </a:xfrm>
        </p:grpSpPr>
        <p:sp>
          <p:nvSpPr>
            <p:cNvPr id="401" name="Google Shape;401;p2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02" name="Google Shape;402;p2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03" name="Google Shape;403;p23"/>
          <p:cNvSpPr/>
          <p:nvPr/>
        </p:nvSpPr>
        <p:spPr>
          <a:xfrm>
            <a:off x="7305688" y="1929043"/>
            <a:ext cx="2963592" cy="3641896"/>
          </a:xfrm>
          <a:custGeom>
            <a:avLst/>
            <a:gdLst/>
            <a:ahLst/>
            <a:cxnLst/>
            <a:rect l="l" t="t" r="r" b="b"/>
            <a:pathLst>
              <a:path w="3161165" h="3884689" extrusionOk="0">
                <a:moveTo>
                  <a:pt x="0" y="0"/>
                </a:moveTo>
                <a:lnTo>
                  <a:pt x="3161166" y="0"/>
                </a:lnTo>
                <a:lnTo>
                  <a:pt x="3161166" y="3884688"/>
                </a:lnTo>
                <a:lnTo>
                  <a:pt x="0" y="3884688"/>
                </a:lnTo>
                <a:lnTo>
                  <a:pt x="0" y="0"/>
                </a:lnTo>
                <a:close/>
              </a:path>
            </a:pathLst>
          </a:custGeom>
          <a:blipFill rotWithShape="1">
            <a:blip r:embed="rId3">
              <a:alphaModFix/>
            </a:blip>
            <a:stretch>
              <a:fillRect/>
            </a:stretch>
          </a:blipFill>
          <a:ln>
            <a:noFill/>
          </a:ln>
        </p:spPr>
      </p:sp>
      <p:sp>
        <p:nvSpPr>
          <p:cNvPr id="404" name="Google Shape;404;p23"/>
          <p:cNvSpPr txBox="1"/>
          <p:nvPr/>
        </p:nvSpPr>
        <p:spPr>
          <a:xfrm>
            <a:off x="1809056" y="1402171"/>
            <a:ext cx="7164847" cy="423193"/>
          </a:xfrm>
          <a:prstGeom prst="rect">
            <a:avLst/>
          </a:prstGeom>
          <a:noFill/>
          <a:ln>
            <a:noFill/>
          </a:ln>
        </p:spPr>
        <p:txBody>
          <a:bodyPr spcFirstLastPara="1" wrap="square" lIns="0" tIns="0" rIns="0" bIns="0" anchor="t" anchorCtr="0">
            <a:spAutoFit/>
          </a:bodyPr>
          <a:lstStyle/>
          <a:p>
            <a:pPr marL="0" marR="0" lvl="0" indent="0" algn="l" rtl="0">
              <a:lnSpc>
                <a:spcPct val="120029"/>
              </a:lnSpc>
              <a:spcBef>
                <a:spcPts val="0"/>
              </a:spcBef>
              <a:spcAft>
                <a:spcPts val="0"/>
              </a:spcAft>
              <a:buNone/>
            </a:pPr>
            <a:r>
              <a:rPr lang="en-US" sz="2756" b="1">
                <a:solidFill>
                  <a:srgbClr val="000000"/>
                </a:solidFill>
                <a:latin typeface="Arimo"/>
                <a:ea typeface="Arimo"/>
                <a:cs typeface="Arimo"/>
                <a:sym typeface="Arimo"/>
              </a:rPr>
              <a:t>Three-Level ANSI-SPARC Architecture</a:t>
            </a:r>
            <a:endParaRPr/>
          </a:p>
        </p:txBody>
      </p:sp>
      <p:sp>
        <p:nvSpPr>
          <p:cNvPr id="405" name="Google Shape;405;p23"/>
          <p:cNvSpPr txBox="1"/>
          <p:nvPr/>
        </p:nvSpPr>
        <p:spPr>
          <a:xfrm>
            <a:off x="1809055" y="2136471"/>
            <a:ext cx="5072507" cy="263559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Internal level:</a:t>
            </a:r>
            <a:r>
              <a:rPr lang="en-US" sz="1875">
                <a:solidFill>
                  <a:srgbClr val="000000"/>
                </a:solidFill>
                <a:latin typeface="Arial"/>
                <a:ea typeface="Arial"/>
                <a:cs typeface="Arial"/>
                <a:sym typeface="Arial"/>
              </a:rPr>
              <a:t> At the internal level, the database is represented physically on the computer. It emphasizes the physical implementation of the database to do storage space utilization and to achieve the optimal runtime performance, and data encryption techniques. It interfaces with the operating system to place the data on storage files and build the storage space, retrieve the data, etc.</a:t>
            </a:r>
            <a:endParaRPr/>
          </a:p>
        </p:txBody>
      </p:sp>
      <p:sp>
        <p:nvSpPr>
          <p:cNvPr id="406" name="Google Shape;406;p23"/>
          <p:cNvSpPr txBox="1"/>
          <p:nvPr/>
        </p:nvSpPr>
        <p:spPr>
          <a:xfrm>
            <a:off x="3375044" y="667941"/>
            <a:ext cx="6036753" cy="500137"/>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a:solidFill>
                  <a:srgbClr val="C00000"/>
                </a:solidFill>
                <a:latin typeface="Arimo"/>
                <a:ea typeface="Arimo"/>
                <a:cs typeface="Arimo"/>
                <a:sym typeface="Arimo"/>
              </a:rPr>
              <a:t>Database System Architecture</a:t>
            </a:r>
            <a:endParaRPr/>
          </a:p>
        </p:txBody>
      </p:sp>
      <p:sp>
        <p:nvSpPr>
          <p:cNvPr id="407" name="Google Shape;40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08" name="Google Shape;40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grpSp>
        <p:nvGrpSpPr>
          <p:cNvPr id="417" name="Google Shape;417;p24"/>
          <p:cNvGrpSpPr/>
          <p:nvPr/>
        </p:nvGrpSpPr>
        <p:grpSpPr>
          <a:xfrm>
            <a:off x="1524000" y="6356604"/>
            <a:ext cx="9144000" cy="88404"/>
            <a:chOff x="0" y="0"/>
            <a:chExt cx="13004800" cy="125730"/>
          </a:xfrm>
        </p:grpSpPr>
        <p:sp>
          <p:nvSpPr>
            <p:cNvPr id="418" name="Google Shape;418;p2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19" name="Google Shape;419;p2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20" name="Google Shape;420;p24"/>
          <p:cNvSpPr txBox="1"/>
          <p:nvPr/>
        </p:nvSpPr>
        <p:spPr>
          <a:xfrm>
            <a:off x="1812000" y="1703131"/>
            <a:ext cx="8856000" cy="4001095"/>
          </a:xfrm>
          <a:prstGeom prst="rect">
            <a:avLst/>
          </a:prstGeom>
          <a:noFill/>
          <a:ln>
            <a:noFill/>
          </a:ln>
        </p:spPr>
        <p:txBody>
          <a:bodyPr spcFirstLastPara="1" wrap="square" lIns="0" tIns="0" rIns="0" bIns="0" anchor="t" anchorCtr="0">
            <a:spAutoFit/>
          </a:bodyPr>
          <a:lstStyle/>
          <a:p>
            <a:pPr marL="355600" marR="0" lvl="0" indent="-342900" algn="l"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Three view-levels are described by means of three schemas.</a:t>
            </a:r>
            <a:endParaRPr dirty="0"/>
          </a:p>
          <a:p>
            <a:pPr marL="355600" marR="0" lvl="0" indent="-342900" algn="l"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These schemas are stored in the data dictionary.</a:t>
            </a:r>
            <a:endParaRPr dirty="0"/>
          </a:p>
          <a:p>
            <a:pPr marL="355600" marR="0" lvl="0" indent="-342900" algn="l"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In DBMS, each user refers only to its own external schema.</a:t>
            </a:r>
            <a:endParaRPr dirty="0"/>
          </a:p>
          <a:p>
            <a:pPr marL="355600" marR="5080" lvl="0" indent="-342900" algn="just"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Hence, the DBMS must transform a request on. a specified external  schema into a request against conceptual schema, and then into a  request against internal schema to store and retrieve data to and  from the database.</a:t>
            </a:r>
            <a:endParaRPr dirty="0"/>
          </a:p>
          <a:p>
            <a:pPr marL="355600" marR="5715" lvl="0" indent="-342900" algn="just" rtl="0">
              <a:lnSpc>
                <a:spcPct val="100000"/>
              </a:lnSpc>
              <a:spcBef>
                <a:spcPts val="5"/>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The process to convert a request (from external level) and the result  between view levels is called mapping.</a:t>
            </a:r>
            <a:endParaRPr dirty="0"/>
          </a:p>
          <a:p>
            <a:pPr marL="355600" marR="0" lvl="0" indent="-342900" algn="just"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The mapping defines the correspondence between three view levels.</a:t>
            </a:r>
            <a:endParaRPr dirty="0"/>
          </a:p>
          <a:p>
            <a:pPr marL="355600" marR="0" lvl="0" indent="-342900" algn="just"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The mapping description is also stored in data dictionary.</a:t>
            </a:r>
            <a:endParaRPr dirty="0"/>
          </a:p>
          <a:p>
            <a:pPr marL="355600" marR="8255" lvl="0" indent="-342900" algn="just" rtl="0">
              <a:lnSpc>
                <a:spcPct val="100000"/>
              </a:lnSpc>
              <a:spcBef>
                <a:spcPts val="0"/>
              </a:spcBef>
              <a:spcAft>
                <a:spcPts val="0"/>
              </a:spcAft>
              <a:buClr>
                <a:schemeClr val="dk1"/>
              </a:buClr>
              <a:buSzPts val="2400"/>
              <a:buFont typeface="Arial"/>
              <a:buChar char="•"/>
            </a:pPr>
            <a:r>
              <a:rPr lang="en-US" sz="2000" b="0" i="0" u="none" strike="noStrike" cap="none" dirty="0">
                <a:solidFill>
                  <a:schemeClr val="dk1"/>
                </a:solidFill>
                <a:latin typeface="Arial"/>
                <a:ea typeface="Arial"/>
                <a:cs typeface="Arial"/>
                <a:sym typeface="Arial"/>
              </a:rPr>
              <a:t>The DBMS is responsible for mapping between these three types of  schemas.</a:t>
            </a:r>
            <a:endParaRPr dirty="0"/>
          </a:p>
        </p:txBody>
      </p:sp>
      <p:sp>
        <p:nvSpPr>
          <p:cNvPr id="421" name="Google Shape;421;p24"/>
          <p:cNvSpPr txBox="1"/>
          <p:nvPr/>
        </p:nvSpPr>
        <p:spPr>
          <a:xfrm>
            <a:off x="3375044" y="667941"/>
            <a:ext cx="6036753" cy="500137"/>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a:solidFill>
                  <a:srgbClr val="C00000"/>
                </a:solidFill>
                <a:latin typeface="Arimo"/>
                <a:ea typeface="Arimo"/>
                <a:cs typeface="Arimo"/>
                <a:sym typeface="Arimo"/>
              </a:rPr>
              <a:t>Mapping between views</a:t>
            </a:r>
            <a:endParaRPr sz="3280" b="1">
              <a:solidFill>
                <a:srgbClr val="C00000"/>
              </a:solidFill>
              <a:latin typeface="Arimo"/>
              <a:ea typeface="Arimo"/>
              <a:cs typeface="Arimo"/>
              <a:sym typeface="Arimo"/>
            </a:endParaRPr>
          </a:p>
        </p:txBody>
      </p:sp>
      <p:sp>
        <p:nvSpPr>
          <p:cNvPr id="422" name="Google Shape;42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23" name="Google Shape;42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grpSp>
        <p:nvGrpSpPr>
          <p:cNvPr id="432" name="Google Shape;432;p25"/>
          <p:cNvGrpSpPr/>
          <p:nvPr/>
        </p:nvGrpSpPr>
        <p:grpSpPr>
          <a:xfrm>
            <a:off x="1524000" y="6356604"/>
            <a:ext cx="9144000" cy="88404"/>
            <a:chOff x="0" y="0"/>
            <a:chExt cx="13004800" cy="125730"/>
          </a:xfrm>
        </p:grpSpPr>
        <p:sp>
          <p:nvSpPr>
            <p:cNvPr id="433" name="Google Shape;433;p2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34" name="Google Shape;434;p2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35" name="Google Shape;435;p25"/>
          <p:cNvSpPr txBox="1"/>
          <p:nvPr/>
        </p:nvSpPr>
        <p:spPr>
          <a:xfrm>
            <a:off x="1812000" y="1523952"/>
            <a:ext cx="8856000" cy="4626908"/>
          </a:xfrm>
          <a:prstGeom prst="rect">
            <a:avLst/>
          </a:prstGeom>
          <a:noFill/>
          <a:ln>
            <a:noFill/>
          </a:ln>
        </p:spPr>
        <p:txBody>
          <a:bodyPr spcFirstLastPara="1" wrap="square" lIns="0" tIns="0" rIns="0" bIns="0" anchor="t" anchorCtr="0">
            <a:spAutoFit/>
          </a:bodyPr>
          <a:lstStyle/>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dirty="0" err="1">
                <a:solidFill>
                  <a:schemeClr val="dk1"/>
                </a:solidFill>
                <a:latin typeface="+mj-lt"/>
                <a:ea typeface="Trebuchet MS"/>
                <a:cs typeface="Trebuchet MS"/>
                <a:sym typeface="Trebuchet MS"/>
              </a:rPr>
              <a:t>i</a:t>
            </a:r>
            <a:r>
              <a:rPr lang="en-US" sz="2000" b="1" i="0" u="none" strike="noStrike" cap="none" dirty="0">
                <a:solidFill>
                  <a:schemeClr val="dk1"/>
                </a:solidFill>
                <a:latin typeface="+mj-lt"/>
                <a:ea typeface="Trebuchet MS"/>
                <a:cs typeface="Trebuchet MS"/>
                <a:sym typeface="Trebuchet MS"/>
              </a:rPr>
              <a:t>) External-Conceptual mapping</a:t>
            </a:r>
            <a:endParaRPr sz="2000" b="0" i="0" u="none" strike="noStrike" cap="none" dirty="0">
              <a:solidFill>
                <a:schemeClr val="dk1"/>
              </a:solidFill>
              <a:latin typeface="+mj-lt"/>
              <a:ea typeface="Trebuchet MS"/>
              <a:cs typeface="Trebuchet MS"/>
              <a:sym typeface="Trebuchet MS"/>
            </a:endParaRPr>
          </a:p>
          <a:p>
            <a:pPr marL="355600" marR="0" lvl="0" indent="-342900" algn="l" rtl="0">
              <a:lnSpc>
                <a:spcPct val="108000"/>
              </a:lnSpc>
              <a:spcBef>
                <a:spcPts val="0"/>
              </a:spcBef>
              <a:spcAft>
                <a:spcPts val="0"/>
              </a:spcAft>
              <a:buClr>
                <a:schemeClr val="dk1"/>
              </a:buClr>
              <a:buSzPts val="2000"/>
              <a:buFont typeface="Arial"/>
              <a:buChar char="•"/>
            </a:pPr>
            <a:r>
              <a:rPr lang="en-US" sz="2000" b="0" i="0" u="none" strike="noStrike" cap="none" dirty="0">
                <a:solidFill>
                  <a:schemeClr val="dk1"/>
                </a:solidFill>
                <a:latin typeface="+mj-lt"/>
                <a:ea typeface="Arial"/>
                <a:cs typeface="Arial"/>
                <a:sym typeface="Arial"/>
              </a:rPr>
              <a:t>An external-conceptual mapping defines the correspondence between a particular</a:t>
            </a:r>
            <a:endParaRPr dirty="0">
              <a:latin typeface="+mj-lt"/>
            </a:endParaRPr>
          </a:p>
          <a:p>
            <a:pPr marL="355600" marR="0" lvl="0" indent="0" algn="l" rtl="0">
              <a:lnSpc>
                <a:spcPct val="108000"/>
              </a:lnSpc>
              <a:spcBef>
                <a:spcPts val="0"/>
              </a:spcBef>
              <a:spcAft>
                <a:spcPts val="0"/>
              </a:spcAft>
              <a:buClr>
                <a:srgbClr val="000000"/>
              </a:buClr>
              <a:buSzPts val="2000"/>
              <a:buFont typeface="Arial"/>
              <a:buNone/>
            </a:pPr>
            <a:r>
              <a:rPr lang="en-US" sz="2000" b="0" i="0" u="none" strike="noStrike" cap="none" dirty="0">
                <a:solidFill>
                  <a:schemeClr val="dk1"/>
                </a:solidFill>
                <a:latin typeface="+mj-lt"/>
                <a:ea typeface="Arial"/>
                <a:cs typeface="Arial"/>
                <a:sym typeface="Arial"/>
              </a:rPr>
              <a:t>external view and the conceptual view.</a:t>
            </a:r>
            <a:endParaRPr dirty="0">
              <a:latin typeface="+mj-lt"/>
            </a:endParaRPr>
          </a:p>
          <a:p>
            <a:pPr marL="355600" marR="6350" lvl="0" indent="-342900" algn="l" rtl="0">
              <a:lnSpc>
                <a:spcPct val="96000"/>
              </a:lnSpc>
              <a:spcBef>
                <a:spcPts val="465"/>
              </a:spcBef>
              <a:spcAft>
                <a:spcPts val="0"/>
              </a:spcAft>
              <a:buClr>
                <a:schemeClr val="dk1"/>
              </a:buClr>
              <a:buSzPts val="2000"/>
              <a:buFont typeface="Arial"/>
              <a:buChar char="•"/>
            </a:pPr>
            <a:r>
              <a:rPr lang="en-US" sz="2000" b="0" i="0" u="none" strike="noStrike" cap="none" dirty="0">
                <a:solidFill>
                  <a:schemeClr val="dk1"/>
                </a:solidFill>
                <a:latin typeface="+mj-lt"/>
                <a:ea typeface="Arial"/>
                <a:cs typeface="Arial"/>
                <a:sym typeface="Arial"/>
              </a:rPr>
              <a:t>The external-conceptual mapping tells the DBMS which objects on the conceptual  level correspond to the objects requested on a particular user's external view.</a:t>
            </a:r>
            <a:endParaRPr dirty="0">
              <a:latin typeface="+mj-lt"/>
            </a:endParaRPr>
          </a:p>
          <a:p>
            <a:pPr marL="355600" marR="5715" lvl="0" indent="-342900" algn="l" rtl="0">
              <a:lnSpc>
                <a:spcPct val="80000"/>
              </a:lnSpc>
              <a:spcBef>
                <a:spcPts val="495"/>
              </a:spcBef>
              <a:spcAft>
                <a:spcPts val="0"/>
              </a:spcAft>
              <a:buClr>
                <a:schemeClr val="dk1"/>
              </a:buClr>
              <a:buSzPts val="2000"/>
              <a:buFont typeface="Arial"/>
              <a:buChar char="•"/>
            </a:pPr>
            <a:r>
              <a:rPr lang="en-US" sz="2000" b="0" i="0" u="none" strike="noStrike" cap="none" dirty="0">
                <a:solidFill>
                  <a:schemeClr val="dk1"/>
                </a:solidFill>
                <a:latin typeface="+mj-lt"/>
                <a:ea typeface="Arial"/>
                <a:cs typeface="Arial"/>
                <a:sym typeface="Arial"/>
              </a:rPr>
              <a:t>If changes are made to either an external view or conceptual view, then mapping  must be changed accordingly.</a:t>
            </a:r>
            <a:endParaRPr dirty="0">
              <a:latin typeface="+mj-lt"/>
            </a:endParaRPr>
          </a:p>
          <a:p>
            <a:pPr marL="1270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mj-lt"/>
                <a:ea typeface="Trebuchet MS"/>
                <a:cs typeface="Trebuchet MS"/>
                <a:sym typeface="Trebuchet MS"/>
              </a:rPr>
              <a:t>(ii) Conceptual-Internal mapping</a:t>
            </a:r>
            <a:endParaRPr sz="2000" b="0" i="0" u="none" strike="noStrike" cap="none" dirty="0">
              <a:solidFill>
                <a:schemeClr val="dk1"/>
              </a:solidFill>
              <a:latin typeface="+mj-lt"/>
              <a:ea typeface="Trebuchet MS"/>
              <a:cs typeface="Trebuchet MS"/>
              <a:sym typeface="Trebuchet MS"/>
            </a:endParaRPr>
          </a:p>
          <a:p>
            <a:pPr marL="355600" marR="6985" lvl="0" indent="-342900" algn="just" rtl="0">
              <a:lnSpc>
                <a:spcPct val="96000"/>
              </a:lnSpc>
              <a:spcBef>
                <a:spcPts val="465"/>
              </a:spcBef>
              <a:spcAft>
                <a:spcPts val="0"/>
              </a:spcAft>
              <a:buClr>
                <a:schemeClr val="dk1"/>
              </a:buClr>
              <a:buSzPts val="2000"/>
              <a:buFont typeface="Arial"/>
              <a:buChar char="•"/>
            </a:pPr>
            <a:r>
              <a:rPr lang="en-US" sz="2000" b="0" i="0" u="none" strike="noStrike" cap="none" dirty="0">
                <a:solidFill>
                  <a:schemeClr val="dk1"/>
                </a:solidFill>
                <a:latin typeface="+mj-lt"/>
                <a:ea typeface="Arial"/>
                <a:cs typeface="Arial"/>
                <a:sym typeface="Arial"/>
              </a:rPr>
              <a:t>The conceptual-internal mapping defines the correspondence between the  conceptual view and the internal view, i.e. database stored on the physical storage  device.</a:t>
            </a:r>
            <a:endParaRPr dirty="0">
              <a:latin typeface="+mj-lt"/>
            </a:endParaRPr>
          </a:p>
          <a:p>
            <a:pPr marL="355600" marR="5715" lvl="0" indent="-342900" algn="l" rtl="0">
              <a:lnSpc>
                <a:spcPct val="80000"/>
              </a:lnSpc>
              <a:spcBef>
                <a:spcPts val="500"/>
              </a:spcBef>
              <a:spcAft>
                <a:spcPts val="0"/>
              </a:spcAft>
              <a:buClr>
                <a:schemeClr val="dk1"/>
              </a:buClr>
              <a:buSzPts val="1800"/>
              <a:buFont typeface="Arial"/>
              <a:buChar char="•"/>
            </a:pPr>
            <a:r>
              <a:rPr lang="en-US" sz="2000" b="0" i="0" u="none" strike="noStrike" cap="none" dirty="0">
                <a:solidFill>
                  <a:schemeClr val="dk1"/>
                </a:solidFill>
                <a:latin typeface="+mj-lt"/>
                <a:ea typeface="Arial"/>
                <a:cs typeface="Arial"/>
                <a:sym typeface="Arial"/>
              </a:rPr>
              <a:t>It describes how conceptual records are stored and retrieved to and from the  storage device.</a:t>
            </a:r>
            <a:endParaRPr dirty="0">
              <a:latin typeface="+mj-lt"/>
            </a:endParaRPr>
          </a:p>
        </p:txBody>
      </p:sp>
      <p:sp>
        <p:nvSpPr>
          <p:cNvPr id="436" name="Google Shape;436;p25"/>
          <p:cNvSpPr txBox="1"/>
          <p:nvPr/>
        </p:nvSpPr>
        <p:spPr>
          <a:xfrm>
            <a:off x="2893807" y="667941"/>
            <a:ext cx="6927925" cy="605679"/>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dirty="0">
                <a:solidFill>
                  <a:srgbClr val="C00000"/>
                </a:solidFill>
                <a:latin typeface="Arimo"/>
                <a:ea typeface="Arimo"/>
                <a:cs typeface="Arimo"/>
                <a:sym typeface="Arimo"/>
              </a:rPr>
              <a:t>Types of Mapping between views</a:t>
            </a:r>
            <a:endParaRPr sz="3280" b="1" dirty="0">
              <a:solidFill>
                <a:srgbClr val="C00000"/>
              </a:solidFill>
              <a:latin typeface="Arimo"/>
              <a:ea typeface="Arimo"/>
              <a:cs typeface="Arimo"/>
              <a:sym typeface="Arimo"/>
            </a:endParaRPr>
          </a:p>
        </p:txBody>
      </p:sp>
      <p:sp>
        <p:nvSpPr>
          <p:cNvPr id="437" name="Google Shape;43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38" name="Google Shape;43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44" name="Google Shape;44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
        <p:nvSpPr>
          <p:cNvPr id="445" name="Google Shape;445;p26"/>
          <p:cNvSpPr/>
          <p:nvPr/>
        </p:nvSpPr>
        <p:spPr>
          <a:xfrm>
            <a:off x="2514599" y="1168078"/>
            <a:ext cx="8001000" cy="502198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46" name="Google Shape;446;p26"/>
          <p:cNvSpPr txBox="1"/>
          <p:nvPr/>
        </p:nvSpPr>
        <p:spPr>
          <a:xfrm>
            <a:off x="3483429" y="667941"/>
            <a:ext cx="5928368" cy="500137"/>
          </a:xfrm>
          <a:prstGeom prst="rect">
            <a:avLst/>
          </a:prstGeom>
          <a:noFill/>
          <a:ln>
            <a:noFill/>
          </a:ln>
        </p:spPr>
        <p:txBody>
          <a:bodyPr spcFirstLastPara="1" wrap="square" lIns="0" tIns="0" rIns="0" bIns="0" anchor="t" anchorCtr="0">
            <a:spAutoFit/>
          </a:bodyPr>
          <a:lstStyle/>
          <a:p>
            <a:pPr marL="0" marR="0" lvl="0" indent="0" algn="ctr" rtl="0">
              <a:lnSpc>
                <a:spcPct val="120030"/>
              </a:lnSpc>
              <a:spcBef>
                <a:spcPts val="0"/>
              </a:spcBef>
              <a:spcAft>
                <a:spcPts val="0"/>
              </a:spcAft>
              <a:buNone/>
            </a:pPr>
            <a:r>
              <a:rPr lang="en-US" sz="3280" b="1">
                <a:solidFill>
                  <a:srgbClr val="C00000"/>
                </a:solidFill>
                <a:latin typeface="Arimo"/>
                <a:ea typeface="Arimo"/>
                <a:cs typeface="Arimo"/>
                <a:sym typeface="Arimo"/>
              </a:rPr>
              <a:t>Example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grpSp>
        <p:nvGrpSpPr>
          <p:cNvPr id="455" name="Google Shape;455;p27"/>
          <p:cNvGrpSpPr/>
          <p:nvPr/>
        </p:nvGrpSpPr>
        <p:grpSpPr>
          <a:xfrm>
            <a:off x="1524000" y="6356604"/>
            <a:ext cx="9144000" cy="88404"/>
            <a:chOff x="0" y="0"/>
            <a:chExt cx="13004800" cy="125730"/>
          </a:xfrm>
        </p:grpSpPr>
        <p:sp>
          <p:nvSpPr>
            <p:cNvPr id="456" name="Google Shape;456;p2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57" name="Google Shape;457;p2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58" name="Google Shape;458;p27"/>
          <p:cNvSpPr txBox="1"/>
          <p:nvPr/>
        </p:nvSpPr>
        <p:spPr>
          <a:xfrm>
            <a:off x="2483294" y="659012"/>
            <a:ext cx="832875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Advantages and Disadvantages of DBMS</a:t>
            </a:r>
            <a:endParaRPr/>
          </a:p>
        </p:txBody>
      </p:sp>
      <p:sp>
        <p:nvSpPr>
          <p:cNvPr id="459" name="Google Shape;459;p27"/>
          <p:cNvSpPr txBox="1"/>
          <p:nvPr/>
        </p:nvSpPr>
        <p:spPr>
          <a:xfrm>
            <a:off x="1884952" y="1934351"/>
            <a:ext cx="8096867" cy="3520451"/>
          </a:xfrm>
          <a:prstGeom prst="rect">
            <a:avLst/>
          </a:prstGeom>
          <a:noFill/>
          <a:ln>
            <a:noFill/>
          </a:ln>
        </p:spPr>
        <p:txBody>
          <a:bodyPr spcFirstLastPara="1" wrap="square" lIns="0" tIns="0" rIns="0" bIns="0" anchor="t" anchorCtr="0">
            <a:spAutoFit/>
          </a:bodyPr>
          <a:lstStyle/>
          <a:p>
            <a:pPr marL="0" marR="0" lvl="0" indent="0" algn="l" rtl="0">
              <a:lnSpc>
                <a:spcPct val="133293"/>
              </a:lnSpc>
              <a:spcBef>
                <a:spcPts val="0"/>
              </a:spcBef>
              <a:spcAft>
                <a:spcPts val="0"/>
              </a:spcAft>
              <a:buNone/>
            </a:pPr>
            <a:endParaRPr sz="1687">
              <a:solidFill>
                <a:schemeClr val="dk1"/>
              </a:solidFill>
              <a:latin typeface="Calibri"/>
              <a:ea typeface="Calibri"/>
              <a:cs typeface="Calibri"/>
              <a:sym typeface="Calibri"/>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Data Redundancy Elimination: </a:t>
            </a:r>
            <a:r>
              <a:rPr lang="en-US" sz="1875" b="0" i="0" u="none" strike="noStrike" cap="none">
                <a:solidFill>
                  <a:srgbClr val="000000"/>
                </a:solidFill>
                <a:latin typeface="Arial"/>
                <a:ea typeface="Arial"/>
                <a:cs typeface="Arial"/>
                <a:sym typeface="Arial"/>
              </a:rPr>
              <a:t>Centralized data management reduces duplication and ensures consistency across the database.</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Data Integrity and Accuracy:</a:t>
            </a:r>
            <a:r>
              <a:rPr lang="en-US" sz="1875" b="0" i="0" u="none" strike="noStrike" cap="none">
                <a:solidFill>
                  <a:srgbClr val="000000"/>
                </a:solidFill>
                <a:latin typeface="Arial"/>
                <a:ea typeface="Arial"/>
                <a:cs typeface="Arial"/>
                <a:sym typeface="Arial"/>
              </a:rPr>
              <a:t> Enforces constraints (e.g., primary keys) to ensure data validity and consistency.</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Data Security: </a:t>
            </a:r>
            <a:r>
              <a:rPr lang="en-US" sz="1875" b="0" i="0" u="none" strike="noStrike" cap="none">
                <a:solidFill>
                  <a:srgbClr val="000000"/>
                </a:solidFill>
                <a:latin typeface="Arial"/>
                <a:ea typeface="Arial"/>
                <a:cs typeface="Arial"/>
                <a:sym typeface="Arial"/>
              </a:rPr>
              <a:t>Provides controlled access to sensitive data through user roles and permissions.</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Data Independence:</a:t>
            </a:r>
            <a:r>
              <a:rPr lang="en-US" sz="1875" b="0" i="0" u="none" strike="noStrike" cap="none">
                <a:solidFill>
                  <a:srgbClr val="000000"/>
                </a:solidFill>
                <a:latin typeface="Arial"/>
                <a:ea typeface="Arial"/>
                <a:cs typeface="Arial"/>
                <a:sym typeface="Arial"/>
              </a:rPr>
              <a:t> Logical and physical data independence allows schema changes without affecting applications.</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Backup and Recovery:</a:t>
            </a:r>
            <a:r>
              <a:rPr lang="en-US" sz="1875" b="0" i="0" u="none" strike="noStrike" cap="none">
                <a:solidFill>
                  <a:srgbClr val="000000"/>
                </a:solidFill>
                <a:latin typeface="Arial"/>
                <a:ea typeface="Arial"/>
                <a:cs typeface="Arial"/>
                <a:sym typeface="Arial"/>
              </a:rPr>
              <a:t> Automatic recovery mechanisms protect data in case of system failure.</a:t>
            </a:r>
            <a:endParaRPr/>
          </a:p>
          <a:p>
            <a:pPr marL="0" marR="0" lvl="0" indent="0" algn="l"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460" name="Google Shape;460;p27"/>
          <p:cNvSpPr txBox="1"/>
          <p:nvPr/>
        </p:nvSpPr>
        <p:spPr>
          <a:xfrm>
            <a:off x="1884953" y="1630721"/>
            <a:ext cx="7164847" cy="313034"/>
          </a:xfrm>
          <a:prstGeom prst="rect">
            <a:avLst/>
          </a:prstGeom>
          <a:noFill/>
          <a:ln>
            <a:noFill/>
          </a:ln>
        </p:spPr>
        <p:txBody>
          <a:bodyPr spcFirstLastPara="1" wrap="square" lIns="0" tIns="0" rIns="0" bIns="0" anchor="t" anchorCtr="0">
            <a:spAutoFit/>
          </a:bodyPr>
          <a:lstStyle/>
          <a:p>
            <a:pPr marL="0" marR="0" lvl="0" indent="0" algn="l" rtl="0">
              <a:lnSpc>
                <a:spcPct val="120037"/>
              </a:lnSpc>
              <a:spcBef>
                <a:spcPts val="0"/>
              </a:spcBef>
              <a:spcAft>
                <a:spcPts val="0"/>
              </a:spcAft>
              <a:buNone/>
            </a:pPr>
            <a:r>
              <a:rPr lang="en-US" sz="2156" b="1">
                <a:solidFill>
                  <a:srgbClr val="262626"/>
                </a:solidFill>
                <a:latin typeface="Arimo"/>
                <a:ea typeface="Arimo"/>
                <a:cs typeface="Arimo"/>
                <a:sym typeface="Arimo"/>
              </a:rPr>
              <a:t>Advantages of DBMS</a:t>
            </a:r>
            <a:endParaRPr/>
          </a:p>
        </p:txBody>
      </p:sp>
      <p:sp>
        <p:nvSpPr>
          <p:cNvPr id="461" name="Google Shape;46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62" name="Google Shape;46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grpSp>
        <p:nvGrpSpPr>
          <p:cNvPr id="471" name="Google Shape;471;p28"/>
          <p:cNvGrpSpPr/>
          <p:nvPr/>
        </p:nvGrpSpPr>
        <p:grpSpPr>
          <a:xfrm>
            <a:off x="1524000" y="6356604"/>
            <a:ext cx="9144000" cy="88404"/>
            <a:chOff x="0" y="0"/>
            <a:chExt cx="13004800" cy="125730"/>
          </a:xfrm>
        </p:grpSpPr>
        <p:sp>
          <p:nvSpPr>
            <p:cNvPr id="472" name="Google Shape;472;p2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73" name="Google Shape;473;p2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74" name="Google Shape;474;p28"/>
          <p:cNvSpPr txBox="1"/>
          <p:nvPr/>
        </p:nvSpPr>
        <p:spPr>
          <a:xfrm>
            <a:off x="2411669" y="659012"/>
            <a:ext cx="8400378"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Advantages and Disadvantages of DBMS</a:t>
            </a:r>
            <a:endParaRPr/>
          </a:p>
        </p:txBody>
      </p:sp>
      <p:sp>
        <p:nvSpPr>
          <p:cNvPr id="475" name="Google Shape;475;p28"/>
          <p:cNvSpPr txBox="1"/>
          <p:nvPr/>
        </p:nvSpPr>
        <p:spPr>
          <a:xfrm>
            <a:off x="1885333" y="2265310"/>
            <a:ext cx="8096867" cy="3815403"/>
          </a:xfrm>
          <a:prstGeom prst="rect">
            <a:avLst/>
          </a:prstGeom>
          <a:noFill/>
          <a:ln>
            <a:noFill/>
          </a:ln>
        </p:spPr>
        <p:txBody>
          <a:bodyPr spcFirstLastPara="1" wrap="square" lIns="0" tIns="0" rIns="0" bIns="0" anchor="t" anchorCtr="0">
            <a:spAutoFit/>
          </a:bodyPr>
          <a:lstStyle/>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High Initial Cost:</a:t>
            </a:r>
            <a:r>
              <a:rPr lang="en-US" sz="1875" b="0" i="0" u="none" strike="noStrike" cap="none">
                <a:solidFill>
                  <a:srgbClr val="000000"/>
                </a:solidFill>
                <a:latin typeface="Arial"/>
                <a:ea typeface="Arial"/>
                <a:cs typeface="Arial"/>
                <a:sym typeface="Arial"/>
              </a:rPr>
              <a:t> Requires significant investment in software, hardware, and skilled personnel.</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Complexity:</a:t>
            </a:r>
            <a:r>
              <a:rPr lang="en-US" sz="1875" b="0" i="0" u="none" strike="noStrike" cap="none">
                <a:solidFill>
                  <a:srgbClr val="000000"/>
                </a:solidFill>
                <a:latin typeface="Arial"/>
                <a:ea typeface="Arial"/>
                <a:cs typeface="Arial"/>
                <a:sym typeface="Arial"/>
              </a:rPr>
              <a:t> DBMS systems can be complex to install, configure, and maintain.</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Performance Overhead:</a:t>
            </a:r>
            <a:r>
              <a:rPr lang="en-US" sz="1875" b="0" i="0" u="none" strike="noStrike" cap="none">
                <a:solidFill>
                  <a:srgbClr val="000000"/>
                </a:solidFill>
                <a:latin typeface="Arial"/>
                <a:ea typeface="Arial"/>
                <a:cs typeface="Arial"/>
                <a:sym typeface="Arial"/>
              </a:rPr>
              <a:t> System overhead from features like security and abstraction may reduce performance compared to simple file systems.</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Training Requirements:</a:t>
            </a:r>
            <a:r>
              <a:rPr lang="en-US" sz="1875" b="0" i="0" u="none" strike="noStrike" cap="none">
                <a:solidFill>
                  <a:srgbClr val="000000"/>
                </a:solidFill>
                <a:latin typeface="Arial"/>
                <a:ea typeface="Arial"/>
                <a:cs typeface="Arial"/>
                <a:sym typeface="Arial"/>
              </a:rPr>
              <a:t> Requires specialized training for database administrators (DBAs) and users.</a:t>
            </a:r>
            <a:endParaRPr/>
          </a:p>
          <a:p>
            <a:pPr marL="404813" marR="0" lvl="1" indent="-202406" algn="l" rtl="0">
              <a:lnSpc>
                <a:spcPct val="120000"/>
              </a:lnSpc>
              <a:spcBef>
                <a:spcPts val="0"/>
              </a:spcBef>
              <a:spcAft>
                <a:spcPts val="0"/>
              </a:spcAft>
              <a:buClr>
                <a:srgbClr val="000000"/>
              </a:buClr>
              <a:buSzPts val="1875"/>
              <a:buFont typeface="Arial"/>
              <a:buChar char="•"/>
            </a:pPr>
            <a:r>
              <a:rPr lang="en-US" sz="1875" b="1" i="0" u="none" strike="noStrike" cap="none">
                <a:solidFill>
                  <a:srgbClr val="000000"/>
                </a:solidFill>
                <a:latin typeface="Arial"/>
                <a:ea typeface="Arial"/>
                <a:cs typeface="Arial"/>
                <a:sym typeface="Arial"/>
              </a:rPr>
              <a:t>Potential for System Failure:</a:t>
            </a:r>
            <a:r>
              <a:rPr lang="en-US" sz="1875" b="0" i="0" u="none" strike="noStrike" cap="none">
                <a:solidFill>
                  <a:srgbClr val="000000"/>
                </a:solidFill>
                <a:latin typeface="Arial"/>
                <a:ea typeface="Arial"/>
                <a:cs typeface="Arial"/>
                <a:sym typeface="Arial"/>
              </a:rPr>
              <a:t> Centralized control can lead to widespread disruptions in case of failure.</a:t>
            </a:r>
            <a:endParaRPr/>
          </a:p>
          <a:p>
            <a:pPr marL="0" marR="0" lvl="0" indent="0" algn="l" rtl="0">
              <a:lnSpc>
                <a:spcPct val="120000"/>
              </a:lnSpc>
              <a:spcBef>
                <a:spcPts val="0"/>
              </a:spcBef>
              <a:spcAft>
                <a:spcPts val="0"/>
              </a:spcAft>
              <a:buNone/>
            </a:pPr>
            <a:endParaRPr sz="1875">
              <a:solidFill>
                <a:srgbClr val="000000"/>
              </a:solidFill>
              <a:latin typeface="Arial"/>
              <a:ea typeface="Arial"/>
              <a:cs typeface="Arial"/>
              <a:sym typeface="Arial"/>
            </a:endParaRPr>
          </a:p>
          <a:p>
            <a:pPr marL="0" marR="0" lvl="0" indent="0" algn="l"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476" name="Google Shape;476;p28"/>
          <p:cNvSpPr txBox="1"/>
          <p:nvPr/>
        </p:nvSpPr>
        <p:spPr>
          <a:xfrm>
            <a:off x="2006685" y="1693789"/>
            <a:ext cx="7164847" cy="313034"/>
          </a:xfrm>
          <a:prstGeom prst="rect">
            <a:avLst/>
          </a:prstGeom>
          <a:noFill/>
          <a:ln>
            <a:noFill/>
          </a:ln>
        </p:spPr>
        <p:txBody>
          <a:bodyPr spcFirstLastPara="1" wrap="square" lIns="0" tIns="0" rIns="0" bIns="0" anchor="t" anchorCtr="0">
            <a:spAutoFit/>
          </a:bodyPr>
          <a:lstStyle/>
          <a:p>
            <a:pPr marL="0" marR="0" lvl="0" indent="0" algn="l" rtl="0">
              <a:lnSpc>
                <a:spcPct val="120037"/>
              </a:lnSpc>
              <a:spcBef>
                <a:spcPts val="0"/>
              </a:spcBef>
              <a:spcAft>
                <a:spcPts val="0"/>
              </a:spcAft>
              <a:buNone/>
            </a:pPr>
            <a:r>
              <a:rPr lang="en-US" sz="2156" b="1">
                <a:solidFill>
                  <a:srgbClr val="262626"/>
                </a:solidFill>
                <a:latin typeface="Arimo"/>
                <a:ea typeface="Arimo"/>
                <a:cs typeface="Arimo"/>
                <a:sym typeface="Arimo"/>
              </a:rPr>
              <a:t>Disadvantages of DBMS</a:t>
            </a:r>
            <a:endParaRPr/>
          </a:p>
        </p:txBody>
      </p:sp>
      <p:sp>
        <p:nvSpPr>
          <p:cNvPr id="477" name="Google Shape;477;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78" name="Google Shape;478;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grpSp>
        <p:nvGrpSpPr>
          <p:cNvPr id="487" name="Google Shape;487;p29"/>
          <p:cNvGrpSpPr/>
          <p:nvPr/>
        </p:nvGrpSpPr>
        <p:grpSpPr>
          <a:xfrm>
            <a:off x="1524000" y="6356604"/>
            <a:ext cx="9144000" cy="88404"/>
            <a:chOff x="0" y="0"/>
            <a:chExt cx="13004800" cy="125730"/>
          </a:xfrm>
        </p:grpSpPr>
        <p:sp>
          <p:nvSpPr>
            <p:cNvPr id="488" name="Google Shape;488;p2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489" name="Google Shape;489;p2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490" name="Google Shape;490;p29"/>
          <p:cNvSpPr txBox="1"/>
          <p:nvPr/>
        </p:nvSpPr>
        <p:spPr>
          <a:xfrm>
            <a:off x="1812000" y="1703131"/>
            <a:ext cx="8856000" cy="2308324"/>
          </a:xfrm>
          <a:prstGeom prst="rect">
            <a:avLst/>
          </a:prstGeom>
          <a:noFill/>
          <a:ln>
            <a:noFill/>
          </a:ln>
        </p:spPr>
        <p:txBody>
          <a:bodyPr spcFirstLastPara="1" wrap="square" lIns="0" tIns="0" rIns="0" bIns="0" anchor="t" anchorCtr="0">
            <a:spAutoFit/>
          </a:bodyPr>
          <a:lstStyle/>
          <a:p>
            <a:pPr marL="12700" marR="5080" lvl="0" indent="0" algn="just" rtl="0">
              <a:lnSpc>
                <a:spcPct val="100000"/>
              </a:lnSpc>
              <a:spcBef>
                <a:spcPts val="0"/>
              </a:spcBef>
              <a:spcAft>
                <a:spcPts val="0"/>
              </a:spcAft>
              <a:buNone/>
            </a:pPr>
            <a:r>
              <a:rPr lang="en-US" sz="2000" b="0" i="0" u="none" strike="noStrike" cap="none">
                <a:solidFill>
                  <a:schemeClr val="dk1"/>
                </a:solidFill>
                <a:latin typeface="Arial"/>
                <a:ea typeface="Arial"/>
                <a:cs typeface="Arial"/>
                <a:sym typeface="Arial"/>
              </a:rPr>
              <a:t>The ability to modify a scheme definition in one level without  affecting a scheme definition in a higher level is called data  independence.</a:t>
            </a:r>
            <a:endParaRPr/>
          </a:p>
          <a:p>
            <a:pPr marL="12700" marR="5080" lvl="0" indent="0" algn="just" rtl="0">
              <a:lnSpc>
                <a:spcPct val="100000"/>
              </a:lnSpc>
              <a:spcBef>
                <a:spcPts val="0"/>
              </a:spcBef>
              <a:spcAft>
                <a:spcPts val="0"/>
              </a:spcAft>
              <a:buNone/>
            </a:pPr>
            <a:endParaRPr sz="2000">
              <a:solidFill>
                <a:schemeClr val="dk1"/>
              </a:solidFill>
              <a:latin typeface="Arial"/>
              <a:ea typeface="Arial"/>
              <a:cs typeface="Arial"/>
              <a:sym typeface="Arial"/>
            </a:endParaRPr>
          </a:p>
          <a:p>
            <a:pPr marL="12700" marR="5080" lvl="0" indent="0" algn="just" rtl="0">
              <a:lnSpc>
                <a:spcPct val="100000"/>
              </a:lnSpc>
              <a:spcBef>
                <a:spcPts val="0"/>
              </a:spcBef>
              <a:spcAft>
                <a:spcPts val="0"/>
              </a:spcAft>
              <a:buNone/>
            </a:pPr>
            <a:endParaRPr sz="2000" b="1" i="0" u="none" strike="noStrike" cap="none">
              <a:solidFill>
                <a:schemeClr val="dk1"/>
              </a:solidFill>
              <a:latin typeface="Arial"/>
              <a:ea typeface="Arial"/>
              <a:cs typeface="Arial"/>
              <a:sym typeface="Arial"/>
            </a:endParaRPr>
          </a:p>
          <a:p>
            <a:pPr marL="12700" marR="5080" lvl="0" indent="0" algn="just" rtl="0">
              <a:lnSpc>
                <a:spcPct val="100000"/>
              </a:lnSpc>
              <a:spcBef>
                <a:spcPts val="0"/>
              </a:spcBef>
              <a:spcAft>
                <a:spcPts val="0"/>
              </a:spcAft>
              <a:buNone/>
            </a:pPr>
            <a:r>
              <a:rPr lang="en-US" sz="2000" b="1" i="0" u="none" strike="noStrike" cap="none">
                <a:solidFill>
                  <a:schemeClr val="dk1"/>
                </a:solidFill>
                <a:latin typeface="Trebuchet MS"/>
                <a:ea typeface="Trebuchet MS"/>
                <a:cs typeface="Trebuchet MS"/>
                <a:sym typeface="Trebuchet MS"/>
              </a:rPr>
              <a:t>There are two kinds:</a:t>
            </a:r>
            <a:endParaRPr sz="2000" b="0" i="0" u="none" strike="noStrike" cap="none">
              <a:solidFill>
                <a:schemeClr val="dk1"/>
              </a:solidFill>
              <a:latin typeface="Trebuchet MS"/>
              <a:ea typeface="Trebuchet MS"/>
              <a:cs typeface="Trebuchet MS"/>
              <a:sym typeface="Trebuchet MS"/>
            </a:endParaRPr>
          </a:p>
          <a:p>
            <a:pPr marL="355600" marR="0" lvl="0" indent="-342900" algn="l" rtl="0">
              <a:lnSpc>
                <a:spcPct val="100000"/>
              </a:lnSpc>
              <a:spcBef>
                <a:spcPts val="575"/>
              </a:spcBef>
              <a:spcAft>
                <a:spcPts val="0"/>
              </a:spcAft>
              <a:buClr>
                <a:schemeClr val="dk1"/>
              </a:buClr>
              <a:buSzPts val="2400"/>
              <a:buFont typeface="Arial"/>
              <a:buChar char="•"/>
            </a:pPr>
            <a:r>
              <a:rPr lang="en-US" sz="2000" b="1" i="0" u="none" strike="noStrike" cap="none">
                <a:solidFill>
                  <a:schemeClr val="dk1"/>
                </a:solidFill>
                <a:latin typeface="Trebuchet MS"/>
                <a:ea typeface="Trebuchet MS"/>
                <a:cs typeface="Trebuchet MS"/>
                <a:sym typeface="Trebuchet MS"/>
              </a:rPr>
              <a:t>Logical data independence</a:t>
            </a:r>
            <a:endParaRPr sz="2000" b="0" i="0" u="none" strike="noStrike" cap="none">
              <a:solidFill>
                <a:schemeClr val="dk1"/>
              </a:solidFill>
              <a:latin typeface="Trebuchet MS"/>
              <a:ea typeface="Trebuchet MS"/>
              <a:cs typeface="Trebuchet MS"/>
              <a:sym typeface="Trebuchet MS"/>
            </a:endParaRPr>
          </a:p>
          <a:p>
            <a:pPr marL="355600" marR="0" lvl="0" indent="-342900" algn="l" rtl="0">
              <a:lnSpc>
                <a:spcPct val="100000"/>
              </a:lnSpc>
              <a:spcBef>
                <a:spcPts val="575"/>
              </a:spcBef>
              <a:spcAft>
                <a:spcPts val="0"/>
              </a:spcAft>
              <a:buClr>
                <a:schemeClr val="dk1"/>
              </a:buClr>
              <a:buSzPts val="2400"/>
              <a:buFont typeface="Arial"/>
              <a:buChar char="•"/>
            </a:pPr>
            <a:r>
              <a:rPr lang="en-US" sz="2000" b="1" i="0" u="none" strike="noStrike" cap="none">
                <a:solidFill>
                  <a:schemeClr val="dk1"/>
                </a:solidFill>
                <a:latin typeface="Trebuchet MS"/>
                <a:ea typeface="Trebuchet MS"/>
                <a:cs typeface="Trebuchet MS"/>
                <a:sym typeface="Trebuchet MS"/>
              </a:rPr>
              <a:t>Physical data independence</a:t>
            </a:r>
            <a:endParaRPr sz="2000" b="0" i="0" u="none" strike="noStrike" cap="none">
              <a:solidFill>
                <a:schemeClr val="dk1"/>
              </a:solidFill>
              <a:latin typeface="Trebuchet MS"/>
              <a:ea typeface="Trebuchet MS"/>
              <a:cs typeface="Trebuchet MS"/>
              <a:sym typeface="Trebuchet MS"/>
            </a:endParaRPr>
          </a:p>
        </p:txBody>
      </p:sp>
      <p:sp>
        <p:nvSpPr>
          <p:cNvPr id="491" name="Google Shape;491;p29"/>
          <p:cNvSpPr txBox="1"/>
          <p:nvPr/>
        </p:nvSpPr>
        <p:spPr>
          <a:xfrm>
            <a:off x="3375044" y="667941"/>
            <a:ext cx="6036753" cy="500137"/>
          </a:xfrm>
          <a:prstGeom prst="rect">
            <a:avLst/>
          </a:prstGeom>
          <a:noFill/>
          <a:ln>
            <a:noFill/>
          </a:ln>
        </p:spPr>
        <p:txBody>
          <a:bodyPr spcFirstLastPara="1" wrap="square" lIns="0" tIns="0" rIns="0" bIns="0" anchor="t" anchorCtr="0">
            <a:spAutoFit/>
          </a:bodyPr>
          <a:lstStyle/>
          <a:p>
            <a:pPr marL="0" marR="0" lvl="0" indent="0" algn="l" rtl="0">
              <a:lnSpc>
                <a:spcPct val="120030"/>
              </a:lnSpc>
              <a:spcBef>
                <a:spcPts val="0"/>
              </a:spcBef>
              <a:spcAft>
                <a:spcPts val="0"/>
              </a:spcAft>
              <a:buNone/>
            </a:pPr>
            <a:r>
              <a:rPr lang="en-US" sz="3280" b="1">
                <a:solidFill>
                  <a:srgbClr val="C00000"/>
                </a:solidFill>
                <a:latin typeface="Arimo"/>
                <a:ea typeface="Arimo"/>
                <a:cs typeface="Arimo"/>
                <a:sym typeface="Arimo"/>
              </a:rPr>
              <a:t>Data Independence</a:t>
            </a:r>
            <a:endParaRPr sz="3280" b="1">
              <a:solidFill>
                <a:srgbClr val="C00000"/>
              </a:solidFill>
              <a:latin typeface="Arimo"/>
              <a:ea typeface="Arimo"/>
              <a:cs typeface="Arimo"/>
              <a:sym typeface="Arimo"/>
            </a:endParaRPr>
          </a:p>
        </p:txBody>
      </p:sp>
      <p:sp>
        <p:nvSpPr>
          <p:cNvPr id="492" name="Google Shape;49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493" name="Google Shape;49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grpSp>
        <p:nvGrpSpPr>
          <p:cNvPr id="502" name="Google Shape;502;p30"/>
          <p:cNvGrpSpPr/>
          <p:nvPr/>
        </p:nvGrpSpPr>
        <p:grpSpPr>
          <a:xfrm>
            <a:off x="1524000" y="6356604"/>
            <a:ext cx="9144000" cy="88404"/>
            <a:chOff x="0" y="0"/>
            <a:chExt cx="13004800" cy="125730"/>
          </a:xfrm>
        </p:grpSpPr>
        <p:sp>
          <p:nvSpPr>
            <p:cNvPr id="503" name="Google Shape;503;p3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04" name="Google Shape;504;p3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05" name="Google Shape;505;p30"/>
          <p:cNvSpPr/>
          <p:nvPr/>
        </p:nvSpPr>
        <p:spPr>
          <a:xfrm>
            <a:off x="6576922" y="1772173"/>
            <a:ext cx="4684802" cy="2760810"/>
          </a:xfrm>
          <a:custGeom>
            <a:avLst/>
            <a:gdLst/>
            <a:ahLst/>
            <a:cxnLst/>
            <a:rect l="l" t="t" r="r" b="b"/>
            <a:pathLst>
              <a:path w="4997122" h="2944864" extrusionOk="0">
                <a:moveTo>
                  <a:pt x="0" y="0"/>
                </a:moveTo>
                <a:lnTo>
                  <a:pt x="4997121" y="0"/>
                </a:lnTo>
                <a:lnTo>
                  <a:pt x="4997121" y="2944865"/>
                </a:lnTo>
                <a:lnTo>
                  <a:pt x="0" y="2944865"/>
                </a:lnTo>
                <a:lnTo>
                  <a:pt x="0" y="0"/>
                </a:lnTo>
                <a:close/>
              </a:path>
            </a:pathLst>
          </a:custGeom>
          <a:blipFill rotWithShape="1">
            <a:blip r:embed="rId3">
              <a:alphaModFix/>
            </a:blip>
            <a:stretch>
              <a:fillRect l="-41373" r="-19525"/>
            </a:stretch>
          </a:blipFill>
          <a:ln>
            <a:noFill/>
          </a:ln>
        </p:spPr>
      </p:sp>
      <p:sp>
        <p:nvSpPr>
          <p:cNvPr id="506" name="Google Shape;506;p30"/>
          <p:cNvSpPr txBox="1"/>
          <p:nvPr/>
        </p:nvSpPr>
        <p:spPr>
          <a:xfrm>
            <a:off x="1858123" y="1727525"/>
            <a:ext cx="4612283" cy="322549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In the context of a database management system, data independence is the feature that allows the schema of one layer of the database system to be changed without any impact on the schema of the next higher level of the database system. Through data independence, we can build an environment in which data is independent of all programs, and through the three schema architectures, data independence will be more understandable. </a:t>
            </a:r>
            <a:endParaRPr/>
          </a:p>
        </p:txBody>
      </p:sp>
      <p:sp>
        <p:nvSpPr>
          <p:cNvPr id="507" name="Google Shape;507;p30"/>
          <p:cNvSpPr txBox="1"/>
          <p:nvPr/>
        </p:nvSpPr>
        <p:spPr>
          <a:xfrm>
            <a:off x="3119338" y="659012"/>
            <a:ext cx="628424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Data Independence in DBMS</a:t>
            </a:r>
            <a:endParaRPr/>
          </a:p>
        </p:txBody>
      </p:sp>
      <p:sp>
        <p:nvSpPr>
          <p:cNvPr id="508" name="Google Shape;508;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09" name="Google Shape;509;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grpSp>
        <p:nvGrpSpPr>
          <p:cNvPr id="518" name="Google Shape;518;p31"/>
          <p:cNvGrpSpPr/>
          <p:nvPr/>
        </p:nvGrpSpPr>
        <p:grpSpPr>
          <a:xfrm>
            <a:off x="1524000" y="6356604"/>
            <a:ext cx="9144000" cy="88404"/>
            <a:chOff x="0" y="0"/>
            <a:chExt cx="13004800" cy="125730"/>
          </a:xfrm>
        </p:grpSpPr>
        <p:sp>
          <p:nvSpPr>
            <p:cNvPr id="519" name="Google Shape;519;p3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20" name="Google Shape;520;p3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21" name="Google Shape;521;p31"/>
          <p:cNvSpPr txBox="1"/>
          <p:nvPr/>
        </p:nvSpPr>
        <p:spPr>
          <a:xfrm>
            <a:off x="3710244" y="659012"/>
            <a:ext cx="606937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Types of Data Independence</a:t>
            </a:r>
            <a:endParaRPr/>
          </a:p>
        </p:txBody>
      </p:sp>
      <p:sp>
        <p:nvSpPr>
          <p:cNvPr id="522" name="Google Shape;522;p31"/>
          <p:cNvSpPr txBox="1"/>
          <p:nvPr/>
        </p:nvSpPr>
        <p:spPr>
          <a:xfrm>
            <a:off x="1923248" y="1301687"/>
            <a:ext cx="8037438" cy="4254626"/>
          </a:xfrm>
          <a:prstGeom prst="rect">
            <a:avLst/>
          </a:prstGeom>
          <a:noFill/>
          <a:ln>
            <a:noFill/>
          </a:ln>
        </p:spPr>
        <p:txBody>
          <a:bodyPr spcFirstLastPara="1" wrap="square" lIns="0" tIns="0" rIns="0" bIns="0" anchor="t" anchorCtr="0">
            <a:spAutoFit/>
          </a:bodyPr>
          <a:lstStyle/>
          <a:p>
            <a:pPr marL="0" marR="0" lvl="0" indent="0" algn="l" rtl="0">
              <a:lnSpc>
                <a:spcPct val="160018"/>
              </a:lnSpc>
              <a:spcBef>
                <a:spcPts val="0"/>
              </a:spcBef>
              <a:spcAft>
                <a:spcPts val="0"/>
              </a:spcAft>
              <a:buNone/>
            </a:pPr>
            <a:r>
              <a:rPr lang="en-US" sz="2156" b="1" dirty="0">
                <a:solidFill>
                  <a:srgbClr val="000000"/>
                </a:solidFill>
                <a:latin typeface="Arial"/>
                <a:ea typeface="Arial"/>
                <a:cs typeface="Arial"/>
                <a:sym typeface="Arial"/>
              </a:rPr>
              <a:t>Logical Data Independence</a:t>
            </a:r>
            <a:endParaRPr dirty="0"/>
          </a:p>
          <a:p>
            <a:pPr marL="404813" marR="0" lvl="1" indent="-202406" algn="l" rtl="0">
              <a:lnSpc>
                <a:spcPct val="16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Changing the logical schema (conceptual level) without changing the external schema (view level) is called logical data independence.</a:t>
            </a:r>
            <a:endParaRPr dirty="0"/>
          </a:p>
          <a:p>
            <a:pPr marL="404813" marR="0" lvl="1" indent="-202406" algn="l" rtl="0">
              <a:lnSpc>
                <a:spcPct val="16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It is used to keep the external schema separate from the logical schema.</a:t>
            </a:r>
            <a:endParaRPr dirty="0"/>
          </a:p>
          <a:p>
            <a:pPr marL="404813" marR="0" lvl="1" indent="-202406" algn="l" rtl="0">
              <a:lnSpc>
                <a:spcPct val="16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If we make any changes at the conceptual level of data, it does not affect the view level.</a:t>
            </a:r>
            <a:endParaRPr dirty="0"/>
          </a:p>
          <a:p>
            <a:pPr marL="404813" marR="0" lvl="1" indent="-202406" algn="l" rtl="0">
              <a:lnSpc>
                <a:spcPct val="16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This happens at the user interface level.</a:t>
            </a:r>
            <a:endParaRPr dirty="0"/>
          </a:p>
          <a:p>
            <a:pPr marL="404813" marR="0" lvl="1" indent="-202406" algn="l" rtl="0">
              <a:lnSpc>
                <a:spcPct val="16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For example, it is possible to add or delete new entities, attributes to the conceptual schema without making any changes to the external schema.</a:t>
            </a:r>
            <a:endParaRPr dirty="0"/>
          </a:p>
        </p:txBody>
      </p:sp>
      <p:sp>
        <p:nvSpPr>
          <p:cNvPr id="523" name="Google Shape;523;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24" name="Google Shape;524;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grpSp>
        <p:nvGrpSpPr>
          <p:cNvPr id="533" name="Google Shape;533;p32"/>
          <p:cNvGrpSpPr/>
          <p:nvPr/>
        </p:nvGrpSpPr>
        <p:grpSpPr>
          <a:xfrm>
            <a:off x="1524000" y="6356604"/>
            <a:ext cx="9144000" cy="88404"/>
            <a:chOff x="0" y="0"/>
            <a:chExt cx="13004800" cy="125730"/>
          </a:xfrm>
        </p:grpSpPr>
        <p:sp>
          <p:nvSpPr>
            <p:cNvPr id="534" name="Google Shape;534;p3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35" name="Google Shape;535;p3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36" name="Google Shape;536;p32"/>
          <p:cNvSpPr txBox="1"/>
          <p:nvPr/>
        </p:nvSpPr>
        <p:spPr>
          <a:xfrm>
            <a:off x="3710244" y="659012"/>
            <a:ext cx="6105187"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Types of Data Independence</a:t>
            </a:r>
            <a:endParaRPr/>
          </a:p>
        </p:txBody>
      </p:sp>
      <p:sp>
        <p:nvSpPr>
          <p:cNvPr id="537" name="Google Shape;537;p32"/>
          <p:cNvSpPr txBox="1"/>
          <p:nvPr/>
        </p:nvSpPr>
        <p:spPr>
          <a:xfrm>
            <a:off x="1944763" y="1646007"/>
            <a:ext cx="8037438" cy="3485185"/>
          </a:xfrm>
          <a:prstGeom prst="rect">
            <a:avLst/>
          </a:prstGeom>
          <a:noFill/>
          <a:ln>
            <a:noFill/>
          </a:ln>
        </p:spPr>
        <p:txBody>
          <a:bodyPr spcFirstLastPara="1" wrap="square" lIns="0" tIns="0" rIns="0" bIns="0" anchor="t" anchorCtr="0">
            <a:spAutoFit/>
          </a:bodyPr>
          <a:lstStyle/>
          <a:p>
            <a:pPr marL="0" marR="0" lvl="0" indent="0" algn="just" rtl="0">
              <a:lnSpc>
                <a:spcPct val="160018"/>
              </a:lnSpc>
              <a:spcBef>
                <a:spcPts val="0"/>
              </a:spcBef>
              <a:spcAft>
                <a:spcPts val="0"/>
              </a:spcAft>
              <a:buNone/>
            </a:pPr>
            <a:r>
              <a:rPr lang="en-US" sz="2156" b="1">
                <a:solidFill>
                  <a:srgbClr val="000000"/>
                </a:solidFill>
                <a:latin typeface="Arial"/>
                <a:ea typeface="Arial"/>
                <a:cs typeface="Arial"/>
                <a:sym typeface="Arial"/>
              </a:rPr>
              <a:t>Physical Data Independence</a:t>
            </a:r>
            <a:endParaRPr/>
          </a:p>
          <a:p>
            <a:pPr marL="404813" marR="0" lvl="1" indent="-202406" algn="just" rtl="0">
              <a:lnSpc>
                <a:spcPct val="16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Making changes to the physical schema without changing the logical schema is called physical data independence.</a:t>
            </a:r>
            <a:endParaRPr/>
          </a:p>
          <a:p>
            <a:pPr marL="404813" marR="0" lvl="1" indent="-202406" algn="just" rtl="0">
              <a:lnSpc>
                <a:spcPct val="16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If we change the storage size of the database system server, it will not affect the conceptual structure of the database.</a:t>
            </a:r>
            <a:endParaRPr/>
          </a:p>
          <a:p>
            <a:pPr marL="404813" marR="0" lvl="1" indent="-202406" algn="just" rtl="0">
              <a:lnSpc>
                <a:spcPct val="16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It is used to keep the conceptual level separate from the internal level.</a:t>
            </a:r>
            <a:endParaRPr/>
          </a:p>
          <a:p>
            <a:pPr marL="404813" marR="0" lvl="1" indent="-202406" algn="just" rtl="0">
              <a:lnSpc>
                <a:spcPct val="16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This happens at the logical interface level.</a:t>
            </a:r>
            <a:endParaRPr/>
          </a:p>
          <a:p>
            <a:pPr marL="404813" marR="0" lvl="1" indent="-202406" algn="just" rtl="0">
              <a:lnSpc>
                <a:spcPct val="16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Example – Changing the location of the database from C drive to D drive.</a:t>
            </a:r>
            <a:endParaRPr/>
          </a:p>
        </p:txBody>
      </p:sp>
      <p:sp>
        <p:nvSpPr>
          <p:cNvPr id="538" name="Google Shape;538;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39" name="Google Shape;53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grpSp>
        <p:nvGrpSpPr>
          <p:cNvPr id="548" name="Google Shape;548;p33"/>
          <p:cNvGrpSpPr/>
          <p:nvPr/>
        </p:nvGrpSpPr>
        <p:grpSpPr>
          <a:xfrm>
            <a:off x="1524000" y="6356604"/>
            <a:ext cx="9144000" cy="88404"/>
            <a:chOff x="0" y="0"/>
            <a:chExt cx="13004800" cy="125730"/>
          </a:xfrm>
        </p:grpSpPr>
        <p:sp>
          <p:nvSpPr>
            <p:cNvPr id="549" name="Google Shape;549;p3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50" name="Google Shape;550;p3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51" name="Google Shape;551;p33"/>
          <p:cNvSpPr/>
          <p:nvPr/>
        </p:nvSpPr>
        <p:spPr>
          <a:xfrm>
            <a:off x="2447172" y="1416401"/>
            <a:ext cx="7297658" cy="4570159"/>
          </a:xfrm>
          <a:custGeom>
            <a:avLst/>
            <a:gdLst/>
            <a:ahLst/>
            <a:cxnLst/>
            <a:rect l="l" t="t" r="r" b="b"/>
            <a:pathLst>
              <a:path w="7784169" h="4874836" extrusionOk="0">
                <a:moveTo>
                  <a:pt x="0" y="0"/>
                </a:moveTo>
                <a:lnTo>
                  <a:pt x="7784168" y="0"/>
                </a:lnTo>
                <a:lnTo>
                  <a:pt x="7784168" y="4874836"/>
                </a:lnTo>
                <a:lnTo>
                  <a:pt x="0" y="4874836"/>
                </a:lnTo>
                <a:lnTo>
                  <a:pt x="0" y="0"/>
                </a:lnTo>
                <a:close/>
              </a:path>
            </a:pathLst>
          </a:custGeom>
          <a:blipFill rotWithShape="1">
            <a:blip r:embed="rId3">
              <a:alphaModFix/>
            </a:blip>
            <a:stretch>
              <a:fillRect/>
            </a:stretch>
          </a:blipFill>
          <a:ln w="1905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2" name="Google Shape;552;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53" name="Google Shape;553;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grpSp>
        <p:nvGrpSpPr>
          <p:cNvPr id="562" name="Google Shape;562;p34"/>
          <p:cNvGrpSpPr/>
          <p:nvPr/>
        </p:nvGrpSpPr>
        <p:grpSpPr>
          <a:xfrm>
            <a:off x="1524000" y="6356604"/>
            <a:ext cx="9144000" cy="88404"/>
            <a:chOff x="0" y="0"/>
            <a:chExt cx="13004800" cy="125730"/>
          </a:xfrm>
        </p:grpSpPr>
        <p:sp>
          <p:nvSpPr>
            <p:cNvPr id="563" name="Google Shape;563;p3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64" name="Google Shape;564;p3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65" name="Google Shape;565;p34"/>
          <p:cNvSpPr txBox="1"/>
          <p:nvPr/>
        </p:nvSpPr>
        <p:spPr>
          <a:xfrm>
            <a:off x="2723353" y="659012"/>
            <a:ext cx="7258848"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DBA and Responsibilities of DBA</a:t>
            </a:r>
            <a:endParaRPr/>
          </a:p>
        </p:txBody>
      </p:sp>
      <p:sp>
        <p:nvSpPr>
          <p:cNvPr id="566" name="Google Shape;566;p34"/>
          <p:cNvSpPr txBox="1"/>
          <p:nvPr/>
        </p:nvSpPr>
        <p:spPr>
          <a:xfrm>
            <a:off x="2390732" y="1599010"/>
            <a:ext cx="7347394" cy="352045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A Database Administrator (DBA) is an individual or person responsible for controlling, maintaining, coordinating, and operating a database management system. Managing, securing, and taking care of the database systems is a prime responsibility. They are responsible and in charge of authorizing access to the database, coordinating, capacity, planning, installation, and monitoring uses, and acquiring and gathering software and hardware resources as and when needed. Their role also varies from configuration, database design, migration, security, troubleshooting, backup, and data recovery. Database administration is a major and key function in any firm or organization that is relying on one or more databases. They are overall commanders of the Database system.</a:t>
            </a:r>
            <a:endParaRPr/>
          </a:p>
        </p:txBody>
      </p:sp>
      <p:sp>
        <p:nvSpPr>
          <p:cNvPr id="567" name="Google Shape;567;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68" name="Google Shape;568;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grpSp>
        <p:nvGrpSpPr>
          <p:cNvPr id="577" name="Google Shape;577;p35"/>
          <p:cNvGrpSpPr/>
          <p:nvPr/>
        </p:nvGrpSpPr>
        <p:grpSpPr>
          <a:xfrm>
            <a:off x="1524000" y="6356604"/>
            <a:ext cx="9144000" cy="88404"/>
            <a:chOff x="0" y="0"/>
            <a:chExt cx="13004800" cy="125730"/>
          </a:xfrm>
        </p:grpSpPr>
        <p:sp>
          <p:nvSpPr>
            <p:cNvPr id="578" name="Google Shape;578;p3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79" name="Google Shape;579;p3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80" name="Google Shape;580;p35"/>
          <p:cNvSpPr txBox="1"/>
          <p:nvPr/>
        </p:nvSpPr>
        <p:spPr>
          <a:xfrm>
            <a:off x="1355465" y="1323228"/>
            <a:ext cx="9998336" cy="5549020"/>
          </a:xfrm>
          <a:prstGeom prst="rect">
            <a:avLst/>
          </a:prstGeom>
          <a:noFill/>
          <a:ln>
            <a:noFill/>
          </a:ln>
        </p:spPr>
        <p:txBody>
          <a:bodyPr spcFirstLastPara="1" wrap="square" lIns="0" tIns="0" rIns="0" bIns="0" anchor="t" anchorCtr="0">
            <a:spAutoFit/>
          </a:bodyPr>
          <a:lstStyle/>
          <a:p>
            <a:pPr marL="659608" marR="0" lvl="1" indent="-457200" algn="just" rtl="0">
              <a:lnSpc>
                <a:spcPct val="148025"/>
              </a:lnSpc>
              <a:spcBef>
                <a:spcPts val="0"/>
              </a:spcBef>
              <a:spcAft>
                <a:spcPts val="0"/>
              </a:spcAft>
              <a:buClr>
                <a:srgbClr val="000000"/>
              </a:buClr>
              <a:buSzPts val="1874"/>
              <a:buFont typeface="+mj-lt"/>
              <a:buAutoNum type="arabicPeriod"/>
            </a:pPr>
            <a:r>
              <a:rPr lang="en-US" sz="1874" b="1" i="0" u="none" strike="noStrike" cap="none" dirty="0">
                <a:solidFill>
                  <a:srgbClr val="000000"/>
                </a:solidFill>
                <a:latin typeface="Arial"/>
                <a:ea typeface="Arial"/>
                <a:cs typeface="Arial"/>
                <a:sym typeface="Arial"/>
              </a:rPr>
              <a:t>Database Design and Implementation:</a:t>
            </a:r>
            <a:endParaRPr dirty="0"/>
          </a:p>
          <a:p>
            <a:pPr marL="659608" marR="0" lvl="1" indent="-4572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Plan and design the database structure, ensuring it meets organizational requirements. </a:t>
            </a:r>
            <a:endParaRPr dirty="0"/>
          </a:p>
          <a:p>
            <a:pPr marL="659608" marR="0" lvl="1" indent="-4572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Create schemas, tables, and indexes for efficient data storage and access.</a:t>
            </a:r>
            <a:endParaRPr lang="en-US" dirty="0"/>
          </a:p>
          <a:p>
            <a:pPr marL="202408" lvl="1" algn="just">
              <a:lnSpc>
                <a:spcPct val="148025"/>
              </a:lnSpc>
              <a:buSzPts val="1874"/>
            </a:pPr>
            <a:r>
              <a:rPr lang="en-US" sz="1874" b="1" dirty="0"/>
              <a:t>2.    Database Security: </a:t>
            </a:r>
            <a:endParaRPr sz="1874" b="1" dirty="0"/>
          </a:p>
          <a:p>
            <a:pPr marL="659608" marR="0" lvl="1" indent="-4572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Set up user roles and permissions to restrict unauthorized access.</a:t>
            </a:r>
            <a:endParaRPr dirty="0"/>
          </a:p>
          <a:p>
            <a:pPr marL="659608" marR="0" lvl="1" indent="-4572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Monitor database activity for potential security breaches.</a:t>
            </a:r>
            <a:endParaRPr lang="en-US" i="0" u="none" strike="noStrike" cap="none" dirty="0">
              <a:solidFill>
                <a:srgbClr val="000000"/>
              </a:solidFill>
              <a:latin typeface="Arial"/>
              <a:ea typeface="Arial"/>
              <a:cs typeface="Arial"/>
              <a:sym typeface="Arial"/>
            </a:endParaRPr>
          </a:p>
          <a:p>
            <a:pPr marL="202408" lvl="1" algn="just">
              <a:lnSpc>
                <a:spcPct val="148025"/>
              </a:lnSpc>
              <a:buSzPts val="1874"/>
            </a:pPr>
            <a:r>
              <a:rPr lang="en-US" sz="1874" b="1" dirty="0"/>
              <a:t>3.    Backup and Recovery: </a:t>
            </a:r>
            <a:endParaRPr sz="1874" b="1" dirty="0"/>
          </a:p>
          <a:p>
            <a:pPr marL="659608" marR="0" lvl="1" indent="-4572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Implement regular data backups to prevent loss in case of failure.</a:t>
            </a:r>
            <a:endParaRPr dirty="0"/>
          </a:p>
          <a:p>
            <a:pPr marL="659608" marR="0" lvl="1" indent="-4572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Design and execute disaster recovery plans for quick restoration.</a:t>
            </a:r>
            <a:endParaRPr dirty="0"/>
          </a:p>
          <a:p>
            <a:pPr marL="202408" lvl="1" algn="just">
              <a:lnSpc>
                <a:spcPct val="148025"/>
              </a:lnSpc>
              <a:buSzPts val="1874"/>
            </a:pPr>
            <a:r>
              <a:rPr lang="en-US" sz="1874" b="1" dirty="0"/>
              <a:t>4.    Performance Monitoring and Tuning: </a:t>
            </a:r>
            <a:endParaRPr sz="1874" b="1" dirty="0"/>
          </a:p>
          <a:p>
            <a:pPr marL="545308" marR="0" lvl="1" indent="-342900" algn="just" rtl="0">
              <a:lnSpc>
                <a:spcPct val="148025"/>
              </a:lnSpc>
              <a:spcBef>
                <a:spcPts val="0"/>
              </a:spcBef>
              <a:spcAft>
                <a:spcPts val="0"/>
              </a:spcAft>
              <a:buClr>
                <a:srgbClr val="000000"/>
              </a:buClr>
              <a:buSzPts val="1874"/>
              <a:buFont typeface="Arial" panose="020B0604020202020204" pitchFamily="34" charset="0"/>
              <a:buChar char="•"/>
            </a:pPr>
            <a:r>
              <a:rPr lang="en-US" sz="1874" b="0" i="0" u="none" strike="noStrike" cap="none" dirty="0">
                <a:solidFill>
                  <a:srgbClr val="000000"/>
                </a:solidFill>
                <a:latin typeface="Arial"/>
                <a:ea typeface="Arial"/>
                <a:cs typeface="Arial"/>
                <a:sym typeface="Arial"/>
              </a:rPr>
              <a:t>Optimize database performance by fine-tuning queries, indexes, and storage mechanisms. </a:t>
            </a:r>
            <a:endParaRPr dirty="0"/>
          </a:p>
          <a:p>
            <a:pPr marL="0" marR="0" lvl="0" indent="0" algn="just" rtl="0">
              <a:lnSpc>
                <a:spcPct val="148025"/>
              </a:lnSpc>
              <a:spcBef>
                <a:spcPts val="0"/>
              </a:spcBef>
              <a:spcAft>
                <a:spcPts val="0"/>
              </a:spcAft>
              <a:buNone/>
            </a:pPr>
            <a:endParaRPr sz="1874" dirty="0">
              <a:solidFill>
                <a:srgbClr val="000000"/>
              </a:solidFill>
              <a:latin typeface="Arial"/>
              <a:ea typeface="Arial"/>
              <a:cs typeface="Arial"/>
              <a:sym typeface="Arial"/>
            </a:endParaRPr>
          </a:p>
        </p:txBody>
      </p:sp>
      <p:sp>
        <p:nvSpPr>
          <p:cNvPr id="581" name="Google Shape;581;p35"/>
          <p:cNvSpPr txBox="1"/>
          <p:nvPr/>
        </p:nvSpPr>
        <p:spPr>
          <a:xfrm>
            <a:off x="3182613" y="626948"/>
            <a:ext cx="7008160"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DBA and Responsibilities of DBA</a:t>
            </a:r>
            <a:endParaRPr/>
          </a:p>
        </p:txBody>
      </p:sp>
      <p:sp>
        <p:nvSpPr>
          <p:cNvPr id="582" name="Google Shape;582;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83" name="Google Shape;583;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grpSp>
        <p:nvGrpSpPr>
          <p:cNvPr id="592" name="Google Shape;592;p36"/>
          <p:cNvGrpSpPr/>
          <p:nvPr/>
        </p:nvGrpSpPr>
        <p:grpSpPr>
          <a:xfrm>
            <a:off x="1524000" y="6356604"/>
            <a:ext cx="9144000" cy="88404"/>
            <a:chOff x="0" y="0"/>
            <a:chExt cx="13004800" cy="125730"/>
          </a:xfrm>
        </p:grpSpPr>
        <p:sp>
          <p:nvSpPr>
            <p:cNvPr id="593" name="Google Shape;593;p3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594" name="Google Shape;594;p3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595" name="Google Shape;595;p36"/>
          <p:cNvSpPr txBox="1"/>
          <p:nvPr/>
        </p:nvSpPr>
        <p:spPr>
          <a:xfrm>
            <a:off x="3017450" y="659012"/>
            <a:ext cx="664034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DBA and Responsibilities of DBA</a:t>
            </a:r>
            <a:endParaRPr/>
          </a:p>
        </p:txBody>
      </p:sp>
      <p:sp>
        <p:nvSpPr>
          <p:cNvPr id="596" name="Google Shape;596;p36"/>
          <p:cNvSpPr txBox="1"/>
          <p:nvPr/>
        </p:nvSpPr>
        <p:spPr>
          <a:xfrm>
            <a:off x="1312432" y="1318022"/>
            <a:ext cx="10391887" cy="484748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t>5</a:t>
            </a:r>
            <a:r>
              <a:rPr lang="en-US" sz="1875" dirty="0">
                <a:solidFill>
                  <a:srgbClr val="000000"/>
                </a:solidFill>
                <a:latin typeface="Arial"/>
                <a:ea typeface="Arial"/>
                <a:cs typeface="Arial"/>
                <a:sym typeface="Arial"/>
              </a:rPr>
              <a:t>.</a:t>
            </a:r>
            <a:r>
              <a:rPr lang="en-US" sz="1875" b="1" dirty="0">
                <a:solidFill>
                  <a:srgbClr val="000000"/>
                </a:solidFill>
                <a:latin typeface="Arial"/>
                <a:ea typeface="Arial"/>
                <a:cs typeface="Arial"/>
                <a:sym typeface="Arial"/>
              </a:rPr>
              <a:t> Database Maintenance: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Perform regular updates to keep the system running smoothly.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Clean up outdated or unnecessary data to save storage.</a:t>
            </a:r>
            <a:endParaRPr dirty="0"/>
          </a:p>
          <a:p>
            <a:pPr marL="0" marR="0" lvl="0" indent="0" algn="just" rtl="0">
              <a:lnSpc>
                <a:spcPct val="120000"/>
              </a:lnSpc>
              <a:spcBef>
                <a:spcPts val="0"/>
              </a:spcBef>
              <a:spcAft>
                <a:spcPts val="0"/>
              </a:spcAft>
              <a:buNone/>
            </a:pPr>
            <a:r>
              <a:rPr lang="en-US" sz="1875" dirty="0"/>
              <a:t>6</a:t>
            </a:r>
            <a:r>
              <a:rPr lang="en-US" sz="1875" dirty="0">
                <a:solidFill>
                  <a:srgbClr val="000000"/>
                </a:solidFill>
                <a:latin typeface="Arial"/>
                <a:ea typeface="Arial"/>
                <a:cs typeface="Arial"/>
                <a:sym typeface="Arial"/>
              </a:rPr>
              <a:t>. </a:t>
            </a:r>
            <a:r>
              <a:rPr lang="en-US" sz="1875" b="1" dirty="0">
                <a:solidFill>
                  <a:srgbClr val="000000"/>
                </a:solidFill>
                <a:latin typeface="Arial"/>
                <a:ea typeface="Arial"/>
                <a:cs typeface="Arial"/>
                <a:sym typeface="Arial"/>
              </a:rPr>
              <a:t>Troubleshooting and Problem Resolution: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Diagnose and resolve database errors and performance issues.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Work with developers and IT staff to resolve database-related problems.</a:t>
            </a:r>
            <a:endParaRPr dirty="0"/>
          </a:p>
          <a:p>
            <a:pPr marL="0" marR="0" lvl="0" indent="0" algn="just" rtl="0">
              <a:lnSpc>
                <a:spcPct val="120000"/>
              </a:lnSpc>
              <a:spcBef>
                <a:spcPts val="0"/>
              </a:spcBef>
              <a:spcAft>
                <a:spcPts val="0"/>
              </a:spcAft>
              <a:buNone/>
            </a:pPr>
            <a:r>
              <a:rPr lang="en-US" sz="1875" dirty="0"/>
              <a:t>7</a:t>
            </a:r>
            <a:r>
              <a:rPr lang="en-US" sz="1875" dirty="0">
                <a:solidFill>
                  <a:srgbClr val="000000"/>
                </a:solidFill>
                <a:latin typeface="Arial"/>
                <a:ea typeface="Arial"/>
                <a:cs typeface="Arial"/>
                <a:sym typeface="Arial"/>
              </a:rPr>
              <a:t>. </a:t>
            </a:r>
            <a:r>
              <a:rPr lang="en-US" sz="1875" b="1" dirty="0">
                <a:solidFill>
                  <a:srgbClr val="000000"/>
                </a:solidFill>
                <a:latin typeface="Arial"/>
                <a:ea typeface="Arial"/>
                <a:cs typeface="Arial"/>
                <a:sym typeface="Arial"/>
              </a:rPr>
              <a:t>Database Upgrades and Migration: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Upgrade database systems to newer versions for improved features and security.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Migrate data during system transitions or upgrades.</a:t>
            </a:r>
            <a:endParaRPr dirty="0"/>
          </a:p>
          <a:p>
            <a:pPr marL="0" marR="0" lvl="0" indent="0" algn="just" rtl="0">
              <a:lnSpc>
                <a:spcPct val="120000"/>
              </a:lnSpc>
              <a:spcBef>
                <a:spcPts val="0"/>
              </a:spcBef>
              <a:spcAft>
                <a:spcPts val="0"/>
              </a:spcAft>
              <a:buNone/>
            </a:pPr>
            <a:r>
              <a:rPr lang="en-US" sz="1875" dirty="0"/>
              <a:t>8</a:t>
            </a:r>
            <a:r>
              <a:rPr lang="en-US" sz="1875" dirty="0">
                <a:solidFill>
                  <a:srgbClr val="000000"/>
                </a:solidFill>
                <a:latin typeface="Arial"/>
                <a:ea typeface="Arial"/>
                <a:cs typeface="Arial"/>
                <a:sym typeface="Arial"/>
              </a:rPr>
              <a:t>. </a:t>
            </a:r>
            <a:r>
              <a:rPr lang="en-US" sz="1875" b="1" dirty="0">
                <a:solidFill>
                  <a:srgbClr val="000000"/>
                </a:solidFill>
                <a:latin typeface="Arial"/>
                <a:ea typeface="Arial"/>
                <a:cs typeface="Arial"/>
                <a:sym typeface="Arial"/>
              </a:rPr>
              <a:t>User Support and Training:</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Assist users in writing efficient queries.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Provide training to staff on database operations and best practices.</a:t>
            </a:r>
            <a:endParaRPr dirty="0"/>
          </a:p>
          <a:p>
            <a:pPr marL="0" marR="0" lvl="0" indent="0" algn="just" rtl="0">
              <a:lnSpc>
                <a:spcPct val="120000"/>
              </a:lnSpc>
              <a:spcBef>
                <a:spcPts val="0"/>
              </a:spcBef>
              <a:spcAft>
                <a:spcPts val="0"/>
              </a:spcAft>
              <a:buNone/>
            </a:pPr>
            <a:r>
              <a:rPr lang="en-US" sz="1875" dirty="0"/>
              <a:t>9</a:t>
            </a:r>
            <a:r>
              <a:rPr lang="en-US" sz="1875" dirty="0">
                <a:solidFill>
                  <a:srgbClr val="000000"/>
                </a:solidFill>
                <a:latin typeface="Arial"/>
                <a:ea typeface="Arial"/>
                <a:cs typeface="Arial"/>
                <a:sym typeface="Arial"/>
              </a:rPr>
              <a:t>. </a:t>
            </a:r>
            <a:r>
              <a:rPr lang="en-US" sz="1875" b="1" dirty="0">
                <a:solidFill>
                  <a:srgbClr val="000000"/>
                </a:solidFill>
                <a:latin typeface="Arial"/>
                <a:ea typeface="Arial"/>
                <a:cs typeface="Arial"/>
                <a:sym typeface="Arial"/>
              </a:rPr>
              <a:t>Data Integrity: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Enforce constraints to ensure accuracy, consistency, and validity of stored data.</a:t>
            </a:r>
            <a:endParaRPr dirty="0"/>
          </a:p>
        </p:txBody>
      </p:sp>
      <p:sp>
        <p:nvSpPr>
          <p:cNvPr id="597" name="Google Shape;59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598" name="Google Shape;59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grpSp>
        <p:nvGrpSpPr>
          <p:cNvPr id="607" name="Google Shape;607;p37"/>
          <p:cNvGrpSpPr/>
          <p:nvPr/>
        </p:nvGrpSpPr>
        <p:grpSpPr>
          <a:xfrm>
            <a:off x="1524000" y="6356604"/>
            <a:ext cx="9144000" cy="88404"/>
            <a:chOff x="0" y="0"/>
            <a:chExt cx="13004800" cy="125730"/>
          </a:xfrm>
        </p:grpSpPr>
        <p:sp>
          <p:nvSpPr>
            <p:cNvPr id="608" name="Google Shape;608;p3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09" name="Google Shape;609;p3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10" name="Google Shape;610;p37"/>
          <p:cNvSpPr/>
          <p:nvPr/>
        </p:nvSpPr>
        <p:spPr>
          <a:xfrm>
            <a:off x="5923876" y="2522838"/>
            <a:ext cx="4744505" cy="3098590"/>
          </a:xfrm>
          <a:custGeom>
            <a:avLst/>
            <a:gdLst/>
            <a:ahLst/>
            <a:cxnLst/>
            <a:rect l="l" t="t" r="r" b="b"/>
            <a:pathLst>
              <a:path w="5060805" h="3305163" extrusionOk="0">
                <a:moveTo>
                  <a:pt x="0" y="0"/>
                </a:moveTo>
                <a:lnTo>
                  <a:pt x="5060805" y="0"/>
                </a:lnTo>
                <a:lnTo>
                  <a:pt x="5060805" y="3305163"/>
                </a:lnTo>
                <a:lnTo>
                  <a:pt x="0" y="3305163"/>
                </a:lnTo>
                <a:lnTo>
                  <a:pt x="0" y="0"/>
                </a:lnTo>
                <a:close/>
              </a:path>
            </a:pathLst>
          </a:custGeom>
          <a:blipFill rotWithShape="1">
            <a:blip r:embed="rId3">
              <a:alphaModFix/>
            </a:blip>
            <a:stretch>
              <a:fillRect l="-3036"/>
            </a:stretch>
          </a:blipFill>
          <a:ln>
            <a:noFill/>
          </a:ln>
        </p:spPr>
      </p:sp>
      <p:sp>
        <p:nvSpPr>
          <p:cNvPr id="611" name="Google Shape;611;p37"/>
          <p:cNvSpPr txBox="1"/>
          <p:nvPr/>
        </p:nvSpPr>
        <p:spPr>
          <a:xfrm>
            <a:off x="3875092" y="659012"/>
            <a:ext cx="5645191"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Relational Data Structure</a:t>
            </a:r>
            <a:endParaRPr/>
          </a:p>
        </p:txBody>
      </p:sp>
      <p:sp>
        <p:nvSpPr>
          <p:cNvPr id="612" name="Google Shape;612;p37"/>
          <p:cNvSpPr txBox="1"/>
          <p:nvPr/>
        </p:nvSpPr>
        <p:spPr>
          <a:xfrm>
            <a:off x="1867661" y="1361977"/>
            <a:ext cx="8800339"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The relational data structure is the backbone of the Relational Database Management System (RDBMS). It organizes data into tables (relations) with rows and columns, making it easier to store, access, and manipulate data.</a:t>
            </a:r>
            <a:endParaRPr/>
          </a:p>
        </p:txBody>
      </p:sp>
      <p:sp>
        <p:nvSpPr>
          <p:cNvPr id="613" name="Google Shape;613;p37"/>
          <p:cNvSpPr txBox="1"/>
          <p:nvPr/>
        </p:nvSpPr>
        <p:spPr>
          <a:xfrm>
            <a:off x="1867662" y="2513907"/>
            <a:ext cx="3848553" cy="322549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Key Components of Relational Data Structure:</a:t>
            </a:r>
            <a:endParaRPr/>
          </a:p>
          <a:p>
            <a:pPr marL="0" marR="0" lvl="0" indent="0" algn="just" rtl="0">
              <a:lnSpc>
                <a:spcPct val="120000"/>
              </a:lnSpc>
              <a:spcBef>
                <a:spcPts val="0"/>
              </a:spcBef>
              <a:spcAft>
                <a:spcPts val="0"/>
              </a:spcAft>
              <a:buNone/>
            </a:pPr>
            <a:endParaRPr sz="1875" b="1">
              <a:solidFill>
                <a:srgbClr val="000000"/>
              </a:solidFill>
              <a:latin typeface="Arial"/>
              <a:ea typeface="Arial"/>
              <a:cs typeface="Arial"/>
              <a:sym typeface="Arial"/>
            </a:endParaRPr>
          </a:p>
          <a:p>
            <a:pPr marL="404813" marR="0" lvl="1" indent="-202406" algn="just" rtl="0">
              <a:lnSpc>
                <a:spcPct val="120000"/>
              </a:lnSpc>
              <a:spcBef>
                <a:spcPts val="0"/>
              </a:spcBef>
              <a:spcAft>
                <a:spcPts val="0"/>
              </a:spcAft>
              <a:buClr>
                <a:srgbClr val="000000"/>
              </a:buClr>
              <a:buSzPts val="1875"/>
              <a:buFont typeface="Arial"/>
              <a:buAutoNum type="arabicPeriod"/>
            </a:pPr>
            <a:r>
              <a:rPr lang="en-US" sz="1875" b="1" i="0" u="none" strike="noStrike" cap="none">
                <a:solidFill>
                  <a:srgbClr val="000000"/>
                </a:solidFill>
                <a:latin typeface="Arial"/>
                <a:ea typeface="Arial"/>
                <a:cs typeface="Arial"/>
                <a:sym typeface="Arial"/>
              </a:rPr>
              <a:t>Relation (Table):</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A relation is a two-dimensional structure consisting of rows (tuples) and columns (attributes).</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Represents an entity or object, such as Students, Employees, or Products</a:t>
            </a:r>
            <a:endParaRPr/>
          </a:p>
        </p:txBody>
      </p:sp>
      <p:sp>
        <p:nvSpPr>
          <p:cNvPr id="614" name="Google Shape;61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615" name="Google Shape;61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23"/>
        <p:cNvGrpSpPr/>
        <p:nvPr/>
      </p:nvGrpSpPr>
      <p:grpSpPr>
        <a:xfrm>
          <a:off x="0" y="0"/>
          <a:ext cx="0" cy="0"/>
          <a:chOff x="0" y="0"/>
          <a:chExt cx="0" cy="0"/>
        </a:xfrm>
      </p:grpSpPr>
      <p:grpSp>
        <p:nvGrpSpPr>
          <p:cNvPr id="624" name="Google Shape;624;p38"/>
          <p:cNvGrpSpPr/>
          <p:nvPr/>
        </p:nvGrpSpPr>
        <p:grpSpPr>
          <a:xfrm>
            <a:off x="1524000" y="6356604"/>
            <a:ext cx="9144000" cy="88404"/>
            <a:chOff x="0" y="0"/>
            <a:chExt cx="13004800" cy="125730"/>
          </a:xfrm>
        </p:grpSpPr>
        <p:sp>
          <p:nvSpPr>
            <p:cNvPr id="625" name="Google Shape;625;p3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26" name="Google Shape;626;p3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27" name="Google Shape;627;p38"/>
          <p:cNvSpPr/>
          <p:nvPr/>
        </p:nvSpPr>
        <p:spPr>
          <a:xfrm>
            <a:off x="6067542" y="2089626"/>
            <a:ext cx="4744505" cy="3098590"/>
          </a:xfrm>
          <a:custGeom>
            <a:avLst/>
            <a:gdLst/>
            <a:ahLst/>
            <a:cxnLst/>
            <a:rect l="l" t="t" r="r" b="b"/>
            <a:pathLst>
              <a:path w="5060805" h="3305163" extrusionOk="0">
                <a:moveTo>
                  <a:pt x="0" y="0"/>
                </a:moveTo>
                <a:lnTo>
                  <a:pt x="5060806" y="0"/>
                </a:lnTo>
                <a:lnTo>
                  <a:pt x="5060806" y="3305163"/>
                </a:lnTo>
                <a:lnTo>
                  <a:pt x="0" y="3305163"/>
                </a:lnTo>
                <a:lnTo>
                  <a:pt x="0" y="0"/>
                </a:lnTo>
                <a:close/>
              </a:path>
            </a:pathLst>
          </a:custGeom>
          <a:blipFill rotWithShape="1">
            <a:blip r:embed="rId3">
              <a:alphaModFix/>
            </a:blip>
            <a:stretch>
              <a:fillRect l="-3036"/>
            </a:stretch>
          </a:blipFill>
          <a:ln>
            <a:noFill/>
          </a:ln>
        </p:spPr>
      </p:sp>
      <p:sp>
        <p:nvSpPr>
          <p:cNvPr id="628" name="Google Shape;628;p38"/>
          <p:cNvSpPr txBox="1"/>
          <p:nvPr/>
        </p:nvSpPr>
        <p:spPr>
          <a:xfrm>
            <a:off x="3875092" y="659012"/>
            <a:ext cx="5645191"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Relational Data Structure</a:t>
            </a:r>
            <a:endParaRPr/>
          </a:p>
        </p:txBody>
      </p:sp>
      <p:sp>
        <p:nvSpPr>
          <p:cNvPr id="629" name="Google Shape;629;p38"/>
          <p:cNvSpPr txBox="1"/>
          <p:nvPr/>
        </p:nvSpPr>
        <p:spPr>
          <a:xfrm>
            <a:off x="1681645" y="1634728"/>
            <a:ext cx="3922736" cy="173124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mo"/>
                <a:ea typeface="Arimo"/>
                <a:cs typeface="Arimo"/>
                <a:sym typeface="Arimo"/>
              </a:rPr>
              <a:t>2. Tuple (Row):</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i="0" u="none" strike="noStrike" cap="none" dirty="0">
                <a:solidFill>
                  <a:srgbClr val="000000"/>
                </a:solidFill>
                <a:latin typeface="+mj-lt"/>
                <a:ea typeface="Arimo"/>
                <a:cs typeface="Arimo"/>
                <a:sym typeface="Arimo"/>
              </a:rPr>
              <a:t>Each row in a table is called a tuple.</a:t>
            </a:r>
            <a:endParaRPr dirty="0">
              <a:latin typeface="+mj-lt"/>
            </a:endParaRPr>
          </a:p>
          <a:p>
            <a:pPr marL="404813" marR="0" lvl="1" indent="-202406" algn="just" rtl="0">
              <a:lnSpc>
                <a:spcPct val="120000"/>
              </a:lnSpc>
              <a:spcBef>
                <a:spcPts val="0"/>
              </a:spcBef>
              <a:spcAft>
                <a:spcPts val="0"/>
              </a:spcAft>
              <a:buClr>
                <a:srgbClr val="000000"/>
              </a:buClr>
              <a:buSzPts val="1875"/>
              <a:buFont typeface="Arial"/>
              <a:buChar char="•"/>
            </a:pPr>
            <a:r>
              <a:rPr lang="en-US" sz="1875" i="0" u="none" strike="noStrike" cap="none" dirty="0">
                <a:solidFill>
                  <a:srgbClr val="000000"/>
                </a:solidFill>
                <a:latin typeface="+mj-lt"/>
                <a:ea typeface="Arimo"/>
                <a:cs typeface="Arimo"/>
                <a:sym typeface="Arimo"/>
              </a:rPr>
              <a:t>Represents a single record or instance of an entity.</a:t>
            </a:r>
            <a:endParaRPr dirty="0">
              <a:latin typeface="+mj-lt"/>
            </a:endParaRPr>
          </a:p>
        </p:txBody>
      </p:sp>
      <p:sp>
        <p:nvSpPr>
          <p:cNvPr id="630" name="Google Shape;630;p38"/>
          <p:cNvSpPr txBox="1"/>
          <p:nvPr/>
        </p:nvSpPr>
        <p:spPr>
          <a:xfrm>
            <a:off x="1681645" y="3299254"/>
            <a:ext cx="3922736" cy="346248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mo"/>
                <a:ea typeface="Arimo"/>
                <a:cs typeface="Arimo"/>
                <a:sym typeface="Arimo"/>
              </a:rPr>
              <a:t>3. Attribute (Column):</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Represents a single record or instance of an entity.</a:t>
            </a:r>
            <a:endParaRPr lang="en-US" dirty="0">
              <a:latin typeface="+mj-lt"/>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an attribute.</a:t>
            </a:r>
            <a:endParaRPr lang="en-US" dirty="0">
              <a:latin typeface="+mj-lt"/>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Represents a property or characteristic of the entity.</a:t>
            </a:r>
            <a:endParaRPr lang="en-US" dirty="0">
              <a:latin typeface="+mj-lt"/>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Example: </a:t>
            </a:r>
            <a:r>
              <a:rPr lang="en-US" sz="1875" b="0" i="0" u="none" strike="noStrike" cap="none" dirty="0" err="1">
                <a:solidFill>
                  <a:srgbClr val="000000"/>
                </a:solidFill>
                <a:latin typeface="+mj-lt"/>
                <a:ea typeface="Arimo"/>
                <a:cs typeface="Arimo"/>
                <a:sym typeface="Arimo"/>
              </a:rPr>
              <a:t>SName</a:t>
            </a:r>
            <a:r>
              <a:rPr lang="en-US" sz="1875" b="0" i="0" u="none" strike="noStrike" cap="none" dirty="0">
                <a:solidFill>
                  <a:srgbClr val="000000"/>
                </a:solidFill>
                <a:latin typeface="+mj-lt"/>
                <a:ea typeface="Arimo"/>
                <a:cs typeface="Arimo"/>
                <a:sym typeface="Arimo"/>
              </a:rPr>
              <a:t>, </a:t>
            </a:r>
            <a:r>
              <a:rPr lang="en-US" sz="1875" b="0" i="0" u="none" strike="noStrike" cap="none" dirty="0" err="1">
                <a:solidFill>
                  <a:srgbClr val="000000"/>
                </a:solidFill>
                <a:latin typeface="+mj-lt"/>
                <a:ea typeface="Arimo"/>
                <a:cs typeface="Arimo"/>
                <a:sym typeface="Arimo"/>
              </a:rPr>
              <a:t>SAge</a:t>
            </a:r>
            <a:r>
              <a:rPr lang="en-US" sz="1875" b="0" i="0" u="none" strike="noStrike" cap="none" dirty="0">
                <a:solidFill>
                  <a:srgbClr val="000000"/>
                </a:solidFill>
                <a:latin typeface="+mj-lt"/>
                <a:ea typeface="Arimo"/>
                <a:cs typeface="Arimo"/>
                <a:sym typeface="Arimo"/>
              </a:rPr>
              <a:t>, </a:t>
            </a:r>
            <a:r>
              <a:rPr lang="en-US" sz="1875" b="0" i="0" u="none" strike="noStrike" cap="none" dirty="0" err="1">
                <a:solidFill>
                  <a:srgbClr val="000000"/>
                </a:solidFill>
                <a:latin typeface="+mj-lt"/>
                <a:ea typeface="Arimo"/>
                <a:cs typeface="Arimo"/>
                <a:sym typeface="Arimo"/>
              </a:rPr>
              <a:t>SClass</a:t>
            </a:r>
            <a:r>
              <a:rPr lang="en-US" sz="1875" b="0" i="0" u="none" strike="noStrike" cap="none" dirty="0">
                <a:solidFill>
                  <a:srgbClr val="000000"/>
                </a:solidFill>
                <a:latin typeface="+mj-lt"/>
                <a:ea typeface="Arimo"/>
                <a:cs typeface="Arimo"/>
                <a:sym typeface="Arimo"/>
              </a:rPr>
              <a:t> and </a:t>
            </a:r>
            <a:r>
              <a:rPr lang="en-US" sz="1875" b="0" i="0" u="none" strike="noStrike" cap="none" dirty="0" err="1">
                <a:solidFill>
                  <a:srgbClr val="000000"/>
                </a:solidFill>
                <a:latin typeface="+mj-lt"/>
                <a:ea typeface="Arimo"/>
                <a:cs typeface="Arimo"/>
                <a:sym typeface="Arimo"/>
              </a:rPr>
              <a:t>SSection</a:t>
            </a:r>
            <a:r>
              <a:rPr lang="en-US" sz="1875" b="0" i="0" u="none" strike="noStrike" cap="none" dirty="0">
                <a:solidFill>
                  <a:srgbClr val="000000"/>
                </a:solidFill>
                <a:latin typeface="+mj-lt"/>
                <a:ea typeface="Arimo"/>
                <a:cs typeface="Arimo"/>
                <a:sym typeface="Arimo"/>
              </a:rPr>
              <a:t> are attributes of the Student entity.</a:t>
            </a:r>
            <a:endParaRPr lang="en-US" dirty="0">
              <a:latin typeface="+mj-lt"/>
            </a:endParaRPr>
          </a:p>
          <a:p>
            <a:pPr marL="0" marR="0" lvl="0" indent="0" algn="just" rtl="0">
              <a:lnSpc>
                <a:spcPct val="120000"/>
              </a:lnSpc>
              <a:spcBef>
                <a:spcPts val="0"/>
              </a:spcBef>
              <a:spcAft>
                <a:spcPts val="0"/>
              </a:spcAft>
              <a:buNone/>
            </a:pPr>
            <a:endParaRPr sz="1875" dirty="0">
              <a:solidFill>
                <a:srgbClr val="000000"/>
              </a:solidFill>
              <a:latin typeface="Arimo"/>
              <a:ea typeface="Arimo"/>
              <a:cs typeface="Arimo"/>
              <a:sym typeface="Arimo"/>
            </a:endParaRPr>
          </a:p>
        </p:txBody>
      </p:sp>
      <p:sp>
        <p:nvSpPr>
          <p:cNvPr id="631" name="Google Shape;631;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12/24/2024</a:t>
            </a:r>
            <a:endParaRPr dirty="0"/>
          </a:p>
        </p:txBody>
      </p:sp>
      <p:sp>
        <p:nvSpPr>
          <p:cNvPr id="632" name="Google Shape;632;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grpSp>
        <p:nvGrpSpPr>
          <p:cNvPr id="641" name="Google Shape;641;p39"/>
          <p:cNvGrpSpPr/>
          <p:nvPr/>
        </p:nvGrpSpPr>
        <p:grpSpPr>
          <a:xfrm>
            <a:off x="1524000" y="6356604"/>
            <a:ext cx="9144000" cy="88404"/>
            <a:chOff x="0" y="0"/>
            <a:chExt cx="13004800" cy="125730"/>
          </a:xfrm>
        </p:grpSpPr>
        <p:sp>
          <p:nvSpPr>
            <p:cNvPr id="642" name="Google Shape;642;p3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43" name="Google Shape;643;p3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44" name="Google Shape;644;p39"/>
          <p:cNvSpPr/>
          <p:nvPr/>
        </p:nvSpPr>
        <p:spPr>
          <a:xfrm>
            <a:off x="6554762" y="2089626"/>
            <a:ext cx="4837586" cy="3098590"/>
          </a:xfrm>
          <a:custGeom>
            <a:avLst/>
            <a:gdLst/>
            <a:ahLst/>
            <a:cxnLst/>
            <a:rect l="l" t="t" r="r" b="b"/>
            <a:pathLst>
              <a:path w="5060805" h="3305163" extrusionOk="0">
                <a:moveTo>
                  <a:pt x="0" y="0"/>
                </a:moveTo>
                <a:lnTo>
                  <a:pt x="5060806" y="0"/>
                </a:lnTo>
                <a:lnTo>
                  <a:pt x="5060806" y="3305163"/>
                </a:lnTo>
                <a:lnTo>
                  <a:pt x="0" y="3305163"/>
                </a:lnTo>
                <a:lnTo>
                  <a:pt x="0" y="0"/>
                </a:lnTo>
                <a:close/>
              </a:path>
            </a:pathLst>
          </a:custGeom>
          <a:blipFill rotWithShape="1">
            <a:blip r:embed="rId3">
              <a:alphaModFix/>
            </a:blip>
            <a:stretch>
              <a:fillRect l="-3036"/>
            </a:stretch>
          </a:blipFill>
          <a:ln>
            <a:noFill/>
          </a:ln>
        </p:spPr>
      </p:sp>
      <p:sp>
        <p:nvSpPr>
          <p:cNvPr id="645" name="Google Shape;645;p39"/>
          <p:cNvSpPr txBox="1"/>
          <p:nvPr/>
        </p:nvSpPr>
        <p:spPr>
          <a:xfrm>
            <a:off x="3875092" y="659012"/>
            <a:ext cx="5645191"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Relational Data Structure</a:t>
            </a:r>
            <a:endParaRPr/>
          </a:p>
        </p:txBody>
      </p:sp>
      <p:sp>
        <p:nvSpPr>
          <p:cNvPr id="646" name="Google Shape;646;p39"/>
          <p:cNvSpPr txBox="1"/>
          <p:nvPr/>
        </p:nvSpPr>
        <p:spPr>
          <a:xfrm>
            <a:off x="1911406" y="1224758"/>
            <a:ext cx="4184594" cy="346248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mo"/>
                <a:ea typeface="Arimo"/>
                <a:cs typeface="Arimo"/>
                <a:sym typeface="Arimo"/>
              </a:rPr>
              <a:t>4. Schema:</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The structure of a relation, including the table name, attributes, and their data types.</a:t>
            </a:r>
            <a:endParaRPr dirty="0">
              <a:latin typeface="+mj-lt"/>
            </a:endParaRPr>
          </a:p>
          <a:p>
            <a:pPr marL="202407" marR="0" lvl="1" algn="just" rtl="0">
              <a:lnSpc>
                <a:spcPct val="120000"/>
              </a:lnSpc>
              <a:spcBef>
                <a:spcPts val="0"/>
              </a:spcBef>
              <a:spcAft>
                <a:spcPts val="0"/>
              </a:spcAft>
              <a:buClr>
                <a:srgbClr val="000000"/>
              </a:buClr>
              <a:buSzPts val="1875"/>
            </a:pPr>
            <a:r>
              <a:rPr lang="en-US" sz="1875" b="0" i="0" u="none" strike="noStrike" cap="none" dirty="0">
                <a:solidFill>
                  <a:srgbClr val="000000"/>
                </a:solidFill>
                <a:latin typeface="+mj-lt"/>
                <a:ea typeface="Arimo"/>
                <a:cs typeface="Arimo"/>
                <a:sym typeface="Arimo"/>
              </a:rPr>
              <a:t>   Example:</a:t>
            </a:r>
            <a:endParaRPr dirty="0">
              <a:latin typeface="+mj-lt"/>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Schema of Student: Student(</a:t>
            </a:r>
            <a:r>
              <a:rPr lang="en-US" sz="1875" b="0" i="0" u="none" strike="noStrike" cap="none" dirty="0" err="1">
                <a:solidFill>
                  <a:srgbClr val="000000"/>
                </a:solidFill>
                <a:latin typeface="+mj-lt"/>
                <a:ea typeface="Arimo"/>
                <a:cs typeface="Arimo"/>
                <a:sym typeface="Arimo"/>
              </a:rPr>
              <a:t>StudentID</a:t>
            </a:r>
            <a:r>
              <a:rPr lang="en-US" sz="1875" b="0" i="0" u="none" strike="noStrike" cap="none" dirty="0">
                <a:solidFill>
                  <a:srgbClr val="000000"/>
                </a:solidFill>
                <a:latin typeface="+mj-lt"/>
                <a:ea typeface="Arimo"/>
                <a:cs typeface="Arimo"/>
                <a:sym typeface="Arimo"/>
              </a:rPr>
              <a:t>: INT, Name: VARCHAR, Age: INT, Course: VARCHAR)</a:t>
            </a:r>
            <a:endParaRPr dirty="0">
              <a:latin typeface="+mj-lt"/>
            </a:endParaRPr>
          </a:p>
          <a:p>
            <a:pPr marL="0" marR="0" lvl="0" indent="0" algn="just" rtl="0">
              <a:lnSpc>
                <a:spcPct val="120000"/>
              </a:lnSpc>
              <a:spcBef>
                <a:spcPts val="0"/>
              </a:spcBef>
              <a:spcAft>
                <a:spcPts val="0"/>
              </a:spcAft>
              <a:buNone/>
            </a:pPr>
            <a:endParaRPr sz="1875" dirty="0">
              <a:solidFill>
                <a:srgbClr val="000000"/>
              </a:solidFill>
              <a:latin typeface="Arimo"/>
              <a:ea typeface="Arimo"/>
              <a:cs typeface="Arimo"/>
              <a:sym typeface="Arimo"/>
            </a:endParaRPr>
          </a:p>
        </p:txBody>
      </p:sp>
      <p:sp>
        <p:nvSpPr>
          <p:cNvPr id="647" name="Google Shape;647;p39"/>
          <p:cNvSpPr txBox="1"/>
          <p:nvPr/>
        </p:nvSpPr>
        <p:spPr>
          <a:xfrm>
            <a:off x="1911406" y="4316043"/>
            <a:ext cx="4184594" cy="207749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mo"/>
                <a:ea typeface="Arimo"/>
                <a:cs typeface="Arimo"/>
                <a:sym typeface="Arimo"/>
              </a:rPr>
              <a:t>5. Instance: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A snapshot of the data in a relation at a specific point in time.</a:t>
            </a:r>
            <a:endParaRPr dirty="0">
              <a:latin typeface="+mj-lt"/>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mj-lt"/>
                <a:ea typeface="Arimo"/>
                <a:cs typeface="Arimo"/>
                <a:sym typeface="Arimo"/>
              </a:rPr>
              <a:t>Example: The current data in the Student table is an instance of the relation.</a:t>
            </a:r>
            <a:endParaRPr dirty="0">
              <a:latin typeface="+mj-lt"/>
            </a:endParaRPr>
          </a:p>
        </p:txBody>
      </p:sp>
      <p:sp>
        <p:nvSpPr>
          <p:cNvPr id="648" name="Google Shape;64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649" name="Google Shape;64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grpSp>
        <p:nvGrpSpPr>
          <p:cNvPr id="658" name="Google Shape;658;p40"/>
          <p:cNvGrpSpPr/>
          <p:nvPr/>
        </p:nvGrpSpPr>
        <p:grpSpPr>
          <a:xfrm>
            <a:off x="1524000" y="6356604"/>
            <a:ext cx="9144000" cy="88404"/>
            <a:chOff x="0" y="0"/>
            <a:chExt cx="13004800" cy="125730"/>
          </a:xfrm>
        </p:grpSpPr>
        <p:sp>
          <p:nvSpPr>
            <p:cNvPr id="659" name="Google Shape;659;p4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60" name="Google Shape;660;p4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61" name="Google Shape;661;p40"/>
          <p:cNvSpPr/>
          <p:nvPr/>
        </p:nvSpPr>
        <p:spPr>
          <a:xfrm>
            <a:off x="4413495" y="2682919"/>
            <a:ext cx="6145166" cy="3072583"/>
          </a:xfrm>
          <a:custGeom>
            <a:avLst/>
            <a:gdLst/>
            <a:ahLst/>
            <a:cxnLst/>
            <a:rect l="l" t="t" r="r" b="b"/>
            <a:pathLst>
              <a:path w="6554844" h="3277422" extrusionOk="0">
                <a:moveTo>
                  <a:pt x="0" y="0"/>
                </a:moveTo>
                <a:lnTo>
                  <a:pt x="6554845" y="0"/>
                </a:lnTo>
                <a:lnTo>
                  <a:pt x="6554845" y="3277422"/>
                </a:lnTo>
                <a:lnTo>
                  <a:pt x="0" y="3277422"/>
                </a:lnTo>
                <a:lnTo>
                  <a:pt x="0" y="0"/>
                </a:lnTo>
                <a:close/>
              </a:path>
            </a:pathLst>
          </a:custGeom>
          <a:blipFill rotWithShape="1">
            <a:blip r:embed="rId3">
              <a:alphaModFix/>
            </a:blip>
            <a:stretch>
              <a:fillRect/>
            </a:stretch>
          </a:blipFill>
          <a:ln>
            <a:noFill/>
          </a:ln>
        </p:spPr>
      </p:sp>
      <p:sp>
        <p:nvSpPr>
          <p:cNvPr id="662" name="Google Shape;662;p40"/>
          <p:cNvSpPr txBox="1"/>
          <p:nvPr/>
        </p:nvSpPr>
        <p:spPr>
          <a:xfrm>
            <a:off x="4766200" y="659012"/>
            <a:ext cx="3684293"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663" name="Google Shape;663;p40"/>
          <p:cNvSpPr txBox="1"/>
          <p:nvPr/>
        </p:nvSpPr>
        <p:spPr>
          <a:xfrm>
            <a:off x="2040919" y="1545431"/>
            <a:ext cx="7809792"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Keys are attributes or sets of attributes that help identify a record (or tuple) uniquely in a database table. They ensure data integrity and establish relationships between tables.</a:t>
            </a:r>
            <a:endParaRPr/>
          </a:p>
        </p:txBody>
      </p:sp>
      <p:sp>
        <p:nvSpPr>
          <p:cNvPr id="664" name="Google Shape;664;p40"/>
          <p:cNvSpPr txBox="1"/>
          <p:nvPr/>
        </p:nvSpPr>
        <p:spPr>
          <a:xfrm>
            <a:off x="2040919" y="2638271"/>
            <a:ext cx="4115367" cy="234064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a:solidFill>
                  <a:srgbClr val="000000"/>
                </a:solidFill>
                <a:latin typeface="Arial"/>
                <a:ea typeface="Arial"/>
                <a:cs typeface="Arial"/>
                <a:sym typeface="Arial"/>
              </a:rPr>
              <a:t>Different Types of Database Keys</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Candidate Key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Primary Key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Super Key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Alternate Key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Foreign Key</a:t>
            </a:r>
            <a:endParaRPr/>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a:solidFill>
                  <a:srgbClr val="000000"/>
                </a:solidFill>
                <a:latin typeface="Arial"/>
                <a:ea typeface="Arial"/>
                <a:cs typeface="Arial"/>
                <a:sym typeface="Arial"/>
              </a:rPr>
              <a:t>Composite Key</a:t>
            </a:r>
            <a:endParaRPr/>
          </a:p>
          <a:p>
            <a:pPr marL="0" marR="0" lvl="0" indent="0" algn="just" rtl="0">
              <a:lnSpc>
                <a:spcPct val="120000"/>
              </a:lnSpc>
              <a:spcBef>
                <a:spcPts val="0"/>
              </a:spcBef>
              <a:spcAft>
                <a:spcPts val="0"/>
              </a:spcAft>
              <a:buNone/>
            </a:pPr>
            <a:endParaRPr sz="1875">
              <a:solidFill>
                <a:srgbClr val="000000"/>
              </a:solidFill>
              <a:latin typeface="Arial"/>
              <a:ea typeface="Arial"/>
              <a:cs typeface="Arial"/>
              <a:sym typeface="Arial"/>
            </a:endParaRPr>
          </a:p>
        </p:txBody>
      </p:sp>
      <p:sp>
        <p:nvSpPr>
          <p:cNvPr id="665" name="Google Shape;665;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666" name="Google Shape;666;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grpSp>
        <p:nvGrpSpPr>
          <p:cNvPr id="675" name="Google Shape;675;p41"/>
          <p:cNvGrpSpPr/>
          <p:nvPr/>
        </p:nvGrpSpPr>
        <p:grpSpPr>
          <a:xfrm>
            <a:off x="1524000" y="6356604"/>
            <a:ext cx="9144000" cy="88404"/>
            <a:chOff x="0" y="0"/>
            <a:chExt cx="13004800" cy="125730"/>
          </a:xfrm>
        </p:grpSpPr>
        <p:sp>
          <p:nvSpPr>
            <p:cNvPr id="676" name="Google Shape;676;p4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77" name="Google Shape;677;p4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78" name="Google Shape;678;p41"/>
          <p:cNvSpPr/>
          <p:nvPr/>
        </p:nvSpPr>
        <p:spPr>
          <a:xfrm>
            <a:off x="6809591" y="4004400"/>
            <a:ext cx="4688451" cy="2334269"/>
          </a:xfrm>
          <a:custGeom>
            <a:avLst/>
            <a:gdLst/>
            <a:ahLst/>
            <a:cxnLst/>
            <a:rect l="l" t="t" r="r" b="b"/>
            <a:pathLst>
              <a:path w="5135865" h="2584185" extrusionOk="0">
                <a:moveTo>
                  <a:pt x="0" y="0"/>
                </a:moveTo>
                <a:lnTo>
                  <a:pt x="5135865" y="0"/>
                </a:lnTo>
                <a:lnTo>
                  <a:pt x="5135865" y="2584185"/>
                </a:lnTo>
                <a:lnTo>
                  <a:pt x="0" y="2584185"/>
                </a:lnTo>
                <a:lnTo>
                  <a:pt x="0" y="0"/>
                </a:lnTo>
                <a:close/>
              </a:path>
            </a:pathLst>
          </a:custGeom>
          <a:blipFill rotWithShape="1">
            <a:blip r:embed="rId3">
              <a:alphaModFix/>
            </a:blip>
            <a:stretch>
              <a:fillRect/>
            </a:stretch>
          </a:blipFill>
          <a:ln>
            <a:noFill/>
          </a:ln>
        </p:spPr>
      </p:sp>
      <p:sp>
        <p:nvSpPr>
          <p:cNvPr id="679" name="Google Shape;679;p41"/>
          <p:cNvSpPr txBox="1"/>
          <p:nvPr/>
        </p:nvSpPr>
        <p:spPr>
          <a:xfrm>
            <a:off x="4766200" y="676871"/>
            <a:ext cx="2359230" cy="396519"/>
          </a:xfrm>
          <a:prstGeom prst="rect">
            <a:avLst/>
          </a:prstGeom>
          <a:noFill/>
          <a:ln>
            <a:noFill/>
          </a:ln>
        </p:spPr>
        <p:txBody>
          <a:bodyPr spcFirstLastPara="1" wrap="square" lIns="0" tIns="0" rIns="0" bIns="0" anchor="t" anchorCtr="0">
            <a:spAutoFit/>
          </a:bodyPr>
          <a:lstStyle/>
          <a:p>
            <a:pPr marL="0" marR="0" lvl="0" indent="0" algn="l" rtl="0">
              <a:lnSpc>
                <a:spcPct val="119985"/>
              </a:lnSpc>
              <a:spcBef>
                <a:spcPts val="0"/>
              </a:spcBef>
              <a:spcAft>
                <a:spcPts val="0"/>
              </a:spcAft>
              <a:buNone/>
            </a:pPr>
            <a:r>
              <a:rPr lang="en-US" sz="2712" b="1">
                <a:solidFill>
                  <a:srgbClr val="C00000"/>
                </a:solidFill>
                <a:latin typeface="Arimo"/>
                <a:ea typeface="Arimo"/>
                <a:cs typeface="Arimo"/>
                <a:sym typeface="Arimo"/>
              </a:rPr>
              <a:t>Keys in DBMS</a:t>
            </a:r>
            <a:endParaRPr/>
          </a:p>
        </p:txBody>
      </p:sp>
      <p:sp>
        <p:nvSpPr>
          <p:cNvPr id="680" name="Google Shape;680;p41"/>
          <p:cNvSpPr txBox="1"/>
          <p:nvPr/>
        </p:nvSpPr>
        <p:spPr>
          <a:xfrm>
            <a:off x="1941674" y="1163795"/>
            <a:ext cx="4741495" cy="646395"/>
          </a:xfrm>
          <a:prstGeom prst="rect">
            <a:avLst/>
          </a:prstGeom>
          <a:noFill/>
          <a:ln>
            <a:noFill/>
          </a:ln>
        </p:spPr>
        <p:txBody>
          <a:bodyPr spcFirstLastPara="1" wrap="square" lIns="0" tIns="0" rIns="0" bIns="0" anchor="t" anchorCtr="0">
            <a:spAutoFit/>
          </a:bodyPr>
          <a:lstStyle/>
          <a:p>
            <a:pPr marL="0" marR="0" lvl="0" indent="0" algn="just" rtl="0">
              <a:lnSpc>
                <a:spcPct val="153258"/>
              </a:lnSpc>
              <a:spcBef>
                <a:spcPts val="0"/>
              </a:spcBef>
              <a:spcAft>
                <a:spcPts val="0"/>
              </a:spcAft>
              <a:buNone/>
            </a:pPr>
            <a:endParaRPr sz="1687">
              <a:solidFill>
                <a:schemeClr val="dk1"/>
              </a:solidFill>
              <a:latin typeface="Calibri"/>
              <a:ea typeface="Calibri"/>
              <a:cs typeface="Calibri"/>
              <a:sym typeface="Calibri"/>
            </a:endParaRPr>
          </a:p>
          <a:p>
            <a:pPr marL="0" marR="0" lvl="0" indent="0" algn="just" rtl="0">
              <a:lnSpc>
                <a:spcPct val="120046"/>
              </a:lnSpc>
              <a:spcBef>
                <a:spcPts val="0"/>
              </a:spcBef>
              <a:spcAft>
                <a:spcPts val="0"/>
              </a:spcAft>
              <a:buNone/>
            </a:pPr>
            <a:r>
              <a:rPr lang="en-US" sz="2155" b="1">
                <a:solidFill>
                  <a:srgbClr val="000000"/>
                </a:solidFill>
                <a:latin typeface="Arial"/>
                <a:ea typeface="Arial"/>
                <a:cs typeface="Arial"/>
                <a:sym typeface="Arial"/>
              </a:rPr>
              <a:t>Primary Key</a:t>
            </a:r>
            <a:endParaRPr/>
          </a:p>
        </p:txBody>
      </p:sp>
      <p:sp>
        <p:nvSpPr>
          <p:cNvPr id="681" name="Google Shape;681;p41"/>
          <p:cNvSpPr txBox="1"/>
          <p:nvPr/>
        </p:nvSpPr>
        <p:spPr>
          <a:xfrm>
            <a:off x="1941674" y="1938379"/>
            <a:ext cx="8566021"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 primary key in a table that uniquely identifies each row and column or set of columns in the table. The primary key is an attribute or a set of attributes that help to uniquely identify the tuples(records) in the relational table. The primary key provides the means to distinguish one tuple from all the others in the relation. It helps the user to identify the location and also the database system to identify, locate, and refer to one particular tuple in the relation.</a:t>
            </a:r>
            <a:endParaRPr dirty="0"/>
          </a:p>
        </p:txBody>
      </p:sp>
      <p:sp>
        <p:nvSpPr>
          <p:cNvPr id="682" name="Google Shape;682;p41"/>
          <p:cNvSpPr txBox="1"/>
          <p:nvPr/>
        </p:nvSpPr>
        <p:spPr>
          <a:xfrm>
            <a:off x="1941674" y="3947682"/>
            <a:ext cx="3044708" cy="175073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875" b="1">
                <a:solidFill>
                  <a:srgbClr val="000000"/>
                </a:solidFill>
                <a:latin typeface="Arial"/>
                <a:ea typeface="Arial"/>
                <a:cs typeface="Arial"/>
                <a:sym typeface="Arial"/>
              </a:rPr>
              <a:t>Example:</a:t>
            </a:r>
            <a:endParaRPr/>
          </a:p>
          <a:p>
            <a:pPr marL="0" marR="0" lvl="0" indent="0" algn="l" rtl="0">
              <a:lnSpc>
                <a:spcPct val="120000"/>
              </a:lnSpc>
              <a:spcBef>
                <a:spcPts val="0"/>
              </a:spcBef>
              <a:spcAft>
                <a:spcPts val="0"/>
              </a:spcAft>
              <a:buNone/>
            </a:pPr>
            <a:r>
              <a:rPr lang="en-US" sz="1875">
                <a:solidFill>
                  <a:srgbClr val="000000"/>
                </a:solidFill>
                <a:latin typeface="Arial"/>
                <a:ea typeface="Arial"/>
                <a:cs typeface="Arial"/>
                <a:sym typeface="Arial"/>
              </a:rPr>
              <a:t>STUDENT table -&gt; Student(STUD_NO, SNAME, </a:t>
            </a:r>
            <a:endParaRPr/>
          </a:p>
          <a:p>
            <a:pPr marL="0" marR="0" lvl="0" indent="0" algn="l" rtl="0">
              <a:lnSpc>
                <a:spcPct val="120000"/>
              </a:lnSpc>
              <a:spcBef>
                <a:spcPts val="0"/>
              </a:spcBef>
              <a:spcAft>
                <a:spcPts val="0"/>
              </a:spcAft>
              <a:buNone/>
            </a:pPr>
            <a:r>
              <a:rPr lang="en-US" sz="1875">
                <a:solidFill>
                  <a:srgbClr val="000000"/>
                </a:solidFill>
                <a:latin typeface="Arial"/>
                <a:ea typeface="Arial"/>
                <a:cs typeface="Arial"/>
                <a:sym typeface="Arial"/>
              </a:rPr>
              <a:t>ADDRESS, PHONE) , STUD_NO is a primary key</a:t>
            </a:r>
            <a:endParaRPr/>
          </a:p>
        </p:txBody>
      </p:sp>
      <p:sp>
        <p:nvSpPr>
          <p:cNvPr id="683" name="Google Shape;683;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684" name="Google Shape;684;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grpSp>
        <p:nvGrpSpPr>
          <p:cNvPr id="693" name="Google Shape;693;p42"/>
          <p:cNvGrpSpPr/>
          <p:nvPr/>
        </p:nvGrpSpPr>
        <p:grpSpPr>
          <a:xfrm>
            <a:off x="1524000" y="6356604"/>
            <a:ext cx="9144000" cy="88404"/>
            <a:chOff x="0" y="0"/>
            <a:chExt cx="13004800" cy="125730"/>
          </a:xfrm>
        </p:grpSpPr>
        <p:sp>
          <p:nvSpPr>
            <p:cNvPr id="694" name="Google Shape;694;p42"/>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695" name="Google Shape;695;p42"/>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696" name="Google Shape;696;p42"/>
          <p:cNvSpPr txBox="1"/>
          <p:nvPr/>
        </p:nvSpPr>
        <p:spPr>
          <a:xfrm>
            <a:off x="4766200" y="659012"/>
            <a:ext cx="3666386"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697" name="Google Shape;697;p42"/>
          <p:cNvSpPr txBox="1"/>
          <p:nvPr/>
        </p:nvSpPr>
        <p:spPr>
          <a:xfrm>
            <a:off x="1933029" y="1430537"/>
            <a:ext cx="4741495" cy="312971"/>
          </a:xfrm>
          <a:prstGeom prst="rect">
            <a:avLst/>
          </a:prstGeom>
          <a:noFill/>
          <a:ln>
            <a:noFill/>
          </a:ln>
        </p:spPr>
        <p:txBody>
          <a:bodyPr spcFirstLastPara="1" wrap="square" lIns="0" tIns="0" rIns="0" bIns="0" anchor="t" anchorCtr="0">
            <a:spAutoFit/>
          </a:bodyPr>
          <a:lstStyle/>
          <a:p>
            <a:pPr marL="0" marR="0" lvl="0" indent="0" algn="just" rtl="0">
              <a:lnSpc>
                <a:spcPct val="120046"/>
              </a:lnSpc>
              <a:spcBef>
                <a:spcPts val="0"/>
              </a:spcBef>
              <a:spcAft>
                <a:spcPts val="0"/>
              </a:spcAft>
              <a:buNone/>
            </a:pPr>
            <a:r>
              <a:rPr lang="en-US" sz="2155" b="1">
                <a:solidFill>
                  <a:srgbClr val="000000"/>
                </a:solidFill>
                <a:latin typeface="Arial"/>
                <a:ea typeface="Arial"/>
                <a:cs typeface="Arial"/>
                <a:sym typeface="Arial"/>
              </a:rPr>
              <a:t>Candidate Key</a:t>
            </a:r>
            <a:endParaRPr/>
          </a:p>
        </p:txBody>
      </p:sp>
      <p:sp>
        <p:nvSpPr>
          <p:cNvPr id="698" name="Google Shape;698;p42"/>
          <p:cNvSpPr txBox="1"/>
          <p:nvPr/>
        </p:nvSpPr>
        <p:spPr>
          <a:xfrm>
            <a:off x="1941674" y="1938379"/>
            <a:ext cx="8566021"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A candidate key is a minimal set of attributes that uniquely identifies each tuple within a table. In other words, there should not be any two rows in a table that can have the same values for the columns that are the part of candidate key. It is very important for establishing relationships between tables and maintaining data integrity. Candidate keys play a pivotal role in database normalization as they help us to eliminate data redundancy and anomalies.</a:t>
            </a:r>
            <a:endParaRPr/>
          </a:p>
        </p:txBody>
      </p:sp>
      <p:sp>
        <p:nvSpPr>
          <p:cNvPr id="699" name="Google Shape;699;p42"/>
          <p:cNvSpPr txBox="1"/>
          <p:nvPr/>
        </p:nvSpPr>
        <p:spPr>
          <a:xfrm>
            <a:off x="1933029" y="4052254"/>
            <a:ext cx="3024511" cy="86587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STUD_NO is the candidate key for relation STUDENT.</a:t>
            </a:r>
            <a:endParaRPr dirty="0"/>
          </a:p>
        </p:txBody>
      </p:sp>
      <p:sp>
        <p:nvSpPr>
          <p:cNvPr id="700" name="Google Shape;700;p42"/>
          <p:cNvSpPr/>
          <p:nvPr/>
        </p:nvSpPr>
        <p:spPr>
          <a:xfrm>
            <a:off x="7535683" y="3706796"/>
            <a:ext cx="4308486" cy="2422673"/>
          </a:xfrm>
          <a:custGeom>
            <a:avLst/>
            <a:gdLst/>
            <a:ahLst/>
            <a:cxnLst/>
            <a:rect l="l" t="t" r="r" b="b"/>
            <a:pathLst>
              <a:path w="5135865" h="2584185" extrusionOk="0">
                <a:moveTo>
                  <a:pt x="0" y="0"/>
                </a:moveTo>
                <a:lnTo>
                  <a:pt x="5135865" y="0"/>
                </a:lnTo>
                <a:lnTo>
                  <a:pt x="5135865" y="2584185"/>
                </a:lnTo>
                <a:lnTo>
                  <a:pt x="0" y="2584185"/>
                </a:lnTo>
                <a:lnTo>
                  <a:pt x="0" y="0"/>
                </a:lnTo>
                <a:close/>
              </a:path>
            </a:pathLst>
          </a:custGeom>
          <a:blipFill rotWithShape="1">
            <a:blip r:embed="rId3">
              <a:alphaModFix/>
            </a:blip>
            <a:stretch>
              <a:fillRect/>
            </a:stretch>
          </a:blipFill>
          <a:ln>
            <a:noFill/>
          </a:ln>
        </p:spPr>
      </p:sp>
      <p:sp>
        <p:nvSpPr>
          <p:cNvPr id="701" name="Google Shape;701;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702" name="Google Shape;702;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grpSp>
        <p:nvGrpSpPr>
          <p:cNvPr id="711" name="Google Shape;711;p43"/>
          <p:cNvGrpSpPr/>
          <p:nvPr/>
        </p:nvGrpSpPr>
        <p:grpSpPr>
          <a:xfrm>
            <a:off x="1524000" y="6356604"/>
            <a:ext cx="9144000" cy="88404"/>
            <a:chOff x="0" y="0"/>
            <a:chExt cx="13004800" cy="125730"/>
          </a:xfrm>
        </p:grpSpPr>
        <p:sp>
          <p:nvSpPr>
            <p:cNvPr id="712" name="Google Shape;712;p43"/>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13" name="Google Shape;713;p43"/>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14" name="Google Shape;714;p43"/>
          <p:cNvSpPr/>
          <p:nvPr/>
        </p:nvSpPr>
        <p:spPr>
          <a:xfrm>
            <a:off x="1909026" y="4509563"/>
            <a:ext cx="3456269" cy="1661668"/>
          </a:xfrm>
          <a:custGeom>
            <a:avLst/>
            <a:gdLst/>
            <a:ahLst/>
            <a:cxnLst/>
            <a:rect l="l" t="t" r="r" b="b"/>
            <a:pathLst>
              <a:path w="3686687" h="1772446" extrusionOk="0">
                <a:moveTo>
                  <a:pt x="0" y="0"/>
                </a:moveTo>
                <a:lnTo>
                  <a:pt x="3686687" y="0"/>
                </a:lnTo>
                <a:lnTo>
                  <a:pt x="3686687" y="1772446"/>
                </a:lnTo>
                <a:lnTo>
                  <a:pt x="0" y="1772446"/>
                </a:lnTo>
                <a:lnTo>
                  <a:pt x="0" y="0"/>
                </a:lnTo>
                <a:close/>
              </a:path>
            </a:pathLst>
          </a:custGeom>
          <a:blipFill rotWithShape="1">
            <a:blip r:embed="rId3">
              <a:alphaModFix/>
            </a:blip>
            <a:stretch>
              <a:fillRect/>
            </a:stretch>
          </a:blipFill>
          <a:ln>
            <a:noFill/>
          </a:ln>
        </p:spPr>
      </p:sp>
      <p:sp>
        <p:nvSpPr>
          <p:cNvPr id="715" name="Google Shape;715;p43"/>
          <p:cNvSpPr txBox="1"/>
          <p:nvPr/>
        </p:nvSpPr>
        <p:spPr>
          <a:xfrm>
            <a:off x="4766201" y="659012"/>
            <a:ext cx="4197935"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716" name="Google Shape;716;p43"/>
          <p:cNvSpPr txBox="1"/>
          <p:nvPr/>
        </p:nvSpPr>
        <p:spPr>
          <a:xfrm>
            <a:off x="1933029" y="1545432"/>
            <a:ext cx="4741495" cy="312971"/>
          </a:xfrm>
          <a:prstGeom prst="rect">
            <a:avLst/>
          </a:prstGeom>
          <a:noFill/>
          <a:ln>
            <a:noFill/>
          </a:ln>
        </p:spPr>
        <p:txBody>
          <a:bodyPr spcFirstLastPara="1" wrap="square" lIns="0" tIns="0" rIns="0" bIns="0" anchor="t" anchorCtr="0">
            <a:spAutoFit/>
          </a:bodyPr>
          <a:lstStyle/>
          <a:p>
            <a:pPr marL="0" marR="0" lvl="0" indent="0" algn="just" rtl="0">
              <a:lnSpc>
                <a:spcPct val="120046"/>
              </a:lnSpc>
              <a:spcBef>
                <a:spcPts val="0"/>
              </a:spcBef>
              <a:spcAft>
                <a:spcPts val="0"/>
              </a:spcAft>
              <a:buNone/>
            </a:pPr>
            <a:r>
              <a:rPr lang="en-US" sz="2155" b="1">
                <a:solidFill>
                  <a:srgbClr val="000000"/>
                </a:solidFill>
                <a:latin typeface="Arial"/>
                <a:ea typeface="Arial"/>
                <a:cs typeface="Arial"/>
                <a:sym typeface="Arial"/>
              </a:rPr>
              <a:t>Super Key</a:t>
            </a:r>
            <a:endParaRPr/>
          </a:p>
        </p:txBody>
      </p:sp>
      <p:sp>
        <p:nvSpPr>
          <p:cNvPr id="717" name="Google Shape;717;p43"/>
          <p:cNvSpPr txBox="1"/>
          <p:nvPr/>
        </p:nvSpPr>
        <p:spPr>
          <a:xfrm>
            <a:off x="1909026" y="1938379"/>
            <a:ext cx="8579529"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We can define a super key as a set of those keys that identify a row or a tuple uniquely. The word super denotes the superiority of a key. Thus, a super key is the superset of a key known as a Candidate key. The role of the super key is simply to identify the tuples of the specified table in the database. It is the superset where the candidate key is a part of the super key only.</a:t>
            </a:r>
            <a:endParaRPr/>
          </a:p>
        </p:txBody>
      </p:sp>
      <p:sp>
        <p:nvSpPr>
          <p:cNvPr id="718" name="Google Shape;718;p43"/>
          <p:cNvSpPr txBox="1"/>
          <p:nvPr/>
        </p:nvSpPr>
        <p:spPr>
          <a:xfrm>
            <a:off x="1933028" y="3470817"/>
            <a:ext cx="3725044" cy="103874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endParaRPr lang="en-US" sz="1875" b="1"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STUD_NO+PHONE is a super key.</a:t>
            </a:r>
            <a:endParaRPr dirty="0"/>
          </a:p>
        </p:txBody>
      </p:sp>
      <p:sp>
        <p:nvSpPr>
          <p:cNvPr id="719" name="Google Shape;719;p43"/>
          <p:cNvSpPr/>
          <p:nvPr/>
        </p:nvSpPr>
        <p:spPr>
          <a:xfrm>
            <a:off x="5853127" y="3617161"/>
            <a:ext cx="4814873" cy="2422673"/>
          </a:xfrm>
          <a:custGeom>
            <a:avLst/>
            <a:gdLst/>
            <a:ahLst/>
            <a:cxnLst/>
            <a:rect l="l" t="t" r="r" b="b"/>
            <a:pathLst>
              <a:path w="5135865" h="2584185" extrusionOk="0">
                <a:moveTo>
                  <a:pt x="0" y="0"/>
                </a:moveTo>
                <a:lnTo>
                  <a:pt x="5135865" y="0"/>
                </a:lnTo>
                <a:lnTo>
                  <a:pt x="5135865" y="2584185"/>
                </a:lnTo>
                <a:lnTo>
                  <a:pt x="0" y="2584185"/>
                </a:lnTo>
                <a:lnTo>
                  <a:pt x="0" y="0"/>
                </a:lnTo>
                <a:close/>
              </a:path>
            </a:pathLst>
          </a:custGeom>
          <a:blipFill rotWithShape="1">
            <a:blip r:embed="rId4">
              <a:alphaModFix/>
            </a:blip>
            <a:stretch>
              <a:fillRect/>
            </a:stretch>
          </a:blipFill>
          <a:ln>
            <a:noFill/>
          </a:ln>
        </p:spPr>
      </p:sp>
      <p:sp>
        <p:nvSpPr>
          <p:cNvPr id="720" name="Google Shape;720;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721" name="Google Shape;721;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grpSp>
        <p:nvGrpSpPr>
          <p:cNvPr id="730" name="Google Shape;730;p44"/>
          <p:cNvGrpSpPr/>
          <p:nvPr/>
        </p:nvGrpSpPr>
        <p:grpSpPr>
          <a:xfrm>
            <a:off x="1524000" y="6356604"/>
            <a:ext cx="9144000" cy="88404"/>
            <a:chOff x="0" y="0"/>
            <a:chExt cx="13004800" cy="125730"/>
          </a:xfrm>
        </p:grpSpPr>
        <p:sp>
          <p:nvSpPr>
            <p:cNvPr id="731" name="Google Shape;731;p44"/>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32" name="Google Shape;732;p44"/>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33" name="Google Shape;733;p44"/>
          <p:cNvSpPr txBox="1"/>
          <p:nvPr/>
        </p:nvSpPr>
        <p:spPr>
          <a:xfrm>
            <a:off x="4766200" y="659012"/>
            <a:ext cx="4042418"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734" name="Google Shape;734;p44"/>
          <p:cNvSpPr txBox="1"/>
          <p:nvPr/>
        </p:nvSpPr>
        <p:spPr>
          <a:xfrm>
            <a:off x="2006685" y="1599010"/>
            <a:ext cx="8458200" cy="1494255"/>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a:solidFill>
                  <a:srgbClr val="000000"/>
                </a:solidFill>
                <a:latin typeface="Arial"/>
                <a:ea typeface="Arial"/>
                <a:cs typeface="Arial"/>
                <a:sym typeface="Arial"/>
              </a:rPr>
              <a:t>Composite Key</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Sometimes, a table might not have a single column/attribute that uniquely identifies all the records of a table. To uniquely identify rows of a table, a combination of two or more columns/attributes can be used. It still can give duplicate values in rare cases.</a:t>
            </a:r>
            <a:endParaRPr/>
          </a:p>
        </p:txBody>
      </p:sp>
      <p:sp>
        <p:nvSpPr>
          <p:cNvPr id="736" name="Google Shape;736;p44"/>
          <p:cNvSpPr txBox="1"/>
          <p:nvPr/>
        </p:nvSpPr>
        <p:spPr>
          <a:xfrm>
            <a:off x="2006685" y="3662740"/>
            <a:ext cx="3232289" cy="138499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FULLNAME + DOB can be combined together to access the details of a student.</a:t>
            </a:r>
            <a:endParaRPr dirty="0"/>
          </a:p>
        </p:txBody>
      </p:sp>
      <p:sp>
        <p:nvSpPr>
          <p:cNvPr id="737" name="Google Shape;737;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738" name="Google Shape;738;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grpSp>
        <p:nvGrpSpPr>
          <p:cNvPr id="747" name="Google Shape;747;p45"/>
          <p:cNvGrpSpPr/>
          <p:nvPr/>
        </p:nvGrpSpPr>
        <p:grpSpPr>
          <a:xfrm>
            <a:off x="1524000" y="6356604"/>
            <a:ext cx="9144000" cy="88404"/>
            <a:chOff x="0" y="0"/>
            <a:chExt cx="13004800" cy="125730"/>
          </a:xfrm>
        </p:grpSpPr>
        <p:sp>
          <p:nvSpPr>
            <p:cNvPr id="748" name="Google Shape;748;p45"/>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49" name="Google Shape;749;p45"/>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50" name="Google Shape;750;p45"/>
          <p:cNvSpPr txBox="1"/>
          <p:nvPr/>
        </p:nvSpPr>
        <p:spPr>
          <a:xfrm>
            <a:off x="4766200" y="659012"/>
            <a:ext cx="3185441"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751" name="Google Shape;751;p45"/>
          <p:cNvSpPr txBox="1"/>
          <p:nvPr/>
        </p:nvSpPr>
        <p:spPr>
          <a:xfrm>
            <a:off x="1886036" y="1599010"/>
            <a:ext cx="8458200" cy="1494255"/>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a:solidFill>
                  <a:srgbClr val="000000"/>
                </a:solidFill>
                <a:latin typeface="Arial"/>
                <a:ea typeface="Arial"/>
                <a:cs typeface="Arial"/>
                <a:sym typeface="Arial"/>
              </a:rPr>
              <a:t>Foreign Key</a:t>
            </a:r>
            <a:endParaRPr/>
          </a:p>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If an attribute can only take the values which are present as values of some other attribute, it will be a foreign key to the attribute to which it refers. The relation which is being referenced is called referenced relation and the corresponding attribute is called referenced attribute. </a:t>
            </a:r>
            <a:endParaRPr/>
          </a:p>
        </p:txBody>
      </p:sp>
      <p:sp>
        <p:nvSpPr>
          <p:cNvPr id="752" name="Google Shape;752;p45"/>
          <p:cNvSpPr txBox="1"/>
          <p:nvPr/>
        </p:nvSpPr>
        <p:spPr>
          <a:xfrm>
            <a:off x="1877361" y="3358199"/>
            <a:ext cx="3871485" cy="1750736"/>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 Refer Table STUDENT shown above.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 STUD_NO in STUDENT_COURSE is a foreign key to STUD_NO in STUDENT relation.</a:t>
            </a:r>
            <a:endParaRPr dirty="0"/>
          </a:p>
        </p:txBody>
      </p:sp>
      <p:sp>
        <p:nvSpPr>
          <p:cNvPr id="754" name="Google Shape;754;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755" name="Google Shape;755;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grpSp>
        <p:nvGrpSpPr>
          <p:cNvPr id="764" name="Google Shape;764;p46"/>
          <p:cNvGrpSpPr/>
          <p:nvPr/>
        </p:nvGrpSpPr>
        <p:grpSpPr>
          <a:xfrm>
            <a:off x="1524000" y="6356604"/>
            <a:ext cx="9144000" cy="88404"/>
            <a:chOff x="0" y="0"/>
            <a:chExt cx="13004800" cy="125730"/>
          </a:xfrm>
        </p:grpSpPr>
        <p:sp>
          <p:nvSpPr>
            <p:cNvPr id="765" name="Google Shape;765;p46"/>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66" name="Google Shape;766;p46"/>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67" name="Google Shape;767;p46"/>
          <p:cNvSpPr txBox="1"/>
          <p:nvPr/>
        </p:nvSpPr>
        <p:spPr>
          <a:xfrm>
            <a:off x="4766200" y="659012"/>
            <a:ext cx="4561699"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768" name="Google Shape;768;p46"/>
          <p:cNvSpPr txBox="1"/>
          <p:nvPr/>
        </p:nvSpPr>
        <p:spPr>
          <a:xfrm>
            <a:off x="2085250" y="1316511"/>
            <a:ext cx="8001889" cy="2387898"/>
          </a:xfrm>
          <a:prstGeom prst="rect">
            <a:avLst/>
          </a:prstGeom>
          <a:noFill/>
          <a:ln>
            <a:noFill/>
          </a:ln>
        </p:spPr>
        <p:txBody>
          <a:bodyPr spcFirstLastPara="1" wrap="square" lIns="0" tIns="0" rIns="0" bIns="0" anchor="t" anchorCtr="0">
            <a:spAutoFit/>
          </a:bodyPr>
          <a:lstStyle/>
          <a:p>
            <a:pPr marL="0" marR="0" lvl="0" indent="0" algn="just" rtl="0">
              <a:lnSpc>
                <a:spcPct val="120037"/>
              </a:lnSpc>
              <a:spcBef>
                <a:spcPts val="0"/>
              </a:spcBef>
              <a:spcAft>
                <a:spcPts val="0"/>
              </a:spcAft>
              <a:buNone/>
            </a:pPr>
            <a:r>
              <a:rPr lang="en-US" sz="2156" b="1" dirty="0">
                <a:solidFill>
                  <a:srgbClr val="000000"/>
                </a:solidFill>
                <a:latin typeface="Arial"/>
                <a:ea typeface="Arial"/>
                <a:cs typeface="Arial"/>
                <a:sym typeface="Arial"/>
              </a:rPr>
              <a:t>Alternate Key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The candidate key other than the primary key is called an alternate key .</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All the keys which are not primary keys are called alternate keys.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It is a secondary key.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It contains two or more fields to identify two or more records.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These values are repeated.</a:t>
            </a:r>
          </a:p>
          <a:p>
            <a:pPr marL="404813" marR="0" lvl="1" indent="-202406" algn="just" rtl="0">
              <a:lnSpc>
                <a:spcPct val="120000"/>
              </a:lnSpc>
              <a:spcBef>
                <a:spcPts val="0"/>
              </a:spcBef>
              <a:spcAft>
                <a:spcPts val="0"/>
              </a:spcAft>
              <a:buClr>
                <a:srgbClr val="000000"/>
              </a:buClr>
              <a:buSzPts val="1875"/>
              <a:buFont typeface="Arial"/>
              <a:buChar char="•"/>
            </a:pPr>
            <a:endParaRPr dirty="0"/>
          </a:p>
        </p:txBody>
      </p:sp>
      <p:sp>
        <p:nvSpPr>
          <p:cNvPr id="769" name="Google Shape;769;p46"/>
          <p:cNvSpPr txBox="1"/>
          <p:nvPr/>
        </p:nvSpPr>
        <p:spPr>
          <a:xfrm>
            <a:off x="2104860" y="3701836"/>
            <a:ext cx="4114799" cy="207749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Consider the table shown above.</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STUD_NO, as well as PHONE both,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are candidate keys for relation STUDENT but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PHONE will be an alternate key </a:t>
            </a:r>
            <a:endParaRPr dirty="0"/>
          </a:p>
          <a:p>
            <a:pPr marL="0" marR="0" lvl="0" indent="0" algn="just" rtl="0">
              <a:lnSpc>
                <a:spcPct val="120000"/>
              </a:lnSpc>
              <a:spcBef>
                <a:spcPts val="0"/>
              </a:spcBef>
              <a:spcAft>
                <a:spcPts val="0"/>
              </a:spcAft>
              <a:buNone/>
            </a:pPr>
            <a:r>
              <a:rPr lang="en-US" sz="1875" dirty="0">
                <a:solidFill>
                  <a:srgbClr val="000000"/>
                </a:solidFill>
                <a:latin typeface="Arial"/>
                <a:ea typeface="Arial"/>
                <a:cs typeface="Arial"/>
                <a:sym typeface="Arial"/>
              </a:rPr>
              <a:t>(only one out of many candidate keys).</a:t>
            </a:r>
            <a:endParaRPr dirty="0"/>
          </a:p>
        </p:txBody>
      </p:sp>
      <p:sp>
        <p:nvSpPr>
          <p:cNvPr id="770" name="Google Shape;770;p46"/>
          <p:cNvSpPr txBox="1"/>
          <p:nvPr/>
        </p:nvSpPr>
        <p:spPr>
          <a:xfrm>
            <a:off x="2104861" y="3384352"/>
            <a:ext cx="1058747" cy="27597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Example:</a:t>
            </a:r>
            <a:endParaRPr dirty="0"/>
          </a:p>
        </p:txBody>
      </p:sp>
      <p:sp>
        <p:nvSpPr>
          <p:cNvPr id="771" name="Google Shape;771;p46"/>
          <p:cNvSpPr/>
          <p:nvPr/>
        </p:nvSpPr>
        <p:spPr>
          <a:xfrm>
            <a:off x="6599602" y="3776315"/>
            <a:ext cx="4670827" cy="2422673"/>
          </a:xfrm>
          <a:custGeom>
            <a:avLst/>
            <a:gdLst/>
            <a:ahLst/>
            <a:cxnLst/>
            <a:rect l="l" t="t" r="r" b="b"/>
            <a:pathLst>
              <a:path w="4982215" h="2584185" extrusionOk="0">
                <a:moveTo>
                  <a:pt x="0" y="0"/>
                </a:moveTo>
                <a:lnTo>
                  <a:pt x="4982215" y="0"/>
                </a:lnTo>
                <a:lnTo>
                  <a:pt x="4982215" y="2584185"/>
                </a:lnTo>
                <a:lnTo>
                  <a:pt x="0" y="2584185"/>
                </a:lnTo>
                <a:lnTo>
                  <a:pt x="0" y="0"/>
                </a:lnTo>
                <a:close/>
              </a:path>
            </a:pathLst>
          </a:custGeom>
          <a:blipFill rotWithShape="1">
            <a:blip r:embed="rId3">
              <a:alphaModFix/>
            </a:blip>
            <a:stretch>
              <a:fillRect r="-3081"/>
            </a:stretch>
          </a:blipFill>
          <a:ln>
            <a:noFill/>
          </a:ln>
        </p:spPr>
      </p:sp>
      <p:sp>
        <p:nvSpPr>
          <p:cNvPr id="772" name="Google Shape;772;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773" name="Google Shape;773;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grpSp>
        <p:nvGrpSpPr>
          <p:cNvPr id="782" name="Google Shape;782;p47"/>
          <p:cNvGrpSpPr/>
          <p:nvPr/>
        </p:nvGrpSpPr>
        <p:grpSpPr>
          <a:xfrm>
            <a:off x="1524000" y="6356604"/>
            <a:ext cx="9144000" cy="88404"/>
            <a:chOff x="0" y="0"/>
            <a:chExt cx="13004800" cy="125730"/>
          </a:xfrm>
        </p:grpSpPr>
        <p:sp>
          <p:nvSpPr>
            <p:cNvPr id="783" name="Google Shape;783;p47"/>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84" name="Google Shape;784;p47"/>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785" name="Google Shape;785;p47"/>
          <p:cNvSpPr/>
          <p:nvPr/>
        </p:nvSpPr>
        <p:spPr>
          <a:xfrm>
            <a:off x="1776428" y="1590079"/>
            <a:ext cx="8639145" cy="4319573"/>
          </a:xfrm>
          <a:custGeom>
            <a:avLst/>
            <a:gdLst/>
            <a:ahLst/>
            <a:cxnLst/>
            <a:rect l="l" t="t" r="r" b="b"/>
            <a:pathLst>
              <a:path w="9215088" h="4607544" extrusionOk="0">
                <a:moveTo>
                  <a:pt x="0" y="0"/>
                </a:moveTo>
                <a:lnTo>
                  <a:pt x="9215088" y="0"/>
                </a:lnTo>
                <a:lnTo>
                  <a:pt x="9215088" y="4607544"/>
                </a:lnTo>
                <a:lnTo>
                  <a:pt x="0" y="4607544"/>
                </a:lnTo>
                <a:lnTo>
                  <a:pt x="0" y="0"/>
                </a:lnTo>
                <a:close/>
              </a:path>
            </a:pathLst>
          </a:custGeom>
          <a:blipFill rotWithShape="1">
            <a:blip r:embed="rId3">
              <a:alphaModFix/>
            </a:blip>
            <a:stretch>
              <a:fillRect/>
            </a:stretch>
          </a:blipFill>
          <a:ln>
            <a:noFill/>
          </a:ln>
        </p:spPr>
      </p:sp>
      <p:sp>
        <p:nvSpPr>
          <p:cNvPr id="786" name="Google Shape;786;p47"/>
          <p:cNvSpPr txBox="1"/>
          <p:nvPr/>
        </p:nvSpPr>
        <p:spPr>
          <a:xfrm>
            <a:off x="4766200" y="659012"/>
            <a:ext cx="4801744"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Keys in DBMS</a:t>
            </a:r>
            <a:endParaRPr/>
          </a:p>
        </p:txBody>
      </p:sp>
      <p:sp>
        <p:nvSpPr>
          <p:cNvPr id="787" name="Google Shape;787;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788" name="Google Shape;788;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grpSp>
        <p:nvGrpSpPr>
          <p:cNvPr id="797" name="Google Shape;797;p48"/>
          <p:cNvGrpSpPr/>
          <p:nvPr/>
        </p:nvGrpSpPr>
        <p:grpSpPr>
          <a:xfrm>
            <a:off x="1524000" y="6356604"/>
            <a:ext cx="9144000" cy="88404"/>
            <a:chOff x="0" y="0"/>
            <a:chExt cx="13004800" cy="125730"/>
          </a:xfrm>
        </p:grpSpPr>
        <p:sp>
          <p:nvSpPr>
            <p:cNvPr id="798" name="Google Shape;798;p48"/>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799" name="Google Shape;799;p48"/>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800" name="Google Shape;800;p48"/>
          <p:cNvSpPr txBox="1"/>
          <p:nvPr/>
        </p:nvSpPr>
        <p:spPr>
          <a:xfrm>
            <a:off x="2006685" y="3266074"/>
            <a:ext cx="8010163" cy="2340641"/>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Entity Integrity: </a:t>
            </a:r>
            <a:r>
              <a:rPr lang="en-US" sz="1875" dirty="0">
                <a:solidFill>
                  <a:srgbClr val="000000"/>
                </a:solidFill>
                <a:latin typeface="Arial"/>
                <a:ea typeface="Arial"/>
                <a:cs typeface="Arial"/>
                <a:sym typeface="Arial"/>
              </a:rPr>
              <a:t>Entity integrity ensures that every table has a primary key and that the values in the primary key column(s) are unique and not NULL. This guarantees that every row in the table can be uniquely identified.</a:t>
            </a:r>
            <a:endParaRPr dirty="0"/>
          </a:p>
          <a:p>
            <a:pPr marL="0" marR="0" lvl="0" indent="0" algn="just" rtl="0">
              <a:lnSpc>
                <a:spcPct val="120000"/>
              </a:lnSpc>
              <a:spcBef>
                <a:spcPts val="0"/>
              </a:spcBef>
              <a:spcAft>
                <a:spcPts val="0"/>
              </a:spcAft>
              <a:buNone/>
            </a:pPr>
            <a:endParaRPr sz="1875"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Rules of Entity Integrity: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A table must have a primary key.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The primary key values cannot be NULL.</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The primary key must uniquely identify each record.</a:t>
            </a:r>
            <a:endParaRPr dirty="0"/>
          </a:p>
        </p:txBody>
      </p:sp>
      <p:sp>
        <p:nvSpPr>
          <p:cNvPr id="801" name="Google Shape;801;p48"/>
          <p:cNvSpPr txBox="1"/>
          <p:nvPr/>
        </p:nvSpPr>
        <p:spPr>
          <a:xfrm>
            <a:off x="2006685" y="1490141"/>
            <a:ext cx="8010544" cy="145578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a:solidFill>
                  <a:srgbClr val="000000"/>
                </a:solidFill>
                <a:latin typeface="Arial"/>
                <a:ea typeface="Arial"/>
                <a:cs typeface="Arial"/>
                <a:sym typeface="Arial"/>
              </a:rPr>
              <a:t>Integrity constraints are rules used in database systems to maintain the accuracy, consistency, and validity of the data stored in a database. They ensure that the data adheres to certain conditions and business rules, thereby preventing invalid or corrupt data from being entered or manipulated.</a:t>
            </a:r>
            <a:endParaRPr/>
          </a:p>
        </p:txBody>
      </p:sp>
      <p:sp>
        <p:nvSpPr>
          <p:cNvPr id="802" name="Google Shape;802;p48"/>
          <p:cNvSpPr txBox="1"/>
          <p:nvPr/>
        </p:nvSpPr>
        <p:spPr>
          <a:xfrm>
            <a:off x="4505227" y="732729"/>
            <a:ext cx="4430716"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Integrity Constraints</a:t>
            </a:r>
            <a:endParaRPr/>
          </a:p>
        </p:txBody>
      </p:sp>
      <p:sp>
        <p:nvSpPr>
          <p:cNvPr id="803" name="Google Shape;803;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804" name="Google Shape;804;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grpSp>
        <p:nvGrpSpPr>
          <p:cNvPr id="813" name="Google Shape;813;p49"/>
          <p:cNvGrpSpPr/>
          <p:nvPr/>
        </p:nvGrpSpPr>
        <p:grpSpPr>
          <a:xfrm>
            <a:off x="1524000" y="6356604"/>
            <a:ext cx="9144000" cy="88404"/>
            <a:chOff x="0" y="0"/>
            <a:chExt cx="13004800" cy="125730"/>
          </a:xfrm>
        </p:grpSpPr>
        <p:sp>
          <p:nvSpPr>
            <p:cNvPr id="814" name="Google Shape;814;p49"/>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815" name="Google Shape;815;p49"/>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816" name="Google Shape;816;p49"/>
          <p:cNvSpPr txBox="1"/>
          <p:nvPr/>
        </p:nvSpPr>
        <p:spPr>
          <a:xfrm>
            <a:off x="1860093" y="1475185"/>
            <a:ext cx="8794293" cy="2769989"/>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Referential Integrity: </a:t>
            </a:r>
            <a:r>
              <a:rPr lang="en-US" sz="1875" dirty="0">
                <a:solidFill>
                  <a:srgbClr val="000000"/>
                </a:solidFill>
                <a:latin typeface="Arial"/>
                <a:ea typeface="Arial"/>
                <a:cs typeface="Arial"/>
                <a:sym typeface="Arial"/>
              </a:rPr>
              <a:t>Referential integrity ensures that a foreign key in one table matches a valid primary key in another table. This maintains the relationship between tables and prevents invalid references.</a:t>
            </a:r>
            <a:endParaRPr sz="1875" dirty="0">
              <a:solidFill>
                <a:srgbClr val="000000"/>
              </a:solidFill>
              <a:latin typeface="Arial"/>
              <a:ea typeface="Arial"/>
              <a:cs typeface="Arial"/>
              <a:sym typeface="Arial"/>
            </a:endParaRPr>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Rules of Referential Integrity: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00" b="0" i="0" u="none" strike="noStrike" cap="none" dirty="0">
                <a:solidFill>
                  <a:srgbClr val="000000"/>
                </a:solidFill>
                <a:latin typeface="Arial"/>
                <a:ea typeface="Arial"/>
                <a:cs typeface="Arial"/>
                <a:sym typeface="Arial"/>
              </a:rPr>
              <a:t>A foreign key value must either:</a:t>
            </a:r>
            <a:endParaRPr sz="1200" dirty="0"/>
          </a:p>
          <a:p>
            <a:pPr marL="404813" marR="0" lvl="1" indent="-202406" algn="just" rtl="0">
              <a:lnSpc>
                <a:spcPct val="120000"/>
              </a:lnSpc>
              <a:spcBef>
                <a:spcPts val="0"/>
              </a:spcBef>
              <a:spcAft>
                <a:spcPts val="0"/>
              </a:spcAft>
              <a:buClr>
                <a:srgbClr val="000000"/>
              </a:buClr>
              <a:buSzPts val="1875"/>
              <a:buFont typeface="Arial"/>
              <a:buChar char="•"/>
            </a:pPr>
            <a:r>
              <a:rPr lang="en-US" sz="1800" b="0" i="0" u="none" strike="noStrike" cap="none" dirty="0">
                <a:solidFill>
                  <a:srgbClr val="000000"/>
                </a:solidFill>
                <a:latin typeface="Arial"/>
                <a:ea typeface="Arial"/>
                <a:cs typeface="Arial"/>
                <a:sym typeface="Arial"/>
              </a:rPr>
              <a:t>Match a primary key value in the referenced table, or</a:t>
            </a:r>
            <a:endParaRPr sz="1200" dirty="0"/>
          </a:p>
          <a:p>
            <a:pPr marL="404813" marR="0" lvl="1" indent="-202406" algn="just" rtl="0">
              <a:lnSpc>
                <a:spcPct val="120000"/>
              </a:lnSpc>
              <a:spcBef>
                <a:spcPts val="0"/>
              </a:spcBef>
              <a:spcAft>
                <a:spcPts val="0"/>
              </a:spcAft>
              <a:buClr>
                <a:srgbClr val="000000"/>
              </a:buClr>
              <a:buSzPts val="1875"/>
              <a:buFont typeface="Arial"/>
              <a:buChar char="•"/>
            </a:pPr>
            <a:r>
              <a:rPr lang="en-US" sz="1800" b="0" i="0" u="none" strike="noStrike" cap="none" dirty="0">
                <a:solidFill>
                  <a:srgbClr val="000000"/>
                </a:solidFill>
                <a:latin typeface="Arial"/>
                <a:ea typeface="Arial"/>
                <a:cs typeface="Arial"/>
                <a:sym typeface="Arial"/>
              </a:rPr>
              <a:t>Be NULL (if the relationship allows null foreign keys).</a:t>
            </a:r>
            <a:endParaRPr sz="1200" dirty="0"/>
          </a:p>
          <a:p>
            <a:pPr marL="404813" marR="0" lvl="1" indent="-202406" algn="just" rtl="0">
              <a:lnSpc>
                <a:spcPct val="120000"/>
              </a:lnSpc>
              <a:spcBef>
                <a:spcPts val="0"/>
              </a:spcBef>
              <a:spcAft>
                <a:spcPts val="0"/>
              </a:spcAft>
              <a:buClr>
                <a:srgbClr val="000000"/>
              </a:buClr>
              <a:buSzPts val="1875"/>
              <a:buFont typeface="Arial"/>
              <a:buChar char="•"/>
            </a:pPr>
            <a:r>
              <a:rPr lang="en-US" sz="1800" b="0" i="0" u="none" strike="noStrike" cap="none" dirty="0">
                <a:solidFill>
                  <a:srgbClr val="000000"/>
                </a:solidFill>
                <a:latin typeface="Arial"/>
                <a:ea typeface="Arial"/>
                <a:cs typeface="Arial"/>
                <a:sym typeface="Arial"/>
              </a:rPr>
              <a:t>A foreign key cannot reference a non-existent primary key.</a:t>
            </a:r>
            <a:endParaRPr sz="1200" dirty="0"/>
          </a:p>
        </p:txBody>
      </p:sp>
      <p:sp>
        <p:nvSpPr>
          <p:cNvPr id="817" name="Google Shape;817;p49"/>
          <p:cNvSpPr txBox="1"/>
          <p:nvPr/>
        </p:nvSpPr>
        <p:spPr>
          <a:xfrm>
            <a:off x="1873706" y="4161460"/>
            <a:ext cx="8794293" cy="2077492"/>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Domain Integrity: </a:t>
            </a:r>
            <a:r>
              <a:rPr lang="en-US" sz="1875" dirty="0">
                <a:solidFill>
                  <a:srgbClr val="000000"/>
                </a:solidFill>
                <a:latin typeface="Arial"/>
                <a:ea typeface="Arial"/>
                <a:cs typeface="Arial"/>
                <a:sym typeface="Arial"/>
              </a:rPr>
              <a:t>Ensures that data values in a column must belong to a specific domain (set of valid values or data types).</a:t>
            </a:r>
            <a:endParaRPr dirty="0"/>
          </a:p>
          <a:p>
            <a:pPr marL="0" marR="0" lvl="0" indent="0" algn="just" rtl="0">
              <a:lnSpc>
                <a:spcPct val="120000"/>
              </a:lnSpc>
              <a:spcBef>
                <a:spcPts val="0"/>
              </a:spcBef>
              <a:spcAft>
                <a:spcPts val="0"/>
              </a:spcAft>
              <a:buNone/>
            </a:pPr>
            <a:r>
              <a:rPr lang="en-US" sz="1875" b="1" dirty="0">
                <a:solidFill>
                  <a:srgbClr val="000000"/>
                </a:solidFill>
                <a:latin typeface="Arial"/>
                <a:ea typeface="Arial"/>
                <a:cs typeface="Arial"/>
                <a:sym typeface="Arial"/>
              </a:rPr>
              <a:t>Rules of Domain Integrity:</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Each column must have a valid data type (e.g., integer, text, date).</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Column values must fall within the defined range or set of acceptable values.</a:t>
            </a:r>
            <a:endParaRPr dirty="0"/>
          </a:p>
          <a:p>
            <a:pPr marL="404813" marR="0" lvl="1" indent="-202406" algn="just" rtl="0">
              <a:lnSpc>
                <a:spcPct val="120000"/>
              </a:lnSpc>
              <a:spcBef>
                <a:spcPts val="0"/>
              </a:spcBef>
              <a:spcAft>
                <a:spcPts val="0"/>
              </a:spcAft>
              <a:buClr>
                <a:srgbClr val="000000"/>
              </a:buClr>
              <a:buSzPts val="1875"/>
              <a:buFont typeface="Arial"/>
              <a:buChar char="•"/>
            </a:pPr>
            <a:r>
              <a:rPr lang="en-US" sz="1875" b="0" i="0" u="none" strike="noStrike" cap="none" dirty="0">
                <a:solidFill>
                  <a:srgbClr val="000000"/>
                </a:solidFill>
                <a:latin typeface="Arial"/>
                <a:ea typeface="Arial"/>
                <a:cs typeface="Arial"/>
                <a:sym typeface="Arial"/>
              </a:rPr>
              <a:t>Disallowed values violate domain integrity.</a:t>
            </a:r>
            <a:endParaRPr dirty="0"/>
          </a:p>
        </p:txBody>
      </p:sp>
      <p:sp>
        <p:nvSpPr>
          <p:cNvPr id="818" name="Google Shape;818;p49"/>
          <p:cNvSpPr txBox="1"/>
          <p:nvPr/>
        </p:nvSpPr>
        <p:spPr>
          <a:xfrm>
            <a:off x="4505227" y="732729"/>
            <a:ext cx="4584252"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Integrity Constraints</a:t>
            </a:r>
            <a:endParaRPr/>
          </a:p>
        </p:txBody>
      </p:sp>
      <p:sp>
        <p:nvSpPr>
          <p:cNvPr id="819" name="Google Shape;819;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820" name="Google Shape;820;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28"/>
        <p:cNvGrpSpPr/>
        <p:nvPr/>
      </p:nvGrpSpPr>
      <p:grpSpPr>
        <a:xfrm>
          <a:off x="0" y="0"/>
          <a:ext cx="0" cy="0"/>
          <a:chOff x="0" y="0"/>
          <a:chExt cx="0" cy="0"/>
        </a:xfrm>
      </p:grpSpPr>
      <p:grpSp>
        <p:nvGrpSpPr>
          <p:cNvPr id="829" name="Google Shape;829;p50"/>
          <p:cNvGrpSpPr/>
          <p:nvPr/>
        </p:nvGrpSpPr>
        <p:grpSpPr>
          <a:xfrm>
            <a:off x="1524000" y="6356604"/>
            <a:ext cx="9144000" cy="88404"/>
            <a:chOff x="0" y="0"/>
            <a:chExt cx="13004800" cy="125730"/>
          </a:xfrm>
        </p:grpSpPr>
        <p:sp>
          <p:nvSpPr>
            <p:cNvPr id="830" name="Google Shape;830;p50"/>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831" name="Google Shape;831;p50"/>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832" name="Google Shape;832;p50"/>
          <p:cNvSpPr txBox="1"/>
          <p:nvPr/>
        </p:nvSpPr>
        <p:spPr>
          <a:xfrm>
            <a:off x="1803704" y="1390810"/>
            <a:ext cx="8657467" cy="42533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Textbooks</a:t>
            </a:r>
            <a:endParaRPr/>
          </a:p>
          <a:p>
            <a:pPr marL="0" marR="0" lvl="0" indent="0" algn="l" rtl="0">
              <a:spcBef>
                <a:spcPts val="300"/>
              </a:spcBef>
              <a:spcAft>
                <a:spcPts val="0"/>
              </a:spcAft>
              <a:buNone/>
            </a:pPr>
            <a:endParaRPr sz="1800">
              <a:solidFill>
                <a:schemeClr val="dk1"/>
              </a:solidFill>
              <a:latin typeface="Arial"/>
              <a:ea typeface="Arial"/>
              <a:cs typeface="Arial"/>
              <a:sym typeface="Arial"/>
            </a:endParaRPr>
          </a:p>
          <a:p>
            <a:pPr marL="342900" marR="0" lvl="0" indent="-342900" algn="just" rtl="0">
              <a:spcBef>
                <a:spcPts val="0"/>
              </a:spcBef>
              <a:spcAft>
                <a:spcPts val="0"/>
              </a:spcAft>
              <a:buClr>
                <a:srgbClr val="000000"/>
              </a:buClr>
              <a:buSzPts val="1200"/>
              <a:buFont typeface="Arial"/>
              <a:buChar char="•"/>
            </a:pPr>
            <a:r>
              <a:rPr lang="en-US" sz="1800">
                <a:solidFill>
                  <a:srgbClr val="000000"/>
                </a:solidFill>
                <a:latin typeface="Arial"/>
                <a:ea typeface="Arial"/>
                <a:cs typeface="Arial"/>
                <a:sym typeface="Arial"/>
              </a:rPr>
              <a:t>Ramez Elmasri and Shamkant B. Navathe, “Fundamentals of Database System”, The Benjamin / Cummings Publishing Co.</a:t>
            </a:r>
            <a:endParaRPr sz="1800">
              <a:solidFill>
                <a:schemeClr val="dk1"/>
              </a:solidFill>
              <a:latin typeface="Arial"/>
              <a:ea typeface="Arial"/>
              <a:cs typeface="Arial"/>
              <a:sym typeface="Arial"/>
            </a:endParaRPr>
          </a:p>
          <a:p>
            <a:pPr marL="342900" marR="0" lvl="0" indent="-342900" algn="just" rtl="0">
              <a:spcBef>
                <a:spcPts val="0"/>
              </a:spcBef>
              <a:spcAft>
                <a:spcPts val="0"/>
              </a:spcAft>
              <a:buClr>
                <a:srgbClr val="000000"/>
              </a:buClr>
              <a:buSzPts val="1200"/>
              <a:buFont typeface="Arial"/>
              <a:buChar char="•"/>
            </a:pPr>
            <a:r>
              <a:rPr lang="en-US" sz="1800">
                <a:solidFill>
                  <a:srgbClr val="000000"/>
                </a:solidFill>
                <a:latin typeface="Arial"/>
                <a:ea typeface="Arial"/>
                <a:cs typeface="Arial"/>
                <a:sym typeface="Arial"/>
              </a:rPr>
              <a:t>Korth and Silberschatz Abraham, “Database System Concepts”, McGraw Hall.</a:t>
            </a:r>
            <a:endParaRPr sz="1800">
              <a:solidFill>
                <a:schemeClr val="dk1"/>
              </a:solidFill>
              <a:latin typeface="Arial"/>
              <a:ea typeface="Arial"/>
              <a:cs typeface="Arial"/>
              <a:sym typeface="Arial"/>
            </a:endParaRPr>
          </a:p>
          <a:p>
            <a:pPr marL="342900" marR="0" lvl="0" indent="-342900" algn="just" rtl="0">
              <a:spcBef>
                <a:spcPts val="0"/>
              </a:spcBef>
              <a:spcAft>
                <a:spcPts val="0"/>
              </a:spcAft>
              <a:buClr>
                <a:srgbClr val="000000"/>
              </a:buClr>
              <a:buSzPts val="1200"/>
              <a:buFont typeface="Arial"/>
              <a:buChar char="•"/>
            </a:pPr>
            <a:r>
              <a:rPr lang="en-US" sz="1800">
                <a:solidFill>
                  <a:srgbClr val="000000"/>
                </a:solidFill>
                <a:latin typeface="Arial"/>
                <a:ea typeface="Arial"/>
                <a:cs typeface="Arial"/>
                <a:sym typeface="Arial"/>
              </a:rPr>
              <a:t>Pratt,” DBMS”, Cengage Learning</a:t>
            </a:r>
            <a:endParaRPr sz="1800">
              <a:solidFill>
                <a:srgbClr val="000000"/>
              </a:solidFill>
              <a:latin typeface="Arial"/>
              <a:ea typeface="Arial"/>
              <a:cs typeface="Arial"/>
              <a:sym typeface="Arial"/>
            </a:endParaRPr>
          </a:p>
          <a:p>
            <a:pPr marL="0" marR="0" lvl="0" indent="0" algn="just" rtl="0">
              <a:spcBef>
                <a:spcPts val="0"/>
              </a:spcBef>
              <a:spcAft>
                <a:spcPts val="0"/>
              </a:spcAft>
              <a:buNone/>
            </a:pPr>
            <a:endParaRPr sz="1800" b="1">
              <a:solidFill>
                <a:srgbClr val="000000"/>
              </a:solidFill>
              <a:latin typeface="Calibri"/>
              <a:ea typeface="Calibri"/>
              <a:cs typeface="Calibri"/>
              <a:sym typeface="Calibri"/>
            </a:endParaRPr>
          </a:p>
          <a:p>
            <a:pPr marL="0" marR="0" lvl="0" indent="0" algn="just" rtl="0">
              <a:spcBef>
                <a:spcPts val="0"/>
              </a:spcBef>
              <a:spcAft>
                <a:spcPts val="0"/>
              </a:spcAft>
              <a:buNone/>
            </a:pPr>
            <a:r>
              <a:rPr lang="en-US" sz="1800" b="1">
                <a:solidFill>
                  <a:schemeClr val="dk1"/>
                </a:solidFill>
                <a:latin typeface="Arial"/>
                <a:ea typeface="Arial"/>
                <a:cs typeface="Arial"/>
                <a:sym typeface="Arial"/>
              </a:rPr>
              <a:t>Reference books</a:t>
            </a:r>
            <a:endParaRPr/>
          </a:p>
          <a:p>
            <a:pPr marL="0" marR="0" lvl="0" indent="0" algn="just" rtl="0">
              <a:spcBef>
                <a:spcPts val="0"/>
              </a:spcBef>
              <a:spcAft>
                <a:spcPts val="0"/>
              </a:spcAft>
              <a:buNone/>
            </a:pPr>
            <a:r>
              <a:rPr lang="en-US" sz="1800">
                <a:solidFill>
                  <a:schemeClr val="dk1"/>
                </a:solidFill>
                <a:latin typeface="Arial"/>
                <a:ea typeface="Arial"/>
                <a:cs typeface="Arial"/>
                <a:sym typeface="Arial"/>
              </a:rPr>
              <a:t> </a:t>
            </a:r>
            <a:endParaRPr/>
          </a:p>
          <a:p>
            <a:pPr marL="342900" marR="0" lvl="0" indent="-342900" algn="just" rtl="0">
              <a:spcBef>
                <a:spcPts val="0"/>
              </a:spcBef>
              <a:spcAft>
                <a:spcPts val="0"/>
              </a:spcAft>
              <a:buClr>
                <a:srgbClr val="000000"/>
              </a:buClr>
              <a:buSzPts val="1200"/>
              <a:buFont typeface="Arial"/>
              <a:buChar char="•"/>
            </a:pPr>
            <a:r>
              <a:rPr lang="en-US" sz="1800">
                <a:solidFill>
                  <a:srgbClr val="000000"/>
                </a:solidFill>
                <a:latin typeface="Arial"/>
                <a:ea typeface="Arial"/>
                <a:cs typeface="Arial"/>
                <a:sym typeface="Arial"/>
              </a:rPr>
              <a:t>C.J.Date, “An Introduction to Database Systems”, Addison Wesley. </a:t>
            </a:r>
            <a:endParaRPr sz="1800">
              <a:solidFill>
                <a:schemeClr val="dk1"/>
              </a:solidFill>
              <a:latin typeface="Arial"/>
              <a:ea typeface="Arial"/>
              <a:cs typeface="Arial"/>
              <a:sym typeface="Arial"/>
            </a:endParaRPr>
          </a:p>
          <a:p>
            <a:pPr marL="342900" marR="913130" lvl="0" indent="-342900" algn="just" rtl="0">
              <a:spcBef>
                <a:spcPts val="0"/>
              </a:spcBef>
              <a:spcAft>
                <a:spcPts val="0"/>
              </a:spcAft>
              <a:buClr>
                <a:srgbClr val="000000"/>
              </a:buClr>
              <a:buSzPts val="1200"/>
              <a:buFont typeface="Arial"/>
              <a:buChar char="•"/>
            </a:pPr>
            <a:r>
              <a:rPr lang="en-US" sz="1800">
                <a:solidFill>
                  <a:srgbClr val="000000"/>
                </a:solidFill>
                <a:latin typeface="Arial"/>
                <a:ea typeface="Arial"/>
                <a:cs typeface="Arial"/>
                <a:sym typeface="Arial"/>
              </a:rPr>
              <a:t>Thomas M. Connolly, Carolyn &amp; E. Begg, “Database Systems: A Practical Approach to Design, Implementation and Management”, 5/E, University of Paisley, Addison-Wesley.</a:t>
            </a:r>
            <a:endParaRPr sz="1800">
              <a:solidFill>
                <a:schemeClr val="dk1"/>
              </a:solidFill>
              <a:latin typeface="Arial"/>
              <a:ea typeface="Arial"/>
              <a:cs typeface="Arial"/>
              <a:sym typeface="Arial"/>
            </a:endParaRPr>
          </a:p>
          <a:p>
            <a:pPr marL="342900" marR="0" lvl="0" indent="-342900" algn="just" rtl="0">
              <a:lnSpc>
                <a:spcPct val="122000"/>
              </a:lnSpc>
              <a:spcBef>
                <a:spcPts val="0"/>
              </a:spcBef>
              <a:spcAft>
                <a:spcPts val="0"/>
              </a:spcAft>
              <a:buClr>
                <a:srgbClr val="000000"/>
              </a:buClr>
              <a:buSzPts val="1200"/>
              <a:buFont typeface="Arial"/>
              <a:buChar char="•"/>
            </a:pPr>
            <a:r>
              <a:rPr lang="en-US" sz="1800">
                <a:solidFill>
                  <a:srgbClr val="000000"/>
                </a:solidFill>
                <a:latin typeface="Arial"/>
                <a:ea typeface="Arial"/>
                <a:cs typeface="Arial"/>
                <a:sym typeface="Arial"/>
              </a:rPr>
              <a:t>Rob,” Database Principal Fundamental Design, Cengage Learning</a:t>
            </a:r>
            <a:endParaRPr sz="1875" b="1">
              <a:solidFill>
                <a:srgbClr val="000000"/>
              </a:solidFill>
              <a:latin typeface="Arial"/>
              <a:ea typeface="Arial"/>
              <a:cs typeface="Arial"/>
              <a:sym typeface="Arial"/>
            </a:endParaRPr>
          </a:p>
          <a:p>
            <a:pPr marL="457200" marR="0" lvl="0" indent="-338137" algn="just" rtl="0">
              <a:lnSpc>
                <a:spcPct val="120000"/>
              </a:lnSpc>
              <a:spcBef>
                <a:spcPts val="0"/>
              </a:spcBef>
              <a:spcAft>
                <a:spcPts val="0"/>
              </a:spcAft>
              <a:buClr>
                <a:schemeClr val="dk1"/>
              </a:buClr>
              <a:buSzPts val="1875"/>
              <a:buFont typeface="Calibri"/>
              <a:buNone/>
            </a:pPr>
            <a:endParaRPr sz="1875" b="1">
              <a:solidFill>
                <a:srgbClr val="000000"/>
              </a:solidFill>
              <a:latin typeface="Arial"/>
              <a:ea typeface="Arial"/>
              <a:cs typeface="Arial"/>
              <a:sym typeface="Arial"/>
            </a:endParaRPr>
          </a:p>
        </p:txBody>
      </p:sp>
      <p:sp>
        <p:nvSpPr>
          <p:cNvPr id="833" name="Google Shape;833;p50"/>
          <p:cNvSpPr txBox="1"/>
          <p:nvPr/>
        </p:nvSpPr>
        <p:spPr>
          <a:xfrm>
            <a:off x="4505227" y="732729"/>
            <a:ext cx="4584252" cy="500137"/>
          </a:xfrm>
          <a:prstGeom prst="rect">
            <a:avLst/>
          </a:prstGeom>
          <a:noFill/>
          <a:ln>
            <a:noFill/>
          </a:ln>
        </p:spPr>
        <p:txBody>
          <a:bodyPr spcFirstLastPara="1" wrap="square" lIns="0" tIns="0" rIns="0" bIns="0" anchor="t" anchorCtr="0">
            <a:spAutoFit/>
          </a:bodyPr>
          <a:lstStyle/>
          <a:p>
            <a:pPr marL="0" marR="0" lvl="0" indent="0" algn="l" rtl="0">
              <a:lnSpc>
                <a:spcPct val="120024"/>
              </a:lnSpc>
              <a:spcBef>
                <a:spcPts val="0"/>
              </a:spcBef>
              <a:spcAft>
                <a:spcPts val="0"/>
              </a:spcAft>
              <a:buNone/>
            </a:pPr>
            <a:r>
              <a:rPr lang="en-US" sz="3281" b="1">
                <a:solidFill>
                  <a:srgbClr val="C00000"/>
                </a:solidFill>
                <a:latin typeface="Arimo"/>
                <a:ea typeface="Arimo"/>
                <a:cs typeface="Arimo"/>
                <a:sym typeface="Arimo"/>
              </a:rPr>
              <a:t>Book References</a:t>
            </a:r>
            <a:endParaRPr/>
          </a:p>
        </p:txBody>
      </p:sp>
      <p:sp>
        <p:nvSpPr>
          <p:cNvPr id="834" name="Google Shape;834;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835" name="Google Shape;835;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grpSp>
        <p:nvGrpSpPr>
          <p:cNvPr id="844" name="Google Shape;844;p51"/>
          <p:cNvGrpSpPr/>
          <p:nvPr/>
        </p:nvGrpSpPr>
        <p:grpSpPr>
          <a:xfrm>
            <a:off x="1524000" y="6356604"/>
            <a:ext cx="9144000" cy="88404"/>
            <a:chOff x="0" y="0"/>
            <a:chExt cx="13004800" cy="125730"/>
          </a:xfrm>
        </p:grpSpPr>
        <p:sp>
          <p:nvSpPr>
            <p:cNvPr id="845" name="Google Shape;845;p51"/>
            <p:cNvSpPr/>
            <p:nvPr/>
          </p:nvSpPr>
          <p:spPr>
            <a:xfrm>
              <a:off x="0" y="100584"/>
              <a:ext cx="13004800" cy="25146"/>
            </a:xfrm>
            <a:custGeom>
              <a:avLst/>
              <a:gdLst/>
              <a:ahLst/>
              <a:cxnLst/>
              <a:rect l="l" t="t" r="r" b="b"/>
              <a:pathLst>
                <a:path w="13004800" h="25146" extrusionOk="0">
                  <a:moveTo>
                    <a:pt x="13004800" y="0"/>
                  </a:moveTo>
                  <a:lnTo>
                    <a:pt x="0" y="0"/>
                  </a:lnTo>
                  <a:lnTo>
                    <a:pt x="0" y="25146"/>
                  </a:lnTo>
                  <a:lnTo>
                    <a:pt x="13004800" y="25146"/>
                  </a:lnTo>
                  <a:lnTo>
                    <a:pt x="13004800" y="0"/>
                  </a:lnTo>
                  <a:close/>
                </a:path>
              </a:pathLst>
            </a:custGeom>
            <a:solidFill>
              <a:srgbClr val="C00000"/>
            </a:solidFill>
            <a:ln>
              <a:noFill/>
            </a:ln>
          </p:spPr>
        </p:sp>
        <p:sp>
          <p:nvSpPr>
            <p:cNvPr id="846" name="Google Shape;846;p51"/>
            <p:cNvSpPr/>
            <p:nvPr/>
          </p:nvSpPr>
          <p:spPr>
            <a:xfrm>
              <a:off x="0" y="0"/>
              <a:ext cx="13004800" cy="75438"/>
            </a:xfrm>
            <a:custGeom>
              <a:avLst/>
              <a:gdLst/>
              <a:ahLst/>
              <a:cxnLst/>
              <a:rect l="l" t="t" r="r" b="b"/>
              <a:pathLst>
                <a:path w="13004800" h="75438" extrusionOk="0">
                  <a:moveTo>
                    <a:pt x="13004800" y="0"/>
                  </a:moveTo>
                  <a:lnTo>
                    <a:pt x="0" y="0"/>
                  </a:lnTo>
                  <a:lnTo>
                    <a:pt x="0" y="75438"/>
                  </a:lnTo>
                  <a:lnTo>
                    <a:pt x="13004800" y="75438"/>
                  </a:lnTo>
                  <a:lnTo>
                    <a:pt x="13004800" y="0"/>
                  </a:lnTo>
                  <a:close/>
                </a:path>
              </a:pathLst>
            </a:custGeom>
            <a:solidFill>
              <a:srgbClr val="C00000"/>
            </a:solidFill>
            <a:ln>
              <a:noFill/>
            </a:ln>
          </p:spPr>
        </p:sp>
      </p:grpSp>
      <p:sp>
        <p:nvSpPr>
          <p:cNvPr id="847" name="Google Shape;847;p51"/>
          <p:cNvSpPr txBox="1"/>
          <p:nvPr/>
        </p:nvSpPr>
        <p:spPr>
          <a:xfrm>
            <a:off x="3497975" y="2697131"/>
            <a:ext cx="5472121" cy="1023293"/>
          </a:xfrm>
          <a:prstGeom prst="rect">
            <a:avLst/>
          </a:prstGeom>
          <a:noFill/>
          <a:ln>
            <a:noFill/>
          </a:ln>
        </p:spPr>
        <p:txBody>
          <a:bodyPr spcFirstLastPara="1" wrap="square" lIns="0" tIns="0" rIns="0" bIns="0" anchor="t" anchorCtr="0">
            <a:spAutoFit/>
          </a:bodyPr>
          <a:lstStyle/>
          <a:p>
            <a:pPr marL="0" marR="0" lvl="0" indent="0" algn="ctr" rtl="0">
              <a:lnSpc>
                <a:spcPct val="120002"/>
              </a:lnSpc>
              <a:spcBef>
                <a:spcPts val="0"/>
              </a:spcBef>
              <a:spcAft>
                <a:spcPts val="0"/>
              </a:spcAft>
              <a:buNone/>
            </a:pPr>
            <a:r>
              <a:rPr lang="en-US" sz="7049">
                <a:solidFill>
                  <a:srgbClr val="000000"/>
                </a:solidFill>
                <a:latin typeface="Arial"/>
                <a:ea typeface="Arial"/>
                <a:cs typeface="Arial"/>
                <a:sym typeface="Arial"/>
              </a:rPr>
              <a:t>THANK YOU </a:t>
            </a:r>
            <a:endParaRPr/>
          </a:p>
        </p:txBody>
      </p:sp>
      <p:sp>
        <p:nvSpPr>
          <p:cNvPr id="848" name="Google Shape;848;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12/24/2024</a:t>
            </a:r>
            <a:endParaRPr/>
          </a:p>
        </p:txBody>
      </p:sp>
      <p:sp>
        <p:nvSpPr>
          <p:cNvPr id="849" name="Google Shape;849;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Dr. Gitanjali , Asst. Prof., UIE-CSE, Chandigarh University</a:t>
            </a:r>
            <a:endParaRPr/>
          </a:p>
        </p:txBody>
      </p:sp>
    </p:spTree>
  </p:cSld>
  <p:clrMapOvr>
    <a:masterClrMapping/>
  </p:clrMapOvr>
</p:sld>
</file>

<file path=ppt/theme/theme1.xml><?xml version="1.0" encoding="utf-8"?>
<a:theme xmlns:a="http://schemas.openxmlformats.org/drawingml/2006/main" name="Theme1">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4553</Words>
  <Application>Microsoft Office PowerPoint</Application>
  <PresentationFormat>Widescreen</PresentationFormat>
  <Paragraphs>528</Paragraphs>
  <Slides>51</Slides>
  <Notes>51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Times New Roman</vt:lpstr>
      <vt:lpstr>Arimo</vt:lpstr>
      <vt:lpstr>Arial Rounded</vt:lpstr>
      <vt:lpstr>Calibri</vt:lpstr>
      <vt:lpstr>Arial</vt:lpstr>
      <vt:lpstr>Trebuchet MS</vt:lpstr>
      <vt:lpstr>Theme1</vt:lpstr>
      <vt:lpstr>PowerPoint Presentation</vt:lpstr>
      <vt:lpstr>ABOUT COURSE</vt:lpstr>
      <vt:lpstr>COURSE OUTCOMES </vt:lpstr>
      <vt:lpstr>COURSE OBJECTIVES </vt:lpstr>
      <vt:lpstr>ASSESSMENT  MODEL </vt:lpstr>
      <vt:lpstr>SUGGESTED COURSES</vt:lpstr>
      <vt:lpstr>Activity based learning </vt:lpstr>
      <vt:lpstr>PowerPoint Presentation</vt:lpstr>
      <vt:lpstr>PowerPoint Presentation</vt:lpstr>
      <vt:lpstr>Applications of DBMS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gaurav srivastav</dc:creator>
  <cp:lastModifiedBy>dell</cp:lastModifiedBy>
  <cp:revision>5</cp:revision>
  <dcterms:created xsi:type="dcterms:W3CDTF">2020-08-04T18:57:56Z</dcterms:created>
  <dcterms:modified xsi:type="dcterms:W3CDTF">2025-01-14T09:11:44Z</dcterms:modified>
</cp:coreProperties>
</file>