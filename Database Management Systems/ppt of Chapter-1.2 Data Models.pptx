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Lst>
  <p:sldSz cy="6858000" cx="12192000"/>
  <p:notesSz cx="6858000" cy="9144000"/>
  <p:embeddedFontLst>
    <p:embeddedFont>
      <p:font typeface="Arimo"/>
      <p:bold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2" roundtripDataSignature="AMtx7mh2SjoH5R1VGxyS7mC/VQg7+n3n0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C0036FE-D201-47F2-B3EB-6AA676099217}">
  <a:tblStyle styleId="{FC0036FE-D201-47F2-B3EB-6AA67609921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customschemas.google.com/relationships/presentationmetadata" Target="metadata"/><Relationship Id="rId61" Type="http://schemas.openxmlformats.org/officeDocument/2006/relationships/font" Target="fonts/Arimo-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Arimo-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39" name="Google Shape;139;p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140" name="Google Shape;140;p5: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43" name="Google Shape;143;p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52" name="Google Shape;152;p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153" name="Google Shape;153;p6: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56" name="Google Shape;156;p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69" name="Google Shape;169;p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170" name="Google Shape;170;p7: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p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73" name="Google Shape;173;p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86" name="Google Shape;186;p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187" name="Google Shape;187;p8: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90" name="Google Shape;190;p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05" name="Google Shape;205;p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06" name="Google Shape;206;p9: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09" name="Google Shape;209;p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21" name="Google Shape;221;p1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22" name="Google Shape;222;p10: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1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1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25" name="Google Shape;225;p1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37" name="Google Shape;237;p1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38" name="Google Shape;238;p11: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1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1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41" name="Google Shape;241;p1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62" name="Google Shape;262;p1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63" name="Google Shape;263;p12: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1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1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66" name="Google Shape;266;p1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78" name="Google Shape;278;p1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79" name="Google Shape;279;p13: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p1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1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82" name="Google Shape;282;p1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94" name="Google Shape;294;p1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95" name="Google Shape;295;p14: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p1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1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98" name="Google Shape;298;p1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10" name="Google Shape;310;p1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11" name="Google Shape;311;p15: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1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1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14" name="Google Shape;314;p1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26" name="Google Shape;326;p1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27" name="Google Shape;327;p16: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p1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1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30" name="Google Shape;330;p1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42" name="Google Shape;342;p1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43" name="Google Shape;343;p17: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p1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 name="Google Shape;345;p1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46" name="Google Shape;346;p1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1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58" name="Google Shape;358;p1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59" name="Google Shape;359;p18: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0" name="Google Shape;360;p1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p1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62" name="Google Shape;362;p1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76" name="Google Shape;376;p1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77" name="Google Shape;377;p19: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 name="Google Shape;378;p1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 name="Google Shape;379;p1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80" name="Google Shape;380;p1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2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94" name="Google Shape;394;p2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95" name="Google Shape;395;p20: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6" name="Google Shape;396;p2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7" name="Google Shape;397;p2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98" name="Google Shape;398;p2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2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11" name="Google Shape;411;p2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12" name="Google Shape;412;p21: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3" name="Google Shape;413;p2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4" name="Google Shape;414;p2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15" name="Google Shape;415;p2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2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31" name="Google Shape;431;p2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32" name="Google Shape;432;p22: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3" name="Google Shape;433;p2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4" name="Google Shape;434;p2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35" name="Google Shape;435;p2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2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48" name="Google Shape;448;p2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49" name="Google Shape;449;p23: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0" name="Google Shape;450;p2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1" name="Google Shape;451;p2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52" name="Google Shape;452;p2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2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69" name="Google Shape;469;p2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70" name="Google Shape;470;p24: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1" name="Google Shape;471;p2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2" name="Google Shape;472;p2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73" name="Google Shape;473;p2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2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84" name="Google Shape;484;p2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85" name="Google Shape;485;p25: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6" name="Google Shape;486;p2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7" name="Google Shape;487;p2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88" name="Google Shape;488;p2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2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02" name="Google Shape;502;p2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503" name="Google Shape;503;p26: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4" name="Google Shape;504;p2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5" name="Google Shape;505;p2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06" name="Google Shape;506;p2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2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19" name="Google Shape;519;p2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520" name="Google Shape;520;p27: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1" name="Google Shape;521;p2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2" name="Google Shape;522;p2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23" name="Google Shape;523;p2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2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36" name="Google Shape;536;p2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537" name="Google Shape;537;p28: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8" name="Google Shape;538;p2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9" name="Google Shape;539;p2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40" name="Google Shape;540;p2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2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53" name="Google Shape;553;p2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554" name="Google Shape;554;p29: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5" name="Google Shape;555;p2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6" name="Google Shape;556;p2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57" name="Google Shape;557;p2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3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70" name="Google Shape;570;p3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571" name="Google Shape;571;p30: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2" name="Google Shape;572;p3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3" name="Google Shape;573;p3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74" name="Google Shape;574;p3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3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86" name="Google Shape;586;p3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587" name="Google Shape;587;p31: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8" name="Google Shape;588;p3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9" name="Google Shape;589;p3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90" name="Google Shape;590;p3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3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601" name="Google Shape;601;p3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602" name="Google Shape;602;p32: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3" name="Google Shape;603;p3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4" name="Google Shape;604;p3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605" name="Google Shape;605;p3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28b0b7b3d7_0_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616" name="Google Shape;616;g328b0b7b3d7_0_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617" name="Google Shape;617;g328b0b7b3d7_0_0:notes"/>
          <p:cNvSpPr/>
          <p:nvPr>
            <p:ph idx="3" type="sldImg"/>
          </p:nvPr>
        </p:nvSpPr>
        <p:spPr>
          <a:xfrm>
            <a:off x="2290763" y="512763"/>
            <a:ext cx="45624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8" name="Google Shape;618;g328b0b7b3d7_0_0: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9" name="Google Shape;619;g328b0b7b3d7_0_0: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620" name="Google Shape;620;g328b0b7b3d7_0_0: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628" name="Google Shape;628;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638" name="Google Shape;638;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647" name="Google Shape;647;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656" name="Google Shape;656;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664" name="Google Shape;664;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2" name="Google Shape;672;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0" name="Google Shape;680;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9" name="Google Shape;689;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8" name="Google Shape;698;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p4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707" name="Google Shape;707;p4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708" name="Google Shape;708;p43: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9" name="Google Shape;709;p4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0" name="Google Shape;710;p4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711" name="Google Shape;711;p4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724" name="Google Shape;724;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731" name="Google Shape;731;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740" name="Google Shape;740;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749" name="Google Shape;749;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757" name="Google Shape;757;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765" name="Google Shape;765;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772" name="Google Shape;772;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781" name="Google Shape;781;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790" name="Google Shape;790;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799" name="Google Shape;799;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p5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808" name="Google Shape;808;p5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809" name="Google Shape;809;p54: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0" name="Google Shape;810;p5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1" name="Google Shape;811;p5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812" name="Google Shape;812;p5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8" name="Shape 18"/>
        <p:cNvGrpSpPr/>
        <p:nvPr/>
      </p:nvGrpSpPr>
      <p:grpSpPr>
        <a:xfrm>
          <a:off x="0" y="0"/>
          <a:ext cx="0" cy="0"/>
          <a:chOff x="0" y="0"/>
          <a:chExt cx="0" cy="0"/>
        </a:xfrm>
      </p:grpSpPr>
      <p:sp>
        <p:nvSpPr>
          <p:cNvPr id="19" name="Google Shape;19;p5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5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1" name="Google Shape;21;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4" name="Google Shape;24;p56"/>
          <p:cNvPicPr preferRelativeResize="0"/>
          <p:nvPr/>
        </p:nvPicPr>
        <p:blipFill rotWithShape="1">
          <a:blip r:embed="rId2">
            <a:alphaModFix/>
          </a:blip>
          <a:srcRect b="0" l="0" r="0" t="0"/>
          <a:stretch/>
        </p:blipFill>
        <p:spPr>
          <a:xfrm>
            <a:off x="10275519" y="58916"/>
            <a:ext cx="1916480" cy="641551"/>
          </a:xfrm>
          <a:prstGeom prst="rect">
            <a:avLst/>
          </a:prstGeom>
          <a:noFill/>
          <a:ln>
            <a:noFill/>
          </a:ln>
        </p:spPr>
      </p:pic>
      <p:pic>
        <p:nvPicPr>
          <p:cNvPr id="25" name="Google Shape;25;p56"/>
          <p:cNvPicPr preferRelativeResize="0"/>
          <p:nvPr/>
        </p:nvPicPr>
        <p:blipFill rotWithShape="1">
          <a:blip r:embed="rId3">
            <a:alphaModFix/>
          </a:blip>
          <a:srcRect b="0" l="0" r="0" t="0"/>
          <a:stretch/>
        </p:blipFill>
        <p:spPr>
          <a:xfrm>
            <a:off x="8313446" y="0"/>
            <a:ext cx="882927" cy="785252"/>
          </a:xfrm>
          <a:prstGeom prst="rect">
            <a:avLst/>
          </a:prstGeom>
          <a:noFill/>
          <a:ln>
            <a:noFill/>
          </a:ln>
        </p:spPr>
      </p:pic>
      <p:pic>
        <p:nvPicPr>
          <p:cNvPr descr="National Board of Accreditation - Wikipedia" id="26" name="Google Shape;26;p56"/>
          <p:cNvPicPr preferRelativeResize="0"/>
          <p:nvPr/>
        </p:nvPicPr>
        <p:blipFill rotWithShape="1">
          <a:blip r:embed="rId4">
            <a:alphaModFix/>
          </a:blip>
          <a:srcRect b="0" l="0" r="0" t="0"/>
          <a:stretch/>
        </p:blipFill>
        <p:spPr>
          <a:xfrm>
            <a:off x="9299701" y="49261"/>
            <a:ext cx="872490" cy="68834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type="obj">
  <p:cSld name="OBJECT">
    <p:spTree>
      <p:nvGrpSpPr>
        <p:cNvPr id="27" name="Shape 27"/>
        <p:cNvGrpSpPr/>
        <p:nvPr/>
      </p:nvGrpSpPr>
      <p:grpSpPr>
        <a:xfrm>
          <a:off x="0" y="0"/>
          <a:ext cx="0" cy="0"/>
          <a:chOff x="0" y="0"/>
          <a:chExt cx="0" cy="0"/>
        </a:xfrm>
      </p:grpSpPr>
      <p:sp>
        <p:nvSpPr>
          <p:cNvPr id="28" name="Google Shape;28;p5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3" name="Google Shape;33;p57"/>
          <p:cNvSpPr txBox="1"/>
          <p:nvPr/>
        </p:nvSpPr>
        <p:spPr>
          <a:xfrm>
            <a:off x="4191000" y="639791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rgbClr val="888888"/>
              </a:solidFill>
              <a:latin typeface="Calibri"/>
              <a:ea typeface="Calibri"/>
              <a:cs typeface="Calibri"/>
              <a:sym typeface="Calibri"/>
            </a:endParaRPr>
          </a:p>
        </p:txBody>
      </p:sp>
      <p:pic>
        <p:nvPicPr>
          <p:cNvPr id="34" name="Google Shape;34;p57"/>
          <p:cNvPicPr preferRelativeResize="0"/>
          <p:nvPr/>
        </p:nvPicPr>
        <p:blipFill rotWithShape="1">
          <a:blip r:embed="rId2">
            <a:alphaModFix/>
          </a:blip>
          <a:srcRect b="0" l="0" r="0" t="0"/>
          <a:stretch/>
        </p:blipFill>
        <p:spPr>
          <a:xfrm>
            <a:off x="8313446" y="0"/>
            <a:ext cx="882927" cy="785252"/>
          </a:xfrm>
          <a:prstGeom prst="rect">
            <a:avLst/>
          </a:prstGeom>
          <a:noFill/>
          <a:ln>
            <a:noFill/>
          </a:ln>
        </p:spPr>
      </p:pic>
      <p:pic>
        <p:nvPicPr>
          <p:cNvPr descr="National Board of Accreditation - Wikipedia" id="35" name="Google Shape;35;p57"/>
          <p:cNvPicPr preferRelativeResize="0"/>
          <p:nvPr/>
        </p:nvPicPr>
        <p:blipFill rotWithShape="1">
          <a:blip r:embed="rId3">
            <a:alphaModFix/>
          </a:blip>
          <a:srcRect b="0" l="0" r="0" t="0"/>
          <a:stretch/>
        </p:blipFill>
        <p:spPr>
          <a:xfrm>
            <a:off x="9299701" y="49261"/>
            <a:ext cx="872490" cy="688340"/>
          </a:xfrm>
          <a:prstGeom prst="rect">
            <a:avLst/>
          </a:prstGeom>
          <a:noFill/>
          <a:ln>
            <a:noFill/>
          </a:ln>
        </p:spPr>
      </p:pic>
      <p:pic>
        <p:nvPicPr>
          <p:cNvPr id="36" name="Google Shape;36;p57"/>
          <p:cNvPicPr preferRelativeResize="0"/>
          <p:nvPr/>
        </p:nvPicPr>
        <p:blipFill rotWithShape="1">
          <a:blip r:embed="rId4">
            <a:alphaModFix/>
          </a:blip>
          <a:srcRect b="0" l="0" r="0" t="0"/>
          <a:stretch/>
        </p:blipFill>
        <p:spPr>
          <a:xfrm>
            <a:off x="10275519" y="58916"/>
            <a:ext cx="1916480" cy="641551"/>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37" name="Shape 37"/>
        <p:cNvGrpSpPr/>
        <p:nvPr/>
      </p:nvGrpSpPr>
      <p:grpSpPr>
        <a:xfrm>
          <a:off x="0" y="0"/>
          <a:ext cx="0" cy="0"/>
          <a:chOff x="0" y="0"/>
          <a:chExt cx="0" cy="0"/>
        </a:xfrm>
      </p:grpSpPr>
      <p:sp>
        <p:nvSpPr>
          <p:cNvPr id="38" name="Google Shape;38;p5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5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40" name="Google Shape;40;p5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41" name="Google Shape;41;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44" name="Shape 44"/>
        <p:cNvGrpSpPr/>
        <p:nvPr/>
      </p:nvGrpSpPr>
      <p:grpSpPr>
        <a:xfrm>
          <a:off x="0" y="0"/>
          <a:ext cx="0" cy="0"/>
          <a:chOff x="0" y="0"/>
          <a:chExt cx="0" cy="0"/>
        </a:xfrm>
      </p:grpSpPr>
      <p:sp>
        <p:nvSpPr>
          <p:cNvPr id="45" name="Google Shape;45;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48" name="Shape 48"/>
        <p:cNvGrpSpPr/>
        <p:nvPr/>
      </p:nvGrpSpPr>
      <p:grpSpPr>
        <a:xfrm>
          <a:off x="0" y="0"/>
          <a:ext cx="0" cy="0"/>
          <a:chOff x="0" y="0"/>
          <a:chExt cx="0" cy="0"/>
        </a:xfrm>
      </p:grpSpPr>
      <p:sp>
        <p:nvSpPr>
          <p:cNvPr id="49" name="Google Shape;49;p6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6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51" name="Google Shape;51;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type="twoObj">
  <p:cSld name="TWO_OBJECTS">
    <p:spTree>
      <p:nvGrpSpPr>
        <p:cNvPr id="54" name="Shape 54"/>
        <p:cNvGrpSpPr/>
        <p:nvPr/>
      </p:nvGrpSpPr>
      <p:grpSpPr>
        <a:xfrm>
          <a:off x="0" y="0"/>
          <a:ext cx="0" cy="0"/>
          <a:chOff x="0" y="0"/>
          <a:chExt cx="0" cy="0"/>
        </a:xfrm>
      </p:grpSpPr>
      <p:sp>
        <p:nvSpPr>
          <p:cNvPr id="55" name="Google Shape;55;p6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6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6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type="twoTxTwoObj">
  <p:cSld name="TWO_OBJECTS_WITH_TEXT">
    <p:spTree>
      <p:nvGrpSpPr>
        <p:cNvPr id="61" name="Shape 61"/>
        <p:cNvGrpSpPr/>
        <p:nvPr/>
      </p:nvGrpSpPr>
      <p:grpSpPr>
        <a:xfrm>
          <a:off x="0" y="0"/>
          <a:ext cx="0" cy="0"/>
          <a:chOff x="0" y="0"/>
          <a:chExt cx="0" cy="0"/>
        </a:xfrm>
      </p:grpSpPr>
      <p:sp>
        <p:nvSpPr>
          <p:cNvPr id="62" name="Google Shape;62;p6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6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4" name="Google Shape;64;p6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6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6" name="Google Shape;66;p6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6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6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type="titleOnly">
  <p:cSld name="TITLE_ONLY">
    <p:spTree>
      <p:nvGrpSpPr>
        <p:cNvPr id="70" name="Shape 70"/>
        <p:cNvGrpSpPr/>
        <p:nvPr/>
      </p:nvGrpSpPr>
      <p:grpSpPr>
        <a:xfrm>
          <a:off x="0" y="0"/>
          <a:ext cx="0" cy="0"/>
          <a:chOff x="0" y="0"/>
          <a:chExt cx="0" cy="0"/>
        </a:xfrm>
      </p:grpSpPr>
      <p:sp>
        <p:nvSpPr>
          <p:cNvPr id="71" name="Google Shape;71;p6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6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5" name="Shape 75"/>
        <p:cNvGrpSpPr/>
        <p:nvPr/>
      </p:nvGrpSpPr>
      <p:grpSpPr>
        <a:xfrm>
          <a:off x="0" y="0"/>
          <a:ext cx="0" cy="0"/>
          <a:chOff x="0" y="0"/>
          <a:chExt cx="0" cy="0"/>
        </a:xfrm>
      </p:grpSpPr>
      <p:sp>
        <p:nvSpPr>
          <p:cNvPr id="76" name="Google Shape;76;p6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64"/>
          <p:cNvSpPr/>
          <p:nvPr>
            <p:ph idx="2" type="pic"/>
          </p:nvPr>
        </p:nvSpPr>
        <p:spPr>
          <a:xfrm>
            <a:off x="5183188" y="987425"/>
            <a:ext cx="6172200" cy="4873625"/>
          </a:xfrm>
          <a:prstGeom prst="rect">
            <a:avLst/>
          </a:prstGeom>
          <a:noFill/>
          <a:ln>
            <a:noFill/>
          </a:ln>
        </p:spPr>
      </p:sp>
      <p:sp>
        <p:nvSpPr>
          <p:cNvPr id="78" name="Google Shape;78;p6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9" name="Google Shape;79;p6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6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6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showMasterSp="0" type="vertTx">
  <p:cSld name="VERTICAL_TEXT">
    <p:spTree>
      <p:nvGrpSpPr>
        <p:cNvPr id="82" name="Shape 82"/>
        <p:cNvGrpSpPr/>
        <p:nvPr/>
      </p:nvGrpSpPr>
      <p:grpSpPr>
        <a:xfrm>
          <a:off x="0" y="0"/>
          <a:ext cx="0" cy="0"/>
          <a:chOff x="0" y="0"/>
          <a:chExt cx="0" cy="0"/>
        </a:xfrm>
      </p:grpSpPr>
      <p:sp>
        <p:nvSpPr>
          <p:cNvPr id="83" name="Google Shape;83;p6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6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6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6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6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8" name="Shape 88"/>
        <p:cNvGrpSpPr/>
        <p:nvPr/>
      </p:nvGrpSpPr>
      <p:grpSpPr>
        <a:xfrm>
          <a:off x="0" y="0"/>
          <a:ext cx="0" cy="0"/>
          <a:chOff x="0" y="0"/>
          <a:chExt cx="0" cy="0"/>
        </a:xfrm>
      </p:grpSpPr>
      <p:sp>
        <p:nvSpPr>
          <p:cNvPr id="89" name="Google Shape;89;p6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6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6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6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6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Титульный слайд" showMasterSp="0">
  <p:cSld name="1_Титульный слайд">
    <p:spTree>
      <p:nvGrpSpPr>
        <p:cNvPr id="94" name="Shape 94"/>
        <p:cNvGrpSpPr/>
        <p:nvPr/>
      </p:nvGrpSpPr>
      <p:grpSpPr>
        <a:xfrm>
          <a:off x="0" y="0"/>
          <a:ext cx="0" cy="0"/>
          <a:chOff x="0" y="0"/>
          <a:chExt cx="0" cy="0"/>
        </a:xfrm>
      </p:grpSpPr>
      <p:sp>
        <p:nvSpPr>
          <p:cNvPr id="95" name="Google Shape;95;p67"/>
          <p:cNvSpPr/>
          <p:nvPr/>
        </p:nvSpPr>
        <p:spPr>
          <a:xfrm>
            <a:off x="-19050" y="1905000"/>
            <a:ext cx="12211050" cy="4953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6" name="Google Shape;96;p67"/>
          <p:cNvSpPr/>
          <p:nvPr/>
        </p:nvSpPr>
        <p:spPr>
          <a:xfrm>
            <a:off x="-19050" y="0"/>
            <a:ext cx="12211050" cy="4438650"/>
          </a:xfrm>
          <a:custGeom>
            <a:rect b="b" l="l" r="r" t="t"/>
            <a:pathLst>
              <a:path extrusionOk="0" h="4438650" w="12211050">
                <a:moveTo>
                  <a:pt x="19050" y="0"/>
                </a:moveTo>
                <a:lnTo>
                  <a:pt x="12211050" y="0"/>
                </a:lnTo>
                <a:lnTo>
                  <a:pt x="12211050" y="4438650"/>
                </a:lnTo>
                <a:lnTo>
                  <a:pt x="0" y="3219450"/>
                </a:lnTo>
                <a:lnTo>
                  <a:pt x="19050" y="0"/>
                </a:lnTo>
                <a:close/>
              </a:path>
            </a:pathLst>
          </a:custGeom>
          <a:solidFill>
            <a:srgbClr val="17161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7" name="Google Shape;97;p67"/>
          <p:cNvSpPr/>
          <p:nvPr/>
        </p:nvSpPr>
        <p:spPr>
          <a:xfrm>
            <a:off x="1085850" y="1009650"/>
            <a:ext cx="10020300" cy="523875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8" name="Google Shape;98;p67"/>
          <p:cNvSpPr/>
          <p:nvPr>
            <p:ph idx="2" type="pic"/>
          </p:nvPr>
        </p:nvSpPr>
        <p:spPr>
          <a:xfrm>
            <a:off x="1847850" y="2819400"/>
            <a:ext cx="8496300" cy="2800350"/>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7.xml"/><Relationship Id="rId10" Type="http://schemas.openxmlformats.org/officeDocument/2006/relationships/slideLayout" Target="../slideLayouts/slideLayout6.xml"/><Relationship Id="rId13" Type="http://schemas.openxmlformats.org/officeDocument/2006/relationships/slideLayout" Target="../slideLayouts/slideLayout9.xml"/><Relationship Id="rId12" Type="http://schemas.openxmlformats.org/officeDocument/2006/relationships/slideLayout" Target="../slideLayouts/slideLayout8.xml"/><Relationship Id="rId1" Type="http://schemas.openxmlformats.org/officeDocument/2006/relationships/image" Target="../media/image5.png"/><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image" Target="../media/image2.png"/><Relationship Id="rId9" Type="http://schemas.openxmlformats.org/officeDocument/2006/relationships/slideLayout" Target="../slideLayouts/slideLayout5.xml"/><Relationship Id="rId15" Type="http://schemas.openxmlformats.org/officeDocument/2006/relationships/slideLayout" Target="../slideLayouts/slideLayout11.xml"/><Relationship Id="rId14" Type="http://schemas.openxmlformats.org/officeDocument/2006/relationships/slideLayout" Target="../slideLayouts/slideLayout10.xml"/><Relationship Id="rId17" Type="http://schemas.openxmlformats.org/officeDocument/2006/relationships/theme" Target="../theme/theme2.xml"/><Relationship Id="rId16" Type="http://schemas.openxmlformats.org/officeDocument/2006/relationships/slideLayout" Target="../slideLayouts/slideLayout12.xml"/><Relationship Id="rId5" Type="http://schemas.openxmlformats.org/officeDocument/2006/relationships/slideLayout" Target="../slideLayouts/slideLayout1.xml"/><Relationship Id="rId6" Type="http://schemas.openxmlformats.org/officeDocument/2006/relationships/slideLayout" Target="../slideLayouts/slideLayout2.xml"/><Relationship Id="rId7" Type="http://schemas.openxmlformats.org/officeDocument/2006/relationships/slideLayout" Target="../slideLayouts/slideLayout3.xml"/><Relationship Id="rId8"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5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5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15" name="Google Shape;15;p55"/>
          <p:cNvPicPr preferRelativeResize="0"/>
          <p:nvPr/>
        </p:nvPicPr>
        <p:blipFill rotWithShape="1">
          <a:blip r:embed="rId2">
            <a:alphaModFix/>
          </a:blip>
          <a:srcRect b="0" l="0" r="0" t="0"/>
          <a:stretch/>
        </p:blipFill>
        <p:spPr>
          <a:xfrm>
            <a:off x="8313446" y="0"/>
            <a:ext cx="882927" cy="785252"/>
          </a:xfrm>
          <a:prstGeom prst="rect">
            <a:avLst/>
          </a:prstGeom>
          <a:noFill/>
          <a:ln>
            <a:noFill/>
          </a:ln>
        </p:spPr>
      </p:pic>
      <p:pic>
        <p:nvPicPr>
          <p:cNvPr descr="National Board of Accreditation - Wikipedia" id="16" name="Google Shape;16;p55"/>
          <p:cNvPicPr preferRelativeResize="0"/>
          <p:nvPr/>
        </p:nvPicPr>
        <p:blipFill rotWithShape="1">
          <a:blip r:embed="rId3">
            <a:alphaModFix/>
          </a:blip>
          <a:srcRect b="0" l="0" r="0" t="0"/>
          <a:stretch/>
        </p:blipFill>
        <p:spPr>
          <a:xfrm>
            <a:off x="9299701" y="49261"/>
            <a:ext cx="872490" cy="688340"/>
          </a:xfrm>
          <a:prstGeom prst="rect">
            <a:avLst/>
          </a:prstGeom>
          <a:noFill/>
          <a:ln>
            <a:noFill/>
          </a:ln>
        </p:spPr>
      </p:pic>
      <p:pic>
        <p:nvPicPr>
          <p:cNvPr id="17" name="Google Shape;17;p55"/>
          <p:cNvPicPr preferRelativeResize="0"/>
          <p:nvPr/>
        </p:nvPicPr>
        <p:blipFill rotWithShape="1">
          <a:blip r:embed="rId4">
            <a:alphaModFix/>
          </a:blip>
          <a:srcRect b="0" l="0" r="0" t="0"/>
          <a:stretch/>
        </p:blipFill>
        <p:spPr>
          <a:xfrm>
            <a:off x="10275519" y="113999"/>
            <a:ext cx="1916480" cy="64155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60"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4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4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4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2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9.pn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3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2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4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4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3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3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hyperlink" Target="https://media.geeksforgeeks.org/wp-content/uploads/specialization.png" TargetMode="External"/><Relationship Id="rId4" Type="http://schemas.openxmlformats.org/officeDocument/2006/relationships/image" Target="../media/image3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3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4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 Id="rId3" Type="http://schemas.openxmlformats.org/officeDocument/2006/relationships/image" Target="../media/image37.png"/><Relationship Id="rId4" Type="http://schemas.openxmlformats.org/officeDocument/2006/relationships/image" Target="../media/image3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image" Target="../media/image3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 Id="rId3" Type="http://schemas.openxmlformats.org/officeDocument/2006/relationships/image" Target="../media/image3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openxmlformats.org/officeDocument/2006/relationships/image" Target="../media/image3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 Id="rId3" Type="http://schemas.openxmlformats.org/officeDocument/2006/relationships/image" Target="../media/image4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 Id="rId3" Type="http://schemas.openxmlformats.org/officeDocument/2006/relationships/image" Target="../media/image4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 Id="rId3" Type="http://schemas.openxmlformats.org/officeDocument/2006/relationships/image" Target="../media/image4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 Id="rId3" Type="http://schemas.openxmlformats.org/officeDocument/2006/relationships/image" Target="../media/image4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2" name="Shape 102"/>
        <p:cNvGrpSpPr/>
        <p:nvPr/>
      </p:nvGrpSpPr>
      <p:grpSpPr>
        <a:xfrm>
          <a:off x="0" y="0"/>
          <a:ext cx="0" cy="0"/>
          <a:chOff x="0" y="0"/>
          <a:chExt cx="0" cy="0"/>
        </a:xfrm>
      </p:grpSpPr>
      <p:sp>
        <p:nvSpPr>
          <p:cNvPr id="103" name="Google Shape;103;p1"/>
          <p:cNvSpPr/>
          <p:nvPr/>
        </p:nvSpPr>
        <p:spPr>
          <a:xfrm>
            <a:off x="501445" y="4837797"/>
            <a:ext cx="10958052" cy="151855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4" name="Google Shape;104;p1"/>
          <p:cNvSpPr txBox="1"/>
          <p:nvPr>
            <p:ph idx="1" type="subTitle"/>
          </p:nvPr>
        </p:nvSpPr>
        <p:spPr>
          <a:xfrm>
            <a:off x="562662" y="4891470"/>
            <a:ext cx="4156822" cy="123659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b="1" lang="en-US" sz="1800">
                <a:latin typeface="Times New Roman"/>
                <a:ea typeface="Times New Roman"/>
                <a:cs typeface="Times New Roman"/>
                <a:sym typeface="Times New Roman"/>
              </a:rPr>
              <a:t>DR. GITANJALI</a:t>
            </a:r>
            <a:endParaRPr/>
          </a:p>
          <a:p>
            <a:pPr indent="0" lvl="0" marL="0" rtl="0" algn="l">
              <a:lnSpc>
                <a:spcPct val="90000"/>
              </a:lnSpc>
              <a:spcBef>
                <a:spcPts val="1000"/>
              </a:spcBef>
              <a:spcAft>
                <a:spcPts val="0"/>
              </a:spcAft>
              <a:buClr>
                <a:schemeClr val="dk1"/>
              </a:buClr>
              <a:buSzPts val="1400"/>
              <a:buNone/>
            </a:pPr>
            <a:r>
              <a:rPr b="1" lang="en-US" sz="1400">
                <a:latin typeface="Times New Roman"/>
                <a:ea typeface="Times New Roman"/>
                <a:cs typeface="Times New Roman"/>
                <a:sym typeface="Times New Roman"/>
              </a:rPr>
              <a:t>E16525</a:t>
            </a:r>
            <a:endParaRPr/>
          </a:p>
          <a:p>
            <a:pPr indent="0" lvl="0" marL="0" rtl="0" algn="l">
              <a:lnSpc>
                <a:spcPct val="90000"/>
              </a:lnSpc>
              <a:spcBef>
                <a:spcPts val="1000"/>
              </a:spcBef>
              <a:spcAft>
                <a:spcPts val="0"/>
              </a:spcAft>
              <a:buClr>
                <a:schemeClr val="dk1"/>
              </a:buClr>
              <a:buSzPts val="1400"/>
              <a:buNone/>
            </a:pPr>
            <a:r>
              <a:rPr b="1" lang="en-US" sz="1400">
                <a:latin typeface="Times New Roman"/>
                <a:ea typeface="Times New Roman"/>
                <a:cs typeface="Times New Roman"/>
                <a:sym typeface="Times New Roman"/>
              </a:rPr>
              <a:t>ASSISTANT PROFESSOR</a:t>
            </a:r>
            <a:endParaRPr/>
          </a:p>
          <a:p>
            <a:pPr indent="0" lvl="0" marL="0" rtl="0" algn="l">
              <a:lnSpc>
                <a:spcPct val="90000"/>
              </a:lnSpc>
              <a:spcBef>
                <a:spcPts val="1000"/>
              </a:spcBef>
              <a:spcAft>
                <a:spcPts val="0"/>
              </a:spcAft>
              <a:buClr>
                <a:schemeClr val="dk1"/>
              </a:buClr>
              <a:buSzPts val="1400"/>
              <a:buNone/>
            </a:pPr>
            <a:r>
              <a:rPr b="1" lang="en-US" sz="1400">
                <a:latin typeface="Times New Roman"/>
                <a:ea typeface="Times New Roman"/>
                <a:cs typeface="Times New Roman"/>
                <a:sym typeface="Times New Roman"/>
              </a:rPr>
              <a:t>CSE </a:t>
            </a:r>
            <a:endParaRPr/>
          </a:p>
        </p:txBody>
      </p:sp>
      <p:sp>
        <p:nvSpPr>
          <p:cNvPr id="105" name="Google Shape;105;p1"/>
          <p:cNvSpPr/>
          <p:nvPr/>
        </p:nvSpPr>
        <p:spPr>
          <a:xfrm flipH="1">
            <a:off x="9344623" y="4901508"/>
            <a:ext cx="2466377" cy="1712909"/>
          </a:xfrm>
          <a:prstGeom prst="rtTriangle">
            <a:avLst/>
          </a:prstGeom>
          <a:solidFill>
            <a:srgbClr val="C00000"/>
          </a:solidFill>
          <a:ln>
            <a:noFill/>
          </a:ln>
        </p:spPr>
        <p:txBody>
          <a:bodyPr anchorCtr="0" anchor="ctr" bIns="37775" lIns="75575" spcFirstLastPara="1" rIns="75575" wrap="square" tIns="37775">
            <a:noAutofit/>
          </a:bodyPr>
          <a:lstStyle/>
          <a:p>
            <a:pPr indent="0" lvl="0" marL="0" marR="0" rtl="0" algn="ctr">
              <a:spcBef>
                <a:spcPts val="0"/>
              </a:spcBef>
              <a:spcAft>
                <a:spcPts val="0"/>
              </a:spcAft>
              <a:buNone/>
            </a:pPr>
            <a:r>
              <a:t/>
            </a:r>
            <a:endParaRPr b="0" i="0" sz="1488" u="none" cap="none" strike="noStrike">
              <a:solidFill>
                <a:schemeClr val="lt1"/>
              </a:solidFill>
              <a:latin typeface="Calibri"/>
              <a:ea typeface="Calibri"/>
              <a:cs typeface="Calibri"/>
              <a:sym typeface="Calibri"/>
            </a:endParaRPr>
          </a:p>
        </p:txBody>
      </p:sp>
      <p:sp>
        <p:nvSpPr>
          <p:cNvPr id="106" name="Google Shape;106;p1"/>
          <p:cNvSpPr txBox="1"/>
          <p:nvPr/>
        </p:nvSpPr>
        <p:spPr>
          <a:xfrm>
            <a:off x="7158646" y="5490468"/>
            <a:ext cx="4075113" cy="534988"/>
          </a:xfrm>
          <a:prstGeom prst="rect">
            <a:avLst/>
          </a:prstGeom>
          <a:noFill/>
          <a:ln>
            <a:noFill/>
          </a:ln>
        </p:spPr>
        <p:txBody>
          <a:bodyPr anchorCtr="0" anchor="t" bIns="37775" lIns="75575" spcFirstLastPara="1" rIns="75575" wrap="square" tIns="37775">
            <a:spAutoFit/>
          </a:bodyPr>
          <a:lstStyle/>
          <a:p>
            <a:pPr indent="0" lvl="0" marL="0" marR="0" rtl="0" algn="l">
              <a:spcBef>
                <a:spcPts val="0"/>
              </a:spcBef>
              <a:spcAft>
                <a:spcPts val="0"/>
              </a:spcAft>
              <a:buNone/>
            </a:pPr>
            <a:r>
              <a:rPr b="1" i="0" lang="en-US" sz="1653" u="none" cap="none" strike="noStrike">
                <a:solidFill>
                  <a:srgbClr val="595959"/>
                </a:solidFill>
                <a:latin typeface="Arial"/>
                <a:ea typeface="Arial"/>
                <a:cs typeface="Arial"/>
                <a:sym typeface="Arial"/>
              </a:rPr>
              <a:t>DISCOVER . </a:t>
            </a:r>
            <a:r>
              <a:rPr b="1" i="0" lang="en-US" sz="1653" u="none" cap="none" strike="noStrike">
                <a:solidFill>
                  <a:srgbClr val="C00000"/>
                </a:solidFill>
                <a:latin typeface="Arial"/>
                <a:ea typeface="Arial"/>
                <a:cs typeface="Arial"/>
                <a:sym typeface="Arial"/>
              </a:rPr>
              <a:t>LEARN</a:t>
            </a:r>
            <a:r>
              <a:rPr b="1" i="0" lang="en-US" sz="1653" u="none" cap="none" strike="noStrike">
                <a:solidFill>
                  <a:srgbClr val="595959"/>
                </a:solidFill>
                <a:latin typeface="Arial"/>
                <a:ea typeface="Arial"/>
                <a:cs typeface="Arial"/>
                <a:sym typeface="Arial"/>
              </a:rPr>
              <a:t> . EMPOWER</a:t>
            </a:r>
            <a:endParaRPr b="1" i="0" sz="992"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t/>
            </a:r>
            <a:endParaRPr b="1" i="0" sz="1323" u="none" cap="none" strike="noStrike">
              <a:solidFill>
                <a:schemeClr val="dk1"/>
              </a:solidFill>
              <a:latin typeface="Arial"/>
              <a:ea typeface="Arial"/>
              <a:cs typeface="Arial"/>
              <a:sym typeface="Arial"/>
            </a:endParaRPr>
          </a:p>
        </p:txBody>
      </p:sp>
      <p:sp>
        <p:nvSpPr>
          <p:cNvPr id="107" name="Google Shape;107;p1"/>
          <p:cNvSpPr/>
          <p:nvPr/>
        </p:nvSpPr>
        <p:spPr>
          <a:xfrm>
            <a:off x="1826198" y="5901986"/>
            <a:ext cx="45719" cy="613881"/>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8" name="Google Shape;108;p1"/>
          <p:cNvSpPr txBox="1"/>
          <p:nvPr/>
        </p:nvSpPr>
        <p:spPr>
          <a:xfrm>
            <a:off x="1040825" y="892905"/>
            <a:ext cx="9722858" cy="39702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000" u="none" cap="none" strike="noStrike">
                <a:solidFill>
                  <a:schemeClr val="dk1"/>
                </a:solidFill>
                <a:latin typeface="Arial"/>
                <a:ea typeface="Arial"/>
                <a:cs typeface="Arial"/>
                <a:sym typeface="Arial"/>
              </a:rPr>
              <a:t>UNIVERSITY INSTITUTE OF ENGINEERING</a:t>
            </a:r>
            <a:endParaRPr/>
          </a:p>
          <a:p>
            <a:pPr indent="0" lvl="0" marL="0" marR="0" rtl="0" algn="ctr">
              <a:spcBef>
                <a:spcPts val="0"/>
              </a:spcBef>
              <a:spcAft>
                <a:spcPts val="0"/>
              </a:spcAft>
              <a:buNone/>
            </a:pPr>
            <a:r>
              <a:t/>
            </a:r>
            <a:endParaRPr b="0" i="0" sz="4400" u="none" cap="none" strike="noStrike">
              <a:solidFill>
                <a:schemeClr val="dk1"/>
              </a:solidFill>
              <a:latin typeface="Arial"/>
              <a:ea typeface="Arial"/>
              <a:cs typeface="Arial"/>
              <a:sym typeface="Arial"/>
            </a:endParaRPr>
          </a:p>
          <a:p>
            <a:pPr indent="0" lvl="0" marL="0" marR="0" rtl="0" algn="ctr">
              <a:spcBef>
                <a:spcPts val="0"/>
              </a:spcBef>
              <a:spcAft>
                <a:spcPts val="0"/>
              </a:spcAft>
              <a:buNone/>
            </a:pPr>
            <a:r>
              <a:rPr b="1" i="0" lang="en-US" sz="2800" u="none" cap="none" strike="noStrike">
                <a:solidFill>
                  <a:schemeClr val="dk1"/>
                </a:solidFill>
                <a:latin typeface="Arial"/>
                <a:ea typeface="Arial"/>
                <a:cs typeface="Arial"/>
                <a:sym typeface="Arial"/>
              </a:rPr>
              <a:t>Department of Computer Science &amp; Engineering</a:t>
            </a:r>
            <a:endParaRPr/>
          </a:p>
          <a:p>
            <a:pPr indent="0" lvl="0" marL="0" marR="0" rtl="0" algn="ctr">
              <a:spcBef>
                <a:spcPts val="0"/>
              </a:spcBef>
              <a:spcAft>
                <a:spcPts val="0"/>
              </a:spcAft>
              <a:buNone/>
            </a:pPr>
            <a:r>
              <a:t/>
            </a:r>
            <a:endParaRPr b="1" i="0" sz="2800" u="none" cap="none" strike="noStrike">
              <a:solidFill>
                <a:schemeClr val="dk1"/>
              </a:solidFill>
              <a:latin typeface="Calibri"/>
              <a:ea typeface="Calibri"/>
              <a:cs typeface="Calibri"/>
              <a:sym typeface="Calibri"/>
            </a:endParaRPr>
          </a:p>
          <a:p>
            <a:pPr indent="0" lvl="0" marL="0" marR="0" rtl="0" algn="ctr">
              <a:spcBef>
                <a:spcPts val="0"/>
              </a:spcBef>
              <a:spcAft>
                <a:spcPts val="0"/>
              </a:spcAft>
              <a:buNone/>
            </a:pPr>
            <a:r>
              <a:rPr b="1" i="0" lang="en-US" sz="2800" u="none" cap="none" strike="noStrike">
                <a:solidFill>
                  <a:srgbClr val="000000"/>
                </a:solidFill>
                <a:latin typeface="Arial"/>
                <a:ea typeface="Arial"/>
                <a:cs typeface="Arial"/>
                <a:sym typeface="Arial"/>
              </a:rPr>
              <a:t>Databases Management System</a:t>
            </a:r>
            <a:endParaRPr/>
          </a:p>
          <a:p>
            <a:pPr indent="0" lvl="0" marL="0" marR="0" rtl="0" algn="ctr">
              <a:lnSpc>
                <a:spcPct val="116444"/>
              </a:lnSpc>
              <a:spcBef>
                <a:spcPts val="0"/>
              </a:spcBef>
              <a:spcAft>
                <a:spcPts val="0"/>
              </a:spcAft>
              <a:buNone/>
            </a:pPr>
            <a:r>
              <a:rPr b="1" i="0" lang="en-US" sz="3600" u="none" cap="none" strike="noStrike">
                <a:solidFill>
                  <a:srgbClr val="000000"/>
                </a:solidFill>
                <a:latin typeface="Arial"/>
                <a:ea typeface="Arial"/>
                <a:cs typeface="Arial"/>
                <a:sym typeface="Arial"/>
              </a:rPr>
              <a:t>(23CSH-205/23ITH-205)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
          <p:cNvSpPr txBox="1"/>
          <p:nvPr>
            <p:ph type="title"/>
          </p:nvPr>
        </p:nvSpPr>
        <p:spPr>
          <a:xfrm>
            <a:off x="2152650" y="4909"/>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Arial"/>
              <a:buNone/>
            </a:pPr>
            <a:r>
              <a:rPr b="1" lang="en-US">
                <a:solidFill>
                  <a:srgbClr val="C00000"/>
                </a:solidFill>
                <a:latin typeface="Arial"/>
                <a:ea typeface="Arial"/>
                <a:cs typeface="Arial"/>
                <a:sym typeface="Arial"/>
              </a:rPr>
              <a:t>ABOUT COURSE</a:t>
            </a:r>
            <a:endParaRPr>
              <a:solidFill>
                <a:srgbClr val="C00000"/>
              </a:solidFill>
            </a:endParaRPr>
          </a:p>
        </p:txBody>
      </p:sp>
      <p:sp>
        <p:nvSpPr>
          <p:cNvPr id="114" name="Google Shape;114;p2"/>
          <p:cNvSpPr txBox="1"/>
          <p:nvPr>
            <p:ph idx="1" type="body"/>
          </p:nvPr>
        </p:nvSpPr>
        <p:spPr>
          <a:xfrm>
            <a:off x="838200" y="1374824"/>
            <a:ext cx="11107993" cy="4455775"/>
          </a:xfrm>
          <a:prstGeom prst="rect">
            <a:avLst/>
          </a:prstGeom>
          <a:noFill/>
          <a:ln>
            <a:noFill/>
          </a:ln>
        </p:spPr>
        <p:txBody>
          <a:bodyPr anchorCtr="0" anchor="t" bIns="34275" lIns="68575" spcFirstLastPara="1" rIns="68575" wrap="square" tIns="34275">
            <a:noAutofit/>
          </a:bodyPr>
          <a:lstStyle/>
          <a:p>
            <a:pPr indent="-228600" lvl="0" marL="228600" rtl="0" algn="just">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The main DBMS course, we learn about the </a:t>
            </a:r>
            <a:r>
              <a:rPr lang="en-US" sz="2400">
                <a:solidFill>
                  <a:srgbClr val="833C0B"/>
                </a:solidFill>
                <a:latin typeface="Times New Roman"/>
                <a:ea typeface="Times New Roman"/>
                <a:cs typeface="Times New Roman"/>
                <a:sym typeface="Times New Roman"/>
              </a:rPr>
              <a:t>structural formation of data</a:t>
            </a:r>
            <a:r>
              <a:rPr lang="en-US" sz="2400">
                <a:latin typeface="Times New Roman"/>
                <a:ea typeface="Times New Roman"/>
                <a:cs typeface="Times New Roman"/>
                <a:sym typeface="Times New Roman"/>
              </a:rPr>
              <a:t>, </a:t>
            </a:r>
            <a:r>
              <a:rPr lang="en-US" sz="2400">
                <a:solidFill>
                  <a:srgbClr val="2F5496"/>
                </a:solidFill>
                <a:latin typeface="Times New Roman"/>
                <a:ea typeface="Times New Roman"/>
                <a:cs typeface="Times New Roman"/>
                <a:sym typeface="Times New Roman"/>
              </a:rPr>
              <a:t>maintain data integrity</a:t>
            </a:r>
            <a:r>
              <a:rPr lang="en-US" sz="2400">
                <a:latin typeface="Times New Roman"/>
                <a:ea typeface="Times New Roman"/>
                <a:cs typeface="Times New Roman"/>
                <a:sym typeface="Times New Roman"/>
              </a:rPr>
              <a:t>, </a:t>
            </a:r>
            <a:r>
              <a:rPr lang="en-US" sz="2400">
                <a:solidFill>
                  <a:srgbClr val="385623"/>
                </a:solidFill>
                <a:latin typeface="Times New Roman"/>
                <a:ea typeface="Times New Roman"/>
                <a:cs typeface="Times New Roman"/>
                <a:sym typeface="Times New Roman"/>
              </a:rPr>
              <a:t>multitasking with concurrent access </a:t>
            </a:r>
            <a:r>
              <a:rPr lang="en-US" sz="2400">
                <a:latin typeface="Times New Roman"/>
                <a:ea typeface="Times New Roman"/>
                <a:cs typeface="Times New Roman"/>
                <a:sym typeface="Times New Roman"/>
              </a:rPr>
              <a:t>and </a:t>
            </a:r>
            <a:r>
              <a:rPr lang="en-US" sz="2400">
                <a:solidFill>
                  <a:schemeClr val="dk2"/>
                </a:solidFill>
                <a:latin typeface="Times New Roman"/>
                <a:ea typeface="Times New Roman"/>
                <a:cs typeface="Times New Roman"/>
                <a:sym typeface="Times New Roman"/>
              </a:rPr>
              <a:t>recovery without occurring crashes</a:t>
            </a:r>
            <a:r>
              <a:rPr lang="en-US" sz="2400">
                <a:latin typeface="Times New Roman"/>
                <a:ea typeface="Times New Roman"/>
                <a:cs typeface="Times New Roman"/>
                <a:sym typeface="Times New Roman"/>
              </a:rPr>
              <a:t>, data structures, data models etc. and their working in which every organization is based. </a:t>
            </a:r>
            <a:endParaRPr/>
          </a:p>
          <a:p>
            <a:pPr indent="-228600" lvl="0" marL="228600" rtl="0" algn="just">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At the end of the course, the students may understand the concepts of data structures, data models and design, construction of queries by using SQL, uses and applications of database design etc</a:t>
            </a:r>
            <a:endParaRPr/>
          </a:p>
          <a:p>
            <a:pPr indent="-76200" lvl="0" marL="228600" rtl="0" algn="just">
              <a:lnSpc>
                <a:spcPct val="90000"/>
              </a:lnSpc>
              <a:spcBef>
                <a:spcPts val="1000"/>
              </a:spcBef>
              <a:spcAft>
                <a:spcPts val="0"/>
              </a:spcAft>
              <a:buClr>
                <a:schemeClr val="dk1"/>
              </a:buClr>
              <a:buSzPts val="2400"/>
              <a:buNone/>
            </a:pPr>
            <a:r>
              <a:t/>
            </a:r>
            <a:endParaRPr i="1" sz="2400">
              <a:latin typeface="Times New Roman"/>
              <a:ea typeface="Times New Roman"/>
              <a:cs typeface="Times New Roman"/>
              <a:sym typeface="Times New Roman"/>
            </a:endParaRPr>
          </a:p>
        </p:txBody>
      </p:sp>
      <p:sp>
        <p:nvSpPr>
          <p:cNvPr id="115" name="Google Shape;115;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116" name="Google Shape;116;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graphicFrame>
        <p:nvGraphicFramePr>
          <p:cNvPr id="121" name="Google Shape;121;p3"/>
          <p:cNvGraphicFramePr/>
          <p:nvPr/>
        </p:nvGraphicFramePr>
        <p:xfrm>
          <a:off x="309716" y="1798609"/>
          <a:ext cx="3000000" cy="3000000"/>
        </p:xfrm>
        <a:graphic>
          <a:graphicData uri="http://schemas.openxmlformats.org/drawingml/2006/table">
            <a:tbl>
              <a:tblPr>
                <a:noFill/>
                <a:tableStyleId>{FC0036FE-D201-47F2-B3EB-6AA676099217}</a:tableStyleId>
              </a:tblPr>
              <a:tblGrid>
                <a:gridCol w="842250"/>
                <a:gridCol w="5406775"/>
                <a:gridCol w="1594675"/>
              </a:tblGrid>
              <a:tr h="509675">
                <a:tc>
                  <a:txBody>
                    <a:bodyPr/>
                    <a:lstStyle/>
                    <a:p>
                      <a:pPr indent="0" lvl="0" marL="0" marR="0" rtl="0" algn="ctr">
                        <a:spcBef>
                          <a:spcPts val="0"/>
                        </a:spcBef>
                        <a:spcAft>
                          <a:spcPts val="0"/>
                        </a:spcAft>
                        <a:buNone/>
                      </a:pPr>
                      <a:r>
                        <a:rPr b="1" i="0" lang="en-US" sz="2000" u="none" cap="none" strike="noStrike">
                          <a:solidFill>
                            <a:srgbClr val="000000"/>
                          </a:solidFill>
                          <a:latin typeface="Calibri"/>
                          <a:ea typeface="Calibri"/>
                          <a:cs typeface="Calibri"/>
                          <a:sym typeface="Calibri"/>
                        </a:rPr>
                        <a:t>CO No.</a:t>
                      </a:r>
                      <a:endParaRPr/>
                    </a:p>
                  </a:txBody>
                  <a:tcPr marT="9525" marB="0" marR="9525" marL="9525" anchor="ctr">
                    <a:lnL cap="flat" cmpd="sng" w="1270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i="0" lang="en-US" sz="2000" u="none" cap="none" strike="noStrike">
                          <a:solidFill>
                            <a:srgbClr val="000000"/>
                          </a:solidFill>
                          <a:latin typeface="Calibri"/>
                          <a:ea typeface="Calibri"/>
                          <a:cs typeface="Calibri"/>
                          <a:sym typeface="Calibri"/>
                        </a:rPr>
                        <a:t>Title</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i="0" lang="en-US" sz="2000" u="none" cap="none" strike="noStrike">
                          <a:solidFill>
                            <a:srgbClr val="000000"/>
                          </a:solidFill>
                          <a:latin typeface="Calibri"/>
                          <a:ea typeface="Calibri"/>
                          <a:cs typeface="Calibri"/>
                          <a:sym typeface="Calibri"/>
                        </a:rPr>
                        <a:t>BT Level</a:t>
                      </a:r>
                      <a:endParaRPr/>
                    </a:p>
                  </a:txBody>
                  <a:tcPr marT="9525" marB="0" marR="9525" marL="9525" anchor="ctr">
                    <a:lnL cap="flat" cmpd="sng" w="952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019375">
                <a:tc>
                  <a:txBody>
                    <a:bodyPr/>
                    <a:lstStyle/>
                    <a:p>
                      <a:pPr indent="0" lvl="0" marL="0" marR="0" rtl="0" algn="ctr">
                        <a:spcBef>
                          <a:spcPts val="0"/>
                        </a:spcBef>
                        <a:spcAft>
                          <a:spcPts val="0"/>
                        </a:spcAft>
                        <a:buNone/>
                      </a:pPr>
                      <a:r>
                        <a:rPr b="1" i="0" lang="en-US" sz="1600" u="none" cap="none" strike="noStrike">
                          <a:solidFill>
                            <a:srgbClr val="00B050"/>
                          </a:solidFill>
                          <a:highlight>
                            <a:srgbClr val="FFFF00"/>
                          </a:highlight>
                          <a:latin typeface="Times New Roman"/>
                          <a:ea typeface="Times New Roman"/>
                          <a:cs typeface="Times New Roman"/>
                          <a:sym typeface="Times New Roman"/>
                        </a:rPr>
                        <a:t>CO1</a:t>
                      </a:r>
                      <a:endParaRPr/>
                    </a:p>
                  </a:txBody>
                  <a:tcPr marT="9525" marB="0" marR="9525" marL="9525" anchor="ctr">
                    <a:lnL cap="flat" cmpd="sng" w="1270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i="0" lang="en-US" sz="1600" u="none" cap="none" strike="noStrike">
                          <a:solidFill>
                            <a:srgbClr val="000000"/>
                          </a:solidFill>
                          <a:latin typeface="Times New Roman"/>
                          <a:ea typeface="Times New Roman"/>
                          <a:cs typeface="Times New Roman"/>
                          <a:sym typeface="Times New Roman"/>
                        </a:rPr>
                        <a:t>Students will be able to understand the database system concepts and design databases for different applications. </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7CAAC"/>
                    </a:solidFill>
                  </a:tcPr>
                </a:tc>
                <a:tc>
                  <a:txBody>
                    <a:bodyPr/>
                    <a:lstStyle/>
                    <a:p>
                      <a:pPr indent="0" lvl="0" marL="0" marR="0" rtl="0" algn="ctr">
                        <a:spcBef>
                          <a:spcPts val="0"/>
                        </a:spcBef>
                        <a:spcAft>
                          <a:spcPts val="0"/>
                        </a:spcAft>
                        <a:buNone/>
                      </a:pPr>
                      <a:r>
                        <a:rPr b="1" i="0" lang="en-US" sz="2000" u="none" cap="none" strike="noStrike">
                          <a:solidFill>
                            <a:srgbClr val="C00000"/>
                          </a:solidFill>
                          <a:highlight>
                            <a:srgbClr val="FFFF00"/>
                          </a:highlight>
                          <a:latin typeface="Calibri"/>
                          <a:ea typeface="Calibri"/>
                          <a:cs typeface="Calibri"/>
                          <a:sym typeface="Calibri"/>
                        </a:rPr>
                        <a:t>Memorize</a:t>
                      </a:r>
                      <a:endParaRPr/>
                    </a:p>
                  </a:txBody>
                  <a:tcPr marT="9525" marB="0" marR="9525" marL="9525" anchor="ctr">
                    <a:lnL cap="flat" cmpd="sng" w="952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7075">
                <a:tc>
                  <a:txBody>
                    <a:bodyPr/>
                    <a:lstStyle/>
                    <a:p>
                      <a:pPr indent="0" lvl="0" marL="0" marR="0" rtl="0" algn="ctr">
                        <a:spcBef>
                          <a:spcPts val="0"/>
                        </a:spcBef>
                        <a:spcAft>
                          <a:spcPts val="0"/>
                        </a:spcAft>
                        <a:buNone/>
                      </a:pPr>
                      <a:r>
                        <a:rPr b="1" i="0" lang="en-US" sz="1600" u="none" cap="none" strike="noStrike">
                          <a:solidFill>
                            <a:srgbClr val="00B050"/>
                          </a:solidFill>
                          <a:latin typeface="Times New Roman"/>
                          <a:ea typeface="Times New Roman"/>
                          <a:cs typeface="Times New Roman"/>
                          <a:sym typeface="Times New Roman"/>
                        </a:rPr>
                        <a:t>CO2</a:t>
                      </a:r>
                      <a:endParaRPr/>
                    </a:p>
                  </a:txBody>
                  <a:tcPr marT="9525" marB="0" marR="9525" marL="9525" anchor="ctr">
                    <a:lnL cap="flat" cmpd="sng" w="1270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i="0" lang="en-US" sz="1600" u="none" cap="none" strike="noStrike">
                          <a:solidFill>
                            <a:srgbClr val="000000"/>
                          </a:solidFill>
                          <a:latin typeface="Times New Roman"/>
                          <a:ea typeface="Times New Roman"/>
                          <a:cs typeface="Times New Roman"/>
                          <a:sym typeface="Times New Roman"/>
                        </a:rPr>
                        <a:t>Students will be able to identify different types of DDL, DML, DCL and TCL commands and their usage.</a:t>
                      </a:r>
                      <a:endParaRPr b="1" i="0" sz="1600" u="none" cap="none" strike="noStrike">
                        <a:solidFill>
                          <a:srgbClr val="000000"/>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b="1" i="0" sz="1600" u="none" cap="none" strike="noStrike">
                        <a:solidFill>
                          <a:srgbClr val="000000"/>
                        </a:solidFill>
                        <a:latin typeface="Times New Roman"/>
                        <a:ea typeface="Times New Roman"/>
                        <a:cs typeface="Times New Roman"/>
                        <a:sym typeface="Times New Roman"/>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3C6E7"/>
                    </a:solidFill>
                  </a:tcPr>
                </a:tc>
                <a:tc>
                  <a:txBody>
                    <a:bodyPr/>
                    <a:lstStyle/>
                    <a:p>
                      <a:pPr indent="0" lvl="0" marL="0" marR="0" rtl="0" algn="ctr">
                        <a:spcBef>
                          <a:spcPts val="0"/>
                        </a:spcBef>
                        <a:spcAft>
                          <a:spcPts val="0"/>
                        </a:spcAft>
                        <a:buNone/>
                      </a:pPr>
                      <a:r>
                        <a:rPr b="1" i="0" lang="en-US" sz="2000" u="none" cap="none" strike="noStrike">
                          <a:solidFill>
                            <a:srgbClr val="C00000"/>
                          </a:solidFill>
                          <a:latin typeface="Calibri"/>
                          <a:ea typeface="Calibri"/>
                          <a:cs typeface="Calibri"/>
                          <a:sym typeface="Calibri"/>
                        </a:rPr>
                        <a:t>Understanding</a:t>
                      </a:r>
                      <a:endParaRPr/>
                    </a:p>
                  </a:txBody>
                  <a:tcPr marT="9525" marB="0" marR="9525" marL="9525" anchor="ctr">
                    <a:lnL cap="flat" cmpd="sng" w="952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66475">
                <a:tc>
                  <a:txBody>
                    <a:bodyPr/>
                    <a:lstStyle/>
                    <a:p>
                      <a:pPr indent="0" lvl="0" marL="0" marR="0" rtl="0" algn="ctr">
                        <a:spcBef>
                          <a:spcPts val="0"/>
                        </a:spcBef>
                        <a:spcAft>
                          <a:spcPts val="0"/>
                        </a:spcAft>
                        <a:buNone/>
                      </a:pPr>
                      <a:r>
                        <a:rPr b="1" i="0" lang="en-US" sz="1600" u="none" cap="none" strike="noStrike">
                          <a:solidFill>
                            <a:srgbClr val="00B050"/>
                          </a:solidFill>
                          <a:latin typeface="Times New Roman"/>
                          <a:ea typeface="Times New Roman"/>
                          <a:cs typeface="Times New Roman"/>
                          <a:sym typeface="Times New Roman"/>
                        </a:rPr>
                        <a:t>CO3</a:t>
                      </a:r>
                      <a:endParaRPr/>
                    </a:p>
                  </a:txBody>
                  <a:tcPr marT="9525" marB="0" marR="9525" marL="9525" anchor="ctr">
                    <a:lnL cap="flat" cmpd="sng" w="1270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i="0" lang="en-US" sz="1600" u="none" cap="none" strike="noStrike">
                          <a:solidFill>
                            <a:srgbClr val="000000"/>
                          </a:solidFill>
                          <a:latin typeface="Times New Roman"/>
                          <a:ea typeface="Times New Roman"/>
                          <a:cs typeface="Times New Roman"/>
                          <a:sym typeface="Times New Roman"/>
                        </a:rPr>
                        <a:t>Students will be able to classifying Normalization, Dependencies and Denormalization along with their requirements.</a:t>
                      </a:r>
                      <a:endParaRPr b="1" i="0" sz="1600" u="none" cap="none" strike="noStrike">
                        <a:solidFill>
                          <a:srgbClr val="000000"/>
                        </a:solidFill>
                        <a:latin typeface="Times New Roman"/>
                        <a:ea typeface="Times New Roman"/>
                        <a:cs typeface="Times New Roman"/>
                        <a:sym typeface="Times New Roman"/>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8D08C"/>
                    </a:solidFill>
                  </a:tcPr>
                </a:tc>
                <a:tc>
                  <a:txBody>
                    <a:bodyPr/>
                    <a:lstStyle/>
                    <a:p>
                      <a:pPr indent="0" lvl="0" marL="0" marR="0" rtl="0" algn="ctr">
                        <a:spcBef>
                          <a:spcPts val="0"/>
                        </a:spcBef>
                        <a:spcAft>
                          <a:spcPts val="0"/>
                        </a:spcAft>
                        <a:buNone/>
                      </a:pPr>
                      <a:r>
                        <a:rPr b="1" i="0" lang="en-US" sz="2000" u="none" cap="none" strike="noStrike">
                          <a:solidFill>
                            <a:srgbClr val="C00000"/>
                          </a:solidFill>
                          <a:latin typeface="Calibri"/>
                          <a:ea typeface="Calibri"/>
                          <a:cs typeface="Calibri"/>
                          <a:sym typeface="Calibri"/>
                        </a:rPr>
                        <a:t>Apply</a:t>
                      </a:r>
                      <a:endParaRPr/>
                    </a:p>
                  </a:txBody>
                  <a:tcPr marT="9525" marB="0" marR="9525" marL="9525" anchor="ctr">
                    <a:lnL cap="flat" cmpd="sng" w="952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09675">
                <a:tc>
                  <a:txBody>
                    <a:bodyPr/>
                    <a:lstStyle/>
                    <a:p>
                      <a:pPr indent="0" lvl="0" marL="0" marR="0" rtl="0" algn="ctr">
                        <a:spcBef>
                          <a:spcPts val="0"/>
                        </a:spcBef>
                        <a:spcAft>
                          <a:spcPts val="0"/>
                        </a:spcAft>
                        <a:buNone/>
                      </a:pPr>
                      <a:r>
                        <a:rPr b="1" i="0" lang="en-US" sz="1600" u="none" cap="none" strike="noStrike">
                          <a:solidFill>
                            <a:srgbClr val="00B050"/>
                          </a:solidFill>
                          <a:latin typeface="Times New Roman"/>
                          <a:ea typeface="Times New Roman"/>
                          <a:cs typeface="Times New Roman"/>
                          <a:sym typeface="Times New Roman"/>
                        </a:rPr>
                        <a:t>CO4</a:t>
                      </a:r>
                      <a:endParaRPr/>
                    </a:p>
                  </a:txBody>
                  <a:tcPr marT="9525" marB="0" marR="9525" marL="9525" anchor="ctr">
                    <a:lnL cap="flat" cmpd="sng" w="1270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i="0" lang="en-US" sz="1600" u="none" cap="none" strike="noStrike">
                          <a:solidFill>
                            <a:srgbClr val="000000"/>
                          </a:solidFill>
                          <a:latin typeface="Times New Roman"/>
                          <a:ea typeface="Times New Roman"/>
                          <a:cs typeface="Times New Roman"/>
                          <a:sym typeface="Times New Roman"/>
                        </a:rPr>
                        <a:t>Students will be able to analyse and Compare Transaction Processing techniques and Recovery techniques.</a:t>
                      </a:r>
                      <a:endParaRPr b="1" i="0" sz="1600" u="none" cap="none" strike="noStrike">
                        <a:solidFill>
                          <a:srgbClr val="000000"/>
                        </a:solidFill>
                        <a:latin typeface="Times New Roman"/>
                        <a:ea typeface="Times New Roman"/>
                        <a:cs typeface="Times New Roman"/>
                        <a:sym typeface="Times New Roman"/>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E599"/>
                    </a:solidFill>
                  </a:tcPr>
                </a:tc>
                <a:tc>
                  <a:txBody>
                    <a:bodyPr/>
                    <a:lstStyle/>
                    <a:p>
                      <a:pPr indent="0" lvl="0" marL="0" marR="0" rtl="0" algn="ctr">
                        <a:spcBef>
                          <a:spcPts val="0"/>
                        </a:spcBef>
                        <a:spcAft>
                          <a:spcPts val="0"/>
                        </a:spcAft>
                        <a:buNone/>
                      </a:pPr>
                      <a:r>
                        <a:rPr b="1" i="0" lang="en-US" sz="2000" u="none" cap="none" strike="noStrike">
                          <a:solidFill>
                            <a:srgbClr val="C00000"/>
                          </a:solidFill>
                          <a:latin typeface="Calibri"/>
                          <a:ea typeface="Calibri"/>
                          <a:cs typeface="Calibri"/>
                          <a:sym typeface="Calibri"/>
                        </a:rPr>
                        <a:t>Analyze</a:t>
                      </a:r>
                      <a:endParaRPr/>
                    </a:p>
                  </a:txBody>
                  <a:tcPr marT="9525" marB="0" marR="9525" marL="9525" anchor="ctr">
                    <a:lnL cap="flat" cmpd="sng" w="952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35175">
                <a:tc>
                  <a:txBody>
                    <a:bodyPr/>
                    <a:lstStyle/>
                    <a:p>
                      <a:pPr indent="0" lvl="0" marL="0" marR="0" rtl="0" algn="ctr">
                        <a:spcBef>
                          <a:spcPts val="0"/>
                        </a:spcBef>
                        <a:spcAft>
                          <a:spcPts val="0"/>
                        </a:spcAft>
                        <a:buNone/>
                      </a:pPr>
                      <a:r>
                        <a:rPr b="1" i="0" lang="en-US" sz="1600" u="none" cap="none" strike="noStrike">
                          <a:solidFill>
                            <a:srgbClr val="00B050"/>
                          </a:solidFill>
                          <a:latin typeface="Times New Roman"/>
                          <a:ea typeface="Times New Roman"/>
                          <a:cs typeface="Times New Roman"/>
                          <a:sym typeface="Times New Roman"/>
                        </a:rPr>
                        <a:t>CO5</a:t>
                      </a:r>
                      <a:endParaRPr/>
                    </a:p>
                  </a:txBody>
                  <a:tcPr marT="9525" marB="0" marR="9525" marL="9525" anchor="ctr">
                    <a:lnL cap="flat" cmpd="sng" w="1270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i="0" lang="en-US" sz="1600" u="none" cap="none" strike="noStrike">
                          <a:solidFill>
                            <a:srgbClr val="000000"/>
                          </a:solidFill>
                          <a:latin typeface="Times New Roman"/>
                          <a:ea typeface="Times New Roman"/>
                          <a:cs typeface="Times New Roman"/>
                          <a:sym typeface="Times New Roman"/>
                        </a:rPr>
                        <a:t>Students will be able to evaluate database performance after implementing Triggers, procedures, packages, cursors and views.</a:t>
                      </a:r>
                      <a:endParaRPr b="1" i="0" sz="1600" u="none" cap="none" strike="noStrike">
                        <a:solidFill>
                          <a:srgbClr val="000000"/>
                        </a:solidFill>
                        <a:latin typeface="Times New Roman"/>
                        <a:ea typeface="Times New Roman"/>
                        <a:cs typeface="Times New Roman"/>
                        <a:sym typeface="Times New Roman"/>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b="1" i="0" lang="en-US" sz="2000" u="none" cap="none" strike="noStrike">
                          <a:solidFill>
                            <a:srgbClr val="C00000"/>
                          </a:solidFill>
                          <a:latin typeface="Calibri"/>
                          <a:ea typeface="Calibri"/>
                          <a:cs typeface="Calibri"/>
                          <a:sym typeface="Calibri"/>
                        </a:rPr>
                        <a:t>Evaluate</a:t>
                      </a:r>
                      <a:endParaRPr/>
                    </a:p>
                  </a:txBody>
                  <a:tcPr marT="9525" marB="0" marR="9525" marL="9525" anchor="ctr">
                    <a:lnL cap="flat" cmpd="sng" w="952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122" name="Google Shape;122;p3"/>
          <p:cNvSpPr txBox="1"/>
          <p:nvPr>
            <p:ph type="title"/>
          </p:nvPr>
        </p:nvSpPr>
        <p:spPr>
          <a:xfrm>
            <a:off x="1719416" y="376190"/>
            <a:ext cx="7886700" cy="65250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C00000"/>
              </a:buClr>
              <a:buSzPts val="3600"/>
              <a:buFont typeface="Arial Rounded"/>
              <a:buNone/>
            </a:pPr>
            <a:r>
              <a:rPr b="1" lang="en-US" sz="3600">
                <a:solidFill>
                  <a:srgbClr val="C00000"/>
                </a:solidFill>
                <a:latin typeface="Arial Rounded"/>
                <a:ea typeface="Arial Rounded"/>
                <a:cs typeface="Arial Rounded"/>
                <a:sym typeface="Arial Rounded"/>
              </a:rPr>
              <a:t>COURSE OUTCOMES </a:t>
            </a:r>
            <a:endParaRPr b="1" sz="3600">
              <a:solidFill>
                <a:srgbClr val="C00000"/>
              </a:solidFill>
              <a:latin typeface="Arial Rounded"/>
              <a:ea typeface="Arial Rounded"/>
              <a:cs typeface="Arial Rounded"/>
              <a:sym typeface="Arial Rounded"/>
            </a:endParaRPr>
          </a:p>
        </p:txBody>
      </p:sp>
      <p:sp>
        <p:nvSpPr>
          <p:cNvPr id="123" name="Google Shape;123;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124" name="Google Shape;124;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
        <p:nvSpPr>
          <p:cNvPr id="125" name="Google Shape;125;p3"/>
          <p:cNvSpPr/>
          <p:nvPr/>
        </p:nvSpPr>
        <p:spPr>
          <a:xfrm>
            <a:off x="8371907" y="1161441"/>
            <a:ext cx="3602379" cy="4139901"/>
          </a:xfrm>
          <a:prstGeom prst="rect">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6" name="Google Shape;126;p3"/>
          <p:cNvSpPr/>
          <p:nvPr/>
        </p:nvSpPr>
        <p:spPr>
          <a:xfrm>
            <a:off x="9163335" y="1780920"/>
            <a:ext cx="2244894" cy="1068207"/>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Will be covered in this lecture</a:t>
            </a:r>
            <a:endParaRPr b="0" i="0" sz="1400" u="none" cap="none" strike="noStrike">
              <a:solidFill>
                <a:srgbClr val="000000"/>
              </a:solidFill>
              <a:latin typeface="Arial"/>
              <a:ea typeface="Arial"/>
              <a:cs typeface="Arial"/>
              <a:sym typeface="Arial"/>
            </a:endParaRPr>
          </a:p>
        </p:txBody>
      </p:sp>
      <p:cxnSp>
        <p:nvCxnSpPr>
          <p:cNvPr id="127" name="Google Shape;127;p3"/>
          <p:cNvCxnSpPr/>
          <p:nvPr/>
        </p:nvCxnSpPr>
        <p:spPr>
          <a:xfrm flipH="1" rot="10800000">
            <a:off x="7924800" y="2125686"/>
            <a:ext cx="1238535" cy="598209"/>
          </a:xfrm>
          <a:prstGeom prst="straightConnector1">
            <a:avLst/>
          </a:prstGeom>
          <a:noFill/>
          <a:ln cap="flat" cmpd="sng" w="9525">
            <a:solidFill>
              <a:srgbClr val="4A7DBA"/>
            </a:solidFill>
            <a:prstDash val="solid"/>
            <a:round/>
            <a:headEnd len="sm" w="sm" type="none"/>
            <a:tailEnd len="med" w="med" type="triangl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4"/>
          <p:cNvSpPr/>
          <p:nvPr/>
        </p:nvSpPr>
        <p:spPr>
          <a:xfrm>
            <a:off x="381913" y="1925013"/>
            <a:ext cx="11549531" cy="3349956"/>
          </a:xfrm>
          <a:prstGeom prst="rect">
            <a:avLst/>
          </a:prstGeom>
          <a:noFill/>
          <a:ln>
            <a:noFill/>
          </a:ln>
        </p:spPr>
        <p:txBody>
          <a:bodyPr anchorCtr="0" anchor="t" bIns="45700" lIns="91425" spcFirstLastPara="1" rIns="91425" wrap="square" tIns="45700">
            <a:spAutoFit/>
          </a:bodyPr>
          <a:lstStyle/>
          <a:p>
            <a:pPr indent="-342900" lvl="0" marL="342900" marR="0" rtl="0" algn="l">
              <a:lnSpc>
                <a:spcPct val="150000"/>
              </a:lnSpc>
              <a:spcBef>
                <a:spcPts val="0"/>
              </a:spcBef>
              <a:spcAft>
                <a:spcPts val="0"/>
              </a:spcAft>
              <a:buClr>
                <a:schemeClr val="dk1"/>
              </a:buClr>
              <a:buSzPts val="2400"/>
              <a:buFont typeface="Calibri"/>
              <a:buAutoNum type="arabicPeriod"/>
            </a:pPr>
            <a:r>
              <a:rPr b="0" i="0" lang="en-US" sz="2400" u="none" cap="none" strike="noStrike">
                <a:solidFill>
                  <a:schemeClr val="dk1"/>
                </a:solidFill>
                <a:latin typeface="Times New Roman"/>
                <a:ea typeface="Times New Roman"/>
                <a:cs typeface="Times New Roman"/>
                <a:sym typeface="Times New Roman"/>
              </a:rPr>
              <a:t>To have good </a:t>
            </a:r>
            <a:r>
              <a:rPr b="1" i="0" lang="en-US" sz="2400" u="none" cap="none" strike="noStrike">
                <a:solidFill>
                  <a:schemeClr val="dk1"/>
                </a:solidFill>
                <a:latin typeface="Times New Roman"/>
                <a:ea typeface="Times New Roman"/>
                <a:cs typeface="Times New Roman"/>
                <a:sym typeface="Times New Roman"/>
              </a:rPr>
              <a:t>understanding of database system </a:t>
            </a:r>
            <a:r>
              <a:rPr b="0" i="0" lang="en-US" sz="2400" u="none" cap="none" strike="noStrike">
                <a:solidFill>
                  <a:schemeClr val="dk1"/>
                </a:solidFill>
                <a:latin typeface="Times New Roman"/>
                <a:ea typeface="Times New Roman"/>
                <a:cs typeface="Times New Roman"/>
                <a:sym typeface="Times New Roman"/>
              </a:rPr>
              <a:t>concepts and </a:t>
            </a:r>
            <a:r>
              <a:rPr b="1" i="0" lang="en-US" sz="2400" u="none" cap="none" strike="noStrike">
                <a:solidFill>
                  <a:schemeClr val="dk1"/>
                </a:solidFill>
                <a:latin typeface="Times New Roman"/>
                <a:ea typeface="Times New Roman"/>
                <a:cs typeface="Times New Roman"/>
                <a:sym typeface="Times New Roman"/>
              </a:rPr>
              <a:t>design databases </a:t>
            </a:r>
            <a:r>
              <a:rPr b="0" i="0" lang="en-US" sz="2400" u="none" cap="none" strike="noStrike">
                <a:solidFill>
                  <a:schemeClr val="dk1"/>
                </a:solidFill>
                <a:latin typeface="Times New Roman"/>
                <a:ea typeface="Times New Roman"/>
                <a:cs typeface="Times New Roman"/>
                <a:sym typeface="Times New Roman"/>
              </a:rPr>
              <a:t>for different applications.</a:t>
            </a:r>
            <a:endParaRPr/>
          </a:p>
          <a:p>
            <a:pPr indent="-342900" lvl="0" marL="342900" marR="0" rtl="0" algn="l">
              <a:lnSpc>
                <a:spcPct val="150000"/>
              </a:lnSpc>
              <a:spcBef>
                <a:spcPts val="0"/>
              </a:spcBef>
              <a:spcAft>
                <a:spcPts val="0"/>
              </a:spcAft>
              <a:buClr>
                <a:schemeClr val="dk1"/>
              </a:buClr>
              <a:buSzPts val="2400"/>
              <a:buFont typeface="Calibri"/>
              <a:buAutoNum type="arabicPeriod"/>
            </a:pPr>
            <a:r>
              <a:rPr b="0" i="0" lang="en-US" sz="2400" u="none" cap="none" strike="noStrike">
                <a:solidFill>
                  <a:schemeClr val="dk1"/>
                </a:solidFill>
                <a:latin typeface="Times New Roman"/>
                <a:ea typeface="Times New Roman"/>
                <a:cs typeface="Times New Roman"/>
                <a:sym typeface="Times New Roman"/>
              </a:rPr>
              <a:t>To learn how to use a </a:t>
            </a:r>
            <a:r>
              <a:rPr b="1" i="0" lang="en-US" sz="2400" u="none" cap="none" strike="noStrike">
                <a:solidFill>
                  <a:schemeClr val="dk1"/>
                </a:solidFill>
                <a:latin typeface="Times New Roman"/>
                <a:ea typeface="Times New Roman"/>
                <a:cs typeface="Times New Roman"/>
                <a:sym typeface="Times New Roman"/>
              </a:rPr>
              <a:t>DBMS and RDBMS.</a:t>
            </a:r>
            <a:endParaRPr/>
          </a:p>
          <a:p>
            <a:pPr indent="-342900" lvl="0" marL="342900" marR="0" rtl="0" algn="l">
              <a:lnSpc>
                <a:spcPct val="150000"/>
              </a:lnSpc>
              <a:spcBef>
                <a:spcPts val="0"/>
              </a:spcBef>
              <a:spcAft>
                <a:spcPts val="0"/>
              </a:spcAft>
              <a:buClr>
                <a:schemeClr val="dk1"/>
              </a:buClr>
              <a:buSzPts val="2400"/>
              <a:buFont typeface="Calibri"/>
              <a:buAutoNum type="arabicPeriod"/>
            </a:pPr>
            <a:r>
              <a:rPr b="0" i="0" lang="en-US" sz="2400" u="none" cap="none" strike="noStrike">
                <a:solidFill>
                  <a:schemeClr val="dk1"/>
                </a:solidFill>
                <a:latin typeface="Times New Roman"/>
                <a:ea typeface="Times New Roman"/>
                <a:cs typeface="Times New Roman"/>
                <a:sym typeface="Times New Roman"/>
              </a:rPr>
              <a:t>To implement and understand different types of </a:t>
            </a:r>
            <a:r>
              <a:rPr b="1" i="0" lang="en-US" sz="2400" u="none" cap="none" strike="noStrike">
                <a:solidFill>
                  <a:schemeClr val="dk1"/>
                </a:solidFill>
                <a:latin typeface="Times New Roman"/>
                <a:ea typeface="Times New Roman"/>
                <a:cs typeface="Times New Roman"/>
                <a:sym typeface="Times New Roman"/>
              </a:rPr>
              <a:t>DDL, DML and DCL </a:t>
            </a:r>
            <a:r>
              <a:rPr b="0" i="0" lang="en-US" sz="2400" u="none" cap="none" strike="noStrike">
                <a:solidFill>
                  <a:schemeClr val="dk1"/>
                </a:solidFill>
                <a:latin typeface="Times New Roman"/>
                <a:ea typeface="Times New Roman"/>
                <a:cs typeface="Times New Roman"/>
                <a:sym typeface="Times New Roman"/>
              </a:rPr>
              <a:t>statements.</a:t>
            </a:r>
            <a:endParaRPr/>
          </a:p>
          <a:p>
            <a:pPr indent="-342900" lvl="0" marL="342900" marR="0" rtl="0" algn="l">
              <a:lnSpc>
                <a:spcPct val="150000"/>
              </a:lnSpc>
              <a:spcBef>
                <a:spcPts val="0"/>
              </a:spcBef>
              <a:spcAft>
                <a:spcPts val="0"/>
              </a:spcAft>
              <a:buClr>
                <a:schemeClr val="dk1"/>
              </a:buClr>
              <a:buSzPts val="2400"/>
              <a:buFont typeface="Calibri"/>
              <a:buAutoNum type="arabicPeriod"/>
            </a:pPr>
            <a:r>
              <a:rPr b="0" i="0" lang="en-US" sz="2400" u="none" cap="none" strike="noStrike">
                <a:solidFill>
                  <a:schemeClr val="dk1"/>
                </a:solidFill>
                <a:latin typeface="Times New Roman"/>
                <a:ea typeface="Times New Roman"/>
                <a:cs typeface="Times New Roman"/>
                <a:sym typeface="Times New Roman"/>
              </a:rPr>
              <a:t>To understand </a:t>
            </a:r>
            <a:r>
              <a:rPr b="1" i="0" lang="en-US" sz="2400" u="none" cap="none" strike="noStrike">
                <a:solidFill>
                  <a:schemeClr val="dk1"/>
                </a:solidFill>
                <a:latin typeface="Times New Roman"/>
                <a:ea typeface="Times New Roman"/>
                <a:cs typeface="Times New Roman"/>
                <a:sym typeface="Times New Roman"/>
              </a:rPr>
              <a:t>transaction concepts </a:t>
            </a:r>
            <a:r>
              <a:rPr b="0" i="0" lang="en-US" sz="2400" u="none" cap="none" strike="noStrike">
                <a:solidFill>
                  <a:schemeClr val="dk1"/>
                </a:solidFill>
                <a:latin typeface="Times New Roman"/>
                <a:ea typeface="Times New Roman"/>
                <a:cs typeface="Times New Roman"/>
                <a:sym typeface="Times New Roman"/>
              </a:rPr>
              <a:t>related to databases and </a:t>
            </a:r>
            <a:r>
              <a:rPr b="1" i="0" lang="en-US" sz="2400" u="none" cap="none" strike="noStrike">
                <a:solidFill>
                  <a:schemeClr val="dk1"/>
                </a:solidFill>
                <a:latin typeface="Times New Roman"/>
                <a:ea typeface="Times New Roman"/>
                <a:cs typeface="Times New Roman"/>
                <a:sym typeface="Times New Roman"/>
              </a:rPr>
              <a:t>recovery/backup techniques </a:t>
            </a:r>
            <a:r>
              <a:rPr b="0" i="0" lang="en-US" sz="2400" u="none" cap="none" strike="noStrike">
                <a:solidFill>
                  <a:schemeClr val="dk1"/>
                </a:solidFill>
                <a:latin typeface="Times New Roman"/>
                <a:ea typeface="Times New Roman"/>
                <a:cs typeface="Times New Roman"/>
                <a:sym typeface="Times New Roman"/>
              </a:rPr>
              <a:t>required for the proper storage of data.</a:t>
            </a:r>
            <a:endParaRPr/>
          </a:p>
        </p:txBody>
      </p:sp>
      <p:sp>
        <p:nvSpPr>
          <p:cNvPr id="133" name="Google Shape;133;p4"/>
          <p:cNvSpPr/>
          <p:nvPr/>
        </p:nvSpPr>
        <p:spPr>
          <a:xfrm>
            <a:off x="1255771" y="1384771"/>
            <a:ext cx="735482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This course will enable students to,</a:t>
            </a:r>
            <a:endParaRPr/>
          </a:p>
        </p:txBody>
      </p:sp>
      <p:sp>
        <p:nvSpPr>
          <p:cNvPr id="134" name="Google Shape;134;p4"/>
          <p:cNvSpPr txBox="1"/>
          <p:nvPr>
            <p:ph type="title"/>
          </p:nvPr>
        </p:nvSpPr>
        <p:spPr>
          <a:xfrm>
            <a:off x="2409648" y="449984"/>
            <a:ext cx="7886700" cy="549381"/>
          </a:xfrm>
          <a:prstGeom prst="rect">
            <a:avLst/>
          </a:prstGeom>
          <a:noFill/>
          <a:ln>
            <a:noFill/>
          </a:ln>
        </p:spPr>
        <p:txBody>
          <a:bodyPr anchorCtr="0" anchor="ctr" bIns="45700" lIns="91425" spcFirstLastPara="1" rIns="91425" wrap="square" tIns="45700">
            <a:spAutoFit/>
          </a:bodyPr>
          <a:lstStyle/>
          <a:p>
            <a:pPr indent="0" lvl="0" marL="0" rtl="0" algn="l">
              <a:lnSpc>
                <a:spcPct val="90000"/>
              </a:lnSpc>
              <a:spcBef>
                <a:spcPts val="0"/>
              </a:spcBef>
              <a:spcAft>
                <a:spcPts val="0"/>
              </a:spcAft>
              <a:buClr>
                <a:srgbClr val="C00000"/>
              </a:buClr>
              <a:buSzPts val="3300"/>
              <a:buFont typeface="Arial Rounded"/>
              <a:buNone/>
            </a:pPr>
            <a:r>
              <a:rPr b="1" lang="en-US" sz="3300">
                <a:solidFill>
                  <a:srgbClr val="C00000"/>
                </a:solidFill>
                <a:latin typeface="Arial Rounded"/>
                <a:ea typeface="Arial Rounded"/>
                <a:cs typeface="Arial Rounded"/>
                <a:sym typeface="Arial Rounded"/>
              </a:rPr>
              <a:t>COURSE OBJECTIVES </a:t>
            </a:r>
            <a:endParaRPr/>
          </a:p>
        </p:txBody>
      </p:sp>
      <p:sp>
        <p:nvSpPr>
          <p:cNvPr id="135" name="Google Shape;135;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136" name="Google Shape;136;p4"/>
          <p:cNvSpPr txBox="1"/>
          <p:nvPr>
            <p:ph idx="11" type="ftr"/>
          </p:nvPr>
        </p:nvSpPr>
        <p:spPr>
          <a:xfrm>
            <a:off x="3948545" y="6231225"/>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5"/>
          <p:cNvSpPr txBox="1"/>
          <p:nvPr/>
        </p:nvSpPr>
        <p:spPr>
          <a:xfrm>
            <a:off x="2152650" y="659011"/>
            <a:ext cx="7886700" cy="1000274"/>
          </a:xfrm>
          <a:prstGeom prst="rect">
            <a:avLst/>
          </a:prstGeom>
          <a:noFill/>
          <a:ln>
            <a:noFill/>
          </a:ln>
        </p:spPr>
        <p:txBody>
          <a:bodyPr anchorCtr="0" anchor="t" bIns="0" lIns="0" spcFirstLastPara="1" rIns="0" wrap="square" tIns="0">
            <a:spAutoFit/>
          </a:bodyPr>
          <a:lstStyle/>
          <a:p>
            <a:pPr indent="0" lvl="0" marL="0" marR="0" rtl="0" algn="ctr">
              <a:lnSpc>
                <a:spcPct val="120024"/>
              </a:lnSpc>
              <a:spcBef>
                <a:spcPts val="0"/>
              </a:spcBef>
              <a:spcAft>
                <a:spcPts val="0"/>
              </a:spcAft>
              <a:buNone/>
            </a:pPr>
            <a:r>
              <a:rPr b="1" lang="en-US" sz="3281">
                <a:solidFill>
                  <a:srgbClr val="C00000"/>
                </a:solidFill>
                <a:latin typeface="Arimo"/>
                <a:ea typeface="Arimo"/>
                <a:cs typeface="Arimo"/>
                <a:sym typeface="Arimo"/>
              </a:rPr>
              <a:t>Topics covered</a:t>
            </a:r>
            <a:endParaRPr/>
          </a:p>
          <a:p>
            <a:pPr indent="0" lvl="0" marL="0" marR="0" rtl="0" algn="ctr">
              <a:lnSpc>
                <a:spcPct val="120024"/>
              </a:lnSpc>
              <a:spcBef>
                <a:spcPts val="0"/>
              </a:spcBef>
              <a:spcAft>
                <a:spcPts val="0"/>
              </a:spcAft>
              <a:buNone/>
            </a:pPr>
            <a:r>
              <a:rPr b="1" lang="en-US" sz="3281">
                <a:solidFill>
                  <a:srgbClr val="C00000"/>
                </a:solidFill>
                <a:latin typeface="Arimo"/>
                <a:ea typeface="Arimo"/>
                <a:cs typeface="Arimo"/>
                <a:sym typeface="Arimo"/>
              </a:rPr>
              <a:t> </a:t>
            </a:r>
            <a:endParaRPr/>
          </a:p>
        </p:txBody>
      </p:sp>
      <p:sp>
        <p:nvSpPr>
          <p:cNvPr id="146" name="Google Shape;146;p5"/>
          <p:cNvSpPr txBox="1"/>
          <p:nvPr/>
        </p:nvSpPr>
        <p:spPr>
          <a:xfrm>
            <a:off x="2060449" y="1984871"/>
            <a:ext cx="3943350" cy="333425"/>
          </a:xfrm>
          <a:prstGeom prst="rect">
            <a:avLst/>
          </a:prstGeom>
          <a:noFill/>
          <a:ln>
            <a:noFill/>
          </a:ln>
        </p:spPr>
        <p:txBody>
          <a:bodyPr anchorCtr="0" anchor="t" bIns="0" lIns="0" spcFirstLastPara="1" rIns="0" wrap="square" tIns="0">
            <a:spAutoFit/>
          </a:bodyPr>
          <a:lstStyle/>
          <a:p>
            <a:pPr indent="0" lvl="0" marL="0" marR="0" rtl="0" algn="l">
              <a:lnSpc>
                <a:spcPct val="107833"/>
              </a:lnSpc>
              <a:spcBef>
                <a:spcPts val="0"/>
              </a:spcBef>
              <a:spcAft>
                <a:spcPts val="0"/>
              </a:spcAft>
              <a:buNone/>
            </a:pPr>
            <a:r>
              <a:rPr b="1" lang="en-US" sz="2400">
                <a:solidFill>
                  <a:schemeClr val="dk1"/>
                </a:solidFill>
                <a:latin typeface="Times New Roman"/>
                <a:ea typeface="Times New Roman"/>
                <a:cs typeface="Times New Roman"/>
                <a:sym typeface="Times New Roman"/>
              </a:rPr>
              <a:t>Data Models:</a:t>
            </a:r>
            <a:endParaRPr b="1" sz="2400">
              <a:solidFill>
                <a:schemeClr val="dk1"/>
              </a:solidFill>
              <a:latin typeface="Times New Roman"/>
              <a:ea typeface="Times New Roman"/>
              <a:cs typeface="Times New Roman"/>
              <a:sym typeface="Times New Roman"/>
            </a:endParaRPr>
          </a:p>
        </p:txBody>
      </p:sp>
      <p:sp>
        <p:nvSpPr>
          <p:cNvPr id="147" name="Google Shape;147;p5"/>
          <p:cNvSpPr txBox="1"/>
          <p:nvPr/>
        </p:nvSpPr>
        <p:spPr>
          <a:xfrm>
            <a:off x="2060449" y="2512114"/>
            <a:ext cx="8397673" cy="589905"/>
          </a:xfrm>
          <a:prstGeom prst="rect">
            <a:avLst/>
          </a:prstGeom>
          <a:noFill/>
          <a:ln>
            <a:noFill/>
          </a:ln>
        </p:spPr>
        <p:txBody>
          <a:bodyPr anchorCtr="0" anchor="t" bIns="0" lIns="0" spcFirstLastPara="1" rIns="0" wrap="square" tIns="0">
            <a:spAutoFit/>
          </a:bodyPr>
          <a:lstStyle/>
          <a:p>
            <a:pPr indent="0" lvl="0" marL="0" marR="0" rtl="0" algn="just">
              <a:lnSpc>
                <a:spcPct val="112500"/>
              </a:lnSpc>
              <a:spcBef>
                <a:spcPts val="0"/>
              </a:spcBef>
              <a:spcAft>
                <a:spcPts val="0"/>
              </a:spcAft>
              <a:buNone/>
            </a:pPr>
            <a:r>
              <a:rPr lang="en-US" sz="2000">
                <a:solidFill>
                  <a:schemeClr val="dk1"/>
                </a:solidFill>
                <a:latin typeface="Calibri"/>
                <a:ea typeface="Calibri"/>
                <a:cs typeface="Calibri"/>
                <a:sym typeface="Calibri"/>
              </a:rPr>
              <a:t>Relational Model, Network Model, Hierarchical Model, ER Model: Design, issues, Mapping constraints, ER diagram, Comparison of Models.</a:t>
            </a:r>
            <a:endParaRPr sz="1875">
              <a:solidFill>
                <a:srgbClr val="000000"/>
              </a:solidFill>
              <a:latin typeface="Arial"/>
              <a:ea typeface="Arial"/>
              <a:cs typeface="Arial"/>
              <a:sym typeface="Arial"/>
            </a:endParaRPr>
          </a:p>
        </p:txBody>
      </p:sp>
      <p:sp>
        <p:nvSpPr>
          <p:cNvPr id="148" name="Google Shape;148;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149" name="Google Shape;149;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grpSp>
        <p:nvGrpSpPr>
          <p:cNvPr id="158" name="Google Shape;158;p6"/>
          <p:cNvGrpSpPr/>
          <p:nvPr/>
        </p:nvGrpSpPr>
        <p:grpSpPr>
          <a:xfrm>
            <a:off x="1524000" y="6356604"/>
            <a:ext cx="9144000" cy="88404"/>
            <a:chOff x="0" y="0"/>
            <a:chExt cx="13004800" cy="125730"/>
          </a:xfrm>
        </p:grpSpPr>
        <p:sp>
          <p:nvSpPr>
            <p:cNvPr id="159" name="Google Shape;159;p6"/>
            <p:cNvSpPr/>
            <p:nvPr/>
          </p:nvSpPr>
          <p:spPr>
            <a:xfrm>
              <a:off x="0" y="100584"/>
              <a:ext cx="13004800" cy="25146"/>
            </a:xfrm>
            <a:custGeom>
              <a:rect b="b" l="l" r="r" t="t"/>
              <a:pathLst>
                <a:path extrusionOk="0" h="25146" w="13004800">
                  <a:moveTo>
                    <a:pt x="13004800" y="0"/>
                  </a:moveTo>
                  <a:lnTo>
                    <a:pt x="0" y="0"/>
                  </a:lnTo>
                  <a:lnTo>
                    <a:pt x="0" y="25146"/>
                  </a:lnTo>
                  <a:lnTo>
                    <a:pt x="13004800" y="25146"/>
                  </a:lnTo>
                  <a:lnTo>
                    <a:pt x="13004800" y="0"/>
                  </a:lnTo>
                  <a:close/>
                </a:path>
              </a:pathLst>
            </a:custGeom>
            <a:solidFill>
              <a:srgbClr val="C00000"/>
            </a:solidFill>
            <a:ln>
              <a:noFill/>
            </a:ln>
          </p:spPr>
        </p:sp>
        <p:sp>
          <p:nvSpPr>
            <p:cNvPr id="160" name="Google Shape;160;p6"/>
            <p:cNvSpPr/>
            <p:nvPr/>
          </p:nvSpPr>
          <p:spPr>
            <a:xfrm>
              <a:off x="0" y="0"/>
              <a:ext cx="13004800" cy="75438"/>
            </a:xfrm>
            <a:custGeom>
              <a:rect b="b" l="l" r="r" t="t"/>
              <a:pathLst>
                <a:path extrusionOk="0" h="75438" w="13004800">
                  <a:moveTo>
                    <a:pt x="13004800" y="0"/>
                  </a:moveTo>
                  <a:lnTo>
                    <a:pt x="0" y="0"/>
                  </a:lnTo>
                  <a:lnTo>
                    <a:pt x="0" y="75438"/>
                  </a:lnTo>
                  <a:lnTo>
                    <a:pt x="13004800" y="75438"/>
                  </a:lnTo>
                  <a:lnTo>
                    <a:pt x="13004800" y="0"/>
                  </a:lnTo>
                  <a:close/>
                </a:path>
              </a:pathLst>
            </a:custGeom>
            <a:solidFill>
              <a:srgbClr val="C00000"/>
            </a:solidFill>
            <a:ln>
              <a:noFill/>
            </a:ln>
          </p:spPr>
        </p:sp>
      </p:grpSp>
      <p:sp>
        <p:nvSpPr>
          <p:cNvPr id="161" name="Google Shape;161;p6"/>
          <p:cNvSpPr/>
          <p:nvPr/>
        </p:nvSpPr>
        <p:spPr>
          <a:xfrm>
            <a:off x="7166139" y="3139679"/>
            <a:ext cx="3501862" cy="2286387"/>
          </a:xfrm>
          <a:custGeom>
            <a:rect b="b" l="l" r="r" t="t"/>
            <a:pathLst>
              <a:path extrusionOk="0" h="2438813" w="3735319">
                <a:moveTo>
                  <a:pt x="0" y="0"/>
                </a:moveTo>
                <a:lnTo>
                  <a:pt x="3735319" y="0"/>
                </a:lnTo>
                <a:lnTo>
                  <a:pt x="3735319" y="2438813"/>
                </a:lnTo>
                <a:lnTo>
                  <a:pt x="0" y="2438813"/>
                </a:lnTo>
                <a:lnTo>
                  <a:pt x="0" y="0"/>
                </a:lnTo>
                <a:close/>
              </a:path>
            </a:pathLst>
          </a:custGeom>
          <a:blipFill rotWithShape="1">
            <a:blip r:embed="rId3">
              <a:alphaModFix/>
            </a:blip>
            <a:stretch>
              <a:fillRect b="-16215" l="-5853" r="0" t="-9932"/>
            </a:stretch>
          </a:blipFill>
          <a:ln>
            <a:noFill/>
          </a:ln>
        </p:spPr>
      </p:sp>
      <p:sp>
        <p:nvSpPr>
          <p:cNvPr id="162" name="Google Shape;162;p6"/>
          <p:cNvSpPr txBox="1"/>
          <p:nvPr/>
        </p:nvSpPr>
        <p:spPr>
          <a:xfrm>
            <a:off x="4764101" y="659012"/>
            <a:ext cx="2663799" cy="500137"/>
          </a:xfrm>
          <a:prstGeom prst="rect">
            <a:avLst/>
          </a:prstGeom>
          <a:noFill/>
          <a:ln>
            <a:noFill/>
          </a:ln>
        </p:spPr>
        <p:txBody>
          <a:bodyPr anchorCtr="0" anchor="t" bIns="0" lIns="0" spcFirstLastPara="1" rIns="0" wrap="square" tIns="0">
            <a:spAutoFit/>
          </a:bodyPr>
          <a:lstStyle/>
          <a:p>
            <a:pPr indent="0" lvl="0" marL="0" marR="0" rtl="0" algn="l">
              <a:lnSpc>
                <a:spcPct val="120024"/>
              </a:lnSpc>
              <a:spcBef>
                <a:spcPts val="0"/>
              </a:spcBef>
              <a:spcAft>
                <a:spcPts val="0"/>
              </a:spcAft>
              <a:buNone/>
            </a:pPr>
            <a:r>
              <a:rPr b="1" lang="en-US" sz="3281">
                <a:solidFill>
                  <a:srgbClr val="C00000"/>
                </a:solidFill>
                <a:latin typeface="Arimo"/>
                <a:ea typeface="Arimo"/>
                <a:cs typeface="Arimo"/>
                <a:sym typeface="Arimo"/>
              </a:rPr>
              <a:t>Data Models</a:t>
            </a:r>
            <a:endParaRPr/>
          </a:p>
        </p:txBody>
      </p:sp>
      <p:sp>
        <p:nvSpPr>
          <p:cNvPr id="163" name="Google Shape;163;p6"/>
          <p:cNvSpPr txBox="1"/>
          <p:nvPr/>
        </p:nvSpPr>
        <p:spPr>
          <a:xfrm>
            <a:off x="1944783" y="1675210"/>
            <a:ext cx="8302434" cy="1160831"/>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None/>
            </a:pPr>
            <a:r>
              <a:rPr lang="en-US" sz="1875">
                <a:solidFill>
                  <a:srgbClr val="000000"/>
                </a:solidFill>
                <a:latin typeface="Arial"/>
                <a:ea typeface="Arial"/>
                <a:cs typeface="Arial"/>
                <a:sym typeface="Arial"/>
              </a:rPr>
              <a:t>A Data Model is a conceptual framework that determines how data is logically structured, stored, and manipulated in a database. It provides a way to define, organize, and relate data in a database. Data Models provide us with a transparent picture of data which helps us in creating an actual database. </a:t>
            </a:r>
            <a:endParaRPr/>
          </a:p>
        </p:txBody>
      </p:sp>
      <p:sp>
        <p:nvSpPr>
          <p:cNvPr id="164" name="Google Shape;164;p6"/>
          <p:cNvSpPr txBox="1"/>
          <p:nvPr/>
        </p:nvSpPr>
        <p:spPr>
          <a:xfrm>
            <a:off x="1944783" y="3041452"/>
            <a:ext cx="5221356" cy="2340641"/>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None/>
            </a:pPr>
            <a:r>
              <a:rPr b="1" lang="en-US" sz="1875">
                <a:solidFill>
                  <a:srgbClr val="000000"/>
                </a:solidFill>
                <a:latin typeface="Arial"/>
                <a:ea typeface="Arial"/>
                <a:cs typeface="Arial"/>
                <a:sym typeface="Arial"/>
              </a:rPr>
              <a:t>Types of Data Models:</a:t>
            </a:r>
            <a:endParaRPr/>
          </a:p>
          <a:p>
            <a:pPr indent="0" lvl="0" marL="0" marR="0" rtl="0" algn="just">
              <a:lnSpc>
                <a:spcPct val="120000"/>
              </a:lnSpc>
              <a:spcBef>
                <a:spcPts val="0"/>
              </a:spcBef>
              <a:spcAft>
                <a:spcPts val="0"/>
              </a:spcAft>
              <a:buNone/>
            </a:pPr>
            <a:r>
              <a:t/>
            </a:r>
            <a:endParaRPr b="1" sz="1875">
              <a:solidFill>
                <a:srgbClr val="000000"/>
              </a:solidFill>
              <a:latin typeface="Arial"/>
              <a:ea typeface="Arial"/>
              <a:cs typeface="Arial"/>
              <a:sym typeface="Arial"/>
            </a:endParaRPr>
          </a:p>
          <a:p>
            <a:pPr indent="-202406" lvl="1" marL="404813" marR="0" rtl="0" algn="just">
              <a:lnSpc>
                <a:spcPct val="120000"/>
              </a:lnSpc>
              <a:spcBef>
                <a:spcPts val="0"/>
              </a:spcBef>
              <a:spcAft>
                <a:spcPts val="0"/>
              </a:spcAft>
              <a:buClr>
                <a:srgbClr val="000000"/>
              </a:buClr>
              <a:buSzPts val="1875"/>
              <a:buFont typeface="Arial"/>
              <a:buChar char="•"/>
            </a:pPr>
            <a:r>
              <a:rPr b="0" i="0" lang="en-US" sz="1875" u="none" cap="none" strike="noStrike">
                <a:solidFill>
                  <a:srgbClr val="000000"/>
                </a:solidFill>
                <a:latin typeface="Arial"/>
                <a:ea typeface="Arial"/>
                <a:cs typeface="Arial"/>
                <a:sym typeface="Arial"/>
              </a:rPr>
              <a:t>Conceptual Data Model (high-level, semantic)</a:t>
            </a:r>
            <a:endParaRPr/>
          </a:p>
          <a:p>
            <a:pPr indent="0" lvl="0" marL="0" marR="0" rtl="0" algn="just">
              <a:lnSpc>
                <a:spcPct val="120000"/>
              </a:lnSpc>
              <a:spcBef>
                <a:spcPts val="0"/>
              </a:spcBef>
              <a:spcAft>
                <a:spcPts val="0"/>
              </a:spcAft>
              <a:buNone/>
            </a:pPr>
            <a:r>
              <a:t/>
            </a:r>
            <a:endParaRPr sz="1875">
              <a:solidFill>
                <a:srgbClr val="000000"/>
              </a:solidFill>
              <a:latin typeface="Arial"/>
              <a:ea typeface="Arial"/>
              <a:cs typeface="Arial"/>
              <a:sym typeface="Arial"/>
            </a:endParaRPr>
          </a:p>
          <a:p>
            <a:pPr indent="-202406" lvl="1" marL="404813" marR="0" rtl="0" algn="just">
              <a:lnSpc>
                <a:spcPct val="120000"/>
              </a:lnSpc>
              <a:spcBef>
                <a:spcPts val="0"/>
              </a:spcBef>
              <a:spcAft>
                <a:spcPts val="0"/>
              </a:spcAft>
              <a:buClr>
                <a:srgbClr val="000000"/>
              </a:buClr>
              <a:buSzPts val="1875"/>
              <a:buFont typeface="Arial"/>
              <a:buChar char="•"/>
            </a:pPr>
            <a:r>
              <a:rPr b="0" i="0" lang="en-US" sz="1875" u="none" cap="none" strike="noStrike">
                <a:solidFill>
                  <a:srgbClr val="000000"/>
                </a:solidFill>
                <a:latin typeface="Arial"/>
                <a:ea typeface="Arial"/>
                <a:cs typeface="Arial"/>
                <a:sym typeface="Arial"/>
              </a:rPr>
              <a:t>Logical Data Model (low-level, internal)</a:t>
            </a:r>
            <a:endParaRPr/>
          </a:p>
          <a:p>
            <a:pPr indent="0" lvl="0" marL="0" marR="0" rtl="0" algn="just">
              <a:lnSpc>
                <a:spcPct val="120000"/>
              </a:lnSpc>
              <a:spcBef>
                <a:spcPts val="0"/>
              </a:spcBef>
              <a:spcAft>
                <a:spcPts val="0"/>
              </a:spcAft>
              <a:buNone/>
            </a:pPr>
            <a:r>
              <a:t/>
            </a:r>
            <a:endParaRPr sz="1875">
              <a:solidFill>
                <a:srgbClr val="000000"/>
              </a:solidFill>
              <a:latin typeface="Arial"/>
              <a:ea typeface="Arial"/>
              <a:cs typeface="Arial"/>
              <a:sym typeface="Arial"/>
            </a:endParaRPr>
          </a:p>
          <a:p>
            <a:pPr indent="-202406" lvl="1" marL="404813" marR="0" rtl="0" algn="just">
              <a:lnSpc>
                <a:spcPct val="120000"/>
              </a:lnSpc>
              <a:spcBef>
                <a:spcPts val="0"/>
              </a:spcBef>
              <a:spcAft>
                <a:spcPts val="0"/>
              </a:spcAft>
              <a:buClr>
                <a:srgbClr val="000000"/>
              </a:buClr>
              <a:buSzPts val="1875"/>
              <a:buFont typeface="Arial"/>
              <a:buChar char="•"/>
            </a:pPr>
            <a:r>
              <a:rPr b="0" i="0" lang="en-US" sz="1875" u="none" cap="none" strike="noStrike">
                <a:solidFill>
                  <a:srgbClr val="000000"/>
                </a:solidFill>
                <a:latin typeface="Arial"/>
                <a:ea typeface="Arial"/>
                <a:cs typeface="Arial"/>
                <a:sym typeface="Arial"/>
              </a:rPr>
              <a:t>Physical Data Model (representational)</a:t>
            </a:r>
            <a:endParaRPr/>
          </a:p>
          <a:p>
            <a:pPr indent="0" lvl="0" marL="0" marR="0" rtl="0" algn="just">
              <a:lnSpc>
                <a:spcPct val="120000"/>
              </a:lnSpc>
              <a:spcBef>
                <a:spcPts val="0"/>
              </a:spcBef>
              <a:spcAft>
                <a:spcPts val="0"/>
              </a:spcAft>
              <a:buNone/>
            </a:pPr>
            <a:r>
              <a:t/>
            </a:r>
            <a:endParaRPr sz="1875">
              <a:solidFill>
                <a:srgbClr val="000000"/>
              </a:solidFill>
              <a:latin typeface="Arial"/>
              <a:ea typeface="Arial"/>
              <a:cs typeface="Arial"/>
              <a:sym typeface="Arial"/>
            </a:endParaRPr>
          </a:p>
        </p:txBody>
      </p:sp>
      <p:sp>
        <p:nvSpPr>
          <p:cNvPr id="165" name="Google Shape;165;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166" name="Google Shape;166;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grpSp>
        <p:nvGrpSpPr>
          <p:cNvPr id="175" name="Google Shape;175;p7"/>
          <p:cNvGrpSpPr/>
          <p:nvPr/>
        </p:nvGrpSpPr>
        <p:grpSpPr>
          <a:xfrm>
            <a:off x="1524000" y="6356604"/>
            <a:ext cx="9144000" cy="88404"/>
            <a:chOff x="0" y="0"/>
            <a:chExt cx="13004800" cy="125730"/>
          </a:xfrm>
        </p:grpSpPr>
        <p:sp>
          <p:nvSpPr>
            <p:cNvPr id="176" name="Google Shape;176;p7"/>
            <p:cNvSpPr/>
            <p:nvPr/>
          </p:nvSpPr>
          <p:spPr>
            <a:xfrm>
              <a:off x="0" y="100584"/>
              <a:ext cx="13004800" cy="25146"/>
            </a:xfrm>
            <a:custGeom>
              <a:rect b="b" l="l" r="r" t="t"/>
              <a:pathLst>
                <a:path extrusionOk="0" h="25146" w="13004800">
                  <a:moveTo>
                    <a:pt x="13004800" y="0"/>
                  </a:moveTo>
                  <a:lnTo>
                    <a:pt x="0" y="0"/>
                  </a:lnTo>
                  <a:lnTo>
                    <a:pt x="0" y="25146"/>
                  </a:lnTo>
                  <a:lnTo>
                    <a:pt x="13004800" y="25146"/>
                  </a:lnTo>
                  <a:lnTo>
                    <a:pt x="13004800" y="0"/>
                  </a:lnTo>
                  <a:close/>
                </a:path>
              </a:pathLst>
            </a:custGeom>
            <a:solidFill>
              <a:srgbClr val="C00000"/>
            </a:solidFill>
            <a:ln>
              <a:noFill/>
            </a:ln>
          </p:spPr>
        </p:sp>
        <p:sp>
          <p:nvSpPr>
            <p:cNvPr id="177" name="Google Shape;177;p7"/>
            <p:cNvSpPr/>
            <p:nvPr/>
          </p:nvSpPr>
          <p:spPr>
            <a:xfrm>
              <a:off x="0" y="0"/>
              <a:ext cx="13004800" cy="75438"/>
            </a:xfrm>
            <a:custGeom>
              <a:rect b="b" l="l" r="r" t="t"/>
              <a:pathLst>
                <a:path extrusionOk="0" h="75438" w="13004800">
                  <a:moveTo>
                    <a:pt x="13004800" y="0"/>
                  </a:moveTo>
                  <a:lnTo>
                    <a:pt x="0" y="0"/>
                  </a:lnTo>
                  <a:lnTo>
                    <a:pt x="0" y="75438"/>
                  </a:lnTo>
                  <a:lnTo>
                    <a:pt x="13004800" y="75438"/>
                  </a:lnTo>
                  <a:lnTo>
                    <a:pt x="13004800" y="0"/>
                  </a:lnTo>
                  <a:close/>
                </a:path>
              </a:pathLst>
            </a:custGeom>
            <a:solidFill>
              <a:srgbClr val="C00000"/>
            </a:solidFill>
            <a:ln>
              <a:noFill/>
            </a:ln>
          </p:spPr>
        </p:sp>
      </p:grpSp>
      <p:sp>
        <p:nvSpPr>
          <p:cNvPr id="178" name="Google Shape;178;p7"/>
          <p:cNvSpPr/>
          <p:nvPr/>
        </p:nvSpPr>
        <p:spPr>
          <a:xfrm>
            <a:off x="7166139" y="3139679"/>
            <a:ext cx="3501862" cy="2286387"/>
          </a:xfrm>
          <a:custGeom>
            <a:rect b="b" l="l" r="r" t="t"/>
            <a:pathLst>
              <a:path extrusionOk="0" h="2438813" w="3735319">
                <a:moveTo>
                  <a:pt x="0" y="0"/>
                </a:moveTo>
                <a:lnTo>
                  <a:pt x="3735319" y="0"/>
                </a:lnTo>
                <a:lnTo>
                  <a:pt x="3735319" y="2438813"/>
                </a:lnTo>
                <a:lnTo>
                  <a:pt x="0" y="2438813"/>
                </a:lnTo>
                <a:lnTo>
                  <a:pt x="0" y="0"/>
                </a:lnTo>
                <a:close/>
              </a:path>
            </a:pathLst>
          </a:custGeom>
          <a:blipFill rotWithShape="1">
            <a:blip r:embed="rId3">
              <a:alphaModFix/>
            </a:blip>
            <a:stretch>
              <a:fillRect b="-16215" l="-5853" r="0" t="-9932"/>
            </a:stretch>
          </a:blipFill>
          <a:ln>
            <a:noFill/>
          </a:ln>
        </p:spPr>
      </p:sp>
      <p:sp>
        <p:nvSpPr>
          <p:cNvPr id="179" name="Google Shape;179;p7"/>
          <p:cNvSpPr txBox="1"/>
          <p:nvPr/>
        </p:nvSpPr>
        <p:spPr>
          <a:xfrm>
            <a:off x="4764101" y="659012"/>
            <a:ext cx="2663799" cy="500137"/>
          </a:xfrm>
          <a:prstGeom prst="rect">
            <a:avLst/>
          </a:prstGeom>
          <a:noFill/>
          <a:ln>
            <a:noFill/>
          </a:ln>
        </p:spPr>
        <p:txBody>
          <a:bodyPr anchorCtr="0" anchor="t" bIns="0" lIns="0" spcFirstLastPara="1" rIns="0" wrap="square" tIns="0">
            <a:spAutoFit/>
          </a:bodyPr>
          <a:lstStyle/>
          <a:p>
            <a:pPr indent="0" lvl="0" marL="0" marR="0" rtl="0" algn="l">
              <a:lnSpc>
                <a:spcPct val="120024"/>
              </a:lnSpc>
              <a:spcBef>
                <a:spcPts val="0"/>
              </a:spcBef>
              <a:spcAft>
                <a:spcPts val="0"/>
              </a:spcAft>
              <a:buNone/>
            </a:pPr>
            <a:r>
              <a:rPr b="1" lang="en-US" sz="3281">
                <a:solidFill>
                  <a:srgbClr val="C00000"/>
                </a:solidFill>
                <a:latin typeface="Arimo"/>
                <a:ea typeface="Arimo"/>
                <a:cs typeface="Arimo"/>
                <a:sym typeface="Arimo"/>
              </a:rPr>
              <a:t>Data Models</a:t>
            </a:r>
            <a:endParaRPr/>
          </a:p>
        </p:txBody>
      </p:sp>
      <p:sp>
        <p:nvSpPr>
          <p:cNvPr id="180" name="Google Shape;180;p7"/>
          <p:cNvSpPr txBox="1"/>
          <p:nvPr/>
        </p:nvSpPr>
        <p:spPr>
          <a:xfrm>
            <a:off x="1944783" y="1675210"/>
            <a:ext cx="8302434" cy="1160831"/>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None/>
            </a:pPr>
            <a:r>
              <a:rPr lang="en-US" sz="1875">
                <a:solidFill>
                  <a:srgbClr val="000000"/>
                </a:solidFill>
                <a:latin typeface="Arial"/>
                <a:ea typeface="Arial"/>
                <a:cs typeface="Arial"/>
                <a:sym typeface="Arial"/>
              </a:rPr>
              <a:t>A Data Model is a conceptual framework that determines how data is logically structured, stored, and manipulated in a database. It provides a way to define, organize, and relate data in a database. Data Models provide us with a transparent picture of data which helps us in creating an actual database. </a:t>
            </a:r>
            <a:endParaRPr/>
          </a:p>
        </p:txBody>
      </p:sp>
      <p:sp>
        <p:nvSpPr>
          <p:cNvPr id="181" name="Google Shape;181;p7"/>
          <p:cNvSpPr txBox="1"/>
          <p:nvPr/>
        </p:nvSpPr>
        <p:spPr>
          <a:xfrm>
            <a:off x="1944783" y="3041452"/>
            <a:ext cx="5221356" cy="2340641"/>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None/>
            </a:pPr>
            <a:r>
              <a:rPr b="1" lang="en-US" sz="1875">
                <a:solidFill>
                  <a:srgbClr val="000000"/>
                </a:solidFill>
                <a:latin typeface="Arial"/>
                <a:ea typeface="Arial"/>
                <a:cs typeface="Arial"/>
                <a:sym typeface="Arial"/>
              </a:rPr>
              <a:t>Types of Data Models:</a:t>
            </a:r>
            <a:endParaRPr/>
          </a:p>
          <a:p>
            <a:pPr indent="0" lvl="0" marL="0" marR="0" rtl="0" algn="just">
              <a:lnSpc>
                <a:spcPct val="120000"/>
              </a:lnSpc>
              <a:spcBef>
                <a:spcPts val="0"/>
              </a:spcBef>
              <a:spcAft>
                <a:spcPts val="0"/>
              </a:spcAft>
              <a:buNone/>
            </a:pPr>
            <a:r>
              <a:t/>
            </a:r>
            <a:endParaRPr b="1" sz="1875">
              <a:solidFill>
                <a:srgbClr val="000000"/>
              </a:solidFill>
              <a:latin typeface="Arial"/>
              <a:ea typeface="Arial"/>
              <a:cs typeface="Arial"/>
              <a:sym typeface="Arial"/>
            </a:endParaRPr>
          </a:p>
          <a:p>
            <a:pPr indent="-202406" lvl="1" marL="404813" marR="0" rtl="0" algn="just">
              <a:lnSpc>
                <a:spcPct val="120000"/>
              </a:lnSpc>
              <a:spcBef>
                <a:spcPts val="0"/>
              </a:spcBef>
              <a:spcAft>
                <a:spcPts val="0"/>
              </a:spcAft>
              <a:buClr>
                <a:srgbClr val="000000"/>
              </a:buClr>
              <a:buSzPts val="1875"/>
              <a:buFont typeface="Arial"/>
              <a:buChar char="•"/>
            </a:pPr>
            <a:r>
              <a:rPr b="0" i="0" lang="en-US" sz="1875" u="none" cap="none" strike="noStrike">
                <a:solidFill>
                  <a:srgbClr val="000000"/>
                </a:solidFill>
                <a:latin typeface="Arial"/>
                <a:ea typeface="Arial"/>
                <a:cs typeface="Arial"/>
                <a:sym typeface="Arial"/>
              </a:rPr>
              <a:t>Conceptual Data Model (high-level, semantic)</a:t>
            </a:r>
            <a:endParaRPr/>
          </a:p>
          <a:p>
            <a:pPr indent="0" lvl="0" marL="0" marR="0" rtl="0" algn="just">
              <a:lnSpc>
                <a:spcPct val="120000"/>
              </a:lnSpc>
              <a:spcBef>
                <a:spcPts val="0"/>
              </a:spcBef>
              <a:spcAft>
                <a:spcPts val="0"/>
              </a:spcAft>
              <a:buNone/>
            </a:pPr>
            <a:r>
              <a:t/>
            </a:r>
            <a:endParaRPr sz="1875">
              <a:solidFill>
                <a:srgbClr val="000000"/>
              </a:solidFill>
              <a:latin typeface="Arial"/>
              <a:ea typeface="Arial"/>
              <a:cs typeface="Arial"/>
              <a:sym typeface="Arial"/>
            </a:endParaRPr>
          </a:p>
          <a:p>
            <a:pPr indent="-202406" lvl="1" marL="404813" marR="0" rtl="0" algn="just">
              <a:lnSpc>
                <a:spcPct val="120000"/>
              </a:lnSpc>
              <a:spcBef>
                <a:spcPts val="0"/>
              </a:spcBef>
              <a:spcAft>
                <a:spcPts val="0"/>
              </a:spcAft>
              <a:buClr>
                <a:srgbClr val="000000"/>
              </a:buClr>
              <a:buSzPts val="1875"/>
              <a:buFont typeface="Arial"/>
              <a:buChar char="•"/>
            </a:pPr>
            <a:r>
              <a:rPr b="0" i="0" lang="en-US" sz="1875" u="none" cap="none" strike="noStrike">
                <a:solidFill>
                  <a:srgbClr val="000000"/>
                </a:solidFill>
                <a:latin typeface="Arial"/>
                <a:ea typeface="Arial"/>
                <a:cs typeface="Arial"/>
                <a:sym typeface="Arial"/>
              </a:rPr>
              <a:t>Logical Data Model (low-level, internal)</a:t>
            </a:r>
            <a:endParaRPr/>
          </a:p>
          <a:p>
            <a:pPr indent="0" lvl="0" marL="0" marR="0" rtl="0" algn="just">
              <a:lnSpc>
                <a:spcPct val="120000"/>
              </a:lnSpc>
              <a:spcBef>
                <a:spcPts val="0"/>
              </a:spcBef>
              <a:spcAft>
                <a:spcPts val="0"/>
              </a:spcAft>
              <a:buNone/>
            </a:pPr>
            <a:r>
              <a:t/>
            </a:r>
            <a:endParaRPr sz="1875">
              <a:solidFill>
                <a:srgbClr val="000000"/>
              </a:solidFill>
              <a:latin typeface="Arial"/>
              <a:ea typeface="Arial"/>
              <a:cs typeface="Arial"/>
              <a:sym typeface="Arial"/>
            </a:endParaRPr>
          </a:p>
          <a:p>
            <a:pPr indent="-202406" lvl="1" marL="404813" marR="0" rtl="0" algn="just">
              <a:lnSpc>
                <a:spcPct val="120000"/>
              </a:lnSpc>
              <a:spcBef>
                <a:spcPts val="0"/>
              </a:spcBef>
              <a:spcAft>
                <a:spcPts val="0"/>
              </a:spcAft>
              <a:buClr>
                <a:srgbClr val="000000"/>
              </a:buClr>
              <a:buSzPts val="1875"/>
              <a:buFont typeface="Arial"/>
              <a:buChar char="•"/>
            </a:pPr>
            <a:r>
              <a:rPr b="0" i="0" lang="en-US" sz="1875" u="none" cap="none" strike="noStrike">
                <a:solidFill>
                  <a:srgbClr val="000000"/>
                </a:solidFill>
                <a:latin typeface="Arial"/>
                <a:ea typeface="Arial"/>
                <a:cs typeface="Arial"/>
                <a:sym typeface="Arial"/>
              </a:rPr>
              <a:t>Physical Data Model (representational)</a:t>
            </a:r>
            <a:endParaRPr/>
          </a:p>
          <a:p>
            <a:pPr indent="0" lvl="0" marL="0" marR="0" rtl="0" algn="just">
              <a:lnSpc>
                <a:spcPct val="120000"/>
              </a:lnSpc>
              <a:spcBef>
                <a:spcPts val="0"/>
              </a:spcBef>
              <a:spcAft>
                <a:spcPts val="0"/>
              </a:spcAft>
              <a:buNone/>
            </a:pPr>
            <a:r>
              <a:t/>
            </a:r>
            <a:endParaRPr sz="1875">
              <a:solidFill>
                <a:srgbClr val="000000"/>
              </a:solidFill>
              <a:latin typeface="Arial"/>
              <a:ea typeface="Arial"/>
              <a:cs typeface="Arial"/>
              <a:sym typeface="Arial"/>
            </a:endParaRPr>
          </a:p>
        </p:txBody>
      </p:sp>
      <p:sp>
        <p:nvSpPr>
          <p:cNvPr id="182" name="Google Shape;18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183" name="Google Shape;18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grpSp>
        <p:nvGrpSpPr>
          <p:cNvPr id="192" name="Google Shape;192;p8"/>
          <p:cNvGrpSpPr/>
          <p:nvPr/>
        </p:nvGrpSpPr>
        <p:grpSpPr>
          <a:xfrm>
            <a:off x="1524000" y="6356604"/>
            <a:ext cx="9144000" cy="88404"/>
            <a:chOff x="0" y="0"/>
            <a:chExt cx="13004800" cy="125730"/>
          </a:xfrm>
        </p:grpSpPr>
        <p:sp>
          <p:nvSpPr>
            <p:cNvPr id="193" name="Google Shape;193;p8"/>
            <p:cNvSpPr/>
            <p:nvPr/>
          </p:nvSpPr>
          <p:spPr>
            <a:xfrm>
              <a:off x="0" y="100584"/>
              <a:ext cx="13004800" cy="25146"/>
            </a:xfrm>
            <a:custGeom>
              <a:rect b="b" l="l" r="r" t="t"/>
              <a:pathLst>
                <a:path extrusionOk="0" h="25146" w="13004800">
                  <a:moveTo>
                    <a:pt x="13004800" y="0"/>
                  </a:moveTo>
                  <a:lnTo>
                    <a:pt x="0" y="0"/>
                  </a:lnTo>
                  <a:lnTo>
                    <a:pt x="0" y="25146"/>
                  </a:lnTo>
                  <a:lnTo>
                    <a:pt x="13004800" y="25146"/>
                  </a:lnTo>
                  <a:lnTo>
                    <a:pt x="13004800" y="0"/>
                  </a:lnTo>
                  <a:close/>
                </a:path>
              </a:pathLst>
            </a:custGeom>
            <a:solidFill>
              <a:srgbClr val="C00000"/>
            </a:solidFill>
            <a:ln>
              <a:noFill/>
            </a:ln>
          </p:spPr>
        </p:sp>
        <p:sp>
          <p:nvSpPr>
            <p:cNvPr id="194" name="Google Shape;194;p8"/>
            <p:cNvSpPr/>
            <p:nvPr/>
          </p:nvSpPr>
          <p:spPr>
            <a:xfrm>
              <a:off x="0" y="0"/>
              <a:ext cx="13004800" cy="75438"/>
            </a:xfrm>
            <a:custGeom>
              <a:rect b="b" l="l" r="r" t="t"/>
              <a:pathLst>
                <a:path extrusionOk="0" h="75438" w="13004800">
                  <a:moveTo>
                    <a:pt x="13004800" y="0"/>
                  </a:moveTo>
                  <a:lnTo>
                    <a:pt x="0" y="0"/>
                  </a:lnTo>
                  <a:lnTo>
                    <a:pt x="0" y="75438"/>
                  </a:lnTo>
                  <a:lnTo>
                    <a:pt x="13004800" y="75438"/>
                  </a:lnTo>
                  <a:lnTo>
                    <a:pt x="13004800" y="0"/>
                  </a:lnTo>
                  <a:close/>
                </a:path>
              </a:pathLst>
            </a:custGeom>
            <a:solidFill>
              <a:srgbClr val="C00000"/>
            </a:solidFill>
            <a:ln>
              <a:noFill/>
            </a:ln>
          </p:spPr>
        </p:sp>
      </p:grpSp>
      <p:sp>
        <p:nvSpPr>
          <p:cNvPr id="195" name="Google Shape;195;p8"/>
          <p:cNvSpPr/>
          <p:nvPr/>
        </p:nvSpPr>
        <p:spPr>
          <a:xfrm>
            <a:off x="7259874" y="2112818"/>
            <a:ext cx="3408126" cy="2385480"/>
          </a:xfrm>
          <a:custGeom>
            <a:rect b="b" l="l" r="r" t="t"/>
            <a:pathLst>
              <a:path extrusionOk="0" h="2544512" w="3635334">
                <a:moveTo>
                  <a:pt x="0" y="0"/>
                </a:moveTo>
                <a:lnTo>
                  <a:pt x="3635334" y="0"/>
                </a:lnTo>
                <a:lnTo>
                  <a:pt x="3635334" y="2544512"/>
                </a:lnTo>
                <a:lnTo>
                  <a:pt x="0" y="2544512"/>
                </a:lnTo>
                <a:lnTo>
                  <a:pt x="0" y="0"/>
                </a:lnTo>
                <a:close/>
              </a:path>
            </a:pathLst>
          </a:custGeom>
          <a:blipFill rotWithShape="1">
            <a:blip r:embed="rId3">
              <a:alphaModFix/>
            </a:blip>
            <a:stretch>
              <a:fillRect b="0" l="0" r="-5250" t="0"/>
            </a:stretch>
          </a:blipFill>
          <a:ln>
            <a:noFill/>
          </a:ln>
        </p:spPr>
      </p:sp>
      <p:sp>
        <p:nvSpPr>
          <p:cNvPr id="196" name="Google Shape;196;p8"/>
          <p:cNvSpPr txBox="1"/>
          <p:nvPr/>
        </p:nvSpPr>
        <p:spPr>
          <a:xfrm>
            <a:off x="3518975" y="517955"/>
            <a:ext cx="5709244" cy="500137"/>
          </a:xfrm>
          <a:prstGeom prst="rect">
            <a:avLst/>
          </a:prstGeom>
          <a:noFill/>
          <a:ln>
            <a:noFill/>
          </a:ln>
        </p:spPr>
        <p:txBody>
          <a:bodyPr anchorCtr="0" anchor="t" bIns="0" lIns="0" spcFirstLastPara="1" rIns="0" wrap="square" tIns="0">
            <a:spAutoFit/>
          </a:bodyPr>
          <a:lstStyle/>
          <a:p>
            <a:pPr indent="0" lvl="0" marL="0" marR="0" rtl="0" algn="l">
              <a:lnSpc>
                <a:spcPct val="120024"/>
              </a:lnSpc>
              <a:spcBef>
                <a:spcPts val="0"/>
              </a:spcBef>
              <a:spcAft>
                <a:spcPts val="0"/>
              </a:spcAft>
              <a:buNone/>
            </a:pPr>
            <a:r>
              <a:rPr b="1" lang="en-US" sz="3281">
                <a:solidFill>
                  <a:srgbClr val="C00000"/>
                </a:solidFill>
                <a:latin typeface="Arimo"/>
                <a:ea typeface="Arimo"/>
                <a:cs typeface="Arimo"/>
                <a:sym typeface="Arimo"/>
              </a:rPr>
              <a:t>Categories of data models</a:t>
            </a:r>
            <a:endParaRPr/>
          </a:p>
        </p:txBody>
      </p:sp>
      <p:sp>
        <p:nvSpPr>
          <p:cNvPr id="197" name="Google Shape;197;p8"/>
          <p:cNvSpPr txBox="1"/>
          <p:nvPr/>
        </p:nvSpPr>
        <p:spPr>
          <a:xfrm>
            <a:off x="1542989" y="3893447"/>
            <a:ext cx="4408089" cy="313034"/>
          </a:xfrm>
          <a:prstGeom prst="rect">
            <a:avLst/>
          </a:prstGeom>
          <a:noFill/>
          <a:ln>
            <a:noFill/>
          </a:ln>
        </p:spPr>
        <p:txBody>
          <a:bodyPr anchorCtr="0" anchor="t" bIns="0" lIns="0" spcFirstLastPara="1" rIns="0" wrap="square" tIns="0">
            <a:spAutoFit/>
          </a:bodyPr>
          <a:lstStyle/>
          <a:p>
            <a:pPr indent="0" lvl="0" marL="0" marR="0" rtl="0" algn="ctr">
              <a:lnSpc>
                <a:spcPct val="120037"/>
              </a:lnSpc>
              <a:spcBef>
                <a:spcPts val="0"/>
              </a:spcBef>
              <a:spcAft>
                <a:spcPts val="0"/>
              </a:spcAft>
              <a:buNone/>
            </a:pPr>
            <a:r>
              <a:rPr b="1" lang="en-US" sz="2156">
                <a:solidFill>
                  <a:srgbClr val="000000"/>
                </a:solidFill>
                <a:latin typeface="Arial"/>
                <a:ea typeface="Arial"/>
                <a:cs typeface="Arial"/>
                <a:sym typeface="Arial"/>
              </a:rPr>
              <a:t>Object based Data Models</a:t>
            </a:r>
            <a:endParaRPr/>
          </a:p>
        </p:txBody>
      </p:sp>
      <p:sp>
        <p:nvSpPr>
          <p:cNvPr id="198" name="Google Shape;198;p8"/>
          <p:cNvSpPr txBox="1"/>
          <p:nvPr/>
        </p:nvSpPr>
        <p:spPr>
          <a:xfrm>
            <a:off x="2045852" y="4223866"/>
            <a:ext cx="5141124" cy="20456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875">
                <a:solidFill>
                  <a:srgbClr val="000000"/>
                </a:solidFill>
                <a:latin typeface="Arial"/>
                <a:ea typeface="Arial"/>
                <a:cs typeface="Arial"/>
                <a:sym typeface="Arial"/>
              </a:rPr>
              <a:t>Some examples of Object-based data models are</a:t>
            </a:r>
            <a:endParaRPr/>
          </a:p>
          <a:p>
            <a:pPr indent="-202406" lvl="1" marL="404813" marR="0" rtl="0" algn="l">
              <a:lnSpc>
                <a:spcPct val="120000"/>
              </a:lnSpc>
              <a:spcBef>
                <a:spcPts val="0"/>
              </a:spcBef>
              <a:spcAft>
                <a:spcPts val="0"/>
              </a:spcAft>
              <a:buClr>
                <a:srgbClr val="000000"/>
              </a:buClr>
              <a:buSzPts val="1875"/>
              <a:buFont typeface="Arial"/>
              <a:buChar char="•"/>
            </a:pPr>
            <a:r>
              <a:rPr b="0" i="0" lang="en-US" sz="1875" u="none" cap="none" strike="noStrike">
                <a:solidFill>
                  <a:srgbClr val="000000"/>
                </a:solidFill>
                <a:latin typeface="Arial"/>
                <a:ea typeface="Arial"/>
                <a:cs typeface="Arial"/>
                <a:sym typeface="Arial"/>
              </a:rPr>
              <a:t>Entity Relationship Data Model</a:t>
            </a:r>
            <a:endParaRPr/>
          </a:p>
          <a:p>
            <a:pPr indent="-202406" lvl="1" marL="404813" marR="0" rtl="0" algn="l">
              <a:lnSpc>
                <a:spcPct val="120000"/>
              </a:lnSpc>
              <a:spcBef>
                <a:spcPts val="0"/>
              </a:spcBef>
              <a:spcAft>
                <a:spcPts val="0"/>
              </a:spcAft>
              <a:buClr>
                <a:srgbClr val="000000"/>
              </a:buClr>
              <a:buSzPts val="1875"/>
              <a:buFont typeface="Arial"/>
              <a:buChar char="•"/>
            </a:pPr>
            <a:r>
              <a:rPr b="0" i="0" lang="en-US" sz="1875" u="none" cap="none" strike="noStrike">
                <a:solidFill>
                  <a:srgbClr val="000000"/>
                </a:solidFill>
                <a:latin typeface="Arial"/>
                <a:ea typeface="Arial"/>
                <a:cs typeface="Arial"/>
                <a:sym typeface="Arial"/>
              </a:rPr>
              <a:t>Object Oriented Data Model</a:t>
            </a:r>
            <a:endParaRPr/>
          </a:p>
          <a:p>
            <a:pPr indent="-202406" lvl="1" marL="404813" marR="0" rtl="0" algn="l">
              <a:lnSpc>
                <a:spcPct val="120000"/>
              </a:lnSpc>
              <a:spcBef>
                <a:spcPts val="0"/>
              </a:spcBef>
              <a:spcAft>
                <a:spcPts val="0"/>
              </a:spcAft>
              <a:buClr>
                <a:srgbClr val="000000"/>
              </a:buClr>
              <a:buSzPts val="1875"/>
              <a:buFont typeface="Arial"/>
              <a:buChar char="•"/>
            </a:pPr>
            <a:r>
              <a:rPr b="0" i="0" lang="en-US" sz="1875" u="none" cap="none" strike="noStrike">
                <a:solidFill>
                  <a:srgbClr val="000000"/>
                </a:solidFill>
                <a:latin typeface="Arial"/>
                <a:ea typeface="Arial"/>
                <a:cs typeface="Arial"/>
                <a:sym typeface="Arial"/>
              </a:rPr>
              <a:t>Semantic Data Model</a:t>
            </a:r>
            <a:endParaRPr/>
          </a:p>
          <a:p>
            <a:pPr indent="-202406" lvl="1" marL="404813" marR="0" rtl="0" algn="l">
              <a:lnSpc>
                <a:spcPct val="120000"/>
              </a:lnSpc>
              <a:spcBef>
                <a:spcPts val="0"/>
              </a:spcBef>
              <a:spcAft>
                <a:spcPts val="0"/>
              </a:spcAft>
              <a:buClr>
                <a:srgbClr val="000000"/>
              </a:buClr>
              <a:buSzPts val="1875"/>
              <a:buFont typeface="Arial"/>
              <a:buChar char="•"/>
            </a:pPr>
            <a:r>
              <a:rPr b="0" i="0" lang="en-US" sz="1875" u="none" cap="none" strike="noStrike">
                <a:solidFill>
                  <a:srgbClr val="000000"/>
                </a:solidFill>
                <a:latin typeface="Arial"/>
                <a:ea typeface="Arial"/>
                <a:cs typeface="Arial"/>
                <a:sym typeface="Arial"/>
              </a:rPr>
              <a:t>Functional Data Model</a:t>
            </a:r>
            <a:endParaRPr/>
          </a:p>
          <a:p>
            <a:pPr indent="0" lvl="0" marL="0" marR="0" rtl="0" algn="l">
              <a:lnSpc>
                <a:spcPct val="120000"/>
              </a:lnSpc>
              <a:spcBef>
                <a:spcPts val="0"/>
              </a:spcBef>
              <a:spcAft>
                <a:spcPts val="0"/>
              </a:spcAft>
              <a:buNone/>
            </a:pPr>
            <a:r>
              <a:t/>
            </a:r>
            <a:endParaRPr sz="1875">
              <a:solidFill>
                <a:srgbClr val="000000"/>
              </a:solidFill>
              <a:latin typeface="Arial"/>
              <a:ea typeface="Arial"/>
              <a:cs typeface="Arial"/>
              <a:sym typeface="Arial"/>
            </a:endParaRPr>
          </a:p>
        </p:txBody>
      </p:sp>
      <p:sp>
        <p:nvSpPr>
          <p:cNvPr id="199" name="Google Shape;199;p8"/>
          <p:cNvSpPr txBox="1"/>
          <p:nvPr/>
        </p:nvSpPr>
        <p:spPr>
          <a:xfrm>
            <a:off x="1642816" y="1812768"/>
            <a:ext cx="4408089" cy="313034"/>
          </a:xfrm>
          <a:prstGeom prst="rect">
            <a:avLst/>
          </a:prstGeom>
          <a:noFill/>
          <a:ln>
            <a:noFill/>
          </a:ln>
        </p:spPr>
        <p:txBody>
          <a:bodyPr anchorCtr="0" anchor="t" bIns="0" lIns="0" spcFirstLastPara="1" rIns="0" wrap="square" tIns="0">
            <a:spAutoFit/>
          </a:bodyPr>
          <a:lstStyle/>
          <a:p>
            <a:pPr indent="0" lvl="0" marL="0" marR="0" rtl="0" algn="ctr">
              <a:lnSpc>
                <a:spcPct val="120037"/>
              </a:lnSpc>
              <a:spcBef>
                <a:spcPts val="0"/>
              </a:spcBef>
              <a:spcAft>
                <a:spcPts val="0"/>
              </a:spcAft>
              <a:buNone/>
            </a:pPr>
            <a:r>
              <a:rPr b="1" lang="en-US" sz="2156">
                <a:solidFill>
                  <a:srgbClr val="000000"/>
                </a:solidFill>
                <a:latin typeface="Arial"/>
                <a:ea typeface="Arial"/>
                <a:cs typeface="Arial"/>
                <a:sym typeface="Arial"/>
              </a:rPr>
              <a:t>Record Based Data Models</a:t>
            </a:r>
            <a:endParaRPr/>
          </a:p>
        </p:txBody>
      </p:sp>
      <p:sp>
        <p:nvSpPr>
          <p:cNvPr id="200" name="Google Shape;200;p8"/>
          <p:cNvSpPr txBox="1"/>
          <p:nvPr/>
        </p:nvSpPr>
        <p:spPr>
          <a:xfrm>
            <a:off x="2092094" y="2134196"/>
            <a:ext cx="5094883" cy="1455783"/>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875">
                <a:solidFill>
                  <a:srgbClr val="000000"/>
                </a:solidFill>
                <a:latin typeface="Arial"/>
                <a:ea typeface="Arial"/>
                <a:cs typeface="Arial"/>
                <a:sym typeface="Arial"/>
              </a:rPr>
              <a:t>Some examples of Record-based data models are</a:t>
            </a:r>
            <a:endParaRPr/>
          </a:p>
          <a:p>
            <a:pPr indent="-202406" lvl="1" marL="404813" marR="0" rtl="0" algn="l">
              <a:lnSpc>
                <a:spcPct val="120000"/>
              </a:lnSpc>
              <a:spcBef>
                <a:spcPts val="0"/>
              </a:spcBef>
              <a:spcAft>
                <a:spcPts val="0"/>
              </a:spcAft>
              <a:buClr>
                <a:srgbClr val="000000"/>
              </a:buClr>
              <a:buSzPts val="1875"/>
              <a:buFont typeface="Arial"/>
              <a:buChar char="•"/>
            </a:pPr>
            <a:r>
              <a:rPr b="0" i="0" lang="en-US" sz="1875" u="none" cap="none" strike="noStrike">
                <a:solidFill>
                  <a:srgbClr val="000000"/>
                </a:solidFill>
                <a:latin typeface="Arial"/>
                <a:ea typeface="Arial"/>
                <a:cs typeface="Arial"/>
                <a:sym typeface="Arial"/>
              </a:rPr>
              <a:t>Hierarchical</a:t>
            </a:r>
            <a:endParaRPr/>
          </a:p>
          <a:p>
            <a:pPr indent="-202406" lvl="1" marL="404813" marR="0" rtl="0" algn="l">
              <a:lnSpc>
                <a:spcPct val="120000"/>
              </a:lnSpc>
              <a:spcBef>
                <a:spcPts val="0"/>
              </a:spcBef>
              <a:spcAft>
                <a:spcPts val="0"/>
              </a:spcAft>
              <a:buClr>
                <a:srgbClr val="000000"/>
              </a:buClr>
              <a:buSzPts val="1875"/>
              <a:buFont typeface="Arial"/>
              <a:buChar char="•"/>
            </a:pPr>
            <a:r>
              <a:rPr b="0" i="0" lang="en-US" sz="1875" u="none" cap="none" strike="noStrike">
                <a:solidFill>
                  <a:srgbClr val="000000"/>
                </a:solidFill>
                <a:latin typeface="Arial"/>
                <a:ea typeface="Arial"/>
                <a:cs typeface="Arial"/>
                <a:sym typeface="Arial"/>
              </a:rPr>
              <a:t>Network</a:t>
            </a:r>
            <a:endParaRPr/>
          </a:p>
          <a:p>
            <a:pPr indent="-202406" lvl="1" marL="404813" marR="0" rtl="0" algn="l">
              <a:lnSpc>
                <a:spcPct val="120000"/>
              </a:lnSpc>
              <a:spcBef>
                <a:spcPts val="0"/>
              </a:spcBef>
              <a:spcAft>
                <a:spcPts val="0"/>
              </a:spcAft>
              <a:buClr>
                <a:srgbClr val="000000"/>
              </a:buClr>
              <a:buSzPts val="1875"/>
              <a:buFont typeface="Arial"/>
              <a:buChar char="•"/>
            </a:pPr>
            <a:r>
              <a:rPr b="0" i="0" lang="en-US" sz="1875" u="none" cap="none" strike="noStrike">
                <a:solidFill>
                  <a:srgbClr val="000000"/>
                </a:solidFill>
                <a:latin typeface="Arial"/>
                <a:ea typeface="Arial"/>
                <a:cs typeface="Arial"/>
                <a:sym typeface="Arial"/>
              </a:rPr>
              <a:t>Relational</a:t>
            </a:r>
            <a:endParaRPr/>
          </a:p>
        </p:txBody>
      </p:sp>
      <p:sp>
        <p:nvSpPr>
          <p:cNvPr id="201" name="Google Shape;20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202" name="Google Shape;20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grpSp>
        <p:nvGrpSpPr>
          <p:cNvPr id="211" name="Google Shape;211;p9"/>
          <p:cNvGrpSpPr/>
          <p:nvPr/>
        </p:nvGrpSpPr>
        <p:grpSpPr>
          <a:xfrm>
            <a:off x="1524000" y="6356604"/>
            <a:ext cx="9144000" cy="88404"/>
            <a:chOff x="0" y="0"/>
            <a:chExt cx="13004800" cy="125730"/>
          </a:xfrm>
        </p:grpSpPr>
        <p:sp>
          <p:nvSpPr>
            <p:cNvPr id="212" name="Google Shape;212;p9"/>
            <p:cNvSpPr/>
            <p:nvPr/>
          </p:nvSpPr>
          <p:spPr>
            <a:xfrm>
              <a:off x="0" y="100584"/>
              <a:ext cx="13004800" cy="25146"/>
            </a:xfrm>
            <a:custGeom>
              <a:rect b="b" l="l" r="r" t="t"/>
              <a:pathLst>
                <a:path extrusionOk="0" h="25146" w="13004800">
                  <a:moveTo>
                    <a:pt x="13004800" y="0"/>
                  </a:moveTo>
                  <a:lnTo>
                    <a:pt x="0" y="0"/>
                  </a:lnTo>
                  <a:lnTo>
                    <a:pt x="0" y="25146"/>
                  </a:lnTo>
                  <a:lnTo>
                    <a:pt x="13004800" y="25146"/>
                  </a:lnTo>
                  <a:lnTo>
                    <a:pt x="13004800" y="0"/>
                  </a:lnTo>
                  <a:close/>
                </a:path>
              </a:pathLst>
            </a:custGeom>
            <a:solidFill>
              <a:srgbClr val="C00000"/>
            </a:solidFill>
            <a:ln>
              <a:noFill/>
            </a:ln>
          </p:spPr>
        </p:sp>
        <p:sp>
          <p:nvSpPr>
            <p:cNvPr id="213" name="Google Shape;213;p9"/>
            <p:cNvSpPr/>
            <p:nvPr/>
          </p:nvSpPr>
          <p:spPr>
            <a:xfrm>
              <a:off x="0" y="0"/>
              <a:ext cx="13004800" cy="75438"/>
            </a:xfrm>
            <a:custGeom>
              <a:rect b="b" l="l" r="r" t="t"/>
              <a:pathLst>
                <a:path extrusionOk="0" h="75438" w="13004800">
                  <a:moveTo>
                    <a:pt x="13004800" y="0"/>
                  </a:moveTo>
                  <a:lnTo>
                    <a:pt x="0" y="0"/>
                  </a:lnTo>
                  <a:lnTo>
                    <a:pt x="0" y="75438"/>
                  </a:lnTo>
                  <a:lnTo>
                    <a:pt x="13004800" y="75438"/>
                  </a:lnTo>
                  <a:lnTo>
                    <a:pt x="13004800" y="0"/>
                  </a:lnTo>
                  <a:close/>
                </a:path>
              </a:pathLst>
            </a:custGeom>
            <a:solidFill>
              <a:srgbClr val="C00000"/>
            </a:solidFill>
            <a:ln>
              <a:noFill/>
            </a:ln>
          </p:spPr>
        </p:sp>
      </p:grpSp>
      <p:sp>
        <p:nvSpPr>
          <p:cNvPr id="214" name="Google Shape;214;p9"/>
          <p:cNvSpPr txBox="1"/>
          <p:nvPr/>
        </p:nvSpPr>
        <p:spPr>
          <a:xfrm>
            <a:off x="4017333" y="659012"/>
            <a:ext cx="4157334" cy="500137"/>
          </a:xfrm>
          <a:prstGeom prst="rect">
            <a:avLst/>
          </a:prstGeom>
          <a:noFill/>
          <a:ln>
            <a:noFill/>
          </a:ln>
        </p:spPr>
        <p:txBody>
          <a:bodyPr anchorCtr="0" anchor="t" bIns="0" lIns="0" spcFirstLastPara="1" rIns="0" wrap="square" tIns="0">
            <a:spAutoFit/>
          </a:bodyPr>
          <a:lstStyle/>
          <a:p>
            <a:pPr indent="0" lvl="0" marL="0" marR="0" rtl="0" algn="l">
              <a:lnSpc>
                <a:spcPct val="120024"/>
              </a:lnSpc>
              <a:spcBef>
                <a:spcPts val="0"/>
              </a:spcBef>
              <a:spcAft>
                <a:spcPts val="0"/>
              </a:spcAft>
              <a:buNone/>
            </a:pPr>
            <a:r>
              <a:rPr b="1" lang="en-US" sz="3281">
                <a:solidFill>
                  <a:srgbClr val="C00000"/>
                </a:solidFill>
                <a:latin typeface="Arimo"/>
                <a:ea typeface="Arimo"/>
                <a:cs typeface="Arimo"/>
                <a:sym typeface="Arimo"/>
              </a:rPr>
              <a:t>Hierarchical Model</a:t>
            </a:r>
            <a:endParaRPr/>
          </a:p>
        </p:txBody>
      </p:sp>
      <p:sp>
        <p:nvSpPr>
          <p:cNvPr id="215" name="Google Shape;215;p9"/>
          <p:cNvSpPr txBox="1"/>
          <p:nvPr/>
        </p:nvSpPr>
        <p:spPr>
          <a:xfrm>
            <a:off x="1908626" y="1259850"/>
            <a:ext cx="8620500" cy="2337600"/>
          </a:xfrm>
          <a:prstGeom prst="rect">
            <a:avLst/>
          </a:prstGeom>
          <a:noFill/>
          <a:ln>
            <a:noFill/>
          </a:ln>
        </p:spPr>
        <p:txBody>
          <a:bodyPr anchorCtr="0" anchor="t" bIns="0" lIns="0" spcFirstLastPara="1" rIns="0" wrap="square" tIns="0">
            <a:spAutoFit/>
          </a:bodyPr>
          <a:lstStyle/>
          <a:p>
            <a:pPr indent="0" lvl="0" marL="0" marR="0" rtl="0" algn="just">
              <a:lnSpc>
                <a:spcPct val="120046"/>
              </a:lnSpc>
              <a:spcBef>
                <a:spcPts val="0"/>
              </a:spcBef>
              <a:spcAft>
                <a:spcPts val="0"/>
              </a:spcAft>
              <a:buNone/>
            </a:pPr>
            <a:r>
              <a:rPr b="1" lang="en-US" sz="2155">
                <a:solidFill>
                  <a:srgbClr val="000000"/>
                </a:solidFill>
                <a:latin typeface="Arial"/>
                <a:ea typeface="Arial"/>
                <a:cs typeface="Arial"/>
                <a:sym typeface="Arial"/>
              </a:rPr>
              <a:t>Hierarchical Model:</a:t>
            </a:r>
            <a:endParaRPr/>
          </a:p>
          <a:p>
            <a:pPr indent="0" lvl="0" marL="0" marR="0" rtl="0" algn="just">
              <a:lnSpc>
                <a:spcPct val="120000"/>
              </a:lnSpc>
              <a:spcBef>
                <a:spcPts val="0"/>
              </a:spcBef>
              <a:spcAft>
                <a:spcPts val="0"/>
              </a:spcAft>
              <a:buNone/>
            </a:pPr>
            <a:r>
              <a:rPr lang="en-US" sz="1800">
                <a:solidFill>
                  <a:srgbClr val="000000"/>
                </a:solidFill>
                <a:latin typeface="Arial"/>
                <a:ea typeface="Arial"/>
                <a:cs typeface="Arial"/>
                <a:sym typeface="Arial"/>
              </a:rPr>
              <a:t>This is one of the oldest models in a data model which was developed by IBM, in the 1950s. In a hierarchical model, data are viewed as a collection of tables, or we can say segments that form a hierarchical relation. In this, the data is organized into a tree-like structure where each record consists of one parent record and many children. Even if the segments are connected as a chain-like structure by logical associations, then the instant structure can be a fan structure with multiple branches.</a:t>
            </a:r>
            <a:endParaRPr/>
          </a:p>
        </p:txBody>
      </p:sp>
      <p:sp>
        <p:nvSpPr>
          <p:cNvPr id="216" name="Google Shape;216;p9"/>
          <p:cNvSpPr txBox="1"/>
          <p:nvPr/>
        </p:nvSpPr>
        <p:spPr>
          <a:xfrm>
            <a:off x="1866900" y="3813575"/>
            <a:ext cx="8720100" cy="2366700"/>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None/>
            </a:pPr>
            <a:r>
              <a:rPr b="1" lang="en-US" sz="1875">
                <a:solidFill>
                  <a:srgbClr val="000000"/>
                </a:solidFill>
                <a:latin typeface="Arial"/>
                <a:ea typeface="Arial"/>
                <a:cs typeface="Arial"/>
                <a:sym typeface="Arial"/>
              </a:rPr>
              <a:t>Applications of hierarchical model :</a:t>
            </a:r>
            <a:endParaRPr/>
          </a:p>
          <a:p>
            <a:pPr indent="-202406" lvl="1" marL="404813" marR="0" rtl="0" algn="just">
              <a:lnSpc>
                <a:spcPct val="120000"/>
              </a:lnSpc>
              <a:spcBef>
                <a:spcPts val="0"/>
              </a:spcBef>
              <a:spcAft>
                <a:spcPts val="0"/>
              </a:spcAft>
              <a:buClr>
                <a:srgbClr val="000000"/>
              </a:buClr>
              <a:buSzPts val="1875"/>
              <a:buFont typeface="Arial"/>
              <a:buChar char="•"/>
            </a:pPr>
            <a:r>
              <a:rPr b="0" i="0" lang="en-US" sz="1875" u="none" cap="none" strike="noStrike">
                <a:solidFill>
                  <a:srgbClr val="000000"/>
                </a:solidFill>
                <a:latin typeface="Arial"/>
                <a:ea typeface="Arial"/>
                <a:cs typeface="Arial"/>
                <a:sym typeface="Arial"/>
              </a:rPr>
              <a:t>Hierarchical models are generally used as semantic models in practice as many real-world occurrences of events are hierarchical in nature like biological structures, political, or social structures.</a:t>
            </a:r>
            <a:endParaRPr/>
          </a:p>
          <a:p>
            <a:pPr indent="-202406" lvl="1" marL="404813" marR="0" rtl="0" algn="just">
              <a:lnSpc>
                <a:spcPct val="120000"/>
              </a:lnSpc>
              <a:spcBef>
                <a:spcPts val="0"/>
              </a:spcBef>
              <a:spcAft>
                <a:spcPts val="0"/>
              </a:spcAft>
              <a:buClr>
                <a:srgbClr val="000000"/>
              </a:buClr>
              <a:buSzPts val="1875"/>
              <a:buFont typeface="Arial"/>
              <a:buChar char="•"/>
            </a:pPr>
            <a:r>
              <a:rPr b="0" i="0" lang="en-US" sz="1875" u="none" cap="none" strike="noStrike">
                <a:solidFill>
                  <a:srgbClr val="000000"/>
                </a:solidFill>
                <a:latin typeface="Arial"/>
                <a:ea typeface="Arial"/>
                <a:cs typeface="Arial"/>
                <a:sym typeface="Arial"/>
              </a:rPr>
              <a:t>Hierarchical models are also commonly used as physical models because of the inherent hierarchical structure of the disk storage system like tracks, cylinders, etc.</a:t>
            </a:r>
            <a:endParaRPr/>
          </a:p>
        </p:txBody>
      </p:sp>
      <p:sp>
        <p:nvSpPr>
          <p:cNvPr id="217" name="Google Shape;217;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218" name="Google Shape;218;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grpSp>
        <p:nvGrpSpPr>
          <p:cNvPr id="227" name="Google Shape;227;p10"/>
          <p:cNvGrpSpPr/>
          <p:nvPr/>
        </p:nvGrpSpPr>
        <p:grpSpPr>
          <a:xfrm>
            <a:off x="1524000" y="6356604"/>
            <a:ext cx="9144000" cy="88404"/>
            <a:chOff x="0" y="0"/>
            <a:chExt cx="13004800" cy="125730"/>
          </a:xfrm>
        </p:grpSpPr>
        <p:sp>
          <p:nvSpPr>
            <p:cNvPr id="228" name="Google Shape;228;p10"/>
            <p:cNvSpPr/>
            <p:nvPr/>
          </p:nvSpPr>
          <p:spPr>
            <a:xfrm>
              <a:off x="0" y="100584"/>
              <a:ext cx="13004800" cy="25146"/>
            </a:xfrm>
            <a:custGeom>
              <a:rect b="b" l="l" r="r" t="t"/>
              <a:pathLst>
                <a:path extrusionOk="0" h="25146" w="13004800">
                  <a:moveTo>
                    <a:pt x="13004800" y="0"/>
                  </a:moveTo>
                  <a:lnTo>
                    <a:pt x="0" y="0"/>
                  </a:lnTo>
                  <a:lnTo>
                    <a:pt x="0" y="25146"/>
                  </a:lnTo>
                  <a:lnTo>
                    <a:pt x="13004800" y="25146"/>
                  </a:lnTo>
                  <a:lnTo>
                    <a:pt x="13004800" y="0"/>
                  </a:lnTo>
                  <a:close/>
                </a:path>
              </a:pathLst>
            </a:custGeom>
            <a:solidFill>
              <a:srgbClr val="C00000"/>
            </a:solidFill>
            <a:ln>
              <a:noFill/>
            </a:ln>
          </p:spPr>
        </p:sp>
        <p:sp>
          <p:nvSpPr>
            <p:cNvPr id="229" name="Google Shape;229;p10"/>
            <p:cNvSpPr/>
            <p:nvPr/>
          </p:nvSpPr>
          <p:spPr>
            <a:xfrm>
              <a:off x="0" y="0"/>
              <a:ext cx="13004800" cy="75438"/>
            </a:xfrm>
            <a:custGeom>
              <a:rect b="b" l="l" r="r" t="t"/>
              <a:pathLst>
                <a:path extrusionOk="0" h="75438" w="13004800">
                  <a:moveTo>
                    <a:pt x="13004800" y="0"/>
                  </a:moveTo>
                  <a:lnTo>
                    <a:pt x="0" y="0"/>
                  </a:lnTo>
                  <a:lnTo>
                    <a:pt x="0" y="75438"/>
                  </a:lnTo>
                  <a:lnTo>
                    <a:pt x="13004800" y="75438"/>
                  </a:lnTo>
                  <a:lnTo>
                    <a:pt x="13004800" y="0"/>
                  </a:lnTo>
                  <a:close/>
                </a:path>
              </a:pathLst>
            </a:custGeom>
            <a:solidFill>
              <a:srgbClr val="C00000"/>
            </a:solidFill>
            <a:ln>
              <a:noFill/>
            </a:ln>
          </p:spPr>
        </p:sp>
      </p:grpSp>
      <p:sp>
        <p:nvSpPr>
          <p:cNvPr id="230" name="Google Shape;230;p10"/>
          <p:cNvSpPr/>
          <p:nvPr/>
        </p:nvSpPr>
        <p:spPr>
          <a:xfrm>
            <a:off x="7795479" y="2799112"/>
            <a:ext cx="2775727" cy="2034641"/>
          </a:xfrm>
          <a:custGeom>
            <a:rect b="b" l="l" r="r" t="t"/>
            <a:pathLst>
              <a:path extrusionOk="0" h="2170284" w="2960776">
                <a:moveTo>
                  <a:pt x="0" y="0"/>
                </a:moveTo>
                <a:lnTo>
                  <a:pt x="2960775" y="0"/>
                </a:lnTo>
                <a:lnTo>
                  <a:pt x="2960775" y="2170284"/>
                </a:lnTo>
                <a:lnTo>
                  <a:pt x="0" y="2170284"/>
                </a:lnTo>
                <a:lnTo>
                  <a:pt x="0" y="0"/>
                </a:lnTo>
                <a:close/>
              </a:path>
            </a:pathLst>
          </a:custGeom>
          <a:blipFill rotWithShape="1">
            <a:blip r:embed="rId3">
              <a:alphaModFix/>
            </a:blip>
            <a:stretch>
              <a:fillRect b="0" l="-6100" r="-7321" t="0"/>
            </a:stretch>
          </a:blipFill>
          <a:ln>
            <a:noFill/>
          </a:ln>
        </p:spPr>
      </p:sp>
      <p:sp>
        <p:nvSpPr>
          <p:cNvPr id="231" name="Google Shape;231;p10"/>
          <p:cNvSpPr txBox="1"/>
          <p:nvPr/>
        </p:nvSpPr>
        <p:spPr>
          <a:xfrm>
            <a:off x="4056634" y="577689"/>
            <a:ext cx="4157334" cy="500137"/>
          </a:xfrm>
          <a:prstGeom prst="rect">
            <a:avLst/>
          </a:prstGeom>
          <a:noFill/>
          <a:ln>
            <a:noFill/>
          </a:ln>
        </p:spPr>
        <p:txBody>
          <a:bodyPr anchorCtr="0" anchor="t" bIns="0" lIns="0" spcFirstLastPara="1" rIns="0" wrap="square" tIns="0">
            <a:spAutoFit/>
          </a:bodyPr>
          <a:lstStyle/>
          <a:p>
            <a:pPr indent="0" lvl="0" marL="0" marR="0" rtl="0" algn="l">
              <a:lnSpc>
                <a:spcPct val="120024"/>
              </a:lnSpc>
              <a:spcBef>
                <a:spcPts val="0"/>
              </a:spcBef>
              <a:spcAft>
                <a:spcPts val="0"/>
              </a:spcAft>
              <a:buNone/>
            </a:pPr>
            <a:r>
              <a:rPr b="1" lang="en-US" sz="3281">
                <a:solidFill>
                  <a:srgbClr val="C00000"/>
                </a:solidFill>
                <a:latin typeface="Arimo"/>
                <a:ea typeface="Arimo"/>
                <a:cs typeface="Arimo"/>
                <a:sym typeface="Arimo"/>
              </a:rPr>
              <a:t>Hierarchical Model</a:t>
            </a:r>
            <a:endParaRPr/>
          </a:p>
        </p:txBody>
      </p:sp>
      <p:sp>
        <p:nvSpPr>
          <p:cNvPr id="232" name="Google Shape;232;p10"/>
          <p:cNvSpPr txBox="1"/>
          <p:nvPr/>
        </p:nvSpPr>
        <p:spPr>
          <a:xfrm>
            <a:off x="1017825" y="1962388"/>
            <a:ext cx="6559500" cy="3509400"/>
          </a:xfrm>
          <a:prstGeom prst="rect">
            <a:avLst/>
          </a:prstGeom>
          <a:noFill/>
          <a:ln>
            <a:noFill/>
          </a:ln>
        </p:spPr>
        <p:txBody>
          <a:bodyPr anchorCtr="0" anchor="t" bIns="0" lIns="0" spcFirstLastPara="1" rIns="0" wrap="square" tIns="0">
            <a:spAutoFit/>
          </a:bodyPr>
          <a:lstStyle/>
          <a:p>
            <a:pPr indent="0" lvl="0" marL="0" marR="0" rtl="0" algn="just">
              <a:lnSpc>
                <a:spcPct val="120046"/>
              </a:lnSpc>
              <a:spcBef>
                <a:spcPts val="0"/>
              </a:spcBef>
              <a:spcAft>
                <a:spcPts val="0"/>
              </a:spcAft>
              <a:buNone/>
            </a:pPr>
            <a:r>
              <a:rPr b="1" lang="en-US" sz="2155">
                <a:solidFill>
                  <a:srgbClr val="000000"/>
                </a:solidFill>
                <a:latin typeface="Arial"/>
                <a:ea typeface="Arial"/>
                <a:cs typeface="Arial"/>
                <a:sym typeface="Arial"/>
              </a:rPr>
              <a:t>Advantages of the Hierarchical Data Model</a:t>
            </a:r>
            <a:endParaRPr/>
          </a:p>
          <a:p>
            <a:pPr indent="-202406" lvl="1" marL="404813" marR="0" rtl="0" algn="just">
              <a:lnSpc>
                <a:spcPct val="120000"/>
              </a:lnSpc>
              <a:spcBef>
                <a:spcPts val="0"/>
              </a:spcBef>
              <a:spcAft>
                <a:spcPts val="0"/>
              </a:spcAft>
              <a:buClr>
                <a:srgbClr val="000000"/>
              </a:buClr>
              <a:buSzPts val="1875"/>
              <a:buFont typeface="Arial"/>
              <a:buChar char="•"/>
            </a:pPr>
            <a:r>
              <a:rPr b="0" i="0" lang="en-US" sz="1875" u="none" cap="none" strike="noStrike">
                <a:solidFill>
                  <a:srgbClr val="000000"/>
                </a:solidFill>
                <a:latin typeface="Arial"/>
                <a:ea typeface="Arial"/>
                <a:cs typeface="Arial"/>
                <a:sym typeface="Arial"/>
              </a:rPr>
              <a:t>Because of its tree form, it is easy to grasp.</a:t>
            </a:r>
            <a:endParaRPr/>
          </a:p>
          <a:p>
            <a:pPr indent="-202404" lvl="1" marL="404812" marR="0" rtl="0" algn="just">
              <a:lnSpc>
                <a:spcPct val="120000"/>
              </a:lnSpc>
              <a:spcBef>
                <a:spcPts val="0"/>
              </a:spcBef>
              <a:spcAft>
                <a:spcPts val="0"/>
              </a:spcAft>
              <a:buClr>
                <a:srgbClr val="000000"/>
              </a:buClr>
              <a:buSzPts val="1875"/>
              <a:buFont typeface="Arial"/>
              <a:buChar char="•"/>
            </a:pPr>
            <a:r>
              <a:rPr b="0" i="0" lang="en-US" sz="1875" u="none" cap="none" strike="noStrike">
                <a:solidFill>
                  <a:srgbClr val="000000"/>
                </a:solidFill>
                <a:latin typeface="Arial"/>
                <a:ea typeface="Arial"/>
                <a:cs typeface="Arial"/>
                <a:sym typeface="Arial"/>
              </a:rPr>
              <a:t>Retrieving data in a one-to-many connection is efficient.</a:t>
            </a:r>
            <a:endParaRPr b="0" i="0" sz="1875" u="none" cap="none" strike="noStrike">
              <a:solidFill>
                <a:srgbClr val="000000"/>
              </a:solidFill>
              <a:latin typeface="Arial"/>
              <a:ea typeface="Arial"/>
              <a:cs typeface="Arial"/>
              <a:sym typeface="Arial"/>
            </a:endParaRPr>
          </a:p>
          <a:p>
            <a:pPr indent="0" lvl="0" marL="457200" marR="0" rtl="0" algn="just">
              <a:lnSpc>
                <a:spcPct val="120000"/>
              </a:lnSpc>
              <a:spcBef>
                <a:spcPts val="0"/>
              </a:spcBef>
              <a:spcAft>
                <a:spcPts val="0"/>
              </a:spcAft>
              <a:buNone/>
            </a:pPr>
            <a:r>
              <a:t/>
            </a:r>
            <a:endParaRPr sz="1875"/>
          </a:p>
          <a:p>
            <a:pPr indent="0" lvl="0" marL="0" marR="0" rtl="0" algn="just">
              <a:lnSpc>
                <a:spcPct val="120046"/>
              </a:lnSpc>
              <a:spcBef>
                <a:spcPts val="0"/>
              </a:spcBef>
              <a:spcAft>
                <a:spcPts val="0"/>
              </a:spcAft>
              <a:buNone/>
            </a:pPr>
            <a:r>
              <a:rPr b="1" lang="en-US" sz="2155">
                <a:solidFill>
                  <a:srgbClr val="000000"/>
                </a:solidFill>
                <a:latin typeface="Arial"/>
                <a:ea typeface="Arial"/>
                <a:cs typeface="Arial"/>
                <a:sym typeface="Arial"/>
              </a:rPr>
              <a:t>Disadvantages of the Hierarchical Data Model</a:t>
            </a:r>
            <a:endParaRPr/>
          </a:p>
          <a:p>
            <a:pPr indent="-202406" lvl="1" marL="404813" marR="0" rtl="0" algn="just">
              <a:lnSpc>
                <a:spcPct val="120000"/>
              </a:lnSpc>
              <a:spcBef>
                <a:spcPts val="0"/>
              </a:spcBef>
              <a:spcAft>
                <a:spcPts val="0"/>
              </a:spcAft>
              <a:buClr>
                <a:srgbClr val="000000"/>
              </a:buClr>
              <a:buSzPts val="1875"/>
              <a:buFont typeface="Arial"/>
              <a:buChar char="•"/>
            </a:pPr>
            <a:r>
              <a:rPr b="0" i="0" lang="en-US" sz="1875" u="none" cap="none" strike="noStrike">
                <a:solidFill>
                  <a:srgbClr val="000000"/>
                </a:solidFill>
                <a:latin typeface="Arial"/>
                <a:ea typeface="Arial"/>
                <a:cs typeface="Arial"/>
                <a:sym typeface="Arial"/>
              </a:rPr>
              <a:t>Inflexibility in reorganizing data.</a:t>
            </a:r>
            <a:endParaRPr/>
          </a:p>
          <a:p>
            <a:pPr indent="-202406" lvl="1" marL="404813" marR="0" rtl="0" algn="just">
              <a:lnSpc>
                <a:spcPct val="120000"/>
              </a:lnSpc>
              <a:spcBef>
                <a:spcPts val="0"/>
              </a:spcBef>
              <a:spcAft>
                <a:spcPts val="0"/>
              </a:spcAft>
              <a:buClr>
                <a:srgbClr val="000000"/>
              </a:buClr>
              <a:buSzPts val="1875"/>
              <a:buFont typeface="Arial"/>
              <a:buChar char="•"/>
            </a:pPr>
            <a:r>
              <a:rPr b="0" i="0" lang="en-US" sz="1875" u="none" cap="none" strike="noStrike">
                <a:solidFill>
                  <a:srgbClr val="000000"/>
                </a:solidFill>
                <a:latin typeface="Arial"/>
                <a:ea typeface="Arial"/>
                <a:cs typeface="Arial"/>
                <a:sym typeface="Arial"/>
              </a:rPr>
              <a:t>accessing complicated data structures may be challenging.</a:t>
            </a:r>
            <a:endParaRPr/>
          </a:p>
          <a:p>
            <a:pPr indent="-202406" lvl="1" marL="404813" marR="0" rtl="0" algn="just">
              <a:lnSpc>
                <a:spcPct val="120000"/>
              </a:lnSpc>
              <a:spcBef>
                <a:spcPts val="0"/>
              </a:spcBef>
              <a:spcAft>
                <a:spcPts val="0"/>
              </a:spcAft>
              <a:buClr>
                <a:srgbClr val="000000"/>
              </a:buClr>
              <a:buSzPts val="1875"/>
              <a:buFont typeface="Arial"/>
              <a:buChar char="•"/>
            </a:pPr>
            <a:r>
              <a:rPr b="0" i="0" lang="en-US" sz="1875" u="none" cap="none" strike="noStrike">
                <a:solidFill>
                  <a:srgbClr val="000000"/>
                </a:solidFill>
                <a:latin typeface="Arial"/>
                <a:ea typeface="Arial"/>
                <a:cs typeface="Arial"/>
                <a:sym typeface="Arial"/>
              </a:rPr>
              <a:t>redundant data storage, which might cause anomalies and inconsistencies.</a:t>
            </a:r>
            <a:endParaRPr/>
          </a:p>
        </p:txBody>
      </p:sp>
      <p:sp>
        <p:nvSpPr>
          <p:cNvPr id="233" name="Google Shape;233;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234" name="Google Shape;234;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grpSp>
        <p:nvGrpSpPr>
          <p:cNvPr id="243" name="Google Shape;243;p11"/>
          <p:cNvGrpSpPr/>
          <p:nvPr/>
        </p:nvGrpSpPr>
        <p:grpSpPr>
          <a:xfrm>
            <a:off x="1524000" y="6356604"/>
            <a:ext cx="9144000" cy="88404"/>
            <a:chOff x="0" y="0"/>
            <a:chExt cx="13004800" cy="125730"/>
          </a:xfrm>
        </p:grpSpPr>
        <p:sp>
          <p:nvSpPr>
            <p:cNvPr id="244" name="Google Shape;244;p11"/>
            <p:cNvSpPr/>
            <p:nvPr/>
          </p:nvSpPr>
          <p:spPr>
            <a:xfrm>
              <a:off x="0" y="100584"/>
              <a:ext cx="13004800" cy="25146"/>
            </a:xfrm>
            <a:custGeom>
              <a:rect b="b" l="l" r="r" t="t"/>
              <a:pathLst>
                <a:path extrusionOk="0" h="25146" w="13004800">
                  <a:moveTo>
                    <a:pt x="13004800" y="0"/>
                  </a:moveTo>
                  <a:lnTo>
                    <a:pt x="0" y="0"/>
                  </a:lnTo>
                  <a:lnTo>
                    <a:pt x="0" y="25146"/>
                  </a:lnTo>
                  <a:lnTo>
                    <a:pt x="13004800" y="25146"/>
                  </a:lnTo>
                  <a:lnTo>
                    <a:pt x="13004800" y="0"/>
                  </a:lnTo>
                  <a:close/>
                </a:path>
              </a:pathLst>
            </a:custGeom>
            <a:solidFill>
              <a:srgbClr val="C00000"/>
            </a:solidFill>
            <a:ln>
              <a:noFill/>
            </a:ln>
          </p:spPr>
        </p:sp>
        <p:sp>
          <p:nvSpPr>
            <p:cNvPr id="245" name="Google Shape;245;p11"/>
            <p:cNvSpPr/>
            <p:nvPr/>
          </p:nvSpPr>
          <p:spPr>
            <a:xfrm>
              <a:off x="0" y="0"/>
              <a:ext cx="13004800" cy="75438"/>
            </a:xfrm>
            <a:custGeom>
              <a:rect b="b" l="l" r="r" t="t"/>
              <a:pathLst>
                <a:path extrusionOk="0" h="75438" w="13004800">
                  <a:moveTo>
                    <a:pt x="13004800" y="0"/>
                  </a:moveTo>
                  <a:lnTo>
                    <a:pt x="0" y="0"/>
                  </a:lnTo>
                  <a:lnTo>
                    <a:pt x="0" y="75438"/>
                  </a:lnTo>
                  <a:lnTo>
                    <a:pt x="13004800" y="75438"/>
                  </a:lnTo>
                  <a:lnTo>
                    <a:pt x="13004800" y="0"/>
                  </a:lnTo>
                  <a:close/>
                </a:path>
              </a:pathLst>
            </a:custGeom>
            <a:solidFill>
              <a:srgbClr val="C00000"/>
            </a:solidFill>
            <a:ln>
              <a:noFill/>
            </a:ln>
          </p:spPr>
        </p:sp>
      </p:grpSp>
      <p:grpSp>
        <p:nvGrpSpPr>
          <p:cNvPr id="246" name="Google Shape;246;p11"/>
          <p:cNvGrpSpPr/>
          <p:nvPr/>
        </p:nvGrpSpPr>
        <p:grpSpPr>
          <a:xfrm>
            <a:off x="5638242" y="4197028"/>
            <a:ext cx="994117" cy="657144"/>
            <a:chOff x="0" y="0"/>
            <a:chExt cx="1075891" cy="711200"/>
          </a:xfrm>
        </p:grpSpPr>
        <p:sp>
          <p:nvSpPr>
            <p:cNvPr id="247" name="Google Shape;247;p11"/>
            <p:cNvSpPr/>
            <p:nvPr/>
          </p:nvSpPr>
          <p:spPr>
            <a:xfrm>
              <a:off x="0" y="0"/>
              <a:ext cx="1075891" cy="711200"/>
            </a:xfrm>
            <a:custGeom>
              <a:rect b="b" l="l" r="r" t="t"/>
              <a:pathLst>
                <a:path extrusionOk="0" h="711200" w="1075891">
                  <a:moveTo>
                    <a:pt x="537946" y="0"/>
                  </a:moveTo>
                  <a:lnTo>
                    <a:pt x="1075891" y="711200"/>
                  </a:lnTo>
                  <a:lnTo>
                    <a:pt x="0" y="711200"/>
                  </a:lnTo>
                  <a:lnTo>
                    <a:pt x="537946" y="0"/>
                  </a:lnTo>
                  <a:close/>
                </a:path>
              </a:pathLst>
            </a:custGeom>
            <a:solidFill>
              <a:srgbClr val="FFFFFF"/>
            </a:solidFill>
            <a:ln>
              <a:noFill/>
            </a:ln>
          </p:spPr>
        </p:sp>
        <p:sp>
          <p:nvSpPr>
            <p:cNvPr id="248" name="Google Shape;248;p11"/>
            <p:cNvSpPr txBox="1"/>
            <p:nvPr/>
          </p:nvSpPr>
          <p:spPr>
            <a:xfrm>
              <a:off x="168108" y="301625"/>
              <a:ext cx="739675" cy="358775"/>
            </a:xfrm>
            <a:prstGeom prst="rect">
              <a:avLst/>
            </a:prstGeom>
            <a:noFill/>
            <a:ln>
              <a:noFill/>
            </a:ln>
          </p:spPr>
          <p:txBody>
            <a:bodyPr anchorCtr="0" anchor="ctr" bIns="47625" lIns="47625" spcFirstLastPara="1" rIns="47625" wrap="square" tIns="47625">
              <a:noAutofit/>
            </a:bodyPr>
            <a:lstStyle/>
            <a:p>
              <a:pPr indent="0" lvl="0" marL="0" marR="0" rtl="0" algn="ctr">
                <a:lnSpc>
                  <a:spcPct val="108886"/>
                </a:lnSpc>
                <a:spcBef>
                  <a:spcPts val="0"/>
                </a:spcBef>
                <a:spcAft>
                  <a:spcPts val="0"/>
                </a:spcAft>
                <a:buNone/>
              </a:pPr>
              <a:r>
                <a:t/>
              </a:r>
              <a:endParaRPr sz="1687">
                <a:solidFill>
                  <a:schemeClr val="dk1"/>
                </a:solidFill>
                <a:latin typeface="Calibri"/>
                <a:ea typeface="Calibri"/>
                <a:cs typeface="Calibri"/>
                <a:sym typeface="Calibri"/>
              </a:endParaRPr>
            </a:p>
          </p:txBody>
        </p:sp>
      </p:grpSp>
      <p:grpSp>
        <p:nvGrpSpPr>
          <p:cNvPr id="249" name="Google Shape;249;p11"/>
          <p:cNvGrpSpPr/>
          <p:nvPr/>
        </p:nvGrpSpPr>
        <p:grpSpPr>
          <a:xfrm>
            <a:off x="6632360" y="4197029"/>
            <a:ext cx="721765" cy="721765"/>
            <a:chOff x="0" y="0"/>
            <a:chExt cx="812800" cy="812800"/>
          </a:xfrm>
        </p:grpSpPr>
        <p:sp>
          <p:nvSpPr>
            <p:cNvPr id="250" name="Google Shape;250;p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txBox="1"/>
            <p:nvPr/>
          </p:nvSpPr>
          <p:spPr>
            <a:xfrm>
              <a:off x="76200" y="47625"/>
              <a:ext cx="660400" cy="688975"/>
            </a:xfrm>
            <a:prstGeom prst="rect">
              <a:avLst/>
            </a:prstGeom>
            <a:noFill/>
            <a:ln>
              <a:noFill/>
            </a:ln>
          </p:spPr>
          <p:txBody>
            <a:bodyPr anchorCtr="0" anchor="ctr" bIns="47625" lIns="47625" spcFirstLastPara="1" rIns="47625" wrap="square" tIns="47625">
              <a:noAutofit/>
            </a:bodyPr>
            <a:lstStyle/>
            <a:p>
              <a:pPr indent="0" lvl="0" marL="0" marR="0" rtl="0" algn="ctr">
                <a:lnSpc>
                  <a:spcPct val="108886"/>
                </a:lnSpc>
                <a:spcBef>
                  <a:spcPts val="0"/>
                </a:spcBef>
                <a:spcAft>
                  <a:spcPts val="0"/>
                </a:spcAft>
                <a:buNone/>
              </a:pPr>
              <a:r>
                <a:t/>
              </a:r>
              <a:endParaRPr sz="1687">
                <a:solidFill>
                  <a:schemeClr val="dk1"/>
                </a:solidFill>
                <a:latin typeface="Calibri"/>
                <a:ea typeface="Calibri"/>
                <a:cs typeface="Calibri"/>
                <a:sym typeface="Calibri"/>
              </a:endParaRPr>
            </a:p>
          </p:txBody>
        </p:sp>
      </p:grpSp>
      <p:grpSp>
        <p:nvGrpSpPr>
          <p:cNvPr id="252" name="Google Shape;252;p11"/>
          <p:cNvGrpSpPr/>
          <p:nvPr/>
        </p:nvGrpSpPr>
        <p:grpSpPr>
          <a:xfrm>
            <a:off x="4725473" y="4197029"/>
            <a:ext cx="912769" cy="721765"/>
            <a:chOff x="0" y="0"/>
            <a:chExt cx="1027895" cy="812800"/>
          </a:xfrm>
        </p:grpSpPr>
        <p:sp>
          <p:nvSpPr>
            <p:cNvPr id="253" name="Google Shape;253;p11"/>
            <p:cNvSpPr/>
            <p:nvPr/>
          </p:nvSpPr>
          <p:spPr>
            <a:xfrm>
              <a:off x="0" y="0"/>
              <a:ext cx="1027895" cy="812800"/>
            </a:xfrm>
            <a:custGeom>
              <a:rect b="b" l="l" r="r" t="t"/>
              <a:pathLst>
                <a:path extrusionOk="0" h="812800" w="1027895">
                  <a:moveTo>
                    <a:pt x="513948" y="0"/>
                  </a:moveTo>
                  <a:cubicBezTo>
                    <a:pt x="230102" y="0"/>
                    <a:pt x="0" y="181951"/>
                    <a:pt x="0" y="406400"/>
                  </a:cubicBezTo>
                  <a:cubicBezTo>
                    <a:pt x="0" y="630849"/>
                    <a:pt x="230102" y="812800"/>
                    <a:pt x="513948" y="812800"/>
                  </a:cubicBezTo>
                  <a:cubicBezTo>
                    <a:pt x="797793" y="812800"/>
                    <a:pt x="1027895" y="630849"/>
                    <a:pt x="1027895" y="406400"/>
                  </a:cubicBezTo>
                  <a:cubicBezTo>
                    <a:pt x="1027895" y="181951"/>
                    <a:pt x="797793" y="0"/>
                    <a:pt x="51394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1"/>
            <p:cNvSpPr txBox="1"/>
            <p:nvPr/>
          </p:nvSpPr>
          <p:spPr>
            <a:xfrm>
              <a:off x="96365" y="47625"/>
              <a:ext cx="835165" cy="688975"/>
            </a:xfrm>
            <a:prstGeom prst="rect">
              <a:avLst/>
            </a:prstGeom>
            <a:noFill/>
            <a:ln>
              <a:noFill/>
            </a:ln>
          </p:spPr>
          <p:txBody>
            <a:bodyPr anchorCtr="0" anchor="ctr" bIns="47625" lIns="47625" spcFirstLastPara="1" rIns="47625" wrap="square" tIns="47625">
              <a:noAutofit/>
            </a:bodyPr>
            <a:lstStyle/>
            <a:p>
              <a:pPr indent="0" lvl="0" marL="0" marR="0" rtl="0" algn="ctr">
                <a:lnSpc>
                  <a:spcPct val="108886"/>
                </a:lnSpc>
                <a:spcBef>
                  <a:spcPts val="0"/>
                </a:spcBef>
                <a:spcAft>
                  <a:spcPts val="0"/>
                </a:spcAft>
                <a:buNone/>
              </a:pPr>
              <a:r>
                <a:t/>
              </a:r>
              <a:endParaRPr sz="1687">
                <a:solidFill>
                  <a:schemeClr val="dk1"/>
                </a:solidFill>
                <a:latin typeface="Calibri"/>
                <a:ea typeface="Calibri"/>
                <a:cs typeface="Calibri"/>
                <a:sym typeface="Calibri"/>
              </a:endParaRPr>
            </a:p>
          </p:txBody>
        </p:sp>
      </p:grpSp>
      <p:sp>
        <p:nvSpPr>
          <p:cNvPr id="255" name="Google Shape;255;p11"/>
          <p:cNvSpPr/>
          <p:nvPr/>
        </p:nvSpPr>
        <p:spPr>
          <a:xfrm>
            <a:off x="2057080" y="1563291"/>
            <a:ext cx="8077841" cy="3887250"/>
          </a:xfrm>
          <a:custGeom>
            <a:rect b="b" l="l" r="r" t="t"/>
            <a:pathLst>
              <a:path extrusionOk="0" h="4146400" w="8616364">
                <a:moveTo>
                  <a:pt x="0" y="0"/>
                </a:moveTo>
                <a:lnTo>
                  <a:pt x="8616364" y="0"/>
                </a:lnTo>
                <a:lnTo>
                  <a:pt x="8616364" y="4146400"/>
                </a:lnTo>
                <a:lnTo>
                  <a:pt x="0" y="4146400"/>
                </a:lnTo>
                <a:lnTo>
                  <a:pt x="0" y="0"/>
                </a:lnTo>
                <a:close/>
              </a:path>
            </a:pathLst>
          </a:custGeom>
          <a:blipFill rotWithShape="1">
            <a:blip r:embed="rId3">
              <a:alphaModFix/>
            </a:blip>
            <a:stretch>
              <a:fillRect b="0" l="0" r="0" t="0"/>
            </a:stretch>
          </a:blipFill>
          <a:ln>
            <a:noFill/>
          </a:ln>
        </p:spPr>
      </p:sp>
      <p:sp>
        <p:nvSpPr>
          <p:cNvPr id="256" name="Google Shape;256;p11"/>
          <p:cNvSpPr txBox="1"/>
          <p:nvPr/>
        </p:nvSpPr>
        <p:spPr>
          <a:xfrm>
            <a:off x="4056634" y="577689"/>
            <a:ext cx="4157334" cy="500137"/>
          </a:xfrm>
          <a:prstGeom prst="rect">
            <a:avLst/>
          </a:prstGeom>
          <a:noFill/>
          <a:ln>
            <a:noFill/>
          </a:ln>
        </p:spPr>
        <p:txBody>
          <a:bodyPr anchorCtr="0" anchor="t" bIns="0" lIns="0" spcFirstLastPara="1" rIns="0" wrap="square" tIns="0">
            <a:spAutoFit/>
          </a:bodyPr>
          <a:lstStyle/>
          <a:p>
            <a:pPr indent="0" lvl="0" marL="0" marR="0" rtl="0" algn="l">
              <a:lnSpc>
                <a:spcPct val="120024"/>
              </a:lnSpc>
              <a:spcBef>
                <a:spcPts val="0"/>
              </a:spcBef>
              <a:spcAft>
                <a:spcPts val="0"/>
              </a:spcAft>
              <a:buNone/>
            </a:pPr>
            <a:r>
              <a:rPr b="1" lang="en-US" sz="3281">
                <a:solidFill>
                  <a:srgbClr val="C00000"/>
                </a:solidFill>
                <a:latin typeface="Arimo"/>
                <a:ea typeface="Arimo"/>
                <a:cs typeface="Arimo"/>
                <a:sym typeface="Arimo"/>
              </a:rPr>
              <a:t>Hierarchical Model</a:t>
            </a:r>
            <a:endParaRPr/>
          </a:p>
        </p:txBody>
      </p:sp>
      <p:sp>
        <p:nvSpPr>
          <p:cNvPr id="257" name="Google Shape;257;p11"/>
          <p:cNvSpPr txBox="1"/>
          <p:nvPr/>
        </p:nvSpPr>
        <p:spPr>
          <a:xfrm>
            <a:off x="5149702" y="5611276"/>
            <a:ext cx="1892598" cy="26417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i="1" lang="en-US" sz="1800">
                <a:solidFill>
                  <a:srgbClr val="000000"/>
                </a:solidFill>
                <a:latin typeface="Arial"/>
                <a:ea typeface="Arial"/>
                <a:cs typeface="Arial"/>
                <a:sym typeface="Arial"/>
              </a:rPr>
              <a:t>Hierarchical Model</a:t>
            </a:r>
            <a:endParaRPr/>
          </a:p>
        </p:txBody>
      </p:sp>
      <p:sp>
        <p:nvSpPr>
          <p:cNvPr id="258" name="Google Shape;25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259" name="Google Shape;25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grpSp>
        <p:nvGrpSpPr>
          <p:cNvPr id="268" name="Google Shape;268;p12"/>
          <p:cNvGrpSpPr/>
          <p:nvPr/>
        </p:nvGrpSpPr>
        <p:grpSpPr>
          <a:xfrm>
            <a:off x="1524000" y="6356604"/>
            <a:ext cx="9144000" cy="88404"/>
            <a:chOff x="0" y="0"/>
            <a:chExt cx="13004800" cy="125730"/>
          </a:xfrm>
        </p:grpSpPr>
        <p:sp>
          <p:nvSpPr>
            <p:cNvPr id="269" name="Google Shape;269;p12"/>
            <p:cNvSpPr/>
            <p:nvPr/>
          </p:nvSpPr>
          <p:spPr>
            <a:xfrm>
              <a:off x="0" y="100584"/>
              <a:ext cx="13004800" cy="25146"/>
            </a:xfrm>
            <a:custGeom>
              <a:rect b="b" l="l" r="r" t="t"/>
              <a:pathLst>
                <a:path extrusionOk="0" h="25146" w="13004800">
                  <a:moveTo>
                    <a:pt x="13004800" y="0"/>
                  </a:moveTo>
                  <a:lnTo>
                    <a:pt x="0" y="0"/>
                  </a:lnTo>
                  <a:lnTo>
                    <a:pt x="0" y="25146"/>
                  </a:lnTo>
                  <a:lnTo>
                    <a:pt x="13004800" y="25146"/>
                  </a:lnTo>
                  <a:lnTo>
                    <a:pt x="13004800" y="0"/>
                  </a:lnTo>
                  <a:close/>
                </a:path>
              </a:pathLst>
            </a:custGeom>
            <a:solidFill>
              <a:srgbClr val="C00000"/>
            </a:solidFill>
            <a:ln>
              <a:noFill/>
            </a:ln>
          </p:spPr>
        </p:sp>
        <p:sp>
          <p:nvSpPr>
            <p:cNvPr id="270" name="Google Shape;270;p12"/>
            <p:cNvSpPr/>
            <p:nvPr/>
          </p:nvSpPr>
          <p:spPr>
            <a:xfrm>
              <a:off x="0" y="0"/>
              <a:ext cx="13004800" cy="75438"/>
            </a:xfrm>
            <a:custGeom>
              <a:rect b="b" l="l" r="r" t="t"/>
              <a:pathLst>
                <a:path extrusionOk="0" h="75438" w="13004800">
                  <a:moveTo>
                    <a:pt x="13004800" y="0"/>
                  </a:moveTo>
                  <a:lnTo>
                    <a:pt x="0" y="0"/>
                  </a:lnTo>
                  <a:lnTo>
                    <a:pt x="0" y="75438"/>
                  </a:lnTo>
                  <a:lnTo>
                    <a:pt x="13004800" y="75438"/>
                  </a:lnTo>
                  <a:lnTo>
                    <a:pt x="13004800" y="0"/>
                  </a:lnTo>
                  <a:close/>
                </a:path>
              </a:pathLst>
            </a:custGeom>
            <a:solidFill>
              <a:srgbClr val="C00000"/>
            </a:solidFill>
            <a:ln>
              <a:noFill/>
            </a:ln>
          </p:spPr>
        </p:sp>
      </p:grpSp>
      <p:sp>
        <p:nvSpPr>
          <p:cNvPr id="271" name="Google Shape;271;p12"/>
          <p:cNvSpPr txBox="1"/>
          <p:nvPr/>
        </p:nvSpPr>
        <p:spPr>
          <a:xfrm>
            <a:off x="1968863" y="1104400"/>
            <a:ext cx="5459100" cy="5189100"/>
          </a:xfrm>
          <a:prstGeom prst="rect">
            <a:avLst/>
          </a:prstGeom>
          <a:noFill/>
          <a:ln>
            <a:noFill/>
          </a:ln>
        </p:spPr>
        <p:txBody>
          <a:bodyPr anchorCtr="0" anchor="t" bIns="0" lIns="0" spcFirstLastPara="1" rIns="0" wrap="square" tIns="0">
            <a:spAutoFit/>
          </a:bodyPr>
          <a:lstStyle/>
          <a:p>
            <a:pPr indent="0" lvl="0" marL="0" marR="0" rtl="0" algn="just">
              <a:lnSpc>
                <a:spcPct val="120046"/>
              </a:lnSpc>
              <a:spcBef>
                <a:spcPts val="0"/>
              </a:spcBef>
              <a:spcAft>
                <a:spcPts val="0"/>
              </a:spcAft>
              <a:buNone/>
            </a:pPr>
            <a:r>
              <a:rPr b="1" lang="en-US" sz="2155">
                <a:solidFill>
                  <a:srgbClr val="000000"/>
                </a:solidFill>
                <a:latin typeface="Arial"/>
                <a:ea typeface="Arial"/>
                <a:cs typeface="Arial"/>
                <a:sym typeface="Arial"/>
              </a:rPr>
              <a:t>What is Network Model?</a:t>
            </a:r>
            <a:endParaRPr/>
          </a:p>
          <a:p>
            <a:pPr indent="0" lvl="0" marL="0" marR="0" rtl="0" algn="just">
              <a:lnSpc>
                <a:spcPct val="104408"/>
              </a:lnSpc>
              <a:spcBef>
                <a:spcPts val="0"/>
              </a:spcBef>
              <a:spcAft>
                <a:spcPts val="0"/>
              </a:spcAft>
              <a:buNone/>
            </a:pPr>
            <a:r>
              <a:t/>
            </a:r>
            <a:endParaRPr b="1" sz="2155">
              <a:solidFill>
                <a:srgbClr val="000000"/>
              </a:solidFill>
              <a:latin typeface="Arial"/>
              <a:ea typeface="Arial"/>
              <a:cs typeface="Arial"/>
              <a:sym typeface="Arial"/>
            </a:endParaRPr>
          </a:p>
          <a:p>
            <a:pPr indent="0" lvl="0" marL="0" marR="0" rtl="0" algn="just">
              <a:lnSpc>
                <a:spcPct val="120000"/>
              </a:lnSpc>
              <a:spcBef>
                <a:spcPts val="0"/>
              </a:spcBef>
              <a:spcAft>
                <a:spcPts val="0"/>
              </a:spcAft>
              <a:buNone/>
            </a:pPr>
            <a:r>
              <a:rPr lang="en-US" sz="1875">
                <a:solidFill>
                  <a:srgbClr val="000000"/>
                </a:solidFill>
                <a:latin typeface="Arial"/>
                <a:ea typeface="Arial"/>
                <a:cs typeface="Arial"/>
                <a:sym typeface="Arial"/>
              </a:rPr>
              <a:t>This model was formalized by the Database Task group in the 1960s. This model is the generalization of the hierarchical model. This model can consist of multiple parent segments and these segments are grouped as levels but there exists a logical association between the segments belonging to any level. Mostly, there exists a many-to-many logical association between any of the two segments. We called graphs the logical associations between the segments. Therefore, this model replaces the hierarchical tree with a graph-like structure, and with that, there can more general connections among different nodes. </a:t>
            </a:r>
            <a:endParaRPr/>
          </a:p>
        </p:txBody>
      </p:sp>
      <p:sp>
        <p:nvSpPr>
          <p:cNvPr id="272" name="Google Shape;272;p12"/>
          <p:cNvSpPr/>
          <p:nvPr/>
        </p:nvSpPr>
        <p:spPr>
          <a:xfrm>
            <a:off x="7929879" y="2502390"/>
            <a:ext cx="2352594" cy="2152624"/>
          </a:xfrm>
          <a:custGeom>
            <a:rect b="b" l="l" r="r" t="t"/>
            <a:pathLst>
              <a:path extrusionOk="0" h="2296132" w="2509434">
                <a:moveTo>
                  <a:pt x="0" y="0"/>
                </a:moveTo>
                <a:lnTo>
                  <a:pt x="2509435" y="0"/>
                </a:lnTo>
                <a:lnTo>
                  <a:pt x="2509435" y="2296133"/>
                </a:lnTo>
                <a:lnTo>
                  <a:pt x="0" y="2296133"/>
                </a:lnTo>
                <a:lnTo>
                  <a:pt x="0" y="0"/>
                </a:lnTo>
                <a:close/>
              </a:path>
            </a:pathLst>
          </a:custGeom>
          <a:blipFill rotWithShape="1">
            <a:blip r:embed="rId3">
              <a:alphaModFix/>
            </a:blip>
            <a:stretch>
              <a:fillRect b="0" l="0" r="0" t="0"/>
            </a:stretch>
          </a:blipFill>
          <a:ln>
            <a:noFill/>
          </a:ln>
        </p:spPr>
      </p:sp>
      <p:sp>
        <p:nvSpPr>
          <p:cNvPr id="273" name="Google Shape;273;p12"/>
          <p:cNvSpPr txBox="1"/>
          <p:nvPr/>
        </p:nvSpPr>
        <p:spPr>
          <a:xfrm>
            <a:off x="3970360" y="534407"/>
            <a:ext cx="3515720" cy="500137"/>
          </a:xfrm>
          <a:prstGeom prst="rect">
            <a:avLst/>
          </a:prstGeom>
          <a:noFill/>
          <a:ln>
            <a:noFill/>
          </a:ln>
        </p:spPr>
        <p:txBody>
          <a:bodyPr anchorCtr="0" anchor="t" bIns="0" lIns="0" spcFirstLastPara="1" rIns="0" wrap="square" tIns="0">
            <a:spAutoFit/>
          </a:bodyPr>
          <a:lstStyle/>
          <a:p>
            <a:pPr indent="0" lvl="0" marL="0" marR="0" rtl="0" algn="l">
              <a:lnSpc>
                <a:spcPct val="120024"/>
              </a:lnSpc>
              <a:spcBef>
                <a:spcPts val="0"/>
              </a:spcBef>
              <a:spcAft>
                <a:spcPts val="0"/>
              </a:spcAft>
              <a:buNone/>
            </a:pPr>
            <a:r>
              <a:rPr b="1" lang="en-US" sz="3281">
                <a:solidFill>
                  <a:srgbClr val="C00000"/>
                </a:solidFill>
                <a:latin typeface="Arimo"/>
                <a:ea typeface="Arimo"/>
                <a:cs typeface="Arimo"/>
                <a:sym typeface="Arimo"/>
              </a:rPr>
              <a:t>Network Models</a:t>
            </a:r>
            <a:endParaRPr/>
          </a:p>
        </p:txBody>
      </p:sp>
      <p:sp>
        <p:nvSpPr>
          <p:cNvPr id="274" name="Google Shape;27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275" name="Google Shape;27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grpSp>
        <p:nvGrpSpPr>
          <p:cNvPr id="284" name="Google Shape;284;p13"/>
          <p:cNvGrpSpPr/>
          <p:nvPr/>
        </p:nvGrpSpPr>
        <p:grpSpPr>
          <a:xfrm>
            <a:off x="1524000" y="6356604"/>
            <a:ext cx="9144000" cy="88404"/>
            <a:chOff x="0" y="0"/>
            <a:chExt cx="13004800" cy="125730"/>
          </a:xfrm>
        </p:grpSpPr>
        <p:sp>
          <p:nvSpPr>
            <p:cNvPr id="285" name="Google Shape;285;p13"/>
            <p:cNvSpPr/>
            <p:nvPr/>
          </p:nvSpPr>
          <p:spPr>
            <a:xfrm>
              <a:off x="0" y="100584"/>
              <a:ext cx="13004800" cy="25146"/>
            </a:xfrm>
            <a:custGeom>
              <a:rect b="b" l="l" r="r" t="t"/>
              <a:pathLst>
                <a:path extrusionOk="0" h="25146" w="13004800">
                  <a:moveTo>
                    <a:pt x="13004800" y="0"/>
                  </a:moveTo>
                  <a:lnTo>
                    <a:pt x="0" y="0"/>
                  </a:lnTo>
                  <a:lnTo>
                    <a:pt x="0" y="25146"/>
                  </a:lnTo>
                  <a:lnTo>
                    <a:pt x="13004800" y="25146"/>
                  </a:lnTo>
                  <a:lnTo>
                    <a:pt x="13004800" y="0"/>
                  </a:lnTo>
                  <a:close/>
                </a:path>
              </a:pathLst>
            </a:custGeom>
            <a:solidFill>
              <a:srgbClr val="C00000"/>
            </a:solidFill>
            <a:ln>
              <a:noFill/>
            </a:ln>
          </p:spPr>
        </p:sp>
        <p:sp>
          <p:nvSpPr>
            <p:cNvPr id="286" name="Google Shape;286;p13"/>
            <p:cNvSpPr/>
            <p:nvPr/>
          </p:nvSpPr>
          <p:spPr>
            <a:xfrm>
              <a:off x="0" y="0"/>
              <a:ext cx="13004800" cy="75438"/>
            </a:xfrm>
            <a:custGeom>
              <a:rect b="b" l="l" r="r" t="t"/>
              <a:pathLst>
                <a:path extrusionOk="0" h="75438" w="13004800">
                  <a:moveTo>
                    <a:pt x="13004800" y="0"/>
                  </a:moveTo>
                  <a:lnTo>
                    <a:pt x="0" y="0"/>
                  </a:lnTo>
                  <a:lnTo>
                    <a:pt x="0" y="75438"/>
                  </a:lnTo>
                  <a:lnTo>
                    <a:pt x="13004800" y="75438"/>
                  </a:lnTo>
                  <a:lnTo>
                    <a:pt x="13004800" y="0"/>
                  </a:lnTo>
                  <a:close/>
                </a:path>
              </a:pathLst>
            </a:custGeom>
            <a:solidFill>
              <a:srgbClr val="C00000"/>
            </a:solidFill>
            <a:ln>
              <a:noFill/>
            </a:ln>
          </p:spPr>
        </p:sp>
      </p:grpSp>
      <p:sp>
        <p:nvSpPr>
          <p:cNvPr id="287" name="Google Shape;287;p13"/>
          <p:cNvSpPr txBox="1"/>
          <p:nvPr/>
        </p:nvSpPr>
        <p:spPr>
          <a:xfrm>
            <a:off x="2026863" y="1866628"/>
            <a:ext cx="5459215" cy="3007490"/>
          </a:xfrm>
          <a:prstGeom prst="rect">
            <a:avLst/>
          </a:prstGeom>
          <a:noFill/>
          <a:ln>
            <a:noFill/>
          </a:ln>
        </p:spPr>
        <p:txBody>
          <a:bodyPr anchorCtr="0" anchor="t" bIns="0" lIns="0" spcFirstLastPara="1" rIns="0" wrap="square" tIns="0">
            <a:spAutoFit/>
          </a:bodyPr>
          <a:lstStyle/>
          <a:p>
            <a:pPr indent="0" lvl="0" marL="0" marR="0" rtl="0" algn="just">
              <a:lnSpc>
                <a:spcPct val="120037"/>
              </a:lnSpc>
              <a:spcBef>
                <a:spcPts val="0"/>
              </a:spcBef>
              <a:spcAft>
                <a:spcPts val="0"/>
              </a:spcAft>
              <a:buNone/>
            </a:pPr>
            <a:r>
              <a:rPr b="1" lang="en-US" sz="2156">
                <a:solidFill>
                  <a:srgbClr val="000000"/>
                </a:solidFill>
                <a:latin typeface="Arial"/>
                <a:ea typeface="Arial"/>
                <a:cs typeface="Arial"/>
                <a:sym typeface="Arial"/>
              </a:rPr>
              <a:t>Advantages of the Network Data Model</a:t>
            </a:r>
            <a:endParaRPr/>
          </a:p>
          <a:p>
            <a:pPr indent="-202406" lvl="1" marL="404813" marR="0" rtl="0" algn="just">
              <a:lnSpc>
                <a:spcPct val="120000"/>
              </a:lnSpc>
              <a:spcBef>
                <a:spcPts val="0"/>
              </a:spcBef>
              <a:spcAft>
                <a:spcPts val="0"/>
              </a:spcAft>
              <a:buClr>
                <a:srgbClr val="000000"/>
              </a:buClr>
              <a:buSzPts val="1875"/>
              <a:buFont typeface="Arial"/>
              <a:buChar char="•"/>
            </a:pPr>
            <a:r>
              <a:rPr b="0" i="0" lang="en-US" sz="1875" u="none" cap="none" strike="noStrike">
                <a:solidFill>
                  <a:srgbClr val="000000"/>
                </a:solidFill>
                <a:latin typeface="Arial"/>
                <a:ea typeface="Arial"/>
                <a:cs typeface="Arial"/>
                <a:sym typeface="Arial"/>
              </a:rPr>
              <a:t>Because of its numerous parent ties, it is more adaptable than the hierarchical approach.</a:t>
            </a:r>
            <a:endParaRPr/>
          </a:p>
          <a:p>
            <a:pPr indent="-202406" lvl="1" marL="404813" marR="0" rtl="0" algn="just">
              <a:lnSpc>
                <a:spcPct val="120000"/>
              </a:lnSpc>
              <a:spcBef>
                <a:spcPts val="0"/>
              </a:spcBef>
              <a:spcAft>
                <a:spcPts val="0"/>
              </a:spcAft>
              <a:buClr>
                <a:srgbClr val="000000"/>
              </a:buClr>
              <a:buSzPts val="1875"/>
              <a:buFont typeface="Arial"/>
              <a:buChar char="•"/>
            </a:pPr>
            <a:r>
              <a:rPr b="0" i="0" lang="en-US" sz="1875" u="none" cap="none" strike="noStrike">
                <a:solidFill>
                  <a:srgbClr val="000000"/>
                </a:solidFill>
                <a:latin typeface="Arial"/>
                <a:ea typeface="Arial"/>
                <a:cs typeface="Arial"/>
                <a:sym typeface="Arial"/>
              </a:rPr>
              <a:t>Ideal for managing intricate, many-to-many connections.</a:t>
            </a:r>
            <a:endParaRPr/>
          </a:p>
          <a:p>
            <a:pPr indent="0" lvl="0" marL="0" marR="0" rtl="0" algn="just">
              <a:lnSpc>
                <a:spcPct val="120037"/>
              </a:lnSpc>
              <a:spcBef>
                <a:spcPts val="0"/>
              </a:spcBef>
              <a:spcAft>
                <a:spcPts val="0"/>
              </a:spcAft>
              <a:buNone/>
            </a:pPr>
            <a:r>
              <a:rPr b="1" lang="en-US" sz="2156">
                <a:solidFill>
                  <a:srgbClr val="000000"/>
                </a:solidFill>
                <a:latin typeface="Arial"/>
                <a:ea typeface="Arial"/>
                <a:cs typeface="Arial"/>
                <a:sym typeface="Arial"/>
              </a:rPr>
              <a:t>Disadvantages of the Network Data Model</a:t>
            </a:r>
            <a:endParaRPr/>
          </a:p>
          <a:p>
            <a:pPr indent="-202406" lvl="1" marL="404813" marR="0" rtl="0" algn="just">
              <a:lnSpc>
                <a:spcPct val="120000"/>
              </a:lnSpc>
              <a:spcBef>
                <a:spcPts val="0"/>
              </a:spcBef>
              <a:spcAft>
                <a:spcPts val="0"/>
              </a:spcAft>
              <a:buClr>
                <a:srgbClr val="000000"/>
              </a:buClr>
              <a:buSzPts val="1875"/>
              <a:buFont typeface="Arial"/>
              <a:buChar char="•"/>
            </a:pPr>
            <a:r>
              <a:rPr b="0" i="0" lang="en-US" sz="1875" u="none" cap="none" strike="noStrike">
                <a:solidFill>
                  <a:srgbClr val="000000"/>
                </a:solidFill>
                <a:latin typeface="Arial"/>
                <a:ea typeface="Arial"/>
                <a:cs typeface="Arial"/>
                <a:sym typeface="Arial"/>
              </a:rPr>
              <a:t>Increased complexity in database design and management.</a:t>
            </a:r>
            <a:endParaRPr/>
          </a:p>
          <a:p>
            <a:pPr indent="-202406" lvl="1" marL="404813" marR="0" rtl="0" algn="just">
              <a:lnSpc>
                <a:spcPct val="120000"/>
              </a:lnSpc>
              <a:spcBef>
                <a:spcPts val="0"/>
              </a:spcBef>
              <a:spcAft>
                <a:spcPts val="0"/>
              </a:spcAft>
              <a:buClr>
                <a:srgbClr val="000000"/>
              </a:buClr>
              <a:buSzPts val="1875"/>
              <a:buFont typeface="Arial"/>
              <a:buChar char="•"/>
            </a:pPr>
            <a:r>
              <a:rPr b="0" i="0" lang="en-US" sz="1875" u="none" cap="none" strike="noStrike">
                <a:solidFill>
                  <a:srgbClr val="000000"/>
                </a:solidFill>
                <a:latin typeface="Arial"/>
                <a:ea typeface="Arial"/>
                <a:cs typeface="Arial"/>
                <a:sym typeface="Arial"/>
              </a:rPr>
              <a:t>requires complex programming in order to manage and work with data.</a:t>
            </a:r>
            <a:endParaRPr/>
          </a:p>
        </p:txBody>
      </p:sp>
      <p:sp>
        <p:nvSpPr>
          <p:cNvPr id="288" name="Google Shape;288;p13"/>
          <p:cNvSpPr/>
          <p:nvPr/>
        </p:nvSpPr>
        <p:spPr>
          <a:xfrm>
            <a:off x="7766480" y="1911277"/>
            <a:ext cx="2743200" cy="2743200"/>
          </a:xfrm>
          <a:custGeom>
            <a:rect b="b" l="l" r="r" t="t"/>
            <a:pathLst>
              <a:path extrusionOk="0" h="2926080" w="2926080">
                <a:moveTo>
                  <a:pt x="0" y="0"/>
                </a:moveTo>
                <a:lnTo>
                  <a:pt x="2926080" y="0"/>
                </a:lnTo>
                <a:lnTo>
                  <a:pt x="2926080" y="2926080"/>
                </a:lnTo>
                <a:lnTo>
                  <a:pt x="0" y="2926080"/>
                </a:lnTo>
                <a:lnTo>
                  <a:pt x="0" y="0"/>
                </a:lnTo>
                <a:close/>
              </a:path>
            </a:pathLst>
          </a:custGeom>
          <a:blipFill rotWithShape="1">
            <a:blip r:embed="rId3">
              <a:alphaModFix/>
            </a:blip>
            <a:stretch>
              <a:fillRect b="0" l="0" r="0" t="0"/>
            </a:stretch>
          </a:blipFill>
          <a:ln>
            <a:noFill/>
          </a:ln>
        </p:spPr>
      </p:sp>
      <p:sp>
        <p:nvSpPr>
          <p:cNvPr id="289" name="Google Shape;289;p13"/>
          <p:cNvSpPr txBox="1"/>
          <p:nvPr/>
        </p:nvSpPr>
        <p:spPr>
          <a:xfrm>
            <a:off x="3970360" y="534407"/>
            <a:ext cx="3515720" cy="500137"/>
          </a:xfrm>
          <a:prstGeom prst="rect">
            <a:avLst/>
          </a:prstGeom>
          <a:noFill/>
          <a:ln>
            <a:noFill/>
          </a:ln>
        </p:spPr>
        <p:txBody>
          <a:bodyPr anchorCtr="0" anchor="t" bIns="0" lIns="0" spcFirstLastPara="1" rIns="0" wrap="square" tIns="0">
            <a:spAutoFit/>
          </a:bodyPr>
          <a:lstStyle/>
          <a:p>
            <a:pPr indent="0" lvl="0" marL="0" marR="0" rtl="0" algn="l">
              <a:lnSpc>
                <a:spcPct val="120024"/>
              </a:lnSpc>
              <a:spcBef>
                <a:spcPts val="0"/>
              </a:spcBef>
              <a:spcAft>
                <a:spcPts val="0"/>
              </a:spcAft>
              <a:buNone/>
            </a:pPr>
            <a:r>
              <a:rPr b="1" lang="en-US" sz="3281">
                <a:solidFill>
                  <a:srgbClr val="C00000"/>
                </a:solidFill>
                <a:latin typeface="Arimo"/>
                <a:ea typeface="Arimo"/>
                <a:cs typeface="Arimo"/>
                <a:sym typeface="Arimo"/>
              </a:rPr>
              <a:t>Network Models</a:t>
            </a:r>
            <a:endParaRPr/>
          </a:p>
        </p:txBody>
      </p:sp>
      <p:sp>
        <p:nvSpPr>
          <p:cNvPr id="290" name="Google Shape;290;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291" name="Google Shape;291;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grpSp>
        <p:nvGrpSpPr>
          <p:cNvPr id="300" name="Google Shape;300;p14"/>
          <p:cNvGrpSpPr/>
          <p:nvPr/>
        </p:nvGrpSpPr>
        <p:grpSpPr>
          <a:xfrm>
            <a:off x="1524000" y="6356604"/>
            <a:ext cx="9144000" cy="88404"/>
            <a:chOff x="0" y="0"/>
            <a:chExt cx="13004800" cy="125730"/>
          </a:xfrm>
        </p:grpSpPr>
        <p:sp>
          <p:nvSpPr>
            <p:cNvPr id="301" name="Google Shape;301;p14"/>
            <p:cNvSpPr/>
            <p:nvPr/>
          </p:nvSpPr>
          <p:spPr>
            <a:xfrm>
              <a:off x="0" y="100584"/>
              <a:ext cx="13004800" cy="25146"/>
            </a:xfrm>
            <a:custGeom>
              <a:rect b="b" l="l" r="r" t="t"/>
              <a:pathLst>
                <a:path extrusionOk="0" h="25146" w="13004800">
                  <a:moveTo>
                    <a:pt x="13004800" y="0"/>
                  </a:moveTo>
                  <a:lnTo>
                    <a:pt x="0" y="0"/>
                  </a:lnTo>
                  <a:lnTo>
                    <a:pt x="0" y="25146"/>
                  </a:lnTo>
                  <a:lnTo>
                    <a:pt x="13004800" y="25146"/>
                  </a:lnTo>
                  <a:lnTo>
                    <a:pt x="13004800" y="0"/>
                  </a:lnTo>
                  <a:close/>
                </a:path>
              </a:pathLst>
            </a:custGeom>
            <a:solidFill>
              <a:srgbClr val="C00000"/>
            </a:solidFill>
            <a:ln>
              <a:noFill/>
            </a:ln>
          </p:spPr>
        </p:sp>
        <p:sp>
          <p:nvSpPr>
            <p:cNvPr id="302" name="Google Shape;302;p14"/>
            <p:cNvSpPr/>
            <p:nvPr/>
          </p:nvSpPr>
          <p:spPr>
            <a:xfrm>
              <a:off x="0" y="0"/>
              <a:ext cx="13004800" cy="75438"/>
            </a:xfrm>
            <a:custGeom>
              <a:rect b="b" l="l" r="r" t="t"/>
              <a:pathLst>
                <a:path extrusionOk="0" h="75438" w="13004800">
                  <a:moveTo>
                    <a:pt x="13004800" y="0"/>
                  </a:moveTo>
                  <a:lnTo>
                    <a:pt x="0" y="0"/>
                  </a:lnTo>
                  <a:lnTo>
                    <a:pt x="0" y="75438"/>
                  </a:lnTo>
                  <a:lnTo>
                    <a:pt x="13004800" y="75438"/>
                  </a:lnTo>
                  <a:lnTo>
                    <a:pt x="13004800" y="0"/>
                  </a:lnTo>
                  <a:close/>
                </a:path>
              </a:pathLst>
            </a:custGeom>
            <a:solidFill>
              <a:srgbClr val="C00000"/>
            </a:solidFill>
            <a:ln>
              <a:noFill/>
            </a:ln>
          </p:spPr>
        </p:sp>
      </p:grpSp>
      <p:sp>
        <p:nvSpPr>
          <p:cNvPr id="303" name="Google Shape;303;p14"/>
          <p:cNvSpPr/>
          <p:nvPr/>
        </p:nvSpPr>
        <p:spPr>
          <a:xfrm>
            <a:off x="2144306" y="1314204"/>
            <a:ext cx="8458581" cy="4229592"/>
          </a:xfrm>
          <a:custGeom>
            <a:rect b="b" l="l" r="r" t="t"/>
            <a:pathLst>
              <a:path extrusionOk="0" h="4511565" w="9022486">
                <a:moveTo>
                  <a:pt x="0" y="0"/>
                </a:moveTo>
                <a:lnTo>
                  <a:pt x="9022486" y="0"/>
                </a:lnTo>
                <a:lnTo>
                  <a:pt x="9022486" y="4511566"/>
                </a:lnTo>
                <a:lnTo>
                  <a:pt x="0" y="4511566"/>
                </a:lnTo>
                <a:lnTo>
                  <a:pt x="0" y="0"/>
                </a:lnTo>
                <a:close/>
              </a:path>
            </a:pathLst>
          </a:custGeom>
          <a:blipFill rotWithShape="1">
            <a:blip r:embed="rId3">
              <a:alphaModFix/>
            </a:blip>
            <a:stretch>
              <a:fillRect b="0" l="-3490" r="-1943" t="0"/>
            </a:stretch>
          </a:blipFill>
          <a:ln>
            <a:noFill/>
          </a:ln>
        </p:spPr>
      </p:sp>
      <p:sp>
        <p:nvSpPr>
          <p:cNvPr id="304" name="Google Shape;304;p14"/>
          <p:cNvSpPr txBox="1"/>
          <p:nvPr/>
        </p:nvSpPr>
        <p:spPr>
          <a:xfrm>
            <a:off x="4404530" y="534407"/>
            <a:ext cx="3515720" cy="500137"/>
          </a:xfrm>
          <a:prstGeom prst="rect">
            <a:avLst/>
          </a:prstGeom>
          <a:noFill/>
          <a:ln>
            <a:noFill/>
          </a:ln>
        </p:spPr>
        <p:txBody>
          <a:bodyPr anchorCtr="0" anchor="t" bIns="0" lIns="0" spcFirstLastPara="1" rIns="0" wrap="square" tIns="0">
            <a:spAutoFit/>
          </a:bodyPr>
          <a:lstStyle/>
          <a:p>
            <a:pPr indent="0" lvl="0" marL="0" marR="0" rtl="0" algn="l">
              <a:lnSpc>
                <a:spcPct val="120024"/>
              </a:lnSpc>
              <a:spcBef>
                <a:spcPts val="0"/>
              </a:spcBef>
              <a:spcAft>
                <a:spcPts val="0"/>
              </a:spcAft>
              <a:buNone/>
            </a:pPr>
            <a:r>
              <a:rPr b="1" lang="en-US" sz="3281">
                <a:solidFill>
                  <a:srgbClr val="C00000"/>
                </a:solidFill>
                <a:latin typeface="Arimo"/>
                <a:ea typeface="Arimo"/>
                <a:cs typeface="Arimo"/>
                <a:sym typeface="Arimo"/>
              </a:rPr>
              <a:t>Network Models</a:t>
            </a:r>
            <a:endParaRPr/>
          </a:p>
        </p:txBody>
      </p:sp>
      <p:sp>
        <p:nvSpPr>
          <p:cNvPr id="305" name="Google Shape;305;p14"/>
          <p:cNvSpPr txBox="1"/>
          <p:nvPr/>
        </p:nvSpPr>
        <p:spPr>
          <a:xfrm>
            <a:off x="4107749" y="5499149"/>
            <a:ext cx="3976502" cy="546303"/>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i="1" lang="en-US" sz="1800">
                <a:solidFill>
                  <a:srgbClr val="000000"/>
                </a:solidFill>
                <a:latin typeface="Arial"/>
                <a:ea typeface="Arial"/>
                <a:cs typeface="Arial"/>
                <a:sym typeface="Arial"/>
              </a:rPr>
              <a:t>Network model of Finance Department.</a:t>
            </a:r>
            <a:endParaRPr/>
          </a:p>
          <a:p>
            <a:pPr indent="0" lvl="0" marL="0" marR="0" rtl="0" algn="ctr">
              <a:lnSpc>
                <a:spcPct val="120000"/>
              </a:lnSpc>
              <a:spcBef>
                <a:spcPts val="0"/>
              </a:spcBef>
              <a:spcAft>
                <a:spcPts val="0"/>
              </a:spcAft>
              <a:buNone/>
            </a:pPr>
            <a:r>
              <a:t/>
            </a:r>
            <a:endParaRPr i="1" sz="1800">
              <a:solidFill>
                <a:srgbClr val="000000"/>
              </a:solidFill>
              <a:latin typeface="Arial"/>
              <a:ea typeface="Arial"/>
              <a:cs typeface="Arial"/>
              <a:sym typeface="Arial"/>
            </a:endParaRPr>
          </a:p>
        </p:txBody>
      </p:sp>
      <p:sp>
        <p:nvSpPr>
          <p:cNvPr id="306" name="Google Shape;306;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307" name="Google Shape;307;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grpSp>
        <p:nvGrpSpPr>
          <p:cNvPr id="316" name="Google Shape;316;p15"/>
          <p:cNvGrpSpPr/>
          <p:nvPr/>
        </p:nvGrpSpPr>
        <p:grpSpPr>
          <a:xfrm>
            <a:off x="1524000" y="6356604"/>
            <a:ext cx="9144000" cy="88404"/>
            <a:chOff x="0" y="0"/>
            <a:chExt cx="13004800" cy="125730"/>
          </a:xfrm>
        </p:grpSpPr>
        <p:sp>
          <p:nvSpPr>
            <p:cNvPr id="317" name="Google Shape;317;p15"/>
            <p:cNvSpPr/>
            <p:nvPr/>
          </p:nvSpPr>
          <p:spPr>
            <a:xfrm>
              <a:off x="0" y="100584"/>
              <a:ext cx="13004800" cy="25146"/>
            </a:xfrm>
            <a:custGeom>
              <a:rect b="b" l="l" r="r" t="t"/>
              <a:pathLst>
                <a:path extrusionOk="0" h="25146" w="13004800">
                  <a:moveTo>
                    <a:pt x="13004800" y="0"/>
                  </a:moveTo>
                  <a:lnTo>
                    <a:pt x="0" y="0"/>
                  </a:lnTo>
                  <a:lnTo>
                    <a:pt x="0" y="25146"/>
                  </a:lnTo>
                  <a:lnTo>
                    <a:pt x="13004800" y="25146"/>
                  </a:lnTo>
                  <a:lnTo>
                    <a:pt x="13004800" y="0"/>
                  </a:lnTo>
                  <a:close/>
                </a:path>
              </a:pathLst>
            </a:custGeom>
            <a:solidFill>
              <a:srgbClr val="C00000"/>
            </a:solidFill>
            <a:ln>
              <a:noFill/>
            </a:ln>
          </p:spPr>
        </p:sp>
        <p:sp>
          <p:nvSpPr>
            <p:cNvPr id="318" name="Google Shape;318;p15"/>
            <p:cNvSpPr/>
            <p:nvPr/>
          </p:nvSpPr>
          <p:spPr>
            <a:xfrm>
              <a:off x="0" y="0"/>
              <a:ext cx="13004800" cy="75438"/>
            </a:xfrm>
            <a:custGeom>
              <a:rect b="b" l="l" r="r" t="t"/>
              <a:pathLst>
                <a:path extrusionOk="0" h="75438" w="13004800">
                  <a:moveTo>
                    <a:pt x="13004800" y="0"/>
                  </a:moveTo>
                  <a:lnTo>
                    <a:pt x="0" y="0"/>
                  </a:lnTo>
                  <a:lnTo>
                    <a:pt x="0" y="75438"/>
                  </a:lnTo>
                  <a:lnTo>
                    <a:pt x="13004800" y="75438"/>
                  </a:lnTo>
                  <a:lnTo>
                    <a:pt x="13004800" y="0"/>
                  </a:lnTo>
                  <a:close/>
                </a:path>
              </a:pathLst>
            </a:custGeom>
            <a:solidFill>
              <a:srgbClr val="C00000"/>
            </a:solidFill>
            <a:ln>
              <a:noFill/>
            </a:ln>
          </p:spPr>
        </p:sp>
      </p:grpSp>
      <p:sp>
        <p:nvSpPr>
          <p:cNvPr id="319" name="Google Shape;319;p15"/>
          <p:cNvSpPr txBox="1"/>
          <p:nvPr/>
        </p:nvSpPr>
        <p:spPr>
          <a:xfrm>
            <a:off x="838200" y="1343175"/>
            <a:ext cx="6604500" cy="4829100"/>
          </a:xfrm>
          <a:prstGeom prst="rect">
            <a:avLst/>
          </a:prstGeom>
          <a:noFill/>
          <a:ln>
            <a:noFill/>
          </a:ln>
        </p:spPr>
        <p:txBody>
          <a:bodyPr anchorCtr="0" anchor="t" bIns="0" lIns="0" spcFirstLastPara="1" rIns="0" wrap="square" tIns="0">
            <a:spAutoFit/>
          </a:bodyPr>
          <a:lstStyle/>
          <a:p>
            <a:pPr indent="0" lvl="0" marL="0" marR="0" rtl="0" algn="just">
              <a:lnSpc>
                <a:spcPct val="120037"/>
              </a:lnSpc>
              <a:spcBef>
                <a:spcPts val="0"/>
              </a:spcBef>
              <a:spcAft>
                <a:spcPts val="0"/>
              </a:spcAft>
              <a:buNone/>
            </a:pPr>
            <a:r>
              <a:rPr b="1" lang="en-US" sz="2156">
                <a:solidFill>
                  <a:srgbClr val="000000"/>
                </a:solidFill>
                <a:latin typeface="Arial"/>
                <a:ea typeface="Arial"/>
                <a:cs typeface="Arial"/>
                <a:sym typeface="Arial"/>
              </a:rPr>
              <a:t>What is the Relational Model?</a:t>
            </a:r>
            <a:endParaRPr/>
          </a:p>
          <a:p>
            <a:pPr indent="0" lvl="0" marL="0" marR="0" rtl="0" algn="just">
              <a:lnSpc>
                <a:spcPct val="100185"/>
              </a:lnSpc>
              <a:spcBef>
                <a:spcPts val="0"/>
              </a:spcBef>
              <a:spcAft>
                <a:spcPts val="0"/>
              </a:spcAft>
              <a:buNone/>
            </a:pPr>
            <a:r>
              <a:t/>
            </a:r>
            <a:endParaRPr b="1" sz="2156">
              <a:solidFill>
                <a:srgbClr val="000000"/>
              </a:solidFill>
              <a:latin typeface="Arial"/>
              <a:ea typeface="Arial"/>
              <a:cs typeface="Arial"/>
              <a:sym typeface="Arial"/>
            </a:endParaRPr>
          </a:p>
          <a:p>
            <a:pPr indent="0" lvl="0" marL="0" marR="0" rtl="0" algn="just">
              <a:lnSpc>
                <a:spcPct val="120000"/>
              </a:lnSpc>
              <a:spcBef>
                <a:spcPts val="0"/>
              </a:spcBef>
              <a:spcAft>
                <a:spcPts val="0"/>
              </a:spcAft>
              <a:buNone/>
            </a:pPr>
            <a:r>
              <a:rPr lang="en-US" sz="1875">
                <a:solidFill>
                  <a:srgbClr val="000000"/>
                </a:solidFill>
                <a:latin typeface="Arial"/>
                <a:ea typeface="Arial"/>
                <a:cs typeface="Arial"/>
                <a:sym typeface="Arial"/>
              </a:rPr>
              <a:t>The relational model for database management is an approach to logically represent and manage the data stored in a database. This model organises the data into a collection of two-dimensional inter-related tables, also known as relations. Each relation is a collection of columns and rows, where the column represents the attributes of an entity and the rows (or tuples) represent the records.</a:t>
            </a:r>
            <a:endParaRPr/>
          </a:p>
          <a:p>
            <a:pPr indent="0" lvl="0" marL="0" marR="0" rtl="0" algn="just">
              <a:lnSpc>
                <a:spcPct val="120000"/>
              </a:lnSpc>
              <a:spcBef>
                <a:spcPts val="0"/>
              </a:spcBef>
              <a:spcAft>
                <a:spcPts val="0"/>
              </a:spcAft>
              <a:buNone/>
            </a:pPr>
            <a:r>
              <a:rPr lang="en-US" sz="1875">
                <a:solidFill>
                  <a:srgbClr val="000000"/>
                </a:solidFill>
                <a:latin typeface="Arial"/>
                <a:ea typeface="Arial"/>
                <a:cs typeface="Arial"/>
                <a:sym typeface="Arial"/>
              </a:rPr>
              <a:t>The use of tables to store the data provided a straightforward, efficient, and flexible way to store and access structured information. Because of this simplicity, this data model provides easy data sorting and data access. Hence, it is used widely around the world for data storage and processing.</a:t>
            </a:r>
            <a:endParaRPr/>
          </a:p>
        </p:txBody>
      </p:sp>
      <p:sp>
        <p:nvSpPr>
          <p:cNvPr id="320" name="Google Shape;320;p15"/>
          <p:cNvSpPr/>
          <p:nvPr/>
        </p:nvSpPr>
        <p:spPr>
          <a:xfrm>
            <a:off x="7972749" y="2744776"/>
            <a:ext cx="2921544" cy="2025904"/>
          </a:xfrm>
          <a:custGeom>
            <a:rect b="b" l="l" r="r" t="t"/>
            <a:pathLst>
              <a:path extrusionOk="0" h="812800" w="1172134">
                <a:moveTo>
                  <a:pt x="0" y="0"/>
                </a:moveTo>
                <a:lnTo>
                  <a:pt x="1172134" y="0"/>
                </a:lnTo>
                <a:lnTo>
                  <a:pt x="1172134" y="812800"/>
                </a:lnTo>
                <a:lnTo>
                  <a:pt x="0" y="812800"/>
                </a:lnTo>
                <a:close/>
              </a:path>
            </a:pathLst>
          </a:custGeom>
          <a:blipFill rotWithShape="1">
            <a:blip r:embed="rId3">
              <a:alphaModFix/>
            </a:blip>
            <a:stretch>
              <a:fillRect b="-6878" l="-10394" r="-8007" t="0"/>
            </a:stretch>
          </a:blipFill>
          <a:ln>
            <a:noFill/>
          </a:ln>
        </p:spPr>
      </p:sp>
      <p:sp>
        <p:nvSpPr>
          <p:cNvPr id="321" name="Google Shape;321;p15"/>
          <p:cNvSpPr txBox="1"/>
          <p:nvPr/>
        </p:nvSpPr>
        <p:spPr>
          <a:xfrm>
            <a:off x="4404530" y="659012"/>
            <a:ext cx="5709300" cy="500100"/>
          </a:xfrm>
          <a:prstGeom prst="rect">
            <a:avLst/>
          </a:prstGeom>
          <a:noFill/>
          <a:ln>
            <a:noFill/>
          </a:ln>
        </p:spPr>
        <p:txBody>
          <a:bodyPr anchorCtr="0" anchor="t" bIns="0" lIns="0" spcFirstLastPara="1" rIns="0" wrap="square" tIns="0">
            <a:spAutoFit/>
          </a:bodyPr>
          <a:lstStyle/>
          <a:p>
            <a:pPr indent="0" lvl="0" marL="0" marR="0" rtl="0" algn="l">
              <a:lnSpc>
                <a:spcPct val="120024"/>
              </a:lnSpc>
              <a:spcBef>
                <a:spcPts val="0"/>
              </a:spcBef>
              <a:spcAft>
                <a:spcPts val="0"/>
              </a:spcAft>
              <a:buNone/>
            </a:pPr>
            <a:r>
              <a:rPr b="1" lang="en-US" sz="3281">
                <a:solidFill>
                  <a:srgbClr val="C00000"/>
                </a:solidFill>
                <a:latin typeface="Arimo"/>
                <a:ea typeface="Arimo"/>
                <a:cs typeface="Arimo"/>
                <a:sym typeface="Arimo"/>
              </a:rPr>
              <a:t>Relational Model</a:t>
            </a:r>
            <a:endParaRPr/>
          </a:p>
        </p:txBody>
      </p:sp>
      <p:sp>
        <p:nvSpPr>
          <p:cNvPr id="322" name="Google Shape;322;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323" name="Google Shape;323;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grpSp>
        <p:nvGrpSpPr>
          <p:cNvPr id="332" name="Google Shape;332;p16"/>
          <p:cNvGrpSpPr/>
          <p:nvPr/>
        </p:nvGrpSpPr>
        <p:grpSpPr>
          <a:xfrm>
            <a:off x="1524000" y="6356604"/>
            <a:ext cx="9144000" cy="88404"/>
            <a:chOff x="0" y="0"/>
            <a:chExt cx="13004800" cy="125730"/>
          </a:xfrm>
        </p:grpSpPr>
        <p:sp>
          <p:nvSpPr>
            <p:cNvPr id="333" name="Google Shape;333;p16"/>
            <p:cNvSpPr/>
            <p:nvPr/>
          </p:nvSpPr>
          <p:spPr>
            <a:xfrm>
              <a:off x="0" y="100584"/>
              <a:ext cx="13004800" cy="25146"/>
            </a:xfrm>
            <a:custGeom>
              <a:rect b="b" l="l" r="r" t="t"/>
              <a:pathLst>
                <a:path extrusionOk="0" h="25146" w="13004800">
                  <a:moveTo>
                    <a:pt x="13004800" y="0"/>
                  </a:moveTo>
                  <a:lnTo>
                    <a:pt x="0" y="0"/>
                  </a:lnTo>
                  <a:lnTo>
                    <a:pt x="0" y="25146"/>
                  </a:lnTo>
                  <a:lnTo>
                    <a:pt x="13004800" y="25146"/>
                  </a:lnTo>
                  <a:lnTo>
                    <a:pt x="13004800" y="0"/>
                  </a:lnTo>
                  <a:close/>
                </a:path>
              </a:pathLst>
            </a:custGeom>
            <a:solidFill>
              <a:srgbClr val="C00000"/>
            </a:solidFill>
            <a:ln>
              <a:noFill/>
            </a:ln>
          </p:spPr>
        </p:sp>
        <p:sp>
          <p:nvSpPr>
            <p:cNvPr id="334" name="Google Shape;334;p16"/>
            <p:cNvSpPr/>
            <p:nvPr/>
          </p:nvSpPr>
          <p:spPr>
            <a:xfrm>
              <a:off x="0" y="0"/>
              <a:ext cx="13004800" cy="75438"/>
            </a:xfrm>
            <a:custGeom>
              <a:rect b="b" l="l" r="r" t="t"/>
              <a:pathLst>
                <a:path extrusionOk="0" h="75438" w="13004800">
                  <a:moveTo>
                    <a:pt x="13004800" y="0"/>
                  </a:moveTo>
                  <a:lnTo>
                    <a:pt x="0" y="0"/>
                  </a:lnTo>
                  <a:lnTo>
                    <a:pt x="0" y="75438"/>
                  </a:lnTo>
                  <a:lnTo>
                    <a:pt x="13004800" y="75438"/>
                  </a:lnTo>
                  <a:lnTo>
                    <a:pt x="13004800" y="0"/>
                  </a:lnTo>
                  <a:close/>
                </a:path>
              </a:pathLst>
            </a:custGeom>
            <a:solidFill>
              <a:srgbClr val="C00000"/>
            </a:solidFill>
            <a:ln>
              <a:noFill/>
            </a:ln>
          </p:spPr>
        </p:sp>
      </p:grpSp>
      <p:sp>
        <p:nvSpPr>
          <p:cNvPr id="335" name="Google Shape;335;p16"/>
          <p:cNvSpPr txBox="1"/>
          <p:nvPr/>
        </p:nvSpPr>
        <p:spPr>
          <a:xfrm>
            <a:off x="1336800" y="1745950"/>
            <a:ext cx="6149400" cy="3855600"/>
          </a:xfrm>
          <a:prstGeom prst="rect">
            <a:avLst/>
          </a:prstGeom>
          <a:noFill/>
          <a:ln>
            <a:noFill/>
          </a:ln>
        </p:spPr>
        <p:txBody>
          <a:bodyPr anchorCtr="0" anchor="t" bIns="0" lIns="0" spcFirstLastPara="1" rIns="0" wrap="square" tIns="0">
            <a:spAutoFit/>
          </a:bodyPr>
          <a:lstStyle/>
          <a:p>
            <a:pPr indent="0" lvl="0" marL="0" marR="0" rtl="0" algn="just">
              <a:lnSpc>
                <a:spcPct val="120046"/>
              </a:lnSpc>
              <a:spcBef>
                <a:spcPts val="0"/>
              </a:spcBef>
              <a:spcAft>
                <a:spcPts val="0"/>
              </a:spcAft>
              <a:buNone/>
            </a:pPr>
            <a:r>
              <a:rPr b="1" lang="en-US" sz="2155">
                <a:solidFill>
                  <a:srgbClr val="000000"/>
                </a:solidFill>
                <a:latin typeface="Arial"/>
                <a:ea typeface="Arial"/>
                <a:cs typeface="Arial"/>
                <a:sym typeface="Arial"/>
              </a:rPr>
              <a:t>Advantages of the Relational Data Model</a:t>
            </a:r>
            <a:endParaRPr/>
          </a:p>
          <a:p>
            <a:pPr indent="-202406" lvl="1" marL="404813" marR="0" rtl="0" algn="just">
              <a:lnSpc>
                <a:spcPct val="120000"/>
              </a:lnSpc>
              <a:spcBef>
                <a:spcPts val="0"/>
              </a:spcBef>
              <a:spcAft>
                <a:spcPts val="0"/>
              </a:spcAft>
              <a:buClr>
                <a:srgbClr val="000000"/>
              </a:buClr>
              <a:buSzPts val="1875"/>
              <a:buFont typeface="Arial"/>
              <a:buChar char="•"/>
            </a:pPr>
            <a:r>
              <a:rPr b="0" i="0" lang="en-US" sz="1875" u="none" cap="none" strike="noStrike">
                <a:solidFill>
                  <a:srgbClr val="000000"/>
                </a:solidFill>
                <a:latin typeface="Arial"/>
                <a:ea typeface="Arial"/>
                <a:cs typeface="Arial"/>
                <a:sym typeface="Arial"/>
              </a:rPr>
              <a:t>High data independence and flexibility.</a:t>
            </a:r>
            <a:endParaRPr/>
          </a:p>
          <a:p>
            <a:pPr indent="-202406" lvl="1" marL="404813" marR="0" rtl="0" algn="just">
              <a:lnSpc>
                <a:spcPct val="120000"/>
              </a:lnSpc>
              <a:spcBef>
                <a:spcPts val="0"/>
              </a:spcBef>
              <a:spcAft>
                <a:spcPts val="0"/>
              </a:spcAft>
              <a:buClr>
                <a:srgbClr val="000000"/>
              </a:buClr>
              <a:buSzPts val="1875"/>
              <a:buFont typeface="Arial"/>
              <a:buChar char="•"/>
            </a:pPr>
            <a:r>
              <a:rPr b="0" i="0" lang="en-US" sz="1875" u="none" cap="none" strike="noStrike">
                <a:solidFill>
                  <a:srgbClr val="000000"/>
                </a:solidFill>
                <a:latin typeface="Arial"/>
                <a:ea typeface="Arial"/>
                <a:cs typeface="Arial"/>
                <a:sym typeface="Arial"/>
              </a:rPr>
              <a:t>offers robust and user-friendly querying features.</a:t>
            </a:r>
            <a:endParaRPr/>
          </a:p>
          <a:p>
            <a:pPr indent="-202404" lvl="1" marL="404812" marR="0" rtl="0" algn="just">
              <a:lnSpc>
                <a:spcPct val="120000"/>
              </a:lnSpc>
              <a:spcBef>
                <a:spcPts val="0"/>
              </a:spcBef>
              <a:spcAft>
                <a:spcPts val="0"/>
              </a:spcAft>
              <a:buClr>
                <a:srgbClr val="000000"/>
              </a:buClr>
              <a:buSzPts val="1875"/>
              <a:buFont typeface="Arial"/>
              <a:buChar char="•"/>
            </a:pPr>
            <a:r>
              <a:rPr b="0" i="0" lang="en-US" sz="1875" u="none" cap="none" strike="noStrike">
                <a:solidFill>
                  <a:srgbClr val="000000"/>
                </a:solidFill>
                <a:latin typeface="Arial"/>
                <a:ea typeface="Arial"/>
                <a:cs typeface="Arial"/>
                <a:sym typeface="Arial"/>
              </a:rPr>
              <a:t>removes duplication by use of normalization.</a:t>
            </a:r>
            <a:endParaRPr b="0" i="0" sz="1875" u="none" cap="none" strike="noStrike">
              <a:solidFill>
                <a:srgbClr val="000000"/>
              </a:solidFill>
              <a:latin typeface="Arial"/>
              <a:ea typeface="Arial"/>
              <a:cs typeface="Arial"/>
              <a:sym typeface="Arial"/>
            </a:endParaRPr>
          </a:p>
          <a:p>
            <a:pPr indent="0" lvl="0" marL="914400" marR="0" rtl="0" algn="just">
              <a:lnSpc>
                <a:spcPct val="120000"/>
              </a:lnSpc>
              <a:spcBef>
                <a:spcPts val="0"/>
              </a:spcBef>
              <a:spcAft>
                <a:spcPts val="0"/>
              </a:spcAft>
              <a:buNone/>
            </a:pPr>
            <a:r>
              <a:t/>
            </a:r>
            <a:endParaRPr sz="1875"/>
          </a:p>
          <a:p>
            <a:pPr indent="0" lvl="0" marL="0" marR="0" rtl="0" algn="just">
              <a:lnSpc>
                <a:spcPct val="120046"/>
              </a:lnSpc>
              <a:spcBef>
                <a:spcPts val="0"/>
              </a:spcBef>
              <a:spcAft>
                <a:spcPts val="0"/>
              </a:spcAft>
              <a:buNone/>
            </a:pPr>
            <a:r>
              <a:rPr b="1" lang="en-US" sz="2155">
                <a:solidFill>
                  <a:srgbClr val="000000"/>
                </a:solidFill>
                <a:latin typeface="Arial"/>
                <a:ea typeface="Arial"/>
                <a:cs typeface="Arial"/>
                <a:sym typeface="Arial"/>
              </a:rPr>
              <a:t>Disadvantages of the Relational Data Model</a:t>
            </a:r>
            <a:endParaRPr/>
          </a:p>
          <a:p>
            <a:pPr indent="-202406" lvl="1" marL="404813" marR="0" rtl="0" algn="just">
              <a:lnSpc>
                <a:spcPct val="120000"/>
              </a:lnSpc>
              <a:spcBef>
                <a:spcPts val="0"/>
              </a:spcBef>
              <a:spcAft>
                <a:spcPts val="0"/>
              </a:spcAft>
              <a:buClr>
                <a:srgbClr val="000000"/>
              </a:buClr>
              <a:buSzPts val="1875"/>
              <a:buFont typeface="Arial"/>
              <a:buChar char="•"/>
            </a:pPr>
            <a:r>
              <a:rPr b="0" i="0" lang="en-US" sz="1875" u="none" cap="none" strike="noStrike">
                <a:solidFill>
                  <a:srgbClr val="000000"/>
                </a:solidFill>
                <a:latin typeface="Arial"/>
                <a:ea typeface="Arial"/>
                <a:cs typeface="Arial"/>
                <a:sym typeface="Arial"/>
              </a:rPr>
              <a:t>For certain kinds of straightforward data retrieval tasks, they may not perform as well as hierarchical models.</a:t>
            </a:r>
            <a:endParaRPr/>
          </a:p>
          <a:p>
            <a:pPr indent="-202406" lvl="1" marL="404813" marR="0" rtl="0" algn="just">
              <a:lnSpc>
                <a:spcPct val="120000"/>
              </a:lnSpc>
              <a:spcBef>
                <a:spcPts val="0"/>
              </a:spcBef>
              <a:spcAft>
                <a:spcPts val="0"/>
              </a:spcAft>
              <a:buClr>
                <a:srgbClr val="000000"/>
              </a:buClr>
              <a:buSzPts val="1875"/>
              <a:buFont typeface="Arial"/>
              <a:buChar char="•"/>
            </a:pPr>
            <a:r>
              <a:rPr b="0" i="0" lang="en-US" sz="1875" u="none" cap="none" strike="noStrike">
                <a:solidFill>
                  <a:srgbClr val="000000"/>
                </a:solidFill>
                <a:latin typeface="Arial"/>
                <a:ea typeface="Arial"/>
                <a:cs typeface="Arial"/>
                <a:sym typeface="Arial"/>
              </a:rPr>
              <a:t>demands a deeper comprehension of SQL and normalization principles.</a:t>
            </a:r>
            <a:endParaRPr/>
          </a:p>
        </p:txBody>
      </p:sp>
      <p:sp>
        <p:nvSpPr>
          <p:cNvPr id="336" name="Google Shape;336;p16"/>
          <p:cNvSpPr/>
          <p:nvPr/>
        </p:nvSpPr>
        <p:spPr>
          <a:xfrm>
            <a:off x="7704744" y="2570434"/>
            <a:ext cx="2963256" cy="1717133"/>
          </a:xfrm>
          <a:custGeom>
            <a:rect b="b" l="l" r="r" t="t"/>
            <a:pathLst>
              <a:path extrusionOk="0" h="1831609" w="3160806">
                <a:moveTo>
                  <a:pt x="0" y="0"/>
                </a:moveTo>
                <a:lnTo>
                  <a:pt x="3160806" y="0"/>
                </a:lnTo>
                <a:lnTo>
                  <a:pt x="3160806" y="1831608"/>
                </a:lnTo>
                <a:lnTo>
                  <a:pt x="0" y="1831608"/>
                </a:lnTo>
                <a:lnTo>
                  <a:pt x="0" y="0"/>
                </a:lnTo>
                <a:close/>
              </a:path>
            </a:pathLst>
          </a:custGeom>
          <a:blipFill rotWithShape="1">
            <a:blip r:embed="rId3">
              <a:alphaModFix/>
            </a:blip>
            <a:stretch>
              <a:fillRect b="-7147" l="-8282" r="-6383" t="-4465"/>
            </a:stretch>
          </a:blipFill>
          <a:ln cap="sq" cmpd="sng" w="38100">
            <a:solidFill>
              <a:srgbClr val="000000"/>
            </a:solidFill>
            <a:prstDash val="solid"/>
            <a:miter lim="8000"/>
            <a:headEnd len="sm" w="sm" type="none"/>
            <a:tailEnd len="sm" w="sm" type="none"/>
          </a:ln>
        </p:spPr>
      </p:sp>
      <p:sp>
        <p:nvSpPr>
          <p:cNvPr id="337" name="Google Shape;337;p16"/>
          <p:cNvSpPr txBox="1"/>
          <p:nvPr/>
        </p:nvSpPr>
        <p:spPr>
          <a:xfrm>
            <a:off x="4117643" y="659012"/>
            <a:ext cx="5709244" cy="500137"/>
          </a:xfrm>
          <a:prstGeom prst="rect">
            <a:avLst/>
          </a:prstGeom>
          <a:noFill/>
          <a:ln>
            <a:noFill/>
          </a:ln>
        </p:spPr>
        <p:txBody>
          <a:bodyPr anchorCtr="0" anchor="t" bIns="0" lIns="0" spcFirstLastPara="1" rIns="0" wrap="square" tIns="0">
            <a:spAutoFit/>
          </a:bodyPr>
          <a:lstStyle/>
          <a:p>
            <a:pPr indent="0" lvl="0" marL="0" marR="0" rtl="0" algn="l">
              <a:lnSpc>
                <a:spcPct val="120024"/>
              </a:lnSpc>
              <a:spcBef>
                <a:spcPts val="0"/>
              </a:spcBef>
              <a:spcAft>
                <a:spcPts val="0"/>
              </a:spcAft>
              <a:buNone/>
            </a:pPr>
            <a:r>
              <a:rPr b="1" lang="en-US" sz="3281">
                <a:solidFill>
                  <a:srgbClr val="C00000"/>
                </a:solidFill>
                <a:latin typeface="Arimo"/>
                <a:ea typeface="Arimo"/>
                <a:cs typeface="Arimo"/>
                <a:sym typeface="Arimo"/>
              </a:rPr>
              <a:t>Relational Model</a:t>
            </a:r>
            <a:endParaRPr/>
          </a:p>
        </p:txBody>
      </p:sp>
      <p:sp>
        <p:nvSpPr>
          <p:cNvPr id="338" name="Google Shape;338;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339" name="Google Shape;339;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grpSp>
        <p:nvGrpSpPr>
          <p:cNvPr id="348" name="Google Shape;348;p17"/>
          <p:cNvGrpSpPr/>
          <p:nvPr/>
        </p:nvGrpSpPr>
        <p:grpSpPr>
          <a:xfrm>
            <a:off x="1524000" y="6356604"/>
            <a:ext cx="9144000" cy="88404"/>
            <a:chOff x="0" y="0"/>
            <a:chExt cx="13004800" cy="125730"/>
          </a:xfrm>
        </p:grpSpPr>
        <p:sp>
          <p:nvSpPr>
            <p:cNvPr id="349" name="Google Shape;349;p17"/>
            <p:cNvSpPr/>
            <p:nvPr/>
          </p:nvSpPr>
          <p:spPr>
            <a:xfrm>
              <a:off x="0" y="100584"/>
              <a:ext cx="13004800" cy="25146"/>
            </a:xfrm>
            <a:custGeom>
              <a:rect b="b" l="l" r="r" t="t"/>
              <a:pathLst>
                <a:path extrusionOk="0" h="25146" w="13004800">
                  <a:moveTo>
                    <a:pt x="13004800" y="0"/>
                  </a:moveTo>
                  <a:lnTo>
                    <a:pt x="0" y="0"/>
                  </a:lnTo>
                  <a:lnTo>
                    <a:pt x="0" y="25146"/>
                  </a:lnTo>
                  <a:lnTo>
                    <a:pt x="13004800" y="25146"/>
                  </a:lnTo>
                  <a:lnTo>
                    <a:pt x="13004800" y="0"/>
                  </a:lnTo>
                  <a:close/>
                </a:path>
              </a:pathLst>
            </a:custGeom>
            <a:solidFill>
              <a:srgbClr val="C00000"/>
            </a:solidFill>
            <a:ln>
              <a:noFill/>
            </a:ln>
          </p:spPr>
        </p:sp>
        <p:sp>
          <p:nvSpPr>
            <p:cNvPr id="350" name="Google Shape;350;p17"/>
            <p:cNvSpPr/>
            <p:nvPr/>
          </p:nvSpPr>
          <p:spPr>
            <a:xfrm>
              <a:off x="0" y="0"/>
              <a:ext cx="13004800" cy="75438"/>
            </a:xfrm>
            <a:custGeom>
              <a:rect b="b" l="l" r="r" t="t"/>
              <a:pathLst>
                <a:path extrusionOk="0" h="75438" w="13004800">
                  <a:moveTo>
                    <a:pt x="13004800" y="0"/>
                  </a:moveTo>
                  <a:lnTo>
                    <a:pt x="0" y="0"/>
                  </a:lnTo>
                  <a:lnTo>
                    <a:pt x="0" y="75438"/>
                  </a:lnTo>
                  <a:lnTo>
                    <a:pt x="13004800" y="75438"/>
                  </a:lnTo>
                  <a:lnTo>
                    <a:pt x="13004800" y="0"/>
                  </a:lnTo>
                  <a:close/>
                </a:path>
              </a:pathLst>
            </a:custGeom>
            <a:solidFill>
              <a:srgbClr val="C00000"/>
            </a:solidFill>
            <a:ln>
              <a:noFill/>
            </a:ln>
          </p:spPr>
        </p:sp>
      </p:grpSp>
      <p:sp>
        <p:nvSpPr>
          <p:cNvPr id="351" name="Google Shape;351;p17"/>
          <p:cNvSpPr/>
          <p:nvPr/>
        </p:nvSpPr>
        <p:spPr>
          <a:xfrm>
            <a:off x="3204878" y="1995026"/>
            <a:ext cx="6061686" cy="3588131"/>
          </a:xfrm>
          <a:custGeom>
            <a:rect b="b" l="l" r="r" t="t"/>
            <a:pathLst>
              <a:path extrusionOk="0" h="3827340" w="6465798">
                <a:moveTo>
                  <a:pt x="0" y="0"/>
                </a:moveTo>
                <a:lnTo>
                  <a:pt x="6465798" y="0"/>
                </a:lnTo>
                <a:lnTo>
                  <a:pt x="6465798" y="3827340"/>
                </a:lnTo>
                <a:lnTo>
                  <a:pt x="0" y="3827340"/>
                </a:lnTo>
                <a:lnTo>
                  <a:pt x="0" y="0"/>
                </a:lnTo>
                <a:close/>
              </a:path>
            </a:pathLst>
          </a:custGeom>
          <a:blipFill rotWithShape="1">
            <a:blip r:embed="rId3">
              <a:alphaModFix/>
            </a:blip>
            <a:stretch>
              <a:fillRect b="-8594" l="-5086" r="-4132" t="-21486"/>
            </a:stretch>
          </a:blipFill>
          <a:ln>
            <a:noFill/>
          </a:ln>
        </p:spPr>
      </p:sp>
      <p:sp>
        <p:nvSpPr>
          <p:cNvPr id="352" name="Google Shape;352;p17"/>
          <p:cNvSpPr txBox="1"/>
          <p:nvPr/>
        </p:nvSpPr>
        <p:spPr>
          <a:xfrm>
            <a:off x="4117643" y="659012"/>
            <a:ext cx="5709244" cy="500137"/>
          </a:xfrm>
          <a:prstGeom prst="rect">
            <a:avLst/>
          </a:prstGeom>
          <a:noFill/>
          <a:ln>
            <a:noFill/>
          </a:ln>
        </p:spPr>
        <p:txBody>
          <a:bodyPr anchorCtr="0" anchor="t" bIns="0" lIns="0" spcFirstLastPara="1" rIns="0" wrap="square" tIns="0">
            <a:spAutoFit/>
          </a:bodyPr>
          <a:lstStyle/>
          <a:p>
            <a:pPr indent="0" lvl="0" marL="0" marR="0" rtl="0" algn="l">
              <a:lnSpc>
                <a:spcPct val="120024"/>
              </a:lnSpc>
              <a:spcBef>
                <a:spcPts val="0"/>
              </a:spcBef>
              <a:spcAft>
                <a:spcPts val="0"/>
              </a:spcAft>
              <a:buNone/>
            </a:pPr>
            <a:r>
              <a:rPr b="1" lang="en-US" sz="3281">
                <a:solidFill>
                  <a:srgbClr val="C00000"/>
                </a:solidFill>
                <a:latin typeface="Arimo"/>
                <a:ea typeface="Arimo"/>
                <a:cs typeface="Arimo"/>
                <a:sym typeface="Arimo"/>
              </a:rPr>
              <a:t>Relational Model</a:t>
            </a:r>
            <a:endParaRPr/>
          </a:p>
        </p:txBody>
      </p:sp>
      <p:sp>
        <p:nvSpPr>
          <p:cNvPr id="353" name="Google Shape;353;p17"/>
          <p:cNvSpPr txBox="1"/>
          <p:nvPr/>
        </p:nvSpPr>
        <p:spPr>
          <a:xfrm>
            <a:off x="5159482" y="5574228"/>
            <a:ext cx="1873036" cy="275973"/>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i="1" lang="en-US" sz="1875">
                <a:solidFill>
                  <a:srgbClr val="262626"/>
                </a:solidFill>
                <a:latin typeface="Arimo"/>
                <a:ea typeface="Arimo"/>
                <a:cs typeface="Arimo"/>
                <a:sym typeface="Arimo"/>
              </a:rPr>
              <a:t>Relational Model</a:t>
            </a:r>
            <a:endParaRPr/>
          </a:p>
        </p:txBody>
      </p:sp>
      <p:sp>
        <p:nvSpPr>
          <p:cNvPr id="354" name="Google Shape;354;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355" name="Google Shape;355;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grpSp>
        <p:nvGrpSpPr>
          <p:cNvPr id="364" name="Google Shape;364;p18"/>
          <p:cNvGrpSpPr/>
          <p:nvPr/>
        </p:nvGrpSpPr>
        <p:grpSpPr>
          <a:xfrm>
            <a:off x="1524000" y="6356604"/>
            <a:ext cx="9144000" cy="88404"/>
            <a:chOff x="0" y="0"/>
            <a:chExt cx="13004800" cy="125730"/>
          </a:xfrm>
        </p:grpSpPr>
        <p:sp>
          <p:nvSpPr>
            <p:cNvPr id="365" name="Google Shape;365;p18"/>
            <p:cNvSpPr/>
            <p:nvPr/>
          </p:nvSpPr>
          <p:spPr>
            <a:xfrm>
              <a:off x="0" y="100584"/>
              <a:ext cx="13004800" cy="25146"/>
            </a:xfrm>
            <a:custGeom>
              <a:rect b="b" l="l" r="r" t="t"/>
              <a:pathLst>
                <a:path extrusionOk="0" h="25146" w="13004800">
                  <a:moveTo>
                    <a:pt x="13004800" y="0"/>
                  </a:moveTo>
                  <a:lnTo>
                    <a:pt x="0" y="0"/>
                  </a:lnTo>
                  <a:lnTo>
                    <a:pt x="0" y="25146"/>
                  </a:lnTo>
                  <a:lnTo>
                    <a:pt x="13004800" y="25146"/>
                  </a:lnTo>
                  <a:lnTo>
                    <a:pt x="13004800" y="0"/>
                  </a:lnTo>
                  <a:close/>
                </a:path>
              </a:pathLst>
            </a:custGeom>
            <a:solidFill>
              <a:srgbClr val="C00000"/>
            </a:solidFill>
            <a:ln>
              <a:noFill/>
            </a:ln>
          </p:spPr>
        </p:sp>
        <p:sp>
          <p:nvSpPr>
            <p:cNvPr id="366" name="Google Shape;366;p18"/>
            <p:cNvSpPr/>
            <p:nvPr/>
          </p:nvSpPr>
          <p:spPr>
            <a:xfrm>
              <a:off x="0" y="0"/>
              <a:ext cx="13004800" cy="75438"/>
            </a:xfrm>
            <a:custGeom>
              <a:rect b="b" l="l" r="r" t="t"/>
              <a:pathLst>
                <a:path extrusionOk="0" h="75438" w="13004800">
                  <a:moveTo>
                    <a:pt x="13004800" y="0"/>
                  </a:moveTo>
                  <a:lnTo>
                    <a:pt x="0" y="0"/>
                  </a:lnTo>
                  <a:lnTo>
                    <a:pt x="0" y="75438"/>
                  </a:lnTo>
                  <a:lnTo>
                    <a:pt x="13004800" y="75438"/>
                  </a:lnTo>
                  <a:lnTo>
                    <a:pt x="13004800" y="0"/>
                  </a:lnTo>
                  <a:close/>
                </a:path>
              </a:pathLst>
            </a:custGeom>
            <a:solidFill>
              <a:srgbClr val="C00000"/>
            </a:solidFill>
            <a:ln>
              <a:noFill/>
            </a:ln>
          </p:spPr>
        </p:sp>
      </p:grpSp>
      <p:sp>
        <p:nvSpPr>
          <p:cNvPr id="367" name="Google Shape;367;p18"/>
          <p:cNvSpPr/>
          <p:nvPr/>
        </p:nvSpPr>
        <p:spPr>
          <a:xfrm>
            <a:off x="5645128" y="3197726"/>
            <a:ext cx="5022873" cy="2830289"/>
          </a:xfrm>
          <a:custGeom>
            <a:rect b="b" l="l" r="r" t="t"/>
            <a:pathLst>
              <a:path extrusionOk="0" h="3018975" w="5357731">
                <a:moveTo>
                  <a:pt x="0" y="0"/>
                </a:moveTo>
                <a:lnTo>
                  <a:pt x="5357731" y="0"/>
                </a:lnTo>
                <a:lnTo>
                  <a:pt x="5357731" y="3018975"/>
                </a:lnTo>
                <a:lnTo>
                  <a:pt x="0" y="3018975"/>
                </a:lnTo>
                <a:lnTo>
                  <a:pt x="0" y="0"/>
                </a:lnTo>
                <a:close/>
              </a:path>
            </a:pathLst>
          </a:custGeom>
          <a:blipFill rotWithShape="1">
            <a:blip r:embed="rId3">
              <a:alphaModFix/>
            </a:blip>
            <a:stretch>
              <a:fillRect b="-5093" l="-5102" r="-6378" t="-3615"/>
            </a:stretch>
          </a:blipFill>
          <a:ln>
            <a:noFill/>
          </a:ln>
        </p:spPr>
      </p:sp>
      <p:sp>
        <p:nvSpPr>
          <p:cNvPr id="368" name="Google Shape;368;p18"/>
          <p:cNvSpPr txBox="1"/>
          <p:nvPr/>
        </p:nvSpPr>
        <p:spPr>
          <a:xfrm>
            <a:off x="3277053" y="535861"/>
            <a:ext cx="6824219" cy="1000274"/>
          </a:xfrm>
          <a:prstGeom prst="rect">
            <a:avLst/>
          </a:prstGeom>
          <a:noFill/>
          <a:ln>
            <a:noFill/>
          </a:ln>
        </p:spPr>
        <p:txBody>
          <a:bodyPr anchorCtr="0" anchor="t" bIns="0" lIns="0" spcFirstLastPara="1" rIns="0" wrap="square" tIns="0">
            <a:spAutoFit/>
          </a:bodyPr>
          <a:lstStyle/>
          <a:p>
            <a:pPr indent="0" lvl="0" marL="0" marR="0" rtl="0" algn="l">
              <a:lnSpc>
                <a:spcPct val="120024"/>
              </a:lnSpc>
              <a:spcBef>
                <a:spcPts val="0"/>
              </a:spcBef>
              <a:spcAft>
                <a:spcPts val="0"/>
              </a:spcAft>
              <a:buNone/>
            </a:pPr>
            <a:r>
              <a:rPr b="1" lang="en-US" sz="3281">
                <a:solidFill>
                  <a:srgbClr val="C00000"/>
                </a:solidFill>
                <a:latin typeface="Arimo"/>
                <a:ea typeface="Arimo"/>
                <a:cs typeface="Arimo"/>
                <a:sym typeface="Arimo"/>
              </a:rPr>
              <a:t>Entity Relationship Data Model</a:t>
            </a:r>
            <a:endParaRPr/>
          </a:p>
          <a:p>
            <a:pPr indent="0" lvl="0" marL="0" marR="0" rtl="0" algn="l">
              <a:lnSpc>
                <a:spcPct val="120024"/>
              </a:lnSpc>
              <a:spcBef>
                <a:spcPts val="0"/>
              </a:spcBef>
              <a:spcAft>
                <a:spcPts val="0"/>
              </a:spcAft>
              <a:buNone/>
            </a:pPr>
            <a:r>
              <a:t/>
            </a:r>
            <a:endParaRPr b="1" sz="3281">
              <a:solidFill>
                <a:srgbClr val="C00000"/>
              </a:solidFill>
              <a:latin typeface="Arimo"/>
              <a:ea typeface="Arimo"/>
              <a:cs typeface="Arimo"/>
              <a:sym typeface="Arimo"/>
            </a:endParaRPr>
          </a:p>
        </p:txBody>
      </p:sp>
      <p:sp>
        <p:nvSpPr>
          <p:cNvPr id="369" name="Google Shape;369;p18"/>
          <p:cNvSpPr txBox="1"/>
          <p:nvPr/>
        </p:nvSpPr>
        <p:spPr>
          <a:xfrm>
            <a:off x="1687911" y="1461037"/>
            <a:ext cx="4408089" cy="313034"/>
          </a:xfrm>
          <a:prstGeom prst="rect">
            <a:avLst/>
          </a:prstGeom>
          <a:noFill/>
          <a:ln>
            <a:noFill/>
          </a:ln>
        </p:spPr>
        <p:txBody>
          <a:bodyPr anchorCtr="0" anchor="t" bIns="0" lIns="0" spcFirstLastPara="1" rIns="0" wrap="square" tIns="0">
            <a:spAutoFit/>
          </a:bodyPr>
          <a:lstStyle/>
          <a:p>
            <a:pPr indent="0" lvl="0" marL="0" marR="0" rtl="0" algn="ctr">
              <a:lnSpc>
                <a:spcPct val="120037"/>
              </a:lnSpc>
              <a:spcBef>
                <a:spcPts val="0"/>
              </a:spcBef>
              <a:spcAft>
                <a:spcPts val="0"/>
              </a:spcAft>
              <a:buNone/>
            </a:pPr>
            <a:r>
              <a:rPr b="1" lang="en-US" sz="2156">
                <a:solidFill>
                  <a:srgbClr val="000000"/>
                </a:solidFill>
                <a:latin typeface="Arial"/>
                <a:ea typeface="Arial"/>
                <a:cs typeface="Arial"/>
                <a:sym typeface="Arial"/>
              </a:rPr>
              <a:t>Entity Relationship Data Model</a:t>
            </a:r>
            <a:endParaRPr/>
          </a:p>
        </p:txBody>
      </p:sp>
      <p:sp>
        <p:nvSpPr>
          <p:cNvPr id="370" name="Google Shape;370;p18"/>
          <p:cNvSpPr txBox="1"/>
          <p:nvPr/>
        </p:nvSpPr>
        <p:spPr>
          <a:xfrm>
            <a:off x="1875853" y="1871230"/>
            <a:ext cx="8225419" cy="1160831"/>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None/>
            </a:pPr>
            <a:r>
              <a:rPr lang="en-US" sz="1875">
                <a:solidFill>
                  <a:srgbClr val="000000"/>
                </a:solidFill>
                <a:latin typeface="Arial"/>
                <a:ea typeface="Arial"/>
                <a:cs typeface="Arial"/>
                <a:sym typeface="Arial"/>
              </a:rPr>
              <a:t>ER model is used to represent real life scenarios as entities. The properties of these entities are their attributes in the ER diagram and their connections are shown in the form of relationships. An ER model is generally considered as a top-down approach in data designing.</a:t>
            </a:r>
            <a:endParaRPr/>
          </a:p>
        </p:txBody>
      </p:sp>
      <p:sp>
        <p:nvSpPr>
          <p:cNvPr id="371" name="Google Shape;371;p18"/>
          <p:cNvSpPr txBox="1"/>
          <p:nvPr/>
        </p:nvSpPr>
        <p:spPr>
          <a:xfrm>
            <a:off x="1875853" y="3228543"/>
            <a:ext cx="3374049" cy="2635593"/>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None/>
            </a:pPr>
            <a:r>
              <a:rPr b="1" lang="en-US" sz="1875">
                <a:solidFill>
                  <a:srgbClr val="000000"/>
                </a:solidFill>
                <a:latin typeface="Arial"/>
                <a:ea typeface="Arial"/>
                <a:cs typeface="Arial"/>
                <a:sym typeface="Arial"/>
              </a:rPr>
              <a:t>Use of ER Diagrams</a:t>
            </a:r>
            <a:endParaRPr/>
          </a:p>
          <a:p>
            <a:pPr indent="-202406" lvl="1" marL="404813" marR="0" rtl="0" algn="just">
              <a:lnSpc>
                <a:spcPct val="120000"/>
              </a:lnSpc>
              <a:spcBef>
                <a:spcPts val="0"/>
              </a:spcBef>
              <a:spcAft>
                <a:spcPts val="0"/>
              </a:spcAft>
              <a:buClr>
                <a:srgbClr val="000000"/>
              </a:buClr>
              <a:buSzPts val="1875"/>
              <a:buFont typeface="Arial"/>
              <a:buChar char="•"/>
            </a:pPr>
            <a:r>
              <a:rPr b="0" i="0" lang="en-US" sz="1875" u="none" cap="none" strike="noStrike">
                <a:solidFill>
                  <a:srgbClr val="000000"/>
                </a:solidFill>
                <a:latin typeface="Arial"/>
                <a:ea typeface="Arial"/>
                <a:cs typeface="Arial"/>
                <a:sym typeface="Arial"/>
              </a:rPr>
              <a:t>Design databases during the conceptual and logical modeling stages.</a:t>
            </a:r>
            <a:endParaRPr/>
          </a:p>
          <a:p>
            <a:pPr indent="-202406" lvl="1" marL="404813" marR="0" rtl="0" algn="just">
              <a:lnSpc>
                <a:spcPct val="120000"/>
              </a:lnSpc>
              <a:spcBef>
                <a:spcPts val="0"/>
              </a:spcBef>
              <a:spcAft>
                <a:spcPts val="0"/>
              </a:spcAft>
              <a:buClr>
                <a:srgbClr val="000000"/>
              </a:buClr>
              <a:buSzPts val="1875"/>
              <a:buFont typeface="Arial"/>
              <a:buChar char="•"/>
            </a:pPr>
            <a:r>
              <a:rPr b="0" i="0" lang="en-US" sz="1875" u="none" cap="none" strike="noStrike">
                <a:solidFill>
                  <a:srgbClr val="000000"/>
                </a:solidFill>
                <a:latin typeface="Arial"/>
                <a:ea typeface="Arial"/>
                <a:cs typeface="Arial"/>
                <a:sym typeface="Arial"/>
              </a:rPr>
              <a:t>Clarify system requirements with stakeholders.</a:t>
            </a:r>
            <a:endParaRPr/>
          </a:p>
          <a:p>
            <a:pPr indent="-202406" lvl="1" marL="404813" marR="0" rtl="0" algn="just">
              <a:lnSpc>
                <a:spcPct val="120000"/>
              </a:lnSpc>
              <a:spcBef>
                <a:spcPts val="0"/>
              </a:spcBef>
              <a:spcAft>
                <a:spcPts val="0"/>
              </a:spcAft>
              <a:buClr>
                <a:srgbClr val="000000"/>
              </a:buClr>
              <a:buSzPts val="1875"/>
              <a:buFont typeface="Arial"/>
              <a:buChar char="•"/>
            </a:pPr>
            <a:r>
              <a:rPr b="0" i="0" lang="en-US" sz="1875" u="none" cap="none" strike="noStrike">
                <a:solidFill>
                  <a:srgbClr val="000000"/>
                </a:solidFill>
                <a:latin typeface="Arial"/>
                <a:ea typeface="Arial"/>
                <a:cs typeface="Arial"/>
                <a:sym typeface="Arial"/>
              </a:rPr>
              <a:t>Serve as a blueprint for developers and database administrators.</a:t>
            </a:r>
            <a:endParaRPr/>
          </a:p>
        </p:txBody>
      </p:sp>
      <p:sp>
        <p:nvSpPr>
          <p:cNvPr id="372" name="Google Shape;372;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373" name="Google Shape;373;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grpSp>
        <p:nvGrpSpPr>
          <p:cNvPr id="382" name="Google Shape;382;p19"/>
          <p:cNvGrpSpPr/>
          <p:nvPr/>
        </p:nvGrpSpPr>
        <p:grpSpPr>
          <a:xfrm>
            <a:off x="1524000" y="6356604"/>
            <a:ext cx="9144000" cy="88404"/>
            <a:chOff x="0" y="0"/>
            <a:chExt cx="13004800" cy="125730"/>
          </a:xfrm>
        </p:grpSpPr>
        <p:sp>
          <p:nvSpPr>
            <p:cNvPr id="383" name="Google Shape;383;p19"/>
            <p:cNvSpPr/>
            <p:nvPr/>
          </p:nvSpPr>
          <p:spPr>
            <a:xfrm>
              <a:off x="0" y="100584"/>
              <a:ext cx="13004800" cy="25146"/>
            </a:xfrm>
            <a:custGeom>
              <a:rect b="b" l="l" r="r" t="t"/>
              <a:pathLst>
                <a:path extrusionOk="0" h="25146" w="13004800">
                  <a:moveTo>
                    <a:pt x="13004800" y="0"/>
                  </a:moveTo>
                  <a:lnTo>
                    <a:pt x="0" y="0"/>
                  </a:lnTo>
                  <a:lnTo>
                    <a:pt x="0" y="25146"/>
                  </a:lnTo>
                  <a:lnTo>
                    <a:pt x="13004800" y="25146"/>
                  </a:lnTo>
                  <a:lnTo>
                    <a:pt x="13004800" y="0"/>
                  </a:lnTo>
                  <a:close/>
                </a:path>
              </a:pathLst>
            </a:custGeom>
            <a:solidFill>
              <a:srgbClr val="C00000"/>
            </a:solidFill>
            <a:ln>
              <a:noFill/>
            </a:ln>
          </p:spPr>
        </p:sp>
        <p:sp>
          <p:nvSpPr>
            <p:cNvPr id="384" name="Google Shape;384;p19"/>
            <p:cNvSpPr/>
            <p:nvPr/>
          </p:nvSpPr>
          <p:spPr>
            <a:xfrm>
              <a:off x="0" y="0"/>
              <a:ext cx="13004800" cy="75438"/>
            </a:xfrm>
            <a:custGeom>
              <a:rect b="b" l="l" r="r" t="t"/>
              <a:pathLst>
                <a:path extrusionOk="0" h="75438" w="13004800">
                  <a:moveTo>
                    <a:pt x="13004800" y="0"/>
                  </a:moveTo>
                  <a:lnTo>
                    <a:pt x="0" y="0"/>
                  </a:lnTo>
                  <a:lnTo>
                    <a:pt x="0" y="75438"/>
                  </a:lnTo>
                  <a:lnTo>
                    <a:pt x="13004800" y="75438"/>
                  </a:lnTo>
                  <a:lnTo>
                    <a:pt x="13004800" y="0"/>
                  </a:lnTo>
                  <a:close/>
                </a:path>
              </a:pathLst>
            </a:custGeom>
            <a:solidFill>
              <a:srgbClr val="C00000"/>
            </a:solidFill>
            <a:ln>
              <a:noFill/>
            </a:ln>
          </p:spPr>
        </p:sp>
      </p:grpSp>
      <p:sp>
        <p:nvSpPr>
          <p:cNvPr id="385" name="Google Shape;385;p19"/>
          <p:cNvSpPr/>
          <p:nvPr/>
        </p:nvSpPr>
        <p:spPr>
          <a:xfrm>
            <a:off x="8206882" y="3021838"/>
            <a:ext cx="1886213" cy="3150362"/>
          </a:xfrm>
          <a:custGeom>
            <a:rect b="b" l="l" r="r" t="t"/>
            <a:pathLst>
              <a:path extrusionOk="0" h="3360386" w="2011960">
                <a:moveTo>
                  <a:pt x="0" y="0"/>
                </a:moveTo>
                <a:lnTo>
                  <a:pt x="2011959" y="0"/>
                </a:lnTo>
                <a:lnTo>
                  <a:pt x="2011959" y="3360386"/>
                </a:lnTo>
                <a:lnTo>
                  <a:pt x="0" y="3360386"/>
                </a:lnTo>
                <a:lnTo>
                  <a:pt x="0" y="0"/>
                </a:lnTo>
                <a:close/>
              </a:path>
            </a:pathLst>
          </a:custGeom>
          <a:blipFill rotWithShape="1">
            <a:blip r:embed="rId3">
              <a:alphaModFix/>
            </a:blip>
            <a:stretch>
              <a:fillRect b="-5200" l="0" r="0" t="0"/>
            </a:stretch>
          </a:blipFill>
          <a:ln>
            <a:noFill/>
          </a:ln>
        </p:spPr>
      </p:sp>
      <p:sp>
        <p:nvSpPr>
          <p:cNvPr id="386" name="Google Shape;386;p19"/>
          <p:cNvSpPr txBox="1"/>
          <p:nvPr/>
        </p:nvSpPr>
        <p:spPr>
          <a:xfrm>
            <a:off x="1642817" y="1616561"/>
            <a:ext cx="2597757" cy="313034"/>
          </a:xfrm>
          <a:prstGeom prst="rect">
            <a:avLst/>
          </a:prstGeom>
          <a:noFill/>
          <a:ln>
            <a:noFill/>
          </a:ln>
        </p:spPr>
        <p:txBody>
          <a:bodyPr anchorCtr="0" anchor="t" bIns="0" lIns="0" spcFirstLastPara="1" rIns="0" wrap="square" tIns="0">
            <a:spAutoFit/>
          </a:bodyPr>
          <a:lstStyle/>
          <a:p>
            <a:pPr indent="0" lvl="0" marL="0" marR="0" rtl="0" algn="ctr">
              <a:lnSpc>
                <a:spcPct val="120037"/>
              </a:lnSpc>
              <a:spcBef>
                <a:spcPts val="0"/>
              </a:spcBef>
              <a:spcAft>
                <a:spcPts val="0"/>
              </a:spcAft>
              <a:buNone/>
            </a:pPr>
            <a:r>
              <a:rPr b="1" lang="en-US" sz="2156">
                <a:solidFill>
                  <a:srgbClr val="000000"/>
                </a:solidFill>
                <a:latin typeface="Arial"/>
                <a:ea typeface="Arial"/>
                <a:cs typeface="Arial"/>
                <a:sym typeface="Arial"/>
              </a:rPr>
              <a:t>What is Entity?</a:t>
            </a:r>
            <a:endParaRPr/>
          </a:p>
        </p:txBody>
      </p:sp>
      <p:sp>
        <p:nvSpPr>
          <p:cNvPr id="387" name="Google Shape;387;p19"/>
          <p:cNvSpPr txBox="1"/>
          <p:nvPr/>
        </p:nvSpPr>
        <p:spPr>
          <a:xfrm>
            <a:off x="1914718" y="2056459"/>
            <a:ext cx="8753282" cy="1160831"/>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None/>
            </a:pPr>
            <a:r>
              <a:rPr lang="en-US" sz="1875">
                <a:solidFill>
                  <a:srgbClr val="000000"/>
                </a:solidFill>
                <a:latin typeface="Arial"/>
                <a:ea typeface="Arial"/>
                <a:cs typeface="Arial"/>
                <a:sym typeface="Arial"/>
              </a:rPr>
              <a:t>An entity is a fundamental concept in data modeling, representing a real-world object, person, place, event, or concept that can be distinctly identified within a system. Entities are the building blocks of databases and are used to organize and store information systematically.</a:t>
            </a:r>
            <a:endParaRPr/>
          </a:p>
        </p:txBody>
      </p:sp>
      <p:sp>
        <p:nvSpPr>
          <p:cNvPr id="388" name="Google Shape;388;p19"/>
          <p:cNvSpPr txBox="1"/>
          <p:nvPr/>
        </p:nvSpPr>
        <p:spPr>
          <a:xfrm>
            <a:off x="2410911" y="460171"/>
            <a:ext cx="7571289" cy="500137"/>
          </a:xfrm>
          <a:prstGeom prst="rect">
            <a:avLst/>
          </a:prstGeom>
          <a:noFill/>
          <a:ln>
            <a:noFill/>
          </a:ln>
        </p:spPr>
        <p:txBody>
          <a:bodyPr anchorCtr="0" anchor="t" bIns="0" lIns="0" spcFirstLastPara="1" rIns="0" wrap="square" tIns="0">
            <a:spAutoFit/>
          </a:bodyPr>
          <a:lstStyle/>
          <a:p>
            <a:pPr indent="0" lvl="0" marL="0" marR="0" rtl="0" algn="ctr">
              <a:lnSpc>
                <a:spcPct val="120024"/>
              </a:lnSpc>
              <a:spcBef>
                <a:spcPts val="0"/>
              </a:spcBef>
              <a:spcAft>
                <a:spcPts val="0"/>
              </a:spcAft>
              <a:buNone/>
            </a:pPr>
            <a:r>
              <a:rPr b="1" lang="en-US" sz="3281">
                <a:solidFill>
                  <a:srgbClr val="C00000"/>
                </a:solidFill>
                <a:latin typeface="Arial"/>
                <a:ea typeface="Arial"/>
                <a:cs typeface="Arial"/>
                <a:sym typeface="Arial"/>
              </a:rPr>
              <a:t>Entity Relationship Data Model</a:t>
            </a:r>
            <a:endParaRPr/>
          </a:p>
        </p:txBody>
      </p:sp>
      <p:sp>
        <p:nvSpPr>
          <p:cNvPr id="389" name="Google Shape;389;p19"/>
          <p:cNvSpPr txBox="1"/>
          <p:nvPr/>
        </p:nvSpPr>
        <p:spPr>
          <a:xfrm>
            <a:off x="1914718" y="3324474"/>
            <a:ext cx="3855786" cy="1750736"/>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None/>
            </a:pPr>
            <a:r>
              <a:rPr b="1" lang="en-US" sz="1875">
                <a:solidFill>
                  <a:srgbClr val="000000"/>
                </a:solidFill>
                <a:latin typeface="Arial"/>
                <a:ea typeface="Arial"/>
                <a:cs typeface="Arial"/>
                <a:sym typeface="Arial"/>
              </a:rPr>
              <a:t>Examples of entities:</a:t>
            </a:r>
            <a:endParaRPr/>
          </a:p>
          <a:p>
            <a:pPr indent="0" lvl="0" marL="0" marR="0" rtl="0" algn="just">
              <a:lnSpc>
                <a:spcPct val="120000"/>
              </a:lnSpc>
              <a:spcBef>
                <a:spcPts val="0"/>
              </a:spcBef>
              <a:spcAft>
                <a:spcPts val="0"/>
              </a:spcAft>
              <a:buNone/>
            </a:pPr>
            <a:r>
              <a:rPr lang="en-US" sz="1875">
                <a:solidFill>
                  <a:srgbClr val="000000"/>
                </a:solidFill>
                <a:latin typeface="Arial"/>
                <a:ea typeface="Arial"/>
                <a:cs typeface="Arial"/>
                <a:sym typeface="Arial"/>
              </a:rPr>
              <a:t>•Person: Employee, Student, Patient</a:t>
            </a:r>
            <a:endParaRPr/>
          </a:p>
          <a:p>
            <a:pPr indent="0" lvl="0" marL="0" marR="0" rtl="0" algn="just">
              <a:lnSpc>
                <a:spcPct val="120000"/>
              </a:lnSpc>
              <a:spcBef>
                <a:spcPts val="0"/>
              </a:spcBef>
              <a:spcAft>
                <a:spcPts val="0"/>
              </a:spcAft>
              <a:buNone/>
            </a:pPr>
            <a:r>
              <a:rPr lang="en-US" sz="1875">
                <a:solidFill>
                  <a:srgbClr val="000000"/>
                </a:solidFill>
                <a:latin typeface="Arial"/>
                <a:ea typeface="Arial"/>
                <a:cs typeface="Arial"/>
                <a:sym typeface="Arial"/>
              </a:rPr>
              <a:t>•Place: Store, Building</a:t>
            </a:r>
            <a:endParaRPr/>
          </a:p>
          <a:p>
            <a:pPr indent="0" lvl="0" marL="0" marR="0" rtl="0" algn="just">
              <a:lnSpc>
                <a:spcPct val="120000"/>
              </a:lnSpc>
              <a:spcBef>
                <a:spcPts val="0"/>
              </a:spcBef>
              <a:spcAft>
                <a:spcPts val="0"/>
              </a:spcAft>
              <a:buNone/>
            </a:pPr>
            <a:r>
              <a:rPr lang="en-US" sz="1875">
                <a:solidFill>
                  <a:srgbClr val="000000"/>
                </a:solidFill>
                <a:latin typeface="Arial"/>
                <a:ea typeface="Arial"/>
                <a:cs typeface="Arial"/>
                <a:sym typeface="Arial"/>
              </a:rPr>
              <a:t>•Object: Machine, product, and Car</a:t>
            </a:r>
            <a:endParaRPr/>
          </a:p>
          <a:p>
            <a:pPr indent="0" lvl="0" marL="0" marR="0" rtl="0" algn="just">
              <a:lnSpc>
                <a:spcPct val="120000"/>
              </a:lnSpc>
              <a:spcBef>
                <a:spcPts val="0"/>
              </a:spcBef>
              <a:spcAft>
                <a:spcPts val="0"/>
              </a:spcAft>
              <a:buNone/>
            </a:pPr>
            <a:r>
              <a:rPr lang="en-US" sz="1875">
                <a:solidFill>
                  <a:srgbClr val="000000"/>
                </a:solidFill>
                <a:latin typeface="Arial"/>
                <a:ea typeface="Arial"/>
                <a:cs typeface="Arial"/>
                <a:sym typeface="Arial"/>
              </a:rPr>
              <a:t>•Event: Sale, Registration, Renewal</a:t>
            </a:r>
            <a:endParaRPr/>
          </a:p>
          <a:p>
            <a:pPr indent="0" lvl="0" marL="0" marR="0" rtl="0" algn="just">
              <a:lnSpc>
                <a:spcPct val="120000"/>
              </a:lnSpc>
              <a:spcBef>
                <a:spcPts val="0"/>
              </a:spcBef>
              <a:spcAft>
                <a:spcPts val="0"/>
              </a:spcAft>
              <a:buNone/>
            </a:pPr>
            <a:r>
              <a:rPr lang="en-US" sz="1875">
                <a:solidFill>
                  <a:srgbClr val="000000"/>
                </a:solidFill>
                <a:latin typeface="Arial"/>
                <a:ea typeface="Arial"/>
                <a:cs typeface="Arial"/>
                <a:sym typeface="Arial"/>
              </a:rPr>
              <a:t>•Concept: Account, Course</a:t>
            </a:r>
            <a:endParaRPr/>
          </a:p>
        </p:txBody>
      </p:sp>
      <p:sp>
        <p:nvSpPr>
          <p:cNvPr id="390" name="Google Shape;390;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391" name="Google Shape;391;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grpSp>
        <p:nvGrpSpPr>
          <p:cNvPr id="400" name="Google Shape;400;p20"/>
          <p:cNvGrpSpPr/>
          <p:nvPr/>
        </p:nvGrpSpPr>
        <p:grpSpPr>
          <a:xfrm>
            <a:off x="1524000" y="6356604"/>
            <a:ext cx="9144000" cy="88404"/>
            <a:chOff x="0" y="0"/>
            <a:chExt cx="13004800" cy="125730"/>
          </a:xfrm>
        </p:grpSpPr>
        <p:sp>
          <p:nvSpPr>
            <p:cNvPr id="401" name="Google Shape;401;p20"/>
            <p:cNvSpPr/>
            <p:nvPr/>
          </p:nvSpPr>
          <p:spPr>
            <a:xfrm>
              <a:off x="0" y="100584"/>
              <a:ext cx="13004800" cy="25146"/>
            </a:xfrm>
            <a:custGeom>
              <a:rect b="b" l="l" r="r" t="t"/>
              <a:pathLst>
                <a:path extrusionOk="0" h="25146" w="13004800">
                  <a:moveTo>
                    <a:pt x="13004800" y="0"/>
                  </a:moveTo>
                  <a:lnTo>
                    <a:pt x="0" y="0"/>
                  </a:lnTo>
                  <a:lnTo>
                    <a:pt x="0" y="25146"/>
                  </a:lnTo>
                  <a:lnTo>
                    <a:pt x="13004800" y="25146"/>
                  </a:lnTo>
                  <a:lnTo>
                    <a:pt x="13004800" y="0"/>
                  </a:lnTo>
                  <a:close/>
                </a:path>
              </a:pathLst>
            </a:custGeom>
            <a:solidFill>
              <a:srgbClr val="C00000"/>
            </a:solidFill>
            <a:ln>
              <a:noFill/>
            </a:ln>
          </p:spPr>
        </p:sp>
        <p:sp>
          <p:nvSpPr>
            <p:cNvPr id="402" name="Google Shape;402;p20"/>
            <p:cNvSpPr/>
            <p:nvPr/>
          </p:nvSpPr>
          <p:spPr>
            <a:xfrm>
              <a:off x="0" y="0"/>
              <a:ext cx="13004800" cy="75438"/>
            </a:xfrm>
            <a:custGeom>
              <a:rect b="b" l="l" r="r" t="t"/>
              <a:pathLst>
                <a:path extrusionOk="0" h="75438" w="13004800">
                  <a:moveTo>
                    <a:pt x="13004800" y="0"/>
                  </a:moveTo>
                  <a:lnTo>
                    <a:pt x="0" y="0"/>
                  </a:lnTo>
                  <a:lnTo>
                    <a:pt x="0" y="75438"/>
                  </a:lnTo>
                  <a:lnTo>
                    <a:pt x="13004800" y="75438"/>
                  </a:lnTo>
                  <a:lnTo>
                    <a:pt x="13004800" y="0"/>
                  </a:lnTo>
                  <a:close/>
                </a:path>
              </a:pathLst>
            </a:custGeom>
            <a:solidFill>
              <a:srgbClr val="C00000"/>
            </a:solidFill>
            <a:ln>
              <a:noFill/>
            </a:ln>
          </p:spPr>
        </p:sp>
      </p:grpSp>
      <p:sp>
        <p:nvSpPr>
          <p:cNvPr id="403" name="Google Shape;403;p20"/>
          <p:cNvSpPr txBox="1"/>
          <p:nvPr/>
        </p:nvSpPr>
        <p:spPr>
          <a:xfrm>
            <a:off x="2042218" y="1605574"/>
            <a:ext cx="8156588" cy="2379113"/>
          </a:xfrm>
          <a:prstGeom prst="rect">
            <a:avLst/>
          </a:prstGeom>
          <a:noFill/>
          <a:ln>
            <a:noFill/>
          </a:ln>
        </p:spPr>
        <p:txBody>
          <a:bodyPr anchorCtr="0" anchor="t" bIns="0" lIns="0" spcFirstLastPara="1" rIns="0" wrap="square" tIns="0">
            <a:spAutoFit/>
          </a:bodyPr>
          <a:lstStyle/>
          <a:p>
            <a:pPr indent="0" lvl="0" marL="0" marR="0" rtl="0" algn="just">
              <a:lnSpc>
                <a:spcPct val="120046"/>
              </a:lnSpc>
              <a:spcBef>
                <a:spcPts val="0"/>
              </a:spcBef>
              <a:spcAft>
                <a:spcPts val="0"/>
              </a:spcAft>
              <a:buNone/>
            </a:pPr>
            <a:r>
              <a:rPr b="1" lang="en-US" sz="2155">
                <a:solidFill>
                  <a:srgbClr val="000000"/>
                </a:solidFill>
                <a:latin typeface="Arial"/>
                <a:ea typeface="Arial"/>
                <a:cs typeface="Arial"/>
                <a:sym typeface="Arial"/>
              </a:rPr>
              <a:t>Types of Entity:</a:t>
            </a:r>
            <a:endParaRPr/>
          </a:p>
          <a:p>
            <a:pPr indent="0" lvl="0" marL="0" marR="0" rtl="0" algn="just">
              <a:lnSpc>
                <a:spcPct val="120000"/>
              </a:lnSpc>
              <a:spcBef>
                <a:spcPts val="0"/>
              </a:spcBef>
              <a:spcAft>
                <a:spcPts val="0"/>
              </a:spcAft>
              <a:buNone/>
            </a:pPr>
            <a:r>
              <a:rPr b="1" lang="en-US" sz="1875">
                <a:solidFill>
                  <a:srgbClr val="000000"/>
                </a:solidFill>
                <a:latin typeface="Arial"/>
                <a:ea typeface="Arial"/>
                <a:cs typeface="Arial"/>
                <a:sym typeface="Arial"/>
              </a:rPr>
              <a:t>1. Strong Entity:</a:t>
            </a:r>
            <a:r>
              <a:rPr lang="en-US" sz="1875">
                <a:solidFill>
                  <a:srgbClr val="000000"/>
                </a:solidFill>
                <a:latin typeface="Arial"/>
                <a:ea typeface="Arial"/>
                <a:cs typeface="Arial"/>
                <a:sym typeface="Arial"/>
              </a:rPr>
              <a:t> A Strong Entity is an entity with a key Attribute. Strong Entity does not depend on other Entity in the Schema. It has a primary key, that helps in identifying it uniquely, and it is represented by a rectangle. These are called Strong Entity Types.</a:t>
            </a:r>
            <a:endParaRPr/>
          </a:p>
          <a:p>
            <a:pPr indent="0" lvl="0" marL="0" marR="0" rtl="0" algn="just">
              <a:lnSpc>
                <a:spcPct val="120000"/>
              </a:lnSpc>
              <a:spcBef>
                <a:spcPts val="0"/>
              </a:spcBef>
              <a:spcAft>
                <a:spcPts val="0"/>
              </a:spcAft>
              <a:buNone/>
            </a:pPr>
            <a:r>
              <a:rPr b="1" lang="en-US" sz="1875">
                <a:solidFill>
                  <a:srgbClr val="000000"/>
                </a:solidFill>
                <a:latin typeface="Arial"/>
                <a:ea typeface="Arial"/>
                <a:cs typeface="Arial"/>
                <a:sym typeface="Arial"/>
              </a:rPr>
              <a:t>2. Weak Entity: </a:t>
            </a:r>
            <a:r>
              <a:rPr lang="en-US" sz="1875">
                <a:solidFill>
                  <a:srgbClr val="000000"/>
                </a:solidFill>
                <a:latin typeface="Arial"/>
                <a:ea typeface="Arial"/>
                <a:cs typeface="Arial"/>
                <a:sym typeface="Arial"/>
              </a:rPr>
              <a:t>An Entity type has a key attribute that uniquely identifies each entity in the entity set. But some entity type exists for which key attributes can’t be defined. These are called Weak Entity types .</a:t>
            </a:r>
            <a:endParaRPr/>
          </a:p>
        </p:txBody>
      </p:sp>
      <p:sp>
        <p:nvSpPr>
          <p:cNvPr id="404" name="Google Shape;404;p20"/>
          <p:cNvSpPr/>
          <p:nvPr/>
        </p:nvSpPr>
        <p:spPr>
          <a:xfrm>
            <a:off x="3249843" y="4106045"/>
            <a:ext cx="5346190" cy="1213869"/>
          </a:xfrm>
          <a:custGeom>
            <a:rect b="b" l="l" r="r" t="t"/>
            <a:pathLst>
              <a:path extrusionOk="0" h="1294794" w="5702603">
                <a:moveTo>
                  <a:pt x="0" y="0"/>
                </a:moveTo>
                <a:lnTo>
                  <a:pt x="5702603" y="0"/>
                </a:lnTo>
                <a:lnTo>
                  <a:pt x="5702603" y="1294794"/>
                </a:lnTo>
                <a:lnTo>
                  <a:pt x="0" y="1294794"/>
                </a:lnTo>
                <a:lnTo>
                  <a:pt x="0" y="0"/>
                </a:lnTo>
                <a:close/>
              </a:path>
            </a:pathLst>
          </a:custGeom>
          <a:blipFill rotWithShape="1">
            <a:blip r:embed="rId3">
              <a:alphaModFix/>
            </a:blip>
            <a:stretch>
              <a:fillRect b="0" l="0" r="0" t="0"/>
            </a:stretch>
          </a:blipFill>
          <a:ln>
            <a:noFill/>
          </a:ln>
        </p:spPr>
      </p:sp>
      <p:sp>
        <p:nvSpPr>
          <p:cNvPr id="405" name="Google Shape;405;p20"/>
          <p:cNvSpPr txBox="1"/>
          <p:nvPr/>
        </p:nvSpPr>
        <p:spPr>
          <a:xfrm>
            <a:off x="2410911" y="460171"/>
            <a:ext cx="7571289" cy="500137"/>
          </a:xfrm>
          <a:prstGeom prst="rect">
            <a:avLst/>
          </a:prstGeom>
          <a:noFill/>
          <a:ln>
            <a:noFill/>
          </a:ln>
        </p:spPr>
        <p:txBody>
          <a:bodyPr anchorCtr="0" anchor="t" bIns="0" lIns="0" spcFirstLastPara="1" rIns="0" wrap="square" tIns="0">
            <a:spAutoFit/>
          </a:bodyPr>
          <a:lstStyle/>
          <a:p>
            <a:pPr indent="0" lvl="0" marL="0" marR="0" rtl="0" algn="ctr">
              <a:lnSpc>
                <a:spcPct val="120024"/>
              </a:lnSpc>
              <a:spcBef>
                <a:spcPts val="0"/>
              </a:spcBef>
              <a:spcAft>
                <a:spcPts val="0"/>
              </a:spcAft>
              <a:buNone/>
            </a:pPr>
            <a:r>
              <a:rPr b="1" lang="en-US" sz="3281">
                <a:solidFill>
                  <a:srgbClr val="C00000"/>
                </a:solidFill>
                <a:latin typeface="Arial"/>
                <a:ea typeface="Arial"/>
                <a:cs typeface="Arial"/>
                <a:sym typeface="Arial"/>
              </a:rPr>
              <a:t>Entity Relationship Data Model</a:t>
            </a:r>
            <a:endParaRPr/>
          </a:p>
        </p:txBody>
      </p:sp>
      <p:sp>
        <p:nvSpPr>
          <p:cNvPr id="406" name="Google Shape;406;p20"/>
          <p:cNvSpPr txBox="1"/>
          <p:nvPr/>
        </p:nvSpPr>
        <p:spPr>
          <a:xfrm>
            <a:off x="4404530" y="5433358"/>
            <a:ext cx="3036817" cy="546303"/>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i="1" lang="en-US" sz="1800">
                <a:solidFill>
                  <a:srgbClr val="000000"/>
                </a:solidFill>
                <a:latin typeface="Arial"/>
                <a:ea typeface="Arial"/>
                <a:cs typeface="Arial"/>
                <a:sym typeface="Arial"/>
              </a:rPr>
              <a:t>Strong Entity and Weak Entity</a:t>
            </a:r>
            <a:endParaRPr/>
          </a:p>
          <a:p>
            <a:pPr indent="0" lvl="0" marL="0" marR="0" rtl="0" algn="ctr">
              <a:lnSpc>
                <a:spcPct val="120000"/>
              </a:lnSpc>
              <a:spcBef>
                <a:spcPts val="0"/>
              </a:spcBef>
              <a:spcAft>
                <a:spcPts val="0"/>
              </a:spcAft>
              <a:buNone/>
            </a:pPr>
            <a:r>
              <a:t/>
            </a:r>
            <a:endParaRPr i="1" sz="1800">
              <a:solidFill>
                <a:srgbClr val="000000"/>
              </a:solidFill>
              <a:latin typeface="Arial"/>
              <a:ea typeface="Arial"/>
              <a:cs typeface="Arial"/>
              <a:sym typeface="Arial"/>
            </a:endParaRPr>
          </a:p>
        </p:txBody>
      </p:sp>
      <p:sp>
        <p:nvSpPr>
          <p:cNvPr id="407" name="Google Shape;407;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408" name="Google Shape;408;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grpSp>
        <p:nvGrpSpPr>
          <p:cNvPr id="417" name="Google Shape;417;p21"/>
          <p:cNvGrpSpPr/>
          <p:nvPr/>
        </p:nvGrpSpPr>
        <p:grpSpPr>
          <a:xfrm>
            <a:off x="1524000" y="6356604"/>
            <a:ext cx="9144000" cy="88404"/>
            <a:chOff x="0" y="0"/>
            <a:chExt cx="13004800" cy="125730"/>
          </a:xfrm>
        </p:grpSpPr>
        <p:sp>
          <p:nvSpPr>
            <p:cNvPr id="418" name="Google Shape;418;p21"/>
            <p:cNvSpPr/>
            <p:nvPr/>
          </p:nvSpPr>
          <p:spPr>
            <a:xfrm>
              <a:off x="0" y="100584"/>
              <a:ext cx="13004800" cy="25146"/>
            </a:xfrm>
            <a:custGeom>
              <a:rect b="b" l="l" r="r" t="t"/>
              <a:pathLst>
                <a:path extrusionOk="0" h="25146" w="13004800">
                  <a:moveTo>
                    <a:pt x="13004800" y="0"/>
                  </a:moveTo>
                  <a:lnTo>
                    <a:pt x="0" y="0"/>
                  </a:lnTo>
                  <a:lnTo>
                    <a:pt x="0" y="25146"/>
                  </a:lnTo>
                  <a:lnTo>
                    <a:pt x="13004800" y="25146"/>
                  </a:lnTo>
                  <a:lnTo>
                    <a:pt x="13004800" y="0"/>
                  </a:lnTo>
                  <a:close/>
                </a:path>
              </a:pathLst>
            </a:custGeom>
            <a:solidFill>
              <a:srgbClr val="C00000"/>
            </a:solidFill>
            <a:ln>
              <a:noFill/>
            </a:ln>
          </p:spPr>
        </p:sp>
        <p:sp>
          <p:nvSpPr>
            <p:cNvPr id="419" name="Google Shape;419;p21"/>
            <p:cNvSpPr/>
            <p:nvPr/>
          </p:nvSpPr>
          <p:spPr>
            <a:xfrm>
              <a:off x="0" y="0"/>
              <a:ext cx="13004800" cy="75438"/>
            </a:xfrm>
            <a:custGeom>
              <a:rect b="b" l="l" r="r" t="t"/>
              <a:pathLst>
                <a:path extrusionOk="0" h="75438" w="13004800">
                  <a:moveTo>
                    <a:pt x="13004800" y="0"/>
                  </a:moveTo>
                  <a:lnTo>
                    <a:pt x="0" y="0"/>
                  </a:lnTo>
                  <a:lnTo>
                    <a:pt x="0" y="75438"/>
                  </a:lnTo>
                  <a:lnTo>
                    <a:pt x="13004800" y="75438"/>
                  </a:lnTo>
                  <a:lnTo>
                    <a:pt x="13004800" y="0"/>
                  </a:lnTo>
                  <a:close/>
                </a:path>
              </a:pathLst>
            </a:custGeom>
            <a:solidFill>
              <a:srgbClr val="C00000"/>
            </a:solidFill>
            <a:ln>
              <a:noFill/>
            </a:ln>
          </p:spPr>
        </p:sp>
      </p:grpSp>
      <p:sp>
        <p:nvSpPr>
          <p:cNvPr id="420" name="Google Shape;420;p21"/>
          <p:cNvSpPr txBox="1"/>
          <p:nvPr/>
        </p:nvSpPr>
        <p:spPr>
          <a:xfrm>
            <a:off x="2026863" y="1500630"/>
            <a:ext cx="2597757" cy="333425"/>
          </a:xfrm>
          <a:prstGeom prst="rect">
            <a:avLst/>
          </a:prstGeom>
          <a:noFill/>
          <a:ln>
            <a:noFill/>
          </a:ln>
        </p:spPr>
        <p:txBody>
          <a:bodyPr anchorCtr="0" anchor="t" bIns="0" lIns="0" spcFirstLastPara="1" rIns="0" wrap="square" tIns="0">
            <a:spAutoFit/>
          </a:bodyPr>
          <a:lstStyle/>
          <a:p>
            <a:pPr indent="0" lvl="0" marL="0" marR="0" rtl="0" algn="ctr">
              <a:lnSpc>
                <a:spcPct val="120009"/>
              </a:lnSpc>
              <a:spcBef>
                <a:spcPts val="0"/>
              </a:spcBef>
              <a:spcAft>
                <a:spcPts val="0"/>
              </a:spcAft>
              <a:buNone/>
            </a:pPr>
            <a:r>
              <a:rPr b="1" lang="en-US" sz="2174">
                <a:solidFill>
                  <a:srgbClr val="000000"/>
                </a:solidFill>
                <a:latin typeface="Arial"/>
                <a:ea typeface="Arial"/>
                <a:cs typeface="Arial"/>
                <a:sym typeface="Arial"/>
              </a:rPr>
              <a:t>What is Attributes?</a:t>
            </a:r>
            <a:endParaRPr/>
          </a:p>
        </p:txBody>
      </p:sp>
      <p:sp>
        <p:nvSpPr>
          <p:cNvPr id="421" name="Google Shape;421;p21"/>
          <p:cNvSpPr txBox="1"/>
          <p:nvPr/>
        </p:nvSpPr>
        <p:spPr>
          <a:xfrm>
            <a:off x="2410911" y="460171"/>
            <a:ext cx="7571289" cy="500137"/>
          </a:xfrm>
          <a:prstGeom prst="rect">
            <a:avLst/>
          </a:prstGeom>
          <a:noFill/>
          <a:ln>
            <a:noFill/>
          </a:ln>
        </p:spPr>
        <p:txBody>
          <a:bodyPr anchorCtr="0" anchor="t" bIns="0" lIns="0" spcFirstLastPara="1" rIns="0" wrap="square" tIns="0">
            <a:spAutoFit/>
          </a:bodyPr>
          <a:lstStyle/>
          <a:p>
            <a:pPr indent="0" lvl="0" marL="0" marR="0" rtl="0" algn="ctr">
              <a:lnSpc>
                <a:spcPct val="120024"/>
              </a:lnSpc>
              <a:spcBef>
                <a:spcPts val="0"/>
              </a:spcBef>
              <a:spcAft>
                <a:spcPts val="0"/>
              </a:spcAft>
              <a:buNone/>
            </a:pPr>
            <a:r>
              <a:rPr b="1" lang="en-US" sz="3281">
                <a:solidFill>
                  <a:srgbClr val="C00000"/>
                </a:solidFill>
                <a:latin typeface="Arial"/>
                <a:ea typeface="Arial"/>
                <a:cs typeface="Arial"/>
                <a:sym typeface="Arial"/>
              </a:rPr>
              <a:t>Entity Relationship Data Model</a:t>
            </a:r>
            <a:endParaRPr/>
          </a:p>
        </p:txBody>
      </p:sp>
      <p:sp>
        <p:nvSpPr>
          <p:cNvPr id="422" name="Google Shape;422;p21"/>
          <p:cNvSpPr txBox="1"/>
          <p:nvPr/>
        </p:nvSpPr>
        <p:spPr>
          <a:xfrm>
            <a:off x="2026863" y="3262969"/>
            <a:ext cx="5366028" cy="2379113"/>
          </a:xfrm>
          <a:prstGeom prst="rect">
            <a:avLst/>
          </a:prstGeom>
          <a:noFill/>
          <a:ln>
            <a:noFill/>
          </a:ln>
        </p:spPr>
        <p:txBody>
          <a:bodyPr anchorCtr="0" anchor="t" bIns="0" lIns="0" spcFirstLastPara="1" rIns="0" wrap="square" tIns="0">
            <a:spAutoFit/>
          </a:bodyPr>
          <a:lstStyle/>
          <a:p>
            <a:pPr indent="0" lvl="0" marL="0" marR="0" rtl="0" algn="just">
              <a:lnSpc>
                <a:spcPct val="120046"/>
              </a:lnSpc>
              <a:spcBef>
                <a:spcPts val="0"/>
              </a:spcBef>
              <a:spcAft>
                <a:spcPts val="0"/>
              </a:spcAft>
              <a:buNone/>
            </a:pPr>
            <a:r>
              <a:rPr b="1" lang="en-US" sz="2155">
                <a:solidFill>
                  <a:srgbClr val="000000"/>
                </a:solidFill>
                <a:latin typeface="Arial"/>
                <a:ea typeface="Arial"/>
                <a:cs typeface="Arial"/>
                <a:sym typeface="Arial"/>
              </a:rPr>
              <a:t>Types of Attributes:</a:t>
            </a:r>
            <a:endParaRPr/>
          </a:p>
          <a:p>
            <a:pPr indent="0" lvl="0" marL="0" marR="0" rtl="0" algn="just">
              <a:lnSpc>
                <a:spcPct val="104408"/>
              </a:lnSpc>
              <a:spcBef>
                <a:spcPts val="0"/>
              </a:spcBef>
              <a:spcAft>
                <a:spcPts val="0"/>
              </a:spcAft>
              <a:buNone/>
            </a:pPr>
            <a:r>
              <a:t/>
            </a:r>
            <a:endParaRPr b="1" sz="2155">
              <a:solidFill>
                <a:srgbClr val="000000"/>
              </a:solidFill>
              <a:latin typeface="Arial"/>
              <a:ea typeface="Arial"/>
              <a:cs typeface="Arial"/>
              <a:sym typeface="Arial"/>
            </a:endParaRPr>
          </a:p>
          <a:p>
            <a:pPr indent="0" lvl="0" marL="0" marR="0" rtl="0" algn="just">
              <a:lnSpc>
                <a:spcPct val="120000"/>
              </a:lnSpc>
              <a:spcBef>
                <a:spcPts val="0"/>
              </a:spcBef>
              <a:spcAft>
                <a:spcPts val="0"/>
              </a:spcAft>
              <a:buNone/>
            </a:pPr>
            <a:r>
              <a:rPr b="1" lang="en-US" sz="1875">
                <a:solidFill>
                  <a:srgbClr val="000000"/>
                </a:solidFill>
                <a:latin typeface="Arial"/>
                <a:ea typeface="Arial"/>
                <a:cs typeface="Arial"/>
                <a:sym typeface="Arial"/>
              </a:rPr>
              <a:t>1. Key Attribute</a:t>
            </a:r>
            <a:endParaRPr/>
          </a:p>
          <a:p>
            <a:pPr indent="0" lvl="0" marL="0" marR="0" rtl="0" algn="just">
              <a:lnSpc>
                <a:spcPct val="120000"/>
              </a:lnSpc>
              <a:spcBef>
                <a:spcPts val="0"/>
              </a:spcBef>
              <a:spcAft>
                <a:spcPts val="0"/>
              </a:spcAft>
              <a:buNone/>
            </a:pPr>
            <a:r>
              <a:rPr lang="en-US" sz="1875">
                <a:solidFill>
                  <a:srgbClr val="000000"/>
                </a:solidFill>
                <a:latin typeface="Arial"/>
                <a:ea typeface="Arial"/>
                <a:cs typeface="Arial"/>
                <a:sym typeface="Arial"/>
              </a:rPr>
              <a:t>The attribute which uniquely identifies each entity in the entity set is called the key attribute. For example, Roll_No will be unique for each student. In ER diagram, the key attribute is represented by an oval with underlying lines.</a:t>
            </a:r>
            <a:endParaRPr/>
          </a:p>
        </p:txBody>
      </p:sp>
      <p:sp>
        <p:nvSpPr>
          <p:cNvPr id="423" name="Google Shape;423;p21"/>
          <p:cNvSpPr txBox="1"/>
          <p:nvPr/>
        </p:nvSpPr>
        <p:spPr>
          <a:xfrm>
            <a:off x="2075169" y="1923432"/>
            <a:ext cx="8041663" cy="1160831"/>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None/>
            </a:pPr>
            <a:r>
              <a:rPr lang="en-US" sz="1875">
                <a:solidFill>
                  <a:srgbClr val="000000"/>
                </a:solidFill>
                <a:latin typeface="Arial"/>
                <a:ea typeface="Arial"/>
                <a:cs typeface="Arial"/>
                <a:sym typeface="Arial"/>
              </a:rPr>
              <a:t>Attributes are the properties that define the entity type. For example, Roll_No, Name, DOB, Age, Address, and Mobile_No are the attributes that define entity type Student. In ER diagram, the attribute is represented by an oval.</a:t>
            </a:r>
            <a:endParaRPr/>
          </a:p>
        </p:txBody>
      </p:sp>
      <p:grpSp>
        <p:nvGrpSpPr>
          <p:cNvPr id="424" name="Google Shape;424;p21"/>
          <p:cNvGrpSpPr/>
          <p:nvPr/>
        </p:nvGrpSpPr>
        <p:grpSpPr>
          <a:xfrm>
            <a:off x="7539982" y="3558125"/>
            <a:ext cx="2892630" cy="1797840"/>
            <a:chOff x="0" y="0"/>
            <a:chExt cx="4113963" cy="2556928"/>
          </a:xfrm>
        </p:grpSpPr>
        <p:sp>
          <p:nvSpPr>
            <p:cNvPr id="425" name="Google Shape;425;p21"/>
            <p:cNvSpPr/>
            <p:nvPr/>
          </p:nvSpPr>
          <p:spPr>
            <a:xfrm>
              <a:off x="0" y="0"/>
              <a:ext cx="4113963" cy="1827589"/>
            </a:xfrm>
            <a:custGeom>
              <a:rect b="b" l="l" r="r" t="t"/>
              <a:pathLst>
                <a:path extrusionOk="0" h="1827589" w="4113963">
                  <a:moveTo>
                    <a:pt x="0" y="0"/>
                  </a:moveTo>
                  <a:lnTo>
                    <a:pt x="4113963" y="0"/>
                  </a:lnTo>
                  <a:lnTo>
                    <a:pt x="4113963" y="1827589"/>
                  </a:lnTo>
                  <a:lnTo>
                    <a:pt x="0" y="1827589"/>
                  </a:lnTo>
                  <a:lnTo>
                    <a:pt x="0" y="0"/>
                  </a:lnTo>
                  <a:close/>
                </a:path>
              </a:pathLst>
            </a:custGeom>
            <a:blipFill rotWithShape="1">
              <a:blip r:embed="rId3">
                <a:alphaModFix/>
              </a:blip>
              <a:stretch>
                <a:fillRect b="-16715" l="-7025" r="-8587" t="-20136"/>
              </a:stretch>
            </a:blipFill>
            <a:ln>
              <a:noFill/>
            </a:ln>
          </p:spPr>
        </p:sp>
        <p:sp>
          <p:nvSpPr>
            <p:cNvPr id="426" name="Google Shape;426;p21"/>
            <p:cNvSpPr txBox="1"/>
            <p:nvPr/>
          </p:nvSpPr>
          <p:spPr>
            <a:xfrm>
              <a:off x="1075509" y="1779964"/>
              <a:ext cx="1861343" cy="776964"/>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i="1" lang="en-US" sz="1800">
                  <a:solidFill>
                    <a:srgbClr val="000000"/>
                  </a:solidFill>
                  <a:latin typeface="Arial"/>
                  <a:ea typeface="Arial"/>
                  <a:cs typeface="Arial"/>
                  <a:sym typeface="Arial"/>
                </a:rPr>
                <a:t>Key Attribute</a:t>
              </a:r>
              <a:endParaRPr/>
            </a:p>
            <a:p>
              <a:pPr indent="0" lvl="0" marL="0" marR="0" rtl="0" algn="ctr">
                <a:lnSpc>
                  <a:spcPct val="120000"/>
                </a:lnSpc>
                <a:spcBef>
                  <a:spcPts val="0"/>
                </a:spcBef>
                <a:spcAft>
                  <a:spcPts val="0"/>
                </a:spcAft>
                <a:buNone/>
              </a:pPr>
              <a:r>
                <a:t/>
              </a:r>
              <a:endParaRPr i="1" sz="1800">
                <a:solidFill>
                  <a:srgbClr val="000000"/>
                </a:solidFill>
                <a:latin typeface="Arial"/>
                <a:ea typeface="Arial"/>
                <a:cs typeface="Arial"/>
                <a:sym typeface="Arial"/>
              </a:endParaRPr>
            </a:p>
          </p:txBody>
        </p:sp>
      </p:grpSp>
      <p:sp>
        <p:nvSpPr>
          <p:cNvPr id="427" name="Google Shape;427;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428" name="Google Shape;428;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grpSp>
        <p:nvGrpSpPr>
          <p:cNvPr id="437" name="Google Shape;437;p22"/>
          <p:cNvGrpSpPr/>
          <p:nvPr/>
        </p:nvGrpSpPr>
        <p:grpSpPr>
          <a:xfrm>
            <a:off x="1524000" y="6356604"/>
            <a:ext cx="9144000" cy="88404"/>
            <a:chOff x="0" y="0"/>
            <a:chExt cx="13004800" cy="125730"/>
          </a:xfrm>
        </p:grpSpPr>
        <p:sp>
          <p:nvSpPr>
            <p:cNvPr id="438" name="Google Shape;438;p22"/>
            <p:cNvSpPr/>
            <p:nvPr/>
          </p:nvSpPr>
          <p:spPr>
            <a:xfrm>
              <a:off x="0" y="100584"/>
              <a:ext cx="13004800" cy="25146"/>
            </a:xfrm>
            <a:custGeom>
              <a:rect b="b" l="l" r="r" t="t"/>
              <a:pathLst>
                <a:path extrusionOk="0" h="25146" w="13004800">
                  <a:moveTo>
                    <a:pt x="13004800" y="0"/>
                  </a:moveTo>
                  <a:lnTo>
                    <a:pt x="0" y="0"/>
                  </a:lnTo>
                  <a:lnTo>
                    <a:pt x="0" y="25146"/>
                  </a:lnTo>
                  <a:lnTo>
                    <a:pt x="13004800" y="25146"/>
                  </a:lnTo>
                  <a:lnTo>
                    <a:pt x="13004800" y="0"/>
                  </a:lnTo>
                  <a:close/>
                </a:path>
              </a:pathLst>
            </a:custGeom>
            <a:solidFill>
              <a:srgbClr val="C00000"/>
            </a:solidFill>
            <a:ln>
              <a:noFill/>
            </a:ln>
          </p:spPr>
        </p:sp>
        <p:sp>
          <p:nvSpPr>
            <p:cNvPr id="439" name="Google Shape;439;p22"/>
            <p:cNvSpPr/>
            <p:nvPr/>
          </p:nvSpPr>
          <p:spPr>
            <a:xfrm>
              <a:off x="0" y="0"/>
              <a:ext cx="13004800" cy="75438"/>
            </a:xfrm>
            <a:custGeom>
              <a:rect b="b" l="l" r="r" t="t"/>
              <a:pathLst>
                <a:path extrusionOk="0" h="75438" w="13004800">
                  <a:moveTo>
                    <a:pt x="13004800" y="0"/>
                  </a:moveTo>
                  <a:lnTo>
                    <a:pt x="0" y="0"/>
                  </a:lnTo>
                  <a:lnTo>
                    <a:pt x="0" y="75438"/>
                  </a:lnTo>
                  <a:lnTo>
                    <a:pt x="13004800" y="75438"/>
                  </a:lnTo>
                  <a:lnTo>
                    <a:pt x="13004800" y="0"/>
                  </a:lnTo>
                  <a:close/>
                </a:path>
              </a:pathLst>
            </a:custGeom>
            <a:solidFill>
              <a:srgbClr val="C00000"/>
            </a:solidFill>
            <a:ln>
              <a:noFill/>
            </a:ln>
          </p:spPr>
        </p:sp>
      </p:grpSp>
      <p:sp>
        <p:nvSpPr>
          <p:cNvPr id="440" name="Google Shape;440;p22"/>
          <p:cNvSpPr/>
          <p:nvPr/>
        </p:nvSpPr>
        <p:spPr>
          <a:xfrm>
            <a:off x="3078439" y="3518893"/>
            <a:ext cx="6177308" cy="2046233"/>
          </a:xfrm>
          <a:custGeom>
            <a:rect b="b" l="l" r="r" t="t"/>
            <a:pathLst>
              <a:path extrusionOk="0" h="2182649" w="6589129">
                <a:moveTo>
                  <a:pt x="0" y="0"/>
                </a:moveTo>
                <a:lnTo>
                  <a:pt x="6589129" y="0"/>
                </a:lnTo>
                <a:lnTo>
                  <a:pt x="6589129" y="2182649"/>
                </a:lnTo>
                <a:lnTo>
                  <a:pt x="0" y="2182649"/>
                </a:lnTo>
                <a:lnTo>
                  <a:pt x="0" y="0"/>
                </a:lnTo>
                <a:close/>
              </a:path>
            </a:pathLst>
          </a:custGeom>
          <a:blipFill rotWithShape="1">
            <a:blip r:embed="rId3">
              <a:alphaModFix/>
            </a:blip>
            <a:stretch>
              <a:fillRect b="0" l="0" r="0" t="0"/>
            </a:stretch>
          </a:blipFill>
          <a:ln>
            <a:noFill/>
          </a:ln>
        </p:spPr>
      </p:sp>
      <p:sp>
        <p:nvSpPr>
          <p:cNvPr id="441" name="Google Shape;441;p22"/>
          <p:cNvSpPr txBox="1"/>
          <p:nvPr/>
        </p:nvSpPr>
        <p:spPr>
          <a:xfrm>
            <a:off x="2553786" y="603046"/>
            <a:ext cx="7571289" cy="500137"/>
          </a:xfrm>
          <a:prstGeom prst="rect">
            <a:avLst/>
          </a:prstGeom>
          <a:noFill/>
          <a:ln>
            <a:noFill/>
          </a:ln>
        </p:spPr>
        <p:txBody>
          <a:bodyPr anchorCtr="0" anchor="t" bIns="0" lIns="0" spcFirstLastPara="1" rIns="0" wrap="square" tIns="0">
            <a:spAutoFit/>
          </a:bodyPr>
          <a:lstStyle/>
          <a:p>
            <a:pPr indent="0" lvl="0" marL="0" marR="0" rtl="0" algn="ctr">
              <a:lnSpc>
                <a:spcPct val="120024"/>
              </a:lnSpc>
              <a:spcBef>
                <a:spcPts val="0"/>
              </a:spcBef>
              <a:spcAft>
                <a:spcPts val="0"/>
              </a:spcAft>
              <a:buNone/>
            </a:pPr>
            <a:r>
              <a:rPr b="1" lang="en-US" sz="3281">
                <a:solidFill>
                  <a:srgbClr val="C00000"/>
                </a:solidFill>
                <a:latin typeface="Arial"/>
                <a:ea typeface="Arial"/>
                <a:cs typeface="Arial"/>
                <a:sym typeface="Arial"/>
              </a:rPr>
              <a:t>Entity Relationship Data Model</a:t>
            </a:r>
            <a:endParaRPr/>
          </a:p>
        </p:txBody>
      </p:sp>
      <p:sp>
        <p:nvSpPr>
          <p:cNvPr id="442" name="Google Shape;442;p22"/>
          <p:cNvSpPr txBox="1"/>
          <p:nvPr/>
        </p:nvSpPr>
        <p:spPr>
          <a:xfrm>
            <a:off x="1839636" y="1590080"/>
            <a:ext cx="8512729" cy="1750736"/>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None/>
            </a:pPr>
            <a:r>
              <a:rPr b="1" lang="en-US" sz="1875">
                <a:solidFill>
                  <a:srgbClr val="000000"/>
                </a:solidFill>
                <a:latin typeface="Arial"/>
                <a:ea typeface="Arial"/>
                <a:cs typeface="Arial"/>
                <a:sym typeface="Arial"/>
              </a:rPr>
              <a:t>2. Composite Attribute</a:t>
            </a:r>
            <a:endParaRPr/>
          </a:p>
          <a:p>
            <a:pPr indent="0" lvl="0" marL="0" marR="0" rtl="0" algn="just">
              <a:lnSpc>
                <a:spcPct val="120000"/>
              </a:lnSpc>
              <a:spcBef>
                <a:spcPts val="0"/>
              </a:spcBef>
              <a:spcAft>
                <a:spcPts val="0"/>
              </a:spcAft>
              <a:buNone/>
            </a:pPr>
            <a:r>
              <a:rPr lang="en-US" sz="1875">
                <a:solidFill>
                  <a:srgbClr val="000000"/>
                </a:solidFill>
                <a:latin typeface="Arial"/>
                <a:ea typeface="Arial"/>
                <a:cs typeface="Arial"/>
                <a:sym typeface="Arial"/>
              </a:rPr>
              <a:t>An attribute composed of many other attributes is called a composite attribute. For example, the Address attribute of the student Entity type consists of Street, City, State, and Country. In ER diagram, the composite attribute is represented by an oval comprising of ovals.</a:t>
            </a:r>
            <a:endParaRPr/>
          </a:p>
          <a:p>
            <a:pPr indent="0" lvl="0" marL="0" marR="0" rtl="0" algn="just">
              <a:lnSpc>
                <a:spcPct val="120000"/>
              </a:lnSpc>
              <a:spcBef>
                <a:spcPts val="0"/>
              </a:spcBef>
              <a:spcAft>
                <a:spcPts val="0"/>
              </a:spcAft>
              <a:buNone/>
            </a:pPr>
            <a:r>
              <a:t/>
            </a:r>
            <a:endParaRPr sz="1875">
              <a:solidFill>
                <a:srgbClr val="000000"/>
              </a:solidFill>
              <a:latin typeface="Arial"/>
              <a:ea typeface="Arial"/>
              <a:cs typeface="Arial"/>
              <a:sym typeface="Arial"/>
            </a:endParaRPr>
          </a:p>
        </p:txBody>
      </p:sp>
      <p:sp>
        <p:nvSpPr>
          <p:cNvPr id="443" name="Google Shape;443;p22"/>
          <p:cNvSpPr txBox="1"/>
          <p:nvPr/>
        </p:nvSpPr>
        <p:spPr>
          <a:xfrm>
            <a:off x="5092289" y="5591771"/>
            <a:ext cx="2007423" cy="546303"/>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i="1" lang="en-US" sz="1800">
                <a:solidFill>
                  <a:srgbClr val="000000"/>
                </a:solidFill>
                <a:latin typeface="Arial"/>
                <a:ea typeface="Arial"/>
                <a:cs typeface="Arial"/>
                <a:sym typeface="Arial"/>
              </a:rPr>
              <a:t>Composite Attribute</a:t>
            </a:r>
            <a:endParaRPr/>
          </a:p>
          <a:p>
            <a:pPr indent="0" lvl="0" marL="0" marR="0" rtl="0" algn="ctr">
              <a:lnSpc>
                <a:spcPct val="120000"/>
              </a:lnSpc>
              <a:spcBef>
                <a:spcPts val="0"/>
              </a:spcBef>
              <a:spcAft>
                <a:spcPts val="0"/>
              </a:spcAft>
              <a:buNone/>
            </a:pPr>
            <a:r>
              <a:t/>
            </a:r>
            <a:endParaRPr i="1" sz="1800">
              <a:solidFill>
                <a:srgbClr val="000000"/>
              </a:solidFill>
              <a:latin typeface="Arial"/>
              <a:ea typeface="Arial"/>
              <a:cs typeface="Arial"/>
              <a:sym typeface="Arial"/>
            </a:endParaRPr>
          </a:p>
        </p:txBody>
      </p:sp>
      <p:sp>
        <p:nvSpPr>
          <p:cNvPr id="444" name="Google Shape;444;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445" name="Google Shape;445;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grpSp>
        <p:nvGrpSpPr>
          <p:cNvPr id="454" name="Google Shape;454;p23"/>
          <p:cNvGrpSpPr/>
          <p:nvPr/>
        </p:nvGrpSpPr>
        <p:grpSpPr>
          <a:xfrm>
            <a:off x="1524000" y="6356604"/>
            <a:ext cx="9144000" cy="88404"/>
            <a:chOff x="0" y="0"/>
            <a:chExt cx="13004800" cy="125730"/>
          </a:xfrm>
        </p:grpSpPr>
        <p:sp>
          <p:nvSpPr>
            <p:cNvPr id="455" name="Google Shape;455;p23"/>
            <p:cNvSpPr/>
            <p:nvPr/>
          </p:nvSpPr>
          <p:spPr>
            <a:xfrm>
              <a:off x="0" y="100584"/>
              <a:ext cx="13004800" cy="25146"/>
            </a:xfrm>
            <a:custGeom>
              <a:rect b="b" l="l" r="r" t="t"/>
              <a:pathLst>
                <a:path extrusionOk="0" h="25146" w="13004800">
                  <a:moveTo>
                    <a:pt x="13004800" y="0"/>
                  </a:moveTo>
                  <a:lnTo>
                    <a:pt x="0" y="0"/>
                  </a:lnTo>
                  <a:lnTo>
                    <a:pt x="0" y="25146"/>
                  </a:lnTo>
                  <a:lnTo>
                    <a:pt x="13004800" y="25146"/>
                  </a:lnTo>
                  <a:lnTo>
                    <a:pt x="13004800" y="0"/>
                  </a:lnTo>
                  <a:close/>
                </a:path>
              </a:pathLst>
            </a:custGeom>
            <a:solidFill>
              <a:srgbClr val="C00000"/>
            </a:solidFill>
            <a:ln>
              <a:noFill/>
            </a:ln>
          </p:spPr>
        </p:sp>
        <p:sp>
          <p:nvSpPr>
            <p:cNvPr id="456" name="Google Shape;456;p23"/>
            <p:cNvSpPr/>
            <p:nvPr/>
          </p:nvSpPr>
          <p:spPr>
            <a:xfrm>
              <a:off x="0" y="0"/>
              <a:ext cx="13004800" cy="75438"/>
            </a:xfrm>
            <a:custGeom>
              <a:rect b="b" l="l" r="r" t="t"/>
              <a:pathLst>
                <a:path extrusionOk="0" h="75438" w="13004800">
                  <a:moveTo>
                    <a:pt x="13004800" y="0"/>
                  </a:moveTo>
                  <a:lnTo>
                    <a:pt x="0" y="0"/>
                  </a:lnTo>
                  <a:lnTo>
                    <a:pt x="0" y="75438"/>
                  </a:lnTo>
                  <a:lnTo>
                    <a:pt x="13004800" y="75438"/>
                  </a:lnTo>
                  <a:lnTo>
                    <a:pt x="13004800" y="0"/>
                  </a:lnTo>
                  <a:close/>
                </a:path>
              </a:pathLst>
            </a:custGeom>
            <a:solidFill>
              <a:srgbClr val="C00000"/>
            </a:solidFill>
            <a:ln>
              <a:noFill/>
            </a:ln>
          </p:spPr>
        </p:sp>
      </p:grpSp>
      <p:grpSp>
        <p:nvGrpSpPr>
          <p:cNvPr id="457" name="Google Shape;457;p23"/>
          <p:cNvGrpSpPr/>
          <p:nvPr/>
        </p:nvGrpSpPr>
        <p:grpSpPr>
          <a:xfrm>
            <a:off x="2811827" y="4275392"/>
            <a:ext cx="2731952" cy="1902100"/>
            <a:chOff x="0" y="0"/>
            <a:chExt cx="3885443" cy="2705209"/>
          </a:xfrm>
        </p:grpSpPr>
        <p:sp>
          <p:nvSpPr>
            <p:cNvPr id="458" name="Google Shape;458;p23"/>
            <p:cNvSpPr/>
            <p:nvPr/>
          </p:nvSpPr>
          <p:spPr>
            <a:xfrm>
              <a:off x="0" y="0"/>
              <a:ext cx="3885443" cy="1891881"/>
            </a:xfrm>
            <a:custGeom>
              <a:rect b="b" l="l" r="r" t="t"/>
              <a:pathLst>
                <a:path extrusionOk="0" h="1891881" w="3885443">
                  <a:moveTo>
                    <a:pt x="0" y="0"/>
                  </a:moveTo>
                  <a:lnTo>
                    <a:pt x="3885443" y="0"/>
                  </a:lnTo>
                  <a:lnTo>
                    <a:pt x="3885443" y="1891881"/>
                  </a:lnTo>
                  <a:lnTo>
                    <a:pt x="0" y="1891881"/>
                  </a:lnTo>
                  <a:lnTo>
                    <a:pt x="0" y="0"/>
                  </a:lnTo>
                  <a:close/>
                </a:path>
              </a:pathLst>
            </a:custGeom>
            <a:blipFill rotWithShape="1">
              <a:blip r:embed="rId3">
                <a:alphaModFix/>
              </a:blip>
              <a:stretch>
                <a:fillRect b="-10425" l="-1903" r="-901" t="-8545"/>
              </a:stretch>
            </a:blipFill>
            <a:ln>
              <a:noFill/>
            </a:ln>
          </p:spPr>
        </p:sp>
        <p:sp>
          <p:nvSpPr>
            <p:cNvPr id="459" name="Google Shape;459;p23"/>
            <p:cNvSpPr txBox="1"/>
            <p:nvPr/>
          </p:nvSpPr>
          <p:spPr>
            <a:xfrm>
              <a:off x="469501" y="1927331"/>
              <a:ext cx="3195487" cy="777878"/>
            </a:xfrm>
            <a:prstGeom prst="rect">
              <a:avLst/>
            </a:prstGeom>
            <a:noFill/>
            <a:ln>
              <a:noFill/>
            </a:ln>
          </p:spPr>
          <p:txBody>
            <a:bodyPr anchorCtr="0" anchor="t" bIns="0" lIns="0" spcFirstLastPara="1" rIns="0" wrap="square" tIns="0">
              <a:spAutoFit/>
            </a:bodyPr>
            <a:lstStyle/>
            <a:p>
              <a:pPr indent="0" lvl="0" marL="0" marR="0" rtl="0" algn="ctr">
                <a:lnSpc>
                  <a:spcPct val="120021"/>
                </a:lnSpc>
                <a:spcBef>
                  <a:spcPts val="0"/>
                </a:spcBef>
                <a:spcAft>
                  <a:spcPts val="0"/>
                </a:spcAft>
                <a:buNone/>
              </a:pPr>
              <a:r>
                <a:rPr i="1" lang="en-US" sz="1823">
                  <a:solidFill>
                    <a:srgbClr val="000000"/>
                  </a:solidFill>
                  <a:latin typeface="Arial"/>
                  <a:ea typeface="Arial"/>
                  <a:cs typeface="Arial"/>
                  <a:sym typeface="Arial"/>
                </a:rPr>
                <a:t>Multivalued Attribute</a:t>
              </a:r>
              <a:endParaRPr/>
            </a:p>
            <a:p>
              <a:pPr indent="0" lvl="0" marL="0" marR="0" rtl="0" algn="ctr">
                <a:lnSpc>
                  <a:spcPct val="120021"/>
                </a:lnSpc>
                <a:spcBef>
                  <a:spcPts val="0"/>
                </a:spcBef>
                <a:spcAft>
                  <a:spcPts val="0"/>
                </a:spcAft>
                <a:buNone/>
              </a:pPr>
              <a:r>
                <a:t/>
              </a:r>
              <a:endParaRPr i="1" sz="1823">
                <a:solidFill>
                  <a:srgbClr val="000000"/>
                </a:solidFill>
                <a:latin typeface="Arial"/>
                <a:ea typeface="Arial"/>
                <a:cs typeface="Arial"/>
                <a:sym typeface="Arial"/>
              </a:endParaRPr>
            </a:p>
          </p:txBody>
        </p:sp>
      </p:grpSp>
      <p:sp>
        <p:nvSpPr>
          <p:cNvPr id="460" name="Google Shape;460;p23"/>
          <p:cNvSpPr/>
          <p:nvPr/>
        </p:nvSpPr>
        <p:spPr>
          <a:xfrm>
            <a:off x="6096000" y="4370712"/>
            <a:ext cx="2464110" cy="1186744"/>
          </a:xfrm>
          <a:custGeom>
            <a:rect b="b" l="l" r="r" t="t"/>
            <a:pathLst>
              <a:path extrusionOk="0" h="1265860" w="2628384">
                <a:moveTo>
                  <a:pt x="0" y="0"/>
                </a:moveTo>
                <a:lnTo>
                  <a:pt x="2628384" y="0"/>
                </a:lnTo>
                <a:lnTo>
                  <a:pt x="2628384" y="1265860"/>
                </a:lnTo>
                <a:lnTo>
                  <a:pt x="0" y="1265860"/>
                </a:lnTo>
                <a:lnTo>
                  <a:pt x="0" y="0"/>
                </a:lnTo>
                <a:close/>
              </a:path>
            </a:pathLst>
          </a:custGeom>
          <a:blipFill rotWithShape="1">
            <a:blip r:embed="rId4">
              <a:alphaModFix/>
            </a:blip>
            <a:stretch>
              <a:fillRect b="-11039" l="-7892" r="-7562" t="-15021"/>
            </a:stretch>
          </a:blipFill>
          <a:ln>
            <a:noFill/>
          </a:ln>
        </p:spPr>
      </p:sp>
      <p:sp>
        <p:nvSpPr>
          <p:cNvPr id="461" name="Google Shape;461;p23"/>
          <p:cNvSpPr txBox="1"/>
          <p:nvPr/>
        </p:nvSpPr>
        <p:spPr>
          <a:xfrm>
            <a:off x="2553786" y="603046"/>
            <a:ext cx="7571289" cy="500137"/>
          </a:xfrm>
          <a:prstGeom prst="rect">
            <a:avLst/>
          </a:prstGeom>
          <a:noFill/>
          <a:ln>
            <a:noFill/>
          </a:ln>
        </p:spPr>
        <p:txBody>
          <a:bodyPr anchorCtr="0" anchor="t" bIns="0" lIns="0" spcFirstLastPara="1" rIns="0" wrap="square" tIns="0">
            <a:spAutoFit/>
          </a:bodyPr>
          <a:lstStyle/>
          <a:p>
            <a:pPr indent="0" lvl="0" marL="0" marR="0" rtl="0" algn="ctr">
              <a:lnSpc>
                <a:spcPct val="120024"/>
              </a:lnSpc>
              <a:spcBef>
                <a:spcPts val="0"/>
              </a:spcBef>
              <a:spcAft>
                <a:spcPts val="0"/>
              </a:spcAft>
              <a:buNone/>
            </a:pPr>
            <a:r>
              <a:rPr b="1" lang="en-US" sz="3281">
                <a:solidFill>
                  <a:srgbClr val="C00000"/>
                </a:solidFill>
                <a:latin typeface="Arial"/>
                <a:ea typeface="Arial"/>
                <a:cs typeface="Arial"/>
                <a:sym typeface="Arial"/>
              </a:rPr>
              <a:t>Entity Relationship Data Model</a:t>
            </a:r>
            <a:endParaRPr/>
          </a:p>
        </p:txBody>
      </p:sp>
      <p:sp>
        <p:nvSpPr>
          <p:cNvPr id="462" name="Google Shape;462;p23"/>
          <p:cNvSpPr txBox="1"/>
          <p:nvPr/>
        </p:nvSpPr>
        <p:spPr>
          <a:xfrm>
            <a:off x="1979045" y="1590080"/>
            <a:ext cx="8233912" cy="1455783"/>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None/>
            </a:pPr>
            <a:r>
              <a:rPr b="1" lang="en-US" sz="1875">
                <a:solidFill>
                  <a:srgbClr val="000000"/>
                </a:solidFill>
                <a:latin typeface="Arial"/>
                <a:ea typeface="Arial"/>
                <a:cs typeface="Arial"/>
                <a:sym typeface="Arial"/>
              </a:rPr>
              <a:t>3. Multivalued Attribute:</a:t>
            </a:r>
            <a:endParaRPr/>
          </a:p>
          <a:p>
            <a:pPr indent="0" lvl="0" marL="0" marR="0" rtl="0" algn="just">
              <a:lnSpc>
                <a:spcPct val="120000"/>
              </a:lnSpc>
              <a:spcBef>
                <a:spcPts val="0"/>
              </a:spcBef>
              <a:spcAft>
                <a:spcPts val="0"/>
              </a:spcAft>
              <a:buNone/>
            </a:pPr>
            <a:r>
              <a:rPr lang="en-US" sz="1875">
                <a:solidFill>
                  <a:srgbClr val="000000"/>
                </a:solidFill>
                <a:latin typeface="Arial"/>
                <a:ea typeface="Arial"/>
                <a:cs typeface="Arial"/>
                <a:sym typeface="Arial"/>
              </a:rPr>
              <a:t>An attribute consisting of more than one value for a given entity. For example, Phone_No (can be more than one for a given student). In ER diagram, a multivalued attribute is represented by a double oval.</a:t>
            </a:r>
            <a:endParaRPr/>
          </a:p>
          <a:p>
            <a:pPr indent="0" lvl="0" marL="0" marR="0" rtl="0" algn="just">
              <a:lnSpc>
                <a:spcPct val="120000"/>
              </a:lnSpc>
              <a:spcBef>
                <a:spcPts val="0"/>
              </a:spcBef>
              <a:spcAft>
                <a:spcPts val="0"/>
              </a:spcAft>
              <a:buNone/>
            </a:pPr>
            <a:r>
              <a:t/>
            </a:r>
            <a:endParaRPr sz="1875">
              <a:solidFill>
                <a:srgbClr val="000000"/>
              </a:solidFill>
              <a:latin typeface="Arial"/>
              <a:ea typeface="Arial"/>
              <a:cs typeface="Arial"/>
              <a:sym typeface="Arial"/>
            </a:endParaRPr>
          </a:p>
        </p:txBody>
      </p:sp>
      <p:sp>
        <p:nvSpPr>
          <p:cNvPr id="463" name="Google Shape;463;p23"/>
          <p:cNvSpPr txBox="1"/>
          <p:nvPr/>
        </p:nvSpPr>
        <p:spPr>
          <a:xfrm>
            <a:off x="1979045" y="2977681"/>
            <a:ext cx="8233912" cy="1160831"/>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None/>
            </a:pPr>
            <a:r>
              <a:rPr b="1" lang="en-US" sz="1875">
                <a:solidFill>
                  <a:srgbClr val="000000"/>
                </a:solidFill>
                <a:latin typeface="Arial"/>
                <a:ea typeface="Arial"/>
                <a:cs typeface="Arial"/>
                <a:sym typeface="Arial"/>
              </a:rPr>
              <a:t>4. Derived Attribute:</a:t>
            </a:r>
            <a:endParaRPr/>
          </a:p>
          <a:p>
            <a:pPr indent="0" lvl="0" marL="0" marR="0" rtl="0" algn="just">
              <a:lnSpc>
                <a:spcPct val="120000"/>
              </a:lnSpc>
              <a:spcBef>
                <a:spcPts val="0"/>
              </a:spcBef>
              <a:spcAft>
                <a:spcPts val="0"/>
              </a:spcAft>
              <a:buNone/>
            </a:pPr>
            <a:r>
              <a:rPr lang="en-US" sz="1875">
                <a:solidFill>
                  <a:srgbClr val="000000"/>
                </a:solidFill>
                <a:latin typeface="Arial"/>
                <a:ea typeface="Arial"/>
                <a:cs typeface="Arial"/>
                <a:sym typeface="Arial"/>
              </a:rPr>
              <a:t>An attribute that can be derived from other attributes of the entity type is known as a derived attribute. e.g.; Age (can be derived from DOB). In ER diagram, the derived attribute is represented by a dashed oval.</a:t>
            </a:r>
            <a:endParaRPr/>
          </a:p>
        </p:txBody>
      </p:sp>
      <p:sp>
        <p:nvSpPr>
          <p:cNvPr id="464" name="Google Shape;464;p23"/>
          <p:cNvSpPr txBox="1"/>
          <p:nvPr/>
        </p:nvSpPr>
        <p:spPr>
          <a:xfrm>
            <a:off x="6476841" y="5591771"/>
            <a:ext cx="1702429" cy="546303"/>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i="1" lang="en-US" sz="1800">
                <a:solidFill>
                  <a:srgbClr val="000000"/>
                </a:solidFill>
                <a:latin typeface="Arial"/>
                <a:ea typeface="Arial"/>
                <a:cs typeface="Arial"/>
                <a:sym typeface="Arial"/>
              </a:rPr>
              <a:t>Derived Attribute</a:t>
            </a:r>
            <a:endParaRPr/>
          </a:p>
          <a:p>
            <a:pPr indent="0" lvl="0" marL="0" marR="0" rtl="0" algn="ctr">
              <a:lnSpc>
                <a:spcPct val="120000"/>
              </a:lnSpc>
              <a:spcBef>
                <a:spcPts val="0"/>
              </a:spcBef>
              <a:spcAft>
                <a:spcPts val="0"/>
              </a:spcAft>
              <a:buNone/>
            </a:pPr>
            <a:r>
              <a:t/>
            </a:r>
            <a:endParaRPr i="1" sz="1800">
              <a:solidFill>
                <a:srgbClr val="000000"/>
              </a:solidFill>
              <a:latin typeface="Arial"/>
              <a:ea typeface="Arial"/>
              <a:cs typeface="Arial"/>
              <a:sym typeface="Arial"/>
            </a:endParaRPr>
          </a:p>
        </p:txBody>
      </p:sp>
      <p:sp>
        <p:nvSpPr>
          <p:cNvPr id="465" name="Google Shape;465;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466" name="Google Shape;466;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grpSp>
        <p:nvGrpSpPr>
          <p:cNvPr id="475" name="Google Shape;475;p24"/>
          <p:cNvGrpSpPr/>
          <p:nvPr/>
        </p:nvGrpSpPr>
        <p:grpSpPr>
          <a:xfrm>
            <a:off x="1524000" y="6356604"/>
            <a:ext cx="9144000" cy="88404"/>
            <a:chOff x="0" y="0"/>
            <a:chExt cx="13004800" cy="125730"/>
          </a:xfrm>
        </p:grpSpPr>
        <p:sp>
          <p:nvSpPr>
            <p:cNvPr id="476" name="Google Shape;476;p24"/>
            <p:cNvSpPr/>
            <p:nvPr/>
          </p:nvSpPr>
          <p:spPr>
            <a:xfrm>
              <a:off x="0" y="100584"/>
              <a:ext cx="13004800" cy="25146"/>
            </a:xfrm>
            <a:custGeom>
              <a:rect b="b" l="l" r="r" t="t"/>
              <a:pathLst>
                <a:path extrusionOk="0" h="25146" w="13004800">
                  <a:moveTo>
                    <a:pt x="13004800" y="0"/>
                  </a:moveTo>
                  <a:lnTo>
                    <a:pt x="0" y="0"/>
                  </a:lnTo>
                  <a:lnTo>
                    <a:pt x="0" y="25146"/>
                  </a:lnTo>
                  <a:lnTo>
                    <a:pt x="13004800" y="25146"/>
                  </a:lnTo>
                  <a:lnTo>
                    <a:pt x="13004800" y="0"/>
                  </a:lnTo>
                  <a:close/>
                </a:path>
              </a:pathLst>
            </a:custGeom>
            <a:solidFill>
              <a:srgbClr val="C00000"/>
            </a:solidFill>
            <a:ln>
              <a:noFill/>
            </a:ln>
          </p:spPr>
        </p:sp>
        <p:sp>
          <p:nvSpPr>
            <p:cNvPr id="477" name="Google Shape;477;p24"/>
            <p:cNvSpPr/>
            <p:nvPr/>
          </p:nvSpPr>
          <p:spPr>
            <a:xfrm>
              <a:off x="0" y="0"/>
              <a:ext cx="13004800" cy="75438"/>
            </a:xfrm>
            <a:custGeom>
              <a:rect b="b" l="l" r="r" t="t"/>
              <a:pathLst>
                <a:path extrusionOk="0" h="75438" w="13004800">
                  <a:moveTo>
                    <a:pt x="13004800" y="0"/>
                  </a:moveTo>
                  <a:lnTo>
                    <a:pt x="0" y="0"/>
                  </a:lnTo>
                  <a:lnTo>
                    <a:pt x="0" y="75438"/>
                  </a:lnTo>
                  <a:lnTo>
                    <a:pt x="13004800" y="75438"/>
                  </a:lnTo>
                  <a:lnTo>
                    <a:pt x="13004800" y="0"/>
                  </a:lnTo>
                  <a:close/>
                </a:path>
              </a:pathLst>
            </a:custGeom>
            <a:solidFill>
              <a:srgbClr val="C00000"/>
            </a:solidFill>
            <a:ln>
              <a:noFill/>
            </a:ln>
          </p:spPr>
        </p:sp>
      </p:grpSp>
      <p:sp>
        <p:nvSpPr>
          <p:cNvPr id="478" name="Google Shape;478;p24"/>
          <p:cNvSpPr/>
          <p:nvPr/>
        </p:nvSpPr>
        <p:spPr>
          <a:xfrm>
            <a:off x="2649110" y="1452610"/>
            <a:ext cx="6893781" cy="4670536"/>
          </a:xfrm>
          <a:custGeom>
            <a:rect b="b" l="l" r="r" t="t"/>
            <a:pathLst>
              <a:path extrusionOk="0" h="4981905" w="7353366">
                <a:moveTo>
                  <a:pt x="0" y="0"/>
                </a:moveTo>
                <a:lnTo>
                  <a:pt x="7353366" y="0"/>
                </a:lnTo>
                <a:lnTo>
                  <a:pt x="7353366" y="4981906"/>
                </a:lnTo>
                <a:lnTo>
                  <a:pt x="0" y="4981906"/>
                </a:lnTo>
                <a:lnTo>
                  <a:pt x="0" y="0"/>
                </a:lnTo>
                <a:close/>
              </a:path>
            </a:pathLst>
          </a:custGeom>
          <a:blipFill rotWithShape="1">
            <a:blip r:embed="rId3">
              <a:alphaModFix/>
            </a:blip>
            <a:stretch>
              <a:fillRect b="0" l="0" r="0" t="0"/>
            </a:stretch>
          </a:blipFill>
          <a:ln>
            <a:noFill/>
          </a:ln>
        </p:spPr>
      </p:sp>
      <p:sp>
        <p:nvSpPr>
          <p:cNvPr id="479" name="Google Shape;479;p24"/>
          <p:cNvSpPr txBox="1"/>
          <p:nvPr/>
        </p:nvSpPr>
        <p:spPr>
          <a:xfrm>
            <a:off x="2553786" y="603046"/>
            <a:ext cx="7571289" cy="500137"/>
          </a:xfrm>
          <a:prstGeom prst="rect">
            <a:avLst/>
          </a:prstGeom>
          <a:noFill/>
          <a:ln>
            <a:noFill/>
          </a:ln>
        </p:spPr>
        <p:txBody>
          <a:bodyPr anchorCtr="0" anchor="t" bIns="0" lIns="0" spcFirstLastPara="1" rIns="0" wrap="square" tIns="0">
            <a:spAutoFit/>
          </a:bodyPr>
          <a:lstStyle/>
          <a:p>
            <a:pPr indent="0" lvl="0" marL="0" marR="0" rtl="0" algn="ctr">
              <a:lnSpc>
                <a:spcPct val="120024"/>
              </a:lnSpc>
              <a:spcBef>
                <a:spcPts val="0"/>
              </a:spcBef>
              <a:spcAft>
                <a:spcPts val="0"/>
              </a:spcAft>
              <a:buNone/>
            </a:pPr>
            <a:r>
              <a:rPr b="1" lang="en-US" sz="3281">
                <a:solidFill>
                  <a:srgbClr val="C00000"/>
                </a:solidFill>
                <a:latin typeface="Arial"/>
                <a:ea typeface="Arial"/>
                <a:cs typeface="Arial"/>
                <a:sym typeface="Arial"/>
              </a:rPr>
              <a:t>Entity Relationship Data Model</a:t>
            </a:r>
            <a:endParaRPr/>
          </a:p>
        </p:txBody>
      </p:sp>
      <p:sp>
        <p:nvSpPr>
          <p:cNvPr id="480" name="Google Shape;480;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481" name="Google Shape;481;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grpSp>
        <p:nvGrpSpPr>
          <p:cNvPr id="490" name="Google Shape;490;p25"/>
          <p:cNvGrpSpPr/>
          <p:nvPr/>
        </p:nvGrpSpPr>
        <p:grpSpPr>
          <a:xfrm>
            <a:off x="1524000" y="6356604"/>
            <a:ext cx="9144000" cy="88404"/>
            <a:chOff x="0" y="0"/>
            <a:chExt cx="13004800" cy="125730"/>
          </a:xfrm>
        </p:grpSpPr>
        <p:sp>
          <p:nvSpPr>
            <p:cNvPr id="491" name="Google Shape;491;p25"/>
            <p:cNvSpPr/>
            <p:nvPr/>
          </p:nvSpPr>
          <p:spPr>
            <a:xfrm>
              <a:off x="0" y="100584"/>
              <a:ext cx="13004800" cy="25146"/>
            </a:xfrm>
            <a:custGeom>
              <a:rect b="b" l="l" r="r" t="t"/>
              <a:pathLst>
                <a:path extrusionOk="0" h="25146" w="13004800">
                  <a:moveTo>
                    <a:pt x="13004800" y="0"/>
                  </a:moveTo>
                  <a:lnTo>
                    <a:pt x="0" y="0"/>
                  </a:lnTo>
                  <a:lnTo>
                    <a:pt x="0" y="25146"/>
                  </a:lnTo>
                  <a:lnTo>
                    <a:pt x="13004800" y="25146"/>
                  </a:lnTo>
                  <a:lnTo>
                    <a:pt x="13004800" y="0"/>
                  </a:lnTo>
                  <a:close/>
                </a:path>
              </a:pathLst>
            </a:custGeom>
            <a:solidFill>
              <a:srgbClr val="C00000"/>
            </a:solidFill>
            <a:ln>
              <a:noFill/>
            </a:ln>
          </p:spPr>
        </p:sp>
        <p:sp>
          <p:nvSpPr>
            <p:cNvPr id="492" name="Google Shape;492;p25"/>
            <p:cNvSpPr/>
            <p:nvPr/>
          </p:nvSpPr>
          <p:spPr>
            <a:xfrm>
              <a:off x="0" y="0"/>
              <a:ext cx="13004800" cy="75438"/>
            </a:xfrm>
            <a:custGeom>
              <a:rect b="b" l="l" r="r" t="t"/>
              <a:pathLst>
                <a:path extrusionOk="0" h="75438" w="13004800">
                  <a:moveTo>
                    <a:pt x="13004800" y="0"/>
                  </a:moveTo>
                  <a:lnTo>
                    <a:pt x="0" y="0"/>
                  </a:lnTo>
                  <a:lnTo>
                    <a:pt x="0" y="75438"/>
                  </a:lnTo>
                  <a:lnTo>
                    <a:pt x="13004800" y="75438"/>
                  </a:lnTo>
                  <a:lnTo>
                    <a:pt x="13004800" y="0"/>
                  </a:lnTo>
                  <a:close/>
                </a:path>
              </a:pathLst>
            </a:custGeom>
            <a:solidFill>
              <a:srgbClr val="C00000"/>
            </a:solidFill>
            <a:ln>
              <a:noFill/>
            </a:ln>
          </p:spPr>
        </p:sp>
      </p:grpSp>
      <p:sp>
        <p:nvSpPr>
          <p:cNvPr id="493" name="Google Shape;493;p25"/>
          <p:cNvSpPr/>
          <p:nvPr/>
        </p:nvSpPr>
        <p:spPr>
          <a:xfrm>
            <a:off x="3409754" y="3547692"/>
            <a:ext cx="5372492" cy="1208617"/>
          </a:xfrm>
          <a:custGeom>
            <a:rect b="b" l="l" r="r" t="t"/>
            <a:pathLst>
              <a:path extrusionOk="0" h="1289191" w="5730658">
                <a:moveTo>
                  <a:pt x="0" y="0"/>
                </a:moveTo>
                <a:lnTo>
                  <a:pt x="5730658" y="0"/>
                </a:lnTo>
                <a:lnTo>
                  <a:pt x="5730658" y="1289192"/>
                </a:lnTo>
                <a:lnTo>
                  <a:pt x="0" y="1289192"/>
                </a:lnTo>
                <a:lnTo>
                  <a:pt x="0" y="0"/>
                </a:lnTo>
                <a:close/>
              </a:path>
            </a:pathLst>
          </a:custGeom>
          <a:blipFill rotWithShape="1">
            <a:blip r:embed="rId3">
              <a:alphaModFix/>
            </a:blip>
            <a:stretch>
              <a:fillRect b="-47974" l="-12255" r="-11251" t="-51038"/>
            </a:stretch>
          </a:blipFill>
          <a:ln>
            <a:noFill/>
          </a:ln>
        </p:spPr>
      </p:sp>
      <p:sp>
        <p:nvSpPr>
          <p:cNvPr id="494" name="Google Shape;494;p25"/>
          <p:cNvSpPr txBox="1"/>
          <p:nvPr/>
        </p:nvSpPr>
        <p:spPr>
          <a:xfrm>
            <a:off x="2553786" y="603046"/>
            <a:ext cx="7571289" cy="500137"/>
          </a:xfrm>
          <a:prstGeom prst="rect">
            <a:avLst/>
          </a:prstGeom>
          <a:noFill/>
          <a:ln>
            <a:noFill/>
          </a:ln>
        </p:spPr>
        <p:txBody>
          <a:bodyPr anchorCtr="0" anchor="t" bIns="0" lIns="0" spcFirstLastPara="1" rIns="0" wrap="square" tIns="0">
            <a:spAutoFit/>
          </a:bodyPr>
          <a:lstStyle/>
          <a:p>
            <a:pPr indent="0" lvl="0" marL="0" marR="0" rtl="0" algn="ctr">
              <a:lnSpc>
                <a:spcPct val="120024"/>
              </a:lnSpc>
              <a:spcBef>
                <a:spcPts val="0"/>
              </a:spcBef>
              <a:spcAft>
                <a:spcPts val="0"/>
              </a:spcAft>
              <a:buNone/>
            </a:pPr>
            <a:r>
              <a:rPr b="1" lang="en-US" sz="3281">
                <a:solidFill>
                  <a:srgbClr val="C00000"/>
                </a:solidFill>
                <a:latin typeface="Arial"/>
                <a:ea typeface="Arial"/>
                <a:cs typeface="Arial"/>
                <a:sym typeface="Arial"/>
              </a:rPr>
              <a:t>Entity Relationship Data Model</a:t>
            </a:r>
            <a:endParaRPr/>
          </a:p>
        </p:txBody>
      </p:sp>
      <p:sp>
        <p:nvSpPr>
          <p:cNvPr id="495" name="Google Shape;495;p25"/>
          <p:cNvSpPr txBox="1"/>
          <p:nvPr/>
        </p:nvSpPr>
        <p:spPr>
          <a:xfrm>
            <a:off x="1888730" y="1440286"/>
            <a:ext cx="2632501" cy="313034"/>
          </a:xfrm>
          <a:prstGeom prst="rect">
            <a:avLst/>
          </a:prstGeom>
          <a:noFill/>
          <a:ln>
            <a:noFill/>
          </a:ln>
        </p:spPr>
        <p:txBody>
          <a:bodyPr anchorCtr="0" anchor="t" bIns="0" lIns="0" spcFirstLastPara="1" rIns="0" wrap="square" tIns="0">
            <a:spAutoFit/>
          </a:bodyPr>
          <a:lstStyle/>
          <a:p>
            <a:pPr indent="0" lvl="0" marL="0" marR="0" rtl="0" algn="ctr">
              <a:lnSpc>
                <a:spcPct val="120037"/>
              </a:lnSpc>
              <a:spcBef>
                <a:spcPts val="0"/>
              </a:spcBef>
              <a:spcAft>
                <a:spcPts val="0"/>
              </a:spcAft>
              <a:buNone/>
            </a:pPr>
            <a:r>
              <a:rPr b="1" lang="en-US" sz="2156">
                <a:solidFill>
                  <a:srgbClr val="000000"/>
                </a:solidFill>
                <a:latin typeface="Arial"/>
                <a:ea typeface="Arial"/>
                <a:cs typeface="Arial"/>
                <a:sym typeface="Arial"/>
              </a:rPr>
              <a:t>What is Cardinality?</a:t>
            </a:r>
            <a:endParaRPr/>
          </a:p>
        </p:txBody>
      </p:sp>
      <p:sp>
        <p:nvSpPr>
          <p:cNvPr id="496" name="Google Shape;496;p25"/>
          <p:cNvSpPr txBox="1"/>
          <p:nvPr/>
        </p:nvSpPr>
        <p:spPr>
          <a:xfrm>
            <a:off x="2106184" y="1895700"/>
            <a:ext cx="8142724" cy="1750736"/>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None/>
            </a:pPr>
            <a:r>
              <a:rPr lang="en-US" sz="1875">
                <a:solidFill>
                  <a:srgbClr val="000000"/>
                </a:solidFill>
                <a:latin typeface="Arial"/>
                <a:ea typeface="Arial"/>
                <a:cs typeface="Arial"/>
                <a:sym typeface="Arial"/>
              </a:rPr>
              <a:t>The number of times an entity of an entity set participates in a relationship set is known as cardinality. Cardinality can be of different types:</a:t>
            </a:r>
            <a:endParaRPr/>
          </a:p>
          <a:p>
            <a:pPr indent="0" lvl="0" marL="0" marR="0" rtl="0" algn="just">
              <a:lnSpc>
                <a:spcPct val="120000"/>
              </a:lnSpc>
              <a:spcBef>
                <a:spcPts val="0"/>
              </a:spcBef>
              <a:spcAft>
                <a:spcPts val="0"/>
              </a:spcAft>
              <a:buNone/>
            </a:pPr>
            <a:r>
              <a:rPr b="1" lang="en-US" sz="1875">
                <a:solidFill>
                  <a:srgbClr val="000000"/>
                </a:solidFill>
                <a:latin typeface="Arial"/>
                <a:ea typeface="Arial"/>
                <a:cs typeface="Arial"/>
                <a:sym typeface="Arial"/>
              </a:rPr>
              <a:t>1. One-to-One:</a:t>
            </a:r>
            <a:r>
              <a:rPr lang="en-US" sz="1875">
                <a:solidFill>
                  <a:srgbClr val="000000"/>
                </a:solidFill>
                <a:latin typeface="Arial"/>
                <a:ea typeface="Arial"/>
                <a:cs typeface="Arial"/>
                <a:sym typeface="Arial"/>
              </a:rPr>
              <a:t> When each entity in each entity set can take part only once in the relationship, the cardinality is one-to-one. Let us assume that a male can marry one female, and a female can marry one male. So the relationship will be one-to-one.</a:t>
            </a:r>
            <a:endParaRPr/>
          </a:p>
        </p:txBody>
      </p:sp>
      <p:sp>
        <p:nvSpPr>
          <p:cNvPr id="497" name="Google Shape;497;p25"/>
          <p:cNvSpPr txBox="1"/>
          <p:nvPr/>
        </p:nvSpPr>
        <p:spPr>
          <a:xfrm>
            <a:off x="5009555" y="4988482"/>
            <a:ext cx="2172891" cy="546303"/>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i="1" lang="en-US" sz="1800">
                <a:solidFill>
                  <a:srgbClr val="000000"/>
                </a:solidFill>
                <a:latin typeface="Arial"/>
                <a:ea typeface="Arial"/>
                <a:cs typeface="Arial"/>
                <a:sym typeface="Arial"/>
              </a:rPr>
              <a:t>one to one cardinality</a:t>
            </a:r>
            <a:endParaRPr/>
          </a:p>
          <a:p>
            <a:pPr indent="0" lvl="0" marL="0" marR="0" rtl="0" algn="ctr">
              <a:lnSpc>
                <a:spcPct val="120000"/>
              </a:lnSpc>
              <a:spcBef>
                <a:spcPts val="0"/>
              </a:spcBef>
              <a:spcAft>
                <a:spcPts val="0"/>
              </a:spcAft>
              <a:buNone/>
            </a:pPr>
            <a:r>
              <a:t/>
            </a:r>
            <a:endParaRPr i="1" sz="1800">
              <a:solidFill>
                <a:srgbClr val="000000"/>
              </a:solidFill>
              <a:latin typeface="Arial"/>
              <a:ea typeface="Arial"/>
              <a:cs typeface="Arial"/>
              <a:sym typeface="Arial"/>
            </a:endParaRPr>
          </a:p>
        </p:txBody>
      </p:sp>
      <p:sp>
        <p:nvSpPr>
          <p:cNvPr id="498" name="Google Shape;498;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499" name="Google Shape;499;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grpSp>
        <p:nvGrpSpPr>
          <p:cNvPr id="508" name="Google Shape;508;p26"/>
          <p:cNvGrpSpPr/>
          <p:nvPr/>
        </p:nvGrpSpPr>
        <p:grpSpPr>
          <a:xfrm>
            <a:off x="1524000" y="6356604"/>
            <a:ext cx="9144000" cy="88404"/>
            <a:chOff x="0" y="0"/>
            <a:chExt cx="13004800" cy="125730"/>
          </a:xfrm>
        </p:grpSpPr>
        <p:sp>
          <p:nvSpPr>
            <p:cNvPr id="509" name="Google Shape;509;p26"/>
            <p:cNvSpPr/>
            <p:nvPr/>
          </p:nvSpPr>
          <p:spPr>
            <a:xfrm>
              <a:off x="0" y="100584"/>
              <a:ext cx="13004800" cy="25146"/>
            </a:xfrm>
            <a:custGeom>
              <a:rect b="b" l="l" r="r" t="t"/>
              <a:pathLst>
                <a:path extrusionOk="0" h="25146" w="13004800">
                  <a:moveTo>
                    <a:pt x="13004800" y="0"/>
                  </a:moveTo>
                  <a:lnTo>
                    <a:pt x="0" y="0"/>
                  </a:lnTo>
                  <a:lnTo>
                    <a:pt x="0" y="25146"/>
                  </a:lnTo>
                  <a:lnTo>
                    <a:pt x="13004800" y="25146"/>
                  </a:lnTo>
                  <a:lnTo>
                    <a:pt x="13004800" y="0"/>
                  </a:lnTo>
                  <a:close/>
                </a:path>
              </a:pathLst>
            </a:custGeom>
            <a:solidFill>
              <a:srgbClr val="C00000"/>
            </a:solidFill>
            <a:ln>
              <a:noFill/>
            </a:ln>
          </p:spPr>
        </p:sp>
        <p:sp>
          <p:nvSpPr>
            <p:cNvPr id="510" name="Google Shape;510;p26"/>
            <p:cNvSpPr/>
            <p:nvPr/>
          </p:nvSpPr>
          <p:spPr>
            <a:xfrm>
              <a:off x="0" y="0"/>
              <a:ext cx="13004800" cy="75438"/>
            </a:xfrm>
            <a:custGeom>
              <a:rect b="b" l="l" r="r" t="t"/>
              <a:pathLst>
                <a:path extrusionOk="0" h="75438" w="13004800">
                  <a:moveTo>
                    <a:pt x="13004800" y="0"/>
                  </a:moveTo>
                  <a:lnTo>
                    <a:pt x="0" y="0"/>
                  </a:lnTo>
                  <a:lnTo>
                    <a:pt x="0" y="75438"/>
                  </a:lnTo>
                  <a:lnTo>
                    <a:pt x="13004800" y="75438"/>
                  </a:lnTo>
                  <a:lnTo>
                    <a:pt x="13004800" y="0"/>
                  </a:lnTo>
                  <a:close/>
                </a:path>
              </a:pathLst>
            </a:custGeom>
            <a:solidFill>
              <a:srgbClr val="C00000"/>
            </a:solidFill>
            <a:ln>
              <a:noFill/>
            </a:ln>
          </p:spPr>
        </p:sp>
      </p:grpSp>
      <p:sp>
        <p:nvSpPr>
          <p:cNvPr id="511" name="Google Shape;511;p26"/>
          <p:cNvSpPr/>
          <p:nvPr/>
        </p:nvSpPr>
        <p:spPr>
          <a:xfrm>
            <a:off x="3549459" y="3255574"/>
            <a:ext cx="5093082" cy="1064608"/>
          </a:xfrm>
          <a:custGeom>
            <a:rect b="b" l="l" r="r" t="t"/>
            <a:pathLst>
              <a:path extrusionOk="0" h="1135582" w="5432621">
                <a:moveTo>
                  <a:pt x="0" y="0"/>
                </a:moveTo>
                <a:lnTo>
                  <a:pt x="5432622" y="0"/>
                </a:lnTo>
                <a:lnTo>
                  <a:pt x="5432622" y="1135582"/>
                </a:lnTo>
                <a:lnTo>
                  <a:pt x="0" y="1135582"/>
                </a:lnTo>
                <a:lnTo>
                  <a:pt x="0" y="0"/>
                </a:lnTo>
                <a:close/>
              </a:path>
            </a:pathLst>
          </a:custGeom>
          <a:blipFill rotWithShape="1">
            <a:blip r:embed="rId3">
              <a:alphaModFix/>
            </a:blip>
            <a:stretch>
              <a:fillRect b="-48499" l="-10644" r="-10642" t="-61836"/>
            </a:stretch>
          </a:blipFill>
          <a:ln>
            <a:noFill/>
          </a:ln>
        </p:spPr>
      </p:sp>
      <p:sp>
        <p:nvSpPr>
          <p:cNvPr id="512" name="Google Shape;512;p26"/>
          <p:cNvSpPr txBox="1"/>
          <p:nvPr/>
        </p:nvSpPr>
        <p:spPr>
          <a:xfrm>
            <a:off x="2553786" y="603046"/>
            <a:ext cx="7571289" cy="500137"/>
          </a:xfrm>
          <a:prstGeom prst="rect">
            <a:avLst/>
          </a:prstGeom>
          <a:noFill/>
          <a:ln>
            <a:noFill/>
          </a:ln>
        </p:spPr>
        <p:txBody>
          <a:bodyPr anchorCtr="0" anchor="t" bIns="0" lIns="0" spcFirstLastPara="1" rIns="0" wrap="square" tIns="0">
            <a:spAutoFit/>
          </a:bodyPr>
          <a:lstStyle/>
          <a:p>
            <a:pPr indent="0" lvl="0" marL="0" marR="0" rtl="0" algn="ctr">
              <a:lnSpc>
                <a:spcPct val="120024"/>
              </a:lnSpc>
              <a:spcBef>
                <a:spcPts val="0"/>
              </a:spcBef>
              <a:spcAft>
                <a:spcPts val="0"/>
              </a:spcAft>
              <a:buNone/>
            </a:pPr>
            <a:r>
              <a:rPr b="1" lang="en-US" sz="3281">
                <a:solidFill>
                  <a:srgbClr val="C00000"/>
                </a:solidFill>
                <a:latin typeface="Arial"/>
                <a:ea typeface="Arial"/>
                <a:cs typeface="Arial"/>
                <a:sym typeface="Arial"/>
              </a:rPr>
              <a:t>Entity Relationship Data Model</a:t>
            </a:r>
            <a:endParaRPr/>
          </a:p>
        </p:txBody>
      </p:sp>
      <p:sp>
        <p:nvSpPr>
          <p:cNvPr id="513" name="Google Shape;513;p26"/>
          <p:cNvSpPr txBox="1"/>
          <p:nvPr/>
        </p:nvSpPr>
        <p:spPr>
          <a:xfrm>
            <a:off x="2026863" y="1590080"/>
            <a:ext cx="8098212" cy="1455783"/>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None/>
            </a:pPr>
            <a:r>
              <a:rPr b="1" lang="en-US" sz="1875">
                <a:solidFill>
                  <a:srgbClr val="000000"/>
                </a:solidFill>
                <a:latin typeface="Arial"/>
                <a:ea typeface="Arial"/>
                <a:cs typeface="Arial"/>
                <a:sym typeface="Arial"/>
              </a:rPr>
              <a:t>2. One-to-Many:</a:t>
            </a:r>
            <a:r>
              <a:rPr lang="en-US" sz="1875">
                <a:solidFill>
                  <a:srgbClr val="000000"/>
                </a:solidFill>
                <a:latin typeface="Arial"/>
                <a:ea typeface="Arial"/>
                <a:cs typeface="Arial"/>
                <a:sym typeface="Arial"/>
              </a:rPr>
              <a:t> In one-to-many mapping as well where each entity can be related to more than one entity and the total number of tables that can be used in this is 2. Let us assume that one surgeon department can accommodate many doctors. So the Cardinality will be 1 to M. It means one department has many Doctors.</a:t>
            </a:r>
            <a:endParaRPr/>
          </a:p>
        </p:txBody>
      </p:sp>
      <p:sp>
        <p:nvSpPr>
          <p:cNvPr id="514" name="Google Shape;514;p26"/>
          <p:cNvSpPr txBox="1"/>
          <p:nvPr/>
        </p:nvSpPr>
        <p:spPr>
          <a:xfrm>
            <a:off x="4920723" y="4552354"/>
            <a:ext cx="2350554" cy="546303"/>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i="1" lang="en-US" sz="1800">
                <a:solidFill>
                  <a:srgbClr val="000000"/>
                </a:solidFill>
                <a:latin typeface="Arial"/>
                <a:ea typeface="Arial"/>
                <a:cs typeface="Arial"/>
                <a:sym typeface="Arial"/>
              </a:rPr>
              <a:t>one to many cardinality</a:t>
            </a:r>
            <a:endParaRPr/>
          </a:p>
          <a:p>
            <a:pPr indent="0" lvl="0" marL="0" marR="0" rtl="0" algn="ctr">
              <a:lnSpc>
                <a:spcPct val="120000"/>
              </a:lnSpc>
              <a:spcBef>
                <a:spcPts val="0"/>
              </a:spcBef>
              <a:spcAft>
                <a:spcPts val="0"/>
              </a:spcAft>
              <a:buNone/>
            </a:pPr>
            <a:r>
              <a:t/>
            </a:r>
            <a:endParaRPr i="1" sz="1800">
              <a:solidFill>
                <a:srgbClr val="000000"/>
              </a:solidFill>
              <a:latin typeface="Arial"/>
              <a:ea typeface="Arial"/>
              <a:cs typeface="Arial"/>
              <a:sym typeface="Arial"/>
            </a:endParaRPr>
          </a:p>
        </p:txBody>
      </p:sp>
      <p:sp>
        <p:nvSpPr>
          <p:cNvPr id="515" name="Google Shape;515;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516" name="Google Shape;516;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grpSp>
        <p:nvGrpSpPr>
          <p:cNvPr id="525" name="Google Shape;525;p27"/>
          <p:cNvGrpSpPr/>
          <p:nvPr/>
        </p:nvGrpSpPr>
        <p:grpSpPr>
          <a:xfrm>
            <a:off x="1524000" y="6356604"/>
            <a:ext cx="9144000" cy="88404"/>
            <a:chOff x="0" y="0"/>
            <a:chExt cx="13004800" cy="125730"/>
          </a:xfrm>
        </p:grpSpPr>
        <p:sp>
          <p:nvSpPr>
            <p:cNvPr id="526" name="Google Shape;526;p27"/>
            <p:cNvSpPr/>
            <p:nvPr/>
          </p:nvSpPr>
          <p:spPr>
            <a:xfrm>
              <a:off x="0" y="100584"/>
              <a:ext cx="13004800" cy="25146"/>
            </a:xfrm>
            <a:custGeom>
              <a:rect b="b" l="l" r="r" t="t"/>
              <a:pathLst>
                <a:path extrusionOk="0" h="25146" w="13004800">
                  <a:moveTo>
                    <a:pt x="13004800" y="0"/>
                  </a:moveTo>
                  <a:lnTo>
                    <a:pt x="0" y="0"/>
                  </a:lnTo>
                  <a:lnTo>
                    <a:pt x="0" y="25146"/>
                  </a:lnTo>
                  <a:lnTo>
                    <a:pt x="13004800" y="25146"/>
                  </a:lnTo>
                  <a:lnTo>
                    <a:pt x="13004800" y="0"/>
                  </a:lnTo>
                  <a:close/>
                </a:path>
              </a:pathLst>
            </a:custGeom>
            <a:solidFill>
              <a:srgbClr val="C00000"/>
            </a:solidFill>
            <a:ln>
              <a:noFill/>
            </a:ln>
          </p:spPr>
        </p:sp>
        <p:sp>
          <p:nvSpPr>
            <p:cNvPr id="527" name="Google Shape;527;p27"/>
            <p:cNvSpPr/>
            <p:nvPr/>
          </p:nvSpPr>
          <p:spPr>
            <a:xfrm>
              <a:off x="0" y="0"/>
              <a:ext cx="13004800" cy="75438"/>
            </a:xfrm>
            <a:custGeom>
              <a:rect b="b" l="l" r="r" t="t"/>
              <a:pathLst>
                <a:path extrusionOk="0" h="75438" w="13004800">
                  <a:moveTo>
                    <a:pt x="13004800" y="0"/>
                  </a:moveTo>
                  <a:lnTo>
                    <a:pt x="0" y="0"/>
                  </a:lnTo>
                  <a:lnTo>
                    <a:pt x="0" y="75438"/>
                  </a:lnTo>
                  <a:lnTo>
                    <a:pt x="13004800" y="75438"/>
                  </a:lnTo>
                  <a:lnTo>
                    <a:pt x="13004800" y="0"/>
                  </a:lnTo>
                  <a:close/>
                </a:path>
              </a:pathLst>
            </a:custGeom>
            <a:solidFill>
              <a:srgbClr val="C00000"/>
            </a:solidFill>
            <a:ln>
              <a:noFill/>
            </a:ln>
          </p:spPr>
        </p:sp>
      </p:grpSp>
      <p:sp>
        <p:nvSpPr>
          <p:cNvPr id="528" name="Google Shape;528;p27"/>
          <p:cNvSpPr/>
          <p:nvPr/>
        </p:nvSpPr>
        <p:spPr>
          <a:xfrm>
            <a:off x="3483300" y="3786783"/>
            <a:ext cx="5225400" cy="1334916"/>
          </a:xfrm>
          <a:custGeom>
            <a:rect b="b" l="l" r="r" t="t"/>
            <a:pathLst>
              <a:path extrusionOk="0" h="1423910" w="5573760">
                <a:moveTo>
                  <a:pt x="0" y="0"/>
                </a:moveTo>
                <a:lnTo>
                  <a:pt x="5573760" y="0"/>
                </a:lnTo>
                <a:lnTo>
                  <a:pt x="5573760" y="1423910"/>
                </a:lnTo>
                <a:lnTo>
                  <a:pt x="0" y="1423910"/>
                </a:lnTo>
                <a:lnTo>
                  <a:pt x="0" y="0"/>
                </a:lnTo>
                <a:close/>
              </a:path>
            </a:pathLst>
          </a:custGeom>
          <a:blipFill rotWithShape="1">
            <a:blip r:embed="rId3">
              <a:alphaModFix/>
            </a:blip>
            <a:stretch>
              <a:fillRect b="-37958" l="-13102" r="-12317" t="-40006"/>
            </a:stretch>
          </a:blipFill>
          <a:ln>
            <a:noFill/>
          </a:ln>
        </p:spPr>
      </p:sp>
      <p:sp>
        <p:nvSpPr>
          <p:cNvPr id="529" name="Google Shape;529;p27"/>
          <p:cNvSpPr txBox="1"/>
          <p:nvPr/>
        </p:nvSpPr>
        <p:spPr>
          <a:xfrm>
            <a:off x="2553786" y="603046"/>
            <a:ext cx="7571289" cy="500137"/>
          </a:xfrm>
          <a:prstGeom prst="rect">
            <a:avLst/>
          </a:prstGeom>
          <a:noFill/>
          <a:ln>
            <a:noFill/>
          </a:ln>
        </p:spPr>
        <p:txBody>
          <a:bodyPr anchorCtr="0" anchor="t" bIns="0" lIns="0" spcFirstLastPara="1" rIns="0" wrap="square" tIns="0">
            <a:spAutoFit/>
          </a:bodyPr>
          <a:lstStyle/>
          <a:p>
            <a:pPr indent="0" lvl="0" marL="0" marR="0" rtl="0" algn="ctr">
              <a:lnSpc>
                <a:spcPct val="120024"/>
              </a:lnSpc>
              <a:spcBef>
                <a:spcPts val="0"/>
              </a:spcBef>
              <a:spcAft>
                <a:spcPts val="0"/>
              </a:spcAft>
              <a:buNone/>
            </a:pPr>
            <a:r>
              <a:rPr b="1" lang="en-US" sz="3281">
                <a:solidFill>
                  <a:srgbClr val="C00000"/>
                </a:solidFill>
                <a:latin typeface="Arial"/>
                <a:ea typeface="Arial"/>
                <a:cs typeface="Arial"/>
                <a:sym typeface="Arial"/>
              </a:rPr>
              <a:t>Entity Relationship Data Model</a:t>
            </a:r>
            <a:endParaRPr/>
          </a:p>
        </p:txBody>
      </p:sp>
      <p:sp>
        <p:nvSpPr>
          <p:cNvPr id="530" name="Google Shape;530;p27"/>
          <p:cNvSpPr txBox="1"/>
          <p:nvPr/>
        </p:nvSpPr>
        <p:spPr>
          <a:xfrm>
            <a:off x="1931255" y="1590079"/>
            <a:ext cx="8329490" cy="2045688"/>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None/>
            </a:pPr>
            <a:r>
              <a:rPr b="1" lang="en-US" sz="1875">
                <a:solidFill>
                  <a:srgbClr val="000000"/>
                </a:solidFill>
                <a:latin typeface="Arial"/>
                <a:ea typeface="Arial"/>
                <a:cs typeface="Arial"/>
                <a:sym typeface="Arial"/>
              </a:rPr>
              <a:t>3. Many-to-One:</a:t>
            </a:r>
            <a:r>
              <a:rPr lang="en-US" sz="1875">
                <a:solidFill>
                  <a:srgbClr val="000000"/>
                </a:solidFill>
                <a:latin typeface="Arial"/>
                <a:ea typeface="Arial"/>
                <a:cs typeface="Arial"/>
                <a:sym typeface="Arial"/>
              </a:rPr>
              <a:t> When entities in one entity set can take part only once in the relationship set and entities in other entity sets can take part more than once in the relationship set, cardinality is many to one. Let us assume that a student can take only one course but one course can be taken by many students. So the cardinality will be n to 1. It means that for one course there can be n students but for one student, there will be only one course. The total number of tables that can be used in this is 3.</a:t>
            </a:r>
            <a:endParaRPr/>
          </a:p>
        </p:txBody>
      </p:sp>
      <p:sp>
        <p:nvSpPr>
          <p:cNvPr id="531" name="Google Shape;531;p27"/>
          <p:cNvSpPr txBox="1"/>
          <p:nvPr/>
        </p:nvSpPr>
        <p:spPr>
          <a:xfrm>
            <a:off x="4920723" y="5077051"/>
            <a:ext cx="2350554" cy="546303"/>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i="1" lang="en-US" sz="1800">
                <a:solidFill>
                  <a:srgbClr val="000000"/>
                </a:solidFill>
                <a:latin typeface="Arial"/>
                <a:ea typeface="Arial"/>
                <a:cs typeface="Arial"/>
                <a:sym typeface="Arial"/>
              </a:rPr>
              <a:t>many to one cardinality</a:t>
            </a:r>
            <a:endParaRPr/>
          </a:p>
          <a:p>
            <a:pPr indent="0" lvl="0" marL="0" marR="0" rtl="0" algn="ctr">
              <a:lnSpc>
                <a:spcPct val="120000"/>
              </a:lnSpc>
              <a:spcBef>
                <a:spcPts val="0"/>
              </a:spcBef>
              <a:spcAft>
                <a:spcPts val="0"/>
              </a:spcAft>
              <a:buNone/>
            </a:pPr>
            <a:r>
              <a:t/>
            </a:r>
            <a:endParaRPr i="1" sz="1800">
              <a:solidFill>
                <a:srgbClr val="000000"/>
              </a:solidFill>
              <a:latin typeface="Arial"/>
              <a:ea typeface="Arial"/>
              <a:cs typeface="Arial"/>
              <a:sym typeface="Arial"/>
            </a:endParaRPr>
          </a:p>
        </p:txBody>
      </p:sp>
      <p:sp>
        <p:nvSpPr>
          <p:cNvPr id="532" name="Google Shape;532;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533" name="Google Shape;533;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grpSp>
        <p:nvGrpSpPr>
          <p:cNvPr id="542" name="Google Shape;542;p28"/>
          <p:cNvGrpSpPr/>
          <p:nvPr/>
        </p:nvGrpSpPr>
        <p:grpSpPr>
          <a:xfrm>
            <a:off x="1524000" y="6356604"/>
            <a:ext cx="9144000" cy="88404"/>
            <a:chOff x="0" y="0"/>
            <a:chExt cx="13004800" cy="125730"/>
          </a:xfrm>
        </p:grpSpPr>
        <p:sp>
          <p:nvSpPr>
            <p:cNvPr id="543" name="Google Shape;543;p28"/>
            <p:cNvSpPr/>
            <p:nvPr/>
          </p:nvSpPr>
          <p:spPr>
            <a:xfrm>
              <a:off x="0" y="100584"/>
              <a:ext cx="13004800" cy="25146"/>
            </a:xfrm>
            <a:custGeom>
              <a:rect b="b" l="l" r="r" t="t"/>
              <a:pathLst>
                <a:path extrusionOk="0" h="25146" w="13004800">
                  <a:moveTo>
                    <a:pt x="13004800" y="0"/>
                  </a:moveTo>
                  <a:lnTo>
                    <a:pt x="0" y="0"/>
                  </a:lnTo>
                  <a:lnTo>
                    <a:pt x="0" y="25146"/>
                  </a:lnTo>
                  <a:lnTo>
                    <a:pt x="13004800" y="25146"/>
                  </a:lnTo>
                  <a:lnTo>
                    <a:pt x="13004800" y="0"/>
                  </a:lnTo>
                  <a:close/>
                </a:path>
              </a:pathLst>
            </a:custGeom>
            <a:solidFill>
              <a:srgbClr val="C00000"/>
            </a:solidFill>
            <a:ln>
              <a:noFill/>
            </a:ln>
          </p:spPr>
        </p:sp>
        <p:sp>
          <p:nvSpPr>
            <p:cNvPr id="544" name="Google Shape;544;p28"/>
            <p:cNvSpPr/>
            <p:nvPr/>
          </p:nvSpPr>
          <p:spPr>
            <a:xfrm>
              <a:off x="0" y="0"/>
              <a:ext cx="13004800" cy="75438"/>
            </a:xfrm>
            <a:custGeom>
              <a:rect b="b" l="l" r="r" t="t"/>
              <a:pathLst>
                <a:path extrusionOk="0" h="75438" w="13004800">
                  <a:moveTo>
                    <a:pt x="13004800" y="0"/>
                  </a:moveTo>
                  <a:lnTo>
                    <a:pt x="0" y="0"/>
                  </a:lnTo>
                  <a:lnTo>
                    <a:pt x="0" y="75438"/>
                  </a:lnTo>
                  <a:lnTo>
                    <a:pt x="13004800" y="75438"/>
                  </a:lnTo>
                  <a:lnTo>
                    <a:pt x="13004800" y="0"/>
                  </a:lnTo>
                  <a:close/>
                </a:path>
              </a:pathLst>
            </a:custGeom>
            <a:solidFill>
              <a:srgbClr val="C00000"/>
            </a:solidFill>
            <a:ln>
              <a:noFill/>
            </a:ln>
          </p:spPr>
        </p:sp>
      </p:grpSp>
      <p:sp>
        <p:nvSpPr>
          <p:cNvPr id="545" name="Google Shape;545;p28"/>
          <p:cNvSpPr/>
          <p:nvPr/>
        </p:nvSpPr>
        <p:spPr>
          <a:xfrm>
            <a:off x="3502964" y="3188494"/>
            <a:ext cx="5186072" cy="1126889"/>
          </a:xfrm>
          <a:custGeom>
            <a:rect b="b" l="l" r="r" t="t"/>
            <a:pathLst>
              <a:path extrusionOk="0" h="1202015" w="5531810">
                <a:moveTo>
                  <a:pt x="0" y="0"/>
                </a:moveTo>
                <a:lnTo>
                  <a:pt x="5531810" y="0"/>
                </a:lnTo>
                <a:lnTo>
                  <a:pt x="5531810" y="1202015"/>
                </a:lnTo>
                <a:lnTo>
                  <a:pt x="0" y="1202015"/>
                </a:lnTo>
                <a:lnTo>
                  <a:pt x="0" y="0"/>
                </a:lnTo>
                <a:close/>
              </a:path>
            </a:pathLst>
          </a:custGeom>
          <a:blipFill rotWithShape="1">
            <a:blip r:embed="rId3">
              <a:alphaModFix/>
            </a:blip>
            <a:stretch>
              <a:fillRect b="-48499" l="-11855" r="-14224" t="-61836"/>
            </a:stretch>
          </a:blipFill>
          <a:ln>
            <a:noFill/>
          </a:ln>
        </p:spPr>
      </p:sp>
      <p:sp>
        <p:nvSpPr>
          <p:cNvPr id="546" name="Google Shape;546;p28"/>
          <p:cNvSpPr txBox="1"/>
          <p:nvPr/>
        </p:nvSpPr>
        <p:spPr>
          <a:xfrm>
            <a:off x="2553786" y="603046"/>
            <a:ext cx="7571289" cy="500137"/>
          </a:xfrm>
          <a:prstGeom prst="rect">
            <a:avLst/>
          </a:prstGeom>
          <a:noFill/>
          <a:ln>
            <a:noFill/>
          </a:ln>
        </p:spPr>
        <p:txBody>
          <a:bodyPr anchorCtr="0" anchor="t" bIns="0" lIns="0" spcFirstLastPara="1" rIns="0" wrap="square" tIns="0">
            <a:spAutoFit/>
          </a:bodyPr>
          <a:lstStyle/>
          <a:p>
            <a:pPr indent="0" lvl="0" marL="0" marR="0" rtl="0" algn="ctr">
              <a:lnSpc>
                <a:spcPct val="120024"/>
              </a:lnSpc>
              <a:spcBef>
                <a:spcPts val="0"/>
              </a:spcBef>
              <a:spcAft>
                <a:spcPts val="0"/>
              </a:spcAft>
              <a:buNone/>
            </a:pPr>
            <a:r>
              <a:rPr b="1" lang="en-US" sz="3281">
                <a:solidFill>
                  <a:srgbClr val="C00000"/>
                </a:solidFill>
                <a:latin typeface="Arial"/>
                <a:ea typeface="Arial"/>
                <a:cs typeface="Arial"/>
                <a:sym typeface="Arial"/>
              </a:rPr>
              <a:t>Entity Relationship Data Model</a:t>
            </a:r>
            <a:endParaRPr/>
          </a:p>
        </p:txBody>
      </p:sp>
      <p:sp>
        <p:nvSpPr>
          <p:cNvPr id="547" name="Google Shape;547;p28"/>
          <p:cNvSpPr txBox="1"/>
          <p:nvPr/>
        </p:nvSpPr>
        <p:spPr>
          <a:xfrm>
            <a:off x="1866900" y="1527572"/>
            <a:ext cx="8458200" cy="1455783"/>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None/>
            </a:pPr>
            <a:r>
              <a:rPr b="1" lang="en-US" sz="1875">
                <a:solidFill>
                  <a:srgbClr val="000000"/>
                </a:solidFill>
                <a:latin typeface="Arial"/>
                <a:ea typeface="Arial"/>
                <a:cs typeface="Arial"/>
                <a:sym typeface="Arial"/>
              </a:rPr>
              <a:t>4. Many-to-Many:</a:t>
            </a:r>
            <a:r>
              <a:rPr lang="en-US" sz="1875">
                <a:solidFill>
                  <a:srgbClr val="000000"/>
                </a:solidFill>
                <a:latin typeface="Arial"/>
                <a:ea typeface="Arial"/>
                <a:cs typeface="Arial"/>
                <a:sym typeface="Arial"/>
              </a:rPr>
              <a:t> When entities in all entity sets can take part more than once in the relationship cardinality is many to many. Let us assume that a student can take more than one course and one course can be taken by many students. So the relationship will be many to many. The total number of tables that can be used in this is 3.</a:t>
            </a:r>
            <a:endParaRPr/>
          </a:p>
        </p:txBody>
      </p:sp>
      <p:sp>
        <p:nvSpPr>
          <p:cNvPr id="548" name="Google Shape;548;p28"/>
          <p:cNvSpPr txBox="1"/>
          <p:nvPr/>
        </p:nvSpPr>
        <p:spPr>
          <a:xfrm>
            <a:off x="4831943" y="4476706"/>
            <a:ext cx="2528114" cy="546303"/>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i="1" lang="en-US" sz="1800">
                <a:solidFill>
                  <a:srgbClr val="000000"/>
                </a:solidFill>
                <a:latin typeface="Arial"/>
                <a:ea typeface="Arial"/>
                <a:cs typeface="Arial"/>
                <a:sym typeface="Arial"/>
              </a:rPr>
              <a:t>many to many cardinality</a:t>
            </a:r>
            <a:endParaRPr/>
          </a:p>
          <a:p>
            <a:pPr indent="0" lvl="0" marL="0" marR="0" rtl="0" algn="ctr">
              <a:lnSpc>
                <a:spcPct val="120000"/>
              </a:lnSpc>
              <a:spcBef>
                <a:spcPts val="0"/>
              </a:spcBef>
              <a:spcAft>
                <a:spcPts val="0"/>
              </a:spcAft>
              <a:buNone/>
            </a:pPr>
            <a:r>
              <a:t/>
            </a:r>
            <a:endParaRPr i="1" sz="1800">
              <a:solidFill>
                <a:srgbClr val="000000"/>
              </a:solidFill>
              <a:latin typeface="Arial"/>
              <a:ea typeface="Arial"/>
              <a:cs typeface="Arial"/>
              <a:sym typeface="Arial"/>
            </a:endParaRPr>
          </a:p>
        </p:txBody>
      </p:sp>
      <p:sp>
        <p:nvSpPr>
          <p:cNvPr id="549" name="Google Shape;549;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550" name="Google Shape;550;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grpSp>
        <p:nvGrpSpPr>
          <p:cNvPr id="559" name="Google Shape;559;p29"/>
          <p:cNvGrpSpPr/>
          <p:nvPr/>
        </p:nvGrpSpPr>
        <p:grpSpPr>
          <a:xfrm>
            <a:off x="1524000" y="6356604"/>
            <a:ext cx="9144000" cy="88404"/>
            <a:chOff x="0" y="0"/>
            <a:chExt cx="13004800" cy="125730"/>
          </a:xfrm>
        </p:grpSpPr>
        <p:sp>
          <p:nvSpPr>
            <p:cNvPr id="560" name="Google Shape;560;p29"/>
            <p:cNvSpPr/>
            <p:nvPr/>
          </p:nvSpPr>
          <p:spPr>
            <a:xfrm>
              <a:off x="0" y="100584"/>
              <a:ext cx="13004800" cy="25146"/>
            </a:xfrm>
            <a:custGeom>
              <a:rect b="b" l="l" r="r" t="t"/>
              <a:pathLst>
                <a:path extrusionOk="0" h="25146" w="13004800">
                  <a:moveTo>
                    <a:pt x="13004800" y="0"/>
                  </a:moveTo>
                  <a:lnTo>
                    <a:pt x="0" y="0"/>
                  </a:lnTo>
                  <a:lnTo>
                    <a:pt x="0" y="25146"/>
                  </a:lnTo>
                  <a:lnTo>
                    <a:pt x="13004800" y="25146"/>
                  </a:lnTo>
                  <a:lnTo>
                    <a:pt x="13004800" y="0"/>
                  </a:lnTo>
                  <a:close/>
                </a:path>
              </a:pathLst>
            </a:custGeom>
            <a:solidFill>
              <a:srgbClr val="C00000"/>
            </a:solidFill>
            <a:ln>
              <a:noFill/>
            </a:ln>
          </p:spPr>
        </p:sp>
        <p:sp>
          <p:nvSpPr>
            <p:cNvPr id="561" name="Google Shape;561;p29"/>
            <p:cNvSpPr/>
            <p:nvPr/>
          </p:nvSpPr>
          <p:spPr>
            <a:xfrm>
              <a:off x="0" y="0"/>
              <a:ext cx="13004800" cy="75438"/>
            </a:xfrm>
            <a:custGeom>
              <a:rect b="b" l="l" r="r" t="t"/>
              <a:pathLst>
                <a:path extrusionOk="0" h="75438" w="13004800">
                  <a:moveTo>
                    <a:pt x="13004800" y="0"/>
                  </a:moveTo>
                  <a:lnTo>
                    <a:pt x="0" y="0"/>
                  </a:lnTo>
                  <a:lnTo>
                    <a:pt x="0" y="75438"/>
                  </a:lnTo>
                  <a:lnTo>
                    <a:pt x="13004800" y="75438"/>
                  </a:lnTo>
                  <a:lnTo>
                    <a:pt x="13004800" y="0"/>
                  </a:lnTo>
                  <a:close/>
                </a:path>
              </a:pathLst>
            </a:custGeom>
            <a:solidFill>
              <a:srgbClr val="C00000"/>
            </a:solidFill>
            <a:ln>
              <a:noFill/>
            </a:ln>
          </p:spPr>
        </p:sp>
      </p:grpSp>
      <p:sp>
        <p:nvSpPr>
          <p:cNvPr id="562" name="Google Shape;562;p29"/>
          <p:cNvSpPr txBox="1"/>
          <p:nvPr/>
        </p:nvSpPr>
        <p:spPr>
          <a:xfrm>
            <a:off x="2553786" y="603046"/>
            <a:ext cx="7571289" cy="500137"/>
          </a:xfrm>
          <a:prstGeom prst="rect">
            <a:avLst/>
          </a:prstGeom>
          <a:noFill/>
          <a:ln>
            <a:noFill/>
          </a:ln>
        </p:spPr>
        <p:txBody>
          <a:bodyPr anchorCtr="0" anchor="t" bIns="0" lIns="0" spcFirstLastPara="1" rIns="0" wrap="square" tIns="0">
            <a:spAutoFit/>
          </a:bodyPr>
          <a:lstStyle/>
          <a:p>
            <a:pPr indent="0" lvl="0" marL="0" marR="0" rtl="0" algn="ctr">
              <a:lnSpc>
                <a:spcPct val="120024"/>
              </a:lnSpc>
              <a:spcBef>
                <a:spcPts val="0"/>
              </a:spcBef>
              <a:spcAft>
                <a:spcPts val="0"/>
              </a:spcAft>
              <a:buNone/>
            </a:pPr>
            <a:r>
              <a:rPr b="1" lang="en-US" sz="3281">
                <a:solidFill>
                  <a:srgbClr val="C00000"/>
                </a:solidFill>
                <a:latin typeface="Arial"/>
                <a:ea typeface="Arial"/>
                <a:cs typeface="Arial"/>
                <a:sym typeface="Arial"/>
              </a:rPr>
              <a:t>Entity Relationship Data Model</a:t>
            </a:r>
            <a:endParaRPr/>
          </a:p>
        </p:txBody>
      </p:sp>
      <p:sp>
        <p:nvSpPr>
          <p:cNvPr id="563" name="Google Shape;563;p29"/>
          <p:cNvSpPr txBox="1"/>
          <p:nvPr/>
        </p:nvSpPr>
        <p:spPr>
          <a:xfrm>
            <a:off x="1909801" y="3209950"/>
            <a:ext cx="9039900" cy="3059100"/>
          </a:xfrm>
          <a:prstGeom prst="rect">
            <a:avLst/>
          </a:prstGeom>
          <a:noFill/>
          <a:ln>
            <a:noFill/>
          </a:ln>
        </p:spPr>
        <p:txBody>
          <a:bodyPr anchorCtr="0" anchor="t" bIns="0" lIns="0" spcFirstLastPara="1" rIns="0" wrap="square" tIns="0">
            <a:spAutoFit/>
          </a:bodyPr>
          <a:lstStyle/>
          <a:p>
            <a:pPr indent="0" lvl="0" marL="0" marR="0" rtl="0" algn="just">
              <a:lnSpc>
                <a:spcPct val="133293"/>
              </a:lnSpc>
              <a:spcBef>
                <a:spcPts val="0"/>
              </a:spcBef>
              <a:spcAft>
                <a:spcPts val="0"/>
              </a:spcAft>
              <a:buNone/>
            </a:pPr>
            <a:r>
              <a:t/>
            </a:r>
            <a:endParaRPr sz="1687">
              <a:solidFill>
                <a:schemeClr val="dk1"/>
              </a:solidFill>
              <a:latin typeface="Calibri"/>
              <a:ea typeface="Calibri"/>
              <a:cs typeface="Calibri"/>
              <a:sym typeface="Calibri"/>
            </a:endParaRPr>
          </a:p>
          <a:p>
            <a:pPr indent="-202406" lvl="1" marL="404813" marR="0" rtl="0" algn="just">
              <a:lnSpc>
                <a:spcPct val="120000"/>
              </a:lnSpc>
              <a:spcBef>
                <a:spcPts val="0"/>
              </a:spcBef>
              <a:spcAft>
                <a:spcPts val="0"/>
              </a:spcAft>
              <a:buClr>
                <a:srgbClr val="000000"/>
              </a:buClr>
              <a:buSzPts val="1875"/>
              <a:buFont typeface="Arial"/>
              <a:buAutoNum type="arabicPeriod"/>
            </a:pPr>
            <a:r>
              <a:rPr b="0" i="0" lang="en-US" sz="1875" u="none" cap="none" strike="noStrike">
                <a:solidFill>
                  <a:srgbClr val="000000"/>
                </a:solidFill>
                <a:latin typeface="Arial"/>
                <a:ea typeface="Arial"/>
                <a:cs typeface="Arial"/>
                <a:sym typeface="Arial"/>
              </a:rPr>
              <a:t>ER diagrams represent the E-R model in a database, making them easy to convert into relations (tables).</a:t>
            </a:r>
            <a:endParaRPr/>
          </a:p>
          <a:p>
            <a:pPr indent="-202406" lvl="1" marL="404813" marR="0" rtl="0" algn="just">
              <a:lnSpc>
                <a:spcPct val="120000"/>
              </a:lnSpc>
              <a:spcBef>
                <a:spcPts val="0"/>
              </a:spcBef>
              <a:spcAft>
                <a:spcPts val="0"/>
              </a:spcAft>
              <a:buClr>
                <a:srgbClr val="000000"/>
              </a:buClr>
              <a:buSzPts val="1875"/>
              <a:buFont typeface="Arial"/>
              <a:buAutoNum type="arabicPeriod"/>
            </a:pPr>
            <a:r>
              <a:rPr b="0" i="0" lang="en-US" sz="1875" u="none" cap="none" strike="noStrike">
                <a:solidFill>
                  <a:srgbClr val="000000"/>
                </a:solidFill>
                <a:latin typeface="Arial"/>
                <a:ea typeface="Arial"/>
                <a:cs typeface="Arial"/>
                <a:sym typeface="Arial"/>
              </a:rPr>
              <a:t>ER diagrams provide the purpose of real-world modeling of objects which makes them intently useful.</a:t>
            </a:r>
            <a:endParaRPr/>
          </a:p>
          <a:p>
            <a:pPr indent="-202406" lvl="1" marL="404813" marR="0" rtl="0" algn="just">
              <a:lnSpc>
                <a:spcPct val="120000"/>
              </a:lnSpc>
              <a:spcBef>
                <a:spcPts val="0"/>
              </a:spcBef>
              <a:spcAft>
                <a:spcPts val="0"/>
              </a:spcAft>
              <a:buClr>
                <a:srgbClr val="000000"/>
              </a:buClr>
              <a:buSzPts val="1875"/>
              <a:buFont typeface="Arial"/>
              <a:buAutoNum type="arabicPeriod"/>
            </a:pPr>
            <a:r>
              <a:rPr b="0" i="0" lang="en-US" sz="1875" u="none" cap="none" strike="noStrike">
                <a:solidFill>
                  <a:srgbClr val="000000"/>
                </a:solidFill>
                <a:latin typeface="Arial"/>
                <a:ea typeface="Arial"/>
                <a:cs typeface="Arial"/>
                <a:sym typeface="Arial"/>
              </a:rPr>
              <a:t>ER diagrams require no technical knowledge and no hardware support.</a:t>
            </a:r>
            <a:endParaRPr/>
          </a:p>
          <a:p>
            <a:pPr indent="-202406" lvl="1" marL="404813" marR="0" rtl="0" algn="just">
              <a:lnSpc>
                <a:spcPct val="120000"/>
              </a:lnSpc>
              <a:spcBef>
                <a:spcPts val="0"/>
              </a:spcBef>
              <a:spcAft>
                <a:spcPts val="0"/>
              </a:spcAft>
              <a:buClr>
                <a:srgbClr val="000000"/>
              </a:buClr>
              <a:buSzPts val="1875"/>
              <a:buFont typeface="Arial"/>
              <a:buAutoNum type="arabicPeriod"/>
            </a:pPr>
            <a:r>
              <a:rPr b="0" i="0" lang="en-US" sz="1875" u="none" cap="none" strike="noStrike">
                <a:solidFill>
                  <a:srgbClr val="000000"/>
                </a:solidFill>
                <a:latin typeface="Arial"/>
                <a:ea typeface="Arial"/>
                <a:cs typeface="Arial"/>
                <a:sym typeface="Arial"/>
              </a:rPr>
              <a:t>These diagrams are very easy to understand and easy to create even for a naive user.</a:t>
            </a:r>
            <a:endParaRPr/>
          </a:p>
          <a:p>
            <a:pPr indent="-202406" lvl="1" marL="404813" marR="0" rtl="0" algn="just">
              <a:lnSpc>
                <a:spcPct val="120000"/>
              </a:lnSpc>
              <a:spcBef>
                <a:spcPts val="0"/>
              </a:spcBef>
              <a:spcAft>
                <a:spcPts val="0"/>
              </a:spcAft>
              <a:buClr>
                <a:srgbClr val="000000"/>
              </a:buClr>
              <a:buSzPts val="1875"/>
              <a:buFont typeface="Arial"/>
              <a:buAutoNum type="arabicPeriod"/>
            </a:pPr>
            <a:r>
              <a:rPr b="0" i="0" lang="en-US" sz="1875" u="none" cap="none" strike="noStrike">
                <a:solidFill>
                  <a:srgbClr val="000000"/>
                </a:solidFill>
                <a:latin typeface="Arial"/>
                <a:ea typeface="Arial"/>
                <a:cs typeface="Arial"/>
                <a:sym typeface="Arial"/>
              </a:rPr>
              <a:t>It gives a standard solution for visualizing the data logically.</a:t>
            </a:r>
            <a:endParaRPr/>
          </a:p>
        </p:txBody>
      </p:sp>
      <p:sp>
        <p:nvSpPr>
          <p:cNvPr id="564" name="Google Shape;564;p29"/>
          <p:cNvSpPr txBox="1"/>
          <p:nvPr/>
        </p:nvSpPr>
        <p:spPr>
          <a:xfrm>
            <a:off x="1806026" y="2790563"/>
            <a:ext cx="5943600" cy="331800"/>
          </a:xfrm>
          <a:prstGeom prst="rect">
            <a:avLst/>
          </a:prstGeom>
          <a:noFill/>
          <a:ln>
            <a:noFill/>
          </a:ln>
        </p:spPr>
        <p:txBody>
          <a:bodyPr anchorCtr="0" anchor="t" bIns="0" lIns="0" spcFirstLastPara="1" rIns="0" wrap="square" tIns="0">
            <a:spAutoFit/>
          </a:bodyPr>
          <a:lstStyle/>
          <a:p>
            <a:pPr indent="0" lvl="0" marL="0" marR="0" rtl="0" algn="just">
              <a:lnSpc>
                <a:spcPct val="120037"/>
              </a:lnSpc>
              <a:spcBef>
                <a:spcPts val="0"/>
              </a:spcBef>
              <a:spcAft>
                <a:spcPts val="0"/>
              </a:spcAft>
              <a:buNone/>
            </a:pPr>
            <a:r>
              <a:rPr b="1" lang="en-US" sz="2156">
                <a:solidFill>
                  <a:srgbClr val="000000"/>
                </a:solidFill>
                <a:latin typeface="Arial"/>
                <a:ea typeface="Arial"/>
                <a:cs typeface="Arial"/>
                <a:sym typeface="Arial"/>
              </a:rPr>
              <a:t>Why Use ER Diagrams In DBMS?</a:t>
            </a:r>
            <a:endParaRPr/>
          </a:p>
        </p:txBody>
      </p:sp>
      <p:sp>
        <p:nvSpPr>
          <p:cNvPr id="565" name="Google Shape;565;p29"/>
          <p:cNvSpPr txBox="1"/>
          <p:nvPr/>
        </p:nvSpPr>
        <p:spPr>
          <a:xfrm>
            <a:off x="1806025" y="1227600"/>
            <a:ext cx="9143700" cy="1327500"/>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None/>
            </a:pPr>
            <a:r>
              <a:rPr b="1" lang="en-US" sz="1875">
                <a:solidFill>
                  <a:srgbClr val="000000"/>
                </a:solidFill>
                <a:latin typeface="Arial"/>
                <a:ea typeface="Arial"/>
                <a:cs typeface="Arial"/>
                <a:sym typeface="Arial"/>
              </a:rPr>
              <a:t>ER Diagram</a:t>
            </a:r>
            <a:r>
              <a:rPr lang="en-US" sz="1875">
                <a:solidFill>
                  <a:srgbClr val="000000"/>
                </a:solidFill>
                <a:latin typeface="Arial"/>
                <a:ea typeface="Arial"/>
                <a:cs typeface="Arial"/>
                <a:sym typeface="Arial"/>
              </a:rPr>
              <a:t> stands for Entity Relationship Diagram, also known as ERD is a diagram that displays the relationship of entity sets stored in a database. In other words, ER diagrams help to explain the logical structure of databases. ER diagrams are created based on three basic concepts: entities, attributes and relationships.</a:t>
            </a:r>
            <a:endParaRPr/>
          </a:p>
        </p:txBody>
      </p:sp>
      <p:sp>
        <p:nvSpPr>
          <p:cNvPr id="566" name="Google Shape;566;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567" name="Google Shape;567;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grpSp>
        <p:nvGrpSpPr>
          <p:cNvPr id="576" name="Google Shape;576;p30"/>
          <p:cNvGrpSpPr/>
          <p:nvPr/>
        </p:nvGrpSpPr>
        <p:grpSpPr>
          <a:xfrm>
            <a:off x="1524000" y="6356604"/>
            <a:ext cx="9144000" cy="88404"/>
            <a:chOff x="0" y="0"/>
            <a:chExt cx="13004800" cy="125730"/>
          </a:xfrm>
        </p:grpSpPr>
        <p:sp>
          <p:nvSpPr>
            <p:cNvPr id="577" name="Google Shape;577;p30"/>
            <p:cNvSpPr/>
            <p:nvPr/>
          </p:nvSpPr>
          <p:spPr>
            <a:xfrm>
              <a:off x="0" y="100584"/>
              <a:ext cx="13004800" cy="25146"/>
            </a:xfrm>
            <a:custGeom>
              <a:rect b="b" l="l" r="r" t="t"/>
              <a:pathLst>
                <a:path extrusionOk="0" h="25146" w="13004800">
                  <a:moveTo>
                    <a:pt x="13004800" y="0"/>
                  </a:moveTo>
                  <a:lnTo>
                    <a:pt x="0" y="0"/>
                  </a:lnTo>
                  <a:lnTo>
                    <a:pt x="0" y="25146"/>
                  </a:lnTo>
                  <a:lnTo>
                    <a:pt x="13004800" y="25146"/>
                  </a:lnTo>
                  <a:lnTo>
                    <a:pt x="13004800" y="0"/>
                  </a:lnTo>
                  <a:close/>
                </a:path>
              </a:pathLst>
            </a:custGeom>
            <a:solidFill>
              <a:srgbClr val="C00000"/>
            </a:solidFill>
            <a:ln>
              <a:noFill/>
            </a:ln>
          </p:spPr>
        </p:sp>
        <p:sp>
          <p:nvSpPr>
            <p:cNvPr id="578" name="Google Shape;578;p30"/>
            <p:cNvSpPr/>
            <p:nvPr/>
          </p:nvSpPr>
          <p:spPr>
            <a:xfrm>
              <a:off x="0" y="0"/>
              <a:ext cx="13004800" cy="75438"/>
            </a:xfrm>
            <a:custGeom>
              <a:rect b="b" l="l" r="r" t="t"/>
              <a:pathLst>
                <a:path extrusionOk="0" h="75438" w="13004800">
                  <a:moveTo>
                    <a:pt x="13004800" y="0"/>
                  </a:moveTo>
                  <a:lnTo>
                    <a:pt x="0" y="0"/>
                  </a:lnTo>
                  <a:lnTo>
                    <a:pt x="0" y="75438"/>
                  </a:lnTo>
                  <a:lnTo>
                    <a:pt x="13004800" y="75438"/>
                  </a:lnTo>
                  <a:lnTo>
                    <a:pt x="13004800" y="0"/>
                  </a:lnTo>
                  <a:close/>
                </a:path>
              </a:pathLst>
            </a:custGeom>
            <a:solidFill>
              <a:srgbClr val="C00000"/>
            </a:solidFill>
            <a:ln>
              <a:noFill/>
            </a:ln>
          </p:spPr>
        </p:sp>
      </p:grpSp>
      <p:sp>
        <p:nvSpPr>
          <p:cNvPr id="579" name="Google Shape;579;p30"/>
          <p:cNvSpPr/>
          <p:nvPr/>
        </p:nvSpPr>
        <p:spPr>
          <a:xfrm>
            <a:off x="2683175" y="1257750"/>
            <a:ext cx="7048154" cy="3432902"/>
          </a:xfrm>
          <a:custGeom>
            <a:rect b="b" l="l" r="r" t="t"/>
            <a:pathLst>
              <a:path extrusionOk="0" h="3923317" w="7518031">
                <a:moveTo>
                  <a:pt x="0" y="0"/>
                </a:moveTo>
                <a:lnTo>
                  <a:pt x="7518031" y="0"/>
                </a:lnTo>
                <a:lnTo>
                  <a:pt x="7518031" y="3923317"/>
                </a:lnTo>
                <a:lnTo>
                  <a:pt x="0" y="3923317"/>
                </a:lnTo>
                <a:lnTo>
                  <a:pt x="0" y="0"/>
                </a:lnTo>
                <a:close/>
              </a:path>
            </a:pathLst>
          </a:custGeom>
          <a:blipFill rotWithShape="1">
            <a:blip r:embed="rId3">
              <a:alphaModFix/>
            </a:blip>
            <a:stretch>
              <a:fillRect b="0" l="0" r="0" t="0"/>
            </a:stretch>
          </a:blipFill>
          <a:ln>
            <a:noFill/>
          </a:ln>
        </p:spPr>
      </p:sp>
      <p:sp>
        <p:nvSpPr>
          <p:cNvPr id="580" name="Google Shape;580;p30"/>
          <p:cNvSpPr txBox="1"/>
          <p:nvPr/>
        </p:nvSpPr>
        <p:spPr>
          <a:xfrm>
            <a:off x="2683175" y="4859875"/>
            <a:ext cx="7497900" cy="13275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875">
                <a:solidFill>
                  <a:srgbClr val="000000"/>
                </a:solidFill>
                <a:latin typeface="Arial"/>
                <a:ea typeface="Arial"/>
                <a:cs typeface="Arial"/>
                <a:sym typeface="Arial"/>
              </a:rPr>
              <a:t>Each of these entities have their respective attributes which are −</a:t>
            </a:r>
            <a:endParaRPr/>
          </a:p>
          <a:p>
            <a:pPr indent="0" lvl="0" marL="0" marR="0" rtl="0" algn="l">
              <a:lnSpc>
                <a:spcPct val="120000"/>
              </a:lnSpc>
              <a:spcBef>
                <a:spcPts val="0"/>
              </a:spcBef>
              <a:spcAft>
                <a:spcPts val="0"/>
              </a:spcAft>
              <a:buNone/>
            </a:pPr>
            <a:r>
              <a:rPr lang="en-US" sz="1875">
                <a:solidFill>
                  <a:srgbClr val="000000"/>
                </a:solidFill>
                <a:latin typeface="Arial"/>
                <a:ea typeface="Arial"/>
                <a:cs typeface="Arial"/>
                <a:sym typeface="Arial"/>
              </a:rPr>
              <a:t>Patients - ID (primary key), name, age,visit_date</a:t>
            </a:r>
            <a:endParaRPr sz="1875">
              <a:solidFill>
                <a:srgbClr val="000000"/>
              </a:solidFill>
              <a:latin typeface="Arial"/>
              <a:ea typeface="Arial"/>
              <a:cs typeface="Arial"/>
              <a:sym typeface="Arial"/>
            </a:endParaRPr>
          </a:p>
          <a:p>
            <a:pPr indent="0" lvl="0" marL="0" marR="0" rtl="0" algn="l">
              <a:lnSpc>
                <a:spcPct val="120000"/>
              </a:lnSpc>
              <a:spcBef>
                <a:spcPts val="0"/>
              </a:spcBef>
              <a:spcAft>
                <a:spcPts val="0"/>
              </a:spcAft>
              <a:buNone/>
            </a:pPr>
            <a:r>
              <a:rPr lang="en-US" sz="1875">
                <a:solidFill>
                  <a:srgbClr val="000000"/>
                </a:solidFill>
                <a:latin typeface="Arial"/>
                <a:ea typeface="Arial"/>
                <a:cs typeface="Arial"/>
                <a:sym typeface="Arial"/>
              </a:rPr>
              <a:t>Tests- Name (primary key), date, result</a:t>
            </a:r>
            <a:endParaRPr/>
          </a:p>
          <a:p>
            <a:pPr indent="0" lvl="0" marL="0" marR="0" rtl="0" algn="l">
              <a:lnSpc>
                <a:spcPct val="120000"/>
              </a:lnSpc>
              <a:spcBef>
                <a:spcPts val="0"/>
              </a:spcBef>
              <a:spcAft>
                <a:spcPts val="0"/>
              </a:spcAft>
              <a:buNone/>
            </a:pPr>
            <a:r>
              <a:rPr lang="en-US" sz="1875">
                <a:solidFill>
                  <a:srgbClr val="000000"/>
                </a:solidFill>
                <a:latin typeface="Arial"/>
                <a:ea typeface="Arial"/>
                <a:cs typeface="Arial"/>
                <a:sym typeface="Arial"/>
              </a:rPr>
              <a:t>Doctor- ID (primary key), name, specialisation</a:t>
            </a:r>
            <a:endParaRPr sz="1875">
              <a:solidFill>
                <a:srgbClr val="000000"/>
              </a:solidFill>
              <a:latin typeface="Arial"/>
              <a:ea typeface="Arial"/>
              <a:cs typeface="Arial"/>
              <a:sym typeface="Arial"/>
            </a:endParaRPr>
          </a:p>
        </p:txBody>
      </p:sp>
      <p:sp>
        <p:nvSpPr>
          <p:cNvPr id="581" name="Google Shape;581;p30"/>
          <p:cNvSpPr txBox="1"/>
          <p:nvPr/>
        </p:nvSpPr>
        <p:spPr>
          <a:xfrm>
            <a:off x="2683182" y="757480"/>
            <a:ext cx="7571289" cy="500137"/>
          </a:xfrm>
          <a:prstGeom prst="rect">
            <a:avLst/>
          </a:prstGeom>
          <a:noFill/>
          <a:ln>
            <a:noFill/>
          </a:ln>
        </p:spPr>
        <p:txBody>
          <a:bodyPr anchorCtr="0" anchor="t" bIns="0" lIns="0" spcFirstLastPara="1" rIns="0" wrap="square" tIns="0">
            <a:spAutoFit/>
          </a:bodyPr>
          <a:lstStyle/>
          <a:p>
            <a:pPr indent="0" lvl="0" marL="0" marR="0" rtl="0" algn="ctr">
              <a:lnSpc>
                <a:spcPct val="120024"/>
              </a:lnSpc>
              <a:spcBef>
                <a:spcPts val="0"/>
              </a:spcBef>
              <a:spcAft>
                <a:spcPts val="0"/>
              </a:spcAft>
              <a:buNone/>
            </a:pPr>
            <a:r>
              <a:rPr b="1" lang="en-US" sz="3281">
                <a:solidFill>
                  <a:srgbClr val="C00000"/>
                </a:solidFill>
                <a:latin typeface="Arial"/>
                <a:ea typeface="Arial"/>
                <a:cs typeface="Arial"/>
                <a:sym typeface="Arial"/>
              </a:rPr>
              <a:t>Hospital management system </a:t>
            </a:r>
            <a:endParaRPr/>
          </a:p>
        </p:txBody>
      </p:sp>
      <p:sp>
        <p:nvSpPr>
          <p:cNvPr id="582" name="Google Shape;582;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583" name="Google Shape;583;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grpSp>
        <p:nvGrpSpPr>
          <p:cNvPr id="592" name="Google Shape;592;p31"/>
          <p:cNvGrpSpPr/>
          <p:nvPr/>
        </p:nvGrpSpPr>
        <p:grpSpPr>
          <a:xfrm>
            <a:off x="1524000" y="6356604"/>
            <a:ext cx="9144000" cy="88404"/>
            <a:chOff x="0" y="0"/>
            <a:chExt cx="13004800" cy="125730"/>
          </a:xfrm>
        </p:grpSpPr>
        <p:sp>
          <p:nvSpPr>
            <p:cNvPr id="593" name="Google Shape;593;p31"/>
            <p:cNvSpPr/>
            <p:nvPr/>
          </p:nvSpPr>
          <p:spPr>
            <a:xfrm>
              <a:off x="0" y="100584"/>
              <a:ext cx="13004800" cy="25146"/>
            </a:xfrm>
            <a:custGeom>
              <a:rect b="b" l="l" r="r" t="t"/>
              <a:pathLst>
                <a:path extrusionOk="0" h="25146" w="13004800">
                  <a:moveTo>
                    <a:pt x="13004800" y="0"/>
                  </a:moveTo>
                  <a:lnTo>
                    <a:pt x="0" y="0"/>
                  </a:lnTo>
                  <a:lnTo>
                    <a:pt x="0" y="25146"/>
                  </a:lnTo>
                  <a:lnTo>
                    <a:pt x="13004800" y="25146"/>
                  </a:lnTo>
                  <a:lnTo>
                    <a:pt x="13004800" y="0"/>
                  </a:lnTo>
                  <a:close/>
                </a:path>
              </a:pathLst>
            </a:custGeom>
            <a:solidFill>
              <a:srgbClr val="C00000"/>
            </a:solidFill>
            <a:ln>
              <a:noFill/>
            </a:ln>
          </p:spPr>
        </p:sp>
        <p:sp>
          <p:nvSpPr>
            <p:cNvPr id="594" name="Google Shape;594;p31"/>
            <p:cNvSpPr/>
            <p:nvPr/>
          </p:nvSpPr>
          <p:spPr>
            <a:xfrm>
              <a:off x="0" y="0"/>
              <a:ext cx="13004800" cy="75438"/>
            </a:xfrm>
            <a:custGeom>
              <a:rect b="b" l="l" r="r" t="t"/>
              <a:pathLst>
                <a:path extrusionOk="0" h="75438" w="13004800">
                  <a:moveTo>
                    <a:pt x="13004800" y="0"/>
                  </a:moveTo>
                  <a:lnTo>
                    <a:pt x="0" y="0"/>
                  </a:lnTo>
                  <a:lnTo>
                    <a:pt x="0" y="75438"/>
                  </a:lnTo>
                  <a:lnTo>
                    <a:pt x="13004800" y="75438"/>
                  </a:lnTo>
                  <a:lnTo>
                    <a:pt x="13004800" y="0"/>
                  </a:lnTo>
                  <a:close/>
                </a:path>
              </a:pathLst>
            </a:custGeom>
            <a:solidFill>
              <a:srgbClr val="C00000"/>
            </a:solidFill>
            <a:ln>
              <a:noFill/>
            </a:ln>
          </p:spPr>
        </p:sp>
      </p:grpSp>
      <p:sp>
        <p:nvSpPr>
          <p:cNvPr id="595" name="Google Shape;595;p31"/>
          <p:cNvSpPr/>
          <p:nvPr/>
        </p:nvSpPr>
        <p:spPr>
          <a:xfrm>
            <a:off x="2233869" y="1590080"/>
            <a:ext cx="7748331" cy="4348750"/>
          </a:xfrm>
          <a:custGeom>
            <a:rect b="b" l="l" r="r" t="t"/>
            <a:pathLst>
              <a:path extrusionOk="0" h="4638667" w="8264886">
                <a:moveTo>
                  <a:pt x="0" y="0"/>
                </a:moveTo>
                <a:lnTo>
                  <a:pt x="8264886" y="0"/>
                </a:lnTo>
                <a:lnTo>
                  <a:pt x="8264886" y="4638667"/>
                </a:lnTo>
                <a:lnTo>
                  <a:pt x="0" y="4638667"/>
                </a:lnTo>
                <a:lnTo>
                  <a:pt x="0" y="0"/>
                </a:lnTo>
                <a:close/>
              </a:path>
            </a:pathLst>
          </a:custGeom>
          <a:blipFill rotWithShape="1">
            <a:blip r:embed="rId3">
              <a:alphaModFix/>
            </a:blip>
            <a:stretch>
              <a:fillRect b="0" l="0" r="0" t="0"/>
            </a:stretch>
          </a:blipFill>
          <a:ln>
            <a:noFill/>
          </a:ln>
        </p:spPr>
      </p:sp>
      <p:sp>
        <p:nvSpPr>
          <p:cNvPr id="596" name="Google Shape;596;p31"/>
          <p:cNvSpPr txBox="1"/>
          <p:nvPr/>
        </p:nvSpPr>
        <p:spPr>
          <a:xfrm>
            <a:off x="2587952" y="614363"/>
            <a:ext cx="7571289" cy="500137"/>
          </a:xfrm>
          <a:prstGeom prst="rect">
            <a:avLst/>
          </a:prstGeom>
          <a:noFill/>
          <a:ln>
            <a:noFill/>
          </a:ln>
        </p:spPr>
        <p:txBody>
          <a:bodyPr anchorCtr="0" anchor="t" bIns="0" lIns="0" spcFirstLastPara="1" rIns="0" wrap="square" tIns="0">
            <a:spAutoFit/>
          </a:bodyPr>
          <a:lstStyle/>
          <a:p>
            <a:pPr indent="0" lvl="0" marL="0" marR="0" rtl="0" algn="ctr">
              <a:lnSpc>
                <a:spcPct val="120024"/>
              </a:lnSpc>
              <a:spcBef>
                <a:spcPts val="0"/>
              </a:spcBef>
              <a:spcAft>
                <a:spcPts val="0"/>
              </a:spcAft>
              <a:buNone/>
            </a:pPr>
            <a:r>
              <a:rPr b="1" lang="en-US" sz="3281">
                <a:solidFill>
                  <a:srgbClr val="C00000"/>
                </a:solidFill>
                <a:latin typeface="Arial"/>
                <a:ea typeface="Arial"/>
                <a:cs typeface="Arial"/>
                <a:sym typeface="Arial"/>
              </a:rPr>
              <a:t>Post Office Management System </a:t>
            </a:r>
            <a:endParaRPr/>
          </a:p>
        </p:txBody>
      </p:sp>
      <p:sp>
        <p:nvSpPr>
          <p:cNvPr id="597" name="Google Shape;597;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598" name="Google Shape;598;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grpSp>
        <p:nvGrpSpPr>
          <p:cNvPr id="607" name="Google Shape;607;p32"/>
          <p:cNvGrpSpPr/>
          <p:nvPr/>
        </p:nvGrpSpPr>
        <p:grpSpPr>
          <a:xfrm>
            <a:off x="1524000" y="6356604"/>
            <a:ext cx="9144000" cy="88404"/>
            <a:chOff x="0" y="0"/>
            <a:chExt cx="13004800" cy="125730"/>
          </a:xfrm>
        </p:grpSpPr>
        <p:sp>
          <p:nvSpPr>
            <p:cNvPr id="608" name="Google Shape;608;p32"/>
            <p:cNvSpPr/>
            <p:nvPr/>
          </p:nvSpPr>
          <p:spPr>
            <a:xfrm>
              <a:off x="0" y="100584"/>
              <a:ext cx="13004800" cy="25146"/>
            </a:xfrm>
            <a:custGeom>
              <a:rect b="b" l="l" r="r" t="t"/>
              <a:pathLst>
                <a:path extrusionOk="0" h="25146" w="13004800">
                  <a:moveTo>
                    <a:pt x="13004800" y="0"/>
                  </a:moveTo>
                  <a:lnTo>
                    <a:pt x="0" y="0"/>
                  </a:lnTo>
                  <a:lnTo>
                    <a:pt x="0" y="25146"/>
                  </a:lnTo>
                  <a:lnTo>
                    <a:pt x="13004800" y="25146"/>
                  </a:lnTo>
                  <a:lnTo>
                    <a:pt x="13004800" y="0"/>
                  </a:lnTo>
                  <a:close/>
                </a:path>
              </a:pathLst>
            </a:custGeom>
            <a:solidFill>
              <a:srgbClr val="C00000"/>
            </a:solidFill>
            <a:ln>
              <a:noFill/>
            </a:ln>
          </p:spPr>
        </p:sp>
        <p:sp>
          <p:nvSpPr>
            <p:cNvPr id="609" name="Google Shape;609;p32"/>
            <p:cNvSpPr/>
            <p:nvPr/>
          </p:nvSpPr>
          <p:spPr>
            <a:xfrm>
              <a:off x="0" y="0"/>
              <a:ext cx="13004800" cy="75438"/>
            </a:xfrm>
            <a:custGeom>
              <a:rect b="b" l="l" r="r" t="t"/>
              <a:pathLst>
                <a:path extrusionOk="0" h="75438" w="13004800">
                  <a:moveTo>
                    <a:pt x="13004800" y="0"/>
                  </a:moveTo>
                  <a:lnTo>
                    <a:pt x="0" y="0"/>
                  </a:lnTo>
                  <a:lnTo>
                    <a:pt x="0" y="75438"/>
                  </a:lnTo>
                  <a:lnTo>
                    <a:pt x="13004800" y="75438"/>
                  </a:lnTo>
                  <a:lnTo>
                    <a:pt x="13004800" y="0"/>
                  </a:lnTo>
                  <a:close/>
                </a:path>
              </a:pathLst>
            </a:custGeom>
            <a:solidFill>
              <a:srgbClr val="C00000"/>
            </a:solidFill>
            <a:ln>
              <a:noFill/>
            </a:ln>
          </p:spPr>
        </p:sp>
      </p:grpSp>
      <p:sp>
        <p:nvSpPr>
          <p:cNvPr id="610" name="Google Shape;610;p32"/>
          <p:cNvSpPr/>
          <p:nvPr/>
        </p:nvSpPr>
        <p:spPr>
          <a:xfrm>
            <a:off x="2650357" y="1421675"/>
            <a:ext cx="6891288" cy="4534105"/>
          </a:xfrm>
          <a:prstGeom prst="rect">
            <a:avLst/>
          </a:prstGeom>
          <a:blipFill rotWithShape="1">
            <a:blip r:embed="rId3">
              <a:alphaModFix/>
            </a:blip>
            <a:stretch>
              <a:fillRect b="-4762"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1" name="Google Shape;611;p32"/>
          <p:cNvSpPr txBox="1"/>
          <p:nvPr/>
        </p:nvSpPr>
        <p:spPr>
          <a:xfrm>
            <a:off x="2511752" y="685685"/>
            <a:ext cx="7571289" cy="500137"/>
          </a:xfrm>
          <a:prstGeom prst="rect">
            <a:avLst/>
          </a:prstGeom>
          <a:noFill/>
          <a:ln>
            <a:noFill/>
          </a:ln>
        </p:spPr>
        <p:txBody>
          <a:bodyPr anchorCtr="0" anchor="t" bIns="0" lIns="0" spcFirstLastPara="1" rIns="0" wrap="square" tIns="0">
            <a:spAutoFit/>
          </a:bodyPr>
          <a:lstStyle/>
          <a:p>
            <a:pPr indent="0" lvl="0" marL="0" marR="0" rtl="0" algn="ctr">
              <a:lnSpc>
                <a:spcPct val="120024"/>
              </a:lnSpc>
              <a:spcBef>
                <a:spcPts val="0"/>
              </a:spcBef>
              <a:spcAft>
                <a:spcPts val="0"/>
              </a:spcAft>
              <a:buNone/>
            </a:pPr>
            <a:r>
              <a:rPr b="1" lang="en-US" sz="3281">
                <a:solidFill>
                  <a:srgbClr val="C00000"/>
                </a:solidFill>
                <a:latin typeface="Arial"/>
                <a:ea typeface="Arial"/>
                <a:cs typeface="Arial"/>
                <a:sym typeface="Arial"/>
              </a:rPr>
              <a:t>Student Management System </a:t>
            </a:r>
            <a:endParaRPr/>
          </a:p>
        </p:txBody>
      </p:sp>
      <p:sp>
        <p:nvSpPr>
          <p:cNvPr id="612" name="Google Shape;612;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613" name="Google Shape;613;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g328b0b7b3d7_0_0"/>
          <p:cNvSpPr txBox="1"/>
          <p:nvPr>
            <p:ph idx="4294967295" type="title"/>
          </p:nvPr>
        </p:nvSpPr>
        <p:spPr>
          <a:xfrm>
            <a:off x="2514600" y="577850"/>
            <a:ext cx="7924800" cy="609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3200"/>
              <a:buFont typeface="Cambria"/>
              <a:buNone/>
            </a:pPr>
            <a:r>
              <a:rPr b="1" lang="en-US" sz="3200">
                <a:solidFill>
                  <a:srgbClr val="C00000"/>
                </a:solidFill>
                <a:latin typeface="Cambria"/>
                <a:ea typeface="Cambria"/>
                <a:cs typeface="Cambria"/>
                <a:sym typeface="Cambria"/>
              </a:rPr>
              <a:t>Constraints of Relational Database Model</a:t>
            </a:r>
            <a:endParaRPr/>
          </a:p>
        </p:txBody>
      </p:sp>
      <p:sp>
        <p:nvSpPr>
          <p:cNvPr id="623" name="Google Shape;623;g328b0b7b3d7_0_0"/>
          <p:cNvSpPr txBox="1"/>
          <p:nvPr>
            <p:ph idx="4294967295" type="body"/>
          </p:nvPr>
        </p:nvSpPr>
        <p:spPr>
          <a:xfrm>
            <a:off x="2438400" y="1295400"/>
            <a:ext cx="8001000" cy="495300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400"/>
              <a:buFont typeface="Arial"/>
              <a:buChar char="•"/>
            </a:pPr>
            <a:r>
              <a:rPr lang="en-US" sz="1879">
                <a:solidFill>
                  <a:schemeClr val="dk1"/>
                </a:solidFill>
                <a:latin typeface="Arial"/>
                <a:ea typeface="Arial"/>
                <a:cs typeface="Arial"/>
                <a:sym typeface="Arial"/>
              </a:rPr>
              <a:t>On modeling the design of the relational database, we can put some restrictions </a:t>
            </a:r>
            <a:r>
              <a:rPr lang="en-US" sz="1879">
                <a:solidFill>
                  <a:srgbClr val="C00000"/>
                </a:solidFill>
                <a:latin typeface="Arial"/>
                <a:ea typeface="Arial"/>
                <a:cs typeface="Arial"/>
                <a:sym typeface="Arial"/>
              </a:rPr>
              <a:t>like what values are allowed to be inserted in the relation, what kind of modifications and deletions are allowed in the relation. </a:t>
            </a:r>
            <a:r>
              <a:rPr lang="en-US" sz="1879">
                <a:solidFill>
                  <a:schemeClr val="dk1"/>
                </a:solidFill>
                <a:latin typeface="Arial"/>
                <a:ea typeface="Arial"/>
                <a:cs typeface="Arial"/>
                <a:sym typeface="Arial"/>
              </a:rPr>
              <a:t>These are the restrictions we impose on the relational database. This facility of restriction was not available in the ER Model.</a:t>
            </a:r>
            <a:endParaRPr/>
          </a:p>
          <a:p>
            <a:pPr indent="0" lvl="0" marL="0" rtl="0" algn="l">
              <a:lnSpc>
                <a:spcPct val="100000"/>
              </a:lnSpc>
              <a:spcBef>
                <a:spcPts val="0"/>
              </a:spcBef>
              <a:spcAft>
                <a:spcPts val="0"/>
              </a:spcAft>
              <a:buClr>
                <a:schemeClr val="dk1"/>
              </a:buClr>
              <a:buSzPts val="2400"/>
              <a:buNone/>
            </a:pPr>
            <a:r>
              <a:t/>
            </a:r>
            <a:endParaRPr sz="1879">
              <a:latin typeface="Arial"/>
              <a:ea typeface="Arial"/>
              <a:cs typeface="Arial"/>
              <a:sym typeface="Arial"/>
            </a:endParaRPr>
          </a:p>
          <a:p>
            <a:pPr indent="0" lvl="0" marL="0" rtl="0" algn="l">
              <a:lnSpc>
                <a:spcPct val="100000"/>
              </a:lnSpc>
              <a:spcBef>
                <a:spcPts val="480"/>
              </a:spcBef>
              <a:spcAft>
                <a:spcPts val="0"/>
              </a:spcAft>
              <a:buClr>
                <a:schemeClr val="dk1"/>
              </a:buClr>
              <a:buSzPts val="2400"/>
              <a:buNone/>
            </a:pPr>
            <a:r>
              <a:rPr lang="en-US" sz="1879">
                <a:solidFill>
                  <a:schemeClr val="dk1"/>
                </a:solidFill>
                <a:latin typeface="Arial"/>
                <a:ea typeface="Arial"/>
                <a:cs typeface="Arial"/>
                <a:sym typeface="Arial"/>
              </a:rPr>
              <a:t>The main restrictions are of four types-</a:t>
            </a:r>
            <a:endParaRPr sz="1879">
              <a:latin typeface="Arial"/>
              <a:ea typeface="Arial"/>
              <a:cs typeface="Arial"/>
              <a:sym typeface="Arial"/>
            </a:endParaRPr>
          </a:p>
          <a:p>
            <a:pPr indent="-342900" lvl="0" marL="342900" rtl="0" algn="l">
              <a:lnSpc>
                <a:spcPct val="100000"/>
              </a:lnSpc>
              <a:spcBef>
                <a:spcPts val="480"/>
              </a:spcBef>
              <a:spcAft>
                <a:spcPts val="0"/>
              </a:spcAft>
              <a:buClr>
                <a:schemeClr val="dk1"/>
              </a:buClr>
              <a:buSzPts val="2400"/>
              <a:buFont typeface="Arial"/>
              <a:buAutoNum type="arabicPeriod"/>
            </a:pPr>
            <a:r>
              <a:rPr lang="en-US" sz="1879">
                <a:solidFill>
                  <a:schemeClr val="dk1"/>
                </a:solidFill>
                <a:latin typeface="Arial"/>
                <a:ea typeface="Arial"/>
                <a:cs typeface="Arial"/>
                <a:sym typeface="Arial"/>
              </a:rPr>
              <a:t>Domain Constraints</a:t>
            </a:r>
            <a:endParaRPr sz="1879">
              <a:latin typeface="Arial"/>
              <a:ea typeface="Arial"/>
              <a:cs typeface="Arial"/>
              <a:sym typeface="Arial"/>
            </a:endParaRPr>
          </a:p>
          <a:p>
            <a:pPr indent="-342900" lvl="0" marL="342900" rtl="0" algn="l">
              <a:lnSpc>
                <a:spcPct val="100000"/>
              </a:lnSpc>
              <a:spcBef>
                <a:spcPts val="480"/>
              </a:spcBef>
              <a:spcAft>
                <a:spcPts val="0"/>
              </a:spcAft>
              <a:buClr>
                <a:schemeClr val="dk1"/>
              </a:buClr>
              <a:buSzPts val="2400"/>
              <a:buFont typeface="Arial"/>
              <a:buAutoNum type="arabicPeriod"/>
            </a:pPr>
            <a:r>
              <a:rPr lang="en-US" sz="1879">
                <a:solidFill>
                  <a:schemeClr val="dk1"/>
                </a:solidFill>
                <a:latin typeface="Arial"/>
                <a:ea typeface="Arial"/>
                <a:cs typeface="Arial"/>
                <a:sym typeface="Arial"/>
              </a:rPr>
              <a:t>Key Constraints</a:t>
            </a:r>
            <a:endParaRPr sz="1879">
              <a:latin typeface="Arial"/>
              <a:ea typeface="Arial"/>
              <a:cs typeface="Arial"/>
              <a:sym typeface="Arial"/>
            </a:endParaRPr>
          </a:p>
          <a:p>
            <a:pPr indent="-342900" lvl="0" marL="342900" rtl="0" algn="l">
              <a:lnSpc>
                <a:spcPct val="100000"/>
              </a:lnSpc>
              <a:spcBef>
                <a:spcPts val="480"/>
              </a:spcBef>
              <a:spcAft>
                <a:spcPts val="0"/>
              </a:spcAft>
              <a:buClr>
                <a:schemeClr val="dk1"/>
              </a:buClr>
              <a:buSzPts val="2400"/>
              <a:buFont typeface="Arial"/>
              <a:buAutoNum type="arabicPeriod"/>
            </a:pPr>
            <a:r>
              <a:rPr lang="en-US" sz="1879">
                <a:solidFill>
                  <a:schemeClr val="dk1"/>
                </a:solidFill>
                <a:latin typeface="Arial"/>
                <a:ea typeface="Arial"/>
                <a:cs typeface="Arial"/>
                <a:sym typeface="Arial"/>
              </a:rPr>
              <a:t>Entity Integrity Constraints</a:t>
            </a:r>
            <a:endParaRPr sz="1879">
              <a:latin typeface="Arial"/>
              <a:ea typeface="Arial"/>
              <a:cs typeface="Arial"/>
              <a:sym typeface="Arial"/>
            </a:endParaRPr>
          </a:p>
          <a:p>
            <a:pPr indent="-342900" lvl="0" marL="342900" rtl="0" algn="l">
              <a:lnSpc>
                <a:spcPct val="100000"/>
              </a:lnSpc>
              <a:spcBef>
                <a:spcPts val="480"/>
              </a:spcBef>
              <a:spcAft>
                <a:spcPts val="0"/>
              </a:spcAft>
              <a:buClr>
                <a:schemeClr val="dk1"/>
              </a:buClr>
              <a:buSzPts val="2400"/>
              <a:buFont typeface="Arial"/>
              <a:buAutoNum type="arabicPeriod"/>
            </a:pPr>
            <a:r>
              <a:rPr lang="en-US" sz="1879">
                <a:solidFill>
                  <a:schemeClr val="dk1"/>
                </a:solidFill>
                <a:latin typeface="Arial"/>
                <a:ea typeface="Arial"/>
                <a:cs typeface="Arial"/>
                <a:sym typeface="Arial"/>
              </a:rPr>
              <a:t>Referential Integrity Constraints</a:t>
            </a:r>
            <a:endParaRPr sz="1879">
              <a:latin typeface="Arial"/>
              <a:ea typeface="Arial"/>
              <a:cs typeface="Arial"/>
              <a:sym typeface="Arial"/>
            </a:endParaRPr>
          </a:p>
        </p:txBody>
      </p:sp>
      <p:sp>
        <p:nvSpPr>
          <p:cNvPr id="624" name="Google Shape;624;g328b0b7b3d7_0_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625" name="Google Shape;625;g328b0b7b3d7_0_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34"/>
          <p:cNvSpPr txBox="1"/>
          <p:nvPr>
            <p:ph idx="4294967295" type="title"/>
          </p:nvPr>
        </p:nvSpPr>
        <p:spPr>
          <a:xfrm>
            <a:off x="2514600" y="762000"/>
            <a:ext cx="7924800" cy="609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3200"/>
              <a:buFont typeface="Arial"/>
              <a:buNone/>
            </a:pPr>
            <a:r>
              <a:rPr b="1" lang="en-US" sz="3200">
                <a:solidFill>
                  <a:srgbClr val="C00000"/>
                </a:solidFill>
                <a:latin typeface="Arial"/>
                <a:ea typeface="Arial"/>
                <a:cs typeface="Arial"/>
                <a:sym typeface="Arial"/>
              </a:rPr>
              <a:t>Domain Constraints</a:t>
            </a:r>
            <a:endParaRPr>
              <a:latin typeface="Arial"/>
              <a:ea typeface="Arial"/>
              <a:cs typeface="Arial"/>
              <a:sym typeface="Arial"/>
            </a:endParaRPr>
          </a:p>
        </p:txBody>
      </p:sp>
      <p:sp>
        <p:nvSpPr>
          <p:cNvPr id="631" name="Google Shape;631;p34"/>
          <p:cNvSpPr txBox="1"/>
          <p:nvPr>
            <p:ph idx="4294967295" type="body"/>
          </p:nvPr>
        </p:nvSpPr>
        <p:spPr>
          <a:xfrm>
            <a:off x="2209800" y="1371600"/>
            <a:ext cx="8001000" cy="4495800"/>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2400"/>
              <a:buFont typeface="Arial"/>
              <a:buChar char="•"/>
            </a:pPr>
            <a:r>
              <a:rPr lang="en-US" sz="1879">
                <a:solidFill>
                  <a:schemeClr val="dk1"/>
                </a:solidFill>
                <a:latin typeface="Arial"/>
                <a:ea typeface="Arial"/>
                <a:cs typeface="Arial"/>
                <a:sym typeface="Arial"/>
              </a:rPr>
              <a:t>Every domain must contain atomic values(smallest indivisible units) it means composite and multi-valued attributes are not allowed.</a:t>
            </a:r>
            <a:endParaRPr sz="1879">
              <a:latin typeface="Arial"/>
              <a:ea typeface="Arial"/>
              <a:cs typeface="Arial"/>
              <a:sym typeface="Arial"/>
            </a:endParaRPr>
          </a:p>
          <a:p>
            <a:pPr indent="-342900" lvl="0" marL="342900" rtl="0" algn="just">
              <a:lnSpc>
                <a:spcPct val="100000"/>
              </a:lnSpc>
              <a:spcBef>
                <a:spcPts val="480"/>
              </a:spcBef>
              <a:spcAft>
                <a:spcPts val="0"/>
              </a:spcAft>
              <a:buClr>
                <a:schemeClr val="dk1"/>
              </a:buClr>
              <a:buSzPts val="2400"/>
              <a:buFont typeface="Arial"/>
              <a:buChar char="•"/>
            </a:pPr>
            <a:r>
              <a:rPr lang="en-US" sz="1879">
                <a:solidFill>
                  <a:schemeClr val="dk1"/>
                </a:solidFill>
                <a:latin typeface="Arial"/>
                <a:ea typeface="Arial"/>
                <a:cs typeface="Arial"/>
                <a:sym typeface="Arial"/>
              </a:rPr>
              <a:t>We perform datatype check here, which means when we assign a data type to a column, we limit the values that it can contain. E.g. If we assign the datatype of attribute age as int, we can't give it values other then int datatype.</a:t>
            </a:r>
            <a:endParaRPr sz="1879">
              <a:latin typeface="Arial"/>
              <a:ea typeface="Arial"/>
              <a:cs typeface="Arial"/>
              <a:sym typeface="Arial"/>
            </a:endParaRPr>
          </a:p>
          <a:p>
            <a:pPr indent="-190500" lvl="0" marL="342900" rtl="0" algn="l">
              <a:lnSpc>
                <a:spcPct val="90000"/>
              </a:lnSpc>
              <a:spcBef>
                <a:spcPts val="480"/>
              </a:spcBef>
              <a:spcAft>
                <a:spcPts val="0"/>
              </a:spcAft>
              <a:buClr>
                <a:schemeClr val="dk1"/>
              </a:buClr>
              <a:buSzPts val="2400"/>
              <a:buNone/>
            </a:pPr>
            <a:r>
              <a:t/>
            </a:r>
            <a:endParaRPr sz="2400">
              <a:solidFill>
                <a:schemeClr val="dk1"/>
              </a:solidFill>
              <a:latin typeface="Cambria"/>
              <a:ea typeface="Cambria"/>
              <a:cs typeface="Cambria"/>
              <a:sym typeface="Cambria"/>
            </a:endParaRPr>
          </a:p>
        </p:txBody>
      </p:sp>
      <p:sp>
        <p:nvSpPr>
          <p:cNvPr id="632" name="Google Shape;632;p34"/>
          <p:cNvSpPr txBox="1"/>
          <p:nvPr/>
        </p:nvSpPr>
        <p:spPr>
          <a:xfrm>
            <a:off x="2387373" y="4846864"/>
            <a:ext cx="8839200" cy="9239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40424E"/>
                </a:solidFill>
                <a:latin typeface="Arial"/>
                <a:ea typeface="Arial"/>
                <a:cs typeface="Arial"/>
                <a:sym typeface="Arial"/>
              </a:rPr>
              <a:t>Explanation:</a:t>
            </a:r>
            <a:br>
              <a:rPr lang="en-US" sz="1800">
                <a:solidFill>
                  <a:schemeClr val="dk1"/>
                </a:solidFill>
                <a:latin typeface="Arial"/>
                <a:ea typeface="Arial"/>
                <a:cs typeface="Arial"/>
                <a:sym typeface="Arial"/>
              </a:rPr>
            </a:br>
            <a:r>
              <a:rPr lang="en-US" sz="1800">
                <a:solidFill>
                  <a:srgbClr val="40424E"/>
                </a:solidFill>
                <a:latin typeface="Arial"/>
                <a:ea typeface="Arial"/>
                <a:cs typeface="Arial"/>
                <a:sym typeface="Arial"/>
              </a:rPr>
              <a:t>In the above relation, Name is a composite attribute and Phone is a multi-values attribute, so it is violating domain constraint.</a:t>
            </a:r>
            <a:endParaRPr sz="1800">
              <a:solidFill>
                <a:schemeClr val="dk1"/>
              </a:solidFill>
              <a:latin typeface="Calibri"/>
              <a:ea typeface="Calibri"/>
              <a:cs typeface="Calibri"/>
              <a:sym typeface="Calibri"/>
            </a:endParaRPr>
          </a:p>
        </p:txBody>
      </p:sp>
      <p:pic>
        <p:nvPicPr>
          <p:cNvPr id="633" name="Google Shape;633;p34"/>
          <p:cNvPicPr preferRelativeResize="0"/>
          <p:nvPr/>
        </p:nvPicPr>
        <p:blipFill rotWithShape="1">
          <a:blip r:embed="rId3">
            <a:alphaModFix/>
          </a:blip>
          <a:srcRect b="0" l="0" r="0" t="0"/>
          <a:stretch/>
        </p:blipFill>
        <p:spPr>
          <a:xfrm>
            <a:off x="3298372" y="3505201"/>
            <a:ext cx="5029200" cy="1114425"/>
          </a:xfrm>
          <a:prstGeom prst="rect">
            <a:avLst/>
          </a:prstGeom>
          <a:noFill/>
          <a:ln>
            <a:noFill/>
          </a:ln>
        </p:spPr>
      </p:pic>
      <p:sp>
        <p:nvSpPr>
          <p:cNvPr id="634" name="Google Shape;634;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635" name="Google Shape;635;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35"/>
          <p:cNvSpPr txBox="1"/>
          <p:nvPr>
            <p:ph idx="4294967295" type="title"/>
          </p:nvPr>
        </p:nvSpPr>
        <p:spPr>
          <a:xfrm>
            <a:off x="2463330" y="694191"/>
            <a:ext cx="8640097" cy="609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2800"/>
              <a:buFont typeface="Arial"/>
              <a:buNone/>
            </a:pPr>
            <a:r>
              <a:rPr b="1" lang="en-US" sz="3200">
                <a:solidFill>
                  <a:srgbClr val="C00000"/>
                </a:solidFill>
                <a:latin typeface="Arial"/>
                <a:ea typeface="Arial"/>
                <a:cs typeface="Arial"/>
                <a:sym typeface="Arial"/>
              </a:rPr>
              <a:t>Key Constraints or Uniqueness Constraints</a:t>
            </a:r>
            <a:endParaRPr sz="4800">
              <a:latin typeface="Arial"/>
              <a:ea typeface="Arial"/>
              <a:cs typeface="Arial"/>
              <a:sym typeface="Arial"/>
            </a:endParaRPr>
          </a:p>
        </p:txBody>
      </p:sp>
      <p:sp>
        <p:nvSpPr>
          <p:cNvPr id="641" name="Google Shape;641;p35"/>
          <p:cNvSpPr txBox="1"/>
          <p:nvPr>
            <p:ph idx="4294967295" type="body"/>
          </p:nvPr>
        </p:nvSpPr>
        <p:spPr>
          <a:xfrm>
            <a:off x="2599398" y="1219541"/>
            <a:ext cx="8367900" cy="4989000"/>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2400"/>
              <a:buFont typeface="Arial"/>
              <a:buChar char="•"/>
            </a:pPr>
            <a:r>
              <a:rPr lang="en-US" sz="1879">
                <a:solidFill>
                  <a:schemeClr val="dk1"/>
                </a:solidFill>
                <a:latin typeface="Arial"/>
                <a:ea typeface="Arial"/>
                <a:cs typeface="Arial"/>
                <a:sym typeface="Arial"/>
              </a:rPr>
              <a:t>These are called uniqueness constraints since it ensures that every tuple in the relation should be unique.</a:t>
            </a:r>
            <a:endParaRPr sz="1879">
              <a:latin typeface="Arial"/>
              <a:ea typeface="Arial"/>
              <a:cs typeface="Arial"/>
              <a:sym typeface="Arial"/>
            </a:endParaRPr>
          </a:p>
          <a:p>
            <a:pPr indent="-342900" lvl="0" marL="342900" rtl="0" algn="just">
              <a:lnSpc>
                <a:spcPct val="100000"/>
              </a:lnSpc>
              <a:spcBef>
                <a:spcPts val="480"/>
              </a:spcBef>
              <a:spcAft>
                <a:spcPts val="0"/>
              </a:spcAft>
              <a:buClr>
                <a:schemeClr val="dk1"/>
              </a:buClr>
              <a:buSzPts val="2400"/>
              <a:buFont typeface="Arial"/>
              <a:buChar char="•"/>
            </a:pPr>
            <a:r>
              <a:rPr lang="en-US" sz="1879">
                <a:solidFill>
                  <a:schemeClr val="dk1"/>
                </a:solidFill>
                <a:latin typeface="Arial"/>
                <a:ea typeface="Arial"/>
                <a:cs typeface="Arial"/>
                <a:sym typeface="Arial"/>
              </a:rPr>
              <a:t>A relation can have multiple keys or candidate keys(minimal super key), out of which we choose one of the keys as primary key, we don’t have any restriction on choosing the primary key out of candidate keys, but it is suggested to go with the candidate key with a smaller number of attributes.</a:t>
            </a:r>
            <a:endParaRPr sz="1879">
              <a:latin typeface="Arial"/>
              <a:ea typeface="Arial"/>
              <a:cs typeface="Arial"/>
              <a:sym typeface="Arial"/>
            </a:endParaRPr>
          </a:p>
          <a:p>
            <a:pPr indent="-342900" lvl="0" marL="342900" rtl="0" algn="just">
              <a:lnSpc>
                <a:spcPct val="100000"/>
              </a:lnSpc>
              <a:spcBef>
                <a:spcPts val="480"/>
              </a:spcBef>
              <a:spcAft>
                <a:spcPts val="0"/>
              </a:spcAft>
              <a:buClr>
                <a:schemeClr val="dk1"/>
              </a:buClr>
              <a:buSzPts val="2400"/>
              <a:buFont typeface="Arial"/>
              <a:buChar char="•"/>
            </a:pPr>
            <a:r>
              <a:rPr lang="en-US" sz="1879">
                <a:solidFill>
                  <a:schemeClr val="dk1"/>
                </a:solidFill>
                <a:latin typeface="Arial"/>
                <a:ea typeface="Arial"/>
                <a:cs typeface="Arial"/>
                <a:sym typeface="Arial"/>
              </a:rPr>
              <a:t>Null values are not allowed in the primary key, hence Not Null constraint is also a part of key constraint.</a:t>
            </a:r>
            <a:endParaRPr sz="1879">
              <a:latin typeface="Arial"/>
              <a:ea typeface="Arial"/>
              <a:cs typeface="Arial"/>
              <a:sym typeface="Arial"/>
            </a:endParaRPr>
          </a:p>
          <a:p>
            <a:pPr indent="-190500" lvl="0" marL="342900" rtl="0" algn="l">
              <a:lnSpc>
                <a:spcPct val="90000"/>
              </a:lnSpc>
              <a:spcBef>
                <a:spcPts val="480"/>
              </a:spcBef>
              <a:spcAft>
                <a:spcPts val="0"/>
              </a:spcAft>
              <a:buClr>
                <a:schemeClr val="dk1"/>
              </a:buClr>
              <a:buSzPts val="2400"/>
              <a:buNone/>
            </a:pPr>
            <a:r>
              <a:t/>
            </a:r>
            <a:endParaRPr sz="2400">
              <a:solidFill>
                <a:schemeClr val="dk1"/>
              </a:solidFill>
              <a:latin typeface="Cambria"/>
              <a:ea typeface="Cambria"/>
              <a:cs typeface="Cambria"/>
              <a:sym typeface="Cambria"/>
            </a:endParaRPr>
          </a:p>
          <a:p>
            <a:pPr indent="-190500" lvl="0" marL="342900" rtl="0" algn="l">
              <a:lnSpc>
                <a:spcPct val="90000"/>
              </a:lnSpc>
              <a:spcBef>
                <a:spcPts val="480"/>
              </a:spcBef>
              <a:spcAft>
                <a:spcPts val="0"/>
              </a:spcAft>
              <a:buClr>
                <a:schemeClr val="dk1"/>
              </a:buClr>
              <a:buSzPts val="2400"/>
              <a:buNone/>
            </a:pPr>
            <a:r>
              <a:t/>
            </a:r>
            <a:endParaRPr sz="2400">
              <a:solidFill>
                <a:schemeClr val="dk1"/>
              </a:solidFill>
              <a:latin typeface="Cambria"/>
              <a:ea typeface="Cambria"/>
              <a:cs typeface="Cambria"/>
              <a:sym typeface="Cambria"/>
            </a:endParaRPr>
          </a:p>
          <a:p>
            <a:pPr indent="-190500" lvl="0" marL="342900" rtl="0" algn="l">
              <a:lnSpc>
                <a:spcPct val="90000"/>
              </a:lnSpc>
              <a:spcBef>
                <a:spcPts val="480"/>
              </a:spcBef>
              <a:spcAft>
                <a:spcPts val="0"/>
              </a:spcAft>
              <a:buClr>
                <a:schemeClr val="dk1"/>
              </a:buClr>
              <a:buSzPts val="2400"/>
              <a:buNone/>
            </a:pPr>
            <a:r>
              <a:t/>
            </a:r>
            <a:endParaRPr sz="2400">
              <a:solidFill>
                <a:schemeClr val="dk1"/>
              </a:solidFill>
              <a:latin typeface="Cambria"/>
              <a:ea typeface="Cambria"/>
              <a:cs typeface="Cambria"/>
              <a:sym typeface="Cambria"/>
            </a:endParaRPr>
          </a:p>
          <a:p>
            <a:pPr indent="-190500" lvl="0" marL="342900" rtl="0" algn="l">
              <a:lnSpc>
                <a:spcPct val="90000"/>
              </a:lnSpc>
              <a:spcBef>
                <a:spcPts val="480"/>
              </a:spcBef>
              <a:spcAft>
                <a:spcPts val="0"/>
              </a:spcAft>
              <a:buClr>
                <a:schemeClr val="dk1"/>
              </a:buClr>
              <a:buSzPts val="2400"/>
              <a:buNone/>
            </a:pPr>
            <a:r>
              <a:rPr b="1" lang="en-US" sz="1879">
                <a:solidFill>
                  <a:schemeClr val="dk1"/>
                </a:solidFill>
                <a:latin typeface="Arial"/>
                <a:ea typeface="Arial"/>
                <a:cs typeface="Arial"/>
                <a:sym typeface="Arial"/>
              </a:rPr>
              <a:t>Explanation:</a:t>
            </a:r>
            <a:endParaRPr/>
          </a:p>
          <a:p>
            <a:pPr indent="-190500" lvl="0" marL="342900" rtl="0" algn="just">
              <a:lnSpc>
                <a:spcPct val="90000"/>
              </a:lnSpc>
              <a:spcBef>
                <a:spcPts val="480"/>
              </a:spcBef>
              <a:spcAft>
                <a:spcPts val="0"/>
              </a:spcAft>
              <a:buClr>
                <a:schemeClr val="dk1"/>
              </a:buClr>
              <a:buSzPts val="2400"/>
              <a:buNone/>
            </a:pPr>
            <a:r>
              <a:rPr lang="en-US" sz="1879">
                <a:solidFill>
                  <a:schemeClr val="dk1"/>
                </a:solidFill>
                <a:latin typeface="Arial"/>
                <a:ea typeface="Arial"/>
                <a:cs typeface="Arial"/>
                <a:sym typeface="Arial"/>
              </a:rPr>
              <a:t>   In the above table, EID is the primary key, and first and the last tuple has the same value in EID i.e. 01, so it is violating the key constraint.</a:t>
            </a:r>
            <a:endParaRPr sz="1879">
              <a:latin typeface="Arial"/>
              <a:ea typeface="Arial"/>
              <a:cs typeface="Arial"/>
              <a:sym typeface="Arial"/>
            </a:endParaRPr>
          </a:p>
          <a:p>
            <a:pPr indent="-190500" lvl="0" marL="342900" rtl="0" algn="l">
              <a:lnSpc>
                <a:spcPct val="90000"/>
              </a:lnSpc>
              <a:spcBef>
                <a:spcPts val="480"/>
              </a:spcBef>
              <a:spcAft>
                <a:spcPts val="0"/>
              </a:spcAft>
              <a:buClr>
                <a:schemeClr val="dk1"/>
              </a:buClr>
              <a:buSzPts val="2400"/>
              <a:buNone/>
            </a:pPr>
            <a:r>
              <a:t/>
            </a:r>
            <a:endParaRPr sz="2400">
              <a:solidFill>
                <a:schemeClr val="dk1"/>
              </a:solidFill>
              <a:latin typeface="Cambria"/>
              <a:ea typeface="Cambria"/>
              <a:cs typeface="Cambria"/>
              <a:sym typeface="Cambria"/>
            </a:endParaRPr>
          </a:p>
        </p:txBody>
      </p:sp>
      <p:sp>
        <p:nvSpPr>
          <p:cNvPr id="642" name="Google Shape;642;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643" name="Google Shape;643;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pic>
        <p:nvPicPr>
          <p:cNvPr id="644" name="Google Shape;644;p35"/>
          <p:cNvPicPr preferRelativeResize="0"/>
          <p:nvPr/>
        </p:nvPicPr>
        <p:blipFill rotWithShape="1">
          <a:blip r:embed="rId3">
            <a:alphaModFix/>
          </a:blip>
          <a:srcRect b="0" l="0" r="0" t="0"/>
          <a:stretch/>
        </p:blipFill>
        <p:spPr>
          <a:xfrm>
            <a:off x="3581400" y="4347750"/>
            <a:ext cx="4104000" cy="1120321"/>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36"/>
          <p:cNvSpPr txBox="1"/>
          <p:nvPr>
            <p:ph idx="4294967295" type="title"/>
          </p:nvPr>
        </p:nvSpPr>
        <p:spPr>
          <a:xfrm>
            <a:off x="2438400" y="762000"/>
            <a:ext cx="7924800" cy="609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3200"/>
              <a:buFont typeface="Arial"/>
              <a:buNone/>
            </a:pPr>
            <a:r>
              <a:rPr b="1" lang="en-US" sz="3200">
                <a:solidFill>
                  <a:srgbClr val="C00000"/>
                </a:solidFill>
                <a:latin typeface="Arial"/>
                <a:ea typeface="Arial"/>
                <a:cs typeface="Arial"/>
                <a:sym typeface="Arial"/>
              </a:rPr>
              <a:t>Entity Integrity Constraints</a:t>
            </a:r>
            <a:endParaRPr>
              <a:latin typeface="Arial"/>
              <a:ea typeface="Arial"/>
              <a:cs typeface="Arial"/>
              <a:sym typeface="Arial"/>
            </a:endParaRPr>
          </a:p>
        </p:txBody>
      </p:sp>
      <p:sp>
        <p:nvSpPr>
          <p:cNvPr id="650" name="Google Shape;650;p36"/>
          <p:cNvSpPr txBox="1"/>
          <p:nvPr>
            <p:ph idx="4294967295" type="body"/>
          </p:nvPr>
        </p:nvSpPr>
        <p:spPr>
          <a:xfrm>
            <a:off x="1752600" y="1371600"/>
            <a:ext cx="8686800" cy="4876800"/>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2400"/>
              <a:buFont typeface="Arial"/>
              <a:buChar char="•"/>
            </a:pPr>
            <a:r>
              <a:rPr lang="en-US" sz="1879">
                <a:solidFill>
                  <a:schemeClr val="dk1"/>
                </a:solidFill>
                <a:latin typeface="Arial"/>
                <a:ea typeface="Arial"/>
                <a:cs typeface="Arial"/>
                <a:sym typeface="Arial"/>
              </a:rPr>
              <a:t>Entity Integrity constraints says that no primary key can take NULL value, since using primary key we identify each tuple uniquely in a relation.</a:t>
            </a:r>
            <a:endParaRPr sz="1879">
              <a:latin typeface="Arial"/>
              <a:ea typeface="Arial"/>
              <a:cs typeface="Arial"/>
              <a:sym typeface="Arial"/>
            </a:endParaRPr>
          </a:p>
          <a:p>
            <a:pPr indent="-190500" lvl="0" marL="342900" rtl="0" algn="just">
              <a:lnSpc>
                <a:spcPct val="100000"/>
              </a:lnSpc>
              <a:spcBef>
                <a:spcPts val="480"/>
              </a:spcBef>
              <a:spcAft>
                <a:spcPts val="0"/>
              </a:spcAft>
              <a:buClr>
                <a:schemeClr val="dk1"/>
              </a:buClr>
              <a:buSzPts val="2400"/>
              <a:buNone/>
            </a:pPr>
            <a:r>
              <a:t/>
            </a:r>
            <a:endParaRPr b="1" sz="1879">
              <a:solidFill>
                <a:schemeClr val="dk1"/>
              </a:solidFill>
              <a:latin typeface="Arial"/>
              <a:ea typeface="Arial"/>
              <a:cs typeface="Arial"/>
              <a:sym typeface="Arial"/>
            </a:endParaRPr>
          </a:p>
          <a:p>
            <a:pPr indent="-190500" lvl="0" marL="342900" rtl="0" algn="just">
              <a:lnSpc>
                <a:spcPct val="100000"/>
              </a:lnSpc>
              <a:spcBef>
                <a:spcPts val="480"/>
              </a:spcBef>
              <a:spcAft>
                <a:spcPts val="0"/>
              </a:spcAft>
              <a:buClr>
                <a:schemeClr val="dk1"/>
              </a:buClr>
              <a:buSzPts val="2400"/>
              <a:buNone/>
            </a:pPr>
            <a:r>
              <a:t/>
            </a:r>
            <a:endParaRPr b="1" sz="1879">
              <a:solidFill>
                <a:schemeClr val="dk1"/>
              </a:solidFill>
              <a:latin typeface="Arial"/>
              <a:ea typeface="Arial"/>
              <a:cs typeface="Arial"/>
              <a:sym typeface="Arial"/>
            </a:endParaRPr>
          </a:p>
          <a:p>
            <a:pPr indent="-190500" lvl="0" marL="342900" rtl="0" algn="just">
              <a:lnSpc>
                <a:spcPct val="100000"/>
              </a:lnSpc>
              <a:spcBef>
                <a:spcPts val="480"/>
              </a:spcBef>
              <a:spcAft>
                <a:spcPts val="0"/>
              </a:spcAft>
              <a:buClr>
                <a:schemeClr val="dk1"/>
              </a:buClr>
              <a:buSzPts val="2400"/>
              <a:buNone/>
            </a:pPr>
            <a:r>
              <a:t/>
            </a:r>
            <a:endParaRPr b="1" sz="1879">
              <a:solidFill>
                <a:schemeClr val="dk1"/>
              </a:solidFill>
              <a:latin typeface="Arial"/>
              <a:ea typeface="Arial"/>
              <a:cs typeface="Arial"/>
              <a:sym typeface="Arial"/>
            </a:endParaRPr>
          </a:p>
          <a:p>
            <a:pPr indent="-190500" lvl="0" marL="342900" rtl="0" algn="just">
              <a:lnSpc>
                <a:spcPct val="100000"/>
              </a:lnSpc>
              <a:spcBef>
                <a:spcPts val="480"/>
              </a:spcBef>
              <a:spcAft>
                <a:spcPts val="0"/>
              </a:spcAft>
              <a:buClr>
                <a:schemeClr val="dk1"/>
              </a:buClr>
              <a:buSzPts val="2400"/>
              <a:buNone/>
            </a:pPr>
            <a:r>
              <a:t/>
            </a:r>
            <a:endParaRPr b="1" sz="1879">
              <a:solidFill>
                <a:schemeClr val="dk1"/>
              </a:solidFill>
              <a:latin typeface="Arial"/>
              <a:ea typeface="Arial"/>
              <a:cs typeface="Arial"/>
              <a:sym typeface="Arial"/>
            </a:endParaRPr>
          </a:p>
          <a:p>
            <a:pPr indent="-190500" lvl="0" marL="342900" rtl="0" algn="just">
              <a:lnSpc>
                <a:spcPct val="100000"/>
              </a:lnSpc>
              <a:spcBef>
                <a:spcPts val="480"/>
              </a:spcBef>
              <a:spcAft>
                <a:spcPts val="0"/>
              </a:spcAft>
              <a:buClr>
                <a:schemeClr val="dk1"/>
              </a:buClr>
              <a:buSzPts val="2400"/>
              <a:buNone/>
            </a:pPr>
            <a:r>
              <a:t/>
            </a:r>
            <a:endParaRPr b="1" sz="1879">
              <a:solidFill>
                <a:schemeClr val="dk1"/>
              </a:solidFill>
              <a:latin typeface="Arial"/>
              <a:ea typeface="Arial"/>
              <a:cs typeface="Arial"/>
              <a:sym typeface="Arial"/>
            </a:endParaRPr>
          </a:p>
          <a:p>
            <a:pPr indent="0" lvl="0" marL="0" rtl="0" algn="just">
              <a:lnSpc>
                <a:spcPct val="100000"/>
              </a:lnSpc>
              <a:spcBef>
                <a:spcPts val="480"/>
              </a:spcBef>
              <a:spcAft>
                <a:spcPts val="0"/>
              </a:spcAft>
              <a:buClr>
                <a:schemeClr val="dk1"/>
              </a:buClr>
              <a:buSzPts val="2400"/>
              <a:buNone/>
            </a:pPr>
            <a:r>
              <a:t/>
            </a:r>
            <a:endParaRPr b="1" sz="1879">
              <a:solidFill>
                <a:schemeClr val="dk1"/>
              </a:solidFill>
              <a:latin typeface="Arial"/>
              <a:ea typeface="Arial"/>
              <a:cs typeface="Arial"/>
              <a:sym typeface="Arial"/>
            </a:endParaRPr>
          </a:p>
          <a:p>
            <a:pPr indent="0" lvl="0" marL="0" rtl="0" algn="l">
              <a:lnSpc>
                <a:spcPct val="100000"/>
              </a:lnSpc>
              <a:spcBef>
                <a:spcPts val="480"/>
              </a:spcBef>
              <a:spcAft>
                <a:spcPts val="0"/>
              </a:spcAft>
              <a:buClr>
                <a:schemeClr val="dk1"/>
              </a:buClr>
              <a:buSzPts val="2400"/>
              <a:buNone/>
            </a:pPr>
            <a:r>
              <a:rPr b="1" lang="en-US" sz="1879">
                <a:solidFill>
                  <a:schemeClr val="dk1"/>
                </a:solidFill>
                <a:latin typeface="Arial"/>
                <a:ea typeface="Arial"/>
                <a:cs typeface="Arial"/>
                <a:sym typeface="Arial"/>
              </a:rPr>
              <a:t>Explanation:</a:t>
            </a:r>
            <a:br>
              <a:rPr lang="en-US" sz="1879">
                <a:solidFill>
                  <a:schemeClr val="dk1"/>
                </a:solidFill>
                <a:latin typeface="Arial"/>
                <a:ea typeface="Arial"/>
                <a:cs typeface="Arial"/>
                <a:sym typeface="Arial"/>
              </a:rPr>
            </a:br>
            <a:r>
              <a:rPr lang="en-US" sz="1879">
                <a:solidFill>
                  <a:schemeClr val="dk1"/>
                </a:solidFill>
                <a:latin typeface="Arial"/>
                <a:ea typeface="Arial"/>
                <a:cs typeface="Arial"/>
                <a:sym typeface="Arial"/>
              </a:rPr>
              <a:t>In the above relation, EID is made primary key, and the primary key cant take NULL values but in the third tuple, the primary key is null, so it is a violating Entity Integrity constraints.</a:t>
            </a:r>
            <a:endParaRPr sz="1879">
              <a:latin typeface="Arial"/>
              <a:ea typeface="Arial"/>
              <a:cs typeface="Arial"/>
              <a:sym typeface="Arial"/>
            </a:endParaRPr>
          </a:p>
        </p:txBody>
      </p:sp>
      <p:pic>
        <p:nvPicPr>
          <p:cNvPr id="651" name="Google Shape;651;p36"/>
          <p:cNvPicPr preferRelativeResize="0"/>
          <p:nvPr/>
        </p:nvPicPr>
        <p:blipFill rotWithShape="1">
          <a:blip r:embed="rId3">
            <a:alphaModFix/>
          </a:blip>
          <a:srcRect b="0" l="0" r="0" t="0"/>
          <a:stretch/>
        </p:blipFill>
        <p:spPr>
          <a:xfrm>
            <a:off x="4038600" y="2147888"/>
            <a:ext cx="4287837" cy="1662112"/>
          </a:xfrm>
          <a:prstGeom prst="rect">
            <a:avLst/>
          </a:prstGeom>
          <a:noFill/>
          <a:ln>
            <a:noFill/>
          </a:ln>
        </p:spPr>
      </p:pic>
      <p:sp>
        <p:nvSpPr>
          <p:cNvPr id="652" name="Google Shape;652;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653" name="Google Shape;653;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37"/>
          <p:cNvSpPr txBox="1"/>
          <p:nvPr>
            <p:ph idx="4294967295" type="title"/>
          </p:nvPr>
        </p:nvSpPr>
        <p:spPr>
          <a:xfrm>
            <a:off x="2601686" y="816429"/>
            <a:ext cx="7924800" cy="609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2800"/>
              <a:buFont typeface="Arial"/>
              <a:buNone/>
            </a:pPr>
            <a:r>
              <a:rPr b="1" lang="en-US" sz="3200">
                <a:solidFill>
                  <a:srgbClr val="C00000"/>
                </a:solidFill>
                <a:latin typeface="Arial"/>
                <a:ea typeface="Arial"/>
                <a:cs typeface="Arial"/>
                <a:sym typeface="Arial"/>
              </a:rPr>
              <a:t> Referential Integrity Constraints</a:t>
            </a:r>
            <a:endParaRPr sz="4800">
              <a:latin typeface="Arial"/>
              <a:ea typeface="Arial"/>
              <a:cs typeface="Arial"/>
              <a:sym typeface="Arial"/>
            </a:endParaRPr>
          </a:p>
        </p:txBody>
      </p:sp>
      <p:sp>
        <p:nvSpPr>
          <p:cNvPr id="659" name="Google Shape;659;p37"/>
          <p:cNvSpPr txBox="1"/>
          <p:nvPr>
            <p:ph idx="4294967295" type="body"/>
          </p:nvPr>
        </p:nvSpPr>
        <p:spPr>
          <a:xfrm>
            <a:off x="2438400" y="1741713"/>
            <a:ext cx="8001000" cy="3189515"/>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lnSpc>
                <a:spcPct val="90000"/>
              </a:lnSpc>
              <a:spcBef>
                <a:spcPts val="0"/>
              </a:spcBef>
              <a:spcAft>
                <a:spcPts val="0"/>
              </a:spcAft>
              <a:buClr>
                <a:schemeClr val="dk1"/>
              </a:buClr>
              <a:buSzPts val="2400"/>
              <a:buFont typeface="Arial"/>
              <a:buChar char="•"/>
            </a:pPr>
            <a:r>
              <a:rPr lang="en-US" sz="1879">
                <a:solidFill>
                  <a:schemeClr val="dk1"/>
                </a:solidFill>
                <a:latin typeface="Arial"/>
                <a:ea typeface="Arial"/>
                <a:cs typeface="Arial"/>
                <a:sym typeface="Arial"/>
              </a:rPr>
              <a:t>The Referential integrity constraints is specified between two relations or tables and used to maintain the consistency among the tuples in two relations.</a:t>
            </a:r>
            <a:endParaRPr sz="1879">
              <a:latin typeface="Arial"/>
              <a:ea typeface="Arial"/>
              <a:cs typeface="Arial"/>
              <a:sym typeface="Arial"/>
            </a:endParaRPr>
          </a:p>
          <a:p>
            <a:pPr indent="-342900" lvl="0" marL="342900" rtl="0" algn="just">
              <a:lnSpc>
                <a:spcPct val="90000"/>
              </a:lnSpc>
              <a:spcBef>
                <a:spcPts val="480"/>
              </a:spcBef>
              <a:spcAft>
                <a:spcPts val="0"/>
              </a:spcAft>
              <a:buClr>
                <a:schemeClr val="dk1"/>
              </a:buClr>
              <a:buSzPts val="2400"/>
              <a:buFont typeface="Arial"/>
              <a:buChar char="•"/>
            </a:pPr>
            <a:r>
              <a:rPr lang="en-US" sz="1879">
                <a:solidFill>
                  <a:schemeClr val="dk1"/>
                </a:solidFill>
                <a:latin typeface="Arial"/>
                <a:ea typeface="Arial"/>
                <a:cs typeface="Arial"/>
                <a:sym typeface="Arial"/>
              </a:rPr>
              <a:t>This constraint is enforced through foreign key, when an attribute in the foreign key of relation R1 have the same domain(s) as the primary key of relation R2, then the foreign key of R1 is said to reference or refer to the primary key of relation R2.</a:t>
            </a:r>
            <a:endParaRPr sz="1879">
              <a:latin typeface="Arial"/>
              <a:ea typeface="Arial"/>
              <a:cs typeface="Arial"/>
              <a:sym typeface="Arial"/>
            </a:endParaRPr>
          </a:p>
          <a:p>
            <a:pPr indent="-342900" lvl="0" marL="342900" rtl="0" algn="just">
              <a:lnSpc>
                <a:spcPct val="90000"/>
              </a:lnSpc>
              <a:spcBef>
                <a:spcPts val="480"/>
              </a:spcBef>
              <a:spcAft>
                <a:spcPts val="0"/>
              </a:spcAft>
              <a:buClr>
                <a:schemeClr val="dk1"/>
              </a:buClr>
              <a:buSzPts val="2400"/>
              <a:buFont typeface="Arial"/>
              <a:buChar char="•"/>
            </a:pPr>
            <a:r>
              <a:rPr lang="en-US" sz="1879">
                <a:solidFill>
                  <a:schemeClr val="dk1"/>
                </a:solidFill>
                <a:latin typeface="Arial"/>
                <a:ea typeface="Arial"/>
                <a:cs typeface="Arial"/>
                <a:sym typeface="Arial"/>
              </a:rPr>
              <a:t>The values of the foreign key in a tuple of relation R1 can either take the values of the primary key for some tuple in relation R2, or can take NULL values, but can’t be empty.</a:t>
            </a:r>
            <a:endParaRPr sz="1879">
              <a:latin typeface="Arial"/>
              <a:ea typeface="Arial"/>
              <a:cs typeface="Arial"/>
              <a:sym typeface="Arial"/>
            </a:endParaRPr>
          </a:p>
          <a:p>
            <a:pPr indent="-190500" lvl="0" marL="342900" rtl="0" algn="l">
              <a:lnSpc>
                <a:spcPct val="90000"/>
              </a:lnSpc>
              <a:spcBef>
                <a:spcPts val="480"/>
              </a:spcBef>
              <a:spcAft>
                <a:spcPts val="0"/>
              </a:spcAft>
              <a:buClr>
                <a:schemeClr val="dk1"/>
              </a:buClr>
              <a:buSzPts val="2400"/>
              <a:buNone/>
            </a:pPr>
            <a:r>
              <a:t/>
            </a:r>
            <a:endParaRPr sz="2400">
              <a:solidFill>
                <a:schemeClr val="dk1"/>
              </a:solidFill>
              <a:latin typeface="Cambria"/>
              <a:ea typeface="Cambria"/>
              <a:cs typeface="Cambria"/>
              <a:sym typeface="Cambria"/>
            </a:endParaRPr>
          </a:p>
        </p:txBody>
      </p:sp>
      <p:sp>
        <p:nvSpPr>
          <p:cNvPr id="660" name="Google Shape;660;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661" name="Google Shape;661;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38"/>
          <p:cNvSpPr txBox="1"/>
          <p:nvPr>
            <p:ph idx="4294967295" type="body"/>
          </p:nvPr>
        </p:nvSpPr>
        <p:spPr>
          <a:xfrm>
            <a:off x="1676400" y="1371600"/>
            <a:ext cx="4800600" cy="48768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2400"/>
              <a:buNone/>
            </a:pPr>
            <a:r>
              <a:rPr b="1" lang="en-US" sz="1879">
                <a:solidFill>
                  <a:schemeClr val="dk1"/>
                </a:solidFill>
                <a:latin typeface="Arial"/>
                <a:ea typeface="Arial"/>
                <a:cs typeface="Arial"/>
                <a:sym typeface="Arial"/>
              </a:rPr>
              <a:t>Explanation:</a:t>
            </a:r>
            <a:endParaRPr/>
          </a:p>
          <a:p>
            <a:pPr indent="0" lvl="0" marL="0" rtl="0" algn="just">
              <a:lnSpc>
                <a:spcPct val="100000"/>
              </a:lnSpc>
              <a:spcBef>
                <a:spcPts val="0"/>
              </a:spcBef>
              <a:spcAft>
                <a:spcPts val="0"/>
              </a:spcAft>
              <a:buClr>
                <a:schemeClr val="dk1"/>
              </a:buClr>
              <a:buSzPts val="2400"/>
              <a:buNone/>
            </a:pPr>
            <a:br>
              <a:rPr lang="en-US" sz="1879">
                <a:solidFill>
                  <a:schemeClr val="dk1"/>
                </a:solidFill>
                <a:latin typeface="Arial"/>
                <a:ea typeface="Arial"/>
                <a:cs typeface="Arial"/>
                <a:sym typeface="Arial"/>
              </a:rPr>
            </a:br>
            <a:r>
              <a:rPr lang="en-US" sz="1879">
                <a:solidFill>
                  <a:schemeClr val="dk1"/>
                </a:solidFill>
                <a:latin typeface="Arial"/>
                <a:ea typeface="Arial"/>
                <a:cs typeface="Arial"/>
                <a:sym typeface="Arial"/>
              </a:rPr>
              <a:t>In the table, DNO of the first relation is the foreign key, and DNO in the second relation is the primary key. DNO = 22 in the foreign key of the first table is not allowed since DNO = 22</a:t>
            </a:r>
            <a:br>
              <a:rPr lang="en-US" sz="1879">
                <a:solidFill>
                  <a:schemeClr val="dk1"/>
                </a:solidFill>
                <a:latin typeface="Arial"/>
                <a:ea typeface="Arial"/>
                <a:cs typeface="Arial"/>
                <a:sym typeface="Arial"/>
              </a:rPr>
            </a:br>
            <a:r>
              <a:rPr lang="en-US" sz="1879">
                <a:solidFill>
                  <a:schemeClr val="dk1"/>
                </a:solidFill>
                <a:latin typeface="Arial"/>
                <a:ea typeface="Arial"/>
                <a:cs typeface="Arial"/>
                <a:sym typeface="Arial"/>
              </a:rPr>
              <a:t>is not defined in the primary key of the second relation. Therefore, Referential integrity constraints is violated here</a:t>
            </a:r>
            <a:endParaRPr sz="1879">
              <a:latin typeface="Arial"/>
              <a:ea typeface="Arial"/>
              <a:cs typeface="Arial"/>
              <a:sym typeface="Arial"/>
            </a:endParaRPr>
          </a:p>
        </p:txBody>
      </p:sp>
      <p:pic>
        <p:nvPicPr>
          <p:cNvPr id="667" name="Google Shape;667;p38"/>
          <p:cNvPicPr preferRelativeResize="0"/>
          <p:nvPr/>
        </p:nvPicPr>
        <p:blipFill rotWithShape="1">
          <a:blip r:embed="rId3">
            <a:alphaModFix/>
          </a:blip>
          <a:srcRect b="0" l="0" r="0" t="0"/>
          <a:stretch/>
        </p:blipFill>
        <p:spPr>
          <a:xfrm>
            <a:off x="7162800" y="1403350"/>
            <a:ext cx="3352800" cy="4311650"/>
          </a:xfrm>
          <a:prstGeom prst="rect">
            <a:avLst/>
          </a:prstGeom>
          <a:noFill/>
          <a:ln>
            <a:noFill/>
          </a:ln>
        </p:spPr>
      </p:pic>
      <p:sp>
        <p:nvSpPr>
          <p:cNvPr id="668" name="Google Shape;668;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669" name="Google Shape;669;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p39"/>
          <p:cNvSpPr txBox="1"/>
          <p:nvPr>
            <p:ph idx="4294967295" type="title"/>
          </p:nvPr>
        </p:nvSpPr>
        <p:spPr>
          <a:xfrm>
            <a:off x="1219200" y="681037"/>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3200"/>
              <a:buFont typeface="Arial"/>
              <a:buNone/>
            </a:pPr>
            <a:r>
              <a:rPr lang="en-US" sz="3200">
                <a:solidFill>
                  <a:srgbClr val="C00000"/>
                </a:solidFill>
                <a:latin typeface="Arial"/>
                <a:ea typeface="Arial"/>
                <a:cs typeface="Arial"/>
                <a:sym typeface="Arial"/>
              </a:rPr>
              <a:t>Relationship Types</a:t>
            </a:r>
            <a:endParaRPr/>
          </a:p>
        </p:txBody>
      </p:sp>
      <p:sp>
        <p:nvSpPr>
          <p:cNvPr id="675" name="Google Shape;675;p39"/>
          <p:cNvSpPr txBox="1"/>
          <p:nvPr>
            <p:ph idx="4294967295" type="body"/>
          </p:nvPr>
        </p:nvSpPr>
        <p:spPr>
          <a:xfrm>
            <a:off x="4539343" y="2187574"/>
            <a:ext cx="4278085"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latin typeface="Arial"/>
                <a:ea typeface="Arial"/>
                <a:cs typeface="Arial"/>
                <a:sym typeface="Arial"/>
              </a:rPr>
              <a:t>Specialization</a:t>
            </a:r>
            <a:endParaRPr/>
          </a:p>
          <a:p>
            <a:pPr indent="-228600" lvl="0" marL="228600" rtl="0" algn="l">
              <a:lnSpc>
                <a:spcPct val="90000"/>
              </a:lnSpc>
              <a:spcBef>
                <a:spcPts val="1000"/>
              </a:spcBef>
              <a:spcAft>
                <a:spcPts val="0"/>
              </a:spcAft>
              <a:buClr>
                <a:schemeClr val="dk1"/>
              </a:buClr>
              <a:buSzPts val="2800"/>
              <a:buChar char="•"/>
            </a:pPr>
            <a:r>
              <a:rPr lang="en-US">
                <a:latin typeface="Arial"/>
                <a:ea typeface="Arial"/>
                <a:cs typeface="Arial"/>
                <a:sym typeface="Arial"/>
              </a:rPr>
              <a:t>Generalization</a:t>
            </a:r>
            <a:endParaRPr/>
          </a:p>
          <a:p>
            <a:pPr indent="-228600" lvl="0" marL="228600" rtl="0" algn="l">
              <a:lnSpc>
                <a:spcPct val="90000"/>
              </a:lnSpc>
              <a:spcBef>
                <a:spcPts val="1000"/>
              </a:spcBef>
              <a:spcAft>
                <a:spcPts val="0"/>
              </a:spcAft>
              <a:buClr>
                <a:schemeClr val="dk1"/>
              </a:buClr>
              <a:buSzPts val="2800"/>
              <a:buChar char="•"/>
            </a:pPr>
            <a:r>
              <a:rPr lang="en-US">
                <a:latin typeface="Arial"/>
                <a:ea typeface="Arial"/>
                <a:cs typeface="Arial"/>
                <a:sym typeface="Arial"/>
              </a:rPr>
              <a:t>Aggregation</a:t>
            </a:r>
            <a:endParaRPr/>
          </a:p>
          <a:p>
            <a:pPr indent="-228600" lvl="0" marL="228600" rtl="0" algn="l">
              <a:lnSpc>
                <a:spcPct val="90000"/>
              </a:lnSpc>
              <a:spcBef>
                <a:spcPts val="1000"/>
              </a:spcBef>
              <a:spcAft>
                <a:spcPts val="0"/>
              </a:spcAft>
              <a:buClr>
                <a:schemeClr val="dk1"/>
              </a:buClr>
              <a:buSzPts val="2800"/>
              <a:buFont typeface="Arial"/>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676" name="Google Shape;676;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677" name="Google Shape;677;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40"/>
          <p:cNvSpPr txBox="1"/>
          <p:nvPr>
            <p:ph idx="4294967295" type="title"/>
          </p:nvPr>
        </p:nvSpPr>
        <p:spPr>
          <a:xfrm>
            <a:off x="567200" y="295025"/>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3200"/>
              <a:buFont typeface="Arial"/>
              <a:buNone/>
            </a:pPr>
            <a:r>
              <a:rPr lang="en-US" sz="3200">
                <a:solidFill>
                  <a:srgbClr val="C00000"/>
                </a:solidFill>
                <a:latin typeface="Arial"/>
                <a:ea typeface="Arial"/>
                <a:cs typeface="Arial"/>
                <a:sym typeface="Arial"/>
              </a:rPr>
              <a:t>Specialization</a:t>
            </a:r>
            <a:endParaRPr/>
          </a:p>
        </p:txBody>
      </p:sp>
      <p:sp>
        <p:nvSpPr>
          <p:cNvPr id="683" name="Google Shape;683;p40"/>
          <p:cNvSpPr/>
          <p:nvPr/>
        </p:nvSpPr>
        <p:spPr>
          <a:xfrm>
            <a:off x="1496300" y="1620600"/>
            <a:ext cx="3990000" cy="4709100"/>
          </a:xfrm>
          <a:prstGeom prst="rect">
            <a:avLst/>
          </a:prstGeom>
          <a:solidFill>
            <a:srgbClr val="FFFFFF"/>
          </a:solidFill>
          <a:ln>
            <a:noFill/>
          </a:ln>
        </p:spPr>
        <p:txBody>
          <a:bodyPr anchorCtr="0" anchor="ctr" bIns="0" lIns="0" spcFirstLastPara="1" rIns="0" wrap="square" tIns="0">
            <a:spAutoFit/>
          </a:bodyPr>
          <a:lstStyle/>
          <a:p>
            <a:pPr indent="0" lvl="0" marL="0" marR="0" rtl="0" algn="just">
              <a:spcBef>
                <a:spcPts val="0"/>
              </a:spcBef>
              <a:spcAft>
                <a:spcPts val="0"/>
              </a:spcAft>
              <a:buNone/>
            </a:pPr>
            <a:r>
              <a:rPr lang="en-US" sz="1800">
                <a:solidFill>
                  <a:schemeClr val="dk1"/>
                </a:solidFill>
                <a:latin typeface="Arial"/>
                <a:ea typeface="Arial"/>
                <a:cs typeface="Arial"/>
                <a:sym typeface="Arial"/>
              </a:rPr>
              <a:t>In specialization, an entity is divided into sub-entities based on their characteristics. It is a top-down approach where higher level entity is specialized into two or more lower-level entities. </a:t>
            </a:r>
            <a:endParaRPr/>
          </a:p>
          <a:p>
            <a:pPr indent="0" lvl="0" marL="0" marR="0" rtl="0" algn="just">
              <a:spcBef>
                <a:spcPts val="0"/>
              </a:spcBef>
              <a:spcAft>
                <a:spcPts val="0"/>
              </a:spcAft>
              <a:buNone/>
            </a:pPr>
            <a:r>
              <a:rPr b="1" lang="en-US" sz="1800">
                <a:solidFill>
                  <a:schemeClr val="dk1"/>
                </a:solidFill>
                <a:latin typeface="Arial"/>
                <a:ea typeface="Arial"/>
                <a:cs typeface="Arial"/>
                <a:sym typeface="Arial"/>
              </a:rPr>
              <a:t>For Example, </a:t>
            </a:r>
            <a:r>
              <a:rPr lang="en-US" sz="1800">
                <a:solidFill>
                  <a:schemeClr val="dk1"/>
                </a:solidFill>
                <a:latin typeface="Arial"/>
                <a:ea typeface="Arial"/>
                <a:cs typeface="Arial"/>
                <a:sym typeface="Arial"/>
              </a:rPr>
              <a:t>EMPLOYEE entity in an Employee management system can be specialized into DEVELOPER, TESTER etc. as shown in Figure 2. In this case, common attributes like E_NAME, E_SAL etc. become part of higher entity (EMPLOYEE) and specialized attributes like TES_TYPE become part of specialized entity (TESTER).</a:t>
            </a:r>
            <a:br>
              <a:rPr lang="en-US" sz="1800">
                <a:solidFill>
                  <a:schemeClr val="dk1"/>
                </a:solidFill>
                <a:latin typeface="Calibri"/>
                <a:ea typeface="Calibri"/>
                <a:cs typeface="Calibri"/>
                <a:sym typeface="Calibri"/>
              </a:rPr>
            </a:br>
            <a:r>
              <a:rPr lang="en-US" sz="1800">
                <a:solidFill>
                  <a:srgbClr val="EC4E20"/>
                </a:solidFill>
                <a:latin typeface="Calibri"/>
                <a:ea typeface="Calibri"/>
                <a:cs typeface="Calibri"/>
                <a:sym typeface="Calibri"/>
              </a:rPr>
              <a:t>   </a:t>
            </a:r>
            <a:r>
              <a:rPr lang="en-US" sz="18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pic>
        <p:nvPicPr>
          <p:cNvPr descr="img2" id="684" name="Google Shape;684;p40">
            <a:hlinkClick r:id="rId3"/>
          </p:cNvPr>
          <p:cNvPicPr preferRelativeResize="0"/>
          <p:nvPr/>
        </p:nvPicPr>
        <p:blipFill rotWithShape="1">
          <a:blip r:embed="rId4">
            <a:alphaModFix/>
          </a:blip>
          <a:srcRect b="0" l="0" r="0" t="0"/>
          <a:stretch/>
        </p:blipFill>
        <p:spPr>
          <a:xfrm>
            <a:off x="6092825" y="1905000"/>
            <a:ext cx="3733800" cy="3733800"/>
          </a:xfrm>
          <a:prstGeom prst="rect">
            <a:avLst/>
          </a:prstGeom>
          <a:noFill/>
          <a:ln>
            <a:noFill/>
          </a:ln>
        </p:spPr>
      </p:pic>
      <p:sp>
        <p:nvSpPr>
          <p:cNvPr id="685" name="Google Shape;685;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686" name="Google Shape;686;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41"/>
          <p:cNvSpPr txBox="1"/>
          <p:nvPr>
            <p:ph idx="4294967295"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3200"/>
              <a:buFont typeface="Arial"/>
              <a:buNone/>
            </a:pPr>
            <a:r>
              <a:rPr lang="en-US" sz="3200">
                <a:solidFill>
                  <a:srgbClr val="C00000"/>
                </a:solidFill>
                <a:latin typeface="Arial"/>
                <a:ea typeface="Arial"/>
                <a:cs typeface="Arial"/>
                <a:sym typeface="Arial"/>
              </a:rPr>
              <a:t>Aggregation</a:t>
            </a:r>
            <a:endParaRPr/>
          </a:p>
        </p:txBody>
      </p:sp>
      <p:sp>
        <p:nvSpPr>
          <p:cNvPr id="692" name="Google Shape;692;p41"/>
          <p:cNvSpPr txBox="1"/>
          <p:nvPr>
            <p:ph idx="4294967295" type="body"/>
          </p:nvPr>
        </p:nvSpPr>
        <p:spPr>
          <a:xfrm>
            <a:off x="1828800" y="1752600"/>
            <a:ext cx="4572000" cy="449580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1800"/>
              <a:buNone/>
            </a:pPr>
            <a:r>
              <a:rPr lang="en-US" sz="1800">
                <a:latin typeface="Arial"/>
                <a:ea typeface="Arial"/>
                <a:cs typeface="Arial"/>
                <a:sym typeface="Arial"/>
              </a:rPr>
              <a:t>An ER diagram is not capable of representing relationship between an entity and a relationship which may be required in some scenarios. In those cases, a relationship with its corresponding entities is aggregated into a higher-level entity. </a:t>
            </a:r>
            <a:endParaRPr/>
          </a:p>
          <a:p>
            <a:pPr indent="0" lvl="0" marL="0" rtl="0" algn="just">
              <a:lnSpc>
                <a:spcPct val="90000"/>
              </a:lnSpc>
              <a:spcBef>
                <a:spcPts val="1000"/>
              </a:spcBef>
              <a:spcAft>
                <a:spcPts val="0"/>
              </a:spcAft>
              <a:buClr>
                <a:schemeClr val="dk1"/>
              </a:buClr>
              <a:buSzPts val="1800"/>
              <a:buNone/>
            </a:pPr>
            <a:r>
              <a:rPr b="1" lang="en-US" sz="1800">
                <a:latin typeface="Arial"/>
                <a:ea typeface="Arial"/>
                <a:cs typeface="Arial"/>
                <a:sym typeface="Arial"/>
              </a:rPr>
              <a:t>For Example, </a:t>
            </a:r>
            <a:r>
              <a:rPr lang="en-US" sz="1800">
                <a:latin typeface="Arial"/>
                <a:ea typeface="Arial"/>
                <a:cs typeface="Arial"/>
                <a:sym typeface="Arial"/>
              </a:rPr>
              <a:t>Employee working for a project may require some machinery. So, REQUIRE relationship is needed between relationship WORKS_FOR and entity MACHINERY. Using aggregation, WORKS_FOR relationship with its entities EMPLOYEE and PROJECT is aggregated into single entity and relationship REQUIRE is created between aggregated entity and MACHINERY.</a:t>
            </a:r>
            <a:endParaRPr sz="1800">
              <a:latin typeface="Arial"/>
              <a:ea typeface="Arial"/>
              <a:cs typeface="Arial"/>
              <a:sym typeface="Arial"/>
            </a:endParaRPr>
          </a:p>
        </p:txBody>
      </p:sp>
      <p:pic>
        <p:nvPicPr>
          <p:cNvPr descr="Lightbox" id="693" name="Google Shape;693;p41"/>
          <p:cNvPicPr preferRelativeResize="0"/>
          <p:nvPr/>
        </p:nvPicPr>
        <p:blipFill rotWithShape="1">
          <a:blip r:embed="rId3">
            <a:alphaModFix/>
          </a:blip>
          <a:srcRect b="0" l="0" r="0" t="0"/>
          <a:stretch/>
        </p:blipFill>
        <p:spPr>
          <a:xfrm>
            <a:off x="6705600" y="1665289"/>
            <a:ext cx="3429000" cy="4048125"/>
          </a:xfrm>
          <a:prstGeom prst="rect">
            <a:avLst/>
          </a:prstGeom>
          <a:noFill/>
          <a:ln>
            <a:noFill/>
          </a:ln>
        </p:spPr>
      </p:pic>
      <p:sp>
        <p:nvSpPr>
          <p:cNvPr id="694" name="Google Shape;694;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695" name="Google Shape;695;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42"/>
          <p:cNvSpPr txBox="1"/>
          <p:nvPr>
            <p:ph idx="4294967295"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3200"/>
              <a:buFont typeface="Arial"/>
              <a:buNone/>
            </a:pPr>
            <a:r>
              <a:rPr lang="en-US" sz="3200">
                <a:solidFill>
                  <a:srgbClr val="C00000"/>
                </a:solidFill>
                <a:latin typeface="Arial"/>
                <a:ea typeface="Arial"/>
                <a:cs typeface="Arial"/>
                <a:sym typeface="Arial"/>
              </a:rPr>
              <a:t>Generalization</a:t>
            </a:r>
            <a:endParaRPr/>
          </a:p>
        </p:txBody>
      </p:sp>
      <p:sp>
        <p:nvSpPr>
          <p:cNvPr id="701" name="Google Shape;701;p42"/>
          <p:cNvSpPr txBox="1"/>
          <p:nvPr/>
        </p:nvSpPr>
        <p:spPr>
          <a:xfrm>
            <a:off x="1752600" y="1628776"/>
            <a:ext cx="4038600" cy="5078313"/>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chemeClr val="dk1"/>
                </a:solidFill>
                <a:latin typeface="Arial"/>
                <a:ea typeface="Arial"/>
                <a:cs typeface="Arial"/>
                <a:sym typeface="Arial"/>
              </a:rPr>
              <a:t>Generalization is the process of extracting common properties from a set of entities and create a generalized entity from it. It is a bottom-up approach in which two or more entities can be generalized to a higher-level entity if they have some attributes in common.</a:t>
            </a:r>
            <a:endParaRPr/>
          </a:p>
          <a:p>
            <a:pPr indent="0" lvl="0" marL="0" marR="0" rtl="0" algn="just">
              <a:spcBef>
                <a:spcPts val="0"/>
              </a:spcBef>
              <a:spcAft>
                <a:spcPts val="0"/>
              </a:spcAft>
              <a:buNone/>
            </a:pPr>
            <a:r>
              <a:rPr lang="en-US" sz="1800">
                <a:solidFill>
                  <a:schemeClr val="dk1"/>
                </a:solidFill>
                <a:latin typeface="Arial"/>
                <a:ea typeface="Arial"/>
                <a:cs typeface="Arial"/>
                <a:sym typeface="Arial"/>
              </a:rPr>
              <a:t> </a:t>
            </a:r>
            <a:r>
              <a:rPr b="1" lang="en-US" sz="1800">
                <a:solidFill>
                  <a:schemeClr val="dk1"/>
                </a:solidFill>
                <a:latin typeface="Arial"/>
                <a:ea typeface="Arial"/>
                <a:cs typeface="Arial"/>
                <a:sym typeface="Arial"/>
              </a:rPr>
              <a:t>For Example</a:t>
            </a:r>
            <a:r>
              <a:rPr lang="en-US" sz="1800">
                <a:solidFill>
                  <a:schemeClr val="dk1"/>
                </a:solidFill>
                <a:latin typeface="Arial"/>
                <a:ea typeface="Arial"/>
                <a:cs typeface="Arial"/>
                <a:sym typeface="Arial"/>
              </a:rPr>
              <a:t>,</a:t>
            </a:r>
            <a:endParaRPr/>
          </a:p>
          <a:p>
            <a:pPr indent="0" lvl="0" marL="0" marR="0" rtl="0" algn="just">
              <a:spcBef>
                <a:spcPts val="0"/>
              </a:spcBef>
              <a:spcAft>
                <a:spcPts val="0"/>
              </a:spcAft>
              <a:buNone/>
            </a:pPr>
            <a:r>
              <a:rPr lang="en-US" sz="1800">
                <a:solidFill>
                  <a:schemeClr val="dk1"/>
                </a:solidFill>
                <a:latin typeface="Arial"/>
                <a:ea typeface="Arial"/>
                <a:cs typeface="Arial"/>
                <a:sym typeface="Arial"/>
              </a:rPr>
              <a:t> STUDENT and FACULTY can be generalized to a higher-level entity called PERSON as shown in Figure 1. In this case, common attributes like P_NAME, P_ADD become part of higher entity (PERSON) and specialized attributes like S_FEE become part of specialized entity (STUDENT).</a:t>
            </a:r>
            <a:endParaRPr sz="1800">
              <a:solidFill>
                <a:schemeClr val="dk1"/>
              </a:solidFill>
              <a:latin typeface="Arial"/>
              <a:ea typeface="Arial"/>
              <a:cs typeface="Arial"/>
              <a:sym typeface="Arial"/>
            </a:endParaRPr>
          </a:p>
        </p:txBody>
      </p:sp>
      <p:pic>
        <p:nvPicPr>
          <p:cNvPr descr="Lightbox" id="702" name="Google Shape;702;p42"/>
          <p:cNvPicPr preferRelativeResize="0"/>
          <p:nvPr/>
        </p:nvPicPr>
        <p:blipFill rotWithShape="1">
          <a:blip r:embed="rId3">
            <a:alphaModFix/>
          </a:blip>
          <a:srcRect b="0" l="0" r="0" t="0"/>
          <a:stretch/>
        </p:blipFill>
        <p:spPr>
          <a:xfrm>
            <a:off x="6096000" y="1905000"/>
            <a:ext cx="3733800" cy="3886200"/>
          </a:xfrm>
          <a:prstGeom prst="rect">
            <a:avLst/>
          </a:prstGeom>
          <a:noFill/>
          <a:ln>
            <a:noFill/>
          </a:ln>
        </p:spPr>
      </p:pic>
      <p:sp>
        <p:nvSpPr>
          <p:cNvPr id="703" name="Google Shape;703;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704" name="Google Shape;704;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grpSp>
        <p:nvGrpSpPr>
          <p:cNvPr id="713" name="Google Shape;713;p43"/>
          <p:cNvGrpSpPr/>
          <p:nvPr/>
        </p:nvGrpSpPr>
        <p:grpSpPr>
          <a:xfrm>
            <a:off x="1524000" y="6356605"/>
            <a:ext cx="9144000" cy="88404"/>
            <a:chOff x="0" y="0"/>
            <a:chExt cx="13004800" cy="125730"/>
          </a:xfrm>
        </p:grpSpPr>
        <p:sp>
          <p:nvSpPr>
            <p:cNvPr id="714" name="Google Shape;714;p43"/>
            <p:cNvSpPr/>
            <p:nvPr/>
          </p:nvSpPr>
          <p:spPr>
            <a:xfrm>
              <a:off x="0" y="100584"/>
              <a:ext cx="13004800" cy="25146"/>
            </a:xfrm>
            <a:custGeom>
              <a:rect b="b" l="l" r="r" t="t"/>
              <a:pathLst>
                <a:path extrusionOk="0" h="25146" w="13004800">
                  <a:moveTo>
                    <a:pt x="13004800" y="0"/>
                  </a:moveTo>
                  <a:lnTo>
                    <a:pt x="0" y="0"/>
                  </a:lnTo>
                  <a:lnTo>
                    <a:pt x="0" y="25146"/>
                  </a:lnTo>
                  <a:lnTo>
                    <a:pt x="13004800" y="25146"/>
                  </a:lnTo>
                  <a:lnTo>
                    <a:pt x="13004800" y="0"/>
                  </a:lnTo>
                  <a:close/>
                </a:path>
              </a:pathLst>
            </a:custGeom>
            <a:solidFill>
              <a:srgbClr val="C00000"/>
            </a:solidFill>
            <a:ln>
              <a:noFill/>
            </a:ln>
          </p:spPr>
        </p:sp>
        <p:sp>
          <p:nvSpPr>
            <p:cNvPr id="715" name="Google Shape;715;p43"/>
            <p:cNvSpPr/>
            <p:nvPr/>
          </p:nvSpPr>
          <p:spPr>
            <a:xfrm>
              <a:off x="0" y="0"/>
              <a:ext cx="13004800" cy="75438"/>
            </a:xfrm>
            <a:custGeom>
              <a:rect b="b" l="l" r="r" t="t"/>
              <a:pathLst>
                <a:path extrusionOk="0" h="75438" w="13004800">
                  <a:moveTo>
                    <a:pt x="13004800" y="0"/>
                  </a:moveTo>
                  <a:lnTo>
                    <a:pt x="0" y="0"/>
                  </a:lnTo>
                  <a:lnTo>
                    <a:pt x="0" y="75438"/>
                  </a:lnTo>
                  <a:lnTo>
                    <a:pt x="13004800" y="75438"/>
                  </a:lnTo>
                  <a:lnTo>
                    <a:pt x="13004800" y="0"/>
                  </a:lnTo>
                  <a:close/>
                </a:path>
              </a:pathLst>
            </a:custGeom>
            <a:solidFill>
              <a:srgbClr val="C00000"/>
            </a:solidFill>
            <a:ln>
              <a:noFill/>
            </a:ln>
          </p:spPr>
        </p:sp>
      </p:grpSp>
      <p:grpSp>
        <p:nvGrpSpPr>
          <p:cNvPr id="716" name="Google Shape;716;p43"/>
          <p:cNvGrpSpPr/>
          <p:nvPr/>
        </p:nvGrpSpPr>
        <p:grpSpPr>
          <a:xfrm>
            <a:off x="2553786" y="1295401"/>
            <a:ext cx="7146133" cy="4876800"/>
            <a:chOff x="0" y="0"/>
            <a:chExt cx="10163389" cy="6935893"/>
          </a:xfrm>
        </p:grpSpPr>
        <p:sp>
          <p:nvSpPr>
            <p:cNvPr id="717" name="Google Shape;717;p43"/>
            <p:cNvSpPr/>
            <p:nvPr/>
          </p:nvSpPr>
          <p:spPr>
            <a:xfrm>
              <a:off x="28921" y="0"/>
              <a:ext cx="10049220" cy="6029532"/>
            </a:xfrm>
            <a:custGeom>
              <a:rect b="b" l="l" r="r" t="t"/>
              <a:pathLst>
                <a:path extrusionOk="0" h="6029532" w="10049220">
                  <a:moveTo>
                    <a:pt x="0" y="0"/>
                  </a:moveTo>
                  <a:lnTo>
                    <a:pt x="10049221" y="0"/>
                  </a:lnTo>
                  <a:lnTo>
                    <a:pt x="10049221" y="6029532"/>
                  </a:lnTo>
                  <a:lnTo>
                    <a:pt x="0" y="6029532"/>
                  </a:lnTo>
                  <a:lnTo>
                    <a:pt x="0" y="0"/>
                  </a:lnTo>
                  <a:close/>
                </a:path>
              </a:pathLst>
            </a:custGeom>
            <a:blipFill rotWithShape="1">
              <a:blip r:embed="rId3">
                <a:alphaModFix/>
              </a:blip>
              <a:stretch>
                <a:fillRect b="0" l="0" r="0" t="0"/>
              </a:stretch>
            </a:blipFill>
            <a:ln>
              <a:noFill/>
            </a:ln>
          </p:spPr>
        </p:sp>
        <p:sp>
          <p:nvSpPr>
            <p:cNvPr id="718" name="Google Shape;718;p43"/>
            <p:cNvSpPr/>
            <p:nvPr/>
          </p:nvSpPr>
          <p:spPr>
            <a:xfrm>
              <a:off x="0" y="6029532"/>
              <a:ext cx="10163389" cy="906361"/>
            </a:xfrm>
            <a:custGeom>
              <a:rect b="b" l="l" r="r" t="t"/>
              <a:pathLst>
                <a:path extrusionOk="0" h="906361" w="10163389">
                  <a:moveTo>
                    <a:pt x="0" y="0"/>
                  </a:moveTo>
                  <a:lnTo>
                    <a:pt x="10163389" y="0"/>
                  </a:lnTo>
                  <a:lnTo>
                    <a:pt x="10163389" y="906361"/>
                  </a:lnTo>
                  <a:lnTo>
                    <a:pt x="0" y="906361"/>
                  </a:lnTo>
                  <a:lnTo>
                    <a:pt x="0" y="0"/>
                  </a:lnTo>
                  <a:close/>
                </a:path>
              </a:pathLst>
            </a:custGeom>
            <a:blipFill rotWithShape="1">
              <a:blip r:embed="rId4">
                <a:alphaModFix/>
              </a:blip>
              <a:stretch>
                <a:fillRect b="-5056" l="0" r="-714" t="-5056"/>
              </a:stretch>
            </a:blipFill>
            <a:ln>
              <a:noFill/>
            </a:ln>
          </p:spPr>
        </p:sp>
      </p:grpSp>
      <p:sp>
        <p:nvSpPr>
          <p:cNvPr id="719" name="Google Shape;719;p43"/>
          <p:cNvSpPr txBox="1"/>
          <p:nvPr/>
        </p:nvSpPr>
        <p:spPr>
          <a:xfrm>
            <a:off x="2553786" y="603047"/>
            <a:ext cx="7571289" cy="500137"/>
          </a:xfrm>
          <a:prstGeom prst="rect">
            <a:avLst/>
          </a:prstGeom>
          <a:noFill/>
          <a:ln>
            <a:noFill/>
          </a:ln>
        </p:spPr>
        <p:txBody>
          <a:bodyPr anchorCtr="0" anchor="t" bIns="0" lIns="0" spcFirstLastPara="1" rIns="0" wrap="square" tIns="0">
            <a:spAutoFit/>
          </a:bodyPr>
          <a:lstStyle/>
          <a:p>
            <a:pPr indent="0" lvl="0" marL="0" marR="0" rtl="0" algn="ctr">
              <a:lnSpc>
                <a:spcPct val="120024"/>
              </a:lnSpc>
              <a:spcBef>
                <a:spcPts val="0"/>
              </a:spcBef>
              <a:spcAft>
                <a:spcPts val="0"/>
              </a:spcAft>
              <a:buNone/>
            </a:pPr>
            <a:r>
              <a:rPr b="1" lang="en-US" sz="3281">
                <a:solidFill>
                  <a:srgbClr val="C00000"/>
                </a:solidFill>
                <a:latin typeface="Arial"/>
                <a:ea typeface="Arial"/>
                <a:cs typeface="Arial"/>
                <a:sym typeface="Arial"/>
              </a:rPr>
              <a:t>Comparison of Models</a:t>
            </a:r>
            <a:endParaRPr/>
          </a:p>
        </p:txBody>
      </p:sp>
      <p:sp>
        <p:nvSpPr>
          <p:cNvPr id="720" name="Google Shape;720;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721" name="Google Shape;721;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44"/>
          <p:cNvSpPr txBox="1"/>
          <p:nvPr>
            <p:ph idx="4294967295" type="body"/>
          </p:nvPr>
        </p:nvSpPr>
        <p:spPr>
          <a:xfrm>
            <a:off x="2547257" y="2225675"/>
            <a:ext cx="8001000" cy="2607582"/>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C00000"/>
              </a:buClr>
              <a:buSzPts val="6000"/>
              <a:buNone/>
            </a:pPr>
            <a:r>
              <a:rPr b="1" lang="en-US" sz="4400">
                <a:solidFill>
                  <a:srgbClr val="C00000"/>
                </a:solidFill>
                <a:latin typeface="Arial"/>
                <a:ea typeface="Arial"/>
                <a:cs typeface="Arial"/>
                <a:sym typeface="Arial"/>
              </a:rPr>
              <a:t>PRACTICE PROBLEMS BASED ON CONVERTING ER DIAGRAM TO TABLES</a:t>
            </a:r>
            <a:endParaRPr sz="1800">
              <a:latin typeface="Arial"/>
              <a:ea typeface="Arial"/>
              <a:cs typeface="Arial"/>
              <a:sym typeface="Arial"/>
            </a:endParaRPr>
          </a:p>
        </p:txBody>
      </p:sp>
      <p:sp>
        <p:nvSpPr>
          <p:cNvPr id="727" name="Google Shape;727;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728" name="Google Shape;728;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45"/>
          <p:cNvSpPr txBox="1"/>
          <p:nvPr>
            <p:ph idx="4294967295" type="body"/>
          </p:nvPr>
        </p:nvSpPr>
        <p:spPr>
          <a:xfrm>
            <a:off x="2438400" y="1752600"/>
            <a:ext cx="8001000" cy="4495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400"/>
              <a:buFont typeface="Arial"/>
              <a:buChar char="•"/>
            </a:pPr>
            <a:r>
              <a:rPr lang="en-US" sz="1879">
                <a:solidFill>
                  <a:schemeClr val="dk1"/>
                </a:solidFill>
                <a:latin typeface="Arial"/>
                <a:ea typeface="Arial"/>
                <a:cs typeface="Arial"/>
                <a:sym typeface="Arial"/>
              </a:rPr>
              <a:t>Consider the following entity relationship diagram (ERD), where two entities E1 and E2 have a relation R of cardinality 1 : m.</a:t>
            </a:r>
            <a:br>
              <a:rPr lang="en-US" sz="1879">
                <a:solidFill>
                  <a:schemeClr val="dk1"/>
                </a:solidFill>
                <a:latin typeface="Arial"/>
                <a:ea typeface="Arial"/>
                <a:cs typeface="Arial"/>
                <a:sym typeface="Arial"/>
              </a:rPr>
            </a:br>
            <a:endParaRPr sz="1879">
              <a:latin typeface="Arial"/>
              <a:ea typeface="Arial"/>
              <a:cs typeface="Arial"/>
              <a:sym typeface="Arial"/>
            </a:endParaRPr>
          </a:p>
        </p:txBody>
      </p:sp>
      <p:pic>
        <p:nvPicPr>
          <p:cNvPr id="734" name="Google Shape;734;p45"/>
          <p:cNvPicPr preferRelativeResize="0"/>
          <p:nvPr/>
        </p:nvPicPr>
        <p:blipFill rotWithShape="1">
          <a:blip r:embed="rId3">
            <a:alphaModFix/>
          </a:blip>
          <a:srcRect b="0" l="0" r="0" t="0"/>
          <a:stretch/>
        </p:blipFill>
        <p:spPr>
          <a:xfrm>
            <a:off x="2819401" y="3124200"/>
            <a:ext cx="6804025" cy="2819400"/>
          </a:xfrm>
          <a:prstGeom prst="rect">
            <a:avLst/>
          </a:prstGeom>
          <a:noFill/>
          <a:ln>
            <a:noFill/>
          </a:ln>
        </p:spPr>
      </p:pic>
      <p:sp>
        <p:nvSpPr>
          <p:cNvPr id="735" name="Google Shape;735;p45"/>
          <p:cNvSpPr txBox="1"/>
          <p:nvPr>
            <p:ph idx="4294967295" type="title"/>
          </p:nvPr>
        </p:nvSpPr>
        <p:spPr>
          <a:xfrm>
            <a:off x="2514600" y="838200"/>
            <a:ext cx="7924800" cy="609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3200"/>
              <a:buFont typeface="Arial"/>
              <a:buNone/>
            </a:pPr>
            <a:r>
              <a:rPr b="1" lang="en-US" sz="3200">
                <a:solidFill>
                  <a:srgbClr val="C00000"/>
                </a:solidFill>
                <a:latin typeface="Arial"/>
                <a:ea typeface="Arial"/>
                <a:cs typeface="Arial"/>
                <a:sym typeface="Arial"/>
              </a:rPr>
              <a:t>Example 1</a:t>
            </a:r>
            <a:endParaRPr>
              <a:latin typeface="Arial"/>
              <a:ea typeface="Arial"/>
              <a:cs typeface="Arial"/>
              <a:sym typeface="Arial"/>
            </a:endParaRPr>
          </a:p>
        </p:txBody>
      </p:sp>
      <p:sp>
        <p:nvSpPr>
          <p:cNvPr id="736" name="Google Shape;736;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737" name="Google Shape;737;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46"/>
          <p:cNvSpPr txBox="1"/>
          <p:nvPr>
            <p:ph idx="4294967295" type="title"/>
          </p:nvPr>
        </p:nvSpPr>
        <p:spPr>
          <a:xfrm>
            <a:off x="2514600" y="914400"/>
            <a:ext cx="7924800" cy="609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3200"/>
              <a:buFont typeface="Arial"/>
              <a:buNone/>
            </a:pPr>
            <a:r>
              <a:rPr b="1" lang="en-US" sz="3200">
                <a:solidFill>
                  <a:srgbClr val="C00000"/>
                </a:solidFill>
                <a:latin typeface="Arial"/>
                <a:ea typeface="Arial"/>
                <a:cs typeface="Arial"/>
                <a:sym typeface="Arial"/>
              </a:rPr>
              <a:t>EXAMPLE 2</a:t>
            </a:r>
            <a:endParaRPr>
              <a:latin typeface="Arial"/>
              <a:ea typeface="Arial"/>
              <a:cs typeface="Arial"/>
              <a:sym typeface="Arial"/>
            </a:endParaRPr>
          </a:p>
        </p:txBody>
      </p:sp>
      <p:sp>
        <p:nvSpPr>
          <p:cNvPr id="743" name="Google Shape;743;p46"/>
          <p:cNvSpPr txBox="1"/>
          <p:nvPr>
            <p:ph idx="4294967295" type="body"/>
          </p:nvPr>
        </p:nvSpPr>
        <p:spPr>
          <a:xfrm>
            <a:off x="2438400" y="1752600"/>
            <a:ext cx="8001000" cy="4495800"/>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2200"/>
              <a:buFont typeface="Arial"/>
              <a:buChar char="•"/>
            </a:pPr>
            <a:r>
              <a:rPr lang="en-US" sz="1879">
                <a:solidFill>
                  <a:schemeClr val="dk1"/>
                </a:solidFill>
                <a:latin typeface="Arial"/>
                <a:ea typeface="Arial"/>
                <a:cs typeface="Arial"/>
                <a:sym typeface="Arial"/>
              </a:rPr>
              <a:t>Consider the following ER diagram in relational model-</a:t>
            </a:r>
            <a:endParaRPr sz="1879">
              <a:latin typeface="Arial"/>
              <a:ea typeface="Arial"/>
              <a:cs typeface="Arial"/>
              <a:sym typeface="Arial"/>
            </a:endParaRPr>
          </a:p>
          <a:p>
            <a:pPr indent="-342900" lvl="0" marL="342900" rtl="0" algn="l">
              <a:lnSpc>
                <a:spcPct val="90000"/>
              </a:lnSpc>
              <a:spcBef>
                <a:spcPts val="440"/>
              </a:spcBef>
              <a:spcAft>
                <a:spcPts val="0"/>
              </a:spcAft>
              <a:buClr>
                <a:schemeClr val="dk1"/>
              </a:buClr>
              <a:buSzPts val="2200"/>
              <a:buNone/>
            </a:pPr>
            <a:r>
              <a:t/>
            </a:r>
            <a:endParaRPr sz="2200">
              <a:solidFill>
                <a:schemeClr val="dk1"/>
              </a:solidFill>
              <a:latin typeface="Cambria"/>
              <a:ea typeface="Cambria"/>
              <a:cs typeface="Cambria"/>
              <a:sym typeface="Cambria"/>
            </a:endParaRPr>
          </a:p>
          <a:p>
            <a:pPr indent="-342900" lvl="0" marL="342900" rtl="0" algn="l">
              <a:lnSpc>
                <a:spcPct val="90000"/>
              </a:lnSpc>
              <a:spcBef>
                <a:spcPts val="440"/>
              </a:spcBef>
              <a:spcAft>
                <a:spcPts val="0"/>
              </a:spcAft>
              <a:buClr>
                <a:schemeClr val="dk1"/>
              </a:buClr>
              <a:buSzPts val="2200"/>
              <a:buNone/>
            </a:pPr>
            <a:r>
              <a:t/>
            </a:r>
            <a:endParaRPr sz="2200">
              <a:solidFill>
                <a:schemeClr val="dk1"/>
              </a:solidFill>
              <a:latin typeface="Cambria"/>
              <a:ea typeface="Cambria"/>
              <a:cs typeface="Cambria"/>
              <a:sym typeface="Cambria"/>
            </a:endParaRPr>
          </a:p>
          <a:p>
            <a:pPr indent="-342900" lvl="0" marL="342900" rtl="0" algn="l">
              <a:lnSpc>
                <a:spcPct val="90000"/>
              </a:lnSpc>
              <a:spcBef>
                <a:spcPts val="440"/>
              </a:spcBef>
              <a:spcAft>
                <a:spcPts val="0"/>
              </a:spcAft>
              <a:buClr>
                <a:schemeClr val="dk1"/>
              </a:buClr>
              <a:buSzPts val="2200"/>
              <a:buNone/>
            </a:pPr>
            <a:r>
              <a:t/>
            </a:r>
            <a:endParaRPr sz="2200">
              <a:solidFill>
                <a:schemeClr val="dk1"/>
              </a:solidFill>
              <a:latin typeface="Cambria"/>
              <a:ea typeface="Cambria"/>
              <a:cs typeface="Cambria"/>
              <a:sym typeface="Cambria"/>
            </a:endParaRPr>
          </a:p>
          <a:p>
            <a:pPr indent="-342900" lvl="0" marL="342900" rtl="0" algn="l">
              <a:lnSpc>
                <a:spcPct val="90000"/>
              </a:lnSpc>
              <a:spcBef>
                <a:spcPts val="440"/>
              </a:spcBef>
              <a:spcAft>
                <a:spcPts val="0"/>
              </a:spcAft>
              <a:buClr>
                <a:schemeClr val="dk1"/>
              </a:buClr>
              <a:buSzPts val="2200"/>
              <a:buNone/>
            </a:pPr>
            <a:r>
              <a:t/>
            </a:r>
            <a:endParaRPr sz="2200">
              <a:solidFill>
                <a:schemeClr val="dk1"/>
              </a:solidFill>
              <a:latin typeface="Cambria"/>
              <a:ea typeface="Cambria"/>
              <a:cs typeface="Cambria"/>
              <a:sym typeface="Cambria"/>
            </a:endParaRPr>
          </a:p>
          <a:p>
            <a:pPr indent="-342900" lvl="0" marL="342900" rtl="0" algn="l">
              <a:lnSpc>
                <a:spcPct val="90000"/>
              </a:lnSpc>
              <a:spcBef>
                <a:spcPts val="440"/>
              </a:spcBef>
              <a:spcAft>
                <a:spcPts val="0"/>
              </a:spcAft>
              <a:buClr>
                <a:schemeClr val="dk1"/>
              </a:buClr>
              <a:buSzPts val="2200"/>
              <a:buNone/>
            </a:pPr>
            <a:r>
              <a:t/>
            </a:r>
            <a:endParaRPr sz="2200">
              <a:solidFill>
                <a:schemeClr val="dk1"/>
              </a:solidFill>
              <a:latin typeface="Cambria"/>
              <a:ea typeface="Cambria"/>
              <a:cs typeface="Cambria"/>
              <a:sym typeface="Cambria"/>
            </a:endParaRPr>
          </a:p>
          <a:p>
            <a:pPr indent="-342900" lvl="0" marL="342900" rtl="0" algn="l">
              <a:lnSpc>
                <a:spcPct val="90000"/>
              </a:lnSpc>
              <a:spcBef>
                <a:spcPts val="440"/>
              </a:spcBef>
              <a:spcAft>
                <a:spcPts val="0"/>
              </a:spcAft>
              <a:buClr>
                <a:schemeClr val="dk1"/>
              </a:buClr>
              <a:buSzPts val="2200"/>
              <a:buNone/>
            </a:pPr>
            <a:r>
              <a:t/>
            </a:r>
            <a:endParaRPr sz="2200">
              <a:solidFill>
                <a:schemeClr val="dk1"/>
              </a:solidFill>
              <a:latin typeface="Cambria"/>
              <a:ea typeface="Cambria"/>
              <a:cs typeface="Cambria"/>
              <a:sym typeface="Cambria"/>
            </a:endParaRPr>
          </a:p>
          <a:p>
            <a:pPr indent="-342900" lvl="0" marL="342900" rtl="0" algn="l">
              <a:lnSpc>
                <a:spcPct val="90000"/>
              </a:lnSpc>
              <a:spcBef>
                <a:spcPts val="440"/>
              </a:spcBef>
              <a:spcAft>
                <a:spcPts val="0"/>
              </a:spcAft>
              <a:buClr>
                <a:schemeClr val="dk1"/>
              </a:buClr>
              <a:buSzPts val="2200"/>
              <a:buNone/>
            </a:pPr>
            <a:r>
              <a:rPr lang="en-US" sz="2200">
                <a:solidFill>
                  <a:schemeClr val="dk1"/>
                </a:solidFill>
                <a:latin typeface="Cambria"/>
                <a:ea typeface="Cambria"/>
                <a:cs typeface="Cambria"/>
                <a:sym typeface="Cambria"/>
              </a:rPr>
              <a:t>The minimum number of tables needed to represent M, N, P, R1, R2 is</a:t>
            </a:r>
            <a:br>
              <a:rPr lang="en-US" sz="2200">
                <a:solidFill>
                  <a:schemeClr val="dk1"/>
                </a:solidFill>
                <a:latin typeface="Cambria"/>
                <a:ea typeface="Cambria"/>
                <a:cs typeface="Cambria"/>
                <a:sym typeface="Cambria"/>
              </a:rPr>
            </a:br>
            <a:r>
              <a:rPr b="1" lang="en-US" sz="2200">
                <a:solidFill>
                  <a:schemeClr val="dk1"/>
                </a:solidFill>
                <a:latin typeface="Cambria"/>
                <a:ea typeface="Cambria"/>
                <a:cs typeface="Cambria"/>
                <a:sym typeface="Cambria"/>
              </a:rPr>
              <a:t>(A)</a:t>
            </a:r>
            <a:r>
              <a:rPr lang="en-US" sz="2200">
                <a:solidFill>
                  <a:schemeClr val="dk1"/>
                </a:solidFill>
                <a:latin typeface="Cambria"/>
                <a:ea typeface="Cambria"/>
                <a:cs typeface="Cambria"/>
                <a:sym typeface="Cambria"/>
              </a:rPr>
              <a:t> 2</a:t>
            </a:r>
            <a:br>
              <a:rPr lang="en-US" sz="2200">
                <a:solidFill>
                  <a:schemeClr val="dk1"/>
                </a:solidFill>
                <a:latin typeface="Cambria"/>
                <a:ea typeface="Cambria"/>
                <a:cs typeface="Cambria"/>
                <a:sym typeface="Cambria"/>
              </a:rPr>
            </a:br>
            <a:r>
              <a:rPr b="1" lang="en-US" sz="2200">
                <a:solidFill>
                  <a:schemeClr val="dk1"/>
                </a:solidFill>
                <a:latin typeface="Cambria"/>
                <a:ea typeface="Cambria"/>
                <a:cs typeface="Cambria"/>
                <a:sym typeface="Cambria"/>
              </a:rPr>
              <a:t>(B)</a:t>
            </a:r>
            <a:r>
              <a:rPr lang="en-US" sz="2200">
                <a:solidFill>
                  <a:schemeClr val="dk1"/>
                </a:solidFill>
                <a:latin typeface="Cambria"/>
                <a:ea typeface="Cambria"/>
                <a:cs typeface="Cambria"/>
                <a:sym typeface="Cambria"/>
              </a:rPr>
              <a:t> 3</a:t>
            </a:r>
            <a:br>
              <a:rPr lang="en-US" sz="2200">
                <a:solidFill>
                  <a:schemeClr val="dk1"/>
                </a:solidFill>
                <a:latin typeface="Cambria"/>
                <a:ea typeface="Cambria"/>
                <a:cs typeface="Cambria"/>
                <a:sym typeface="Cambria"/>
              </a:rPr>
            </a:br>
            <a:r>
              <a:rPr b="1" lang="en-US" sz="2200">
                <a:solidFill>
                  <a:schemeClr val="dk1"/>
                </a:solidFill>
                <a:latin typeface="Cambria"/>
                <a:ea typeface="Cambria"/>
                <a:cs typeface="Cambria"/>
                <a:sym typeface="Cambria"/>
              </a:rPr>
              <a:t>(C)</a:t>
            </a:r>
            <a:r>
              <a:rPr lang="en-US" sz="2200">
                <a:solidFill>
                  <a:schemeClr val="dk1"/>
                </a:solidFill>
                <a:latin typeface="Cambria"/>
                <a:ea typeface="Cambria"/>
                <a:cs typeface="Cambria"/>
                <a:sym typeface="Cambria"/>
              </a:rPr>
              <a:t> 4</a:t>
            </a:r>
            <a:br>
              <a:rPr lang="en-US" sz="2200">
                <a:solidFill>
                  <a:schemeClr val="dk1"/>
                </a:solidFill>
                <a:latin typeface="Cambria"/>
                <a:ea typeface="Cambria"/>
                <a:cs typeface="Cambria"/>
                <a:sym typeface="Cambria"/>
              </a:rPr>
            </a:br>
            <a:r>
              <a:rPr b="1" lang="en-US" sz="2200">
                <a:solidFill>
                  <a:schemeClr val="dk1"/>
                </a:solidFill>
                <a:latin typeface="Cambria"/>
                <a:ea typeface="Cambria"/>
                <a:cs typeface="Cambria"/>
                <a:sym typeface="Cambria"/>
              </a:rPr>
              <a:t>(D)</a:t>
            </a:r>
            <a:r>
              <a:rPr lang="en-US" sz="2200">
                <a:solidFill>
                  <a:schemeClr val="dk1"/>
                </a:solidFill>
                <a:latin typeface="Cambria"/>
                <a:ea typeface="Cambria"/>
                <a:cs typeface="Cambria"/>
                <a:sym typeface="Cambria"/>
              </a:rPr>
              <a:t> 5</a:t>
            </a:r>
            <a:endParaRPr/>
          </a:p>
        </p:txBody>
      </p:sp>
      <p:pic>
        <p:nvPicPr>
          <p:cNvPr descr="https://www.geeksforgeeks.org/wp-content/uploads/GATE2008DBMS_ERDIA.gif" id="744" name="Google Shape;744;p46"/>
          <p:cNvPicPr preferRelativeResize="0"/>
          <p:nvPr/>
        </p:nvPicPr>
        <p:blipFill rotWithShape="1">
          <a:blip r:embed="rId3">
            <a:alphaModFix/>
          </a:blip>
          <a:srcRect b="0" l="0" r="0" t="0"/>
          <a:stretch/>
        </p:blipFill>
        <p:spPr>
          <a:xfrm>
            <a:off x="2214562" y="2405743"/>
            <a:ext cx="7762875" cy="1714500"/>
          </a:xfrm>
          <a:prstGeom prst="rect">
            <a:avLst/>
          </a:prstGeom>
          <a:noFill/>
          <a:ln>
            <a:noFill/>
          </a:ln>
        </p:spPr>
      </p:pic>
      <p:sp>
        <p:nvSpPr>
          <p:cNvPr id="745" name="Google Shape;745;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746" name="Google Shape;746;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47"/>
          <p:cNvSpPr txBox="1"/>
          <p:nvPr>
            <p:ph idx="4294967295" type="body"/>
          </p:nvPr>
        </p:nvSpPr>
        <p:spPr>
          <a:xfrm>
            <a:off x="2438400" y="1752600"/>
            <a:ext cx="8001000" cy="4495800"/>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2400"/>
              <a:buFont typeface="Arial"/>
              <a:buChar char="•"/>
            </a:pPr>
            <a:r>
              <a:rPr lang="en-US" sz="1879">
                <a:solidFill>
                  <a:schemeClr val="dk1"/>
                </a:solidFill>
                <a:latin typeface="Cambria"/>
                <a:ea typeface="Cambria"/>
                <a:cs typeface="Cambria"/>
                <a:sym typeface="Cambria"/>
              </a:rPr>
              <a:t>Consider the following ER diagram in relational model-</a:t>
            </a:r>
            <a:endParaRPr sz="1879"/>
          </a:p>
          <a:p>
            <a:pPr indent="-342900" lvl="0" marL="342900" rtl="0" algn="l">
              <a:lnSpc>
                <a:spcPct val="90000"/>
              </a:lnSpc>
              <a:spcBef>
                <a:spcPts val="480"/>
              </a:spcBef>
              <a:spcAft>
                <a:spcPts val="0"/>
              </a:spcAft>
              <a:buClr>
                <a:schemeClr val="dk1"/>
              </a:buClr>
              <a:buSzPts val="2400"/>
              <a:buNone/>
            </a:pPr>
            <a:r>
              <a:t/>
            </a:r>
            <a:endParaRPr sz="1879">
              <a:solidFill>
                <a:schemeClr val="dk1"/>
              </a:solidFill>
              <a:latin typeface="Cambria"/>
              <a:ea typeface="Cambria"/>
              <a:cs typeface="Cambria"/>
              <a:sym typeface="Cambria"/>
            </a:endParaRPr>
          </a:p>
          <a:p>
            <a:pPr indent="-342900" lvl="0" marL="342900" rtl="0" algn="l">
              <a:lnSpc>
                <a:spcPct val="90000"/>
              </a:lnSpc>
              <a:spcBef>
                <a:spcPts val="480"/>
              </a:spcBef>
              <a:spcAft>
                <a:spcPts val="0"/>
              </a:spcAft>
              <a:buClr>
                <a:schemeClr val="dk1"/>
              </a:buClr>
              <a:buSzPts val="2400"/>
              <a:buNone/>
            </a:pPr>
            <a:r>
              <a:t/>
            </a:r>
            <a:endParaRPr sz="1879">
              <a:solidFill>
                <a:schemeClr val="dk1"/>
              </a:solidFill>
              <a:latin typeface="Cambria"/>
              <a:ea typeface="Cambria"/>
              <a:cs typeface="Cambria"/>
              <a:sym typeface="Cambria"/>
            </a:endParaRPr>
          </a:p>
          <a:p>
            <a:pPr indent="-342900" lvl="0" marL="342900" rtl="0" algn="l">
              <a:lnSpc>
                <a:spcPct val="90000"/>
              </a:lnSpc>
              <a:spcBef>
                <a:spcPts val="480"/>
              </a:spcBef>
              <a:spcAft>
                <a:spcPts val="0"/>
              </a:spcAft>
              <a:buClr>
                <a:schemeClr val="dk1"/>
              </a:buClr>
              <a:buSzPts val="2400"/>
              <a:buNone/>
            </a:pPr>
            <a:r>
              <a:t/>
            </a:r>
            <a:endParaRPr sz="2400">
              <a:solidFill>
                <a:schemeClr val="dk1"/>
              </a:solidFill>
              <a:latin typeface="Cambria"/>
              <a:ea typeface="Cambria"/>
              <a:cs typeface="Cambria"/>
              <a:sym typeface="Cambria"/>
            </a:endParaRPr>
          </a:p>
          <a:p>
            <a:pPr indent="-342900" lvl="0" marL="342900" rtl="0" algn="l">
              <a:lnSpc>
                <a:spcPct val="90000"/>
              </a:lnSpc>
              <a:spcBef>
                <a:spcPts val="480"/>
              </a:spcBef>
              <a:spcAft>
                <a:spcPts val="0"/>
              </a:spcAft>
              <a:buClr>
                <a:schemeClr val="dk1"/>
              </a:buClr>
              <a:buSzPts val="2400"/>
              <a:buNone/>
            </a:pPr>
            <a:r>
              <a:t/>
            </a:r>
            <a:endParaRPr sz="2400">
              <a:solidFill>
                <a:schemeClr val="dk1"/>
              </a:solidFill>
              <a:latin typeface="Cambria"/>
              <a:ea typeface="Cambria"/>
              <a:cs typeface="Cambria"/>
              <a:sym typeface="Cambria"/>
            </a:endParaRPr>
          </a:p>
          <a:p>
            <a:pPr indent="-342900" lvl="0" marL="342900" rtl="0" algn="l">
              <a:lnSpc>
                <a:spcPct val="90000"/>
              </a:lnSpc>
              <a:spcBef>
                <a:spcPts val="480"/>
              </a:spcBef>
              <a:spcAft>
                <a:spcPts val="0"/>
              </a:spcAft>
              <a:buClr>
                <a:schemeClr val="dk1"/>
              </a:buClr>
              <a:buSzPts val="2400"/>
              <a:buNone/>
            </a:pPr>
            <a:r>
              <a:t/>
            </a:r>
            <a:endParaRPr sz="2400">
              <a:solidFill>
                <a:schemeClr val="dk1"/>
              </a:solidFill>
              <a:latin typeface="Cambria"/>
              <a:ea typeface="Cambria"/>
              <a:cs typeface="Cambria"/>
              <a:sym typeface="Cambria"/>
            </a:endParaRPr>
          </a:p>
          <a:p>
            <a:pPr indent="-342900" lvl="0" marL="342900" rtl="0" algn="l">
              <a:lnSpc>
                <a:spcPct val="90000"/>
              </a:lnSpc>
              <a:spcBef>
                <a:spcPts val="480"/>
              </a:spcBef>
              <a:spcAft>
                <a:spcPts val="0"/>
              </a:spcAft>
              <a:buClr>
                <a:schemeClr val="dk1"/>
              </a:buClr>
              <a:buSzPts val="2400"/>
              <a:buNone/>
            </a:pPr>
            <a:r>
              <a:t/>
            </a:r>
            <a:endParaRPr sz="2400">
              <a:solidFill>
                <a:schemeClr val="dk1"/>
              </a:solidFill>
              <a:latin typeface="Cambria"/>
              <a:ea typeface="Cambria"/>
              <a:cs typeface="Cambria"/>
              <a:sym typeface="Cambria"/>
            </a:endParaRPr>
          </a:p>
          <a:p>
            <a:pPr indent="-342900" lvl="0" marL="342900" rtl="0" algn="l">
              <a:lnSpc>
                <a:spcPct val="90000"/>
              </a:lnSpc>
              <a:spcBef>
                <a:spcPts val="480"/>
              </a:spcBef>
              <a:spcAft>
                <a:spcPts val="0"/>
              </a:spcAft>
              <a:buClr>
                <a:srgbClr val="FF0000"/>
              </a:buClr>
              <a:buSzPts val="2400"/>
              <a:buNone/>
            </a:pPr>
            <a:r>
              <a:rPr lang="en-US" sz="2400">
                <a:solidFill>
                  <a:srgbClr val="C00000"/>
                </a:solidFill>
                <a:latin typeface="Cambria"/>
                <a:ea typeface="Cambria"/>
                <a:cs typeface="Cambria"/>
                <a:sym typeface="Cambria"/>
              </a:rPr>
              <a:t>Applying the rules, minimum 3 tables will be required-</a:t>
            </a:r>
            <a:endParaRPr>
              <a:solidFill>
                <a:srgbClr val="C00000"/>
              </a:solidFill>
            </a:endParaRPr>
          </a:p>
          <a:p>
            <a:pPr indent="-342900" lvl="0" marL="342900" rtl="0" algn="l">
              <a:lnSpc>
                <a:spcPct val="90000"/>
              </a:lnSpc>
              <a:spcBef>
                <a:spcPts val="480"/>
              </a:spcBef>
              <a:spcAft>
                <a:spcPts val="0"/>
              </a:spcAft>
              <a:buClr>
                <a:srgbClr val="FF0000"/>
              </a:buClr>
              <a:buSzPts val="2400"/>
              <a:buFont typeface="Arial"/>
              <a:buChar char="•"/>
            </a:pPr>
            <a:r>
              <a:rPr lang="en-US" sz="2400">
                <a:solidFill>
                  <a:srgbClr val="C00000"/>
                </a:solidFill>
                <a:latin typeface="Cambria"/>
                <a:ea typeface="Cambria"/>
                <a:cs typeface="Cambria"/>
                <a:sym typeface="Cambria"/>
              </a:rPr>
              <a:t>MR1 (</a:t>
            </a:r>
            <a:r>
              <a:rPr lang="en-US" sz="2400" u="sng">
                <a:solidFill>
                  <a:srgbClr val="C00000"/>
                </a:solidFill>
                <a:latin typeface="Cambria"/>
                <a:ea typeface="Cambria"/>
                <a:cs typeface="Cambria"/>
                <a:sym typeface="Cambria"/>
              </a:rPr>
              <a:t>M1</a:t>
            </a:r>
            <a:r>
              <a:rPr lang="en-US" sz="2400">
                <a:solidFill>
                  <a:srgbClr val="C00000"/>
                </a:solidFill>
                <a:latin typeface="Cambria"/>
                <a:ea typeface="Cambria"/>
                <a:cs typeface="Cambria"/>
                <a:sym typeface="Cambria"/>
              </a:rPr>
              <a:t> , M2 , M3 , P1)</a:t>
            </a:r>
            <a:endParaRPr>
              <a:solidFill>
                <a:srgbClr val="C00000"/>
              </a:solidFill>
            </a:endParaRPr>
          </a:p>
          <a:p>
            <a:pPr indent="-342900" lvl="0" marL="342900" rtl="0" algn="l">
              <a:lnSpc>
                <a:spcPct val="90000"/>
              </a:lnSpc>
              <a:spcBef>
                <a:spcPts val="480"/>
              </a:spcBef>
              <a:spcAft>
                <a:spcPts val="0"/>
              </a:spcAft>
              <a:buClr>
                <a:srgbClr val="FF0000"/>
              </a:buClr>
              <a:buSzPts val="2400"/>
              <a:buFont typeface="Arial"/>
              <a:buChar char="•"/>
            </a:pPr>
            <a:r>
              <a:rPr lang="en-US" sz="2400">
                <a:solidFill>
                  <a:srgbClr val="C00000"/>
                </a:solidFill>
                <a:latin typeface="Cambria"/>
                <a:ea typeface="Cambria"/>
                <a:cs typeface="Cambria"/>
                <a:sym typeface="Cambria"/>
              </a:rPr>
              <a:t>P (</a:t>
            </a:r>
            <a:r>
              <a:rPr lang="en-US" sz="2400" u="sng">
                <a:solidFill>
                  <a:srgbClr val="C00000"/>
                </a:solidFill>
                <a:latin typeface="Cambria"/>
                <a:ea typeface="Cambria"/>
                <a:cs typeface="Cambria"/>
                <a:sym typeface="Cambria"/>
              </a:rPr>
              <a:t>P1</a:t>
            </a:r>
            <a:r>
              <a:rPr lang="en-US" sz="2400">
                <a:solidFill>
                  <a:srgbClr val="C00000"/>
                </a:solidFill>
                <a:latin typeface="Cambria"/>
                <a:ea typeface="Cambria"/>
                <a:cs typeface="Cambria"/>
                <a:sym typeface="Cambria"/>
              </a:rPr>
              <a:t> , P2)</a:t>
            </a:r>
            <a:endParaRPr>
              <a:solidFill>
                <a:srgbClr val="C00000"/>
              </a:solidFill>
            </a:endParaRPr>
          </a:p>
          <a:p>
            <a:pPr indent="-342900" lvl="0" marL="342900" rtl="0" algn="l">
              <a:lnSpc>
                <a:spcPct val="90000"/>
              </a:lnSpc>
              <a:spcBef>
                <a:spcPts val="480"/>
              </a:spcBef>
              <a:spcAft>
                <a:spcPts val="0"/>
              </a:spcAft>
              <a:buClr>
                <a:srgbClr val="FF0000"/>
              </a:buClr>
              <a:buSzPts val="2400"/>
              <a:buFont typeface="Arial"/>
              <a:buChar char="•"/>
            </a:pPr>
            <a:r>
              <a:rPr lang="en-US" sz="2400">
                <a:solidFill>
                  <a:srgbClr val="C00000"/>
                </a:solidFill>
                <a:latin typeface="Cambria"/>
                <a:ea typeface="Cambria"/>
                <a:cs typeface="Cambria"/>
                <a:sym typeface="Cambria"/>
              </a:rPr>
              <a:t>NR2 (</a:t>
            </a:r>
            <a:r>
              <a:rPr lang="en-US" sz="2400" u="sng">
                <a:solidFill>
                  <a:srgbClr val="C00000"/>
                </a:solidFill>
                <a:latin typeface="Cambria"/>
                <a:ea typeface="Cambria"/>
                <a:cs typeface="Cambria"/>
                <a:sym typeface="Cambria"/>
              </a:rPr>
              <a:t>P1</a:t>
            </a:r>
            <a:r>
              <a:rPr lang="en-US" sz="2400">
                <a:solidFill>
                  <a:srgbClr val="C00000"/>
                </a:solidFill>
                <a:latin typeface="Cambria"/>
                <a:ea typeface="Cambria"/>
                <a:cs typeface="Cambria"/>
                <a:sym typeface="Cambria"/>
              </a:rPr>
              <a:t> , </a:t>
            </a:r>
            <a:r>
              <a:rPr lang="en-US" sz="2400" u="sng">
                <a:solidFill>
                  <a:srgbClr val="C00000"/>
                </a:solidFill>
                <a:latin typeface="Cambria"/>
                <a:ea typeface="Cambria"/>
                <a:cs typeface="Cambria"/>
                <a:sym typeface="Cambria"/>
              </a:rPr>
              <a:t>N1</a:t>
            </a:r>
            <a:r>
              <a:rPr lang="en-US" sz="2400">
                <a:solidFill>
                  <a:srgbClr val="C00000"/>
                </a:solidFill>
                <a:latin typeface="Cambria"/>
                <a:ea typeface="Cambria"/>
                <a:cs typeface="Cambria"/>
                <a:sym typeface="Cambria"/>
              </a:rPr>
              <a:t> , N2)</a:t>
            </a:r>
            <a:endParaRPr>
              <a:solidFill>
                <a:srgbClr val="C00000"/>
              </a:solidFill>
            </a:endParaRPr>
          </a:p>
        </p:txBody>
      </p:sp>
      <p:pic>
        <p:nvPicPr>
          <p:cNvPr descr="https://www.geeksforgeeks.org/wp-content/uploads/GATE2008DBMS_ERDIA.gif" id="752" name="Google Shape;752;p47"/>
          <p:cNvPicPr preferRelativeResize="0"/>
          <p:nvPr/>
        </p:nvPicPr>
        <p:blipFill rotWithShape="1">
          <a:blip r:embed="rId3">
            <a:alphaModFix/>
          </a:blip>
          <a:srcRect b="0" l="0" r="0" t="0"/>
          <a:stretch/>
        </p:blipFill>
        <p:spPr>
          <a:xfrm>
            <a:off x="2286001" y="2667000"/>
            <a:ext cx="7762875" cy="1714500"/>
          </a:xfrm>
          <a:prstGeom prst="rect">
            <a:avLst/>
          </a:prstGeom>
          <a:noFill/>
          <a:ln>
            <a:noFill/>
          </a:ln>
        </p:spPr>
      </p:pic>
      <p:sp>
        <p:nvSpPr>
          <p:cNvPr id="753" name="Google Shape;753;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754" name="Google Shape;754;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48"/>
          <p:cNvSpPr txBox="1"/>
          <p:nvPr>
            <p:ph idx="4294967295" type="body"/>
          </p:nvPr>
        </p:nvSpPr>
        <p:spPr>
          <a:xfrm>
            <a:off x="2133600" y="1981200"/>
            <a:ext cx="8001000" cy="34290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2400"/>
              <a:buNone/>
            </a:pPr>
            <a:r>
              <a:rPr lang="en-US" sz="1879">
                <a:solidFill>
                  <a:schemeClr val="dk1"/>
                </a:solidFill>
                <a:latin typeface="Cambria"/>
                <a:ea typeface="Cambria"/>
                <a:cs typeface="Cambria"/>
                <a:sym typeface="Cambria"/>
              </a:rPr>
              <a:t>Let E1 and E2 be two entities in an ER diagram with simple single-valued attributes. R1 and R2 are two relationships between E1 and E2, where R1 is one-to-many and R2 is many-to-many. R1 and R2 do not have any attributes of their own. What is the minimum number of tables required to represent this situation in the relational model?</a:t>
            </a:r>
            <a:endParaRPr sz="1879"/>
          </a:p>
          <a:p>
            <a:pPr indent="0" lvl="0" marL="0" rtl="0" algn="just">
              <a:lnSpc>
                <a:spcPct val="100000"/>
              </a:lnSpc>
              <a:spcBef>
                <a:spcPts val="480"/>
              </a:spcBef>
              <a:spcAft>
                <a:spcPts val="0"/>
              </a:spcAft>
              <a:buClr>
                <a:schemeClr val="dk1"/>
              </a:buClr>
              <a:buSzPts val="2400"/>
              <a:buNone/>
            </a:pPr>
            <a:r>
              <a:t/>
            </a:r>
            <a:endParaRPr sz="1879">
              <a:solidFill>
                <a:schemeClr val="dk1"/>
              </a:solidFill>
              <a:latin typeface="Cambria"/>
              <a:ea typeface="Cambria"/>
              <a:cs typeface="Cambria"/>
              <a:sym typeface="Cambria"/>
            </a:endParaRPr>
          </a:p>
          <a:p>
            <a:pPr indent="0" lvl="0" marL="0" rtl="0" algn="just">
              <a:lnSpc>
                <a:spcPct val="100000"/>
              </a:lnSpc>
              <a:spcBef>
                <a:spcPts val="480"/>
              </a:spcBef>
              <a:spcAft>
                <a:spcPts val="0"/>
              </a:spcAft>
              <a:buClr>
                <a:schemeClr val="dk1"/>
              </a:buClr>
              <a:buSzPts val="2400"/>
              <a:buNone/>
            </a:pPr>
            <a:r>
              <a:rPr lang="en-US" sz="1879">
                <a:solidFill>
                  <a:schemeClr val="dk1"/>
                </a:solidFill>
                <a:latin typeface="Cambria"/>
                <a:ea typeface="Cambria"/>
                <a:cs typeface="Cambria"/>
                <a:sym typeface="Cambria"/>
              </a:rPr>
              <a:t>(a) 2    (b) 3    (c) 4    (d) 5</a:t>
            </a:r>
            <a:endParaRPr sz="1879"/>
          </a:p>
        </p:txBody>
      </p:sp>
      <p:sp>
        <p:nvSpPr>
          <p:cNvPr id="760" name="Google Shape;760;p48"/>
          <p:cNvSpPr txBox="1"/>
          <p:nvPr>
            <p:ph idx="4294967295" type="title"/>
          </p:nvPr>
        </p:nvSpPr>
        <p:spPr>
          <a:xfrm>
            <a:off x="2514600" y="914400"/>
            <a:ext cx="7924800" cy="609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3200"/>
              <a:buFont typeface="Cambria"/>
              <a:buNone/>
            </a:pPr>
            <a:r>
              <a:rPr b="1" lang="en-US" sz="3200">
                <a:solidFill>
                  <a:srgbClr val="C00000"/>
                </a:solidFill>
                <a:latin typeface="Cambria"/>
                <a:ea typeface="Cambria"/>
                <a:cs typeface="Cambria"/>
                <a:sym typeface="Cambria"/>
              </a:rPr>
              <a:t>EXAMPLE 3</a:t>
            </a:r>
            <a:endParaRPr/>
          </a:p>
        </p:txBody>
      </p:sp>
      <p:sp>
        <p:nvSpPr>
          <p:cNvPr id="761" name="Google Shape;761;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762" name="Google Shape;762;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49"/>
          <p:cNvSpPr txBox="1"/>
          <p:nvPr>
            <p:ph idx="4294967295" type="body"/>
          </p:nvPr>
        </p:nvSpPr>
        <p:spPr>
          <a:xfrm>
            <a:off x="2460172" y="1447800"/>
            <a:ext cx="8001000" cy="4637314"/>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2400"/>
              <a:buNone/>
            </a:pPr>
            <a:r>
              <a:rPr lang="en-US" sz="1879">
                <a:solidFill>
                  <a:schemeClr val="dk1"/>
                </a:solidFill>
                <a:latin typeface="Cambria"/>
                <a:ea typeface="Cambria"/>
                <a:cs typeface="Cambria"/>
                <a:sym typeface="Cambria"/>
              </a:rPr>
              <a:t>Let E1 and E2 be two entities in an ER diagram with simple single-valued attributes. R1 and R2 are two relationships between E1 and E2, where R1 is one-to-many and R2 is many-to-many. R1 and R2 do not have any attributes of their own. What is the minimum number of tables required to represent this situation in the relational model?</a:t>
            </a:r>
            <a:endParaRPr sz="1879"/>
          </a:p>
          <a:p>
            <a:pPr indent="0" lvl="0" marL="0" rtl="0" algn="just">
              <a:lnSpc>
                <a:spcPct val="100000"/>
              </a:lnSpc>
              <a:spcBef>
                <a:spcPts val="480"/>
              </a:spcBef>
              <a:spcAft>
                <a:spcPts val="0"/>
              </a:spcAft>
              <a:buClr>
                <a:schemeClr val="dk1"/>
              </a:buClr>
              <a:buSzPts val="2400"/>
              <a:buNone/>
            </a:pPr>
            <a:r>
              <a:t/>
            </a:r>
            <a:endParaRPr sz="1879">
              <a:solidFill>
                <a:schemeClr val="dk1"/>
              </a:solidFill>
              <a:latin typeface="Cambria"/>
              <a:ea typeface="Cambria"/>
              <a:cs typeface="Cambria"/>
              <a:sym typeface="Cambria"/>
            </a:endParaRPr>
          </a:p>
          <a:p>
            <a:pPr indent="0" lvl="0" marL="0" rtl="0" algn="just">
              <a:lnSpc>
                <a:spcPct val="100000"/>
              </a:lnSpc>
              <a:spcBef>
                <a:spcPts val="480"/>
              </a:spcBef>
              <a:spcAft>
                <a:spcPts val="0"/>
              </a:spcAft>
              <a:buClr>
                <a:schemeClr val="dk1"/>
              </a:buClr>
              <a:buSzPts val="2400"/>
              <a:buNone/>
            </a:pPr>
            <a:r>
              <a:rPr lang="en-US" sz="1879">
                <a:solidFill>
                  <a:schemeClr val="dk1"/>
                </a:solidFill>
                <a:latin typeface="Cambria"/>
                <a:ea typeface="Cambria"/>
                <a:cs typeface="Cambria"/>
                <a:sym typeface="Cambria"/>
              </a:rPr>
              <a:t>(a) 2    </a:t>
            </a:r>
            <a:r>
              <a:rPr b="1" lang="en-US" sz="1879">
                <a:solidFill>
                  <a:schemeClr val="dk1"/>
                </a:solidFill>
                <a:latin typeface="Cambria"/>
                <a:ea typeface="Cambria"/>
                <a:cs typeface="Cambria"/>
                <a:sym typeface="Cambria"/>
              </a:rPr>
              <a:t>(b) 3 </a:t>
            </a:r>
            <a:r>
              <a:rPr lang="en-US" sz="1879">
                <a:solidFill>
                  <a:schemeClr val="dk1"/>
                </a:solidFill>
                <a:latin typeface="Cambria"/>
                <a:ea typeface="Cambria"/>
                <a:cs typeface="Cambria"/>
                <a:sym typeface="Cambria"/>
              </a:rPr>
              <a:t>   (c) 4    (d) 5</a:t>
            </a:r>
            <a:endParaRPr sz="1879"/>
          </a:p>
        </p:txBody>
      </p:sp>
      <p:sp>
        <p:nvSpPr>
          <p:cNvPr id="768" name="Google Shape;768;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769" name="Google Shape;769;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50"/>
          <p:cNvSpPr txBox="1"/>
          <p:nvPr>
            <p:ph idx="4294967295" type="title"/>
          </p:nvPr>
        </p:nvSpPr>
        <p:spPr>
          <a:xfrm>
            <a:off x="2514600" y="1066800"/>
            <a:ext cx="7924800" cy="609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3200"/>
              <a:buFont typeface="Arial"/>
              <a:buNone/>
            </a:pPr>
            <a:r>
              <a:rPr b="1" lang="en-US" sz="3200">
                <a:solidFill>
                  <a:srgbClr val="C00000"/>
                </a:solidFill>
                <a:latin typeface="Arial"/>
                <a:ea typeface="Arial"/>
                <a:cs typeface="Arial"/>
                <a:sym typeface="Arial"/>
              </a:rPr>
              <a:t>EXAMPLE 4</a:t>
            </a:r>
            <a:endParaRPr b="1" sz="3200">
              <a:solidFill>
                <a:srgbClr val="C00000"/>
              </a:solidFill>
              <a:latin typeface="Arial"/>
              <a:ea typeface="Arial"/>
              <a:cs typeface="Arial"/>
              <a:sym typeface="Arial"/>
            </a:endParaRPr>
          </a:p>
        </p:txBody>
      </p:sp>
      <p:sp>
        <p:nvSpPr>
          <p:cNvPr id="775" name="Google Shape;775;p50"/>
          <p:cNvSpPr txBox="1"/>
          <p:nvPr>
            <p:ph idx="4294967295" type="body"/>
          </p:nvPr>
        </p:nvSpPr>
        <p:spPr>
          <a:xfrm>
            <a:off x="2438400" y="1752600"/>
            <a:ext cx="8001000" cy="4495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2400"/>
              <a:buNone/>
            </a:pPr>
            <a:r>
              <a:rPr lang="en-US" sz="1879">
                <a:solidFill>
                  <a:schemeClr val="dk1"/>
                </a:solidFill>
                <a:latin typeface="Cambria"/>
                <a:ea typeface="Cambria"/>
                <a:cs typeface="Cambria"/>
                <a:sym typeface="Cambria"/>
              </a:rPr>
              <a:t>Find the minimum number of tables required to represent the given ER diagram in relational model-</a:t>
            </a:r>
            <a:endParaRPr sz="1879"/>
          </a:p>
        </p:txBody>
      </p:sp>
      <p:pic>
        <p:nvPicPr>
          <p:cNvPr descr="https://www.gatevidyalay.com/wp-content/uploads/2018/06/ER-Diagrams-to-Tables-Problem-02.png" id="776" name="Google Shape;776;p50"/>
          <p:cNvPicPr preferRelativeResize="0"/>
          <p:nvPr/>
        </p:nvPicPr>
        <p:blipFill rotWithShape="1">
          <a:blip r:embed="rId3">
            <a:alphaModFix/>
          </a:blip>
          <a:srcRect b="0" l="0" r="0" t="0"/>
          <a:stretch/>
        </p:blipFill>
        <p:spPr>
          <a:xfrm>
            <a:off x="2971801" y="2627313"/>
            <a:ext cx="5667375" cy="3667125"/>
          </a:xfrm>
          <a:prstGeom prst="rect">
            <a:avLst/>
          </a:prstGeom>
          <a:noFill/>
          <a:ln>
            <a:noFill/>
          </a:ln>
        </p:spPr>
      </p:pic>
      <p:sp>
        <p:nvSpPr>
          <p:cNvPr id="777" name="Google Shape;777;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778" name="Google Shape;778;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51"/>
          <p:cNvSpPr txBox="1"/>
          <p:nvPr>
            <p:ph idx="4294967295" type="body"/>
          </p:nvPr>
        </p:nvSpPr>
        <p:spPr>
          <a:xfrm>
            <a:off x="1804987" y="1371600"/>
            <a:ext cx="8001000" cy="44958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2400"/>
              <a:buNone/>
            </a:pPr>
            <a:r>
              <a:rPr lang="en-US" sz="1879">
                <a:solidFill>
                  <a:schemeClr val="dk1"/>
                </a:solidFill>
                <a:latin typeface="Cambria"/>
                <a:ea typeface="Cambria"/>
                <a:cs typeface="Cambria"/>
                <a:sym typeface="Cambria"/>
              </a:rPr>
              <a:t>Find the minimum number of tables required to represent the given ER diagram in relational model-</a:t>
            </a:r>
            <a:endParaRPr sz="1879"/>
          </a:p>
        </p:txBody>
      </p:sp>
      <p:pic>
        <p:nvPicPr>
          <p:cNvPr descr="https://www.gatevidyalay.com/wp-content/uploads/2018/06/ER-Diagrams-to-Tables-Problem-02.png" id="784" name="Google Shape;784;p51"/>
          <p:cNvPicPr preferRelativeResize="0"/>
          <p:nvPr/>
        </p:nvPicPr>
        <p:blipFill rotWithShape="1">
          <a:blip r:embed="rId3">
            <a:alphaModFix/>
          </a:blip>
          <a:srcRect b="0" l="0" r="0" t="0"/>
          <a:stretch/>
        </p:blipFill>
        <p:spPr>
          <a:xfrm>
            <a:off x="4924426" y="2362201"/>
            <a:ext cx="5667375" cy="3667125"/>
          </a:xfrm>
          <a:prstGeom prst="rect">
            <a:avLst/>
          </a:prstGeom>
          <a:noFill/>
          <a:ln>
            <a:noFill/>
          </a:ln>
        </p:spPr>
      </p:pic>
      <p:sp>
        <p:nvSpPr>
          <p:cNvPr id="785" name="Google Shape;785;p51"/>
          <p:cNvSpPr txBox="1"/>
          <p:nvPr/>
        </p:nvSpPr>
        <p:spPr>
          <a:xfrm>
            <a:off x="1774826" y="2741613"/>
            <a:ext cx="3025775" cy="22467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C00000"/>
                </a:solidFill>
                <a:latin typeface="Arimo"/>
                <a:ea typeface="Arimo"/>
                <a:cs typeface="Arimo"/>
                <a:sym typeface="Arimo"/>
              </a:rPr>
              <a:t>Minimum 4 tables will be required-</a:t>
            </a:r>
            <a:endParaRPr sz="1800">
              <a:solidFill>
                <a:srgbClr val="C00000"/>
              </a:solidFill>
              <a:latin typeface="Calibri"/>
              <a:ea typeface="Calibri"/>
              <a:cs typeface="Calibri"/>
              <a:sym typeface="Calibri"/>
            </a:endParaRPr>
          </a:p>
          <a:p>
            <a:pPr indent="0" lvl="0" marL="0" marR="0" rtl="0" algn="l">
              <a:spcBef>
                <a:spcPts val="0"/>
              </a:spcBef>
              <a:spcAft>
                <a:spcPts val="0"/>
              </a:spcAft>
              <a:buNone/>
            </a:pPr>
            <a:r>
              <a:t/>
            </a:r>
            <a:endParaRPr sz="2000">
              <a:solidFill>
                <a:srgbClr val="C00000"/>
              </a:solidFill>
              <a:latin typeface="Arimo"/>
              <a:ea typeface="Arimo"/>
              <a:cs typeface="Arimo"/>
              <a:sym typeface="Arimo"/>
            </a:endParaRPr>
          </a:p>
          <a:p>
            <a:pPr indent="0" lvl="0" marL="0" marR="0" rtl="0" algn="l">
              <a:spcBef>
                <a:spcPts val="0"/>
              </a:spcBef>
              <a:spcAft>
                <a:spcPts val="0"/>
              </a:spcAft>
              <a:buClr>
                <a:srgbClr val="C00000"/>
              </a:buClr>
              <a:buSzPts val="2000"/>
              <a:buFont typeface="Arial"/>
              <a:buChar char="•"/>
            </a:pPr>
            <a:r>
              <a:rPr lang="en-US" sz="2000">
                <a:solidFill>
                  <a:srgbClr val="C00000"/>
                </a:solidFill>
                <a:latin typeface="Arimo"/>
                <a:ea typeface="Arimo"/>
                <a:cs typeface="Arimo"/>
                <a:sym typeface="Arimo"/>
              </a:rPr>
              <a:t>AR1R2 (</a:t>
            </a:r>
            <a:r>
              <a:rPr lang="en-US" sz="2000" u="sng">
                <a:solidFill>
                  <a:srgbClr val="C00000"/>
                </a:solidFill>
                <a:latin typeface="Arimo"/>
                <a:ea typeface="Arimo"/>
                <a:cs typeface="Arimo"/>
                <a:sym typeface="Arimo"/>
              </a:rPr>
              <a:t>a1</a:t>
            </a:r>
            <a:r>
              <a:rPr lang="en-US" sz="2000">
                <a:solidFill>
                  <a:srgbClr val="C00000"/>
                </a:solidFill>
                <a:latin typeface="Arimo"/>
                <a:ea typeface="Arimo"/>
                <a:cs typeface="Arimo"/>
                <a:sym typeface="Arimo"/>
              </a:rPr>
              <a:t> , a2 , </a:t>
            </a:r>
            <a:r>
              <a:rPr lang="en-US" sz="2000" u="sng">
                <a:solidFill>
                  <a:srgbClr val="C00000"/>
                </a:solidFill>
                <a:latin typeface="Arimo"/>
                <a:ea typeface="Arimo"/>
                <a:cs typeface="Arimo"/>
                <a:sym typeface="Arimo"/>
              </a:rPr>
              <a:t>b1</a:t>
            </a:r>
            <a:r>
              <a:rPr lang="en-US" sz="2000">
                <a:solidFill>
                  <a:srgbClr val="C00000"/>
                </a:solidFill>
                <a:latin typeface="Arimo"/>
                <a:ea typeface="Arimo"/>
                <a:cs typeface="Arimo"/>
                <a:sym typeface="Arimo"/>
              </a:rPr>
              <a:t> , </a:t>
            </a:r>
            <a:r>
              <a:rPr lang="en-US" sz="2000" u="sng">
                <a:solidFill>
                  <a:srgbClr val="C00000"/>
                </a:solidFill>
                <a:latin typeface="Arimo"/>
                <a:ea typeface="Arimo"/>
                <a:cs typeface="Arimo"/>
                <a:sym typeface="Arimo"/>
              </a:rPr>
              <a:t>c1</a:t>
            </a:r>
            <a:r>
              <a:rPr lang="en-US" sz="2000">
                <a:solidFill>
                  <a:srgbClr val="C00000"/>
                </a:solidFill>
                <a:latin typeface="Arimo"/>
                <a:ea typeface="Arimo"/>
                <a:cs typeface="Arimo"/>
                <a:sym typeface="Arimo"/>
              </a:rPr>
              <a:t>)</a:t>
            </a:r>
            <a:endParaRPr sz="1800">
              <a:solidFill>
                <a:srgbClr val="C00000"/>
              </a:solidFill>
              <a:latin typeface="Calibri"/>
              <a:ea typeface="Calibri"/>
              <a:cs typeface="Calibri"/>
              <a:sym typeface="Calibri"/>
            </a:endParaRPr>
          </a:p>
          <a:p>
            <a:pPr indent="0" lvl="0" marL="0" marR="0" rtl="0" algn="l">
              <a:spcBef>
                <a:spcPts val="0"/>
              </a:spcBef>
              <a:spcAft>
                <a:spcPts val="0"/>
              </a:spcAft>
              <a:buClr>
                <a:srgbClr val="C00000"/>
              </a:buClr>
              <a:buSzPts val="2000"/>
              <a:buFont typeface="Arial"/>
              <a:buChar char="•"/>
            </a:pPr>
            <a:r>
              <a:rPr lang="en-US" sz="2000">
                <a:solidFill>
                  <a:srgbClr val="C00000"/>
                </a:solidFill>
                <a:latin typeface="Arimo"/>
                <a:ea typeface="Arimo"/>
                <a:cs typeface="Arimo"/>
                <a:sym typeface="Arimo"/>
              </a:rPr>
              <a:t>B (</a:t>
            </a:r>
            <a:r>
              <a:rPr lang="en-US" sz="2000" u="sng">
                <a:solidFill>
                  <a:srgbClr val="C00000"/>
                </a:solidFill>
                <a:latin typeface="Arimo"/>
                <a:ea typeface="Arimo"/>
                <a:cs typeface="Arimo"/>
                <a:sym typeface="Arimo"/>
              </a:rPr>
              <a:t>b1</a:t>
            </a:r>
            <a:r>
              <a:rPr lang="en-US" sz="2000">
                <a:solidFill>
                  <a:srgbClr val="C00000"/>
                </a:solidFill>
                <a:latin typeface="Arimo"/>
                <a:ea typeface="Arimo"/>
                <a:cs typeface="Arimo"/>
                <a:sym typeface="Arimo"/>
              </a:rPr>
              <a:t> , b2)</a:t>
            </a:r>
            <a:endParaRPr sz="1800">
              <a:solidFill>
                <a:srgbClr val="C00000"/>
              </a:solidFill>
              <a:latin typeface="Calibri"/>
              <a:ea typeface="Calibri"/>
              <a:cs typeface="Calibri"/>
              <a:sym typeface="Calibri"/>
            </a:endParaRPr>
          </a:p>
          <a:p>
            <a:pPr indent="0" lvl="0" marL="0" marR="0" rtl="0" algn="l">
              <a:spcBef>
                <a:spcPts val="0"/>
              </a:spcBef>
              <a:spcAft>
                <a:spcPts val="0"/>
              </a:spcAft>
              <a:buClr>
                <a:srgbClr val="C00000"/>
              </a:buClr>
              <a:buSzPts val="2000"/>
              <a:buFont typeface="Arial"/>
              <a:buChar char="•"/>
            </a:pPr>
            <a:r>
              <a:rPr lang="en-US" sz="2000">
                <a:solidFill>
                  <a:srgbClr val="C00000"/>
                </a:solidFill>
                <a:latin typeface="Arimo"/>
                <a:ea typeface="Arimo"/>
                <a:cs typeface="Arimo"/>
                <a:sym typeface="Arimo"/>
              </a:rPr>
              <a:t>C (</a:t>
            </a:r>
            <a:r>
              <a:rPr lang="en-US" sz="2000" u="sng">
                <a:solidFill>
                  <a:srgbClr val="C00000"/>
                </a:solidFill>
                <a:latin typeface="Arimo"/>
                <a:ea typeface="Arimo"/>
                <a:cs typeface="Arimo"/>
                <a:sym typeface="Arimo"/>
              </a:rPr>
              <a:t>c1</a:t>
            </a:r>
            <a:r>
              <a:rPr lang="en-US" sz="2000">
                <a:solidFill>
                  <a:srgbClr val="C00000"/>
                </a:solidFill>
                <a:latin typeface="Arimo"/>
                <a:ea typeface="Arimo"/>
                <a:cs typeface="Arimo"/>
                <a:sym typeface="Arimo"/>
              </a:rPr>
              <a:t> , c2)</a:t>
            </a:r>
            <a:endParaRPr sz="1800">
              <a:solidFill>
                <a:srgbClr val="C00000"/>
              </a:solidFill>
              <a:latin typeface="Calibri"/>
              <a:ea typeface="Calibri"/>
              <a:cs typeface="Calibri"/>
              <a:sym typeface="Calibri"/>
            </a:endParaRPr>
          </a:p>
          <a:p>
            <a:pPr indent="0" lvl="0" marL="0" marR="0" rtl="0" algn="l">
              <a:spcBef>
                <a:spcPts val="0"/>
              </a:spcBef>
              <a:spcAft>
                <a:spcPts val="0"/>
              </a:spcAft>
              <a:buClr>
                <a:srgbClr val="C00000"/>
              </a:buClr>
              <a:buSzPts val="2000"/>
              <a:buFont typeface="Arial"/>
              <a:buChar char="•"/>
            </a:pPr>
            <a:r>
              <a:rPr lang="en-US" sz="2000">
                <a:solidFill>
                  <a:srgbClr val="C00000"/>
                </a:solidFill>
                <a:latin typeface="Arimo"/>
                <a:ea typeface="Arimo"/>
                <a:cs typeface="Arimo"/>
                <a:sym typeface="Arimo"/>
              </a:rPr>
              <a:t>R3 (</a:t>
            </a:r>
            <a:r>
              <a:rPr lang="en-US" sz="2000" u="sng">
                <a:solidFill>
                  <a:srgbClr val="C00000"/>
                </a:solidFill>
                <a:latin typeface="Arimo"/>
                <a:ea typeface="Arimo"/>
                <a:cs typeface="Arimo"/>
                <a:sym typeface="Arimo"/>
              </a:rPr>
              <a:t>b1</a:t>
            </a:r>
            <a:r>
              <a:rPr lang="en-US" sz="2000">
                <a:solidFill>
                  <a:srgbClr val="C00000"/>
                </a:solidFill>
                <a:latin typeface="Arimo"/>
                <a:ea typeface="Arimo"/>
                <a:cs typeface="Arimo"/>
                <a:sym typeface="Arimo"/>
              </a:rPr>
              <a:t> , </a:t>
            </a:r>
            <a:r>
              <a:rPr lang="en-US" sz="2000" u="sng">
                <a:solidFill>
                  <a:srgbClr val="C00000"/>
                </a:solidFill>
                <a:latin typeface="Arimo"/>
                <a:ea typeface="Arimo"/>
                <a:cs typeface="Arimo"/>
                <a:sym typeface="Arimo"/>
              </a:rPr>
              <a:t>c1</a:t>
            </a:r>
            <a:r>
              <a:rPr lang="en-US" sz="2000">
                <a:solidFill>
                  <a:srgbClr val="C00000"/>
                </a:solidFill>
                <a:latin typeface="Arimo"/>
                <a:ea typeface="Arimo"/>
                <a:cs typeface="Arimo"/>
                <a:sym typeface="Arimo"/>
              </a:rPr>
              <a:t>)</a:t>
            </a:r>
            <a:endParaRPr sz="1800">
              <a:solidFill>
                <a:srgbClr val="C00000"/>
              </a:solidFill>
              <a:latin typeface="Calibri"/>
              <a:ea typeface="Calibri"/>
              <a:cs typeface="Calibri"/>
              <a:sym typeface="Calibri"/>
            </a:endParaRPr>
          </a:p>
        </p:txBody>
      </p:sp>
      <p:sp>
        <p:nvSpPr>
          <p:cNvPr id="786" name="Google Shape;786;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787" name="Google Shape;787;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52"/>
          <p:cNvSpPr txBox="1"/>
          <p:nvPr>
            <p:ph idx="4294967295" type="title"/>
          </p:nvPr>
        </p:nvSpPr>
        <p:spPr>
          <a:xfrm>
            <a:off x="2514600" y="1066800"/>
            <a:ext cx="7924800" cy="609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3200"/>
              <a:buFont typeface="Arial"/>
              <a:buNone/>
            </a:pPr>
            <a:r>
              <a:rPr b="1" lang="en-US" sz="3200">
                <a:solidFill>
                  <a:srgbClr val="C00000"/>
                </a:solidFill>
                <a:latin typeface="Arial"/>
                <a:ea typeface="Arial"/>
                <a:cs typeface="Arial"/>
                <a:sym typeface="Arial"/>
              </a:rPr>
              <a:t>EXAMPLE 5</a:t>
            </a:r>
            <a:endParaRPr b="1" sz="2400">
              <a:solidFill>
                <a:srgbClr val="C00000"/>
              </a:solidFill>
              <a:latin typeface="Arial"/>
              <a:ea typeface="Arial"/>
              <a:cs typeface="Arial"/>
              <a:sym typeface="Arial"/>
            </a:endParaRPr>
          </a:p>
        </p:txBody>
      </p:sp>
      <p:sp>
        <p:nvSpPr>
          <p:cNvPr id="793" name="Google Shape;793;p52"/>
          <p:cNvSpPr txBox="1"/>
          <p:nvPr>
            <p:ph idx="4294967295" type="body"/>
          </p:nvPr>
        </p:nvSpPr>
        <p:spPr>
          <a:xfrm>
            <a:off x="2438400" y="1752600"/>
            <a:ext cx="8001000" cy="4495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2400"/>
              <a:buNone/>
            </a:pPr>
            <a:r>
              <a:rPr lang="en-US" sz="1879">
                <a:solidFill>
                  <a:schemeClr val="dk1"/>
                </a:solidFill>
                <a:latin typeface="Cambria"/>
                <a:ea typeface="Cambria"/>
                <a:cs typeface="Cambria"/>
                <a:sym typeface="Cambria"/>
              </a:rPr>
              <a:t>Find the minimum number of tables required to represent the given ER diagram in relational model-</a:t>
            </a:r>
            <a:endParaRPr sz="1879"/>
          </a:p>
        </p:txBody>
      </p:sp>
      <p:pic>
        <p:nvPicPr>
          <p:cNvPr descr="https://www.gatevidyalay.com/wp-content/uploads/2018/06/ER-Diagrams-to-Tables-Problem-04.png" id="794" name="Google Shape;794;p52"/>
          <p:cNvPicPr preferRelativeResize="0"/>
          <p:nvPr/>
        </p:nvPicPr>
        <p:blipFill rotWithShape="1">
          <a:blip r:embed="rId3">
            <a:alphaModFix/>
          </a:blip>
          <a:srcRect b="0" l="0" r="0" t="0"/>
          <a:stretch/>
        </p:blipFill>
        <p:spPr>
          <a:xfrm>
            <a:off x="2468563" y="2743201"/>
            <a:ext cx="7077075" cy="1781175"/>
          </a:xfrm>
          <a:prstGeom prst="rect">
            <a:avLst/>
          </a:prstGeom>
          <a:noFill/>
          <a:ln>
            <a:noFill/>
          </a:ln>
        </p:spPr>
      </p:pic>
      <p:sp>
        <p:nvSpPr>
          <p:cNvPr id="795" name="Google Shape;795;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796" name="Google Shape;796;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53"/>
          <p:cNvSpPr txBox="1"/>
          <p:nvPr>
            <p:ph idx="4294967295" type="body"/>
          </p:nvPr>
        </p:nvSpPr>
        <p:spPr>
          <a:xfrm>
            <a:off x="2209800" y="1181100"/>
            <a:ext cx="8001000" cy="4495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2400"/>
              <a:buNone/>
            </a:pPr>
            <a:r>
              <a:rPr lang="en-US" sz="1879">
                <a:solidFill>
                  <a:schemeClr val="dk1"/>
                </a:solidFill>
                <a:latin typeface="Cambria"/>
                <a:ea typeface="Cambria"/>
                <a:cs typeface="Cambria"/>
                <a:sym typeface="Cambria"/>
              </a:rPr>
              <a:t>Find the minimum number of tables required to represent the given ER diagram in relational model-</a:t>
            </a:r>
            <a:endParaRPr sz="1879"/>
          </a:p>
        </p:txBody>
      </p:sp>
      <p:pic>
        <p:nvPicPr>
          <p:cNvPr descr="https://www.gatevidyalay.com/wp-content/uploads/2018/06/ER-Diagrams-to-Tables-Problem-04.png" id="802" name="Google Shape;802;p53"/>
          <p:cNvPicPr preferRelativeResize="0"/>
          <p:nvPr/>
        </p:nvPicPr>
        <p:blipFill rotWithShape="1">
          <a:blip r:embed="rId3">
            <a:alphaModFix/>
          </a:blip>
          <a:srcRect b="0" l="0" r="0" t="0"/>
          <a:stretch/>
        </p:blipFill>
        <p:spPr>
          <a:xfrm>
            <a:off x="2468563" y="2743201"/>
            <a:ext cx="7077075" cy="1781175"/>
          </a:xfrm>
          <a:prstGeom prst="rect">
            <a:avLst/>
          </a:prstGeom>
          <a:noFill/>
          <a:ln>
            <a:noFill/>
          </a:ln>
        </p:spPr>
      </p:pic>
      <p:sp>
        <p:nvSpPr>
          <p:cNvPr id="803" name="Google Shape;803;p53"/>
          <p:cNvSpPr txBox="1"/>
          <p:nvPr/>
        </p:nvSpPr>
        <p:spPr>
          <a:xfrm>
            <a:off x="2468563" y="4622800"/>
            <a:ext cx="6324600" cy="16303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C00000"/>
                </a:solidFill>
                <a:latin typeface="Arimo"/>
                <a:ea typeface="Arimo"/>
                <a:cs typeface="Arimo"/>
                <a:sym typeface="Arimo"/>
              </a:rPr>
              <a:t>Applying the rules, minimum 3 tables will be required-</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000">
              <a:solidFill>
                <a:srgbClr val="C00000"/>
              </a:solidFill>
              <a:latin typeface="Arimo"/>
              <a:ea typeface="Arimo"/>
              <a:cs typeface="Arimo"/>
              <a:sym typeface="Arimo"/>
            </a:endParaRPr>
          </a:p>
          <a:p>
            <a:pPr indent="0" lvl="0" marL="0" marR="0" rtl="0" algn="l">
              <a:spcBef>
                <a:spcPts val="0"/>
              </a:spcBef>
              <a:spcAft>
                <a:spcPts val="0"/>
              </a:spcAft>
              <a:buClr>
                <a:srgbClr val="C00000"/>
              </a:buClr>
              <a:buSzPts val="2000"/>
              <a:buFont typeface="Arial"/>
              <a:buChar char="•"/>
            </a:pPr>
            <a:r>
              <a:rPr lang="en-US" sz="2000">
                <a:solidFill>
                  <a:srgbClr val="C00000"/>
                </a:solidFill>
                <a:latin typeface="Arimo"/>
                <a:ea typeface="Arimo"/>
                <a:cs typeface="Arimo"/>
                <a:sym typeface="Arimo"/>
              </a:rPr>
              <a:t>E1 (</a:t>
            </a:r>
            <a:r>
              <a:rPr lang="en-US" sz="2000" u="sng">
                <a:solidFill>
                  <a:srgbClr val="C00000"/>
                </a:solidFill>
                <a:latin typeface="Arimo"/>
                <a:ea typeface="Arimo"/>
                <a:cs typeface="Arimo"/>
                <a:sym typeface="Arimo"/>
              </a:rPr>
              <a:t>a1</a:t>
            </a:r>
            <a:r>
              <a:rPr lang="en-US" sz="2000">
                <a:solidFill>
                  <a:srgbClr val="C00000"/>
                </a:solidFill>
                <a:latin typeface="Arimo"/>
                <a:ea typeface="Arimo"/>
                <a:cs typeface="Arimo"/>
                <a:sym typeface="Arimo"/>
              </a:rPr>
              <a:t> , a2)</a:t>
            </a:r>
            <a:endParaRPr sz="1800">
              <a:solidFill>
                <a:schemeClr val="dk1"/>
              </a:solidFill>
              <a:latin typeface="Calibri"/>
              <a:ea typeface="Calibri"/>
              <a:cs typeface="Calibri"/>
              <a:sym typeface="Calibri"/>
            </a:endParaRPr>
          </a:p>
          <a:p>
            <a:pPr indent="0" lvl="0" marL="0" marR="0" rtl="0" algn="l">
              <a:spcBef>
                <a:spcPts val="0"/>
              </a:spcBef>
              <a:spcAft>
                <a:spcPts val="0"/>
              </a:spcAft>
              <a:buClr>
                <a:srgbClr val="C00000"/>
              </a:buClr>
              <a:buSzPts val="2000"/>
              <a:buFont typeface="Arial"/>
              <a:buChar char="•"/>
            </a:pPr>
            <a:r>
              <a:rPr lang="en-US" sz="2000">
                <a:solidFill>
                  <a:srgbClr val="C00000"/>
                </a:solidFill>
                <a:latin typeface="Arimo"/>
                <a:ea typeface="Arimo"/>
                <a:cs typeface="Arimo"/>
                <a:sym typeface="Arimo"/>
              </a:rPr>
              <a:t>E2R1R2 (</a:t>
            </a:r>
            <a:r>
              <a:rPr lang="en-US" sz="2000" u="sng">
                <a:solidFill>
                  <a:srgbClr val="C00000"/>
                </a:solidFill>
                <a:latin typeface="Arimo"/>
                <a:ea typeface="Arimo"/>
                <a:cs typeface="Arimo"/>
                <a:sym typeface="Arimo"/>
              </a:rPr>
              <a:t>b1</a:t>
            </a:r>
            <a:r>
              <a:rPr lang="en-US" sz="2000">
                <a:solidFill>
                  <a:srgbClr val="C00000"/>
                </a:solidFill>
                <a:latin typeface="Arimo"/>
                <a:ea typeface="Arimo"/>
                <a:cs typeface="Arimo"/>
                <a:sym typeface="Arimo"/>
              </a:rPr>
              <a:t> , b2 , </a:t>
            </a:r>
            <a:r>
              <a:rPr lang="en-US" sz="2000" u="sng">
                <a:solidFill>
                  <a:srgbClr val="C00000"/>
                </a:solidFill>
                <a:latin typeface="Arimo"/>
                <a:ea typeface="Arimo"/>
                <a:cs typeface="Arimo"/>
                <a:sym typeface="Arimo"/>
              </a:rPr>
              <a:t>a1</a:t>
            </a:r>
            <a:r>
              <a:rPr lang="en-US" sz="2000">
                <a:solidFill>
                  <a:srgbClr val="C00000"/>
                </a:solidFill>
                <a:latin typeface="Arimo"/>
                <a:ea typeface="Arimo"/>
                <a:cs typeface="Arimo"/>
                <a:sym typeface="Arimo"/>
              </a:rPr>
              <a:t> , </a:t>
            </a:r>
            <a:r>
              <a:rPr lang="en-US" sz="2000" u="sng">
                <a:solidFill>
                  <a:srgbClr val="C00000"/>
                </a:solidFill>
                <a:latin typeface="Arimo"/>
                <a:ea typeface="Arimo"/>
                <a:cs typeface="Arimo"/>
                <a:sym typeface="Arimo"/>
              </a:rPr>
              <a:t>c1</a:t>
            </a:r>
            <a:r>
              <a:rPr lang="en-US" sz="2000">
                <a:solidFill>
                  <a:srgbClr val="C00000"/>
                </a:solidFill>
                <a:latin typeface="Arimo"/>
                <a:ea typeface="Arimo"/>
                <a:cs typeface="Arimo"/>
                <a:sym typeface="Arimo"/>
              </a:rPr>
              <a:t> , b3)</a:t>
            </a:r>
            <a:endParaRPr sz="1800">
              <a:solidFill>
                <a:schemeClr val="dk1"/>
              </a:solidFill>
              <a:latin typeface="Calibri"/>
              <a:ea typeface="Calibri"/>
              <a:cs typeface="Calibri"/>
              <a:sym typeface="Calibri"/>
            </a:endParaRPr>
          </a:p>
          <a:p>
            <a:pPr indent="0" lvl="0" marL="0" marR="0" rtl="0" algn="l">
              <a:spcBef>
                <a:spcPts val="0"/>
              </a:spcBef>
              <a:spcAft>
                <a:spcPts val="0"/>
              </a:spcAft>
              <a:buClr>
                <a:srgbClr val="C00000"/>
              </a:buClr>
              <a:buSzPts val="2000"/>
              <a:buFont typeface="Arial"/>
              <a:buChar char="•"/>
            </a:pPr>
            <a:r>
              <a:rPr lang="en-US" sz="2000">
                <a:solidFill>
                  <a:srgbClr val="C00000"/>
                </a:solidFill>
                <a:latin typeface="Arimo"/>
                <a:ea typeface="Arimo"/>
                <a:cs typeface="Arimo"/>
                <a:sym typeface="Arimo"/>
              </a:rPr>
              <a:t>E3 (</a:t>
            </a:r>
            <a:r>
              <a:rPr lang="en-US" sz="2000" u="sng">
                <a:solidFill>
                  <a:srgbClr val="C00000"/>
                </a:solidFill>
                <a:latin typeface="Arimo"/>
                <a:ea typeface="Arimo"/>
                <a:cs typeface="Arimo"/>
                <a:sym typeface="Arimo"/>
              </a:rPr>
              <a:t>c1</a:t>
            </a:r>
            <a:r>
              <a:rPr lang="en-US" sz="2000">
                <a:solidFill>
                  <a:srgbClr val="C00000"/>
                </a:solidFill>
                <a:latin typeface="Arimo"/>
                <a:ea typeface="Arimo"/>
                <a:cs typeface="Arimo"/>
                <a:sym typeface="Arimo"/>
              </a:rPr>
              <a:t> , c2)</a:t>
            </a:r>
            <a:endParaRPr sz="1800">
              <a:solidFill>
                <a:schemeClr val="dk1"/>
              </a:solidFill>
              <a:latin typeface="Calibri"/>
              <a:ea typeface="Calibri"/>
              <a:cs typeface="Calibri"/>
              <a:sym typeface="Calibri"/>
            </a:endParaRPr>
          </a:p>
        </p:txBody>
      </p:sp>
      <p:sp>
        <p:nvSpPr>
          <p:cNvPr id="804" name="Google Shape;804;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805" name="Google Shape;805;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grpSp>
        <p:nvGrpSpPr>
          <p:cNvPr id="814" name="Google Shape;814;p54"/>
          <p:cNvGrpSpPr/>
          <p:nvPr/>
        </p:nvGrpSpPr>
        <p:grpSpPr>
          <a:xfrm>
            <a:off x="1524000" y="6356604"/>
            <a:ext cx="9144000" cy="88404"/>
            <a:chOff x="0" y="0"/>
            <a:chExt cx="13004800" cy="125730"/>
          </a:xfrm>
        </p:grpSpPr>
        <p:sp>
          <p:nvSpPr>
            <p:cNvPr id="815" name="Google Shape;815;p54"/>
            <p:cNvSpPr/>
            <p:nvPr/>
          </p:nvSpPr>
          <p:spPr>
            <a:xfrm>
              <a:off x="0" y="100584"/>
              <a:ext cx="13004800" cy="25146"/>
            </a:xfrm>
            <a:custGeom>
              <a:rect b="b" l="l" r="r" t="t"/>
              <a:pathLst>
                <a:path extrusionOk="0" h="25146" w="13004800">
                  <a:moveTo>
                    <a:pt x="13004800" y="0"/>
                  </a:moveTo>
                  <a:lnTo>
                    <a:pt x="0" y="0"/>
                  </a:lnTo>
                  <a:lnTo>
                    <a:pt x="0" y="25146"/>
                  </a:lnTo>
                  <a:lnTo>
                    <a:pt x="13004800" y="25146"/>
                  </a:lnTo>
                  <a:lnTo>
                    <a:pt x="13004800" y="0"/>
                  </a:lnTo>
                  <a:close/>
                </a:path>
              </a:pathLst>
            </a:custGeom>
            <a:solidFill>
              <a:srgbClr val="C00000"/>
            </a:solidFill>
            <a:ln>
              <a:noFill/>
            </a:ln>
          </p:spPr>
        </p:sp>
        <p:sp>
          <p:nvSpPr>
            <p:cNvPr id="816" name="Google Shape;816;p54"/>
            <p:cNvSpPr/>
            <p:nvPr/>
          </p:nvSpPr>
          <p:spPr>
            <a:xfrm>
              <a:off x="0" y="0"/>
              <a:ext cx="13004800" cy="75438"/>
            </a:xfrm>
            <a:custGeom>
              <a:rect b="b" l="l" r="r" t="t"/>
              <a:pathLst>
                <a:path extrusionOk="0" h="75438" w="13004800">
                  <a:moveTo>
                    <a:pt x="13004800" y="0"/>
                  </a:moveTo>
                  <a:lnTo>
                    <a:pt x="0" y="0"/>
                  </a:lnTo>
                  <a:lnTo>
                    <a:pt x="0" y="75438"/>
                  </a:lnTo>
                  <a:lnTo>
                    <a:pt x="13004800" y="75438"/>
                  </a:lnTo>
                  <a:lnTo>
                    <a:pt x="13004800" y="0"/>
                  </a:lnTo>
                  <a:close/>
                </a:path>
              </a:pathLst>
            </a:custGeom>
            <a:solidFill>
              <a:srgbClr val="C00000"/>
            </a:solidFill>
            <a:ln>
              <a:noFill/>
            </a:ln>
          </p:spPr>
        </p:sp>
      </p:grpSp>
      <p:sp>
        <p:nvSpPr>
          <p:cNvPr id="817" name="Google Shape;817;p54"/>
          <p:cNvSpPr txBox="1"/>
          <p:nvPr/>
        </p:nvSpPr>
        <p:spPr>
          <a:xfrm>
            <a:off x="3497975" y="2697131"/>
            <a:ext cx="5472121" cy="1023293"/>
          </a:xfrm>
          <a:prstGeom prst="rect">
            <a:avLst/>
          </a:prstGeom>
          <a:noFill/>
          <a:ln>
            <a:noFill/>
          </a:ln>
        </p:spPr>
        <p:txBody>
          <a:bodyPr anchorCtr="0" anchor="t" bIns="0" lIns="0" spcFirstLastPara="1" rIns="0" wrap="square" tIns="0">
            <a:spAutoFit/>
          </a:bodyPr>
          <a:lstStyle/>
          <a:p>
            <a:pPr indent="0" lvl="0" marL="0" marR="0" rtl="0" algn="ctr">
              <a:lnSpc>
                <a:spcPct val="120002"/>
              </a:lnSpc>
              <a:spcBef>
                <a:spcPts val="0"/>
              </a:spcBef>
              <a:spcAft>
                <a:spcPts val="0"/>
              </a:spcAft>
              <a:buNone/>
            </a:pPr>
            <a:r>
              <a:rPr lang="en-US" sz="7049">
                <a:solidFill>
                  <a:srgbClr val="000000"/>
                </a:solidFill>
                <a:latin typeface="Arial"/>
                <a:ea typeface="Arial"/>
                <a:cs typeface="Arial"/>
                <a:sym typeface="Arial"/>
              </a:rPr>
              <a:t>THANK YOU </a:t>
            </a:r>
            <a:endParaRPr/>
          </a:p>
        </p:txBody>
      </p:sp>
      <p:sp>
        <p:nvSpPr>
          <p:cNvPr id="818" name="Google Shape;818;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12/24/2024</a:t>
            </a:r>
            <a:endParaRPr/>
          </a:p>
        </p:txBody>
      </p:sp>
      <p:sp>
        <p:nvSpPr>
          <p:cNvPr id="819" name="Google Shape;819;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Dr. Gitanjali , Asst. Prof., UIE-CSE, Chandigarh University</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eme1">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2020-08-04T18:57:56Z</dcterms:created>
  <dc:creator>gaurav srivastav</dc:creator>
</cp:coreProperties>
</file>