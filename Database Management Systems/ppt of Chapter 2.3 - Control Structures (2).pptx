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61" r:id="rId2"/>
  </p:sldMasterIdLst>
  <p:notesMasterIdLst>
    <p:notesMasterId r:id="rId4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Lst>
  <p:sldSz cx="12192000" cy="6858000"/>
  <p:notesSz cx="6858000" cy="9144000"/>
  <p:embeddedFontLst>
    <p:embeddedFont>
      <p:font typeface="Arimo" panose="020B0604020202020204" charset="0"/>
      <p:bold r:id="rId41"/>
      <p:boldItalic r:id="rId42"/>
    </p:embeddedFont>
    <p:embeddedFont>
      <p:font typeface="Times" panose="02020603050405020304" pitchFamily="18"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7" roundtripDataSignature="AMtx7mi2hq0p3r9gruT+6UXHy8MglLKbA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6CAE755-F3D9-41D2-9B19-438355FB0456}">
  <a:tblStyle styleId="{16CAE755-F3D9-41D2-9B19-438355FB0456}"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103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2.fntdata"/><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6.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font" Target="fonts/font5.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3.fntdata"/><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20" name="Google Shape;220;p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21" name="Google Shape;221;p5: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24" name="Google Shape;224;p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4" name="Google Shape;27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4" name="Google Shape;28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4" name="Google Shape;29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4" name="Google Shape;30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4" name="Google Shape;314;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4" name="Google Shape;324;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4" name="Google Shape;334;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4" name="Google Shape;34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6" name="Google Shape;356;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9" name="Google Shape;369;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8" name="Google Shape;378;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0" name="Google Shape;390;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2" name="Google Shape;41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1" name="Google Shape;421;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1" name="Google Shape;431;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1" name="Google Shape;441;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1" name="Google Shape;451;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1" name="Google Shape;471;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2" name="Google Shape;482;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6" name="Google Shape;496;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9" name="Google Shape;509;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9" name="Google Shape;519;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9" name="Google Shape;529;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1" name="Google Shape;541;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5" name="Google Shape;555;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p37: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65" name="Google Shape;565;p37: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566" name="Google Shape;566;p37: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7" name="Google Shape;567;p37: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8" name="Google Shape;568;p37: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69" name="Google Shape;569;p37: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8"/>
        <p:cNvGrpSpPr/>
        <p:nvPr/>
      </p:nvGrpSpPr>
      <p:grpSpPr>
        <a:xfrm>
          <a:off x="0" y="0"/>
          <a:ext cx="0" cy="0"/>
          <a:chOff x="0" y="0"/>
          <a:chExt cx="0" cy="0"/>
        </a:xfrm>
      </p:grpSpPr>
      <p:sp>
        <p:nvSpPr>
          <p:cNvPr id="19" name="Google Shape;19;p3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3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1" name="Google Shape;21;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4" name="Google Shape;24;p39"/>
          <p:cNvPicPr preferRelativeResize="0"/>
          <p:nvPr/>
        </p:nvPicPr>
        <p:blipFill rotWithShape="1">
          <a:blip r:embed="rId2">
            <a:alphaModFix/>
          </a:blip>
          <a:srcRect/>
          <a:stretch/>
        </p:blipFill>
        <p:spPr>
          <a:xfrm>
            <a:off x="10275519" y="58916"/>
            <a:ext cx="1916480" cy="641551"/>
          </a:xfrm>
          <a:prstGeom prst="rect">
            <a:avLst/>
          </a:prstGeom>
          <a:noFill/>
          <a:ln>
            <a:noFill/>
          </a:ln>
        </p:spPr>
      </p:pic>
      <p:pic>
        <p:nvPicPr>
          <p:cNvPr id="25" name="Google Shape;25;p39"/>
          <p:cNvPicPr preferRelativeResize="0"/>
          <p:nvPr/>
        </p:nvPicPr>
        <p:blipFill rotWithShape="1">
          <a:blip r:embed="rId3">
            <a:alphaModFix/>
          </a:blip>
          <a:srcRect/>
          <a:stretch/>
        </p:blipFill>
        <p:spPr>
          <a:xfrm>
            <a:off x="8313446" y="0"/>
            <a:ext cx="882927" cy="785252"/>
          </a:xfrm>
          <a:prstGeom prst="rect">
            <a:avLst/>
          </a:prstGeom>
          <a:noFill/>
          <a:ln>
            <a:noFill/>
          </a:ln>
        </p:spPr>
      </p:pic>
      <p:pic>
        <p:nvPicPr>
          <p:cNvPr id="26" name="Google Shape;26;p39" descr="National Board of Accreditation - Wikipedia"/>
          <p:cNvPicPr preferRelativeResize="0"/>
          <p:nvPr/>
        </p:nvPicPr>
        <p:blipFill rotWithShape="1">
          <a:blip r:embed="rId4">
            <a:alphaModFix/>
          </a:blip>
          <a:srcRect/>
          <a:stretch/>
        </p:blipFill>
        <p:spPr>
          <a:xfrm>
            <a:off x="9299701" y="49261"/>
            <a:ext cx="872490" cy="68834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spTree>
      <p:nvGrpSpPr>
        <p:cNvPr id="1" name="Shape 27"/>
        <p:cNvGrpSpPr/>
        <p:nvPr/>
      </p:nvGrpSpPr>
      <p:grpSpPr>
        <a:xfrm>
          <a:off x="0" y="0"/>
          <a:ext cx="0" cy="0"/>
          <a:chOff x="0" y="0"/>
          <a:chExt cx="0" cy="0"/>
        </a:xfrm>
      </p:grpSpPr>
      <p:sp>
        <p:nvSpPr>
          <p:cNvPr id="28" name="Google Shape;28;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3" name="Google Shape;33;p40"/>
          <p:cNvSpPr txBox="1"/>
          <p:nvPr/>
        </p:nvSpPr>
        <p:spPr>
          <a:xfrm>
            <a:off x="4191000" y="639791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37"/>
        <p:cNvGrpSpPr/>
        <p:nvPr/>
      </p:nvGrpSpPr>
      <p:grpSpPr>
        <a:xfrm>
          <a:off x="0" y="0"/>
          <a:ext cx="0" cy="0"/>
          <a:chOff x="0" y="0"/>
          <a:chExt cx="0" cy="0"/>
        </a:xfrm>
      </p:grpSpPr>
      <p:sp>
        <p:nvSpPr>
          <p:cNvPr id="38" name="Google Shape;38;p4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4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40" name="Google Shape;40;p4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1" name="Google Shape;41;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44"/>
        <p:cNvGrpSpPr/>
        <p:nvPr/>
      </p:nvGrpSpPr>
      <p:grpSpPr>
        <a:xfrm>
          <a:off x="0" y="0"/>
          <a:ext cx="0" cy="0"/>
          <a:chOff x="0" y="0"/>
          <a:chExt cx="0" cy="0"/>
        </a:xfrm>
      </p:grpSpPr>
      <p:sp>
        <p:nvSpPr>
          <p:cNvPr id="45" name="Google Shape;45;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48"/>
        <p:cNvGrpSpPr/>
        <p:nvPr/>
      </p:nvGrpSpPr>
      <p:grpSpPr>
        <a:xfrm>
          <a:off x="0" y="0"/>
          <a:ext cx="0" cy="0"/>
          <a:chOff x="0" y="0"/>
          <a:chExt cx="0" cy="0"/>
        </a:xfrm>
      </p:grpSpPr>
      <p:sp>
        <p:nvSpPr>
          <p:cNvPr id="49" name="Google Shape;49;p4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4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51" name="Google Shape;51;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wo Content" type="twoObj">
  <p:cSld name="TWO_OBJECTS">
    <p:spTree>
      <p:nvGrpSpPr>
        <p:cNvPr id="1" name="Shape 54"/>
        <p:cNvGrpSpPr/>
        <p:nvPr/>
      </p:nvGrpSpPr>
      <p:grpSpPr>
        <a:xfrm>
          <a:off x="0" y="0"/>
          <a:ext cx="0" cy="0"/>
          <a:chOff x="0" y="0"/>
          <a:chExt cx="0" cy="0"/>
        </a:xfrm>
      </p:grpSpPr>
      <p:sp>
        <p:nvSpPr>
          <p:cNvPr id="55" name="Google Shape;55;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4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4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61"/>
        <p:cNvGrpSpPr/>
        <p:nvPr/>
      </p:nvGrpSpPr>
      <p:grpSpPr>
        <a:xfrm>
          <a:off x="0" y="0"/>
          <a:ext cx="0" cy="0"/>
          <a:chOff x="0" y="0"/>
          <a:chExt cx="0" cy="0"/>
        </a:xfrm>
      </p:grpSpPr>
      <p:sp>
        <p:nvSpPr>
          <p:cNvPr id="62" name="Google Shape;62;p4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4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4" name="Google Shape;64;p4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4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6" name="Google Shape;66;p4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_ONLY">
    <p:spTree>
      <p:nvGrpSpPr>
        <p:cNvPr id="1" name="Shape 70"/>
        <p:cNvGrpSpPr/>
        <p:nvPr/>
      </p:nvGrpSpPr>
      <p:grpSpPr>
        <a:xfrm>
          <a:off x="0" y="0"/>
          <a:ext cx="0" cy="0"/>
          <a:chOff x="0" y="0"/>
          <a:chExt cx="0" cy="0"/>
        </a:xfrm>
      </p:grpSpPr>
      <p:sp>
        <p:nvSpPr>
          <p:cNvPr id="71" name="Google Shape;71;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5"/>
        <p:cNvGrpSpPr/>
        <p:nvPr/>
      </p:nvGrpSpPr>
      <p:grpSpPr>
        <a:xfrm>
          <a:off x="0" y="0"/>
          <a:ext cx="0" cy="0"/>
          <a:chOff x="0" y="0"/>
          <a:chExt cx="0" cy="0"/>
        </a:xfrm>
      </p:grpSpPr>
      <p:sp>
        <p:nvSpPr>
          <p:cNvPr id="76" name="Google Shape;76;p4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47"/>
          <p:cNvSpPr>
            <a:spLocks noGrp="1"/>
          </p:cNvSpPr>
          <p:nvPr>
            <p:ph type="pic" idx="2"/>
          </p:nvPr>
        </p:nvSpPr>
        <p:spPr>
          <a:xfrm>
            <a:off x="5183188" y="987425"/>
            <a:ext cx="6172200" cy="4873625"/>
          </a:xfrm>
          <a:prstGeom prst="rect">
            <a:avLst/>
          </a:prstGeom>
          <a:noFill/>
          <a:ln>
            <a:noFill/>
          </a:ln>
        </p:spPr>
      </p:sp>
      <p:sp>
        <p:nvSpPr>
          <p:cNvPr id="78" name="Google Shape;78;p4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9" name="Google Shape;79;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itle and Vertical Text" type="vertTx">
  <p:cSld name="VERTICAL_TEXT">
    <p:spTree>
      <p:nvGrpSpPr>
        <p:cNvPr id="1" name="Shape 82"/>
        <p:cNvGrpSpPr/>
        <p:nvPr/>
      </p:nvGrpSpPr>
      <p:grpSpPr>
        <a:xfrm>
          <a:off x="0" y="0"/>
          <a:ext cx="0" cy="0"/>
          <a:chOff x="0" y="0"/>
          <a:chExt cx="0" cy="0"/>
        </a:xfrm>
      </p:grpSpPr>
      <p:sp>
        <p:nvSpPr>
          <p:cNvPr id="83" name="Google Shape;83;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4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4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4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1_Титульный слайд">
  <p:cSld name="1_Титульный слайд">
    <p:spTree>
      <p:nvGrpSpPr>
        <p:cNvPr id="1" name="Shape 94"/>
        <p:cNvGrpSpPr/>
        <p:nvPr/>
      </p:nvGrpSpPr>
      <p:grpSpPr>
        <a:xfrm>
          <a:off x="0" y="0"/>
          <a:ext cx="0" cy="0"/>
          <a:chOff x="0" y="0"/>
          <a:chExt cx="0" cy="0"/>
        </a:xfrm>
      </p:grpSpPr>
      <p:sp>
        <p:nvSpPr>
          <p:cNvPr id="95" name="Google Shape;95;p50"/>
          <p:cNvSpPr/>
          <p:nvPr/>
        </p:nvSpPr>
        <p:spPr>
          <a:xfrm>
            <a:off x="-19050" y="1905000"/>
            <a:ext cx="12211050" cy="4953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 name="Google Shape;96;p50"/>
          <p:cNvSpPr/>
          <p:nvPr/>
        </p:nvSpPr>
        <p:spPr>
          <a:xfrm>
            <a:off x="-19050" y="0"/>
            <a:ext cx="12211050" cy="4438650"/>
          </a:xfrm>
          <a:custGeom>
            <a:avLst/>
            <a:gdLst/>
            <a:ahLst/>
            <a:cxnLst/>
            <a:rect l="l" t="t" r="r" b="b"/>
            <a:pathLst>
              <a:path w="12211050" h="4438650" extrusionOk="0">
                <a:moveTo>
                  <a:pt x="19050" y="0"/>
                </a:moveTo>
                <a:lnTo>
                  <a:pt x="12211050" y="0"/>
                </a:lnTo>
                <a:lnTo>
                  <a:pt x="12211050" y="4438650"/>
                </a:lnTo>
                <a:lnTo>
                  <a:pt x="0" y="3219450"/>
                </a:lnTo>
                <a:lnTo>
                  <a:pt x="19050" y="0"/>
                </a:lnTo>
                <a:close/>
              </a:path>
            </a:pathLst>
          </a:custGeom>
          <a:solidFill>
            <a:srgbClr val="17161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 name="Google Shape;97;p50"/>
          <p:cNvSpPr/>
          <p:nvPr/>
        </p:nvSpPr>
        <p:spPr>
          <a:xfrm>
            <a:off x="1085850" y="1009650"/>
            <a:ext cx="10020300" cy="523875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 name="Google Shape;98;p50"/>
          <p:cNvSpPr>
            <a:spLocks noGrp="1"/>
          </p:cNvSpPr>
          <p:nvPr>
            <p:ph type="pic" idx="2"/>
          </p:nvPr>
        </p:nvSpPr>
        <p:spPr>
          <a:xfrm>
            <a:off x="1847850" y="2819400"/>
            <a:ext cx="8496300" cy="280035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Agenda Layout">
  <p:cSld name="Agenda Layout">
    <p:spTree>
      <p:nvGrpSpPr>
        <p:cNvPr id="1" name="Shape 100"/>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Basic Layout">
  <p:cSld name="Basic Layout">
    <p:spTree>
      <p:nvGrpSpPr>
        <p:cNvPr id="1" name="Shape 101"/>
        <p:cNvGrpSpPr/>
        <p:nvPr/>
      </p:nvGrpSpPr>
      <p:grpSpPr>
        <a:xfrm>
          <a:off x="0" y="0"/>
          <a:ext cx="0" cy="0"/>
          <a:chOff x="0" y="0"/>
          <a:chExt cx="0" cy="0"/>
        </a:xfrm>
      </p:grpSpPr>
      <p:sp>
        <p:nvSpPr>
          <p:cNvPr id="102" name="Google Shape;102;p53"/>
          <p:cNvSpPr txBox="1">
            <a:spLocks noGrp="1"/>
          </p:cNvSpPr>
          <p:nvPr>
            <p:ph type="body" idx="1"/>
          </p:nvPr>
        </p:nvSpPr>
        <p:spPr>
          <a:xfrm>
            <a:off x="0" y="164638"/>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96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03" name="Google Shape;103;p53"/>
          <p:cNvSpPr txBox="1">
            <a:spLocks noGrp="1"/>
          </p:cNvSpPr>
          <p:nvPr>
            <p:ph type="body" idx="2"/>
          </p:nvPr>
        </p:nvSpPr>
        <p:spPr>
          <a:xfrm>
            <a:off x="0" y="932723"/>
            <a:ext cx="12192000" cy="384043"/>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373"/>
              </a:spcBef>
              <a:spcAft>
                <a:spcPts val="0"/>
              </a:spcAft>
              <a:buClr>
                <a:schemeClr val="dk1"/>
              </a:buClr>
              <a:buSzPts val="1865"/>
              <a:buFont typeface="Arial"/>
              <a:buNone/>
              <a:defRPr sz="1865" b="0" i="0" u="none" strike="noStrike" cap="none">
                <a:solidFill>
                  <a:schemeClr val="dk1"/>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04" name="Google Shape;104;p53"/>
          <p:cNvSpPr/>
          <p:nvPr/>
        </p:nvSpPr>
        <p:spPr>
          <a:xfrm>
            <a:off x="4037371" y="1"/>
            <a:ext cx="4128459" cy="609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05" name="Google Shape;105;p53"/>
          <p:cNvSpPr/>
          <p:nvPr/>
        </p:nvSpPr>
        <p:spPr>
          <a:xfrm>
            <a:off x="0" y="6753308"/>
            <a:ext cx="12192000" cy="1108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1_Basic Layout">
  <p:cSld name="1_Basic Layout">
    <p:spTree>
      <p:nvGrpSpPr>
        <p:cNvPr id="1" name="Shape 106"/>
        <p:cNvGrpSpPr/>
        <p:nvPr/>
      </p:nvGrpSpPr>
      <p:grpSpPr>
        <a:xfrm>
          <a:off x="0" y="0"/>
          <a:ext cx="0" cy="0"/>
          <a:chOff x="0" y="0"/>
          <a:chExt cx="0" cy="0"/>
        </a:xfrm>
      </p:grpSpPr>
      <p:sp>
        <p:nvSpPr>
          <p:cNvPr id="107" name="Google Shape;107;p54"/>
          <p:cNvSpPr txBox="1">
            <a:spLocks noGrp="1"/>
          </p:cNvSpPr>
          <p:nvPr>
            <p:ph type="body" idx="1"/>
          </p:nvPr>
        </p:nvSpPr>
        <p:spPr>
          <a:xfrm>
            <a:off x="0" y="164638"/>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960"/>
              </a:spcBef>
              <a:spcAft>
                <a:spcPts val="0"/>
              </a:spcAft>
              <a:buClr>
                <a:srgbClr val="3F3F3F"/>
              </a:buClr>
              <a:buSzPts val="4800"/>
              <a:buFont typeface="Arial"/>
              <a:buNone/>
              <a:defRPr sz="4800"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08" name="Google Shape;108;p54"/>
          <p:cNvSpPr txBox="1">
            <a:spLocks noGrp="1"/>
          </p:cNvSpPr>
          <p:nvPr>
            <p:ph type="body" idx="2"/>
          </p:nvPr>
        </p:nvSpPr>
        <p:spPr>
          <a:xfrm>
            <a:off x="0" y="932723"/>
            <a:ext cx="12192000" cy="384043"/>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373"/>
              </a:spcBef>
              <a:spcAft>
                <a:spcPts val="0"/>
              </a:spcAft>
              <a:buClr>
                <a:srgbClr val="3F3F3F"/>
              </a:buClr>
              <a:buSzPts val="1865"/>
              <a:buFont typeface="Arial"/>
              <a:buNone/>
              <a:defRPr sz="1865"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09" name="Google Shape;109;p54"/>
          <p:cNvSpPr/>
          <p:nvPr/>
        </p:nvSpPr>
        <p:spPr>
          <a:xfrm>
            <a:off x="4037371" y="1"/>
            <a:ext cx="4128459" cy="609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10" name="Google Shape;110;p54"/>
          <p:cNvSpPr/>
          <p:nvPr/>
        </p:nvSpPr>
        <p:spPr>
          <a:xfrm>
            <a:off x="0" y="6753308"/>
            <a:ext cx="12192000" cy="1108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2_Basic Layout">
  <p:cSld name="2_Basic Layout">
    <p:spTree>
      <p:nvGrpSpPr>
        <p:cNvPr id="1" name="Shape 111"/>
        <p:cNvGrpSpPr/>
        <p:nvPr/>
      </p:nvGrpSpPr>
      <p:grpSpPr>
        <a:xfrm>
          <a:off x="0" y="0"/>
          <a:ext cx="0" cy="0"/>
          <a:chOff x="0" y="0"/>
          <a:chExt cx="0" cy="0"/>
        </a:xfrm>
      </p:grpSpPr>
      <p:sp>
        <p:nvSpPr>
          <p:cNvPr id="112" name="Google Shape;112;p55"/>
          <p:cNvSpPr txBox="1">
            <a:spLocks noGrp="1"/>
          </p:cNvSpPr>
          <p:nvPr>
            <p:ph type="body" idx="1"/>
          </p:nvPr>
        </p:nvSpPr>
        <p:spPr>
          <a:xfrm>
            <a:off x="2735627" y="164638"/>
            <a:ext cx="9456373" cy="768085"/>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960"/>
              </a:spcBef>
              <a:spcAft>
                <a:spcPts val="0"/>
              </a:spcAft>
              <a:buClr>
                <a:srgbClr val="3F3F3F"/>
              </a:buClr>
              <a:buSzPts val="4800"/>
              <a:buFont typeface="Arial"/>
              <a:buNone/>
              <a:defRPr sz="4800"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13" name="Google Shape;113;p55"/>
          <p:cNvSpPr txBox="1">
            <a:spLocks noGrp="1"/>
          </p:cNvSpPr>
          <p:nvPr>
            <p:ph type="body" idx="2"/>
          </p:nvPr>
        </p:nvSpPr>
        <p:spPr>
          <a:xfrm>
            <a:off x="2735627" y="932723"/>
            <a:ext cx="9456373" cy="384043"/>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373"/>
              </a:spcBef>
              <a:spcAft>
                <a:spcPts val="0"/>
              </a:spcAft>
              <a:buClr>
                <a:srgbClr val="3F3F3F"/>
              </a:buClr>
              <a:buSzPts val="1865"/>
              <a:buFont typeface="Arial"/>
              <a:buNone/>
              <a:defRPr sz="1865"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14" name="Google Shape;114;p55"/>
          <p:cNvSpPr/>
          <p:nvPr/>
        </p:nvSpPr>
        <p:spPr>
          <a:xfrm>
            <a:off x="0" y="1"/>
            <a:ext cx="2543605" cy="6864183"/>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Images and Contents Layout">
  <p:cSld name="Images and Contents Layout">
    <p:spTree>
      <p:nvGrpSpPr>
        <p:cNvPr id="1" name="Shape 115"/>
        <p:cNvGrpSpPr/>
        <p:nvPr/>
      </p:nvGrpSpPr>
      <p:grpSpPr>
        <a:xfrm>
          <a:off x="0" y="0"/>
          <a:ext cx="0" cy="0"/>
          <a:chOff x="0" y="0"/>
          <a:chExt cx="0" cy="0"/>
        </a:xfrm>
      </p:grpSpPr>
      <p:sp>
        <p:nvSpPr>
          <p:cNvPr id="116" name="Google Shape;116;p56"/>
          <p:cNvSpPr txBox="1">
            <a:spLocks noGrp="1"/>
          </p:cNvSpPr>
          <p:nvPr>
            <p:ph type="body" idx="1"/>
          </p:nvPr>
        </p:nvSpPr>
        <p:spPr>
          <a:xfrm>
            <a:off x="0" y="242176"/>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96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17" name="Google Shape;117;p56"/>
          <p:cNvSpPr txBox="1">
            <a:spLocks noGrp="1"/>
          </p:cNvSpPr>
          <p:nvPr>
            <p:ph type="body" idx="2"/>
          </p:nvPr>
        </p:nvSpPr>
        <p:spPr>
          <a:xfrm>
            <a:off x="0" y="1010261"/>
            <a:ext cx="12192000" cy="384043"/>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373"/>
              </a:spcBef>
              <a:spcAft>
                <a:spcPts val="0"/>
              </a:spcAft>
              <a:buClr>
                <a:srgbClr val="3F3F3F"/>
              </a:buClr>
              <a:buSzPts val="1865"/>
              <a:buFont typeface="Arial"/>
              <a:buNone/>
              <a:defRPr sz="1865"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18" name="Google Shape;118;p56"/>
          <p:cNvSpPr/>
          <p:nvPr/>
        </p:nvSpPr>
        <p:spPr>
          <a:xfrm>
            <a:off x="0" y="2276872"/>
            <a:ext cx="12192000" cy="2400267"/>
          </a:xfrm>
          <a:prstGeom prst="rect">
            <a:avLst/>
          </a:prstGeom>
          <a:solidFill>
            <a:schemeClr val="accent1"/>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19" name="Google Shape;119;p56"/>
          <p:cNvSpPr/>
          <p:nvPr/>
        </p:nvSpPr>
        <p:spPr>
          <a:xfrm rot="10800000">
            <a:off x="1583392" y="4677509"/>
            <a:ext cx="384043" cy="331071"/>
          </a:xfrm>
          <a:prstGeom prst="triangle">
            <a:avLst>
              <a:gd name="adj" fmla="val 50000"/>
            </a:avLst>
          </a:prstGeom>
          <a:solidFill>
            <a:schemeClr val="accent1"/>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20" name="Google Shape;120;p56"/>
          <p:cNvSpPr/>
          <p:nvPr/>
        </p:nvSpPr>
        <p:spPr>
          <a:xfrm rot="10800000">
            <a:off x="4463712" y="4677509"/>
            <a:ext cx="384043" cy="331071"/>
          </a:xfrm>
          <a:prstGeom prst="triangle">
            <a:avLst>
              <a:gd name="adj" fmla="val 50000"/>
            </a:avLst>
          </a:prstGeom>
          <a:solidFill>
            <a:schemeClr val="accent1"/>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21" name="Google Shape;121;p56"/>
          <p:cNvSpPr/>
          <p:nvPr/>
        </p:nvSpPr>
        <p:spPr>
          <a:xfrm rot="10800000">
            <a:off x="7344032" y="4677509"/>
            <a:ext cx="384043" cy="331071"/>
          </a:xfrm>
          <a:prstGeom prst="triangle">
            <a:avLst>
              <a:gd name="adj" fmla="val 50000"/>
            </a:avLst>
          </a:prstGeom>
          <a:solidFill>
            <a:schemeClr val="accent1"/>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22" name="Google Shape;122;p56"/>
          <p:cNvSpPr/>
          <p:nvPr/>
        </p:nvSpPr>
        <p:spPr>
          <a:xfrm rot="10800000">
            <a:off x="10224348" y="4677509"/>
            <a:ext cx="384043" cy="331071"/>
          </a:xfrm>
          <a:prstGeom prst="triangle">
            <a:avLst>
              <a:gd name="adj" fmla="val 50000"/>
            </a:avLst>
          </a:prstGeom>
          <a:solidFill>
            <a:schemeClr val="accent1"/>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23" name="Google Shape;123;p56"/>
          <p:cNvSpPr/>
          <p:nvPr/>
        </p:nvSpPr>
        <p:spPr>
          <a:xfrm>
            <a:off x="4037371" y="1"/>
            <a:ext cx="4128459" cy="609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24" name="Google Shape;124;p56"/>
          <p:cNvSpPr/>
          <p:nvPr/>
        </p:nvSpPr>
        <p:spPr>
          <a:xfrm>
            <a:off x="0" y="6753308"/>
            <a:ext cx="12192000" cy="1108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25" name="Google Shape;125;p56"/>
          <p:cNvSpPr>
            <a:spLocks noGrp="1"/>
          </p:cNvSpPr>
          <p:nvPr>
            <p:ph type="pic" idx="3"/>
          </p:nvPr>
        </p:nvSpPr>
        <p:spPr>
          <a:xfrm>
            <a:off x="815413" y="2517005"/>
            <a:ext cx="1920000" cy="1920000"/>
          </a:xfrm>
          <a:prstGeom prst="ellipse">
            <a:avLst/>
          </a:prstGeom>
          <a:solidFill>
            <a:srgbClr val="F2F2F2"/>
          </a:solidFill>
          <a:ln>
            <a:noFill/>
          </a:ln>
        </p:spPr>
      </p:sp>
      <p:sp>
        <p:nvSpPr>
          <p:cNvPr id="126" name="Google Shape;126;p56"/>
          <p:cNvSpPr>
            <a:spLocks noGrp="1"/>
          </p:cNvSpPr>
          <p:nvPr>
            <p:ph type="pic" idx="4"/>
          </p:nvPr>
        </p:nvSpPr>
        <p:spPr>
          <a:xfrm>
            <a:off x="3695732" y="2517005"/>
            <a:ext cx="1920000" cy="1920000"/>
          </a:xfrm>
          <a:prstGeom prst="ellipse">
            <a:avLst/>
          </a:prstGeom>
          <a:solidFill>
            <a:srgbClr val="F2F2F2"/>
          </a:solidFill>
          <a:ln>
            <a:noFill/>
          </a:ln>
        </p:spPr>
      </p:sp>
      <p:sp>
        <p:nvSpPr>
          <p:cNvPr id="127" name="Google Shape;127;p56"/>
          <p:cNvSpPr>
            <a:spLocks noGrp="1"/>
          </p:cNvSpPr>
          <p:nvPr>
            <p:ph type="pic" idx="5"/>
          </p:nvPr>
        </p:nvSpPr>
        <p:spPr>
          <a:xfrm>
            <a:off x="6576051" y="2517005"/>
            <a:ext cx="1920000" cy="1920000"/>
          </a:xfrm>
          <a:prstGeom prst="ellipse">
            <a:avLst/>
          </a:prstGeom>
          <a:solidFill>
            <a:srgbClr val="F2F2F2"/>
          </a:solidFill>
          <a:ln>
            <a:noFill/>
          </a:ln>
        </p:spPr>
      </p:sp>
      <p:sp>
        <p:nvSpPr>
          <p:cNvPr id="128" name="Google Shape;128;p56"/>
          <p:cNvSpPr>
            <a:spLocks noGrp="1"/>
          </p:cNvSpPr>
          <p:nvPr>
            <p:ph type="pic" idx="6"/>
          </p:nvPr>
        </p:nvSpPr>
        <p:spPr>
          <a:xfrm>
            <a:off x="9456369" y="2517005"/>
            <a:ext cx="1920000" cy="1920000"/>
          </a:xfrm>
          <a:prstGeom prst="ellipse">
            <a:avLst/>
          </a:prstGeom>
          <a:solidFill>
            <a:srgbClr val="F2F2F2"/>
          </a:solid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1_Images and Contents Layout">
  <p:cSld name="1_Images and Contents Layout">
    <p:spTree>
      <p:nvGrpSpPr>
        <p:cNvPr id="1" name="Shape 129"/>
        <p:cNvGrpSpPr/>
        <p:nvPr/>
      </p:nvGrpSpPr>
      <p:grpSpPr>
        <a:xfrm>
          <a:off x="0" y="0"/>
          <a:ext cx="0" cy="0"/>
          <a:chOff x="0" y="0"/>
          <a:chExt cx="0" cy="0"/>
        </a:xfrm>
      </p:grpSpPr>
      <p:sp>
        <p:nvSpPr>
          <p:cNvPr id="130" name="Google Shape;130;p57"/>
          <p:cNvSpPr/>
          <p:nvPr/>
        </p:nvSpPr>
        <p:spPr>
          <a:xfrm>
            <a:off x="5231904" y="2276872"/>
            <a:ext cx="5711957" cy="3936437"/>
          </a:xfrm>
          <a:prstGeom prst="rect">
            <a:avLst/>
          </a:prstGeom>
          <a:solidFill>
            <a:srgbClr val="F2F2F2"/>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rgbClr val="3F3F3F"/>
              </a:solidFill>
              <a:latin typeface="Arial"/>
              <a:ea typeface="Arial"/>
              <a:cs typeface="Arial"/>
              <a:sym typeface="Arial"/>
            </a:endParaRPr>
          </a:p>
        </p:txBody>
      </p:sp>
      <p:sp>
        <p:nvSpPr>
          <p:cNvPr id="131" name="Google Shape;131;p57"/>
          <p:cNvSpPr>
            <a:spLocks noGrp="1"/>
          </p:cNvSpPr>
          <p:nvPr>
            <p:ph type="pic" idx="2"/>
          </p:nvPr>
        </p:nvSpPr>
        <p:spPr>
          <a:xfrm>
            <a:off x="1103445" y="1412776"/>
            <a:ext cx="4560000" cy="3696000"/>
          </a:xfrm>
          <a:prstGeom prst="rect">
            <a:avLst/>
          </a:prstGeom>
          <a:solidFill>
            <a:srgbClr val="F2F2F2"/>
          </a:solid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2_Images and Contents Layout">
  <p:cSld name="2_Images and Contents Layout">
    <p:spTree>
      <p:nvGrpSpPr>
        <p:cNvPr id="1" name="Shape 132"/>
        <p:cNvGrpSpPr/>
        <p:nvPr/>
      </p:nvGrpSpPr>
      <p:grpSpPr>
        <a:xfrm>
          <a:off x="0" y="0"/>
          <a:ext cx="0" cy="0"/>
          <a:chOff x="0" y="0"/>
          <a:chExt cx="0" cy="0"/>
        </a:xfrm>
      </p:grpSpPr>
      <p:sp>
        <p:nvSpPr>
          <p:cNvPr id="133" name="Google Shape;133;p58"/>
          <p:cNvSpPr>
            <a:spLocks noGrp="1"/>
          </p:cNvSpPr>
          <p:nvPr>
            <p:ph type="pic" idx="2"/>
          </p:nvPr>
        </p:nvSpPr>
        <p:spPr>
          <a:xfrm>
            <a:off x="0" y="990600"/>
            <a:ext cx="3887755" cy="5867400"/>
          </a:xfrm>
          <a:prstGeom prst="rect">
            <a:avLst/>
          </a:prstGeom>
          <a:solidFill>
            <a:srgbClr val="F2F2F2"/>
          </a:solidFill>
          <a:ln>
            <a:noFill/>
          </a:ln>
        </p:spPr>
      </p:sp>
      <p:sp>
        <p:nvSpPr>
          <p:cNvPr id="134" name="Google Shape;134;p58"/>
          <p:cNvSpPr>
            <a:spLocks noGrp="1"/>
          </p:cNvSpPr>
          <p:nvPr>
            <p:ph type="pic" idx="3"/>
          </p:nvPr>
        </p:nvSpPr>
        <p:spPr>
          <a:xfrm>
            <a:off x="4079776" y="0"/>
            <a:ext cx="8112224" cy="3621021"/>
          </a:xfrm>
          <a:prstGeom prst="rect">
            <a:avLst/>
          </a:prstGeom>
          <a:solidFill>
            <a:srgbClr val="F2F2F2"/>
          </a:solid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3_Images and Contents Layout">
  <p:cSld name="3_Images and Contents Layout">
    <p:spTree>
      <p:nvGrpSpPr>
        <p:cNvPr id="1" name="Shape 135"/>
        <p:cNvGrpSpPr/>
        <p:nvPr/>
      </p:nvGrpSpPr>
      <p:grpSpPr>
        <a:xfrm>
          <a:off x="0" y="0"/>
          <a:ext cx="0" cy="0"/>
          <a:chOff x="0" y="0"/>
          <a:chExt cx="0" cy="0"/>
        </a:xfrm>
      </p:grpSpPr>
      <p:sp>
        <p:nvSpPr>
          <p:cNvPr id="136" name="Google Shape;136;p59"/>
          <p:cNvSpPr>
            <a:spLocks noGrp="1"/>
          </p:cNvSpPr>
          <p:nvPr>
            <p:ph type="pic" idx="2"/>
          </p:nvPr>
        </p:nvSpPr>
        <p:spPr>
          <a:xfrm>
            <a:off x="0" y="1013496"/>
            <a:ext cx="3887755" cy="3567632"/>
          </a:xfrm>
          <a:prstGeom prst="rect">
            <a:avLst/>
          </a:prstGeom>
          <a:solidFill>
            <a:srgbClr val="F2F2F2"/>
          </a:solidFill>
          <a:ln>
            <a:noFill/>
          </a:ln>
        </p:spPr>
      </p:sp>
      <p:sp>
        <p:nvSpPr>
          <p:cNvPr id="137" name="Google Shape;137;p59"/>
          <p:cNvSpPr>
            <a:spLocks noGrp="1"/>
          </p:cNvSpPr>
          <p:nvPr>
            <p:ph type="pic" idx="3"/>
          </p:nvPr>
        </p:nvSpPr>
        <p:spPr>
          <a:xfrm>
            <a:off x="8304245" y="0"/>
            <a:ext cx="3887755" cy="4581128"/>
          </a:xfrm>
          <a:prstGeom prst="rect">
            <a:avLst/>
          </a:prstGeom>
          <a:solidFill>
            <a:srgbClr val="F2F2F2"/>
          </a:solidFill>
          <a:ln>
            <a:noFill/>
          </a:ln>
        </p:spPr>
      </p:sp>
      <p:sp>
        <p:nvSpPr>
          <p:cNvPr id="138" name="Google Shape;138;p59"/>
          <p:cNvSpPr>
            <a:spLocks noGrp="1"/>
          </p:cNvSpPr>
          <p:nvPr>
            <p:ph type="pic" idx="4"/>
          </p:nvPr>
        </p:nvSpPr>
        <p:spPr>
          <a:xfrm>
            <a:off x="0" y="4773149"/>
            <a:ext cx="6096000" cy="2084851"/>
          </a:xfrm>
          <a:prstGeom prst="rect">
            <a:avLst/>
          </a:prstGeom>
          <a:solidFill>
            <a:srgbClr val="F2F2F2"/>
          </a:solid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4_Images and Contents Layout">
  <p:cSld name="4_Images and Contents Layout">
    <p:spTree>
      <p:nvGrpSpPr>
        <p:cNvPr id="1" name="Shape 139"/>
        <p:cNvGrpSpPr/>
        <p:nvPr/>
      </p:nvGrpSpPr>
      <p:grpSpPr>
        <a:xfrm>
          <a:off x="0" y="0"/>
          <a:ext cx="0" cy="0"/>
          <a:chOff x="0" y="0"/>
          <a:chExt cx="0" cy="0"/>
        </a:xfrm>
      </p:grpSpPr>
      <p:sp>
        <p:nvSpPr>
          <p:cNvPr id="140" name="Google Shape;140;p60"/>
          <p:cNvSpPr txBox="1">
            <a:spLocks noGrp="1"/>
          </p:cNvSpPr>
          <p:nvPr>
            <p:ph type="body" idx="1"/>
          </p:nvPr>
        </p:nvSpPr>
        <p:spPr>
          <a:xfrm>
            <a:off x="0" y="242176"/>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960"/>
              </a:spcBef>
              <a:spcAft>
                <a:spcPts val="0"/>
              </a:spcAft>
              <a:buClr>
                <a:srgbClr val="3F3F3F"/>
              </a:buClr>
              <a:buSzPts val="4800"/>
              <a:buFont typeface="Arial"/>
              <a:buNone/>
              <a:defRPr sz="4800"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41" name="Google Shape;141;p60"/>
          <p:cNvSpPr txBox="1">
            <a:spLocks noGrp="1"/>
          </p:cNvSpPr>
          <p:nvPr>
            <p:ph type="body" idx="2"/>
          </p:nvPr>
        </p:nvSpPr>
        <p:spPr>
          <a:xfrm>
            <a:off x="0" y="1010261"/>
            <a:ext cx="12192000" cy="384043"/>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373"/>
              </a:spcBef>
              <a:spcAft>
                <a:spcPts val="0"/>
              </a:spcAft>
              <a:buClr>
                <a:srgbClr val="3F3F3F"/>
              </a:buClr>
              <a:buSzPts val="1865"/>
              <a:buFont typeface="Arial"/>
              <a:buNone/>
              <a:defRPr sz="1865"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42" name="Google Shape;142;p60"/>
          <p:cNvSpPr/>
          <p:nvPr/>
        </p:nvSpPr>
        <p:spPr>
          <a:xfrm>
            <a:off x="595027" y="4101331"/>
            <a:ext cx="2400000" cy="2304000"/>
          </a:xfrm>
          <a:prstGeom prst="rect">
            <a:avLst/>
          </a:prstGeom>
          <a:solidFill>
            <a:schemeClr val="accent2"/>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1600">
              <a:solidFill>
                <a:srgbClr val="3F3F3F"/>
              </a:solidFill>
              <a:latin typeface="Arial"/>
              <a:ea typeface="Arial"/>
              <a:cs typeface="Arial"/>
              <a:sym typeface="Arial"/>
            </a:endParaRPr>
          </a:p>
        </p:txBody>
      </p:sp>
      <p:sp>
        <p:nvSpPr>
          <p:cNvPr id="143" name="Google Shape;143;p60"/>
          <p:cNvSpPr/>
          <p:nvPr/>
        </p:nvSpPr>
        <p:spPr>
          <a:xfrm>
            <a:off x="9196973" y="1700808"/>
            <a:ext cx="2400000" cy="2304000"/>
          </a:xfrm>
          <a:prstGeom prst="rect">
            <a:avLst/>
          </a:prstGeom>
          <a:solidFill>
            <a:schemeClr val="accent3"/>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1600">
              <a:solidFill>
                <a:srgbClr val="3F3F3F"/>
              </a:solidFill>
              <a:latin typeface="Arial"/>
              <a:ea typeface="Arial"/>
              <a:cs typeface="Arial"/>
              <a:sym typeface="Arial"/>
            </a:endParaRPr>
          </a:p>
        </p:txBody>
      </p:sp>
      <p:sp>
        <p:nvSpPr>
          <p:cNvPr id="144" name="Google Shape;144;p60"/>
          <p:cNvSpPr>
            <a:spLocks noGrp="1"/>
          </p:cNvSpPr>
          <p:nvPr>
            <p:ph type="pic" idx="3"/>
          </p:nvPr>
        </p:nvSpPr>
        <p:spPr>
          <a:xfrm>
            <a:off x="595027" y="1700808"/>
            <a:ext cx="2400000" cy="2304000"/>
          </a:xfrm>
          <a:prstGeom prst="rect">
            <a:avLst/>
          </a:prstGeom>
          <a:solidFill>
            <a:srgbClr val="F2F2F2"/>
          </a:solidFill>
          <a:ln>
            <a:noFill/>
          </a:ln>
        </p:spPr>
      </p:sp>
      <p:sp>
        <p:nvSpPr>
          <p:cNvPr id="145" name="Google Shape;145;p60"/>
          <p:cNvSpPr>
            <a:spLocks noGrp="1"/>
          </p:cNvSpPr>
          <p:nvPr>
            <p:ph type="pic" idx="4"/>
          </p:nvPr>
        </p:nvSpPr>
        <p:spPr>
          <a:xfrm>
            <a:off x="9196973" y="4101331"/>
            <a:ext cx="2400000" cy="2304000"/>
          </a:xfrm>
          <a:prstGeom prst="rect">
            <a:avLst/>
          </a:prstGeom>
          <a:solidFill>
            <a:srgbClr val="F2F2F2"/>
          </a:solidFill>
          <a:ln>
            <a:noFill/>
          </a:ln>
        </p:spPr>
      </p:sp>
      <p:sp>
        <p:nvSpPr>
          <p:cNvPr id="146" name="Google Shape;146;p60"/>
          <p:cNvSpPr>
            <a:spLocks noGrp="1"/>
          </p:cNvSpPr>
          <p:nvPr>
            <p:ph type="pic" idx="5"/>
          </p:nvPr>
        </p:nvSpPr>
        <p:spPr>
          <a:xfrm>
            <a:off x="3119669" y="4101331"/>
            <a:ext cx="5952663" cy="2304000"/>
          </a:xfrm>
          <a:prstGeom prst="rect">
            <a:avLst/>
          </a:prstGeom>
          <a:solidFill>
            <a:srgbClr val="F2F2F2"/>
          </a:solidFill>
          <a:ln>
            <a:noFill/>
          </a:ln>
        </p:spPr>
      </p:sp>
      <p:sp>
        <p:nvSpPr>
          <p:cNvPr id="147" name="Google Shape;147;p60"/>
          <p:cNvSpPr>
            <a:spLocks noGrp="1"/>
          </p:cNvSpPr>
          <p:nvPr>
            <p:ph type="pic" idx="6"/>
          </p:nvPr>
        </p:nvSpPr>
        <p:spPr>
          <a:xfrm>
            <a:off x="3119669" y="1700808"/>
            <a:ext cx="5952663" cy="2304000"/>
          </a:xfrm>
          <a:prstGeom prst="rect">
            <a:avLst/>
          </a:prstGeom>
          <a:solidFill>
            <a:srgbClr val="F2F2F2"/>
          </a:solid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5_Images and Contents Layout">
  <p:cSld name="5_Images and Contents Layout">
    <p:spTree>
      <p:nvGrpSpPr>
        <p:cNvPr id="1" name="Shape 148"/>
        <p:cNvGrpSpPr/>
        <p:nvPr/>
      </p:nvGrpSpPr>
      <p:grpSpPr>
        <a:xfrm>
          <a:off x="0" y="0"/>
          <a:ext cx="0" cy="0"/>
          <a:chOff x="0" y="0"/>
          <a:chExt cx="0" cy="0"/>
        </a:xfrm>
      </p:grpSpPr>
      <p:sp>
        <p:nvSpPr>
          <p:cNvPr id="149" name="Google Shape;149;p61"/>
          <p:cNvSpPr>
            <a:spLocks noGrp="1"/>
          </p:cNvSpPr>
          <p:nvPr>
            <p:ph type="pic" idx="2"/>
          </p:nvPr>
        </p:nvSpPr>
        <p:spPr>
          <a:xfrm>
            <a:off x="709650" y="480055"/>
            <a:ext cx="4224469" cy="4197085"/>
          </a:xfrm>
          <a:prstGeom prst="rect">
            <a:avLst/>
          </a:prstGeom>
          <a:solidFill>
            <a:srgbClr val="F2F2F2"/>
          </a:solidFill>
          <a:ln>
            <a:noFill/>
          </a:ln>
        </p:spPr>
      </p:sp>
      <p:sp>
        <p:nvSpPr>
          <p:cNvPr id="150" name="Google Shape;150;p61"/>
          <p:cNvSpPr>
            <a:spLocks noGrp="1"/>
          </p:cNvSpPr>
          <p:nvPr>
            <p:ph type="pic" idx="3"/>
          </p:nvPr>
        </p:nvSpPr>
        <p:spPr>
          <a:xfrm>
            <a:off x="5126140" y="480056"/>
            <a:ext cx="6336704" cy="2296105"/>
          </a:xfrm>
          <a:prstGeom prst="rect">
            <a:avLst/>
          </a:prstGeom>
          <a:solidFill>
            <a:srgbClr val="F2F2F2"/>
          </a:solidFill>
          <a:ln>
            <a:noFill/>
          </a:ln>
        </p:spPr>
      </p:sp>
      <p:sp>
        <p:nvSpPr>
          <p:cNvPr id="151" name="Google Shape;151;p61"/>
          <p:cNvSpPr>
            <a:spLocks noGrp="1"/>
          </p:cNvSpPr>
          <p:nvPr>
            <p:ph type="pic" idx="4"/>
          </p:nvPr>
        </p:nvSpPr>
        <p:spPr>
          <a:xfrm>
            <a:off x="5126140" y="2948948"/>
            <a:ext cx="1968000" cy="1728192"/>
          </a:xfrm>
          <a:prstGeom prst="rect">
            <a:avLst/>
          </a:prstGeom>
          <a:solidFill>
            <a:srgbClr val="F2F2F2"/>
          </a:solidFill>
          <a:ln>
            <a:noFill/>
          </a:ln>
        </p:spPr>
      </p:sp>
      <p:sp>
        <p:nvSpPr>
          <p:cNvPr id="152" name="Google Shape;152;p61"/>
          <p:cNvSpPr>
            <a:spLocks noGrp="1"/>
          </p:cNvSpPr>
          <p:nvPr>
            <p:ph type="pic" idx="5"/>
          </p:nvPr>
        </p:nvSpPr>
        <p:spPr>
          <a:xfrm>
            <a:off x="7310492" y="2948948"/>
            <a:ext cx="1968000" cy="1728192"/>
          </a:xfrm>
          <a:prstGeom prst="rect">
            <a:avLst/>
          </a:prstGeom>
          <a:solidFill>
            <a:srgbClr val="F2F2F2"/>
          </a:solidFill>
          <a:ln>
            <a:noFill/>
          </a:ln>
        </p:spPr>
      </p:sp>
      <p:sp>
        <p:nvSpPr>
          <p:cNvPr id="153" name="Google Shape;153;p61"/>
          <p:cNvSpPr>
            <a:spLocks noGrp="1"/>
          </p:cNvSpPr>
          <p:nvPr>
            <p:ph type="pic" idx="6"/>
          </p:nvPr>
        </p:nvSpPr>
        <p:spPr>
          <a:xfrm>
            <a:off x="9494844" y="2948948"/>
            <a:ext cx="1968000" cy="1728192"/>
          </a:xfrm>
          <a:prstGeom prst="rect">
            <a:avLst/>
          </a:prstGeom>
          <a:solidFill>
            <a:srgbClr val="F2F2F2"/>
          </a:solid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matchingName="7_Images and Contents Layout">
  <p:cSld name="7_Images and Contents Layout">
    <p:spTree>
      <p:nvGrpSpPr>
        <p:cNvPr id="1" name="Shape 154"/>
        <p:cNvGrpSpPr/>
        <p:nvPr/>
      </p:nvGrpSpPr>
      <p:grpSpPr>
        <a:xfrm>
          <a:off x="0" y="0"/>
          <a:ext cx="0" cy="0"/>
          <a:chOff x="0" y="0"/>
          <a:chExt cx="0" cy="0"/>
        </a:xfrm>
      </p:grpSpPr>
      <p:sp>
        <p:nvSpPr>
          <p:cNvPr id="155" name="Google Shape;155;p62"/>
          <p:cNvSpPr txBox="1">
            <a:spLocks noGrp="1"/>
          </p:cNvSpPr>
          <p:nvPr>
            <p:ph type="body" idx="1"/>
          </p:nvPr>
        </p:nvSpPr>
        <p:spPr>
          <a:xfrm>
            <a:off x="0" y="242176"/>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960"/>
              </a:spcBef>
              <a:spcAft>
                <a:spcPts val="0"/>
              </a:spcAft>
              <a:buClr>
                <a:srgbClr val="3F3F3F"/>
              </a:buClr>
              <a:buSzPts val="4800"/>
              <a:buFont typeface="Arial"/>
              <a:buNone/>
              <a:defRPr sz="4800"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56" name="Google Shape;156;p62"/>
          <p:cNvSpPr txBox="1">
            <a:spLocks noGrp="1"/>
          </p:cNvSpPr>
          <p:nvPr>
            <p:ph type="body" idx="2"/>
          </p:nvPr>
        </p:nvSpPr>
        <p:spPr>
          <a:xfrm>
            <a:off x="0" y="1010261"/>
            <a:ext cx="12192000" cy="384043"/>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373"/>
              </a:spcBef>
              <a:spcAft>
                <a:spcPts val="0"/>
              </a:spcAft>
              <a:buClr>
                <a:srgbClr val="3F3F3F"/>
              </a:buClr>
              <a:buSzPts val="1865"/>
              <a:buFont typeface="Arial"/>
              <a:buNone/>
              <a:defRPr sz="1865"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pic>
        <p:nvPicPr>
          <p:cNvPr id="157" name="Google Shape;157;p62"/>
          <p:cNvPicPr preferRelativeResize="0"/>
          <p:nvPr/>
        </p:nvPicPr>
        <p:blipFill rotWithShape="1">
          <a:blip r:embed="rId2">
            <a:alphaModFix/>
          </a:blip>
          <a:srcRect/>
          <a:stretch/>
        </p:blipFill>
        <p:spPr>
          <a:xfrm>
            <a:off x="4546767" y="2276873"/>
            <a:ext cx="7238124" cy="3966041"/>
          </a:xfrm>
          <a:prstGeom prst="rect">
            <a:avLst/>
          </a:prstGeom>
          <a:noFill/>
          <a:ln>
            <a:noFill/>
          </a:ln>
        </p:spPr>
      </p:pic>
      <p:sp>
        <p:nvSpPr>
          <p:cNvPr id="158" name="Google Shape;158;p62"/>
          <p:cNvSpPr>
            <a:spLocks noGrp="1"/>
          </p:cNvSpPr>
          <p:nvPr>
            <p:ph type="pic" idx="3"/>
          </p:nvPr>
        </p:nvSpPr>
        <p:spPr>
          <a:xfrm>
            <a:off x="5705875" y="2485912"/>
            <a:ext cx="4832891" cy="3124239"/>
          </a:xfrm>
          <a:prstGeom prst="rect">
            <a:avLst/>
          </a:prstGeom>
          <a:solidFill>
            <a:srgbClr val="F2F2F2"/>
          </a:solidFill>
          <a:ln>
            <a:noFill/>
          </a:ln>
        </p:spPr>
      </p:sp>
      <p:sp>
        <p:nvSpPr>
          <p:cNvPr id="159" name="Google Shape;159;p62"/>
          <p:cNvSpPr/>
          <p:nvPr/>
        </p:nvSpPr>
        <p:spPr>
          <a:xfrm>
            <a:off x="4037371" y="1"/>
            <a:ext cx="4128459" cy="60959"/>
          </a:xfrm>
          <a:prstGeom prst="rect">
            <a:avLst/>
          </a:prstGeom>
          <a:solidFill>
            <a:srgbClr val="EB494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60" name="Google Shape;160;p62"/>
          <p:cNvSpPr/>
          <p:nvPr/>
        </p:nvSpPr>
        <p:spPr>
          <a:xfrm>
            <a:off x="0" y="6753308"/>
            <a:ext cx="12192000" cy="110875"/>
          </a:xfrm>
          <a:prstGeom prst="rect">
            <a:avLst/>
          </a:prstGeom>
          <a:solidFill>
            <a:srgbClr val="EB494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8_Images and Contents Layout">
  <p:cSld name="8_Images and Contents Layout">
    <p:spTree>
      <p:nvGrpSpPr>
        <p:cNvPr id="1" name="Shape 161"/>
        <p:cNvGrpSpPr/>
        <p:nvPr/>
      </p:nvGrpSpPr>
      <p:grpSpPr>
        <a:xfrm>
          <a:off x="0" y="0"/>
          <a:ext cx="0" cy="0"/>
          <a:chOff x="0" y="0"/>
          <a:chExt cx="0" cy="0"/>
        </a:xfrm>
      </p:grpSpPr>
      <p:sp>
        <p:nvSpPr>
          <p:cNvPr id="162" name="Google Shape;162;p63"/>
          <p:cNvSpPr txBox="1">
            <a:spLocks noGrp="1"/>
          </p:cNvSpPr>
          <p:nvPr>
            <p:ph type="body" idx="1"/>
          </p:nvPr>
        </p:nvSpPr>
        <p:spPr>
          <a:xfrm>
            <a:off x="0" y="242176"/>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960"/>
              </a:spcBef>
              <a:spcAft>
                <a:spcPts val="0"/>
              </a:spcAft>
              <a:buClr>
                <a:srgbClr val="3F3F3F"/>
              </a:buClr>
              <a:buSzPts val="4800"/>
              <a:buFont typeface="Arial"/>
              <a:buNone/>
              <a:defRPr sz="4800"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63" name="Google Shape;163;p63"/>
          <p:cNvSpPr txBox="1">
            <a:spLocks noGrp="1"/>
          </p:cNvSpPr>
          <p:nvPr>
            <p:ph type="body" idx="2"/>
          </p:nvPr>
        </p:nvSpPr>
        <p:spPr>
          <a:xfrm>
            <a:off x="0" y="1010261"/>
            <a:ext cx="12192000" cy="384043"/>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373"/>
              </a:spcBef>
              <a:spcAft>
                <a:spcPts val="0"/>
              </a:spcAft>
              <a:buClr>
                <a:srgbClr val="3F3F3F"/>
              </a:buClr>
              <a:buSzPts val="1865"/>
              <a:buFont typeface="Arial"/>
              <a:buNone/>
              <a:defRPr sz="1865"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pic>
        <p:nvPicPr>
          <p:cNvPr id="164" name="Google Shape;164;p63" descr="D:\Fullppt\005-PNG이미지\모니터.png"/>
          <p:cNvPicPr preferRelativeResize="0"/>
          <p:nvPr/>
        </p:nvPicPr>
        <p:blipFill rotWithShape="1">
          <a:blip r:embed="rId2">
            <a:alphaModFix/>
          </a:blip>
          <a:srcRect/>
          <a:stretch/>
        </p:blipFill>
        <p:spPr>
          <a:xfrm>
            <a:off x="776400" y="1815747"/>
            <a:ext cx="3360373" cy="3350541"/>
          </a:xfrm>
          <a:prstGeom prst="rect">
            <a:avLst/>
          </a:prstGeom>
          <a:noFill/>
          <a:ln>
            <a:noFill/>
          </a:ln>
        </p:spPr>
      </p:pic>
      <p:pic>
        <p:nvPicPr>
          <p:cNvPr id="165" name="Google Shape;165;p63" descr="D:\Fullppt\005-PNG이미지\모니터.png"/>
          <p:cNvPicPr preferRelativeResize="0"/>
          <p:nvPr/>
        </p:nvPicPr>
        <p:blipFill rotWithShape="1">
          <a:blip r:embed="rId2">
            <a:alphaModFix/>
          </a:blip>
          <a:srcRect/>
          <a:stretch/>
        </p:blipFill>
        <p:spPr>
          <a:xfrm>
            <a:off x="4406826" y="1815747"/>
            <a:ext cx="3360373" cy="3350541"/>
          </a:xfrm>
          <a:prstGeom prst="rect">
            <a:avLst/>
          </a:prstGeom>
          <a:noFill/>
          <a:ln>
            <a:noFill/>
          </a:ln>
        </p:spPr>
      </p:pic>
      <p:pic>
        <p:nvPicPr>
          <p:cNvPr id="166" name="Google Shape;166;p63" descr="D:\Fullppt\005-PNG이미지\모니터.png"/>
          <p:cNvPicPr preferRelativeResize="0"/>
          <p:nvPr/>
        </p:nvPicPr>
        <p:blipFill rotWithShape="1">
          <a:blip r:embed="rId2">
            <a:alphaModFix/>
          </a:blip>
          <a:srcRect/>
          <a:stretch/>
        </p:blipFill>
        <p:spPr>
          <a:xfrm>
            <a:off x="8037251" y="1815747"/>
            <a:ext cx="3360373" cy="3350541"/>
          </a:xfrm>
          <a:prstGeom prst="rect">
            <a:avLst/>
          </a:prstGeom>
          <a:noFill/>
          <a:ln>
            <a:noFill/>
          </a:ln>
        </p:spPr>
      </p:pic>
      <p:sp>
        <p:nvSpPr>
          <p:cNvPr id="167" name="Google Shape;167;p63"/>
          <p:cNvSpPr>
            <a:spLocks noGrp="1"/>
          </p:cNvSpPr>
          <p:nvPr>
            <p:ph type="pic" idx="3"/>
          </p:nvPr>
        </p:nvSpPr>
        <p:spPr>
          <a:xfrm>
            <a:off x="909901" y="1957962"/>
            <a:ext cx="3073864" cy="2080028"/>
          </a:xfrm>
          <a:prstGeom prst="rect">
            <a:avLst/>
          </a:prstGeom>
          <a:solidFill>
            <a:srgbClr val="F2F2F2"/>
          </a:solidFill>
          <a:ln>
            <a:noFill/>
          </a:ln>
        </p:spPr>
      </p:sp>
      <p:sp>
        <p:nvSpPr>
          <p:cNvPr id="168" name="Google Shape;168;p63"/>
          <p:cNvSpPr>
            <a:spLocks noGrp="1"/>
          </p:cNvSpPr>
          <p:nvPr>
            <p:ph type="pic" idx="4"/>
          </p:nvPr>
        </p:nvSpPr>
        <p:spPr>
          <a:xfrm>
            <a:off x="4539561" y="1957962"/>
            <a:ext cx="3073864" cy="2080028"/>
          </a:xfrm>
          <a:prstGeom prst="rect">
            <a:avLst/>
          </a:prstGeom>
          <a:solidFill>
            <a:srgbClr val="F2F2F2"/>
          </a:solidFill>
          <a:ln>
            <a:noFill/>
          </a:ln>
        </p:spPr>
      </p:sp>
      <p:sp>
        <p:nvSpPr>
          <p:cNvPr id="169" name="Google Shape;169;p63"/>
          <p:cNvSpPr>
            <a:spLocks noGrp="1"/>
          </p:cNvSpPr>
          <p:nvPr>
            <p:ph type="pic" idx="5"/>
          </p:nvPr>
        </p:nvSpPr>
        <p:spPr>
          <a:xfrm>
            <a:off x="8169221" y="1957962"/>
            <a:ext cx="3073864" cy="2080028"/>
          </a:xfrm>
          <a:prstGeom prst="rect">
            <a:avLst/>
          </a:prstGeom>
          <a:solidFill>
            <a:srgbClr val="F2F2F2"/>
          </a:solidFill>
          <a:ln>
            <a:noFill/>
          </a:ln>
        </p:spPr>
      </p:sp>
      <p:sp>
        <p:nvSpPr>
          <p:cNvPr id="170" name="Google Shape;170;p63"/>
          <p:cNvSpPr/>
          <p:nvPr/>
        </p:nvSpPr>
        <p:spPr>
          <a:xfrm>
            <a:off x="4037371" y="1"/>
            <a:ext cx="4128459" cy="609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71" name="Google Shape;171;p63"/>
          <p:cNvSpPr/>
          <p:nvPr/>
        </p:nvSpPr>
        <p:spPr>
          <a:xfrm>
            <a:off x="0" y="6753308"/>
            <a:ext cx="12192000" cy="1108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9_Images and Contents Layout">
  <p:cSld name="9_Images and Contents Layout">
    <p:spTree>
      <p:nvGrpSpPr>
        <p:cNvPr id="1" name="Shape 172"/>
        <p:cNvGrpSpPr/>
        <p:nvPr/>
      </p:nvGrpSpPr>
      <p:grpSpPr>
        <a:xfrm>
          <a:off x="0" y="0"/>
          <a:ext cx="0" cy="0"/>
          <a:chOff x="0" y="0"/>
          <a:chExt cx="0" cy="0"/>
        </a:xfrm>
      </p:grpSpPr>
      <p:sp>
        <p:nvSpPr>
          <p:cNvPr id="173" name="Google Shape;173;p64"/>
          <p:cNvSpPr>
            <a:spLocks noGrp="1"/>
          </p:cNvSpPr>
          <p:nvPr>
            <p:ph type="pic" idx="2"/>
          </p:nvPr>
        </p:nvSpPr>
        <p:spPr>
          <a:xfrm>
            <a:off x="0" y="0"/>
            <a:ext cx="12192000" cy="4101075"/>
          </a:xfrm>
          <a:prstGeom prst="rect">
            <a:avLst/>
          </a:prstGeom>
          <a:solidFill>
            <a:srgbClr val="D8D8D8"/>
          </a:solid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icon sets layout">
  <p:cSld name="icon sets layout">
    <p:spTree>
      <p:nvGrpSpPr>
        <p:cNvPr id="1" name="Shape 174"/>
        <p:cNvGrpSpPr/>
        <p:nvPr/>
      </p:nvGrpSpPr>
      <p:grpSpPr>
        <a:xfrm>
          <a:off x="0" y="0"/>
          <a:ext cx="0" cy="0"/>
          <a:chOff x="0" y="0"/>
          <a:chExt cx="0" cy="0"/>
        </a:xfrm>
      </p:grpSpPr>
      <p:sp>
        <p:nvSpPr>
          <p:cNvPr id="175" name="Google Shape;175;p65"/>
          <p:cNvSpPr txBox="1">
            <a:spLocks noGrp="1"/>
          </p:cNvSpPr>
          <p:nvPr>
            <p:ph type="body" idx="1"/>
          </p:nvPr>
        </p:nvSpPr>
        <p:spPr>
          <a:xfrm>
            <a:off x="0" y="164638"/>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96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grpSp>
        <p:nvGrpSpPr>
          <p:cNvPr id="176" name="Google Shape;176;p65"/>
          <p:cNvGrpSpPr/>
          <p:nvPr/>
        </p:nvGrpSpPr>
        <p:grpSpPr>
          <a:xfrm>
            <a:off x="472011" y="1508786"/>
            <a:ext cx="3799787" cy="4865561"/>
            <a:chOff x="354008" y="1131589"/>
            <a:chExt cx="2849840" cy="3649171"/>
          </a:xfrm>
        </p:grpSpPr>
        <p:sp>
          <p:nvSpPr>
            <p:cNvPr id="177" name="Google Shape;177;p65"/>
            <p:cNvSpPr/>
            <p:nvPr/>
          </p:nvSpPr>
          <p:spPr>
            <a:xfrm>
              <a:off x="354008" y="1131589"/>
              <a:ext cx="2849840" cy="3649171"/>
            </a:xfrm>
            <a:prstGeom prst="roundRect">
              <a:avLst>
                <a:gd name="adj" fmla="val 3968"/>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78" name="Google Shape;178;p65"/>
            <p:cNvSpPr/>
            <p:nvPr/>
          </p:nvSpPr>
          <p:spPr>
            <a:xfrm>
              <a:off x="531932" y="1347500"/>
              <a:ext cx="108520" cy="3240473"/>
            </a:xfrm>
            <a:prstGeom prst="roundRect">
              <a:avLst>
                <a:gd name="adj" fmla="val 50000"/>
              </a:avLst>
            </a:prstGeom>
            <a:solidFill>
              <a:schemeClr val="lt1">
                <a:alpha val="40784"/>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79" name="Google Shape;179;p65"/>
            <p:cNvSpPr/>
            <p:nvPr/>
          </p:nvSpPr>
          <p:spPr>
            <a:xfrm rot="5400000">
              <a:off x="2592642" y="1238201"/>
              <a:ext cx="502331" cy="502331"/>
            </a:xfrm>
            <a:prstGeom prst="halfFrame">
              <a:avLst>
                <a:gd name="adj1" fmla="val 23728"/>
                <a:gd name="adj2" fmla="val 24642"/>
              </a:avLst>
            </a:prstGeom>
            <a:solidFill>
              <a:schemeClr val="lt1">
                <a:alpha val="2274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2.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9"/>
        <p:cNvGrpSpPr/>
        <p:nvPr/>
      </p:nvGrpSpPr>
      <p:grpSpPr>
        <a:xfrm>
          <a:off x="0" y="0"/>
          <a:ext cx="0" cy="0"/>
          <a:chOff x="0" y="0"/>
          <a:chExt cx="0" cy="0"/>
        </a:xfrm>
      </p:grpSpPr>
      <p:sp>
        <p:nvSpPr>
          <p:cNvPr id="10" name="Google Shape;10;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5" name="Google Shape;15;p38"/>
          <p:cNvPicPr preferRelativeResize="0"/>
          <p:nvPr/>
        </p:nvPicPr>
        <p:blipFill rotWithShape="1">
          <a:blip r:embed="rId15">
            <a:alphaModFix/>
          </a:blip>
          <a:srcRect/>
          <a:stretch/>
        </p:blipFill>
        <p:spPr>
          <a:xfrm>
            <a:off x="8313446" y="0"/>
            <a:ext cx="882927" cy="785252"/>
          </a:xfrm>
          <a:prstGeom prst="rect">
            <a:avLst/>
          </a:prstGeom>
          <a:noFill/>
          <a:ln>
            <a:noFill/>
          </a:ln>
        </p:spPr>
      </p:pic>
      <p:pic>
        <p:nvPicPr>
          <p:cNvPr id="16" name="Google Shape;16;p38" descr="National Board of Accreditation - Wikipedia"/>
          <p:cNvPicPr preferRelativeResize="0"/>
          <p:nvPr/>
        </p:nvPicPr>
        <p:blipFill rotWithShape="1">
          <a:blip r:embed="rId16">
            <a:alphaModFix/>
          </a:blip>
          <a:srcRect/>
          <a:stretch/>
        </p:blipFill>
        <p:spPr>
          <a:xfrm>
            <a:off x="9299701" y="49261"/>
            <a:ext cx="872490" cy="688340"/>
          </a:xfrm>
          <a:prstGeom prst="rect">
            <a:avLst/>
          </a:prstGeom>
          <a:noFill/>
          <a:ln>
            <a:noFill/>
          </a:ln>
        </p:spPr>
      </p:pic>
      <p:pic>
        <p:nvPicPr>
          <p:cNvPr id="17" name="Google Shape;17;p38"/>
          <p:cNvPicPr preferRelativeResize="0"/>
          <p:nvPr/>
        </p:nvPicPr>
        <p:blipFill rotWithShape="1">
          <a:blip r:embed="rId17">
            <a:alphaModFix/>
          </a:blip>
          <a:srcRect/>
          <a:stretch/>
        </p:blipFill>
        <p:spPr>
          <a:xfrm>
            <a:off x="10275519" y="113999"/>
            <a:ext cx="1916480" cy="64155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4.xml"/><Relationship Id="rId5" Type="http://schemas.openxmlformats.org/officeDocument/2006/relationships/image" Target="../media/image31.png"/><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4.xml"/><Relationship Id="rId5" Type="http://schemas.openxmlformats.org/officeDocument/2006/relationships/image" Target="../media/image38.png"/><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40.jp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183"/>
        <p:cNvGrpSpPr/>
        <p:nvPr/>
      </p:nvGrpSpPr>
      <p:grpSpPr>
        <a:xfrm>
          <a:off x="0" y="0"/>
          <a:ext cx="0" cy="0"/>
          <a:chOff x="0" y="0"/>
          <a:chExt cx="0" cy="0"/>
        </a:xfrm>
      </p:grpSpPr>
      <p:sp>
        <p:nvSpPr>
          <p:cNvPr id="184" name="Google Shape;184;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5" name="Google Shape;185;p1"/>
          <p:cNvSpPr txBox="1">
            <a:spLocks noGrp="1"/>
          </p:cNvSpPr>
          <p:nvPr>
            <p:ph type="subTitle" idx="1"/>
          </p:nvPr>
        </p:nvSpPr>
        <p:spPr>
          <a:xfrm>
            <a:off x="562662" y="4891470"/>
            <a:ext cx="4156822" cy="1236591"/>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US" sz="1800" b="1">
                <a:latin typeface="Times New Roman"/>
                <a:ea typeface="Times New Roman"/>
                <a:cs typeface="Times New Roman"/>
                <a:sym typeface="Times New Roman"/>
              </a:rPr>
              <a:t>DR. GITANJALI</a:t>
            </a:r>
            <a:endParaRPr/>
          </a:p>
          <a:p>
            <a:pPr marL="0" lvl="0" indent="0" algn="l" rtl="0">
              <a:lnSpc>
                <a:spcPct val="90000"/>
              </a:lnSpc>
              <a:spcBef>
                <a:spcPts val="1000"/>
              </a:spcBef>
              <a:spcAft>
                <a:spcPts val="0"/>
              </a:spcAft>
              <a:buClr>
                <a:schemeClr val="dk1"/>
              </a:buClr>
              <a:buSzPts val="1400"/>
              <a:buNone/>
            </a:pPr>
            <a:r>
              <a:rPr lang="en-US" sz="1400" b="1">
                <a:latin typeface="Times New Roman"/>
                <a:ea typeface="Times New Roman"/>
                <a:cs typeface="Times New Roman"/>
                <a:sym typeface="Times New Roman"/>
              </a:rPr>
              <a:t>E16525</a:t>
            </a:r>
            <a:endParaRPr/>
          </a:p>
          <a:p>
            <a:pPr marL="0" lvl="0" indent="0" algn="l" rtl="0">
              <a:lnSpc>
                <a:spcPct val="90000"/>
              </a:lnSpc>
              <a:spcBef>
                <a:spcPts val="1000"/>
              </a:spcBef>
              <a:spcAft>
                <a:spcPts val="0"/>
              </a:spcAft>
              <a:buClr>
                <a:schemeClr val="dk1"/>
              </a:buClr>
              <a:buSzPts val="1400"/>
              <a:buNone/>
            </a:pPr>
            <a:r>
              <a:rPr lang="en-US" sz="1400" b="1">
                <a:latin typeface="Times New Roman"/>
                <a:ea typeface="Times New Roman"/>
                <a:cs typeface="Times New Roman"/>
                <a:sym typeface="Times New Roman"/>
              </a:rPr>
              <a:t>ASSISTANT PROFESSOR</a:t>
            </a:r>
            <a:endParaRPr/>
          </a:p>
          <a:p>
            <a:pPr marL="0" lvl="0" indent="0" algn="l" rtl="0">
              <a:lnSpc>
                <a:spcPct val="90000"/>
              </a:lnSpc>
              <a:spcBef>
                <a:spcPts val="1000"/>
              </a:spcBef>
              <a:spcAft>
                <a:spcPts val="0"/>
              </a:spcAft>
              <a:buClr>
                <a:schemeClr val="dk1"/>
              </a:buClr>
              <a:buSzPts val="1400"/>
              <a:buNone/>
            </a:pPr>
            <a:r>
              <a:rPr lang="en-US" sz="1400" b="1">
                <a:latin typeface="Times New Roman"/>
                <a:ea typeface="Times New Roman"/>
                <a:cs typeface="Times New Roman"/>
                <a:sym typeface="Times New Roman"/>
              </a:rPr>
              <a:t>CSE </a:t>
            </a:r>
            <a:endParaRPr/>
          </a:p>
        </p:txBody>
      </p:sp>
      <p:sp>
        <p:nvSpPr>
          <p:cNvPr id="186" name="Google Shape;186;p1"/>
          <p:cNvSpPr/>
          <p:nvPr/>
        </p:nvSpPr>
        <p:spPr>
          <a:xfrm flipH="1">
            <a:off x="9344623" y="4901508"/>
            <a:ext cx="2466377" cy="1712909"/>
          </a:xfrm>
          <a:prstGeom prst="rtTriangle">
            <a:avLst/>
          </a:prstGeom>
          <a:solidFill>
            <a:srgbClr val="C00000"/>
          </a:solidFill>
          <a:ln>
            <a:noFill/>
          </a:ln>
        </p:spPr>
        <p:txBody>
          <a:bodyPr spcFirstLastPara="1" wrap="square" lIns="75575" tIns="37775" rIns="75575" bIns="37775" anchor="ctr" anchorCtr="0">
            <a:noAutofit/>
          </a:bodyPr>
          <a:lstStyle/>
          <a:p>
            <a:pPr marL="0" marR="0" lvl="0" indent="0" algn="ctr" rtl="0">
              <a:spcBef>
                <a:spcPts val="0"/>
              </a:spcBef>
              <a:spcAft>
                <a:spcPts val="0"/>
              </a:spcAft>
              <a:buNone/>
            </a:pPr>
            <a:endParaRPr sz="1488" b="0" i="0" u="none" strike="noStrike" cap="none">
              <a:solidFill>
                <a:schemeClr val="lt1"/>
              </a:solidFill>
              <a:latin typeface="Calibri"/>
              <a:ea typeface="Calibri"/>
              <a:cs typeface="Calibri"/>
              <a:sym typeface="Calibri"/>
            </a:endParaRPr>
          </a:p>
        </p:txBody>
      </p:sp>
      <p:sp>
        <p:nvSpPr>
          <p:cNvPr id="187" name="Google Shape;187;p1"/>
          <p:cNvSpPr txBox="1"/>
          <p:nvPr/>
        </p:nvSpPr>
        <p:spPr>
          <a:xfrm>
            <a:off x="7158646" y="5490468"/>
            <a:ext cx="4075113" cy="534988"/>
          </a:xfrm>
          <a:prstGeom prst="rect">
            <a:avLst/>
          </a:prstGeom>
          <a:noFill/>
          <a:ln>
            <a:noFill/>
          </a:ln>
        </p:spPr>
        <p:txBody>
          <a:bodyPr spcFirstLastPara="1" wrap="square" lIns="75575" tIns="37775" rIns="75575" bIns="37775" anchor="t" anchorCtr="0">
            <a:spAutoFit/>
          </a:bodyPr>
          <a:lstStyle/>
          <a:p>
            <a:pPr marL="0" marR="0" lvl="0" indent="0" algn="l" rtl="0">
              <a:spcBef>
                <a:spcPts val="0"/>
              </a:spcBef>
              <a:spcAft>
                <a:spcPts val="0"/>
              </a:spcAft>
              <a:buNone/>
            </a:pPr>
            <a:r>
              <a:rPr lang="en-US" sz="1653" b="1" i="0" u="none" strike="noStrike" cap="none">
                <a:solidFill>
                  <a:srgbClr val="595959"/>
                </a:solidFill>
                <a:latin typeface="Arial"/>
                <a:ea typeface="Arial"/>
                <a:cs typeface="Arial"/>
                <a:sym typeface="Arial"/>
              </a:rPr>
              <a:t>DISCOVER . </a:t>
            </a:r>
            <a:r>
              <a:rPr lang="en-US" sz="1653" b="1" i="0" u="none" strike="noStrike" cap="none">
                <a:solidFill>
                  <a:srgbClr val="C00000"/>
                </a:solidFill>
                <a:latin typeface="Arial"/>
                <a:ea typeface="Arial"/>
                <a:cs typeface="Arial"/>
                <a:sym typeface="Arial"/>
              </a:rPr>
              <a:t>LEARN</a:t>
            </a:r>
            <a:r>
              <a:rPr lang="en-US" sz="1653" b="1" i="0" u="none" strike="noStrike" cap="none">
                <a:solidFill>
                  <a:srgbClr val="595959"/>
                </a:solidFill>
                <a:latin typeface="Arial"/>
                <a:ea typeface="Arial"/>
                <a:cs typeface="Arial"/>
                <a:sym typeface="Arial"/>
              </a:rPr>
              <a:t> . EMPOWER</a:t>
            </a:r>
            <a:endParaRPr sz="992" b="1" i="0" u="none" strike="noStrike" cap="none">
              <a:solidFill>
                <a:srgbClr val="000000"/>
              </a:solidFill>
              <a:latin typeface="Arial"/>
              <a:ea typeface="Arial"/>
              <a:cs typeface="Arial"/>
              <a:sym typeface="Arial"/>
            </a:endParaRPr>
          </a:p>
          <a:p>
            <a:pPr marL="0" marR="0" lvl="0" indent="0" algn="l" rtl="0">
              <a:spcBef>
                <a:spcPts val="0"/>
              </a:spcBef>
              <a:spcAft>
                <a:spcPts val="0"/>
              </a:spcAft>
              <a:buNone/>
            </a:pPr>
            <a:endParaRPr sz="1323" b="1" i="0" u="none" strike="noStrike" cap="none">
              <a:solidFill>
                <a:schemeClr val="dk1"/>
              </a:solidFill>
              <a:latin typeface="Arial"/>
              <a:ea typeface="Arial"/>
              <a:cs typeface="Arial"/>
              <a:sym typeface="Arial"/>
            </a:endParaRPr>
          </a:p>
        </p:txBody>
      </p:sp>
      <p:sp>
        <p:nvSpPr>
          <p:cNvPr id="188" name="Google Shape;188;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9" name="Google Shape;189;p1"/>
          <p:cNvSpPr txBox="1"/>
          <p:nvPr/>
        </p:nvSpPr>
        <p:spPr>
          <a:xfrm>
            <a:off x="1040825" y="892905"/>
            <a:ext cx="9722858" cy="39702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i="0" u="none" strike="noStrike" cap="none" dirty="0">
                <a:solidFill>
                  <a:schemeClr val="dk1"/>
                </a:solidFill>
                <a:latin typeface="Arial"/>
                <a:ea typeface="Arial"/>
                <a:cs typeface="Arial"/>
                <a:sym typeface="Arial"/>
              </a:rPr>
              <a:t>UNIVERSITY INSTITUTE OF ENGINEERING</a:t>
            </a:r>
            <a:endParaRPr dirty="0"/>
          </a:p>
          <a:p>
            <a:pPr marL="0" marR="0" lvl="0" indent="0" algn="ctr" rtl="0">
              <a:spcBef>
                <a:spcPts val="0"/>
              </a:spcBef>
              <a:spcAft>
                <a:spcPts val="0"/>
              </a:spcAft>
              <a:buNone/>
            </a:pPr>
            <a:endParaRPr sz="4400" b="0" i="0" u="none" strike="noStrike" cap="none" dirty="0">
              <a:solidFill>
                <a:schemeClr val="dk1"/>
              </a:solidFill>
              <a:latin typeface="Arial"/>
              <a:ea typeface="Arial"/>
              <a:cs typeface="Arial"/>
              <a:sym typeface="Arial"/>
            </a:endParaRPr>
          </a:p>
          <a:p>
            <a:pPr marL="0" marR="0" lvl="0" indent="0" algn="ctr" rtl="0">
              <a:spcBef>
                <a:spcPts val="0"/>
              </a:spcBef>
              <a:spcAft>
                <a:spcPts val="0"/>
              </a:spcAft>
              <a:buNone/>
            </a:pPr>
            <a:r>
              <a:rPr lang="en-US" sz="2800" b="1" i="0" u="none" strike="noStrike" cap="none" dirty="0">
                <a:solidFill>
                  <a:schemeClr val="dk1"/>
                </a:solidFill>
                <a:latin typeface="Arial"/>
                <a:ea typeface="Arial"/>
                <a:cs typeface="Arial"/>
                <a:sym typeface="Arial"/>
              </a:rPr>
              <a:t>Department of Computer Science &amp; Engineering</a:t>
            </a:r>
            <a:endParaRPr dirty="0"/>
          </a:p>
          <a:p>
            <a:pPr marL="0" marR="0" lvl="0" indent="0" algn="ctr" rtl="0">
              <a:spcBef>
                <a:spcPts val="0"/>
              </a:spcBef>
              <a:spcAft>
                <a:spcPts val="0"/>
              </a:spcAft>
              <a:buNone/>
            </a:pPr>
            <a:endParaRPr sz="2800" b="1" i="0" u="none" strike="noStrike" cap="none" dirty="0">
              <a:solidFill>
                <a:schemeClr val="dk1"/>
              </a:solidFill>
              <a:latin typeface="Calibri"/>
              <a:ea typeface="Calibri"/>
              <a:cs typeface="Calibri"/>
              <a:sym typeface="Calibri"/>
            </a:endParaRPr>
          </a:p>
          <a:p>
            <a:pPr marL="0" marR="0" lvl="0" indent="0" algn="ctr" rtl="0">
              <a:spcBef>
                <a:spcPts val="0"/>
              </a:spcBef>
              <a:spcAft>
                <a:spcPts val="0"/>
              </a:spcAft>
              <a:buNone/>
            </a:pPr>
            <a:r>
              <a:rPr lang="en-US" sz="2800" b="1" i="0" u="none" strike="noStrike" cap="none" dirty="0">
                <a:solidFill>
                  <a:srgbClr val="000000"/>
                </a:solidFill>
                <a:latin typeface="Arial"/>
                <a:ea typeface="Arial"/>
                <a:cs typeface="Arial"/>
                <a:sym typeface="Arial"/>
              </a:rPr>
              <a:t>Databases Management System</a:t>
            </a:r>
            <a:endParaRPr dirty="0"/>
          </a:p>
          <a:p>
            <a:pPr marL="0" marR="0" lvl="0" indent="0" algn="ctr" rtl="0">
              <a:lnSpc>
                <a:spcPct val="116444"/>
              </a:lnSpc>
              <a:spcBef>
                <a:spcPts val="0"/>
              </a:spcBef>
              <a:spcAft>
                <a:spcPts val="0"/>
              </a:spcAft>
              <a:buNone/>
            </a:pPr>
            <a:r>
              <a:rPr lang="en-US" sz="3600" b="1" i="0" u="none" strike="noStrike" cap="none" dirty="0">
                <a:solidFill>
                  <a:srgbClr val="000000"/>
                </a:solidFill>
                <a:latin typeface="Arial"/>
                <a:ea typeface="Arial"/>
                <a:cs typeface="Arial"/>
                <a:sym typeface="Arial"/>
              </a:rPr>
              <a:t>(23CSH-205/23ITH-205)</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
          <p:cNvSpPr txBox="1">
            <a:spLocks noGrp="1"/>
          </p:cNvSpPr>
          <p:nvPr>
            <p:ph type="title"/>
          </p:nvPr>
        </p:nvSpPr>
        <p:spPr>
          <a:xfrm>
            <a:off x="2152650" y="4909"/>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Arial"/>
              <a:buNone/>
            </a:pPr>
            <a:r>
              <a:rPr lang="en-US" b="1">
                <a:solidFill>
                  <a:srgbClr val="C00000"/>
                </a:solidFill>
                <a:latin typeface="Arial"/>
                <a:ea typeface="Arial"/>
                <a:cs typeface="Arial"/>
                <a:sym typeface="Arial"/>
              </a:rPr>
              <a:t>ABOUT COURSE</a:t>
            </a:r>
            <a:endParaRPr>
              <a:solidFill>
                <a:srgbClr val="C00000"/>
              </a:solidFill>
            </a:endParaRPr>
          </a:p>
        </p:txBody>
      </p:sp>
      <p:sp>
        <p:nvSpPr>
          <p:cNvPr id="195" name="Google Shape;195;p2"/>
          <p:cNvSpPr txBox="1">
            <a:spLocks noGrp="1"/>
          </p:cNvSpPr>
          <p:nvPr>
            <p:ph type="body" idx="1"/>
          </p:nvPr>
        </p:nvSpPr>
        <p:spPr>
          <a:xfrm>
            <a:off x="838200" y="1374824"/>
            <a:ext cx="11107993" cy="4455775"/>
          </a:xfrm>
          <a:prstGeom prst="rect">
            <a:avLst/>
          </a:prstGeom>
          <a:noFill/>
          <a:ln>
            <a:noFill/>
          </a:ln>
        </p:spPr>
        <p:txBody>
          <a:bodyPr spcFirstLastPara="1" wrap="square" lIns="68575" tIns="34275" rIns="68575" bIns="34275" anchor="t" anchorCtr="0">
            <a:noAutofit/>
          </a:bodyPr>
          <a:lstStyle/>
          <a:p>
            <a:pPr marL="228600" lvl="0" indent="-228600" algn="just" rtl="0">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The main DBMS course, we learn about the </a:t>
            </a:r>
            <a:r>
              <a:rPr lang="en-US" sz="2400">
                <a:solidFill>
                  <a:srgbClr val="833C0B"/>
                </a:solidFill>
                <a:latin typeface="Times New Roman"/>
                <a:ea typeface="Times New Roman"/>
                <a:cs typeface="Times New Roman"/>
                <a:sym typeface="Times New Roman"/>
              </a:rPr>
              <a:t>structural formation of data</a:t>
            </a:r>
            <a:r>
              <a:rPr lang="en-US" sz="2400">
                <a:latin typeface="Times New Roman"/>
                <a:ea typeface="Times New Roman"/>
                <a:cs typeface="Times New Roman"/>
                <a:sym typeface="Times New Roman"/>
              </a:rPr>
              <a:t>, </a:t>
            </a:r>
            <a:r>
              <a:rPr lang="en-US" sz="2400">
                <a:solidFill>
                  <a:srgbClr val="2F5496"/>
                </a:solidFill>
                <a:latin typeface="Times New Roman"/>
                <a:ea typeface="Times New Roman"/>
                <a:cs typeface="Times New Roman"/>
                <a:sym typeface="Times New Roman"/>
              </a:rPr>
              <a:t>maintain data integrity</a:t>
            </a:r>
            <a:r>
              <a:rPr lang="en-US" sz="2400">
                <a:latin typeface="Times New Roman"/>
                <a:ea typeface="Times New Roman"/>
                <a:cs typeface="Times New Roman"/>
                <a:sym typeface="Times New Roman"/>
              </a:rPr>
              <a:t>, </a:t>
            </a:r>
            <a:r>
              <a:rPr lang="en-US" sz="2400">
                <a:solidFill>
                  <a:srgbClr val="385623"/>
                </a:solidFill>
                <a:latin typeface="Times New Roman"/>
                <a:ea typeface="Times New Roman"/>
                <a:cs typeface="Times New Roman"/>
                <a:sym typeface="Times New Roman"/>
              </a:rPr>
              <a:t>multitasking with concurrent access </a:t>
            </a:r>
            <a:r>
              <a:rPr lang="en-US" sz="2400">
                <a:latin typeface="Times New Roman"/>
                <a:ea typeface="Times New Roman"/>
                <a:cs typeface="Times New Roman"/>
                <a:sym typeface="Times New Roman"/>
              </a:rPr>
              <a:t>and </a:t>
            </a:r>
            <a:r>
              <a:rPr lang="en-US" sz="2400">
                <a:solidFill>
                  <a:schemeClr val="dk2"/>
                </a:solidFill>
                <a:latin typeface="Times New Roman"/>
                <a:ea typeface="Times New Roman"/>
                <a:cs typeface="Times New Roman"/>
                <a:sym typeface="Times New Roman"/>
              </a:rPr>
              <a:t>recovery without occurring crashes</a:t>
            </a:r>
            <a:r>
              <a:rPr lang="en-US" sz="2400">
                <a:latin typeface="Times New Roman"/>
                <a:ea typeface="Times New Roman"/>
                <a:cs typeface="Times New Roman"/>
                <a:sym typeface="Times New Roman"/>
              </a:rPr>
              <a:t>, data structures, data models etc. and their working in which every organization is based. </a:t>
            </a:r>
            <a:endParaRPr/>
          </a:p>
          <a:p>
            <a:pPr marL="228600" lvl="0" indent="-228600" algn="just"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At the end of the course, the students may understand the concepts of data structures, data models and design, construction of queries by using SQL, uses and applications of database design etc</a:t>
            </a:r>
            <a:endParaRPr/>
          </a:p>
          <a:p>
            <a:pPr marL="228600" lvl="0" indent="-76200" algn="just" rtl="0">
              <a:lnSpc>
                <a:spcPct val="90000"/>
              </a:lnSpc>
              <a:spcBef>
                <a:spcPts val="1000"/>
              </a:spcBef>
              <a:spcAft>
                <a:spcPts val="0"/>
              </a:spcAft>
              <a:buClr>
                <a:schemeClr val="dk1"/>
              </a:buClr>
              <a:buSzPts val="2400"/>
              <a:buNone/>
            </a:pPr>
            <a:endParaRPr sz="2400" i="1">
              <a:latin typeface="Times New Roman"/>
              <a:ea typeface="Times New Roman"/>
              <a:cs typeface="Times New Roman"/>
              <a:sym typeface="Times New Roman"/>
            </a:endParaRPr>
          </a:p>
        </p:txBody>
      </p:sp>
      <p:sp>
        <p:nvSpPr>
          <p:cNvPr id="196" name="Google Shape;196;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197" name="Google Shape;197;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graphicFrame>
        <p:nvGraphicFramePr>
          <p:cNvPr id="202" name="Google Shape;202;p3"/>
          <p:cNvGraphicFramePr/>
          <p:nvPr/>
        </p:nvGraphicFramePr>
        <p:xfrm>
          <a:off x="309716" y="1798609"/>
          <a:ext cx="7843700" cy="4387290"/>
        </p:xfrm>
        <a:graphic>
          <a:graphicData uri="http://schemas.openxmlformats.org/drawingml/2006/table">
            <a:tbl>
              <a:tblPr>
                <a:noFill/>
                <a:tableStyleId>{16CAE755-F3D9-41D2-9B19-438355FB0456}</a:tableStyleId>
              </a:tblPr>
              <a:tblGrid>
                <a:gridCol w="842250">
                  <a:extLst>
                    <a:ext uri="{9D8B030D-6E8A-4147-A177-3AD203B41FA5}">
                      <a16:colId xmlns:a16="http://schemas.microsoft.com/office/drawing/2014/main" val="20000"/>
                    </a:ext>
                  </a:extLst>
                </a:gridCol>
                <a:gridCol w="5406775">
                  <a:extLst>
                    <a:ext uri="{9D8B030D-6E8A-4147-A177-3AD203B41FA5}">
                      <a16:colId xmlns:a16="http://schemas.microsoft.com/office/drawing/2014/main" val="20001"/>
                    </a:ext>
                  </a:extLst>
                </a:gridCol>
                <a:gridCol w="1594675">
                  <a:extLst>
                    <a:ext uri="{9D8B030D-6E8A-4147-A177-3AD203B41FA5}">
                      <a16:colId xmlns:a16="http://schemas.microsoft.com/office/drawing/2014/main" val="20002"/>
                    </a:ext>
                  </a:extLst>
                </a:gridCol>
              </a:tblGrid>
              <a:tr h="509675">
                <a:tc>
                  <a:txBody>
                    <a:bodyPr/>
                    <a:lstStyle/>
                    <a:p>
                      <a:pPr marL="0" marR="0" lvl="0" indent="0" algn="ctr" rtl="0">
                        <a:spcBef>
                          <a:spcPts val="0"/>
                        </a:spcBef>
                        <a:spcAft>
                          <a:spcPts val="0"/>
                        </a:spcAft>
                        <a:buNone/>
                      </a:pPr>
                      <a:r>
                        <a:rPr lang="en-US" sz="2000" b="1" i="0" u="none" strike="noStrike" cap="none">
                          <a:solidFill>
                            <a:srgbClr val="000000"/>
                          </a:solidFill>
                          <a:latin typeface="Calibri"/>
                          <a:ea typeface="Calibri"/>
                          <a:cs typeface="Calibri"/>
                          <a:sym typeface="Calibri"/>
                        </a:rPr>
                        <a:t>CO No.</a:t>
                      </a:r>
                      <a:endParaRPr/>
                    </a:p>
                  </a:txBody>
                  <a:tcPr marL="9525" marR="9525" marT="952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b="1" i="0" u="none" strike="noStrike" cap="none">
                          <a:solidFill>
                            <a:srgbClr val="000000"/>
                          </a:solidFill>
                          <a:latin typeface="Calibri"/>
                          <a:ea typeface="Calibri"/>
                          <a:cs typeface="Calibri"/>
                          <a:sym typeface="Calibri"/>
                        </a:rPr>
                        <a:t>Title</a:t>
                      </a:r>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b="1" i="0" u="none" strike="noStrike" cap="none">
                          <a:solidFill>
                            <a:srgbClr val="000000"/>
                          </a:solidFill>
                          <a:latin typeface="Calibri"/>
                          <a:ea typeface="Calibri"/>
                          <a:cs typeface="Calibri"/>
                          <a:sym typeface="Calibri"/>
                        </a:rPr>
                        <a:t>BT Level</a:t>
                      </a:r>
                      <a:endParaRPr/>
                    </a:p>
                  </a:txBody>
                  <a:tcPr marL="9525" marR="9525" marT="952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019375">
                <a:tc>
                  <a:txBody>
                    <a:bodyPr/>
                    <a:lstStyle/>
                    <a:p>
                      <a:pPr marL="0" marR="0" lvl="0" indent="0" algn="ctr" rtl="0">
                        <a:spcBef>
                          <a:spcPts val="0"/>
                        </a:spcBef>
                        <a:spcAft>
                          <a:spcPts val="0"/>
                        </a:spcAft>
                        <a:buNone/>
                      </a:pPr>
                      <a:r>
                        <a:rPr lang="en-US" sz="1600" b="1" i="0" u="none" strike="noStrike" cap="none">
                          <a:solidFill>
                            <a:srgbClr val="00B050"/>
                          </a:solidFill>
                          <a:highlight>
                            <a:srgbClr val="FFFF00"/>
                          </a:highlight>
                          <a:latin typeface="Times New Roman"/>
                          <a:ea typeface="Times New Roman"/>
                          <a:cs typeface="Times New Roman"/>
                          <a:sym typeface="Times New Roman"/>
                        </a:rPr>
                        <a:t>CO1</a:t>
                      </a:r>
                      <a:endParaRPr/>
                    </a:p>
                  </a:txBody>
                  <a:tcPr marL="9525" marR="9525" marT="952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1" i="0" u="none" strike="noStrike" cap="none">
                          <a:solidFill>
                            <a:srgbClr val="000000"/>
                          </a:solidFill>
                          <a:latin typeface="Times New Roman"/>
                          <a:ea typeface="Times New Roman"/>
                          <a:cs typeface="Times New Roman"/>
                          <a:sym typeface="Times New Roman"/>
                        </a:rPr>
                        <a:t>Students will be able to understand the database system concepts and design databases for different applications. </a:t>
                      </a:r>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7CAAC"/>
                    </a:solidFill>
                  </a:tcPr>
                </a:tc>
                <a:tc>
                  <a:txBody>
                    <a:bodyPr/>
                    <a:lstStyle/>
                    <a:p>
                      <a:pPr marL="0" marR="0" lvl="0" indent="0" algn="ctr" rtl="0">
                        <a:spcBef>
                          <a:spcPts val="0"/>
                        </a:spcBef>
                        <a:spcAft>
                          <a:spcPts val="0"/>
                        </a:spcAft>
                        <a:buNone/>
                      </a:pPr>
                      <a:r>
                        <a:rPr lang="en-US" sz="2000" b="1" i="0" u="none" strike="noStrike" cap="none">
                          <a:solidFill>
                            <a:srgbClr val="C00000"/>
                          </a:solidFill>
                          <a:highlight>
                            <a:srgbClr val="FFFF00"/>
                          </a:highlight>
                          <a:latin typeface="Calibri"/>
                          <a:ea typeface="Calibri"/>
                          <a:cs typeface="Calibri"/>
                          <a:sym typeface="Calibri"/>
                        </a:rPr>
                        <a:t>Memorize</a:t>
                      </a:r>
                      <a:endParaRPr/>
                    </a:p>
                  </a:txBody>
                  <a:tcPr marL="9525" marR="9525" marT="952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09675">
                <a:tc>
                  <a:txBody>
                    <a:bodyPr/>
                    <a:lstStyle/>
                    <a:p>
                      <a:pPr marL="0" marR="0" lvl="0" indent="0" algn="ctr" rtl="0">
                        <a:spcBef>
                          <a:spcPts val="0"/>
                        </a:spcBef>
                        <a:spcAft>
                          <a:spcPts val="0"/>
                        </a:spcAft>
                        <a:buNone/>
                      </a:pPr>
                      <a:r>
                        <a:rPr lang="en-US" sz="1600" b="1" i="0" u="none" strike="noStrike" cap="none">
                          <a:solidFill>
                            <a:srgbClr val="00B050"/>
                          </a:solidFill>
                          <a:latin typeface="Times New Roman"/>
                          <a:ea typeface="Times New Roman"/>
                          <a:cs typeface="Times New Roman"/>
                          <a:sym typeface="Times New Roman"/>
                        </a:rPr>
                        <a:t>CO2</a:t>
                      </a:r>
                      <a:endParaRPr/>
                    </a:p>
                  </a:txBody>
                  <a:tcPr marL="9525" marR="9525" marT="952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1" i="0" u="none" strike="noStrike" cap="none">
                          <a:solidFill>
                            <a:srgbClr val="000000"/>
                          </a:solidFill>
                          <a:latin typeface="Times New Roman"/>
                          <a:ea typeface="Times New Roman"/>
                          <a:cs typeface="Times New Roman"/>
                          <a:sym typeface="Times New Roman"/>
                        </a:rPr>
                        <a:t>Students will be able to identify different types of DDL, DML, DCL and TCL commands and their usage.</a:t>
                      </a:r>
                      <a:endParaRPr sz="1600" b="1" i="0" u="none" strike="noStrike" cap="none">
                        <a:solidFill>
                          <a:srgbClr val="000000"/>
                        </a:solidFill>
                        <a:latin typeface="Times New Roman"/>
                        <a:ea typeface="Times New Roman"/>
                        <a:cs typeface="Times New Roman"/>
                        <a:sym typeface="Times New Roman"/>
                      </a:endParaRPr>
                    </a:p>
                    <a:p>
                      <a:pPr marL="0" marR="0" lvl="0" indent="0" algn="ctr" rtl="0">
                        <a:spcBef>
                          <a:spcPts val="0"/>
                        </a:spcBef>
                        <a:spcAft>
                          <a:spcPts val="0"/>
                        </a:spcAft>
                        <a:buNone/>
                      </a:pPr>
                      <a:endParaRPr sz="1600" b="1" i="0" u="none" strike="noStrike" cap="none">
                        <a:solidFill>
                          <a:srgbClr val="000000"/>
                        </a:solidFill>
                        <a:latin typeface="Times New Roman"/>
                        <a:ea typeface="Times New Roman"/>
                        <a:cs typeface="Times New Roman"/>
                        <a:sym typeface="Times New Roman"/>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000" b="1" i="0" u="none" strike="noStrike" cap="none">
                          <a:solidFill>
                            <a:srgbClr val="C00000"/>
                          </a:solidFill>
                          <a:latin typeface="Calibri"/>
                          <a:ea typeface="Calibri"/>
                          <a:cs typeface="Calibri"/>
                          <a:sym typeface="Calibri"/>
                        </a:rPr>
                        <a:t>Understanding</a:t>
                      </a:r>
                      <a:endParaRPr/>
                    </a:p>
                  </a:txBody>
                  <a:tcPr marL="9525" marR="9525" marT="952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866475">
                <a:tc>
                  <a:txBody>
                    <a:bodyPr/>
                    <a:lstStyle/>
                    <a:p>
                      <a:pPr marL="0" marR="0" lvl="0" indent="0" algn="ctr" rtl="0">
                        <a:spcBef>
                          <a:spcPts val="0"/>
                        </a:spcBef>
                        <a:spcAft>
                          <a:spcPts val="0"/>
                        </a:spcAft>
                        <a:buNone/>
                      </a:pPr>
                      <a:r>
                        <a:rPr lang="en-US" sz="1600" b="1" i="0" u="none" strike="noStrike" cap="none">
                          <a:solidFill>
                            <a:srgbClr val="00B050"/>
                          </a:solidFill>
                          <a:latin typeface="Times New Roman"/>
                          <a:ea typeface="Times New Roman"/>
                          <a:cs typeface="Times New Roman"/>
                          <a:sym typeface="Times New Roman"/>
                        </a:rPr>
                        <a:t>CO3</a:t>
                      </a:r>
                      <a:endParaRPr/>
                    </a:p>
                  </a:txBody>
                  <a:tcPr marL="9525" marR="9525" marT="952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1" i="0" u="none" strike="noStrike" cap="none">
                          <a:solidFill>
                            <a:srgbClr val="000000"/>
                          </a:solidFill>
                          <a:latin typeface="Times New Roman"/>
                          <a:ea typeface="Times New Roman"/>
                          <a:cs typeface="Times New Roman"/>
                          <a:sym typeface="Times New Roman"/>
                        </a:rPr>
                        <a:t>Students will be able to classifying Normalization, Dependencies and Denormalization along with their requirements.</a:t>
                      </a:r>
                      <a:endParaRPr sz="1600" b="1" i="0" u="none" strike="noStrike" cap="none">
                        <a:solidFill>
                          <a:srgbClr val="000000"/>
                        </a:solidFill>
                        <a:latin typeface="Times New Roman"/>
                        <a:ea typeface="Times New Roman"/>
                        <a:cs typeface="Times New Roman"/>
                        <a:sym typeface="Times New Roman"/>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A8D08C"/>
                    </a:solidFill>
                  </a:tcPr>
                </a:tc>
                <a:tc>
                  <a:txBody>
                    <a:bodyPr/>
                    <a:lstStyle/>
                    <a:p>
                      <a:pPr marL="0" marR="0" lvl="0" indent="0" algn="ctr" rtl="0">
                        <a:spcBef>
                          <a:spcPts val="0"/>
                        </a:spcBef>
                        <a:spcAft>
                          <a:spcPts val="0"/>
                        </a:spcAft>
                        <a:buNone/>
                      </a:pPr>
                      <a:r>
                        <a:rPr lang="en-US" sz="2000" b="1" i="0" u="none" strike="noStrike" cap="none">
                          <a:solidFill>
                            <a:srgbClr val="C00000"/>
                          </a:solidFill>
                          <a:latin typeface="Calibri"/>
                          <a:ea typeface="Calibri"/>
                          <a:cs typeface="Calibri"/>
                          <a:sym typeface="Calibri"/>
                        </a:rPr>
                        <a:t>Apply</a:t>
                      </a:r>
                      <a:endParaRPr/>
                    </a:p>
                  </a:txBody>
                  <a:tcPr marL="9525" marR="9525" marT="952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09675">
                <a:tc>
                  <a:txBody>
                    <a:bodyPr/>
                    <a:lstStyle/>
                    <a:p>
                      <a:pPr marL="0" marR="0" lvl="0" indent="0" algn="ctr" rtl="0">
                        <a:spcBef>
                          <a:spcPts val="0"/>
                        </a:spcBef>
                        <a:spcAft>
                          <a:spcPts val="0"/>
                        </a:spcAft>
                        <a:buNone/>
                      </a:pPr>
                      <a:r>
                        <a:rPr lang="en-US" sz="1600" b="1" i="0" u="none" strike="noStrike" cap="none">
                          <a:solidFill>
                            <a:srgbClr val="00B050"/>
                          </a:solidFill>
                          <a:latin typeface="Times New Roman"/>
                          <a:ea typeface="Times New Roman"/>
                          <a:cs typeface="Times New Roman"/>
                          <a:sym typeface="Times New Roman"/>
                        </a:rPr>
                        <a:t>CO4</a:t>
                      </a:r>
                      <a:endParaRPr/>
                    </a:p>
                  </a:txBody>
                  <a:tcPr marL="9525" marR="9525" marT="952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1" i="0" u="none" strike="noStrike" cap="none">
                          <a:solidFill>
                            <a:srgbClr val="000000"/>
                          </a:solidFill>
                          <a:latin typeface="Times New Roman"/>
                          <a:ea typeface="Times New Roman"/>
                          <a:cs typeface="Times New Roman"/>
                          <a:sym typeface="Times New Roman"/>
                        </a:rPr>
                        <a:t>Students will be able to analyse and Compare Transaction Processing techniques and Recovery techniques.</a:t>
                      </a:r>
                      <a:endParaRPr sz="1600" b="1" i="0" u="none" strike="noStrike" cap="none">
                        <a:solidFill>
                          <a:srgbClr val="000000"/>
                        </a:solidFill>
                        <a:latin typeface="Times New Roman"/>
                        <a:ea typeface="Times New Roman"/>
                        <a:cs typeface="Times New Roman"/>
                        <a:sym typeface="Times New Roman"/>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EE599"/>
                    </a:solidFill>
                  </a:tcPr>
                </a:tc>
                <a:tc>
                  <a:txBody>
                    <a:bodyPr/>
                    <a:lstStyle/>
                    <a:p>
                      <a:pPr marL="0" marR="0" lvl="0" indent="0" algn="ctr" rtl="0">
                        <a:spcBef>
                          <a:spcPts val="0"/>
                        </a:spcBef>
                        <a:spcAft>
                          <a:spcPts val="0"/>
                        </a:spcAft>
                        <a:buNone/>
                      </a:pPr>
                      <a:r>
                        <a:rPr lang="en-US" sz="2000" b="1" i="0" u="none" strike="noStrike" cap="none">
                          <a:solidFill>
                            <a:srgbClr val="C00000"/>
                          </a:solidFill>
                          <a:latin typeface="Calibri"/>
                          <a:ea typeface="Calibri"/>
                          <a:cs typeface="Calibri"/>
                          <a:sym typeface="Calibri"/>
                        </a:rPr>
                        <a:t>Analyze</a:t>
                      </a:r>
                      <a:endParaRPr/>
                    </a:p>
                  </a:txBody>
                  <a:tcPr marL="9525" marR="9525" marT="952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35175">
                <a:tc>
                  <a:txBody>
                    <a:bodyPr/>
                    <a:lstStyle/>
                    <a:p>
                      <a:pPr marL="0" marR="0" lvl="0" indent="0" algn="ctr" rtl="0">
                        <a:spcBef>
                          <a:spcPts val="0"/>
                        </a:spcBef>
                        <a:spcAft>
                          <a:spcPts val="0"/>
                        </a:spcAft>
                        <a:buNone/>
                      </a:pPr>
                      <a:r>
                        <a:rPr lang="en-US" sz="1600" b="1" i="0" u="none" strike="noStrike" cap="none">
                          <a:solidFill>
                            <a:srgbClr val="00B050"/>
                          </a:solidFill>
                          <a:latin typeface="Times New Roman"/>
                          <a:ea typeface="Times New Roman"/>
                          <a:cs typeface="Times New Roman"/>
                          <a:sym typeface="Times New Roman"/>
                        </a:rPr>
                        <a:t>CO5</a:t>
                      </a:r>
                      <a:endParaRPr/>
                    </a:p>
                  </a:txBody>
                  <a:tcPr marL="9525" marR="9525" marT="952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1" i="0" u="none" strike="noStrike" cap="none">
                          <a:solidFill>
                            <a:srgbClr val="000000"/>
                          </a:solidFill>
                          <a:latin typeface="Times New Roman"/>
                          <a:ea typeface="Times New Roman"/>
                          <a:cs typeface="Times New Roman"/>
                          <a:sym typeface="Times New Roman"/>
                        </a:rPr>
                        <a:t>Students will be able to evaluate database performance after implementing Triggers, procedures, packages, cursors and views.</a:t>
                      </a:r>
                      <a:endParaRPr sz="1600" b="1" i="0" u="none" strike="noStrike" cap="none">
                        <a:solidFill>
                          <a:srgbClr val="000000"/>
                        </a:solidFill>
                        <a:latin typeface="Times New Roman"/>
                        <a:ea typeface="Times New Roman"/>
                        <a:cs typeface="Times New Roman"/>
                        <a:sym typeface="Times New Roman"/>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8D8D8"/>
                    </a:solidFill>
                  </a:tcPr>
                </a:tc>
                <a:tc>
                  <a:txBody>
                    <a:bodyPr/>
                    <a:lstStyle/>
                    <a:p>
                      <a:pPr marL="0" marR="0" lvl="0" indent="0" algn="ctr" rtl="0">
                        <a:spcBef>
                          <a:spcPts val="0"/>
                        </a:spcBef>
                        <a:spcAft>
                          <a:spcPts val="0"/>
                        </a:spcAft>
                        <a:buNone/>
                      </a:pPr>
                      <a:r>
                        <a:rPr lang="en-US" sz="2000" b="1" i="0" u="none" strike="noStrike" cap="none">
                          <a:solidFill>
                            <a:srgbClr val="C00000"/>
                          </a:solidFill>
                          <a:latin typeface="Calibri"/>
                          <a:ea typeface="Calibri"/>
                          <a:cs typeface="Calibri"/>
                          <a:sym typeface="Calibri"/>
                        </a:rPr>
                        <a:t>Evaluate</a:t>
                      </a:r>
                      <a:endParaRPr/>
                    </a:p>
                  </a:txBody>
                  <a:tcPr marL="9525" marR="9525" marT="952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03" name="Google Shape;203;p3"/>
          <p:cNvSpPr txBox="1">
            <a:spLocks noGrp="1"/>
          </p:cNvSpPr>
          <p:nvPr>
            <p:ph type="title"/>
          </p:nvPr>
        </p:nvSpPr>
        <p:spPr>
          <a:xfrm>
            <a:off x="1719416" y="376190"/>
            <a:ext cx="7886700" cy="65250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C00000"/>
              </a:buClr>
              <a:buSzPts val="3600"/>
              <a:buFont typeface="Arial Rounded"/>
              <a:buNone/>
            </a:pPr>
            <a:r>
              <a:rPr lang="en-US" sz="3600" b="1">
                <a:solidFill>
                  <a:srgbClr val="C00000"/>
                </a:solidFill>
                <a:latin typeface="Arial Rounded"/>
                <a:ea typeface="Arial Rounded"/>
                <a:cs typeface="Arial Rounded"/>
                <a:sym typeface="Arial Rounded"/>
              </a:rPr>
              <a:t>COURSE OUTCOMES </a:t>
            </a:r>
            <a:endParaRPr sz="3600" b="1">
              <a:solidFill>
                <a:srgbClr val="C00000"/>
              </a:solidFill>
              <a:latin typeface="Arial Rounded"/>
              <a:ea typeface="Arial Rounded"/>
              <a:cs typeface="Arial Rounded"/>
              <a:sym typeface="Arial Rounded"/>
            </a:endParaRPr>
          </a:p>
        </p:txBody>
      </p:sp>
      <p:sp>
        <p:nvSpPr>
          <p:cNvPr id="204" name="Google Shape;20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205" name="Google Shape;20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Dr. Gitanjali , Asst. Prof., UIE-CSE, Chandigarh University</a:t>
            </a:r>
            <a:endParaRPr dirty="0"/>
          </a:p>
        </p:txBody>
      </p:sp>
      <p:sp>
        <p:nvSpPr>
          <p:cNvPr id="206" name="Google Shape;206;p3"/>
          <p:cNvSpPr/>
          <p:nvPr/>
        </p:nvSpPr>
        <p:spPr>
          <a:xfrm>
            <a:off x="8371907" y="1161441"/>
            <a:ext cx="3602379" cy="4139901"/>
          </a:xfrm>
          <a:prstGeom prst="rect">
            <a:avLst/>
          </a:prstGeom>
          <a:no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7" name="Google Shape;207;p3"/>
          <p:cNvSpPr/>
          <p:nvPr/>
        </p:nvSpPr>
        <p:spPr>
          <a:xfrm>
            <a:off x="9163335" y="1780920"/>
            <a:ext cx="2017712" cy="942975"/>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Will be covered in this lecture</a:t>
            </a:r>
            <a:endParaRPr sz="1400" b="0" i="0" u="none" strike="noStrike" cap="none">
              <a:solidFill>
                <a:srgbClr val="000000"/>
              </a:solidFill>
              <a:latin typeface="Arial"/>
              <a:ea typeface="Arial"/>
              <a:cs typeface="Arial"/>
              <a:sym typeface="Arial"/>
            </a:endParaRPr>
          </a:p>
        </p:txBody>
      </p:sp>
      <p:cxnSp>
        <p:nvCxnSpPr>
          <p:cNvPr id="208" name="Google Shape;208;p3"/>
          <p:cNvCxnSpPr/>
          <p:nvPr/>
        </p:nvCxnSpPr>
        <p:spPr>
          <a:xfrm rot="10800000" flipH="1">
            <a:off x="7924800" y="2340429"/>
            <a:ext cx="1238535" cy="383466"/>
          </a:xfrm>
          <a:prstGeom prst="straightConnector1">
            <a:avLst/>
          </a:prstGeom>
          <a:noFill/>
          <a:ln w="9525" cap="flat" cmpd="sng">
            <a:solidFill>
              <a:srgbClr val="4A7DBA"/>
            </a:solidFill>
            <a:prstDash val="solid"/>
            <a:round/>
            <a:headEnd type="none" w="sm" len="sm"/>
            <a:tailEnd type="triangl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4"/>
          <p:cNvSpPr/>
          <p:nvPr/>
        </p:nvSpPr>
        <p:spPr>
          <a:xfrm>
            <a:off x="381913" y="1925013"/>
            <a:ext cx="11549531" cy="3349956"/>
          </a:xfrm>
          <a:prstGeom prst="rect">
            <a:avLst/>
          </a:prstGeom>
          <a:noFill/>
          <a:ln>
            <a:noFill/>
          </a:ln>
        </p:spPr>
        <p:txBody>
          <a:bodyPr spcFirstLastPara="1" wrap="square" lIns="91425" tIns="45700" rIns="91425" bIns="45700" anchor="t" anchorCtr="0">
            <a:spAutoFit/>
          </a:bodyPr>
          <a:lstStyle/>
          <a:p>
            <a:pPr marL="342900" marR="0" lvl="0" indent="-342900" algn="l" rtl="0">
              <a:lnSpc>
                <a:spcPct val="150000"/>
              </a:lnSpc>
              <a:spcBef>
                <a:spcPts val="0"/>
              </a:spcBef>
              <a:spcAft>
                <a:spcPts val="0"/>
              </a:spcAft>
              <a:buClr>
                <a:schemeClr val="dk1"/>
              </a:buClr>
              <a:buSzPts val="2400"/>
              <a:buFont typeface="Calibri"/>
              <a:buAutoNum type="arabicPeriod"/>
            </a:pPr>
            <a:r>
              <a:rPr lang="en-US" sz="2400" b="0" i="0" u="none" strike="noStrike" cap="none">
                <a:solidFill>
                  <a:schemeClr val="dk1"/>
                </a:solidFill>
                <a:latin typeface="Times New Roman"/>
                <a:ea typeface="Times New Roman"/>
                <a:cs typeface="Times New Roman"/>
                <a:sym typeface="Times New Roman"/>
              </a:rPr>
              <a:t>To have good </a:t>
            </a:r>
            <a:r>
              <a:rPr lang="en-US" sz="2400" b="1" i="0" u="none" strike="noStrike" cap="none">
                <a:solidFill>
                  <a:schemeClr val="dk1"/>
                </a:solidFill>
                <a:latin typeface="Times New Roman"/>
                <a:ea typeface="Times New Roman"/>
                <a:cs typeface="Times New Roman"/>
                <a:sym typeface="Times New Roman"/>
              </a:rPr>
              <a:t>understanding of database system </a:t>
            </a:r>
            <a:r>
              <a:rPr lang="en-US" sz="2400" b="0" i="0" u="none" strike="noStrike" cap="none">
                <a:solidFill>
                  <a:schemeClr val="dk1"/>
                </a:solidFill>
                <a:latin typeface="Times New Roman"/>
                <a:ea typeface="Times New Roman"/>
                <a:cs typeface="Times New Roman"/>
                <a:sym typeface="Times New Roman"/>
              </a:rPr>
              <a:t>concepts and </a:t>
            </a:r>
            <a:r>
              <a:rPr lang="en-US" sz="2400" b="1" i="0" u="none" strike="noStrike" cap="none">
                <a:solidFill>
                  <a:schemeClr val="dk1"/>
                </a:solidFill>
                <a:latin typeface="Times New Roman"/>
                <a:ea typeface="Times New Roman"/>
                <a:cs typeface="Times New Roman"/>
                <a:sym typeface="Times New Roman"/>
              </a:rPr>
              <a:t>design databases </a:t>
            </a:r>
            <a:r>
              <a:rPr lang="en-US" sz="2400" b="0" i="0" u="none" strike="noStrike" cap="none">
                <a:solidFill>
                  <a:schemeClr val="dk1"/>
                </a:solidFill>
                <a:latin typeface="Times New Roman"/>
                <a:ea typeface="Times New Roman"/>
                <a:cs typeface="Times New Roman"/>
                <a:sym typeface="Times New Roman"/>
              </a:rPr>
              <a:t>for different applications.</a:t>
            </a:r>
            <a:endParaRPr/>
          </a:p>
          <a:p>
            <a:pPr marL="342900" marR="0" lvl="0" indent="-342900" algn="l" rtl="0">
              <a:lnSpc>
                <a:spcPct val="150000"/>
              </a:lnSpc>
              <a:spcBef>
                <a:spcPts val="0"/>
              </a:spcBef>
              <a:spcAft>
                <a:spcPts val="0"/>
              </a:spcAft>
              <a:buClr>
                <a:schemeClr val="dk1"/>
              </a:buClr>
              <a:buSzPts val="2400"/>
              <a:buFont typeface="Calibri"/>
              <a:buAutoNum type="arabicPeriod"/>
            </a:pPr>
            <a:r>
              <a:rPr lang="en-US" sz="2400" b="0" i="0" u="none" strike="noStrike" cap="none">
                <a:solidFill>
                  <a:schemeClr val="dk1"/>
                </a:solidFill>
                <a:latin typeface="Times New Roman"/>
                <a:ea typeface="Times New Roman"/>
                <a:cs typeface="Times New Roman"/>
                <a:sym typeface="Times New Roman"/>
              </a:rPr>
              <a:t>To learn how to use a </a:t>
            </a:r>
            <a:r>
              <a:rPr lang="en-US" sz="2400" b="1" i="0" u="none" strike="noStrike" cap="none">
                <a:solidFill>
                  <a:schemeClr val="dk1"/>
                </a:solidFill>
                <a:latin typeface="Times New Roman"/>
                <a:ea typeface="Times New Roman"/>
                <a:cs typeface="Times New Roman"/>
                <a:sym typeface="Times New Roman"/>
              </a:rPr>
              <a:t>DBMS and RDBMS.</a:t>
            </a:r>
            <a:endParaRPr/>
          </a:p>
          <a:p>
            <a:pPr marL="342900" marR="0" lvl="0" indent="-342900" algn="l" rtl="0">
              <a:lnSpc>
                <a:spcPct val="150000"/>
              </a:lnSpc>
              <a:spcBef>
                <a:spcPts val="0"/>
              </a:spcBef>
              <a:spcAft>
                <a:spcPts val="0"/>
              </a:spcAft>
              <a:buClr>
                <a:schemeClr val="dk1"/>
              </a:buClr>
              <a:buSzPts val="2400"/>
              <a:buFont typeface="Calibri"/>
              <a:buAutoNum type="arabicPeriod"/>
            </a:pPr>
            <a:r>
              <a:rPr lang="en-US" sz="2400" b="0" i="0" u="none" strike="noStrike" cap="none">
                <a:solidFill>
                  <a:schemeClr val="dk1"/>
                </a:solidFill>
                <a:latin typeface="Times New Roman"/>
                <a:ea typeface="Times New Roman"/>
                <a:cs typeface="Times New Roman"/>
                <a:sym typeface="Times New Roman"/>
              </a:rPr>
              <a:t>To implement and understand different types of </a:t>
            </a:r>
            <a:r>
              <a:rPr lang="en-US" sz="2400" b="1" i="0" u="none" strike="noStrike" cap="none">
                <a:solidFill>
                  <a:schemeClr val="dk1"/>
                </a:solidFill>
                <a:latin typeface="Times New Roman"/>
                <a:ea typeface="Times New Roman"/>
                <a:cs typeface="Times New Roman"/>
                <a:sym typeface="Times New Roman"/>
              </a:rPr>
              <a:t>DDL, DML and DCL </a:t>
            </a:r>
            <a:r>
              <a:rPr lang="en-US" sz="2400" b="0" i="0" u="none" strike="noStrike" cap="none">
                <a:solidFill>
                  <a:schemeClr val="dk1"/>
                </a:solidFill>
                <a:latin typeface="Times New Roman"/>
                <a:ea typeface="Times New Roman"/>
                <a:cs typeface="Times New Roman"/>
                <a:sym typeface="Times New Roman"/>
              </a:rPr>
              <a:t>statements.</a:t>
            </a:r>
            <a:endParaRPr/>
          </a:p>
          <a:p>
            <a:pPr marL="342900" marR="0" lvl="0" indent="-342900" algn="l" rtl="0">
              <a:lnSpc>
                <a:spcPct val="150000"/>
              </a:lnSpc>
              <a:spcBef>
                <a:spcPts val="0"/>
              </a:spcBef>
              <a:spcAft>
                <a:spcPts val="0"/>
              </a:spcAft>
              <a:buClr>
                <a:schemeClr val="dk1"/>
              </a:buClr>
              <a:buSzPts val="2400"/>
              <a:buFont typeface="Calibri"/>
              <a:buAutoNum type="arabicPeriod"/>
            </a:pPr>
            <a:r>
              <a:rPr lang="en-US" sz="2400" b="0" i="0" u="none" strike="noStrike" cap="none">
                <a:solidFill>
                  <a:schemeClr val="dk1"/>
                </a:solidFill>
                <a:latin typeface="Times New Roman"/>
                <a:ea typeface="Times New Roman"/>
                <a:cs typeface="Times New Roman"/>
                <a:sym typeface="Times New Roman"/>
              </a:rPr>
              <a:t>To understand </a:t>
            </a:r>
            <a:r>
              <a:rPr lang="en-US" sz="2400" b="1" i="0" u="none" strike="noStrike" cap="none">
                <a:solidFill>
                  <a:schemeClr val="dk1"/>
                </a:solidFill>
                <a:latin typeface="Times New Roman"/>
                <a:ea typeface="Times New Roman"/>
                <a:cs typeface="Times New Roman"/>
                <a:sym typeface="Times New Roman"/>
              </a:rPr>
              <a:t>transaction concepts </a:t>
            </a:r>
            <a:r>
              <a:rPr lang="en-US" sz="2400" b="0" i="0" u="none" strike="noStrike" cap="none">
                <a:solidFill>
                  <a:schemeClr val="dk1"/>
                </a:solidFill>
                <a:latin typeface="Times New Roman"/>
                <a:ea typeface="Times New Roman"/>
                <a:cs typeface="Times New Roman"/>
                <a:sym typeface="Times New Roman"/>
              </a:rPr>
              <a:t>related to databases and </a:t>
            </a:r>
            <a:r>
              <a:rPr lang="en-US" sz="2400" b="1" i="0" u="none" strike="noStrike" cap="none">
                <a:solidFill>
                  <a:schemeClr val="dk1"/>
                </a:solidFill>
                <a:latin typeface="Times New Roman"/>
                <a:ea typeface="Times New Roman"/>
                <a:cs typeface="Times New Roman"/>
                <a:sym typeface="Times New Roman"/>
              </a:rPr>
              <a:t>recovery/backup techniques </a:t>
            </a:r>
            <a:r>
              <a:rPr lang="en-US" sz="2400" b="0" i="0" u="none" strike="noStrike" cap="none">
                <a:solidFill>
                  <a:schemeClr val="dk1"/>
                </a:solidFill>
                <a:latin typeface="Times New Roman"/>
                <a:ea typeface="Times New Roman"/>
                <a:cs typeface="Times New Roman"/>
                <a:sym typeface="Times New Roman"/>
              </a:rPr>
              <a:t>required for the proper storage of data.</a:t>
            </a:r>
            <a:endParaRPr/>
          </a:p>
        </p:txBody>
      </p:sp>
      <p:sp>
        <p:nvSpPr>
          <p:cNvPr id="214" name="Google Shape;214;p4"/>
          <p:cNvSpPr/>
          <p:nvPr/>
        </p:nvSpPr>
        <p:spPr>
          <a:xfrm>
            <a:off x="1255771" y="1384771"/>
            <a:ext cx="7354829"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dk1"/>
                </a:solidFill>
                <a:latin typeface="Times New Roman"/>
                <a:ea typeface="Times New Roman"/>
                <a:cs typeface="Times New Roman"/>
                <a:sym typeface="Times New Roman"/>
              </a:rPr>
              <a:t>This course will enable students to,</a:t>
            </a:r>
            <a:endParaRPr/>
          </a:p>
        </p:txBody>
      </p:sp>
      <p:sp>
        <p:nvSpPr>
          <p:cNvPr id="215" name="Google Shape;215;p4"/>
          <p:cNvSpPr txBox="1">
            <a:spLocks noGrp="1"/>
          </p:cNvSpPr>
          <p:nvPr>
            <p:ph type="title"/>
          </p:nvPr>
        </p:nvSpPr>
        <p:spPr>
          <a:xfrm>
            <a:off x="2409648" y="449984"/>
            <a:ext cx="7886700" cy="549381"/>
          </a:xfrm>
          <a:prstGeom prst="rect">
            <a:avLst/>
          </a:prstGeom>
          <a:noFill/>
          <a:ln>
            <a:noFill/>
          </a:ln>
        </p:spPr>
        <p:txBody>
          <a:bodyPr spcFirstLastPara="1" wrap="square" lIns="91425" tIns="45700" rIns="91425" bIns="45700" anchor="ctr" anchorCtr="0">
            <a:spAutoFit/>
          </a:bodyPr>
          <a:lstStyle/>
          <a:p>
            <a:pPr marL="0" lvl="0" indent="0" algn="l" rtl="0">
              <a:lnSpc>
                <a:spcPct val="90000"/>
              </a:lnSpc>
              <a:spcBef>
                <a:spcPts val="0"/>
              </a:spcBef>
              <a:spcAft>
                <a:spcPts val="0"/>
              </a:spcAft>
              <a:buClr>
                <a:srgbClr val="C00000"/>
              </a:buClr>
              <a:buSzPts val="3300"/>
              <a:buFont typeface="Arial Rounded"/>
              <a:buNone/>
            </a:pPr>
            <a:r>
              <a:rPr lang="en-US" sz="3300" b="1" dirty="0">
                <a:solidFill>
                  <a:srgbClr val="C00000"/>
                </a:solidFill>
                <a:latin typeface="Arial Rounded"/>
                <a:ea typeface="Arial Rounded"/>
                <a:cs typeface="Arial Rounded"/>
                <a:sym typeface="Arial Rounded"/>
              </a:rPr>
              <a:t>COURSE OBJECTIVES </a:t>
            </a:r>
            <a:endParaRPr dirty="0"/>
          </a:p>
        </p:txBody>
      </p:sp>
      <p:sp>
        <p:nvSpPr>
          <p:cNvPr id="216" name="Google Shape;216;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217" name="Google Shape;217;p4"/>
          <p:cNvSpPr txBox="1">
            <a:spLocks noGrp="1"/>
          </p:cNvSpPr>
          <p:nvPr>
            <p:ph type="ftr" idx="11"/>
          </p:nvPr>
        </p:nvSpPr>
        <p:spPr>
          <a:xfrm>
            <a:off x="3948545" y="6231225"/>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5"/>
          <p:cNvSpPr/>
          <p:nvPr/>
        </p:nvSpPr>
        <p:spPr>
          <a:xfrm>
            <a:off x="8013249" y="2047791"/>
            <a:ext cx="2194187" cy="2540303"/>
          </a:xfrm>
          <a:custGeom>
            <a:avLst/>
            <a:gdLst/>
            <a:ahLst/>
            <a:cxnLst/>
            <a:rect l="l" t="t" r="r" b="b"/>
            <a:pathLst>
              <a:path w="2340466" h="2709657" extrusionOk="0">
                <a:moveTo>
                  <a:pt x="0" y="0"/>
                </a:moveTo>
                <a:lnTo>
                  <a:pt x="2340466" y="0"/>
                </a:lnTo>
                <a:lnTo>
                  <a:pt x="2340466" y="2709657"/>
                </a:lnTo>
                <a:lnTo>
                  <a:pt x="0" y="2709657"/>
                </a:lnTo>
                <a:lnTo>
                  <a:pt x="0" y="0"/>
                </a:lnTo>
                <a:close/>
              </a:path>
            </a:pathLst>
          </a:custGeom>
          <a:blipFill rotWithShape="1">
            <a:blip r:embed="rId3">
              <a:alphaModFix/>
            </a:blip>
            <a:stretch>
              <a:fillRect/>
            </a:stretch>
          </a:blipFill>
          <a:ln>
            <a:noFill/>
          </a:ln>
        </p:spPr>
      </p:sp>
      <p:sp>
        <p:nvSpPr>
          <p:cNvPr id="227" name="Google Shape;227;p5"/>
          <p:cNvSpPr txBox="1"/>
          <p:nvPr/>
        </p:nvSpPr>
        <p:spPr>
          <a:xfrm>
            <a:off x="2152650" y="659011"/>
            <a:ext cx="7886700" cy="1000274"/>
          </a:xfrm>
          <a:prstGeom prst="rect">
            <a:avLst/>
          </a:prstGeom>
          <a:noFill/>
          <a:ln>
            <a:noFill/>
          </a:ln>
        </p:spPr>
        <p:txBody>
          <a:bodyPr spcFirstLastPara="1" wrap="square" lIns="0" tIns="0" rIns="0" bIns="0" anchor="t" anchorCtr="0">
            <a:spAutoFit/>
          </a:bodyPr>
          <a:lstStyle/>
          <a:p>
            <a:pPr marL="0" marR="0" lvl="0" indent="0" algn="ctr" rtl="0">
              <a:lnSpc>
                <a:spcPct val="120024"/>
              </a:lnSpc>
              <a:spcBef>
                <a:spcPts val="0"/>
              </a:spcBef>
              <a:spcAft>
                <a:spcPts val="0"/>
              </a:spcAft>
              <a:buNone/>
            </a:pPr>
            <a:r>
              <a:rPr lang="en-US" sz="3281" b="1">
                <a:solidFill>
                  <a:srgbClr val="C00000"/>
                </a:solidFill>
                <a:latin typeface="Arimo"/>
                <a:ea typeface="Arimo"/>
                <a:cs typeface="Arimo"/>
                <a:sym typeface="Arimo"/>
              </a:rPr>
              <a:t>Topics covered</a:t>
            </a:r>
            <a:endParaRPr/>
          </a:p>
          <a:p>
            <a:pPr marL="0" marR="0" lvl="0" indent="0" algn="ctr" rtl="0">
              <a:lnSpc>
                <a:spcPct val="120024"/>
              </a:lnSpc>
              <a:spcBef>
                <a:spcPts val="0"/>
              </a:spcBef>
              <a:spcAft>
                <a:spcPts val="0"/>
              </a:spcAft>
              <a:buNone/>
            </a:pPr>
            <a:r>
              <a:rPr lang="en-US" sz="3281" b="1">
                <a:solidFill>
                  <a:srgbClr val="C00000"/>
                </a:solidFill>
                <a:latin typeface="Arimo"/>
                <a:ea typeface="Arimo"/>
                <a:cs typeface="Arimo"/>
                <a:sym typeface="Arimo"/>
              </a:rPr>
              <a:t> </a:t>
            </a:r>
            <a:endParaRPr/>
          </a:p>
        </p:txBody>
      </p:sp>
      <p:sp>
        <p:nvSpPr>
          <p:cNvPr id="228" name="Google Shape;228;p5"/>
          <p:cNvSpPr txBox="1"/>
          <p:nvPr/>
        </p:nvSpPr>
        <p:spPr>
          <a:xfrm>
            <a:off x="1483507" y="2047791"/>
            <a:ext cx="3981122" cy="666849"/>
          </a:xfrm>
          <a:prstGeom prst="rect">
            <a:avLst/>
          </a:prstGeom>
          <a:noFill/>
          <a:ln>
            <a:noFill/>
          </a:ln>
        </p:spPr>
        <p:txBody>
          <a:bodyPr spcFirstLastPara="1" wrap="square" lIns="0" tIns="0" rIns="0" bIns="0" anchor="t" anchorCtr="0">
            <a:spAutoFit/>
          </a:bodyPr>
          <a:lstStyle/>
          <a:p>
            <a:pPr marL="0" marR="0" lvl="0" indent="0" algn="ctr" rtl="0">
              <a:lnSpc>
                <a:spcPct val="107833"/>
              </a:lnSpc>
              <a:spcBef>
                <a:spcPts val="0"/>
              </a:spcBef>
              <a:spcAft>
                <a:spcPts val="0"/>
              </a:spcAft>
              <a:buNone/>
            </a:pPr>
            <a:r>
              <a:rPr lang="en-US" sz="2400" b="1" i="0" u="none" strike="noStrike" cap="none">
                <a:solidFill>
                  <a:schemeClr val="dk1"/>
                </a:solidFill>
                <a:latin typeface="Arial"/>
                <a:ea typeface="Arial"/>
                <a:cs typeface="Arial"/>
                <a:sym typeface="Arial"/>
              </a:rPr>
              <a:t>Control Structures </a:t>
            </a:r>
            <a:r>
              <a:rPr lang="en-US" sz="2400" b="1">
                <a:solidFill>
                  <a:srgbClr val="000000"/>
                </a:solidFill>
                <a:latin typeface="Arial"/>
                <a:ea typeface="Arial"/>
                <a:cs typeface="Arial"/>
                <a:sym typeface="Arial"/>
              </a:rPr>
              <a:t>: </a:t>
            </a:r>
            <a:endParaRPr/>
          </a:p>
          <a:p>
            <a:pPr marL="0" marR="0" lvl="0" indent="0" algn="ctr" rtl="0">
              <a:lnSpc>
                <a:spcPct val="107833"/>
              </a:lnSpc>
              <a:spcBef>
                <a:spcPts val="0"/>
              </a:spcBef>
              <a:spcAft>
                <a:spcPts val="0"/>
              </a:spcAft>
              <a:buNone/>
            </a:pPr>
            <a:r>
              <a:rPr lang="en-US" sz="2400" b="1">
                <a:solidFill>
                  <a:srgbClr val="000000"/>
                </a:solidFill>
                <a:latin typeface="Arial"/>
                <a:ea typeface="Arial"/>
                <a:cs typeface="Arial"/>
                <a:sym typeface="Arial"/>
              </a:rPr>
              <a:t> </a:t>
            </a:r>
            <a:endParaRPr/>
          </a:p>
        </p:txBody>
      </p:sp>
      <p:sp>
        <p:nvSpPr>
          <p:cNvPr id="229" name="Google Shape;229;p5"/>
          <p:cNvSpPr txBox="1"/>
          <p:nvPr/>
        </p:nvSpPr>
        <p:spPr>
          <a:xfrm>
            <a:off x="2060449" y="2512114"/>
            <a:ext cx="5147513" cy="1455783"/>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endParaRPr sz="1875">
              <a:solidFill>
                <a:srgbClr val="000000"/>
              </a:solidFill>
              <a:latin typeface="Arial"/>
              <a:ea typeface="Arial"/>
              <a:cs typeface="Arial"/>
              <a:sym typeface="Arial"/>
            </a:endParaRPr>
          </a:p>
          <a:p>
            <a:pPr marL="0" marR="0" lvl="0" indent="0" algn="just" rtl="0">
              <a:lnSpc>
                <a:spcPct val="120000"/>
              </a:lnSpc>
              <a:spcBef>
                <a:spcPts val="0"/>
              </a:spcBef>
              <a:spcAft>
                <a:spcPts val="0"/>
              </a:spcAft>
              <a:buNone/>
            </a:pPr>
            <a:r>
              <a:rPr lang="en-US" sz="1875">
                <a:solidFill>
                  <a:srgbClr val="000000"/>
                </a:solidFill>
                <a:latin typeface="Arial"/>
                <a:ea typeface="Arial"/>
                <a:cs typeface="Arial"/>
                <a:sym typeface="Arial"/>
              </a:rPr>
              <a:t>Introduction to conditional control, Iterative control and sequential control statements, Cursors, Views. </a:t>
            </a:r>
            <a:endParaRPr sz="1875">
              <a:solidFill>
                <a:srgbClr val="000000"/>
              </a:solidFill>
              <a:latin typeface="Arial"/>
              <a:ea typeface="Arial"/>
              <a:cs typeface="Arial"/>
              <a:sym typeface="Arial"/>
            </a:endParaRPr>
          </a:p>
          <a:p>
            <a:pPr marL="0" marR="0" lvl="0" indent="0" algn="just" rtl="0">
              <a:lnSpc>
                <a:spcPct val="120000"/>
              </a:lnSpc>
              <a:spcBef>
                <a:spcPts val="0"/>
              </a:spcBef>
              <a:spcAft>
                <a:spcPts val="0"/>
              </a:spcAft>
              <a:buNone/>
            </a:pPr>
            <a:endParaRPr sz="1875">
              <a:solidFill>
                <a:srgbClr val="000000"/>
              </a:solidFill>
              <a:latin typeface="Arial"/>
              <a:ea typeface="Arial"/>
              <a:cs typeface="Arial"/>
              <a:sym typeface="Arial"/>
            </a:endParaRPr>
          </a:p>
        </p:txBody>
      </p:sp>
      <p:sp>
        <p:nvSpPr>
          <p:cNvPr id="230" name="Google Shape;230;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231" name="Google Shape;231;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7" name="Google Shape;237;p6"/>
          <p:cNvSpPr txBox="1"/>
          <p:nvPr/>
        </p:nvSpPr>
        <p:spPr>
          <a:xfrm>
            <a:off x="2305029" y="694388"/>
            <a:ext cx="8156963" cy="687111"/>
          </a:xfrm>
          <a:prstGeom prst="rect">
            <a:avLst/>
          </a:prstGeom>
          <a:noFill/>
          <a:ln>
            <a:noFill/>
          </a:ln>
        </p:spPr>
        <p:txBody>
          <a:bodyPr spcFirstLastPara="1" wrap="square" lIns="0" tIns="0" rIns="0" bIns="0" anchor="t" anchorCtr="0">
            <a:spAutoFit/>
          </a:bodyPr>
          <a:lstStyle/>
          <a:p>
            <a:pPr marL="0" marR="0" lvl="0" indent="0" algn="ctr" rtl="0">
              <a:lnSpc>
                <a:spcPct val="107982"/>
              </a:lnSpc>
              <a:spcBef>
                <a:spcPts val="0"/>
              </a:spcBef>
              <a:spcAft>
                <a:spcPts val="0"/>
              </a:spcAft>
              <a:buNone/>
            </a:pPr>
            <a:r>
              <a:rPr lang="en-US" sz="4134" b="1" dirty="0">
                <a:solidFill>
                  <a:srgbClr val="C00000"/>
                </a:solidFill>
                <a:latin typeface="Times"/>
                <a:ea typeface="Times"/>
                <a:cs typeface="Times"/>
                <a:sym typeface="Times"/>
              </a:rPr>
              <a:t>PL/SQL Conditional Statements</a:t>
            </a:r>
            <a:endParaRPr dirty="0"/>
          </a:p>
        </p:txBody>
      </p:sp>
      <p:sp>
        <p:nvSpPr>
          <p:cNvPr id="238" name="Google Shape;238;p6"/>
          <p:cNvSpPr txBox="1"/>
          <p:nvPr/>
        </p:nvSpPr>
        <p:spPr>
          <a:xfrm>
            <a:off x="1570616" y="1497579"/>
            <a:ext cx="8498542" cy="3471463"/>
          </a:xfrm>
          <a:prstGeom prst="rect">
            <a:avLst/>
          </a:prstGeom>
          <a:noFill/>
          <a:ln>
            <a:noFill/>
          </a:ln>
        </p:spPr>
        <p:txBody>
          <a:bodyPr spcFirstLastPara="1" wrap="square" lIns="0" tIns="0" rIns="0" bIns="0" anchor="t" anchorCtr="0">
            <a:spAutoFit/>
          </a:bodyPr>
          <a:lstStyle/>
          <a:p>
            <a:pPr marL="0" marR="0" lvl="0" indent="0" algn="just" rtl="0">
              <a:lnSpc>
                <a:spcPct val="119991"/>
              </a:lnSpc>
              <a:spcBef>
                <a:spcPts val="0"/>
              </a:spcBef>
              <a:spcAft>
                <a:spcPts val="0"/>
              </a:spcAft>
              <a:buNone/>
            </a:pPr>
            <a:r>
              <a:rPr lang="en-US" sz="1880" dirty="0">
                <a:solidFill>
                  <a:srgbClr val="000000"/>
                </a:solidFill>
                <a:latin typeface="Arial"/>
                <a:ea typeface="Arial"/>
                <a:cs typeface="Arial"/>
                <a:sym typeface="Arial"/>
              </a:rPr>
              <a:t>PL/SQL (Procedural Language/Structured Query Language) is an extension of SQL used in Oracle databases to write procedural code. It includes various conditional statements that allow developers to execute different blocks of code based on specific conditions. Decision-making statements in programming languages decide the direction of the flow of program execution. Conditional Statements available in PL/SQL are defined below:</a:t>
            </a:r>
            <a:endParaRPr sz="1880" dirty="0"/>
          </a:p>
          <a:p>
            <a:pPr marL="518334" marR="0" lvl="1" indent="-259167" algn="just" rtl="0">
              <a:lnSpc>
                <a:spcPct val="119991"/>
              </a:lnSpc>
              <a:spcBef>
                <a:spcPts val="0"/>
              </a:spcBef>
              <a:spcAft>
                <a:spcPts val="0"/>
              </a:spcAft>
              <a:buClr>
                <a:srgbClr val="000000"/>
              </a:buClr>
              <a:buSzPts val="2401"/>
              <a:buFont typeface="Arial"/>
              <a:buChar char="•"/>
            </a:pPr>
            <a:r>
              <a:rPr lang="en-US" sz="1880" b="0" i="0" u="none" strike="noStrike" cap="none" dirty="0">
                <a:solidFill>
                  <a:srgbClr val="000000"/>
                </a:solidFill>
                <a:latin typeface="Arial"/>
                <a:ea typeface="Arial"/>
                <a:cs typeface="Arial"/>
                <a:sym typeface="Arial"/>
              </a:rPr>
              <a:t> IF THEN</a:t>
            </a:r>
            <a:endParaRPr sz="1880" dirty="0"/>
          </a:p>
          <a:p>
            <a:pPr marL="518334" marR="0" lvl="1" indent="-259167" algn="just" rtl="0">
              <a:lnSpc>
                <a:spcPct val="119991"/>
              </a:lnSpc>
              <a:spcBef>
                <a:spcPts val="0"/>
              </a:spcBef>
              <a:spcAft>
                <a:spcPts val="0"/>
              </a:spcAft>
              <a:buClr>
                <a:srgbClr val="000000"/>
              </a:buClr>
              <a:buSzPts val="2401"/>
              <a:buFont typeface="Arial"/>
              <a:buChar char="•"/>
            </a:pPr>
            <a:r>
              <a:rPr lang="en-US" sz="1880" b="0" i="0" u="none" strike="noStrike" cap="none" dirty="0">
                <a:solidFill>
                  <a:srgbClr val="000000"/>
                </a:solidFill>
                <a:latin typeface="Arial"/>
                <a:ea typeface="Arial"/>
                <a:cs typeface="Arial"/>
                <a:sym typeface="Arial"/>
              </a:rPr>
              <a:t> IF THEN ELSE </a:t>
            </a:r>
            <a:endParaRPr sz="1880" dirty="0"/>
          </a:p>
          <a:p>
            <a:pPr marL="518334" marR="0" lvl="1" indent="-259167" algn="just" rtl="0">
              <a:lnSpc>
                <a:spcPct val="119991"/>
              </a:lnSpc>
              <a:spcBef>
                <a:spcPts val="0"/>
              </a:spcBef>
              <a:spcAft>
                <a:spcPts val="0"/>
              </a:spcAft>
              <a:buClr>
                <a:srgbClr val="000000"/>
              </a:buClr>
              <a:buSzPts val="2401"/>
              <a:buFont typeface="Arial"/>
              <a:buChar char="•"/>
            </a:pPr>
            <a:r>
              <a:rPr lang="en-US" sz="1880" b="0" i="0" u="none" strike="noStrike" cap="none" dirty="0">
                <a:solidFill>
                  <a:srgbClr val="000000"/>
                </a:solidFill>
                <a:latin typeface="Arial"/>
                <a:ea typeface="Arial"/>
                <a:cs typeface="Arial"/>
                <a:sym typeface="Arial"/>
              </a:rPr>
              <a:t>NESTED-IF-THEN</a:t>
            </a:r>
            <a:endParaRPr sz="1880" dirty="0"/>
          </a:p>
          <a:p>
            <a:pPr marL="518334" marR="0" lvl="1" indent="-259167" algn="just" rtl="0">
              <a:lnSpc>
                <a:spcPct val="119991"/>
              </a:lnSpc>
              <a:spcBef>
                <a:spcPts val="0"/>
              </a:spcBef>
              <a:spcAft>
                <a:spcPts val="0"/>
              </a:spcAft>
              <a:buClr>
                <a:srgbClr val="000000"/>
              </a:buClr>
              <a:buSzPts val="2401"/>
              <a:buFont typeface="Arial"/>
              <a:buChar char="•"/>
            </a:pPr>
            <a:r>
              <a:rPr lang="en-US" sz="1880" b="0" i="0" u="none" strike="noStrike" cap="none" dirty="0">
                <a:solidFill>
                  <a:srgbClr val="000000"/>
                </a:solidFill>
                <a:latin typeface="Arial"/>
                <a:ea typeface="Arial"/>
                <a:cs typeface="Arial"/>
                <a:sym typeface="Arial"/>
              </a:rPr>
              <a:t> IF THEN ELSIF-THEN-ELSE Ladder</a:t>
            </a:r>
            <a:endParaRPr sz="1880" dirty="0"/>
          </a:p>
        </p:txBody>
      </p:sp>
      <p:sp>
        <p:nvSpPr>
          <p:cNvPr id="239" name="Google Shape;239;p6"/>
          <p:cNvSpPr/>
          <p:nvPr/>
        </p:nvSpPr>
        <p:spPr>
          <a:xfrm>
            <a:off x="8259029" y="3391209"/>
            <a:ext cx="2662826" cy="2952141"/>
          </a:xfrm>
          <a:custGeom>
            <a:avLst/>
            <a:gdLst/>
            <a:ahLst/>
            <a:cxnLst/>
            <a:rect l="l" t="t" r="r" b="b"/>
            <a:pathLst>
              <a:path w="3994239" h="4428211" extrusionOk="0">
                <a:moveTo>
                  <a:pt x="0" y="0"/>
                </a:moveTo>
                <a:lnTo>
                  <a:pt x="3994239" y="0"/>
                </a:lnTo>
                <a:lnTo>
                  <a:pt x="3994239" y="4428211"/>
                </a:lnTo>
                <a:lnTo>
                  <a:pt x="0" y="4428211"/>
                </a:lnTo>
                <a:lnTo>
                  <a:pt x="0" y="0"/>
                </a:lnTo>
                <a:close/>
              </a:path>
            </a:pathLst>
          </a:custGeom>
          <a:blipFill rotWithShape="1">
            <a:blip r:embed="rId3">
              <a:alphaModFix/>
            </a:blip>
            <a:stretch>
              <a:fillRect l="-41627" r="-27095"/>
            </a:stretch>
          </a:blipFill>
          <a:ln>
            <a:noFill/>
          </a:ln>
        </p:spPr>
      </p:sp>
      <p:sp>
        <p:nvSpPr>
          <p:cNvPr id="240" name="Google Shape;240;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241" name="Google Shape;241;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7" name="Google Shape;247;p7"/>
          <p:cNvSpPr txBox="1"/>
          <p:nvPr/>
        </p:nvSpPr>
        <p:spPr>
          <a:xfrm>
            <a:off x="2209800" y="587245"/>
            <a:ext cx="7711739" cy="687111"/>
          </a:xfrm>
          <a:prstGeom prst="rect">
            <a:avLst/>
          </a:prstGeom>
          <a:noFill/>
          <a:ln>
            <a:noFill/>
          </a:ln>
        </p:spPr>
        <p:txBody>
          <a:bodyPr spcFirstLastPara="1" wrap="square" lIns="0" tIns="0" rIns="0" bIns="0" anchor="t" anchorCtr="0">
            <a:spAutoFit/>
          </a:bodyPr>
          <a:lstStyle/>
          <a:p>
            <a:pPr marL="0" marR="0" lvl="0" indent="0" algn="ctr" rtl="0">
              <a:lnSpc>
                <a:spcPct val="107982"/>
              </a:lnSpc>
              <a:spcBef>
                <a:spcPts val="0"/>
              </a:spcBef>
              <a:spcAft>
                <a:spcPts val="0"/>
              </a:spcAft>
              <a:buNone/>
            </a:pPr>
            <a:r>
              <a:rPr lang="en-US" sz="4134" b="1" dirty="0">
                <a:solidFill>
                  <a:srgbClr val="C00000"/>
                </a:solidFill>
                <a:latin typeface="Times"/>
                <a:ea typeface="Times"/>
                <a:cs typeface="Times"/>
                <a:sym typeface="Times"/>
              </a:rPr>
              <a:t>PL/SQL Conditional Statements</a:t>
            </a:r>
            <a:endParaRPr dirty="0"/>
          </a:p>
        </p:txBody>
      </p:sp>
      <p:sp>
        <p:nvSpPr>
          <p:cNvPr id="248" name="Google Shape;248;p7"/>
          <p:cNvSpPr txBox="1"/>
          <p:nvPr/>
        </p:nvSpPr>
        <p:spPr>
          <a:xfrm>
            <a:off x="1484556" y="1445155"/>
            <a:ext cx="7982174" cy="3567643"/>
          </a:xfrm>
          <a:prstGeom prst="rect">
            <a:avLst/>
          </a:prstGeom>
          <a:noFill/>
          <a:ln>
            <a:noFill/>
          </a:ln>
        </p:spPr>
        <p:txBody>
          <a:bodyPr spcFirstLastPara="1" wrap="square" lIns="0" tIns="0" rIns="0" bIns="0" anchor="t" anchorCtr="0">
            <a:spAutoFit/>
          </a:bodyPr>
          <a:lstStyle/>
          <a:p>
            <a:pPr marL="0" marR="0" lvl="0" indent="0" algn="just" rtl="0">
              <a:lnSpc>
                <a:spcPct val="119991"/>
              </a:lnSpc>
              <a:spcBef>
                <a:spcPts val="0"/>
              </a:spcBef>
              <a:spcAft>
                <a:spcPts val="0"/>
              </a:spcAft>
              <a:buNone/>
            </a:pPr>
            <a:r>
              <a:rPr lang="en-US" sz="1880" b="1" dirty="0">
                <a:solidFill>
                  <a:srgbClr val="000000"/>
                </a:solidFill>
                <a:latin typeface="Arial"/>
                <a:ea typeface="Arial"/>
                <a:cs typeface="Arial"/>
                <a:sym typeface="Arial"/>
              </a:rPr>
              <a:t>1. IF THEN</a:t>
            </a:r>
            <a:endParaRPr sz="1880" dirty="0"/>
          </a:p>
          <a:p>
            <a:pPr marL="0" marR="0" lvl="0" indent="0" algn="just" rtl="0">
              <a:lnSpc>
                <a:spcPct val="119991"/>
              </a:lnSpc>
              <a:spcBef>
                <a:spcPts val="0"/>
              </a:spcBef>
              <a:spcAft>
                <a:spcPts val="0"/>
              </a:spcAft>
              <a:buNone/>
            </a:pPr>
            <a:r>
              <a:rPr lang="en-US" sz="1880" dirty="0">
                <a:solidFill>
                  <a:srgbClr val="000000"/>
                </a:solidFill>
                <a:latin typeface="Arial"/>
                <a:ea typeface="Arial"/>
                <a:cs typeface="Arial"/>
                <a:sym typeface="Arial"/>
              </a:rPr>
              <a:t> If then the statement is the simplest decision-making statement. It is used to decide whether a certain statement or block of statements will be executed or not </a:t>
            </a:r>
            <a:r>
              <a:rPr lang="en-US" sz="1880" dirty="0" err="1">
                <a:solidFill>
                  <a:srgbClr val="000000"/>
                </a:solidFill>
                <a:latin typeface="Arial"/>
                <a:ea typeface="Arial"/>
                <a:cs typeface="Arial"/>
                <a:sym typeface="Arial"/>
              </a:rPr>
              <a:t>i.e</a:t>
            </a:r>
            <a:r>
              <a:rPr lang="en-US" sz="1880" dirty="0">
                <a:solidFill>
                  <a:srgbClr val="000000"/>
                </a:solidFill>
                <a:latin typeface="Arial"/>
                <a:ea typeface="Arial"/>
                <a:cs typeface="Arial"/>
                <a:sym typeface="Arial"/>
              </a:rPr>
              <a:t> if a certain condition is true then a block of statement is executed otherwise not. </a:t>
            </a:r>
            <a:endParaRPr sz="1880" dirty="0"/>
          </a:p>
          <a:p>
            <a:pPr marL="0" marR="0" lvl="0" indent="0" algn="just" rtl="0">
              <a:lnSpc>
                <a:spcPct val="119991"/>
              </a:lnSpc>
              <a:spcBef>
                <a:spcPts val="0"/>
              </a:spcBef>
              <a:spcAft>
                <a:spcPts val="0"/>
              </a:spcAft>
              <a:buNone/>
            </a:pPr>
            <a:r>
              <a:rPr lang="en-US" sz="1880" dirty="0">
                <a:solidFill>
                  <a:srgbClr val="000000"/>
                </a:solidFill>
                <a:latin typeface="Arial"/>
                <a:ea typeface="Arial"/>
                <a:cs typeface="Arial"/>
                <a:sym typeface="Arial"/>
              </a:rPr>
              <a:t>Syntax: </a:t>
            </a:r>
            <a:endParaRPr sz="1880" dirty="0"/>
          </a:p>
          <a:p>
            <a:pPr marL="0" marR="0" lvl="0" indent="0" algn="just" rtl="0">
              <a:lnSpc>
                <a:spcPct val="119991"/>
              </a:lnSpc>
              <a:spcBef>
                <a:spcPts val="0"/>
              </a:spcBef>
              <a:spcAft>
                <a:spcPts val="0"/>
              </a:spcAft>
              <a:buNone/>
            </a:pPr>
            <a:r>
              <a:rPr lang="en-US" sz="1880" dirty="0">
                <a:solidFill>
                  <a:srgbClr val="000000"/>
                </a:solidFill>
                <a:latin typeface="Arial"/>
                <a:ea typeface="Arial"/>
                <a:cs typeface="Arial"/>
                <a:sym typeface="Arial"/>
              </a:rPr>
              <a:t>if condition then </a:t>
            </a:r>
            <a:endParaRPr sz="1880" dirty="0"/>
          </a:p>
          <a:p>
            <a:pPr marL="0" marR="0" lvl="0" indent="0" algn="just" rtl="0">
              <a:lnSpc>
                <a:spcPct val="119991"/>
              </a:lnSpc>
              <a:spcBef>
                <a:spcPts val="0"/>
              </a:spcBef>
              <a:spcAft>
                <a:spcPts val="0"/>
              </a:spcAft>
              <a:buNone/>
            </a:pPr>
            <a:r>
              <a:rPr lang="en-US" sz="1880" dirty="0">
                <a:solidFill>
                  <a:srgbClr val="000000"/>
                </a:solidFill>
                <a:latin typeface="Arial"/>
                <a:ea typeface="Arial"/>
                <a:cs typeface="Arial"/>
                <a:sym typeface="Arial"/>
              </a:rPr>
              <a:t>-- do something </a:t>
            </a:r>
            <a:endParaRPr sz="1880" dirty="0"/>
          </a:p>
          <a:p>
            <a:pPr marL="0" marR="0" lvl="0" indent="0" algn="just" rtl="0">
              <a:lnSpc>
                <a:spcPct val="119991"/>
              </a:lnSpc>
              <a:spcBef>
                <a:spcPts val="0"/>
              </a:spcBef>
              <a:spcAft>
                <a:spcPts val="0"/>
              </a:spcAft>
              <a:buNone/>
            </a:pPr>
            <a:r>
              <a:rPr lang="en-US" sz="1880" dirty="0">
                <a:solidFill>
                  <a:srgbClr val="000000"/>
                </a:solidFill>
                <a:latin typeface="Arial"/>
                <a:ea typeface="Arial"/>
                <a:cs typeface="Arial"/>
                <a:sym typeface="Arial"/>
              </a:rPr>
              <a:t>end if;</a:t>
            </a:r>
            <a:endParaRPr sz="1880" dirty="0"/>
          </a:p>
          <a:p>
            <a:pPr marL="0" marR="0" lvl="0" indent="0" algn="just" rtl="0">
              <a:lnSpc>
                <a:spcPct val="119991"/>
              </a:lnSpc>
              <a:spcBef>
                <a:spcPts val="0"/>
              </a:spcBef>
              <a:spcAft>
                <a:spcPts val="0"/>
              </a:spcAft>
              <a:buNone/>
            </a:pPr>
            <a:endParaRPr sz="2401" dirty="0">
              <a:solidFill>
                <a:srgbClr val="000000"/>
              </a:solidFill>
              <a:latin typeface="Arial"/>
              <a:ea typeface="Arial"/>
              <a:cs typeface="Arial"/>
              <a:sym typeface="Arial"/>
            </a:endParaRPr>
          </a:p>
        </p:txBody>
      </p:sp>
      <p:sp>
        <p:nvSpPr>
          <p:cNvPr id="249" name="Google Shape;249;p7"/>
          <p:cNvSpPr/>
          <p:nvPr/>
        </p:nvSpPr>
        <p:spPr>
          <a:xfrm>
            <a:off x="9921539" y="462629"/>
            <a:ext cx="2178609" cy="3552221"/>
          </a:xfrm>
          <a:custGeom>
            <a:avLst/>
            <a:gdLst/>
            <a:ahLst/>
            <a:cxnLst/>
            <a:rect l="l" t="t" r="r" b="b"/>
            <a:pathLst>
              <a:path w="3267913" h="5328332" extrusionOk="0">
                <a:moveTo>
                  <a:pt x="0" y="0"/>
                </a:moveTo>
                <a:lnTo>
                  <a:pt x="3267913" y="0"/>
                </a:lnTo>
                <a:lnTo>
                  <a:pt x="3267913" y="5328332"/>
                </a:lnTo>
                <a:lnTo>
                  <a:pt x="0" y="5328332"/>
                </a:lnTo>
                <a:lnTo>
                  <a:pt x="0" y="0"/>
                </a:lnTo>
                <a:close/>
              </a:path>
            </a:pathLst>
          </a:custGeom>
          <a:blipFill rotWithShape="1">
            <a:blip r:embed="rId3">
              <a:alphaModFix/>
            </a:blip>
            <a:stretch>
              <a:fillRect t="-8374"/>
            </a:stretch>
          </a:blipFill>
          <a:ln>
            <a:noFill/>
          </a:ln>
        </p:spPr>
      </p:sp>
      <p:sp>
        <p:nvSpPr>
          <p:cNvPr id="250" name="Google Shape;250;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251" name="Google Shape;251;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7" name="Google Shape;257;p8"/>
          <p:cNvSpPr txBox="1"/>
          <p:nvPr/>
        </p:nvSpPr>
        <p:spPr>
          <a:xfrm>
            <a:off x="2464570" y="439416"/>
            <a:ext cx="8156963" cy="687111"/>
          </a:xfrm>
          <a:prstGeom prst="rect">
            <a:avLst/>
          </a:prstGeom>
          <a:noFill/>
          <a:ln>
            <a:noFill/>
          </a:ln>
        </p:spPr>
        <p:txBody>
          <a:bodyPr spcFirstLastPara="1" wrap="square" lIns="0" tIns="0" rIns="0" bIns="0" anchor="t" anchorCtr="0">
            <a:spAutoFit/>
          </a:bodyPr>
          <a:lstStyle/>
          <a:p>
            <a:pPr marL="0" marR="0" lvl="0" indent="0" algn="ctr" rtl="0">
              <a:lnSpc>
                <a:spcPct val="107982"/>
              </a:lnSpc>
              <a:spcBef>
                <a:spcPts val="0"/>
              </a:spcBef>
              <a:spcAft>
                <a:spcPts val="0"/>
              </a:spcAft>
              <a:buNone/>
            </a:pPr>
            <a:r>
              <a:rPr lang="en-US" sz="4134" b="1" dirty="0">
                <a:solidFill>
                  <a:srgbClr val="C00000"/>
                </a:solidFill>
                <a:latin typeface="Times"/>
                <a:ea typeface="Times"/>
                <a:cs typeface="Times"/>
                <a:sym typeface="Times"/>
              </a:rPr>
              <a:t>PL/SQL Conditional Statements</a:t>
            </a:r>
            <a:endParaRPr dirty="0"/>
          </a:p>
        </p:txBody>
      </p:sp>
      <p:sp>
        <p:nvSpPr>
          <p:cNvPr id="258" name="Google Shape;258;p8"/>
          <p:cNvSpPr/>
          <p:nvPr/>
        </p:nvSpPr>
        <p:spPr>
          <a:xfrm>
            <a:off x="5020577" y="1310004"/>
            <a:ext cx="6650979" cy="4668134"/>
          </a:xfrm>
          <a:custGeom>
            <a:avLst/>
            <a:gdLst/>
            <a:ahLst/>
            <a:cxnLst/>
            <a:rect l="l" t="t" r="r" b="b"/>
            <a:pathLst>
              <a:path w="9976469" h="7002201" extrusionOk="0">
                <a:moveTo>
                  <a:pt x="0" y="0"/>
                </a:moveTo>
                <a:lnTo>
                  <a:pt x="9976468" y="0"/>
                </a:lnTo>
                <a:lnTo>
                  <a:pt x="9976468" y="7002201"/>
                </a:lnTo>
                <a:lnTo>
                  <a:pt x="0" y="7002201"/>
                </a:lnTo>
                <a:lnTo>
                  <a:pt x="0" y="0"/>
                </a:lnTo>
                <a:close/>
              </a:path>
            </a:pathLst>
          </a:custGeom>
          <a:blipFill rotWithShape="1">
            <a:blip r:embed="rId3">
              <a:alphaModFix/>
            </a:blip>
            <a:stretch>
              <a:fillRect/>
            </a:stretch>
          </a:blipFill>
          <a:ln>
            <a:noFill/>
          </a:ln>
        </p:spPr>
      </p:sp>
      <p:sp>
        <p:nvSpPr>
          <p:cNvPr id="259" name="Google Shape;259;p8"/>
          <p:cNvSpPr txBox="1"/>
          <p:nvPr/>
        </p:nvSpPr>
        <p:spPr>
          <a:xfrm>
            <a:off x="1140310" y="1455913"/>
            <a:ext cx="3785083" cy="2082878"/>
          </a:xfrm>
          <a:prstGeom prst="rect">
            <a:avLst/>
          </a:prstGeom>
          <a:noFill/>
          <a:ln>
            <a:noFill/>
          </a:ln>
        </p:spPr>
        <p:txBody>
          <a:bodyPr spcFirstLastPara="1" wrap="square" lIns="0" tIns="0" rIns="0" bIns="0" anchor="t" anchorCtr="0">
            <a:spAutoFit/>
          </a:bodyPr>
          <a:lstStyle/>
          <a:p>
            <a:pPr marL="0" marR="0" lvl="0" indent="0" algn="just" rtl="0">
              <a:lnSpc>
                <a:spcPct val="120025"/>
              </a:lnSpc>
              <a:spcBef>
                <a:spcPts val="0"/>
              </a:spcBef>
              <a:spcAft>
                <a:spcPts val="0"/>
              </a:spcAft>
              <a:buNone/>
            </a:pPr>
            <a:r>
              <a:rPr lang="en-US" sz="1880" dirty="0">
                <a:solidFill>
                  <a:srgbClr val="000000"/>
                </a:solidFill>
                <a:latin typeface="Arial"/>
                <a:ea typeface="Arial"/>
                <a:cs typeface="Arial"/>
                <a:sym typeface="Arial"/>
              </a:rPr>
              <a:t>As the condition present in the if statement is false. So, the block below the if statement is not executed. </a:t>
            </a:r>
            <a:endParaRPr sz="1880" dirty="0"/>
          </a:p>
          <a:p>
            <a:pPr marL="0" marR="0" lvl="0" indent="0" algn="just" rtl="0">
              <a:lnSpc>
                <a:spcPct val="120025"/>
              </a:lnSpc>
              <a:spcBef>
                <a:spcPts val="0"/>
              </a:spcBef>
              <a:spcAft>
                <a:spcPts val="0"/>
              </a:spcAft>
              <a:buNone/>
            </a:pPr>
            <a:r>
              <a:rPr lang="en-US" sz="1880" b="1" dirty="0">
                <a:solidFill>
                  <a:srgbClr val="000000"/>
                </a:solidFill>
                <a:latin typeface="Arial"/>
                <a:ea typeface="Arial"/>
                <a:cs typeface="Arial"/>
                <a:sym typeface="Arial"/>
              </a:rPr>
              <a:t>Output:</a:t>
            </a:r>
            <a:endParaRPr sz="1880" dirty="0"/>
          </a:p>
          <a:p>
            <a:pPr marL="0" marR="0" lvl="0" indent="0" algn="just" rtl="0">
              <a:lnSpc>
                <a:spcPct val="120025"/>
              </a:lnSpc>
              <a:spcBef>
                <a:spcPts val="0"/>
              </a:spcBef>
              <a:spcAft>
                <a:spcPts val="0"/>
              </a:spcAft>
              <a:buNone/>
            </a:pPr>
            <a:r>
              <a:rPr lang="en-US" sz="1880" dirty="0">
                <a:solidFill>
                  <a:srgbClr val="000000"/>
                </a:solidFill>
                <a:latin typeface="Arial"/>
                <a:ea typeface="Arial"/>
                <a:cs typeface="Arial"/>
                <a:sym typeface="Arial"/>
              </a:rPr>
              <a:t>I am Not in if</a:t>
            </a:r>
            <a:endParaRPr sz="1880" dirty="0"/>
          </a:p>
        </p:txBody>
      </p:sp>
      <p:sp>
        <p:nvSpPr>
          <p:cNvPr id="260" name="Google Shape;260;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261" name="Google Shape;261;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7" name="Google Shape;267;p9"/>
          <p:cNvSpPr txBox="1"/>
          <p:nvPr/>
        </p:nvSpPr>
        <p:spPr>
          <a:xfrm>
            <a:off x="2209800" y="493102"/>
            <a:ext cx="8156963" cy="687111"/>
          </a:xfrm>
          <a:prstGeom prst="rect">
            <a:avLst/>
          </a:prstGeom>
          <a:noFill/>
          <a:ln>
            <a:noFill/>
          </a:ln>
        </p:spPr>
        <p:txBody>
          <a:bodyPr spcFirstLastPara="1" wrap="square" lIns="0" tIns="0" rIns="0" bIns="0" anchor="t" anchorCtr="0">
            <a:spAutoFit/>
          </a:bodyPr>
          <a:lstStyle/>
          <a:p>
            <a:pPr marL="0" marR="0" lvl="0" indent="0" algn="ctr" rtl="0">
              <a:lnSpc>
                <a:spcPct val="107982"/>
              </a:lnSpc>
              <a:spcBef>
                <a:spcPts val="0"/>
              </a:spcBef>
              <a:spcAft>
                <a:spcPts val="0"/>
              </a:spcAft>
              <a:buNone/>
            </a:pPr>
            <a:r>
              <a:rPr lang="en-US" sz="4134" b="1" dirty="0">
                <a:solidFill>
                  <a:srgbClr val="C00000"/>
                </a:solidFill>
                <a:latin typeface="Times"/>
                <a:ea typeface="Times"/>
                <a:cs typeface="Times"/>
                <a:sym typeface="Times"/>
              </a:rPr>
              <a:t>PL/SQL Conditional Statements</a:t>
            </a:r>
            <a:endParaRPr dirty="0"/>
          </a:p>
        </p:txBody>
      </p:sp>
      <p:sp>
        <p:nvSpPr>
          <p:cNvPr id="268" name="Google Shape;268;p9"/>
          <p:cNvSpPr txBox="1"/>
          <p:nvPr/>
        </p:nvSpPr>
        <p:spPr>
          <a:xfrm>
            <a:off x="1353263" y="1216622"/>
            <a:ext cx="9654436" cy="4704749"/>
          </a:xfrm>
          <a:prstGeom prst="rect">
            <a:avLst/>
          </a:prstGeom>
          <a:noFill/>
          <a:ln>
            <a:noFill/>
          </a:ln>
        </p:spPr>
        <p:txBody>
          <a:bodyPr spcFirstLastPara="1" wrap="square" lIns="0" tIns="0" rIns="0" bIns="0" anchor="t" anchorCtr="0">
            <a:spAutoFit/>
          </a:bodyPr>
          <a:lstStyle/>
          <a:p>
            <a:pPr marL="0" marR="0" lvl="0" indent="0" algn="just" rtl="0">
              <a:lnSpc>
                <a:spcPct val="120008"/>
              </a:lnSpc>
              <a:spcBef>
                <a:spcPts val="0"/>
              </a:spcBef>
              <a:spcAft>
                <a:spcPts val="0"/>
              </a:spcAft>
              <a:buNone/>
            </a:pPr>
            <a:r>
              <a:rPr lang="en-US" sz="2399" b="1" dirty="0">
                <a:solidFill>
                  <a:srgbClr val="000000"/>
                </a:solidFill>
                <a:latin typeface="Arial"/>
                <a:ea typeface="Arial"/>
                <a:cs typeface="Arial"/>
                <a:sym typeface="Arial"/>
              </a:rPr>
              <a:t>2. </a:t>
            </a:r>
            <a:r>
              <a:rPr lang="en-US" sz="1880" b="1" dirty="0">
                <a:solidFill>
                  <a:srgbClr val="000000"/>
                </a:solidFill>
                <a:latin typeface="Arial"/>
                <a:ea typeface="Arial"/>
                <a:cs typeface="Arial"/>
                <a:sym typeface="Arial"/>
              </a:rPr>
              <a:t>IF THEN ELSE</a:t>
            </a:r>
            <a:endParaRPr sz="1880" dirty="0"/>
          </a:p>
          <a:p>
            <a:pPr marL="0" marR="0" lvl="0" indent="0" algn="just" rtl="0">
              <a:lnSpc>
                <a:spcPct val="120008"/>
              </a:lnSpc>
              <a:spcBef>
                <a:spcPts val="0"/>
              </a:spcBef>
              <a:spcAft>
                <a:spcPts val="0"/>
              </a:spcAft>
              <a:buNone/>
            </a:pPr>
            <a:r>
              <a:rPr lang="en-US" sz="1880" dirty="0">
                <a:solidFill>
                  <a:srgbClr val="000000"/>
                </a:solidFill>
                <a:latin typeface="Arial"/>
                <a:ea typeface="Arial"/>
                <a:cs typeface="Arial"/>
                <a:sym typeface="Arial"/>
              </a:rPr>
              <a:t>The if statement alone tells us that if a condition is true, it will execute a block of statements and if the condition is false, it won’t. But what if we want to do something else if the condition is false. Here comes the else statement. We can use the else statement with if statement to execute a block of code when the condition is false.</a:t>
            </a:r>
            <a:endParaRPr sz="1880" dirty="0"/>
          </a:p>
          <a:p>
            <a:pPr marL="0" marR="0" lvl="0" indent="0" algn="just" rtl="0">
              <a:lnSpc>
                <a:spcPct val="120008"/>
              </a:lnSpc>
              <a:spcBef>
                <a:spcPts val="0"/>
              </a:spcBef>
              <a:spcAft>
                <a:spcPts val="0"/>
              </a:spcAft>
              <a:buNone/>
            </a:pPr>
            <a:r>
              <a:rPr lang="en-US" sz="1880" dirty="0">
                <a:solidFill>
                  <a:srgbClr val="000000"/>
                </a:solidFill>
                <a:latin typeface="Arial"/>
                <a:ea typeface="Arial"/>
                <a:cs typeface="Arial"/>
                <a:sym typeface="Arial"/>
              </a:rPr>
              <a:t>Syntax:-</a:t>
            </a:r>
            <a:endParaRPr sz="1880" dirty="0"/>
          </a:p>
          <a:p>
            <a:pPr marL="0" marR="0" lvl="0" indent="0" algn="just" rtl="0">
              <a:lnSpc>
                <a:spcPct val="120008"/>
              </a:lnSpc>
              <a:spcBef>
                <a:spcPts val="0"/>
              </a:spcBef>
              <a:spcAft>
                <a:spcPts val="0"/>
              </a:spcAft>
              <a:buNone/>
            </a:pPr>
            <a:r>
              <a:rPr lang="en-US" sz="1880" dirty="0">
                <a:solidFill>
                  <a:srgbClr val="000000"/>
                </a:solidFill>
                <a:latin typeface="Arial"/>
                <a:ea typeface="Arial"/>
                <a:cs typeface="Arial"/>
                <a:sym typeface="Arial"/>
              </a:rPr>
              <a:t>if (condition) then</a:t>
            </a:r>
            <a:endParaRPr sz="1880" dirty="0"/>
          </a:p>
          <a:p>
            <a:pPr marL="0" marR="0" lvl="0" indent="0" algn="just" rtl="0">
              <a:lnSpc>
                <a:spcPct val="120008"/>
              </a:lnSpc>
              <a:spcBef>
                <a:spcPts val="0"/>
              </a:spcBef>
              <a:spcAft>
                <a:spcPts val="0"/>
              </a:spcAft>
              <a:buNone/>
            </a:pPr>
            <a:r>
              <a:rPr lang="en-US" sz="1880" dirty="0">
                <a:solidFill>
                  <a:srgbClr val="000000"/>
                </a:solidFill>
                <a:latin typeface="Arial"/>
                <a:ea typeface="Arial"/>
                <a:cs typeface="Arial"/>
                <a:sym typeface="Arial"/>
              </a:rPr>
              <a:t>    -- Executes this block if</a:t>
            </a:r>
            <a:endParaRPr sz="1880" dirty="0"/>
          </a:p>
          <a:p>
            <a:pPr marL="0" marR="0" lvl="0" indent="0" algn="just" rtl="0">
              <a:lnSpc>
                <a:spcPct val="120008"/>
              </a:lnSpc>
              <a:spcBef>
                <a:spcPts val="0"/>
              </a:spcBef>
              <a:spcAft>
                <a:spcPts val="0"/>
              </a:spcAft>
              <a:buNone/>
            </a:pPr>
            <a:r>
              <a:rPr lang="en-US" sz="1880" dirty="0">
                <a:solidFill>
                  <a:srgbClr val="000000"/>
                </a:solidFill>
                <a:latin typeface="Arial"/>
                <a:ea typeface="Arial"/>
                <a:cs typeface="Arial"/>
                <a:sym typeface="Arial"/>
              </a:rPr>
              <a:t>    -- condition is true</a:t>
            </a:r>
            <a:endParaRPr sz="1880" dirty="0"/>
          </a:p>
          <a:p>
            <a:pPr marL="0" marR="0" lvl="0" indent="0" algn="just" rtl="0">
              <a:lnSpc>
                <a:spcPct val="120008"/>
              </a:lnSpc>
              <a:spcBef>
                <a:spcPts val="0"/>
              </a:spcBef>
              <a:spcAft>
                <a:spcPts val="0"/>
              </a:spcAft>
              <a:buNone/>
            </a:pPr>
            <a:r>
              <a:rPr lang="en-US" sz="1880" dirty="0">
                <a:solidFill>
                  <a:srgbClr val="000000"/>
                </a:solidFill>
                <a:latin typeface="Arial"/>
                <a:ea typeface="Arial"/>
                <a:cs typeface="Arial"/>
                <a:sym typeface="Arial"/>
              </a:rPr>
              <a:t>else </a:t>
            </a:r>
            <a:endParaRPr sz="1880" dirty="0"/>
          </a:p>
          <a:p>
            <a:pPr marL="0" marR="0" lvl="0" indent="0" algn="just" rtl="0">
              <a:lnSpc>
                <a:spcPct val="120008"/>
              </a:lnSpc>
              <a:spcBef>
                <a:spcPts val="0"/>
              </a:spcBef>
              <a:spcAft>
                <a:spcPts val="0"/>
              </a:spcAft>
              <a:buNone/>
            </a:pPr>
            <a:r>
              <a:rPr lang="en-US" sz="1880" dirty="0">
                <a:solidFill>
                  <a:srgbClr val="000000"/>
                </a:solidFill>
                <a:latin typeface="Arial"/>
                <a:ea typeface="Arial"/>
                <a:cs typeface="Arial"/>
                <a:sym typeface="Arial"/>
              </a:rPr>
              <a:t>    -- Executes this block if</a:t>
            </a:r>
            <a:endParaRPr sz="1880" dirty="0"/>
          </a:p>
          <a:p>
            <a:pPr marL="0" marR="0" lvl="0" indent="0" algn="just" rtl="0">
              <a:lnSpc>
                <a:spcPct val="120008"/>
              </a:lnSpc>
              <a:spcBef>
                <a:spcPts val="0"/>
              </a:spcBef>
              <a:spcAft>
                <a:spcPts val="0"/>
              </a:spcAft>
              <a:buNone/>
            </a:pPr>
            <a:r>
              <a:rPr lang="en-US" sz="1880" dirty="0">
                <a:solidFill>
                  <a:srgbClr val="000000"/>
                </a:solidFill>
                <a:latin typeface="Arial"/>
                <a:ea typeface="Arial"/>
                <a:cs typeface="Arial"/>
                <a:sym typeface="Arial"/>
              </a:rPr>
              <a:t>    -- condition is false</a:t>
            </a:r>
            <a:endParaRPr sz="1880" dirty="0"/>
          </a:p>
          <a:p>
            <a:pPr marL="0" marR="0" lvl="0" indent="0" algn="just" rtl="0">
              <a:lnSpc>
                <a:spcPct val="120008"/>
              </a:lnSpc>
              <a:spcBef>
                <a:spcPts val="0"/>
              </a:spcBef>
              <a:spcAft>
                <a:spcPts val="0"/>
              </a:spcAft>
              <a:buNone/>
            </a:pPr>
            <a:r>
              <a:rPr lang="en-US" sz="1880" dirty="0">
                <a:solidFill>
                  <a:srgbClr val="000000"/>
                </a:solidFill>
                <a:latin typeface="Arial"/>
                <a:ea typeface="Arial"/>
                <a:cs typeface="Arial"/>
                <a:sym typeface="Arial"/>
              </a:rPr>
              <a:t>if</a:t>
            </a:r>
            <a:endParaRPr sz="1880" dirty="0"/>
          </a:p>
        </p:txBody>
      </p:sp>
      <p:sp>
        <p:nvSpPr>
          <p:cNvPr id="269" name="Google Shape;269;p9"/>
          <p:cNvSpPr/>
          <p:nvPr/>
        </p:nvSpPr>
        <p:spPr>
          <a:xfrm>
            <a:off x="8369936" y="2876865"/>
            <a:ext cx="2468801" cy="3261995"/>
          </a:xfrm>
          <a:custGeom>
            <a:avLst/>
            <a:gdLst/>
            <a:ahLst/>
            <a:cxnLst/>
            <a:rect l="l" t="t" r="r" b="b"/>
            <a:pathLst>
              <a:path w="3703202" h="4892993" extrusionOk="0">
                <a:moveTo>
                  <a:pt x="0" y="0"/>
                </a:moveTo>
                <a:lnTo>
                  <a:pt x="3703202" y="0"/>
                </a:lnTo>
                <a:lnTo>
                  <a:pt x="3703202" y="4892993"/>
                </a:lnTo>
                <a:lnTo>
                  <a:pt x="0" y="4892993"/>
                </a:lnTo>
                <a:lnTo>
                  <a:pt x="0" y="0"/>
                </a:lnTo>
                <a:close/>
              </a:path>
            </a:pathLst>
          </a:custGeom>
          <a:blipFill rotWithShape="1">
            <a:blip r:embed="rId3">
              <a:alphaModFix/>
            </a:blip>
            <a:stretch>
              <a:fillRect t="-5381"/>
            </a:stretch>
          </a:blipFill>
          <a:ln>
            <a:noFill/>
          </a:ln>
        </p:spPr>
      </p:sp>
      <p:sp>
        <p:nvSpPr>
          <p:cNvPr id="270" name="Google Shape;270;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12/20/2024</a:t>
            </a:r>
            <a:endParaRPr dirty="0"/>
          </a:p>
        </p:txBody>
      </p:sp>
      <p:sp>
        <p:nvSpPr>
          <p:cNvPr id="271" name="Google Shape;271;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7" name="Google Shape;277;p10"/>
          <p:cNvSpPr txBox="1"/>
          <p:nvPr/>
        </p:nvSpPr>
        <p:spPr>
          <a:xfrm>
            <a:off x="2334500" y="323034"/>
            <a:ext cx="8156963" cy="687111"/>
          </a:xfrm>
          <a:prstGeom prst="rect">
            <a:avLst/>
          </a:prstGeom>
          <a:noFill/>
          <a:ln>
            <a:noFill/>
          </a:ln>
        </p:spPr>
        <p:txBody>
          <a:bodyPr spcFirstLastPara="1" wrap="square" lIns="0" tIns="0" rIns="0" bIns="0" anchor="t" anchorCtr="0">
            <a:spAutoFit/>
          </a:bodyPr>
          <a:lstStyle/>
          <a:p>
            <a:pPr marL="0" marR="0" lvl="0" indent="0" algn="ctr" rtl="0">
              <a:lnSpc>
                <a:spcPct val="107982"/>
              </a:lnSpc>
              <a:spcBef>
                <a:spcPts val="0"/>
              </a:spcBef>
              <a:spcAft>
                <a:spcPts val="0"/>
              </a:spcAft>
              <a:buNone/>
            </a:pPr>
            <a:r>
              <a:rPr lang="en-US" sz="4134" b="1" dirty="0">
                <a:solidFill>
                  <a:srgbClr val="C00000"/>
                </a:solidFill>
                <a:latin typeface="Times"/>
                <a:ea typeface="Times"/>
                <a:cs typeface="Times"/>
                <a:sym typeface="Times"/>
              </a:rPr>
              <a:t>PL/SQL Conditional Statements</a:t>
            </a:r>
            <a:endParaRPr dirty="0"/>
          </a:p>
        </p:txBody>
      </p:sp>
      <p:sp>
        <p:nvSpPr>
          <p:cNvPr id="278" name="Google Shape;278;p10"/>
          <p:cNvSpPr/>
          <p:nvPr/>
        </p:nvSpPr>
        <p:spPr>
          <a:xfrm>
            <a:off x="5220756" y="1106959"/>
            <a:ext cx="6471813" cy="4967116"/>
          </a:xfrm>
          <a:custGeom>
            <a:avLst/>
            <a:gdLst/>
            <a:ahLst/>
            <a:cxnLst/>
            <a:rect l="l" t="t" r="r" b="b"/>
            <a:pathLst>
              <a:path w="9707719" h="7450674" extrusionOk="0">
                <a:moveTo>
                  <a:pt x="0" y="0"/>
                </a:moveTo>
                <a:lnTo>
                  <a:pt x="9707719" y="0"/>
                </a:lnTo>
                <a:lnTo>
                  <a:pt x="9707719" y="7450674"/>
                </a:lnTo>
                <a:lnTo>
                  <a:pt x="0" y="7450674"/>
                </a:lnTo>
                <a:lnTo>
                  <a:pt x="0" y="0"/>
                </a:lnTo>
                <a:close/>
              </a:path>
            </a:pathLst>
          </a:custGeom>
          <a:blipFill rotWithShape="1">
            <a:blip r:embed="rId3">
              <a:alphaModFix/>
            </a:blip>
            <a:stretch>
              <a:fillRect/>
            </a:stretch>
          </a:blipFill>
          <a:ln>
            <a:noFill/>
          </a:ln>
        </p:spPr>
      </p:sp>
      <p:sp>
        <p:nvSpPr>
          <p:cNvPr id="279" name="Google Shape;279;p10"/>
          <p:cNvSpPr txBox="1"/>
          <p:nvPr/>
        </p:nvSpPr>
        <p:spPr>
          <a:xfrm>
            <a:off x="1041984" y="1366411"/>
            <a:ext cx="4114800" cy="2777171"/>
          </a:xfrm>
          <a:prstGeom prst="rect">
            <a:avLst/>
          </a:prstGeom>
          <a:noFill/>
          <a:ln>
            <a:noFill/>
          </a:ln>
        </p:spPr>
        <p:txBody>
          <a:bodyPr spcFirstLastPara="1" wrap="square" lIns="0" tIns="0" rIns="0" bIns="0" anchor="t" anchorCtr="0">
            <a:spAutoFit/>
          </a:bodyPr>
          <a:lstStyle/>
          <a:p>
            <a:pPr marL="0" marR="0" lvl="0" indent="0" algn="just" rtl="0">
              <a:lnSpc>
                <a:spcPct val="119975"/>
              </a:lnSpc>
              <a:spcBef>
                <a:spcPts val="0"/>
              </a:spcBef>
              <a:spcAft>
                <a:spcPts val="0"/>
              </a:spcAft>
              <a:buNone/>
            </a:pPr>
            <a:r>
              <a:rPr lang="en-US" sz="1880" b="1" dirty="0">
                <a:solidFill>
                  <a:srgbClr val="000000"/>
                </a:solidFill>
                <a:latin typeface="Arial"/>
                <a:ea typeface="Arial"/>
                <a:cs typeface="Arial"/>
                <a:sym typeface="Arial"/>
              </a:rPr>
              <a:t>Output:-</a:t>
            </a:r>
            <a:endParaRPr sz="1880" dirty="0"/>
          </a:p>
          <a:p>
            <a:pPr marL="0" marR="0" lvl="0" indent="0" algn="just" rtl="0">
              <a:lnSpc>
                <a:spcPct val="119975"/>
              </a:lnSpc>
              <a:spcBef>
                <a:spcPts val="0"/>
              </a:spcBef>
              <a:spcAft>
                <a:spcPts val="0"/>
              </a:spcAft>
              <a:buNone/>
            </a:pPr>
            <a:r>
              <a:rPr lang="en-US" sz="1880" dirty="0" err="1">
                <a:solidFill>
                  <a:srgbClr val="000000"/>
                </a:solidFill>
                <a:latin typeface="Arial"/>
                <a:ea typeface="Arial"/>
                <a:cs typeface="Arial"/>
                <a:sym typeface="Arial"/>
              </a:rPr>
              <a:t>i'm</a:t>
            </a:r>
            <a:r>
              <a:rPr lang="en-US" sz="1880" dirty="0">
                <a:solidFill>
                  <a:srgbClr val="000000"/>
                </a:solidFill>
                <a:latin typeface="Arial"/>
                <a:ea typeface="Arial"/>
                <a:cs typeface="Arial"/>
                <a:sym typeface="Arial"/>
              </a:rPr>
              <a:t> in if Block</a:t>
            </a:r>
            <a:endParaRPr sz="1880" dirty="0"/>
          </a:p>
          <a:p>
            <a:pPr marL="0" marR="0" lvl="0" indent="0" algn="just" rtl="0">
              <a:lnSpc>
                <a:spcPct val="119975"/>
              </a:lnSpc>
              <a:spcBef>
                <a:spcPts val="0"/>
              </a:spcBef>
              <a:spcAft>
                <a:spcPts val="0"/>
              </a:spcAft>
              <a:buNone/>
            </a:pPr>
            <a:r>
              <a:rPr lang="en-US" sz="1880" dirty="0" err="1">
                <a:solidFill>
                  <a:srgbClr val="000000"/>
                </a:solidFill>
                <a:latin typeface="Arial"/>
                <a:ea typeface="Arial"/>
                <a:cs typeface="Arial"/>
                <a:sym typeface="Arial"/>
              </a:rPr>
              <a:t>i'm</a:t>
            </a:r>
            <a:r>
              <a:rPr lang="en-US" sz="1880" dirty="0">
                <a:solidFill>
                  <a:srgbClr val="000000"/>
                </a:solidFill>
                <a:latin typeface="Arial"/>
                <a:ea typeface="Arial"/>
                <a:cs typeface="Arial"/>
                <a:sym typeface="Arial"/>
              </a:rPr>
              <a:t> not in if and not in else Block</a:t>
            </a:r>
            <a:endParaRPr sz="1880" dirty="0"/>
          </a:p>
          <a:p>
            <a:pPr marL="0" marR="0" lvl="0" indent="0" algn="just" rtl="0">
              <a:lnSpc>
                <a:spcPct val="119975"/>
              </a:lnSpc>
              <a:spcBef>
                <a:spcPts val="0"/>
              </a:spcBef>
              <a:spcAft>
                <a:spcPts val="0"/>
              </a:spcAft>
              <a:buNone/>
            </a:pPr>
            <a:r>
              <a:rPr lang="en-US" sz="1880" dirty="0">
                <a:solidFill>
                  <a:srgbClr val="000000"/>
                </a:solidFill>
                <a:latin typeface="Arial"/>
                <a:ea typeface="Arial"/>
                <a:cs typeface="Arial"/>
                <a:sym typeface="Arial"/>
              </a:rPr>
              <a:t>The block of code following the else statement is executed as the condition present in the if statement is false after calling the statement which is not in block(without spaces).</a:t>
            </a:r>
            <a:endParaRPr sz="1880" dirty="0"/>
          </a:p>
        </p:txBody>
      </p:sp>
      <p:sp>
        <p:nvSpPr>
          <p:cNvPr id="280" name="Google Shape;280;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281" name="Google Shape;281;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7" name="Google Shape;287;p11"/>
          <p:cNvSpPr txBox="1"/>
          <p:nvPr/>
        </p:nvSpPr>
        <p:spPr>
          <a:xfrm>
            <a:off x="2486542" y="573262"/>
            <a:ext cx="7628902" cy="686919"/>
          </a:xfrm>
          <a:prstGeom prst="rect">
            <a:avLst/>
          </a:prstGeom>
          <a:noFill/>
          <a:ln>
            <a:noFill/>
          </a:ln>
        </p:spPr>
        <p:txBody>
          <a:bodyPr spcFirstLastPara="1" wrap="square" lIns="0" tIns="0" rIns="0" bIns="0" anchor="t" anchorCtr="0">
            <a:spAutoFit/>
          </a:bodyPr>
          <a:lstStyle/>
          <a:p>
            <a:pPr marL="0" marR="0" lvl="0" indent="0" algn="ctr" rtl="0">
              <a:lnSpc>
                <a:spcPct val="108008"/>
              </a:lnSpc>
              <a:spcBef>
                <a:spcPts val="0"/>
              </a:spcBef>
              <a:spcAft>
                <a:spcPts val="0"/>
              </a:spcAft>
              <a:buNone/>
            </a:pPr>
            <a:r>
              <a:rPr lang="en-US" sz="4133" b="1" dirty="0">
                <a:solidFill>
                  <a:srgbClr val="C00000"/>
                </a:solidFill>
                <a:latin typeface="Times"/>
                <a:ea typeface="Times"/>
                <a:cs typeface="Times"/>
                <a:sym typeface="Times"/>
              </a:rPr>
              <a:t>PL/SQL Conditional Statements</a:t>
            </a:r>
            <a:endParaRPr dirty="0"/>
          </a:p>
        </p:txBody>
      </p:sp>
      <p:sp>
        <p:nvSpPr>
          <p:cNvPr id="288" name="Google Shape;288;p11"/>
          <p:cNvSpPr txBox="1"/>
          <p:nvPr/>
        </p:nvSpPr>
        <p:spPr>
          <a:xfrm>
            <a:off x="1656678" y="1363453"/>
            <a:ext cx="9966320" cy="4261808"/>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80" b="1" dirty="0">
                <a:solidFill>
                  <a:srgbClr val="000000"/>
                </a:solidFill>
                <a:latin typeface="Arial"/>
                <a:ea typeface="Arial"/>
                <a:cs typeface="Arial"/>
                <a:sym typeface="Arial"/>
              </a:rPr>
              <a:t>3. NESTED-IF-THEN</a:t>
            </a:r>
            <a:endParaRPr sz="1880" dirty="0"/>
          </a:p>
          <a:p>
            <a:pPr marL="0" marR="0" lvl="0" indent="0" algn="just" rtl="0">
              <a:lnSpc>
                <a:spcPct val="120000"/>
              </a:lnSpc>
              <a:spcBef>
                <a:spcPts val="0"/>
              </a:spcBef>
              <a:spcAft>
                <a:spcPts val="0"/>
              </a:spcAft>
              <a:buNone/>
            </a:pPr>
            <a:r>
              <a:rPr lang="en-US" sz="1880" dirty="0">
                <a:solidFill>
                  <a:srgbClr val="000000"/>
                </a:solidFill>
                <a:latin typeface="Arial"/>
                <a:ea typeface="Arial"/>
                <a:cs typeface="Arial"/>
                <a:sym typeface="Arial"/>
              </a:rPr>
              <a:t>A nested if-then is an if statement that is the target of another if statement. Nested if-then statements mean an if statement inside another if statement. Yes, PL/SQL allows us to nest if statements within if-then statements. </a:t>
            </a:r>
            <a:r>
              <a:rPr lang="en-US" sz="1880" dirty="0" err="1">
                <a:solidFill>
                  <a:srgbClr val="000000"/>
                </a:solidFill>
                <a:latin typeface="Arial"/>
                <a:ea typeface="Arial"/>
                <a:cs typeface="Arial"/>
                <a:sym typeface="Arial"/>
              </a:rPr>
              <a:t>i.e</a:t>
            </a:r>
            <a:r>
              <a:rPr lang="en-US" sz="1880" dirty="0">
                <a:solidFill>
                  <a:srgbClr val="000000"/>
                </a:solidFill>
                <a:latin typeface="Arial"/>
                <a:ea typeface="Arial"/>
                <a:cs typeface="Arial"/>
                <a:sym typeface="Arial"/>
              </a:rPr>
              <a:t>, we can place an if then statement inside another if then statement. Syntax:-</a:t>
            </a:r>
            <a:endParaRPr sz="1880" dirty="0"/>
          </a:p>
          <a:p>
            <a:pPr marL="0" marR="0" lvl="0" indent="0" algn="just" rtl="0">
              <a:lnSpc>
                <a:spcPct val="120000"/>
              </a:lnSpc>
              <a:spcBef>
                <a:spcPts val="0"/>
              </a:spcBef>
              <a:spcAft>
                <a:spcPts val="0"/>
              </a:spcAft>
              <a:buNone/>
            </a:pPr>
            <a:r>
              <a:rPr lang="en-US" sz="1880" dirty="0">
                <a:solidFill>
                  <a:srgbClr val="000000"/>
                </a:solidFill>
                <a:latin typeface="Arial"/>
                <a:ea typeface="Arial"/>
                <a:cs typeface="Arial"/>
                <a:sym typeface="Arial"/>
              </a:rPr>
              <a:t>if (condition1) then</a:t>
            </a:r>
            <a:endParaRPr sz="1880" dirty="0"/>
          </a:p>
          <a:p>
            <a:pPr marL="0" marR="0" lvl="0" indent="0" algn="just" rtl="0">
              <a:lnSpc>
                <a:spcPct val="120000"/>
              </a:lnSpc>
              <a:spcBef>
                <a:spcPts val="0"/>
              </a:spcBef>
              <a:spcAft>
                <a:spcPts val="0"/>
              </a:spcAft>
              <a:buNone/>
            </a:pPr>
            <a:r>
              <a:rPr lang="en-US" sz="1880" dirty="0">
                <a:solidFill>
                  <a:srgbClr val="000000"/>
                </a:solidFill>
                <a:latin typeface="Arial"/>
                <a:ea typeface="Arial"/>
                <a:cs typeface="Arial"/>
                <a:sym typeface="Arial"/>
              </a:rPr>
              <a:t>   -- Executes when condition1 is true</a:t>
            </a:r>
            <a:endParaRPr sz="1880" dirty="0"/>
          </a:p>
          <a:p>
            <a:pPr marL="0" marR="0" lvl="0" indent="0" algn="just" rtl="0">
              <a:lnSpc>
                <a:spcPct val="120000"/>
              </a:lnSpc>
              <a:spcBef>
                <a:spcPts val="0"/>
              </a:spcBef>
              <a:spcAft>
                <a:spcPts val="0"/>
              </a:spcAft>
              <a:buNone/>
            </a:pPr>
            <a:r>
              <a:rPr lang="en-US" sz="1880" dirty="0">
                <a:solidFill>
                  <a:srgbClr val="000000"/>
                </a:solidFill>
                <a:latin typeface="Arial"/>
                <a:ea typeface="Arial"/>
                <a:cs typeface="Arial"/>
                <a:sym typeface="Arial"/>
              </a:rPr>
              <a:t>   if (condition2) then </a:t>
            </a:r>
            <a:endParaRPr sz="1880" dirty="0"/>
          </a:p>
          <a:p>
            <a:pPr marL="0" marR="0" lvl="0" indent="0" algn="just" rtl="0">
              <a:lnSpc>
                <a:spcPct val="120000"/>
              </a:lnSpc>
              <a:spcBef>
                <a:spcPts val="0"/>
              </a:spcBef>
              <a:spcAft>
                <a:spcPts val="0"/>
              </a:spcAft>
              <a:buNone/>
            </a:pPr>
            <a:r>
              <a:rPr lang="en-US" sz="1880" dirty="0">
                <a:solidFill>
                  <a:srgbClr val="000000"/>
                </a:solidFill>
                <a:latin typeface="Arial"/>
                <a:ea typeface="Arial"/>
                <a:cs typeface="Arial"/>
                <a:sym typeface="Arial"/>
              </a:rPr>
              <a:t>     -- Executes when condition2 is true</a:t>
            </a:r>
            <a:endParaRPr sz="1880" dirty="0"/>
          </a:p>
          <a:p>
            <a:pPr marL="0" marR="0" lvl="0" indent="0" algn="just" rtl="0">
              <a:lnSpc>
                <a:spcPct val="120000"/>
              </a:lnSpc>
              <a:spcBef>
                <a:spcPts val="0"/>
              </a:spcBef>
              <a:spcAft>
                <a:spcPts val="0"/>
              </a:spcAft>
              <a:buNone/>
            </a:pPr>
            <a:r>
              <a:rPr lang="en-US" sz="1880" dirty="0">
                <a:solidFill>
                  <a:srgbClr val="000000"/>
                </a:solidFill>
                <a:latin typeface="Arial"/>
                <a:ea typeface="Arial"/>
                <a:cs typeface="Arial"/>
                <a:sym typeface="Arial"/>
              </a:rPr>
              <a:t>   end if; </a:t>
            </a:r>
            <a:endParaRPr sz="1880" dirty="0"/>
          </a:p>
          <a:p>
            <a:pPr marL="0" marR="0" lvl="0" indent="0" algn="just" rtl="0">
              <a:lnSpc>
                <a:spcPct val="120000"/>
              </a:lnSpc>
              <a:spcBef>
                <a:spcPts val="0"/>
              </a:spcBef>
              <a:spcAft>
                <a:spcPts val="0"/>
              </a:spcAft>
              <a:buNone/>
            </a:pPr>
            <a:r>
              <a:rPr lang="en-US" sz="1880" dirty="0">
                <a:solidFill>
                  <a:srgbClr val="000000"/>
                </a:solidFill>
                <a:latin typeface="Arial"/>
                <a:ea typeface="Arial"/>
                <a:cs typeface="Arial"/>
                <a:sym typeface="Arial"/>
              </a:rPr>
              <a:t>end if;</a:t>
            </a:r>
            <a:endParaRPr sz="1880" dirty="0"/>
          </a:p>
          <a:p>
            <a:pPr marL="0" marR="0" lvl="0" indent="0" algn="just" rtl="0">
              <a:lnSpc>
                <a:spcPct val="120000"/>
              </a:lnSpc>
              <a:spcBef>
                <a:spcPts val="0"/>
              </a:spcBef>
              <a:spcAft>
                <a:spcPts val="0"/>
              </a:spcAft>
              <a:buNone/>
            </a:pPr>
            <a:endParaRPr sz="2400" dirty="0">
              <a:solidFill>
                <a:srgbClr val="000000"/>
              </a:solidFill>
              <a:latin typeface="Arial"/>
              <a:ea typeface="Arial"/>
              <a:cs typeface="Arial"/>
              <a:sym typeface="Arial"/>
            </a:endParaRPr>
          </a:p>
        </p:txBody>
      </p:sp>
      <p:sp>
        <p:nvSpPr>
          <p:cNvPr id="289" name="Google Shape;289;p11"/>
          <p:cNvSpPr/>
          <p:nvPr/>
        </p:nvSpPr>
        <p:spPr>
          <a:xfrm>
            <a:off x="6188582" y="2867785"/>
            <a:ext cx="5045177" cy="3186772"/>
          </a:xfrm>
          <a:custGeom>
            <a:avLst/>
            <a:gdLst/>
            <a:ahLst/>
            <a:cxnLst/>
            <a:rect l="l" t="t" r="r" b="b"/>
            <a:pathLst>
              <a:path w="7567765" h="5129193" extrusionOk="0">
                <a:moveTo>
                  <a:pt x="0" y="0"/>
                </a:moveTo>
                <a:lnTo>
                  <a:pt x="7567765" y="0"/>
                </a:lnTo>
                <a:lnTo>
                  <a:pt x="7567765" y="5129193"/>
                </a:lnTo>
                <a:lnTo>
                  <a:pt x="0" y="5129193"/>
                </a:lnTo>
                <a:lnTo>
                  <a:pt x="0" y="0"/>
                </a:lnTo>
                <a:close/>
              </a:path>
            </a:pathLst>
          </a:custGeom>
          <a:blipFill rotWithShape="1">
            <a:blip r:embed="rId3">
              <a:alphaModFix/>
            </a:blip>
            <a:stretch>
              <a:fillRect t="-4537"/>
            </a:stretch>
          </a:blipFill>
          <a:ln>
            <a:noFill/>
          </a:ln>
        </p:spPr>
      </p:sp>
      <p:sp>
        <p:nvSpPr>
          <p:cNvPr id="290" name="Google Shape;290;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291" name="Google Shape;291;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7" name="Google Shape;297;p12"/>
          <p:cNvSpPr txBox="1"/>
          <p:nvPr/>
        </p:nvSpPr>
        <p:spPr>
          <a:xfrm>
            <a:off x="2017518" y="477730"/>
            <a:ext cx="8156963" cy="687111"/>
          </a:xfrm>
          <a:prstGeom prst="rect">
            <a:avLst/>
          </a:prstGeom>
          <a:noFill/>
          <a:ln>
            <a:noFill/>
          </a:ln>
        </p:spPr>
        <p:txBody>
          <a:bodyPr spcFirstLastPara="1" wrap="square" lIns="0" tIns="0" rIns="0" bIns="0" anchor="t" anchorCtr="0">
            <a:spAutoFit/>
          </a:bodyPr>
          <a:lstStyle/>
          <a:p>
            <a:pPr marL="0" marR="0" lvl="0" indent="0" algn="ctr" rtl="0">
              <a:lnSpc>
                <a:spcPct val="107982"/>
              </a:lnSpc>
              <a:spcBef>
                <a:spcPts val="0"/>
              </a:spcBef>
              <a:spcAft>
                <a:spcPts val="0"/>
              </a:spcAft>
              <a:buNone/>
            </a:pPr>
            <a:r>
              <a:rPr lang="en-US" sz="4134" b="1" dirty="0">
                <a:solidFill>
                  <a:srgbClr val="C00000"/>
                </a:solidFill>
                <a:latin typeface="Times"/>
                <a:ea typeface="Times"/>
                <a:cs typeface="Times"/>
                <a:sym typeface="Times"/>
              </a:rPr>
              <a:t>PL/SQL Conditional Statements</a:t>
            </a:r>
            <a:endParaRPr dirty="0"/>
          </a:p>
        </p:txBody>
      </p:sp>
      <p:sp>
        <p:nvSpPr>
          <p:cNvPr id="298" name="Google Shape;298;p12"/>
          <p:cNvSpPr/>
          <p:nvPr/>
        </p:nvSpPr>
        <p:spPr>
          <a:xfrm>
            <a:off x="5884673" y="1293889"/>
            <a:ext cx="5573775" cy="4584305"/>
          </a:xfrm>
          <a:custGeom>
            <a:avLst/>
            <a:gdLst/>
            <a:ahLst/>
            <a:cxnLst/>
            <a:rect l="l" t="t" r="r" b="b"/>
            <a:pathLst>
              <a:path w="8360662" h="6876458" extrusionOk="0">
                <a:moveTo>
                  <a:pt x="0" y="0"/>
                </a:moveTo>
                <a:lnTo>
                  <a:pt x="8360662" y="0"/>
                </a:lnTo>
                <a:lnTo>
                  <a:pt x="8360662" y="6876457"/>
                </a:lnTo>
                <a:lnTo>
                  <a:pt x="0" y="6876457"/>
                </a:lnTo>
                <a:lnTo>
                  <a:pt x="0" y="0"/>
                </a:lnTo>
                <a:close/>
              </a:path>
            </a:pathLst>
          </a:custGeom>
          <a:blipFill rotWithShape="1">
            <a:blip r:embed="rId3">
              <a:alphaModFix/>
            </a:blip>
            <a:stretch>
              <a:fillRect/>
            </a:stretch>
          </a:blipFill>
          <a:ln>
            <a:noFill/>
          </a:ln>
        </p:spPr>
      </p:sp>
      <p:sp>
        <p:nvSpPr>
          <p:cNvPr id="299" name="Google Shape;299;p12"/>
          <p:cNvSpPr txBox="1"/>
          <p:nvPr/>
        </p:nvSpPr>
        <p:spPr>
          <a:xfrm>
            <a:off x="1378048" y="1311829"/>
            <a:ext cx="4506625" cy="2274212"/>
          </a:xfrm>
          <a:prstGeom prst="rect">
            <a:avLst/>
          </a:prstGeom>
          <a:noFill/>
          <a:ln>
            <a:noFill/>
          </a:ln>
        </p:spPr>
        <p:txBody>
          <a:bodyPr spcFirstLastPara="1" wrap="square" lIns="0" tIns="0" rIns="0" bIns="0" anchor="t" anchorCtr="0">
            <a:spAutoFit/>
          </a:bodyPr>
          <a:lstStyle/>
          <a:p>
            <a:pPr marL="0" marR="0" lvl="0" indent="0" algn="just" rtl="0">
              <a:lnSpc>
                <a:spcPct val="120016"/>
              </a:lnSpc>
              <a:spcBef>
                <a:spcPts val="0"/>
              </a:spcBef>
              <a:spcAft>
                <a:spcPts val="0"/>
              </a:spcAft>
              <a:buNone/>
            </a:pPr>
            <a:r>
              <a:rPr lang="en-US" sz="1880" b="1" dirty="0">
                <a:solidFill>
                  <a:srgbClr val="000000"/>
                </a:solidFill>
                <a:latin typeface="Arial"/>
                <a:ea typeface="Arial"/>
                <a:cs typeface="Arial"/>
                <a:sym typeface="Arial"/>
              </a:rPr>
              <a:t>Output:-</a:t>
            </a:r>
            <a:endParaRPr sz="1880" dirty="0"/>
          </a:p>
          <a:p>
            <a:pPr marL="0" marR="0" lvl="0" indent="0" algn="just" rtl="0">
              <a:lnSpc>
                <a:spcPct val="120016"/>
              </a:lnSpc>
              <a:spcBef>
                <a:spcPts val="0"/>
              </a:spcBef>
              <a:spcAft>
                <a:spcPts val="0"/>
              </a:spcAft>
              <a:buNone/>
            </a:pPr>
            <a:r>
              <a:rPr lang="en-US" sz="1880" dirty="0">
                <a:solidFill>
                  <a:srgbClr val="000000"/>
                </a:solidFill>
                <a:latin typeface="Arial"/>
                <a:ea typeface="Arial"/>
                <a:cs typeface="Arial"/>
                <a:sym typeface="Arial"/>
              </a:rPr>
              <a:t>num1 small num2</a:t>
            </a:r>
            <a:endParaRPr sz="1880" dirty="0"/>
          </a:p>
          <a:p>
            <a:pPr marL="0" marR="0" lvl="0" indent="0" algn="just" rtl="0">
              <a:lnSpc>
                <a:spcPct val="120016"/>
              </a:lnSpc>
              <a:spcBef>
                <a:spcPts val="0"/>
              </a:spcBef>
              <a:spcAft>
                <a:spcPts val="0"/>
              </a:spcAft>
              <a:buNone/>
            </a:pPr>
            <a:r>
              <a:rPr lang="en-US" sz="1880" dirty="0">
                <a:solidFill>
                  <a:srgbClr val="000000"/>
                </a:solidFill>
                <a:latin typeface="Arial"/>
                <a:ea typeface="Arial"/>
                <a:cs typeface="Arial"/>
                <a:sym typeface="Arial"/>
              </a:rPr>
              <a:t>num1 small num3 also</a:t>
            </a:r>
            <a:endParaRPr sz="1880" dirty="0"/>
          </a:p>
          <a:p>
            <a:pPr marL="0" marR="0" lvl="0" indent="0" algn="just" rtl="0">
              <a:lnSpc>
                <a:spcPct val="120016"/>
              </a:lnSpc>
              <a:spcBef>
                <a:spcPts val="0"/>
              </a:spcBef>
              <a:spcAft>
                <a:spcPts val="0"/>
              </a:spcAft>
              <a:buNone/>
            </a:pPr>
            <a:r>
              <a:rPr lang="en-US" sz="1880" dirty="0">
                <a:solidFill>
                  <a:srgbClr val="000000"/>
                </a:solidFill>
                <a:latin typeface="Arial"/>
                <a:ea typeface="Arial"/>
                <a:cs typeface="Arial"/>
                <a:sym typeface="Arial"/>
              </a:rPr>
              <a:t>after end if</a:t>
            </a:r>
            <a:endParaRPr sz="1880" dirty="0"/>
          </a:p>
          <a:p>
            <a:pPr marL="0" marR="0" lvl="0" indent="0" algn="just" rtl="0">
              <a:lnSpc>
                <a:spcPct val="120016"/>
              </a:lnSpc>
              <a:spcBef>
                <a:spcPts val="0"/>
              </a:spcBef>
              <a:spcAft>
                <a:spcPts val="0"/>
              </a:spcAft>
              <a:buNone/>
            </a:pPr>
            <a:endParaRPr sz="2398" dirty="0">
              <a:solidFill>
                <a:srgbClr val="000000"/>
              </a:solidFill>
              <a:latin typeface="Arial"/>
              <a:ea typeface="Arial"/>
              <a:cs typeface="Arial"/>
              <a:sym typeface="Arial"/>
            </a:endParaRPr>
          </a:p>
          <a:p>
            <a:pPr marL="0" marR="0" lvl="0" indent="0" algn="just" rtl="0">
              <a:lnSpc>
                <a:spcPct val="120016"/>
              </a:lnSpc>
              <a:spcBef>
                <a:spcPts val="0"/>
              </a:spcBef>
              <a:spcAft>
                <a:spcPts val="0"/>
              </a:spcAft>
              <a:buNone/>
            </a:pPr>
            <a:endParaRPr sz="2398" dirty="0">
              <a:solidFill>
                <a:srgbClr val="000000"/>
              </a:solidFill>
              <a:latin typeface="Arial"/>
              <a:ea typeface="Arial"/>
              <a:cs typeface="Arial"/>
              <a:sym typeface="Arial"/>
            </a:endParaRPr>
          </a:p>
        </p:txBody>
      </p:sp>
      <p:sp>
        <p:nvSpPr>
          <p:cNvPr id="300" name="Google Shape;300;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301" name="Google Shape;301;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7" name="Google Shape;307;p13"/>
          <p:cNvSpPr txBox="1"/>
          <p:nvPr/>
        </p:nvSpPr>
        <p:spPr>
          <a:xfrm>
            <a:off x="2530029" y="530931"/>
            <a:ext cx="8156963" cy="687111"/>
          </a:xfrm>
          <a:prstGeom prst="rect">
            <a:avLst/>
          </a:prstGeom>
          <a:noFill/>
          <a:ln>
            <a:noFill/>
          </a:ln>
        </p:spPr>
        <p:txBody>
          <a:bodyPr spcFirstLastPara="1" wrap="square" lIns="0" tIns="0" rIns="0" bIns="0" anchor="t" anchorCtr="0">
            <a:spAutoFit/>
          </a:bodyPr>
          <a:lstStyle/>
          <a:p>
            <a:pPr marL="0" marR="0" lvl="0" indent="0" algn="ctr" rtl="0">
              <a:lnSpc>
                <a:spcPct val="107982"/>
              </a:lnSpc>
              <a:spcBef>
                <a:spcPts val="0"/>
              </a:spcBef>
              <a:spcAft>
                <a:spcPts val="0"/>
              </a:spcAft>
              <a:buNone/>
            </a:pPr>
            <a:r>
              <a:rPr lang="en-US" sz="4134" b="1" dirty="0">
                <a:solidFill>
                  <a:srgbClr val="C00000"/>
                </a:solidFill>
                <a:latin typeface="Times"/>
                <a:ea typeface="Times"/>
                <a:cs typeface="Times"/>
                <a:sym typeface="Times"/>
              </a:rPr>
              <a:t>PL/SQL Conditional Statements</a:t>
            </a:r>
            <a:endParaRPr dirty="0"/>
          </a:p>
        </p:txBody>
      </p:sp>
      <p:sp>
        <p:nvSpPr>
          <p:cNvPr id="308" name="Google Shape;308;p13"/>
          <p:cNvSpPr txBox="1"/>
          <p:nvPr/>
        </p:nvSpPr>
        <p:spPr>
          <a:xfrm>
            <a:off x="1108038" y="1178480"/>
            <a:ext cx="10571992" cy="4860048"/>
          </a:xfrm>
          <a:prstGeom prst="rect">
            <a:avLst/>
          </a:prstGeom>
          <a:noFill/>
          <a:ln>
            <a:noFill/>
          </a:ln>
        </p:spPr>
        <p:txBody>
          <a:bodyPr spcFirstLastPara="1" wrap="square" lIns="0" tIns="0" rIns="0" bIns="0" anchor="t" anchorCtr="0">
            <a:spAutoFit/>
          </a:bodyPr>
          <a:lstStyle/>
          <a:p>
            <a:pPr marL="0" marR="0" lvl="0" indent="0" algn="just" rtl="0">
              <a:lnSpc>
                <a:spcPct val="120041"/>
              </a:lnSpc>
              <a:spcBef>
                <a:spcPts val="0"/>
              </a:spcBef>
              <a:spcAft>
                <a:spcPts val="0"/>
              </a:spcAft>
              <a:buNone/>
            </a:pPr>
            <a:r>
              <a:rPr lang="en-US" sz="1880" b="1" dirty="0">
                <a:solidFill>
                  <a:srgbClr val="000000"/>
                </a:solidFill>
                <a:latin typeface="Arial"/>
                <a:ea typeface="Arial"/>
                <a:cs typeface="Arial"/>
                <a:sym typeface="Arial"/>
              </a:rPr>
              <a:t>4. IF THEN ELSIF-THEN-ELSE Ladder</a:t>
            </a:r>
            <a:endParaRPr sz="1880" dirty="0"/>
          </a:p>
          <a:p>
            <a:pPr marL="0" marR="0" lvl="0" indent="0" algn="just" rtl="0">
              <a:lnSpc>
                <a:spcPct val="120041"/>
              </a:lnSpc>
              <a:spcBef>
                <a:spcPts val="0"/>
              </a:spcBef>
              <a:spcAft>
                <a:spcPts val="0"/>
              </a:spcAft>
              <a:buNone/>
            </a:pPr>
            <a:r>
              <a:rPr lang="en-US" sz="1880" dirty="0">
                <a:solidFill>
                  <a:srgbClr val="000000"/>
                </a:solidFill>
                <a:latin typeface="Arial"/>
                <a:ea typeface="Arial"/>
                <a:cs typeface="Arial"/>
                <a:sym typeface="Arial"/>
              </a:rPr>
              <a:t>Here, a user can decide among multiple options. The if then statements are executed from the top down. As soon as one of the conditions controlling the if is true, the statement associated with that if is executed, and the rest of the ladder is bypassed. If none of the conditions is true, then the final else statement will be executed. Syntax:-</a:t>
            </a:r>
            <a:endParaRPr sz="1880" dirty="0"/>
          </a:p>
          <a:p>
            <a:pPr marL="0" marR="0" lvl="0" indent="0" algn="just" rtl="0">
              <a:lnSpc>
                <a:spcPct val="120041"/>
              </a:lnSpc>
              <a:spcBef>
                <a:spcPts val="0"/>
              </a:spcBef>
              <a:spcAft>
                <a:spcPts val="0"/>
              </a:spcAft>
              <a:buNone/>
            </a:pPr>
            <a:r>
              <a:rPr lang="en-US" sz="1880" dirty="0">
                <a:solidFill>
                  <a:srgbClr val="000000"/>
                </a:solidFill>
                <a:latin typeface="Arial"/>
                <a:ea typeface="Arial"/>
                <a:cs typeface="Arial"/>
                <a:sym typeface="Arial"/>
              </a:rPr>
              <a:t>if (condition) then</a:t>
            </a:r>
            <a:endParaRPr sz="1880" dirty="0"/>
          </a:p>
          <a:p>
            <a:pPr marL="0" marR="0" lvl="0" indent="0" algn="just" rtl="0">
              <a:lnSpc>
                <a:spcPct val="120041"/>
              </a:lnSpc>
              <a:spcBef>
                <a:spcPts val="0"/>
              </a:spcBef>
              <a:spcAft>
                <a:spcPts val="0"/>
              </a:spcAft>
              <a:buNone/>
            </a:pPr>
            <a:r>
              <a:rPr lang="en-US" sz="1880" dirty="0">
                <a:solidFill>
                  <a:srgbClr val="000000"/>
                </a:solidFill>
                <a:latin typeface="Arial"/>
                <a:ea typeface="Arial"/>
                <a:cs typeface="Arial"/>
                <a:sym typeface="Arial"/>
              </a:rPr>
              <a:t>    --statement</a:t>
            </a:r>
            <a:endParaRPr sz="1880" dirty="0"/>
          </a:p>
          <a:p>
            <a:pPr marL="0" marR="0" lvl="0" indent="0" algn="just" rtl="0">
              <a:lnSpc>
                <a:spcPct val="120041"/>
              </a:lnSpc>
              <a:spcBef>
                <a:spcPts val="0"/>
              </a:spcBef>
              <a:spcAft>
                <a:spcPts val="0"/>
              </a:spcAft>
              <a:buNone/>
            </a:pPr>
            <a:r>
              <a:rPr lang="en-US" sz="1880" dirty="0" err="1">
                <a:solidFill>
                  <a:srgbClr val="000000"/>
                </a:solidFill>
                <a:latin typeface="Arial"/>
                <a:ea typeface="Arial"/>
                <a:cs typeface="Arial"/>
                <a:sym typeface="Arial"/>
              </a:rPr>
              <a:t>elsif</a:t>
            </a:r>
            <a:r>
              <a:rPr lang="en-US" sz="1880" dirty="0">
                <a:solidFill>
                  <a:srgbClr val="000000"/>
                </a:solidFill>
                <a:latin typeface="Arial"/>
                <a:ea typeface="Arial"/>
                <a:cs typeface="Arial"/>
                <a:sym typeface="Arial"/>
              </a:rPr>
              <a:t> (condition) then</a:t>
            </a:r>
            <a:endParaRPr sz="1880" dirty="0"/>
          </a:p>
          <a:p>
            <a:pPr marL="0" marR="0" lvl="0" indent="0" algn="just" rtl="0">
              <a:lnSpc>
                <a:spcPct val="120041"/>
              </a:lnSpc>
              <a:spcBef>
                <a:spcPts val="0"/>
              </a:spcBef>
              <a:spcAft>
                <a:spcPts val="0"/>
              </a:spcAft>
              <a:buNone/>
            </a:pPr>
            <a:r>
              <a:rPr lang="en-US" sz="1880" dirty="0">
                <a:solidFill>
                  <a:srgbClr val="000000"/>
                </a:solidFill>
                <a:latin typeface="Arial"/>
                <a:ea typeface="Arial"/>
                <a:cs typeface="Arial"/>
                <a:sym typeface="Arial"/>
              </a:rPr>
              <a:t>    --statement</a:t>
            </a:r>
            <a:endParaRPr sz="1880" dirty="0"/>
          </a:p>
          <a:p>
            <a:pPr marL="0" marR="0" lvl="0" indent="0" algn="just" rtl="0">
              <a:lnSpc>
                <a:spcPct val="120041"/>
              </a:lnSpc>
              <a:spcBef>
                <a:spcPts val="0"/>
              </a:spcBef>
              <a:spcAft>
                <a:spcPts val="0"/>
              </a:spcAft>
              <a:buNone/>
            </a:pPr>
            <a:r>
              <a:rPr lang="en-US" sz="1880" dirty="0">
                <a:solidFill>
                  <a:srgbClr val="000000"/>
                </a:solidFill>
                <a:latin typeface="Arial"/>
                <a:ea typeface="Arial"/>
                <a:cs typeface="Arial"/>
                <a:sym typeface="Arial"/>
              </a:rPr>
              <a:t>.</a:t>
            </a:r>
            <a:endParaRPr sz="1880" dirty="0"/>
          </a:p>
          <a:p>
            <a:pPr marL="0" marR="0" lvl="0" indent="0" algn="just" rtl="0">
              <a:lnSpc>
                <a:spcPct val="120041"/>
              </a:lnSpc>
              <a:spcBef>
                <a:spcPts val="0"/>
              </a:spcBef>
              <a:spcAft>
                <a:spcPts val="0"/>
              </a:spcAft>
              <a:buNone/>
            </a:pPr>
            <a:r>
              <a:rPr lang="en-US" sz="1880" dirty="0">
                <a:solidFill>
                  <a:srgbClr val="000000"/>
                </a:solidFill>
                <a:latin typeface="Arial"/>
                <a:ea typeface="Arial"/>
                <a:cs typeface="Arial"/>
                <a:sym typeface="Arial"/>
              </a:rPr>
              <a:t>.</a:t>
            </a:r>
            <a:endParaRPr sz="1880" dirty="0"/>
          </a:p>
          <a:p>
            <a:pPr marL="0" marR="0" lvl="0" indent="0" algn="just" rtl="0">
              <a:lnSpc>
                <a:spcPct val="120041"/>
              </a:lnSpc>
              <a:spcBef>
                <a:spcPts val="0"/>
              </a:spcBef>
              <a:spcAft>
                <a:spcPts val="0"/>
              </a:spcAft>
              <a:buNone/>
            </a:pPr>
            <a:r>
              <a:rPr lang="en-US" sz="1880" dirty="0">
                <a:solidFill>
                  <a:srgbClr val="000000"/>
                </a:solidFill>
                <a:latin typeface="Arial"/>
                <a:ea typeface="Arial"/>
                <a:cs typeface="Arial"/>
                <a:sym typeface="Arial"/>
              </a:rPr>
              <a:t>else</a:t>
            </a:r>
            <a:endParaRPr sz="1880" dirty="0"/>
          </a:p>
          <a:p>
            <a:pPr marL="0" marR="0" lvl="0" indent="0" algn="just" rtl="0">
              <a:lnSpc>
                <a:spcPct val="120041"/>
              </a:lnSpc>
              <a:spcBef>
                <a:spcPts val="0"/>
              </a:spcBef>
              <a:spcAft>
                <a:spcPts val="0"/>
              </a:spcAft>
              <a:buNone/>
            </a:pPr>
            <a:r>
              <a:rPr lang="en-US" sz="1880" dirty="0">
                <a:solidFill>
                  <a:srgbClr val="000000"/>
                </a:solidFill>
                <a:latin typeface="Arial"/>
                <a:ea typeface="Arial"/>
                <a:cs typeface="Arial"/>
                <a:sym typeface="Arial"/>
              </a:rPr>
              <a:t>    --statement</a:t>
            </a:r>
            <a:endParaRPr sz="1880" dirty="0"/>
          </a:p>
          <a:p>
            <a:pPr marL="0" marR="0" lvl="0" indent="0" algn="just" rtl="0">
              <a:lnSpc>
                <a:spcPct val="120041"/>
              </a:lnSpc>
              <a:spcBef>
                <a:spcPts val="0"/>
              </a:spcBef>
              <a:spcAft>
                <a:spcPts val="0"/>
              </a:spcAft>
              <a:buNone/>
            </a:pPr>
            <a:r>
              <a:rPr lang="en-US" sz="1880" dirty="0">
                <a:solidFill>
                  <a:srgbClr val="000000"/>
                </a:solidFill>
                <a:latin typeface="Arial"/>
                <a:ea typeface="Arial"/>
                <a:cs typeface="Arial"/>
                <a:sym typeface="Arial"/>
              </a:rPr>
              <a:t>endif</a:t>
            </a:r>
            <a:endParaRPr sz="1880" dirty="0"/>
          </a:p>
        </p:txBody>
      </p:sp>
      <p:sp>
        <p:nvSpPr>
          <p:cNvPr id="309" name="Google Shape;309;p13"/>
          <p:cNvSpPr/>
          <p:nvPr/>
        </p:nvSpPr>
        <p:spPr>
          <a:xfrm>
            <a:off x="8025314" y="2714063"/>
            <a:ext cx="3654716" cy="3824849"/>
          </a:xfrm>
          <a:custGeom>
            <a:avLst/>
            <a:gdLst/>
            <a:ahLst/>
            <a:cxnLst/>
            <a:rect l="l" t="t" r="r" b="b"/>
            <a:pathLst>
              <a:path w="5482074" h="5737274" extrusionOk="0">
                <a:moveTo>
                  <a:pt x="0" y="0"/>
                </a:moveTo>
                <a:lnTo>
                  <a:pt x="5482073" y="0"/>
                </a:lnTo>
                <a:lnTo>
                  <a:pt x="5482073" y="5737274"/>
                </a:lnTo>
                <a:lnTo>
                  <a:pt x="0" y="5737274"/>
                </a:lnTo>
                <a:lnTo>
                  <a:pt x="0" y="0"/>
                </a:lnTo>
                <a:close/>
              </a:path>
            </a:pathLst>
          </a:custGeom>
          <a:blipFill rotWithShape="1">
            <a:blip r:embed="rId3">
              <a:alphaModFix/>
            </a:blip>
            <a:stretch>
              <a:fillRect/>
            </a:stretch>
          </a:blipFill>
          <a:ln>
            <a:noFill/>
          </a:ln>
        </p:spPr>
      </p:sp>
      <p:sp>
        <p:nvSpPr>
          <p:cNvPr id="310" name="Google Shape;310;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12/20/2024</a:t>
            </a:r>
            <a:endParaRPr dirty="0"/>
          </a:p>
        </p:txBody>
      </p:sp>
      <p:sp>
        <p:nvSpPr>
          <p:cNvPr id="311" name="Google Shape;311;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7" name="Google Shape;317;p14"/>
          <p:cNvSpPr txBox="1"/>
          <p:nvPr/>
        </p:nvSpPr>
        <p:spPr>
          <a:xfrm>
            <a:off x="2209800" y="471170"/>
            <a:ext cx="8156963" cy="687111"/>
          </a:xfrm>
          <a:prstGeom prst="rect">
            <a:avLst/>
          </a:prstGeom>
          <a:noFill/>
          <a:ln>
            <a:noFill/>
          </a:ln>
        </p:spPr>
        <p:txBody>
          <a:bodyPr spcFirstLastPara="1" wrap="square" lIns="0" tIns="0" rIns="0" bIns="0" anchor="t" anchorCtr="0">
            <a:spAutoFit/>
          </a:bodyPr>
          <a:lstStyle/>
          <a:p>
            <a:pPr marL="0" marR="0" lvl="0" indent="0" algn="ctr" rtl="0">
              <a:lnSpc>
                <a:spcPct val="107982"/>
              </a:lnSpc>
              <a:spcBef>
                <a:spcPts val="0"/>
              </a:spcBef>
              <a:spcAft>
                <a:spcPts val="0"/>
              </a:spcAft>
              <a:buNone/>
            </a:pPr>
            <a:r>
              <a:rPr lang="en-US" sz="4134" b="1" dirty="0">
                <a:solidFill>
                  <a:srgbClr val="C00000"/>
                </a:solidFill>
                <a:latin typeface="Times"/>
                <a:ea typeface="Times"/>
                <a:cs typeface="Times"/>
                <a:sym typeface="Times"/>
              </a:rPr>
              <a:t>PL/SQL Conditional Statements</a:t>
            </a:r>
            <a:endParaRPr dirty="0"/>
          </a:p>
        </p:txBody>
      </p:sp>
      <p:sp>
        <p:nvSpPr>
          <p:cNvPr id="318" name="Google Shape;318;p14"/>
          <p:cNvSpPr/>
          <p:nvPr/>
        </p:nvSpPr>
        <p:spPr>
          <a:xfrm>
            <a:off x="5476830" y="1231907"/>
            <a:ext cx="5766379" cy="4987918"/>
          </a:xfrm>
          <a:custGeom>
            <a:avLst/>
            <a:gdLst/>
            <a:ahLst/>
            <a:cxnLst/>
            <a:rect l="l" t="t" r="r" b="b"/>
            <a:pathLst>
              <a:path w="8649569" h="7481877" extrusionOk="0">
                <a:moveTo>
                  <a:pt x="0" y="0"/>
                </a:moveTo>
                <a:lnTo>
                  <a:pt x="8649569" y="0"/>
                </a:lnTo>
                <a:lnTo>
                  <a:pt x="8649569" y="7481877"/>
                </a:lnTo>
                <a:lnTo>
                  <a:pt x="0" y="7481877"/>
                </a:lnTo>
                <a:lnTo>
                  <a:pt x="0" y="0"/>
                </a:lnTo>
                <a:close/>
              </a:path>
            </a:pathLst>
          </a:custGeom>
          <a:blipFill rotWithShape="1">
            <a:blip r:embed="rId3">
              <a:alphaModFix/>
            </a:blip>
            <a:stretch>
              <a:fillRect/>
            </a:stretch>
          </a:blipFill>
          <a:ln>
            <a:noFill/>
          </a:ln>
        </p:spPr>
      </p:sp>
      <p:sp>
        <p:nvSpPr>
          <p:cNvPr id="319" name="Google Shape;319;p14"/>
          <p:cNvSpPr txBox="1"/>
          <p:nvPr/>
        </p:nvSpPr>
        <p:spPr>
          <a:xfrm>
            <a:off x="1570615" y="1608261"/>
            <a:ext cx="2957425" cy="1484765"/>
          </a:xfrm>
          <a:prstGeom prst="rect">
            <a:avLst/>
          </a:prstGeom>
          <a:noFill/>
          <a:ln>
            <a:noFill/>
          </a:ln>
        </p:spPr>
        <p:txBody>
          <a:bodyPr spcFirstLastPara="1" wrap="square" lIns="0" tIns="0" rIns="0" bIns="0" anchor="t" anchorCtr="0">
            <a:spAutoFit/>
          </a:bodyPr>
          <a:lstStyle/>
          <a:p>
            <a:pPr marL="0" marR="0" lvl="0" indent="0" algn="just" rtl="0">
              <a:lnSpc>
                <a:spcPct val="119991"/>
              </a:lnSpc>
              <a:spcBef>
                <a:spcPts val="0"/>
              </a:spcBef>
              <a:spcAft>
                <a:spcPts val="0"/>
              </a:spcAft>
              <a:buNone/>
            </a:pPr>
            <a:r>
              <a:rPr lang="en-US" sz="1880" b="1" dirty="0">
                <a:solidFill>
                  <a:srgbClr val="000000"/>
                </a:solidFill>
                <a:latin typeface="Arial"/>
                <a:ea typeface="Arial"/>
                <a:cs typeface="Arial"/>
                <a:sym typeface="Arial"/>
              </a:rPr>
              <a:t>Output:-</a:t>
            </a:r>
            <a:endParaRPr sz="1880" dirty="0"/>
          </a:p>
          <a:p>
            <a:pPr marL="0" marR="0" lvl="0" indent="0" algn="just" rtl="0">
              <a:lnSpc>
                <a:spcPct val="119991"/>
              </a:lnSpc>
              <a:spcBef>
                <a:spcPts val="0"/>
              </a:spcBef>
              <a:spcAft>
                <a:spcPts val="0"/>
              </a:spcAft>
              <a:buNone/>
            </a:pPr>
            <a:r>
              <a:rPr lang="en-US" sz="1880" dirty="0">
                <a:solidFill>
                  <a:srgbClr val="000000"/>
                </a:solidFill>
                <a:latin typeface="Arial"/>
                <a:ea typeface="Arial"/>
                <a:cs typeface="Arial"/>
                <a:sym typeface="Arial"/>
              </a:rPr>
              <a:t>num1 small</a:t>
            </a:r>
            <a:endParaRPr sz="1880" dirty="0"/>
          </a:p>
          <a:p>
            <a:pPr marL="0" marR="0" lvl="0" indent="0" algn="just" rtl="0">
              <a:lnSpc>
                <a:spcPct val="119991"/>
              </a:lnSpc>
              <a:spcBef>
                <a:spcPts val="0"/>
              </a:spcBef>
              <a:spcAft>
                <a:spcPts val="0"/>
              </a:spcAft>
              <a:buNone/>
            </a:pPr>
            <a:r>
              <a:rPr lang="en-US" sz="1880" dirty="0">
                <a:solidFill>
                  <a:srgbClr val="000000"/>
                </a:solidFill>
                <a:latin typeface="Arial"/>
                <a:ea typeface="Arial"/>
                <a:cs typeface="Arial"/>
                <a:sym typeface="Arial"/>
              </a:rPr>
              <a:t>after end if</a:t>
            </a:r>
            <a:endParaRPr sz="1880" dirty="0"/>
          </a:p>
          <a:p>
            <a:pPr marL="0" marR="0" lvl="0" indent="0" algn="just" rtl="0">
              <a:lnSpc>
                <a:spcPct val="119991"/>
              </a:lnSpc>
              <a:spcBef>
                <a:spcPts val="0"/>
              </a:spcBef>
              <a:spcAft>
                <a:spcPts val="0"/>
              </a:spcAft>
              <a:buNone/>
            </a:pPr>
            <a:endParaRPr sz="2401" dirty="0">
              <a:solidFill>
                <a:srgbClr val="000000"/>
              </a:solidFill>
              <a:latin typeface="Arial"/>
              <a:ea typeface="Arial"/>
              <a:cs typeface="Arial"/>
              <a:sym typeface="Arial"/>
            </a:endParaRPr>
          </a:p>
        </p:txBody>
      </p:sp>
      <p:sp>
        <p:nvSpPr>
          <p:cNvPr id="320" name="Google Shape;320;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321" name="Google Shape;32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7" name="Google Shape;327;p15"/>
          <p:cNvSpPr txBox="1"/>
          <p:nvPr/>
        </p:nvSpPr>
        <p:spPr>
          <a:xfrm>
            <a:off x="2471429" y="379824"/>
            <a:ext cx="8156963" cy="73129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4400" b="1" dirty="0">
                <a:solidFill>
                  <a:srgbClr val="C00000"/>
                </a:solidFill>
                <a:latin typeface="Times"/>
                <a:ea typeface="Times"/>
                <a:cs typeface="Times"/>
                <a:sym typeface="Times"/>
              </a:rPr>
              <a:t>PL/SQL Iterative Control</a:t>
            </a:r>
            <a:endParaRPr dirty="0"/>
          </a:p>
        </p:txBody>
      </p:sp>
      <p:sp>
        <p:nvSpPr>
          <p:cNvPr id="328" name="Google Shape;328;p15"/>
          <p:cNvSpPr txBox="1"/>
          <p:nvPr/>
        </p:nvSpPr>
        <p:spPr>
          <a:xfrm>
            <a:off x="1000461" y="1367365"/>
            <a:ext cx="10725472" cy="3471463"/>
          </a:xfrm>
          <a:prstGeom prst="rect">
            <a:avLst/>
          </a:prstGeom>
          <a:noFill/>
          <a:ln>
            <a:noFill/>
          </a:ln>
        </p:spPr>
        <p:txBody>
          <a:bodyPr spcFirstLastPara="1" wrap="square" lIns="0" tIns="0" rIns="0" bIns="0" anchor="t" anchorCtr="0">
            <a:spAutoFit/>
          </a:bodyPr>
          <a:lstStyle/>
          <a:p>
            <a:pPr marL="0" marR="0" lvl="0" indent="0" algn="just" rtl="0">
              <a:lnSpc>
                <a:spcPct val="119966"/>
              </a:lnSpc>
              <a:spcBef>
                <a:spcPts val="0"/>
              </a:spcBef>
              <a:spcAft>
                <a:spcPts val="0"/>
              </a:spcAft>
              <a:buNone/>
            </a:pPr>
            <a:r>
              <a:rPr lang="en-US" sz="1880" dirty="0">
                <a:solidFill>
                  <a:srgbClr val="000000"/>
                </a:solidFill>
                <a:latin typeface="Arial"/>
                <a:ea typeface="Arial"/>
                <a:cs typeface="Arial"/>
                <a:sym typeface="Arial"/>
              </a:rPr>
              <a:t>Iterative control indicates the ability to repeat or skip sections of a code block. </a:t>
            </a:r>
            <a:endParaRPr sz="1880" dirty="0"/>
          </a:p>
          <a:p>
            <a:pPr marL="0" marR="0" lvl="0" indent="0" algn="just" rtl="0">
              <a:lnSpc>
                <a:spcPct val="119966"/>
              </a:lnSpc>
              <a:spcBef>
                <a:spcPts val="0"/>
              </a:spcBef>
              <a:spcAft>
                <a:spcPts val="0"/>
              </a:spcAft>
              <a:buNone/>
            </a:pPr>
            <a:r>
              <a:rPr lang="en-US" sz="1880" dirty="0">
                <a:solidFill>
                  <a:srgbClr val="000000"/>
                </a:solidFill>
                <a:latin typeface="Arial"/>
                <a:ea typeface="Arial"/>
                <a:cs typeface="Arial"/>
                <a:sym typeface="Arial"/>
              </a:rPr>
              <a:t>A loop marks a sequence of statements that has to be repeated. The keyword loop has to be placed before the first statement in the sequence of statements to be repeated, while the keyword end loop is placed immediately after the last statement in the sequence. </a:t>
            </a:r>
            <a:endParaRPr sz="1880" dirty="0"/>
          </a:p>
          <a:p>
            <a:pPr marL="0" marR="0" lvl="0" indent="0" algn="just" rtl="0">
              <a:lnSpc>
                <a:spcPct val="119966"/>
              </a:lnSpc>
              <a:spcBef>
                <a:spcPts val="0"/>
              </a:spcBef>
              <a:spcAft>
                <a:spcPts val="0"/>
              </a:spcAft>
              <a:buNone/>
            </a:pPr>
            <a:r>
              <a:rPr lang="en-US" sz="1880" dirty="0">
                <a:solidFill>
                  <a:srgbClr val="000000"/>
                </a:solidFill>
                <a:latin typeface="Arial"/>
                <a:ea typeface="Arial"/>
                <a:cs typeface="Arial"/>
                <a:sym typeface="Arial"/>
              </a:rPr>
              <a:t>Once a loop begins to execute, it will go on forever. Hence a conditional statement that controls the number of times a loop is executed always accompanies loops.</a:t>
            </a:r>
            <a:endParaRPr sz="1880" dirty="0"/>
          </a:p>
          <a:p>
            <a:pPr marL="0" marR="0" lvl="0" indent="0" algn="just" rtl="0">
              <a:lnSpc>
                <a:spcPct val="119966"/>
              </a:lnSpc>
              <a:spcBef>
                <a:spcPts val="0"/>
              </a:spcBef>
              <a:spcAft>
                <a:spcPts val="0"/>
              </a:spcAft>
              <a:buNone/>
            </a:pPr>
            <a:r>
              <a:rPr lang="en-US" sz="1880" dirty="0">
                <a:solidFill>
                  <a:srgbClr val="000000"/>
                </a:solidFill>
                <a:latin typeface="Arial"/>
                <a:ea typeface="Arial"/>
                <a:cs typeface="Arial"/>
                <a:sym typeface="Arial"/>
              </a:rPr>
              <a:t>PL/SQL supports the following structures for iterative control: </a:t>
            </a:r>
            <a:endParaRPr sz="1880" dirty="0"/>
          </a:p>
          <a:p>
            <a:pPr marL="517932" marR="0" lvl="1" indent="-258965" algn="just" rtl="0">
              <a:lnSpc>
                <a:spcPct val="119966"/>
              </a:lnSpc>
              <a:spcBef>
                <a:spcPts val="0"/>
              </a:spcBef>
              <a:spcAft>
                <a:spcPts val="0"/>
              </a:spcAft>
              <a:buClr>
                <a:srgbClr val="000000"/>
              </a:buClr>
              <a:buSzPts val="2399"/>
              <a:buFont typeface="Arial"/>
              <a:buChar char="•"/>
            </a:pPr>
            <a:r>
              <a:rPr lang="en-US" sz="1880" b="0" i="0" u="none" strike="noStrike" cap="none" dirty="0">
                <a:solidFill>
                  <a:srgbClr val="000000"/>
                </a:solidFill>
                <a:latin typeface="Arial"/>
                <a:ea typeface="Arial"/>
                <a:cs typeface="Arial"/>
                <a:sym typeface="Arial"/>
              </a:rPr>
              <a:t>Loop</a:t>
            </a:r>
            <a:endParaRPr sz="1880" dirty="0"/>
          </a:p>
          <a:p>
            <a:pPr marL="517932" marR="0" lvl="1" indent="-258965" algn="just" rtl="0">
              <a:lnSpc>
                <a:spcPct val="119966"/>
              </a:lnSpc>
              <a:spcBef>
                <a:spcPts val="0"/>
              </a:spcBef>
              <a:spcAft>
                <a:spcPts val="0"/>
              </a:spcAft>
              <a:buClr>
                <a:srgbClr val="000000"/>
              </a:buClr>
              <a:buSzPts val="2399"/>
              <a:buFont typeface="Arial"/>
              <a:buChar char="•"/>
            </a:pPr>
            <a:r>
              <a:rPr lang="en-US" sz="1880" b="0" i="0" u="none" strike="noStrike" cap="none" dirty="0">
                <a:solidFill>
                  <a:srgbClr val="000000"/>
                </a:solidFill>
                <a:latin typeface="Arial"/>
                <a:ea typeface="Arial"/>
                <a:cs typeface="Arial"/>
                <a:sym typeface="Arial"/>
              </a:rPr>
              <a:t>WHILE loop</a:t>
            </a:r>
            <a:endParaRPr sz="1880" dirty="0"/>
          </a:p>
          <a:p>
            <a:pPr marL="517932" marR="0" lvl="1" indent="-258965" algn="just" rtl="0">
              <a:lnSpc>
                <a:spcPct val="119966"/>
              </a:lnSpc>
              <a:spcBef>
                <a:spcPts val="0"/>
              </a:spcBef>
              <a:spcAft>
                <a:spcPts val="0"/>
              </a:spcAft>
              <a:buClr>
                <a:srgbClr val="000000"/>
              </a:buClr>
              <a:buSzPts val="2399"/>
              <a:buFont typeface="Arial"/>
              <a:buChar char="•"/>
            </a:pPr>
            <a:r>
              <a:rPr lang="en-US" sz="1880" b="0" i="0" u="none" strike="noStrike" cap="none" dirty="0">
                <a:solidFill>
                  <a:srgbClr val="000000"/>
                </a:solidFill>
                <a:latin typeface="Arial"/>
                <a:ea typeface="Arial"/>
                <a:cs typeface="Arial"/>
                <a:sym typeface="Arial"/>
              </a:rPr>
              <a:t>FOR loop</a:t>
            </a:r>
            <a:endParaRPr sz="1880" dirty="0"/>
          </a:p>
        </p:txBody>
      </p:sp>
      <p:sp>
        <p:nvSpPr>
          <p:cNvPr id="329" name="Google Shape;329;p15"/>
          <p:cNvSpPr/>
          <p:nvPr/>
        </p:nvSpPr>
        <p:spPr>
          <a:xfrm>
            <a:off x="7244873" y="4104584"/>
            <a:ext cx="4265906" cy="1851894"/>
          </a:xfrm>
          <a:custGeom>
            <a:avLst/>
            <a:gdLst/>
            <a:ahLst/>
            <a:cxnLst/>
            <a:rect l="l" t="t" r="r" b="b"/>
            <a:pathLst>
              <a:path w="6398859" h="2777841" extrusionOk="0">
                <a:moveTo>
                  <a:pt x="0" y="0"/>
                </a:moveTo>
                <a:lnTo>
                  <a:pt x="6398860" y="0"/>
                </a:lnTo>
                <a:lnTo>
                  <a:pt x="6398860" y="2777841"/>
                </a:lnTo>
                <a:lnTo>
                  <a:pt x="0" y="2777841"/>
                </a:lnTo>
                <a:lnTo>
                  <a:pt x="0" y="0"/>
                </a:lnTo>
                <a:close/>
              </a:path>
            </a:pathLst>
          </a:custGeom>
          <a:blipFill rotWithShape="1">
            <a:blip r:embed="rId3">
              <a:alphaModFix/>
            </a:blip>
            <a:stretch>
              <a:fillRect t="-13134" b="-8409"/>
            </a:stretch>
          </a:blipFill>
          <a:ln>
            <a:noFill/>
          </a:ln>
        </p:spPr>
      </p:sp>
      <p:sp>
        <p:nvSpPr>
          <p:cNvPr id="330" name="Google Shape;330;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331" name="Google Shape;331;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7" name="Google Shape;337;p16"/>
          <p:cNvSpPr txBox="1"/>
          <p:nvPr/>
        </p:nvSpPr>
        <p:spPr>
          <a:xfrm>
            <a:off x="2751128" y="385081"/>
            <a:ext cx="8353513" cy="73129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4400" b="1" dirty="0">
                <a:solidFill>
                  <a:srgbClr val="C00000"/>
                </a:solidFill>
                <a:latin typeface="Times"/>
                <a:ea typeface="Times"/>
                <a:cs typeface="Times"/>
                <a:sym typeface="Times"/>
              </a:rPr>
              <a:t>PL/SQL Iterative Control</a:t>
            </a:r>
            <a:endParaRPr dirty="0"/>
          </a:p>
        </p:txBody>
      </p:sp>
      <p:sp>
        <p:nvSpPr>
          <p:cNvPr id="338" name="Google Shape;338;p16"/>
          <p:cNvSpPr txBox="1"/>
          <p:nvPr/>
        </p:nvSpPr>
        <p:spPr>
          <a:xfrm>
            <a:off x="1387736" y="1616187"/>
            <a:ext cx="9979952" cy="2430024"/>
          </a:xfrm>
          <a:prstGeom prst="rect">
            <a:avLst/>
          </a:prstGeom>
          <a:noFill/>
          <a:ln>
            <a:noFill/>
          </a:ln>
        </p:spPr>
        <p:txBody>
          <a:bodyPr spcFirstLastPara="1" wrap="square" lIns="0" tIns="0" rIns="0" bIns="0" anchor="t" anchorCtr="0">
            <a:spAutoFit/>
          </a:bodyPr>
          <a:lstStyle/>
          <a:p>
            <a:pPr marL="0" marR="0" lvl="0" indent="0" algn="just" rtl="0">
              <a:lnSpc>
                <a:spcPct val="120008"/>
              </a:lnSpc>
              <a:spcBef>
                <a:spcPts val="0"/>
              </a:spcBef>
              <a:spcAft>
                <a:spcPts val="0"/>
              </a:spcAft>
              <a:buNone/>
            </a:pPr>
            <a:r>
              <a:rPr lang="en-US" sz="1880" b="1" dirty="0">
                <a:solidFill>
                  <a:srgbClr val="000000"/>
                </a:solidFill>
                <a:latin typeface="Arial"/>
                <a:ea typeface="Arial"/>
                <a:cs typeface="Arial"/>
                <a:sym typeface="Arial"/>
              </a:rPr>
              <a:t>Simple loop:</a:t>
            </a:r>
            <a:endParaRPr sz="1880" dirty="0"/>
          </a:p>
          <a:p>
            <a:pPr marL="0" marR="0" lvl="0" indent="0" algn="just" rtl="0">
              <a:lnSpc>
                <a:spcPct val="120008"/>
              </a:lnSpc>
              <a:spcBef>
                <a:spcPts val="0"/>
              </a:spcBef>
              <a:spcAft>
                <a:spcPts val="0"/>
              </a:spcAft>
              <a:buNone/>
            </a:pPr>
            <a:r>
              <a:rPr lang="en-US" sz="1880" dirty="0">
                <a:solidFill>
                  <a:srgbClr val="000000"/>
                </a:solidFill>
                <a:latin typeface="Arial"/>
                <a:ea typeface="Arial"/>
                <a:cs typeface="Arial"/>
                <a:sym typeface="Arial"/>
              </a:rPr>
              <a:t>In simple loop, the key word loop should be placed before the first statement in the sequence and the keyword end loop should be written at the end of the sequence to end the loop.</a:t>
            </a:r>
            <a:endParaRPr sz="1880" dirty="0"/>
          </a:p>
          <a:p>
            <a:pPr marL="0" marR="0" lvl="0" indent="0" algn="just" rtl="0">
              <a:lnSpc>
                <a:spcPct val="120008"/>
              </a:lnSpc>
              <a:spcBef>
                <a:spcPts val="0"/>
              </a:spcBef>
              <a:spcAft>
                <a:spcPts val="0"/>
              </a:spcAft>
              <a:buNone/>
            </a:pPr>
            <a:r>
              <a:rPr lang="en-US" sz="1880" dirty="0">
                <a:solidFill>
                  <a:srgbClr val="000000"/>
                </a:solidFill>
                <a:latin typeface="Arial"/>
                <a:ea typeface="Arial"/>
                <a:cs typeface="Arial"/>
                <a:sym typeface="Arial"/>
              </a:rPr>
              <a:t>Syntax:</a:t>
            </a:r>
            <a:endParaRPr sz="1880" dirty="0"/>
          </a:p>
          <a:p>
            <a:pPr marL="0" marR="0" lvl="0" indent="0" algn="just" rtl="0">
              <a:lnSpc>
                <a:spcPct val="120008"/>
              </a:lnSpc>
              <a:spcBef>
                <a:spcPts val="0"/>
              </a:spcBef>
              <a:spcAft>
                <a:spcPts val="0"/>
              </a:spcAft>
              <a:buNone/>
            </a:pPr>
            <a:r>
              <a:rPr lang="en-US" sz="1880" dirty="0">
                <a:solidFill>
                  <a:srgbClr val="000000"/>
                </a:solidFill>
                <a:latin typeface="Arial"/>
                <a:ea typeface="Arial"/>
                <a:cs typeface="Arial"/>
                <a:sym typeface="Arial"/>
              </a:rPr>
              <a:t>Loop </a:t>
            </a:r>
            <a:endParaRPr sz="1880" dirty="0"/>
          </a:p>
          <a:p>
            <a:pPr marL="0" marR="0" lvl="0" indent="0" algn="just" rtl="0">
              <a:lnSpc>
                <a:spcPct val="120008"/>
              </a:lnSpc>
              <a:spcBef>
                <a:spcPts val="0"/>
              </a:spcBef>
              <a:spcAft>
                <a:spcPts val="0"/>
              </a:spcAft>
              <a:buNone/>
            </a:pPr>
            <a:r>
              <a:rPr lang="en-US" sz="1880" dirty="0">
                <a:solidFill>
                  <a:srgbClr val="000000"/>
                </a:solidFill>
                <a:latin typeface="Arial"/>
                <a:ea typeface="Arial"/>
                <a:cs typeface="Arial"/>
                <a:sym typeface="Arial"/>
              </a:rPr>
              <a:t>   &lt; Sequence of statements &gt;</a:t>
            </a:r>
            <a:endParaRPr sz="1880" dirty="0"/>
          </a:p>
          <a:p>
            <a:pPr marL="0" marR="0" lvl="0" indent="0" algn="just" rtl="0">
              <a:lnSpc>
                <a:spcPct val="120008"/>
              </a:lnSpc>
              <a:spcBef>
                <a:spcPts val="0"/>
              </a:spcBef>
              <a:spcAft>
                <a:spcPts val="0"/>
              </a:spcAft>
              <a:buNone/>
            </a:pPr>
            <a:r>
              <a:rPr lang="en-US" sz="1880" dirty="0">
                <a:solidFill>
                  <a:srgbClr val="000000"/>
                </a:solidFill>
                <a:latin typeface="Arial"/>
                <a:ea typeface="Arial"/>
                <a:cs typeface="Arial"/>
                <a:sym typeface="Arial"/>
              </a:rPr>
              <a:t> End loop; </a:t>
            </a:r>
            <a:endParaRPr sz="1880" dirty="0"/>
          </a:p>
        </p:txBody>
      </p:sp>
      <p:sp>
        <p:nvSpPr>
          <p:cNvPr id="339" name="Google Shape;339;p16"/>
          <p:cNvSpPr/>
          <p:nvPr/>
        </p:nvSpPr>
        <p:spPr>
          <a:xfrm>
            <a:off x="7915413" y="3107029"/>
            <a:ext cx="3189228" cy="2555369"/>
          </a:xfrm>
          <a:custGeom>
            <a:avLst/>
            <a:gdLst/>
            <a:ahLst/>
            <a:cxnLst/>
            <a:rect l="l" t="t" r="r" b="b"/>
            <a:pathLst>
              <a:path w="4783842" h="3833053" extrusionOk="0">
                <a:moveTo>
                  <a:pt x="0" y="0"/>
                </a:moveTo>
                <a:lnTo>
                  <a:pt x="4783842" y="0"/>
                </a:lnTo>
                <a:lnTo>
                  <a:pt x="4783842" y="3833053"/>
                </a:lnTo>
                <a:lnTo>
                  <a:pt x="0" y="3833053"/>
                </a:lnTo>
                <a:lnTo>
                  <a:pt x="0" y="0"/>
                </a:lnTo>
                <a:close/>
              </a:path>
            </a:pathLst>
          </a:custGeom>
          <a:blipFill rotWithShape="1">
            <a:blip r:embed="rId3">
              <a:alphaModFix/>
            </a:blip>
            <a:stretch>
              <a:fillRect/>
            </a:stretch>
          </a:blipFill>
          <a:ln>
            <a:noFill/>
          </a:ln>
        </p:spPr>
      </p:sp>
      <p:sp>
        <p:nvSpPr>
          <p:cNvPr id="340" name="Google Shape;340;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341" name="Google Shape;341;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7" name="Google Shape;347;p17"/>
          <p:cNvSpPr txBox="1"/>
          <p:nvPr/>
        </p:nvSpPr>
        <p:spPr>
          <a:xfrm>
            <a:off x="2453982" y="336819"/>
            <a:ext cx="8156963" cy="73129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4400" b="1" dirty="0">
                <a:solidFill>
                  <a:srgbClr val="C00000"/>
                </a:solidFill>
                <a:latin typeface="Times"/>
                <a:ea typeface="Times"/>
                <a:cs typeface="Times"/>
                <a:sym typeface="Times"/>
              </a:rPr>
              <a:t>PL/SQL Iterative Control</a:t>
            </a:r>
            <a:endParaRPr dirty="0"/>
          </a:p>
        </p:txBody>
      </p:sp>
      <p:sp>
        <p:nvSpPr>
          <p:cNvPr id="348" name="Google Shape;348;p17"/>
          <p:cNvSpPr/>
          <p:nvPr/>
        </p:nvSpPr>
        <p:spPr>
          <a:xfrm>
            <a:off x="1472489" y="1842713"/>
            <a:ext cx="6328947" cy="4353588"/>
          </a:xfrm>
          <a:custGeom>
            <a:avLst/>
            <a:gdLst/>
            <a:ahLst/>
            <a:cxnLst/>
            <a:rect l="l" t="t" r="r" b="b"/>
            <a:pathLst>
              <a:path w="9493420" h="6530382" extrusionOk="0">
                <a:moveTo>
                  <a:pt x="0" y="0"/>
                </a:moveTo>
                <a:lnTo>
                  <a:pt x="9493420" y="0"/>
                </a:lnTo>
                <a:lnTo>
                  <a:pt x="9493420" y="6530382"/>
                </a:lnTo>
                <a:lnTo>
                  <a:pt x="0" y="6530382"/>
                </a:lnTo>
                <a:lnTo>
                  <a:pt x="0" y="0"/>
                </a:lnTo>
                <a:close/>
              </a:path>
            </a:pathLst>
          </a:custGeom>
          <a:blipFill rotWithShape="1">
            <a:blip r:embed="rId3">
              <a:alphaModFix/>
            </a:blip>
            <a:stretch>
              <a:fillRect/>
            </a:stretch>
          </a:blipFill>
          <a:ln>
            <a:noFill/>
          </a:ln>
        </p:spPr>
      </p:sp>
      <p:sp>
        <p:nvSpPr>
          <p:cNvPr id="349" name="Google Shape;349;p17"/>
          <p:cNvSpPr txBox="1"/>
          <p:nvPr/>
        </p:nvSpPr>
        <p:spPr>
          <a:xfrm>
            <a:off x="1559035" y="1147427"/>
            <a:ext cx="863571" cy="72083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400" b="1" dirty="0">
                <a:solidFill>
                  <a:srgbClr val="000000"/>
                </a:solidFill>
                <a:latin typeface="Arial"/>
                <a:ea typeface="Arial"/>
                <a:cs typeface="Arial"/>
                <a:sym typeface="Arial"/>
              </a:rPr>
              <a:t>Code:</a:t>
            </a:r>
            <a:endParaRPr dirty="0"/>
          </a:p>
        </p:txBody>
      </p:sp>
      <p:sp>
        <p:nvSpPr>
          <p:cNvPr id="350" name="Google Shape;350;p17"/>
          <p:cNvSpPr txBox="1"/>
          <p:nvPr/>
        </p:nvSpPr>
        <p:spPr>
          <a:xfrm>
            <a:off x="9273924" y="1715179"/>
            <a:ext cx="754136" cy="406790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400" dirty="0" err="1">
                <a:solidFill>
                  <a:srgbClr val="000000"/>
                </a:solidFill>
                <a:latin typeface="Arial"/>
                <a:ea typeface="Arial"/>
                <a:cs typeface="Arial"/>
                <a:sym typeface="Arial"/>
              </a:rPr>
              <a:t>i</a:t>
            </a:r>
            <a:r>
              <a:rPr lang="en-US" sz="2400" dirty="0">
                <a:solidFill>
                  <a:srgbClr val="000000"/>
                </a:solidFill>
                <a:latin typeface="Arial"/>
                <a:ea typeface="Arial"/>
                <a:cs typeface="Arial"/>
                <a:sym typeface="Arial"/>
              </a:rPr>
              <a:t> = 0</a:t>
            </a:r>
            <a:endParaRPr dirty="0"/>
          </a:p>
          <a:p>
            <a:pPr marL="0" marR="0" lvl="0" indent="0" algn="ctr" rtl="0">
              <a:lnSpc>
                <a:spcPct val="120000"/>
              </a:lnSpc>
              <a:spcBef>
                <a:spcPts val="0"/>
              </a:spcBef>
              <a:spcAft>
                <a:spcPts val="0"/>
              </a:spcAft>
              <a:buNone/>
            </a:pPr>
            <a:r>
              <a:rPr lang="en-US" sz="2400" dirty="0" err="1">
                <a:solidFill>
                  <a:srgbClr val="000000"/>
                </a:solidFill>
                <a:latin typeface="Arial"/>
                <a:ea typeface="Arial"/>
                <a:cs typeface="Arial"/>
                <a:sym typeface="Arial"/>
              </a:rPr>
              <a:t>i</a:t>
            </a:r>
            <a:r>
              <a:rPr lang="en-US" sz="2400" dirty="0">
                <a:solidFill>
                  <a:srgbClr val="000000"/>
                </a:solidFill>
                <a:latin typeface="Arial"/>
                <a:ea typeface="Arial"/>
                <a:cs typeface="Arial"/>
                <a:sym typeface="Arial"/>
              </a:rPr>
              <a:t> = 1</a:t>
            </a:r>
            <a:endParaRPr dirty="0"/>
          </a:p>
          <a:p>
            <a:pPr marL="0" marR="0" lvl="0" indent="0" algn="ctr" rtl="0">
              <a:lnSpc>
                <a:spcPct val="120000"/>
              </a:lnSpc>
              <a:spcBef>
                <a:spcPts val="0"/>
              </a:spcBef>
              <a:spcAft>
                <a:spcPts val="0"/>
              </a:spcAft>
              <a:buNone/>
            </a:pPr>
            <a:r>
              <a:rPr lang="en-US" sz="2400" dirty="0" err="1">
                <a:solidFill>
                  <a:srgbClr val="000000"/>
                </a:solidFill>
                <a:latin typeface="Arial"/>
                <a:ea typeface="Arial"/>
                <a:cs typeface="Arial"/>
                <a:sym typeface="Arial"/>
              </a:rPr>
              <a:t>i</a:t>
            </a:r>
            <a:r>
              <a:rPr lang="en-US" sz="2400" dirty="0">
                <a:solidFill>
                  <a:srgbClr val="000000"/>
                </a:solidFill>
                <a:latin typeface="Arial"/>
                <a:ea typeface="Arial"/>
                <a:cs typeface="Arial"/>
                <a:sym typeface="Arial"/>
              </a:rPr>
              <a:t> = 2</a:t>
            </a:r>
            <a:endParaRPr dirty="0"/>
          </a:p>
          <a:p>
            <a:pPr marL="0" marR="0" lvl="0" indent="0" algn="ctr" rtl="0">
              <a:lnSpc>
                <a:spcPct val="120000"/>
              </a:lnSpc>
              <a:spcBef>
                <a:spcPts val="0"/>
              </a:spcBef>
              <a:spcAft>
                <a:spcPts val="0"/>
              </a:spcAft>
              <a:buNone/>
            </a:pPr>
            <a:r>
              <a:rPr lang="en-US" sz="2400" dirty="0" err="1">
                <a:solidFill>
                  <a:srgbClr val="000000"/>
                </a:solidFill>
                <a:latin typeface="Arial"/>
                <a:ea typeface="Arial"/>
                <a:cs typeface="Arial"/>
                <a:sym typeface="Arial"/>
              </a:rPr>
              <a:t>i</a:t>
            </a:r>
            <a:r>
              <a:rPr lang="en-US" sz="2400" dirty="0">
                <a:solidFill>
                  <a:srgbClr val="000000"/>
                </a:solidFill>
                <a:latin typeface="Arial"/>
                <a:ea typeface="Arial"/>
                <a:cs typeface="Arial"/>
                <a:sym typeface="Arial"/>
              </a:rPr>
              <a:t> = 3</a:t>
            </a:r>
            <a:endParaRPr dirty="0"/>
          </a:p>
          <a:p>
            <a:pPr marL="0" marR="0" lvl="0" indent="0" algn="ctr" rtl="0">
              <a:lnSpc>
                <a:spcPct val="120000"/>
              </a:lnSpc>
              <a:spcBef>
                <a:spcPts val="0"/>
              </a:spcBef>
              <a:spcAft>
                <a:spcPts val="0"/>
              </a:spcAft>
              <a:buNone/>
            </a:pPr>
            <a:r>
              <a:rPr lang="en-US" sz="2400" dirty="0" err="1">
                <a:solidFill>
                  <a:srgbClr val="000000"/>
                </a:solidFill>
                <a:latin typeface="Arial"/>
                <a:ea typeface="Arial"/>
                <a:cs typeface="Arial"/>
                <a:sym typeface="Arial"/>
              </a:rPr>
              <a:t>i</a:t>
            </a:r>
            <a:r>
              <a:rPr lang="en-US" sz="2400" dirty="0">
                <a:solidFill>
                  <a:srgbClr val="000000"/>
                </a:solidFill>
                <a:latin typeface="Arial"/>
                <a:ea typeface="Arial"/>
                <a:cs typeface="Arial"/>
                <a:sym typeface="Arial"/>
              </a:rPr>
              <a:t> = 4</a:t>
            </a:r>
            <a:endParaRPr dirty="0"/>
          </a:p>
          <a:p>
            <a:pPr marL="0" marR="0" lvl="0" indent="0" algn="ctr" rtl="0">
              <a:lnSpc>
                <a:spcPct val="120000"/>
              </a:lnSpc>
              <a:spcBef>
                <a:spcPts val="0"/>
              </a:spcBef>
              <a:spcAft>
                <a:spcPts val="0"/>
              </a:spcAft>
              <a:buNone/>
            </a:pPr>
            <a:r>
              <a:rPr lang="en-US" sz="2400" dirty="0" err="1">
                <a:solidFill>
                  <a:srgbClr val="000000"/>
                </a:solidFill>
                <a:latin typeface="Arial"/>
                <a:ea typeface="Arial"/>
                <a:cs typeface="Arial"/>
                <a:sym typeface="Arial"/>
              </a:rPr>
              <a:t>i</a:t>
            </a:r>
            <a:r>
              <a:rPr lang="en-US" sz="2400" dirty="0">
                <a:solidFill>
                  <a:srgbClr val="000000"/>
                </a:solidFill>
                <a:latin typeface="Arial"/>
                <a:ea typeface="Arial"/>
                <a:cs typeface="Arial"/>
                <a:sym typeface="Arial"/>
              </a:rPr>
              <a:t> = 5</a:t>
            </a:r>
            <a:endParaRPr dirty="0"/>
          </a:p>
          <a:p>
            <a:pPr marL="0" marR="0" lvl="0" indent="0" algn="ctr" rtl="0">
              <a:lnSpc>
                <a:spcPct val="120000"/>
              </a:lnSpc>
              <a:spcBef>
                <a:spcPts val="0"/>
              </a:spcBef>
              <a:spcAft>
                <a:spcPts val="0"/>
              </a:spcAft>
              <a:buNone/>
            </a:pPr>
            <a:r>
              <a:rPr lang="en-US" sz="2400" dirty="0" err="1">
                <a:solidFill>
                  <a:srgbClr val="000000"/>
                </a:solidFill>
                <a:latin typeface="Arial"/>
                <a:ea typeface="Arial"/>
                <a:cs typeface="Arial"/>
                <a:sym typeface="Arial"/>
              </a:rPr>
              <a:t>i</a:t>
            </a:r>
            <a:r>
              <a:rPr lang="en-US" sz="2400" dirty="0">
                <a:solidFill>
                  <a:srgbClr val="000000"/>
                </a:solidFill>
                <a:latin typeface="Arial"/>
                <a:ea typeface="Arial"/>
                <a:cs typeface="Arial"/>
                <a:sym typeface="Arial"/>
              </a:rPr>
              <a:t> = 6</a:t>
            </a:r>
            <a:endParaRPr dirty="0"/>
          </a:p>
          <a:p>
            <a:pPr marL="0" marR="0" lvl="0" indent="0" algn="ctr" rtl="0">
              <a:lnSpc>
                <a:spcPct val="120000"/>
              </a:lnSpc>
              <a:spcBef>
                <a:spcPts val="0"/>
              </a:spcBef>
              <a:spcAft>
                <a:spcPts val="0"/>
              </a:spcAft>
              <a:buNone/>
            </a:pPr>
            <a:r>
              <a:rPr lang="en-US" sz="2400" dirty="0" err="1">
                <a:solidFill>
                  <a:srgbClr val="000000"/>
                </a:solidFill>
                <a:latin typeface="Arial"/>
                <a:ea typeface="Arial"/>
                <a:cs typeface="Arial"/>
                <a:sym typeface="Arial"/>
              </a:rPr>
              <a:t>i</a:t>
            </a:r>
            <a:r>
              <a:rPr lang="en-US" sz="2400" dirty="0">
                <a:solidFill>
                  <a:srgbClr val="000000"/>
                </a:solidFill>
                <a:latin typeface="Arial"/>
                <a:ea typeface="Arial"/>
                <a:cs typeface="Arial"/>
                <a:sym typeface="Arial"/>
              </a:rPr>
              <a:t> = 7</a:t>
            </a:r>
            <a:endParaRPr dirty="0"/>
          </a:p>
          <a:p>
            <a:pPr marL="0" marR="0" lvl="0" indent="0" algn="ctr" rtl="0">
              <a:lnSpc>
                <a:spcPct val="120000"/>
              </a:lnSpc>
              <a:spcBef>
                <a:spcPts val="0"/>
              </a:spcBef>
              <a:spcAft>
                <a:spcPts val="0"/>
              </a:spcAft>
              <a:buNone/>
            </a:pPr>
            <a:r>
              <a:rPr lang="en-US" sz="2400" dirty="0" err="1">
                <a:solidFill>
                  <a:srgbClr val="000000"/>
                </a:solidFill>
                <a:latin typeface="Arial"/>
                <a:ea typeface="Arial"/>
                <a:cs typeface="Arial"/>
                <a:sym typeface="Arial"/>
              </a:rPr>
              <a:t>i</a:t>
            </a:r>
            <a:r>
              <a:rPr lang="en-US" sz="2400" dirty="0">
                <a:solidFill>
                  <a:srgbClr val="000000"/>
                </a:solidFill>
                <a:latin typeface="Arial"/>
                <a:ea typeface="Arial"/>
                <a:cs typeface="Arial"/>
                <a:sym typeface="Arial"/>
              </a:rPr>
              <a:t> = 8</a:t>
            </a:r>
            <a:endParaRPr dirty="0"/>
          </a:p>
          <a:p>
            <a:pPr marL="0" marR="0" lvl="0" indent="0" algn="ctr" rtl="0">
              <a:lnSpc>
                <a:spcPct val="120000"/>
              </a:lnSpc>
              <a:spcBef>
                <a:spcPts val="0"/>
              </a:spcBef>
              <a:spcAft>
                <a:spcPts val="0"/>
              </a:spcAft>
              <a:buNone/>
            </a:pPr>
            <a:r>
              <a:rPr lang="en-US" sz="2400" dirty="0" err="1">
                <a:solidFill>
                  <a:srgbClr val="000000"/>
                </a:solidFill>
                <a:latin typeface="Arial"/>
                <a:ea typeface="Arial"/>
                <a:cs typeface="Arial"/>
                <a:sym typeface="Arial"/>
              </a:rPr>
              <a:t>i</a:t>
            </a:r>
            <a:r>
              <a:rPr lang="en-US" sz="2400" dirty="0">
                <a:solidFill>
                  <a:srgbClr val="000000"/>
                </a:solidFill>
                <a:latin typeface="Arial"/>
                <a:ea typeface="Arial"/>
                <a:cs typeface="Arial"/>
                <a:sym typeface="Arial"/>
              </a:rPr>
              <a:t> = 9</a:t>
            </a:r>
            <a:endParaRPr dirty="0"/>
          </a:p>
          <a:p>
            <a:pPr marL="0" marR="0" lvl="0" indent="0" algn="ctr" rtl="0">
              <a:lnSpc>
                <a:spcPct val="120000"/>
              </a:lnSpc>
              <a:spcBef>
                <a:spcPts val="0"/>
              </a:spcBef>
              <a:spcAft>
                <a:spcPts val="0"/>
              </a:spcAft>
              <a:buNone/>
            </a:pPr>
            <a:r>
              <a:rPr lang="en-US" sz="2400" dirty="0" err="1">
                <a:solidFill>
                  <a:srgbClr val="000000"/>
                </a:solidFill>
                <a:latin typeface="Arial"/>
                <a:ea typeface="Arial"/>
                <a:cs typeface="Arial"/>
                <a:sym typeface="Arial"/>
              </a:rPr>
              <a:t>i</a:t>
            </a:r>
            <a:r>
              <a:rPr lang="en-US" sz="2400" dirty="0">
                <a:solidFill>
                  <a:srgbClr val="000000"/>
                </a:solidFill>
                <a:latin typeface="Arial"/>
                <a:ea typeface="Arial"/>
                <a:cs typeface="Arial"/>
                <a:sym typeface="Arial"/>
              </a:rPr>
              <a:t> = 10</a:t>
            </a:r>
            <a:endParaRPr dirty="0"/>
          </a:p>
        </p:txBody>
      </p:sp>
      <p:sp>
        <p:nvSpPr>
          <p:cNvPr id="351" name="Google Shape;351;p17"/>
          <p:cNvSpPr txBox="1"/>
          <p:nvPr/>
        </p:nvSpPr>
        <p:spPr>
          <a:xfrm>
            <a:off x="9100806" y="1165637"/>
            <a:ext cx="1100373" cy="348942"/>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400" b="1" dirty="0">
                <a:solidFill>
                  <a:srgbClr val="000000"/>
                </a:solidFill>
                <a:latin typeface="Arial"/>
                <a:ea typeface="Arial"/>
                <a:cs typeface="Arial"/>
                <a:sym typeface="Arial"/>
              </a:rPr>
              <a:t>Output:</a:t>
            </a:r>
            <a:endParaRPr dirty="0"/>
          </a:p>
        </p:txBody>
      </p:sp>
      <p:sp>
        <p:nvSpPr>
          <p:cNvPr id="352" name="Google Shape;352;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353" name="Google Shape;353;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9" name="Google Shape;359;p18"/>
          <p:cNvSpPr txBox="1"/>
          <p:nvPr/>
        </p:nvSpPr>
        <p:spPr>
          <a:xfrm>
            <a:off x="2754274" y="198252"/>
            <a:ext cx="8156963" cy="73129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4400" b="1" dirty="0">
                <a:solidFill>
                  <a:srgbClr val="C00000"/>
                </a:solidFill>
                <a:latin typeface="Times"/>
                <a:ea typeface="Times"/>
                <a:cs typeface="Times"/>
                <a:sym typeface="Times"/>
              </a:rPr>
              <a:t>PL/SQL Iterative Control</a:t>
            </a:r>
            <a:endParaRPr dirty="0"/>
          </a:p>
        </p:txBody>
      </p:sp>
      <p:sp>
        <p:nvSpPr>
          <p:cNvPr id="360" name="Google Shape;360;p18"/>
          <p:cNvSpPr/>
          <p:nvPr/>
        </p:nvSpPr>
        <p:spPr>
          <a:xfrm>
            <a:off x="5065856" y="2050000"/>
            <a:ext cx="6141453" cy="4050687"/>
          </a:xfrm>
          <a:custGeom>
            <a:avLst/>
            <a:gdLst/>
            <a:ahLst/>
            <a:cxnLst/>
            <a:rect l="l" t="t" r="r" b="b"/>
            <a:pathLst>
              <a:path w="10491280" h="6076031" extrusionOk="0">
                <a:moveTo>
                  <a:pt x="0" y="0"/>
                </a:moveTo>
                <a:lnTo>
                  <a:pt x="10491280" y="0"/>
                </a:lnTo>
                <a:lnTo>
                  <a:pt x="10491280" y="6076031"/>
                </a:lnTo>
                <a:lnTo>
                  <a:pt x="0" y="6076031"/>
                </a:lnTo>
                <a:lnTo>
                  <a:pt x="0" y="0"/>
                </a:lnTo>
                <a:close/>
              </a:path>
            </a:pathLst>
          </a:custGeom>
          <a:blipFill rotWithShape="1">
            <a:blip r:embed="rId3">
              <a:alphaModFix/>
            </a:blip>
            <a:stretch>
              <a:fillRect/>
            </a:stretch>
          </a:blipFill>
          <a:ln>
            <a:noFill/>
          </a:ln>
        </p:spPr>
        <p:txBody>
          <a:bodyPr/>
          <a:lstStyle/>
          <a:p>
            <a:endParaRPr lang="en-IN" dirty="0"/>
          </a:p>
        </p:txBody>
      </p:sp>
      <p:sp>
        <p:nvSpPr>
          <p:cNvPr id="361" name="Google Shape;361;p18"/>
          <p:cNvSpPr txBox="1"/>
          <p:nvPr/>
        </p:nvSpPr>
        <p:spPr>
          <a:xfrm>
            <a:off x="1065007" y="1100045"/>
            <a:ext cx="10558510" cy="694293"/>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80" b="1" dirty="0">
                <a:solidFill>
                  <a:srgbClr val="000000"/>
                </a:solidFill>
                <a:latin typeface="Arial"/>
                <a:ea typeface="Arial"/>
                <a:cs typeface="Arial"/>
                <a:sym typeface="Arial"/>
              </a:rPr>
              <a:t>WHILE loop</a:t>
            </a:r>
            <a:endParaRPr sz="1880" dirty="0"/>
          </a:p>
          <a:p>
            <a:pPr marL="0" marR="0" lvl="0" indent="0" algn="just" rtl="0">
              <a:lnSpc>
                <a:spcPct val="120000"/>
              </a:lnSpc>
              <a:spcBef>
                <a:spcPts val="0"/>
              </a:spcBef>
              <a:spcAft>
                <a:spcPts val="0"/>
              </a:spcAft>
              <a:buNone/>
            </a:pPr>
            <a:r>
              <a:rPr lang="en-US" sz="1880" dirty="0">
                <a:solidFill>
                  <a:srgbClr val="000000"/>
                </a:solidFill>
                <a:latin typeface="Arial"/>
                <a:ea typeface="Arial"/>
                <a:cs typeface="Arial"/>
                <a:sym typeface="Arial"/>
              </a:rPr>
              <a:t>The while loop executes commands in its body as long as the condition remains true</a:t>
            </a:r>
            <a:endParaRPr sz="1880" dirty="0"/>
          </a:p>
        </p:txBody>
      </p:sp>
      <p:sp>
        <p:nvSpPr>
          <p:cNvPr id="362" name="Google Shape;362;p18"/>
          <p:cNvSpPr txBox="1"/>
          <p:nvPr/>
        </p:nvSpPr>
        <p:spPr>
          <a:xfrm>
            <a:off x="1065007" y="2081697"/>
            <a:ext cx="2795323" cy="2082878"/>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80" b="1" dirty="0">
                <a:solidFill>
                  <a:srgbClr val="000000"/>
                </a:solidFill>
                <a:latin typeface="Arial"/>
                <a:ea typeface="Arial"/>
                <a:cs typeface="Arial"/>
                <a:sym typeface="Arial"/>
              </a:rPr>
              <a:t>Syntax :</a:t>
            </a:r>
            <a:endParaRPr sz="1880" dirty="0"/>
          </a:p>
          <a:p>
            <a:pPr marL="0" marR="0" lvl="0" indent="0" algn="just" rtl="0">
              <a:lnSpc>
                <a:spcPct val="120000"/>
              </a:lnSpc>
              <a:spcBef>
                <a:spcPts val="0"/>
              </a:spcBef>
              <a:spcAft>
                <a:spcPts val="0"/>
              </a:spcAft>
              <a:buNone/>
            </a:pPr>
            <a:endParaRPr sz="1880" b="1" dirty="0">
              <a:solidFill>
                <a:srgbClr val="000000"/>
              </a:solidFill>
              <a:latin typeface="Arial"/>
              <a:ea typeface="Arial"/>
              <a:cs typeface="Arial"/>
              <a:sym typeface="Arial"/>
            </a:endParaRPr>
          </a:p>
          <a:p>
            <a:pPr marL="0" marR="0" lvl="0" indent="0" algn="just" rtl="0">
              <a:lnSpc>
                <a:spcPct val="120000"/>
              </a:lnSpc>
              <a:spcBef>
                <a:spcPts val="0"/>
              </a:spcBef>
              <a:spcAft>
                <a:spcPts val="0"/>
              </a:spcAft>
              <a:buNone/>
            </a:pPr>
            <a:r>
              <a:rPr lang="en-US" sz="1880" dirty="0">
                <a:solidFill>
                  <a:srgbClr val="000000"/>
                </a:solidFill>
                <a:latin typeface="Arial"/>
                <a:ea typeface="Arial"/>
                <a:cs typeface="Arial"/>
                <a:sym typeface="Arial"/>
              </a:rPr>
              <a:t>WHILE &lt; condition &gt;</a:t>
            </a:r>
            <a:endParaRPr sz="1880" dirty="0"/>
          </a:p>
          <a:p>
            <a:pPr marL="0" marR="0" lvl="0" indent="0" algn="just" rtl="0">
              <a:lnSpc>
                <a:spcPct val="120000"/>
              </a:lnSpc>
              <a:spcBef>
                <a:spcPts val="0"/>
              </a:spcBef>
              <a:spcAft>
                <a:spcPts val="0"/>
              </a:spcAft>
              <a:buNone/>
            </a:pPr>
            <a:r>
              <a:rPr lang="en-US" sz="1880" dirty="0">
                <a:solidFill>
                  <a:srgbClr val="000000"/>
                </a:solidFill>
                <a:latin typeface="Arial"/>
                <a:ea typeface="Arial"/>
                <a:cs typeface="Arial"/>
                <a:sym typeface="Arial"/>
              </a:rPr>
              <a:t>LOOP</a:t>
            </a:r>
            <a:endParaRPr sz="1880" dirty="0"/>
          </a:p>
          <a:p>
            <a:pPr marL="0" marR="0" lvl="0" indent="0" algn="just" rtl="0">
              <a:lnSpc>
                <a:spcPct val="120000"/>
              </a:lnSpc>
              <a:spcBef>
                <a:spcPts val="0"/>
              </a:spcBef>
              <a:spcAft>
                <a:spcPts val="0"/>
              </a:spcAft>
              <a:buNone/>
            </a:pPr>
            <a:r>
              <a:rPr lang="en-US" sz="1880" dirty="0">
                <a:solidFill>
                  <a:srgbClr val="000000"/>
                </a:solidFill>
                <a:latin typeface="Arial"/>
                <a:ea typeface="Arial"/>
                <a:cs typeface="Arial"/>
                <a:sym typeface="Arial"/>
              </a:rPr>
              <a:t>      &lt; Action &gt;</a:t>
            </a:r>
            <a:endParaRPr sz="1880" dirty="0"/>
          </a:p>
          <a:p>
            <a:pPr marL="0" marR="0" lvl="0" indent="0" algn="just" rtl="0">
              <a:lnSpc>
                <a:spcPct val="120000"/>
              </a:lnSpc>
              <a:spcBef>
                <a:spcPts val="0"/>
              </a:spcBef>
              <a:spcAft>
                <a:spcPts val="0"/>
              </a:spcAft>
              <a:buNone/>
            </a:pPr>
            <a:r>
              <a:rPr lang="en-US" sz="1880" dirty="0">
                <a:solidFill>
                  <a:srgbClr val="000000"/>
                </a:solidFill>
                <a:latin typeface="Arial"/>
                <a:ea typeface="Arial"/>
                <a:cs typeface="Arial"/>
                <a:sym typeface="Arial"/>
              </a:rPr>
              <a:t>END LOOP</a:t>
            </a:r>
            <a:endParaRPr sz="1880" dirty="0"/>
          </a:p>
        </p:txBody>
      </p:sp>
      <p:sp>
        <p:nvSpPr>
          <p:cNvPr id="363" name="Google Shape;363;p18"/>
          <p:cNvSpPr txBox="1"/>
          <p:nvPr/>
        </p:nvSpPr>
        <p:spPr>
          <a:xfrm>
            <a:off x="884167" y="4932088"/>
            <a:ext cx="3157002" cy="694293"/>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880" dirty="0">
                <a:solidFill>
                  <a:srgbClr val="000000"/>
                </a:solidFill>
                <a:latin typeface="Arial"/>
                <a:ea typeface="Arial"/>
                <a:cs typeface="Arial"/>
                <a:sym typeface="Arial"/>
              </a:rPr>
              <a:t>reverse of given number is: 321</a:t>
            </a:r>
            <a:endParaRPr sz="1880" dirty="0"/>
          </a:p>
        </p:txBody>
      </p:sp>
      <p:sp>
        <p:nvSpPr>
          <p:cNvPr id="364" name="Google Shape;364;p18"/>
          <p:cNvSpPr txBox="1"/>
          <p:nvPr/>
        </p:nvSpPr>
        <p:spPr>
          <a:xfrm>
            <a:off x="1024687" y="4361486"/>
            <a:ext cx="1185113" cy="72083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400" b="1" dirty="0">
                <a:solidFill>
                  <a:srgbClr val="000000"/>
                </a:solidFill>
                <a:latin typeface="Arial"/>
                <a:ea typeface="Arial"/>
                <a:cs typeface="Arial"/>
                <a:sym typeface="Arial"/>
              </a:rPr>
              <a:t>Output :</a:t>
            </a:r>
            <a:endParaRPr dirty="0"/>
          </a:p>
          <a:p>
            <a:pPr marL="0" marR="0" lvl="0" indent="0" algn="ctr" rtl="0">
              <a:lnSpc>
                <a:spcPct val="120000"/>
              </a:lnSpc>
              <a:spcBef>
                <a:spcPts val="0"/>
              </a:spcBef>
              <a:spcAft>
                <a:spcPts val="0"/>
              </a:spcAft>
              <a:buNone/>
            </a:pPr>
            <a:endParaRPr sz="2400" b="1" dirty="0">
              <a:solidFill>
                <a:srgbClr val="000000"/>
              </a:solidFill>
              <a:latin typeface="Arial"/>
              <a:ea typeface="Arial"/>
              <a:cs typeface="Arial"/>
              <a:sym typeface="Arial"/>
            </a:endParaRPr>
          </a:p>
        </p:txBody>
      </p:sp>
      <p:sp>
        <p:nvSpPr>
          <p:cNvPr id="365" name="Google Shape;36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366" name="Google Shape;36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2" name="Google Shape;372;p19"/>
          <p:cNvSpPr txBox="1"/>
          <p:nvPr/>
        </p:nvSpPr>
        <p:spPr>
          <a:xfrm>
            <a:off x="3162747" y="341592"/>
            <a:ext cx="7239897" cy="73129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4400" b="1" dirty="0">
                <a:solidFill>
                  <a:srgbClr val="C00000"/>
                </a:solidFill>
                <a:latin typeface="Times"/>
                <a:ea typeface="Times"/>
                <a:cs typeface="Times"/>
                <a:sym typeface="Times"/>
              </a:rPr>
              <a:t>PL/SQL Iterative Control</a:t>
            </a:r>
            <a:endParaRPr dirty="0"/>
          </a:p>
        </p:txBody>
      </p:sp>
      <p:sp>
        <p:nvSpPr>
          <p:cNvPr id="373" name="Google Shape;373;p19"/>
          <p:cNvSpPr txBox="1"/>
          <p:nvPr/>
        </p:nvSpPr>
        <p:spPr>
          <a:xfrm>
            <a:off x="1441524" y="1602448"/>
            <a:ext cx="9615885" cy="3124317"/>
          </a:xfrm>
          <a:prstGeom prst="rect">
            <a:avLst/>
          </a:prstGeom>
          <a:noFill/>
          <a:ln>
            <a:noFill/>
          </a:ln>
        </p:spPr>
        <p:txBody>
          <a:bodyPr spcFirstLastPara="1" wrap="square" lIns="0" tIns="0" rIns="0" bIns="0" anchor="t" anchorCtr="0">
            <a:spAutoFit/>
          </a:bodyPr>
          <a:lstStyle/>
          <a:p>
            <a:pPr marL="0" marR="0" lvl="0" indent="0" algn="just" rtl="0">
              <a:lnSpc>
                <a:spcPct val="120008"/>
              </a:lnSpc>
              <a:spcBef>
                <a:spcPts val="0"/>
              </a:spcBef>
              <a:spcAft>
                <a:spcPts val="0"/>
              </a:spcAft>
              <a:buNone/>
            </a:pPr>
            <a:r>
              <a:rPr lang="en-US" sz="1880" b="1" dirty="0">
                <a:solidFill>
                  <a:srgbClr val="000000"/>
                </a:solidFill>
                <a:latin typeface="Arial"/>
                <a:ea typeface="Arial"/>
                <a:cs typeface="Arial"/>
                <a:sym typeface="Arial"/>
              </a:rPr>
              <a:t>The FOR Loop</a:t>
            </a:r>
            <a:endParaRPr sz="1880" dirty="0"/>
          </a:p>
          <a:p>
            <a:pPr marL="0" marR="0" lvl="0" indent="0" algn="just" rtl="0">
              <a:lnSpc>
                <a:spcPct val="120008"/>
              </a:lnSpc>
              <a:spcBef>
                <a:spcPts val="0"/>
              </a:spcBef>
              <a:spcAft>
                <a:spcPts val="0"/>
              </a:spcAft>
              <a:buNone/>
            </a:pPr>
            <a:r>
              <a:rPr lang="en-US" sz="1880" dirty="0">
                <a:solidFill>
                  <a:srgbClr val="000000"/>
                </a:solidFill>
                <a:latin typeface="Arial"/>
                <a:ea typeface="Arial"/>
                <a:cs typeface="Arial"/>
                <a:sym typeface="Arial"/>
              </a:rPr>
              <a:t>The FOR loop can be used when the number of iterations to be executed are known.</a:t>
            </a:r>
            <a:endParaRPr sz="1880" dirty="0"/>
          </a:p>
          <a:p>
            <a:pPr marL="0" marR="0" lvl="0" indent="0" algn="just" rtl="0">
              <a:lnSpc>
                <a:spcPct val="120008"/>
              </a:lnSpc>
              <a:spcBef>
                <a:spcPts val="0"/>
              </a:spcBef>
              <a:spcAft>
                <a:spcPts val="0"/>
              </a:spcAft>
              <a:buNone/>
            </a:pPr>
            <a:r>
              <a:rPr lang="en-US" sz="1880" dirty="0">
                <a:solidFill>
                  <a:srgbClr val="000000"/>
                </a:solidFill>
                <a:latin typeface="Arial"/>
                <a:ea typeface="Arial"/>
                <a:cs typeface="Arial"/>
                <a:sym typeface="Arial"/>
              </a:rPr>
              <a:t>Syntax :</a:t>
            </a:r>
            <a:endParaRPr sz="1880" dirty="0"/>
          </a:p>
          <a:p>
            <a:pPr marL="0" marR="0" lvl="0" indent="0" algn="just" rtl="0">
              <a:lnSpc>
                <a:spcPct val="120008"/>
              </a:lnSpc>
              <a:spcBef>
                <a:spcPts val="0"/>
              </a:spcBef>
              <a:spcAft>
                <a:spcPts val="0"/>
              </a:spcAft>
              <a:buNone/>
            </a:pPr>
            <a:r>
              <a:rPr lang="en-US" sz="1880" dirty="0">
                <a:solidFill>
                  <a:srgbClr val="000000"/>
                </a:solidFill>
                <a:latin typeface="Arial"/>
                <a:ea typeface="Arial"/>
                <a:cs typeface="Arial"/>
                <a:sym typeface="Arial"/>
              </a:rPr>
              <a:t>FOR variable IN [REVERSE] </a:t>
            </a:r>
            <a:r>
              <a:rPr lang="en-US" sz="1880" dirty="0" err="1">
                <a:solidFill>
                  <a:srgbClr val="000000"/>
                </a:solidFill>
                <a:latin typeface="Arial"/>
                <a:ea typeface="Arial"/>
                <a:cs typeface="Arial"/>
                <a:sym typeface="Arial"/>
              </a:rPr>
              <a:t>start..end</a:t>
            </a:r>
            <a:r>
              <a:rPr lang="en-US" sz="1880" dirty="0">
                <a:solidFill>
                  <a:srgbClr val="000000"/>
                </a:solidFill>
                <a:latin typeface="Arial"/>
                <a:ea typeface="Arial"/>
                <a:cs typeface="Arial"/>
                <a:sym typeface="Arial"/>
              </a:rPr>
              <a:t> </a:t>
            </a:r>
            <a:endParaRPr sz="1880" dirty="0"/>
          </a:p>
          <a:p>
            <a:pPr marL="0" marR="0" lvl="0" indent="0" algn="just" rtl="0">
              <a:lnSpc>
                <a:spcPct val="120008"/>
              </a:lnSpc>
              <a:spcBef>
                <a:spcPts val="0"/>
              </a:spcBef>
              <a:spcAft>
                <a:spcPts val="0"/>
              </a:spcAft>
              <a:buNone/>
            </a:pPr>
            <a:r>
              <a:rPr lang="en-US" sz="1880" dirty="0">
                <a:solidFill>
                  <a:srgbClr val="000000"/>
                </a:solidFill>
                <a:latin typeface="Arial"/>
                <a:ea typeface="Arial"/>
                <a:cs typeface="Arial"/>
                <a:sym typeface="Arial"/>
              </a:rPr>
              <a:t> LOOP </a:t>
            </a:r>
            <a:endParaRPr sz="1880" dirty="0"/>
          </a:p>
          <a:p>
            <a:pPr marL="0" marR="0" lvl="0" indent="0" algn="just" rtl="0">
              <a:lnSpc>
                <a:spcPct val="120008"/>
              </a:lnSpc>
              <a:spcBef>
                <a:spcPts val="0"/>
              </a:spcBef>
              <a:spcAft>
                <a:spcPts val="0"/>
              </a:spcAft>
              <a:buNone/>
            </a:pPr>
            <a:r>
              <a:rPr lang="en-US" sz="1880" dirty="0">
                <a:solidFill>
                  <a:srgbClr val="000000"/>
                </a:solidFill>
                <a:latin typeface="Arial"/>
                <a:ea typeface="Arial"/>
                <a:cs typeface="Arial"/>
                <a:sym typeface="Arial"/>
              </a:rPr>
              <a:t>   &lt; Action &gt; </a:t>
            </a:r>
            <a:endParaRPr sz="1880" dirty="0"/>
          </a:p>
          <a:p>
            <a:pPr marL="0" marR="0" lvl="0" indent="0" algn="just" rtl="0">
              <a:lnSpc>
                <a:spcPct val="120008"/>
              </a:lnSpc>
              <a:spcBef>
                <a:spcPts val="0"/>
              </a:spcBef>
              <a:spcAft>
                <a:spcPts val="0"/>
              </a:spcAft>
              <a:buNone/>
            </a:pPr>
            <a:r>
              <a:rPr lang="en-US" sz="1880" dirty="0">
                <a:solidFill>
                  <a:srgbClr val="000000"/>
                </a:solidFill>
                <a:latin typeface="Arial"/>
                <a:ea typeface="Arial"/>
                <a:cs typeface="Arial"/>
                <a:sym typeface="Arial"/>
              </a:rPr>
              <a:t> END LOOP; </a:t>
            </a:r>
            <a:endParaRPr sz="1880" dirty="0"/>
          </a:p>
          <a:p>
            <a:pPr marL="0" marR="0" lvl="0" indent="0" algn="just" rtl="0">
              <a:lnSpc>
                <a:spcPct val="120008"/>
              </a:lnSpc>
              <a:spcBef>
                <a:spcPts val="0"/>
              </a:spcBef>
              <a:spcAft>
                <a:spcPts val="0"/>
              </a:spcAft>
              <a:buNone/>
            </a:pPr>
            <a:r>
              <a:rPr lang="en-US" sz="1880" dirty="0">
                <a:solidFill>
                  <a:srgbClr val="000000"/>
                </a:solidFill>
                <a:latin typeface="Arial"/>
                <a:ea typeface="Arial"/>
                <a:cs typeface="Arial"/>
                <a:sym typeface="Arial"/>
              </a:rPr>
              <a:t>The variable in the For Loop need not be declared. Also, the increment value cannot be specified. The For Loop variable is always incremented by 1.</a:t>
            </a:r>
            <a:endParaRPr sz="1880" dirty="0"/>
          </a:p>
        </p:txBody>
      </p:sp>
      <p:sp>
        <p:nvSpPr>
          <p:cNvPr id="374" name="Google Shape;37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375" name="Google Shape;37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1" name="Google Shape;381;p20"/>
          <p:cNvSpPr txBox="1"/>
          <p:nvPr/>
        </p:nvSpPr>
        <p:spPr>
          <a:xfrm>
            <a:off x="2678971" y="263375"/>
            <a:ext cx="8156963" cy="73129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4400" b="1" dirty="0">
                <a:solidFill>
                  <a:srgbClr val="C00000"/>
                </a:solidFill>
                <a:latin typeface="Times"/>
                <a:ea typeface="Times"/>
                <a:cs typeface="Times"/>
                <a:sym typeface="Times"/>
              </a:rPr>
              <a:t>PL/SQL Iterative Control</a:t>
            </a:r>
            <a:endParaRPr dirty="0"/>
          </a:p>
        </p:txBody>
      </p:sp>
      <p:sp>
        <p:nvSpPr>
          <p:cNvPr id="382" name="Google Shape;382;p20"/>
          <p:cNvSpPr/>
          <p:nvPr/>
        </p:nvSpPr>
        <p:spPr>
          <a:xfrm>
            <a:off x="1932458" y="2431318"/>
            <a:ext cx="6641048" cy="3623514"/>
          </a:xfrm>
          <a:custGeom>
            <a:avLst/>
            <a:gdLst/>
            <a:ahLst/>
            <a:cxnLst/>
            <a:rect l="l" t="t" r="r" b="b"/>
            <a:pathLst>
              <a:path w="9961572" h="5435271" extrusionOk="0">
                <a:moveTo>
                  <a:pt x="0" y="0"/>
                </a:moveTo>
                <a:lnTo>
                  <a:pt x="9961572" y="0"/>
                </a:lnTo>
                <a:lnTo>
                  <a:pt x="9961572" y="5435271"/>
                </a:lnTo>
                <a:lnTo>
                  <a:pt x="0" y="5435271"/>
                </a:lnTo>
                <a:lnTo>
                  <a:pt x="0" y="0"/>
                </a:lnTo>
                <a:close/>
              </a:path>
            </a:pathLst>
          </a:custGeom>
          <a:blipFill rotWithShape="1">
            <a:blip r:embed="rId3">
              <a:alphaModFix/>
            </a:blip>
            <a:stretch>
              <a:fillRect/>
            </a:stretch>
          </a:blipFill>
          <a:ln>
            <a:noFill/>
          </a:ln>
        </p:spPr>
      </p:sp>
      <p:sp>
        <p:nvSpPr>
          <p:cNvPr id="383" name="Google Shape;383;p20"/>
          <p:cNvSpPr txBox="1"/>
          <p:nvPr/>
        </p:nvSpPr>
        <p:spPr>
          <a:xfrm>
            <a:off x="8746238" y="1715813"/>
            <a:ext cx="863976" cy="4448319"/>
          </a:xfrm>
          <a:prstGeom prst="rect">
            <a:avLst/>
          </a:prstGeom>
          <a:noFill/>
          <a:ln>
            <a:noFill/>
          </a:ln>
        </p:spPr>
        <p:txBody>
          <a:bodyPr spcFirstLastPara="1" wrap="square" lIns="0" tIns="0" rIns="0" bIns="0" anchor="t" anchorCtr="0">
            <a:spAutoFit/>
          </a:bodyPr>
          <a:lstStyle/>
          <a:p>
            <a:pPr marL="0" marR="0" lvl="0" indent="0" algn="ctr" rtl="0">
              <a:lnSpc>
                <a:spcPct val="119991"/>
              </a:lnSpc>
              <a:spcBef>
                <a:spcPts val="0"/>
              </a:spcBef>
              <a:spcAft>
                <a:spcPts val="0"/>
              </a:spcAft>
              <a:buNone/>
            </a:pPr>
            <a:r>
              <a:rPr lang="en-US" sz="2401" dirty="0" err="1">
                <a:solidFill>
                  <a:srgbClr val="000000"/>
                </a:solidFill>
                <a:latin typeface="Arial"/>
                <a:ea typeface="Arial"/>
                <a:cs typeface="Arial"/>
                <a:sym typeface="Arial"/>
              </a:rPr>
              <a:t>i</a:t>
            </a:r>
            <a:r>
              <a:rPr lang="en-US" sz="2401" dirty="0">
                <a:solidFill>
                  <a:srgbClr val="000000"/>
                </a:solidFill>
                <a:latin typeface="Arial"/>
                <a:ea typeface="Arial"/>
                <a:cs typeface="Arial"/>
                <a:sym typeface="Arial"/>
              </a:rPr>
              <a:t> = 1</a:t>
            </a:r>
            <a:endParaRPr dirty="0"/>
          </a:p>
          <a:p>
            <a:pPr marL="0" marR="0" lvl="0" indent="0" algn="ctr" rtl="0">
              <a:lnSpc>
                <a:spcPct val="119991"/>
              </a:lnSpc>
              <a:spcBef>
                <a:spcPts val="0"/>
              </a:spcBef>
              <a:spcAft>
                <a:spcPts val="0"/>
              </a:spcAft>
              <a:buNone/>
            </a:pPr>
            <a:r>
              <a:rPr lang="en-US" sz="2401" dirty="0" err="1">
                <a:solidFill>
                  <a:srgbClr val="000000"/>
                </a:solidFill>
                <a:latin typeface="Arial"/>
                <a:ea typeface="Arial"/>
                <a:cs typeface="Arial"/>
                <a:sym typeface="Arial"/>
              </a:rPr>
              <a:t>i</a:t>
            </a:r>
            <a:r>
              <a:rPr lang="en-US" sz="2401" dirty="0">
                <a:solidFill>
                  <a:srgbClr val="000000"/>
                </a:solidFill>
                <a:latin typeface="Arial"/>
                <a:ea typeface="Arial"/>
                <a:cs typeface="Arial"/>
                <a:sym typeface="Arial"/>
              </a:rPr>
              <a:t> = 2</a:t>
            </a:r>
            <a:endParaRPr dirty="0"/>
          </a:p>
          <a:p>
            <a:pPr marL="0" marR="0" lvl="0" indent="0" algn="ctr" rtl="0">
              <a:lnSpc>
                <a:spcPct val="119991"/>
              </a:lnSpc>
              <a:spcBef>
                <a:spcPts val="0"/>
              </a:spcBef>
              <a:spcAft>
                <a:spcPts val="0"/>
              </a:spcAft>
              <a:buNone/>
            </a:pPr>
            <a:r>
              <a:rPr lang="en-US" sz="2401" dirty="0" err="1">
                <a:solidFill>
                  <a:srgbClr val="000000"/>
                </a:solidFill>
                <a:latin typeface="Arial"/>
                <a:ea typeface="Arial"/>
                <a:cs typeface="Arial"/>
                <a:sym typeface="Arial"/>
              </a:rPr>
              <a:t>i</a:t>
            </a:r>
            <a:r>
              <a:rPr lang="en-US" sz="2401" dirty="0">
                <a:solidFill>
                  <a:srgbClr val="000000"/>
                </a:solidFill>
                <a:latin typeface="Arial"/>
                <a:ea typeface="Arial"/>
                <a:cs typeface="Arial"/>
                <a:sym typeface="Arial"/>
              </a:rPr>
              <a:t> = 3</a:t>
            </a:r>
            <a:endParaRPr dirty="0"/>
          </a:p>
          <a:p>
            <a:pPr marL="0" marR="0" lvl="0" indent="0" algn="ctr" rtl="0">
              <a:lnSpc>
                <a:spcPct val="119991"/>
              </a:lnSpc>
              <a:spcBef>
                <a:spcPts val="0"/>
              </a:spcBef>
              <a:spcAft>
                <a:spcPts val="0"/>
              </a:spcAft>
              <a:buNone/>
            </a:pPr>
            <a:r>
              <a:rPr lang="en-US" sz="2401" dirty="0" err="1">
                <a:solidFill>
                  <a:srgbClr val="000000"/>
                </a:solidFill>
                <a:latin typeface="Arial"/>
                <a:ea typeface="Arial"/>
                <a:cs typeface="Arial"/>
                <a:sym typeface="Arial"/>
              </a:rPr>
              <a:t>i</a:t>
            </a:r>
            <a:r>
              <a:rPr lang="en-US" sz="2401" dirty="0">
                <a:solidFill>
                  <a:srgbClr val="000000"/>
                </a:solidFill>
                <a:latin typeface="Arial"/>
                <a:ea typeface="Arial"/>
                <a:cs typeface="Arial"/>
                <a:sym typeface="Arial"/>
              </a:rPr>
              <a:t> = 4</a:t>
            </a:r>
            <a:endParaRPr dirty="0"/>
          </a:p>
          <a:p>
            <a:pPr marL="0" marR="0" lvl="0" indent="0" algn="ctr" rtl="0">
              <a:lnSpc>
                <a:spcPct val="119991"/>
              </a:lnSpc>
              <a:spcBef>
                <a:spcPts val="0"/>
              </a:spcBef>
              <a:spcAft>
                <a:spcPts val="0"/>
              </a:spcAft>
              <a:buNone/>
            </a:pPr>
            <a:r>
              <a:rPr lang="en-US" sz="2401" dirty="0" err="1">
                <a:solidFill>
                  <a:srgbClr val="000000"/>
                </a:solidFill>
                <a:latin typeface="Arial"/>
                <a:ea typeface="Arial"/>
                <a:cs typeface="Arial"/>
                <a:sym typeface="Arial"/>
              </a:rPr>
              <a:t>i</a:t>
            </a:r>
            <a:r>
              <a:rPr lang="en-US" sz="2401" dirty="0">
                <a:solidFill>
                  <a:srgbClr val="000000"/>
                </a:solidFill>
                <a:latin typeface="Arial"/>
                <a:ea typeface="Arial"/>
                <a:cs typeface="Arial"/>
                <a:sym typeface="Arial"/>
              </a:rPr>
              <a:t> = 5</a:t>
            </a:r>
            <a:endParaRPr dirty="0"/>
          </a:p>
          <a:p>
            <a:pPr marL="0" marR="0" lvl="0" indent="0" algn="ctr" rtl="0">
              <a:lnSpc>
                <a:spcPct val="119991"/>
              </a:lnSpc>
              <a:spcBef>
                <a:spcPts val="0"/>
              </a:spcBef>
              <a:spcAft>
                <a:spcPts val="0"/>
              </a:spcAft>
              <a:buNone/>
            </a:pPr>
            <a:r>
              <a:rPr lang="en-US" sz="2401" dirty="0" err="1">
                <a:solidFill>
                  <a:srgbClr val="000000"/>
                </a:solidFill>
                <a:latin typeface="Arial"/>
                <a:ea typeface="Arial"/>
                <a:cs typeface="Arial"/>
                <a:sym typeface="Arial"/>
              </a:rPr>
              <a:t>i</a:t>
            </a:r>
            <a:r>
              <a:rPr lang="en-US" sz="2401" dirty="0">
                <a:solidFill>
                  <a:srgbClr val="000000"/>
                </a:solidFill>
                <a:latin typeface="Arial"/>
                <a:ea typeface="Arial"/>
                <a:cs typeface="Arial"/>
                <a:sym typeface="Arial"/>
              </a:rPr>
              <a:t> = 6</a:t>
            </a:r>
            <a:endParaRPr dirty="0"/>
          </a:p>
          <a:p>
            <a:pPr marL="0" marR="0" lvl="0" indent="0" algn="ctr" rtl="0">
              <a:lnSpc>
                <a:spcPct val="119991"/>
              </a:lnSpc>
              <a:spcBef>
                <a:spcPts val="0"/>
              </a:spcBef>
              <a:spcAft>
                <a:spcPts val="0"/>
              </a:spcAft>
              <a:buNone/>
            </a:pPr>
            <a:r>
              <a:rPr lang="en-US" sz="2401" dirty="0" err="1">
                <a:solidFill>
                  <a:srgbClr val="000000"/>
                </a:solidFill>
                <a:latin typeface="Arial"/>
                <a:ea typeface="Arial"/>
                <a:cs typeface="Arial"/>
                <a:sym typeface="Arial"/>
              </a:rPr>
              <a:t>i</a:t>
            </a:r>
            <a:r>
              <a:rPr lang="en-US" sz="2401" dirty="0">
                <a:solidFill>
                  <a:srgbClr val="000000"/>
                </a:solidFill>
                <a:latin typeface="Arial"/>
                <a:ea typeface="Arial"/>
                <a:cs typeface="Arial"/>
                <a:sym typeface="Arial"/>
              </a:rPr>
              <a:t> = 7</a:t>
            </a:r>
            <a:endParaRPr dirty="0"/>
          </a:p>
          <a:p>
            <a:pPr marL="0" marR="0" lvl="0" indent="0" algn="ctr" rtl="0">
              <a:lnSpc>
                <a:spcPct val="119991"/>
              </a:lnSpc>
              <a:spcBef>
                <a:spcPts val="0"/>
              </a:spcBef>
              <a:spcAft>
                <a:spcPts val="0"/>
              </a:spcAft>
              <a:buNone/>
            </a:pPr>
            <a:r>
              <a:rPr lang="en-US" sz="2401" dirty="0" err="1">
                <a:solidFill>
                  <a:srgbClr val="000000"/>
                </a:solidFill>
                <a:latin typeface="Arial"/>
                <a:ea typeface="Arial"/>
                <a:cs typeface="Arial"/>
                <a:sym typeface="Arial"/>
              </a:rPr>
              <a:t>i</a:t>
            </a:r>
            <a:r>
              <a:rPr lang="en-US" sz="2401" dirty="0">
                <a:solidFill>
                  <a:srgbClr val="000000"/>
                </a:solidFill>
                <a:latin typeface="Arial"/>
                <a:ea typeface="Arial"/>
                <a:cs typeface="Arial"/>
                <a:sym typeface="Arial"/>
              </a:rPr>
              <a:t> = 8</a:t>
            </a:r>
            <a:endParaRPr dirty="0"/>
          </a:p>
          <a:p>
            <a:pPr marL="0" marR="0" lvl="0" indent="0" algn="ctr" rtl="0">
              <a:lnSpc>
                <a:spcPct val="119991"/>
              </a:lnSpc>
              <a:spcBef>
                <a:spcPts val="0"/>
              </a:spcBef>
              <a:spcAft>
                <a:spcPts val="0"/>
              </a:spcAft>
              <a:buNone/>
            </a:pPr>
            <a:r>
              <a:rPr lang="en-US" sz="2401" dirty="0" err="1">
                <a:solidFill>
                  <a:srgbClr val="000000"/>
                </a:solidFill>
                <a:latin typeface="Arial"/>
                <a:ea typeface="Arial"/>
                <a:cs typeface="Arial"/>
                <a:sym typeface="Arial"/>
              </a:rPr>
              <a:t>i</a:t>
            </a:r>
            <a:r>
              <a:rPr lang="en-US" sz="2401" dirty="0">
                <a:solidFill>
                  <a:srgbClr val="000000"/>
                </a:solidFill>
                <a:latin typeface="Arial"/>
                <a:ea typeface="Arial"/>
                <a:cs typeface="Arial"/>
                <a:sym typeface="Arial"/>
              </a:rPr>
              <a:t> = 9</a:t>
            </a:r>
            <a:endParaRPr dirty="0"/>
          </a:p>
          <a:p>
            <a:pPr marL="0" marR="0" lvl="0" indent="0" algn="ctr" rtl="0">
              <a:lnSpc>
                <a:spcPct val="119991"/>
              </a:lnSpc>
              <a:spcBef>
                <a:spcPts val="0"/>
              </a:spcBef>
              <a:spcAft>
                <a:spcPts val="0"/>
              </a:spcAft>
              <a:buNone/>
            </a:pPr>
            <a:r>
              <a:rPr lang="en-US" sz="2401" dirty="0" err="1">
                <a:solidFill>
                  <a:srgbClr val="000000"/>
                </a:solidFill>
                <a:latin typeface="Arial"/>
                <a:ea typeface="Arial"/>
                <a:cs typeface="Arial"/>
                <a:sym typeface="Arial"/>
              </a:rPr>
              <a:t>i</a:t>
            </a:r>
            <a:r>
              <a:rPr lang="en-US" sz="2401" dirty="0">
                <a:solidFill>
                  <a:srgbClr val="000000"/>
                </a:solidFill>
                <a:latin typeface="Arial"/>
                <a:ea typeface="Arial"/>
                <a:cs typeface="Arial"/>
                <a:sym typeface="Arial"/>
              </a:rPr>
              <a:t> = 10</a:t>
            </a:r>
            <a:endParaRPr dirty="0"/>
          </a:p>
        </p:txBody>
      </p:sp>
      <p:sp>
        <p:nvSpPr>
          <p:cNvPr id="384" name="Google Shape;384;p20"/>
          <p:cNvSpPr txBox="1"/>
          <p:nvPr/>
        </p:nvSpPr>
        <p:spPr>
          <a:xfrm>
            <a:off x="8550362" y="1321008"/>
            <a:ext cx="1185584" cy="720903"/>
          </a:xfrm>
          <a:prstGeom prst="rect">
            <a:avLst/>
          </a:prstGeom>
          <a:noFill/>
          <a:ln>
            <a:noFill/>
          </a:ln>
        </p:spPr>
        <p:txBody>
          <a:bodyPr spcFirstLastPara="1" wrap="square" lIns="0" tIns="0" rIns="0" bIns="0" anchor="t" anchorCtr="0">
            <a:spAutoFit/>
          </a:bodyPr>
          <a:lstStyle/>
          <a:p>
            <a:pPr marL="0" marR="0" lvl="0" indent="0" algn="ctr" rtl="0">
              <a:lnSpc>
                <a:spcPct val="119991"/>
              </a:lnSpc>
              <a:spcBef>
                <a:spcPts val="0"/>
              </a:spcBef>
              <a:spcAft>
                <a:spcPts val="0"/>
              </a:spcAft>
              <a:buNone/>
            </a:pPr>
            <a:r>
              <a:rPr lang="en-US" sz="2401" b="1" dirty="0">
                <a:solidFill>
                  <a:srgbClr val="000000"/>
                </a:solidFill>
                <a:latin typeface="Arial"/>
                <a:ea typeface="Arial"/>
                <a:cs typeface="Arial"/>
                <a:sym typeface="Arial"/>
              </a:rPr>
              <a:t>Output :</a:t>
            </a:r>
            <a:endParaRPr dirty="0"/>
          </a:p>
          <a:p>
            <a:pPr marL="0" marR="0" lvl="0" indent="0" algn="ctr" rtl="0">
              <a:lnSpc>
                <a:spcPct val="119991"/>
              </a:lnSpc>
              <a:spcBef>
                <a:spcPts val="0"/>
              </a:spcBef>
              <a:spcAft>
                <a:spcPts val="0"/>
              </a:spcAft>
              <a:buNone/>
            </a:pPr>
            <a:endParaRPr sz="2401" b="1" dirty="0">
              <a:solidFill>
                <a:srgbClr val="000000"/>
              </a:solidFill>
              <a:latin typeface="Arial"/>
              <a:ea typeface="Arial"/>
              <a:cs typeface="Arial"/>
              <a:sym typeface="Arial"/>
            </a:endParaRPr>
          </a:p>
        </p:txBody>
      </p:sp>
      <p:sp>
        <p:nvSpPr>
          <p:cNvPr id="385" name="Google Shape;385;p20"/>
          <p:cNvSpPr txBox="1"/>
          <p:nvPr/>
        </p:nvSpPr>
        <p:spPr>
          <a:xfrm>
            <a:off x="2024066" y="1710415"/>
            <a:ext cx="863976" cy="720903"/>
          </a:xfrm>
          <a:prstGeom prst="rect">
            <a:avLst/>
          </a:prstGeom>
          <a:noFill/>
          <a:ln>
            <a:noFill/>
          </a:ln>
        </p:spPr>
        <p:txBody>
          <a:bodyPr spcFirstLastPara="1" wrap="square" lIns="0" tIns="0" rIns="0" bIns="0" anchor="t" anchorCtr="0">
            <a:spAutoFit/>
          </a:bodyPr>
          <a:lstStyle/>
          <a:p>
            <a:pPr marL="0" marR="0" lvl="0" indent="0" algn="ctr" rtl="0">
              <a:lnSpc>
                <a:spcPct val="119991"/>
              </a:lnSpc>
              <a:spcBef>
                <a:spcPts val="0"/>
              </a:spcBef>
              <a:spcAft>
                <a:spcPts val="0"/>
              </a:spcAft>
              <a:buNone/>
            </a:pPr>
            <a:r>
              <a:rPr lang="en-US" sz="2401" b="1" dirty="0">
                <a:solidFill>
                  <a:srgbClr val="000000"/>
                </a:solidFill>
                <a:latin typeface="Arial"/>
                <a:ea typeface="Arial"/>
                <a:cs typeface="Arial"/>
                <a:sym typeface="Arial"/>
              </a:rPr>
              <a:t>Code:</a:t>
            </a:r>
            <a:endParaRPr dirty="0"/>
          </a:p>
          <a:p>
            <a:pPr marL="0" marR="0" lvl="0" indent="0" algn="ctr" rtl="0">
              <a:lnSpc>
                <a:spcPct val="119991"/>
              </a:lnSpc>
              <a:spcBef>
                <a:spcPts val="0"/>
              </a:spcBef>
              <a:spcAft>
                <a:spcPts val="0"/>
              </a:spcAft>
              <a:buNone/>
            </a:pPr>
            <a:endParaRPr sz="2401" b="1" dirty="0">
              <a:solidFill>
                <a:srgbClr val="000000"/>
              </a:solidFill>
              <a:latin typeface="Arial"/>
              <a:ea typeface="Arial"/>
              <a:cs typeface="Arial"/>
              <a:sym typeface="Arial"/>
            </a:endParaRPr>
          </a:p>
        </p:txBody>
      </p:sp>
      <p:sp>
        <p:nvSpPr>
          <p:cNvPr id="386" name="Google Shape;386;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387" name="Google Shape;387;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3" name="Google Shape;393;p21"/>
          <p:cNvSpPr txBox="1"/>
          <p:nvPr/>
        </p:nvSpPr>
        <p:spPr>
          <a:xfrm>
            <a:off x="2294923" y="457436"/>
            <a:ext cx="8156963" cy="73129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4400" b="1" dirty="0">
                <a:solidFill>
                  <a:srgbClr val="C00000"/>
                </a:solidFill>
                <a:latin typeface="Times"/>
                <a:ea typeface="Times"/>
                <a:cs typeface="Times"/>
                <a:sym typeface="Times"/>
              </a:rPr>
              <a:t>PL/SQL Sequential Control</a:t>
            </a:r>
            <a:endParaRPr dirty="0"/>
          </a:p>
        </p:txBody>
      </p:sp>
      <p:sp>
        <p:nvSpPr>
          <p:cNvPr id="394" name="Google Shape;394;p21"/>
          <p:cNvSpPr txBox="1"/>
          <p:nvPr/>
        </p:nvSpPr>
        <p:spPr>
          <a:xfrm>
            <a:off x="1076848" y="1271867"/>
            <a:ext cx="7916546" cy="2179443"/>
          </a:xfrm>
          <a:prstGeom prst="rect">
            <a:avLst/>
          </a:prstGeom>
          <a:noFill/>
          <a:ln>
            <a:noFill/>
          </a:ln>
        </p:spPr>
        <p:txBody>
          <a:bodyPr spcFirstLastPara="1" wrap="square" lIns="0" tIns="0" rIns="0" bIns="0" anchor="t" anchorCtr="0">
            <a:spAutoFit/>
          </a:bodyPr>
          <a:lstStyle/>
          <a:p>
            <a:pPr marL="0" marR="0" lvl="0" indent="0" algn="just" rtl="0">
              <a:lnSpc>
                <a:spcPct val="119975"/>
              </a:lnSpc>
              <a:spcBef>
                <a:spcPts val="0"/>
              </a:spcBef>
              <a:spcAft>
                <a:spcPts val="0"/>
              </a:spcAft>
              <a:buNone/>
            </a:pPr>
            <a:r>
              <a:rPr lang="en-US" sz="2403" b="1" dirty="0">
                <a:solidFill>
                  <a:srgbClr val="000000"/>
                </a:solidFill>
                <a:latin typeface="Arial"/>
                <a:ea typeface="Arial"/>
                <a:cs typeface="Arial"/>
                <a:sym typeface="Arial"/>
              </a:rPr>
              <a:t>The GOTO Statement</a:t>
            </a:r>
            <a:endParaRPr dirty="0"/>
          </a:p>
          <a:p>
            <a:pPr marL="0" marR="0" lvl="0" indent="0" algn="just" rtl="0">
              <a:lnSpc>
                <a:spcPct val="119975"/>
              </a:lnSpc>
              <a:spcBef>
                <a:spcPts val="0"/>
              </a:spcBef>
              <a:spcAft>
                <a:spcPts val="0"/>
              </a:spcAft>
              <a:buNone/>
            </a:pPr>
            <a:r>
              <a:rPr lang="en-US" sz="1880" dirty="0">
                <a:solidFill>
                  <a:srgbClr val="000000"/>
                </a:solidFill>
                <a:latin typeface="Arial"/>
                <a:ea typeface="Arial"/>
                <a:cs typeface="Arial"/>
                <a:sym typeface="Arial"/>
              </a:rPr>
              <a:t>The GOTO statement changes the flow of control within a PL/SQL block. This statement allows execution of a section of code, which is not in the normal flow of control. The entry point into such a block of code is marked using the tags «</a:t>
            </a:r>
            <a:r>
              <a:rPr lang="en-US" sz="1880" dirty="0" err="1">
                <a:solidFill>
                  <a:srgbClr val="000000"/>
                </a:solidFill>
                <a:latin typeface="Arial"/>
                <a:ea typeface="Arial"/>
                <a:cs typeface="Arial"/>
                <a:sym typeface="Arial"/>
              </a:rPr>
              <a:t>userdefined</a:t>
            </a:r>
            <a:r>
              <a:rPr lang="en-US" sz="1880" dirty="0">
                <a:solidFill>
                  <a:srgbClr val="000000"/>
                </a:solidFill>
                <a:latin typeface="Arial"/>
                <a:ea typeface="Arial"/>
                <a:cs typeface="Arial"/>
                <a:sym typeface="Arial"/>
              </a:rPr>
              <a:t> name». The GOTO statement can then make use of this user-defined name to jump into that block of code for execution.</a:t>
            </a:r>
            <a:endParaRPr sz="1880" dirty="0"/>
          </a:p>
        </p:txBody>
      </p:sp>
      <p:sp>
        <p:nvSpPr>
          <p:cNvPr id="395" name="Google Shape;395;p21"/>
          <p:cNvSpPr txBox="1"/>
          <p:nvPr/>
        </p:nvSpPr>
        <p:spPr>
          <a:xfrm>
            <a:off x="1076848" y="3689959"/>
            <a:ext cx="1729874" cy="1485150"/>
          </a:xfrm>
          <a:prstGeom prst="rect">
            <a:avLst/>
          </a:prstGeom>
          <a:noFill/>
          <a:ln>
            <a:noFill/>
          </a:ln>
        </p:spPr>
        <p:txBody>
          <a:bodyPr spcFirstLastPara="1" wrap="square" lIns="0" tIns="0" rIns="0" bIns="0" anchor="t" anchorCtr="0">
            <a:spAutoFit/>
          </a:bodyPr>
          <a:lstStyle/>
          <a:p>
            <a:pPr marL="0" marR="0" lvl="0" indent="0" algn="just" rtl="0">
              <a:lnSpc>
                <a:spcPct val="119975"/>
              </a:lnSpc>
              <a:spcBef>
                <a:spcPts val="0"/>
              </a:spcBef>
              <a:spcAft>
                <a:spcPts val="0"/>
              </a:spcAft>
              <a:buNone/>
            </a:pPr>
            <a:r>
              <a:rPr lang="en-US" sz="2403" b="1" dirty="0">
                <a:solidFill>
                  <a:srgbClr val="000000"/>
                </a:solidFill>
                <a:latin typeface="Arial"/>
                <a:ea typeface="Arial"/>
                <a:cs typeface="Arial"/>
                <a:sym typeface="Arial"/>
              </a:rPr>
              <a:t>Syntax :</a:t>
            </a:r>
            <a:endParaRPr dirty="0"/>
          </a:p>
          <a:p>
            <a:pPr marL="0" marR="0" lvl="0" indent="0" algn="just" rtl="0">
              <a:lnSpc>
                <a:spcPct val="119975"/>
              </a:lnSpc>
              <a:spcBef>
                <a:spcPts val="0"/>
              </a:spcBef>
              <a:spcAft>
                <a:spcPts val="0"/>
              </a:spcAft>
              <a:buNone/>
            </a:pPr>
            <a:r>
              <a:rPr lang="en-US" sz="1880" dirty="0">
                <a:solidFill>
                  <a:srgbClr val="000000"/>
                </a:solidFill>
                <a:latin typeface="Arial"/>
                <a:ea typeface="Arial"/>
                <a:cs typeface="Arial"/>
                <a:sym typeface="Arial"/>
              </a:rPr>
              <a:t>GOTO jump;</a:t>
            </a:r>
            <a:endParaRPr sz="1880" dirty="0"/>
          </a:p>
          <a:p>
            <a:pPr marL="0" marR="0" lvl="0" indent="0" algn="just" rtl="0">
              <a:lnSpc>
                <a:spcPct val="119975"/>
              </a:lnSpc>
              <a:spcBef>
                <a:spcPts val="0"/>
              </a:spcBef>
              <a:spcAft>
                <a:spcPts val="0"/>
              </a:spcAft>
              <a:buNone/>
            </a:pPr>
            <a:r>
              <a:rPr lang="en-US" sz="1880" dirty="0">
                <a:solidFill>
                  <a:srgbClr val="000000"/>
                </a:solidFill>
                <a:latin typeface="Arial"/>
                <a:ea typeface="Arial"/>
                <a:cs typeface="Arial"/>
                <a:sym typeface="Arial"/>
              </a:rPr>
              <a:t>....</a:t>
            </a:r>
            <a:endParaRPr sz="1880" dirty="0"/>
          </a:p>
          <a:p>
            <a:pPr marL="0" marR="0" lvl="0" indent="0" algn="just" rtl="0">
              <a:lnSpc>
                <a:spcPct val="119975"/>
              </a:lnSpc>
              <a:spcBef>
                <a:spcPts val="0"/>
              </a:spcBef>
              <a:spcAft>
                <a:spcPts val="0"/>
              </a:spcAft>
              <a:buNone/>
            </a:pPr>
            <a:r>
              <a:rPr lang="en-US" sz="1880" dirty="0">
                <a:solidFill>
                  <a:srgbClr val="000000"/>
                </a:solidFill>
                <a:latin typeface="Arial"/>
                <a:ea typeface="Arial"/>
                <a:cs typeface="Arial"/>
                <a:sym typeface="Arial"/>
              </a:rPr>
              <a:t>&lt;&lt;jump&gt;&gt;</a:t>
            </a:r>
            <a:endParaRPr sz="1880" dirty="0"/>
          </a:p>
        </p:txBody>
      </p:sp>
      <p:sp>
        <p:nvSpPr>
          <p:cNvPr id="396" name="Google Shape;39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397" name="Google Shape;39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3" name="Google Shape;403;p22"/>
          <p:cNvSpPr txBox="1"/>
          <p:nvPr/>
        </p:nvSpPr>
        <p:spPr>
          <a:xfrm>
            <a:off x="2324536" y="401934"/>
            <a:ext cx="8156963" cy="73129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4400" b="1" dirty="0">
                <a:solidFill>
                  <a:srgbClr val="C00000"/>
                </a:solidFill>
                <a:latin typeface="Times"/>
                <a:ea typeface="Times"/>
                <a:cs typeface="Times"/>
                <a:sym typeface="Times"/>
              </a:rPr>
              <a:t>PL/SQL Sequential Control:</a:t>
            </a:r>
            <a:endParaRPr dirty="0"/>
          </a:p>
        </p:txBody>
      </p:sp>
      <p:sp>
        <p:nvSpPr>
          <p:cNvPr id="404" name="Google Shape;404;p22"/>
          <p:cNvSpPr/>
          <p:nvPr/>
        </p:nvSpPr>
        <p:spPr>
          <a:xfrm>
            <a:off x="1142988" y="2032046"/>
            <a:ext cx="6804000" cy="3914422"/>
          </a:xfrm>
          <a:custGeom>
            <a:avLst/>
            <a:gdLst/>
            <a:ahLst/>
            <a:cxnLst/>
            <a:rect l="l" t="t" r="r" b="b"/>
            <a:pathLst>
              <a:path w="12312647" h="5871633" extrusionOk="0">
                <a:moveTo>
                  <a:pt x="0" y="0"/>
                </a:moveTo>
                <a:lnTo>
                  <a:pt x="12312647" y="0"/>
                </a:lnTo>
                <a:lnTo>
                  <a:pt x="12312647" y="5871634"/>
                </a:lnTo>
                <a:lnTo>
                  <a:pt x="0" y="5871634"/>
                </a:lnTo>
                <a:lnTo>
                  <a:pt x="0" y="0"/>
                </a:lnTo>
                <a:close/>
              </a:path>
            </a:pathLst>
          </a:custGeom>
          <a:blipFill rotWithShape="1">
            <a:blip r:embed="rId3">
              <a:alphaModFix/>
            </a:blip>
            <a:stretch>
              <a:fillRect r="-4937"/>
            </a:stretch>
          </a:blipFill>
          <a:ln>
            <a:noFill/>
          </a:ln>
        </p:spPr>
        <p:txBody>
          <a:bodyPr/>
          <a:lstStyle/>
          <a:p>
            <a:endParaRPr lang="en-IN" dirty="0"/>
          </a:p>
        </p:txBody>
      </p:sp>
      <p:sp>
        <p:nvSpPr>
          <p:cNvPr id="405" name="Google Shape;405;p22"/>
          <p:cNvSpPr txBox="1"/>
          <p:nvPr/>
        </p:nvSpPr>
        <p:spPr>
          <a:xfrm>
            <a:off x="8153399" y="2119757"/>
            <a:ext cx="3485395" cy="1041439"/>
          </a:xfrm>
          <a:prstGeom prst="rect">
            <a:avLst/>
          </a:prstGeom>
          <a:noFill/>
          <a:ln>
            <a:noFill/>
          </a:ln>
        </p:spPr>
        <p:txBody>
          <a:bodyPr spcFirstLastPara="1" wrap="square" lIns="0" tIns="0" rIns="0" bIns="0" anchor="t" anchorCtr="0">
            <a:spAutoFit/>
          </a:bodyPr>
          <a:lstStyle/>
          <a:p>
            <a:pPr marL="0" marR="0" lvl="0" indent="0" algn="just" rtl="0">
              <a:lnSpc>
                <a:spcPct val="120033"/>
              </a:lnSpc>
              <a:spcBef>
                <a:spcPts val="0"/>
              </a:spcBef>
              <a:spcAft>
                <a:spcPts val="0"/>
              </a:spcAft>
              <a:buNone/>
            </a:pPr>
            <a:r>
              <a:rPr lang="en-US" sz="1880" dirty="0">
                <a:solidFill>
                  <a:srgbClr val="000000"/>
                </a:solidFill>
                <a:latin typeface="Arial"/>
                <a:ea typeface="Arial"/>
                <a:cs typeface="Arial"/>
                <a:sym typeface="Arial"/>
              </a:rPr>
              <a:t>code starts</a:t>
            </a:r>
            <a:endParaRPr sz="1880" dirty="0"/>
          </a:p>
          <a:p>
            <a:pPr marL="0" marR="0" lvl="0" indent="0" algn="just" rtl="0">
              <a:lnSpc>
                <a:spcPct val="120033"/>
              </a:lnSpc>
              <a:spcBef>
                <a:spcPts val="0"/>
              </a:spcBef>
              <a:spcAft>
                <a:spcPts val="0"/>
              </a:spcAft>
              <a:buNone/>
            </a:pPr>
            <a:r>
              <a:rPr lang="en-US" sz="1880" dirty="0">
                <a:solidFill>
                  <a:srgbClr val="000000"/>
                </a:solidFill>
                <a:latin typeface="Arial"/>
                <a:ea typeface="Arial"/>
                <a:cs typeface="Arial"/>
                <a:sym typeface="Arial"/>
              </a:rPr>
              <a:t>before </a:t>
            </a:r>
            <a:r>
              <a:rPr lang="en-US" sz="1880" dirty="0" err="1">
                <a:solidFill>
                  <a:srgbClr val="000000"/>
                </a:solidFill>
                <a:latin typeface="Arial"/>
                <a:ea typeface="Arial"/>
                <a:cs typeface="Arial"/>
                <a:sym typeface="Arial"/>
              </a:rPr>
              <a:t>gotostatements</a:t>
            </a:r>
            <a:endParaRPr sz="1880" dirty="0"/>
          </a:p>
          <a:p>
            <a:pPr marL="0" marR="0" lvl="0" indent="0" algn="just" rtl="0">
              <a:lnSpc>
                <a:spcPct val="120033"/>
              </a:lnSpc>
              <a:spcBef>
                <a:spcPts val="0"/>
              </a:spcBef>
              <a:spcAft>
                <a:spcPts val="0"/>
              </a:spcAft>
              <a:buNone/>
            </a:pPr>
            <a:r>
              <a:rPr lang="en-US" sz="1880" dirty="0">
                <a:solidFill>
                  <a:srgbClr val="000000"/>
                </a:solidFill>
                <a:latin typeface="Arial"/>
                <a:ea typeface="Arial"/>
                <a:cs typeface="Arial"/>
                <a:sym typeface="Arial"/>
              </a:rPr>
              <a:t>flow of execution jumped here.</a:t>
            </a:r>
            <a:endParaRPr sz="1880" dirty="0"/>
          </a:p>
        </p:txBody>
      </p:sp>
      <p:sp>
        <p:nvSpPr>
          <p:cNvPr id="406" name="Google Shape;406;p22"/>
          <p:cNvSpPr txBox="1"/>
          <p:nvPr/>
        </p:nvSpPr>
        <p:spPr>
          <a:xfrm>
            <a:off x="8153399" y="1419421"/>
            <a:ext cx="1101206" cy="349006"/>
          </a:xfrm>
          <a:prstGeom prst="rect">
            <a:avLst/>
          </a:prstGeom>
          <a:noFill/>
          <a:ln>
            <a:noFill/>
          </a:ln>
        </p:spPr>
        <p:txBody>
          <a:bodyPr spcFirstLastPara="1" wrap="square" lIns="0" tIns="0" rIns="0" bIns="0" anchor="t" anchorCtr="0">
            <a:spAutoFit/>
          </a:bodyPr>
          <a:lstStyle/>
          <a:p>
            <a:pPr marL="0" marR="0" lvl="0" indent="0" algn="ctr" rtl="0">
              <a:lnSpc>
                <a:spcPct val="120033"/>
              </a:lnSpc>
              <a:spcBef>
                <a:spcPts val="0"/>
              </a:spcBef>
              <a:spcAft>
                <a:spcPts val="0"/>
              </a:spcAft>
              <a:buNone/>
            </a:pPr>
            <a:r>
              <a:rPr lang="en-US" sz="2401" b="1" dirty="0">
                <a:solidFill>
                  <a:srgbClr val="000000"/>
                </a:solidFill>
                <a:latin typeface="Arial"/>
                <a:ea typeface="Arial"/>
                <a:cs typeface="Arial"/>
                <a:sym typeface="Arial"/>
              </a:rPr>
              <a:t>Output:</a:t>
            </a:r>
            <a:endParaRPr dirty="0"/>
          </a:p>
        </p:txBody>
      </p:sp>
      <p:sp>
        <p:nvSpPr>
          <p:cNvPr id="407" name="Google Shape;407;p22"/>
          <p:cNvSpPr txBox="1"/>
          <p:nvPr/>
        </p:nvSpPr>
        <p:spPr>
          <a:xfrm>
            <a:off x="1301642" y="1419421"/>
            <a:ext cx="864231" cy="349006"/>
          </a:xfrm>
          <a:prstGeom prst="rect">
            <a:avLst/>
          </a:prstGeom>
          <a:noFill/>
          <a:ln>
            <a:noFill/>
          </a:ln>
        </p:spPr>
        <p:txBody>
          <a:bodyPr spcFirstLastPara="1" wrap="square" lIns="0" tIns="0" rIns="0" bIns="0" anchor="t" anchorCtr="0">
            <a:spAutoFit/>
          </a:bodyPr>
          <a:lstStyle/>
          <a:p>
            <a:pPr marL="0" marR="0" lvl="0" indent="0" algn="ctr" rtl="0">
              <a:lnSpc>
                <a:spcPct val="120033"/>
              </a:lnSpc>
              <a:spcBef>
                <a:spcPts val="0"/>
              </a:spcBef>
              <a:spcAft>
                <a:spcPts val="0"/>
              </a:spcAft>
              <a:buNone/>
            </a:pPr>
            <a:r>
              <a:rPr lang="en-US" sz="2401" b="1" dirty="0">
                <a:solidFill>
                  <a:srgbClr val="000000"/>
                </a:solidFill>
                <a:latin typeface="Arial"/>
                <a:ea typeface="Arial"/>
                <a:cs typeface="Arial"/>
                <a:sym typeface="Arial"/>
              </a:rPr>
              <a:t>Code:</a:t>
            </a:r>
            <a:endParaRPr dirty="0"/>
          </a:p>
        </p:txBody>
      </p:sp>
      <p:sp>
        <p:nvSpPr>
          <p:cNvPr id="408" name="Google Shape;40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409" name="Google Shape;40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5" name="Google Shape;415;p23"/>
          <p:cNvSpPr txBox="1"/>
          <p:nvPr/>
        </p:nvSpPr>
        <p:spPr>
          <a:xfrm>
            <a:off x="3832604" y="397228"/>
            <a:ext cx="4526791" cy="81253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400" b="1" dirty="0">
                <a:solidFill>
                  <a:srgbClr val="C00000"/>
                </a:solidFill>
                <a:latin typeface="Arimo"/>
                <a:ea typeface="Arimo"/>
                <a:cs typeface="Arimo"/>
                <a:sym typeface="Arimo"/>
              </a:rPr>
              <a:t>Cursors</a:t>
            </a:r>
            <a:endParaRPr dirty="0"/>
          </a:p>
        </p:txBody>
      </p:sp>
      <p:sp>
        <p:nvSpPr>
          <p:cNvPr id="416" name="Google Shape;416;p23"/>
          <p:cNvSpPr txBox="1"/>
          <p:nvPr/>
        </p:nvSpPr>
        <p:spPr>
          <a:xfrm>
            <a:off x="1484554" y="1504515"/>
            <a:ext cx="9808285" cy="4262321"/>
          </a:xfrm>
          <a:prstGeom prst="rect">
            <a:avLst/>
          </a:prstGeom>
          <a:noFill/>
          <a:ln>
            <a:noFill/>
          </a:ln>
        </p:spPr>
        <p:txBody>
          <a:bodyPr spcFirstLastPara="1" wrap="square" lIns="0" tIns="0" rIns="0" bIns="0" anchor="t" anchorCtr="0">
            <a:spAutoFit/>
          </a:bodyPr>
          <a:lstStyle/>
          <a:p>
            <a:pPr marL="0" marR="0" lvl="0" indent="0" algn="just" rtl="0">
              <a:lnSpc>
                <a:spcPct val="119975"/>
              </a:lnSpc>
              <a:spcBef>
                <a:spcPts val="0"/>
              </a:spcBef>
              <a:spcAft>
                <a:spcPts val="0"/>
              </a:spcAft>
              <a:buNone/>
            </a:pPr>
            <a:r>
              <a:rPr lang="en-US" sz="1880" dirty="0">
                <a:solidFill>
                  <a:srgbClr val="000000"/>
                </a:solidFill>
                <a:latin typeface="Arial"/>
                <a:ea typeface="Arial"/>
                <a:cs typeface="Arial"/>
                <a:sym typeface="Arial"/>
              </a:rPr>
              <a:t>Whenever DML statements are executed, a temporary work area is created in the system memory and it is called a cursor. A cursor can have more than one row, but processing wise only 1 row is taken into account. Cursors are very helpful in all kinds of databases like Oracle, SQL Server, MySQL, etc. They can be used well with DML statements like Update, Insert and Delete. Especially Implicit cursors are there with these operations. From time to time, it changes the values and hence the implicit cursor attribute values need to be assigned in a local variable for further use. In PL/SQL, two different types of cursors are available.</a:t>
            </a:r>
          </a:p>
          <a:p>
            <a:pPr marL="0" marR="0" lvl="0" indent="0" algn="just" rtl="0">
              <a:lnSpc>
                <a:spcPct val="119975"/>
              </a:lnSpc>
              <a:spcBef>
                <a:spcPts val="0"/>
              </a:spcBef>
              <a:spcAft>
                <a:spcPts val="0"/>
              </a:spcAft>
              <a:buNone/>
            </a:pPr>
            <a:endParaRPr sz="1880" dirty="0"/>
          </a:p>
          <a:p>
            <a:pPr marL="518822" marR="0" lvl="1" indent="-259411" algn="just" rtl="0">
              <a:lnSpc>
                <a:spcPct val="119975"/>
              </a:lnSpc>
              <a:spcBef>
                <a:spcPts val="0"/>
              </a:spcBef>
              <a:spcAft>
                <a:spcPts val="0"/>
              </a:spcAft>
              <a:buClr>
                <a:srgbClr val="000000"/>
              </a:buClr>
              <a:buSzPts val="2403"/>
              <a:buFont typeface="Arial"/>
              <a:buAutoNum type="arabicPeriod"/>
            </a:pPr>
            <a:r>
              <a:rPr lang="en-US" sz="1880" b="0" i="0" u="none" strike="noStrike" cap="none" dirty="0">
                <a:solidFill>
                  <a:srgbClr val="000000"/>
                </a:solidFill>
                <a:latin typeface="Arial"/>
                <a:ea typeface="Arial"/>
                <a:cs typeface="Arial"/>
                <a:sym typeface="Arial"/>
              </a:rPr>
              <a:t>Implicit cursors</a:t>
            </a:r>
            <a:endParaRPr sz="1880" dirty="0"/>
          </a:p>
          <a:p>
            <a:pPr marL="518822" marR="0" lvl="1" indent="-259411" algn="just" rtl="0">
              <a:lnSpc>
                <a:spcPct val="119975"/>
              </a:lnSpc>
              <a:spcBef>
                <a:spcPts val="0"/>
              </a:spcBef>
              <a:spcAft>
                <a:spcPts val="0"/>
              </a:spcAft>
              <a:buClr>
                <a:srgbClr val="000000"/>
              </a:buClr>
              <a:buSzPts val="2403"/>
              <a:buFont typeface="Arial"/>
              <a:buAutoNum type="arabicPeriod"/>
            </a:pPr>
            <a:r>
              <a:rPr lang="en-US" sz="1880" b="0" i="0" u="none" strike="noStrike" cap="none" dirty="0">
                <a:solidFill>
                  <a:srgbClr val="000000"/>
                </a:solidFill>
                <a:latin typeface="Arial"/>
                <a:ea typeface="Arial"/>
                <a:cs typeface="Arial"/>
                <a:sym typeface="Arial"/>
              </a:rPr>
              <a:t>Explicit cursors</a:t>
            </a:r>
            <a:endParaRPr sz="1880" dirty="0"/>
          </a:p>
          <a:p>
            <a:pPr marL="0" marR="0" lvl="0" indent="0" algn="just" rtl="0">
              <a:lnSpc>
                <a:spcPct val="119975"/>
              </a:lnSpc>
              <a:spcBef>
                <a:spcPts val="0"/>
              </a:spcBef>
              <a:spcAft>
                <a:spcPts val="0"/>
              </a:spcAft>
              <a:buNone/>
            </a:pPr>
            <a:endParaRPr sz="2403" dirty="0">
              <a:solidFill>
                <a:srgbClr val="000000"/>
              </a:solidFill>
              <a:latin typeface="Arial"/>
              <a:ea typeface="Arial"/>
              <a:cs typeface="Arial"/>
              <a:sym typeface="Arial"/>
            </a:endParaRPr>
          </a:p>
        </p:txBody>
      </p:sp>
      <p:sp>
        <p:nvSpPr>
          <p:cNvPr id="417" name="Google Shape;41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418" name="Google Shape;41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4" name="Google Shape;424;p24"/>
          <p:cNvSpPr txBox="1"/>
          <p:nvPr/>
        </p:nvSpPr>
        <p:spPr>
          <a:xfrm>
            <a:off x="1237129" y="1281576"/>
            <a:ext cx="9983097" cy="3667542"/>
          </a:xfrm>
          <a:prstGeom prst="rect">
            <a:avLst/>
          </a:prstGeom>
          <a:noFill/>
          <a:ln>
            <a:noFill/>
          </a:ln>
        </p:spPr>
        <p:txBody>
          <a:bodyPr spcFirstLastPara="1" wrap="square" lIns="0" tIns="0" rIns="0" bIns="0" anchor="t" anchorCtr="0">
            <a:spAutoFit/>
          </a:bodyPr>
          <a:lstStyle/>
          <a:p>
            <a:pPr marL="0" marR="0" lvl="0" indent="0" algn="just" rtl="0">
              <a:lnSpc>
                <a:spcPct val="120033"/>
              </a:lnSpc>
              <a:spcBef>
                <a:spcPts val="0"/>
              </a:spcBef>
              <a:spcAft>
                <a:spcPts val="0"/>
              </a:spcAft>
              <a:buNone/>
            </a:pPr>
            <a:r>
              <a:rPr lang="en-US" sz="1880" b="1" dirty="0">
                <a:solidFill>
                  <a:srgbClr val="000000"/>
                </a:solidFill>
                <a:latin typeface="Arial"/>
                <a:ea typeface="Arial"/>
                <a:cs typeface="Arial"/>
                <a:sym typeface="Arial"/>
              </a:rPr>
              <a:t>Implicit Cursors</a:t>
            </a:r>
            <a:endParaRPr sz="1880" dirty="0"/>
          </a:p>
          <a:p>
            <a:pPr marL="0" marR="0" lvl="0" indent="0" algn="just" rtl="0">
              <a:lnSpc>
                <a:spcPct val="120033"/>
              </a:lnSpc>
              <a:spcBef>
                <a:spcPts val="0"/>
              </a:spcBef>
              <a:spcAft>
                <a:spcPts val="0"/>
              </a:spcAft>
              <a:buNone/>
            </a:pPr>
            <a:r>
              <a:rPr lang="en-US" sz="1880" dirty="0">
                <a:solidFill>
                  <a:srgbClr val="000000"/>
                </a:solidFill>
                <a:latin typeface="Arial"/>
                <a:ea typeface="Arial"/>
                <a:cs typeface="Arial"/>
                <a:sym typeface="Arial"/>
              </a:rPr>
              <a:t>An Implicit Cursor is a cursor that is automatically created by the database management system to handle single-row queries or DML operations (INSERT, UPDATE, DELETE). The database automatically manages the lifecycle of an implicit cursor, so the programmer does not need to explicitly declare, open, fetch, or close it</a:t>
            </a:r>
            <a:r>
              <a:rPr lang="en-US" sz="1880" b="1" dirty="0">
                <a:solidFill>
                  <a:srgbClr val="000000"/>
                </a:solidFill>
                <a:latin typeface="Arial"/>
                <a:ea typeface="Arial"/>
                <a:cs typeface="Arial"/>
                <a:sym typeface="Arial"/>
              </a:rPr>
              <a:t>.</a:t>
            </a:r>
            <a:endParaRPr sz="1880" dirty="0"/>
          </a:p>
          <a:p>
            <a:pPr marL="0" marR="0" lvl="0" indent="0" algn="just" rtl="0">
              <a:lnSpc>
                <a:spcPct val="120033"/>
              </a:lnSpc>
              <a:spcBef>
                <a:spcPts val="0"/>
              </a:spcBef>
              <a:spcAft>
                <a:spcPts val="0"/>
              </a:spcAft>
              <a:buNone/>
            </a:pPr>
            <a:endParaRPr sz="1880" b="1" dirty="0">
              <a:solidFill>
                <a:srgbClr val="000000"/>
              </a:solidFill>
              <a:latin typeface="Arial"/>
              <a:ea typeface="Arial"/>
              <a:cs typeface="Arial"/>
              <a:sym typeface="Arial"/>
            </a:endParaRPr>
          </a:p>
          <a:p>
            <a:pPr marL="0" marR="0" lvl="0" indent="0" algn="just" rtl="0">
              <a:lnSpc>
                <a:spcPct val="120033"/>
              </a:lnSpc>
              <a:spcBef>
                <a:spcPts val="0"/>
              </a:spcBef>
              <a:spcAft>
                <a:spcPts val="0"/>
              </a:spcAft>
              <a:buNone/>
            </a:pPr>
            <a:r>
              <a:rPr lang="en-US" sz="1880" b="1" dirty="0">
                <a:solidFill>
                  <a:srgbClr val="000000"/>
                </a:solidFill>
                <a:latin typeface="Arial"/>
                <a:ea typeface="Arial"/>
                <a:cs typeface="Arial"/>
                <a:sym typeface="Arial"/>
              </a:rPr>
              <a:t>%ROWCOUNT</a:t>
            </a:r>
            <a:endParaRPr sz="1880" dirty="0"/>
          </a:p>
          <a:p>
            <a:pPr marL="0" marR="0" lvl="0" indent="0" algn="just" rtl="0">
              <a:lnSpc>
                <a:spcPct val="120033"/>
              </a:lnSpc>
              <a:spcBef>
                <a:spcPts val="0"/>
              </a:spcBef>
              <a:spcAft>
                <a:spcPts val="0"/>
              </a:spcAft>
              <a:buNone/>
            </a:pPr>
            <a:r>
              <a:rPr lang="en-US" sz="1880" dirty="0">
                <a:solidFill>
                  <a:srgbClr val="000000"/>
                </a:solidFill>
                <a:latin typeface="Arial"/>
                <a:ea typeface="Arial"/>
                <a:cs typeface="Arial"/>
                <a:sym typeface="Arial"/>
              </a:rPr>
              <a:t>It displays the number of rows produced by a SELECT INTO command or affected by DML operations like INSERT, DELETE, and UPDATE.</a:t>
            </a:r>
            <a:endParaRPr sz="1880" dirty="0"/>
          </a:p>
          <a:p>
            <a:pPr marL="0" marR="0" lvl="0" indent="0" algn="just" rtl="0">
              <a:lnSpc>
                <a:spcPct val="120033"/>
              </a:lnSpc>
              <a:spcBef>
                <a:spcPts val="0"/>
              </a:spcBef>
              <a:spcAft>
                <a:spcPts val="0"/>
              </a:spcAft>
              <a:buNone/>
            </a:pPr>
            <a:endParaRPr sz="2411" dirty="0">
              <a:solidFill>
                <a:srgbClr val="000000"/>
              </a:solidFill>
              <a:latin typeface="Arial"/>
              <a:ea typeface="Arial"/>
              <a:cs typeface="Arial"/>
              <a:sym typeface="Arial"/>
            </a:endParaRPr>
          </a:p>
        </p:txBody>
      </p:sp>
      <p:sp>
        <p:nvSpPr>
          <p:cNvPr id="425" name="Google Shape;425;p24"/>
          <p:cNvSpPr/>
          <p:nvPr/>
        </p:nvSpPr>
        <p:spPr>
          <a:xfrm>
            <a:off x="2420925" y="5137459"/>
            <a:ext cx="7219784" cy="668295"/>
          </a:xfrm>
          <a:custGeom>
            <a:avLst/>
            <a:gdLst/>
            <a:ahLst/>
            <a:cxnLst/>
            <a:rect l="l" t="t" r="r" b="b"/>
            <a:pathLst>
              <a:path w="10829676" h="1002443" extrusionOk="0">
                <a:moveTo>
                  <a:pt x="0" y="0"/>
                </a:moveTo>
                <a:lnTo>
                  <a:pt x="10829677" y="0"/>
                </a:lnTo>
                <a:lnTo>
                  <a:pt x="10829677" y="1002444"/>
                </a:lnTo>
                <a:lnTo>
                  <a:pt x="0" y="1002444"/>
                </a:lnTo>
                <a:lnTo>
                  <a:pt x="0" y="0"/>
                </a:lnTo>
                <a:close/>
              </a:path>
            </a:pathLst>
          </a:custGeom>
          <a:blipFill rotWithShape="1">
            <a:blip r:embed="rId3">
              <a:alphaModFix/>
            </a:blip>
            <a:stretch>
              <a:fillRect/>
            </a:stretch>
          </a:blipFill>
          <a:ln>
            <a:noFill/>
          </a:ln>
        </p:spPr>
      </p:sp>
      <p:sp>
        <p:nvSpPr>
          <p:cNvPr id="426" name="Google Shape;426;p24"/>
          <p:cNvSpPr txBox="1"/>
          <p:nvPr/>
        </p:nvSpPr>
        <p:spPr>
          <a:xfrm>
            <a:off x="3767421" y="280705"/>
            <a:ext cx="4526791" cy="81253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400" b="1" dirty="0">
                <a:solidFill>
                  <a:srgbClr val="C00000"/>
                </a:solidFill>
                <a:latin typeface="Arimo"/>
                <a:ea typeface="Arimo"/>
                <a:cs typeface="Arimo"/>
                <a:sym typeface="Arimo"/>
              </a:rPr>
              <a:t>Cursors</a:t>
            </a:r>
            <a:endParaRPr dirty="0"/>
          </a:p>
        </p:txBody>
      </p:sp>
      <p:sp>
        <p:nvSpPr>
          <p:cNvPr id="427" name="Google Shape;427;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428" name="Google Shape;428;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4" name="Google Shape;434;p25"/>
          <p:cNvSpPr/>
          <p:nvPr/>
        </p:nvSpPr>
        <p:spPr>
          <a:xfrm>
            <a:off x="3141899" y="3535881"/>
            <a:ext cx="7371735" cy="1240485"/>
          </a:xfrm>
          <a:custGeom>
            <a:avLst/>
            <a:gdLst/>
            <a:ahLst/>
            <a:cxnLst/>
            <a:rect l="l" t="t" r="r" b="b"/>
            <a:pathLst>
              <a:path w="11057602" h="1860728" extrusionOk="0">
                <a:moveTo>
                  <a:pt x="0" y="0"/>
                </a:moveTo>
                <a:lnTo>
                  <a:pt x="11057602" y="0"/>
                </a:lnTo>
                <a:lnTo>
                  <a:pt x="11057602" y="1860727"/>
                </a:lnTo>
                <a:lnTo>
                  <a:pt x="0" y="1860727"/>
                </a:lnTo>
                <a:lnTo>
                  <a:pt x="0" y="0"/>
                </a:lnTo>
                <a:close/>
              </a:path>
            </a:pathLst>
          </a:custGeom>
          <a:blipFill rotWithShape="1">
            <a:blip r:embed="rId3">
              <a:alphaModFix/>
            </a:blip>
            <a:stretch>
              <a:fillRect/>
            </a:stretch>
          </a:blipFill>
          <a:ln>
            <a:noFill/>
          </a:ln>
        </p:spPr>
        <p:txBody>
          <a:bodyPr/>
          <a:lstStyle/>
          <a:p>
            <a:endParaRPr lang="en-IN" dirty="0"/>
          </a:p>
        </p:txBody>
      </p:sp>
      <p:sp>
        <p:nvSpPr>
          <p:cNvPr id="435" name="Google Shape;435;p25"/>
          <p:cNvSpPr txBox="1"/>
          <p:nvPr/>
        </p:nvSpPr>
        <p:spPr>
          <a:xfrm>
            <a:off x="3832604" y="378824"/>
            <a:ext cx="4526791" cy="81253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400" b="1" dirty="0">
                <a:solidFill>
                  <a:srgbClr val="C00000"/>
                </a:solidFill>
                <a:latin typeface="Arimo"/>
                <a:ea typeface="Arimo"/>
                <a:cs typeface="Arimo"/>
                <a:sym typeface="Arimo"/>
              </a:rPr>
              <a:t>Cursors</a:t>
            </a:r>
            <a:endParaRPr dirty="0"/>
          </a:p>
        </p:txBody>
      </p:sp>
      <p:sp>
        <p:nvSpPr>
          <p:cNvPr id="436" name="Google Shape;436;p25"/>
          <p:cNvSpPr txBox="1"/>
          <p:nvPr/>
        </p:nvSpPr>
        <p:spPr>
          <a:xfrm>
            <a:off x="2065467" y="1683974"/>
            <a:ext cx="9168291" cy="1836465"/>
          </a:xfrm>
          <a:prstGeom prst="rect">
            <a:avLst/>
          </a:prstGeom>
          <a:noFill/>
          <a:ln>
            <a:noFill/>
          </a:ln>
        </p:spPr>
        <p:txBody>
          <a:bodyPr spcFirstLastPara="1" wrap="square" lIns="0" tIns="0" rIns="0" bIns="0" anchor="t" anchorCtr="0">
            <a:spAutoFit/>
          </a:bodyPr>
          <a:lstStyle/>
          <a:p>
            <a:pPr marL="0" marR="0" lvl="0" indent="0" algn="just" rtl="0">
              <a:lnSpc>
                <a:spcPct val="119983"/>
              </a:lnSpc>
              <a:spcBef>
                <a:spcPts val="0"/>
              </a:spcBef>
              <a:spcAft>
                <a:spcPts val="0"/>
              </a:spcAft>
              <a:buNone/>
            </a:pPr>
            <a:r>
              <a:rPr lang="en-US" sz="1880" b="1" dirty="0">
                <a:solidFill>
                  <a:srgbClr val="000000"/>
                </a:solidFill>
                <a:latin typeface="Arial"/>
                <a:ea typeface="Arial"/>
                <a:cs typeface="Arial"/>
                <a:sym typeface="Arial"/>
              </a:rPr>
              <a:t>%FOUND</a:t>
            </a:r>
            <a:endParaRPr sz="1880" dirty="0"/>
          </a:p>
          <a:p>
            <a:pPr marL="0" marR="0" lvl="0" indent="0" algn="just" rtl="0">
              <a:lnSpc>
                <a:spcPct val="119983"/>
              </a:lnSpc>
              <a:spcBef>
                <a:spcPts val="0"/>
              </a:spcBef>
              <a:spcAft>
                <a:spcPts val="0"/>
              </a:spcAft>
              <a:buNone/>
            </a:pPr>
            <a:r>
              <a:rPr lang="en-US" sz="1880" dirty="0">
                <a:solidFill>
                  <a:srgbClr val="000000"/>
                </a:solidFill>
                <a:latin typeface="Arial"/>
                <a:ea typeface="Arial"/>
                <a:cs typeface="Arial"/>
                <a:sym typeface="Arial"/>
              </a:rPr>
              <a:t>Its return result is TRUE if a SELECT INTO command produced one or more rows, or if DML actions like INSERT, DELETE, and UPDATE influence at least one row or more rows. Otherwise, FALSE is returned.</a:t>
            </a:r>
            <a:endParaRPr sz="1880" dirty="0"/>
          </a:p>
          <a:p>
            <a:pPr marL="0" marR="0" lvl="0" indent="0" algn="just" rtl="0">
              <a:lnSpc>
                <a:spcPct val="119983"/>
              </a:lnSpc>
              <a:spcBef>
                <a:spcPts val="0"/>
              </a:spcBef>
              <a:spcAft>
                <a:spcPts val="0"/>
              </a:spcAft>
              <a:buNone/>
            </a:pPr>
            <a:endParaRPr sz="2397" dirty="0">
              <a:solidFill>
                <a:srgbClr val="000000"/>
              </a:solidFill>
              <a:latin typeface="Arial"/>
              <a:ea typeface="Arial"/>
              <a:cs typeface="Arial"/>
              <a:sym typeface="Arial"/>
            </a:endParaRPr>
          </a:p>
        </p:txBody>
      </p:sp>
      <p:sp>
        <p:nvSpPr>
          <p:cNvPr id="437" name="Google Shape;43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438" name="Google Shape;43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4" name="Google Shape;444;p26"/>
          <p:cNvSpPr txBox="1"/>
          <p:nvPr/>
        </p:nvSpPr>
        <p:spPr>
          <a:xfrm>
            <a:off x="1742739" y="1343540"/>
            <a:ext cx="9491020" cy="2777171"/>
          </a:xfrm>
          <a:prstGeom prst="rect">
            <a:avLst/>
          </a:prstGeom>
          <a:noFill/>
          <a:ln>
            <a:noFill/>
          </a:ln>
        </p:spPr>
        <p:txBody>
          <a:bodyPr spcFirstLastPara="1" wrap="square" lIns="0" tIns="0" rIns="0" bIns="0" anchor="t" anchorCtr="0">
            <a:spAutoFit/>
          </a:bodyPr>
          <a:lstStyle/>
          <a:p>
            <a:pPr marL="0" marR="0" lvl="0" indent="0" algn="just" rtl="0">
              <a:lnSpc>
                <a:spcPct val="119983"/>
              </a:lnSpc>
              <a:spcBef>
                <a:spcPts val="0"/>
              </a:spcBef>
              <a:spcAft>
                <a:spcPts val="0"/>
              </a:spcAft>
              <a:buNone/>
            </a:pPr>
            <a:r>
              <a:rPr lang="en-US" sz="1880" b="1" dirty="0">
                <a:solidFill>
                  <a:srgbClr val="000000"/>
                </a:solidFill>
                <a:latin typeface="Arial "/>
                <a:sym typeface="Arial"/>
              </a:rPr>
              <a:t>%NOTFOUND</a:t>
            </a:r>
            <a:endParaRPr sz="1880" dirty="0">
              <a:latin typeface="Arial "/>
            </a:endParaRPr>
          </a:p>
          <a:p>
            <a:pPr marL="0" marR="0" lvl="0" indent="0" algn="just" rtl="0">
              <a:lnSpc>
                <a:spcPct val="119983"/>
              </a:lnSpc>
              <a:spcBef>
                <a:spcPts val="0"/>
              </a:spcBef>
              <a:spcAft>
                <a:spcPts val="0"/>
              </a:spcAft>
              <a:buNone/>
            </a:pPr>
            <a:r>
              <a:rPr lang="en-US" sz="1880" dirty="0">
                <a:solidFill>
                  <a:srgbClr val="000000"/>
                </a:solidFill>
                <a:latin typeface="Arial "/>
                <a:sym typeface="Arial"/>
              </a:rPr>
              <a:t>Its return result is TRUE if a SELECT INTO command produced one or more rows, or if DML actions like INSERT, DELETE, and UPDATE influence at least one row or more rows. Otherwise, FALSE is returned.</a:t>
            </a:r>
            <a:endParaRPr sz="1880" dirty="0">
              <a:latin typeface="Arial "/>
            </a:endParaRPr>
          </a:p>
          <a:p>
            <a:pPr marL="0" marR="0" lvl="0" indent="0" algn="just" rtl="0">
              <a:lnSpc>
                <a:spcPct val="119983"/>
              </a:lnSpc>
              <a:spcBef>
                <a:spcPts val="0"/>
              </a:spcBef>
              <a:spcAft>
                <a:spcPts val="0"/>
              </a:spcAft>
              <a:buNone/>
            </a:pPr>
            <a:r>
              <a:rPr lang="en-US" sz="1880" b="1" dirty="0">
                <a:solidFill>
                  <a:srgbClr val="000000"/>
                </a:solidFill>
                <a:latin typeface="Arial "/>
                <a:sym typeface="Arial"/>
              </a:rPr>
              <a:t>%NOTFOUND</a:t>
            </a:r>
            <a:endParaRPr sz="1880" dirty="0">
              <a:latin typeface="Arial "/>
            </a:endParaRPr>
          </a:p>
          <a:p>
            <a:pPr marL="0" marR="0" lvl="0" indent="0" algn="just" rtl="0">
              <a:lnSpc>
                <a:spcPct val="119983"/>
              </a:lnSpc>
              <a:spcBef>
                <a:spcPts val="0"/>
              </a:spcBef>
              <a:spcAft>
                <a:spcPts val="0"/>
              </a:spcAft>
              <a:buNone/>
            </a:pPr>
            <a:r>
              <a:rPr lang="en-US" sz="1880" dirty="0">
                <a:solidFill>
                  <a:srgbClr val="000000"/>
                </a:solidFill>
                <a:latin typeface="Arial "/>
                <a:sym typeface="Arial"/>
              </a:rPr>
              <a:t>Its return result is TRUE if no rows are affected by DML operations like INSERT, DELETE, and UPDATE, or if a SELECT INTO command returns no rows. Otherwise, FALSE is returned. It is directly opposed to %FOUND.</a:t>
            </a:r>
            <a:endParaRPr sz="1880" dirty="0">
              <a:latin typeface="Arial "/>
            </a:endParaRPr>
          </a:p>
        </p:txBody>
      </p:sp>
      <p:sp>
        <p:nvSpPr>
          <p:cNvPr id="445" name="Google Shape;445;p26"/>
          <p:cNvSpPr/>
          <p:nvPr/>
        </p:nvSpPr>
        <p:spPr>
          <a:xfrm>
            <a:off x="2485430" y="4511074"/>
            <a:ext cx="7378437" cy="1003386"/>
          </a:xfrm>
          <a:custGeom>
            <a:avLst/>
            <a:gdLst/>
            <a:ahLst/>
            <a:cxnLst/>
            <a:rect l="l" t="t" r="r" b="b"/>
            <a:pathLst>
              <a:path w="11067655" h="1505079" extrusionOk="0">
                <a:moveTo>
                  <a:pt x="0" y="0"/>
                </a:moveTo>
                <a:lnTo>
                  <a:pt x="11067655" y="0"/>
                </a:lnTo>
                <a:lnTo>
                  <a:pt x="11067655" y="1505080"/>
                </a:lnTo>
                <a:lnTo>
                  <a:pt x="0" y="1505080"/>
                </a:lnTo>
                <a:lnTo>
                  <a:pt x="0" y="0"/>
                </a:lnTo>
                <a:close/>
              </a:path>
            </a:pathLst>
          </a:custGeom>
          <a:blipFill rotWithShape="1">
            <a:blip r:embed="rId3">
              <a:alphaModFix/>
            </a:blip>
            <a:stretch>
              <a:fillRect/>
            </a:stretch>
          </a:blipFill>
          <a:ln>
            <a:noFill/>
          </a:ln>
        </p:spPr>
      </p:sp>
      <p:sp>
        <p:nvSpPr>
          <p:cNvPr id="446" name="Google Shape;446;p26"/>
          <p:cNvSpPr txBox="1"/>
          <p:nvPr/>
        </p:nvSpPr>
        <p:spPr>
          <a:xfrm>
            <a:off x="3832604" y="335829"/>
            <a:ext cx="4526791" cy="81253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400" b="1" dirty="0">
                <a:solidFill>
                  <a:srgbClr val="C00000"/>
                </a:solidFill>
                <a:latin typeface="Arimo"/>
                <a:ea typeface="Arimo"/>
                <a:cs typeface="Arimo"/>
                <a:sym typeface="Arimo"/>
              </a:rPr>
              <a:t>Cursors</a:t>
            </a:r>
            <a:endParaRPr dirty="0"/>
          </a:p>
        </p:txBody>
      </p:sp>
      <p:sp>
        <p:nvSpPr>
          <p:cNvPr id="447" name="Google Shape;447;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448" name="Google Shape;448;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4" name="Google Shape;454;p27"/>
          <p:cNvSpPr/>
          <p:nvPr/>
        </p:nvSpPr>
        <p:spPr>
          <a:xfrm>
            <a:off x="1475382" y="1946229"/>
            <a:ext cx="8676000" cy="3960000"/>
          </a:xfrm>
          <a:custGeom>
            <a:avLst/>
            <a:gdLst/>
            <a:ahLst/>
            <a:cxnLst/>
            <a:rect l="l" t="t" r="r" b="b"/>
            <a:pathLst>
              <a:path w="13861856" h="6889026" extrusionOk="0">
                <a:moveTo>
                  <a:pt x="0" y="0"/>
                </a:moveTo>
                <a:lnTo>
                  <a:pt x="13861856" y="0"/>
                </a:lnTo>
                <a:lnTo>
                  <a:pt x="13861856" y="6889026"/>
                </a:lnTo>
                <a:lnTo>
                  <a:pt x="0" y="6889026"/>
                </a:lnTo>
                <a:lnTo>
                  <a:pt x="0" y="0"/>
                </a:lnTo>
                <a:close/>
              </a:path>
            </a:pathLst>
          </a:custGeom>
          <a:blipFill rotWithShape="1">
            <a:blip r:embed="rId3">
              <a:alphaModFix/>
            </a:blip>
            <a:stretch>
              <a:fillRect b="-3991"/>
            </a:stretch>
          </a:blipFill>
          <a:ln>
            <a:noFill/>
          </a:ln>
        </p:spPr>
        <p:txBody>
          <a:bodyPr/>
          <a:lstStyle/>
          <a:p>
            <a:endParaRPr lang="en-IN" dirty="0"/>
          </a:p>
        </p:txBody>
      </p:sp>
      <p:sp>
        <p:nvSpPr>
          <p:cNvPr id="455" name="Google Shape;455;p27"/>
          <p:cNvSpPr txBox="1"/>
          <p:nvPr/>
        </p:nvSpPr>
        <p:spPr>
          <a:xfrm>
            <a:off x="3802215" y="289062"/>
            <a:ext cx="4324968" cy="81253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400" b="1" dirty="0">
                <a:solidFill>
                  <a:srgbClr val="C00000"/>
                </a:solidFill>
                <a:latin typeface="Arimo"/>
                <a:ea typeface="Arimo"/>
                <a:cs typeface="Arimo"/>
                <a:sym typeface="Arimo"/>
              </a:rPr>
              <a:t>Cursors</a:t>
            </a:r>
            <a:endParaRPr dirty="0"/>
          </a:p>
        </p:txBody>
      </p:sp>
      <p:sp>
        <p:nvSpPr>
          <p:cNvPr id="456" name="Google Shape;456;p27"/>
          <p:cNvSpPr txBox="1"/>
          <p:nvPr/>
        </p:nvSpPr>
        <p:spPr>
          <a:xfrm>
            <a:off x="1475382" y="1101592"/>
            <a:ext cx="4489317" cy="72083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400" b="1" dirty="0">
                <a:solidFill>
                  <a:srgbClr val="000000"/>
                </a:solidFill>
                <a:latin typeface="Arial"/>
                <a:ea typeface="Arial"/>
                <a:cs typeface="Arial"/>
                <a:sym typeface="Arial"/>
              </a:rPr>
              <a:t>Example of an Implicit Cursor:</a:t>
            </a:r>
            <a:endParaRPr dirty="0"/>
          </a:p>
          <a:p>
            <a:pPr marL="0" marR="0" lvl="0" indent="0" algn="ctr" rtl="0">
              <a:lnSpc>
                <a:spcPct val="120000"/>
              </a:lnSpc>
              <a:spcBef>
                <a:spcPts val="0"/>
              </a:spcBef>
              <a:spcAft>
                <a:spcPts val="0"/>
              </a:spcAft>
              <a:buNone/>
            </a:pPr>
            <a:endParaRPr sz="2400" b="1" dirty="0">
              <a:solidFill>
                <a:srgbClr val="000000"/>
              </a:solidFill>
              <a:latin typeface="Arial"/>
              <a:ea typeface="Arial"/>
              <a:cs typeface="Arial"/>
              <a:sym typeface="Arial"/>
            </a:endParaRPr>
          </a:p>
        </p:txBody>
      </p:sp>
      <p:sp>
        <p:nvSpPr>
          <p:cNvPr id="457" name="Google Shape;45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458" name="Google Shape;45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4" name="Google Shape;464;p28"/>
          <p:cNvSpPr/>
          <p:nvPr/>
        </p:nvSpPr>
        <p:spPr>
          <a:xfrm>
            <a:off x="7887540" y="2069133"/>
            <a:ext cx="4139233" cy="2719733"/>
          </a:xfrm>
          <a:custGeom>
            <a:avLst/>
            <a:gdLst/>
            <a:ahLst/>
            <a:cxnLst/>
            <a:rect l="l" t="t" r="r" b="b"/>
            <a:pathLst>
              <a:path w="6208849" h="4079599" extrusionOk="0">
                <a:moveTo>
                  <a:pt x="0" y="0"/>
                </a:moveTo>
                <a:lnTo>
                  <a:pt x="6208850" y="0"/>
                </a:lnTo>
                <a:lnTo>
                  <a:pt x="6208850" y="4079600"/>
                </a:lnTo>
                <a:lnTo>
                  <a:pt x="0" y="4079600"/>
                </a:lnTo>
                <a:lnTo>
                  <a:pt x="0" y="0"/>
                </a:lnTo>
                <a:close/>
              </a:path>
            </a:pathLst>
          </a:custGeom>
          <a:blipFill rotWithShape="1">
            <a:blip r:embed="rId3">
              <a:alphaModFix/>
            </a:blip>
            <a:stretch>
              <a:fillRect l="-54213" t="-38547" r="-17773" b="-35844"/>
            </a:stretch>
          </a:blipFill>
          <a:ln>
            <a:noFill/>
          </a:ln>
        </p:spPr>
      </p:sp>
      <p:sp>
        <p:nvSpPr>
          <p:cNvPr id="465" name="Google Shape;465;p28"/>
          <p:cNvSpPr txBox="1"/>
          <p:nvPr/>
        </p:nvSpPr>
        <p:spPr>
          <a:xfrm>
            <a:off x="3365625" y="412442"/>
            <a:ext cx="4526791" cy="81253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400" b="1" dirty="0">
                <a:solidFill>
                  <a:srgbClr val="C00000"/>
                </a:solidFill>
                <a:latin typeface="Arimo"/>
                <a:ea typeface="Arimo"/>
                <a:cs typeface="Arimo"/>
                <a:sym typeface="Arimo"/>
              </a:rPr>
              <a:t>Cursors</a:t>
            </a:r>
            <a:endParaRPr dirty="0"/>
          </a:p>
        </p:txBody>
      </p:sp>
      <p:sp>
        <p:nvSpPr>
          <p:cNvPr id="466" name="Google Shape;466;p28"/>
          <p:cNvSpPr txBox="1"/>
          <p:nvPr/>
        </p:nvSpPr>
        <p:spPr>
          <a:xfrm>
            <a:off x="838200" y="1649540"/>
            <a:ext cx="6692153" cy="3818609"/>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80" b="1" dirty="0">
                <a:solidFill>
                  <a:srgbClr val="000000"/>
                </a:solidFill>
                <a:latin typeface="Arial"/>
                <a:ea typeface="Arial"/>
                <a:cs typeface="Arial"/>
                <a:sym typeface="Arial"/>
              </a:rPr>
              <a:t>Advantages of Implicit Cursors:</a:t>
            </a:r>
            <a:endParaRPr sz="1880" dirty="0"/>
          </a:p>
          <a:p>
            <a:pPr marL="0" marR="0" lvl="0" indent="0" algn="just" rtl="0">
              <a:lnSpc>
                <a:spcPct val="120000"/>
              </a:lnSpc>
              <a:spcBef>
                <a:spcPts val="0"/>
              </a:spcBef>
              <a:spcAft>
                <a:spcPts val="0"/>
              </a:spcAft>
              <a:buNone/>
            </a:pPr>
            <a:r>
              <a:rPr lang="en-US" sz="1880" dirty="0">
                <a:solidFill>
                  <a:srgbClr val="000000"/>
                </a:solidFill>
                <a:latin typeface="Arial"/>
                <a:ea typeface="Arial"/>
                <a:cs typeface="Arial"/>
                <a:sym typeface="Arial"/>
              </a:rPr>
              <a:t>Simplifies coding for basic queries and DML operations.</a:t>
            </a:r>
            <a:endParaRPr sz="1880" dirty="0"/>
          </a:p>
          <a:p>
            <a:pPr marL="0" marR="0" lvl="0" indent="0" algn="just" rtl="0">
              <a:lnSpc>
                <a:spcPct val="120000"/>
              </a:lnSpc>
              <a:spcBef>
                <a:spcPts val="0"/>
              </a:spcBef>
              <a:spcAft>
                <a:spcPts val="0"/>
              </a:spcAft>
              <a:buNone/>
            </a:pPr>
            <a:r>
              <a:rPr lang="en-US" sz="1880" dirty="0">
                <a:solidFill>
                  <a:srgbClr val="000000"/>
                </a:solidFill>
                <a:latin typeface="Arial"/>
                <a:ea typeface="Arial"/>
                <a:cs typeface="Arial"/>
                <a:sym typeface="Arial"/>
              </a:rPr>
              <a:t>Automatically managed by the DBMS, reducing programmer effort.</a:t>
            </a:r>
            <a:endParaRPr sz="1880" dirty="0"/>
          </a:p>
          <a:p>
            <a:pPr marL="0" marR="0" lvl="0" indent="0" algn="just" rtl="0">
              <a:lnSpc>
                <a:spcPct val="120000"/>
              </a:lnSpc>
              <a:spcBef>
                <a:spcPts val="0"/>
              </a:spcBef>
              <a:spcAft>
                <a:spcPts val="0"/>
              </a:spcAft>
              <a:buNone/>
            </a:pPr>
            <a:r>
              <a:rPr lang="en-US" sz="1880" dirty="0">
                <a:solidFill>
                  <a:srgbClr val="000000"/>
                </a:solidFill>
                <a:latin typeface="Arial"/>
                <a:ea typeface="Arial"/>
                <a:cs typeface="Arial"/>
                <a:sym typeface="Arial"/>
              </a:rPr>
              <a:t>Suitable for operations involving single rows or simple data manipulation.</a:t>
            </a:r>
          </a:p>
          <a:p>
            <a:pPr marL="0" marR="0" lvl="0" indent="0" algn="just" rtl="0">
              <a:lnSpc>
                <a:spcPct val="120000"/>
              </a:lnSpc>
              <a:spcBef>
                <a:spcPts val="0"/>
              </a:spcBef>
              <a:spcAft>
                <a:spcPts val="0"/>
              </a:spcAft>
              <a:buNone/>
            </a:pPr>
            <a:endParaRPr sz="1880" dirty="0"/>
          </a:p>
          <a:p>
            <a:pPr marL="0" marR="0" lvl="0" indent="0" algn="just" rtl="0">
              <a:lnSpc>
                <a:spcPct val="120000"/>
              </a:lnSpc>
              <a:spcBef>
                <a:spcPts val="0"/>
              </a:spcBef>
              <a:spcAft>
                <a:spcPts val="0"/>
              </a:spcAft>
              <a:buNone/>
            </a:pPr>
            <a:r>
              <a:rPr lang="en-US" sz="1880" b="1" dirty="0">
                <a:solidFill>
                  <a:srgbClr val="000000"/>
                </a:solidFill>
                <a:latin typeface="Arial"/>
                <a:ea typeface="Arial"/>
                <a:cs typeface="Arial"/>
                <a:sym typeface="Arial"/>
              </a:rPr>
              <a:t>Disadvantages of Implicit Cursors:</a:t>
            </a:r>
            <a:endParaRPr sz="1880" dirty="0"/>
          </a:p>
          <a:p>
            <a:pPr marL="0" marR="0" lvl="0" indent="0" algn="just" rtl="0">
              <a:lnSpc>
                <a:spcPct val="120000"/>
              </a:lnSpc>
              <a:spcBef>
                <a:spcPts val="0"/>
              </a:spcBef>
              <a:spcAft>
                <a:spcPts val="0"/>
              </a:spcAft>
              <a:buNone/>
            </a:pPr>
            <a:r>
              <a:rPr lang="en-US" sz="1880" dirty="0">
                <a:solidFill>
                  <a:srgbClr val="000000"/>
                </a:solidFill>
                <a:latin typeface="Arial"/>
                <a:ea typeface="Arial"/>
                <a:cs typeface="Arial"/>
                <a:sym typeface="Arial"/>
              </a:rPr>
              <a:t>Limited to single-row queries or operations.</a:t>
            </a:r>
            <a:endParaRPr sz="1880" dirty="0"/>
          </a:p>
          <a:p>
            <a:pPr marL="0" marR="0" lvl="0" indent="0" algn="just" rtl="0">
              <a:lnSpc>
                <a:spcPct val="120000"/>
              </a:lnSpc>
              <a:spcBef>
                <a:spcPts val="0"/>
              </a:spcBef>
              <a:spcAft>
                <a:spcPts val="0"/>
              </a:spcAft>
              <a:buNone/>
            </a:pPr>
            <a:r>
              <a:rPr lang="en-US" sz="1880" dirty="0">
                <a:solidFill>
                  <a:srgbClr val="000000"/>
                </a:solidFill>
                <a:latin typeface="Arial"/>
                <a:ea typeface="Arial"/>
                <a:cs typeface="Arial"/>
                <a:sym typeface="Arial"/>
              </a:rPr>
              <a:t>Lack of control for handling multi-row query results (use explicit cursors for this).</a:t>
            </a:r>
            <a:endParaRPr sz="1880" dirty="0"/>
          </a:p>
        </p:txBody>
      </p:sp>
      <p:sp>
        <p:nvSpPr>
          <p:cNvPr id="467" name="Google Shape;467;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468" name="Google Shape;468;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4" name="Google Shape;474;p29"/>
          <p:cNvSpPr/>
          <p:nvPr/>
        </p:nvSpPr>
        <p:spPr>
          <a:xfrm>
            <a:off x="2722697" y="4241073"/>
            <a:ext cx="6746605" cy="1264101"/>
          </a:xfrm>
          <a:custGeom>
            <a:avLst/>
            <a:gdLst/>
            <a:ahLst/>
            <a:cxnLst/>
            <a:rect l="l" t="t" r="r" b="b"/>
            <a:pathLst>
              <a:path w="10119908" h="1896151" extrusionOk="0">
                <a:moveTo>
                  <a:pt x="0" y="0"/>
                </a:moveTo>
                <a:lnTo>
                  <a:pt x="10119907" y="0"/>
                </a:lnTo>
                <a:lnTo>
                  <a:pt x="10119907" y="1896151"/>
                </a:lnTo>
                <a:lnTo>
                  <a:pt x="0" y="1896151"/>
                </a:lnTo>
                <a:lnTo>
                  <a:pt x="0" y="0"/>
                </a:lnTo>
                <a:close/>
              </a:path>
            </a:pathLst>
          </a:custGeom>
          <a:blipFill rotWithShape="1">
            <a:blip r:embed="rId3">
              <a:alphaModFix/>
            </a:blip>
            <a:stretch>
              <a:fillRect/>
            </a:stretch>
          </a:blipFill>
          <a:ln>
            <a:noFill/>
          </a:ln>
        </p:spPr>
      </p:sp>
      <p:sp>
        <p:nvSpPr>
          <p:cNvPr id="475" name="Google Shape;475;p29"/>
          <p:cNvSpPr txBox="1"/>
          <p:nvPr/>
        </p:nvSpPr>
        <p:spPr>
          <a:xfrm>
            <a:off x="3100774" y="380382"/>
            <a:ext cx="4526791" cy="81253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400" b="1" dirty="0">
                <a:solidFill>
                  <a:srgbClr val="C00000"/>
                </a:solidFill>
                <a:latin typeface="Arimo"/>
                <a:ea typeface="Arimo"/>
                <a:cs typeface="Arimo"/>
                <a:sym typeface="Arimo"/>
              </a:rPr>
              <a:t>Cursors</a:t>
            </a:r>
            <a:endParaRPr dirty="0"/>
          </a:p>
        </p:txBody>
      </p:sp>
      <p:sp>
        <p:nvSpPr>
          <p:cNvPr id="476" name="Google Shape;476;p29"/>
          <p:cNvSpPr txBox="1"/>
          <p:nvPr/>
        </p:nvSpPr>
        <p:spPr>
          <a:xfrm>
            <a:off x="1215614" y="1568377"/>
            <a:ext cx="10462036" cy="1388585"/>
          </a:xfrm>
          <a:prstGeom prst="rect">
            <a:avLst/>
          </a:prstGeom>
          <a:noFill/>
          <a:ln>
            <a:noFill/>
          </a:ln>
        </p:spPr>
        <p:txBody>
          <a:bodyPr spcFirstLastPara="1" wrap="square" lIns="0" tIns="0" rIns="0" bIns="0" anchor="t" anchorCtr="0">
            <a:spAutoFit/>
          </a:bodyPr>
          <a:lstStyle/>
          <a:p>
            <a:pPr marL="0" marR="0" lvl="0" indent="0" algn="just" rtl="0">
              <a:lnSpc>
                <a:spcPct val="119991"/>
              </a:lnSpc>
              <a:spcBef>
                <a:spcPts val="0"/>
              </a:spcBef>
              <a:spcAft>
                <a:spcPts val="0"/>
              </a:spcAft>
              <a:buNone/>
            </a:pPr>
            <a:r>
              <a:rPr lang="en-US" sz="1880" dirty="0">
                <a:solidFill>
                  <a:srgbClr val="000000"/>
                </a:solidFill>
                <a:latin typeface="Arial"/>
                <a:ea typeface="Arial"/>
                <a:cs typeface="Arial"/>
                <a:sym typeface="Arial"/>
              </a:rPr>
              <a:t>An </a:t>
            </a:r>
            <a:r>
              <a:rPr lang="en-US" sz="1880" b="1" dirty="0">
                <a:solidFill>
                  <a:srgbClr val="000000"/>
                </a:solidFill>
                <a:latin typeface="Arial"/>
                <a:ea typeface="Arial"/>
                <a:cs typeface="Arial"/>
                <a:sym typeface="Arial"/>
              </a:rPr>
              <a:t>Explicit Cursor</a:t>
            </a:r>
            <a:r>
              <a:rPr lang="en-US" sz="1880" dirty="0">
                <a:solidFill>
                  <a:srgbClr val="000000"/>
                </a:solidFill>
                <a:latin typeface="Arial"/>
                <a:ea typeface="Arial"/>
                <a:cs typeface="Arial"/>
                <a:sym typeface="Arial"/>
              </a:rPr>
              <a:t> is a database object that allows programmers to handle multi-row query results in a controlled manner, processing each row one at a time. Unlike implicit cursors (which are automatically created by SQL for single-row operations), explicit cursors must be explicitly declared, opened, fetched, and closed by the user.</a:t>
            </a:r>
            <a:endParaRPr sz="1880" dirty="0"/>
          </a:p>
        </p:txBody>
      </p:sp>
      <p:sp>
        <p:nvSpPr>
          <p:cNvPr id="477" name="Google Shape;477;p29"/>
          <p:cNvSpPr txBox="1"/>
          <p:nvPr/>
        </p:nvSpPr>
        <p:spPr>
          <a:xfrm>
            <a:off x="1215614" y="3238566"/>
            <a:ext cx="10184802" cy="720903"/>
          </a:xfrm>
          <a:prstGeom prst="rect">
            <a:avLst/>
          </a:prstGeom>
          <a:noFill/>
          <a:ln>
            <a:noFill/>
          </a:ln>
        </p:spPr>
        <p:txBody>
          <a:bodyPr spcFirstLastPara="1" wrap="square" lIns="0" tIns="0" rIns="0" bIns="0" anchor="t" anchorCtr="0">
            <a:spAutoFit/>
          </a:bodyPr>
          <a:lstStyle/>
          <a:p>
            <a:pPr marL="0" marR="0" lvl="0" indent="0" algn="just" rtl="0">
              <a:lnSpc>
                <a:spcPct val="119991"/>
              </a:lnSpc>
              <a:spcBef>
                <a:spcPts val="0"/>
              </a:spcBef>
              <a:spcAft>
                <a:spcPts val="0"/>
              </a:spcAft>
              <a:buNone/>
            </a:pPr>
            <a:r>
              <a:rPr lang="en-US" sz="1880" dirty="0">
                <a:solidFill>
                  <a:srgbClr val="000000"/>
                </a:solidFill>
                <a:latin typeface="Arial"/>
                <a:ea typeface="Arial"/>
                <a:cs typeface="Arial"/>
                <a:sym typeface="Arial"/>
              </a:rPr>
              <a:t>Steps for Using an Explicit Cursor:</a:t>
            </a:r>
            <a:endParaRPr sz="1880" dirty="0"/>
          </a:p>
          <a:p>
            <a:pPr marL="518411" marR="0" lvl="1" indent="-259205" algn="just" rtl="0">
              <a:lnSpc>
                <a:spcPct val="119991"/>
              </a:lnSpc>
              <a:spcBef>
                <a:spcPts val="0"/>
              </a:spcBef>
              <a:spcAft>
                <a:spcPts val="0"/>
              </a:spcAft>
              <a:buClr>
                <a:srgbClr val="000000"/>
              </a:buClr>
              <a:buSzPts val="2401"/>
              <a:buFont typeface="Arial"/>
              <a:buChar char="•"/>
            </a:pPr>
            <a:r>
              <a:rPr lang="en-US" sz="1880" b="0" i="0" u="none" strike="noStrike" cap="none" dirty="0">
                <a:solidFill>
                  <a:srgbClr val="000000"/>
                </a:solidFill>
                <a:latin typeface="Arial"/>
                <a:ea typeface="Arial"/>
                <a:cs typeface="Arial"/>
                <a:sym typeface="Arial"/>
              </a:rPr>
              <a:t>Declare the Cursor: Define the cursor and associate it with a SELECT query</a:t>
            </a:r>
            <a:endParaRPr sz="1880" dirty="0"/>
          </a:p>
        </p:txBody>
      </p:sp>
      <p:sp>
        <p:nvSpPr>
          <p:cNvPr id="478" name="Google Shape;47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479" name="Google Shape;47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5" name="Google Shape;485;p30"/>
          <p:cNvSpPr/>
          <p:nvPr/>
        </p:nvSpPr>
        <p:spPr>
          <a:xfrm>
            <a:off x="3458791" y="2383401"/>
            <a:ext cx="3924863" cy="563891"/>
          </a:xfrm>
          <a:custGeom>
            <a:avLst/>
            <a:gdLst/>
            <a:ahLst/>
            <a:cxnLst/>
            <a:rect l="l" t="t" r="r" b="b"/>
            <a:pathLst>
              <a:path w="5887294" h="845837" extrusionOk="0">
                <a:moveTo>
                  <a:pt x="0" y="0"/>
                </a:moveTo>
                <a:lnTo>
                  <a:pt x="5887293" y="0"/>
                </a:lnTo>
                <a:lnTo>
                  <a:pt x="5887293" y="845837"/>
                </a:lnTo>
                <a:lnTo>
                  <a:pt x="0" y="845837"/>
                </a:lnTo>
                <a:lnTo>
                  <a:pt x="0" y="0"/>
                </a:lnTo>
                <a:close/>
              </a:path>
            </a:pathLst>
          </a:custGeom>
          <a:blipFill rotWithShape="1">
            <a:blip r:embed="rId3">
              <a:alphaModFix/>
            </a:blip>
            <a:stretch>
              <a:fillRect t="-53030" b="-50909"/>
            </a:stretch>
          </a:blipFill>
          <a:ln>
            <a:noFill/>
          </a:ln>
        </p:spPr>
      </p:sp>
      <p:sp>
        <p:nvSpPr>
          <p:cNvPr id="486" name="Google Shape;486;p30"/>
          <p:cNvSpPr/>
          <p:nvPr/>
        </p:nvSpPr>
        <p:spPr>
          <a:xfrm>
            <a:off x="2759052" y="3609983"/>
            <a:ext cx="6856154" cy="718898"/>
          </a:xfrm>
          <a:custGeom>
            <a:avLst/>
            <a:gdLst/>
            <a:ahLst/>
            <a:cxnLst/>
            <a:rect l="l" t="t" r="r" b="b"/>
            <a:pathLst>
              <a:path w="10284231" h="1078347" extrusionOk="0">
                <a:moveTo>
                  <a:pt x="0" y="0"/>
                </a:moveTo>
                <a:lnTo>
                  <a:pt x="10284231" y="0"/>
                </a:lnTo>
                <a:lnTo>
                  <a:pt x="10284231" y="1078346"/>
                </a:lnTo>
                <a:lnTo>
                  <a:pt x="0" y="1078346"/>
                </a:lnTo>
                <a:lnTo>
                  <a:pt x="0" y="0"/>
                </a:lnTo>
                <a:close/>
              </a:path>
            </a:pathLst>
          </a:custGeom>
          <a:blipFill rotWithShape="1">
            <a:blip r:embed="rId4">
              <a:alphaModFix/>
            </a:blip>
            <a:stretch>
              <a:fillRect/>
            </a:stretch>
          </a:blipFill>
          <a:ln>
            <a:noFill/>
          </a:ln>
        </p:spPr>
      </p:sp>
      <p:sp>
        <p:nvSpPr>
          <p:cNvPr id="487" name="Google Shape;487;p30"/>
          <p:cNvSpPr/>
          <p:nvPr/>
        </p:nvSpPr>
        <p:spPr>
          <a:xfrm>
            <a:off x="3458791" y="4892276"/>
            <a:ext cx="3565955" cy="573439"/>
          </a:xfrm>
          <a:custGeom>
            <a:avLst/>
            <a:gdLst/>
            <a:ahLst/>
            <a:cxnLst/>
            <a:rect l="l" t="t" r="r" b="b"/>
            <a:pathLst>
              <a:path w="5348933" h="860159" extrusionOk="0">
                <a:moveTo>
                  <a:pt x="0" y="0"/>
                </a:moveTo>
                <a:lnTo>
                  <a:pt x="5348933" y="0"/>
                </a:lnTo>
                <a:lnTo>
                  <a:pt x="5348933" y="860158"/>
                </a:lnTo>
                <a:lnTo>
                  <a:pt x="0" y="860158"/>
                </a:lnTo>
                <a:lnTo>
                  <a:pt x="0" y="0"/>
                </a:lnTo>
                <a:close/>
              </a:path>
            </a:pathLst>
          </a:custGeom>
          <a:blipFill rotWithShape="1">
            <a:blip r:embed="rId5">
              <a:alphaModFix/>
            </a:blip>
            <a:stretch>
              <a:fillRect b="-19139"/>
            </a:stretch>
          </a:blipFill>
          <a:ln>
            <a:noFill/>
          </a:ln>
        </p:spPr>
      </p:sp>
      <p:sp>
        <p:nvSpPr>
          <p:cNvPr id="488" name="Google Shape;488;p30"/>
          <p:cNvSpPr txBox="1"/>
          <p:nvPr/>
        </p:nvSpPr>
        <p:spPr>
          <a:xfrm>
            <a:off x="3458791" y="309761"/>
            <a:ext cx="4526791" cy="81253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400" b="1" dirty="0">
                <a:solidFill>
                  <a:srgbClr val="C00000"/>
                </a:solidFill>
                <a:latin typeface="Arimo"/>
                <a:ea typeface="Arimo"/>
                <a:cs typeface="Arimo"/>
                <a:sym typeface="Arimo"/>
              </a:rPr>
              <a:t>Cursors</a:t>
            </a:r>
            <a:endParaRPr dirty="0"/>
          </a:p>
        </p:txBody>
      </p:sp>
      <p:sp>
        <p:nvSpPr>
          <p:cNvPr id="489" name="Google Shape;489;p30"/>
          <p:cNvSpPr txBox="1"/>
          <p:nvPr/>
        </p:nvSpPr>
        <p:spPr>
          <a:xfrm>
            <a:off x="838200" y="1608671"/>
            <a:ext cx="10668000" cy="347146"/>
          </a:xfrm>
          <a:prstGeom prst="rect">
            <a:avLst/>
          </a:prstGeom>
          <a:noFill/>
          <a:ln>
            <a:noFill/>
          </a:ln>
        </p:spPr>
        <p:txBody>
          <a:bodyPr spcFirstLastPara="1" wrap="square" lIns="0" tIns="0" rIns="0" bIns="0" anchor="t" anchorCtr="0">
            <a:spAutoFit/>
          </a:bodyPr>
          <a:lstStyle/>
          <a:p>
            <a:pPr marL="518411" marR="0" lvl="1" indent="-259205" algn="just" rtl="0">
              <a:lnSpc>
                <a:spcPct val="119991"/>
              </a:lnSpc>
              <a:spcBef>
                <a:spcPts val="0"/>
              </a:spcBef>
              <a:spcAft>
                <a:spcPts val="0"/>
              </a:spcAft>
              <a:buClr>
                <a:srgbClr val="000000"/>
              </a:buClr>
              <a:buSzPts val="2401"/>
              <a:buFont typeface="Arial"/>
              <a:buChar char="•"/>
            </a:pPr>
            <a:r>
              <a:rPr lang="en-US" sz="1880" b="0" i="0" u="none" strike="noStrike" cap="none" dirty="0">
                <a:solidFill>
                  <a:srgbClr val="000000"/>
                </a:solidFill>
                <a:latin typeface="Arial"/>
                <a:ea typeface="Arial"/>
                <a:cs typeface="Arial"/>
                <a:sym typeface="Arial"/>
              </a:rPr>
              <a:t>Open the Cursor: Execute the query and make the result set available for processing.</a:t>
            </a:r>
            <a:endParaRPr sz="1880" dirty="0"/>
          </a:p>
        </p:txBody>
      </p:sp>
      <p:sp>
        <p:nvSpPr>
          <p:cNvPr id="490" name="Google Shape;490;p30"/>
          <p:cNvSpPr txBox="1"/>
          <p:nvPr/>
        </p:nvSpPr>
        <p:spPr>
          <a:xfrm>
            <a:off x="0" y="3143636"/>
            <a:ext cx="8347163" cy="349006"/>
          </a:xfrm>
          <a:prstGeom prst="rect">
            <a:avLst/>
          </a:prstGeom>
          <a:noFill/>
          <a:ln>
            <a:noFill/>
          </a:ln>
        </p:spPr>
        <p:txBody>
          <a:bodyPr spcFirstLastPara="1" wrap="square" lIns="0" tIns="0" rIns="0" bIns="0" anchor="t" anchorCtr="0">
            <a:spAutoFit/>
          </a:bodyPr>
          <a:lstStyle/>
          <a:p>
            <a:pPr marL="518411" marR="0" lvl="1" indent="-259205" algn="ctr" rtl="0">
              <a:lnSpc>
                <a:spcPct val="119991"/>
              </a:lnSpc>
              <a:spcBef>
                <a:spcPts val="0"/>
              </a:spcBef>
              <a:spcAft>
                <a:spcPts val="0"/>
              </a:spcAft>
              <a:buClr>
                <a:srgbClr val="000000"/>
              </a:buClr>
              <a:buSzPts val="2401"/>
              <a:buFont typeface="Arial"/>
              <a:buChar char="•"/>
            </a:pPr>
            <a:r>
              <a:rPr lang="en-US" sz="1880" b="0" i="0" u="none" strike="noStrike" cap="none" dirty="0">
                <a:solidFill>
                  <a:srgbClr val="000000"/>
                </a:solidFill>
                <a:latin typeface="Arial"/>
                <a:ea typeface="Arial"/>
                <a:cs typeface="Arial"/>
                <a:sym typeface="Arial"/>
              </a:rPr>
              <a:t>Fetch Data: Retrieve one row at a time from the result set.</a:t>
            </a:r>
            <a:endParaRPr sz="1880" dirty="0"/>
          </a:p>
        </p:txBody>
      </p:sp>
      <p:sp>
        <p:nvSpPr>
          <p:cNvPr id="491" name="Google Shape;491;p30"/>
          <p:cNvSpPr txBox="1"/>
          <p:nvPr/>
        </p:nvSpPr>
        <p:spPr>
          <a:xfrm>
            <a:off x="-104263" y="4470519"/>
            <a:ext cx="9719469" cy="349006"/>
          </a:xfrm>
          <a:prstGeom prst="rect">
            <a:avLst/>
          </a:prstGeom>
          <a:noFill/>
          <a:ln>
            <a:noFill/>
          </a:ln>
        </p:spPr>
        <p:txBody>
          <a:bodyPr spcFirstLastPara="1" wrap="square" lIns="0" tIns="0" rIns="0" bIns="0" anchor="t" anchorCtr="0">
            <a:spAutoFit/>
          </a:bodyPr>
          <a:lstStyle/>
          <a:p>
            <a:pPr marL="518411" marR="0" lvl="1" indent="-259205" algn="ctr" rtl="0">
              <a:lnSpc>
                <a:spcPct val="119991"/>
              </a:lnSpc>
              <a:spcBef>
                <a:spcPts val="0"/>
              </a:spcBef>
              <a:spcAft>
                <a:spcPts val="0"/>
              </a:spcAft>
              <a:buClr>
                <a:srgbClr val="000000"/>
              </a:buClr>
              <a:buSzPts val="2401"/>
              <a:buFont typeface="Arial"/>
              <a:buChar char="•"/>
            </a:pPr>
            <a:r>
              <a:rPr lang="en-US" sz="1880" b="0" i="0" u="none" strike="noStrike" cap="none" dirty="0">
                <a:solidFill>
                  <a:srgbClr val="000000"/>
                </a:solidFill>
                <a:latin typeface="Arial"/>
                <a:ea typeface="Arial"/>
                <a:cs typeface="Arial"/>
                <a:sym typeface="Arial"/>
              </a:rPr>
              <a:t>Close the Cursor: Release the resources associated with the cursor.</a:t>
            </a:r>
            <a:endParaRPr sz="1880" dirty="0"/>
          </a:p>
        </p:txBody>
      </p:sp>
      <p:sp>
        <p:nvSpPr>
          <p:cNvPr id="492" name="Google Shape;492;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493" name="Google Shape;493;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9" name="Google Shape;499;p31"/>
          <p:cNvSpPr/>
          <p:nvPr/>
        </p:nvSpPr>
        <p:spPr>
          <a:xfrm>
            <a:off x="3246824" y="1704555"/>
            <a:ext cx="5698351" cy="4464000"/>
          </a:xfrm>
          <a:custGeom>
            <a:avLst/>
            <a:gdLst/>
            <a:ahLst/>
            <a:cxnLst/>
            <a:rect l="l" t="t" r="r" b="b"/>
            <a:pathLst>
              <a:path w="8547526" h="8182007" extrusionOk="0">
                <a:moveTo>
                  <a:pt x="0" y="0"/>
                </a:moveTo>
                <a:lnTo>
                  <a:pt x="8547527" y="0"/>
                </a:lnTo>
                <a:lnTo>
                  <a:pt x="8547527" y="8182007"/>
                </a:lnTo>
                <a:lnTo>
                  <a:pt x="0" y="8182007"/>
                </a:lnTo>
                <a:lnTo>
                  <a:pt x="0" y="0"/>
                </a:lnTo>
                <a:close/>
              </a:path>
            </a:pathLst>
          </a:custGeom>
          <a:blipFill rotWithShape="1">
            <a:blip r:embed="rId3">
              <a:alphaModFix/>
            </a:blip>
            <a:stretch>
              <a:fillRect/>
            </a:stretch>
          </a:blipFill>
          <a:ln>
            <a:noFill/>
          </a:ln>
        </p:spPr>
        <p:txBody>
          <a:bodyPr/>
          <a:lstStyle/>
          <a:p>
            <a:endParaRPr lang="en-IN" dirty="0"/>
          </a:p>
        </p:txBody>
      </p:sp>
      <p:grpSp>
        <p:nvGrpSpPr>
          <p:cNvPr id="500" name="Google Shape;500;p31"/>
          <p:cNvGrpSpPr/>
          <p:nvPr/>
        </p:nvGrpSpPr>
        <p:grpSpPr>
          <a:xfrm>
            <a:off x="5272856" y="6386831"/>
            <a:ext cx="3737417" cy="581727"/>
            <a:chOff x="0" y="0"/>
            <a:chExt cx="1476511" cy="229818"/>
          </a:xfrm>
        </p:grpSpPr>
        <p:sp>
          <p:nvSpPr>
            <p:cNvPr id="501" name="Google Shape;501;p31"/>
            <p:cNvSpPr/>
            <p:nvPr/>
          </p:nvSpPr>
          <p:spPr>
            <a:xfrm>
              <a:off x="0" y="0"/>
              <a:ext cx="1476511" cy="229818"/>
            </a:xfrm>
            <a:custGeom>
              <a:avLst/>
              <a:gdLst/>
              <a:ahLst/>
              <a:cxnLst/>
              <a:rect l="l" t="t" r="r" b="b"/>
              <a:pathLst>
                <a:path w="1476511" h="229818" extrusionOk="0">
                  <a:moveTo>
                    <a:pt x="0" y="0"/>
                  </a:moveTo>
                  <a:lnTo>
                    <a:pt x="1476511" y="0"/>
                  </a:lnTo>
                  <a:lnTo>
                    <a:pt x="1476511" y="229818"/>
                  </a:lnTo>
                  <a:lnTo>
                    <a:pt x="0" y="229818"/>
                  </a:lnTo>
                  <a:close/>
                </a:path>
              </a:pathLst>
            </a:custGeom>
            <a:solidFill>
              <a:srgbClr val="F2F1F1"/>
            </a:solidFill>
            <a:ln>
              <a:noFill/>
            </a:ln>
          </p:spPr>
        </p:sp>
        <p:sp>
          <p:nvSpPr>
            <p:cNvPr id="502" name="Google Shape;502;p31"/>
            <p:cNvSpPr txBox="1"/>
            <p:nvPr/>
          </p:nvSpPr>
          <p:spPr>
            <a:xfrm>
              <a:off x="0" y="0"/>
              <a:ext cx="1476511" cy="229818"/>
            </a:xfrm>
            <a:prstGeom prst="rect">
              <a:avLst/>
            </a:prstGeom>
            <a:noFill/>
            <a:ln>
              <a:noFill/>
            </a:ln>
          </p:spPr>
          <p:txBody>
            <a:bodyPr spcFirstLastPara="1" wrap="square" lIns="33850" tIns="33850" rIns="33850" bIns="33850" anchor="ctr" anchorCtr="0">
              <a:noAutofit/>
            </a:bodyPr>
            <a:lstStyle/>
            <a:p>
              <a:pPr marL="0" marR="0" lvl="0" indent="0" algn="ctr" rtl="0">
                <a:lnSpc>
                  <a:spcPct val="120000"/>
                </a:lnSpc>
                <a:spcBef>
                  <a:spcPts val="0"/>
                </a:spcBef>
                <a:spcAft>
                  <a:spcPts val="0"/>
                </a:spcAft>
                <a:buNone/>
              </a:pPr>
              <a:endParaRPr sz="1200">
                <a:solidFill>
                  <a:schemeClr val="dk1"/>
                </a:solidFill>
                <a:latin typeface="Calibri"/>
                <a:ea typeface="Calibri"/>
                <a:cs typeface="Calibri"/>
                <a:sym typeface="Calibri"/>
              </a:endParaRPr>
            </a:p>
          </p:txBody>
        </p:sp>
      </p:grpSp>
      <p:sp>
        <p:nvSpPr>
          <p:cNvPr id="503" name="Google Shape;503;p31"/>
          <p:cNvSpPr txBox="1"/>
          <p:nvPr/>
        </p:nvSpPr>
        <p:spPr>
          <a:xfrm>
            <a:off x="3246824" y="232665"/>
            <a:ext cx="4526791" cy="81253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400" b="1" dirty="0">
                <a:solidFill>
                  <a:srgbClr val="C00000"/>
                </a:solidFill>
                <a:latin typeface="Arimo"/>
                <a:ea typeface="Arimo"/>
                <a:cs typeface="Arimo"/>
                <a:sym typeface="Arimo"/>
              </a:rPr>
              <a:t>Cursors</a:t>
            </a:r>
            <a:endParaRPr dirty="0"/>
          </a:p>
        </p:txBody>
      </p:sp>
      <p:sp>
        <p:nvSpPr>
          <p:cNvPr id="504" name="Google Shape;504;p31"/>
          <p:cNvSpPr txBox="1"/>
          <p:nvPr/>
        </p:nvSpPr>
        <p:spPr>
          <a:xfrm>
            <a:off x="3246824" y="1109647"/>
            <a:ext cx="4422216" cy="349006"/>
          </a:xfrm>
          <a:prstGeom prst="rect">
            <a:avLst/>
          </a:prstGeom>
          <a:noFill/>
          <a:ln>
            <a:noFill/>
          </a:ln>
        </p:spPr>
        <p:txBody>
          <a:bodyPr spcFirstLastPara="1" wrap="square" lIns="0" tIns="0" rIns="0" bIns="0" anchor="t" anchorCtr="0">
            <a:spAutoFit/>
          </a:bodyPr>
          <a:lstStyle/>
          <a:p>
            <a:pPr marL="0" marR="0" lvl="0" indent="0" algn="ctr" rtl="0">
              <a:lnSpc>
                <a:spcPct val="119991"/>
              </a:lnSpc>
              <a:spcBef>
                <a:spcPts val="0"/>
              </a:spcBef>
              <a:spcAft>
                <a:spcPts val="0"/>
              </a:spcAft>
              <a:buNone/>
            </a:pPr>
            <a:r>
              <a:rPr lang="en-US" sz="2401" b="1" dirty="0">
                <a:solidFill>
                  <a:srgbClr val="000000"/>
                </a:solidFill>
                <a:latin typeface="Arial"/>
                <a:ea typeface="Arial"/>
                <a:cs typeface="Arial"/>
                <a:sym typeface="Arial"/>
              </a:rPr>
              <a:t>Example of an Explicit Cursor:</a:t>
            </a:r>
            <a:endParaRPr dirty="0"/>
          </a:p>
        </p:txBody>
      </p:sp>
      <p:sp>
        <p:nvSpPr>
          <p:cNvPr id="505" name="Google Shape;50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506" name="Google Shape;50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2" name="Google Shape;512;p32"/>
          <p:cNvSpPr/>
          <p:nvPr/>
        </p:nvSpPr>
        <p:spPr>
          <a:xfrm>
            <a:off x="7186087" y="1796135"/>
            <a:ext cx="4610217" cy="3265730"/>
          </a:xfrm>
          <a:custGeom>
            <a:avLst/>
            <a:gdLst/>
            <a:ahLst/>
            <a:cxnLst/>
            <a:rect l="l" t="t" r="r" b="b"/>
            <a:pathLst>
              <a:path w="6915326" h="4898595" extrusionOk="0">
                <a:moveTo>
                  <a:pt x="0" y="0"/>
                </a:moveTo>
                <a:lnTo>
                  <a:pt x="6915326" y="0"/>
                </a:lnTo>
                <a:lnTo>
                  <a:pt x="6915326" y="4898596"/>
                </a:lnTo>
                <a:lnTo>
                  <a:pt x="0" y="4898596"/>
                </a:lnTo>
                <a:lnTo>
                  <a:pt x="0" y="0"/>
                </a:lnTo>
                <a:close/>
              </a:path>
            </a:pathLst>
          </a:custGeom>
          <a:blipFill rotWithShape="1">
            <a:blip r:embed="rId3">
              <a:alphaModFix/>
            </a:blip>
            <a:stretch>
              <a:fillRect l="-30515" t="-30098" r="-32843" b="-18932"/>
            </a:stretch>
          </a:blipFill>
          <a:ln>
            <a:noFill/>
          </a:ln>
        </p:spPr>
      </p:sp>
      <p:sp>
        <p:nvSpPr>
          <p:cNvPr id="513" name="Google Shape;513;p32"/>
          <p:cNvSpPr txBox="1"/>
          <p:nvPr/>
        </p:nvSpPr>
        <p:spPr>
          <a:xfrm>
            <a:off x="3003955" y="367717"/>
            <a:ext cx="4526791" cy="81253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400" b="1" dirty="0">
                <a:solidFill>
                  <a:srgbClr val="C00000"/>
                </a:solidFill>
                <a:latin typeface="Arimo"/>
                <a:ea typeface="Arimo"/>
                <a:cs typeface="Arimo"/>
                <a:sym typeface="Arimo"/>
              </a:rPr>
              <a:t>Cursors</a:t>
            </a:r>
            <a:endParaRPr dirty="0"/>
          </a:p>
        </p:txBody>
      </p:sp>
      <p:sp>
        <p:nvSpPr>
          <p:cNvPr id="514" name="Google Shape;514;p32"/>
          <p:cNvSpPr txBox="1"/>
          <p:nvPr/>
        </p:nvSpPr>
        <p:spPr>
          <a:xfrm>
            <a:off x="999748" y="2040414"/>
            <a:ext cx="5790643" cy="3124317"/>
          </a:xfrm>
          <a:prstGeom prst="rect">
            <a:avLst/>
          </a:prstGeom>
          <a:noFill/>
          <a:ln>
            <a:noFill/>
          </a:ln>
        </p:spPr>
        <p:txBody>
          <a:bodyPr spcFirstLastPara="1" wrap="square" lIns="0" tIns="0" rIns="0" bIns="0" anchor="t" anchorCtr="0">
            <a:spAutoFit/>
          </a:bodyPr>
          <a:lstStyle/>
          <a:p>
            <a:pPr marL="0" marR="0" lvl="0" indent="0" algn="just" rtl="0">
              <a:lnSpc>
                <a:spcPct val="120016"/>
              </a:lnSpc>
              <a:spcBef>
                <a:spcPts val="0"/>
              </a:spcBef>
              <a:spcAft>
                <a:spcPts val="0"/>
              </a:spcAft>
              <a:buNone/>
            </a:pPr>
            <a:r>
              <a:rPr lang="en-US" sz="1880" b="1" dirty="0">
                <a:solidFill>
                  <a:srgbClr val="000000"/>
                </a:solidFill>
                <a:latin typeface="Arial"/>
                <a:ea typeface="Arial"/>
                <a:cs typeface="Arial"/>
                <a:sym typeface="Arial"/>
              </a:rPr>
              <a:t>Advantages of Explicit Cursors:</a:t>
            </a:r>
            <a:endParaRPr sz="1880" dirty="0"/>
          </a:p>
          <a:p>
            <a:pPr marL="342900" marR="0" lvl="0" indent="-342900" algn="just" rtl="0">
              <a:lnSpc>
                <a:spcPct val="120016"/>
              </a:lnSpc>
              <a:spcBef>
                <a:spcPts val="0"/>
              </a:spcBef>
              <a:spcAft>
                <a:spcPts val="0"/>
              </a:spcAft>
              <a:buFont typeface="Arial" panose="020B0604020202020204" pitchFamily="34" charset="0"/>
              <a:buChar char="•"/>
            </a:pPr>
            <a:r>
              <a:rPr lang="en-US" sz="1880" dirty="0">
                <a:solidFill>
                  <a:srgbClr val="000000"/>
                </a:solidFill>
                <a:latin typeface="Arial"/>
                <a:ea typeface="Arial"/>
                <a:cs typeface="Arial"/>
                <a:sym typeface="Arial"/>
              </a:rPr>
              <a:t>Provides control over row-by-row processing.</a:t>
            </a:r>
            <a:endParaRPr sz="1880" dirty="0"/>
          </a:p>
          <a:p>
            <a:pPr marL="342900" marR="0" lvl="0" indent="-342900" algn="just" rtl="0">
              <a:lnSpc>
                <a:spcPct val="120016"/>
              </a:lnSpc>
              <a:spcBef>
                <a:spcPts val="0"/>
              </a:spcBef>
              <a:spcAft>
                <a:spcPts val="0"/>
              </a:spcAft>
              <a:buFont typeface="Arial" panose="020B0604020202020204" pitchFamily="34" charset="0"/>
              <a:buChar char="•"/>
            </a:pPr>
            <a:r>
              <a:rPr lang="en-US" sz="1880" dirty="0">
                <a:solidFill>
                  <a:srgbClr val="000000"/>
                </a:solidFill>
                <a:latin typeface="Arial"/>
                <a:ea typeface="Arial"/>
                <a:cs typeface="Arial"/>
                <a:sym typeface="Arial"/>
              </a:rPr>
              <a:t>Enables complex operations on individual rows of a query result set.</a:t>
            </a:r>
          </a:p>
          <a:p>
            <a:pPr marL="0" marR="0" lvl="0" indent="0" algn="just" rtl="0">
              <a:lnSpc>
                <a:spcPct val="120016"/>
              </a:lnSpc>
              <a:spcBef>
                <a:spcPts val="0"/>
              </a:spcBef>
              <a:spcAft>
                <a:spcPts val="0"/>
              </a:spcAft>
              <a:buNone/>
            </a:pPr>
            <a:endParaRPr sz="1880" dirty="0"/>
          </a:p>
          <a:p>
            <a:pPr marL="0" marR="0" lvl="0" indent="0" algn="just" rtl="0">
              <a:lnSpc>
                <a:spcPct val="120016"/>
              </a:lnSpc>
              <a:spcBef>
                <a:spcPts val="0"/>
              </a:spcBef>
              <a:spcAft>
                <a:spcPts val="0"/>
              </a:spcAft>
              <a:buNone/>
            </a:pPr>
            <a:r>
              <a:rPr lang="en-US" sz="1880" b="1" dirty="0">
                <a:solidFill>
                  <a:srgbClr val="000000"/>
                </a:solidFill>
                <a:latin typeface="Arial"/>
                <a:ea typeface="Arial"/>
                <a:cs typeface="Arial"/>
                <a:sym typeface="Arial"/>
              </a:rPr>
              <a:t>Disadvantages:</a:t>
            </a:r>
            <a:endParaRPr sz="1880" dirty="0"/>
          </a:p>
          <a:p>
            <a:pPr marL="342900" marR="0" lvl="0" indent="-342900" algn="just" rtl="0">
              <a:lnSpc>
                <a:spcPct val="120016"/>
              </a:lnSpc>
              <a:spcBef>
                <a:spcPts val="0"/>
              </a:spcBef>
              <a:spcAft>
                <a:spcPts val="0"/>
              </a:spcAft>
              <a:buFont typeface="Arial" panose="020B0604020202020204" pitchFamily="34" charset="0"/>
              <a:buChar char="•"/>
            </a:pPr>
            <a:r>
              <a:rPr lang="en-US" sz="1880" dirty="0">
                <a:solidFill>
                  <a:srgbClr val="000000"/>
                </a:solidFill>
                <a:latin typeface="Arial"/>
                <a:ea typeface="Arial"/>
                <a:cs typeface="Arial"/>
                <a:sym typeface="Arial"/>
              </a:rPr>
              <a:t>Slower performance compared to set-based operations.</a:t>
            </a:r>
            <a:endParaRPr sz="1880" dirty="0"/>
          </a:p>
          <a:p>
            <a:pPr marL="342900" marR="0" lvl="0" indent="-342900" algn="just" rtl="0">
              <a:lnSpc>
                <a:spcPct val="120016"/>
              </a:lnSpc>
              <a:spcBef>
                <a:spcPts val="0"/>
              </a:spcBef>
              <a:spcAft>
                <a:spcPts val="0"/>
              </a:spcAft>
              <a:buFont typeface="Arial" panose="020B0604020202020204" pitchFamily="34" charset="0"/>
              <a:buChar char="•"/>
            </a:pPr>
            <a:r>
              <a:rPr lang="en-US" sz="1880" dirty="0">
                <a:solidFill>
                  <a:srgbClr val="000000"/>
                </a:solidFill>
                <a:latin typeface="Arial"/>
                <a:ea typeface="Arial"/>
                <a:cs typeface="Arial"/>
                <a:sym typeface="Arial"/>
              </a:rPr>
              <a:t>Increases code complexity.</a:t>
            </a:r>
            <a:endParaRPr sz="1880" dirty="0"/>
          </a:p>
        </p:txBody>
      </p:sp>
      <p:sp>
        <p:nvSpPr>
          <p:cNvPr id="515" name="Google Shape;515;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516" name="Google Shape;516;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2" name="Google Shape;522;p33"/>
          <p:cNvSpPr txBox="1"/>
          <p:nvPr/>
        </p:nvSpPr>
        <p:spPr>
          <a:xfrm>
            <a:off x="3326685" y="362459"/>
            <a:ext cx="4526791" cy="81253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400" b="1" dirty="0">
                <a:solidFill>
                  <a:srgbClr val="C00000"/>
                </a:solidFill>
                <a:latin typeface="Arimo"/>
                <a:ea typeface="Arimo"/>
                <a:cs typeface="Arimo"/>
                <a:sym typeface="Arimo"/>
              </a:rPr>
              <a:t>Views</a:t>
            </a:r>
            <a:endParaRPr dirty="0"/>
          </a:p>
        </p:txBody>
      </p:sp>
      <p:sp>
        <p:nvSpPr>
          <p:cNvPr id="523" name="Google Shape;523;p33"/>
          <p:cNvSpPr txBox="1"/>
          <p:nvPr/>
        </p:nvSpPr>
        <p:spPr>
          <a:xfrm>
            <a:off x="1366221" y="1383623"/>
            <a:ext cx="9694726" cy="1735732"/>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80" dirty="0">
                <a:solidFill>
                  <a:srgbClr val="000000"/>
                </a:solidFill>
                <a:latin typeface="Arial"/>
                <a:ea typeface="Arial"/>
                <a:cs typeface="Arial"/>
                <a:sym typeface="Arial"/>
              </a:rPr>
              <a:t>Views in SQL are a type of virtual table that simplifies how users interact with data across one or more tables. Unlike traditional tables, a view in SQL does not store data on disk; instead, it dynamically retrieves data based on a pre-defined query each time it’s accessed.</a:t>
            </a:r>
            <a:endParaRPr sz="1880" dirty="0"/>
          </a:p>
          <a:p>
            <a:pPr marL="0" marR="0" lvl="0" indent="0" algn="just" rtl="0">
              <a:lnSpc>
                <a:spcPct val="120000"/>
              </a:lnSpc>
              <a:spcBef>
                <a:spcPts val="0"/>
              </a:spcBef>
              <a:spcAft>
                <a:spcPts val="0"/>
              </a:spcAft>
              <a:buNone/>
            </a:pPr>
            <a:r>
              <a:rPr lang="en-US" sz="1880" dirty="0">
                <a:solidFill>
                  <a:srgbClr val="000000"/>
                </a:solidFill>
                <a:latin typeface="Arial"/>
                <a:ea typeface="Arial"/>
                <a:cs typeface="Arial"/>
                <a:sym typeface="Arial"/>
              </a:rPr>
              <a:t>SQL views are particularly useful for managing complex queries, enhancing security, and presenting data in a simplified format</a:t>
            </a:r>
            <a:endParaRPr sz="1880" dirty="0"/>
          </a:p>
        </p:txBody>
      </p:sp>
      <p:sp>
        <p:nvSpPr>
          <p:cNvPr id="524" name="Google Shape;524;p33"/>
          <p:cNvSpPr txBox="1"/>
          <p:nvPr/>
        </p:nvSpPr>
        <p:spPr>
          <a:xfrm>
            <a:off x="1366220" y="3481813"/>
            <a:ext cx="9694726" cy="2082878"/>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80" b="1" dirty="0">
                <a:solidFill>
                  <a:srgbClr val="000000"/>
                </a:solidFill>
                <a:latin typeface="Arial"/>
                <a:ea typeface="Arial"/>
                <a:cs typeface="Arial"/>
                <a:sym typeface="Arial"/>
              </a:rPr>
              <a:t>How Views Work in Cursors</a:t>
            </a:r>
            <a:endParaRPr sz="1880" dirty="0"/>
          </a:p>
          <a:p>
            <a:pPr marL="0" marR="0" lvl="0" indent="0" algn="just" rtl="0">
              <a:lnSpc>
                <a:spcPct val="120000"/>
              </a:lnSpc>
              <a:spcBef>
                <a:spcPts val="0"/>
              </a:spcBef>
              <a:spcAft>
                <a:spcPts val="0"/>
              </a:spcAft>
              <a:buNone/>
            </a:pPr>
            <a:r>
              <a:rPr lang="en-US" sz="1880" dirty="0">
                <a:solidFill>
                  <a:srgbClr val="000000"/>
                </a:solidFill>
                <a:latin typeface="Arial"/>
                <a:ea typeface="Arial"/>
                <a:cs typeface="Arial"/>
                <a:sym typeface="Arial"/>
              </a:rPr>
              <a:t>View Definition: A view is created as a virtual table that combines data from one or more tables. You can create a cursor to process rows from a view instead of directly querying the underlying tables.</a:t>
            </a:r>
            <a:endParaRPr sz="1880" dirty="0"/>
          </a:p>
          <a:p>
            <a:pPr marL="0" marR="0" lvl="0" indent="0" algn="just" rtl="0">
              <a:lnSpc>
                <a:spcPct val="120000"/>
              </a:lnSpc>
              <a:spcBef>
                <a:spcPts val="0"/>
              </a:spcBef>
              <a:spcAft>
                <a:spcPts val="0"/>
              </a:spcAft>
              <a:buNone/>
            </a:pPr>
            <a:r>
              <a:rPr lang="en-US" sz="1880" dirty="0">
                <a:solidFill>
                  <a:srgbClr val="000000"/>
                </a:solidFill>
                <a:latin typeface="Arial"/>
                <a:ea typeface="Arial"/>
                <a:cs typeface="Arial"/>
                <a:sym typeface="Arial"/>
              </a:rPr>
              <a:t>Cursor Usage: The cursor can reference the view in its SELECT query to retrieve and process data row by row.</a:t>
            </a:r>
            <a:endParaRPr sz="1880" dirty="0"/>
          </a:p>
        </p:txBody>
      </p:sp>
      <p:sp>
        <p:nvSpPr>
          <p:cNvPr id="525" name="Google Shape;525;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526" name="Google Shape;526;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2" name="Google Shape;532;p34"/>
          <p:cNvSpPr/>
          <p:nvPr/>
        </p:nvSpPr>
        <p:spPr>
          <a:xfrm>
            <a:off x="2571141" y="2084453"/>
            <a:ext cx="6877595" cy="2209247"/>
          </a:xfrm>
          <a:custGeom>
            <a:avLst/>
            <a:gdLst/>
            <a:ahLst/>
            <a:cxnLst/>
            <a:rect l="l" t="t" r="r" b="b"/>
            <a:pathLst>
              <a:path w="10316393" h="3313870" extrusionOk="0">
                <a:moveTo>
                  <a:pt x="0" y="0"/>
                </a:moveTo>
                <a:lnTo>
                  <a:pt x="10316392" y="0"/>
                </a:lnTo>
                <a:lnTo>
                  <a:pt x="10316392" y="3313870"/>
                </a:lnTo>
                <a:lnTo>
                  <a:pt x="0" y="3313870"/>
                </a:lnTo>
                <a:lnTo>
                  <a:pt x="0" y="0"/>
                </a:lnTo>
                <a:close/>
              </a:path>
            </a:pathLst>
          </a:custGeom>
          <a:blipFill rotWithShape="1">
            <a:blip r:embed="rId3">
              <a:alphaModFix/>
            </a:blip>
            <a:stretch>
              <a:fillRect/>
            </a:stretch>
          </a:blipFill>
          <a:ln>
            <a:noFill/>
          </a:ln>
        </p:spPr>
      </p:sp>
      <p:sp>
        <p:nvSpPr>
          <p:cNvPr id="533" name="Google Shape;533;p34"/>
          <p:cNvSpPr/>
          <p:nvPr/>
        </p:nvSpPr>
        <p:spPr>
          <a:xfrm>
            <a:off x="2611189" y="4933685"/>
            <a:ext cx="6969621" cy="974248"/>
          </a:xfrm>
          <a:custGeom>
            <a:avLst/>
            <a:gdLst/>
            <a:ahLst/>
            <a:cxnLst/>
            <a:rect l="l" t="t" r="r" b="b"/>
            <a:pathLst>
              <a:path w="10454432" h="1461372" extrusionOk="0">
                <a:moveTo>
                  <a:pt x="0" y="0"/>
                </a:moveTo>
                <a:lnTo>
                  <a:pt x="10454432" y="0"/>
                </a:lnTo>
                <a:lnTo>
                  <a:pt x="10454432" y="1461372"/>
                </a:lnTo>
                <a:lnTo>
                  <a:pt x="0" y="1461372"/>
                </a:lnTo>
                <a:lnTo>
                  <a:pt x="0" y="0"/>
                </a:lnTo>
                <a:close/>
              </a:path>
            </a:pathLst>
          </a:custGeom>
          <a:blipFill rotWithShape="1">
            <a:blip r:embed="rId4">
              <a:alphaModFix/>
            </a:blip>
            <a:stretch>
              <a:fillRect/>
            </a:stretch>
          </a:blipFill>
          <a:ln>
            <a:noFill/>
          </a:ln>
        </p:spPr>
      </p:sp>
      <p:sp>
        <p:nvSpPr>
          <p:cNvPr id="534" name="Google Shape;534;p34"/>
          <p:cNvSpPr txBox="1"/>
          <p:nvPr/>
        </p:nvSpPr>
        <p:spPr>
          <a:xfrm>
            <a:off x="2982441" y="341611"/>
            <a:ext cx="4526791" cy="81253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400" b="1" dirty="0">
                <a:solidFill>
                  <a:srgbClr val="C00000"/>
                </a:solidFill>
                <a:latin typeface="Arimo"/>
                <a:ea typeface="Arimo"/>
                <a:cs typeface="Arimo"/>
                <a:sym typeface="Arimo"/>
              </a:rPr>
              <a:t>Views</a:t>
            </a:r>
            <a:endParaRPr dirty="0"/>
          </a:p>
        </p:txBody>
      </p:sp>
      <p:sp>
        <p:nvSpPr>
          <p:cNvPr id="535" name="Google Shape;535;p34"/>
          <p:cNvSpPr txBox="1"/>
          <p:nvPr/>
        </p:nvSpPr>
        <p:spPr>
          <a:xfrm>
            <a:off x="1044146" y="1264140"/>
            <a:ext cx="11147854" cy="720838"/>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80" b="1" dirty="0">
                <a:solidFill>
                  <a:srgbClr val="000000"/>
                </a:solidFill>
                <a:latin typeface="Arial"/>
                <a:ea typeface="Arial"/>
                <a:cs typeface="Arial"/>
                <a:sym typeface="Arial"/>
              </a:rPr>
              <a:t>Steps to Use a Cursor with a View</a:t>
            </a:r>
            <a:endParaRPr sz="1880" dirty="0"/>
          </a:p>
          <a:p>
            <a:pPr marL="518186" marR="0" lvl="1" indent="-259093" algn="just" rtl="0">
              <a:lnSpc>
                <a:spcPct val="120000"/>
              </a:lnSpc>
              <a:spcBef>
                <a:spcPts val="0"/>
              </a:spcBef>
              <a:spcAft>
                <a:spcPts val="0"/>
              </a:spcAft>
              <a:buClr>
                <a:srgbClr val="000000"/>
              </a:buClr>
              <a:buSzPts val="2400"/>
              <a:buFont typeface="Arial"/>
              <a:buChar char="•"/>
            </a:pPr>
            <a:r>
              <a:rPr lang="en-US" sz="1880" b="0" i="0" u="none" strike="noStrike" cap="none" dirty="0">
                <a:solidFill>
                  <a:srgbClr val="000000"/>
                </a:solidFill>
                <a:latin typeface="Arial"/>
                <a:ea typeface="Arial"/>
                <a:cs typeface="Arial"/>
                <a:sym typeface="Arial"/>
              </a:rPr>
              <a:t>Create the View: Define the view using a CREATE VIEW statement.</a:t>
            </a:r>
            <a:endParaRPr sz="1880" dirty="0"/>
          </a:p>
        </p:txBody>
      </p:sp>
      <p:sp>
        <p:nvSpPr>
          <p:cNvPr id="536" name="Google Shape;536;p34"/>
          <p:cNvSpPr txBox="1"/>
          <p:nvPr/>
        </p:nvSpPr>
        <p:spPr>
          <a:xfrm>
            <a:off x="1044146" y="4393175"/>
            <a:ext cx="10980196" cy="348942"/>
          </a:xfrm>
          <a:prstGeom prst="rect">
            <a:avLst/>
          </a:prstGeom>
          <a:noFill/>
          <a:ln>
            <a:noFill/>
          </a:ln>
        </p:spPr>
        <p:txBody>
          <a:bodyPr spcFirstLastPara="1" wrap="square" lIns="0" tIns="0" rIns="0" bIns="0" anchor="t" anchorCtr="0">
            <a:spAutoFit/>
          </a:bodyPr>
          <a:lstStyle/>
          <a:p>
            <a:pPr marL="518186" marR="0" lvl="1" indent="-259093" algn="just" rtl="0">
              <a:lnSpc>
                <a:spcPct val="120000"/>
              </a:lnSpc>
              <a:spcBef>
                <a:spcPts val="0"/>
              </a:spcBef>
              <a:spcAft>
                <a:spcPts val="0"/>
              </a:spcAft>
              <a:buClr>
                <a:srgbClr val="000000"/>
              </a:buClr>
              <a:buSzPts val="2400"/>
              <a:buFont typeface="Arial"/>
              <a:buChar char="•"/>
            </a:pPr>
            <a:r>
              <a:rPr lang="en-US" sz="1880" b="0" i="0" u="none" strike="noStrike" cap="none" dirty="0">
                <a:solidFill>
                  <a:srgbClr val="000000"/>
                </a:solidFill>
                <a:latin typeface="Arial"/>
                <a:ea typeface="Arial"/>
                <a:cs typeface="Arial"/>
                <a:sym typeface="Arial"/>
              </a:rPr>
              <a:t>Declare the Cursor: Use the view in the SELECT query for the cursor declaration.</a:t>
            </a:r>
            <a:endParaRPr sz="1880" dirty="0"/>
          </a:p>
        </p:txBody>
      </p:sp>
      <p:sp>
        <p:nvSpPr>
          <p:cNvPr id="537" name="Google Shape;537;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538" name="Google Shape;538;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4" name="Google Shape;544;p35"/>
          <p:cNvSpPr/>
          <p:nvPr/>
        </p:nvSpPr>
        <p:spPr>
          <a:xfrm>
            <a:off x="3673443" y="2156641"/>
            <a:ext cx="3841853" cy="808716"/>
          </a:xfrm>
          <a:custGeom>
            <a:avLst/>
            <a:gdLst/>
            <a:ahLst/>
            <a:cxnLst/>
            <a:rect l="l" t="t" r="r" b="b"/>
            <a:pathLst>
              <a:path w="5762780" h="1213074" extrusionOk="0">
                <a:moveTo>
                  <a:pt x="0" y="0"/>
                </a:moveTo>
                <a:lnTo>
                  <a:pt x="5762780" y="0"/>
                </a:lnTo>
                <a:lnTo>
                  <a:pt x="5762780" y="1213074"/>
                </a:lnTo>
                <a:lnTo>
                  <a:pt x="0" y="1213074"/>
                </a:lnTo>
                <a:lnTo>
                  <a:pt x="0" y="0"/>
                </a:lnTo>
                <a:close/>
              </a:path>
            </a:pathLst>
          </a:custGeom>
          <a:blipFill rotWithShape="1">
            <a:blip r:embed="rId3">
              <a:alphaModFix/>
            </a:blip>
            <a:stretch>
              <a:fillRect t="-12028" b="-21650"/>
            </a:stretch>
          </a:blipFill>
          <a:ln>
            <a:noFill/>
          </a:ln>
        </p:spPr>
      </p:sp>
      <p:sp>
        <p:nvSpPr>
          <p:cNvPr id="545" name="Google Shape;545;p35"/>
          <p:cNvSpPr txBox="1"/>
          <p:nvPr/>
        </p:nvSpPr>
        <p:spPr>
          <a:xfrm>
            <a:off x="-346989" y="3029002"/>
            <a:ext cx="10632575" cy="443198"/>
          </a:xfrm>
          <a:prstGeom prst="rect">
            <a:avLst/>
          </a:prstGeom>
          <a:noFill/>
          <a:ln>
            <a:noFill/>
          </a:ln>
        </p:spPr>
        <p:txBody>
          <a:bodyPr spcFirstLastPara="1" wrap="square" lIns="0" tIns="0" rIns="0" bIns="0" anchor="t" anchorCtr="0">
            <a:spAutoFit/>
          </a:bodyPr>
          <a:lstStyle/>
          <a:p>
            <a:pPr marL="518186" marR="0" lvl="1" indent="-259093" algn="ctr" rtl="0">
              <a:lnSpc>
                <a:spcPct val="120000"/>
              </a:lnSpc>
              <a:spcBef>
                <a:spcPts val="0"/>
              </a:spcBef>
              <a:spcAft>
                <a:spcPts val="0"/>
              </a:spcAft>
              <a:buClr>
                <a:srgbClr val="000000"/>
              </a:buClr>
              <a:buSzPts val="2400"/>
              <a:buFont typeface="Arial"/>
              <a:buChar char="•"/>
            </a:pPr>
            <a:r>
              <a:rPr lang="en-US" sz="1880" b="0" i="0" u="none" strike="noStrike" cap="none" dirty="0">
                <a:solidFill>
                  <a:srgbClr val="000000"/>
                </a:solidFill>
                <a:latin typeface="Arial"/>
                <a:ea typeface="Arial"/>
                <a:cs typeface="Arial"/>
                <a:sym typeface="Arial"/>
              </a:rPr>
              <a:t>Fetch Rows from the Cursor: Retrieve rows one at a time from the cursor</a:t>
            </a:r>
            <a:r>
              <a:rPr lang="en-US" sz="2400" b="0" i="0" u="none" strike="noStrike" cap="none" dirty="0">
                <a:solidFill>
                  <a:srgbClr val="000000"/>
                </a:solidFill>
                <a:latin typeface="Arial"/>
                <a:ea typeface="Arial"/>
                <a:cs typeface="Arial"/>
                <a:sym typeface="Arial"/>
              </a:rPr>
              <a:t>.</a:t>
            </a:r>
            <a:endParaRPr dirty="0"/>
          </a:p>
        </p:txBody>
      </p:sp>
      <p:sp>
        <p:nvSpPr>
          <p:cNvPr id="546" name="Google Shape;546;p35"/>
          <p:cNvSpPr/>
          <p:nvPr/>
        </p:nvSpPr>
        <p:spPr>
          <a:xfrm>
            <a:off x="2625497" y="3657768"/>
            <a:ext cx="6941007" cy="545637"/>
          </a:xfrm>
          <a:custGeom>
            <a:avLst/>
            <a:gdLst/>
            <a:ahLst/>
            <a:cxnLst/>
            <a:rect l="l" t="t" r="r" b="b"/>
            <a:pathLst>
              <a:path w="10411510" h="818455" extrusionOk="0">
                <a:moveTo>
                  <a:pt x="0" y="0"/>
                </a:moveTo>
                <a:lnTo>
                  <a:pt x="10411510" y="0"/>
                </a:lnTo>
                <a:lnTo>
                  <a:pt x="10411510" y="818455"/>
                </a:lnTo>
                <a:lnTo>
                  <a:pt x="0" y="818455"/>
                </a:lnTo>
                <a:lnTo>
                  <a:pt x="0" y="0"/>
                </a:lnTo>
                <a:close/>
              </a:path>
            </a:pathLst>
          </a:custGeom>
          <a:blipFill rotWithShape="1">
            <a:blip r:embed="rId4">
              <a:alphaModFix/>
            </a:blip>
            <a:stretch>
              <a:fillRect/>
            </a:stretch>
          </a:blipFill>
          <a:ln>
            <a:noFill/>
          </a:ln>
        </p:spPr>
      </p:sp>
      <p:sp>
        <p:nvSpPr>
          <p:cNvPr id="547" name="Google Shape;547;p35"/>
          <p:cNvSpPr/>
          <p:nvPr/>
        </p:nvSpPr>
        <p:spPr>
          <a:xfrm>
            <a:off x="3760206" y="5303199"/>
            <a:ext cx="4193215" cy="626727"/>
          </a:xfrm>
          <a:custGeom>
            <a:avLst/>
            <a:gdLst/>
            <a:ahLst/>
            <a:cxnLst/>
            <a:rect l="l" t="t" r="r" b="b"/>
            <a:pathLst>
              <a:path w="6289823" h="940091" extrusionOk="0">
                <a:moveTo>
                  <a:pt x="0" y="0"/>
                </a:moveTo>
                <a:lnTo>
                  <a:pt x="6289823" y="0"/>
                </a:lnTo>
                <a:lnTo>
                  <a:pt x="6289823" y="940091"/>
                </a:lnTo>
                <a:lnTo>
                  <a:pt x="0" y="940091"/>
                </a:lnTo>
                <a:lnTo>
                  <a:pt x="0" y="0"/>
                </a:lnTo>
                <a:close/>
              </a:path>
            </a:pathLst>
          </a:custGeom>
          <a:blipFill rotWithShape="1">
            <a:blip r:embed="rId5">
              <a:alphaModFix/>
            </a:blip>
            <a:stretch>
              <a:fillRect b="-31188"/>
            </a:stretch>
          </a:blipFill>
          <a:ln>
            <a:noFill/>
          </a:ln>
        </p:spPr>
      </p:sp>
      <p:sp>
        <p:nvSpPr>
          <p:cNvPr id="548" name="Google Shape;548;p35"/>
          <p:cNvSpPr txBox="1"/>
          <p:nvPr/>
        </p:nvSpPr>
        <p:spPr>
          <a:xfrm>
            <a:off x="3146966" y="636166"/>
            <a:ext cx="4526791" cy="81253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400" b="1" dirty="0">
                <a:solidFill>
                  <a:srgbClr val="C00000"/>
                </a:solidFill>
                <a:latin typeface="Arimo"/>
                <a:ea typeface="Arimo"/>
                <a:cs typeface="Arimo"/>
                <a:sym typeface="Arimo"/>
              </a:rPr>
              <a:t>Views</a:t>
            </a:r>
            <a:endParaRPr dirty="0"/>
          </a:p>
        </p:txBody>
      </p:sp>
      <p:sp>
        <p:nvSpPr>
          <p:cNvPr id="549" name="Google Shape;549;p35"/>
          <p:cNvSpPr txBox="1"/>
          <p:nvPr/>
        </p:nvSpPr>
        <p:spPr>
          <a:xfrm>
            <a:off x="838200" y="1582602"/>
            <a:ext cx="9747325" cy="347146"/>
          </a:xfrm>
          <a:prstGeom prst="rect">
            <a:avLst/>
          </a:prstGeom>
          <a:noFill/>
          <a:ln>
            <a:noFill/>
          </a:ln>
        </p:spPr>
        <p:txBody>
          <a:bodyPr spcFirstLastPara="1" wrap="square" lIns="0" tIns="0" rIns="0" bIns="0" anchor="t" anchorCtr="0">
            <a:spAutoFit/>
          </a:bodyPr>
          <a:lstStyle/>
          <a:p>
            <a:pPr marL="518186" marR="0" lvl="1" indent="-259093" algn="l" rtl="0">
              <a:lnSpc>
                <a:spcPct val="120000"/>
              </a:lnSpc>
              <a:spcBef>
                <a:spcPts val="0"/>
              </a:spcBef>
              <a:spcAft>
                <a:spcPts val="0"/>
              </a:spcAft>
              <a:buClr>
                <a:srgbClr val="000000"/>
              </a:buClr>
              <a:buSzPts val="2400"/>
              <a:buFont typeface="Arial"/>
              <a:buChar char="•"/>
            </a:pPr>
            <a:r>
              <a:rPr lang="en-US" sz="1880" b="0" i="0" u="none" strike="noStrike" cap="none" dirty="0">
                <a:solidFill>
                  <a:srgbClr val="000000"/>
                </a:solidFill>
                <a:latin typeface="Arial"/>
                <a:ea typeface="Arial"/>
                <a:cs typeface="Arial"/>
                <a:sym typeface="Arial"/>
              </a:rPr>
              <a:t>Open the Cursor: Execute the query to make the result set available for processing.</a:t>
            </a:r>
            <a:endParaRPr sz="1880" dirty="0"/>
          </a:p>
        </p:txBody>
      </p:sp>
      <p:sp>
        <p:nvSpPr>
          <p:cNvPr id="550" name="Google Shape;550;p35"/>
          <p:cNvSpPr txBox="1"/>
          <p:nvPr/>
        </p:nvSpPr>
        <p:spPr>
          <a:xfrm>
            <a:off x="810438" y="4411959"/>
            <a:ext cx="11439833" cy="694293"/>
          </a:xfrm>
          <a:prstGeom prst="rect">
            <a:avLst/>
          </a:prstGeom>
          <a:noFill/>
          <a:ln>
            <a:noFill/>
          </a:ln>
        </p:spPr>
        <p:txBody>
          <a:bodyPr spcFirstLastPara="1" wrap="square" lIns="0" tIns="0" rIns="0" bIns="0" anchor="t" anchorCtr="0">
            <a:spAutoFit/>
          </a:bodyPr>
          <a:lstStyle/>
          <a:p>
            <a:pPr marL="518186" marR="0" lvl="1" indent="-259093" algn="just" rtl="0">
              <a:lnSpc>
                <a:spcPct val="120000"/>
              </a:lnSpc>
              <a:spcBef>
                <a:spcPts val="0"/>
              </a:spcBef>
              <a:spcAft>
                <a:spcPts val="0"/>
              </a:spcAft>
              <a:buClr>
                <a:srgbClr val="000000"/>
              </a:buClr>
              <a:buSzPts val="2400"/>
              <a:buFont typeface="Arial"/>
              <a:buChar char="•"/>
            </a:pPr>
            <a:r>
              <a:rPr lang="en-US" sz="1880" b="0" i="0" u="none" strike="noStrike" cap="none" dirty="0">
                <a:solidFill>
                  <a:srgbClr val="000000"/>
                </a:solidFill>
                <a:latin typeface="Arial"/>
                <a:ea typeface="Arial"/>
                <a:cs typeface="Arial"/>
                <a:sym typeface="Arial"/>
              </a:rPr>
              <a:t>Process Each Row: Apply desired logic (e.g., calculations, updates) to the fetched data.</a:t>
            </a:r>
            <a:endParaRPr sz="1880" dirty="0"/>
          </a:p>
          <a:p>
            <a:pPr marL="518186" marR="0" lvl="1" indent="-259093" algn="just" rtl="0">
              <a:lnSpc>
                <a:spcPct val="120000"/>
              </a:lnSpc>
              <a:spcBef>
                <a:spcPts val="0"/>
              </a:spcBef>
              <a:spcAft>
                <a:spcPts val="0"/>
              </a:spcAft>
              <a:buClr>
                <a:srgbClr val="000000"/>
              </a:buClr>
              <a:buSzPts val="2400"/>
              <a:buFont typeface="Arial"/>
              <a:buChar char="•"/>
            </a:pPr>
            <a:r>
              <a:rPr lang="en-US" sz="1880" b="0" i="0" u="none" strike="noStrike" cap="none" dirty="0">
                <a:solidFill>
                  <a:srgbClr val="000000"/>
                </a:solidFill>
                <a:latin typeface="Arial"/>
                <a:ea typeface="Arial"/>
                <a:cs typeface="Arial"/>
                <a:sym typeface="Arial"/>
              </a:rPr>
              <a:t>Close the Cursor: Release resources after completing processing.</a:t>
            </a:r>
            <a:endParaRPr sz="1880" dirty="0"/>
          </a:p>
        </p:txBody>
      </p:sp>
      <p:sp>
        <p:nvSpPr>
          <p:cNvPr id="551" name="Google Shape;551;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552" name="Google Shape;552;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36"/>
          <p:cNvSpPr/>
          <p:nvPr/>
        </p:nvSpPr>
        <p:spPr>
          <a:xfrm>
            <a:off x="0" y="0"/>
            <a:ext cx="12192000" cy="6858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558" name="Google Shape;558;p36"/>
          <p:cNvSpPr/>
          <p:nvPr/>
        </p:nvSpPr>
        <p:spPr>
          <a:xfrm>
            <a:off x="7844433" y="2179531"/>
            <a:ext cx="3636000" cy="2856083"/>
          </a:xfrm>
          <a:custGeom>
            <a:avLst/>
            <a:gdLst/>
            <a:ahLst/>
            <a:cxnLst/>
            <a:rect l="l" t="t" r="r" b="b"/>
            <a:pathLst>
              <a:path w="6371941" h="4284124" extrusionOk="0">
                <a:moveTo>
                  <a:pt x="0" y="0"/>
                </a:moveTo>
                <a:lnTo>
                  <a:pt x="6371941" y="0"/>
                </a:lnTo>
                <a:lnTo>
                  <a:pt x="6371941" y="4284124"/>
                </a:lnTo>
                <a:lnTo>
                  <a:pt x="0" y="4284124"/>
                </a:lnTo>
                <a:lnTo>
                  <a:pt x="0" y="0"/>
                </a:lnTo>
                <a:close/>
              </a:path>
            </a:pathLst>
          </a:custGeom>
          <a:blipFill rotWithShape="1">
            <a:blip r:embed="rId4">
              <a:alphaModFix/>
            </a:blip>
            <a:stretch>
              <a:fillRect l="-15220" t="-20857" r="-21775" b="-14897"/>
            </a:stretch>
          </a:blipFill>
          <a:ln>
            <a:noFill/>
          </a:ln>
        </p:spPr>
        <p:txBody>
          <a:bodyPr/>
          <a:lstStyle/>
          <a:p>
            <a:endParaRPr lang="en-IN" dirty="0"/>
          </a:p>
        </p:txBody>
      </p:sp>
      <p:sp>
        <p:nvSpPr>
          <p:cNvPr id="559" name="Google Shape;559;p36"/>
          <p:cNvSpPr txBox="1"/>
          <p:nvPr/>
        </p:nvSpPr>
        <p:spPr>
          <a:xfrm>
            <a:off x="2997854" y="357144"/>
            <a:ext cx="4526791" cy="81253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400" b="1" dirty="0">
                <a:solidFill>
                  <a:srgbClr val="C00000"/>
                </a:solidFill>
                <a:latin typeface="Arimo"/>
                <a:ea typeface="Arimo"/>
                <a:cs typeface="Arimo"/>
                <a:sym typeface="Arimo"/>
              </a:rPr>
              <a:t>Views</a:t>
            </a:r>
            <a:endParaRPr dirty="0"/>
          </a:p>
        </p:txBody>
      </p:sp>
      <p:sp>
        <p:nvSpPr>
          <p:cNvPr id="560" name="Google Shape;560;p36"/>
          <p:cNvSpPr txBox="1"/>
          <p:nvPr/>
        </p:nvSpPr>
        <p:spPr>
          <a:xfrm>
            <a:off x="1121368" y="1476668"/>
            <a:ext cx="6188124" cy="4261808"/>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80" b="1" dirty="0">
                <a:solidFill>
                  <a:srgbClr val="000000"/>
                </a:solidFill>
                <a:latin typeface="Arial"/>
                <a:ea typeface="Arial"/>
                <a:cs typeface="Arial"/>
                <a:sym typeface="Arial"/>
              </a:rPr>
              <a:t>Advantages of Using Views in Cursors</a:t>
            </a:r>
          </a:p>
          <a:p>
            <a:pPr marL="0" marR="0" lvl="0" indent="0" algn="just" rtl="0">
              <a:lnSpc>
                <a:spcPct val="120000"/>
              </a:lnSpc>
              <a:spcBef>
                <a:spcPts val="0"/>
              </a:spcBef>
              <a:spcAft>
                <a:spcPts val="0"/>
              </a:spcAft>
              <a:buNone/>
            </a:pPr>
            <a:endParaRPr sz="1880" dirty="0"/>
          </a:p>
          <a:p>
            <a:pPr marL="518186" marR="0" lvl="1" indent="-259093" algn="just" rtl="0">
              <a:lnSpc>
                <a:spcPct val="120000"/>
              </a:lnSpc>
              <a:spcBef>
                <a:spcPts val="0"/>
              </a:spcBef>
              <a:spcAft>
                <a:spcPts val="0"/>
              </a:spcAft>
              <a:buClr>
                <a:srgbClr val="000000"/>
              </a:buClr>
              <a:buSzPts val="2400"/>
              <a:buFont typeface="Arial"/>
              <a:buAutoNum type="arabicPeriod"/>
            </a:pPr>
            <a:r>
              <a:rPr lang="en-US" sz="1880" b="1" i="0" u="none" strike="noStrike" cap="none" dirty="0">
                <a:solidFill>
                  <a:srgbClr val="000000"/>
                </a:solidFill>
                <a:latin typeface="Arial"/>
                <a:ea typeface="Arial"/>
                <a:cs typeface="Arial"/>
                <a:sym typeface="Arial"/>
              </a:rPr>
              <a:t>Simplicity:</a:t>
            </a:r>
            <a:endParaRPr sz="1880" dirty="0"/>
          </a:p>
          <a:p>
            <a:pPr marL="1036372" marR="0" lvl="2" indent="-345457" algn="just" rtl="0">
              <a:lnSpc>
                <a:spcPct val="120000"/>
              </a:lnSpc>
              <a:spcBef>
                <a:spcPts val="0"/>
              </a:spcBef>
              <a:spcAft>
                <a:spcPts val="0"/>
              </a:spcAft>
              <a:buClr>
                <a:srgbClr val="000000"/>
              </a:buClr>
              <a:buSzPts val="2400"/>
              <a:buFont typeface="Arial"/>
              <a:buChar char="⚬"/>
            </a:pPr>
            <a:r>
              <a:rPr lang="en-US" sz="1880" b="0" i="0" u="none" strike="noStrike" cap="none" dirty="0">
                <a:solidFill>
                  <a:srgbClr val="000000"/>
                </a:solidFill>
                <a:latin typeface="Arial"/>
                <a:ea typeface="Arial"/>
                <a:cs typeface="Arial"/>
                <a:sym typeface="Arial"/>
              </a:rPr>
              <a:t>Views can encapsulate complex queries, making the cursor's logic simpler.</a:t>
            </a:r>
            <a:endParaRPr sz="1880" dirty="0"/>
          </a:p>
          <a:p>
            <a:pPr marL="518186" marR="0" lvl="1" indent="-259093" algn="just" rtl="0">
              <a:lnSpc>
                <a:spcPct val="120000"/>
              </a:lnSpc>
              <a:spcBef>
                <a:spcPts val="0"/>
              </a:spcBef>
              <a:spcAft>
                <a:spcPts val="0"/>
              </a:spcAft>
              <a:buClr>
                <a:srgbClr val="000000"/>
              </a:buClr>
              <a:buSzPts val="2400"/>
              <a:buFont typeface="Arial"/>
              <a:buAutoNum type="arabicPeriod"/>
            </a:pPr>
            <a:r>
              <a:rPr lang="en-US" sz="1880" b="1" i="0" u="none" strike="noStrike" cap="none" dirty="0">
                <a:solidFill>
                  <a:srgbClr val="000000"/>
                </a:solidFill>
                <a:latin typeface="Arial"/>
                <a:ea typeface="Arial"/>
                <a:cs typeface="Arial"/>
                <a:sym typeface="Arial"/>
              </a:rPr>
              <a:t>Reusability:</a:t>
            </a:r>
            <a:endParaRPr sz="1880" dirty="0"/>
          </a:p>
          <a:p>
            <a:pPr marL="1036372" marR="0" lvl="2" indent="-345457" algn="just" rtl="0">
              <a:lnSpc>
                <a:spcPct val="120000"/>
              </a:lnSpc>
              <a:spcBef>
                <a:spcPts val="0"/>
              </a:spcBef>
              <a:spcAft>
                <a:spcPts val="0"/>
              </a:spcAft>
              <a:buClr>
                <a:srgbClr val="000000"/>
              </a:buClr>
              <a:buSzPts val="2400"/>
              <a:buFont typeface="Arial"/>
              <a:buChar char="⚬"/>
            </a:pPr>
            <a:r>
              <a:rPr lang="en-US" sz="1880" b="0" i="0" u="none" strike="noStrike" cap="none" dirty="0">
                <a:solidFill>
                  <a:srgbClr val="000000"/>
                </a:solidFill>
                <a:latin typeface="Arial"/>
                <a:ea typeface="Arial"/>
                <a:cs typeface="Arial"/>
                <a:sym typeface="Arial"/>
              </a:rPr>
              <a:t>A view can be reused across different queries or cursors.</a:t>
            </a:r>
            <a:endParaRPr sz="1880" dirty="0"/>
          </a:p>
          <a:p>
            <a:pPr marL="518186" marR="0" lvl="1" indent="-259093" algn="just" rtl="0">
              <a:lnSpc>
                <a:spcPct val="120000"/>
              </a:lnSpc>
              <a:spcBef>
                <a:spcPts val="0"/>
              </a:spcBef>
              <a:spcAft>
                <a:spcPts val="0"/>
              </a:spcAft>
              <a:buClr>
                <a:srgbClr val="000000"/>
              </a:buClr>
              <a:buSzPts val="2400"/>
              <a:buFont typeface="Arial"/>
              <a:buAutoNum type="arabicPeriod"/>
            </a:pPr>
            <a:r>
              <a:rPr lang="en-US" sz="1880" b="1" i="0" u="none" strike="noStrike" cap="none" dirty="0">
                <a:solidFill>
                  <a:srgbClr val="000000"/>
                </a:solidFill>
                <a:latin typeface="Arial"/>
                <a:ea typeface="Arial"/>
                <a:cs typeface="Arial"/>
                <a:sym typeface="Arial"/>
              </a:rPr>
              <a:t>Data Abstraction:</a:t>
            </a:r>
            <a:endParaRPr sz="1880" dirty="0"/>
          </a:p>
          <a:p>
            <a:pPr marL="1036372" marR="0" lvl="2" indent="-345457" algn="just" rtl="0">
              <a:lnSpc>
                <a:spcPct val="120000"/>
              </a:lnSpc>
              <a:spcBef>
                <a:spcPts val="0"/>
              </a:spcBef>
              <a:spcAft>
                <a:spcPts val="0"/>
              </a:spcAft>
              <a:buClr>
                <a:srgbClr val="000000"/>
              </a:buClr>
              <a:buSzPts val="2400"/>
              <a:buFont typeface="Arial"/>
              <a:buChar char="⚬"/>
            </a:pPr>
            <a:r>
              <a:rPr lang="en-US" sz="1880" b="0" i="0" u="none" strike="noStrike" cap="none" dirty="0">
                <a:solidFill>
                  <a:srgbClr val="000000"/>
                </a:solidFill>
                <a:latin typeface="Arial"/>
                <a:ea typeface="Arial"/>
                <a:cs typeface="Arial"/>
                <a:sym typeface="Arial"/>
              </a:rPr>
              <a:t>Views abstract the underlying table structure, providing a layer of security and modularity.</a:t>
            </a:r>
            <a:endParaRPr sz="1880" dirty="0"/>
          </a:p>
          <a:p>
            <a:pPr marL="0" marR="0" lvl="0" indent="0" algn="just" rtl="0">
              <a:lnSpc>
                <a:spcPct val="120000"/>
              </a:lnSpc>
              <a:spcBef>
                <a:spcPts val="0"/>
              </a:spcBef>
              <a:spcAft>
                <a:spcPts val="0"/>
              </a:spcAft>
              <a:buNone/>
            </a:pPr>
            <a:endParaRPr sz="2400" dirty="0">
              <a:solidFill>
                <a:srgbClr val="000000"/>
              </a:solidFill>
              <a:latin typeface="Arial"/>
              <a:ea typeface="Arial"/>
              <a:cs typeface="Arial"/>
              <a:sym typeface="Arial"/>
            </a:endParaRPr>
          </a:p>
        </p:txBody>
      </p:sp>
      <p:sp>
        <p:nvSpPr>
          <p:cNvPr id="561" name="Google Shape;561;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562" name="Google Shape;562;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grpSp>
        <p:nvGrpSpPr>
          <p:cNvPr id="571" name="Google Shape;571;p37"/>
          <p:cNvGrpSpPr/>
          <p:nvPr/>
        </p:nvGrpSpPr>
        <p:grpSpPr>
          <a:xfrm>
            <a:off x="1524000" y="6356604"/>
            <a:ext cx="9144000" cy="88404"/>
            <a:chOff x="0" y="0"/>
            <a:chExt cx="13004800" cy="125730"/>
          </a:xfrm>
        </p:grpSpPr>
        <p:sp>
          <p:nvSpPr>
            <p:cNvPr id="572" name="Google Shape;572;p37"/>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573" name="Google Shape;573;p37"/>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574" name="Google Shape;574;p37"/>
          <p:cNvSpPr txBox="1"/>
          <p:nvPr/>
        </p:nvSpPr>
        <p:spPr>
          <a:xfrm>
            <a:off x="3497975" y="2697131"/>
            <a:ext cx="5472121" cy="1023293"/>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7049">
                <a:solidFill>
                  <a:srgbClr val="000000"/>
                </a:solidFill>
                <a:latin typeface="Arial"/>
                <a:ea typeface="Arial"/>
                <a:cs typeface="Arial"/>
                <a:sym typeface="Arial"/>
              </a:rPr>
              <a:t>THANK YOU </a:t>
            </a:r>
            <a:endParaRPr/>
          </a:p>
        </p:txBody>
      </p:sp>
      <p:sp>
        <p:nvSpPr>
          <p:cNvPr id="575" name="Google Shape;575;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576" name="Google Shape;576;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theme/theme1.xml><?xml version="1.0" encoding="utf-8"?>
<a:theme xmlns:a="http://schemas.openxmlformats.org/drawingml/2006/main" name="Theme1">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s Slide Master">
  <a:themeElements>
    <a:clrScheme name="ALLPPT-COLOR-A33">
      <a:dk1>
        <a:srgbClr val="000000"/>
      </a:dk1>
      <a:lt1>
        <a:srgbClr val="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TotalTime>
  <Words>2757</Words>
  <Application>Microsoft Office PowerPoint</Application>
  <PresentationFormat>Widescreen</PresentationFormat>
  <Paragraphs>333</Paragraphs>
  <Slides>37</Slides>
  <Notes>37</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37</vt:i4>
      </vt:variant>
    </vt:vector>
  </HeadingPairs>
  <TitlesOfParts>
    <vt:vector size="46" baseType="lpstr">
      <vt:lpstr>Arial Rounded</vt:lpstr>
      <vt:lpstr>Arial </vt:lpstr>
      <vt:lpstr>Times</vt:lpstr>
      <vt:lpstr>Calibri</vt:lpstr>
      <vt:lpstr>Arial</vt:lpstr>
      <vt:lpstr>Arimo</vt:lpstr>
      <vt:lpstr>Times New Roman</vt:lpstr>
      <vt:lpstr>Theme1</vt:lpstr>
      <vt:lpstr>Contents Slide Master</vt:lpstr>
      <vt:lpstr>PowerPoint Presentation</vt:lpstr>
      <vt:lpstr>ABOUT COURSE</vt:lpstr>
      <vt:lpstr>COURSE OUTCOMES </vt:lpstr>
      <vt:lpstr>COURSE OBJECTIVES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gaurav srivastav</dc:creator>
  <cp:lastModifiedBy>dell</cp:lastModifiedBy>
  <cp:revision>19</cp:revision>
  <dcterms:created xsi:type="dcterms:W3CDTF">2020-08-04T18:57:56Z</dcterms:created>
  <dcterms:modified xsi:type="dcterms:W3CDTF">2025-01-20T10:24:55Z</dcterms:modified>
</cp:coreProperties>
</file>