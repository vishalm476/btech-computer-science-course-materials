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1" r:id="rId2"/>
  </p:sldMasterIdLst>
  <p:notesMasterIdLst>
    <p:notesMasterId r:id="rId33"/>
  </p:notesMasterIdLst>
  <p:sldIdLst>
    <p:sldId id="256" r:id="rId3"/>
    <p:sldId id="257" r:id="rId4"/>
    <p:sldId id="258" r:id="rId5"/>
    <p:sldId id="259" r:id="rId6"/>
    <p:sldId id="260" r:id="rId7"/>
    <p:sldId id="308" r:id="rId8"/>
    <p:sldId id="261" r:id="rId9"/>
    <p:sldId id="262" r:id="rId10"/>
    <p:sldId id="263" r:id="rId11"/>
    <p:sldId id="309" r:id="rId12"/>
    <p:sldId id="318" r:id="rId13"/>
    <p:sldId id="319" r:id="rId14"/>
    <p:sldId id="320" r:id="rId15"/>
    <p:sldId id="321" r:id="rId16"/>
    <p:sldId id="322" r:id="rId17"/>
    <p:sldId id="323" r:id="rId18"/>
    <p:sldId id="310" r:id="rId19"/>
    <p:sldId id="311" r:id="rId20"/>
    <p:sldId id="270" r:id="rId21"/>
    <p:sldId id="271" r:id="rId22"/>
    <p:sldId id="324" r:id="rId23"/>
    <p:sldId id="325" r:id="rId24"/>
    <p:sldId id="333" r:id="rId25"/>
    <p:sldId id="326" r:id="rId26"/>
    <p:sldId id="272" r:id="rId27"/>
    <p:sldId id="273" r:id="rId28"/>
    <p:sldId id="274" r:id="rId29"/>
    <p:sldId id="315" r:id="rId30"/>
    <p:sldId id="316" r:id="rId31"/>
    <p:sldId id="275" r:id="rId32"/>
  </p:sldIdLst>
  <p:sldSz cx="12192000" cy="6858000"/>
  <p:notesSz cx="6858000" cy="9144000"/>
  <p:embeddedFontLst>
    <p:embeddedFont>
      <p:font typeface="Arimo" panose="020B0604020202020204" charset="0"/>
      <p:bold r:id="rId34"/>
      <p:boldItalic r:id="rId35"/>
    </p:embeddedFont>
    <p:embeddedFont>
      <p:font typeface="Cambria" panose="02040503050406030204" pitchFamily="18"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h9eU9N7q2R1jZGKyV4Cjjumbg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F952E3A-31B3-4C32-B707-6BC8FAECF4CE}">
  <a:tblStyle styleId="{3F952E3A-31B3-4C32-B707-6BC8FAECF4C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10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0"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0" name="Google Shape;220;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21" name="Google Shape;221;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4" name="Google Shape;224;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537" name="Google Shape;537;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8" name="Google Shape;538;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4" name="Google Shape;234;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35" name="Google Shape;235;p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8" name="Google Shape;238;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1" name="Google Shape;251;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52" name="Google Shape;252;p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5" name="Google Shape;255;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8" name="Google Shape;268;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69" name="Google Shape;269;p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2" name="Google Shape;272;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548" name="Google Shape;548;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9" name="Google Shape;549;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
        <p:nvSpPr>
          <p:cNvPr id="611" name="Google Shape;611;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2" name="Google Shape;612;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
        <p:nvSpPr>
          <p:cNvPr id="620" name="Google Shape;620;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1" name="Google Shape;621;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628" name="Google Shape;628;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9" name="Google Shape;629;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635" name="Google Shape;635;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6" name="Google Shape;636;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
        <p:nvSpPr>
          <p:cNvPr id="644" name="Google Shape;644;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5" name="Google Shape;645;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652" name="Google Shape;652;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3" name="Google Shape;653;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9741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
        <p:nvSpPr>
          <p:cNvPr id="561" name="Google Shape;561;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2" name="Google Shape;562;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0627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3" name="Google Shape;383;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84" name="Google Shape;384;p1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5" name="Google Shape;385;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7" name="Google Shape;387;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00" name="Google Shape;400;p1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01" name="Google Shape;401;p1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1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1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04" name="Google Shape;404;p1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
        <p:nvSpPr>
          <p:cNvPr id="663" name="Google Shape;663;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4" name="Google Shape;664;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66362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
        <p:nvSpPr>
          <p:cNvPr id="670" name="Google Shape;670;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07574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
        <p:nvSpPr>
          <p:cNvPr id="705" name="Google Shape;705;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6" name="Google Shape;706;p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4595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a:extLst>
            <a:ext uri="{FF2B5EF4-FFF2-40B4-BE49-F238E27FC236}">
              <a16:creationId xmlns:a16="http://schemas.microsoft.com/office/drawing/2014/main" id="{E3B02608-AA9C-B17C-D6D7-DFAA5A7CEFF5}"/>
            </a:ext>
          </a:extLst>
        </p:cNvPr>
        <p:cNvGrpSpPr/>
        <p:nvPr/>
      </p:nvGrpSpPr>
      <p:grpSpPr>
        <a:xfrm>
          <a:off x="0" y="0"/>
          <a:ext cx="0" cy="0"/>
          <a:chOff x="0" y="0"/>
          <a:chExt cx="0" cy="0"/>
        </a:xfrm>
      </p:grpSpPr>
      <p:sp>
        <p:nvSpPr>
          <p:cNvPr id="669" name="Google Shape;669;p70:notes">
            <a:extLst>
              <a:ext uri="{FF2B5EF4-FFF2-40B4-BE49-F238E27FC236}">
                <a16:creationId xmlns:a16="http://schemas.microsoft.com/office/drawing/2014/main" id="{C5541F3F-93A7-0A0A-A54F-E0A126D7031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
        <p:nvSpPr>
          <p:cNvPr id="670" name="Google Shape;670;p70:notes">
            <a:extLst>
              <a:ext uri="{FF2B5EF4-FFF2-40B4-BE49-F238E27FC236}">
                <a16:creationId xmlns:a16="http://schemas.microsoft.com/office/drawing/2014/main" id="{77359658-DF70-A72C-7B7E-57E6981420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70:notes">
            <a:extLst>
              <a:ext uri="{FF2B5EF4-FFF2-40B4-BE49-F238E27FC236}">
                <a16:creationId xmlns:a16="http://schemas.microsoft.com/office/drawing/2014/main" id="{5960DD47-601B-C03F-51B9-8F2B7A2E0F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3028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15" name="Google Shape;41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23" name="Google Shape;423;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24" name="Google Shape;424;p1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p1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1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27" name="Google Shape;427;p1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39" name="Google Shape;439;p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40" name="Google Shape;440;p1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1" name="Google Shape;441;p1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1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3" name="Google Shape;443;p1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
        <p:nvSpPr>
          <p:cNvPr id="589" name="Google Shape;589;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0" name="Google Shape;590;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20295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
        <p:nvSpPr>
          <p:cNvPr id="596" name="Google Shape;596;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7" name="Google Shape;597;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28710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5" name="Google Shape;455;p2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56" name="Google Shape;456;p2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p2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2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9" name="Google Shape;459;p2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3" name="Google Shape;33;p23"/>
          <p:cNvSpPr txBox="1"/>
          <p:nvPr/>
        </p:nvSpPr>
        <p:spPr>
          <a:xfrm>
            <a:off x="4191000" y="63979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37"/>
        <p:cNvGrpSpPr/>
        <p:nvPr/>
      </p:nvGrpSpPr>
      <p:grpSpPr>
        <a:xfrm>
          <a:off x="0" y="0"/>
          <a:ext cx="0" cy="0"/>
          <a:chOff x="0" y="0"/>
          <a:chExt cx="0" cy="0"/>
        </a:xfrm>
      </p:grpSpPr>
      <p:sp>
        <p:nvSpPr>
          <p:cNvPr id="38" name="Google Shape;38;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0" name="Google Shape;40;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1" name="Google Shape;4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44"/>
        <p:cNvGrpSpPr/>
        <p:nvPr/>
      </p:nvGrpSpPr>
      <p:grpSpPr>
        <a:xfrm>
          <a:off x="0" y="0"/>
          <a:ext cx="0" cy="0"/>
          <a:chOff x="0" y="0"/>
          <a:chExt cx="0" cy="0"/>
        </a:xfrm>
      </p:grpSpPr>
      <p:sp>
        <p:nvSpPr>
          <p:cNvPr id="45" name="Google Shape;4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8"/>
        <p:cNvGrpSpPr/>
        <p:nvPr/>
      </p:nvGrpSpPr>
      <p:grpSpPr>
        <a:xfrm>
          <a:off x="0" y="0"/>
          <a:ext cx="0" cy="0"/>
          <a:chOff x="0" y="0"/>
          <a:chExt cx="0" cy="0"/>
        </a:xfrm>
      </p:grpSpPr>
      <p:sp>
        <p:nvSpPr>
          <p:cNvPr id="49" name="Google Shape;49;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1" name="Google Shape;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54"/>
        <p:cNvGrpSpPr/>
        <p:nvPr/>
      </p:nvGrpSpPr>
      <p:grpSpPr>
        <a:xfrm>
          <a:off x="0" y="0"/>
          <a:ext cx="0" cy="0"/>
          <a:chOff x="0" y="0"/>
          <a:chExt cx="0" cy="0"/>
        </a:xfrm>
      </p:grpSpPr>
      <p:sp>
        <p:nvSpPr>
          <p:cNvPr id="55" name="Google Shape;55;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61"/>
        <p:cNvGrpSpPr/>
        <p:nvPr/>
      </p:nvGrpSpPr>
      <p:grpSpPr>
        <a:xfrm>
          <a:off x="0" y="0"/>
          <a:ext cx="0" cy="0"/>
          <a:chOff x="0" y="0"/>
          <a:chExt cx="0" cy="0"/>
        </a:xfrm>
      </p:grpSpPr>
      <p:sp>
        <p:nvSpPr>
          <p:cNvPr id="62" name="Google Shape;62;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70"/>
        <p:cNvGrpSpPr/>
        <p:nvPr/>
      </p:nvGrpSpPr>
      <p:grpSpPr>
        <a:xfrm>
          <a:off x="0" y="0"/>
          <a:ext cx="0" cy="0"/>
          <a:chOff x="0" y="0"/>
          <a:chExt cx="0" cy="0"/>
        </a:xfrm>
      </p:grpSpPr>
      <p:sp>
        <p:nvSpPr>
          <p:cNvPr id="71" name="Google Shape;71;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5"/>
        <p:cNvGrpSpPr/>
        <p:nvPr/>
      </p:nvGrpSpPr>
      <p:grpSpPr>
        <a:xfrm>
          <a:off x="0" y="0"/>
          <a:ext cx="0" cy="0"/>
          <a:chOff x="0" y="0"/>
          <a:chExt cx="0" cy="0"/>
        </a:xfrm>
      </p:grpSpPr>
      <p:sp>
        <p:nvSpPr>
          <p:cNvPr id="76" name="Google Shape;7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30"/>
          <p:cNvSpPr>
            <a:spLocks noGrp="1"/>
          </p:cNvSpPr>
          <p:nvPr>
            <p:ph type="pic" idx="2"/>
          </p:nvPr>
        </p:nvSpPr>
        <p:spPr>
          <a:xfrm>
            <a:off x="5183188" y="987425"/>
            <a:ext cx="6172200" cy="4873625"/>
          </a:xfrm>
          <a:prstGeom prst="rect">
            <a:avLst/>
          </a:prstGeom>
          <a:noFill/>
          <a:ln>
            <a:noFill/>
          </a:ln>
        </p:spPr>
      </p:sp>
      <p:sp>
        <p:nvSpPr>
          <p:cNvPr id="78" name="Google Shape;7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2"/>
        <p:cNvGrpSpPr/>
        <p:nvPr/>
      </p:nvGrpSpPr>
      <p:grpSpPr>
        <a:xfrm>
          <a:off x="0" y="0"/>
          <a:ext cx="0" cy="0"/>
          <a:chOff x="0" y="0"/>
          <a:chExt cx="0" cy="0"/>
        </a:xfrm>
      </p:grpSpPr>
      <p:sp>
        <p:nvSpPr>
          <p:cNvPr id="83" name="Google Shape;8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Титульный слайд">
  <p:cSld name="1_Титульный слайд">
    <p:spTree>
      <p:nvGrpSpPr>
        <p:cNvPr id="1" name="Shape 94"/>
        <p:cNvGrpSpPr/>
        <p:nvPr/>
      </p:nvGrpSpPr>
      <p:grpSpPr>
        <a:xfrm>
          <a:off x="0" y="0"/>
          <a:ext cx="0" cy="0"/>
          <a:chOff x="0" y="0"/>
          <a:chExt cx="0" cy="0"/>
        </a:xfrm>
      </p:grpSpPr>
      <p:sp>
        <p:nvSpPr>
          <p:cNvPr id="95" name="Google Shape;95;p33"/>
          <p:cNvSpPr/>
          <p:nvPr/>
        </p:nvSpPr>
        <p:spPr>
          <a:xfrm>
            <a:off x="-19050" y="1905000"/>
            <a:ext cx="12211050" cy="4953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33"/>
          <p:cNvSpPr/>
          <p:nvPr/>
        </p:nvSpPr>
        <p:spPr>
          <a:xfrm>
            <a:off x="-19050" y="0"/>
            <a:ext cx="12211050" cy="4438650"/>
          </a:xfrm>
          <a:custGeom>
            <a:avLst/>
            <a:gdLst/>
            <a:ahLst/>
            <a:cxnLst/>
            <a:rect l="l" t="t" r="r" b="b"/>
            <a:pathLst>
              <a:path w="12211050" h="4438650" extrusionOk="0">
                <a:moveTo>
                  <a:pt x="19050" y="0"/>
                </a:moveTo>
                <a:lnTo>
                  <a:pt x="12211050" y="0"/>
                </a:lnTo>
                <a:lnTo>
                  <a:pt x="12211050" y="4438650"/>
                </a:lnTo>
                <a:lnTo>
                  <a:pt x="0" y="3219450"/>
                </a:lnTo>
                <a:lnTo>
                  <a:pt x="19050" y="0"/>
                </a:lnTo>
                <a:close/>
              </a:path>
            </a:pathLst>
          </a:custGeom>
          <a:solidFill>
            <a:srgbClr val="17161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33"/>
          <p:cNvSpPr/>
          <p:nvPr/>
        </p:nvSpPr>
        <p:spPr>
          <a:xfrm>
            <a:off x="1085850" y="1009650"/>
            <a:ext cx="10020300" cy="5238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33"/>
          <p:cNvSpPr>
            <a:spLocks noGrp="1"/>
          </p:cNvSpPr>
          <p:nvPr>
            <p:ph type="pic" idx="2"/>
          </p:nvPr>
        </p:nvSpPr>
        <p:spPr>
          <a:xfrm>
            <a:off x="1847850" y="2819400"/>
            <a:ext cx="8496300" cy="280035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itle, Text and Clip Art">
    <p:spTree>
      <p:nvGrpSpPr>
        <p:cNvPr id="1" name="Shape 31"/>
        <p:cNvGrpSpPr/>
        <p:nvPr/>
      </p:nvGrpSpPr>
      <p:grpSpPr>
        <a:xfrm>
          <a:off x="0" y="0"/>
          <a:ext cx="0" cy="0"/>
          <a:chOff x="0" y="0"/>
          <a:chExt cx="0" cy="0"/>
        </a:xfrm>
      </p:grpSpPr>
      <p:sp>
        <p:nvSpPr>
          <p:cNvPr id="32" name="Google Shape;32;p84"/>
          <p:cNvSpPr txBox="1">
            <a:spLocks noGrp="1"/>
          </p:cNvSpPr>
          <p:nvPr>
            <p:ph type="title"/>
          </p:nvPr>
        </p:nvSpPr>
        <p:spPr>
          <a:xfrm>
            <a:off x="812800" y="228600"/>
            <a:ext cx="10363200" cy="9906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mbria"/>
              <a:buNone/>
              <a:defRPr sz="4400" b="1" i="0" u="none" strike="noStrike" cap="non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33" name="Google Shape;33;p84"/>
          <p:cNvSpPr txBox="1">
            <a:spLocks noGrp="1"/>
          </p:cNvSpPr>
          <p:nvPr>
            <p:ph type="body" idx="1"/>
          </p:nvPr>
        </p:nvSpPr>
        <p:spPr>
          <a:xfrm>
            <a:off x="914400" y="1524000"/>
            <a:ext cx="5181600" cy="46482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4" name="Google Shape;34;p84"/>
          <p:cNvSpPr>
            <a:spLocks noGrp="1"/>
          </p:cNvSpPr>
          <p:nvPr>
            <p:ph type="clipArt" idx="2"/>
          </p:nvPr>
        </p:nvSpPr>
        <p:spPr>
          <a:xfrm>
            <a:off x="6299200" y="1524000"/>
            <a:ext cx="5181600" cy="4648200"/>
          </a:xfrm>
          <a:prstGeom prst="rect">
            <a:avLst/>
          </a:prstGeom>
          <a:noFill/>
          <a:ln>
            <a:noFill/>
          </a:ln>
        </p:spPr>
      </p:sp>
      <p:sp>
        <p:nvSpPr>
          <p:cNvPr id="35" name="Google Shape;35;p84"/>
          <p:cNvSpPr txBox="1">
            <a:spLocks noGrp="1"/>
          </p:cNvSpPr>
          <p:nvPr>
            <p:ph type="dt" idx="10"/>
          </p:nvPr>
        </p:nvSpPr>
        <p:spPr>
          <a:xfrm>
            <a:off x="914400" y="6248400"/>
            <a:ext cx="31496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p84"/>
          <p:cNvSpPr txBox="1">
            <a:spLocks noGrp="1"/>
          </p:cNvSpPr>
          <p:nvPr>
            <p:ph type="ftr" idx="11"/>
          </p:nvPr>
        </p:nvSpPr>
        <p:spPr>
          <a:xfrm>
            <a:off x="3657600" y="6553200"/>
            <a:ext cx="5080000" cy="304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84"/>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242024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Agenda Layout">
  <p:cSld name="Agenda Layout">
    <p:spTree>
      <p:nvGrpSpPr>
        <p:cNvPr id="1" name="Shape 10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asic Layout">
  <p:cSld name="Basic Layout">
    <p:spTree>
      <p:nvGrpSpPr>
        <p:cNvPr id="1" name="Shape 101"/>
        <p:cNvGrpSpPr/>
        <p:nvPr/>
      </p:nvGrpSpPr>
      <p:grpSpPr>
        <a:xfrm>
          <a:off x="0" y="0"/>
          <a:ext cx="0" cy="0"/>
          <a:chOff x="0" y="0"/>
          <a:chExt cx="0" cy="0"/>
        </a:xfrm>
      </p:grpSpPr>
      <p:sp>
        <p:nvSpPr>
          <p:cNvPr id="102" name="Google Shape;102;p36"/>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3" name="Google Shape;103;p36"/>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chemeClr val="dk1"/>
              </a:buClr>
              <a:buSzPts val="1865"/>
              <a:buFont typeface="Arial"/>
              <a:buNone/>
              <a:defRPr sz="1865"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4" name="Google Shape;104;p36"/>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05" name="Google Shape;105;p36"/>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1_Basic Layout">
  <p:cSld name="1_Basic Layout">
    <p:spTree>
      <p:nvGrpSpPr>
        <p:cNvPr id="1" name="Shape 106"/>
        <p:cNvGrpSpPr/>
        <p:nvPr/>
      </p:nvGrpSpPr>
      <p:grpSpPr>
        <a:xfrm>
          <a:off x="0" y="0"/>
          <a:ext cx="0" cy="0"/>
          <a:chOff x="0" y="0"/>
          <a:chExt cx="0" cy="0"/>
        </a:xfrm>
      </p:grpSpPr>
      <p:sp>
        <p:nvSpPr>
          <p:cNvPr id="107" name="Google Shape;107;p37"/>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8" name="Google Shape;108;p37"/>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9" name="Google Shape;109;p37"/>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10" name="Google Shape;110;p37"/>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2_Basic Layout">
  <p:cSld name="2_Basic Layout">
    <p:spTree>
      <p:nvGrpSpPr>
        <p:cNvPr id="1" name="Shape 111"/>
        <p:cNvGrpSpPr/>
        <p:nvPr/>
      </p:nvGrpSpPr>
      <p:grpSpPr>
        <a:xfrm>
          <a:off x="0" y="0"/>
          <a:ext cx="0" cy="0"/>
          <a:chOff x="0" y="0"/>
          <a:chExt cx="0" cy="0"/>
        </a:xfrm>
      </p:grpSpPr>
      <p:sp>
        <p:nvSpPr>
          <p:cNvPr id="112" name="Google Shape;112;p38"/>
          <p:cNvSpPr txBox="1">
            <a:spLocks noGrp="1"/>
          </p:cNvSpPr>
          <p:nvPr>
            <p:ph type="body" idx="1"/>
          </p:nvPr>
        </p:nvSpPr>
        <p:spPr>
          <a:xfrm>
            <a:off x="2735627" y="164638"/>
            <a:ext cx="9456373" cy="768085"/>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3" name="Google Shape;113;p38"/>
          <p:cNvSpPr txBox="1">
            <a:spLocks noGrp="1"/>
          </p:cNvSpPr>
          <p:nvPr>
            <p:ph type="body" idx="2"/>
          </p:nvPr>
        </p:nvSpPr>
        <p:spPr>
          <a:xfrm>
            <a:off x="2735627" y="932723"/>
            <a:ext cx="9456373" cy="384043"/>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4" name="Google Shape;114;p38"/>
          <p:cNvSpPr/>
          <p:nvPr/>
        </p:nvSpPr>
        <p:spPr>
          <a:xfrm>
            <a:off x="0" y="1"/>
            <a:ext cx="2543605" cy="686418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Images and Contents Layout">
  <p:cSld name="Images and Contents Layout">
    <p:spTree>
      <p:nvGrpSpPr>
        <p:cNvPr id="1" name="Shape 115"/>
        <p:cNvGrpSpPr/>
        <p:nvPr/>
      </p:nvGrpSpPr>
      <p:grpSpPr>
        <a:xfrm>
          <a:off x="0" y="0"/>
          <a:ext cx="0" cy="0"/>
          <a:chOff x="0" y="0"/>
          <a:chExt cx="0" cy="0"/>
        </a:xfrm>
      </p:grpSpPr>
      <p:sp>
        <p:nvSpPr>
          <p:cNvPr id="116" name="Google Shape;116;p39"/>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7" name="Google Shape;117;p39"/>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8" name="Google Shape;118;p39"/>
          <p:cNvSpPr/>
          <p:nvPr/>
        </p:nvSpPr>
        <p:spPr>
          <a:xfrm>
            <a:off x="0" y="2276872"/>
            <a:ext cx="12192000" cy="2400267"/>
          </a:xfrm>
          <a:prstGeom prst="rect">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19" name="Google Shape;119;p39"/>
          <p:cNvSpPr/>
          <p:nvPr/>
        </p:nvSpPr>
        <p:spPr>
          <a:xfrm rot="10800000">
            <a:off x="158339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0" name="Google Shape;120;p39"/>
          <p:cNvSpPr/>
          <p:nvPr/>
        </p:nvSpPr>
        <p:spPr>
          <a:xfrm rot="10800000">
            <a:off x="446371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1" name="Google Shape;121;p39"/>
          <p:cNvSpPr/>
          <p:nvPr/>
        </p:nvSpPr>
        <p:spPr>
          <a:xfrm rot="10800000">
            <a:off x="734403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2" name="Google Shape;122;p39"/>
          <p:cNvSpPr/>
          <p:nvPr/>
        </p:nvSpPr>
        <p:spPr>
          <a:xfrm rot="10800000">
            <a:off x="10224348"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3" name="Google Shape;123;p39"/>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4" name="Google Shape;124;p39"/>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5" name="Google Shape;125;p39"/>
          <p:cNvSpPr>
            <a:spLocks noGrp="1"/>
          </p:cNvSpPr>
          <p:nvPr>
            <p:ph type="pic" idx="3"/>
          </p:nvPr>
        </p:nvSpPr>
        <p:spPr>
          <a:xfrm>
            <a:off x="815413" y="2517005"/>
            <a:ext cx="1920000" cy="1920000"/>
          </a:xfrm>
          <a:prstGeom prst="ellipse">
            <a:avLst/>
          </a:prstGeom>
          <a:solidFill>
            <a:srgbClr val="F2F2F2"/>
          </a:solidFill>
          <a:ln>
            <a:noFill/>
          </a:ln>
        </p:spPr>
      </p:sp>
      <p:sp>
        <p:nvSpPr>
          <p:cNvPr id="126" name="Google Shape;126;p39"/>
          <p:cNvSpPr>
            <a:spLocks noGrp="1"/>
          </p:cNvSpPr>
          <p:nvPr>
            <p:ph type="pic" idx="4"/>
          </p:nvPr>
        </p:nvSpPr>
        <p:spPr>
          <a:xfrm>
            <a:off x="3695732" y="2517005"/>
            <a:ext cx="1920000" cy="1920000"/>
          </a:xfrm>
          <a:prstGeom prst="ellipse">
            <a:avLst/>
          </a:prstGeom>
          <a:solidFill>
            <a:srgbClr val="F2F2F2"/>
          </a:solidFill>
          <a:ln>
            <a:noFill/>
          </a:ln>
        </p:spPr>
      </p:sp>
      <p:sp>
        <p:nvSpPr>
          <p:cNvPr id="127" name="Google Shape;127;p39"/>
          <p:cNvSpPr>
            <a:spLocks noGrp="1"/>
          </p:cNvSpPr>
          <p:nvPr>
            <p:ph type="pic" idx="5"/>
          </p:nvPr>
        </p:nvSpPr>
        <p:spPr>
          <a:xfrm>
            <a:off x="6576051" y="2517005"/>
            <a:ext cx="1920000" cy="1920000"/>
          </a:xfrm>
          <a:prstGeom prst="ellipse">
            <a:avLst/>
          </a:prstGeom>
          <a:solidFill>
            <a:srgbClr val="F2F2F2"/>
          </a:solidFill>
          <a:ln>
            <a:noFill/>
          </a:ln>
        </p:spPr>
      </p:sp>
      <p:sp>
        <p:nvSpPr>
          <p:cNvPr id="128" name="Google Shape;128;p39"/>
          <p:cNvSpPr>
            <a:spLocks noGrp="1"/>
          </p:cNvSpPr>
          <p:nvPr>
            <p:ph type="pic" idx="6"/>
          </p:nvPr>
        </p:nvSpPr>
        <p:spPr>
          <a:xfrm>
            <a:off x="9456369" y="2517005"/>
            <a:ext cx="1920000" cy="1920000"/>
          </a:xfrm>
          <a:prstGeom prst="ellipse">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1_Images and Contents Layout">
  <p:cSld name="1_Images and Contents Layout">
    <p:spTree>
      <p:nvGrpSpPr>
        <p:cNvPr id="1" name="Shape 129"/>
        <p:cNvGrpSpPr/>
        <p:nvPr/>
      </p:nvGrpSpPr>
      <p:grpSpPr>
        <a:xfrm>
          <a:off x="0" y="0"/>
          <a:ext cx="0" cy="0"/>
          <a:chOff x="0" y="0"/>
          <a:chExt cx="0" cy="0"/>
        </a:xfrm>
      </p:grpSpPr>
      <p:sp>
        <p:nvSpPr>
          <p:cNvPr id="130" name="Google Shape;130;p40"/>
          <p:cNvSpPr/>
          <p:nvPr/>
        </p:nvSpPr>
        <p:spPr>
          <a:xfrm>
            <a:off x="5231904" y="2276872"/>
            <a:ext cx="5711957" cy="3936437"/>
          </a:xfrm>
          <a:prstGeom prst="rect">
            <a:avLst/>
          </a:prstGeom>
          <a:solidFill>
            <a:srgbClr val="F2F2F2"/>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3F3F3F"/>
              </a:solidFill>
              <a:latin typeface="Arial"/>
              <a:ea typeface="Arial"/>
              <a:cs typeface="Arial"/>
              <a:sym typeface="Arial"/>
            </a:endParaRPr>
          </a:p>
        </p:txBody>
      </p:sp>
      <p:sp>
        <p:nvSpPr>
          <p:cNvPr id="131" name="Google Shape;131;p40"/>
          <p:cNvSpPr>
            <a:spLocks noGrp="1"/>
          </p:cNvSpPr>
          <p:nvPr>
            <p:ph type="pic" idx="2"/>
          </p:nvPr>
        </p:nvSpPr>
        <p:spPr>
          <a:xfrm>
            <a:off x="1103445" y="1412776"/>
            <a:ext cx="4560000" cy="3696000"/>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2_Images and Contents Layout">
  <p:cSld name="2_Images and Contents Layout">
    <p:spTree>
      <p:nvGrpSpPr>
        <p:cNvPr id="1" name="Shape 132"/>
        <p:cNvGrpSpPr/>
        <p:nvPr/>
      </p:nvGrpSpPr>
      <p:grpSpPr>
        <a:xfrm>
          <a:off x="0" y="0"/>
          <a:ext cx="0" cy="0"/>
          <a:chOff x="0" y="0"/>
          <a:chExt cx="0" cy="0"/>
        </a:xfrm>
      </p:grpSpPr>
      <p:sp>
        <p:nvSpPr>
          <p:cNvPr id="133" name="Google Shape;133;p41"/>
          <p:cNvSpPr>
            <a:spLocks noGrp="1"/>
          </p:cNvSpPr>
          <p:nvPr>
            <p:ph type="pic" idx="2"/>
          </p:nvPr>
        </p:nvSpPr>
        <p:spPr>
          <a:xfrm>
            <a:off x="0" y="990600"/>
            <a:ext cx="3887755" cy="5867400"/>
          </a:xfrm>
          <a:prstGeom prst="rect">
            <a:avLst/>
          </a:prstGeom>
          <a:solidFill>
            <a:srgbClr val="F2F2F2"/>
          </a:solidFill>
          <a:ln>
            <a:noFill/>
          </a:ln>
        </p:spPr>
      </p:sp>
      <p:sp>
        <p:nvSpPr>
          <p:cNvPr id="134" name="Google Shape;134;p41"/>
          <p:cNvSpPr>
            <a:spLocks noGrp="1"/>
          </p:cNvSpPr>
          <p:nvPr>
            <p:ph type="pic" idx="3"/>
          </p:nvPr>
        </p:nvSpPr>
        <p:spPr>
          <a:xfrm>
            <a:off x="4079776" y="0"/>
            <a:ext cx="8112224" cy="3621021"/>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3_Images and Contents Layout">
  <p:cSld name="3_Images and Contents Layout">
    <p:spTree>
      <p:nvGrpSpPr>
        <p:cNvPr id="1" name="Shape 135"/>
        <p:cNvGrpSpPr/>
        <p:nvPr/>
      </p:nvGrpSpPr>
      <p:grpSpPr>
        <a:xfrm>
          <a:off x="0" y="0"/>
          <a:ext cx="0" cy="0"/>
          <a:chOff x="0" y="0"/>
          <a:chExt cx="0" cy="0"/>
        </a:xfrm>
      </p:grpSpPr>
      <p:sp>
        <p:nvSpPr>
          <p:cNvPr id="136" name="Google Shape;136;p42"/>
          <p:cNvSpPr>
            <a:spLocks noGrp="1"/>
          </p:cNvSpPr>
          <p:nvPr>
            <p:ph type="pic" idx="2"/>
          </p:nvPr>
        </p:nvSpPr>
        <p:spPr>
          <a:xfrm>
            <a:off x="0" y="1013496"/>
            <a:ext cx="3887755" cy="3567632"/>
          </a:xfrm>
          <a:prstGeom prst="rect">
            <a:avLst/>
          </a:prstGeom>
          <a:solidFill>
            <a:srgbClr val="F2F2F2"/>
          </a:solidFill>
          <a:ln>
            <a:noFill/>
          </a:ln>
        </p:spPr>
      </p:sp>
      <p:sp>
        <p:nvSpPr>
          <p:cNvPr id="137" name="Google Shape;137;p42"/>
          <p:cNvSpPr>
            <a:spLocks noGrp="1"/>
          </p:cNvSpPr>
          <p:nvPr>
            <p:ph type="pic" idx="3"/>
          </p:nvPr>
        </p:nvSpPr>
        <p:spPr>
          <a:xfrm>
            <a:off x="8304245" y="0"/>
            <a:ext cx="3887755" cy="4581128"/>
          </a:xfrm>
          <a:prstGeom prst="rect">
            <a:avLst/>
          </a:prstGeom>
          <a:solidFill>
            <a:srgbClr val="F2F2F2"/>
          </a:solidFill>
          <a:ln>
            <a:noFill/>
          </a:ln>
        </p:spPr>
      </p:sp>
      <p:sp>
        <p:nvSpPr>
          <p:cNvPr id="138" name="Google Shape;138;p42"/>
          <p:cNvSpPr>
            <a:spLocks noGrp="1"/>
          </p:cNvSpPr>
          <p:nvPr>
            <p:ph type="pic" idx="4"/>
          </p:nvPr>
        </p:nvSpPr>
        <p:spPr>
          <a:xfrm>
            <a:off x="0" y="4773149"/>
            <a:ext cx="6096000" cy="2084851"/>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4_Images and Contents Layout">
  <p:cSld name="4_Images and Contents Layout">
    <p:spTree>
      <p:nvGrpSpPr>
        <p:cNvPr id="1" name="Shape 139"/>
        <p:cNvGrpSpPr/>
        <p:nvPr/>
      </p:nvGrpSpPr>
      <p:grpSpPr>
        <a:xfrm>
          <a:off x="0" y="0"/>
          <a:ext cx="0" cy="0"/>
          <a:chOff x="0" y="0"/>
          <a:chExt cx="0" cy="0"/>
        </a:xfrm>
      </p:grpSpPr>
      <p:sp>
        <p:nvSpPr>
          <p:cNvPr id="140" name="Google Shape;140;p43"/>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41" name="Google Shape;141;p43"/>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42" name="Google Shape;142;p43"/>
          <p:cNvSpPr/>
          <p:nvPr/>
        </p:nvSpPr>
        <p:spPr>
          <a:xfrm>
            <a:off x="595027" y="4101331"/>
            <a:ext cx="2400000" cy="2304000"/>
          </a:xfrm>
          <a:prstGeom prst="rect">
            <a:avLst/>
          </a:prstGeom>
          <a:solidFill>
            <a:schemeClr val="accent2"/>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1600">
              <a:solidFill>
                <a:srgbClr val="3F3F3F"/>
              </a:solidFill>
              <a:latin typeface="Arial"/>
              <a:ea typeface="Arial"/>
              <a:cs typeface="Arial"/>
              <a:sym typeface="Arial"/>
            </a:endParaRPr>
          </a:p>
        </p:txBody>
      </p:sp>
      <p:sp>
        <p:nvSpPr>
          <p:cNvPr id="143" name="Google Shape;143;p43"/>
          <p:cNvSpPr/>
          <p:nvPr/>
        </p:nvSpPr>
        <p:spPr>
          <a:xfrm>
            <a:off x="9196973" y="1700808"/>
            <a:ext cx="2400000" cy="2304000"/>
          </a:xfrm>
          <a:prstGeom prst="rect">
            <a:avLst/>
          </a:prstGeom>
          <a:solidFill>
            <a:schemeClr val="accent3"/>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1600">
              <a:solidFill>
                <a:srgbClr val="3F3F3F"/>
              </a:solidFill>
              <a:latin typeface="Arial"/>
              <a:ea typeface="Arial"/>
              <a:cs typeface="Arial"/>
              <a:sym typeface="Arial"/>
            </a:endParaRPr>
          </a:p>
        </p:txBody>
      </p:sp>
      <p:sp>
        <p:nvSpPr>
          <p:cNvPr id="144" name="Google Shape;144;p43"/>
          <p:cNvSpPr>
            <a:spLocks noGrp="1"/>
          </p:cNvSpPr>
          <p:nvPr>
            <p:ph type="pic" idx="3"/>
          </p:nvPr>
        </p:nvSpPr>
        <p:spPr>
          <a:xfrm>
            <a:off x="595027" y="1700808"/>
            <a:ext cx="2400000" cy="2304000"/>
          </a:xfrm>
          <a:prstGeom prst="rect">
            <a:avLst/>
          </a:prstGeom>
          <a:solidFill>
            <a:srgbClr val="F2F2F2"/>
          </a:solidFill>
          <a:ln>
            <a:noFill/>
          </a:ln>
        </p:spPr>
      </p:sp>
      <p:sp>
        <p:nvSpPr>
          <p:cNvPr id="145" name="Google Shape;145;p43"/>
          <p:cNvSpPr>
            <a:spLocks noGrp="1"/>
          </p:cNvSpPr>
          <p:nvPr>
            <p:ph type="pic" idx="4"/>
          </p:nvPr>
        </p:nvSpPr>
        <p:spPr>
          <a:xfrm>
            <a:off x="9196973" y="4101331"/>
            <a:ext cx="2400000" cy="2304000"/>
          </a:xfrm>
          <a:prstGeom prst="rect">
            <a:avLst/>
          </a:prstGeom>
          <a:solidFill>
            <a:srgbClr val="F2F2F2"/>
          </a:solidFill>
          <a:ln>
            <a:noFill/>
          </a:ln>
        </p:spPr>
      </p:sp>
      <p:sp>
        <p:nvSpPr>
          <p:cNvPr id="146" name="Google Shape;146;p43"/>
          <p:cNvSpPr>
            <a:spLocks noGrp="1"/>
          </p:cNvSpPr>
          <p:nvPr>
            <p:ph type="pic" idx="5"/>
          </p:nvPr>
        </p:nvSpPr>
        <p:spPr>
          <a:xfrm>
            <a:off x="3119669" y="4101331"/>
            <a:ext cx="5952663" cy="2304000"/>
          </a:xfrm>
          <a:prstGeom prst="rect">
            <a:avLst/>
          </a:prstGeom>
          <a:solidFill>
            <a:srgbClr val="F2F2F2"/>
          </a:solidFill>
          <a:ln>
            <a:noFill/>
          </a:ln>
        </p:spPr>
      </p:sp>
      <p:sp>
        <p:nvSpPr>
          <p:cNvPr id="147" name="Google Shape;147;p43"/>
          <p:cNvSpPr>
            <a:spLocks noGrp="1"/>
          </p:cNvSpPr>
          <p:nvPr>
            <p:ph type="pic" idx="6"/>
          </p:nvPr>
        </p:nvSpPr>
        <p:spPr>
          <a:xfrm>
            <a:off x="3119669" y="1700808"/>
            <a:ext cx="5952663" cy="2304000"/>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5_Images and Contents Layout">
  <p:cSld name="5_Images and Contents Layout">
    <p:spTree>
      <p:nvGrpSpPr>
        <p:cNvPr id="1" name="Shape 148"/>
        <p:cNvGrpSpPr/>
        <p:nvPr/>
      </p:nvGrpSpPr>
      <p:grpSpPr>
        <a:xfrm>
          <a:off x="0" y="0"/>
          <a:ext cx="0" cy="0"/>
          <a:chOff x="0" y="0"/>
          <a:chExt cx="0" cy="0"/>
        </a:xfrm>
      </p:grpSpPr>
      <p:sp>
        <p:nvSpPr>
          <p:cNvPr id="149" name="Google Shape;149;p44"/>
          <p:cNvSpPr>
            <a:spLocks noGrp="1"/>
          </p:cNvSpPr>
          <p:nvPr>
            <p:ph type="pic" idx="2"/>
          </p:nvPr>
        </p:nvSpPr>
        <p:spPr>
          <a:xfrm>
            <a:off x="709650" y="480055"/>
            <a:ext cx="4224469" cy="4197085"/>
          </a:xfrm>
          <a:prstGeom prst="rect">
            <a:avLst/>
          </a:prstGeom>
          <a:solidFill>
            <a:srgbClr val="F2F2F2"/>
          </a:solidFill>
          <a:ln>
            <a:noFill/>
          </a:ln>
        </p:spPr>
      </p:sp>
      <p:sp>
        <p:nvSpPr>
          <p:cNvPr id="150" name="Google Shape;150;p44"/>
          <p:cNvSpPr>
            <a:spLocks noGrp="1"/>
          </p:cNvSpPr>
          <p:nvPr>
            <p:ph type="pic" idx="3"/>
          </p:nvPr>
        </p:nvSpPr>
        <p:spPr>
          <a:xfrm>
            <a:off x="5126140" y="480056"/>
            <a:ext cx="6336704" cy="2296105"/>
          </a:xfrm>
          <a:prstGeom prst="rect">
            <a:avLst/>
          </a:prstGeom>
          <a:solidFill>
            <a:srgbClr val="F2F2F2"/>
          </a:solidFill>
          <a:ln>
            <a:noFill/>
          </a:ln>
        </p:spPr>
      </p:sp>
      <p:sp>
        <p:nvSpPr>
          <p:cNvPr id="151" name="Google Shape;151;p44"/>
          <p:cNvSpPr>
            <a:spLocks noGrp="1"/>
          </p:cNvSpPr>
          <p:nvPr>
            <p:ph type="pic" idx="4"/>
          </p:nvPr>
        </p:nvSpPr>
        <p:spPr>
          <a:xfrm>
            <a:off x="5126140" y="2948948"/>
            <a:ext cx="1968000" cy="1728192"/>
          </a:xfrm>
          <a:prstGeom prst="rect">
            <a:avLst/>
          </a:prstGeom>
          <a:solidFill>
            <a:srgbClr val="F2F2F2"/>
          </a:solidFill>
          <a:ln>
            <a:noFill/>
          </a:ln>
        </p:spPr>
      </p:sp>
      <p:sp>
        <p:nvSpPr>
          <p:cNvPr id="152" name="Google Shape;152;p44"/>
          <p:cNvSpPr>
            <a:spLocks noGrp="1"/>
          </p:cNvSpPr>
          <p:nvPr>
            <p:ph type="pic" idx="5"/>
          </p:nvPr>
        </p:nvSpPr>
        <p:spPr>
          <a:xfrm>
            <a:off x="7310492" y="2948948"/>
            <a:ext cx="1968000" cy="1728192"/>
          </a:xfrm>
          <a:prstGeom prst="rect">
            <a:avLst/>
          </a:prstGeom>
          <a:solidFill>
            <a:srgbClr val="F2F2F2"/>
          </a:solidFill>
          <a:ln>
            <a:noFill/>
          </a:ln>
        </p:spPr>
      </p:sp>
      <p:sp>
        <p:nvSpPr>
          <p:cNvPr id="153" name="Google Shape;153;p44"/>
          <p:cNvSpPr>
            <a:spLocks noGrp="1"/>
          </p:cNvSpPr>
          <p:nvPr>
            <p:ph type="pic" idx="6"/>
          </p:nvPr>
        </p:nvSpPr>
        <p:spPr>
          <a:xfrm>
            <a:off x="9494844" y="2948948"/>
            <a:ext cx="1968000" cy="1728192"/>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7_Images and Contents Layout">
  <p:cSld name="7_Images and Contents Layout">
    <p:spTree>
      <p:nvGrpSpPr>
        <p:cNvPr id="1" name="Shape 154"/>
        <p:cNvGrpSpPr/>
        <p:nvPr/>
      </p:nvGrpSpPr>
      <p:grpSpPr>
        <a:xfrm>
          <a:off x="0" y="0"/>
          <a:ext cx="0" cy="0"/>
          <a:chOff x="0" y="0"/>
          <a:chExt cx="0" cy="0"/>
        </a:xfrm>
      </p:grpSpPr>
      <p:sp>
        <p:nvSpPr>
          <p:cNvPr id="155" name="Google Shape;155;p45"/>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56" name="Google Shape;156;p45"/>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pic>
        <p:nvPicPr>
          <p:cNvPr id="157" name="Google Shape;157;p45"/>
          <p:cNvPicPr preferRelativeResize="0"/>
          <p:nvPr/>
        </p:nvPicPr>
        <p:blipFill rotWithShape="1">
          <a:blip r:embed="rId2">
            <a:alphaModFix/>
          </a:blip>
          <a:srcRect/>
          <a:stretch/>
        </p:blipFill>
        <p:spPr>
          <a:xfrm>
            <a:off x="4546767" y="2276873"/>
            <a:ext cx="7238124" cy="3966041"/>
          </a:xfrm>
          <a:prstGeom prst="rect">
            <a:avLst/>
          </a:prstGeom>
          <a:noFill/>
          <a:ln>
            <a:noFill/>
          </a:ln>
        </p:spPr>
      </p:pic>
      <p:sp>
        <p:nvSpPr>
          <p:cNvPr id="158" name="Google Shape;158;p45"/>
          <p:cNvSpPr>
            <a:spLocks noGrp="1"/>
          </p:cNvSpPr>
          <p:nvPr>
            <p:ph type="pic" idx="3"/>
          </p:nvPr>
        </p:nvSpPr>
        <p:spPr>
          <a:xfrm>
            <a:off x="5705875" y="2485912"/>
            <a:ext cx="4832891" cy="3124239"/>
          </a:xfrm>
          <a:prstGeom prst="rect">
            <a:avLst/>
          </a:prstGeom>
          <a:solidFill>
            <a:srgbClr val="F2F2F2"/>
          </a:solidFill>
          <a:ln>
            <a:noFill/>
          </a:ln>
        </p:spPr>
      </p:sp>
      <p:sp>
        <p:nvSpPr>
          <p:cNvPr id="159" name="Google Shape;159;p45"/>
          <p:cNvSpPr/>
          <p:nvPr/>
        </p:nvSpPr>
        <p:spPr>
          <a:xfrm>
            <a:off x="4037371" y="1"/>
            <a:ext cx="4128459" cy="60959"/>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60" name="Google Shape;160;p45"/>
          <p:cNvSpPr/>
          <p:nvPr/>
        </p:nvSpPr>
        <p:spPr>
          <a:xfrm>
            <a:off x="0" y="6753308"/>
            <a:ext cx="12192000" cy="110875"/>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8_Images and Contents Layout">
  <p:cSld name="8_Images and Contents Layout">
    <p:spTree>
      <p:nvGrpSpPr>
        <p:cNvPr id="1" name="Shape 161"/>
        <p:cNvGrpSpPr/>
        <p:nvPr/>
      </p:nvGrpSpPr>
      <p:grpSpPr>
        <a:xfrm>
          <a:off x="0" y="0"/>
          <a:ext cx="0" cy="0"/>
          <a:chOff x="0" y="0"/>
          <a:chExt cx="0" cy="0"/>
        </a:xfrm>
      </p:grpSpPr>
      <p:sp>
        <p:nvSpPr>
          <p:cNvPr id="162" name="Google Shape;162;p46"/>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63" name="Google Shape;163;p46"/>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pic>
        <p:nvPicPr>
          <p:cNvPr id="164" name="Google Shape;164;p46" descr="D:\Fullppt\005-PNG이미지\모니터.png"/>
          <p:cNvPicPr preferRelativeResize="0"/>
          <p:nvPr/>
        </p:nvPicPr>
        <p:blipFill rotWithShape="1">
          <a:blip r:embed="rId2">
            <a:alphaModFix/>
          </a:blip>
          <a:srcRect/>
          <a:stretch/>
        </p:blipFill>
        <p:spPr>
          <a:xfrm>
            <a:off x="776400" y="1815747"/>
            <a:ext cx="3360373" cy="3350541"/>
          </a:xfrm>
          <a:prstGeom prst="rect">
            <a:avLst/>
          </a:prstGeom>
          <a:noFill/>
          <a:ln>
            <a:noFill/>
          </a:ln>
        </p:spPr>
      </p:pic>
      <p:pic>
        <p:nvPicPr>
          <p:cNvPr id="165" name="Google Shape;165;p46" descr="D:\Fullppt\005-PNG이미지\모니터.png"/>
          <p:cNvPicPr preferRelativeResize="0"/>
          <p:nvPr/>
        </p:nvPicPr>
        <p:blipFill rotWithShape="1">
          <a:blip r:embed="rId2">
            <a:alphaModFix/>
          </a:blip>
          <a:srcRect/>
          <a:stretch/>
        </p:blipFill>
        <p:spPr>
          <a:xfrm>
            <a:off x="4406826" y="1815747"/>
            <a:ext cx="3360373" cy="3350541"/>
          </a:xfrm>
          <a:prstGeom prst="rect">
            <a:avLst/>
          </a:prstGeom>
          <a:noFill/>
          <a:ln>
            <a:noFill/>
          </a:ln>
        </p:spPr>
      </p:pic>
      <p:pic>
        <p:nvPicPr>
          <p:cNvPr id="166" name="Google Shape;166;p46" descr="D:\Fullppt\005-PNG이미지\모니터.png"/>
          <p:cNvPicPr preferRelativeResize="0"/>
          <p:nvPr/>
        </p:nvPicPr>
        <p:blipFill rotWithShape="1">
          <a:blip r:embed="rId2">
            <a:alphaModFix/>
          </a:blip>
          <a:srcRect/>
          <a:stretch/>
        </p:blipFill>
        <p:spPr>
          <a:xfrm>
            <a:off x="8037251" y="1815747"/>
            <a:ext cx="3360373" cy="3350541"/>
          </a:xfrm>
          <a:prstGeom prst="rect">
            <a:avLst/>
          </a:prstGeom>
          <a:noFill/>
          <a:ln>
            <a:noFill/>
          </a:ln>
        </p:spPr>
      </p:pic>
      <p:sp>
        <p:nvSpPr>
          <p:cNvPr id="167" name="Google Shape;167;p46"/>
          <p:cNvSpPr>
            <a:spLocks noGrp="1"/>
          </p:cNvSpPr>
          <p:nvPr>
            <p:ph type="pic" idx="3"/>
          </p:nvPr>
        </p:nvSpPr>
        <p:spPr>
          <a:xfrm>
            <a:off x="909901" y="1957962"/>
            <a:ext cx="3073864" cy="2080028"/>
          </a:xfrm>
          <a:prstGeom prst="rect">
            <a:avLst/>
          </a:prstGeom>
          <a:solidFill>
            <a:srgbClr val="F2F2F2"/>
          </a:solidFill>
          <a:ln>
            <a:noFill/>
          </a:ln>
        </p:spPr>
      </p:sp>
      <p:sp>
        <p:nvSpPr>
          <p:cNvPr id="168" name="Google Shape;168;p46"/>
          <p:cNvSpPr>
            <a:spLocks noGrp="1"/>
          </p:cNvSpPr>
          <p:nvPr>
            <p:ph type="pic" idx="4"/>
          </p:nvPr>
        </p:nvSpPr>
        <p:spPr>
          <a:xfrm>
            <a:off x="4539561" y="1957962"/>
            <a:ext cx="3073864" cy="2080028"/>
          </a:xfrm>
          <a:prstGeom prst="rect">
            <a:avLst/>
          </a:prstGeom>
          <a:solidFill>
            <a:srgbClr val="F2F2F2"/>
          </a:solidFill>
          <a:ln>
            <a:noFill/>
          </a:ln>
        </p:spPr>
      </p:sp>
      <p:sp>
        <p:nvSpPr>
          <p:cNvPr id="169" name="Google Shape;169;p46"/>
          <p:cNvSpPr>
            <a:spLocks noGrp="1"/>
          </p:cNvSpPr>
          <p:nvPr>
            <p:ph type="pic" idx="5"/>
          </p:nvPr>
        </p:nvSpPr>
        <p:spPr>
          <a:xfrm>
            <a:off x="8169221" y="1957962"/>
            <a:ext cx="3073864" cy="2080028"/>
          </a:xfrm>
          <a:prstGeom prst="rect">
            <a:avLst/>
          </a:prstGeom>
          <a:solidFill>
            <a:srgbClr val="F2F2F2"/>
          </a:solidFill>
          <a:ln>
            <a:noFill/>
          </a:ln>
        </p:spPr>
      </p:sp>
      <p:sp>
        <p:nvSpPr>
          <p:cNvPr id="170" name="Google Shape;170;p46"/>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1" name="Google Shape;171;p46"/>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9_Images and Contents Layout">
  <p:cSld name="9_Images and Contents Layout">
    <p:spTree>
      <p:nvGrpSpPr>
        <p:cNvPr id="1" name="Shape 172"/>
        <p:cNvGrpSpPr/>
        <p:nvPr/>
      </p:nvGrpSpPr>
      <p:grpSpPr>
        <a:xfrm>
          <a:off x="0" y="0"/>
          <a:ext cx="0" cy="0"/>
          <a:chOff x="0" y="0"/>
          <a:chExt cx="0" cy="0"/>
        </a:xfrm>
      </p:grpSpPr>
      <p:sp>
        <p:nvSpPr>
          <p:cNvPr id="173" name="Google Shape;173;p47"/>
          <p:cNvSpPr>
            <a:spLocks noGrp="1"/>
          </p:cNvSpPr>
          <p:nvPr>
            <p:ph type="pic" idx="2"/>
          </p:nvPr>
        </p:nvSpPr>
        <p:spPr>
          <a:xfrm>
            <a:off x="0" y="0"/>
            <a:ext cx="12192000" cy="4101075"/>
          </a:xfrm>
          <a:prstGeom prst="rect">
            <a:avLst/>
          </a:prstGeom>
          <a:solidFill>
            <a:srgbClr val="D8D8D8"/>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icon sets layout">
  <p:cSld name="icon sets layout">
    <p:spTree>
      <p:nvGrpSpPr>
        <p:cNvPr id="1" name="Shape 174"/>
        <p:cNvGrpSpPr/>
        <p:nvPr/>
      </p:nvGrpSpPr>
      <p:grpSpPr>
        <a:xfrm>
          <a:off x="0" y="0"/>
          <a:ext cx="0" cy="0"/>
          <a:chOff x="0" y="0"/>
          <a:chExt cx="0" cy="0"/>
        </a:xfrm>
      </p:grpSpPr>
      <p:sp>
        <p:nvSpPr>
          <p:cNvPr id="175" name="Google Shape;175;p48"/>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grpSp>
        <p:nvGrpSpPr>
          <p:cNvPr id="176" name="Google Shape;176;p48"/>
          <p:cNvGrpSpPr/>
          <p:nvPr/>
        </p:nvGrpSpPr>
        <p:grpSpPr>
          <a:xfrm>
            <a:off x="472011" y="1508786"/>
            <a:ext cx="3799787" cy="4865561"/>
            <a:chOff x="354008" y="1131589"/>
            <a:chExt cx="2849840" cy="3649171"/>
          </a:xfrm>
        </p:grpSpPr>
        <p:sp>
          <p:nvSpPr>
            <p:cNvPr id="177" name="Google Shape;177;p48"/>
            <p:cNvSpPr/>
            <p:nvPr/>
          </p:nvSpPr>
          <p:spPr>
            <a:xfrm>
              <a:off x="354008" y="1131589"/>
              <a:ext cx="2849840" cy="364917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8" name="Google Shape;178;p48"/>
            <p:cNvSpPr/>
            <p:nvPr/>
          </p:nvSpPr>
          <p:spPr>
            <a:xfrm>
              <a:off x="531932" y="1347500"/>
              <a:ext cx="108520" cy="3240473"/>
            </a:xfrm>
            <a:prstGeom prst="roundRect">
              <a:avLst>
                <a:gd name="adj" fmla="val 50000"/>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9" name="Google Shape;179;p48"/>
            <p:cNvSpPr/>
            <p:nvPr/>
          </p:nvSpPr>
          <p:spPr>
            <a:xfrm rot="5400000">
              <a:off x="2592642" y="1238201"/>
              <a:ext cx="502331" cy="502331"/>
            </a:xfrm>
            <a:prstGeom prst="halfFrame">
              <a:avLst>
                <a:gd name="adj1" fmla="val 23728"/>
                <a:gd name="adj2" fmla="val 24642"/>
              </a:avLst>
            </a:prstGeom>
            <a:solidFill>
              <a:schemeClr val="lt1">
                <a:alpha val="2274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6"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83"/>
        <p:cNvGrpSpPr/>
        <p:nvPr/>
      </p:nvGrpSpPr>
      <p:grpSpPr>
        <a:xfrm>
          <a:off x="0" y="0"/>
          <a:ext cx="0" cy="0"/>
          <a:chOff x="0" y="0"/>
          <a:chExt cx="0" cy="0"/>
        </a:xfrm>
      </p:grpSpPr>
      <p:sp>
        <p:nvSpPr>
          <p:cNvPr id="184" name="Google Shape;184;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5" name="Google Shape;185;p1"/>
          <p:cNvSpPr txBox="1">
            <a:spLocks noGrp="1"/>
          </p:cNvSpPr>
          <p:nvPr>
            <p:ph type="subTitle" idx="1"/>
          </p:nvPr>
        </p:nvSpPr>
        <p:spPr>
          <a:xfrm>
            <a:off x="562662" y="4891470"/>
            <a:ext cx="4156822" cy="123659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b="1">
                <a:latin typeface="Times New Roman"/>
                <a:ea typeface="Times New Roman"/>
                <a:cs typeface="Times New Roman"/>
                <a:sym typeface="Times New Roman"/>
              </a:rPr>
              <a:t>DR. GITANJALI</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E16525</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ASSISTANT PROFESSOR</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CSE </a:t>
            </a:r>
            <a:endParaRPr/>
          </a:p>
        </p:txBody>
      </p:sp>
      <p:sp>
        <p:nvSpPr>
          <p:cNvPr id="186" name="Google Shape;186;p1"/>
          <p:cNvSpPr/>
          <p:nvPr/>
        </p:nvSpPr>
        <p:spPr>
          <a:xfrm flipH="1">
            <a:off x="9344623" y="4901508"/>
            <a:ext cx="2466377" cy="1712909"/>
          </a:xfrm>
          <a:prstGeom prst="rtTriangle">
            <a:avLst/>
          </a:prstGeom>
          <a:solidFill>
            <a:srgbClr val="C00000"/>
          </a:solidFill>
          <a:ln>
            <a:noFill/>
          </a:ln>
        </p:spPr>
        <p:txBody>
          <a:bodyPr spcFirstLastPara="1" wrap="square" lIns="75575" tIns="37775" rIns="75575" bIns="37775" anchor="ctr" anchorCtr="0">
            <a:noAutofit/>
          </a:bodyPr>
          <a:lstStyle/>
          <a:p>
            <a:pPr marL="0" marR="0" lvl="0" indent="0" algn="ctr" rtl="0">
              <a:spcBef>
                <a:spcPts val="0"/>
              </a:spcBef>
              <a:spcAft>
                <a:spcPts val="0"/>
              </a:spcAft>
              <a:buNone/>
            </a:pPr>
            <a:endParaRPr sz="1488" b="0" i="0" u="none" strike="noStrike" cap="none">
              <a:solidFill>
                <a:schemeClr val="lt1"/>
              </a:solidFill>
              <a:latin typeface="Calibri"/>
              <a:ea typeface="Calibri"/>
              <a:cs typeface="Calibri"/>
              <a:sym typeface="Calibri"/>
            </a:endParaRPr>
          </a:p>
        </p:txBody>
      </p:sp>
      <p:sp>
        <p:nvSpPr>
          <p:cNvPr id="187" name="Google Shape;187;p1"/>
          <p:cNvSpPr txBox="1"/>
          <p:nvPr/>
        </p:nvSpPr>
        <p:spPr>
          <a:xfrm>
            <a:off x="7158646" y="5490468"/>
            <a:ext cx="4075113" cy="534988"/>
          </a:xfrm>
          <a:prstGeom prst="rect">
            <a:avLst/>
          </a:prstGeom>
          <a:noFill/>
          <a:ln>
            <a:noFill/>
          </a:ln>
        </p:spPr>
        <p:txBody>
          <a:bodyPr spcFirstLastPara="1" wrap="square" lIns="75575" tIns="37775" rIns="75575" bIns="37775" anchor="t" anchorCtr="0">
            <a:spAutoFit/>
          </a:bodyPr>
          <a:lstStyle/>
          <a:p>
            <a:pPr marL="0" marR="0" lvl="0" indent="0" algn="l" rtl="0">
              <a:spcBef>
                <a:spcPts val="0"/>
              </a:spcBef>
              <a:spcAft>
                <a:spcPts val="0"/>
              </a:spcAft>
              <a:buNone/>
            </a:pPr>
            <a:r>
              <a:rPr lang="en-US" sz="1653" b="1" i="0" u="none" strike="noStrike" cap="none">
                <a:solidFill>
                  <a:srgbClr val="595959"/>
                </a:solidFill>
                <a:latin typeface="Arial"/>
                <a:ea typeface="Arial"/>
                <a:cs typeface="Arial"/>
                <a:sym typeface="Arial"/>
              </a:rPr>
              <a:t>DISCOVER . </a:t>
            </a:r>
            <a:r>
              <a:rPr lang="en-US" sz="1653" b="1" i="0" u="none" strike="noStrike" cap="none">
                <a:solidFill>
                  <a:srgbClr val="C00000"/>
                </a:solidFill>
                <a:latin typeface="Arial"/>
                <a:ea typeface="Arial"/>
                <a:cs typeface="Arial"/>
                <a:sym typeface="Arial"/>
              </a:rPr>
              <a:t>LEARN</a:t>
            </a:r>
            <a:r>
              <a:rPr lang="en-US" sz="1653" b="1" i="0" u="none" strike="noStrike" cap="none">
                <a:solidFill>
                  <a:srgbClr val="595959"/>
                </a:solidFill>
                <a:latin typeface="Arial"/>
                <a:ea typeface="Arial"/>
                <a:cs typeface="Arial"/>
                <a:sym typeface="Arial"/>
              </a:rPr>
              <a:t> . EMPOWER</a:t>
            </a:r>
            <a:endParaRPr sz="992" b="1" i="0" u="none" strike="noStrike" cap="none">
              <a:solidFill>
                <a:srgbClr val="000000"/>
              </a:solidFill>
              <a:latin typeface="Arial"/>
              <a:ea typeface="Arial"/>
              <a:cs typeface="Arial"/>
              <a:sym typeface="Arial"/>
            </a:endParaRPr>
          </a:p>
          <a:p>
            <a:pPr marL="0" marR="0" lvl="0" indent="0" algn="l" rtl="0">
              <a:spcBef>
                <a:spcPts val="0"/>
              </a:spcBef>
              <a:spcAft>
                <a:spcPts val="0"/>
              </a:spcAft>
              <a:buNone/>
            </a:pPr>
            <a:endParaRPr sz="1323" b="1" i="0" u="none" strike="noStrike" cap="none">
              <a:solidFill>
                <a:schemeClr val="dk1"/>
              </a:solidFill>
              <a:latin typeface="Arial"/>
              <a:ea typeface="Arial"/>
              <a:cs typeface="Arial"/>
              <a:sym typeface="Arial"/>
            </a:endParaRPr>
          </a:p>
        </p:txBody>
      </p:sp>
      <p:sp>
        <p:nvSpPr>
          <p:cNvPr id="188" name="Google Shape;188;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9" name="Google Shape;189;p1"/>
          <p:cNvSpPr txBox="1"/>
          <p:nvPr/>
        </p:nvSpPr>
        <p:spPr>
          <a:xfrm>
            <a:off x="1040825" y="892905"/>
            <a:ext cx="9722858" cy="39702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i="0" u="none" strike="noStrike" cap="none">
                <a:solidFill>
                  <a:schemeClr val="dk1"/>
                </a:solidFill>
                <a:latin typeface="Arial"/>
                <a:ea typeface="Arial"/>
                <a:cs typeface="Arial"/>
                <a:sym typeface="Arial"/>
              </a:rPr>
              <a:t>UNIVERSITY INSTITUTE OF ENGINEERING</a:t>
            </a:r>
            <a:endParaRPr/>
          </a:p>
          <a:p>
            <a:pPr marL="0" marR="0" lvl="0" indent="0" algn="ctr" rtl="0">
              <a:spcBef>
                <a:spcPts val="0"/>
              </a:spcBef>
              <a:spcAft>
                <a:spcPts val="0"/>
              </a:spcAft>
              <a:buNone/>
            </a:pPr>
            <a:endParaRPr sz="4400" b="0"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Department of Computer Science &amp; Engineering</a:t>
            </a:r>
            <a:endParaRPr/>
          </a:p>
          <a:p>
            <a:pPr marL="0" marR="0" lvl="0" indent="0" algn="ctr" rtl="0">
              <a:spcBef>
                <a:spcPts val="0"/>
              </a:spcBef>
              <a:spcAft>
                <a:spcPts val="0"/>
              </a:spcAft>
              <a:buNone/>
            </a:pPr>
            <a:endParaRPr sz="2800" b="1"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a:solidFill>
                  <a:srgbClr val="000000"/>
                </a:solidFill>
                <a:latin typeface="Arial"/>
                <a:ea typeface="Arial"/>
                <a:cs typeface="Arial"/>
                <a:sym typeface="Arial"/>
              </a:rPr>
              <a:t>Databases Management System</a:t>
            </a:r>
            <a:endParaRPr/>
          </a:p>
          <a:p>
            <a:pPr marL="0" marR="0" lvl="0" indent="0" algn="ctr" rtl="0">
              <a:lnSpc>
                <a:spcPct val="116444"/>
              </a:lnSpc>
              <a:spcBef>
                <a:spcPts val="0"/>
              </a:spcBef>
              <a:spcAft>
                <a:spcPts val="0"/>
              </a:spcAft>
              <a:buNone/>
            </a:pPr>
            <a:r>
              <a:rPr lang="en-US" sz="3600" b="1" i="0" u="none" strike="noStrike" cap="none">
                <a:solidFill>
                  <a:srgbClr val="000000"/>
                </a:solidFill>
                <a:latin typeface="Arial"/>
                <a:ea typeface="Arial"/>
                <a:cs typeface="Arial"/>
                <a:sym typeface="Arial"/>
              </a:rPr>
              <a:t>(23CSH-205/23ITH-205)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
          <p:cNvSpPr txBox="1">
            <a:spLocks noGrp="1"/>
          </p:cNvSpPr>
          <p:nvPr>
            <p:ph type="title"/>
          </p:nvPr>
        </p:nvSpPr>
        <p:spPr>
          <a:xfrm>
            <a:off x="2152650" y="4909"/>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Arial"/>
              <a:buNone/>
            </a:pPr>
            <a:r>
              <a:rPr lang="en-US" b="1">
                <a:solidFill>
                  <a:srgbClr val="C00000"/>
                </a:solidFill>
                <a:latin typeface="Arial"/>
                <a:ea typeface="Arial"/>
                <a:cs typeface="Arial"/>
                <a:sym typeface="Arial"/>
              </a:rPr>
              <a:t>ABOUT COURSE</a:t>
            </a:r>
            <a:endParaRPr>
              <a:solidFill>
                <a:srgbClr val="C00000"/>
              </a:solidFill>
            </a:endParaRPr>
          </a:p>
        </p:txBody>
      </p:sp>
      <p:sp>
        <p:nvSpPr>
          <p:cNvPr id="195" name="Google Shape;195;p2"/>
          <p:cNvSpPr txBox="1">
            <a:spLocks noGrp="1"/>
          </p:cNvSpPr>
          <p:nvPr>
            <p:ph type="body" idx="1"/>
          </p:nvPr>
        </p:nvSpPr>
        <p:spPr>
          <a:xfrm>
            <a:off x="838200" y="1374824"/>
            <a:ext cx="11107993" cy="4455775"/>
          </a:xfrm>
          <a:prstGeom prst="rect">
            <a:avLst/>
          </a:prstGeom>
          <a:noFill/>
          <a:ln>
            <a:noFill/>
          </a:ln>
        </p:spPr>
        <p:txBody>
          <a:bodyPr spcFirstLastPara="1" wrap="square" lIns="68575" tIns="34275" rIns="68575" bIns="34275" anchor="t" anchorCtr="0">
            <a:noAutofit/>
          </a:bodyPr>
          <a:lstStyle/>
          <a:p>
            <a:pPr marL="228600" lvl="0" indent="-228600" algn="just"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main DBMS course, we learn about the </a:t>
            </a:r>
            <a:r>
              <a:rPr lang="en-US" sz="2400">
                <a:solidFill>
                  <a:srgbClr val="833C0B"/>
                </a:solidFill>
                <a:latin typeface="Times New Roman"/>
                <a:ea typeface="Times New Roman"/>
                <a:cs typeface="Times New Roman"/>
                <a:sym typeface="Times New Roman"/>
              </a:rPr>
              <a:t>structural formation of data</a:t>
            </a:r>
            <a:r>
              <a:rPr lang="en-US" sz="2400">
                <a:latin typeface="Times New Roman"/>
                <a:ea typeface="Times New Roman"/>
                <a:cs typeface="Times New Roman"/>
                <a:sym typeface="Times New Roman"/>
              </a:rPr>
              <a:t>, </a:t>
            </a:r>
            <a:r>
              <a:rPr lang="en-US" sz="2400">
                <a:solidFill>
                  <a:srgbClr val="2F5496"/>
                </a:solidFill>
                <a:latin typeface="Times New Roman"/>
                <a:ea typeface="Times New Roman"/>
                <a:cs typeface="Times New Roman"/>
                <a:sym typeface="Times New Roman"/>
              </a:rPr>
              <a:t>maintain data integrity</a:t>
            </a:r>
            <a:r>
              <a:rPr lang="en-US" sz="2400">
                <a:latin typeface="Times New Roman"/>
                <a:ea typeface="Times New Roman"/>
                <a:cs typeface="Times New Roman"/>
                <a:sym typeface="Times New Roman"/>
              </a:rPr>
              <a:t>, </a:t>
            </a:r>
            <a:r>
              <a:rPr lang="en-US" sz="2400">
                <a:solidFill>
                  <a:srgbClr val="385623"/>
                </a:solidFill>
                <a:latin typeface="Times New Roman"/>
                <a:ea typeface="Times New Roman"/>
                <a:cs typeface="Times New Roman"/>
                <a:sym typeface="Times New Roman"/>
              </a:rPr>
              <a:t>multitasking with concurrent access </a:t>
            </a:r>
            <a:r>
              <a:rPr lang="en-US" sz="2400">
                <a:latin typeface="Times New Roman"/>
                <a:ea typeface="Times New Roman"/>
                <a:cs typeface="Times New Roman"/>
                <a:sym typeface="Times New Roman"/>
              </a:rPr>
              <a:t>and </a:t>
            </a:r>
            <a:r>
              <a:rPr lang="en-US" sz="2400">
                <a:solidFill>
                  <a:schemeClr val="dk2"/>
                </a:solidFill>
                <a:latin typeface="Times New Roman"/>
                <a:ea typeface="Times New Roman"/>
                <a:cs typeface="Times New Roman"/>
                <a:sym typeface="Times New Roman"/>
              </a:rPr>
              <a:t>recovery without occurring crashes</a:t>
            </a:r>
            <a:r>
              <a:rPr lang="en-US" sz="2400">
                <a:latin typeface="Times New Roman"/>
                <a:ea typeface="Times New Roman"/>
                <a:cs typeface="Times New Roman"/>
                <a:sym typeface="Times New Roman"/>
              </a:rPr>
              <a:t>, data structures, data models etc. and their working in which every organization is based. </a:t>
            </a:r>
            <a:endParaRPr/>
          </a:p>
          <a:p>
            <a:pPr marL="228600" lvl="0" indent="-228600" algn="just"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At the end of the course, the students may understand the concepts of data structures, data models and design, construction of queries by using SQL, uses and applications of database design etc</a:t>
            </a:r>
            <a:endParaRPr/>
          </a:p>
          <a:p>
            <a:pPr marL="228600" lvl="0" indent="-76200" algn="just" rtl="0">
              <a:lnSpc>
                <a:spcPct val="90000"/>
              </a:lnSpc>
              <a:spcBef>
                <a:spcPts val="1000"/>
              </a:spcBef>
              <a:spcAft>
                <a:spcPts val="0"/>
              </a:spcAft>
              <a:buClr>
                <a:schemeClr val="dk1"/>
              </a:buClr>
              <a:buSzPts val="2400"/>
              <a:buNone/>
            </a:pPr>
            <a:endParaRPr sz="2400" i="1">
              <a:latin typeface="Times New Roman"/>
              <a:ea typeface="Times New Roman"/>
              <a:cs typeface="Times New Roman"/>
              <a:sym typeface="Times New Roman"/>
            </a:endParaRPr>
          </a:p>
        </p:txBody>
      </p:sp>
      <p:sp>
        <p:nvSpPr>
          <p:cNvPr id="196" name="Google Shape;196;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197" name="Google Shape;19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graphicFrame>
        <p:nvGraphicFramePr>
          <p:cNvPr id="202" name="Google Shape;202;p3"/>
          <p:cNvGraphicFramePr/>
          <p:nvPr/>
        </p:nvGraphicFramePr>
        <p:xfrm>
          <a:off x="309716" y="1798609"/>
          <a:ext cx="7843700" cy="4387290"/>
        </p:xfrm>
        <a:graphic>
          <a:graphicData uri="http://schemas.openxmlformats.org/drawingml/2006/table">
            <a:tbl>
              <a:tblPr>
                <a:noFill/>
                <a:tableStyleId>{3F952E3A-31B3-4C32-B707-6BC8FAECF4CE}</a:tableStyleId>
              </a:tblPr>
              <a:tblGrid>
                <a:gridCol w="842250">
                  <a:extLst>
                    <a:ext uri="{9D8B030D-6E8A-4147-A177-3AD203B41FA5}">
                      <a16:colId xmlns:a16="http://schemas.microsoft.com/office/drawing/2014/main" val="20000"/>
                    </a:ext>
                  </a:extLst>
                </a:gridCol>
                <a:gridCol w="5406775">
                  <a:extLst>
                    <a:ext uri="{9D8B030D-6E8A-4147-A177-3AD203B41FA5}">
                      <a16:colId xmlns:a16="http://schemas.microsoft.com/office/drawing/2014/main" val="20001"/>
                    </a:ext>
                  </a:extLst>
                </a:gridCol>
                <a:gridCol w="1594675">
                  <a:extLst>
                    <a:ext uri="{9D8B030D-6E8A-4147-A177-3AD203B41FA5}">
                      <a16:colId xmlns:a16="http://schemas.microsoft.com/office/drawing/2014/main" val="20002"/>
                    </a:ext>
                  </a:extLst>
                </a:gridCol>
              </a:tblGrid>
              <a:tr h="509675">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CO No.</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Title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BT Level</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19375">
                <a:tc>
                  <a:txBody>
                    <a:bodyPr/>
                    <a:lstStyle/>
                    <a:p>
                      <a:pPr marL="0" marR="0" lvl="0" indent="0" algn="ctr" rtl="0">
                        <a:spcBef>
                          <a:spcPts val="0"/>
                        </a:spcBef>
                        <a:spcAft>
                          <a:spcPts val="0"/>
                        </a:spcAft>
                        <a:buNone/>
                      </a:pPr>
                      <a:r>
                        <a:rPr lang="en-US" sz="1600" b="1" i="0" u="none" strike="noStrike" cap="none">
                          <a:solidFill>
                            <a:srgbClr val="00B050"/>
                          </a:solidFill>
                          <a:highlight>
                            <a:srgbClr val="FFFF00"/>
                          </a:highlight>
                          <a:latin typeface="Times New Roman"/>
                          <a:ea typeface="Times New Roman"/>
                          <a:cs typeface="Times New Roman"/>
                          <a:sym typeface="Times New Roman"/>
                        </a:rPr>
                        <a:t>CO1</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understand the database system concepts and design databases for different applications. </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7CAAC"/>
                    </a:solidFill>
                  </a:tcPr>
                </a:tc>
                <a:tc>
                  <a:txBody>
                    <a:bodyPr/>
                    <a:lstStyle/>
                    <a:p>
                      <a:pPr marL="0" marR="0" lvl="0" indent="0" algn="ctr" rtl="0">
                        <a:spcBef>
                          <a:spcPts val="0"/>
                        </a:spcBef>
                        <a:spcAft>
                          <a:spcPts val="0"/>
                        </a:spcAft>
                        <a:buNone/>
                      </a:pPr>
                      <a:r>
                        <a:rPr lang="en-US" sz="2000" b="1" i="0" u="none" strike="noStrike" cap="none">
                          <a:solidFill>
                            <a:srgbClr val="C00000"/>
                          </a:solidFill>
                          <a:highlight>
                            <a:srgbClr val="FFFF00"/>
                          </a:highlight>
                          <a:latin typeface="Calibri"/>
                          <a:ea typeface="Calibri"/>
                          <a:cs typeface="Calibri"/>
                          <a:sym typeface="Calibri"/>
                        </a:rPr>
                        <a:t>Memorize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096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CO2</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identify different types of DDL, DML, DCL and TCL commands and their usage.</a:t>
                      </a:r>
                      <a:endParaRPr sz="1600" b="1"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Understanding</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664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CO3</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classifying Normalization, Dependencies and Denormalization along with their requirements.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8D08C"/>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Apply</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96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CO4</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analyse and Compare Transaction Processing techniques and Recovery techniques.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599"/>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Analyze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351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CO5</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evaluate database performance after implementing Triggers, procedures, packages, cursors and views.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Evaluate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03" name="Google Shape;203;p3"/>
          <p:cNvSpPr txBox="1">
            <a:spLocks noGrp="1"/>
          </p:cNvSpPr>
          <p:nvPr>
            <p:ph type="title"/>
          </p:nvPr>
        </p:nvSpPr>
        <p:spPr>
          <a:xfrm>
            <a:off x="1719416" y="376190"/>
            <a:ext cx="7886700" cy="65250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3600"/>
              <a:buFont typeface="Arial Rounded"/>
              <a:buNone/>
            </a:pPr>
            <a:r>
              <a:rPr lang="en-US" sz="3600" b="1">
                <a:solidFill>
                  <a:srgbClr val="C00000"/>
                </a:solidFill>
                <a:latin typeface="Arial Rounded"/>
                <a:ea typeface="Arial Rounded"/>
                <a:cs typeface="Arial Rounded"/>
                <a:sym typeface="Arial Rounded"/>
              </a:rPr>
              <a:t>COURSE OUTCOMES </a:t>
            </a:r>
            <a:endParaRPr sz="3600" b="1">
              <a:solidFill>
                <a:srgbClr val="C00000"/>
              </a:solidFill>
              <a:latin typeface="Arial Rounded"/>
              <a:ea typeface="Arial Rounded"/>
              <a:cs typeface="Arial Rounded"/>
              <a:sym typeface="Arial Rounded"/>
            </a:endParaRPr>
          </a:p>
        </p:txBody>
      </p:sp>
      <p:sp>
        <p:nvSpPr>
          <p:cNvPr id="204" name="Google Shape;20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05" name="Google Shape;20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
        <p:nvSpPr>
          <p:cNvPr id="206" name="Google Shape;206;p3"/>
          <p:cNvSpPr/>
          <p:nvPr/>
        </p:nvSpPr>
        <p:spPr>
          <a:xfrm>
            <a:off x="8371907" y="1161441"/>
            <a:ext cx="3602379" cy="4139901"/>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7" name="Google Shape;207;p3"/>
          <p:cNvSpPr/>
          <p:nvPr/>
        </p:nvSpPr>
        <p:spPr>
          <a:xfrm>
            <a:off x="9163335" y="1780920"/>
            <a:ext cx="2017712" cy="942975"/>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Will be covered in this lecture</a:t>
            </a:r>
            <a:endParaRPr sz="1400" b="0" i="0" u="none" strike="noStrike" cap="none">
              <a:solidFill>
                <a:srgbClr val="000000"/>
              </a:solidFill>
              <a:latin typeface="Arial"/>
              <a:ea typeface="Arial"/>
              <a:cs typeface="Arial"/>
              <a:sym typeface="Arial"/>
            </a:endParaRPr>
          </a:p>
        </p:txBody>
      </p:sp>
      <p:cxnSp>
        <p:nvCxnSpPr>
          <p:cNvPr id="208" name="Google Shape;208;p3"/>
          <p:cNvCxnSpPr/>
          <p:nvPr/>
        </p:nvCxnSpPr>
        <p:spPr>
          <a:xfrm rot="10800000" flipH="1">
            <a:off x="7924800" y="2340429"/>
            <a:ext cx="1238535" cy="383466"/>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4"/>
          <p:cNvSpPr/>
          <p:nvPr/>
        </p:nvSpPr>
        <p:spPr>
          <a:xfrm>
            <a:off x="381913" y="1925013"/>
            <a:ext cx="11549531" cy="334995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have good </a:t>
            </a:r>
            <a:r>
              <a:rPr lang="en-US" sz="2400" b="1" i="0" u="none" strike="noStrike" cap="none">
                <a:solidFill>
                  <a:schemeClr val="dk1"/>
                </a:solidFill>
                <a:latin typeface="Times New Roman"/>
                <a:ea typeface="Times New Roman"/>
                <a:cs typeface="Times New Roman"/>
                <a:sym typeface="Times New Roman"/>
              </a:rPr>
              <a:t>understanding of database system </a:t>
            </a:r>
            <a:r>
              <a:rPr lang="en-US" sz="2400" b="0" i="0" u="none" strike="noStrike" cap="none">
                <a:solidFill>
                  <a:schemeClr val="dk1"/>
                </a:solidFill>
                <a:latin typeface="Times New Roman"/>
                <a:ea typeface="Times New Roman"/>
                <a:cs typeface="Times New Roman"/>
                <a:sym typeface="Times New Roman"/>
              </a:rPr>
              <a:t>concepts and </a:t>
            </a:r>
            <a:r>
              <a:rPr lang="en-US" sz="2400" b="1" i="0" u="none" strike="noStrike" cap="none">
                <a:solidFill>
                  <a:schemeClr val="dk1"/>
                </a:solidFill>
                <a:latin typeface="Times New Roman"/>
                <a:ea typeface="Times New Roman"/>
                <a:cs typeface="Times New Roman"/>
                <a:sym typeface="Times New Roman"/>
              </a:rPr>
              <a:t>design databases </a:t>
            </a:r>
            <a:r>
              <a:rPr lang="en-US" sz="2400" b="0" i="0" u="none" strike="noStrike" cap="none">
                <a:solidFill>
                  <a:schemeClr val="dk1"/>
                </a:solidFill>
                <a:latin typeface="Times New Roman"/>
                <a:ea typeface="Times New Roman"/>
                <a:cs typeface="Times New Roman"/>
                <a:sym typeface="Times New Roman"/>
              </a:rPr>
              <a:t>for different applications.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learn how to use a </a:t>
            </a:r>
            <a:r>
              <a:rPr lang="en-US" sz="2400" b="1" i="0" u="none" strike="noStrike" cap="none">
                <a:solidFill>
                  <a:schemeClr val="dk1"/>
                </a:solidFill>
                <a:latin typeface="Times New Roman"/>
                <a:ea typeface="Times New Roman"/>
                <a:cs typeface="Times New Roman"/>
                <a:sym typeface="Times New Roman"/>
              </a:rPr>
              <a:t>DBMS and RDBMS.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implement and understand different types of </a:t>
            </a:r>
            <a:r>
              <a:rPr lang="en-US" sz="2400" b="1" i="0" u="none" strike="noStrike" cap="none">
                <a:solidFill>
                  <a:schemeClr val="dk1"/>
                </a:solidFill>
                <a:latin typeface="Times New Roman"/>
                <a:ea typeface="Times New Roman"/>
                <a:cs typeface="Times New Roman"/>
                <a:sym typeface="Times New Roman"/>
              </a:rPr>
              <a:t>DDL, DML and DCL </a:t>
            </a:r>
            <a:r>
              <a:rPr lang="en-US" sz="2400" b="0" i="0" u="none" strike="noStrike" cap="none">
                <a:solidFill>
                  <a:schemeClr val="dk1"/>
                </a:solidFill>
                <a:latin typeface="Times New Roman"/>
                <a:ea typeface="Times New Roman"/>
                <a:cs typeface="Times New Roman"/>
                <a:sym typeface="Times New Roman"/>
              </a:rPr>
              <a:t>statements.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understand </a:t>
            </a:r>
            <a:r>
              <a:rPr lang="en-US" sz="2400" b="1" i="0" u="none" strike="noStrike" cap="none">
                <a:solidFill>
                  <a:schemeClr val="dk1"/>
                </a:solidFill>
                <a:latin typeface="Times New Roman"/>
                <a:ea typeface="Times New Roman"/>
                <a:cs typeface="Times New Roman"/>
                <a:sym typeface="Times New Roman"/>
              </a:rPr>
              <a:t>transaction concepts </a:t>
            </a:r>
            <a:r>
              <a:rPr lang="en-US" sz="2400" b="0" i="0" u="none" strike="noStrike" cap="none">
                <a:solidFill>
                  <a:schemeClr val="dk1"/>
                </a:solidFill>
                <a:latin typeface="Times New Roman"/>
                <a:ea typeface="Times New Roman"/>
                <a:cs typeface="Times New Roman"/>
                <a:sym typeface="Times New Roman"/>
              </a:rPr>
              <a:t>related to databases and </a:t>
            </a:r>
            <a:r>
              <a:rPr lang="en-US" sz="2400" b="1" i="0" u="none" strike="noStrike" cap="none">
                <a:solidFill>
                  <a:schemeClr val="dk1"/>
                </a:solidFill>
                <a:latin typeface="Times New Roman"/>
                <a:ea typeface="Times New Roman"/>
                <a:cs typeface="Times New Roman"/>
                <a:sym typeface="Times New Roman"/>
              </a:rPr>
              <a:t>recovery/backup techniques </a:t>
            </a:r>
            <a:r>
              <a:rPr lang="en-US" sz="2400" b="0" i="0" u="none" strike="noStrike" cap="none">
                <a:solidFill>
                  <a:schemeClr val="dk1"/>
                </a:solidFill>
                <a:latin typeface="Times New Roman"/>
                <a:ea typeface="Times New Roman"/>
                <a:cs typeface="Times New Roman"/>
                <a:sym typeface="Times New Roman"/>
              </a:rPr>
              <a:t>required for the proper storage of data.</a:t>
            </a:r>
            <a:endParaRPr/>
          </a:p>
        </p:txBody>
      </p:sp>
      <p:sp>
        <p:nvSpPr>
          <p:cNvPr id="214" name="Google Shape;214;p4"/>
          <p:cNvSpPr/>
          <p:nvPr/>
        </p:nvSpPr>
        <p:spPr>
          <a:xfrm>
            <a:off x="1255771" y="1384771"/>
            <a:ext cx="73548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This course will enable students to,</a:t>
            </a:r>
            <a:endParaRPr/>
          </a:p>
        </p:txBody>
      </p:sp>
      <p:sp>
        <p:nvSpPr>
          <p:cNvPr id="215" name="Google Shape;215;p4"/>
          <p:cNvSpPr txBox="1">
            <a:spLocks noGrp="1"/>
          </p:cNvSpPr>
          <p:nvPr>
            <p:ph type="title"/>
          </p:nvPr>
        </p:nvSpPr>
        <p:spPr>
          <a:xfrm>
            <a:off x="2409648" y="449984"/>
            <a:ext cx="7886700" cy="549381"/>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rgbClr val="C00000"/>
              </a:buClr>
              <a:buSzPts val="3300"/>
              <a:buFont typeface="Arial Rounded"/>
              <a:buNone/>
            </a:pPr>
            <a:r>
              <a:rPr lang="en-US" sz="3300" b="1">
                <a:solidFill>
                  <a:srgbClr val="C00000"/>
                </a:solidFill>
                <a:latin typeface="Arial Rounded"/>
                <a:ea typeface="Arial Rounded"/>
                <a:cs typeface="Arial Rounded"/>
                <a:sym typeface="Arial Rounded"/>
              </a:rPr>
              <a:t>COURSE OBJECTIVES </a:t>
            </a:r>
            <a:endParaRPr/>
          </a:p>
        </p:txBody>
      </p:sp>
      <p:sp>
        <p:nvSpPr>
          <p:cNvPr id="216" name="Google Shape;21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17" name="Google Shape;217;p4"/>
          <p:cNvSpPr txBox="1">
            <a:spLocks noGrp="1"/>
          </p:cNvSpPr>
          <p:nvPr>
            <p:ph type="ftr" idx="11"/>
          </p:nvPr>
        </p:nvSpPr>
        <p:spPr>
          <a:xfrm>
            <a:off x="3948545" y="6231225"/>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5"/>
          <p:cNvSpPr/>
          <p:nvPr/>
        </p:nvSpPr>
        <p:spPr>
          <a:xfrm>
            <a:off x="8013249" y="2047791"/>
            <a:ext cx="2194187" cy="2540303"/>
          </a:xfrm>
          <a:custGeom>
            <a:avLst/>
            <a:gdLst/>
            <a:ahLst/>
            <a:cxnLst/>
            <a:rect l="l" t="t" r="r" b="b"/>
            <a:pathLst>
              <a:path w="2340466" h="2709657" extrusionOk="0">
                <a:moveTo>
                  <a:pt x="0" y="0"/>
                </a:moveTo>
                <a:lnTo>
                  <a:pt x="2340466" y="0"/>
                </a:lnTo>
                <a:lnTo>
                  <a:pt x="2340466" y="2709657"/>
                </a:lnTo>
                <a:lnTo>
                  <a:pt x="0" y="2709657"/>
                </a:lnTo>
                <a:lnTo>
                  <a:pt x="0" y="0"/>
                </a:lnTo>
                <a:close/>
              </a:path>
            </a:pathLst>
          </a:custGeom>
          <a:blipFill rotWithShape="1">
            <a:blip r:embed="rId3">
              <a:alphaModFix/>
            </a:blip>
            <a:stretch>
              <a:fillRect/>
            </a:stretch>
          </a:blipFill>
          <a:ln>
            <a:noFill/>
          </a:ln>
        </p:spPr>
      </p:sp>
      <p:sp>
        <p:nvSpPr>
          <p:cNvPr id="227" name="Google Shape;227;p5"/>
          <p:cNvSpPr txBox="1"/>
          <p:nvPr/>
        </p:nvSpPr>
        <p:spPr>
          <a:xfrm>
            <a:off x="2152650" y="659011"/>
            <a:ext cx="7886700" cy="1000274"/>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Topics covered</a:t>
            </a:r>
            <a:endParaRPr/>
          </a:p>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 </a:t>
            </a:r>
            <a:endParaRPr/>
          </a:p>
        </p:txBody>
      </p:sp>
      <p:sp>
        <p:nvSpPr>
          <p:cNvPr id="228" name="Google Shape;228;p5"/>
          <p:cNvSpPr txBox="1"/>
          <p:nvPr/>
        </p:nvSpPr>
        <p:spPr>
          <a:xfrm>
            <a:off x="1679449" y="2047791"/>
            <a:ext cx="3165698" cy="646459"/>
          </a:xfrm>
          <a:prstGeom prst="rect">
            <a:avLst/>
          </a:prstGeom>
          <a:noFill/>
          <a:ln>
            <a:noFill/>
          </a:ln>
        </p:spPr>
        <p:txBody>
          <a:bodyPr spcFirstLastPara="1" wrap="square" lIns="0" tIns="0" rIns="0" bIns="0" anchor="t" anchorCtr="0">
            <a:spAutoFit/>
          </a:bodyPr>
          <a:lstStyle/>
          <a:p>
            <a:pPr marL="0" marR="0" lvl="0" indent="0" algn="ctr" rtl="0">
              <a:lnSpc>
                <a:spcPct val="120037"/>
              </a:lnSpc>
              <a:spcBef>
                <a:spcPts val="0"/>
              </a:spcBef>
              <a:spcAft>
                <a:spcPts val="0"/>
              </a:spcAft>
              <a:buNone/>
            </a:pPr>
            <a:r>
              <a:rPr lang="en-US" sz="2156" b="1">
                <a:solidFill>
                  <a:srgbClr val="000000"/>
                </a:solidFill>
                <a:latin typeface="Arial"/>
                <a:ea typeface="Arial"/>
                <a:cs typeface="Arial"/>
                <a:sym typeface="Arial"/>
              </a:rPr>
              <a:t>Database Security: </a:t>
            </a:r>
            <a:endParaRPr/>
          </a:p>
          <a:p>
            <a:pPr marL="0" marR="0" lvl="0" indent="0" algn="ctr" rtl="0">
              <a:lnSpc>
                <a:spcPct val="120037"/>
              </a:lnSpc>
              <a:spcBef>
                <a:spcPts val="0"/>
              </a:spcBef>
              <a:spcAft>
                <a:spcPts val="0"/>
              </a:spcAft>
              <a:buNone/>
            </a:pPr>
            <a:r>
              <a:rPr lang="en-US" sz="2156" b="1">
                <a:solidFill>
                  <a:srgbClr val="000000"/>
                </a:solidFill>
                <a:latin typeface="Arial"/>
                <a:ea typeface="Arial"/>
                <a:cs typeface="Arial"/>
                <a:sym typeface="Arial"/>
              </a:rPr>
              <a:t> </a:t>
            </a:r>
            <a:endParaRPr/>
          </a:p>
        </p:txBody>
      </p:sp>
      <p:sp>
        <p:nvSpPr>
          <p:cNvPr id="229" name="Google Shape;229;p5"/>
          <p:cNvSpPr txBox="1"/>
          <p:nvPr/>
        </p:nvSpPr>
        <p:spPr>
          <a:xfrm>
            <a:off x="2060449" y="2512114"/>
            <a:ext cx="5147513" cy="57092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Introduction, Threats, Counter Measures.</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230" name="Google Shape;2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31" name="Google Shape;2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2" name="Google Shape;542;p53" descr="Rectangle: Click to edit Master text styles&#10;Second level&#10;Third level&#10;Fourth level&#10;Fifth level"/>
          <p:cNvSpPr txBox="1">
            <a:spLocks noGrp="1"/>
          </p:cNvSpPr>
          <p:nvPr>
            <p:ph type="body" idx="1"/>
          </p:nvPr>
        </p:nvSpPr>
        <p:spPr>
          <a:xfrm>
            <a:off x="2438400" y="1752600"/>
            <a:ext cx="8001000" cy="4495800"/>
          </a:xfrm>
          <a:prstGeom prst="rect">
            <a:avLst/>
          </a:prstGeom>
          <a:noFill/>
          <a:ln>
            <a:noFill/>
          </a:ln>
        </p:spPr>
        <p:txBody>
          <a:bodyPr spcFirstLastPara="1" wrap="square" lIns="91425" tIns="45700" rIns="91425" bIns="45700" anchor="t" anchorCtr="0">
            <a:normAutofit/>
          </a:bodyPr>
          <a:lstStyle/>
          <a:p>
            <a:pPr marL="342900">
              <a:spcBef>
                <a:spcPts val="0"/>
              </a:spcBef>
              <a:buSzPts val="2000"/>
            </a:pPr>
            <a:r>
              <a:rPr lang="en-US" sz="2000" b="1">
                <a:latin typeface="Times New Roman"/>
                <a:ea typeface="Times New Roman"/>
                <a:cs typeface="Times New Roman"/>
                <a:sym typeface="Times New Roman"/>
              </a:rPr>
              <a:t>Database Security </a:t>
            </a:r>
            <a:r>
              <a:rPr lang="en-US" sz="2000">
                <a:latin typeface="Times New Roman"/>
                <a:ea typeface="Times New Roman"/>
                <a:cs typeface="Times New Roman"/>
                <a:sym typeface="Times New Roman"/>
              </a:rPr>
              <a:t>- protection from malicious attempts to steal (view) or modify data.</a:t>
            </a:r>
            <a:endParaRPr/>
          </a:p>
        </p:txBody>
      </p:sp>
      <p:pic>
        <p:nvPicPr>
          <p:cNvPr id="543" name="Google Shape;543;p53" descr="thief"/>
          <p:cNvPicPr preferRelativeResize="0"/>
          <p:nvPr/>
        </p:nvPicPr>
        <p:blipFill rotWithShape="1">
          <a:blip r:embed="rId3">
            <a:alphaModFix/>
          </a:blip>
          <a:srcRect/>
          <a:stretch/>
        </p:blipFill>
        <p:spPr>
          <a:xfrm>
            <a:off x="7457701" y="2766217"/>
            <a:ext cx="2251075" cy="2468563"/>
          </a:xfrm>
          <a:prstGeom prst="rect">
            <a:avLst/>
          </a:prstGeom>
          <a:noFill/>
          <a:ln>
            <a:noFill/>
          </a:ln>
        </p:spPr>
      </p:pic>
      <p:pic>
        <p:nvPicPr>
          <p:cNvPr id="544" name="Google Shape;544;p53" descr="MCj03359430000[1]"/>
          <p:cNvPicPr preferRelativeResize="0"/>
          <p:nvPr/>
        </p:nvPicPr>
        <p:blipFill rotWithShape="1">
          <a:blip r:embed="rId4">
            <a:alphaModFix/>
          </a:blip>
          <a:srcRect/>
          <a:stretch/>
        </p:blipFill>
        <p:spPr>
          <a:xfrm>
            <a:off x="2819400" y="2670968"/>
            <a:ext cx="1543050" cy="2659063"/>
          </a:xfrm>
          <a:prstGeom prst="rect">
            <a:avLst/>
          </a:prstGeom>
          <a:noFill/>
          <a:ln>
            <a:noFill/>
          </a:ln>
        </p:spPr>
      </p:pic>
      <p:pic>
        <p:nvPicPr>
          <p:cNvPr id="545" name="Google Shape;545;p53" descr="MCBD19755_0000[1]"/>
          <p:cNvPicPr preferRelativeResize="0"/>
          <p:nvPr/>
        </p:nvPicPr>
        <p:blipFill rotWithShape="1">
          <a:blip r:embed="rId5">
            <a:alphaModFix/>
          </a:blip>
          <a:srcRect/>
          <a:stretch/>
        </p:blipFill>
        <p:spPr>
          <a:xfrm>
            <a:off x="4996927" y="3429000"/>
            <a:ext cx="1982788" cy="1385888"/>
          </a:xfrm>
          <a:prstGeom prst="rect">
            <a:avLst/>
          </a:prstGeom>
          <a:noFill/>
          <a:ln>
            <a:noFill/>
          </a:ln>
        </p:spPr>
      </p:pic>
      <p:sp>
        <p:nvSpPr>
          <p:cNvPr id="4" name="Google Shape;244;p6">
            <a:extLst>
              <a:ext uri="{FF2B5EF4-FFF2-40B4-BE49-F238E27FC236}">
                <a16:creationId xmlns:a16="http://schemas.microsoft.com/office/drawing/2014/main" id="{05A68EF0-CD53-6C9D-012B-5FB303365534}"/>
              </a:ext>
            </a:extLst>
          </p:cNvPr>
          <p:cNvSpPr txBox="1"/>
          <p:nvPr/>
        </p:nvSpPr>
        <p:spPr>
          <a:xfrm>
            <a:off x="4303776" y="659012"/>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dirty="0">
                <a:solidFill>
                  <a:srgbClr val="C00000"/>
                </a:solidFill>
                <a:latin typeface="Arimo"/>
                <a:ea typeface="Arimo"/>
                <a:cs typeface="Arimo"/>
                <a:sym typeface="Arimo"/>
              </a:rPr>
              <a:t>Database Security</a:t>
            </a:r>
            <a:endParaRPr dirty="0"/>
          </a:p>
        </p:txBody>
      </p:sp>
      <p:grpSp>
        <p:nvGrpSpPr>
          <p:cNvPr id="5" name="Google Shape;240;p6">
            <a:extLst>
              <a:ext uri="{FF2B5EF4-FFF2-40B4-BE49-F238E27FC236}">
                <a16:creationId xmlns:a16="http://schemas.microsoft.com/office/drawing/2014/main" id="{109E3CCF-ABB9-51D9-8111-C64577FB636E}"/>
              </a:ext>
            </a:extLst>
          </p:cNvPr>
          <p:cNvGrpSpPr/>
          <p:nvPr/>
        </p:nvGrpSpPr>
        <p:grpSpPr>
          <a:xfrm>
            <a:off x="1524000" y="6356604"/>
            <a:ext cx="9144000" cy="88404"/>
            <a:chOff x="0" y="0"/>
            <a:chExt cx="13004800" cy="125730"/>
          </a:xfrm>
        </p:grpSpPr>
        <p:sp>
          <p:nvSpPr>
            <p:cNvPr id="6" name="Google Shape;241;p6">
              <a:extLst>
                <a:ext uri="{FF2B5EF4-FFF2-40B4-BE49-F238E27FC236}">
                  <a16:creationId xmlns:a16="http://schemas.microsoft.com/office/drawing/2014/main" id="{F1DB6A9B-AB75-EFA6-22BC-1D9B5C5CD2E9}"/>
                </a:ext>
              </a:extLst>
            </p:cNvPr>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 name="Google Shape;242;p6">
              <a:extLst>
                <a:ext uri="{FF2B5EF4-FFF2-40B4-BE49-F238E27FC236}">
                  <a16:creationId xmlns:a16="http://schemas.microsoft.com/office/drawing/2014/main" id="{6715D2E1-C764-6CCF-B7B1-BA195A96F390}"/>
                </a:ext>
              </a:extLst>
            </p:cNvPr>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grpSp>
        <p:nvGrpSpPr>
          <p:cNvPr id="240" name="Google Shape;240;p6"/>
          <p:cNvGrpSpPr/>
          <p:nvPr/>
        </p:nvGrpSpPr>
        <p:grpSpPr>
          <a:xfrm>
            <a:off x="1524000" y="6356604"/>
            <a:ext cx="9144000" cy="88404"/>
            <a:chOff x="0" y="0"/>
            <a:chExt cx="13004800" cy="125730"/>
          </a:xfrm>
        </p:grpSpPr>
        <p:sp>
          <p:nvSpPr>
            <p:cNvPr id="241" name="Google Shape;241;p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42" name="Google Shape;242;p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43" name="Google Shape;243;p6"/>
          <p:cNvSpPr/>
          <p:nvPr/>
        </p:nvSpPr>
        <p:spPr>
          <a:xfrm>
            <a:off x="8168640" y="3029786"/>
            <a:ext cx="3064401" cy="2813438"/>
          </a:xfrm>
          <a:custGeom>
            <a:avLst/>
            <a:gdLst/>
            <a:ahLst/>
            <a:cxnLst/>
            <a:rect l="l" t="t" r="r" b="b"/>
            <a:pathLst>
              <a:path w="3268694" h="3001001" extrusionOk="0">
                <a:moveTo>
                  <a:pt x="0" y="0"/>
                </a:moveTo>
                <a:lnTo>
                  <a:pt x="3268694" y="0"/>
                </a:lnTo>
                <a:lnTo>
                  <a:pt x="3268694" y="3001002"/>
                </a:lnTo>
                <a:lnTo>
                  <a:pt x="0" y="3001002"/>
                </a:lnTo>
                <a:lnTo>
                  <a:pt x="0" y="0"/>
                </a:lnTo>
                <a:close/>
              </a:path>
            </a:pathLst>
          </a:custGeom>
          <a:blipFill rotWithShape="1">
            <a:blip r:embed="rId3">
              <a:alphaModFix/>
            </a:blip>
            <a:stretch>
              <a:fillRect l="-7469" r="-7468"/>
            </a:stretch>
          </a:blipFill>
          <a:ln>
            <a:noFill/>
          </a:ln>
        </p:spPr>
      </p:sp>
      <p:sp>
        <p:nvSpPr>
          <p:cNvPr id="244" name="Google Shape;244;p6"/>
          <p:cNvSpPr txBox="1"/>
          <p:nvPr/>
        </p:nvSpPr>
        <p:spPr>
          <a:xfrm>
            <a:off x="4303776" y="659012"/>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dirty="0">
                <a:solidFill>
                  <a:srgbClr val="C00000"/>
                </a:solidFill>
                <a:latin typeface="Arimo"/>
                <a:ea typeface="Arimo"/>
                <a:cs typeface="Arimo"/>
                <a:sym typeface="Arimo"/>
              </a:rPr>
              <a:t>Database Security</a:t>
            </a:r>
            <a:endParaRPr dirty="0"/>
          </a:p>
        </p:txBody>
      </p:sp>
      <p:sp>
        <p:nvSpPr>
          <p:cNvPr id="245" name="Google Shape;245;p6"/>
          <p:cNvSpPr txBox="1"/>
          <p:nvPr/>
        </p:nvSpPr>
        <p:spPr>
          <a:xfrm>
            <a:off x="2017816" y="1392404"/>
            <a:ext cx="8559023" cy="69429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Security of databases refers to the array of controls, tools, and procedures designed to ensure and safeguard confidentiality, integrity, and accessibility. </a:t>
            </a:r>
            <a:endParaRPr sz="1880" dirty="0"/>
          </a:p>
        </p:txBody>
      </p:sp>
      <p:sp>
        <p:nvSpPr>
          <p:cNvPr id="246" name="Google Shape;246;p6"/>
          <p:cNvSpPr txBox="1"/>
          <p:nvPr/>
        </p:nvSpPr>
        <p:spPr>
          <a:xfrm>
            <a:off x="2017816" y="2600077"/>
            <a:ext cx="5348184" cy="3124317"/>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80" dirty="0">
                <a:solidFill>
                  <a:srgbClr val="000000"/>
                </a:solidFill>
                <a:latin typeface="Arial"/>
                <a:ea typeface="Arial"/>
                <a:cs typeface="Arial"/>
                <a:sym typeface="Arial"/>
              </a:rPr>
              <a:t>Security for databases must cover and safeguard the following aspects:</a:t>
            </a:r>
          </a:p>
          <a:p>
            <a:pPr marL="388620" marR="0" lvl="1" indent="-194310" algn="just" rtl="0">
              <a:lnSpc>
                <a:spcPct val="120000"/>
              </a:lnSpc>
              <a:spcBef>
                <a:spcPts val="0"/>
              </a:spcBef>
              <a:spcAft>
                <a:spcPts val="0"/>
              </a:spcAft>
              <a:buClr>
                <a:srgbClr val="000000"/>
              </a:buClr>
              <a:buSzPts val="1800"/>
              <a:buFont typeface="Arial"/>
              <a:buChar char="•"/>
            </a:pPr>
            <a:r>
              <a:rPr lang="en-US" sz="1880" b="0" i="0" u="none" strike="noStrike" cap="none" dirty="0">
                <a:solidFill>
                  <a:srgbClr val="000000"/>
                </a:solidFill>
                <a:latin typeface="Arial"/>
                <a:ea typeface="Arial"/>
                <a:cs typeface="Arial"/>
                <a:sym typeface="Arial"/>
              </a:rPr>
              <a:t>The database containing data.</a:t>
            </a:r>
            <a:endParaRPr sz="1880" dirty="0"/>
          </a:p>
          <a:p>
            <a:pPr marL="388620" marR="0" lvl="1" indent="-194310" algn="just" rtl="0">
              <a:lnSpc>
                <a:spcPct val="120000"/>
              </a:lnSpc>
              <a:spcBef>
                <a:spcPts val="0"/>
              </a:spcBef>
              <a:spcAft>
                <a:spcPts val="0"/>
              </a:spcAft>
              <a:buClr>
                <a:srgbClr val="000000"/>
              </a:buClr>
              <a:buSzPts val="1800"/>
              <a:buFont typeface="Arial"/>
              <a:buChar char="•"/>
            </a:pPr>
            <a:r>
              <a:rPr lang="en-US" sz="1880" b="0" i="0" u="none" strike="noStrike" cap="none" dirty="0">
                <a:solidFill>
                  <a:srgbClr val="000000"/>
                </a:solidFill>
                <a:latin typeface="Arial"/>
                <a:ea typeface="Arial"/>
                <a:cs typeface="Arial"/>
                <a:sym typeface="Arial"/>
              </a:rPr>
              <a:t>Database management systems (DBMS)</a:t>
            </a:r>
            <a:endParaRPr sz="1880" dirty="0"/>
          </a:p>
          <a:p>
            <a:pPr marL="388620" marR="0" lvl="1" indent="-194310" algn="just" rtl="0">
              <a:lnSpc>
                <a:spcPct val="120000"/>
              </a:lnSpc>
              <a:spcBef>
                <a:spcPts val="0"/>
              </a:spcBef>
              <a:spcAft>
                <a:spcPts val="0"/>
              </a:spcAft>
              <a:buClr>
                <a:srgbClr val="000000"/>
              </a:buClr>
              <a:buSzPts val="1800"/>
              <a:buFont typeface="Arial"/>
              <a:buChar char="•"/>
            </a:pPr>
            <a:r>
              <a:rPr lang="en-US" sz="1880" b="0" i="0" u="none" strike="noStrike" cap="none" dirty="0">
                <a:solidFill>
                  <a:srgbClr val="000000"/>
                </a:solidFill>
                <a:latin typeface="Arial"/>
                <a:ea typeface="Arial"/>
                <a:cs typeface="Arial"/>
                <a:sym typeface="Arial"/>
              </a:rPr>
              <a:t>Any applications that are associated with it.</a:t>
            </a:r>
            <a:endParaRPr sz="1880" dirty="0"/>
          </a:p>
          <a:p>
            <a:pPr marL="388620" marR="0" lvl="1" indent="-194310" algn="just" rtl="0">
              <a:lnSpc>
                <a:spcPct val="120000"/>
              </a:lnSpc>
              <a:spcBef>
                <a:spcPts val="0"/>
              </a:spcBef>
              <a:spcAft>
                <a:spcPts val="0"/>
              </a:spcAft>
              <a:buClr>
                <a:srgbClr val="000000"/>
              </a:buClr>
              <a:buSzPts val="1800"/>
              <a:buFont typeface="Arial"/>
              <a:buChar char="•"/>
            </a:pPr>
            <a:r>
              <a:rPr lang="en-US" sz="1880" b="0" i="0" u="none" strike="noStrike" cap="none" dirty="0">
                <a:solidFill>
                  <a:srgbClr val="000000"/>
                </a:solidFill>
                <a:latin typeface="Arial"/>
                <a:ea typeface="Arial"/>
                <a:cs typeface="Arial"/>
                <a:sym typeface="Arial"/>
              </a:rPr>
              <a:t>Physical database servers or the database server virtual, and the hardware that runs it.</a:t>
            </a:r>
            <a:endParaRPr sz="1880" dirty="0"/>
          </a:p>
          <a:p>
            <a:pPr marL="388620" marR="0" lvl="1" indent="-194310" algn="just" rtl="0">
              <a:lnSpc>
                <a:spcPct val="120000"/>
              </a:lnSpc>
              <a:spcBef>
                <a:spcPts val="0"/>
              </a:spcBef>
              <a:spcAft>
                <a:spcPts val="0"/>
              </a:spcAft>
              <a:buClr>
                <a:srgbClr val="000000"/>
              </a:buClr>
              <a:buSzPts val="1800"/>
              <a:buFont typeface="Arial"/>
              <a:buChar char="•"/>
            </a:pPr>
            <a:r>
              <a:rPr lang="en-US" sz="1880" b="0" i="0" u="none" strike="noStrike" cap="none" dirty="0">
                <a:solidFill>
                  <a:srgbClr val="000000"/>
                </a:solidFill>
                <a:latin typeface="Arial"/>
                <a:ea typeface="Arial"/>
                <a:cs typeface="Arial"/>
                <a:sym typeface="Arial"/>
              </a:rPr>
              <a:t>The infrastructure for computing or network that is used to connect to the database.</a:t>
            </a:r>
            <a:endParaRPr sz="1880" dirty="0"/>
          </a:p>
        </p:txBody>
      </p:sp>
      <p:sp>
        <p:nvSpPr>
          <p:cNvPr id="247" name="Google Shape;24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12/20/2024</a:t>
            </a:r>
            <a:endParaRPr dirty="0"/>
          </a:p>
        </p:txBody>
      </p:sp>
      <p:sp>
        <p:nvSpPr>
          <p:cNvPr id="248" name="Google Shape;24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grpSp>
        <p:nvGrpSpPr>
          <p:cNvPr id="257" name="Google Shape;257;p7"/>
          <p:cNvGrpSpPr/>
          <p:nvPr/>
        </p:nvGrpSpPr>
        <p:grpSpPr>
          <a:xfrm>
            <a:off x="1524000" y="6356604"/>
            <a:ext cx="9144000" cy="88404"/>
            <a:chOff x="0" y="0"/>
            <a:chExt cx="13004800" cy="125730"/>
          </a:xfrm>
        </p:grpSpPr>
        <p:sp>
          <p:nvSpPr>
            <p:cNvPr id="258" name="Google Shape;258;p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59" name="Google Shape;259;p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60" name="Google Shape;260;p7"/>
          <p:cNvSpPr/>
          <p:nvPr/>
        </p:nvSpPr>
        <p:spPr>
          <a:xfrm>
            <a:off x="8153400" y="3246575"/>
            <a:ext cx="2917740" cy="291774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l="-21697" r="-22702"/>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7"/>
          <p:cNvSpPr txBox="1"/>
          <p:nvPr/>
        </p:nvSpPr>
        <p:spPr>
          <a:xfrm>
            <a:off x="4303776" y="659012"/>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Database Security</a:t>
            </a:r>
            <a:endParaRPr/>
          </a:p>
        </p:txBody>
      </p:sp>
      <p:sp>
        <p:nvSpPr>
          <p:cNvPr id="262" name="Google Shape;262;p7"/>
          <p:cNvSpPr txBox="1"/>
          <p:nvPr/>
        </p:nvSpPr>
        <p:spPr>
          <a:xfrm>
            <a:off x="2026863" y="1599010"/>
            <a:ext cx="8266609" cy="145578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Security of databases is a complicated and challenging task that requires all aspects of security practices and technologies. This is inherently at odds with the accessibility of databases. The more usable and accessible the database is, the more susceptible we are to threats from security. The more vulnerable it is to attacks and threats, the more difficult it is to access and utilize.</a:t>
            </a:r>
            <a:endParaRPr dirty="0"/>
          </a:p>
        </p:txBody>
      </p:sp>
      <p:sp>
        <p:nvSpPr>
          <p:cNvPr id="263" name="Google Shape;263;p7"/>
          <p:cNvSpPr txBox="1"/>
          <p:nvPr/>
        </p:nvSpPr>
        <p:spPr>
          <a:xfrm>
            <a:off x="1835272" y="3567322"/>
            <a:ext cx="5650807" cy="1750736"/>
          </a:xfrm>
          <a:prstGeom prst="rect">
            <a:avLst/>
          </a:prstGeom>
          <a:noFill/>
          <a:ln>
            <a:noFill/>
          </a:ln>
        </p:spPr>
        <p:txBody>
          <a:bodyPr spcFirstLastPara="1" wrap="square" lIns="0" tIns="0" rIns="0" bIns="0" anchor="t" anchorCtr="0">
            <a:spAutoFit/>
          </a:bodyPr>
          <a:lstStyle/>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Database security ensures that sensitive and critical data stored in a database is secure from unauthorized access, misuse, or corruption.</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Security measures include access controls, encryption, authentication, and auditing mechanisms.</a:t>
            </a:r>
            <a:endParaRPr dirty="0"/>
          </a:p>
        </p:txBody>
      </p:sp>
      <p:sp>
        <p:nvSpPr>
          <p:cNvPr id="264" name="Google Shape;26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65" name="Google Shape;26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grpSp>
        <p:nvGrpSpPr>
          <p:cNvPr id="274" name="Google Shape;274;p8"/>
          <p:cNvGrpSpPr/>
          <p:nvPr/>
        </p:nvGrpSpPr>
        <p:grpSpPr>
          <a:xfrm>
            <a:off x="1524000" y="6356604"/>
            <a:ext cx="9144000" cy="88404"/>
            <a:chOff x="0" y="0"/>
            <a:chExt cx="13004800" cy="125730"/>
          </a:xfrm>
        </p:grpSpPr>
        <p:sp>
          <p:nvSpPr>
            <p:cNvPr id="275" name="Google Shape;275;p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76" name="Google Shape;276;p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77" name="Google Shape;277;p8"/>
          <p:cNvSpPr txBox="1"/>
          <p:nvPr/>
        </p:nvSpPr>
        <p:spPr>
          <a:xfrm>
            <a:off x="3044414" y="529305"/>
            <a:ext cx="7623586" cy="864211"/>
          </a:xfrm>
          <a:prstGeom prst="rect">
            <a:avLst/>
          </a:prstGeom>
          <a:noFill/>
          <a:ln>
            <a:noFill/>
          </a:ln>
        </p:spPr>
        <p:txBody>
          <a:bodyPr spcFirstLastPara="1" wrap="square" lIns="0" tIns="0" rIns="0" bIns="0" anchor="t" anchorCtr="0">
            <a:spAutoFit/>
          </a:bodyPr>
          <a:lstStyle/>
          <a:p>
            <a:pPr algn="ctr">
              <a:lnSpc>
                <a:spcPct val="120024"/>
              </a:lnSpc>
            </a:pPr>
            <a:r>
              <a:rPr lang="en-US" sz="3280" b="1" dirty="0">
                <a:solidFill>
                  <a:srgbClr val="C00000"/>
                </a:solidFill>
                <a:latin typeface="Arimo" panose="020B0604020202020204" charset="0"/>
                <a:ea typeface="Arimo" panose="020B0604020202020204" charset="0"/>
                <a:cs typeface="Arimo" panose="020B0604020202020204" charset="0"/>
                <a:sym typeface="Arial"/>
              </a:rPr>
              <a:t>Why Database Security is Important?</a:t>
            </a:r>
            <a:endParaRPr lang="en-US" sz="3280" dirty="0">
              <a:solidFill>
                <a:srgbClr val="C00000"/>
              </a:solidFill>
              <a:latin typeface="Arimo" panose="020B0604020202020204" charset="0"/>
              <a:ea typeface="Arimo" panose="020B0604020202020204" charset="0"/>
              <a:cs typeface="Arimo" panose="020B0604020202020204" charset="0"/>
            </a:endParaRPr>
          </a:p>
          <a:p>
            <a:pPr marL="0" marR="0" lvl="0" indent="0" algn="l" rtl="0">
              <a:lnSpc>
                <a:spcPct val="120024"/>
              </a:lnSpc>
              <a:spcBef>
                <a:spcPts val="0"/>
              </a:spcBef>
              <a:spcAft>
                <a:spcPts val="0"/>
              </a:spcAft>
              <a:buNone/>
            </a:pPr>
            <a:endParaRPr dirty="0"/>
          </a:p>
        </p:txBody>
      </p:sp>
      <p:sp>
        <p:nvSpPr>
          <p:cNvPr id="279" name="Google Shape;279;p8"/>
          <p:cNvSpPr txBox="1"/>
          <p:nvPr/>
        </p:nvSpPr>
        <p:spPr>
          <a:xfrm>
            <a:off x="1910578" y="1411197"/>
            <a:ext cx="8370843" cy="411035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Intellectual property that is compromised:</a:t>
            </a:r>
            <a:r>
              <a:rPr lang="en-US" sz="1875" dirty="0">
                <a:solidFill>
                  <a:srgbClr val="000000"/>
                </a:solidFill>
                <a:latin typeface="Arial"/>
                <a:ea typeface="Arial"/>
                <a:cs typeface="Arial"/>
                <a:sym typeface="Arial"/>
              </a:rPr>
              <a:t> Our intellectual property--trade secrets, inventions, or proprietary methods -- could be vital for our ability to maintain an advantage in our industry. If our intellectual property has been stolen or disclosed and our competitive advantage is lost, it could be difficult to keep or recover.</a:t>
            </a: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The damage to our brand's reputation: </a:t>
            </a:r>
            <a:r>
              <a:rPr lang="en-US" sz="1875" dirty="0">
                <a:solidFill>
                  <a:srgbClr val="000000"/>
                </a:solidFill>
                <a:latin typeface="Arial"/>
                <a:ea typeface="Arial"/>
                <a:cs typeface="Arial"/>
                <a:sym typeface="Arial"/>
              </a:rPr>
              <a:t>Customers or partners may not want to purchase goods or services from us (or deal with our business) If they do not feel they can trust our company to protect their data or their own.</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The concept of business continuity (or lack of it): Some businesses cannot continue to function until a breach has been resolved.</a:t>
            </a: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Costs for repairing breaches and notifying consumers about them:</a:t>
            </a:r>
            <a:r>
              <a:rPr lang="en-US" sz="1875" dirty="0">
                <a:solidFill>
                  <a:srgbClr val="000000"/>
                </a:solidFill>
                <a:latin typeface="Arial"/>
                <a:ea typeface="Arial"/>
                <a:cs typeface="Arial"/>
                <a:sym typeface="Arial"/>
              </a:rPr>
              <a:t> Alongside notifying customers of a breach, the company that has been breached is required to cover the investigation and forensic services such as crisis management, triage repairs to the affected systems, and much more.</a:t>
            </a:r>
            <a:endParaRPr dirty="0"/>
          </a:p>
        </p:txBody>
      </p:sp>
      <p:sp>
        <p:nvSpPr>
          <p:cNvPr id="280" name="Google Shape;28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81" name="Google Shape;28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4"/>
          <p:cNvSpPr txBox="1">
            <a:spLocks noGrp="1"/>
          </p:cNvSpPr>
          <p:nvPr>
            <p:ph type="title"/>
          </p:nvPr>
        </p:nvSpPr>
        <p:spPr>
          <a:xfrm>
            <a:off x="2525358" y="609600"/>
            <a:ext cx="7924800" cy="609600"/>
          </a:xfrm>
          <a:prstGeom prst="rect">
            <a:avLst/>
          </a:prstGeom>
          <a:noFill/>
          <a:ln>
            <a:noFill/>
          </a:ln>
        </p:spPr>
        <p:txBody>
          <a:bodyPr spcFirstLastPara="1" wrap="square" lIns="91425" tIns="45700" rIns="91425" bIns="45700" anchor="ctr" anchorCtr="0">
            <a:noAutofit/>
          </a:bodyPr>
          <a:lstStyle/>
          <a:p>
            <a:pPr marL="0" indent="0" algn="ctr">
              <a:spcBef>
                <a:spcPts val="0"/>
              </a:spcBef>
              <a:buSzPts val="2000"/>
              <a:buNone/>
            </a:pPr>
            <a:r>
              <a:rPr lang="en-US" sz="3250" b="1" dirty="0">
                <a:solidFill>
                  <a:srgbClr val="C00000"/>
                </a:solidFill>
                <a:latin typeface="Arimo" panose="020B0604020202020204" charset="0"/>
                <a:ea typeface="Arimo" panose="020B0604020202020204" charset="0"/>
                <a:cs typeface="Arimo" panose="020B0604020202020204" charset="0"/>
                <a:sym typeface="Times New Roman"/>
              </a:rPr>
              <a:t>Types of Security</a:t>
            </a:r>
            <a:endParaRPr lang="en-US" sz="3250" dirty="0">
              <a:solidFill>
                <a:srgbClr val="C00000"/>
              </a:solidFill>
              <a:latin typeface="Arimo" panose="020B0604020202020204" charset="0"/>
              <a:ea typeface="Arimo" panose="020B0604020202020204" charset="0"/>
              <a:cs typeface="Arimo" panose="020B0604020202020204" charset="0"/>
            </a:endParaRPr>
          </a:p>
        </p:txBody>
      </p:sp>
      <p:sp>
        <p:nvSpPr>
          <p:cNvPr id="552" name="Google Shape;552;p54"/>
          <p:cNvSpPr txBox="1">
            <a:spLocks noGrp="1"/>
          </p:cNvSpPr>
          <p:nvPr>
            <p:ph type="body" idx="1"/>
          </p:nvPr>
        </p:nvSpPr>
        <p:spPr>
          <a:xfrm>
            <a:off x="1269402" y="1219200"/>
            <a:ext cx="9983097" cy="5106296"/>
          </a:xfrm>
          <a:prstGeom prst="rect">
            <a:avLst/>
          </a:prstGeom>
          <a:noFill/>
          <a:ln>
            <a:noFill/>
          </a:ln>
        </p:spPr>
        <p:txBody>
          <a:bodyPr spcFirstLastPara="1" wrap="square" lIns="91425" tIns="45700" rIns="91425" bIns="45700" anchor="t" anchorCtr="0">
            <a:noAutofit/>
          </a:bodyPr>
          <a:lstStyle/>
          <a:p>
            <a:pPr marL="457200" lvl="1" indent="0" algn="just">
              <a:spcBef>
                <a:spcPts val="400"/>
              </a:spcBef>
              <a:buSzPts val="2000"/>
              <a:buNone/>
            </a:pPr>
            <a:r>
              <a:rPr lang="en-US" sz="1880" dirty="0">
                <a:latin typeface="+mj-lt"/>
              </a:rPr>
              <a:t>Database security is a broad area that addresses many issues, including the following: </a:t>
            </a:r>
          </a:p>
          <a:p>
            <a:pPr marL="457200" lvl="1" indent="0" algn="just">
              <a:spcBef>
                <a:spcPts val="400"/>
              </a:spcBef>
              <a:buSzPts val="2000"/>
              <a:buNone/>
            </a:pPr>
            <a:endParaRPr lang="en-US" sz="1880" dirty="0">
              <a:latin typeface="+mj-lt"/>
            </a:endParaRPr>
          </a:p>
          <a:p>
            <a:pPr marL="457200" lvl="1" indent="0" algn="just">
              <a:spcBef>
                <a:spcPts val="400"/>
              </a:spcBef>
              <a:buSzPts val="2000"/>
              <a:buNone/>
            </a:pPr>
            <a:r>
              <a:rPr lang="en-US" sz="1880" dirty="0">
                <a:latin typeface="+mj-lt"/>
              </a:rPr>
              <a:t>■ </a:t>
            </a:r>
            <a:r>
              <a:rPr lang="en-US" sz="1880" b="1" dirty="0">
                <a:latin typeface="+mj-lt"/>
              </a:rPr>
              <a:t>Various legal and ethical issues </a:t>
            </a:r>
            <a:r>
              <a:rPr lang="en-US" sz="1880" dirty="0">
                <a:latin typeface="+mj-lt"/>
              </a:rPr>
              <a:t>regarding the right to access certain information—for example, some information may be deemed to be private and cannot be accessed legally by unauthorized organizations or persons. </a:t>
            </a:r>
          </a:p>
          <a:p>
            <a:pPr marL="457200" lvl="1" indent="0" algn="just">
              <a:spcBef>
                <a:spcPts val="400"/>
              </a:spcBef>
              <a:buSzPts val="2000"/>
              <a:buNone/>
            </a:pPr>
            <a:endParaRPr lang="en-US" sz="1880" dirty="0">
              <a:latin typeface="+mj-lt"/>
            </a:endParaRPr>
          </a:p>
          <a:p>
            <a:pPr marL="457200" lvl="1" indent="0" algn="just">
              <a:spcBef>
                <a:spcPts val="400"/>
              </a:spcBef>
              <a:buSzPts val="2000"/>
              <a:buNone/>
            </a:pPr>
            <a:r>
              <a:rPr lang="en-US" sz="1880" dirty="0">
                <a:latin typeface="+mj-lt"/>
              </a:rPr>
              <a:t>■ </a:t>
            </a:r>
            <a:r>
              <a:rPr lang="en-US" sz="1880" b="1" dirty="0">
                <a:latin typeface="+mj-lt"/>
              </a:rPr>
              <a:t>Policy issues </a:t>
            </a:r>
            <a:r>
              <a:rPr lang="en-US" sz="1880" dirty="0">
                <a:latin typeface="+mj-lt"/>
              </a:rPr>
              <a:t>at the governmental, institutional, or corporate level as to what kinds of information should not be made publicly available—for example, credit ratings and personal medical records. </a:t>
            </a:r>
          </a:p>
          <a:p>
            <a:pPr marL="457200" lvl="1" indent="0" algn="just">
              <a:spcBef>
                <a:spcPts val="400"/>
              </a:spcBef>
              <a:buSzPts val="2000"/>
              <a:buNone/>
            </a:pPr>
            <a:endParaRPr lang="en-US" sz="1880" dirty="0">
              <a:latin typeface="+mj-lt"/>
            </a:endParaRPr>
          </a:p>
          <a:p>
            <a:pPr marL="457200" lvl="1" indent="0" algn="just">
              <a:spcBef>
                <a:spcPts val="400"/>
              </a:spcBef>
              <a:buSzPts val="2000"/>
              <a:buNone/>
            </a:pPr>
            <a:r>
              <a:rPr lang="en-US" sz="1880" b="1" dirty="0">
                <a:latin typeface="+mj-lt"/>
              </a:rPr>
              <a:t>■ System-related issues </a:t>
            </a:r>
            <a:r>
              <a:rPr lang="en-US" sz="1880" dirty="0">
                <a:latin typeface="+mj-lt"/>
              </a:rPr>
              <a:t>such as the system levels at which various security functions should be enforced—for example, whether a security function should be handled at the physical hardware level, the operating system level, or the DBMS level. </a:t>
            </a:r>
          </a:p>
          <a:p>
            <a:pPr marL="457200" lvl="1" indent="0" algn="just">
              <a:spcBef>
                <a:spcPts val="400"/>
              </a:spcBef>
              <a:buSzPts val="2000"/>
              <a:buNone/>
            </a:pPr>
            <a:endParaRPr lang="en-US" sz="1880" dirty="0">
              <a:latin typeface="+mj-lt"/>
            </a:endParaRPr>
          </a:p>
          <a:p>
            <a:pPr marL="457200" lvl="1" indent="0" algn="just">
              <a:spcBef>
                <a:spcPts val="400"/>
              </a:spcBef>
              <a:buSzPts val="2000"/>
              <a:buNone/>
            </a:pPr>
            <a:r>
              <a:rPr lang="en-US" sz="1880" dirty="0">
                <a:latin typeface="+mj-lt"/>
              </a:rPr>
              <a:t>■ The need in some organizations to identify multiple security levels and to categorize the data and users based on these classifications—for example, top secret, secret, confidential, and unclassified. </a:t>
            </a:r>
            <a:endParaRPr sz="1880" dirty="0">
              <a:latin typeface="+mj-lt"/>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5" name="Google Shape;615;p63"/>
          <p:cNvSpPr txBox="1">
            <a:spLocks noGrp="1"/>
          </p:cNvSpPr>
          <p:nvPr>
            <p:ph type="sldNum" idx="4294967295"/>
          </p:nvPr>
        </p:nvSpPr>
        <p:spPr>
          <a:xfrm>
            <a:off x="8077200" y="6248400"/>
            <a:ext cx="1905000" cy="457200"/>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11</a:t>
            </a:fld>
            <a:endParaRPr/>
          </a:p>
        </p:txBody>
      </p:sp>
      <p:sp>
        <p:nvSpPr>
          <p:cNvPr id="616" name="Google Shape;616;p63"/>
          <p:cNvSpPr txBox="1">
            <a:spLocks noGrp="1"/>
          </p:cNvSpPr>
          <p:nvPr>
            <p:ph type="title"/>
          </p:nvPr>
        </p:nvSpPr>
        <p:spPr>
          <a:xfrm>
            <a:off x="2514600" y="690283"/>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Levels of Data Security</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17" name="Google Shape;617;p63" descr="Rectangle: Click to edit Master text styles&#10;Second level&#10;Third level&#10;Fourth level&#10;Fifth level"/>
          <p:cNvSpPr txBox="1">
            <a:spLocks noGrp="1"/>
          </p:cNvSpPr>
          <p:nvPr>
            <p:ph type="body" idx="1"/>
          </p:nvPr>
        </p:nvSpPr>
        <p:spPr>
          <a:xfrm>
            <a:off x="2438400" y="2119256"/>
            <a:ext cx="8001000" cy="4129144"/>
          </a:xfrm>
          <a:prstGeom prst="rect">
            <a:avLst/>
          </a:prstGeom>
          <a:noFill/>
          <a:ln>
            <a:noFill/>
          </a:ln>
        </p:spPr>
        <p:txBody>
          <a:bodyPr spcFirstLastPara="1" wrap="square" lIns="91425" tIns="45700" rIns="91425" bIns="45700" anchor="t" anchorCtr="0">
            <a:normAutofit/>
          </a:bodyPr>
          <a:lstStyle/>
          <a:p>
            <a:pPr marL="342900" algn="just">
              <a:spcBef>
                <a:spcPts val="0"/>
              </a:spcBef>
              <a:buSzPts val="2000"/>
            </a:pPr>
            <a:r>
              <a:rPr lang="en-US" sz="1875" dirty="0">
                <a:solidFill>
                  <a:srgbClr val="000000"/>
                </a:solidFill>
                <a:latin typeface="Arial"/>
                <a:cs typeface="Arial"/>
                <a:sym typeface="Times New Roman"/>
              </a:rPr>
              <a:t>Human level: Corrupt/careless User</a:t>
            </a:r>
            <a:endParaRPr sz="1875" dirty="0">
              <a:solidFill>
                <a:srgbClr val="000000"/>
              </a:solidFill>
              <a:latin typeface="Arial"/>
              <a:cs typeface="Arial"/>
              <a:sym typeface="Arial"/>
            </a:endParaRPr>
          </a:p>
          <a:p>
            <a:pPr marL="342900" algn="just">
              <a:spcBef>
                <a:spcPts val="400"/>
              </a:spcBef>
              <a:buSzPts val="2000"/>
            </a:pPr>
            <a:r>
              <a:rPr lang="en-US" sz="1875" dirty="0">
                <a:solidFill>
                  <a:srgbClr val="000000"/>
                </a:solidFill>
                <a:latin typeface="Arial"/>
                <a:cs typeface="Arial"/>
                <a:sym typeface="Times New Roman"/>
              </a:rPr>
              <a:t>Network/User Interface</a:t>
            </a:r>
            <a:endParaRPr sz="1875" dirty="0">
              <a:solidFill>
                <a:srgbClr val="000000"/>
              </a:solidFill>
              <a:latin typeface="Arial"/>
              <a:cs typeface="Arial"/>
              <a:sym typeface="Arial"/>
            </a:endParaRPr>
          </a:p>
          <a:p>
            <a:pPr marL="342900" algn="just">
              <a:spcBef>
                <a:spcPts val="400"/>
              </a:spcBef>
              <a:buSzPts val="2000"/>
            </a:pPr>
            <a:r>
              <a:rPr lang="en-US" sz="1875" dirty="0">
                <a:solidFill>
                  <a:srgbClr val="000000"/>
                </a:solidFill>
                <a:latin typeface="Arial"/>
                <a:cs typeface="Arial"/>
                <a:sym typeface="Times New Roman"/>
              </a:rPr>
              <a:t>Database application program</a:t>
            </a:r>
            <a:endParaRPr sz="1875" dirty="0">
              <a:solidFill>
                <a:srgbClr val="000000"/>
              </a:solidFill>
              <a:latin typeface="Arial"/>
              <a:cs typeface="Arial"/>
              <a:sym typeface="Arial"/>
            </a:endParaRPr>
          </a:p>
          <a:p>
            <a:pPr marL="342900" algn="just">
              <a:spcBef>
                <a:spcPts val="400"/>
              </a:spcBef>
              <a:buSzPts val="2000"/>
            </a:pPr>
            <a:r>
              <a:rPr lang="en-US" sz="1875" dirty="0">
                <a:solidFill>
                  <a:srgbClr val="000000"/>
                </a:solidFill>
                <a:latin typeface="Arial"/>
                <a:cs typeface="Arial"/>
                <a:sym typeface="Times New Roman"/>
              </a:rPr>
              <a:t>Database system</a:t>
            </a:r>
            <a:endParaRPr sz="1875" dirty="0">
              <a:solidFill>
                <a:srgbClr val="000000"/>
              </a:solidFill>
              <a:latin typeface="Arial"/>
              <a:cs typeface="Arial"/>
              <a:sym typeface="Arial"/>
            </a:endParaRPr>
          </a:p>
          <a:p>
            <a:pPr marL="342900" algn="just">
              <a:spcBef>
                <a:spcPts val="400"/>
              </a:spcBef>
              <a:buSzPts val="2000"/>
            </a:pPr>
            <a:r>
              <a:rPr lang="en-US" sz="1875" dirty="0">
                <a:solidFill>
                  <a:srgbClr val="000000"/>
                </a:solidFill>
                <a:latin typeface="Arial"/>
                <a:cs typeface="Arial"/>
                <a:sym typeface="Times New Roman"/>
              </a:rPr>
              <a:t>Operating System</a:t>
            </a:r>
            <a:endParaRPr sz="1875" dirty="0">
              <a:solidFill>
                <a:srgbClr val="000000"/>
              </a:solidFill>
              <a:latin typeface="Arial"/>
              <a:cs typeface="Arial"/>
              <a:sym typeface="Arial"/>
            </a:endParaRPr>
          </a:p>
          <a:p>
            <a:pPr marL="342900" algn="just">
              <a:spcBef>
                <a:spcPts val="400"/>
              </a:spcBef>
              <a:buSzPts val="2000"/>
            </a:pPr>
            <a:r>
              <a:rPr lang="en-US" sz="1875" dirty="0">
                <a:solidFill>
                  <a:srgbClr val="000000"/>
                </a:solidFill>
                <a:latin typeface="Arial"/>
                <a:cs typeface="Arial"/>
                <a:sym typeface="Times New Roman"/>
              </a:rPr>
              <a:t>Physical level</a:t>
            </a:r>
            <a:endParaRPr sz="1875" dirty="0">
              <a:solidFill>
                <a:srgbClr val="000000"/>
              </a:solidFill>
              <a:latin typeface="Arial"/>
              <a:cs typeface="Arial"/>
              <a:sym typeface="Arial"/>
            </a:endParaRPr>
          </a:p>
          <a:p>
            <a:pPr marL="342900" indent="-215900" algn="just">
              <a:spcBef>
                <a:spcPts val="400"/>
              </a:spcBef>
              <a:buSzPts val="2000"/>
              <a:buNone/>
            </a:pPr>
            <a:endParaRPr sz="2000" dirty="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64"/>
          <p:cNvSpPr txBox="1">
            <a:spLocks noGrp="1"/>
          </p:cNvSpPr>
          <p:nvPr>
            <p:ph type="title"/>
          </p:nvPr>
        </p:nvSpPr>
        <p:spPr>
          <a:xfrm>
            <a:off x="2514600" y="609600"/>
            <a:ext cx="5638800" cy="7620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Physical/OS Security</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24" name="Google Shape;624;p64" descr="Rectangle: Click to edit Master text styles&#10;Second level&#10;Third level&#10;Fourth level&#10;Fifth level"/>
          <p:cNvSpPr txBox="1">
            <a:spLocks noGrp="1"/>
          </p:cNvSpPr>
          <p:nvPr>
            <p:ph type="body" idx="1"/>
          </p:nvPr>
        </p:nvSpPr>
        <p:spPr>
          <a:xfrm>
            <a:off x="2209800" y="1600200"/>
            <a:ext cx="7848600" cy="3929231"/>
          </a:xfrm>
          <a:prstGeom prst="rect">
            <a:avLst/>
          </a:prstGeom>
          <a:noFill/>
          <a:ln>
            <a:noFill/>
          </a:ln>
        </p:spPr>
        <p:txBody>
          <a:bodyPr spcFirstLastPara="1" wrap="square" lIns="91425" tIns="45700" rIns="91425" bIns="45700" anchor="t" anchorCtr="0">
            <a:normAutofit lnSpcReduction="10000"/>
          </a:bodyPr>
          <a:lstStyle/>
          <a:p>
            <a:pPr marL="342900">
              <a:spcBef>
                <a:spcPts val="0"/>
              </a:spcBef>
              <a:buSzPts val="2000"/>
            </a:pPr>
            <a:r>
              <a:rPr lang="en-US" sz="1880" b="1" dirty="0">
                <a:latin typeface="+mj-lt"/>
                <a:ea typeface="Times New Roman"/>
                <a:cs typeface="Times New Roman"/>
                <a:sym typeface="Times New Roman"/>
              </a:rPr>
              <a:t>Physical level</a:t>
            </a:r>
          </a:p>
          <a:p>
            <a:pPr marL="342900">
              <a:spcBef>
                <a:spcPts val="0"/>
              </a:spcBef>
              <a:buSzPts val="2000"/>
            </a:pPr>
            <a:endParaRPr sz="1880" dirty="0">
              <a:latin typeface="+mj-lt"/>
            </a:endParaRPr>
          </a:p>
          <a:p>
            <a:pPr marL="742950" lvl="1" indent="-285750">
              <a:spcBef>
                <a:spcPts val="400"/>
              </a:spcBef>
              <a:buSzPts val="2000"/>
              <a:buChar char="–"/>
            </a:pPr>
            <a:r>
              <a:rPr lang="en-US" sz="1880" dirty="0">
                <a:latin typeface="+mj-lt"/>
                <a:ea typeface="Times New Roman"/>
                <a:cs typeface="Times New Roman"/>
                <a:sym typeface="Times New Roman"/>
              </a:rPr>
              <a:t>Traditional lock-and-key security</a:t>
            </a:r>
            <a:endParaRPr sz="1880" dirty="0">
              <a:latin typeface="+mj-lt"/>
            </a:endParaRPr>
          </a:p>
          <a:p>
            <a:pPr marL="742950" lvl="1" indent="-285750">
              <a:spcBef>
                <a:spcPts val="400"/>
              </a:spcBef>
              <a:buSzPts val="2000"/>
              <a:buChar char="–"/>
            </a:pPr>
            <a:r>
              <a:rPr lang="en-US" sz="1880" dirty="0">
                <a:latin typeface="+mj-lt"/>
                <a:ea typeface="Times New Roman"/>
                <a:cs typeface="Times New Roman"/>
                <a:sym typeface="Times New Roman"/>
              </a:rPr>
              <a:t>Protection from floods, fire, etc. </a:t>
            </a:r>
            <a:endParaRPr sz="1880" dirty="0">
              <a:latin typeface="+mj-lt"/>
            </a:endParaRPr>
          </a:p>
          <a:p>
            <a:pPr marL="1143000" lvl="2" indent="-228600">
              <a:spcBef>
                <a:spcPts val="400"/>
              </a:spcBef>
              <a:buSzPts val="2000"/>
            </a:pPr>
            <a:r>
              <a:rPr lang="en-US" sz="1880" dirty="0">
                <a:latin typeface="+mj-lt"/>
                <a:ea typeface="Times New Roman"/>
                <a:cs typeface="Times New Roman"/>
                <a:sym typeface="Times New Roman"/>
              </a:rPr>
              <a:t>E.g. WTC (9/11), fires in IITM, WWW conf website, etc.</a:t>
            </a:r>
            <a:endParaRPr sz="1880" dirty="0">
              <a:latin typeface="+mj-lt"/>
            </a:endParaRPr>
          </a:p>
          <a:p>
            <a:pPr marL="742950" lvl="1" indent="-285750">
              <a:spcBef>
                <a:spcPts val="400"/>
              </a:spcBef>
              <a:buSzPts val="2000"/>
              <a:buChar char="–"/>
            </a:pPr>
            <a:r>
              <a:rPr lang="en-US" sz="1880" dirty="0">
                <a:latin typeface="+mj-lt"/>
                <a:ea typeface="Times New Roman"/>
                <a:cs typeface="Times New Roman"/>
                <a:sym typeface="Times New Roman"/>
              </a:rPr>
              <a:t>Protection from administrator error</a:t>
            </a:r>
            <a:endParaRPr sz="1880" dirty="0">
              <a:latin typeface="+mj-lt"/>
            </a:endParaRPr>
          </a:p>
          <a:p>
            <a:pPr marL="1143000" lvl="2" indent="-228600">
              <a:spcBef>
                <a:spcPts val="400"/>
              </a:spcBef>
              <a:buSzPts val="2000"/>
            </a:pPr>
            <a:r>
              <a:rPr lang="en-US" sz="1880" dirty="0">
                <a:latin typeface="+mj-lt"/>
                <a:ea typeface="Times New Roman"/>
                <a:cs typeface="Times New Roman"/>
                <a:sym typeface="Times New Roman"/>
              </a:rPr>
              <a:t>E.g. delete critical files</a:t>
            </a:r>
            <a:endParaRPr sz="1880" dirty="0">
              <a:latin typeface="+mj-lt"/>
            </a:endParaRPr>
          </a:p>
          <a:p>
            <a:pPr marL="742950" lvl="1" indent="-285750">
              <a:spcBef>
                <a:spcPts val="400"/>
              </a:spcBef>
              <a:buSzPts val="2000"/>
              <a:buChar char="–"/>
            </a:pPr>
            <a:r>
              <a:rPr lang="en-US" sz="1880" dirty="0">
                <a:latin typeface="+mj-lt"/>
                <a:ea typeface="Times New Roman"/>
                <a:cs typeface="Times New Roman"/>
                <a:sym typeface="Times New Roman"/>
              </a:rPr>
              <a:t>Solution</a:t>
            </a:r>
            <a:endParaRPr sz="1880" dirty="0">
              <a:latin typeface="+mj-lt"/>
            </a:endParaRPr>
          </a:p>
          <a:p>
            <a:pPr marL="1143000" lvl="2" indent="-228600">
              <a:spcBef>
                <a:spcPts val="400"/>
              </a:spcBef>
              <a:buSzPts val="2000"/>
            </a:pPr>
            <a:r>
              <a:rPr lang="en-US" sz="1880" dirty="0">
                <a:latin typeface="+mj-lt"/>
                <a:ea typeface="Times New Roman"/>
                <a:cs typeface="Times New Roman"/>
                <a:sym typeface="Times New Roman"/>
              </a:rPr>
              <a:t>Remote backup for disaster recovery</a:t>
            </a:r>
            <a:endParaRPr sz="1880" dirty="0">
              <a:latin typeface="+mj-lt"/>
            </a:endParaRPr>
          </a:p>
          <a:p>
            <a:pPr marL="1143000" lvl="2" indent="-228600">
              <a:spcBef>
                <a:spcPts val="400"/>
              </a:spcBef>
              <a:buSzPts val="2000"/>
            </a:pPr>
            <a:r>
              <a:rPr lang="en-US" sz="1880" dirty="0">
                <a:latin typeface="+mj-lt"/>
                <a:ea typeface="Times New Roman"/>
                <a:cs typeface="Times New Roman"/>
                <a:sym typeface="Times New Roman"/>
              </a:rPr>
              <a:t>Plus archival backup (e.g. DVDs/tapes)</a:t>
            </a:r>
          </a:p>
          <a:p>
            <a:pPr marL="1143000" lvl="2" indent="-228600">
              <a:spcBef>
                <a:spcPts val="400"/>
              </a:spcBef>
              <a:buSzPts val="2000"/>
            </a:pPr>
            <a:endParaRPr sz="1880" dirty="0">
              <a:latin typeface="+mj-lt"/>
            </a:endParaRPr>
          </a:p>
          <a:p>
            <a:pPr marL="342900">
              <a:spcBef>
                <a:spcPts val="400"/>
              </a:spcBef>
              <a:buSzPts val="2000"/>
            </a:pPr>
            <a:r>
              <a:rPr lang="en-US" sz="1880" b="1" dirty="0">
                <a:latin typeface="+mj-lt"/>
                <a:ea typeface="Times New Roman"/>
                <a:cs typeface="Times New Roman"/>
                <a:sym typeface="Times New Roman"/>
              </a:rPr>
              <a:t>Operating system level</a:t>
            </a:r>
          </a:p>
          <a:p>
            <a:pPr marL="0" indent="0">
              <a:spcBef>
                <a:spcPts val="400"/>
              </a:spcBef>
              <a:buSzPts val="2000"/>
              <a:buNone/>
            </a:pPr>
            <a:endParaRPr sz="1880" dirty="0">
              <a:latin typeface="+mj-lt"/>
            </a:endParaRPr>
          </a:p>
          <a:p>
            <a:pPr marL="742950" lvl="1" indent="-285750">
              <a:spcBef>
                <a:spcPts val="400"/>
              </a:spcBef>
              <a:buSzPts val="2000"/>
              <a:buChar char="–"/>
            </a:pPr>
            <a:r>
              <a:rPr lang="en-US" sz="1880" dirty="0">
                <a:latin typeface="+mj-lt"/>
                <a:ea typeface="Times New Roman"/>
                <a:cs typeface="Times New Roman"/>
                <a:sym typeface="Times New Roman"/>
              </a:rPr>
              <a:t>Protection from virus/worm attacks critical</a:t>
            </a:r>
            <a:endParaRPr sz="1880" dirty="0">
              <a:latin typeface="+mj-lt"/>
            </a:endParaRPr>
          </a:p>
        </p:txBody>
      </p:sp>
      <p:pic>
        <p:nvPicPr>
          <p:cNvPr id="625" name="Google Shape;625;p64" descr="Dell3000"/>
          <p:cNvPicPr preferRelativeResize="0"/>
          <p:nvPr/>
        </p:nvPicPr>
        <p:blipFill rotWithShape="1">
          <a:blip r:embed="rId3">
            <a:alphaModFix/>
          </a:blip>
          <a:srcRect/>
          <a:stretch/>
        </p:blipFill>
        <p:spPr>
          <a:xfrm>
            <a:off x="9677400" y="152400"/>
            <a:ext cx="2393950" cy="2438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65"/>
          <p:cNvSpPr txBox="1">
            <a:spLocks noGrp="1"/>
          </p:cNvSpPr>
          <p:nvPr>
            <p:ph type="title"/>
          </p:nvPr>
        </p:nvSpPr>
        <p:spPr>
          <a:xfrm>
            <a:off x="2590800" y="533400"/>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Database Encryption</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32" name="Google Shape;632;p65" descr="Rectangle: Click to edit Master text styles&#10;Second level&#10;Third level&#10;Fourth level&#10;Fifth level"/>
          <p:cNvSpPr txBox="1">
            <a:spLocks noGrp="1"/>
          </p:cNvSpPr>
          <p:nvPr>
            <p:ph type="body" idx="1"/>
          </p:nvPr>
        </p:nvSpPr>
        <p:spPr>
          <a:xfrm>
            <a:off x="2133600" y="1683572"/>
            <a:ext cx="8229600" cy="3886200"/>
          </a:xfrm>
          <a:prstGeom prst="rect">
            <a:avLst/>
          </a:prstGeom>
          <a:noFill/>
          <a:ln>
            <a:noFill/>
          </a:ln>
        </p:spPr>
        <p:txBody>
          <a:bodyPr spcFirstLastPara="1" wrap="square" lIns="91425" tIns="45700" rIns="91425" bIns="45700" anchor="t" anchorCtr="0">
            <a:noAutofit/>
          </a:bodyPr>
          <a:lstStyle/>
          <a:p>
            <a:pPr marL="342900">
              <a:spcBef>
                <a:spcPts val="0"/>
              </a:spcBef>
              <a:buSzPts val="2000"/>
            </a:pPr>
            <a:r>
              <a:rPr lang="en-US" sz="1850" dirty="0">
                <a:latin typeface="+mj-lt"/>
                <a:ea typeface="Times New Roman"/>
                <a:cs typeface="Times New Roman"/>
                <a:sym typeface="Times New Roman"/>
              </a:rPr>
              <a:t>E.g. What if a laptop/disk/USB key with critical data is lost?</a:t>
            </a:r>
          </a:p>
          <a:p>
            <a:pPr marL="342900">
              <a:spcBef>
                <a:spcPts val="0"/>
              </a:spcBef>
              <a:buSzPts val="2000"/>
            </a:pPr>
            <a:endParaRPr sz="1850" dirty="0">
              <a:latin typeface="+mj-lt"/>
            </a:endParaRPr>
          </a:p>
          <a:p>
            <a:pPr marL="342900">
              <a:spcBef>
                <a:spcPts val="400"/>
              </a:spcBef>
              <a:buSzPts val="2000"/>
            </a:pPr>
            <a:r>
              <a:rPr lang="en-US" sz="1850" dirty="0">
                <a:latin typeface="+mj-lt"/>
                <a:ea typeface="Times New Roman"/>
                <a:cs typeface="Times New Roman"/>
                <a:sym typeface="Times New Roman"/>
              </a:rPr>
              <a:t>Partial solution: encrypt the database at storage level, transparent to application</a:t>
            </a:r>
          </a:p>
          <a:p>
            <a:pPr marL="342900">
              <a:spcBef>
                <a:spcPts val="400"/>
              </a:spcBef>
              <a:buSzPts val="2000"/>
            </a:pPr>
            <a:endParaRPr sz="1850" dirty="0">
              <a:latin typeface="+mj-lt"/>
            </a:endParaRPr>
          </a:p>
          <a:p>
            <a:pPr marL="742950" lvl="1" indent="-285750">
              <a:spcBef>
                <a:spcPts val="400"/>
              </a:spcBef>
              <a:buSzPts val="2000"/>
              <a:buChar char="–"/>
            </a:pPr>
            <a:r>
              <a:rPr lang="en-US" sz="1850" dirty="0">
                <a:latin typeface="+mj-lt"/>
                <a:ea typeface="Times New Roman"/>
                <a:cs typeface="Times New Roman"/>
                <a:sym typeface="Times New Roman"/>
              </a:rPr>
              <a:t>Main issue: key management</a:t>
            </a:r>
            <a:endParaRPr sz="1850" dirty="0">
              <a:latin typeface="+mj-lt"/>
            </a:endParaRPr>
          </a:p>
          <a:p>
            <a:pPr marL="1143000" lvl="2" indent="-228600">
              <a:spcBef>
                <a:spcPts val="400"/>
              </a:spcBef>
              <a:buSzPts val="2000"/>
            </a:pPr>
            <a:r>
              <a:rPr lang="en-US" sz="1850" dirty="0">
                <a:latin typeface="+mj-lt"/>
                <a:ea typeface="Times New Roman"/>
                <a:cs typeface="Times New Roman"/>
                <a:sym typeface="Times New Roman"/>
              </a:rPr>
              <a:t>E.g. user provides decryption key (password) when database is started up</a:t>
            </a:r>
          </a:p>
          <a:p>
            <a:pPr marL="1143000" lvl="2" indent="-228600">
              <a:spcBef>
                <a:spcPts val="400"/>
              </a:spcBef>
              <a:buSzPts val="2000"/>
            </a:pPr>
            <a:endParaRPr sz="1850" dirty="0">
              <a:latin typeface="+mj-lt"/>
            </a:endParaRPr>
          </a:p>
          <a:p>
            <a:pPr marL="742950" lvl="1" indent="-285750">
              <a:spcBef>
                <a:spcPts val="400"/>
              </a:spcBef>
              <a:buSzPts val="2000"/>
              <a:buChar char="–"/>
            </a:pPr>
            <a:r>
              <a:rPr lang="en-US" sz="1850" dirty="0">
                <a:latin typeface="+mj-lt"/>
                <a:ea typeface="Times New Roman"/>
                <a:cs typeface="Times New Roman"/>
                <a:sym typeface="Times New Roman"/>
              </a:rPr>
              <a:t>Supported by many database systems</a:t>
            </a:r>
            <a:endParaRPr sz="1850" dirty="0">
              <a:latin typeface="+mj-lt"/>
            </a:endParaRPr>
          </a:p>
          <a:p>
            <a:pPr marL="1143000" lvl="2" indent="-228600">
              <a:spcBef>
                <a:spcPts val="400"/>
              </a:spcBef>
              <a:buSzPts val="2000"/>
            </a:pPr>
            <a:r>
              <a:rPr lang="en-US" sz="1850" dirty="0">
                <a:latin typeface="+mj-lt"/>
                <a:ea typeface="Times New Roman"/>
                <a:cs typeface="Times New Roman"/>
                <a:sym typeface="Times New Roman"/>
              </a:rPr>
              <a:t>Standard practice now to encrypt credit card information, and other sensitive information</a:t>
            </a:r>
            <a:endParaRPr sz="1850" dirty="0">
              <a:latin typeface="+mj-lt"/>
            </a:endParaRPr>
          </a:p>
          <a:p>
            <a:pPr marL="342900" indent="-215900">
              <a:spcBef>
                <a:spcPts val="400"/>
              </a:spcBef>
              <a:buSzPts val="2000"/>
              <a:buNone/>
            </a:pPr>
            <a:endParaRPr sz="2000" dirty="0">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3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66"/>
          <p:cNvSpPr txBox="1">
            <a:spLocks noGrp="1"/>
          </p:cNvSpPr>
          <p:nvPr>
            <p:ph type="title"/>
          </p:nvPr>
        </p:nvSpPr>
        <p:spPr>
          <a:xfrm>
            <a:off x="2363788" y="453016"/>
            <a:ext cx="7772400" cy="990600"/>
          </a:xfrm>
          <a:prstGeom prst="rect">
            <a:avLst/>
          </a:prstGeom>
          <a:noFill/>
          <a:ln>
            <a:noFill/>
          </a:ln>
        </p:spPr>
        <p:txBody>
          <a:bodyPr spcFirstLastPara="1" wrap="square" lIns="91425" tIns="45700" rIns="91425" bIns="45700" anchor="t" anchorCtr="0">
            <a:noAutofit/>
          </a:bodyPr>
          <a:lstStyle/>
          <a:p>
            <a:pPr>
              <a:buClr>
                <a:srgbClr val="FF0000"/>
              </a:buClr>
            </a:pPr>
            <a:r>
              <a:rPr lang="en-US" sz="3250" dirty="0">
                <a:solidFill>
                  <a:srgbClr val="C00000"/>
                </a:solidFill>
                <a:latin typeface="Arimo" panose="020B0604020202020204" charset="0"/>
                <a:ea typeface="Arimo" panose="020B0604020202020204" charset="0"/>
                <a:cs typeface="Arimo" panose="020B0604020202020204" charset="0"/>
                <a:sym typeface="Times New Roman"/>
              </a:rPr>
              <a:t>Database/Application Program</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39" name="Google Shape;639;p66" descr="Rectangle: Click to edit Master text styles&#10;Second level&#10;Third level&#10;Fourth level&#10;Fifth level"/>
          <p:cNvSpPr txBox="1">
            <a:spLocks noGrp="1"/>
          </p:cNvSpPr>
          <p:nvPr>
            <p:ph type="body" idx="1"/>
          </p:nvPr>
        </p:nvSpPr>
        <p:spPr>
          <a:xfrm>
            <a:off x="1905000" y="1600200"/>
            <a:ext cx="4114800" cy="5029200"/>
          </a:xfrm>
          <a:prstGeom prst="rect">
            <a:avLst/>
          </a:prstGeom>
          <a:noFill/>
          <a:ln>
            <a:noFill/>
          </a:ln>
        </p:spPr>
        <p:txBody>
          <a:bodyPr spcFirstLastPara="1" wrap="square" lIns="91425" tIns="45700" rIns="91425" bIns="45700" anchor="t" anchorCtr="0">
            <a:noAutofit/>
          </a:bodyPr>
          <a:lstStyle/>
          <a:p>
            <a:pPr marL="342900" indent="-342900" algn="just">
              <a:spcBef>
                <a:spcPts val="0"/>
              </a:spcBef>
              <a:buSzPts val="2000"/>
            </a:pPr>
            <a:r>
              <a:rPr lang="en-US" sz="1850" dirty="0">
                <a:latin typeface="+mj-lt"/>
                <a:ea typeface="Times New Roman"/>
                <a:cs typeface="Times New Roman"/>
                <a:sym typeface="Times New Roman"/>
              </a:rPr>
              <a:t>Authentication and authorization mechanisms to allow specific users access only to required data</a:t>
            </a:r>
          </a:p>
          <a:p>
            <a:pPr marL="342900" indent="-342900" algn="just">
              <a:spcBef>
                <a:spcPts val="0"/>
              </a:spcBef>
              <a:buSzPts val="2000"/>
            </a:pPr>
            <a:endParaRPr sz="1850" dirty="0">
              <a:latin typeface="+mj-lt"/>
            </a:endParaRPr>
          </a:p>
          <a:p>
            <a:pPr marL="342900" indent="-342900" algn="just">
              <a:spcBef>
                <a:spcPts val="400"/>
              </a:spcBef>
              <a:buClr>
                <a:schemeClr val="dk2"/>
              </a:buClr>
              <a:buSzPts val="2000"/>
            </a:pPr>
            <a:r>
              <a:rPr lang="en-US" sz="1850" dirty="0">
                <a:solidFill>
                  <a:schemeClr val="dk2"/>
                </a:solidFill>
                <a:latin typeface="+mj-lt"/>
                <a:ea typeface="Times New Roman"/>
                <a:cs typeface="Times New Roman"/>
                <a:sym typeface="Times New Roman"/>
              </a:rPr>
              <a:t>Authentication</a:t>
            </a:r>
            <a:r>
              <a:rPr lang="en-US" sz="1850" dirty="0">
                <a:latin typeface="+mj-lt"/>
                <a:ea typeface="Times New Roman"/>
                <a:cs typeface="Times New Roman"/>
                <a:sym typeface="Times New Roman"/>
              </a:rPr>
              <a:t>:  </a:t>
            </a:r>
            <a:endParaRPr sz="1850" dirty="0">
              <a:latin typeface="+mj-lt"/>
            </a:endParaRPr>
          </a:p>
          <a:p>
            <a:pPr marL="742950" lvl="1" indent="-285750" algn="just">
              <a:spcBef>
                <a:spcPts val="400"/>
              </a:spcBef>
              <a:buSzPts val="2000"/>
            </a:pPr>
            <a:r>
              <a:rPr lang="en-US" sz="1850" dirty="0">
                <a:latin typeface="+mj-lt"/>
                <a:ea typeface="Times New Roman"/>
                <a:cs typeface="Times New Roman"/>
                <a:sym typeface="Times New Roman"/>
              </a:rPr>
              <a:t>who are you? Prove it!</a:t>
            </a:r>
          </a:p>
          <a:p>
            <a:pPr marL="457200" lvl="1" indent="0" algn="just">
              <a:spcBef>
                <a:spcPts val="400"/>
              </a:spcBef>
              <a:buSzPts val="2000"/>
              <a:buNone/>
            </a:pPr>
            <a:endParaRPr sz="1850" dirty="0">
              <a:latin typeface="+mj-lt"/>
            </a:endParaRPr>
          </a:p>
          <a:p>
            <a:pPr marL="342900" indent="-342900" algn="just">
              <a:spcBef>
                <a:spcPts val="400"/>
              </a:spcBef>
              <a:buClr>
                <a:schemeClr val="dk2"/>
              </a:buClr>
              <a:buSzPts val="2000"/>
            </a:pPr>
            <a:r>
              <a:rPr lang="en-US" sz="1850" dirty="0">
                <a:solidFill>
                  <a:schemeClr val="dk2"/>
                </a:solidFill>
                <a:latin typeface="+mj-lt"/>
                <a:ea typeface="Times New Roman"/>
                <a:cs typeface="Times New Roman"/>
                <a:sym typeface="Times New Roman"/>
              </a:rPr>
              <a:t>Authorization</a:t>
            </a:r>
            <a:r>
              <a:rPr lang="en-US" sz="1850" dirty="0">
                <a:latin typeface="+mj-lt"/>
                <a:ea typeface="Times New Roman"/>
                <a:cs typeface="Times New Roman"/>
                <a:sym typeface="Times New Roman"/>
              </a:rPr>
              <a:t>:   </a:t>
            </a:r>
            <a:endParaRPr sz="1850" dirty="0">
              <a:latin typeface="+mj-lt"/>
            </a:endParaRPr>
          </a:p>
          <a:p>
            <a:pPr marL="742950" lvl="1" indent="-285750" algn="just">
              <a:spcBef>
                <a:spcPts val="400"/>
              </a:spcBef>
              <a:buSzPts val="2000"/>
            </a:pPr>
            <a:r>
              <a:rPr lang="en-US" sz="1850" dirty="0">
                <a:latin typeface="+mj-lt"/>
                <a:ea typeface="Times New Roman"/>
                <a:cs typeface="Times New Roman"/>
                <a:sym typeface="Times New Roman"/>
              </a:rPr>
              <a:t>what you are allowed to do</a:t>
            </a:r>
            <a:endParaRPr sz="1850" dirty="0">
              <a:latin typeface="+mj-lt"/>
            </a:endParaRPr>
          </a:p>
        </p:txBody>
      </p:sp>
      <p:sp>
        <p:nvSpPr>
          <p:cNvPr id="640" name="Google Shape;640;p66" descr="Rectangle: Click to edit Master text styles&#10;Second level&#10;Third level&#10;Fourth level&#10;Fifth level"/>
          <p:cNvSpPr>
            <a:spLocks noGrp="1"/>
          </p:cNvSpPr>
          <p:nvPr>
            <p:ph type="clipArt" idx="2"/>
          </p:nvPr>
        </p:nvSpPr>
        <p:spPr>
          <a:xfrm>
            <a:off x="6249988" y="1524000"/>
            <a:ext cx="3884612" cy="4648200"/>
          </a:xfrm>
          <a:prstGeom prst="rect">
            <a:avLst/>
          </a:prstGeom>
          <a:noFill/>
          <a:ln>
            <a:noFill/>
          </a:ln>
        </p:spPr>
        <p:txBody>
          <a:bodyPr/>
          <a:lstStyle/>
          <a:p>
            <a:endParaRPr lang="en-US"/>
          </a:p>
        </p:txBody>
      </p:sp>
      <p:pic>
        <p:nvPicPr>
          <p:cNvPr id="641" name="Google Shape;641;p66" descr="security2"/>
          <p:cNvPicPr preferRelativeResize="0"/>
          <p:nvPr/>
        </p:nvPicPr>
        <p:blipFill rotWithShape="1">
          <a:blip r:embed="rId3">
            <a:alphaModFix/>
          </a:blip>
          <a:srcRect/>
          <a:stretch/>
        </p:blipFill>
        <p:spPr>
          <a:xfrm>
            <a:off x="6477000" y="1600200"/>
            <a:ext cx="3822700" cy="4775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7"/>
          <p:cNvSpPr txBox="1">
            <a:spLocks noGrp="1"/>
          </p:cNvSpPr>
          <p:nvPr>
            <p:ph type="title"/>
          </p:nvPr>
        </p:nvSpPr>
        <p:spPr>
          <a:xfrm>
            <a:off x="2514600" y="457200"/>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Network Security</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48" name="Google Shape;648;p67" descr="Rectangle: Click to edit Master text styles&#10;Second level&#10;Third level&#10;Fourth level&#10;Fifth level"/>
          <p:cNvSpPr txBox="1">
            <a:spLocks noGrp="1"/>
          </p:cNvSpPr>
          <p:nvPr>
            <p:ph type="body" idx="1"/>
          </p:nvPr>
        </p:nvSpPr>
        <p:spPr>
          <a:xfrm>
            <a:off x="1577788" y="1506071"/>
            <a:ext cx="7924800" cy="4572000"/>
          </a:xfrm>
          <a:prstGeom prst="rect">
            <a:avLst/>
          </a:prstGeom>
          <a:noFill/>
          <a:ln>
            <a:noFill/>
          </a:ln>
        </p:spPr>
        <p:txBody>
          <a:bodyPr spcFirstLastPara="1" wrap="square" lIns="91425" tIns="45700" rIns="91425" bIns="45700" anchor="t" anchorCtr="0">
            <a:noAutofit/>
          </a:bodyPr>
          <a:lstStyle/>
          <a:p>
            <a:pPr marL="342900" algn="just">
              <a:spcBef>
                <a:spcPts val="0"/>
              </a:spcBef>
              <a:buSzPts val="2000"/>
            </a:pPr>
            <a:r>
              <a:rPr lang="en-US" sz="1880" dirty="0">
                <a:latin typeface="+mj-lt"/>
                <a:ea typeface="Times New Roman"/>
                <a:cs typeface="Times New Roman"/>
                <a:sym typeface="Times New Roman"/>
              </a:rPr>
              <a:t>Network level:  must use encryption to prevent</a:t>
            </a: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Eavesdropping: unauthorized reading of messages</a:t>
            </a: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Masquerading: </a:t>
            </a: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pretending to be an authorized user or legitimate site, or</a:t>
            </a: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sending messages supposedly from authorized users </a:t>
            </a: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Handled by secure http  -   https://</a:t>
            </a:r>
            <a:endParaRPr sz="1880" dirty="0">
              <a:latin typeface="+mj-lt"/>
            </a:endParaRPr>
          </a:p>
          <a:p>
            <a:pPr marL="342900" indent="-215900" algn="just">
              <a:spcBef>
                <a:spcPts val="400"/>
              </a:spcBef>
              <a:buSzPts val="2000"/>
              <a:buNone/>
            </a:pPr>
            <a:endParaRPr sz="1880" dirty="0">
              <a:latin typeface="+mj-lt"/>
              <a:ea typeface="Times New Roman"/>
              <a:cs typeface="Times New Roman"/>
              <a:sym typeface="Times New Roman"/>
            </a:endParaRPr>
          </a:p>
          <a:p>
            <a:pPr marL="342900" algn="just">
              <a:spcBef>
                <a:spcPts val="400"/>
              </a:spcBef>
              <a:buSzPts val="2000"/>
            </a:pPr>
            <a:r>
              <a:rPr lang="en-US" sz="1880" dirty="0">
                <a:latin typeface="+mj-lt"/>
                <a:ea typeface="Times New Roman"/>
                <a:cs typeface="Times New Roman"/>
                <a:sym typeface="Times New Roman"/>
              </a:rPr>
              <a:t>Must prevent person-in-the-middle attacks </a:t>
            </a: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E.g. someone impersonates seller or bank/credit card company and fool's buyer into revealing information </a:t>
            </a:r>
            <a:endParaRPr sz="1880" dirty="0">
              <a:latin typeface="+mj-lt"/>
            </a:endParaRPr>
          </a:p>
          <a:p>
            <a:pPr marL="342900" indent="-215900">
              <a:spcBef>
                <a:spcPts val="400"/>
              </a:spcBef>
              <a:buSzPts val="2000"/>
              <a:buNone/>
            </a:pPr>
            <a:endParaRPr sz="2000" dirty="0">
              <a:latin typeface="Times New Roman"/>
              <a:ea typeface="Times New Roman"/>
              <a:cs typeface="Times New Roman"/>
              <a:sym typeface="Times New Roman"/>
            </a:endParaRPr>
          </a:p>
        </p:txBody>
      </p:sp>
      <p:pic>
        <p:nvPicPr>
          <p:cNvPr id="649" name="Google Shape;649;p67" descr="network"/>
          <p:cNvPicPr preferRelativeResize="0"/>
          <p:nvPr/>
        </p:nvPicPr>
        <p:blipFill rotWithShape="1">
          <a:blip r:embed="rId3">
            <a:alphaModFix/>
          </a:blip>
          <a:srcRect/>
          <a:stretch/>
        </p:blipFill>
        <p:spPr>
          <a:xfrm>
            <a:off x="9620250" y="246062"/>
            <a:ext cx="2571750" cy="2251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68"/>
          <p:cNvSpPr txBox="1">
            <a:spLocks noGrp="1"/>
          </p:cNvSpPr>
          <p:nvPr>
            <p:ph type="title"/>
          </p:nvPr>
        </p:nvSpPr>
        <p:spPr>
          <a:xfrm>
            <a:off x="2514600" y="533400"/>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0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Human level /User Authentication</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56" name="Google Shape;656;p68" descr="Rectangle: Click to edit Master text styles&#10;Second level&#10;Third level&#10;Fourth level&#10;Fifth level"/>
          <p:cNvSpPr txBox="1">
            <a:spLocks noGrp="1"/>
          </p:cNvSpPr>
          <p:nvPr>
            <p:ph type="body" idx="1"/>
          </p:nvPr>
        </p:nvSpPr>
        <p:spPr>
          <a:xfrm>
            <a:off x="2133600" y="1371600"/>
            <a:ext cx="7924800" cy="4343400"/>
          </a:xfrm>
          <a:prstGeom prst="rect">
            <a:avLst/>
          </a:prstGeom>
          <a:noFill/>
          <a:ln>
            <a:noFill/>
          </a:ln>
        </p:spPr>
        <p:txBody>
          <a:bodyPr spcFirstLastPara="1" wrap="square" lIns="91425" tIns="45700" rIns="91425" bIns="45700" anchor="t" anchorCtr="0">
            <a:normAutofit/>
          </a:bodyPr>
          <a:lstStyle/>
          <a:p>
            <a:pPr marL="342900" algn="just">
              <a:spcBef>
                <a:spcPts val="0"/>
              </a:spcBef>
              <a:buSzPts val="2000"/>
            </a:pPr>
            <a:r>
              <a:rPr lang="en-US" sz="1880" dirty="0">
                <a:latin typeface="+mj-lt"/>
                <a:ea typeface="Times New Roman"/>
                <a:cs typeface="Times New Roman"/>
                <a:sym typeface="Times New Roman"/>
              </a:rPr>
              <a:t>Password</a:t>
            </a: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Most users abuse passwords. For e.g.</a:t>
            </a: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Easy to guess password</a:t>
            </a: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Share passwords with others</a:t>
            </a:r>
            <a:endParaRPr sz="1880" dirty="0">
              <a:latin typeface="+mj-lt"/>
            </a:endParaRPr>
          </a:p>
          <a:p>
            <a:pPr marL="342900" algn="just">
              <a:spcBef>
                <a:spcPts val="400"/>
              </a:spcBef>
              <a:buSzPts val="2000"/>
            </a:pPr>
            <a:r>
              <a:rPr lang="en-US" sz="1880" dirty="0">
                <a:latin typeface="+mj-lt"/>
                <a:ea typeface="Times New Roman"/>
                <a:cs typeface="Times New Roman"/>
                <a:sym typeface="Times New Roman"/>
              </a:rPr>
              <a:t>Smartcards</a:t>
            </a: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Need smartcard</a:t>
            </a: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 a PIN or password</a:t>
            </a:r>
            <a:endParaRPr sz="1880" dirty="0">
              <a:latin typeface="+mj-lt"/>
            </a:endParaRPr>
          </a:p>
        </p:txBody>
      </p:sp>
      <p:grpSp>
        <p:nvGrpSpPr>
          <p:cNvPr id="657" name="Google Shape;657;p68"/>
          <p:cNvGrpSpPr/>
          <p:nvPr/>
        </p:nvGrpSpPr>
        <p:grpSpPr>
          <a:xfrm>
            <a:off x="6858000" y="2667000"/>
            <a:ext cx="3352800" cy="2667000"/>
            <a:chOff x="2976" y="1841"/>
            <a:chExt cx="2784" cy="1845"/>
          </a:xfrm>
        </p:grpSpPr>
        <p:pic>
          <p:nvPicPr>
            <p:cNvPr id="658" name="Google Shape;658;p68" descr="smartcard"/>
            <p:cNvPicPr preferRelativeResize="0"/>
            <p:nvPr/>
          </p:nvPicPr>
          <p:blipFill rotWithShape="1">
            <a:blip r:embed="rId3">
              <a:alphaModFix/>
            </a:blip>
            <a:srcRect/>
            <a:stretch/>
          </p:blipFill>
          <p:spPr>
            <a:xfrm>
              <a:off x="2976" y="1841"/>
              <a:ext cx="2784" cy="1845"/>
            </a:xfrm>
            <a:prstGeom prst="rect">
              <a:avLst/>
            </a:prstGeom>
            <a:noFill/>
            <a:ln>
              <a:noFill/>
            </a:ln>
          </p:spPr>
        </p:pic>
        <p:sp>
          <p:nvSpPr>
            <p:cNvPr id="659" name="Google Shape;659;p68"/>
            <p:cNvSpPr txBox="1"/>
            <p:nvPr/>
          </p:nvSpPr>
          <p:spPr>
            <a:xfrm>
              <a:off x="3360" y="2112"/>
              <a:ext cx="901" cy="255"/>
            </a:xfrm>
            <a:prstGeom prst="rect">
              <a:avLst/>
            </a:prstGeom>
            <a:noFill/>
            <a:ln>
              <a:noFill/>
            </a:ln>
          </p:spPr>
          <p:txBody>
            <a:bodyPr spcFirstLastPara="1" wrap="square" lIns="91425" tIns="45700" rIns="91425" bIns="45700" anchor="t" anchorCtr="0">
              <a:spAutoFit/>
            </a:bodyPr>
            <a:lstStyle/>
            <a:p>
              <a:r>
                <a:rPr lang="en-US" sz="1800">
                  <a:solidFill>
                    <a:schemeClr val="dk1"/>
                  </a:solidFill>
                  <a:latin typeface="Calibri"/>
                  <a:ea typeface="Calibri"/>
                  <a:cs typeface="Calibri"/>
                  <a:sym typeface="Calibri"/>
                </a:rPr>
                <a:t>Bill Gates</a:t>
              </a:r>
              <a:endParaRPr/>
            </a:p>
          </p:txBody>
        </p:sp>
        <p:pic>
          <p:nvPicPr>
            <p:cNvPr id="660" name="Google Shape;660;p68" descr="bill-gates"/>
            <p:cNvPicPr preferRelativeResize="0"/>
            <p:nvPr/>
          </p:nvPicPr>
          <p:blipFill rotWithShape="1">
            <a:blip r:embed="rId4">
              <a:alphaModFix/>
            </a:blip>
            <a:srcRect l="17944" t="2856" r="5794" b="37143"/>
            <a:stretch/>
          </p:blipFill>
          <p:spPr>
            <a:xfrm>
              <a:off x="4608" y="2112"/>
              <a:ext cx="777" cy="96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55"/>
          <p:cNvSpPr txBox="1">
            <a:spLocks noGrp="1"/>
          </p:cNvSpPr>
          <p:nvPr>
            <p:ph type="title"/>
          </p:nvPr>
        </p:nvSpPr>
        <p:spPr>
          <a:xfrm>
            <a:off x="2428539" y="668767"/>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Threats</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558" name="Google Shape;558;p55"/>
          <p:cNvSpPr txBox="1">
            <a:spLocks noGrp="1"/>
          </p:cNvSpPr>
          <p:nvPr>
            <p:ph type="body" idx="1"/>
          </p:nvPr>
        </p:nvSpPr>
        <p:spPr>
          <a:xfrm>
            <a:off x="1981200" y="1600200"/>
            <a:ext cx="9282056" cy="4953000"/>
          </a:xfrm>
          <a:prstGeom prst="rect">
            <a:avLst/>
          </a:prstGeom>
          <a:noFill/>
          <a:ln>
            <a:noFill/>
          </a:ln>
        </p:spPr>
        <p:txBody>
          <a:bodyPr spcFirstLastPara="1" wrap="square" lIns="91425" tIns="45700" rIns="91425" bIns="45700" anchor="t" anchorCtr="0">
            <a:normAutofit/>
          </a:bodyPr>
          <a:lstStyle/>
          <a:p>
            <a:pPr marL="342900" lvl="1">
              <a:spcBef>
                <a:spcPts val="0"/>
              </a:spcBef>
              <a:buSzPts val="2000"/>
              <a:buNone/>
            </a:pPr>
            <a:endParaRPr lang="en-US" sz="1880" b="1" dirty="0">
              <a:latin typeface="+mj-lt"/>
              <a:ea typeface="Times New Roman"/>
              <a:cs typeface="Times New Roman"/>
              <a:sym typeface="Times New Roman"/>
            </a:endParaRPr>
          </a:p>
          <a:p>
            <a:pPr marL="342900" lvl="1">
              <a:spcBef>
                <a:spcPts val="0"/>
              </a:spcBef>
              <a:buSzPts val="2000"/>
              <a:buNone/>
            </a:pPr>
            <a:r>
              <a:rPr lang="en-US" sz="1880" b="1" dirty="0">
                <a:latin typeface="+mj-lt"/>
                <a:ea typeface="Times New Roman"/>
                <a:cs typeface="Times New Roman"/>
                <a:sym typeface="Times New Roman"/>
              </a:rPr>
              <a:t>Threat is</a:t>
            </a:r>
            <a:r>
              <a:rPr lang="en-US" sz="1880" dirty="0">
                <a:latin typeface="+mj-lt"/>
                <a:ea typeface="Times New Roman"/>
                <a:cs typeface="Times New Roman"/>
                <a:sym typeface="Times New Roman"/>
              </a:rPr>
              <a:t> any intentional or accidental event that may adversely affect the system.</a:t>
            </a:r>
          </a:p>
          <a:p>
            <a:pPr marL="342900" lvl="1">
              <a:spcBef>
                <a:spcPts val="0"/>
              </a:spcBef>
              <a:buSzPts val="2000"/>
              <a:buNone/>
            </a:pPr>
            <a:endParaRPr sz="1880" dirty="0">
              <a:latin typeface="+mj-lt"/>
            </a:endParaRPr>
          </a:p>
          <a:p>
            <a:pPr marL="342900">
              <a:spcBef>
                <a:spcPts val="400"/>
              </a:spcBef>
              <a:buSzPts val="2000"/>
              <a:buNone/>
            </a:pPr>
            <a:r>
              <a:rPr lang="en-US" sz="1880" dirty="0">
                <a:latin typeface="+mj-lt"/>
                <a:ea typeface="Times New Roman"/>
                <a:cs typeface="Times New Roman"/>
                <a:sym typeface="Times New Roman"/>
              </a:rPr>
              <a:t>Examples of threats:</a:t>
            </a:r>
          </a:p>
          <a:p>
            <a:pPr marL="342900">
              <a:spcBef>
                <a:spcPts val="400"/>
              </a:spcBef>
              <a:buSzPts val="2000"/>
              <a:buNone/>
            </a:pPr>
            <a:endParaRPr sz="1880" dirty="0">
              <a:latin typeface="+mj-lt"/>
            </a:endParaRPr>
          </a:p>
          <a:p>
            <a:pPr marL="342900">
              <a:spcBef>
                <a:spcPts val="400"/>
              </a:spcBef>
              <a:buSzPts val="2000"/>
              <a:buNone/>
            </a:pPr>
            <a:r>
              <a:rPr lang="en-US" sz="1880" dirty="0">
                <a:latin typeface="+mj-lt"/>
                <a:ea typeface="Times New Roman"/>
                <a:cs typeface="Times New Roman"/>
                <a:sym typeface="Times New Roman"/>
              </a:rPr>
              <a:t>		- Using another person’s log-in name to access data</a:t>
            </a:r>
            <a:endParaRPr sz="1880" dirty="0">
              <a:latin typeface="+mj-lt"/>
            </a:endParaRPr>
          </a:p>
          <a:p>
            <a:pPr marL="342900">
              <a:spcBef>
                <a:spcPts val="400"/>
              </a:spcBef>
              <a:buSzPts val="2000"/>
              <a:buNone/>
            </a:pPr>
            <a:r>
              <a:rPr lang="en-US" sz="1880" dirty="0">
                <a:latin typeface="+mj-lt"/>
                <a:ea typeface="Times New Roman"/>
                <a:cs typeface="Times New Roman"/>
                <a:sym typeface="Times New Roman"/>
              </a:rPr>
              <a:t>		- Unauthorized copying data</a:t>
            </a:r>
            <a:endParaRPr sz="1880" dirty="0">
              <a:latin typeface="+mj-lt"/>
            </a:endParaRPr>
          </a:p>
          <a:p>
            <a:pPr marL="342900">
              <a:spcBef>
                <a:spcPts val="400"/>
              </a:spcBef>
              <a:buSzPts val="2000"/>
              <a:buNone/>
            </a:pPr>
            <a:r>
              <a:rPr lang="en-US" sz="1880" dirty="0">
                <a:latin typeface="+mj-lt"/>
                <a:ea typeface="Times New Roman"/>
                <a:cs typeface="Times New Roman"/>
                <a:sym typeface="Times New Roman"/>
              </a:rPr>
              <a:t>		- Program/Data alteration</a:t>
            </a:r>
            <a:endParaRPr sz="1880" dirty="0">
              <a:latin typeface="+mj-lt"/>
            </a:endParaRPr>
          </a:p>
          <a:p>
            <a:pPr marL="342900">
              <a:spcBef>
                <a:spcPts val="400"/>
              </a:spcBef>
              <a:buSzPts val="2000"/>
              <a:buNone/>
            </a:pPr>
            <a:r>
              <a:rPr lang="en-US" sz="1880" dirty="0">
                <a:latin typeface="+mj-lt"/>
                <a:ea typeface="Times New Roman"/>
                <a:cs typeface="Times New Roman"/>
                <a:sym typeface="Times New Roman"/>
              </a:rPr>
              <a:t>		- Illegal entry by hacker</a:t>
            </a:r>
            <a:endParaRPr sz="1880" dirty="0">
              <a:latin typeface="+mj-lt"/>
            </a:endParaRPr>
          </a:p>
          <a:p>
            <a:pPr marL="342900">
              <a:spcBef>
                <a:spcPts val="400"/>
              </a:spcBef>
              <a:buSzPts val="2000"/>
              <a:buNone/>
            </a:pPr>
            <a:r>
              <a:rPr lang="en-US" sz="1880" dirty="0">
                <a:latin typeface="+mj-lt"/>
                <a:ea typeface="Times New Roman"/>
                <a:cs typeface="Times New Roman"/>
                <a:sym typeface="Times New Roman"/>
              </a:rPr>
              <a:t>		- Viruses</a:t>
            </a:r>
            <a:endParaRPr sz="1880" dirty="0">
              <a:latin typeface="+mj-lt"/>
            </a:endParaRPr>
          </a:p>
          <a:p>
            <a:pPr marL="342900">
              <a:spcBef>
                <a:spcPts val="400"/>
              </a:spcBef>
              <a:buSzPts val="2000"/>
              <a:buNone/>
            </a:pPr>
            <a:r>
              <a:rPr lang="en-US" sz="1880" dirty="0">
                <a:latin typeface="+mj-lt"/>
                <a:ea typeface="Times New Roman"/>
                <a:cs typeface="Times New Roman"/>
                <a:sym typeface="Times New Roman"/>
              </a:rPr>
              <a:t>		- Etc.</a:t>
            </a:r>
            <a:endParaRPr sz="1880" dirty="0">
              <a:latin typeface="+mj-lt"/>
            </a:endParaRPr>
          </a:p>
        </p:txBody>
      </p:sp>
    </p:spTree>
    <p:extLst>
      <p:ext uri="{BB962C8B-B14F-4D97-AF65-F5344CB8AC3E}">
        <p14:creationId xmlns:p14="http://schemas.microsoft.com/office/powerpoint/2010/main" val="1453126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6"/>
          <p:cNvSpPr txBox="1">
            <a:spLocks noGrp="1"/>
          </p:cNvSpPr>
          <p:nvPr>
            <p:ph type="sldNum" idx="4294967295"/>
          </p:nvPr>
        </p:nvSpPr>
        <p:spPr>
          <a:xfrm>
            <a:off x="8458200" y="6400800"/>
            <a:ext cx="1905000" cy="457200"/>
          </a:xfrm>
          <a:prstGeom prst="rect">
            <a:avLst/>
          </a:prstGeom>
          <a:noFill/>
          <a:ln>
            <a:noFill/>
          </a:ln>
        </p:spPr>
        <p:txBody>
          <a:bodyPr spcFirstLastPara="1" wrap="square" lIns="91425" tIns="45700" rIns="91425" bIns="45700" anchor="ctr" anchorCtr="0">
            <a:noAutofit/>
          </a:bodyPr>
          <a:lstStyle/>
          <a:p>
            <a:r>
              <a:rPr lang="en-US"/>
              <a:t>Slide 23- </a:t>
            </a:r>
            <a:fld id="{00000000-1234-1234-1234-123412341234}" type="slidenum">
              <a:rPr lang="en-US"/>
              <a:pPr/>
              <a:t>18</a:t>
            </a:fld>
            <a:endParaRPr/>
          </a:p>
        </p:txBody>
      </p:sp>
      <p:sp>
        <p:nvSpPr>
          <p:cNvPr id="565" name="Google Shape;565;p56"/>
          <p:cNvSpPr txBox="1">
            <a:spLocks noGrp="1"/>
          </p:cNvSpPr>
          <p:nvPr>
            <p:ph type="title"/>
          </p:nvPr>
        </p:nvSpPr>
        <p:spPr>
          <a:xfrm>
            <a:off x="2536115" y="609600"/>
            <a:ext cx="7924800" cy="609600"/>
          </a:xfrm>
          <a:prstGeom prst="rect">
            <a:avLst/>
          </a:prstGeom>
          <a:noFill/>
          <a:ln>
            <a:noFill/>
          </a:ln>
        </p:spPr>
        <p:txBody>
          <a:bodyPr spcFirstLastPara="1" wrap="square" lIns="91425" tIns="45700" rIns="91425" bIns="45700" anchor="ctr" anchorCtr="0">
            <a:noAutofit/>
          </a:bodyPr>
          <a:lstStyle/>
          <a:p>
            <a:pPr marL="342900" algn="ctr">
              <a:spcBef>
                <a:spcPts val="0"/>
              </a:spcBef>
              <a:buSzPts val="20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Threats to databases</a:t>
            </a:r>
            <a:endParaRPr lang="en-US" sz="3250" dirty="0">
              <a:solidFill>
                <a:srgbClr val="C00000"/>
              </a:solidFill>
              <a:latin typeface="Arimo" panose="020B0604020202020204" charset="0"/>
              <a:ea typeface="Arimo" panose="020B0604020202020204" charset="0"/>
              <a:cs typeface="Arimo" panose="020B0604020202020204" charset="0"/>
            </a:endParaRPr>
          </a:p>
        </p:txBody>
      </p:sp>
      <p:sp>
        <p:nvSpPr>
          <p:cNvPr id="566" name="Google Shape;566;p56"/>
          <p:cNvSpPr txBox="1">
            <a:spLocks noGrp="1"/>
          </p:cNvSpPr>
          <p:nvPr>
            <p:ph type="body" idx="1"/>
          </p:nvPr>
        </p:nvSpPr>
        <p:spPr>
          <a:xfrm>
            <a:off x="1731981" y="1397598"/>
            <a:ext cx="9455971" cy="4850802"/>
          </a:xfrm>
          <a:prstGeom prst="rect">
            <a:avLst/>
          </a:prstGeom>
          <a:noFill/>
          <a:ln>
            <a:noFill/>
          </a:ln>
        </p:spPr>
        <p:txBody>
          <a:bodyPr spcFirstLastPara="1" wrap="square" lIns="91425" tIns="45700" rIns="91425" bIns="45700" anchor="t" anchorCtr="0">
            <a:noAutofit/>
          </a:bodyPr>
          <a:lstStyle/>
          <a:p>
            <a:pPr marL="800100" lvl="1" algn="just">
              <a:spcBef>
                <a:spcPts val="400"/>
              </a:spcBef>
              <a:buSzPts val="2000"/>
            </a:pPr>
            <a:r>
              <a:rPr lang="en-US" sz="1880" b="1" dirty="0">
                <a:latin typeface="+mj-lt"/>
              </a:rPr>
              <a:t>Loss of integrity. </a:t>
            </a:r>
            <a:r>
              <a:rPr lang="en-US" sz="1880" dirty="0">
                <a:latin typeface="+mj-lt"/>
              </a:rPr>
              <a:t>Database integrity refers to the requirement that information be protected from improper modification. Modification of data includes creation, insertion, updating, changing the status of data, and deletion. Integrity is lost if unauthorized changes are made to the data by either intentional or accidental acts. If the loss of system or data integrity is not corrected, continued use of the contaminated system or corrupted data could result in inaccuracy, fraud, or erroneous decisions. </a:t>
            </a:r>
          </a:p>
          <a:p>
            <a:pPr marL="800100" lvl="1" algn="just">
              <a:spcBef>
                <a:spcPts val="400"/>
              </a:spcBef>
              <a:buSzPts val="2000"/>
            </a:pPr>
            <a:endParaRPr lang="en-US" sz="1880" dirty="0">
              <a:latin typeface="+mj-lt"/>
            </a:endParaRPr>
          </a:p>
          <a:p>
            <a:pPr marL="800100" lvl="1" algn="just">
              <a:spcBef>
                <a:spcPts val="400"/>
              </a:spcBef>
              <a:buSzPts val="2000"/>
            </a:pPr>
            <a:r>
              <a:rPr lang="en-US" sz="1880" b="1" dirty="0">
                <a:latin typeface="+mj-lt"/>
              </a:rPr>
              <a:t>Loss of availability. </a:t>
            </a:r>
            <a:r>
              <a:rPr lang="en-US" sz="1880" dirty="0">
                <a:latin typeface="+mj-lt"/>
              </a:rPr>
              <a:t>Database availability refers to making objects available to a human user or a program to which they have a legitimate right. </a:t>
            </a:r>
          </a:p>
          <a:p>
            <a:pPr marL="800100" lvl="1" algn="just">
              <a:spcBef>
                <a:spcPts val="400"/>
              </a:spcBef>
              <a:buSzPts val="2000"/>
            </a:pPr>
            <a:endParaRPr lang="en-US" sz="1880" dirty="0">
              <a:latin typeface="+mj-lt"/>
            </a:endParaRPr>
          </a:p>
          <a:p>
            <a:pPr marL="800100" lvl="1" algn="just">
              <a:spcBef>
                <a:spcPts val="400"/>
              </a:spcBef>
              <a:buSzPts val="2000"/>
            </a:pPr>
            <a:r>
              <a:rPr lang="en-US" sz="1880" b="1" dirty="0">
                <a:latin typeface="+mj-lt"/>
              </a:rPr>
              <a:t>Loss of confidentiality</a:t>
            </a:r>
            <a:r>
              <a:rPr lang="en-US" sz="1880" dirty="0">
                <a:latin typeface="+mj-lt"/>
              </a:rPr>
              <a:t>. Database confidentiality refers to the protection of data from unauthorized disclosure. The impact of unauthorized disclosure of confidential information can range from violation of the Data Privacy Act to the jeopardization of national security. Unauthorized, unanticipated, or unintentional disclosure could result in loss of public confidence, embarrassment, or legal action against the organization.</a:t>
            </a:r>
            <a:endParaRPr sz="1880" b="1" dirty="0">
              <a:latin typeface="+mj-lt"/>
              <a:ea typeface="Times New Roman"/>
              <a:cs typeface="Times New Roman"/>
              <a:sym typeface="Times New Roman"/>
            </a:endParaRPr>
          </a:p>
        </p:txBody>
      </p:sp>
    </p:spTree>
    <p:extLst>
      <p:ext uri="{BB962C8B-B14F-4D97-AF65-F5344CB8AC3E}">
        <p14:creationId xmlns:p14="http://schemas.microsoft.com/office/powerpoint/2010/main" val="230979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grpSp>
        <p:nvGrpSpPr>
          <p:cNvPr id="389" name="Google Shape;389;p15"/>
          <p:cNvGrpSpPr/>
          <p:nvPr/>
        </p:nvGrpSpPr>
        <p:grpSpPr>
          <a:xfrm>
            <a:off x="1524000" y="6356604"/>
            <a:ext cx="9144000" cy="88404"/>
            <a:chOff x="0" y="0"/>
            <a:chExt cx="13004800" cy="125730"/>
          </a:xfrm>
        </p:grpSpPr>
        <p:sp>
          <p:nvSpPr>
            <p:cNvPr id="390" name="Google Shape;390;p1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91" name="Google Shape;391;p1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93" name="Google Shape;393;p15"/>
          <p:cNvSpPr txBox="1"/>
          <p:nvPr/>
        </p:nvSpPr>
        <p:spPr>
          <a:xfrm>
            <a:off x="1916620" y="1880383"/>
            <a:ext cx="8158113" cy="234064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The following are the main control measures are used to provide security of data in databases:</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1. Authentication</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2. Access control</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3. Inference control</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4. Flow control</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5. Database Security applying Statistical Method</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6. Encryption </a:t>
            </a:r>
            <a:endParaRPr dirty="0"/>
          </a:p>
        </p:txBody>
      </p:sp>
      <p:sp>
        <p:nvSpPr>
          <p:cNvPr id="394" name="Google Shape;394;p15"/>
          <p:cNvSpPr/>
          <p:nvPr/>
        </p:nvSpPr>
        <p:spPr>
          <a:xfrm>
            <a:off x="8040122" y="2600040"/>
            <a:ext cx="3418043" cy="2631893"/>
          </a:xfrm>
          <a:custGeom>
            <a:avLst/>
            <a:gdLst/>
            <a:ahLst/>
            <a:cxnLst/>
            <a:rect l="l" t="t" r="r" b="b"/>
            <a:pathLst>
              <a:path w="3645912" h="2807352" extrusionOk="0">
                <a:moveTo>
                  <a:pt x="0" y="0"/>
                </a:moveTo>
                <a:lnTo>
                  <a:pt x="3645912" y="0"/>
                </a:lnTo>
                <a:lnTo>
                  <a:pt x="3645912" y="2807352"/>
                </a:lnTo>
                <a:lnTo>
                  <a:pt x="0" y="2807352"/>
                </a:lnTo>
                <a:lnTo>
                  <a:pt x="0" y="0"/>
                </a:lnTo>
                <a:close/>
              </a:path>
            </a:pathLst>
          </a:custGeom>
          <a:blipFill rotWithShape="1">
            <a:blip r:embed="rId3">
              <a:alphaModFix/>
            </a:blip>
            <a:stretch>
              <a:fillRect/>
            </a:stretch>
          </a:blipFill>
          <a:ln>
            <a:noFill/>
          </a:ln>
        </p:spPr>
      </p:sp>
      <p:sp>
        <p:nvSpPr>
          <p:cNvPr id="395" name="Google Shape;395;p15"/>
          <p:cNvSpPr txBox="1"/>
          <p:nvPr/>
        </p:nvSpPr>
        <p:spPr>
          <a:xfrm>
            <a:off x="2689412" y="717884"/>
            <a:ext cx="7637930" cy="600164"/>
          </a:xfrm>
          <a:prstGeom prst="rect">
            <a:avLst/>
          </a:prstGeom>
          <a:noFill/>
          <a:ln>
            <a:noFill/>
          </a:ln>
        </p:spPr>
        <p:txBody>
          <a:bodyPr spcFirstLastPara="1" wrap="square" lIns="0" tIns="0" rIns="0" bIns="0" anchor="t" anchorCtr="0">
            <a:spAutoFit/>
          </a:bodyPr>
          <a:lstStyle/>
          <a:p>
            <a:pPr marL="0" marR="0" lvl="0" indent="0" algn="ctr" rtl="0">
              <a:lnSpc>
                <a:spcPct val="120037"/>
              </a:lnSpc>
              <a:spcBef>
                <a:spcPts val="0"/>
              </a:spcBef>
              <a:spcAft>
                <a:spcPts val="0"/>
              </a:spcAft>
              <a:buNone/>
            </a:pPr>
            <a:r>
              <a:rPr lang="en-US" sz="3250" b="1" dirty="0">
                <a:solidFill>
                  <a:srgbClr val="C00000"/>
                </a:solidFill>
                <a:latin typeface="Arimo" panose="020B0604020202020204" charset="0"/>
                <a:ea typeface="Arimo" panose="020B0604020202020204" charset="0"/>
                <a:cs typeface="Arimo" panose="020B0604020202020204" charset="0"/>
                <a:sym typeface="Arial"/>
              </a:rPr>
              <a:t>Control methods of Database Security</a:t>
            </a:r>
            <a:endParaRPr lang="en-US" sz="3250" dirty="0">
              <a:solidFill>
                <a:srgbClr val="C00000"/>
              </a:solidFill>
              <a:latin typeface="Arimo" panose="020B0604020202020204" charset="0"/>
              <a:ea typeface="Arimo" panose="020B0604020202020204" charset="0"/>
              <a:cs typeface="Arimo" panose="020B0604020202020204" charset="0"/>
            </a:endParaRPr>
          </a:p>
        </p:txBody>
      </p:sp>
      <p:sp>
        <p:nvSpPr>
          <p:cNvPr id="396" name="Google Shape;39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97" name="Google Shape;39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grpSp>
        <p:nvGrpSpPr>
          <p:cNvPr id="406" name="Google Shape;406;p16"/>
          <p:cNvGrpSpPr/>
          <p:nvPr/>
        </p:nvGrpSpPr>
        <p:grpSpPr>
          <a:xfrm>
            <a:off x="1524000" y="6356604"/>
            <a:ext cx="9144000" cy="88404"/>
            <a:chOff x="0" y="0"/>
            <a:chExt cx="13004800" cy="125730"/>
          </a:xfrm>
        </p:grpSpPr>
        <p:sp>
          <p:nvSpPr>
            <p:cNvPr id="407" name="Google Shape;407;p1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08" name="Google Shape;408;p1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10" name="Google Shape;410;p16"/>
          <p:cNvSpPr txBox="1"/>
          <p:nvPr/>
        </p:nvSpPr>
        <p:spPr>
          <a:xfrm>
            <a:off x="1496209" y="752736"/>
            <a:ext cx="9997440" cy="5452262"/>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Authentication:</a:t>
            </a:r>
            <a:r>
              <a:rPr lang="en-US" sz="1875" dirty="0">
                <a:solidFill>
                  <a:srgbClr val="000000"/>
                </a:solidFill>
                <a:latin typeface="Arial"/>
                <a:ea typeface="Arial"/>
                <a:cs typeface="Arial"/>
                <a:sym typeface="Arial"/>
              </a:rPr>
              <a:t>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Authentication is the process of confirmation that whether the user log in only according to the rights provided to him to perform the activities of data base. A particular user can login only up to his privilege but he can’t access the other sensitive data. The privilege of accessing sensitive data is restricted by using Authentication.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By using these authentication tools for biometrics such as retina and figure prints can prevent the data base from unauthorized/malicious users.</a:t>
            </a:r>
          </a:p>
          <a:p>
            <a:pPr marL="0" marR="0" lvl="0" indent="0" algn="just" rtl="0">
              <a:lnSpc>
                <a:spcPct val="120000"/>
              </a:lnSpc>
              <a:spcBef>
                <a:spcPts val="0"/>
              </a:spcBef>
              <a:spcAft>
                <a:spcPts val="0"/>
              </a:spcAft>
              <a:buNone/>
            </a:pP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Access Control: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The security mechanism of DBMS must include some provisions for restricting access to the data base by unauthorized users. Access control is done by creating user accounts and to control login process by the DBMS. So, that database access of sensitive data is possible only to those people (database users) who are allowed to access such data and to restrict access to unauthorized persons.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The database system must also keep the track of all operations performed by certain user throughout the entire login time.</a:t>
            </a:r>
            <a:endParaRPr dirty="0"/>
          </a:p>
        </p:txBody>
      </p:sp>
      <p:sp>
        <p:nvSpPr>
          <p:cNvPr id="411" name="Google Shape;41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12" name="Google Shape;41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69"/>
          <p:cNvSpPr txBox="1">
            <a:spLocks noGrp="1"/>
          </p:cNvSpPr>
          <p:nvPr>
            <p:ph type="title"/>
          </p:nvPr>
        </p:nvSpPr>
        <p:spPr>
          <a:xfrm>
            <a:off x="2460812" y="776343"/>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Access Control Models</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67" name="Google Shape;667;p69"/>
          <p:cNvSpPr txBox="1">
            <a:spLocks noGrp="1"/>
          </p:cNvSpPr>
          <p:nvPr>
            <p:ph type="body" idx="1"/>
          </p:nvPr>
        </p:nvSpPr>
        <p:spPr>
          <a:xfrm>
            <a:off x="2280621" y="1827904"/>
            <a:ext cx="8649148" cy="3443343"/>
          </a:xfrm>
          <a:prstGeom prst="rect">
            <a:avLst/>
          </a:prstGeom>
          <a:noFill/>
          <a:ln>
            <a:noFill/>
          </a:ln>
        </p:spPr>
        <p:txBody>
          <a:bodyPr spcFirstLastPara="1" wrap="square" lIns="91425" tIns="45700" rIns="91425" bIns="45700" anchor="t" anchorCtr="0">
            <a:normAutofit fontScale="92500" lnSpcReduction="10000"/>
          </a:bodyPr>
          <a:lstStyle/>
          <a:p>
            <a:pPr marL="571500" indent="-457200" algn="just">
              <a:buFont typeface="+mj-lt"/>
              <a:buAutoNum type="arabicPeriod"/>
            </a:pPr>
            <a:r>
              <a:rPr lang="en-US" sz="1880" b="1" dirty="0">
                <a:latin typeface="+mj-lt"/>
              </a:rPr>
              <a:t>Discretionary Access Control (DAC)</a:t>
            </a:r>
            <a:endParaRPr lang="en-US" sz="1880" dirty="0">
              <a:latin typeface="+mj-lt"/>
            </a:endParaRPr>
          </a:p>
          <a:p>
            <a:pPr lvl="1" indent="-457200" algn="just"/>
            <a:r>
              <a:rPr lang="en-US" sz="1880" dirty="0">
                <a:latin typeface="+mj-lt"/>
              </a:rPr>
              <a:t>Users have control over their own data</a:t>
            </a:r>
          </a:p>
          <a:p>
            <a:pPr lvl="1" indent="-457200" algn="just"/>
            <a:r>
              <a:rPr lang="en-US" sz="1880" dirty="0">
                <a:latin typeface="+mj-lt"/>
              </a:rPr>
              <a:t>Permissions granted using Access Control Lists (ACLs)</a:t>
            </a:r>
          </a:p>
          <a:p>
            <a:pPr marL="457200" lvl="1" indent="0" algn="just">
              <a:buNone/>
            </a:pPr>
            <a:endParaRPr lang="en-US" sz="1880" dirty="0">
              <a:latin typeface="+mj-lt"/>
            </a:endParaRPr>
          </a:p>
          <a:p>
            <a:pPr marL="571500" indent="-457200" algn="just">
              <a:buFont typeface="+mj-lt"/>
              <a:buAutoNum type="arabicPeriod"/>
            </a:pPr>
            <a:r>
              <a:rPr lang="en-US" sz="1880" b="1" dirty="0">
                <a:latin typeface="+mj-lt"/>
              </a:rPr>
              <a:t>Mandatory Access Control (MAC)</a:t>
            </a:r>
            <a:endParaRPr lang="en-US" sz="1880" dirty="0">
              <a:latin typeface="+mj-lt"/>
            </a:endParaRPr>
          </a:p>
          <a:p>
            <a:pPr lvl="1" indent="-457200" algn="just"/>
            <a:r>
              <a:rPr lang="en-US" sz="1880" dirty="0">
                <a:latin typeface="+mj-lt"/>
              </a:rPr>
              <a:t>Access decisions based on security labels (classification levels)</a:t>
            </a:r>
          </a:p>
          <a:p>
            <a:pPr lvl="1" indent="-457200" algn="just"/>
            <a:r>
              <a:rPr lang="en-US" sz="1880" dirty="0">
                <a:latin typeface="+mj-lt"/>
              </a:rPr>
              <a:t>Used in military and government systems</a:t>
            </a:r>
          </a:p>
          <a:p>
            <a:pPr marL="457200" lvl="1" indent="0" algn="just">
              <a:buNone/>
            </a:pPr>
            <a:endParaRPr lang="en-US" sz="1880" dirty="0">
              <a:latin typeface="+mj-lt"/>
            </a:endParaRPr>
          </a:p>
          <a:p>
            <a:pPr marL="571500" indent="-457200" algn="just">
              <a:buFont typeface="+mj-lt"/>
              <a:buAutoNum type="arabicPeriod"/>
            </a:pPr>
            <a:r>
              <a:rPr lang="en-US" sz="1880" b="1" dirty="0">
                <a:latin typeface="+mj-lt"/>
              </a:rPr>
              <a:t>Role-Based Access Control (RBAC)</a:t>
            </a:r>
            <a:endParaRPr lang="en-US" sz="1880" dirty="0">
              <a:latin typeface="+mj-lt"/>
            </a:endParaRPr>
          </a:p>
          <a:p>
            <a:pPr lvl="1" indent="-457200" algn="just"/>
            <a:r>
              <a:rPr lang="en-US" sz="1880" dirty="0">
                <a:latin typeface="+mj-lt"/>
              </a:rPr>
              <a:t>Permissions assigned based on job roles (e.g., admin, user, guest)</a:t>
            </a:r>
          </a:p>
          <a:p>
            <a:pPr lvl="1" indent="-457200" algn="just"/>
            <a:r>
              <a:rPr lang="en-US" sz="1880" dirty="0">
                <a:latin typeface="+mj-lt"/>
              </a:rPr>
              <a:t>Reduces administrative overhead</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sz="1880" dirty="0">
              <a:latin typeface="+mn-lt"/>
            </a:endParaRPr>
          </a:p>
        </p:txBody>
      </p:sp>
    </p:spTree>
    <p:extLst>
      <p:ext uri="{BB962C8B-B14F-4D97-AF65-F5344CB8AC3E}">
        <p14:creationId xmlns:p14="http://schemas.microsoft.com/office/powerpoint/2010/main" val="2252285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70"/>
          <p:cNvSpPr txBox="1">
            <a:spLocks noGrp="1"/>
          </p:cNvSpPr>
          <p:nvPr>
            <p:ph type="title"/>
          </p:nvPr>
        </p:nvSpPr>
        <p:spPr>
          <a:xfrm>
            <a:off x="2476500" y="711798"/>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Discretionary Access Control</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74" name="Google Shape;674;p70"/>
          <p:cNvSpPr txBox="1">
            <a:spLocks noGrp="1"/>
          </p:cNvSpPr>
          <p:nvPr>
            <p:ph type="body" idx="1"/>
          </p:nvPr>
        </p:nvSpPr>
        <p:spPr>
          <a:xfrm>
            <a:off x="2438400" y="1981200"/>
            <a:ext cx="8001000" cy="1676400"/>
          </a:xfrm>
          <a:prstGeom prst="rect">
            <a:avLst/>
          </a:prstGeom>
          <a:noFill/>
          <a:ln>
            <a:noFill/>
          </a:ln>
        </p:spPr>
        <p:txBody>
          <a:bodyPr spcFirstLastPara="1" wrap="square" lIns="91425" tIns="45700" rIns="91425" bIns="45700" anchor="t" anchorCtr="0">
            <a:normAutofit/>
          </a:bodyPr>
          <a:lstStyle/>
          <a:p>
            <a:pPr marL="342900" algn="just">
              <a:spcBef>
                <a:spcPts val="0"/>
              </a:spcBef>
              <a:buSzPts val="2000"/>
            </a:pPr>
            <a:r>
              <a:rPr lang="en-US" sz="1880" dirty="0">
                <a:latin typeface="+mj-lt"/>
                <a:ea typeface="Times New Roman"/>
                <a:cs typeface="Times New Roman"/>
                <a:sym typeface="Times New Roman"/>
              </a:rPr>
              <a:t>The typical method of enforcing discretionary access control in a database system is based on the granting and revoking privileges. </a:t>
            </a:r>
            <a:r>
              <a:rPr lang="en-US" sz="1880" dirty="0">
                <a:latin typeface="+mj-lt"/>
              </a:rPr>
              <a:t>These are used to grant privileges to users, including the capability to access specific data files, records, or fields in a specified mode (such as read, insert, delete, or update).</a:t>
            </a:r>
            <a:endParaRPr sz="1880" dirty="0">
              <a:latin typeface="+mj-lt"/>
            </a:endParaRPr>
          </a:p>
        </p:txBody>
      </p:sp>
    </p:spTree>
    <p:extLst>
      <p:ext uri="{BB962C8B-B14F-4D97-AF65-F5344CB8AC3E}">
        <p14:creationId xmlns:p14="http://schemas.microsoft.com/office/powerpoint/2010/main" val="2717540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9" name="Google Shape;709;p75"/>
          <p:cNvSpPr txBox="1">
            <a:spLocks noGrp="1"/>
          </p:cNvSpPr>
          <p:nvPr>
            <p:ph type="body" idx="1"/>
          </p:nvPr>
        </p:nvSpPr>
        <p:spPr>
          <a:xfrm>
            <a:off x="2033195" y="2133600"/>
            <a:ext cx="8713693" cy="3657600"/>
          </a:xfrm>
          <a:prstGeom prst="rect">
            <a:avLst/>
          </a:prstGeom>
          <a:noFill/>
          <a:ln>
            <a:noFill/>
          </a:ln>
        </p:spPr>
        <p:txBody>
          <a:bodyPr spcFirstLastPara="1" wrap="square" lIns="91425" tIns="45700" rIns="91425" bIns="45700" anchor="t" anchorCtr="0">
            <a:normAutofit/>
          </a:bodyPr>
          <a:lstStyle/>
          <a:p>
            <a:pPr marL="342900" algn="just">
              <a:spcBef>
                <a:spcPts val="0"/>
              </a:spcBef>
              <a:buSzPts val="2000"/>
            </a:pPr>
            <a:r>
              <a:rPr lang="en-US" sz="1880" b="1" dirty="0">
                <a:latin typeface="+mj-lt"/>
              </a:rPr>
              <a:t>Mandatory Access Control (MAC)</a:t>
            </a:r>
            <a:r>
              <a:rPr lang="en-US" sz="1880" dirty="0">
                <a:latin typeface="+mj-lt"/>
              </a:rPr>
              <a:t> in a database system is based on a </a:t>
            </a:r>
            <a:r>
              <a:rPr lang="en-US" sz="1880" b="1" dirty="0">
                <a:latin typeface="+mj-lt"/>
              </a:rPr>
              <a:t>central authority assigning security labels</a:t>
            </a:r>
            <a:r>
              <a:rPr lang="en-US" sz="1880" dirty="0">
                <a:latin typeface="+mj-lt"/>
              </a:rPr>
              <a:t> to data and users. These labels define access levels, ensuring that users can only access data classified within their </a:t>
            </a:r>
            <a:r>
              <a:rPr lang="en-US" sz="1880" b="1" dirty="0">
                <a:latin typeface="+mj-lt"/>
              </a:rPr>
              <a:t>clearance level</a:t>
            </a:r>
            <a:r>
              <a:rPr lang="en-US" sz="1880" dirty="0">
                <a:latin typeface="+mj-lt"/>
              </a:rPr>
              <a:t>. MAC is commonly used in </a:t>
            </a:r>
            <a:r>
              <a:rPr lang="en-US" sz="1880" b="1" dirty="0">
                <a:latin typeface="+mj-lt"/>
              </a:rPr>
              <a:t>government and military</a:t>
            </a:r>
            <a:r>
              <a:rPr lang="en-US" sz="1880" dirty="0">
                <a:latin typeface="+mj-lt"/>
              </a:rPr>
              <a:t> applications, where </a:t>
            </a:r>
            <a:r>
              <a:rPr lang="en-US" sz="1880" b="1" dirty="0">
                <a:latin typeface="+mj-lt"/>
              </a:rPr>
              <a:t>strict control</a:t>
            </a:r>
            <a:r>
              <a:rPr lang="en-US" sz="1880" dirty="0">
                <a:latin typeface="+mj-lt"/>
              </a:rPr>
              <a:t> over data access is required.</a:t>
            </a:r>
            <a:endParaRPr sz="1880" dirty="0">
              <a:latin typeface="+mj-lt"/>
            </a:endParaRPr>
          </a:p>
        </p:txBody>
      </p:sp>
      <p:sp>
        <p:nvSpPr>
          <p:cNvPr id="4" name="Google Shape;673;p70">
            <a:extLst>
              <a:ext uri="{FF2B5EF4-FFF2-40B4-BE49-F238E27FC236}">
                <a16:creationId xmlns:a16="http://schemas.microsoft.com/office/drawing/2014/main" id="{2F6998F1-E613-82DF-8422-768FF3A49255}"/>
              </a:ext>
            </a:extLst>
          </p:cNvPr>
          <p:cNvSpPr txBox="1">
            <a:spLocks noGrp="1"/>
          </p:cNvSpPr>
          <p:nvPr>
            <p:ph type="title"/>
          </p:nvPr>
        </p:nvSpPr>
        <p:spPr>
          <a:xfrm>
            <a:off x="2427641" y="883920"/>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Mandatory Access Control</a:t>
            </a:r>
            <a:endParaRPr sz="3250" dirty="0">
              <a:solidFill>
                <a:srgbClr val="C00000"/>
              </a:solidFill>
              <a:latin typeface="Arimo" panose="020B0604020202020204" charset="0"/>
              <a:ea typeface="Arimo" panose="020B0604020202020204" charset="0"/>
              <a:cs typeface="Arimo" panose="020B0604020202020204" charset="0"/>
            </a:endParaRPr>
          </a:p>
        </p:txBody>
      </p:sp>
    </p:spTree>
    <p:extLst>
      <p:ext uri="{BB962C8B-B14F-4D97-AF65-F5344CB8AC3E}">
        <p14:creationId xmlns:p14="http://schemas.microsoft.com/office/powerpoint/2010/main" val="4879566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72">
          <a:extLst>
            <a:ext uri="{FF2B5EF4-FFF2-40B4-BE49-F238E27FC236}">
              <a16:creationId xmlns:a16="http://schemas.microsoft.com/office/drawing/2014/main" id="{F7ACFCA1-F764-3055-BBD6-95BF71BA6023}"/>
            </a:ext>
          </a:extLst>
        </p:cNvPr>
        <p:cNvGrpSpPr/>
        <p:nvPr/>
      </p:nvGrpSpPr>
      <p:grpSpPr>
        <a:xfrm>
          <a:off x="0" y="0"/>
          <a:ext cx="0" cy="0"/>
          <a:chOff x="0" y="0"/>
          <a:chExt cx="0" cy="0"/>
        </a:xfrm>
      </p:grpSpPr>
      <p:sp>
        <p:nvSpPr>
          <p:cNvPr id="673" name="Google Shape;673;p70">
            <a:extLst>
              <a:ext uri="{FF2B5EF4-FFF2-40B4-BE49-F238E27FC236}">
                <a16:creationId xmlns:a16="http://schemas.microsoft.com/office/drawing/2014/main" id="{FF924765-8D8D-552F-57D9-773B78DCB525}"/>
              </a:ext>
            </a:extLst>
          </p:cNvPr>
          <p:cNvSpPr txBox="1">
            <a:spLocks noGrp="1"/>
          </p:cNvSpPr>
          <p:nvPr>
            <p:ph type="title"/>
          </p:nvPr>
        </p:nvSpPr>
        <p:spPr>
          <a:xfrm>
            <a:off x="2514600" y="830132"/>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Role Based Access Control</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74" name="Google Shape;674;p70">
            <a:extLst>
              <a:ext uri="{FF2B5EF4-FFF2-40B4-BE49-F238E27FC236}">
                <a16:creationId xmlns:a16="http://schemas.microsoft.com/office/drawing/2014/main" id="{1B672ED3-E147-BD49-6CC6-198593335C41}"/>
              </a:ext>
            </a:extLst>
          </p:cNvPr>
          <p:cNvSpPr txBox="1">
            <a:spLocks noGrp="1"/>
          </p:cNvSpPr>
          <p:nvPr>
            <p:ph type="body" idx="1"/>
          </p:nvPr>
        </p:nvSpPr>
        <p:spPr>
          <a:xfrm>
            <a:off x="2438400" y="1981200"/>
            <a:ext cx="8001000" cy="2397162"/>
          </a:xfrm>
          <a:prstGeom prst="rect">
            <a:avLst/>
          </a:prstGeom>
          <a:noFill/>
          <a:ln>
            <a:noFill/>
          </a:ln>
        </p:spPr>
        <p:txBody>
          <a:bodyPr spcFirstLastPara="1" wrap="square" lIns="91425" tIns="45700" rIns="91425" bIns="45700" anchor="t" anchorCtr="0">
            <a:noAutofit/>
          </a:bodyPr>
          <a:lstStyle/>
          <a:p>
            <a:pPr algn="just"/>
            <a:r>
              <a:rPr lang="en-US" sz="1880" b="1" dirty="0">
                <a:latin typeface="+mj-lt"/>
              </a:rPr>
              <a:t>Role-Based Access Control (RBAC)</a:t>
            </a:r>
            <a:r>
              <a:rPr lang="en-US" sz="1880" dirty="0">
                <a:latin typeface="+mj-lt"/>
              </a:rPr>
              <a:t> in a database system is based on </a:t>
            </a:r>
            <a:r>
              <a:rPr lang="en-US" sz="1880" b="1" dirty="0">
                <a:latin typeface="+mj-lt"/>
              </a:rPr>
              <a:t>predefined roles</a:t>
            </a:r>
            <a:r>
              <a:rPr lang="en-US" sz="1880" dirty="0">
                <a:latin typeface="+mj-lt"/>
              </a:rPr>
              <a:t> assigned to users. Each role has specific privileges, including the ability to </a:t>
            </a:r>
            <a:r>
              <a:rPr lang="en-US" sz="1880" b="1" dirty="0">
                <a:latin typeface="+mj-lt"/>
              </a:rPr>
              <a:t>read, insert, delete, or update</a:t>
            </a:r>
            <a:r>
              <a:rPr lang="en-US" sz="1880" dirty="0">
                <a:latin typeface="+mj-lt"/>
              </a:rPr>
              <a:t> data. Instead of granting permissions to individual users, </a:t>
            </a:r>
            <a:r>
              <a:rPr lang="en-US" sz="1880" b="1" dirty="0">
                <a:latin typeface="+mj-lt"/>
              </a:rPr>
              <a:t>RBAC assigns access based on job responsibilities</a:t>
            </a:r>
            <a:r>
              <a:rPr lang="en-US" sz="1880" dirty="0">
                <a:latin typeface="+mj-lt"/>
              </a:rPr>
              <a:t>, making it efficient for </a:t>
            </a:r>
            <a:r>
              <a:rPr lang="en-US" sz="1880" b="1" dirty="0">
                <a:latin typeface="+mj-lt"/>
              </a:rPr>
              <a:t>large organizations</a:t>
            </a:r>
            <a:r>
              <a:rPr lang="en-US" sz="1880" dirty="0">
                <a:latin typeface="+mj-lt"/>
              </a:rPr>
              <a:t>.</a:t>
            </a:r>
          </a:p>
        </p:txBody>
      </p:sp>
    </p:spTree>
    <p:extLst>
      <p:ext uri="{BB962C8B-B14F-4D97-AF65-F5344CB8AC3E}">
        <p14:creationId xmlns:p14="http://schemas.microsoft.com/office/powerpoint/2010/main" val="24391615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17"/>
          <p:cNvSpPr txBox="1">
            <a:spLocks noGrp="1"/>
          </p:cNvSpPr>
          <p:nvPr>
            <p:ph type="title"/>
          </p:nvPr>
        </p:nvSpPr>
        <p:spPr>
          <a:xfrm>
            <a:off x="1061351" y="489891"/>
            <a:ext cx="9829800"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2400"/>
              <a:buFont typeface="Arimo"/>
              <a:buNone/>
            </a:pPr>
            <a:r>
              <a:rPr lang="en-US" sz="2800" b="1" dirty="0">
                <a:solidFill>
                  <a:srgbClr val="C00000"/>
                </a:solidFill>
                <a:latin typeface="Arimo"/>
                <a:ea typeface="Arimo"/>
                <a:cs typeface="Arimo"/>
                <a:sym typeface="Arimo"/>
              </a:rPr>
              <a:t>Differences between Authentication and Authorization</a:t>
            </a:r>
            <a:r>
              <a:rPr lang="en-US" sz="3600" dirty="0">
                <a:solidFill>
                  <a:srgbClr val="FF0000"/>
                </a:solidFill>
              </a:rPr>
              <a:t>.</a:t>
            </a:r>
            <a:endParaRPr sz="3600" dirty="0"/>
          </a:p>
        </p:txBody>
      </p:sp>
      <p:graphicFrame>
        <p:nvGraphicFramePr>
          <p:cNvPr id="418" name="Google Shape;418;p17"/>
          <p:cNvGraphicFramePr/>
          <p:nvPr>
            <p:extLst>
              <p:ext uri="{D42A27DB-BD31-4B8C-83A1-F6EECF244321}">
                <p14:modId xmlns:p14="http://schemas.microsoft.com/office/powerpoint/2010/main" val="2230358006"/>
              </p:ext>
            </p:extLst>
          </p:nvPr>
        </p:nvGraphicFramePr>
        <p:xfrm>
          <a:off x="1208313" y="1281358"/>
          <a:ext cx="9535875" cy="4893125"/>
        </p:xfrm>
        <a:graphic>
          <a:graphicData uri="http://schemas.openxmlformats.org/drawingml/2006/table">
            <a:tbl>
              <a:tblPr>
                <a:noFill/>
                <a:tableStyleId>{3F952E3A-31B3-4C32-B707-6BC8FAECF4CE}</a:tableStyleId>
              </a:tblPr>
              <a:tblGrid>
                <a:gridCol w="4682025">
                  <a:extLst>
                    <a:ext uri="{9D8B030D-6E8A-4147-A177-3AD203B41FA5}">
                      <a16:colId xmlns:a16="http://schemas.microsoft.com/office/drawing/2014/main" val="20000"/>
                    </a:ext>
                  </a:extLst>
                </a:gridCol>
                <a:gridCol w="4853850">
                  <a:extLst>
                    <a:ext uri="{9D8B030D-6E8A-4147-A177-3AD203B41FA5}">
                      <a16:colId xmlns:a16="http://schemas.microsoft.com/office/drawing/2014/main" val="20001"/>
                    </a:ext>
                  </a:extLst>
                </a:gridCol>
              </a:tblGrid>
              <a:tr h="496625">
                <a:tc>
                  <a:txBody>
                    <a:bodyPr/>
                    <a:lstStyle/>
                    <a:p>
                      <a:pPr marL="0" marR="0" lvl="0" indent="0" algn="just" rtl="0">
                        <a:spcBef>
                          <a:spcPts val="0"/>
                        </a:spcBef>
                        <a:spcAft>
                          <a:spcPts val="0"/>
                        </a:spcAft>
                        <a:buClr>
                          <a:schemeClr val="dk1"/>
                        </a:buClr>
                        <a:buSzPts val="2000"/>
                        <a:buFont typeface="Arial"/>
                        <a:buNone/>
                      </a:pPr>
                      <a:r>
                        <a:rPr lang="en-US" sz="2000" b="1" u="none" strike="noStrike" cap="none" dirty="0">
                          <a:latin typeface="Arial"/>
                          <a:ea typeface="Arial"/>
                          <a:cs typeface="Arial"/>
                          <a:sym typeface="Arial"/>
                        </a:rPr>
                        <a:t>Authentication</a:t>
                      </a:r>
                      <a:endParaRPr sz="2000" u="none" strike="noStrike" cap="none" dirty="0">
                        <a:latin typeface="Arial"/>
                        <a:ea typeface="Arial"/>
                        <a:cs typeface="Arial"/>
                        <a:sym typeface="Arial"/>
                      </a:endParaRPr>
                    </a:p>
                  </a:txBody>
                  <a:tcPr marL="91450" marR="91450" marT="45725" marB="45725"/>
                </a:tc>
                <a:tc>
                  <a:txBody>
                    <a:bodyPr/>
                    <a:lstStyle/>
                    <a:p>
                      <a:pPr marL="0" marR="0" lvl="0" indent="0" algn="just" rtl="0">
                        <a:spcBef>
                          <a:spcPts val="0"/>
                        </a:spcBef>
                        <a:spcAft>
                          <a:spcPts val="0"/>
                        </a:spcAft>
                        <a:buClr>
                          <a:schemeClr val="dk1"/>
                        </a:buClr>
                        <a:buSzPts val="2000"/>
                        <a:buFont typeface="Arial"/>
                        <a:buNone/>
                      </a:pPr>
                      <a:r>
                        <a:rPr lang="en-US" sz="2000" b="1" u="none" strike="noStrike" cap="none">
                          <a:latin typeface="Arial"/>
                          <a:ea typeface="Arial"/>
                          <a:cs typeface="Arial"/>
                          <a:sym typeface="Arial"/>
                        </a:rPr>
                        <a:t>Authorization</a:t>
                      </a:r>
                      <a:endParaRPr sz="20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542425">
                <a:tc>
                  <a:txBody>
                    <a:bodyPr/>
                    <a:lstStyle/>
                    <a:p>
                      <a:pPr marL="0" marR="0" lvl="0" indent="0" algn="just" rtl="0">
                        <a:spcBef>
                          <a:spcPts val="0"/>
                        </a:spcBef>
                        <a:spcAft>
                          <a:spcPts val="0"/>
                        </a:spcAft>
                        <a:buClr>
                          <a:schemeClr val="dk1"/>
                        </a:buClr>
                        <a:buSzPts val="1400"/>
                        <a:buFont typeface="Arial"/>
                        <a:buNone/>
                      </a:pPr>
                      <a:r>
                        <a:rPr lang="en-US" sz="1400" b="0" i="0" u="none" strike="noStrike" cap="none" dirty="0">
                          <a:solidFill>
                            <a:schemeClr val="dk1"/>
                          </a:solidFill>
                          <a:latin typeface="Arial"/>
                          <a:ea typeface="Arial"/>
                          <a:cs typeface="Arial"/>
                          <a:sym typeface="Arial"/>
                        </a:rPr>
                        <a:t>It helps decide whether users are what they claim they are.</a:t>
                      </a:r>
                      <a:endParaRPr sz="1400" u="none" strike="noStrike" cap="none" dirty="0">
                        <a:latin typeface="Arial"/>
                        <a:ea typeface="Arial"/>
                        <a:cs typeface="Arial"/>
                        <a:sym typeface="Arial"/>
                      </a:endParaRPr>
                    </a:p>
                  </a:txBody>
                  <a:tcPr marL="91450" marR="91450" marT="45725" marB="45725"/>
                </a:tc>
                <a:tc>
                  <a:txBody>
                    <a:bodyPr/>
                    <a:lstStyle/>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It helps to decide which user is allowed to access what.</a:t>
                      </a:r>
                      <a:endParaRPr sz="1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542425">
                <a:tc>
                  <a:txBody>
                    <a:bodyPr/>
                    <a:lstStyle/>
                    <a:p>
                      <a:pPr marL="0" marR="0" lvl="0" indent="0" algn="just" rtl="0">
                        <a:spcBef>
                          <a:spcPts val="0"/>
                        </a:spcBef>
                        <a:spcAft>
                          <a:spcPts val="0"/>
                        </a:spcAft>
                        <a:buClr>
                          <a:schemeClr val="dk1"/>
                        </a:buClr>
                        <a:buSzPts val="1400"/>
                        <a:buFont typeface="Arial"/>
                        <a:buNone/>
                      </a:pPr>
                      <a:r>
                        <a:rPr lang="en-US" sz="1400" b="0" i="0" u="none" strike="noStrike" cap="none" dirty="0">
                          <a:solidFill>
                            <a:schemeClr val="dk1"/>
                          </a:solidFill>
                          <a:latin typeface="Arial"/>
                          <a:ea typeface="Arial"/>
                          <a:cs typeface="Arial"/>
                          <a:sym typeface="Arial"/>
                        </a:rPr>
                        <a:t>User identity has to be verified via a username and password or answering a security question.</a:t>
                      </a:r>
                      <a:endParaRPr sz="1400" u="none" strike="noStrike" cap="none" dirty="0">
                        <a:latin typeface="Arial"/>
                        <a:ea typeface="Arial"/>
                        <a:cs typeface="Arial"/>
                        <a:sym typeface="Arial"/>
                      </a:endParaRPr>
                    </a:p>
                  </a:txBody>
                  <a:tcPr marL="91450" marR="91450" marT="45725" marB="45725"/>
                </a:tc>
                <a:tc>
                  <a:txBody>
                    <a:bodyPr/>
                    <a:lstStyle/>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It verifies whether the given access is allowed by following rules and policies.</a:t>
                      </a:r>
                      <a:endParaRPr sz="1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542425">
                <a:tc>
                  <a:txBody>
                    <a:bodyPr/>
                    <a:lstStyle/>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Typically, this process takes place before Authorization.</a:t>
                      </a:r>
                      <a:endParaRPr sz="1400" u="none" strike="noStrike" cap="none">
                        <a:latin typeface="Arial"/>
                        <a:ea typeface="Arial"/>
                        <a:cs typeface="Arial"/>
                        <a:sym typeface="Arial"/>
                      </a:endParaRPr>
                    </a:p>
                  </a:txBody>
                  <a:tcPr marL="91450" marR="91450" marT="45725" marB="45725"/>
                </a:tc>
                <a:tc>
                  <a:txBody>
                    <a:bodyPr/>
                    <a:lstStyle/>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It takes place once Authentication is completed.</a:t>
                      </a:r>
                      <a:endParaRPr sz="1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r h="1455975">
                <a:tc>
                  <a:txBody>
                    <a:bodyPr/>
                    <a:lstStyle/>
                    <a:p>
                      <a:pPr marL="0" marR="0" lvl="0" indent="0" algn="just" rtl="0">
                        <a:spcBef>
                          <a:spcPts val="0"/>
                        </a:spcBef>
                        <a:spcAft>
                          <a:spcPts val="0"/>
                        </a:spcAft>
                        <a:buClr>
                          <a:schemeClr val="dk1"/>
                        </a:buClr>
                        <a:buSzPts val="1400"/>
                        <a:buFont typeface="Arial"/>
                        <a:buNone/>
                      </a:pPr>
                      <a:r>
                        <a:rPr lang="en-US" sz="1400" b="0" i="0" u="none" strike="noStrike" cap="none" dirty="0">
                          <a:solidFill>
                            <a:schemeClr val="dk1"/>
                          </a:solidFill>
                          <a:latin typeface="Arial"/>
                          <a:ea typeface="Arial"/>
                          <a:cs typeface="Arial"/>
                          <a:sym typeface="Arial"/>
                        </a:rPr>
                        <a:t>Different ways of Authentication are:</a:t>
                      </a:r>
                      <a:endParaRPr sz="1800" u="none" strike="noStrike" cap="none" dirty="0">
                        <a:latin typeface="Arial"/>
                        <a:ea typeface="Arial"/>
                        <a:cs typeface="Arial"/>
                        <a:sym typeface="Arial"/>
                      </a:endParaRPr>
                    </a:p>
                    <a:p>
                      <a:pPr marL="0" marR="0" lvl="0" indent="0" algn="just" rtl="0">
                        <a:spcBef>
                          <a:spcPts val="0"/>
                        </a:spcBef>
                        <a:spcAft>
                          <a:spcPts val="0"/>
                        </a:spcAft>
                        <a:buClr>
                          <a:schemeClr val="dk1"/>
                        </a:buClr>
                        <a:buSzPts val="1400"/>
                        <a:buFont typeface="Calibri"/>
                        <a:buNone/>
                      </a:pPr>
                      <a:endParaRPr sz="1400" b="0" i="0" u="none" strike="noStrike" cap="none" dirty="0">
                        <a:solidFill>
                          <a:schemeClr val="dk1"/>
                        </a:solidFill>
                        <a:latin typeface="Arial"/>
                        <a:ea typeface="Arial"/>
                        <a:cs typeface="Arial"/>
                        <a:sym typeface="Arial"/>
                      </a:endParaRPr>
                    </a:p>
                    <a:p>
                      <a:pPr marL="0" marR="0" lvl="0" indent="0" algn="just" rtl="0">
                        <a:spcBef>
                          <a:spcPts val="0"/>
                        </a:spcBef>
                        <a:spcAft>
                          <a:spcPts val="0"/>
                        </a:spcAft>
                        <a:buClr>
                          <a:schemeClr val="dk1"/>
                        </a:buClr>
                        <a:buSzPts val="1400"/>
                        <a:buFont typeface="Arial"/>
                        <a:buNone/>
                      </a:pPr>
                      <a:r>
                        <a:rPr lang="en-US" sz="1400" b="0" i="0" u="none" strike="noStrike" cap="none" dirty="0">
                          <a:solidFill>
                            <a:schemeClr val="dk1"/>
                          </a:solidFill>
                          <a:latin typeface="Arial"/>
                          <a:ea typeface="Arial"/>
                          <a:cs typeface="Arial"/>
                          <a:sym typeface="Arial"/>
                        </a:rPr>
                        <a:t>Captcha test</a:t>
                      </a:r>
                      <a:endParaRPr sz="1800" u="none" strike="noStrike" cap="none" dirty="0">
                        <a:latin typeface="Arial"/>
                        <a:ea typeface="Arial"/>
                        <a:cs typeface="Arial"/>
                        <a:sym typeface="Arial"/>
                      </a:endParaRPr>
                    </a:p>
                    <a:p>
                      <a:pPr marL="0" marR="0" lvl="0" indent="0" algn="just" rtl="0">
                        <a:spcBef>
                          <a:spcPts val="0"/>
                        </a:spcBef>
                        <a:spcAft>
                          <a:spcPts val="0"/>
                        </a:spcAft>
                        <a:buClr>
                          <a:schemeClr val="dk1"/>
                        </a:buClr>
                        <a:buSzPts val="1400"/>
                        <a:buFont typeface="Arial"/>
                        <a:buNone/>
                      </a:pPr>
                      <a:r>
                        <a:rPr lang="en-US" sz="1400" b="0" i="0" u="none" strike="noStrike" cap="none" dirty="0">
                          <a:solidFill>
                            <a:schemeClr val="dk1"/>
                          </a:solidFill>
                          <a:latin typeface="Arial"/>
                          <a:ea typeface="Arial"/>
                          <a:cs typeface="Arial"/>
                          <a:sym typeface="Arial"/>
                        </a:rPr>
                        <a:t>Biometric Authentication</a:t>
                      </a:r>
                      <a:endParaRPr sz="1800" u="none" strike="noStrike" cap="none" dirty="0">
                        <a:latin typeface="Arial"/>
                        <a:ea typeface="Arial"/>
                        <a:cs typeface="Arial"/>
                        <a:sym typeface="Arial"/>
                      </a:endParaRPr>
                    </a:p>
                    <a:p>
                      <a:pPr marL="0" marR="0" lvl="0" indent="0" algn="just" rtl="0">
                        <a:spcBef>
                          <a:spcPts val="0"/>
                        </a:spcBef>
                        <a:spcAft>
                          <a:spcPts val="0"/>
                        </a:spcAft>
                        <a:buClr>
                          <a:schemeClr val="dk1"/>
                        </a:buClr>
                        <a:buSzPts val="1400"/>
                        <a:buFont typeface="Arial"/>
                        <a:buNone/>
                      </a:pPr>
                      <a:r>
                        <a:rPr lang="en-US" sz="1400" b="0" i="0" u="none" strike="noStrike" cap="none" dirty="0">
                          <a:solidFill>
                            <a:schemeClr val="dk1"/>
                          </a:solidFill>
                          <a:latin typeface="Arial"/>
                          <a:ea typeface="Arial"/>
                          <a:cs typeface="Arial"/>
                          <a:sym typeface="Arial"/>
                        </a:rPr>
                        <a:t>Passwords</a:t>
                      </a:r>
                      <a:endParaRPr sz="1800" u="none" strike="noStrike" cap="none" dirty="0">
                        <a:latin typeface="Arial"/>
                        <a:ea typeface="Arial"/>
                        <a:cs typeface="Arial"/>
                        <a:sym typeface="Arial"/>
                      </a:endParaRPr>
                    </a:p>
                    <a:p>
                      <a:pPr marL="0" marR="0" lvl="0" indent="0" algn="just" rtl="0">
                        <a:spcBef>
                          <a:spcPts val="0"/>
                        </a:spcBef>
                        <a:spcAft>
                          <a:spcPts val="0"/>
                        </a:spcAft>
                        <a:buClr>
                          <a:schemeClr val="dk1"/>
                        </a:buClr>
                        <a:buSzPts val="1400"/>
                        <a:buFont typeface="Calibri"/>
                        <a:buNone/>
                      </a:pPr>
                      <a:endParaRPr sz="1400" u="none" strike="noStrike" cap="none" dirty="0">
                        <a:latin typeface="Arial"/>
                        <a:ea typeface="Arial"/>
                        <a:cs typeface="Arial"/>
                        <a:sym typeface="Arial"/>
                      </a:endParaRPr>
                    </a:p>
                  </a:txBody>
                  <a:tcPr marL="91450" marR="91450" marT="45725" marB="45725"/>
                </a:tc>
                <a:tc>
                  <a:txBody>
                    <a:bodyPr/>
                    <a:lstStyle/>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Other forms of Authorization are:</a:t>
                      </a:r>
                      <a:endParaRPr sz="1800" u="none" strike="noStrike" cap="none">
                        <a:latin typeface="Arial"/>
                        <a:ea typeface="Arial"/>
                        <a:cs typeface="Arial"/>
                        <a:sym typeface="Arial"/>
                      </a:endParaRPr>
                    </a:p>
                    <a:p>
                      <a:pPr marL="0" marR="0" lvl="0" indent="0" algn="just" rtl="0">
                        <a:spcBef>
                          <a:spcPts val="0"/>
                        </a:spcBef>
                        <a:spcAft>
                          <a:spcPts val="0"/>
                        </a:spcAft>
                        <a:buClr>
                          <a:schemeClr val="dk1"/>
                        </a:buClr>
                        <a:buSzPts val="1400"/>
                        <a:buFont typeface="Calibri"/>
                        <a:buNone/>
                      </a:pPr>
                      <a:endParaRPr sz="1400" b="0" i="0" u="none" strike="noStrike" cap="none">
                        <a:solidFill>
                          <a:schemeClr val="dk1"/>
                        </a:solidFill>
                        <a:latin typeface="Arial"/>
                        <a:ea typeface="Arial"/>
                        <a:cs typeface="Arial"/>
                        <a:sym typeface="Arial"/>
                      </a:endParaRPr>
                    </a:p>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Permissions – Read &amp; Write access to files and allowing access to the database.</a:t>
                      </a:r>
                      <a:endParaRPr sz="1800" u="none" strike="noStrike" cap="none">
                        <a:latin typeface="Arial"/>
                        <a:ea typeface="Arial"/>
                        <a:cs typeface="Arial"/>
                        <a:sym typeface="Arial"/>
                      </a:endParaRPr>
                    </a:p>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Deciding the roles of users for accessing data</a:t>
                      </a:r>
                      <a:endParaRPr sz="1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4"/>
                  </a:ext>
                </a:extLst>
              </a:tr>
              <a:tr h="542425">
                <a:tc>
                  <a:txBody>
                    <a:bodyPr/>
                    <a:lstStyle/>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It’s controlled through the server for finding out who’s accessing what data or site.</a:t>
                      </a:r>
                      <a:endParaRPr sz="1400" u="none" strike="noStrike" cap="none">
                        <a:latin typeface="Arial"/>
                        <a:ea typeface="Arial"/>
                        <a:cs typeface="Arial"/>
                        <a:sym typeface="Arial"/>
                      </a:endParaRPr>
                    </a:p>
                  </a:txBody>
                  <a:tcPr marL="91450" marR="91450" marT="45725" marB="45725"/>
                </a:tc>
                <a:tc>
                  <a:txBody>
                    <a:bodyPr/>
                    <a:lstStyle/>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The server helps to decide that client has the authority to access a resource or not.</a:t>
                      </a:r>
                      <a:endParaRPr sz="14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5"/>
                  </a:ext>
                </a:extLst>
              </a:tr>
              <a:tr h="770825">
                <a:tc>
                  <a:txBody>
                    <a:bodyPr/>
                    <a:lstStyle/>
                    <a:p>
                      <a:pPr marL="0" marR="0" lvl="0" indent="0" algn="just" rtl="0">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Example: Employees authenticating through the network before opening the company mails.</a:t>
                      </a:r>
                      <a:endParaRPr sz="1400" u="none" strike="noStrike" cap="none">
                        <a:latin typeface="Arial"/>
                        <a:ea typeface="Arial"/>
                        <a:cs typeface="Arial"/>
                        <a:sym typeface="Arial"/>
                      </a:endParaRPr>
                    </a:p>
                  </a:txBody>
                  <a:tcPr marL="91450" marR="91450" marT="45725" marB="45725"/>
                </a:tc>
                <a:tc>
                  <a:txBody>
                    <a:bodyPr/>
                    <a:lstStyle/>
                    <a:p>
                      <a:pPr marL="0" marR="0" lvl="0" indent="0" algn="just" rtl="0">
                        <a:spcBef>
                          <a:spcPts val="0"/>
                        </a:spcBef>
                        <a:spcAft>
                          <a:spcPts val="0"/>
                        </a:spcAft>
                        <a:buClr>
                          <a:schemeClr val="dk1"/>
                        </a:buClr>
                        <a:buSzPts val="1400"/>
                        <a:buFont typeface="Arial"/>
                        <a:buNone/>
                      </a:pPr>
                      <a:r>
                        <a:rPr lang="en-US" sz="1400" b="0" i="0" u="none" strike="noStrike" cap="none" dirty="0">
                          <a:solidFill>
                            <a:schemeClr val="dk1"/>
                          </a:solidFill>
                          <a:latin typeface="Arial"/>
                          <a:ea typeface="Arial"/>
                          <a:cs typeface="Arial"/>
                          <a:sym typeface="Arial"/>
                        </a:rPr>
                        <a:t>Example: Once an employee is authenticated, the different system decides which information will be accessed by which employee.</a:t>
                      </a:r>
                      <a:endParaRPr sz="1400" u="none" strike="noStrike" cap="none" dirty="0">
                        <a:latin typeface="Arial"/>
                        <a:ea typeface="Arial"/>
                        <a:cs typeface="Arial"/>
                        <a:sym typeface="Arial"/>
                      </a:endParaRPr>
                    </a:p>
                  </a:txBody>
                  <a:tcPr marL="91450" marR="91450" marT="45725" marB="45725"/>
                </a:tc>
                <a:extLst>
                  <a:ext uri="{0D108BD9-81ED-4DB2-BD59-A6C34878D82A}">
                    <a16:rowId xmlns:a16="http://schemas.microsoft.com/office/drawing/2014/main" val="10006"/>
                  </a:ext>
                </a:extLst>
              </a:tr>
            </a:tbl>
          </a:graphicData>
        </a:graphic>
      </p:graphicFrame>
      <p:sp>
        <p:nvSpPr>
          <p:cNvPr id="419" name="Google Shape;41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20" name="Google Shape;42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grpSp>
        <p:nvGrpSpPr>
          <p:cNvPr id="429" name="Google Shape;429;p18"/>
          <p:cNvGrpSpPr/>
          <p:nvPr/>
        </p:nvGrpSpPr>
        <p:grpSpPr>
          <a:xfrm>
            <a:off x="1524000" y="6356604"/>
            <a:ext cx="9144000" cy="88404"/>
            <a:chOff x="0" y="0"/>
            <a:chExt cx="13004800" cy="125730"/>
          </a:xfrm>
        </p:grpSpPr>
        <p:sp>
          <p:nvSpPr>
            <p:cNvPr id="430" name="Google Shape;430;p1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31" name="Google Shape;431;p1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32" name="Google Shape;432;p18"/>
          <p:cNvSpPr txBox="1"/>
          <p:nvPr/>
        </p:nvSpPr>
        <p:spPr>
          <a:xfrm>
            <a:off x="1801597" y="725560"/>
            <a:ext cx="5225398" cy="510601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Inference Control:</a:t>
            </a:r>
            <a:r>
              <a:rPr lang="en-US" sz="1875" dirty="0">
                <a:solidFill>
                  <a:srgbClr val="000000"/>
                </a:solidFill>
                <a:latin typeface="Arial"/>
                <a:ea typeface="Arial"/>
                <a:cs typeface="Arial"/>
                <a:sym typeface="Arial"/>
              </a:rPr>
              <a:t>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This method is known as the countermeasures to statistical database security problem. It is used to prevent the user from completing any inference channel. This method protect sensitive information from indirect disclosure.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Inferences are of two types, identity disclosure or attribute disclosure.</a:t>
            </a:r>
          </a:p>
          <a:p>
            <a:pPr marL="0" marR="0" lvl="0" indent="0" algn="just" rtl="0">
              <a:lnSpc>
                <a:spcPct val="120000"/>
              </a:lnSpc>
              <a:spcBef>
                <a:spcPts val="0"/>
              </a:spcBef>
              <a:spcAft>
                <a:spcPts val="0"/>
              </a:spcAft>
              <a:buNone/>
            </a:pP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Flow Control: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This prevents information from flowing in a way that it reaches unauthorized users. Channels are the pathways for information to flow implicitly in ways that violate the privacy policy of a company are called convert channels.</a:t>
            </a:r>
            <a:endParaRPr dirty="0"/>
          </a:p>
        </p:txBody>
      </p:sp>
      <p:sp>
        <p:nvSpPr>
          <p:cNvPr id="433" name="Google Shape;433;p18"/>
          <p:cNvSpPr/>
          <p:nvPr/>
        </p:nvSpPr>
        <p:spPr>
          <a:xfrm>
            <a:off x="7614182" y="1479138"/>
            <a:ext cx="3174536" cy="3587047"/>
          </a:xfrm>
          <a:custGeom>
            <a:avLst/>
            <a:gdLst/>
            <a:ahLst/>
            <a:cxnLst/>
            <a:rect l="l" t="t" r="r" b="b"/>
            <a:pathLst>
              <a:path w="3386172" h="3826183" extrusionOk="0">
                <a:moveTo>
                  <a:pt x="0" y="0"/>
                </a:moveTo>
                <a:lnTo>
                  <a:pt x="3386172" y="0"/>
                </a:lnTo>
                <a:lnTo>
                  <a:pt x="3386172" y="3826183"/>
                </a:lnTo>
                <a:lnTo>
                  <a:pt x="0" y="3826183"/>
                </a:lnTo>
                <a:lnTo>
                  <a:pt x="0" y="0"/>
                </a:lnTo>
                <a:close/>
              </a:path>
            </a:pathLst>
          </a:custGeom>
          <a:blipFill rotWithShape="1">
            <a:blip r:embed="rId3">
              <a:alphaModFix/>
            </a:blip>
            <a:stretch>
              <a:fillRect/>
            </a:stretch>
          </a:blipFill>
          <a:ln>
            <a:noFill/>
          </a:ln>
        </p:spPr>
      </p:sp>
      <p:sp>
        <p:nvSpPr>
          <p:cNvPr id="435" name="Google Shape;4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36" name="Google Shape;4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grpSp>
        <p:nvGrpSpPr>
          <p:cNvPr id="445" name="Google Shape;445;p19"/>
          <p:cNvGrpSpPr/>
          <p:nvPr/>
        </p:nvGrpSpPr>
        <p:grpSpPr>
          <a:xfrm>
            <a:off x="1524000" y="6356604"/>
            <a:ext cx="9144000" cy="88404"/>
            <a:chOff x="0" y="0"/>
            <a:chExt cx="13004800" cy="125730"/>
          </a:xfrm>
        </p:grpSpPr>
        <p:sp>
          <p:nvSpPr>
            <p:cNvPr id="446" name="Google Shape;446;p1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47" name="Google Shape;447;p1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48" name="Google Shape;448;p19"/>
          <p:cNvSpPr/>
          <p:nvPr/>
        </p:nvSpPr>
        <p:spPr>
          <a:xfrm>
            <a:off x="8946729" y="1734930"/>
            <a:ext cx="2787109" cy="2527527"/>
          </a:xfrm>
          <a:custGeom>
            <a:avLst/>
            <a:gdLst/>
            <a:ahLst/>
            <a:cxnLst/>
            <a:rect l="l" t="t" r="r" b="b"/>
            <a:pathLst>
              <a:path w="2972916" h="2696029" extrusionOk="0">
                <a:moveTo>
                  <a:pt x="0" y="0"/>
                </a:moveTo>
                <a:lnTo>
                  <a:pt x="2972916" y="0"/>
                </a:lnTo>
                <a:lnTo>
                  <a:pt x="2972916" y="2696029"/>
                </a:lnTo>
                <a:lnTo>
                  <a:pt x="0" y="2696029"/>
                </a:lnTo>
                <a:lnTo>
                  <a:pt x="0" y="0"/>
                </a:lnTo>
                <a:close/>
              </a:path>
            </a:pathLst>
          </a:custGeom>
          <a:blipFill rotWithShape="1">
            <a:blip r:embed="rId3">
              <a:alphaModFix/>
            </a:blip>
            <a:stretch>
              <a:fillRect l="-15391" r="-20972"/>
            </a:stretch>
          </a:blipFill>
          <a:ln>
            <a:noFill/>
          </a:ln>
        </p:spPr>
      </p:sp>
      <p:sp>
        <p:nvSpPr>
          <p:cNvPr id="450" name="Google Shape;450;p19"/>
          <p:cNvSpPr txBox="1"/>
          <p:nvPr/>
        </p:nvSpPr>
        <p:spPr>
          <a:xfrm>
            <a:off x="1605485" y="786315"/>
            <a:ext cx="6907400" cy="5364545"/>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Database Security applying Statistical Method: </a:t>
            </a:r>
          </a:p>
          <a:p>
            <a:pPr marL="0" marR="0" lvl="0" indent="0" algn="just" rtl="0">
              <a:lnSpc>
                <a:spcPct val="120000"/>
              </a:lnSpc>
              <a:spcBef>
                <a:spcPts val="0"/>
              </a:spcBef>
              <a:spcAft>
                <a:spcPts val="0"/>
              </a:spcAft>
              <a:buNone/>
            </a:pP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Statistical database security focuses on the protection of confidential individual values stored in and used for statistical purposes and used to retrieve the summaries of values based on categories. They do not permit to retrieve the individual information.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This allows to access the database to get statistical information about the number of employees in the company but not to access the detailed confidential/personal information about the specific individual employee.</a:t>
            </a:r>
          </a:p>
          <a:p>
            <a:pPr marL="0" marR="0" lvl="0" indent="0" algn="just" rtl="0">
              <a:lnSpc>
                <a:spcPct val="120000"/>
              </a:lnSpc>
              <a:spcBef>
                <a:spcPts val="0"/>
              </a:spcBef>
              <a:spcAft>
                <a:spcPts val="0"/>
              </a:spcAft>
              <a:buNone/>
            </a:pP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Encryption: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This method is mainly used to protect sensitive data (such as credit card numbers, OTP numbers) and other sensitive numbers. The data is encoded using some encoding algorithms.</a:t>
            </a:r>
            <a:endParaRPr dirty="0"/>
          </a:p>
        </p:txBody>
      </p:sp>
      <p:sp>
        <p:nvSpPr>
          <p:cNvPr id="451" name="Google Shape;45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52" name="Google Shape;45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60"/>
          <p:cNvSpPr txBox="1">
            <a:spLocks noGrp="1"/>
          </p:cNvSpPr>
          <p:nvPr>
            <p:ph type="title"/>
          </p:nvPr>
        </p:nvSpPr>
        <p:spPr>
          <a:xfrm>
            <a:off x="2675067" y="609600"/>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Database Security and DBA </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593" name="Google Shape;593;p60"/>
          <p:cNvSpPr txBox="1">
            <a:spLocks noGrp="1"/>
          </p:cNvSpPr>
          <p:nvPr>
            <p:ph type="body" idx="1"/>
          </p:nvPr>
        </p:nvSpPr>
        <p:spPr>
          <a:xfrm>
            <a:off x="1914861" y="1752600"/>
            <a:ext cx="9445213" cy="4495800"/>
          </a:xfrm>
          <a:prstGeom prst="rect">
            <a:avLst/>
          </a:prstGeom>
          <a:noFill/>
          <a:ln>
            <a:noFill/>
          </a:ln>
        </p:spPr>
        <p:txBody>
          <a:bodyPr spcFirstLastPara="1" wrap="square" lIns="91425" tIns="45700" rIns="91425" bIns="45700" anchor="t" anchorCtr="0">
            <a:normAutofit/>
          </a:bodyPr>
          <a:lstStyle/>
          <a:p>
            <a:pPr marL="342900" algn="just">
              <a:spcBef>
                <a:spcPts val="0"/>
              </a:spcBef>
              <a:buSzPts val="2000"/>
            </a:pPr>
            <a:r>
              <a:rPr lang="en-US" sz="1880" dirty="0">
                <a:latin typeface="+mj-lt"/>
                <a:ea typeface="Times New Roman"/>
                <a:cs typeface="Times New Roman"/>
                <a:sym typeface="Times New Roman"/>
              </a:rPr>
              <a:t>The database administrator (</a:t>
            </a:r>
            <a:r>
              <a:rPr lang="en-US" sz="1880" b="1" dirty="0">
                <a:latin typeface="+mj-lt"/>
                <a:ea typeface="Times New Roman"/>
                <a:cs typeface="Times New Roman"/>
                <a:sym typeface="Times New Roman"/>
              </a:rPr>
              <a:t>DBA</a:t>
            </a:r>
            <a:r>
              <a:rPr lang="en-US" sz="1880" dirty="0">
                <a:latin typeface="+mj-lt"/>
                <a:ea typeface="Times New Roman"/>
                <a:cs typeface="Times New Roman"/>
                <a:sym typeface="Times New Roman"/>
              </a:rPr>
              <a:t>) is the central authority for managing a database system.</a:t>
            </a:r>
          </a:p>
          <a:p>
            <a:pPr marL="342900" algn="just">
              <a:spcBef>
                <a:spcPts val="0"/>
              </a:spcBef>
              <a:buSzPts val="2000"/>
            </a:pP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The DBA’s responsibilities include</a:t>
            </a:r>
          </a:p>
          <a:p>
            <a:pPr marL="457200" lvl="1" indent="0" algn="just">
              <a:spcBef>
                <a:spcPts val="400"/>
              </a:spcBef>
              <a:buSzPts val="2000"/>
              <a:buNone/>
            </a:pP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granting privileges to users who need to use the system</a:t>
            </a: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classifying users and data in accordance with the policy of the organization</a:t>
            </a:r>
          </a:p>
          <a:p>
            <a:pPr marL="914400" lvl="2" indent="0" algn="just">
              <a:spcBef>
                <a:spcPts val="400"/>
              </a:spcBef>
              <a:buSzPts val="2000"/>
              <a:buNone/>
            </a:pPr>
            <a:endParaRPr sz="1880" dirty="0">
              <a:latin typeface="+mj-lt"/>
            </a:endParaRPr>
          </a:p>
          <a:p>
            <a:pPr marL="342900" algn="just">
              <a:spcBef>
                <a:spcPts val="400"/>
              </a:spcBef>
              <a:buSzPts val="2000"/>
            </a:pPr>
            <a:r>
              <a:rPr lang="en-US" sz="1880" dirty="0">
                <a:latin typeface="+mj-lt"/>
                <a:ea typeface="Times New Roman"/>
                <a:cs typeface="Times New Roman"/>
                <a:sym typeface="Times New Roman"/>
              </a:rPr>
              <a:t>The DBA is responsible for the overall security of the database system</a:t>
            </a:r>
            <a:r>
              <a:rPr lang="en-US" sz="2000" dirty="0">
                <a:latin typeface="Times New Roman"/>
                <a:ea typeface="Times New Roman"/>
                <a:cs typeface="Times New Roman"/>
                <a:sym typeface="Times New Roman"/>
              </a:rPr>
              <a:t>.</a:t>
            </a:r>
            <a:endParaRPr dirty="0"/>
          </a:p>
        </p:txBody>
      </p:sp>
    </p:spTree>
    <p:extLst>
      <p:ext uri="{BB962C8B-B14F-4D97-AF65-F5344CB8AC3E}">
        <p14:creationId xmlns:p14="http://schemas.microsoft.com/office/powerpoint/2010/main" val="157004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61"/>
          <p:cNvSpPr txBox="1">
            <a:spLocks noGrp="1"/>
          </p:cNvSpPr>
          <p:nvPr>
            <p:ph type="title"/>
          </p:nvPr>
        </p:nvSpPr>
        <p:spPr>
          <a:xfrm>
            <a:off x="2476500" y="609600"/>
            <a:ext cx="7924800" cy="609600"/>
          </a:xfrm>
          <a:prstGeom prst="rect">
            <a:avLst/>
          </a:prstGeom>
          <a:noFill/>
          <a:ln>
            <a:noFill/>
          </a:ln>
        </p:spPr>
        <p:txBody>
          <a:bodyPr spcFirstLastPara="1" wrap="square" lIns="91425" tIns="45700" rIns="91425" bIns="45700" anchor="ctr" anchorCtr="0">
            <a:noAutofit/>
          </a:bodyPr>
          <a:lstStyle/>
          <a:p>
            <a:pPr algn="ctr">
              <a:buClr>
                <a:srgbClr val="FF0000"/>
              </a:buClr>
              <a:buSzPts val="4400"/>
            </a:pPr>
            <a:r>
              <a:rPr lang="en-US" sz="3250" dirty="0">
                <a:solidFill>
                  <a:srgbClr val="C00000"/>
                </a:solidFill>
                <a:latin typeface="Arimo" panose="020B0604020202020204" charset="0"/>
                <a:ea typeface="Arimo" panose="020B0604020202020204" charset="0"/>
                <a:cs typeface="Arimo" panose="020B0604020202020204" charset="0"/>
                <a:sym typeface="Times New Roman"/>
              </a:rPr>
              <a:t>Data</a:t>
            </a:r>
            <a:r>
              <a:rPr lang="en-US" sz="3250" b="1" dirty="0">
                <a:solidFill>
                  <a:srgbClr val="C00000"/>
                </a:solidFill>
                <a:latin typeface="Arimo" panose="020B0604020202020204" charset="0"/>
                <a:ea typeface="Arimo" panose="020B0604020202020204" charset="0"/>
                <a:cs typeface="Arimo" panose="020B0604020202020204" charset="0"/>
                <a:sym typeface="Times New Roman"/>
              </a:rPr>
              <a:t>bas</a:t>
            </a:r>
            <a:r>
              <a:rPr lang="en-US" sz="3250" dirty="0">
                <a:solidFill>
                  <a:srgbClr val="C00000"/>
                </a:solidFill>
                <a:latin typeface="Arimo" panose="020B0604020202020204" charset="0"/>
                <a:ea typeface="Arimo" panose="020B0604020202020204" charset="0"/>
                <a:cs typeface="Arimo" panose="020B0604020202020204" charset="0"/>
                <a:sym typeface="Times New Roman"/>
              </a:rPr>
              <a:t>e Security and DBA </a:t>
            </a:r>
            <a:endParaRPr sz="3250" dirty="0">
              <a:solidFill>
                <a:srgbClr val="C00000"/>
              </a:solidFill>
              <a:latin typeface="Arimo" panose="020B0604020202020204" charset="0"/>
              <a:ea typeface="Arimo" panose="020B0604020202020204" charset="0"/>
              <a:cs typeface="Arimo" panose="020B0604020202020204" charset="0"/>
            </a:endParaRPr>
          </a:p>
        </p:txBody>
      </p:sp>
      <p:sp>
        <p:nvSpPr>
          <p:cNvPr id="600" name="Google Shape;600;p61"/>
          <p:cNvSpPr txBox="1">
            <a:spLocks noGrp="1"/>
          </p:cNvSpPr>
          <p:nvPr>
            <p:ph type="body" idx="1"/>
          </p:nvPr>
        </p:nvSpPr>
        <p:spPr>
          <a:xfrm>
            <a:off x="2438400" y="1752600"/>
            <a:ext cx="8001000" cy="4495800"/>
          </a:xfrm>
          <a:prstGeom prst="rect">
            <a:avLst/>
          </a:prstGeom>
          <a:noFill/>
          <a:ln>
            <a:noFill/>
          </a:ln>
        </p:spPr>
        <p:txBody>
          <a:bodyPr spcFirstLastPara="1" wrap="square" lIns="91425" tIns="45700" rIns="91425" bIns="45700" anchor="t" anchorCtr="0">
            <a:normAutofit/>
          </a:bodyPr>
          <a:lstStyle/>
          <a:p>
            <a:pPr marL="342900" algn="just">
              <a:spcBef>
                <a:spcPts val="0"/>
              </a:spcBef>
              <a:buSzPts val="2000"/>
            </a:pPr>
            <a:r>
              <a:rPr lang="en-US" sz="1880" dirty="0">
                <a:latin typeface="+mj-lt"/>
                <a:ea typeface="Times New Roman"/>
                <a:cs typeface="Times New Roman"/>
                <a:sym typeface="Times New Roman"/>
              </a:rPr>
              <a:t>The DBA has a DBA account in the DBMS</a:t>
            </a: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Sometimes these are called a system or superuser account</a:t>
            </a:r>
          </a:p>
          <a:p>
            <a:pPr marL="457200" lvl="1" indent="0" algn="just">
              <a:spcBef>
                <a:spcPts val="400"/>
              </a:spcBef>
              <a:buSzPts val="2000"/>
              <a:buNone/>
            </a:pP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These accounts provide powerful capabilities such as:</a:t>
            </a: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1. Account creation</a:t>
            </a: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2. Privilege granting</a:t>
            </a: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3. Privilege revocation</a:t>
            </a:r>
            <a:endParaRPr sz="1880" dirty="0">
              <a:latin typeface="+mj-lt"/>
            </a:endParaRPr>
          </a:p>
          <a:p>
            <a:pPr marL="1143000" lvl="2" indent="-228600" algn="just">
              <a:spcBef>
                <a:spcPts val="400"/>
              </a:spcBef>
              <a:buSzPts val="2000"/>
            </a:pPr>
            <a:r>
              <a:rPr lang="en-US" sz="1880" dirty="0">
                <a:latin typeface="+mj-lt"/>
                <a:ea typeface="Times New Roman"/>
                <a:cs typeface="Times New Roman"/>
                <a:sym typeface="Times New Roman"/>
              </a:rPr>
              <a:t>4. Security level assignment</a:t>
            </a:r>
          </a:p>
          <a:p>
            <a:pPr marL="914400" lvl="2" indent="0" algn="just">
              <a:spcBef>
                <a:spcPts val="400"/>
              </a:spcBef>
              <a:buSzPts val="2000"/>
              <a:buNone/>
            </a:pPr>
            <a:endParaRPr sz="1880" dirty="0">
              <a:latin typeface="+mj-lt"/>
            </a:endParaRPr>
          </a:p>
          <a:p>
            <a:pPr marL="742950" lvl="1" indent="-285750" algn="just">
              <a:spcBef>
                <a:spcPts val="400"/>
              </a:spcBef>
              <a:buSzPts val="2000"/>
              <a:buChar char="–"/>
            </a:pPr>
            <a:r>
              <a:rPr lang="en-US" sz="1880" dirty="0">
                <a:latin typeface="+mj-lt"/>
                <a:ea typeface="Times New Roman"/>
                <a:cs typeface="Times New Roman"/>
                <a:sym typeface="Times New Roman"/>
              </a:rPr>
              <a:t>Action 1 is access control, whereas 2 and 3 are discretionary access and 4 is used to control mandatory authorization</a:t>
            </a:r>
            <a:endParaRPr sz="1880" dirty="0">
              <a:latin typeface="+mj-lt"/>
            </a:endParaRPr>
          </a:p>
        </p:txBody>
      </p:sp>
    </p:spTree>
    <p:extLst>
      <p:ext uri="{BB962C8B-B14F-4D97-AF65-F5344CB8AC3E}">
        <p14:creationId xmlns:p14="http://schemas.microsoft.com/office/powerpoint/2010/main" val="13212023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grpSp>
        <p:nvGrpSpPr>
          <p:cNvPr id="461" name="Google Shape;461;p20"/>
          <p:cNvGrpSpPr/>
          <p:nvPr/>
        </p:nvGrpSpPr>
        <p:grpSpPr>
          <a:xfrm>
            <a:off x="1524000" y="6356604"/>
            <a:ext cx="9144000" cy="88404"/>
            <a:chOff x="0" y="0"/>
            <a:chExt cx="13004800" cy="125730"/>
          </a:xfrm>
        </p:grpSpPr>
        <p:sp>
          <p:nvSpPr>
            <p:cNvPr id="462" name="Google Shape;462;p2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63" name="Google Shape;463;p2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64" name="Google Shape;464;p20"/>
          <p:cNvSpPr txBox="1"/>
          <p:nvPr/>
        </p:nvSpPr>
        <p:spPr>
          <a:xfrm>
            <a:off x="3497975" y="2697131"/>
            <a:ext cx="5472121" cy="1023293"/>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049">
                <a:solidFill>
                  <a:srgbClr val="000000"/>
                </a:solidFill>
                <a:latin typeface="Arial"/>
                <a:ea typeface="Arial"/>
                <a:cs typeface="Arial"/>
                <a:sym typeface="Arial"/>
              </a:rPr>
              <a:t>THANK YOU </a:t>
            </a:r>
            <a:endParaRPr/>
          </a:p>
        </p:txBody>
      </p:sp>
      <p:sp>
        <p:nvSpPr>
          <p:cNvPr id="465" name="Google Shape;46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66" name="Google Shape;46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theme/theme1.xml><?xml version="1.0" encoding="utf-8"?>
<a:theme xmlns:a="http://schemas.openxmlformats.org/drawingml/2006/main" name="Theme1">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3">
      <a:dk1>
        <a:srgbClr val="000000"/>
      </a:dk1>
      <a:lt1>
        <a:srgbClr val="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2632</Words>
  <Application>Microsoft Office PowerPoint</Application>
  <PresentationFormat>Widescreen</PresentationFormat>
  <Paragraphs>301</Paragraphs>
  <Slides>30</Slides>
  <Notes>30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Cambria</vt:lpstr>
      <vt:lpstr>Calibri</vt:lpstr>
      <vt:lpstr>Arimo</vt:lpstr>
      <vt:lpstr>Arial</vt:lpstr>
      <vt:lpstr>Times New Roman</vt:lpstr>
      <vt:lpstr>Arial Rounded</vt:lpstr>
      <vt:lpstr>Theme1</vt:lpstr>
      <vt:lpstr>Contents Slide Master</vt:lpstr>
      <vt:lpstr>PowerPoint Presentation</vt:lpstr>
      <vt:lpstr>ABOUT COURSE</vt:lpstr>
      <vt:lpstr>COURSE OUTCOMES </vt:lpstr>
      <vt:lpstr>COURSE OBJECTIVES </vt:lpstr>
      <vt:lpstr>PowerPoint Presentation</vt:lpstr>
      <vt:lpstr>PowerPoint Presentation</vt:lpstr>
      <vt:lpstr>PowerPoint Presentation</vt:lpstr>
      <vt:lpstr>PowerPoint Presentation</vt:lpstr>
      <vt:lpstr>PowerPoint Presentation</vt:lpstr>
      <vt:lpstr>Types of Security</vt:lpstr>
      <vt:lpstr>Levels of Data Security</vt:lpstr>
      <vt:lpstr>Physical/OS Security</vt:lpstr>
      <vt:lpstr>Database Encryption</vt:lpstr>
      <vt:lpstr>Database/Application Program</vt:lpstr>
      <vt:lpstr>Network Security</vt:lpstr>
      <vt:lpstr>Human level /User Authentication</vt:lpstr>
      <vt:lpstr>Threats</vt:lpstr>
      <vt:lpstr>Threats to databases</vt:lpstr>
      <vt:lpstr>PowerPoint Presentation</vt:lpstr>
      <vt:lpstr>PowerPoint Presentation</vt:lpstr>
      <vt:lpstr>Access Control Models</vt:lpstr>
      <vt:lpstr>Discretionary Access Control</vt:lpstr>
      <vt:lpstr>Mandatory Access Control</vt:lpstr>
      <vt:lpstr>Role Based Access Control</vt:lpstr>
      <vt:lpstr>Differences between Authentication and Authorization.</vt:lpstr>
      <vt:lpstr>PowerPoint Presentation</vt:lpstr>
      <vt:lpstr>PowerPoint Presentation</vt:lpstr>
      <vt:lpstr>Database Security and DBA </vt:lpstr>
      <vt:lpstr>Database Security and DBA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gaurav srivastav</dc:creator>
  <cp:lastModifiedBy>dell</cp:lastModifiedBy>
  <cp:revision>15</cp:revision>
  <dcterms:created xsi:type="dcterms:W3CDTF">2020-08-04T18:57:56Z</dcterms:created>
  <dcterms:modified xsi:type="dcterms:W3CDTF">2025-02-21T15:46:02Z</dcterms:modified>
</cp:coreProperties>
</file>