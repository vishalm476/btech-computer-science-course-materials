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s/slide7.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70"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8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0443985-A5D7-4697-B54F-C68290828AD4}" type="datetimeFigureOut">
              <a:rPr lang="en-IN" smtClean="0"/>
              <a:t>31-08-2020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A156C9-D691-4461-814D-A163EA55F569}" type="slidenum">
              <a:rPr lang="en-IN" smtClean="0"/>
              <a:t>‹#›</a:t>
            </a:fld>
            <a:endParaRPr lang="en-IN"/>
          </a:p>
        </p:txBody>
      </p:sp>
    </p:spTree>
    <p:extLst>
      <p:ext uri="{BB962C8B-B14F-4D97-AF65-F5344CB8AC3E}">
        <p14:creationId xmlns:p14="http://schemas.microsoft.com/office/powerpoint/2010/main" val="364509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0443985-A5D7-4697-B54F-C68290828AD4}" type="datetimeFigureOut">
              <a:rPr lang="en-IN" smtClean="0"/>
              <a:t>31-08-2020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A156C9-D691-4461-814D-A163EA55F569}" type="slidenum">
              <a:rPr lang="en-IN" smtClean="0"/>
              <a:t>‹#›</a:t>
            </a:fld>
            <a:endParaRPr lang="en-IN"/>
          </a:p>
        </p:txBody>
      </p:sp>
    </p:spTree>
    <p:extLst>
      <p:ext uri="{BB962C8B-B14F-4D97-AF65-F5344CB8AC3E}">
        <p14:creationId xmlns:p14="http://schemas.microsoft.com/office/powerpoint/2010/main" val="3174503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0443985-A5D7-4697-B54F-C68290828AD4}" type="datetimeFigureOut">
              <a:rPr lang="en-IN" smtClean="0"/>
              <a:t>31-08-2020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A156C9-D691-4461-814D-A163EA55F569}" type="slidenum">
              <a:rPr lang="en-IN" smtClean="0"/>
              <a:t>‹#›</a:t>
            </a:fld>
            <a:endParaRPr lang="en-IN"/>
          </a:p>
        </p:txBody>
      </p:sp>
    </p:spTree>
    <p:extLst>
      <p:ext uri="{BB962C8B-B14F-4D97-AF65-F5344CB8AC3E}">
        <p14:creationId xmlns:p14="http://schemas.microsoft.com/office/powerpoint/2010/main" val="1551355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0443985-A5D7-4697-B54F-C68290828AD4}" type="datetimeFigureOut">
              <a:rPr lang="en-IN" smtClean="0"/>
              <a:t>31-08-2020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3A156C9-D691-4461-814D-A163EA55F569}" type="slidenum">
              <a:rPr lang="en-IN" smtClean="0"/>
              <a:t>‹#›</a:t>
            </a:fld>
            <a:endParaRPr lang="en-IN"/>
          </a:p>
        </p:txBody>
      </p:sp>
    </p:spTree>
    <p:extLst>
      <p:ext uri="{BB962C8B-B14F-4D97-AF65-F5344CB8AC3E}">
        <p14:creationId xmlns:p14="http://schemas.microsoft.com/office/powerpoint/2010/main" val="911908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0443985-A5D7-4697-B54F-C68290828AD4}" type="datetimeFigureOut">
              <a:rPr lang="en-IN" smtClean="0"/>
              <a:t>31-08-2020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3A156C9-D691-4461-814D-A163EA55F569}" type="slidenum">
              <a:rPr lang="en-IN" smtClean="0"/>
              <a:t>‹#›</a:t>
            </a:fld>
            <a:endParaRPr lang="en-IN"/>
          </a:p>
        </p:txBody>
      </p:sp>
    </p:spTree>
    <p:extLst>
      <p:ext uri="{BB962C8B-B14F-4D97-AF65-F5344CB8AC3E}">
        <p14:creationId xmlns:p14="http://schemas.microsoft.com/office/powerpoint/2010/main" val="833350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0443985-A5D7-4697-B54F-C68290828AD4}" type="datetimeFigureOut">
              <a:rPr lang="en-IN" smtClean="0"/>
              <a:t>31-08-2020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3A156C9-D691-4461-814D-A163EA55F569}" type="slidenum">
              <a:rPr lang="en-IN" smtClean="0"/>
              <a:t>‹#›</a:t>
            </a:fld>
            <a:endParaRPr lang="en-IN"/>
          </a:p>
        </p:txBody>
      </p:sp>
    </p:spTree>
    <p:extLst>
      <p:ext uri="{BB962C8B-B14F-4D97-AF65-F5344CB8AC3E}">
        <p14:creationId xmlns:p14="http://schemas.microsoft.com/office/powerpoint/2010/main" val="4006036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443985-A5D7-4697-B54F-C68290828AD4}" type="datetimeFigureOut">
              <a:rPr lang="en-IN" smtClean="0"/>
              <a:t>31-08-2020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3A156C9-D691-4461-814D-A163EA55F569}" type="slidenum">
              <a:rPr lang="en-IN" smtClean="0"/>
              <a:t>‹#›</a:t>
            </a:fld>
            <a:endParaRPr lang="en-IN"/>
          </a:p>
        </p:txBody>
      </p:sp>
    </p:spTree>
    <p:extLst>
      <p:ext uri="{BB962C8B-B14F-4D97-AF65-F5344CB8AC3E}">
        <p14:creationId xmlns:p14="http://schemas.microsoft.com/office/powerpoint/2010/main" val="2526860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443985-A5D7-4697-B54F-C68290828AD4}" type="datetimeFigureOut">
              <a:rPr lang="en-IN" smtClean="0"/>
              <a:t>31-08-2020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3A156C9-D691-4461-814D-A163EA55F569}" type="slidenum">
              <a:rPr lang="en-IN" smtClean="0"/>
              <a:t>‹#›</a:t>
            </a:fld>
            <a:endParaRPr lang="en-IN"/>
          </a:p>
        </p:txBody>
      </p:sp>
    </p:spTree>
    <p:extLst>
      <p:ext uri="{BB962C8B-B14F-4D97-AF65-F5344CB8AC3E}">
        <p14:creationId xmlns:p14="http://schemas.microsoft.com/office/powerpoint/2010/main" val="1130934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443985-A5D7-4697-B54F-C68290828AD4}" type="datetimeFigureOut">
              <a:rPr lang="en-IN" smtClean="0"/>
              <a:t>31-08-2020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3A156C9-D691-4461-814D-A163EA55F569}" type="slidenum">
              <a:rPr lang="en-IN" smtClean="0"/>
              <a:t>‹#›</a:t>
            </a:fld>
            <a:endParaRPr lang="en-IN"/>
          </a:p>
        </p:txBody>
      </p:sp>
    </p:spTree>
    <p:extLst>
      <p:ext uri="{BB962C8B-B14F-4D97-AF65-F5344CB8AC3E}">
        <p14:creationId xmlns:p14="http://schemas.microsoft.com/office/powerpoint/2010/main" val="2229084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0443985-A5D7-4697-B54F-C68290828AD4}" type="datetimeFigureOut">
              <a:rPr lang="en-IN" smtClean="0"/>
              <a:t>31-08-2020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A156C9-D691-4461-814D-A163EA55F569}" type="slidenum">
              <a:rPr lang="en-IN" smtClean="0"/>
              <a:t>‹#›</a:t>
            </a:fld>
            <a:endParaRPr lang="en-IN"/>
          </a:p>
        </p:txBody>
      </p:sp>
    </p:spTree>
    <p:extLst>
      <p:ext uri="{BB962C8B-B14F-4D97-AF65-F5344CB8AC3E}">
        <p14:creationId xmlns:p14="http://schemas.microsoft.com/office/powerpoint/2010/main" val="3872850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0443985-A5D7-4697-B54F-C68290828AD4}" type="datetimeFigureOut">
              <a:rPr lang="en-IN" smtClean="0"/>
              <a:t>31-08-2020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3A156C9-D691-4461-814D-A163EA55F569}" type="slidenum">
              <a:rPr lang="en-IN" smtClean="0"/>
              <a:t>‹#›</a:t>
            </a:fld>
            <a:endParaRPr lang="en-IN"/>
          </a:p>
        </p:txBody>
      </p:sp>
    </p:spTree>
    <p:extLst>
      <p:ext uri="{BB962C8B-B14F-4D97-AF65-F5344CB8AC3E}">
        <p14:creationId xmlns:p14="http://schemas.microsoft.com/office/powerpoint/2010/main" val="2588564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443985-A5D7-4697-B54F-C68290828AD4}" type="datetimeFigureOut">
              <a:rPr lang="en-IN" smtClean="0"/>
              <a:t>31-08-2020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A156C9-D691-4461-814D-A163EA55F569}" type="slidenum">
              <a:rPr lang="en-IN" smtClean="0"/>
              <a:t>‹#›</a:t>
            </a:fld>
            <a:endParaRPr lang="en-IN"/>
          </a:p>
        </p:txBody>
      </p:sp>
    </p:spTree>
    <p:extLst>
      <p:ext uri="{BB962C8B-B14F-4D97-AF65-F5344CB8AC3E}">
        <p14:creationId xmlns:p14="http://schemas.microsoft.com/office/powerpoint/2010/main" val="354628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Soil </a:t>
            </a:r>
            <a:r>
              <a:rPr lang="en-US" dirty="0" smtClean="0"/>
              <a:t>Properties</a:t>
            </a:r>
            <a:endParaRPr lang="en-US" dirty="0"/>
          </a:p>
        </p:txBody>
      </p:sp>
      <p:sp>
        <p:nvSpPr>
          <p:cNvPr id="4" name="Subtitle 3"/>
          <p:cNvSpPr>
            <a:spLocks noGrp="1"/>
          </p:cNvSpPr>
          <p:nvPr>
            <p:ph type="subTitle" idx="1"/>
          </p:nvPr>
        </p:nvSpPr>
        <p:spPr/>
        <p:txBody>
          <a:bodyPr/>
          <a:lstStyle/>
          <a:p>
            <a:endParaRPr lang="en-IN"/>
          </a:p>
        </p:txBody>
      </p:sp>
    </p:spTree>
    <p:extLst>
      <p:ext uri="{BB962C8B-B14F-4D97-AF65-F5344CB8AC3E}">
        <p14:creationId xmlns:p14="http://schemas.microsoft.com/office/powerpoint/2010/main" val="1883219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images.slideplayer.com/23/6881022/slides/slide_14.jpg"/>
          <p:cNvPicPr>
            <a:picLocks noChangeAspect="1" noChangeArrowheads="1"/>
          </p:cNvPicPr>
          <p:nvPr/>
        </p:nvPicPr>
        <p:blipFill>
          <a:blip r:embed="rId2"/>
          <a:srcRect r="10416" b="13334"/>
          <a:stretch>
            <a:fillRect/>
          </a:stretch>
        </p:blipFill>
        <p:spPr bwMode="auto">
          <a:xfrm>
            <a:off x="2023563" y="470261"/>
            <a:ext cx="8191591" cy="5943601"/>
          </a:xfrm>
          <a:prstGeom prst="rect">
            <a:avLst/>
          </a:prstGeom>
          <a:noFill/>
        </p:spPr>
      </p:pic>
    </p:spTree>
    <p:extLst>
      <p:ext uri="{BB962C8B-B14F-4D97-AF65-F5344CB8AC3E}">
        <p14:creationId xmlns:p14="http://schemas.microsoft.com/office/powerpoint/2010/main" val="4065108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3645" y="93316"/>
            <a:ext cx="8911687" cy="1280890"/>
          </a:xfrm>
        </p:spPr>
        <p:txBody>
          <a:bodyPr/>
          <a:lstStyle/>
          <a:p>
            <a:r>
              <a:rPr lang="en-US" dirty="0"/>
              <a:t>Components of Soil</a:t>
            </a:r>
          </a:p>
        </p:txBody>
      </p:sp>
      <p:sp>
        <p:nvSpPr>
          <p:cNvPr id="3" name="Content Placeholder 2"/>
          <p:cNvSpPr>
            <a:spLocks noGrp="1"/>
          </p:cNvSpPr>
          <p:nvPr>
            <p:ph idx="1"/>
          </p:nvPr>
        </p:nvSpPr>
        <p:spPr>
          <a:xfrm>
            <a:off x="520570" y="1589290"/>
            <a:ext cx="7349266" cy="4953750"/>
          </a:xfrm>
        </p:spPr>
        <p:txBody>
          <a:bodyPr>
            <a:normAutofit/>
          </a:bodyPr>
          <a:lstStyle/>
          <a:p>
            <a:pPr algn="just"/>
            <a:r>
              <a:rPr lang="en-US" sz="2000" b="1" dirty="0">
                <a:latin typeface="Times New Roman" panose="02020603050405020304" pitchFamily="18" charset="0"/>
                <a:cs typeface="Times New Roman" panose="02020603050405020304" pitchFamily="18" charset="0"/>
              </a:rPr>
              <a:t>The basic components of soil are minerals, organic matter, water and air. The typical soil consists of approximately </a:t>
            </a:r>
          </a:p>
          <a:p>
            <a:pPr algn="just"/>
            <a:r>
              <a:rPr lang="en-US" sz="2000" b="1" dirty="0">
                <a:latin typeface="Times New Roman" panose="02020603050405020304" pitchFamily="18" charset="0"/>
                <a:cs typeface="Times New Roman" panose="02020603050405020304" pitchFamily="18" charset="0"/>
              </a:rPr>
              <a:t>45% mineral,</a:t>
            </a:r>
          </a:p>
          <a:p>
            <a:pPr algn="just"/>
            <a:r>
              <a:rPr lang="en-US" sz="2000" b="1" dirty="0">
                <a:latin typeface="Times New Roman" panose="02020603050405020304" pitchFamily="18" charset="0"/>
                <a:cs typeface="Times New Roman" panose="02020603050405020304" pitchFamily="18" charset="0"/>
              </a:rPr>
              <a:t>5% organic matter, </a:t>
            </a:r>
          </a:p>
          <a:p>
            <a:pPr algn="just"/>
            <a:r>
              <a:rPr lang="en-US" sz="2000" b="1" dirty="0">
                <a:latin typeface="Times New Roman" panose="02020603050405020304" pitchFamily="18" charset="0"/>
                <a:cs typeface="Times New Roman" panose="02020603050405020304" pitchFamily="18" charset="0"/>
              </a:rPr>
              <a:t>20-30% water, and </a:t>
            </a:r>
          </a:p>
          <a:p>
            <a:pPr algn="just"/>
            <a:r>
              <a:rPr lang="en-US" sz="2000" b="1" dirty="0">
                <a:latin typeface="Times New Roman" panose="02020603050405020304" pitchFamily="18" charset="0"/>
                <a:cs typeface="Times New Roman" panose="02020603050405020304" pitchFamily="18" charset="0"/>
              </a:rPr>
              <a:t>20-30% air. </a:t>
            </a:r>
          </a:p>
          <a:p>
            <a:pPr algn="just"/>
            <a:r>
              <a:rPr lang="en-US" sz="2000" dirty="0"/>
              <a:t>soil minerals and organic matter hold and store nutrients, </a:t>
            </a:r>
          </a:p>
          <a:p>
            <a:pPr algn="just"/>
            <a:r>
              <a:rPr lang="en-US" sz="2000" dirty="0"/>
              <a:t>soil water is what readily provides nutrients for plant uptake. </a:t>
            </a:r>
          </a:p>
          <a:p>
            <a:pPr algn="just"/>
            <a:r>
              <a:rPr lang="en-US" sz="2000" dirty="0"/>
              <a:t>Soil air, supports microorganisms that live in the soil need air to undergo the biological processes that release additional nutrients into the soil.</a:t>
            </a:r>
            <a:endParaRPr lang="en-US" sz="2000" b="1" dirty="0">
              <a:latin typeface="Times New Roman" panose="02020603050405020304" pitchFamily="18" charset="0"/>
              <a:cs typeface="Times New Roman" panose="02020603050405020304" pitchFamily="18" charset="0"/>
            </a:endParaRPr>
          </a:p>
        </p:txBody>
      </p:sp>
      <p:pic>
        <p:nvPicPr>
          <p:cNvPr id="1026" name="Picture 2" descr="http://www.ctahr.hawaii.edu/mauisoil/images/a_comp_clip_image00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36785" y="352269"/>
            <a:ext cx="2817181" cy="2817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6094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Soil Minerals</a:t>
            </a:r>
            <a:br>
              <a:rPr lang="en-US" dirty="0"/>
            </a:br>
            <a:endParaRPr lang="en-US" dirty="0"/>
          </a:p>
        </p:txBody>
      </p:sp>
      <p:sp>
        <p:nvSpPr>
          <p:cNvPr id="3" name="Content Placeholder 2"/>
          <p:cNvSpPr>
            <a:spLocks noGrp="1"/>
          </p:cNvSpPr>
          <p:nvPr>
            <p:ph idx="1"/>
          </p:nvPr>
        </p:nvSpPr>
        <p:spPr>
          <a:xfrm>
            <a:off x="838200" y="1211028"/>
            <a:ext cx="10515600" cy="5039870"/>
          </a:xfrm>
        </p:spPr>
        <p:txBody>
          <a:bodyPr>
            <a:normAutofit/>
          </a:bodyPr>
          <a:lstStyle/>
          <a:p>
            <a:pPr algn="just"/>
            <a:r>
              <a:rPr lang="en-US" sz="2400" dirty="0"/>
              <a:t>Soil minerals play a vital role in soil fertility  and these minerals vary greatly in size and chemical composition.</a:t>
            </a:r>
          </a:p>
          <a:p>
            <a:pPr algn="just"/>
            <a:r>
              <a:rPr lang="en-US" sz="2400" b="1" cap="all" dirty="0"/>
              <a:t>FINE EARTH FRACTION</a:t>
            </a:r>
          </a:p>
          <a:p>
            <a:pPr algn="just"/>
            <a:r>
              <a:rPr lang="en-US" sz="2400" dirty="0"/>
              <a:t>The fine earth fraction includes any particle less than 2.0 mm (.078 inches) and is divided into three classes of size: sand, silt, or clay.</a:t>
            </a:r>
          </a:p>
          <a:p>
            <a:pPr algn="just"/>
            <a:r>
              <a:rPr lang="en-US" sz="2400" b="1" cap="all" dirty="0"/>
              <a:t>COARSE FRACTION</a:t>
            </a:r>
          </a:p>
          <a:p>
            <a:pPr algn="just"/>
            <a:r>
              <a:rPr lang="en-US" sz="2400" dirty="0"/>
              <a:t>The coarse fraction of soil includes any soil particles greater than 2mm. The coarse fraction includes boulders, stones, gravels, and coarse sands. These are rocky fragments and are generally a combination of more than one type of mineral.</a:t>
            </a:r>
          </a:p>
          <a:p>
            <a:pPr algn="just"/>
            <a:endParaRPr lang="en-US" sz="2400" dirty="0"/>
          </a:p>
          <a:p>
            <a:pPr algn="just"/>
            <a:endParaRPr lang="en-US" sz="2400" dirty="0"/>
          </a:p>
        </p:txBody>
      </p:sp>
    </p:spTree>
    <p:extLst>
      <p:ext uri="{BB962C8B-B14F-4D97-AF65-F5344CB8AC3E}">
        <p14:creationId xmlns:p14="http://schemas.microsoft.com/office/powerpoint/2010/main" val="1277550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nvPr>
        </p:nvGraphicFramePr>
        <p:xfrm>
          <a:off x="599606" y="503339"/>
          <a:ext cx="10754194" cy="2839467"/>
        </p:xfrm>
        <a:graphic>
          <a:graphicData uri="http://schemas.openxmlformats.org/drawingml/2006/table">
            <a:tbl>
              <a:tblPr/>
              <a:tblGrid>
                <a:gridCol w="738958">
                  <a:extLst>
                    <a:ext uri="{9D8B030D-6E8A-4147-A177-3AD203B41FA5}">
                      <a16:colId xmlns="" xmlns:a16="http://schemas.microsoft.com/office/drawing/2014/main" val="20000"/>
                    </a:ext>
                  </a:extLst>
                </a:gridCol>
                <a:gridCol w="2311209">
                  <a:extLst>
                    <a:ext uri="{9D8B030D-6E8A-4147-A177-3AD203B41FA5}">
                      <a16:colId xmlns="" xmlns:a16="http://schemas.microsoft.com/office/drawing/2014/main" val="20001"/>
                    </a:ext>
                  </a:extLst>
                </a:gridCol>
                <a:gridCol w="1132020">
                  <a:extLst>
                    <a:ext uri="{9D8B030D-6E8A-4147-A177-3AD203B41FA5}">
                      <a16:colId xmlns="" xmlns:a16="http://schemas.microsoft.com/office/drawing/2014/main" val="20002"/>
                    </a:ext>
                  </a:extLst>
                </a:gridCol>
                <a:gridCol w="6572007">
                  <a:extLst>
                    <a:ext uri="{9D8B030D-6E8A-4147-A177-3AD203B41FA5}">
                      <a16:colId xmlns="" xmlns:a16="http://schemas.microsoft.com/office/drawing/2014/main" val="20003"/>
                    </a:ext>
                  </a:extLst>
                </a:gridCol>
              </a:tblGrid>
              <a:tr h="315496">
                <a:tc gridSpan="4">
                  <a:txBody>
                    <a:bodyPr/>
                    <a:lstStyle/>
                    <a:p>
                      <a:r>
                        <a:rPr lang="en-US" b="1" dirty="0">
                          <a:solidFill>
                            <a:srgbClr val="000000"/>
                          </a:solidFill>
                          <a:effectLst/>
                          <a:latin typeface="Arial" panose="020B0604020202020204" pitchFamily="34" charset="0"/>
                        </a:rPr>
                        <a:t>The Fine Earth Fraction</a:t>
                      </a:r>
                      <a:endParaRPr lang="en-US" dirty="0">
                        <a:solidFill>
                          <a:srgbClr val="000000"/>
                        </a:solidFill>
                        <a:effectLst/>
                        <a:latin typeface="Arial" panose="020B0604020202020204" pitchFamily="34" charset="0"/>
                      </a:endParaRPr>
                    </a:p>
                  </a:txBody>
                  <a:tcPr marL="0" marR="0" marT="0" marB="0" anchor="b">
                    <a:lnL>
                      <a:noFill/>
                    </a:lnL>
                    <a:lnR>
                      <a:noFill/>
                    </a:lnR>
                    <a:lnT>
                      <a:noFill/>
                    </a:lnT>
                    <a:lnB>
                      <a:noFill/>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0000"/>
                  </a:ext>
                </a:extLst>
              </a:tr>
              <a:tr h="315496">
                <a:tc>
                  <a:txBody>
                    <a:bodyPr/>
                    <a:lstStyle/>
                    <a:p>
                      <a:pPr algn="ctr"/>
                      <a:r>
                        <a:rPr lang="en-US">
                          <a:solidFill>
                            <a:srgbClr val="000000"/>
                          </a:solidFill>
                          <a:effectLst/>
                          <a:latin typeface="Arial" panose="020B0604020202020204" pitchFamily="34" charset="0"/>
                        </a:rPr>
                        <a:t> </a:t>
                      </a:r>
                    </a:p>
                  </a:txBody>
                  <a:tcPr marL="0" marR="0" marT="0" marB="0" anchor="b">
                    <a:lnL>
                      <a:noFill/>
                    </a:lnL>
                    <a:lnR>
                      <a:noFill/>
                    </a:lnR>
                    <a:lnT>
                      <a:noFill/>
                    </a:lnT>
                    <a:lnB>
                      <a:noFill/>
                    </a:lnB>
                    <a:solidFill>
                      <a:srgbClr val="FFFFFF"/>
                    </a:solidFill>
                  </a:tcPr>
                </a:tc>
                <a:tc>
                  <a:txBody>
                    <a:bodyPr/>
                    <a:lstStyle/>
                    <a:p>
                      <a:pPr algn="ctr"/>
                      <a:r>
                        <a:rPr lang="en-US" b="1">
                          <a:solidFill>
                            <a:srgbClr val="000000"/>
                          </a:solidFill>
                          <a:effectLst/>
                          <a:latin typeface="Arial" panose="020B0604020202020204" pitchFamily="34" charset="0"/>
                        </a:rPr>
                        <a:t>Size</a:t>
                      </a:r>
                      <a:endParaRPr lang="en-US">
                        <a:solidFill>
                          <a:srgbClr val="000000"/>
                        </a:solidFill>
                        <a:effectLst/>
                        <a:latin typeface="Arial" panose="020B0604020202020204" pitchFamily="34" charset="0"/>
                      </a:endParaRPr>
                    </a:p>
                  </a:txBody>
                  <a:tcPr marL="0" marR="0" marT="0" marB="0" anchor="b">
                    <a:lnL>
                      <a:noFill/>
                    </a:lnL>
                    <a:lnR>
                      <a:noFill/>
                    </a:lnR>
                    <a:lnT>
                      <a:noFill/>
                    </a:lnT>
                    <a:lnB>
                      <a:noFill/>
                    </a:lnB>
                    <a:solidFill>
                      <a:srgbClr val="FFFFFF"/>
                    </a:solidFill>
                  </a:tcPr>
                </a:tc>
                <a:tc>
                  <a:txBody>
                    <a:bodyPr/>
                    <a:lstStyle/>
                    <a:p>
                      <a:pPr algn="ctr"/>
                      <a:r>
                        <a:rPr lang="en-US" b="1">
                          <a:solidFill>
                            <a:srgbClr val="000000"/>
                          </a:solidFill>
                          <a:effectLst/>
                          <a:latin typeface="Arial" panose="020B0604020202020204" pitchFamily="34" charset="0"/>
                        </a:rPr>
                        <a:t>Texture</a:t>
                      </a:r>
                      <a:endParaRPr lang="en-US">
                        <a:solidFill>
                          <a:srgbClr val="000000"/>
                        </a:solidFill>
                        <a:effectLst/>
                        <a:latin typeface="Arial" panose="020B0604020202020204" pitchFamily="34" charset="0"/>
                      </a:endParaRPr>
                    </a:p>
                  </a:txBody>
                  <a:tcPr marL="0" marR="0" marT="0" marB="0" anchor="b">
                    <a:lnL>
                      <a:noFill/>
                    </a:lnL>
                    <a:lnR>
                      <a:noFill/>
                    </a:lnR>
                    <a:lnT>
                      <a:noFill/>
                    </a:lnT>
                    <a:lnB>
                      <a:noFill/>
                    </a:lnB>
                    <a:solidFill>
                      <a:srgbClr val="FFFFFF"/>
                    </a:solidFill>
                  </a:tcPr>
                </a:tc>
                <a:tc>
                  <a:txBody>
                    <a:bodyPr/>
                    <a:lstStyle/>
                    <a:p>
                      <a:pPr algn="ctr"/>
                      <a:r>
                        <a:rPr lang="en-US" b="1">
                          <a:solidFill>
                            <a:srgbClr val="000000"/>
                          </a:solidFill>
                          <a:effectLst/>
                          <a:latin typeface="Arial" panose="020B0604020202020204" pitchFamily="34" charset="0"/>
                        </a:rPr>
                        <a:t>Characteristics</a:t>
                      </a:r>
                      <a:endParaRPr lang="en-US">
                        <a:solidFill>
                          <a:srgbClr val="000000"/>
                        </a:solidFill>
                        <a:effectLst/>
                        <a:latin typeface="Arial" panose="020B0604020202020204" pitchFamily="34" charset="0"/>
                      </a:endParaRPr>
                    </a:p>
                  </a:txBody>
                  <a:tcPr marL="0" marR="0" marT="0" marB="0" anchor="b">
                    <a:lnL>
                      <a:noFill/>
                    </a:lnL>
                    <a:lnR>
                      <a:noFill/>
                    </a:lnR>
                    <a:lnT>
                      <a:noFill/>
                    </a:lnT>
                    <a:lnB>
                      <a:noFill/>
                    </a:lnB>
                    <a:solidFill>
                      <a:srgbClr val="FFFFFF"/>
                    </a:solidFill>
                  </a:tcPr>
                </a:tc>
                <a:extLst>
                  <a:ext uri="{0D108BD9-81ED-4DB2-BD59-A6C34878D82A}">
                    <a16:rowId xmlns="" xmlns:a16="http://schemas.microsoft.com/office/drawing/2014/main" val="10001"/>
                  </a:ext>
                </a:extLst>
              </a:tr>
              <a:tr h="630993">
                <a:tc>
                  <a:txBody>
                    <a:bodyPr/>
                    <a:lstStyle/>
                    <a:p>
                      <a:pPr algn="ctr"/>
                      <a:r>
                        <a:rPr lang="en-US" b="1">
                          <a:solidFill>
                            <a:srgbClr val="000000"/>
                          </a:solidFill>
                          <a:effectLst/>
                          <a:latin typeface="Arial" panose="020B0604020202020204" pitchFamily="34" charset="0"/>
                        </a:rPr>
                        <a:t>Sand</a:t>
                      </a:r>
                      <a:endParaRPr lang="en-US">
                        <a:solidFill>
                          <a:srgbClr val="000000"/>
                        </a:solidFill>
                        <a:effectLst/>
                        <a:latin typeface="Arial" panose="020B0604020202020204" pitchFamily="34" charset="0"/>
                      </a:endParaRPr>
                    </a:p>
                  </a:txBody>
                  <a:tcPr marL="0" marR="0" marT="0" marB="0">
                    <a:lnL>
                      <a:noFill/>
                    </a:lnL>
                    <a:lnR>
                      <a:noFill/>
                    </a:lnR>
                    <a:lnT>
                      <a:noFill/>
                    </a:lnT>
                    <a:lnB>
                      <a:noFill/>
                    </a:lnB>
                    <a:solidFill>
                      <a:srgbClr val="FFFFFF"/>
                    </a:solidFill>
                  </a:tcPr>
                </a:tc>
                <a:tc>
                  <a:txBody>
                    <a:bodyPr/>
                    <a:lstStyle/>
                    <a:p>
                      <a:pPr algn="ctr"/>
                      <a:r>
                        <a:rPr lang="en-US">
                          <a:solidFill>
                            <a:srgbClr val="000000"/>
                          </a:solidFill>
                          <a:effectLst/>
                          <a:latin typeface="Arial" panose="020B0604020202020204" pitchFamily="34" charset="0"/>
                        </a:rPr>
                        <a:t>2.0 mm -0.05 mm</a:t>
                      </a:r>
                    </a:p>
                  </a:txBody>
                  <a:tcPr marL="0" marR="0" marT="0" marB="0">
                    <a:lnL>
                      <a:noFill/>
                    </a:lnL>
                    <a:lnR>
                      <a:noFill/>
                    </a:lnR>
                    <a:lnT>
                      <a:noFill/>
                    </a:lnT>
                    <a:lnB>
                      <a:noFill/>
                    </a:lnB>
                    <a:solidFill>
                      <a:srgbClr val="FFFFFF"/>
                    </a:solidFill>
                  </a:tcPr>
                </a:tc>
                <a:tc>
                  <a:txBody>
                    <a:bodyPr/>
                    <a:lstStyle/>
                    <a:p>
                      <a:pPr algn="ctr"/>
                      <a:r>
                        <a:rPr lang="en-US" dirty="0">
                          <a:solidFill>
                            <a:srgbClr val="000000"/>
                          </a:solidFill>
                          <a:effectLst/>
                          <a:latin typeface="Arial" panose="020B0604020202020204" pitchFamily="34" charset="0"/>
                        </a:rPr>
                        <a:t>gritty</a:t>
                      </a:r>
                    </a:p>
                  </a:txBody>
                  <a:tcPr marL="0" marR="0" marT="0" marB="0">
                    <a:lnL>
                      <a:noFill/>
                    </a:lnL>
                    <a:lnR>
                      <a:noFill/>
                    </a:lnR>
                    <a:lnT>
                      <a:noFill/>
                    </a:lnT>
                    <a:lnB>
                      <a:noFill/>
                    </a:lnB>
                    <a:solidFill>
                      <a:srgbClr val="FFFFFF"/>
                    </a:solidFill>
                  </a:tcPr>
                </a:tc>
                <a:tc>
                  <a:txBody>
                    <a:bodyPr/>
                    <a:lstStyle/>
                    <a:p>
                      <a:r>
                        <a:rPr lang="en-US" dirty="0">
                          <a:solidFill>
                            <a:srgbClr val="000000"/>
                          </a:solidFill>
                          <a:effectLst/>
                          <a:latin typeface="Arial" panose="020B0604020202020204" pitchFamily="34" charset="0"/>
                        </a:rPr>
                        <a:t>Sand is visible to eyes normally, consists of particles with low surface area, and permits excessive drainage.</a:t>
                      </a:r>
                    </a:p>
                  </a:txBody>
                  <a:tcPr marL="0" marR="0" marT="0" marB="0" anchor="b">
                    <a:lnL>
                      <a:noFill/>
                    </a:lnL>
                    <a:lnR>
                      <a:noFill/>
                    </a:lnR>
                    <a:lnT>
                      <a:noFill/>
                    </a:lnT>
                    <a:lnB>
                      <a:noFill/>
                    </a:lnB>
                    <a:solidFill>
                      <a:srgbClr val="FFFFFF"/>
                    </a:solidFill>
                  </a:tcPr>
                </a:tc>
                <a:extLst>
                  <a:ext uri="{0D108BD9-81ED-4DB2-BD59-A6C34878D82A}">
                    <a16:rowId xmlns="" xmlns:a16="http://schemas.microsoft.com/office/drawing/2014/main" val="10002"/>
                  </a:ext>
                </a:extLst>
              </a:tr>
              <a:tr h="630993">
                <a:tc>
                  <a:txBody>
                    <a:bodyPr/>
                    <a:lstStyle/>
                    <a:p>
                      <a:pPr algn="ctr"/>
                      <a:r>
                        <a:rPr lang="en-US" b="1">
                          <a:solidFill>
                            <a:srgbClr val="000000"/>
                          </a:solidFill>
                          <a:effectLst/>
                          <a:latin typeface="Arial" panose="020B0604020202020204" pitchFamily="34" charset="0"/>
                        </a:rPr>
                        <a:t>Silt</a:t>
                      </a:r>
                      <a:endParaRPr lang="en-US">
                        <a:solidFill>
                          <a:srgbClr val="000000"/>
                        </a:solidFill>
                        <a:effectLst/>
                        <a:latin typeface="Arial" panose="020B0604020202020204" pitchFamily="34" charset="0"/>
                      </a:endParaRPr>
                    </a:p>
                  </a:txBody>
                  <a:tcPr marL="0" marR="0" marT="0" marB="0">
                    <a:lnL>
                      <a:noFill/>
                    </a:lnL>
                    <a:lnR>
                      <a:noFill/>
                    </a:lnR>
                    <a:lnT>
                      <a:noFill/>
                    </a:lnT>
                    <a:lnB>
                      <a:noFill/>
                    </a:lnB>
                    <a:solidFill>
                      <a:srgbClr val="FFFFFF"/>
                    </a:solidFill>
                  </a:tcPr>
                </a:tc>
                <a:tc>
                  <a:txBody>
                    <a:bodyPr/>
                    <a:lstStyle/>
                    <a:p>
                      <a:pPr algn="ctr"/>
                      <a:r>
                        <a:rPr lang="en-US">
                          <a:solidFill>
                            <a:srgbClr val="000000"/>
                          </a:solidFill>
                          <a:effectLst/>
                          <a:latin typeface="Arial" panose="020B0604020202020204" pitchFamily="34" charset="0"/>
                        </a:rPr>
                        <a:t>0.05 mm - 0.002 mm</a:t>
                      </a:r>
                    </a:p>
                  </a:txBody>
                  <a:tcPr marL="0" marR="0" marT="0" marB="0">
                    <a:lnL>
                      <a:noFill/>
                    </a:lnL>
                    <a:lnR>
                      <a:noFill/>
                    </a:lnR>
                    <a:lnT>
                      <a:noFill/>
                    </a:lnT>
                    <a:lnB>
                      <a:noFill/>
                    </a:lnB>
                    <a:solidFill>
                      <a:srgbClr val="FFFFFF"/>
                    </a:solidFill>
                  </a:tcPr>
                </a:tc>
                <a:tc>
                  <a:txBody>
                    <a:bodyPr/>
                    <a:lstStyle/>
                    <a:p>
                      <a:pPr algn="ctr"/>
                      <a:r>
                        <a:rPr lang="en-US">
                          <a:solidFill>
                            <a:srgbClr val="000000"/>
                          </a:solidFill>
                          <a:effectLst/>
                          <a:latin typeface="Arial" panose="020B0604020202020204" pitchFamily="34" charset="0"/>
                        </a:rPr>
                        <a:t>buttery</a:t>
                      </a:r>
                    </a:p>
                  </a:txBody>
                  <a:tcPr marL="0" marR="0" marT="0" marB="0">
                    <a:lnL>
                      <a:noFill/>
                    </a:lnL>
                    <a:lnR>
                      <a:noFill/>
                    </a:lnR>
                    <a:lnT>
                      <a:noFill/>
                    </a:lnT>
                    <a:lnB>
                      <a:noFill/>
                    </a:lnB>
                    <a:solidFill>
                      <a:srgbClr val="FFFFFF"/>
                    </a:solidFill>
                  </a:tcPr>
                </a:tc>
                <a:tc>
                  <a:txBody>
                    <a:bodyPr/>
                    <a:lstStyle/>
                    <a:p>
                      <a:r>
                        <a:rPr lang="en-US" dirty="0">
                          <a:solidFill>
                            <a:srgbClr val="000000"/>
                          </a:solidFill>
                          <a:effectLst/>
                          <a:latin typeface="Arial" panose="020B0604020202020204" pitchFamily="34" charset="0"/>
                        </a:rPr>
                        <a:t>Silt is not visible to eyes normally and increases the water holding capacity of soil.</a:t>
                      </a:r>
                    </a:p>
                  </a:txBody>
                  <a:tcPr marL="0" marR="0" marT="0" marB="0" anchor="b">
                    <a:lnL>
                      <a:noFill/>
                    </a:lnL>
                    <a:lnR>
                      <a:noFill/>
                    </a:lnR>
                    <a:lnT>
                      <a:noFill/>
                    </a:lnT>
                    <a:lnB>
                      <a:noFill/>
                    </a:lnB>
                    <a:solidFill>
                      <a:srgbClr val="FFFFFF"/>
                    </a:solidFill>
                  </a:tcPr>
                </a:tc>
                <a:extLst>
                  <a:ext uri="{0D108BD9-81ED-4DB2-BD59-A6C34878D82A}">
                    <a16:rowId xmlns="" xmlns:a16="http://schemas.microsoft.com/office/drawing/2014/main" val="10003"/>
                  </a:ext>
                </a:extLst>
              </a:tr>
              <a:tr h="946489">
                <a:tc>
                  <a:txBody>
                    <a:bodyPr/>
                    <a:lstStyle/>
                    <a:p>
                      <a:pPr algn="ctr"/>
                      <a:r>
                        <a:rPr lang="en-US" b="1">
                          <a:solidFill>
                            <a:srgbClr val="000000"/>
                          </a:solidFill>
                          <a:effectLst/>
                          <a:latin typeface="Arial" panose="020B0604020202020204" pitchFamily="34" charset="0"/>
                        </a:rPr>
                        <a:t>Clay</a:t>
                      </a:r>
                      <a:endParaRPr lang="en-US">
                        <a:solidFill>
                          <a:srgbClr val="000000"/>
                        </a:solidFill>
                        <a:effectLst/>
                        <a:latin typeface="Arial" panose="020B0604020202020204" pitchFamily="34" charset="0"/>
                      </a:endParaRPr>
                    </a:p>
                  </a:txBody>
                  <a:tcPr marL="0" marR="0" marT="0" marB="0">
                    <a:lnL>
                      <a:noFill/>
                    </a:lnL>
                    <a:lnR>
                      <a:noFill/>
                    </a:lnR>
                    <a:lnT>
                      <a:noFill/>
                    </a:lnT>
                    <a:lnB>
                      <a:noFill/>
                    </a:lnB>
                    <a:solidFill>
                      <a:srgbClr val="FFFFFF"/>
                    </a:solidFill>
                  </a:tcPr>
                </a:tc>
                <a:tc>
                  <a:txBody>
                    <a:bodyPr/>
                    <a:lstStyle/>
                    <a:p>
                      <a:pPr algn="ctr"/>
                      <a:r>
                        <a:rPr lang="en-US">
                          <a:solidFill>
                            <a:srgbClr val="000000"/>
                          </a:solidFill>
                          <a:effectLst/>
                          <a:latin typeface="Arial" panose="020B0604020202020204" pitchFamily="34" charset="0"/>
                        </a:rPr>
                        <a:t>&lt; 0.002 mm</a:t>
                      </a:r>
                    </a:p>
                  </a:txBody>
                  <a:tcPr marL="0" marR="0" marT="0" marB="0">
                    <a:lnL>
                      <a:noFill/>
                    </a:lnL>
                    <a:lnR>
                      <a:noFill/>
                    </a:lnR>
                    <a:lnT>
                      <a:noFill/>
                    </a:lnT>
                    <a:lnB>
                      <a:noFill/>
                    </a:lnB>
                    <a:solidFill>
                      <a:srgbClr val="FFFFFF"/>
                    </a:solidFill>
                  </a:tcPr>
                </a:tc>
                <a:tc>
                  <a:txBody>
                    <a:bodyPr/>
                    <a:lstStyle/>
                    <a:p>
                      <a:pPr algn="ctr"/>
                      <a:r>
                        <a:rPr lang="en-US">
                          <a:solidFill>
                            <a:srgbClr val="000000"/>
                          </a:solidFill>
                          <a:effectLst/>
                          <a:latin typeface="Arial" panose="020B0604020202020204" pitchFamily="34" charset="0"/>
                        </a:rPr>
                        <a:t>sticky</a:t>
                      </a:r>
                    </a:p>
                  </a:txBody>
                  <a:tcPr marL="0" marR="0" marT="0" marB="0">
                    <a:lnL>
                      <a:noFill/>
                    </a:lnL>
                    <a:lnR>
                      <a:noFill/>
                    </a:lnR>
                    <a:lnT>
                      <a:noFill/>
                    </a:lnT>
                    <a:lnB>
                      <a:noFill/>
                    </a:lnB>
                    <a:solidFill>
                      <a:srgbClr val="FFFFFF"/>
                    </a:solidFill>
                  </a:tcPr>
                </a:tc>
                <a:tc>
                  <a:txBody>
                    <a:bodyPr/>
                    <a:lstStyle/>
                    <a:p>
                      <a:r>
                        <a:rPr lang="en-US" dirty="0">
                          <a:solidFill>
                            <a:srgbClr val="000000"/>
                          </a:solidFill>
                          <a:effectLst/>
                          <a:latin typeface="Arial" panose="020B0604020202020204" pitchFamily="34" charset="0"/>
                        </a:rPr>
                        <a:t>Clay has a high surface area, high water holding capacity, many small pores, and possesses charged surfaces to attract and hold nutrients.</a:t>
                      </a:r>
                    </a:p>
                  </a:txBody>
                  <a:tcPr marL="0" marR="0" marT="0" marB="0" anchor="b">
                    <a:lnL>
                      <a:noFill/>
                    </a:lnL>
                    <a:lnR>
                      <a:noFill/>
                    </a:lnR>
                    <a:lnT>
                      <a:noFill/>
                    </a:lnT>
                    <a:lnB>
                      <a:noFill/>
                    </a:lnB>
                    <a:solidFill>
                      <a:srgbClr val="FFFFFF"/>
                    </a:solidFill>
                  </a:tcPr>
                </a:tc>
                <a:extLst>
                  <a:ext uri="{0D108BD9-81ED-4DB2-BD59-A6C34878D82A}">
                    <a16:rowId xmlns="" xmlns:a16="http://schemas.microsoft.com/office/drawing/2014/main" val="10004"/>
                  </a:ext>
                </a:extLst>
              </a:tr>
            </a:tbl>
          </a:graphicData>
        </a:graphic>
      </p:graphicFrame>
      <p:sp>
        <p:nvSpPr>
          <p:cNvPr id="7" name="Rectangle 3"/>
          <p:cNvSpPr>
            <a:spLocks noChangeArrowheads="1"/>
          </p:cNvSpPr>
          <p:nvPr/>
        </p:nvSpPr>
        <p:spPr bwMode="auto">
          <a:xfrm>
            <a:off x="0" y="-73451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cs typeface="Arial" panose="020B0604020202020204" pitchFamily="34" charset="0"/>
              </a:rPr>
              <a:t> Description of sand, silt, and clay classes.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p:cNvPicPr>
            <a:picLocks noChangeAspect="1"/>
          </p:cNvPicPr>
          <p:nvPr/>
        </p:nvPicPr>
        <p:blipFill>
          <a:blip r:embed="rId2" cstate="print"/>
          <a:stretch>
            <a:fillRect/>
          </a:stretch>
        </p:blipFill>
        <p:spPr>
          <a:xfrm>
            <a:off x="868528" y="2847703"/>
            <a:ext cx="3392753" cy="3652864"/>
          </a:xfrm>
          <a:prstGeom prst="rect">
            <a:avLst/>
          </a:prstGeom>
        </p:spPr>
      </p:pic>
      <p:pic>
        <p:nvPicPr>
          <p:cNvPr id="2" name="Picture 1"/>
          <p:cNvPicPr>
            <a:picLocks noChangeAspect="1"/>
          </p:cNvPicPr>
          <p:nvPr/>
        </p:nvPicPr>
        <p:blipFill>
          <a:blip r:embed="rId3" cstate="print"/>
          <a:srcRect b="32917"/>
          <a:stretch>
            <a:fillRect/>
          </a:stretch>
        </p:blipFill>
        <p:spPr>
          <a:xfrm>
            <a:off x="7200900" y="3879485"/>
            <a:ext cx="4372791" cy="1959612"/>
          </a:xfrm>
          <a:prstGeom prst="rect">
            <a:avLst/>
          </a:prstGeom>
        </p:spPr>
      </p:pic>
    </p:spTree>
    <p:extLst>
      <p:ext uri="{BB962C8B-B14F-4D97-AF65-F5344CB8AC3E}">
        <p14:creationId xmlns:p14="http://schemas.microsoft.com/office/powerpoint/2010/main" val="3694210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Texture</a:t>
            </a:r>
          </a:p>
        </p:txBody>
      </p:sp>
      <p:pic>
        <p:nvPicPr>
          <p:cNvPr id="4" name="Content Placeholder 3"/>
          <p:cNvPicPr>
            <a:picLocks noGrp="1" noChangeAspect="1"/>
          </p:cNvPicPr>
          <p:nvPr>
            <p:ph idx="1"/>
          </p:nvPr>
        </p:nvPicPr>
        <p:blipFill>
          <a:blip r:embed="rId2" cstate="print"/>
          <a:stretch>
            <a:fillRect/>
          </a:stretch>
        </p:blipFill>
        <p:spPr>
          <a:xfrm>
            <a:off x="6934200" y="781072"/>
            <a:ext cx="5095443" cy="4837446"/>
          </a:xfrm>
          <a:prstGeom prst="rect">
            <a:avLst/>
          </a:prstGeom>
        </p:spPr>
      </p:pic>
      <p:sp>
        <p:nvSpPr>
          <p:cNvPr id="5" name="Rectangle 4"/>
          <p:cNvSpPr/>
          <p:nvPr/>
        </p:nvSpPr>
        <p:spPr>
          <a:xfrm>
            <a:off x="484682" y="1371201"/>
            <a:ext cx="6096000" cy="3416320"/>
          </a:xfrm>
          <a:prstGeom prst="rect">
            <a:avLst/>
          </a:prstGeom>
        </p:spPr>
        <p:txBody>
          <a:bodyPr>
            <a:spAutoFit/>
          </a:bodyPr>
          <a:lstStyle/>
          <a:p>
            <a:pPr algn="just"/>
            <a:r>
              <a:rPr lang="en-US" b="1" dirty="0">
                <a:solidFill>
                  <a:srgbClr val="222222"/>
                </a:solidFill>
                <a:latin typeface="arial" panose="020B0604020202020204" pitchFamily="34" charset="0"/>
              </a:rPr>
              <a:t>Soil texture</a:t>
            </a:r>
            <a:r>
              <a:rPr lang="en-US" dirty="0">
                <a:solidFill>
                  <a:srgbClr val="222222"/>
                </a:solidFill>
                <a:latin typeface="arial" panose="020B0604020202020204" pitchFamily="34" charset="0"/>
              </a:rPr>
              <a:t> refers to the weight proportion (relative proportion by weight percentage of sand, silt, and clay) of the mineral </a:t>
            </a:r>
            <a:r>
              <a:rPr lang="en-US" b="1" dirty="0">
                <a:solidFill>
                  <a:srgbClr val="222222"/>
                </a:solidFill>
                <a:latin typeface="arial" panose="020B0604020202020204" pitchFamily="34" charset="0"/>
              </a:rPr>
              <a:t>soil</a:t>
            </a:r>
            <a:r>
              <a:rPr lang="en-US" dirty="0">
                <a:solidFill>
                  <a:srgbClr val="222222"/>
                </a:solidFill>
                <a:latin typeface="arial" panose="020B0604020202020204" pitchFamily="34" charset="0"/>
              </a:rPr>
              <a:t> separates for particles less than two millimeters (mm) as determined from a laboratory particle-size distribution.</a:t>
            </a:r>
          </a:p>
          <a:p>
            <a:pPr algn="just"/>
            <a:r>
              <a:rPr lang="en-US" b="1" dirty="0"/>
              <a:t>Soil texture</a:t>
            </a:r>
            <a:r>
              <a:rPr lang="en-US" dirty="0"/>
              <a:t> is an </a:t>
            </a:r>
            <a:r>
              <a:rPr lang="en-US" b="1" dirty="0"/>
              <a:t>important soil</a:t>
            </a:r>
            <a:r>
              <a:rPr lang="en-US" dirty="0"/>
              <a:t> characteristic that influences storm water infiltration rates. </a:t>
            </a:r>
            <a:endParaRPr lang="en-US" dirty="0" smtClean="0"/>
          </a:p>
          <a:p>
            <a:pPr algn="just"/>
            <a:endParaRPr lang="en-US" b="1" dirty="0" smtClean="0"/>
          </a:p>
          <a:p>
            <a:pPr algn="just"/>
            <a:r>
              <a:rPr lang="en-US" b="1" dirty="0" smtClean="0"/>
              <a:t>Textural</a:t>
            </a:r>
            <a:r>
              <a:rPr lang="en-US" dirty="0"/>
              <a:t> Triangle. </a:t>
            </a:r>
          </a:p>
          <a:p>
            <a:pPr algn="just"/>
            <a:r>
              <a:rPr lang="en-US" dirty="0"/>
              <a:t>The </a:t>
            </a:r>
            <a:r>
              <a:rPr lang="en-US" b="1" dirty="0"/>
              <a:t>soil textural</a:t>
            </a:r>
            <a:r>
              <a:rPr lang="en-US" dirty="0"/>
              <a:t> class is a grouping of </a:t>
            </a:r>
            <a:r>
              <a:rPr lang="en-US" b="1" dirty="0"/>
              <a:t>soils</a:t>
            </a:r>
            <a:r>
              <a:rPr lang="en-US" dirty="0"/>
              <a:t> based upon these relative proportions. </a:t>
            </a:r>
            <a:r>
              <a:rPr lang="en-US" b="1" dirty="0"/>
              <a:t>Soils</a:t>
            </a:r>
            <a:r>
              <a:rPr lang="en-US" dirty="0"/>
              <a:t> with the finest </a:t>
            </a:r>
            <a:r>
              <a:rPr lang="en-US" b="1" dirty="0"/>
              <a:t>texture</a:t>
            </a:r>
            <a:r>
              <a:rPr lang="en-US" dirty="0"/>
              <a:t> are called clay </a:t>
            </a:r>
            <a:r>
              <a:rPr lang="en-US" b="1" dirty="0"/>
              <a:t>soils</a:t>
            </a:r>
            <a:r>
              <a:rPr lang="en-US" dirty="0"/>
              <a:t>, while </a:t>
            </a:r>
            <a:r>
              <a:rPr lang="en-US" b="1" dirty="0"/>
              <a:t>soils</a:t>
            </a:r>
            <a:r>
              <a:rPr lang="en-US" dirty="0"/>
              <a:t> with the coarsest </a:t>
            </a:r>
            <a:r>
              <a:rPr lang="en-US" b="1" dirty="0"/>
              <a:t>texture</a:t>
            </a:r>
            <a:r>
              <a:rPr lang="en-US" dirty="0"/>
              <a:t> are called sands.</a:t>
            </a:r>
          </a:p>
        </p:txBody>
      </p:sp>
    </p:spTree>
    <p:extLst>
      <p:ext uri="{BB962C8B-B14F-4D97-AF65-F5344CB8AC3E}">
        <p14:creationId xmlns:p14="http://schemas.microsoft.com/office/powerpoint/2010/main" val="3749447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stretch>
            <a:fillRect/>
          </a:stretch>
        </p:blipFill>
        <p:spPr>
          <a:xfrm>
            <a:off x="7232469" y="720032"/>
            <a:ext cx="4755560" cy="4351338"/>
          </a:xfrm>
          <a:prstGeom prst="rect">
            <a:avLst/>
          </a:prstGeom>
        </p:spPr>
      </p:pic>
      <p:sp>
        <p:nvSpPr>
          <p:cNvPr id="5" name="Rectangle 4"/>
          <p:cNvSpPr/>
          <p:nvPr/>
        </p:nvSpPr>
        <p:spPr>
          <a:xfrm>
            <a:off x="385318" y="355835"/>
            <a:ext cx="6355116" cy="3693319"/>
          </a:xfrm>
          <a:prstGeom prst="rect">
            <a:avLst/>
          </a:prstGeom>
        </p:spPr>
        <p:txBody>
          <a:bodyPr wrap="square">
            <a:spAutoFit/>
          </a:bodyPr>
          <a:lstStyle/>
          <a:p>
            <a:pPr algn="just"/>
            <a:r>
              <a:rPr lang="en-US" b="1" dirty="0">
                <a:solidFill>
                  <a:srgbClr val="000000"/>
                </a:solidFill>
                <a:latin typeface="Verdana" panose="020B0604030504040204" pitchFamily="34" charset="0"/>
              </a:rPr>
              <a:t>Example: Classify a soil sample that is 30% clay, 15% silt, and 55% sand. </a:t>
            </a:r>
            <a:endParaRPr lang="en-US" b="1" dirty="0" smtClean="0">
              <a:solidFill>
                <a:srgbClr val="000000"/>
              </a:solidFill>
              <a:latin typeface="Verdana" panose="020B0604030504040204" pitchFamily="34" charset="0"/>
            </a:endParaRPr>
          </a:p>
          <a:p>
            <a:pPr algn="just"/>
            <a:endParaRPr lang="en-US" b="1" dirty="0">
              <a:solidFill>
                <a:srgbClr val="000000"/>
              </a:solidFill>
              <a:latin typeface="Verdana" panose="020B0604030504040204" pitchFamily="34" charset="0"/>
            </a:endParaRPr>
          </a:p>
          <a:p>
            <a:pPr algn="just"/>
            <a:endParaRPr lang="en-US" b="1" dirty="0" smtClean="0">
              <a:solidFill>
                <a:srgbClr val="000000"/>
              </a:solidFill>
              <a:latin typeface="Verdana" panose="020B0604030504040204" pitchFamily="34" charset="0"/>
            </a:endParaRPr>
          </a:p>
          <a:p>
            <a:pPr algn="just"/>
            <a:endParaRPr lang="en-US" b="1" dirty="0">
              <a:solidFill>
                <a:srgbClr val="000000"/>
              </a:solidFill>
              <a:latin typeface="Verdana" panose="020B0604030504040204" pitchFamily="34" charset="0"/>
            </a:endParaRPr>
          </a:p>
          <a:p>
            <a:pPr algn="just"/>
            <a:endParaRPr lang="en-US" b="1" dirty="0" smtClean="0">
              <a:solidFill>
                <a:srgbClr val="000000"/>
              </a:solidFill>
              <a:latin typeface="Verdana" panose="020B0604030504040204" pitchFamily="34" charset="0"/>
            </a:endParaRPr>
          </a:p>
          <a:p>
            <a:pPr algn="just"/>
            <a:endParaRPr lang="en-US" b="1" dirty="0">
              <a:solidFill>
                <a:srgbClr val="000000"/>
              </a:solidFill>
              <a:latin typeface="Verdana" panose="020B0604030504040204" pitchFamily="34" charset="0"/>
            </a:endParaRPr>
          </a:p>
          <a:p>
            <a:pPr algn="just"/>
            <a:r>
              <a:rPr lang="en-US" dirty="0" smtClean="0">
                <a:solidFill>
                  <a:srgbClr val="000000"/>
                </a:solidFill>
                <a:latin typeface="Verdana" panose="020B0604030504040204" pitchFamily="34" charset="0"/>
              </a:rPr>
              <a:t>First </a:t>
            </a:r>
            <a:r>
              <a:rPr lang="en-US" dirty="0">
                <a:solidFill>
                  <a:srgbClr val="000000"/>
                </a:solidFill>
                <a:latin typeface="Verdana" panose="020B0604030504040204" pitchFamily="34" charset="0"/>
              </a:rPr>
              <a:t>locate 30% on the clay axis, and draw a line horizontally from left to right. Next, locate 15% on the silt axis, and draw a line going down diagonally to the left. Finally, locate 55% on the sand axis, and draw a line going up diagonally to the left. The intersection is in a region called Sandy Clay Loam. </a:t>
            </a:r>
            <a:endParaRPr lang="en-US" dirty="0"/>
          </a:p>
        </p:txBody>
      </p:sp>
    </p:spTree>
    <p:extLst>
      <p:ext uri="{BB962C8B-B14F-4D97-AF65-F5344CB8AC3E}">
        <p14:creationId xmlns:p14="http://schemas.microsoft.com/office/powerpoint/2010/main" val="3304836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Soil Minerals and Mineral Composition</a:t>
            </a:r>
            <a:br>
              <a:rPr lang="en-US" dirty="0"/>
            </a:br>
            <a:endParaRPr lang="en-US" dirty="0"/>
          </a:p>
        </p:txBody>
      </p:sp>
      <p:sp>
        <p:nvSpPr>
          <p:cNvPr id="3" name="Content Placeholder 2"/>
          <p:cNvSpPr>
            <a:spLocks noGrp="1"/>
          </p:cNvSpPr>
          <p:nvPr>
            <p:ph idx="1"/>
          </p:nvPr>
        </p:nvSpPr>
        <p:spPr>
          <a:xfrm>
            <a:off x="838200" y="1334124"/>
            <a:ext cx="4033603" cy="4691921"/>
          </a:xfrm>
        </p:spPr>
        <p:txBody>
          <a:bodyPr>
            <a:noAutofit/>
          </a:bodyPr>
          <a:lstStyle/>
          <a:p>
            <a:pPr>
              <a:buNone/>
            </a:pPr>
            <a:r>
              <a:rPr lang="en-US" sz="3200" dirty="0"/>
              <a:t>Typical soil parent mineral materials are</a:t>
            </a:r>
            <a:r>
              <a:rPr lang="en-US" sz="3200" dirty="0" smtClean="0"/>
              <a:t>:</a:t>
            </a:r>
          </a:p>
          <a:p>
            <a:r>
              <a:rPr lang="en-US" sz="3200" dirty="0" smtClean="0"/>
              <a:t> </a:t>
            </a:r>
            <a:r>
              <a:rPr lang="en-US" dirty="0"/>
              <a:t>Quartz: SiO</a:t>
            </a:r>
            <a:r>
              <a:rPr lang="en-US" baseline="-25000" dirty="0"/>
              <a:t>2, </a:t>
            </a:r>
          </a:p>
          <a:p>
            <a:r>
              <a:rPr lang="en-US" dirty="0"/>
              <a:t>Calcite: CaCO</a:t>
            </a:r>
            <a:r>
              <a:rPr lang="en-US" baseline="-25000" dirty="0"/>
              <a:t>3,</a:t>
            </a:r>
          </a:p>
          <a:p>
            <a:r>
              <a:rPr lang="en-US" baseline="-25000" dirty="0"/>
              <a:t> </a:t>
            </a:r>
            <a:r>
              <a:rPr lang="en-US" dirty="0"/>
              <a:t>Feldspar: KAlSi</a:t>
            </a:r>
            <a:r>
              <a:rPr lang="en-US" baseline="-25000" dirty="0"/>
              <a:t>3</a:t>
            </a:r>
            <a:r>
              <a:rPr lang="en-US" dirty="0"/>
              <a:t>O</a:t>
            </a:r>
            <a:r>
              <a:rPr lang="en-US" baseline="-25000" dirty="0"/>
              <a:t>8,</a:t>
            </a:r>
          </a:p>
          <a:p>
            <a:r>
              <a:rPr lang="en-US" baseline="-25000" dirty="0"/>
              <a:t>  </a:t>
            </a:r>
            <a:r>
              <a:rPr lang="en-US" dirty="0"/>
              <a:t>Mica (biotite): K(</a:t>
            </a:r>
            <a:r>
              <a:rPr lang="en-US" dirty="0" err="1"/>
              <a:t>Mg,Fe</a:t>
            </a:r>
            <a:r>
              <a:rPr lang="en-US" dirty="0"/>
              <a:t>)</a:t>
            </a:r>
            <a:r>
              <a:rPr lang="en-US" baseline="-25000" dirty="0"/>
              <a:t>3</a:t>
            </a:r>
            <a:r>
              <a:rPr lang="en-US" dirty="0"/>
              <a:t>AlSi</a:t>
            </a:r>
            <a:r>
              <a:rPr lang="en-US" baseline="-25000" dirty="0"/>
              <a:t>3</a:t>
            </a:r>
            <a:r>
              <a:rPr lang="en-US" dirty="0"/>
              <a:t>O</a:t>
            </a:r>
            <a:r>
              <a:rPr lang="en-US" baseline="-25000" dirty="0"/>
              <a:t>10</a:t>
            </a:r>
            <a:r>
              <a:rPr lang="en-US" dirty="0"/>
              <a:t>(OH)</a:t>
            </a:r>
            <a:r>
              <a:rPr lang="en-US" baseline="-25000" dirty="0"/>
              <a:t>2</a:t>
            </a:r>
            <a:endParaRPr lang="en-US" dirty="0"/>
          </a:p>
          <a:p>
            <a:endParaRPr lang="en-US" sz="2000" dirty="0"/>
          </a:p>
        </p:txBody>
      </p:sp>
    </p:spTree>
    <p:extLst>
      <p:ext uri="{BB962C8B-B14F-4D97-AF65-F5344CB8AC3E}">
        <p14:creationId xmlns:p14="http://schemas.microsoft.com/office/powerpoint/2010/main" val="2588942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Soil Organic Matter</a:t>
            </a:r>
            <a:br>
              <a:rPr lang="en-US" dirty="0"/>
            </a:br>
            <a:endParaRPr lang="en-US" dirty="0"/>
          </a:p>
        </p:txBody>
      </p:sp>
      <p:sp>
        <p:nvSpPr>
          <p:cNvPr id="3" name="Content Placeholder 2"/>
          <p:cNvSpPr>
            <a:spLocks noGrp="1"/>
          </p:cNvSpPr>
          <p:nvPr>
            <p:ph idx="1"/>
          </p:nvPr>
        </p:nvSpPr>
        <p:spPr>
          <a:xfrm>
            <a:off x="141938" y="1310987"/>
            <a:ext cx="8080947" cy="4969891"/>
          </a:xfrm>
        </p:spPr>
        <p:txBody>
          <a:bodyPr/>
          <a:lstStyle/>
          <a:p>
            <a:r>
              <a:rPr lang="en-US" dirty="0"/>
              <a:t>Soil organic matter includes all organic (or carbon-containing) substances within the soil.</a:t>
            </a:r>
          </a:p>
          <a:p>
            <a:r>
              <a:rPr lang="en-US" dirty="0"/>
              <a:t>Soil organic matter includes:</a:t>
            </a:r>
          </a:p>
          <a:p>
            <a:pPr lvl="1"/>
            <a:r>
              <a:rPr lang="en-US" dirty="0"/>
              <a:t>Living organisms (soil biomass)</a:t>
            </a:r>
          </a:p>
          <a:p>
            <a:pPr lvl="1"/>
            <a:r>
              <a:rPr lang="en-US" dirty="0"/>
              <a:t>The remains of microorganisms that once inhabited the soil</a:t>
            </a:r>
          </a:p>
          <a:p>
            <a:pPr lvl="1"/>
            <a:r>
              <a:rPr lang="en-US" dirty="0"/>
              <a:t>The remains of plants and animals</a:t>
            </a:r>
          </a:p>
          <a:p>
            <a:pPr lvl="1"/>
            <a:r>
              <a:rPr lang="en-US" dirty="0"/>
              <a:t>Organic compounds that have been decomposed within the soil and, over thousands of years, reduced to complex and relatively stable substances commonly called humus.</a:t>
            </a:r>
          </a:p>
          <a:p>
            <a:endParaRPr lang="en-US" dirty="0"/>
          </a:p>
        </p:txBody>
      </p:sp>
      <p:pic>
        <p:nvPicPr>
          <p:cNvPr id="4" name="Picture 3"/>
          <p:cNvPicPr>
            <a:picLocks noChangeAspect="1"/>
          </p:cNvPicPr>
          <p:nvPr/>
        </p:nvPicPr>
        <p:blipFill>
          <a:blip r:embed="rId2" cstate="print"/>
          <a:stretch>
            <a:fillRect/>
          </a:stretch>
        </p:blipFill>
        <p:spPr>
          <a:xfrm>
            <a:off x="8356548" y="455389"/>
            <a:ext cx="3545642" cy="2299602"/>
          </a:xfrm>
          <a:prstGeom prst="rect">
            <a:avLst/>
          </a:prstGeom>
        </p:spPr>
      </p:pic>
      <p:pic>
        <p:nvPicPr>
          <p:cNvPr id="6146" name="Picture 2" descr="http://image.slidesharecdn.com/managingorganicmatterforsoilhealth-and-fertility4-28-12-130925103728-phpapp01/95/managing-organic-matter-for-soil-health-and-fertility-5-638.jpg?cb=1380105581"/>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2509" b="17713"/>
          <a:stretch/>
        </p:blipFill>
        <p:spPr bwMode="auto">
          <a:xfrm>
            <a:off x="8222885" y="3057995"/>
            <a:ext cx="3769246" cy="2458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3865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 Functions of Organic Matter</a:t>
            </a:r>
            <a:br>
              <a:rPr lang="en-US" dirty="0"/>
            </a:br>
            <a:endParaRPr lang="en-US" dirty="0"/>
          </a:p>
        </p:txBody>
      </p:sp>
      <p:sp>
        <p:nvSpPr>
          <p:cNvPr id="3" name="Content Placeholder 2"/>
          <p:cNvSpPr>
            <a:spLocks noGrp="1"/>
          </p:cNvSpPr>
          <p:nvPr>
            <p:ph idx="1"/>
          </p:nvPr>
        </p:nvSpPr>
        <p:spPr>
          <a:xfrm>
            <a:off x="838200" y="1499016"/>
            <a:ext cx="8335780" cy="4677947"/>
          </a:xfrm>
        </p:spPr>
        <p:txBody>
          <a:bodyPr>
            <a:normAutofit/>
          </a:bodyPr>
          <a:lstStyle/>
          <a:p>
            <a:r>
              <a:rPr lang="en-US" dirty="0"/>
              <a:t>Acts as a binding agent for mineral particles.</a:t>
            </a:r>
          </a:p>
          <a:p>
            <a:pPr lvl="1"/>
            <a:r>
              <a:rPr lang="en-US" dirty="0"/>
              <a:t>This is responsible for producing friable (easily crumbled) surface soils.</a:t>
            </a:r>
          </a:p>
          <a:p>
            <a:r>
              <a:rPr lang="en-US" dirty="0"/>
              <a:t>Increases the amount of water that a soil may hold.</a:t>
            </a:r>
          </a:p>
          <a:p>
            <a:r>
              <a:rPr lang="en-US" dirty="0"/>
              <a:t>Provides food for organisms that inhabit the soil.</a:t>
            </a:r>
          </a:p>
          <a:p>
            <a:r>
              <a:rPr lang="en-US" dirty="0"/>
              <a:t>Humus is an integral component of organic matter because it is fairly stable and resistant to further decomposition.</a:t>
            </a:r>
          </a:p>
          <a:p>
            <a:endParaRPr lang="en-US" dirty="0"/>
          </a:p>
        </p:txBody>
      </p:sp>
      <p:pic>
        <p:nvPicPr>
          <p:cNvPr id="4" name="Picture 3"/>
          <p:cNvPicPr>
            <a:picLocks noChangeAspect="1"/>
          </p:cNvPicPr>
          <p:nvPr/>
        </p:nvPicPr>
        <p:blipFill>
          <a:blip r:embed="rId2" cstate="print"/>
          <a:stretch>
            <a:fillRect/>
          </a:stretch>
        </p:blipFill>
        <p:spPr>
          <a:xfrm>
            <a:off x="8836298" y="1188127"/>
            <a:ext cx="3167075" cy="2454483"/>
          </a:xfrm>
          <a:prstGeom prst="rect">
            <a:avLst/>
          </a:prstGeom>
        </p:spPr>
      </p:pic>
      <p:pic>
        <p:nvPicPr>
          <p:cNvPr id="6" name="Picture 5"/>
          <p:cNvPicPr>
            <a:picLocks noChangeAspect="1"/>
          </p:cNvPicPr>
          <p:nvPr/>
        </p:nvPicPr>
        <p:blipFill>
          <a:blip r:embed="rId3" cstate="print"/>
          <a:stretch>
            <a:fillRect/>
          </a:stretch>
        </p:blipFill>
        <p:spPr>
          <a:xfrm>
            <a:off x="8784236" y="3837989"/>
            <a:ext cx="3219137" cy="2414353"/>
          </a:xfrm>
          <a:prstGeom prst="rect">
            <a:avLst/>
          </a:prstGeom>
        </p:spPr>
      </p:pic>
    </p:spTree>
    <p:extLst>
      <p:ext uri="{BB962C8B-B14F-4D97-AF65-F5344CB8AC3E}">
        <p14:creationId xmlns:p14="http://schemas.microsoft.com/office/powerpoint/2010/main" val="1034539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3485" y="170253"/>
            <a:ext cx="10269512" cy="864068"/>
          </a:xfrm>
        </p:spPr>
        <p:txBody>
          <a:bodyPr/>
          <a:lstStyle/>
          <a:p>
            <a:r>
              <a:rPr lang="en-US" dirty="0"/>
              <a:t>Soil water and its importance</a:t>
            </a:r>
          </a:p>
        </p:txBody>
      </p:sp>
      <p:sp>
        <p:nvSpPr>
          <p:cNvPr id="3" name="Content Placeholder 2"/>
          <p:cNvSpPr>
            <a:spLocks noGrp="1"/>
          </p:cNvSpPr>
          <p:nvPr>
            <p:ph idx="1"/>
          </p:nvPr>
        </p:nvSpPr>
        <p:spPr>
          <a:xfrm>
            <a:off x="403485" y="1752599"/>
            <a:ext cx="6956685" cy="4322607"/>
          </a:xfrm>
        </p:spPr>
        <p:txBody>
          <a:bodyPr>
            <a:normAutofit/>
          </a:bodyPr>
          <a:lstStyle/>
          <a:p>
            <a:pPr algn="just"/>
            <a:r>
              <a:rPr lang="en-US" sz="2000" dirty="0"/>
              <a:t>The presence of water is essential for plants and organisms in the soil.</a:t>
            </a:r>
          </a:p>
          <a:p>
            <a:pPr algn="just"/>
            <a:r>
              <a:rPr lang="en-US" sz="2000" dirty="0"/>
              <a:t>Water is necessary for the weathering of soil. </a:t>
            </a:r>
          </a:p>
          <a:p>
            <a:pPr algn="just"/>
            <a:r>
              <a:rPr lang="en-US" sz="2000" dirty="0"/>
              <a:t>Soil water is the medium from which all plant nutrients are assimilated by plants. Soil water contains dissolved organic and inorganic substances and transports dissolved nutrients, such as nitrogen, phosphorus, potassium, and calcium, to the plant roots for absorption.</a:t>
            </a:r>
          </a:p>
          <a:p>
            <a:pPr algn="just"/>
            <a:endParaRPr lang="en-US" sz="2000" dirty="0"/>
          </a:p>
        </p:txBody>
      </p:sp>
      <p:pic>
        <p:nvPicPr>
          <p:cNvPr id="4098" name="Picture 2" descr="http://www.extension.umn.edu/agriculture/water/agricultural-drainage/soil-water-concepts/img/7644_f11.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47427" y="1261560"/>
            <a:ext cx="3420045" cy="5596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475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1526" y="694909"/>
            <a:ext cx="2114862" cy="774127"/>
          </a:xfrm>
        </p:spPr>
        <p:txBody>
          <a:bodyPr/>
          <a:lstStyle/>
          <a:p>
            <a:r>
              <a:rPr lang="en-US" dirty="0"/>
              <a:t>Soil Air</a:t>
            </a:r>
          </a:p>
        </p:txBody>
      </p:sp>
      <p:pic>
        <p:nvPicPr>
          <p:cNvPr id="4" name="Content Placeholder 3"/>
          <p:cNvPicPr>
            <a:picLocks noGrp="1" noChangeAspect="1"/>
          </p:cNvPicPr>
          <p:nvPr>
            <p:ph idx="1"/>
          </p:nvPr>
        </p:nvPicPr>
        <p:blipFill>
          <a:blip r:embed="rId2" cstate="print"/>
          <a:stretch>
            <a:fillRect/>
          </a:stretch>
        </p:blipFill>
        <p:spPr>
          <a:xfrm>
            <a:off x="7141144" y="1469036"/>
            <a:ext cx="4522081" cy="2564944"/>
          </a:xfrm>
          <a:prstGeom prst="rect">
            <a:avLst/>
          </a:prstGeom>
        </p:spPr>
      </p:pic>
      <p:sp>
        <p:nvSpPr>
          <p:cNvPr id="5" name="Rectangle 4"/>
          <p:cNvSpPr/>
          <p:nvPr/>
        </p:nvSpPr>
        <p:spPr>
          <a:xfrm>
            <a:off x="761526" y="1577205"/>
            <a:ext cx="5942652" cy="369332"/>
          </a:xfrm>
          <a:prstGeom prst="rect">
            <a:avLst/>
          </a:prstGeom>
        </p:spPr>
        <p:txBody>
          <a:bodyPr wrap="none">
            <a:spAutoFit/>
          </a:bodyPr>
          <a:lstStyle/>
          <a:p>
            <a:r>
              <a:rPr lang="en-US" dirty="0">
                <a:solidFill>
                  <a:srgbClr val="000000"/>
                </a:solidFill>
                <a:latin typeface="Arial" panose="020B0604020202020204" pitchFamily="34" charset="0"/>
              </a:rPr>
              <a:t>S</a:t>
            </a:r>
            <a:r>
              <a:rPr lang="en-US" b="0" i="0" dirty="0" smtClean="0">
                <a:solidFill>
                  <a:srgbClr val="000000"/>
                </a:solidFill>
                <a:effectLst/>
                <a:latin typeface="Arial" panose="020B0604020202020204" pitchFamily="34" charset="0"/>
              </a:rPr>
              <a:t>oil </a:t>
            </a:r>
            <a:r>
              <a:rPr lang="en-US" b="0" i="0" dirty="0">
                <a:solidFill>
                  <a:srgbClr val="000000"/>
                </a:solidFill>
                <a:effectLst/>
                <a:latin typeface="Arial" panose="020B0604020202020204" pitchFamily="34" charset="0"/>
              </a:rPr>
              <a:t>aeration influences the availability of many nutrients.</a:t>
            </a:r>
            <a:endParaRPr lang="en-US" dirty="0"/>
          </a:p>
        </p:txBody>
      </p:sp>
      <p:sp>
        <p:nvSpPr>
          <p:cNvPr id="6" name="Rectangle 5"/>
          <p:cNvSpPr/>
          <p:nvPr/>
        </p:nvSpPr>
        <p:spPr>
          <a:xfrm>
            <a:off x="684852" y="2197045"/>
            <a:ext cx="6096000" cy="369332"/>
          </a:xfrm>
          <a:prstGeom prst="rect">
            <a:avLst/>
          </a:prstGeom>
        </p:spPr>
        <p:txBody>
          <a:bodyPr>
            <a:spAutoFit/>
          </a:bodyPr>
          <a:lstStyle/>
          <a:p>
            <a:pPr algn="just">
              <a:buFont typeface="Arial" panose="020B0604020202020204" pitchFamily="34" charset="0"/>
              <a:buChar char="•"/>
            </a:pPr>
            <a:r>
              <a:rPr lang="en-US" b="0" i="0" dirty="0">
                <a:solidFill>
                  <a:srgbClr val="000000"/>
                </a:solidFill>
                <a:effectLst/>
                <a:latin typeface="Arial" panose="020B0604020202020204" pitchFamily="34" charset="0"/>
              </a:rPr>
              <a:t>Since plant roots require water and </a:t>
            </a:r>
            <a:r>
              <a:rPr lang="en-US" b="0" i="0" dirty="0" smtClean="0">
                <a:solidFill>
                  <a:srgbClr val="000000"/>
                </a:solidFill>
                <a:effectLst/>
                <a:latin typeface="Arial" panose="020B0604020202020204" pitchFamily="34" charset="0"/>
              </a:rPr>
              <a:t>oxygen</a:t>
            </a:r>
            <a:endParaRPr lang="en-US" b="0" i="0" dirty="0">
              <a:solidFill>
                <a:srgbClr val="000000"/>
              </a:solidFill>
              <a:effectLst/>
              <a:latin typeface="Arial" panose="020B0604020202020204" pitchFamily="34" charset="0"/>
            </a:endParaRPr>
          </a:p>
        </p:txBody>
      </p:sp>
      <p:sp>
        <p:nvSpPr>
          <p:cNvPr id="8" name="Rectangle 7"/>
          <p:cNvSpPr/>
          <p:nvPr/>
        </p:nvSpPr>
        <p:spPr>
          <a:xfrm>
            <a:off x="608178" y="2816885"/>
            <a:ext cx="6096000" cy="1631216"/>
          </a:xfrm>
          <a:prstGeom prst="rect">
            <a:avLst/>
          </a:prstGeom>
        </p:spPr>
        <p:txBody>
          <a:bodyPr>
            <a:spAutoFit/>
          </a:bodyPr>
          <a:lstStyle/>
          <a:p>
            <a:pPr marL="285750" indent="-285750" algn="just">
              <a:buFont typeface="Wingdings" panose="05000000000000000000" pitchFamily="2" charset="2"/>
              <a:buChar char="v"/>
            </a:pPr>
            <a:r>
              <a:rPr lang="en-US" sz="2000" dirty="0" smtClean="0">
                <a:latin typeface="Arial" pitchFamily="34" charset="0"/>
                <a:cs typeface="Arial" pitchFamily="34" charset="0"/>
              </a:rPr>
              <a:t>Some </a:t>
            </a:r>
            <a:r>
              <a:rPr lang="en-US" sz="2000" dirty="0">
                <a:latin typeface="Arial" pitchFamily="34" charset="0"/>
                <a:cs typeface="Arial" pitchFamily="34" charset="0"/>
              </a:rPr>
              <a:t>environmental contaminants below ground produce gas which diffuses through the soil such as from landfill wastes, mining activities, and contamination by petroleum hydrocarbons which produce volatile organic </a:t>
            </a:r>
            <a:r>
              <a:rPr lang="en-US" sz="2000" dirty="0" smtClean="0">
                <a:latin typeface="Arial" pitchFamily="34" charset="0"/>
                <a:cs typeface="Arial" pitchFamily="34" charset="0"/>
              </a:rPr>
              <a:t>compounds.</a:t>
            </a:r>
            <a:endParaRPr lang="en-US" sz="2000" dirty="0">
              <a:latin typeface="Arial" pitchFamily="34" charset="0"/>
              <a:cs typeface="Arial" pitchFamily="34" charset="0"/>
            </a:endParaRPr>
          </a:p>
        </p:txBody>
      </p:sp>
    </p:spTree>
    <p:extLst>
      <p:ext uri="{BB962C8B-B14F-4D97-AF65-F5344CB8AC3E}">
        <p14:creationId xmlns:p14="http://schemas.microsoft.com/office/powerpoint/2010/main" val="8943394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09354" cy="654206"/>
          </a:xfrm>
        </p:spPr>
        <p:txBody>
          <a:bodyPr>
            <a:normAutofit fontScale="90000"/>
          </a:bodyPr>
          <a:lstStyle/>
          <a:p>
            <a:pPr algn="ctr"/>
            <a:r>
              <a:rPr lang="en-US" dirty="0"/>
              <a:t>Soil Micro and macronutrients</a:t>
            </a:r>
          </a:p>
        </p:txBody>
      </p:sp>
      <p:sp>
        <p:nvSpPr>
          <p:cNvPr id="3" name="Content Placeholder 2"/>
          <p:cNvSpPr>
            <a:spLocks noGrp="1"/>
          </p:cNvSpPr>
          <p:nvPr>
            <p:ph idx="1"/>
          </p:nvPr>
        </p:nvSpPr>
        <p:spPr>
          <a:xfrm>
            <a:off x="193622" y="1511616"/>
            <a:ext cx="5637552" cy="2281705"/>
          </a:xfrm>
        </p:spPr>
        <p:txBody>
          <a:bodyPr>
            <a:normAutofit/>
          </a:bodyPr>
          <a:lstStyle/>
          <a:p>
            <a:pPr marL="0" indent="0">
              <a:buNone/>
            </a:pPr>
            <a:r>
              <a:rPr lang="en-US" dirty="0"/>
              <a:t>Macronutrients: </a:t>
            </a:r>
            <a:r>
              <a:rPr lang="en-US" b="1" dirty="0"/>
              <a:t>N</a:t>
            </a:r>
            <a:r>
              <a:rPr lang="en-US" dirty="0"/>
              <a:t>, </a:t>
            </a:r>
            <a:r>
              <a:rPr lang="en-US" b="1" dirty="0"/>
              <a:t>K</a:t>
            </a:r>
            <a:r>
              <a:rPr lang="en-US" dirty="0"/>
              <a:t>, </a:t>
            </a:r>
            <a:r>
              <a:rPr lang="en-US" b="1" dirty="0"/>
              <a:t>Ca</a:t>
            </a:r>
            <a:r>
              <a:rPr lang="en-US" dirty="0"/>
              <a:t>, </a:t>
            </a:r>
            <a:r>
              <a:rPr lang="en-US" b="1" dirty="0"/>
              <a:t>Mg</a:t>
            </a:r>
            <a:r>
              <a:rPr lang="en-US" dirty="0"/>
              <a:t>, </a:t>
            </a:r>
            <a:r>
              <a:rPr lang="en-US" b="1" dirty="0"/>
              <a:t>P</a:t>
            </a:r>
            <a:r>
              <a:rPr lang="en-US" dirty="0"/>
              <a:t>, and </a:t>
            </a:r>
            <a:r>
              <a:rPr lang="en-US" b="1" dirty="0"/>
              <a:t>S</a:t>
            </a:r>
            <a:r>
              <a:rPr lang="en-US" dirty="0"/>
              <a:t>, and </a:t>
            </a:r>
            <a:br>
              <a:rPr lang="en-US" dirty="0"/>
            </a:br>
            <a:r>
              <a:rPr lang="en-US" dirty="0"/>
              <a:t>Micronutrients: </a:t>
            </a:r>
            <a:r>
              <a:rPr lang="en-US" b="1" dirty="0"/>
              <a:t>Cl</a:t>
            </a:r>
            <a:r>
              <a:rPr lang="en-US" dirty="0"/>
              <a:t>, </a:t>
            </a:r>
            <a:r>
              <a:rPr lang="en-US" b="1" dirty="0"/>
              <a:t>Fe</a:t>
            </a:r>
            <a:r>
              <a:rPr lang="en-US" dirty="0"/>
              <a:t>, </a:t>
            </a:r>
            <a:r>
              <a:rPr lang="en-US" b="1" dirty="0"/>
              <a:t>B</a:t>
            </a:r>
            <a:r>
              <a:rPr lang="en-US" dirty="0"/>
              <a:t>, </a:t>
            </a:r>
            <a:r>
              <a:rPr lang="en-US" b="1" dirty="0" err="1"/>
              <a:t>Mn</a:t>
            </a:r>
            <a:r>
              <a:rPr lang="en-US" dirty="0"/>
              <a:t>, </a:t>
            </a:r>
            <a:r>
              <a:rPr lang="en-US" b="1" dirty="0"/>
              <a:t>Zn</a:t>
            </a:r>
            <a:r>
              <a:rPr lang="en-US" dirty="0"/>
              <a:t>, </a:t>
            </a:r>
            <a:r>
              <a:rPr lang="en-US" b="1" dirty="0"/>
              <a:t>Cu</a:t>
            </a:r>
            <a:r>
              <a:rPr lang="en-US" dirty="0"/>
              <a:t>, </a:t>
            </a:r>
            <a:r>
              <a:rPr lang="en-US" b="1" dirty="0"/>
              <a:t>Mo</a:t>
            </a:r>
            <a:r>
              <a:rPr lang="en-US" dirty="0"/>
              <a:t>, and </a:t>
            </a:r>
            <a:r>
              <a:rPr lang="en-US" b="1" dirty="0"/>
              <a:t>Ni</a:t>
            </a:r>
            <a:endParaRPr lang="en-US" dirty="0"/>
          </a:p>
        </p:txBody>
      </p:sp>
      <p:graphicFrame>
        <p:nvGraphicFramePr>
          <p:cNvPr id="5" name="Table 4"/>
          <p:cNvGraphicFramePr>
            <a:graphicFrameLocks noGrp="1"/>
          </p:cNvGraphicFramePr>
          <p:nvPr>
            <p:extLst/>
          </p:nvPr>
        </p:nvGraphicFramePr>
        <p:xfrm>
          <a:off x="5726198" y="1305249"/>
          <a:ext cx="5771260" cy="4480142"/>
        </p:xfrm>
        <a:graphic>
          <a:graphicData uri="http://schemas.openxmlformats.org/drawingml/2006/table">
            <a:tbl>
              <a:tblPr/>
              <a:tblGrid>
                <a:gridCol w="1442815">
                  <a:extLst>
                    <a:ext uri="{9D8B030D-6E8A-4147-A177-3AD203B41FA5}">
                      <a16:colId xmlns="" xmlns:a16="http://schemas.microsoft.com/office/drawing/2014/main" val="20000"/>
                    </a:ext>
                  </a:extLst>
                </a:gridCol>
                <a:gridCol w="1442815">
                  <a:extLst>
                    <a:ext uri="{9D8B030D-6E8A-4147-A177-3AD203B41FA5}">
                      <a16:colId xmlns="" xmlns:a16="http://schemas.microsoft.com/office/drawing/2014/main" val="20001"/>
                    </a:ext>
                  </a:extLst>
                </a:gridCol>
                <a:gridCol w="1442815">
                  <a:extLst>
                    <a:ext uri="{9D8B030D-6E8A-4147-A177-3AD203B41FA5}">
                      <a16:colId xmlns="" xmlns:a16="http://schemas.microsoft.com/office/drawing/2014/main" val="20002"/>
                    </a:ext>
                  </a:extLst>
                </a:gridCol>
                <a:gridCol w="1442815">
                  <a:extLst>
                    <a:ext uri="{9D8B030D-6E8A-4147-A177-3AD203B41FA5}">
                      <a16:colId xmlns="" xmlns:a16="http://schemas.microsoft.com/office/drawing/2014/main" val="20003"/>
                    </a:ext>
                  </a:extLst>
                </a:gridCol>
              </a:tblGrid>
              <a:tr h="598502">
                <a:tc>
                  <a:txBody>
                    <a:bodyPr/>
                    <a:lstStyle/>
                    <a:p>
                      <a:pPr algn="ctr"/>
                      <a:r>
                        <a:rPr lang="en-US" sz="1600" b="1" dirty="0"/>
                        <a:t>Element</a:t>
                      </a:r>
                    </a:p>
                  </a:txBody>
                  <a:tcPr marL="16710" marR="16710" marT="16710" marB="16710" anchor="ctr">
                    <a:lnL>
                      <a:noFill/>
                    </a:lnL>
                    <a:lnR>
                      <a:noFill/>
                    </a:lnR>
                    <a:lnT>
                      <a:noFill/>
                    </a:lnT>
                    <a:lnB>
                      <a:noFill/>
                    </a:lnB>
                  </a:tcPr>
                </a:tc>
                <a:tc>
                  <a:txBody>
                    <a:bodyPr/>
                    <a:lstStyle/>
                    <a:p>
                      <a:pPr algn="ctr"/>
                      <a:r>
                        <a:rPr lang="en-US" sz="1600" b="1"/>
                        <a:t>Symbol</a:t>
                      </a:r>
                    </a:p>
                  </a:txBody>
                  <a:tcPr marL="16710" marR="16710" marT="16710" marB="16710" anchor="ctr">
                    <a:lnL>
                      <a:noFill/>
                    </a:lnL>
                    <a:lnR>
                      <a:noFill/>
                    </a:lnR>
                    <a:lnT>
                      <a:noFill/>
                    </a:lnT>
                    <a:lnB>
                      <a:noFill/>
                    </a:lnB>
                  </a:tcPr>
                </a:tc>
                <a:tc>
                  <a:txBody>
                    <a:bodyPr/>
                    <a:lstStyle/>
                    <a:p>
                      <a:pPr algn="ctr"/>
                      <a:r>
                        <a:rPr lang="en-US" sz="1600" b="1"/>
                        <a:t>mg/kg</a:t>
                      </a:r>
                    </a:p>
                  </a:txBody>
                  <a:tcPr marL="16710" marR="16710" marT="16710" marB="16710" anchor="ctr">
                    <a:lnL>
                      <a:noFill/>
                    </a:lnL>
                    <a:lnR>
                      <a:noFill/>
                    </a:lnR>
                    <a:lnT>
                      <a:noFill/>
                    </a:lnT>
                    <a:lnB>
                      <a:noFill/>
                    </a:lnB>
                  </a:tcPr>
                </a:tc>
                <a:tc>
                  <a:txBody>
                    <a:bodyPr/>
                    <a:lstStyle/>
                    <a:p>
                      <a:pPr algn="ctr"/>
                      <a:r>
                        <a:rPr lang="en-US" sz="1600" b="1" dirty="0"/>
                        <a:t>percent</a:t>
                      </a:r>
                    </a:p>
                  </a:txBody>
                  <a:tcPr marL="16710" marR="16710" marT="16710" marB="16710" anchor="ctr">
                    <a:lnL>
                      <a:noFill/>
                    </a:lnL>
                    <a:lnR>
                      <a:noFill/>
                    </a:lnR>
                    <a:lnT>
                      <a:noFill/>
                    </a:lnT>
                    <a:lnB>
                      <a:noFill/>
                    </a:lnB>
                  </a:tcPr>
                </a:tc>
                <a:extLst>
                  <a:ext uri="{0D108BD9-81ED-4DB2-BD59-A6C34878D82A}">
                    <a16:rowId xmlns="" xmlns:a16="http://schemas.microsoft.com/office/drawing/2014/main" val="10000"/>
                  </a:ext>
                </a:extLst>
              </a:tr>
              <a:tr h="274047">
                <a:tc>
                  <a:txBody>
                    <a:bodyPr/>
                    <a:lstStyle/>
                    <a:p>
                      <a:pPr algn="l"/>
                      <a:r>
                        <a:rPr lang="en-US" sz="1600" b="1"/>
                        <a:t>Nitrogen</a:t>
                      </a:r>
                    </a:p>
                  </a:txBody>
                  <a:tcPr marL="16710" marR="16710" marT="16710" marB="16710" anchor="ctr">
                    <a:lnL>
                      <a:noFill/>
                    </a:lnL>
                    <a:lnR>
                      <a:noFill/>
                    </a:lnR>
                    <a:lnT>
                      <a:noFill/>
                    </a:lnT>
                    <a:lnB>
                      <a:noFill/>
                    </a:lnB>
                  </a:tcPr>
                </a:tc>
                <a:tc>
                  <a:txBody>
                    <a:bodyPr/>
                    <a:lstStyle/>
                    <a:p>
                      <a:pPr algn="ctr"/>
                      <a:r>
                        <a:rPr lang="en-US" sz="1600" dirty="0"/>
                        <a:t>N</a:t>
                      </a:r>
                    </a:p>
                  </a:txBody>
                  <a:tcPr marL="16710" marR="16710" marT="16710" marB="16710" anchor="ctr">
                    <a:lnL>
                      <a:noFill/>
                    </a:lnL>
                    <a:lnR>
                      <a:noFill/>
                    </a:lnR>
                    <a:lnT>
                      <a:noFill/>
                    </a:lnT>
                    <a:lnB>
                      <a:noFill/>
                    </a:lnB>
                  </a:tcPr>
                </a:tc>
                <a:tc>
                  <a:txBody>
                    <a:bodyPr/>
                    <a:lstStyle/>
                    <a:p>
                      <a:pPr algn="ctr"/>
                      <a:r>
                        <a:rPr lang="en-US" sz="1600"/>
                        <a:t>15,000</a:t>
                      </a:r>
                    </a:p>
                  </a:txBody>
                  <a:tcPr marL="16710" marR="16710" marT="16710" marB="16710" anchor="ctr">
                    <a:lnL>
                      <a:noFill/>
                    </a:lnL>
                    <a:lnR>
                      <a:noFill/>
                    </a:lnR>
                    <a:lnT>
                      <a:noFill/>
                    </a:lnT>
                    <a:lnB>
                      <a:noFill/>
                    </a:lnB>
                  </a:tcPr>
                </a:tc>
                <a:tc>
                  <a:txBody>
                    <a:bodyPr/>
                    <a:lstStyle/>
                    <a:p>
                      <a:pPr algn="ctr"/>
                      <a:r>
                        <a:rPr lang="en-US" sz="1600"/>
                        <a:t>1.5</a:t>
                      </a:r>
                    </a:p>
                  </a:txBody>
                  <a:tcPr marL="16710" marR="16710" marT="16710" marB="16710" anchor="ctr">
                    <a:lnL>
                      <a:noFill/>
                    </a:lnL>
                    <a:lnR>
                      <a:noFill/>
                    </a:lnR>
                    <a:lnT>
                      <a:noFill/>
                    </a:lnT>
                    <a:lnB>
                      <a:noFill/>
                    </a:lnB>
                  </a:tcPr>
                </a:tc>
                <a:extLst>
                  <a:ext uri="{0D108BD9-81ED-4DB2-BD59-A6C34878D82A}">
                    <a16:rowId xmlns="" xmlns:a16="http://schemas.microsoft.com/office/drawing/2014/main" val="10001"/>
                  </a:ext>
                </a:extLst>
              </a:tr>
              <a:tr h="274047">
                <a:tc>
                  <a:txBody>
                    <a:bodyPr/>
                    <a:lstStyle/>
                    <a:p>
                      <a:pPr algn="l"/>
                      <a:r>
                        <a:rPr lang="en-US" sz="1600" b="1"/>
                        <a:t>Potassium</a:t>
                      </a:r>
                    </a:p>
                  </a:txBody>
                  <a:tcPr marL="16710" marR="16710" marT="16710" marB="16710" anchor="ctr">
                    <a:lnL>
                      <a:noFill/>
                    </a:lnL>
                    <a:lnR>
                      <a:noFill/>
                    </a:lnR>
                    <a:lnT>
                      <a:noFill/>
                    </a:lnT>
                    <a:lnB>
                      <a:noFill/>
                    </a:lnB>
                  </a:tcPr>
                </a:tc>
                <a:tc>
                  <a:txBody>
                    <a:bodyPr/>
                    <a:lstStyle/>
                    <a:p>
                      <a:pPr algn="ctr"/>
                      <a:r>
                        <a:rPr lang="en-US" sz="1600" dirty="0"/>
                        <a:t>K</a:t>
                      </a:r>
                    </a:p>
                  </a:txBody>
                  <a:tcPr marL="16710" marR="16710" marT="16710" marB="16710" anchor="ctr">
                    <a:lnL>
                      <a:noFill/>
                    </a:lnL>
                    <a:lnR>
                      <a:noFill/>
                    </a:lnR>
                    <a:lnT>
                      <a:noFill/>
                    </a:lnT>
                    <a:lnB>
                      <a:noFill/>
                    </a:lnB>
                  </a:tcPr>
                </a:tc>
                <a:tc>
                  <a:txBody>
                    <a:bodyPr/>
                    <a:lstStyle/>
                    <a:p>
                      <a:pPr algn="ctr"/>
                      <a:r>
                        <a:rPr lang="en-US" sz="1600"/>
                        <a:t>10,000</a:t>
                      </a:r>
                    </a:p>
                  </a:txBody>
                  <a:tcPr marL="16710" marR="16710" marT="16710" marB="16710" anchor="ctr">
                    <a:lnL>
                      <a:noFill/>
                    </a:lnL>
                    <a:lnR>
                      <a:noFill/>
                    </a:lnR>
                    <a:lnT>
                      <a:noFill/>
                    </a:lnT>
                    <a:lnB>
                      <a:noFill/>
                    </a:lnB>
                  </a:tcPr>
                </a:tc>
                <a:tc>
                  <a:txBody>
                    <a:bodyPr/>
                    <a:lstStyle/>
                    <a:p>
                      <a:pPr algn="ctr"/>
                      <a:r>
                        <a:rPr lang="en-US" sz="1600"/>
                        <a:t>1.0</a:t>
                      </a:r>
                    </a:p>
                  </a:txBody>
                  <a:tcPr marL="16710" marR="16710" marT="16710" marB="16710" anchor="ctr">
                    <a:lnL>
                      <a:noFill/>
                    </a:lnL>
                    <a:lnR>
                      <a:noFill/>
                    </a:lnR>
                    <a:lnT>
                      <a:noFill/>
                    </a:lnT>
                    <a:lnB>
                      <a:noFill/>
                    </a:lnB>
                  </a:tcPr>
                </a:tc>
                <a:extLst>
                  <a:ext uri="{0D108BD9-81ED-4DB2-BD59-A6C34878D82A}">
                    <a16:rowId xmlns="" xmlns:a16="http://schemas.microsoft.com/office/drawing/2014/main" val="10002"/>
                  </a:ext>
                </a:extLst>
              </a:tr>
              <a:tr h="274047">
                <a:tc>
                  <a:txBody>
                    <a:bodyPr/>
                    <a:lstStyle/>
                    <a:p>
                      <a:pPr algn="l"/>
                      <a:r>
                        <a:rPr lang="en-US" sz="1600" b="1"/>
                        <a:t>Calcium</a:t>
                      </a:r>
                    </a:p>
                  </a:txBody>
                  <a:tcPr marL="16710" marR="16710" marT="16710" marB="16710" anchor="ctr">
                    <a:lnL>
                      <a:noFill/>
                    </a:lnL>
                    <a:lnR>
                      <a:noFill/>
                    </a:lnR>
                    <a:lnT>
                      <a:noFill/>
                    </a:lnT>
                    <a:lnB>
                      <a:noFill/>
                    </a:lnB>
                  </a:tcPr>
                </a:tc>
                <a:tc>
                  <a:txBody>
                    <a:bodyPr/>
                    <a:lstStyle/>
                    <a:p>
                      <a:pPr algn="ctr"/>
                      <a:r>
                        <a:rPr lang="en-US" sz="1600" dirty="0"/>
                        <a:t>Ca</a:t>
                      </a:r>
                    </a:p>
                  </a:txBody>
                  <a:tcPr marL="16710" marR="16710" marT="16710" marB="16710" anchor="ctr">
                    <a:lnL>
                      <a:noFill/>
                    </a:lnL>
                    <a:lnR>
                      <a:noFill/>
                    </a:lnR>
                    <a:lnT>
                      <a:noFill/>
                    </a:lnT>
                    <a:lnB>
                      <a:noFill/>
                    </a:lnB>
                  </a:tcPr>
                </a:tc>
                <a:tc>
                  <a:txBody>
                    <a:bodyPr/>
                    <a:lstStyle/>
                    <a:p>
                      <a:pPr algn="ctr"/>
                      <a:r>
                        <a:rPr lang="en-US" sz="1600"/>
                        <a:t>5,000</a:t>
                      </a:r>
                    </a:p>
                  </a:txBody>
                  <a:tcPr marL="16710" marR="16710" marT="16710" marB="16710" anchor="ctr">
                    <a:lnL>
                      <a:noFill/>
                    </a:lnL>
                    <a:lnR>
                      <a:noFill/>
                    </a:lnR>
                    <a:lnT>
                      <a:noFill/>
                    </a:lnT>
                    <a:lnB>
                      <a:noFill/>
                    </a:lnB>
                  </a:tcPr>
                </a:tc>
                <a:tc>
                  <a:txBody>
                    <a:bodyPr/>
                    <a:lstStyle/>
                    <a:p>
                      <a:pPr algn="ctr"/>
                      <a:r>
                        <a:rPr lang="en-US" sz="1600"/>
                        <a:t>0.5</a:t>
                      </a:r>
                    </a:p>
                  </a:txBody>
                  <a:tcPr marL="16710" marR="16710" marT="16710" marB="16710" anchor="ctr">
                    <a:lnL>
                      <a:noFill/>
                    </a:lnL>
                    <a:lnR>
                      <a:noFill/>
                    </a:lnR>
                    <a:lnT>
                      <a:noFill/>
                    </a:lnT>
                    <a:lnB>
                      <a:noFill/>
                    </a:lnB>
                  </a:tcPr>
                </a:tc>
                <a:extLst>
                  <a:ext uri="{0D108BD9-81ED-4DB2-BD59-A6C34878D82A}">
                    <a16:rowId xmlns="" xmlns:a16="http://schemas.microsoft.com/office/drawing/2014/main" val="10003"/>
                  </a:ext>
                </a:extLst>
              </a:tr>
              <a:tr h="274047">
                <a:tc>
                  <a:txBody>
                    <a:bodyPr/>
                    <a:lstStyle/>
                    <a:p>
                      <a:pPr algn="l"/>
                      <a:r>
                        <a:rPr lang="en-US" sz="1600" b="1"/>
                        <a:t>Magnesium</a:t>
                      </a:r>
                    </a:p>
                  </a:txBody>
                  <a:tcPr marL="16710" marR="16710" marT="16710" marB="16710" anchor="ctr">
                    <a:lnL>
                      <a:noFill/>
                    </a:lnL>
                    <a:lnR>
                      <a:noFill/>
                    </a:lnR>
                    <a:lnT>
                      <a:noFill/>
                    </a:lnT>
                    <a:lnB>
                      <a:noFill/>
                    </a:lnB>
                  </a:tcPr>
                </a:tc>
                <a:tc>
                  <a:txBody>
                    <a:bodyPr/>
                    <a:lstStyle/>
                    <a:p>
                      <a:pPr algn="ctr"/>
                      <a:r>
                        <a:rPr lang="en-US" sz="1600" dirty="0"/>
                        <a:t>Mg</a:t>
                      </a:r>
                    </a:p>
                  </a:txBody>
                  <a:tcPr marL="16710" marR="16710" marT="16710" marB="16710" anchor="ctr">
                    <a:lnL>
                      <a:noFill/>
                    </a:lnL>
                    <a:lnR>
                      <a:noFill/>
                    </a:lnR>
                    <a:lnT>
                      <a:noFill/>
                    </a:lnT>
                    <a:lnB>
                      <a:noFill/>
                    </a:lnB>
                  </a:tcPr>
                </a:tc>
                <a:tc>
                  <a:txBody>
                    <a:bodyPr/>
                    <a:lstStyle/>
                    <a:p>
                      <a:pPr algn="ctr"/>
                      <a:r>
                        <a:rPr lang="en-US" sz="1600"/>
                        <a:t>2,000</a:t>
                      </a:r>
                    </a:p>
                  </a:txBody>
                  <a:tcPr marL="16710" marR="16710" marT="16710" marB="16710" anchor="ctr">
                    <a:lnL>
                      <a:noFill/>
                    </a:lnL>
                    <a:lnR>
                      <a:noFill/>
                    </a:lnR>
                    <a:lnT>
                      <a:noFill/>
                    </a:lnT>
                    <a:lnB>
                      <a:noFill/>
                    </a:lnB>
                  </a:tcPr>
                </a:tc>
                <a:tc>
                  <a:txBody>
                    <a:bodyPr/>
                    <a:lstStyle/>
                    <a:p>
                      <a:pPr algn="ctr"/>
                      <a:r>
                        <a:rPr lang="en-US" sz="1600"/>
                        <a:t>0.2</a:t>
                      </a:r>
                    </a:p>
                  </a:txBody>
                  <a:tcPr marL="16710" marR="16710" marT="16710" marB="16710" anchor="ctr">
                    <a:lnL>
                      <a:noFill/>
                    </a:lnL>
                    <a:lnR>
                      <a:noFill/>
                    </a:lnR>
                    <a:lnT>
                      <a:noFill/>
                    </a:lnT>
                    <a:lnB>
                      <a:noFill/>
                    </a:lnB>
                  </a:tcPr>
                </a:tc>
                <a:extLst>
                  <a:ext uri="{0D108BD9-81ED-4DB2-BD59-A6C34878D82A}">
                    <a16:rowId xmlns="" xmlns:a16="http://schemas.microsoft.com/office/drawing/2014/main" val="10004"/>
                  </a:ext>
                </a:extLst>
              </a:tr>
              <a:tr h="274047">
                <a:tc>
                  <a:txBody>
                    <a:bodyPr/>
                    <a:lstStyle/>
                    <a:p>
                      <a:pPr algn="l"/>
                      <a:r>
                        <a:rPr lang="en-US" sz="1600" b="1"/>
                        <a:t>Phosphorus</a:t>
                      </a:r>
                    </a:p>
                  </a:txBody>
                  <a:tcPr marL="16710" marR="16710" marT="16710" marB="16710" anchor="ctr">
                    <a:lnL>
                      <a:noFill/>
                    </a:lnL>
                    <a:lnR>
                      <a:noFill/>
                    </a:lnR>
                    <a:lnT>
                      <a:noFill/>
                    </a:lnT>
                    <a:lnB>
                      <a:noFill/>
                    </a:lnB>
                  </a:tcPr>
                </a:tc>
                <a:tc>
                  <a:txBody>
                    <a:bodyPr/>
                    <a:lstStyle/>
                    <a:p>
                      <a:pPr algn="ctr"/>
                      <a:r>
                        <a:rPr lang="en-US" sz="1600" dirty="0"/>
                        <a:t>P</a:t>
                      </a:r>
                    </a:p>
                  </a:txBody>
                  <a:tcPr marL="16710" marR="16710" marT="16710" marB="16710" anchor="ctr">
                    <a:lnL>
                      <a:noFill/>
                    </a:lnL>
                    <a:lnR>
                      <a:noFill/>
                    </a:lnR>
                    <a:lnT>
                      <a:noFill/>
                    </a:lnT>
                    <a:lnB>
                      <a:noFill/>
                    </a:lnB>
                  </a:tcPr>
                </a:tc>
                <a:tc>
                  <a:txBody>
                    <a:bodyPr/>
                    <a:lstStyle/>
                    <a:p>
                      <a:pPr algn="ctr"/>
                      <a:r>
                        <a:rPr lang="en-US" sz="1600"/>
                        <a:t>2,000</a:t>
                      </a:r>
                    </a:p>
                  </a:txBody>
                  <a:tcPr marL="16710" marR="16710" marT="16710" marB="16710" anchor="ctr">
                    <a:lnL>
                      <a:noFill/>
                    </a:lnL>
                    <a:lnR>
                      <a:noFill/>
                    </a:lnR>
                    <a:lnT>
                      <a:noFill/>
                    </a:lnT>
                    <a:lnB>
                      <a:noFill/>
                    </a:lnB>
                  </a:tcPr>
                </a:tc>
                <a:tc>
                  <a:txBody>
                    <a:bodyPr/>
                    <a:lstStyle/>
                    <a:p>
                      <a:pPr algn="ctr"/>
                      <a:r>
                        <a:rPr lang="en-US" sz="1600"/>
                        <a:t>0.2</a:t>
                      </a:r>
                    </a:p>
                  </a:txBody>
                  <a:tcPr marL="16710" marR="16710" marT="16710" marB="16710" anchor="ctr">
                    <a:lnL>
                      <a:noFill/>
                    </a:lnL>
                    <a:lnR>
                      <a:noFill/>
                    </a:lnR>
                    <a:lnT>
                      <a:noFill/>
                    </a:lnT>
                    <a:lnB>
                      <a:noFill/>
                    </a:lnB>
                  </a:tcPr>
                </a:tc>
                <a:extLst>
                  <a:ext uri="{0D108BD9-81ED-4DB2-BD59-A6C34878D82A}">
                    <a16:rowId xmlns="" xmlns:a16="http://schemas.microsoft.com/office/drawing/2014/main" val="10005"/>
                  </a:ext>
                </a:extLst>
              </a:tr>
              <a:tr h="274047">
                <a:tc>
                  <a:txBody>
                    <a:bodyPr/>
                    <a:lstStyle/>
                    <a:p>
                      <a:pPr algn="l"/>
                      <a:r>
                        <a:rPr lang="en-US" sz="1600" b="1"/>
                        <a:t>Sulfur</a:t>
                      </a:r>
                    </a:p>
                  </a:txBody>
                  <a:tcPr marL="16710" marR="16710" marT="16710" marB="16710" anchor="ctr">
                    <a:lnL>
                      <a:noFill/>
                    </a:lnL>
                    <a:lnR>
                      <a:noFill/>
                    </a:lnR>
                    <a:lnT>
                      <a:noFill/>
                    </a:lnT>
                    <a:lnB>
                      <a:noFill/>
                    </a:lnB>
                  </a:tcPr>
                </a:tc>
                <a:tc>
                  <a:txBody>
                    <a:bodyPr/>
                    <a:lstStyle/>
                    <a:p>
                      <a:pPr algn="ctr"/>
                      <a:r>
                        <a:rPr lang="en-US" sz="1600" dirty="0"/>
                        <a:t>S</a:t>
                      </a:r>
                    </a:p>
                  </a:txBody>
                  <a:tcPr marL="16710" marR="16710" marT="16710" marB="16710" anchor="ctr">
                    <a:lnL>
                      <a:noFill/>
                    </a:lnL>
                    <a:lnR>
                      <a:noFill/>
                    </a:lnR>
                    <a:lnT>
                      <a:noFill/>
                    </a:lnT>
                    <a:lnB>
                      <a:noFill/>
                    </a:lnB>
                  </a:tcPr>
                </a:tc>
                <a:tc>
                  <a:txBody>
                    <a:bodyPr/>
                    <a:lstStyle/>
                    <a:p>
                      <a:pPr algn="ctr"/>
                      <a:r>
                        <a:rPr lang="en-US" sz="1600"/>
                        <a:t>1,000</a:t>
                      </a:r>
                    </a:p>
                  </a:txBody>
                  <a:tcPr marL="16710" marR="16710" marT="16710" marB="16710" anchor="ctr">
                    <a:lnL>
                      <a:noFill/>
                    </a:lnL>
                    <a:lnR>
                      <a:noFill/>
                    </a:lnR>
                    <a:lnT>
                      <a:noFill/>
                    </a:lnT>
                    <a:lnB>
                      <a:noFill/>
                    </a:lnB>
                  </a:tcPr>
                </a:tc>
                <a:tc>
                  <a:txBody>
                    <a:bodyPr/>
                    <a:lstStyle/>
                    <a:p>
                      <a:pPr algn="ctr"/>
                      <a:r>
                        <a:rPr lang="en-US" sz="1600"/>
                        <a:t>0.1</a:t>
                      </a:r>
                    </a:p>
                  </a:txBody>
                  <a:tcPr marL="16710" marR="16710" marT="16710" marB="16710" anchor="ctr">
                    <a:lnL>
                      <a:noFill/>
                    </a:lnL>
                    <a:lnR>
                      <a:noFill/>
                    </a:lnR>
                    <a:lnT>
                      <a:noFill/>
                    </a:lnT>
                    <a:lnB>
                      <a:noFill/>
                    </a:lnB>
                  </a:tcPr>
                </a:tc>
                <a:extLst>
                  <a:ext uri="{0D108BD9-81ED-4DB2-BD59-A6C34878D82A}">
                    <a16:rowId xmlns="" xmlns:a16="http://schemas.microsoft.com/office/drawing/2014/main" val="10006"/>
                  </a:ext>
                </a:extLst>
              </a:tr>
              <a:tr h="274047">
                <a:tc>
                  <a:txBody>
                    <a:bodyPr/>
                    <a:lstStyle/>
                    <a:p>
                      <a:pPr algn="l"/>
                      <a:r>
                        <a:rPr lang="en-US" sz="1600" b="1"/>
                        <a:t>Chlorine</a:t>
                      </a:r>
                    </a:p>
                  </a:txBody>
                  <a:tcPr marL="16710" marR="16710" marT="16710" marB="16710" anchor="ctr">
                    <a:lnL>
                      <a:noFill/>
                    </a:lnL>
                    <a:lnR>
                      <a:noFill/>
                    </a:lnR>
                    <a:lnT>
                      <a:noFill/>
                    </a:lnT>
                    <a:lnB>
                      <a:noFill/>
                    </a:lnB>
                  </a:tcPr>
                </a:tc>
                <a:tc>
                  <a:txBody>
                    <a:bodyPr/>
                    <a:lstStyle/>
                    <a:p>
                      <a:pPr algn="ctr"/>
                      <a:r>
                        <a:rPr lang="en-US" sz="1600" dirty="0"/>
                        <a:t>Cl</a:t>
                      </a:r>
                    </a:p>
                  </a:txBody>
                  <a:tcPr marL="16710" marR="16710" marT="16710" marB="16710" anchor="ctr">
                    <a:lnL>
                      <a:noFill/>
                    </a:lnL>
                    <a:lnR>
                      <a:noFill/>
                    </a:lnR>
                    <a:lnT>
                      <a:noFill/>
                    </a:lnT>
                    <a:lnB>
                      <a:noFill/>
                    </a:lnB>
                  </a:tcPr>
                </a:tc>
                <a:tc>
                  <a:txBody>
                    <a:bodyPr/>
                    <a:lstStyle/>
                    <a:p>
                      <a:pPr algn="ctr"/>
                      <a:r>
                        <a:rPr lang="en-US" sz="1600"/>
                        <a:t>100</a:t>
                      </a:r>
                    </a:p>
                  </a:txBody>
                  <a:tcPr marL="16710" marR="16710" marT="16710" marB="16710" anchor="ctr">
                    <a:lnL>
                      <a:noFill/>
                    </a:lnL>
                    <a:lnR>
                      <a:noFill/>
                    </a:lnR>
                    <a:lnT>
                      <a:noFill/>
                    </a:lnT>
                    <a:lnB>
                      <a:noFill/>
                    </a:lnB>
                  </a:tcPr>
                </a:tc>
                <a:tc>
                  <a:txBody>
                    <a:bodyPr/>
                    <a:lstStyle/>
                    <a:p>
                      <a:pPr algn="ctr"/>
                      <a:r>
                        <a:rPr lang="en-US" sz="1600"/>
                        <a:t>--</a:t>
                      </a:r>
                    </a:p>
                  </a:txBody>
                  <a:tcPr marL="16710" marR="16710" marT="16710" marB="16710" anchor="ctr">
                    <a:lnL>
                      <a:noFill/>
                    </a:lnL>
                    <a:lnR>
                      <a:noFill/>
                    </a:lnR>
                    <a:lnT>
                      <a:noFill/>
                    </a:lnT>
                    <a:lnB>
                      <a:noFill/>
                    </a:lnB>
                  </a:tcPr>
                </a:tc>
                <a:extLst>
                  <a:ext uri="{0D108BD9-81ED-4DB2-BD59-A6C34878D82A}">
                    <a16:rowId xmlns="" xmlns:a16="http://schemas.microsoft.com/office/drawing/2014/main" val="10007"/>
                  </a:ext>
                </a:extLst>
              </a:tr>
              <a:tr h="274047">
                <a:tc>
                  <a:txBody>
                    <a:bodyPr/>
                    <a:lstStyle/>
                    <a:p>
                      <a:pPr algn="l"/>
                      <a:r>
                        <a:rPr lang="en-US" sz="1600" b="1"/>
                        <a:t>Iron</a:t>
                      </a:r>
                    </a:p>
                  </a:txBody>
                  <a:tcPr marL="16710" marR="16710" marT="16710" marB="16710" anchor="ctr">
                    <a:lnL>
                      <a:noFill/>
                    </a:lnL>
                    <a:lnR>
                      <a:noFill/>
                    </a:lnR>
                    <a:lnT>
                      <a:noFill/>
                    </a:lnT>
                    <a:lnB>
                      <a:noFill/>
                    </a:lnB>
                  </a:tcPr>
                </a:tc>
                <a:tc>
                  <a:txBody>
                    <a:bodyPr/>
                    <a:lstStyle/>
                    <a:p>
                      <a:pPr algn="ctr"/>
                      <a:r>
                        <a:rPr lang="en-US" sz="1600" dirty="0"/>
                        <a:t>Fe</a:t>
                      </a:r>
                    </a:p>
                  </a:txBody>
                  <a:tcPr marL="16710" marR="16710" marT="16710" marB="16710" anchor="ctr">
                    <a:lnL>
                      <a:noFill/>
                    </a:lnL>
                    <a:lnR>
                      <a:noFill/>
                    </a:lnR>
                    <a:lnT>
                      <a:noFill/>
                    </a:lnT>
                    <a:lnB>
                      <a:noFill/>
                    </a:lnB>
                  </a:tcPr>
                </a:tc>
                <a:tc>
                  <a:txBody>
                    <a:bodyPr/>
                    <a:lstStyle/>
                    <a:p>
                      <a:pPr algn="ctr"/>
                      <a:r>
                        <a:rPr lang="en-US" sz="1600"/>
                        <a:t>100</a:t>
                      </a:r>
                    </a:p>
                  </a:txBody>
                  <a:tcPr marL="16710" marR="16710" marT="16710" marB="16710" anchor="ctr">
                    <a:lnL>
                      <a:noFill/>
                    </a:lnL>
                    <a:lnR>
                      <a:noFill/>
                    </a:lnR>
                    <a:lnT>
                      <a:noFill/>
                    </a:lnT>
                    <a:lnB>
                      <a:noFill/>
                    </a:lnB>
                  </a:tcPr>
                </a:tc>
                <a:tc>
                  <a:txBody>
                    <a:bodyPr/>
                    <a:lstStyle/>
                    <a:p>
                      <a:pPr algn="ctr"/>
                      <a:r>
                        <a:rPr lang="en-US" sz="1600"/>
                        <a:t>--</a:t>
                      </a:r>
                    </a:p>
                  </a:txBody>
                  <a:tcPr marL="16710" marR="16710" marT="16710" marB="16710" anchor="ctr">
                    <a:lnL>
                      <a:noFill/>
                    </a:lnL>
                    <a:lnR>
                      <a:noFill/>
                    </a:lnR>
                    <a:lnT>
                      <a:noFill/>
                    </a:lnT>
                    <a:lnB>
                      <a:noFill/>
                    </a:lnB>
                  </a:tcPr>
                </a:tc>
                <a:extLst>
                  <a:ext uri="{0D108BD9-81ED-4DB2-BD59-A6C34878D82A}">
                    <a16:rowId xmlns="" xmlns:a16="http://schemas.microsoft.com/office/drawing/2014/main" val="10008"/>
                  </a:ext>
                </a:extLst>
              </a:tr>
              <a:tr h="274047">
                <a:tc>
                  <a:txBody>
                    <a:bodyPr/>
                    <a:lstStyle/>
                    <a:p>
                      <a:pPr algn="l"/>
                      <a:r>
                        <a:rPr lang="en-US" sz="1600" b="1"/>
                        <a:t>Boron</a:t>
                      </a:r>
                    </a:p>
                  </a:txBody>
                  <a:tcPr marL="16710" marR="16710" marT="16710" marB="16710" anchor="ctr">
                    <a:lnL>
                      <a:noFill/>
                    </a:lnL>
                    <a:lnR>
                      <a:noFill/>
                    </a:lnR>
                    <a:lnT>
                      <a:noFill/>
                    </a:lnT>
                    <a:lnB>
                      <a:noFill/>
                    </a:lnB>
                  </a:tcPr>
                </a:tc>
                <a:tc>
                  <a:txBody>
                    <a:bodyPr/>
                    <a:lstStyle/>
                    <a:p>
                      <a:pPr algn="ctr"/>
                      <a:r>
                        <a:rPr lang="en-US" sz="1600" dirty="0"/>
                        <a:t>B</a:t>
                      </a:r>
                    </a:p>
                  </a:txBody>
                  <a:tcPr marL="16710" marR="16710" marT="16710" marB="16710" anchor="ctr">
                    <a:lnL>
                      <a:noFill/>
                    </a:lnL>
                    <a:lnR>
                      <a:noFill/>
                    </a:lnR>
                    <a:lnT>
                      <a:noFill/>
                    </a:lnT>
                    <a:lnB>
                      <a:noFill/>
                    </a:lnB>
                  </a:tcPr>
                </a:tc>
                <a:tc>
                  <a:txBody>
                    <a:bodyPr/>
                    <a:lstStyle/>
                    <a:p>
                      <a:pPr algn="ctr"/>
                      <a:r>
                        <a:rPr lang="en-US" sz="1600"/>
                        <a:t>20</a:t>
                      </a:r>
                    </a:p>
                  </a:txBody>
                  <a:tcPr marL="16710" marR="16710" marT="16710" marB="16710" anchor="ctr">
                    <a:lnL>
                      <a:noFill/>
                    </a:lnL>
                    <a:lnR>
                      <a:noFill/>
                    </a:lnR>
                    <a:lnT>
                      <a:noFill/>
                    </a:lnT>
                    <a:lnB>
                      <a:noFill/>
                    </a:lnB>
                  </a:tcPr>
                </a:tc>
                <a:tc>
                  <a:txBody>
                    <a:bodyPr/>
                    <a:lstStyle/>
                    <a:p>
                      <a:pPr algn="ctr"/>
                      <a:r>
                        <a:rPr lang="en-US" sz="1600"/>
                        <a:t>--</a:t>
                      </a:r>
                    </a:p>
                  </a:txBody>
                  <a:tcPr marL="16710" marR="16710" marT="16710" marB="16710" anchor="ctr">
                    <a:lnL>
                      <a:noFill/>
                    </a:lnL>
                    <a:lnR>
                      <a:noFill/>
                    </a:lnR>
                    <a:lnT>
                      <a:noFill/>
                    </a:lnT>
                    <a:lnB>
                      <a:noFill/>
                    </a:lnB>
                  </a:tcPr>
                </a:tc>
                <a:extLst>
                  <a:ext uri="{0D108BD9-81ED-4DB2-BD59-A6C34878D82A}">
                    <a16:rowId xmlns="" xmlns:a16="http://schemas.microsoft.com/office/drawing/2014/main" val="10009"/>
                  </a:ext>
                </a:extLst>
              </a:tr>
              <a:tr h="274047">
                <a:tc>
                  <a:txBody>
                    <a:bodyPr/>
                    <a:lstStyle/>
                    <a:p>
                      <a:pPr algn="l"/>
                      <a:r>
                        <a:rPr lang="en-US" sz="1600" b="1"/>
                        <a:t>Manganese</a:t>
                      </a:r>
                    </a:p>
                  </a:txBody>
                  <a:tcPr marL="16710" marR="16710" marT="16710" marB="16710" anchor="ctr">
                    <a:lnL>
                      <a:noFill/>
                    </a:lnL>
                    <a:lnR>
                      <a:noFill/>
                    </a:lnR>
                    <a:lnT>
                      <a:noFill/>
                    </a:lnT>
                    <a:lnB>
                      <a:noFill/>
                    </a:lnB>
                  </a:tcPr>
                </a:tc>
                <a:tc>
                  <a:txBody>
                    <a:bodyPr/>
                    <a:lstStyle/>
                    <a:p>
                      <a:pPr algn="ctr"/>
                      <a:r>
                        <a:rPr lang="en-US" sz="1600" dirty="0" err="1"/>
                        <a:t>Mn</a:t>
                      </a:r>
                      <a:endParaRPr lang="en-US" sz="1600" dirty="0"/>
                    </a:p>
                  </a:txBody>
                  <a:tcPr marL="16710" marR="16710" marT="16710" marB="16710" anchor="ctr">
                    <a:lnL>
                      <a:noFill/>
                    </a:lnL>
                    <a:lnR>
                      <a:noFill/>
                    </a:lnR>
                    <a:lnT>
                      <a:noFill/>
                    </a:lnT>
                    <a:lnB>
                      <a:noFill/>
                    </a:lnB>
                  </a:tcPr>
                </a:tc>
                <a:tc>
                  <a:txBody>
                    <a:bodyPr/>
                    <a:lstStyle/>
                    <a:p>
                      <a:pPr algn="ctr"/>
                      <a:r>
                        <a:rPr lang="en-US" sz="1600" dirty="0"/>
                        <a:t>50</a:t>
                      </a:r>
                    </a:p>
                  </a:txBody>
                  <a:tcPr marL="16710" marR="16710" marT="16710" marB="16710" anchor="ctr">
                    <a:lnL>
                      <a:noFill/>
                    </a:lnL>
                    <a:lnR>
                      <a:noFill/>
                    </a:lnR>
                    <a:lnT>
                      <a:noFill/>
                    </a:lnT>
                    <a:lnB>
                      <a:noFill/>
                    </a:lnB>
                  </a:tcPr>
                </a:tc>
                <a:tc>
                  <a:txBody>
                    <a:bodyPr/>
                    <a:lstStyle/>
                    <a:p>
                      <a:pPr algn="ctr"/>
                      <a:r>
                        <a:rPr lang="en-US" sz="1600"/>
                        <a:t>--</a:t>
                      </a:r>
                    </a:p>
                  </a:txBody>
                  <a:tcPr marL="16710" marR="16710" marT="16710" marB="16710" anchor="ctr">
                    <a:lnL>
                      <a:noFill/>
                    </a:lnL>
                    <a:lnR>
                      <a:noFill/>
                    </a:lnR>
                    <a:lnT>
                      <a:noFill/>
                    </a:lnT>
                    <a:lnB>
                      <a:noFill/>
                    </a:lnB>
                  </a:tcPr>
                </a:tc>
                <a:extLst>
                  <a:ext uri="{0D108BD9-81ED-4DB2-BD59-A6C34878D82A}">
                    <a16:rowId xmlns="" xmlns:a16="http://schemas.microsoft.com/office/drawing/2014/main" val="10010"/>
                  </a:ext>
                </a:extLst>
              </a:tr>
              <a:tr h="274047">
                <a:tc>
                  <a:txBody>
                    <a:bodyPr/>
                    <a:lstStyle/>
                    <a:p>
                      <a:pPr algn="l"/>
                      <a:r>
                        <a:rPr lang="en-US" sz="1600" b="1"/>
                        <a:t>Zinc</a:t>
                      </a:r>
                    </a:p>
                  </a:txBody>
                  <a:tcPr marL="16710" marR="16710" marT="16710" marB="16710" anchor="ctr">
                    <a:lnL>
                      <a:noFill/>
                    </a:lnL>
                    <a:lnR>
                      <a:noFill/>
                    </a:lnR>
                    <a:lnT>
                      <a:noFill/>
                    </a:lnT>
                    <a:lnB>
                      <a:noFill/>
                    </a:lnB>
                  </a:tcPr>
                </a:tc>
                <a:tc>
                  <a:txBody>
                    <a:bodyPr/>
                    <a:lstStyle/>
                    <a:p>
                      <a:pPr algn="ctr"/>
                      <a:r>
                        <a:rPr lang="en-US" sz="1600"/>
                        <a:t>Zn</a:t>
                      </a:r>
                    </a:p>
                  </a:txBody>
                  <a:tcPr marL="16710" marR="16710" marT="16710" marB="16710" anchor="ctr">
                    <a:lnL>
                      <a:noFill/>
                    </a:lnL>
                    <a:lnR>
                      <a:noFill/>
                    </a:lnR>
                    <a:lnT>
                      <a:noFill/>
                    </a:lnT>
                    <a:lnB>
                      <a:noFill/>
                    </a:lnB>
                  </a:tcPr>
                </a:tc>
                <a:tc>
                  <a:txBody>
                    <a:bodyPr/>
                    <a:lstStyle/>
                    <a:p>
                      <a:pPr algn="ctr"/>
                      <a:r>
                        <a:rPr lang="en-US" sz="1600" dirty="0"/>
                        <a:t>20</a:t>
                      </a:r>
                    </a:p>
                  </a:txBody>
                  <a:tcPr marL="16710" marR="16710" marT="16710" marB="16710" anchor="ctr">
                    <a:lnL>
                      <a:noFill/>
                    </a:lnL>
                    <a:lnR>
                      <a:noFill/>
                    </a:lnR>
                    <a:lnT>
                      <a:noFill/>
                    </a:lnT>
                    <a:lnB>
                      <a:noFill/>
                    </a:lnB>
                  </a:tcPr>
                </a:tc>
                <a:tc>
                  <a:txBody>
                    <a:bodyPr/>
                    <a:lstStyle/>
                    <a:p>
                      <a:pPr algn="ctr"/>
                      <a:r>
                        <a:rPr lang="en-US" sz="1600"/>
                        <a:t>--</a:t>
                      </a:r>
                    </a:p>
                  </a:txBody>
                  <a:tcPr marL="16710" marR="16710" marT="16710" marB="16710" anchor="ctr">
                    <a:lnL>
                      <a:noFill/>
                    </a:lnL>
                    <a:lnR>
                      <a:noFill/>
                    </a:lnR>
                    <a:lnT>
                      <a:noFill/>
                    </a:lnT>
                    <a:lnB>
                      <a:noFill/>
                    </a:lnB>
                  </a:tcPr>
                </a:tc>
                <a:extLst>
                  <a:ext uri="{0D108BD9-81ED-4DB2-BD59-A6C34878D82A}">
                    <a16:rowId xmlns="" xmlns:a16="http://schemas.microsoft.com/office/drawing/2014/main" val="10011"/>
                  </a:ext>
                </a:extLst>
              </a:tr>
              <a:tr h="274047">
                <a:tc>
                  <a:txBody>
                    <a:bodyPr/>
                    <a:lstStyle/>
                    <a:p>
                      <a:pPr algn="l"/>
                      <a:r>
                        <a:rPr lang="en-US" sz="1600" b="1"/>
                        <a:t>Copper</a:t>
                      </a:r>
                    </a:p>
                  </a:txBody>
                  <a:tcPr marL="16710" marR="16710" marT="16710" marB="16710" anchor="ctr">
                    <a:lnL>
                      <a:noFill/>
                    </a:lnL>
                    <a:lnR>
                      <a:noFill/>
                    </a:lnR>
                    <a:lnT>
                      <a:noFill/>
                    </a:lnT>
                    <a:lnB>
                      <a:noFill/>
                    </a:lnB>
                  </a:tcPr>
                </a:tc>
                <a:tc>
                  <a:txBody>
                    <a:bodyPr/>
                    <a:lstStyle/>
                    <a:p>
                      <a:pPr algn="ctr"/>
                      <a:r>
                        <a:rPr lang="en-US" sz="1600"/>
                        <a:t>Cu</a:t>
                      </a:r>
                    </a:p>
                  </a:txBody>
                  <a:tcPr marL="16710" marR="16710" marT="16710" marB="16710" anchor="ctr">
                    <a:lnL>
                      <a:noFill/>
                    </a:lnL>
                    <a:lnR>
                      <a:noFill/>
                    </a:lnR>
                    <a:lnT>
                      <a:noFill/>
                    </a:lnT>
                    <a:lnB>
                      <a:noFill/>
                    </a:lnB>
                  </a:tcPr>
                </a:tc>
                <a:tc>
                  <a:txBody>
                    <a:bodyPr/>
                    <a:lstStyle/>
                    <a:p>
                      <a:pPr algn="ctr"/>
                      <a:r>
                        <a:rPr lang="en-US" sz="1600" dirty="0"/>
                        <a:t>6</a:t>
                      </a:r>
                    </a:p>
                  </a:txBody>
                  <a:tcPr marL="16710" marR="16710" marT="16710" marB="16710" anchor="ctr">
                    <a:lnL>
                      <a:noFill/>
                    </a:lnL>
                    <a:lnR>
                      <a:noFill/>
                    </a:lnR>
                    <a:lnT>
                      <a:noFill/>
                    </a:lnT>
                    <a:lnB>
                      <a:noFill/>
                    </a:lnB>
                  </a:tcPr>
                </a:tc>
                <a:tc>
                  <a:txBody>
                    <a:bodyPr/>
                    <a:lstStyle/>
                    <a:p>
                      <a:pPr algn="ctr"/>
                      <a:r>
                        <a:rPr lang="en-US" sz="1600" dirty="0"/>
                        <a:t>--</a:t>
                      </a:r>
                    </a:p>
                  </a:txBody>
                  <a:tcPr marL="16710" marR="16710" marT="16710" marB="16710" anchor="ctr">
                    <a:lnL>
                      <a:noFill/>
                    </a:lnL>
                    <a:lnR>
                      <a:noFill/>
                    </a:lnR>
                    <a:lnT>
                      <a:noFill/>
                    </a:lnT>
                    <a:lnB>
                      <a:noFill/>
                    </a:lnB>
                  </a:tcPr>
                </a:tc>
                <a:extLst>
                  <a:ext uri="{0D108BD9-81ED-4DB2-BD59-A6C34878D82A}">
                    <a16:rowId xmlns="" xmlns:a16="http://schemas.microsoft.com/office/drawing/2014/main" val="10012"/>
                  </a:ext>
                </a:extLst>
              </a:tr>
              <a:tr h="274047">
                <a:tc>
                  <a:txBody>
                    <a:bodyPr/>
                    <a:lstStyle/>
                    <a:p>
                      <a:pPr algn="l"/>
                      <a:r>
                        <a:rPr lang="en-US" sz="1600" b="1"/>
                        <a:t>Molybdenum</a:t>
                      </a:r>
                    </a:p>
                  </a:txBody>
                  <a:tcPr marL="16710" marR="16710" marT="16710" marB="16710" anchor="ctr">
                    <a:lnL>
                      <a:noFill/>
                    </a:lnL>
                    <a:lnR>
                      <a:noFill/>
                    </a:lnR>
                    <a:lnT>
                      <a:noFill/>
                    </a:lnT>
                    <a:lnB>
                      <a:noFill/>
                    </a:lnB>
                  </a:tcPr>
                </a:tc>
                <a:tc>
                  <a:txBody>
                    <a:bodyPr/>
                    <a:lstStyle/>
                    <a:p>
                      <a:pPr algn="ctr"/>
                      <a:r>
                        <a:rPr lang="en-US" sz="1600"/>
                        <a:t>Mo</a:t>
                      </a:r>
                    </a:p>
                  </a:txBody>
                  <a:tcPr marL="16710" marR="16710" marT="16710" marB="16710" anchor="ctr">
                    <a:lnL>
                      <a:noFill/>
                    </a:lnL>
                    <a:lnR>
                      <a:noFill/>
                    </a:lnR>
                    <a:lnT>
                      <a:noFill/>
                    </a:lnT>
                    <a:lnB>
                      <a:noFill/>
                    </a:lnB>
                  </a:tcPr>
                </a:tc>
                <a:tc>
                  <a:txBody>
                    <a:bodyPr/>
                    <a:lstStyle/>
                    <a:p>
                      <a:pPr algn="ctr"/>
                      <a:r>
                        <a:rPr lang="en-US" sz="1600"/>
                        <a:t>0.1</a:t>
                      </a:r>
                    </a:p>
                  </a:txBody>
                  <a:tcPr marL="16710" marR="16710" marT="16710" marB="16710" anchor="ctr">
                    <a:lnL>
                      <a:noFill/>
                    </a:lnL>
                    <a:lnR>
                      <a:noFill/>
                    </a:lnR>
                    <a:lnT>
                      <a:noFill/>
                    </a:lnT>
                    <a:lnB>
                      <a:noFill/>
                    </a:lnB>
                  </a:tcPr>
                </a:tc>
                <a:tc>
                  <a:txBody>
                    <a:bodyPr/>
                    <a:lstStyle/>
                    <a:p>
                      <a:pPr algn="ctr"/>
                      <a:r>
                        <a:rPr lang="en-US" sz="1600" dirty="0"/>
                        <a:t>--</a:t>
                      </a:r>
                    </a:p>
                  </a:txBody>
                  <a:tcPr marL="16710" marR="16710" marT="16710" marB="16710" anchor="ctr">
                    <a:lnL>
                      <a:noFill/>
                    </a:lnL>
                    <a:lnR>
                      <a:noFill/>
                    </a:lnR>
                    <a:lnT>
                      <a:noFill/>
                    </a:lnT>
                    <a:lnB>
                      <a:noFill/>
                    </a:lnB>
                  </a:tcPr>
                </a:tc>
                <a:extLst>
                  <a:ext uri="{0D108BD9-81ED-4DB2-BD59-A6C34878D82A}">
                    <a16:rowId xmlns="" xmlns:a16="http://schemas.microsoft.com/office/drawing/2014/main" val="10013"/>
                  </a:ext>
                </a:extLst>
              </a:tr>
              <a:tr h="274047">
                <a:tc>
                  <a:txBody>
                    <a:bodyPr/>
                    <a:lstStyle/>
                    <a:p>
                      <a:pPr algn="l"/>
                      <a:r>
                        <a:rPr lang="en-US" sz="1600" b="1" dirty="0"/>
                        <a:t>Nickel</a:t>
                      </a:r>
                    </a:p>
                  </a:txBody>
                  <a:tcPr marL="16710" marR="16710" marT="16710" marB="16710" anchor="ctr">
                    <a:lnL>
                      <a:noFill/>
                    </a:lnL>
                    <a:lnR>
                      <a:noFill/>
                    </a:lnR>
                    <a:lnT>
                      <a:noFill/>
                    </a:lnT>
                    <a:lnB>
                      <a:noFill/>
                    </a:lnB>
                  </a:tcPr>
                </a:tc>
                <a:tc>
                  <a:txBody>
                    <a:bodyPr/>
                    <a:lstStyle/>
                    <a:p>
                      <a:pPr algn="ctr"/>
                      <a:r>
                        <a:rPr lang="en-US" sz="1600"/>
                        <a:t>Ni</a:t>
                      </a:r>
                    </a:p>
                  </a:txBody>
                  <a:tcPr marL="16710" marR="16710" marT="16710" marB="16710" anchor="ctr">
                    <a:lnL>
                      <a:noFill/>
                    </a:lnL>
                    <a:lnR>
                      <a:noFill/>
                    </a:lnR>
                    <a:lnT>
                      <a:noFill/>
                    </a:lnT>
                    <a:lnB>
                      <a:noFill/>
                    </a:lnB>
                  </a:tcPr>
                </a:tc>
                <a:tc>
                  <a:txBody>
                    <a:bodyPr/>
                    <a:lstStyle/>
                    <a:p>
                      <a:pPr algn="ctr"/>
                      <a:r>
                        <a:rPr lang="en-US" sz="1600"/>
                        <a:t>0.1</a:t>
                      </a:r>
                    </a:p>
                  </a:txBody>
                  <a:tcPr marL="16710" marR="16710" marT="16710" marB="16710" anchor="ctr">
                    <a:lnL>
                      <a:noFill/>
                    </a:lnL>
                    <a:lnR>
                      <a:noFill/>
                    </a:lnR>
                    <a:lnT>
                      <a:noFill/>
                    </a:lnT>
                    <a:lnB>
                      <a:noFill/>
                    </a:lnB>
                  </a:tcPr>
                </a:tc>
                <a:tc>
                  <a:txBody>
                    <a:bodyPr/>
                    <a:lstStyle/>
                    <a:p>
                      <a:pPr algn="ctr"/>
                      <a:r>
                        <a:rPr lang="en-US" sz="1600" dirty="0"/>
                        <a:t>--</a:t>
                      </a:r>
                    </a:p>
                  </a:txBody>
                  <a:tcPr marL="16710" marR="16710" marT="16710" marB="16710" anchor="ctr">
                    <a:lnL>
                      <a:noFill/>
                    </a:lnL>
                    <a:lnR>
                      <a:noFill/>
                    </a:lnR>
                    <a:lnT>
                      <a:noFill/>
                    </a:lnT>
                    <a:lnB>
                      <a:noFill/>
                    </a:lnB>
                  </a:tcPr>
                </a:tc>
                <a:extLst>
                  <a:ext uri="{0D108BD9-81ED-4DB2-BD59-A6C34878D82A}">
                    <a16:rowId xmlns="" xmlns:a16="http://schemas.microsoft.com/office/drawing/2014/main" val="10014"/>
                  </a:ext>
                </a:extLst>
              </a:tr>
            </a:tbl>
          </a:graphicData>
        </a:graphic>
      </p:graphicFrame>
    </p:spTree>
    <p:extLst>
      <p:ext uri="{BB962C8B-B14F-4D97-AF65-F5344CB8AC3E}">
        <p14:creationId xmlns:p14="http://schemas.microsoft.com/office/powerpoint/2010/main" val="39562983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69E6DE27C9AC43BCBB525DB9C8DBF0" ma:contentTypeVersion="4" ma:contentTypeDescription="Create a new document." ma:contentTypeScope="" ma:versionID="e2c02323e539b1cfdf710af1c53f10d1">
  <xsd:schema xmlns:xsd="http://www.w3.org/2001/XMLSchema" xmlns:xs="http://www.w3.org/2001/XMLSchema" xmlns:p="http://schemas.microsoft.com/office/2006/metadata/properties" xmlns:ns2="66a9b643-f79d-4ba3-b58a-2659a2e5ff7d" xmlns:ns3="b9da394a-a0ef-4c9f-ad39-60e4b8cd0745" targetNamespace="http://schemas.microsoft.com/office/2006/metadata/properties" ma:root="true" ma:fieldsID="c0d3ff0aa76ae77f8be6e6a85fcdbf01" ns2:_="" ns3:_="">
    <xsd:import namespace="66a9b643-f79d-4ba3-b58a-2659a2e5ff7d"/>
    <xsd:import namespace="b9da394a-a0ef-4c9f-ad39-60e4b8cd074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a9b643-f79d-4ba3-b58a-2659a2e5ff7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9da394a-a0ef-4c9f-ad39-60e4b8cd074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5E576B2-FB49-4A9C-BAA1-033826EEDC31}"/>
</file>

<file path=customXml/itemProps2.xml><?xml version="1.0" encoding="utf-8"?>
<ds:datastoreItem xmlns:ds="http://schemas.openxmlformats.org/officeDocument/2006/customXml" ds:itemID="{AE847BDC-0FB7-40D5-BEBB-4C510E0162AC}"/>
</file>

<file path=customXml/itemProps3.xml><?xml version="1.0" encoding="utf-8"?>
<ds:datastoreItem xmlns:ds="http://schemas.openxmlformats.org/officeDocument/2006/customXml" ds:itemID="{414DDF97-9381-4534-A928-16A87812A9DB}"/>
</file>

<file path=docProps/app.xml><?xml version="1.0" encoding="utf-8"?>
<Properties xmlns="http://schemas.openxmlformats.org/officeDocument/2006/extended-properties" xmlns:vt="http://schemas.openxmlformats.org/officeDocument/2006/docPropsVTypes">
  <TotalTime>4</TotalTime>
  <Words>685</Words>
  <Application>Microsoft Office PowerPoint</Application>
  <PresentationFormat>Widescreen</PresentationFormat>
  <Paragraphs>136</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Arial</vt:lpstr>
      <vt:lpstr>Calibri</vt:lpstr>
      <vt:lpstr>Calibri Light</vt:lpstr>
      <vt:lpstr>Times New Roman</vt:lpstr>
      <vt:lpstr>Verdana</vt:lpstr>
      <vt:lpstr>Wingdings</vt:lpstr>
      <vt:lpstr>Office Theme</vt:lpstr>
      <vt:lpstr>Soil Properties</vt:lpstr>
      <vt:lpstr>PowerPoint Presentation</vt:lpstr>
      <vt:lpstr>Components of Soil</vt:lpstr>
      <vt:lpstr>Soil Minerals </vt:lpstr>
      <vt:lpstr>PowerPoint Presentation</vt:lpstr>
      <vt:lpstr>Texture</vt:lpstr>
      <vt:lpstr>PowerPoint Presentation</vt:lpstr>
      <vt:lpstr>Soil Minerals and Mineral Composition </vt:lpstr>
      <vt:lpstr>Soil Organic Matter </vt:lpstr>
      <vt:lpstr>Important Functions of Organic Matter </vt:lpstr>
      <vt:lpstr>Soil water and its importance</vt:lpstr>
      <vt:lpstr>Soil Air</vt:lpstr>
      <vt:lpstr>Soil Micro and macronutrients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Soil Properties</dc:title>
  <dc:creator>Dr. Chakraborty</dc:creator>
  <cp:lastModifiedBy>Dr. Chakraborty</cp:lastModifiedBy>
  <cp:revision>2</cp:revision>
  <dcterms:created xsi:type="dcterms:W3CDTF">2020-08-31T03:23:56Z</dcterms:created>
  <dcterms:modified xsi:type="dcterms:W3CDTF">2020-08-31T03:28:44Z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0x0101006A69E6DE27C9AC43BCBB525DB9C8DBF0</vt:lpwstr>
  </property>
</Properties>
</file>