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8" r:id="rId13"/>
    <p:sldId id="264" r:id="rId14"/>
    <p:sldId id="266" r:id="rId15"/>
    <p:sldId id="265"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114777-A332-4D85-A57B-CB2A82A27C0B}" v="2" dt="2022-02-25T17:31:12.489"/>
    <p1510:client id="{8BB3FD5F-7C66-4B5E-A696-43A9B0D621BC}" v="2" dt="2022-02-26T09:57:51.6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0" autoAdjust="0"/>
    <p:restoredTop sz="94660"/>
  </p:normalViewPr>
  <p:slideViewPr>
    <p:cSldViewPr snapToGrid="0">
      <p:cViewPr varScale="1">
        <p:scale>
          <a:sx n="76" d="100"/>
          <a:sy n="76" d="100"/>
        </p:scale>
        <p:origin x="132"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AV RAJ(BTECH10087.21@bitmesra.ac.in)" userId="S::btech10087.21@bitmesra.ac.in::1f93d754-2fbc-4193-89e9-fa5346f46968" providerId="AD" clId="Web-{8BB3FD5F-7C66-4B5E-A696-43A9B0D621BC}"/>
    <pc:docChg chg="modSld sldOrd">
      <pc:chgData name="RISHAV RAJ(BTECH10087.21@bitmesra.ac.in)" userId="S::btech10087.21@bitmesra.ac.in::1f93d754-2fbc-4193-89e9-fa5346f46968" providerId="AD" clId="Web-{8BB3FD5F-7C66-4B5E-A696-43A9B0D621BC}" dt="2022-02-26T09:57:51.644" v="1"/>
      <pc:docMkLst>
        <pc:docMk/>
      </pc:docMkLst>
      <pc:sldChg chg="ord">
        <pc:chgData name="RISHAV RAJ(BTECH10087.21@bitmesra.ac.in)" userId="S::btech10087.21@bitmesra.ac.in::1f93d754-2fbc-4193-89e9-fa5346f46968" providerId="AD" clId="Web-{8BB3FD5F-7C66-4B5E-A696-43A9B0D621BC}" dt="2022-02-26T09:57:51.644" v="1"/>
        <pc:sldMkLst>
          <pc:docMk/>
          <pc:sldMk cId="969289990" sldId="265"/>
        </pc:sldMkLst>
      </pc:sldChg>
      <pc:sldChg chg="modSp">
        <pc:chgData name="RISHAV RAJ(BTECH10087.21@bitmesra.ac.in)" userId="S::btech10087.21@bitmesra.ac.in::1f93d754-2fbc-4193-89e9-fa5346f46968" providerId="AD" clId="Web-{8BB3FD5F-7C66-4B5E-A696-43A9B0D621BC}" dt="2022-02-26T08:19:33.558" v="0" actId="1076"/>
        <pc:sldMkLst>
          <pc:docMk/>
          <pc:sldMk cId="2300795841" sldId="268"/>
        </pc:sldMkLst>
        <pc:picChg chg="mod">
          <ac:chgData name="RISHAV RAJ(BTECH10087.21@bitmesra.ac.in)" userId="S::btech10087.21@bitmesra.ac.in::1f93d754-2fbc-4193-89e9-fa5346f46968" providerId="AD" clId="Web-{8BB3FD5F-7C66-4B5E-A696-43A9B0D621BC}" dt="2022-02-26T08:19:33.558" v="0" actId="1076"/>
          <ac:picMkLst>
            <pc:docMk/>
            <pc:sldMk cId="2300795841" sldId="268"/>
            <ac:picMk id="5" creationId="{4D95EA75-B12B-4741-98DB-A9A740EC53F2}"/>
          </ac:picMkLst>
        </pc:picChg>
      </pc:sldChg>
    </pc:docChg>
  </pc:docChgLst>
  <pc:docChgLst>
    <pc:chgData name="LAKSHAY SABHARWAL(BTECH10020.21@bitmesra.ac.in)" userId="S::btech10020.21@bitmesra.ac.in::cd4bb772-e586-404d-b191-7500b67032f6" providerId="AD" clId="Web-{86114777-A332-4D85-A57B-CB2A82A27C0B}"/>
    <pc:docChg chg="sldOrd">
      <pc:chgData name="LAKSHAY SABHARWAL(BTECH10020.21@bitmesra.ac.in)" userId="S::btech10020.21@bitmesra.ac.in::cd4bb772-e586-404d-b191-7500b67032f6" providerId="AD" clId="Web-{86114777-A332-4D85-A57B-CB2A82A27C0B}" dt="2022-02-25T17:31:12.489" v="1"/>
      <pc:docMkLst>
        <pc:docMk/>
      </pc:docMkLst>
      <pc:sldChg chg="ord">
        <pc:chgData name="LAKSHAY SABHARWAL(BTECH10020.21@bitmesra.ac.in)" userId="S::btech10020.21@bitmesra.ac.in::cd4bb772-e586-404d-b191-7500b67032f6" providerId="AD" clId="Web-{86114777-A332-4D85-A57B-CB2A82A27C0B}" dt="2022-02-25T17:31:12.489" v="1"/>
        <pc:sldMkLst>
          <pc:docMk/>
          <pc:sldMk cId="1829437024" sldId="26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4494-D244-4FE8-A524-EE898E6FF6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59980E-5D35-42DA-A63E-90B2A1C5C2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7EF750-83DC-441A-9CA6-22C7AC538170}"/>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5" name="Footer Placeholder 4">
            <a:extLst>
              <a:ext uri="{FF2B5EF4-FFF2-40B4-BE49-F238E27FC236}">
                <a16:creationId xmlns:a16="http://schemas.microsoft.com/office/drawing/2014/main" id="{FA89F20D-E4D5-4883-932D-9A5511B80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6B7C5-2118-44F9-A941-BE38D27B788F}"/>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3980653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5AE49-1DC1-43F4-B91F-25773563B7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DE173B-9BEB-44AF-8320-BB7F5CE2B3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D50369-92F4-4923-B46F-6F53A0B91B78}"/>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5" name="Footer Placeholder 4">
            <a:extLst>
              <a:ext uri="{FF2B5EF4-FFF2-40B4-BE49-F238E27FC236}">
                <a16:creationId xmlns:a16="http://schemas.microsoft.com/office/drawing/2014/main" id="{17D6EE18-2061-4C41-84B3-4D137D88DB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B63797-676E-4E67-914C-D0A72FD477BC}"/>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75071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7918D-99DB-4486-9DD5-72AB0AB69D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941A83-C922-43CC-AD26-F06104874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A01F13-FC40-4191-995B-60EFEDCE5F0C}"/>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5" name="Footer Placeholder 4">
            <a:extLst>
              <a:ext uri="{FF2B5EF4-FFF2-40B4-BE49-F238E27FC236}">
                <a16:creationId xmlns:a16="http://schemas.microsoft.com/office/drawing/2014/main" id="{F58A2DDA-04B1-472A-A5A2-CFAB08EB0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DA70F-4AAB-4D30-A444-A4BFB65BAA54}"/>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138350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300B0-61E0-4AFB-9746-E2622169EC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BA3EC1-8B4E-412F-B231-4C0D6DF057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9355AF-915A-4D59-ACA4-EA2BEC9570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3BEC54-8B6E-4FA8-B43F-D0E356128855}"/>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6" name="Footer Placeholder 5">
            <a:extLst>
              <a:ext uri="{FF2B5EF4-FFF2-40B4-BE49-F238E27FC236}">
                <a16:creationId xmlns:a16="http://schemas.microsoft.com/office/drawing/2014/main" id="{998F1D9A-8EE5-44DE-9051-5141FACFE0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667211-3B04-406B-96B6-DAB9C59B8AA2}"/>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1085878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A4BB8-B112-4107-B9CB-4FB3FB0CDA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A8238E-9795-43ED-BCD7-7243D3BBB2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F64EC7-B9E7-4A20-AC36-1D4B7410E4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FAE0A7-EBAD-498D-9CA6-1013DE4D38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7C76C8-6B9E-418C-B8B2-020C16D586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92DCFC-B1B1-4009-AAEE-9EDC180271D4}"/>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8" name="Footer Placeholder 7">
            <a:extLst>
              <a:ext uri="{FF2B5EF4-FFF2-40B4-BE49-F238E27FC236}">
                <a16:creationId xmlns:a16="http://schemas.microsoft.com/office/drawing/2014/main" id="{93F697D6-86A1-4F17-8216-D35E54AC47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892A62-1BE5-4ECF-BDFD-587846294DC1}"/>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3857458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D6CC-71C5-4C97-BF97-42B0489214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48C836-A7AD-498D-9F0A-827DB2F61534}"/>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4" name="Footer Placeholder 3">
            <a:extLst>
              <a:ext uri="{FF2B5EF4-FFF2-40B4-BE49-F238E27FC236}">
                <a16:creationId xmlns:a16="http://schemas.microsoft.com/office/drawing/2014/main" id="{C4E97011-2D93-47A0-AADA-C8F11C28DE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7509C4-E489-4587-965A-363E8A1F1F53}"/>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2182774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126313-3160-458A-BDAD-AC8A7E9AA795}"/>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3" name="Footer Placeholder 2">
            <a:extLst>
              <a:ext uri="{FF2B5EF4-FFF2-40B4-BE49-F238E27FC236}">
                <a16:creationId xmlns:a16="http://schemas.microsoft.com/office/drawing/2014/main" id="{65DEC6A1-51C5-4ED0-A042-9738A6E242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F163B0-76C3-4D09-B31C-F4FF40546E98}"/>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1963333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5575B-651B-44A5-9BF6-265B6BE96C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A6AFBD-04A4-4163-8B57-D1304481B0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12CA52-D9A7-4E24-8A1D-3967454E41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A97D61-3ACB-475E-8452-0567D084F052}"/>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6" name="Footer Placeholder 5">
            <a:extLst>
              <a:ext uri="{FF2B5EF4-FFF2-40B4-BE49-F238E27FC236}">
                <a16:creationId xmlns:a16="http://schemas.microsoft.com/office/drawing/2014/main" id="{9C5F0F1B-738F-4781-B859-A34E2FFCA8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0C5960-1E6D-4A6D-9DE7-58519A9AE7FB}"/>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3162652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22EEA-578E-427D-A4CE-B116DB018A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E050C1-2F4B-44B0-B923-D929AADDEB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7EBAF0-02CE-4376-8E18-3419808F37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7C239-6FCE-4E6D-95D2-9299A38CDE3C}"/>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6" name="Footer Placeholder 5">
            <a:extLst>
              <a:ext uri="{FF2B5EF4-FFF2-40B4-BE49-F238E27FC236}">
                <a16:creationId xmlns:a16="http://schemas.microsoft.com/office/drawing/2014/main" id="{E498930E-F5F9-4BBE-9703-C5EDA9944B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93BB6F-8627-4A26-9570-11E9D37763A8}"/>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2910550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9A3C1-317D-4D7F-8BA9-3B82BA983C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2C4AA8-DCA6-498C-9171-3CC95C4FB8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DEFA56-895B-4192-AE07-660BBE2D7723}"/>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5" name="Footer Placeholder 4">
            <a:extLst>
              <a:ext uri="{FF2B5EF4-FFF2-40B4-BE49-F238E27FC236}">
                <a16:creationId xmlns:a16="http://schemas.microsoft.com/office/drawing/2014/main" id="{8143D7D2-1CD5-4B80-8472-1AEE254D12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4527C0-F72C-41AF-9740-AE8C5F6F17A3}"/>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1694259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FDDBAA-8FFA-4B35-9D44-4D238C9FD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A2CBD0-1050-4DA6-90D0-9403FA6987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131AA3-A0C3-4F71-967B-B1155003A996}"/>
              </a:ext>
            </a:extLst>
          </p:cNvPr>
          <p:cNvSpPr>
            <a:spLocks noGrp="1"/>
          </p:cNvSpPr>
          <p:nvPr>
            <p:ph type="dt" sz="half" idx="10"/>
          </p:nvPr>
        </p:nvSpPr>
        <p:spPr/>
        <p:txBody>
          <a:bodyPr/>
          <a:lstStyle/>
          <a:p>
            <a:fld id="{E80F824E-578D-4C05-9BAB-E268F84CEE10}" type="datetimeFigureOut">
              <a:rPr lang="en-US" smtClean="0"/>
              <a:t>2/26/2022</a:t>
            </a:fld>
            <a:endParaRPr lang="en-US"/>
          </a:p>
        </p:txBody>
      </p:sp>
      <p:sp>
        <p:nvSpPr>
          <p:cNvPr id="5" name="Footer Placeholder 4">
            <a:extLst>
              <a:ext uri="{FF2B5EF4-FFF2-40B4-BE49-F238E27FC236}">
                <a16:creationId xmlns:a16="http://schemas.microsoft.com/office/drawing/2014/main" id="{E5B2F0AB-299A-4555-925D-854176CF83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3F346-49E0-4800-9475-05B14F52A976}"/>
              </a:ext>
            </a:extLst>
          </p:cNvPr>
          <p:cNvSpPr>
            <a:spLocks noGrp="1"/>
          </p:cNvSpPr>
          <p:nvPr>
            <p:ph type="sldNum" sz="quarter" idx="12"/>
          </p:nvPr>
        </p:nvSpPr>
        <p:spPr/>
        <p:txBody>
          <a:bodyPr/>
          <a:lstStyle/>
          <a:p>
            <a:fld id="{89DB1BF4-0F69-434E-AAC9-6F6FDC52D9DC}" type="slidenum">
              <a:rPr lang="en-US" smtClean="0"/>
              <a:t>‹#›</a:t>
            </a:fld>
            <a:endParaRPr lang="en-US"/>
          </a:p>
        </p:txBody>
      </p:sp>
    </p:spTree>
    <p:extLst>
      <p:ext uri="{BB962C8B-B14F-4D97-AF65-F5344CB8AC3E}">
        <p14:creationId xmlns:p14="http://schemas.microsoft.com/office/powerpoint/2010/main" val="3998662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BFBD9-0C09-4266-8BA6-0F83648107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82DC79-34B5-4551-AF4D-0FED93721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70F1FE-9276-4FF6-B162-1F321C4C99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F824E-578D-4C05-9BAB-E268F84CEE10}" type="datetimeFigureOut">
              <a:rPr lang="en-US" smtClean="0"/>
              <a:t>2/26/2022</a:t>
            </a:fld>
            <a:endParaRPr lang="en-US"/>
          </a:p>
        </p:txBody>
      </p:sp>
      <p:sp>
        <p:nvSpPr>
          <p:cNvPr id="5" name="Footer Placeholder 4">
            <a:extLst>
              <a:ext uri="{FF2B5EF4-FFF2-40B4-BE49-F238E27FC236}">
                <a16:creationId xmlns:a16="http://schemas.microsoft.com/office/drawing/2014/main" id="{01286E19-538D-44F5-B86B-6145379BE3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EC28AD-7E35-4C85-8F2E-89D2C1A8A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B1BF4-0F69-434E-AAC9-6F6FDC52D9DC}" type="slidenum">
              <a:rPr lang="en-US" smtClean="0"/>
              <a:t>‹#›</a:t>
            </a:fld>
            <a:endParaRPr lang="en-US"/>
          </a:p>
        </p:txBody>
      </p:sp>
    </p:spTree>
    <p:extLst>
      <p:ext uri="{BB962C8B-B14F-4D97-AF65-F5344CB8AC3E}">
        <p14:creationId xmlns:p14="http://schemas.microsoft.com/office/powerpoint/2010/main" val="3068149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72DAE-7AC7-45CA-A9D7-6C29EE2C4514}"/>
              </a:ext>
            </a:extLst>
          </p:cNvPr>
          <p:cNvSpPr>
            <a:spLocks noGrp="1"/>
          </p:cNvSpPr>
          <p:nvPr>
            <p:ph type="ctrTitle"/>
          </p:nvPr>
        </p:nvSpPr>
        <p:spPr/>
        <p:txBody>
          <a:bodyPr>
            <a:normAutofit/>
          </a:bodyPr>
          <a:lstStyle/>
          <a:p>
            <a:r>
              <a:rPr lang="en-US" sz="4000" b="1" dirty="0"/>
              <a:t>Sampling and measurement of Air Quality</a:t>
            </a:r>
          </a:p>
        </p:txBody>
      </p:sp>
    </p:spTree>
    <p:extLst>
      <p:ext uri="{BB962C8B-B14F-4D97-AF65-F5344CB8AC3E}">
        <p14:creationId xmlns:p14="http://schemas.microsoft.com/office/powerpoint/2010/main" val="4240229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0BFAC-80E0-4E6C-A608-BAB6BB8139C9}"/>
              </a:ext>
            </a:extLst>
          </p:cNvPr>
          <p:cNvSpPr>
            <a:spLocks noGrp="1"/>
          </p:cNvSpPr>
          <p:nvPr>
            <p:ph type="title"/>
          </p:nvPr>
        </p:nvSpPr>
        <p:spPr/>
        <p:txBody>
          <a:bodyPr/>
          <a:lstStyle/>
          <a:p>
            <a:r>
              <a:rPr lang="en-US" b="0" i="0" dirty="0">
                <a:solidFill>
                  <a:srgbClr val="3B3835"/>
                </a:solidFill>
                <a:effectLst/>
                <a:latin typeface="Helvetica Neue"/>
              </a:rPr>
              <a:t>Measurements of air quality </a:t>
            </a:r>
            <a:endParaRPr lang="en-US" dirty="0"/>
          </a:p>
        </p:txBody>
      </p:sp>
      <p:sp>
        <p:nvSpPr>
          <p:cNvPr id="3" name="Content Placeholder 2">
            <a:extLst>
              <a:ext uri="{FF2B5EF4-FFF2-40B4-BE49-F238E27FC236}">
                <a16:creationId xmlns:a16="http://schemas.microsoft.com/office/drawing/2014/main" id="{C050344F-88FD-4B30-86C4-D87EBB2E4B21}"/>
              </a:ext>
            </a:extLst>
          </p:cNvPr>
          <p:cNvSpPr>
            <a:spLocks noGrp="1"/>
          </p:cNvSpPr>
          <p:nvPr>
            <p:ph idx="1"/>
          </p:nvPr>
        </p:nvSpPr>
        <p:spPr/>
        <p:txBody>
          <a:bodyPr>
            <a:normAutofit fontScale="92500" lnSpcReduction="20000"/>
          </a:bodyPr>
          <a:lstStyle/>
          <a:p>
            <a:r>
              <a:rPr lang="en-US" b="0" i="0" dirty="0">
                <a:solidFill>
                  <a:srgbClr val="3B3835"/>
                </a:solidFill>
                <a:effectLst/>
                <a:highlight>
                  <a:srgbClr val="00FFFF"/>
                </a:highlight>
                <a:latin typeface="Helvetica Neue"/>
              </a:rPr>
              <a:t>Measurements of Emissions - </a:t>
            </a:r>
            <a:r>
              <a:rPr lang="en-US" b="0" i="0" dirty="0">
                <a:solidFill>
                  <a:srgbClr val="3B3835"/>
                </a:solidFill>
                <a:effectLst/>
                <a:latin typeface="Helvetica Neue"/>
              </a:rPr>
              <a:t>also called source sampling - when a particular emission source is measured, generally by on the spot tests </a:t>
            </a:r>
          </a:p>
          <a:p>
            <a:r>
              <a:rPr lang="en-US" b="0" i="0" dirty="0">
                <a:solidFill>
                  <a:srgbClr val="3B3835"/>
                </a:solidFill>
                <a:effectLst/>
                <a:latin typeface="Helvetica Neue"/>
              </a:rPr>
              <a:t>– </a:t>
            </a:r>
            <a:r>
              <a:rPr lang="en-US" b="0" i="0" dirty="0">
                <a:solidFill>
                  <a:srgbClr val="3B3835"/>
                </a:solidFill>
                <a:effectLst/>
                <a:highlight>
                  <a:srgbClr val="00FFFF"/>
                </a:highlight>
                <a:latin typeface="Helvetica Neue"/>
              </a:rPr>
              <a:t>Meteorological Measurement </a:t>
            </a:r>
            <a:r>
              <a:rPr lang="en-US" b="0" i="0" dirty="0">
                <a:solidFill>
                  <a:srgbClr val="3B3835"/>
                </a:solidFill>
                <a:effectLst/>
                <a:latin typeface="Helvetica Neue"/>
              </a:rPr>
              <a:t>- Measures meteorological factors that show how pollutants are transferred from source to recipient </a:t>
            </a:r>
          </a:p>
          <a:p>
            <a:r>
              <a:rPr lang="en-US" b="0" i="0" dirty="0">
                <a:solidFill>
                  <a:srgbClr val="3B3835"/>
                </a:solidFill>
                <a:effectLst/>
                <a:latin typeface="Helvetica Neue"/>
              </a:rPr>
              <a:t>– </a:t>
            </a:r>
            <a:r>
              <a:rPr lang="en-US" b="0" i="0" dirty="0">
                <a:solidFill>
                  <a:srgbClr val="3B3835"/>
                </a:solidFill>
                <a:effectLst/>
                <a:highlight>
                  <a:srgbClr val="00FFFF"/>
                </a:highlight>
                <a:latin typeface="Helvetica Neue"/>
              </a:rPr>
              <a:t>Ambient Air Quality </a:t>
            </a:r>
            <a:r>
              <a:rPr lang="en-US" b="0" i="0" dirty="0">
                <a:solidFill>
                  <a:srgbClr val="3B3835"/>
                </a:solidFill>
                <a:effectLst/>
                <a:latin typeface="Helvetica Neue"/>
              </a:rPr>
              <a:t>- Measures the quality of all the air in a particular place. Almost all the evidence of health effects is based on these measurements </a:t>
            </a:r>
          </a:p>
          <a:p>
            <a:r>
              <a:rPr lang="en-US" b="0" i="0" dirty="0">
                <a:solidFill>
                  <a:srgbClr val="3B3835"/>
                </a:solidFill>
                <a:effectLst/>
                <a:highlight>
                  <a:srgbClr val="00FFFF"/>
                </a:highlight>
                <a:latin typeface="Helvetica Neue"/>
              </a:rPr>
              <a:t>Industrial Hygiene sampling </a:t>
            </a:r>
            <a:r>
              <a:rPr lang="en-US" b="0" i="0" dirty="0">
                <a:solidFill>
                  <a:srgbClr val="3B3835"/>
                </a:solidFill>
                <a:effectLst/>
                <a:latin typeface="Helvetica Neue"/>
              </a:rPr>
              <a:t>- for testing the air quality inside of factories and places of work </a:t>
            </a:r>
          </a:p>
          <a:p>
            <a:r>
              <a:rPr lang="en-US" b="0" i="0" dirty="0">
                <a:solidFill>
                  <a:srgbClr val="3B3835"/>
                </a:solidFill>
                <a:effectLst/>
                <a:highlight>
                  <a:srgbClr val="00FFFF"/>
                </a:highlight>
                <a:latin typeface="Helvetica Neue"/>
              </a:rPr>
              <a:t>Residential Indoor sampling </a:t>
            </a:r>
            <a:r>
              <a:rPr lang="en-US" b="0" i="0" dirty="0">
                <a:solidFill>
                  <a:srgbClr val="3B3835"/>
                </a:solidFill>
                <a:effectLst/>
                <a:latin typeface="Helvetica Neue"/>
              </a:rPr>
              <a:t>- to evaluate the quality of air in living spaces</a:t>
            </a:r>
            <a:endParaRPr lang="en-US" dirty="0"/>
          </a:p>
        </p:txBody>
      </p:sp>
    </p:spTree>
    <p:extLst>
      <p:ext uri="{BB962C8B-B14F-4D97-AF65-F5344CB8AC3E}">
        <p14:creationId xmlns:p14="http://schemas.microsoft.com/office/powerpoint/2010/main" val="1486887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4111-502D-4661-8045-FFD7A04889D6}"/>
              </a:ext>
            </a:extLst>
          </p:cNvPr>
          <p:cNvSpPr>
            <a:spLocks noGrp="1"/>
          </p:cNvSpPr>
          <p:nvPr>
            <p:ph type="title"/>
          </p:nvPr>
        </p:nvSpPr>
        <p:spPr/>
        <p:txBody>
          <a:bodyPr/>
          <a:lstStyle/>
          <a:p>
            <a:r>
              <a:rPr lang="en-US" b="0" i="0" dirty="0">
                <a:solidFill>
                  <a:srgbClr val="3B3835"/>
                </a:solidFill>
                <a:effectLst/>
                <a:latin typeface="Helvetica Neue"/>
              </a:rPr>
              <a:t>Air Sampling Techniques</a:t>
            </a:r>
            <a:endParaRPr lang="en-US" dirty="0"/>
          </a:p>
        </p:txBody>
      </p:sp>
      <p:sp>
        <p:nvSpPr>
          <p:cNvPr id="3" name="Content Placeholder 2">
            <a:extLst>
              <a:ext uri="{FF2B5EF4-FFF2-40B4-BE49-F238E27FC236}">
                <a16:creationId xmlns:a16="http://schemas.microsoft.com/office/drawing/2014/main" id="{5D214591-960F-46D9-9379-2109A5CD3BAB}"/>
              </a:ext>
            </a:extLst>
          </p:cNvPr>
          <p:cNvSpPr>
            <a:spLocks noGrp="1"/>
          </p:cNvSpPr>
          <p:nvPr>
            <p:ph idx="1"/>
          </p:nvPr>
        </p:nvSpPr>
        <p:spPr/>
        <p:txBody>
          <a:bodyPr/>
          <a:lstStyle/>
          <a:p>
            <a:r>
              <a:rPr lang="en-US" b="0" i="0" dirty="0">
                <a:solidFill>
                  <a:srgbClr val="3B3835"/>
                </a:solidFill>
                <a:effectLst/>
                <a:latin typeface="Helvetica Neue"/>
              </a:rPr>
              <a:t>Most air pollution monitoring equipment performs the act of sampling and analysis in one action = real time measurement</a:t>
            </a:r>
          </a:p>
          <a:p>
            <a:r>
              <a:rPr lang="en-US" b="0" i="0" dirty="0">
                <a:solidFill>
                  <a:srgbClr val="3B3835"/>
                </a:solidFill>
                <a:effectLst/>
                <a:latin typeface="Helvetica Neue"/>
              </a:rPr>
              <a:t>older equipment = intermittent sampling (time lag between when the sample was obtained and when data was available)</a:t>
            </a:r>
          </a:p>
          <a:p>
            <a:pPr lvl="1" algn="just"/>
            <a:r>
              <a:rPr lang="en-US" b="0" i="0" dirty="0">
                <a:solidFill>
                  <a:srgbClr val="3B3835"/>
                </a:solidFill>
                <a:effectLst/>
                <a:latin typeface="Helvetica Neue"/>
              </a:rPr>
              <a:t>Almost all gaseous pollutants are monitored by real time analysis - Particulate pollutants are still mostly monitored by intermittent sampling, even though real time methods are available </a:t>
            </a:r>
          </a:p>
          <a:p>
            <a:pPr algn="just"/>
            <a:endParaRPr lang="en-US" dirty="0"/>
          </a:p>
        </p:txBody>
      </p:sp>
    </p:spTree>
    <p:extLst>
      <p:ext uri="{BB962C8B-B14F-4D97-AF65-F5344CB8AC3E}">
        <p14:creationId xmlns:p14="http://schemas.microsoft.com/office/powerpoint/2010/main" val="2606428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9">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D2A303-1AA3-469B-A8C4-29384BEA632A}"/>
              </a:ext>
            </a:extLst>
          </p:cNvPr>
          <p:cNvSpPr>
            <a:spLocks noGrp="1"/>
          </p:cNvSpPr>
          <p:nvPr>
            <p:ph type="title"/>
          </p:nvPr>
        </p:nvSpPr>
        <p:spPr>
          <a:xfrm>
            <a:off x="838200" y="365125"/>
            <a:ext cx="10515600" cy="1306443"/>
          </a:xfrm>
        </p:spPr>
        <p:txBody>
          <a:bodyPr>
            <a:normAutofit/>
          </a:bodyPr>
          <a:lstStyle/>
          <a:p>
            <a:r>
              <a:rPr lang="en-US" sz="4000" b="0" i="0">
                <a:effectLst/>
                <a:latin typeface="Helvetica Neue"/>
              </a:rPr>
              <a:t>Air Sampling Systems</a:t>
            </a:r>
            <a:endParaRPr lang="en-US" sz="4000"/>
          </a:p>
        </p:txBody>
      </p:sp>
      <p:sp>
        <p:nvSpPr>
          <p:cNvPr id="3" name="Content Placeholder 2">
            <a:extLst>
              <a:ext uri="{FF2B5EF4-FFF2-40B4-BE49-F238E27FC236}">
                <a16:creationId xmlns:a16="http://schemas.microsoft.com/office/drawing/2014/main" id="{94137BDB-81D8-43D9-9444-995F5365E78F}"/>
              </a:ext>
            </a:extLst>
          </p:cNvPr>
          <p:cNvSpPr>
            <a:spLocks noGrp="1"/>
          </p:cNvSpPr>
          <p:nvPr>
            <p:ph idx="1"/>
          </p:nvPr>
        </p:nvSpPr>
        <p:spPr>
          <a:xfrm>
            <a:off x="838200" y="1825625"/>
            <a:ext cx="4152774" cy="4303464"/>
          </a:xfrm>
        </p:spPr>
        <p:txBody>
          <a:bodyPr>
            <a:normAutofit/>
          </a:bodyPr>
          <a:lstStyle/>
          <a:p>
            <a:r>
              <a:rPr lang="en-US" sz="2000" b="0" i="0">
                <a:effectLst/>
                <a:latin typeface="Helvetica Neue"/>
              </a:rPr>
              <a:t>Require gases or particles to be drawn to the surface of a collecting medium or a sensor</a:t>
            </a:r>
          </a:p>
          <a:p>
            <a:pPr lvl="1"/>
            <a:r>
              <a:rPr lang="en-US" sz="2000" b="0" i="0">
                <a:effectLst/>
                <a:latin typeface="Helvetica Neue"/>
              </a:rPr>
              <a:t>sampling trains, which may include a vacuum pump, vacuum trap, a flow regulator and a collecting device or sensing unit</a:t>
            </a:r>
          </a:p>
          <a:p>
            <a:pPr lvl="1"/>
            <a:r>
              <a:rPr lang="en-US" sz="2000" b="0" i="0">
                <a:effectLst/>
                <a:latin typeface="Helvetica Neue"/>
              </a:rPr>
              <a:t>Sampling trains for gases may also utilize filters to present particles from entering the collection unit </a:t>
            </a:r>
            <a:endParaRPr lang="en-US" sz="2000"/>
          </a:p>
        </p:txBody>
      </p:sp>
      <p:pic>
        <p:nvPicPr>
          <p:cNvPr id="5" name="Picture 4">
            <a:extLst>
              <a:ext uri="{FF2B5EF4-FFF2-40B4-BE49-F238E27FC236}">
                <a16:creationId xmlns:a16="http://schemas.microsoft.com/office/drawing/2014/main" id="{1482BF3A-FC8E-4CF9-805E-B434BCEEE110}"/>
              </a:ext>
            </a:extLst>
          </p:cNvPr>
          <p:cNvPicPr>
            <a:picLocks noChangeAspect="1"/>
          </p:cNvPicPr>
          <p:nvPr/>
        </p:nvPicPr>
        <p:blipFill rotWithShape="1">
          <a:blip r:embed="rId2"/>
          <a:srcRect r="684" b="-2"/>
          <a:stretch/>
        </p:blipFill>
        <p:spPr>
          <a:xfrm>
            <a:off x="5183500" y="1904282"/>
            <a:ext cx="6170299" cy="4224808"/>
          </a:xfrm>
          <a:prstGeom prst="rect">
            <a:avLst/>
          </a:prstGeom>
        </p:spPr>
      </p:pic>
    </p:spTree>
    <p:extLst>
      <p:ext uri="{BB962C8B-B14F-4D97-AF65-F5344CB8AC3E}">
        <p14:creationId xmlns:p14="http://schemas.microsoft.com/office/powerpoint/2010/main" val="405327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5EB5C-B21C-4F35-A224-CCCB601F1036}"/>
              </a:ext>
            </a:extLst>
          </p:cNvPr>
          <p:cNvSpPr>
            <a:spLocks noGrp="1"/>
          </p:cNvSpPr>
          <p:nvPr>
            <p:ph type="title"/>
          </p:nvPr>
        </p:nvSpPr>
        <p:spPr/>
        <p:txBody>
          <a:bodyPr>
            <a:normAutofit/>
          </a:bodyPr>
          <a:lstStyle/>
          <a:p>
            <a:r>
              <a:rPr lang="en-US" sz="3600" b="0" i="0" dirty="0">
                <a:solidFill>
                  <a:srgbClr val="3B3835"/>
                </a:solidFill>
                <a:effectLst/>
                <a:latin typeface="Helvetica Neue"/>
              </a:rPr>
              <a:t>Air Sampling Procedures</a:t>
            </a:r>
            <a:endParaRPr lang="en-US" sz="3600" dirty="0"/>
          </a:p>
        </p:txBody>
      </p:sp>
      <p:sp>
        <p:nvSpPr>
          <p:cNvPr id="3" name="Content Placeholder 2">
            <a:extLst>
              <a:ext uri="{FF2B5EF4-FFF2-40B4-BE49-F238E27FC236}">
                <a16:creationId xmlns:a16="http://schemas.microsoft.com/office/drawing/2014/main" id="{857644C6-96E3-4C1F-A2E3-9F0ED25C480F}"/>
              </a:ext>
            </a:extLst>
          </p:cNvPr>
          <p:cNvSpPr>
            <a:spLocks noGrp="1"/>
          </p:cNvSpPr>
          <p:nvPr>
            <p:ph idx="1"/>
          </p:nvPr>
        </p:nvSpPr>
        <p:spPr/>
        <p:txBody>
          <a:bodyPr>
            <a:normAutofit/>
          </a:bodyPr>
          <a:lstStyle/>
          <a:p>
            <a:r>
              <a:rPr lang="en-US" sz="2400" b="0" i="0" dirty="0">
                <a:solidFill>
                  <a:srgbClr val="3B3835"/>
                </a:solidFill>
                <a:effectLst/>
                <a:latin typeface="Helvetica Neue"/>
              </a:rPr>
              <a:t>conducted by static, grab, intermittent or continuous procedures</a:t>
            </a:r>
          </a:p>
          <a:p>
            <a:r>
              <a:rPr lang="en-US" sz="2400" b="0" i="0" dirty="0">
                <a:solidFill>
                  <a:srgbClr val="3B3835"/>
                </a:solidFill>
                <a:effectLst/>
                <a:latin typeface="Helvetica Neue"/>
              </a:rPr>
              <a:t>first air monitoring used static sampling - simple and cheap – requires days for data e.g. deposit gauge</a:t>
            </a:r>
          </a:p>
          <a:p>
            <a:r>
              <a:rPr lang="en-US" sz="2400" b="0" i="0" dirty="0">
                <a:solidFill>
                  <a:srgbClr val="3B3835"/>
                </a:solidFill>
                <a:effectLst/>
                <a:latin typeface="Helvetica Neue"/>
              </a:rPr>
              <a:t>Grab sampling not commonly used to monitor ambient air quality – uses bladders of syringes</a:t>
            </a:r>
          </a:p>
          <a:p>
            <a:r>
              <a:rPr lang="en-US" sz="2400" b="0" i="0" dirty="0">
                <a:solidFill>
                  <a:srgbClr val="00B0F0"/>
                </a:solidFill>
                <a:effectLst/>
                <a:latin typeface="Helvetica Neue"/>
              </a:rPr>
              <a:t>Meteorological Monitoring</a:t>
            </a:r>
            <a:r>
              <a:rPr lang="en-US" sz="2400" b="0" i="0" dirty="0">
                <a:solidFill>
                  <a:srgbClr val="3B3835"/>
                </a:solidFill>
                <a:effectLst/>
                <a:latin typeface="Helvetica Neue"/>
              </a:rPr>
              <a:t>• changing weather conditions can produce dramatic changes in air quality and ambient pollution levels</a:t>
            </a:r>
          </a:p>
          <a:p>
            <a:pPr lvl="1" algn="just"/>
            <a:r>
              <a:rPr lang="en-US" sz="2000" b="0" i="0" dirty="0">
                <a:solidFill>
                  <a:srgbClr val="3B3835"/>
                </a:solidFill>
                <a:effectLst/>
                <a:latin typeface="Helvetica Neue"/>
              </a:rPr>
              <a:t>Factors such as: – wind dispersion rates (velocity and direction) – temperature inversions – photochemical reactions, and – rain </a:t>
            </a:r>
            <a:endParaRPr lang="en-US" sz="2000" dirty="0"/>
          </a:p>
        </p:txBody>
      </p:sp>
    </p:spTree>
    <p:extLst>
      <p:ext uri="{BB962C8B-B14F-4D97-AF65-F5344CB8AC3E}">
        <p14:creationId xmlns:p14="http://schemas.microsoft.com/office/powerpoint/2010/main" val="1202786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DAD22-BB9B-4DBF-8C29-E51307064A73}"/>
              </a:ext>
            </a:extLst>
          </p:cNvPr>
          <p:cNvSpPr>
            <a:spLocks noGrp="1"/>
          </p:cNvSpPr>
          <p:nvPr>
            <p:ph type="title"/>
          </p:nvPr>
        </p:nvSpPr>
        <p:spPr/>
        <p:txBody>
          <a:bodyPr/>
          <a:lstStyle/>
          <a:p>
            <a:r>
              <a:rPr lang="en-US" b="0" i="0" dirty="0">
                <a:solidFill>
                  <a:srgbClr val="3B3835"/>
                </a:solidFill>
                <a:effectLst/>
                <a:latin typeface="Helvetica Neue"/>
              </a:rPr>
              <a:t>Reference Methods</a:t>
            </a:r>
            <a:endParaRPr lang="en-US" dirty="0"/>
          </a:p>
        </p:txBody>
      </p:sp>
      <p:sp>
        <p:nvSpPr>
          <p:cNvPr id="3" name="Content Placeholder 2">
            <a:extLst>
              <a:ext uri="{FF2B5EF4-FFF2-40B4-BE49-F238E27FC236}">
                <a16:creationId xmlns:a16="http://schemas.microsoft.com/office/drawing/2014/main" id="{A4B1CC97-A623-4B6C-B6B5-D2D6BF5162BC}"/>
              </a:ext>
            </a:extLst>
          </p:cNvPr>
          <p:cNvSpPr>
            <a:spLocks noGrp="1"/>
          </p:cNvSpPr>
          <p:nvPr>
            <p:ph idx="1"/>
          </p:nvPr>
        </p:nvSpPr>
        <p:spPr/>
        <p:txBody>
          <a:bodyPr/>
          <a:lstStyle/>
          <a:p>
            <a:r>
              <a:rPr lang="en-US" b="0" i="0" dirty="0">
                <a:solidFill>
                  <a:srgbClr val="3B3835"/>
                </a:solidFill>
                <a:effectLst/>
                <a:latin typeface="Helvetica Neue"/>
              </a:rPr>
              <a:t>US EPA Methods</a:t>
            </a:r>
          </a:p>
          <a:p>
            <a:pPr lvl="1"/>
            <a:r>
              <a:rPr lang="en-US" b="0" i="0" dirty="0">
                <a:solidFill>
                  <a:srgbClr val="3B3835"/>
                </a:solidFill>
                <a:effectLst/>
                <a:latin typeface="Helvetica Neue"/>
              </a:rPr>
              <a:t>first generation devices - low cost unpowered devices - require long time to accumulate data e.g. deposit gauge</a:t>
            </a:r>
          </a:p>
          <a:p>
            <a:pPr lvl="1"/>
            <a:r>
              <a:rPr lang="en-US" b="0" i="0" dirty="0">
                <a:solidFill>
                  <a:srgbClr val="3B3835"/>
                </a:solidFill>
                <a:effectLst/>
                <a:latin typeface="Helvetica Neue"/>
              </a:rPr>
              <a:t>second generation devices - powered and require small amounts of time to produce data e.g. high volume sampler</a:t>
            </a:r>
          </a:p>
          <a:p>
            <a:pPr lvl="1"/>
            <a:r>
              <a:rPr lang="en-US" b="0" i="0" dirty="0">
                <a:solidFill>
                  <a:srgbClr val="3B3835"/>
                </a:solidFill>
                <a:effectLst/>
                <a:latin typeface="Helvetica Neue"/>
              </a:rPr>
              <a:t>third generation devices - produce instant (continuous data) e.g. nephelometer, gravimetric microbalance, remote UV-visible detectors and remote infra red sensors </a:t>
            </a:r>
            <a:endParaRPr lang="en-US" dirty="0"/>
          </a:p>
        </p:txBody>
      </p:sp>
    </p:spTree>
    <p:extLst>
      <p:ext uri="{BB962C8B-B14F-4D97-AF65-F5344CB8AC3E}">
        <p14:creationId xmlns:p14="http://schemas.microsoft.com/office/powerpoint/2010/main" val="413763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B95B-D38E-4C08-B6A9-891A776D3B79}"/>
              </a:ext>
            </a:extLst>
          </p:cNvPr>
          <p:cNvSpPr>
            <a:spLocks noGrp="1"/>
          </p:cNvSpPr>
          <p:nvPr>
            <p:ph type="title"/>
          </p:nvPr>
        </p:nvSpPr>
        <p:spPr/>
        <p:txBody>
          <a:bodyPr/>
          <a:lstStyle/>
          <a:p>
            <a:r>
              <a:rPr lang="en-US" b="0" i="0" dirty="0">
                <a:solidFill>
                  <a:srgbClr val="3B3835"/>
                </a:solidFill>
                <a:effectLst/>
                <a:latin typeface="Helvetica Neue"/>
              </a:rPr>
              <a:t>Particulates – Hi Vol Sampler</a:t>
            </a:r>
            <a:endParaRPr lang="en-US" dirty="0"/>
          </a:p>
        </p:txBody>
      </p:sp>
      <p:sp>
        <p:nvSpPr>
          <p:cNvPr id="3" name="Content Placeholder 2">
            <a:extLst>
              <a:ext uri="{FF2B5EF4-FFF2-40B4-BE49-F238E27FC236}">
                <a16:creationId xmlns:a16="http://schemas.microsoft.com/office/drawing/2014/main" id="{427C3459-7BDD-49D4-A69F-15D73D0C7688}"/>
              </a:ext>
            </a:extLst>
          </p:cNvPr>
          <p:cNvSpPr>
            <a:spLocks noGrp="1"/>
          </p:cNvSpPr>
          <p:nvPr>
            <p:ph idx="1"/>
          </p:nvPr>
        </p:nvSpPr>
        <p:spPr/>
        <p:txBody>
          <a:bodyPr>
            <a:normAutofit/>
          </a:bodyPr>
          <a:lstStyle/>
          <a:p>
            <a:r>
              <a:rPr lang="en-US" sz="2200" b="0" i="0" dirty="0">
                <a:solidFill>
                  <a:srgbClr val="3B3835"/>
                </a:solidFill>
                <a:effectLst/>
                <a:latin typeface="Arial" panose="020B0604020202020204" pitchFamily="34" charset="0"/>
                <a:cs typeface="Arial" panose="020B0604020202020204" pitchFamily="34" charset="0"/>
              </a:rPr>
              <a:t>most commonly used particle sampling method</a:t>
            </a:r>
          </a:p>
          <a:p>
            <a:r>
              <a:rPr lang="en-US" sz="2200" b="0" i="0" dirty="0">
                <a:solidFill>
                  <a:srgbClr val="3B3835"/>
                </a:solidFill>
                <a:effectLst/>
                <a:latin typeface="Arial" panose="020B0604020202020204" pitchFamily="34" charset="0"/>
                <a:cs typeface="Arial" panose="020B0604020202020204" pitchFamily="34" charset="0"/>
              </a:rPr>
              <a:t>analysis is gravimetric - filter is weighed before and after the analysis on an analytical balance, and difference is particulates collected</a:t>
            </a:r>
          </a:p>
          <a:p>
            <a:r>
              <a:rPr lang="en-US" sz="2200" b="0" i="0" dirty="0">
                <a:solidFill>
                  <a:srgbClr val="3B3835"/>
                </a:solidFill>
                <a:effectLst/>
                <a:latin typeface="Arial" panose="020B0604020202020204" pitchFamily="34" charset="0"/>
                <a:cs typeface="Arial" panose="020B0604020202020204" pitchFamily="34" charset="0"/>
              </a:rPr>
              <a:t>A standard high-volume sampler collects particles in the size range from 0.1 - 100 µm</a:t>
            </a:r>
          </a:p>
          <a:p>
            <a:r>
              <a:rPr lang="en-US" sz="2200" b="0" i="0" dirty="0">
                <a:solidFill>
                  <a:srgbClr val="3B3835"/>
                </a:solidFill>
                <a:effectLst/>
                <a:latin typeface="Arial" panose="020B0604020202020204" pitchFamily="34" charset="0"/>
                <a:cs typeface="Arial" panose="020B0604020202020204" pitchFamily="34" charset="0"/>
              </a:rPr>
              <a:t>airflow is measured by a small flow meter (calibrated in m3 air/minute)</a:t>
            </a:r>
          </a:p>
          <a:p>
            <a:r>
              <a:rPr lang="en-US" sz="2200" b="0" i="0" dirty="0">
                <a:solidFill>
                  <a:srgbClr val="3B3835"/>
                </a:solidFill>
                <a:effectLst/>
                <a:latin typeface="Arial" panose="020B0604020202020204" pitchFamily="34" charset="0"/>
                <a:cs typeface="Arial" panose="020B0604020202020204" pitchFamily="34" charset="0"/>
              </a:rPr>
              <a:t>particulate concentration measured is referred to as the Total Suspended Particles (TSP), = combination of Settleable particles and suspended particles</a:t>
            </a:r>
          </a:p>
          <a:p>
            <a:r>
              <a:rPr lang="en-US" sz="2200" b="0" i="0" dirty="0">
                <a:solidFill>
                  <a:srgbClr val="3B3835"/>
                </a:solidFill>
                <a:effectLst/>
                <a:latin typeface="Arial" panose="020B0604020202020204" pitchFamily="34" charset="0"/>
                <a:cs typeface="Arial" panose="020B0604020202020204" pitchFamily="34" charset="0"/>
              </a:rPr>
              <a:t>expressed as g/m3 for a 24hour period – normally as part of 6 day cycle</a:t>
            </a: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3637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9048E1-B1B4-4F14-B64E-26A759C70A78}"/>
              </a:ext>
            </a:extLst>
          </p:cNvPr>
          <p:cNvPicPr>
            <a:picLocks noChangeAspect="1"/>
          </p:cNvPicPr>
          <p:nvPr/>
        </p:nvPicPr>
        <p:blipFill rotWithShape="1">
          <a:blip r:embed="rId2"/>
          <a:srcRect l="20904" r="24856"/>
          <a:stretch/>
        </p:blipFill>
        <p:spPr>
          <a:xfrm>
            <a:off x="283936" y="139874"/>
            <a:ext cx="3194050" cy="5888737"/>
          </a:xfrm>
          <a:prstGeom prst="rect">
            <a:avLst/>
          </a:prstGeom>
        </p:spPr>
      </p:pic>
      <p:pic>
        <p:nvPicPr>
          <p:cNvPr id="1026" name="Picture 2">
            <a:extLst>
              <a:ext uri="{FF2B5EF4-FFF2-40B4-BE49-F238E27FC236}">
                <a16:creationId xmlns:a16="http://schemas.microsoft.com/office/drawing/2014/main" id="{D3253653-AF04-4BAF-A8FE-27E5E974AC67}"/>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498975" y="491888"/>
            <a:ext cx="3194050" cy="51847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49C177C-1F85-4B3E-A991-33C61EF24A6E}"/>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714014" y="1434829"/>
            <a:ext cx="2705100" cy="4391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933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95EA75-B12B-4741-98DB-A9A740EC53F2}"/>
              </a:ext>
            </a:extLst>
          </p:cNvPr>
          <p:cNvPicPr>
            <a:picLocks noChangeAspect="1"/>
          </p:cNvPicPr>
          <p:nvPr/>
        </p:nvPicPr>
        <p:blipFill>
          <a:blip r:embed="rId2"/>
          <a:stretch>
            <a:fillRect/>
          </a:stretch>
        </p:blipFill>
        <p:spPr>
          <a:xfrm>
            <a:off x="1713804" y="85618"/>
            <a:ext cx="7474607" cy="5173436"/>
          </a:xfrm>
          <a:prstGeom prst="rect">
            <a:avLst/>
          </a:prstGeom>
        </p:spPr>
      </p:pic>
      <p:sp>
        <p:nvSpPr>
          <p:cNvPr id="7" name="TextBox 6">
            <a:extLst>
              <a:ext uri="{FF2B5EF4-FFF2-40B4-BE49-F238E27FC236}">
                <a16:creationId xmlns:a16="http://schemas.microsoft.com/office/drawing/2014/main" id="{AA4D907C-626D-41DA-9448-EB1865619C18}"/>
              </a:ext>
            </a:extLst>
          </p:cNvPr>
          <p:cNvSpPr txBox="1"/>
          <p:nvPr/>
        </p:nvSpPr>
        <p:spPr>
          <a:xfrm>
            <a:off x="393700" y="5600700"/>
            <a:ext cx="11074400" cy="646331"/>
          </a:xfrm>
          <a:prstGeom prst="rect">
            <a:avLst/>
          </a:prstGeom>
          <a:noFill/>
        </p:spPr>
        <p:txBody>
          <a:bodyPr wrap="square" rtlCol="0">
            <a:spAutoFit/>
          </a:bodyPr>
          <a:lstStyle/>
          <a:p>
            <a:r>
              <a:rPr lang="en-US" b="1" dirty="0"/>
              <a:t>Calculate the PM10 concentration of a particular place if the High vol. sampler runs for 8 </a:t>
            </a:r>
            <a:r>
              <a:rPr lang="en-US" b="1" dirty="0" err="1"/>
              <a:t>hrs</a:t>
            </a:r>
            <a:r>
              <a:rPr lang="en-US" b="1" dirty="0"/>
              <a:t> with an average flow rate of 16.7 L/min, initial weight of filter paper is 4.23 gm and final weight is 6.32 gm. </a:t>
            </a:r>
          </a:p>
        </p:txBody>
      </p:sp>
    </p:spTree>
    <p:extLst>
      <p:ext uri="{BB962C8B-B14F-4D97-AF65-F5344CB8AC3E}">
        <p14:creationId xmlns:p14="http://schemas.microsoft.com/office/powerpoint/2010/main" val="2300795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E1C898-8D2A-4AE4-AC44-F044C6BACD79}"/>
              </a:ext>
            </a:extLst>
          </p:cNvPr>
          <p:cNvSpPr>
            <a:spLocks noGrp="1"/>
          </p:cNvSpPr>
          <p:nvPr>
            <p:ph type="title"/>
          </p:nvPr>
        </p:nvSpPr>
        <p:spPr>
          <a:xfrm>
            <a:off x="589560" y="856180"/>
            <a:ext cx="4560584" cy="1128068"/>
          </a:xfrm>
        </p:spPr>
        <p:txBody>
          <a:bodyPr anchor="ctr">
            <a:normAutofit/>
          </a:bodyPr>
          <a:lstStyle/>
          <a:p>
            <a:r>
              <a:rPr lang="en-US" sz="3700"/>
              <a:t>Oxides of Nitrogen: Chemiluminescence</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C861B9B-D6B1-4B38-84C0-D946294FCB3B}"/>
              </a:ext>
            </a:extLst>
          </p:cNvPr>
          <p:cNvSpPr>
            <a:spLocks noGrp="1"/>
          </p:cNvSpPr>
          <p:nvPr>
            <p:ph idx="1"/>
          </p:nvPr>
        </p:nvSpPr>
        <p:spPr>
          <a:xfrm>
            <a:off x="590719" y="2330505"/>
            <a:ext cx="5187781" cy="3979585"/>
          </a:xfrm>
        </p:spPr>
        <p:txBody>
          <a:bodyPr anchor="ctr">
            <a:normAutofit lnSpcReduction="10000"/>
          </a:bodyPr>
          <a:lstStyle/>
          <a:p>
            <a:pPr algn="just" fontAlgn="base"/>
            <a:r>
              <a:rPr lang="en-US" sz="1600" b="0" i="0" dirty="0">
                <a:effectLst/>
                <a:latin typeface="museo-sans"/>
              </a:rPr>
              <a:t>Nitrogen dioxide is commonly measured using automatic </a:t>
            </a:r>
            <a:r>
              <a:rPr lang="en-US" sz="1600" b="0" i="0" dirty="0" err="1">
                <a:effectLst/>
                <a:latin typeface="museo-sans"/>
              </a:rPr>
              <a:t>analysers</a:t>
            </a:r>
            <a:r>
              <a:rPr lang="en-US" sz="1600" b="0" i="0" dirty="0">
                <a:effectLst/>
                <a:latin typeface="museo-sans"/>
              </a:rPr>
              <a:t> that run 24 hours a day. The main measuring method is to use a </a:t>
            </a:r>
            <a:r>
              <a:rPr lang="en-US" sz="1600" b="0" i="0" u="none" strike="noStrike" dirty="0">
                <a:effectLst/>
                <a:latin typeface="museo-sans"/>
              </a:rPr>
              <a:t>chemiluminescence</a:t>
            </a:r>
            <a:r>
              <a:rPr lang="en-US" sz="1600" b="0" i="0" dirty="0">
                <a:effectLst/>
                <a:latin typeface="museo-sans"/>
              </a:rPr>
              <a:t> continuous </a:t>
            </a:r>
            <a:r>
              <a:rPr lang="en-US" sz="1600" b="0" i="0" dirty="0" err="1">
                <a:effectLst/>
                <a:latin typeface="museo-sans"/>
              </a:rPr>
              <a:t>analyser</a:t>
            </a:r>
            <a:r>
              <a:rPr lang="en-US" sz="1600" b="0" i="0" dirty="0">
                <a:effectLst/>
                <a:latin typeface="museo-sans"/>
              </a:rPr>
              <a:t> (chemiluminescence means the emission of light as a result of a chemical reaction).</a:t>
            </a:r>
          </a:p>
          <a:p>
            <a:pPr algn="just" fontAlgn="base"/>
            <a:r>
              <a:rPr lang="en-US" sz="1600" b="0" i="0" dirty="0">
                <a:effectLst/>
                <a:latin typeface="museo-sans"/>
              </a:rPr>
              <a:t>Air is drawn into the </a:t>
            </a:r>
            <a:r>
              <a:rPr lang="en-US" sz="1600" b="0" i="0" dirty="0" err="1">
                <a:effectLst/>
                <a:latin typeface="museo-sans"/>
              </a:rPr>
              <a:t>analyser</a:t>
            </a:r>
            <a:r>
              <a:rPr lang="en-US" sz="1600" b="0" i="0" dirty="0">
                <a:effectLst/>
                <a:latin typeface="museo-sans"/>
              </a:rPr>
              <a:t> where nitrogen monoxide (NO) is made to react with ozone, to give nitrogen dioxide in a reaction that generates light:</a:t>
            </a:r>
          </a:p>
          <a:p>
            <a:pPr algn="just" fontAlgn="base"/>
            <a:r>
              <a:rPr lang="en-US" sz="1600" b="0" i="0" dirty="0">
                <a:solidFill>
                  <a:srgbClr val="FF0000"/>
                </a:solidFill>
                <a:effectLst/>
                <a:latin typeface="museo-sans"/>
              </a:rPr>
              <a:t>Nitrogen monoxide + ozone » nitrogen dioxide + oxygen + light emission.</a:t>
            </a:r>
          </a:p>
          <a:p>
            <a:pPr algn="just" fontAlgn="base"/>
            <a:r>
              <a:rPr lang="en-US" sz="1600" b="0" i="0" dirty="0">
                <a:effectLst/>
                <a:latin typeface="museo-sans"/>
              </a:rPr>
              <a:t>This method doesn’t actually measure nitrogen dioxide but calculates the airborne levels of nitrogen monoxide and total oxides of nitrogen (NOx), and then subtracts one reading from the other. The final results are expressed in parts per billion (ppb) or micrograms per cubic </a:t>
            </a:r>
            <a:r>
              <a:rPr lang="en-US" sz="1600" b="0" i="0" dirty="0" err="1">
                <a:effectLst/>
                <a:latin typeface="museo-sans"/>
              </a:rPr>
              <a:t>metre</a:t>
            </a:r>
            <a:r>
              <a:rPr lang="en-US" sz="1600" b="0" i="0" dirty="0">
                <a:effectLst/>
                <a:latin typeface="museo-sans"/>
              </a:rPr>
              <a:t> of air, this is written as µg m-3.</a:t>
            </a:r>
          </a:p>
          <a:p>
            <a:pPr algn="just"/>
            <a:endParaRPr lang="en-US" sz="1600" dirty="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BCCAA82-6597-4BC1-836E-E624278CB54F}"/>
              </a:ext>
            </a:extLst>
          </p:cNvPr>
          <p:cNvPicPr>
            <a:picLocks noChangeAspect="1"/>
          </p:cNvPicPr>
          <p:nvPr/>
        </p:nvPicPr>
        <p:blipFill rotWithShape="1">
          <a:blip r:embed="rId2"/>
          <a:srcRect l="25513" r="12593" b="1"/>
          <a:stretch/>
        </p:blipFill>
        <p:spPr>
          <a:xfrm>
            <a:off x="6874676" y="799352"/>
            <a:ext cx="4528521" cy="4389868"/>
          </a:xfrm>
          <a:prstGeom prst="rect">
            <a:avLst/>
          </a:prstGeom>
        </p:spPr>
      </p:pic>
    </p:spTree>
    <p:extLst>
      <p:ext uri="{BB962C8B-B14F-4D97-AF65-F5344CB8AC3E}">
        <p14:creationId xmlns:p14="http://schemas.microsoft.com/office/powerpoint/2010/main" val="419813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imeline&#10;&#10;Description automatically generated with medium confidence">
            <a:extLst>
              <a:ext uri="{FF2B5EF4-FFF2-40B4-BE49-F238E27FC236}">
                <a16:creationId xmlns:a16="http://schemas.microsoft.com/office/drawing/2014/main" id="{B1993835-9057-473D-97FC-9B616F7901B1}"/>
              </a:ext>
            </a:extLst>
          </p:cNvPr>
          <p:cNvPicPr>
            <a:picLocks noChangeAspect="1"/>
          </p:cNvPicPr>
          <p:nvPr/>
        </p:nvPicPr>
        <p:blipFill rotWithShape="1">
          <a:blip r:embed="rId2"/>
          <a:srcRect l="4622" r="2068"/>
          <a:stretch/>
        </p:blipFill>
        <p:spPr>
          <a:xfrm>
            <a:off x="1301750" y="1844675"/>
            <a:ext cx="4506913" cy="4449763"/>
          </a:xfrm>
          <a:prstGeom prst="rect">
            <a:avLst/>
          </a:prstGeom>
        </p:spPr>
      </p:pic>
      <p:pic>
        <p:nvPicPr>
          <p:cNvPr id="7" name="Picture 6" descr="Timeline&#10;&#10;Description automatically generated">
            <a:extLst>
              <a:ext uri="{FF2B5EF4-FFF2-40B4-BE49-F238E27FC236}">
                <a16:creationId xmlns:a16="http://schemas.microsoft.com/office/drawing/2014/main" id="{14B8108A-1659-43EF-8476-78CC30B1C169}"/>
              </a:ext>
            </a:extLst>
          </p:cNvPr>
          <p:cNvPicPr>
            <a:picLocks noChangeAspect="1"/>
          </p:cNvPicPr>
          <p:nvPr/>
        </p:nvPicPr>
        <p:blipFill>
          <a:blip r:embed="rId3"/>
          <a:stretch>
            <a:fillRect/>
          </a:stretch>
        </p:blipFill>
        <p:spPr>
          <a:xfrm>
            <a:off x="5872163" y="1844675"/>
            <a:ext cx="5013325" cy="4449763"/>
          </a:xfrm>
          <a:prstGeom prst="rect">
            <a:avLst/>
          </a:prstGeom>
        </p:spPr>
      </p:pic>
      <p:sp>
        <p:nvSpPr>
          <p:cNvPr id="2" name="Title 1">
            <a:extLst>
              <a:ext uri="{FF2B5EF4-FFF2-40B4-BE49-F238E27FC236}">
                <a16:creationId xmlns:a16="http://schemas.microsoft.com/office/drawing/2014/main" id="{4F074B8B-9DC0-49EE-BE68-4EF180D6D3EE}"/>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kern="1200">
                <a:solidFill>
                  <a:schemeClr val="tx1"/>
                </a:solidFill>
                <a:latin typeface="+mj-lt"/>
                <a:ea typeface="+mj-ea"/>
                <a:cs typeface="+mj-cs"/>
              </a:rPr>
              <a:t>Spectrophotometric method</a:t>
            </a:r>
          </a:p>
        </p:txBody>
      </p:sp>
    </p:spTree>
    <p:extLst>
      <p:ext uri="{BB962C8B-B14F-4D97-AF65-F5344CB8AC3E}">
        <p14:creationId xmlns:p14="http://schemas.microsoft.com/office/powerpoint/2010/main" val="2703705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49DA8B-57F0-4EDA-A40B-6AEC5737A008}"/>
              </a:ext>
            </a:extLst>
          </p:cNvPr>
          <p:cNvSpPr>
            <a:spLocks noGrp="1"/>
          </p:cNvSpPr>
          <p:nvPr>
            <p:ph type="title"/>
          </p:nvPr>
        </p:nvSpPr>
        <p:spPr>
          <a:xfrm>
            <a:off x="589560" y="856180"/>
            <a:ext cx="4560584" cy="1128068"/>
          </a:xfrm>
        </p:spPr>
        <p:txBody>
          <a:bodyPr anchor="ctr">
            <a:normAutofit/>
          </a:bodyPr>
          <a:lstStyle/>
          <a:p>
            <a:r>
              <a:rPr lang="en-US" sz="3700"/>
              <a:t>Sulphur dioxide: UV fluorescens</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D5B2858-CAC3-47DF-8800-8BA994D66871}"/>
              </a:ext>
            </a:extLst>
          </p:cNvPr>
          <p:cNvSpPr>
            <a:spLocks noGrp="1"/>
          </p:cNvSpPr>
          <p:nvPr>
            <p:ph idx="1"/>
          </p:nvPr>
        </p:nvSpPr>
        <p:spPr>
          <a:xfrm>
            <a:off x="590719" y="2330505"/>
            <a:ext cx="4559425" cy="3979585"/>
          </a:xfrm>
        </p:spPr>
        <p:txBody>
          <a:bodyPr anchor="ctr">
            <a:normAutofit/>
          </a:bodyPr>
          <a:lstStyle/>
          <a:p>
            <a:pPr fontAlgn="base"/>
            <a:r>
              <a:rPr lang="en-US" sz="2000" b="0" i="0">
                <a:effectLst/>
                <a:latin typeface="museo-sans"/>
              </a:rPr>
              <a:t>Sulphur dioxide is usually measured automatically, by a continuous analyser that uses ultra-violet fluorescence. The concentration of sulphur dioxide is calculated by measuring the fluorescent radiation energy produced when the sulphur dioxide molecules are bombarded by UV radiation inside the analyser.</a:t>
            </a:r>
          </a:p>
          <a:p>
            <a:pPr fontAlgn="base"/>
            <a:r>
              <a:rPr lang="en-US" sz="2000" b="0" i="0">
                <a:effectLst/>
                <a:latin typeface="museo-sans"/>
              </a:rPr>
              <a:t>This then provides a concentration in air, usually expressed in parts per billion (ppb) or micrograms per cubic metre (µg m-3).</a:t>
            </a:r>
          </a:p>
          <a:p>
            <a:endParaRPr lang="en-US" sz="20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88F39C9-4959-4F44-B56A-7ED7A106699C}"/>
              </a:ext>
            </a:extLst>
          </p:cNvPr>
          <p:cNvPicPr>
            <a:picLocks noChangeAspect="1"/>
          </p:cNvPicPr>
          <p:nvPr/>
        </p:nvPicPr>
        <p:blipFill rotWithShape="1">
          <a:blip r:embed="rId2"/>
          <a:srcRect l="13283" r="9350" b="2"/>
          <a:stretch/>
        </p:blipFill>
        <p:spPr>
          <a:xfrm>
            <a:off x="5977788" y="799352"/>
            <a:ext cx="5425410" cy="5259296"/>
          </a:xfrm>
          <a:prstGeom prst="rect">
            <a:avLst/>
          </a:prstGeom>
        </p:spPr>
      </p:pic>
    </p:spTree>
    <p:extLst>
      <p:ext uri="{BB962C8B-B14F-4D97-AF65-F5344CB8AC3E}">
        <p14:creationId xmlns:p14="http://schemas.microsoft.com/office/powerpoint/2010/main" val="969289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99B346-71E7-4570-9585-DC67254ACAFD}"/>
              </a:ext>
            </a:extLst>
          </p:cNvPr>
          <p:cNvPicPr>
            <a:picLocks noChangeAspect="1"/>
          </p:cNvPicPr>
          <p:nvPr/>
        </p:nvPicPr>
        <p:blipFill>
          <a:blip r:embed="rId2"/>
          <a:stretch>
            <a:fillRect/>
          </a:stretch>
        </p:blipFill>
        <p:spPr>
          <a:xfrm>
            <a:off x="1568903" y="499383"/>
            <a:ext cx="9054193" cy="5392836"/>
          </a:xfrm>
          <a:prstGeom prst="rect">
            <a:avLst/>
          </a:prstGeom>
        </p:spPr>
      </p:pic>
    </p:spTree>
    <p:extLst>
      <p:ext uri="{BB962C8B-B14F-4D97-AF65-F5344CB8AC3E}">
        <p14:creationId xmlns:p14="http://schemas.microsoft.com/office/powerpoint/2010/main" val="1829437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A69E6DE27C9AC43BCBB525DB9C8DBF0" ma:contentTypeVersion="4" ma:contentTypeDescription="Create a new document." ma:contentTypeScope="" ma:versionID="e2c02323e539b1cfdf710af1c53f10d1">
  <xsd:schema xmlns:xsd="http://www.w3.org/2001/XMLSchema" xmlns:xs="http://www.w3.org/2001/XMLSchema" xmlns:p="http://schemas.microsoft.com/office/2006/metadata/properties" xmlns:ns2="66a9b643-f79d-4ba3-b58a-2659a2e5ff7d" xmlns:ns3="b9da394a-a0ef-4c9f-ad39-60e4b8cd0745" targetNamespace="http://schemas.microsoft.com/office/2006/metadata/properties" ma:root="true" ma:fieldsID="c0d3ff0aa76ae77f8be6e6a85fcdbf01" ns2:_="" ns3:_="">
    <xsd:import namespace="66a9b643-f79d-4ba3-b58a-2659a2e5ff7d"/>
    <xsd:import namespace="b9da394a-a0ef-4c9f-ad39-60e4b8cd074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a9b643-f79d-4ba3-b58a-2659a2e5ff7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9da394a-a0ef-4c9f-ad39-60e4b8cd074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AD6B53-8CDB-4BF8-9E60-06FBE4816C8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6DAFBF9-9B19-4517-91CF-C71ACE1985CC}">
  <ds:schemaRefs>
    <ds:schemaRef ds:uri="http://schemas.microsoft.com/sharepoint/v3/contenttype/forms"/>
  </ds:schemaRefs>
</ds:datastoreItem>
</file>

<file path=customXml/itemProps3.xml><?xml version="1.0" encoding="utf-8"?>
<ds:datastoreItem xmlns:ds="http://schemas.openxmlformats.org/officeDocument/2006/customXml" ds:itemID="{7F3B337C-57AA-4EC7-B9A7-DB8EFB92B0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a9b643-f79d-4ba3-b58a-2659a2e5ff7d"/>
    <ds:schemaRef ds:uri="b9da394a-a0ef-4c9f-ad39-60e4b8cd07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125</TotalTime>
  <Words>772</Words>
  <Application>Microsoft Office PowerPoint</Application>
  <PresentationFormat>Widescreen</PresentationFormat>
  <Paragraphs>43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Sampling and measurement of Air Quality</vt:lpstr>
      <vt:lpstr>Measurements of air quality </vt:lpstr>
      <vt:lpstr>Air Sampling Techniques</vt:lpstr>
      <vt:lpstr>Air Sampling Systems</vt:lpstr>
      <vt:lpstr>Air Sampling Procedures</vt:lpstr>
      <vt:lpstr>Reference Methods</vt:lpstr>
      <vt:lpstr>Particulates – Hi Vol Sampler</vt:lpstr>
      <vt:lpstr>PowerPoint Presentation</vt:lpstr>
      <vt:lpstr>PowerPoint Presentation</vt:lpstr>
      <vt:lpstr>Oxides of Nitrogen: Chemiluminescence</vt:lpstr>
      <vt:lpstr>Spectrophotometric method</vt:lpstr>
      <vt:lpstr>Sulphur dioxide: UV fluorescens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Sampling and measurement of Air Quality</dc:title>
  <dc:creator>Dr. Sukalyan Chakraborty</dc:creator>
  <cp:lastModifiedBy>Dr. Sukalyan Chakraborty</cp:lastModifiedBy>
  <cp:revision>15</cp:revision>
  <dcterms:created xsi:type="dcterms:W3CDTF">2021-02-10T06:59:04Z</dcterms:created>
  <dcterms:modified xsi:type="dcterms:W3CDTF">2022-02-26T09:57:52Z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0x0101006A69E6DE27C9AC43BCBB525DB9C8DBF0</vt:lpwstr>
  </property>
</Properties>
</file>