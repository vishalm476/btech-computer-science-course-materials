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TONU ROY CHOWDHURY(BTECH10001.21@bitmesra.ac.in)" userId="S::btech10001.21@bitmesra.ac.in::e40d9c6b-7fa9-4da9-8db8-5daea53c2e47" providerId="AD" clId="Web-{73445267-5140-49C1-8C2D-81D5B6414567}"/>
    <pc:docChg chg="modSld">
      <pc:chgData name="DEBTONU ROY CHOWDHURY(BTECH10001.21@bitmesra.ac.in)" userId="S::btech10001.21@bitmesra.ac.in::e40d9c6b-7fa9-4da9-8db8-5daea53c2e47" providerId="AD" clId="Web-{73445267-5140-49C1-8C2D-81D5B6414567}" dt="2022-03-14T13:09:34.230" v="1" actId="1076"/>
      <pc:docMkLst>
        <pc:docMk/>
      </pc:docMkLst>
      <pc:sldChg chg="modSp">
        <pc:chgData name="DEBTONU ROY CHOWDHURY(BTECH10001.21@bitmesra.ac.in)" userId="S::btech10001.21@bitmesra.ac.in::e40d9c6b-7fa9-4da9-8db8-5daea53c2e47" providerId="AD" clId="Web-{73445267-5140-49C1-8C2D-81D5B6414567}" dt="2022-03-14T13:09:34.230" v="1" actId="1076"/>
        <pc:sldMkLst>
          <pc:docMk/>
          <pc:sldMk cId="2310331391" sldId="258"/>
        </pc:sldMkLst>
        <pc:graphicFrameChg chg="mod">
          <ac:chgData name="DEBTONU ROY CHOWDHURY(BTECH10001.21@bitmesra.ac.in)" userId="S::btech10001.21@bitmesra.ac.in::e40d9c6b-7fa9-4da9-8db8-5daea53c2e47" providerId="AD" clId="Web-{73445267-5140-49C1-8C2D-81D5B6414567}" dt="2022-03-14T13:09:34.230" v="1" actId="1076"/>
          <ac:graphicFrameMkLst>
            <pc:docMk/>
            <pc:sldMk cId="2310331391" sldId="258"/>
            <ac:graphicFrameMk id="30" creationId="{E60B2E49-C2B0-4D5F-ADDC-E10FE626504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E0C38B-1F5A-4434-924B-B7174CC891F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EF43D4-3559-4ABA-A7C5-4611214D2DC4}">
      <dgm:prSet/>
      <dgm:spPr/>
      <dgm:t>
        <a:bodyPr/>
        <a:lstStyle/>
        <a:p>
          <a:r>
            <a:rPr lang="en-US"/>
            <a:t>To get a comprehensive picture of overall quality of groundwater, the WQI is used. </a:t>
          </a:r>
        </a:p>
      </dgm:t>
    </dgm:pt>
    <dgm:pt modelId="{2D3ECCF9-A164-42D9-89B1-DF4D3634094E}" type="parTrans" cxnId="{79C818A0-3B35-4336-887E-9B20C4AE2FAE}">
      <dgm:prSet/>
      <dgm:spPr/>
      <dgm:t>
        <a:bodyPr/>
        <a:lstStyle/>
        <a:p>
          <a:endParaRPr lang="en-US"/>
        </a:p>
      </dgm:t>
    </dgm:pt>
    <dgm:pt modelId="{3146FB9B-62B2-4F9D-8AE9-19FC15FB1FFF}" type="sibTrans" cxnId="{79C818A0-3B35-4336-887E-9B20C4AE2FAE}">
      <dgm:prSet/>
      <dgm:spPr/>
      <dgm:t>
        <a:bodyPr/>
        <a:lstStyle/>
        <a:p>
          <a:endParaRPr lang="en-US"/>
        </a:p>
      </dgm:t>
    </dgm:pt>
    <dgm:pt modelId="{94913EE7-EFB8-49D3-A894-3E2A4A00285A}">
      <dgm:prSet/>
      <dgm:spPr/>
      <dgm:t>
        <a:bodyPr/>
        <a:lstStyle/>
        <a:p>
          <a:r>
            <a:rPr lang="en-US"/>
            <a:t>WQI is defined as a rating reflecting the composite influence of different water quality parameters on the overall quality of water. </a:t>
          </a:r>
        </a:p>
      </dgm:t>
    </dgm:pt>
    <dgm:pt modelId="{65E8EC19-7AC9-43CF-9C18-343EB8C91F3C}" type="parTrans" cxnId="{D8BBE170-3AB2-44F1-93D1-5C874824C59D}">
      <dgm:prSet/>
      <dgm:spPr/>
      <dgm:t>
        <a:bodyPr/>
        <a:lstStyle/>
        <a:p>
          <a:endParaRPr lang="en-US"/>
        </a:p>
      </dgm:t>
    </dgm:pt>
    <dgm:pt modelId="{130C64D4-9065-4536-AA40-6BAE749B2ECC}" type="sibTrans" cxnId="{D8BBE170-3AB2-44F1-93D1-5C874824C59D}">
      <dgm:prSet/>
      <dgm:spPr/>
      <dgm:t>
        <a:bodyPr/>
        <a:lstStyle/>
        <a:p>
          <a:endParaRPr lang="en-US"/>
        </a:p>
      </dgm:t>
    </dgm:pt>
    <dgm:pt modelId="{7FE7F79F-7A57-464D-87BE-C7DEF7B05447}">
      <dgm:prSet/>
      <dgm:spPr/>
      <dgm:t>
        <a:bodyPr/>
        <a:lstStyle/>
        <a:p>
          <a:r>
            <a:rPr lang="en-US"/>
            <a:t>The Indian standard specified for drinking water (BIS, 1991) is used for the calculation of WQI. </a:t>
          </a:r>
        </a:p>
      </dgm:t>
    </dgm:pt>
    <dgm:pt modelId="{E39047A2-78CB-48E1-B166-697C97F8EB8A}" type="parTrans" cxnId="{AFC662BF-3403-4262-9F2B-17B49CA2DAD4}">
      <dgm:prSet/>
      <dgm:spPr/>
      <dgm:t>
        <a:bodyPr/>
        <a:lstStyle/>
        <a:p>
          <a:endParaRPr lang="en-US"/>
        </a:p>
      </dgm:t>
    </dgm:pt>
    <dgm:pt modelId="{634F1384-9B01-4321-95B1-170FF08706AD}" type="sibTrans" cxnId="{AFC662BF-3403-4262-9F2B-17B49CA2DAD4}">
      <dgm:prSet/>
      <dgm:spPr/>
      <dgm:t>
        <a:bodyPr/>
        <a:lstStyle/>
        <a:p>
          <a:endParaRPr lang="en-US"/>
        </a:p>
      </dgm:t>
    </dgm:pt>
    <dgm:pt modelId="{C7EE2F0B-CA43-4BDE-9779-C3226275A6D2}" type="pres">
      <dgm:prSet presAssocID="{DAE0C38B-1F5A-4434-924B-B7174CC891FD}" presName="linear" presStyleCnt="0">
        <dgm:presLayoutVars>
          <dgm:animLvl val="lvl"/>
          <dgm:resizeHandles val="exact"/>
        </dgm:presLayoutVars>
      </dgm:prSet>
      <dgm:spPr/>
    </dgm:pt>
    <dgm:pt modelId="{9800A562-C298-4458-9C84-A47C844CC513}" type="pres">
      <dgm:prSet presAssocID="{75EF43D4-3559-4ABA-A7C5-4611214D2D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7F5306-7C4C-4400-909D-2D3EECFFBFF1}" type="pres">
      <dgm:prSet presAssocID="{3146FB9B-62B2-4F9D-8AE9-19FC15FB1FFF}" presName="spacer" presStyleCnt="0"/>
      <dgm:spPr/>
    </dgm:pt>
    <dgm:pt modelId="{CC3C81BC-01AF-49AD-B6F3-6A9F3B437408}" type="pres">
      <dgm:prSet presAssocID="{94913EE7-EFB8-49D3-A894-3E2A4A00285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45B6CC-CC33-4568-A1A1-B215B7E88A0B}" type="pres">
      <dgm:prSet presAssocID="{130C64D4-9065-4536-AA40-6BAE749B2ECC}" presName="spacer" presStyleCnt="0"/>
      <dgm:spPr/>
    </dgm:pt>
    <dgm:pt modelId="{2F7EF2B8-8D1E-4458-9E8A-8672B8895CB9}" type="pres">
      <dgm:prSet presAssocID="{7FE7F79F-7A57-464D-87BE-C7DEF7B054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0EEF46-475A-43D5-BDBD-F0B97FA720E6}" type="presOf" srcId="{94913EE7-EFB8-49D3-A894-3E2A4A00285A}" destId="{CC3C81BC-01AF-49AD-B6F3-6A9F3B437408}" srcOrd="0" destOrd="0" presId="urn:microsoft.com/office/officeart/2005/8/layout/vList2"/>
    <dgm:cxn modelId="{D8BBE170-3AB2-44F1-93D1-5C874824C59D}" srcId="{DAE0C38B-1F5A-4434-924B-B7174CC891FD}" destId="{94913EE7-EFB8-49D3-A894-3E2A4A00285A}" srcOrd="1" destOrd="0" parTransId="{65E8EC19-7AC9-43CF-9C18-343EB8C91F3C}" sibTransId="{130C64D4-9065-4536-AA40-6BAE749B2ECC}"/>
    <dgm:cxn modelId="{DE0B7674-B299-4FDF-9E3F-44E410F268E7}" type="presOf" srcId="{75EF43D4-3559-4ABA-A7C5-4611214D2DC4}" destId="{9800A562-C298-4458-9C84-A47C844CC513}" srcOrd="0" destOrd="0" presId="urn:microsoft.com/office/officeart/2005/8/layout/vList2"/>
    <dgm:cxn modelId="{79C818A0-3B35-4336-887E-9B20C4AE2FAE}" srcId="{DAE0C38B-1F5A-4434-924B-B7174CC891FD}" destId="{75EF43D4-3559-4ABA-A7C5-4611214D2DC4}" srcOrd="0" destOrd="0" parTransId="{2D3ECCF9-A164-42D9-89B1-DF4D3634094E}" sibTransId="{3146FB9B-62B2-4F9D-8AE9-19FC15FB1FFF}"/>
    <dgm:cxn modelId="{AFC662BF-3403-4262-9F2B-17B49CA2DAD4}" srcId="{DAE0C38B-1F5A-4434-924B-B7174CC891FD}" destId="{7FE7F79F-7A57-464D-87BE-C7DEF7B05447}" srcOrd="2" destOrd="0" parTransId="{E39047A2-78CB-48E1-B166-697C97F8EB8A}" sibTransId="{634F1384-9B01-4321-95B1-170FF08706AD}"/>
    <dgm:cxn modelId="{6179CCD7-DDB4-4E47-86F0-FC90A2D985CA}" type="presOf" srcId="{7FE7F79F-7A57-464D-87BE-C7DEF7B05447}" destId="{2F7EF2B8-8D1E-4458-9E8A-8672B8895CB9}" srcOrd="0" destOrd="0" presId="urn:microsoft.com/office/officeart/2005/8/layout/vList2"/>
    <dgm:cxn modelId="{3D568EE0-FFDC-4D1A-8484-B5C878874087}" type="presOf" srcId="{DAE0C38B-1F5A-4434-924B-B7174CC891FD}" destId="{C7EE2F0B-CA43-4BDE-9779-C3226275A6D2}" srcOrd="0" destOrd="0" presId="urn:microsoft.com/office/officeart/2005/8/layout/vList2"/>
    <dgm:cxn modelId="{19040FCF-6048-4520-A476-6DF66E6FC8F3}" type="presParOf" srcId="{C7EE2F0B-CA43-4BDE-9779-C3226275A6D2}" destId="{9800A562-C298-4458-9C84-A47C844CC513}" srcOrd="0" destOrd="0" presId="urn:microsoft.com/office/officeart/2005/8/layout/vList2"/>
    <dgm:cxn modelId="{F26E387B-7E0B-4FDB-BC2F-78FA1B670569}" type="presParOf" srcId="{C7EE2F0B-CA43-4BDE-9779-C3226275A6D2}" destId="{3D7F5306-7C4C-4400-909D-2D3EECFFBFF1}" srcOrd="1" destOrd="0" presId="urn:microsoft.com/office/officeart/2005/8/layout/vList2"/>
    <dgm:cxn modelId="{3F653D1F-6088-41F0-8A1A-25427A7124CA}" type="presParOf" srcId="{C7EE2F0B-CA43-4BDE-9779-C3226275A6D2}" destId="{CC3C81BC-01AF-49AD-B6F3-6A9F3B437408}" srcOrd="2" destOrd="0" presId="urn:microsoft.com/office/officeart/2005/8/layout/vList2"/>
    <dgm:cxn modelId="{DB7D115A-BE5D-4C47-AB4D-11426DA1A9B7}" type="presParOf" srcId="{C7EE2F0B-CA43-4BDE-9779-C3226275A6D2}" destId="{2545B6CC-CC33-4568-A1A1-B215B7E88A0B}" srcOrd="3" destOrd="0" presId="urn:microsoft.com/office/officeart/2005/8/layout/vList2"/>
    <dgm:cxn modelId="{A976FD07-1043-4C55-B0C1-298BB1890C16}" type="presParOf" srcId="{C7EE2F0B-CA43-4BDE-9779-C3226275A6D2}" destId="{2F7EF2B8-8D1E-4458-9E8A-8672B8895CB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0A562-C298-4458-9C84-A47C844CC513}">
      <dsp:nvSpPr>
        <dsp:cNvPr id="0" name=""/>
        <dsp:cNvSpPr/>
      </dsp:nvSpPr>
      <dsp:spPr>
        <a:xfrm>
          <a:off x="0" y="493469"/>
          <a:ext cx="5962720" cy="12866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 get a comprehensive picture of overall quality of groundwater, the WQI is used. </a:t>
          </a:r>
        </a:p>
      </dsp:txBody>
      <dsp:txXfrm>
        <a:off x="62808" y="556277"/>
        <a:ext cx="5837104" cy="1161018"/>
      </dsp:txXfrm>
    </dsp:sp>
    <dsp:sp modelId="{CC3C81BC-01AF-49AD-B6F3-6A9F3B437408}">
      <dsp:nvSpPr>
        <dsp:cNvPr id="0" name=""/>
        <dsp:cNvSpPr/>
      </dsp:nvSpPr>
      <dsp:spPr>
        <a:xfrm>
          <a:off x="0" y="1846343"/>
          <a:ext cx="5962720" cy="1286634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WQI is defined as a rating reflecting the composite influence of different water quality parameters on the overall quality of water. </a:t>
          </a:r>
        </a:p>
      </dsp:txBody>
      <dsp:txXfrm>
        <a:off x="62808" y="1909151"/>
        <a:ext cx="5837104" cy="1161018"/>
      </dsp:txXfrm>
    </dsp:sp>
    <dsp:sp modelId="{2F7EF2B8-8D1E-4458-9E8A-8672B8895CB9}">
      <dsp:nvSpPr>
        <dsp:cNvPr id="0" name=""/>
        <dsp:cNvSpPr/>
      </dsp:nvSpPr>
      <dsp:spPr>
        <a:xfrm>
          <a:off x="0" y="3199218"/>
          <a:ext cx="5962720" cy="128663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Indian standard specified for drinking water (BIS, 1991) is used for the calculation of WQI. </a:t>
          </a:r>
        </a:p>
      </dsp:txBody>
      <dsp:txXfrm>
        <a:off x="62808" y="3262026"/>
        <a:ext cx="5837104" cy="1161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F410-50C3-4E0D-8A96-721A9C027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63086-C825-45C1-865E-3345812FB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D2894-B9CD-4943-8164-B28249B8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FA17A-557B-4A2C-BE52-AF36E3C53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858F-F21B-4B28-BB29-4E6AA159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8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EC6C-60B9-4180-B2C8-70CBBB9C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6444F-2511-4996-A029-6A872A159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F276E-37CB-42D0-ABB1-189B0B6E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54F87-6EE2-4D6F-915E-3799FB97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1F457-ADB9-4CBB-9FB8-40DA35FB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6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4C4D-0B7C-422A-BC01-079F6739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6D48B-C0A4-4875-8973-AAE7A698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95356-3EB4-4659-A659-1B99742F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E6152-EA3A-4B8B-AB37-CACF30A2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DFF4-C7B0-476C-89BA-838D4262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4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A233-8A80-41E0-8CCD-F28157FF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FA3C-FA5E-4956-A924-18D8E276A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832F4-750F-4CA3-8A7C-E0606011D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AD545-5D1E-453F-A298-DDC7CB6E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F1C83-21DC-4388-B26B-555E0F88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CFE54-0294-4A4C-8683-9FC9B099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1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F5C4-0800-472C-8CAF-96FAB1A6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9AE84-99E6-4B2A-9638-16BB90F85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778B0-AEBE-4FF1-8C29-6A4F39361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43632-2F67-4347-9278-7C220D533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51E08-C495-4526-B2E1-A9E16E56A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A401D-E34D-4FFA-9A12-7AC9FBB7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B35F9-340F-44D0-854A-0A79DC45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510DB-CF2F-4DE5-A7F3-05F2923A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5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BC6B-8996-44DB-B1B8-0C49994F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FF861-CA55-48BF-BEB1-100963C4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46886-9595-45F0-A7F4-A57284E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850A3-D937-4578-9D3C-22D660E5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4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A9C236-19C1-4424-B5F4-23F06714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87368-32D3-4886-AB54-5F534CE5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2CB0E-6995-4083-8BD6-C816792C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85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E081-3D05-42AE-B29B-B172274E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CFA0F-0CAC-454C-BCD1-E23B69771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04313-39A8-4CC8-A404-3A0BE96C3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37CC5-CE40-467B-AE59-C9A4EC98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BEC8F-103F-403C-B045-7E389C44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F478E-6F10-4574-9297-D27531C4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0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70E9-A0F8-4FB2-8807-4924B54A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3683D-4B39-4872-8F89-8C8F3F4BC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E0B63-95EE-437A-92E4-ABE5DC628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09-6225-4633-A4BD-BCF0BED0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45D4F-3C3C-4C60-879E-DFF75A2C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72FD3-D170-4B0E-9242-93AA40D3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3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86A1-0610-451B-9FC2-BC072E10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08782-2C2C-46A5-9EE1-078CD2D78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2CCA9-4686-4534-AA72-C5A56628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0B63-31DD-4B79-9E86-BDC7FF95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2000D-B2D3-4D5F-A36E-2F13F870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0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FAE91-395D-44BB-9FDC-0EF923240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0B006-0C7C-4988-AC48-738AE1DCF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0E92B-1474-42D0-8C27-C3940277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54E0-B28D-4F6E-B5BD-D01F197D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766F4-F840-4A00-BC7F-ACA75DF6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3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E2204-4C15-42D6-8D05-71EB87D1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F8BFC-9B46-4F65-8B67-A4B3CCAAD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80C3-657B-49F6-BE5C-D654F8657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EFE1-0263-4FAE-9961-64D6BC1FE738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2570B-8175-4C12-800F-0790DA58A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F9BE6-E36D-4357-9E2B-78E76A858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4E14-C2B2-4339-879E-D597BE795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8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89ED-36DE-438F-BE06-090EEAA35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Water quality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06F18-ABCF-466A-B395-4EFF7A5389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8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8">
            <a:extLst>
              <a:ext uri="{FF2B5EF4-FFF2-40B4-BE49-F238E27FC236}">
                <a16:creationId xmlns:a16="http://schemas.microsoft.com/office/drawing/2014/main" id="{7DD77B92-CB36-4B20-A59A-59625E0F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D17B5-E2DF-4F22-B662-1D6A096A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What is Water Quality index?</a:t>
            </a:r>
          </a:p>
        </p:txBody>
      </p:sp>
      <p:grpSp>
        <p:nvGrpSpPr>
          <p:cNvPr id="27" name="Group 1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E60B2E49-C2B0-4D5F-ADDC-E10FE6265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637153"/>
              </p:ext>
            </p:extLst>
          </p:nvPr>
        </p:nvGraphicFramePr>
        <p:xfrm>
          <a:off x="5407705" y="1014154"/>
          <a:ext cx="5962720" cy="4979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033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CA5C1-0504-490C-99E8-4202FEFCF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0" i="0" dirty="0">
                <a:effectLst/>
                <a:latin typeface="Georgia" panose="02040502050405020303" pitchFamily="18" charset="0"/>
              </a:rPr>
              <a:t>Water Quality Index (WQI) is considered as the most effective method of measuring water quality. A number of water quality parameters are included in a mathematical equation to rate water quality, determining the suitability of water for drinking</a:t>
            </a:r>
          </a:p>
          <a:p>
            <a:pPr algn="just"/>
            <a:endParaRPr lang="en-US" sz="2000" dirty="0">
              <a:latin typeface="Georgia" panose="02040502050405020303" pitchFamily="18" charset="0"/>
            </a:endParaRPr>
          </a:p>
          <a:p>
            <a:pPr algn="just"/>
            <a:r>
              <a:rPr lang="en-US" sz="2000" b="0" i="0" dirty="0">
                <a:effectLst/>
                <a:latin typeface="Georgia" panose="02040502050405020303" pitchFamily="18" charset="0"/>
              </a:rPr>
              <a:t>The index was first developed by Horton in 1965 to measure water quality by using 10 most regularly used water parameters. </a:t>
            </a:r>
          </a:p>
          <a:p>
            <a:pPr algn="just"/>
            <a:r>
              <a:rPr lang="en-US" sz="2000" b="0" i="0" dirty="0">
                <a:effectLst/>
                <a:latin typeface="Georgia" panose="02040502050405020303" pitchFamily="18" charset="0"/>
              </a:rPr>
              <a:t>The method was subsequently modified by different experts. These indices used water quality parameters which vary by number and types. </a:t>
            </a:r>
          </a:p>
          <a:p>
            <a:pPr algn="just"/>
            <a:r>
              <a:rPr lang="en-US" sz="2000" b="0" i="0" dirty="0">
                <a:effectLst/>
                <a:latin typeface="Georgia" panose="02040502050405020303" pitchFamily="18" charset="0"/>
              </a:rPr>
              <a:t>The weights in each parameter are based on its respective standards, and the assigned weight indicates the parameter’s significance and impacts on the index.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926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8964C-D349-474D-89C0-EB739FE8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4000"/>
              <a:t>Calculation</a:t>
            </a:r>
          </a:p>
        </p:txBody>
      </p:sp>
      <p:pic>
        <p:nvPicPr>
          <p:cNvPr id="7" name="Graphic 6" descr="Parameter">
            <a:extLst>
              <a:ext uri="{FF2B5EF4-FFF2-40B4-BE49-F238E27FC236}">
                <a16:creationId xmlns:a16="http://schemas.microsoft.com/office/drawing/2014/main" id="{006E2F50-89EC-457A-88FA-94C70B98B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8D61-FB70-4FE5-9981-6C6DBCD50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US" sz="2000" b="0" i="0">
                <a:effectLst/>
                <a:latin typeface="Georgia" panose="02040502050405020303" pitchFamily="18" charset="0"/>
              </a:rPr>
              <a:t>A usual WQI method follows three steps which include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(1) selection of parameters,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(2) determination of quality function for each parameter, and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(3) aggregation through mathematical equation </a:t>
            </a:r>
          </a:p>
          <a:p>
            <a:pPr marL="0" indent="0">
              <a:buNone/>
            </a:pPr>
            <a:endParaRPr lang="en-US" sz="200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The index provides a single number that represents overall water quality at a certain location and time based on some water parameters.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The index enables comparison between different sampling sites.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Georgia" panose="02040502050405020303" pitchFamily="18" charset="0"/>
              </a:rPr>
              <a:t>The single-value output of this index, derived from several parameters, provides important information about water quality that is easily interpretable, even by lay people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085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C269-B9BD-4871-8E40-65B0E591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733" y="643466"/>
            <a:ext cx="545253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D8C528-61D7-498A-B477-509CA7436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21" y="643466"/>
            <a:ext cx="1029615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62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CD2AD8-529D-487E-B635-7465DBBD812B}"/>
              </a:ext>
            </a:extLst>
          </p:cNvPr>
          <p:cNvGrpSpPr/>
          <p:nvPr/>
        </p:nvGrpSpPr>
        <p:grpSpPr>
          <a:xfrm>
            <a:off x="800425" y="643467"/>
            <a:ext cx="10591149" cy="5995014"/>
            <a:chOff x="800425" y="643467"/>
            <a:chExt cx="10591149" cy="59950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F7C834-3FF1-43A6-B316-D72941E61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425" y="643467"/>
              <a:ext cx="10591149" cy="489373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0C9806-8C81-4FE3-9E38-7FFD3A982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0425" y="5537201"/>
              <a:ext cx="10451775" cy="1101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285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1E2515-A616-4EF9-BA10-B931690DC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22"/>
          <a:stretch/>
        </p:blipFill>
        <p:spPr>
          <a:xfrm>
            <a:off x="1957953" y="1485900"/>
            <a:ext cx="8276093" cy="47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8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31F099-C419-436E-8C03-5D60283D8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38"/>
          <a:stretch/>
        </p:blipFill>
        <p:spPr>
          <a:xfrm>
            <a:off x="685800" y="876300"/>
            <a:ext cx="10820400" cy="20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9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69E6DE27C9AC43BCBB525DB9C8DBF0" ma:contentTypeVersion="4" ma:contentTypeDescription="Create a new document." ma:contentTypeScope="" ma:versionID="e2c02323e539b1cfdf710af1c53f10d1">
  <xsd:schema xmlns:xsd="http://www.w3.org/2001/XMLSchema" xmlns:xs="http://www.w3.org/2001/XMLSchema" xmlns:p="http://schemas.microsoft.com/office/2006/metadata/properties" xmlns:ns2="66a9b643-f79d-4ba3-b58a-2659a2e5ff7d" xmlns:ns3="b9da394a-a0ef-4c9f-ad39-60e4b8cd0745" targetNamespace="http://schemas.microsoft.com/office/2006/metadata/properties" ma:root="true" ma:fieldsID="c0d3ff0aa76ae77f8be6e6a85fcdbf01" ns2:_="" ns3:_="">
    <xsd:import namespace="66a9b643-f79d-4ba3-b58a-2659a2e5ff7d"/>
    <xsd:import namespace="b9da394a-a0ef-4c9f-ad39-60e4b8cd07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a9b643-f79d-4ba3-b58a-2659a2e5ff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a394a-a0ef-4c9f-ad39-60e4b8cd07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4424-811D-48E9-8021-8ABF3A584A7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AA20E99-7CE7-4FE0-A876-DA78C77BDC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DA0585-5A32-42D3-A257-3C34C246F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a9b643-f79d-4ba3-b58a-2659a2e5ff7d"/>
    <ds:schemaRef ds:uri="b9da394a-a0ef-4c9f-ad39-60e4b8cd07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274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Water quality index</vt:lpstr>
      <vt:lpstr>What is Water Quality index?</vt:lpstr>
      <vt:lpstr>PowerPoint Presentation</vt:lpstr>
      <vt:lpstr>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Sukalyan Chakraborty</dc:creator>
  <cp:lastModifiedBy>Dr. Sukalyan Chakraborty</cp:lastModifiedBy>
  <cp:revision>6</cp:revision>
  <dcterms:created xsi:type="dcterms:W3CDTF">2021-03-18T06:56:38Z</dcterms:created>
  <dcterms:modified xsi:type="dcterms:W3CDTF">2022-03-14T13:09:41Z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0x0101006A69E6DE27C9AC43BCBB525DB9C8DBF0</vt:lpwstr>
  </property>
</Properties>
</file>