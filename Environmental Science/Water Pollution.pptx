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362" r:id="rId6"/>
    <p:sldId id="366" r:id="rId7"/>
    <p:sldId id="363" r:id="rId8"/>
    <p:sldId id="364" r:id="rId9"/>
    <p:sldId id="365" r:id="rId10"/>
    <p:sldId id="367" r:id="rId11"/>
    <p:sldId id="368" r:id="rId12"/>
    <p:sldId id="369" r:id="rId13"/>
    <p:sldId id="357" r:id="rId14"/>
    <p:sldId id="358" r:id="rId15"/>
    <p:sldId id="359" r:id="rId16"/>
    <p:sldId id="360" r:id="rId17"/>
    <p:sldId id="370" r:id="rId18"/>
    <p:sldId id="36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59A42B-2BA9-45A1-90AD-3F37DFE7F154}" v="1" dt="2022-03-15T13:10:58.202"/>
    <p1510:client id="{3CFB26A7-15FF-D1A5-B451-D0FD7EDA5DF7}" v="5" dt="2022-03-15T13:09:33.787"/>
    <p1510:client id="{A00A186D-F38F-46F6-B3CB-B7B0CF2EAE66}" v="4" dt="2020-10-30T11:40:06.676"/>
    <p1510:client id="{E147CAD6-9C15-4463-AFA5-8F98FDAE4217}" v="1" dt="2022-03-15T12:57:39.6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1" d="100"/>
          <a:sy n="81" d="100"/>
        </p:scale>
        <p:origin x="120" y="6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ISHALI JAIN(BTECH10111.21@bitmesra.ac.in)" userId="S::btech10111.21@bitmesra.ac.in::cbe2e131-f67f-4b99-9b67-f2c3df60357b" providerId="AD" clId="Web-{E147CAD6-9C15-4463-AFA5-8F98FDAE4217}"/>
    <pc:docChg chg="modSld">
      <pc:chgData name="VAISHALI JAIN(BTECH10111.21@bitmesra.ac.in)" userId="S::btech10111.21@bitmesra.ac.in::cbe2e131-f67f-4b99-9b67-f2c3df60357b" providerId="AD" clId="Web-{E147CAD6-9C15-4463-AFA5-8F98FDAE4217}" dt="2022-03-15T12:57:39.636" v="0"/>
      <pc:docMkLst>
        <pc:docMk/>
      </pc:docMkLst>
      <pc:sldChg chg="addSp">
        <pc:chgData name="VAISHALI JAIN(BTECH10111.21@bitmesra.ac.in)" userId="S::btech10111.21@bitmesra.ac.in::cbe2e131-f67f-4b99-9b67-f2c3df60357b" providerId="AD" clId="Web-{E147CAD6-9C15-4463-AFA5-8F98FDAE4217}" dt="2022-03-15T12:57:39.636" v="0"/>
        <pc:sldMkLst>
          <pc:docMk/>
          <pc:sldMk cId="1495710573" sldId="368"/>
        </pc:sldMkLst>
        <pc:spChg chg="add">
          <ac:chgData name="VAISHALI JAIN(BTECH10111.21@bitmesra.ac.in)" userId="S::btech10111.21@bitmesra.ac.in::cbe2e131-f67f-4b99-9b67-f2c3df60357b" providerId="AD" clId="Web-{E147CAD6-9C15-4463-AFA5-8F98FDAE4217}" dt="2022-03-15T12:57:39.636" v="0"/>
          <ac:spMkLst>
            <pc:docMk/>
            <pc:sldMk cId="1495710573" sldId="368"/>
            <ac:spMk id="2" creationId="{D8C21701-24BB-4A5F-8022-276D1799197E}"/>
          </ac:spMkLst>
        </pc:spChg>
      </pc:sldChg>
    </pc:docChg>
  </pc:docChgLst>
  <pc:docChgLst>
    <pc:chgData name="AYUSH KUMAR(BTECH10389.21@bitmesra.ac.in)" userId="S::btech10389.21@bitmesra.ac.in::dcbf3712-cb5b-4ba5-8a9e-bf9f643823ed" providerId="AD" clId="Web-{3CFB26A7-15FF-D1A5-B451-D0FD7EDA5DF7}"/>
    <pc:docChg chg="modSld">
      <pc:chgData name="AYUSH KUMAR(BTECH10389.21@bitmesra.ac.in)" userId="S::btech10389.21@bitmesra.ac.in::dcbf3712-cb5b-4ba5-8a9e-bf9f643823ed" providerId="AD" clId="Web-{3CFB26A7-15FF-D1A5-B451-D0FD7EDA5DF7}" dt="2022-03-15T13:09:32.271" v="2" actId="20577"/>
      <pc:docMkLst>
        <pc:docMk/>
      </pc:docMkLst>
      <pc:sldChg chg="addSp modSp">
        <pc:chgData name="AYUSH KUMAR(BTECH10389.21@bitmesra.ac.in)" userId="S::btech10389.21@bitmesra.ac.in::dcbf3712-cb5b-4ba5-8a9e-bf9f643823ed" providerId="AD" clId="Web-{3CFB26A7-15FF-D1A5-B451-D0FD7EDA5DF7}" dt="2022-03-15T13:09:32.271" v="2" actId="20577"/>
        <pc:sldMkLst>
          <pc:docMk/>
          <pc:sldMk cId="3171821031" sldId="256"/>
        </pc:sldMkLst>
        <pc:spChg chg="add mod">
          <ac:chgData name="AYUSH KUMAR(BTECH10389.21@bitmesra.ac.in)" userId="S::btech10389.21@bitmesra.ac.in::dcbf3712-cb5b-4ba5-8a9e-bf9f643823ed" providerId="AD" clId="Web-{3CFB26A7-15FF-D1A5-B451-D0FD7EDA5DF7}" dt="2022-03-15T13:09:32.271" v="2" actId="20577"/>
          <ac:spMkLst>
            <pc:docMk/>
            <pc:sldMk cId="3171821031" sldId="256"/>
            <ac:spMk id="4" creationId="{C90DE907-D7CC-45C3-B271-0C3C88E7E8DD}"/>
          </ac:spMkLst>
        </pc:spChg>
      </pc:sldChg>
    </pc:docChg>
  </pc:docChgLst>
  <pc:docChgLst>
    <pc:chgData name="SARANG DUTTA(BTECH10596.21@bitmesra.ac.in)" userId="S::btech10596.21@bitmesra.ac.in::8c5fe9e5-e58a-4585-8d69-3d19bbebf3d1" providerId="AD" clId="Web-{0259A42B-2BA9-45A1-90AD-3F37DFE7F154}"/>
    <pc:docChg chg="addSld">
      <pc:chgData name="SARANG DUTTA(BTECH10596.21@bitmesra.ac.in)" userId="S::btech10596.21@bitmesra.ac.in::8c5fe9e5-e58a-4585-8d69-3d19bbebf3d1" providerId="AD" clId="Web-{0259A42B-2BA9-45A1-90AD-3F37DFE7F154}" dt="2022-03-15T13:10:58.202" v="0"/>
      <pc:docMkLst>
        <pc:docMk/>
      </pc:docMkLst>
      <pc:sldChg chg="new">
        <pc:chgData name="SARANG DUTTA(BTECH10596.21@bitmesra.ac.in)" userId="S::btech10596.21@bitmesra.ac.in::8c5fe9e5-e58a-4585-8d69-3d19bbebf3d1" providerId="AD" clId="Web-{0259A42B-2BA9-45A1-90AD-3F37DFE7F154}" dt="2022-03-15T13:10:58.202" v="0"/>
        <pc:sldMkLst>
          <pc:docMk/>
          <pc:sldMk cId="1876599692" sldId="37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EDFA7-105C-4C87-B30D-3F1EE8330D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81B72DF-EFE9-4914-916D-489EF38E35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1F9A841-1EAD-4D0E-92B9-413EEB6B1973}"/>
              </a:ext>
            </a:extLst>
          </p:cNvPr>
          <p:cNvSpPr>
            <a:spLocks noGrp="1"/>
          </p:cNvSpPr>
          <p:nvPr>
            <p:ph type="dt" sz="half" idx="10"/>
          </p:nvPr>
        </p:nvSpPr>
        <p:spPr/>
        <p:txBody>
          <a:bodyPr/>
          <a:lstStyle/>
          <a:p>
            <a:fld id="{811F18A6-B3B3-4340-9390-E91E0CEF81E0}" type="datetimeFigureOut">
              <a:rPr lang="en-IN" smtClean="0"/>
              <a:t>15-03-2022</a:t>
            </a:fld>
            <a:endParaRPr lang="en-IN"/>
          </a:p>
        </p:txBody>
      </p:sp>
      <p:sp>
        <p:nvSpPr>
          <p:cNvPr id="5" name="Footer Placeholder 4">
            <a:extLst>
              <a:ext uri="{FF2B5EF4-FFF2-40B4-BE49-F238E27FC236}">
                <a16:creationId xmlns:a16="http://schemas.microsoft.com/office/drawing/2014/main" id="{010B0CFA-3EEC-44E5-8EC4-ED41A3E232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11785D-951F-4BC2-B352-12ED2C4402CF}"/>
              </a:ext>
            </a:extLst>
          </p:cNvPr>
          <p:cNvSpPr>
            <a:spLocks noGrp="1"/>
          </p:cNvSpPr>
          <p:nvPr>
            <p:ph type="sldNum" sz="quarter" idx="12"/>
          </p:nvPr>
        </p:nvSpPr>
        <p:spPr/>
        <p:txBody>
          <a:bodyPr/>
          <a:lstStyle/>
          <a:p>
            <a:fld id="{37470B83-88A1-48C8-8970-0DF89F1E8368}" type="slidenum">
              <a:rPr lang="en-IN" smtClean="0"/>
              <a:t>‹#›</a:t>
            </a:fld>
            <a:endParaRPr lang="en-IN"/>
          </a:p>
        </p:txBody>
      </p:sp>
    </p:spTree>
    <p:extLst>
      <p:ext uri="{BB962C8B-B14F-4D97-AF65-F5344CB8AC3E}">
        <p14:creationId xmlns:p14="http://schemas.microsoft.com/office/powerpoint/2010/main" val="358808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BC30C-4CC4-4D8F-9AA2-3BC9D3B28A2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633CB7-5B1B-43F0-BC33-09B532C267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D7D414-6A05-4491-9A2A-E6812F305C31}"/>
              </a:ext>
            </a:extLst>
          </p:cNvPr>
          <p:cNvSpPr>
            <a:spLocks noGrp="1"/>
          </p:cNvSpPr>
          <p:nvPr>
            <p:ph type="dt" sz="half" idx="10"/>
          </p:nvPr>
        </p:nvSpPr>
        <p:spPr/>
        <p:txBody>
          <a:bodyPr/>
          <a:lstStyle/>
          <a:p>
            <a:fld id="{811F18A6-B3B3-4340-9390-E91E0CEF81E0}" type="datetimeFigureOut">
              <a:rPr lang="en-IN" smtClean="0"/>
              <a:t>15-03-2022</a:t>
            </a:fld>
            <a:endParaRPr lang="en-IN"/>
          </a:p>
        </p:txBody>
      </p:sp>
      <p:sp>
        <p:nvSpPr>
          <p:cNvPr id="5" name="Footer Placeholder 4">
            <a:extLst>
              <a:ext uri="{FF2B5EF4-FFF2-40B4-BE49-F238E27FC236}">
                <a16:creationId xmlns:a16="http://schemas.microsoft.com/office/drawing/2014/main" id="{A9265220-3A5E-47CE-AE77-BAEFA12F1B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289C47-95D4-425D-96CF-574F35B03038}"/>
              </a:ext>
            </a:extLst>
          </p:cNvPr>
          <p:cNvSpPr>
            <a:spLocks noGrp="1"/>
          </p:cNvSpPr>
          <p:nvPr>
            <p:ph type="sldNum" sz="quarter" idx="12"/>
          </p:nvPr>
        </p:nvSpPr>
        <p:spPr/>
        <p:txBody>
          <a:bodyPr/>
          <a:lstStyle/>
          <a:p>
            <a:fld id="{37470B83-88A1-48C8-8970-0DF89F1E8368}" type="slidenum">
              <a:rPr lang="en-IN" smtClean="0"/>
              <a:t>‹#›</a:t>
            </a:fld>
            <a:endParaRPr lang="en-IN"/>
          </a:p>
        </p:txBody>
      </p:sp>
    </p:spTree>
    <p:extLst>
      <p:ext uri="{BB962C8B-B14F-4D97-AF65-F5344CB8AC3E}">
        <p14:creationId xmlns:p14="http://schemas.microsoft.com/office/powerpoint/2010/main" val="3942942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47D1A-29D1-43F3-9949-C9BD09D670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8BE15A9-8D4F-4BE6-909C-40EF6494CC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D0FF45-6FAF-43B3-A921-C72FAD2FB32D}"/>
              </a:ext>
            </a:extLst>
          </p:cNvPr>
          <p:cNvSpPr>
            <a:spLocks noGrp="1"/>
          </p:cNvSpPr>
          <p:nvPr>
            <p:ph type="dt" sz="half" idx="10"/>
          </p:nvPr>
        </p:nvSpPr>
        <p:spPr/>
        <p:txBody>
          <a:bodyPr/>
          <a:lstStyle/>
          <a:p>
            <a:fld id="{811F18A6-B3B3-4340-9390-E91E0CEF81E0}" type="datetimeFigureOut">
              <a:rPr lang="en-IN" smtClean="0"/>
              <a:t>15-03-2022</a:t>
            </a:fld>
            <a:endParaRPr lang="en-IN"/>
          </a:p>
        </p:txBody>
      </p:sp>
      <p:sp>
        <p:nvSpPr>
          <p:cNvPr id="5" name="Footer Placeholder 4">
            <a:extLst>
              <a:ext uri="{FF2B5EF4-FFF2-40B4-BE49-F238E27FC236}">
                <a16:creationId xmlns:a16="http://schemas.microsoft.com/office/drawing/2014/main" id="{4833FD98-F193-4934-9ABA-E3618632CF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880483-FCE0-4EDB-A61F-4DA2ED4A18E1}"/>
              </a:ext>
            </a:extLst>
          </p:cNvPr>
          <p:cNvSpPr>
            <a:spLocks noGrp="1"/>
          </p:cNvSpPr>
          <p:nvPr>
            <p:ph type="sldNum" sz="quarter" idx="12"/>
          </p:nvPr>
        </p:nvSpPr>
        <p:spPr/>
        <p:txBody>
          <a:bodyPr/>
          <a:lstStyle/>
          <a:p>
            <a:fld id="{37470B83-88A1-48C8-8970-0DF89F1E8368}" type="slidenum">
              <a:rPr lang="en-IN" smtClean="0"/>
              <a:t>‹#›</a:t>
            </a:fld>
            <a:endParaRPr lang="en-IN"/>
          </a:p>
        </p:txBody>
      </p:sp>
    </p:spTree>
    <p:extLst>
      <p:ext uri="{BB962C8B-B14F-4D97-AF65-F5344CB8AC3E}">
        <p14:creationId xmlns:p14="http://schemas.microsoft.com/office/powerpoint/2010/main" val="642867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F57CC-E686-4E6C-A2A3-33BD08E5C4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609ECC7-5A56-475D-98D9-C94BA7B54C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A28DEC2-7999-4AED-8E22-91A6BD02B1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80CB6B1-E62D-419B-8A3B-6E5BF73DDEB3}"/>
              </a:ext>
            </a:extLst>
          </p:cNvPr>
          <p:cNvSpPr>
            <a:spLocks noGrp="1"/>
          </p:cNvSpPr>
          <p:nvPr>
            <p:ph type="dt" sz="half" idx="10"/>
          </p:nvPr>
        </p:nvSpPr>
        <p:spPr/>
        <p:txBody>
          <a:bodyPr/>
          <a:lstStyle/>
          <a:p>
            <a:fld id="{811F18A6-B3B3-4340-9390-E91E0CEF81E0}" type="datetimeFigureOut">
              <a:rPr lang="en-IN" smtClean="0"/>
              <a:t>15-03-2022</a:t>
            </a:fld>
            <a:endParaRPr lang="en-IN"/>
          </a:p>
        </p:txBody>
      </p:sp>
      <p:sp>
        <p:nvSpPr>
          <p:cNvPr id="6" name="Footer Placeholder 5">
            <a:extLst>
              <a:ext uri="{FF2B5EF4-FFF2-40B4-BE49-F238E27FC236}">
                <a16:creationId xmlns:a16="http://schemas.microsoft.com/office/drawing/2014/main" id="{85896AAC-7D98-4871-9658-817B355E87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4013C8-A5A5-441E-811F-8B9F586F23BD}"/>
              </a:ext>
            </a:extLst>
          </p:cNvPr>
          <p:cNvSpPr>
            <a:spLocks noGrp="1"/>
          </p:cNvSpPr>
          <p:nvPr>
            <p:ph type="sldNum" sz="quarter" idx="12"/>
          </p:nvPr>
        </p:nvSpPr>
        <p:spPr/>
        <p:txBody>
          <a:bodyPr/>
          <a:lstStyle/>
          <a:p>
            <a:fld id="{37470B83-88A1-48C8-8970-0DF89F1E8368}" type="slidenum">
              <a:rPr lang="en-IN" smtClean="0"/>
              <a:t>‹#›</a:t>
            </a:fld>
            <a:endParaRPr lang="en-IN"/>
          </a:p>
        </p:txBody>
      </p:sp>
    </p:spTree>
    <p:extLst>
      <p:ext uri="{BB962C8B-B14F-4D97-AF65-F5344CB8AC3E}">
        <p14:creationId xmlns:p14="http://schemas.microsoft.com/office/powerpoint/2010/main" val="1625862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D747F-A00A-455F-959C-D296726FF3A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BD6B23-D803-4F98-B14C-0EE242BC66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484CEF-B98E-436A-859B-042821C2DB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21F2280-625F-4E65-8A17-534CFBA03A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7F5D1B-05CA-45D2-88D0-D581A5E321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17EC038-4B56-42FC-8E72-D023A5775A87}"/>
              </a:ext>
            </a:extLst>
          </p:cNvPr>
          <p:cNvSpPr>
            <a:spLocks noGrp="1"/>
          </p:cNvSpPr>
          <p:nvPr>
            <p:ph type="dt" sz="half" idx="10"/>
          </p:nvPr>
        </p:nvSpPr>
        <p:spPr/>
        <p:txBody>
          <a:bodyPr/>
          <a:lstStyle/>
          <a:p>
            <a:fld id="{811F18A6-B3B3-4340-9390-E91E0CEF81E0}" type="datetimeFigureOut">
              <a:rPr lang="en-IN" smtClean="0"/>
              <a:t>15-03-2022</a:t>
            </a:fld>
            <a:endParaRPr lang="en-IN"/>
          </a:p>
        </p:txBody>
      </p:sp>
      <p:sp>
        <p:nvSpPr>
          <p:cNvPr id="8" name="Footer Placeholder 7">
            <a:extLst>
              <a:ext uri="{FF2B5EF4-FFF2-40B4-BE49-F238E27FC236}">
                <a16:creationId xmlns:a16="http://schemas.microsoft.com/office/drawing/2014/main" id="{7E976A0A-BAC3-4FDD-B927-D220C5C51FE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4F01485-1AAF-40F3-B809-CB39B62353F2}"/>
              </a:ext>
            </a:extLst>
          </p:cNvPr>
          <p:cNvSpPr>
            <a:spLocks noGrp="1"/>
          </p:cNvSpPr>
          <p:nvPr>
            <p:ph type="sldNum" sz="quarter" idx="12"/>
          </p:nvPr>
        </p:nvSpPr>
        <p:spPr/>
        <p:txBody>
          <a:bodyPr/>
          <a:lstStyle/>
          <a:p>
            <a:fld id="{37470B83-88A1-48C8-8970-0DF89F1E8368}" type="slidenum">
              <a:rPr lang="en-IN" smtClean="0"/>
              <a:t>‹#›</a:t>
            </a:fld>
            <a:endParaRPr lang="en-IN"/>
          </a:p>
        </p:txBody>
      </p:sp>
    </p:spTree>
    <p:extLst>
      <p:ext uri="{BB962C8B-B14F-4D97-AF65-F5344CB8AC3E}">
        <p14:creationId xmlns:p14="http://schemas.microsoft.com/office/powerpoint/2010/main" val="4016151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35F54-8029-4668-8AF7-C614BBE296F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B19EC4C-194C-4D9C-BA5E-047F0FD1429F}"/>
              </a:ext>
            </a:extLst>
          </p:cNvPr>
          <p:cNvSpPr>
            <a:spLocks noGrp="1"/>
          </p:cNvSpPr>
          <p:nvPr>
            <p:ph type="dt" sz="half" idx="10"/>
          </p:nvPr>
        </p:nvSpPr>
        <p:spPr/>
        <p:txBody>
          <a:bodyPr/>
          <a:lstStyle/>
          <a:p>
            <a:fld id="{811F18A6-B3B3-4340-9390-E91E0CEF81E0}" type="datetimeFigureOut">
              <a:rPr lang="en-IN" smtClean="0"/>
              <a:t>15-03-2022</a:t>
            </a:fld>
            <a:endParaRPr lang="en-IN"/>
          </a:p>
        </p:txBody>
      </p:sp>
      <p:sp>
        <p:nvSpPr>
          <p:cNvPr id="4" name="Footer Placeholder 3">
            <a:extLst>
              <a:ext uri="{FF2B5EF4-FFF2-40B4-BE49-F238E27FC236}">
                <a16:creationId xmlns:a16="http://schemas.microsoft.com/office/drawing/2014/main" id="{465FE6CB-4694-49E5-819F-30F628B938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3A234EA-80FE-4B38-9480-33699DCB80A6}"/>
              </a:ext>
            </a:extLst>
          </p:cNvPr>
          <p:cNvSpPr>
            <a:spLocks noGrp="1"/>
          </p:cNvSpPr>
          <p:nvPr>
            <p:ph type="sldNum" sz="quarter" idx="12"/>
          </p:nvPr>
        </p:nvSpPr>
        <p:spPr/>
        <p:txBody>
          <a:bodyPr/>
          <a:lstStyle/>
          <a:p>
            <a:fld id="{37470B83-88A1-48C8-8970-0DF89F1E8368}" type="slidenum">
              <a:rPr lang="en-IN" smtClean="0"/>
              <a:t>‹#›</a:t>
            </a:fld>
            <a:endParaRPr lang="en-IN"/>
          </a:p>
        </p:txBody>
      </p:sp>
    </p:spTree>
    <p:extLst>
      <p:ext uri="{BB962C8B-B14F-4D97-AF65-F5344CB8AC3E}">
        <p14:creationId xmlns:p14="http://schemas.microsoft.com/office/powerpoint/2010/main" val="2908364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19AAB4-924B-4E55-A78C-1CE0E25F47FE}"/>
              </a:ext>
            </a:extLst>
          </p:cNvPr>
          <p:cNvSpPr>
            <a:spLocks noGrp="1"/>
          </p:cNvSpPr>
          <p:nvPr>
            <p:ph type="dt" sz="half" idx="10"/>
          </p:nvPr>
        </p:nvSpPr>
        <p:spPr/>
        <p:txBody>
          <a:bodyPr/>
          <a:lstStyle/>
          <a:p>
            <a:fld id="{811F18A6-B3B3-4340-9390-E91E0CEF81E0}" type="datetimeFigureOut">
              <a:rPr lang="en-IN" smtClean="0"/>
              <a:t>15-03-2022</a:t>
            </a:fld>
            <a:endParaRPr lang="en-IN"/>
          </a:p>
        </p:txBody>
      </p:sp>
      <p:sp>
        <p:nvSpPr>
          <p:cNvPr id="3" name="Footer Placeholder 2">
            <a:extLst>
              <a:ext uri="{FF2B5EF4-FFF2-40B4-BE49-F238E27FC236}">
                <a16:creationId xmlns:a16="http://schemas.microsoft.com/office/drawing/2014/main" id="{8A445393-E6A4-4D71-8D7E-ED0462C3762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357D65D-92E7-4B2E-A0CF-8359D85032AD}"/>
              </a:ext>
            </a:extLst>
          </p:cNvPr>
          <p:cNvSpPr>
            <a:spLocks noGrp="1"/>
          </p:cNvSpPr>
          <p:nvPr>
            <p:ph type="sldNum" sz="quarter" idx="12"/>
          </p:nvPr>
        </p:nvSpPr>
        <p:spPr/>
        <p:txBody>
          <a:bodyPr/>
          <a:lstStyle/>
          <a:p>
            <a:fld id="{37470B83-88A1-48C8-8970-0DF89F1E8368}" type="slidenum">
              <a:rPr lang="en-IN" smtClean="0"/>
              <a:t>‹#›</a:t>
            </a:fld>
            <a:endParaRPr lang="en-IN"/>
          </a:p>
        </p:txBody>
      </p:sp>
    </p:spTree>
    <p:extLst>
      <p:ext uri="{BB962C8B-B14F-4D97-AF65-F5344CB8AC3E}">
        <p14:creationId xmlns:p14="http://schemas.microsoft.com/office/powerpoint/2010/main" val="4119714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7A190-253D-4E8C-9134-03C2B827FC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72D8135-2FC4-4AFD-A6C3-CD1DF839DB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1181E1F-44F1-4CAF-A5F0-1D41A037D6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BD1EF-746C-4255-B797-5F209BFFB24E}"/>
              </a:ext>
            </a:extLst>
          </p:cNvPr>
          <p:cNvSpPr>
            <a:spLocks noGrp="1"/>
          </p:cNvSpPr>
          <p:nvPr>
            <p:ph type="dt" sz="half" idx="10"/>
          </p:nvPr>
        </p:nvSpPr>
        <p:spPr/>
        <p:txBody>
          <a:bodyPr/>
          <a:lstStyle/>
          <a:p>
            <a:fld id="{811F18A6-B3B3-4340-9390-E91E0CEF81E0}" type="datetimeFigureOut">
              <a:rPr lang="en-IN" smtClean="0"/>
              <a:t>15-03-2022</a:t>
            </a:fld>
            <a:endParaRPr lang="en-IN"/>
          </a:p>
        </p:txBody>
      </p:sp>
      <p:sp>
        <p:nvSpPr>
          <p:cNvPr id="6" name="Footer Placeholder 5">
            <a:extLst>
              <a:ext uri="{FF2B5EF4-FFF2-40B4-BE49-F238E27FC236}">
                <a16:creationId xmlns:a16="http://schemas.microsoft.com/office/drawing/2014/main" id="{7CDC1D33-503B-476C-B66B-6A07D4AB1E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B6EC2E-BAD3-4822-AE44-4C156BFE83E5}"/>
              </a:ext>
            </a:extLst>
          </p:cNvPr>
          <p:cNvSpPr>
            <a:spLocks noGrp="1"/>
          </p:cNvSpPr>
          <p:nvPr>
            <p:ph type="sldNum" sz="quarter" idx="12"/>
          </p:nvPr>
        </p:nvSpPr>
        <p:spPr/>
        <p:txBody>
          <a:bodyPr/>
          <a:lstStyle/>
          <a:p>
            <a:fld id="{37470B83-88A1-48C8-8970-0DF89F1E8368}" type="slidenum">
              <a:rPr lang="en-IN" smtClean="0"/>
              <a:t>‹#›</a:t>
            </a:fld>
            <a:endParaRPr lang="en-IN"/>
          </a:p>
        </p:txBody>
      </p:sp>
    </p:spTree>
    <p:extLst>
      <p:ext uri="{BB962C8B-B14F-4D97-AF65-F5344CB8AC3E}">
        <p14:creationId xmlns:p14="http://schemas.microsoft.com/office/powerpoint/2010/main" val="1402519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0F1FD-1E18-4534-ADEE-280D5C9536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4AB2523-6044-4E53-912F-259428E18E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1A0561C-D387-4A05-9A5B-36FDE3060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295B62-1751-4DDD-8C4F-C8EA8B0CF9F4}"/>
              </a:ext>
            </a:extLst>
          </p:cNvPr>
          <p:cNvSpPr>
            <a:spLocks noGrp="1"/>
          </p:cNvSpPr>
          <p:nvPr>
            <p:ph type="dt" sz="half" idx="10"/>
          </p:nvPr>
        </p:nvSpPr>
        <p:spPr/>
        <p:txBody>
          <a:bodyPr/>
          <a:lstStyle/>
          <a:p>
            <a:fld id="{811F18A6-B3B3-4340-9390-E91E0CEF81E0}" type="datetimeFigureOut">
              <a:rPr lang="en-IN" smtClean="0"/>
              <a:t>15-03-2022</a:t>
            </a:fld>
            <a:endParaRPr lang="en-IN"/>
          </a:p>
        </p:txBody>
      </p:sp>
      <p:sp>
        <p:nvSpPr>
          <p:cNvPr id="6" name="Footer Placeholder 5">
            <a:extLst>
              <a:ext uri="{FF2B5EF4-FFF2-40B4-BE49-F238E27FC236}">
                <a16:creationId xmlns:a16="http://schemas.microsoft.com/office/drawing/2014/main" id="{C9D4722C-D87A-458C-AAB6-15B5D0B7A2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56B8B0-AAFC-4A55-8598-44A284BE296D}"/>
              </a:ext>
            </a:extLst>
          </p:cNvPr>
          <p:cNvSpPr>
            <a:spLocks noGrp="1"/>
          </p:cNvSpPr>
          <p:nvPr>
            <p:ph type="sldNum" sz="quarter" idx="12"/>
          </p:nvPr>
        </p:nvSpPr>
        <p:spPr/>
        <p:txBody>
          <a:bodyPr/>
          <a:lstStyle/>
          <a:p>
            <a:fld id="{37470B83-88A1-48C8-8970-0DF89F1E8368}" type="slidenum">
              <a:rPr lang="en-IN" smtClean="0"/>
              <a:t>‹#›</a:t>
            </a:fld>
            <a:endParaRPr lang="en-IN"/>
          </a:p>
        </p:txBody>
      </p:sp>
    </p:spTree>
    <p:extLst>
      <p:ext uri="{BB962C8B-B14F-4D97-AF65-F5344CB8AC3E}">
        <p14:creationId xmlns:p14="http://schemas.microsoft.com/office/powerpoint/2010/main" val="2677550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89256-48C9-4117-8FD3-D4CBCFB9086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D5740E-755B-4175-882C-50144E2E1C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EF2398-F77A-4A32-99A3-594A00DC588C}"/>
              </a:ext>
            </a:extLst>
          </p:cNvPr>
          <p:cNvSpPr>
            <a:spLocks noGrp="1"/>
          </p:cNvSpPr>
          <p:nvPr>
            <p:ph type="dt" sz="half" idx="10"/>
          </p:nvPr>
        </p:nvSpPr>
        <p:spPr/>
        <p:txBody>
          <a:bodyPr/>
          <a:lstStyle/>
          <a:p>
            <a:fld id="{811F18A6-B3B3-4340-9390-E91E0CEF81E0}" type="datetimeFigureOut">
              <a:rPr lang="en-IN" smtClean="0"/>
              <a:t>15-03-2022</a:t>
            </a:fld>
            <a:endParaRPr lang="en-IN"/>
          </a:p>
        </p:txBody>
      </p:sp>
      <p:sp>
        <p:nvSpPr>
          <p:cNvPr id="5" name="Footer Placeholder 4">
            <a:extLst>
              <a:ext uri="{FF2B5EF4-FFF2-40B4-BE49-F238E27FC236}">
                <a16:creationId xmlns:a16="http://schemas.microsoft.com/office/drawing/2014/main" id="{AF34EF97-B466-4B65-B4A8-3C39AB4F02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E55938-B29A-4715-A597-39FD1C487C6D}"/>
              </a:ext>
            </a:extLst>
          </p:cNvPr>
          <p:cNvSpPr>
            <a:spLocks noGrp="1"/>
          </p:cNvSpPr>
          <p:nvPr>
            <p:ph type="sldNum" sz="quarter" idx="12"/>
          </p:nvPr>
        </p:nvSpPr>
        <p:spPr/>
        <p:txBody>
          <a:bodyPr/>
          <a:lstStyle/>
          <a:p>
            <a:fld id="{37470B83-88A1-48C8-8970-0DF89F1E8368}" type="slidenum">
              <a:rPr lang="en-IN" smtClean="0"/>
              <a:t>‹#›</a:t>
            </a:fld>
            <a:endParaRPr lang="en-IN"/>
          </a:p>
        </p:txBody>
      </p:sp>
    </p:spTree>
    <p:extLst>
      <p:ext uri="{BB962C8B-B14F-4D97-AF65-F5344CB8AC3E}">
        <p14:creationId xmlns:p14="http://schemas.microsoft.com/office/powerpoint/2010/main" val="3153613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6B1A87-4476-4166-BEC0-E13E8AAB5E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769F5D-E327-44A1-8DE2-833C1CC974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E40161-BFED-4AD9-8821-7003FA5366EE}"/>
              </a:ext>
            </a:extLst>
          </p:cNvPr>
          <p:cNvSpPr>
            <a:spLocks noGrp="1"/>
          </p:cNvSpPr>
          <p:nvPr>
            <p:ph type="dt" sz="half" idx="10"/>
          </p:nvPr>
        </p:nvSpPr>
        <p:spPr/>
        <p:txBody>
          <a:bodyPr/>
          <a:lstStyle/>
          <a:p>
            <a:fld id="{811F18A6-B3B3-4340-9390-E91E0CEF81E0}" type="datetimeFigureOut">
              <a:rPr lang="en-IN" smtClean="0"/>
              <a:t>15-03-2022</a:t>
            </a:fld>
            <a:endParaRPr lang="en-IN"/>
          </a:p>
        </p:txBody>
      </p:sp>
      <p:sp>
        <p:nvSpPr>
          <p:cNvPr id="5" name="Footer Placeholder 4">
            <a:extLst>
              <a:ext uri="{FF2B5EF4-FFF2-40B4-BE49-F238E27FC236}">
                <a16:creationId xmlns:a16="http://schemas.microsoft.com/office/drawing/2014/main" id="{4C35B4F7-80CD-424B-96FE-285780DC67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13A900-A721-49DC-83F7-A1CF0872A319}"/>
              </a:ext>
            </a:extLst>
          </p:cNvPr>
          <p:cNvSpPr>
            <a:spLocks noGrp="1"/>
          </p:cNvSpPr>
          <p:nvPr>
            <p:ph type="sldNum" sz="quarter" idx="12"/>
          </p:nvPr>
        </p:nvSpPr>
        <p:spPr/>
        <p:txBody>
          <a:bodyPr/>
          <a:lstStyle/>
          <a:p>
            <a:fld id="{37470B83-88A1-48C8-8970-0DF89F1E8368}" type="slidenum">
              <a:rPr lang="en-IN" smtClean="0"/>
              <a:t>‹#›</a:t>
            </a:fld>
            <a:endParaRPr lang="en-IN"/>
          </a:p>
        </p:txBody>
      </p:sp>
    </p:spTree>
    <p:extLst>
      <p:ext uri="{BB962C8B-B14F-4D97-AF65-F5344CB8AC3E}">
        <p14:creationId xmlns:p14="http://schemas.microsoft.com/office/powerpoint/2010/main" val="361918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A72F6A-3DD0-4F0F-834D-B08A161745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D4A8EEB-92B8-4197-8D02-1DB4E61F16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39DC4C-F0EE-4A26-84EF-C92CCB32BF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1F18A6-B3B3-4340-9390-E91E0CEF81E0}" type="datetimeFigureOut">
              <a:rPr lang="en-IN" smtClean="0"/>
              <a:t>15-03-2022</a:t>
            </a:fld>
            <a:endParaRPr lang="en-IN"/>
          </a:p>
        </p:txBody>
      </p:sp>
      <p:sp>
        <p:nvSpPr>
          <p:cNvPr id="5" name="Footer Placeholder 4">
            <a:extLst>
              <a:ext uri="{FF2B5EF4-FFF2-40B4-BE49-F238E27FC236}">
                <a16:creationId xmlns:a16="http://schemas.microsoft.com/office/drawing/2014/main" id="{84E448E0-C0C7-40A9-ACA4-C0CA433BA6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A59EC97-ED06-4B76-B916-5F66D35F4D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470B83-88A1-48C8-8970-0DF89F1E8368}" type="slidenum">
              <a:rPr lang="en-IN" smtClean="0"/>
              <a:t>‹#›</a:t>
            </a:fld>
            <a:endParaRPr lang="en-IN"/>
          </a:p>
        </p:txBody>
      </p:sp>
    </p:spTree>
    <p:extLst>
      <p:ext uri="{BB962C8B-B14F-4D97-AF65-F5344CB8AC3E}">
        <p14:creationId xmlns:p14="http://schemas.microsoft.com/office/powerpoint/2010/main" val="3408451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91E92-A43F-4808-951D-D04D3F306B11}"/>
              </a:ext>
            </a:extLst>
          </p:cNvPr>
          <p:cNvSpPr>
            <a:spLocks noGrp="1"/>
          </p:cNvSpPr>
          <p:nvPr>
            <p:ph type="ctrTitle"/>
          </p:nvPr>
        </p:nvSpPr>
        <p:spPr/>
        <p:txBody>
          <a:bodyPr/>
          <a:lstStyle/>
          <a:p>
            <a:r>
              <a:rPr lang="en-IN" dirty="0"/>
              <a:t>Water Pollution</a:t>
            </a:r>
          </a:p>
        </p:txBody>
      </p:sp>
      <p:sp>
        <p:nvSpPr>
          <p:cNvPr id="3" name="Subtitle 2">
            <a:extLst>
              <a:ext uri="{FF2B5EF4-FFF2-40B4-BE49-F238E27FC236}">
                <a16:creationId xmlns:a16="http://schemas.microsoft.com/office/drawing/2014/main" id="{78B7F3ED-A846-4152-8FFE-33DDEDDEC393}"/>
              </a:ext>
            </a:extLst>
          </p:cNvPr>
          <p:cNvSpPr>
            <a:spLocks noGrp="1"/>
          </p:cNvSpPr>
          <p:nvPr>
            <p:ph type="subTitle" idx="1"/>
          </p:nvPr>
        </p:nvSpPr>
        <p:spPr/>
        <p:txBody>
          <a:bodyPr/>
          <a:lstStyle/>
          <a:p>
            <a:endParaRPr lang="en-IN"/>
          </a:p>
        </p:txBody>
      </p:sp>
      <p:sp>
        <p:nvSpPr>
          <p:cNvPr id="4" name="TextBox 3">
            <a:extLst>
              <a:ext uri="{FF2B5EF4-FFF2-40B4-BE49-F238E27FC236}">
                <a16:creationId xmlns:a16="http://schemas.microsoft.com/office/drawing/2014/main" id="{C90DE907-D7CC-45C3-B271-0C3C88E7E8DD}"/>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solidFill>
                <a:srgbClr val="333333"/>
              </a:solidFill>
              <a:latin typeface="Segoe UI"/>
              <a:cs typeface="Segoe UI"/>
            </a:endParaRPr>
          </a:p>
        </p:txBody>
      </p:sp>
    </p:spTree>
    <p:extLst>
      <p:ext uri="{BB962C8B-B14F-4D97-AF65-F5344CB8AC3E}">
        <p14:creationId xmlns:p14="http://schemas.microsoft.com/office/powerpoint/2010/main" val="3171821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C55B8-54B6-4BD3-AE30-564BC002126F}"/>
              </a:ext>
            </a:extLst>
          </p:cNvPr>
          <p:cNvSpPr>
            <a:spLocks noGrp="1"/>
          </p:cNvSpPr>
          <p:nvPr>
            <p:ph type="title"/>
          </p:nvPr>
        </p:nvSpPr>
        <p:spPr/>
        <p:txBody>
          <a:bodyPr/>
          <a:lstStyle/>
          <a:p>
            <a:r>
              <a:rPr lang="en-US" sz="3600" b="1" dirty="0"/>
              <a:t>According to the Water (Prevention and Control of Pollution) Act, 1974, ―</a:t>
            </a:r>
            <a:endParaRPr lang="en-IN" b="1" dirty="0"/>
          </a:p>
        </p:txBody>
      </p:sp>
      <p:sp>
        <p:nvSpPr>
          <p:cNvPr id="3" name="Content Placeholder 2">
            <a:extLst>
              <a:ext uri="{FF2B5EF4-FFF2-40B4-BE49-F238E27FC236}">
                <a16:creationId xmlns:a16="http://schemas.microsoft.com/office/drawing/2014/main" id="{5ACE764B-C5E2-48CF-A060-746F80F19D4F}"/>
              </a:ext>
            </a:extLst>
          </p:cNvPr>
          <p:cNvSpPr>
            <a:spLocks noGrp="1"/>
          </p:cNvSpPr>
          <p:nvPr>
            <p:ph idx="1"/>
          </p:nvPr>
        </p:nvSpPr>
        <p:spPr/>
        <p:txBody>
          <a:bodyPr>
            <a:normAutofit/>
          </a:bodyPr>
          <a:lstStyle/>
          <a:p>
            <a:pPr algn="just"/>
            <a:r>
              <a:rPr lang="en-US" sz="2400" dirty="0"/>
              <a:t>water pollution means such contamination of water or such </a:t>
            </a:r>
            <a:r>
              <a:rPr lang="en-US" sz="2400" dirty="0">
                <a:highlight>
                  <a:srgbClr val="FFFF00"/>
                </a:highlight>
              </a:rPr>
              <a:t>alteration of the physical, chemical or biological properties of water </a:t>
            </a:r>
            <a:r>
              <a:rPr lang="en-US" sz="2400" dirty="0"/>
              <a:t>or such </a:t>
            </a:r>
            <a:r>
              <a:rPr lang="en-US" sz="2400" dirty="0">
                <a:highlight>
                  <a:srgbClr val="00FFFF"/>
                </a:highlight>
              </a:rPr>
              <a:t>discharge of any sewage or trade effluent or of any other liquid, gaseous or solid substance </a:t>
            </a:r>
            <a:r>
              <a:rPr lang="en-US" sz="2400" dirty="0"/>
              <a:t>into water (whether directly or indirectly) as may or is </a:t>
            </a:r>
            <a:r>
              <a:rPr lang="en-US" sz="2400" dirty="0">
                <a:highlight>
                  <a:srgbClr val="00FF00"/>
                </a:highlight>
              </a:rPr>
              <a:t>likely to, create a nuisance </a:t>
            </a:r>
            <a:r>
              <a:rPr lang="en-US" sz="2400" dirty="0"/>
              <a:t>or render such water harmful or injurious to public health or safety or to domestic, commercial, industrial, agricultural or other legitimate uses, or the life and health of animals or plants or of aquatic organisms.</a:t>
            </a:r>
            <a:endParaRPr lang="en-IN" sz="2400" dirty="0"/>
          </a:p>
        </p:txBody>
      </p:sp>
    </p:spTree>
    <p:extLst>
      <p:ext uri="{BB962C8B-B14F-4D97-AF65-F5344CB8AC3E}">
        <p14:creationId xmlns:p14="http://schemas.microsoft.com/office/powerpoint/2010/main" val="8512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E52F1-3267-49C6-9D51-1AECE9CAB6B6}"/>
              </a:ext>
            </a:extLst>
          </p:cNvPr>
          <p:cNvSpPr>
            <a:spLocks noGrp="1"/>
          </p:cNvSpPr>
          <p:nvPr>
            <p:ph type="title"/>
          </p:nvPr>
        </p:nvSpPr>
        <p:spPr>
          <a:xfrm>
            <a:off x="785612" y="2766218"/>
            <a:ext cx="5257800" cy="1325563"/>
          </a:xfrm>
        </p:spPr>
        <p:txBody>
          <a:bodyPr/>
          <a:lstStyle/>
          <a:p>
            <a:r>
              <a:rPr lang="en-IN" dirty="0"/>
              <a:t>Classification of pollutants</a:t>
            </a:r>
          </a:p>
        </p:txBody>
      </p:sp>
      <p:pic>
        <p:nvPicPr>
          <p:cNvPr id="5" name="Picture 4">
            <a:extLst>
              <a:ext uri="{FF2B5EF4-FFF2-40B4-BE49-F238E27FC236}">
                <a16:creationId xmlns:a16="http://schemas.microsoft.com/office/drawing/2014/main" id="{0BA4DC1A-88EE-4C27-8D46-ADE6468ADAB9}"/>
              </a:ext>
            </a:extLst>
          </p:cNvPr>
          <p:cNvPicPr>
            <a:picLocks noChangeAspect="1"/>
          </p:cNvPicPr>
          <p:nvPr/>
        </p:nvPicPr>
        <p:blipFill>
          <a:blip r:embed="rId2"/>
          <a:stretch>
            <a:fillRect/>
          </a:stretch>
        </p:blipFill>
        <p:spPr>
          <a:xfrm>
            <a:off x="6502049" y="365125"/>
            <a:ext cx="5205212" cy="6492875"/>
          </a:xfrm>
          <a:prstGeom prst="rect">
            <a:avLst/>
          </a:prstGeom>
        </p:spPr>
      </p:pic>
    </p:spTree>
    <p:extLst>
      <p:ext uri="{BB962C8B-B14F-4D97-AF65-F5344CB8AC3E}">
        <p14:creationId xmlns:p14="http://schemas.microsoft.com/office/powerpoint/2010/main" val="3153458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F5773-5FEB-4D5B-A07E-E1C49D686618}"/>
              </a:ext>
            </a:extLst>
          </p:cNvPr>
          <p:cNvSpPr>
            <a:spLocks noGrp="1"/>
          </p:cNvSpPr>
          <p:nvPr>
            <p:ph type="title"/>
          </p:nvPr>
        </p:nvSpPr>
        <p:spPr/>
        <p:txBody>
          <a:bodyPr/>
          <a:lstStyle/>
          <a:p>
            <a:r>
              <a:rPr lang="en-IN" dirty="0"/>
              <a:t>Causes of water pollution</a:t>
            </a:r>
          </a:p>
        </p:txBody>
      </p:sp>
      <p:sp>
        <p:nvSpPr>
          <p:cNvPr id="3" name="Content Placeholder 2">
            <a:extLst>
              <a:ext uri="{FF2B5EF4-FFF2-40B4-BE49-F238E27FC236}">
                <a16:creationId xmlns:a16="http://schemas.microsoft.com/office/drawing/2014/main" id="{F7125E24-A376-4F40-9C73-AD4D85203671}"/>
              </a:ext>
            </a:extLst>
          </p:cNvPr>
          <p:cNvSpPr>
            <a:spLocks noGrp="1"/>
          </p:cNvSpPr>
          <p:nvPr>
            <p:ph idx="1"/>
          </p:nvPr>
        </p:nvSpPr>
        <p:spPr/>
        <p:txBody>
          <a:bodyPr/>
          <a:lstStyle/>
          <a:p>
            <a:r>
              <a:rPr lang="en-IN" dirty="0"/>
              <a:t>Growing Population</a:t>
            </a:r>
          </a:p>
          <a:p>
            <a:pPr lvl="1"/>
            <a:r>
              <a:rPr lang="en-US" dirty="0"/>
              <a:t>Every year we add millions of people to the world population and our country is no exception. The earth is now overcrowded and consumption habit of the people is on the rise. The growth of population gave rise to increase in wants and demands of mankind and has succeeded in creating acute problem of water pollution.</a:t>
            </a:r>
            <a:endParaRPr lang="en-IN" dirty="0"/>
          </a:p>
        </p:txBody>
      </p:sp>
      <p:pic>
        <p:nvPicPr>
          <p:cNvPr id="4" name="Picture 3">
            <a:extLst>
              <a:ext uri="{FF2B5EF4-FFF2-40B4-BE49-F238E27FC236}">
                <a16:creationId xmlns:a16="http://schemas.microsoft.com/office/drawing/2014/main" id="{3244D9B6-0C4E-416C-9151-2D494874092C}"/>
              </a:ext>
            </a:extLst>
          </p:cNvPr>
          <p:cNvPicPr>
            <a:picLocks noChangeAspect="1"/>
          </p:cNvPicPr>
          <p:nvPr/>
        </p:nvPicPr>
        <p:blipFill>
          <a:blip r:embed="rId2"/>
          <a:stretch>
            <a:fillRect/>
          </a:stretch>
        </p:blipFill>
        <p:spPr>
          <a:xfrm>
            <a:off x="6508605" y="3671454"/>
            <a:ext cx="5483879" cy="3086100"/>
          </a:xfrm>
          <a:prstGeom prst="rect">
            <a:avLst/>
          </a:prstGeom>
        </p:spPr>
      </p:pic>
    </p:spTree>
    <p:extLst>
      <p:ext uri="{BB962C8B-B14F-4D97-AF65-F5344CB8AC3E}">
        <p14:creationId xmlns:p14="http://schemas.microsoft.com/office/powerpoint/2010/main" val="2543989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859084-8CEC-4709-A948-4679C959C3C1}"/>
              </a:ext>
            </a:extLst>
          </p:cNvPr>
          <p:cNvSpPr>
            <a:spLocks noGrp="1"/>
          </p:cNvSpPr>
          <p:nvPr>
            <p:ph idx="1"/>
          </p:nvPr>
        </p:nvSpPr>
        <p:spPr>
          <a:xfrm>
            <a:off x="838200" y="2590800"/>
            <a:ext cx="10515600" cy="3586163"/>
          </a:xfrm>
        </p:spPr>
        <p:txBody>
          <a:bodyPr/>
          <a:lstStyle/>
          <a:p>
            <a:r>
              <a:rPr lang="en-IN" dirty="0"/>
              <a:t>Industrialization </a:t>
            </a:r>
          </a:p>
          <a:p>
            <a:pPr lvl="1"/>
            <a:r>
              <a:rPr lang="en-US" dirty="0"/>
              <a:t>Rapid industrialization is another cause of worry as far as water pollution is concerned. Immediately after the independence, major steps were taken in our country in its stride for development in order to give its economy a big push. </a:t>
            </a:r>
          </a:p>
          <a:p>
            <a:pPr lvl="1"/>
            <a:r>
              <a:rPr lang="en-US" dirty="0"/>
              <a:t>Industrialization along with development brought with it a danger to the human civilization- the problem of environmental pollution</a:t>
            </a:r>
            <a:endParaRPr lang="en-IN" dirty="0"/>
          </a:p>
        </p:txBody>
      </p:sp>
      <p:pic>
        <p:nvPicPr>
          <p:cNvPr id="1026" name="Picture 2" descr="Industrialisation - Wikipedia">
            <a:extLst>
              <a:ext uri="{FF2B5EF4-FFF2-40B4-BE49-F238E27FC236}">
                <a16:creationId xmlns:a16="http://schemas.microsoft.com/office/drawing/2014/main" id="{1036ED5B-A990-4541-BFED-B1F507DDDB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8322" y="358486"/>
            <a:ext cx="3960555" cy="2232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0743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E5A1C5-9BFD-4845-B6AA-3E52EA7D72BD}"/>
              </a:ext>
            </a:extLst>
          </p:cNvPr>
          <p:cNvSpPr>
            <a:spLocks noGrp="1"/>
          </p:cNvSpPr>
          <p:nvPr>
            <p:ph idx="1"/>
          </p:nvPr>
        </p:nvSpPr>
        <p:spPr>
          <a:xfrm>
            <a:off x="644236" y="467879"/>
            <a:ext cx="10515600" cy="6002194"/>
          </a:xfrm>
        </p:spPr>
        <p:txBody>
          <a:bodyPr/>
          <a:lstStyle/>
          <a:p>
            <a:r>
              <a:rPr lang="en-IN" dirty="0"/>
              <a:t>Urbanization</a:t>
            </a:r>
          </a:p>
          <a:p>
            <a:pPr lvl="1"/>
            <a:r>
              <a:rPr lang="en-US" dirty="0"/>
              <a:t>big cities also developed just near the water courses particularly besides the big rivers subsequently attracted the establishment of industrial and commercial basis in and around the cities. </a:t>
            </a:r>
          </a:p>
          <a:p>
            <a:pPr lvl="1"/>
            <a:r>
              <a:rPr lang="en-US" dirty="0"/>
              <a:t> Since many towns and cities lack a proper sewerage system, the condition worsened further.</a:t>
            </a:r>
          </a:p>
          <a:p>
            <a:endParaRPr lang="en-IN" dirty="0"/>
          </a:p>
        </p:txBody>
      </p:sp>
      <p:pic>
        <p:nvPicPr>
          <p:cNvPr id="2050" name="Picture 2" descr="Urbanization and Global Urban Issues - Our ever-growing cities |  Anthroposphere | GeoKnow.net">
            <a:extLst>
              <a:ext uri="{FF2B5EF4-FFF2-40B4-BE49-F238E27FC236}">
                <a16:creationId xmlns:a16="http://schemas.microsoft.com/office/drawing/2014/main" id="{3F7B26EE-71BD-4FF8-AF6D-53D1FD7527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9227" y="2841818"/>
            <a:ext cx="5853545" cy="4016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8894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37CBA4-F00A-481D-8654-EAED950F8CE3}"/>
              </a:ext>
            </a:extLst>
          </p:cNvPr>
          <p:cNvSpPr>
            <a:spLocks noGrp="1"/>
          </p:cNvSpPr>
          <p:nvPr>
            <p:ph idx="1"/>
          </p:nvPr>
        </p:nvSpPr>
        <p:spPr>
          <a:xfrm>
            <a:off x="533400" y="661842"/>
            <a:ext cx="10515600" cy="5794375"/>
          </a:xfrm>
        </p:spPr>
        <p:txBody>
          <a:bodyPr/>
          <a:lstStyle/>
          <a:p>
            <a:r>
              <a:rPr lang="en-IN" dirty="0"/>
              <a:t>Nature of Modern Technology </a:t>
            </a:r>
          </a:p>
          <a:p>
            <a:pPr lvl="1"/>
            <a:r>
              <a:rPr lang="en-US" dirty="0"/>
              <a:t>The nature of productive technology in recent years</a:t>
            </a:r>
            <a:r>
              <a:rPr lang="en-IN" dirty="0"/>
              <a:t> </a:t>
            </a:r>
            <a:r>
              <a:rPr lang="en-US" dirty="0"/>
              <a:t>has been largely responsible for the generation of synthetic and non biodegradable substances such as plastics, chemical nitrogen fertilizers, synthetic detergents, synthetic </a:t>
            </a:r>
            <a:r>
              <a:rPr lang="en-US" dirty="0" err="1"/>
              <a:t>fibres</a:t>
            </a:r>
            <a:r>
              <a:rPr lang="en-US" dirty="0"/>
              <a:t>, petrochemical and other environmentally injurious industries and ―</a:t>
            </a:r>
            <a:r>
              <a:rPr lang="en-US" dirty="0">
                <a:solidFill>
                  <a:srgbClr val="FF0000"/>
                </a:solidFill>
              </a:rPr>
              <a:t>disposable culture</a:t>
            </a:r>
            <a:r>
              <a:rPr lang="en-US" dirty="0"/>
              <a:t>. </a:t>
            </a:r>
          </a:p>
        </p:txBody>
      </p:sp>
      <p:sp>
        <p:nvSpPr>
          <p:cNvPr id="4" name="AutoShape 2" descr="Five things you should know about disposable masks and plastic pollution |  | UN News">
            <a:extLst>
              <a:ext uri="{FF2B5EF4-FFF2-40B4-BE49-F238E27FC236}">
                <a16:creationId xmlns:a16="http://schemas.microsoft.com/office/drawing/2014/main" id="{B17B95B9-32D7-446F-8230-03D5F267B06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3EB1611A-6ADB-4379-B4FD-691EF5562E06}"/>
              </a:ext>
            </a:extLst>
          </p:cNvPr>
          <p:cNvPicPr>
            <a:picLocks noChangeAspect="1"/>
          </p:cNvPicPr>
          <p:nvPr/>
        </p:nvPicPr>
        <p:blipFill>
          <a:blip r:embed="rId2"/>
          <a:stretch>
            <a:fillRect/>
          </a:stretch>
        </p:blipFill>
        <p:spPr>
          <a:xfrm>
            <a:off x="5569094" y="2980749"/>
            <a:ext cx="5639233" cy="3071956"/>
          </a:xfrm>
          <a:prstGeom prst="rect">
            <a:avLst/>
          </a:prstGeom>
        </p:spPr>
      </p:pic>
    </p:spTree>
    <p:extLst>
      <p:ext uri="{BB962C8B-B14F-4D97-AF65-F5344CB8AC3E}">
        <p14:creationId xmlns:p14="http://schemas.microsoft.com/office/powerpoint/2010/main" val="2168968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DE899B-3322-481B-B157-61C3C9AF379D}"/>
              </a:ext>
            </a:extLst>
          </p:cNvPr>
          <p:cNvSpPr>
            <a:spLocks noGrp="1"/>
          </p:cNvSpPr>
          <p:nvPr>
            <p:ph idx="1"/>
          </p:nvPr>
        </p:nvSpPr>
        <p:spPr>
          <a:xfrm>
            <a:off x="616528" y="537153"/>
            <a:ext cx="10910454" cy="5988338"/>
          </a:xfrm>
        </p:spPr>
        <p:txBody>
          <a:bodyPr vert="horz" lIns="91440" tIns="45720" rIns="91440" bIns="45720" rtlCol="0" anchor="t">
            <a:normAutofit/>
          </a:bodyPr>
          <a:lstStyle/>
          <a:p>
            <a:r>
              <a:rPr lang="en-IN" dirty="0"/>
              <a:t>Modern Agricultural Practices</a:t>
            </a:r>
          </a:p>
          <a:p>
            <a:pPr lvl="1"/>
            <a:r>
              <a:rPr lang="en-US" dirty="0"/>
              <a:t>Fertilizers like phosphates and nitrates cause wide spread damage when applied carelessly to crops. The fertilizers can be transmitted to ground water by leaching and to surface waters by natural drainage and storm run-off. </a:t>
            </a:r>
            <a:endParaRPr lang="en-IN" dirty="0"/>
          </a:p>
          <a:p>
            <a:pPr lvl="1"/>
            <a:r>
              <a:rPr lang="en-IN" dirty="0"/>
              <a:t>In addition to fertilizers </a:t>
            </a:r>
            <a:r>
              <a:rPr lang="en-US" dirty="0"/>
              <a:t>various kinds of pesticides and insecticide also applied. Almost all the pesticides those are used are toxic to human and animals</a:t>
            </a:r>
            <a:endParaRPr lang="en-IN" dirty="0"/>
          </a:p>
          <a:p>
            <a:r>
              <a:rPr lang="en-IN" dirty="0">
                <a:cs typeface="Calibri"/>
              </a:rPr>
              <a:t>  </a:t>
            </a:r>
            <a:endParaRPr lang="en-IN" dirty="0"/>
          </a:p>
        </p:txBody>
      </p:sp>
      <p:pic>
        <p:nvPicPr>
          <p:cNvPr id="4" name="Picture 3">
            <a:extLst>
              <a:ext uri="{FF2B5EF4-FFF2-40B4-BE49-F238E27FC236}">
                <a16:creationId xmlns:a16="http://schemas.microsoft.com/office/drawing/2014/main" id="{64B64C44-4EEA-4336-87A5-028472D719DC}"/>
              </a:ext>
            </a:extLst>
          </p:cNvPr>
          <p:cNvPicPr>
            <a:picLocks noChangeAspect="1"/>
          </p:cNvPicPr>
          <p:nvPr/>
        </p:nvPicPr>
        <p:blipFill>
          <a:blip r:embed="rId2"/>
          <a:stretch>
            <a:fillRect/>
          </a:stretch>
        </p:blipFill>
        <p:spPr>
          <a:xfrm>
            <a:off x="1142133" y="3038041"/>
            <a:ext cx="5327939" cy="3468910"/>
          </a:xfrm>
          <a:prstGeom prst="rect">
            <a:avLst/>
          </a:prstGeom>
        </p:spPr>
      </p:pic>
      <p:sp>
        <p:nvSpPr>
          <p:cNvPr id="2" name="TextBox 1">
            <a:extLst>
              <a:ext uri="{FF2B5EF4-FFF2-40B4-BE49-F238E27FC236}">
                <a16:creationId xmlns:a16="http://schemas.microsoft.com/office/drawing/2014/main" id="{D8C21701-24BB-4A5F-8022-276D1799197E}"/>
              </a:ext>
            </a:extLst>
          </p:cNvPr>
          <p:cNvSpPr txBox="1"/>
          <p:nvPr/>
        </p:nvSpPr>
        <p:spPr>
          <a:xfrm>
            <a:off x="4724400" y="3200399"/>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extLst>
      <p:ext uri="{BB962C8B-B14F-4D97-AF65-F5344CB8AC3E}">
        <p14:creationId xmlns:p14="http://schemas.microsoft.com/office/powerpoint/2010/main" val="1495710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BE5E3-A88F-49A4-B1DB-02E106371AB5}"/>
              </a:ext>
            </a:extLst>
          </p:cNvPr>
          <p:cNvSpPr>
            <a:spLocks noGrp="1"/>
          </p:cNvSpPr>
          <p:nvPr>
            <p:ph type="title"/>
          </p:nvPr>
        </p:nvSpPr>
        <p:spPr/>
        <p:txBody>
          <a:bodyPr/>
          <a:lstStyle/>
          <a:p>
            <a:r>
              <a:rPr lang="en-IN" dirty="0"/>
              <a:t>SOURCES OF WATER POLLUTION</a:t>
            </a:r>
          </a:p>
        </p:txBody>
      </p:sp>
      <p:sp>
        <p:nvSpPr>
          <p:cNvPr id="3" name="Content Placeholder 2">
            <a:extLst>
              <a:ext uri="{FF2B5EF4-FFF2-40B4-BE49-F238E27FC236}">
                <a16:creationId xmlns:a16="http://schemas.microsoft.com/office/drawing/2014/main" id="{16D52777-2B9E-41CC-8AA0-6B97D25854FE}"/>
              </a:ext>
            </a:extLst>
          </p:cNvPr>
          <p:cNvSpPr>
            <a:spLocks noGrp="1"/>
          </p:cNvSpPr>
          <p:nvPr>
            <p:ph idx="1"/>
          </p:nvPr>
        </p:nvSpPr>
        <p:spPr/>
        <p:txBody>
          <a:bodyPr/>
          <a:lstStyle/>
          <a:p>
            <a:pPr marL="0" indent="0">
              <a:buNone/>
            </a:pPr>
            <a:r>
              <a:rPr lang="en-US" dirty="0"/>
              <a:t>1, Domestic wastes </a:t>
            </a:r>
          </a:p>
          <a:p>
            <a:pPr marL="0" indent="0">
              <a:buNone/>
            </a:pPr>
            <a:r>
              <a:rPr lang="en-US" dirty="0"/>
              <a:t>2. Industrial wastes </a:t>
            </a:r>
          </a:p>
          <a:p>
            <a:pPr marL="0" indent="0">
              <a:buNone/>
            </a:pPr>
            <a:r>
              <a:rPr lang="en-US" dirty="0"/>
              <a:t>3. Agricultural wastes, insecticides and pesticides </a:t>
            </a:r>
          </a:p>
          <a:p>
            <a:pPr marL="0" indent="0">
              <a:buNone/>
            </a:pPr>
            <a:r>
              <a:rPr lang="en-US" dirty="0"/>
              <a:t>4. Thermal pollution </a:t>
            </a:r>
          </a:p>
          <a:p>
            <a:pPr marL="0" indent="0">
              <a:buNone/>
            </a:pPr>
            <a:r>
              <a:rPr lang="en-US" dirty="0"/>
              <a:t>5. Marine pollution and </a:t>
            </a:r>
          </a:p>
          <a:p>
            <a:pPr marL="0" indent="0">
              <a:buNone/>
            </a:pPr>
            <a:r>
              <a:rPr lang="en-US" dirty="0"/>
              <a:t>6. Radioactive wastes.</a:t>
            </a:r>
            <a:endParaRPr lang="en-IN" dirty="0"/>
          </a:p>
        </p:txBody>
      </p:sp>
    </p:spTree>
    <p:extLst>
      <p:ext uri="{BB962C8B-B14F-4D97-AF65-F5344CB8AC3E}">
        <p14:creationId xmlns:p14="http://schemas.microsoft.com/office/powerpoint/2010/main" val="3848646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091" y="577702"/>
            <a:ext cx="11499273" cy="1143000"/>
          </a:xfrm>
        </p:spPr>
        <p:txBody>
          <a:bodyPr>
            <a:normAutofit fontScale="90000"/>
          </a:bodyPr>
          <a:lstStyle/>
          <a:p>
            <a:r>
              <a:rPr lang="en-US" dirty="0"/>
              <a:t>Type of Pollutants </a:t>
            </a:r>
            <a:br>
              <a:rPr lang="en-US" dirty="0"/>
            </a:br>
            <a:r>
              <a:rPr lang="en-US" dirty="0"/>
              <a:t>Oxygen-Demanding Substances</a:t>
            </a:r>
            <a:br>
              <a:rPr lang="en-US" dirty="0"/>
            </a:br>
            <a:endParaRPr lang="en-US" dirty="0"/>
          </a:p>
        </p:txBody>
      </p:sp>
      <p:sp>
        <p:nvSpPr>
          <p:cNvPr id="4" name="Rectangle 3"/>
          <p:cNvSpPr/>
          <p:nvPr/>
        </p:nvSpPr>
        <p:spPr>
          <a:xfrm>
            <a:off x="616526" y="3886201"/>
            <a:ext cx="10820401" cy="2862322"/>
          </a:xfrm>
          <a:prstGeom prst="rect">
            <a:avLst/>
          </a:prstGeom>
        </p:spPr>
        <p:txBody>
          <a:bodyPr wrap="square">
            <a:spAutoFit/>
          </a:bodyPr>
          <a:lstStyle/>
          <a:p>
            <a:pPr algn="just"/>
            <a:r>
              <a:rPr lang="en-US" dirty="0"/>
              <a:t>Dissolved oxygen is a key element in water quality that is necessary to support aquatic life. </a:t>
            </a:r>
          </a:p>
          <a:p>
            <a:pPr algn="just"/>
            <a:r>
              <a:rPr lang="en-US" dirty="0"/>
              <a:t>A demand is placed on the natural supply of dissolved oxygen by many pollutants in wastewater. This is called biochemical oxygen demand, or BOD, </a:t>
            </a:r>
          </a:p>
          <a:p>
            <a:pPr algn="just"/>
            <a:endParaRPr lang="en-US" dirty="0"/>
          </a:p>
          <a:p>
            <a:pPr algn="just"/>
            <a:r>
              <a:rPr lang="en-US" dirty="0"/>
              <a:t> </a:t>
            </a:r>
            <a:r>
              <a:rPr lang="en-US" b="1" dirty="0"/>
              <a:t>Organic matter and ammonia </a:t>
            </a:r>
            <a:r>
              <a:rPr lang="en-US" dirty="0"/>
              <a:t>are “oxygen-demanding” substances.  </a:t>
            </a:r>
            <a:r>
              <a:rPr lang="en-US" b="1" dirty="0"/>
              <a:t>Oxygen-demanding substances are contributed by domestic sewage and agricultural and industrial wastes of both plant and animal origin, such as those from food processing, paper mills, tanning, and other manufacturing processes. </a:t>
            </a:r>
            <a:r>
              <a:rPr lang="en-US" dirty="0"/>
              <a:t> </a:t>
            </a:r>
          </a:p>
          <a:p>
            <a:pPr algn="just"/>
            <a:endParaRPr lang="en-US" dirty="0"/>
          </a:p>
          <a:p>
            <a:pPr algn="just"/>
            <a:r>
              <a:rPr lang="en-US" dirty="0"/>
              <a:t>These substances are usually destroyed or converted to other compounds by bacteria if there is sufficient oxygen present in the water, but the dissolved oxygen needed to sustain fish life is used up in this break down process.</a:t>
            </a:r>
          </a:p>
        </p:txBody>
      </p:sp>
      <p:pic>
        <p:nvPicPr>
          <p:cNvPr id="4098" name="Picture 2" descr="Causes, Effects and Solutions to Ecological Problem of Eutrophication -  Conserve Energy Future">
            <a:extLst>
              <a:ext uri="{FF2B5EF4-FFF2-40B4-BE49-F238E27FC236}">
                <a16:creationId xmlns:a16="http://schemas.microsoft.com/office/drawing/2014/main" id="{F13CED78-D66C-45D6-86CB-C42CB5C8C7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3018" y="577702"/>
            <a:ext cx="4100945" cy="30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0388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Pathogens</a:t>
            </a:r>
            <a:br>
              <a:rPr lang="en-US" dirty="0"/>
            </a:br>
            <a:endParaRPr lang="en-US" dirty="0"/>
          </a:p>
        </p:txBody>
      </p:sp>
      <p:sp>
        <p:nvSpPr>
          <p:cNvPr id="3" name="Content Placeholder 2"/>
          <p:cNvSpPr>
            <a:spLocks noGrp="1"/>
          </p:cNvSpPr>
          <p:nvPr>
            <p:ph idx="1"/>
          </p:nvPr>
        </p:nvSpPr>
        <p:spPr>
          <a:xfrm>
            <a:off x="387926" y="1579419"/>
            <a:ext cx="10965873" cy="5059363"/>
          </a:xfrm>
        </p:spPr>
        <p:txBody>
          <a:bodyPr>
            <a:normAutofit/>
          </a:bodyPr>
          <a:lstStyle/>
          <a:p>
            <a:pPr algn="just"/>
            <a:r>
              <a:rPr lang="en-US" sz="2000" b="1" dirty="0"/>
              <a:t>Infectious micro-organisms, or pathogens, may be carried into surface and groundwater by sewage from cities and institutions, by certain kinds of industrial wastes, such as tanning and meat packing plants, and by the contamination of storm runoff with animal wastes from pets, livestock and wild animals, such as geese or deer.  </a:t>
            </a:r>
          </a:p>
          <a:p>
            <a:pPr algn="just"/>
            <a:r>
              <a:rPr lang="en-US" sz="2000" dirty="0"/>
              <a:t>Humans may meet these pathogens either by drinking contaminated water or through swimming, fishing, or other contact activities.  </a:t>
            </a:r>
          </a:p>
          <a:p>
            <a:pPr algn="just"/>
            <a:r>
              <a:rPr lang="en-US" sz="2000" dirty="0"/>
              <a:t>Modern disinfection techniques have greatly reduced the danger of waterborne disease.</a:t>
            </a:r>
          </a:p>
          <a:p>
            <a:pPr algn="just"/>
            <a:endParaRPr lang="en-US" sz="2000" dirty="0"/>
          </a:p>
        </p:txBody>
      </p:sp>
      <p:pic>
        <p:nvPicPr>
          <p:cNvPr id="4" name="Picture 3">
            <a:extLst>
              <a:ext uri="{FF2B5EF4-FFF2-40B4-BE49-F238E27FC236}">
                <a16:creationId xmlns:a16="http://schemas.microsoft.com/office/drawing/2014/main" id="{CCB97CA1-31ED-45FA-9A9E-135A787149BF}"/>
              </a:ext>
            </a:extLst>
          </p:cNvPr>
          <p:cNvPicPr>
            <a:picLocks noChangeAspect="1"/>
          </p:cNvPicPr>
          <p:nvPr/>
        </p:nvPicPr>
        <p:blipFill>
          <a:blip r:embed="rId2"/>
          <a:stretch>
            <a:fillRect/>
          </a:stretch>
        </p:blipFill>
        <p:spPr>
          <a:xfrm>
            <a:off x="3540701" y="3963169"/>
            <a:ext cx="4107008" cy="2630824"/>
          </a:xfrm>
          <a:prstGeom prst="rect">
            <a:avLst/>
          </a:prstGeom>
        </p:spPr>
      </p:pic>
    </p:spTree>
    <p:extLst>
      <p:ext uri="{BB962C8B-B14F-4D97-AF65-F5344CB8AC3E}">
        <p14:creationId xmlns:p14="http://schemas.microsoft.com/office/powerpoint/2010/main" val="899088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Nutrients</a:t>
            </a:r>
            <a:br>
              <a:rPr lang="en-US" dirty="0"/>
            </a:br>
            <a:endParaRPr lang="en-US" dirty="0"/>
          </a:p>
        </p:txBody>
      </p:sp>
      <p:sp>
        <p:nvSpPr>
          <p:cNvPr id="3" name="Content Placeholder 2"/>
          <p:cNvSpPr>
            <a:spLocks noGrp="1"/>
          </p:cNvSpPr>
          <p:nvPr>
            <p:ph idx="1"/>
          </p:nvPr>
        </p:nvSpPr>
        <p:spPr>
          <a:xfrm>
            <a:off x="429490" y="1690688"/>
            <a:ext cx="10924309" cy="4983163"/>
          </a:xfrm>
        </p:spPr>
        <p:txBody>
          <a:bodyPr>
            <a:normAutofit/>
          </a:bodyPr>
          <a:lstStyle/>
          <a:p>
            <a:pPr algn="just"/>
            <a:r>
              <a:rPr lang="en-US" sz="1800" b="1" dirty="0"/>
              <a:t>Carbon, nitrogen, and phosphorus are essential to living organisms and are the chief nutrients present in natural water.  </a:t>
            </a:r>
            <a:r>
              <a:rPr lang="en-US" sz="1800" dirty="0"/>
              <a:t>Large amounts of these nutrients are also present in sewage, certain industrial wastes, and drainage from fertilized land.  </a:t>
            </a:r>
          </a:p>
          <a:p>
            <a:pPr algn="just"/>
            <a:r>
              <a:rPr lang="en-US" sz="1800" b="1" dirty="0"/>
              <a:t>Conventional secondary biological treatment processes do not remove the phosphorus and nitrogen to any substantial extent -- in fact, they may convert the organic forms of these substances into mineral form, making them more usable by plant life.  </a:t>
            </a:r>
          </a:p>
          <a:p>
            <a:pPr algn="just"/>
            <a:r>
              <a:rPr lang="en-US" sz="1800" b="1" dirty="0"/>
              <a:t>When an excess of these nutrients overstimulates the growth of water plants, the result causes </a:t>
            </a:r>
            <a:r>
              <a:rPr lang="en-US" sz="1800" dirty="0"/>
              <a:t>excessive growth of algae.  Uncontrolled algae growth blocks out sunlight and chokes aquatic plants and animals by depleting dissolved oxygen in the water at night.  </a:t>
            </a:r>
          </a:p>
          <a:p>
            <a:pPr algn="just"/>
            <a:r>
              <a:rPr lang="en-US" sz="1800" dirty="0"/>
              <a:t>The release of nutrients in quantities that exceed the affected waterbody’s ability to assimilate them results in a condition called eutrophication. </a:t>
            </a:r>
          </a:p>
        </p:txBody>
      </p:sp>
    </p:spTree>
    <p:extLst>
      <p:ext uri="{BB962C8B-B14F-4D97-AF65-F5344CB8AC3E}">
        <p14:creationId xmlns:p14="http://schemas.microsoft.com/office/powerpoint/2010/main" val="1953141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8795" y="609600"/>
            <a:ext cx="8229600" cy="1143000"/>
          </a:xfrm>
        </p:spPr>
        <p:txBody>
          <a:bodyPr>
            <a:noAutofit/>
          </a:bodyPr>
          <a:lstStyle/>
          <a:p>
            <a:r>
              <a:rPr lang="en-US" sz="3600" b="1" dirty="0"/>
              <a:t>Inorganic and Synthetic Organic Chemicals</a:t>
            </a:r>
            <a:br>
              <a:rPr lang="en-US" sz="3600" b="1" dirty="0"/>
            </a:br>
            <a:endParaRPr lang="en-US" sz="3600" b="1" dirty="0"/>
          </a:p>
        </p:txBody>
      </p:sp>
      <p:sp>
        <p:nvSpPr>
          <p:cNvPr id="3" name="Content Placeholder 2"/>
          <p:cNvSpPr>
            <a:spLocks noGrp="1"/>
          </p:cNvSpPr>
          <p:nvPr>
            <p:ph idx="1"/>
          </p:nvPr>
        </p:nvSpPr>
        <p:spPr/>
        <p:txBody>
          <a:bodyPr>
            <a:noAutofit/>
          </a:bodyPr>
          <a:lstStyle/>
          <a:p>
            <a:pPr algn="just"/>
            <a:r>
              <a:rPr lang="en-US" sz="2400" b="1" dirty="0"/>
              <a:t>A vast array of chemicals are included in this category.  Examples include detergents, household cleaning aids, heavy metals, pharmaceuticals, synthetic organic pesticides and herbicides, industrial chemicals, and the wastes from their manufacture.  </a:t>
            </a:r>
          </a:p>
          <a:p>
            <a:pPr algn="just"/>
            <a:r>
              <a:rPr lang="en-US" sz="2400" dirty="0"/>
              <a:t>Many of these substances are toxic to fish and aquatic life and many are harmful to humans.  Some are known to be highly poisonous at very low concentrations.  Others can cause taste and odor problems, and many are not effectively removed by conventional wastewater treatment. </a:t>
            </a:r>
          </a:p>
        </p:txBody>
      </p:sp>
    </p:spTree>
    <p:extLst>
      <p:ext uri="{BB962C8B-B14F-4D97-AF65-F5344CB8AC3E}">
        <p14:creationId xmlns:p14="http://schemas.microsoft.com/office/powerpoint/2010/main" val="3521282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68595-DB14-4B78-8305-D3714766C4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31EF2F-B264-4FC5-A443-F82057FA5C3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76599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Thermal</a:t>
            </a:r>
            <a:br>
              <a:rPr lang="en-US" dirty="0"/>
            </a:br>
            <a:endParaRPr lang="en-US" dirty="0"/>
          </a:p>
        </p:txBody>
      </p:sp>
      <p:sp>
        <p:nvSpPr>
          <p:cNvPr id="3" name="Content Placeholder 2"/>
          <p:cNvSpPr>
            <a:spLocks noGrp="1"/>
          </p:cNvSpPr>
          <p:nvPr>
            <p:ph idx="1"/>
          </p:nvPr>
        </p:nvSpPr>
        <p:spPr/>
        <p:txBody>
          <a:bodyPr>
            <a:normAutofit/>
          </a:bodyPr>
          <a:lstStyle/>
          <a:p>
            <a:pPr algn="just"/>
            <a:r>
              <a:rPr lang="en-US" sz="2400" dirty="0"/>
              <a:t>Heat reduces the capacity of water to retain oxygen.  </a:t>
            </a:r>
          </a:p>
          <a:p>
            <a:pPr algn="just"/>
            <a:r>
              <a:rPr lang="en-US" sz="2400" dirty="0"/>
              <a:t>In some areas, water used for cooling is discharged to streams at elevated temperatures from power plants and industries.  Even discharges from wastewater treatment plants and storm water retention ponds affected by summer heat can be released at temperatures above that of the receiving water, and elevate the stream temperature.  </a:t>
            </a:r>
          </a:p>
          <a:p>
            <a:pPr algn="just"/>
            <a:r>
              <a:rPr lang="en-US" sz="2400" dirty="0"/>
              <a:t>Unchecked discharges of waste heat can seriously alter the ecology of a lake, a stream, or estuary. </a:t>
            </a:r>
          </a:p>
        </p:txBody>
      </p:sp>
    </p:spTree>
    <p:extLst>
      <p:ext uri="{BB962C8B-B14F-4D97-AF65-F5344CB8AC3E}">
        <p14:creationId xmlns:p14="http://schemas.microsoft.com/office/powerpoint/2010/main" val="29886601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A69E6DE27C9AC43BCBB525DB9C8DBF0" ma:contentTypeVersion="4" ma:contentTypeDescription="Create a new document." ma:contentTypeScope="" ma:versionID="e2c02323e539b1cfdf710af1c53f10d1">
  <xsd:schema xmlns:xsd="http://www.w3.org/2001/XMLSchema" xmlns:xs="http://www.w3.org/2001/XMLSchema" xmlns:p="http://schemas.microsoft.com/office/2006/metadata/properties" xmlns:ns2="66a9b643-f79d-4ba3-b58a-2659a2e5ff7d" xmlns:ns3="b9da394a-a0ef-4c9f-ad39-60e4b8cd0745" targetNamespace="http://schemas.microsoft.com/office/2006/metadata/properties" ma:root="true" ma:fieldsID="c0d3ff0aa76ae77f8be6e6a85fcdbf01" ns2:_="" ns3:_="">
    <xsd:import namespace="66a9b643-f79d-4ba3-b58a-2659a2e5ff7d"/>
    <xsd:import namespace="b9da394a-a0ef-4c9f-ad39-60e4b8cd074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a9b643-f79d-4ba3-b58a-2659a2e5ff7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9da394a-a0ef-4c9f-ad39-60e4b8cd074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748965D-37D1-487D-9554-C94DD8978E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a9b643-f79d-4ba3-b58a-2659a2e5ff7d"/>
    <ds:schemaRef ds:uri="b9da394a-a0ef-4c9f-ad39-60e4b8cd07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D3FE28F-8ED4-4724-8AC6-67B444A2598B}">
  <ds:schemaRefs>
    <ds:schemaRef ds:uri="http://schemas.microsoft.com/sharepoint/v3/contenttype/forms"/>
  </ds:schemaRefs>
</ds:datastoreItem>
</file>

<file path=customXml/itemProps3.xml><?xml version="1.0" encoding="utf-8"?>
<ds:datastoreItem xmlns:ds="http://schemas.openxmlformats.org/officeDocument/2006/customXml" ds:itemID="{17FC9E93-3C7A-4756-ADD8-B6C80E6CE29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317</TotalTime>
  <Words>1005</Words>
  <Application>Microsoft Office PowerPoint</Application>
  <PresentationFormat>Widescreen</PresentationFormat>
  <Paragraphs>49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Water Pollution</vt:lpstr>
      <vt:lpstr>According to the Water (Prevention and Control of Pollution) Act, 1974, ―</vt:lpstr>
      <vt:lpstr>Classification of pollutants</vt:lpstr>
      <vt:lpstr>Causes of water pollution</vt:lpstr>
      <vt:lpstr>PowerPoint Presentation</vt:lpstr>
      <vt:lpstr>PowerPoint Presentation</vt:lpstr>
      <vt:lpstr>PowerPoint Presentation</vt:lpstr>
      <vt:lpstr>PowerPoint Presentation</vt:lpstr>
      <vt:lpstr>SOURCES OF WATER POLLUTION</vt:lpstr>
      <vt:lpstr>Type of Pollutants  Oxygen-Demanding Substances </vt:lpstr>
      <vt:lpstr>Pathogens </vt:lpstr>
      <vt:lpstr>Nutrients </vt:lpstr>
      <vt:lpstr>Inorganic and Synthetic Organic Chemicals </vt:lpstr>
      <vt:lpstr>PowerPoint Presentation</vt:lpstr>
      <vt:lpstr>Thermal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Pollution</dc:title>
  <dc:creator>Dr. Sukalyan Chakraborty</dc:creator>
  <cp:lastModifiedBy>Dr. Sukalyan Chakraborty</cp:lastModifiedBy>
  <cp:revision>16</cp:revision>
  <dcterms:created xsi:type="dcterms:W3CDTF">2020-10-08T18:13:17Z</dcterms:created>
  <dcterms:modified xsi:type="dcterms:W3CDTF">2022-03-15T13:10:58Z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0x0101006A69E6DE27C9AC43BCBB525DB9C8DBF0</vt:lpwstr>
  </property>
</Properties>
</file>