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Masters/slideMaster1.xml" ContentType="application/vnd.openxmlformats-officedocument.presentationml.slideMaster+xml"/>
  <Override PartName="/ppt/slideLayouts/slideLayout11.xml" ContentType="application/vnd.openxmlformats-officedocument.presentationml.slideLayout+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1.xml" ContentType="application/vnd.openxmlformats-officedocument.theme+xml"/>
  <Override PartName="/ppt/tableStyles.xml" ContentType="application/vnd.openxmlformats-officedocument.presentationml.tableStyles+xml"/>
  <Override PartName="/ppt/viewProps.xml" ContentType="application/vnd.openxmlformats-officedocument.presentationml.viewProps+xml"/>
  <Override PartName="/ppt/presProps.xml" ContentType="application/vnd.openxmlformats-officedocument.presentationml.presProps+xml"/>
  <Override PartName="/docProps/app.xml" ContentType="application/vnd.openxmlformats-officedocument.extended-properties+xml"/>
  <Override PartName="/docProps/core.xml" ContentType="application/vnd.openxmlformats-package.core-properties+xml"/>
  <Override PartName="/customXml/itemProps2.xml" ContentType="application/vnd.openxmlformats-officedocument.customXmlProperties+xml"/>
  <Override PartName="/customXml/itemProps1.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66" r:id="rId5"/>
    <p:sldId id="267" r:id="rId6"/>
    <p:sldId id="259" r:id="rId7"/>
    <p:sldId id="260" r:id="rId8"/>
    <p:sldId id="261" r:id="rId9"/>
    <p:sldId id="262" r:id="rId10"/>
    <p:sldId id="263" r:id="rId11"/>
    <p:sldId id="264" r:id="rId12"/>
    <p:sldId id="276" r:id="rId13"/>
    <p:sldId id="265" r:id="rId14"/>
    <p:sldId id="268" r:id="rId15"/>
    <p:sldId id="277" r:id="rId16"/>
    <p:sldId id="269" r:id="rId17"/>
    <p:sldId id="278" r:id="rId18"/>
    <p:sldId id="279" r:id="rId19"/>
    <p:sldId id="280" r:id="rId20"/>
    <p:sldId id="281" r:id="rId21"/>
    <p:sldId id="273" r:id="rId22"/>
    <p:sldId id="274" r:id="rId23"/>
    <p:sldId id="285" r:id="rId24"/>
    <p:sldId id="282" r:id="rId25"/>
    <p:sldId id="283" r:id="rId26"/>
    <p:sldId id="271" r:id="rId27"/>
    <p:sldId id="284" r:id="rId28"/>
    <p:sldId id="275" r:id="rId2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0016" autoAdjust="0"/>
    <p:restoredTop sz="94660"/>
  </p:normalViewPr>
  <p:slideViewPr>
    <p:cSldViewPr snapToGrid="0">
      <p:cViewPr varScale="1">
        <p:scale>
          <a:sx n="60" d="100"/>
          <a:sy n="60" d="100"/>
        </p:scale>
        <p:origin x="72" y="110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customXml" Target="../customXml/item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customXml" Target="../customXml/item3.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35" Type="http://schemas.openxmlformats.org/officeDocument/2006/relationships/customXml" Target="../customXml/item2.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436C35-F2CF-4119-9589-B7258059467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201EA67-28FB-4531-8C6F-90DAB5110C1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F39A15F-B9D3-4F55-92EB-6A6E521CA4A5}"/>
              </a:ext>
            </a:extLst>
          </p:cNvPr>
          <p:cNvSpPr>
            <a:spLocks noGrp="1"/>
          </p:cNvSpPr>
          <p:nvPr>
            <p:ph type="dt" sz="half" idx="10"/>
          </p:nvPr>
        </p:nvSpPr>
        <p:spPr/>
        <p:txBody>
          <a:bodyPr/>
          <a:lstStyle/>
          <a:p>
            <a:fld id="{9CCE97F2-7CDC-428B-9A6B-80404BC4FD79}" type="datetimeFigureOut">
              <a:rPr lang="en-US" smtClean="0"/>
              <a:t>2/9/2021</a:t>
            </a:fld>
            <a:endParaRPr lang="en-US"/>
          </a:p>
        </p:txBody>
      </p:sp>
      <p:sp>
        <p:nvSpPr>
          <p:cNvPr id="5" name="Footer Placeholder 4">
            <a:extLst>
              <a:ext uri="{FF2B5EF4-FFF2-40B4-BE49-F238E27FC236}">
                <a16:creationId xmlns:a16="http://schemas.microsoft.com/office/drawing/2014/main" id="{56E9D06D-08D7-4273-A07B-6C56CA0B4AD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330D016-969A-4A27-B45D-340D43B1EC30}"/>
              </a:ext>
            </a:extLst>
          </p:cNvPr>
          <p:cNvSpPr>
            <a:spLocks noGrp="1"/>
          </p:cNvSpPr>
          <p:nvPr>
            <p:ph type="sldNum" sz="quarter" idx="12"/>
          </p:nvPr>
        </p:nvSpPr>
        <p:spPr/>
        <p:txBody>
          <a:bodyPr/>
          <a:lstStyle/>
          <a:p>
            <a:fld id="{CA105447-7A74-4E43-9AE6-C6A5643D2B93}" type="slidenum">
              <a:rPr lang="en-US" smtClean="0"/>
              <a:t>‹#›</a:t>
            </a:fld>
            <a:endParaRPr lang="en-US"/>
          </a:p>
        </p:txBody>
      </p:sp>
    </p:spTree>
    <p:extLst>
      <p:ext uri="{BB962C8B-B14F-4D97-AF65-F5344CB8AC3E}">
        <p14:creationId xmlns:p14="http://schemas.microsoft.com/office/powerpoint/2010/main" val="41030818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69A1DA-3D4D-4D7C-A9FC-10E2707B23B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60520CA-976B-463F-98B1-EAE25A1CAAE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3D67514-F39F-40DF-8ED7-066B12F68A8F}"/>
              </a:ext>
            </a:extLst>
          </p:cNvPr>
          <p:cNvSpPr>
            <a:spLocks noGrp="1"/>
          </p:cNvSpPr>
          <p:nvPr>
            <p:ph type="dt" sz="half" idx="10"/>
          </p:nvPr>
        </p:nvSpPr>
        <p:spPr/>
        <p:txBody>
          <a:bodyPr/>
          <a:lstStyle/>
          <a:p>
            <a:fld id="{9CCE97F2-7CDC-428B-9A6B-80404BC4FD79}" type="datetimeFigureOut">
              <a:rPr lang="en-US" smtClean="0"/>
              <a:t>2/9/2021</a:t>
            </a:fld>
            <a:endParaRPr lang="en-US"/>
          </a:p>
        </p:txBody>
      </p:sp>
      <p:sp>
        <p:nvSpPr>
          <p:cNvPr id="5" name="Footer Placeholder 4">
            <a:extLst>
              <a:ext uri="{FF2B5EF4-FFF2-40B4-BE49-F238E27FC236}">
                <a16:creationId xmlns:a16="http://schemas.microsoft.com/office/drawing/2014/main" id="{A30C0A04-A60E-4265-8E06-38860A8622F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E00BD47-2127-47F3-8206-5A0A67F1A608}"/>
              </a:ext>
            </a:extLst>
          </p:cNvPr>
          <p:cNvSpPr>
            <a:spLocks noGrp="1"/>
          </p:cNvSpPr>
          <p:nvPr>
            <p:ph type="sldNum" sz="quarter" idx="12"/>
          </p:nvPr>
        </p:nvSpPr>
        <p:spPr/>
        <p:txBody>
          <a:bodyPr/>
          <a:lstStyle/>
          <a:p>
            <a:fld id="{CA105447-7A74-4E43-9AE6-C6A5643D2B93}" type="slidenum">
              <a:rPr lang="en-US" smtClean="0"/>
              <a:t>‹#›</a:t>
            </a:fld>
            <a:endParaRPr lang="en-US"/>
          </a:p>
        </p:txBody>
      </p:sp>
    </p:spTree>
    <p:extLst>
      <p:ext uri="{BB962C8B-B14F-4D97-AF65-F5344CB8AC3E}">
        <p14:creationId xmlns:p14="http://schemas.microsoft.com/office/powerpoint/2010/main" val="4125388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F525E5-9BA0-4576-9643-EE7991718F2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7763C1A-4F18-454F-951C-893BE85B807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C8B1412-5F01-4A22-BECC-2307A7C35340}"/>
              </a:ext>
            </a:extLst>
          </p:cNvPr>
          <p:cNvSpPr>
            <a:spLocks noGrp="1"/>
          </p:cNvSpPr>
          <p:nvPr>
            <p:ph type="dt" sz="half" idx="10"/>
          </p:nvPr>
        </p:nvSpPr>
        <p:spPr/>
        <p:txBody>
          <a:bodyPr/>
          <a:lstStyle/>
          <a:p>
            <a:fld id="{9CCE97F2-7CDC-428B-9A6B-80404BC4FD79}" type="datetimeFigureOut">
              <a:rPr lang="en-US" smtClean="0"/>
              <a:t>2/9/2021</a:t>
            </a:fld>
            <a:endParaRPr lang="en-US"/>
          </a:p>
        </p:txBody>
      </p:sp>
      <p:sp>
        <p:nvSpPr>
          <p:cNvPr id="5" name="Footer Placeholder 4">
            <a:extLst>
              <a:ext uri="{FF2B5EF4-FFF2-40B4-BE49-F238E27FC236}">
                <a16:creationId xmlns:a16="http://schemas.microsoft.com/office/drawing/2014/main" id="{656286B5-9FE1-4594-B3AD-459945E396E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616152B-FDEE-440B-92DC-2534A1551F2E}"/>
              </a:ext>
            </a:extLst>
          </p:cNvPr>
          <p:cNvSpPr>
            <a:spLocks noGrp="1"/>
          </p:cNvSpPr>
          <p:nvPr>
            <p:ph type="sldNum" sz="quarter" idx="12"/>
          </p:nvPr>
        </p:nvSpPr>
        <p:spPr/>
        <p:txBody>
          <a:bodyPr/>
          <a:lstStyle/>
          <a:p>
            <a:fld id="{CA105447-7A74-4E43-9AE6-C6A5643D2B93}" type="slidenum">
              <a:rPr lang="en-US" smtClean="0"/>
              <a:t>‹#›</a:t>
            </a:fld>
            <a:endParaRPr lang="en-US"/>
          </a:p>
        </p:txBody>
      </p:sp>
    </p:spTree>
    <p:extLst>
      <p:ext uri="{BB962C8B-B14F-4D97-AF65-F5344CB8AC3E}">
        <p14:creationId xmlns:p14="http://schemas.microsoft.com/office/powerpoint/2010/main" val="7454996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A30271-2465-4988-817C-09E501CAFBD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24A9B8D-90F1-454B-B8F4-2B0D4A51EA9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3ECA08B-BB80-4FF6-86EC-331BB7B0771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DE3B98E2-F997-4A36-B5CF-16DD52407235}"/>
              </a:ext>
            </a:extLst>
          </p:cNvPr>
          <p:cNvSpPr>
            <a:spLocks noGrp="1"/>
          </p:cNvSpPr>
          <p:nvPr>
            <p:ph type="dt" sz="half" idx="10"/>
          </p:nvPr>
        </p:nvSpPr>
        <p:spPr/>
        <p:txBody>
          <a:bodyPr/>
          <a:lstStyle/>
          <a:p>
            <a:fld id="{9CCE97F2-7CDC-428B-9A6B-80404BC4FD79}" type="datetimeFigureOut">
              <a:rPr lang="en-US" smtClean="0"/>
              <a:t>2/9/2021</a:t>
            </a:fld>
            <a:endParaRPr lang="en-US"/>
          </a:p>
        </p:txBody>
      </p:sp>
      <p:sp>
        <p:nvSpPr>
          <p:cNvPr id="6" name="Footer Placeholder 5">
            <a:extLst>
              <a:ext uri="{FF2B5EF4-FFF2-40B4-BE49-F238E27FC236}">
                <a16:creationId xmlns:a16="http://schemas.microsoft.com/office/drawing/2014/main" id="{72D52887-01BC-4394-916E-0AD06F23EE2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8091D05-3A11-4384-B199-327583884143}"/>
              </a:ext>
            </a:extLst>
          </p:cNvPr>
          <p:cNvSpPr>
            <a:spLocks noGrp="1"/>
          </p:cNvSpPr>
          <p:nvPr>
            <p:ph type="sldNum" sz="quarter" idx="12"/>
          </p:nvPr>
        </p:nvSpPr>
        <p:spPr/>
        <p:txBody>
          <a:bodyPr/>
          <a:lstStyle/>
          <a:p>
            <a:fld id="{CA105447-7A74-4E43-9AE6-C6A5643D2B93}" type="slidenum">
              <a:rPr lang="en-US" smtClean="0"/>
              <a:t>‹#›</a:t>
            </a:fld>
            <a:endParaRPr lang="en-US"/>
          </a:p>
        </p:txBody>
      </p:sp>
    </p:spTree>
    <p:extLst>
      <p:ext uri="{BB962C8B-B14F-4D97-AF65-F5344CB8AC3E}">
        <p14:creationId xmlns:p14="http://schemas.microsoft.com/office/powerpoint/2010/main" val="14994150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382DCD-C7E1-4124-A156-7846661DC1D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E054944-06E8-40C0-8A1C-E7A11021B2D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F9BB72E-7590-4D57-BB7D-7AFDBB411F5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231DC82-865D-41E1-A172-169F1914FB3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F00CC8A-D66A-442E-9805-856630B72D4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EFC0ADE-2BB2-431D-8EF6-CDA6E561EDCA}"/>
              </a:ext>
            </a:extLst>
          </p:cNvPr>
          <p:cNvSpPr>
            <a:spLocks noGrp="1"/>
          </p:cNvSpPr>
          <p:nvPr>
            <p:ph type="dt" sz="half" idx="10"/>
          </p:nvPr>
        </p:nvSpPr>
        <p:spPr/>
        <p:txBody>
          <a:bodyPr/>
          <a:lstStyle/>
          <a:p>
            <a:fld id="{9CCE97F2-7CDC-428B-9A6B-80404BC4FD79}" type="datetimeFigureOut">
              <a:rPr lang="en-US" smtClean="0"/>
              <a:t>2/9/2021</a:t>
            </a:fld>
            <a:endParaRPr lang="en-US"/>
          </a:p>
        </p:txBody>
      </p:sp>
      <p:sp>
        <p:nvSpPr>
          <p:cNvPr id="8" name="Footer Placeholder 7">
            <a:extLst>
              <a:ext uri="{FF2B5EF4-FFF2-40B4-BE49-F238E27FC236}">
                <a16:creationId xmlns:a16="http://schemas.microsoft.com/office/drawing/2014/main" id="{5582929E-AD19-4330-B850-D245E48AE68A}"/>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0561FBA-4D6A-4523-A0F7-461763129E02}"/>
              </a:ext>
            </a:extLst>
          </p:cNvPr>
          <p:cNvSpPr>
            <a:spLocks noGrp="1"/>
          </p:cNvSpPr>
          <p:nvPr>
            <p:ph type="sldNum" sz="quarter" idx="12"/>
          </p:nvPr>
        </p:nvSpPr>
        <p:spPr/>
        <p:txBody>
          <a:bodyPr/>
          <a:lstStyle/>
          <a:p>
            <a:fld id="{CA105447-7A74-4E43-9AE6-C6A5643D2B93}" type="slidenum">
              <a:rPr lang="en-US" smtClean="0"/>
              <a:t>‹#›</a:t>
            </a:fld>
            <a:endParaRPr lang="en-US"/>
          </a:p>
        </p:txBody>
      </p:sp>
    </p:spTree>
    <p:extLst>
      <p:ext uri="{BB962C8B-B14F-4D97-AF65-F5344CB8AC3E}">
        <p14:creationId xmlns:p14="http://schemas.microsoft.com/office/powerpoint/2010/main" val="24554332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C96CC1-0D56-47D9-9F5F-069E9B35D1F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BA97A07-2074-42DB-AC33-395C7A9BBA91}"/>
              </a:ext>
            </a:extLst>
          </p:cNvPr>
          <p:cNvSpPr>
            <a:spLocks noGrp="1"/>
          </p:cNvSpPr>
          <p:nvPr>
            <p:ph type="dt" sz="half" idx="10"/>
          </p:nvPr>
        </p:nvSpPr>
        <p:spPr/>
        <p:txBody>
          <a:bodyPr/>
          <a:lstStyle/>
          <a:p>
            <a:fld id="{9CCE97F2-7CDC-428B-9A6B-80404BC4FD79}" type="datetimeFigureOut">
              <a:rPr lang="en-US" smtClean="0"/>
              <a:t>2/9/2021</a:t>
            </a:fld>
            <a:endParaRPr lang="en-US"/>
          </a:p>
        </p:txBody>
      </p:sp>
      <p:sp>
        <p:nvSpPr>
          <p:cNvPr id="4" name="Footer Placeholder 3">
            <a:extLst>
              <a:ext uri="{FF2B5EF4-FFF2-40B4-BE49-F238E27FC236}">
                <a16:creationId xmlns:a16="http://schemas.microsoft.com/office/drawing/2014/main" id="{AF0508A1-2862-435D-9D60-6F4DA78984B1}"/>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02E32E6-7457-4AA0-9806-02A1CD46505B}"/>
              </a:ext>
            </a:extLst>
          </p:cNvPr>
          <p:cNvSpPr>
            <a:spLocks noGrp="1"/>
          </p:cNvSpPr>
          <p:nvPr>
            <p:ph type="sldNum" sz="quarter" idx="12"/>
          </p:nvPr>
        </p:nvSpPr>
        <p:spPr/>
        <p:txBody>
          <a:bodyPr/>
          <a:lstStyle/>
          <a:p>
            <a:fld id="{CA105447-7A74-4E43-9AE6-C6A5643D2B93}" type="slidenum">
              <a:rPr lang="en-US" smtClean="0"/>
              <a:t>‹#›</a:t>
            </a:fld>
            <a:endParaRPr lang="en-US"/>
          </a:p>
        </p:txBody>
      </p:sp>
    </p:spTree>
    <p:extLst>
      <p:ext uri="{BB962C8B-B14F-4D97-AF65-F5344CB8AC3E}">
        <p14:creationId xmlns:p14="http://schemas.microsoft.com/office/powerpoint/2010/main" val="293225205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3C1FF4B-364E-4EA4-90F9-B0044E5FA5E9}"/>
              </a:ext>
            </a:extLst>
          </p:cNvPr>
          <p:cNvSpPr>
            <a:spLocks noGrp="1"/>
          </p:cNvSpPr>
          <p:nvPr>
            <p:ph type="dt" sz="half" idx="10"/>
          </p:nvPr>
        </p:nvSpPr>
        <p:spPr/>
        <p:txBody>
          <a:bodyPr/>
          <a:lstStyle/>
          <a:p>
            <a:fld id="{9CCE97F2-7CDC-428B-9A6B-80404BC4FD79}" type="datetimeFigureOut">
              <a:rPr lang="en-US" smtClean="0"/>
              <a:t>2/9/2021</a:t>
            </a:fld>
            <a:endParaRPr lang="en-US"/>
          </a:p>
        </p:txBody>
      </p:sp>
      <p:sp>
        <p:nvSpPr>
          <p:cNvPr id="3" name="Footer Placeholder 2">
            <a:extLst>
              <a:ext uri="{FF2B5EF4-FFF2-40B4-BE49-F238E27FC236}">
                <a16:creationId xmlns:a16="http://schemas.microsoft.com/office/drawing/2014/main" id="{CBB19B15-1576-4852-86E3-F203B5EC1AB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FACDF14-F147-4795-8910-EAD5F953EFDC}"/>
              </a:ext>
            </a:extLst>
          </p:cNvPr>
          <p:cNvSpPr>
            <a:spLocks noGrp="1"/>
          </p:cNvSpPr>
          <p:nvPr>
            <p:ph type="sldNum" sz="quarter" idx="12"/>
          </p:nvPr>
        </p:nvSpPr>
        <p:spPr/>
        <p:txBody>
          <a:bodyPr/>
          <a:lstStyle/>
          <a:p>
            <a:fld id="{CA105447-7A74-4E43-9AE6-C6A5643D2B93}" type="slidenum">
              <a:rPr lang="en-US" smtClean="0"/>
              <a:t>‹#›</a:t>
            </a:fld>
            <a:endParaRPr lang="en-US"/>
          </a:p>
        </p:txBody>
      </p:sp>
    </p:spTree>
    <p:extLst>
      <p:ext uri="{BB962C8B-B14F-4D97-AF65-F5344CB8AC3E}">
        <p14:creationId xmlns:p14="http://schemas.microsoft.com/office/powerpoint/2010/main" val="10070230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04E6D8-27B2-4856-B568-73A8BA77884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F264D9C-6838-44B6-B431-3893FDC7816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D414C61-45CA-4755-A4D5-A6D1B23F2DB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03B35A4-7140-4083-BA53-90408D363EB0}"/>
              </a:ext>
            </a:extLst>
          </p:cNvPr>
          <p:cNvSpPr>
            <a:spLocks noGrp="1"/>
          </p:cNvSpPr>
          <p:nvPr>
            <p:ph type="dt" sz="half" idx="10"/>
          </p:nvPr>
        </p:nvSpPr>
        <p:spPr/>
        <p:txBody>
          <a:bodyPr/>
          <a:lstStyle/>
          <a:p>
            <a:fld id="{9CCE97F2-7CDC-428B-9A6B-80404BC4FD79}" type="datetimeFigureOut">
              <a:rPr lang="en-US" smtClean="0"/>
              <a:t>2/9/2021</a:t>
            </a:fld>
            <a:endParaRPr lang="en-US"/>
          </a:p>
        </p:txBody>
      </p:sp>
      <p:sp>
        <p:nvSpPr>
          <p:cNvPr id="6" name="Footer Placeholder 5">
            <a:extLst>
              <a:ext uri="{FF2B5EF4-FFF2-40B4-BE49-F238E27FC236}">
                <a16:creationId xmlns:a16="http://schemas.microsoft.com/office/drawing/2014/main" id="{A0FA8753-47ED-4990-951E-A9F2E87F74C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5F52E07-FD1F-4DDF-A098-4C4475D0E387}"/>
              </a:ext>
            </a:extLst>
          </p:cNvPr>
          <p:cNvSpPr>
            <a:spLocks noGrp="1"/>
          </p:cNvSpPr>
          <p:nvPr>
            <p:ph type="sldNum" sz="quarter" idx="12"/>
          </p:nvPr>
        </p:nvSpPr>
        <p:spPr/>
        <p:txBody>
          <a:bodyPr/>
          <a:lstStyle/>
          <a:p>
            <a:fld id="{CA105447-7A74-4E43-9AE6-C6A5643D2B93}" type="slidenum">
              <a:rPr lang="en-US" smtClean="0"/>
              <a:t>‹#›</a:t>
            </a:fld>
            <a:endParaRPr lang="en-US"/>
          </a:p>
        </p:txBody>
      </p:sp>
    </p:spTree>
    <p:extLst>
      <p:ext uri="{BB962C8B-B14F-4D97-AF65-F5344CB8AC3E}">
        <p14:creationId xmlns:p14="http://schemas.microsoft.com/office/powerpoint/2010/main" val="6364114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71BD9A-636F-415B-A172-940EC02C0B0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72A78A3-F563-4C6C-B6B6-583BA8BF2F5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FDB90A0-B267-480D-A4F9-F8FBD3C0E73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D581A5C-172E-4439-A8EB-39A2DB96C548}"/>
              </a:ext>
            </a:extLst>
          </p:cNvPr>
          <p:cNvSpPr>
            <a:spLocks noGrp="1"/>
          </p:cNvSpPr>
          <p:nvPr>
            <p:ph type="dt" sz="half" idx="10"/>
          </p:nvPr>
        </p:nvSpPr>
        <p:spPr/>
        <p:txBody>
          <a:bodyPr/>
          <a:lstStyle/>
          <a:p>
            <a:fld id="{9CCE97F2-7CDC-428B-9A6B-80404BC4FD79}" type="datetimeFigureOut">
              <a:rPr lang="en-US" smtClean="0"/>
              <a:t>2/9/2021</a:t>
            </a:fld>
            <a:endParaRPr lang="en-US"/>
          </a:p>
        </p:txBody>
      </p:sp>
      <p:sp>
        <p:nvSpPr>
          <p:cNvPr id="6" name="Footer Placeholder 5">
            <a:extLst>
              <a:ext uri="{FF2B5EF4-FFF2-40B4-BE49-F238E27FC236}">
                <a16:creationId xmlns:a16="http://schemas.microsoft.com/office/drawing/2014/main" id="{018D5CBB-1B58-442E-AFF5-47C6E5F5E9D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5975483-DD52-49C0-8943-81F3CF942399}"/>
              </a:ext>
            </a:extLst>
          </p:cNvPr>
          <p:cNvSpPr>
            <a:spLocks noGrp="1"/>
          </p:cNvSpPr>
          <p:nvPr>
            <p:ph type="sldNum" sz="quarter" idx="12"/>
          </p:nvPr>
        </p:nvSpPr>
        <p:spPr/>
        <p:txBody>
          <a:bodyPr/>
          <a:lstStyle/>
          <a:p>
            <a:fld id="{CA105447-7A74-4E43-9AE6-C6A5643D2B93}" type="slidenum">
              <a:rPr lang="en-US" smtClean="0"/>
              <a:t>‹#›</a:t>
            </a:fld>
            <a:endParaRPr lang="en-US"/>
          </a:p>
        </p:txBody>
      </p:sp>
    </p:spTree>
    <p:extLst>
      <p:ext uri="{BB962C8B-B14F-4D97-AF65-F5344CB8AC3E}">
        <p14:creationId xmlns:p14="http://schemas.microsoft.com/office/powerpoint/2010/main" val="27167027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489E41-B8A2-469F-AA0D-83D158658BA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F8BFBA9-472A-4F32-ADD7-FF782AB562A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06696D4-D9E1-4B0C-BFC9-2900D2016F71}"/>
              </a:ext>
            </a:extLst>
          </p:cNvPr>
          <p:cNvSpPr>
            <a:spLocks noGrp="1"/>
          </p:cNvSpPr>
          <p:nvPr>
            <p:ph type="dt" sz="half" idx="10"/>
          </p:nvPr>
        </p:nvSpPr>
        <p:spPr/>
        <p:txBody>
          <a:bodyPr/>
          <a:lstStyle/>
          <a:p>
            <a:fld id="{9CCE97F2-7CDC-428B-9A6B-80404BC4FD79}" type="datetimeFigureOut">
              <a:rPr lang="en-US" smtClean="0"/>
              <a:t>2/9/2021</a:t>
            </a:fld>
            <a:endParaRPr lang="en-US"/>
          </a:p>
        </p:txBody>
      </p:sp>
      <p:sp>
        <p:nvSpPr>
          <p:cNvPr id="5" name="Footer Placeholder 4">
            <a:extLst>
              <a:ext uri="{FF2B5EF4-FFF2-40B4-BE49-F238E27FC236}">
                <a16:creationId xmlns:a16="http://schemas.microsoft.com/office/drawing/2014/main" id="{C77C706C-0B00-4C8A-997A-03CF7F62C75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B774C29-E5D4-4013-A116-0965F682795D}"/>
              </a:ext>
            </a:extLst>
          </p:cNvPr>
          <p:cNvSpPr>
            <a:spLocks noGrp="1"/>
          </p:cNvSpPr>
          <p:nvPr>
            <p:ph type="sldNum" sz="quarter" idx="12"/>
          </p:nvPr>
        </p:nvSpPr>
        <p:spPr/>
        <p:txBody>
          <a:bodyPr/>
          <a:lstStyle/>
          <a:p>
            <a:fld id="{CA105447-7A74-4E43-9AE6-C6A5643D2B93}" type="slidenum">
              <a:rPr lang="en-US" smtClean="0"/>
              <a:t>‹#›</a:t>
            </a:fld>
            <a:endParaRPr lang="en-US"/>
          </a:p>
        </p:txBody>
      </p:sp>
    </p:spTree>
    <p:extLst>
      <p:ext uri="{BB962C8B-B14F-4D97-AF65-F5344CB8AC3E}">
        <p14:creationId xmlns:p14="http://schemas.microsoft.com/office/powerpoint/2010/main" val="40370543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C4BCAEA-6D0B-4D4B-93D5-A93886CC233D}"/>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BA6AE99-24C4-4F37-81A5-1C74D2F67F2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B539CD0-9870-4BBC-8153-B32BB10A932B}"/>
              </a:ext>
            </a:extLst>
          </p:cNvPr>
          <p:cNvSpPr>
            <a:spLocks noGrp="1"/>
          </p:cNvSpPr>
          <p:nvPr>
            <p:ph type="dt" sz="half" idx="10"/>
          </p:nvPr>
        </p:nvSpPr>
        <p:spPr/>
        <p:txBody>
          <a:bodyPr/>
          <a:lstStyle/>
          <a:p>
            <a:fld id="{9CCE97F2-7CDC-428B-9A6B-80404BC4FD79}" type="datetimeFigureOut">
              <a:rPr lang="en-US" smtClean="0"/>
              <a:t>2/9/2021</a:t>
            </a:fld>
            <a:endParaRPr lang="en-US"/>
          </a:p>
        </p:txBody>
      </p:sp>
      <p:sp>
        <p:nvSpPr>
          <p:cNvPr id="5" name="Footer Placeholder 4">
            <a:extLst>
              <a:ext uri="{FF2B5EF4-FFF2-40B4-BE49-F238E27FC236}">
                <a16:creationId xmlns:a16="http://schemas.microsoft.com/office/drawing/2014/main" id="{B6A445B9-5B85-407B-9C12-9B404AE0A7C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CD83DC5-8508-486B-97F6-4FC9D1150961}"/>
              </a:ext>
            </a:extLst>
          </p:cNvPr>
          <p:cNvSpPr>
            <a:spLocks noGrp="1"/>
          </p:cNvSpPr>
          <p:nvPr>
            <p:ph type="sldNum" sz="quarter" idx="12"/>
          </p:nvPr>
        </p:nvSpPr>
        <p:spPr/>
        <p:txBody>
          <a:bodyPr/>
          <a:lstStyle/>
          <a:p>
            <a:fld id="{CA105447-7A74-4E43-9AE6-C6A5643D2B93}" type="slidenum">
              <a:rPr lang="en-US" smtClean="0"/>
              <a:t>‹#›</a:t>
            </a:fld>
            <a:endParaRPr lang="en-US"/>
          </a:p>
        </p:txBody>
      </p:sp>
    </p:spTree>
    <p:extLst>
      <p:ext uri="{BB962C8B-B14F-4D97-AF65-F5344CB8AC3E}">
        <p14:creationId xmlns:p14="http://schemas.microsoft.com/office/powerpoint/2010/main" val="38713387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B86A4E1-3FB1-4345-9270-2B096E22F43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D8BA7254-78D8-4BF6-BE74-69E10F7C790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2EA5BEC-E704-4D79-97F7-F35C08E52C7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CCE97F2-7CDC-428B-9A6B-80404BC4FD79}" type="datetimeFigureOut">
              <a:rPr lang="en-US" smtClean="0"/>
              <a:t>2/9/2021</a:t>
            </a:fld>
            <a:endParaRPr lang="en-US"/>
          </a:p>
        </p:txBody>
      </p:sp>
      <p:sp>
        <p:nvSpPr>
          <p:cNvPr id="5" name="Footer Placeholder 4">
            <a:extLst>
              <a:ext uri="{FF2B5EF4-FFF2-40B4-BE49-F238E27FC236}">
                <a16:creationId xmlns:a16="http://schemas.microsoft.com/office/drawing/2014/main" id="{CA799C78-36BF-46D6-A350-D4EC347E738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94F857A6-D864-47B0-8E41-55619711188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A105447-7A74-4E43-9AE6-C6A5643D2B93}" type="slidenum">
              <a:rPr lang="en-US" smtClean="0"/>
              <a:t>‹#›</a:t>
            </a:fld>
            <a:endParaRPr lang="en-US"/>
          </a:p>
        </p:txBody>
      </p:sp>
    </p:spTree>
    <p:extLst>
      <p:ext uri="{BB962C8B-B14F-4D97-AF65-F5344CB8AC3E}">
        <p14:creationId xmlns:p14="http://schemas.microsoft.com/office/powerpoint/2010/main" val="82781908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Layout" Target="../slideLayouts/slideLayout2.xml"/><Relationship Id="rId5" Type="http://schemas.microsoft.com/office/2007/relationships/hdphoto" Target="../media/hdphoto1.wdp"/><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2" Type="http://schemas.openxmlformats.org/officeDocument/2006/relationships/hyperlink" Target="https://en.wikipedia.org/wiki/Micropascal" TargetMode="Externa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 Id="rId5" Type="http://schemas.openxmlformats.org/officeDocument/2006/relationships/image" Target="../media/image23.png"/><Relationship Id="rId4" Type="http://schemas.openxmlformats.org/officeDocument/2006/relationships/image" Target="../media/image2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E2766F-8393-4010-9704-2C1C22E8515B}"/>
              </a:ext>
            </a:extLst>
          </p:cNvPr>
          <p:cNvSpPr>
            <a:spLocks noGrp="1"/>
          </p:cNvSpPr>
          <p:nvPr>
            <p:ph type="ctrTitle"/>
          </p:nvPr>
        </p:nvSpPr>
        <p:spPr/>
        <p:txBody>
          <a:bodyPr/>
          <a:lstStyle/>
          <a:p>
            <a:r>
              <a:rPr lang="en-US" dirty="0"/>
              <a:t>Noise and Vibration Hazards</a:t>
            </a:r>
          </a:p>
        </p:txBody>
      </p:sp>
      <p:sp>
        <p:nvSpPr>
          <p:cNvPr id="3" name="Subtitle 2">
            <a:extLst>
              <a:ext uri="{FF2B5EF4-FFF2-40B4-BE49-F238E27FC236}">
                <a16:creationId xmlns:a16="http://schemas.microsoft.com/office/drawing/2014/main" id="{4FE3D935-CC5D-4B1C-9734-89A3A70DE16D}"/>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23023838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5E1DFB7-59F4-4F56-8D7D-8441EE15ECEA}"/>
              </a:ext>
            </a:extLst>
          </p:cNvPr>
          <p:cNvPicPr>
            <a:picLocks noChangeAspect="1"/>
          </p:cNvPicPr>
          <p:nvPr/>
        </p:nvPicPr>
        <p:blipFill rotWithShape="1">
          <a:blip r:embed="rId2">
            <a:alphaModFix/>
          </a:blip>
          <a:srcRect l="16682" r="28775" b="1"/>
          <a:stretch/>
        </p:blipFill>
        <p:spPr>
          <a:xfrm>
            <a:off x="5797543" y="10"/>
            <a:ext cx="6394152" cy="6857990"/>
          </a:xfrm>
          <a:prstGeom prst="rect">
            <a:avLst/>
          </a:prstGeom>
        </p:spPr>
      </p:pic>
      <p:pic>
        <p:nvPicPr>
          <p:cNvPr id="9" name="Picture 8">
            <a:extLst>
              <a:ext uri="{FF2B5EF4-FFF2-40B4-BE49-F238E27FC236}">
                <a16:creationId xmlns:a16="http://schemas.microsoft.com/office/drawing/2014/main" id="{54DDEBDD-D8BD-41A6-8A0D-B00E3768B0F9}"/>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flipH="1" flipV="1">
            <a:off x="0" y="0"/>
            <a:ext cx="12192000" cy="6858000"/>
          </a:xfrm>
          <a:prstGeom prst="rect">
            <a:avLst/>
          </a:prstGeom>
        </p:spPr>
      </p:pic>
      <p:sp>
        <p:nvSpPr>
          <p:cNvPr id="2" name="Title 1">
            <a:extLst>
              <a:ext uri="{FF2B5EF4-FFF2-40B4-BE49-F238E27FC236}">
                <a16:creationId xmlns:a16="http://schemas.microsoft.com/office/drawing/2014/main" id="{6C57FA8C-EB20-4A40-8FC5-13F6DDA41714}"/>
              </a:ext>
            </a:extLst>
          </p:cNvPr>
          <p:cNvSpPr>
            <a:spLocks noGrp="1"/>
          </p:cNvSpPr>
          <p:nvPr>
            <p:ph type="title"/>
          </p:nvPr>
        </p:nvSpPr>
        <p:spPr>
          <a:xfrm>
            <a:off x="708164" y="458691"/>
            <a:ext cx="4803636" cy="676671"/>
          </a:xfrm>
        </p:spPr>
        <p:txBody>
          <a:bodyPr>
            <a:normAutofit fontScale="90000"/>
          </a:bodyPr>
          <a:lstStyle/>
          <a:p>
            <a:r>
              <a:rPr lang="en-US" dirty="0">
                <a:solidFill>
                  <a:srgbClr val="000000"/>
                </a:solidFill>
              </a:rPr>
              <a:t>Noise</a:t>
            </a:r>
          </a:p>
        </p:txBody>
      </p:sp>
      <p:sp>
        <p:nvSpPr>
          <p:cNvPr id="3" name="Content Placeholder 2">
            <a:extLst>
              <a:ext uri="{FF2B5EF4-FFF2-40B4-BE49-F238E27FC236}">
                <a16:creationId xmlns:a16="http://schemas.microsoft.com/office/drawing/2014/main" id="{1512ED06-3853-45A8-8737-AAEBB682B889}"/>
              </a:ext>
            </a:extLst>
          </p:cNvPr>
          <p:cNvSpPr>
            <a:spLocks noGrp="1"/>
          </p:cNvSpPr>
          <p:nvPr>
            <p:ph idx="1"/>
          </p:nvPr>
        </p:nvSpPr>
        <p:spPr>
          <a:xfrm>
            <a:off x="370657" y="1456039"/>
            <a:ext cx="5426581" cy="4943270"/>
          </a:xfrm>
        </p:spPr>
        <p:txBody>
          <a:bodyPr anchor="ctr">
            <a:normAutofit/>
          </a:bodyPr>
          <a:lstStyle/>
          <a:p>
            <a:pPr marL="0" indent="0">
              <a:buNone/>
            </a:pPr>
            <a:r>
              <a:rPr lang="en-US" sz="1800" b="0" i="0" dirty="0">
                <a:solidFill>
                  <a:srgbClr val="000000"/>
                </a:solidFill>
                <a:effectLst/>
                <a:latin typeface="Arial" panose="020B0604020202020204" pitchFamily="34" charset="0"/>
                <a:cs typeface="Arial" panose="020B0604020202020204" pitchFamily="34" charset="0"/>
              </a:rPr>
              <a:t> Sound is any change in pressure that can be detected by ear. </a:t>
            </a:r>
          </a:p>
          <a:p>
            <a:pPr marL="0" indent="0">
              <a:buNone/>
            </a:pPr>
            <a:r>
              <a:rPr lang="en-US" sz="1800" b="0" i="0" dirty="0">
                <a:solidFill>
                  <a:srgbClr val="000000"/>
                </a:solidFill>
                <a:effectLst/>
                <a:latin typeface="Arial" panose="020B0604020202020204" pitchFamily="34" charset="0"/>
                <a:cs typeface="Arial" panose="020B0604020202020204" pitchFamily="34" charset="0"/>
              </a:rPr>
              <a:t> Noise is defined as: Noise is unwanted or damaging sound that may damage our hearing </a:t>
            </a:r>
          </a:p>
          <a:p>
            <a:pPr marL="0" indent="0">
              <a:buNone/>
            </a:pPr>
            <a:r>
              <a:rPr lang="en-US" sz="1800" b="0" i="0" dirty="0">
                <a:solidFill>
                  <a:srgbClr val="000000"/>
                </a:solidFill>
                <a:effectLst/>
                <a:latin typeface="Arial" panose="020B0604020202020204" pitchFamily="34" charset="0"/>
                <a:cs typeface="Arial" panose="020B0604020202020204" pitchFamily="34" charset="0"/>
              </a:rPr>
              <a:t> Sound or a sound that is loud, unpleasant, unexpected, or undesired. </a:t>
            </a:r>
          </a:p>
          <a:p>
            <a:pPr marL="0" indent="0">
              <a:buNone/>
            </a:pPr>
            <a:r>
              <a:rPr lang="en-US" sz="1800" b="0" i="0" dirty="0">
                <a:solidFill>
                  <a:srgbClr val="000000"/>
                </a:solidFill>
                <a:effectLst/>
                <a:latin typeface="Arial" panose="020B0604020202020204" pitchFamily="34" charset="0"/>
                <a:cs typeface="Arial" panose="020B0604020202020204" pitchFamily="34" charset="0"/>
              </a:rPr>
              <a:t> By product of many industrial processes (ex. operating machinery) </a:t>
            </a:r>
          </a:p>
          <a:p>
            <a:pPr marL="0" indent="0">
              <a:buNone/>
            </a:pPr>
            <a:r>
              <a:rPr lang="en-US" sz="1800" b="0" i="0" dirty="0">
                <a:solidFill>
                  <a:srgbClr val="000000"/>
                </a:solidFill>
                <a:effectLst/>
                <a:latin typeface="Arial" panose="020B0604020202020204" pitchFamily="34" charset="0"/>
                <a:cs typeface="Arial" panose="020B0604020202020204" pitchFamily="34" charset="0"/>
              </a:rPr>
              <a:t>Word ‘NOISE’ derived from </a:t>
            </a:r>
            <a:r>
              <a:rPr lang="en-US" sz="1800" b="0" i="0" dirty="0" err="1">
                <a:solidFill>
                  <a:srgbClr val="000000"/>
                </a:solidFill>
                <a:effectLst/>
                <a:latin typeface="Arial" panose="020B0604020202020204" pitchFamily="34" charset="0"/>
                <a:cs typeface="Arial" panose="020B0604020202020204" pitchFamily="34" charset="0"/>
              </a:rPr>
              <a:t>latin</a:t>
            </a:r>
            <a:r>
              <a:rPr lang="en-US" sz="1800" b="0" i="0" dirty="0">
                <a:solidFill>
                  <a:srgbClr val="000000"/>
                </a:solidFill>
                <a:effectLst/>
                <a:latin typeface="Arial" panose="020B0604020202020204" pitchFamily="34" charset="0"/>
                <a:cs typeface="Arial" panose="020B0604020202020204" pitchFamily="34" charset="0"/>
              </a:rPr>
              <a:t> word ‘NAUSEA’ which means feeling sickness </a:t>
            </a:r>
          </a:p>
          <a:p>
            <a:pPr marL="0" indent="0">
              <a:buNone/>
            </a:pPr>
            <a:r>
              <a:rPr lang="en-US" sz="1800" b="0" i="0" dirty="0">
                <a:solidFill>
                  <a:srgbClr val="000000"/>
                </a:solidFill>
                <a:effectLst/>
                <a:latin typeface="Arial" panose="020B0604020202020204" pitchFamily="34" charset="0"/>
                <a:cs typeface="Arial" panose="020B0604020202020204" pitchFamily="34" charset="0"/>
              </a:rPr>
              <a:t>Noise is a type of sound which:- </a:t>
            </a:r>
          </a:p>
          <a:p>
            <a:pPr marL="1028700" lvl="1" indent="-571500">
              <a:buAutoNum type="romanLcPeriod"/>
            </a:pPr>
            <a:r>
              <a:rPr lang="en-US" sz="1800" b="0" i="0" dirty="0">
                <a:solidFill>
                  <a:srgbClr val="000000"/>
                </a:solidFill>
                <a:effectLst/>
                <a:latin typeface="Arial" panose="020B0604020202020204" pitchFamily="34" charset="0"/>
                <a:cs typeface="Arial" panose="020B0604020202020204" pitchFamily="34" charset="0"/>
              </a:rPr>
              <a:t>Caries no information </a:t>
            </a:r>
          </a:p>
          <a:p>
            <a:pPr marL="1028700" lvl="1" indent="-571500">
              <a:buAutoNum type="romanLcPeriod"/>
            </a:pPr>
            <a:r>
              <a:rPr lang="en-US" sz="1800" b="0" i="0" dirty="0">
                <a:solidFill>
                  <a:srgbClr val="000000"/>
                </a:solidFill>
                <a:effectLst/>
                <a:latin typeface="Arial" panose="020B0604020202020204" pitchFamily="34" charset="0"/>
                <a:cs typeface="Arial" panose="020B0604020202020204" pitchFamily="34" charset="0"/>
              </a:rPr>
              <a:t>Random </a:t>
            </a:r>
          </a:p>
          <a:p>
            <a:pPr marL="1028700" lvl="1" indent="-571500">
              <a:buAutoNum type="romanLcPeriod"/>
            </a:pPr>
            <a:r>
              <a:rPr lang="en-US" sz="1800" b="0" i="0" dirty="0">
                <a:solidFill>
                  <a:srgbClr val="000000"/>
                </a:solidFill>
                <a:effectLst/>
                <a:latin typeface="Arial" panose="020B0604020202020204" pitchFamily="34" charset="0"/>
                <a:cs typeface="Arial" panose="020B0604020202020204" pitchFamily="34" charset="0"/>
              </a:rPr>
              <a:t>Undesirable &amp; Unwanted</a:t>
            </a:r>
            <a:endParaRPr lang="en-US" sz="1800" dirty="0">
              <a:solidFill>
                <a:srgbClr val="00000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5359965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7CBE20-4E7A-4441-A217-8010F862BAE4}"/>
              </a:ext>
            </a:extLst>
          </p:cNvPr>
          <p:cNvSpPr>
            <a:spLocks noGrp="1"/>
          </p:cNvSpPr>
          <p:nvPr>
            <p:ph type="title"/>
          </p:nvPr>
        </p:nvSpPr>
        <p:spPr/>
        <p:txBody>
          <a:bodyPr/>
          <a:lstStyle/>
          <a:p>
            <a:r>
              <a:rPr lang="en-US" b="0" i="0" dirty="0">
                <a:solidFill>
                  <a:srgbClr val="3B3835"/>
                </a:solidFill>
                <a:effectLst/>
                <a:latin typeface="Helvetica Neue"/>
              </a:rPr>
              <a:t>MEASURMENT OF NOISE </a:t>
            </a:r>
            <a:endParaRPr lang="en-US" dirty="0"/>
          </a:p>
        </p:txBody>
      </p:sp>
      <p:sp>
        <p:nvSpPr>
          <p:cNvPr id="3" name="Content Placeholder 2">
            <a:extLst>
              <a:ext uri="{FF2B5EF4-FFF2-40B4-BE49-F238E27FC236}">
                <a16:creationId xmlns:a16="http://schemas.microsoft.com/office/drawing/2014/main" id="{1008C296-D8E0-480D-9DDD-10A84938891A}"/>
              </a:ext>
            </a:extLst>
          </p:cNvPr>
          <p:cNvSpPr>
            <a:spLocks noGrp="1"/>
          </p:cNvSpPr>
          <p:nvPr>
            <p:ph idx="1"/>
          </p:nvPr>
        </p:nvSpPr>
        <p:spPr/>
        <p:txBody>
          <a:bodyPr/>
          <a:lstStyle/>
          <a:p>
            <a:r>
              <a:rPr lang="en-US" b="0" i="0" dirty="0">
                <a:solidFill>
                  <a:srgbClr val="3B3835"/>
                </a:solidFill>
                <a:effectLst/>
                <a:latin typeface="Helvetica Neue"/>
              </a:rPr>
              <a:t>‘DECIBEL’(dB): The unit used to express the intensity of sound </a:t>
            </a:r>
          </a:p>
          <a:p>
            <a:r>
              <a:rPr lang="en-US" b="0" i="0" dirty="0">
                <a:solidFill>
                  <a:srgbClr val="3B3835"/>
                </a:solidFill>
                <a:effectLst/>
                <a:latin typeface="Helvetica Neue"/>
              </a:rPr>
              <a:t>Measuring Instruments :- </a:t>
            </a:r>
          </a:p>
          <a:p>
            <a:pPr marL="457200" lvl="1" indent="0">
              <a:buNone/>
            </a:pPr>
            <a:r>
              <a:rPr lang="en-US" b="0" i="0" dirty="0">
                <a:solidFill>
                  <a:srgbClr val="3B3835"/>
                </a:solidFill>
                <a:effectLst/>
                <a:latin typeface="Helvetica Neue"/>
              </a:rPr>
              <a:t>1. Noise Dosimeter : for measuring mainly of industrial noise(personal noise exposure level) </a:t>
            </a:r>
          </a:p>
          <a:p>
            <a:pPr marL="457200" lvl="1" indent="0">
              <a:buNone/>
            </a:pPr>
            <a:r>
              <a:rPr lang="en-US" b="0" i="0" dirty="0">
                <a:solidFill>
                  <a:srgbClr val="3B3835"/>
                </a:solidFill>
                <a:effectLst/>
                <a:latin typeface="Helvetica Neue"/>
              </a:rPr>
              <a:t>2. Sound level meter: which measures the intensity of sound in dB (area noise level) </a:t>
            </a:r>
          </a:p>
          <a:p>
            <a:pPr marL="457200" lvl="1" indent="0">
              <a:buNone/>
            </a:pPr>
            <a:r>
              <a:rPr lang="en-US" b="0" i="0" dirty="0">
                <a:solidFill>
                  <a:srgbClr val="3B3835"/>
                </a:solidFill>
                <a:effectLst/>
                <a:latin typeface="Helvetica Neue"/>
              </a:rPr>
              <a:t>3. Octave-band frequency analyzer: which measures the noise </a:t>
            </a:r>
            <a:r>
              <a:rPr lang="en-US" b="0" i="0" dirty="0" err="1">
                <a:solidFill>
                  <a:srgbClr val="3B3835"/>
                </a:solidFill>
                <a:effectLst/>
                <a:latin typeface="Helvetica Neue"/>
              </a:rPr>
              <a:t>inoctave</a:t>
            </a:r>
            <a:r>
              <a:rPr lang="en-US" b="0" i="0" dirty="0">
                <a:solidFill>
                  <a:srgbClr val="3B3835"/>
                </a:solidFill>
                <a:effectLst/>
                <a:latin typeface="Helvetica Neue"/>
              </a:rPr>
              <a:t> bands </a:t>
            </a:r>
          </a:p>
          <a:p>
            <a:pPr lvl="1"/>
            <a:r>
              <a:rPr lang="en-US" b="0" i="0" dirty="0">
                <a:solidFill>
                  <a:srgbClr val="3B3835"/>
                </a:solidFill>
                <a:effectLst/>
                <a:latin typeface="Helvetica Neue"/>
              </a:rPr>
              <a:t> Noise Mapping (Area Monitoring) Simple Dosimeter</a:t>
            </a:r>
            <a:endParaRPr lang="en-US" dirty="0"/>
          </a:p>
        </p:txBody>
      </p:sp>
    </p:spTree>
    <p:extLst>
      <p:ext uri="{BB962C8B-B14F-4D97-AF65-F5344CB8AC3E}">
        <p14:creationId xmlns:p14="http://schemas.microsoft.com/office/powerpoint/2010/main" val="25860575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0" name="Rectangle 72">
            <a:extLst>
              <a:ext uri="{FF2B5EF4-FFF2-40B4-BE49-F238E27FC236}">
                <a16:creationId xmlns:a16="http://schemas.microsoft.com/office/drawing/2014/main" id="{09C509D2-0C1A-47B8-89C1-D3AB17D452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8" name="Picture 4">
            <a:extLst>
              <a:ext uri="{FF2B5EF4-FFF2-40B4-BE49-F238E27FC236}">
                <a16:creationId xmlns:a16="http://schemas.microsoft.com/office/drawing/2014/main" id="{748EC249-DD80-48E8-979C-73C47BDCF02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32492" r="-1" b="-1"/>
          <a:stretch/>
        </p:blipFill>
        <p:spPr bwMode="auto">
          <a:xfrm>
            <a:off x="-4642" y="10"/>
            <a:ext cx="3006061" cy="3339639"/>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a:extLst>
              <a:ext uri="{FF2B5EF4-FFF2-40B4-BE49-F238E27FC236}">
                <a16:creationId xmlns:a16="http://schemas.microsoft.com/office/drawing/2014/main" id="{69E0E57A-B4B5-4E97-90B9-06AA58809B77}"/>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7384" r="16938" b="4"/>
          <a:stretch/>
        </p:blipFill>
        <p:spPr bwMode="auto">
          <a:xfrm>
            <a:off x="3198068" y="10"/>
            <a:ext cx="2991088" cy="3339639"/>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7D3AB023-58D9-4CC2-9CD1-D919CAC4D230}"/>
              </a:ext>
            </a:extLst>
          </p:cNvPr>
          <p:cNvPicPr>
            <a:picLocks noChangeAspect="1"/>
          </p:cNvPicPr>
          <p:nvPr/>
        </p:nvPicPr>
        <p:blipFill rotWithShape="1">
          <a:blip r:embed="rId4">
            <a:extLst>
              <a:ext uri="{BEBA8EAE-BF5A-486C-A8C5-ECC9F3942E4B}">
                <a14:imgProps xmlns:a14="http://schemas.microsoft.com/office/drawing/2010/main">
                  <a14:imgLayer r:embed="rId5">
                    <a14:imgEffect>
                      <a14:sharpenSoften amount="50000"/>
                    </a14:imgEffect>
                  </a14:imgLayer>
                </a14:imgProps>
              </a:ext>
            </a:extLst>
          </a:blip>
          <a:srcRect r="15212" b="-2"/>
          <a:stretch/>
        </p:blipFill>
        <p:spPr>
          <a:xfrm>
            <a:off x="-2" y="3518351"/>
            <a:ext cx="6189158" cy="3339649"/>
          </a:xfrm>
          <a:prstGeom prst="rect">
            <a:avLst/>
          </a:prstGeom>
        </p:spPr>
      </p:pic>
      <p:sp>
        <p:nvSpPr>
          <p:cNvPr id="3" name="Content Placeholder 2">
            <a:extLst>
              <a:ext uri="{FF2B5EF4-FFF2-40B4-BE49-F238E27FC236}">
                <a16:creationId xmlns:a16="http://schemas.microsoft.com/office/drawing/2014/main" id="{0072538E-792B-4005-993A-403C3CBB7E8F}"/>
              </a:ext>
            </a:extLst>
          </p:cNvPr>
          <p:cNvSpPr>
            <a:spLocks noGrp="1"/>
          </p:cNvSpPr>
          <p:nvPr>
            <p:ph idx="1"/>
          </p:nvPr>
        </p:nvSpPr>
        <p:spPr>
          <a:xfrm>
            <a:off x="6385804" y="447684"/>
            <a:ext cx="5478535" cy="5953115"/>
          </a:xfrm>
        </p:spPr>
        <p:txBody>
          <a:bodyPr>
            <a:normAutofit/>
          </a:bodyPr>
          <a:lstStyle/>
          <a:p>
            <a:pPr algn="just"/>
            <a:r>
              <a:rPr lang="en-US" sz="2000" b="0" i="0" dirty="0">
                <a:effectLst/>
                <a:latin typeface="Arial" panose="020B0604020202020204" pitchFamily="34" charset="0"/>
              </a:rPr>
              <a:t>A </a:t>
            </a:r>
            <a:r>
              <a:rPr lang="en-US" sz="2000" b="1" i="0" dirty="0">
                <a:effectLst/>
                <a:latin typeface="Arial" panose="020B0604020202020204" pitchFamily="34" charset="0"/>
              </a:rPr>
              <a:t>noise dosimeter</a:t>
            </a:r>
            <a:r>
              <a:rPr lang="en-US" sz="2000" b="0" i="0" dirty="0">
                <a:effectLst/>
                <a:latin typeface="Arial" panose="020B0604020202020204" pitchFamily="34" charset="0"/>
              </a:rPr>
              <a:t> (American English) or </a:t>
            </a:r>
            <a:r>
              <a:rPr lang="en-US" sz="2000" b="1" i="0" dirty="0">
                <a:effectLst/>
                <a:latin typeface="Arial" panose="020B0604020202020204" pitchFamily="34" charset="0"/>
              </a:rPr>
              <a:t>noise dosemeter</a:t>
            </a:r>
            <a:r>
              <a:rPr lang="en-US" sz="2000" b="0" i="0" dirty="0">
                <a:effectLst/>
                <a:latin typeface="Arial" panose="020B0604020202020204" pitchFamily="34" charset="0"/>
              </a:rPr>
              <a:t> (British English) is a specialized </a:t>
            </a:r>
            <a:r>
              <a:rPr lang="en-US" sz="2000" b="0" i="0" u="none" strike="noStrike" dirty="0">
                <a:effectLst/>
                <a:latin typeface="Arial" panose="020B0604020202020204" pitchFamily="34" charset="0"/>
              </a:rPr>
              <a:t>sound level meter</a:t>
            </a:r>
            <a:r>
              <a:rPr lang="en-US" sz="2000" b="0" i="0" dirty="0">
                <a:effectLst/>
                <a:latin typeface="Arial" panose="020B0604020202020204" pitchFamily="34" charset="0"/>
              </a:rPr>
              <a:t> intended specifically to measure the </a:t>
            </a:r>
            <a:r>
              <a:rPr lang="en-US" sz="2000" b="0" i="0" u="none" strike="noStrike" dirty="0">
                <a:effectLst/>
                <a:latin typeface="Arial" panose="020B0604020202020204" pitchFamily="34" charset="0"/>
              </a:rPr>
              <a:t>noise exposure</a:t>
            </a:r>
            <a:r>
              <a:rPr lang="en-US" sz="2000" b="0" i="0" dirty="0">
                <a:effectLst/>
                <a:latin typeface="Arial" panose="020B0604020202020204" pitchFamily="34" charset="0"/>
              </a:rPr>
              <a:t> of a person integrated over a period of time</a:t>
            </a:r>
          </a:p>
          <a:p>
            <a:pPr algn="just"/>
            <a:r>
              <a:rPr lang="en-US" sz="2000" b="0" i="0" dirty="0">
                <a:effectLst/>
                <a:latin typeface="Arial" panose="020B0604020202020204" pitchFamily="34" charset="0"/>
              </a:rPr>
              <a:t>Noise dosimeters measure and store </a:t>
            </a:r>
            <a:r>
              <a:rPr lang="en-US" sz="2000" b="0" i="0" u="none" strike="noStrike" dirty="0">
                <a:effectLst/>
                <a:latin typeface="Arial" panose="020B0604020202020204" pitchFamily="34" charset="0"/>
              </a:rPr>
              <a:t>sound pressure levels</a:t>
            </a:r>
            <a:r>
              <a:rPr lang="en-US" sz="2000" b="0" i="0" dirty="0">
                <a:effectLst/>
                <a:latin typeface="Arial" panose="020B0604020202020204" pitchFamily="34" charset="0"/>
              </a:rPr>
              <a:t> (SPL) and, by integrating these measurements over time, provide a cumulative noise-exposure reading for a given period of time, such as an 8-hour workday. </a:t>
            </a:r>
          </a:p>
          <a:p>
            <a:pPr algn="just"/>
            <a:r>
              <a:rPr lang="en-US" sz="2000" b="0" i="0" dirty="0">
                <a:effectLst/>
                <a:latin typeface="Arial" panose="020B0604020202020204" pitchFamily="34" charset="0"/>
              </a:rPr>
              <a:t>Dosimeters can function as personal or area noise monitors. In occupational settings, personal noise dosimeters are often worn on the body of a worker with the </a:t>
            </a:r>
            <a:r>
              <a:rPr lang="en-US" sz="2000" b="0" i="0" u="none" strike="noStrike" dirty="0">
                <a:effectLst/>
                <a:latin typeface="Arial" panose="020B0604020202020204" pitchFamily="34" charset="0"/>
              </a:rPr>
              <a:t>microphone</a:t>
            </a:r>
            <a:r>
              <a:rPr lang="en-US" sz="2000" b="0" i="0" dirty="0">
                <a:effectLst/>
                <a:latin typeface="Arial" panose="020B0604020202020204" pitchFamily="34" charset="0"/>
              </a:rPr>
              <a:t> mounted on the middle-top of the person’s most exposed shoulder</a:t>
            </a:r>
            <a:endParaRPr lang="en-US" sz="2000" dirty="0"/>
          </a:p>
        </p:txBody>
      </p:sp>
    </p:spTree>
    <p:extLst>
      <p:ext uri="{BB962C8B-B14F-4D97-AF65-F5344CB8AC3E}">
        <p14:creationId xmlns:p14="http://schemas.microsoft.com/office/powerpoint/2010/main" val="5956883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B0A5C6A-5BD7-49DE-B6C3-B27D6B84E5B8}"/>
              </a:ext>
            </a:extLst>
          </p:cNvPr>
          <p:cNvSpPr>
            <a:spLocks noGrp="1"/>
          </p:cNvSpPr>
          <p:nvPr>
            <p:ph idx="1"/>
          </p:nvPr>
        </p:nvSpPr>
        <p:spPr>
          <a:xfrm>
            <a:off x="838200" y="272716"/>
            <a:ext cx="10515600" cy="5904247"/>
          </a:xfrm>
        </p:spPr>
        <p:txBody>
          <a:bodyPr>
            <a:normAutofit fontScale="85000" lnSpcReduction="10000"/>
          </a:bodyPr>
          <a:lstStyle/>
          <a:p>
            <a:pPr algn="just">
              <a:lnSpc>
                <a:spcPct val="150000"/>
              </a:lnSpc>
            </a:pPr>
            <a:r>
              <a:rPr lang="en-US" sz="1600" b="0" i="0" dirty="0">
                <a:effectLst/>
                <a:latin typeface="Arial" panose="020B0604020202020204" pitchFamily="34" charset="0"/>
              </a:rPr>
              <a:t>A </a:t>
            </a:r>
            <a:r>
              <a:rPr lang="en-US" sz="1600" b="1" i="0" dirty="0">
                <a:effectLst/>
                <a:latin typeface="Arial" panose="020B0604020202020204" pitchFamily="34" charset="0"/>
              </a:rPr>
              <a:t>sound level meter</a:t>
            </a:r>
            <a:r>
              <a:rPr lang="en-US" sz="1600" b="0" i="0" dirty="0">
                <a:effectLst/>
                <a:latin typeface="Arial" panose="020B0604020202020204" pitchFamily="34" charset="0"/>
              </a:rPr>
              <a:t> is used for </a:t>
            </a:r>
            <a:r>
              <a:rPr lang="en-US" sz="1600" b="0" i="0" u="none" strike="noStrike" dirty="0">
                <a:effectLst/>
                <a:latin typeface="Arial" panose="020B0604020202020204" pitchFamily="34" charset="0"/>
              </a:rPr>
              <a:t>acoustic</a:t>
            </a:r>
            <a:r>
              <a:rPr lang="en-US" sz="1600" b="0" i="0" dirty="0">
                <a:effectLst/>
                <a:latin typeface="Arial" panose="020B0604020202020204" pitchFamily="34" charset="0"/>
              </a:rPr>
              <a:t> (sound that travels through air) measurements. It is commonly a hand-held instrument with a </a:t>
            </a:r>
            <a:r>
              <a:rPr lang="en-US" sz="1600" b="0" i="0" u="none" strike="noStrike" dirty="0">
                <a:effectLst/>
                <a:latin typeface="Arial" panose="020B0604020202020204" pitchFamily="34" charset="0"/>
              </a:rPr>
              <a:t>microphone</a:t>
            </a:r>
            <a:r>
              <a:rPr lang="en-US" sz="1600" b="0" i="0" dirty="0">
                <a:effectLst/>
                <a:latin typeface="Arial" panose="020B0604020202020204" pitchFamily="34" charset="0"/>
              </a:rPr>
              <a:t>. The best type of microphone for sound level meters is the condenser microphone, which combines precision with stability and reliability. The </a:t>
            </a:r>
            <a:r>
              <a:rPr lang="en-US" sz="1600" b="0" i="0" u="none" strike="noStrike" dirty="0">
                <a:effectLst/>
                <a:latin typeface="Arial" panose="020B0604020202020204" pitchFamily="34" charset="0"/>
              </a:rPr>
              <a:t>diaphragm</a:t>
            </a:r>
            <a:r>
              <a:rPr lang="en-US" sz="1600" b="0" i="0" dirty="0">
                <a:effectLst/>
                <a:latin typeface="Arial" panose="020B0604020202020204" pitchFamily="34" charset="0"/>
              </a:rPr>
              <a:t> of the microphone responds to changes in air pressure caused by sound waves. That is why the instrument is sometimes referred to as a Sound Pressure Level (SPL) Meter. This movement of the diaphragm, i.e. the sound pressure deviation (</a:t>
            </a:r>
            <a:r>
              <a:rPr lang="en-US" sz="1600" b="0" i="0" u="none" strike="noStrike" dirty="0">
                <a:effectLst/>
                <a:latin typeface="Arial" panose="020B0604020202020204" pitchFamily="34" charset="0"/>
              </a:rPr>
              <a:t>pascal Pa</a:t>
            </a:r>
            <a:r>
              <a:rPr lang="en-US" sz="1600" b="0" i="0" dirty="0">
                <a:effectLst/>
                <a:latin typeface="Arial" panose="020B0604020202020204" pitchFamily="34" charset="0"/>
              </a:rPr>
              <a:t>), is converted into an </a:t>
            </a:r>
            <a:r>
              <a:rPr lang="en-US" sz="1600" b="0" i="0" u="none" strike="noStrike" dirty="0">
                <a:effectLst/>
                <a:latin typeface="Arial" panose="020B0604020202020204" pitchFamily="34" charset="0"/>
              </a:rPr>
              <a:t>electrical signal</a:t>
            </a:r>
            <a:r>
              <a:rPr lang="en-US" sz="1600" b="0" i="0" dirty="0">
                <a:effectLst/>
                <a:latin typeface="Arial" panose="020B0604020202020204" pitchFamily="34" charset="0"/>
              </a:rPr>
              <a:t> (</a:t>
            </a:r>
            <a:r>
              <a:rPr lang="en-US" sz="1600" b="0" i="0" u="none" strike="noStrike" dirty="0">
                <a:effectLst/>
                <a:latin typeface="Arial" panose="020B0604020202020204" pitchFamily="34" charset="0"/>
              </a:rPr>
              <a:t>volts V</a:t>
            </a:r>
            <a:r>
              <a:rPr lang="en-US" sz="1600" b="0" i="0" dirty="0">
                <a:effectLst/>
                <a:latin typeface="Arial" panose="020B0604020202020204" pitchFamily="34" charset="0"/>
              </a:rPr>
              <a:t>). While describing sound in terms of sound pressure (Pascal) is possible, a logarithmic conversion is usually applied and the sound pressure </a:t>
            </a:r>
            <a:r>
              <a:rPr lang="en-US" sz="1600" b="0" i="1" dirty="0">
                <a:effectLst/>
                <a:latin typeface="Arial" panose="020B0604020202020204" pitchFamily="34" charset="0"/>
              </a:rPr>
              <a:t>level</a:t>
            </a:r>
            <a:r>
              <a:rPr lang="en-US" sz="1600" b="0" i="0" dirty="0">
                <a:effectLst/>
                <a:latin typeface="Arial" panose="020B0604020202020204" pitchFamily="34" charset="0"/>
              </a:rPr>
              <a:t> is stated instead, with 0 dB SPL equal to 20 </a:t>
            </a:r>
            <a:r>
              <a:rPr lang="en-US" sz="1600" b="0" i="0" u="none" strike="noStrike" dirty="0">
                <a:effectLst/>
                <a:latin typeface="Arial" panose="020B0604020202020204" pitchFamily="34" charset="0"/>
                <a:hlinkClick r:id="rId2" tooltip="Micropascal">
                  <a:extLst>
                    <a:ext uri="{A12FA001-AC4F-418D-AE19-62706E023703}">
                      <ahyp:hlinkClr xmlns:ahyp="http://schemas.microsoft.com/office/drawing/2018/hyperlinkcolor" val="tx"/>
                    </a:ext>
                  </a:extLst>
                </a:hlinkClick>
              </a:rPr>
              <a:t>micro pascals</a:t>
            </a:r>
            <a:r>
              <a:rPr lang="en-US" sz="1600" b="0" i="0" dirty="0">
                <a:effectLst/>
                <a:latin typeface="Arial" panose="020B0604020202020204" pitchFamily="34" charset="0"/>
              </a:rPr>
              <a:t>.</a:t>
            </a:r>
          </a:p>
          <a:p>
            <a:pPr algn="just">
              <a:lnSpc>
                <a:spcPct val="150000"/>
              </a:lnSpc>
            </a:pPr>
            <a:r>
              <a:rPr lang="en-US" b="1" dirty="0"/>
              <a:t>octave band frequency analyzer</a:t>
            </a:r>
            <a:endParaRPr lang="en-US" b="1" dirty="0">
              <a:solidFill>
                <a:srgbClr val="202122"/>
              </a:solidFill>
              <a:latin typeface="Arial" panose="020B0604020202020204" pitchFamily="34" charset="0"/>
            </a:endParaRPr>
          </a:p>
          <a:p>
            <a:pPr algn="l">
              <a:lnSpc>
                <a:spcPct val="150000"/>
              </a:lnSpc>
            </a:pPr>
            <a:r>
              <a:rPr lang="en-US" sz="1600" b="0" i="0" dirty="0">
                <a:solidFill>
                  <a:srgbClr val="000000"/>
                </a:solidFill>
                <a:effectLst/>
                <a:latin typeface="Open Sans"/>
              </a:rPr>
              <a:t>When more detailed information about a complex sound is needed, the frequency range of 20Hz to 20kHz can be split into sections or bands. This is done electronically within a sound level meter.</a:t>
            </a:r>
          </a:p>
          <a:p>
            <a:pPr algn="l">
              <a:lnSpc>
                <a:spcPct val="150000"/>
              </a:lnSpc>
            </a:pPr>
            <a:r>
              <a:rPr lang="en-US" sz="1600" b="0" i="0" dirty="0">
                <a:solidFill>
                  <a:srgbClr val="000000"/>
                </a:solidFill>
                <a:effectLst/>
                <a:latin typeface="Open Sans"/>
              </a:rPr>
              <a:t>These bands usually have a bandwidth of one octave or one third octave. More advanced instruments may be able to give a narrow band analysis of the noise data. This may be an FFT (Fast Fourier Transform) or information in 1/12 octaves.</a:t>
            </a:r>
          </a:p>
          <a:p>
            <a:pPr algn="l">
              <a:lnSpc>
                <a:spcPct val="150000"/>
              </a:lnSpc>
            </a:pPr>
            <a:r>
              <a:rPr lang="en-US" sz="1600" b="0" i="0" dirty="0">
                <a:solidFill>
                  <a:srgbClr val="000000"/>
                </a:solidFill>
                <a:effectLst/>
                <a:latin typeface="Open Sans"/>
              </a:rPr>
              <a:t>An octave band is a frequency band where the highest frequency is twice the lowest frequency.</a:t>
            </a:r>
          </a:p>
          <a:p>
            <a:pPr algn="l">
              <a:lnSpc>
                <a:spcPct val="150000"/>
              </a:lnSpc>
            </a:pPr>
            <a:r>
              <a:rPr lang="en-US" sz="1600" b="0" i="0" dirty="0">
                <a:solidFill>
                  <a:srgbClr val="000000"/>
                </a:solidFill>
                <a:effectLst/>
                <a:latin typeface="Open Sans"/>
              </a:rPr>
              <a:t>For example, an octave filter with a </a:t>
            </a:r>
            <a:r>
              <a:rPr lang="en-US" sz="1600" b="0" i="0" dirty="0" err="1">
                <a:solidFill>
                  <a:srgbClr val="000000"/>
                </a:solidFill>
                <a:effectLst/>
                <a:latin typeface="Open Sans"/>
              </a:rPr>
              <a:t>centre</a:t>
            </a:r>
            <a:r>
              <a:rPr lang="en-US" sz="1600" b="0" i="0" dirty="0">
                <a:solidFill>
                  <a:srgbClr val="000000"/>
                </a:solidFill>
                <a:effectLst/>
                <a:latin typeface="Open Sans"/>
              </a:rPr>
              <a:t> frequency of 1kHz has a lower frequency of 707Hz and an upper frequency of 1.414kHz. Any frequencies below and above these limits are rejected. A third octave has a width of 1/3 of that of an octave band</a:t>
            </a:r>
            <a:r>
              <a:rPr lang="en-US" sz="1400" b="0" i="0" dirty="0">
                <a:solidFill>
                  <a:srgbClr val="000000"/>
                </a:solidFill>
                <a:effectLst/>
                <a:latin typeface="Open Sans"/>
              </a:rPr>
              <a:t>.</a:t>
            </a:r>
          </a:p>
          <a:p>
            <a:pPr algn="just">
              <a:lnSpc>
                <a:spcPct val="150000"/>
              </a:lnSpc>
            </a:pPr>
            <a:endParaRPr lang="en-US" sz="2000" dirty="0"/>
          </a:p>
        </p:txBody>
      </p:sp>
    </p:spTree>
    <p:extLst>
      <p:ext uri="{BB962C8B-B14F-4D97-AF65-F5344CB8AC3E}">
        <p14:creationId xmlns:p14="http://schemas.microsoft.com/office/powerpoint/2010/main" val="319932256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05B1100-C010-4454-BF4B-55C152483C94}"/>
              </a:ext>
            </a:extLst>
          </p:cNvPr>
          <p:cNvPicPr>
            <a:picLocks noChangeAspect="1"/>
          </p:cNvPicPr>
          <p:nvPr/>
        </p:nvPicPr>
        <p:blipFill>
          <a:blip r:embed="rId2"/>
          <a:stretch>
            <a:fillRect/>
          </a:stretch>
        </p:blipFill>
        <p:spPr>
          <a:xfrm>
            <a:off x="1433261" y="472741"/>
            <a:ext cx="9909381" cy="5703470"/>
          </a:xfrm>
          <a:prstGeom prst="rect">
            <a:avLst/>
          </a:prstGeom>
        </p:spPr>
      </p:pic>
    </p:spTree>
    <p:extLst>
      <p:ext uri="{BB962C8B-B14F-4D97-AF65-F5344CB8AC3E}">
        <p14:creationId xmlns:p14="http://schemas.microsoft.com/office/powerpoint/2010/main" val="9374787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EFCA31-CC47-4B75-BFC7-3CC3E6271371}"/>
              </a:ext>
            </a:extLst>
          </p:cNvPr>
          <p:cNvSpPr>
            <a:spLocks noGrp="1"/>
          </p:cNvSpPr>
          <p:nvPr>
            <p:ph type="title"/>
          </p:nvPr>
        </p:nvSpPr>
        <p:spPr>
          <a:xfrm>
            <a:off x="838200" y="365125"/>
            <a:ext cx="6505575" cy="1325563"/>
          </a:xfrm>
        </p:spPr>
        <p:txBody>
          <a:bodyPr>
            <a:normAutofit/>
          </a:bodyPr>
          <a:lstStyle/>
          <a:p>
            <a:r>
              <a:rPr lang="en-US" b="0" i="0">
                <a:effectLst/>
                <a:latin typeface="Helvetica Neue"/>
              </a:rPr>
              <a:t>SOURCES OF NOISE</a:t>
            </a:r>
            <a:br>
              <a:rPr lang="en-US"/>
            </a:br>
            <a:endParaRPr lang="en-US" dirty="0"/>
          </a:p>
        </p:txBody>
      </p:sp>
      <p:sp>
        <p:nvSpPr>
          <p:cNvPr id="3" name="Content Placeholder 2">
            <a:extLst>
              <a:ext uri="{FF2B5EF4-FFF2-40B4-BE49-F238E27FC236}">
                <a16:creationId xmlns:a16="http://schemas.microsoft.com/office/drawing/2014/main" id="{9C348B40-CD88-4513-8DCE-3D5680CE0343}"/>
              </a:ext>
            </a:extLst>
          </p:cNvPr>
          <p:cNvSpPr>
            <a:spLocks noGrp="1"/>
          </p:cNvSpPr>
          <p:nvPr>
            <p:ph idx="1"/>
          </p:nvPr>
        </p:nvSpPr>
        <p:spPr>
          <a:xfrm>
            <a:off x="838200" y="1825625"/>
            <a:ext cx="6505575" cy="4351338"/>
          </a:xfrm>
        </p:spPr>
        <p:txBody>
          <a:bodyPr>
            <a:normAutofit/>
          </a:bodyPr>
          <a:lstStyle/>
          <a:p>
            <a:r>
              <a:rPr lang="en-US" b="0" i="0">
                <a:effectLst/>
                <a:latin typeface="Helvetica Neue"/>
              </a:rPr>
              <a:t>1-Stationary Sources:- Iron &amp; Steel plants, Textile mills, Printing presses, Workshops, Metal Industries, use of loudspeakers on festivals, Elections, Worships in Temples, Mosques </a:t>
            </a:r>
            <a:r>
              <a:rPr lang="en-US" b="0" i="0" err="1">
                <a:effectLst/>
                <a:latin typeface="Helvetica Neue"/>
              </a:rPr>
              <a:t>etc</a:t>
            </a:r>
            <a:r>
              <a:rPr lang="en-US" b="0" i="0">
                <a:effectLst/>
                <a:latin typeface="Helvetica Neue"/>
              </a:rPr>
              <a:t> </a:t>
            </a:r>
          </a:p>
          <a:p>
            <a:r>
              <a:rPr lang="en-US" b="0" i="0">
                <a:effectLst/>
                <a:latin typeface="Helvetica Neue"/>
              </a:rPr>
              <a:t>2-Mobile Sources:- Road traffic, Railway traffic, Aero traffic, Marine vehicles, Agriculture machines </a:t>
            </a:r>
          </a:p>
        </p:txBody>
      </p:sp>
      <p:pic>
        <p:nvPicPr>
          <p:cNvPr id="4" name="Picture 3">
            <a:extLst>
              <a:ext uri="{FF2B5EF4-FFF2-40B4-BE49-F238E27FC236}">
                <a16:creationId xmlns:a16="http://schemas.microsoft.com/office/drawing/2014/main" id="{FD671F02-5EE5-4EF6-AC88-CCF11D2C6459}"/>
              </a:ext>
            </a:extLst>
          </p:cNvPr>
          <p:cNvPicPr>
            <a:picLocks noChangeAspect="1"/>
          </p:cNvPicPr>
          <p:nvPr/>
        </p:nvPicPr>
        <p:blipFill rotWithShape="1">
          <a:blip r:embed="rId2"/>
          <a:srcRect r="2" b="3070"/>
          <a:stretch/>
        </p:blipFill>
        <p:spPr>
          <a:xfrm>
            <a:off x="7737635" y="-1"/>
            <a:ext cx="3555205" cy="6858001"/>
          </a:xfrm>
          <a:prstGeom prst="rect">
            <a:avLst/>
          </a:prstGeom>
        </p:spPr>
      </p:pic>
      <p:sp>
        <p:nvSpPr>
          <p:cNvPr id="9" name="Rectangle 8">
            <a:extLst>
              <a:ext uri="{FF2B5EF4-FFF2-40B4-BE49-F238E27FC236}">
                <a16:creationId xmlns:a16="http://schemas.microsoft.com/office/drawing/2014/main" id="{C413D172-8B6A-47F5-9813-DE455773F3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92840" y="0"/>
            <a:ext cx="914400" cy="6858000"/>
          </a:xfrm>
          <a:prstGeom prst="rect">
            <a:avLst/>
          </a:prstGeom>
          <a:solidFill>
            <a:srgbClr val="595959"/>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26567082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5852DA-45BD-4B7F-8B45-C93F958B07BD}"/>
              </a:ext>
            </a:extLst>
          </p:cNvPr>
          <p:cNvSpPr>
            <a:spLocks noGrp="1"/>
          </p:cNvSpPr>
          <p:nvPr>
            <p:ph type="title"/>
          </p:nvPr>
        </p:nvSpPr>
        <p:spPr/>
        <p:txBody>
          <a:bodyPr/>
          <a:lstStyle/>
          <a:p>
            <a:r>
              <a:rPr lang="en-US" b="0" i="0" dirty="0">
                <a:solidFill>
                  <a:srgbClr val="3B3835"/>
                </a:solidFill>
                <a:effectLst/>
                <a:latin typeface="Helvetica Neue"/>
              </a:rPr>
              <a:t>OCCUPATIONAL NOISE </a:t>
            </a:r>
            <a:endParaRPr lang="en-US" dirty="0"/>
          </a:p>
        </p:txBody>
      </p:sp>
      <p:sp>
        <p:nvSpPr>
          <p:cNvPr id="3" name="Content Placeholder 2">
            <a:extLst>
              <a:ext uri="{FF2B5EF4-FFF2-40B4-BE49-F238E27FC236}">
                <a16:creationId xmlns:a16="http://schemas.microsoft.com/office/drawing/2014/main" id="{B112588D-584A-4B56-A713-FF1EC7988E6E}"/>
              </a:ext>
            </a:extLst>
          </p:cNvPr>
          <p:cNvSpPr>
            <a:spLocks noGrp="1"/>
          </p:cNvSpPr>
          <p:nvPr>
            <p:ph idx="1"/>
          </p:nvPr>
        </p:nvSpPr>
        <p:spPr/>
        <p:txBody>
          <a:bodyPr/>
          <a:lstStyle/>
          <a:p>
            <a:r>
              <a:rPr lang="en-US" b="0" i="0" dirty="0">
                <a:solidFill>
                  <a:srgbClr val="3B3835"/>
                </a:solidFill>
                <a:effectLst/>
                <a:latin typeface="Helvetica Neue"/>
              </a:rPr>
              <a:t> “Noise related to any occupation is called OCCUPATIONAL NOISE” </a:t>
            </a:r>
          </a:p>
          <a:p>
            <a:r>
              <a:rPr lang="en-US" b="0" i="0" dirty="0">
                <a:solidFill>
                  <a:srgbClr val="3B3835"/>
                </a:solidFill>
                <a:effectLst/>
                <a:latin typeface="Helvetica Neue"/>
              </a:rPr>
              <a:t> Working in maintenance shops or repairing buses involves using loud machinery such as motors, grinders, saws, presses, pneumatic equipment and hand held tools can also generate high noise levels. </a:t>
            </a:r>
          </a:p>
          <a:p>
            <a:r>
              <a:rPr lang="en-US" b="0" i="0" dirty="0">
                <a:solidFill>
                  <a:srgbClr val="3B3835"/>
                </a:solidFill>
                <a:effectLst/>
                <a:latin typeface="Helvetica Neue"/>
              </a:rPr>
              <a:t> Ex- Cement &amp; Concrete industries, Printing press, Sheet Metal industries, Gear manufacturing plants, Construction sites</a:t>
            </a:r>
            <a:endParaRPr lang="en-US" dirty="0"/>
          </a:p>
        </p:txBody>
      </p:sp>
    </p:spTree>
    <p:extLst>
      <p:ext uri="{BB962C8B-B14F-4D97-AF65-F5344CB8AC3E}">
        <p14:creationId xmlns:p14="http://schemas.microsoft.com/office/powerpoint/2010/main" val="26365320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EBF87945-A001-489F-9D9B-7D9435F0B9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8639" y="347471"/>
            <a:ext cx="11100816" cy="1801368"/>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F082E99-5217-405F-9781-5E79A0428AFF}"/>
              </a:ext>
            </a:extLst>
          </p:cNvPr>
          <p:cNvSpPr>
            <a:spLocks noGrp="1"/>
          </p:cNvSpPr>
          <p:nvPr>
            <p:ph type="title"/>
          </p:nvPr>
        </p:nvSpPr>
        <p:spPr>
          <a:xfrm>
            <a:off x="838200" y="585216"/>
            <a:ext cx="10515600" cy="1325563"/>
          </a:xfrm>
        </p:spPr>
        <p:txBody>
          <a:bodyPr>
            <a:normAutofit/>
          </a:bodyPr>
          <a:lstStyle/>
          <a:p>
            <a:r>
              <a:rPr lang="en-US" b="0" i="0">
                <a:solidFill>
                  <a:schemeClr val="bg1"/>
                </a:solidFill>
                <a:effectLst/>
                <a:latin typeface="Helvetica Neue"/>
              </a:rPr>
              <a:t>EFFCTS OF OCCUPATIONAL NOISE </a:t>
            </a:r>
            <a:endParaRPr lang="en-US">
              <a:solidFill>
                <a:schemeClr val="bg1"/>
              </a:solidFill>
            </a:endParaRPr>
          </a:p>
        </p:txBody>
      </p:sp>
      <p:pic>
        <p:nvPicPr>
          <p:cNvPr id="5" name="Picture 4">
            <a:extLst>
              <a:ext uri="{FF2B5EF4-FFF2-40B4-BE49-F238E27FC236}">
                <a16:creationId xmlns:a16="http://schemas.microsoft.com/office/drawing/2014/main" id="{15054E67-78D6-4902-A850-9D66E6E62073}"/>
              </a:ext>
            </a:extLst>
          </p:cNvPr>
          <p:cNvPicPr>
            <a:picLocks noChangeAspect="1"/>
          </p:cNvPicPr>
          <p:nvPr/>
        </p:nvPicPr>
        <p:blipFill rotWithShape="1">
          <a:blip r:embed="rId2"/>
          <a:srcRect r="3" b="7574"/>
          <a:stretch/>
        </p:blipFill>
        <p:spPr>
          <a:xfrm>
            <a:off x="841248" y="2516777"/>
            <a:ext cx="6236208" cy="3660185"/>
          </a:xfrm>
          <a:prstGeom prst="rect">
            <a:avLst/>
          </a:prstGeom>
        </p:spPr>
      </p:pic>
      <p:sp>
        <p:nvSpPr>
          <p:cNvPr id="3" name="Content Placeholder 2">
            <a:extLst>
              <a:ext uri="{FF2B5EF4-FFF2-40B4-BE49-F238E27FC236}">
                <a16:creationId xmlns:a16="http://schemas.microsoft.com/office/drawing/2014/main" id="{D969147C-AFE4-4911-AB53-02662C8CE687}"/>
              </a:ext>
            </a:extLst>
          </p:cNvPr>
          <p:cNvSpPr>
            <a:spLocks noGrp="1"/>
          </p:cNvSpPr>
          <p:nvPr>
            <p:ph idx="1"/>
          </p:nvPr>
        </p:nvSpPr>
        <p:spPr>
          <a:xfrm>
            <a:off x="7546848" y="2516777"/>
            <a:ext cx="3803904" cy="3660185"/>
          </a:xfrm>
        </p:spPr>
        <p:txBody>
          <a:bodyPr anchor="ctr">
            <a:normAutofit/>
          </a:bodyPr>
          <a:lstStyle/>
          <a:p>
            <a:r>
              <a:rPr lang="en-US" sz="1500" b="0" i="0">
                <a:effectLst/>
                <a:latin typeface="Helvetica Neue"/>
              </a:rPr>
              <a:t> Physiological Effects </a:t>
            </a:r>
          </a:p>
          <a:p>
            <a:pPr marL="457200" lvl="1" indent="0">
              <a:buNone/>
            </a:pPr>
            <a:r>
              <a:rPr lang="en-US" sz="1500" b="0" i="0">
                <a:effectLst/>
                <a:latin typeface="Helvetica Neue"/>
              </a:rPr>
              <a:t>a) Hearing impairment </a:t>
            </a:r>
          </a:p>
          <a:p>
            <a:pPr marL="457200" lvl="1" indent="0">
              <a:buNone/>
            </a:pPr>
            <a:r>
              <a:rPr lang="en-US" sz="1500" b="0" i="0">
                <a:effectLst/>
                <a:latin typeface="Helvetica Neue"/>
              </a:rPr>
              <a:t>b) Hypertension </a:t>
            </a:r>
          </a:p>
          <a:p>
            <a:pPr marL="457200" lvl="1" indent="0">
              <a:buNone/>
            </a:pPr>
            <a:r>
              <a:rPr lang="en-US" sz="1500" b="0" i="0">
                <a:effectLst/>
                <a:latin typeface="Helvetica Neue"/>
              </a:rPr>
              <a:t>c) Heart disease </a:t>
            </a:r>
          </a:p>
          <a:p>
            <a:pPr marL="457200" lvl="1" indent="0">
              <a:buNone/>
            </a:pPr>
            <a:r>
              <a:rPr lang="en-US" sz="1500" b="0" i="0">
                <a:effectLst/>
                <a:latin typeface="Helvetica Neue"/>
              </a:rPr>
              <a:t>d) Lowering the concentration and effect on memory </a:t>
            </a:r>
          </a:p>
          <a:p>
            <a:pPr marL="457200" lvl="1" indent="0">
              <a:buNone/>
            </a:pPr>
            <a:r>
              <a:rPr lang="en-US" sz="1500" b="0" i="0">
                <a:effectLst/>
                <a:latin typeface="Helvetica Neue"/>
              </a:rPr>
              <a:t>e) Muscular strain and nervous breakdown. </a:t>
            </a:r>
          </a:p>
          <a:p>
            <a:r>
              <a:rPr lang="en-US" sz="1500" b="0" i="0">
                <a:effectLst/>
                <a:latin typeface="Helvetica Neue"/>
              </a:rPr>
              <a:t> Psychological Effects </a:t>
            </a:r>
          </a:p>
          <a:p>
            <a:pPr marL="457200" lvl="1" indent="0">
              <a:buNone/>
            </a:pPr>
            <a:r>
              <a:rPr lang="en-US" sz="1500" b="0" i="0">
                <a:effectLst/>
                <a:latin typeface="Helvetica Neue"/>
              </a:rPr>
              <a:t>a) Depression and Fatigue </a:t>
            </a:r>
          </a:p>
          <a:p>
            <a:pPr marL="457200" lvl="1" indent="0">
              <a:buNone/>
            </a:pPr>
            <a:r>
              <a:rPr lang="en-US" sz="1500" b="0" i="0">
                <a:effectLst/>
                <a:latin typeface="Helvetica Neue"/>
              </a:rPr>
              <a:t>b) Mental Stress </a:t>
            </a:r>
          </a:p>
          <a:p>
            <a:pPr marL="457200" lvl="1" indent="0">
              <a:buNone/>
            </a:pPr>
            <a:r>
              <a:rPr lang="en-US" sz="1500" b="0" i="0">
                <a:effectLst/>
                <a:latin typeface="Helvetica Neue"/>
              </a:rPr>
              <a:t>c) Frustration </a:t>
            </a:r>
          </a:p>
          <a:p>
            <a:pPr marL="457200" lvl="1" indent="0">
              <a:buNone/>
            </a:pPr>
            <a:r>
              <a:rPr lang="en-US" sz="1500" b="0" i="0">
                <a:effectLst/>
                <a:latin typeface="Helvetica Neue"/>
              </a:rPr>
              <a:t>d) Sleep Interference</a:t>
            </a:r>
            <a:endParaRPr lang="en-US" sz="1500"/>
          </a:p>
        </p:txBody>
      </p:sp>
    </p:spTree>
    <p:extLst>
      <p:ext uri="{BB962C8B-B14F-4D97-AF65-F5344CB8AC3E}">
        <p14:creationId xmlns:p14="http://schemas.microsoft.com/office/powerpoint/2010/main" val="180128597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8" name="Rectangle 8">
            <a:extLst>
              <a:ext uri="{FF2B5EF4-FFF2-40B4-BE49-F238E27FC236}">
                <a16:creationId xmlns:a16="http://schemas.microsoft.com/office/drawing/2014/main" id="{EBF87945-A001-489F-9D9B-7D9435F0B9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1911096"/>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CFEFFB2-CFA0-46E8-A862-907A87DCD02B}"/>
              </a:ext>
            </a:extLst>
          </p:cNvPr>
          <p:cNvSpPr>
            <a:spLocks noGrp="1"/>
          </p:cNvSpPr>
          <p:nvPr>
            <p:ph type="title"/>
          </p:nvPr>
        </p:nvSpPr>
        <p:spPr>
          <a:xfrm>
            <a:off x="838200" y="365760"/>
            <a:ext cx="10515600" cy="1325563"/>
          </a:xfrm>
        </p:spPr>
        <p:txBody>
          <a:bodyPr>
            <a:normAutofit/>
          </a:bodyPr>
          <a:lstStyle/>
          <a:p>
            <a:r>
              <a:rPr lang="en-US">
                <a:solidFill>
                  <a:schemeClr val="bg1"/>
                </a:solidFill>
                <a:latin typeface="Helvetica Neue"/>
              </a:rPr>
              <a:t>AUDITORY EFFECTS </a:t>
            </a:r>
            <a:endParaRPr lang="en-US">
              <a:solidFill>
                <a:schemeClr val="bg1"/>
              </a:solidFill>
            </a:endParaRPr>
          </a:p>
        </p:txBody>
      </p:sp>
      <p:sp>
        <p:nvSpPr>
          <p:cNvPr id="3" name="Content Placeholder 2">
            <a:extLst>
              <a:ext uri="{FF2B5EF4-FFF2-40B4-BE49-F238E27FC236}">
                <a16:creationId xmlns:a16="http://schemas.microsoft.com/office/drawing/2014/main" id="{A5207491-0E6E-4F12-9530-5C645076A9F0}"/>
              </a:ext>
            </a:extLst>
          </p:cNvPr>
          <p:cNvSpPr>
            <a:spLocks noGrp="1"/>
          </p:cNvSpPr>
          <p:nvPr>
            <p:ph idx="1"/>
          </p:nvPr>
        </p:nvSpPr>
        <p:spPr>
          <a:xfrm>
            <a:off x="246888" y="2057082"/>
            <a:ext cx="6405372" cy="4435158"/>
          </a:xfrm>
        </p:spPr>
        <p:txBody>
          <a:bodyPr anchor="ctr">
            <a:normAutofit/>
          </a:bodyPr>
          <a:lstStyle/>
          <a:p>
            <a:pPr algn="just"/>
            <a:r>
              <a:rPr lang="en-US" sz="2000" b="0" i="0" dirty="0">
                <a:effectLst/>
                <a:latin typeface="Helvetica Neue"/>
              </a:rPr>
              <a:t>Temporary hearing loss occurs when sound vibrations are blocked from reaching the inner ear. This may be due to wax buildup, an infection of the middle ear, or explosive sounds that damage the eardrum or middle ear. This type of hearing loss is reversible. The ear may recover on its own or it may be surgically corrected. </a:t>
            </a:r>
          </a:p>
          <a:p>
            <a:pPr algn="just"/>
            <a:r>
              <a:rPr lang="en-US" sz="2000" b="0" i="0" dirty="0">
                <a:effectLst/>
                <a:latin typeface="Helvetica Neue"/>
              </a:rPr>
              <a:t>Permanent hearing loss occurs when cells and nerves in the inner ear are damaged. Individuals don’t realize they are experiencing hearing loss because it happens gradually. It cannot be corrected or reversed.</a:t>
            </a:r>
            <a:endParaRPr lang="en-US" sz="2000" dirty="0"/>
          </a:p>
        </p:txBody>
      </p:sp>
      <p:pic>
        <p:nvPicPr>
          <p:cNvPr id="4" name="Picture 3">
            <a:extLst>
              <a:ext uri="{FF2B5EF4-FFF2-40B4-BE49-F238E27FC236}">
                <a16:creationId xmlns:a16="http://schemas.microsoft.com/office/drawing/2014/main" id="{A42ABB51-EEA6-457B-8B0E-8F993B0BDA87}"/>
              </a:ext>
            </a:extLst>
          </p:cNvPr>
          <p:cNvPicPr>
            <a:picLocks noChangeAspect="1"/>
          </p:cNvPicPr>
          <p:nvPr/>
        </p:nvPicPr>
        <p:blipFill rotWithShape="1">
          <a:blip r:embed="rId2"/>
          <a:srcRect l="1301" r="1" b="1"/>
          <a:stretch/>
        </p:blipFill>
        <p:spPr>
          <a:xfrm>
            <a:off x="7176516" y="2276856"/>
            <a:ext cx="5015484" cy="3900106"/>
          </a:xfrm>
          <a:prstGeom prst="rect">
            <a:avLst/>
          </a:prstGeom>
        </p:spPr>
      </p:pic>
    </p:spTree>
    <p:extLst>
      <p:ext uri="{BB962C8B-B14F-4D97-AF65-F5344CB8AC3E}">
        <p14:creationId xmlns:p14="http://schemas.microsoft.com/office/powerpoint/2010/main" val="322019969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B7E9E3-7657-4B8A-B4FD-8A4DD00FE61D}"/>
              </a:ext>
            </a:extLst>
          </p:cNvPr>
          <p:cNvSpPr>
            <a:spLocks noGrp="1"/>
          </p:cNvSpPr>
          <p:nvPr>
            <p:ph type="title"/>
          </p:nvPr>
        </p:nvSpPr>
        <p:spPr/>
        <p:txBody>
          <a:bodyPr>
            <a:normAutofit/>
          </a:bodyPr>
          <a:lstStyle/>
          <a:p>
            <a:r>
              <a:rPr lang="en-US" sz="4000" dirty="0">
                <a:solidFill>
                  <a:srgbClr val="3B3835"/>
                </a:solidFill>
                <a:latin typeface="Helvetica Neue"/>
              </a:rPr>
              <a:t>CONTROL OF NOISE:  Engineering control </a:t>
            </a:r>
            <a:endParaRPr lang="en-US" sz="4000" dirty="0"/>
          </a:p>
        </p:txBody>
      </p:sp>
      <p:sp>
        <p:nvSpPr>
          <p:cNvPr id="3" name="Content Placeholder 2">
            <a:extLst>
              <a:ext uri="{FF2B5EF4-FFF2-40B4-BE49-F238E27FC236}">
                <a16:creationId xmlns:a16="http://schemas.microsoft.com/office/drawing/2014/main" id="{2E1E1F41-8AE3-465D-A794-31252D3F6DBA}"/>
              </a:ext>
            </a:extLst>
          </p:cNvPr>
          <p:cNvSpPr>
            <a:spLocks noGrp="1"/>
          </p:cNvSpPr>
          <p:nvPr>
            <p:ph idx="1"/>
          </p:nvPr>
        </p:nvSpPr>
        <p:spPr/>
        <p:txBody>
          <a:bodyPr>
            <a:normAutofit fontScale="92500" lnSpcReduction="10000"/>
          </a:bodyPr>
          <a:lstStyle/>
          <a:p>
            <a:r>
              <a:rPr lang="en-US" sz="2400" b="0" i="0" dirty="0">
                <a:solidFill>
                  <a:srgbClr val="3B3835"/>
                </a:solidFill>
                <a:effectLst/>
                <a:latin typeface="Helvetica Neue"/>
              </a:rPr>
              <a:t>Substitution: Replace noisy equipment with quieter </a:t>
            </a:r>
          </a:p>
          <a:p>
            <a:r>
              <a:rPr lang="en-US" sz="2400" b="0" i="0" dirty="0">
                <a:solidFill>
                  <a:srgbClr val="3B3835"/>
                </a:solidFill>
                <a:effectLst/>
                <a:latin typeface="Helvetica Neue"/>
              </a:rPr>
              <a:t>Modification: Modify the way in which the equipment operates so that it generates less noise. </a:t>
            </a:r>
          </a:p>
          <a:p>
            <a:r>
              <a:rPr lang="en-US" sz="2400" b="0" i="0" dirty="0">
                <a:solidFill>
                  <a:srgbClr val="3B3835"/>
                </a:solidFill>
                <a:effectLst/>
                <a:latin typeface="Helvetica Neue"/>
              </a:rPr>
              <a:t>Isolation: Having them work in enclosed room. Segregate noisy areas with sound barriers </a:t>
            </a:r>
          </a:p>
          <a:p>
            <a:r>
              <a:rPr lang="en-US" sz="2400" b="0" i="0" dirty="0">
                <a:solidFill>
                  <a:srgbClr val="3B3835"/>
                </a:solidFill>
                <a:effectLst/>
                <a:latin typeface="Helvetica Neue"/>
              </a:rPr>
              <a:t>Maintenance: Maintenance of equipment and the engineering controls that have been implemented is very important or the improvements in noise level will be lost Administrative control </a:t>
            </a:r>
          </a:p>
          <a:p>
            <a:r>
              <a:rPr lang="en-US" sz="2400" b="0" i="0" dirty="0">
                <a:solidFill>
                  <a:srgbClr val="3B3835"/>
                </a:solidFill>
                <a:effectLst/>
                <a:latin typeface="Helvetica Neue"/>
              </a:rPr>
              <a:t>Rotating work schedules: purposely to have amount of time that a worker is exposed to noise is within acceptable limits </a:t>
            </a:r>
          </a:p>
          <a:p>
            <a:r>
              <a:rPr lang="en-US" sz="2400" b="0" i="0" dirty="0">
                <a:solidFill>
                  <a:srgbClr val="3B3835"/>
                </a:solidFill>
                <a:effectLst/>
                <a:latin typeface="Helvetica Neue"/>
              </a:rPr>
              <a:t>Provision of training: Noise awareness training </a:t>
            </a:r>
          </a:p>
          <a:p>
            <a:r>
              <a:rPr lang="en-US" sz="2400" b="0" i="0" dirty="0">
                <a:solidFill>
                  <a:srgbClr val="3B3835"/>
                </a:solidFill>
                <a:effectLst/>
                <a:latin typeface="Helvetica Neue"/>
              </a:rPr>
              <a:t>Warning sign: Warning sign at all entrances to the high noise area</a:t>
            </a:r>
            <a:endParaRPr lang="en-US" sz="2400" dirty="0"/>
          </a:p>
        </p:txBody>
      </p:sp>
    </p:spTree>
    <p:extLst>
      <p:ext uri="{BB962C8B-B14F-4D97-AF65-F5344CB8AC3E}">
        <p14:creationId xmlns:p14="http://schemas.microsoft.com/office/powerpoint/2010/main" val="140505295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7FEAE179-C525-48F3-AD47-0E9E2B6F2E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95C8260E-968F-44E8-A823-ABB43131192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86584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2C1BBA94-3F40-40AA-8BB9-E69E25E537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89" y="0"/>
            <a:ext cx="11231745" cy="4588184"/>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C300E892-AFA6-4DF9-8300-36986FC95BD1}"/>
              </a:ext>
            </a:extLst>
          </p:cNvPr>
          <p:cNvPicPr>
            <a:picLocks noChangeAspect="1"/>
          </p:cNvPicPr>
          <p:nvPr/>
        </p:nvPicPr>
        <p:blipFill rotWithShape="1">
          <a:blip r:embed="rId2"/>
          <a:srcRect b="13754"/>
          <a:stretch/>
        </p:blipFill>
        <p:spPr>
          <a:xfrm>
            <a:off x="959205" y="364142"/>
            <a:ext cx="10369645" cy="3867993"/>
          </a:xfrm>
          <a:prstGeom prst="rect">
            <a:avLst/>
          </a:prstGeom>
        </p:spPr>
      </p:pic>
      <p:sp>
        <p:nvSpPr>
          <p:cNvPr id="16" name="Rectangle 15">
            <a:extLst>
              <a:ext uri="{FF2B5EF4-FFF2-40B4-BE49-F238E27FC236}">
                <a16:creationId xmlns:a16="http://schemas.microsoft.com/office/drawing/2014/main" id="{FE43805F-24A6-46A4-B19B-54F28347355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4001107" y="5661132"/>
            <a:ext cx="1463040" cy="4571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861B29FB-4415-49BB-9CCD-FA9DBE00499A}"/>
              </a:ext>
            </a:extLst>
          </p:cNvPr>
          <p:cNvSpPr>
            <a:spLocks noGrp="1"/>
          </p:cNvSpPr>
          <p:nvPr>
            <p:ph idx="1"/>
          </p:nvPr>
        </p:nvSpPr>
        <p:spPr>
          <a:xfrm>
            <a:off x="5162719" y="4883544"/>
            <a:ext cx="6586915" cy="1556907"/>
          </a:xfrm>
        </p:spPr>
        <p:txBody>
          <a:bodyPr anchor="ctr">
            <a:normAutofit/>
          </a:bodyPr>
          <a:lstStyle/>
          <a:p>
            <a:r>
              <a:rPr lang="en-US" sz="1800" b="0" i="0" dirty="0">
                <a:effectLst/>
                <a:latin typeface="Helvetica Neue"/>
              </a:rPr>
              <a:t>Conducting Audiometric test: A test to determine employees hearing threshold or ability </a:t>
            </a:r>
          </a:p>
          <a:p>
            <a:r>
              <a:rPr lang="en-US" sz="1800" b="0" i="0" dirty="0">
                <a:effectLst/>
                <a:latin typeface="Helvetica Neue"/>
              </a:rPr>
              <a:t>Providing appropriate PPE: if reductions in noise level and exposure time have not reduced, then appropriate hearing protection must be provided according to the standard</a:t>
            </a:r>
            <a:endParaRPr lang="en-US" sz="1800" dirty="0"/>
          </a:p>
        </p:txBody>
      </p:sp>
    </p:spTree>
    <p:extLst>
      <p:ext uri="{BB962C8B-B14F-4D97-AF65-F5344CB8AC3E}">
        <p14:creationId xmlns:p14="http://schemas.microsoft.com/office/powerpoint/2010/main" val="91063290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95579FA-32EA-4398-84E7-EB9D8F6E946C}"/>
              </a:ext>
            </a:extLst>
          </p:cNvPr>
          <p:cNvSpPr>
            <a:spLocks noGrp="1"/>
          </p:cNvSpPr>
          <p:nvPr>
            <p:ph type="ctrTitle"/>
          </p:nvPr>
        </p:nvSpPr>
        <p:spPr/>
        <p:txBody>
          <a:bodyPr/>
          <a:lstStyle/>
          <a:p>
            <a:r>
              <a:rPr lang="en-US" dirty="0"/>
              <a:t>Vibration Hazards</a:t>
            </a:r>
          </a:p>
        </p:txBody>
      </p:sp>
      <p:sp>
        <p:nvSpPr>
          <p:cNvPr id="5" name="Subtitle 4">
            <a:extLst>
              <a:ext uri="{FF2B5EF4-FFF2-40B4-BE49-F238E27FC236}">
                <a16:creationId xmlns:a16="http://schemas.microsoft.com/office/drawing/2014/main" id="{BFAA8081-76B1-4A00-BA6A-0AE41A31B7F3}"/>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337089998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6" name="Rectangle 13">
            <a:extLst>
              <a:ext uri="{FF2B5EF4-FFF2-40B4-BE49-F238E27FC236}">
                <a16:creationId xmlns:a16="http://schemas.microsoft.com/office/drawing/2014/main" id="{EBF87945-A001-489F-9D9B-7D9435F0B9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8639" y="347471"/>
            <a:ext cx="11100816" cy="1801368"/>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itle 5">
            <a:extLst>
              <a:ext uri="{FF2B5EF4-FFF2-40B4-BE49-F238E27FC236}">
                <a16:creationId xmlns:a16="http://schemas.microsoft.com/office/drawing/2014/main" id="{FDEDE4AB-7A61-48DC-8A64-215B971EBC2A}"/>
              </a:ext>
            </a:extLst>
          </p:cNvPr>
          <p:cNvSpPr>
            <a:spLocks noGrp="1"/>
          </p:cNvSpPr>
          <p:nvPr>
            <p:ph type="title"/>
          </p:nvPr>
        </p:nvSpPr>
        <p:spPr>
          <a:xfrm>
            <a:off x="838200" y="585216"/>
            <a:ext cx="10515600" cy="1325563"/>
          </a:xfrm>
        </p:spPr>
        <p:txBody>
          <a:bodyPr>
            <a:normAutofit/>
          </a:bodyPr>
          <a:lstStyle/>
          <a:p>
            <a:r>
              <a:rPr lang="en-US">
                <a:solidFill>
                  <a:schemeClr val="bg1"/>
                </a:solidFill>
                <a:latin typeface="Helvetica Neue"/>
              </a:rPr>
              <a:t>VIBRATION </a:t>
            </a:r>
            <a:endParaRPr lang="en-US">
              <a:solidFill>
                <a:schemeClr val="bg1"/>
              </a:solidFill>
            </a:endParaRPr>
          </a:p>
        </p:txBody>
      </p:sp>
      <p:pic>
        <p:nvPicPr>
          <p:cNvPr id="9" name="Content Placeholder 4">
            <a:extLst>
              <a:ext uri="{FF2B5EF4-FFF2-40B4-BE49-F238E27FC236}">
                <a16:creationId xmlns:a16="http://schemas.microsoft.com/office/drawing/2014/main" id="{4C9A11FE-2643-4484-A045-B210F5833518}"/>
              </a:ext>
            </a:extLst>
          </p:cNvPr>
          <p:cNvPicPr>
            <a:picLocks noChangeAspect="1"/>
          </p:cNvPicPr>
          <p:nvPr/>
        </p:nvPicPr>
        <p:blipFill rotWithShape="1">
          <a:blip r:embed="rId2"/>
          <a:srcRect r="3" b="16156"/>
          <a:stretch/>
        </p:blipFill>
        <p:spPr>
          <a:xfrm>
            <a:off x="841248" y="2516777"/>
            <a:ext cx="6236208" cy="3660185"/>
          </a:xfrm>
          <a:prstGeom prst="rect">
            <a:avLst/>
          </a:prstGeom>
        </p:spPr>
      </p:pic>
      <p:sp>
        <p:nvSpPr>
          <p:cNvPr id="8" name="Content Placeholder 7">
            <a:extLst>
              <a:ext uri="{FF2B5EF4-FFF2-40B4-BE49-F238E27FC236}">
                <a16:creationId xmlns:a16="http://schemas.microsoft.com/office/drawing/2014/main" id="{0A944E63-BC11-474C-86BE-ED7F945CCAFD}"/>
              </a:ext>
            </a:extLst>
          </p:cNvPr>
          <p:cNvSpPr>
            <a:spLocks noGrp="1"/>
          </p:cNvSpPr>
          <p:nvPr>
            <p:ph idx="1"/>
          </p:nvPr>
        </p:nvSpPr>
        <p:spPr>
          <a:xfrm>
            <a:off x="7546848" y="2516777"/>
            <a:ext cx="3803904" cy="3660185"/>
          </a:xfrm>
        </p:spPr>
        <p:txBody>
          <a:bodyPr anchor="ctr">
            <a:normAutofit/>
          </a:bodyPr>
          <a:lstStyle/>
          <a:p>
            <a:pPr marL="0" indent="0">
              <a:buNone/>
            </a:pPr>
            <a:r>
              <a:rPr lang="en-US" sz="2200" b="0" i="0" dirty="0">
                <a:effectLst/>
                <a:latin typeface="Helvetica Neue"/>
              </a:rPr>
              <a:t>Vibration is the mechanical oscillations of an object about an equilibrium point. The oscillations may be regular such as the motion of a pendulum . </a:t>
            </a:r>
          </a:p>
          <a:p>
            <a:pPr marL="0" indent="0">
              <a:buNone/>
            </a:pPr>
            <a:endParaRPr lang="en-US" sz="2200" dirty="0"/>
          </a:p>
        </p:txBody>
      </p:sp>
    </p:spTree>
    <p:extLst>
      <p:ext uri="{BB962C8B-B14F-4D97-AF65-F5344CB8AC3E}">
        <p14:creationId xmlns:p14="http://schemas.microsoft.com/office/powerpoint/2010/main" val="286863252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465D41-210B-4BBD-94E8-C9D413B901CA}"/>
              </a:ext>
            </a:extLst>
          </p:cNvPr>
          <p:cNvSpPr>
            <a:spLocks noGrp="1"/>
          </p:cNvSpPr>
          <p:nvPr>
            <p:ph type="title"/>
          </p:nvPr>
        </p:nvSpPr>
        <p:spPr/>
        <p:txBody>
          <a:bodyPr/>
          <a:lstStyle/>
          <a:p>
            <a:r>
              <a:rPr lang="en-US" dirty="0">
                <a:solidFill>
                  <a:srgbClr val="3B3835"/>
                </a:solidFill>
                <a:latin typeface="Helvetica Neue"/>
              </a:rPr>
              <a:t>How does the vibration exposure Occur ? </a:t>
            </a:r>
            <a:endParaRPr lang="en-US" dirty="0"/>
          </a:p>
        </p:txBody>
      </p:sp>
      <p:sp>
        <p:nvSpPr>
          <p:cNvPr id="3" name="Content Placeholder 2">
            <a:extLst>
              <a:ext uri="{FF2B5EF4-FFF2-40B4-BE49-F238E27FC236}">
                <a16:creationId xmlns:a16="http://schemas.microsoft.com/office/drawing/2014/main" id="{F9018BF2-2EE8-456F-A7B0-A071EB6FBCBC}"/>
              </a:ext>
            </a:extLst>
          </p:cNvPr>
          <p:cNvSpPr>
            <a:spLocks noGrp="1"/>
          </p:cNvSpPr>
          <p:nvPr>
            <p:ph idx="1"/>
          </p:nvPr>
        </p:nvSpPr>
        <p:spPr/>
        <p:txBody>
          <a:bodyPr/>
          <a:lstStyle/>
          <a:p>
            <a:r>
              <a:rPr lang="en-US" b="0" i="0" dirty="0">
                <a:solidFill>
                  <a:srgbClr val="3B3835"/>
                </a:solidFill>
                <a:effectLst/>
                <a:latin typeface="Helvetica Neue"/>
              </a:rPr>
              <a:t>Contact with a vibrating machine transfer vibrating energy to a person’s body. </a:t>
            </a:r>
          </a:p>
          <a:p>
            <a:r>
              <a:rPr lang="en-US" b="0" i="0" dirty="0">
                <a:solidFill>
                  <a:srgbClr val="3B3835"/>
                </a:solidFill>
                <a:effectLst/>
                <a:latin typeface="Helvetica Neue"/>
              </a:rPr>
              <a:t>Depending upon the exposure, it affect a major part of the workers body or organ. </a:t>
            </a:r>
          </a:p>
          <a:p>
            <a:r>
              <a:rPr lang="en-US" b="0" i="0" dirty="0">
                <a:solidFill>
                  <a:srgbClr val="3B3835"/>
                </a:solidFill>
                <a:effectLst/>
                <a:latin typeface="Helvetica Neue"/>
              </a:rPr>
              <a:t>Each organ of the body has its own resonant frequency. If exposure occur at or near to these resonant frequencies, the resulting effect is greatly increased. </a:t>
            </a:r>
          </a:p>
          <a:p>
            <a:r>
              <a:rPr lang="en-US" b="0" i="0" dirty="0">
                <a:solidFill>
                  <a:srgbClr val="3B3835"/>
                </a:solidFill>
                <a:effectLst/>
                <a:latin typeface="Helvetica Neue"/>
              </a:rPr>
              <a:t>For occupational health the exposures to hand-arm vibrations and whole- body vibrations are concerns.</a:t>
            </a:r>
            <a:endParaRPr lang="en-US" dirty="0"/>
          </a:p>
        </p:txBody>
      </p:sp>
    </p:spTree>
    <p:extLst>
      <p:ext uri="{BB962C8B-B14F-4D97-AF65-F5344CB8AC3E}">
        <p14:creationId xmlns:p14="http://schemas.microsoft.com/office/powerpoint/2010/main" val="263895167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039361-23C3-46B8-8C37-570198A6CF9E}"/>
              </a:ext>
            </a:extLst>
          </p:cNvPr>
          <p:cNvSpPr>
            <a:spLocks noGrp="1"/>
          </p:cNvSpPr>
          <p:nvPr>
            <p:ph type="title"/>
          </p:nvPr>
        </p:nvSpPr>
        <p:spPr/>
        <p:txBody>
          <a:bodyPr/>
          <a:lstStyle/>
          <a:p>
            <a:r>
              <a:rPr lang="en-US" dirty="0">
                <a:solidFill>
                  <a:srgbClr val="3B3835"/>
                </a:solidFill>
                <a:latin typeface="Helvetica Neue"/>
              </a:rPr>
              <a:t>TYPES OF VIBRATIONS </a:t>
            </a:r>
            <a:endParaRPr lang="en-US" dirty="0"/>
          </a:p>
        </p:txBody>
      </p:sp>
      <p:sp>
        <p:nvSpPr>
          <p:cNvPr id="3" name="Content Placeholder 2">
            <a:extLst>
              <a:ext uri="{FF2B5EF4-FFF2-40B4-BE49-F238E27FC236}">
                <a16:creationId xmlns:a16="http://schemas.microsoft.com/office/drawing/2014/main" id="{224BF956-5361-4F1F-BC4D-0C6D3A809CF2}"/>
              </a:ext>
            </a:extLst>
          </p:cNvPr>
          <p:cNvSpPr>
            <a:spLocks noGrp="1"/>
          </p:cNvSpPr>
          <p:nvPr>
            <p:ph idx="1"/>
          </p:nvPr>
        </p:nvSpPr>
        <p:spPr/>
        <p:txBody>
          <a:bodyPr>
            <a:normAutofit/>
          </a:bodyPr>
          <a:lstStyle/>
          <a:p>
            <a:r>
              <a:rPr lang="en-US" b="0" i="0" dirty="0">
                <a:solidFill>
                  <a:srgbClr val="3B3835"/>
                </a:solidFill>
                <a:effectLst/>
                <a:latin typeface="Helvetica Neue"/>
              </a:rPr>
              <a:t>Based on force applied:- </a:t>
            </a:r>
          </a:p>
          <a:p>
            <a:pPr marL="914400" lvl="2" indent="0">
              <a:buNone/>
            </a:pPr>
            <a:r>
              <a:rPr lang="en-US" b="0" i="0" dirty="0">
                <a:solidFill>
                  <a:srgbClr val="3B3835"/>
                </a:solidFill>
                <a:effectLst/>
                <a:latin typeface="Helvetica Neue"/>
              </a:rPr>
              <a:t>1. Free vibration -Occurs when a mechanical system is set off with an initial input and then allowed to vibrate freely. Ex-simple pendulum </a:t>
            </a:r>
          </a:p>
          <a:p>
            <a:pPr marL="914400" lvl="2" indent="0">
              <a:buNone/>
            </a:pPr>
            <a:r>
              <a:rPr lang="en-US" b="0" i="0" dirty="0">
                <a:solidFill>
                  <a:srgbClr val="3B3835"/>
                </a:solidFill>
                <a:effectLst/>
                <a:latin typeface="Helvetica Neue"/>
              </a:rPr>
              <a:t>2. Forced vibration -When a time-varying disturbance (load, displacement or velocity) is applied to a mechanical system. Ex-shaking washing machine due to an imbalance, transportation vibration (caused by truck engine, springs, road, etc.)</a:t>
            </a:r>
          </a:p>
          <a:p>
            <a:pPr marL="0" indent="0">
              <a:buNone/>
            </a:pPr>
            <a:r>
              <a:rPr lang="en-US" b="0" i="0" dirty="0">
                <a:solidFill>
                  <a:srgbClr val="3B3835"/>
                </a:solidFill>
                <a:effectLst/>
                <a:latin typeface="Helvetica Neue"/>
              </a:rPr>
              <a:t>Based on vibration expose </a:t>
            </a:r>
          </a:p>
          <a:p>
            <a:pPr marL="1428750" lvl="2" indent="-514350">
              <a:buAutoNum type="arabicPeriod"/>
            </a:pPr>
            <a:r>
              <a:rPr lang="en-US" b="0" i="0" dirty="0">
                <a:solidFill>
                  <a:srgbClr val="3B3835"/>
                </a:solidFill>
                <a:effectLst/>
                <a:latin typeface="Helvetica Neue"/>
              </a:rPr>
              <a:t>Hand Arm Vibration(HAV)- When hand of a worker is exposed to vibrating body during the occupation. </a:t>
            </a:r>
          </a:p>
          <a:p>
            <a:pPr marL="1428750" lvl="2" indent="-514350">
              <a:buAutoNum type="arabicPeriod"/>
            </a:pPr>
            <a:r>
              <a:rPr lang="en-US" b="0" i="0" dirty="0">
                <a:solidFill>
                  <a:srgbClr val="3B3835"/>
                </a:solidFill>
                <a:effectLst/>
                <a:latin typeface="Helvetica Neue"/>
              </a:rPr>
              <a:t>Whole Body Vibration(WBV)- when whole body expose to vibrating body or system. </a:t>
            </a:r>
          </a:p>
          <a:p>
            <a:pPr marL="1428750" lvl="2" indent="-514350">
              <a:buAutoNum type="arabicPeriod"/>
            </a:pPr>
            <a:r>
              <a:rPr lang="en-US" b="0" i="0" dirty="0">
                <a:solidFill>
                  <a:srgbClr val="3B3835"/>
                </a:solidFill>
                <a:effectLst/>
                <a:latin typeface="Helvetica Neue"/>
              </a:rPr>
              <a:t>Environmental Vibration</a:t>
            </a:r>
            <a:endParaRPr lang="en-US" dirty="0"/>
          </a:p>
        </p:txBody>
      </p:sp>
    </p:spTree>
    <p:extLst>
      <p:ext uri="{BB962C8B-B14F-4D97-AF65-F5344CB8AC3E}">
        <p14:creationId xmlns:p14="http://schemas.microsoft.com/office/powerpoint/2010/main" val="421731668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AA3CC463-F933-4AC4-86E1-5AC14B0C31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6025D2DB-A12A-44DB-B00E-F4D622329E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1331" y="480060"/>
            <a:ext cx="4180332" cy="2788074"/>
          </a:xfrm>
          <a:prstGeom prst="rect">
            <a:avLst/>
          </a:prstGeom>
          <a:solidFill>
            <a:srgbClr val="FFFFFF"/>
          </a:solidFill>
          <a:ln w="19050">
            <a:solidFill>
              <a:srgbClr val="44679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a:extLst>
              <a:ext uri="{FF2B5EF4-FFF2-40B4-BE49-F238E27FC236}">
                <a16:creationId xmlns:a16="http://schemas.microsoft.com/office/drawing/2014/main" id="{C3419AB1-8376-4174-B375-28D67EA1B243}"/>
              </a:ext>
            </a:extLst>
          </p:cNvPr>
          <p:cNvPicPr>
            <a:picLocks noChangeAspect="1"/>
          </p:cNvPicPr>
          <p:nvPr/>
        </p:nvPicPr>
        <p:blipFill>
          <a:blip r:embed="rId2"/>
          <a:stretch>
            <a:fillRect/>
          </a:stretch>
        </p:blipFill>
        <p:spPr>
          <a:xfrm>
            <a:off x="622549" y="858207"/>
            <a:ext cx="3854945" cy="2046173"/>
          </a:xfrm>
          <a:prstGeom prst="rect">
            <a:avLst/>
          </a:prstGeom>
        </p:spPr>
      </p:pic>
      <p:sp>
        <p:nvSpPr>
          <p:cNvPr id="18" name="Rectangle 17">
            <a:extLst>
              <a:ext uri="{FF2B5EF4-FFF2-40B4-BE49-F238E27FC236}">
                <a16:creationId xmlns:a16="http://schemas.microsoft.com/office/drawing/2014/main" id="{CE7E7877-F64E-4EEA-B778-138031EFF8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1331" y="3603670"/>
            <a:ext cx="4180332" cy="2788074"/>
          </a:xfrm>
          <a:prstGeom prst="rect">
            <a:avLst/>
          </a:prstGeom>
          <a:solidFill>
            <a:srgbClr val="FFFFFF"/>
          </a:solidFill>
          <a:ln w="19050">
            <a:solidFill>
              <a:srgbClr val="44679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649D8D29-A211-45DE-BBF9-48178905725C}"/>
              </a:ext>
            </a:extLst>
          </p:cNvPr>
          <p:cNvPicPr>
            <a:picLocks noChangeAspect="1"/>
          </p:cNvPicPr>
          <p:nvPr/>
        </p:nvPicPr>
        <p:blipFill>
          <a:blip r:embed="rId3"/>
          <a:stretch>
            <a:fillRect/>
          </a:stretch>
        </p:blipFill>
        <p:spPr>
          <a:xfrm>
            <a:off x="622549" y="4232295"/>
            <a:ext cx="3854945" cy="1503428"/>
          </a:xfrm>
          <a:prstGeom prst="rect">
            <a:avLst/>
          </a:prstGeom>
        </p:spPr>
      </p:pic>
      <p:sp>
        <p:nvSpPr>
          <p:cNvPr id="20" name="Rectangle 19">
            <a:extLst>
              <a:ext uri="{FF2B5EF4-FFF2-40B4-BE49-F238E27FC236}">
                <a16:creationId xmlns:a16="http://schemas.microsoft.com/office/drawing/2014/main" id="{7DD6C4F3-70FD-4F13-919C-702EE48864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0596" y="487090"/>
            <a:ext cx="6741849" cy="5897880"/>
          </a:xfrm>
          <a:prstGeom prst="rect">
            <a:avLst/>
          </a:prstGeom>
          <a:solidFill>
            <a:srgbClr val="FFFFFF"/>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a:extLst>
              <a:ext uri="{FF2B5EF4-FFF2-40B4-BE49-F238E27FC236}">
                <a16:creationId xmlns:a16="http://schemas.microsoft.com/office/drawing/2014/main" id="{E531A156-2582-4D04-B0AD-8EC4F117A971}"/>
              </a:ext>
            </a:extLst>
          </p:cNvPr>
          <p:cNvPicPr>
            <a:picLocks noChangeAspect="1"/>
          </p:cNvPicPr>
          <p:nvPr/>
        </p:nvPicPr>
        <p:blipFill>
          <a:blip r:embed="rId4"/>
          <a:stretch>
            <a:fillRect/>
          </a:stretch>
        </p:blipFill>
        <p:spPr>
          <a:xfrm>
            <a:off x="4980596" y="561052"/>
            <a:ext cx="6588856" cy="5897880"/>
          </a:xfrm>
          <a:prstGeom prst="rect">
            <a:avLst/>
          </a:prstGeom>
        </p:spPr>
      </p:pic>
    </p:spTree>
    <p:extLst>
      <p:ext uri="{BB962C8B-B14F-4D97-AF65-F5344CB8AC3E}">
        <p14:creationId xmlns:p14="http://schemas.microsoft.com/office/powerpoint/2010/main" val="314671214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C5E24B-CA85-47CB-8DFD-8E5A747E3C0B}"/>
              </a:ext>
            </a:extLst>
          </p:cNvPr>
          <p:cNvSpPr>
            <a:spLocks noGrp="1"/>
          </p:cNvSpPr>
          <p:nvPr>
            <p:ph type="title"/>
          </p:nvPr>
        </p:nvSpPr>
        <p:spPr/>
        <p:txBody>
          <a:bodyPr/>
          <a:lstStyle/>
          <a:p>
            <a:r>
              <a:rPr lang="en-US" dirty="0">
                <a:solidFill>
                  <a:srgbClr val="3B3835"/>
                </a:solidFill>
                <a:latin typeface="Helvetica Neue"/>
              </a:rPr>
              <a:t>Measurement of Vibration Exposure </a:t>
            </a:r>
            <a:endParaRPr lang="en-US" dirty="0"/>
          </a:p>
        </p:txBody>
      </p:sp>
      <p:sp>
        <p:nvSpPr>
          <p:cNvPr id="3" name="Content Placeholder 2">
            <a:extLst>
              <a:ext uri="{FF2B5EF4-FFF2-40B4-BE49-F238E27FC236}">
                <a16:creationId xmlns:a16="http://schemas.microsoft.com/office/drawing/2014/main" id="{75CD714D-E3A8-4FC1-BC7C-DA5602584F2F}"/>
              </a:ext>
            </a:extLst>
          </p:cNvPr>
          <p:cNvSpPr>
            <a:spLocks noGrp="1"/>
          </p:cNvSpPr>
          <p:nvPr>
            <p:ph idx="1"/>
          </p:nvPr>
        </p:nvSpPr>
        <p:spPr/>
        <p:txBody>
          <a:bodyPr>
            <a:normAutofit fontScale="92500" lnSpcReduction="20000"/>
          </a:bodyPr>
          <a:lstStyle/>
          <a:p>
            <a:r>
              <a:rPr lang="en-US" b="0" i="0" dirty="0">
                <a:solidFill>
                  <a:srgbClr val="3B3835"/>
                </a:solidFill>
                <a:effectLst/>
                <a:latin typeface="Helvetica Neue"/>
              </a:rPr>
              <a:t>Measurement of vibration includes three parameters : </a:t>
            </a:r>
          </a:p>
          <a:p>
            <a:pPr marL="914400" lvl="2" indent="0">
              <a:buNone/>
            </a:pPr>
            <a:r>
              <a:rPr lang="en-US" b="0" i="0" dirty="0">
                <a:solidFill>
                  <a:srgbClr val="3B3835"/>
                </a:solidFill>
                <a:effectLst/>
                <a:latin typeface="Helvetica Neue"/>
              </a:rPr>
              <a:t>1. The vibration amplitude (Acceleration), which is the characteristic to describe the severity of the vibration. </a:t>
            </a:r>
          </a:p>
          <a:p>
            <a:pPr marL="914400" lvl="2" indent="0">
              <a:buNone/>
            </a:pPr>
            <a:r>
              <a:rPr lang="en-US" b="0" i="0" dirty="0">
                <a:solidFill>
                  <a:srgbClr val="3B3835"/>
                </a:solidFill>
                <a:effectLst/>
                <a:latin typeface="Helvetica Neue"/>
              </a:rPr>
              <a:t>2. Frequency spectrum </a:t>
            </a:r>
          </a:p>
          <a:p>
            <a:pPr marL="914400" lvl="2" indent="0">
              <a:buNone/>
            </a:pPr>
            <a:r>
              <a:rPr lang="en-US" b="0" i="0" dirty="0">
                <a:solidFill>
                  <a:srgbClr val="3B3835"/>
                </a:solidFill>
                <a:effectLst/>
                <a:latin typeface="Helvetica Neue"/>
              </a:rPr>
              <a:t>3. Duration of Exposure</a:t>
            </a:r>
          </a:p>
          <a:p>
            <a:pPr marL="0" indent="0">
              <a:buNone/>
            </a:pPr>
            <a:r>
              <a:rPr lang="en-US" b="0" i="0" dirty="0">
                <a:solidFill>
                  <a:srgbClr val="3B3835"/>
                </a:solidFill>
                <a:effectLst/>
                <a:latin typeface="Helvetica Neue"/>
              </a:rPr>
              <a:t>Vibration Measurement System </a:t>
            </a:r>
          </a:p>
          <a:p>
            <a:pPr marL="0" indent="0">
              <a:buNone/>
            </a:pPr>
            <a:r>
              <a:rPr lang="en-US" b="0" i="0" dirty="0">
                <a:solidFill>
                  <a:srgbClr val="3B3835"/>
                </a:solidFill>
                <a:effectLst/>
                <a:latin typeface="Helvetica Neue"/>
              </a:rPr>
              <a:t>A Typical Vibration System consist of : </a:t>
            </a:r>
          </a:p>
          <a:p>
            <a:pPr marL="1428750" lvl="2" indent="-514350">
              <a:buAutoNum type="arabicPeriod"/>
            </a:pPr>
            <a:r>
              <a:rPr lang="en-US" b="0" i="0" dirty="0">
                <a:solidFill>
                  <a:srgbClr val="3B3835"/>
                </a:solidFill>
                <a:effectLst/>
                <a:latin typeface="Helvetica Neue"/>
              </a:rPr>
              <a:t>A transducer( convert mechanical to electrical energy) to sense the vibration .( Suitable transducers for human vibration measurement is the Accelerometer) </a:t>
            </a:r>
          </a:p>
          <a:p>
            <a:pPr marL="1428750" lvl="2" indent="-514350">
              <a:buAutoNum type="arabicPeriod"/>
            </a:pPr>
            <a:r>
              <a:rPr lang="en-US" b="0" i="0" dirty="0">
                <a:solidFill>
                  <a:srgbClr val="3B3835"/>
                </a:solidFill>
                <a:effectLst/>
                <a:latin typeface="Helvetica Neue"/>
              </a:rPr>
              <a:t>A pre-amplifying device </a:t>
            </a:r>
          </a:p>
          <a:p>
            <a:pPr marL="1428750" lvl="2" indent="-514350">
              <a:buAutoNum type="arabicPeriod"/>
            </a:pPr>
            <a:r>
              <a:rPr lang="en-US" b="0" i="0" dirty="0">
                <a:solidFill>
                  <a:srgbClr val="3B3835"/>
                </a:solidFill>
                <a:effectLst/>
                <a:latin typeface="Helvetica Neue"/>
              </a:rPr>
              <a:t>Frequency weighing filter( to allow for the variation of human response to vibration of different frequencies &amp; compared the measured vibration with standards) </a:t>
            </a:r>
          </a:p>
          <a:p>
            <a:pPr marL="1428750" lvl="2" indent="-514350">
              <a:buAutoNum type="arabicPeriod"/>
            </a:pPr>
            <a:r>
              <a:rPr lang="en-US" b="0" i="0" dirty="0">
                <a:solidFill>
                  <a:srgbClr val="3B3835"/>
                </a:solidFill>
                <a:effectLst/>
                <a:latin typeface="Helvetica Neue"/>
              </a:rPr>
              <a:t>Tape recorder to collect information for further analysis </a:t>
            </a:r>
          </a:p>
          <a:p>
            <a:pPr marL="1428750" lvl="2" indent="-514350">
              <a:buAutoNum type="arabicPeriod"/>
            </a:pPr>
            <a:r>
              <a:rPr lang="en-US" b="0" i="0" dirty="0">
                <a:solidFill>
                  <a:srgbClr val="3B3835"/>
                </a:solidFill>
                <a:effectLst/>
                <a:latin typeface="Helvetica Neue"/>
              </a:rPr>
              <a:t>Signal analyzer to obtain relevant parameters like acceleration and peak values</a:t>
            </a:r>
            <a:endParaRPr lang="en-US" dirty="0"/>
          </a:p>
        </p:txBody>
      </p:sp>
    </p:spTree>
    <p:extLst>
      <p:ext uri="{BB962C8B-B14F-4D97-AF65-F5344CB8AC3E}">
        <p14:creationId xmlns:p14="http://schemas.microsoft.com/office/powerpoint/2010/main" val="32385417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B851F6-60BD-48F9-BC79-C2AD84EA6A86}"/>
              </a:ext>
            </a:extLst>
          </p:cNvPr>
          <p:cNvSpPr>
            <a:spLocks noGrp="1"/>
          </p:cNvSpPr>
          <p:nvPr>
            <p:ph type="title"/>
          </p:nvPr>
        </p:nvSpPr>
        <p:spPr>
          <a:xfrm>
            <a:off x="4965430" y="629268"/>
            <a:ext cx="6586491" cy="1286160"/>
          </a:xfrm>
        </p:spPr>
        <p:txBody>
          <a:bodyPr anchor="b">
            <a:normAutofit/>
          </a:bodyPr>
          <a:lstStyle/>
          <a:p>
            <a:r>
              <a:rPr lang="en-US">
                <a:latin typeface="Helvetica Neue"/>
              </a:rPr>
              <a:t>Transducers</a:t>
            </a:r>
            <a:endParaRPr lang="en-US" dirty="0"/>
          </a:p>
        </p:txBody>
      </p:sp>
      <p:sp>
        <p:nvSpPr>
          <p:cNvPr id="3" name="Content Placeholder 2">
            <a:extLst>
              <a:ext uri="{FF2B5EF4-FFF2-40B4-BE49-F238E27FC236}">
                <a16:creationId xmlns:a16="http://schemas.microsoft.com/office/drawing/2014/main" id="{1115BA21-29EA-4B4E-8C01-789AC819662E}"/>
              </a:ext>
            </a:extLst>
          </p:cNvPr>
          <p:cNvSpPr>
            <a:spLocks noGrp="1"/>
          </p:cNvSpPr>
          <p:nvPr>
            <p:ph idx="1"/>
          </p:nvPr>
        </p:nvSpPr>
        <p:spPr>
          <a:xfrm>
            <a:off x="4965431" y="2438400"/>
            <a:ext cx="6586489" cy="3785419"/>
          </a:xfrm>
        </p:spPr>
        <p:txBody>
          <a:bodyPr>
            <a:normAutofit/>
          </a:bodyPr>
          <a:lstStyle/>
          <a:p>
            <a:r>
              <a:rPr lang="en-US" sz="2000" b="0" i="0">
                <a:effectLst/>
                <a:latin typeface="Helvetica Neue"/>
              </a:rPr>
              <a:t>Vibration is usually is measured using accelerometers housed in mounts so they do not compress the seat or distort the posture too much. </a:t>
            </a:r>
          </a:p>
          <a:p>
            <a:r>
              <a:rPr lang="en-US" sz="2000" b="0" i="0">
                <a:effectLst/>
                <a:latin typeface="Helvetica Neue"/>
              </a:rPr>
              <a:t>A "seat transducer", comprising a deformable pad that follows the seat contour and containing a tri-axial accelerometer for simultaneous measurements in three axes of vibration, is commonly used these days. </a:t>
            </a:r>
          </a:p>
          <a:p>
            <a:r>
              <a:rPr lang="en-US" sz="2000" b="0" i="0">
                <a:effectLst/>
                <a:latin typeface="Helvetica Neue"/>
              </a:rPr>
              <a:t>This seat transducer is placed on a seat with a driver sitting on it or is strapped either to the driver' back or the seat back-rest.</a:t>
            </a:r>
            <a:endParaRPr lang="en-US" sz="2000"/>
          </a:p>
        </p:txBody>
      </p:sp>
      <p:pic>
        <p:nvPicPr>
          <p:cNvPr id="5" name="Picture 4">
            <a:extLst>
              <a:ext uri="{FF2B5EF4-FFF2-40B4-BE49-F238E27FC236}">
                <a16:creationId xmlns:a16="http://schemas.microsoft.com/office/drawing/2014/main" id="{B902F105-97CC-4453-BD88-928663379AAB}"/>
              </a:ext>
            </a:extLst>
          </p:cNvPr>
          <p:cNvPicPr>
            <a:picLocks noChangeAspect="1"/>
          </p:cNvPicPr>
          <p:nvPr/>
        </p:nvPicPr>
        <p:blipFill rotWithShape="1">
          <a:blip r:embed="rId2"/>
          <a:srcRect l="4552" r="14335" b="-1"/>
          <a:stretch/>
        </p:blipFill>
        <p:spPr>
          <a:xfrm>
            <a:off x="20" y="10"/>
            <a:ext cx="4635571" cy="6857990"/>
          </a:xfrm>
          <a:prstGeom prst="rect">
            <a:avLst/>
          </a:prstGeom>
          <a:effectLst/>
        </p:spPr>
      </p:pic>
      <p:cxnSp>
        <p:nvCxnSpPr>
          <p:cNvPr id="10" name="Straight Connector 9">
            <a:extLst>
              <a:ext uri="{FF2B5EF4-FFF2-40B4-BE49-F238E27FC236}">
                <a16:creationId xmlns:a16="http://schemas.microsoft.com/office/drawing/2014/main" id="{A7F400EE-A8A5-48AF-B4D6-291B52C6F0B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080934" y="2115117"/>
            <a:ext cx="6309360" cy="0"/>
          </a:xfrm>
          <a:prstGeom prst="line">
            <a:avLst/>
          </a:prstGeom>
          <a:ln w="19050">
            <a:solidFill>
              <a:srgbClr val="D0634C"/>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9695739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pic>
        <p:nvPicPr>
          <p:cNvPr id="5" name="Picture 4" descr="A computer on a table&#10;&#10;Description automatically generated with low confidence">
            <a:extLst>
              <a:ext uri="{FF2B5EF4-FFF2-40B4-BE49-F238E27FC236}">
                <a16:creationId xmlns:a16="http://schemas.microsoft.com/office/drawing/2014/main" id="{7CAB8302-6B9F-4EFA-B1CA-32BCFB6F56CC}"/>
              </a:ext>
            </a:extLst>
          </p:cNvPr>
          <p:cNvPicPr>
            <a:picLocks noChangeAspect="1"/>
          </p:cNvPicPr>
          <p:nvPr/>
        </p:nvPicPr>
        <p:blipFill rotWithShape="1">
          <a:blip r:embed="rId2"/>
          <a:srcRect t="7239" r="-1" b="8469"/>
          <a:stretch/>
        </p:blipFill>
        <p:spPr>
          <a:xfrm>
            <a:off x="20" y="10"/>
            <a:ext cx="12188932" cy="6857990"/>
          </a:xfrm>
          <a:prstGeom prst="rect">
            <a:avLst/>
          </a:prstGeom>
        </p:spPr>
      </p:pic>
      <p:sp>
        <p:nvSpPr>
          <p:cNvPr id="10" name="Freeform: Shape 9">
            <a:extLst>
              <a:ext uri="{FF2B5EF4-FFF2-40B4-BE49-F238E27FC236}">
                <a16:creationId xmlns:a16="http://schemas.microsoft.com/office/drawing/2014/main" id="{5E8D2E83-FB3A-40E7-A9E5-7AB389D612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023809"/>
            <a:ext cx="11016943" cy="2262375"/>
          </a:xfrm>
          <a:custGeom>
            <a:avLst/>
            <a:gdLst>
              <a:gd name="connsiteX0" fmla="*/ 0 w 11016943"/>
              <a:gd name="connsiteY0" fmla="*/ 0 h 2262375"/>
              <a:gd name="connsiteX1" fmla="*/ 9969166 w 11016943"/>
              <a:gd name="connsiteY1" fmla="*/ 0 h 2262375"/>
              <a:gd name="connsiteX2" fmla="*/ 11016943 w 11016943"/>
              <a:gd name="connsiteY2" fmla="*/ 2262375 h 2262375"/>
              <a:gd name="connsiteX3" fmla="*/ 4942050 w 11016943"/>
              <a:gd name="connsiteY3" fmla="*/ 2262375 h 2262375"/>
              <a:gd name="connsiteX4" fmla="*/ 4582160 w 11016943"/>
              <a:gd name="connsiteY4" fmla="*/ 2262375 h 2262375"/>
              <a:gd name="connsiteX5" fmla="*/ 0 w 11016943"/>
              <a:gd name="connsiteY5" fmla="*/ 2262375 h 22623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016943" h="2262375">
                <a:moveTo>
                  <a:pt x="0" y="0"/>
                </a:moveTo>
                <a:lnTo>
                  <a:pt x="9969166" y="0"/>
                </a:lnTo>
                <a:lnTo>
                  <a:pt x="11016943" y="2262375"/>
                </a:lnTo>
                <a:lnTo>
                  <a:pt x="4942050" y="2262375"/>
                </a:lnTo>
                <a:lnTo>
                  <a:pt x="4582160" y="2262375"/>
                </a:lnTo>
                <a:lnTo>
                  <a:pt x="0" y="2262375"/>
                </a:lnTo>
                <a:close/>
              </a:path>
            </a:pathLst>
          </a:custGeom>
          <a:solidFill>
            <a:schemeClr val="bg1">
              <a:lumMod val="85000"/>
              <a:lumOff val="15000"/>
              <a:alpha val="8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Content Placeholder 2">
            <a:extLst>
              <a:ext uri="{FF2B5EF4-FFF2-40B4-BE49-F238E27FC236}">
                <a16:creationId xmlns:a16="http://schemas.microsoft.com/office/drawing/2014/main" id="{FC7664B7-E598-447A-BF37-D219989F7963}"/>
              </a:ext>
            </a:extLst>
          </p:cNvPr>
          <p:cNvSpPr>
            <a:spLocks noGrp="1"/>
          </p:cNvSpPr>
          <p:nvPr>
            <p:ph idx="1"/>
          </p:nvPr>
        </p:nvSpPr>
        <p:spPr>
          <a:xfrm>
            <a:off x="618063" y="4856921"/>
            <a:ext cx="9565028" cy="1249240"/>
          </a:xfrm>
        </p:spPr>
        <p:txBody>
          <a:bodyPr>
            <a:normAutofit/>
          </a:bodyPr>
          <a:lstStyle/>
          <a:p>
            <a:r>
              <a:rPr lang="en-US" sz="1800" b="0" i="0">
                <a:effectLst/>
                <a:latin typeface="Helvetica Neue"/>
              </a:rPr>
              <a:t>To measure whole-body vibration transmitted through the floor, the seat transducer is placed on the floor with a small weight on top to ensure a good contact between the floor and the transducer</a:t>
            </a:r>
            <a:endParaRPr lang="en-US" sz="1800"/>
          </a:p>
        </p:txBody>
      </p:sp>
    </p:spTree>
    <p:extLst>
      <p:ext uri="{BB962C8B-B14F-4D97-AF65-F5344CB8AC3E}">
        <p14:creationId xmlns:p14="http://schemas.microsoft.com/office/powerpoint/2010/main" val="2945472133"/>
      </p:ext>
    </p:extLst>
  </p:cSld>
  <p:clrMapOvr>
    <a:overrideClrMapping bg1="dk1" tx1="lt1" bg2="dk2" tx2="lt2" accent1="accent1" accent2="accent2" accent3="accent3" accent4="accent4" accent5="accent5" accent6="accent6" hlink="hlink" folHlink="folHlink"/>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E8A8EAB8-D2FF-444D-B34B-7D32F106AD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2" name="Title 1">
            <a:extLst>
              <a:ext uri="{FF2B5EF4-FFF2-40B4-BE49-F238E27FC236}">
                <a16:creationId xmlns:a16="http://schemas.microsoft.com/office/drawing/2014/main" id="{B03395FE-6ED8-4322-A8F4-A8D1BE5B37A9}"/>
              </a:ext>
            </a:extLst>
          </p:cNvPr>
          <p:cNvSpPr>
            <a:spLocks noGrp="1"/>
          </p:cNvSpPr>
          <p:nvPr>
            <p:ph type="title"/>
          </p:nvPr>
        </p:nvSpPr>
        <p:spPr>
          <a:xfrm>
            <a:off x="838200" y="448721"/>
            <a:ext cx="4707671" cy="1225650"/>
          </a:xfrm>
        </p:spPr>
        <p:txBody>
          <a:bodyPr anchor="b">
            <a:normAutofit/>
          </a:bodyPr>
          <a:lstStyle/>
          <a:p>
            <a:r>
              <a:rPr lang="en-US" sz="3800">
                <a:solidFill>
                  <a:schemeClr val="bg1"/>
                </a:solidFill>
                <a:latin typeface="Helvetica Neue"/>
              </a:rPr>
              <a:t>Vibration Meter </a:t>
            </a:r>
            <a:endParaRPr lang="en-US" sz="3800">
              <a:solidFill>
                <a:schemeClr val="bg1"/>
              </a:solidFill>
            </a:endParaRPr>
          </a:p>
        </p:txBody>
      </p:sp>
      <p:cxnSp>
        <p:nvCxnSpPr>
          <p:cNvPr id="12" name="Straight Connector 11">
            <a:extLst>
              <a:ext uri="{FF2B5EF4-FFF2-40B4-BE49-F238E27FC236}">
                <a16:creationId xmlns:a16="http://schemas.microsoft.com/office/drawing/2014/main" id="{EEA38897-7BA3-4408-8083-3235339C4A6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1873" y="1749756"/>
            <a:ext cx="4718304"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2A155422-E603-45BC-9E60-813837D4762B}"/>
              </a:ext>
            </a:extLst>
          </p:cNvPr>
          <p:cNvSpPr>
            <a:spLocks noGrp="1"/>
          </p:cNvSpPr>
          <p:nvPr>
            <p:ph idx="1"/>
          </p:nvPr>
        </p:nvSpPr>
        <p:spPr>
          <a:xfrm>
            <a:off x="897769" y="1909192"/>
            <a:ext cx="4586513" cy="3647710"/>
          </a:xfrm>
        </p:spPr>
        <p:txBody>
          <a:bodyPr>
            <a:normAutofit/>
          </a:bodyPr>
          <a:lstStyle/>
          <a:p>
            <a:r>
              <a:rPr lang="en-US" sz="2000" b="0" i="0">
                <a:solidFill>
                  <a:schemeClr val="bg1"/>
                </a:solidFill>
                <a:effectLst/>
                <a:latin typeface="Helvetica Neue"/>
              </a:rPr>
              <a:t>It measures magnitude of vibration as accelerations at different frequencies and directions using a transducer, amplifier and recorder. </a:t>
            </a:r>
          </a:p>
          <a:p>
            <a:r>
              <a:rPr lang="en-US" sz="2000" b="0" i="0">
                <a:solidFill>
                  <a:schemeClr val="bg1"/>
                </a:solidFill>
                <a:effectLst/>
                <a:latin typeface="Helvetica Neue"/>
              </a:rPr>
              <a:t>The acceleration is measured using a transducer located at the source of vibration or area through which the vibration is transmitted.</a:t>
            </a:r>
            <a:endParaRPr lang="en-US" sz="2000">
              <a:solidFill>
                <a:schemeClr val="bg1"/>
              </a:solidFill>
            </a:endParaRPr>
          </a:p>
        </p:txBody>
      </p:sp>
      <p:cxnSp>
        <p:nvCxnSpPr>
          <p:cNvPr id="14" name="Straight Connector 13">
            <a:extLst>
              <a:ext uri="{FF2B5EF4-FFF2-40B4-BE49-F238E27FC236}">
                <a16:creationId xmlns:a16="http://schemas.microsoft.com/office/drawing/2014/main" id="{F11AD06B-AB20-4097-8606-5DA00DBACE8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4027" y="5707672"/>
            <a:ext cx="4713997"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pic>
        <p:nvPicPr>
          <p:cNvPr id="5" name="Picture 4">
            <a:extLst>
              <a:ext uri="{FF2B5EF4-FFF2-40B4-BE49-F238E27FC236}">
                <a16:creationId xmlns:a16="http://schemas.microsoft.com/office/drawing/2014/main" id="{27234C8C-1682-4B9F-972C-E9905F9C4168}"/>
              </a:ext>
            </a:extLst>
          </p:cNvPr>
          <p:cNvPicPr>
            <a:picLocks noChangeAspect="1"/>
          </p:cNvPicPr>
          <p:nvPr/>
        </p:nvPicPr>
        <p:blipFill rotWithShape="1">
          <a:blip r:embed="rId2"/>
          <a:srcRect t="14289" r="-2" b="3287"/>
          <a:stretch/>
        </p:blipFill>
        <p:spPr>
          <a:xfrm>
            <a:off x="6525453" y="10"/>
            <a:ext cx="5666547" cy="6857990"/>
          </a:xfrm>
          <a:prstGeom prst="rect">
            <a:avLst/>
          </a:prstGeom>
        </p:spPr>
      </p:pic>
    </p:spTree>
    <p:extLst>
      <p:ext uri="{BB962C8B-B14F-4D97-AF65-F5344CB8AC3E}">
        <p14:creationId xmlns:p14="http://schemas.microsoft.com/office/powerpoint/2010/main" val="136710737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565F1156-3AAE-4E92-B450-0DCBC6478AAB}"/>
              </a:ext>
            </a:extLst>
          </p:cNvPr>
          <p:cNvPicPr>
            <a:picLocks noChangeAspect="1"/>
          </p:cNvPicPr>
          <p:nvPr/>
        </p:nvPicPr>
        <p:blipFill rotWithShape="1">
          <a:blip r:embed="rId2"/>
          <a:srcRect t="5811" r="2179"/>
          <a:stretch/>
        </p:blipFill>
        <p:spPr>
          <a:xfrm>
            <a:off x="701040" y="479108"/>
            <a:ext cx="9906000" cy="6312964"/>
          </a:xfrm>
          <a:prstGeom prst="rect">
            <a:avLst/>
          </a:prstGeom>
        </p:spPr>
      </p:pic>
    </p:spTree>
    <p:extLst>
      <p:ext uri="{BB962C8B-B14F-4D97-AF65-F5344CB8AC3E}">
        <p14:creationId xmlns:p14="http://schemas.microsoft.com/office/powerpoint/2010/main" val="137911979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04B8CF-3F1E-478F-A68E-E3DAA43F8371}"/>
              </a:ext>
            </a:extLst>
          </p:cNvPr>
          <p:cNvSpPr>
            <a:spLocks noGrp="1"/>
          </p:cNvSpPr>
          <p:nvPr>
            <p:ph type="title"/>
          </p:nvPr>
        </p:nvSpPr>
        <p:spPr>
          <a:xfrm>
            <a:off x="838200" y="365126"/>
            <a:ext cx="10515600" cy="661570"/>
          </a:xfrm>
        </p:spPr>
        <p:txBody>
          <a:bodyPr>
            <a:normAutofit/>
          </a:bodyPr>
          <a:lstStyle/>
          <a:p>
            <a:r>
              <a:rPr lang="en-US" sz="3600" dirty="0">
                <a:solidFill>
                  <a:srgbClr val="3B3835"/>
                </a:solidFill>
                <a:latin typeface="Helvetica Neue"/>
              </a:rPr>
              <a:t>Effects of Vibration Exposure </a:t>
            </a:r>
            <a:endParaRPr lang="en-US" sz="3600" dirty="0"/>
          </a:p>
        </p:txBody>
      </p:sp>
      <p:sp>
        <p:nvSpPr>
          <p:cNvPr id="3" name="Content Placeholder 2">
            <a:extLst>
              <a:ext uri="{FF2B5EF4-FFF2-40B4-BE49-F238E27FC236}">
                <a16:creationId xmlns:a16="http://schemas.microsoft.com/office/drawing/2014/main" id="{9A879CDC-8EBD-4670-B9FD-7E1D6EE9C284}"/>
              </a:ext>
            </a:extLst>
          </p:cNvPr>
          <p:cNvSpPr>
            <a:spLocks noGrp="1"/>
          </p:cNvSpPr>
          <p:nvPr>
            <p:ph idx="1"/>
          </p:nvPr>
        </p:nvSpPr>
        <p:spPr>
          <a:xfrm>
            <a:off x="469231" y="1253330"/>
            <a:ext cx="11241506" cy="5239543"/>
          </a:xfrm>
        </p:spPr>
        <p:txBody>
          <a:bodyPr>
            <a:normAutofit/>
          </a:bodyPr>
          <a:lstStyle/>
          <a:p>
            <a:r>
              <a:rPr lang="en-US" sz="1800" b="0" i="0" dirty="0">
                <a:solidFill>
                  <a:srgbClr val="3B3835"/>
                </a:solidFill>
                <a:effectLst/>
                <a:latin typeface="Helvetica Neue"/>
              </a:rPr>
              <a:t>Vibration can cause annoyance and noise to human body and physical damage to machines and structures. </a:t>
            </a:r>
          </a:p>
          <a:p>
            <a:r>
              <a:rPr lang="en-US" sz="1800" b="0" i="0" dirty="0">
                <a:solidFill>
                  <a:srgbClr val="3B3835"/>
                </a:solidFill>
                <a:effectLst/>
                <a:latin typeface="Helvetica Neue"/>
              </a:rPr>
              <a:t>Effects of vibration are feeling of disoriented or displacement, giddiness, sickness, vibration disease and sometimes fatal. </a:t>
            </a:r>
          </a:p>
          <a:p>
            <a:r>
              <a:rPr lang="en-US" sz="1800" b="0" i="0" dirty="0">
                <a:solidFill>
                  <a:srgbClr val="3B3835"/>
                </a:solidFill>
                <a:effectLst/>
                <a:latin typeface="Helvetica Neue"/>
              </a:rPr>
              <a:t>Whole body vibration can cause permanent damage to body or abdominal, spinal and bone damage.</a:t>
            </a:r>
          </a:p>
          <a:p>
            <a:pPr lvl="1"/>
            <a:r>
              <a:rPr lang="en-US" sz="1600" b="0" i="0" dirty="0">
                <a:solidFill>
                  <a:srgbClr val="3B3835"/>
                </a:solidFill>
                <a:effectLst/>
                <a:latin typeface="Helvetica Neue"/>
              </a:rPr>
              <a:t>At low frequencies( up to 10Hz) the vibrations propagate through the entire body regardless of the location of in put. </a:t>
            </a:r>
          </a:p>
          <a:p>
            <a:pPr lvl="1"/>
            <a:r>
              <a:rPr lang="en-US" sz="1600" b="0" i="0" dirty="0">
                <a:solidFill>
                  <a:srgbClr val="3B3835"/>
                </a:solidFill>
                <a:effectLst/>
                <a:latin typeface="Helvetica Neue"/>
              </a:rPr>
              <a:t>In case of high frequency vibration, the zone of propagation is limited by the area of contact causing vascular disorder in that part </a:t>
            </a:r>
          </a:p>
          <a:p>
            <a:pPr lvl="1"/>
            <a:r>
              <a:rPr lang="en-US" sz="1600" b="0" i="0" dirty="0">
                <a:solidFill>
                  <a:srgbClr val="3B3835"/>
                </a:solidFill>
                <a:effectLst/>
                <a:latin typeface="Helvetica Neue"/>
              </a:rPr>
              <a:t>Low frequency vibration(3-6 Hz)=effects the chest region and create the feelings of Nausea </a:t>
            </a:r>
          </a:p>
          <a:p>
            <a:pPr lvl="1"/>
            <a:r>
              <a:rPr lang="en-US" sz="1600" b="0" i="0" dirty="0">
                <a:solidFill>
                  <a:srgbClr val="3B3835"/>
                </a:solidFill>
                <a:effectLst/>
                <a:latin typeface="Helvetica Neue"/>
              </a:rPr>
              <a:t>20-30 Hz frequency region resonance effect on head, neck and shoulders </a:t>
            </a:r>
          </a:p>
          <a:p>
            <a:pPr lvl="1"/>
            <a:r>
              <a:rPr lang="en-US" sz="1600" b="0" i="0" dirty="0">
                <a:solidFill>
                  <a:srgbClr val="3B3835"/>
                </a:solidFill>
                <a:effectLst/>
                <a:latin typeface="Helvetica Neue"/>
              </a:rPr>
              <a:t>60-90 Hz frequency effect the eye ball </a:t>
            </a:r>
          </a:p>
          <a:p>
            <a:pPr lvl="1"/>
            <a:r>
              <a:rPr lang="en-US" sz="1600" b="0" i="0" dirty="0">
                <a:solidFill>
                  <a:srgbClr val="3B3835"/>
                </a:solidFill>
                <a:effectLst/>
                <a:latin typeface="Helvetica Neue"/>
              </a:rPr>
              <a:t>100-200 Hz frequency effect on lower jaw and skull system </a:t>
            </a:r>
          </a:p>
        </p:txBody>
      </p:sp>
    </p:spTree>
    <p:extLst>
      <p:ext uri="{BB962C8B-B14F-4D97-AF65-F5344CB8AC3E}">
        <p14:creationId xmlns:p14="http://schemas.microsoft.com/office/powerpoint/2010/main" val="406278668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BEC317-E12A-4B8E-A169-E63D53E4AA11}"/>
              </a:ext>
            </a:extLst>
          </p:cNvPr>
          <p:cNvSpPr>
            <a:spLocks noGrp="1"/>
          </p:cNvSpPr>
          <p:nvPr>
            <p:ph type="title"/>
          </p:nvPr>
        </p:nvSpPr>
        <p:spPr/>
        <p:txBody>
          <a:bodyPr/>
          <a:lstStyle/>
          <a:p>
            <a:r>
              <a:rPr lang="en-US" dirty="0">
                <a:solidFill>
                  <a:srgbClr val="3B3835"/>
                </a:solidFill>
                <a:latin typeface="Helvetica Neue"/>
              </a:rPr>
              <a:t>Effects on Human body</a:t>
            </a:r>
            <a:endParaRPr lang="en-US" dirty="0"/>
          </a:p>
        </p:txBody>
      </p:sp>
      <p:sp>
        <p:nvSpPr>
          <p:cNvPr id="3" name="Content Placeholder 2">
            <a:extLst>
              <a:ext uri="{FF2B5EF4-FFF2-40B4-BE49-F238E27FC236}">
                <a16:creationId xmlns:a16="http://schemas.microsoft.com/office/drawing/2014/main" id="{CEDD7383-6118-476C-ADA8-5638AEFFB13E}"/>
              </a:ext>
            </a:extLst>
          </p:cNvPr>
          <p:cNvSpPr>
            <a:spLocks noGrp="1"/>
          </p:cNvSpPr>
          <p:nvPr>
            <p:ph idx="1"/>
          </p:nvPr>
        </p:nvSpPr>
        <p:spPr/>
        <p:txBody>
          <a:bodyPr/>
          <a:lstStyle/>
          <a:p>
            <a:r>
              <a:rPr lang="en-US" dirty="0">
                <a:solidFill>
                  <a:srgbClr val="3B3835"/>
                </a:solidFill>
                <a:latin typeface="Helvetica Neue"/>
              </a:rPr>
              <a:t>Whole body vibration may cause </a:t>
            </a:r>
          </a:p>
          <a:p>
            <a:pPr marL="0" indent="0">
              <a:buNone/>
            </a:pPr>
            <a:r>
              <a:rPr lang="en-US" sz="2400" b="0" i="0" dirty="0">
                <a:solidFill>
                  <a:srgbClr val="3B3835"/>
                </a:solidFill>
                <a:effectLst/>
                <a:latin typeface="Helvetica Neue"/>
              </a:rPr>
              <a:t>1. Increase in oxygen consumption. </a:t>
            </a:r>
          </a:p>
          <a:p>
            <a:pPr marL="0" indent="0">
              <a:buNone/>
            </a:pPr>
            <a:r>
              <a:rPr lang="en-US" sz="2400" b="0" i="0" dirty="0">
                <a:solidFill>
                  <a:srgbClr val="3B3835"/>
                </a:solidFill>
                <a:effectLst/>
                <a:latin typeface="Helvetica Neue"/>
              </a:rPr>
              <a:t>2. Increase in pulmonary ventilation and cardiac output. Affects CNS, damages internal organs. </a:t>
            </a:r>
          </a:p>
          <a:p>
            <a:pPr marL="0" indent="0">
              <a:buNone/>
            </a:pPr>
            <a:r>
              <a:rPr lang="en-US" sz="2400" b="0" i="0" dirty="0">
                <a:solidFill>
                  <a:srgbClr val="3B3835"/>
                </a:solidFill>
                <a:effectLst/>
                <a:latin typeface="Helvetica Neue"/>
              </a:rPr>
              <a:t>3. Difficulty in maintaining steady posture. </a:t>
            </a:r>
          </a:p>
          <a:p>
            <a:pPr marL="0" indent="0">
              <a:buNone/>
            </a:pPr>
            <a:r>
              <a:rPr lang="en-US" sz="2400" b="0" i="0" dirty="0">
                <a:solidFill>
                  <a:srgbClr val="3B3835"/>
                </a:solidFill>
                <a:effectLst/>
                <a:latin typeface="Helvetica Neue"/>
              </a:rPr>
              <a:t>4. Effects on visual acuity and narrows the field of vision. </a:t>
            </a:r>
          </a:p>
          <a:p>
            <a:pPr marL="0" indent="0">
              <a:buNone/>
            </a:pPr>
            <a:r>
              <a:rPr lang="en-US" sz="2400" b="0" i="0" dirty="0">
                <a:solidFill>
                  <a:srgbClr val="3B3835"/>
                </a:solidFill>
                <a:effectLst/>
                <a:latin typeface="Helvetica Neue"/>
              </a:rPr>
              <a:t>5. Marked changes in bone structure – • </a:t>
            </a:r>
            <a:r>
              <a:rPr lang="en-US" sz="2400" b="0" i="0" dirty="0" err="1">
                <a:solidFill>
                  <a:srgbClr val="3B3835"/>
                </a:solidFill>
                <a:effectLst/>
                <a:latin typeface="Helvetica Neue"/>
              </a:rPr>
              <a:t>Spondylities</a:t>
            </a:r>
            <a:r>
              <a:rPr lang="en-US" sz="2400" b="0" i="0" dirty="0">
                <a:solidFill>
                  <a:srgbClr val="3B3835"/>
                </a:solidFill>
                <a:effectLst/>
                <a:latin typeface="Helvetica Neue"/>
              </a:rPr>
              <a:t>. • Deformations. • Intervertebral Osteochondrosis. • Calcification of the intervertebral disc.</a:t>
            </a:r>
            <a:endParaRPr lang="en-US" sz="2400" dirty="0"/>
          </a:p>
        </p:txBody>
      </p:sp>
    </p:spTree>
    <p:extLst>
      <p:ext uri="{BB962C8B-B14F-4D97-AF65-F5344CB8AC3E}">
        <p14:creationId xmlns:p14="http://schemas.microsoft.com/office/powerpoint/2010/main" val="282170909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8782E75-E27E-4EF7-BE55-D55650934EE7}"/>
              </a:ext>
            </a:extLst>
          </p:cNvPr>
          <p:cNvSpPr>
            <a:spLocks noGrp="1"/>
          </p:cNvSpPr>
          <p:nvPr>
            <p:ph idx="1"/>
          </p:nvPr>
        </p:nvSpPr>
        <p:spPr>
          <a:xfrm>
            <a:off x="581526" y="766846"/>
            <a:ext cx="10515600" cy="4351338"/>
          </a:xfrm>
        </p:spPr>
        <p:txBody>
          <a:bodyPr>
            <a:normAutofit/>
          </a:bodyPr>
          <a:lstStyle/>
          <a:p>
            <a:r>
              <a:rPr lang="en-US" sz="2400" b="0" i="0" dirty="0">
                <a:solidFill>
                  <a:srgbClr val="3B3835"/>
                </a:solidFill>
                <a:effectLst/>
                <a:latin typeface="Helvetica Neue"/>
              </a:rPr>
              <a:t>6. Blood changes - • </a:t>
            </a:r>
            <a:r>
              <a:rPr lang="en-US" sz="2400" b="0" i="0" dirty="0" err="1">
                <a:solidFill>
                  <a:srgbClr val="3B3835"/>
                </a:solidFill>
                <a:effectLst/>
                <a:latin typeface="Helvetica Neue"/>
              </a:rPr>
              <a:t>hypoglycaemia</a:t>
            </a:r>
            <a:r>
              <a:rPr lang="en-US" sz="2400" b="0" i="0" dirty="0">
                <a:solidFill>
                  <a:srgbClr val="3B3835"/>
                </a:solidFill>
                <a:effectLst/>
                <a:latin typeface="Helvetica Neue"/>
              </a:rPr>
              <a:t>. • hypocholesteremia. • low ascorbic acid levels. </a:t>
            </a:r>
          </a:p>
          <a:p>
            <a:r>
              <a:rPr lang="en-US" sz="2400" b="0" i="0" dirty="0">
                <a:solidFill>
                  <a:srgbClr val="3B3835"/>
                </a:solidFill>
                <a:effectLst/>
                <a:latin typeface="Helvetica Neue"/>
              </a:rPr>
              <a:t>7. Alternations in the electrical activity of the brain. </a:t>
            </a:r>
          </a:p>
          <a:p>
            <a:r>
              <a:rPr lang="en-US" sz="2400" b="0" i="0" dirty="0">
                <a:solidFill>
                  <a:srgbClr val="3B3835"/>
                </a:solidFill>
                <a:effectLst/>
                <a:latin typeface="Helvetica Neue"/>
              </a:rPr>
              <a:t>8. Effects on endocrine, biochemical and histopathologic systems of the body. </a:t>
            </a:r>
          </a:p>
          <a:p>
            <a:pPr marL="0" indent="0" algn="just">
              <a:buNone/>
            </a:pPr>
            <a:r>
              <a:rPr lang="en-US" sz="2400" b="0" i="0" dirty="0">
                <a:solidFill>
                  <a:srgbClr val="3B3835"/>
                </a:solidFill>
                <a:effectLst/>
                <a:latin typeface="Helvetica Neue"/>
              </a:rPr>
              <a:t>It causes numbness and blanking of the fingers with probable loss of muscular control and reduction of sensitivity to heat ,cold or pain. It causes paleness of the skin due to oxygen deficiency. All vibration make us tired or irritable.</a:t>
            </a:r>
            <a:endParaRPr lang="en-US" sz="2400" dirty="0"/>
          </a:p>
        </p:txBody>
      </p:sp>
    </p:spTree>
    <p:extLst>
      <p:ext uri="{BB962C8B-B14F-4D97-AF65-F5344CB8AC3E}">
        <p14:creationId xmlns:p14="http://schemas.microsoft.com/office/powerpoint/2010/main" val="102634693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CF62D2A7-8207-488C-9F46-316BA81A16C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582780" y="-2008"/>
            <a:ext cx="5609220" cy="5840278"/>
          </a:xfrm>
          <a:custGeom>
            <a:avLst/>
            <a:gdLst>
              <a:gd name="connsiteX0" fmla="*/ 0 w 5609220"/>
              <a:gd name="connsiteY0" fmla="*/ 0 h 5840278"/>
              <a:gd name="connsiteX1" fmla="*/ 4637091 w 5609220"/>
              <a:gd name="connsiteY1" fmla="*/ 0 h 5840278"/>
              <a:gd name="connsiteX2" fmla="*/ 4822569 w 5609220"/>
              <a:gd name="connsiteY2" fmla="*/ 204077 h 5840278"/>
              <a:gd name="connsiteX3" fmla="*/ 5609220 w 5609220"/>
              <a:gd name="connsiteY3" fmla="*/ 2395363 h 5840278"/>
              <a:gd name="connsiteX4" fmla="*/ 2164305 w 5609220"/>
              <a:gd name="connsiteY4" fmla="*/ 5840278 h 5840278"/>
              <a:gd name="connsiteX5" fmla="*/ 238220 w 5609220"/>
              <a:gd name="connsiteY5" fmla="*/ 5251941 h 5840278"/>
              <a:gd name="connsiteX6" fmla="*/ 0 w 5609220"/>
              <a:gd name="connsiteY6" fmla="*/ 5073803 h 58402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609220" h="5840278">
                <a:moveTo>
                  <a:pt x="0" y="0"/>
                </a:moveTo>
                <a:lnTo>
                  <a:pt x="4637091" y="0"/>
                </a:lnTo>
                <a:lnTo>
                  <a:pt x="4822569" y="204077"/>
                </a:lnTo>
                <a:cubicBezTo>
                  <a:pt x="5314007" y="799562"/>
                  <a:pt x="5609220" y="1562987"/>
                  <a:pt x="5609220" y="2395363"/>
                </a:cubicBezTo>
                <a:cubicBezTo>
                  <a:pt x="5609220" y="4297937"/>
                  <a:pt x="4066879" y="5840278"/>
                  <a:pt x="2164305" y="5840278"/>
                </a:cubicBezTo>
                <a:cubicBezTo>
                  <a:pt x="1450840" y="5840278"/>
                  <a:pt x="788032" y="5623387"/>
                  <a:pt x="238220" y="5251941"/>
                </a:cubicBezTo>
                <a:lnTo>
                  <a:pt x="0" y="5073803"/>
                </a:lnTo>
                <a:close/>
              </a:path>
            </a:pathLst>
          </a:cu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6" name="Picture 5">
            <a:extLst>
              <a:ext uri="{FF2B5EF4-FFF2-40B4-BE49-F238E27FC236}">
                <a16:creationId xmlns:a16="http://schemas.microsoft.com/office/drawing/2014/main" id="{EC674116-6A19-46D3-BF23-FAC957DCCCF9}"/>
              </a:ext>
            </a:extLst>
          </p:cNvPr>
          <p:cNvPicPr>
            <a:picLocks noChangeAspect="1"/>
          </p:cNvPicPr>
          <p:nvPr/>
        </p:nvPicPr>
        <p:blipFill rotWithShape="1">
          <a:blip r:embed="rId2"/>
          <a:srcRect l="16767" r="16593"/>
          <a:stretch/>
        </p:blipFill>
        <p:spPr>
          <a:xfrm>
            <a:off x="6750141" y="-2"/>
            <a:ext cx="5441859" cy="5654940"/>
          </a:xfrm>
          <a:custGeom>
            <a:avLst/>
            <a:gdLst/>
            <a:ahLst/>
            <a:cxnLst/>
            <a:rect l="l" t="t" r="r" b="b"/>
            <a:pathLst>
              <a:path w="5441859" h="5654940">
                <a:moveTo>
                  <a:pt x="1041368" y="0"/>
                </a:moveTo>
                <a:lnTo>
                  <a:pt x="5441859" y="0"/>
                </a:lnTo>
                <a:lnTo>
                  <a:pt x="5441859" y="4820612"/>
                </a:lnTo>
                <a:lnTo>
                  <a:pt x="5285166" y="4957981"/>
                </a:lnTo>
                <a:cubicBezTo>
                  <a:pt x="4729628" y="5394557"/>
                  <a:pt x="4029081" y="5654940"/>
                  <a:pt x="3267719" y="5654940"/>
                </a:cubicBezTo>
                <a:cubicBezTo>
                  <a:pt x="1463008" y="5654940"/>
                  <a:pt x="0" y="4191932"/>
                  <a:pt x="0" y="2387221"/>
                </a:cubicBezTo>
                <a:cubicBezTo>
                  <a:pt x="0" y="1484866"/>
                  <a:pt x="365752" y="667936"/>
                  <a:pt x="957093" y="76595"/>
                </a:cubicBezTo>
                <a:close/>
              </a:path>
            </a:pathLst>
          </a:custGeom>
        </p:spPr>
      </p:pic>
      <p:sp>
        <p:nvSpPr>
          <p:cNvPr id="5" name="TextBox 4">
            <a:extLst>
              <a:ext uri="{FF2B5EF4-FFF2-40B4-BE49-F238E27FC236}">
                <a16:creationId xmlns:a16="http://schemas.microsoft.com/office/drawing/2014/main" id="{0293F699-5F5B-4046-903B-F0AC8F1EEF73}"/>
              </a:ext>
            </a:extLst>
          </p:cNvPr>
          <p:cNvSpPr txBox="1"/>
          <p:nvPr/>
        </p:nvSpPr>
        <p:spPr>
          <a:xfrm>
            <a:off x="240636" y="710547"/>
            <a:ext cx="5609220" cy="3046988"/>
          </a:xfrm>
          <a:prstGeom prst="rect">
            <a:avLst/>
          </a:prstGeom>
          <a:noFill/>
        </p:spPr>
        <p:txBody>
          <a:bodyPr wrap="square">
            <a:spAutoFit/>
          </a:bodyPr>
          <a:lstStyle/>
          <a:p>
            <a:pPr algn="just">
              <a:spcAft>
                <a:spcPts val="600"/>
              </a:spcAft>
            </a:pPr>
            <a:r>
              <a:rPr lang="en-US" sz="2400" dirty="0"/>
              <a:t>Raynaud's phenomenon is a condition resulting in discoloration of the fingers and/or the toes after exposure to changes in temperature (cold or hot) or emotional events. Skin discoloration occurs because an abnormal spasm of the blood vessels causes a diminished blood supply to the local tissues.</a:t>
            </a:r>
          </a:p>
        </p:txBody>
      </p:sp>
    </p:spTree>
    <p:extLst>
      <p:ext uri="{BB962C8B-B14F-4D97-AF65-F5344CB8AC3E}">
        <p14:creationId xmlns:p14="http://schemas.microsoft.com/office/powerpoint/2010/main" val="2783893406"/>
      </p:ext>
    </p:extLst>
  </p:cSld>
  <p:clrMapOvr>
    <a:overrideClrMapping bg1="dk1" tx1="lt1" bg2="dk2" tx2="lt2" accent1="accent1" accent2="accent2" accent3="accent3" accent4="accent4" accent5="accent5" accent6="accent6" hlink="hlink" folHlink="folHlink"/>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31AC33-267A-401F-8A58-40F267D8FECC}"/>
              </a:ext>
            </a:extLst>
          </p:cNvPr>
          <p:cNvSpPr>
            <a:spLocks noGrp="1"/>
          </p:cNvSpPr>
          <p:nvPr>
            <p:ph type="title"/>
          </p:nvPr>
        </p:nvSpPr>
        <p:spPr/>
        <p:txBody>
          <a:bodyPr/>
          <a:lstStyle/>
          <a:p>
            <a:r>
              <a:rPr lang="en-US" dirty="0">
                <a:solidFill>
                  <a:srgbClr val="3B3835"/>
                </a:solidFill>
                <a:latin typeface="Helvetica Neue"/>
              </a:rPr>
              <a:t>Vibration control measures </a:t>
            </a:r>
            <a:endParaRPr lang="en-US" dirty="0"/>
          </a:p>
        </p:txBody>
      </p:sp>
      <p:sp>
        <p:nvSpPr>
          <p:cNvPr id="3" name="Content Placeholder 2">
            <a:extLst>
              <a:ext uri="{FF2B5EF4-FFF2-40B4-BE49-F238E27FC236}">
                <a16:creationId xmlns:a16="http://schemas.microsoft.com/office/drawing/2014/main" id="{381E7DF9-0208-49D2-BF96-6D4392AADABC}"/>
              </a:ext>
            </a:extLst>
          </p:cNvPr>
          <p:cNvSpPr>
            <a:spLocks noGrp="1"/>
          </p:cNvSpPr>
          <p:nvPr>
            <p:ph idx="1"/>
          </p:nvPr>
        </p:nvSpPr>
        <p:spPr/>
        <p:txBody>
          <a:bodyPr>
            <a:normAutofit/>
          </a:bodyPr>
          <a:lstStyle/>
          <a:p>
            <a:r>
              <a:rPr lang="en-US" sz="1600" b="0" i="0" dirty="0">
                <a:solidFill>
                  <a:srgbClr val="3B3835"/>
                </a:solidFill>
                <a:effectLst/>
                <a:latin typeface="Arial" panose="020B0604020202020204" pitchFamily="34" charset="0"/>
                <a:cs typeface="Arial" panose="020B0604020202020204" pitchFamily="34" charset="0"/>
              </a:rPr>
              <a:t>Include technical, </a:t>
            </a:r>
            <a:r>
              <a:rPr lang="en-US" sz="1600" b="0" i="0" dirty="0" err="1">
                <a:solidFill>
                  <a:srgbClr val="3B3835"/>
                </a:solidFill>
                <a:effectLst/>
                <a:latin typeface="Arial" panose="020B0604020202020204" pitchFamily="34" charset="0"/>
                <a:cs typeface="Arial" panose="020B0604020202020204" pitchFamily="34" charset="0"/>
              </a:rPr>
              <a:t>organisational</a:t>
            </a:r>
            <a:r>
              <a:rPr lang="en-US" sz="1600" b="0" i="0" dirty="0">
                <a:solidFill>
                  <a:srgbClr val="3B3835"/>
                </a:solidFill>
                <a:effectLst/>
                <a:latin typeface="Arial" panose="020B0604020202020204" pitchFamily="34" charset="0"/>
                <a:cs typeface="Arial" panose="020B0604020202020204" pitchFamily="34" charset="0"/>
              </a:rPr>
              <a:t>, hygienic, prophylactic and therapeutic measures. </a:t>
            </a:r>
          </a:p>
          <a:p>
            <a:pPr marL="514350" indent="-514350">
              <a:buFont typeface="+mj-lt"/>
              <a:buAutoNum type="arabicPeriod"/>
            </a:pPr>
            <a:r>
              <a:rPr lang="en-US" sz="1600" b="0" i="0" dirty="0">
                <a:solidFill>
                  <a:srgbClr val="3B3835"/>
                </a:solidFill>
                <a:effectLst/>
                <a:latin typeface="Arial" panose="020B0604020202020204" pitchFamily="34" charset="0"/>
                <a:cs typeface="Arial" panose="020B0604020202020204" pitchFamily="34" charset="0"/>
              </a:rPr>
              <a:t>Technical or engineering measures include automation, remote control and eliminating or reducing vibration from the design stage or at source.  </a:t>
            </a:r>
          </a:p>
          <a:p>
            <a:pPr marL="514350" indent="-514350">
              <a:buFont typeface="+mj-lt"/>
              <a:buAutoNum type="arabicPeriod"/>
            </a:pPr>
            <a:r>
              <a:rPr lang="en-US" sz="1600" b="0" i="0" dirty="0" err="1">
                <a:solidFill>
                  <a:srgbClr val="3B3835"/>
                </a:solidFill>
                <a:effectLst/>
                <a:latin typeface="Arial" panose="020B0604020202020204" pitchFamily="34" charset="0"/>
                <a:cs typeface="Arial" panose="020B0604020202020204" pitchFamily="34" charset="0"/>
              </a:rPr>
              <a:t>Organisation</a:t>
            </a:r>
            <a:r>
              <a:rPr lang="en-US" sz="1600" b="0" i="0" dirty="0">
                <a:solidFill>
                  <a:srgbClr val="3B3835"/>
                </a:solidFill>
                <a:effectLst/>
                <a:latin typeface="Arial" panose="020B0604020202020204" pitchFamily="34" charset="0"/>
                <a:cs typeface="Arial" panose="020B0604020202020204" pitchFamily="34" charset="0"/>
              </a:rPr>
              <a:t> measures include good preventive and corrective maintenance and arrangement of work schedules in such a way to decrease time of exposure. </a:t>
            </a:r>
          </a:p>
          <a:p>
            <a:pPr marL="514350" indent="-514350">
              <a:buFont typeface="+mj-lt"/>
              <a:buAutoNum type="arabicPeriod"/>
            </a:pPr>
            <a:r>
              <a:rPr lang="en-US" sz="1600" b="0" i="0" dirty="0">
                <a:solidFill>
                  <a:srgbClr val="3B3835"/>
                </a:solidFill>
                <a:effectLst/>
                <a:latin typeface="Arial" panose="020B0604020202020204" pitchFamily="34" charset="0"/>
                <a:cs typeface="Arial" panose="020B0604020202020204" pitchFamily="34" charset="0"/>
              </a:rPr>
              <a:t>Prophylactic and therapeutic measures – pre-employment and periodical medical examinations play an important role. Special gymnastics, hydrotherapeutic procedures, massage and UV radiation can prevent further development of vibration disease and preserve working capacity. </a:t>
            </a:r>
          </a:p>
          <a:p>
            <a:pPr marL="514350" indent="-514350">
              <a:buFont typeface="+mj-lt"/>
              <a:buAutoNum type="arabicPeriod"/>
            </a:pPr>
            <a:r>
              <a:rPr lang="en-US" sz="1600" b="0" i="0" dirty="0">
                <a:solidFill>
                  <a:srgbClr val="3B3835"/>
                </a:solidFill>
                <a:effectLst/>
                <a:latin typeface="Arial" panose="020B0604020202020204" pitchFamily="34" charset="0"/>
                <a:cs typeface="Arial" panose="020B0604020202020204" pitchFamily="34" charset="0"/>
              </a:rPr>
              <a:t>Special vibration absorbing handles fitted to hand tools, springs, suspension seats and shock absorbers are useful.</a:t>
            </a:r>
          </a:p>
          <a:p>
            <a:pPr marL="514350" indent="-514350">
              <a:buFont typeface="+mj-lt"/>
              <a:buAutoNum type="arabicPeriod"/>
            </a:pPr>
            <a:r>
              <a:rPr lang="en-US" sz="1600" b="0" i="0" dirty="0">
                <a:solidFill>
                  <a:srgbClr val="3B3835"/>
                </a:solidFill>
                <a:effectLst/>
                <a:latin typeface="Arial" panose="020B0604020202020204" pitchFamily="34" charset="0"/>
                <a:cs typeface="Arial" panose="020B0604020202020204" pitchFamily="34" charset="0"/>
              </a:rPr>
              <a:t>Reduction in exposure time. Rotate vibrative job and introduce rest schedules so that individual exposure is shortened. </a:t>
            </a:r>
          </a:p>
          <a:p>
            <a:pPr marL="514350" indent="-514350">
              <a:buFont typeface="+mj-lt"/>
              <a:buAutoNum type="arabicPeriod"/>
            </a:pPr>
            <a:r>
              <a:rPr lang="en-US" sz="1600" b="0" i="0" dirty="0">
                <a:solidFill>
                  <a:srgbClr val="3B3835"/>
                </a:solidFill>
                <a:effectLst/>
                <a:latin typeface="Arial" panose="020B0604020202020204" pitchFamily="34" charset="0"/>
                <a:cs typeface="Arial" panose="020B0604020202020204" pitchFamily="34" charset="0"/>
              </a:rPr>
              <a:t>Personal precautions include watching for symptoms, to apply loose grip, to wear gloves and footwear with shock-absorbing soles to damp vibration to use PPE and to get medical attention. </a:t>
            </a:r>
          </a:p>
          <a:p>
            <a:pPr marL="514350" indent="-514350">
              <a:buFont typeface="+mj-lt"/>
              <a:buAutoNum type="arabicPeriod"/>
            </a:pPr>
            <a:r>
              <a:rPr lang="en-US" sz="1600" b="0" i="0" dirty="0">
                <a:solidFill>
                  <a:srgbClr val="3B3835"/>
                </a:solidFill>
                <a:effectLst/>
                <a:latin typeface="Arial" panose="020B0604020202020204" pitchFamily="34" charset="0"/>
                <a:cs typeface="Arial" panose="020B0604020202020204" pitchFamily="34" charset="0"/>
              </a:rPr>
              <a:t>Automation and remote control system.</a:t>
            </a:r>
            <a:endParaRPr lang="en-US" sz="16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51502703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4" name="Rectangle 15">
            <a:extLst>
              <a:ext uri="{FF2B5EF4-FFF2-40B4-BE49-F238E27FC236}">
                <a16:creationId xmlns:a16="http://schemas.microsoft.com/office/drawing/2014/main" id="{D1C26593-9A51-48FE-9FA2-A9052E57F3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78"/>
            <a:ext cx="12192000" cy="685847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Freeform 15">
            <a:extLst>
              <a:ext uri="{FF2B5EF4-FFF2-40B4-BE49-F238E27FC236}">
                <a16:creationId xmlns:a16="http://schemas.microsoft.com/office/drawing/2014/main" id="{B9D473B1-934D-4F2D-AC4B-5BFB4BAC5DC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742603" cy="6858000"/>
          </a:xfrm>
          <a:custGeom>
            <a:avLst/>
            <a:gdLst>
              <a:gd name="connsiteX0" fmla="*/ 0 w 9742603"/>
              <a:gd name="connsiteY0" fmla="*/ 0 h 6858000"/>
              <a:gd name="connsiteX1" fmla="*/ 152400 w 9742603"/>
              <a:gd name="connsiteY1" fmla="*/ 0 h 6858000"/>
              <a:gd name="connsiteX2" fmla="*/ 6566449 w 9742603"/>
              <a:gd name="connsiteY2" fmla="*/ 0 h 6858000"/>
              <a:gd name="connsiteX3" fmla="*/ 9742603 w 9742603"/>
              <a:gd name="connsiteY3" fmla="*/ 6858000 h 6858000"/>
              <a:gd name="connsiteX4" fmla="*/ 152400 w 9742603"/>
              <a:gd name="connsiteY4" fmla="*/ 6858000 h 6858000"/>
              <a:gd name="connsiteX5" fmla="*/ 0 w 9742603"/>
              <a:gd name="connsiteY5"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742603" h="6858000">
                <a:moveTo>
                  <a:pt x="0" y="0"/>
                </a:moveTo>
                <a:lnTo>
                  <a:pt x="152400" y="0"/>
                </a:lnTo>
                <a:lnTo>
                  <a:pt x="6566449" y="0"/>
                </a:lnTo>
                <a:lnTo>
                  <a:pt x="9742603" y="6858000"/>
                </a:lnTo>
                <a:lnTo>
                  <a:pt x="152400" y="6858000"/>
                </a:lnTo>
                <a:lnTo>
                  <a:pt x="0" y="6858000"/>
                </a:lnTo>
                <a:close/>
              </a:path>
            </a:pathLst>
          </a:custGeom>
          <a:solidFill>
            <a:schemeClr val="bg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6" name="Freeform 11">
            <a:extLst>
              <a:ext uri="{FF2B5EF4-FFF2-40B4-BE49-F238E27FC236}">
                <a16:creationId xmlns:a16="http://schemas.microsoft.com/office/drawing/2014/main" id="{CDE3C03E-D949-4F50-AAFA-3278B22121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380336" cy="6858000"/>
          </a:xfrm>
          <a:custGeom>
            <a:avLst/>
            <a:gdLst>
              <a:gd name="connsiteX0" fmla="*/ 0 w 9380336"/>
              <a:gd name="connsiteY0" fmla="*/ 0 h 6858000"/>
              <a:gd name="connsiteX1" fmla="*/ 6204182 w 9380336"/>
              <a:gd name="connsiteY1" fmla="*/ 0 h 6858000"/>
              <a:gd name="connsiteX2" fmla="*/ 9380336 w 9380336"/>
              <a:gd name="connsiteY2" fmla="*/ 6858000 h 6858000"/>
              <a:gd name="connsiteX3" fmla="*/ 0 w 9380336"/>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9380336" h="6858000">
                <a:moveTo>
                  <a:pt x="0" y="0"/>
                </a:moveTo>
                <a:lnTo>
                  <a:pt x="6204182" y="0"/>
                </a:lnTo>
                <a:lnTo>
                  <a:pt x="9380336" y="6858000"/>
                </a:lnTo>
                <a:lnTo>
                  <a:pt x="0" y="6858000"/>
                </a:lnTo>
                <a:close/>
              </a:path>
            </a:pathLst>
          </a:custGeom>
          <a:solidFill>
            <a:schemeClr val="bg1">
              <a:lumMod val="85000"/>
              <a:lumOff val="15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33CC53F9-A9D3-4B14-9464-87E211DDCDC0}"/>
              </a:ext>
            </a:extLst>
          </p:cNvPr>
          <p:cNvSpPr>
            <a:spLocks noGrp="1"/>
          </p:cNvSpPr>
          <p:nvPr>
            <p:ph type="title"/>
          </p:nvPr>
        </p:nvSpPr>
        <p:spPr>
          <a:xfrm>
            <a:off x="838200" y="365125"/>
            <a:ext cx="5191125" cy="1325563"/>
          </a:xfrm>
        </p:spPr>
        <p:txBody>
          <a:bodyPr>
            <a:normAutofit/>
          </a:bodyPr>
          <a:lstStyle/>
          <a:p>
            <a:r>
              <a:rPr lang="en-US" dirty="0"/>
              <a:t>Technical measures</a:t>
            </a:r>
          </a:p>
        </p:txBody>
      </p:sp>
      <p:pic>
        <p:nvPicPr>
          <p:cNvPr id="7" name="Picture 6">
            <a:extLst>
              <a:ext uri="{FF2B5EF4-FFF2-40B4-BE49-F238E27FC236}">
                <a16:creationId xmlns:a16="http://schemas.microsoft.com/office/drawing/2014/main" id="{E503F5B7-648F-40AF-9BBE-33D36056E3F0}"/>
              </a:ext>
            </a:extLst>
          </p:cNvPr>
          <p:cNvPicPr>
            <a:picLocks noChangeAspect="1"/>
          </p:cNvPicPr>
          <p:nvPr/>
        </p:nvPicPr>
        <p:blipFill>
          <a:blip r:embed="rId2"/>
          <a:stretch>
            <a:fillRect/>
          </a:stretch>
        </p:blipFill>
        <p:spPr>
          <a:xfrm>
            <a:off x="7875738" y="321721"/>
            <a:ext cx="3652647" cy="1388006"/>
          </a:xfrm>
          <a:prstGeom prst="rect">
            <a:avLst/>
          </a:prstGeom>
        </p:spPr>
      </p:pic>
      <p:sp>
        <p:nvSpPr>
          <p:cNvPr id="3" name="Content Placeholder 2">
            <a:extLst>
              <a:ext uri="{FF2B5EF4-FFF2-40B4-BE49-F238E27FC236}">
                <a16:creationId xmlns:a16="http://schemas.microsoft.com/office/drawing/2014/main" id="{3A318C92-85EF-4786-BF97-1728F5EC7169}"/>
              </a:ext>
            </a:extLst>
          </p:cNvPr>
          <p:cNvSpPr>
            <a:spLocks noGrp="1"/>
          </p:cNvSpPr>
          <p:nvPr>
            <p:ph idx="1"/>
          </p:nvPr>
        </p:nvSpPr>
        <p:spPr>
          <a:xfrm>
            <a:off x="380481" y="1709727"/>
            <a:ext cx="6809400" cy="4783148"/>
          </a:xfrm>
        </p:spPr>
        <p:txBody>
          <a:bodyPr>
            <a:normAutofit/>
          </a:bodyPr>
          <a:lstStyle/>
          <a:p>
            <a:pPr algn="just"/>
            <a:r>
              <a:rPr lang="en-US" sz="1600" b="0" i="0" dirty="0">
                <a:effectLst/>
                <a:latin typeface="Helvetica Neue"/>
              </a:rPr>
              <a:t>Anti Vibration Tools  Certain manufacturing Company produce anti vibration tools such as anti vibration pneumatic chipping hammers, pavement breakers, and vibration damped pneumatic riveting guns.</a:t>
            </a:r>
          </a:p>
          <a:p>
            <a:pPr algn="just"/>
            <a:r>
              <a:rPr lang="en-US" sz="1600" b="0" i="0" dirty="0">
                <a:effectLst/>
                <a:latin typeface="Helvetica Neue"/>
              </a:rPr>
              <a:t>Anti Vibration Gloves  Anti vibration Gloves are made using a layer of viscoelastic material. Measurement have shown that such gloves have limited effectiveness in absorbing low frequency vibration, the major contributor to vibration related disorders , hence they have little effect on vibration induced finger syndrome, however gloves helps from cuts and abrasions and cold temperatures</a:t>
            </a:r>
          </a:p>
          <a:p>
            <a:pPr algn="just"/>
            <a:r>
              <a:rPr lang="en-US" sz="1600" b="0" i="0" dirty="0">
                <a:effectLst/>
                <a:latin typeface="Helvetica Neue"/>
              </a:rPr>
              <a:t>Vibration Damping  Vibration dampers(absorption) are used under machine foundation &amp; machine should be installed in such a way that dampers come in contact between the building foundation &amp; machine.</a:t>
            </a:r>
          </a:p>
          <a:p>
            <a:pPr algn="just"/>
            <a:r>
              <a:rPr lang="en-US" sz="1600" b="0" i="0" dirty="0">
                <a:effectLst/>
                <a:latin typeface="Helvetica Neue"/>
              </a:rPr>
              <a:t>Remote control vibratory plate Operator vibration exposure – Zero</a:t>
            </a:r>
          </a:p>
          <a:p>
            <a:pPr algn="just"/>
            <a:r>
              <a:rPr lang="en-US" sz="1600" b="0" i="0" dirty="0">
                <a:effectLst/>
                <a:latin typeface="Helvetica Neue"/>
              </a:rPr>
              <a:t>Mechanization removes the risk Machine-mounted pick replaces hand- operated breakers</a:t>
            </a:r>
          </a:p>
          <a:p>
            <a:pPr algn="just"/>
            <a:r>
              <a:rPr lang="en-US" sz="1600" b="0" i="0" dirty="0">
                <a:effectLst/>
                <a:latin typeface="Helvetica Neue"/>
              </a:rPr>
              <a:t>Demolition without vibration Use hydraulic crushers instead of demolition hammers</a:t>
            </a:r>
            <a:endParaRPr lang="en-US" sz="1600" dirty="0"/>
          </a:p>
        </p:txBody>
      </p:sp>
      <p:pic>
        <p:nvPicPr>
          <p:cNvPr id="5" name="Picture 4">
            <a:extLst>
              <a:ext uri="{FF2B5EF4-FFF2-40B4-BE49-F238E27FC236}">
                <a16:creationId xmlns:a16="http://schemas.microsoft.com/office/drawing/2014/main" id="{808E8DDD-BDF5-41D5-B634-9E308806B0DE}"/>
              </a:ext>
            </a:extLst>
          </p:cNvPr>
          <p:cNvPicPr>
            <a:picLocks noChangeAspect="1"/>
          </p:cNvPicPr>
          <p:nvPr/>
        </p:nvPicPr>
        <p:blipFill>
          <a:blip r:embed="rId3"/>
          <a:stretch>
            <a:fillRect/>
          </a:stretch>
        </p:blipFill>
        <p:spPr>
          <a:xfrm>
            <a:off x="8445821" y="1870584"/>
            <a:ext cx="3084474" cy="1388013"/>
          </a:xfrm>
          <a:prstGeom prst="rect">
            <a:avLst/>
          </a:prstGeom>
        </p:spPr>
      </p:pic>
      <p:pic>
        <p:nvPicPr>
          <p:cNvPr id="11" name="Picture 10">
            <a:extLst>
              <a:ext uri="{FF2B5EF4-FFF2-40B4-BE49-F238E27FC236}">
                <a16:creationId xmlns:a16="http://schemas.microsoft.com/office/drawing/2014/main" id="{6ED41604-1F5A-460F-A6DC-59DDFF44D475}"/>
              </a:ext>
            </a:extLst>
          </p:cNvPr>
          <p:cNvPicPr>
            <a:picLocks noChangeAspect="1"/>
          </p:cNvPicPr>
          <p:nvPr/>
        </p:nvPicPr>
        <p:blipFill>
          <a:blip r:embed="rId4"/>
          <a:stretch>
            <a:fillRect/>
          </a:stretch>
        </p:blipFill>
        <p:spPr>
          <a:xfrm>
            <a:off x="9464267" y="3419454"/>
            <a:ext cx="1875126" cy="1388013"/>
          </a:xfrm>
          <a:prstGeom prst="rect">
            <a:avLst/>
          </a:prstGeom>
        </p:spPr>
      </p:pic>
      <p:pic>
        <p:nvPicPr>
          <p:cNvPr id="9" name="Picture 8">
            <a:extLst>
              <a:ext uri="{FF2B5EF4-FFF2-40B4-BE49-F238E27FC236}">
                <a16:creationId xmlns:a16="http://schemas.microsoft.com/office/drawing/2014/main" id="{1BEDC9CE-A98D-4CAA-B0BC-F9F182AB7C3E}"/>
              </a:ext>
            </a:extLst>
          </p:cNvPr>
          <p:cNvPicPr>
            <a:picLocks noChangeAspect="1"/>
          </p:cNvPicPr>
          <p:nvPr/>
        </p:nvPicPr>
        <p:blipFill>
          <a:blip r:embed="rId5"/>
          <a:stretch>
            <a:fillRect/>
          </a:stretch>
        </p:blipFill>
        <p:spPr>
          <a:xfrm>
            <a:off x="10025967" y="4968316"/>
            <a:ext cx="1480176" cy="1388004"/>
          </a:xfrm>
          <a:prstGeom prst="rect">
            <a:avLst/>
          </a:prstGeom>
        </p:spPr>
      </p:pic>
    </p:spTree>
    <p:extLst>
      <p:ext uri="{BB962C8B-B14F-4D97-AF65-F5344CB8AC3E}">
        <p14:creationId xmlns:p14="http://schemas.microsoft.com/office/powerpoint/2010/main" val="3341508534"/>
      </p:ext>
    </p:extLst>
  </p:cSld>
  <p:clrMapOvr>
    <a:overrideClrMapping bg1="dk1" tx1="lt1" bg2="dk2" tx2="lt2" accent1="accent1" accent2="accent2" accent3="accent3" accent4="accent4" accent5="accent5" accent6="accent6" hlink="hlink" folHlink="folHlink"/>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6A69E6DE27C9AC43BCBB525DB9C8DBF0" ma:contentTypeVersion="4" ma:contentTypeDescription="Create a new document." ma:contentTypeScope="" ma:versionID="e2c02323e539b1cfdf710af1c53f10d1">
  <xsd:schema xmlns:xsd="http://www.w3.org/2001/XMLSchema" xmlns:xs="http://www.w3.org/2001/XMLSchema" xmlns:p="http://schemas.microsoft.com/office/2006/metadata/properties" xmlns:ns2="66a9b643-f79d-4ba3-b58a-2659a2e5ff7d" xmlns:ns3="b9da394a-a0ef-4c9f-ad39-60e4b8cd0745" targetNamespace="http://schemas.microsoft.com/office/2006/metadata/properties" ma:root="true" ma:fieldsID="c0d3ff0aa76ae77f8be6e6a85fcdbf01" ns2:_="" ns3:_="">
    <xsd:import namespace="66a9b643-f79d-4ba3-b58a-2659a2e5ff7d"/>
    <xsd:import namespace="b9da394a-a0ef-4c9f-ad39-60e4b8cd0745"/>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6a9b643-f79d-4ba3-b58a-2659a2e5ff7d"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b9da394a-a0ef-4c9f-ad39-60e4b8cd0745"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7D16C4D3-87E5-45C5-BB69-218A27846D42}"/>
</file>

<file path=customXml/itemProps2.xml><?xml version="1.0" encoding="utf-8"?>
<ds:datastoreItem xmlns:ds="http://schemas.openxmlformats.org/officeDocument/2006/customXml" ds:itemID="{CFBDFD34-6676-4AED-9BE8-47F6478E9339}"/>
</file>

<file path=customXml/itemProps3.xml><?xml version="1.0" encoding="utf-8"?>
<ds:datastoreItem xmlns:ds="http://schemas.openxmlformats.org/officeDocument/2006/customXml" ds:itemID="{1D164ABD-3313-42C4-9F35-DF4206460B42}"/>
</file>

<file path=docProps/app.xml><?xml version="1.0" encoding="utf-8"?>
<Properties xmlns="http://schemas.openxmlformats.org/officeDocument/2006/extended-properties" xmlns:vt="http://schemas.openxmlformats.org/officeDocument/2006/docPropsVTypes">
  <TotalTime>110</TotalTime>
  <Words>2234</Words>
  <Application>Microsoft Office PowerPoint</Application>
  <PresentationFormat>Widescreen</PresentationFormat>
  <Paragraphs>133</Paragraphs>
  <Slides>28</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28</vt:i4>
      </vt:variant>
    </vt:vector>
  </HeadingPairs>
  <TitlesOfParts>
    <vt:vector size="34" baseType="lpstr">
      <vt:lpstr>Arial</vt:lpstr>
      <vt:lpstr>Calibri</vt:lpstr>
      <vt:lpstr>Calibri Light</vt:lpstr>
      <vt:lpstr>Helvetica Neue</vt:lpstr>
      <vt:lpstr>Open Sans</vt:lpstr>
      <vt:lpstr>Office Theme</vt:lpstr>
      <vt:lpstr>Noise and Vibration Hazards</vt:lpstr>
      <vt:lpstr>Noise</vt:lpstr>
      <vt:lpstr>MEASURMENT OF NOISE </vt:lpstr>
      <vt:lpstr>PowerPoint Presentation</vt:lpstr>
      <vt:lpstr>PowerPoint Presentation</vt:lpstr>
      <vt:lpstr>PowerPoint Presentation</vt:lpstr>
      <vt:lpstr>SOURCES OF NOISE </vt:lpstr>
      <vt:lpstr>OCCUPATIONAL NOISE </vt:lpstr>
      <vt:lpstr>EFFCTS OF OCCUPATIONAL NOISE </vt:lpstr>
      <vt:lpstr>AUDITORY EFFECTS </vt:lpstr>
      <vt:lpstr>CONTROL OF NOISE:  Engineering control </vt:lpstr>
      <vt:lpstr>PowerPoint Presentation</vt:lpstr>
      <vt:lpstr>Vibration Hazards</vt:lpstr>
      <vt:lpstr>VIBRATION </vt:lpstr>
      <vt:lpstr>How does the vibration exposure Occur ? </vt:lpstr>
      <vt:lpstr>TYPES OF VIBRATIONS </vt:lpstr>
      <vt:lpstr>PowerPoint Presentation</vt:lpstr>
      <vt:lpstr>Measurement of Vibration Exposure </vt:lpstr>
      <vt:lpstr>Transducers</vt:lpstr>
      <vt:lpstr>PowerPoint Presentation</vt:lpstr>
      <vt:lpstr>Vibration Meter </vt:lpstr>
      <vt:lpstr>PowerPoint Presentation</vt:lpstr>
      <vt:lpstr>Effects of Vibration Exposure </vt:lpstr>
      <vt:lpstr>Effects on Human body</vt:lpstr>
      <vt:lpstr>PowerPoint Presentation</vt:lpstr>
      <vt:lpstr>PowerPoint Presentation</vt:lpstr>
      <vt:lpstr>Vibration control measures </vt:lpstr>
      <vt:lpstr>Technical measures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Noise and Vibration Hazards</dc:title>
  <dc:creator>Dr. Sukalyan Chakraborty</dc:creator>
  <cp:lastModifiedBy>Dr. Sukalyan Chakraborty</cp:lastModifiedBy>
  <cp:revision>15</cp:revision>
  <dcterms:created xsi:type="dcterms:W3CDTF">2021-02-08T11:51:28Z</dcterms:created>
  <dcterms:modified xsi:type="dcterms:W3CDTF">2021-02-09T10:04:49Z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0x0101006A69E6DE27C9AC43BCBB525DB9C8DBF0</vt:lpwstr>
  </property>
</Properties>
</file>