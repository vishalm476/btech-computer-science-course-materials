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170B0E-4B1B-40AB-9D34-3A90A670C405}" v="2" dt="2022-03-31T09:16:57.915"/>
    <p1510:client id="{C8CAA345-85A5-40B6-9841-441C2A6726F5}" v="2" dt="2022-04-01T02:21:02.3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8" d="100"/>
          <a:sy n="78" d="100"/>
        </p:scale>
        <p:origin x="12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AL HIRAWAT(BTECH10653.21@bitmesra.ac.in)" userId="S::btech10653.21@bitmesra.ac.in::74f85c46-2280-4dcf-9c84-4f23fe23df59" providerId="AD" clId="Web-{50170B0E-4B1B-40AB-9D34-3A90A670C405}"/>
    <pc:docChg chg="modSld">
      <pc:chgData name="KUNAL HIRAWAT(BTECH10653.21@bitmesra.ac.in)" userId="S::btech10653.21@bitmesra.ac.in::74f85c46-2280-4dcf-9c84-4f23fe23df59" providerId="AD" clId="Web-{50170B0E-4B1B-40AB-9D34-3A90A670C405}" dt="2022-03-31T09:16:57.915" v="1" actId="1076"/>
      <pc:docMkLst>
        <pc:docMk/>
      </pc:docMkLst>
      <pc:sldChg chg="modSp">
        <pc:chgData name="KUNAL HIRAWAT(BTECH10653.21@bitmesra.ac.in)" userId="S::btech10653.21@bitmesra.ac.in::74f85c46-2280-4dcf-9c84-4f23fe23df59" providerId="AD" clId="Web-{50170B0E-4B1B-40AB-9D34-3A90A670C405}" dt="2022-03-31T09:16:57.915" v="1" actId="1076"/>
        <pc:sldMkLst>
          <pc:docMk/>
          <pc:sldMk cId="494295802" sldId="261"/>
        </pc:sldMkLst>
        <pc:spChg chg="mod">
          <ac:chgData name="KUNAL HIRAWAT(BTECH10653.21@bitmesra.ac.in)" userId="S::btech10653.21@bitmesra.ac.in::74f85c46-2280-4dcf-9c84-4f23fe23df59" providerId="AD" clId="Web-{50170B0E-4B1B-40AB-9D34-3A90A670C405}" dt="2022-03-31T09:16:57.915" v="1" actId="1076"/>
          <ac:spMkLst>
            <pc:docMk/>
            <pc:sldMk cId="494295802" sldId="261"/>
            <ac:spMk id="4" creationId="{00000000-0000-0000-0000-000000000000}"/>
          </ac:spMkLst>
        </pc:spChg>
      </pc:sldChg>
    </pc:docChg>
  </pc:docChgLst>
  <pc:docChgLst>
    <pc:chgData name="SHIVAM SHARMA(BTECH10193.21@bitmesra.ac.in)" userId="S::btech10193.21@bitmesra.ac.in::eba7c897-202f-4a55-9f60-9e15682e06d6" providerId="AD" clId="Web-{C8CAA345-85A5-40B6-9841-441C2A6726F5}"/>
    <pc:docChg chg="modSld">
      <pc:chgData name="SHIVAM SHARMA(BTECH10193.21@bitmesra.ac.in)" userId="S::btech10193.21@bitmesra.ac.in::eba7c897-202f-4a55-9f60-9e15682e06d6" providerId="AD" clId="Web-{C8CAA345-85A5-40B6-9841-441C2A6726F5}" dt="2022-04-01T02:21:02.380" v="1" actId="1076"/>
      <pc:docMkLst>
        <pc:docMk/>
      </pc:docMkLst>
      <pc:sldChg chg="modSp">
        <pc:chgData name="SHIVAM SHARMA(BTECH10193.21@bitmesra.ac.in)" userId="S::btech10193.21@bitmesra.ac.in::eba7c897-202f-4a55-9f60-9e15682e06d6" providerId="AD" clId="Web-{C8CAA345-85A5-40B6-9841-441C2A6726F5}" dt="2022-04-01T02:21:02.380" v="1" actId="1076"/>
        <pc:sldMkLst>
          <pc:docMk/>
          <pc:sldMk cId="2651275873" sldId="260"/>
        </pc:sldMkLst>
        <pc:spChg chg="mod">
          <ac:chgData name="SHIVAM SHARMA(BTECH10193.21@bitmesra.ac.in)" userId="S::btech10193.21@bitmesra.ac.in::eba7c897-202f-4a55-9f60-9e15682e06d6" providerId="AD" clId="Web-{C8CAA345-85A5-40B6-9841-441C2A6726F5}" dt="2022-04-01T02:21:02.380" v="1" actId="1076"/>
          <ac:spMkLst>
            <pc:docMk/>
            <pc:sldMk cId="2651275873" sldId="260"/>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6554D14-51B7-4C8B-9B0C-385F5EE1C1F1}" type="datetimeFigureOut">
              <a:rPr lang="en-IN" smtClean="0"/>
              <a:t>31-03-2022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2113347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554D14-51B7-4C8B-9B0C-385F5EE1C1F1}" type="datetimeFigureOut">
              <a:rPr lang="en-IN" smtClean="0"/>
              <a:t>31-03-2022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3214150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554D14-51B7-4C8B-9B0C-385F5EE1C1F1}" type="datetimeFigureOut">
              <a:rPr lang="en-IN" smtClean="0"/>
              <a:t>31-03-2022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415029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6554D14-51B7-4C8B-9B0C-385F5EE1C1F1}" type="datetimeFigureOut">
              <a:rPr lang="en-IN" smtClean="0"/>
              <a:t>31-03-2022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3473416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6554D14-51B7-4C8B-9B0C-385F5EE1C1F1}" type="datetimeFigureOut">
              <a:rPr lang="en-IN" smtClean="0"/>
              <a:t>31-03-2022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336623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6554D14-51B7-4C8B-9B0C-385F5EE1C1F1}" type="datetimeFigureOut">
              <a:rPr lang="en-IN" smtClean="0"/>
              <a:t>31-03-2022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4171911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554D14-51B7-4C8B-9B0C-385F5EE1C1F1}" type="datetimeFigureOut">
              <a:rPr lang="en-IN" smtClean="0"/>
              <a:t>31-03-2022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142034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554D14-51B7-4C8B-9B0C-385F5EE1C1F1}" type="datetimeFigureOut">
              <a:rPr lang="en-IN" smtClean="0"/>
              <a:t>31-03-2022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408228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554D14-51B7-4C8B-9B0C-385F5EE1C1F1}" type="datetimeFigureOut">
              <a:rPr lang="en-IN" smtClean="0"/>
              <a:t>31-03-2022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321136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554D14-51B7-4C8B-9B0C-385F5EE1C1F1}" type="datetimeFigureOut">
              <a:rPr lang="en-IN" smtClean="0"/>
              <a:t>31-03-2022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1778154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6554D14-51B7-4C8B-9B0C-385F5EE1C1F1}" type="datetimeFigureOut">
              <a:rPr lang="en-IN" smtClean="0"/>
              <a:t>31-03-2022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FD36D34-DD9D-4598-8E45-7B02E5209528}" type="slidenum">
              <a:rPr lang="en-IN" smtClean="0"/>
              <a:t>‹#›</a:t>
            </a:fld>
            <a:endParaRPr lang="en-IN"/>
          </a:p>
        </p:txBody>
      </p:sp>
    </p:spTree>
    <p:extLst>
      <p:ext uri="{BB962C8B-B14F-4D97-AF65-F5344CB8AC3E}">
        <p14:creationId xmlns:p14="http://schemas.microsoft.com/office/powerpoint/2010/main" val="3112216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554D14-51B7-4C8B-9B0C-385F5EE1C1F1}" type="datetimeFigureOut">
              <a:rPr lang="en-IN" smtClean="0"/>
              <a:t>31-03-2022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D36D34-DD9D-4598-8E45-7B02E5209528}" type="slidenum">
              <a:rPr lang="en-IN" smtClean="0"/>
              <a:t>‹#›</a:t>
            </a:fld>
            <a:endParaRPr lang="en-IN"/>
          </a:p>
        </p:txBody>
      </p:sp>
    </p:spTree>
    <p:extLst>
      <p:ext uri="{BB962C8B-B14F-4D97-AF65-F5344CB8AC3E}">
        <p14:creationId xmlns:p14="http://schemas.microsoft.com/office/powerpoint/2010/main" val="1152808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swm.info/sswm-university-course/module-2-centralised-and-decentralised-systems-water-and-sanitation-2/rapid-sand-filtration"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sswm.info/sswm-university-course/module-2-centralised-and-decentralised-systems-water-and-sanitation-2/biosand-filter"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sciencedirect.com/topics/chemical-engineering/chlorin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Candidatus_Accumulibacter_Phosphatis" TargetMode="External"/><Relationship Id="rId2" Type="http://schemas.openxmlformats.org/officeDocument/2006/relationships/hyperlink" Target="https://en.wikipedia.org/wiki/Betaproteobacteria" TargetMode="Externa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hyperlink" Target="https://en.wikipedia.org/wiki/Polyhydroxyalkanoate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Advanced Wastewater Treatment</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4202712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 contaminants and their treatments</a:t>
            </a:r>
          </a:p>
        </p:txBody>
      </p:sp>
      <p:sp>
        <p:nvSpPr>
          <p:cNvPr id="3" name="Content Placeholder 2"/>
          <p:cNvSpPr>
            <a:spLocks noGrp="1"/>
          </p:cNvSpPr>
          <p:nvPr>
            <p:ph idx="1"/>
          </p:nvPr>
        </p:nvSpPr>
        <p:spPr/>
        <p:txBody>
          <a:bodyPr/>
          <a:lstStyle/>
          <a:p>
            <a:r>
              <a:rPr lang="en-IN" dirty="0"/>
              <a:t>Removal of residual nutrients</a:t>
            </a:r>
          </a:p>
          <a:p>
            <a:r>
              <a:rPr lang="en-IN" dirty="0"/>
              <a:t>Removal of total dissolved solids</a:t>
            </a:r>
          </a:p>
          <a:p>
            <a:r>
              <a:rPr lang="en-IN" dirty="0"/>
              <a:t>Removal of pathogens</a:t>
            </a:r>
          </a:p>
          <a:p>
            <a:endParaRPr lang="en-IN" dirty="0"/>
          </a:p>
          <a:p>
            <a:endParaRPr lang="en-IN" dirty="0"/>
          </a:p>
          <a:p>
            <a:r>
              <a:rPr lang="en-IN" dirty="0"/>
              <a:t>Filtration</a:t>
            </a:r>
          </a:p>
          <a:p>
            <a:r>
              <a:rPr lang="en-IN" dirty="0"/>
              <a:t>Adsorption</a:t>
            </a:r>
          </a:p>
          <a:p>
            <a:r>
              <a:rPr lang="en-IN" dirty="0"/>
              <a:t>P and N removal</a:t>
            </a:r>
          </a:p>
          <a:p>
            <a:endParaRPr lang="en-IN" dirty="0"/>
          </a:p>
        </p:txBody>
      </p:sp>
    </p:spTree>
    <p:extLst>
      <p:ext uri="{BB962C8B-B14F-4D97-AF65-F5344CB8AC3E}">
        <p14:creationId xmlns:p14="http://schemas.microsoft.com/office/powerpoint/2010/main" val="620514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Slow Sand Filtration</a:t>
            </a:r>
          </a:p>
        </p:txBody>
      </p:sp>
      <p:sp>
        <p:nvSpPr>
          <p:cNvPr id="3" name="Content Placeholder 2"/>
          <p:cNvSpPr>
            <a:spLocks noGrp="1"/>
          </p:cNvSpPr>
          <p:nvPr>
            <p:ph idx="1"/>
          </p:nvPr>
        </p:nvSpPr>
        <p:spPr/>
        <p:txBody>
          <a:bodyPr/>
          <a:lstStyle/>
          <a:p>
            <a:pPr algn="just"/>
            <a:r>
              <a:rPr lang="en-US" dirty="0"/>
              <a:t>A well-designed and properly maintained slow sand filter (SSF) effectively removes turbidity and pathogenic organisms through various biological, physical and chemical processes in a single treatment step.</a:t>
            </a:r>
          </a:p>
          <a:p>
            <a:pPr algn="just"/>
            <a:endParaRPr lang="en-IN" dirty="0"/>
          </a:p>
        </p:txBody>
      </p:sp>
      <p:pic>
        <p:nvPicPr>
          <p:cNvPr id="1026" name="Picture 2" descr="Slow Sand Filtration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3338618"/>
            <a:ext cx="60960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6943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573741" y="467543"/>
            <a:ext cx="11219330" cy="923330"/>
          </a:xfrm>
          <a:prstGeom prst="rect">
            <a:avLst/>
          </a:prstGeom>
        </p:spPr>
        <p:txBody>
          <a:bodyPr wrap="square">
            <a:spAutoFit/>
          </a:bodyPr>
          <a:lstStyle/>
          <a:p>
            <a:r>
              <a:rPr lang="en-US" b="0" i="0" dirty="0">
                <a:solidFill>
                  <a:srgbClr val="005154"/>
                </a:solidFill>
                <a:effectLst/>
                <a:latin typeface="Roboto"/>
              </a:rPr>
              <a:t>The basic principle of the process is very simple. Contaminated freshwater flows through a layer of sand, where it not only gets physically filtered but biologically treated. Hereby, both sediments and pathogens are removed. This process is based on the ability of organisms to remove pathogens.</a:t>
            </a:r>
            <a:endParaRPr lang="en-IN" dirty="0"/>
          </a:p>
        </p:txBody>
      </p:sp>
      <p:pic>
        <p:nvPicPr>
          <p:cNvPr id="12" name="Picture 11"/>
          <p:cNvPicPr>
            <a:picLocks noChangeAspect="1"/>
          </p:cNvPicPr>
          <p:nvPr/>
        </p:nvPicPr>
        <p:blipFill>
          <a:blip r:embed="rId2"/>
          <a:stretch>
            <a:fillRect/>
          </a:stretch>
        </p:blipFill>
        <p:spPr>
          <a:xfrm>
            <a:off x="573741" y="1625974"/>
            <a:ext cx="4124325" cy="3390900"/>
          </a:xfrm>
          <a:prstGeom prst="rect">
            <a:avLst/>
          </a:prstGeom>
        </p:spPr>
      </p:pic>
      <p:sp>
        <p:nvSpPr>
          <p:cNvPr id="13" name="Rectangle 12"/>
          <p:cNvSpPr/>
          <p:nvPr/>
        </p:nvSpPr>
        <p:spPr>
          <a:xfrm>
            <a:off x="4698065" y="1736956"/>
            <a:ext cx="7095005" cy="1477328"/>
          </a:xfrm>
          <a:prstGeom prst="rect">
            <a:avLst/>
          </a:prstGeom>
        </p:spPr>
        <p:txBody>
          <a:bodyPr wrap="square">
            <a:spAutoFit/>
          </a:bodyPr>
          <a:lstStyle/>
          <a:p>
            <a:r>
              <a:rPr lang="en-US" b="0" i="0" dirty="0">
                <a:solidFill>
                  <a:srgbClr val="005154"/>
                </a:solidFill>
                <a:effectLst/>
                <a:latin typeface="Roboto"/>
              </a:rPr>
              <a:t>In this context, it is important to distinguish slow and </a:t>
            </a:r>
            <a:r>
              <a:rPr lang="en-US" b="1" i="0" u="none" strike="noStrike" dirty="0">
                <a:solidFill>
                  <a:srgbClr val="4CCECB"/>
                </a:solidFill>
                <a:effectLst/>
                <a:latin typeface="Roboto"/>
                <a:hlinkClick r:id="rId3"/>
              </a:rPr>
              <a:t>rapid sand filtration</a:t>
            </a:r>
            <a:r>
              <a:rPr lang="en-US" b="0" i="0" dirty="0">
                <a:solidFill>
                  <a:srgbClr val="005154"/>
                </a:solidFill>
                <a:effectLst/>
                <a:latin typeface="Roboto"/>
              </a:rPr>
              <a:t>. The difference between the two is not simply a matter of the filtration speed, but of the underlying concept of the treatment process. Slow sand filtration is essentially a biological process whereas rapid sand filtration is a physical treatment process (WHO). </a:t>
            </a:r>
            <a:endParaRPr lang="en-IN" dirty="0"/>
          </a:p>
        </p:txBody>
      </p:sp>
      <p:sp>
        <p:nvSpPr>
          <p:cNvPr id="20" name="Rectangle 19"/>
          <p:cNvSpPr/>
          <p:nvPr/>
        </p:nvSpPr>
        <p:spPr>
          <a:xfrm>
            <a:off x="4827494" y="3447213"/>
            <a:ext cx="6965576" cy="2677656"/>
          </a:xfrm>
          <a:prstGeom prst="rect">
            <a:avLst/>
          </a:prstGeom>
        </p:spPr>
        <p:txBody>
          <a:bodyPr wrap="square">
            <a:spAutoFit/>
          </a:bodyPr>
          <a:lstStyle/>
          <a:p>
            <a:r>
              <a:rPr lang="en-US" sz="1400" b="1" i="0" dirty="0">
                <a:solidFill>
                  <a:srgbClr val="005154"/>
                </a:solidFill>
                <a:effectLst/>
                <a:latin typeface="Raleway"/>
              </a:rPr>
              <a:t>Advantages</a:t>
            </a:r>
          </a:p>
          <a:p>
            <a:pPr marL="285750" indent="-285750">
              <a:buFont typeface="Arial" panose="020B0604020202020204" pitchFamily="34" charset="0"/>
              <a:buChar char="•"/>
            </a:pPr>
            <a:r>
              <a:rPr lang="en-US" sz="1400" b="0" i="0" dirty="0">
                <a:solidFill>
                  <a:srgbClr val="005154"/>
                </a:solidFill>
                <a:effectLst/>
                <a:latin typeface="Roboto"/>
              </a:rPr>
              <a:t>Very effective removal of bacteria, viruses, protozoa, turbidity and heavy metals in contaminated fresh water</a:t>
            </a:r>
          </a:p>
          <a:p>
            <a:pPr marL="285750" indent="-285750">
              <a:buFont typeface="Arial" panose="020B0604020202020204" pitchFamily="34" charset="0"/>
              <a:buChar char="•"/>
            </a:pPr>
            <a:r>
              <a:rPr lang="en-US" sz="1400" b="0" i="0" dirty="0">
                <a:solidFill>
                  <a:srgbClr val="005154"/>
                </a:solidFill>
                <a:effectLst/>
                <a:latin typeface="Roboto"/>
              </a:rPr>
              <a:t>Simplicity of design and high self-help compatibility: construction, operation and maintenance only require basic skills and knowledge and minimal effort</a:t>
            </a:r>
          </a:p>
          <a:p>
            <a:pPr marL="285750" indent="-285750">
              <a:buFont typeface="Arial" panose="020B0604020202020204" pitchFamily="34" charset="0"/>
              <a:buChar char="•"/>
            </a:pPr>
            <a:r>
              <a:rPr lang="en-US" sz="1400" b="0" i="0" dirty="0">
                <a:solidFill>
                  <a:srgbClr val="005154"/>
                </a:solidFill>
                <a:effectLst/>
                <a:latin typeface="Roboto"/>
              </a:rPr>
              <a:t>If constructed with gravity flow only, no (electrical) pumps required</a:t>
            </a:r>
          </a:p>
          <a:p>
            <a:pPr marL="285750" indent="-285750">
              <a:buFont typeface="Arial" panose="020B0604020202020204" pitchFamily="34" charset="0"/>
              <a:buChar char="•"/>
            </a:pPr>
            <a:r>
              <a:rPr lang="en-US" sz="1400" b="0" i="0" dirty="0">
                <a:solidFill>
                  <a:srgbClr val="005154"/>
                </a:solidFill>
                <a:effectLst/>
                <a:latin typeface="Roboto"/>
              </a:rPr>
              <a:t>Local materials can be used for construction</a:t>
            </a:r>
          </a:p>
          <a:p>
            <a:pPr marL="285750" indent="-285750">
              <a:buFont typeface="Arial" panose="020B0604020202020204" pitchFamily="34" charset="0"/>
              <a:buChar char="•"/>
            </a:pPr>
            <a:r>
              <a:rPr lang="en-US" sz="1400" b="0" i="0" dirty="0">
                <a:solidFill>
                  <a:srgbClr val="005154"/>
                </a:solidFill>
                <a:effectLst/>
                <a:latin typeface="Roboto"/>
              </a:rPr>
              <a:t>High reliability and ability to withstand fluctuations in water quality</a:t>
            </a:r>
          </a:p>
          <a:p>
            <a:pPr marL="285750" indent="-285750">
              <a:buFont typeface="Arial" panose="020B0604020202020204" pitchFamily="34" charset="0"/>
              <a:buChar char="•"/>
            </a:pPr>
            <a:r>
              <a:rPr lang="en-US" sz="1400" b="0" i="0" dirty="0">
                <a:solidFill>
                  <a:srgbClr val="005154"/>
                </a:solidFill>
                <a:effectLst/>
                <a:latin typeface="Roboto"/>
              </a:rPr>
              <a:t>No necessity for the application of chemicals</a:t>
            </a:r>
          </a:p>
          <a:p>
            <a:pPr marL="285750" indent="-285750">
              <a:buFont typeface="Arial" panose="020B0604020202020204" pitchFamily="34" charset="0"/>
              <a:buChar char="•"/>
            </a:pPr>
            <a:r>
              <a:rPr lang="en-US" sz="1400" b="0" i="0" dirty="0">
                <a:solidFill>
                  <a:srgbClr val="005154"/>
                </a:solidFill>
                <a:effectLst/>
                <a:latin typeface="Roboto"/>
              </a:rPr>
              <a:t>Easy to install in rural, semi-urban and remote areas, Simplicity of design and operation</a:t>
            </a:r>
          </a:p>
          <a:p>
            <a:pPr marL="285750" indent="-285750">
              <a:buFont typeface="Arial" panose="020B0604020202020204" pitchFamily="34" charset="0"/>
              <a:buChar char="•"/>
            </a:pPr>
            <a:r>
              <a:rPr lang="en-US" sz="1400" b="0" i="0" dirty="0">
                <a:solidFill>
                  <a:srgbClr val="005154"/>
                </a:solidFill>
                <a:effectLst/>
                <a:latin typeface="Roboto"/>
              </a:rPr>
              <a:t>Long lifespan (estimated &gt;10 years)</a:t>
            </a:r>
          </a:p>
        </p:txBody>
      </p:sp>
    </p:spTree>
    <p:extLst>
      <p:ext uri="{BB962C8B-B14F-4D97-AF65-F5344CB8AC3E}">
        <p14:creationId xmlns:p14="http://schemas.microsoft.com/office/powerpoint/2010/main" val="137513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8552" y="467596"/>
            <a:ext cx="10735235" cy="2585323"/>
          </a:xfrm>
          <a:prstGeom prst="rect">
            <a:avLst/>
          </a:prstGeom>
        </p:spPr>
        <p:txBody>
          <a:bodyPr wrap="square">
            <a:spAutoFit/>
          </a:bodyPr>
          <a:lstStyle/>
          <a:p>
            <a:pPr algn="just"/>
            <a:r>
              <a:rPr lang="en-US" b="0" i="0" dirty="0">
                <a:solidFill>
                  <a:srgbClr val="005154"/>
                </a:solidFill>
                <a:effectLst/>
                <a:latin typeface="Roboto"/>
              </a:rPr>
              <a:t>Although the physical removal of sediments is an important part of the purification process, the relevant aspect is the biological filtration. The top layers of the sand become biologically active by the establishment of a microbial community on the top layer of the sand substrate, also referred to as ‘</a:t>
            </a:r>
            <a:r>
              <a:rPr lang="en-US" b="0" i="0" dirty="0" err="1">
                <a:solidFill>
                  <a:srgbClr val="005154"/>
                </a:solidFill>
                <a:effectLst/>
                <a:latin typeface="Roboto"/>
              </a:rPr>
              <a:t>schmutzdecke</a:t>
            </a:r>
            <a:r>
              <a:rPr lang="en-US" b="0" i="0" dirty="0">
                <a:solidFill>
                  <a:srgbClr val="005154"/>
                </a:solidFill>
                <a:effectLst/>
                <a:latin typeface="Roboto"/>
              </a:rPr>
              <a:t>’. </a:t>
            </a:r>
          </a:p>
          <a:p>
            <a:pPr algn="just"/>
            <a:endParaRPr lang="en-US" dirty="0">
              <a:solidFill>
                <a:srgbClr val="005154"/>
              </a:solidFill>
              <a:latin typeface="Roboto"/>
            </a:endParaRPr>
          </a:p>
          <a:p>
            <a:pPr algn="just"/>
            <a:r>
              <a:rPr lang="en-US" b="0" i="0" dirty="0">
                <a:solidFill>
                  <a:srgbClr val="005154"/>
                </a:solidFill>
                <a:effectLst/>
                <a:latin typeface="Roboto"/>
              </a:rPr>
              <a:t>These microbes usually come from the source water and establish a community within a matter of a few days. The fine sand and slow filtration rate facilitate the establishment of this microbial community. The majority of the community are predatory bacteria that feed on water-borne microbes passing through the filter (WHO). Hence, the underlying principle of the SSF is equivalent to the </a:t>
            </a:r>
            <a:r>
              <a:rPr lang="en-US" b="1" i="0" u="none" strike="noStrike" dirty="0">
                <a:solidFill>
                  <a:srgbClr val="4CCECB"/>
                </a:solidFill>
                <a:effectLst/>
                <a:latin typeface="Roboto"/>
                <a:hlinkClick r:id="rId2"/>
              </a:rPr>
              <a:t>bio-sand filtration</a:t>
            </a:r>
            <a:r>
              <a:rPr lang="en-US" b="0" i="0" dirty="0">
                <a:solidFill>
                  <a:srgbClr val="005154"/>
                </a:solidFill>
                <a:effectLst/>
                <a:latin typeface="Roboto"/>
              </a:rPr>
              <a:t>. </a:t>
            </a:r>
            <a:endParaRPr lang="en-IN" dirty="0"/>
          </a:p>
        </p:txBody>
      </p:sp>
      <p:sp>
        <p:nvSpPr>
          <p:cNvPr id="6" name="Rectangle 5"/>
          <p:cNvSpPr/>
          <p:nvPr/>
        </p:nvSpPr>
        <p:spPr>
          <a:xfrm>
            <a:off x="615645" y="3427440"/>
            <a:ext cx="10735235" cy="2677656"/>
          </a:xfrm>
          <a:prstGeom prst="rect">
            <a:avLst/>
          </a:prstGeom>
        </p:spPr>
        <p:txBody>
          <a:bodyPr wrap="square">
            <a:spAutoFit/>
          </a:bodyPr>
          <a:lstStyle/>
          <a:p>
            <a:r>
              <a:rPr lang="en-US" sz="1400" b="1" i="0" dirty="0">
                <a:solidFill>
                  <a:srgbClr val="005154"/>
                </a:solidFill>
                <a:effectLst/>
                <a:latin typeface="Raleway"/>
              </a:rPr>
              <a:t>Disadvantages</a:t>
            </a:r>
          </a:p>
          <a:p>
            <a:pPr marL="285750" indent="-285750">
              <a:buFont typeface="Arial" panose="020B0604020202020204" pitchFamily="34" charset="0"/>
              <a:buChar char="•"/>
            </a:pPr>
            <a:r>
              <a:rPr lang="en-US" sz="1400" b="0" i="0" dirty="0">
                <a:solidFill>
                  <a:srgbClr val="005154"/>
                </a:solidFill>
                <a:effectLst/>
                <a:latin typeface="Roboto"/>
              </a:rPr>
              <a:t>Minimal quality and constant flow of fresh water required: turbidity (&lt;10-20 NTU) and low algae contamination. Otherwise, pre-treatment may be necessary</a:t>
            </a:r>
          </a:p>
          <a:p>
            <a:pPr marL="285750" indent="-285750">
              <a:buFont typeface="Arial" panose="020B0604020202020204" pitchFamily="34" charset="0"/>
              <a:buChar char="•"/>
            </a:pPr>
            <a:r>
              <a:rPr lang="en-US" sz="1400" b="0" i="0" dirty="0">
                <a:solidFill>
                  <a:srgbClr val="005154"/>
                </a:solidFill>
                <a:effectLst/>
                <a:latin typeface="Roboto"/>
              </a:rPr>
              <a:t>Cold temperatures lower the efficiency of the process due to a decrease in biological activity</a:t>
            </a:r>
          </a:p>
          <a:p>
            <a:pPr marL="285750" indent="-285750">
              <a:buFont typeface="Arial" panose="020B0604020202020204" pitchFamily="34" charset="0"/>
              <a:buChar char="•"/>
            </a:pPr>
            <a:r>
              <a:rPr lang="en-US" sz="1400" b="0" i="0" dirty="0">
                <a:solidFill>
                  <a:srgbClr val="005154"/>
                </a:solidFill>
                <a:effectLst/>
                <a:latin typeface="Roboto"/>
              </a:rPr>
              <a:t>Loss of productivity during the relatively long filter skimming and ripening periods</a:t>
            </a:r>
          </a:p>
          <a:p>
            <a:pPr marL="285750" indent="-285750">
              <a:buFont typeface="Arial" panose="020B0604020202020204" pitchFamily="34" charset="0"/>
              <a:buChar char="•"/>
            </a:pPr>
            <a:r>
              <a:rPr lang="en-US" sz="1400" b="0" i="0" dirty="0">
                <a:solidFill>
                  <a:srgbClr val="005154"/>
                </a:solidFill>
                <a:effectLst/>
                <a:latin typeface="Roboto"/>
              </a:rPr>
              <a:t>Very regular maintenance essential; some basic equipment or ready-made test kits required to monitor some physical and chemical parameters</a:t>
            </a:r>
          </a:p>
          <a:p>
            <a:pPr marL="285750" indent="-285750">
              <a:buFont typeface="Arial" panose="020B0604020202020204" pitchFamily="34" charset="0"/>
              <a:buChar char="•"/>
            </a:pPr>
            <a:r>
              <a:rPr lang="en-US" sz="1400" b="0" i="0" dirty="0">
                <a:solidFill>
                  <a:srgbClr val="005154"/>
                </a:solidFill>
                <a:effectLst/>
                <a:latin typeface="Roboto"/>
              </a:rPr>
              <a:t>Possible need for changes in attitude (belief that water that flows through a green and slimy filter is safe to drink without the application of chemicals), Chemical compounds (e.g. fluorine) are not removed</a:t>
            </a:r>
          </a:p>
          <a:p>
            <a:pPr marL="285750" indent="-285750">
              <a:buFont typeface="Arial" panose="020B0604020202020204" pitchFamily="34" charset="0"/>
              <a:buChar char="•"/>
            </a:pPr>
            <a:r>
              <a:rPr lang="en-US" sz="1400" b="0" i="0" dirty="0">
                <a:solidFill>
                  <a:srgbClr val="005154"/>
                </a:solidFill>
                <a:effectLst/>
                <a:latin typeface="Roboto"/>
              </a:rPr>
              <a:t>Natural organic matter and other DBPs precursors not removed (may be formed if chlorine is applied for final disinfection)</a:t>
            </a:r>
          </a:p>
          <a:p>
            <a:pPr marL="285750" indent="-285750">
              <a:buFont typeface="Arial" panose="020B0604020202020204" pitchFamily="34" charset="0"/>
              <a:buChar char="•"/>
            </a:pPr>
            <a:r>
              <a:rPr lang="en-US" sz="1400" b="0" i="0" dirty="0">
                <a:solidFill>
                  <a:srgbClr val="005154"/>
                </a:solidFill>
                <a:effectLst/>
                <a:latin typeface="Roboto"/>
              </a:rPr>
              <a:t>May require electricity</a:t>
            </a:r>
          </a:p>
          <a:p>
            <a:pPr marL="285750" indent="-285750">
              <a:buFont typeface="Arial" panose="020B0604020202020204" pitchFamily="34" charset="0"/>
              <a:buChar char="•"/>
            </a:pPr>
            <a:r>
              <a:rPr lang="en-US" sz="1400" b="0" i="0" dirty="0">
                <a:solidFill>
                  <a:srgbClr val="005154"/>
                </a:solidFill>
                <a:effectLst/>
                <a:latin typeface="Roboto"/>
              </a:rPr>
              <a:t>Requirement of a large land area, large quantities of filter media and manual </a:t>
            </a:r>
            <a:r>
              <a:rPr lang="en-US" sz="1400" b="0" i="0" dirty="0" err="1">
                <a:solidFill>
                  <a:srgbClr val="005154"/>
                </a:solidFill>
                <a:effectLst/>
                <a:latin typeface="Roboto"/>
              </a:rPr>
              <a:t>labour</a:t>
            </a:r>
            <a:r>
              <a:rPr lang="en-US" sz="1400" b="0" i="0" dirty="0">
                <a:solidFill>
                  <a:srgbClr val="005154"/>
                </a:solidFill>
                <a:effectLst/>
                <a:latin typeface="Roboto"/>
              </a:rPr>
              <a:t> for cleaning, Low filtration rate</a:t>
            </a:r>
          </a:p>
        </p:txBody>
      </p:sp>
    </p:spTree>
    <p:extLst>
      <p:ext uri="{BB962C8B-B14F-4D97-AF65-F5344CB8AC3E}">
        <p14:creationId xmlns:p14="http://schemas.microsoft.com/office/powerpoint/2010/main" val="2651275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09369"/>
            <a:ext cx="10515600" cy="1325563"/>
          </a:xfrm>
        </p:spPr>
        <p:txBody>
          <a:bodyPr/>
          <a:lstStyle/>
          <a:p>
            <a:r>
              <a:rPr lang="en-IN" dirty="0"/>
              <a:t>Carbon adsorption</a:t>
            </a:r>
          </a:p>
        </p:txBody>
      </p:sp>
      <p:sp>
        <p:nvSpPr>
          <p:cNvPr id="5" name="Content Placeholder 4"/>
          <p:cNvSpPr>
            <a:spLocks noGrp="1"/>
          </p:cNvSpPr>
          <p:nvPr>
            <p:ph idx="1"/>
          </p:nvPr>
        </p:nvSpPr>
        <p:spPr/>
        <p:txBody>
          <a:bodyPr>
            <a:normAutofit fontScale="92500"/>
          </a:bodyPr>
          <a:lstStyle/>
          <a:p>
            <a:r>
              <a:rPr lang="en-US" dirty="0"/>
              <a:t>The treatment of wastewaters using activated carbon has received wide attention for several years</a:t>
            </a:r>
          </a:p>
          <a:p>
            <a:r>
              <a:rPr lang="en-US" dirty="0"/>
              <a:t>It has been found to be the best broad spectrum technology available at the present moment. </a:t>
            </a:r>
          </a:p>
          <a:p>
            <a:pPr lvl="1"/>
            <a:r>
              <a:rPr lang="en-US" dirty="0"/>
              <a:t>Important parameters that influence and determine the adsorption of inorganics from aqueous solutions are the acidic carbon-oxygen surface groups present on the carbon surface and the pH of the solutions. </a:t>
            </a:r>
          </a:p>
          <a:p>
            <a:pPr lvl="1"/>
            <a:r>
              <a:rPr lang="en-US" dirty="0" err="1"/>
              <a:t>Electrokinetic</a:t>
            </a:r>
            <a:r>
              <a:rPr lang="en-US" dirty="0"/>
              <a:t> studies have shown that the nature and the extent of the carbon surface charge can be modified by changing the pH of the carbon-solution system. </a:t>
            </a:r>
          </a:p>
          <a:p>
            <a:pPr lvl="1"/>
            <a:r>
              <a:rPr lang="en-US" dirty="0"/>
              <a:t>The adsorption of metal ions, therefore, mainly involves electrostatic attractive interactions between the metal ionic species in the solution and the negative sites on the carbon surface. </a:t>
            </a:r>
          </a:p>
        </p:txBody>
      </p:sp>
    </p:spTree>
    <p:extLst>
      <p:ext uri="{BB962C8B-B14F-4D97-AF65-F5344CB8AC3E}">
        <p14:creationId xmlns:p14="http://schemas.microsoft.com/office/powerpoint/2010/main" val="494295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311567"/>
            <a:ext cx="11672047" cy="1200329"/>
          </a:xfrm>
          <a:prstGeom prst="rect">
            <a:avLst/>
          </a:prstGeom>
        </p:spPr>
        <p:txBody>
          <a:bodyPr wrap="square">
            <a:spAutoFit/>
          </a:bodyPr>
          <a:lstStyle/>
          <a:p>
            <a:pPr lvl="1"/>
            <a:r>
              <a:rPr lang="en-US" dirty="0"/>
              <a:t>The adsorption of organics, however, is quite different. The organic compounds present in water can be polar or non-polar so that not only electrostatic interactions but also dispersive interactions will play an important role. </a:t>
            </a:r>
          </a:p>
          <a:p>
            <a:pPr lvl="1"/>
            <a:r>
              <a:rPr lang="en-US" dirty="0"/>
              <a:t>In addition the porous structure of the carbon surface which includes the existence of </a:t>
            </a:r>
            <a:r>
              <a:rPr lang="en-US" b="1" dirty="0" err="1">
                <a:solidFill>
                  <a:srgbClr val="FF0000"/>
                </a:solidFill>
              </a:rPr>
              <a:t>mesopores</a:t>
            </a:r>
            <a:r>
              <a:rPr lang="en-US" dirty="0"/>
              <a:t> shall also be an important factor for the adsorption of essentially non-polar organic molecules.</a:t>
            </a:r>
          </a:p>
        </p:txBody>
      </p:sp>
      <p:pic>
        <p:nvPicPr>
          <p:cNvPr id="5" name="Picture 4"/>
          <p:cNvPicPr>
            <a:picLocks noChangeAspect="1"/>
          </p:cNvPicPr>
          <p:nvPr/>
        </p:nvPicPr>
        <p:blipFill>
          <a:blip r:embed="rId2"/>
          <a:stretch>
            <a:fillRect/>
          </a:stretch>
        </p:blipFill>
        <p:spPr>
          <a:xfrm>
            <a:off x="2321579" y="1615607"/>
            <a:ext cx="8032656" cy="5206984"/>
          </a:xfrm>
          <a:prstGeom prst="rect">
            <a:avLst/>
          </a:prstGeom>
        </p:spPr>
      </p:pic>
    </p:spTree>
    <p:extLst>
      <p:ext uri="{BB962C8B-B14F-4D97-AF65-F5344CB8AC3E}">
        <p14:creationId xmlns:p14="http://schemas.microsoft.com/office/powerpoint/2010/main" val="291162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Ammonia Stripping </a:t>
            </a:r>
          </a:p>
        </p:txBody>
      </p:sp>
      <p:sp>
        <p:nvSpPr>
          <p:cNvPr id="3" name="Content Placeholder 2"/>
          <p:cNvSpPr>
            <a:spLocks noGrp="1"/>
          </p:cNvSpPr>
          <p:nvPr>
            <p:ph idx="1"/>
          </p:nvPr>
        </p:nvSpPr>
        <p:spPr/>
        <p:txBody>
          <a:bodyPr/>
          <a:lstStyle/>
          <a:p>
            <a:r>
              <a:rPr lang="en-US" dirty="0"/>
              <a:t>Ammonia stripping is a simple desorption process used to lower the ammonia content of a wastewater stream. </a:t>
            </a:r>
          </a:p>
          <a:p>
            <a:r>
              <a:rPr lang="en-US" dirty="0"/>
              <a:t>Ammonia (a weak base) reacts with water (a weak acid) to form ammonium hydroxide. In ammonia stripping, lime or caustic is added to the wastewater until the pH reaches 10.8 to 11.5 standard units which converts ammonium hydroxide ions to ammonia gas according to the following reaction(s):</a:t>
            </a:r>
          </a:p>
          <a:p>
            <a:endParaRPr lang="en-IN" dirty="0"/>
          </a:p>
        </p:txBody>
      </p:sp>
      <p:pic>
        <p:nvPicPr>
          <p:cNvPr id="4" name="Picture 3"/>
          <p:cNvPicPr>
            <a:picLocks noChangeAspect="1"/>
          </p:cNvPicPr>
          <p:nvPr/>
        </p:nvPicPr>
        <p:blipFill>
          <a:blip r:embed="rId2"/>
          <a:stretch>
            <a:fillRect/>
          </a:stretch>
        </p:blipFill>
        <p:spPr>
          <a:xfrm>
            <a:off x="3386417" y="4994461"/>
            <a:ext cx="5112124" cy="1041359"/>
          </a:xfrm>
          <a:prstGeom prst="rect">
            <a:avLst/>
          </a:prstGeom>
        </p:spPr>
      </p:pic>
    </p:spTree>
    <p:extLst>
      <p:ext uri="{BB962C8B-B14F-4D97-AF65-F5344CB8AC3E}">
        <p14:creationId xmlns:p14="http://schemas.microsoft.com/office/powerpoint/2010/main" val="2015057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6165" y="476962"/>
            <a:ext cx="11125200" cy="2246769"/>
          </a:xfrm>
          <a:prstGeom prst="rect">
            <a:avLst/>
          </a:prstGeom>
        </p:spPr>
        <p:txBody>
          <a:bodyPr wrap="square">
            <a:spAutoFit/>
          </a:bodyPr>
          <a:lstStyle/>
          <a:p>
            <a:r>
              <a:rPr lang="en-US" sz="2000" b="1" dirty="0"/>
              <a:t>Advantages </a:t>
            </a:r>
          </a:p>
          <a:p>
            <a:pPr marL="285750" indent="-285750">
              <a:buFont typeface="Arial" panose="020B0604020202020204" pitchFamily="34" charset="0"/>
              <a:buChar char="•"/>
            </a:pPr>
            <a:r>
              <a:rPr lang="en-US" sz="2000" dirty="0"/>
              <a:t>The operation is relatively simple and not affected by wastewater fluctuation if pH and air temperature remain stable.</a:t>
            </a:r>
          </a:p>
          <a:p>
            <a:pPr marL="285750" indent="-285750">
              <a:buFont typeface="Arial" panose="020B0604020202020204" pitchFamily="34" charset="0"/>
              <a:buChar char="•"/>
            </a:pPr>
            <a:r>
              <a:rPr lang="en-US" sz="2000" dirty="0"/>
              <a:t>Ammonia stripping is a mechanical procedure and creates no backwash or regeneration. </a:t>
            </a:r>
          </a:p>
          <a:p>
            <a:pPr marL="285750" indent="-285750">
              <a:buFont typeface="Arial" panose="020B0604020202020204" pitchFamily="34" charset="0"/>
              <a:buChar char="•"/>
            </a:pPr>
            <a:r>
              <a:rPr lang="en-US" sz="2000" dirty="0"/>
              <a:t>Ammonia stripping is unaffected by toxic compounds that could disrupt the performance of a biological system. </a:t>
            </a:r>
          </a:p>
          <a:p>
            <a:pPr marL="285750" indent="-285750">
              <a:buFont typeface="Arial" panose="020B0604020202020204" pitchFamily="34" charset="0"/>
              <a:buChar char="•"/>
            </a:pPr>
            <a:r>
              <a:rPr lang="en-US" sz="2000" dirty="0"/>
              <a:t>Ammonia stripping is a controlled process for selected ammonia removals.</a:t>
            </a:r>
            <a:endParaRPr lang="en-IN" sz="2000" dirty="0"/>
          </a:p>
        </p:txBody>
      </p:sp>
      <p:sp>
        <p:nvSpPr>
          <p:cNvPr id="5" name="Rectangle 4"/>
          <p:cNvSpPr/>
          <p:nvPr/>
        </p:nvSpPr>
        <p:spPr>
          <a:xfrm>
            <a:off x="345142" y="3120695"/>
            <a:ext cx="11246223" cy="3416320"/>
          </a:xfrm>
          <a:prstGeom prst="rect">
            <a:avLst/>
          </a:prstGeom>
        </p:spPr>
        <p:txBody>
          <a:bodyPr wrap="square">
            <a:spAutoFit/>
          </a:bodyPr>
          <a:lstStyle/>
          <a:p>
            <a:r>
              <a:rPr lang="en-US" b="1" dirty="0"/>
              <a:t>Disadvantages </a:t>
            </a:r>
          </a:p>
          <a:p>
            <a:pPr marL="285750" indent="-285750">
              <a:buFont typeface="Arial" panose="020B0604020202020204" pitchFamily="34" charset="0"/>
              <a:buChar char="•"/>
            </a:pPr>
            <a:r>
              <a:rPr lang="en-US" dirty="0"/>
              <a:t>Water must be re-pumped to the stripping tower. Pumping requires higher maintenance and power requirements. </a:t>
            </a:r>
          </a:p>
          <a:p>
            <a:pPr marL="285750" indent="-285750">
              <a:buFont typeface="Arial" panose="020B0604020202020204" pitchFamily="34" charset="0"/>
              <a:buChar char="•"/>
            </a:pPr>
            <a:r>
              <a:rPr lang="en-US" dirty="0"/>
              <a:t>Scale formation can be removed hydraulically in most cases but not all, resulting in a need to pilot test at most locations. </a:t>
            </a:r>
          </a:p>
          <a:p>
            <a:pPr marL="285750" indent="-285750">
              <a:buFont typeface="Arial" panose="020B0604020202020204" pitchFamily="34" charset="0"/>
              <a:buChar char="•"/>
            </a:pPr>
            <a:r>
              <a:rPr lang="en-US" dirty="0"/>
              <a:t>Ammonia stripping cannot be performed in freezing conditions (unless sufficient heated air is available). Fogging and icing result in a significant reduction in ammonia removal. </a:t>
            </a:r>
          </a:p>
          <a:p>
            <a:pPr marL="285750" indent="-285750">
              <a:buFont typeface="Arial" panose="020B0604020202020204" pitchFamily="34" charset="0"/>
              <a:buChar char="•"/>
            </a:pPr>
            <a:r>
              <a:rPr lang="en-US" dirty="0"/>
              <a:t>While ammonia is usually discharged to the atmosphere at low level (6 mg/m3 ), this may be unacceptable in certain locations due to air quality concerns or regulations. </a:t>
            </a:r>
          </a:p>
          <a:p>
            <a:pPr marL="285750" indent="-285750">
              <a:buFont typeface="Arial" panose="020B0604020202020204" pitchFamily="34" charset="0"/>
              <a:buChar char="•"/>
            </a:pPr>
            <a:r>
              <a:rPr lang="en-US" dirty="0"/>
              <a:t>Ammonia stripping does not remove nitrite and organic nitrogen. </a:t>
            </a:r>
          </a:p>
          <a:p>
            <a:pPr marL="285750" indent="-285750">
              <a:buFont typeface="Arial" panose="020B0604020202020204" pitchFamily="34" charset="0"/>
              <a:buChar char="•"/>
            </a:pPr>
            <a:r>
              <a:rPr lang="en-US" dirty="0"/>
              <a:t>Air stripping often requires the addition of lime to control pH, which may create operation and maintenance concerns. </a:t>
            </a:r>
          </a:p>
          <a:p>
            <a:pPr marL="285750" indent="-285750">
              <a:buFont typeface="Arial" panose="020B0604020202020204" pitchFamily="34" charset="0"/>
              <a:buChar char="•"/>
            </a:pPr>
            <a:r>
              <a:rPr lang="en-US" dirty="0"/>
              <a:t>Noise may be a problem.</a:t>
            </a:r>
            <a:endParaRPr lang="en-IN" dirty="0"/>
          </a:p>
        </p:txBody>
      </p:sp>
    </p:spTree>
    <p:extLst>
      <p:ext uri="{BB962C8B-B14F-4D97-AF65-F5344CB8AC3E}">
        <p14:creationId xmlns:p14="http://schemas.microsoft.com/office/powerpoint/2010/main" val="2873935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Breakpoint chlorination to remove ammonia</a:t>
            </a:r>
          </a:p>
        </p:txBody>
      </p:sp>
      <p:sp>
        <p:nvSpPr>
          <p:cNvPr id="5" name="Rectangle 4"/>
          <p:cNvSpPr/>
          <p:nvPr/>
        </p:nvSpPr>
        <p:spPr>
          <a:xfrm>
            <a:off x="398929" y="1690688"/>
            <a:ext cx="11394142" cy="646331"/>
          </a:xfrm>
          <a:prstGeom prst="rect">
            <a:avLst/>
          </a:prstGeom>
        </p:spPr>
        <p:txBody>
          <a:bodyPr wrap="square">
            <a:spAutoFit/>
          </a:bodyPr>
          <a:lstStyle/>
          <a:p>
            <a:r>
              <a:rPr lang="en-IN" b="0" i="0" dirty="0">
                <a:solidFill>
                  <a:srgbClr val="2E2E2E"/>
                </a:solidFill>
                <a:effectLst/>
                <a:latin typeface="NexusSans"/>
              </a:rPr>
              <a:t>The most common method used for ammonia removal is ‘breakpoint’ </a:t>
            </a:r>
            <a:r>
              <a:rPr lang="en-IN" b="0" i="0" u="none" strike="noStrike" dirty="0">
                <a:solidFill>
                  <a:srgbClr val="0C7DBB"/>
                </a:solidFill>
                <a:effectLst/>
                <a:latin typeface="NexusSans"/>
              </a:rPr>
              <a:t>chlorination</a:t>
            </a:r>
            <a:r>
              <a:rPr lang="en-IN" b="0" i="0" dirty="0">
                <a:solidFill>
                  <a:srgbClr val="2E2E2E"/>
                </a:solidFill>
                <a:effectLst/>
                <a:latin typeface="NexusSans"/>
              </a:rPr>
              <a:t> where ammonia nitrogen is completely oxidized to nitrogen leaving a residual of </a:t>
            </a:r>
            <a:r>
              <a:rPr lang="en-IN" b="0" i="0" u="none" strike="noStrike" dirty="0">
                <a:solidFill>
                  <a:srgbClr val="0C7DBB"/>
                </a:solidFill>
                <a:effectLst/>
                <a:latin typeface="NexusSans"/>
              </a:rPr>
              <a:t>free chlorine</a:t>
            </a:r>
            <a:r>
              <a:rPr lang="en-IN" b="0" i="0" dirty="0">
                <a:solidFill>
                  <a:srgbClr val="2E2E2E"/>
                </a:solidFill>
                <a:effectLst/>
                <a:latin typeface="NexusSans"/>
              </a:rPr>
              <a:t>. </a:t>
            </a:r>
          </a:p>
        </p:txBody>
      </p:sp>
      <p:sp>
        <p:nvSpPr>
          <p:cNvPr id="7" name="Rectangle 6"/>
          <p:cNvSpPr/>
          <p:nvPr/>
        </p:nvSpPr>
        <p:spPr>
          <a:xfrm>
            <a:off x="506506" y="2554586"/>
            <a:ext cx="10641106" cy="923330"/>
          </a:xfrm>
          <a:prstGeom prst="rect">
            <a:avLst/>
          </a:prstGeom>
        </p:spPr>
        <p:txBody>
          <a:bodyPr wrap="square">
            <a:spAutoFit/>
          </a:bodyPr>
          <a:lstStyle/>
          <a:p>
            <a:r>
              <a:rPr lang="en-US" b="0" i="0" dirty="0">
                <a:solidFill>
                  <a:srgbClr val="2E2E2E"/>
                </a:solidFill>
                <a:effectLst/>
                <a:latin typeface="NexusSans"/>
              </a:rPr>
              <a:t>Breakpoint chlorination method is to add certain amount of </a:t>
            </a:r>
            <a:r>
              <a:rPr lang="en-US" b="0" i="0" u="none" strike="noStrike" dirty="0">
                <a:solidFill>
                  <a:srgbClr val="0C7DBB"/>
                </a:solidFill>
                <a:effectLst/>
                <a:latin typeface="NexusSans"/>
                <a:hlinkClick r:id="rId2" tooltip="Learn more about Chlorine from ScienceDirect's AI-generated Topic Pages"/>
              </a:rPr>
              <a:t>chlorine</a:t>
            </a:r>
            <a:r>
              <a:rPr lang="en-US" b="0" i="0" dirty="0">
                <a:solidFill>
                  <a:srgbClr val="2E2E2E"/>
                </a:solidFill>
                <a:effectLst/>
                <a:latin typeface="NexusSans"/>
              </a:rPr>
              <a:t> gas or sodium hypochlorite into the wastewater to oxidize NH</a:t>
            </a:r>
            <a:r>
              <a:rPr lang="en-US" b="0" i="0" baseline="-25000" dirty="0">
                <a:solidFill>
                  <a:srgbClr val="2E2E2E"/>
                </a:solidFill>
                <a:effectLst/>
                <a:latin typeface="NexusSans"/>
              </a:rPr>
              <a:t>4</a:t>
            </a:r>
            <a:r>
              <a:rPr lang="en-US" b="0" i="0" baseline="30000" dirty="0">
                <a:solidFill>
                  <a:srgbClr val="2E2E2E"/>
                </a:solidFill>
                <a:effectLst/>
                <a:latin typeface="NexusSans"/>
              </a:rPr>
              <a:t>+</a:t>
            </a:r>
            <a:r>
              <a:rPr lang="en-US" b="0" i="0" dirty="0">
                <a:solidFill>
                  <a:srgbClr val="2E2E2E"/>
                </a:solidFill>
                <a:effectLst/>
                <a:latin typeface="NexusSans"/>
              </a:rPr>
              <a:t> to N</a:t>
            </a:r>
            <a:r>
              <a:rPr lang="en-US" b="0" i="0" baseline="-25000" dirty="0">
                <a:solidFill>
                  <a:srgbClr val="2E2E2E"/>
                </a:solidFill>
                <a:effectLst/>
                <a:latin typeface="NexusSans"/>
              </a:rPr>
              <a:t>2</a:t>
            </a:r>
            <a:r>
              <a:rPr lang="en-US" b="0" i="0" dirty="0">
                <a:solidFill>
                  <a:srgbClr val="2E2E2E"/>
                </a:solidFill>
                <a:effectLst/>
                <a:latin typeface="NexusSans"/>
              </a:rPr>
              <a:t>. The reaction is as follows:</a:t>
            </a:r>
          </a:p>
          <a:p>
            <a:r>
              <a:rPr lang="en-US" b="0" i="0" dirty="0">
                <a:solidFill>
                  <a:srgbClr val="2E2E2E"/>
                </a:solidFill>
                <a:effectLst/>
                <a:latin typeface="NexusSans"/>
              </a:rPr>
              <a:t>Chlorine reacts with water:</a:t>
            </a:r>
          </a:p>
        </p:txBody>
      </p:sp>
      <p:pic>
        <p:nvPicPr>
          <p:cNvPr id="9" name="Picture 8"/>
          <p:cNvPicPr>
            <a:picLocks noChangeAspect="1"/>
          </p:cNvPicPr>
          <p:nvPr/>
        </p:nvPicPr>
        <p:blipFill>
          <a:blip r:embed="rId3"/>
          <a:stretch>
            <a:fillRect/>
          </a:stretch>
        </p:blipFill>
        <p:spPr>
          <a:xfrm>
            <a:off x="3633787" y="3477916"/>
            <a:ext cx="4924425" cy="1809750"/>
          </a:xfrm>
          <a:prstGeom prst="rect">
            <a:avLst/>
          </a:prstGeom>
        </p:spPr>
      </p:pic>
      <p:sp>
        <p:nvSpPr>
          <p:cNvPr id="10" name="Rectangle 9"/>
          <p:cNvSpPr/>
          <p:nvPr/>
        </p:nvSpPr>
        <p:spPr>
          <a:xfrm>
            <a:off x="506506" y="5287666"/>
            <a:ext cx="11044518" cy="1477328"/>
          </a:xfrm>
          <a:prstGeom prst="rect">
            <a:avLst/>
          </a:prstGeom>
        </p:spPr>
        <p:txBody>
          <a:bodyPr wrap="square">
            <a:spAutoFit/>
          </a:bodyPr>
          <a:lstStyle/>
          <a:p>
            <a:r>
              <a:rPr lang="en-US" b="0" i="0" dirty="0">
                <a:solidFill>
                  <a:srgbClr val="2E2E2E"/>
                </a:solidFill>
                <a:effectLst/>
                <a:latin typeface="NexusSans"/>
              </a:rPr>
              <a:t>When chlorine is added to certain dosage, the breakpoint will occurs on the curve of residual chlorine versus the dosage of the added chlorine. At this point, the concentration of chlorine in the treating wastewater is lower, and NH</a:t>
            </a:r>
            <a:r>
              <a:rPr lang="en-US" b="0" i="0" baseline="-25000" dirty="0">
                <a:solidFill>
                  <a:srgbClr val="2E2E2E"/>
                </a:solidFill>
                <a:effectLst/>
                <a:latin typeface="NexusSans"/>
              </a:rPr>
              <a:t>4</a:t>
            </a:r>
            <a:r>
              <a:rPr lang="en-US" b="0" i="0" baseline="30000" dirty="0">
                <a:solidFill>
                  <a:srgbClr val="2E2E2E"/>
                </a:solidFill>
                <a:effectLst/>
                <a:latin typeface="NexusSans"/>
              </a:rPr>
              <a:t>+</a:t>
            </a:r>
            <a:r>
              <a:rPr lang="en-US" b="0" i="0" dirty="0">
                <a:solidFill>
                  <a:srgbClr val="2E2E2E"/>
                </a:solidFill>
                <a:effectLst/>
                <a:latin typeface="NexusSans"/>
              </a:rPr>
              <a:t> in the treated water goes to zero. When the dosage of added chlorine is more than this point, the chlorine in the treated wastewater will be increased. This point is called the breakpoint.</a:t>
            </a:r>
            <a:endParaRPr lang="en-IN" dirty="0"/>
          </a:p>
        </p:txBody>
      </p:sp>
    </p:spTree>
    <p:extLst>
      <p:ext uri="{BB962C8B-B14F-4D97-AF65-F5344CB8AC3E}">
        <p14:creationId xmlns:p14="http://schemas.microsoft.com/office/powerpoint/2010/main" val="262969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Biological Nitrification and Denitrification</a:t>
            </a:r>
          </a:p>
        </p:txBody>
      </p:sp>
      <p:pic>
        <p:nvPicPr>
          <p:cNvPr id="5" name="Picture 4"/>
          <p:cNvPicPr>
            <a:picLocks noChangeAspect="1"/>
          </p:cNvPicPr>
          <p:nvPr/>
        </p:nvPicPr>
        <p:blipFill>
          <a:blip r:embed="rId2"/>
          <a:stretch>
            <a:fillRect/>
          </a:stretch>
        </p:blipFill>
        <p:spPr>
          <a:xfrm>
            <a:off x="2455209" y="2220119"/>
            <a:ext cx="6743700" cy="3562350"/>
          </a:xfrm>
          <a:prstGeom prst="rect">
            <a:avLst/>
          </a:prstGeom>
        </p:spPr>
      </p:pic>
    </p:spTree>
    <p:extLst>
      <p:ext uri="{BB962C8B-B14F-4D97-AF65-F5344CB8AC3E}">
        <p14:creationId xmlns:p14="http://schemas.microsoft.com/office/powerpoint/2010/main" val="2489518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48552" y="775464"/>
            <a:ext cx="10708341" cy="646331"/>
          </a:xfrm>
          <a:prstGeom prst="rect">
            <a:avLst/>
          </a:prstGeom>
        </p:spPr>
        <p:txBody>
          <a:bodyPr wrap="square">
            <a:spAutoFit/>
          </a:bodyPr>
          <a:lstStyle/>
          <a:p>
            <a:r>
              <a:rPr lang="en-US" dirty="0"/>
              <a:t>Denitrification occurs when oxygen levels are depleted and nitrate becomes the primary electron acceptor source for microorganisms. </a:t>
            </a:r>
            <a:endParaRPr lang="en-IN" dirty="0"/>
          </a:p>
        </p:txBody>
      </p:sp>
      <p:pic>
        <p:nvPicPr>
          <p:cNvPr id="6" name="Picture 5"/>
          <p:cNvPicPr>
            <a:picLocks noChangeAspect="1"/>
          </p:cNvPicPr>
          <p:nvPr/>
        </p:nvPicPr>
        <p:blipFill>
          <a:blip r:embed="rId2"/>
          <a:stretch>
            <a:fillRect/>
          </a:stretch>
        </p:blipFill>
        <p:spPr>
          <a:xfrm>
            <a:off x="2358557" y="1716181"/>
            <a:ext cx="6829425" cy="1543050"/>
          </a:xfrm>
          <a:prstGeom prst="rect">
            <a:avLst/>
          </a:prstGeom>
        </p:spPr>
      </p:pic>
      <p:pic>
        <p:nvPicPr>
          <p:cNvPr id="7" name="Picture 6"/>
          <p:cNvPicPr>
            <a:picLocks noChangeAspect="1"/>
          </p:cNvPicPr>
          <p:nvPr/>
        </p:nvPicPr>
        <p:blipFill>
          <a:blip r:embed="rId3"/>
          <a:stretch>
            <a:fillRect/>
          </a:stretch>
        </p:blipFill>
        <p:spPr>
          <a:xfrm>
            <a:off x="2142843" y="4758662"/>
            <a:ext cx="7610475" cy="904875"/>
          </a:xfrm>
          <a:prstGeom prst="rect">
            <a:avLst/>
          </a:prstGeom>
        </p:spPr>
      </p:pic>
      <p:sp>
        <p:nvSpPr>
          <p:cNvPr id="8" name="Rectangle 7"/>
          <p:cNvSpPr/>
          <p:nvPr/>
        </p:nvSpPr>
        <p:spPr>
          <a:xfrm>
            <a:off x="748552" y="3408782"/>
            <a:ext cx="10399060" cy="1200329"/>
          </a:xfrm>
          <a:prstGeom prst="rect">
            <a:avLst/>
          </a:prstGeom>
        </p:spPr>
        <p:txBody>
          <a:bodyPr wrap="square">
            <a:spAutoFit/>
          </a:bodyPr>
          <a:lstStyle/>
          <a:p>
            <a:r>
              <a:rPr lang="en-US" dirty="0"/>
              <a:t>Denitrification process requires the following: </a:t>
            </a:r>
          </a:p>
          <a:p>
            <a:r>
              <a:rPr lang="en-US" dirty="0"/>
              <a:t> Denitrifying bacteria </a:t>
            </a:r>
          </a:p>
          <a:p>
            <a:r>
              <a:rPr lang="en-US" dirty="0"/>
              <a:t> Carbon source </a:t>
            </a:r>
          </a:p>
          <a:p>
            <a:r>
              <a:rPr lang="en-US" dirty="0"/>
              <a:t> Oxygen source</a:t>
            </a:r>
            <a:endParaRPr lang="en-IN" dirty="0"/>
          </a:p>
        </p:txBody>
      </p:sp>
    </p:spTree>
    <p:extLst>
      <p:ext uri="{BB962C8B-B14F-4D97-AF65-F5344CB8AC3E}">
        <p14:creationId xmlns:p14="http://schemas.microsoft.com/office/powerpoint/2010/main" val="245192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Phosphorus removal</a:t>
            </a:r>
          </a:p>
        </p:txBody>
      </p:sp>
      <p:sp>
        <p:nvSpPr>
          <p:cNvPr id="3" name="Content Placeholder 2"/>
          <p:cNvSpPr>
            <a:spLocks noGrp="1"/>
          </p:cNvSpPr>
          <p:nvPr>
            <p:ph idx="1"/>
          </p:nvPr>
        </p:nvSpPr>
        <p:spPr/>
        <p:txBody>
          <a:bodyPr/>
          <a:lstStyle/>
          <a:p>
            <a:r>
              <a:rPr lang="en-IN" dirty="0"/>
              <a:t>Phosphorus in waste exists in three forms : </a:t>
            </a:r>
          </a:p>
          <a:p>
            <a:r>
              <a:rPr lang="en-IN" dirty="0" err="1"/>
              <a:t>ortho</a:t>
            </a:r>
            <a:r>
              <a:rPr lang="en-IN" dirty="0"/>
              <a:t>-phosphate (H</a:t>
            </a:r>
            <a:r>
              <a:rPr lang="en-IN" baseline="-25000" dirty="0"/>
              <a:t>3</a:t>
            </a:r>
            <a:r>
              <a:rPr lang="en-IN" dirty="0"/>
              <a:t>PO</a:t>
            </a:r>
            <a:r>
              <a:rPr lang="en-IN" baseline="-25000" dirty="0"/>
              <a:t>4</a:t>
            </a:r>
            <a:r>
              <a:rPr lang="en-IN" dirty="0"/>
              <a:t>) </a:t>
            </a:r>
          </a:p>
          <a:p>
            <a:r>
              <a:rPr lang="en-IN" dirty="0"/>
              <a:t>polyphosphate and (H</a:t>
            </a:r>
            <a:r>
              <a:rPr lang="en-IN" baseline="-25000" dirty="0"/>
              <a:t>4</a:t>
            </a:r>
            <a:r>
              <a:rPr lang="en-IN" dirty="0"/>
              <a:t>P</a:t>
            </a:r>
            <a:r>
              <a:rPr lang="en-IN" baseline="-25000" dirty="0"/>
              <a:t>2</a:t>
            </a:r>
            <a:r>
              <a:rPr lang="en-IN" dirty="0"/>
              <a:t>O</a:t>
            </a:r>
            <a:r>
              <a:rPr lang="en-IN" baseline="-25000" dirty="0"/>
              <a:t>7</a:t>
            </a:r>
            <a:r>
              <a:rPr lang="en-IN" dirty="0"/>
              <a:t> ) </a:t>
            </a:r>
          </a:p>
          <a:p>
            <a:r>
              <a:rPr lang="en-IN" dirty="0"/>
              <a:t>organic phosphate (ATP, ADP)</a:t>
            </a:r>
          </a:p>
          <a:p>
            <a:endParaRPr lang="en-IN" dirty="0"/>
          </a:p>
          <a:p>
            <a:r>
              <a:rPr lang="en-US" dirty="0"/>
              <a:t>Could be done thru: </a:t>
            </a:r>
          </a:p>
          <a:p>
            <a:r>
              <a:rPr lang="en-US" dirty="0"/>
              <a:t>Chemical Precipitation </a:t>
            </a:r>
          </a:p>
          <a:p>
            <a:r>
              <a:rPr lang="en-US" dirty="0"/>
              <a:t>Biological Phosphorus Removal</a:t>
            </a:r>
            <a:endParaRPr lang="en-IN" dirty="0"/>
          </a:p>
        </p:txBody>
      </p:sp>
    </p:spTree>
    <p:extLst>
      <p:ext uri="{BB962C8B-B14F-4D97-AF65-F5344CB8AC3E}">
        <p14:creationId xmlns:p14="http://schemas.microsoft.com/office/powerpoint/2010/main" val="50974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8211" y="690754"/>
            <a:ext cx="10681447" cy="646331"/>
          </a:xfrm>
          <a:prstGeom prst="rect">
            <a:avLst/>
          </a:prstGeom>
        </p:spPr>
        <p:txBody>
          <a:bodyPr wrap="square">
            <a:spAutoFit/>
          </a:bodyPr>
          <a:lstStyle/>
          <a:p>
            <a:r>
              <a:rPr lang="en-US" dirty="0"/>
              <a:t>Chemical precipitation is used to remove the inorganic forms of phosphate by the addition of a coagulant to wastewater .The multivalent metal ions most commonly used are:</a:t>
            </a:r>
            <a:endParaRPr lang="en-IN" dirty="0"/>
          </a:p>
        </p:txBody>
      </p:sp>
      <p:pic>
        <p:nvPicPr>
          <p:cNvPr id="5" name="Picture 4"/>
          <p:cNvPicPr>
            <a:picLocks noChangeAspect="1"/>
          </p:cNvPicPr>
          <p:nvPr/>
        </p:nvPicPr>
        <p:blipFill>
          <a:blip r:embed="rId2"/>
          <a:stretch>
            <a:fillRect/>
          </a:stretch>
        </p:blipFill>
        <p:spPr>
          <a:xfrm>
            <a:off x="2696134" y="1452562"/>
            <a:ext cx="6705600" cy="1666875"/>
          </a:xfrm>
          <a:prstGeom prst="rect">
            <a:avLst/>
          </a:prstGeom>
        </p:spPr>
      </p:pic>
      <p:pic>
        <p:nvPicPr>
          <p:cNvPr id="6" name="Picture 5"/>
          <p:cNvPicPr>
            <a:picLocks noChangeAspect="1"/>
          </p:cNvPicPr>
          <p:nvPr/>
        </p:nvPicPr>
        <p:blipFill>
          <a:blip r:embed="rId3"/>
          <a:stretch>
            <a:fillRect/>
          </a:stretch>
        </p:blipFill>
        <p:spPr>
          <a:xfrm>
            <a:off x="264459" y="3234633"/>
            <a:ext cx="5948083" cy="2033512"/>
          </a:xfrm>
          <a:prstGeom prst="rect">
            <a:avLst/>
          </a:prstGeom>
        </p:spPr>
      </p:pic>
      <p:pic>
        <p:nvPicPr>
          <p:cNvPr id="7" name="Picture 6"/>
          <p:cNvPicPr>
            <a:picLocks noChangeAspect="1"/>
          </p:cNvPicPr>
          <p:nvPr/>
        </p:nvPicPr>
        <p:blipFill>
          <a:blip r:embed="rId4"/>
          <a:stretch>
            <a:fillRect/>
          </a:stretch>
        </p:blipFill>
        <p:spPr>
          <a:xfrm>
            <a:off x="6415367" y="3672986"/>
            <a:ext cx="5529092" cy="1773073"/>
          </a:xfrm>
          <a:prstGeom prst="rect">
            <a:avLst/>
          </a:prstGeom>
        </p:spPr>
      </p:pic>
    </p:spTree>
    <p:extLst>
      <p:ext uri="{BB962C8B-B14F-4D97-AF65-F5344CB8AC3E}">
        <p14:creationId xmlns:p14="http://schemas.microsoft.com/office/powerpoint/2010/main" val="121833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Biological Phosphorus removal</a:t>
            </a:r>
          </a:p>
        </p:txBody>
      </p:sp>
      <p:sp>
        <p:nvSpPr>
          <p:cNvPr id="3" name="Content Placeholder 2"/>
          <p:cNvSpPr>
            <a:spLocks noGrp="1"/>
          </p:cNvSpPr>
          <p:nvPr>
            <p:ph idx="1"/>
          </p:nvPr>
        </p:nvSpPr>
        <p:spPr>
          <a:xfrm>
            <a:off x="838200" y="1825625"/>
            <a:ext cx="6208059" cy="4351338"/>
          </a:xfrm>
        </p:spPr>
        <p:txBody>
          <a:bodyPr>
            <a:normAutofit lnSpcReduction="10000"/>
          </a:bodyPr>
          <a:lstStyle/>
          <a:p>
            <a:pPr algn="just"/>
            <a:r>
              <a:rPr lang="en-US" sz="2000" b="1" dirty="0"/>
              <a:t>Polyphosphate-accumulating organisms</a:t>
            </a:r>
            <a:r>
              <a:rPr lang="en-US" sz="2000" dirty="0"/>
              <a:t> (PAOs) are a group of bacteria that, under certain conditions, facilitate the removal of large amounts of phosphorus from wastewater in a process, called enhanced biological phosphorus removal (EBPR). PAOs accomplish this removal of phosphate by accumulating it within their cells as </a:t>
            </a:r>
            <a:r>
              <a:rPr lang="en-US" sz="2000" u="sng" dirty="0"/>
              <a:t>polyphosphate</a:t>
            </a:r>
            <a:r>
              <a:rPr lang="en-US" sz="2000" dirty="0"/>
              <a:t>. </a:t>
            </a:r>
          </a:p>
          <a:p>
            <a:pPr algn="just"/>
            <a:r>
              <a:rPr lang="en-US" sz="2000" dirty="0"/>
              <a:t>A PAO related to the </a:t>
            </a:r>
            <a:r>
              <a:rPr lang="en-US" sz="2000" i="1" dirty="0" err="1">
                <a:hlinkClick r:id="rId2" tooltip="Betaproteobacteria"/>
              </a:rPr>
              <a:t>Betaproteobacteria</a:t>
            </a:r>
            <a:r>
              <a:rPr lang="en-US" sz="2000" dirty="0"/>
              <a:t> has been identified and named </a:t>
            </a:r>
            <a:r>
              <a:rPr lang="en-US" sz="2000" dirty="0" err="1">
                <a:hlinkClick r:id="rId3" tooltip="Candidatus Accumulibacter Phosphatis"/>
              </a:rPr>
              <a:t>Candidatus</a:t>
            </a:r>
            <a:r>
              <a:rPr lang="en-US" sz="2000" dirty="0">
                <a:hlinkClick r:id="rId3" tooltip="Candidatus Accumulibacter Phosphatis"/>
              </a:rPr>
              <a:t> </a:t>
            </a:r>
            <a:r>
              <a:rPr lang="en-US" sz="2000" dirty="0" err="1">
                <a:hlinkClick r:id="rId3" tooltip="Candidatus Accumulibacter Phosphatis"/>
              </a:rPr>
              <a:t>Accumulibacter</a:t>
            </a:r>
            <a:r>
              <a:rPr lang="en-US" sz="2000" dirty="0">
                <a:hlinkClick r:id="rId3" tooltip="Candidatus Accumulibacter Phosphatis"/>
              </a:rPr>
              <a:t> </a:t>
            </a:r>
            <a:r>
              <a:rPr lang="en-US" sz="2000" dirty="0" err="1">
                <a:hlinkClick r:id="rId3" tooltip="Candidatus Accumulibacter Phosphatis"/>
              </a:rPr>
              <a:t>Phosphatis</a:t>
            </a:r>
            <a:endParaRPr lang="en-US" sz="2000" dirty="0"/>
          </a:p>
          <a:p>
            <a:pPr algn="just"/>
            <a:r>
              <a:rPr lang="en-US" sz="2000" dirty="0"/>
              <a:t>It can consume a range of carbon compounds, such as acetate and propionate, under anaerobic conditions and store these compounds as </a:t>
            </a:r>
            <a:r>
              <a:rPr lang="en-US" sz="2000" dirty="0" err="1">
                <a:hlinkClick r:id="rId4" tooltip="Polyhydroxyalkanoates"/>
              </a:rPr>
              <a:t>polyhydroxyalkanoates</a:t>
            </a:r>
            <a:r>
              <a:rPr lang="en-US" sz="2000" dirty="0"/>
              <a:t> (PHA) which it consumes as a carbon and energy source for growth using oxygen or nitrate as electron acceptor.</a:t>
            </a:r>
            <a:endParaRPr lang="en-IN" sz="2000" dirty="0"/>
          </a:p>
        </p:txBody>
      </p:sp>
      <p:pic>
        <p:nvPicPr>
          <p:cNvPr id="4" name="Picture 3"/>
          <p:cNvPicPr>
            <a:picLocks noChangeAspect="1"/>
          </p:cNvPicPr>
          <p:nvPr/>
        </p:nvPicPr>
        <p:blipFill>
          <a:blip r:embed="rId5"/>
          <a:stretch>
            <a:fillRect/>
          </a:stretch>
        </p:blipFill>
        <p:spPr>
          <a:xfrm>
            <a:off x="7404847" y="1825625"/>
            <a:ext cx="3948953" cy="3948953"/>
          </a:xfrm>
          <a:prstGeom prst="rect">
            <a:avLst/>
          </a:prstGeom>
        </p:spPr>
      </p:pic>
    </p:spTree>
    <p:extLst>
      <p:ext uri="{BB962C8B-B14F-4D97-AF65-F5344CB8AC3E}">
        <p14:creationId xmlns:p14="http://schemas.microsoft.com/office/powerpoint/2010/main" val="1188689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treatments - Disinfection</a:t>
            </a:r>
          </a:p>
        </p:txBody>
      </p:sp>
      <p:sp>
        <p:nvSpPr>
          <p:cNvPr id="3" name="Content Placeholder 2"/>
          <p:cNvSpPr>
            <a:spLocks noGrp="1"/>
          </p:cNvSpPr>
          <p:nvPr>
            <p:ph idx="1"/>
          </p:nvPr>
        </p:nvSpPr>
        <p:spPr/>
        <p:txBody>
          <a:bodyPr>
            <a:normAutofit/>
          </a:bodyPr>
          <a:lstStyle/>
          <a:p>
            <a:r>
              <a:rPr lang="en-IN" sz="2000" dirty="0"/>
              <a:t>Chlorination</a:t>
            </a:r>
          </a:p>
          <a:p>
            <a:r>
              <a:rPr lang="en-US" sz="2000" dirty="0"/>
              <a:t>Chlorine disinfection works through oxidation of cell walls leading to cell lysis (bacterial) or inactivation of functional sites on the cell surface</a:t>
            </a:r>
            <a:endParaRPr lang="en-IN" sz="2000" dirty="0"/>
          </a:p>
          <a:p>
            <a:endParaRPr lang="en-IN" sz="2000" dirty="0"/>
          </a:p>
        </p:txBody>
      </p:sp>
      <p:pic>
        <p:nvPicPr>
          <p:cNvPr id="4" name="Picture 3"/>
          <p:cNvPicPr>
            <a:picLocks noChangeAspect="1"/>
          </p:cNvPicPr>
          <p:nvPr/>
        </p:nvPicPr>
        <p:blipFill>
          <a:blip r:embed="rId2"/>
          <a:stretch>
            <a:fillRect/>
          </a:stretch>
        </p:blipFill>
        <p:spPr>
          <a:xfrm>
            <a:off x="2412346" y="2966198"/>
            <a:ext cx="6829425" cy="1409700"/>
          </a:xfrm>
          <a:prstGeom prst="rect">
            <a:avLst/>
          </a:prstGeom>
        </p:spPr>
      </p:pic>
      <p:sp>
        <p:nvSpPr>
          <p:cNvPr id="5" name="Rectangle 4"/>
          <p:cNvSpPr/>
          <p:nvPr/>
        </p:nvSpPr>
        <p:spPr>
          <a:xfrm>
            <a:off x="744070" y="4306934"/>
            <a:ext cx="10609729" cy="369332"/>
          </a:xfrm>
          <a:prstGeom prst="rect">
            <a:avLst/>
          </a:prstGeom>
        </p:spPr>
        <p:txBody>
          <a:bodyPr wrap="square">
            <a:spAutoFit/>
          </a:bodyPr>
          <a:lstStyle/>
          <a:p>
            <a:r>
              <a:rPr lang="en-US" dirty="0"/>
              <a:t>Ozone gas (03) can be used as a disinfectant even though it does not leave a residual in the water being treated.</a:t>
            </a:r>
            <a:endParaRPr lang="en-IN" dirty="0"/>
          </a:p>
        </p:txBody>
      </p:sp>
      <p:pic>
        <p:nvPicPr>
          <p:cNvPr id="6" name="Picture 5"/>
          <p:cNvPicPr>
            <a:picLocks noChangeAspect="1"/>
          </p:cNvPicPr>
          <p:nvPr/>
        </p:nvPicPr>
        <p:blipFill>
          <a:blip r:embed="rId3"/>
          <a:stretch>
            <a:fillRect/>
          </a:stretch>
        </p:blipFill>
        <p:spPr>
          <a:xfrm>
            <a:off x="3256710" y="4824076"/>
            <a:ext cx="4865314" cy="1785115"/>
          </a:xfrm>
          <a:prstGeom prst="rect">
            <a:avLst/>
          </a:prstGeom>
        </p:spPr>
      </p:pic>
    </p:spTree>
    <p:extLst>
      <p:ext uri="{BB962C8B-B14F-4D97-AF65-F5344CB8AC3E}">
        <p14:creationId xmlns:p14="http://schemas.microsoft.com/office/powerpoint/2010/main" val="14746687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7187" y="429871"/>
            <a:ext cx="10775577" cy="369332"/>
          </a:xfrm>
          <a:prstGeom prst="rect">
            <a:avLst/>
          </a:prstGeom>
        </p:spPr>
        <p:txBody>
          <a:bodyPr wrap="square">
            <a:spAutoFit/>
          </a:bodyPr>
          <a:lstStyle/>
          <a:p>
            <a:r>
              <a:rPr lang="en-US" dirty="0"/>
              <a:t>UV Radiation Involves passing a film of wastewater within close proximity of a UV source (lamp)</a:t>
            </a:r>
            <a:endParaRPr lang="en-IN" dirty="0"/>
          </a:p>
        </p:txBody>
      </p:sp>
      <p:pic>
        <p:nvPicPr>
          <p:cNvPr id="5" name="Picture 4"/>
          <p:cNvPicPr>
            <a:picLocks noChangeAspect="1"/>
          </p:cNvPicPr>
          <p:nvPr/>
        </p:nvPicPr>
        <p:blipFill>
          <a:blip r:embed="rId2"/>
          <a:stretch>
            <a:fillRect/>
          </a:stretch>
        </p:blipFill>
        <p:spPr>
          <a:xfrm>
            <a:off x="7333689" y="1200430"/>
            <a:ext cx="4029075" cy="4295775"/>
          </a:xfrm>
          <a:prstGeom prst="rect">
            <a:avLst/>
          </a:prstGeom>
        </p:spPr>
      </p:pic>
      <p:sp>
        <p:nvSpPr>
          <p:cNvPr id="7" name="Rectangle 6"/>
          <p:cNvSpPr/>
          <p:nvPr/>
        </p:nvSpPr>
        <p:spPr>
          <a:xfrm>
            <a:off x="762000" y="1317376"/>
            <a:ext cx="6096000" cy="646331"/>
          </a:xfrm>
          <a:prstGeom prst="rect">
            <a:avLst/>
          </a:prstGeom>
        </p:spPr>
        <p:txBody>
          <a:bodyPr>
            <a:spAutoFit/>
          </a:bodyPr>
          <a:lstStyle/>
          <a:p>
            <a:r>
              <a:rPr lang="en-US" dirty="0"/>
              <a:t>Damage the genetic structure of bacteria, viruses and other pathogens.</a:t>
            </a:r>
            <a:endParaRPr lang="en-IN" dirty="0"/>
          </a:p>
        </p:txBody>
      </p:sp>
    </p:spTree>
    <p:extLst>
      <p:ext uri="{BB962C8B-B14F-4D97-AF65-F5344CB8AC3E}">
        <p14:creationId xmlns:p14="http://schemas.microsoft.com/office/powerpoint/2010/main" val="2409727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69E6DE27C9AC43BCBB525DB9C8DBF0" ma:contentTypeVersion="4" ma:contentTypeDescription="Create a new document." ma:contentTypeScope="" ma:versionID="e2c02323e539b1cfdf710af1c53f10d1">
  <xsd:schema xmlns:xsd="http://www.w3.org/2001/XMLSchema" xmlns:xs="http://www.w3.org/2001/XMLSchema" xmlns:p="http://schemas.microsoft.com/office/2006/metadata/properties" xmlns:ns2="66a9b643-f79d-4ba3-b58a-2659a2e5ff7d" xmlns:ns3="b9da394a-a0ef-4c9f-ad39-60e4b8cd0745" targetNamespace="http://schemas.microsoft.com/office/2006/metadata/properties" ma:root="true" ma:fieldsID="c0d3ff0aa76ae77f8be6e6a85fcdbf01" ns2:_="" ns3:_="">
    <xsd:import namespace="66a9b643-f79d-4ba3-b58a-2659a2e5ff7d"/>
    <xsd:import namespace="b9da394a-a0ef-4c9f-ad39-60e4b8cd07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a9b643-f79d-4ba3-b58a-2659a2e5ff7d"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a394a-a0ef-4c9f-ad39-60e4b8cd07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E9776A-71FA-46C2-B7EC-B333D0ABB1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a9b643-f79d-4ba3-b58a-2659a2e5ff7d"/>
    <ds:schemaRef ds:uri="b9da394a-a0ef-4c9f-ad39-60e4b8cd07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4E0655-BA28-48C0-B9FD-28F9A18F2BEC}">
  <ds:schemaRefs>
    <ds:schemaRef ds:uri="http://purl.org/dc/dcmitype/"/>
    <ds:schemaRef ds:uri="http://schemas.microsoft.com/office/infopath/2007/PartnerControls"/>
    <ds:schemaRef ds:uri="http://schemas.microsoft.com/office/2006/documentManagement/types"/>
    <ds:schemaRef ds:uri="91ffd29c-b615-48be-82e2-4376ea53f852"/>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33672BA-C721-4FE8-BB43-78B9F1B91D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133</TotalTime>
  <Words>1473</Words>
  <Application>Microsoft Office PowerPoint</Application>
  <PresentationFormat>Widescreen</PresentationFormat>
  <Paragraphs>90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Advanced Wastewater Treatment</vt:lpstr>
      <vt:lpstr>Common contaminants and their treatments</vt:lpstr>
      <vt:lpstr>Slow Sand Filtration</vt:lpstr>
      <vt:lpstr>PowerPoint Presentation</vt:lpstr>
      <vt:lpstr>PowerPoint Presentation</vt:lpstr>
      <vt:lpstr>Carbon adsorption</vt:lpstr>
      <vt:lpstr>PowerPoint Presentation</vt:lpstr>
      <vt:lpstr>Ammonia Stripping </vt:lpstr>
      <vt:lpstr>PowerPoint Presentation</vt:lpstr>
      <vt:lpstr>Breakpoint chlorination to remove ammonia</vt:lpstr>
      <vt:lpstr>Biological Nitrification and Denitrification</vt:lpstr>
      <vt:lpstr>PowerPoint Presentation</vt:lpstr>
      <vt:lpstr>Phosphorus removal</vt:lpstr>
      <vt:lpstr>PowerPoint Presentation</vt:lpstr>
      <vt:lpstr>Biological Phosphorus removal</vt:lpstr>
      <vt:lpstr>Other treatments - Disinfection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Wastewater Treatment</dc:title>
  <dc:creator>Dr. Sukalyan Chakraborty</dc:creator>
  <cp:lastModifiedBy>Dr. Sukalyan Chakraborty</cp:lastModifiedBy>
  <cp:revision>15</cp:revision>
  <dcterms:created xsi:type="dcterms:W3CDTF">2020-11-05T17:06:30Z</dcterms:created>
  <dcterms:modified xsi:type="dcterms:W3CDTF">2022-04-01T02:21:08Z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0x0101006A69E6DE27C9AC43BCBB525DB9C8DBF0</vt:lpwstr>
  </property>
</Properties>
</file>