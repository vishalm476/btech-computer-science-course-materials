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5"/>
  </p:handoutMasterIdLst>
  <p:sldIdLst>
    <p:sldId id="1403" r:id="rId3"/>
    <p:sldId id="1455" r:id="rId5"/>
    <p:sldId id="1404" r:id="rId6"/>
    <p:sldId id="912" r:id="rId7"/>
    <p:sldId id="907" r:id="rId8"/>
    <p:sldId id="908" r:id="rId9"/>
    <p:sldId id="909" r:id="rId10"/>
    <p:sldId id="910" r:id="rId11"/>
    <p:sldId id="1443" r:id="rId12"/>
    <p:sldId id="918" r:id="rId13"/>
    <p:sldId id="1048" r:id="rId14"/>
    <p:sldId id="1456" r:id="rId15"/>
    <p:sldId id="1125" r:id="rId16"/>
    <p:sldId id="1014" r:id="rId17"/>
    <p:sldId id="1049" r:id="rId18"/>
    <p:sldId id="1223" r:id="rId19"/>
    <p:sldId id="1040" r:id="rId20"/>
    <p:sldId id="1457" r:id="rId21"/>
    <p:sldId id="932" r:id="rId22"/>
    <p:sldId id="1346" r:id="rId23"/>
    <p:sldId id="1345" r:id="rId24"/>
    <p:sldId id="1018" r:id="rId25"/>
    <p:sldId id="939" r:id="rId26"/>
    <p:sldId id="1220" r:id="rId27"/>
    <p:sldId id="1222" r:id="rId28"/>
    <p:sldId id="1451" r:id="rId29"/>
    <p:sldId id="951" r:id="rId30"/>
    <p:sldId id="1193" r:id="rId31"/>
    <p:sldId id="1194" r:id="rId32"/>
    <p:sldId id="1444" r:id="rId33"/>
    <p:sldId id="953" r:id="rId34"/>
    <p:sldId id="1153" r:id="rId35"/>
    <p:sldId id="1154" r:id="rId36"/>
    <p:sldId id="1156" r:id="rId37"/>
    <p:sldId id="1348" r:id="rId38"/>
    <p:sldId id="1157" r:id="rId39"/>
    <p:sldId id="1158" r:id="rId40"/>
    <p:sldId id="1347" r:id="rId41"/>
    <p:sldId id="1159" r:id="rId42"/>
    <p:sldId id="1445" r:id="rId43"/>
    <p:sldId id="1017" r:id="rId44"/>
    <p:sldId id="1349" r:id="rId45"/>
    <p:sldId id="1350" r:id="rId46"/>
    <p:sldId id="1375" r:id="rId47"/>
    <p:sldId id="1376" r:id="rId48"/>
    <p:sldId id="1351" r:id="rId49"/>
    <p:sldId id="1446" r:id="rId50"/>
    <p:sldId id="1423" r:id="rId51"/>
    <p:sldId id="1415" r:id="rId52"/>
    <p:sldId id="1418" r:id="rId53"/>
    <p:sldId id="1419" r:id="rId54"/>
    <p:sldId id="1422" r:id="rId55"/>
    <p:sldId id="1365" r:id="rId56"/>
    <p:sldId id="1366" r:id="rId57"/>
    <p:sldId id="1433" r:id="rId58"/>
    <p:sldId id="1434" r:id="rId59"/>
    <p:sldId id="1435" r:id="rId60"/>
    <p:sldId id="1436" r:id="rId61"/>
    <p:sldId id="1437" r:id="rId62"/>
    <p:sldId id="1412" r:id="rId63"/>
    <p:sldId id="1430" r:id="rId64"/>
    <p:sldId id="1447" r:id="rId65"/>
    <p:sldId id="1368" r:id="rId66"/>
    <p:sldId id="1188" r:id="rId67"/>
    <p:sldId id="1189" r:id="rId68"/>
    <p:sldId id="1370" r:id="rId69"/>
    <p:sldId id="1452" r:id="rId70"/>
    <p:sldId id="1453" r:id="rId71"/>
    <p:sldId id="1448" r:id="rId72"/>
    <p:sldId id="993" r:id="rId73"/>
    <p:sldId id="1372" r:id="rId74"/>
    <p:sldId id="994" r:id="rId75"/>
    <p:sldId id="995" r:id="rId76"/>
    <p:sldId id="1192" r:id="rId77"/>
    <p:sldId id="1374" r:id="rId78"/>
    <p:sldId id="1442" r:id="rId79"/>
    <p:sldId id="1458" r:id="rId80"/>
    <p:sldId id="1429" r:id="rId81"/>
    <p:sldId id="1414" r:id="rId82"/>
    <p:sldId id="1449" r:id="rId83"/>
    <p:sldId id="1450" r:id="rId84"/>
  </p:sldIdLst>
  <p:sldSz cx="9144000" cy="6858000" type="screen4x3"/>
  <p:notesSz cx="7010400" cy="9236075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EA"/>
    <a:srgbClr val="FAE2F6"/>
    <a:srgbClr val="170981"/>
    <a:srgbClr val="121328"/>
    <a:srgbClr val="8FF9EF"/>
    <a:srgbClr val="993300"/>
    <a:srgbClr val="00CE98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482"/>
    <p:restoredTop sz="96746"/>
  </p:normalViewPr>
  <p:slideViewPr>
    <p:cSldViewPr showGuides="1">
      <p:cViewPr>
        <p:scale>
          <a:sx n="110" d="100"/>
          <a:sy n="110" d="100"/>
        </p:scale>
        <p:origin x="-1068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130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handoutMaster" Target="handoutMasters/handoutMaster1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e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>
            <a:lvl1pPr defTabSz="932180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>
            <a:lvl1pPr algn="r" defTabSz="932180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113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/>
          <a:lstStyle>
            <a:lvl1pPr defTabSz="932180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74113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/>
          <a:p>
            <a:pPr lvl="0" algn="r" defTabSz="932180">
              <a:buNone/>
            </a:pPr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>
            <a:lvl1pPr defTabSz="932180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>
            <a:lvl1pPr algn="r" defTabSz="932180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6020" name="Rectangle 4"/>
          <p:cNvSpPr>
            <a:spLocks noTextEdi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387850"/>
            <a:ext cx="5140325" cy="4156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113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/>
          <a:lstStyle>
            <a:lvl1pPr defTabSz="932180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774113"/>
            <a:ext cx="303847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/>
          <a:p>
            <a:pPr lvl="0" algn="r" defTabSz="932180">
              <a:buNone/>
            </a:pPr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</a:rPr>
            </a:fld>
            <a:endParaRPr lang="zh-CN" altLang="en-US" sz="12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70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80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89092" name="Rectangle 3"/>
          <p:cNvSpPr/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0115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90116" name="Rectangle 3"/>
          <p:cNvSpPr/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11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21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52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  <p:sp>
        <p:nvSpPr>
          <p:cNvPr id="9728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r>
              <a:rPr dirty="0"/>
              <a:t>I : the expected information needed to classify a given sample</a:t>
            </a:r>
            <a:endParaRPr dirty="0"/>
          </a:p>
          <a:p>
            <a:pPr lvl="0"/>
            <a:r>
              <a:rPr dirty="0"/>
              <a:t>E (entropy) : expected information based on the partitioning into subsets by A</a:t>
            </a:r>
            <a:endParaRPr dirty="0"/>
          </a:p>
          <a:p>
            <a:pPr lvl="0"/>
            <a:r>
              <a:rPr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108548" name="Rectangle 3"/>
          <p:cNvSpPr/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98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08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28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49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59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80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00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/>
          </p:cNvSpPr>
          <p:nvPr>
            <p:ph type="body" idx="1"/>
          </p:nvPr>
        </p:nvSpPr>
        <p:spPr>
          <a:xfrm>
            <a:off x="701675" y="4387850"/>
            <a:ext cx="5607050" cy="4156075"/>
          </a:xfrm>
        </p:spPr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10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/>
          </p:cNvSpPr>
          <p:nvPr>
            <p:ph type="body" idx="1"/>
          </p:nvPr>
        </p:nvSpPr>
        <p:spPr>
          <a:xfrm>
            <a:off x="701675" y="4387850"/>
            <a:ext cx="5607050" cy="4156075"/>
          </a:xfrm>
        </p:spPr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31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41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51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61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72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82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9267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139268" name="Rectangle 3"/>
          <p:cNvSpPr>
            <a:spLocks noGrp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40291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140292" name="Rectangle 3"/>
          <p:cNvSpPr>
            <a:spLocks noGrp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13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33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43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54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64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47459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147460" name="Rectangle 3"/>
          <p:cNvSpPr/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48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95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05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15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25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46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5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66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76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87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9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  <p:sp>
        <p:nvSpPr>
          <p:cNvPr id="16077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17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Rectangle 2"/>
          <p:cNvSpPr>
            <a:spLocks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</p:spPr>
      </p:sp>
      <p:sp>
        <p:nvSpPr>
          <p:cNvPr id="1628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3843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163844" name="Rectangle 3"/>
          <p:cNvSpPr/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866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4867" name="Rectangle 2"/>
          <p:cNvSpPr>
            <a:spLocks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164868" name="Rectangle 3"/>
          <p:cNvSpPr>
            <a:spLocks noGrp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</p:spPr>
        <p:txBody>
          <a:bodyPr wrap="square" lIns="87348" tIns="43673" rIns="87348" bIns="43673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58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0" tIns="46586" rIns="93170" bIns="46586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Rectangle 7"/>
          <p:cNvSpPr txBox="1">
            <a:spLocks noGrp="1"/>
          </p:cNvSpPr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</a:ln>
        </p:spPr>
        <p:txBody>
          <a:bodyPr lIns="93170" tIns="46586" rIns="93170" bIns="46586" anchor="b" anchorCtr="0"/>
          <a:p>
            <a:pPr lvl="0" algn="r" defTabSz="932180"/>
            <a:fld id="{9A0DB2DC-4C9A-4742-B13C-FB6460FD3503}" type="slidenum">
              <a:rPr lang="en-US" sz="1200" dirty="0">
                <a:latin typeface="Times New Roman" panose="02020603050405020304" pitchFamily="18" charset="0"/>
              </a:rPr>
            </a:fld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3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60" name="Rectangle 4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61" name="Rectangle 5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58" name="Rectangle 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9" name="Rectangle 8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055" name="Rectangle 9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dirty="0">
                <a:latin typeface="Tahoma" panose="020B0604030504040204" pitchFamily="34" charset="0"/>
              </a:endParaRPr>
            </a:p>
          </p:txBody>
        </p:sp>
        <p:sp>
          <p:nvSpPr>
            <p:cNvPr id="2056" name="Rectangle 10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dirty="0">
                <a:latin typeface="Tahoma" panose="020B0604030504040204" pitchFamily="34" charset="0"/>
              </a:endParaRPr>
            </a:p>
          </p:txBody>
        </p:sp>
        <p:sp>
          <p:nvSpPr>
            <p:cNvPr id="2057" name="Rectangle 11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dirty="0">
                <a:latin typeface="Tahoma" panose="020B0604030504040204" pitchFamily="34" charset="0"/>
              </a:endParaRPr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381000"/>
            <a:ext cx="21145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1912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40005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41529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04800" y="381000"/>
            <a:ext cx="8458200" cy="609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84582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00500"/>
            <a:ext cx="84582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056"/>
          <p:cNvSpPr/>
          <p:nvPr/>
        </p:nvSpPr>
        <p:spPr>
          <a:xfrm>
            <a:off x="304800" y="1066800"/>
            <a:ext cx="8410575" cy="46038"/>
          </a:xfrm>
          <a:prstGeom prst="rect">
            <a:avLst/>
          </a:prstGeom>
          <a:gradFill rotWithShape="1">
            <a:gsLst>
              <a:gs pos="0">
                <a:srgbClr val="00CE98">
                  <a:alpha val="50000"/>
                </a:srgbClr>
              </a:gs>
              <a:gs pos="100000">
                <a:srgbClr val="8FF9EF">
                  <a:alpha val="51999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027" name="Rectangle 2057"/>
          <p:cNvSpPr>
            <a:spLocks noGrp="1"/>
          </p:cNvSpPr>
          <p:nvPr>
            <p:ph type="title"/>
          </p:nvPr>
        </p:nvSpPr>
        <p:spPr>
          <a:xfrm>
            <a:off x="304800" y="304800"/>
            <a:ext cx="8402638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28" name="Rectangle 2058"/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8458200" cy="5257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ahoma" panose="020B0604030504040204" pitchFamily="34" charset="0"/>
              </a:rPr>
            </a:fld>
            <a:endParaRPr lang="en-US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>
    <p:zo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anose="020E0802020502020306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anose="020E0802020502020306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anose="020E0802020502020306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anose="020E0802020502020306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anose="020E0802020502020306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6.emf"/><Relationship Id="rId17" Type="http://schemas.openxmlformats.org/officeDocument/2006/relationships/notesSlide" Target="../notesSlides/notesSlide13.xml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20.emf"/><Relationship Id="rId1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4.jpeg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0.jpeg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1.emf"/><Relationship Id="rId1" Type="http://schemas.openxmlformats.org/officeDocument/2006/relationships/oleObject" Target="../embeddings/oleObject20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1.bin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23.bin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24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4.xml"/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26.bin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emf"/><Relationship Id="rId1" Type="http://schemas.openxmlformats.org/officeDocument/2006/relationships/oleObject" Target="../embeddings/oleObject29.bin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emf"/><Relationship Id="rId1" Type="http://schemas.openxmlformats.org/officeDocument/2006/relationships/oleObject" Target="../embeddings/oleObject30.bin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3.wmf"/><Relationship Id="rId1" Type="http://schemas.openxmlformats.org/officeDocument/2006/relationships/oleObject" Target="../embeddings/oleObject31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32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jpeg"/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jpeg"/><Relationship Id="rId1" Type="http://schemas.openxmlformats.org/officeDocument/2006/relationships/image" Target="../media/image5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5.wmf"/><Relationship Id="rId4" Type="http://schemas.openxmlformats.org/officeDocument/2006/relationships/image" Target="../media/image54.png"/><Relationship Id="rId3" Type="http://schemas.openxmlformats.org/officeDocument/2006/relationships/image" Target="../media/image51.jpeg"/><Relationship Id="rId2" Type="http://schemas.openxmlformats.org/officeDocument/2006/relationships/image" Target="../media/image52.jpeg"/><Relationship Id="rId1" Type="http://schemas.openxmlformats.org/officeDocument/2006/relationships/image" Target="../media/image53.jpe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7.jpeg"/><Relationship Id="rId1" Type="http://schemas.openxmlformats.org/officeDocument/2006/relationships/image" Target="../media/image56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5.xml"/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1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60.wmf"/><Relationship Id="rId1" Type="http://schemas.openxmlformats.org/officeDocument/2006/relationships/oleObject" Target="../embeddings/oleObject34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cs.uiuc.edu/~hanj/pdf/icde08_hongcheng.pdf" TargetMode="External"/><Relationship Id="rId1" Type="http://schemas.openxmlformats.org/officeDocument/2006/relationships/hyperlink" Target="http://www.cs.uiuc.edu/~hanj/pdf/icde07_hcheng.pdf" TargetMode="Externa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6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63.wmf"/><Relationship Id="rId11" Type="http://schemas.openxmlformats.org/officeDocument/2006/relationships/notesSlide" Target="../notesSlides/notesSlide77.xml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36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Slide Number Placeholder 5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title" idx="4294967295"/>
          </p:nvPr>
        </p:nvSpPr>
        <p:spPr>
          <a:xfrm>
            <a:off x="152400" y="152400"/>
            <a:ext cx="8839200" cy="3886200"/>
          </a:xfrm>
        </p:spPr>
        <p:txBody>
          <a:bodyPr vert="horz" wrap="square" lIns="91440" tIns="45720" rIns="91440" bIns="45720" anchor="b" anchorCtr="0"/>
          <a:p>
            <a:r>
              <a:rPr sz="6000" dirty="0"/>
              <a:t>Data Mining: </a:t>
            </a:r>
            <a:br>
              <a:rPr sz="6000" dirty="0"/>
            </a:br>
            <a:r>
              <a:rPr sz="6000" dirty="0"/>
              <a:t> </a:t>
            </a:r>
            <a:r>
              <a:rPr sz="4800" dirty="0"/>
              <a:t>Concepts and Techniques</a:t>
            </a:r>
            <a:br>
              <a:rPr sz="4800" dirty="0"/>
            </a:br>
            <a:br>
              <a:rPr sz="4800" dirty="0"/>
            </a:br>
            <a:endParaRPr sz="2800" dirty="0"/>
          </a:p>
        </p:txBody>
      </p:sp>
      <p:sp>
        <p:nvSpPr>
          <p:cNvPr id="3076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4419600"/>
            <a:ext cx="8610600" cy="1905000"/>
          </a:xfrm>
        </p:spPr>
        <p:txBody>
          <a:bodyPr vert="horz" wrap="square" lIns="91440" tIns="45720" rIns="91440" bIns="45720" anchor="t" anchorCtr="0"/>
          <a:p>
            <a:pPr algn="ctr">
              <a:lnSpc>
                <a:spcPct val="110000"/>
              </a:lnSpc>
              <a:buNone/>
            </a:pP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8" name="Picture 2" descr="C:\Users\Han\Pictures\2011\2011_09_Athens\2011_09_05\IMG_257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Slide Number Placeholder 6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400" b="1" dirty="0">
                <a:latin typeface="Calibri" panose="020F0502020204030204" pitchFamily="34" charset="0"/>
              </a:rPr>
            </a:fld>
            <a:endParaRPr lang="en-US" sz="1400" b="1" dirty="0">
              <a:latin typeface="Calibri" panose="020F0502020204030204" pitchFamily="34" charset="0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Chapter 8. Classification: Basic Concepts</a:t>
            </a:r>
            <a:endParaRPr dirty="0"/>
          </a:p>
        </p:txBody>
      </p:sp>
      <p:sp>
        <p:nvSpPr>
          <p:cNvPr id="5124" name="Rectangle 3"/>
          <p:cNvSpPr>
            <a:spLocks noGrp="1"/>
          </p:cNvSpPr>
          <p:nvPr>
            <p:ph sz="half" idx="1"/>
          </p:nvPr>
        </p:nvSpPr>
        <p:spPr>
          <a:xfrm>
            <a:off x="304800" y="1447800"/>
            <a:ext cx="8382000" cy="5105400"/>
          </a:xfrm>
        </p:spPr>
        <p:txBody>
          <a:bodyPr vert="horz" wrap="square" lIns="92075" tIns="46038" rIns="92075" bIns="46038" anchor="t" anchorCtr="0"/>
          <a:p>
            <a:pPr>
              <a:lnSpc>
                <a:spcPct val="130000"/>
              </a:lnSpc>
              <a:buSzPct val="60000"/>
            </a:pPr>
            <a:r>
              <a:rPr dirty="0">
                <a:latin typeface="Calibri" panose="020F0502020204030204" pitchFamily="34" charset="0"/>
                <a:ea typeface="+mn-ea"/>
                <a:cs typeface="+mn-cs"/>
              </a:rPr>
              <a:t>Classification: Basic Concepts</a:t>
            </a:r>
            <a:endParaRPr dirty="0">
              <a:latin typeface="Calibri" panose="020F0502020204030204" pitchFamily="34" charset="0"/>
              <a:ea typeface="+mn-ea"/>
              <a:cs typeface="+mn-cs"/>
            </a:endParaRPr>
          </a:p>
          <a:p>
            <a:pPr>
              <a:lnSpc>
                <a:spcPct val="130000"/>
              </a:lnSpc>
              <a:buSzPct val="60000"/>
            </a:pPr>
            <a:r>
              <a:rPr dirty="0">
                <a:latin typeface="Calibri" panose="020F0502020204030204" pitchFamily="34" charset="0"/>
                <a:ea typeface="+mn-ea"/>
                <a:cs typeface="+mn-cs"/>
              </a:rPr>
              <a:t>Decision Tree Induction</a:t>
            </a:r>
            <a:endParaRPr dirty="0">
              <a:latin typeface="Calibri" panose="020F0502020204030204" pitchFamily="34" charset="0"/>
              <a:ea typeface="+mn-ea"/>
              <a:cs typeface="+mn-cs"/>
            </a:endParaRPr>
          </a:p>
          <a:p>
            <a:pPr>
              <a:lnSpc>
                <a:spcPct val="130000"/>
              </a:lnSpc>
              <a:buSzPct val="60000"/>
            </a:pPr>
            <a:r>
              <a:rPr dirty="0">
                <a:latin typeface="Calibri" panose="020F0502020204030204" pitchFamily="34" charset="0"/>
                <a:ea typeface="+mn-ea"/>
                <a:cs typeface="+mn-cs"/>
              </a:rPr>
              <a:t>Bayes Classification Methods</a:t>
            </a:r>
            <a:endParaRPr dirty="0">
              <a:latin typeface="Calibri" panose="020F0502020204030204" pitchFamily="34" charset="0"/>
              <a:ea typeface="+mn-ea"/>
              <a:cs typeface="+mn-cs"/>
            </a:endParaRPr>
          </a:p>
          <a:p>
            <a:pPr>
              <a:lnSpc>
                <a:spcPct val="130000"/>
              </a:lnSpc>
              <a:buSzPct val="60000"/>
            </a:pPr>
            <a:r>
              <a:rPr dirty="0">
                <a:latin typeface="Calibri" panose="020F0502020204030204" pitchFamily="34" charset="0"/>
                <a:ea typeface="+mn-ea"/>
                <a:cs typeface="+mn-cs"/>
              </a:rPr>
              <a:t>Rule-Based Classification</a:t>
            </a:r>
            <a:endParaRPr dirty="0">
              <a:latin typeface="Calibri" panose="020F0502020204030204" pitchFamily="34" charset="0"/>
              <a:ea typeface="+mn-ea"/>
              <a:cs typeface="+mn-cs"/>
            </a:endParaRPr>
          </a:p>
          <a:p>
            <a:pPr>
              <a:lnSpc>
                <a:spcPct val="130000"/>
              </a:lnSpc>
              <a:buSzPct val="60000"/>
            </a:pPr>
            <a:r>
              <a:rPr dirty="0">
                <a:latin typeface="Calibri" panose="020F0502020204030204" pitchFamily="34" charset="0"/>
                <a:ea typeface="+mn-ea"/>
                <a:cs typeface="+mn-cs"/>
              </a:rPr>
              <a:t>Model Evaluation and Selection</a:t>
            </a:r>
            <a:endParaRPr dirty="0">
              <a:latin typeface="Calibri" panose="020F0502020204030204" pitchFamily="34" charset="0"/>
              <a:ea typeface="+mn-ea"/>
              <a:cs typeface="+mn-cs"/>
            </a:endParaRPr>
          </a:p>
          <a:p>
            <a:pPr>
              <a:lnSpc>
                <a:spcPct val="130000"/>
              </a:lnSpc>
              <a:buSzPct val="60000"/>
            </a:pPr>
            <a:r>
              <a:rPr dirty="0">
                <a:latin typeface="Calibri" panose="020F0502020204030204" pitchFamily="34" charset="0"/>
                <a:ea typeface="+mn-ea"/>
                <a:cs typeface="+mn-cs"/>
              </a:rPr>
              <a:t>Techniques to Improve Classification Accuracy: Ensemble Methods</a:t>
            </a:r>
            <a:endParaRPr dirty="0">
              <a:latin typeface="Calibri" panose="020F0502020204030204" pitchFamily="34" charset="0"/>
              <a:ea typeface="+mn-ea"/>
              <a:cs typeface="+mn-cs"/>
            </a:endParaRPr>
          </a:p>
          <a:p>
            <a:pPr>
              <a:lnSpc>
                <a:spcPct val="130000"/>
              </a:lnSpc>
              <a:buSzPct val="60000"/>
            </a:pPr>
            <a:r>
              <a:rPr dirty="0">
                <a:latin typeface="Calibri" panose="020F0502020204030204" pitchFamily="34" charset="0"/>
                <a:ea typeface="+mn-ea"/>
                <a:cs typeface="+mn-cs"/>
              </a:rPr>
              <a:t>Summary</a:t>
            </a:r>
            <a:endParaRPr dirty="0"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125" name="AutoShape 8"/>
          <p:cNvSpPr/>
          <p:nvPr/>
        </p:nvSpPr>
        <p:spPr>
          <a:xfrm rot="9803581">
            <a:off x="5257800" y="13716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52400" y="228600"/>
            <a:ext cx="8783638" cy="7620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dirty="0"/>
              <a:t>Supervised vs. Unsupervised Learning</a:t>
            </a:r>
            <a:endParaRPr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381000" y="1371600"/>
            <a:ext cx="8305800" cy="51816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30000"/>
              </a:lnSpc>
            </a:pPr>
            <a:r>
              <a:rPr sz="2400" dirty="0">
                <a:solidFill>
                  <a:srgbClr val="F83F24"/>
                </a:solidFill>
              </a:rPr>
              <a:t>Supervised learning (classification)</a:t>
            </a:r>
            <a:endParaRPr sz="2400" dirty="0"/>
          </a:p>
          <a:p>
            <a:pPr lvl="1" eaLnBrk="1" hangingPunct="1">
              <a:lnSpc>
                <a:spcPct val="130000"/>
              </a:lnSpc>
            </a:pPr>
            <a:r>
              <a:rPr sz="2400" dirty="0"/>
              <a:t>Supervision: The training data (observations, measurements, etc.) are accompanied by </a:t>
            </a:r>
            <a:r>
              <a:rPr sz="2400" b="1" dirty="0"/>
              <a:t>labels</a:t>
            </a:r>
            <a:r>
              <a:rPr sz="2400" dirty="0"/>
              <a:t> indicating the class of the observations</a:t>
            </a:r>
            <a:endParaRPr sz="2400" dirty="0"/>
          </a:p>
          <a:p>
            <a:pPr lvl="1" eaLnBrk="1" hangingPunct="1">
              <a:lnSpc>
                <a:spcPct val="130000"/>
              </a:lnSpc>
            </a:pPr>
            <a:r>
              <a:rPr sz="2400" dirty="0"/>
              <a:t>New data is classified based on the training set</a:t>
            </a:r>
            <a:endParaRPr sz="2400" dirty="0"/>
          </a:p>
          <a:p>
            <a:pPr eaLnBrk="1" hangingPunct="1">
              <a:lnSpc>
                <a:spcPct val="130000"/>
              </a:lnSpc>
            </a:pPr>
            <a:r>
              <a:rPr sz="2400" dirty="0">
                <a:solidFill>
                  <a:srgbClr val="F83F24"/>
                </a:solidFill>
              </a:rPr>
              <a:t>Unsupervised learning</a:t>
            </a:r>
            <a:r>
              <a:rPr sz="2400" dirty="0"/>
              <a:t> </a:t>
            </a:r>
            <a:r>
              <a:rPr sz="2400" dirty="0">
                <a:solidFill>
                  <a:srgbClr val="FF3300"/>
                </a:solidFill>
              </a:rPr>
              <a:t>(clustering)</a:t>
            </a:r>
            <a:endParaRPr sz="24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sz="2400" dirty="0"/>
              <a:t>The class labels of training data is unknown</a:t>
            </a:r>
            <a:endParaRPr sz="2400" dirty="0"/>
          </a:p>
          <a:p>
            <a:pPr lvl="1" eaLnBrk="1" hangingPunct="1">
              <a:lnSpc>
                <a:spcPct val="130000"/>
              </a:lnSpc>
            </a:pPr>
            <a:r>
              <a:rPr sz="2400" dirty="0"/>
              <a:t>Given a set of measurements, observations, etc. with the aim of establishing the existence of classes or clusters in the data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171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50292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90000"/>
              </a:lnSpc>
            </a:pPr>
            <a:r>
              <a:rPr sz="2400" dirty="0">
                <a:solidFill>
                  <a:schemeClr val="hlink"/>
                </a:solidFill>
              </a:rPr>
              <a:t>Classification</a:t>
            </a:r>
            <a:r>
              <a:rPr sz="2000" dirty="0"/>
              <a:t>  </a:t>
            </a:r>
            <a:endParaRPr sz="20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predicts categorical class labels (discrete or nominal)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classifies data (constructs a model) based on the training set and the values (</a:t>
            </a:r>
            <a:r>
              <a:rPr sz="2400" dirty="0">
                <a:solidFill>
                  <a:schemeClr val="hlink"/>
                </a:solidFill>
              </a:rPr>
              <a:t>class labels</a:t>
            </a:r>
            <a:r>
              <a:rPr sz="2400" dirty="0"/>
              <a:t>) in a classifying attribute and uses it in classifying new data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>
                <a:solidFill>
                  <a:schemeClr val="hlink"/>
                </a:solidFill>
              </a:rPr>
              <a:t>Numeric Prediction  </a:t>
            </a:r>
            <a:endParaRPr sz="2400" dirty="0">
              <a:solidFill>
                <a:schemeClr val="hlink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models continuous-valued functions, i.e., predicts unknown or missing values 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Typical applications</a:t>
            </a:r>
            <a:endParaRPr sz="2400" dirty="0"/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sz="2400" dirty="0"/>
              <a:t>Credit/loan approval:</a:t>
            </a:r>
            <a:endParaRPr sz="2400" dirty="0"/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sz="2400" dirty="0"/>
              <a:t>Medical diagnosis: if a tumor is cancerous or benign</a:t>
            </a:r>
            <a:endParaRPr sz="2400" dirty="0"/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sz="2400" dirty="0"/>
              <a:t>Fraud detection: if a transaction is fraudulent</a:t>
            </a:r>
            <a:endParaRPr sz="2400" dirty="0"/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sz="2400" dirty="0"/>
              <a:t>Web page categorization: which category it is</a:t>
            </a:r>
            <a:endParaRPr sz="2400" dirty="0"/>
          </a:p>
        </p:txBody>
      </p:sp>
      <p:sp>
        <p:nvSpPr>
          <p:cNvPr id="7172" name="Rectang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4775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Prediction Problems: Classification vs. Numeric Prediction</a:t>
            </a:r>
            <a:endParaRPr dirty="0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533400" y="304800"/>
            <a:ext cx="8001000" cy="6858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Classification—A Two-Step Process</a:t>
            </a:r>
            <a:r>
              <a:rPr sz="2800" dirty="0"/>
              <a:t> </a:t>
            </a:r>
            <a:endParaRPr sz="3200" dirty="0"/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257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2000" dirty="0">
                <a:solidFill>
                  <a:schemeClr val="hlink"/>
                </a:solidFill>
              </a:rPr>
              <a:t>Model construction</a:t>
            </a:r>
            <a:r>
              <a:rPr sz="2000" dirty="0"/>
              <a:t>: describing a set of predetermined classes</a:t>
            </a:r>
            <a:endParaRPr sz="2000" dirty="0"/>
          </a:p>
          <a:p>
            <a:pPr lvl="1" eaLnBrk="1" hangingPunct="1"/>
            <a:r>
              <a:rPr sz="2000" dirty="0"/>
              <a:t>Each tuple/sample is assumed to belong to a predefined class, as determined by the </a:t>
            </a:r>
            <a:r>
              <a:rPr sz="2000" dirty="0">
                <a:solidFill>
                  <a:schemeClr val="hlink"/>
                </a:solidFill>
              </a:rPr>
              <a:t>class label attribute</a:t>
            </a:r>
            <a:endParaRPr sz="2000" dirty="0">
              <a:solidFill>
                <a:schemeClr val="hlink"/>
              </a:solidFill>
            </a:endParaRPr>
          </a:p>
          <a:p>
            <a:pPr lvl="1" eaLnBrk="1" hangingPunct="1"/>
            <a:r>
              <a:rPr sz="2000" dirty="0"/>
              <a:t>The set of tuples used for model construction is </a:t>
            </a:r>
            <a:r>
              <a:rPr sz="2000" dirty="0">
                <a:solidFill>
                  <a:schemeClr val="hlink"/>
                </a:solidFill>
              </a:rPr>
              <a:t>training set</a:t>
            </a:r>
            <a:endParaRPr sz="2000" dirty="0">
              <a:solidFill>
                <a:schemeClr val="hlink"/>
              </a:solidFill>
            </a:endParaRPr>
          </a:p>
          <a:p>
            <a:pPr lvl="1" eaLnBrk="1" hangingPunct="1"/>
            <a:r>
              <a:rPr sz="2000" dirty="0"/>
              <a:t>The model is represented as classification rules, decision trees, or mathematical formulae</a:t>
            </a:r>
            <a:endParaRPr sz="2000" dirty="0"/>
          </a:p>
          <a:p>
            <a:pPr eaLnBrk="1" hangingPunct="1"/>
            <a:r>
              <a:rPr sz="2000" dirty="0">
                <a:solidFill>
                  <a:schemeClr val="hlink"/>
                </a:solidFill>
              </a:rPr>
              <a:t>Model usage</a:t>
            </a:r>
            <a:r>
              <a:rPr sz="2000" dirty="0"/>
              <a:t>: for classifying future or unknown objects</a:t>
            </a:r>
            <a:endParaRPr sz="2000" dirty="0"/>
          </a:p>
          <a:p>
            <a:pPr lvl="1" eaLnBrk="1" hangingPunct="1"/>
            <a:r>
              <a:rPr sz="2000" dirty="0">
                <a:solidFill>
                  <a:schemeClr val="hlink"/>
                </a:solidFill>
              </a:rPr>
              <a:t>Estimate accuracy</a:t>
            </a:r>
            <a:r>
              <a:rPr sz="2000" dirty="0"/>
              <a:t> of the model</a:t>
            </a:r>
            <a:endParaRPr sz="2000" dirty="0"/>
          </a:p>
          <a:p>
            <a:pPr lvl="2" eaLnBrk="1" hangingPunct="1"/>
            <a:r>
              <a:rPr sz="2000" dirty="0"/>
              <a:t>The known label of test sample is compared with the classified result from the model</a:t>
            </a:r>
            <a:endParaRPr sz="2000" dirty="0"/>
          </a:p>
          <a:p>
            <a:pPr lvl="2" eaLnBrk="1" hangingPunct="1"/>
            <a:r>
              <a:rPr sz="2000" dirty="0">
                <a:solidFill>
                  <a:schemeClr val="hlink"/>
                </a:solidFill>
              </a:rPr>
              <a:t>Accuracy</a:t>
            </a:r>
            <a:r>
              <a:rPr sz="2000" dirty="0"/>
              <a:t> rate is the percentage of test set samples that are correctly classified by the model</a:t>
            </a:r>
            <a:endParaRPr sz="2000" dirty="0"/>
          </a:p>
          <a:p>
            <a:pPr lvl="2" eaLnBrk="1" hangingPunct="1"/>
            <a:r>
              <a:rPr sz="2000" dirty="0">
                <a:solidFill>
                  <a:schemeClr val="hlink"/>
                </a:solidFill>
              </a:rPr>
              <a:t>Test set</a:t>
            </a:r>
            <a:r>
              <a:rPr sz="2000" dirty="0"/>
              <a:t> is independent of training set (otherwise overfitting) </a:t>
            </a:r>
            <a:endParaRPr sz="2000" dirty="0"/>
          </a:p>
          <a:p>
            <a:pPr lvl="1" eaLnBrk="1" hangingPunct="1"/>
            <a:r>
              <a:rPr sz="2000" dirty="0"/>
              <a:t>If the accuracy is acceptable, use the model to </a:t>
            </a:r>
            <a:r>
              <a:rPr sz="2000" dirty="0">
                <a:solidFill>
                  <a:schemeClr val="hlink"/>
                </a:solidFill>
              </a:rPr>
              <a:t>classify new data</a:t>
            </a:r>
            <a:endParaRPr sz="2000" dirty="0">
              <a:solidFill>
                <a:schemeClr val="hlink"/>
              </a:solidFill>
            </a:endParaRPr>
          </a:p>
          <a:p>
            <a:pPr eaLnBrk="1" hangingPunct="1"/>
            <a:r>
              <a:rPr sz="2000" dirty="0"/>
              <a:t>Note: If </a:t>
            </a:r>
            <a:r>
              <a:rPr sz="2000" i="1" dirty="0"/>
              <a:t>the test set </a:t>
            </a:r>
            <a:r>
              <a:rPr sz="2000" dirty="0"/>
              <a:t>is used to select models, it is called </a:t>
            </a:r>
            <a:r>
              <a:rPr sz="2000" dirty="0">
                <a:solidFill>
                  <a:srgbClr val="C00000"/>
                </a:solidFill>
              </a:rPr>
              <a:t>validation (test) set</a:t>
            </a:r>
            <a:endParaRPr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077200" cy="7620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dirty="0"/>
              <a:t>Process (1): Model Construction</a:t>
            </a:r>
            <a:endParaRPr dirty="0"/>
          </a:p>
        </p:txBody>
      </p:sp>
      <p:grpSp>
        <p:nvGrpSpPr>
          <p:cNvPr id="9220" name="Group 3"/>
          <p:cNvGrpSpPr/>
          <p:nvPr/>
        </p:nvGrpSpPr>
        <p:grpSpPr>
          <a:xfrm>
            <a:off x="2036763" y="1774825"/>
            <a:ext cx="1698625" cy="1506538"/>
            <a:chOff x="1283" y="1118"/>
            <a:chExt cx="1070" cy="949"/>
          </a:xfrm>
        </p:grpSpPr>
        <p:pic>
          <p:nvPicPr>
            <p:cNvPr id="9233" name="Picture 4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283" y="1118"/>
              <a:ext cx="1070" cy="94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4" name="Rectangle 5"/>
            <p:cNvSpPr/>
            <p:nvPr/>
          </p:nvSpPr>
          <p:spPr>
            <a:xfrm>
              <a:off x="1347" y="1427"/>
              <a:ext cx="934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Training</a:t>
              </a:r>
              <a:endParaRPr sz="2400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Data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221" name="Object 0"/>
          <p:cNvGraphicFramePr/>
          <p:nvPr/>
        </p:nvGraphicFramePr>
        <p:xfrm>
          <a:off x="288925" y="3825875"/>
          <a:ext cx="54371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5437505" imgH="2495550" progId="Excel.Sheet.8">
                  <p:embed/>
                </p:oleObj>
              </mc:Choice>
              <mc:Fallback>
                <p:oleObj name="" r:id="rId2" imgW="5437505" imgH="2495550" progId="Excel.Sheet.8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8925" y="3825875"/>
                        <a:ext cx="5437188" cy="2495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Line 7"/>
          <p:cNvSpPr/>
          <p:nvPr/>
        </p:nvSpPr>
        <p:spPr>
          <a:xfrm flipH="1">
            <a:off x="306388" y="3111500"/>
            <a:ext cx="1644650" cy="7000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3" name="Line 8"/>
          <p:cNvSpPr/>
          <p:nvPr/>
        </p:nvSpPr>
        <p:spPr>
          <a:xfrm>
            <a:off x="3736975" y="3111500"/>
            <a:ext cx="2025650" cy="7000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4" name="Rectangle 9"/>
          <p:cNvSpPr/>
          <p:nvPr/>
        </p:nvSpPr>
        <p:spPr>
          <a:xfrm>
            <a:off x="6481763" y="1622425"/>
            <a:ext cx="1870075" cy="835025"/>
          </a:xfrm>
          <a:prstGeom prst="rect">
            <a:avLst/>
          </a:prstGeom>
          <a:solidFill>
            <a:srgbClr val="CC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 anchorCtr="0">
            <a:spAutoFit/>
          </a:bodyPr>
          <a:p>
            <a:pPr algn="ctr" eaLnBrk="0" hangingPunct="0"/>
            <a:r>
              <a:rPr sz="2400" dirty="0">
                <a:latin typeface="Times New Roman" panose="02020603050405020304" pitchFamily="18" charset="0"/>
              </a:rPr>
              <a:t>Classification</a:t>
            </a:r>
            <a:endParaRPr sz="2400" dirty="0">
              <a:latin typeface="Times New Roman" panose="02020603050405020304" pitchFamily="18" charset="0"/>
            </a:endParaRPr>
          </a:p>
          <a:p>
            <a:pPr algn="ctr" eaLnBrk="0" hangingPunct="0"/>
            <a:r>
              <a:rPr sz="2400" dirty="0">
                <a:latin typeface="Times New Roman" panose="02020603050405020304" pitchFamily="18" charset="0"/>
              </a:rPr>
              <a:t>Algorithms</a:t>
            </a: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9225" name="AutoShape 10"/>
          <p:cNvSpPr/>
          <p:nvPr/>
        </p:nvSpPr>
        <p:spPr>
          <a:xfrm rot="-1140000">
            <a:off x="4235450" y="2074863"/>
            <a:ext cx="1657350" cy="484187"/>
          </a:xfrm>
          <a:prstGeom prst="rightArrow">
            <a:avLst>
              <a:gd name="adj1" fmla="val 50000"/>
              <a:gd name="adj2" fmla="val 85605"/>
            </a:avLst>
          </a:prstGeom>
          <a:solidFill>
            <a:srgbClr val="2597B8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  <p:sp>
        <p:nvSpPr>
          <p:cNvPr id="9226" name="Rectangle 11"/>
          <p:cNvSpPr/>
          <p:nvPr/>
        </p:nvSpPr>
        <p:spPr>
          <a:xfrm>
            <a:off x="5948363" y="5311775"/>
            <a:ext cx="3008312" cy="120015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 anchorCtr="0">
            <a:spAutoFit/>
          </a:bodyPr>
          <a:p>
            <a:pPr eaLnBrk="0" hangingPunct="0"/>
            <a:r>
              <a:rPr sz="2400" dirty="0">
                <a:latin typeface="Times New Roman" panose="02020603050405020304" pitchFamily="18" charset="0"/>
              </a:rPr>
              <a:t>IF rank = ‘professor’</a:t>
            </a:r>
            <a:endParaRPr sz="2400" dirty="0">
              <a:latin typeface="Times New Roman" panose="02020603050405020304" pitchFamily="18" charset="0"/>
            </a:endParaRPr>
          </a:p>
          <a:p>
            <a:pPr eaLnBrk="0" hangingPunct="0"/>
            <a:r>
              <a:rPr sz="2400" dirty="0">
                <a:latin typeface="Times New Roman" panose="02020603050405020304" pitchFamily="18" charset="0"/>
              </a:rPr>
              <a:t>OR years &gt; 6</a:t>
            </a:r>
            <a:endParaRPr sz="2400" dirty="0">
              <a:latin typeface="Times New Roman" panose="02020603050405020304" pitchFamily="18" charset="0"/>
            </a:endParaRPr>
          </a:p>
          <a:p>
            <a:pPr eaLnBrk="0" hangingPunct="0"/>
            <a:r>
              <a:rPr sz="2400" dirty="0">
                <a:latin typeface="Times New Roman" panose="02020603050405020304" pitchFamily="18" charset="0"/>
              </a:rPr>
              <a:t>THEN tenured = ‘yes’ </a:t>
            </a:r>
            <a:endParaRPr sz="2400" dirty="0">
              <a:latin typeface="Times New Roman" panose="02020603050405020304" pitchFamily="18" charset="0"/>
            </a:endParaRPr>
          </a:p>
        </p:txBody>
      </p:sp>
      <p:grpSp>
        <p:nvGrpSpPr>
          <p:cNvPr id="9227" name="Group 12"/>
          <p:cNvGrpSpPr/>
          <p:nvPr/>
        </p:nvGrpSpPr>
        <p:grpSpPr>
          <a:xfrm>
            <a:off x="6478588" y="3216275"/>
            <a:ext cx="1889125" cy="1506538"/>
            <a:chOff x="4081" y="2026"/>
            <a:chExt cx="1190" cy="949"/>
          </a:xfrm>
        </p:grpSpPr>
        <p:pic>
          <p:nvPicPr>
            <p:cNvPr id="9231" name="Picture 1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081" y="2026"/>
              <a:ext cx="1190" cy="94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2" name="Rectangle 14"/>
            <p:cNvSpPr/>
            <p:nvPr/>
          </p:nvSpPr>
          <p:spPr>
            <a:xfrm>
              <a:off x="4245" y="2306"/>
              <a:ext cx="851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Classifier</a:t>
              </a:r>
              <a:endParaRPr sz="2400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(Model)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228" name="Line 15"/>
          <p:cNvSpPr/>
          <p:nvPr/>
        </p:nvSpPr>
        <p:spPr>
          <a:xfrm flipH="1">
            <a:off x="5946775" y="4621213"/>
            <a:ext cx="531813" cy="71437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9" name="Line 16"/>
          <p:cNvSpPr/>
          <p:nvPr/>
        </p:nvSpPr>
        <p:spPr>
          <a:xfrm>
            <a:off x="8369300" y="4543425"/>
            <a:ext cx="577850" cy="79057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30" name="AutoShape 17"/>
          <p:cNvSpPr/>
          <p:nvPr/>
        </p:nvSpPr>
        <p:spPr>
          <a:xfrm>
            <a:off x="7143750" y="2576513"/>
            <a:ext cx="546100" cy="592137"/>
          </a:xfrm>
          <a:prstGeom prst="downArrow">
            <a:avLst>
              <a:gd name="adj1" fmla="val 50000"/>
              <a:gd name="adj2" fmla="val 27117"/>
            </a:avLst>
          </a:prstGeom>
          <a:solidFill>
            <a:srgbClr val="2597B8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dirty="0"/>
              <a:t>Process (2): Using the Model in Prediction </a:t>
            </a:r>
            <a:endParaRPr dirty="0"/>
          </a:p>
        </p:txBody>
      </p:sp>
      <p:grpSp>
        <p:nvGrpSpPr>
          <p:cNvPr id="10244" name="Group 3"/>
          <p:cNvGrpSpPr/>
          <p:nvPr/>
        </p:nvGrpSpPr>
        <p:grpSpPr>
          <a:xfrm>
            <a:off x="4445000" y="1570038"/>
            <a:ext cx="1889125" cy="1506537"/>
            <a:chOff x="2800" y="989"/>
            <a:chExt cx="1190" cy="949"/>
          </a:xfrm>
        </p:grpSpPr>
        <p:pic>
          <p:nvPicPr>
            <p:cNvPr id="10262" name="Picture 4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800" y="989"/>
              <a:ext cx="1190" cy="94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63" name="Rectangle 5"/>
            <p:cNvSpPr/>
            <p:nvPr/>
          </p:nvSpPr>
          <p:spPr>
            <a:xfrm>
              <a:off x="2964" y="1384"/>
              <a:ext cx="8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Classifier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245" name="Group 6"/>
          <p:cNvGrpSpPr/>
          <p:nvPr/>
        </p:nvGrpSpPr>
        <p:grpSpPr>
          <a:xfrm>
            <a:off x="2157413" y="2735263"/>
            <a:ext cx="1698625" cy="1506537"/>
            <a:chOff x="1359" y="1723"/>
            <a:chExt cx="1070" cy="949"/>
          </a:xfrm>
        </p:grpSpPr>
        <p:pic>
          <p:nvPicPr>
            <p:cNvPr id="10260" name="Picture 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359" y="1723"/>
              <a:ext cx="1070" cy="94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61" name="Rectangle 8"/>
            <p:cNvSpPr/>
            <p:nvPr/>
          </p:nvSpPr>
          <p:spPr>
            <a:xfrm>
              <a:off x="1423" y="2032"/>
              <a:ext cx="934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Testing</a:t>
              </a:r>
              <a:endParaRPr sz="2400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Data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0246" name="Object 1024"/>
          <p:cNvGraphicFramePr/>
          <p:nvPr/>
        </p:nvGraphicFramePr>
        <p:xfrm>
          <a:off x="457200" y="4800600"/>
          <a:ext cx="54387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5438775" imgH="1765300" progId="Excel.Sheet.8">
                  <p:embed/>
                </p:oleObj>
              </mc:Choice>
              <mc:Fallback>
                <p:oleObj name="" r:id="rId3" imgW="5438775" imgH="1765300" progId="Excel.Sheet.8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4800600"/>
                        <a:ext cx="5438775" cy="176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Line 10"/>
          <p:cNvSpPr/>
          <p:nvPr/>
        </p:nvSpPr>
        <p:spPr>
          <a:xfrm flipH="1">
            <a:off x="427038" y="4071938"/>
            <a:ext cx="1644650" cy="700087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48" name="Line 11"/>
          <p:cNvSpPr/>
          <p:nvPr/>
        </p:nvSpPr>
        <p:spPr>
          <a:xfrm>
            <a:off x="3857625" y="4071938"/>
            <a:ext cx="2025650" cy="700087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49" name="AutoShape 12"/>
          <p:cNvSpPr/>
          <p:nvPr/>
        </p:nvSpPr>
        <p:spPr>
          <a:xfrm>
            <a:off x="7793038" y="5000625"/>
            <a:ext cx="546100" cy="592138"/>
          </a:xfrm>
          <a:prstGeom prst="downArrow">
            <a:avLst>
              <a:gd name="adj1" fmla="val 50000"/>
              <a:gd name="adj2" fmla="val 27117"/>
            </a:avLst>
          </a:prstGeom>
          <a:solidFill>
            <a:srgbClr val="2597B8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  <p:sp>
        <p:nvSpPr>
          <p:cNvPr id="10250" name="Freeform 13"/>
          <p:cNvSpPr/>
          <p:nvPr/>
        </p:nvSpPr>
        <p:spPr>
          <a:xfrm>
            <a:off x="6523038" y="2173288"/>
            <a:ext cx="941387" cy="766762"/>
          </a:xfrm>
          <a:custGeom>
            <a:avLst/>
            <a:gdLst>
              <a:gd name="txL" fmla="*/ 0 w 593"/>
              <a:gd name="txT" fmla="*/ 0 h 483"/>
              <a:gd name="txR" fmla="*/ 593 w 593"/>
              <a:gd name="txB" fmla="*/ 483 h 483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>
              <a:alpha val="100000"/>
            </a:srgbClr>
          </a:solidFill>
          <a:ln w="12700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grpSp>
        <p:nvGrpSpPr>
          <p:cNvPr id="10251" name="Group 14"/>
          <p:cNvGrpSpPr/>
          <p:nvPr/>
        </p:nvGrpSpPr>
        <p:grpSpPr>
          <a:xfrm>
            <a:off x="6646863" y="3187700"/>
            <a:ext cx="1781175" cy="815975"/>
            <a:chOff x="4187" y="2008"/>
            <a:chExt cx="1122" cy="514"/>
          </a:xfrm>
        </p:grpSpPr>
        <p:pic>
          <p:nvPicPr>
            <p:cNvPr id="10258" name="Picture 15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187" y="2008"/>
              <a:ext cx="1122" cy="5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59" name="Rectangle 16"/>
            <p:cNvSpPr/>
            <p:nvPr/>
          </p:nvSpPr>
          <p:spPr>
            <a:xfrm>
              <a:off x="4251" y="2180"/>
              <a:ext cx="98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Unseen Data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252" name="Rectangle 17"/>
          <p:cNvSpPr/>
          <p:nvPr/>
        </p:nvSpPr>
        <p:spPr>
          <a:xfrm>
            <a:off x="6305550" y="4262438"/>
            <a:ext cx="2454275" cy="457200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ctr" eaLnBrk="0" hangingPunct="0"/>
            <a:r>
              <a:rPr sz="2400" dirty="0">
                <a:latin typeface="Times New Roman" panose="02020603050405020304" pitchFamily="18" charset="0"/>
              </a:rPr>
              <a:t>(Jeff, Professor, 4)</a:t>
            </a: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10253" name="Line 18"/>
          <p:cNvSpPr/>
          <p:nvPr/>
        </p:nvSpPr>
        <p:spPr>
          <a:xfrm flipH="1">
            <a:off x="6167438" y="3903663"/>
            <a:ext cx="471487" cy="3937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4" name="Line 19"/>
          <p:cNvSpPr/>
          <p:nvPr/>
        </p:nvSpPr>
        <p:spPr>
          <a:xfrm>
            <a:off x="8448675" y="3903663"/>
            <a:ext cx="363538" cy="34925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5" name="Freeform 20"/>
          <p:cNvSpPr/>
          <p:nvPr/>
        </p:nvSpPr>
        <p:spPr>
          <a:xfrm>
            <a:off x="3360738" y="2032000"/>
            <a:ext cx="901700" cy="593725"/>
          </a:xfrm>
          <a:custGeom>
            <a:avLst/>
            <a:gdLst>
              <a:gd name="txL" fmla="*/ 0 w 568"/>
              <a:gd name="txT" fmla="*/ 0 h 374"/>
              <a:gd name="txR" fmla="*/ 568 w 568"/>
              <a:gd name="txB" fmla="*/ 374 h 374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>
              <a:alpha val="100000"/>
            </a:srgbClr>
          </a:solidFill>
          <a:ln w="12700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pic>
        <p:nvPicPr>
          <p:cNvPr id="10256" name="Picture 21"/>
          <p:cNvPicPr/>
          <p:nvPr/>
        </p:nvPicPr>
        <p:blipFill>
          <a:blip r:embed="rId6"/>
          <a:stretch>
            <a:fillRect/>
          </a:stretch>
        </p:blipFill>
        <p:spPr>
          <a:xfrm>
            <a:off x="7720013" y="5738813"/>
            <a:ext cx="720725" cy="628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7" name="Rectangle 22"/>
          <p:cNvSpPr/>
          <p:nvPr/>
        </p:nvSpPr>
        <p:spPr>
          <a:xfrm>
            <a:off x="6221413" y="4959350"/>
            <a:ext cx="1525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ctr" eaLnBrk="0" hangingPunct="0"/>
            <a:r>
              <a:rPr sz="2800" dirty="0">
                <a:latin typeface="Times New Roman" panose="02020603050405020304" pitchFamily="18" charset="0"/>
              </a:rPr>
              <a:t>Tenured?</a:t>
            </a:r>
            <a:endParaRPr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Slide Number Placeholder 6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400" b="1" dirty="0">
                <a:latin typeface="Calibri" panose="020F0502020204030204" pitchFamily="34" charset="0"/>
              </a:rPr>
            </a:fld>
            <a:endParaRPr lang="en-US" sz="1400" b="1" dirty="0">
              <a:latin typeface="Calibri" panose="020F0502020204030204" pitchFamily="34" charset="0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Chapter 8. Classification: Basic Concepts</a:t>
            </a:r>
            <a:endParaRPr dirty="0"/>
          </a:p>
        </p:txBody>
      </p:sp>
      <p:sp>
        <p:nvSpPr>
          <p:cNvPr id="1126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</p:spPr>
        <p:txBody>
          <a:bodyPr vert="horz" wrap="square" lIns="92075" tIns="46038" rIns="92075" bIns="46038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lnSpc>
                <a:spcPct val="130000"/>
              </a:lnSpc>
            </a:pPr>
            <a:r>
              <a:rPr sz="2800" dirty="0"/>
              <a:t>Classification: Basic Concepts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Decision Tree Induction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Bayes Classification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Rule-Based Classification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Model Evaluation and Selection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Techniques to Improve Classification Accuracy: Ensemble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Summary</a:t>
            </a:r>
            <a:endParaRPr sz="2800" dirty="0"/>
          </a:p>
        </p:txBody>
      </p:sp>
      <p:sp>
        <p:nvSpPr>
          <p:cNvPr id="11269" name="AutoShape 8"/>
          <p:cNvSpPr/>
          <p:nvPr/>
        </p:nvSpPr>
        <p:spPr>
          <a:xfrm rot="9803581">
            <a:off x="4572000" y="21336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Slide Number Placeholder 4"/>
          <p:cNvSpPr txBox="1">
            <a:spLocks noGrp="1"/>
          </p:cNvSpPr>
          <p:nvPr>
            <p:ph type="sldNum" sz="quarter" idx="10"/>
          </p:nvPr>
        </p:nvSpPr>
        <p:spPr>
          <a:xfrm>
            <a:off x="7248525" y="6477000"/>
            <a:ext cx="1905000" cy="3810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dirty="0">
                <a:solidFill>
                  <a:srgbClr val="170981"/>
                </a:solidFill>
              </a:rPr>
              <a:t>Decision Tree Induction: An Example</a:t>
            </a:r>
            <a:endParaRPr i="1" dirty="0">
              <a:solidFill>
                <a:srgbClr val="170981"/>
              </a:solidFill>
            </a:endParaRPr>
          </a:p>
        </p:txBody>
      </p:sp>
      <p:grpSp>
        <p:nvGrpSpPr>
          <p:cNvPr id="12292" name="Group 63"/>
          <p:cNvGrpSpPr/>
          <p:nvPr/>
        </p:nvGrpSpPr>
        <p:grpSpPr>
          <a:xfrm>
            <a:off x="95250" y="2819400"/>
            <a:ext cx="6305550" cy="3810000"/>
            <a:chOff x="768" y="1152"/>
            <a:chExt cx="3972" cy="2400"/>
          </a:xfrm>
        </p:grpSpPr>
        <p:sp>
          <p:nvSpPr>
            <p:cNvPr id="12295" name="Rectangle 3"/>
            <p:cNvSpPr/>
            <p:nvPr/>
          </p:nvSpPr>
          <p:spPr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age?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6" name="Rectangle 4"/>
            <p:cNvSpPr/>
            <p:nvPr/>
          </p:nvSpPr>
          <p:spPr>
            <a:xfrm>
              <a:off x="2245" y="1766"/>
              <a:ext cx="7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overcast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7" name="Rectangle 5"/>
            <p:cNvSpPr/>
            <p:nvPr/>
          </p:nvSpPr>
          <p:spPr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student?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8" name="Rectangle 6"/>
            <p:cNvSpPr/>
            <p:nvPr/>
          </p:nvSpPr>
          <p:spPr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credit rating?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9" name="Line 11"/>
            <p:cNvSpPr/>
            <p:nvPr/>
          </p:nvSpPr>
          <p:spPr>
            <a:xfrm flipH="1">
              <a:off x="1619" y="1462"/>
              <a:ext cx="625" cy="83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0" name="Line 12"/>
            <p:cNvSpPr/>
            <p:nvPr/>
          </p:nvSpPr>
          <p:spPr>
            <a:xfrm flipH="1">
              <a:off x="2622" y="1491"/>
              <a:ext cx="1" cy="3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1" name="Line 13"/>
            <p:cNvSpPr/>
            <p:nvPr/>
          </p:nvSpPr>
          <p:spPr>
            <a:xfrm>
              <a:off x="2928" y="1440"/>
              <a:ext cx="1051" cy="89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2" name="Rectangle 14"/>
            <p:cNvSpPr/>
            <p:nvPr/>
          </p:nvSpPr>
          <p:spPr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b="1" dirty="0">
                  <a:latin typeface="Times New Roman" panose="02020603050405020304" pitchFamily="18" charset="0"/>
                </a:rPr>
                <a:t>&lt;=30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3" name="Rectangle 15"/>
            <p:cNvSpPr/>
            <p:nvPr/>
          </p:nvSpPr>
          <p:spPr>
            <a:xfrm>
              <a:off x="3364" y="1804"/>
              <a:ext cx="417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b="1" dirty="0">
                  <a:latin typeface="Times New Roman" panose="02020603050405020304" pitchFamily="18" charset="0"/>
                </a:rPr>
                <a:t>&gt;40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4" name="Line 16"/>
            <p:cNvSpPr/>
            <p:nvPr/>
          </p:nvSpPr>
          <p:spPr>
            <a:xfrm flipH="1">
              <a:off x="960" y="2640"/>
              <a:ext cx="528" cy="62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5" name="Line 17"/>
            <p:cNvSpPr/>
            <p:nvPr/>
          </p:nvSpPr>
          <p:spPr>
            <a:xfrm>
              <a:off x="1728" y="2640"/>
              <a:ext cx="480" cy="62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6" name="Line 18"/>
            <p:cNvSpPr/>
            <p:nvPr/>
          </p:nvSpPr>
          <p:spPr>
            <a:xfrm flipH="1">
              <a:off x="3360" y="2640"/>
              <a:ext cx="480" cy="57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7" name="Line 19"/>
            <p:cNvSpPr/>
            <p:nvPr/>
          </p:nvSpPr>
          <p:spPr>
            <a:xfrm>
              <a:off x="4128" y="2640"/>
              <a:ext cx="432" cy="57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8" name="Line 24"/>
            <p:cNvSpPr/>
            <p:nvPr/>
          </p:nvSpPr>
          <p:spPr>
            <a:xfrm>
              <a:off x="2623" y="2029"/>
              <a:ext cx="0" cy="277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9" name="Rectangle 25"/>
            <p:cNvSpPr/>
            <p:nvPr/>
          </p:nvSpPr>
          <p:spPr>
            <a:xfrm>
              <a:off x="768" y="3264"/>
              <a:ext cx="308" cy="288"/>
            </a:xfrm>
            <a:prstGeom prst="rect">
              <a:avLst/>
            </a:prstGeom>
            <a:solidFill>
              <a:srgbClr val="FFCC99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no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0" name="Rectangle 27"/>
            <p:cNvSpPr/>
            <p:nvPr/>
          </p:nvSpPr>
          <p:spPr>
            <a:xfrm>
              <a:off x="2028" y="3264"/>
              <a:ext cx="372" cy="288"/>
            </a:xfrm>
            <a:prstGeom prst="rect">
              <a:avLst/>
            </a:prstGeom>
            <a:solidFill>
              <a:srgbClr val="00FF00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yes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1" name="Rectangle 28"/>
            <p:cNvSpPr/>
            <p:nvPr/>
          </p:nvSpPr>
          <p:spPr>
            <a:xfrm>
              <a:off x="4368" y="3216"/>
              <a:ext cx="372" cy="288"/>
            </a:xfrm>
            <a:prstGeom prst="rect">
              <a:avLst/>
            </a:prstGeom>
            <a:solidFill>
              <a:srgbClr val="00FF00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yes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2" name="Rectangle 29"/>
            <p:cNvSpPr/>
            <p:nvPr/>
          </p:nvSpPr>
          <p:spPr>
            <a:xfrm>
              <a:off x="2437" y="2344"/>
              <a:ext cx="372" cy="288"/>
            </a:xfrm>
            <a:prstGeom prst="rect">
              <a:avLst/>
            </a:prstGeom>
            <a:solidFill>
              <a:srgbClr val="00FF00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yes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3" name="Rectangle 30"/>
            <p:cNvSpPr/>
            <p:nvPr/>
          </p:nvSpPr>
          <p:spPr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txBody>
            <a:bodyPr wrap="none" anchor="ctr" anchorCtr="0"/>
            <a:p>
              <a:pPr algn="ctr" eaLnBrk="0" hangingPunct="0"/>
              <a:r>
                <a:rPr sz="2000" b="1" dirty="0">
                  <a:latin typeface="Times New Roman" panose="02020603050405020304" pitchFamily="18" charset="0"/>
                </a:rPr>
                <a:t>31..40</a:t>
              </a:r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2314" name="Rectangle 62"/>
            <p:cNvSpPr/>
            <p:nvPr/>
          </p:nvSpPr>
          <p:spPr>
            <a:xfrm rot="-143156">
              <a:off x="3168" y="3216"/>
              <a:ext cx="308" cy="288"/>
            </a:xfrm>
            <a:prstGeom prst="rect">
              <a:avLst/>
            </a:prstGeom>
            <a:solidFill>
              <a:srgbClr val="FFCC99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no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5" name="Rectangle 9"/>
            <p:cNvSpPr/>
            <p:nvPr/>
          </p:nvSpPr>
          <p:spPr>
            <a:xfrm>
              <a:off x="4176" y="2784"/>
              <a:ext cx="382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fair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6" name="Rectangle 10"/>
            <p:cNvSpPr/>
            <p:nvPr/>
          </p:nvSpPr>
          <p:spPr>
            <a:xfrm>
              <a:off x="3072" y="2784"/>
              <a:ext cx="807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excellent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Rectangle 8"/>
            <p:cNvSpPr/>
            <p:nvPr/>
          </p:nvSpPr>
          <p:spPr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yes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8" name="Rectangle 7"/>
            <p:cNvSpPr/>
            <p:nvPr/>
          </p:nvSpPr>
          <p:spPr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lIns="92075" tIns="46038" rIns="92075" bIns="46038">
              <a:spAutoFit/>
            </a:bodyPr>
            <a:p>
              <a:pPr algn="ctr" eaLnBrk="0" hangingPunct="0"/>
              <a:r>
                <a:rPr sz="2400" dirty="0">
                  <a:latin typeface="Times New Roman" panose="02020603050405020304" pitchFamily="18" charset="0"/>
                </a:rPr>
                <a:t>no</a:t>
              </a:r>
              <a:endParaRPr sz="24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2293" name="Object 1024"/>
          <p:cNvGraphicFramePr/>
          <p:nvPr/>
        </p:nvGraphicFramePr>
        <p:xfrm>
          <a:off x="5192713" y="1143000"/>
          <a:ext cx="395128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441315" imgH="4204335" progId="Excel.Sheet.8">
                  <p:embed/>
                </p:oleObj>
              </mc:Choice>
              <mc:Fallback>
                <p:oleObj name="" r:id="rId1" imgW="5441315" imgH="4204335" progId="Excel.Sheet.8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92713" y="1143000"/>
                        <a:ext cx="3951287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1"/>
          <p:cNvSpPr/>
          <p:nvPr/>
        </p:nvSpPr>
        <p:spPr>
          <a:xfrm>
            <a:off x="152400" y="1371600"/>
            <a:ext cx="5173663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sz="2400" dirty="0">
                <a:latin typeface="Calibri" panose="020F0502020204030204" pitchFamily="34" charset="0"/>
              </a:rPr>
              <a:t>Training data set: Buys_computer</a:t>
            </a:r>
            <a:endParaRPr sz="2400" dirty="0">
              <a:latin typeface="Calibri" panose="020F0502020204030204" pitchFamily="34" charset="0"/>
            </a:endParaRPr>
          </a:p>
          <a:p>
            <a:pPr marL="285750" indent="-285750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sz="2400" dirty="0">
                <a:latin typeface="Calibri" panose="020F0502020204030204" pitchFamily="34" charset="0"/>
              </a:rPr>
              <a:t>The data set follows an example of Quinlan’s ID3 (Playing Tennis)</a:t>
            </a:r>
            <a:endParaRPr sz="2400" dirty="0">
              <a:latin typeface="Calibri" panose="020F0502020204030204" pitchFamily="34" charset="0"/>
            </a:endParaRPr>
          </a:p>
          <a:p>
            <a:pPr marL="285750" indent="-285750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sz="2400" dirty="0">
                <a:latin typeface="Calibri" panose="020F0502020204030204" pitchFamily="34" charset="0"/>
              </a:rPr>
              <a:t>Resulting tree:</a:t>
            </a:r>
            <a:endParaRPr sz="2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3315" name="Rectangle 1026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Algorithm for Decision Tree Induction</a:t>
            </a:r>
            <a:endParaRPr dirty="0"/>
          </a:p>
        </p:txBody>
      </p:sp>
      <p:sp>
        <p:nvSpPr>
          <p:cNvPr id="13316" name="Rectangle 1027"/>
          <p:cNvSpPr>
            <a:spLocks noGrp="1"/>
          </p:cNvSpPr>
          <p:nvPr>
            <p:ph idx="1"/>
          </p:nvPr>
        </p:nvSpPr>
        <p:spPr>
          <a:xfrm>
            <a:off x="304800" y="1219200"/>
            <a:ext cx="8763000" cy="55626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sz="2400" dirty="0"/>
              <a:t>Basic algorithm (a greedy algorithm)</a:t>
            </a:r>
            <a:endParaRPr sz="2400" dirty="0"/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Tree is constructed in a </a:t>
            </a:r>
            <a:r>
              <a:rPr sz="2400" dirty="0">
                <a:solidFill>
                  <a:schemeClr val="hlink"/>
                </a:solidFill>
              </a:rPr>
              <a:t>top-down recursive divide-and-conquer manner</a:t>
            </a:r>
            <a:endParaRPr sz="2400" dirty="0">
              <a:solidFill>
                <a:schemeClr val="hlink"/>
              </a:solidFill>
            </a:endParaRPr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At start, all the training examples are at the root</a:t>
            </a:r>
            <a:endParaRPr sz="2400" dirty="0"/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Attributes are categorical (if continuous-valued, they are discretized in advance)</a:t>
            </a:r>
            <a:endParaRPr sz="2400" dirty="0"/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Examples are partitioned recursively based on selected attributes</a:t>
            </a:r>
            <a:endParaRPr sz="2400" dirty="0"/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Test attributes are selected on the basis of a heuristic or statistical measure (e.g., </a:t>
            </a:r>
            <a:r>
              <a:rPr sz="2400" dirty="0">
                <a:solidFill>
                  <a:schemeClr val="hlink"/>
                </a:solidFill>
              </a:rPr>
              <a:t>information gain</a:t>
            </a:r>
            <a:r>
              <a:rPr sz="2400" dirty="0"/>
              <a:t>)</a:t>
            </a:r>
            <a:endParaRPr sz="2400" dirty="0"/>
          </a:p>
          <a:p>
            <a:pPr eaLnBrk="1" hangingPunct="1">
              <a:spcBef>
                <a:spcPct val="0"/>
              </a:spcBef>
            </a:pPr>
            <a:r>
              <a:rPr sz="2400" dirty="0"/>
              <a:t>Conditions for stopping partitioning</a:t>
            </a:r>
            <a:endParaRPr sz="2400" dirty="0"/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All samples for a given node belong to the same class</a:t>
            </a:r>
            <a:endParaRPr sz="2400" dirty="0"/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There are no remaining attributes for further partitioning – </a:t>
            </a:r>
            <a:r>
              <a:rPr sz="2400" dirty="0">
                <a:solidFill>
                  <a:schemeClr val="hlink"/>
                </a:solidFill>
              </a:rPr>
              <a:t>majority voting</a:t>
            </a:r>
            <a:r>
              <a:rPr sz="2400" dirty="0"/>
              <a:t> is employed for classifying the leaf</a:t>
            </a:r>
            <a:endParaRPr sz="2400" dirty="0"/>
          </a:p>
          <a:p>
            <a:pPr lvl="1" eaLnBrk="1" hangingPunct="1">
              <a:spcBef>
                <a:spcPct val="0"/>
              </a:spcBef>
            </a:pPr>
            <a:r>
              <a:rPr sz="2400" dirty="0"/>
              <a:t>There are no samples left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dirty="0"/>
              <a:t>Brief Review of Entropy</a:t>
            </a:r>
            <a:endParaRPr dirty="0"/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blipFill rotWithShape="1">
            <a:blip r:embed="rId1" cstate="print"/>
            <a:stretch>
              <a:fillRect l="-288" t="-1043" r="-1513"/>
            </a:stretch>
          </a:blipFill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noFill/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4340" name="Slide Number Placeholder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4341" name="Picture 2" descr="http://upload.wikimedia.org/wikipedia/commons/thumb/2/22/Binary_entropy_plot.svg/200px-Binary_entropy_plo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4191000"/>
            <a:ext cx="1905000" cy="1838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2" name="TextBox 4"/>
          <p:cNvSpPr txBox="1"/>
          <p:nvPr/>
        </p:nvSpPr>
        <p:spPr>
          <a:xfrm>
            <a:off x="7162800" y="6096000"/>
            <a:ext cx="801688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1600" b="1" dirty="0">
                <a:latin typeface="Tahoma" panose="020B0604030504040204" pitchFamily="34" charset="0"/>
              </a:rPr>
              <a:t>m = 2</a:t>
            </a:r>
            <a:endParaRPr sz="16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Slide Number Placeholder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5363" name="Rectangle 2"/>
          <p:cNvSpPr/>
          <p:nvPr/>
        </p:nvSpPr>
        <p:spPr>
          <a:xfrm>
            <a:off x="381000" y="76200"/>
            <a:ext cx="8229600" cy="1066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/>
            <a:r>
              <a:rPr sz="3600" b="1" dirty="0">
                <a:solidFill>
                  <a:schemeClr val="tx2"/>
                </a:solidFill>
                <a:latin typeface="Berlin Sans FB Demi" panose="020E0802020502020306" pitchFamily="34" charset="0"/>
              </a:rPr>
              <a:t>Attribute Selection Measure: Information Gain (ID3/C4.5)</a:t>
            </a:r>
            <a:endParaRPr sz="3600" b="1" dirty="0">
              <a:solidFill>
                <a:schemeClr val="tx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364" name="Rectangle 3"/>
          <p:cNvSpPr/>
          <p:nvPr/>
        </p:nvSpPr>
        <p:spPr>
          <a:xfrm>
            <a:off x="304800" y="1524000"/>
            <a:ext cx="84582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Select the attribute with the highest information gain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Let </a:t>
            </a:r>
            <a:r>
              <a:rPr sz="2400" i="1" dirty="0">
                <a:latin typeface="Calibri" panose="020F0502020204030204" pitchFamily="34" charset="0"/>
              </a:rPr>
              <a:t>p</a:t>
            </a:r>
            <a:r>
              <a:rPr sz="2400" i="1" baseline="-25000" dirty="0">
                <a:latin typeface="Calibri" panose="020F0502020204030204" pitchFamily="34" charset="0"/>
              </a:rPr>
              <a:t>i</a:t>
            </a:r>
            <a:r>
              <a:rPr sz="2400" dirty="0">
                <a:latin typeface="Calibri" panose="020F0502020204030204" pitchFamily="34" charset="0"/>
              </a:rPr>
              <a:t> be the probability that an arbitrary tuple in D belongs to class C</a:t>
            </a:r>
            <a:r>
              <a:rPr sz="2400" baseline="-25000" dirty="0">
                <a:latin typeface="Calibri" panose="020F0502020204030204" pitchFamily="34" charset="0"/>
              </a:rPr>
              <a:t>i</a:t>
            </a:r>
            <a:r>
              <a:rPr sz="2400" dirty="0">
                <a:latin typeface="Calibri" panose="020F0502020204030204" pitchFamily="34" charset="0"/>
              </a:rPr>
              <a:t>, estimated by |C</a:t>
            </a:r>
            <a:r>
              <a:rPr sz="2400" i="1" baseline="-25000" dirty="0">
                <a:latin typeface="Calibri" panose="020F0502020204030204" pitchFamily="34" charset="0"/>
              </a:rPr>
              <a:t>i</a:t>
            </a:r>
            <a:r>
              <a:rPr sz="2400" baseline="-25000" dirty="0">
                <a:latin typeface="Calibri" panose="020F0502020204030204" pitchFamily="34" charset="0"/>
              </a:rPr>
              <a:t>, D</a:t>
            </a:r>
            <a:r>
              <a:rPr sz="2400" dirty="0">
                <a:latin typeface="Calibri" panose="020F0502020204030204" pitchFamily="34" charset="0"/>
              </a:rPr>
              <a:t>|/|D|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solidFill>
                  <a:schemeClr val="hlink"/>
                </a:solidFill>
                <a:latin typeface="Calibri" panose="020F0502020204030204" pitchFamily="34" charset="0"/>
              </a:rPr>
              <a:t>Expected information</a:t>
            </a:r>
            <a:r>
              <a:rPr sz="2400" dirty="0">
                <a:latin typeface="Calibri" panose="020F0502020204030204" pitchFamily="34" charset="0"/>
              </a:rPr>
              <a:t> (entropy) needed to classify a tuple in D: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solidFill>
                  <a:schemeClr val="hlink"/>
                </a:solidFill>
                <a:latin typeface="Calibri" panose="020F0502020204030204" pitchFamily="34" charset="0"/>
              </a:rPr>
              <a:t>Information</a:t>
            </a:r>
            <a:r>
              <a:rPr sz="2400" dirty="0">
                <a:latin typeface="Calibri" panose="020F0502020204030204" pitchFamily="34" charset="0"/>
              </a:rPr>
              <a:t> needed (after using A to split D into v partitions) to classify D: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solidFill>
                  <a:schemeClr val="hlink"/>
                </a:solidFill>
                <a:latin typeface="Calibri" panose="020F0502020204030204" pitchFamily="34" charset="0"/>
              </a:rPr>
              <a:t>Information gained</a:t>
            </a:r>
            <a:r>
              <a:rPr sz="2400" dirty="0">
                <a:latin typeface="Calibri" panose="020F0502020204030204" pitchFamily="34" charset="0"/>
              </a:rPr>
              <a:t> by branching on attribute A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4530725" y="3200400"/>
          <a:ext cx="33178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612900" imgH="431800" progId="Equation.3">
                  <p:embed/>
                </p:oleObj>
              </mc:Choice>
              <mc:Fallback>
                <p:oleObj name="" r:id="rId1" imgW="1612900" imgH="431800" progId="Equation.3">
                  <p:embed/>
                  <p:pic>
                    <p:nvPicPr>
                      <p:cNvPr id="0" name="Picture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30725" y="3200400"/>
                        <a:ext cx="3317875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/>
          <p:cNvGraphicFramePr>
            <a:graphicFrameLocks noChangeAspect="1"/>
          </p:cNvGraphicFramePr>
          <p:nvPr/>
        </p:nvGraphicFramePr>
        <p:xfrm>
          <a:off x="4419600" y="4343400"/>
          <a:ext cx="4495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892300" imgH="457200" progId="Equation.3">
                  <p:embed/>
                </p:oleObj>
              </mc:Choice>
              <mc:Fallback>
                <p:oleObj name="" r:id="rId3" imgW="1892300" imgH="457200" progId="Equation.3">
                  <p:embed/>
                  <p:pic>
                    <p:nvPicPr>
                      <p:cNvPr id="0" name="Picture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9600" y="4343400"/>
                        <a:ext cx="449580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/>
          <p:cNvGraphicFramePr>
            <a:graphicFrameLocks noChangeAspect="1"/>
          </p:cNvGraphicFramePr>
          <p:nvPr/>
        </p:nvGraphicFramePr>
        <p:xfrm>
          <a:off x="3868738" y="5822950"/>
          <a:ext cx="45894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1790700" imgH="215900" progId="Equation.3">
                  <p:embed/>
                </p:oleObj>
              </mc:Choice>
              <mc:Fallback>
                <p:oleObj name="" r:id="rId5" imgW="1790700" imgH="215900" progId="Equation.3">
                  <p:embed/>
                  <p:pic>
                    <p:nvPicPr>
                      <p:cNvPr id="0" name="Picture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8738" y="5822950"/>
                        <a:ext cx="4589462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Slide Number Placeholder 6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Attribute Selection: Information Gain</a:t>
            </a:r>
            <a:endParaRPr dirty="0"/>
          </a:p>
        </p:txBody>
      </p:sp>
      <p:sp>
        <p:nvSpPr>
          <p:cNvPr id="16388" name="Rectangle 3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1600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sz="2000" dirty="0">
                <a:solidFill>
                  <a:srgbClr val="121328"/>
                </a:solidFill>
                <a:latin typeface="Calibri" panose="020F0502020204030204" pitchFamily="34" charset="0"/>
                <a:ea typeface="+mn-ea"/>
                <a:cs typeface="+mn-cs"/>
              </a:rPr>
              <a:t>Class P: buys_computer = “yes”</a:t>
            </a:r>
            <a:endParaRPr sz="2000" dirty="0">
              <a:solidFill>
                <a:srgbClr val="121328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sz="2000" dirty="0">
                <a:solidFill>
                  <a:srgbClr val="121328"/>
                </a:solidFill>
                <a:latin typeface="Calibri" panose="020F0502020204030204" pitchFamily="34" charset="0"/>
                <a:ea typeface="+mn-ea"/>
                <a:cs typeface="+mn-cs"/>
              </a:rPr>
              <a:t>Class N: buys_computer = “no”</a:t>
            </a:r>
            <a:endParaRPr sz="2000" dirty="0"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389" name="Rectangle 4"/>
          <p:cNvSpPr>
            <a:spLocks noGrp="1"/>
          </p:cNvSpPr>
          <p:nvPr>
            <p:ph sz="half" idx="2"/>
          </p:nvPr>
        </p:nvSpPr>
        <p:spPr>
          <a:xfrm>
            <a:off x="4724400" y="2743200"/>
            <a:ext cx="4152900" cy="2209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SzPct val="60000"/>
              <a:buFont typeface="Wingdings" panose="05000000000000000000" pitchFamily="2" charset="2"/>
              <a:buNone/>
            </a:pPr>
            <a:r>
              <a:rPr sz="2000" dirty="0">
                <a:solidFill>
                  <a:srgbClr val="121328"/>
                </a:solidFill>
                <a:latin typeface="Calibri" panose="020F0502020204030204" pitchFamily="34" charset="0"/>
                <a:ea typeface="+mn-ea"/>
                <a:cs typeface="+mn-cs"/>
              </a:rPr>
              <a:t>            means “age &lt;=30” has 5 out of 14 samples, with 2 yes’es  and 3 no’s.   Hence</a:t>
            </a:r>
            <a:endParaRPr sz="2000" dirty="0">
              <a:latin typeface="Calibri" panose="020F0502020204030204" pitchFamily="3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60000"/>
              <a:buFont typeface="Wingdings 2" panose="05020102010507070707" pitchFamily="18" charset="2"/>
              <a:buNone/>
            </a:pPr>
            <a:endParaRPr sz="2000" dirty="0">
              <a:latin typeface="Calibri" panose="020F0502020204030204" pitchFamily="3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60000"/>
              <a:buFont typeface="Wingdings 2" panose="05020102010507070707" pitchFamily="18" charset="2"/>
              <a:buNone/>
            </a:pPr>
            <a:endParaRPr sz="2000" dirty="0">
              <a:solidFill>
                <a:srgbClr val="121328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60000"/>
              <a:buFont typeface="Wingdings 2" panose="05020102010507070707" pitchFamily="18" charset="2"/>
              <a:buNone/>
            </a:pPr>
            <a:r>
              <a:rPr sz="2000" dirty="0">
                <a:solidFill>
                  <a:srgbClr val="121328"/>
                </a:solidFill>
                <a:latin typeface="Calibri" panose="020F0502020204030204" pitchFamily="34" charset="0"/>
                <a:ea typeface="+mn-ea"/>
                <a:cs typeface="+mn-cs"/>
              </a:rPr>
              <a:t>Similarly,</a:t>
            </a:r>
            <a:endParaRPr sz="2000" dirty="0">
              <a:solidFill>
                <a:srgbClr val="121328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6390" name="Object 5"/>
          <p:cNvGraphicFramePr>
            <a:graphicFrameLocks noChangeAspect="1"/>
          </p:cNvGraphicFramePr>
          <p:nvPr/>
        </p:nvGraphicFramePr>
        <p:xfrm>
          <a:off x="762000" y="2590800"/>
          <a:ext cx="33543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164840" imgH="1362710" progId="Excel.Sheet.8">
                  <p:embed/>
                </p:oleObj>
              </mc:Choice>
              <mc:Fallback>
                <p:oleObj name="" r:id="rId1" imgW="3164840" imgH="1362710" progId="Excel.Sheet.8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2590800"/>
                        <a:ext cx="3354388" cy="1439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/>
          <p:cNvGraphicFramePr>
            <a:graphicFrameLocks noChangeAspect="1"/>
          </p:cNvGraphicFramePr>
          <p:nvPr/>
        </p:nvGraphicFramePr>
        <p:xfrm>
          <a:off x="4876800" y="1295400"/>
          <a:ext cx="37544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044700" imgH="812800" progId="Equation.3">
                  <p:embed/>
                </p:oleObj>
              </mc:Choice>
              <mc:Fallback>
                <p:oleObj name="" r:id="rId3" imgW="2044700" imgH="812800" progId="Equation.3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00" y="1295400"/>
                        <a:ext cx="3754438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7"/>
          <p:cNvGraphicFramePr>
            <a:graphicFrameLocks noChangeAspect="1"/>
          </p:cNvGraphicFramePr>
          <p:nvPr/>
        </p:nvGraphicFramePr>
        <p:xfrm>
          <a:off x="5029200" y="5257800"/>
          <a:ext cx="3594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3594100" imgH="1193800" progId="Equation.3">
                  <p:embed/>
                </p:oleObj>
              </mc:Choice>
              <mc:Fallback>
                <p:oleObj name="" r:id="rId5" imgW="3594100" imgH="1193800" progId="Equation.3">
                  <p:embed/>
                  <p:pic>
                    <p:nvPicPr>
                      <p:cNvPr id="0" name="Picture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9200" y="5257800"/>
                        <a:ext cx="3594100" cy="119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8"/>
          <p:cNvGraphicFramePr>
            <a:graphicFrameLocks noChangeAspect="1"/>
          </p:cNvGraphicFramePr>
          <p:nvPr/>
        </p:nvGraphicFramePr>
        <p:xfrm>
          <a:off x="4724400" y="4114800"/>
          <a:ext cx="42719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2552700" imgH="241300" progId="Equation.3">
                  <p:embed/>
                </p:oleObj>
              </mc:Choice>
              <mc:Fallback>
                <p:oleObj name="" r:id="rId7" imgW="2552700" imgH="241300" progId="Equation.3">
                  <p:embed/>
                  <p:pic>
                    <p:nvPicPr>
                      <p:cNvPr id="0" name="Picture 30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24400" y="4114800"/>
                        <a:ext cx="4271963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9"/>
          <p:cNvGraphicFramePr/>
          <p:nvPr/>
        </p:nvGraphicFramePr>
        <p:xfrm>
          <a:off x="152400" y="4114800"/>
          <a:ext cx="4419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9" imgW="5764530" imgH="4204335" progId="Excel.Sheet.8">
                  <p:embed/>
                </p:oleObj>
              </mc:Choice>
              <mc:Fallback>
                <p:oleObj name="" r:id="rId9" imgW="5764530" imgH="4204335" progId="Excel.Sheet.8">
                  <p:embed/>
                  <p:pic>
                    <p:nvPicPr>
                      <p:cNvPr id="0" name="Picture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400" y="4114800"/>
                        <a:ext cx="4419600" cy="266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0"/>
          <p:cNvGraphicFramePr>
            <a:graphicFrameLocks noChangeAspect="1"/>
          </p:cNvGraphicFramePr>
          <p:nvPr/>
        </p:nvGraphicFramePr>
        <p:xfrm>
          <a:off x="4495800" y="2743200"/>
          <a:ext cx="10731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1" imgW="584200" imgH="393700" progId="Equation.3">
                  <p:embed/>
                </p:oleObj>
              </mc:Choice>
              <mc:Fallback>
                <p:oleObj name="" r:id="rId11" imgW="584200" imgH="393700" progId="Equation.3">
                  <p:embed/>
                  <p:pic>
                    <p:nvPicPr>
                      <p:cNvPr id="0" name="Picture 30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95800" y="2743200"/>
                        <a:ext cx="1073150" cy="665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1"/>
          <p:cNvGraphicFramePr>
            <a:graphicFrameLocks noChangeAspect="1"/>
          </p:cNvGraphicFramePr>
          <p:nvPr/>
        </p:nvGraphicFramePr>
        <p:xfrm>
          <a:off x="76200" y="2057400"/>
          <a:ext cx="4800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3" imgW="3314700" imgH="393700" progId="Equation.3">
                  <p:embed/>
                </p:oleObj>
              </mc:Choice>
              <mc:Fallback>
                <p:oleObj name="" r:id="rId13" imgW="3314700" imgH="393700" progId="Equation.3">
                  <p:embed/>
                  <p:pic>
                    <p:nvPicPr>
                      <p:cNvPr id="0" name="Picture 30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200" y="2057400"/>
                        <a:ext cx="480060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533400" y="152400"/>
            <a:ext cx="81534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Computing Information-Gain for Continuous-Valued Attributes</a:t>
            </a:r>
            <a:endParaRPr i="1" dirty="0">
              <a:solidFill>
                <a:srgbClr val="CC0000"/>
              </a:solidFill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2736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sz="2400" dirty="0"/>
              <a:t>Let attribute A be a continuous-valued attribute</a:t>
            </a:r>
            <a:endParaRPr sz="2400" dirty="0"/>
          </a:p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sz="2400" dirty="0"/>
              <a:t>Must determine the </a:t>
            </a:r>
            <a:r>
              <a:rPr sz="2400" i="1" dirty="0">
                <a:solidFill>
                  <a:schemeClr val="hlink"/>
                </a:solidFill>
              </a:rPr>
              <a:t>best split point</a:t>
            </a:r>
            <a:r>
              <a:rPr sz="2400" dirty="0"/>
              <a:t> for A</a:t>
            </a:r>
            <a:endParaRPr sz="2400" dirty="0"/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sz="2400" dirty="0"/>
              <a:t>Sort the value A in increasing order</a:t>
            </a:r>
            <a:endParaRPr sz="2400" dirty="0"/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sz="2400" dirty="0"/>
              <a:t>Typically, the midpoint between each pair of adjacent values is considered as a possible </a:t>
            </a:r>
            <a:r>
              <a:rPr sz="2400" i="1" dirty="0"/>
              <a:t>split point</a:t>
            </a:r>
            <a:endParaRPr sz="2400" i="1" dirty="0"/>
          </a:p>
          <a:p>
            <a:pPr lvl="2" eaLnBrk="1" hangingPunct="1">
              <a:lnSpc>
                <a:spcPct val="115000"/>
              </a:lnSpc>
              <a:spcBef>
                <a:spcPct val="25000"/>
              </a:spcBef>
            </a:pPr>
            <a:r>
              <a:rPr sz="2000" dirty="0"/>
              <a:t>(a</a:t>
            </a:r>
            <a:r>
              <a:rPr sz="2000" baseline="-25000" dirty="0"/>
              <a:t>i</a:t>
            </a:r>
            <a:r>
              <a:rPr sz="2000" dirty="0"/>
              <a:t>+a</a:t>
            </a:r>
            <a:r>
              <a:rPr sz="2000" baseline="-25000" dirty="0"/>
              <a:t>i+1</a:t>
            </a:r>
            <a:r>
              <a:rPr sz="2000" dirty="0"/>
              <a:t>)/2 is the midpoint between the values of a</a:t>
            </a:r>
            <a:r>
              <a:rPr sz="2000" baseline="-25000" dirty="0"/>
              <a:t>i</a:t>
            </a:r>
            <a:r>
              <a:rPr sz="2000" dirty="0"/>
              <a:t> and a</a:t>
            </a:r>
            <a:r>
              <a:rPr sz="2000" baseline="-25000" dirty="0"/>
              <a:t>i+1</a:t>
            </a:r>
            <a:endParaRPr sz="2000" baseline="-25000" dirty="0"/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sz="2400" dirty="0"/>
              <a:t>The point with the </a:t>
            </a:r>
            <a:r>
              <a:rPr sz="2400" i="1" dirty="0"/>
              <a:t>minimum expected information requirement</a:t>
            </a:r>
            <a:r>
              <a:rPr sz="2400" dirty="0"/>
              <a:t> for A is selected as the split-point for A</a:t>
            </a:r>
            <a:endParaRPr sz="2400" dirty="0"/>
          </a:p>
          <a:p>
            <a:pPr eaLnBrk="1" hangingPunct="1">
              <a:lnSpc>
                <a:spcPct val="115000"/>
              </a:lnSpc>
            </a:pPr>
            <a:r>
              <a:rPr sz="2400" dirty="0"/>
              <a:t>Split:</a:t>
            </a:r>
            <a:endParaRPr sz="2400" dirty="0"/>
          </a:p>
          <a:p>
            <a:pPr lvl="1" eaLnBrk="1" hangingPunct="1">
              <a:lnSpc>
                <a:spcPct val="115000"/>
              </a:lnSpc>
            </a:pPr>
            <a:r>
              <a:rPr sz="2400" dirty="0"/>
              <a:t>D1 is the set of tuples in D satisfying A ≤ split-point, and D2 is the set of tuples in D satisfying A &gt; split-point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Slide Number Placeholder 7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8435" name="Rectangle 2050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Gain Ratio for Attribute Selection (C4.5)</a:t>
            </a:r>
            <a:endParaRPr i="1" dirty="0">
              <a:solidFill>
                <a:srgbClr val="CC0000"/>
              </a:solidFill>
            </a:endParaRPr>
          </a:p>
        </p:txBody>
      </p:sp>
      <p:sp>
        <p:nvSpPr>
          <p:cNvPr id="18436" name="Rectangle 2051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8458200" cy="51054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Information gain measure is biased towards attributes with a large number of values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C4.5 (a successor of ID3) uses gain ratio to overcome the problem (normalization to information gain)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400" dirty="0"/>
              <a:t>GainRatio(A) = Gain(A)/SplitInfo(A)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Ex.</a:t>
            </a: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400" dirty="0"/>
              <a:t>gain_ratio(income) = 0.029/1.557 = 0.019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The attribute with the maximum gain ratio is selected as the splitting attribute</a:t>
            </a:r>
            <a:endParaRPr sz="2400" dirty="0"/>
          </a:p>
        </p:txBody>
      </p:sp>
      <p:graphicFrame>
        <p:nvGraphicFramePr>
          <p:cNvPr id="18437" name="Object 2048"/>
          <p:cNvGraphicFramePr>
            <a:graphicFrameLocks noChangeAspect="1"/>
          </p:cNvGraphicFramePr>
          <p:nvPr>
            <p:ph sz="quarter" idx="2"/>
          </p:nvPr>
        </p:nvGraphicFramePr>
        <p:xfrm>
          <a:off x="1981200" y="2971800"/>
          <a:ext cx="4343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387600" imgH="457200" progId="Equation.3">
                  <p:embed/>
                </p:oleObj>
              </mc:Choice>
              <mc:Fallback>
                <p:oleObj name="" r:id="rId1" imgW="2387600" imgH="457200" progId="Equation.3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981200" y="2971800"/>
                        <a:ext cx="4343400" cy="8318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8" name="Picture 10" descr="8splitinf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95800"/>
            <a:ext cx="7924800" cy="574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Number Placeholder 6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9459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b" anchorCtr="0"/>
          <a:p>
            <a:pPr eaLnBrk="1" hangingPunct="1"/>
            <a:r>
              <a:rPr dirty="0"/>
              <a:t>Gini Index (CART, IBM IntelligentMiner)</a:t>
            </a:r>
            <a:endParaRPr dirty="0"/>
          </a:p>
        </p:txBody>
      </p:sp>
      <p:sp>
        <p:nvSpPr>
          <p:cNvPr id="19460" name="Rectangle 1027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8534400" cy="5105400"/>
          </a:xfrm>
        </p:spPr>
        <p:txBody>
          <a:bodyPr vert="horz" wrap="square" lIns="92075" tIns="46038" rIns="92075" bIns="46038" anchor="t" anchorCtr="0"/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If a data set </a:t>
            </a:r>
            <a:r>
              <a:rPr sz="2400" i="1" dirty="0"/>
              <a:t>D </a:t>
            </a:r>
            <a:r>
              <a:rPr sz="2400" dirty="0"/>
              <a:t>contains examples from </a:t>
            </a:r>
            <a:r>
              <a:rPr sz="2400" i="1" dirty="0"/>
              <a:t>n</a:t>
            </a:r>
            <a:r>
              <a:rPr sz="2400" dirty="0"/>
              <a:t> classes, gini index, </a:t>
            </a:r>
            <a:r>
              <a:rPr sz="2400" i="1" dirty="0"/>
              <a:t>gini</a:t>
            </a:r>
            <a:r>
              <a:rPr sz="2400" dirty="0"/>
              <a:t>(</a:t>
            </a:r>
            <a:r>
              <a:rPr sz="2400" i="1" dirty="0"/>
              <a:t>D</a:t>
            </a:r>
            <a:r>
              <a:rPr sz="2400" dirty="0"/>
              <a:t>) is defined as</a:t>
            </a:r>
            <a:endParaRPr sz="2400" dirty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sz="2400" dirty="0"/>
              <a:t>    		where </a:t>
            </a:r>
            <a:r>
              <a:rPr sz="2400" i="1" dirty="0"/>
              <a:t>p</a:t>
            </a:r>
            <a:r>
              <a:rPr sz="2400" i="1" baseline="-25000" dirty="0"/>
              <a:t>j</a:t>
            </a:r>
            <a:r>
              <a:rPr sz="2400" dirty="0"/>
              <a:t> is the relative frequency of class </a:t>
            </a:r>
            <a:r>
              <a:rPr sz="2400" i="1" dirty="0"/>
              <a:t>j</a:t>
            </a:r>
            <a:r>
              <a:rPr sz="2400" dirty="0"/>
              <a:t> in </a:t>
            </a:r>
            <a:r>
              <a:rPr sz="2400" i="1" dirty="0"/>
              <a:t>D</a:t>
            </a:r>
            <a:endParaRPr sz="2400" i="1" dirty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If a data set </a:t>
            </a:r>
            <a:r>
              <a:rPr sz="2400" i="1" dirty="0"/>
              <a:t>D</a:t>
            </a:r>
            <a:r>
              <a:rPr sz="2400" dirty="0"/>
              <a:t>  is split on A into two subsets </a:t>
            </a:r>
            <a:r>
              <a:rPr sz="2400" i="1" dirty="0"/>
              <a:t>D</a:t>
            </a:r>
            <a:r>
              <a:rPr sz="2400" i="1" baseline="-25000" dirty="0"/>
              <a:t>1</a:t>
            </a:r>
            <a:r>
              <a:rPr sz="2400" dirty="0"/>
              <a:t> and </a:t>
            </a:r>
            <a:r>
              <a:rPr sz="2400" i="1" dirty="0"/>
              <a:t>D</a:t>
            </a:r>
            <a:r>
              <a:rPr sz="2400" i="1" baseline="-25000" dirty="0"/>
              <a:t>2</a:t>
            </a:r>
            <a:r>
              <a:rPr sz="2400" dirty="0"/>
              <a:t>, the </a:t>
            </a:r>
            <a:r>
              <a:rPr sz="2400" i="1" dirty="0"/>
              <a:t>gini</a:t>
            </a:r>
            <a:r>
              <a:rPr sz="2400" dirty="0"/>
              <a:t> index </a:t>
            </a:r>
            <a:r>
              <a:rPr sz="2400" i="1" dirty="0"/>
              <a:t>gini</a:t>
            </a:r>
            <a:r>
              <a:rPr sz="2400" dirty="0"/>
              <a:t>(</a:t>
            </a:r>
            <a:r>
              <a:rPr sz="2400" i="1" dirty="0"/>
              <a:t>D</a:t>
            </a:r>
            <a:r>
              <a:rPr sz="2400" dirty="0"/>
              <a:t>) is defined as</a:t>
            </a:r>
            <a:endParaRPr sz="2400" dirty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Reduction in Impurity:</a:t>
            </a:r>
            <a:endParaRPr sz="2400" dirty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The attribute provides the smallest </a:t>
            </a:r>
            <a:r>
              <a:rPr sz="2400" i="1" dirty="0"/>
              <a:t>gini</a:t>
            </a:r>
            <a:r>
              <a:rPr sz="2400" i="1" baseline="-25000" dirty="0"/>
              <a:t>split</a:t>
            </a:r>
            <a:r>
              <a:rPr sz="2400" dirty="0"/>
              <a:t>(</a:t>
            </a:r>
            <a:r>
              <a:rPr sz="2400" i="1" dirty="0"/>
              <a:t>D</a:t>
            </a:r>
            <a:r>
              <a:rPr sz="2400" dirty="0"/>
              <a:t>) (or the largest reduction in impurity) is chosen to split the node (</a:t>
            </a:r>
            <a:r>
              <a:rPr sz="2400" i="1" dirty="0">
                <a:solidFill>
                  <a:srgbClr val="CC0000"/>
                </a:solidFill>
              </a:rPr>
              <a:t>need to enumerate all the possible splitting points for each attribute</a:t>
            </a:r>
            <a:r>
              <a:rPr sz="2400" dirty="0"/>
              <a:t>)</a:t>
            </a:r>
            <a:endParaRPr sz="2400" dirty="0"/>
          </a:p>
        </p:txBody>
      </p:sp>
      <p:graphicFrame>
        <p:nvGraphicFramePr>
          <p:cNvPr id="19461" name="Object 1024"/>
          <p:cNvGraphicFramePr/>
          <p:nvPr/>
        </p:nvGraphicFramePr>
        <p:xfrm>
          <a:off x="3886200" y="1828800"/>
          <a:ext cx="289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1777365" imgH="761365" progId="Equation.3">
                  <p:embed/>
                </p:oleObj>
              </mc:Choice>
              <mc:Fallback>
                <p:oleObj name="" r:id="rId1" imgW="1777365" imgH="761365" progId="Equation.3">
                  <p:embed/>
                  <p:pic>
                    <p:nvPicPr>
                      <p:cNvPr id="0" name="Picture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6200" y="1828800"/>
                        <a:ext cx="2895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025"/>
          <p:cNvGraphicFramePr>
            <a:graphicFrameLocks noChangeAspect="1"/>
          </p:cNvGraphicFramePr>
          <p:nvPr/>
        </p:nvGraphicFramePr>
        <p:xfrm>
          <a:off x="3124200" y="3717925"/>
          <a:ext cx="57038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3441700" imgH="596900" progId="Equation.3">
                  <p:embed/>
                </p:oleObj>
              </mc:Choice>
              <mc:Fallback>
                <p:oleObj name="" r:id="rId3" imgW="3441700" imgH="596900" progId="Equation.3">
                  <p:embed/>
                  <p:pic>
                    <p:nvPicPr>
                      <p:cNvPr id="0" name="Picture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3717925"/>
                        <a:ext cx="5703888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026"/>
          <p:cNvGraphicFramePr>
            <a:graphicFrameLocks noChangeAspect="1"/>
          </p:cNvGraphicFramePr>
          <p:nvPr>
            <p:ph sz="half" idx="2"/>
          </p:nvPr>
        </p:nvGraphicFramePr>
        <p:xfrm>
          <a:off x="3657600" y="4811713"/>
          <a:ext cx="461803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2692400" imgH="304800" progId="Equation.3">
                  <p:embed/>
                </p:oleObj>
              </mc:Choice>
              <mc:Fallback>
                <p:oleObj name="" r:id="rId5" imgW="2692400" imgH="304800" progId="Equation.3">
                  <p:embed/>
                  <p:pic>
                    <p:nvPicPr>
                      <p:cNvPr id="0" name="Picture 3088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3657600" y="4811713"/>
                        <a:ext cx="4618038" cy="5222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Slide Number Placeholder 7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0483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Computation of Gini Index </a:t>
            </a:r>
            <a:endParaRPr dirty="0"/>
          </a:p>
        </p:txBody>
      </p:sp>
      <p:sp>
        <p:nvSpPr>
          <p:cNvPr id="20484" name="Rectangle 1027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8686800" cy="54864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Ex.  D has 9 tuples in buys_computer = “yes” and 5 in “no”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Suppose the attribute income partitions D into 10 in D</a:t>
            </a:r>
            <a:r>
              <a:rPr sz="2400" baseline="-25000" dirty="0"/>
              <a:t>1</a:t>
            </a:r>
            <a:r>
              <a:rPr sz="2400" dirty="0"/>
              <a:t>: {low, medium} and 4 in D</a:t>
            </a:r>
            <a:r>
              <a:rPr sz="2400" baseline="-25000" dirty="0"/>
              <a:t>2</a:t>
            </a:r>
            <a:endParaRPr sz="2400" baseline="-250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sz="2400" dirty="0"/>
              <a:t> Gini</a:t>
            </a:r>
            <a:r>
              <a:rPr sz="2400" baseline="-25000" dirty="0"/>
              <a:t>{low,high}</a:t>
            </a:r>
            <a:r>
              <a:rPr sz="2400" dirty="0"/>
              <a:t> is 0.458; Gini</a:t>
            </a:r>
            <a:r>
              <a:rPr sz="2400" baseline="-25000" dirty="0"/>
              <a:t>{medium,high}</a:t>
            </a:r>
            <a:r>
              <a:rPr sz="2400" dirty="0"/>
              <a:t> is 0.450.  Thus, split on the {low,medium} (and {high}) since it has the lowest Gini index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All attributes are assumed continuous-valued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May need other tools, e.g., clustering, to get the possible split values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Can be modified for categorical attributes</a:t>
            </a:r>
            <a:endParaRPr sz="2400" dirty="0"/>
          </a:p>
        </p:txBody>
      </p:sp>
      <p:graphicFrame>
        <p:nvGraphicFramePr>
          <p:cNvPr id="20485" name="Object 2"/>
          <p:cNvGraphicFramePr>
            <a:graphicFrameLocks noChangeAspect="1"/>
          </p:cNvGraphicFramePr>
          <p:nvPr>
            <p:ph sz="quarter" idx="2"/>
          </p:nvPr>
        </p:nvGraphicFramePr>
        <p:xfrm>
          <a:off x="3810000" y="1600200"/>
          <a:ext cx="358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2222500" imgH="469900" progId="Equation.3">
                  <p:embed/>
                </p:oleObj>
              </mc:Choice>
              <mc:Fallback>
                <p:oleObj name="" r:id="rId1" imgW="2222500" imgH="469900" progId="Equation.3">
                  <p:embed/>
                  <p:pic>
                    <p:nvPicPr>
                      <p:cNvPr id="0" name="Picture 308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810000" y="1600200"/>
                        <a:ext cx="3581400" cy="7874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3"/>
          <p:cNvGraphicFramePr>
            <a:graphicFrameLocks noChangeAspect="1"/>
          </p:cNvGraphicFramePr>
          <p:nvPr/>
        </p:nvGraphicFramePr>
        <p:xfrm>
          <a:off x="3562350" y="2514600"/>
          <a:ext cx="5040313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3340100" imgH="431800" progId="Equation.3">
                  <p:embed/>
                </p:oleObj>
              </mc:Choice>
              <mc:Fallback>
                <p:oleObj name="" r:id="rId3" imgW="3340100" imgH="431800" progId="Equation.3">
                  <p:embed/>
                  <p:pic>
                    <p:nvPicPr>
                      <p:cNvPr id="0" name="Picture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2350" y="2514600"/>
                        <a:ext cx="5040313" cy="652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7" name="Picture 14" descr="8gin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124200"/>
            <a:ext cx="4419600" cy="111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sz="3200" dirty="0"/>
              <a:t>Comparing Attribute Selection Measures</a:t>
            </a:r>
            <a:endParaRPr sz="2800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458200" cy="52578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sz="2400" dirty="0"/>
              <a:t>The three measures, in general, return good results but</a:t>
            </a:r>
            <a:endParaRPr sz="2400" dirty="0"/>
          </a:p>
          <a:p>
            <a:pPr lvl="1" eaLnBrk="1" hangingPunct="1">
              <a:lnSpc>
                <a:spcPct val="110000"/>
              </a:lnSpc>
            </a:pPr>
            <a:r>
              <a:rPr sz="2400" b="1" dirty="0"/>
              <a:t>Information gain</a:t>
            </a:r>
            <a:r>
              <a:rPr sz="2400" dirty="0"/>
              <a:t>: </a:t>
            </a:r>
            <a:endParaRPr sz="2400" dirty="0"/>
          </a:p>
          <a:p>
            <a:pPr lvl="2" eaLnBrk="1" hangingPunct="1">
              <a:lnSpc>
                <a:spcPct val="110000"/>
              </a:lnSpc>
            </a:pPr>
            <a:r>
              <a:rPr dirty="0"/>
              <a:t>biased towards multivalued attributes</a:t>
            </a:r>
            <a:endParaRPr dirty="0"/>
          </a:p>
          <a:p>
            <a:pPr lvl="1" eaLnBrk="1" hangingPunct="1">
              <a:lnSpc>
                <a:spcPct val="110000"/>
              </a:lnSpc>
            </a:pPr>
            <a:r>
              <a:rPr sz="2400" b="1" dirty="0"/>
              <a:t>Gain ratio</a:t>
            </a:r>
            <a:r>
              <a:rPr sz="2400" dirty="0"/>
              <a:t>: </a:t>
            </a:r>
            <a:endParaRPr sz="2400" dirty="0"/>
          </a:p>
          <a:p>
            <a:pPr lvl="2" eaLnBrk="1" hangingPunct="1">
              <a:lnSpc>
                <a:spcPct val="110000"/>
              </a:lnSpc>
            </a:pPr>
            <a:r>
              <a:rPr dirty="0"/>
              <a:t>tends to prefer unbalanced splits in which one partition is much smaller than the others</a:t>
            </a:r>
            <a:endParaRPr dirty="0"/>
          </a:p>
          <a:p>
            <a:pPr lvl="1" eaLnBrk="1" hangingPunct="1">
              <a:lnSpc>
                <a:spcPct val="110000"/>
              </a:lnSpc>
            </a:pPr>
            <a:r>
              <a:rPr sz="2400" b="1" dirty="0"/>
              <a:t>Gini index</a:t>
            </a:r>
            <a:r>
              <a:rPr sz="2400" dirty="0"/>
              <a:t>: </a:t>
            </a:r>
            <a:endParaRPr sz="2400" dirty="0"/>
          </a:p>
          <a:p>
            <a:pPr lvl="2" eaLnBrk="1" hangingPunct="1">
              <a:lnSpc>
                <a:spcPct val="110000"/>
              </a:lnSpc>
            </a:pPr>
            <a:r>
              <a:rPr dirty="0"/>
              <a:t>biased to multivalued attributes</a:t>
            </a:r>
            <a:endParaRPr dirty="0"/>
          </a:p>
          <a:p>
            <a:pPr lvl="2" eaLnBrk="1" hangingPunct="1">
              <a:lnSpc>
                <a:spcPct val="110000"/>
              </a:lnSpc>
            </a:pPr>
            <a:r>
              <a:rPr dirty="0"/>
              <a:t>has difficulty when # of classes is large</a:t>
            </a:r>
            <a:endParaRPr dirty="0"/>
          </a:p>
          <a:p>
            <a:pPr lvl="2" eaLnBrk="1" hangingPunct="1">
              <a:lnSpc>
                <a:spcPct val="110000"/>
              </a:lnSpc>
            </a:pPr>
            <a:r>
              <a:rPr dirty="0"/>
              <a:t>tends to favor tests that result in equal-sized partitions and purity in both partitions</a:t>
            </a:r>
            <a:endParaRPr dirty="0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Other Attribute Selection Measures</a:t>
            </a:r>
            <a:endParaRPr sz="3200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52578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30000"/>
              </a:lnSpc>
            </a:pPr>
            <a:r>
              <a:rPr sz="2000" u="sng" dirty="0"/>
              <a:t>CHAID</a:t>
            </a:r>
            <a:r>
              <a:rPr sz="2000" dirty="0"/>
              <a:t>: a popular decision tree algorithm, measure based on </a:t>
            </a:r>
            <a:r>
              <a:rPr lang="el-GR" altLang="x-none" sz="2000" dirty="0"/>
              <a:t>χ</a:t>
            </a:r>
            <a:r>
              <a:rPr sz="2000" baseline="30000" dirty="0"/>
              <a:t>2</a:t>
            </a:r>
            <a:r>
              <a:rPr sz="2000" dirty="0"/>
              <a:t> test for independence</a:t>
            </a:r>
            <a:endParaRPr sz="2000" dirty="0"/>
          </a:p>
          <a:p>
            <a:pPr eaLnBrk="1" hangingPunct="1">
              <a:lnSpc>
                <a:spcPct val="130000"/>
              </a:lnSpc>
            </a:pPr>
            <a:r>
              <a:rPr sz="2000" u="sng" dirty="0"/>
              <a:t>C-SEP</a:t>
            </a:r>
            <a:r>
              <a:rPr sz="2000" dirty="0"/>
              <a:t>: performs better than info. gain and gini index in certain cases</a:t>
            </a:r>
            <a:endParaRPr sz="2000" dirty="0"/>
          </a:p>
          <a:p>
            <a:pPr eaLnBrk="1" hangingPunct="1">
              <a:lnSpc>
                <a:spcPct val="130000"/>
              </a:lnSpc>
            </a:pPr>
            <a:r>
              <a:rPr sz="2000" u="sng" dirty="0"/>
              <a:t>G-statistic</a:t>
            </a:r>
            <a:r>
              <a:rPr sz="2000" dirty="0"/>
              <a:t>: has a close approximation to </a:t>
            </a:r>
            <a:r>
              <a:rPr lang="el-GR" altLang="x-none" sz="2000" dirty="0"/>
              <a:t>χ</a:t>
            </a:r>
            <a:r>
              <a:rPr sz="2000" baseline="30000" dirty="0"/>
              <a:t>2</a:t>
            </a:r>
            <a:r>
              <a:rPr sz="2000" dirty="0"/>
              <a:t> distribution </a:t>
            </a:r>
            <a:endParaRPr sz="2000" dirty="0"/>
          </a:p>
          <a:p>
            <a:pPr eaLnBrk="1" hangingPunct="1">
              <a:lnSpc>
                <a:spcPct val="130000"/>
              </a:lnSpc>
            </a:pPr>
            <a:r>
              <a:rPr sz="2000" u="sng" dirty="0"/>
              <a:t>MDL (Minimal Description Length) principle</a:t>
            </a:r>
            <a:r>
              <a:rPr sz="2000" dirty="0"/>
              <a:t> (i.e., the simplest solution is preferred): </a:t>
            </a:r>
            <a:endParaRPr sz="2000" dirty="0"/>
          </a:p>
          <a:p>
            <a:pPr lvl="1" eaLnBrk="1" hangingPunct="1">
              <a:lnSpc>
                <a:spcPct val="130000"/>
              </a:lnSpc>
            </a:pPr>
            <a:r>
              <a:rPr sz="2000" dirty="0"/>
              <a:t>The best tree as the one that requires the fewest # of bits to both (1) encode the tree, and (2) encode the exceptions to the tree</a:t>
            </a:r>
            <a:endParaRPr sz="2000" dirty="0"/>
          </a:p>
          <a:p>
            <a:pPr eaLnBrk="1" hangingPunct="1">
              <a:lnSpc>
                <a:spcPct val="130000"/>
              </a:lnSpc>
            </a:pPr>
            <a:r>
              <a:rPr sz="2000" dirty="0"/>
              <a:t>Multivariate splits (partition based on multiple variable combinations)</a:t>
            </a:r>
            <a:endParaRPr sz="2000" dirty="0"/>
          </a:p>
          <a:p>
            <a:pPr lvl="1" eaLnBrk="1" hangingPunct="1">
              <a:lnSpc>
                <a:spcPct val="130000"/>
              </a:lnSpc>
            </a:pPr>
            <a:r>
              <a:rPr sz="2000" u="sng" dirty="0"/>
              <a:t>CART</a:t>
            </a:r>
            <a:r>
              <a:rPr sz="2000" dirty="0"/>
              <a:t>: finds multivariate splits based on a linear comb. of attrs.</a:t>
            </a:r>
            <a:endParaRPr sz="2000" dirty="0"/>
          </a:p>
          <a:p>
            <a:pPr eaLnBrk="1" hangingPunct="1">
              <a:lnSpc>
                <a:spcPct val="130000"/>
              </a:lnSpc>
            </a:pPr>
            <a:r>
              <a:rPr sz="2000" dirty="0"/>
              <a:t>Which attribute selection measure is the best?</a:t>
            </a:r>
            <a:endParaRPr sz="2000" dirty="0"/>
          </a:p>
          <a:p>
            <a:pPr lvl="1" eaLnBrk="1" hangingPunct="1">
              <a:lnSpc>
                <a:spcPct val="130000"/>
              </a:lnSpc>
            </a:pPr>
            <a:r>
              <a:rPr sz="2000" dirty="0"/>
              <a:t> Most give good results, none is significantly superior than others</a:t>
            </a:r>
            <a:endParaRPr sz="2000" dirty="0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05800" cy="6858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Overfitting and Tree Pruning</a:t>
            </a:r>
            <a:endParaRPr sz="3200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458200" cy="5257800"/>
          </a:xfrm>
        </p:spPr>
        <p:txBody>
          <a:bodyPr vert="horz" wrap="square" lIns="92075" tIns="46038" rIns="92075" bIns="46038" anchor="t" anchorCtr="0"/>
          <a:p>
            <a:pPr eaLnBrk="1" hangingPunct="1"/>
            <a:r>
              <a:rPr sz="2400" u="sng" dirty="0"/>
              <a:t>Overfitting</a:t>
            </a:r>
            <a:r>
              <a:rPr sz="2400" dirty="0"/>
              <a:t>:  An induced tree may overfit the training data </a:t>
            </a:r>
            <a:endParaRPr sz="2400" dirty="0"/>
          </a:p>
          <a:p>
            <a:pPr lvl="1" eaLnBrk="1" hangingPunct="1"/>
            <a:r>
              <a:rPr sz="2400" dirty="0"/>
              <a:t>Too many branches, some may reflect anomalies due to noise or outliers</a:t>
            </a:r>
            <a:endParaRPr sz="2400" dirty="0"/>
          </a:p>
          <a:p>
            <a:pPr lvl="1" eaLnBrk="1" hangingPunct="1"/>
            <a:r>
              <a:rPr sz="2400" dirty="0"/>
              <a:t>Poor accuracy for unseen samples</a:t>
            </a:r>
            <a:endParaRPr sz="2400" dirty="0"/>
          </a:p>
          <a:p>
            <a:pPr eaLnBrk="1" hangingPunct="1"/>
            <a:r>
              <a:rPr sz="2400" dirty="0"/>
              <a:t>Two approaches to avoid overfitting </a:t>
            </a:r>
            <a:endParaRPr sz="2400" dirty="0"/>
          </a:p>
          <a:p>
            <a:pPr lvl="1" eaLnBrk="1" hangingPunct="1"/>
            <a:r>
              <a:rPr sz="2400" u="sng" dirty="0"/>
              <a:t>Prepruning</a:t>
            </a:r>
            <a:r>
              <a:rPr sz="2400" dirty="0"/>
              <a:t>: </a:t>
            </a:r>
            <a:r>
              <a:rPr sz="2400" i="1" dirty="0"/>
              <a:t>Halt tree construction early</a:t>
            </a:r>
            <a:r>
              <a:rPr sz="2400" dirty="0"/>
              <a:t> </a:t>
            </a:r>
            <a:r>
              <a:rPr sz="2400" dirty="0">
                <a:cs typeface="Tahoma" panose="020B0604030504040204" pitchFamily="34" charset="0"/>
              </a:rPr>
              <a:t>̵</a:t>
            </a:r>
            <a:r>
              <a:rPr sz="2400" dirty="0"/>
              <a:t> do not split a node if this would result in the goodness measure falling below a threshold</a:t>
            </a:r>
            <a:endParaRPr sz="2400" dirty="0"/>
          </a:p>
          <a:p>
            <a:pPr lvl="2" eaLnBrk="1" hangingPunct="1"/>
            <a:r>
              <a:rPr dirty="0"/>
              <a:t>Difficult to choose an appropriate threshold</a:t>
            </a:r>
            <a:endParaRPr dirty="0"/>
          </a:p>
          <a:p>
            <a:pPr lvl="1" eaLnBrk="1" hangingPunct="1"/>
            <a:r>
              <a:rPr sz="2400" u="sng" dirty="0"/>
              <a:t>Postpruning</a:t>
            </a:r>
            <a:r>
              <a:rPr sz="2400" dirty="0"/>
              <a:t>: </a:t>
            </a:r>
            <a:r>
              <a:rPr sz="2400" i="1" dirty="0"/>
              <a:t>Remove branches</a:t>
            </a:r>
            <a:r>
              <a:rPr sz="2400" dirty="0"/>
              <a:t> from a “fully grown” tree—get a sequence of progressively pruned trees</a:t>
            </a:r>
            <a:endParaRPr sz="2400" dirty="0"/>
          </a:p>
          <a:p>
            <a:pPr lvl="2" eaLnBrk="1" hangingPunct="1"/>
            <a:r>
              <a:rPr dirty="0"/>
              <a:t>Use a set of data different from the training data to decide which is the “best pruned tree”</a:t>
            </a:r>
            <a:endParaRPr dirty="0"/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062038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sz="3200" dirty="0"/>
              <a:t>Enhancements to Basic Decision Tree Induction</a:t>
            </a:r>
            <a:endParaRPr sz="3200" dirty="0"/>
          </a:p>
        </p:txBody>
      </p:sp>
      <p:sp>
        <p:nvSpPr>
          <p:cNvPr id="24580" name="AutoShape 3"/>
          <p:cNvSpPr/>
          <p:nvPr>
            <p:ph idx="1"/>
          </p:nvPr>
        </p:nvSpPr>
        <p:spPr>
          <a:xfrm>
            <a:off x="228600" y="1371600"/>
            <a:ext cx="8534400" cy="5105400"/>
          </a:xfrm>
          <a:prstGeom prst="flowChartProcess">
            <a:avLst/>
          </a:prstGeo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dirty="0"/>
              <a:t>Allow for </a:t>
            </a:r>
            <a:r>
              <a:rPr sz="2400" b="1" dirty="0"/>
              <a:t>continuous-valued attributes</a:t>
            </a:r>
            <a:endParaRPr sz="2400" b="1" dirty="0"/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dirty="0"/>
              <a:t>Dynamically define new discrete-valued attributes that partition the continuous attribute value into a discrete set of intervals</a:t>
            </a:r>
            <a:endParaRPr sz="2400" dirty="0"/>
          </a:p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dirty="0"/>
              <a:t>Handle </a:t>
            </a:r>
            <a:r>
              <a:rPr sz="2400" b="1" dirty="0"/>
              <a:t>missing attribute values</a:t>
            </a:r>
            <a:endParaRPr sz="2400" b="1" dirty="0"/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dirty="0"/>
              <a:t>Assign the most common value of the attribute</a:t>
            </a:r>
            <a:endParaRPr sz="2400" dirty="0"/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dirty="0"/>
              <a:t>Assign probability to each of the possible values</a:t>
            </a:r>
            <a:endParaRPr sz="2400" dirty="0"/>
          </a:p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b="1" dirty="0"/>
              <a:t>Attribute construction</a:t>
            </a:r>
            <a:endParaRPr sz="2400" b="1" dirty="0"/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dirty="0"/>
              <a:t>Create new attributes based on existing ones that are sparsely represented</a:t>
            </a:r>
            <a:endParaRPr sz="2400" dirty="0"/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dirty="0"/>
              <a:t>This reduces fragmentation, repetition, and replication</a:t>
            </a:r>
            <a:endParaRPr sz="2400" dirty="0"/>
          </a:p>
        </p:txBody>
      </p:sp>
      <p:sp>
        <p:nvSpPr>
          <p:cNvPr id="24581" name="AutoShape 4"/>
          <p:cNvSpPr/>
          <p:nvPr/>
        </p:nvSpPr>
        <p:spPr>
          <a:xfrm>
            <a:off x="1905000" y="3352800"/>
            <a:ext cx="76200" cy="76200"/>
          </a:xfrm>
          <a:prstGeom prst="flowChartInternalStorage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/>
          <a:p>
            <a:endParaRPr dirty="0">
              <a:latin typeface="Tahoma" panose="020B0604030504040204" pitchFamily="34" charset="0"/>
            </a:endParaRPr>
          </a:p>
        </p:txBody>
      </p:sp>
      <p:sp>
        <p:nvSpPr>
          <p:cNvPr id="24582" name="Line 5"/>
          <p:cNvSpPr/>
          <p:nvPr/>
        </p:nvSpPr>
        <p:spPr>
          <a:xfrm>
            <a:off x="990600" y="3581400"/>
            <a:ext cx="7086600" cy="0"/>
          </a:xfrm>
          <a:prstGeom prst="line">
            <a:avLst/>
          </a:prstGeom>
          <a:ln w="9525">
            <a:noFill/>
          </a:ln>
        </p:spPr>
      </p:sp>
      <p:sp>
        <p:nvSpPr>
          <p:cNvPr id="24583" name="Line 6"/>
          <p:cNvSpPr/>
          <p:nvPr/>
        </p:nvSpPr>
        <p:spPr>
          <a:xfrm>
            <a:off x="990600" y="3505200"/>
            <a:ext cx="7162800" cy="0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0" y="381000"/>
            <a:ext cx="8936038" cy="6096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dirty="0"/>
              <a:t>Classification in Large Databases</a:t>
            </a:r>
            <a:endParaRPr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300038" y="1371600"/>
            <a:ext cx="8539162" cy="5151438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sz="2400" dirty="0"/>
              <a:t>Classification—a classical problem extensively studied by statisticians and machine learning researchers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dirty="0"/>
              <a:t>Scalability: Classifying data sets with millions of examples and hundreds of attributes with reasonable speed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dirty="0"/>
              <a:t>Why is decision tree induction popular?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relatively faster learning speed (than other classification methods)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convertible to simple and easy to understand classification rules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can use SQL queries for accessing databases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comparable classification accuracy with other methods</a:t>
            </a:r>
            <a:endParaRPr sz="2400" dirty="0"/>
          </a:p>
          <a:p>
            <a:pPr eaLnBrk="1" hangingPunct="1">
              <a:lnSpc>
                <a:spcPct val="80000"/>
              </a:lnSpc>
            </a:pPr>
            <a:r>
              <a:rPr sz="2400" dirty="0">
                <a:solidFill>
                  <a:srgbClr val="FF3300"/>
                </a:solidFill>
              </a:rPr>
              <a:t>RainForest </a:t>
            </a:r>
            <a:r>
              <a:rPr sz="2400" dirty="0"/>
              <a:t>(VLDB’98 — Gehrke, Ramakrishnan &amp; Ganti)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Builds an AVC-list (attribute, value, class label)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6627" name="Rectangle 3074"/>
          <p:cNvSpPr>
            <a:spLocks noGrp="1"/>
          </p:cNvSpPr>
          <p:nvPr>
            <p:ph type="title"/>
          </p:nvPr>
        </p:nvSpPr>
        <p:spPr>
          <a:xfrm>
            <a:off x="533400" y="304800"/>
            <a:ext cx="77724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Scalability Framework for RainForest</a:t>
            </a:r>
            <a:endParaRPr lang="en-US" altLang="ko-KR" sz="2800" b="0" dirty="0"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  <p:sp>
        <p:nvSpPr>
          <p:cNvPr id="26628" name="Rectangle 3075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00538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sz="2400" dirty="0">
                <a:latin typeface="Arial" panose="020B0604020202020204" pitchFamily="34" charset="0"/>
              </a:rPr>
              <a:t>Separates the scalability aspects from the criteria that determine the quality of the tree </a:t>
            </a:r>
            <a:endParaRPr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sz="2400" dirty="0">
                <a:latin typeface="Arial" panose="020B0604020202020204" pitchFamily="34" charset="0"/>
              </a:rPr>
              <a:t>Builds an AVC-list</a:t>
            </a:r>
            <a:r>
              <a:rPr lang="en-US" altLang="ko-KR" sz="2400" b="1" dirty="0">
                <a:latin typeface="Arial" panose="020B0604020202020204" pitchFamily="34" charset="0"/>
                <a:ea typeface="Gulim" panose="020B0600000101010101" pitchFamily="34" charset="-127"/>
              </a:rPr>
              <a:t>: AVC (Attribute, Value, Class_label) </a:t>
            </a:r>
            <a:endParaRPr lang="en-US" altLang="ko-KR" sz="2400" b="1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ko-KR" sz="2400" b="1" dirty="0">
                <a:latin typeface="Arial" panose="020B0604020202020204" pitchFamily="34" charset="0"/>
                <a:ea typeface="Gulim" panose="020B0600000101010101" pitchFamily="34" charset="-127"/>
              </a:rPr>
              <a:t>AVC-set  </a:t>
            </a: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(of an attribute </a:t>
            </a:r>
            <a:r>
              <a:rPr lang="en-US" altLang="ko-KR" sz="2400" i="1" dirty="0">
                <a:latin typeface="Arial" panose="020B0604020202020204" pitchFamily="34" charset="0"/>
                <a:ea typeface="Gulim" panose="020B0600000101010101" pitchFamily="34" charset="-127"/>
              </a:rPr>
              <a:t>X</a:t>
            </a: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 )</a:t>
            </a:r>
            <a:endParaRPr lang="en-US" altLang="ko-KR" sz="2400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Projection of training dataset onto the attribute </a:t>
            </a:r>
            <a:r>
              <a:rPr lang="en-US" altLang="ko-KR" sz="2400" i="1" dirty="0">
                <a:latin typeface="Arial" panose="020B0604020202020204" pitchFamily="34" charset="0"/>
                <a:ea typeface="Gulim" panose="020B0600000101010101" pitchFamily="34" charset="-127"/>
              </a:rPr>
              <a:t>X</a:t>
            </a: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 and class label where counts of individual class label are aggregated</a:t>
            </a:r>
            <a:endParaRPr lang="en-US" altLang="ko-KR" sz="2400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ko-KR" sz="2400" b="1" dirty="0">
                <a:latin typeface="Arial" panose="020B0604020202020204" pitchFamily="34" charset="0"/>
                <a:ea typeface="Gulim" panose="020B0600000101010101" pitchFamily="34" charset="-127"/>
              </a:rPr>
              <a:t>AVC-group  </a:t>
            </a: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(of a node </a:t>
            </a:r>
            <a:r>
              <a:rPr lang="en-US" altLang="ko-KR" sz="2400" i="1" dirty="0">
                <a:latin typeface="Arial" panose="020B0604020202020204" pitchFamily="34" charset="0"/>
                <a:ea typeface="Gulim" panose="020B0600000101010101" pitchFamily="34" charset="-127"/>
              </a:rPr>
              <a:t>n</a:t>
            </a: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 )</a:t>
            </a:r>
            <a:endParaRPr lang="en-US" altLang="ko-KR" sz="2400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Set of AVC-sets of all predictor attributes at the node </a:t>
            </a:r>
            <a:r>
              <a:rPr lang="en-US" altLang="ko-KR" sz="2400" i="1" dirty="0">
                <a:latin typeface="Arial" panose="020B0604020202020204" pitchFamily="34" charset="0"/>
                <a:ea typeface="Gulim" panose="020B0600000101010101" pitchFamily="34" charset="-127"/>
              </a:rPr>
              <a:t>n</a:t>
            </a:r>
            <a:r>
              <a:rPr lang="en-US" altLang="ko-KR" sz="2400" b="1" dirty="0">
                <a:latin typeface="Arial" panose="020B0604020202020204" pitchFamily="34" charset="0"/>
                <a:ea typeface="Gulim" panose="020B0600000101010101" pitchFamily="34" charset="-127"/>
              </a:rPr>
              <a:t> </a:t>
            </a:r>
            <a:endParaRPr lang="en-US" altLang="ko-KR" sz="2400" b="1" dirty="0"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Slide Number Placeholder 8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7651" name="Rectangle 2"/>
          <p:cNvSpPr>
            <a:spLocks noGrp="1"/>
          </p:cNvSpPr>
          <p:nvPr>
            <p:ph type="title" sz="quarter"/>
          </p:nvPr>
        </p:nvSpPr>
        <p:spPr>
          <a:xfrm>
            <a:off x="0" y="381000"/>
            <a:ext cx="91440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Rainforest:  Training Set and Its AVC Sets </a:t>
            </a:r>
            <a:endParaRPr dirty="0"/>
          </a:p>
        </p:txBody>
      </p:sp>
      <p:graphicFrame>
        <p:nvGraphicFramePr>
          <p:cNvPr id="1678460" name="Group 124"/>
          <p:cNvGraphicFramePr>
            <a:graphicFrameLocks noGrp="1"/>
          </p:cNvGraphicFramePr>
          <p:nvPr>
            <p:ph sz="quarter" idx="1"/>
          </p:nvPr>
        </p:nvGraphicFramePr>
        <p:xfrm>
          <a:off x="4343400" y="4800600"/>
          <a:ext cx="2400300" cy="1485901"/>
        </p:xfrm>
        <a:graphic>
          <a:graphicData uri="http://schemas.openxmlformats.org/drawingml/2006/table">
            <a:tbl>
              <a:tblPr/>
              <a:tblGrid>
                <a:gridCol w="946150"/>
                <a:gridCol w="492125"/>
                <a:gridCol w="96202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student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Buy_Computer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yes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no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yes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no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78471" name="Group 135"/>
          <p:cNvGraphicFramePr>
            <a:graphicFrameLocks noGrp="1"/>
          </p:cNvGraphicFramePr>
          <p:nvPr>
            <p:ph sz="quarter" idx="1"/>
          </p:nvPr>
        </p:nvGraphicFramePr>
        <p:xfrm>
          <a:off x="4495800" y="1981200"/>
          <a:ext cx="1981200" cy="1714501"/>
        </p:xfrm>
        <a:graphic>
          <a:graphicData uri="http://schemas.openxmlformats.org/drawingml/2006/table">
            <a:tbl>
              <a:tblPr/>
              <a:tblGrid>
                <a:gridCol w="657225"/>
                <a:gridCol w="622300"/>
                <a:gridCol w="701675"/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Age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Buy_Computer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7783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yes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no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&lt;=30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31..40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&gt;40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78511" name="Group 175"/>
          <p:cNvGraphicFramePr>
            <a:graphicFrameLocks noGrp="1"/>
          </p:cNvGraphicFramePr>
          <p:nvPr>
            <p:ph sz="quarter" idx="1"/>
          </p:nvPr>
        </p:nvGraphicFramePr>
        <p:xfrm>
          <a:off x="6743700" y="4876800"/>
          <a:ext cx="2400300" cy="1401764"/>
        </p:xfrm>
        <a:graphic>
          <a:graphicData uri="http://schemas.openxmlformats.org/drawingml/2006/table">
            <a:tbl>
              <a:tblPr/>
              <a:tblGrid>
                <a:gridCol w="995363"/>
                <a:gridCol w="587375"/>
                <a:gridCol w="817562"/>
              </a:tblGrid>
              <a:tr h="3508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Credit</a:t>
                      </a:r>
                      <a:endParaRPr kumimoji="0" lang="en-US" altLang="ko-KR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rating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Buy_Computer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5083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yes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no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fair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excellent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718" name="Object 3"/>
          <p:cNvGraphicFramePr/>
          <p:nvPr>
            <p:ph type="body" idx="4294967295"/>
          </p:nvPr>
        </p:nvGraphicFramePr>
        <p:xfrm>
          <a:off x="0" y="1905000"/>
          <a:ext cx="42164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5294630" imgH="5294630" progId="Excel.Sheet.8">
                  <p:embed/>
                </p:oleObj>
              </mc:Choice>
              <mc:Fallback>
                <p:oleObj name="" r:id="rId1" imgW="5294630" imgH="5294630" progId="Excel.Sheet.8">
                  <p:embed/>
                  <p:pic>
                    <p:nvPicPr>
                      <p:cNvPr id="0" name="Picture 3091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0" y="1905000"/>
                        <a:ext cx="4216400" cy="4572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19" name="Rectangle 128"/>
          <p:cNvSpPr/>
          <p:nvPr/>
        </p:nvSpPr>
        <p:spPr>
          <a:xfrm>
            <a:off x="6705600" y="1524000"/>
            <a:ext cx="23034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2000" dirty="0">
                <a:latin typeface="Tahoma" panose="020B0604030504040204" pitchFamily="34" charset="0"/>
              </a:rPr>
              <a:t>AVC-set on </a:t>
            </a:r>
            <a:r>
              <a:rPr lang="en-US" altLang="ko-KR" sz="2000" i="1" dirty="0">
                <a:latin typeface="Tahoma" panose="020B0604030504040204" pitchFamily="34" charset="0"/>
                <a:ea typeface="Gulim" panose="020B0600000101010101" pitchFamily="34" charset="-127"/>
              </a:rPr>
              <a:t>income</a:t>
            </a:r>
            <a:endParaRPr sz="2000" i="1" dirty="0">
              <a:latin typeface="Tahoma" panose="020B0604030504040204" pitchFamily="34" charset="0"/>
            </a:endParaRPr>
          </a:p>
        </p:txBody>
      </p:sp>
      <p:sp>
        <p:nvSpPr>
          <p:cNvPr id="27720" name="Rectangle 129"/>
          <p:cNvSpPr/>
          <p:nvPr/>
        </p:nvSpPr>
        <p:spPr>
          <a:xfrm>
            <a:off x="4419600" y="1524000"/>
            <a:ext cx="19272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2000" dirty="0">
                <a:latin typeface="Tahoma" panose="020B0604030504040204" pitchFamily="34" charset="0"/>
              </a:rPr>
              <a:t>AVC-set on </a:t>
            </a:r>
            <a:r>
              <a:rPr lang="en-US" altLang="ko-KR" sz="2000" i="1" dirty="0">
                <a:latin typeface="Tahoma" panose="020B0604030504040204" pitchFamily="34" charset="0"/>
                <a:ea typeface="Gulim" panose="020B0600000101010101" pitchFamily="34" charset="-127"/>
              </a:rPr>
              <a:t>Age</a:t>
            </a:r>
            <a:endParaRPr sz="2000" i="1" dirty="0">
              <a:latin typeface="Tahoma" panose="020B0604030504040204" pitchFamily="34" charset="0"/>
            </a:endParaRPr>
          </a:p>
        </p:txBody>
      </p:sp>
      <p:sp>
        <p:nvSpPr>
          <p:cNvPr id="27721" name="Rectangle 130"/>
          <p:cNvSpPr/>
          <p:nvPr/>
        </p:nvSpPr>
        <p:spPr>
          <a:xfrm>
            <a:off x="4419600" y="4267200"/>
            <a:ext cx="23701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2000" dirty="0">
                <a:latin typeface="Tahoma" panose="020B0604030504040204" pitchFamily="34" charset="0"/>
              </a:rPr>
              <a:t>AVC-set on </a:t>
            </a:r>
            <a:r>
              <a:rPr lang="en-US" altLang="ko-KR" sz="2000" i="1" dirty="0">
                <a:latin typeface="Tahoma" panose="020B0604030504040204" pitchFamily="34" charset="0"/>
                <a:ea typeface="Gulim" panose="020B0600000101010101" pitchFamily="34" charset="-127"/>
              </a:rPr>
              <a:t>Student</a:t>
            </a:r>
            <a:endParaRPr sz="2000" i="1" dirty="0">
              <a:latin typeface="Tahoma" panose="020B0604030504040204" pitchFamily="34" charset="0"/>
            </a:endParaRPr>
          </a:p>
        </p:txBody>
      </p:sp>
      <p:sp>
        <p:nvSpPr>
          <p:cNvPr id="27722" name="Rectangle 132"/>
          <p:cNvSpPr/>
          <p:nvPr/>
        </p:nvSpPr>
        <p:spPr>
          <a:xfrm>
            <a:off x="533400" y="1447800"/>
            <a:ext cx="365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sz="2400" dirty="0">
                <a:latin typeface="Tahoma" panose="020B0604030504040204" pitchFamily="34" charset="0"/>
              </a:rPr>
              <a:t>Training Examples</a:t>
            </a:r>
            <a:endParaRPr sz="2400" i="1" dirty="0">
              <a:latin typeface="Tahoma" panose="020B0604030504040204" pitchFamily="34" charset="0"/>
            </a:endParaRPr>
          </a:p>
        </p:txBody>
      </p:sp>
      <p:graphicFrame>
        <p:nvGraphicFramePr>
          <p:cNvPr id="1678504" name="Group 168"/>
          <p:cNvGraphicFramePr>
            <a:graphicFrameLocks noGrp="1"/>
          </p:cNvGraphicFramePr>
          <p:nvPr>
            <p:ph sz="quarter" idx="1"/>
          </p:nvPr>
        </p:nvGraphicFramePr>
        <p:xfrm>
          <a:off x="6781800" y="1905000"/>
          <a:ext cx="2209800" cy="1828800"/>
        </p:xfrm>
        <a:graphic>
          <a:graphicData uri="http://schemas.openxmlformats.org/drawingml/2006/table">
            <a:tbl>
              <a:tblPr/>
              <a:tblGrid>
                <a:gridCol w="828675"/>
                <a:gridCol w="577850"/>
                <a:gridCol w="803275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income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Buy_Computer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yes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no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high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medium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low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748" name="Rectangle 167"/>
          <p:cNvSpPr/>
          <p:nvPr/>
        </p:nvSpPr>
        <p:spPr>
          <a:xfrm>
            <a:off x="7162800" y="4114800"/>
            <a:ext cx="1600200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sz="2000" dirty="0">
                <a:latin typeface="Tahoma" panose="020B0604030504040204" pitchFamily="34" charset="0"/>
              </a:rPr>
              <a:t>AVC-set on </a:t>
            </a:r>
            <a:endParaRPr sz="2000" dirty="0">
              <a:latin typeface="Tahoma" panose="020B0604030504040204" pitchFamily="34" charset="0"/>
            </a:endParaRPr>
          </a:p>
          <a:p>
            <a:pPr algn="ctr"/>
            <a:r>
              <a:rPr lang="en-US" altLang="ko-KR" sz="2000" i="1" dirty="0">
                <a:latin typeface="Tahoma" panose="020B0604030504040204" pitchFamily="34" charset="0"/>
                <a:ea typeface="Gulim" panose="020B0600000101010101" pitchFamily="34" charset="-127"/>
              </a:rPr>
              <a:t>credit_rating</a:t>
            </a:r>
            <a:endParaRPr sz="2000" i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Slide Number Placeholder 5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dirty="0">
                <a:latin typeface="Tahoma" panose="020B0604030504040204" pitchFamily="34" charset="0"/>
              </a:rPr>
            </a:fld>
            <a:endParaRPr lang="en-US" sz="1200" dirty="0">
              <a:latin typeface="Tahom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304800"/>
            <a:ext cx="8229600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BOAT (Bootstrapped Optimistic Algorithm for Tree Construction)</a:t>
            </a:r>
            <a:endParaRPr lang="en-US" altLang="ko-KR" b="0" dirty="0"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body" idx="4294967295"/>
          </p:nvPr>
        </p:nvSpPr>
        <p:spPr>
          <a:xfrm>
            <a:off x="381000" y="1447800"/>
            <a:ext cx="8229600" cy="500538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sz="2400" dirty="0">
                <a:latin typeface="Arial" panose="020B0604020202020204" pitchFamily="34" charset="0"/>
              </a:rPr>
              <a:t>Use a statistical technique called </a:t>
            </a:r>
            <a:r>
              <a:rPr sz="2400" i="1" dirty="0">
                <a:latin typeface="Arial" panose="020B0604020202020204" pitchFamily="34" charset="0"/>
              </a:rPr>
              <a:t>bootstrapping</a:t>
            </a:r>
            <a:r>
              <a:rPr sz="2400" dirty="0">
                <a:latin typeface="Arial" panose="020B0604020202020204" pitchFamily="34" charset="0"/>
              </a:rPr>
              <a:t> to create several smaller samples (subsets), each fits in memory</a:t>
            </a:r>
            <a:endParaRPr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Each subset is used to create a tree, resulting in several trees </a:t>
            </a:r>
            <a:endParaRPr lang="en-US" altLang="ko-KR" sz="2400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These trees are examined and used to construct a new tree </a:t>
            </a:r>
            <a:r>
              <a:rPr lang="en-US" altLang="ko-KR" sz="2400" i="1" dirty="0">
                <a:latin typeface="Arial" panose="020B0604020202020204" pitchFamily="34" charset="0"/>
                <a:ea typeface="Gulim" panose="020B0600000101010101" pitchFamily="34" charset="-127"/>
              </a:rPr>
              <a:t>T’</a:t>
            </a:r>
            <a:endParaRPr lang="en-US" altLang="ko-KR" sz="2400" i="1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It turns out that</a:t>
            </a:r>
            <a:r>
              <a:rPr lang="en-US" altLang="ko-KR" sz="2400" i="1" dirty="0">
                <a:latin typeface="Arial" panose="020B0604020202020204" pitchFamily="34" charset="0"/>
                <a:ea typeface="Gulim" panose="020B0600000101010101" pitchFamily="34" charset="-127"/>
              </a:rPr>
              <a:t> T’</a:t>
            </a: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 is very close to the tree that would be generated using the whole data set together</a:t>
            </a:r>
            <a:endParaRPr lang="en-US" altLang="ko-KR" sz="2400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ko-KR" sz="2400" dirty="0">
                <a:latin typeface="Arial" panose="020B0604020202020204" pitchFamily="34" charset="0"/>
                <a:ea typeface="Gulim" panose="020B0600000101010101" pitchFamily="34" charset="-127"/>
              </a:rPr>
              <a:t>Adv: requires only two scans of DB, an incremental alg.</a:t>
            </a:r>
            <a:endParaRPr lang="en-US" altLang="ko-KR" sz="2400" dirty="0">
              <a:latin typeface="Arial" panose="020B0604020202020204" pitchFamily="34" charset="0"/>
              <a:ea typeface="Gulim" panose="020B0600000101010101" pitchFamily="34" charset="-127"/>
            </a:endParaRPr>
          </a:p>
          <a:p>
            <a:pPr eaLnBrk="1" hangingPunct="1">
              <a:lnSpc>
                <a:spcPct val="130000"/>
              </a:lnSpc>
            </a:pPr>
            <a:endParaRPr lang="en-US" altLang="ko-KR" sz="2400" dirty="0"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Date Placeholder 3"/>
          <p:cNvSpPr txBox="1">
            <a:spLocks noGrp="1"/>
          </p:cNvSpPr>
          <p:nvPr>
            <p:ph type="dt" sz="half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eaLnBrk="1" hangingPunct="1"/>
            <a:fld id="{BB962C8B-B14F-4D97-AF65-F5344CB8AC3E}" type="datetime4">
              <a:rPr lang="en-US" sz="1200" dirty="0"/>
            </a:fld>
            <a:endParaRPr lang="en-US" sz="1200" dirty="0"/>
          </a:p>
        </p:txBody>
      </p:sp>
      <p:sp>
        <p:nvSpPr>
          <p:cNvPr id="29699" name="Footer Placeholder 4"/>
          <p:cNvSpPr txBox="1">
            <a:spLocks noGrp="1"/>
          </p:cNvSpPr>
          <p:nvPr>
            <p:ph type="ftr" sz="quarter"/>
          </p:nvPr>
        </p:nvSpPr>
        <p:spPr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r>
              <a:rPr sz="1200" dirty="0"/>
              <a:t>Data Mining: Concepts and Techniques</a:t>
            </a:r>
            <a:endParaRPr sz="1200" dirty="0"/>
          </a:p>
        </p:txBody>
      </p:sp>
      <p:sp>
        <p:nvSpPr>
          <p:cNvPr id="29700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9701" name="Rectangle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4064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Presentation of Classification Results</a:t>
            </a:r>
            <a:endParaRPr sz="2400" dirty="0"/>
          </a:p>
        </p:txBody>
      </p:sp>
      <p:pic>
        <p:nvPicPr>
          <p:cNvPr id="29702" name="Picture 3" descr="class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85800"/>
            <a:ext cx="8763000" cy="617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Date Placeholder 3"/>
          <p:cNvSpPr txBox="1">
            <a:spLocks noGrp="1"/>
          </p:cNvSpPr>
          <p:nvPr>
            <p:ph type="dt" sz="half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eaLnBrk="1" hangingPunct="1"/>
            <a:fld id="{BB962C8B-B14F-4D97-AF65-F5344CB8AC3E}" type="datetime4">
              <a:rPr lang="en-US" sz="1200" dirty="0"/>
            </a:fld>
            <a:endParaRPr lang="en-US" sz="1200" dirty="0"/>
          </a:p>
        </p:txBody>
      </p:sp>
      <p:sp>
        <p:nvSpPr>
          <p:cNvPr id="30723" name="Footer Placeholder 4"/>
          <p:cNvSpPr txBox="1">
            <a:spLocks noGrp="1"/>
          </p:cNvSpPr>
          <p:nvPr>
            <p:ph type="ftr" sz="quarter"/>
          </p:nvPr>
        </p:nvSpPr>
        <p:spPr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r>
              <a:rPr sz="1200" dirty="0"/>
              <a:t>Data Mining: Concepts and Techniques</a:t>
            </a:r>
            <a:endParaRPr sz="1200" dirty="0"/>
          </a:p>
        </p:txBody>
      </p:sp>
      <p:sp>
        <p:nvSpPr>
          <p:cNvPr id="30724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0725" name="Rectangle 2050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sz="3200" dirty="0">
                <a:solidFill>
                  <a:srgbClr val="170981"/>
                </a:solidFill>
              </a:rPr>
              <a:t>Visualization of a Decision Tree in SGI/MineSet 3.0</a:t>
            </a:r>
            <a:endParaRPr sz="3200" dirty="0">
              <a:solidFill>
                <a:srgbClr val="170981"/>
              </a:solidFill>
            </a:endParaRPr>
          </a:p>
        </p:txBody>
      </p:sp>
      <p:pic>
        <p:nvPicPr>
          <p:cNvPr id="30726" name="Picture 2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5800"/>
            <a:ext cx="9144000" cy="617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Footer Placeholder 3"/>
          <p:cNvSpPr txBox="1">
            <a:spLocks noGrp="1"/>
          </p:cNvSpPr>
          <p:nvPr>
            <p:ph type="ftr" sz="quarter"/>
          </p:nvPr>
        </p:nvSpPr>
        <p:spPr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r>
              <a:rPr sz="1200" dirty="0"/>
              <a:t>Data Mining: Concepts and Techniques</a:t>
            </a:r>
            <a:endParaRPr sz="1200" dirty="0"/>
          </a:p>
        </p:txBody>
      </p:sp>
      <p:sp>
        <p:nvSpPr>
          <p:cNvPr id="31747" name="Slide Number Placeholder 4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>
                <a:solidFill>
                  <a:schemeClr val="hlink"/>
                </a:solidFill>
              </a:rPr>
              <a:t>Interactive Visual Mining</a:t>
            </a:r>
            <a:r>
              <a:rPr dirty="0"/>
              <a:t> by Perception-Based Classification (PBC)</a:t>
            </a:r>
            <a:endParaRPr dirty="0"/>
          </a:p>
        </p:txBody>
      </p:sp>
      <p:pic>
        <p:nvPicPr>
          <p:cNvPr id="3174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6800"/>
            <a:ext cx="7696200" cy="5791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Slide Number Placeholder 6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400" b="1" dirty="0">
                <a:latin typeface="Calibri" panose="020F0502020204030204" pitchFamily="34" charset="0"/>
              </a:rPr>
            </a:fld>
            <a:endParaRPr lang="en-US" sz="1400" b="1" dirty="0">
              <a:latin typeface="Calibri" panose="020F0502020204030204" pitchFamily="34" charset="0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 idx="4294967295"/>
          </p:nvPr>
        </p:nvSpPr>
        <p:spPr>
          <a:xfrm>
            <a:off x="0" y="304800"/>
            <a:ext cx="9144000" cy="6096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Chapter 8. Classification: Basic Concepts</a:t>
            </a:r>
            <a:endParaRPr dirty="0"/>
          </a:p>
        </p:txBody>
      </p:sp>
      <p:sp>
        <p:nvSpPr>
          <p:cNvPr id="32772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</p:spPr>
        <p:txBody>
          <a:bodyPr vert="horz" wrap="square" lIns="92075" tIns="46038" rIns="92075" bIns="46038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lnSpc>
                <a:spcPct val="130000"/>
              </a:lnSpc>
            </a:pPr>
            <a:r>
              <a:rPr sz="2800" dirty="0"/>
              <a:t>Classification: Basic Concepts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Decision Tree Induction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Bayes Classification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Rule-Based Classification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Model Evaluation and Selection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Techniques to Improve Classification Accuracy: Ensemble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Summary</a:t>
            </a:r>
            <a:endParaRPr sz="2800" dirty="0"/>
          </a:p>
        </p:txBody>
      </p:sp>
      <p:sp>
        <p:nvSpPr>
          <p:cNvPr id="32773" name="AutoShape 8"/>
          <p:cNvSpPr/>
          <p:nvPr/>
        </p:nvSpPr>
        <p:spPr>
          <a:xfrm rot="9803581">
            <a:off x="5334000" y="27432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7696200" cy="6858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Bayesian Classification: Why?</a:t>
            </a:r>
            <a:endParaRPr sz="2400" dirty="0"/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2578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sz="2400" u="sng" dirty="0"/>
              <a:t>A statistical classifier</a:t>
            </a:r>
            <a:r>
              <a:rPr sz="2400" dirty="0"/>
              <a:t>: performs </a:t>
            </a:r>
            <a:r>
              <a:rPr sz="2400" i="1" dirty="0"/>
              <a:t>probabilistic prediction, i.e.,</a:t>
            </a:r>
            <a:r>
              <a:rPr sz="2400" dirty="0"/>
              <a:t> predicts class membership probabilities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u="sng" dirty="0"/>
              <a:t>Foundation:</a:t>
            </a:r>
            <a:r>
              <a:rPr sz="2400" dirty="0"/>
              <a:t> Based on Bayes’ Theorem. 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u="sng" dirty="0"/>
              <a:t>Performance:</a:t>
            </a:r>
            <a:r>
              <a:rPr sz="2400" dirty="0"/>
              <a:t> A simple Bayesian classifier, </a:t>
            </a:r>
            <a:r>
              <a:rPr sz="2400" i="1" dirty="0"/>
              <a:t>naïve Bayesian classifier</a:t>
            </a:r>
            <a:r>
              <a:rPr sz="2400" dirty="0"/>
              <a:t>, has comparable performance with decision tree and selected neural network classifiers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u="sng" dirty="0"/>
              <a:t>Incremental</a:t>
            </a:r>
            <a:r>
              <a:rPr sz="2400" dirty="0"/>
              <a:t>: Each training example can incrementally increase/decrease the probability that a hypothesis is correct — prior knowledge can be combined with observed data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u="sng" dirty="0"/>
              <a:t>Standard</a:t>
            </a:r>
            <a:r>
              <a:rPr sz="2400" dirty="0"/>
              <a:t>: Even when Bayesian methods are computationally intractable, they can provide a standard of optimal decision making against which other methods can be measured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7848600" cy="762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Bayes’ Theorem: Basics</a:t>
            </a:r>
            <a:endParaRPr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410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2000" dirty="0"/>
              <a:t>Total probability Theorem:</a:t>
            </a:r>
            <a:endParaRPr sz="2000" dirty="0"/>
          </a:p>
          <a:p>
            <a:pPr eaLnBrk="1" hangingPunct="1"/>
            <a:endParaRPr sz="2000" dirty="0"/>
          </a:p>
          <a:p>
            <a:pPr eaLnBrk="1" hangingPunct="1"/>
            <a:r>
              <a:rPr sz="2000" dirty="0"/>
              <a:t>Bayes’ Theorem:</a:t>
            </a:r>
            <a:endParaRPr sz="2000" dirty="0"/>
          </a:p>
          <a:p>
            <a:pPr eaLnBrk="1" hangingPunct="1"/>
            <a:endParaRPr sz="2000" dirty="0"/>
          </a:p>
          <a:p>
            <a:pPr lvl="1" eaLnBrk="1" hangingPunct="1"/>
            <a:r>
              <a:rPr sz="2000" dirty="0"/>
              <a:t>Let </a:t>
            </a:r>
            <a:r>
              <a:rPr sz="2000" b="1" dirty="0"/>
              <a:t>X</a:t>
            </a:r>
            <a:r>
              <a:rPr sz="2000" dirty="0"/>
              <a:t> be a data sample (“</a:t>
            </a:r>
            <a:r>
              <a:rPr sz="2000" i="1" dirty="0"/>
              <a:t>evidence</a:t>
            </a:r>
            <a:r>
              <a:rPr sz="2000" dirty="0"/>
              <a:t>”): class label is unknown</a:t>
            </a:r>
            <a:endParaRPr sz="2000" dirty="0"/>
          </a:p>
          <a:p>
            <a:pPr lvl="1" eaLnBrk="1" hangingPunct="1"/>
            <a:r>
              <a:rPr sz="2000" dirty="0"/>
              <a:t>Let H be a </a:t>
            </a:r>
            <a:r>
              <a:rPr sz="2000" i="1" dirty="0"/>
              <a:t>hypothesis</a:t>
            </a:r>
            <a:r>
              <a:rPr sz="2000" dirty="0"/>
              <a:t> that X belongs to class C </a:t>
            </a:r>
            <a:endParaRPr sz="2000" dirty="0"/>
          </a:p>
          <a:p>
            <a:pPr lvl="1" eaLnBrk="1" hangingPunct="1"/>
            <a:r>
              <a:rPr sz="2000" dirty="0"/>
              <a:t>Classification is to determine P(H|</a:t>
            </a:r>
            <a:r>
              <a:rPr sz="2000" b="1" dirty="0"/>
              <a:t>X</a:t>
            </a:r>
            <a:r>
              <a:rPr sz="2000" dirty="0"/>
              <a:t>), (i.e., </a:t>
            </a:r>
            <a:r>
              <a:rPr sz="2000" i="1" dirty="0"/>
              <a:t>posteriori probability): </a:t>
            </a:r>
            <a:r>
              <a:rPr sz="2000" dirty="0"/>
              <a:t> the probability that the hypothesis holds given the observed data sample </a:t>
            </a:r>
            <a:r>
              <a:rPr sz="2000" b="1" dirty="0"/>
              <a:t>X</a:t>
            </a:r>
            <a:endParaRPr sz="2000" b="1" dirty="0"/>
          </a:p>
          <a:p>
            <a:pPr lvl="1" eaLnBrk="1" hangingPunct="1"/>
            <a:r>
              <a:rPr sz="2000" dirty="0"/>
              <a:t>P(H) (</a:t>
            </a:r>
            <a:r>
              <a:rPr sz="2000" i="1" dirty="0"/>
              <a:t>prior probability</a:t>
            </a:r>
            <a:r>
              <a:rPr sz="2000" dirty="0"/>
              <a:t>): the initial probability</a:t>
            </a:r>
            <a:endParaRPr sz="2000" dirty="0"/>
          </a:p>
          <a:p>
            <a:pPr lvl="2" eaLnBrk="1" hangingPunct="1"/>
            <a:r>
              <a:rPr sz="2000" dirty="0"/>
              <a:t>E.g.,</a:t>
            </a:r>
            <a:r>
              <a:rPr sz="2000" b="1" dirty="0"/>
              <a:t> X</a:t>
            </a:r>
            <a:r>
              <a:rPr sz="2000" dirty="0"/>
              <a:t> will buy computer, regardless of age, income, …</a:t>
            </a:r>
            <a:endParaRPr sz="2000" dirty="0"/>
          </a:p>
          <a:p>
            <a:pPr lvl="1" eaLnBrk="1" hangingPunct="1"/>
            <a:r>
              <a:rPr sz="2000" dirty="0"/>
              <a:t>P(</a:t>
            </a:r>
            <a:r>
              <a:rPr sz="2000" b="1" dirty="0"/>
              <a:t>X</a:t>
            </a:r>
            <a:r>
              <a:rPr sz="2000" dirty="0"/>
              <a:t>): probability that sample data is observed</a:t>
            </a:r>
            <a:endParaRPr sz="2000" dirty="0"/>
          </a:p>
          <a:p>
            <a:pPr lvl="1" eaLnBrk="1" hangingPunct="1"/>
            <a:r>
              <a:rPr sz="2000" dirty="0"/>
              <a:t>P(</a:t>
            </a:r>
            <a:r>
              <a:rPr sz="2000" b="1" dirty="0"/>
              <a:t>X</a:t>
            </a:r>
            <a:r>
              <a:rPr sz="2000" dirty="0"/>
              <a:t>|H) (likelihood): the probability of observing the sample </a:t>
            </a:r>
            <a:r>
              <a:rPr sz="2000" b="1" dirty="0"/>
              <a:t>X</a:t>
            </a:r>
            <a:r>
              <a:rPr sz="2000" dirty="0"/>
              <a:t>, given that the hypothesis holds</a:t>
            </a:r>
            <a:endParaRPr sz="2000" dirty="0"/>
          </a:p>
          <a:p>
            <a:pPr lvl="2" eaLnBrk="1" hangingPunct="1"/>
            <a:r>
              <a:rPr sz="2000" dirty="0"/>
              <a:t>E.g.,</a:t>
            </a:r>
            <a:r>
              <a:rPr sz="2000" b="1" dirty="0"/>
              <a:t> </a:t>
            </a:r>
            <a:r>
              <a:rPr sz="2000" dirty="0"/>
              <a:t>Given that</a:t>
            </a:r>
            <a:r>
              <a:rPr sz="2000" b="1" dirty="0"/>
              <a:t> X</a:t>
            </a:r>
            <a:r>
              <a:rPr sz="2000" dirty="0"/>
              <a:t> will buy computer, the prob. that X is 31..40, medium income</a:t>
            </a:r>
            <a:endParaRPr sz="2000" dirty="0"/>
          </a:p>
        </p:txBody>
      </p:sp>
      <p:graphicFrame>
        <p:nvGraphicFramePr>
          <p:cNvPr id="34821" name="Object 1"/>
          <p:cNvGraphicFramePr>
            <a:graphicFrameLocks noChangeAspect="1"/>
          </p:cNvGraphicFramePr>
          <p:nvPr/>
        </p:nvGraphicFramePr>
        <p:xfrm>
          <a:off x="3657600" y="1143000"/>
          <a:ext cx="21653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476500" imgH="685800" progId="Equation.3">
                  <p:embed/>
                </p:oleObj>
              </mc:Choice>
              <mc:Fallback>
                <p:oleObj name="" r:id="rId1" imgW="2476500" imgH="685800" progId="Equation.3">
                  <p:embed/>
                  <p:pic>
                    <p:nvPicPr>
                      <p:cNvPr id="0" name="Picture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7600" y="1143000"/>
                        <a:ext cx="2165350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1"/>
          <p:cNvGraphicFramePr>
            <a:graphicFrameLocks noChangeAspect="1"/>
          </p:cNvGraphicFramePr>
          <p:nvPr/>
        </p:nvGraphicFramePr>
        <p:xfrm>
          <a:off x="2667000" y="1981200"/>
          <a:ext cx="60801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4813300" imgH="558800" progId="Equation.3">
                  <p:embed/>
                </p:oleObj>
              </mc:Choice>
              <mc:Fallback>
                <p:oleObj name="" r:id="rId3" imgW="4813300" imgH="558800" progId="Equation.3">
                  <p:embed/>
                  <p:pic>
                    <p:nvPicPr>
                      <p:cNvPr id="0" name="Picture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1981200"/>
                        <a:ext cx="6080125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Prediction Based on Bayes’ Theorem</a:t>
            </a:r>
            <a:endParaRPr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5029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sz="2400" dirty="0"/>
              <a:t>Given training data</a:t>
            </a:r>
            <a:r>
              <a:rPr sz="2400" i="1" dirty="0"/>
              <a:t> </a:t>
            </a:r>
            <a:r>
              <a:rPr sz="2400" b="1" dirty="0"/>
              <a:t>X</a:t>
            </a:r>
            <a:r>
              <a:rPr sz="2400" i="1" dirty="0"/>
              <a:t>, posteriori probability of a hypothesis </a:t>
            </a:r>
            <a:r>
              <a:rPr sz="2400" dirty="0"/>
              <a:t>H</a:t>
            </a:r>
            <a:r>
              <a:rPr sz="2400" i="1" dirty="0"/>
              <a:t>, </a:t>
            </a:r>
            <a:r>
              <a:rPr sz="2400" dirty="0"/>
              <a:t>P(H|</a:t>
            </a:r>
            <a:r>
              <a:rPr sz="2400" b="1" dirty="0"/>
              <a:t>X</a:t>
            </a:r>
            <a:r>
              <a:rPr sz="2400" dirty="0"/>
              <a:t>)</a:t>
            </a:r>
            <a:r>
              <a:rPr sz="2400" i="1" dirty="0"/>
              <a:t>, </a:t>
            </a:r>
            <a:r>
              <a:rPr sz="2400" dirty="0"/>
              <a:t>follows the Bayes’ theorem</a:t>
            </a:r>
            <a:endParaRPr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sz="2400" dirty="0"/>
              <a:t>			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/>
              <a:t>Informally, this can be viewed as </a:t>
            </a:r>
            <a:endParaRPr sz="24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sz="2400" dirty="0"/>
              <a:t>		posteriori = likelihood x prior/evidence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/>
              <a:t>Predicts </a:t>
            </a:r>
            <a:r>
              <a:rPr sz="2400" b="1" dirty="0"/>
              <a:t>X</a:t>
            </a:r>
            <a:r>
              <a:rPr sz="2400" dirty="0"/>
              <a:t> belongs to C</a:t>
            </a:r>
            <a:r>
              <a:rPr sz="2400" baseline="-25000" dirty="0"/>
              <a:t>i</a:t>
            </a:r>
            <a:r>
              <a:rPr sz="2400" dirty="0"/>
              <a:t> iff the probability P(C</a:t>
            </a:r>
            <a:r>
              <a:rPr sz="2400" baseline="-25000" dirty="0"/>
              <a:t>i</a:t>
            </a:r>
            <a:r>
              <a:rPr sz="2400" dirty="0"/>
              <a:t>|</a:t>
            </a:r>
            <a:r>
              <a:rPr sz="2400" b="1" dirty="0"/>
              <a:t>X</a:t>
            </a:r>
            <a:r>
              <a:rPr sz="2400" dirty="0"/>
              <a:t>) is the highest among all the P(C</a:t>
            </a:r>
            <a:r>
              <a:rPr sz="2400" baseline="-25000" dirty="0"/>
              <a:t>k</a:t>
            </a:r>
            <a:r>
              <a:rPr sz="2400" dirty="0"/>
              <a:t>|X) for all the </a:t>
            </a:r>
            <a:r>
              <a:rPr sz="2400" i="1" dirty="0"/>
              <a:t>k</a:t>
            </a:r>
            <a:r>
              <a:rPr sz="2400" dirty="0"/>
              <a:t> classes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/>
              <a:t>Practical difficulty:  It requires initial knowledge of many probabilities, involving significant computational cost</a:t>
            </a:r>
            <a:endParaRPr sz="2400" dirty="0"/>
          </a:p>
        </p:txBody>
      </p:sp>
      <p:graphicFrame>
        <p:nvGraphicFramePr>
          <p:cNvPr id="35845" name="Object 4"/>
          <p:cNvGraphicFramePr>
            <a:graphicFrameLocks noChangeAspect="1"/>
          </p:cNvGraphicFramePr>
          <p:nvPr/>
        </p:nvGraphicFramePr>
        <p:xfrm>
          <a:off x="990600" y="2438400"/>
          <a:ext cx="75850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4813300" imgH="558800" progId="Equation.3">
                  <p:embed/>
                </p:oleObj>
              </mc:Choice>
              <mc:Fallback>
                <p:oleObj name="" r:id="rId1" imgW="4813300" imgH="558800" progId="Equation.3">
                  <p:embed/>
                  <p:pic>
                    <p:nvPicPr>
                      <p:cNvPr id="0" name="Picture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2438400"/>
                        <a:ext cx="7585075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Slide Number Placeholder 7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-228600" y="304800"/>
            <a:ext cx="96012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sz="3200" dirty="0"/>
              <a:t>Classification Is to Derive the Maximum Posteriori</a:t>
            </a:r>
            <a:endParaRPr sz="3200" dirty="0"/>
          </a:p>
        </p:txBody>
      </p:sp>
      <p:sp>
        <p:nvSpPr>
          <p:cNvPr id="36868" name="Rectangle 3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8458200" cy="5181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Let D be a training set of tuples and their associated class labels, and each tuple is represented by an n-D attribute vector </a:t>
            </a:r>
            <a:r>
              <a:rPr sz="2400" b="1" dirty="0"/>
              <a:t>X</a:t>
            </a:r>
            <a:r>
              <a:rPr sz="2400" dirty="0"/>
              <a:t> = (x</a:t>
            </a:r>
            <a:r>
              <a:rPr sz="2400" baseline="-25000" dirty="0"/>
              <a:t>1</a:t>
            </a:r>
            <a:r>
              <a:rPr sz="2400" dirty="0"/>
              <a:t>, x</a:t>
            </a:r>
            <a:r>
              <a:rPr sz="2400" baseline="-25000" dirty="0"/>
              <a:t>2</a:t>
            </a:r>
            <a:r>
              <a:rPr sz="2400" dirty="0"/>
              <a:t>, …, x</a:t>
            </a:r>
            <a:r>
              <a:rPr sz="2400" baseline="-25000" dirty="0"/>
              <a:t>n</a:t>
            </a:r>
            <a:r>
              <a:rPr sz="2400" dirty="0"/>
              <a:t>)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Suppose there are </a:t>
            </a:r>
            <a:r>
              <a:rPr sz="2400" i="1" dirty="0"/>
              <a:t>m</a:t>
            </a:r>
            <a:r>
              <a:rPr sz="2400" dirty="0"/>
              <a:t> classes C</a:t>
            </a:r>
            <a:r>
              <a:rPr sz="2400" baseline="-25000" dirty="0"/>
              <a:t>1</a:t>
            </a:r>
            <a:r>
              <a:rPr sz="2400" dirty="0"/>
              <a:t>, C</a:t>
            </a:r>
            <a:r>
              <a:rPr sz="2400" baseline="-25000" dirty="0"/>
              <a:t>2</a:t>
            </a:r>
            <a:r>
              <a:rPr sz="2400" dirty="0"/>
              <a:t>, …, C</a:t>
            </a:r>
            <a:r>
              <a:rPr sz="2400" baseline="-25000" dirty="0"/>
              <a:t>m</a:t>
            </a:r>
            <a:r>
              <a:rPr sz="2400" dirty="0"/>
              <a:t>.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Classification is to derive the maximum posteriori, i.e., the maximal P(C</a:t>
            </a:r>
            <a:r>
              <a:rPr sz="2400" baseline="-25000" dirty="0"/>
              <a:t>i</a:t>
            </a:r>
            <a:r>
              <a:rPr sz="2400" dirty="0"/>
              <a:t>|</a:t>
            </a:r>
            <a:r>
              <a:rPr sz="2400" b="1" dirty="0"/>
              <a:t>X</a:t>
            </a:r>
            <a:r>
              <a:rPr sz="2400" dirty="0"/>
              <a:t>)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This can be derived from Bayes’ theorem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Since P(X) is constant for all classes, only                                        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sz="2400" dirty="0"/>
              <a:t>needs to be maximized</a:t>
            </a:r>
            <a:endParaRPr sz="2400" dirty="0"/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>
            <p:ph sz="quarter" idx="2"/>
          </p:nvPr>
        </p:nvGraphicFramePr>
        <p:xfrm>
          <a:off x="4648200" y="3962400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2501900" imgH="647700" progId="Equation.3">
                  <p:embed/>
                </p:oleObj>
              </mc:Choice>
              <mc:Fallback>
                <p:oleObj name="" r:id="rId1" imgW="2501900" imgH="647700" progId="Equation.3">
                  <p:embed/>
                  <p:pic>
                    <p:nvPicPr>
                      <p:cNvPr id="0" name="Picture 309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648200" y="3962400"/>
                        <a:ext cx="2743200" cy="7096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7"/>
          <p:cNvGraphicFramePr>
            <a:graphicFrameLocks noChangeAspect="1"/>
          </p:cNvGraphicFramePr>
          <p:nvPr>
            <p:ph sz="quarter" idx="3"/>
          </p:nvPr>
        </p:nvGraphicFramePr>
        <p:xfrm>
          <a:off x="4191000" y="5181600"/>
          <a:ext cx="2895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2476500" imgH="381000" progId="Equation.3">
                  <p:embed/>
                </p:oleObj>
              </mc:Choice>
              <mc:Fallback>
                <p:oleObj name="" r:id="rId3" imgW="2476500" imgH="381000" progId="Equation.3">
                  <p:embed/>
                  <p:pic>
                    <p:nvPicPr>
                      <p:cNvPr id="0" name="Picture 3096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4191000" y="5181600"/>
                        <a:ext cx="2895600" cy="4460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Slide Number Placeholder 7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Naïve Bayes Classifier </a:t>
            </a:r>
            <a:endParaRPr dirty="0"/>
          </a:p>
        </p:txBody>
      </p:sp>
      <p:sp>
        <p:nvSpPr>
          <p:cNvPr id="37892" name="Rectangle 3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8382000" cy="5105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A simplified assumption: attributes are conditionally independent (i.e., no dependence relation between attributes):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This greatly reduces the computation cost: Only counts the class distribution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If A</a:t>
            </a:r>
            <a:r>
              <a:rPr sz="2400" baseline="-25000" dirty="0"/>
              <a:t>k</a:t>
            </a:r>
            <a:r>
              <a:rPr sz="2400" dirty="0"/>
              <a:t> is categorical, P(x</a:t>
            </a:r>
            <a:r>
              <a:rPr sz="2400" baseline="-25000" dirty="0"/>
              <a:t>k</a:t>
            </a:r>
            <a:r>
              <a:rPr sz="2400" dirty="0"/>
              <a:t>|C</a:t>
            </a:r>
            <a:r>
              <a:rPr sz="2400" baseline="-25000" dirty="0"/>
              <a:t>i</a:t>
            </a:r>
            <a:r>
              <a:rPr sz="2400" dirty="0"/>
              <a:t>) is the # of tuples in C</a:t>
            </a:r>
            <a:r>
              <a:rPr sz="2400" baseline="-25000" dirty="0"/>
              <a:t>i</a:t>
            </a:r>
            <a:r>
              <a:rPr sz="2400" dirty="0"/>
              <a:t> having value x</a:t>
            </a:r>
            <a:r>
              <a:rPr sz="2400" baseline="-25000" dirty="0"/>
              <a:t>k</a:t>
            </a:r>
            <a:r>
              <a:rPr sz="2400" dirty="0"/>
              <a:t> for A</a:t>
            </a:r>
            <a:r>
              <a:rPr sz="2400" baseline="-25000" dirty="0"/>
              <a:t>k</a:t>
            </a:r>
            <a:r>
              <a:rPr sz="2400" dirty="0"/>
              <a:t> divided by |C</a:t>
            </a:r>
            <a:r>
              <a:rPr sz="2400" baseline="-25000" dirty="0"/>
              <a:t>i, D</a:t>
            </a:r>
            <a:r>
              <a:rPr sz="2400" dirty="0"/>
              <a:t>| (# of tuples of C</a:t>
            </a:r>
            <a:r>
              <a:rPr sz="2400" baseline="-25000" dirty="0"/>
              <a:t>i</a:t>
            </a:r>
            <a:r>
              <a:rPr sz="2400" dirty="0"/>
              <a:t> in D)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If A</a:t>
            </a:r>
            <a:r>
              <a:rPr sz="2400" baseline="-25000" dirty="0"/>
              <a:t>k</a:t>
            </a:r>
            <a:r>
              <a:rPr sz="2400" dirty="0"/>
              <a:t> is continous-valued, P(x</a:t>
            </a:r>
            <a:r>
              <a:rPr sz="2400" baseline="-25000" dirty="0"/>
              <a:t>k</a:t>
            </a:r>
            <a:r>
              <a:rPr sz="2400" dirty="0"/>
              <a:t>|C</a:t>
            </a:r>
            <a:r>
              <a:rPr sz="2400" baseline="-25000" dirty="0"/>
              <a:t>i</a:t>
            </a:r>
            <a:r>
              <a:rPr sz="2400" dirty="0"/>
              <a:t>) is usually computed based on Gaussian distribution with a mean </a:t>
            </a:r>
            <a:r>
              <a:rPr lang="el-GR" altLang="x-none" sz="2400" dirty="0"/>
              <a:t>μ</a:t>
            </a:r>
            <a:r>
              <a:rPr sz="2400" dirty="0"/>
              <a:t> and standard deviation </a:t>
            </a:r>
            <a:r>
              <a:rPr lang="el-GR" altLang="x-none" sz="2400" dirty="0"/>
              <a:t>σ</a:t>
            </a:r>
            <a:endParaRPr lang="el-GR" altLang="x-none"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sz="2400" dirty="0"/>
              <a:t>and P(x</a:t>
            </a:r>
            <a:r>
              <a:rPr sz="2400" baseline="-25000" dirty="0"/>
              <a:t>k</a:t>
            </a:r>
            <a:r>
              <a:rPr sz="2400" dirty="0"/>
              <a:t>|C</a:t>
            </a:r>
            <a:r>
              <a:rPr sz="2400" baseline="-25000" dirty="0"/>
              <a:t>i</a:t>
            </a:r>
            <a:r>
              <a:rPr sz="2400" dirty="0"/>
              <a:t>) is </a:t>
            </a:r>
            <a:endParaRPr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</p:txBody>
      </p:sp>
      <p:graphicFrame>
        <p:nvGraphicFramePr>
          <p:cNvPr id="37893" name="Object 10"/>
          <p:cNvGraphicFramePr>
            <a:graphicFrameLocks noGrp="1"/>
          </p:cNvGraphicFramePr>
          <p:nvPr>
            <p:ph sz="quarter" idx="2"/>
          </p:nvPr>
        </p:nvGraphicFramePr>
        <p:xfrm>
          <a:off x="2438400" y="1905000"/>
          <a:ext cx="6172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4089400" imgH="508000" progId="Equation.3">
                  <p:embed/>
                </p:oleObj>
              </mc:Choice>
              <mc:Fallback>
                <p:oleObj name="" r:id="rId1" imgW="4089400" imgH="508000" progId="Equation.3">
                  <p:embed/>
                  <p:pic>
                    <p:nvPicPr>
                      <p:cNvPr id="0" name="Picture 309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438400" y="1905000"/>
                        <a:ext cx="6172200" cy="8985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2"/>
          <p:cNvGraphicFramePr/>
          <p:nvPr>
            <p:ph sz="quarter" idx="3"/>
          </p:nvPr>
        </p:nvGraphicFramePr>
        <p:xfrm>
          <a:off x="4191000" y="4953000"/>
          <a:ext cx="327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1663700" imgH="482600" progId="Equation.3">
                  <p:embed/>
                </p:oleObj>
              </mc:Choice>
              <mc:Fallback>
                <p:oleObj name="" r:id="rId3" imgW="1663700" imgH="482600" progId="Equation.3">
                  <p:embed/>
                  <p:pic>
                    <p:nvPicPr>
                      <p:cNvPr id="0" name="Picture 3098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4191000" y="4953000"/>
                        <a:ext cx="3276600" cy="838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14"/>
          <p:cNvGraphicFramePr/>
          <p:nvPr/>
        </p:nvGraphicFramePr>
        <p:xfrm>
          <a:off x="4191000" y="5943600"/>
          <a:ext cx="2819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1625600" imgH="241300" progId="Equation.3">
                  <p:embed/>
                </p:oleObj>
              </mc:Choice>
              <mc:Fallback>
                <p:oleObj name="" r:id="rId5" imgW="1625600" imgH="241300" progId="Equation.3">
                  <p:embed/>
                  <p:pic>
                    <p:nvPicPr>
                      <p:cNvPr id="0" name="Picture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1000" y="5943600"/>
                        <a:ext cx="2819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Naïve Bayes Classifier: Training Dataset</a:t>
            </a:r>
            <a:endParaRPr dirty="0"/>
          </a:p>
        </p:txBody>
      </p:sp>
      <p:sp>
        <p:nvSpPr>
          <p:cNvPr id="38916" name="Text Box 4"/>
          <p:cNvSpPr txBox="1"/>
          <p:nvPr/>
        </p:nvSpPr>
        <p:spPr>
          <a:xfrm>
            <a:off x="152400" y="1828800"/>
            <a:ext cx="3429000" cy="3748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Class: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C1:buys_computer = ‘yes’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C2:buys_computer = ‘no’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Data to be classified: 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X = (age &lt;=30, 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Income = medium,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Student = yes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sz="2400" dirty="0">
                <a:latin typeface="Calibri" panose="020F0502020204030204" pitchFamily="34" charset="0"/>
              </a:rPr>
              <a:t>Credit_rating = Fair)</a:t>
            </a:r>
            <a:endParaRPr sz="2400" dirty="0">
              <a:latin typeface="Calibri" panose="020F0502020204030204" pitchFamily="34" charset="0"/>
            </a:endParaRPr>
          </a:p>
        </p:txBody>
      </p:sp>
      <p:graphicFrame>
        <p:nvGraphicFramePr>
          <p:cNvPr id="38917" name="Object 5"/>
          <p:cNvGraphicFramePr/>
          <p:nvPr>
            <p:ph idx="1"/>
          </p:nvPr>
        </p:nvGraphicFramePr>
        <p:xfrm>
          <a:off x="3810000" y="1295400"/>
          <a:ext cx="511016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6118225" imgH="6306820" progId="Excel.Sheet.8">
                  <p:embed/>
                </p:oleObj>
              </mc:Choice>
              <mc:Fallback>
                <p:oleObj name="" r:id="rId1" imgW="6118225" imgH="6306820" progId="Excel.Sheet.8">
                  <p:embed/>
                  <p:pic>
                    <p:nvPicPr>
                      <p:cNvPr id="0" name="Picture 310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810000" y="1295400"/>
                        <a:ext cx="5110163" cy="5257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0" y="228600"/>
            <a:ext cx="90678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Naïve Bayes Classifier: An Example</a:t>
            </a:r>
            <a:endParaRPr dirty="0"/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228600" y="1152525"/>
            <a:ext cx="8686800" cy="57150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sz="2000" dirty="0"/>
              <a:t>P(C</a:t>
            </a:r>
            <a:r>
              <a:rPr sz="2000" baseline="-25000" dirty="0"/>
              <a:t>i</a:t>
            </a:r>
            <a:r>
              <a:rPr sz="2000" dirty="0"/>
              <a:t>):    P(buys_computer = “yes”)  = 9/14 = 0.643</a:t>
            </a:r>
            <a:endParaRPr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sz="2000" dirty="0"/>
              <a:t>                   P(buys_computer = “no”) = 5/14= 0.357</a:t>
            </a:r>
            <a:endParaRPr sz="2000" dirty="0"/>
          </a:p>
          <a:p>
            <a:pPr eaLnBrk="1" hangingPunct="1">
              <a:lnSpc>
                <a:spcPct val="90000"/>
              </a:lnSpc>
            </a:pPr>
            <a:r>
              <a:rPr sz="2000" dirty="0"/>
              <a:t>Compute P(X|C</a:t>
            </a:r>
            <a:r>
              <a:rPr sz="2000" baseline="-25000" dirty="0"/>
              <a:t>i</a:t>
            </a:r>
            <a:r>
              <a:rPr sz="2000" dirty="0"/>
              <a:t>) for each class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P(age = “&lt;=30” | buys_computer = “yes”)  = 2/9 = 0.222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P(age = “&lt;= 30” | buys_computer = “no”) = 3/5 = 0.6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P(income = “medium” | buys_computer = “yes”) = 4/9 = 0.444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P(income = “medium” | buys_computer = “no”) = 2/5 = 0.4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P(student = “yes” | buys_computer = “yes) = 6/9 = 0.667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P(student = “yes” | buys_computer = “no”) = 1/5 = 0.2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P(credit_rating = “fair” | buys_computer = “yes”) = 6/9 = 0.667</a:t>
            </a:r>
            <a:endParaRPr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000" dirty="0"/>
              <a:t>     P(credit_rating = “fair” | buys_computer = “no”) = 2/5 = 0.4</a:t>
            </a:r>
            <a:endParaRPr sz="2000" dirty="0"/>
          </a:p>
          <a:p>
            <a:pPr eaLnBrk="1" hangingPunct="1">
              <a:lnSpc>
                <a:spcPct val="90000"/>
              </a:lnSpc>
            </a:pPr>
            <a:r>
              <a:rPr sz="2000" b="1" dirty="0"/>
              <a:t> X = (age &lt;= 30 , income = medium, student = yes, credit_rating = fair)</a:t>
            </a:r>
            <a:endParaRPr sz="2000" b="1" dirty="0"/>
          </a:p>
          <a:p>
            <a:pPr eaLnBrk="1" hangingPunct="1">
              <a:lnSpc>
                <a:spcPct val="90000"/>
              </a:lnSpc>
              <a:buNone/>
            </a:pPr>
            <a:r>
              <a:rPr sz="2000" dirty="0"/>
              <a:t> </a:t>
            </a:r>
            <a:r>
              <a:rPr sz="2000" b="1" dirty="0"/>
              <a:t>P(X|C</a:t>
            </a:r>
            <a:r>
              <a:rPr sz="2000" b="1" baseline="-25000" dirty="0"/>
              <a:t>i</a:t>
            </a:r>
            <a:r>
              <a:rPr sz="2000" b="1" dirty="0"/>
              <a:t>) :</a:t>
            </a:r>
            <a:r>
              <a:rPr sz="2000" dirty="0"/>
              <a:t> P(X|buys_computer = “yes”) = 0.222 x 0.444 x 0.667 x 0.667 = 0.044</a:t>
            </a:r>
            <a:endParaRPr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sz="2000" dirty="0"/>
              <a:t>                P(X|buys_computer = “no”) = 0.6 x 0.4 x 0.2 x 0.4 = 0.019</a:t>
            </a:r>
            <a:endParaRPr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sz="2000" b="1" dirty="0"/>
              <a:t>P(X|C</a:t>
            </a:r>
            <a:r>
              <a:rPr sz="2000" b="1" baseline="-25000" dirty="0"/>
              <a:t>i</a:t>
            </a:r>
            <a:r>
              <a:rPr sz="2000" b="1" dirty="0"/>
              <a:t>)*P(C</a:t>
            </a:r>
            <a:r>
              <a:rPr sz="2000" b="1" baseline="-25000" dirty="0"/>
              <a:t>i</a:t>
            </a:r>
            <a:r>
              <a:rPr sz="2000" b="1" dirty="0"/>
              <a:t>) : </a:t>
            </a:r>
            <a:r>
              <a:rPr sz="2000" dirty="0"/>
              <a:t>P(X|buys_computer = “yes”) * P(buys_computer = “yes”) = 0.028</a:t>
            </a:r>
            <a:endParaRPr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sz="2000" b="1" dirty="0"/>
              <a:t>		             </a:t>
            </a:r>
            <a:r>
              <a:rPr sz="2000" dirty="0"/>
              <a:t>P(X|buys_computer = “no”) * P(buys_computer = “no”) = 0.007</a:t>
            </a:r>
            <a:endParaRPr sz="2000" b="1" dirty="0"/>
          </a:p>
          <a:p>
            <a:pPr eaLnBrk="1" hangingPunct="1">
              <a:lnSpc>
                <a:spcPct val="90000"/>
              </a:lnSpc>
              <a:buNone/>
            </a:pPr>
            <a:r>
              <a:rPr sz="2000" b="1" dirty="0"/>
              <a:t>Therefore,  X belongs to class (“buys_computer = yes”)	</a:t>
            </a:r>
            <a:r>
              <a:rPr sz="1800" b="1" dirty="0"/>
              <a:t>	</a:t>
            </a:r>
            <a:endParaRPr sz="1800" b="1" dirty="0"/>
          </a:p>
        </p:txBody>
      </p:sp>
      <p:graphicFrame>
        <p:nvGraphicFramePr>
          <p:cNvPr id="39941" name="Object 1"/>
          <p:cNvGraphicFramePr/>
          <p:nvPr/>
        </p:nvGraphicFramePr>
        <p:xfrm>
          <a:off x="7062788" y="762000"/>
          <a:ext cx="206216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6118225" imgH="6306820" progId="Excel.Sheet.8">
                  <p:embed/>
                </p:oleObj>
              </mc:Choice>
              <mc:Fallback>
                <p:oleObj name="" r:id="rId1" imgW="6118225" imgH="6306820" progId="Excel.Sheet.8">
                  <p:embed/>
                  <p:pic>
                    <p:nvPicPr>
                      <p:cNvPr id="0" name="Picture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62788" y="762000"/>
                        <a:ext cx="2062162" cy="175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Slide Number Placeholder 6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02638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Avoiding the Zero-Probability Problem</a:t>
            </a:r>
            <a:endParaRPr dirty="0"/>
          </a:p>
        </p:txBody>
      </p:sp>
      <p:sp>
        <p:nvSpPr>
          <p:cNvPr id="40964" name="Rectangle 3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8382000" cy="54864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Naïve Bayesian prediction requires each conditional prob. be </a:t>
            </a:r>
            <a:r>
              <a:rPr sz="2400" b="1" dirty="0"/>
              <a:t>non-zero</a:t>
            </a:r>
            <a:r>
              <a:rPr sz="2400" dirty="0"/>
              <a:t>.  Otherwise, the predicted prob. will be zero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sz="2400" b="1" dirty="0"/>
              <a:t>	</a:t>
            </a:r>
            <a:endParaRPr sz="2400" b="1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Ex. Suppose a dataset with 1000 tuples, income=low (0), income= medium (990), and income = high (10)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Use </a:t>
            </a:r>
            <a:r>
              <a:rPr sz="2400" b="1" dirty="0"/>
              <a:t>Laplacian correction</a:t>
            </a:r>
            <a:r>
              <a:rPr sz="2400" dirty="0"/>
              <a:t> (or Laplacian estimator)</a:t>
            </a: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400" i="1" dirty="0"/>
              <a:t>Adding 1 to each case</a:t>
            </a:r>
            <a:endParaRPr sz="2400" i="1"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dirty="0"/>
              <a:t>Prob(income = low) = 1/1003</a:t>
            </a:r>
            <a:endParaRPr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dirty="0"/>
              <a:t>Prob(income = medium) = 991/1003</a:t>
            </a:r>
            <a:endParaRPr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dirty="0"/>
              <a:t>Prob(income = high) = 11/1003</a:t>
            </a:r>
            <a:endParaRPr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400" dirty="0"/>
              <a:t>The “corrected” prob. estimates are close to their “uncorrected” counterparts</a:t>
            </a:r>
            <a:endParaRPr sz="2400" dirty="0"/>
          </a:p>
        </p:txBody>
      </p:sp>
      <p:graphicFrame>
        <p:nvGraphicFramePr>
          <p:cNvPr id="40965" name="Object 4"/>
          <p:cNvGraphicFramePr/>
          <p:nvPr>
            <p:ph sz="half" idx="2"/>
          </p:nvPr>
        </p:nvGraphicFramePr>
        <p:xfrm>
          <a:off x="2209800" y="1981200"/>
          <a:ext cx="403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1765300" imgH="508000" progId="Equation.3">
                  <p:embed/>
                </p:oleObj>
              </mc:Choice>
              <mc:Fallback>
                <p:oleObj name="" r:id="rId1" imgW="1765300" imgH="508000" progId="Equation.3">
                  <p:embed/>
                  <p:pic>
                    <p:nvPicPr>
                      <p:cNvPr id="0" name="Picture 3102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209800" y="1981200"/>
                        <a:ext cx="4038600" cy="838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9525" y="304800"/>
            <a:ext cx="91440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Naïve Bayes Classifier: Comments</a:t>
            </a:r>
            <a:endParaRPr dirty="0"/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105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sz="2400" dirty="0"/>
              <a:t>Advantages 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Easy to implement 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Good results obtained in most of the cases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Disadvantages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Assumption: class conditional independence, therefore loss of accuracy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Practically, dependencies exist among variables </a:t>
            </a:r>
            <a:endParaRPr sz="2400" dirty="0"/>
          </a:p>
          <a:p>
            <a:pPr lvl="2" eaLnBrk="1" hangingPunct="1">
              <a:lnSpc>
                <a:spcPct val="90000"/>
              </a:lnSpc>
            </a:pPr>
            <a:r>
              <a:rPr dirty="0"/>
              <a:t>E.g.,  hospitals: patients: Profile: age, family history, etc. </a:t>
            </a:r>
            <a:endParaRPr dirty="0"/>
          </a:p>
          <a:p>
            <a:pPr lvl="3" eaLnBrk="1" hangingPunct="1">
              <a:lnSpc>
                <a:spcPct val="90000"/>
              </a:lnSpc>
              <a:buNone/>
            </a:pPr>
            <a:r>
              <a:rPr dirty="0"/>
              <a:t> </a:t>
            </a:r>
            <a:r>
              <a:rPr sz="2400" dirty="0"/>
              <a:t>Symptoms: fever, cough etc., Disease: lung cancer, diabetes, etc. </a:t>
            </a:r>
            <a:endParaRPr sz="2400" dirty="0"/>
          </a:p>
          <a:p>
            <a:pPr lvl="2" eaLnBrk="1" hangingPunct="1">
              <a:lnSpc>
                <a:spcPct val="90000"/>
              </a:lnSpc>
            </a:pPr>
            <a:r>
              <a:rPr dirty="0"/>
              <a:t>Dependencies among these cannot be modeled by Naïve Bayes Classifier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How to deal with these dependencies? Bayesian Belief Networks (Chapter 9)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Slide Number Placeholder 6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400" b="1" dirty="0">
                <a:latin typeface="Calibri" panose="020F0502020204030204" pitchFamily="34" charset="0"/>
              </a:rPr>
            </a:fld>
            <a:endParaRPr lang="en-US" sz="1400" b="1" dirty="0">
              <a:latin typeface="Calibri" panose="020F0502020204030204" pitchFamily="34" charset="0"/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 idx="4294967295"/>
          </p:nvPr>
        </p:nvSpPr>
        <p:spPr>
          <a:xfrm>
            <a:off x="33338" y="304800"/>
            <a:ext cx="9144000" cy="6096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Chapter 8. Classification: Basic Concepts</a:t>
            </a:r>
            <a:endParaRPr dirty="0"/>
          </a:p>
        </p:txBody>
      </p:sp>
      <p:sp>
        <p:nvSpPr>
          <p:cNvPr id="43012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</p:spPr>
        <p:txBody>
          <a:bodyPr vert="horz" wrap="square" lIns="92075" tIns="46038" rIns="92075" bIns="46038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lnSpc>
                <a:spcPct val="130000"/>
              </a:lnSpc>
            </a:pPr>
            <a:r>
              <a:rPr sz="2800" dirty="0"/>
              <a:t>Classification: Basic Concepts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Decision Tree Induction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Bayes Classification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Rule-Based Classification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Model Evaluation and Selection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Techniques to Improve Classification Accuracy: Ensemble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Summary</a:t>
            </a:r>
            <a:endParaRPr sz="2800" dirty="0"/>
          </a:p>
        </p:txBody>
      </p:sp>
      <p:sp>
        <p:nvSpPr>
          <p:cNvPr id="43013" name="AutoShape 8"/>
          <p:cNvSpPr/>
          <p:nvPr/>
        </p:nvSpPr>
        <p:spPr>
          <a:xfrm rot="9803581">
            <a:off x="4648200" y="33528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83638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Using IF-THEN Rules for Classification</a:t>
            </a:r>
            <a:endParaRPr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5257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2000" dirty="0"/>
              <a:t>Represent the knowledge in the form of </a:t>
            </a:r>
            <a:r>
              <a:rPr sz="2000" dirty="0">
                <a:solidFill>
                  <a:schemeClr val="hlink"/>
                </a:solidFill>
              </a:rPr>
              <a:t>IF-THEN</a:t>
            </a:r>
            <a:r>
              <a:rPr sz="2000" dirty="0"/>
              <a:t> rules</a:t>
            </a:r>
            <a:endParaRPr sz="2000" dirty="0"/>
          </a:p>
          <a:p>
            <a:pPr lvl="1" eaLnBrk="1" hangingPunct="1">
              <a:spcBef>
                <a:spcPct val="40000"/>
              </a:spcBef>
              <a:buNone/>
            </a:pPr>
            <a:r>
              <a:rPr sz="2000" dirty="0"/>
              <a:t>R:  IF </a:t>
            </a:r>
            <a:r>
              <a:rPr sz="2000" i="1" dirty="0"/>
              <a:t>age</a:t>
            </a:r>
            <a:r>
              <a:rPr sz="2000" dirty="0"/>
              <a:t> = youth AND </a:t>
            </a:r>
            <a:r>
              <a:rPr sz="2000" i="1" dirty="0"/>
              <a:t>student</a:t>
            </a:r>
            <a:r>
              <a:rPr sz="2000" dirty="0"/>
              <a:t> = yes  THEN </a:t>
            </a:r>
            <a:r>
              <a:rPr sz="2000" i="1" dirty="0"/>
              <a:t>buys_computer</a:t>
            </a:r>
            <a:r>
              <a:rPr sz="2000" dirty="0"/>
              <a:t> = yes</a:t>
            </a:r>
            <a:endParaRPr sz="2000" dirty="0"/>
          </a:p>
          <a:p>
            <a:pPr lvl="1" eaLnBrk="1" hangingPunct="1"/>
            <a:r>
              <a:rPr sz="2000" dirty="0"/>
              <a:t>Rule antecedent/precondition vs. rule consequent</a:t>
            </a:r>
            <a:endParaRPr sz="2000" dirty="0"/>
          </a:p>
          <a:p>
            <a:pPr eaLnBrk="1" hangingPunct="1"/>
            <a:r>
              <a:rPr sz="2000" dirty="0"/>
              <a:t>Assessment of a rule: </a:t>
            </a:r>
            <a:r>
              <a:rPr sz="2000" i="1" dirty="0"/>
              <a:t>coverage</a:t>
            </a:r>
            <a:r>
              <a:rPr sz="2000" dirty="0"/>
              <a:t> and </a:t>
            </a:r>
            <a:r>
              <a:rPr sz="2000" i="1" dirty="0"/>
              <a:t>accuracy</a:t>
            </a:r>
            <a:r>
              <a:rPr sz="2000" dirty="0"/>
              <a:t> </a:t>
            </a:r>
            <a:endParaRPr sz="2000" dirty="0"/>
          </a:p>
          <a:p>
            <a:pPr lvl="1" eaLnBrk="1" hangingPunct="1"/>
            <a:r>
              <a:rPr sz="2000" dirty="0"/>
              <a:t>n</a:t>
            </a:r>
            <a:r>
              <a:rPr sz="2000" baseline="-25000" dirty="0"/>
              <a:t>covers </a:t>
            </a:r>
            <a:r>
              <a:rPr sz="2000" dirty="0"/>
              <a:t>= # of tuples covered by R</a:t>
            </a:r>
            <a:endParaRPr sz="2000" dirty="0"/>
          </a:p>
          <a:p>
            <a:pPr lvl="1" eaLnBrk="1" hangingPunct="1"/>
            <a:r>
              <a:rPr sz="2000" dirty="0"/>
              <a:t>n</a:t>
            </a:r>
            <a:r>
              <a:rPr sz="2000" baseline="-25000" dirty="0"/>
              <a:t>correct </a:t>
            </a:r>
            <a:r>
              <a:rPr sz="2000" dirty="0"/>
              <a:t>= # of tuples correctly classified by R</a:t>
            </a:r>
            <a:endParaRPr sz="2000" dirty="0"/>
          </a:p>
          <a:p>
            <a:pPr lvl="1" eaLnBrk="1" hangingPunct="1">
              <a:buNone/>
            </a:pPr>
            <a:r>
              <a:rPr sz="2000" dirty="0"/>
              <a:t>coverage(R) = n</a:t>
            </a:r>
            <a:r>
              <a:rPr sz="2000" baseline="-25000" dirty="0"/>
              <a:t>covers </a:t>
            </a:r>
            <a:r>
              <a:rPr sz="2000" dirty="0"/>
              <a:t>/|D|   /* D: training data set */</a:t>
            </a:r>
            <a:endParaRPr sz="2000" dirty="0"/>
          </a:p>
          <a:p>
            <a:pPr lvl="1" eaLnBrk="1" hangingPunct="1">
              <a:buNone/>
            </a:pPr>
            <a:r>
              <a:rPr sz="2000" dirty="0"/>
              <a:t>accuracy(R) = n</a:t>
            </a:r>
            <a:r>
              <a:rPr sz="2000" baseline="-25000" dirty="0"/>
              <a:t>correct </a:t>
            </a:r>
            <a:r>
              <a:rPr sz="2000" dirty="0"/>
              <a:t>/ n</a:t>
            </a:r>
            <a:r>
              <a:rPr sz="2000" baseline="-25000" dirty="0"/>
              <a:t>covers</a:t>
            </a:r>
            <a:endParaRPr sz="2000" dirty="0"/>
          </a:p>
          <a:p>
            <a:pPr eaLnBrk="1" hangingPunct="1"/>
            <a:r>
              <a:rPr sz="2000" dirty="0"/>
              <a:t>If more than one rule are triggered, need </a:t>
            </a:r>
            <a:r>
              <a:rPr sz="2000" b="1" dirty="0"/>
              <a:t>conflict resolution</a:t>
            </a:r>
            <a:endParaRPr sz="2000" b="1" dirty="0"/>
          </a:p>
          <a:p>
            <a:pPr lvl="1" eaLnBrk="1" hangingPunct="1"/>
            <a:r>
              <a:rPr sz="2000" dirty="0"/>
              <a:t>Size ordering: assign the highest priority to the triggering rules that has the “toughest” requirement (i.e., with the </a:t>
            </a:r>
            <a:r>
              <a:rPr sz="2000" i="1" dirty="0"/>
              <a:t>most attribute tests</a:t>
            </a:r>
            <a:r>
              <a:rPr sz="2000" dirty="0"/>
              <a:t>)</a:t>
            </a:r>
            <a:endParaRPr sz="2000" dirty="0"/>
          </a:p>
          <a:p>
            <a:pPr lvl="1" eaLnBrk="1" hangingPunct="1"/>
            <a:r>
              <a:rPr sz="2000" dirty="0"/>
              <a:t>Class-based ordering: decreasing order of </a:t>
            </a:r>
            <a:r>
              <a:rPr sz="2000" i="1" dirty="0"/>
              <a:t>prevalence or misclassification cost per class</a:t>
            </a:r>
            <a:endParaRPr sz="2000" i="1" dirty="0"/>
          </a:p>
          <a:p>
            <a:pPr lvl="1" eaLnBrk="1" hangingPunct="1"/>
            <a:r>
              <a:rPr sz="2000" dirty="0"/>
              <a:t>Rule-based ordering (</a:t>
            </a:r>
            <a:r>
              <a:rPr sz="2000" b="1" dirty="0"/>
              <a:t>decision list</a:t>
            </a:r>
            <a:r>
              <a:rPr sz="2000" dirty="0"/>
              <a:t>): rules are organized into one long priority list, according to some measure of rule quality or by experts</a:t>
            </a:r>
            <a:endParaRPr sz="2000" dirty="0"/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grpSp>
        <p:nvGrpSpPr>
          <p:cNvPr id="45059" name="Group 59"/>
          <p:cNvGrpSpPr/>
          <p:nvPr/>
        </p:nvGrpSpPr>
        <p:grpSpPr>
          <a:xfrm>
            <a:off x="5638800" y="1600200"/>
            <a:ext cx="3505200" cy="2133600"/>
            <a:chOff x="3504" y="144"/>
            <a:chExt cx="2091" cy="1248"/>
          </a:xfrm>
        </p:grpSpPr>
        <p:sp>
          <p:nvSpPr>
            <p:cNvPr id="45063" name="Rectangle 34"/>
            <p:cNvSpPr/>
            <p:nvPr/>
          </p:nvSpPr>
          <p:spPr>
            <a:xfrm>
              <a:off x="4272" y="144"/>
              <a:ext cx="336" cy="200"/>
            </a:xfrm>
            <a:prstGeom prst="rect">
              <a:avLst/>
            </a:prstGeom>
            <a:solidFill>
              <a:srgbClr val="00CCFF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2075" tIns="46038" rIns="92075" bIns="46038">
              <a:spAutoFit/>
            </a:bodyPr>
            <a:p>
              <a:pPr algn="ctr" eaLnBrk="0" hangingPunct="0"/>
              <a:r>
                <a:rPr sz="1400" dirty="0">
                  <a:latin typeface="Times New Roman" panose="02020603050405020304" pitchFamily="18" charset="0"/>
                </a:rPr>
                <a:t>age?</a:t>
              </a:r>
              <a:endParaRPr sz="1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064" name="Group 58"/>
            <p:cNvGrpSpPr/>
            <p:nvPr/>
          </p:nvGrpSpPr>
          <p:grpSpPr>
            <a:xfrm>
              <a:off x="3504" y="290"/>
              <a:ext cx="2091" cy="1102"/>
              <a:chOff x="3504" y="144"/>
              <a:chExt cx="2091" cy="1102"/>
            </a:xfrm>
          </p:grpSpPr>
          <p:sp>
            <p:nvSpPr>
              <p:cNvPr id="45065" name="Rectangle 36"/>
              <p:cNvSpPr/>
              <p:nvPr/>
            </p:nvSpPr>
            <p:spPr>
              <a:xfrm>
                <a:off x="3717" y="528"/>
                <a:ext cx="498" cy="200"/>
              </a:xfrm>
              <a:prstGeom prst="rect">
                <a:avLst/>
              </a:prstGeom>
              <a:solidFill>
                <a:srgbClr val="00FFCC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400" dirty="0">
                    <a:latin typeface="Times New Roman" panose="02020603050405020304" pitchFamily="18" charset="0"/>
                  </a:rPr>
                  <a:t>student?</a:t>
                </a:r>
                <a:endParaRPr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66" name="Rectangle 37"/>
              <p:cNvSpPr/>
              <p:nvPr/>
            </p:nvSpPr>
            <p:spPr>
              <a:xfrm>
                <a:off x="4824" y="528"/>
                <a:ext cx="718" cy="200"/>
              </a:xfrm>
              <a:prstGeom prst="rect">
                <a:avLst/>
              </a:prstGeom>
              <a:solidFill>
                <a:srgbClr val="99CCFF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400" dirty="0">
                    <a:latin typeface="Times New Roman" panose="02020603050405020304" pitchFamily="18" charset="0"/>
                  </a:rPr>
                  <a:t>credit rating?</a:t>
                </a:r>
                <a:endParaRPr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67" name="Line 38"/>
              <p:cNvSpPr/>
              <p:nvPr/>
            </p:nvSpPr>
            <p:spPr>
              <a:xfrm flipH="1">
                <a:off x="3971" y="155"/>
                <a:ext cx="317" cy="41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68" name="Line 39"/>
              <p:cNvSpPr/>
              <p:nvPr/>
            </p:nvSpPr>
            <p:spPr>
              <a:xfrm flipH="1">
                <a:off x="4481" y="169"/>
                <a:ext cx="0" cy="17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69" name="Line 40"/>
              <p:cNvSpPr/>
              <p:nvPr/>
            </p:nvSpPr>
            <p:spPr>
              <a:xfrm>
                <a:off x="4636" y="144"/>
                <a:ext cx="534" cy="447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70" name="Rectangle 41"/>
              <p:cNvSpPr/>
              <p:nvPr/>
            </p:nvSpPr>
            <p:spPr>
              <a:xfrm>
                <a:off x="3889" y="288"/>
                <a:ext cx="330" cy="181"/>
              </a:xfrm>
              <a:prstGeom prst="rect">
                <a:avLst/>
              </a:prstGeom>
              <a:solidFill>
                <a:srgbClr val="FFFF00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200" b="1" dirty="0">
                    <a:latin typeface="Times New Roman" panose="02020603050405020304" pitchFamily="18" charset="0"/>
                  </a:rPr>
                  <a:t>&lt;=30</a:t>
                </a:r>
                <a:endParaRPr sz="1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71" name="Rectangle 42"/>
              <p:cNvSpPr/>
              <p:nvPr/>
            </p:nvSpPr>
            <p:spPr>
              <a:xfrm>
                <a:off x="4828" y="325"/>
                <a:ext cx="267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200" b="1" dirty="0">
                    <a:latin typeface="Times New Roman" panose="02020603050405020304" pitchFamily="18" charset="0"/>
                  </a:rPr>
                  <a:t>&gt;40</a:t>
                </a:r>
                <a:endParaRPr sz="1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72" name="Line 43"/>
              <p:cNvSpPr/>
              <p:nvPr/>
            </p:nvSpPr>
            <p:spPr>
              <a:xfrm flipH="1">
                <a:off x="3636" y="743"/>
                <a:ext cx="268" cy="311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73" name="Line 44"/>
              <p:cNvSpPr/>
              <p:nvPr/>
            </p:nvSpPr>
            <p:spPr>
              <a:xfrm>
                <a:off x="4026" y="743"/>
                <a:ext cx="244" cy="311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74" name="Line 45"/>
              <p:cNvSpPr/>
              <p:nvPr/>
            </p:nvSpPr>
            <p:spPr>
              <a:xfrm flipH="1">
                <a:off x="4856" y="743"/>
                <a:ext cx="244" cy="287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75" name="Line 46"/>
              <p:cNvSpPr/>
              <p:nvPr/>
            </p:nvSpPr>
            <p:spPr>
              <a:xfrm>
                <a:off x="5246" y="743"/>
                <a:ext cx="220" cy="287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76" name="Line 47"/>
              <p:cNvSpPr/>
              <p:nvPr/>
            </p:nvSpPr>
            <p:spPr>
              <a:xfrm>
                <a:off x="4481" y="438"/>
                <a:ext cx="0" cy="138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5077" name="Rectangle 48"/>
              <p:cNvSpPr/>
              <p:nvPr/>
            </p:nvSpPr>
            <p:spPr>
              <a:xfrm>
                <a:off x="3504" y="1054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400" dirty="0">
                    <a:latin typeface="Times New Roman" panose="02020603050405020304" pitchFamily="18" charset="0"/>
                  </a:rPr>
                  <a:t>no</a:t>
                </a:r>
                <a:endParaRPr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78" name="Rectangle 49"/>
              <p:cNvSpPr/>
              <p:nvPr/>
            </p:nvSpPr>
            <p:spPr>
              <a:xfrm>
                <a:off x="4139" y="1054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400" dirty="0">
                    <a:latin typeface="Times New Roman" panose="02020603050405020304" pitchFamily="18" charset="0"/>
                  </a:rPr>
                  <a:t>yes</a:t>
                </a:r>
                <a:endParaRPr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79" name="Rectangle 50"/>
              <p:cNvSpPr/>
              <p:nvPr/>
            </p:nvSpPr>
            <p:spPr>
              <a:xfrm>
                <a:off x="5329" y="1030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400" dirty="0">
                    <a:latin typeface="Times New Roman" panose="02020603050405020304" pitchFamily="18" charset="0"/>
                  </a:rPr>
                  <a:t>yes</a:t>
                </a:r>
                <a:endParaRPr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0" name="Rectangle 51"/>
              <p:cNvSpPr/>
              <p:nvPr/>
            </p:nvSpPr>
            <p:spPr>
              <a:xfrm>
                <a:off x="4348" y="595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400" dirty="0">
                    <a:latin typeface="Times New Roman" panose="02020603050405020304" pitchFamily="18" charset="0"/>
                  </a:rPr>
                  <a:t>yes</a:t>
                </a:r>
                <a:endParaRPr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1" name="Rectangle 52"/>
              <p:cNvSpPr/>
              <p:nvPr/>
            </p:nvSpPr>
            <p:spPr>
              <a:xfrm>
                <a:off x="4295" y="335"/>
                <a:ext cx="341" cy="96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txBody>
              <a:bodyPr wrap="none" anchor="ctr" anchorCtr="0"/>
              <a:p>
                <a:pPr algn="ctr" eaLnBrk="0" hangingPunct="0"/>
                <a:r>
                  <a:rPr sz="1200" b="1" dirty="0">
                    <a:latin typeface="Times New Roman" panose="02020603050405020304" pitchFamily="18" charset="0"/>
                  </a:rPr>
                  <a:t>31..40</a:t>
                </a:r>
                <a:endParaRPr sz="1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2" name="Rectangle 53"/>
              <p:cNvSpPr/>
              <p:nvPr/>
            </p:nvSpPr>
            <p:spPr>
              <a:xfrm rot="-143156">
                <a:off x="4723" y="1030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400" dirty="0">
                    <a:latin typeface="Times New Roman" panose="02020603050405020304" pitchFamily="18" charset="0"/>
                  </a:rPr>
                  <a:t>no</a:t>
                </a:r>
                <a:endParaRPr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3" name="Rectangle 54"/>
              <p:cNvSpPr/>
              <p:nvPr/>
            </p:nvSpPr>
            <p:spPr>
              <a:xfrm>
                <a:off x="5242" y="815"/>
                <a:ext cx="250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200" dirty="0">
                    <a:latin typeface="Times New Roman" panose="02020603050405020304" pitchFamily="18" charset="0"/>
                  </a:rPr>
                  <a:t>fair</a:t>
                </a:r>
                <a:endParaRPr sz="1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4" name="Rectangle 55"/>
              <p:cNvSpPr/>
              <p:nvPr/>
            </p:nvSpPr>
            <p:spPr>
              <a:xfrm>
                <a:off x="4682" y="815"/>
                <a:ext cx="465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200" dirty="0">
                    <a:latin typeface="Times New Roman" panose="02020603050405020304" pitchFamily="18" charset="0"/>
                  </a:rPr>
                  <a:t>excellent</a:t>
                </a:r>
                <a:endParaRPr sz="1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5" name="Rectangle 56"/>
              <p:cNvSpPr/>
              <p:nvPr/>
            </p:nvSpPr>
            <p:spPr>
              <a:xfrm>
                <a:off x="4070" y="839"/>
                <a:ext cx="244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p>
                <a:pPr algn="ctr" eaLnBrk="0" hangingPunct="0"/>
                <a:r>
                  <a:rPr sz="1200" dirty="0">
                    <a:latin typeface="Times New Roman" panose="02020603050405020304" pitchFamily="18" charset="0"/>
                  </a:rPr>
                  <a:t>yes</a:t>
                </a:r>
                <a:endParaRPr sz="1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6" name="Rectangle 57"/>
              <p:cNvSpPr/>
              <p:nvPr/>
            </p:nvSpPr>
            <p:spPr>
              <a:xfrm>
                <a:off x="3637" y="839"/>
                <a:ext cx="218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 lIns="92075" tIns="46038" rIns="92075" bIns="46038">
                <a:spAutoFit/>
              </a:bodyPr>
              <a:p>
                <a:pPr algn="ctr" eaLnBrk="0" hangingPunct="0"/>
                <a:r>
                  <a:rPr sz="1200" dirty="0">
                    <a:latin typeface="Times New Roman" panose="02020603050405020304" pitchFamily="18" charset="0"/>
                  </a:rPr>
                  <a:t>no</a:t>
                </a:r>
                <a:endParaRPr sz="12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228600" y="4343400"/>
            <a:ext cx="8763000" cy="2362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2400" dirty="0"/>
              <a:t>Example: Rule extraction from our </a:t>
            </a:r>
            <a:r>
              <a:rPr sz="2400" i="1" dirty="0"/>
              <a:t>buys_computer</a:t>
            </a:r>
            <a:r>
              <a:rPr sz="2400" dirty="0"/>
              <a:t> decision-tree</a:t>
            </a:r>
            <a:endParaRPr sz="2400" dirty="0"/>
          </a:p>
          <a:p>
            <a:pPr lvl="1" eaLnBrk="1" hangingPunct="1">
              <a:spcBef>
                <a:spcPct val="40000"/>
              </a:spcBef>
              <a:buNone/>
            </a:pPr>
            <a:r>
              <a:rPr sz="2000" dirty="0"/>
              <a:t>IF </a:t>
            </a:r>
            <a:r>
              <a:rPr sz="2000" i="1" dirty="0"/>
              <a:t>age</a:t>
            </a:r>
            <a:r>
              <a:rPr sz="2000" dirty="0"/>
              <a:t> = young AND </a:t>
            </a:r>
            <a:r>
              <a:rPr sz="2000" i="1" dirty="0"/>
              <a:t>student</a:t>
            </a:r>
            <a:r>
              <a:rPr sz="2000" dirty="0"/>
              <a:t> = </a:t>
            </a:r>
            <a:r>
              <a:rPr sz="2000" i="1" dirty="0"/>
              <a:t>no</a:t>
            </a:r>
            <a:r>
              <a:rPr sz="2000" dirty="0"/>
              <a:t>                 THEN </a:t>
            </a:r>
            <a:r>
              <a:rPr sz="2000" i="1" dirty="0"/>
              <a:t>buys_computer</a:t>
            </a:r>
            <a:r>
              <a:rPr sz="2000" dirty="0"/>
              <a:t> = </a:t>
            </a:r>
            <a:r>
              <a:rPr sz="2000" i="1" dirty="0"/>
              <a:t>no</a:t>
            </a:r>
            <a:endParaRPr sz="2000" dirty="0"/>
          </a:p>
          <a:p>
            <a:pPr lvl="1" eaLnBrk="1" hangingPunct="1">
              <a:buNone/>
            </a:pPr>
            <a:r>
              <a:rPr sz="2000" dirty="0"/>
              <a:t>IF </a:t>
            </a:r>
            <a:r>
              <a:rPr sz="2000" i="1" dirty="0"/>
              <a:t>age</a:t>
            </a:r>
            <a:r>
              <a:rPr sz="2000" dirty="0"/>
              <a:t> = young AND </a:t>
            </a:r>
            <a:r>
              <a:rPr sz="2000" i="1" dirty="0"/>
              <a:t>student</a:t>
            </a:r>
            <a:r>
              <a:rPr sz="2000" dirty="0"/>
              <a:t> = </a:t>
            </a:r>
            <a:r>
              <a:rPr sz="2000" i="1" dirty="0"/>
              <a:t>yes</a:t>
            </a:r>
            <a:r>
              <a:rPr sz="2000" dirty="0"/>
              <a:t>                THEN </a:t>
            </a:r>
            <a:r>
              <a:rPr sz="2000" i="1" dirty="0"/>
              <a:t>buys_computer</a:t>
            </a:r>
            <a:r>
              <a:rPr sz="2000" dirty="0"/>
              <a:t> = </a:t>
            </a:r>
            <a:r>
              <a:rPr sz="2000" i="1" dirty="0"/>
              <a:t>yes</a:t>
            </a:r>
            <a:endParaRPr sz="2000" dirty="0"/>
          </a:p>
          <a:p>
            <a:pPr lvl="1" eaLnBrk="1" hangingPunct="1">
              <a:buNone/>
            </a:pPr>
            <a:r>
              <a:rPr sz="2000" dirty="0"/>
              <a:t>IF </a:t>
            </a:r>
            <a:r>
              <a:rPr sz="2000" i="1" dirty="0"/>
              <a:t>age</a:t>
            </a:r>
            <a:r>
              <a:rPr sz="2000" dirty="0"/>
              <a:t> = mid-age 			    THEN </a:t>
            </a:r>
            <a:r>
              <a:rPr sz="2000" i="1" dirty="0"/>
              <a:t>buys_computer</a:t>
            </a:r>
            <a:r>
              <a:rPr sz="2000" dirty="0"/>
              <a:t> = </a:t>
            </a:r>
            <a:r>
              <a:rPr sz="2000" i="1" dirty="0"/>
              <a:t>yes</a:t>
            </a:r>
            <a:endParaRPr sz="2000" dirty="0"/>
          </a:p>
          <a:p>
            <a:pPr lvl="1" eaLnBrk="1" hangingPunct="1">
              <a:buNone/>
            </a:pPr>
            <a:r>
              <a:rPr sz="2000" dirty="0"/>
              <a:t>IF </a:t>
            </a:r>
            <a:r>
              <a:rPr sz="2000" i="1" dirty="0"/>
              <a:t>age</a:t>
            </a:r>
            <a:r>
              <a:rPr sz="2000" dirty="0"/>
              <a:t> = old AND </a:t>
            </a:r>
            <a:r>
              <a:rPr sz="2000" i="1" dirty="0"/>
              <a:t>credit_rating</a:t>
            </a:r>
            <a:r>
              <a:rPr sz="2000" dirty="0"/>
              <a:t> = </a:t>
            </a:r>
            <a:r>
              <a:rPr sz="2000" i="1" dirty="0"/>
              <a:t>excellent</a:t>
            </a:r>
            <a:r>
              <a:rPr sz="2000" dirty="0"/>
              <a:t>  THEN </a:t>
            </a:r>
            <a:r>
              <a:rPr sz="2000" i="1" dirty="0"/>
              <a:t>buys_computer </a:t>
            </a:r>
            <a:r>
              <a:rPr sz="2000" dirty="0"/>
              <a:t>= </a:t>
            </a:r>
            <a:r>
              <a:rPr sz="2000" i="1" dirty="0"/>
              <a:t>no</a:t>
            </a:r>
            <a:endParaRPr sz="2000" dirty="0"/>
          </a:p>
          <a:p>
            <a:pPr lvl="1" eaLnBrk="1" hangingPunct="1">
              <a:buNone/>
            </a:pPr>
            <a:r>
              <a:rPr sz="2000" dirty="0"/>
              <a:t>IF </a:t>
            </a:r>
            <a:r>
              <a:rPr sz="2000" i="1" dirty="0"/>
              <a:t>age</a:t>
            </a:r>
            <a:r>
              <a:rPr sz="2000" dirty="0"/>
              <a:t> = old AND </a:t>
            </a:r>
            <a:r>
              <a:rPr sz="2000" i="1" dirty="0"/>
              <a:t>credit_rating</a:t>
            </a:r>
            <a:r>
              <a:rPr sz="2000" dirty="0"/>
              <a:t> = </a:t>
            </a:r>
            <a:r>
              <a:rPr sz="2000" i="1" dirty="0"/>
              <a:t>fair</a:t>
            </a:r>
            <a:r>
              <a:rPr sz="2000" dirty="0"/>
              <a:t>            THEN </a:t>
            </a:r>
            <a:r>
              <a:rPr sz="2000" i="1" dirty="0"/>
              <a:t>buys_computer</a:t>
            </a:r>
            <a:r>
              <a:rPr sz="2000" dirty="0"/>
              <a:t> = </a:t>
            </a:r>
            <a:r>
              <a:rPr sz="2000" i="1" dirty="0"/>
              <a:t>yes</a:t>
            </a:r>
            <a:endParaRPr sz="2000" i="1" dirty="0"/>
          </a:p>
        </p:txBody>
      </p:sp>
      <p:sp>
        <p:nvSpPr>
          <p:cNvPr id="45061" name="Rectangle 2"/>
          <p:cNvSpPr>
            <a:spLocks noGrp="1"/>
          </p:cNvSpPr>
          <p:nvPr>
            <p:ph type="title"/>
          </p:nvPr>
        </p:nvSpPr>
        <p:spPr>
          <a:xfrm>
            <a:off x="206375" y="228600"/>
            <a:ext cx="8783638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Rule Extraction from a Decision Tree</a:t>
            </a:r>
            <a:endParaRPr dirty="0"/>
          </a:p>
        </p:txBody>
      </p:sp>
      <p:sp>
        <p:nvSpPr>
          <p:cNvPr id="45062" name="Rectangle 60"/>
          <p:cNvSpPr/>
          <p:nvPr/>
        </p:nvSpPr>
        <p:spPr>
          <a:xfrm>
            <a:off x="228600" y="1066800"/>
            <a:ext cx="6248400" cy="3200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Rules are </a:t>
            </a:r>
            <a:r>
              <a:rPr sz="2400" i="1" dirty="0">
                <a:latin typeface="Calibri" panose="020F0502020204030204" pitchFamily="34" charset="0"/>
              </a:rPr>
              <a:t>easier to understand</a:t>
            </a:r>
            <a:r>
              <a:rPr sz="2400" dirty="0">
                <a:latin typeface="Calibri" panose="020F0502020204030204" pitchFamily="34" charset="0"/>
              </a:rPr>
              <a:t> than large trees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One rule is created </a:t>
            </a:r>
            <a:r>
              <a:rPr sz="2400" i="1" dirty="0">
                <a:latin typeface="Calibri" panose="020F0502020204030204" pitchFamily="34" charset="0"/>
              </a:rPr>
              <a:t>for each path</a:t>
            </a:r>
            <a:r>
              <a:rPr sz="2400" dirty="0">
                <a:latin typeface="Calibri" panose="020F0502020204030204" pitchFamily="34" charset="0"/>
              </a:rPr>
              <a:t> from the root to a leaf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Each attribute-value pair along a path forms a conjunction: the leaf holds the class prediction </a:t>
            </a:r>
            <a:endParaRPr sz="2400" dirty="0">
              <a:latin typeface="Calibri" panose="020F050202020403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Rules are mutually exclusive and exhaustive</a:t>
            </a:r>
            <a:endParaRPr sz="2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-152400" y="304800"/>
            <a:ext cx="94488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Rule Induction: Sequential Covering Method</a:t>
            </a:r>
            <a:r>
              <a:rPr sz="3200" dirty="0"/>
              <a:t> </a:t>
            </a:r>
            <a:endParaRPr sz="3200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228600" y="1371600"/>
            <a:ext cx="8991600" cy="5257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sz="2400" dirty="0"/>
              <a:t>Sequential covering algorithm: Extracts rules directly from training data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Typical sequential covering algorithms: FOIL, AQ, CN2, RIPPER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Rules are learned </a:t>
            </a:r>
            <a:r>
              <a:rPr sz="2400" i="1" dirty="0"/>
              <a:t>sequentially</a:t>
            </a:r>
            <a:r>
              <a:rPr sz="2400" dirty="0"/>
              <a:t>, each for a given class C</a:t>
            </a:r>
            <a:r>
              <a:rPr sz="2400" baseline="-25000" dirty="0"/>
              <a:t>i </a:t>
            </a:r>
            <a:r>
              <a:rPr sz="2400" dirty="0"/>
              <a:t>will cover many tuples of C</a:t>
            </a:r>
            <a:r>
              <a:rPr sz="2400" baseline="-25000" dirty="0"/>
              <a:t>i </a:t>
            </a:r>
            <a:r>
              <a:rPr sz="2400" dirty="0"/>
              <a:t>but none (or few) of the tuples of other classes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Steps: 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Rules are learned one at a time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Each time a rule is learned, the tuples covered by the rules are removed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Repeat the process on the remaining tuples until </a:t>
            </a:r>
            <a:r>
              <a:rPr sz="2400" i="1" dirty="0"/>
              <a:t>termination condition</a:t>
            </a:r>
            <a:r>
              <a:rPr sz="2400" dirty="0"/>
              <a:t>, e.g., when no more training examples or when the quality of a rule returned is below a user-specified threshold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Comp. w. decision-tree induction: learning a set of rules </a:t>
            </a:r>
            <a:r>
              <a:rPr sz="2400" i="1" dirty="0"/>
              <a:t>simultaneously</a:t>
            </a:r>
            <a:endParaRPr sz="2400" i="1" dirty="0"/>
          </a:p>
        </p:txBody>
      </p:sp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Sequential Covering Algorithm	</a:t>
            </a:r>
            <a:endParaRPr dirty="0"/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447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endParaRPr sz="1600" dirty="0"/>
          </a:p>
          <a:p>
            <a:pPr eaLnBrk="1" hangingPunct="1">
              <a:lnSpc>
                <a:spcPct val="80000"/>
              </a:lnSpc>
              <a:buNone/>
            </a:pPr>
            <a:r>
              <a:rPr sz="1600" dirty="0"/>
              <a:t>	</a:t>
            </a:r>
            <a:r>
              <a:rPr sz="2400" b="1" dirty="0">
                <a:solidFill>
                  <a:srgbClr val="000066"/>
                </a:solidFill>
              </a:rPr>
              <a:t>while </a:t>
            </a:r>
            <a:r>
              <a:rPr sz="2400" dirty="0">
                <a:solidFill>
                  <a:srgbClr val="000066"/>
                </a:solidFill>
              </a:rPr>
              <a:t>(enough target tuples left)</a:t>
            </a:r>
            <a:endParaRPr sz="2400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sz="2400" dirty="0">
                <a:solidFill>
                  <a:srgbClr val="000066"/>
                </a:solidFill>
              </a:rPr>
              <a:t>	generate a rule</a:t>
            </a:r>
            <a:endParaRPr sz="2400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sz="2400" dirty="0">
                <a:solidFill>
                  <a:srgbClr val="000066"/>
                </a:solidFill>
              </a:rPr>
              <a:t>	remove positive target tuples satisfying this rule</a:t>
            </a:r>
            <a:endParaRPr sz="2400" dirty="0"/>
          </a:p>
        </p:txBody>
      </p:sp>
      <p:sp>
        <p:nvSpPr>
          <p:cNvPr id="47109" name="Oval 4"/>
          <p:cNvSpPr/>
          <p:nvPr/>
        </p:nvSpPr>
        <p:spPr>
          <a:xfrm>
            <a:off x="1676400" y="3276600"/>
            <a:ext cx="5486400" cy="28956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  <p:sp>
        <p:nvSpPr>
          <p:cNvPr id="1985541" name="Oval 5"/>
          <p:cNvSpPr/>
          <p:nvPr/>
        </p:nvSpPr>
        <p:spPr>
          <a:xfrm>
            <a:off x="4267200" y="4114800"/>
            <a:ext cx="2590800" cy="18288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dirty="0">
                <a:latin typeface="Arial" panose="020B0604020202020204" pitchFamily="34" charset="0"/>
              </a:rPr>
              <a:t>Examples covered</a:t>
            </a:r>
            <a:endParaRPr dirty="0">
              <a:latin typeface="Arial" panose="020B0604020202020204" pitchFamily="34" charset="0"/>
            </a:endParaRPr>
          </a:p>
          <a:p>
            <a:pPr algn="ctr" eaLnBrk="0" hangingPunct="0"/>
            <a:r>
              <a:rPr dirty="0">
                <a:latin typeface="Arial" panose="020B0604020202020204" pitchFamily="34" charset="0"/>
              </a:rPr>
              <a:t>by Rule 3</a:t>
            </a:r>
            <a:endParaRPr dirty="0">
              <a:latin typeface="Arial" panose="020B0604020202020204" pitchFamily="34" charset="0"/>
            </a:endParaRPr>
          </a:p>
        </p:txBody>
      </p:sp>
      <p:sp>
        <p:nvSpPr>
          <p:cNvPr id="1985542" name="Oval 6"/>
          <p:cNvSpPr/>
          <p:nvPr/>
        </p:nvSpPr>
        <p:spPr>
          <a:xfrm>
            <a:off x="3200400" y="3352800"/>
            <a:ext cx="2667000" cy="19050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dirty="0">
                <a:latin typeface="Arial" panose="020B0604020202020204" pitchFamily="34" charset="0"/>
              </a:rPr>
              <a:t>Examples covered</a:t>
            </a:r>
            <a:endParaRPr dirty="0">
              <a:latin typeface="Arial" panose="020B0604020202020204" pitchFamily="34" charset="0"/>
            </a:endParaRPr>
          </a:p>
          <a:p>
            <a:pPr algn="ctr" eaLnBrk="0" hangingPunct="0"/>
            <a:r>
              <a:rPr dirty="0">
                <a:latin typeface="Arial" panose="020B0604020202020204" pitchFamily="34" charset="0"/>
              </a:rPr>
              <a:t>by Rule 2</a:t>
            </a:r>
            <a:endParaRPr dirty="0">
              <a:latin typeface="Arial" panose="020B0604020202020204" pitchFamily="34" charset="0"/>
            </a:endParaRPr>
          </a:p>
        </p:txBody>
      </p:sp>
      <p:sp>
        <p:nvSpPr>
          <p:cNvPr id="1985543" name="Oval 7"/>
          <p:cNvSpPr/>
          <p:nvPr/>
        </p:nvSpPr>
        <p:spPr>
          <a:xfrm>
            <a:off x="1676400" y="3886200"/>
            <a:ext cx="1981200" cy="16002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dirty="0">
                <a:latin typeface="Arial" panose="020B0604020202020204" pitchFamily="34" charset="0"/>
              </a:rPr>
              <a:t>Examples covered</a:t>
            </a:r>
            <a:endParaRPr dirty="0">
              <a:latin typeface="Arial" panose="020B0604020202020204" pitchFamily="34" charset="0"/>
            </a:endParaRPr>
          </a:p>
          <a:p>
            <a:pPr algn="ctr" eaLnBrk="0" hangingPunct="0"/>
            <a:r>
              <a:rPr dirty="0">
                <a:latin typeface="Arial" panose="020B0604020202020204" pitchFamily="34" charset="0"/>
              </a:rPr>
              <a:t>by Rule 1</a:t>
            </a:r>
            <a:endParaRPr dirty="0">
              <a:latin typeface="Arial" panose="020B0604020202020204" pitchFamily="34" charset="0"/>
            </a:endParaRPr>
          </a:p>
        </p:txBody>
      </p:sp>
      <p:sp>
        <p:nvSpPr>
          <p:cNvPr id="47113" name="Text Box 8"/>
          <p:cNvSpPr txBox="1"/>
          <p:nvPr/>
        </p:nvSpPr>
        <p:spPr>
          <a:xfrm>
            <a:off x="3352800" y="5486400"/>
            <a:ext cx="1524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b="1" dirty="0">
                <a:solidFill>
                  <a:srgbClr val="000066"/>
                </a:solidFill>
                <a:latin typeface="Arial" panose="020B0604020202020204" pitchFamily="34" charset="0"/>
              </a:rPr>
              <a:t>Positive examples</a:t>
            </a:r>
            <a:endParaRPr b="1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8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8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8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5541" grpId="0" animBg="1"/>
      <p:bldP spid="1985542" grpId="0" animBg="1"/>
      <p:bldP spid="198554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Slide Number Placeholder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Rule Generation</a:t>
            </a:r>
            <a:endParaRPr dirty="0"/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2057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sz="2400" dirty="0"/>
              <a:t>To generate a rule</a:t>
            </a:r>
            <a:endParaRPr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sz="2400" b="1" dirty="0">
                <a:solidFill>
                  <a:srgbClr val="000066"/>
                </a:solidFill>
              </a:rPr>
              <a:t>while</a:t>
            </a:r>
            <a:r>
              <a:rPr sz="2400" dirty="0">
                <a:solidFill>
                  <a:srgbClr val="000066"/>
                </a:solidFill>
              </a:rPr>
              <a:t>(true)</a:t>
            </a:r>
            <a:endParaRPr sz="2400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sz="2400" dirty="0">
                <a:solidFill>
                  <a:srgbClr val="000066"/>
                </a:solidFill>
              </a:rPr>
              <a:t>	find the best predicate </a:t>
            </a:r>
            <a:r>
              <a:rPr sz="2400" i="1" dirty="0">
                <a:solidFill>
                  <a:srgbClr val="000066"/>
                </a:solidFill>
              </a:rPr>
              <a:t>p</a:t>
            </a:r>
            <a:endParaRPr sz="2400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sz="2400" dirty="0">
                <a:solidFill>
                  <a:srgbClr val="000066"/>
                </a:solidFill>
              </a:rPr>
              <a:t>	</a:t>
            </a:r>
            <a:r>
              <a:rPr sz="2400" b="1" dirty="0">
                <a:solidFill>
                  <a:srgbClr val="000066"/>
                </a:solidFill>
              </a:rPr>
              <a:t>if</a:t>
            </a:r>
            <a:r>
              <a:rPr sz="2400" dirty="0">
                <a:solidFill>
                  <a:srgbClr val="000066"/>
                </a:solidFill>
              </a:rPr>
              <a:t> foil-gain(</a:t>
            </a:r>
            <a:r>
              <a:rPr sz="2400" i="1" dirty="0">
                <a:solidFill>
                  <a:srgbClr val="000066"/>
                </a:solidFill>
              </a:rPr>
              <a:t>p</a:t>
            </a:r>
            <a:r>
              <a:rPr sz="2400" dirty="0">
                <a:solidFill>
                  <a:srgbClr val="000066"/>
                </a:solidFill>
              </a:rPr>
              <a:t>) &gt; threshold </a:t>
            </a:r>
            <a:r>
              <a:rPr sz="2400" b="1" dirty="0">
                <a:solidFill>
                  <a:srgbClr val="000066"/>
                </a:solidFill>
              </a:rPr>
              <a:t>then</a:t>
            </a:r>
            <a:r>
              <a:rPr sz="2400" dirty="0">
                <a:solidFill>
                  <a:srgbClr val="000066"/>
                </a:solidFill>
              </a:rPr>
              <a:t> add </a:t>
            </a:r>
            <a:r>
              <a:rPr sz="2400" i="1" dirty="0">
                <a:solidFill>
                  <a:srgbClr val="000066"/>
                </a:solidFill>
              </a:rPr>
              <a:t>p</a:t>
            </a:r>
            <a:r>
              <a:rPr sz="2400" dirty="0">
                <a:solidFill>
                  <a:srgbClr val="000066"/>
                </a:solidFill>
              </a:rPr>
              <a:t> to current rule</a:t>
            </a:r>
            <a:endParaRPr sz="2400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sz="2400" dirty="0">
                <a:solidFill>
                  <a:srgbClr val="000066"/>
                </a:solidFill>
              </a:rPr>
              <a:t>	</a:t>
            </a:r>
            <a:r>
              <a:rPr sz="2400" b="1" dirty="0">
                <a:solidFill>
                  <a:srgbClr val="000066"/>
                </a:solidFill>
              </a:rPr>
              <a:t>else</a:t>
            </a:r>
            <a:r>
              <a:rPr sz="2400" dirty="0">
                <a:solidFill>
                  <a:srgbClr val="000066"/>
                </a:solidFill>
              </a:rPr>
              <a:t> break</a:t>
            </a:r>
            <a:endParaRPr sz="2400" dirty="0"/>
          </a:p>
        </p:txBody>
      </p:sp>
      <p:sp>
        <p:nvSpPr>
          <p:cNvPr id="48133" name="Rectangle 4"/>
          <p:cNvSpPr/>
          <p:nvPr/>
        </p:nvSpPr>
        <p:spPr>
          <a:xfrm>
            <a:off x="1828800" y="3276600"/>
            <a:ext cx="2057400" cy="29718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dirty="0">
              <a:latin typeface="Arial" panose="020B0604020202020204" pitchFamily="34" charset="0"/>
            </a:endParaRPr>
          </a:p>
        </p:txBody>
      </p:sp>
      <p:sp>
        <p:nvSpPr>
          <p:cNvPr id="48134" name="Rectangle 5"/>
          <p:cNvSpPr/>
          <p:nvPr/>
        </p:nvSpPr>
        <p:spPr>
          <a:xfrm>
            <a:off x="3886200" y="3276600"/>
            <a:ext cx="3505200" cy="2971800"/>
          </a:xfrm>
          <a:prstGeom prst="rect">
            <a:avLst/>
          </a:prstGeom>
          <a:solidFill>
            <a:srgbClr val="00008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  <p:sp>
        <p:nvSpPr>
          <p:cNvPr id="48135" name="Text Box 6"/>
          <p:cNvSpPr txBox="1"/>
          <p:nvPr/>
        </p:nvSpPr>
        <p:spPr>
          <a:xfrm>
            <a:off x="2209800" y="5562600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dirty="0">
                <a:solidFill>
                  <a:srgbClr val="FFFF00"/>
                </a:solidFill>
                <a:latin typeface="Arial" panose="020B0604020202020204" pitchFamily="34" charset="0"/>
              </a:rPr>
              <a:t>Positive examples</a:t>
            </a:r>
            <a:endParaRPr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8136" name="Text Box 7"/>
          <p:cNvSpPr txBox="1"/>
          <p:nvPr/>
        </p:nvSpPr>
        <p:spPr>
          <a:xfrm>
            <a:off x="5105400" y="5562600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dirty="0">
                <a:solidFill>
                  <a:srgbClr val="FFFF00"/>
                </a:solidFill>
                <a:latin typeface="Arial" panose="020B0604020202020204" pitchFamily="34" charset="0"/>
              </a:rPr>
              <a:t>Negative examples</a:t>
            </a:r>
            <a:endParaRPr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987592" name="Oval 8"/>
          <p:cNvSpPr/>
          <p:nvPr/>
        </p:nvSpPr>
        <p:spPr>
          <a:xfrm>
            <a:off x="1905000" y="3352800"/>
            <a:ext cx="3352800" cy="2362200"/>
          </a:xfrm>
          <a:prstGeom prst="ellipse">
            <a:avLst/>
          </a:prstGeom>
          <a:solidFill>
            <a:srgbClr val="CCFF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i="1" dirty="0">
                <a:latin typeface="Arial" panose="020B0604020202020204" pitchFamily="34" charset="0"/>
              </a:rPr>
              <a:t>A3</a:t>
            </a:r>
            <a:r>
              <a:rPr dirty="0">
                <a:latin typeface="Arial" panose="020B0604020202020204" pitchFamily="34" charset="0"/>
              </a:rPr>
              <a:t>=1</a:t>
            </a:r>
            <a:endParaRPr dirty="0">
              <a:latin typeface="Arial" panose="020B0604020202020204" pitchFamily="34" charset="0"/>
            </a:endParaRPr>
          </a:p>
        </p:txBody>
      </p:sp>
      <p:sp>
        <p:nvSpPr>
          <p:cNvPr id="1987593" name="Oval 9"/>
          <p:cNvSpPr/>
          <p:nvPr/>
        </p:nvSpPr>
        <p:spPr>
          <a:xfrm>
            <a:off x="2057400" y="3429000"/>
            <a:ext cx="2362200" cy="1905000"/>
          </a:xfrm>
          <a:prstGeom prst="ellipse">
            <a:avLst/>
          </a:prstGeom>
          <a:solidFill>
            <a:srgbClr val="00FF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i="1" dirty="0">
                <a:latin typeface="Arial" panose="020B0604020202020204" pitchFamily="34" charset="0"/>
              </a:rPr>
              <a:t>A3</a:t>
            </a:r>
            <a:r>
              <a:rPr dirty="0">
                <a:latin typeface="Arial" panose="020B0604020202020204" pitchFamily="34" charset="0"/>
              </a:rPr>
              <a:t>=1&amp;&amp;</a:t>
            </a:r>
            <a:r>
              <a:rPr i="1" dirty="0">
                <a:latin typeface="Arial" panose="020B0604020202020204" pitchFamily="34" charset="0"/>
              </a:rPr>
              <a:t>A1</a:t>
            </a:r>
            <a:r>
              <a:rPr dirty="0">
                <a:latin typeface="Arial" panose="020B0604020202020204" pitchFamily="34" charset="0"/>
              </a:rPr>
              <a:t>=2</a:t>
            </a:r>
            <a:endParaRPr dirty="0">
              <a:latin typeface="Arial" panose="020B0604020202020204" pitchFamily="34" charset="0"/>
            </a:endParaRPr>
          </a:p>
        </p:txBody>
      </p:sp>
      <p:sp>
        <p:nvSpPr>
          <p:cNvPr id="1987594" name="Oval 10"/>
          <p:cNvSpPr/>
          <p:nvPr/>
        </p:nvSpPr>
        <p:spPr>
          <a:xfrm>
            <a:off x="2057400" y="3657600"/>
            <a:ext cx="1752600" cy="1371600"/>
          </a:xfrm>
          <a:prstGeom prst="ellipse">
            <a:avLst/>
          </a:prstGeom>
          <a:solidFill>
            <a:schemeClr val="accent1">
              <a:alpha val="65097"/>
            </a:scheme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i="1" dirty="0">
                <a:latin typeface="Arial" panose="020B0604020202020204" pitchFamily="34" charset="0"/>
              </a:rPr>
              <a:t>A3</a:t>
            </a:r>
            <a:r>
              <a:rPr dirty="0">
                <a:latin typeface="Arial" panose="020B0604020202020204" pitchFamily="34" charset="0"/>
              </a:rPr>
              <a:t>=1&amp;&amp;</a:t>
            </a:r>
            <a:r>
              <a:rPr i="1" dirty="0">
                <a:latin typeface="Arial" panose="020B0604020202020204" pitchFamily="34" charset="0"/>
              </a:rPr>
              <a:t>A1</a:t>
            </a:r>
            <a:r>
              <a:rPr dirty="0">
                <a:latin typeface="Arial" panose="020B0604020202020204" pitchFamily="34" charset="0"/>
              </a:rPr>
              <a:t>=2</a:t>
            </a:r>
            <a:endParaRPr dirty="0">
              <a:latin typeface="Arial" panose="020B0604020202020204" pitchFamily="34" charset="0"/>
            </a:endParaRPr>
          </a:p>
          <a:p>
            <a:pPr algn="ctr" eaLnBrk="0" hangingPunct="0"/>
            <a:r>
              <a:rPr i="1" dirty="0">
                <a:latin typeface="Arial" panose="020B0604020202020204" pitchFamily="34" charset="0"/>
              </a:rPr>
              <a:t>&amp;&amp;A8</a:t>
            </a:r>
            <a:r>
              <a:rPr dirty="0">
                <a:latin typeface="Arial" panose="020B0604020202020204" pitchFamily="34" charset="0"/>
              </a:rPr>
              <a:t>=5</a:t>
            </a:r>
            <a:endParaRPr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8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8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8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592" grpId="0" animBg="1"/>
      <p:bldP spid="1987593" grpId="0" animBg="1"/>
      <p:bldP spid="198759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Slide Number Placeholder 7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How to Learn-One-Rule?</a:t>
            </a:r>
            <a:endParaRPr dirty="0"/>
          </a:p>
        </p:txBody>
      </p:sp>
      <p:sp>
        <p:nvSpPr>
          <p:cNvPr id="49156" name="Rectangle 3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8686800" cy="5181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Start with the </a:t>
            </a:r>
            <a:r>
              <a:rPr sz="2400" i="1" dirty="0"/>
              <a:t>most general rule</a:t>
            </a:r>
            <a:r>
              <a:rPr sz="2400" dirty="0"/>
              <a:t> possible: condition = empty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i="1" dirty="0"/>
              <a:t>Adding new attributes</a:t>
            </a:r>
            <a:r>
              <a:rPr sz="2400" dirty="0"/>
              <a:t> by adopting a greedy depth-first strategy</a:t>
            </a: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400" dirty="0"/>
              <a:t>Picks the one that most improves the rule quality</a:t>
            </a:r>
            <a:endParaRPr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Rule-Quality measures: consider both coverage and accuracy</a:t>
            </a: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400" dirty="0"/>
              <a:t>Foil-gain (in FOIL &amp; RIPPER): assesses info_gain by extending condition</a:t>
            </a:r>
            <a:endParaRPr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endParaRPr sz="2400"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sz="2000" dirty="0"/>
              <a:t>favors rules that have high accuracy and cover many positive tuples</a:t>
            </a:r>
            <a:endParaRPr sz="20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Rule pruning based on an independent set of test tuples</a:t>
            </a:r>
            <a:endParaRPr sz="2000"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endParaRPr sz="2000"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endParaRPr sz="2000"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dirty="0"/>
              <a:t>Pos/neg are # of positive/negative tuples covered by R.</a:t>
            </a:r>
            <a:endParaRPr dirty="0"/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dirty="0"/>
              <a:t>If </a:t>
            </a:r>
            <a:r>
              <a:rPr i="1" dirty="0"/>
              <a:t>FOIL_Prune</a:t>
            </a:r>
            <a:r>
              <a:rPr dirty="0"/>
              <a:t> is higher for the pruned version of R, prune R</a:t>
            </a:r>
            <a:endParaRPr dirty="0"/>
          </a:p>
        </p:txBody>
      </p:sp>
      <p:graphicFrame>
        <p:nvGraphicFramePr>
          <p:cNvPr id="49157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2590800" y="3505200"/>
          <a:ext cx="5105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3365500" imgH="419100" progId="Equation.3">
                  <p:embed/>
                </p:oleObj>
              </mc:Choice>
              <mc:Fallback>
                <p:oleObj name="" r:id="rId1" imgW="3365500" imgH="419100" progId="Equation.3">
                  <p:embed/>
                  <p:pic>
                    <p:nvPicPr>
                      <p:cNvPr id="0" name="Picture 310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590800" y="3505200"/>
                        <a:ext cx="5105400" cy="685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2819400" y="5029200"/>
          <a:ext cx="316071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1892300" imgH="419100" progId="Equation.3">
                  <p:embed/>
                </p:oleObj>
              </mc:Choice>
              <mc:Fallback>
                <p:oleObj name="" r:id="rId3" imgW="1892300" imgH="419100" progId="Equation.3">
                  <p:embed/>
                  <p:pic>
                    <p:nvPicPr>
                      <p:cNvPr id="0" name="Picture 3104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819400" y="5029200"/>
                        <a:ext cx="3160713" cy="7000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Slide Number Placeholder 6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400" b="1" dirty="0">
                <a:latin typeface="Calibri" panose="020F0502020204030204" pitchFamily="34" charset="0"/>
              </a:rPr>
            </a:fld>
            <a:endParaRPr lang="en-US" sz="1400" b="1" dirty="0">
              <a:latin typeface="Calibri" panose="020F0502020204030204" pitchFamily="34" charset="0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Chapter 8. Classification: Basic Concepts</a:t>
            </a:r>
            <a:endParaRPr dirty="0"/>
          </a:p>
        </p:txBody>
      </p:sp>
      <p:sp>
        <p:nvSpPr>
          <p:cNvPr id="50180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</p:spPr>
        <p:txBody>
          <a:bodyPr vert="horz" wrap="square" lIns="92075" tIns="46038" rIns="92075" bIns="46038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lnSpc>
                <a:spcPct val="130000"/>
              </a:lnSpc>
            </a:pPr>
            <a:r>
              <a:rPr sz="2800" dirty="0"/>
              <a:t>Classification: Basic Concepts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Decision Tree Induction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Bayes Classification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Rule-Based Classification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Model Evaluation and Selection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Techniques to Improve Classification Accuracy: Ensemble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Summary</a:t>
            </a:r>
            <a:endParaRPr sz="2800" dirty="0"/>
          </a:p>
        </p:txBody>
      </p:sp>
      <p:sp>
        <p:nvSpPr>
          <p:cNvPr id="50181" name="AutoShape 8"/>
          <p:cNvSpPr/>
          <p:nvPr/>
        </p:nvSpPr>
        <p:spPr>
          <a:xfrm rot="9803581">
            <a:off x="5638800" y="3962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dirty="0"/>
              <a:t>Model Evaluation and Selection</a:t>
            </a:r>
            <a:endParaRPr dirty="0"/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</a:pPr>
            <a:r>
              <a:rPr sz="2400" dirty="0"/>
              <a:t>Evaluation metrics: How can we measure accuracy?  Other metrics to consider?</a:t>
            </a:r>
            <a:endParaRPr sz="2400" dirty="0"/>
          </a:p>
          <a:p>
            <a:pPr>
              <a:lnSpc>
                <a:spcPct val="110000"/>
              </a:lnSpc>
            </a:pPr>
            <a:r>
              <a:rPr sz="2400" dirty="0"/>
              <a:t>Use </a:t>
            </a:r>
            <a:r>
              <a:rPr sz="2400" b="1" dirty="0"/>
              <a:t>validation test set</a:t>
            </a:r>
            <a:r>
              <a:rPr sz="2400" dirty="0"/>
              <a:t> of class-labeled tuples instead of training set when assessing accuracy</a:t>
            </a:r>
            <a:endParaRPr sz="2400" dirty="0"/>
          </a:p>
          <a:p>
            <a:pPr>
              <a:lnSpc>
                <a:spcPct val="110000"/>
              </a:lnSpc>
            </a:pPr>
            <a:r>
              <a:rPr sz="2400" dirty="0"/>
              <a:t>Methods for estimating a classifier’s accuracy: </a:t>
            </a:r>
            <a:endParaRPr sz="2400" dirty="0"/>
          </a:p>
          <a:p>
            <a:pPr lvl="1">
              <a:lnSpc>
                <a:spcPct val="110000"/>
              </a:lnSpc>
            </a:pPr>
            <a:r>
              <a:rPr sz="2400" dirty="0"/>
              <a:t>Holdout method, random subsampling</a:t>
            </a:r>
            <a:endParaRPr sz="2400" dirty="0"/>
          </a:p>
          <a:p>
            <a:pPr lvl="1">
              <a:lnSpc>
                <a:spcPct val="110000"/>
              </a:lnSpc>
            </a:pPr>
            <a:r>
              <a:rPr sz="2400" dirty="0"/>
              <a:t>Cross-validation</a:t>
            </a:r>
            <a:endParaRPr sz="2400" dirty="0"/>
          </a:p>
          <a:p>
            <a:pPr lvl="1">
              <a:lnSpc>
                <a:spcPct val="110000"/>
              </a:lnSpc>
            </a:pPr>
            <a:r>
              <a:rPr sz="2400" dirty="0"/>
              <a:t>Bootstrap</a:t>
            </a:r>
            <a:endParaRPr sz="2400" dirty="0"/>
          </a:p>
          <a:p>
            <a:pPr>
              <a:lnSpc>
                <a:spcPct val="110000"/>
              </a:lnSpc>
            </a:pPr>
            <a:r>
              <a:rPr sz="2400" dirty="0"/>
              <a:t>Comparing classifiers:</a:t>
            </a:r>
            <a:endParaRPr sz="2400" dirty="0"/>
          </a:p>
          <a:p>
            <a:pPr lvl="1">
              <a:lnSpc>
                <a:spcPct val="110000"/>
              </a:lnSpc>
            </a:pPr>
            <a:r>
              <a:rPr sz="2400" dirty="0"/>
              <a:t>Confidence intervals</a:t>
            </a:r>
            <a:endParaRPr sz="2400" dirty="0"/>
          </a:p>
          <a:p>
            <a:pPr lvl="1">
              <a:lnSpc>
                <a:spcPct val="110000"/>
              </a:lnSpc>
            </a:pPr>
            <a:r>
              <a:rPr sz="2400" dirty="0"/>
              <a:t>Cost-benefit analysis and ROC Curves</a:t>
            </a:r>
            <a:endParaRPr sz="2400" dirty="0"/>
          </a:p>
        </p:txBody>
      </p:sp>
      <p:sp>
        <p:nvSpPr>
          <p:cNvPr id="51204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vert="horz" wrap="square" lIns="91440" tIns="45720" rIns="91440" bIns="45720" anchor="b" anchorCtr="0"/>
          <a:p>
            <a:r>
              <a:rPr dirty="0"/>
              <a:t>Classifier Evaluation Metrics: Confusion Matrix</a:t>
            </a:r>
            <a:endParaRPr dirty="0"/>
          </a:p>
        </p:txBody>
      </p:sp>
      <p:graphicFrame>
        <p:nvGraphicFramePr>
          <p:cNvPr id="61519" name="Group 79"/>
          <p:cNvGraphicFramePr>
            <a:graphicFrameLocks noGrp="1"/>
          </p:cNvGraphicFramePr>
          <p:nvPr>
            <p:ph sz="half" idx="1"/>
          </p:nvPr>
        </p:nvGraphicFramePr>
        <p:xfrm>
          <a:off x="1066800" y="3352800"/>
          <a:ext cx="7010400" cy="1935163"/>
        </p:xfrm>
        <a:graphic>
          <a:graphicData uri="http://schemas.openxmlformats.org/drawingml/2006/table">
            <a:tbl>
              <a:tblPr/>
              <a:tblGrid>
                <a:gridCol w="2514600"/>
                <a:gridCol w="1752600"/>
                <a:gridCol w="1752600"/>
                <a:gridCol w="990600"/>
              </a:tblGrid>
              <a:tr h="7011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Actual class\Predicted class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buy_computer =  yes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buy_computer = no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buy_computer = yes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6954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buy_computer = no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412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2588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7366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2634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54" name="Rectangle 63"/>
          <p:cNvSpPr>
            <a:spLocks noGrp="1"/>
          </p:cNvSpPr>
          <p:nvPr>
            <p:ph type="body" sz="half" idx="2"/>
          </p:nvPr>
        </p:nvSpPr>
        <p:spPr>
          <a:xfrm>
            <a:off x="304800" y="5372100"/>
            <a:ext cx="8458200" cy="12573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Given</a:t>
            </a:r>
            <a:r>
              <a:rPr sz="2400" i="1" dirty="0"/>
              <a:t> m</a:t>
            </a:r>
            <a:r>
              <a:rPr sz="2400" dirty="0"/>
              <a:t> classes, an entry, </a:t>
            </a:r>
            <a:r>
              <a:rPr sz="2400" b="1" i="1" dirty="0"/>
              <a:t>CM</a:t>
            </a:r>
            <a:r>
              <a:rPr sz="2400" b="1" i="1" baseline="-25000" dirty="0"/>
              <a:t>i,j</a:t>
            </a:r>
            <a:r>
              <a:rPr sz="2400" b="1" baseline="-25000" dirty="0"/>
              <a:t> </a:t>
            </a:r>
            <a:r>
              <a:rPr sz="2400" dirty="0"/>
              <a:t> in a </a:t>
            </a:r>
            <a:r>
              <a:rPr sz="2400" b="1" dirty="0"/>
              <a:t>confusion matrix</a:t>
            </a:r>
            <a:r>
              <a:rPr sz="2400" dirty="0"/>
              <a:t> indicates # of tuples in class </a:t>
            </a:r>
            <a:r>
              <a:rPr sz="2400" i="1" dirty="0"/>
              <a:t>i</a:t>
            </a:r>
            <a:r>
              <a:rPr sz="2400" dirty="0"/>
              <a:t>  that were labeled by the classifier as class </a:t>
            </a:r>
            <a:r>
              <a:rPr sz="2400" i="1" dirty="0"/>
              <a:t>j</a:t>
            </a:r>
            <a:endParaRPr sz="2400" i="1" dirty="0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May have extra rows/columns to provide totals</a:t>
            </a:r>
            <a:endParaRPr sz="2400" dirty="0"/>
          </a:p>
        </p:txBody>
      </p:sp>
      <p:sp>
        <p:nvSpPr>
          <p:cNvPr id="52255" name="Text Box 66"/>
          <p:cNvSpPr txBox="1"/>
          <p:nvPr/>
        </p:nvSpPr>
        <p:spPr>
          <a:xfrm>
            <a:off x="228600" y="1219200"/>
            <a:ext cx="2608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sz="2400" b="1" dirty="0">
                <a:latin typeface="Calibri" panose="020F0502020204030204" pitchFamily="34" charset="0"/>
              </a:rPr>
              <a:t>Confusion Matrix:</a:t>
            </a:r>
            <a:endParaRPr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1517" name="Group 77"/>
          <p:cNvGraphicFramePr>
            <a:graphicFrameLocks noGrp="1"/>
          </p:cNvGraphicFramePr>
          <p:nvPr/>
        </p:nvGraphicFramePr>
        <p:xfrm>
          <a:off x="533400" y="1676400"/>
          <a:ext cx="7924800" cy="1235076"/>
        </p:xfrm>
        <a:graphic>
          <a:graphicData uri="http://schemas.openxmlformats.org/drawingml/2006/table">
            <a:tbl>
              <a:tblPr/>
              <a:tblGrid>
                <a:gridCol w="2895600"/>
                <a:gridCol w="2471738"/>
                <a:gridCol w="2557462"/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Actual class\Predicted class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True Positives (TP)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False Negatives (FN)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False Positives (FP)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True Negatives (TN)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74" name="Rectangle 78"/>
          <p:cNvSpPr/>
          <p:nvPr/>
        </p:nvSpPr>
        <p:spPr>
          <a:xfrm>
            <a:off x="304800" y="2971800"/>
            <a:ext cx="3565525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b="1" dirty="0">
                <a:latin typeface="Tahoma" panose="020B0604030504040204" pitchFamily="34" charset="0"/>
              </a:rPr>
              <a:t>Example of Confusion Matrix:</a:t>
            </a:r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52275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304800" y="0"/>
            <a:ext cx="8402638" cy="1143000"/>
          </a:xfrm>
        </p:spPr>
        <p:txBody>
          <a:bodyPr vert="horz" wrap="square" lIns="91440" tIns="45720" rIns="91440" bIns="45720" anchor="b" anchorCtr="0"/>
          <a:p>
            <a:r>
              <a:rPr dirty="0"/>
              <a:t>Classifier Evaluation Metrics: Accuracy, Error Rate, Sensitivity and Specificity</a:t>
            </a:r>
            <a:endParaRPr dirty="0"/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152400" y="3048000"/>
            <a:ext cx="4724400" cy="3505200"/>
          </a:xfrm>
        </p:spPr>
        <p:txBody>
          <a:bodyPr vert="horz" wrap="square" lIns="91440" tIns="45720" rIns="91440" bIns="45720" anchor="t" anchorCtr="0"/>
          <a:p>
            <a:r>
              <a:rPr sz="2400" b="1" dirty="0"/>
              <a:t>Classifier Accuracy, </a:t>
            </a:r>
            <a:r>
              <a:rPr sz="2400" dirty="0"/>
              <a:t>or recognition rate: percentage of test set tuples that are correctly classified</a:t>
            </a:r>
            <a:endParaRPr sz="2400" dirty="0"/>
          </a:p>
          <a:p>
            <a:pPr lvl="1">
              <a:buNone/>
            </a:pPr>
            <a:r>
              <a:rPr sz="2400" b="1" dirty="0"/>
              <a:t>Accuracy = (TP + TN)/All</a:t>
            </a:r>
            <a:endParaRPr sz="2400" dirty="0"/>
          </a:p>
          <a:p>
            <a:r>
              <a:rPr sz="2400" b="1" dirty="0"/>
              <a:t>Error rate:</a:t>
            </a:r>
            <a:r>
              <a:rPr sz="2400" dirty="0"/>
              <a:t> </a:t>
            </a:r>
            <a:r>
              <a:rPr sz="2400" i="1" dirty="0"/>
              <a:t>1 –</a:t>
            </a:r>
            <a:r>
              <a:rPr sz="2400" dirty="0"/>
              <a:t> </a:t>
            </a:r>
            <a:r>
              <a:rPr sz="2400" i="1" dirty="0"/>
              <a:t>accuracy</a:t>
            </a:r>
            <a:r>
              <a:rPr sz="2400" dirty="0"/>
              <a:t>, or</a:t>
            </a:r>
            <a:endParaRPr sz="2400" dirty="0"/>
          </a:p>
          <a:p>
            <a:pPr lvl="1">
              <a:buNone/>
            </a:pPr>
            <a:r>
              <a:rPr sz="2400" b="1" dirty="0"/>
              <a:t>Error rate = (FP + FN)/All</a:t>
            </a:r>
            <a:endParaRPr sz="2400" b="1" dirty="0"/>
          </a:p>
        </p:txBody>
      </p:sp>
      <p:sp>
        <p:nvSpPr>
          <p:cNvPr id="53252" name="Rectangle 3"/>
          <p:cNvSpPr/>
          <p:nvPr/>
        </p:nvSpPr>
        <p:spPr>
          <a:xfrm>
            <a:off x="4267200" y="1371600"/>
            <a:ext cx="4724400" cy="5105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b="1" dirty="0">
                <a:latin typeface="Calibri" panose="020F0502020204030204" pitchFamily="34" charset="0"/>
              </a:rPr>
              <a:t>Class Imbalance Problem</a:t>
            </a:r>
            <a:r>
              <a:rPr sz="2400" dirty="0">
                <a:latin typeface="Calibri" panose="020F0502020204030204" pitchFamily="34" charset="0"/>
              </a:rPr>
              <a:t>: </a:t>
            </a:r>
            <a:endParaRPr sz="2400" dirty="0">
              <a:latin typeface="Calibri" panose="020F0502020204030204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One class may be </a:t>
            </a:r>
            <a:r>
              <a:rPr sz="2400" i="1" dirty="0">
                <a:latin typeface="Calibri" panose="020F0502020204030204" pitchFamily="34" charset="0"/>
              </a:rPr>
              <a:t>rare</a:t>
            </a:r>
            <a:r>
              <a:rPr sz="2400" dirty="0">
                <a:latin typeface="Calibri" panose="020F0502020204030204" pitchFamily="34" charset="0"/>
              </a:rPr>
              <a:t>, e.g. fraud, or HIV-positive</a:t>
            </a:r>
            <a:endParaRPr sz="2400" dirty="0">
              <a:latin typeface="Calibri" panose="020F0502020204030204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Significant </a:t>
            </a:r>
            <a:r>
              <a:rPr sz="2400" i="1" dirty="0">
                <a:latin typeface="Calibri" panose="020F0502020204030204" pitchFamily="34" charset="0"/>
              </a:rPr>
              <a:t>majority of the negative class</a:t>
            </a:r>
            <a:r>
              <a:rPr sz="2400" dirty="0">
                <a:latin typeface="Calibri" panose="020F0502020204030204" pitchFamily="34" charset="0"/>
              </a:rPr>
              <a:t> and minority of the positive class</a:t>
            </a:r>
            <a:endParaRPr sz="2400" dirty="0">
              <a:latin typeface="Calibri" panose="020F0502020204030204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400" b="1" dirty="0">
                <a:latin typeface="Calibri" panose="020F0502020204030204" pitchFamily="34" charset="0"/>
              </a:rPr>
              <a:t>Sensitivity</a:t>
            </a:r>
            <a:r>
              <a:rPr sz="2400" dirty="0">
                <a:latin typeface="Calibri" panose="020F0502020204030204" pitchFamily="34" charset="0"/>
              </a:rPr>
              <a:t>: True Positive recognition rate</a:t>
            </a:r>
            <a:endParaRPr sz="2400" dirty="0">
              <a:latin typeface="Calibri" panose="020F0502020204030204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sz="2400" b="1" dirty="0">
                <a:latin typeface="Calibri" panose="020F0502020204030204" pitchFamily="34" charset="0"/>
              </a:rPr>
              <a:t>Sensitivity = TP/P</a:t>
            </a:r>
            <a:endParaRPr sz="2400" b="1" dirty="0">
              <a:latin typeface="Calibri" panose="020F0502020204030204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400" b="1" dirty="0">
                <a:latin typeface="Calibri" panose="020F0502020204030204" pitchFamily="34" charset="0"/>
              </a:rPr>
              <a:t>Specificity</a:t>
            </a:r>
            <a:r>
              <a:rPr sz="2400" dirty="0">
                <a:latin typeface="Calibri" panose="020F0502020204030204" pitchFamily="34" charset="0"/>
              </a:rPr>
              <a:t>: True Negative recognition rate</a:t>
            </a:r>
            <a:endParaRPr sz="2400" dirty="0">
              <a:latin typeface="Calibri" panose="020F0502020204030204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sz="2400" b="1" dirty="0">
                <a:latin typeface="Calibri" panose="020F0502020204030204" pitchFamily="34" charset="0"/>
              </a:rPr>
              <a:t>Specificity = TN/N</a:t>
            </a:r>
            <a:endParaRPr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2595" name="Group 131"/>
          <p:cNvGraphicFramePr>
            <a:graphicFrameLocks noGrp="1"/>
          </p:cNvGraphicFramePr>
          <p:nvPr/>
        </p:nvGraphicFramePr>
        <p:xfrm>
          <a:off x="1524000" y="1371600"/>
          <a:ext cx="1905000" cy="1466852"/>
        </p:xfrm>
        <a:graphic>
          <a:graphicData uri="http://schemas.openxmlformats.org/drawingml/2006/table">
            <a:tbl>
              <a:tblPr/>
              <a:tblGrid>
                <a:gridCol w="533400"/>
                <a:gridCol w="457200"/>
                <a:gridCol w="457200"/>
                <a:gridCol w="457200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A\P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¬C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TP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¬C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FP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P’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N’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All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280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4" name="Picture 7" descr="8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0" y="4343400"/>
            <a:ext cx="4267200" cy="820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5" name="Picture 8" descr="8rec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225" y="2895600"/>
            <a:ext cx="3124200" cy="739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6" name="Picture 7" descr="8preci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65313"/>
            <a:ext cx="3581400" cy="725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7" name="Rectangle 2"/>
          <p:cNvSpPr>
            <a:spLocks noGrp="1"/>
          </p:cNvSpPr>
          <p:nvPr>
            <p:ph type="title"/>
          </p:nvPr>
        </p:nvSpPr>
        <p:spPr>
          <a:xfrm>
            <a:off x="304800" y="0"/>
            <a:ext cx="8402638" cy="1219200"/>
          </a:xfrm>
        </p:spPr>
        <p:txBody>
          <a:bodyPr vert="horz" wrap="square" lIns="91440" tIns="45720" rIns="91440" bIns="45720" anchor="b" anchorCtr="0"/>
          <a:p>
            <a:r>
              <a:rPr dirty="0"/>
              <a:t>Classifier Evaluation Metrics: </a:t>
            </a:r>
            <a:br>
              <a:rPr dirty="0"/>
            </a:br>
            <a:r>
              <a:rPr dirty="0"/>
              <a:t>Precision and Recall, and F-measures</a:t>
            </a:r>
            <a:endParaRPr dirty="0"/>
          </a:p>
        </p:txBody>
      </p:sp>
      <p:sp>
        <p:nvSpPr>
          <p:cNvPr id="54278" name="Rectangle 3"/>
          <p:cNvSpPr>
            <a:spLocks noGrp="1"/>
          </p:cNvSpPr>
          <p:nvPr>
            <p:ph idx="1"/>
          </p:nvPr>
        </p:nvSpPr>
        <p:spPr>
          <a:xfrm>
            <a:off x="257175" y="1371600"/>
            <a:ext cx="8429625" cy="4419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sz="2400" b="1" dirty="0"/>
              <a:t>Precision</a:t>
            </a:r>
            <a:r>
              <a:rPr sz="2400" dirty="0"/>
              <a:t>: exactness – what % of tuples that the classifier labeled as positive are actually positive</a:t>
            </a:r>
            <a:endParaRPr sz="2400" dirty="0"/>
          </a:p>
          <a:p>
            <a:pPr lvl="1">
              <a:lnSpc>
                <a:spcPct val="90000"/>
              </a:lnSpc>
            </a:pPr>
            <a:endParaRPr sz="2400" b="1" dirty="0"/>
          </a:p>
          <a:p>
            <a:pPr>
              <a:lnSpc>
                <a:spcPct val="90000"/>
              </a:lnSpc>
            </a:pPr>
            <a:r>
              <a:rPr sz="2400" b="1" dirty="0"/>
              <a:t>Recall: </a:t>
            </a:r>
            <a:r>
              <a:rPr sz="2400" dirty="0"/>
              <a:t>completeness – what % of positive tuples did the classifier label as positive?</a:t>
            </a:r>
            <a:endParaRPr sz="2400" dirty="0"/>
          </a:p>
          <a:p>
            <a:pPr>
              <a:lnSpc>
                <a:spcPct val="90000"/>
              </a:lnSpc>
            </a:pPr>
            <a:r>
              <a:rPr sz="2400" dirty="0"/>
              <a:t>Perfect score is 1.0</a:t>
            </a:r>
            <a:endParaRPr sz="2400" dirty="0"/>
          </a:p>
          <a:p>
            <a:pPr>
              <a:lnSpc>
                <a:spcPct val="90000"/>
              </a:lnSpc>
            </a:pPr>
            <a:r>
              <a:rPr sz="2400" dirty="0"/>
              <a:t>Inverse relationship between precision &amp; recall</a:t>
            </a:r>
            <a:endParaRPr sz="2400" dirty="0"/>
          </a:p>
          <a:p>
            <a:pPr>
              <a:lnSpc>
                <a:spcPct val="80000"/>
              </a:lnSpc>
            </a:pPr>
            <a:r>
              <a:rPr sz="2400" b="1" i="1" dirty="0"/>
              <a:t>F</a:t>
            </a:r>
            <a:r>
              <a:rPr sz="2400" b="1" dirty="0"/>
              <a:t> measure (</a:t>
            </a:r>
            <a:r>
              <a:rPr sz="2400" b="1" i="1" dirty="0"/>
              <a:t>F</a:t>
            </a:r>
            <a:r>
              <a:rPr sz="2400" b="1" i="1" baseline="-25000" dirty="0"/>
              <a:t>1</a:t>
            </a:r>
            <a:r>
              <a:rPr sz="2400" b="1" dirty="0"/>
              <a:t> </a:t>
            </a:r>
            <a:r>
              <a:rPr sz="2400" dirty="0"/>
              <a:t>or</a:t>
            </a:r>
            <a:r>
              <a:rPr sz="2400" b="1" dirty="0"/>
              <a:t> </a:t>
            </a:r>
            <a:r>
              <a:rPr sz="2400" b="1" i="1" dirty="0"/>
              <a:t>F</a:t>
            </a:r>
            <a:r>
              <a:rPr sz="2400" b="1" dirty="0"/>
              <a:t>-score)</a:t>
            </a:r>
            <a:r>
              <a:rPr sz="2400" dirty="0"/>
              <a:t>: harmonic mean of precision and recall,</a:t>
            </a:r>
            <a:endParaRPr sz="2400" b="1" dirty="0"/>
          </a:p>
          <a:p>
            <a:pPr>
              <a:lnSpc>
                <a:spcPct val="80000"/>
              </a:lnSpc>
              <a:buNone/>
            </a:pPr>
            <a:endParaRPr sz="2400" b="1" i="1" dirty="0"/>
          </a:p>
          <a:p>
            <a:pPr>
              <a:lnSpc>
                <a:spcPct val="80000"/>
              </a:lnSpc>
            </a:pPr>
            <a:r>
              <a:rPr sz="2400" b="1" i="1" dirty="0"/>
              <a:t>F</a:t>
            </a:r>
            <a:r>
              <a:rPr sz="2400" b="1" i="1" baseline="-25000" dirty="0">
                <a:cs typeface="Tahoma" panose="020B0604030504040204" pitchFamily="34" charset="0"/>
              </a:rPr>
              <a:t>ß</a:t>
            </a:r>
            <a:r>
              <a:rPr sz="2400" b="1" dirty="0"/>
              <a:t>:  </a:t>
            </a:r>
            <a:r>
              <a:rPr sz="2400" dirty="0"/>
              <a:t>weighted measure of precision and recall</a:t>
            </a:r>
            <a:endParaRPr sz="2400" dirty="0"/>
          </a:p>
          <a:p>
            <a:pPr lvl="1">
              <a:lnSpc>
                <a:spcPct val="80000"/>
              </a:lnSpc>
            </a:pPr>
            <a:r>
              <a:rPr sz="2400" dirty="0"/>
              <a:t>assigns </a:t>
            </a:r>
            <a:r>
              <a:rPr sz="2400" dirty="0">
                <a:cs typeface="Tahoma" panose="020B0604030504040204" pitchFamily="34" charset="0"/>
              </a:rPr>
              <a:t>ß times as much weight to recall as to precision</a:t>
            </a:r>
            <a:endParaRPr sz="2400" dirty="0"/>
          </a:p>
        </p:txBody>
      </p:sp>
      <p:sp>
        <p:nvSpPr>
          <p:cNvPr id="54279" name="Text Box 5"/>
          <p:cNvSpPr txBox="1"/>
          <p:nvPr/>
        </p:nvSpPr>
        <p:spPr>
          <a:xfrm>
            <a:off x="1050925" y="5010150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sz="2800" dirty="0">
              <a:latin typeface="Tahoma" panose="020B0604030504040204" pitchFamily="34" charset="0"/>
            </a:endParaRPr>
          </a:p>
        </p:txBody>
      </p:sp>
      <p:sp>
        <p:nvSpPr>
          <p:cNvPr id="54280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  <p:pic>
        <p:nvPicPr>
          <p:cNvPr id="54281" name="Picture 8" descr="8Fb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5" y="5791200"/>
            <a:ext cx="5791200" cy="962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 vert="horz" wrap="square" lIns="91440" tIns="45720" rIns="91440" bIns="45720" anchor="b" anchorCtr="0"/>
          <a:p>
            <a:r>
              <a:rPr dirty="0"/>
              <a:t>Classifier Evaluation Metrics: Example</a:t>
            </a:r>
            <a:endParaRPr dirty="0"/>
          </a:p>
        </p:txBody>
      </p:sp>
      <p:sp>
        <p:nvSpPr>
          <p:cNvPr id="55299" name="Rectangle 35"/>
          <p:cNvSpPr/>
          <p:nvPr/>
        </p:nvSpPr>
        <p:spPr>
          <a:xfrm>
            <a:off x="228600" y="4572000"/>
            <a:ext cx="8610600" cy="114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55300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  <p:sp>
        <p:nvSpPr>
          <p:cNvPr id="55301" name="Content Placeholder 1"/>
          <p:cNvSpPr>
            <a:spLocks noGrp="1"/>
          </p:cNvSpPr>
          <p:nvPr>
            <p:ph sz="half" idx="1"/>
          </p:nvPr>
        </p:nvSpPr>
        <p:spPr>
          <a:xfrm>
            <a:off x="228600" y="3429000"/>
            <a:ext cx="8458200" cy="609600"/>
          </a:xfrm>
        </p:spPr>
        <p:txBody>
          <a:bodyPr vert="horz" wrap="square" lIns="91440" tIns="45720" rIns="91440" bIns="45720" anchor="t" anchorCtr="0"/>
          <a:p>
            <a:pPr marL="342900" lvl="1" indent="-342900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i="1" dirty="0"/>
              <a:t>Precision</a:t>
            </a:r>
            <a:r>
              <a:rPr sz="2400" dirty="0"/>
              <a:t> = 90/230 = 39.13%             </a:t>
            </a:r>
            <a:r>
              <a:rPr sz="2400" i="1" dirty="0"/>
              <a:t>Recall</a:t>
            </a:r>
            <a:r>
              <a:rPr sz="2400" dirty="0"/>
              <a:t> = 90/300 = 30.00%</a:t>
            </a:r>
            <a:endParaRPr sz="2400" dirty="0"/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dirty="0"/>
          </a:p>
        </p:txBody>
      </p:sp>
      <p:graphicFrame>
        <p:nvGraphicFramePr>
          <p:cNvPr id="7" name="Group 54"/>
          <p:cNvGraphicFramePr>
            <a:graphicFrameLocks noGrp="1"/>
          </p:cNvGraphicFramePr>
          <p:nvPr/>
        </p:nvGraphicFramePr>
        <p:xfrm>
          <a:off x="228600" y="1889125"/>
          <a:ext cx="8839200" cy="1466852"/>
        </p:xfrm>
        <a:graphic>
          <a:graphicData uri="http://schemas.openxmlformats.org/drawingml/2006/table">
            <a:tbl>
              <a:tblPr/>
              <a:tblGrid>
                <a:gridCol w="3200400"/>
                <a:gridCol w="1524000"/>
                <a:gridCol w="1295400"/>
                <a:gridCol w="981075"/>
                <a:gridCol w="1838325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Actual Class\Predicted class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cancer = yes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cancer = no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Recognition(%)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cancer = yes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30.00 (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sensitivity</a:t>
                      </a:r>
                      <a:endParaRPr kumimoji="0" 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cancer = no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9560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9700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98.56 (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specificity)</a:t>
                      </a:r>
                      <a:endParaRPr kumimoji="0" 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9770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96.40 (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kumimoji="0" 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xfrm>
            <a:off x="533400" y="76200"/>
            <a:ext cx="8091488" cy="10668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dirty="0"/>
              <a:t>Evaluating Classifier Accuracy:</a:t>
            </a:r>
            <a:br>
              <a:rPr dirty="0"/>
            </a:br>
            <a:r>
              <a:rPr dirty="0"/>
              <a:t>Holdout &amp; Cross-Validation Methods</a:t>
            </a:r>
            <a:endParaRPr sz="4000" dirty="0"/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273675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80000"/>
              </a:lnSpc>
            </a:pPr>
            <a:r>
              <a:rPr sz="2400" b="1" dirty="0"/>
              <a:t>Holdout method</a:t>
            </a:r>
            <a:endParaRPr sz="2400" b="1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Given data is randomly partitioned into two independent sets</a:t>
            </a:r>
            <a:endParaRPr sz="2400" dirty="0"/>
          </a:p>
          <a:p>
            <a:pPr lvl="2" eaLnBrk="1" hangingPunct="1">
              <a:lnSpc>
                <a:spcPct val="80000"/>
              </a:lnSpc>
            </a:pPr>
            <a:r>
              <a:rPr dirty="0"/>
              <a:t>Training set (e.g., 2/3) for model construction</a:t>
            </a:r>
            <a:endParaRPr dirty="0"/>
          </a:p>
          <a:p>
            <a:pPr lvl="2" eaLnBrk="1" hangingPunct="1">
              <a:lnSpc>
                <a:spcPct val="80000"/>
              </a:lnSpc>
            </a:pPr>
            <a:r>
              <a:rPr dirty="0"/>
              <a:t>Test set (e.g., 1/3) for accuracy estimation</a:t>
            </a:r>
            <a:endParaRPr dirty="0"/>
          </a:p>
          <a:p>
            <a:pPr lvl="1" eaLnBrk="1" hangingPunct="1">
              <a:lnSpc>
                <a:spcPct val="80000"/>
              </a:lnSpc>
            </a:pPr>
            <a:r>
              <a:rPr sz="2400" u="sng" dirty="0"/>
              <a:t>Random sampling</a:t>
            </a:r>
            <a:r>
              <a:rPr sz="2400" dirty="0"/>
              <a:t>: a variation of holdout</a:t>
            </a:r>
            <a:endParaRPr sz="2400" dirty="0"/>
          </a:p>
          <a:p>
            <a:pPr lvl="2" eaLnBrk="1" hangingPunct="1">
              <a:lnSpc>
                <a:spcPct val="80000"/>
              </a:lnSpc>
            </a:pPr>
            <a:r>
              <a:rPr dirty="0"/>
              <a:t>Repeat holdout k times, accuracy = avg. of the accuracies obtained</a:t>
            </a:r>
            <a:endParaRPr dirty="0"/>
          </a:p>
          <a:p>
            <a:pPr eaLnBrk="1" hangingPunct="1">
              <a:lnSpc>
                <a:spcPct val="80000"/>
              </a:lnSpc>
            </a:pPr>
            <a:r>
              <a:rPr sz="2400" b="1" dirty="0"/>
              <a:t>Cross-validation</a:t>
            </a:r>
            <a:r>
              <a:rPr sz="2400" dirty="0"/>
              <a:t> (</a:t>
            </a:r>
            <a:r>
              <a:rPr sz="2400" i="1" dirty="0"/>
              <a:t>k</a:t>
            </a:r>
            <a:r>
              <a:rPr sz="2400" dirty="0"/>
              <a:t>-fold, where k = 10 is most popular)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Randomly partition the data into </a:t>
            </a:r>
            <a:r>
              <a:rPr sz="2400" i="1" dirty="0"/>
              <a:t>k</a:t>
            </a:r>
            <a:r>
              <a:rPr sz="2400" dirty="0"/>
              <a:t> </a:t>
            </a:r>
            <a:r>
              <a:rPr sz="2400" i="1" dirty="0"/>
              <a:t>mutually exclusive</a:t>
            </a:r>
            <a:r>
              <a:rPr sz="2400" dirty="0"/>
              <a:t> subsets, each approximately equal size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dirty="0"/>
              <a:t>At </a:t>
            </a:r>
            <a:r>
              <a:rPr sz="2400" i="1" dirty="0"/>
              <a:t>i</a:t>
            </a:r>
            <a:r>
              <a:rPr sz="2400" dirty="0"/>
              <a:t>-th iteration, use D</a:t>
            </a:r>
            <a:r>
              <a:rPr sz="2400" baseline="-25000" dirty="0"/>
              <a:t>i </a:t>
            </a:r>
            <a:r>
              <a:rPr sz="2400" dirty="0"/>
              <a:t>as test set and others as training set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u="sng" dirty="0"/>
              <a:t>Leave-one-out</a:t>
            </a:r>
            <a:r>
              <a:rPr sz="2400" dirty="0"/>
              <a:t>: </a:t>
            </a:r>
            <a:r>
              <a:rPr sz="2400" i="1" dirty="0"/>
              <a:t>k</a:t>
            </a:r>
            <a:r>
              <a:rPr sz="2400" dirty="0"/>
              <a:t> folds where </a:t>
            </a:r>
            <a:r>
              <a:rPr sz="2400" i="1" dirty="0"/>
              <a:t>k</a:t>
            </a:r>
            <a:r>
              <a:rPr sz="2400" dirty="0"/>
              <a:t> = # of tuples, for small sized data</a:t>
            </a:r>
            <a:endParaRPr sz="2400" dirty="0"/>
          </a:p>
          <a:p>
            <a:pPr lvl="1" eaLnBrk="1" hangingPunct="1">
              <a:lnSpc>
                <a:spcPct val="80000"/>
              </a:lnSpc>
            </a:pPr>
            <a:r>
              <a:rPr sz="2400" b="1" u="sng" dirty="0"/>
              <a:t>*Stratified cross-validation*</a:t>
            </a:r>
            <a:r>
              <a:rPr sz="2400" dirty="0"/>
              <a:t>: folds are stratified so that class dist. in each fold is approx. the same as that in the initial data</a:t>
            </a:r>
            <a:endParaRPr sz="2400" dirty="0"/>
          </a:p>
        </p:txBody>
      </p:sp>
      <p:sp>
        <p:nvSpPr>
          <p:cNvPr id="56324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dirty="0"/>
              <a:t>Evaluating Classifier Accuracy: Bootstrap</a:t>
            </a:r>
            <a:endParaRPr sz="4000" dirty="0"/>
          </a:p>
        </p:txBody>
      </p:sp>
      <p:sp>
        <p:nvSpPr>
          <p:cNvPr id="57347" name="Rectangle 3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8610600" cy="51054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000" b="1" dirty="0"/>
              <a:t>Bootstrap</a:t>
            </a:r>
            <a:endParaRPr sz="2000" b="1" dirty="0"/>
          </a:p>
          <a:p>
            <a:pPr lvl="1" eaLnBrk="1" hangingPunct="1">
              <a:lnSpc>
                <a:spcPct val="11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Works well with small data sets</a:t>
            </a:r>
            <a:endParaRPr sz="2000" dirty="0"/>
          </a:p>
          <a:p>
            <a:pPr lvl="1" eaLnBrk="1" hangingPunct="1">
              <a:lnSpc>
                <a:spcPct val="11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Samples the given training tuples uniformly </a:t>
            </a:r>
            <a:r>
              <a:rPr sz="2000" i="1" dirty="0"/>
              <a:t>with replacement</a:t>
            </a:r>
            <a:endParaRPr sz="2000" i="1" dirty="0"/>
          </a:p>
          <a:p>
            <a:pPr lvl="2" eaLnBrk="1" hangingPunct="1">
              <a:lnSpc>
                <a:spcPct val="110000"/>
              </a:lnSpc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sz="2000" dirty="0"/>
              <a:t>i.e., each time a tuple is selected, it is equally likely to be selected again and re-added to the training set</a:t>
            </a:r>
            <a:endParaRPr sz="2000" dirty="0"/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000" dirty="0"/>
              <a:t>Several bootstrap methods, and a common one is </a:t>
            </a:r>
            <a:r>
              <a:rPr sz="2000" b="1" dirty="0"/>
              <a:t>.632 boostrap</a:t>
            </a:r>
            <a:endParaRPr sz="2000" b="1" dirty="0"/>
          </a:p>
          <a:p>
            <a:pPr lvl="1" eaLnBrk="1" hangingPunct="1">
              <a:lnSpc>
                <a:spcPct val="11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A data set with </a:t>
            </a:r>
            <a:r>
              <a:rPr sz="2000" i="1" dirty="0"/>
              <a:t>d</a:t>
            </a:r>
            <a:r>
              <a:rPr sz="2000" dirty="0"/>
              <a:t> tuples is sampled </a:t>
            </a:r>
            <a:r>
              <a:rPr sz="2000" i="1" dirty="0"/>
              <a:t>d</a:t>
            </a:r>
            <a:r>
              <a:rPr sz="2000" dirty="0"/>
              <a:t> times, with replacement, resulting in a training set of </a:t>
            </a:r>
            <a:r>
              <a:rPr sz="2000" i="1" dirty="0"/>
              <a:t>d</a:t>
            </a:r>
            <a:r>
              <a:rPr sz="2000" dirty="0"/>
              <a:t> samples.  The data tuples that did not make it into the training set end up forming the test set.  About 63.2% of the original data end up in the bootstrap, and the remaining 36.8% form the test set (since (1 – 1/d)</a:t>
            </a:r>
            <a:r>
              <a:rPr sz="2000" baseline="30000" dirty="0"/>
              <a:t>d</a:t>
            </a:r>
            <a:r>
              <a:rPr sz="2000" dirty="0"/>
              <a:t> ≈ e</a:t>
            </a:r>
            <a:r>
              <a:rPr sz="2000" baseline="30000" dirty="0"/>
              <a:t>-1</a:t>
            </a:r>
            <a:r>
              <a:rPr sz="2000" dirty="0"/>
              <a:t> = 0.368)</a:t>
            </a:r>
            <a:endParaRPr sz="2000" dirty="0"/>
          </a:p>
          <a:p>
            <a:pPr lvl="1" eaLnBrk="1" hangingPunct="1">
              <a:lnSpc>
                <a:spcPct val="11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Repeat the sampling procedure </a:t>
            </a:r>
            <a:r>
              <a:rPr sz="2000" i="1" dirty="0"/>
              <a:t>k</a:t>
            </a:r>
            <a:r>
              <a:rPr sz="2000" dirty="0"/>
              <a:t> times, overall accuracy of the model:</a:t>
            </a:r>
            <a:endParaRPr sz="2000" dirty="0"/>
          </a:p>
          <a:p>
            <a:pPr lvl="1" eaLnBrk="1" hangingPunct="1">
              <a:lnSpc>
                <a:spcPct val="11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endParaRPr sz="2000" dirty="0"/>
          </a:p>
        </p:txBody>
      </p:sp>
      <p:sp>
        <p:nvSpPr>
          <p:cNvPr id="57348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  <p:pic>
        <p:nvPicPr>
          <p:cNvPr id="5734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5867400"/>
            <a:ext cx="7162800" cy="706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vert="horz" wrap="square" lIns="91440" tIns="45720" rIns="91440" bIns="45720" anchor="b" anchorCtr="0"/>
          <a:p>
            <a:r>
              <a:rPr dirty="0"/>
              <a:t>Estimating Confidence Intervals:</a:t>
            </a:r>
            <a:br>
              <a:rPr dirty="0"/>
            </a:br>
            <a:r>
              <a:rPr dirty="0"/>
              <a:t>Classifier Models M</a:t>
            </a:r>
            <a:r>
              <a:rPr baseline="-25000" dirty="0"/>
              <a:t>1</a:t>
            </a:r>
            <a:r>
              <a:rPr dirty="0"/>
              <a:t> vs. M</a:t>
            </a:r>
            <a:r>
              <a:rPr baseline="-25000" dirty="0"/>
              <a:t>2</a:t>
            </a:r>
            <a:endParaRPr baseline="-25000" dirty="0"/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sz="2400" dirty="0"/>
              <a:t>Suppose we have 2 classifiers, M</a:t>
            </a:r>
            <a:r>
              <a:rPr sz="2400" baseline="-25000" dirty="0"/>
              <a:t>1</a:t>
            </a:r>
            <a:r>
              <a:rPr sz="2400" dirty="0"/>
              <a:t> and M</a:t>
            </a:r>
            <a:r>
              <a:rPr sz="2400" baseline="-25000" dirty="0"/>
              <a:t>2</a:t>
            </a:r>
            <a:r>
              <a:rPr sz="2400" dirty="0"/>
              <a:t>, which one is better?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Use 10-fold cross-validation to obtain                     and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These mean error rates are just </a:t>
            </a:r>
            <a:r>
              <a:rPr sz="2400" i="1" dirty="0"/>
              <a:t>estimates</a:t>
            </a:r>
            <a:r>
              <a:rPr sz="2400" dirty="0"/>
              <a:t> of error on the true population of </a:t>
            </a:r>
            <a:r>
              <a:rPr sz="2400" i="1" dirty="0"/>
              <a:t>future</a:t>
            </a:r>
            <a:r>
              <a:rPr sz="2400" dirty="0"/>
              <a:t> data cases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What if the difference between the 2 error rates is just attributed to </a:t>
            </a:r>
            <a:r>
              <a:rPr sz="2400" i="1" dirty="0"/>
              <a:t>chance</a:t>
            </a:r>
            <a:r>
              <a:rPr sz="2400" dirty="0"/>
              <a:t>?</a:t>
            </a:r>
            <a:endParaRPr sz="2400" dirty="0"/>
          </a:p>
          <a:p>
            <a:pPr lvl="1">
              <a:lnSpc>
                <a:spcPct val="150000"/>
              </a:lnSpc>
            </a:pPr>
            <a:r>
              <a:rPr sz="2400" dirty="0"/>
              <a:t>Use a </a:t>
            </a:r>
            <a:r>
              <a:rPr sz="2400" b="1" dirty="0"/>
              <a:t>test of statistical significance</a:t>
            </a:r>
            <a:endParaRPr sz="2400" b="1" dirty="0"/>
          </a:p>
          <a:p>
            <a:pPr lvl="1">
              <a:lnSpc>
                <a:spcPct val="150000"/>
              </a:lnSpc>
            </a:pPr>
            <a:r>
              <a:rPr sz="2400" dirty="0"/>
              <a:t>Obtain </a:t>
            </a:r>
            <a:r>
              <a:rPr sz="2400" b="1" dirty="0"/>
              <a:t>confidence limits</a:t>
            </a:r>
            <a:r>
              <a:rPr sz="2400" dirty="0"/>
              <a:t> for our error estimates</a:t>
            </a:r>
            <a:endParaRPr sz="2400" dirty="0"/>
          </a:p>
        </p:txBody>
      </p:sp>
      <p:pic>
        <p:nvPicPr>
          <p:cNvPr id="58372" name="Picture 5" descr="8mean-err-m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2209800"/>
            <a:ext cx="1295400" cy="371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3" name="Picture 6" descr="8mean-err-m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133600"/>
            <a:ext cx="1295400" cy="474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4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 vert="horz" wrap="square" lIns="91440" tIns="45720" rIns="91440" bIns="45720" anchor="b" anchorCtr="0"/>
          <a:p>
            <a:r>
              <a:rPr dirty="0"/>
              <a:t>Estimating Confidence Intervals:</a:t>
            </a:r>
            <a:br>
              <a:rPr dirty="0"/>
            </a:br>
            <a:r>
              <a:rPr dirty="0"/>
              <a:t>Null Hypothesis</a:t>
            </a:r>
            <a:endParaRPr dirty="0"/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</a:pPr>
            <a:r>
              <a:rPr sz="2400" dirty="0"/>
              <a:t>Perform 10-fold cross-validation</a:t>
            </a:r>
            <a:endParaRPr sz="2400" dirty="0"/>
          </a:p>
          <a:p>
            <a:pPr>
              <a:lnSpc>
                <a:spcPct val="130000"/>
              </a:lnSpc>
            </a:pPr>
            <a:r>
              <a:rPr sz="2400" dirty="0"/>
              <a:t>Assume samples follow a </a:t>
            </a:r>
            <a:r>
              <a:rPr sz="2400" b="1" dirty="0"/>
              <a:t>t distribution</a:t>
            </a:r>
            <a:r>
              <a:rPr sz="2400" dirty="0"/>
              <a:t> with </a:t>
            </a:r>
            <a:r>
              <a:rPr sz="2400" i="1" dirty="0"/>
              <a:t>k–1</a:t>
            </a:r>
            <a:r>
              <a:rPr sz="2400" dirty="0"/>
              <a:t> </a:t>
            </a:r>
            <a:r>
              <a:rPr sz="2400" b="1" dirty="0"/>
              <a:t>degrees of freedom </a:t>
            </a:r>
            <a:r>
              <a:rPr sz="2400" dirty="0"/>
              <a:t>(here, </a:t>
            </a:r>
            <a:r>
              <a:rPr sz="2400" i="1" dirty="0"/>
              <a:t>k=10</a:t>
            </a:r>
            <a:r>
              <a:rPr sz="2400" dirty="0"/>
              <a:t>)</a:t>
            </a:r>
            <a:endParaRPr sz="2400" dirty="0"/>
          </a:p>
          <a:p>
            <a:pPr>
              <a:lnSpc>
                <a:spcPct val="130000"/>
              </a:lnSpc>
            </a:pPr>
            <a:r>
              <a:rPr sz="2400" dirty="0"/>
              <a:t>Use </a:t>
            </a:r>
            <a:r>
              <a:rPr sz="2400" b="1" dirty="0"/>
              <a:t>t-test</a:t>
            </a:r>
            <a:r>
              <a:rPr sz="2400" dirty="0"/>
              <a:t> (or </a:t>
            </a:r>
            <a:r>
              <a:rPr sz="2400" b="1" dirty="0"/>
              <a:t>Student’s t-test</a:t>
            </a:r>
            <a:r>
              <a:rPr sz="2400" dirty="0"/>
              <a:t>)</a:t>
            </a:r>
            <a:endParaRPr sz="2400" b="1" dirty="0"/>
          </a:p>
          <a:p>
            <a:pPr>
              <a:lnSpc>
                <a:spcPct val="130000"/>
              </a:lnSpc>
            </a:pPr>
            <a:r>
              <a:rPr sz="2400" b="1" dirty="0"/>
              <a:t>Null Hypothesis</a:t>
            </a:r>
            <a:r>
              <a:rPr sz="2400" dirty="0"/>
              <a:t>: M</a:t>
            </a:r>
            <a:r>
              <a:rPr sz="2400" baseline="-25000" dirty="0"/>
              <a:t>1</a:t>
            </a:r>
            <a:r>
              <a:rPr sz="2400" dirty="0"/>
              <a:t> &amp; M</a:t>
            </a:r>
            <a:r>
              <a:rPr sz="2400" baseline="-25000" dirty="0"/>
              <a:t>2</a:t>
            </a:r>
            <a:r>
              <a:rPr sz="2400" dirty="0"/>
              <a:t> are the same</a:t>
            </a:r>
            <a:endParaRPr sz="2400" dirty="0"/>
          </a:p>
          <a:p>
            <a:pPr>
              <a:lnSpc>
                <a:spcPct val="130000"/>
              </a:lnSpc>
            </a:pPr>
            <a:r>
              <a:rPr sz="2400" dirty="0"/>
              <a:t>If we can </a:t>
            </a:r>
            <a:r>
              <a:rPr sz="2400" b="1" dirty="0"/>
              <a:t>reject</a:t>
            </a:r>
            <a:r>
              <a:rPr sz="2400" dirty="0"/>
              <a:t> null hypothesis, then </a:t>
            </a:r>
            <a:endParaRPr sz="2400" dirty="0"/>
          </a:p>
          <a:p>
            <a:pPr lvl="1">
              <a:lnSpc>
                <a:spcPct val="130000"/>
              </a:lnSpc>
            </a:pPr>
            <a:r>
              <a:rPr sz="2400" dirty="0"/>
              <a:t>we conclude that the difference between M</a:t>
            </a:r>
            <a:r>
              <a:rPr sz="2400" baseline="-25000" dirty="0"/>
              <a:t>1</a:t>
            </a:r>
            <a:r>
              <a:rPr sz="2400" dirty="0"/>
              <a:t> &amp; M</a:t>
            </a:r>
            <a:r>
              <a:rPr sz="2400" baseline="-25000" dirty="0"/>
              <a:t>2</a:t>
            </a:r>
            <a:r>
              <a:rPr sz="2400" dirty="0"/>
              <a:t> is </a:t>
            </a:r>
            <a:r>
              <a:rPr sz="2400" b="1" dirty="0"/>
              <a:t>statistically significant</a:t>
            </a:r>
            <a:endParaRPr sz="2400" b="1" dirty="0"/>
          </a:p>
          <a:p>
            <a:pPr lvl="1">
              <a:lnSpc>
                <a:spcPct val="130000"/>
              </a:lnSpc>
            </a:pPr>
            <a:r>
              <a:rPr sz="2400" dirty="0"/>
              <a:t>Chose model with lower error rate</a:t>
            </a:r>
            <a:endParaRPr sz="2400" dirty="0"/>
          </a:p>
        </p:txBody>
      </p:sp>
      <p:sp>
        <p:nvSpPr>
          <p:cNvPr id="59396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533400"/>
          </a:xfrm>
        </p:spPr>
        <p:txBody>
          <a:bodyPr vert="horz" wrap="square" lIns="91440" tIns="45720" rIns="91440" bIns="45720" anchor="b" anchorCtr="0"/>
          <a:p>
            <a:r>
              <a:rPr sz="3200" dirty="0"/>
              <a:t>Estimating Confidence Intervals: t-test</a:t>
            </a:r>
            <a:endParaRPr sz="3200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dirty="0"/>
              <a:t>If only 1 test set available: </a:t>
            </a:r>
            <a:r>
              <a:rPr b="1" dirty="0"/>
              <a:t>pairwise comparison</a:t>
            </a:r>
            <a:endParaRPr b="1" dirty="0"/>
          </a:p>
          <a:p>
            <a:pPr lvl="1"/>
            <a:r>
              <a:rPr sz="2400" dirty="0"/>
              <a:t>For i</a:t>
            </a:r>
            <a:r>
              <a:rPr sz="2400" baseline="30000" dirty="0"/>
              <a:t>th</a:t>
            </a:r>
            <a:r>
              <a:rPr sz="2400" dirty="0"/>
              <a:t> round of 10-fold cross-validation, the same cross partitioning is used to obtain </a:t>
            </a:r>
            <a:r>
              <a:rPr sz="2400" i="1" dirty="0"/>
              <a:t>err(M</a:t>
            </a:r>
            <a:r>
              <a:rPr sz="2400" i="1" baseline="-25000" dirty="0"/>
              <a:t>1</a:t>
            </a:r>
            <a:r>
              <a:rPr sz="2400" i="1" dirty="0"/>
              <a:t>)</a:t>
            </a:r>
            <a:r>
              <a:rPr sz="2400" i="1" baseline="-25000" dirty="0"/>
              <a:t>i</a:t>
            </a:r>
            <a:r>
              <a:rPr sz="2400" i="1" dirty="0"/>
              <a:t> </a:t>
            </a:r>
            <a:r>
              <a:rPr sz="2400" dirty="0"/>
              <a:t>and </a:t>
            </a:r>
            <a:r>
              <a:rPr sz="2400" i="1" dirty="0"/>
              <a:t>err(M</a:t>
            </a:r>
            <a:r>
              <a:rPr sz="2400" i="1" baseline="-25000" dirty="0"/>
              <a:t>2</a:t>
            </a:r>
            <a:r>
              <a:rPr sz="2400" i="1" dirty="0"/>
              <a:t>)</a:t>
            </a:r>
            <a:r>
              <a:rPr sz="2400" i="1" baseline="-25000" dirty="0"/>
              <a:t>i</a:t>
            </a:r>
            <a:endParaRPr sz="2400" i="1" baseline="-25000" dirty="0"/>
          </a:p>
          <a:p>
            <a:pPr lvl="1"/>
            <a:r>
              <a:rPr sz="2400" dirty="0"/>
              <a:t>Average over 10 rounds to get </a:t>
            </a:r>
            <a:endParaRPr sz="2400" dirty="0">
              <a:solidFill>
                <a:schemeClr val="hlink"/>
              </a:solidFill>
            </a:endParaRPr>
          </a:p>
          <a:p>
            <a:pPr lvl="1"/>
            <a:r>
              <a:rPr b="1" dirty="0"/>
              <a:t>t-test</a:t>
            </a:r>
            <a:r>
              <a:rPr dirty="0"/>
              <a:t> computes </a:t>
            </a:r>
            <a:r>
              <a:rPr b="1" dirty="0"/>
              <a:t>t-statistic</a:t>
            </a:r>
            <a:r>
              <a:rPr dirty="0"/>
              <a:t> with </a:t>
            </a:r>
            <a:r>
              <a:rPr i="1" dirty="0"/>
              <a:t>k-1</a:t>
            </a:r>
            <a:r>
              <a:rPr dirty="0"/>
              <a:t> </a:t>
            </a:r>
            <a:r>
              <a:rPr b="1" dirty="0"/>
              <a:t>degrees of freedom:</a:t>
            </a:r>
            <a:endParaRPr b="1" dirty="0"/>
          </a:p>
          <a:p>
            <a:pPr lvl="1"/>
            <a:endParaRPr b="1" dirty="0"/>
          </a:p>
          <a:p>
            <a:endParaRPr dirty="0"/>
          </a:p>
          <a:p>
            <a:r>
              <a:rPr dirty="0"/>
              <a:t>If two test sets available: use </a:t>
            </a:r>
            <a:r>
              <a:rPr b="1" dirty="0"/>
              <a:t>non-paired t-test</a:t>
            </a:r>
            <a:endParaRPr dirty="0"/>
          </a:p>
        </p:txBody>
      </p:sp>
      <p:pic>
        <p:nvPicPr>
          <p:cNvPr id="60420" name="Picture 5" descr="t-test-non-pair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5562600"/>
            <a:ext cx="4114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1" name="Text Box 8"/>
          <p:cNvSpPr txBox="1"/>
          <p:nvPr/>
        </p:nvSpPr>
        <p:spPr>
          <a:xfrm>
            <a:off x="6705600" y="3733800"/>
            <a:ext cx="804863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Tahoma" panose="020B0604030504040204" pitchFamily="34" charset="0"/>
              </a:rPr>
              <a:t>where</a:t>
            </a:r>
            <a:endParaRPr dirty="0">
              <a:latin typeface="Tahoma" panose="020B0604030504040204" pitchFamily="34" charset="0"/>
            </a:endParaRPr>
          </a:p>
        </p:txBody>
      </p:sp>
      <p:pic>
        <p:nvPicPr>
          <p:cNvPr id="60422" name="Picture 9" descr="8mean-err-m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678113"/>
            <a:ext cx="1219200" cy="446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423" name="Picture 10" descr="8mean-err-m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2752725"/>
            <a:ext cx="1295400" cy="371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4" name="Text Box 11"/>
          <p:cNvSpPr txBox="1"/>
          <p:nvPr/>
        </p:nvSpPr>
        <p:spPr>
          <a:xfrm>
            <a:off x="6400800" y="2727325"/>
            <a:ext cx="5984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sz="2000" dirty="0">
                <a:latin typeface="Tahoma" panose="020B0604030504040204" pitchFamily="34" charset="0"/>
              </a:rPr>
              <a:t>and</a:t>
            </a:r>
            <a:endParaRPr sz="2000" dirty="0">
              <a:latin typeface="Tahoma" panose="020B0604030504040204" pitchFamily="34" charset="0"/>
            </a:endParaRPr>
          </a:p>
        </p:txBody>
      </p:sp>
      <p:sp>
        <p:nvSpPr>
          <p:cNvPr id="60425" name="Text Box 12"/>
          <p:cNvSpPr txBox="1"/>
          <p:nvPr/>
        </p:nvSpPr>
        <p:spPr>
          <a:xfrm>
            <a:off x="1828800" y="5638800"/>
            <a:ext cx="8048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dirty="0">
                <a:latin typeface="Tahoma" panose="020B0604030504040204" pitchFamily="34" charset="0"/>
              </a:rPr>
              <a:t>where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60426" name="Text Box 13"/>
          <p:cNvSpPr txBox="1"/>
          <p:nvPr/>
        </p:nvSpPr>
        <p:spPr>
          <a:xfrm>
            <a:off x="914400" y="6248400"/>
            <a:ext cx="7418388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Tahoma" panose="020B0604030504040204" pitchFamily="34" charset="0"/>
              </a:rPr>
              <a:t>where</a:t>
            </a:r>
            <a:r>
              <a:rPr i="1" dirty="0">
                <a:latin typeface="Tahoma" panose="020B0604030504040204" pitchFamily="34" charset="0"/>
              </a:rPr>
              <a:t> k</a:t>
            </a:r>
            <a:r>
              <a:rPr i="1" baseline="-25000" dirty="0">
                <a:latin typeface="Tahoma" panose="020B0604030504040204" pitchFamily="34" charset="0"/>
              </a:rPr>
              <a:t>1</a:t>
            </a:r>
            <a:r>
              <a:rPr dirty="0">
                <a:latin typeface="Tahoma" panose="020B0604030504040204" pitchFamily="34" charset="0"/>
              </a:rPr>
              <a:t> &amp;</a:t>
            </a:r>
            <a:r>
              <a:rPr i="1" dirty="0">
                <a:latin typeface="Tahoma" panose="020B0604030504040204" pitchFamily="34" charset="0"/>
              </a:rPr>
              <a:t> k</a:t>
            </a:r>
            <a:r>
              <a:rPr i="1" baseline="-25000" dirty="0">
                <a:latin typeface="Tahoma" panose="020B0604030504040204" pitchFamily="34" charset="0"/>
              </a:rPr>
              <a:t>2</a:t>
            </a:r>
            <a:r>
              <a:rPr dirty="0">
                <a:latin typeface="Tahoma" panose="020B0604030504040204" pitchFamily="34" charset="0"/>
              </a:rPr>
              <a:t> are # of cross-validation samples used for </a:t>
            </a:r>
            <a:r>
              <a:rPr i="1" dirty="0">
                <a:latin typeface="Tahoma" panose="020B0604030504040204" pitchFamily="34" charset="0"/>
              </a:rPr>
              <a:t>M</a:t>
            </a:r>
            <a:r>
              <a:rPr i="1" baseline="-25000" dirty="0">
                <a:latin typeface="Tahoma" panose="020B0604030504040204" pitchFamily="34" charset="0"/>
              </a:rPr>
              <a:t>1</a:t>
            </a:r>
            <a:r>
              <a:rPr dirty="0">
                <a:latin typeface="Tahoma" panose="020B0604030504040204" pitchFamily="34" charset="0"/>
              </a:rPr>
              <a:t> &amp; </a:t>
            </a:r>
            <a:r>
              <a:rPr i="1" dirty="0">
                <a:latin typeface="Tahoma" panose="020B0604030504040204" pitchFamily="34" charset="0"/>
              </a:rPr>
              <a:t>M</a:t>
            </a:r>
            <a:r>
              <a:rPr i="1" baseline="-25000" dirty="0">
                <a:latin typeface="Tahoma" panose="020B0604030504040204" pitchFamily="34" charset="0"/>
              </a:rPr>
              <a:t>2</a:t>
            </a:r>
            <a:r>
              <a:rPr dirty="0">
                <a:latin typeface="Tahoma" panose="020B0604030504040204" pitchFamily="34" charset="0"/>
              </a:rPr>
              <a:t>, resp.</a:t>
            </a:r>
            <a:endParaRPr dirty="0">
              <a:latin typeface="Tahoma" panose="020B0604030504040204" pitchFamily="34" charset="0"/>
            </a:endParaRPr>
          </a:p>
        </p:txBody>
      </p:sp>
      <p:pic>
        <p:nvPicPr>
          <p:cNvPr id="60427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657600"/>
            <a:ext cx="2743200" cy="712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428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343400"/>
            <a:ext cx="7315200" cy="708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9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sz="3200" dirty="0"/>
              <a:t>Estimating Confidence Intervals:</a:t>
            </a:r>
            <a:br>
              <a:rPr sz="3200" dirty="0"/>
            </a:br>
            <a:r>
              <a:rPr sz="3200" dirty="0"/>
              <a:t>Table for t-distribution</a:t>
            </a:r>
            <a:endParaRPr sz="3200" dirty="0"/>
          </a:p>
        </p:txBody>
      </p:sp>
      <p:sp>
        <p:nvSpPr>
          <p:cNvPr id="61443" name="Rectangle 4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3048000" cy="51054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400" dirty="0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dirty="0"/>
              <a:t>Symmetric</a:t>
            </a:r>
            <a:endParaRPr sz="2400" dirty="0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b="1" dirty="0"/>
              <a:t>Significance level</a:t>
            </a:r>
            <a:r>
              <a:rPr sz="2400" dirty="0"/>
              <a:t>, e.g., </a:t>
            </a:r>
            <a:r>
              <a:rPr sz="2400" i="1" dirty="0"/>
              <a:t>sig = 0.05 </a:t>
            </a:r>
            <a:r>
              <a:rPr sz="2400" dirty="0"/>
              <a:t>or</a:t>
            </a:r>
            <a:r>
              <a:rPr sz="2400" i="1" dirty="0"/>
              <a:t> 5% </a:t>
            </a:r>
            <a:r>
              <a:rPr sz="2400" dirty="0"/>
              <a:t>means M</a:t>
            </a:r>
            <a:r>
              <a:rPr sz="2400" baseline="-25000" dirty="0"/>
              <a:t>1</a:t>
            </a:r>
            <a:r>
              <a:rPr sz="2400" dirty="0"/>
              <a:t> &amp; M</a:t>
            </a:r>
            <a:r>
              <a:rPr sz="2400" baseline="-25000" dirty="0"/>
              <a:t>2</a:t>
            </a:r>
            <a:r>
              <a:rPr sz="2400" dirty="0"/>
              <a:t> are </a:t>
            </a:r>
            <a:r>
              <a:rPr sz="2400" i="1" dirty="0"/>
              <a:t>significantly different</a:t>
            </a:r>
            <a:r>
              <a:rPr sz="2400" dirty="0"/>
              <a:t> for 95% of population</a:t>
            </a:r>
            <a:endParaRPr sz="2400" dirty="0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400" b="1" dirty="0"/>
              <a:t>Confidence limit</a:t>
            </a:r>
            <a:r>
              <a:rPr sz="2400" dirty="0"/>
              <a:t>, </a:t>
            </a:r>
            <a:r>
              <a:rPr sz="2400" i="1" dirty="0"/>
              <a:t>z = sig/2</a:t>
            </a:r>
            <a:endParaRPr sz="2400" i="1" dirty="0"/>
          </a:p>
        </p:txBody>
      </p:sp>
      <p:pic>
        <p:nvPicPr>
          <p:cNvPr id="61444" name="Picture 6" descr="8ttablevalues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3733800" y="914400"/>
            <a:ext cx="5181600" cy="5791200"/>
          </a:xfrm>
        </p:spPr>
      </p:pic>
      <p:pic>
        <p:nvPicPr>
          <p:cNvPr id="61445" name="Picture 7" descr="8t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429000" cy="1363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6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vert="horz" wrap="square" lIns="91440" tIns="45720" rIns="91440" bIns="45720" anchor="b" anchorCtr="0"/>
          <a:p>
            <a:r>
              <a:rPr dirty="0"/>
              <a:t>Estimating Confidence Intervals:</a:t>
            </a:r>
            <a:br>
              <a:rPr dirty="0"/>
            </a:br>
            <a:r>
              <a:rPr dirty="0"/>
              <a:t>Statistical Significance</a:t>
            </a:r>
            <a:endParaRPr dirty="0"/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sz="2400" dirty="0"/>
              <a:t>Are M</a:t>
            </a:r>
            <a:r>
              <a:rPr sz="2400" baseline="-25000" dirty="0"/>
              <a:t>1</a:t>
            </a:r>
            <a:r>
              <a:rPr sz="2400" dirty="0"/>
              <a:t> &amp; M</a:t>
            </a:r>
            <a:r>
              <a:rPr sz="2400" baseline="-25000" dirty="0"/>
              <a:t>2</a:t>
            </a:r>
            <a:r>
              <a:rPr sz="2400" dirty="0"/>
              <a:t> </a:t>
            </a:r>
            <a:r>
              <a:rPr sz="2400" b="1" dirty="0"/>
              <a:t>significantly different</a:t>
            </a:r>
            <a:r>
              <a:rPr sz="2400" dirty="0"/>
              <a:t>?</a:t>
            </a:r>
            <a:endParaRPr sz="2400" dirty="0"/>
          </a:p>
          <a:p>
            <a:pPr lvl="1"/>
            <a:r>
              <a:rPr sz="2400" dirty="0"/>
              <a:t>Compute </a:t>
            </a:r>
            <a:r>
              <a:rPr sz="2400" i="1" dirty="0"/>
              <a:t>t. </a:t>
            </a:r>
            <a:r>
              <a:rPr sz="2400" dirty="0"/>
              <a:t>Select </a:t>
            </a:r>
            <a:r>
              <a:rPr sz="2400" i="1" dirty="0"/>
              <a:t>significance level</a:t>
            </a:r>
            <a:r>
              <a:rPr sz="2400" dirty="0"/>
              <a:t> (e.g. </a:t>
            </a:r>
            <a:r>
              <a:rPr sz="2400" i="1" dirty="0"/>
              <a:t>sig = 5%)</a:t>
            </a:r>
            <a:endParaRPr sz="2400" i="1" dirty="0"/>
          </a:p>
          <a:p>
            <a:pPr lvl="1"/>
            <a:r>
              <a:rPr sz="2400" dirty="0"/>
              <a:t>Consult table for t-distribution: Find </a:t>
            </a:r>
            <a:r>
              <a:rPr sz="2400" i="1" dirty="0"/>
              <a:t>t value</a:t>
            </a:r>
            <a:r>
              <a:rPr sz="2400" dirty="0"/>
              <a:t> corresponding to </a:t>
            </a:r>
            <a:r>
              <a:rPr sz="2400" i="1" dirty="0"/>
              <a:t>k-1 degrees of freedom</a:t>
            </a:r>
            <a:r>
              <a:rPr sz="2400" dirty="0"/>
              <a:t> (here, 9)</a:t>
            </a:r>
            <a:endParaRPr sz="2400" dirty="0"/>
          </a:p>
          <a:p>
            <a:pPr lvl="1"/>
            <a:r>
              <a:rPr sz="2400" dirty="0"/>
              <a:t>t-distribution is symmetric: typically upper % points of distribution shown → look up value for </a:t>
            </a:r>
            <a:r>
              <a:rPr sz="2400" b="1" dirty="0"/>
              <a:t>confidence limit</a:t>
            </a:r>
            <a:r>
              <a:rPr sz="2400" dirty="0"/>
              <a:t> </a:t>
            </a:r>
            <a:r>
              <a:rPr sz="2400" i="1" dirty="0"/>
              <a:t>z=sig/2</a:t>
            </a:r>
            <a:r>
              <a:rPr sz="2400" dirty="0"/>
              <a:t> (here, 0.025)</a:t>
            </a:r>
            <a:endParaRPr sz="2400" dirty="0"/>
          </a:p>
          <a:p>
            <a:pPr lvl="1"/>
            <a:r>
              <a:rPr sz="2400" b="1" dirty="0"/>
              <a:t>If</a:t>
            </a:r>
            <a:r>
              <a:rPr sz="2400" dirty="0"/>
              <a:t> </a:t>
            </a:r>
            <a:r>
              <a:rPr sz="2400" b="1" dirty="0"/>
              <a:t>t &gt; z or t &lt; -z</a:t>
            </a:r>
            <a:r>
              <a:rPr sz="2400" dirty="0"/>
              <a:t>, then t value lies in rejection region:</a:t>
            </a:r>
            <a:endParaRPr sz="2400" dirty="0"/>
          </a:p>
          <a:p>
            <a:pPr lvl="2"/>
            <a:r>
              <a:rPr b="1" dirty="0"/>
              <a:t>Reject null hypothesis</a:t>
            </a:r>
            <a:r>
              <a:rPr dirty="0"/>
              <a:t> that mean error rates of M</a:t>
            </a:r>
            <a:r>
              <a:rPr baseline="-25000" dirty="0"/>
              <a:t>1</a:t>
            </a:r>
            <a:r>
              <a:rPr dirty="0"/>
              <a:t> &amp; M</a:t>
            </a:r>
            <a:r>
              <a:rPr baseline="-25000" dirty="0"/>
              <a:t>2</a:t>
            </a:r>
            <a:r>
              <a:rPr dirty="0"/>
              <a:t> are same</a:t>
            </a:r>
            <a:endParaRPr dirty="0"/>
          </a:p>
          <a:p>
            <a:pPr lvl="2"/>
            <a:r>
              <a:rPr dirty="0"/>
              <a:t>Conclude: </a:t>
            </a:r>
            <a:r>
              <a:rPr u="sng" dirty="0"/>
              <a:t>statistically significant</a:t>
            </a:r>
            <a:r>
              <a:rPr dirty="0"/>
              <a:t> difference between M</a:t>
            </a:r>
            <a:r>
              <a:rPr baseline="-25000" dirty="0"/>
              <a:t>1</a:t>
            </a:r>
            <a:r>
              <a:rPr dirty="0"/>
              <a:t> &amp; M</a:t>
            </a:r>
            <a:r>
              <a:rPr baseline="-25000" dirty="0"/>
              <a:t>2</a:t>
            </a:r>
            <a:r>
              <a:rPr dirty="0"/>
              <a:t> </a:t>
            </a:r>
            <a:endParaRPr dirty="0"/>
          </a:p>
          <a:p>
            <a:pPr lvl="1"/>
            <a:r>
              <a:rPr sz="2400" b="1" dirty="0"/>
              <a:t>Otherwise</a:t>
            </a:r>
            <a:r>
              <a:rPr sz="2400" dirty="0"/>
              <a:t>, conclude that any difference is </a:t>
            </a:r>
            <a:r>
              <a:rPr sz="2400" b="1" dirty="0"/>
              <a:t>chance</a:t>
            </a:r>
            <a:endParaRPr sz="2400" dirty="0"/>
          </a:p>
        </p:txBody>
      </p:sp>
      <p:sp>
        <p:nvSpPr>
          <p:cNvPr id="62468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3490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0" y="76200"/>
            <a:ext cx="3429000" cy="3243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1" name="Rectangle 2"/>
          <p:cNvSpPr>
            <a:spLocks noGrp="1"/>
          </p:cNvSpPr>
          <p:nvPr>
            <p:ph type="title" idx="4294967295"/>
          </p:nvPr>
        </p:nvSpPr>
        <p:spPr>
          <a:xfrm>
            <a:off x="-152400" y="381000"/>
            <a:ext cx="64008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sz="3200" dirty="0"/>
              <a:t>Model Selection: ROC Curves</a:t>
            </a:r>
            <a:endParaRPr sz="3200" dirty="0"/>
          </a:p>
        </p:txBody>
      </p:sp>
      <p:sp>
        <p:nvSpPr>
          <p:cNvPr id="63492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295400"/>
            <a:ext cx="5562600" cy="52578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marL="457200" lvl="0" indent="-457200" eaLnBrk="1" hangingPunct="1">
              <a:lnSpc>
                <a:spcPct val="90000"/>
              </a:lnSpc>
            </a:pPr>
            <a:r>
              <a:rPr b="1" dirty="0"/>
              <a:t>ROC</a:t>
            </a:r>
            <a:r>
              <a:rPr dirty="0"/>
              <a:t> (Receiver Operating Characteristics) curves: for visual comparison of classification models</a:t>
            </a:r>
            <a:endParaRPr dirty="0"/>
          </a:p>
          <a:p>
            <a:pPr marL="457200" lvl="0" indent="-457200" eaLnBrk="1" hangingPunct="1">
              <a:lnSpc>
                <a:spcPct val="90000"/>
              </a:lnSpc>
            </a:pPr>
            <a:r>
              <a:rPr dirty="0"/>
              <a:t>Originated from signal detection theory</a:t>
            </a:r>
            <a:endParaRPr dirty="0"/>
          </a:p>
          <a:p>
            <a:pPr marL="457200" lvl="0" indent="-457200" eaLnBrk="1" hangingPunct="1">
              <a:lnSpc>
                <a:spcPct val="90000"/>
              </a:lnSpc>
            </a:pPr>
            <a:r>
              <a:rPr dirty="0"/>
              <a:t>Shows the trade-off between the true positive rate and the false positive rate</a:t>
            </a:r>
            <a:endParaRPr dirty="0"/>
          </a:p>
          <a:p>
            <a:pPr marL="457200" lvl="0" indent="-457200" eaLnBrk="1" hangingPunct="1">
              <a:lnSpc>
                <a:spcPct val="90000"/>
              </a:lnSpc>
            </a:pPr>
            <a:r>
              <a:rPr dirty="0"/>
              <a:t>The area under the ROC curve is a measure of the accuracy of the model</a:t>
            </a:r>
            <a:endParaRPr dirty="0"/>
          </a:p>
          <a:p>
            <a:pPr marL="457200" lvl="0" indent="-457200" eaLnBrk="1" hangingPunct="1">
              <a:lnSpc>
                <a:spcPct val="90000"/>
              </a:lnSpc>
            </a:pPr>
            <a:r>
              <a:rPr dirty="0"/>
              <a:t>Rank the test tuples in decreasing order: the one that is most likely to belong to the positive class appears at the top of the list</a:t>
            </a:r>
            <a:endParaRPr dirty="0"/>
          </a:p>
          <a:p>
            <a:pPr marL="457200" lvl="0" indent="-457200" eaLnBrk="1" hangingPunct="1">
              <a:lnSpc>
                <a:spcPct val="90000"/>
              </a:lnSpc>
            </a:pPr>
            <a:r>
              <a:rPr dirty="0"/>
              <a:t>The closer to the diagonal line (i.e., the closer the area is to 0.5), the less accurate is the model</a:t>
            </a:r>
            <a:endParaRPr dirty="0"/>
          </a:p>
        </p:txBody>
      </p:sp>
      <p:sp>
        <p:nvSpPr>
          <p:cNvPr id="63493" name="Rectangle 7"/>
          <p:cNvSpPr/>
          <p:nvPr/>
        </p:nvSpPr>
        <p:spPr>
          <a:xfrm>
            <a:off x="5791200" y="3429000"/>
            <a:ext cx="3352800" cy="3048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Vertical axis represents the true positive rate</a:t>
            </a:r>
            <a:endParaRPr sz="2400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Horizontal axis rep. the false positive rate</a:t>
            </a:r>
            <a:endParaRPr sz="2400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The plot also shows a diagonal line</a:t>
            </a:r>
            <a:endParaRPr sz="2400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dirty="0">
                <a:latin typeface="Calibri" panose="020F0502020204030204" pitchFamily="34" charset="0"/>
              </a:rPr>
              <a:t>A model with perfect accuracy will have an area of 1.0</a:t>
            </a:r>
            <a:endParaRPr sz="2400" dirty="0">
              <a:latin typeface="Calibri" panose="020F0502020204030204" pitchFamily="34" charset="0"/>
            </a:endParaRPr>
          </a:p>
        </p:txBody>
      </p:sp>
      <p:sp>
        <p:nvSpPr>
          <p:cNvPr id="63494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type="title" idx="4294967295"/>
          </p:nvPr>
        </p:nvSpPr>
        <p:spPr>
          <a:xfrm>
            <a:off x="-228600" y="152400"/>
            <a:ext cx="9601200" cy="838200"/>
          </a:xfrm>
        </p:spPr>
        <p:txBody>
          <a:bodyPr vert="horz" wrap="square" lIns="92075" tIns="46038" rIns="92075" bIns="46038" anchor="b" anchorCtr="0"/>
          <a:p>
            <a:pPr eaLnBrk="1" hangingPunct="1">
              <a:lnSpc>
                <a:spcPct val="110000"/>
              </a:lnSpc>
            </a:pPr>
            <a:r>
              <a:rPr dirty="0">
                <a:solidFill>
                  <a:srgbClr val="170981"/>
                </a:solidFill>
              </a:rPr>
              <a:t>Issues Affecting Model Selection</a:t>
            </a:r>
            <a:endParaRPr dirty="0">
              <a:solidFill>
                <a:srgbClr val="170981"/>
              </a:solidFill>
            </a:endParaRPr>
          </a:p>
        </p:txBody>
      </p:sp>
      <p:sp>
        <p:nvSpPr>
          <p:cNvPr id="64515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1371600"/>
            <a:ext cx="8378825" cy="52578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sz="2400" b="1" dirty="0"/>
              <a:t>Accuracy</a:t>
            </a:r>
            <a:endParaRPr sz="2400" b="1" dirty="0"/>
          </a:p>
          <a:p>
            <a:pPr lvl="1" eaLnBrk="1" hangingPunct="1">
              <a:lnSpc>
                <a:spcPct val="110000"/>
              </a:lnSpc>
            </a:pPr>
            <a:r>
              <a:rPr sz="2400" dirty="0"/>
              <a:t>classifier accuracy: predicting class label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b="1" dirty="0"/>
              <a:t>Speed</a:t>
            </a:r>
            <a:endParaRPr sz="2400" b="1" dirty="0"/>
          </a:p>
          <a:p>
            <a:pPr lvl="1" eaLnBrk="1" hangingPunct="1">
              <a:lnSpc>
                <a:spcPct val="110000"/>
              </a:lnSpc>
            </a:pPr>
            <a:r>
              <a:rPr sz="2400" dirty="0"/>
              <a:t>time to construct the model (training time)</a:t>
            </a:r>
            <a:endParaRPr sz="2400" dirty="0"/>
          </a:p>
          <a:p>
            <a:pPr lvl="1" eaLnBrk="1" hangingPunct="1">
              <a:lnSpc>
                <a:spcPct val="110000"/>
              </a:lnSpc>
            </a:pPr>
            <a:r>
              <a:rPr sz="2400" dirty="0"/>
              <a:t>time to use the model (classification/prediction time)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b="1" dirty="0"/>
              <a:t>Robustness</a:t>
            </a:r>
            <a:r>
              <a:rPr sz="2400" dirty="0"/>
              <a:t>: handling noise and missing values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b="1" dirty="0"/>
              <a:t>Scalability</a:t>
            </a:r>
            <a:r>
              <a:rPr sz="2400" dirty="0"/>
              <a:t>: efficiency in disk-resident databases 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b="1" dirty="0"/>
              <a:t>Interpretability</a:t>
            </a:r>
            <a:endParaRPr sz="2400" b="1" dirty="0"/>
          </a:p>
          <a:p>
            <a:pPr lvl="1" eaLnBrk="1" hangingPunct="1">
              <a:lnSpc>
                <a:spcPct val="110000"/>
              </a:lnSpc>
            </a:pPr>
            <a:r>
              <a:rPr sz="2400" dirty="0"/>
              <a:t>understanding and insight provided by the model</a:t>
            </a:r>
            <a:endParaRPr sz="2400" dirty="0"/>
          </a:p>
          <a:p>
            <a:pPr eaLnBrk="1" hangingPunct="1">
              <a:lnSpc>
                <a:spcPct val="110000"/>
              </a:lnSpc>
            </a:pPr>
            <a:r>
              <a:rPr sz="2400" dirty="0"/>
              <a:t>Other measures, e.g., goodness of rules, such as decision tree size or compactness of classification rules</a:t>
            </a:r>
            <a:endParaRPr sz="2400" dirty="0"/>
          </a:p>
        </p:txBody>
      </p:sp>
      <p:sp>
        <p:nvSpPr>
          <p:cNvPr id="64516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Slide Number Placeholder 6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400" b="1" dirty="0">
                <a:latin typeface="Calibri" panose="020F0502020204030204" pitchFamily="34" charset="0"/>
              </a:rPr>
            </a:fld>
            <a:endParaRPr lang="en-US" sz="1400" b="1" dirty="0">
              <a:latin typeface="Calibri" panose="020F0502020204030204" pitchFamily="34" charset="0"/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sz="3200" dirty="0"/>
              <a:t>Chapter 8. Classification: Basic Concepts</a:t>
            </a:r>
            <a:endParaRPr sz="3200" dirty="0"/>
          </a:p>
        </p:txBody>
      </p:sp>
      <p:sp>
        <p:nvSpPr>
          <p:cNvPr id="65540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</p:spPr>
        <p:txBody>
          <a:bodyPr vert="horz" wrap="square" lIns="92075" tIns="46038" rIns="92075" bIns="46038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lnSpc>
                <a:spcPct val="130000"/>
              </a:lnSpc>
            </a:pPr>
            <a:r>
              <a:rPr sz="2800" dirty="0"/>
              <a:t>Classification: Basic Concepts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Decision Tree Induction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Bayes Classification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Rule-Based Classification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Model Evaluation and Selection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Techniques to Improve Classification Accuracy: Ensemble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Summary</a:t>
            </a:r>
            <a:endParaRPr sz="2800" dirty="0"/>
          </a:p>
        </p:txBody>
      </p:sp>
      <p:sp>
        <p:nvSpPr>
          <p:cNvPr id="65541" name="AutoShape 8"/>
          <p:cNvSpPr/>
          <p:nvPr/>
        </p:nvSpPr>
        <p:spPr>
          <a:xfrm rot="9803581">
            <a:off x="7772400" y="4724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656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838200"/>
            <a:ext cx="4572000" cy="2163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-152400" y="304800"/>
            <a:ext cx="93726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Ensemble Methods: Increasing the Accuracy</a:t>
            </a:r>
            <a:endParaRPr dirty="0"/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>
          <a:xfrm>
            <a:off x="304800" y="2590800"/>
            <a:ext cx="8458200" cy="38100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2400" dirty="0"/>
              <a:t>Ensemble methods</a:t>
            </a:r>
            <a:endParaRPr sz="2400" dirty="0"/>
          </a:p>
          <a:p>
            <a:pPr lvl="1" eaLnBrk="1" hangingPunct="1"/>
            <a:r>
              <a:rPr sz="2400" dirty="0"/>
              <a:t>Use a combination of models to increase accuracy</a:t>
            </a:r>
            <a:endParaRPr sz="2400" dirty="0"/>
          </a:p>
          <a:p>
            <a:pPr lvl="1" eaLnBrk="1" hangingPunct="1"/>
            <a:r>
              <a:rPr sz="2400" dirty="0"/>
              <a:t>Combine a series of k learned models, M</a:t>
            </a:r>
            <a:r>
              <a:rPr sz="2400" baseline="-25000" dirty="0"/>
              <a:t>1</a:t>
            </a:r>
            <a:r>
              <a:rPr sz="2400" dirty="0"/>
              <a:t>, M</a:t>
            </a:r>
            <a:r>
              <a:rPr sz="2400" baseline="-25000" dirty="0"/>
              <a:t>2</a:t>
            </a:r>
            <a:r>
              <a:rPr sz="2400" dirty="0"/>
              <a:t>, …, M</a:t>
            </a:r>
            <a:r>
              <a:rPr sz="2400" baseline="-25000" dirty="0"/>
              <a:t>k</a:t>
            </a:r>
            <a:r>
              <a:rPr sz="2400" dirty="0"/>
              <a:t>, with the aim of creating an improved model M*</a:t>
            </a:r>
            <a:endParaRPr sz="2400" dirty="0"/>
          </a:p>
          <a:p>
            <a:pPr eaLnBrk="1" hangingPunct="1"/>
            <a:r>
              <a:rPr sz="2400" dirty="0"/>
              <a:t>Popular ensemble methods</a:t>
            </a:r>
            <a:endParaRPr sz="2400" dirty="0"/>
          </a:p>
          <a:p>
            <a:pPr lvl="1" eaLnBrk="1" hangingPunct="1"/>
            <a:r>
              <a:rPr sz="2400" dirty="0"/>
              <a:t>Bagging: averaging the prediction over a collection of classifiers</a:t>
            </a:r>
            <a:endParaRPr sz="2400" dirty="0"/>
          </a:p>
          <a:p>
            <a:pPr lvl="1" eaLnBrk="1" hangingPunct="1"/>
            <a:r>
              <a:rPr sz="2400" dirty="0"/>
              <a:t>Boosting: weighted vote with a collection of classifiers</a:t>
            </a:r>
            <a:endParaRPr sz="2400" dirty="0"/>
          </a:p>
          <a:p>
            <a:pPr lvl="1" eaLnBrk="1" hangingPunct="1"/>
            <a:r>
              <a:rPr sz="2400" dirty="0"/>
              <a:t>Ensemble: combining a set of heterogeneous classifiers</a:t>
            </a:r>
            <a:endParaRPr sz="2400" dirty="0"/>
          </a:p>
        </p:txBody>
      </p:sp>
      <p:sp>
        <p:nvSpPr>
          <p:cNvPr id="66565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Bagging: Boostrap Aggregation</a:t>
            </a:r>
            <a:endParaRPr dirty="0"/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53340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2000" dirty="0"/>
              <a:t>Analogy: Diagnosis based on multiple doctors’ majority vote</a:t>
            </a:r>
            <a:endParaRPr sz="2000" dirty="0"/>
          </a:p>
          <a:p>
            <a:pPr eaLnBrk="1" hangingPunct="1"/>
            <a:r>
              <a:rPr sz="2000" dirty="0"/>
              <a:t>Training</a:t>
            </a:r>
            <a:endParaRPr sz="2000" dirty="0"/>
          </a:p>
          <a:p>
            <a:pPr lvl="1" eaLnBrk="1" hangingPunct="1"/>
            <a:r>
              <a:rPr sz="2000" dirty="0"/>
              <a:t>Given a set D of </a:t>
            </a:r>
            <a:r>
              <a:rPr sz="2000" i="1" dirty="0"/>
              <a:t>d </a:t>
            </a:r>
            <a:r>
              <a:rPr sz="2000" dirty="0"/>
              <a:t>tuples, at each iteration </a:t>
            </a:r>
            <a:r>
              <a:rPr sz="2000" i="1" dirty="0"/>
              <a:t>i</a:t>
            </a:r>
            <a:r>
              <a:rPr sz="2000" dirty="0"/>
              <a:t>, a training set D</a:t>
            </a:r>
            <a:r>
              <a:rPr sz="2000" baseline="-25000" dirty="0"/>
              <a:t>i</a:t>
            </a:r>
            <a:r>
              <a:rPr sz="2000" dirty="0"/>
              <a:t> of </a:t>
            </a:r>
            <a:r>
              <a:rPr sz="2000" i="1" dirty="0"/>
              <a:t>d</a:t>
            </a:r>
            <a:r>
              <a:rPr sz="2000" dirty="0"/>
              <a:t> tuples is sampled with replacement from D (i.e., bootstrap)</a:t>
            </a:r>
            <a:endParaRPr sz="2000" dirty="0"/>
          </a:p>
          <a:p>
            <a:pPr lvl="1" eaLnBrk="1" hangingPunct="1"/>
            <a:r>
              <a:rPr sz="2000" dirty="0"/>
              <a:t>A classifier model M</a:t>
            </a:r>
            <a:r>
              <a:rPr sz="2000" baseline="-25000" dirty="0"/>
              <a:t>i</a:t>
            </a:r>
            <a:r>
              <a:rPr sz="2000" dirty="0"/>
              <a:t> is learned for each training set D</a:t>
            </a:r>
            <a:r>
              <a:rPr sz="2000" baseline="-25000" dirty="0"/>
              <a:t>i</a:t>
            </a:r>
            <a:endParaRPr sz="2000" dirty="0"/>
          </a:p>
          <a:p>
            <a:pPr eaLnBrk="1" hangingPunct="1"/>
            <a:r>
              <a:rPr sz="2000" dirty="0"/>
              <a:t>Classification: classify an unknown sample</a:t>
            </a:r>
            <a:r>
              <a:rPr sz="2000" b="1" dirty="0"/>
              <a:t> X</a:t>
            </a:r>
            <a:r>
              <a:rPr sz="2000" dirty="0"/>
              <a:t> </a:t>
            </a:r>
            <a:endParaRPr sz="2000" dirty="0"/>
          </a:p>
          <a:p>
            <a:pPr lvl="1" eaLnBrk="1" hangingPunct="1"/>
            <a:r>
              <a:rPr sz="2000" dirty="0"/>
              <a:t>Each classifier M</a:t>
            </a:r>
            <a:r>
              <a:rPr sz="2000" baseline="-25000" dirty="0"/>
              <a:t>i</a:t>
            </a:r>
            <a:r>
              <a:rPr sz="2000" dirty="0"/>
              <a:t> returns its class prediction</a:t>
            </a:r>
            <a:endParaRPr sz="2000" dirty="0"/>
          </a:p>
          <a:p>
            <a:pPr lvl="1" eaLnBrk="1" hangingPunct="1"/>
            <a:r>
              <a:rPr sz="2000" dirty="0"/>
              <a:t>The bagged classifier M* counts the votes and assigns the class with the most votes to </a:t>
            </a:r>
            <a:r>
              <a:rPr sz="2000" b="1" dirty="0"/>
              <a:t>X</a:t>
            </a:r>
            <a:endParaRPr sz="2000" dirty="0"/>
          </a:p>
          <a:p>
            <a:pPr eaLnBrk="1" hangingPunct="1"/>
            <a:r>
              <a:rPr sz="2000" dirty="0"/>
              <a:t>Prediction: can be applied to the prediction of continuous values by taking the average value of each prediction for a given test tuple</a:t>
            </a:r>
            <a:endParaRPr sz="2000" dirty="0"/>
          </a:p>
          <a:p>
            <a:pPr eaLnBrk="1" hangingPunct="1"/>
            <a:r>
              <a:rPr sz="2000" dirty="0"/>
              <a:t>Accuracy</a:t>
            </a:r>
            <a:endParaRPr sz="2000" dirty="0"/>
          </a:p>
          <a:p>
            <a:pPr lvl="1" eaLnBrk="1" hangingPunct="1"/>
            <a:r>
              <a:rPr sz="2000" dirty="0"/>
              <a:t>Often significantly better than a single classifier derived from D</a:t>
            </a:r>
            <a:endParaRPr sz="2000" dirty="0"/>
          </a:p>
          <a:p>
            <a:pPr lvl="1" eaLnBrk="1" hangingPunct="1"/>
            <a:r>
              <a:rPr sz="2000" dirty="0"/>
              <a:t>For noise data: not considerably worse, more robust </a:t>
            </a:r>
            <a:endParaRPr sz="2000" dirty="0"/>
          </a:p>
          <a:p>
            <a:pPr lvl="1" eaLnBrk="1" hangingPunct="1"/>
            <a:r>
              <a:rPr sz="2000" dirty="0"/>
              <a:t>Proved improved accuracy in prediction</a:t>
            </a:r>
            <a:endParaRPr sz="2000" dirty="0"/>
          </a:p>
        </p:txBody>
      </p:sp>
      <p:sp>
        <p:nvSpPr>
          <p:cNvPr id="67588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1026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Boosting</a:t>
            </a:r>
            <a:endParaRPr sz="2800" dirty="0"/>
          </a:p>
        </p:txBody>
      </p:sp>
      <p:sp>
        <p:nvSpPr>
          <p:cNvPr id="68611" name="Rectangle 1027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 vert="horz" wrap="square" lIns="91440" tIns="45720" rIns="91440" bIns="45720" anchor="t" anchorCtr="0"/>
          <a:p>
            <a:pPr marL="457200" indent="-457200" eaLnBrk="1" hangingPunct="1">
              <a:lnSpc>
                <a:spcPct val="90000"/>
              </a:lnSpc>
            </a:pPr>
            <a:r>
              <a:rPr sz="2400" dirty="0"/>
              <a:t>Analogy: Consult several doctors, based on a combination of weighted diagnoses—weight assigned based on the previous diagnosis accuracy</a:t>
            </a:r>
            <a:endParaRPr sz="2400" dirty="0"/>
          </a:p>
          <a:p>
            <a:pPr marL="457200" indent="-457200" eaLnBrk="1" hangingPunct="1">
              <a:lnSpc>
                <a:spcPct val="90000"/>
              </a:lnSpc>
            </a:pPr>
            <a:r>
              <a:rPr sz="2400" dirty="0"/>
              <a:t>How boosting works?</a:t>
            </a:r>
            <a:endParaRPr sz="2400" dirty="0"/>
          </a:p>
          <a:p>
            <a:pPr marL="914400" lvl="1" indent="-457200" eaLnBrk="1" hangingPunct="1">
              <a:lnSpc>
                <a:spcPct val="90000"/>
              </a:lnSpc>
            </a:pPr>
            <a:r>
              <a:rPr sz="2400" b="1" dirty="0"/>
              <a:t>Weights</a:t>
            </a:r>
            <a:r>
              <a:rPr sz="2400" dirty="0"/>
              <a:t> are assigned to each training tuple</a:t>
            </a:r>
            <a:endParaRPr sz="2400" dirty="0"/>
          </a:p>
          <a:p>
            <a:pPr marL="914400" lvl="1" indent="-457200" eaLnBrk="1" hangingPunct="1">
              <a:lnSpc>
                <a:spcPct val="90000"/>
              </a:lnSpc>
            </a:pPr>
            <a:r>
              <a:rPr sz="2400" dirty="0"/>
              <a:t>A series of k classifiers is iteratively learned</a:t>
            </a:r>
            <a:endParaRPr sz="2400" dirty="0"/>
          </a:p>
          <a:p>
            <a:pPr marL="914400" lvl="1" indent="-457200" eaLnBrk="1" hangingPunct="1">
              <a:lnSpc>
                <a:spcPct val="90000"/>
              </a:lnSpc>
            </a:pPr>
            <a:r>
              <a:rPr sz="2400" dirty="0"/>
              <a:t>After a classifier M</a:t>
            </a:r>
            <a:r>
              <a:rPr sz="2400" baseline="-25000" dirty="0"/>
              <a:t>i</a:t>
            </a:r>
            <a:r>
              <a:rPr sz="2400" dirty="0"/>
              <a:t> is learned, the weights are updated to allow the subsequent classifier, M</a:t>
            </a:r>
            <a:r>
              <a:rPr sz="2400" baseline="-25000" dirty="0"/>
              <a:t>i+1</a:t>
            </a:r>
            <a:r>
              <a:rPr sz="2400" dirty="0"/>
              <a:t>, to </a:t>
            </a:r>
            <a:r>
              <a:rPr sz="2400" b="1" dirty="0"/>
              <a:t>pay more attention to the training tuples that were misclassified</a:t>
            </a:r>
            <a:r>
              <a:rPr sz="2400" dirty="0"/>
              <a:t> by M</a:t>
            </a:r>
            <a:r>
              <a:rPr sz="2400" baseline="-25000" dirty="0"/>
              <a:t>i</a:t>
            </a:r>
            <a:endParaRPr sz="2400" dirty="0"/>
          </a:p>
          <a:p>
            <a:pPr marL="914400" lvl="1" indent="-457200" eaLnBrk="1" hangingPunct="1">
              <a:lnSpc>
                <a:spcPct val="90000"/>
              </a:lnSpc>
            </a:pPr>
            <a:r>
              <a:rPr sz="2400" dirty="0"/>
              <a:t>The final </a:t>
            </a:r>
            <a:r>
              <a:rPr sz="2400" b="1" dirty="0"/>
              <a:t>M* combines the votes</a:t>
            </a:r>
            <a:r>
              <a:rPr sz="2400" dirty="0"/>
              <a:t> of each individual classifier, where the weight of each classifier's vote is a function of its accuracy</a:t>
            </a:r>
            <a:endParaRPr sz="2400" dirty="0"/>
          </a:p>
          <a:p>
            <a:pPr marL="457200" indent="-457200" eaLnBrk="1" hangingPunct="1">
              <a:lnSpc>
                <a:spcPct val="90000"/>
              </a:lnSpc>
            </a:pPr>
            <a:r>
              <a:rPr sz="2400" dirty="0"/>
              <a:t>Boosting algorithm can be extended for numeric prediction</a:t>
            </a:r>
            <a:endParaRPr sz="2400" dirty="0"/>
          </a:p>
          <a:p>
            <a:pPr marL="457200" indent="-457200" eaLnBrk="1" hangingPunct="1">
              <a:lnSpc>
                <a:spcPct val="90000"/>
              </a:lnSpc>
            </a:pPr>
            <a:r>
              <a:rPr sz="2400" dirty="0"/>
              <a:t>Comparing with bagging: Boosting tends to have greater accuracy, but it also risks overfitting the model to misclassified data</a:t>
            </a:r>
            <a:endParaRPr sz="2400" dirty="0"/>
          </a:p>
        </p:txBody>
      </p:sp>
      <p:sp>
        <p:nvSpPr>
          <p:cNvPr id="68612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Slide Number Placeholder 7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Adaboost (Freund and Schapire, 1997)</a:t>
            </a:r>
            <a:endParaRPr dirty="0"/>
          </a:p>
        </p:txBody>
      </p:sp>
      <p:sp>
        <p:nvSpPr>
          <p:cNvPr id="69636" name="Rectangle 3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8382000" cy="5105400"/>
          </a:xfrm>
        </p:spPr>
        <p:txBody>
          <a:bodyPr vert="horz" wrap="square" lIns="91440" tIns="45720" rIns="91440" bIns="45720" anchor="t" anchorCtr="0"/>
          <a:p>
            <a:pPr marL="457200" indent="-457200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000" dirty="0"/>
              <a:t>Given a set of </a:t>
            </a:r>
            <a:r>
              <a:rPr sz="2000" i="1" dirty="0"/>
              <a:t>d</a:t>
            </a:r>
            <a:r>
              <a:rPr sz="2000" dirty="0"/>
              <a:t> class-labeled tuples, (</a:t>
            </a:r>
            <a:r>
              <a:rPr sz="2000" b="1" dirty="0"/>
              <a:t>X</a:t>
            </a:r>
            <a:r>
              <a:rPr sz="2000" b="1" baseline="-25000" dirty="0"/>
              <a:t>1</a:t>
            </a:r>
            <a:r>
              <a:rPr sz="2000" dirty="0"/>
              <a:t>, y</a:t>
            </a:r>
            <a:r>
              <a:rPr sz="2000" baseline="-25000" dirty="0"/>
              <a:t>1</a:t>
            </a:r>
            <a:r>
              <a:rPr sz="2000" dirty="0"/>
              <a:t>), …, (</a:t>
            </a:r>
            <a:r>
              <a:rPr sz="2000" b="1" dirty="0"/>
              <a:t>X</a:t>
            </a:r>
            <a:r>
              <a:rPr sz="2000" b="1" baseline="-25000" dirty="0"/>
              <a:t>d</a:t>
            </a:r>
            <a:r>
              <a:rPr sz="2000" dirty="0"/>
              <a:t>, y</a:t>
            </a:r>
            <a:r>
              <a:rPr sz="2000" baseline="-25000" dirty="0"/>
              <a:t>d</a:t>
            </a:r>
            <a:r>
              <a:rPr sz="2000" dirty="0"/>
              <a:t>)</a:t>
            </a:r>
            <a:endParaRPr sz="2000" dirty="0"/>
          </a:p>
          <a:p>
            <a:pPr marL="457200" indent="-457200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000" dirty="0"/>
              <a:t>Initially, all the weights of tuples are set the same (1/d)</a:t>
            </a:r>
            <a:endParaRPr sz="2000" dirty="0"/>
          </a:p>
          <a:p>
            <a:pPr marL="457200" indent="-457200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000" dirty="0"/>
              <a:t>Generate k classifiers in k rounds.  At round i,</a:t>
            </a:r>
            <a:endParaRPr sz="2000" dirty="0"/>
          </a:p>
          <a:p>
            <a:pPr marL="914400" lvl="1" indent="-457200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Tuples from D are sampled (with replacement) to form a training set D</a:t>
            </a:r>
            <a:r>
              <a:rPr sz="2000" baseline="-25000" dirty="0"/>
              <a:t>i</a:t>
            </a:r>
            <a:r>
              <a:rPr sz="2000" dirty="0"/>
              <a:t> of the same size</a:t>
            </a:r>
            <a:endParaRPr sz="2000" dirty="0"/>
          </a:p>
          <a:p>
            <a:pPr marL="914400" lvl="1" indent="-457200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Each tuple’s chance of being selected is based on its weight</a:t>
            </a:r>
            <a:endParaRPr sz="2000" dirty="0"/>
          </a:p>
          <a:p>
            <a:pPr marL="914400" lvl="1" indent="-457200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A classification model M</a:t>
            </a:r>
            <a:r>
              <a:rPr sz="2000" baseline="-25000" dirty="0"/>
              <a:t>i</a:t>
            </a:r>
            <a:r>
              <a:rPr sz="2000" dirty="0"/>
              <a:t> is derived from D</a:t>
            </a:r>
            <a:r>
              <a:rPr sz="2000" baseline="-25000" dirty="0"/>
              <a:t>i</a:t>
            </a:r>
            <a:endParaRPr sz="2000" baseline="-25000" dirty="0"/>
          </a:p>
          <a:p>
            <a:pPr marL="914400" lvl="1" indent="-457200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Its error rate is calculated using D</a:t>
            </a:r>
            <a:r>
              <a:rPr sz="2000" baseline="-25000" dirty="0"/>
              <a:t>i </a:t>
            </a:r>
            <a:r>
              <a:rPr sz="2000" dirty="0"/>
              <a:t>as a test set</a:t>
            </a:r>
            <a:endParaRPr sz="2000" dirty="0"/>
          </a:p>
          <a:p>
            <a:pPr marL="914400" lvl="1" indent="-457200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sz="2000" dirty="0"/>
              <a:t>If a tuple is misclassified, its weight is increased, o.w. it is decreased</a:t>
            </a:r>
            <a:endParaRPr sz="2000" dirty="0"/>
          </a:p>
          <a:p>
            <a:pPr marL="457200" indent="-457200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000" dirty="0"/>
              <a:t>Error rate: err(</a:t>
            </a:r>
            <a:r>
              <a:rPr sz="2000" b="1" dirty="0"/>
              <a:t>X</a:t>
            </a:r>
            <a:r>
              <a:rPr sz="2000" b="1" baseline="-25000" dirty="0"/>
              <a:t>j</a:t>
            </a:r>
            <a:r>
              <a:rPr sz="2000" dirty="0"/>
              <a:t>) is the misclassification error of tuple </a:t>
            </a:r>
            <a:r>
              <a:rPr sz="2000" b="1" dirty="0"/>
              <a:t>X</a:t>
            </a:r>
            <a:r>
              <a:rPr sz="2000" b="1" baseline="-25000" dirty="0"/>
              <a:t>j</a:t>
            </a:r>
            <a:r>
              <a:rPr sz="2000" dirty="0"/>
              <a:t>. Classifier M</a:t>
            </a:r>
            <a:r>
              <a:rPr sz="2000" baseline="-25000" dirty="0"/>
              <a:t>i</a:t>
            </a:r>
            <a:r>
              <a:rPr sz="2000" dirty="0"/>
              <a:t> error rate is the sum of the weights of the misclassified tuples: </a:t>
            </a:r>
            <a:endParaRPr sz="2000" dirty="0"/>
          </a:p>
          <a:p>
            <a:pPr marL="457200" indent="-457200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000" dirty="0"/>
          </a:p>
          <a:p>
            <a:pPr marL="457200" indent="-457200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sz="2000" dirty="0"/>
          </a:p>
          <a:p>
            <a:pPr marL="457200" indent="-457200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sz="2000" dirty="0"/>
              <a:t>The weight of classifier M</a:t>
            </a:r>
            <a:r>
              <a:rPr sz="2000" baseline="-25000" dirty="0"/>
              <a:t>i</a:t>
            </a:r>
            <a:r>
              <a:rPr sz="2000" dirty="0"/>
              <a:t>’s vote is</a:t>
            </a:r>
            <a:endParaRPr sz="2000" dirty="0"/>
          </a:p>
        </p:txBody>
      </p:sp>
      <p:graphicFrame>
        <p:nvGraphicFramePr>
          <p:cNvPr id="69637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4953000" y="5715000"/>
          <a:ext cx="182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091565" imgH="431800" progId="Equation.3">
                  <p:embed/>
                </p:oleObj>
              </mc:Choice>
              <mc:Fallback>
                <p:oleObj name="" r:id="rId1" imgW="1091565" imgH="431800" progId="Equation.3">
                  <p:embed/>
                  <p:pic>
                    <p:nvPicPr>
                      <p:cNvPr id="0" name="Picture 310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953000" y="5715000"/>
                        <a:ext cx="1828800" cy="723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2514600" y="4953000"/>
          <a:ext cx="35052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1752600" imgH="444500" progId="Equation.3">
                  <p:embed/>
                </p:oleObj>
              </mc:Choice>
              <mc:Fallback>
                <p:oleObj name="" r:id="rId3" imgW="1752600" imgH="444500" progId="Equation.3">
                  <p:embed/>
                  <p:pic>
                    <p:nvPicPr>
                      <p:cNvPr id="0" name="Picture 3106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514600" y="4953000"/>
                        <a:ext cx="3505200" cy="7159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dirty="0"/>
              <a:t>Random Forest (</a:t>
            </a:r>
            <a:r>
              <a:rPr sz="3200" dirty="0"/>
              <a:t>Breiman 2001) </a:t>
            </a:r>
            <a:endParaRPr sz="3200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304800" y="1143000"/>
            <a:ext cx="8458200" cy="5410200"/>
          </a:xfrm>
        </p:spPr>
        <p:txBody>
          <a:bodyPr vert="horz" wrap="square" lIns="91440" tIns="45720" rIns="91440" bIns="45720" anchor="t" anchorCtr="0"/>
          <a:p>
            <a:r>
              <a:rPr sz="2000" dirty="0"/>
              <a:t>Random Forest: </a:t>
            </a:r>
            <a:endParaRPr sz="2000" dirty="0"/>
          </a:p>
          <a:p>
            <a:pPr lvl="1"/>
            <a:r>
              <a:rPr sz="2000" dirty="0"/>
              <a:t>Each classifier in the ensemble is a </a:t>
            </a:r>
            <a:r>
              <a:rPr sz="2000" i="1" dirty="0"/>
              <a:t>decision tree </a:t>
            </a:r>
            <a:r>
              <a:rPr sz="2000" dirty="0"/>
              <a:t>classifier and is generated using a random selection of attributes at each node to determine the split</a:t>
            </a:r>
            <a:endParaRPr sz="2000" dirty="0"/>
          </a:p>
          <a:p>
            <a:pPr lvl="1"/>
            <a:r>
              <a:rPr sz="2000" dirty="0"/>
              <a:t>During classification, each tree votes and the most popular class is returned</a:t>
            </a:r>
            <a:endParaRPr sz="2000" dirty="0"/>
          </a:p>
          <a:p>
            <a:r>
              <a:rPr sz="2000" dirty="0"/>
              <a:t>Two Methods to construct Random Forest:</a:t>
            </a:r>
            <a:endParaRPr sz="2000" dirty="0"/>
          </a:p>
          <a:p>
            <a:pPr lvl="1"/>
            <a:r>
              <a:rPr sz="2000" dirty="0"/>
              <a:t>Forest-RI (</a:t>
            </a:r>
            <a:r>
              <a:rPr sz="2000" i="1" dirty="0"/>
              <a:t>random input selection</a:t>
            </a:r>
            <a:r>
              <a:rPr sz="2000" dirty="0"/>
              <a:t>):  Randomly select, at each node, F attributes as candidates for the split at the node. The CART methodology is used to grow the trees to maximum size</a:t>
            </a:r>
            <a:endParaRPr sz="2000" dirty="0"/>
          </a:p>
          <a:p>
            <a:pPr lvl="1"/>
            <a:r>
              <a:rPr sz="2000" dirty="0"/>
              <a:t>Forest-RC (</a:t>
            </a:r>
            <a:r>
              <a:rPr sz="2000" i="1" dirty="0"/>
              <a:t>random linear combinations</a:t>
            </a:r>
            <a:r>
              <a:rPr sz="2000" dirty="0"/>
              <a:t>)</a:t>
            </a:r>
            <a:r>
              <a:rPr sz="2000" i="1" dirty="0"/>
              <a:t>: </a:t>
            </a:r>
            <a:r>
              <a:rPr sz="2000" dirty="0"/>
              <a:t> Creates new attributes (or features) that are a linear combination of the existing attributes (reduces the correlation between individual classifiers)</a:t>
            </a:r>
            <a:endParaRPr sz="2000" dirty="0"/>
          </a:p>
          <a:p>
            <a:r>
              <a:rPr sz="2000" dirty="0"/>
              <a:t>Comparable in accuracy to Adaboost, but more robust to errors and outliers </a:t>
            </a:r>
            <a:endParaRPr sz="2000" dirty="0"/>
          </a:p>
          <a:p>
            <a:r>
              <a:rPr sz="2000" dirty="0"/>
              <a:t>Insensitive to the number of attributes selected for consideration at each split, and faster than bagging or boosting</a:t>
            </a:r>
            <a:endParaRPr sz="2000" dirty="0"/>
          </a:p>
        </p:txBody>
      </p:sp>
      <p:sp>
        <p:nvSpPr>
          <p:cNvPr id="70660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 vert="horz" wrap="square" lIns="91440" tIns="45720" rIns="91440" bIns="45720" anchor="b" anchorCtr="0"/>
          <a:p>
            <a:r>
              <a:rPr sz="3200" b="0" dirty="0"/>
              <a:t>Classification of Class-Imbalanced Data Sets</a:t>
            </a:r>
            <a:endParaRPr sz="3200" b="0" dirty="0"/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1054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sz="2400" dirty="0"/>
              <a:t>Class-imbalance problem: Rare positive example but numerous negative ones, e.g., medical diagnosis, fraud, oil-spill, fault, etc. </a:t>
            </a:r>
            <a:endParaRPr sz="2400" dirty="0"/>
          </a:p>
          <a:p>
            <a:pPr>
              <a:lnSpc>
                <a:spcPct val="90000"/>
              </a:lnSpc>
            </a:pPr>
            <a:r>
              <a:rPr sz="2400" dirty="0"/>
              <a:t>Traditional methods assume a balanced distribution of classes and equal error costs: not suitable for class-imbalanced data</a:t>
            </a:r>
            <a:endParaRPr sz="2400" dirty="0"/>
          </a:p>
          <a:p>
            <a:pPr>
              <a:lnSpc>
                <a:spcPct val="90000"/>
              </a:lnSpc>
            </a:pPr>
            <a:r>
              <a:rPr sz="2400" dirty="0"/>
              <a:t>Typical methods for imbalance data in 2-class classification: </a:t>
            </a:r>
            <a:endParaRPr sz="2400" dirty="0"/>
          </a:p>
          <a:p>
            <a:pPr lvl="1">
              <a:lnSpc>
                <a:spcPct val="90000"/>
              </a:lnSpc>
            </a:pPr>
            <a:r>
              <a:rPr sz="2400" b="1" dirty="0"/>
              <a:t>Oversampling</a:t>
            </a:r>
            <a:r>
              <a:rPr sz="2400" dirty="0"/>
              <a:t>: re-sampling of data from positive class</a:t>
            </a:r>
            <a:endParaRPr sz="2400" dirty="0"/>
          </a:p>
          <a:p>
            <a:pPr lvl="1">
              <a:lnSpc>
                <a:spcPct val="90000"/>
              </a:lnSpc>
            </a:pPr>
            <a:r>
              <a:rPr sz="2400" b="1" dirty="0"/>
              <a:t>Under-sampling</a:t>
            </a:r>
            <a:r>
              <a:rPr sz="2400" dirty="0"/>
              <a:t>: randomly eliminate  tuples from negative class</a:t>
            </a:r>
            <a:endParaRPr sz="2400" dirty="0"/>
          </a:p>
          <a:p>
            <a:pPr lvl="1">
              <a:lnSpc>
                <a:spcPct val="90000"/>
              </a:lnSpc>
            </a:pPr>
            <a:r>
              <a:rPr sz="2400" b="1" dirty="0"/>
              <a:t>Threshold-moving</a:t>
            </a:r>
            <a:r>
              <a:rPr sz="2400" dirty="0"/>
              <a:t>: moves the decision threshold, t, so that the rare class tuples are easier to classify, and hence, less chance of costly false negative errors</a:t>
            </a:r>
            <a:endParaRPr sz="2400" dirty="0"/>
          </a:p>
          <a:p>
            <a:pPr lvl="1">
              <a:lnSpc>
                <a:spcPct val="90000"/>
              </a:lnSpc>
            </a:pPr>
            <a:r>
              <a:rPr sz="2400" dirty="0"/>
              <a:t>Ensemble techniques: Ensemble multiple classifiers introduced above</a:t>
            </a:r>
            <a:endParaRPr sz="2400" dirty="0"/>
          </a:p>
          <a:p>
            <a:pPr>
              <a:lnSpc>
                <a:spcPct val="90000"/>
              </a:lnSpc>
            </a:pPr>
            <a:r>
              <a:rPr sz="2400" dirty="0"/>
              <a:t>Still difficult for class imbalance problem on multiclass tasks</a:t>
            </a:r>
            <a:endParaRPr sz="2400" dirty="0"/>
          </a:p>
        </p:txBody>
      </p:sp>
      <p:sp>
        <p:nvSpPr>
          <p:cNvPr id="71684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Slide Number Placeholder 6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400" b="1" dirty="0">
                <a:latin typeface="Calibri" panose="020F0502020204030204" pitchFamily="34" charset="0"/>
              </a:rPr>
            </a:fld>
            <a:endParaRPr lang="en-US" sz="1400" b="1" dirty="0">
              <a:latin typeface="Calibri" panose="020F0502020204030204" pitchFamily="34" charset="0"/>
            </a:endParaRPr>
          </a:p>
        </p:txBody>
      </p:sp>
      <p:sp>
        <p:nvSpPr>
          <p:cNvPr id="72707" name="Rectangle 2"/>
          <p:cNvSpPr>
            <a:spLocks noGrp="1"/>
          </p:cNvSpPr>
          <p:nvPr>
            <p:ph type="title" idx="4294967295"/>
          </p:nvPr>
        </p:nvSpPr>
        <p:spPr>
          <a:xfrm>
            <a:off x="-9525" y="304800"/>
            <a:ext cx="9144000" cy="6096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sz="3200" dirty="0"/>
              <a:t>Chapter 8. Classification: Basic Concepts</a:t>
            </a:r>
            <a:endParaRPr sz="3200" dirty="0"/>
          </a:p>
        </p:txBody>
      </p:sp>
      <p:sp>
        <p:nvSpPr>
          <p:cNvPr id="7270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</p:spPr>
        <p:txBody>
          <a:bodyPr vert="horz" wrap="square" lIns="92075" tIns="46038" rIns="92075" bIns="46038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lnSpc>
                <a:spcPct val="130000"/>
              </a:lnSpc>
            </a:pPr>
            <a:r>
              <a:rPr sz="2800" dirty="0"/>
              <a:t>Classification: Basic Concepts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Decision Tree Induction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Bayes Classification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Rule-Based Classification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Model Evaluation and Selection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Techniques to Improve Classification Accuracy: Ensemble Methods</a:t>
            </a:r>
            <a:endParaRPr sz="2800" dirty="0"/>
          </a:p>
          <a:p>
            <a:pPr lvl="0">
              <a:lnSpc>
                <a:spcPct val="130000"/>
              </a:lnSpc>
            </a:pPr>
            <a:r>
              <a:rPr sz="2800" dirty="0"/>
              <a:t>Summary</a:t>
            </a:r>
            <a:endParaRPr sz="2800" dirty="0"/>
          </a:p>
        </p:txBody>
      </p:sp>
      <p:sp>
        <p:nvSpPr>
          <p:cNvPr id="72709" name="AutoShape 8"/>
          <p:cNvSpPr/>
          <p:nvPr/>
        </p:nvSpPr>
        <p:spPr>
          <a:xfrm rot="9803581">
            <a:off x="2514600" y="5867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endParaRPr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/>
          </p:cNvSpPr>
          <p:nvPr>
            <p:ph type="title"/>
          </p:nvPr>
        </p:nvSpPr>
        <p:spPr>
          <a:xfrm>
            <a:off x="228600" y="381000"/>
            <a:ext cx="84582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Summary (I)</a:t>
            </a:r>
            <a:endParaRPr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sz="2400" dirty="0">
                <a:solidFill>
                  <a:schemeClr val="hlink"/>
                </a:solidFill>
              </a:rPr>
              <a:t>Classification </a:t>
            </a:r>
            <a:r>
              <a:rPr sz="2400" dirty="0"/>
              <a:t>is a form of data analysis that extracts </a:t>
            </a:r>
            <a:r>
              <a:rPr sz="2400" dirty="0">
                <a:solidFill>
                  <a:schemeClr val="hlink"/>
                </a:solidFill>
              </a:rPr>
              <a:t>models</a:t>
            </a:r>
            <a:r>
              <a:rPr sz="2400" dirty="0"/>
              <a:t> describing important data classes. 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/>
              <a:t>Effective and scalable methods have been developed for </a:t>
            </a:r>
            <a:r>
              <a:rPr sz="2400" dirty="0">
                <a:solidFill>
                  <a:schemeClr val="hlink"/>
                </a:solidFill>
              </a:rPr>
              <a:t>decision tree induction, Naive Bayesian classification, rule-based classification, </a:t>
            </a:r>
            <a:r>
              <a:rPr sz="2400" dirty="0"/>
              <a:t>and many other classification methods.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>
                <a:solidFill>
                  <a:schemeClr val="hlink"/>
                </a:solidFill>
              </a:rPr>
              <a:t>Evaluation metrics</a:t>
            </a:r>
            <a:r>
              <a:rPr sz="2400" dirty="0"/>
              <a:t> include: accuracy, sensitivity, specificity, precision, recall, </a:t>
            </a:r>
            <a:r>
              <a:rPr sz="2400" i="1" dirty="0"/>
              <a:t>F</a:t>
            </a:r>
            <a:r>
              <a:rPr sz="2400" dirty="0"/>
              <a:t> measure, and </a:t>
            </a:r>
            <a:r>
              <a:rPr sz="2400" i="1" dirty="0"/>
              <a:t>F</a:t>
            </a:r>
            <a:r>
              <a:rPr sz="2400" i="1" baseline="-25000" dirty="0">
                <a:cs typeface="Tahoma" panose="020B0604030504040204" pitchFamily="34" charset="0"/>
              </a:rPr>
              <a:t>ß</a:t>
            </a:r>
            <a:r>
              <a:rPr sz="2400" baseline="-25000" dirty="0"/>
              <a:t> </a:t>
            </a:r>
            <a:r>
              <a:rPr sz="2400" dirty="0"/>
              <a:t>measure.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>
                <a:solidFill>
                  <a:schemeClr val="hlink"/>
                </a:solidFill>
              </a:rPr>
              <a:t>Stratified k-fold cross-validation</a:t>
            </a:r>
            <a:r>
              <a:rPr sz="2400" dirty="0"/>
              <a:t> is recommended for accuracy estimation.  </a:t>
            </a:r>
            <a:r>
              <a:rPr sz="2400" dirty="0">
                <a:solidFill>
                  <a:schemeClr val="hlink"/>
                </a:solidFill>
              </a:rPr>
              <a:t>Bagging </a:t>
            </a:r>
            <a:r>
              <a:rPr sz="2400" dirty="0"/>
              <a:t>and </a:t>
            </a:r>
            <a:r>
              <a:rPr sz="2400" dirty="0">
                <a:solidFill>
                  <a:schemeClr val="hlink"/>
                </a:solidFill>
              </a:rPr>
              <a:t>boosting</a:t>
            </a:r>
            <a:r>
              <a:rPr sz="2400" dirty="0"/>
              <a:t> can be used to increase overall accuracy by learning and combining a series of individual models.</a:t>
            </a:r>
            <a:endParaRPr sz="2400" dirty="0"/>
          </a:p>
        </p:txBody>
      </p:sp>
      <p:sp>
        <p:nvSpPr>
          <p:cNvPr id="73732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Grp="1"/>
          </p:cNvSpPr>
          <p:nvPr>
            <p:ph type="title"/>
          </p:nvPr>
        </p:nvSpPr>
        <p:spPr>
          <a:xfrm>
            <a:off x="228600" y="381000"/>
            <a:ext cx="84582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Summary (II)</a:t>
            </a:r>
            <a:endParaRPr dirty="0"/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5029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sz="2400" dirty="0">
                <a:solidFill>
                  <a:schemeClr val="hlink"/>
                </a:solidFill>
              </a:rPr>
              <a:t>Significance tests</a:t>
            </a:r>
            <a:r>
              <a:rPr sz="2400" dirty="0"/>
              <a:t> and </a:t>
            </a:r>
            <a:r>
              <a:rPr sz="2400" dirty="0">
                <a:solidFill>
                  <a:schemeClr val="hlink"/>
                </a:solidFill>
              </a:rPr>
              <a:t>ROC curves</a:t>
            </a:r>
            <a:r>
              <a:rPr sz="2400" dirty="0"/>
              <a:t> are useful for model selection.</a:t>
            </a:r>
            <a:endParaRPr sz="2400" dirty="0"/>
          </a:p>
          <a:p>
            <a:pPr eaLnBrk="1" hangingPunct="1">
              <a:lnSpc>
                <a:spcPct val="130000"/>
              </a:lnSpc>
            </a:pPr>
            <a:r>
              <a:rPr sz="2400" dirty="0"/>
              <a:t>There have been numerous </a:t>
            </a:r>
            <a:r>
              <a:rPr sz="2400" dirty="0">
                <a:solidFill>
                  <a:schemeClr val="hlink"/>
                </a:solidFill>
              </a:rPr>
              <a:t>comparisons of the different classification </a:t>
            </a:r>
            <a:r>
              <a:rPr sz="2400" dirty="0"/>
              <a:t>methods; the matter remains a research topic</a:t>
            </a:r>
            <a:endParaRPr sz="2400" dirty="0"/>
          </a:p>
          <a:p>
            <a:pPr eaLnBrk="1" hangingPunct="1">
              <a:lnSpc>
                <a:spcPct val="130000"/>
              </a:lnSpc>
            </a:pPr>
            <a:r>
              <a:rPr sz="2400" dirty="0"/>
              <a:t>No single method has been found to be superior over all others for all data sets</a:t>
            </a:r>
            <a:endParaRPr sz="2400" dirty="0"/>
          </a:p>
          <a:p>
            <a:pPr eaLnBrk="1" hangingPunct="1">
              <a:lnSpc>
                <a:spcPct val="130000"/>
              </a:lnSpc>
            </a:pPr>
            <a:r>
              <a:rPr sz="2400" dirty="0"/>
              <a:t>Issues such as accuracy, training time, robustness, scalability, and interpretability must be considered and can involve trade-offs, further complicating the quest for an overall superior method</a:t>
            </a:r>
            <a:endParaRPr sz="2400" dirty="0"/>
          </a:p>
        </p:txBody>
      </p:sp>
      <p:sp>
        <p:nvSpPr>
          <p:cNvPr id="74756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type="title"/>
          </p:nvPr>
        </p:nvSpPr>
        <p:spPr>
          <a:xfrm>
            <a:off x="533400" y="304800"/>
            <a:ext cx="8018463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References (1)</a:t>
            </a:r>
            <a:endParaRPr sz="4000" dirty="0"/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5029200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sz="1800" dirty="0"/>
              <a:t>C. Apte and S. Weiss. </a:t>
            </a:r>
            <a:r>
              <a:rPr sz="1800" b="1" dirty="0"/>
              <a:t>Data mining with decision trees and decision rules</a:t>
            </a:r>
            <a:r>
              <a:rPr sz="1800" dirty="0"/>
              <a:t>. Future Generation Computer Systems, 13, 1997</a:t>
            </a:r>
            <a:endParaRPr sz="1800" dirty="0"/>
          </a:p>
          <a:p>
            <a:pPr marL="533400" indent="-533400" eaLnBrk="1" hangingPunct="1"/>
            <a:r>
              <a:rPr sz="1800" dirty="0"/>
              <a:t>C. M. Bishop,  </a:t>
            </a:r>
            <a:r>
              <a:rPr sz="1800" b="1" dirty="0"/>
              <a:t>Neural Networks for Pattern Recognition</a:t>
            </a:r>
            <a:r>
              <a:rPr sz="1800" dirty="0"/>
              <a:t>.  Oxford University Press, 1995</a:t>
            </a:r>
            <a:endParaRPr sz="1800" dirty="0"/>
          </a:p>
          <a:p>
            <a:pPr marL="533400" indent="-533400" eaLnBrk="1" hangingPunct="1"/>
            <a:r>
              <a:rPr sz="1800" dirty="0"/>
              <a:t>L. Breiman, J. Friedman, R. Olshen, and C. Stone. </a:t>
            </a:r>
            <a:r>
              <a:rPr sz="1800" b="1" dirty="0"/>
              <a:t>Classification and Regression Trees</a:t>
            </a:r>
            <a:r>
              <a:rPr sz="1800" dirty="0"/>
              <a:t>. Wadsworth International Group, 1984</a:t>
            </a:r>
            <a:endParaRPr sz="1800" dirty="0"/>
          </a:p>
          <a:p>
            <a:pPr marL="533400" indent="-533400" eaLnBrk="1" hangingPunct="1"/>
            <a:r>
              <a:rPr sz="1800" dirty="0"/>
              <a:t>C. J. C. Burges. </a:t>
            </a:r>
            <a:r>
              <a:rPr sz="1800" b="1" dirty="0"/>
              <a:t>A Tutorial on Support Vector Machines for Pattern Recognition</a:t>
            </a:r>
            <a:r>
              <a:rPr sz="1800" dirty="0"/>
              <a:t>. </a:t>
            </a:r>
            <a:r>
              <a:rPr sz="1800" i="1" dirty="0"/>
              <a:t>Data Mining and Knowledge Discovery</a:t>
            </a:r>
            <a:r>
              <a:rPr sz="1800" dirty="0"/>
              <a:t>, 2(2): 121-168, 1998</a:t>
            </a:r>
            <a:endParaRPr sz="1800" dirty="0"/>
          </a:p>
          <a:p>
            <a:pPr marL="533400" indent="-533400" eaLnBrk="1" hangingPunct="1"/>
            <a:r>
              <a:rPr sz="1800" dirty="0"/>
              <a:t>P. K. Chan and S. J. Stolfo. </a:t>
            </a:r>
            <a:r>
              <a:rPr sz="1800" b="1" dirty="0"/>
              <a:t>Learning arbiter and combiner trees from partitioned data for scaling machine learning</a:t>
            </a:r>
            <a:r>
              <a:rPr sz="1800" dirty="0"/>
              <a:t>. KDD'95</a:t>
            </a:r>
            <a:endParaRPr sz="1800" dirty="0"/>
          </a:p>
          <a:p>
            <a:pPr marL="533400" indent="-533400" eaLnBrk="1" hangingPunct="1"/>
            <a:r>
              <a:rPr sz="1800" dirty="0"/>
              <a:t>H. Cheng, X. Yan, J. Han, and C.-W. Hsu, </a:t>
            </a:r>
            <a:r>
              <a:rPr sz="1800" b="1" dirty="0">
                <a:hlinkClick r:id="rId1"/>
              </a:rPr>
              <a:t>Discriminative Frequent Pattern Analysis for Effective Classification</a:t>
            </a:r>
            <a:r>
              <a:rPr sz="1800" dirty="0"/>
              <a:t>, ICDE'07</a:t>
            </a:r>
            <a:endParaRPr sz="1800" b="1" dirty="0"/>
          </a:p>
          <a:p>
            <a:pPr marL="533400" indent="-533400" eaLnBrk="1" hangingPunct="1"/>
            <a:r>
              <a:rPr sz="1800" dirty="0"/>
              <a:t>H. Cheng, X. Yan, J. Han, and P. S. Yu, </a:t>
            </a:r>
            <a:r>
              <a:rPr sz="1800" b="1" dirty="0">
                <a:hlinkClick r:id="rId2"/>
              </a:rPr>
              <a:t>Direct Discriminative Pattern Mining for Effective Classification</a:t>
            </a:r>
            <a:r>
              <a:rPr sz="1800" dirty="0"/>
              <a:t>, ICDE'08</a:t>
            </a:r>
            <a:endParaRPr sz="1800" b="1" dirty="0"/>
          </a:p>
          <a:p>
            <a:pPr marL="533400" indent="-533400" eaLnBrk="1" hangingPunct="1"/>
            <a:r>
              <a:rPr sz="1800" dirty="0"/>
              <a:t>W. Cohen.  </a:t>
            </a:r>
            <a:r>
              <a:rPr sz="1800" b="1" dirty="0"/>
              <a:t>Fast effective rule induction</a:t>
            </a:r>
            <a:r>
              <a:rPr sz="1800" dirty="0"/>
              <a:t>. ICML'95</a:t>
            </a:r>
            <a:endParaRPr sz="1800" dirty="0"/>
          </a:p>
          <a:p>
            <a:pPr marL="533400" indent="-533400" eaLnBrk="1" hangingPunct="1"/>
            <a:r>
              <a:rPr sz="1800" dirty="0"/>
              <a:t>G. Cong, K.-L. Tan, A. K. H. Tung, and X. Xu.  </a:t>
            </a:r>
            <a:r>
              <a:rPr sz="1800" b="1" dirty="0"/>
              <a:t>Mining top-k covering rule groups for gene expression data</a:t>
            </a:r>
            <a:r>
              <a:rPr sz="1800" dirty="0"/>
              <a:t>.  SIGMOD'05</a:t>
            </a:r>
            <a:endParaRPr sz="1800" dirty="0"/>
          </a:p>
        </p:txBody>
      </p:sp>
      <p:sp>
        <p:nvSpPr>
          <p:cNvPr id="75780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1026"/>
          <p:cNvSpPr>
            <a:spLocks noGrp="1"/>
          </p:cNvSpPr>
          <p:nvPr>
            <p:ph type="title"/>
          </p:nvPr>
        </p:nvSpPr>
        <p:spPr>
          <a:xfrm>
            <a:off x="457200" y="304800"/>
            <a:ext cx="7943850" cy="55403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References (2)</a:t>
            </a:r>
            <a:endParaRPr sz="4000" dirty="0"/>
          </a:p>
        </p:txBody>
      </p:sp>
      <p:sp>
        <p:nvSpPr>
          <p:cNvPr id="76803" name="Rectangle 1027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181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1800" dirty="0"/>
              <a:t>A. J. Dobson.  </a:t>
            </a:r>
            <a:r>
              <a:rPr sz="1800" b="1" dirty="0"/>
              <a:t>An Introduction to Generalized Linear Models</a:t>
            </a:r>
            <a:r>
              <a:rPr sz="1800" dirty="0"/>
              <a:t>.  Chapman &amp; Hall, 1990.</a:t>
            </a:r>
            <a:endParaRPr sz="1800" dirty="0"/>
          </a:p>
          <a:p>
            <a:pPr eaLnBrk="1" hangingPunct="1"/>
            <a:r>
              <a:rPr sz="1800" dirty="0"/>
              <a:t>G. Dong and J. Li. </a:t>
            </a:r>
            <a:r>
              <a:rPr sz="1800" b="1" dirty="0"/>
              <a:t>Efficient mining of emerging patterns: Discovering trends and differences</a:t>
            </a:r>
            <a:r>
              <a:rPr sz="1800" dirty="0"/>
              <a:t>. KDD'99.</a:t>
            </a:r>
            <a:endParaRPr sz="1800" dirty="0"/>
          </a:p>
          <a:p>
            <a:pPr eaLnBrk="1" hangingPunct="1"/>
            <a:r>
              <a:rPr sz="1800" dirty="0"/>
              <a:t>R. O. Duda, P. E. Hart, and D. G. Stork. </a:t>
            </a:r>
            <a:r>
              <a:rPr sz="1800" b="1" dirty="0"/>
              <a:t>Pattern Classification</a:t>
            </a:r>
            <a:r>
              <a:rPr sz="1800" dirty="0"/>
              <a:t>, 2ed. John Wiley, 2001</a:t>
            </a:r>
            <a:endParaRPr sz="1800" dirty="0"/>
          </a:p>
          <a:p>
            <a:pPr eaLnBrk="1" hangingPunct="1"/>
            <a:r>
              <a:rPr sz="1800" dirty="0"/>
              <a:t>U. M. Fayyad. </a:t>
            </a:r>
            <a:r>
              <a:rPr sz="1800" b="1" dirty="0"/>
              <a:t>Branching on attribute values in decision tree generation</a:t>
            </a:r>
            <a:r>
              <a:rPr sz="1800" dirty="0"/>
              <a:t>. AAAI’94.</a:t>
            </a:r>
            <a:endParaRPr sz="1800" dirty="0"/>
          </a:p>
          <a:p>
            <a:pPr eaLnBrk="1" hangingPunct="1"/>
            <a:r>
              <a:rPr sz="1800" dirty="0"/>
              <a:t>Y. Freund and R. E. Schapire. </a:t>
            </a:r>
            <a:r>
              <a:rPr sz="1800" b="1" dirty="0"/>
              <a:t>A decision-theoretic generalization of on-line learning and an  application to boosting</a:t>
            </a:r>
            <a:r>
              <a:rPr sz="1800" dirty="0"/>
              <a:t>. J. Computer and System Sciences, 1997.</a:t>
            </a:r>
            <a:endParaRPr sz="1800" dirty="0"/>
          </a:p>
          <a:p>
            <a:pPr eaLnBrk="1" hangingPunct="1"/>
            <a:r>
              <a:rPr sz="1800" dirty="0"/>
              <a:t>J. Gehrke, R. Ramakrishnan, and V. Ganti. </a:t>
            </a:r>
            <a:r>
              <a:rPr sz="1800" b="1" dirty="0"/>
              <a:t>Rainforest: A framework for fast decision tree construction of large datasets</a:t>
            </a:r>
            <a:r>
              <a:rPr sz="1800" dirty="0"/>
              <a:t>. VLDB’98.</a:t>
            </a:r>
            <a:endParaRPr sz="1800" dirty="0"/>
          </a:p>
          <a:p>
            <a:pPr eaLnBrk="1" hangingPunct="1"/>
            <a:r>
              <a:rPr sz="1800" dirty="0"/>
              <a:t>J. Gehrke, V. Gant, R. Ramakrishnan, and W.-Y. Loh, </a:t>
            </a:r>
            <a:r>
              <a:rPr sz="1800" b="1" dirty="0"/>
              <a:t>BOAT -- Optimistic Decision Tree Construction</a:t>
            </a:r>
            <a:r>
              <a:rPr sz="1800" dirty="0"/>
              <a:t>. SIGMOD'99</a:t>
            </a:r>
            <a:r>
              <a:rPr sz="1800" i="1" dirty="0"/>
              <a:t>.</a:t>
            </a:r>
            <a:endParaRPr sz="1800" i="1" dirty="0"/>
          </a:p>
          <a:p>
            <a:pPr eaLnBrk="1" hangingPunct="1"/>
            <a:r>
              <a:rPr sz="1800" dirty="0"/>
              <a:t>T. Hastie, R. Tibshirani, and J. Friedman. </a:t>
            </a:r>
            <a:r>
              <a:rPr sz="1800" b="1" dirty="0"/>
              <a:t>The Elements of Statistical Learning: Data Mining, Inference,  and Prediction.</a:t>
            </a:r>
            <a:r>
              <a:rPr sz="1800" dirty="0"/>
              <a:t> Springer-Verlag, 2001.</a:t>
            </a:r>
            <a:endParaRPr sz="1800" dirty="0"/>
          </a:p>
          <a:p>
            <a:pPr eaLnBrk="1" hangingPunct="1"/>
            <a:r>
              <a:rPr sz="1800" dirty="0"/>
              <a:t>D. Heckerman, D. Geiger, and D. M. Chickering. </a:t>
            </a:r>
            <a:r>
              <a:rPr sz="1800" b="1" dirty="0"/>
              <a:t>Learning Bayesian networks: The combination of knowledge and statistical data</a:t>
            </a:r>
            <a:r>
              <a:rPr sz="1800" dirty="0"/>
              <a:t>. Machine Learning, 1995.</a:t>
            </a:r>
            <a:endParaRPr sz="1800" dirty="0"/>
          </a:p>
          <a:p>
            <a:pPr eaLnBrk="1" hangingPunct="1"/>
            <a:r>
              <a:rPr sz="1800" dirty="0"/>
              <a:t>W. Li, J. Han, and J. Pei, </a:t>
            </a:r>
            <a:r>
              <a:rPr sz="1800" b="1" dirty="0"/>
              <a:t>CMAR: Accurate and Efficient Classification Based on Multiple Class-Association Rules</a:t>
            </a:r>
            <a:r>
              <a:rPr sz="1800" dirty="0"/>
              <a:t>, ICDM'01. </a:t>
            </a:r>
            <a:endParaRPr sz="1800" dirty="0"/>
          </a:p>
        </p:txBody>
      </p:sp>
      <p:sp>
        <p:nvSpPr>
          <p:cNvPr id="76804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xfrm>
            <a:off x="533400" y="304800"/>
            <a:ext cx="7943850" cy="55403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References (3)</a:t>
            </a:r>
            <a:endParaRPr sz="4000" dirty="0"/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5257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</a:pPr>
            <a:r>
              <a:rPr sz="1800" dirty="0"/>
              <a:t>T.-S. Lim, W.-Y. Loh, and Y.-S. Shih. </a:t>
            </a:r>
            <a:r>
              <a:rPr sz="1800" b="1" dirty="0"/>
              <a:t>A comparison of prediction accuracy, complexity, and training time of  thirty-three old and new classification algorithms.</a:t>
            </a:r>
            <a:r>
              <a:rPr sz="1800" dirty="0"/>
              <a:t>  Machine Learning, 2000. 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J. Magidson.  </a:t>
            </a:r>
            <a:r>
              <a:rPr sz="1800" b="1" dirty="0"/>
              <a:t>The Chaid approach to segmentation modeling:  Chi-squared automatic interaction detection</a:t>
            </a:r>
            <a:r>
              <a:rPr sz="1800" dirty="0"/>
              <a:t>. In R. P. Bagozzi, editor, Advanced Methods of Marketing Research, Blackwell Business, 1994.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M. Mehta, R. Agrawal, and J. Rissanen. </a:t>
            </a:r>
            <a:r>
              <a:rPr sz="1800" b="1" dirty="0"/>
              <a:t>SLIQ : A fast scalable classifier for data mining</a:t>
            </a:r>
            <a:r>
              <a:rPr sz="1800" dirty="0"/>
              <a:t>. EDBT'96.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T. M. Mitchell. </a:t>
            </a:r>
            <a:r>
              <a:rPr sz="1800" b="1" dirty="0"/>
              <a:t>Machine Learning</a:t>
            </a:r>
            <a:r>
              <a:rPr sz="1800" dirty="0"/>
              <a:t>. McGraw Hill, 1997. 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S. K. Murthy, </a:t>
            </a:r>
            <a:r>
              <a:rPr sz="1800" b="1" dirty="0"/>
              <a:t>Automatic Construction of Decision Trees from Data: A Multi-Disciplinary Survey</a:t>
            </a:r>
            <a:r>
              <a:rPr sz="1800" dirty="0"/>
              <a:t>, Data Mining and Knowledge Discovery 2(4): 345-389, 1998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J. R. Quinlan. </a:t>
            </a:r>
            <a:r>
              <a:rPr sz="1800" b="1" dirty="0"/>
              <a:t>Induction of decision trees</a:t>
            </a:r>
            <a:r>
              <a:rPr sz="1800" dirty="0"/>
              <a:t>. </a:t>
            </a:r>
            <a:r>
              <a:rPr sz="1800" i="1" dirty="0"/>
              <a:t>Machine Learning</a:t>
            </a:r>
            <a:r>
              <a:rPr sz="1800" dirty="0"/>
              <a:t>, 1:81-106, 1986. 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J. R. Quinlan and R. M. Cameron-Jones. </a:t>
            </a:r>
            <a:r>
              <a:rPr sz="1800" b="1" dirty="0"/>
              <a:t>FOIL: A midterm report</a:t>
            </a:r>
            <a:r>
              <a:rPr sz="1800" dirty="0"/>
              <a:t>. ECML’93.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J. R. Quinlan. </a:t>
            </a:r>
            <a:r>
              <a:rPr sz="1800" b="1" dirty="0"/>
              <a:t>C4.5: Programs for Machine Learning</a:t>
            </a:r>
            <a:r>
              <a:rPr sz="1800" dirty="0"/>
              <a:t>. Morgan Kaufmann, 1993.</a:t>
            </a:r>
            <a:endParaRPr sz="1800" dirty="0"/>
          </a:p>
          <a:p>
            <a:pPr eaLnBrk="1" hangingPunct="1">
              <a:lnSpc>
                <a:spcPct val="110000"/>
              </a:lnSpc>
            </a:pPr>
            <a:r>
              <a:rPr sz="1800" dirty="0"/>
              <a:t>J. R. Quinlan.  </a:t>
            </a:r>
            <a:r>
              <a:rPr sz="1800" b="1" dirty="0"/>
              <a:t>Bagging, boosting, and c4.5</a:t>
            </a:r>
            <a:r>
              <a:rPr sz="1800" dirty="0"/>
              <a:t>. AAAI'96.</a:t>
            </a:r>
            <a:endParaRPr sz="1800" dirty="0"/>
          </a:p>
        </p:txBody>
      </p:sp>
      <p:sp>
        <p:nvSpPr>
          <p:cNvPr id="77828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7943850" cy="55403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References (4)</a:t>
            </a:r>
            <a:endParaRPr sz="4000" dirty="0"/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5257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1800" dirty="0"/>
              <a:t>R. Rastogi and K. Shim. </a:t>
            </a:r>
            <a:r>
              <a:rPr sz="1800" b="1" dirty="0"/>
              <a:t>Public: A decision tree classifier that integrates building and pruning</a:t>
            </a:r>
            <a:r>
              <a:rPr sz="1800" dirty="0"/>
              <a:t>. VLDB’98.</a:t>
            </a:r>
            <a:endParaRPr sz="1800" dirty="0"/>
          </a:p>
          <a:p>
            <a:pPr eaLnBrk="1" hangingPunct="1"/>
            <a:r>
              <a:rPr sz="1800" dirty="0"/>
              <a:t>J. Shafer, R. Agrawal, and M. Mehta. </a:t>
            </a:r>
            <a:r>
              <a:rPr sz="1800" b="1" dirty="0"/>
              <a:t>SPRINT : A scalable parallel classifier for data mining</a:t>
            </a:r>
            <a:r>
              <a:rPr sz="1800" dirty="0"/>
              <a:t>. VLDB’96.</a:t>
            </a:r>
            <a:endParaRPr sz="1800" dirty="0"/>
          </a:p>
          <a:p>
            <a:pPr eaLnBrk="1" hangingPunct="1"/>
            <a:r>
              <a:rPr sz="1800" dirty="0"/>
              <a:t>J. W. Shavlik and T. G. Dietterich. </a:t>
            </a:r>
            <a:r>
              <a:rPr sz="1800" b="1" dirty="0"/>
              <a:t>Readings in Machine Learning</a:t>
            </a:r>
            <a:r>
              <a:rPr sz="1800" dirty="0"/>
              <a:t>. Morgan Kaufmann, 1990.</a:t>
            </a:r>
            <a:endParaRPr sz="1800" dirty="0"/>
          </a:p>
          <a:p>
            <a:pPr eaLnBrk="1" hangingPunct="1"/>
            <a:r>
              <a:rPr sz="1800" dirty="0"/>
              <a:t>P. Tan, M. Steinbach, and V. Kumar. </a:t>
            </a:r>
            <a:r>
              <a:rPr sz="1800" b="1" dirty="0"/>
              <a:t>Introduction to Data Mining</a:t>
            </a:r>
            <a:r>
              <a:rPr sz="1800" dirty="0"/>
              <a:t>. Addison Wesley, 2005.</a:t>
            </a:r>
            <a:endParaRPr sz="1800" dirty="0"/>
          </a:p>
          <a:p>
            <a:pPr eaLnBrk="1" hangingPunct="1"/>
            <a:r>
              <a:rPr sz="1800" dirty="0"/>
              <a:t>S. M. Weiss and C. A. Kulikowski.  </a:t>
            </a:r>
            <a:r>
              <a:rPr sz="1800" b="1" dirty="0"/>
              <a:t>Computer Systems that Learn:  Classification and Prediction Methods from Statistics, Neural Nets, Machine Learning, and Expert Systems</a:t>
            </a:r>
            <a:r>
              <a:rPr sz="1800" dirty="0"/>
              <a:t>.  Morgan Kaufman, 1991. </a:t>
            </a:r>
            <a:endParaRPr sz="1800" dirty="0"/>
          </a:p>
          <a:p>
            <a:pPr eaLnBrk="1" hangingPunct="1"/>
            <a:r>
              <a:rPr sz="1800" dirty="0"/>
              <a:t>S. M. Weiss and N. Indurkhya. </a:t>
            </a:r>
            <a:r>
              <a:rPr sz="1800" b="1" dirty="0"/>
              <a:t>Predictive Data Mining</a:t>
            </a:r>
            <a:r>
              <a:rPr sz="1800" dirty="0"/>
              <a:t>. Morgan Kaufmann, 1997. </a:t>
            </a:r>
            <a:endParaRPr sz="1800" dirty="0"/>
          </a:p>
          <a:p>
            <a:pPr eaLnBrk="1" hangingPunct="1"/>
            <a:r>
              <a:rPr sz="1800" dirty="0"/>
              <a:t>I. H. Witten and E. Frank. </a:t>
            </a:r>
            <a:r>
              <a:rPr sz="1800" b="1" dirty="0"/>
              <a:t>Data Mining: Practical Machine Learning Tools and Techniques</a:t>
            </a:r>
            <a:r>
              <a:rPr sz="1800" dirty="0"/>
              <a:t>,  2ed.  Morgan Kaufmann, 2005.</a:t>
            </a:r>
            <a:endParaRPr sz="1800" dirty="0"/>
          </a:p>
          <a:p>
            <a:pPr eaLnBrk="1" hangingPunct="1"/>
            <a:r>
              <a:rPr sz="1800" dirty="0"/>
              <a:t>X. Yin and J. Han. </a:t>
            </a:r>
            <a:r>
              <a:rPr sz="1800" b="1" dirty="0"/>
              <a:t>CPAR: Classification based on predictive association rules</a:t>
            </a:r>
            <a:r>
              <a:rPr sz="1800" dirty="0"/>
              <a:t>. SDM'03</a:t>
            </a:r>
            <a:endParaRPr sz="1800" dirty="0"/>
          </a:p>
          <a:p>
            <a:pPr eaLnBrk="1" hangingPunct="1"/>
            <a:r>
              <a:rPr sz="1800" dirty="0"/>
              <a:t>H. Yu, J. Yang, and J. Han. </a:t>
            </a:r>
            <a:r>
              <a:rPr sz="1800" b="1" dirty="0"/>
              <a:t>Classifying large data sets using SVM with hierarchical clusters</a:t>
            </a:r>
            <a:r>
              <a:rPr sz="1800" dirty="0"/>
              <a:t>. KDD'03.</a:t>
            </a:r>
            <a:endParaRPr sz="1800" dirty="0"/>
          </a:p>
        </p:txBody>
      </p:sp>
      <p:sp>
        <p:nvSpPr>
          <p:cNvPr id="78852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b="1" dirty="0">
                <a:latin typeface="Calibri" panose="020F0502020204030204" pitchFamily="34" charset="0"/>
              </a:rPr>
            </a:fld>
            <a:endParaRPr lang="en-US" sz="12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9874" name="Picture 2" descr="102-0284_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>
              <a:buNone/>
            </a:pPr>
            <a:r>
              <a:rPr dirty="0"/>
              <a:t>CS412 Midterm Exam Statistics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Opinion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Question Answering: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Like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the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style: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70.83%,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dislike: 29.16%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Exam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is hard: 55.75%, easy: 0.6%, just right: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43.63%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Time: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plenty:3.03%, enough: 36.96%,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not: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60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%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Score distribution: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# of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students (Total: 180)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&gt;=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90: 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24 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80-89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: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54 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70-79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: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</a:rPr>
              <a:t>46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Final grading are based on overall score accumulation and relative class distributions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0900" name="Slide Number Placeholder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0901" name="Content Placeholder 2"/>
          <p:cNvSpPr txBox="1"/>
          <p:nvPr/>
        </p:nvSpPr>
        <p:spPr>
          <a:xfrm>
            <a:off x="3200400" y="3810000"/>
            <a:ext cx="3810000" cy="1500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800" dirty="0">
                <a:latin typeface="Calibri" panose="020F0502020204030204" pitchFamily="34" charset="0"/>
              </a:rPr>
              <a:t>60-69: 37 </a:t>
            </a:r>
            <a:endParaRPr sz="2800" dirty="0">
              <a:latin typeface="Calibri" panose="020F0502020204030204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800" dirty="0">
                <a:latin typeface="Calibri" panose="020F0502020204030204" pitchFamily="34" charset="0"/>
              </a:rPr>
              <a:t>50-59: 15</a:t>
            </a:r>
            <a:endParaRPr sz="2800" dirty="0">
              <a:latin typeface="Calibri" panose="020F0502020204030204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800" dirty="0">
                <a:latin typeface="Calibri" panose="020F0502020204030204" pitchFamily="34" charset="0"/>
              </a:rPr>
              <a:t>40-49: 2</a:t>
            </a:r>
            <a:endParaRPr sz="2800" dirty="0">
              <a:latin typeface="Calibri" panose="020F0502020204030204" pitchFamily="34" charset="0"/>
            </a:endParaRPr>
          </a:p>
        </p:txBody>
      </p:sp>
      <p:sp>
        <p:nvSpPr>
          <p:cNvPr id="80902" name="Content Placeholder 2"/>
          <p:cNvSpPr txBox="1"/>
          <p:nvPr/>
        </p:nvSpPr>
        <p:spPr>
          <a:xfrm>
            <a:off x="6248400" y="3733800"/>
            <a:ext cx="2438400" cy="15763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sz="2800" dirty="0">
                <a:latin typeface="Calibri" panose="020F0502020204030204" pitchFamily="34" charset="0"/>
              </a:rPr>
              <a:t>&lt;40: 2</a:t>
            </a:r>
            <a:endParaRPr sz="2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Slide Number Placeholder 5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dirty="0">
                <a:latin typeface="Tahoma" panose="020B0604030504040204" pitchFamily="34" charset="0"/>
              </a:rPr>
            </a:fld>
            <a:endParaRPr lang="en-US" sz="1200" dirty="0">
              <a:latin typeface="Tahoma" panose="020B0604030504040204" pitchFamily="34" charset="0"/>
            </a:endParaRPr>
          </a:p>
        </p:txBody>
      </p:sp>
      <p:sp>
        <p:nvSpPr>
          <p:cNvPr id="81923" name="Rectangle 2"/>
          <p:cNvSpPr>
            <a:spLocks noGrp="1"/>
          </p:cNvSpPr>
          <p:nvPr>
            <p:ph type="title" idx="4294967295"/>
          </p:nvPr>
        </p:nvSpPr>
        <p:spPr>
          <a:xfrm>
            <a:off x="-228600" y="152400"/>
            <a:ext cx="9601200" cy="838200"/>
          </a:xfrm>
        </p:spPr>
        <p:txBody>
          <a:bodyPr vert="horz" wrap="square" lIns="92075" tIns="46038" rIns="92075" bIns="46038" anchor="b" anchorCtr="0"/>
          <a:p>
            <a:pPr eaLnBrk="1" hangingPunct="1">
              <a:lnSpc>
                <a:spcPct val="110000"/>
              </a:lnSpc>
            </a:pPr>
            <a:r>
              <a:rPr sz="3200" dirty="0">
                <a:solidFill>
                  <a:srgbClr val="170981"/>
                </a:solidFill>
              </a:rPr>
              <a:t>Issues: Evaluating Classification Methods</a:t>
            </a:r>
            <a:endParaRPr sz="3200" dirty="0">
              <a:solidFill>
                <a:srgbClr val="170981"/>
              </a:solidFill>
            </a:endParaRPr>
          </a:p>
        </p:txBody>
      </p:sp>
      <p:sp>
        <p:nvSpPr>
          <p:cNvPr id="81924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1371600"/>
            <a:ext cx="8378825" cy="52578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90000"/>
              </a:lnSpc>
            </a:pPr>
            <a:r>
              <a:rPr sz="2400" dirty="0"/>
              <a:t>Accuracy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classifier accuracy: predicting class label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predictor accuracy: guessing value of predicted attributes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Speed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time to construct the model (training time)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time to use the model (classification/prediction time)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Robustness: handling noise and missing values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Scalability: efficiency in disk-resident databases 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Interpretability</a:t>
            </a:r>
            <a:endParaRPr sz="2400" dirty="0"/>
          </a:p>
          <a:p>
            <a:pPr lvl="1" eaLnBrk="1" hangingPunct="1">
              <a:lnSpc>
                <a:spcPct val="90000"/>
              </a:lnSpc>
            </a:pPr>
            <a:r>
              <a:rPr sz="2400" dirty="0"/>
              <a:t>understanding and insight provided by the model</a:t>
            </a:r>
            <a:endParaRPr sz="2400" dirty="0"/>
          </a:p>
          <a:p>
            <a:pPr eaLnBrk="1" hangingPunct="1">
              <a:lnSpc>
                <a:spcPct val="90000"/>
              </a:lnSpc>
            </a:pPr>
            <a:r>
              <a:rPr sz="2400" dirty="0"/>
              <a:t>Other measures, e.g., goodness of rules, such as decision tree size or compactness of classification rules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Slide Number Placeholder 7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dirty="0">
                <a:latin typeface="Tahoma" panose="020B0604030504040204" pitchFamily="34" charset="0"/>
              </a:rPr>
            </a:fld>
            <a:endParaRPr lang="en-US" sz="1200" dirty="0">
              <a:latin typeface="Tahoma" panose="020B0604030504040204" pitchFamily="34" charset="0"/>
            </a:endParaRPr>
          </a:p>
        </p:txBody>
      </p:sp>
      <p:sp>
        <p:nvSpPr>
          <p:cNvPr id="82947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2075" tIns="46038" rIns="92075" bIns="46038" anchor="b" anchorCtr="0"/>
          <a:p>
            <a:pPr eaLnBrk="1" hangingPunct="1"/>
            <a:r>
              <a:rPr sz="3200" dirty="0"/>
              <a:t>Predictor Error Measures</a:t>
            </a:r>
            <a:endParaRPr dirty="0"/>
          </a:p>
        </p:txBody>
      </p:sp>
      <p:sp>
        <p:nvSpPr>
          <p:cNvPr id="8294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371600"/>
            <a:ext cx="8610600" cy="5105400"/>
          </a:xfrm>
        </p:spPr>
        <p:txBody>
          <a:bodyPr vert="horz" wrap="square" lIns="92075" tIns="46038" rIns="92075" bIns="46038" anchor="t" anchorCtr="0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5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 eaLnBrk="1" hangingPunct="1">
              <a:lnSpc>
                <a:spcPct val="110000"/>
              </a:lnSpc>
            </a:pPr>
            <a:r>
              <a:rPr sz="2000" dirty="0"/>
              <a:t>Measure predictor accuracy: measure how far off the predicted value is from the actual known value</a:t>
            </a:r>
            <a:endParaRPr sz="2000" dirty="0"/>
          </a:p>
          <a:p>
            <a:pPr lvl="0" eaLnBrk="1" hangingPunct="1">
              <a:lnSpc>
                <a:spcPct val="110000"/>
              </a:lnSpc>
            </a:pPr>
            <a:r>
              <a:rPr sz="2000" b="1" dirty="0"/>
              <a:t>Loss function</a:t>
            </a:r>
            <a:r>
              <a:rPr sz="2000" dirty="0"/>
              <a:t>: measures the error betw. y</a:t>
            </a:r>
            <a:r>
              <a:rPr sz="2000" baseline="-25000" dirty="0"/>
              <a:t>i</a:t>
            </a:r>
            <a:r>
              <a:rPr sz="2000" dirty="0"/>
              <a:t> and the predicted value y</a:t>
            </a:r>
            <a:r>
              <a:rPr sz="2000" baseline="-25000" dirty="0"/>
              <a:t>i</a:t>
            </a:r>
            <a:r>
              <a:rPr sz="2000" dirty="0"/>
              <a:t>’</a:t>
            </a:r>
            <a:endParaRPr sz="2000" dirty="0"/>
          </a:p>
          <a:p>
            <a:pPr lvl="1" eaLnBrk="1" hangingPunct="1">
              <a:lnSpc>
                <a:spcPct val="110000"/>
              </a:lnSpc>
            </a:pPr>
            <a:r>
              <a:rPr sz="2000" dirty="0"/>
              <a:t>Absolute error: | y</a:t>
            </a:r>
            <a:r>
              <a:rPr sz="2000" baseline="-25000" dirty="0"/>
              <a:t>i</a:t>
            </a:r>
            <a:r>
              <a:rPr sz="2000" dirty="0"/>
              <a:t> – y</a:t>
            </a:r>
            <a:r>
              <a:rPr sz="2000" baseline="-25000" dirty="0"/>
              <a:t>i</a:t>
            </a:r>
            <a:r>
              <a:rPr sz="2000" dirty="0"/>
              <a:t>’| </a:t>
            </a:r>
            <a:endParaRPr sz="2000" dirty="0"/>
          </a:p>
          <a:p>
            <a:pPr lvl="1" eaLnBrk="1" hangingPunct="1">
              <a:lnSpc>
                <a:spcPct val="110000"/>
              </a:lnSpc>
            </a:pPr>
            <a:r>
              <a:rPr sz="2000" dirty="0"/>
              <a:t>Squared error:  (y</a:t>
            </a:r>
            <a:r>
              <a:rPr sz="2000" baseline="-25000" dirty="0"/>
              <a:t>i</a:t>
            </a:r>
            <a:r>
              <a:rPr sz="2000" dirty="0"/>
              <a:t> – y</a:t>
            </a:r>
            <a:r>
              <a:rPr sz="2000" baseline="-25000" dirty="0"/>
              <a:t>i</a:t>
            </a:r>
            <a:r>
              <a:rPr sz="2000" dirty="0"/>
              <a:t>’)</a:t>
            </a:r>
            <a:r>
              <a:rPr sz="2000" baseline="30000" dirty="0"/>
              <a:t>2</a:t>
            </a:r>
            <a:r>
              <a:rPr sz="2000" dirty="0"/>
              <a:t> </a:t>
            </a:r>
            <a:endParaRPr sz="2000" dirty="0"/>
          </a:p>
          <a:p>
            <a:pPr lvl="0" eaLnBrk="1" hangingPunct="1">
              <a:lnSpc>
                <a:spcPct val="110000"/>
              </a:lnSpc>
            </a:pPr>
            <a:r>
              <a:rPr sz="2000" dirty="0"/>
              <a:t>Test error (generalization error): the average loss over the test set</a:t>
            </a:r>
            <a:endParaRPr sz="2000" dirty="0"/>
          </a:p>
          <a:p>
            <a:pPr lvl="1" eaLnBrk="1" hangingPunct="1">
              <a:lnSpc>
                <a:spcPct val="110000"/>
              </a:lnSpc>
            </a:pPr>
            <a:r>
              <a:rPr sz="2000" dirty="0"/>
              <a:t>Mean absolute error:                  Mean squared error:</a:t>
            </a:r>
            <a:endParaRPr sz="2000" dirty="0"/>
          </a:p>
          <a:p>
            <a:pPr lvl="1" eaLnBrk="1" hangingPunct="1">
              <a:lnSpc>
                <a:spcPct val="110000"/>
              </a:lnSpc>
            </a:pPr>
            <a:endParaRPr sz="2000" dirty="0"/>
          </a:p>
          <a:p>
            <a:pPr lvl="1" eaLnBrk="1" hangingPunct="1">
              <a:lnSpc>
                <a:spcPct val="110000"/>
              </a:lnSpc>
            </a:pPr>
            <a:r>
              <a:rPr sz="2000" dirty="0"/>
              <a:t>Relative absolute error:               Relative squared error:</a:t>
            </a:r>
            <a:endParaRPr sz="2000" dirty="0"/>
          </a:p>
          <a:p>
            <a:pPr lvl="1" eaLnBrk="1" hangingPunct="1">
              <a:lnSpc>
                <a:spcPct val="110000"/>
              </a:lnSpc>
              <a:buNone/>
            </a:pPr>
            <a:endParaRPr sz="20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sz="2000" dirty="0"/>
              <a:t>The mean squared-error exaggerates the presence of outliers</a:t>
            </a:r>
            <a:endParaRPr sz="20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sz="2000" dirty="0"/>
              <a:t>Popularly use (square) root mean-square error, similarly, root relative squared error</a:t>
            </a:r>
            <a:endParaRPr sz="2000" dirty="0"/>
          </a:p>
        </p:txBody>
      </p:sp>
      <p:graphicFrame>
        <p:nvGraphicFramePr>
          <p:cNvPr id="82949" name="Object 4"/>
          <p:cNvGraphicFramePr>
            <a:graphicFrameLocks noChangeAspect="1"/>
          </p:cNvGraphicFramePr>
          <p:nvPr>
            <p:ph sz="quarter" idx="1"/>
          </p:nvPr>
        </p:nvGraphicFramePr>
        <p:xfrm>
          <a:off x="3581400" y="3581400"/>
          <a:ext cx="10302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749300" imgH="609600" progId="Equation.3">
                  <p:embed/>
                </p:oleObj>
              </mc:Choice>
              <mc:Fallback>
                <p:oleObj name="" r:id="rId1" imgW="749300" imgH="609600" progId="Equation.3">
                  <p:embed/>
                  <p:pic>
                    <p:nvPicPr>
                      <p:cNvPr id="0" name="Picture 311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581400" y="3581400"/>
                        <a:ext cx="1030288" cy="838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8"/>
          <p:cNvGraphicFramePr>
            <a:graphicFrameLocks noChangeAspect="1"/>
          </p:cNvGraphicFramePr>
          <p:nvPr/>
        </p:nvGraphicFramePr>
        <p:xfrm>
          <a:off x="7315200" y="3581400"/>
          <a:ext cx="11699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850265" imgH="609600" progId="Equation.3">
                  <p:embed/>
                </p:oleObj>
              </mc:Choice>
              <mc:Fallback>
                <p:oleObj name="" r:id="rId3" imgW="850265" imgH="609600" progId="Equation.3">
                  <p:embed/>
                  <p:pic>
                    <p:nvPicPr>
                      <p:cNvPr id="0" name="Picture 3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15200" y="3581400"/>
                        <a:ext cx="1169988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10"/>
          <p:cNvGraphicFramePr>
            <a:graphicFrameLocks noChangeAspect="1"/>
          </p:cNvGraphicFramePr>
          <p:nvPr>
            <p:ph sz="quarter" idx="1"/>
          </p:nvPr>
        </p:nvGraphicFramePr>
        <p:xfrm>
          <a:off x="3810000" y="4419600"/>
          <a:ext cx="106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749300" imgH="838200" progId="Equation.3">
                  <p:embed/>
                </p:oleObj>
              </mc:Choice>
              <mc:Fallback>
                <p:oleObj name="" r:id="rId5" imgW="749300" imgH="838200" progId="Equation.3">
                  <p:embed/>
                  <p:pic>
                    <p:nvPicPr>
                      <p:cNvPr id="0" name="Picture 3108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3810000" y="4419600"/>
                        <a:ext cx="1066800" cy="9144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12"/>
          <p:cNvGraphicFramePr>
            <a:graphicFrameLocks noChangeAspect="1"/>
          </p:cNvGraphicFramePr>
          <p:nvPr/>
        </p:nvGraphicFramePr>
        <p:xfrm>
          <a:off x="7620000" y="4267200"/>
          <a:ext cx="116998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7" imgW="850900" imgH="838200" progId="Equation.3">
                  <p:embed/>
                </p:oleObj>
              </mc:Choice>
              <mc:Fallback>
                <p:oleObj name="" r:id="rId7" imgW="850900" imgH="838200" progId="Equation.3">
                  <p:embed/>
                  <p:pic>
                    <p:nvPicPr>
                      <p:cNvPr id="0" name="Picture 310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0000" y="4267200"/>
                        <a:ext cx="1169988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Slide Number Placeholder 5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dirty="0">
                <a:latin typeface="Tahoma" panose="020B0604030504040204" pitchFamily="34" charset="0"/>
              </a:rPr>
            </a:fld>
            <a:endParaRPr lang="en-US" sz="1200" dirty="0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Grp="1"/>
          </p:cNvSpPr>
          <p:nvPr>
            <p:ph type="title" idx="4294967295"/>
          </p:nvPr>
        </p:nvSpPr>
        <p:spPr>
          <a:xfrm>
            <a:off x="304800" y="304800"/>
            <a:ext cx="85344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dirty="0"/>
              <a:t>Scalable Decision Tree Induction Methods</a:t>
            </a:r>
            <a:endParaRPr dirty="0"/>
          </a:p>
        </p:txBody>
      </p:sp>
      <p:sp>
        <p:nvSpPr>
          <p:cNvPr id="83972" name="Rectangle 3"/>
          <p:cNvSpPr>
            <a:spLocks noGrp="1"/>
          </p:cNvSpPr>
          <p:nvPr>
            <p:ph type="body" idx="4294967295"/>
          </p:nvPr>
        </p:nvSpPr>
        <p:spPr>
          <a:xfrm>
            <a:off x="381000" y="1371600"/>
            <a:ext cx="8534400" cy="5105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sz="2400" dirty="0">
                <a:solidFill>
                  <a:srgbClr val="FF3300"/>
                </a:solidFill>
              </a:rPr>
              <a:t>SLIQ</a:t>
            </a:r>
            <a:r>
              <a:rPr sz="2400" dirty="0"/>
              <a:t> (EDBT’96 — Mehta et al.)</a:t>
            </a:r>
            <a:endParaRPr sz="2400" dirty="0"/>
          </a:p>
          <a:p>
            <a:pPr lvl="1" eaLnBrk="1" hangingPunct="1"/>
            <a:r>
              <a:rPr sz="2400" dirty="0"/>
              <a:t>Builds an index for each attribute and only class list and the current attribute list reside in memory</a:t>
            </a:r>
            <a:endParaRPr sz="2400" dirty="0"/>
          </a:p>
          <a:p>
            <a:pPr eaLnBrk="1" hangingPunct="1"/>
            <a:r>
              <a:rPr sz="2400" dirty="0">
                <a:solidFill>
                  <a:srgbClr val="FF3300"/>
                </a:solidFill>
              </a:rPr>
              <a:t>SPRINT</a:t>
            </a:r>
            <a:r>
              <a:rPr sz="2400" dirty="0"/>
              <a:t> (VLDB’96 — J. Shafer et al.)</a:t>
            </a:r>
            <a:endParaRPr sz="2400" dirty="0"/>
          </a:p>
          <a:p>
            <a:pPr lvl="1" eaLnBrk="1" hangingPunct="1"/>
            <a:r>
              <a:rPr sz="2400" dirty="0"/>
              <a:t>Constructs an attribute list data structure </a:t>
            </a:r>
            <a:endParaRPr sz="2400" dirty="0"/>
          </a:p>
          <a:p>
            <a:pPr eaLnBrk="1" hangingPunct="1"/>
            <a:r>
              <a:rPr sz="2400" dirty="0">
                <a:solidFill>
                  <a:srgbClr val="FF3300"/>
                </a:solidFill>
              </a:rPr>
              <a:t>PUBLIC</a:t>
            </a:r>
            <a:r>
              <a:rPr sz="2400" dirty="0"/>
              <a:t> (VLDB’98 — Rastogi &amp; Shim)</a:t>
            </a:r>
            <a:endParaRPr sz="2400" dirty="0"/>
          </a:p>
          <a:p>
            <a:pPr lvl="1" eaLnBrk="1" hangingPunct="1"/>
            <a:r>
              <a:rPr sz="2400" dirty="0"/>
              <a:t>Integrates tree splitting and tree pruning: stop growing the tree earlier</a:t>
            </a:r>
            <a:endParaRPr sz="2400" dirty="0"/>
          </a:p>
          <a:p>
            <a:pPr eaLnBrk="1" hangingPunct="1"/>
            <a:r>
              <a:rPr sz="2400" dirty="0">
                <a:solidFill>
                  <a:srgbClr val="FF3300"/>
                </a:solidFill>
              </a:rPr>
              <a:t>RainForest </a:t>
            </a:r>
            <a:r>
              <a:rPr sz="2400" dirty="0"/>
              <a:t>(VLDB’98 — Gehrke, Ramakrishnan &amp; Ganti)</a:t>
            </a:r>
            <a:endParaRPr sz="2400" dirty="0"/>
          </a:p>
          <a:p>
            <a:pPr lvl="1" eaLnBrk="1" hangingPunct="1"/>
            <a:r>
              <a:rPr sz="2400" dirty="0"/>
              <a:t>Builds an AVC-list (attribute, value, class label)</a:t>
            </a:r>
            <a:endParaRPr sz="2400" dirty="0"/>
          </a:p>
          <a:p>
            <a:pPr eaLnBrk="1" hangingPunct="1"/>
            <a:r>
              <a:rPr sz="2400" dirty="0">
                <a:solidFill>
                  <a:schemeClr val="hlink"/>
                </a:solidFill>
              </a:rPr>
              <a:t>BOAT </a:t>
            </a:r>
            <a:r>
              <a:rPr sz="2400" dirty="0"/>
              <a:t>(PODS’99 — Gehrke, Ganti, Ramakrishnan &amp; Loh)</a:t>
            </a:r>
            <a:endParaRPr sz="2400" dirty="0"/>
          </a:p>
          <a:p>
            <a:pPr lvl="1" eaLnBrk="1" hangingPunct="1"/>
            <a:r>
              <a:rPr sz="2400" dirty="0"/>
              <a:t>Uses bootstrapping to create several small samples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Slide Number Placeholder 5"/>
          <p:cNvSpPr txBox="1">
            <a:spLocks noGrp="1"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sz="1200" dirty="0">
                <a:latin typeface="Tahoma" panose="020B0604030504040204" pitchFamily="34" charset="0"/>
              </a:rPr>
            </a:fld>
            <a:endParaRPr lang="en-US" sz="1200" dirty="0">
              <a:latin typeface="Tahoma" panose="020B0604030504040204" pitchFamily="34" charset="0"/>
            </a:endParaRPr>
          </a:p>
        </p:txBody>
      </p:sp>
      <p:sp>
        <p:nvSpPr>
          <p:cNvPr id="84995" name="Rectangle 2"/>
          <p:cNvSpPr>
            <a:spLocks noGrp="1"/>
          </p:cNvSpPr>
          <p:nvPr>
            <p:ph type="title" idx="4294967295"/>
          </p:nvPr>
        </p:nvSpPr>
        <p:spPr>
          <a:xfrm>
            <a:off x="0" y="304800"/>
            <a:ext cx="9144000" cy="782638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dirty="0"/>
              <a:t>Data Cube-Based Decision-Tree Induction</a:t>
            </a:r>
            <a:endParaRPr sz="2400" dirty="0"/>
          </a:p>
        </p:txBody>
      </p:sp>
      <p:sp>
        <p:nvSpPr>
          <p:cNvPr id="84996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1371600"/>
            <a:ext cx="8610600" cy="50292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20000"/>
              </a:lnSpc>
            </a:pPr>
            <a:r>
              <a:rPr sz="2400" dirty="0"/>
              <a:t>Integration of generalization with decision-tree induction (Kamber et al.’97)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/>
              <a:t>Classification at primitive concept levels</a:t>
            </a:r>
            <a:endParaRPr sz="2400" dirty="0"/>
          </a:p>
          <a:p>
            <a:pPr lvl="1" eaLnBrk="1" hangingPunct="1">
              <a:lnSpc>
                <a:spcPct val="120000"/>
              </a:lnSpc>
            </a:pPr>
            <a:r>
              <a:rPr sz="2400" dirty="0"/>
              <a:t>E.g., precise temperature, humidity, outlook, etc.</a:t>
            </a:r>
            <a:endParaRPr sz="2400" dirty="0"/>
          </a:p>
          <a:p>
            <a:pPr lvl="1" eaLnBrk="1" hangingPunct="1">
              <a:lnSpc>
                <a:spcPct val="120000"/>
              </a:lnSpc>
            </a:pPr>
            <a:r>
              <a:rPr sz="2400" dirty="0"/>
              <a:t>Low-level concepts, scattered classes, bushy classification-trees</a:t>
            </a:r>
            <a:endParaRPr sz="2400" dirty="0"/>
          </a:p>
          <a:p>
            <a:pPr lvl="1" eaLnBrk="1" hangingPunct="1">
              <a:lnSpc>
                <a:spcPct val="120000"/>
              </a:lnSpc>
            </a:pPr>
            <a:r>
              <a:rPr sz="2400" dirty="0"/>
              <a:t>Semantic interpretation problems</a:t>
            </a:r>
            <a:endParaRPr sz="2400" dirty="0"/>
          </a:p>
          <a:p>
            <a:pPr eaLnBrk="1" hangingPunct="1">
              <a:lnSpc>
                <a:spcPct val="120000"/>
              </a:lnSpc>
            </a:pPr>
            <a:r>
              <a:rPr sz="2400" dirty="0"/>
              <a:t>Cube-based multi-level classification</a:t>
            </a:r>
            <a:endParaRPr sz="2400" dirty="0"/>
          </a:p>
          <a:p>
            <a:pPr lvl="1" eaLnBrk="1" hangingPunct="1">
              <a:lnSpc>
                <a:spcPct val="120000"/>
              </a:lnSpc>
            </a:pPr>
            <a:r>
              <a:rPr sz="2400" dirty="0"/>
              <a:t>Relevance analysis at multi-levels</a:t>
            </a:r>
            <a:endParaRPr sz="2400" dirty="0"/>
          </a:p>
          <a:p>
            <a:pPr lvl="1" eaLnBrk="1" hangingPunct="1">
              <a:lnSpc>
                <a:spcPct val="120000"/>
              </a:lnSpc>
            </a:pPr>
            <a:r>
              <a:rPr sz="2400" dirty="0"/>
              <a:t>Information-gain analysis with dimension + level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38655</Words>
  <Application>WPS Presentation</Application>
  <PresentationFormat>On-screen Show (4:3)</PresentationFormat>
  <Paragraphs>1348</Paragraphs>
  <Slides>81</Slides>
  <Notes>79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39</vt:i4>
      </vt:variant>
      <vt:variant>
        <vt:lpstr>幻灯片标题</vt:lpstr>
      </vt:variant>
      <vt:variant>
        <vt:i4>81</vt:i4>
      </vt:variant>
    </vt:vector>
  </HeadingPairs>
  <TitlesOfParts>
    <vt:vector size="133" baseType="lpstr">
      <vt:lpstr>Arial</vt:lpstr>
      <vt:lpstr>SimSun</vt:lpstr>
      <vt:lpstr>Wingdings</vt:lpstr>
      <vt:lpstr>Tahoma</vt:lpstr>
      <vt:lpstr>Berlin Sans FB Demi</vt:lpstr>
      <vt:lpstr>Calibri</vt:lpstr>
      <vt:lpstr>Times New Roman</vt:lpstr>
      <vt:lpstr>Microsoft YaHei</vt:lpstr>
      <vt:lpstr>Arial Unicode MS</vt:lpstr>
      <vt:lpstr>Marlett</vt:lpstr>
      <vt:lpstr>Wingdings 2</vt:lpstr>
      <vt:lpstr>Gulim</vt:lpstr>
      <vt:lpstr>Blends</vt:lpstr>
      <vt:lpstr>Excel.Sheet.8</vt:lpstr>
      <vt:lpstr>Equation.3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Excel.Sheet.8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Equation.3</vt:lpstr>
      <vt:lpstr>Equation.3</vt:lpstr>
      <vt:lpstr>Data Mining:   Concepts and Techniques  (3rd ed.)  — Chapter 8 —</vt:lpstr>
      <vt:lpstr>PowerPoint 演示文稿</vt:lpstr>
      <vt:lpstr>Chapter 8. Classification: Basic Concepts</vt:lpstr>
      <vt:lpstr>Supervised vs. Unsupervised Learning</vt:lpstr>
      <vt:lpstr>Prediction Problems: Classification vs. Numeric Prediction</vt:lpstr>
      <vt:lpstr>Classification—A Two-Step Process </vt:lpstr>
      <vt:lpstr>Process (1): Model Construction</vt:lpstr>
      <vt:lpstr>Process (2): Using the Model in Prediction </vt:lpstr>
      <vt:lpstr>Chapter 8. Classification: Basic Concepts</vt:lpstr>
      <vt:lpstr>Decision Tree Induction: An Example</vt:lpstr>
      <vt:lpstr>Algorithm for Decision Tree Induction</vt:lpstr>
      <vt:lpstr>Brief Review of Entropy</vt:lpstr>
      <vt:lpstr>PowerPoint 演示文稿</vt:lpstr>
      <vt:lpstr>Attribute Selection: Information Gain</vt:lpstr>
      <vt:lpstr>Computing Information-Gain for Continuous-Valued Attributes</vt:lpstr>
      <vt:lpstr>Gain Ratio for Attribute Selection (C4.5)</vt:lpstr>
      <vt:lpstr>Gini Index (CART, IBM IntelligentMiner)</vt:lpstr>
      <vt:lpstr>Computation of Gini Index </vt:lpstr>
      <vt:lpstr>Comparing Attribute Selection Measures</vt:lpstr>
      <vt:lpstr>Other Attribute Selection Measures</vt:lpstr>
      <vt:lpstr>Overfitting and Tree Pruning</vt:lpstr>
      <vt:lpstr>Enhancements to Basic Decision Tree Induction</vt:lpstr>
      <vt:lpstr>Classification in Large Databases</vt:lpstr>
      <vt:lpstr>Scalability Framework for RainForest</vt:lpstr>
      <vt:lpstr>Rainforest:  Training Set and Its AVC Sets </vt:lpstr>
      <vt:lpstr>BOAT (Bootstrapped Optimistic Algorithm for Tree Construction)</vt:lpstr>
      <vt:lpstr>Presentation of Classification Results</vt:lpstr>
      <vt:lpstr>Visualization of a Decision Tree in SGI/MineSet 3.0</vt:lpstr>
      <vt:lpstr>Interactive Visual Mining by Perception-Based Classification (PBC)</vt:lpstr>
      <vt:lpstr>Chapter 8. Classification: Basic Concepts</vt:lpstr>
      <vt:lpstr>Bayesian Classification: Why?</vt:lpstr>
      <vt:lpstr>Bayes’ Theorem: Basics</vt:lpstr>
      <vt:lpstr>Prediction Based on Bayes’ Theorem</vt:lpstr>
      <vt:lpstr>Classification Is to Derive the Maximum Posteriori</vt:lpstr>
      <vt:lpstr>Naïve Bayes Classifier </vt:lpstr>
      <vt:lpstr>Naïve Bayes Classifier: Training Dataset</vt:lpstr>
      <vt:lpstr>Naïve Bayes Classifier: An Example</vt:lpstr>
      <vt:lpstr>Avoiding the Zero-Probability Problem</vt:lpstr>
      <vt:lpstr>Naïve Bayes Classifier: Comments</vt:lpstr>
      <vt:lpstr>Chapter 8. Classification: Basic Concepts</vt:lpstr>
      <vt:lpstr>Using IF-THEN Rules for Classification</vt:lpstr>
      <vt:lpstr>Rule Extraction from a Decision Tree</vt:lpstr>
      <vt:lpstr>Rule Induction: Sequential Covering Method </vt:lpstr>
      <vt:lpstr>Sequential Covering Algorithm	</vt:lpstr>
      <vt:lpstr>Rule Generation</vt:lpstr>
      <vt:lpstr>How to Learn-One-Rule?</vt:lpstr>
      <vt:lpstr>Chapter 8. Classification: Basic Concepts</vt:lpstr>
      <vt:lpstr>Model Evaluation and Selection</vt:lpstr>
      <vt:lpstr>Classifier Evaluation Metrics: Confusion Matrix</vt:lpstr>
      <vt:lpstr>Classifier Evaluation Metrics: Accuracy, Error Rate, Sensitivity and Specificity</vt:lpstr>
      <vt:lpstr>Classifier Evaluation Metrics:  Precision and Recall, and F-measures</vt:lpstr>
      <vt:lpstr>Classifier Evaluation Metrics: Example</vt:lpstr>
      <vt:lpstr>Evaluating Classifier Accuracy: Holdout &amp; Cross-Validation Methods</vt:lpstr>
      <vt:lpstr>Evaluating Classifier Accuracy: Bootstrap</vt:lpstr>
      <vt:lpstr>Estimating Confidence Intervals: Classifier Models M1 vs. M2</vt:lpstr>
      <vt:lpstr>Estimating Confidence Intervals: Null Hypothesis</vt:lpstr>
      <vt:lpstr>Estimating Confidence Intervals: t-test</vt:lpstr>
      <vt:lpstr>Estimating Confidence Intervals: Table for t-distribution</vt:lpstr>
      <vt:lpstr>Estimating Confidence Intervals: Statistical Significance</vt:lpstr>
      <vt:lpstr>Model Selection: ROC Curves</vt:lpstr>
      <vt:lpstr>Issues Affecting Model Selection</vt:lpstr>
      <vt:lpstr>Chapter 8. Classification: Basic Concepts</vt:lpstr>
      <vt:lpstr>Ensemble Methods: Increasing the Accuracy</vt:lpstr>
      <vt:lpstr>Bagging: Boostrap Aggregation</vt:lpstr>
      <vt:lpstr>Boosting</vt:lpstr>
      <vt:lpstr>Adaboost (Freund and Schapire, 1997)</vt:lpstr>
      <vt:lpstr>Random Forest (Breiman 2001) </vt:lpstr>
      <vt:lpstr>Classification of Class-Imbalanced Data Sets</vt:lpstr>
      <vt:lpstr>Chapter 8. Classification: Basic Concepts</vt:lpstr>
      <vt:lpstr>Summary (I)</vt:lpstr>
      <vt:lpstr>Summary (II)</vt:lpstr>
      <vt:lpstr>References (1)</vt:lpstr>
      <vt:lpstr>References (2)</vt:lpstr>
      <vt:lpstr>References (3)</vt:lpstr>
      <vt:lpstr>References (4)</vt:lpstr>
      <vt:lpstr>PowerPoint 演示文稿</vt:lpstr>
      <vt:lpstr>CS412 Midterm Exam Statistics</vt:lpstr>
      <vt:lpstr>Issues: Evaluating Classification Methods</vt:lpstr>
      <vt:lpstr>Predictor Error Measures</vt:lpstr>
      <vt:lpstr>Scalable Decision Tree Induction Methods</vt:lpstr>
      <vt:lpstr>Data Cube-Based Decision-Tree Induction</vt:lpstr>
    </vt:vector>
  </TitlesOfParts>
  <Company>S.F.U.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7class</dc:title>
  <dc:creator>Jiawei Han</dc:creator>
  <cp:category>data mining book slides</cp:category>
  <cp:lastModifiedBy>Admin</cp:lastModifiedBy>
  <cp:revision>675</cp:revision>
  <cp:lastPrinted>2012-11-04T04:01:00Z</cp:lastPrinted>
  <dcterms:created xsi:type="dcterms:W3CDTF">1998-06-19T04:38:00Z</dcterms:created>
  <dcterms:modified xsi:type="dcterms:W3CDTF">2023-09-12T05:20:00Z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D8BAEC6D0D3843B294BE5AC459CBF44C</vt:lpwstr>
  </property>
  <property fmtid="{D5CDD505-2E9C-101B-9397-08002B2CF9AE}" pid="3" name="KSOProductBuildVer">
    <vt:lpwstr>1033-12.2.0.13201</vt:lpwstr>
  </property>
</Properties>
</file>