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06"/>
  </p:handoutMasterIdLst>
  <p:sldIdLst>
    <p:sldId id="1303" r:id="rId3"/>
    <p:sldId id="1419" r:id="rId5"/>
    <p:sldId id="1111" r:id="rId6"/>
    <p:sldId id="1005" r:id="rId7"/>
    <p:sldId id="1004" r:id="rId8"/>
    <p:sldId id="1001" r:id="rId9"/>
    <p:sldId id="1203" r:id="rId10"/>
    <p:sldId id="1344" r:id="rId11"/>
    <p:sldId id="1343" r:id="rId12"/>
    <p:sldId id="1345" r:id="rId13"/>
    <p:sldId id="1346" r:id="rId14"/>
    <p:sldId id="1418" r:id="rId15"/>
    <p:sldId id="1187" r:id="rId16"/>
    <p:sldId id="1023" r:id="rId17"/>
    <p:sldId id="1134" r:id="rId18"/>
    <p:sldId id="1025" r:id="rId19"/>
    <p:sldId id="1026" r:id="rId20"/>
    <p:sldId id="1173" r:id="rId21"/>
    <p:sldId id="1386" r:id="rId22"/>
    <p:sldId id="1027" r:id="rId23"/>
    <p:sldId id="1417" r:id="rId24"/>
    <p:sldId id="1035" r:id="rId25"/>
    <p:sldId id="1036" r:id="rId26"/>
    <p:sldId id="1037" r:id="rId27"/>
    <p:sldId id="1038" r:id="rId28"/>
    <p:sldId id="1381" r:id="rId29"/>
    <p:sldId id="1382" r:id="rId30"/>
    <p:sldId id="1039" r:id="rId31"/>
    <p:sldId id="1040" r:id="rId32"/>
    <p:sldId id="1041" r:id="rId33"/>
    <p:sldId id="1142" r:id="rId34"/>
    <p:sldId id="1042" r:id="rId35"/>
    <p:sldId id="1300" r:id="rId36"/>
    <p:sldId id="1051" r:id="rId37"/>
    <p:sldId id="1052" r:id="rId38"/>
    <p:sldId id="1191" r:id="rId39"/>
    <p:sldId id="1383" r:id="rId40"/>
    <p:sldId id="1384" r:id="rId41"/>
    <p:sldId id="1385" r:id="rId42"/>
    <p:sldId id="1416" r:id="rId43"/>
    <p:sldId id="1053" r:id="rId44"/>
    <p:sldId id="1056" r:id="rId45"/>
    <p:sldId id="1057" r:id="rId46"/>
    <p:sldId id="1054" r:id="rId47"/>
    <p:sldId id="1059" r:id="rId48"/>
    <p:sldId id="1189" r:id="rId49"/>
    <p:sldId id="1060" r:id="rId50"/>
    <p:sldId id="1061" r:id="rId51"/>
    <p:sldId id="1062" r:id="rId52"/>
    <p:sldId id="1174" r:id="rId53"/>
    <p:sldId id="1063" r:id="rId54"/>
    <p:sldId id="1064" r:id="rId55"/>
    <p:sldId id="1066" r:id="rId56"/>
    <p:sldId id="1067" r:id="rId57"/>
    <p:sldId id="1415" r:id="rId58"/>
    <p:sldId id="1068" r:id="rId59"/>
    <p:sldId id="1069" r:id="rId60"/>
    <p:sldId id="1115" r:id="rId61"/>
    <p:sldId id="1116" r:id="rId62"/>
    <p:sldId id="1390" r:id="rId63"/>
    <p:sldId id="1391" r:id="rId64"/>
    <p:sldId id="1392" r:id="rId65"/>
    <p:sldId id="1393" r:id="rId66"/>
    <p:sldId id="1413" r:id="rId67"/>
    <p:sldId id="1400" r:id="rId68"/>
    <p:sldId id="1401" r:id="rId69"/>
    <p:sldId id="1402" r:id="rId70"/>
    <p:sldId id="1403" r:id="rId71"/>
    <p:sldId id="1412" r:id="rId72"/>
    <p:sldId id="993" r:id="rId73"/>
    <p:sldId id="1420" r:id="rId74"/>
    <p:sldId id="1099" r:id="rId75"/>
    <p:sldId id="1100" r:id="rId76"/>
    <p:sldId id="1242" r:id="rId77"/>
    <p:sldId id="1356" r:id="rId78"/>
    <p:sldId id="1350" r:id="rId79"/>
    <p:sldId id="1351" r:id="rId80"/>
    <p:sldId id="1352" r:id="rId81"/>
    <p:sldId id="1353" r:id="rId82"/>
    <p:sldId id="1354" r:id="rId83"/>
    <p:sldId id="1355" r:id="rId84"/>
    <p:sldId id="1357" r:id="rId85"/>
    <p:sldId id="1358" r:id="rId86"/>
    <p:sldId id="1359" r:id="rId87"/>
    <p:sldId id="1360" r:id="rId88"/>
    <p:sldId id="1361" r:id="rId89"/>
    <p:sldId id="1362" r:id="rId90"/>
    <p:sldId id="1369" r:id="rId91"/>
    <p:sldId id="1370" r:id="rId92"/>
    <p:sldId id="1371" r:id="rId93"/>
    <p:sldId id="1372" r:id="rId94"/>
    <p:sldId id="1373" r:id="rId95"/>
    <p:sldId id="1374" r:id="rId96"/>
    <p:sldId id="1375" r:id="rId97"/>
    <p:sldId id="1376" r:id="rId98"/>
    <p:sldId id="1377" r:id="rId99"/>
    <p:sldId id="1378" r:id="rId100"/>
    <p:sldId id="1379" r:id="rId101"/>
    <p:sldId id="1380" r:id="rId102"/>
    <p:sldId id="1387" r:id="rId103"/>
    <p:sldId id="1388" r:id="rId104"/>
    <p:sldId id="1389" r:id="rId105"/>
  </p:sldIdLst>
  <p:sldSz cx="9144000" cy="6858000" type="screen4x3"/>
  <p:notesSz cx="7010400" cy="9296400"/>
  <p:defaultTextStyle>
    <a:defPPr>
      <a:defRPr lang="en-US"/>
    </a:defPPr>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vl6pPr marL="2286000" lvl="5"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6pPr>
    <a:lvl7pPr marL="2743200" lvl="6"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7pPr>
    <a:lvl8pPr marL="3200400" lvl="7"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8pPr>
    <a:lvl9pPr marL="3657600" lvl="8"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6E6EA"/>
    <a:srgbClr val="FAE2F6"/>
    <a:srgbClr val="170981"/>
    <a:srgbClr val="121328"/>
    <a:srgbClr val="D7FDF9"/>
    <a:srgbClr val="003366"/>
    <a:srgbClr val="00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440"/>
    <p:restoredTop sz="91952"/>
  </p:normalViewPr>
  <p:slideViewPr>
    <p:cSldViewPr showGuides="1">
      <p:cViewPr>
        <p:scale>
          <a:sx n="100" d="100"/>
          <a:sy n="100" d="100"/>
        </p:scale>
        <p:origin x="-1368" y="-168"/>
      </p:cViewPr>
      <p:guideLst>
        <p:guide orient="horz" pos="2160"/>
        <p:guide pos="2880"/>
      </p:guideLst>
    </p:cSldViewPr>
  </p:slideViewPr>
  <p:outlineViewPr>
    <p:cViewPr>
      <p:scale>
        <a:sx n="33" d="100"/>
        <a:sy n="33" d="100"/>
      </p:scale>
      <p:origin x="0" y="1524"/>
    </p:cViewPr>
  </p:outlineViewPr>
  <p:notesTextViewPr>
    <p:cViewPr>
      <p:scale>
        <a:sx n="100" d="100"/>
        <a:sy n="100" d="100"/>
      </p:scale>
      <p:origin x="0" y="0"/>
    </p:cViewPr>
  </p:notesTextViewPr>
  <p:sorterViewPr showFormatting="0">
    <p:cViewPr>
      <p:scale>
        <a:sx n="75" d="100"/>
        <a:sy n="75" d="100"/>
      </p:scale>
      <p:origin x="0" y="0"/>
    </p:cViewPr>
  </p:sorter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9" Type="http://schemas.openxmlformats.org/officeDocument/2006/relationships/tableStyles" Target="tableStyles.xml"/><Relationship Id="rId108" Type="http://schemas.openxmlformats.org/officeDocument/2006/relationships/viewProps" Target="viewProps.xml"/><Relationship Id="rId107" Type="http://schemas.openxmlformats.org/officeDocument/2006/relationships/presProps" Target="presProps.xml"/><Relationship Id="rId106" Type="http://schemas.openxmlformats.org/officeDocument/2006/relationships/handoutMaster" Target="handoutMasters/handoutMaster1.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5" Type="http://schemas.openxmlformats.org/officeDocument/2006/relationships/image" Target="../media/image6.emf"/><Relationship Id="rId4" Type="http://schemas.openxmlformats.org/officeDocument/2006/relationships/image" Target="../media/image5.emf"/><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5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23906" name="Rectangle 2"/>
          <p:cNvSpPr>
            <a:spLocks noGrp="1" noChangeArrowheads="1"/>
          </p:cNvSpPr>
          <p:nvPr>
            <p:ph type="hdr" sz="quarter"/>
          </p:nvPr>
        </p:nvSpPr>
        <p:spPr bwMode="auto">
          <a:xfrm>
            <a:off x="0" y="0"/>
            <a:ext cx="3038475" cy="465138"/>
          </a:xfrm>
          <a:prstGeom prst="rect">
            <a:avLst/>
          </a:prstGeom>
          <a:noFill/>
          <a:ln w="9525">
            <a:noFill/>
            <a:miter lim="800000"/>
          </a:ln>
          <a:effectLst/>
        </p:spPr>
        <p:txBody>
          <a:bodyPr vert="horz" wrap="square" lIns="92833" tIns="46417" rIns="92833" bIns="46417" numCol="1" anchor="t" anchorCtr="0" compatLnSpc="1"/>
          <a:lstStyle>
            <a:lvl1pPr algn="l" defTabSz="929005" eaLnBrk="0" hangingPunct="0">
              <a:defRPr sz="1200">
                <a:latin typeface="Times New Roman" panose="02020603050405020304" pitchFamily="18" charset="0"/>
              </a:defRPr>
            </a:lvl1pPr>
          </a:lstStyle>
          <a:p>
            <a:pPr marL="0" marR="0" lvl="0" indent="0" algn="l" defTabSz="92900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23907" name="Rectangle 3"/>
          <p:cNvSpPr>
            <a:spLocks noGrp="1" noChangeArrowheads="1"/>
          </p:cNvSpPr>
          <p:nvPr>
            <p:ph type="dt" sz="quarter" idx="1"/>
          </p:nvPr>
        </p:nvSpPr>
        <p:spPr bwMode="auto">
          <a:xfrm>
            <a:off x="3971925" y="0"/>
            <a:ext cx="3038475" cy="465138"/>
          </a:xfrm>
          <a:prstGeom prst="rect">
            <a:avLst/>
          </a:prstGeom>
          <a:noFill/>
          <a:ln w="9525">
            <a:noFill/>
            <a:miter lim="800000"/>
          </a:ln>
          <a:effectLst/>
        </p:spPr>
        <p:txBody>
          <a:bodyPr vert="horz" wrap="square" lIns="92833" tIns="46417" rIns="92833" bIns="46417" numCol="1" anchor="t" anchorCtr="0" compatLnSpc="1"/>
          <a:lstStyle>
            <a:lvl1pPr algn="r" defTabSz="929005" eaLnBrk="0" hangingPunct="0">
              <a:defRPr sz="1200">
                <a:latin typeface="Times New Roman" panose="02020603050405020304" pitchFamily="18" charset="0"/>
              </a:defRPr>
            </a:lvl1pPr>
          </a:lstStyle>
          <a:p>
            <a:pPr marL="0" marR="0" lvl="0" indent="0" algn="r" defTabSz="92900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23908" name="Rectangle 4"/>
          <p:cNvSpPr>
            <a:spLocks noGrp="1" noChangeArrowheads="1"/>
          </p:cNvSpPr>
          <p:nvPr>
            <p:ph type="ftr" sz="quarter" idx="2"/>
          </p:nvPr>
        </p:nvSpPr>
        <p:spPr bwMode="auto">
          <a:xfrm>
            <a:off x="0" y="8831263"/>
            <a:ext cx="3038475" cy="465138"/>
          </a:xfrm>
          <a:prstGeom prst="rect">
            <a:avLst/>
          </a:prstGeom>
          <a:noFill/>
          <a:ln w="9525">
            <a:noFill/>
            <a:miter lim="800000"/>
          </a:ln>
          <a:effectLst/>
        </p:spPr>
        <p:txBody>
          <a:bodyPr vert="horz" wrap="square" lIns="92833" tIns="46417" rIns="92833" bIns="46417" numCol="1" anchor="b" anchorCtr="0" compatLnSpc="1"/>
          <a:lstStyle>
            <a:lvl1pPr algn="l" defTabSz="929005" eaLnBrk="0" hangingPunct="0">
              <a:defRPr sz="1200">
                <a:latin typeface="Times New Roman" panose="02020603050405020304" pitchFamily="18" charset="0"/>
              </a:defRPr>
            </a:lvl1pPr>
          </a:lstStyle>
          <a:p>
            <a:pPr marL="0" marR="0" lvl="0" indent="0" algn="l" defTabSz="92900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23909" name="Rectangle 5"/>
          <p:cNvSpPr>
            <a:spLocks noGrp="1" noChangeArrowheads="1"/>
          </p:cNvSpPr>
          <p:nvPr>
            <p:ph type="sldNum" sz="quarter" idx="3"/>
          </p:nvPr>
        </p:nvSpPr>
        <p:spPr bwMode="auto">
          <a:xfrm>
            <a:off x="3971925" y="8831263"/>
            <a:ext cx="3038475" cy="465138"/>
          </a:xfrm>
          <a:prstGeom prst="rect">
            <a:avLst/>
          </a:prstGeom>
          <a:noFill/>
          <a:ln w="9525">
            <a:noFill/>
            <a:miter lim="800000"/>
          </a:ln>
          <a:effectLst/>
        </p:spPr>
        <p:txBody>
          <a:bodyPr vert="horz" wrap="square" lIns="92833" tIns="46417" rIns="92833" bIns="46417" numCol="1" anchor="b" anchorCtr="0" compatLnSpc="1"/>
          <a:p>
            <a:pPr lvl="0" algn="r" defTabSz="929005">
              <a:buNone/>
            </a:pPr>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3314" name="Rectangle 2"/>
          <p:cNvSpPr>
            <a:spLocks noGrp="1" noChangeArrowheads="1"/>
          </p:cNvSpPr>
          <p:nvPr>
            <p:ph type="hdr" sz="quarter"/>
          </p:nvPr>
        </p:nvSpPr>
        <p:spPr bwMode="auto">
          <a:xfrm>
            <a:off x="0" y="0"/>
            <a:ext cx="3038475" cy="465138"/>
          </a:xfrm>
          <a:prstGeom prst="rect">
            <a:avLst/>
          </a:prstGeom>
          <a:noFill/>
          <a:ln w="9525">
            <a:noFill/>
            <a:miter lim="800000"/>
          </a:ln>
          <a:effectLst/>
        </p:spPr>
        <p:txBody>
          <a:bodyPr vert="horz" wrap="square" lIns="92833" tIns="46417" rIns="92833" bIns="46417" numCol="1" anchor="t" anchorCtr="0" compatLnSpc="1"/>
          <a:lstStyle>
            <a:lvl1pPr algn="l" defTabSz="929005" eaLnBrk="0" hangingPunct="0">
              <a:defRPr sz="1200">
                <a:latin typeface="Times New Roman" panose="02020603050405020304" pitchFamily="18" charset="0"/>
              </a:defRPr>
            </a:lvl1pPr>
          </a:lstStyle>
          <a:p>
            <a:pPr marL="0" marR="0" lvl="0" indent="0" algn="l" defTabSz="92900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3315" name="Rectangle 3"/>
          <p:cNvSpPr>
            <a:spLocks noGrp="1" noChangeArrowheads="1"/>
          </p:cNvSpPr>
          <p:nvPr>
            <p:ph type="dt" idx="1"/>
          </p:nvPr>
        </p:nvSpPr>
        <p:spPr bwMode="auto">
          <a:xfrm>
            <a:off x="3971925" y="0"/>
            <a:ext cx="3038475" cy="465138"/>
          </a:xfrm>
          <a:prstGeom prst="rect">
            <a:avLst/>
          </a:prstGeom>
          <a:noFill/>
          <a:ln w="9525">
            <a:noFill/>
            <a:miter lim="800000"/>
          </a:ln>
          <a:effectLst/>
        </p:spPr>
        <p:txBody>
          <a:bodyPr vert="horz" wrap="square" lIns="92833" tIns="46417" rIns="92833" bIns="46417" numCol="1" anchor="t" anchorCtr="0" compatLnSpc="1"/>
          <a:lstStyle>
            <a:lvl1pPr algn="r" defTabSz="929005" eaLnBrk="0" hangingPunct="0">
              <a:defRPr sz="1200">
                <a:latin typeface="Times New Roman" panose="02020603050405020304" pitchFamily="18" charset="0"/>
              </a:defRPr>
            </a:lvl1pPr>
          </a:lstStyle>
          <a:p>
            <a:pPr marL="0" marR="0" lvl="0" indent="0" algn="r" defTabSz="92900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9572" name="Rectangle 4"/>
          <p:cNvSpPr>
            <a:spLocks noTextEdit="1"/>
          </p:cNvSpPr>
          <p:nvPr>
            <p:ph type="sldImg" idx="2"/>
          </p:nvPr>
        </p:nvSpPr>
        <p:spPr>
          <a:xfrm>
            <a:off x="1182688" y="698500"/>
            <a:ext cx="4645025" cy="3484563"/>
          </a:xfrm>
          <a:prstGeom prst="rect">
            <a:avLst/>
          </a:prstGeom>
          <a:noFill/>
          <a:ln w="9525" cap="flat" cmpd="sng">
            <a:solidFill>
              <a:srgbClr val="000000"/>
            </a:solidFill>
            <a:prstDash val="solid"/>
            <a:miter/>
            <a:headEnd type="none" w="med" len="med"/>
            <a:tailEnd type="none" w="med" len="med"/>
          </a:ln>
        </p:spPr>
      </p:sp>
      <p:sp>
        <p:nvSpPr>
          <p:cNvPr id="13317" name="Rectangle 5"/>
          <p:cNvSpPr>
            <a:spLocks noGrp="1" noChangeArrowheads="1"/>
          </p:cNvSpPr>
          <p:nvPr>
            <p:ph type="body" sz="quarter" idx="3"/>
          </p:nvPr>
        </p:nvSpPr>
        <p:spPr bwMode="auto">
          <a:xfrm>
            <a:off x="935038" y="4416425"/>
            <a:ext cx="5140325" cy="4181475"/>
          </a:xfrm>
          <a:prstGeom prst="rect">
            <a:avLst/>
          </a:prstGeom>
          <a:noFill/>
          <a:ln w="9525">
            <a:noFill/>
            <a:miter lim="800000"/>
          </a:ln>
          <a:effectLst/>
        </p:spPr>
        <p:txBody>
          <a:bodyPr vert="horz" wrap="square" lIns="92833" tIns="46417" rIns="92833" bIns="46417"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Click to edit Master text styles</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Second level</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Third level</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Fourth level</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Fifth level</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p:txBody>
      </p:sp>
      <p:sp>
        <p:nvSpPr>
          <p:cNvPr id="13318" name="Rectangle 6"/>
          <p:cNvSpPr>
            <a:spLocks noGrp="1" noChangeArrowheads="1"/>
          </p:cNvSpPr>
          <p:nvPr>
            <p:ph type="ftr" sz="quarter" idx="4"/>
          </p:nvPr>
        </p:nvSpPr>
        <p:spPr bwMode="auto">
          <a:xfrm>
            <a:off x="0" y="8831263"/>
            <a:ext cx="3038475" cy="465138"/>
          </a:xfrm>
          <a:prstGeom prst="rect">
            <a:avLst/>
          </a:prstGeom>
          <a:noFill/>
          <a:ln w="9525">
            <a:noFill/>
            <a:miter lim="800000"/>
          </a:ln>
          <a:effectLst/>
        </p:spPr>
        <p:txBody>
          <a:bodyPr vert="horz" wrap="square" lIns="92833" tIns="46417" rIns="92833" bIns="46417" numCol="1" anchor="b" anchorCtr="0" compatLnSpc="1"/>
          <a:lstStyle>
            <a:lvl1pPr algn="l" defTabSz="929005" eaLnBrk="0" hangingPunct="0">
              <a:defRPr sz="1200">
                <a:latin typeface="Times New Roman" panose="02020603050405020304" pitchFamily="18" charset="0"/>
              </a:defRPr>
            </a:lvl1pPr>
          </a:lstStyle>
          <a:p>
            <a:pPr marL="0" marR="0" lvl="0" indent="0" algn="l" defTabSz="929005"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3319" name="Rectangle 7"/>
          <p:cNvSpPr>
            <a:spLocks noGrp="1" noChangeArrowheads="1"/>
          </p:cNvSpPr>
          <p:nvPr>
            <p:ph type="sldNum" sz="quarter" idx="5"/>
          </p:nvPr>
        </p:nvSpPr>
        <p:spPr bwMode="auto">
          <a:xfrm>
            <a:off x="3971925" y="8831263"/>
            <a:ext cx="3038475" cy="465138"/>
          </a:xfrm>
          <a:prstGeom prst="rect">
            <a:avLst/>
          </a:prstGeom>
          <a:noFill/>
          <a:ln w="9525">
            <a:noFill/>
            <a:miter lim="800000"/>
          </a:ln>
          <a:effectLst/>
        </p:spPr>
        <p:txBody>
          <a:bodyPr vert="horz" wrap="square" lIns="92833" tIns="46417" rIns="92833" bIns="46417" numCol="1" anchor="b" anchorCtr="0" compatLnSpc="1"/>
          <a:p>
            <a:pPr lvl="0" algn="r" defTabSz="929005">
              <a:buNone/>
            </a:pPr>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7"/>
          <p:cNvSpPr txBox="1">
            <a:spLocks noGrp="1"/>
          </p:cNvSpPr>
          <p:nvPr/>
        </p:nvSpPr>
        <p:spPr>
          <a:xfrm>
            <a:off x="3971925" y="8831263"/>
            <a:ext cx="3038475" cy="465137"/>
          </a:xfrm>
          <a:prstGeom prst="rect">
            <a:avLst/>
          </a:prstGeom>
          <a:noFill/>
          <a:ln w="9525">
            <a:noFill/>
          </a:ln>
        </p:spPr>
        <p:txBody>
          <a:bodyPr lIns="93170" tIns="46586" rIns="93170" bIns="46586" anchor="b" anchorCtr="0"/>
          <a:p>
            <a:pPr lvl="0" algn="r" defTabSz="932180"/>
            <a:fld id="{9A0DB2DC-4C9A-4742-B13C-FB6460FD3503}" type="slidenum">
              <a:rPr lang="zh-CN" altLang="en-US" sz="1200" dirty="0">
                <a:latin typeface="Times New Roman" panose="02020603050405020304" pitchFamily="18" charset="0"/>
                <a:ea typeface="SimSun" panose="02010600030101010101" pitchFamily="2" charset="-122"/>
              </a:rPr>
            </a:fld>
            <a:endParaRPr lang="zh-CN" altLang="en-US" sz="1200" dirty="0">
              <a:latin typeface="Times New Roman" panose="02020603050405020304" pitchFamily="18" charset="0"/>
              <a:ea typeface="SimSun" panose="02010600030101010101" pitchFamily="2" charset="-122"/>
            </a:endParaRPr>
          </a:p>
        </p:txBody>
      </p:sp>
      <p:sp>
        <p:nvSpPr>
          <p:cNvPr id="110595" name="Rectangle 2"/>
          <p:cNvSpPr>
            <a:spLocks noTextEdit="1"/>
          </p:cNvSpPr>
          <p:nvPr>
            <p:ph type="sldImg"/>
          </p:nvPr>
        </p:nvSpPr>
        <p:spPr>
          <a:xfrm>
            <a:off x="1181100" y="696913"/>
            <a:ext cx="4648200" cy="3486150"/>
          </a:xfrm>
        </p:spPr>
      </p:sp>
      <p:sp>
        <p:nvSpPr>
          <p:cNvPr id="110596" name="Rectangle 3"/>
          <p:cNvSpPr>
            <a:spLocks noGrp="1"/>
          </p:cNvSpPr>
          <p:nvPr>
            <p:ph type="body" idx="1"/>
          </p:nvPr>
        </p:nvSpPr>
        <p:spPr>
          <a:xfrm>
            <a:off x="935038" y="4416425"/>
            <a:ext cx="5140325" cy="4183063"/>
          </a:xfrm>
        </p:spPr>
        <p:txBody>
          <a:bodyPr wrap="square" lIns="93170" tIns="46586" rIns="93170" bIns="46586" anchor="t" anchorCtr="0"/>
          <a:p>
            <a:pPr lvl="0"/>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11619" name="Rectangle 2"/>
          <p:cNvSpPr>
            <a:spLocks noTextEdit="1"/>
          </p:cNvSpPr>
          <p:nvPr>
            <p:ph type="sldImg"/>
          </p:nvPr>
        </p:nvSpPr>
        <p:spPr/>
      </p:sp>
      <p:sp>
        <p:nvSpPr>
          <p:cNvPr id="111620"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2"/>
          <p:cNvSpPr>
            <a:spLocks noTextEdit="1"/>
          </p:cNvSpPr>
          <p:nvPr>
            <p:ph type="sldImg"/>
          </p:nvPr>
        </p:nvSpPr>
        <p:spPr/>
      </p:sp>
      <p:sp>
        <p:nvSpPr>
          <p:cNvPr id="117763"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2"/>
          <p:cNvSpPr>
            <a:spLocks noTextEdit="1"/>
          </p:cNvSpPr>
          <p:nvPr>
            <p:ph type="sldImg"/>
          </p:nvPr>
        </p:nvSpPr>
        <p:spPr/>
      </p:sp>
      <p:sp>
        <p:nvSpPr>
          <p:cNvPr id="118787"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21859" name="Rectangle 2"/>
          <p:cNvSpPr>
            <a:spLocks noTextEdit="1"/>
          </p:cNvSpPr>
          <p:nvPr>
            <p:ph type="sldImg"/>
          </p:nvPr>
        </p:nvSpPr>
        <p:spPr/>
      </p:sp>
      <p:sp>
        <p:nvSpPr>
          <p:cNvPr id="121860"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23907" name="Rectangle 2"/>
          <p:cNvSpPr>
            <a:spLocks noTextEdit="1"/>
          </p:cNvSpPr>
          <p:nvPr>
            <p:ph type="sldImg"/>
          </p:nvPr>
        </p:nvSpPr>
        <p:spPr/>
      </p:sp>
      <p:sp>
        <p:nvSpPr>
          <p:cNvPr id="123908"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24931" name="Rectangle 2"/>
          <p:cNvSpPr>
            <a:spLocks noTextEdit="1"/>
          </p:cNvSpPr>
          <p:nvPr>
            <p:ph type="sldImg"/>
          </p:nvPr>
        </p:nvSpPr>
        <p:spPr/>
      </p:sp>
      <p:sp>
        <p:nvSpPr>
          <p:cNvPr id="124932"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25955" name="Rectangle 2"/>
          <p:cNvSpPr>
            <a:spLocks noTextEdit="1"/>
          </p:cNvSpPr>
          <p:nvPr>
            <p:ph type="sldImg"/>
          </p:nvPr>
        </p:nvSpPr>
        <p:spPr/>
      </p:sp>
      <p:sp>
        <p:nvSpPr>
          <p:cNvPr id="125956"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26979" name="Rectangle 2"/>
          <p:cNvSpPr>
            <a:spLocks noTextEdit="1"/>
          </p:cNvSpPr>
          <p:nvPr>
            <p:ph type="sldImg"/>
          </p:nvPr>
        </p:nvSpPr>
        <p:spPr/>
      </p:sp>
      <p:sp>
        <p:nvSpPr>
          <p:cNvPr id="126980"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28003" name="Rectangle 2"/>
          <p:cNvSpPr>
            <a:spLocks noTextEdit="1"/>
          </p:cNvSpPr>
          <p:nvPr>
            <p:ph type="sldImg"/>
          </p:nvPr>
        </p:nvSpPr>
        <p:spPr/>
      </p:sp>
      <p:sp>
        <p:nvSpPr>
          <p:cNvPr id="128004"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29027" name="Rectangle 2"/>
          <p:cNvSpPr>
            <a:spLocks noTextEdit="1"/>
          </p:cNvSpPr>
          <p:nvPr>
            <p:ph type="sldImg"/>
          </p:nvPr>
        </p:nvSpPr>
        <p:spPr/>
      </p:sp>
      <p:sp>
        <p:nvSpPr>
          <p:cNvPr id="129028"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30051" name="Rectangle 2"/>
          <p:cNvSpPr>
            <a:spLocks noTextEdit="1"/>
          </p:cNvSpPr>
          <p:nvPr>
            <p:ph type="sldImg"/>
          </p:nvPr>
        </p:nvSpPr>
        <p:spPr/>
      </p:sp>
      <p:sp>
        <p:nvSpPr>
          <p:cNvPr id="130052"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31075" name="Rectangle 2"/>
          <p:cNvSpPr>
            <a:spLocks noTextEdit="1"/>
          </p:cNvSpPr>
          <p:nvPr>
            <p:ph type="sldImg"/>
          </p:nvPr>
        </p:nvSpPr>
        <p:spPr/>
      </p:sp>
      <p:sp>
        <p:nvSpPr>
          <p:cNvPr id="131076"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32099" name="Rectangle 2"/>
          <p:cNvSpPr>
            <a:spLocks noTextEdit="1"/>
          </p:cNvSpPr>
          <p:nvPr>
            <p:ph type="sldImg"/>
          </p:nvPr>
        </p:nvSpPr>
        <p:spPr/>
      </p:sp>
      <p:sp>
        <p:nvSpPr>
          <p:cNvPr id="132100"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33123" name="Rectangle 2"/>
          <p:cNvSpPr>
            <a:spLocks noTextEdit="1"/>
          </p:cNvSpPr>
          <p:nvPr>
            <p:ph type="sldImg"/>
          </p:nvPr>
        </p:nvSpPr>
        <p:spPr/>
      </p:sp>
      <p:sp>
        <p:nvSpPr>
          <p:cNvPr id="133124"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34147" name="Rectangle 2"/>
          <p:cNvSpPr>
            <a:spLocks noTextEdit="1"/>
          </p:cNvSpPr>
          <p:nvPr>
            <p:ph type="sldImg"/>
          </p:nvPr>
        </p:nvSpPr>
        <p:spPr/>
      </p:sp>
      <p:sp>
        <p:nvSpPr>
          <p:cNvPr id="134148"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35171" name="Rectangle 2"/>
          <p:cNvSpPr>
            <a:spLocks noTextEdit="1"/>
          </p:cNvSpPr>
          <p:nvPr>
            <p:ph type="sldImg"/>
          </p:nvPr>
        </p:nvSpPr>
        <p:spPr/>
      </p:sp>
      <p:sp>
        <p:nvSpPr>
          <p:cNvPr id="135172"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39267" name="Rectangle 2"/>
          <p:cNvSpPr>
            <a:spLocks noTextEdit="1"/>
          </p:cNvSpPr>
          <p:nvPr>
            <p:ph type="sldImg"/>
          </p:nvPr>
        </p:nvSpPr>
        <p:spPr/>
      </p:sp>
      <p:sp>
        <p:nvSpPr>
          <p:cNvPr id="139268"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40291" name="Rectangle 2"/>
          <p:cNvSpPr>
            <a:spLocks noTextEdit="1"/>
          </p:cNvSpPr>
          <p:nvPr>
            <p:ph type="sldImg"/>
          </p:nvPr>
        </p:nvSpPr>
        <p:spPr/>
      </p:sp>
      <p:sp>
        <p:nvSpPr>
          <p:cNvPr id="140292"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41315" name="Rectangle 2"/>
          <p:cNvSpPr>
            <a:spLocks noTextEdit="1"/>
          </p:cNvSpPr>
          <p:nvPr>
            <p:ph type="sldImg"/>
          </p:nvPr>
        </p:nvSpPr>
        <p:spPr/>
      </p:sp>
      <p:sp>
        <p:nvSpPr>
          <p:cNvPr id="141316"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42339" name="Rectangle 2"/>
          <p:cNvSpPr>
            <a:spLocks noTextEdit="1"/>
          </p:cNvSpPr>
          <p:nvPr>
            <p:ph type="sldImg"/>
          </p:nvPr>
        </p:nvSpPr>
        <p:spPr/>
      </p:sp>
      <p:sp>
        <p:nvSpPr>
          <p:cNvPr id="142340"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43363" name="Rectangle 2"/>
          <p:cNvSpPr>
            <a:spLocks noTextEdit="1"/>
          </p:cNvSpPr>
          <p:nvPr>
            <p:ph type="sldImg"/>
          </p:nvPr>
        </p:nvSpPr>
        <p:spPr/>
      </p:sp>
      <p:sp>
        <p:nvSpPr>
          <p:cNvPr id="143364"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45411" name="Rectangle 2"/>
          <p:cNvSpPr>
            <a:spLocks noTextEdit="1"/>
          </p:cNvSpPr>
          <p:nvPr>
            <p:ph type="sldImg"/>
          </p:nvPr>
        </p:nvSpPr>
        <p:spPr/>
      </p:sp>
      <p:sp>
        <p:nvSpPr>
          <p:cNvPr id="145412"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Rectangle 2"/>
          <p:cNvSpPr>
            <a:spLocks noTextEdit="1"/>
          </p:cNvSpPr>
          <p:nvPr>
            <p:ph type="sldImg"/>
          </p:nvPr>
        </p:nvSpPr>
        <p:spPr/>
      </p:sp>
      <p:sp>
        <p:nvSpPr>
          <p:cNvPr id="147459"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2"/>
          <p:cNvSpPr>
            <a:spLocks noTextEdit="1"/>
          </p:cNvSpPr>
          <p:nvPr>
            <p:ph type="sldImg"/>
          </p:nvPr>
        </p:nvSpPr>
        <p:spPr/>
      </p:sp>
      <p:sp>
        <p:nvSpPr>
          <p:cNvPr id="148483"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Rectangle 2"/>
          <p:cNvSpPr>
            <a:spLocks noTextEdit="1"/>
          </p:cNvSpPr>
          <p:nvPr>
            <p:ph type="sldImg"/>
          </p:nvPr>
        </p:nvSpPr>
        <p:spPr/>
      </p:sp>
      <p:sp>
        <p:nvSpPr>
          <p:cNvPr id="149507"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50531" name="Rectangle 2"/>
          <p:cNvSpPr>
            <a:spLocks noTextEdit="1"/>
          </p:cNvSpPr>
          <p:nvPr>
            <p:ph type="sldImg"/>
          </p:nvPr>
        </p:nvSpPr>
        <p:spPr/>
      </p:sp>
      <p:sp>
        <p:nvSpPr>
          <p:cNvPr id="150532"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51555" name="Rectangle 2"/>
          <p:cNvSpPr>
            <a:spLocks noTextEdit="1"/>
          </p:cNvSpPr>
          <p:nvPr>
            <p:ph type="sldImg"/>
          </p:nvPr>
        </p:nvSpPr>
        <p:spPr/>
      </p:sp>
      <p:sp>
        <p:nvSpPr>
          <p:cNvPr id="151556"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52579" name="Rectangle 2"/>
          <p:cNvSpPr>
            <a:spLocks noTextEdit="1"/>
          </p:cNvSpPr>
          <p:nvPr>
            <p:ph type="sldImg"/>
          </p:nvPr>
        </p:nvSpPr>
        <p:spPr/>
      </p:sp>
      <p:sp>
        <p:nvSpPr>
          <p:cNvPr id="152580"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53603" name="Rectangle 2"/>
          <p:cNvSpPr>
            <a:spLocks noTextEdit="1"/>
          </p:cNvSpPr>
          <p:nvPr>
            <p:ph type="sldImg"/>
          </p:nvPr>
        </p:nvSpPr>
        <p:spPr/>
      </p:sp>
      <p:sp>
        <p:nvSpPr>
          <p:cNvPr id="153604"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54627" name="Rectangle 2"/>
          <p:cNvSpPr>
            <a:spLocks noTextEdit="1"/>
          </p:cNvSpPr>
          <p:nvPr>
            <p:ph type="sldImg"/>
          </p:nvPr>
        </p:nvSpPr>
        <p:spPr/>
      </p:sp>
      <p:sp>
        <p:nvSpPr>
          <p:cNvPr id="154628"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55651" name="Rectangle 2"/>
          <p:cNvSpPr>
            <a:spLocks noTextEdit="1"/>
          </p:cNvSpPr>
          <p:nvPr>
            <p:ph type="sldImg"/>
          </p:nvPr>
        </p:nvSpPr>
        <p:spPr/>
      </p:sp>
      <p:sp>
        <p:nvSpPr>
          <p:cNvPr id="155652"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56675" name="Rectangle 2"/>
          <p:cNvSpPr>
            <a:spLocks noTextEdit="1"/>
          </p:cNvSpPr>
          <p:nvPr>
            <p:ph type="sldImg"/>
          </p:nvPr>
        </p:nvSpPr>
        <p:spPr/>
      </p:sp>
      <p:sp>
        <p:nvSpPr>
          <p:cNvPr id="156676"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57699" name="Rectangle 2"/>
          <p:cNvSpPr>
            <a:spLocks noTextEdit="1"/>
          </p:cNvSpPr>
          <p:nvPr>
            <p:ph type="sldImg"/>
          </p:nvPr>
        </p:nvSpPr>
        <p:spPr/>
      </p:sp>
      <p:sp>
        <p:nvSpPr>
          <p:cNvPr id="157700"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58723" name="Rectangle 2"/>
          <p:cNvSpPr>
            <a:spLocks noTextEdit="1"/>
          </p:cNvSpPr>
          <p:nvPr>
            <p:ph type="sldImg"/>
          </p:nvPr>
        </p:nvSpPr>
        <p:spPr/>
      </p:sp>
      <p:sp>
        <p:nvSpPr>
          <p:cNvPr id="158724"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59747" name="Rectangle 2"/>
          <p:cNvSpPr>
            <a:spLocks noTextEdit="1"/>
          </p:cNvSpPr>
          <p:nvPr>
            <p:ph type="sldImg"/>
          </p:nvPr>
        </p:nvSpPr>
        <p:spPr/>
      </p:sp>
      <p:sp>
        <p:nvSpPr>
          <p:cNvPr id="159748"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60771" name="Rectangle 2"/>
          <p:cNvSpPr>
            <a:spLocks noTextEdit="1"/>
          </p:cNvSpPr>
          <p:nvPr>
            <p:ph type="sldImg"/>
          </p:nvPr>
        </p:nvSpPr>
        <p:spPr/>
      </p:sp>
      <p:sp>
        <p:nvSpPr>
          <p:cNvPr id="160772"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61795" name="Rectangle 2"/>
          <p:cNvSpPr>
            <a:spLocks noTextEdit="1"/>
          </p:cNvSpPr>
          <p:nvPr>
            <p:ph type="sldImg"/>
          </p:nvPr>
        </p:nvSpPr>
        <p:spPr/>
      </p:sp>
      <p:sp>
        <p:nvSpPr>
          <p:cNvPr id="161796"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62819" name="Rectangle 2"/>
          <p:cNvSpPr>
            <a:spLocks noTextEdit="1"/>
          </p:cNvSpPr>
          <p:nvPr>
            <p:ph type="sldImg"/>
          </p:nvPr>
        </p:nvSpPr>
        <p:spPr/>
      </p:sp>
      <p:sp>
        <p:nvSpPr>
          <p:cNvPr id="162820"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63843" name="Rectangle 2"/>
          <p:cNvSpPr>
            <a:spLocks noTextEdit="1"/>
          </p:cNvSpPr>
          <p:nvPr>
            <p:ph type="sldImg"/>
          </p:nvPr>
        </p:nvSpPr>
        <p:spPr/>
      </p:sp>
      <p:sp>
        <p:nvSpPr>
          <p:cNvPr id="163844"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64867" name="Rectangle 2"/>
          <p:cNvSpPr>
            <a:spLocks noTextEdit="1"/>
          </p:cNvSpPr>
          <p:nvPr>
            <p:ph type="sldImg"/>
          </p:nvPr>
        </p:nvSpPr>
        <p:spPr/>
      </p:sp>
      <p:sp>
        <p:nvSpPr>
          <p:cNvPr id="164868"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65891" name="Rectangle 2"/>
          <p:cNvSpPr>
            <a:spLocks noTextEdit="1"/>
          </p:cNvSpPr>
          <p:nvPr>
            <p:ph type="sldImg"/>
          </p:nvPr>
        </p:nvSpPr>
        <p:spPr/>
      </p:sp>
      <p:sp>
        <p:nvSpPr>
          <p:cNvPr id="165892"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66915" name="Rectangle 2"/>
          <p:cNvSpPr>
            <a:spLocks noTextEdit="1"/>
          </p:cNvSpPr>
          <p:nvPr>
            <p:ph type="sldImg"/>
          </p:nvPr>
        </p:nvSpPr>
        <p:spPr/>
      </p:sp>
      <p:sp>
        <p:nvSpPr>
          <p:cNvPr id="166916"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67939" name="Rectangle 2"/>
          <p:cNvSpPr>
            <a:spLocks noTextEdit="1"/>
          </p:cNvSpPr>
          <p:nvPr>
            <p:ph type="sldImg"/>
          </p:nvPr>
        </p:nvSpPr>
        <p:spPr/>
      </p:sp>
      <p:sp>
        <p:nvSpPr>
          <p:cNvPr id="167940"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68963" name="Rectangle 2"/>
          <p:cNvSpPr>
            <a:spLocks noTextEdit="1"/>
          </p:cNvSpPr>
          <p:nvPr>
            <p:ph type="sldImg"/>
          </p:nvPr>
        </p:nvSpPr>
        <p:spPr/>
      </p:sp>
      <p:sp>
        <p:nvSpPr>
          <p:cNvPr id="168964"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69987" name="Rectangle 2"/>
          <p:cNvSpPr>
            <a:spLocks noTextEdit="1"/>
          </p:cNvSpPr>
          <p:nvPr>
            <p:ph type="sldImg"/>
          </p:nvPr>
        </p:nvSpPr>
        <p:spPr/>
      </p:sp>
      <p:sp>
        <p:nvSpPr>
          <p:cNvPr id="169988"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71011" name="Rectangle 2"/>
          <p:cNvSpPr>
            <a:spLocks noTextEdit="1"/>
          </p:cNvSpPr>
          <p:nvPr>
            <p:ph type="sldImg"/>
          </p:nvPr>
        </p:nvSpPr>
        <p:spPr>
          <a:xfrm>
            <a:off x="1181100" y="696913"/>
            <a:ext cx="4648200" cy="3486150"/>
          </a:xfrm>
        </p:spPr>
      </p:sp>
      <p:sp>
        <p:nvSpPr>
          <p:cNvPr id="171012" name="Rectangle 3"/>
          <p:cNvSpPr>
            <a:spLocks noGrp="1"/>
          </p:cNvSpPr>
          <p:nvPr>
            <p:ph type="body" idx="1"/>
          </p:nvPr>
        </p:nvSpPr>
        <p:spPr>
          <a:xfrm>
            <a:off x="935038" y="4416425"/>
            <a:ext cx="5140325" cy="4183063"/>
          </a:xfrm>
        </p:spPr>
        <p:txBody>
          <a:bodyPr wrap="square" lIns="92823" tIns="46412" rIns="92823" bIns="46412" anchor="t" anchorCtr="0"/>
          <a:p>
            <a:pPr lvl="0"/>
            <a:endParaRPr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72035" name="Rectangle 2"/>
          <p:cNvSpPr>
            <a:spLocks noTextEdit="1"/>
          </p:cNvSpPr>
          <p:nvPr>
            <p:ph type="sldImg"/>
          </p:nvPr>
        </p:nvSpPr>
        <p:spPr>
          <a:xfrm>
            <a:off x="1181100" y="696913"/>
            <a:ext cx="4648200" cy="3486150"/>
          </a:xfrm>
        </p:spPr>
      </p:sp>
      <p:sp>
        <p:nvSpPr>
          <p:cNvPr id="172036" name="Rectangle 3"/>
          <p:cNvSpPr>
            <a:spLocks noGrp="1"/>
          </p:cNvSpPr>
          <p:nvPr>
            <p:ph type="body" idx="1"/>
          </p:nvPr>
        </p:nvSpPr>
        <p:spPr>
          <a:xfrm>
            <a:off x="935038" y="4416425"/>
            <a:ext cx="5140325" cy="4183063"/>
          </a:xfrm>
        </p:spPr>
        <p:txBody>
          <a:bodyPr wrap="square" lIns="92823" tIns="46412" rIns="92823" bIns="46412" anchor="t" anchorCtr="0"/>
          <a:p>
            <a:pPr lvl="0"/>
            <a:endParaRPr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73059" name="Rectangle 2"/>
          <p:cNvSpPr>
            <a:spLocks noTextEdit="1"/>
          </p:cNvSpPr>
          <p:nvPr>
            <p:ph type="sldImg"/>
          </p:nvPr>
        </p:nvSpPr>
        <p:spPr/>
      </p:sp>
      <p:sp>
        <p:nvSpPr>
          <p:cNvPr id="173060"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74083" name="Rectangle 2"/>
          <p:cNvSpPr>
            <a:spLocks noTextEdit="1"/>
          </p:cNvSpPr>
          <p:nvPr>
            <p:ph type="sldImg"/>
          </p:nvPr>
        </p:nvSpPr>
        <p:spPr/>
      </p:sp>
      <p:sp>
        <p:nvSpPr>
          <p:cNvPr id="174084"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75107" name="Rectangle 2"/>
          <p:cNvSpPr>
            <a:spLocks noTextEdit="1"/>
          </p:cNvSpPr>
          <p:nvPr>
            <p:ph type="sldImg"/>
          </p:nvPr>
        </p:nvSpPr>
        <p:spPr/>
      </p:sp>
      <p:sp>
        <p:nvSpPr>
          <p:cNvPr id="175108"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Rectangle 2"/>
          <p:cNvSpPr>
            <a:spLocks noTextEdit="1"/>
          </p:cNvSpPr>
          <p:nvPr>
            <p:ph type="sldImg"/>
          </p:nvPr>
        </p:nvSpPr>
        <p:spPr/>
      </p:sp>
      <p:sp>
        <p:nvSpPr>
          <p:cNvPr id="176131"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Rectangle 2"/>
          <p:cNvSpPr>
            <a:spLocks noTextEdit="1"/>
          </p:cNvSpPr>
          <p:nvPr>
            <p:ph type="sldImg"/>
          </p:nvPr>
        </p:nvSpPr>
        <p:spPr/>
      </p:sp>
      <p:sp>
        <p:nvSpPr>
          <p:cNvPr id="177155"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Rectangle 2"/>
          <p:cNvSpPr>
            <a:spLocks noTextEdit="1"/>
          </p:cNvSpPr>
          <p:nvPr>
            <p:ph type="sldImg"/>
          </p:nvPr>
        </p:nvSpPr>
        <p:spPr/>
      </p:sp>
      <p:sp>
        <p:nvSpPr>
          <p:cNvPr id="178179"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Rectangle 2"/>
          <p:cNvSpPr>
            <a:spLocks noTextEdit="1"/>
          </p:cNvSpPr>
          <p:nvPr>
            <p:ph type="sldImg"/>
          </p:nvPr>
        </p:nvSpPr>
        <p:spPr/>
      </p:sp>
      <p:sp>
        <p:nvSpPr>
          <p:cNvPr id="179203"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80227" name="Rectangle 2"/>
          <p:cNvSpPr>
            <a:spLocks noTextEdit="1"/>
          </p:cNvSpPr>
          <p:nvPr>
            <p:ph type="sldImg"/>
          </p:nvPr>
        </p:nvSpPr>
        <p:spPr/>
      </p:sp>
      <p:sp>
        <p:nvSpPr>
          <p:cNvPr id="180228"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Slide Image Placeholder 1"/>
          <p:cNvSpPr>
            <a:spLocks noGrp="1" noRot="1" noChangeAspect="1" noTextEdit="1"/>
          </p:cNvSpPr>
          <p:nvPr>
            <p:ph type="sldImg"/>
          </p:nvPr>
        </p:nvSpPr>
        <p:spPr/>
      </p:sp>
      <p:sp>
        <p:nvSpPr>
          <p:cNvPr id="181251" name="Notes Placeholder 2"/>
          <p:cNvSpPr>
            <a:spLocks noGrp="1"/>
          </p:cNvSpPr>
          <p:nvPr>
            <p:ph type="body" idx="1"/>
          </p:nvPr>
        </p:nvSpPr>
        <p:spPr/>
        <p:txBody>
          <a:bodyPr wrap="square" lIns="92833" tIns="46417" rIns="92833" bIns="46417" anchor="t" anchorCtr="0"/>
          <a:p>
            <a:pPr lvl="0"/>
            <a:endParaRPr dirty="0"/>
          </a:p>
        </p:txBody>
      </p:sp>
      <p:sp>
        <p:nvSpPr>
          <p:cNvPr id="181252" name="Slide Number Placeholder 3"/>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Rectangle 7"/>
          <p:cNvSpPr txBox="1">
            <a:spLocks noGrp="1"/>
          </p:cNvSpPr>
          <p:nvPr/>
        </p:nvSpPr>
        <p:spPr>
          <a:xfrm>
            <a:off x="3971925" y="8831263"/>
            <a:ext cx="3038475" cy="465137"/>
          </a:xfrm>
          <a:prstGeom prst="rect">
            <a:avLst/>
          </a:prstGeom>
          <a:noFill/>
          <a:ln w="9525">
            <a:noFill/>
          </a:ln>
        </p:spPr>
        <p:txBody>
          <a:bodyPr lIns="93170" tIns="46586" rIns="93170" bIns="46586" anchor="b" anchorCtr="0"/>
          <a:p>
            <a:pPr lvl="0" algn="r" defTabSz="932180" eaLnBrk="1" hangingPunct="1"/>
            <a:fld id="{9A0DB2DC-4C9A-4742-B13C-FB6460FD3503}" type="slidenum">
              <a:rPr lang="en-US" sz="1200" dirty="0"/>
            </a:fld>
            <a:endParaRPr lang="en-US" sz="1200" dirty="0"/>
          </a:p>
        </p:txBody>
      </p:sp>
      <p:sp>
        <p:nvSpPr>
          <p:cNvPr id="182275" name="Rectangle 7"/>
          <p:cNvSpPr txBox="1">
            <a:spLocks noGrp="1"/>
          </p:cNvSpPr>
          <p:nvPr/>
        </p:nvSpPr>
        <p:spPr>
          <a:xfrm>
            <a:off x="3971925" y="8831263"/>
            <a:ext cx="3038475" cy="465137"/>
          </a:xfrm>
          <a:prstGeom prst="rect">
            <a:avLst/>
          </a:prstGeom>
          <a:noFill/>
          <a:ln w="9525">
            <a:noFill/>
          </a:ln>
        </p:spPr>
        <p:txBody>
          <a:bodyPr lIns="93170" tIns="46586" rIns="93170" bIns="46586" anchor="b" anchorCtr="0"/>
          <a:p>
            <a:pPr lvl="0" algn="r" defTabSz="932180" eaLnBrk="1" hangingPunct="1"/>
            <a:fld id="{9A0DB2DC-4C9A-4742-B13C-FB6460FD3503}" type="slidenum">
              <a:rPr lang="en-US" sz="1200" dirty="0"/>
            </a:fld>
            <a:endParaRPr lang="en-US" sz="1200" dirty="0"/>
          </a:p>
        </p:txBody>
      </p:sp>
      <p:sp>
        <p:nvSpPr>
          <p:cNvPr id="182276" name="Rectangle 2"/>
          <p:cNvSpPr>
            <a:spLocks noTextEdit="1"/>
          </p:cNvSpPr>
          <p:nvPr>
            <p:ph type="sldImg"/>
          </p:nvPr>
        </p:nvSpPr>
        <p:spPr>
          <a:xfrm>
            <a:off x="1181100" y="696913"/>
            <a:ext cx="4648200" cy="3486150"/>
          </a:xfrm>
        </p:spPr>
      </p:sp>
      <p:sp>
        <p:nvSpPr>
          <p:cNvPr id="182277" name="Rectangle 3"/>
          <p:cNvSpPr>
            <a:spLocks noGrp="1"/>
          </p:cNvSpPr>
          <p:nvPr>
            <p:ph type="body" idx="1"/>
          </p:nvPr>
        </p:nvSpPr>
        <p:spPr>
          <a:xfrm>
            <a:off x="935038" y="4416425"/>
            <a:ext cx="5140325" cy="4183063"/>
          </a:xfrm>
        </p:spPr>
        <p:txBody>
          <a:bodyPr wrap="square" lIns="93170" tIns="46586" rIns="93170" bIns="46586" anchor="t" anchorCtr="0"/>
          <a:p>
            <a:pPr lvl="0" eaLnBrk="1" hangingPunct="1"/>
            <a:endParaRPr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Slide Image Placeholder 1"/>
          <p:cNvSpPr>
            <a:spLocks noGrp="1" noRot="1" noChangeAspect="1" noTextEdit="1"/>
          </p:cNvSpPr>
          <p:nvPr>
            <p:ph type="sldImg"/>
          </p:nvPr>
        </p:nvSpPr>
        <p:spPr/>
      </p:sp>
      <p:sp>
        <p:nvSpPr>
          <p:cNvPr id="183299" name="Notes Placeholder 2"/>
          <p:cNvSpPr>
            <a:spLocks noGrp="1"/>
          </p:cNvSpPr>
          <p:nvPr>
            <p:ph type="body" idx="1"/>
          </p:nvPr>
        </p:nvSpPr>
        <p:spPr/>
        <p:txBody>
          <a:bodyPr wrap="square" lIns="92833" tIns="46417" rIns="92833" bIns="46417" anchor="t" anchorCtr="0"/>
          <a:p>
            <a:pPr lvl="0"/>
            <a:endParaRPr dirty="0"/>
          </a:p>
        </p:txBody>
      </p:sp>
      <p:sp>
        <p:nvSpPr>
          <p:cNvPr id="183300" name="Slide Number Placeholder 3"/>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2" name="Slide Image Placeholder 1"/>
          <p:cNvSpPr>
            <a:spLocks noGrp="1" noRot="1" noChangeAspect="1" noTextEdit="1"/>
          </p:cNvSpPr>
          <p:nvPr>
            <p:ph type="sldImg"/>
          </p:nvPr>
        </p:nvSpPr>
        <p:spPr/>
      </p:sp>
      <p:sp>
        <p:nvSpPr>
          <p:cNvPr id="184323" name="Notes Placeholder 2"/>
          <p:cNvSpPr>
            <a:spLocks noGrp="1"/>
          </p:cNvSpPr>
          <p:nvPr>
            <p:ph type="body" idx="1"/>
          </p:nvPr>
        </p:nvSpPr>
        <p:spPr/>
        <p:txBody>
          <a:bodyPr wrap="square" lIns="92833" tIns="46417" rIns="92833" bIns="46417" anchor="t" anchorCtr="0"/>
          <a:p>
            <a:pPr lvl="0"/>
            <a:endParaRPr dirty="0"/>
          </a:p>
        </p:txBody>
      </p:sp>
      <p:sp>
        <p:nvSpPr>
          <p:cNvPr id="184324" name="Slide Number Placeholder 3"/>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Slide Image Placeholder 1"/>
          <p:cNvSpPr>
            <a:spLocks noGrp="1" noRot="1" noChangeAspect="1" noTextEdit="1"/>
          </p:cNvSpPr>
          <p:nvPr>
            <p:ph type="sldImg"/>
          </p:nvPr>
        </p:nvSpPr>
        <p:spPr/>
      </p:sp>
      <p:sp>
        <p:nvSpPr>
          <p:cNvPr id="185347" name="Notes Placeholder 2"/>
          <p:cNvSpPr>
            <a:spLocks noGrp="1"/>
          </p:cNvSpPr>
          <p:nvPr>
            <p:ph type="body" idx="1"/>
          </p:nvPr>
        </p:nvSpPr>
        <p:spPr/>
        <p:txBody>
          <a:bodyPr wrap="square" lIns="92833" tIns="46417" rIns="92833" bIns="46417" anchor="t" anchorCtr="0"/>
          <a:p>
            <a:pPr lvl="0"/>
            <a:endParaRPr dirty="0"/>
          </a:p>
        </p:txBody>
      </p:sp>
      <p:sp>
        <p:nvSpPr>
          <p:cNvPr id="185348" name="Slide Number Placeholder 3"/>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Slide Image Placeholder 1"/>
          <p:cNvSpPr>
            <a:spLocks noGrp="1" noRot="1" noChangeAspect="1" noTextEdit="1"/>
          </p:cNvSpPr>
          <p:nvPr>
            <p:ph type="sldImg"/>
          </p:nvPr>
        </p:nvSpPr>
        <p:spPr/>
      </p:sp>
      <p:sp>
        <p:nvSpPr>
          <p:cNvPr id="186371" name="Notes Placeholder 2"/>
          <p:cNvSpPr>
            <a:spLocks noGrp="1"/>
          </p:cNvSpPr>
          <p:nvPr>
            <p:ph type="body" idx="1"/>
          </p:nvPr>
        </p:nvSpPr>
        <p:spPr/>
        <p:txBody>
          <a:bodyPr wrap="square" lIns="92833" tIns="46417" rIns="92833" bIns="46417" anchor="t" anchorCtr="0"/>
          <a:p>
            <a:pPr lvl="0"/>
            <a:endParaRPr dirty="0"/>
          </a:p>
        </p:txBody>
      </p:sp>
      <p:sp>
        <p:nvSpPr>
          <p:cNvPr id="186372" name="Slide Number Placeholder 3"/>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4"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87395" name="Rectangle 2"/>
          <p:cNvSpPr>
            <a:spLocks noTextEdit="1"/>
          </p:cNvSpPr>
          <p:nvPr>
            <p:ph type="sldImg"/>
          </p:nvPr>
        </p:nvSpPr>
        <p:spPr/>
      </p:sp>
      <p:sp>
        <p:nvSpPr>
          <p:cNvPr id="187396"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8"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88419" name="Rectangle 2"/>
          <p:cNvSpPr>
            <a:spLocks noTextEdit="1"/>
          </p:cNvSpPr>
          <p:nvPr>
            <p:ph type="sldImg"/>
          </p:nvPr>
        </p:nvSpPr>
        <p:spPr/>
      </p:sp>
      <p:sp>
        <p:nvSpPr>
          <p:cNvPr id="188420"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2"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89443" name="Rectangle 2"/>
          <p:cNvSpPr>
            <a:spLocks noTextEdit="1"/>
          </p:cNvSpPr>
          <p:nvPr>
            <p:ph type="sldImg"/>
          </p:nvPr>
        </p:nvSpPr>
        <p:spPr/>
      </p:sp>
      <p:sp>
        <p:nvSpPr>
          <p:cNvPr id="189444"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90467" name="Rectangle 2"/>
          <p:cNvSpPr>
            <a:spLocks noTextEdit="1"/>
          </p:cNvSpPr>
          <p:nvPr>
            <p:ph type="sldImg"/>
          </p:nvPr>
        </p:nvSpPr>
        <p:spPr/>
      </p:sp>
      <p:sp>
        <p:nvSpPr>
          <p:cNvPr id="190468"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91491" name="Rectangle 2"/>
          <p:cNvSpPr>
            <a:spLocks noTextEdit="1"/>
          </p:cNvSpPr>
          <p:nvPr>
            <p:ph type="sldImg"/>
          </p:nvPr>
        </p:nvSpPr>
        <p:spPr/>
      </p:sp>
      <p:sp>
        <p:nvSpPr>
          <p:cNvPr id="191492"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92515" name="Rectangle 2"/>
          <p:cNvSpPr>
            <a:spLocks noTextEdit="1"/>
          </p:cNvSpPr>
          <p:nvPr>
            <p:ph type="sldImg"/>
          </p:nvPr>
        </p:nvSpPr>
        <p:spPr/>
      </p:sp>
      <p:sp>
        <p:nvSpPr>
          <p:cNvPr id="192516"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8"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93539" name="Rectangle 2"/>
          <p:cNvSpPr>
            <a:spLocks noTextEdit="1"/>
          </p:cNvSpPr>
          <p:nvPr>
            <p:ph type="sldImg"/>
          </p:nvPr>
        </p:nvSpPr>
        <p:spPr/>
      </p:sp>
      <p:sp>
        <p:nvSpPr>
          <p:cNvPr id="193540"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94563" name="Rectangle 2"/>
          <p:cNvSpPr>
            <a:spLocks noTextEdit="1"/>
          </p:cNvSpPr>
          <p:nvPr>
            <p:ph type="sldImg"/>
          </p:nvPr>
        </p:nvSpPr>
        <p:spPr/>
      </p:sp>
      <p:sp>
        <p:nvSpPr>
          <p:cNvPr id="194564"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6"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95587" name="Rectangle 2"/>
          <p:cNvSpPr>
            <a:spLocks noTextEdit="1"/>
          </p:cNvSpPr>
          <p:nvPr>
            <p:ph type="sldImg"/>
          </p:nvPr>
        </p:nvSpPr>
        <p:spPr/>
      </p:sp>
      <p:sp>
        <p:nvSpPr>
          <p:cNvPr id="195588"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10" name="Rectangle 7"/>
          <p:cNvSpPr txBox="1">
            <a:spLocks noGrp="1"/>
          </p:cNvSpPr>
          <p:nvPr>
            <p:ph type="sldNum" sz="quarte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96611" name="Rectangle 2"/>
          <p:cNvSpPr>
            <a:spLocks noTextEdit="1"/>
          </p:cNvSpPr>
          <p:nvPr>
            <p:ph type="sldImg"/>
          </p:nvPr>
        </p:nvSpPr>
        <p:spPr/>
      </p:sp>
      <p:sp>
        <p:nvSpPr>
          <p:cNvPr id="196612"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7634"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97635" name="Rectangle 2"/>
          <p:cNvSpPr>
            <a:spLocks noTextEdit="1"/>
          </p:cNvSpPr>
          <p:nvPr>
            <p:ph type="sldImg"/>
          </p:nvPr>
        </p:nvSpPr>
        <p:spPr>
          <a:xfrm>
            <a:off x="1182688" y="696913"/>
            <a:ext cx="4646612" cy="3486150"/>
          </a:xfrm>
        </p:spPr>
      </p:sp>
      <p:sp>
        <p:nvSpPr>
          <p:cNvPr id="197636" name="Rectangle 3"/>
          <p:cNvSpPr>
            <a:spLocks noGrp="1"/>
          </p:cNvSpPr>
          <p:nvPr>
            <p:ph type="body" idx="1"/>
          </p:nvPr>
        </p:nvSpPr>
        <p:spPr>
          <a:xfrm>
            <a:off x="935038" y="4416425"/>
            <a:ext cx="5140325" cy="4183063"/>
          </a:xfrm>
        </p:spPr>
        <p:txBody>
          <a:bodyPr wrap="square" lIns="92833" tIns="46417" rIns="92833" bIns="46417" anchor="t" anchorCtr="0"/>
          <a:p>
            <a:pPr lvl="0"/>
            <a:endParaRPr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8"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98659" name="Rectangle 2"/>
          <p:cNvSpPr>
            <a:spLocks noTextEdit="1"/>
          </p:cNvSpPr>
          <p:nvPr>
            <p:ph type="sldImg"/>
          </p:nvPr>
        </p:nvSpPr>
        <p:spPr>
          <a:xfrm>
            <a:off x="1182688" y="696913"/>
            <a:ext cx="4646612" cy="3486150"/>
          </a:xfrm>
        </p:spPr>
      </p:sp>
      <p:sp>
        <p:nvSpPr>
          <p:cNvPr id="198660" name="Rectangle 3"/>
          <p:cNvSpPr>
            <a:spLocks noGrp="1"/>
          </p:cNvSpPr>
          <p:nvPr>
            <p:ph type="body" idx="1"/>
          </p:nvPr>
        </p:nvSpPr>
        <p:spPr>
          <a:xfrm>
            <a:off x="935038" y="4416425"/>
            <a:ext cx="5140325" cy="4183063"/>
          </a:xfrm>
        </p:spPr>
        <p:txBody>
          <a:bodyPr wrap="square" lIns="92833" tIns="46417" rIns="92833" bIns="46417" anchor="t" anchorCtr="0"/>
          <a:p>
            <a:pPr lvl="0"/>
            <a:endParaRPr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2"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199683" name="Rectangle 2"/>
          <p:cNvSpPr>
            <a:spLocks noTextEdit="1"/>
          </p:cNvSpPr>
          <p:nvPr>
            <p:ph type="sldImg"/>
          </p:nvPr>
        </p:nvSpPr>
        <p:spPr/>
      </p:sp>
      <p:sp>
        <p:nvSpPr>
          <p:cNvPr id="199684"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6"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200707" name="Rectangle 2"/>
          <p:cNvSpPr>
            <a:spLocks noTextEdit="1"/>
          </p:cNvSpPr>
          <p:nvPr>
            <p:ph type="sldImg"/>
          </p:nvPr>
        </p:nvSpPr>
        <p:spPr>
          <a:xfrm>
            <a:off x="1182688" y="696913"/>
            <a:ext cx="4646612" cy="3486150"/>
          </a:xfrm>
        </p:spPr>
      </p:sp>
      <p:sp>
        <p:nvSpPr>
          <p:cNvPr id="200708" name="Rectangle 3"/>
          <p:cNvSpPr>
            <a:spLocks noGrp="1"/>
          </p:cNvSpPr>
          <p:nvPr>
            <p:ph type="body" idx="1"/>
          </p:nvPr>
        </p:nvSpPr>
        <p:spPr>
          <a:xfrm>
            <a:off x="935038" y="4416425"/>
            <a:ext cx="5140325" cy="4183063"/>
          </a:xfrm>
        </p:spPr>
        <p:txBody>
          <a:bodyPr wrap="square" lIns="92833" tIns="46417" rIns="92833" bIns="46417" anchor="t" anchorCtr="0"/>
          <a:p>
            <a:pPr lvl="0"/>
            <a:endParaRPr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201731" name="Rectangle 2"/>
          <p:cNvSpPr>
            <a:spLocks noTextEdit="1"/>
          </p:cNvSpPr>
          <p:nvPr>
            <p:ph type="sldImg"/>
          </p:nvPr>
        </p:nvSpPr>
        <p:spPr>
          <a:xfrm>
            <a:off x="1182688" y="696913"/>
            <a:ext cx="4646612" cy="3486150"/>
          </a:xfrm>
        </p:spPr>
      </p:sp>
      <p:sp>
        <p:nvSpPr>
          <p:cNvPr id="201732" name="Rectangle 3"/>
          <p:cNvSpPr>
            <a:spLocks noGrp="1"/>
          </p:cNvSpPr>
          <p:nvPr>
            <p:ph type="body" idx="1"/>
          </p:nvPr>
        </p:nvSpPr>
        <p:spPr>
          <a:xfrm>
            <a:off x="935038" y="4416425"/>
            <a:ext cx="5140325" cy="4183063"/>
          </a:xfrm>
        </p:spPr>
        <p:txBody>
          <a:bodyPr wrap="square" lIns="92833" tIns="46417" rIns="92833" bIns="46417" anchor="t" anchorCtr="0"/>
          <a:p>
            <a:pPr lvl="0"/>
            <a:endParaRPr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4"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202755" name="Rectangle 2"/>
          <p:cNvSpPr>
            <a:spLocks noTextEdit="1"/>
          </p:cNvSpPr>
          <p:nvPr>
            <p:ph type="sldImg"/>
          </p:nvPr>
        </p:nvSpPr>
        <p:spPr>
          <a:xfrm>
            <a:off x="1182688" y="696913"/>
            <a:ext cx="4646612" cy="3486150"/>
          </a:xfrm>
        </p:spPr>
      </p:sp>
      <p:sp>
        <p:nvSpPr>
          <p:cNvPr id="202756" name="Rectangle 3"/>
          <p:cNvSpPr>
            <a:spLocks noGrp="1"/>
          </p:cNvSpPr>
          <p:nvPr>
            <p:ph type="body" idx="1"/>
          </p:nvPr>
        </p:nvSpPr>
        <p:spPr>
          <a:xfrm>
            <a:off x="935038" y="4416425"/>
            <a:ext cx="5140325" cy="4183063"/>
          </a:xfrm>
        </p:spPr>
        <p:txBody>
          <a:bodyPr wrap="square" lIns="92833" tIns="46417" rIns="92833" bIns="46417" anchor="t" anchorCtr="0"/>
          <a:p>
            <a:pPr lvl="0"/>
            <a:endParaRPr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3778"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203779" name="Rectangle 2"/>
          <p:cNvSpPr>
            <a:spLocks noTextEdit="1"/>
          </p:cNvSpPr>
          <p:nvPr>
            <p:ph type="sldImg"/>
          </p:nvPr>
        </p:nvSpPr>
        <p:spPr>
          <a:xfrm>
            <a:off x="1182688" y="696913"/>
            <a:ext cx="4646612" cy="3486150"/>
          </a:xfrm>
        </p:spPr>
      </p:sp>
      <p:sp>
        <p:nvSpPr>
          <p:cNvPr id="203780" name="Rectangle 3"/>
          <p:cNvSpPr>
            <a:spLocks noGrp="1"/>
          </p:cNvSpPr>
          <p:nvPr>
            <p:ph type="body" idx="1"/>
          </p:nvPr>
        </p:nvSpPr>
        <p:spPr>
          <a:xfrm>
            <a:off x="935038" y="4416425"/>
            <a:ext cx="5140325" cy="4183063"/>
          </a:xfrm>
        </p:spPr>
        <p:txBody>
          <a:bodyPr wrap="square" lIns="92833" tIns="46417" rIns="92833" bIns="46417" anchor="t" anchorCtr="0"/>
          <a:p>
            <a:pPr lvl="0"/>
            <a:endParaRPr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02"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204803" name="Rectangle 2"/>
          <p:cNvSpPr>
            <a:spLocks noTextEdit="1"/>
          </p:cNvSpPr>
          <p:nvPr>
            <p:ph type="sldImg"/>
          </p:nvPr>
        </p:nvSpPr>
        <p:spPr>
          <a:xfrm>
            <a:off x="1182688" y="696913"/>
            <a:ext cx="4646612" cy="3486150"/>
          </a:xfrm>
        </p:spPr>
      </p:sp>
      <p:sp>
        <p:nvSpPr>
          <p:cNvPr id="204804" name="Rectangle 3"/>
          <p:cNvSpPr>
            <a:spLocks noGrp="1"/>
          </p:cNvSpPr>
          <p:nvPr>
            <p:ph type="body" idx="1"/>
          </p:nvPr>
        </p:nvSpPr>
        <p:spPr>
          <a:xfrm>
            <a:off x="935038" y="4416425"/>
            <a:ext cx="5140325" cy="4183063"/>
          </a:xfrm>
        </p:spPr>
        <p:txBody>
          <a:bodyPr wrap="square" lIns="92833" tIns="46417" rIns="92833" bIns="46417" anchor="t" anchorCtr="0"/>
          <a:p>
            <a:pPr lvl="0"/>
            <a:endParaRPr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5826"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205827" name="Rectangle 2"/>
          <p:cNvSpPr>
            <a:spLocks noTextEdit="1"/>
          </p:cNvSpPr>
          <p:nvPr>
            <p:ph type="sldImg"/>
          </p:nvPr>
        </p:nvSpPr>
        <p:spPr>
          <a:xfrm>
            <a:off x="1182688" y="696913"/>
            <a:ext cx="4646612" cy="3486150"/>
          </a:xfrm>
        </p:spPr>
      </p:sp>
      <p:sp>
        <p:nvSpPr>
          <p:cNvPr id="205828" name="Rectangle 3"/>
          <p:cNvSpPr>
            <a:spLocks noGrp="1"/>
          </p:cNvSpPr>
          <p:nvPr>
            <p:ph type="body" idx="1"/>
          </p:nvPr>
        </p:nvSpPr>
        <p:spPr>
          <a:xfrm>
            <a:off x="935038" y="4416425"/>
            <a:ext cx="5140325" cy="4183063"/>
          </a:xfrm>
        </p:spPr>
        <p:txBody>
          <a:bodyPr wrap="square" lIns="92833" tIns="46417" rIns="92833" bIns="46417" anchor="t" anchorCtr="0"/>
          <a:p>
            <a:pPr lvl="0"/>
            <a:endParaRPr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6850"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206851" name="Rectangle 2"/>
          <p:cNvSpPr>
            <a:spLocks noTextEdit="1"/>
          </p:cNvSpPr>
          <p:nvPr>
            <p:ph type="sldImg"/>
          </p:nvPr>
        </p:nvSpPr>
        <p:spPr>
          <a:xfrm>
            <a:off x="1182688" y="696913"/>
            <a:ext cx="4646612" cy="3486150"/>
          </a:xfrm>
        </p:spPr>
      </p:sp>
      <p:sp>
        <p:nvSpPr>
          <p:cNvPr id="206852" name="Rectangle 3"/>
          <p:cNvSpPr>
            <a:spLocks noGrp="1"/>
          </p:cNvSpPr>
          <p:nvPr>
            <p:ph type="body" idx="1"/>
          </p:nvPr>
        </p:nvSpPr>
        <p:spPr>
          <a:xfrm>
            <a:off x="700088" y="4414838"/>
            <a:ext cx="5610225" cy="4184650"/>
          </a:xfrm>
        </p:spPr>
        <p:txBody>
          <a:bodyPr wrap="square" lIns="92833" tIns="46417" rIns="92833" bIns="46417" anchor="t" anchorCtr="0"/>
          <a:p>
            <a:pPr lvl="0"/>
            <a:r>
              <a:rPr lang="en-US" altLang="zh-CN" dirty="0">
                <a:ea typeface="SimSun" panose="02010600030101010101" pitchFamily="2" charset="-122"/>
              </a:rPr>
              <a:t>We use this simple definition of tightness for efficiency concerns.</a:t>
            </a:r>
            <a:endParaRPr lang="en-US" altLang="zh-CN" dirty="0">
              <a:ea typeface="SimSun" panose="02010600030101010101" pitchFamily="2" charset="-122"/>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7874"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207875" name="Rectangle 2"/>
          <p:cNvSpPr>
            <a:spLocks noTextEdit="1"/>
          </p:cNvSpPr>
          <p:nvPr>
            <p:ph type="sldImg"/>
          </p:nvPr>
        </p:nvSpPr>
        <p:spPr>
          <a:xfrm>
            <a:off x="1182688" y="696913"/>
            <a:ext cx="4646612" cy="3486150"/>
          </a:xfrm>
        </p:spPr>
      </p:sp>
      <p:sp>
        <p:nvSpPr>
          <p:cNvPr id="207876" name="Rectangle 3"/>
          <p:cNvSpPr>
            <a:spLocks noGrp="1"/>
          </p:cNvSpPr>
          <p:nvPr>
            <p:ph type="body" idx="1"/>
          </p:nvPr>
        </p:nvSpPr>
        <p:spPr>
          <a:xfrm>
            <a:off x="935038" y="4416425"/>
            <a:ext cx="5140325" cy="4183063"/>
          </a:xfrm>
        </p:spPr>
        <p:txBody>
          <a:bodyPr wrap="square" lIns="92833" tIns="46417" rIns="92833" bIns="46417" anchor="t" anchorCtr="0"/>
          <a:p>
            <a:pPr lvl="0"/>
            <a:endParaRPr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8898"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208899" name="Rectangle 2"/>
          <p:cNvSpPr>
            <a:spLocks noTextEdit="1"/>
          </p:cNvSpPr>
          <p:nvPr>
            <p:ph type="sldImg"/>
          </p:nvPr>
        </p:nvSpPr>
        <p:spPr>
          <a:xfrm>
            <a:off x="1182688" y="696913"/>
            <a:ext cx="4646612" cy="3486150"/>
          </a:xfrm>
        </p:spPr>
      </p:sp>
      <p:sp>
        <p:nvSpPr>
          <p:cNvPr id="208900" name="Rectangle 3"/>
          <p:cNvSpPr>
            <a:spLocks noGrp="1"/>
          </p:cNvSpPr>
          <p:nvPr>
            <p:ph type="body" idx="1"/>
          </p:nvPr>
        </p:nvSpPr>
        <p:spPr>
          <a:xfrm>
            <a:off x="935038" y="4416425"/>
            <a:ext cx="5140325" cy="4183063"/>
          </a:xfrm>
        </p:spPr>
        <p:txBody>
          <a:bodyPr wrap="square" lIns="92833" tIns="46417" rIns="92833" bIns="46417" anchor="t" anchorCtr="0"/>
          <a:p>
            <a:pPr lvl="0"/>
            <a:endParaRPr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9922"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209923" name="Rectangle 2"/>
          <p:cNvSpPr>
            <a:spLocks noTextEdit="1"/>
          </p:cNvSpPr>
          <p:nvPr>
            <p:ph type="sldImg"/>
          </p:nvPr>
        </p:nvSpPr>
        <p:spPr>
          <a:xfrm>
            <a:off x="1182688" y="696913"/>
            <a:ext cx="4646612" cy="3486150"/>
          </a:xfrm>
        </p:spPr>
      </p:sp>
      <p:sp>
        <p:nvSpPr>
          <p:cNvPr id="209924" name="Rectangle 3"/>
          <p:cNvSpPr>
            <a:spLocks noGrp="1"/>
          </p:cNvSpPr>
          <p:nvPr>
            <p:ph type="body" idx="1"/>
          </p:nvPr>
        </p:nvSpPr>
        <p:spPr>
          <a:xfrm>
            <a:off x="935038" y="4416425"/>
            <a:ext cx="5140325" cy="4183063"/>
          </a:xfrm>
        </p:spPr>
        <p:txBody>
          <a:bodyPr wrap="square" lIns="92833" tIns="46417" rIns="92833" bIns="46417" anchor="t" anchorCtr="0"/>
          <a:p>
            <a:pPr lvl="0"/>
            <a:endParaRPr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0946"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210947" name="Rectangle 2"/>
          <p:cNvSpPr>
            <a:spLocks noTextEdit="1"/>
          </p:cNvSpPr>
          <p:nvPr>
            <p:ph type="sldImg"/>
          </p:nvPr>
        </p:nvSpPr>
        <p:spPr>
          <a:xfrm>
            <a:off x="1182688" y="696913"/>
            <a:ext cx="4646612" cy="3486150"/>
          </a:xfrm>
        </p:spPr>
      </p:sp>
      <p:sp>
        <p:nvSpPr>
          <p:cNvPr id="210948" name="Rectangle 3"/>
          <p:cNvSpPr>
            <a:spLocks noGrp="1"/>
          </p:cNvSpPr>
          <p:nvPr>
            <p:ph type="body" idx="1"/>
          </p:nvPr>
        </p:nvSpPr>
        <p:spPr>
          <a:xfrm>
            <a:off x="935038" y="4416425"/>
            <a:ext cx="5140325" cy="4183063"/>
          </a:xfrm>
        </p:spPr>
        <p:txBody>
          <a:bodyPr wrap="square" lIns="92833" tIns="46417" rIns="92833" bIns="46417" anchor="t" anchorCtr="0"/>
          <a:p>
            <a:pPr lvl="0"/>
            <a:endParaRPr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1970"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211971" name="Rectangle 2"/>
          <p:cNvSpPr>
            <a:spLocks noTextEdit="1"/>
          </p:cNvSpPr>
          <p:nvPr>
            <p:ph type="sldImg"/>
          </p:nvPr>
        </p:nvSpPr>
        <p:spPr>
          <a:xfrm>
            <a:off x="1181100" y="696913"/>
            <a:ext cx="4646613" cy="3486150"/>
          </a:xfrm>
          <a:solidFill>
            <a:srgbClr val="FFFFFF">
              <a:alpha val="100000"/>
            </a:srgbClr>
          </a:solidFill>
        </p:spPr>
      </p:sp>
      <p:sp>
        <p:nvSpPr>
          <p:cNvPr id="211972" name="Rectangle 3"/>
          <p:cNvSpPr/>
          <p:nvPr>
            <p:ph type="body" idx="1"/>
          </p:nvPr>
        </p:nvSpPr>
        <p:spPr>
          <a:xfrm>
            <a:off x="935038" y="4416425"/>
            <a:ext cx="5140325" cy="4183063"/>
          </a:xfrm>
          <a:solidFill>
            <a:srgbClr val="FFFFFF">
              <a:alpha val="100000"/>
            </a:srgbClr>
          </a:solidFill>
          <a:ln>
            <a:solidFill>
              <a:srgbClr val="000000">
                <a:alpha val="100000"/>
              </a:srgbClr>
            </a:solidFill>
            <a:miter/>
          </a:ln>
        </p:spPr>
        <p:txBody>
          <a:bodyPr wrap="square" lIns="92823" tIns="46412" rIns="92823" bIns="46412" anchor="t" anchorCtr="0"/>
          <a:p>
            <a:pPr lvl="0"/>
            <a:endParaRPr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2994"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212995" name="Rectangle 2"/>
          <p:cNvSpPr>
            <a:spLocks noTextEdit="1"/>
          </p:cNvSpPr>
          <p:nvPr>
            <p:ph type="sldImg"/>
          </p:nvPr>
        </p:nvSpPr>
        <p:spPr>
          <a:xfrm>
            <a:off x="1181100" y="696913"/>
            <a:ext cx="4646613" cy="3486150"/>
          </a:xfrm>
          <a:solidFill>
            <a:srgbClr val="FFFFFF">
              <a:alpha val="100000"/>
            </a:srgbClr>
          </a:solidFill>
        </p:spPr>
      </p:sp>
      <p:sp>
        <p:nvSpPr>
          <p:cNvPr id="212996" name="Rectangle 3"/>
          <p:cNvSpPr/>
          <p:nvPr>
            <p:ph type="body" idx="1"/>
          </p:nvPr>
        </p:nvSpPr>
        <p:spPr>
          <a:xfrm>
            <a:off x="935038" y="4416425"/>
            <a:ext cx="5140325" cy="4183063"/>
          </a:xfrm>
          <a:solidFill>
            <a:srgbClr val="FFFFFF">
              <a:alpha val="100000"/>
            </a:srgbClr>
          </a:solidFill>
          <a:ln>
            <a:solidFill>
              <a:srgbClr val="000000">
                <a:alpha val="100000"/>
              </a:srgbClr>
            </a:solidFill>
            <a:miter/>
          </a:ln>
        </p:spPr>
        <p:txBody>
          <a:bodyPr wrap="square" lIns="92823" tIns="46412" rIns="92823" bIns="46412" anchor="t" anchorCtr="0"/>
          <a:p>
            <a:pPr lvl="0"/>
            <a:endParaRPr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4018" name="Rectangle 7"/>
          <p:cNvSpPr txBox="1">
            <a:spLocks noGrp="1"/>
          </p:cNvSpPr>
          <p:nvPr/>
        </p:nvSpPr>
        <p:spPr>
          <a:xfrm>
            <a:off x="3971925" y="8831263"/>
            <a:ext cx="3038475" cy="465137"/>
          </a:xfrm>
          <a:prstGeom prst="rect">
            <a:avLst/>
          </a:prstGeom>
          <a:noFill/>
          <a:ln w="9525">
            <a:noFill/>
          </a:ln>
        </p:spPr>
        <p:txBody>
          <a:bodyPr lIns="92833" tIns="46417" rIns="92833" bIns="46417" anchor="b" anchorCtr="0"/>
          <a:p>
            <a:pPr lvl="0" algn="r" defTabSz="929005"/>
            <a:fld id="{9A0DB2DC-4C9A-4742-B13C-FB6460FD3503}" type="slidenum">
              <a:rPr lang="en-US" sz="1200" dirty="0">
                <a:latin typeface="Times New Roman" panose="02020603050405020304" pitchFamily="18" charset="0"/>
              </a:rPr>
            </a:fld>
            <a:endParaRPr lang="en-US" sz="1200" dirty="0">
              <a:latin typeface="Times New Roman" panose="02020603050405020304" pitchFamily="18" charset="0"/>
            </a:endParaRPr>
          </a:p>
        </p:txBody>
      </p:sp>
      <p:sp>
        <p:nvSpPr>
          <p:cNvPr id="214019" name="Rectangle 2"/>
          <p:cNvSpPr>
            <a:spLocks noTextEdit="1"/>
          </p:cNvSpPr>
          <p:nvPr>
            <p:ph type="sldImg"/>
          </p:nvPr>
        </p:nvSpPr>
        <p:spPr/>
      </p:sp>
      <p:sp>
        <p:nvSpPr>
          <p:cNvPr id="214020" name="Rectangle 3"/>
          <p:cNvSpPr>
            <a:spLocks noGrp="1"/>
          </p:cNvSpPr>
          <p:nvPr>
            <p:ph type="body" idx="1"/>
          </p:nvPr>
        </p:nvSpPr>
        <p:spPr/>
        <p:txBody>
          <a:bodyPr wrap="square" lIns="92833" tIns="46417" rIns="92833" bIns="46417" anchor="t" anchorCtr="0"/>
          <a:p>
            <a:pPr lvl="0"/>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2438400"/>
            <a:ext cx="9009063" cy="1052513"/>
            <a:chOff x="0" y="1536"/>
            <a:chExt cx="5675" cy="663"/>
          </a:xfrm>
        </p:grpSpPr>
        <p:grpSp>
          <p:nvGrpSpPr>
            <p:cNvPr id="2056" name="Group 3"/>
            <p:cNvGrpSpPr/>
            <p:nvPr/>
          </p:nvGrpSpPr>
          <p:grpSpPr>
            <a:xfrm>
              <a:off x="185" y="1604"/>
              <a:ext cx="449" cy="299"/>
              <a:chOff x="720" y="336"/>
              <a:chExt cx="624" cy="432"/>
            </a:xfrm>
          </p:grpSpPr>
          <p:sp>
            <p:nvSpPr>
              <p:cNvPr id="2063" name="Rectangle 4"/>
              <p:cNvSpPr/>
              <p:nvPr/>
            </p:nvSpPr>
            <p:spPr>
              <a:xfrm>
                <a:off x="720" y="336"/>
                <a:ext cx="384" cy="432"/>
              </a:xfrm>
              <a:prstGeom prst="rect">
                <a:avLst/>
              </a:prstGeom>
              <a:solidFill>
                <a:schemeClr val="folHlink"/>
              </a:solidFill>
              <a:ln w="9525">
                <a:noFill/>
              </a:ln>
            </p:spPr>
            <p:txBody>
              <a:bodyPr wrap="none" anchor="ctr" anchorCtr="0"/>
              <a:p>
                <a:pPr lvl="0" eaLnBrk="1" hangingPunct="1"/>
                <a:endParaRPr dirty="0">
                  <a:latin typeface="Tahoma" panose="020B0604030504040204" pitchFamily="34" charset="0"/>
                </a:endParaRPr>
              </a:p>
            </p:txBody>
          </p:sp>
          <p:sp>
            <p:nvSpPr>
              <p:cNvPr id="2064" name="Rectangle 5"/>
              <p:cNvSpPr/>
              <p:nvPr/>
            </p:nvSpPr>
            <p:spPr>
              <a:xfrm>
                <a:off x="1056" y="336"/>
                <a:ext cx="288" cy="432"/>
              </a:xfrm>
              <a:prstGeom prst="rect">
                <a:avLst/>
              </a:prstGeom>
              <a:gradFill rotWithShape="0">
                <a:gsLst>
                  <a:gs pos="0">
                    <a:schemeClr val="folHlink"/>
                  </a:gs>
                  <a:gs pos="100000">
                    <a:schemeClr val="bg1"/>
                  </a:gs>
                </a:gsLst>
                <a:lin ang="0" scaled="1"/>
                <a:tileRect/>
              </a:gradFill>
              <a:ln w="9525">
                <a:noFill/>
              </a:ln>
            </p:spPr>
            <p:txBody>
              <a:bodyPr wrap="none" anchor="ctr" anchorCtr="0"/>
              <a:p>
                <a:pPr lvl="0" eaLnBrk="1" hangingPunct="1"/>
                <a:endParaRPr dirty="0">
                  <a:latin typeface="Tahoma" panose="020B0604030504040204" pitchFamily="34" charset="0"/>
                </a:endParaRPr>
              </a:p>
            </p:txBody>
          </p:sp>
        </p:grpSp>
        <p:grpSp>
          <p:nvGrpSpPr>
            <p:cNvPr id="2057" name="Group 6"/>
            <p:cNvGrpSpPr/>
            <p:nvPr/>
          </p:nvGrpSpPr>
          <p:grpSpPr>
            <a:xfrm>
              <a:off x="263" y="1870"/>
              <a:ext cx="466" cy="299"/>
              <a:chOff x="912" y="2640"/>
              <a:chExt cx="672" cy="432"/>
            </a:xfrm>
          </p:grpSpPr>
          <p:sp>
            <p:nvSpPr>
              <p:cNvPr id="2061" name="Rectangle 7"/>
              <p:cNvSpPr/>
              <p:nvPr/>
            </p:nvSpPr>
            <p:spPr>
              <a:xfrm>
                <a:off x="912" y="2640"/>
                <a:ext cx="384" cy="432"/>
              </a:xfrm>
              <a:prstGeom prst="rect">
                <a:avLst/>
              </a:prstGeom>
              <a:solidFill>
                <a:schemeClr val="accent2"/>
              </a:solidFill>
              <a:ln w="9525">
                <a:noFill/>
              </a:ln>
            </p:spPr>
            <p:txBody>
              <a:bodyPr wrap="none" anchor="ctr" anchorCtr="0"/>
              <a:p>
                <a:pPr lvl="0" eaLnBrk="1" hangingPunct="1"/>
                <a:endParaRPr dirty="0">
                  <a:latin typeface="Tahoma" panose="020B0604030504040204" pitchFamily="34" charset="0"/>
                </a:endParaRPr>
              </a:p>
            </p:txBody>
          </p:sp>
          <p:sp>
            <p:nvSpPr>
              <p:cNvPr id="2062" name="Rectangle 8"/>
              <p:cNvSpPr/>
              <p:nvPr/>
            </p:nvSpPr>
            <p:spPr>
              <a:xfrm>
                <a:off x="1248" y="2640"/>
                <a:ext cx="336" cy="432"/>
              </a:xfrm>
              <a:prstGeom prst="rect">
                <a:avLst/>
              </a:prstGeom>
              <a:gradFill rotWithShape="0">
                <a:gsLst>
                  <a:gs pos="0">
                    <a:schemeClr val="accent2"/>
                  </a:gs>
                  <a:gs pos="100000">
                    <a:schemeClr val="bg1"/>
                  </a:gs>
                </a:gsLst>
                <a:lin ang="0" scaled="1"/>
                <a:tileRect/>
              </a:gradFill>
              <a:ln w="9525">
                <a:noFill/>
              </a:ln>
            </p:spPr>
            <p:txBody>
              <a:bodyPr wrap="none" anchor="ctr" anchorCtr="0"/>
              <a:p>
                <a:pPr lvl="0" eaLnBrk="1" hangingPunct="1"/>
                <a:endParaRPr dirty="0">
                  <a:latin typeface="Tahoma" panose="020B0604030504040204" pitchFamily="34" charset="0"/>
                </a:endParaRPr>
              </a:p>
            </p:txBody>
          </p:sp>
        </p:grpSp>
        <p:sp>
          <p:nvSpPr>
            <p:cNvPr id="2058" name="Rectangle 9"/>
            <p:cNvSpPr/>
            <p:nvPr/>
          </p:nvSpPr>
          <p:spPr>
            <a:xfrm>
              <a:off x="0" y="1824"/>
              <a:ext cx="353" cy="266"/>
            </a:xfrm>
            <a:prstGeom prst="rect">
              <a:avLst/>
            </a:prstGeom>
            <a:gradFill rotWithShape="0">
              <a:gsLst>
                <a:gs pos="0">
                  <a:schemeClr val="bg1"/>
                </a:gs>
                <a:gs pos="100000">
                  <a:schemeClr val="hlink"/>
                </a:gs>
              </a:gsLst>
              <a:lin ang="18900000" scaled="1"/>
              <a:tileRect/>
            </a:gradFill>
            <a:ln w="9525">
              <a:noFill/>
            </a:ln>
          </p:spPr>
          <p:txBody>
            <a:bodyPr wrap="none" anchor="ctr" anchorCtr="0"/>
            <a:p>
              <a:pPr lvl="0" eaLnBrk="1" hangingPunct="1"/>
              <a:endParaRPr dirty="0">
                <a:latin typeface="Tahoma" panose="020B0604030504040204" pitchFamily="34" charset="0"/>
              </a:endParaRPr>
            </a:p>
          </p:txBody>
        </p:sp>
        <p:sp>
          <p:nvSpPr>
            <p:cNvPr id="2059" name="Rectangle 10"/>
            <p:cNvSpPr/>
            <p:nvPr/>
          </p:nvSpPr>
          <p:spPr>
            <a:xfrm>
              <a:off x="400" y="1536"/>
              <a:ext cx="20" cy="663"/>
            </a:xfrm>
            <a:prstGeom prst="rect">
              <a:avLst/>
            </a:prstGeom>
            <a:solidFill>
              <a:schemeClr val="bg2"/>
            </a:solidFill>
            <a:ln w="9525">
              <a:noFill/>
            </a:ln>
          </p:spPr>
          <p:txBody>
            <a:bodyPr wrap="none" anchor="ctr" anchorCtr="0"/>
            <a:p>
              <a:pPr lvl="0" eaLnBrk="1" hangingPunct="1"/>
              <a:endParaRPr dirty="0">
                <a:latin typeface="Tahoma" panose="020B0604030504040204" pitchFamily="34" charset="0"/>
              </a:endParaRPr>
            </a:p>
          </p:txBody>
        </p:sp>
        <p:sp>
          <p:nvSpPr>
            <p:cNvPr id="2060" name="Rectangle 11"/>
            <p:cNvSpPr/>
            <p:nvPr/>
          </p:nvSpPr>
          <p:spPr>
            <a:xfrm flipV="1">
              <a:off x="199" y="2054"/>
              <a:ext cx="5476" cy="35"/>
            </a:xfrm>
            <a:prstGeom prst="rect">
              <a:avLst/>
            </a:prstGeom>
            <a:gradFill rotWithShape="0">
              <a:gsLst>
                <a:gs pos="0">
                  <a:schemeClr val="bg2"/>
                </a:gs>
                <a:gs pos="100000">
                  <a:schemeClr val="bg1"/>
                </a:gs>
              </a:gsLst>
              <a:lin ang="0" scaled="1"/>
              <a:tileRect/>
            </a:gradFill>
            <a:ln w="9525">
              <a:noFill/>
            </a:ln>
          </p:spPr>
          <p:txBody>
            <a:bodyPr wrap="none" anchor="ctr" anchorCtr="0"/>
            <a:p>
              <a:pPr lvl="0" eaLnBrk="1" hangingPunct="1"/>
              <a:endParaRPr dirty="0">
                <a:latin typeface="Tahoma" panose="020B0604030504040204" pitchFamily="34" charset="0"/>
              </a:endParaRPr>
            </a:p>
          </p:txBody>
        </p:sp>
      </p:grpSp>
      <p:sp>
        <p:nvSpPr>
          <p:cNvPr id="929804"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endParaRPr lang="en-US"/>
          </a:p>
        </p:txBody>
      </p:sp>
      <p:sp>
        <p:nvSpPr>
          <p:cNvPr id="92980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en-US"/>
              <a:t>Click to edit Master subtitle style</a:t>
            </a:r>
            <a:endParaRPr lang="en-US"/>
          </a:p>
        </p:txBody>
      </p:sp>
      <p:sp>
        <p:nvSpPr>
          <p:cNvPr id="18" name="Rectangle 14"/>
          <p:cNvSpPr>
            <a:spLocks noGrp="1" noChangeArrowheads="1"/>
          </p:cNvSpPr>
          <p:nvPr>
            <p:ph type="dt" sz="half" idx="2"/>
          </p:nvPr>
        </p:nvSpPr>
        <p:spPr bwMode="auto">
          <a:xfrm>
            <a:off x="990600" y="6248400"/>
            <a:ext cx="1905000" cy="457200"/>
          </a:xfrm>
          <a:prstGeom prst="rect">
            <a:avLst/>
          </a:prstGeom>
          <a:ln>
            <a:miter lim="800000"/>
          </a:ln>
        </p:spPr>
        <p:txBody>
          <a:bodyPr vert="horz" wrap="square" lIns="91440" tIns="45720" rIns="91440" bIns="45720" numCol="1" anchor="b" anchorCtr="0" compatLnSpc="1"/>
          <a:lstStyle>
            <a:lvl1pPr>
              <a:defRPr sz="14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5AADDDBC-9375-4BED-90CD-D20230F9F4B6}" type="datetime1">
              <a:rPr kumimoji="0" lang="en-US" sz="1400" b="0" i="0" u="none" strike="noStrike" kern="1200" cap="none" spc="0" normalizeH="0" baseline="0" noProof="0">
                <a:ln>
                  <a:noFill/>
                </a:ln>
                <a:solidFill>
                  <a:schemeClr val="bg2"/>
                </a:solidFill>
                <a:effectLst/>
                <a:uLnTx/>
                <a:uFillTx/>
                <a:latin typeface="Tahoma" panose="020B0604030504040204" pitchFamily="34" charset="0"/>
                <a:ea typeface="+mn-ea"/>
                <a:cs typeface="+mn-cs"/>
              </a:rPr>
            </a:fld>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mn-ea"/>
              <a:cs typeface="+mn-cs"/>
            </a:endParaRPr>
          </a:p>
        </p:txBody>
      </p:sp>
      <p:sp>
        <p:nvSpPr>
          <p:cNvPr id="19" name="Rectangle 15"/>
          <p:cNvSpPr>
            <a:spLocks noGrp="1" noChangeArrowheads="1"/>
          </p:cNvSpPr>
          <p:nvPr>
            <p:ph type="ftr" sz="quarter" idx="3"/>
          </p:nvPr>
        </p:nvSpPr>
        <p:spPr bwMode="auto">
          <a:xfrm>
            <a:off x="3429000" y="6248400"/>
            <a:ext cx="2895600" cy="457200"/>
          </a:xfrm>
          <a:prstGeom prst="rect">
            <a:avLst/>
          </a:prstGeom>
          <a:ln>
            <a:miter lim="800000"/>
          </a:ln>
        </p:spPr>
        <p:txBody>
          <a:bodyPr vert="horz" wrap="square" lIns="91440" tIns="45720" rIns="91440" bIns="45720" numCol="1" anchor="b" anchorCtr="0" compatLnSpc="1"/>
          <a:lstStyle>
            <a:lvl1pPr>
              <a:defRPr sz="1400">
                <a:solidFill>
                  <a:schemeClr val="bg2"/>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schemeClr val="bg2"/>
                </a:solidFill>
                <a:effectLst/>
                <a:uLnTx/>
                <a:uFillTx/>
                <a:latin typeface="Tahoma" panose="020B0604030504040204" pitchFamily="34" charset="0"/>
                <a:ea typeface="+mn-ea"/>
                <a:cs typeface="+mn-cs"/>
              </a:rPr>
              <a:t>Data Mining: Concepts and Techniques</a:t>
            </a:r>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mn-ea"/>
              <a:cs typeface="+mn-cs"/>
            </a:endParaRPr>
          </a:p>
        </p:txBody>
      </p:sp>
      <p:sp>
        <p:nvSpPr>
          <p:cNvPr id="20"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p>
            <a:pPr algn="r">
              <a:buNone/>
            </a:pPr>
            <a:fld id="{9A0DB2DC-4C9A-4742-B13C-FB6460FD3503}" type="slidenum">
              <a:rPr lang="en-US" sz="1400" dirty="0">
                <a:solidFill>
                  <a:schemeClr val="bg2"/>
                </a:solidFill>
              </a:rPr>
            </a:fld>
            <a:endParaRPr lang="en-US" sz="1400" dirty="0">
              <a:solidFill>
                <a:schemeClr val="bg2"/>
              </a:solidFill>
            </a:endParaRPr>
          </a:p>
        </p:txBody>
      </p:sp>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8" name="Rectangle 2059"/>
          <p:cNvSpPr>
            <a:spLocks noGrp="1" noChangeArrowheads="1"/>
          </p:cNvSpPr>
          <p:nvPr>
            <p:ph type="dt" sz="half" idx="2"/>
          </p:nvPr>
        </p:nvSpPr>
        <p:spPr bwMode="auto">
          <a:xfrm>
            <a:off x="0" y="6477000"/>
            <a:ext cx="1905000" cy="3810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B4FF90F-4F8D-4466-A4BE-C5741C7D924C}" type="datetime1">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9" name="Rectangle 2060"/>
          <p:cNvSpPr>
            <a:spLocks noGrp="1" noChangeArrowheads="1"/>
          </p:cNvSpPr>
          <p:nvPr>
            <p:ph type="ftr" sz="quarter" idx="3"/>
          </p:nvPr>
        </p:nvSpPr>
        <p:spPr bwMode="auto">
          <a:xfrm>
            <a:off x="3124200" y="6477000"/>
            <a:ext cx="2895600" cy="3810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10" name="Rectangle 2061"/>
          <p:cNvSpPr>
            <a:spLocks noGrp="1" noChangeArrowheads="1"/>
          </p:cNvSpPr>
          <p:nvPr>
            <p:ph type="sldNum" sz="quarter" idx="4"/>
          </p:nvPr>
        </p:nvSpPr>
        <p:spPr bwMode="auto">
          <a:xfrm>
            <a:off x="7239000" y="6477000"/>
            <a:ext cx="1905000" cy="381000"/>
          </a:xfrm>
          <a:prstGeom prst="rect">
            <a:avLst/>
          </a:prstGeom>
          <a:ln>
            <a:miter lim="800000"/>
          </a:ln>
        </p:spPr>
        <p:txBody>
          <a:bodyPr vert="horz" wrap="square" lIns="91440" tIns="45720" rIns="91440" bIns="45720" numCol="1" anchor="b" anchorCtr="0" compatLnSpc="1"/>
          <a:p>
            <a:pPr algn="r">
              <a:buNone/>
            </a:pPr>
            <a:fld id="{9A0DB2DC-4C9A-4742-B13C-FB6460FD3503}" type="slidenum">
              <a:rPr lang="en-US" dirty="0"/>
            </a:fld>
            <a:endParaRPr lang="en-US" dirty="0"/>
          </a:p>
        </p:txBody>
      </p:sp>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B6FFC226-70DE-407A-9807-6B73C689E4A6}" type="datetime1">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ahoma" panose="020B0604030504040204" pitchFamily="34" charset="0"/>
              </a:rPr>
            </a:fld>
            <a:endParaRPr lang="en-US" dirty="0">
              <a:latin typeface="Tahoma" panose="020B0604030504040204" pitchFamily="34" charset="0"/>
            </a:endParaRPr>
          </a:p>
        </p:txBody>
      </p:sp>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371600"/>
            <a:ext cx="41148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371600"/>
            <a:ext cx="41148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B6FFC226-70DE-407A-9807-6B73C689E4A6}" type="datetime1">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Tahoma" panose="020B0604030504040204" pitchFamily="34" charset="0"/>
              </a:rPr>
            </a:fld>
            <a:endParaRPr lang="en-US" dirty="0">
              <a:latin typeface="Tahoma" panose="020B0604030504040204" pitchFamily="34" charset="0"/>
            </a:endParaRPr>
          </a:p>
        </p:txBody>
      </p:sp>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B6FFC226-70DE-407A-9807-6B73C689E4A6}" type="datetime1">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9" name="Slide Number Placeholder 8"/>
          <p:cNvSpPr>
            <a:spLocks noGrp="1"/>
          </p:cNvSpPr>
          <p:nvPr>
            <p:ph type="sldNum" sz="quarter" idx="12"/>
          </p:nvPr>
        </p:nvSpPr>
        <p:spPr/>
        <p:txBody>
          <a:bodyPr/>
          <a:p>
            <a:pPr lvl="0" eaLnBrk="1" hangingPunct="1">
              <a:buNone/>
            </a:pPr>
            <a:fld id="{9A0DB2DC-4C9A-4742-B13C-FB6460FD3503}" type="slidenum">
              <a:rPr lang="en-US" dirty="0">
                <a:latin typeface="Tahoma" panose="020B0604030504040204" pitchFamily="34" charset="0"/>
              </a:rPr>
            </a:fld>
            <a:endParaRPr lang="en-US" dirty="0">
              <a:latin typeface="Tahoma" panose="020B0604030504040204" pitchFamily="34" charset="0"/>
            </a:endParaRPr>
          </a:p>
        </p:txBody>
      </p:sp>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B6FFC226-70DE-407A-9807-6B73C689E4A6}" type="datetime1">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US" dirty="0">
                <a:latin typeface="Tahoma" panose="020B0604030504040204" pitchFamily="34" charset="0"/>
              </a:rPr>
            </a:fld>
            <a:endParaRPr lang="en-US" dirty="0">
              <a:latin typeface="Tahoma" panose="020B0604030504040204" pitchFamily="34" charset="0"/>
            </a:endParaRPr>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
        <p:nvSpPr>
          <p:cNvPr id="8" name="Rectangle 2061"/>
          <p:cNvSpPr>
            <a:spLocks noGrp="1" noChangeArrowheads="1"/>
          </p:cNvSpPr>
          <p:nvPr>
            <p:ph type="sldNum" sz="quarter" idx="4"/>
          </p:nvPr>
        </p:nvSpPr>
        <p:spPr bwMode="auto">
          <a:xfrm>
            <a:off x="7239000" y="6477000"/>
            <a:ext cx="1905000" cy="381000"/>
          </a:xfrm>
          <a:prstGeom prst="rect">
            <a:avLst/>
          </a:prstGeom>
          <a:ln>
            <a:miter lim="800000"/>
          </a:ln>
        </p:spPr>
        <p:txBody>
          <a:bodyPr vert="horz" wrap="square" lIns="91440" tIns="45720" rIns="91440" bIns="45720" numCol="1" anchor="b" anchorCtr="0" compatLnSpc="1"/>
          <a:p>
            <a:pPr algn="r">
              <a:buNone/>
            </a:pPr>
            <a:fld id="{9A0DB2DC-4C9A-4742-B13C-FB6460FD3503}" type="slidenum">
              <a:rPr lang="en-US" dirty="0"/>
            </a:fld>
            <a:endParaRPr lang="en-US" dirty="0"/>
          </a:p>
        </p:txBody>
      </p:sp>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B6FFC226-70DE-407A-9807-6B73C689E4A6}" type="datetime1">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B6FFC226-70DE-407A-9807-6B73C689E4A6}" type="datetime1">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Tahoma" panose="020B0604030504040204" pitchFamily="34" charset="0"/>
              </a:rPr>
            </a:fld>
            <a:endParaRPr lang="en-US" dirty="0">
              <a:latin typeface="Tahoma" panose="020B0604030504040204" pitchFamily="34" charset="0"/>
            </a:endParaRPr>
          </a:p>
        </p:txBody>
      </p:sp>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B6FFC226-70DE-407A-9807-6B73C689E4A6}" type="datetime1">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Tahoma" panose="020B0604030504040204" pitchFamily="34" charset="0"/>
              </a:rPr>
            </a:fld>
            <a:endParaRPr lang="en-US" dirty="0">
              <a:latin typeface="Tahoma" panose="020B0604030504040204" pitchFamily="34" charset="0"/>
            </a:endParaRPr>
          </a:p>
        </p:txBody>
      </p:sp>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B6FFC226-70DE-407A-9807-6B73C689E4A6}" type="datetime1">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ahoma" panose="020B0604030504040204" pitchFamily="34" charset="0"/>
              </a:rPr>
            </a:fld>
            <a:endParaRPr lang="en-US" dirty="0">
              <a:latin typeface="Tahoma" panose="020B0604030504040204" pitchFamily="34" charset="0"/>
            </a:endParaRPr>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7500" y="381000"/>
            <a:ext cx="2095500" cy="6096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381000"/>
            <a:ext cx="6134100" cy="60960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B6FFC226-70DE-407A-9807-6B73C689E4A6}" type="datetime1">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ahoma" panose="020B0604030504040204" pitchFamily="34" charset="0"/>
              </a:rPr>
            </a:fld>
            <a:endParaRPr lang="en-US" dirty="0">
              <a:latin typeface="Tahoma" panose="020B0604030504040204" pitchFamily="34" charset="0"/>
            </a:endParaRPr>
          </a:p>
        </p:txBody>
      </p:sp>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7793038"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81000" y="1371600"/>
            <a:ext cx="4114800" cy="51054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quarter" idx="2"/>
          </p:nvPr>
        </p:nvSpPr>
        <p:spPr>
          <a:xfrm>
            <a:off x="4648200" y="1371600"/>
            <a:ext cx="4114800" cy="24765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Content Placeholder 4"/>
          <p:cNvSpPr>
            <a:spLocks noGrp="1"/>
          </p:cNvSpPr>
          <p:nvPr>
            <p:ph sz="quarter" idx="3"/>
          </p:nvPr>
        </p:nvSpPr>
        <p:spPr>
          <a:xfrm>
            <a:off x="4648200" y="4000500"/>
            <a:ext cx="4114800" cy="24765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Date Placeholder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B6FFC226-70DE-407A-9807-6B73C689E4A6}" type="datetime1">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Footer Placeholder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8" name="Slide Number Placeholder 7"/>
          <p:cNvSpPr>
            <a:spLocks noGrp="1"/>
          </p:cNvSpPr>
          <p:nvPr>
            <p:ph type="sldNum" sz="quarter" idx="12"/>
          </p:nvPr>
        </p:nvSpPr>
        <p:spPr/>
        <p:txBody>
          <a:bodyPr/>
          <a:p>
            <a:pPr lvl="0" eaLnBrk="1" hangingPunct="1">
              <a:buNone/>
            </a:pPr>
            <a:fld id="{9A0DB2DC-4C9A-4742-B13C-FB6460FD3503}" type="slidenum">
              <a:rPr lang="en-US" dirty="0">
                <a:latin typeface="Tahoma" panose="020B0604030504040204" pitchFamily="34" charset="0"/>
              </a:rPr>
            </a:fld>
            <a:endParaRPr lang="en-US" dirty="0">
              <a:latin typeface="Tahoma" panose="020B0604030504040204" pitchFamily="34" charset="0"/>
            </a:endParaRPr>
          </a:p>
        </p:txBody>
      </p:sp>
    </p:spTree>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7793038"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81000" y="1371600"/>
            <a:ext cx="4114800" cy="51054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371600"/>
            <a:ext cx="4114800" cy="51054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B6FFC226-70DE-407A-9807-6B73C689E4A6}" type="datetime1">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Tahoma" panose="020B0604030504040204" pitchFamily="34" charset="0"/>
              </a:rPr>
            </a:fld>
            <a:endParaRPr lang="en-US" dirty="0">
              <a:latin typeface="Tahoma" panose="020B0604030504040204" pitchFamily="34" charset="0"/>
            </a:endParaRPr>
          </a:p>
        </p:txBody>
      </p:sp>
    </p:spTree>
  </p:cSld>
  <p:clrMapOvr>
    <a:masterClrMapping/>
  </p:clrMapOvr>
  <p:transition>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7793038" cy="6096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381000" y="1371600"/>
            <a:ext cx="8382000" cy="51054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0" lang="en-US" sz="28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B6FFC226-70DE-407A-9807-6B73C689E4A6}" type="datetime1">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ahoma" panose="020B0604030504040204" pitchFamily="34" charset="0"/>
              </a:rPr>
            </a:fld>
            <a:endParaRPr lang="en-US" dirty="0">
              <a:latin typeface="Tahoma" panose="020B0604030504040204" pitchFamily="34" charset="0"/>
            </a:endParaRPr>
          </a:p>
        </p:txBody>
      </p:sp>
    </p:spTree>
  </p:cSld>
  <p:clrMapOvr>
    <a:masterClrMapping/>
  </p:clrMapOvr>
  <p:transition>
    <p:zo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04800" y="381000"/>
            <a:ext cx="8458200" cy="6096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B6FFC226-70DE-407A-9807-6B73C689E4A6}" type="datetime1">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US" dirty="0">
                <a:latin typeface="Tahoma" panose="020B0604030504040204" pitchFamily="34" charset="0"/>
              </a:rPr>
            </a:fld>
            <a:endParaRPr lang="en-US" dirty="0">
              <a:latin typeface="Tahoma" panose="020B0604030504040204" pitchFamily="34" charset="0"/>
            </a:endParaRPr>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056"/>
          <p:cNvSpPr/>
          <p:nvPr/>
        </p:nvSpPr>
        <p:spPr>
          <a:xfrm>
            <a:off x="304800" y="1219200"/>
            <a:ext cx="8410575" cy="46038"/>
          </a:xfrm>
          <a:prstGeom prst="rect">
            <a:avLst/>
          </a:prstGeom>
          <a:gradFill rotWithShape="1">
            <a:gsLst>
              <a:gs pos="0">
                <a:srgbClr val="800000">
                  <a:alpha val="50000"/>
                </a:srgbClr>
              </a:gs>
              <a:gs pos="100000">
                <a:srgbClr val="FAE2F6">
                  <a:alpha val="50000"/>
                </a:srgbClr>
              </a:gs>
            </a:gsLst>
            <a:lin ang="0" scaled="1"/>
            <a:tileRect/>
          </a:gradFill>
          <a:ln w="9525">
            <a:noFill/>
          </a:ln>
        </p:spPr>
        <p:txBody>
          <a:bodyPr wrap="none" anchor="ctr" anchorCtr="0"/>
          <a:p>
            <a:pPr lvl="0" eaLnBrk="1" hangingPunct="1"/>
            <a:endParaRPr dirty="0">
              <a:latin typeface="Tahoma" panose="020B0604030504040204" pitchFamily="34" charset="0"/>
            </a:endParaRPr>
          </a:p>
        </p:txBody>
      </p:sp>
      <p:sp>
        <p:nvSpPr>
          <p:cNvPr id="1027" name="Rectangle 2057"/>
          <p:cNvSpPr>
            <a:spLocks noGrp="1"/>
          </p:cNvSpPr>
          <p:nvPr>
            <p:ph type="title"/>
          </p:nvPr>
        </p:nvSpPr>
        <p:spPr>
          <a:xfrm>
            <a:off x="609600" y="381000"/>
            <a:ext cx="7793038" cy="609600"/>
          </a:xfrm>
          <a:prstGeom prst="rect">
            <a:avLst/>
          </a:prstGeom>
          <a:noFill/>
          <a:ln w="9525">
            <a:noFill/>
          </a:ln>
        </p:spPr>
        <p:txBody>
          <a:bodyPr anchor="b" anchorCtr="0"/>
          <a:p>
            <a:pPr lvl="0"/>
            <a:r>
              <a:rPr dirty="0"/>
              <a:t>Click to edit Master title style</a:t>
            </a:r>
            <a:endParaRPr dirty="0"/>
          </a:p>
        </p:txBody>
      </p:sp>
      <p:sp>
        <p:nvSpPr>
          <p:cNvPr id="1028" name="Rectangle 2058"/>
          <p:cNvSpPr>
            <a:spLocks noGrp="1"/>
          </p:cNvSpPr>
          <p:nvPr>
            <p:ph type="body" idx="1"/>
          </p:nvPr>
        </p:nvSpPr>
        <p:spPr>
          <a:xfrm>
            <a:off x="381000" y="1371600"/>
            <a:ext cx="8382000" cy="5105400"/>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
        <p:nvSpPr>
          <p:cNvPr id="928779" name="Rectangle 2059"/>
          <p:cNvSpPr>
            <a:spLocks noGrp="1" noChangeArrowheads="1"/>
          </p:cNvSpPr>
          <p:nvPr>
            <p:ph type="dt" sz="half" idx="2"/>
          </p:nvPr>
        </p:nvSpPr>
        <p:spPr bwMode="auto">
          <a:xfrm>
            <a:off x="304800" y="6477000"/>
            <a:ext cx="1905000" cy="381000"/>
          </a:xfrm>
          <a:prstGeom prst="rect">
            <a:avLst/>
          </a:prstGeom>
          <a:noFill/>
          <a:ln w="9525">
            <a:noFill/>
            <a:miter lim="800000"/>
          </a:ln>
          <a:effectLst/>
        </p:spPr>
        <p:txBody>
          <a:bodyPr vert="horz" wrap="square" lIns="91440" tIns="45720" rIns="91440" bIns="45720" numCol="1" anchor="b" anchorCtr="0" compatLnSpc="1"/>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fld id="{B6FFC226-70DE-407A-9807-6B73C689E4A6}" type="datetime1">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928780" name="Rectangle 2060"/>
          <p:cNvSpPr>
            <a:spLocks noGrp="1" noChangeArrowheads="1"/>
          </p:cNvSpPr>
          <p:nvPr>
            <p:ph type="ftr" sz="quarter" idx="3"/>
          </p:nvPr>
        </p:nvSpPr>
        <p:spPr bwMode="auto">
          <a:xfrm>
            <a:off x="3352800" y="6477000"/>
            <a:ext cx="2895600" cy="3810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rPr>
              <a:t>Data Mining: Concepts and Techniques</a:t>
            </a: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928781" name="Rectangle 2061"/>
          <p:cNvSpPr>
            <a:spLocks noGrp="1" noChangeArrowheads="1"/>
          </p:cNvSpPr>
          <p:nvPr>
            <p:ph type="sldNum" sz="quarter" idx="4"/>
          </p:nvPr>
        </p:nvSpPr>
        <p:spPr bwMode="auto">
          <a:xfrm>
            <a:off x="7239000" y="6477000"/>
            <a:ext cx="1905000" cy="3810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pPr lvl="0" eaLnBrk="1" hangingPunct="1">
              <a:buNone/>
            </a:pPr>
            <a:fld id="{9A0DB2DC-4C9A-4742-B13C-FB6460FD3503}" type="slidenum">
              <a:rPr lang="en-US" dirty="0">
                <a:latin typeface="Tahoma" panose="020B0604030504040204" pitchFamily="34" charset="0"/>
              </a:rPr>
            </a:fld>
            <a:endParaRPr lang="en-US" dirty="0">
              <a:latin typeface="Tahom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zoom/>
  </p:transition>
  <p:hf sldNum="0" hdr="0" ftr="0" dt="0"/>
  <p:txStyles>
    <p:titleStyle>
      <a:lvl1pPr algn="ctr" rtl="0" eaLnBrk="0" fontAlgn="base" hangingPunct="0">
        <a:spcBef>
          <a:spcPct val="0"/>
        </a:spcBef>
        <a:spcAft>
          <a:spcPct val="0"/>
        </a:spcAft>
        <a:defRPr sz="3600">
          <a:solidFill>
            <a:schemeClr val="tx2"/>
          </a:solidFill>
          <a:latin typeface="+mj-lt"/>
          <a:ea typeface="+mj-ea"/>
          <a:cs typeface="+mj-cs"/>
        </a:defRPr>
      </a:lvl1pPr>
      <a:lvl2pPr algn="ctr" rtl="0" eaLnBrk="0" fontAlgn="base" hangingPunct="0">
        <a:spcBef>
          <a:spcPct val="0"/>
        </a:spcBef>
        <a:spcAft>
          <a:spcPct val="0"/>
        </a:spcAft>
        <a:defRPr sz="3600">
          <a:solidFill>
            <a:schemeClr val="tx2"/>
          </a:solidFill>
          <a:latin typeface="Berlin Sans FB Demi" panose="020E0802020502020306" pitchFamily="34" charset="0"/>
        </a:defRPr>
      </a:lvl2pPr>
      <a:lvl3pPr algn="ctr" rtl="0" eaLnBrk="0" fontAlgn="base" hangingPunct="0">
        <a:spcBef>
          <a:spcPct val="0"/>
        </a:spcBef>
        <a:spcAft>
          <a:spcPct val="0"/>
        </a:spcAft>
        <a:defRPr sz="3600">
          <a:solidFill>
            <a:schemeClr val="tx2"/>
          </a:solidFill>
          <a:latin typeface="Berlin Sans FB Demi" panose="020E0802020502020306" pitchFamily="34" charset="0"/>
        </a:defRPr>
      </a:lvl3pPr>
      <a:lvl4pPr algn="ctr" rtl="0" eaLnBrk="0" fontAlgn="base" hangingPunct="0">
        <a:spcBef>
          <a:spcPct val="0"/>
        </a:spcBef>
        <a:spcAft>
          <a:spcPct val="0"/>
        </a:spcAft>
        <a:defRPr sz="3600">
          <a:solidFill>
            <a:schemeClr val="tx2"/>
          </a:solidFill>
          <a:latin typeface="Berlin Sans FB Demi" panose="020E0802020502020306" pitchFamily="34" charset="0"/>
        </a:defRPr>
      </a:lvl4pPr>
      <a:lvl5pPr algn="ctr" rtl="0" eaLnBrk="0" fontAlgn="base" hangingPunct="0">
        <a:spcBef>
          <a:spcPct val="0"/>
        </a:spcBef>
        <a:spcAft>
          <a:spcPct val="0"/>
        </a:spcAft>
        <a:defRPr sz="3600">
          <a:solidFill>
            <a:schemeClr val="tx2"/>
          </a:solidFill>
          <a:latin typeface="Berlin Sans FB Demi" panose="020E0802020502020306" pitchFamily="34" charset="0"/>
        </a:defRPr>
      </a:lvl5pPr>
      <a:lvl6pPr marL="457200" algn="ctr" rtl="0" fontAlgn="base">
        <a:spcBef>
          <a:spcPct val="0"/>
        </a:spcBef>
        <a:spcAft>
          <a:spcPct val="0"/>
        </a:spcAft>
        <a:defRPr sz="3600">
          <a:solidFill>
            <a:schemeClr val="tx2"/>
          </a:solidFill>
          <a:latin typeface="Berlin Sans FB Demi" panose="020E0802020502020306" pitchFamily="34" charset="0"/>
        </a:defRPr>
      </a:lvl6pPr>
      <a:lvl7pPr marL="914400" algn="ctr" rtl="0" fontAlgn="base">
        <a:spcBef>
          <a:spcPct val="0"/>
        </a:spcBef>
        <a:spcAft>
          <a:spcPct val="0"/>
        </a:spcAft>
        <a:defRPr sz="3600">
          <a:solidFill>
            <a:schemeClr val="tx2"/>
          </a:solidFill>
          <a:latin typeface="Berlin Sans FB Demi" panose="020E0802020502020306" pitchFamily="34" charset="0"/>
        </a:defRPr>
      </a:lvl7pPr>
      <a:lvl8pPr marL="1371600" algn="ctr" rtl="0" fontAlgn="base">
        <a:spcBef>
          <a:spcPct val="0"/>
        </a:spcBef>
        <a:spcAft>
          <a:spcPct val="0"/>
        </a:spcAft>
        <a:defRPr sz="3600">
          <a:solidFill>
            <a:schemeClr val="tx2"/>
          </a:solidFill>
          <a:latin typeface="Berlin Sans FB Demi" panose="020E0802020502020306" pitchFamily="34" charset="0"/>
        </a:defRPr>
      </a:lvl8pPr>
      <a:lvl9pPr marL="1828800" algn="ctr" rtl="0" fontAlgn="base">
        <a:spcBef>
          <a:spcPct val="0"/>
        </a:spcBef>
        <a:spcAft>
          <a:spcPct val="0"/>
        </a:spcAft>
        <a:defRPr sz="3600">
          <a:solidFill>
            <a:schemeClr val="tx2"/>
          </a:solidFill>
          <a:latin typeface="Berlin Sans FB Demi" panose="020E0802020502020306"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vmlDrawing" Target="../drawings/vmlDrawing1.vml"/><Relationship Id="rId3" Type="http://schemas.openxmlformats.org/officeDocument/2006/relationships/slideLayout" Target="../slideLayouts/slideLayout13.xml"/><Relationship Id="rId2" Type="http://schemas.openxmlformats.org/officeDocument/2006/relationships/image" Target="../media/image1.w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image" Target="../media/image5.emf"/><Relationship Id="rId7" Type="http://schemas.openxmlformats.org/officeDocument/2006/relationships/oleObject" Target="../embeddings/oleObject5.bin"/><Relationship Id="rId6" Type="http://schemas.openxmlformats.org/officeDocument/2006/relationships/image" Target="../media/image4.emf"/><Relationship Id="rId5" Type="http://schemas.openxmlformats.org/officeDocument/2006/relationships/oleObject" Target="../embeddings/oleObject4.bin"/><Relationship Id="rId4" Type="http://schemas.openxmlformats.org/officeDocument/2006/relationships/image" Target="../media/image3.emf"/><Relationship Id="rId3" Type="http://schemas.openxmlformats.org/officeDocument/2006/relationships/oleObject" Target="../embeddings/oleObject3.bin"/><Relationship Id="rId2" Type="http://schemas.openxmlformats.org/officeDocument/2006/relationships/image" Target="../media/image2.emf"/><Relationship Id="rId13" Type="http://schemas.openxmlformats.org/officeDocument/2006/relationships/notesSlide" Target="../notesSlides/notesSlide15.xml"/><Relationship Id="rId12" Type="http://schemas.openxmlformats.org/officeDocument/2006/relationships/vmlDrawing" Target="../drawings/vmlDrawing2.vml"/><Relationship Id="rId11" Type="http://schemas.openxmlformats.org/officeDocument/2006/relationships/slideLayout" Target="../slideLayouts/slideLayout2.xml"/><Relationship Id="rId10" Type="http://schemas.openxmlformats.org/officeDocument/2006/relationships/image" Target="../media/image6.emf"/><Relationship Id="rId1"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vmlDrawing" Target="../drawings/vmlDrawing3.vml"/><Relationship Id="rId3" Type="http://schemas.openxmlformats.org/officeDocument/2006/relationships/slideLayout" Target="../slideLayouts/slideLayout13.xml"/><Relationship Id="rId2" Type="http://schemas.openxmlformats.org/officeDocument/2006/relationships/image" Target="../media/image7.wmf"/><Relationship Id="rId1" Type="http://schemas.openxmlformats.org/officeDocument/2006/relationships/oleObject" Target="../embeddings/oleObject7.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vmlDrawing" Target="../drawings/vmlDrawing4.vml"/><Relationship Id="rId4" Type="http://schemas.openxmlformats.org/officeDocument/2006/relationships/slideLayout" Target="../slideLayouts/slideLayout2.xml"/><Relationship Id="rId3" Type="http://schemas.openxmlformats.org/officeDocument/2006/relationships/oleObject" Target="../embeddings/oleObject9.bin"/><Relationship Id="rId2" Type="http://schemas.openxmlformats.org/officeDocument/2006/relationships/image" Target="../media/image8.emf"/><Relationship Id="rId1" Type="http://schemas.openxmlformats.org/officeDocument/2006/relationships/oleObject" Target="../embeddings/oleObject8.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oleObject" Target="../embeddings/oleObject12.bin"/><Relationship Id="rId3" Type="http://schemas.openxmlformats.org/officeDocument/2006/relationships/oleObject" Target="../embeddings/oleObject11.bin"/><Relationship Id="rId2" Type="http://schemas.openxmlformats.org/officeDocument/2006/relationships/image" Target="../media/image9.emf"/><Relationship Id="rId1" Type="http://schemas.openxmlformats.org/officeDocument/2006/relationships/oleObject" Target="../embeddings/oleObject10.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oleObject" Target="../embeddings/oleObject15.bin"/><Relationship Id="rId3" Type="http://schemas.openxmlformats.org/officeDocument/2006/relationships/oleObject" Target="../embeddings/oleObject14.bin"/><Relationship Id="rId2" Type="http://schemas.openxmlformats.org/officeDocument/2006/relationships/image" Target="../media/image9.emf"/><Relationship Id="rId1" Type="http://schemas.openxmlformats.org/officeDocument/2006/relationships/oleObject" Target="../embeddings/oleObject13.bin"/></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9" Type="http://schemas.openxmlformats.org/officeDocument/2006/relationships/notesSlide" Target="../notesSlides/notesSlide27.xml"/><Relationship Id="rId8" Type="http://schemas.openxmlformats.org/officeDocument/2006/relationships/vmlDrawing" Target="../drawings/vmlDrawing7.vml"/><Relationship Id="rId7" Type="http://schemas.openxmlformats.org/officeDocument/2006/relationships/slideLayout" Target="../slideLayouts/slideLayout2.xml"/><Relationship Id="rId6" Type="http://schemas.openxmlformats.org/officeDocument/2006/relationships/image" Target="../media/image12.wmf"/><Relationship Id="rId5" Type="http://schemas.openxmlformats.org/officeDocument/2006/relationships/oleObject" Target="../embeddings/oleObject18.bin"/><Relationship Id="rId4" Type="http://schemas.openxmlformats.org/officeDocument/2006/relationships/image" Target="../media/image11.wmf"/><Relationship Id="rId3" Type="http://schemas.openxmlformats.org/officeDocument/2006/relationships/oleObject" Target="../embeddings/oleObject17.bin"/><Relationship Id="rId2" Type="http://schemas.openxmlformats.org/officeDocument/2006/relationships/image" Target="../media/image10.wmf"/><Relationship Id="rId1" Type="http://schemas.openxmlformats.org/officeDocument/2006/relationships/oleObject" Target="../embeddings/oleObject16.bin"/></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9" Type="http://schemas.openxmlformats.org/officeDocument/2006/relationships/notesSlide" Target="../notesSlides/notesSlide30.xml"/><Relationship Id="rId8" Type="http://schemas.openxmlformats.org/officeDocument/2006/relationships/vmlDrawing" Target="../drawings/vmlDrawing8.vml"/><Relationship Id="rId7" Type="http://schemas.openxmlformats.org/officeDocument/2006/relationships/slideLayout" Target="../slideLayouts/slideLayout7.xml"/><Relationship Id="rId6" Type="http://schemas.openxmlformats.org/officeDocument/2006/relationships/image" Target="../media/image15.wmf"/><Relationship Id="rId5" Type="http://schemas.openxmlformats.org/officeDocument/2006/relationships/oleObject" Target="../embeddings/oleObject21.bin"/><Relationship Id="rId4" Type="http://schemas.openxmlformats.org/officeDocument/2006/relationships/image" Target="../media/image14.wmf"/><Relationship Id="rId3" Type="http://schemas.openxmlformats.org/officeDocument/2006/relationships/oleObject" Target="../embeddings/oleObject20.bin"/><Relationship Id="rId2" Type="http://schemas.openxmlformats.org/officeDocument/2006/relationships/image" Target="../media/image13.emf"/><Relationship Id="rId1" Type="http://schemas.openxmlformats.org/officeDocument/2006/relationships/oleObject" Target="../embeddings/oleObject19.bin"/></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17.wmf"/><Relationship Id="rId1" Type="http://schemas.openxmlformats.org/officeDocument/2006/relationships/oleObject" Target="../embeddings/oleObject22.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6" Type="http://schemas.openxmlformats.org/officeDocument/2006/relationships/notesSlide" Target="../notesSlides/notesSlide38.xml"/><Relationship Id="rId5" Type="http://schemas.openxmlformats.org/officeDocument/2006/relationships/slideLayout" Target="../slideLayouts/slideLayout2.xml"/><Relationship Id="rId4" Type="http://schemas.openxmlformats.org/officeDocument/2006/relationships/image" Target="../media/image22.wmf"/><Relationship Id="rId3" Type="http://schemas.openxmlformats.org/officeDocument/2006/relationships/image" Target="../media/image21.png"/><Relationship Id="rId2" Type="http://schemas.openxmlformats.org/officeDocument/2006/relationships/image" Target="../media/image20.wmf"/><Relationship Id="rId1" Type="http://schemas.openxmlformats.org/officeDocument/2006/relationships/image" Target="../media/image19.wmf"/></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2.xml"/><Relationship Id="rId2" Type="http://schemas.openxmlformats.org/officeDocument/2006/relationships/image" Target="../media/image24.wmf"/><Relationship Id="rId1" Type="http://schemas.openxmlformats.org/officeDocument/2006/relationships/image" Target="../media/image23.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46.xml"/><Relationship Id="rId4" Type="http://schemas.openxmlformats.org/officeDocument/2006/relationships/slideLayout" Target="../slideLayouts/slideLayout2.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9" Type="http://schemas.openxmlformats.org/officeDocument/2006/relationships/notesSlide" Target="../notesSlides/notesSlide49.xml"/><Relationship Id="rId8" Type="http://schemas.openxmlformats.org/officeDocument/2006/relationships/vmlDrawing" Target="../drawings/vmlDrawing10.vml"/><Relationship Id="rId7" Type="http://schemas.openxmlformats.org/officeDocument/2006/relationships/slideLayout" Target="../slideLayouts/slideLayout7.xml"/><Relationship Id="rId6" Type="http://schemas.openxmlformats.org/officeDocument/2006/relationships/image" Target="../media/image30.wmf"/><Relationship Id="rId5" Type="http://schemas.openxmlformats.org/officeDocument/2006/relationships/oleObject" Target="../embeddings/oleObject25.bin"/><Relationship Id="rId4" Type="http://schemas.openxmlformats.org/officeDocument/2006/relationships/image" Target="../media/image29.wmf"/><Relationship Id="rId3" Type="http://schemas.openxmlformats.org/officeDocument/2006/relationships/oleObject" Target="../embeddings/oleObject24.bin"/><Relationship Id="rId2" Type="http://schemas.openxmlformats.org/officeDocument/2006/relationships/image" Target="../media/image28.wmf"/><Relationship Id="rId1" Type="http://schemas.openxmlformats.org/officeDocument/2006/relationships/oleObject" Target="../embeddings/oleObject23.bin"/></Relationships>
</file>

<file path=ppt/slides/_rels/slide50.xml.rels><?xml version="1.0" encoding="UTF-8" standalone="yes"?>
<Relationships xmlns="http://schemas.openxmlformats.org/package/2006/relationships"><Relationship Id="rId6" Type="http://schemas.openxmlformats.org/officeDocument/2006/relationships/notesSlide" Target="../notesSlides/notesSlide50.xml"/><Relationship Id="rId5" Type="http://schemas.openxmlformats.org/officeDocument/2006/relationships/slideLayout" Target="../slideLayouts/slideLayout2.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51.xml.rels><?xml version="1.0" encoding="UTF-8" standalone="yes"?>
<Relationships xmlns="http://schemas.openxmlformats.org/package/2006/relationships"><Relationship Id="rId9" Type="http://schemas.openxmlformats.org/officeDocument/2006/relationships/notesSlide" Target="../notesSlides/notesSlide51.xml"/><Relationship Id="rId8" Type="http://schemas.openxmlformats.org/officeDocument/2006/relationships/vmlDrawing" Target="../drawings/vmlDrawing11.vml"/><Relationship Id="rId7" Type="http://schemas.openxmlformats.org/officeDocument/2006/relationships/slideLayout" Target="../slideLayouts/slideLayout12.xml"/><Relationship Id="rId6" Type="http://schemas.openxmlformats.org/officeDocument/2006/relationships/image" Target="../media/image37.wmf"/><Relationship Id="rId5" Type="http://schemas.openxmlformats.org/officeDocument/2006/relationships/oleObject" Target="../embeddings/oleObject28.bin"/><Relationship Id="rId4" Type="http://schemas.openxmlformats.org/officeDocument/2006/relationships/image" Target="../media/image36.wmf"/><Relationship Id="rId3" Type="http://schemas.openxmlformats.org/officeDocument/2006/relationships/oleObject" Target="../embeddings/oleObject27.bin"/><Relationship Id="rId2" Type="http://schemas.openxmlformats.org/officeDocument/2006/relationships/image" Target="../media/image35.wmf"/><Relationship Id="rId1" Type="http://schemas.openxmlformats.org/officeDocument/2006/relationships/oleObject" Target="../embeddings/oleObject26.bin"/></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5" Type="http://schemas.openxmlformats.org/officeDocument/2006/relationships/notesSlide" Target="../notesSlides/notesSlide53.xml"/><Relationship Id="rId4" Type="http://schemas.openxmlformats.org/officeDocument/2006/relationships/slideLayout" Target="../slideLayouts/slideLayout2.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5" Type="http://schemas.openxmlformats.org/officeDocument/2006/relationships/notesSlide" Target="../notesSlides/notesSlide57.xml"/><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42.emf"/><Relationship Id="rId1" Type="http://schemas.openxmlformats.org/officeDocument/2006/relationships/oleObject" Target="../embeddings/oleObject29.bin"/></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image" Target="../media/image43.wmf"/></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5.xml"/></Relationships>
</file>

<file path=ppt/slides/_rels/slide76.xml.rels><?xml version="1.0" encoding="UTF-8" standalone="yes"?>
<Relationships xmlns="http://schemas.openxmlformats.org/package/2006/relationships"><Relationship Id="rId6" Type="http://schemas.openxmlformats.org/officeDocument/2006/relationships/notesSlide" Target="../notesSlides/notesSlide76.xml"/><Relationship Id="rId5" Type="http://schemas.openxmlformats.org/officeDocument/2006/relationships/vmlDrawing" Target="../drawings/vmlDrawing13.vml"/><Relationship Id="rId4" Type="http://schemas.openxmlformats.org/officeDocument/2006/relationships/slideLayout" Target="../slideLayouts/slideLayout2.xml"/><Relationship Id="rId3" Type="http://schemas.openxmlformats.org/officeDocument/2006/relationships/oleObject" Target="../embeddings/oleObject31.bin"/><Relationship Id="rId2" Type="http://schemas.openxmlformats.org/officeDocument/2006/relationships/image" Target="../media/image8.emf"/><Relationship Id="rId1" Type="http://schemas.openxmlformats.org/officeDocument/2006/relationships/oleObject" Target="../embeddings/oleObject30.bin"/></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7" Type="http://schemas.openxmlformats.org/officeDocument/2006/relationships/notesSlide" Target="../notesSlides/notesSlide83.xml"/><Relationship Id="rId6" Type="http://schemas.openxmlformats.org/officeDocument/2006/relationships/vmlDrawing" Target="../drawings/vmlDrawing14.vml"/><Relationship Id="rId5" Type="http://schemas.openxmlformats.org/officeDocument/2006/relationships/slideLayout" Target="../slideLayouts/slideLayout2.xml"/><Relationship Id="rId4" Type="http://schemas.openxmlformats.org/officeDocument/2006/relationships/image" Target="../media/image46.wmf"/><Relationship Id="rId3" Type="http://schemas.openxmlformats.org/officeDocument/2006/relationships/oleObject" Target="../embeddings/oleObject33.bin"/><Relationship Id="rId2" Type="http://schemas.openxmlformats.org/officeDocument/2006/relationships/image" Target="../media/image45.wmf"/><Relationship Id="rId1" Type="http://schemas.openxmlformats.org/officeDocument/2006/relationships/oleObject" Target="../embeddings/oleObject32.bin"/></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5" Type="http://schemas.openxmlformats.org/officeDocument/2006/relationships/notesSlide" Target="../notesSlides/notesSlide86.xml"/><Relationship Id="rId4" Type="http://schemas.openxmlformats.org/officeDocument/2006/relationships/vmlDrawing" Target="../drawings/vmlDrawing15.vml"/><Relationship Id="rId3" Type="http://schemas.openxmlformats.org/officeDocument/2006/relationships/slideLayout" Target="../slideLayouts/slideLayout7.xml"/><Relationship Id="rId2" Type="http://schemas.openxmlformats.org/officeDocument/2006/relationships/image" Target="../media/image47.wmf"/><Relationship Id="rId1" Type="http://schemas.openxmlformats.org/officeDocument/2006/relationships/oleObject" Target="../embeddings/oleObject34.bin"/></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5" Type="http://schemas.openxmlformats.org/officeDocument/2006/relationships/notesSlide" Target="../notesSlides/notesSlide89.xml"/><Relationship Id="rId4" Type="http://schemas.openxmlformats.org/officeDocument/2006/relationships/vmlDrawing" Target="../drawings/vmlDrawing16.vml"/><Relationship Id="rId3" Type="http://schemas.openxmlformats.org/officeDocument/2006/relationships/slideLayout" Target="../slideLayouts/slideLayout7.xml"/><Relationship Id="rId2" Type="http://schemas.openxmlformats.org/officeDocument/2006/relationships/image" Target="../media/image48.wmf"/><Relationship Id="rId1" Type="http://schemas.openxmlformats.org/officeDocument/2006/relationships/oleObject" Target="../embeddings/oleObject35.bin"/></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7.xml"/><Relationship Id="rId1" Type="http://schemas.openxmlformats.org/officeDocument/2006/relationships/image" Target="../media/image49.png"/></Relationships>
</file>

<file path=ppt/slides/_rels/slide91.xml.rels><?xml version="1.0" encoding="UTF-8" standalone="yes"?>
<Relationships xmlns="http://schemas.openxmlformats.org/package/2006/relationships"><Relationship Id="rId5" Type="http://schemas.openxmlformats.org/officeDocument/2006/relationships/notesSlide" Target="../notesSlides/notesSlide91.xml"/><Relationship Id="rId4" Type="http://schemas.openxmlformats.org/officeDocument/2006/relationships/vmlDrawing" Target="../drawings/vmlDrawing17.vml"/><Relationship Id="rId3" Type="http://schemas.openxmlformats.org/officeDocument/2006/relationships/slideLayout" Target="../slideLayouts/slideLayout7.xml"/><Relationship Id="rId2" Type="http://schemas.openxmlformats.org/officeDocument/2006/relationships/image" Target="../media/image50.emf"/><Relationship Id="rId1" Type="http://schemas.openxmlformats.org/officeDocument/2006/relationships/oleObject" Target="../embeddings/oleObject36.bin"/></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4" Type="http://schemas.openxmlformats.org/officeDocument/2006/relationships/notesSlide" Target="../notesSlides/notesSlide100.xml"/><Relationship Id="rId3" Type="http://schemas.openxmlformats.org/officeDocument/2006/relationships/slideLayout" Target="../slideLayouts/slideLayout7.xml"/><Relationship Id="rId2" Type="http://schemas.openxmlformats.org/officeDocument/2006/relationships/image" Target="../media/image52.png"/><Relationship Id="rId1" Type="http://schemas.openxmlformats.org/officeDocument/2006/relationships/image" Target="../media/image51.png"/></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4" Type="http://schemas.openxmlformats.org/officeDocument/2006/relationships/notesSlide" Target="../notesSlides/notesSlide102.xml"/><Relationship Id="rId3" Type="http://schemas.openxmlformats.org/officeDocument/2006/relationships/slideLayout" Target="../slideLayouts/slideLayout7.xml"/><Relationship Id="rId2" Type="http://schemas.openxmlformats.org/officeDocument/2006/relationships/image" Target="../media/image54.png"/><Relationship Id="rId1"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title" idx="4294967295"/>
          </p:nvPr>
        </p:nvSpPr>
        <p:spPr>
          <a:xfrm>
            <a:off x="533400" y="152400"/>
            <a:ext cx="8077200" cy="3886200"/>
          </a:xfrm>
        </p:spPr>
        <p:txBody>
          <a:bodyPr vert="horz" wrap="square" lIns="91440" tIns="45720" rIns="91440" bIns="45720" anchor="b" anchorCtr="0"/>
          <a:p>
            <a:r>
              <a:rPr sz="6000" dirty="0"/>
              <a:t>Data Mining: </a:t>
            </a:r>
            <a:br>
              <a:rPr sz="6000" dirty="0"/>
            </a:br>
            <a:r>
              <a:rPr sz="6000" dirty="0"/>
              <a:t> </a:t>
            </a:r>
            <a:endParaRPr sz="2800" dirty="0"/>
          </a:p>
        </p:txBody>
      </p:sp>
      <p:sp>
        <p:nvSpPr>
          <p:cNvPr id="5123" name="Rectangle 3"/>
          <p:cNvSpPr>
            <a:spLocks noGrp="1"/>
          </p:cNvSpPr>
          <p:nvPr>
            <p:ph type="body" idx="4294967295"/>
          </p:nvPr>
        </p:nvSpPr>
        <p:spPr>
          <a:xfrm>
            <a:off x="304800" y="4419600"/>
            <a:ext cx="8610600" cy="1905000"/>
          </a:xfrm>
        </p:spPr>
        <p:txBody>
          <a:bodyPr vert="horz" wrap="square" lIns="91440" tIns="45720" rIns="91440" bIns="45720" anchor="t" anchorCtr="0"/>
          <a:p>
            <a:pPr algn="ctr">
              <a:lnSpc>
                <a:spcPct val="110000"/>
              </a:lnSpc>
              <a:buNone/>
            </a:pPr>
            <a:r>
              <a:rPr lang="en-IN" sz="2400" b="1" dirty="0"/>
              <a:t>Cluster Analysis</a:t>
            </a:r>
            <a:endParaRPr lang="en-IN" sz="2400" b="1" dirty="0"/>
          </a:p>
        </p:txBody>
      </p:sp>
      <p:sp>
        <p:nvSpPr>
          <p:cNvPr id="5124"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6147" name="Rectangle 2"/>
          <p:cNvSpPr>
            <a:spLocks noGrp="1"/>
          </p:cNvSpPr>
          <p:nvPr>
            <p:ph type="title" idx="4294967295"/>
          </p:nvPr>
        </p:nvSpPr>
        <p:spPr>
          <a:xfrm>
            <a:off x="0" y="152400"/>
            <a:ext cx="9144000" cy="990600"/>
          </a:xfrm>
        </p:spPr>
        <p:txBody>
          <a:bodyPr vert="horz" wrap="square" lIns="92075" tIns="46038" rIns="92075" bIns="46038" anchor="ctr" anchorCtr="0"/>
          <a:p>
            <a:pPr eaLnBrk="1" hangingPunct="1"/>
            <a:r>
              <a:rPr sz="3200" dirty="0"/>
              <a:t>Chapter 10. </a:t>
            </a:r>
            <a:r>
              <a:rPr lang="en-AU" altLang="zh-TW" sz="3200" dirty="0">
                <a:ea typeface="PMingLiU" panose="02020500000000000000" pitchFamily="18" charset="-120"/>
              </a:rPr>
              <a:t>Cluster Analysis: Basic Concepts and Methods</a:t>
            </a:r>
            <a:endParaRPr sz="3200" dirty="0">
              <a:ea typeface="PMingLiU" panose="02020500000000000000" pitchFamily="18" charset="-120"/>
            </a:endParaRPr>
          </a:p>
        </p:txBody>
      </p:sp>
      <p:sp>
        <p:nvSpPr>
          <p:cNvPr id="6148" name="Rectangle 3"/>
          <p:cNvSpPr>
            <a:spLocks noGrp="1"/>
          </p:cNvSpPr>
          <p:nvPr>
            <p:ph type="body" idx="4294967295"/>
          </p:nvPr>
        </p:nvSpPr>
        <p:spPr>
          <a:xfrm>
            <a:off x="381000" y="1371600"/>
            <a:ext cx="8223250" cy="5181600"/>
          </a:xfrm>
        </p:spPr>
        <p:txBody>
          <a:bodyPr vert="horz" wrap="square" lIns="92075" tIns="46038" rIns="92075" bIns="46038" anchor="t" anchorCtr="0"/>
          <a:p>
            <a:pPr marL="533400" indent="-533400">
              <a:lnSpc>
                <a:spcPct val="150000"/>
              </a:lnSpc>
            </a:pPr>
            <a:r>
              <a:rPr dirty="0">
                <a:latin typeface="Calibri" panose="020F0502020204030204" pitchFamily="34" charset="0"/>
              </a:rPr>
              <a:t>Cluster Analysis: Basic Concepts</a:t>
            </a:r>
            <a:endParaRPr dirty="0">
              <a:latin typeface="Calibri" panose="020F0502020204030204" pitchFamily="34" charset="0"/>
            </a:endParaRPr>
          </a:p>
          <a:p>
            <a:pPr marL="533400" indent="-533400">
              <a:lnSpc>
                <a:spcPct val="150000"/>
              </a:lnSpc>
            </a:pPr>
            <a:r>
              <a:rPr dirty="0">
                <a:latin typeface="Calibri" panose="020F0502020204030204" pitchFamily="34" charset="0"/>
              </a:rPr>
              <a:t>Partitioning Methods</a:t>
            </a:r>
            <a:endParaRPr dirty="0">
              <a:latin typeface="Calibri" panose="020F0502020204030204" pitchFamily="34" charset="0"/>
            </a:endParaRPr>
          </a:p>
          <a:p>
            <a:pPr marL="533400" indent="-533400">
              <a:lnSpc>
                <a:spcPct val="150000"/>
              </a:lnSpc>
            </a:pPr>
            <a:r>
              <a:rPr dirty="0">
                <a:latin typeface="Calibri" panose="020F0502020204030204" pitchFamily="34" charset="0"/>
              </a:rPr>
              <a:t>Hierarchical Methods</a:t>
            </a:r>
            <a:endParaRPr dirty="0">
              <a:latin typeface="Calibri" panose="020F0502020204030204" pitchFamily="34" charset="0"/>
            </a:endParaRPr>
          </a:p>
          <a:p>
            <a:pPr marL="533400" indent="-533400">
              <a:lnSpc>
                <a:spcPct val="150000"/>
              </a:lnSpc>
            </a:pPr>
            <a:r>
              <a:rPr dirty="0">
                <a:latin typeface="Calibri" panose="020F0502020204030204" pitchFamily="34" charset="0"/>
              </a:rPr>
              <a:t>Density-Based Methods</a:t>
            </a:r>
            <a:endParaRPr dirty="0">
              <a:latin typeface="Calibri" panose="020F0502020204030204" pitchFamily="34" charset="0"/>
            </a:endParaRPr>
          </a:p>
          <a:p>
            <a:pPr marL="533400" indent="-533400">
              <a:lnSpc>
                <a:spcPct val="150000"/>
              </a:lnSpc>
            </a:pPr>
            <a:r>
              <a:rPr dirty="0">
                <a:latin typeface="Calibri" panose="020F0502020204030204" pitchFamily="34" charset="0"/>
              </a:rPr>
              <a:t>Grid-Based Methods</a:t>
            </a:r>
            <a:endParaRPr dirty="0">
              <a:latin typeface="Calibri" panose="020F0502020204030204" pitchFamily="34" charset="0"/>
            </a:endParaRPr>
          </a:p>
          <a:p>
            <a:pPr marL="533400" indent="-533400">
              <a:lnSpc>
                <a:spcPct val="150000"/>
              </a:lnSpc>
            </a:pPr>
            <a:r>
              <a:rPr dirty="0">
                <a:latin typeface="Calibri" panose="020F0502020204030204" pitchFamily="34" charset="0"/>
              </a:rPr>
              <a:t>Evaluation of Clustering</a:t>
            </a:r>
            <a:endParaRPr dirty="0">
              <a:latin typeface="Calibri" panose="020F0502020204030204" pitchFamily="34" charset="0"/>
            </a:endParaRPr>
          </a:p>
          <a:p>
            <a:pPr marL="533400" indent="-533400">
              <a:lnSpc>
                <a:spcPct val="150000"/>
              </a:lnSpc>
            </a:pPr>
            <a:r>
              <a:rPr dirty="0">
                <a:latin typeface="Calibri" panose="020F0502020204030204" pitchFamily="34" charset="0"/>
              </a:rPr>
              <a:t>Summary</a:t>
            </a:r>
            <a:endParaRPr dirty="0">
              <a:latin typeface="Calibri" panose="020F0502020204030204" pitchFamily="34" charset="0"/>
            </a:endParaRPr>
          </a:p>
        </p:txBody>
      </p:sp>
      <p:sp>
        <p:nvSpPr>
          <p:cNvPr id="6149" name="AutoShape 5"/>
          <p:cNvSpPr/>
          <p:nvPr/>
        </p:nvSpPr>
        <p:spPr>
          <a:xfrm rot="9867012">
            <a:off x="5943600" y="1524000"/>
            <a:ext cx="304800" cy="381000"/>
          </a:xfrm>
          <a:prstGeom prst="notchedRightArrow">
            <a:avLst>
              <a:gd name="adj1" fmla="val 50000"/>
              <a:gd name="adj2" fmla="val 25000"/>
            </a:avLst>
          </a:prstGeom>
          <a:solidFill>
            <a:srgbClr val="00CCFF"/>
          </a:solidFill>
          <a:ln w="9525" cap="flat" cmpd="sng">
            <a:solidFill>
              <a:schemeClr val="tx1"/>
            </a:solidFill>
            <a:prstDash val="solid"/>
            <a:miter/>
            <a:headEnd type="none" w="med" len="med"/>
            <a:tailEnd type="none" w="med" len="med"/>
          </a:ln>
        </p:spPr>
        <p:txBody>
          <a:bodyPr rot="10800000" wrap="none" anchor="ctr" anchorCtr="0"/>
          <a:p>
            <a:endParaRPr dirty="0">
              <a:latin typeface="Tahoma" panose="020B0604030504040204" pitchFamily="34" charset="0"/>
            </a:endParaRPr>
          </a:p>
        </p:txBody>
      </p:sp>
      <p:sp>
        <p:nvSpPr>
          <p:cNvPr id="6150"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Slide Number Placeholder 5"/>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
        <p:nvSpPr>
          <p:cNvPr id="7171" name="Rectangle 2"/>
          <p:cNvSpPr>
            <a:spLocks noGrp="1"/>
          </p:cNvSpPr>
          <p:nvPr>
            <p:ph type="title"/>
          </p:nvPr>
        </p:nvSpPr>
        <p:spPr>
          <a:xfrm>
            <a:off x="990600" y="304800"/>
            <a:ext cx="7297738" cy="782638"/>
          </a:xfrm>
        </p:spPr>
        <p:txBody>
          <a:bodyPr vert="horz" wrap="square" lIns="92075" tIns="46038" rIns="92075" bIns="46038" anchor="ctr" anchorCtr="0"/>
          <a:p>
            <a:pPr eaLnBrk="1" hangingPunct="1"/>
            <a:r>
              <a:rPr dirty="0"/>
              <a:t>What is Cluster Analysis?</a:t>
            </a:r>
            <a:endParaRPr dirty="0"/>
          </a:p>
        </p:txBody>
      </p:sp>
      <p:sp>
        <p:nvSpPr>
          <p:cNvPr id="7172" name="Rectangle 3"/>
          <p:cNvSpPr>
            <a:spLocks noGrp="1"/>
          </p:cNvSpPr>
          <p:nvPr>
            <p:ph idx="1"/>
          </p:nvPr>
        </p:nvSpPr>
        <p:spPr>
          <a:xfrm>
            <a:off x="228600" y="1371600"/>
            <a:ext cx="8686800" cy="5181600"/>
          </a:xfrm>
        </p:spPr>
        <p:txBody>
          <a:bodyPr vert="horz" wrap="square" lIns="92075" tIns="46038" rIns="92075" bIns="46038" anchor="t" anchorCtr="0"/>
          <a:p>
            <a:pPr eaLnBrk="1" hangingPunct="1"/>
            <a:r>
              <a:rPr sz="2400" dirty="0"/>
              <a:t>Cluster: A collection of data objects</a:t>
            </a:r>
            <a:endParaRPr sz="2400" dirty="0"/>
          </a:p>
          <a:p>
            <a:pPr lvl="1" eaLnBrk="1" hangingPunct="1"/>
            <a:r>
              <a:rPr sz="2400" dirty="0"/>
              <a:t>similar (or related) to one another within the same group</a:t>
            </a:r>
            <a:endParaRPr sz="2400" dirty="0"/>
          </a:p>
          <a:p>
            <a:pPr lvl="1" eaLnBrk="1" hangingPunct="1"/>
            <a:r>
              <a:rPr sz="2400" dirty="0"/>
              <a:t>dissimilar (or unrelated) to the objects in other groups</a:t>
            </a:r>
            <a:endParaRPr sz="2400" dirty="0"/>
          </a:p>
          <a:p>
            <a:pPr eaLnBrk="1" hangingPunct="1"/>
            <a:r>
              <a:rPr sz="2400" dirty="0"/>
              <a:t>Cluster analysis (or </a:t>
            </a:r>
            <a:r>
              <a:rPr sz="2400" i="1" dirty="0"/>
              <a:t>clustering</a:t>
            </a:r>
            <a:r>
              <a:rPr sz="2400" dirty="0"/>
              <a:t>, </a:t>
            </a:r>
            <a:r>
              <a:rPr sz="2400" i="1" dirty="0"/>
              <a:t>data segmentation, …</a:t>
            </a:r>
            <a:r>
              <a:rPr sz="2400" dirty="0"/>
              <a:t>)</a:t>
            </a:r>
            <a:endParaRPr sz="2400" dirty="0"/>
          </a:p>
          <a:p>
            <a:pPr lvl="1" eaLnBrk="1" hangingPunct="1"/>
            <a:r>
              <a:rPr sz="2400" dirty="0"/>
              <a:t>Finding similarities between data according to the characteristics found in the data and grouping similar data objects into clusters</a:t>
            </a:r>
            <a:endParaRPr sz="2400" dirty="0"/>
          </a:p>
          <a:p>
            <a:pPr eaLnBrk="1" hangingPunct="1"/>
            <a:r>
              <a:rPr sz="2400" dirty="0">
                <a:solidFill>
                  <a:schemeClr val="hlink"/>
                </a:solidFill>
              </a:rPr>
              <a:t>Unsupervised learning</a:t>
            </a:r>
            <a:r>
              <a:rPr sz="2400" dirty="0"/>
              <a:t>: no predefined classes (i.e., </a:t>
            </a:r>
            <a:r>
              <a:rPr sz="2400" i="1" dirty="0"/>
              <a:t>learning by observations</a:t>
            </a:r>
            <a:r>
              <a:rPr sz="2400" dirty="0"/>
              <a:t> vs. learning by examples: supervised)</a:t>
            </a:r>
            <a:endParaRPr sz="2400" dirty="0"/>
          </a:p>
          <a:p>
            <a:pPr eaLnBrk="1" hangingPunct="1"/>
            <a:r>
              <a:rPr sz="2400" dirty="0"/>
              <a:t>Typical applications</a:t>
            </a:r>
            <a:endParaRPr sz="2400" dirty="0"/>
          </a:p>
          <a:p>
            <a:pPr lvl="1" eaLnBrk="1" hangingPunct="1"/>
            <a:r>
              <a:rPr sz="2400" dirty="0"/>
              <a:t>As a </a:t>
            </a:r>
            <a:r>
              <a:rPr sz="2400" dirty="0">
                <a:solidFill>
                  <a:schemeClr val="hlink"/>
                </a:solidFill>
              </a:rPr>
              <a:t>stand-alone tool</a:t>
            </a:r>
            <a:r>
              <a:rPr sz="2400" dirty="0"/>
              <a:t> to get insight into data distribution </a:t>
            </a:r>
            <a:endParaRPr sz="2400" dirty="0"/>
          </a:p>
          <a:p>
            <a:pPr lvl="1" eaLnBrk="1" hangingPunct="1"/>
            <a:r>
              <a:rPr sz="2400" dirty="0"/>
              <a:t>As a </a:t>
            </a:r>
            <a:r>
              <a:rPr sz="2400" dirty="0">
                <a:solidFill>
                  <a:schemeClr val="hlink"/>
                </a:solidFill>
              </a:rPr>
              <a:t>preprocessing step</a:t>
            </a:r>
            <a:r>
              <a:rPr sz="2400" dirty="0"/>
              <a:t> for other algorithms</a:t>
            </a:r>
            <a:endParaRPr sz="2400" dirty="0"/>
          </a:p>
        </p:txBody>
      </p:sp>
    </p:spTree>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Slide Number Placeholder 5"/>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
        <p:nvSpPr>
          <p:cNvPr id="8195" name="Rectangle 2"/>
          <p:cNvSpPr>
            <a:spLocks noGrp="1"/>
          </p:cNvSpPr>
          <p:nvPr>
            <p:ph type="title"/>
          </p:nvPr>
        </p:nvSpPr>
        <p:spPr>
          <a:xfrm>
            <a:off x="152400" y="304800"/>
            <a:ext cx="8763000" cy="762000"/>
          </a:xfrm>
        </p:spPr>
        <p:txBody>
          <a:bodyPr vert="horz" wrap="square" lIns="92075" tIns="46038" rIns="92075" bIns="46038" anchor="ctr" anchorCtr="0"/>
          <a:p>
            <a:pPr eaLnBrk="1" hangingPunct="1"/>
            <a:r>
              <a:rPr dirty="0"/>
              <a:t>Clustering for Data Understanding and Applications</a:t>
            </a:r>
            <a:endParaRPr dirty="0"/>
          </a:p>
        </p:txBody>
      </p:sp>
      <p:sp>
        <p:nvSpPr>
          <p:cNvPr id="8196" name="Rectangle 3"/>
          <p:cNvSpPr>
            <a:spLocks noGrp="1"/>
          </p:cNvSpPr>
          <p:nvPr>
            <p:ph idx="1"/>
          </p:nvPr>
        </p:nvSpPr>
        <p:spPr>
          <a:xfrm>
            <a:off x="381000" y="1371600"/>
            <a:ext cx="8382000" cy="5181600"/>
          </a:xfrm>
        </p:spPr>
        <p:txBody>
          <a:bodyPr vert="horz" wrap="square" lIns="92075" tIns="46038" rIns="92075" bIns="46038" anchor="t" anchorCtr="0"/>
          <a:p>
            <a:pPr eaLnBrk="1" hangingPunct="1"/>
            <a:r>
              <a:rPr sz="2000" dirty="0"/>
              <a:t>Biology: taxonomy of living things: kingdom, phylum, class, order, family, genus and species</a:t>
            </a:r>
            <a:endParaRPr sz="2000" dirty="0"/>
          </a:p>
          <a:p>
            <a:pPr eaLnBrk="1" hangingPunct="1"/>
            <a:r>
              <a:rPr sz="2000" dirty="0"/>
              <a:t>Information retrieval: document clustering</a:t>
            </a:r>
            <a:endParaRPr sz="2000" dirty="0"/>
          </a:p>
          <a:p>
            <a:pPr eaLnBrk="1" hangingPunct="1"/>
            <a:r>
              <a:rPr sz="2000" dirty="0"/>
              <a:t>Land use: Identification of areas of similar land use in an earth observation database</a:t>
            </a:r>
            <a:endParaRPr sz="2000" dirty="0"/>
          </a:p>
          <a:p>
            <a:pPr eaLnBrk="1" hangingPunct="1"/>
            <a:r>
              <a:rPr sz="2000" dirty="0"/>
              <a:t>Marketing: Help marketers discover distinct groups in their customer bases, and then use this knowledge to develop targeted marketing programs</a:t>
            </a:r>
            <a:endParaRPr sz="2000" dirty="0"/>
          </a:p>
          <a:p>
            <a:pPr eaLnBrk="1" hangingPunct="1"/>
            <a:r>
              <a:rPr sz="2000" dirty="0"/>
              <a:t>City-planning: Identifying groups of houses according to their house type, value, and geographical location</a:t>
            </a:r>
            <a:endParaRPr sz="2000" dirty="0"/>
          </a:p>
          <a:p>
            <a:pPr eaLnBrk="1" hangingPunct="1"/>
            <a:r>
              <a:rPr sz="2000" dirty="0"/>
              <a:t>Earth-quake studies: Observed earth quake epicenters should be clustered along continent faults</a:t>
            </a:r>
            <a:endParaRPr sz="2000" dirty="0"/>
          </a:p>
          <a:p>
            <a:pPr eaLnBrk="1" hangingPunct="1"/>
            <a:r>
              <a:rPr sz="2000" dirty="0"/>
              <a:t>Climate: understanding earth climate, find patterns of atmospheric and ocean</a:t>
            </a:r>
            <a:endParaRPr sz="2000" dirty="0"/>
          </a:p>
          <a:p>
            <a:pPr eaLnBrk="1" hangingPunct="1"/>
            <a:r>
              <a:rPr sz="2000" dirty="0"/>
              <a:t>Economic Science: market resarch</a:t>
            </a:r>
            <a:endParaRPr sz="2000" dirty="0"/>
          </a:p>
        </p:txBody>
      </p:sp>
    </p:spTree>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Slide Number Placeholder 5"/>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
        <p:nvSpPr>
          <p:cNvPr id="9219" name="Rectangle 2"/>
          <p:cNvSpPr>
            <a:spLocks noGrp="1"/>
          </p:cNvSpPr>
          <p:nvPr>
            <p:ph type="title"/>
          </p:nvPr>
        </p:nvSpPr>
        <p:spPr>
          <a:xfrm>
            <a:off x="304800" y="228600"/>
            <a:ext cx="8458200" cy="782638"/>
          </a:xfrm>
        </p:spPr>
        <p:txBody>
          <a:bodyPr vert="horz" wrap="square" lIns="92075" tIns="46038" rIns="92075" bIns="46038" anchor="ctr" anchorCtr="0"/>
          <a:p>
            <a:pPr eaLnBrk="1" hangingPunct="1"/>
            <a:r>
              <a:rPr sz="3200" dirty="0"/>
              <a:t>Clustering as a Preprocessing Tool (Utility)</a:t>
            </a:r>
            <a:endParaRPr sz="2800" dirty="0"/>
          </a:p>
        </p:txBody>
      </p:sp>
      <p:sp>
        <p:nvSpPr>
          <p:cNvPr id="9220" name="Rectangle 3"/>
          <p:cNvSpPr>
            <a:spLocks noGrp="1"/>
          </p:cNvSpPr>
          <p:nvPr>
            <p:ph idx="1"/>
          </p:nvPr>
        </p:nvSpPr>
        <p:spPr>
          <a:xfrm>
            <a:off x="381000" y="1371600"/>
            <a:ext cx="8534400" cy="5105400"/>
          </a:xfrm>
        </p:spPr>
        <p:txBody>
          <a:bodyPr vert="horz" wrap="square" lIns="92075" tIns="46038" rIns="92075" bIns="46038" anchor="t" anchorCtr="0"/>
          <a:p>
            <a:pPr eaLnBrk="1" hangingPunct="1">
              <a:lnSpc>
                <a:spcPct val="110000"/>
              </a:lnSpc>
            </a:pPr>
            <a:r>
              <a:rPr sz="2400" dirty="0"/>
              <a:t>Summarization: </a:t>
            </a:r>
            <a:endParaRPr sz="2400" dirty="0"/>
          </a:p>
          <a:p>
            <a:pPr lvl="1" eaLnBrk="1" hangingPunct="1">
              <a:lnSpc>
                <a:spcPct val="110000"/>
              </a:lnSpc>
            </a:pPr>
            <a:r>
              <a:rPr sz="2400" dirty="0"/>
              <a:t>Preprocessing for regression, PCA, classification, and association analysis</a:t>
            </a:r>
            <a:endParaRPr sz="2400" dirty="0"/>
          </a:p>
          <a:p>
            <a:pPr eaLnBrk="1" hangingPunct="1">
              <a:lnSpc>
                <a:spcPct val="110000"/>
              </a:lnSpc>
            </a:pPr>
            <a:r>
              <a:rPr sz="2400" dirty="0"/>
              <a:t>Compression:</a:t>
            </a:r>
            <a:endParaRPr sz="2400" dirty="0"/>
          </a:p>
          <a:p>
            <a:pPr lvl="1" eaLnBrk="1" hangingPunct="1">
              <a:lnSpc>
                <a:spcPct val="110000"/>
              </a:lnSpc>
            </a:pPr>
            <a:r>
              <a:rPr sz="2400" dirty="0"/>
              <a:t>Image processing: vector quantization</a:t>
            </a:r>
            <a:endParaRPr sz="2400" dirty="0"/>
          </a:p>
          <a:p>
            <a:pPr eaLnBrk="1" hangingPunct="1">
              <a:lnSpc>
                <a:spcPct val="110000"/>
              </a:lnSpc>
            </a:pPr>
            <a:r>
              <a:rPr sz="2400" dirty="0"/>
              <a:t>Finding K-nearest Neighbors</a:t>
            </a:r>
            <a:endParaRPr sz="2400" dirty="0"/>
          </a:p>
          <a:p>
            <a:pPr lvl="1" eaLnBrk="1" hangingPunct="1">
              <a:lnSpc>
                <a:spcPct val="110000"/>
              </a:lnSpc>
            </a:pPr>
            <a:r>
              <a:rPr sz="2400" dirty="0"/>
              <a:t>Localizing search to one or a small number of clusters</a:t>
            </a:r>
            <a:endParaRPr sz="2400" dirty="0"/>
          </a:p>
          <a:p>
            <a:pPr eaLnBrk="1" hangingPunct="1">
              <a:lnSpc>
                <a:spcPct val="110000"/>
              </a:lnSpc>
            </a:pPr>
            <a:r>
              <a:rPr sz="2400" dirty="0"/>
              <a:t>Outlier detection</a:t>
            </a:r>
            <a:endParaRPr sz="2400" dirty="0"/>
          </a:p>
          <a:p>
            <a:pPr lvl="1" eaLnBrk="1" hangingPunct="1">
              <a:lnSpc>
                <a:spcPct val="110000"/>
              </a:lnSpc>
            </a:pPr>
            <a:r>
              <a:rPr sz="2400" dirty="0"/>
              <a:t>Outliers are often viewed as those “far away” from any cluster</a:t>
            </a:r>
            <a:endParaRPr sz="2400" dirty="0"/>
          </a:p>
        </p:txBody>
      </p:sp>
    </p:spTree>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a:xfrm>
            <a:off x="609600" y="381000"/>
            <a:ext cx="7296150" cy="533400"/>
          </a:xfrm>
        </p:spPr>
        <p:txBody>
          <a:bodyPr vert="horz" wrap="square" lIns="92075" tIns="46038" rIns="92075" bIns="46038" anchor="ctr" anchorCtr="0"/>
          <a:p>
            <a:pPr eaLnBrk="1" hangingPunct="1"/>
            <a:r>
              <a:rPr dirty="0"/>
              <a:t>Quality: What Is Good Clustering?</a:t>
            </a:r>
            <a:endParaRPr dirty="0"/>
          </a:p>
        </p:txBody>
      </p:sp>
      <p:sp>
        <p:nvSpPr>
          <p:cNvPr id="10243" name="Rectangle 3"/>
          <p:cNvSpPr>
            <a:spLocks noGrp="1"/>
          </p:cNvSpPr>
          <p:nvPr>
            <p:ph idx="1"/>
          </p:nvPr>
        </p:nvSpPr>
        <p:spPr>
          <a:xfrm>
            <a:off x="381000" y="1447800"/>
            <a:ext cx="8382000" cy="4876800"/>
          </a:xfrm>
        </p:spPr>
        <p:txBody>
          <a:bodyPr vert="horz" wrap="square" lIns="92075" tIns="46038" rIns="92075" bIns="46038" anchor="t" anchorCtr="0"/>
          <a:p>
            <a:pPr eaLnBrk="1" hangingPunct="1">
              <a:lnSpc>
                <a:spcPct val="130000"/>
              </a:lnSpc>
            </a:pPr>
            <a:r>
              <a:rPr sz="2400" dirty="0"/>
              <a:t>A </a:t>
            </a:r>
            <a:r>
              <a:rPr sz="2400" u="sng" dirty="0"/>
              <a:t>good clustering</a:t>
            </a:r>
            <a:r>
              <a:rPr sz="2400" dirty="0"/>
              <a:t> method will produce high quality clusters</a:t>
            </a:r>
            <a:endParaRPr sz="2400" dirty="0"/>
          </a:p>
          <a:p>
            <a:pPr lvl="1" eaLnBrk="1" hangingPunct="1">
              <a:lnSpc>
                <a:spcPct val="130000"/>
              </a:lnSpc>
            </a:pPr>
            <a:r>
              <a:rPr sz="2400" dirty="0"/>
              <a:t>high </a:t>
            </a:r>
            <a:r>
              <a:rPr sz="2400" u="sng" dirty="0"/>
              <a:t>intra-class</a:t>
            </a:r>
            <a:r>
              <a:rPr sz="2400" dirty="0"/>
              <a:t> similarity: </a:t>
            </a:r>
            <a:r>
              <a:rPr sz="2400" dirty="0">
                <a:solidFill>
                  <a:schemeClr val="hlink"/>
                </a:solidFill>
              </a:rPr>
              <a:t>cohesive</a:t>
            </a:r>
            <a:r>
              <a:rPr sz="2400" dirty="0"/>
              <a:t> within clusters</a:t>
            </a:r>
            <a:endParaRPr sz="2400" dirty="0"/>
          </a:p>
          <a:p>
            <a:pPr lvl="1" eaLnBrk="1" hangingPunct="1">
              <a:lnSpc>
                <a:spcPct val="130000"/>
              </a:lnSpc>
            </a:pPr>
            <a:r>
              <a:rPr sz="2400" dirty="0"/>
              <a:t>low </a:t>
            </a:r>
            <a:r>
              <a:rPr sz="2400" u="sng" dirty="0"/>
              <a:t>inter-class</a:t>
            </a:r>
            <a:r>
              <a:rPr sz="2400" dirty="0"/>
              <a:t> similarity: </a:t>
            </a:r>
            <a:r>
              <a:rPr sz="2400" dirty="0">
                <a:solidFill>
                  <a:schemeClr val="hlink"/>
                </a:solidFill>
              </a:rPr>
              <a:t>distinctive</a:t>
            </a:r>
            <a:r>
              <a:rPr sz="2400" dirty="0"/>
              <a:t> between clusters</a:t>
            </a:r>
            <a:endParaRPr sz="2400" dirty="0"/>
          </a:p>
          <a:p>
            <a:pPr eaLnBrk="1" hangingPunct="1">
              <a:lnSpc>
                <a:spcPct val="130000"/>
              </a:lnSpc>
            </a:pPr>
            <a:r>
              <a:rPr sz="2400" dirty="0"/>
              <a:t>The </a:t>
            </a:r>
            <a:r>
              <a:rPr sz="2400" u="sng" dirty="0"/>
              <a:t>quality</a:t>
            </a:r>
            <a:r>
              <a:rPr sz="2400" dirty="0"/>
              <a:t> of a clustering method depends on</a:t>
            </a:r>
            <a:endParaRPr sz="2400" dirty="0"/>
          </a:p>
          <a:p>
            <a:pPr lvl="1" eaLnBrk="1" hangingPunct="1">
              <a:lnSpc>
                <a:spcPct val="130000"/>
              </a:lnSpc>
            </a:pPr>
            <a:r>
              <a:rPr sz="2400" dirty="0"/>
              <a:t>the similarity measure used by the method </a:t>
            </a:r>
            <a:endParaRPr sz="2400" dirty="0"/>
          </a:p>
          <a:p>
            <a:pPr lvl="1" eaLnBrk="1" hangingPunct="1">
              <a:lnSpc>
                <a:spcPct val="130000"/>
              </a:lnSpc>
            </a:pPr>
            <a:r>
              <a:rPr sz="2400" dirty="0"/>
              <a:t>its implementation, and</a:t>
            </a:r>
            <a:endParaRPr sz="2400" dirty="0"/>
          </a:p>
          <a:p>
            <a:pPr lvl="1" eaLnBrk="1" hangingPunct="1">
              <a:lnSpc>
                <a:spcPct val="130000"/>
              </a:lnSpc>
            </a:pPr>
            <a:r>
              <a:rPr sz="2400" dirty="0"/>
              <a:t>Its ability to discover some or all of the </a:t>
            </a:r>
            <a:r>
              <a:rPr sz="2400" u="sng" dirty="0"/>
              <a:t>hidden</a:t>
            </a:r>
            <a:r>
              <a:rPr sz="2400" dirty="0"/>
              <a:t> patterns</a:t>
            </a:r>
            <a:endParaRPr sz="2400" dirty="0"/>
          </a:p>
        </p:txBody>
      </p:sp>
      <p:sp>
        <p:nvSpPr>
          <p:cNvPr id="10244"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p:nvPr>
        </p:nvSpPr>
        <p:spPr>
          <a:xfrm>
            <a:off x="1219200" y="228600"/>
            <a:ext cx="6705600" cy="838200"/>
          </a:xfrm>
        </p:spPr>
        <p:txBody>
          <a:bodyPr vert="horz" wrap="square" lIns="92075" tIns="46038" rIns="92075" bIns="46038" anchor="ctr" anchorCtr="0"/>
          <a:p>
            <a:pPr eaLnBrk="1" hangingPunct="1"/>
            <a:r>
              <a:rPr sz="3200" dirty="0"/>
              <a:t>Measure the Quality of Clustering</a:t>
            </a:r>
            <a:endParaRPr sz="3200" dirty="0"/>
          </a:p>
        </p:txBody>
      </p:sp>
      <p:sp>
        <p:nvSpPr>
          <p:cNvPr id="11267" name="Rectangle 3"/>
          <p:cNvSpPr>
            <a:spLocks noGrp="1"/>
          </p:cNvSpPr>
          <p:nvPr>
            <p:ph idx="1"/>
          </p:nvPr>
        </p:nvSpPr>
        <p:spPr>
          <a:xfrm>
            <a:off x="304800" y="1219200"/>
            <a:ext cx="8458200" cy="5257800"/>
          </a:xfrm>
        </p:spPr>
        <p:txBody>
          <a:bodyPr vert="horz" wrap="square" lIns="92075" tIns="46038" rIns="92075" bIns="46038" anchor="t" anchorCtr="0"/>
          <a:p>
            <a:pPr marL="457200" indent="-457200" eaLnBrk="1" hangingPunct="1"/>
            <a:r>
              <a:rPr sz="2400" dirty="0">
                <a:solidFill>
                  <a:schemeClr val="hlink"/>
                </a:solidFill>
              </a:rPr>
              <a:t>Dissimilarity/Similarity metric</a:t>
            </a:r>
            <a:endParaRPr sz="2400" dirty="0"/>
          </a:p>
          <a:p>
            <a:pPr marL="914400" lvl="1" indent="-457200" eaLnBrk="1" hangingPunct="1"/>
            <a:r>
              <a:rPr sz="2400" dirty="0"/>
              <a:t>Similarity is expressed in terms of a distance function, typically metric: </a:t>
            </a:r>
            <a:r>
              <a:rPr sz="2400" i="1" dirty="0"/>
              <a:t>d</a:t>
            </a:r>
            <a:r>
              <a:rPr sz="2400" dirty="0"/>
              <a:t>(</a:t>
            </a:r>
            <a:r>
              <a:rPr sz="2400" i="1" dirty="0"/>
              <a:t>i, j</a:t>
            </a:r>
            <a:r>
              <a:rPr sz="2400" dirty="0"/>
              <a:t>)</a:t>
            </a:r>
            <a:endParaRPr sz="2400" dirty="0"/>
          </a:p>
          <a:p>
            <a:pPr marL="914400" lvl="1" indent="-457200" eaLnBrk="1" hangingPunct="1"/>
            <a:r>
              <a:rPr sz="2400" dirty="0"/>
              <a:t>The definitions of </a:t>
            </a:r>
            <a:r>
              <a:rPr sz="2400" dirty="0">
                <a:solidFill>
                  <a:schemeClr val="hlink"/>
                </a:solidFill>
              </a:rPr>
              <a:t>distance functions</a:t>
            </a:r>
            <a:r>
              <a:rPr sz="2400" dirty="0"/>
              <a:t> are usually rather different for interval-scaled, boolean, categorical, ordinal ratio, and vector variables</a:t>
            </a:r>
            <a:endParaRPr sz="2400" dirty="0"/>
          </a:p>
          <a:p>
            <a:pPr marL="914400" lvl="1" indent="-457200" eaLnBrk="1" hangingPunct="1"/>
            <a:r>
              <a:rPr sz="2400" dirty="0"/>
              <a:t>Weights should be associated with different variables based on applications and data semantics</a:t>
            </a:r>
            <a:endParaRPr sz="2400" dirty="0">
              <a:sym typeface="Symbol" panose="05050102010706020507" pitchFamily="18" charset="2"/>
            </a:endParaRPr>
          </a:p>
          <a:p>
            <a:pPr marL="457200" indent="-457200" eaLnBrk="1" hangingPunct="1"/>
            <a:r>
              <a:rPr sz="2400" dirty="0"/>
              <a:t>Quality of clustering:</a:t>
            </a:r>
            <a:endParaRPr sz="2400" dirty="0"/>
          </a:p>
          <a:p>
            <a:pPr marL="914400" lvl="1" indent="-457200" eaLnBrk="1" hangingPunct="1"/>
            <a:r>
              <a:rPr sz="2400" dirty="0"/>
              <a:t>There is usually a separate “quality” function that measures the “goodness” of a cluster.</a:t>
            </a:r>
            <a:endParaRPr sz="2400" dirty="0"/>
          </a:p>
          <a:p>
            <a:pPr marL="914400" lvl="1" indent="-457200" eaLnBrk="1" hangingPunct="1"/>
            <a:r>
              <a:rPr sz="2400" dirty="0">
                <a:sym typeface="Symbol" panose="05050102010706020507" pitchFamily="18" charset="2"/>
              </a:rPr>
              <a:t>It is hard to define “similar enough” or “good enough” </a:t>
            </a:r>
            <a:endParaRPr sz="2400" dirty="0">
              <a:sym typeface="Symbol" panose="05050102010706020507" pitchFamily="18" charset="2"/>
            </a:endParaRPr>
          </a:p>
          <a:p>
            <a:pPr marL="1371600" lvl="2" indent="-457200" eaLnBrk="1" hangingPunct="1"/>
            <a:r>
              <a:rPr dirty="0">
                <a:sym typeface="Symbol" panose="05050102010706020507" pitchFamily="18" charset="2"/>
              </a:rPr>
              <a:t> The answer is typically highly subjective</a:t>
            </a:r>
            <a:endParaRPr dirty="0">
              <a:sym typeface="Symbol" panose="05050102010706020507" pitchFamily="18" charset="2"/>
            </a:endParaRPr>
          </a:p>
        </p:txBody>
      </p:sp>
      <p:sp>
        <p:nvSpPr>
          <p:cNvPr id="11268"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Title 1"/>
          <p:cNvSpPr>
            <a:spLocks noGrp="1"/>
          </p:cNvSpPr>
          <p:nvPr>
            <p:ph type="title"/>
          </p:nvPr>
        </p:nvSpPr>
        <p:spPr/>
        <p:txBody>
          <a:bodyPr vert="horz" wrap="square" lIns="91440" tIns="45720" rIns="91440" bIns="45720" anchor="b" anchorCtr="0"/>
          <a:p>
            <a:r>
              <a:rPr dirty="0"/>
              <a:t>Considerations for Cluster Analysis</a:t>
            </a:r>
            <a:endParaRPr dirty="0"/>
          </a:p>
        </p:txBody>
      </p:sp>
      <p:sp>
        <p:nvSpPr>
          <p:cNvPr id="12291" name="Content Placeholder 2"/>
          <p:cNvSpPr>
            <a:spLocks noGrp="1"/>
          </p:cNvSpPr>
          <p:nvPr>
            <p:ph idx="1"/>
          </p:nvPr>
        </p:nvSpPr>
        <p:spPr/>
        <p:txBody>
          <a:bodyPr vert="horz" wrap="square" lIns="91440" tIns="45720" rIns="91440" bIns="45720" anchor="t" anchorCtr="0"/>
          <a:p>
            <a:pPr>
              <a:spcAft>
                <a:spcPts val="600"/>
              </a:spcAft>
            </a:pPr>
            <a:r>
              <a:rPr sz="2000" dirty="0"/>
              <a:t>Partitioning criteria</a:t>
            </a:r>
            <a:endParaRPr sz="2000" dirty="0"/>
          </a:p>
          <a:p>
            <a:pPr lvl="1">
              <a:spcAft>
                <a:spcPts val="600"/>
              </a:spcAft>
            </a:pPr>
            <a:r>
              <a:rPr sz="2000" dirty="0"/>
              <a:t>Single level vs. hierarchical partitioning (often, multi-level hierarchical partitioning is desirable)</a:t>
            </a:r>
            <a:endParaRPr sz="2000" dirty="0"/>
          </a:p>
          <a:p>
            <a:pPr>
              <a:spcAft>
                <a:spcPts val="600"/>
              </a:spcAft>
            </a:pPr>
            <a:r>
              <a:rPr sz="2000" dirty="0"/>
              <a:t>Separation of clusters</a:t>
            </a:r>
            <a:endParaRPr sz="2000" dirty="0"/>
          </a:p>
          <a:p>
            <a:pPr lvl="1">
              <a:spcAft>
                <a:spcPts val="600"/>
              </a:spcAft>
            </a:pPr>
            <a:r>
              <a:rPr sz="2000" dirty="0"/>
              <a:t>Exclusive (e.g., one customer belongs to only one region) vs. non-exclusive (e.g., one document may belong to more than one class)</a:t>
            </a:r>
            <a:endParaRPr sz="2000" dirty="0"/>
          </a:p>
          <a:p>
            <a:pPr>
              <a:spcAft>
                <a:spcPts val="600"/>
              </a:spcAft>
            </a:pPr>
            <a:r>
              <a:rPr sz="2000" dirty="0"/>
              <a:t>Similarity measure</a:t>
            </a:r>
            <a:endParaRPr sz="2000" dirty="0"/>
          </a:p>
          <a:p>
            <a:pPr lvl="1">
              <a:spcAft>
                <a:spcPts val="600"/>
              </a:spcAft>
            </a:pPr>
            <a:r>
              <a:rPr sz="2000" dirty="0"/>
              <a:t>Distance-based (e.g., Euclidian, road network, vector)  vs. connectivity-based (e.g., density or contiguity)</a:t>
            </a:r>
            <a:endParaRPr sz="2000" dirty="0"/>
          </a:p>
          <a:p>
            <a:pPr>
              <a:spcAft>
                <a:spcPts val="600"/>
              </a:spcAft>
            </a:pPr>
            <a:r>
              <a:rPr sz="2000" dirty="0"/>
              <a:t>Clustering space</a:t>
            </a:r>
            <a:endParaRPr sz="2000" dirty="0"/>
          </a:p>
          <a:p>
            <a:pPr lvl="1">
              <a:spcAft>
                <a:spcPts val="600"/>
              </a:spcAft>
            </a:pPr>
            <a:r>
              <a:rPr sz="2000" dirty="0"/>
              <a:t>Full space (often when low dimensional) vs. subspaces (often in high-dimensional clustering)</a:t>
            </a:r>
            <a:endParaRPr sz="2000" dirty="0"/>
          </a:p>
        </p:txBody>
      </p:sp>
      <p:sp>
        <p:nvSpPr>
          <p:cNvPr id="12292"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itle 1"/>
          <p:cNvSpPr>
            <a:spLocks noGrp="1"/>
          </p:cNvSpPr>
          <p:nvPr>
            <p:ph type="title"/>
          </p:nvPr>
        </p:nvSpPr>
        <p:spPr/>
        <p:txBody>
          <a:bodyPr vert="horz" wrap="square" lIns="91440" tIns="45720" rIns="91440" bIns="45720" anchor="b" anchorCtr="0"/>
          <a:p>
            <a:r>
              <a:rPr dirty="0"/>
              <a:t>Requirements and Challenges</a:t>
            </a:r>
            <a:endParaRPr dirty="0"/>
          </a:p>
        </p:txBody>
      </p:sp>
      <p:sp>
        <p:nvSpPr>
          <p:cNvPr id="13315" name="Content Placeholder 2"/>
          <p:cNvSpPr>
            <a:spLocks noGrp="1"/>
          </p:cNvSpPr>
          <p:nvPr>
            <p:ph idx="1"/>
          </p:nvPr>
        </p:nvSpPr>
        <p:spPr/>
        <p:txBody>
          <a:bodyPr vert="horz" wrap="square" lIns="91440" tIns="45720" rIns="91440" bIns="45720" anchor="t" anchorCtr="0"/>
          <a:p>
            <a:r>
              <a:rPr sz="2000" dirty="0"/>
              <a:t>Scalability</a:t>
            </a:r>
            <a:endParaRPr sz="2000" dirty="0"/>
          </a:p>
          <a:p>
            <a:pPr lvl="1"/>
            <a:r>
              <a:rPr sz="2000" dirty="0"/>
              <a:t>Clustering all the data instead of only on samples</a:t>
            </a:r>
            <a:endParaRPr sz="2000" dirty="0"/>
          </a:p>
          <a:p>
            <a:r>
              <a:rPr sz="2000" dirty="0"/>
              <a:t>Ability to deal with different types of attributes</a:t>
            </a:r>
            <a:endParaRPr sz="2000" dirty="0"/>
          </a:p>
          <a:p>
            <a:pPr lvl="1"/>
            <a:r>
              <a:rPr sz="2000" dirty="0"/>
              <a:t>Numerical, binary, categorical, ordinal, linked, and mixture of these </a:t>
            </a:r>
            <a:endParaRPr sz="2000" dirty="0"/>
          </a:p>
          <a:p>
            <a:r>
              <a:rPr sz="2000" dirty="0"/>
              <a:t>Constraint-based clustering</a:t>
            </a:r>
            <a:endParaRPr sz="2000" dirty="0"/>
          </a:p>
          <a:p>
            <a:pPr marL="742950" lvl="2" indent="-342900">
              <a:buSzPct val="60000"/>
            </a:pPr>
            <a:r>
              <a:rPr sz="2000" dirty="0"/>
              <a:t>User may give inputs on constraints</a:t>
            </a:r>
            <a:endParaRPr sz="2000" dirty="0"/>
          </a:p>
          <a:p>
            <a:pPr marL="742950" lvl="2" indent="-342900">
              <a:buSzPct val="60000"/>
            </a:pPr>
            <a:r>
              <a:rPr sz="2000" dirty="0"/>
              <a:t>Use domain knowledge to determine input parameters</a:t>
            </a:r>
            <a:endParaRPr sz="2000" dirty="0"/>
          </a:p>
          <a:p>
            <a:r>
              <a:rPr sz="2000" dirty="0"/>
              <a:t>Interpretability and usability</a:t>
            </a:r>
            <a:endParaRPr sz="2000" dirty="0"/>
          </a:p>
          <a:p>
            <a:r>
              <a:rPr sz="2000" dirty="0"/>
              <a:t>Others </a:t>
            </a:r>
            <a:endParaRPr sz="2000" dirty="0"/>
          </a:p>
          <a:p>
            <a:pPr lvl="1"/>
            <a:r>
              <a:rPr sz="2000" dirty="0"/>
              <a:t>Discovery of clusters with arbitrary shape</a:t>
            </a:r>
            <a:endParaRPr sz="2000" dirty="0"/>
          </a:p>
          <a:p>
            <a:pPr lvl="1"/>
            <a:r>
              <a:rPr sz="2000" dirty="0"/>
              <a:t>Ability to deal with noisy data</a:t>
            </a:r>
            <a:endParaRPr sz="2000" dirty="0"/>
          </a:p>
          <a:p>
            <a:pPr lvl="1"/>
            <a:r>
              <a:rPr sz="2000" dirty="0"/>
              <a:t>Incremental clustering and insensitivity to input order</a:t>
            </a:r>
            <a:endParaRPr sz="2000" dirty="0"/>
          </a:p>
          <a:p>
            <a:pPr lvl="1"/>
            <a:r>
              <a:rPr sz="2000" dirty="0"/>
              <a:t>High dimensionality</a:t>
            </a:r>
            <a:endParaRPr sz="2000" dirty="0"/>
          </a:p>
        </p:txBody>
      </p:sp>
      <p:sp>
        <p:nvSpPr>
          <p:cNvPr id="13316"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a:xfrm>
            <a:off x="1371600" y="304800"/>
            <a:ext cx="6324600" cy="685800"/>
          </a:xfrm>
        </p:spPr>
        <p:txBody>
          <a:bodyPr vert="horz" wrap="square" lIns="92075" tIns="46038" rIns="92075" bIns="46038" anchor="ctr" anchorCtr="0"/>
          <a:p>
            <a:pPr eaLnBrk="1" hangingPunct="1"/>
            <a:r>
              <a:rPr sz="3200" dirty="0"/>
              <a:t>Major Clustering Approaches (I)</a:t>
            </a:r>
            <a:endParaRPr dirty="0"/>
          </a:p>
        </p:txBody>
      </p:sp>
      <p:sp>
        <p:nvSpPr>
          <p:cNvPr id="14339" name="Rectangle 3"/>
          <p:cNvSpPr>
            <a:spLocks noGrp="1"/>
          </p:cNvSpPr>
          <p:nvPr>
            <p:ph idx="1"/>
          </p:nvPr>
        </p:nvSpPr>
        <p:spPr>
          <a:xfrm>
            <a:off x="304800" y="1447800"/>
            <a:ext cx="8534400" cy="5105400"/>
          </a:xfrm>
        </p:spPr>
        <p:txBody>
          <a:bodyPr vert="horz" wrap="square" lIns="92075" tIns="46038" rIns="92075" bIns="46038" anchor="t" anchorCtr="0"/>
          <a:p>
            <a:pPr eaLnBrk="1" hangingPunct="1"/>
            <a:r>
              <a:rPr sz="2000" u="sng" dirty="0"/>
              <a:t>Partitioning approach</a:t>
            </a:r>
            <a:r>
              <a:rPr sz="2000" dirty="0"/>
              <a:t>: </a:t>
            </a:r>
            <a:endParaRPr sz="2000" dirty="0"/>
          </a:p>
          <a:p>
            <a:pPr lvl="1" eaLnBrk="1" hangingPunct="1"/>
            <a:r>
              <a:rPr sz="2000" dirty="0"/>
              <a:t>Construct various partitions and then evaluate them by some criterion, e.g., minimizing the sum of square errors</a:t>
            </a:r>
            <a:endParaRPr sz="2000" dirty="0"/>
          </a:p>
          <a:p>
            <a:pPr lvl="1" eaLnBrk="1" hangingPunct="1"/>
            <a:r>
              <a:rPr sz="2000" dirty="0"/>
              <a:t>Typical methods: k-means, k-medoids, CLARANS</a:t>
            </a:r>
            <a:endParaRPr sz="2000" dirty="0"/>
          </a:p>
          <a:p>
            <a:pPr eaLnBrk="1" hangingPunct="1"/>
            <a:r>
              <a:rPr sz="2000" u="sng" dirty="0"/>
              <a:t>Hierarchical approach</a:t>
            </a:r>
            <a:r>
              <a:rPr sz="2000" dirty="0"/>
              <a:t>: </a:t>
            </a:r>
            <a:endParaRPr sz="2000" dirty="0"/>
          </a:p>
          <a:p>
            <a:pPr lvl="1" eaLnBrk="1" hangingPunct="1"/>
            <a:r>
              <a:rPr sz="2000" dirty="0"/>
              <a:t>Create a hierarchical decomposition of the set of data (or objects) using some criterion</a:t>
            </a:r>
            <a:endParaRPr sz="2000" dirty="0"/>
          </a:p>
          <a:p>
            <a:pPr lvl="1" eaLnBrk="1" hangingPunct="1"/>
            <a:r>
              <a:rPr sz="2000" dirty="0"/>
              <a:t>Typical methods: Diana, Agnes, BIRCH, CAMELEON</a:t>
            </a:r>
            <a:endParaRPr sz="2000" dirty="0"/>
          </a:p>
          <a:p>
            <a:pPr eaLnBrk="1" hangingPunct="1"/>
            <a:r>
              <a:rPr sz="2000" u="sng" dirty="0"/>
              <a:t>Density-based approach</a:t>
            </a:r>
            <a:r>
              <a:rPr sz="2000" dirty="0"/>
              <a:t>: </a:t>
            </a:r>
            <a:endParaRPr sz="2000" dirty="0"/>
          </a:p>
          <a:p>
            <a:pPr lvl="1" eaLnBrk="1" hangingPunct="1"/>
            <a:r>
              <a:rPr sz="2000" dirty="0"/>
              <a:t>Based on connectivity and density functions</a:t>
            </a:r>
            <a:endParaRPr sz="2000" dirty="0"/>
          </a:p>
          <a:p>
            <a:pPr lvl="1" eaLnBrk="1" hangingPunct="1"/>
            <a:r>
              <a:rPr sz="2000" dirty="0"/>
              <a:t>Typical methods: DBSACN, OPTICS, DenClue</a:t>
            </a:r>
            <a:endParaRPr sz="2000" dirty="0"/>
          </a:p>
          <a:p>
            <a:pPr eaLnBrk="1" hangingPunct="1"/>
            <a:r>
              <a:rPr sz="2000" u="sng" dirty="0"/>
              <a:t>Grid-based approach</a:t>
            </a:r>
            <a:r>
              <a:rPr sz="2000" dirty="0"/>
              <a:t>: </a:t>
            </a:r>
            <a:endParaRPr sz="2000" dirty="0"/>
          </a:p>
          <a:p>
            <a:pPr lvl="1" eaLnBrk="1" hangingPunct="1"/>
            <a:r>
              <a:rPr sz="2000" dirty="0"/>
              <a:t>based on a multiple-level granularity structure</a:t>
            </a:r>
            <a:endParaRPr sz="2000" dirty="0"/>
          </a:p>
          <a:p>
            <a:pPr lvl="1" eaLnBrk="1" hangingPunct="1"/>
            <a:r>
              <a:rPr sz="2000" dirty="0"/>
              <a:t>Typical methods: STING, WaveCluster, CLIQUE</a:t>
            </a:r>
            <a:endParaRPr sz="2000" dirty="0"/>
          </a:p>
        </p:txBody>
      </p:sp>
      <p:sp>
        <p:nvSpPr>
          <p:cNvPr id="14340"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a:xfrm>
            <a:off x="1371600" y="381000"/>
            <a:ext cx="6324600" cy="685800"/>
          </a:xfrm>
        </p:spPr>
        <p:txBody>
          <a:bodyPr vert="horz" wrap="square" lIns="92075" tIns="46038" rIns="92075" bIns="46038" anchor="ctr" anchorCtr="0"/>
          <a:p>
            <a:pPr eaLnBrk="1" hangingPunct="1"/>
            <a:r>
              <a:rPr sz="3200" dirty="0"/>
              <a:t>Major Clustering Approaches (II)</a:t>
            </a:r>
            <a:endParaRPr sz="3200" dirty="0"/>
          </a:p>
        </p:txBody>
      </p:sp>
      <p:sp>
        <p:nvSpPr>
          <p:cNvPr id="15363" name="Rectangle 3"/>
          <p:cNvSpPr>
            <a:spLocks noGrp="1"/>
          </p:cNvSpPr>
          <p:nvPr>
            <p:ph idx="1"/>
          </p:nvPr>
        </p:nvSpPr>
        <p:spPr>
          <a:xfrm>
            <a:off x="304800" y="1295400"/>
            <a:ext cx="8534400" cy="5257800"/>
          </a:xfrm>
        </p:spPr>
        <p:txBody>
          <a:bodyPr vert="horz" wrap="square" lIns="92075" tIns="46038" rIns="92075" bIns="46038" anchor="t" anchorCtr="0"/>
          <a:p>
            <a:pPr eaLnBrk="1" hangingPunct="1"/>
            <a:r>
              <a:rPr sz="2000" u="sng" dirty="0"/>
              <a:t>Model-based</a:t>
            </a:r>
            <a:r>
              <a:rPr sz="2000" dirty="0"/>
              <a:t>: </a:t>
            </a:r>
            <a:endParaRPr sz="2000" dirty="0"/>
          </a:p>
          <a:p>
            <a:pPr lvl="1" eaLnBrk="1" hangingPunct="1"/>
            <a:r>
              <a:rPr sz="2000" dirty="0"/>
              <a:t>A model is hypothesized for each of the clusters and tries to find the best fit of that model to each other</a:t>
            </a:r>
            <a:endParaRPr sz="2000" dirty="0"/>
          </a:p>
          <a:p>
            <a:pPr lvl="1" eaLnBrk="1" hangingPunct="1"/>
            <a:r>
              <a:rPr sz="2000" dirty="0"/>
              <a:t>Typical methods:</a:t>
            </a:r>
            <a:r>
              <a:rPr sz="2000" b="1" dirty="0"/>
              <a:t> </a:t>
            </a:r>
            <a:r>
              <a:rPr sz="2000" dirty="0"/>
              <a:t>EM, SOM, COBWEB</a:t>
            </a:r>
            <a:endParaRPr sz="2000" dirty="0"/>
          </a:p>
          <a:p>
            <a:pPr eaLnBrk="1" hangingPunct="1"/>
            <a:r>
              <a:rPr sz="2000" u="sng" dirty="0"/>
              <a:t>Frequent pattern-based:</a:t>
            </a:r>
            <a:endParaRPr sz="2000" u="sng" dirty="0"/>
          </a:p>
          <a:p>
            <a:pPr lvl="1" eaLnBrk="1" hangingPunct="1"/>
            <a:r>
              <a:rPr sz="2000" dirty="0"/>
              <a:t>Based on the analysis of frequent patterns</a:t>
            </a:r>
            <a:endParaRPr sz="2000" dirty="0"/>
          </a:p>
          <a:p>
            <a:pPr lvl="1" eaLnBrk="1" hangingPunct="1"/>
            <a:r>
              <a:rPr sz="2000" dirty="0"/>
              <a:t>Typical methods: p-Cluster</a:t>
            </a:r>
            <a:endParaRPr sz="2000" dirty="0"/>
          </a:p>
          <a:p>
            <a:pPr eaLnBrk="1" hangingPunct="1"/>
            <a:r>
              <a:rPr sz="2000" u="sng" dirty="0"/>
              <a:t>User-guided or constraint-based</a:t>
            </a:r>
            <a:r>
              <a:rPr sz="2000" dirty="0"/>
              <a:t>: </a:t>
            </a:r>
            <a:endParaRPr sz="2000" dirty="0"/>
          </a:p>
          <a:p>
            <a:pPr lvl="1" eaLnBrk="1" hangingPunct="1"/>
            <a:r>
              <a:rPr sz="2000" dirty="0"/>
              <a:t>Clustering by considering user-specified or application-specific constraints</a:t>
            </a:r>
            <a:endParaRPr sz="2000" dirty="0"/>
          </a:p>
          <a:p>
            <a:pPr lvl="1" eaLnBrk="1" hangingPunct="1"/>
            <a:r>
              <a:rPr sz="2000" dirty="0"/>
              <a:t>Typical methods: COD (obstacles), constrained clustering</a:t>
            </a:r>
            <a:endParaRPr sz="2000" dirty="0"/>
          </a:p>
          <a:p>
            <a:pPr eaLnBrk="1" hangingPunct="1"/>
            <a:r>
              <a:rPr sz="2000" u="sng" dirty="0"/>
              <a:t>Link-based clustering</a:t>
            </a:r>
            <a:r>
              <a:rPr sz="2000" dirty="0"/>
              <a:t>:</a:t>
            </a:r>
            <a:endParaRPr sz="2000" dirty="0"/>
          </a:p>
          <a:p>
            <a:pPr lvl="1" eaLnBrk="1" hangingPunct="1"/>
            <a:r>
              <a:rPr sz="2000" dirty="0"/>
              <a:t>Objects are often linked together in various ways</a:t>
            </a:r>
            <a:endParaRPr sz="2000" dirty="0"/>
          </a:p>
          <a:p>
            <a:pPr lvl="1" eaLnBrk="1" hangingPunct="1"/>
            <a:r>
              <a:rPr sz="2000" dirty="0"/>
              <a:t>Massive links can be used to cluster objects: SimRank, LinkClus</a:t>
            </a:r>
            <a:endParaRPr sz="2000" dirty="0"/>
          </a:p>
        </p:txBody>
      </p:sp>
      <p:sp>
        <p:nvSpPr>
          <p:cNvPr id="15364"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16387" name="Rectangle 2"/>
          <p:cNvSpPr>
            <a:spLocks noGrp="1"/>
          </p:cNvSpPr>
          <p:nvPr>
            <p:ph type="title" idx="4294967295"/>
          </p:nvPr>
        </p:nvSpPr>
        <p:spPr>
          <a:xfrm>
            <a:off x="0" y="152400"/>
            <a:ext cx="9144000" cy="990600"/>
          </a:xfrm>
        </p:spPr>
        <p:txBody>
          <a:bodyPr vert="horz" wrap="square" lIns="92075" tIns="46038" rIns="92075" bIns="46038" anchor="ctr" anchorCtr="0"/>
          <a:p>
            <a:pPr eaLnBrk="1" hangingPunct="1"/>
            <a:r>
              <a:rPr sz="3200" dirty="0"/>
              <a:t>Chapter 10. </a:t>
            </a:r>
            <a:r>
              <a:rPr lang="en-AU" altLang="zh-TW" sz="3200" dirty="0">
                <a:ea typeface="PMingLiU" panose="02020500000000000000" pitchFamily="18" charset="-120"/>
              </a:rPr>
              <a:t>Cluster Analysis: Basic Concepts and Methods</a:t>
            </a:r>
            <a:endParaRPr sz="3200" dirty="0">
              <a:ea typeface="PMingLiU" panose="02020500000000000000" pitchFamily="18" charset="-120"/>
            </a:endParaRPr>
          </a:p>
        </p:txBody>
      </p:sp>
      <p:sp>
        <p:nvSpPr>
          <p:cNvPr id="16388" name="Rectangle 3"/>
          <p:cNvSpPr>
            <a:spLocks noGrp="1"/>
          </p:cNvSpPr>
          <p:nvPr>
            <p:ph type="body" idx="4294967295"/>
          </p:nvPr>
        </p:nvSpPr>
        <p:spPr>
          <a:xfrm>
            <a:off x="381000" y="1371600"/>
            <a:ext cx="8223250" cy="5181600"/>
          </a:xfrm>
        </p:spPr>
        <p:txBody>
          <a:bodyPr vert="horz" wrap="square" lIns="92075" tIns="46038" rIns="92075" bIns="46038" anchor="t" anchorCtr="0"/>
          <a:p>
            <a:pPr marL="533400" indent="-533400">
              <a:lnSpc>
                <a:spcPct val="150000"/>
              </a:lnSpc>
            </a:pPr>
            <a:r>
              <a:rPr dirty="0">
                <a:latin typeface="Calibri" panose="020F0502020204030204" pitchFamily="34" charset="0"/>
              </a:rPr>
              <a:t>Cluster Analysis: Basic Concepts</a:t>
            </a:r>
            <a:endParaRPr dirty="0">
              <a:latin typeface="Calibri" panose="020F0502020204030204" pitchFamily="34" charset="0"/>
            </a:endParaRPr>
          </a:p>
          <a:p>
            <a:pPr marL="533400" indent="-533400">
              <a:lnSpc>
                <a:spcPct val="150000"/>
              </a:lnSpc>
            </a:pPr>
            <a:r>
              <a:rPr dirty="0">
                <a:latin typeface="Calibri" panose="020F0502020204030204" pitchFamily="34" charset="0"/>
              </a:rPr>
              <a:t>Partitioning Methods</a:t>
            </a:r>
            <a:endParaRPr dirty="0">
              <a:latin typeface="Calibri" panose="020F0502020204030204" pitchFamily="34" charset="0"/>
            </a:endParaRPr>
          </a:p>
          <a:p>
            <a:pPr marL="533400" indent="-533400">
              <a:lnSpc>
                <a:spcPct val="150000"/>
              </a:lnSpc>
            </a:pPr>
            <a:r>
              <a:rPr dirty="0">
                <a:latin typeface="Calibri" panose="020F0502020204030204" pitchFamily="34" charset="0"/>
              </a:rPr>
              <a:t>Hierarchical Methods</a:t>
            </a:r>
            <a:endParaRPr dirty="0">
              <a:latin typeface="Calibri" panose="020F0502020204030204" pitchFamily="34" charset="0"/>
            </a:endParaRPr>
          </a:p>
          <a:p>
            <a:pPr marL="533400" indent="-533400">
              <a:lnSpc>
                <a:spcPct val="150000"/>
              </a:lnSpc>
            </a:pPr>
            <a:r>
              <a:rPr dirty="0">
                <a:latin typeface="Calibri" panose="020F0502020204030204" pitchFamily="34" charset="0"/>
              </a:rPr>
              <a:t>Density-Based Methods</a:t>
            </a:r>
            <a:endParaRPr dirty="0">
              <a:latin typeface="Calibri" panose="020F0502020204030204" pitchFamily="34" charset="0"/>
            </a:endParaRPr>
          </a:p>
          <a:p>
            <a:pPr marL="533400" indent="-533400">
              <a:lnSpc>
                <a:spcPct val="150000"/>
              </a:lnSpc>
            </a:pPr>
            <a:r>
              <a:rPr dirty="0">
                <a:latin typeface="Calibri" panose="020F0502020204030204" pitchFamily="34" charset="0"/>
              </a:rPr>
              <a:t>Grid-Based Methods</a:t>
            </a:r>
            <a:endParaRPr dirty="0">
              <a:latin typeface="Calibri" panose="020F0502020204030204" pitchFamily="34" charset="0"/>
            </a:endParaRPr>
          </a:p>
          <a:p>
            <a:pPr marL="533400" indent="-533400">
              <a:lnSpc>
                <a:spcPct val="150000"/>
              </a:lnSpc>
            </a:pPr>
            <a:r>
              <a:rPr dirty="0">
                <a:latin typeface="Calibri" panose="020F0502020204030204" pitchFamily="34" charset="0"/>
              </a:rPr>
              <a:t>Evaluation of Clustering</a:t>
            </a:r>
            <a:endParaRPr dirty="0">
              <a:latin typeface="Calibri" panose="020F0502020204030204" pitchFamily="34" charset="0"/>
            </a:endParaRPr>
          </a:p>
          <a:p>
            <a:pPr marL="533400" indent="-533400">
              <a:lnSpc>
                <a:spcPct val="150000"/>
              </a:lnSpc>
            </a:pPr>
            <a:r>
              <a:rPr dirty="0">
                <a:latin typeface="Calibri" panose="020F0502020204030204" pitchFamily="34" charset="0"/>
              </a:rPr>
              <a:t>Summary</a:t>
            </a:r>
            <a:endParaRPr dirty="0">
              <a:latin typeface="Calibri" panose="020F0502020204030204" pitchFamily="34" charset="0"/>
            </a:endParaRPr>
          </a:p>
        </p:txBody>
      </p:sp>
      <p:sp>
        <p:nvSpPr>
          <p:cNvPr id="16389" name="AutoShape 5"/>
          <p:cNvSpPr/>
          <p:nvPr/>
        </p:nvSpPr>
        <p:spPr>
          <a:xfrm rot="9867012">
            <a:off x="4419600" y="2209800"/>
            <a:ext cx="304800" cy="381000"/>
          </a:xfrm>
          <a:prstGeom prst="notchedRightArrow">
            <a:avLst>
              <a:gd name="adj1" fmla="val 50000"/>
              <a:gd name="adj2" fmla="val 25000"/>
            </a:avLst>
          </a:prstGeom>
          <a:solidFill>
            <a:srgbClr val="00CCFF"/>
          </a:solidFill>
          <a:ln w="9525" cap="flat" cmpd="sng">
            <a:solidFill>
              <a:schemeClr val="tx1"/>
            </a:solidFill>
            <a:prstDash val="solid"/>
            <a:miter/>
            <a:headEnd type="none" w="med" len="med"/>
            <a:tailEnd type="none" w="med" len="med"/>
          </a:ln>
        </p:spPr>
        <p:txBody>
          <a:bodyPr rot="10800000" wrap="none" anchor="ctr" anchorCtr="0"/>
          <a:p>
            <a:endParaRPr dirty="0">
              <a:latin typeface="Tahoma" panose="020B0604030504040204" pitchFamily="34" charset="0"/>
            </a:endParaRPr>
          </a:p>
        </p:txBody>
      </p:sp>
      <p:sp>
        <p:nvSpPr>
          <p:cNvPr id="16390"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p:txBody>
          <a:bodyPr vert="horz" wrap="square" lIns="92075" tIns="46038" rIns="92075" bIns="46038" anchor="ctr" anchorCtr="0"/>
          <a:p>
            <a:pPr eaLnBrk="1" hangingPunct="1"/>
            <a:r>
              <a:rPr sz="3200" dirty="0"/>
              <a:t>Partitioning Algorithms: Basic Concept</a:t>
            </a:r>
            <a:endParaRPr sz="2800" b="1" dirty="0"/>
          </a:p>
        </p:txBody>
      </p:sp>
      <p:sp>
        <p:nvSpPr>
          <p:cNvPr id="17411" name="Rectangle 3"/>
          <p:cNvSpPr>
            <a:spLocks noGrp="1"/>
          </p:cNvSpPr>
          <p:nvPr>
            <p:ph type="body" sz="half" idx="1"/>
          </p:nvPr>
        </p:nvSpPr>
        <p:spPr>
          <a:xfrm>
            <a:off x="228600" y="1371600"/>
            <a:ext cx="8534400" cy="5105400"/>
          </a:xfrm>
        </p:spPr>
        <p:txBody>
          <a:bodyPr vert="horz" wrap="square" lIns="92075" tIns="46038" rIns="92075" bIns="46038" anchor="t" anchorCtr="0"/>
          <a:p>
            <a:pPr eaLnBrk="1" hangingPunct="1">
              <a:lnSpc>
                <a:spcPct val="110000"/>
              </a:lnSpc>
              <a:buClr>
                <a:schemeClr val="folHlink"/>
              </a:buClr>
              <a:buSzPct val="60000"/>
              <a:buFont typeface="Wingdings" panose="05000000000000000000" pitchFamily="2" charset="2"/>
            </a:pPr>
            <a:r>
              <a:rPr sz="2000" u="sng" dirty="0"/>
              <a:t>Partitioning method:</a:t>
            </a:r>
            <a:r>
              <a:rPr sz="2000" dirty="0"/>
              <a:t> Partitioning a database </a:t>
            </a:r>
            <a:r>
              <a:rPr sz="2000" b="1" i="1" dirty="0"/>
              <a:t>D</a:t>
            </a:r>
            <a:r>
              <a:rPr sz="2000" dirty="0"/>
              <a:t> of </a:t>
            </a:r>
            <a:r>
              <a:rPr sz="2000" b="1" i="1" dirty="0"/>
              <a:t>n</a:t>
            </a:r>
            <a:r>
              <a:rPr sz="2000" dirty="0"/>
              <a:t> objects into a set of </a:t>
            </a:r>
            <a:r>
              <a:rPr sz="2000" b="1" i="1" dirty="0"/>
              <a:t>k</a:t>
            </a:r>
            <a:r>
              <a:rPr sz="2000" dirty="0"/>
              <a:t> clusters, such that the sum of squared distances is minimized (where c</a:t>
            </a:r>
            <a:r>
              <a:rPr sz="2000" baseline="-25000" dirty="0"/>
              <a:t>i</a:t>
            </a:r>
            <a:r>
              <a:rPr sz="2000" dirty="0"/>
              <a:t> is the centroid or medoid of cluster C</a:t>
            </a:r>
            <a:r>
              <a:rPr sz="2000" baseline="-25000" dirty="0"/>
              <a:t>i</a:t>
            </a:r>
            <a:r>
              <a:rPr sz="2000" dirty="0"/>
              <a:t>)</a:t>
            </a:r>
            <a:endParaRPr sz="2000" dirty="0"/>
          </a:p>
          <a:p>
            <a:pPr eaLnBrk="1" hangingPunct="1">
              <a:lnSpc>
                <a:spcPct val="110000"/>
              </a:lnSpc>
              <a:buClr>
                <a:schemeClr val="folHlink"/>
              </a:buClr>
              <a:buSzPct val="60000"/>
              <a:buFont typeface="Wingdings" panose="05000000000000000000" pitchFamily="2" charset="2"/>
            </a:pPr>
            <a:endParaRPr sz="2000" dirty="0"/>
          </a:p>
          <a:p>
            <a:pPr eaLnBrk="1" hangingPunct="1">
              <a:lnSpc>
                <a:spcPct val="110000"/>
              </a:lnSpc>
              <a:buClr>
                <a:schemeClr val="folHlink"/>
              </a:buClr>
              <a:buSzPct val="60000"/>
              <a:buFont typeface="Wingdings" panose="05000000000000000000" pitchFamily="2" charset="2"/>
            </a:pPr>
            <a:endParaRPr sz="2000" dirty="0"/>
          </a:p>
          <a:p>
            <a:pPr eaLnBrk="1" hangingPunct="1">
              <a:lnSpc>
                <a:spcPct val="110000"/>
              </a:lnSpc>
              <a:buClr>
                <a:schemeClr val="folHlink"/>
              </a:buClr>
              <a:buSzPct val="60000"/>
              <a:buFont typeface="Wingdings" panose="05000000000000000000" pitchFamily="2" charset="2"/>
            </a:pPr>
            <a:r>
              <a:rPr sz="2000" dirty="0"/>
              <a:t>Given </a:t>
            </a:r>
            <a:r>
              <a:rPr sz="2000" i="1" dirty="0"/>
              <a:t>k</a:t>
            </a:r>
            <a:r>
              <a:rPr sz="2000" dirty="0"/>
              <a:t>, find a partition of </a:t>
            </a:r>
            <a:r>
              <a:rPr sz="2000" i="1" dirty="0"/>
              <a:t>k clusters </a:t>
            </a:r>
            <a:r>
              <a:rPr sz="2000" dirty="0"/>
              <a:t>that optimizes the chosen partitioning criterion</a:t>
            </a:r>
            <a:endParaRPr sz="2000" dirty="0"/>
          </a:p>
          <a:p>
            <a:pPr lvl="1" eaLnBrk="1" hangingPunct="1">
              <a:lnSpc>
                <a:spcPct val="110000"/>
              </a:lnSpc>
              <a:buClr>
                <a:schemeClr val="hlink"/>
              </a:buClr>
              <a:buSzPct val="55000"/>
              <a:buFont typeface="Wingdings" panose="05000000000000000000" pitchFamily="2" charset="2"/>
            </a:pPr>
            <a:r>
              <a:rPr sz="2000" dirty="0"/>
              <a:t>Global optimal: exhaustively enumerate all partitions</a:t>
            </a:r>
            <a:endParaRPr sz="2000" dirty="0"/>
          </a:p>
          <a:p>
            <a:pPr lvl="1" eaLnBrk="1" hangingPunct="1">
              <a:lnSpc>
                <a:spcPct val="110000"/>
              </a:lnSpc>
              <a:buClr>
                <a:schemeClr val="hlink"/>
              </a:buClr>
              <a:buSzPct val="55000"/>
              <a:buFont typeface="Wingdings" panose="05000000000000000000" pitchFamily="2" charset="2"/>
            </a:pPr>
            <a:r>
              <a:rPr sz="2000" dirty="0"/>
              <a:t>Heuristic methods: </a:t>
            </a:r>
            <a:r>
              <a:rPr sz="2000" i="1" dirty="0"/>
              <a:t>k-means</a:t>
            </a:r>
            <a:r>
              <a:rPr sz="2000" dirty="0"/>
              <a:t> and </a:t>
            </a:r>
            <a:r>
              <a:rPr sz="2000" i="1" dirty="0"/>
              <a:t>k-medoids</a:t>
            </a:r>
            <a:r>
              <a:rPr sz="2000" dirty="0"/>
              <a:t> algorithms</a:t>
            </a:r>
            <a:endParaRPr sz="2000" dirty="0"/>
          </a:p>
          <a:p>
            <a:pPr lvl="1" eaLnBrk="1" hangingPunct="1">
              <a:lnSpc>
                <a:spcPct val="110000"/>
              </a:lnSpc>
              <a:buClr>
                <a:schemeClr val="hlink"/>
              </a:buClr>
              <a:buSzPct val="55000"/>
              <a:buFont typeface="Wingdings" panose="05000000000000000000" pitchFamily="2" charset="2"/>
            </a:pPr>
            <a:r>
              <a:rPr sz="2000" i="1" u="sng" dirty="0"/>
              <a:t>k-means</a:t>
            </a:r>
            <a:r>
              <a:rPr sz="2000" dirty="0"/>
              <a:t> (MacQueen’67, Lloyd’57/’82): Each cluster is represented by the center of the cluster</a:t>
            </a:r>
            <a:endParaRPr sz="2000" dirty="0"/>
          </a:p>
          <a:p>
            <a:pPr lvl="1" eaLnBrk="1" hangingPunct="1">
              <a:lnSpc>
                <a:spcPct val="110000"/>
              </a:lnSpc>
              <a:buClr>
                <a:schemeClr val="hlink"/>
              </a:buClr>
              <a:buSzPct val="55000"/>
              <a:buFont typeface="Wingdings" panose="05000000000000000000" pitchFamily="2" charset="2"/>
            </a:pPr>
            <a:r>
              <a:rPr sz="2000" i="1" u="sng" dirty="0"/>
              <a:t>k-medoids</a:t>
            </a:r>
            <a:r>
              <a:rPr sz="2000" dirty="0"/>
              <a:t> or PAM (Partition around medoids) (Kaufman &amp; Rousseeuw’87): Each cluster is represented by one of the objects in the cluster  </a:t>
            </a:r>
            <a:endParaRPr sz="2000" dirty="0"/>
          </a:p>
        </p:txBody>
      </p:sp>
      <p:graphicFrame>
        <p:nvGraphicFramePr>
          <p:cNvPr id="17412" name="Object 4"/>
          <p:cNvGraphicFramePr>
            <a:graphicFrameLocks noChangeAspect="1"/>
          </p:cNvGraphicFramePr>
          <p:nvPr>
            <p:ph sz="half" idx="2"/>
          </p:nvPr>
        </p:nvGraphicFramePr>
        <p:xfrm>
          <a:off x="3124200" y="2590800"/>
          <a:ext cx="2851150" cy="542925"/>
        </p:xfrm>
        <a:graphic>
          <a:graphicData uri="http://schemas.openxmlformats.org/presentationml/2006/ole">
            <mc:AlternateContent xmlns:mc="http://schemas.openxmlformats.org/markup-compatibility/2006">
              <mc:Choice xmlns:v="urn:schemas-microsoft-com:vml" Requires="v">
                <p:oleObj spid="_x0000_s3076" name="" r:id="rId1" imgW="1333500" imgH="254000" progId="Equation.3">
                  <p:embed/>
                </p:oleObj>
              </mc:Choice>
              <mc:Fallback>
                <p:oleObj name="" r:id="rId1" imgW="1333500" imgH="254000" progId="Equation.3">
                  <p:embed/>
                  <p:pic>
                    <p:nvPicPr>
                      <p:cNvPr id="0" name="Picture 3075"/>
                      <p:cNvPicPr/>
                      <p:nvPr/>
                    </p:nvPicPr>
                    <p:blipFill>
                      <a:blip r:embed="rId2"/>
                      <a:srcRect/>
                      <a:stretch>
                        <a:fillRect/>
                      </a:stretch>
                    </p:blipFill>
                    <p:spPr>
                      <a:xfrm>
                        <a:off x="3124200" y="2590800"/>
                        <a:ext cx="2851150" cy="542925"/>
                      </a:xfrm>
                      <a:prstGeom prst="rect">
                        <a:avLst/>
                      </a:prstGeom>
                      <a:noFill/>
                      <a:ln w="38100">
                        <a:miter/>
                      </a:ln>
                    </p:spPr>
                  </p:pic>
                </p:oleObj>
              </mc:Fallback>
            </mc:AlternateContent>
          </a:graphicData>
        </a:graphic>
      </p:graphicFrame>
      <p:sp>
        <p:nvSpPr>
          <p:cNvPr id="17413" name="Slide Number Placeholder 7"/>
          <p:cNvSpPr txBox="1">
            <a:spLocks noGrp="1"/>
          </p:cNvSpPr>
          <p:nvPr>
            <p:ph type="sldNum" sz="quarter" idx="12"/>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p:nvPr>
        </p:nvSpPr>
        <p:spPr>
          <a:xfrm>
            <a:off x="822325" y="492125"/>
            <a:ext cx="7296150" cy="498475"/>
          </a:xfrm>
        </p:spPr>
        <p:txBody>
          <a:bodyPr vert="horz" wrap="square" lIns="91440" tIns="45720" rIns="91440" bIns="45720" anchor="b" anchorCtr="0"/>
          <a:p>
            <a:pPr eaLnBrk="1" hangingPunct="1"/>
            <a:r>
              <a:rPr sz="3200" dirty="0"/>
              <a:t>The </a:t>
            </a:r>
            <a:r>
              <a:rPr sz="3200" i="1" dirty="0"/>
              <a:t>K-Means</a:t>
            </a:r>
            <a:r>
              <a:rPr sz="3200" dirty="0"/>
              <a:t> Clustering Method</a:t>
            </a:r>
            <a:r>
              <a:rPr sz="2400" b="1" dirty="0"/>
              <a:t> </a:t>
            </a:r>
            <a:endParaRPr sz="2800" dirty="0"/>
          </a:p>
        </p:txBody>
      </p:sp>
      <p:sp>
        <p:nvSpPr>
          <p:cNvPr id="18435" name="Rectangle 3"/>
          <p:cNvSpPr>
            <a:spLocks noGrp="1"/>
          </p:cNvSpPr>
          <p:nvPr>
            <p:ph idx="1"/>
          </p:nvPr>
        </p:nvSpPr>
        <p:spPr>
          <a:xfrm>
            <a:off x="457200" y="1447800"/>
            <a:ext cx="7851775" cy="4800600"/>
          </a:xfrm>
        </p:spPr>
        <p:txBody>
          <a:bodyPr vert="horz" wrap="square" lIns="91440" tIns="45720" rIns="91440" bIns="45720" anchor="t" anchorCtr="0"/>
          <a:p>
            <a:pPr eaLnBrk="1" hangingPunct="1">
              <a:lnSpc>
                <a:spcPct val="120000"/>
              </a:lnSpc>
            </a:pPr>
            <a:r>
              <a:rPr sz="2400" dirty="0"/>
              <a:t>Given </a:t>
            </a:r>
            <a:r>
              <a:rPr sz="2400" i="1" dirty="0"/>
              <a:t>k</a:t>
            </a:r>
            <a:r>
              <a:rPr sz="2400" dirty="0"/>
              <a:t>, the </a:t>
            </a:r>
            <a:r>
              <a:rPr sz="2400" i="1" dirty="0"/>
              <a:t>k-means</a:t>
            </a:r>
            <a:r>
              <a:rPr sz="2400" dirty="0"/>
              <a:t> algorithm is implemented in four steps:</a:t>
            </a:r>
            <a:endParaRPr sz="2400" dirty="0"/>
          </a:p>
          <a:p>
            <a:pPr lvl="1" eaLnBrk="1" hangingPunct="1">
              <a:lnSpc>
                <a:spcPct val="120000"/>
              </a:lnSpc>
            </a:pPr>
            <a:r>
              <a:rPr sz="2400" dirty="0">
                <a:solidFill>
                  <a:srgbClr val="000000"/>
                </a:solidFill>
              </a:rPr>
              <a:t>Partition objects into </a:t>
            </a:r>
            <a:r>
              <a:rPr sz="2400" i="1" dirty="0">
                <a:solidFill>
                  <a:srgbClr val="000000"/>
                </a:solidFill>
              </a:rPr>
              <a:t>k</a:t>
            </a:r>
            <a:r>
              <a:rPr sz="2400" dirty="0">
                <a:solidFill>
                  <a:srgbClr val="000000"/>
                </a:solidFill>
              </a:rPr>
              <a:t> nonempty subsets</a:t>
            </a:r>
            <a:endParaRPr sz="2400" dirty="0">
              <a:solidFill>
                <a:srgbClr val="000000"/>
              </a:solidFill>
            </a:endParaRPr>
          </a:p>
          <a:p>
            <a:pPr lvl="1" eaLnBrk="1" hangingPunct="1">
              <a:lnSpc>
                <a:spcPct val="120000"/>
              </a:lnSpc>
            </a:pPr>
            <a:r>
              <a:rPr sz="2400" dirty="0">
                <a:solidFill>
                  <a:srgbClr val="000000"/>
                </a:solidFill>
              </a:rPr>
              <a:t>Compute seed points as the centroids of the clusters of the current partitioning (the centroid is the center, i.e., </a:t>
            </a:r>
            <a:r>
              <a:rPr sz="2400" i="1" dirty="0">
                <a:solidFill>
                  <a:schemeClr val="hlink"/>
                </a:solidFill>
              </a:rPr>
              <a:t>mean point</a:t>
            </a:r>
            <a:r>
              <a:rPr sz="2400" dirty="0">
                <a:solidFill>
                  <a:srgbClr val="000000"/>
                </a:solidFill>
              </a:rPr>
              <a:t>, of the cluster)</a:t>
            </a:r>
            <a:endParaRPr sz="2400" dirty="0">
              <a:solidFill>
                <a:srgbClr val="000000"/>
              </a:solidFill>
            </a:endParaRPr>
          </a:p>
          <a:p>
            <a:pPr lvl="1" eaLnBrk="1" hangingPunct="1">
              <a:lnSpc>
                <a:spcPct val="120000"/>
              </a:lnSpc>
            </a:pPr>
            <a:r>
              <a:rPr sz="2400" dirty="0">
                <a:solidFill>
                  <a:srgbClr val="000000"/>
                </a:solidFill>
              </a:rPr>
              <a:t>Assign each object to the cluster with the nearest seed point  </a:t>
            </a:r>
            <a:endParaRPr sz="2400" dirty="0">
              <a:solidFill>
                <a:srgbClr val="000000"/>
              </a:solidFill>
            </a:endParaRPr>
          </a:p>
          <a:p>
            <a:pPr lvl="1" eaLnBrk="1" hangingPunct="1">
              <a:lnSpc>
                <a:spcPct val="120000"/>
              </a:lnSpc>
            </a:pPr>
            <a:r>
              <a:rPr sz="2400" dirty="0">
                <a:solidFill>
                  <a:srgbClr val="000000"/>
                </a:solidFill>
              </a:rPr>
              <a:t>Go back to Step 2, stop when the assignment does not change</a:t>
            </a:r>
            <a:endParaRPr sz="2400" dirty="0">
              <a:solidFill>
                <a:srgbClr val="000000"/>
              </a:solidFill>
            </a:endParaRPr>
          </a:p>
        </p:txBody>
      </p:sp>
      <p:sp>
        <p:nvSpPr>
          <p:cNvPr id="18436"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a:xfrm>
            <a:off x="0" y="304800"/>
            <a:ext cx="9144000" cy="609600"/>
          </a:xfrm>
        </p:spPr>
        <p:txBody>
          <a:bodyPr vert="horz" wrap="square" lIns="91440" tIns="45720" rIns="91440" bIns="45720" anchor="b" anchorCtr="0"/>
          <a:p>
            <a:pPr eaLnBrk="1" hangingPunct="1"/>
            <a:r>
              <a:rPr lang="en-US" altLang="ko-KR" dirty="0">
                <a:solidFill>
                  <a:srgbClr val="170981"/>
                </a:solidFill>
                <a:ea typeface="Gulim" panose="020B0600000101010101" pitchFamily="34" charset="-127"/>
              </a:rPr>
              <a:t>An Example of </a:t>
            </a:r>
            <a:r>
              <a:rPr lang="en-US" altLang="ko-KR" i="1" dirty="0">
                <a:solidFill>
                  <a:srgbClr val="170981"/>
                </a:solidFill>
                <a:ea typeface="Gulim" panose="020B0600000101010101" pitchFamily="34" charset="-127"/>
              </a:rPr>
              <a:t>K-Means</a:t>
            </a:r>
            <a:r>
              <a:rPr lang="en-US" altLang="ko-KR" dirty="0">
                <a:solidFill>
                  <a:srgbClr val="170981"/>
                </a:solidFill>
                <a:ea typeface="Gulim" panose="020B0600000101010101" pitchFamily="34" charset="-127"/>
              </a:rPr>
              <a:t> Clustering</a:t>
            </a:r>
            <a:endParaRPr lang="en-US" altLang="ko-KR" sz="2800" b="1" dirty="0">
              <a:solidFill>
                <a:srgbClr val="170981"/>
              </a:solidFill>
              <a:ea typeface="Gulim" panose="020B0600000101010101" pitchFamily="34" charset="-127"/>
            </a:endParaRPr>
          </a:p>
        </p:txBody>
      </p:sp>
      <p:sp>
        <p:nvSpPr>
          <p:cNvPr id="19459" name="Line 93"/>
          <p:cNvSpPr/>
          <p:nvPr/>
        </p:nvSpPr>
        <p:spPr>
          <a:xfrm>
            <a:off x="5803900" y="2362200"/>
            <a:ext cx="685800" cy="0"/>
          </a:xfrm>
          <a:prstGeom prst="line">
            <a:avLst/>
          </a:prstGeom>
          <a:ln w="9525" cap="flat" cmpd="sng">
            <a:solidFill>
              <a:schemeClr val="tx1"/>
            </a:solidFill>
            <a:prstDash val="solid"/>
            <a:headEnd type="none" w="med" len="med"/>
            <a:tailEnd type="triangle" w="med" len="med"/>
          </a:ln>
        </p:spPr>
      </p:sp>
      <p:sp>
        <p:nvSpPr>
          <p:cNvPr id="19460" name="Text Box 181"/>
          <p:cNvSpPr txBox="1"/>
          <p:nvPr/>
        </p:nvSpPr>
        <p:spPr>
          <a:xfrm>
            <a:off x="2451100" y="1771650"/>
            <a:ext cx="1143000" cy="1581150"/>
          </a:xfrm>
          <a:prstGeom prst="rect">
            <a:avLst/>
          </a:prstGeom>
          <a:noFill/>
          <a:ln w="9525">
            <a:noFill/>
          </a:ln>
        </p:spPr>
        <p:txBody>
          <a:bodyPr>
            <a:spAutoFit/>
          </a:bodyPr>
          <a:p>
            <a:pPr algn="l">
              <a:spcBef>
                <a:spcPct val="50000"/>
              </a:spcBef>
            </a:pPr>
            <a:r>
              <a:rPr lang="en-US" altLang="ko-KR" sz="1400" dirty="0">
                <a:latin typeface="Tahoma" panose="020B0604030504040204" pitchFamily="34" charset="0"/>
                <a:ea typeface="Gulim" panose="020B0600000101010101" pitchFamily="34" charset="-127"/>
              </a:rPr>
              <a:t>K=2</a:t>
            </a:r>
            <a:endParaRPr lang="en-US" altLang="ko-KR" sz="1400" dirty="0">
              <a:latin typeface="Tahoma" panose="020B0604030504040204" pitchFamily="34" charset="0"/>
              <a:ea typeface="Gulim" panose="020B0600000101010101" pitchFamily="34" charset="-127"/>
            </a:endParaRPr>
          </a:p>
          <a:p>
            <a:pPr algn="l">
              <a:spcBef>
                <a:spcPct val="50000"/>
              </a:spcBef>
            </a:pPr>
            <a:endParaRPr lang="en-US" altLang="ko-KR" sz="1400" dirty="0">
              <a:latin typeface="Tahoma" panose="020B0604030504040204" pitchFamily="34" charset="0"/>
              <a:ea typeface="Gulim" panose="020B0600000101010101" pitchFamily="34" charset="-127"/>
            </a:endParaRPr>
          </a:p>
          <a:p>
            <a:pPr algn="l">
              <a:spcBef>
                <a:spcPct val="50000"/>
              </a:spcBef>
            </a:pPr>
            <a:r>
              <a:rPr lang="en-US" altLang="ko-KR" sz="1400" dirty="0">
                <a:latin typeface="Tahoma" panose="020B0604030504040204" pitchFamily="34" charset="0"/>
                <a:ea typeface="Gulim" panose="020B0600000101010101" pitchFamily="34" charset="-127"/>
              </a:rPr>
              <a:t>Arbitrarily partition objects into k groups</a:t>
            </a:r>
            <a:endParaRPr lang="en-US" altLang="ko-KR" sz="1400" dirty="0">
              <a:latin typeface="Tahoma" panose="020B0604030504040204" pitchFamily="34" charset="0"/>
              <a:ea typeface="Gulim" panose="020B0600000101010101" pitchFamily="34" charset="-127"/>
            </a:endParaRPr>
          </a:p>
        </p:txBody>
      </p:sp>
      <p:sp>
        <p:nvSpPr>
          <p:cNvPr id="19461" name="Line 183"/>
          <p:cNvSpPr/>
          <p:nvPr/>
        </p:nvSpPr>
        <p:spPr>
          <a:xfrm>
            <a:off x="2603500" y="2286000"/>
            <a:ext cx="685800" cy="0"/>
          </a:xfrm>
          <a:prstGeom prst="line">
            <a:avLst/>
          </a:prstGeom>
          <a:ln w="9525" cap="flat" cmpd="sng">
            <a:solidFill>
              <a:schemeClr val="tx1"/>
            </a:solidFill>
            <a:prstDash val="solid"/>
            <a:miter/>
            <a:headEnd type="none" w="med" len="med"/>
            <a:tailEnd type="triangle" w="med" len="med"/>
          </a:ln>
        </p:spPr>
      </p:sp>
      <p:sp>
        <p:nvSpPr>
          <p:cNvPr id="19462" name="Text Box 185"/>
          <p:cNvSpPr txBox="1"/>
          <p:nvPr/>
        </p:nvSpPr>
        <p:spPr>
          <a:xfrm>
            <a:off x="5727700" y="2438400"/>
            <a:ext cx="1066800" cy="730250"/>
          </a:xfrm>
          <a:prstGeom prst="rect">
            <a:avLst/>
          </a:prstGeom>
          <a:noFill/>
          <a:ln w="9525">
            <a:noFill/>
          </a:ln>
        </p:spPr>
        <p:txBody>
          <a:bodyPr>
            <a:spAutoFit/>
          </a:bodyPr>
          <a:p>
            <a:pPr algn="l">
              <a:spcBef>
                <a:spcPct val="50000"/>
              </a:spcBef>
            </a:pPr>
            <a:r>
              <a:rPr lang="en-US" altLang="ko-KR" sz="1400" dirty="0">
                <a:latin typeface="Tahoma" panose="020B0604030504040204" pitchFamily="34" charset="0"/>
                <a:ea typeface="Gulim" panose="020B0600000101010101" pitchFamily="34" charset="-127"/>
              </a:rPr>
              <a:t>Update the cluster centroids</a:t>
            </a:r>
            <a:endParaRPr lang="en-US" altLang="ko-KR" sz="1400" dirty="0">
              <a:latin typeface="Tahoma" panose="020B0604030504040204" pitchFamily="34" charset="0"/>
              <a:ea typeface="Gulim" panose="020B0600000101010101" pitchFamily="34" charset="-127"/>
            </a:endParaRPr>
          </a:p>
        </p:txBody>
      </p:sp>
      <p:sp>
        <p:nvSpPr>
          <p:cNvPr id="19463" name="Text Box 190"/>
          <p:cNvSpPr txBox="1"/>
          <p:nvPr/>
        </p:nvSpPr>
        <p:spPr>
          <a:xfrm>
            <a:off x="5727700" y="4953000"/>
            <a:ext cx="1066800" cy="1049338"/>
          </a:xfrm>
          <a:prstGeom prst="rect">
            <a:avLst/>
          </a:prstGeom>
          <a:noFill/>
          <a:ln w="9525">
            <a:noFill/>
          </a:ln>
        </p:spPr>
        <p:txBody>
          <a:bodyPr>
            <a:spAutoFit/>
          </a:bodyPr>
          <a:p>
            <a:pPr algn="l">
              <a:spcBef>
                <a:spcPct val="50000"/>
              </a:spcBef>
            </a:pPr>
            <a:r>
              <a:rPr lang="en-US" altLang="ko-KR" sz="1400" dirty="0">
                <a:latin typeface="Tahoma" panose="020B0604030504040204" pitchFamily="34" charset="0"/>
                <a:ea typeface="Gulim" panose="020B0600000101010101" pitchFamily="34" charset="-127"/>
              </a:rPr>
              <a:t>Update the cluster centroids</a:t>
            </a:r>
            <a:endParaRPr lang="en-US" altLang="ko-KR" sz="1400" dirty="0">
              <a:latin typeface="Tahoma" panose="020B0604030504040204" pitchFamily="34" charset="0"/>
              <a:ea typeface="Gulim" panose="020B0600000101010101" pitchFamily="34" charset="-127"/>
            </a:endParaRPr>
          </a:p>
          <a:p>
            <a:pPr algn="l">
              <a:spcBef>
                <a:spcPct val="50000"/>
              </a:spcBef>
            </a:pPr>
            <a:endParaRPr lang="en-US" altLang="ko-KR" sz="1400" dirty="0">
              <a:latin typeface="Tahoma" panose="020B0604030504040204" pitchFamily="34" charset="0"/>
              <a:ea typeface="Gulim" panose="020B0600000101010101" pitchFamily="34" charset="-127"/>
            </a:endParaRPr>
          </a:p>
        </p:txBody>
      </p:sp>
      <p:sp>
        <p:nvSpPr>
          <p:cNvPr id="19464" name="Text Box 191"/>
          <p:cNvSpPr txBox="1"/>
          <p:nvPr/>
        </p:nvSpPr>
        <p:spPr>
          <a:xfrm>
            <a:off x="7099300" y="3581400"/>
            <a:ext cx="1905000" cy="304800"/>
          </a:xfrm>
          <a:prstGeom prst="rect">
            <a:avLst/>
          </a:prstGeom>
          <a:noFill/>
          <a:ln w="9525">
            <a:noFill/>
          </a:ln>
        </p:spPr>
        <p:txBody>
          <a:bodyPr>
            <a:spAutoFit/>
          </a:bodyPr>
          <a:p>
            <a:pPr algn="l">
              <a:spcBef>
                <a:spcPct val="50000"/>
              </a:spcBef>
            </a:pPr>
            <a:r>
              <a:rPr lang="en-US" altLang="ko-KR" sz="1400" dirty="0">
                <a:latin typeface="Tahoma" panose="020B0604030504040204" pitchFamily="34" charset="0"/>
                <a:ea typeface="Gulim" panose="020B0600000101010101" pitchFamily="34" charset="-127"/>
              </a:rPr>
              <a:t>Reassign  objects</a:t>
            </a:r>
            <a:endParaRPr lang="en-US" altLang="ko-KR" sz="1400" dirty="0">
              <a:latin typeface="Tahoma" panose="020B0604030504040204" pitchFamily="34" charset="0"/>
              <a:ea typeface="Gulim" panose="020B0600000101010101" pitchFamily="34" charset="-127"/>
            </a:endParaRPr>
          </a:p>
        </p:txBody>
      </p:sp>
      <p:sp>
        <p:nvSpPr>
          <p:cNvPr id="19465" name="Line 192"/>
          <p:cNvSpPr/>
          <p:nvPr/>
        </p:nvSpPr>
        <p:spPr>
          <a:xfrm>
            <a:off x="7937500" y="3581400"/>
            <a:ext cx="0" cy="304800"/>
          </a:xfrm>
          <a:prstGeom prst="line">
            <a:avLst/>
          </a:prstGeom>
          <a:ln w="9525" cap="flat" cmpd="sng">
            <a:solidFill>
              <a:schemeClr val="tx1"/>
            </a:solidFill>
            <a:prstDash val="solid"/>
            <a:miter/>
            <a:headEnd type="none" w="med" len="med"/>
            <a:tailEnd type="triangle" w="med" len="med"/>
          </a:ln>
        </p:spPr>
      </p:sp>
      <p:sp>
        <p:nvSpPr>
          <p:cNvPr id="19466" name="Text Box 193"/>
          <p:cNvSpPr txBox="1"/>
          <p:nvPr/>
        </p:nvSpPr>
        <p:spPr>
          <a:xfrm>
            <a:off x="4584700" y="3505200"/>
            <a:ext cx="990600" cy="517525"/>
          </a:xfrm>
          <a:prstGeom prst="rect">
            <a:avLst/>
          </a:prstGeom>
          <a:noFill/>
          <a:ln w="9525">
            <a:noFill/>
          </a:ln>
        </p:spPr>
        <p:txBody>
          <a:bodyPr>
            <a:spAutoFit/>
          </a:bodyPr>
          <a:p>
            <a:pPr algn="l">
              <a:spcBef>
                <a:spcPct val="50000"/>
              </a:spcBef>
            </a:pPr>
            <a:r>
              <a:rPr lang="en-US" altLang="ko-KR" sz="1400" dirty="0">
                <a:latin typeface="Tahoma" panose="020B0604030504040204" pitchFamily="34" charset="0"/>
                <a:ea typeface="Gulim" panose="020B0600000101010101" pitchFamily="34" charset="-127"/>
              </a:rPr>
              <a:t>Loop if needed</a:t>
            </a:r>
            <a:endParaRPr lang="en-US" altLang="ko-KR" sz="1400" dirty="0">
              <a:latin typeface="Tahoma" panose="020B0604030504040204" pitchFamily="34" charset="0"/>
              <a:ea typeface="Gulim" panose="020B0600000101010101" pitchFamily="34" charset="-127"/>
            </a:endParaRPr>
          </a:p>
        </p:txBody>
      </p:sp>
      <p:sp>
        <p:nvSpPr>
          <p:cNvPr id="19467" name="Slide Number Placeholder 19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graphicFrame>
        <p:nvGraphicFramePr>
          <p:cNvPr id="19468" name="Object 196"/>
          <p:cNvGraphicFramePr>
            <a:graphicFrameLocks noChangeAspect="1"/>
          </p:cNvGraphicFramePr>
          <p:nvPr/>
        </p:nvGraphicFramePr>
        <p:xfrm>
          <a:off x="393700" y="1447800"/>
          <a:ext cx="2120900" cy="1984375"/>
        </p:xfrm>
        <a:graphic>
          <a:graphicData uri="http://schemas.openxmlformats.org/presentationml/2006/ole">
            <mc:AlternateContent xmlns:mc="http://schemas.openxmlformats.org/markup-compatibility/2006">
              <mc:Choice xmlns:v="urn:schemas-microsoft-com:vml" Requires="v">
                <p:oleObj spid="_x0000_s3077" name="" r:id="rId1" imgW="20475575" imgH="19157315" progId="SmartDraw.2">
                  <p:embed/>
                </p:oleObj>
              </mc:Choice>
              <mc:Fallback>
                <p:oleObj name="" r:id="rId1" imgW="20475575" imgH="19157315" progId="SmartDraw.2">
                  <p:embed/>
                  <p:pic>
                    <p:nvPicPr>
                      <p:cNvPr id="0" name="Picture 3076"/>
                      <p:cNvPicPr/>
                      <p:nvPr/>
                    </p:nvPicPr>
                    <p:blipFill>
                      <a:blip r:embed="rId2"/>
                      <a:stretch>
                        <a:fillRect/>
                      </a:stretch>
                    </p:blipFill>
                    <p:spPr>
                      <a:xfrm>
                        <a:off x="393700" y="1447800"/>
                        <a:ext cx="2120900" cy="1984375"/>
                      </a:xfrm>
                      <a:prstGeom prst="rect">
                        <a:avLst/>
                      </a:prstGeom>
                      <a:noFill/>
                      <a:ln w="38100">
                        <a:noFill/>
                        <a:miter/>
                      </a:ln>
                    </p:spPr>
                  </p:pic>
                </p:oleObj>
              </mc:Fallback>
            </mc:AlternateContent>
          </a:graphicData>
        </a:graphic>
      </p:graphicFrame>
      <p:graphicFrame>
        <p:nvGraphicFramePr>
          <p:cNvPr id="19469" name="Object 197"/>
          <p:cNvGraphicFramePr>
            <a:graphicFrameLocks noChangeAspect="1"/>
          </p:cNvGraphicFramePr>
          <p:nvPr/>
        </p:nvGraphicFramePr>
        <p:xfrm>
          <a:off x="3441700" y="1447800"/>
          <a:ext cx="2184400" cy="2043113"/>
        </p:xfrm>
        <a:graphic>
          <a:graphicData uri="http://schemas.openxmlformats.org/presentationml/2006/ole">
            <mc:AlternateContent xmlns:mc="http://schemas.openxmlformats.org/markup-compatibility/2006">
              <mc:Choice xmlns:v="urn:schemas-microsoft-com:vml" Requires="v">
                <p:oleObj spid="_x0000_s3078" name="" r:id="rId3" imgW="20475575" imgH="19157315" progId="SmartDraw.2">
                  <p:embed/>
                </p:oleObj>
              </mc:Choice>
              <mc:Fallback>
                <p:oleObj name="" r:id="rId3" imgW="20475575" imgH="19157315" progId="SmartDraw.2">
                  <p:embed/>
                  <p:pic>
                    <p:nvPicPr>
                      <p:cNvPr id="0" name="Picture 3077"/>
                      <p:cNvPicPr/>
                      <p:nvPr/>
                    </p:nvPicPr>
                    <p:blipFill>
                      <a:blip r:embed="rId4"/>
                      <a:stretch>
                        <a:fillRect/>
                      </a:stretch>
                    </p:blipFill>
                    <p:spPr>
                      <a:xfrm>
                        <a:off x="3441700" y="1447800"/>
                        <a:ext cx="2184400" cy="2043113"/>
                      </a:xfrm>
                      <a:prstGeom prst="rect">
                        <a:avLst/>
                      </a:prstGeom>
                      <a:noFill/>
                      <a:ln w="38100">
                        <a:noFill/>
                        <a:miter/>
                      </a:ln>
                    </p:spPr>
                  </p:pic>
                </p:oleObj>
              </mc:Fallback>
            </mc:AlternateContent>
          </a:graphicData>
        </a:graphic>
      </p:graphicFrame>
      <p:graphicFrame>
        <p:nvGraphicFramePr>
          <p:cNvPr id="19470" name="Object 198"/>
          <p:cNvGraphicFramePr>
            <a:graphicFrameLocks noChangeAspect="1"/>
          </p:cNvGraphicFramePr>
          <p:nvPr/>
        </p:nvGraphicFramePr>
        <p:xfrm>
          <a:off x="6794500" y="1447800"/>
          <a:ext cx="2273300" cy="2127250"/>
        </p:xfrm>
        <a:graphic>
          <a:graphicData uri="http://schemas.openxmlformats.org/presentationml/2006/ole">
            <mc:AlternateContent xmlns:mc="http://schemas.openxmlformats.org/markup-compatibility/2006">
              <mc:Choice xmlns:v="urn:schemas-microsoft-com:vml" Requires="v">
                <p:oleObj spid="_x0000_s3079" name="" r:id="rId5" imgW="20475575" imgH="19157315" progId="SmartDraw.2">
                  <p:embed/>
                </p:oleObj>
              </mc:Choice>
              <mc:Fallback>
                <p:oleObj name="" r:id="rId5" imgW="20475575" imgH="19157315" progId="SmartDraw.2">
                  <p:embed/>
                  <p:pic>
                    <p:nvPicPr>
                      <p:cNvPr id="0" name="Picture 3078"/>
                      <p:cNvPicPr/>
                      <p:nvPr/>
                    </p:nvPicPr>
                    <p:blipFill>
                      <a:blip r:embed="rId6"/>
                      <a:stretch>
                        <a:fillRect/>
                      </a:stretch>
                    </p:blipFill>
                    <p:spPr>
                      <a:xfrm>
                        <a:off x="6794500" y="1447800"/>
                        <a:ext cx="2273300" cy="2127250"/>
                      </a:xfrm>
                      <a:prstGeom prst="rect">
                        <a:avLst/>
                      </a:prstGeom>
                      <a:noFill/>
                      <a:ln w="38100">
                        <a:noFill/>
                        <a:miter/>
                      </a:ln>
                    </p:spPr>
                  </p:pic>
                </p:oleObj>
              </mc:Fallback>
            </mc:AlternateContent>
          </a:graphicData>
        </a:graphic>
      </p:graphicFrame>
      <p:graphicFrame>
        <p:nvGraphicFramePr>
          <p:cNvPr id="19471" name="Object 199"/>
          <p:cNvGraphicFramePr>
            <a:graphicFrameLocks noChangeAspect="1"/>
          </p:cNvGraphicFramePr>
          <p:nvPr/>
        </p:nvGraphicFramePr>
        <p:xfrm>
          <a:off x="6794500" y="3892550"/>
          <a:ext cx="2273300" cy="2127250"/>
        </p:xfrm>
        <a:graphic>
          <a:graphicData uri="http://schemas.openxmlformats.org/presentationml/2006/ole">
            <mc:AlternateContent xmlns:mc="http://schemas.openxmlformats.org/markup-compatibility/2006">
              <mc:Choice xmlns:v="urn:schemas-microsoft-com:vml" Requires="v">
                <p:oleObj spid="_x0000_s3080" name="" r:id="rId7" imgW="20475575" imgH="19157315" progId="SmartDraw.2">
                  <p:embed/>
                </p:oleObj>
              </mc:Choice>
              <mc:Fallback>
                <p:oleObj name="" r:id="rId7" imgW="20475575" imgH="19157315" progId="SmartDraw.2">
                  <p:embed/>
                  <p:pic>
                    <p:nvPicPr>
                      <p:cNvPr id="0" name="Picture 3079"/>
                      <p:cNvPicPr/>
                      <p:nvPr/>
                    </p:nvPicPr>
                    <p:blipFill>
                      <a:blip r:embed="rId8"/>
                      <a:stretch>
                        <a:fillRect/>
                      </a:stretch>
                    </p:blipFill>
                    <p:spPr>
                      <a:xfrm>
                        <a:off x="6794500" y="3892550"/>
                        <a:ext cx="2273300" cy="2127250"/>
                      </a:xfrm>
                      <a:prstGeom prst="rect">
                        <a:avLst/>
                      </a:prstGeom>
                      <a:noFill/>
                      <a:ln w="38100">
                        <a:noFill/>
                        <a:miter/>
                      </a:ln>
                    </p:spPr>
                  </p:pic>
                </p:oleObj>
              </mc:Fallback>
            </mc:AlternateContent>
          </a:graphicData>
        </a:graphic>
      </p:graphicFrame>
      <p:graphicFrame>
        <p:nvGraphicFramePr>
          <p:cNvPr id="19472" name="Object 200"/>
          <p:cNvGraphicFramePr>
            <a:graphicFrameLocks noChangeAspect="1"/>
          </p:cNvGraphicFramePr>
          <p:nvPr/>
        </p:nvGraphicFramePr>
        <p:xfrm>
          <a:off x="3594100" y="3962400"/>
          <a:ext cx="2197100" cy="2055813"/>
        </p:xfrm>
        <a:graphic>
          <a:graphicData uri="http://schemas.openxmlformats.org/presentationml/2006/ole">
            <mc:AlternateContent xmlns:mc="http://schemas.openxmlformats.org/markup-compatibility/2006">
              <mc:Choice xmlns:v="urn:schemas-microsoft-com:vml" Requires="v">
                <p:oleObj spid="_x0000_s3081" name="" r:id="rId9" imgW="20475575" imgH="19157315" progId="SmartDraw.2">
                  <p:embed/>
                </p:oleObj>
              </mc:Choice>
              <mc:Fallback>
                <p:oleObj name="" r:id="rId9" imgW="20475575" imgH="19157315" progId="SmartDraw.2">
                  <p:embed/>
                  <p:pic>
                    <p:nvPicPr>
                      <p:cNvPr id="0" name="Picture 3080"/>
                      <p:cNvPicPr/>
                      <p:nvPr/>
                    </p:nvPicPr>
                    <p:blipFill>
                      <a:blip r:embed="rId10"/>
                      <a:stretch>
                        <a:fillRect/>
                      </a:stretch>
                    </p:blipFill>
                    <p:spPr>
                      <a:xfrm>
                        <a:off x="3594100" y="3962400"/>
                        <a:ext cx="2197100" cy="2055813"/>
                      </a:xfrm>
                      <a:prstGeom prst="rect">
                        <a:avLst/>
                      </a:prstGeom>
                      <a:noFill/>
                      <a:ln w="38100">
                        <a:noFill/>
                        <a:miter/>
                      </a:ln>
                    </p:spPr>
                  </p:pic>
                </p:oleObj>
              </mc:Fallback>
            </mc:AlternateContent>
          </a:graphicData>
        </a:graphic>
      </p:graphicFrame>
      <p:sp>
        <p:nvSpPr>
          <p:cNvPr id="19473" name="Line 192"/>
          <p:cNvSpPr/>
          <p:nvPr/>
        </p:nvSpPr>
        <p:spPr>
          <a:xfrm flipV="1">
            <a:off x="4356100" y="3505200"/>
            <a:ext cx="0" cy="381000"/>
          </a:xfrm>
          <a:prstGeom prst="line">
            <a:avLst/>
          </a:prstGeom>
          <a:ln w="9525" cap="flat" cmpd="sng">
            <a:solidFill>
              <a:schemeClr val="tx1"/>
            </a:solidFill>
            <a:prstDash val="solid"/>
            <a:miter/>
            <a:headEnd type="none" w="med" len="med"/>
            <a:tailEnd type="triangle" w="med" len="med"/>
          </a:ln>
        </p:spPr>
      </p:sp>
      <p:sp>
        <p:nvSpPr>
          <p:cNvPr id="19474" name="Text Box 181"/>
          <p:cNvSpPr txBox="1"/>
          <p:nvPr/>
        </p:nvSpPr>
        <p:spPr>
          <a:xfrm>
            <a:off x="622300" y="3429000"/>
            <a:ext cx="1676400" cy="304800"/>
          </a:xfrm>
          <a:prstGeom prst="rect">
            <a:avLst/>
          </a:prstGeom>
          <a:noFill/>
          <a:ln w="9525">
            <a:noFill/>
          </a:ln>
        </p:spPr>
        <p:txBody>
          <a:bodyPr>
            <a:spAutoFit/>
          </a:bodyPr>
          <a:p>
            <a:pPr algn="l">
              <a:spcBef>
                <a:spcPct val="50000"/>
              </a:spcBef>
            </a:pPr>
            <a:r>
              <a:rPr lang="en-US" altLang="ko-KR" sz="1400" dirty="0">
                <a:latin typeface="Tahoma" panose="020B0604030504040204" pitchFamily="34" charset="0"/>
                <a:ea typeface="Gulim" panose="020B0600000101010101" pitchFamily="34" charset="-127"/>
              </a:rPr>
              <a:t>The initial data set</a:t>
            </a:r>
            <a:endParaRPr lang="en-US" altLang="ko-KR" sz="1400" dirty="0">
              <a:latin typeface="Tahoma" panose="020B0604030504040204" pitchFamily="34" charset="0"/>
              <a:ea typeface="Gulim" panose="020B0600000101010101" pitchFamily="34" charset="-127"/>
            </a:endParaRPr>
          </a:p>
        </p:txBody>
      </p:sp>
      <p:sp>
        <p:nvSpPr>
          <p:cNvPr id="19475" name="Line 93"/>
          <p:cNvSpPr/>
          <p:nvPr/>
        </p:nvSpPr>
        <p:spPr>
          <a:xfrm flipH="1">
            <a:off x="5803900" y="4876800"/>
            <a:ext cx="838200" cy="0"/>
          </a:xfrm>
          <a:prstGeom prst="line">
            <a:avLst/>
          </a:prstGeom>
          <a:ln w="9525" cap="flat" cmpd="sng">
            <a:solidFill>
              <a:schemeClr val="tx1"/>
            </a:solidFill>
            <a:prstDash val="solid"/>
            <a:headEnd type="none" w="med" len="med"/>
            <a:tailEnd type="triangle" w="med" len="med"/>
          </a:ln>
        </p:spPr>
      </p:sp>
      <p:sp>
        <p:nvSpPr>
          <p:cNvPr id="19476" name="Rectangle 3"/>
          <p:cNvSpPr/>
          <p:nvPr/>
        </p:nvSpPr>
        <p:spPr>
          <a:xfrm>
            <a:off x="0" y="3962400"/>
            <a:ext cx="3581400" cy="2667000"/>
          </a:xfrm>
          <a:prstGeom prst="rect">
            <a:avLst/>
          </a:prstGeom>
          <a:noFill/>
          <a:ln w="9525">
            <a:noFill/>
          </a:ln>
        </p:spPr>
        <p:txBody>
          <a:bodyPr/>
          <a:p>
            <a:pPr marL="342900" indent="-342900" algn="l">
              <a:lnSpc>
                <a:spcPct val="120000"/>
              </a:lnSpc>
              <a:spcBef>
                <a:spcPct val="20000"/>
              </a:spcBef>
              <a:buClr>
                <a:schemeClr val="folHlink"/>
              </a:buClr>
              <a:buSzPct val="60000"/>
              <a:buFont typeface="Wingdings" panose="05000000000000000000" pitchFamily="2" charset="2"/>
              <a:buChar char="n"/>
            </a:pPr>
            <a:r>
              <a:rPr sz="1600" dirty="0">
                <a:solidFill>
                  <a:srgbClr val="000000"/>
                </a:solidFill>
                <a:latin typeface="Arial" panose="020B0604020202020204" pitchFamily="34" charset="0"/>
              </a:rPr>
              <a:t>Partition objects into </a:t>
            </a:r>
            <a:r>
              <a:rPr sz="1600" i="1" dirty="0">
                <a:solidFill>
                  <a:srgbClr val="000000"/>
                </a:solidFill>
                <a:latin typeface="Arial" panose="020B0604020202020204" pitchFamily="34" charset="0"/>
              </a:rPr>
              <a:t>k</a:t>
            </a:r>
            <a:r>
              <a:rPr sz="1600" dirty="0">
                <a:solidFill>
                  <a:srgbClr val="000000"/>
                </a:solidFill>
                <a:latin typeface="Arial" panose="020B0604020202020204" pitchFamily="34" charset="0"/>
              </a:rPr>
              <a:t> nonempty subsets</a:t>
            </a:r>
            <a:endParaRPr sz="1600" dirty="0">
              <a:solidFill>
                <a:srgbClr val="000000"/>
              </a:solidFill>
              <a:latin typeface="Arial" panose="020B0604020202020204" pitchFamily="34" charset="0"/>
            </a:endParaRPr>
          </a:p>
          <a:p>
            <a:pPr marL="342900" indent="-342900" algn="l">
              <a:lnSpc>
                <a:spcPct val="120000"/>
              </a:lnSpc>
              <a:spcBef>
                <a:spcPct val="20000"/>
              </a:spcBef>
              <a:buClr>
                <a:schemeClr val="folHlink"/>
              </a:buClr>
              <a:buSzPct val="60000"/>
              <a:buFont typeface="Wingdings" panose="05000000000000000000" pitchFamily="2" charset="2"/>
              <a:buChar char="n"/>
            </a:pPr>
            <a:r>
              <a:rPr sz="1600" dirty="0">
                <a:latin typeface="Arial" panose="020B0604020202020204" pitchFamily="34" charset="0"/>
              </a:rPr>
              <a:t>Repeat</a:t>
            </a:r>
            <a:endParaRPr sz="1600" dirty="0">
              <a:solidFill>
                <a:srgbClr val="000000"/>
              </a:solidFill>
              <a:latin typeface="Arial" panose="020B0604020202020204" pitchFamily="34" charset="0"/>
            </a:endParaRPr>
          </a:p>
          <a:p>
            <a:pPr marL="742950" lvl="1" indent="-285750" algn="l" eaLnBrk="1" hangingPunct="1">
              <a:lnSpc>
                <a:spcPct val="120000"/>
              </a:lnSpc>
              <a:spcBef>
                <a:spcPct val="20000"/>
              </a:spcBef>
              <a:buClr>
                <a:schemeClr val="hlink"/>
              </a:buClr>
              <a:buSzPct val="55000"/>
              <a:buFont typeface="Wingdings" panose="05000000000000000000" pitchFamily="2" charset="2"/>
              <a:buChar char="n"/>
            </a:pPr>
            <a:r>
              <a:rPr sz="1600" dirty="0">
                <a:solidFill>
                  <a:srgbClr val="000000"/>
                </a:solidFill>
                <a:latin typeface="Arial" panose="020B0604020202020204" pitchFamily="34" charset="0"/>
              </a:rPr>
              <a:t>Compute centroid (i.e., mean point) for each partition </a:t>
            </a:r>
            <a:endParaRPr sz="1600" dirty="0">
              <a:solidFill>
                <a:srgbClr val="000000"/>
              </a:solidFill>
              <a:latin typeface="Arial" panose="020B0604020202020204" pitchFamily="34" charset="0"/>
            </a:endParaRPr>
          </a:p>
          <a:p>
            <a:pPr marL="742950" lvl="1" indent="-285750" algn="l" eaLnBrk="1" hangingPunct="1">
              <a:lnSpc>
                <a:spcPct val="120000"/>
              </a:lnSpc>
              <a:spcBef>
                <a:spcPct val="20000"/>
              </a:spcBef>
              <a:buClr>
                <a:schemeClr val="hlink"/>
              </a:buClr>
              <a:buSzPct val="55000"/>
              <a:buFont typeface="Wingdings" panose="05000000000000000000" pitchFamily="2" charset="2"/>
              <a:buChar char="n"/>
            </a:pPr>
            <a:r>
              <a:rPr sz="1600" dirty="0">
                <a:solidFill>
                  <a:srgbClr val="000000"/>
                </a:solidFill>
                <a:latin typeface="Arial" panose="020B0604020202020204" pitchFamily="34" charset="0"/>
              </a:rPr>
              <a:t>Assign each object to the cluster of its nearest centroid  </a:t>
            </a:r>
            <a:endParaRPr sz="1600" dirty="0">
              <a:solidFill>
                <a:srgbClr val="000000"/>
              </a:solidFill>
              <a:latin typeface="Arial" panose="020B0604020202020204" pitchFamily="34" charset="0"/>
            </a:endParaRPr>
          </a:p>
          <a:p>
            <a:pPr marL="342900" indent="-342900" algn="l">
              <a:lnSpc>
                <a:spcPct val="120000"/>
              </a:lnSpc>
              <a:spcBef>
                <a:spcPct val="20000"/>
              </a:spcBef>
              <a:buClr>
                <a:schemeClr val="folHlink"/>
              </a:buClr>
              <a:buSzPct val="60000"/>
              <a:buFont typeface="Wingdings" panose="05000000000000000000" pitchFamily="2" charset="2"/>
              <a:buChar char="n"/>
            </a:pPr>
            <a:r>
              <a:rPr sz="1600" dirty="0">
                <a:solidFill>
                  <a:srgbClr val="000000"/>
                </a:solidFill>
                <a:latin typeface="Arial" panose="020B0604020202020204" pitchFamily="34" charset="0"/>
              </a:rPr>
              <a:t>Until no change</a:t>
            </a:r>
            <a:endParaRPr sz="1600" dirty="0">
              <a:solidFill>
                <a:srgbClr val="000000"/>
              </a:solidFill>
              <a:latin typeface="Arial" panose="020B0604020202020204" pitchFamily="34" charset="0"/>
            </a:endParaRPr>
          </a:p>
        </p:txBody>
      </p:sp>
    </p:spTree>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a:xfrm>
            <a:off x="750888" y="436563"/>
            <a:ext cx="7439025" cy="442912"/>
          </a:xfrm>
        </p:spPr>
        <p:txBody>
          <a:bodyPr vert="horz" wrap="square" lIns="91440" tIns="45720" rIns="91440" bIns="45720" anchor="b" anchorCtr="0"/>
          <a:p>
            <a:pPr eaLnBrk="1" hangingPunct="1"/>
            <a:r>
              <a:rPr sz="3200" dirty="0"/>
              <a:t>Comments on the </a:t>
            </a:r>
            <a:r>
              <a:rPr sz="3200" i="1" dirty="0"/>
              <a:t>K-Means</a:t>
            </a:r>
            <a:r>
              <a:rPr sz="3200" dirty="0"/>
              <a:t> Method</a:t>
            </a:r>
            <a:endParaRPr sz="2400" b="1" dirty="0"/>
          </a:p>
        </p:txBody>
      </p:sp>
      <p:sp>
        <p:nvSpPr>
          <p:cNvPr id="20483" name="Rectangle 3"/>
          <p:cNvSpPr>
            <a:spLocks noGrp="1"/>
          </p:cNvSpPr>
          <p:nvPr>
            <p:ph idx="1"/>
          </p:nvPr>
        </p:nvSpPr>
        <p:spPr>
          <a:xfrm>
            <a:off x="304800" y="1371600"/>
            <a:ext cx="8534400" cy="5257800"/>
          </a:xfrm>
        </p:spPr>
        <p:txBody>
          <a:bodyPr vert="horz" wrap="square" lIns="91440" tIns="45720" rIns="91440" bIns="45720" anchor="t" anchorCtr="0"/>
          <a:p>
            <a:pPr eaLnBrk="1" hangingPunct="1">
              <a:lnSpc>
                <a:spcPct val="120000"/>
              </a:lnSpc>
            </a:pPr>
            <a:r>
              <a:rPr sz="2000" u="sng" dirty="0"/>
              <a:t>Strength:</a:t>
            </a:r>
            <a:r>
              <a:rPr sz="2000" dirty="0"/>
              <a:t> </a:t>
            </a:r>
            <a:r>
              <a:rPr sz="2000" i="1" dirty="0"/>
              <a:t>Efficient</a:t>
            </a:r>
            <a:r>
              <a:rPr sz="2000" dirty="0"/>
              <a:t>: </a:t>
            </a:r>
            <a:r>
              <a:rPr sz="2000" i="1" dirty="0"/>
              <a:t>O</a:t>
            </a:r>
            <a:r>
              <a:rPr sz="2000" dirty="0"/>
              <a:t>(</a:t>
            </a:r>
            <a:r>
              <a:rPr sz="2000" i="1" dirty="0"/>
              <a:t>tkn</a:t>
            </a:r>
            <a:r>
              <a:rPr sz="2000" dirty="0"/>
              <a:t>), where </a:t>
            </a:r>
            <a:r>
              <a:rPr sz="2000" i="1" dirty="0"/>
              <a:t>n</a:t>
            </a:r>
            <a:r>
              <a:rPr sz="2000" dirty="0"/>
              <a:t> is # objects, </a:t>
            </a:r>
            <a:r>
              <a:rPr sz="2000" i="1" dirty="0"/>
              <a:t>k</a:t>
            </a:r>
            <a:r>
              <a:rPr sz="2000" dirty="0"/>
              <a:t> is # clusters, and </a:t>
            </a:r>
            <a:r>
              <a:rPr sz="2000" i="1" dirty="0"/>
              <a:t>t  </a:t>
            </a:r>
            <a:r>
              <a:rPr sz="2000" dirty="0"/>
              <a:t>is # iterations. Normally, </a:t>
            </a:r>
            <a:r>
              <a:rPr sz="2000" i="1" dirty="0"/>
              <a:t>k</a:t>
            </a:r>
            <a:r>
              <a:rPr sz="2000" dirty="0"/>
              <a:t>, </a:t>
            </a:r>
            <a:r>
              <a:rPr sz="2000" i="1" dirty="0"/>
              <a:t>t</a:t>
            </a:r>
            <a:r>
              <a:rPr sz="2000" dirty="0"/>
              <a:t> &lt;&lt; </a:t>
            </a:r>
            <a:r>
              <a:rPr sz="2000" i="1" dirty="0"/>
              <a:t>n</a:t>
            </a:r>
            <a:r>
              <a:rPr sz="2000" dirty="0"/>
              <a:t>.</a:t>
            </a:r>
            <a:endParaRPr sz="2000" dirty="0"/>
          </a:p>
          <a:p>
            <a:pPr lvl="2" eaLnBrk="1" hangingPunct="1">
              <a:lnSpc>
                <a:spcPct val="120000"/>
              </a:lnSpc>
            </a:pPr>
            <a:r>
              <a:rPr lang="en-US" altLang="ko-KR" sz="2000" dirty="0">
                <a:ea typeface="Gulim" panose="020B0600000101010101" pitchFamily="34" charset="-127"/>
              </a:rPr>
              <a:t>Comparing: PAM: O(k(n-k)</a:t>
            </a:r>
            <a:r>
              <a:rPr lang="en-US" altLang="ko-KR" sz="2000" baseline="30000" dirty="0">
                <a:ea typeface="Gulim" panose="020B0600000101010101" pitchFamily="34" charset="-127"/>
              </a:rPr>
              <a:t>2</a:t>
            </a:r>
            <a:r>
              <a:rPr lang="en-US" altLang="ko-KR" sz="2000" dirty="0">
                <a:ea typeface="Gulim" panose="020B0600000101010101" pitchFamily="34" charset="-127"/>
              </a:rPr>
              <a:t> ), CLARA: O(ks</a:t>
            </a:r>
            <a:r>
              <a:rPr lang="en-US" altLang="ko-KR" sz="2000" baseline="30000" dirty="0">
                <a:ea typeface="Gulim" panose="020B0600000101010101" pitchFamily="34" charset="-127"/>
              </a:rPr>
              <a:t>2</a:t>
            </a:r>
            <a:r>
              <a:rPr lang="en-US" altLang="ko-KR" sz="2000" dirty="0">
                <a:ea typeface="Gulim" panose="020B0600000101010101" pitchFamily="34" charset="-127"/>
              </a:rPr>
              <a:t> + k(n-k))</a:t>
            </a:r>
            <a:endParaRPr sz="2000" dirty="0"/>
          </a:p>
          <a:p>
            <a:pPr eaLnBrk="1" hangingPunct="1">
              <a:lnSpc>
                <a:spcPct val="120000"/>
              </a:lnSpc>
            </a:pPr>
            <a:r>
              <a:rPr sz="2000" u="sng" dirty="0"/>
              <a:t>Comment:</a:t>
            </a:r>
            <a:r>
              <a:rPr sz="2000" dirty="0"/>
              <a:t> Often terminates at a </a:t>
            </a:r>
            <a:r>
              <a:rPr sz="2000" i="1" dirty="0"/>
              <a:t>local optimal</a:t>
            </a:r>
            <a:r>
              <a:rPr sz="2000" dirty="0"/>
              <a:t>. </a:t>
            </a:r>
            <a:endParaRPr sz="2000" dirty="0"/>
          </a:p>
          <a:p>
            <a:pPr eaLnBrk="1" hangingPunct="1">
              <a:lnSpc>
                <a:spcPct val="120000"/>
              </a:lnSpc>
            </a:pPr>
            <a:r>
              <a:rPr sz="2000" u="sng" dirty="0"/>
              <a:t>Weakness</a:t>
            </a:r>
            <a:endParaRPr sz="2000" dirty="0"/>
          </a:p>
          <a:p>
            <a:pPr lvl="1" eaLnBrk="1" hangingPunct="1">
              <a:lnSpc>
                <a:spcPct val="120000"/>
              </a:lnSpc>
            </a:pPr>
            <a:r>
              <a:rPr sz="2000" dirty="0"/>
              <a:t>Applicable only to objects in a continuous n-dimensional space </a:t>
            </a:r>
            <a:endParaRPr sz="2000" i="1" dirty="0"/>
          </a:p>
          <a:p>
            <a:pPr lvl="2" eaLnBrk="1" hangingPunct="1">
              <a:lnSpc>
                <a:spcPct val="120000"/>
              </a:lnSpc>
            </a:pPr>
            <a:r>
              <a:rPr sz="2000" dirty="0"/>
              <a:t>Using the k-modes method for categorical data</a:t>
            </a:r>
            <a:endParaRPr sz="2000" dirty="0"/>
          </a:p>
          <a:p>
            <a:pPr lvl="2" eaLnBrk="1" hangingPunct="1">
              <a:lnSpc>
                <a:spcPct val="120000"/>
              </a:lnSpc>
            </a:pPr>
            <a:r>
              <a:rPr sz="2000" dirty="0"/>
              <a:t>In comparison, k-medoids can be applied to a wide range of data</a:t>
            </a:r>
            <a:endParaRPr sz="2000" dirty="0"/>
          </a:p>
          <a:p>
            <a:pPr lvl="1" eaLnBrk="1" hangingPunct="1">
              <a:lnSpc>
                <a:spcPct val="120000"/>
              </a:lnSpc>
            </a:pPr>
            <a:r>
              <a:rPr sz="2000" dirty="0"/>
              <a:t>Need to specify </a:t>
            </a:r>
            <a:r>
              <a:rPr sz="2000" i="1" dirty="0"/>
              <a:t>k, </a:t>
            </a:r>
            <a:r>
              <a:rPr sz="2000" dirty="0"/>
              <a:t>the </a:t>
            </a:r>
            <a:r>
              <a:rPr sz="2000" i="1" dirty="0"/>
              <a:t>number</a:t>
            </a:r>
            <a:r>
              <a:rPr sz="2000" dirty="0"/>
              <a:t> of clusters, in advance (there are ways to automatically determine the best k (see Hastie et al., 2009)</a:t>
            </a:r>
            <a:endParaRPr sz="2000" dirty="0"/>
          </a:p>
          <a:p>
            <a:pPr lvl="1" eaLnBrk="1" hangingPunct="1">
              <a:lnSpc>
                <a:spcPct val="120000"/>
              </a:lnSpc>
            </a:pPr>
            <a:r>
              <a:rPr sz="2000" dirty="0"/>
              <a:t>Sensitive to noisy data and </a:t>
            </a:r>
            <a:r>
              <a:rPr sz="2000" i="1" dirty="0"/>
              <a:t>outliers</a:t>
            </a:r>
            <a:endParaRPr sz="2000" dirty="0"/>
          </a:p>
          <a:p>
            <a:pPr lvl="1" eaLnBrk="1" hangingPunct="1">
              <a:lnSpc>
                <a:spcPct val="120000"/>
              </a:lnSpc>
            </a:pPr>
            <a:r>
              <a:rPr sz="2000" dirty="0"/>
              <a:t>Not suitable to discover clusters with </a:t>
            </a:r>
            <a:r>
              <a:rPr sz="2000" i="1" dirty="0"/>
              <a:t>non-convex shapes</a:t>
            </a:r>
            <a:endParaRPr sz="2000" i="1" dirty="0"/>
          </a:p>
        </p:txBody>
      </p:sp>
      <p:sp>
        <p:nvSpPr>
          <p:cNvPr id="20484"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p:txBody>
          <a:bodyPr vert="horz" wrap="square" lIns="91440" tIns="45720" rIns="91440" bIns="45720" anchor="b" anchorCtr="0"/>
          <a:p>
            <a:pPr eaLnBrk="1" hangingPunct="1"/>
            <a:r>
              <a:rPr sz="3200" dirty="0"/>
              <a:t>Variations of the </a:t>
            </a:r>
            <a:r>
              <a:rPr sz="3200" i="1" dirty="0"/>
              <a:t>K-Means</a:t>
            </a:r>
            <a:r>
              <a:rPr sz="3200" dirty="0"/>
              <a:t> Method</a:t>
            </a:r>
            <a:endParaRPr sz="2400" b="1" dirty="0"/>
          </a:p>
        </p:txBody>
      </p:sp>
      <p:sp>
        <p:nvSpPr>
          <p:cNvPr id="21507" name="Rectangle 3"/>
          <p:cNvSpPr>
            <a:spLocks noGrp="1"/>
          </p:cNvSpPr>
          <p:nvPr>
            <p:ph type="body" sz="half" idx="1"/>
          </p:nvPr>
        </p:nvSpPr>
        <p:spPr>
          <a:xfrm>
            <a:off x="381000" y="1371600"/>
            <a:ext cx="8458200" cy="5105400"/>
          </a:xfrm>
        </p:spPr>
        <p:txBody>
          <a:bodyPr vert="horz" wrap="square" lIns="91440" tIns="45720" rIns="91440" bIns="45720" anchor="t" anchorCtr="0"/>
          <a:p>
            <a:pPr eaLnBrk="1" hangingPunct="1">
              <a:lnSpc>
                <a:spcPct val="150000"/>
              </a:lnSpc>
              <a:buClr>
                <a:schemeClr val="folHlink"/>
              </a:buClr>
              <a:buSzPct val="60000"/>
              <a:buFont typeface="Wingdings" panose="05000000000000000000" pitchFamily="2" charset="2"/>
            </a:pPr>
            <a:r>
              <a:rPr sz="2000" dirty="0"/>
              <a:t>Most of the variants of the </a:t>
            </a:r>
            <a:r>
              <a:rPr sz="2000" i="1" dirty="0"/>
              <a:t>k-means</a:t>
            </a:r>
            <a:r>
              <a:rPr sz="2000" dirty="0"/>
              <a:t> which differ in</a:t>
            </a:r>
            <a:endParaRPr sz="2000" dirty="0"/>
          </a:p>
          <a:p>
            <a:pPr lvl="1" eaLnBrk="1" hangingPunct="1">
              <a:lnSpc>
                <a:spcPct val="150000"/>
              </a:lnSpc>
              <a:buClr>
                <a:schemeClr val="hlink"/>
              </a:buClr>
              <a:buSzPct val="55000"/>
              <a:buFont typeface="Wingdings" panose="05000000000000000000" pitchFamily="2" charset="2"/>
            </a:pPr>
            <a:r>
              <a:rPr sz="2000" dirty="0"/>
              <a:t>Selection of the initial </a:t>
            </a:r>
            <a:r>
              <a:rPr sz="2000" i="1" dirty="0"/>
              <a:t>k</a:t>
            </a:r>
            <a:r>
              <a:rPr sz="2000" dirty="0"/>
              <a:t> means</a:t>
            </a:r>
            <a:endParaRPr sz="2000" dirty="0"/>
          </a:p>
          <a:p>
            <a:pPr lvl="1" eaLnBrk="1" hangingPunct="1">
              <a:lnSpc>
                <a:spcPct val="150000"/>
              </a:lnSpc>
              <a:buClr>
                <a:schemeClr val="hlink"/>
              </a:buClr>
              <a:buSzPct val="55000"/>
              <a:buFont typeface="Wingdings" panose="05000000000000000000" pitchFamily="2" charset="2"/>
            </a:pPr>
            <a:r>
              <a:rPr sz="2000" dirty="0"/>
              <a:t>Dissimilarity calculations</a:t>
            </a:r>
            <a:endParaRPr sz="2000" dirty="0"/>
          </a:p>
          <a:p>
            <a:pPr lvl="1" eaLnBrk="1" hangingPunct="1">
              <a:lnSpc>
                <a:spcPct val="150000"/>
              </a:lnSpc>
              <a:buClr>
                <a:schemeClr val="hlink"/>
              </a:buClr>
              <a:buSzPct val="55000"/>
              <a:buFont typeface="Wingdings" panose="05000000000000000000" pitchFamily="2" charset="2"/>
            </a:pPr>
            <a:r>
              <a:rPr sz="2000" dirty="0"/>
              <a:t>Strategies to calculate cluster means</a:t>
            </a:r>
            <a:endParaRPr sz="2000" dirty="0"/>
          </a:p>
          <a:p>
            <a:pPr eaLnBrk="1" hangingPunct="1">
              <a:lnSpc>
                <a:spcPct val="150000"/>
              </a:lnSpc>
              <a:buClr>
                <a:schemeClr val="folHlink"/>
              </a:buClr>
              <a:buSzPct val="60000"/>
              <a:buFont typeface="Wingdings" panose="05000000000000000000" pitchFamily="2" charset="2"/>
            </a:pPr>
            <a:r>
              <a:rPr sz="2000" dirty="0"/>
              <a:t>Handling categorical data: </a:t>
            </a:r>
            <a:r>
              <a:rPr sz="2000" i="1" dirty="0"/>
              <a:t>k-modes</a:t>
            </a:r>
            <a:endParaRPr sz="2000" dirty="0"/>
          </a:p>
          <a:p>
            <a:pPr lvl="1" eaLnBrk="1" hangingPunct="1">
              <a:lnSpc>
                <a:spcPct val="150000"/>
              </a:lnSpc>
              <a:buClr>
                <a:schemeClr val="hlink"/>
              </a:buClr>
              <a:buSzPct val="55000"/>
              <a:buFont typeface="Wingdings" panose="05000000000000000000" pitchFamily="2" charset="2"/>
            </a:pPr>
            <a:r>
              <a:rPr sz="2000" dirty="0"/>
              <a:t>Replacing means of clusters with </a:t>
            </a:r>
            <a:r>
              <a:rPr sz="2000" u="sng" dirty="0"/>
              <a:t>modes</a:t>
            </a:r>
            <a:endParaRPr sz="2000" dirty="0"/>
          </a:p>
          <a:p>
            <a:pPr lvl="1" eaLnBrk="1" hangingPunct="1">
              <a:lnSpc>
                <a:spcPct val="150000"/>
              </a:lnSpc>
              <a:buClr>
                <a:schemeClr val="hlink"/>
              </a:buClr>
              <a:buSzPct val="55000"/>
              <a:buFont typeface="Wingdings" panose="05000000000000000000" pitchFamily="2" charset="2"/>
            </a:pPr>
            <a:r>
              <a:rPr sz="2000" dirty="0"/>
              <a:t>Using new dissimilarity measures to deal with categorical objects</a:t>
            </a:r>
            <a:endParaRPr sz="2000" dirty="0"/>
          </a:p>
          <a:p>
            <a:pPr lvl="1" eaLnBrk="1" hangingPunct="1">
              <a:lnSpc>
                <a:spcPct val="150000"/>
              </a:lnSpc>
              <a:buClr>
                <a:schemeClr val="hlink"/>
              </a:buClr>
              <a:buSzPct val="55000"/>
              <a:buFont typeface="Wingdings" panose="05000000000000000000" pitchFamily="2" charset="2"/>
            </a:pPr>
            <a:r>
              <a:rPr sz="2000" dirty="0"/>
              <a:t>Using a </a:t>
            </a:r>
            <a:r>
              <a:rPr sz="2000" u="sng" dirty="0"/>
              <a:t>frequency</a:t>
            </a:r>
            <a:r>
              <a:rPr sz="2000" dirty="0"/>
              <a:t>-based method to update modes of clusters</a:t>
            </a:r>
            <a:endParaRPr sz="2000" dirty="0"/>
          </a:p>
          <a:p>
            <a:pPr lvl="1" eaLnBrk="1" hangingPunct="1">
              <a:lnSpc>
                <a:spcPct val="150000"/>
              </a:lnSpc>
              <a:buClr>
                <a:schemeClr val="hlink"/>
              </a:buClr>
              <a:buSzPct val="55000"/>
              <a:buFont typeface="Wingdings" panose="05000000000000000000" pitchFamily="2" charset="2"/>
            </a:pPr>
            <a:r>
              <a:rPr sz="2000" dirty="0"/>
              <a:t>A mixture of categorical and numerical data: </a:t>
            </a:r>
            <a:r>
              <a:rPr sz="2000" i="1" dirty="0"/>
              <a:t>k-prototype</a:t>
            </a:r>
            <a:r>
              <a:rPr sz="2000" dirty="0"/>
              <a:t> method</a:t>
            </a:r>
            <a:endParaRPr sz="2000" dirty="0"/>
          </a:p>
        </p:txBody>
      </p:sp>
      <p:graphicFrame>
        <p:nvGraphicFramePr>
          <p:cNvPr id="21508" name="Object 4"/>
          <p:cNvGraphicFramePr>
            <a:graphicFrameLocks noChangeAspect="1"/>
          </p:cNvGraphicFramePr>
          <p:nvPr>
            <p:ph sz="half" idx="2"/>
          </p:nvPr>
        </p:nvGraphicFramePr>
        <p:xfrm>
          <a:off x="6096000" y="1981200"/>
          <a:ext cx="2687638" cy="1371600"/>
        </p:xfrm>
        <a:graphic>
          <a:graphicData uri="http://schemas.openxmlformats.org/presentationml/2006/ole">
            <mc:AlternateContent xmlns:mc="http://schemas.openxmlformats.org/markup-compatibility/2006">
              <mc:Choice xmlns:v="urn:schemas-microsoft-com:vml" Requires="v">
                <p:oleObj spid="_x0000_s3082" name="" r:id="rId1" imgW="2688590" imgH="1371600" progId="SmartDraw.2">
                  <p:embed/>
                </p:oleObj>
              </mc:Choice>
              <mc:Fallback>
                <p:oleObj name="" r:id="rId1" imgW="2688590" imgH="1371600" progId="SmartDraw.2">
                  <p:embed/>
                  <p:pic>
                    <p:nvPicPr>
                      <p:cNvPr id="0" name="Picture 3081"/>
                      <p:cNvPicPr/>
                      <p:nvPr/>
                    </p:nvPicPr>
                    <p:blipFill>
                      <a:blip r:embed="rId2"/>
                      <a:srcRect/>
                      <a:stretch>
                        <a:fillRect/>
                      </a:stretch>
                    </p:blipFill>
                    <p:spPr>
                      <a:xfrm>
                        <a:off x="6096000" y="1981200"/>
                        <a:ext cx="2687638" cy="1371600"/>
                      </a:xfrm>
                      <a:prstGeom prst="rect">
                        <a:avLst/>
                      </a:prstGeom>
                      <a:noFill/>
                      <a:ln w="38100">
                        <a:miter/>
                      </a:ln>
                    </p:spPr>
                  </p:pic>
                </p:oleObj>
              </mc:Fallback>
            </mc:AlternateContent>
          </a:graphicData>
        </a:graphic>
      </p:graphicFrame>
      <p:sp>
        <p:nvSpPr>
          <p:cNvPr id="21509" name="Slide Number Placeholder 7"/>
          <p:cNvSpPr txBox="1">
            <a:spLocks noGrp="1"/>
          </p:cNvSpPr>
          <p:nvPr>
            <p:ph type="sldNum" sz="quarter" idx="12"/>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1026"/>
          <p:cNvSpPr>
            <a:spLocks noGrp="1"/>
          </p:cNvSpPr>
          <p:nvPr>
            <p:ph type="title"/>
          </p:nvPr>
        </p:nvSpPr>
        <p:spPr>
          <a:xfrm>
            <a:off x="228600" y="304800"/>
            <a:ext cx="8566150" cy="609600"/>
          </a:xfrm>
        </p:spPr>
        <p:txBody>
          <a:bodyPr vert="horz" wrap="square" lIns="91440" tIns="45720" rIns="91440" bIns="45720" anchor="b" anchorCtr="0"/>
          <a:p>
            <a:pPr eaLnBrk="1" hangingPunct="1"/>
            <a:r>
              <a:rPr lang="en-US" altLang="ko-KR" sz="3200" dirty="0">
                <a:ea typeface="Gulim" panose="020B0600000101010101" pitchFamily="34" charset="-127"/>
              </a:rPr>
              <a:t>What Is the Problem of the K-Means Method?</a:t>
            </a:r>
            <a:endParaRPr sz="3200" dirty="0">
              <a:ea typeface="Gulim" panose="020B0600000101010101" pitchFamily="34" charset="-127"/>
            </a:endParaRPr>
          </a:p>
        </p:txBody>
      </p:sp>
      <p:sp>
        <p:nvSpPr>
          <p:cNvPr id="22531" name="Rectangle 1027"/>
          <p:cNvSpPr>
            <a:spLocks noGrp="1"/>
          </p:cNvSpPr>
          <p:nvPr>
            <p:ph idx="1"/>
          </p:nvPr>
        </p:nvSpPr>
        <p:spPr>
          <a:xfrm>
            <a:off x="304800" y="1371600"/>
            <a:ext cx="8534400" cy="4572000"/>
          </a:xfrm>
        </p:spPr>
        <p:txBody>
          <a:bodyPr vert="horz" wrap="square" lIns="91440" tIns="45720" rIns="91440" bIns="45720" anchor="t" anchorCtr="0"/>
          <a:p>
            <a:pPr eaLnBrk="1" hangingPunct="1">
              <a:lnSpc>
                <a:spcPct val="150000"/>
              </a:lnSpc>
            </a:pPr>
            <a:r>
              <a:rPr lang="en-US" altLang="ko-KR" sz="2000" dirty="0">
                <a:ea typeface="Gulim" panose="020B0600000101010101" pitchFamily="34" charset="-127"/>
              </a:rPr>
              <a:t>The k-means algorithm is sensitive to outliers !</a:t>
            </a:r>
            <a:endParaRPr lang="en-US" altLang="ko-KR" sz="2000" dirty="0">
              <a:ea typeface="Gulim" panose="020B0600000101010101" pitchFamily="34" charset="-127"/>
            </a:endParaRPr>
          </a:p>
          <a:p>
            <a:pPr lvl="1" eaLnBrk="1" hangingPunct="1">
              <a:lnSpc>
                <a:spcPct val="150000"/>
              </a:lnSpc>
            </a:pPr>
            <a:r>
              <a:rPr lang="en-US" altLang="ko-KR" sz="2000" dirty="0">
                <a:ea typeface="Gulim" panose="020B0600000101010101" pitchFamily="34" charset="-127"/>
              </a:rPr>
              <a:t>Since an object with an extremely large value may substantially distort the distribution of the data</a:t>
            </a:r>
            <a:endParaRPr lang="en-US" altLang="ko-KR" sz="2000" dirty="0">
              <a:ea typeface="Gulim" panose="020B0600000101010101" pitchFamily="34" charset="-127"/>
            </a:endParaRPr>
          </a:p>
          <a:p>
            <a:pPr eaLnBrk="1" hangingPunct="1">
              <a:lnSpc>
                <a:spcPct val="150000"/>
              </a:lnSpc>
            </a:pPr>
            <a:r>
              <a:rPr lang="en-US" altLang="ko-KR" sz="2000" dirty="0">
                <a:ea typeface="Gulim" panose="020B0600000101010101" pitchFamily="34" charset="-127"/>
              </a:rPr>
              <a:t>K-Medoids:  Instead of taking the </a:t>
            </a:r>
            <a:r>
              <a:rPr lang="en-US" altLang="ko-KR" sz="2000" b="1" dirty="0">
                <a:ea typeface="Gulim" panose="020B0600000101010101" pitchFamily="34" charset="-127"/>
              </a:rPr>
              <a:t>mean</a:t>
            </a:r>
            <a:r>
              <a:rPr lang="en-US" altLang="ko-KR" sz="2000" dirty="0">
                <a:ea typeface="Gulim" panose="020B0600000101010101" pitchFamily="34" charset="-127"/>
              </a:rPr>
              <a:t> value of the object in a cluster as a reference point, </a:t>
            </a:r>
            <a:r>
              <a:rPr lang="en-US" altLang="ko-KR" sz="2000" b="1" dirty="0">
                <a:ea typeface="Gulim" panose="020B0600000101010101" pitchFamily="34" charset="-127"/>
              </a:rPr>
              <a:t>medoids</a:t>
            </a:r>
            <a:r>
              <a:rPr lang="en-US" altLang="ko-KR" sz="2000" dirty="0">
                <a:ea typeface="Gulim" panose="020B0600000101010101" pitchFamily="34" charset="-127"/>
              </a:rPr>
              <a:t> can be used, which is the </a:t>
            </a:r>
            <a:r>
              <a:rPr lang="en-US" altLang="ko-KR" sz="2000" b="1" dirty="0">
                <a:ea typeface="Gulim" panose="020B0600000101010101" pitchFamily="34" charset="-127"/>
              </a:rPr>
              <a:t>most centrally located</a:t>
            </a:r>
            <a:r>
              <a:rPr lang="en-US" altLang="ko-KR" sz="2000" dirty="0">
                <a:ea typeface="Gulim" panose="020B0600000101010101" pitchFamily="34" charset="-127"/>
              </a:rPr>
              <a:t> object in a cluster</a:t>
            </a:r>
            <a:endParaRPr lang="en-US" altLang="ko-KR" sz="2000" dirty="0">
              <a:ea typeface="Gulim" panose="020B0600000101010101" pitchFamily="34" charset="-127"/>
            </a:endParaRPr>
          </a:p>
        </p:txBody>
      </p:sp>
      <p:grpSp>
        <p:nvGrpSpPr>
          <p:cNvPr id="2" name="Group 1028"/>
          <p:cNvGrpSpPr/>
          <p:nvPr/>
        </p:nvGrpSpPr>
        <p:grpSpPr>
          <a:xfrm>
            <a:off x="2057400" y="4724400"/>
            <a:ext cx="5257800" cy="1765300"/>
            <a:chOff x="1344" y="3072"/>
            <a:chExt cx="3312" cy="1112"/>
          </a:xfrm>
        </p:grpSpPr>
        <p:grpSp>
          <p:nvGrpSpPr>
            <p:cNvPr id="22534" name="Group 1029"/>
            <p:cNvGrpSpPr/>
            <p:nvPr/>
          </p:nvGrpSpPr>
          <p:grpSpPr>
            <a:xfrm>
              <a:off x="1344" y="3072"/>
              <a:ext cx="1248" cy="1112"/>
              <a:chOff x="1728" y="864"/>
              <a:chExt cx="1396" cy="1208"/>
            </a:xfrm>
          </p:grpSpPr>
          <p:sp>
            <p:nvSpPr>
              <p:cNvPr id="22621" name="Rectangle 1030"/>
              <p:cNvSpPr/>
              <p:nvPr/>
            </p:nvSpPr>
            <p:spPr>
              <a:xfrm>
                <a:off x="1728" y="864"/>
                <a:ext cx="1396" cy="1208"/>
              </a:xfrm>
              <a:prstGeom prst="rect">
                <a:avLst/>
              </a:prstGeom>
              <a:solidFill>
                <a:srgbClr val="FFFFFF"/>
              </a:solidFill>
              <a:ln w="0"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sp>
            <p:nvSpPr>
              <p:cNvPr id="22622" name="Rectangle 1031"/>
              <p:cNvSpPr/>
              <p:nvPr/>
            </p:nvSpPr>
            <p:spPr>
              <a:xfrm>
                <a:off x="1861" y="950"/>
                <a:ext cx="1198" cy="975"/>
              </a:xfrm>
              <a:prstGeom prst="rect">
                <a:avLst/>
              </a:prstGeom>
              <a:solidFill>
                <a:srgbClr val="FFFFFF"/>
              </a:solidFill>
              <a:ln w="9525">
                <a:noFill/>
              </a:ln>
            </p:spPr>
            <p:txBody>
              <a:bodyPr/>
              <a:p>
                <a:endParaRPr dirty="0">
                  <a:latin typeface="Tahoma" panose="020B0604030504040204" pitchFamily="34" charset="0"/>
                </a:endParaRPr>
              </a:p>
            </p:txBody>
          </p:sp>
          <p:sp>
            <p:nvSpPr>
              <p:cNvPr id="22623" name="Line 1032"/>
              <p:cNvSpPr/>
              <p:nvPr/>
            </p:nvSpPr>
            <p:spPr>
              <a:xfrm>
                <a:off x="1861" y="1828"/>
                <a:ext cx="1198" cy="1"/>
              </a:xfrm>
              <a:prstGeom prst="line">
                <a:avLst/>
              </a:prstGeom>
              <a:ln w="0" cap="flat" cmpd="sng">
                <a:solidFill>
                  <a:srgbClr val="000000"/>
                </a:solidFill>
                <a:prstDash val="solid"/>
                <a:headEnd type="none" w="med" len="med"/>
                <a:tailEnd type="none" w="med" len="med"/>
              </a:ln>
            </p:spPr>
          </p:sp>
          <p:sp>
            <p:nvSpPr>
              <p:cNvPr id="22624" name="Line 1033"/>
              <p:cNvSpPr/>
              <p:nvPr/>
            </p:nvSpPr>
            <p:spPr>
              <a:xfrm>
                <a:off x="1861" y="1730"/>
                <a:ext cx="1198" cy="1"/>
              </a:xfrm>
              <a:prstGeom prst="line">
                <a:avLst/>
              </a:prstGeom>
              <a:ln w="0" cap="flat" cmpd="sng">
                <a:solidFill>
                  <a:srgbClr val="000000"/>
                </a:solidFill>
                <a:prstDash val="solid"/>
                <a:headEnd type="none" w="med" len="med"/>
                <a:tailEnd type="none" w="med" len="med"/>
              </a:ln>
            </p:spPr>
          </p:sp>
          <p:sp>
            <p:nvSpPr>
              <p:cNvPr id="22625" name="Line 1034"/>
              <p:cNvSpPr/>
              <p:nvPr/>
            </p:nvSpPr>
            <p:spPr>
              <a:xfrm>
                <a:off x="1861" y="1633"/>
                <a:ext cx="1198" cy="1"/>
              </a:xfrm>
              <a:prstGeom prst="line">
                <a:avLst/>
              </a:prstGeom>
              <a:ln w="0" cap="flat" cmpd="sng">
                <a:solidFill>
                  <a:srgbClr val="000000"/>
                </a:solidFill>
                <a:prstDash val="solid"/>
                <a:headEnd type="none" w="med" len="med"/>
                <a:tailEnd type="none" w="med" len="med"/>
              </a:ln>
            </p:spPr>
          </p:sp>
          <p:sp>
            <p:nvSpPr>
              <p:cNvPr id="22626" name="Line 1035"/>
              <p:cNvSpPr/>
              <p:nvPr/>
            </p:nvSpPr>
            <p:spPr>
              <a:xfrm>
                <a:off x="1861" y="1535"/>
                <a:ext cx="1198" cy="1"/>
              </a:xfrm>
              <a:prstGeom prst="line">
                <a:avLst/>
              </a:prstGeom>
              <a:ln w="0" cap="flat" cmpd="sng">
                <a:solidFill>
                  <a:srgbClr val="000000"/>
                </a:solidFill>
                <a:prstDash val="solid"/>
                <a:headEnd type="none" w="med" len="med"/>
                <a:tailEnd type="none" w="med" len="med"/>
              </a:ln>
            </p:spPr>
          </p:sp>
          <p:sp>
            <p:nvSpPr>
              <p:cNvPr id="22627" name="Line 1036"/>
              <p:cNvSpPr/>
              <p:nvPr/>
            </p:nvSpPr>
            <p:spPr>
              <a:xfrm>
                <a:off x="1861" y="1437"/>
                <a:ext cx="1198" cy="1"/>
              </a:xfrm>
              <a:prstGeom prst="line">
                <a:avLst/>
              </a:prstGeom>
              <a:ln w="0" cap="flat" cmpd="sng">
                <a:solidFill>
                  <a:srgbClr val="000000"/>
                </a:solidFill>
                <a:prstDash val="solid"/>
                <a:headEnd type="none" w="med" len="med"/>
                <a:tailEnd type="none" w="med" len="med"/>
              </a:ln>
            </p:spPr>
          </p:sp>
          <p:sp>
            <p:nvSpPr>
              <p:cNvPr id="22628" name="Line 1037"/>
              <p:cNvSpPr/>
              <p:nvPr/>
            </p:nvSpPr>
            <p:spPr>
              <a:xfrm>
                <a:off x="1861" y="1340"/>
                <a:ext cx="1198" cy="1"/>
              </a:xfrm>
              <a:prstGeom prst="line">
                <a:avLst/>
              </a:prstGeom>
              <a:ln w="0" cap="flat" cmpd="sng">
                <a:solidFill>
                  <a:srgbClr val="000000"/>
                </a:solidFill>
                <a:prstDash val="solid"/>
                <a:headEnd type="none" w="med" len="med"/>
                <a:tailEnd type="none" w="med" len="med"/>
              </a:ln>
            </p:spPr>
          </p:sp>
          <p:sp>
            <p:nvSpPr>
              <p:cNvPr id="22629" name="Line 1038"/>
              <p:cNvSpPr/>
              <p:nvPr/>
            </p:nvSpPr>
            <p:spPr>
              <a:xfrm>
                <a:off x="1861" y="1242"/>
                <a:ext cx="1198" cy="1"/>
              </a:xfrm>
              <a:prstGeom prst="line">
                <a:avLst/>
              </a:prstGeom>
              <a:ln w="0" cap="flat" cmpd="sng">
                <a:solidFill>
                  <a:srgbClr val="000000"/>
                </a:solidFill>
                <a:prstDash val="solid"/>
                <a:headEnd type="none" w="med" len="med"/>
                <a:tailEnd type="none" w="med" len="med"/>
              </a:ln>
            </p:spPr>
          </p:sp>
          <p:sp>
            <p:nvSpPr>
              <p:cNvPr id="22630" name="Line 1039"/>
              <p:cNvSpPr/>
              <p:nvPr/>
            </p:nvSpPr>
            <p:spPr>
              <a:xfrm>
                <a:off x="1861" y="1145"/>
                <a:ext cx="1198" cy="1"/>
              </a:xfrm>
              <a:prstGeom prst="line">
                <a:avLst/>
              </a:prstGeom>
              <a:ln w="0" cap="flat" cmpd="sng">
                <a:solidFill>
                  <a:srgbClr val="000000"/>
                </a:solidFill>
                <a:prstDash val="solid"/>
                <a:headEnd type="none" w="med" len="med"/>
                <a:tailEnd type="none" w="med" len="med"/>
              </a:ln>
            </p:spPr>
          </p:sp>
          <p:sp>
            <p:nvSpPr>
              <p:cNvPr id="22631" name="Line 1040"/>
              <p:cNvSpPr/>
              <p:nvPr/>
            </p:nvSpPr>
            <p:spPr>
              <a:xfrm>
                <a:off x="1861" y="1047"/>
                <a:ext cx="1198" cy="1"/>
              </a:xfrm>
              <a:prstGeom prst="line">
                <a:avLst/>
              </a:prstGeom>
              <a:ln w="0" cap="flat" cmpd="sng">
                <a:solidFill>
                  <a:srgbClr val="000000"/>
                </a:solidFill>
                <a:prstDash val="solid"/>
                <a:headEnd type="none" w="med" len="med"/>
                <a:tailEnd type="none" w="med" len="med"/>
              </a:ln>
            </p:spPr>
          </p:sp>
          <p:sp>
            <p:nvSpPr>
              <p:cNvPr id="22632" name="Line 1041"/>
              <p:cNvSpPr/>
              <p:nvPr/>
            </p:nvSpPr>
            <p:spPr>
              <a:xfrm>
                <a:off x="1861" y="950"/>
                <a:ext cx="1198" cy="1"/>
              </a:xfrm>
              <a:prstGeom prst="line">
                <a:avLst/>
              </a:prstGeom>
              <a:ln w="0" cap="flat" cmpd="sng">
                <a:solidFill>
                  <a:srgbClr val="000000"/>
                </a:solidFill>
                <a:prstDash val="solid"/>
                <a:headEnd type="none" w="med" len="med"/>
                <a:tailEnd type="none" w="med" len="med"/>
              </a:ln>
            </p:spPr>
          </p:sp>
          <p:sp>
            <p:nvSpPr>
              <p:cNvPr id="22633" name="Line 1042"/>
              <p:cNvSpPr/>
              <p:nvPr/>
            </p:nvSpPr>
            <p:spPr>
              <a:xfrm>
                <a:off x="1981" y="950"/>
                <a:ext cx="1" cy="975"/>
              </a:xfrm>
              <a:prstGeom prst="line">
                <a:avLst/>
              </a:prstGeom>
              <a:ln w="0" cap="flat" cmpd="sng">
                <a:solidFill>
                  <a:srgbClr val="000000"/>
                </a:solidFill>
                <a:prstDash val="solid"/>
                <a:headEnd type="none" w="med" len="med"/>
                <a:tailEnd type="none" w="med" len="med"/>
              </a:ln>
            </p:spPr>
          </p:sp>
          <p:sp>
            <p:nvSpPr>
              <p:cNvPr id="22634" name="Line 1043"/>
              <p:cNvSpPr/>
              <p:nvPr/>
            </p:nvSpPr>
            <p:spPr>
              <a:xfrm>
                <a:off x="2102" y="950"/>
                <a:ext cx="1" cy="975"/>
              </a:xfrm>
              <a:prstGeom prst="line">
                <a:avLst/>
              </a:prstGeom>
              <a:ln w="0" cap="flat" cmpd="sng">
                <a:solidFill>
                  <a:srgbClr val="000000"/>
                </a:solidFill>
                <a:prstDash val="solid"/>
                <a:headEnd type="none" w="med" len="med"/>
                <a:tailEnd type="none" w="med" len="med"/>
              </a:ln>
            </p:spPr>
          </p:sp>
          <p:sp>
            <p:nvSpPr>
              <p:cNvPr id="22635" name="Line 1044"/>
              <p:cNvSpPr/>
              <p:nvPr/>
            </p:nvSpPr>
            <p:spPr>
              <a:xfrm>
                <a:off x="2219" y="950"/>
                <a:ext cx="1" cy="975"/>
              </a:xfrm>
              <a:prstGeom prst="line">
                <a:avLst/>
              </a:prstGeom>
              <a:ln w="0" cap="flat" cmpd="sng">
                <a:solidFill>
                  <a:srgbClr val="000000"/>
                </a:solidFill>
                <a:prstDash val="solid"/>
                <a:headEnd type="none" w="med" len="med"/>
                <a:tailEnd type="none" w="med" len="med"/>
              </a:ln>
            </p:spPr>
          </p:sp>
          <p:sp>
            <p:nvSpPr>
              <p:cNvPr id="22636" name="Line 1045"/>
              <p:cNvSpPr/>
              <p:nvPr/>
            </p:nvSpPr>
            <p:spPr>
              <a:xfrm>
                <a:off x="2339" y="950"/>
                <a:ext cx="1" cy="975"/>
              </a:xfrm>
              <a:prstGeom prst="line">
                <a:avLst/>
              </a:prstGeom>
              <a:ln w="0" cap="flat" cmpd="sng">
                <a:solidFill>
                  <a:srgbClr val="000000"/>
                </a:solidFill>
                <a:prstDash val="solid"/>
                <a:headEnd type="none" w="med" len="med"/>
                <a:tailEnd type="none" w="med" len="med"/>
              </a:ln>
            </p:spPr>
          </p:sp>
          <p:sp>
            <p:nvSpPr>
              <p:cNvPr id="22637" name="Line 1046"/>
              <p:cNvSpPr/>
              <p:nvPr/>
            </p:nvSpPr>
            <p:spPr>
              <a:xfrm>
                <a:off x="2460" y="950"/>
                <a:ext cx="1" cy="975"/>
              </a:xfrm>
              <a:prstGeom prst="line">
                <a:avLst/>
              </a:prstGeom>
              <a:ln w="0" cap="flat" cmpd="sng">
                <a:solidFill>
                  <a:srgbClr val="000000"/>
                </a:solidFill>
                <a:prstDash val="solid"/>
                <a:headEnd type="none" w="med" len="med"/>
                <a:tailEnd type="none" w="med" len="med"/>
              </a:ln>
            </p:spPr>
          </p:sp>
          <p:sp>
            <p:nvSpPr>
              <p:cNvPr id="22638" name="Line 1047"/>
              <p:cNvSpPr/>
              <p:nvPr/>
            </p:nvSpPr>
            <p:spPr>
              <a:xfrm>
                <a:off x="2581" y="950"/>
                <a:ext cx="1" cy="975"/>
              </a:xfrm>
              <a:prstGeom prst="line">
                <a:avLst/>
              </a:prstGeom>
              <a:ln w="0" cap="flat" cmpd="sng">
                <a:solidFill>
                  <a:srgbClr val="000000"/>
                </a:solidFill>
                <a:prstDash val="solid"/>
                <a:headEnd type="none" w="med" len="med"/>
                <a:tailEnd type="none" w="med" len="med"/>
              </a:ln>
            </p:spPr>
          </p:sp>
          <p:sp>
            <p:nvSpPr>
              <p:cNvPr id="22639" name="Line 1048"/>
              <p:cNvSpPr/>
              <p:nvPr/>
            </p:nvSpPr>
            <p:spPr>
              <a:xfrm>
                <a:off x="2701" y="950"/>
                <a:ext cx="1" cy="975"/>
              </a:xfrm>
              <a:prstGeom prst="line">
                <a:avLst/>
              </a:prstGeom>
              <a:ln w="0" cap="flat" cmpd="sng">
                <a:solidFill>
                  <a:srgbClr val="000000"/>
                </a:solidFill>
                <a:prstDash val="solid"/>
                <a:headEnd type="none" w="med" len="med"/>
                <a:tailEnd type="none" w="med" len="med"/>
              </a:ln>
            </p:spPr>
          </p:sp>
          <p:sp>
            <p:nvSpPr>
              <p:cNvPr id="22640" name="Line 1049"/>
              <p:cNvSpPr/>
              <p:nvPr/>
            </p:nvSpPr>
            <p:spPr>
              <a:xfrm>
                <a:off x="2818" y="950"/>
                <a:ext cx="1" cy="975"/>
              </a:xfrm>
              <a:prstGeom prst="line">
                <a:avLst/>
              </a:prstGeom>
              <a:ln w="0" cap="flat" cmpd="sng">
                <a:solidFill>
                  <a:srgbClr val="000000"/>
                </a:solidFill>
                <a:prstDash val="solid"/>
                <a:headEnd type="none" w="med" len="med"/>
                <a:tailEnd type="none" w="med" len="med"/>
              </a:ln>
            </p:spPr>
          </p:sp>
          <p:sp>
            <p:nvSpPr>
              <p:cNvPr id="22641" name="Line 1050"/>
              <p:cNvSpPr/>
              <p:nvPr/>
            </p:nvSpPr>
            <p:spPr>
              <a:xfrm>
                <a:off x="2939" y="950"/>
                <a:ext cx="1" cy="975"/>
              </a:xfrm>
              <a:prstGeom prst="line">
                <a:avLst/>
              </a:prstGeom>
              <a:ln w="0" cap="flat" cmpd="sng">
                <a:solidFill>
                  <a:srgbClr val="000000"/>
                </a:solidFill>
                <a:prstDash val="solid"/>
                <a:headEnd type="none" w="med" len="med"/>
                <a:tailEnd type="none" w="med" len="med"/>
              </a:ln>
            </p:spPr>
          </p:sp>
          <p:sp>
            <p:nvSpPr>
              <p:cNvPr id="22642" name="Line 1051"/>
              <p:cNvSpPr/>
              <p:nvPr/>
            </p:nvSpPr>
            <p:spPr>
              <a:xfrm>
                <a:off x="3059" y="950"/>
                <a:ext cx="1" cy="975"/>
              </a:xfrm>
              <a:prstGeom prst="line">
                <a:avLst/>
              </a:prstGeom>
              <a:ln w="0" cap="flat" cmpd="sng">
                <a:solidFill>
                  <a:srgbClr val="000000"/>
                </a:solidFill>
                <a:prstDash val="solid"/>
                <a:headEnd type="none" w="med" len="med"/>
                <a:tailEnd type="none" w="med" len="med"/>
              </a:ln>
            </p:spPr>
          </p:sp>
          <p:sp>
            <p:nvSpPr>
              <p:cNvPr id="22643" name="Rectangle 1052"/>
              <p:cNvSpPr/>
              <p:nvPr/>
            </p:nvSpPr>
            <p:spPr>
              <a:xfrm>
                <a:off x="1861" y="950"/>
                <a:ext cx="1198" cy="975"/>
              </a:xfrm>
              <a:prstGeom prst="rect">
                <a:avLst/>
              </a:prstGeom>
              <a:noFill/>
              <a:ln w="6350"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sp>
            <p:nvSpPr>
              <p:cNvPr id="22644" name="Line 1053"/>
              <p:cNvSpPr/>
              <p:nvPr/>
            </p:nvSpPr>
            <p:spPr>
              <a:xfrm>
                <a:off x="1861" y="950"/>
                <a:ext cx="1" cy="975"/>
              </a:xfrm>
              <a:prstGeom prst="line">
                <a:avLst/>
              </a:prstGeom>
              <a:ln w="0" cap="flat" cmpd="sng">
                <a:solidFill>
                  <a:srgbClr val="000000"/>
                </a:solidFill>
                <a:prstDash val="solid"/>
                <a:headEnd type="none" w="med" len="med"/>
                <a:tailEnd type="none" w="med" len="med"/>
              </a:ln>
            </p:spPr>
          </p:sp>
          <p:sp>
            <p:nvSpPr>
              <p:cNvPr id="22645" name="Line 1054"/>
              <p:cNvSpPr/>
              <p:nvPr/>
            </p:nvSpPr>
            <p:spPr>
              <a:xfrm>
                <a:off x="1849" y="1925"/>
                <a:ext cx="12" cy="1"/>
              </a:xfrm>
              <a:prstGeom prst="line">
                <a:avLst/>
              </a:prstGeom>
              <a:ln w="0" cap="flat" cmpd="sng">
                <a:solidFill>
                  <a:srgbClr val="000000"/>
                </a:solidFill>
                <a:prstDash val="solid"/>
                <a:headEnd type="none" w="med" len="med"/>
                <a:tailEnd type="none" w="med" len="med"/>
              </a:ln>
            </p:spPr>
          </p:sp>
          <p:sp>
            <p:nvSpPr>
              <p:cNvPr id="22646" name="Line 1055"/>
              <p:cNvSpPr/>
              <p:nvPr/>
            </p:nvSpPr>
            <p:spPr>
              <a:xfrm>
                <a:off x="1849" y="1828"/>
                <a:ext cx="12" cy="1"/>
              </a:xfrm>
              <a:prstGeom prst="line">
                <a:avLst/>
              </a:prstGeom>
              <a:ln w="0" cap="flat" cmpd="sng">
                <a:solidFill>
                  <a:srgbClr val="000000"/>
                </a:solidFill>
                <a:prstDash val="solid"/>
                <a:headEnd type="none" w="med" len="med"/>
                <a:tailEnd type="none" w="med" len="med"/>
              </a:ln>
            </p:spPr>
          </p:sp>
          <p:sp>
            <p:nvSpPr>
              <p:cNvPr id="22647" name="Line 1056"/>
              <p:cNvSpPr/>
              <p:nvPr/>
            </p:nvSpPr>
            <p:spPr>
              <a:xfrm>
                <a:off x="1849" y="1730"/>
                <a:ext cx="12" cy="1"/>
              </a:xfrm>
              <a:prstGeom prst="line">
                <a:avLst/>
              </a:prstGeom>
              <a:ln w="0" cap="flat" cmpd="sng">
                <a:solidFill>
                  <a:srgbClr val="000000"/>
                </a:solidFill>
                <a:prstDash val="solid"/>
                <a:headEnd type="none" w="med" len="med"/>
                <a:tailEnd type="none" w="med" len="med"/>
              </a:ln>
            </p:spPr>
          </p:sp>
          <p:sp>
            <p:nvSpPr>
              <p:cNvPr id="22648" name="Line 1057"/>
              <p:cNvSpPr/>
              <p:nvPr/>
            </p:nvSpPr>
            <p:spPr>
              <a:xfrm>
                <a:off x="1849" y="1633"/>
                <a:ext cx="12" cy="1"/>
              </a:xfrm>
              <a:prstGeom prst="line">
                <a:avLst/>
              </a:prstGeom>
              <a:ln w="0" cap="flat" cmpd="sng">
                <a:solidFill>
                  <a:srgbClr val="000000"/>
                </a:solidFill>
                <a:prstDash val="solid"/>
                <a:headEnd type="none" w="med" len="med"/>
                <a:tailEnd type="none" w="med" len="med"/>
              </a:ln>
            </p:spPr>
          </p:sp>
          <p:sp>
            <p:nvSpPr>
              <p:cNvPr id="22649" name="Line 1058"/>
              <p:cNvSpPr/>
              <p:nvPr/>
            </p:nvSpPr>
            <p:spPr>
              <a:xfrm>
                <a:off x="1849" y="1535"/>
                <a:ext cx="12" cy="1"/>
              </a:xfrm>
              <a:prstGeom prst="line">
                <a:avLst/>
              </a:prstGeom>
              <a:ln w="0" cap="flat" cmpd="sng">
                <a:solidFill>
                  <a:srgbClr val="000000"/>
                </a:solidFill>
                <a:prstDash val="solid"/>
                <a:headEnd type="none" w="med" len="med"/>
                <a:tailEnd type="none" w="med" len="med"/>
              </a:ln>
            </p:spPr>
          </p:sp>
          <p:sp>
            <p:nvSpPr>
              <p:cNvPr id="22650" name="Line 1059"/>
              <p:cNvSpPr/>
              <p:nvPr/>
            </p:nvSpPr>
            <p:spPr>
              <a:xfrm>
                <a:off x="1849" y="1437"/>
                <a:ext cx="12" cy="1"/>
              </a:xfrm>
              <a:prstGeom prst="line">
                <a:avLst/>
              </a:prstGeom>
              <a:ln w="0" cap="flat" cmpd="sng">
                <a:solidFill>
                  <a:srgbClr val="000000"/>
                </a:solidFill>
                <a:prstDash val="solid"/>
                <a:headEnd type="none" w="med" len="med"/>
                <a:tailEnd type="none" w="med" len="med"/>
              </a:ln>
            </p:spPr>
          </p:sp>
          <p:sp>
            <p:nvSpPr>
              <p:cNvPr id="22651" name="Line 1060"/>
              <p:cNvSpPr/>
              <p:nvPr/>
            </p:nvSpPr>
            <p:spPr>
              <a:xfrm>
                <a:off x="1849" y="1340"/>
                <a:ext cx="12" cy="1"/>
              </a:xfrm>
              <a:prstGeom prst="line">
                <a:avLst/>
              </a:prstGeom>
              <a:ln w="0" cap="flat" cmpd="sng">
                <a:solidFill>
                  <a:srgbClr val="000000"/>
                </a:solidFill>
                <a:prstDash val="solid"/>
                <a:headEnd type="none" w="med" len="med"/>
                <a:tailEnd type="none" w="med" len="med"/>
              </a:ln>
            </p:spPr>
          </p:sp>
          <p:sp>
            <p:nvSpPr>
              <p:cNvPr id="22652" name="Line 1061"/>
              <p:cNvSpPr/>
              <p:nvPr/>
            </p:nvSpPr>
            <p:spPr>
              <a:xfrm>
                <a:off x="1849" y="1242"/>
                <a:ext cx="12" cy="1"/>
              </a:xfrm>
              <a:prstGeom prst="line">
                <a:avLst/>
              </a:prstGeom>
              <a:ln w="0" cap="flat" cmpd="sng">
                <a:solidFill>
                  <a:srgbClr val="000000"/>
                </a:solidFill>
                <a:prstDash val="solid"/>
                <a:headEnd type="none" w="med" len="med"/>
                <a:tailEnd type="none" w="med" len="med"/>
              </a:ln>
            </p:spPr>
          </p:sp>
          <p:sp>
            <p:nvSpPr>
              <p:cNvPr id="22653" name="Line 1062"/>
              <p:cNvSpPr/>
              <p:nvPr/>
            </p:nvSpPr>
            <p:spPr>
              <a:xfrm>
                <a:off x="1849" y="1145"/>
                <a:ext cx="12" cy="1"/>
              </a:xfrm>
              <a:prstGeom prst="line">
                <a:avLst/>
              </a:prstGeom>
              <a:ln w="0" cap="flat" cmpd="sng">
                <a:solidFill>
                  <a:srgbClr val="000000"/>
                </a:solidFill>
                <a:prstDash val="solid"/>
                <a:headEnd type="none" w="med" len="med"/>
                <a:tailEnd type="none" w="med" len="med"/>
              </a:ln>
            </p:spPr>
          </p:sp>
          <p:sp>
            <p:nvSpPr>
              <p:cNvPr id="22654" name="Line 1063"/>
              <p:cNvSpPr/>
              <p:nvPr/>
            </p:nvSpPr>
            <p:spPr>
              <a:xfrm>
                <a:off x="1849" y="1047"/>
                <a:ext cx="12" cy="1"/>
              </a:xfrm>
              <a:prstGeom prst="line">
                <a:avLst/>
              </a:prstGeom>
              <a:ln w="0" cap="flat" cmpd="sng">
                <a:solidFill>
                  <a:srgbClr val="000000"/>
                </a:solidFill>
                <a:prstDash val="solid"/>
                <a:headEnd type="none" w="med" len="med"/>
                <a:tailEnd type="none" w="med" len="med"/>
              </a:ln>
            </p:spPr>
          </p:sp>
          <p:sp>
            <p:nvSpPr>
              <p:cNvPr id="22655" name="Line 1064"/>
              <p:cNvSpPr/>
              <p:nvPr/>
            </p:nvSpPr>
            <p:spPr>
              <a:xfrm>
                <a:off x="1849" y="950"/>
                <a:ext cx="12" cy="1"/>
              </a:xfrm>
              <a:prstGeom prst="line">
                <a:avLst/>
              </a:prstGeom>
              <a:ln w="0" cap="flat" cmpd="sng">
                <a:solidFill>
                  <a:srgbClr val="000000"/>
                </a:solidFill>
                <a:prstDash val="solid"/>
                <a:headEnd type="none" w="med" len="med"/>
                <a:tailEnd type="none" w="med" len="med"/>
              </a:ln>
            </p:spPr>
          </p:sp>
          <p:sp>
            <p:nvSpPr>
              <p:cNvPr id="22656" name="Line 1065"/>
              <p:cNvSpPr/>
              <p:nvPr/>
            </p:nvSpPr>
            <p:spPr>
              <a:xfrm>
                <a:off x="1861" y="1925"/>
                <a:ext cx="1198" cy="1"/>
              </a:xfrm>
              <a:prstGeom prst="line">
                <a:avLst/>
              </a:prstGeom>
              <a:ln w="0" cap="flat" cmpd="sng">
                <a:solidFill>
                  <a:srgbClr val="000000"/>
                </a:solidFill>
                <a:prstDash val="solid"/>
                <a:headEnd type="none" w="med" len="med"/>
                <a:tailEnd type="none" w="med" len="med"/>
              </a:ln>
            </p:spPr>
          </p:sp>
          <p:sp>
            <p:nvSpPr>
              <p:cNvPr id="22657" name="Line 1066"/>
              <p:cNvSpPr/>
              <p:nvPr/>
            </p:nvSpPr>
            <p:spPr>
              <a:xfrm flipV="1">
                <a:off x="1861" y="1925"/>
                <a:ext cx="1" cy="12"/>
              </a:xfrm>
              <a:prstGeom prst="line">
                <a:avLst/>
              </a:prstGeom>
              <a:ln w="0" cap="flat" cmpd="sng">
                <a:solidFill>
                  <a:srgbClr val="000000"/>
                </a:solidFill>
                <a:prstDash val="solid"/>
                <a:headEnd type="none" w="med" len="med"/>
                <a:tailEnd type="none" w="med" len="med"/>
              </a:ln>
            </p:spPr>
          </p:sp>
          <p:sp>
            <p:nvSpPr>
              <p:cNvPr id="22658" name="Line 1067"/>
              <p:cNvSpPr/>
              <p:nvPr/>
            </p:nvSpPr>
            <p:spPr>
              <a:xfrm flipV="1">
                <a:off x="1981" y="1925"/>
                <a:ext cx="1" cy="12"/>
              </a:xfrm>
              <a:prstGeom prst="line">
                <a:avLst/>
              </a:prstGeom>
              <a:ln w="0" cap="flat" cmpd="sng">
                <a:solidFill>
                  <a:srgbClr val="000000"/>
                </a:solidFill>
                <a:prstDash val="solid"/>
                <a:headEnd type="none" w="med" len="med"/>
                <a:tailEnd type="none" w="med" len="med"/>
              </a:ln>
            </p:spPr>
          </p:sp>
          <p:sp>
            <p:nvSpPr>
              <p:cNvPr id="22659" name="Line 1068"/>
              <p:cNvSpPr/>
              <p:nvPr/>
            </p:nvSpPr>
            <p:spPr>
              <a:xfrm flipV="1">
                <a:off x="2102" y="1925"/>
                <a:ext cx="1" cy="12"/>
              </a:xfrm>
              <a:prstGeom prst="line">
                <a:avLst/>
              </a:prstGeom>
              <a:ln w="0" cap="flat" cmpd="sng">
                <a:solidFill>
                  <a:srgbClr val="000000"/>
                </a:solidFill>
                <a:prstDash val="solid"/>
                <a:headEnd type="none" w="med" len="med"/>
                <a:tailEnd type="none" w="med" len="med"/>
              </a:ln>
            </p:spPr>
          </p:sp>
          <p:sp>
            <p:nvSpPr>
              <p:cNvPr id="22660" name="Line 1069"/>
              <p:cNvSpPr/>
              <p:nvPr/>
            </p:nvSpPr>
            <p:spPr>
              <a:xfrm flipV="1">
                <a:off x="2219" y="1925"/>
                <a:ext cx="1" cy="12"/>
              </a:xfrm>
              <a:prstGeom prst="line">
                <a:avLst/>
              </a:prstGeom>
              <a:ln w="0" cap="flat" cmpd="sng">
                <a:solidFill>
                  <a:srgbClr val="000000"/>
                </a:solidFill>
                <a:prstDash val="solid"/>
                <a:headEnd type="none" w="med" len="med"/>
                <a:tailEnd type="none" w="med" len="med"/>
              </a:ln>
            </p:spPr>
          </p:sp>
          <p:sp>
            <p:nvSpPr>
              <p:cNvPr id="22661" name="Line 1070"/>
              <p:cNvSpPr/>
              <p:nvPr/>
            </p:nvSpPr>
            <p:spPr>
              <a:xfrm flipV="1">
                <a:off x="2339" y="1925"/>
                <a:ext cx="1" cy="12"/>
              </a:xfrm>
              <a:prstGeom prst="line">
                <a:avLst/>
              </a:prstGeom>
              <a:ln w="0" cap="flat" cmpd="sng">
                <a:solidFill>
                  <a:srgbClr val="000000"/>
                </a:solidFill>
                <a:prstDash val="solid"/>
                <a:headEnd type="none" w="med" len="med"/>
                <a:tailEnd type="none" w="med" len="med"/>
              </a:ln>
            </p:spPr>
          </p:sp>
          <p:sp>
            <p:nvSpPr>
              <p:cNvPr id="22662" name="Line 1071"/>
              <p:cNvSpPr/>
              <p:nvPr/>
            </p:nvSpPr>
            <p:spPr>
              <a:xfrm flipV="1">
                <a:off x="2460" y="1925"/>
                <a:ext cx="1" cy="12"/>
              </a:xfrm>
              <a:prstGeom prst="line">
                <a:avLst/>
              </a:prstGeom>
              <a:ln w="0" cap="flat" cmpd="sng">
                <a:solidFill>
                  <a:srgbClr val="000000"/>
                </a:solidFill>
                <a:prstDash val="solid"/>
                <a:headEnd type="none" w="med" len="med"/>
                <a:tailEnd type="none" w="med" len="med"/>
              </a:ln>
            </p:spPr>
          </p:sp>
          <p:sp>
            <p:nvSpPr>
              <p:cNvPr id="22663" name="Line 1072"/>
              <p:cNvSpPr/>
              <p:nvPr/>
            </p:nvSpPr>
            <p:spPr>
              <a:xfrm flipV="1">
                <a:off x="2581" y="1925"/>
                <a:ext cx="1" cy="12"/>
              </a:xfrm>
              <a:prstGeom prst="line">
                <a:avLst/>
              </a:prstGeom>
              <a:ln w="0" cap="flat" cmpd="sng">
                <a:solidFill>
                  <a:srgbClr val="000000"/>
                </a:solidFill>
                <a:prstDash val="solid"/>
                <a:headEnd type="none" w="med" len="med"/>
                <a:tailEnd type="none" w="med" len="med"/>
              </a:ln>
            </p:spPr>
          </p:sp>
          <p:sp>
            <p:nvSpPr>
              <p:cNvPr id="22664" name="Line 1073"/>
              <p:cNvSpPr/>
              <p:nvPr/>
            </p:nvSpPr>
            <p:spPr>
              <a:xfrm flipV="1">
                <a:off x="2701" y="1925"/>
                <a:ext cx="1" cy="12"/>
              </a:xfrm>
              <a:prstGeom prst="line">
                <a:avLst/>
              </a:prstGeom>
              <a:ln w="0" cap="flat" cmpd="sng">
                <a:solidFill>
                  <a:srgbClr val="000000"/>
                </a:solidFill>
                <a:prstDash val="solid"/>
                <a:headEnd type="none" w="med" len="med"/>
                <a:tailEnd type="none" w="med" len="med"/>
              </a:ln>
            </p:spPr>
          </p:sp>
          <p:sp>
            <p:nvSpPr>
              <p:cNvPr id="22665" name="Line 1074"/>
              <p:cNvSpPr/>
              <p:nvPr/>
            </p:nvSpPr>
            <p:spPr>
              <a:xfrm flipV="1">
                <a:off x="2818" y="1925"/>
                <a:ext cx="1" cy="12"/>
              </a:xfrm>
              <a:prstGeom prst="line">
                <a:avLst/>
              </a:prstGeom>
              <a:ln w="0" cap="flat" cmpd="sng">
                <a:solidFill>
                  <a:srgbClr val="000000"/>
                </a:solidFill>
                <a:prstDash val="solid"/>
                <a:headEnd type="none" w="med" len="med"/>
                <a:tailEnd type="none" w="med" len="med"/>
              </a:ln>
            </p:spPr>
          </p:sp>
          <p:sp>
            <p:nvSpPr>
              <p:cNvPr id="22666" name="Line 1075"/>
              <p:cNvSpPr/>
              <p:nvPr/>
            </p:nvSpPr>
            <p:spPr>
              <a:xfrm flipV="1">
                <a:off x="2939" y="1925"/>
                <a:ext cx="1" cy="12"/>
              </a:xfrm>
              <a:prstGeom prst="line">
                <a:avLst/>
              </a:prstGeom>
              <a:ln w="0" cap="flat" cmpd="sng">
                <a:solidFill>
                  <a:srgbClr val="000000"/>
                </a:solidFill>
                <a:prstDash val="solid"/>
                <a:headEnd type="none" w="med" len="med"/>
                <a:tailEnd type="none" w="med" len="med"/>
              </a:ln>
            </p:spPr>
          </p:sp>
          <p:sp>
            <p:nvSpPr>
              <p:cNvPr id="22667" name="Line 1076"/>
              <p:cNvSpPr/>
              <p:nvPr/>
            </p:nvSpPr>
            <p:spPr>
              <a:xfrm flipV="1">
                <a:off x="3059" y="1925"/>
                <a:ext cx="1" cy="12"/>
              </a:xfrm>
              <a:prstGeom prst="line">
                <a:avLst/>
              </a:prstGeom>
              <a:ln w="0" cap="flat" cmpd="sng">
                <a:solidFill>
                  <a:srgbClr val="000000"/>
                </a:solidFill>
                <a:prstDash val="solid"/>
                <a:headEnd type="none" w="med" len="med"/>
                <a:tailEnd type="none" w="med" len="med"/>
              </a:ln>
            </p:spPr>
          </p:sp>
          <p:sp>
            <p:nvSpPr>
              <p:cNvPr id="22668" name="Freeform 1077"/>
              <p:cNvSpPr/>
              <p:nvPr/>
            </p:nvSpPr>
            <p:spPr>
              <a:xfrm>
                <a:off x="2191" y="1507"/>
                <a:ext cx="56" cy="56"/>
              </a:xfrm>
              <a:custGeom>
                <a:avLst/>
                <a:gdLst>
                  <a:gd name="txL" fmla="*/ 0 w 56"/>
                  <a:gd name="txT" fmla="*/ 0 h 56"/>
                  <a:gd name="txR" fmla="*/ 56 w 56"/>
                  <a:gd name="txB" fmla="*/ 56 h 56"/>
                </a:gdLst>
                <a:ahLst/>
                <a:cxnLst>
                  <a:cxn ang="0">
                    <a:pos x="28" y="0"/>
                  </a:cxn>
                  <a:cxn ang="0">
                    <a:pos x="56" y="28"/>
                  </a:cxn>
                  <a:cxn ang="0">
                    <a:pos x="28" y="56"/>
                  </a:cxn>
                  <a:cxn ang="0">
                    <a:pos x="0" y="28"/>
                  </a:cxn>
                  <a:cxn ang="0">
                    <a:pos x="28" y="0"/>
                  </a:cxn>
                </a:cxnLst>
                <a:rect l="txL" t="txT" r="txR" b="txB"/>
                <a:pathLst>
                  <a:path w="56" h="56">
                    <a:moveTo>
                      <a:pt x="28" y="0"/>
                    </a:moveTo>
                    <a:lnTo>
                      <a:pt x="56" y="28"/>
                    </a:lnTo>
                    <a:lnTo>
                      <a:pt x="28" y="56"/>
                    </a:lnTo>
                    <a:lnTo>
                      <a:pt x="0" y="28"/>
                    </a:lnTo>
                    <a:lnTo>
                      <a:pt x="28" y="0"/>
                    </a:lnTo>
                    <a:close/>
                  </a:path>
                </a:pathLst>
              </a:custGeom>
              <a:solidFill>
                <a:srgbClr val="00FFFF">
                  <a:alpha val="100000"/>
                </a:srgbClr>
              </a:solidFill>
              <a:ln w="6350" cap="flat" cmpd="sng">
                <a:solidFill>
                  <a:srgbClr val="000080">
                    <a:alpha val="100000"/>
                  </a:srgbClr>
                </a:solidFill>
                <a:prstDash val="solid"/>
                <a:round/>
                <a:headEnd type="none" w="med" len="med"/>
                <a:tailEnd type="none" w="med" len="med"/>
              </a:ln>
            </p:spPr>
            <p:txBody>
              <a:bodyPr/>
              <a:p>
                <a:endParaRPr lang="en-US"/>
              </a:p>
            </p:txBody>
          </p:sp>
          <p:sp>
            <p:nvSpPr>
              <p:cNvPr id="22669" name="Freeform 1078"/>
              <p:cNvSpPr/>
              <p:nvPr/>
            </p:nvSpPr>
            <p:spPr>
              <a:xfrm>
                <a:off x="2191" y="1311"/>
                <a:ext cx="56" cy="57"/>
              </a:xfrm>
              <a:custGeom>
                <a:avLst/>
                <a:gdLst>
                  <a:gd name="txL" fmla="*/ 0 w 56"/>
                  <a:gd name="txT" fmla="*/ 0 h 57"/>
                  <a:gd name="txR" fmla="*/ 56 w 56"/>
                  <a:gd name="txB" fmla="*/ 57 h 57"/>
                </a:gdLst>
                <a:ahLst/>
                <a:cxnLst>
                  <a:cxn ang="0">
                    <a:pos x="28" y="0"/>
                  </a:cxn>
                  <a:cxn ang="0">
                    <a:pos x="56" y="29"/>
                  </a:cxn>
                  <a:cxn ang="0">
                    <a:pos x="28" y="57"/>
                  </a:cxn>
                  <a:cxn ang="0">
                    <a:pos x="0" y="29"/>
                  </a:cxn>
                  <a:cxn ang="0">
                    <a:pos x="28" y="0"/>
                  </a:cxn>
                </a:cxnLst>
                <a:rect l="txL" t="txT" r="txR" b="txB"/>
                <a:pathLst>
                  <a:path w="56" h="57">
                    <a:moveTo>
                      <a:pt x="28" y="0"/>
                    </a:moveTo>
                    <a:lnTo>
                      <a:pt x="56" y="29"/>
                    </a:lnTo>
                    <a:lnTo>
                      <a:pt x="28" y="57"/>
                    </a:lnTo>
                    <a:lnTo>
                      <a:pt x="0" y="29"/>
                    </a:lnTo>
                    <a:lnTo>
                      <a:pt x="28" y="0"/>
                    </a:lnTo>
                    <a:close/>
                  </a:path>
                </a:pathLst>
              </a:custGeom>
              <a:solidFill>
                <a:srgbClr val="00FFFF">
                  <a:alpha val="100000"/>
                </a:srgbClr>
              </a:solidFill>
              <a:ln w="6350" cap="flat" cmpd="sng">
                <a:solidFill>
                  <a:srgbClr val="000080">
                    <a:alpha val="100000"/>
                  </a:srgbClr>
                </a:solidFill>
                <a:prstDash val="solid"/>
                <a:round/>
                <a:headEnd type="none" w="med" len="med"/>
                <a:tailEnd type="none" w="med" len="med"/>
              </a:ln>
            </p:spPr>
            <p:txBody>
              <a:bodyPr/>
              <a:p>
                <a:endParaRPr lang="en-US"/>
              </a:p>
            </p:txBody>
          </p:sp>
          <p:sp>
            <p:nvSpPr>
              <p:cNvPr id="22670" name="Freeform 1079"/>
              <p:cNvSpPr/>
              <p:nvPr/>
            </p:nvSpPr>
            <p:spPr>
              <a:xfrm>
                <a:off x="2673" y="1604"/>
                <a:ext cx="57" cy="57"/>
              </a:xfrm>
              <a:custGeom>
                <a:avLst/>
                <a:gdLst>
                  <a:gd name="txL" fmla="*/ 0 w 57"/>
                  <a:gd name="txT" fmla="*/ 0 h 57"/>
                  <a:gd name="txR" fmla="*/ 57 w 57"/>
                  <a:gd name="txB" fmla="*/ 57 h 57"/>
                </a:gdLst>
                <a:ahLst/>
                <a:cxnLst>
                  <a:cxn ang="0">
                    <a:pos x="28" y="0"/>
                  </a:cxn>
                  <a:cxn ang="0">
                    <a:pos x="57" y="29"/>
                  </a:cxn>
                  <a:cxn ang="0">
                    <a:pos x="28" y="57"/>
                  </a:cxn>
                  <a:cxn ang="0">
                    <a:pos x="0" y="29"/>
                  </a:cxn>
                  <a:cxn ang="0">
                    <a:pos x="28" y="0"/>
                  </a:cxn>
                </a:cxnLst>
                <a:rect l="txL" t="txT" r="txR" b="txB"/>
                <a:pathLst>
                  <a:path w="57" h="57">
                    <a:moveTo>
                      <a:pt x="28" y="0"/>
                    </a:moveTo>
                    <a:lnTo>
                      <a:pt x="57" y="29"/>
                    </a:lnTo>
                    <a:lnTo>
                      <a:pt x="28" y="57"/>
                    </a:lnTo>
                    <a:lnTo>
                      <a:pt x="0" y="29"/>
                    </a:lnTo>
                    <a:lnTo>
                      <a:pt x="28" y="0"/>
                    </a:lnTo>
                    <a:close/>
                  </a:path>
                </a:pathLst>
              </a:custGeom>
              <a:solidFill>
                <a:srgbClr val="000080">
                  <a:alpha val="100000"/>
                </a:srgbClr>
              </a:solidFill>
              <a:ln w="6350" cap="flat" cmpd="sng">
                <a:solidFill>
                  <a:srgbClr val="000080">
                    <a:alpha val="100000"/>
                  </a:srgbClr>
                </a:solidFill>
                <a:prstDash val="solid"/>
                <a:round/>
                <a:headEnd type="none" w="med" len="med"/>
                <a:tailEnd type="none" w="med" len="med"/>
              </a:ln>
            </p:spPr>
            <p:txBody>
              <a:bodyPr/>
              <a:p>
                <a:endParaRPr lang="en-US"/>
              </a:p>
            </p:txBody>
          </p:sp>
          <p:sp>
            <p:nvSpPr>
              <p:cNvPr id="22671" name="Freeform 1080"/>
              <p:cNvSpPr/>
              <p:nvPr/>
            </p:nvSpPr>
            <p:spPr>
              <a:xfrm>
                <a:off x="2311" y="1214"/>
                <a:ext cx="57" cy="57"/>
              </a:xfrm>
              <a:custGeom>
                <a:avLst/>
                <a:gdLst>
                  <a:gd name="txL" fmla="*/ 0 w 57"/>
                  <a:gd name="txT" fmla="*/ 0 h 57"/>
                  <a:gd name="txR" fmla="*/ 57 w 57"/>
                  <a:gd name="txB" fmla="*/ 57 h 57"/>
                </a:gdLst>
                <a:ahLst/>
                <a:cxnLst>
                  <a:cxn ang="0">
                    <a:pos x="28" y="0"/>
                  </a:cxn>
                  <a:cxn ang="0">
                    <a:pos x="57" y="28"/>
                  </a:cxn>
                  <a:cxn ang="0">
                    <a:pos x="28" y="57"/>
                  </a:cxn>
                  <a:cxn ang="0">
                    <a:pos x="0" y="28"/>
                  </a:cxn>
                  <a:cxn ang="0">
                    <a:pos x="28" y="0"/>
                  </a:cxn>
                </a:cxnLst>
                <a:rect l="txL" t="txT" r="txR" b="txB"/>
                <a:pathLst>
                  <a:path w="57" h="57">
                    <a:moveTo>
                      <a:pt x="28" y="0"/>
                    </a:moveTo>
                    <a:lnTo>
                      <a:pt x="57" y="28"/>
                    </a:lnTo>
                    <a:lnTo>
                      <a:pt x="28" y="57"/>
                    </a:lnTo>
                    <a:lnTo>
                      <a:pt x="0" y="28"/>
                    </a:lnTo>
                    <a:lnTo>
                      <a:pt x="28" y="0"/>
                    </a:lnTo>
                    <a:close/>
                  </a:path>
                </a:pathLst>
              </a:custGeom>
              <a:solidFill>
                <a:srgbClr val="00FFFF">
                  <a:alpha val="100000"/>
                </a:srgbClr>
              </a:solidFill>
              <a:ln w="6350" cap="flat" cmpd="sng">
                <a:solidFill>
                  <a:srgbClr val="000080">
                    <a:alpha val="100000"/>
                  </a:srgbClr>
                </a:solidFill>
                <a:prstDash val="solid"/>
                <a:round/>
                <a:headEnd type="none" w="med" len="med"/>
                <a:tailEnd type="none" w="med" len="med"/>
              </a:ln>
            </p:spPr>
            <p:txBody>
              <a:bodyPr/>
              <a:p>
                <a:endParaRPr lang="en-US"/>
              </a:p>
            </p:txBody>
          </p:sp>
          <p:sp>
            <p:nvSpPr>
              <p:cNvPr id="22672" name="Freeform 1081"/>
              <p:cNvSpPr/>
              <p:nvPr/>
            </p:nvSpPr>
            <p:spPr>
              <a:xfrm>
                <a:off x="2191" y="1116"/>
                <a:ext cx="56" cy="57"/>
              </a:xfrm>
              <a:custGeom>
                <a:avLst/>
                <a:gdLst>
                  <a:gd name="txL" fmla="*/ 0 w 56"/>
                  <a:gd name="txT" fmla="*/ 0 h 57"/>
                  <a:gd name="txR" fmla="*/ 56 w 56"/>
                  <a:gd name="txB" fmla="*/ 57 h 57"/>
                </a:gdLst>
                <a:ahLst/>
                <a:cxnLst>
                  <a:cxn ang="0">
                    <a:pos x="28" y="0"/>
                  </a:cxn>
                  <a:cxn ang="0">
                    <a:pos x="56" y="29"/>
                  </a:cxn>
                  <a:cxn ang="0">
                    <a:pos x="28" y="57"/>
                  </a:cxn>
                  <a:cxn ang="0">
                    <a:pos x="0" y="29"/>
                  </a:cxn>
                  <a:cxn ang="0">
                    <a:pos x="28" y="0"/>
                  </a:cxn>
                </a:cxnLst>
                <a:rect l="txL" t="txT" r="txR" b="txB"/>
                <a:pathLst>
                  <a:path w="56" h="57">
                    <a:moveTo>
                      <a:pt x="28" y="0"/>
                    </a:moveTo>
                    <a:lnTo>
                      <a:pt x="56" y="29"/>
                    </a:lnTo>
                    <a:lnTo>
                      <a:pt x="28" y="57"/>
                    </a:lnTo>
                    <a:lnTo>
                      <a:pt x="0" y="29"/>
                    </a:lnTo>
                    <a:lnTo>
                      <a:pt x="28" y="0"/>
                    </a:lnTo>
                    <a:close/>
                  </a:path>
                </a:pathLst>
              </a:custGeom>
              <a:solidFill>
                <a:srgbClr val="00FFFF">
                  <a:alpha val="100000"/>
                </a:srgbClr>
              </a:solidFill>
              <a:ln w="6350" cap="flat" cmpd="sng">
                <a:solidFill>
                  <a:srgbClr val="000080">
                    <a:alpha val="100000"/>
                  </a:srgbClr>
                </a:solidFill>
                <a:prstDash val="solid"/>
                <a:round/>
                <a:headEnd type="none" w="med" len="med"/>
                <a:tailEnd type="none" w="med" len="med"/>
              </a:ln>
            </p:spPr>
            <p:txBody>
              <a:bodyPr/>
              <a:p>
                <a:endParaRPr lang="en-US"/>
              </a:p>
            </p:txBody>
          </p:sp>
          <p:sp>
            <p:nvSpPr>
              <p:cNvPr id="22673" name="Freeform 1082"/>
              <p:cNvSpPr/>
              <p:nvPr/>
            </p:nvSpPr>
            <p:spPr>
              <a:xfrm>
                <a:off x="2790" y="1409"/>
                <a:ext cx="56" cy="57"/>
              </a:xfrm>
              <a:custGeom>
                <a:avLst/>
                <a:gdLst>
                  <a:gd name="txL" fmla="*/ 0 w 56"/>
                  <a:gd name="txT" fmla="*/ 0 h 57"/>
                  <a:gd name="txR" fmla="*/ 56 w 56"/>
                  <a:gd name="txB" fmla="*/ 57 h 57"/>
                </a:gdLst>
                <a:ahLst/>
                <a:cxnLst>
                  <a:cxn ang="0">
                    <a:pos x="28" y="0"/>
                  </a:cxn>
                  <a:cxn ang="0">
                    <a:pos x="56" y="28"/>
                  </a:cxn>
                  <a:cxn ang="0">
                    <a:pos x="28" y="57"/>
                  </a:cxn>
                  <a:cxn ang="0">
                    <a:pos x="0" y="28"/>
                  </a:cxn>
                  <a:cxn ang="0">
                    <a:pos x="28" y="0"/>
                  </a:cxn>
                </a:cxnLst>
                <a:rect l="txL" t="txT" r="txR" b="txB"/>
                <a:pathLst>
                  <a:path w="56" h="57">
                    <a:moveTo>
                      <a:pt x="28" y="0"/>
                    </a:moveTo>
                    <a:lnTo>
                      <a:pt x="56" y="28"/>
                    </a:lnTo>
                    <a:lnTo>
                      <a:pt x="28" y="57"/>
                    </a:lnTo>
                    <a:lnTo>
                      <a:pt x="0" y="28"/>
                    </a:lnTo>
                    <a:lnTo>
                      <a:pt x="28" y="0"/>
                    </a:lnTo>
                    <a:close/>
                  </a:path>
                </a:pathLst>
              </a:custGeom>
              <a:solidFill>
                <a:srgbClr val="000080">
                  <a:alpha val="100000"/>
                </a:srgbClr>
              </a:solidFill>
              <a:ln w="6350" cap="flat" cmpd="sng">
                <a:solidFill>
                  <a:srgbClr val="000080">
                    <a:alpha val="100000"/>
                  </a:srgbClr>
                </a:solidFill>
                <a:prstDash val="solid"/>
                <a:round/>
                <a:headEnd type="none" w="med" len="med"/>
                <a:tailEnd type="none" w="med" len="med"/>
              </a:ln>
            </p:spPr>
            <p:txBody>
              <a:bodyPr/>
              <a:p>
                <a:endParaRPr lang="en-US"/>
              </a:p>
            </p:txBody>
          </p:sp>
          <p:sp>
            <p:nvSpPr>
              <p:cNvPr id="22674" name="Freeform 1083"/>
              <p:cNvSpPr/>
              <p:nvPr/>
            </p:nvSpPr>
            <p:spPr>
              <a:xfrm>
                <a:off x="2311" y="1409"/>
                <a:ext cx="57" cy="57"/>
              </a:xfrm>
              <a:custGeom>
                <a:avLst/>
                <a:gdLst>
                  <a:gd name="txL" fmla="*/ 0 w 57"/>
                  <a:gd name="txT" fmla="*/ 0 h 57"/>
                  <a:gd name="txR" fmla="*/ 57 w 57"/>
                  <a:gd name="txB" fmla="*/ 57 h 57"/>
                </a:gdLst>
                <a:ahLst/>
                <a:cxnLst>
                  <a:cxn ang="0">
                    <a:pos x="28" y="0"/>
                  </a:cxn>
                  <a:cxn ang="0">
                    <a:pos x="57" y="28"/>
                  </a:cxn>
                  <a:cxn ang="0">
                    <a:pos x="28" y="57"/>
                  </a:cxn>
                  <a:cxn ang="0">
                    <a:pos x="0" y="28"/>
                  </a:cxn>
                  <a:cxn ang="0">
                    <a:pos x="28" y="0"/>
                  </a:cxn>
                </a:cxnLst>
                <a:rect l="txL" t="txT" r="txR" b="txB"/>
                <a:pathLst>
                  <a:path w="57" h="57">
                    <a:moveTo>
                      <a:pt x="28" y="0"/>
                    </a:moveTo>
                    <a:lnTo>
                      <a:pt x="57" y="28"/>
                    </a:lnTo>
                    <a:lnTo>
                      <a:pt x="28" y="57"/>
                    </a:lnTo>
                    <a:lnTo>
                      <a:pt x="0" y="28"/>
                    </a:lnTo>
                    <a:lnTo>
                      <a:pt x="28" y="0"/>
                    </a:lnTo>
                    <a:close/>
                  </a:path>
                </a:pathLst>
              </a:custGeom>
              <a:solidFill>
                <a:srgbClr val="00FFFF">
                  <a:alpha val="100000"/>
                </a:srgbClr>
              </a:solidFill>
              <a:ln w="6350" cap="flat" cmpd="sng">
                <a:solidFill>
                  <a:srgbClr val="000080">
                    <a:alpha val="100000"/>
                  </a:srgbClr>
                </a:solidFill>
                <a:prstDash val="solid"/>
                <a:round/>
                <a:headEnd type="none" w="med" len="med"/>
                <a:tailEnd type="none" w="med" len="med"/>
              </a:ln>
            </p:spPr>
            <p:txBody>
              <a:bodyPr/>
              <a:p>
                <a:endParaRPr lang="en-US"/>
              </a:p>
            </p:txBody>
          </p:sp>
          <p:sp>
            <p:nvSpPr>
              <p:cNvPr id="22675" name="Freeform 1084"/>
              <p:cNvSpPr/>
              <p:nvPr/>
            </p:nvSpPr>
            <p:spPr>
              <a:xfrm>
                <a:off x="2432" y="1799"/>
                <a:ext cx="56" cy="57"/>
              </a:xfrm>
              <a:custGeom>
                <a:avLst/>
                <a:gdLst>
                  <a:gd name="txL" fmla="*/ 0 w 56"/>
                  <a:gd name="txT" fmla="*/ 0 h 57"/>
                  <a:gd name="txR" fmla="*/ 56 w 56"/>
                  <a:gd name="txB" fmla="*/ 57 h 57"/>
                </a:gdLst>
                <a:ahLst/>
                <a:cxnLst>
                  <a:cxn ang="0">
                    <a:pos x="28" y="0"/>
                  </a:cxn>
                  <a:cxn ang="0">
                    <a:pos x="56" y="29"/>
                  </a:cxn>
                  <a:cxn ang="0">
                    <a:pos x="28" y="57"/>
                  </a:cxn>
                  <a:cxn ang="0">
                    <a:pos x="0" y="29"/>
                  </a:cxn>
                  <a:cxn ang="0">
                    <a:pos x="28" y="0"/>
                  </a:cxn>
                </a:cxnLst>
                <a:rect l="txL" t="txT" r="txR" b="txB"/>
                <a:pathLst>
                  <a:path w="56" h="57">
                    <a:moveTo>
                      <a:pt x="28" y="0"/>
                    </a:moveTo>
                    <a:lnTo>
                      <a:pt x="56" y="29"/>
                    </a:lnTo>
                    <a:lnTo>
                      <a:pt x="28" y="57"/>
                    </a:lnTo>
                    <a:lnTo>
                      <a:pt x="0" y="29"/>
                    </a:lnTo>
                    <a:lnTo>
                      <a:pt x="28" y="0"/>
                    </a:lnTo>
                    <a:close/>
                  </a:path>
                </a:pathLst>
              </a:custGeom>
              <a:solidFill>
                <a:srgbClr val="000080">
                  <a:alpha val="100000"/>
                </a:srgbClr>
              </a:solidFill>
              <a:ln w="6350" cap="flat" cmpd="sng">
                <a:solidFill>
                  <a:srgbClr val="000080">
                    <a:alpha val="100000"/>
                  </a:srgbClr>
                </a:solidFill>
                <a:prstDash val="solid"/>
                <a:round/>
                <a:headEnd type="none" w="med" len="med"/>
                <a:tailEnd type="none" w="med" len="med"/>
              </a:ln>
            </p:spPr>
            <p:txBody>
              <a:bodyPr/>
              <a:p>
                <a:endParaRPr lang="en-US"/>
              </a:p>
            </p:txBody>
          </p:sp>
          <p:sp>
            <p:nvSpPr>
              <p:cNvPr id="22676" name="Freeform 1085"/>
              <p:cNvSpPr/>
              <p:nvPr/>
            </p:nvSpPr>
            <p:spPr>
              <a:xfrm>
                <a:off x="2673" y="1507"/>
                <a:ext cx="57" cy="56"/>
              </a:xfrm>
              <a:custGeom>
                <a:avLst/>
                <a:gdLst>
                  <a:gd name="txL" fmla="*/ 0 w 57"/>
                  <a:gd name="txT" fmla="*/ 0 h 56"/>
                  <a:gd name="txR" fmla="*/ 57 w 57"/>
                  <a:gd name="txB" fmla="*/ 56 h 56"/>
                </a:gdLst>
                <a:ahLst/>
                <a:cxnLst>
                  <a:cxn ang="0">
                    <a:pos x="28" y="0"/>
                  </a:cxn>
                  <a:cxn ang="0">
                    <a:pos x="57" y="28"/>
                  </a:cxn>
                  <a:cxn ang="0">
                    <a:pos x="28" y="56"/>
                  </a:cxn>
                  <a:cxn ang="0">
                    <a:pos x="0" y="28"/>
                  </a:cxn>
                  <a:cxn ang="0">
                    <a:pos x="28" y="0"/>
                  </a:cxn>
                </a:cxnLst>
                <a:rect l="txL" t="txT" r="txR" b="txB"/>
                <a:pathLst>
                  <a:path w="57" h="56">
                    <a:moveTo>
                      <a:pt x="28" y="0"/>
                    </a:moveTo>
                    <a:lnTo>
                      <a:pt x="57" y="28"/>
                    </a:lnTo>
                    <a:lnTo>
                      <a:pt x="28" y="56"/>
                    </a:lnTo>
                    <a:lnTo>
                      <a:pt x="0" y="28"/>
                    </a:lnTo>
                    <a:lnTo>
                      <a:pt x="28" y="0"/>
                    </a:lnTo>
                    <a:close/>
                  </a:path>
                </a:pathLst>
              </a:custGeom>
              <a:solidFill>
                <a:srgbClr val="000080">
                  <a:alpha val="100000"/>
                </a:srgbClr>
              </a:solidFill>
              <a:ln w="6350" cap="flat" cmpd="sng">
                <a:solidFill>
                  <a:srgbClr val="000080">
                    <a:alpha val="100000"/>
                  </a:srgbClr>
                </a:solidFill>
                <a:prstDash val="solid"/>
                <a:round/>
                <a:headEnd type="none" w="med" len="med"/>
                <a:tailEnd type="none" w="med" len="med"/>
              </a:ln>
            </p:spPr>
            <p:txBody>
              <a:bodyPr/>
              <a:p>
                <a:endParaRPr lang="en-US"/>
              </a:p>
            </p:txBody>
          </p:sp>
          <p:sp>
            <p:nvSpPr>
              <p:cNvPr id="22677" name="Freeform 1086"/>
              <p:cNvSpPr/>
              <p:nvPr/>
            </p:nvSpPr>
            <p:spPr>
              <a:xfrm>
                <a:off x="2432" y="1409"/>
                <a:ext cx="56" cy="57"/>
              </a:xfrm>
              <a:custGeom>
                <a:avLst/>
                <a:gdLst>
                  <a:gd name="txL" fmla="*/ 0 w 56"/>
                  <a:gd name="txT" fmla="*/ 0 h 57"/>
                  <a:gd name="txR" fmla="*/ 56 w 56"/>
                  <a:gd name="txB" fmla="*/ 57 h 57"/>
                </a:gdLst>
                <a:ahLst/>
                <a:cxnLst>
                  <a:cxn ang="0">
                    <a:pos x="28" y="0"/>
                  </a:cxn>
                  <a:cxn ang="0">
                    <a:pos x="56" y="28"/>
                  </a:cxn>
                  <a:cxn ang="0">
                    <a:pos x="28" y="57"/>
                  </a:cxn>
                  <a:cxn ang="0">
                    <a:pos x="0" y="28"/>
                  </a:cxn>
                  <a:cxn ang="0">
                    <a:pos x="28" y="0"/>
                  </a:cxn>
                </a:cxnLst>
                <a:rect l="txL" t="txT" r="txR" b="txB"/>
                <a:pathLst>
                  <a:path w="56" h="57">
                    <a:moveTo>
                      <a:pt x="28" y="0"/>
                    </a:moveTo>
                    <a:lnTo>
                      <a:pt x="56" y="28"/>
                    </a:lnTo>
                    <a:lnTo>
                      <a:pt x="28" y="57"/>
                    </a:lnTo>
                    <a:lnTo>
                      <a:pt x="0" y="28"/>
                    </a:lnTo>
                    <a:lnTo>
                      <a:pt x="28" y="0"/>
                    </a:lnTo>
                    <a:close/>
                  </a:path>
                </a:pathLst>
              </a:custGeom>
              <a:solidFill>
                <a:srgbClr val="00FFFF">
                  <a:alpha val="100000"/>
                </a:srgbClr>
              </a:solidFill>
              <a:ln w="6350" cap="flat" cmpd="sng">
                <a:solidFill>
                  <a:srgbClr val="000080">
                    <a:alpha val="100000"/>
                  </a:srgbClr>
                </a:solidFill>
                <a:prstDash val="solid"/>
                <a:round/>
                <a:headEnd type="none" w="med" len="med"/>
                <a:tailEnd type="none" w="med" len="med"/>
              </a:ln>
            </p:spPr>
            <p:txBody>
              <a:bodyPr/>
              <a:p>
                <a:endParaRPr lang="en-US"/>
              </a:p>
            </p:txBody>
          </p:sp>
          <p:sp>
            <p:nvSpPr>
              <p:cNvPr id="22678" name="Rectangle 1087"/>
              <p:cNvSpPr/>
              <p:nvPr/>
            </p:nvSpPr>
            <p:spPr>
              <a:xfrm>
                <a:off x="1805" y="1897"/>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0</a:t>
                </a:r>
                <a:endParaRPr lang="ko-KR" altLang="en-US" dirty="0">
                  <a:latin typeface="Tahoma" panose="020B0604030504040204" pitchFamily="34" charset="0"/>
                  <a:ea typeface="Gulim" panose="020B0600000101010101" pitchFamily="34" charset="-127"/>
                </a:endParaRPr>
              </a:p>
            </p:txBody>
          </p:sp>
          <p:sp>
            <p:nvSpPr>
              <p:cNvPr id="22679" name="Rectangle 1088"/>
              <p:cNvSpPr/>
              <p:nvPr/>
            </p:nvSpPr>
            <p:spPr>
              <a:xfrm>
                <a:off x="1805" y="1799"/>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1</a:t>
                </a:r>
                <a:endParaRPr lang="ko-KR" altLang="en-US" dirty="0">
                  <a:latin typeface="Tahoma" panose="020B0604030504040204" pitchFamily="34" charset="0"/>
                  <a:ea typeface="Gulim" panose="020B0600000101010101" pitchFamily="34" charset="-127"/>
                </a:endParaRPr>
              </a:p>
            </p:txBody>
          </p:sp>
          <p:sp>
            <p:nvSpPr>
              <p:cNvPr id="22680" name="Rectangle 1089"/>
              <p:cNvSpPr/>
              <p:nvPr/>
            </p:nvSpPr>
            <p:spPr>
              <a:xfrm>
                <a:off x="1805" y="1702"/>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2</a:t>
                </a:r>
                <a:endParaRPr lang="ko-KR" altLang="en-US" dirty="0">
                  <a:latin typeface="Tahoma" panose="020B0604030504040204" pitchFamily="34" charset="0"/>
                  <a:ea typeface="Gulim" panose="020B0600000101010101" pitchFamily="34" charset="-127"/>
                </a:endParaRPr>
              </a:p>
            </p:txBody>
          </p:sp>
          <p:sp>
            <p:nvSpPr>
              <p:cNvPr id="22681" name="Rectangle 1090"/>
              <p:cNvSpPr/>
              <p:nvPr/>
            </p:nvSpPr>
            <p:spPr>
              <a:xfrm>
                <a:off x="1805" y="1604"/>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3</a:t>
                </a:r>
                <a:endParaRPr lang="ko-KR" altLang="en-US" dirty="0">
                  <a:latin typeface="Tahoma" panose="020B0604030504040204" pitchFamily="34" charset="0"/>
                  <a:ea typeface="Gulim" panose="020B0600000101010101" pitchFamily="34" charset="-127"/>
                </a:endParaRPr>
              </a:p>
            </p:txBody>
          </p:sp>
          <p:sp>
            <p:nvSpPr>
              <p:cNvPr id="22682" name="Rectangle 1091"/>
              <p:cNvSpPr/>
              <p:nvPr/>
            </p:nvSpPr>
            <p:spPr>
              <a:xfrm>
                <a:off x="1805" y="1507"/>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4</a:t>
                </a:r>
                <a:endParaRPr lang="ko-KR" altLang="en-US" dirty="0">
                  <a:latin typeface="Tahoma" panose="020B0604030504040204" pitchFamily="34" charset="0"/>
                  <a:ea typeface="Gulim" panose="020B0600000101010101" pitchFamily="34" charset="-127"/>
                </a:endParaRPr>
              </a:p>
            </p:txBody>
          </p:sp>
          <p:sp>
            <p:nvSpPr>
              <p:cNvPr id="22683" name="Rectangle 1092"/>
              <p:cNvSpPr/>
              <p:nvPr/>
            </p:nvSpPr>
            <p:spPr>
              <a:xfrm>
                <a:off x="1805" y="1409"/>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5</a:t>
                </a:r>
                <a:endParaRPr lang="ko-KR" altLang="en-US" dirty="0">
                  <a:latin typeface="Tahoma" panose="020B0604030504040204" pitchFamily="34" charset="0"/>
                  <a:ea typeface="Gulim" panose="020B0600000101010101" pitchFamily="34" charset="-127"/>
                </a:endParaRPr>
              </a:p>
            </p:txBody>
          </p:sp>
          <p:sp>
            <p:nvSpPr>
              <p:cNvPr id="22684" name="Rectangle 1093"/>
              <p:cNvSpPr/>
              <p:nvPr/>
            </p:nvSpPr>
            <p:spPr>
              <a:xfrm>
                <a:off x="1805" y="1310"/>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6</a:t>
                </a:r>
                <a:endParaRPr lang="ko-KR" altLang="en-US" dirty="0">
                  <a:latin typeface="Tahoma" panose="020B0604030504040204" pitchFamily="34" charset="0"/>
                  <a:ea typeface="Gulim" panose="020B0600000101010101" pitchFamily="34" charset="-127"/>
                </a:endParaRPr>
              </a:p>
            </p:txBody>
          </p:sp>
          <p:sp>
            <p:nvSpPr>
              <p:cNvPr id="22685" name="Rectangle 1094"/>
              <p:cNvSpPr/>
              <p:nvPr/>
            </p:nvSpPr>
            <p:spPr>
              <a:xfrm>
                <a:off x="1805" y="1214"/>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7</a:t>
                </a:r>
                <a:endParaRPr lang="ko-KR" altLang="en-US" dirty="0">
                  <a:latin typeface="Tahoma" panose="020B0604030504040204" pitchFamily="34" charset="0"/>
                  <a:ea typeface="Gulim" panose="020B0600000101010101" pitchFamily="34" charset="-127"/>
                </a:endParaRPr>
              </a:p>
            </p:txBody>
          </p:sp>
          <p:sp>
            <p:nvSpPr>
              <p:cNvPr id="22686" name="Rectangle 1095"/>
              <p:cNvSpPr/>
              <p:nvPr/>
            </p:nvSpPr>
            <p:spPr>
              <a:xfrm>
                <a:off x="1805" y="1116"/>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8</a:t>
                </a:r>
                <a:endParaRPr lang="ko-KR" altLang="en-US" dirty="0">
                  <a:latin typeface="Tahoma" panose="020B0604030504040204" pitchFamily="34" charset="0"/>
                  <a:ea typeface="Gulim" panose="020B0600000101010101" pitchFamily="34" charset="-127"/>
                </a:endParaRPr>
              </a:p>
            </p:txBody>
          </p:sp>
          <p:sp>
            <p:nvSpPr>
              <p:cNvPr id="22687" name="Rectangle 1096"/>
              <p:cNvSpPr/>
              <p:nvPr/>
            </p:nvSpPr>
            <p:spPr>
              <a:xfrm>
                <a:off x="1805" y="1019"/>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9</a:t>
                </a:r>
                <a:endParaRPr lang="ko-KR" altLang="en-US" dirty="0">
                  <a:latin typeface="Tahoma" panose="020B0604030504040204" pitchFamily="34" charset="0"/>
                  <a:ea typeface="Gulim" panose="020B0600000101010101" pitchFamily="34" charset="-127"/>
                </a:endParaRPr>
              </a:p>
            </p:txBody>
          </p:sp>
          <p:sp>
            <p:nvSpPr>
              <p:cNvPr id="22688" name="Rectangle 1097"/>
              <p:cNvSpPr/>
              <p:nvPr/>
            </p:nvSpPr>
            <p:spPr>
              <a:xfrm>
                <a:off x="1779" y="920"/>
                <a:ext cx="61"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10</a:t>
                </a:r>
                <a:endParaRPr lang="ko-KR" altLang="en-US" dirty="0">
                  <a:latin typeface="Tahoma" panose="020B0604030504040204" pitchFamily="34" charset="0"/>
                  <a:ea typeface="Gulim" panose="020B0600000101010101" pitchFamily="34" charset="-127"/>
                </a:endParaRPr>
              </a:p>
            </p:txBody>
          </p:sp>
          <p:sp>
            <p:nvSpPr>
              <p:cNvPr id="22689" name="Rectangle 1098"/>
              <p:cNvSpPr/>
              <p:nvPr/>
            </p:nvSpPr>
            <p:spPr>
              <a:xfrm>
                <a:off x="1849" y="1962"/>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0</a:t>
                </a:r>
                <a:endParaRPr lang="ko-KR" altLang="en-US" dirty="0">
                  <a:latin typeface="Tahoma" panose="020B0604030504040204" pitchFamily="34" charset="0"/>
                  <a:ea typeface="Gulim" panose="020B0600000101010101" pitchFamily="34" charset="-127"/>
                </a:endParaRPr>
              </a:p>
            </p:txBody>
          </p:sp>
          <p:sp>
            <p:nvSpPr>
              <p:cNvPr id="22690" name="Rectangle 1099"/>
              <p:cNvSpPr/>
              <p:nvPr/>
            </p:nvSpPr>
            <p:spPr>
              <a:xfrm>
                <a:off x="1968" y="1962"/>
                <a:ext cx="31"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1</a:t>
                </a:r>
                <a:endParaRPr lang="ko-KR" altLang="en-US" dirty="0">
                  <a:latin typeface="Tahoma" panose="020B0604030504040204" pitchFamily="34" charset="0"/>
                  <a:ea typeface="Gulim" panose="020B0600000101010101" pitchFamily="34" charset="-127"/>
                </a:endParaRPr>
              </a:p>
            </p:txBody>
          </p:sp>
          <p:sp>
            <p:nvSpPr>
              <p:cNvPr id="22691" name="Rectangle 1100"/>
              <p:cNvSpPr/>
              <p:nvPr/>
            </p:nvSpPr>
            <p:spPr>
              <a:xfrm>
                <a:off x="2090" y="1962"/>
                <a:ext cx="31"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2</a:t>
                </a:r>
                <a:endParaRPr lang="ko-KR" altLang="en-US" dirty="0">
                  <a:latin typeface="Tahoma" panose="020B0604030504040204" pitchFamily="34" charset="0"/>
                  <a:ea typeface="Gulim" panose="020B0600000101010101" pitchFamily="34" charset="-127"/>
                </a:endParaRPr>
              </a:p>
            </p:txBody>
          </p:sp>
          <p:sp>
            <p:nvSpPr>
              <p:cNvPr id="22692" name="Rectangle 1101"/>
              <p:cNvSpPr/>
              <p:nvPr/>
            </p:nvSpPr>
            <p:spPr>
              <a:xfrm>
                <a:off x="2207" y="1962"/>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3</a:t>
                </a:r>
                <a:endParaRPr lang="ko-KR" altLang="en-US" dirty="0">
                  <a:latin typeface="Tahoma" panose="020B0604030504040204" pitchFamily="34" charset="0"/>
                  <a:ea typeface="Gulim" panose="020B0600000101010101" pitchFamily="34" charset="-127"/>
                </a:endParaRPr>
              </a:p>
            </p:txBody>
          </p:sp>
          <p:sp>
            <p:nvSpPr>
              <p:cNvPr id="22693" name="Rectangle 1102"/>
              <p:cNvSpPr/>
              <p:nvPr/>
            </p:nvSpPr>
            <p:spPr>
              <a:xfrm>
                <a:off x="2326" y="1962"/>
                <a:ext cx="31"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4</a:t>
                </a:r>
                <a:endParaRPr lang="ko-KR" altLang="en-US" dirty="0">
                  <a:latin typeface="Tahoma" panose="020B0604030504040204" pitchFamily="34" charset="0"/>
                  <a:ea typeface="Gulim" panose="020B0600000101010101" pitchFamily="34" charset="-127"/>
                </a:endParaRPr>
              </a:p>
            </p:txBody>
          </p:sp>
          <p:sp>
            <p:nvSpPr>
              <p:cNvPr id="22694" name="Rectangle 1103"/>
              <p:cNvSpPr/>
              <p:nvPr/>
            </p:nvSpPr>
            <p:spPr>
              <a:xfrm>
                <a:off x="2448" y="1962"/>
                <a:ext cx="31"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5</a:t>
                </a:r>
                <a:endParaRPr lang="ko-KR" altLang="en-US" dirty="0">
                  <a:latin typeface="Tahoma" panose="020B0604030504040204" pitchFamily="34" charset="0"/>
                  <a:ea typeface="Gulim" panose="020B0600000101010101" pitchFamily="34" charset="-127"/>
                </a:endParaRPr>
              </a:p>
            </p:txBody>
          </p:sp>
          <p:sp>
            <p:nvSpPr>
              <p:cNvPr id="22695" name="Rectangle 1104"/>
              <p:cNvSpPr/>
              <p:nvPr/>
            </p:nvSpPr>
            <p:spPr>
              <a:xfrm>
                <a:off x="2569" y="1962"/>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6</a:t>
                </a:r>
                <a:endParaRPr lang="ko-KR" altLang="en-US" dirty="0">
                  <a:latin typeface="Tahoma" panose="020B0604030504040204" pitchFamily="34" charset="0"/>
                  <a:ea typeface="Gulim" panose="020B0600000101010101" pitchFamily="34" charset="-127"/>
                </a:endParaRPr>
              </a:p>
            </p:txBody>
          </p:sp>
          <p:sp>
            <p:nvSpPr>
              <p:cNvPr id="22696" name="Rectangle 1105"/>
              <p:cNvSpPr/>
              <p:nvPr/>
            </p:nvSpPr>
            <p:spPr>
              <a:xfrm>
                <a:off x="2689" y="1962"/>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7</a:t>
                </a:r>
                <a:endParaRPr lang="ko-KR" altLang="en-US" dirty="0">
                  <a:latin typeface="Tahoma" panose="020B0604030504040204" pitchFamily="34" charset="0"/>
                  <a:ea typeface="Gulim" panose="020B0600000101010101" pitchFamily="34" charset="-127"/>
                </a:endParaRPr>
              </a:p>
            </p:txBody>
          </p:sp>
          <p:sp>
            <p:nvSpPr>
              <p:cNvPr id="22697" name="Rectangle 1106"/>
              <p:cNvSpPr/>
              <p:nvPr/>
            </p:nvSpPr>
            <p:spPr>
              <a:xfrm>
                <a:off x="2806" y="1962"/>
                <a:ext cx="31"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8</a:t>
                </a:r>
                <a:endParaRPr lang="ko-KR" altLang="en-US" dirty="0">
                  <a:latin typeface="Tahoma" panose="020B0604030504040204" pitchFamily="34" charset="0"/>
                  <a:ea typeface="Gulim" panose="020B0600000101010101" pitchFamily="34" charset="-127"/>
                </a:endParaRPr>
              </a:p>
            </p:txBody>
          </p:sp>
          <p:sp>
            <p:nvSpPr>
              <p:cNvPr id="22698" name="Rectangle 1107"/>
              <p:cNvSpPr/>
              <p:nvPr/>
            </p:nvSpPr>
            <p:spPr>
              <a:xfrm>
                <a:off x="2927" y="1962"/>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9</a:t>
                </a:r>
                <a:endParaRPr lang="ko-KR" altLang="en-US" dirty="0">
                  <a:latin typeface="Tahoma" panose="020B0604030504040204" pitchFamily="34" charset="0"/>
                  <a:ea typeface="Gulim" panose="020B0600000101010101" pitchFamily="34" charset="-127"/>
                </a:endParaRPr>
              </a:p>
            </p:txBody>
          </p:sp>
          <p:sp>
            <p:nvSpPr>
              <p:cNvPr id="22699" name="Rectangle 1108"/>
              <p:cNvSpPr/>
              <p:nvPr/>
            </p:nvSpPr>
            <p:spPr>
              <a:xfrm>
                <a:off x="3035" y="1962"/>
                <a:ext cx="6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10</a:t>
                </a:r>
                <a:endParaRPr lang="ko-KR" altLang="en-US" dirty="0">
                  <a:latin typeface="Tahoma" panose="020B0604030504040204" pitchFamily="34" charset="0"/>
                  <a:ea typeface="Gulim" panose="020B0600000101010101" pitchFamily="34" charset="-127"/>
                </a:endParaRPr>
              </a:p>
            </p:txBody>
          </p:sp>
          <p:sp>
            <p:nvSpPr>
              <p:cNvPr id="22700" name="Rectangle 1109"/>
              <p:cNvSpPr/>
              <p:nvPr/>
            </p:nvSpPr>
            <p:spPr>
              <a:xfrm>
                <a:off x="1728" y="864"/>
                <a:ext cx="1396" cy="1208"/>
              </a:xfrm>
              <a:prstGeom prst="rect">
                <a:avLst/>
              </a:prstGeom>
              <a:noFill/>
              <a:ln w="0"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grpSp>
        <p:grpSp>
          <p:nvGrpSpPr>
            <p:cNvPr id="22535" name="Group 1110"/>
            <p:cNvGrpSpPr/>
            <p:nvPr/>
          </p:nvGrpSpPr>
          <p:grpSpPr>
            <a:xfrm>
              <a:off x="3408" y="3072"/>
              <a:ext cx="1248" cy="1112"/>
              <a:chOff x="3616" y="2464"/>
              <a:chExt cx="1396" cy="1208"/>
            </a:xfrm>
          </p:grpSpPr>
          <p:sp>
            <p:nvSpPr>
              <p:cNvPr id="22537" name="Rectangle 1111"/>
              <p:cNvSpPr/>
              <p:nvPr/>
            </p:nvSpPr>
            <p:spPr>
              <a:xfrm>
                <a:off x="3616" y="2464"/>
                <a:ext cx="1396" cy="1208"/>
              </a:xfrm>
              <a:prstGeom prst="rect">
                <a:avLst/>
              </a:prstGeom>
              <a:solidFill>
                <a:srgbClr val="FFFFFF"/>
              </a:solidFill>
              <a:ln w="0"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sp>
            <p:nvSpPr>
              <p:cNvPr id="22538" name="Rectangle 1112"/>
              <p:cNvSpPr/>
              <p:nvPr/>
            </p:nvSpPr>
            <p:spPr>
              <a:xfrm>
                <a:off x="3749" y="2550"/>
                <a:ext cx="1198" cy="975"/>
              </a:xfrm>
              <a:prstGeom prst="rect">
                <a:avLst/>
              </a:prstGeom>
              <a:solidFill>
                <a:srgbClr val="FFFFFF"/>
              </a:solidFill>
              <a:ln w="9525">
                <a:noFill/>
              </a:ln>
            </p:spPr>
            <p:txBody>
              <a:bodyPr/>
              <a:p>
                <a:endParaRPr dirty="0">
                  <a:latin typeface="Tahoma" panose="020B0604030504040204" pitchFamily="34" charset="0"/>
                </a:endParaRPr>
              </a:p>
            </p:txBody>
          </p:sp>
          <p:sp>
            <p:nvSpPr>
              <p:cNvPr id="22539" name="Line 1113"/>
              <p:cNvSpPr/>
              <p:nvPr/>
            </p:nvSpPr>
            <p:spPr>
              <a:xfrm>
                <a:off x="3749" y="3428"/>
                <a:ext cx="1198" cy="1"/>
              </a:xfrm>
              <a:prstGeom prst="line">
                <a:avLst/>
              </a:prstGeom>
              <a:ln w="0" cap="flat" cmpd="sng">
                <a:solidFill>
                  <a:srgbClr val="000000"/>
                </a:solidFill>
                <a:prstDash val="solid"/>
                <a:headEnd type="none" w="med" len="med"/>
                <a:tailEnd type="none" w="med" len="med"/>
              </a:ln>
            </p:spPr>
          </p:sp>
          <p:sp>
            <p:nvSpPr>
              <p:cNvPr id="22540" name="Line 1114"/>
              <p:cNvSpPr/>
              <p:nvPr/>
            </p:nvSpPr>
            <p:spPr>
              <a:xfrm>
                <a:off x="3749" y="3330"/>
                <a:ext cx="1198" cy="1"/>
              </a:xfrm>
              <a:prstGeom prst="line">
                <a:avLst/>
              </a:prstGeom>
              <a:ln w="0" cap="flat" cmpd="sng">
                <a:solidFill>
                  <a:srgbClr val="000000"/>
                </a:solidFill>
                <a:prstDash val="solid"/>
                <a:headEnd type="none" w="med" len="med"/>
                <a:tailEnd type="none" w="med" len="med"/>
              </a:ln>
            </p:spPr>
          </p:sp>
          <p:sp>
            <p:nvSpPr>
              <p:cNvPr id="22541" name="Line 1115"/>
              <p:cNvSpPr/>
              <p:nvPr/>
            </p:nvSpPr>
            <p:spPr>
              <a:xfrm>
                <a:off x="3749" y="3233"/>
                <a:ext cx="1198" cy="1"/>
              </a:xfrm>
              <a:prstGeom prst="line">
                <a:avLst/>
              </a:prstGeom>
              <a:ln w="0" cap="flat" cmpd="sng">
                <a:solidFill>
                  <a:srgbClr val="000000"/>
                </a:solidFill>
                <a:prstDash val="solid"/>
                <a:headEnd type="none" w="med" len="med"/>
                <a:tailEnd type="none" w="med" len="med"/>
              </a:ln>
            </p:spPr>
          </p:sp>
          <p:sp>
            <p:nvSpPr>
              <p:cNvPr id="22542" name="Line 1116"/>
              <p:cNvSpPr/>
              <p:nvPr/>
            </p:nvSpPr>
            <p:spPr>
              <a:xfrm>
                <a:off x="3749" y="3135"/>
                <a:ext cx="1198" cy="1"/>
              </a:xfrm>
              <a:prstGeom prst="line">
                <a:avLst/>
              </a:prstGeom>
              <a:ln w="0" cap="flat" cmpd="sng">
                <a:solidFill>
                  <a:srgbClr val="000000"/>
                </a:solidFill>
                <a:prstDash val="solid"/>
                <a:headEnd type="none" w="med" len="med"/>
                <a:tailEnd type="none" w="med" len="med"/>
              </a:ln>
            </p:spPr>
          </p:sp>
          <p:sp>
            <p:nvSpPr>
              <p:cNvPr id="22543" name="Line 1117"/>
              <p:cNvSpPr/>
              <p:nvPr/>
            </p:nvSpPr>
            <p:spPr>
              <a:xfrm>
                <a:off x="3749" y="3037"/>
                <a:ext cx="1198" cy="1"/>
              </a:xfrm>
              <a:prstGeom prst="line">
                <a:avLst/>
              </a:prstGeom>
              <a:ln w="0" cap="flat" cmpd="sng">
                <a:solidFill>
                  <a:srgbClr val="000000"/>
                </a:solidFill>
                <a:prstDash val="solid"/>
                <a:headEnd type="none" w="med" len="med"/>
                <a:tailEnd type="none" w="med" len="med"/>
              </a:ln>
            </p:spPr>
          </p:sp>
          <p:sp>
            <p:nvSpPr>
              <p:cNvPr id="22544" name="Line 1118"/>
              <p:cNvSpPr/>
              <p:nvPr/>
            </p:nvSpPr>
            <p:spPr>
              <a:xfrm>
                <a:off x="3749" y="2940"/>
                <a:ext cx="1198" cy="1"/>
              </a:xfrm>
              <a:prstGeom prst="line">
                <a:avLst/>
              </a:prstGeom>
              <a:ln w="0" cap="flat" cmpd="sng">
                <a:solidFill>
                  <a:srgbClr val="000000"/>
                </a:solidFill>
                <a:prstDash val="solid"/>
                <a:headEnd type="none" w="med" len="med"/>
                <a:tailEnd type="none" w="med" len="med"/>
              </a:ln>
            </p:spPr>
          </p:sp>
          <p:sp>
            <p:nvSpPr>
              <p:cNvPr id="22545" name="Line 1119"/>
              <p:cNvSpPr/>
              <p:nvPr/>
            </p:nvSpPr>
            <p:spPr>
              <a:xfrm>
                <a:off x="3749" y="2842"/>
                <a:ext cx="1198" cy="1"/>
              </a:xfrm>
              <a:prstGeom prst="line">
                <a:avLst/>
              </a:prstGeom>
              <a:ln w="0" cap="flat" cmpd="sng">
                <a:solidFill>
                  <a:srgbClr val="000000"/>
                </a:solidFill>
                <a:prstDash val="solid"/>
                <a:headEnd type="none" w="med" len="med"/>
                <a:tailEnd type="none" w="med" len="med"/>
              </a:ln>
            </p:spPr>
          </p:sp>
          <p:sp>
            <p:nvSpPr>
              <p:cNvPr id="22546" name="Line 1120"/>
              <p:cNvSpPr/>
              <p:nvPr/>
            </p:nvSpPr>
            <p:spPr>
              <a:xfrm>
                <a:off x="3749" y="2745"/>
                <a:ext cx="1198" cy="1"/>
              </a:xfrm>
              <a:prstGeom prst="line">
                <a:avLst/>
              </a:prstGeom>
              <a:ln w="0" cap="flat" cmpd="sng">
                <a:solidFill>
                  <a:srgbClr val="000000"/>
                </a:solidFill>
                <a:prstDash val="solid"/>
                <a:headEnd type="none" w="med" len="med"/>
                <a:tailEnd type="none" w="med" len="med"/>
              </a:ln>
            </p:spPr>
          </p:sp>
          <p:sp>
            <p:nvSpPr>
              <p:cNvPr id="22547" name="Line 1121"/>
              <p:cNvSpPr/>
              <p:nvPr/>
            </p:nvSpPr>
            <p:spPr>
              <a:xfrm>
                <a:off x="3749" y="2647"/>
                <a:ext cx="1198" cy="1"/>
              </a:xfrm>
              <a:prstGeom prst="line">
                <a:avLst/>
              </a:prstGeom>
              <a:ln w="0" cap="flat" cmpd="sng">
                <a:solidFill>
                  <a:srgbClr val="000000"/>
                </a:solidFill>
                <a:prstDash val="solid"/>
                <a:headEnd type="none" w="med" len="med"/>
                <a:tailEnd type="none" w="med" len="med"/>
              </a:ln>
            </p:spPr>
          </p:sp>
          <p:sp>
            <p:nvSpPr>
              <p:cNvPr id="22548" name="Line 1122"/>
              <p:cNvSpPr/>
              <p:nvPr/>
            </p:nvSpPr>
            <p:spPr>
              <a:xfrm>
                <a:off x="3749" y="2550"/>
                <a:ext cx="1198" cy="1"/>
              </a:xfrm>
              <a:prstGeom prst="line">
                <a:avLst/>
              </a:prstGeom>
              <a:ln w="0" cap="flat" cmpd="sng">
                <a:solidFill>
                  <a:srgbClr val="000000"/>
                </a:solidFill>
                <a:prstDash val="solid"/>
                <a:headEnd type="none" w="med" len="med"/>
                <a:tailEnd type="none" w="med" len="med"/>
              </a:ln>
            </p:spPr>
          </p:sp>
          <p:sp>
            <p:nvSpPr>
              <p:cNvPr id="22549" name="Line 1123"/>
              <p:cNvSpPr/>
              <p:nvPr/>
            </p:nvSpPr>
            <p:spPr>
              <a:xfrm>
                <a:off x="3869" y="2550"/>
                <a:ext cx="1" cy="975"/>
              </a:xfrm>
              <a:prstGeom prst="line">
                <a:avLst/>
              </a:prstGeom>
              <a:ln w="0" cap="flat" cmpd="sng">
                <a:solidFill>
                  <a:srgbClr val="000000"/>
                </a:solidFill>
                <a:prstDash val="solid"/>
                <a:headEnd type="none" w="med" len="med"/>
                <a:tailEnd type="none" w="med" len="med"/>
              </a:ln>
            </p:spPr>
          </p:sp>
          <p:sp>
            <p:nvSpPr>
              <p:cNvPr id="22550" name="Line 1124"/>
              <p:cNvSpPr/>
              <p:nvPr/>
            </p:nvSpPr>
            <p:spPr>
              <a:xfrm>
                <a:off x="3990" y="2550"/>
                <a:ext cx="1" cy="975"/>
              </a:xfrm>
              <a:prstGeom prst="line">
                <a:avLst/>
              </a:prstGeom>
              <a:ln w="0" cap="flat" cmpd="sng">
                <a:solidFill>
                  <a:srgbClr val="000000"/>
                </a:solidFill>
                <a:prstDash val="solid"/>
                <a:headEnd type="none" w="med" len="med"/>
                <a:tailEnd type="none" w="med" len="med"/>
              </a:ln>
            </p:spPr>
          </p:sp>
          <p:sp>
            <p:nvSpPr>
              <p:cNvPr id="22551" name="Line 1125"/>
              <p:cNvSpPr/>
              <p:nvPr/>
            </p:nvSpPr>
            <p:spPr>
              <a:xfrm>
                <a:off x="4107" y="2550"/>
                <a:ext cx="1" cy="975"/>
              </a:xfrm>
              <a:prstGeom prst="line">
                <a:avLst/>
              </a:prstGeom>
              <a:ln w="0" cap="flat" cmpd="sng">
                <a:solidFill>
                  <a:srgbClr val="000000"/>
                </a:solidFill>
                <a:prstDash val="solid"/>
                <a:headEnd type="none" w="med" len="med"/>
                <a:tailEnd type="none" w="med" len="med"/>
              </a:ln>
            </p:spPr>
          </p:sp>
          <p:sp>
            <p:nvSpPr>
              <p:cNvPr id="22552" name="Line 1126"/>
              <p:cNvSpPr/>
              <p:nvPr/>
            </p:nvSpPr>
            <p:spPr>
              <a:xfrm>
                <a:off x="4227" y="2550"/>
                <a:ext cx="1" cy="975"/>
              </a:xfrm>
              <a:prstGeom prst="line">
                <a:avLst/>
              </a:prstGeom>
              <a:ln w="0" cap="flat" cmpd="sng">
                <a:solidFill>
                  <a:srgbClr val="000000"/>
                </a:solidFill>
                <a:prstDash val="solid"/>
                <a:headEnd type="none" w="med" len="med"/>
                <a:tailEnd type="none" w="med" len="med"/>
              </a:ln>
            </p:spPr>
          </p:sp>
          <p:sp>
            <p:nvSpPr>
              <p:cNvPr id="22553" name="Line 1127"/>
              <p:cNvSpPr/>
              <p:nvPr/>
            </p:nvSpPr>
            <p:spPr>
              <a:xfrm>
                <a:off x="4348" y="2550"/>
                <a:ext cx="1" cy="975"/>
              </a:xfrm>
              <a:prstGeom prst="line">
                <a:avLst/>
              </a:prstGeom>
              <a:ln w="0" cap="flat" cmpd="sng">
                <a:solidFill>
                  <a:srgbClr val="000000"/>
                </a:solidFill>
                <a:prstDash val="solid"/>
                <a:headEnd type="none" w="med" len="med"/>
                <a:tailEnd type="none" w="med" len="med"/>
              </a:ln>
            </p:spPr>
          </p:sp>
          <p:sp>
            <p:nvSpPr>
              <p:cNvPr id="22554" name="Line 1128"/>
              <p:cNvSpPr/>
              <p:nvPr/>
            </p:nvSpPr>
            <p:spPr>
              <a:xfrm>
                <a:off x="4469" y="2550"/>
                <a:ext cx="1" cy="975"/>
              </a:xfrm>
              <a:prstGeom prst="line">
                <a:avLst/>
              </a:prstGeom>
              <a:ln w="0" cap="flat" cmpd="sng">
                <a:solidFill>
                  <a:srgbClr val="000000"/>
                </a:solidFill>
                <a:prstDash val="solid"/>
                <a:headEnd type="none" w="med" len="med"/>
                <a:tailEnd type="none" w="med" len="med"/>
              </a:ln>
            </p:spPr>
          </p:sp>
          <p:sp>
            <p:nvSpPr>
              <p:cNvPr id="22555" name="Line 1129"/>
              <p:cNvSpPr/>
              <p:nvPr/>
            </p:nvSpPr>
            <p:spPr>
              <a:xfrm>
                <a:off x="4589" y="2550"/>
                <a:ext cx="1" cy="975"/>
              </a:xfrm>
              <a:prstGeom prst="line">
                <a:avLst/>
              </a:prstGeom>
              <a:ln w="0" cap="flat" cmpd="sng">
                <a:solidFill>
                  <a:srgbClr val="000000"/>
                </a:solidFill>
                <a:prstDash val="solid"/>
                <a:headEnd type="none" w="med" len="med"/>
                <a:tailEnd type="none" w="med" len="med"/>
              </a:ln>
            </p:spPr>
          </p:sp>
          <p:sp>
            <p:nvSpPr>
              <p:cNvPr id="22556" name="Line 1130"/>
              <p:cNvSpPr/>
              <p:nvPr/>
            </p:nvSpPr>
            <p:spPr>
              <a:xfrm>
                <a:off x="4706" y="2550"/>
                <a:ext cx="1" cy="975"/>
              </a:xfrm>
              <a:prstGeom prst="line">
                <a:avLst/>
              </a:prstGeom>
              <a:ln w="0" cap="flat" cmpd="sng">
                <a:solidFill>
                  <a:srgbClr val="000000"/>
                </a:solidFill>
                <a:prstDash val="solid"/>
                <a:headEnd type="none" w="med" len="med"/>
                <a:tailEnd type="none" w="med" len="med"/>
              </a:ln>
            </p:spPr>
          </p:sp>
          <p:sp>
            <p:nvSpPr>
              <p:cNvPr id="22557" name="Line 1131"/>
              <p:cNvSpPr/>
              <p:nvPr/>
            </p:nvSpPr>
            <p:spPr>
              <a:xfrm>
                <a:off x="4827" y="2550"/>
                <a:ext cx="1" cy="975"/>
              </a:xfrm>
              <a:prstGeom prst="line">
                <a:avLst/>
              </a:prstGeom>
              <a:ln w="0" cap="flat" cmpd="sng">
                <a:solidFill>
                  <a:srgbClr val="000000"/>
                </a:solidFill>
                <a:prstDash val="solid"/>
                <a:headEnd type="none" w="med" len="med"/>
                <a:tailEnd type="none" w="med" len="med"/>
              </a:ln>
            </p:spPr>
          </p:sp>
          <p:sp>
            <p:nvSpPr>
              <p:cNvPr id="22558" name="Line 1132"/>
              <p:cNvSpPr/>
              <p:nvPr/>
            </p:nvSpPr>
            <p:spPr>
              <a:xfrm>
                <a:off x="4947" y="2550"/>
                <a:ext cx="1" cy="975"/>
              </a:xfrm>
              <a:prstGeom prst="line">
                <a:avLst/>
              </a:prstGeom>
              <a:ln w="0" cap="flat" cmpd="sng">
                <a:solidFill>
                  <a:srgbClr val="000000"/>
                </a:solidFill>
                <a:prstDash val="solid"/>
                <a:headEnd type="none" w="med" len="med"/>
                <a:tailEnd type="none" w="med" len="med"/>
              </a:ln>
            </p:spPr>
          </p:sp>
          <p:sp>
            <p:nvSpPr>
              <p:cNvPr id="22559" name="Rectangle 1133"/>
              <p:cNvSpPr/>
              <p:nvPr/>
            </p:nvSpPr>
            <p:spPr>
              <a:xfrm>
                <a:off x="3749" y="2550"/>
                <a:ext cx="1198" cy="975"/>
              </a:xfrm>
              <a:prstGeom prst="rect">
                <a:avLst/>
              </a:prstGeom>
              <a:noFill/>
              <a:ln w="6350"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sp>
            <p:nvSpPr>
              <p:cNvPr id="22560" name="Line 1134"/>
              <p:cNvSpPr/>
              <p:nvPr/>
            </p:nvSpPr>
            <p:spPr>
              <a:xfrm>
                <a:off x="3749" y="2550"/>
                <a:ext cx="1" cy="975"/>
              </a:xfrm>
              <a:prstGeom prst="line">
                <a:avLst/>
              </a:prstGeom>
              <a:ln w="0" cap="flat" cmpd="sng">
                <a:solidFill>
                  <a:srgbClr val="000000"/>
                </a:solidFill>
                <a:prstDash val="solid"/>
                <a:headEnd type="none" w="med" len="med"/>
                <a:tailEnd type="none" w="med" len="med"/>
              </a:ln>
            </p:spPr>
          </p:sp>
          <p:sp>
            <p:nvSpPr>
              <p:cNvPr id="22561" name="Line 1135"/>
              <p:cNvSpPr/>
              <p:nvPr/>
            </p:nvSpPr>
            <p:spPr>
              <a:xfrm>
                <a:off x="3737" y="3525"/>
                <a:ext cx="12" cy="1"/>
              </a:xfrm>
              <a:prstGeom prst="line">
                <a:avLst/>
              </a:prstGeom>
              <a:ln w="0" cap="flat" cmpd="sng">
                <a:solidFill>
                  <a:srgbClr val="000000"/>
                </a:solidFill>
                <a:prstDash val="solid"/>
                <a:headEnd type="none" w="med" len="med"/>
                <a:tailEnd type="none" w="med" len="med"/>
              </a:ln>
            </p:spPr>
          </p:sp>
          <p:sp>
            <p:nvSpPr>
              <p:cNvPr id="22562" name="Line 1136"/>
              <p:cNvSpPr/>
              <p:nvPr/>
            </p:nvSpPr>
            <p:spPr>
              <a:xfrm>
                <a:off x="3737" y="3428"/>
                <a:ext cx="12" cy="1"/>
              </a:xfrm>
              <a:prstGeom prst="line">
                <a:avLst/>
              </a:prstGeom>
              <a:ln w="0" cap="flat" cmpd="sng">
                <a:solidFill>
                  <a:srgbClr val="000000"/>
                </a:solidFill>
                <a:prstDash val="solid"/>
                <a:headEnd type="none" w="med" len="med"/>
                <a:tailEnd type="none" w="med" len="med"/>
              </a:ln>
            </p:spPr>
          </p:sp>
          <p:sp>
            <p:nvSpPr>
              <p:cNvPr id="22563" name="Line 1137"/>
              <p:cNvSpPr/>
              <p:nvPr/>
            </p:nvSpPr>
            <p:spPr>
              <a:xfrm>
                <a:off x="3737" y="3330"/>
                <a:ext cx="12" cy="1"/>
              </a:xfrm>
              <a:prstGeom prst="line">
                <a:avLst/>
              </a:prstGeom>
              <a:ln w="0" cap="flat" cmpd="sng">
                <a:solidFill>
                  <a:srgbClr val="000000"/>
                </a:solidFill>
                <a:prstDash val="solid"/>
                <a:headEnd type="none" w="med" len="med"/>
                <a:tailEnd type="none" w="med" len="med"/>
              </a:ln>
            </p:spPr>
          </p:sp>
          <p:sp>
            <p:nvSpPr>
              <p:cNvPr id="22564" name="Line 1138"/>
              <p:cNvSpPr/>
              <p:nvPr/>
            </p:nvSpPr>
            <p:spPr>
              <a:xfrm>
                <a:off x="3737" y="3233"/>
                <a:ext cx="12" cy="1"/>
              </a:xfrm>
              <a:prstGeom prst="line">
                <a:avLst/>
              </a:prstGeom>
              <a:ln w="0" cap="flat" cmpd="sng">
                <a:solidFill>
                  <a:srgbClr val="000000"/>
                </a:solidFill>
                <a:prstDash val="solid"/>
                <a:headEnd type="none" w="med" len="med"/>
                <a:tailEnd type="none" w="med" len="med"/>
              </a:ln>
            </p:spPr>
          </p:sp>
          <p:sp>
            <p:nvSpPr>
              <p:cNvPr id="22565" name="Line 1139"/>
              <p:cNvSpPr/>
              <p:nvPr/>
            </p:nvSpPr>
            <p:spPr>
              <a:xfrm>
                <a:off x="3737" y="3135"/>
                <a:ext cx="12" cy="1"/>
              </a:xfrm>
              <a:prstGeom prst="line">
                <a:avLst/>
              </a:prstGeom>
              <a:ln w="0" cap="flat" cmpd="sng">
                <a:solidFill>
                  <a:srgbClr val="000000"/>
                </a:solidFill>
                <a:prstDash val="solid"/>
                <a:headEnd type="none" w="med" len="med"/>
                <a:tailEnd type="none" w="med" len="med"/>
              </a:ln>
            </p:spPr>
          </p:sp>
          <p:sp>
            <p:nvSpPr>
              <p:cNvPr id="22566" name="Line 1140"/>
              <p:cNvSpPr/>
              <p:nvPr/>
            </p:nvSpPr>
            <p:spPr>
              <a:xfrm>
                <a:off x="3737" y="3037"/>
                <a:ext cx="12" cy="1"/>
              </a:xfrm>
              <a:prstGeom prst="line">
                <a:avLst/>
              </a:prstGeom>
              <a:ln w="0" cap="flat" cmpd="sng">
                <a:solidFill>
                  <a:srgbClr val="000000"/>
                </a:solidFill>
                <a:prstDash val="solid"/>
                <a:headEnd type="none" w="med" len="med"/>
                <a:tailEnd type="none" w="med" len="med"/>
              </a:ln>
            </p:spPr>
          </p:sp>
          <p:sp>
            <p:nvSpPr>
              <p:cNvPr id="22567" name="Line 1141"/>
              <p:cNvSpPr/>
              <p:nvPr/>
            </p:nvSpPr>
            <p:spPr>
              <a:xfrm>
                <a:off x="3737" y="2940"/>
                <a:ext cx="12" cy="1"/>
              </a:xfrm>
              <a:prstGeom prst="line">
                <a:avLst/>
              </a:prstGeom>
              <a:ln w="0" cap="flat" cmpd="sng">
                <a:solidFill>
                  <a:srgbClr val="000000"/>
                </a:solidFill>
                <a:prstDash val="solid"/>
                <a:headEnd type="none" w="med" len="med"/>
                <a:tailEnd type="none" w="med" len="med"/>
              </a:ln>
            </p:spPr>
          </p:sp>
          <p:sp>
            <p:nvSpPr>
              <p:cNvPr id="22568" name="Line 1142"/>
              <p:cNvSpPr/>
              <p:nvPr/>
            </p:nvSpPr>
            <p:spPr>
              <a:xfrm>
                <a:off x="3737" y="2842"/>
                <a:ext cx="12" cy="1"/>
              </a:xfrm>
              <a:prstGeom prst="line">
                <a:avLst/>
              </a:prstGeom>
              <a:ln w="0" cap="flat" cmpd="sng">
                <a:solidFill>
                  <a:srgbClr val="000000"/>
                </a:solidFill>
                <a:prstDash val="solid"/>
                <a:headEnd type="none" w="med" len="med"/>
                <a:tailEnd type="none" w="med" len="med"/>
              </a:ln>
            </p:spPr>
          </p:sp>
          <p:sp>
            <p:nvSpPr>
              <p:cNvPr id="22569" name="Line 1143"/>
              <p:cNvSpPr/>
              <p:nvPr/>
            </p:nvSpPr>
            <p:spPr>
              <a:xfrm>
                <a:off x="3737" y="2745"/>
                <a:ext cx="12" cy="1"/>
              </a:xfrm>
              <a:prstGeom prst="line">
                <a:avLst/>
              </a:prstGeom>
              <a:ln w="0" cap="flat" cmpd="sng">
                <a:solidFill>
                  <a:srgbClr val="000000"/>
                </a:solidFill>
                <a:prstDash val="solid"/>
                <a:headEnd type="none" w="med" len="med"/>
                <a:tailEnd type="none" w="med" len="med"/>
              </a:ln>
            </p:spPr>
          </p:sp>
          <p:sp>
            <p:nvSpPr>
              <p:cNvPr id="22570" name="Line 1144"/>
              <p:cNvSpPr/>
              <p:nvPr/>
            </p:nvSpPr>
            <p:spPr>
              <a:xfrm>
                <a:off x="3737" y="2647"/>
                <a:ext cx="12" cy="1"/>
              </a:xfrm>
              <a:prstGeom prst="line">
                <a:avLst/>
              </a:prstGeom>
              <a:ln w="0" cap="flat" cmpd="sng">
                <a:solidFill>
                  <a:srgbClr val="000000"/>
                </a:solidFill>
                <a:prstDash val="solid"/>
                <a:headEnd type="none" w="med" len="med"/>
                <a:tailEnd type="none" w="med" len="med"/>
              </a:ln>
            </p:spPr>
          </p:sp>
          <p:sp>
            <p:nvSpPr>
              <p:cNvPr id="22571" name="Line 1145"/>
              <p:cNvSpPr/>
              <p:nvPr/>
            </p:nvSpPr>
            <p:spPr>
              <a:xfrm>
                <a:off x="3737" y="2550"/>
                <a:ext cx="12" cy="1"/>
              </a:xfrm>
              <a:prstGeom prst="line">
                <a:avLst/>
              </a:prstGeom>
              <a:ln w="0" cap="flat" cmpd="sng">
                <a:solidFill>
                  <a:srgbClr val="000000"/>
                </a:solidFill>
                <a:prstDash val="solid"/>
                <a:headEnd type="none" w="med" len="med"/>
                <a:tailEnd type="none" w="med" len="med"/>
              </a:ln>
            </p:spPr>
          </p:sp>
          <p:sp>
            <p:nvSpPr>
              <p:cNvPr id="22572" name="Line 1146"/>
              <p:cNvSpPr/>
              <p:nvPr/>
            </p:nvSpPr>
            <p:spPr>
              <a:xfrm>
                <a:off x="3749" y="3525"/>
                <a:ext cx="1198" cy="1"/>
              </a:xfrm>
              <a:prstGeom prst="line">
                <a:avLst/>
              </a:prstGeom>
              <a:ln w="0" cap="flat" cmpd="sng">
                <a:solidFill>
                  <a:srgbClr val="000000"/>
                </a:solidFill>
                <a:prstDash val="solid"/>
                <a:headEnd type="none" w="med" len="med"/>
                <a:tailEnd type="none" w="med" len="med"/>
              </a:ln>
            </p:spPr>
          </p:sp>
          <p:sp>
            <p:nvSpPr>
              <p:cNvPr id="22573" name="Line 1147"/>
              <p:cNvSpPr/>
              <p:nvPr/>
            </p:nvSpPr>
            <p:spPr>
              <a:xfrm flipV="1">
                <a:off x="3749" y="3525"/>
                <a:ext cx="1" cy="12"/>
              </a:xfrm>
              <a:prstGeom prst="line">
                <a:avLst/>
              </a:prstGeom>
              <a:ln w="0" cap="flat" cmpd="sng">
                <a:solidFill>
                  <a:srgbClr val="000000"/>
                </a:solidFill>
                <a:prstDash val="solid"/>
                <a:headEnd type="none" w="med" len="med"/>
                <a:tailEnd type="none" w="med" len="med"/>
              </a:ln>
            </p:spPr>
          </p:sp>
          <p:sp>
            <p:nvSpPr>
              <p:cNvPr id="22574" name="Line 1148"/>
              <p:cNvSpPr/>
              <p:nvPr/>
            </p:nvSpPr>
            <p:spPr>
              <a:xfrm flipV="1">
                <a:off x="3869" y="3525"/>
                <a:ext cx="1" cy="12"/>
              </a:xfrm>
              <a:prstGeom prst="line">
                <a:avLst/>
              </a:prstGeom>
              <a:ln w="0" cap="flat" cmpd="sng">
                <a:solidFill>
                  <a:srgbClr val="000000"/>
                </a:solidFill>
                <a:prstDash val="solid"/>
                <a:headEnd type="none" w="med" len="med"/>
                <a:tailEnd type="none" w="med" len="med"/>
              </a:ln>
            </p:spPr>
          </p:sp>
          <p:sp>
            <p:nvSpPr>
              <p:cNvPr id="22575" name="Line 1149"/>
              <p:cNvSpPr/>
              <p:nvPr/>
            </p:nvSpPr>
            <p:spPr>
              <a:xfrm flipV="1">
                <a:off x="3990" y="3525"/>
                <a:ext cx="1" cy="12"/>
              </a:xfrm>
              <a:prstGeom prst="line">
                <a:avLst/>
              </a:prstGeom>
              <a:ln w="0" cap="flat" cmpd="sng">
                <a:solidFill>
                  <a:srgbClr val="000000"/>
                </a:solidFill>
                <a:prstDash val="solid"/>
                <a:headEnd type="none" w="med" len="med"/>
                <a:tailEnd type="none" w="med" len="med"/>
              </a:ln>
            </p:spPr>
          </p:sp>
          <p:sp>
            <p:nvSpPr>
              <p:cNvPr id="22576" name="Line 1150"/>
              <p:cNvSpPr/>
              <p:nvPr/>
            </p:nvSpPr>
            <p:spPr>
              <a:xfrm flipV="1">
                <a:off x="4107" y="3525"/>
                <a:ext cx="1" cy="12"/>
              </a:xfrm>
              <a:prstGeom prst="line">
                <a:avLst/>
              </a:prstGeom>
              <a:ln w="0" cap="flat" cmpd="sng">
                <a:solidFill>
                  <a:srgbClr val="000000"/>
                </a:solidFill>
                <a:prstDash val="solid"/>
                <a:headEnd type="none" w="med" len="med"/>
                <a:tailEnd type="none" w="med" len="med"/>
              </a:ln>
            </p:spPr>
          </p:sp>
          <p:sp>
            <p:nvSpPr>
              <p:cNvPr id="22577" name="Line 1151"/>
              <p:cNvSpPr/>
              <p:nvPr/>
            </p:nvSpPr>
            <p:spPr>
              <a:xfrm flipV="1">
                <a:off x="4227" y="3525"/>
                <a:ext cx="1" cy="12"/>
              </a:xfrm>
              <a:prstGeom prst="line">
                <a:avLst/>
              </a:prstGeom>
              <a:ln w="0" cap="flat" cmpd="sng">
                <a:solidFill>
                  <a:srgbClr val="000000"/>
                </a:solidFill>
                <a:prstDash val="solid"/>
                <a:headEnd type="none" w="med" len="med"/>
                <a:tailEnd type="none" w="med" len="med"/>
              </a:ln>
            </p:spPr>
          </p:sp>
          <p:sp>
            <p:nvSpPr>
              <p:cNvPr id="22578" name="Line 1152"/>
              <p:cNvSpPr/>
              <p:nvPr/>
            </p:nvSpPr>
            <p:spPr>
              <a:xfrm flipV="1">
                <a:off x="4348" y="3525"/>
                <a:ext cx="1" cy="12"/>
              </a:xfrm>
              <a:prstGeom prst="line">
                <a:avLst/>
              </a:prstGeom>
              <a:ln w="0" cap="flat" cmpd="sng">
                <a:solidFill>
                  <a:srgbClr val="000000"/>
                </a:solidFill>
                <a:prstDash val="solid"/>
                <a:headEnd type="none" w="med" len="med"/>
                <a:tailEnd type="none" w="med" len="med"/>
              </a:ln>
            </p:spPr>
          </p:sp>
          <p:sp>
            <p:nvSpPr>
              <p:cNvPr id="22579" name="Line 1153"/>
              <p:cNvSpPr/>
              <p:nvPr/>
            </p:nvSpPr>
            <p:spPr>
              <a:xfrm flipV="1">
                <a:off x="4469" y="3525"/>
                <a:ext cx="1" cy="12"/>
              </a:xfrm>
              <a:prstGeom prst="line">
                <a:avLst/>
              </a:prstGeom>
              <a:ln w="0" cap="flat" cmpd="sng">
                <a:solidFill>
                  <a:srgbClr val="000000"/>
                </a:solidFill>
                <a:prstDash val="solid"/>
                <a:headEnd type="none" w="med" len="med"/>
                <a:tailEnd type="none" w="med" len="med"/>
              </a:ln>
            </p:spPr>
          </p:sp>
          <p:sp>
            <p:nvSpPr>
              <p:cNvPr id="22580" name="Line 1154"/>
              <p:cNvSpPr/>
              <p:nvPr/>
            </p:nvSpPr>
            <p:spPr>
              <a:xfrm flipV="1">
                <a:off x="4589" y="3525"/>
                <a:ext cx="1" cy="12"/>
              </a:xfrm>
              <a:prstGeom prst="line">
                <a:avLst/>
              </a:prstGeom>
              <a:ln w="0" cap="flat" cmpd="sng">
                <a:solidFill>
                  <a:srgbClr val="000000"/>
                </a:solidFill>
                <a:prstDash val="solid"/>
                <a:headEnd type="none" w="med" len="med"/>
                <a:tailEnd type="none" w="med" len="med"/>
              </a:ln>
            </p:spPr>
          </p:sp>
          <p:sp>
            <p:nvSpPr>
              <p:cNvPr id="22581" name="Line 1155"/>
              <p:cNvSpPr/>
              <p:nvPr/>
            </p:nvSpPr>
            <p:spPr>
              <a:xfrm flipV="1">
                <a:off x="4706" y="3525"/>
                <a:ext cx="1" cy="12"/>
              </a:xfrm>
              <a:prstGeom prst="line">
                <a:avLst/>
              </a:prstGeom>
              <a:ln w="0" cap="flat" cmpd="sng">
                <a:solidFill>
                  <a:srgbClr val="000000"/>
                </a:solidFill>
                <a:prstDash val="solid"/>
                <a:headEnd type="none" w="med" len="med"/>
                <a:tailEnd type="none" w="med" len="med"/>
              </a:ln>
            </p:spPr>
          </p:sp>
          <p:sp>
            <p:nvSpPr>
              <p:cNvPr id="22582" name="Line 1156"/>
              <p:cNvSpPr/>
              <p:nvPr/>
            </p:nvSpPr>
            <p:spPr>
              <a:xfrm flipV="1">
                <a:off x="4827" y="3525"/>
                <a:ext cx="1" cy="12"/>
              </a:xfrm>
              <a:prstGeom prst="line">
                <a:avLst/>
              </a:prstGeom>
              <a:ln w="0" cap="flat" cmpd="sng">
                <a:solidFill>
                  <a:srgbClr val="000000"/>
                </a:solidFill>
                <a:prstDash val="solid"/>
                <a:headEnd type="none" w="med" len="med"/>
                <a:tailEnd type="none" w="med" len="med"/>
              </a:ln>
            </p:spPr>
          </p:sp>
          <p:sp>
            <p:nvSpPr>
              <p:cNvPr id="22583" name="Line 1157"/>
              <p:cNvSpPr/>
              <p:nvPr/>
            </p:nvSpPr>
            <p:spPr>
              <a:xfrm flipV="1">
                <a:off x="4947" y="3525"/>
                <a:ext cx="1" cy="12"/>
              </a:xfrm>
              <a:prstGeom prst="line">
                <a:avLst/>
              </a:prstGeom>
              <a:ln w="0" cap="flat" cmpd="sng">
                <a:solidFill>
                  <a:srgbClr val="000000"/>
                </a:solidFill>
                <a:prstDash val="solid"/>
                <a:headEnd type="none" w="med" len="med"/>
                <a:tailEnd type="none" w="med" len="med"/>
              </a:ln>
            </p:spPr>
          </p:sp>
          <p:sp>
            <p:nvSpPr>
              <p:cNvPr id="22584" name="Freeform 1158"/>
              <p:cNvSpPr/>
              <p:nvPr/>
            </p:nvSpPr>
            <p:spPr>
              <a:xfrm>
                <a:off x="4079" y="3107"/>
                <a:ext cx="56" cy="56"/>
              </a:xfrm>
              <a:custGeom>
                <a:avLst/>
                <a:gdLst>
                  <a:gd name="txL" fmla="*/ 0 w 56"/>
                  <a:gd name="txT" fmla="*/ 0 h 56"/>
                  <a:gd name="txR" fmla="*/ 56 w 56"/>
                  <a:gd name="txB" fmla="*/ 56 h 56"/>
                </a:gdLst>
                <a:ahLst/>
                <a:cxnLst>
                  <a:cxn ang="0">
                    <a:pos x="28" y="0"/>
                  </a:cxn>
                  <a:cxn ang="0">
                    <a:pos x="56" y="28"/>
                  </a:cxn>
                  <a:cxn ang="0">
                    <a:pos x="28" y="56"/>
                  </a:cxn>
                  <a:cxn ang="0">
                    <a:pos x="0" y="28"/>
                  </a:cxn>
                  <a:cxn ang="0">
                    <a:pos x="28" y="0"/>
                  </a:cxn>
                </a:cxnLst>
                <a:rect l="txL" t="txT" r="txR" b="txB"/>
                <a:pathLst>
                  <a:path w="56" h="56">
                    <a:moveTo>
                      <a:pt x="28" y="0"/>
                    </a:moveTo>
                    <a:lnTo>
                      <a:pt x="56" y="28"/>
                    </a:lnTo>
                    <a:lnTo>
                      <a:pt x="28" y="56"/>
                    </a:lnTo>
                    <a:lnTo>
                      <a:pt x="0" y="28"/>
                    </a:lnTo>
                    <a:lnTo>
                      <a:pt x="28" y="0"/>
                    </a:lnTo>
                    <a:close/>
                  </a:path>
                </a:pathLst>
              </a:custGeom>
              <a:solidFill>
                <a:srgbClr val="00FFFF">
                  <a:alpha val="100000"/>
                </a:srgbClr>
              </a:solidFill>
              <a:ln w="6350" cap="flat" cmpd="sng">
                <a:solidFill>
                  <a:srgbClr val="000080">
                    <a:alpha val="100000"/>
                  </a:srgbClr>
                </a:solidFill>
                <a:prstDash val="solid"/>
                <a:round/>
                <a:headEnd type="none" w="med" len="med"/>
                <a:tailEnd type="none" w="med" len="med"/>
              </a:ln>
            </p:spPr>
            <p:txBody>
              <a:bodyPr/>
              <a:p>
                <a:endParaRPr lang="en-US"/>
              </a:p>
            </p:txBody>
          </p:sp>
          <p:sp>
            <p:nvSpPr>
              <p:cNvPr id="22585" name="Freeform 1159"/>
              <p:cNvSpPr/>
              <p:nvPr/>
            </p:nvSpPr>
            <p:spPr>
              <a:xfrm>
                <a:off x="4079" y="2911"/>
                <a:ext cx="56" cy="57"/>
              </a:xfrm>
              <a:custGeom>
                <a:avLst/>
                <a:gdLst>
                  <a:gd name="txL" fmla="*/ 0 w 56"/>
                  <a:gd name="txT" fmla="*/ 0 h 57"/>
                  <a:gd name="txR" fmla="*/ 56 w 56"/>
                  <a:gd name="txB" fmla="*/ 57 h 57"/>
                </a:gdLst>
                <a:ahLst/>
                <a:cxnLst>
                  <a:cxn ang="0">
                    <a:pos x="28" y="0"/>
                  </a:cxn>
                  <a:cxn ang="0">
                    <a:pos x="56" y="29"/>
                  </a:cxn>
                  <a:cxn ang="0">
                    <a:pos x="28" y="57"/>
                  </a:cxn>
                  <a:cxn ang="0">
                    <a:pos x="0" y="29"/>
                  </a:cxn>
                  <a:cxn ang="0">
                    <a:pos x="28" y="0"/>
                  </a:cxn>
                </a:cxnLst>
                <a:rect l="txL" t="txT" r="txR" b="txB"/>
                <a:pathLst>
                  <a:path w="56" h="57">
                    <a:moveTo>
                      <a:pt x="28" y="0"/>
                    </a:moveTo>
                    <a:lnTo>
                      <a:pt x="56" y="29"/>
                    </a:lnTo>
                    <a:lnTo>
                      <a:pt x="28" y="57"/>
                    </a:lnTo>
                    <a:lnTo>
                      <a:pt x="0" y="29"/>
                    </a:lnTo>
                    <a:lnTo>
                      <a:pt x="28" y="0"/>
                    </a:lnTo>
                    <a:close/>
                  </a:path>
                </a:pathLst>
              </a:custGeom>
              <a:solidFill>
                <a:srgbClr val="00FFFF">
                  <a:alpha val="100000"/>
                </a:srgbClr>
              </a:solidFill>
              <a:ln w="6350" cap="flat" cmpd="sng">
                <a:solidFill>
                  <a:srgbClr val="000080">
                    <a:alpha val="100000"/>
                  </a:srgbClr>
                </a:solidFill>
                <a:prstDash val="solid"/>
                <a:round/>
                <a:headEnd type="none" w="med" len="med"/>
                <a:tailEnd type="none" w="med" len="med"/>
              </a:ln>
            </p:spPr>
            <p:txBody>
              <a:bodyPr/>
              <a:p>
                <a:endParaRPr lang="en-US"/>
              </a:p>
            </p:txBody>
          </p:sp>
          <p:sp>
            <p:nvSpPr>
              <p:cNvPr id="22586" name="Freeform 1160"/>
              <p:cNvSpPr/>
              <p:nvPr/>
            </p:nvSpPr>
            <p:spPr>
              <a:xfrm>
                <a:off x="4561" y="3204"/>
                <a:ext cx="57" cy="57"/>
              </a:xfrm>
              <a:custGeom>
                <a:avLst/>
                <a:gdLst>
                  <a:gd name="txL" fmla="*/ 0 w 57"/>
                  <a:gd name="txT" fmla="*/ 0 h 57"/>
                  <a:gd name="txR" fmla="*/ 57 w 57"/>
                  <a:gd name="txB" fmla="*/ 57 h 57"/>
                </a:gdLst>
                <a:ahLst/>
                <a:cxnLst>
                  <a:cxn ang="0">
                    <a:pos x="28" y="0"/>
                  </a:cxn>
                  <a:cxn ang="0">
                    <a:pos x="57" y="29"/>
                  </a:cxn>
                  <a:cxn ang="0">
                    <a:pos x="28" y="57"/>
                  </a:cxn>
                  <a:cxn ang="0">
                    <a:pos x="0" y="29"/>
                  </a:cxn>
                  <a:cxn ang="0">
                    <a:pos x="28" y="0"/>
                  </a:cxn>
                </a:cxnLst>
                <a:rect l="txL" t="txT" r="txR" b="txB"/>
                <a:pathLst>
                  <a:path w="57" h="57">
                    <a:moveTo>
                      <a:pt x="28" y="0"/>
                    </a:moveTo>
                    <a:lnTo>
                      <a:pt x="57" y="29"/>
                    </a:lnTo>
                    <a:lnTo>
                      <a:pt x="28" y="57"/>
                    </a:lnTo>
                    <a:lnTo>
                      <a:pt x="0" y="29"/>
                    </a:lnTo>
                    <a:lnTo>
                      <a:pt x="28" y="0"/>
                    </a:lnTo>
                    <a:close/>
                  </a:path>
                </a:pathLst>
              </a:custGeom>
              <a:solidFill>
                <a:srgbClr val="000080">
                  <a:alpha val="100000"/>
                </a:srgbClr>
              </a:solidFill>
              <a:ln w="6350" cap="flat" cmpd="sng">
                <a:solidFill>
                  <a:srgbClr val="000080">
                    <a:alpha val="100000"/>
                  </a:srgbClr>
                </a:solidFill>
                <a:prstDash val="solid"/>
                <a:round/>
                <a:headEnd type="none" w="med" len="med"/>
                <a:tailEnd type="none" w="med" len="med"/>
              </a:ln>
            </p:spPr>
            <p:txBody>
              <a:bodyPr/>
              <a:p>
                <a:endParaRPr lang="en-US"/>
              </a:p>
            </p:txBody>
          </p:sp>
          <p:sp>
            <p:nvSpPr>
              <p:cNvPr id="22587" name="Freeform 1161"/>
              <p:cNvSpPr/>
              <p:nvPr/>
            </p:nvSpPr>
            <p:spPr>
              <a:xfrm>
                <a:off x="4199" y="2814"/>
                <a:ext cx="57" cy="57"/>
              </a:xfrm>
              <a:custGeom>
                <a:avLst/>
                <a:gdLst>
                  <a:gd name="txL" fmla="*/ 0 w 57"/>
                  <a:gd name="txT" fmla="*/ 0 h 57"/>
                  <a:gd name="txR" fmla="*/ 57 w 57"/>
                  <a:gd name="txB" fmla="*/ 57 h 57"/>
                </a:gdLst>
                <a:ahLst/>
                <a:cxnLst>
                  <a:cxn ang="0">
                    <a:pos x="28" y="0"/>
                  </a:cxn>
                  <a:cxn ang="0">
                    <a:pos x="57" y="28"/>
                  </a:cxn>
                  <a:cxn ang="0">
                    <a:pos x="28" y="57"/>
                  </a:cxn>
                  <a:cxn ang="0">
                    <a:pos x="0" y="28"/>
                  </a:cxn>
                  <a:cxn ang="0">
                    <a:pos x="28" y="0"/>
                  </a:cxn>
                </a:cxnLst>
                <a:rect l="txL" t="txT" r="txR" b="txB"/>
                <a:pathLst>
                  <a:path w="57" h="57">
                    <a:moveTo>
                      <a:pt x="28" y="0"/>
                    </a:moveTo>
                    <a:lnTo>
                      <a:pt x="57" y="28"/>
                    </a:lnTo>
                    <a:lnTo>
                      <a:pt x="28" y="57"/>
                    </a:lnTo>
                    <a:lnTo>
                      <a:pt x="0" y="28"/>
                    </a:lnTo>
                    <a:lnTo>
                      <a:pt x="28" y="0"/>
                    </a:lnTo>
                    <a:close/>
                  </a:path>
                </a:pathLst>
              </a:custGeom>
              <a:solidFill>
                <a:srgbClr val="00FFFF">
                  <a:alpha val="100000"/>
                </a:srgbClr>
              </a:solidFill>
              <a:ln w="6350" cap="flat" cmpd="sng">
                <a:solidFill>
                  <a:srgbClr val="000080">
                    <a:alpha val="100000"/>
                  </a:srgbClr>
                </a:solidFill>
                <a:prstDash val="solid"/>
                <a:round/>
                <a:headEnd type="none" w="med" len="med"/>
                <a:tailEnd type="none" w="med" len="med"/>
              </a:ln>
            </p:spPr>
            <p:txBody>
              <a:bodyPr/>
              <a:p>
                <a:endParaRPr lang="en-US"/>
              </a:p>
            </p:txBody>
          </p:sp>
          <p:sp>
            <p:nvSpPr>
              <p:cNvPr id="22588" name="Freeform 1162"/>
              <p:cNvSpPr/>
              <p:nvPr/>
            </p:nvSpPr>
            <p:spPr>
              <a:xfrm>
                <a:off x="4079" y="2716"/>
                <a:ext cx="56" cy="57"/>
              </a:xfrm>
              <a:custGeom>
                <a:avLst/>
                <a:gdLst>
                  <a:gd name="txL" fmla="*/ 0 w 56"/>
                  <a:gd name="txT" fmla="*/ 0 h 57"/>
                  <a:gd name="txR" fmla="*/ 56 w 56"/>
                  <a:gd name="txB" fmla="*/ 57 h 57"/>
                </a:gdLst>
                <a:ahLst/>
                <a:cxnLst>
                  <a:cxn ang="0">
                    <a:pos x="28" y="0"/>
                  </a:cxn>
                  <a:cxn ang="0">
                    <a:pos x="56" y="29"/>
                  </a:cxn>
                  <a:cxn ang="0">
                    <a:pos x="28" y="57"/>
                  </a:cxn>
                  <a:cxn ang="0">
                    <a:pos x="0" y="29"/>
                  </a:cxn>
                  <a:cxn ang="0">
                    <a:pos x="28" y="0"/>
                  </a:cxn>
                </a:cxnLst>
                <a:rect l="txL" t="txT" r="txR" b="txB"/>
                <a:pathLst>
                  <a:path w="56" h="57">
                    <a:moveTo>
                      <a:pt x="28" y="0"/>
                    </a:moveTo>
                    <a:lnTo>
                      <a:pt x="56" y="29"/>
                    </a:lnTo>
                    <a:lnTo>
                      <a:pt x="28" y="57"/>
                    </a:lnTo>
                    <a:lnTo>
                      <a:pt x="0" y="29"/>
                    </a:lnTo>
                    <a:lnTo>
                      <a:pt x="28" y="0"/>
                    </a:lnTo>
                    <a:close/>
                  </a:path>
                </a:pathLst>
              </a:custGeom>
              <a:solidFill>
                <a:srgbClr val="00FFFF">
                  <a:alpha val="100000"/>
                </a:srgbClr>
              </a:solidFill>
              <a:ln w="6350" cap="flat" cmpd="sng">
                <a:solidFill>
                  <a:srgbClr val="000080">
                    <a:alpha val="100000"/>
                  </a:srgbClr>
                </a:solidFill>
                <a:prstDash val="solid"/>
                <a:round/>
                <a:headEnd type="none" w="med" len="med"/>
                <a:tailEnd type="none" w="med" len="med"/>
              </a:ln>
            </p:spPr>
            <p:txBody>
              <a:bodyPr/>
              <a:p>
                <a:endParaRPr lang="en-US"/>
              </a:p>
            </p:txBody>
          </p:sp>
          <p:sp>
            <p:nvSpPr>
              <p:cNvPr id="22589" name="Freeform 1163"/>
              <p:cNvSpPr/>
              <p:nvPr/>
            </p:nvSpPr>
            <p:spPr>
              <a:xfrm>
                <a:off x="4678" y="3009"/>
                <a:ext cx="56" cy="57"/>
              </a:xfrm>
              <a:custGeom>
                <a:avLst/>
                <a:gdLst>
                  <a:gd name="txL" fmla="*/ 0 w 56"/>
                  <a:gd name="txT" fmla="*/ 0 h 57"/>
                  <a:gd name="txR" fmla="*/ 56 w 56"/>
                  <a:gd name="txB" fmla="*/ 57 h 57"/>
                </a:gdLst>
                <a:ahLst/>
                <a:cxnLst>
                  <a:cxn ang="0">
                    <a:pos x="28" y="0"/>
                  </a:cxn>
                  <a:cxn ang="0">
                    <a:pos x="56" y="28"/>
                  </a:cxn>
                  <a:cxn ang="0">
                    <a:pos x="28" y="57"/>
                  </a:cxn>
                  <a:cxn ang="0">
                    <a:pos x="0" y="28"/>
                  </a:cxn>
                  <a:cxn ang="0">
                    <a:pos x="28" y="0"/>
                  </a:cxn>
                </a:cxnLst>
                <a:rect l="txL" t="txT" r="txR" b="txB"/>
                <a:pathLst>
                  <a:path w="56" h="57">
                    <a:moveTo>
                      <a:pt x="28" y="0"/>
                    </a:moveTo>
                    <a:lnTo>
                      <a:pt x="56" y="28"/>
                    </a:lnTo>
                    <a:lnTo>
                      <a:pt x="28" y="57"/>
                    </a:lnTo>
                    <a:lnTo>
                      <a:pt x="0" y="28"/>
                    </a:lnTo>
                    <a:lnTo>
                      <a:pt x="28" y="0"/>
                    </a:lnTo>
                    <a:close/>
                  </a:path>
                </a:pathLst>
              </a:custGeom>
              <a:solidFill>
                <a:srgbClr val="000080">
                  <a:alpha val="100000"/>
                </a:srgbClr>
              </a:solidFill>
              <a:ln w="6350" cap="flat" cmpd="sng">
                <a:solidFill>
                  <a:srgbClr val="000080">
                    <a:alpha val="100000"/>
                  </a:srgbClr>
                </a:solidFill>
                <a:prstDash val="solid"/>
                <a:round/>
                <a:headEnd type="none" w="med" len="med"/>
                <a:tailEnd type="none" w="med" len="med"/>
              </a:ln>
            </p:spPr>
            <p:txBody>
              <a:bodyPr/>
              <a:p>
                <a:endParaRPr lang="en-US"/>
              </a:p>
            </p:txBody>
          </p:sp>
          <p:sp>
            <p:nvSpPr>
              <p:cNvPr id="22590" name="Freeform 1164"/>
              <p:cNvSpPr/>
              <p:nvPr/>
            </p:nvSpPr>
            <p:spPr>
              <a:xfrm>
                <a:off x="4199" y="3009"/>
                <a:ext cx="57" cy="57"/>
              </a:xfrm>
              <a:custGeom>
                <a:avLst/>
                <a:gdLst>
                  <a:gd name="txL" fmla="*/ 0 w 57"/>
                  <a:gd name="txT" fmla="*/ 0 h 57"/>
                  <a:gd name="txR" fmla="*/ 57 w 57"/>
                  <a:gd name="txB" fmla="*/ 57 h 57"/>
                </a:gdLst>
                <a:ahLst/>
                <a:cxnLst>
                  <a:cxn ang="0">
                    <a:pos x="28" y="0"/>
                  </a:cxn>
                  <a:cxn ang="0">
                    <a:pos x="57" y="28"/>
                  </a:cxn>
                  <a:cxn ang="0">
                    <a:pos x="28" y="57"/>
                  </a:cxn>
                  <a:cxn ang="0">
                    <a:pos x="0" y="28"/>
                  </a:cxn>
                  <a:cxn ang="0">
                    <a:pos x="28" y="0"/>
                  </a:cxn>
                </a:cxnLst>
                <a:rect l="txL" t="txT" r="txR" b="txB"/>
                <a:pathLst>
                  <a:path w="57" h="57">
                    <a:moveTo>
                      <a:pt x="28" y="0"/>
                    </a:moveTo>
                    <a:lnTo>
                      <a:pt x="57" y="28"/>
                    </a:lnTo>
                    <a:lnTo>
                      <a:pt x="28" y="57"/>
                    </a:lnTo>
                    <a:lnTo>
                      <a:pt x="0" y="28"/>
                    </a:lnTo>
                    <a:lnTo>
                      <a:pt x="28" y="0"/>
                    </a:lnTo>
                    <a:close/>
                  </a:path>
                </a:pathLst>
              </a:custGeom>
              <a:solidFill>
                <a:srgbClr val="00FFFF">
                  <a:alpha val="100000"/>
                </a:srgbClr>
              </a:solidFill>
              <a:ln w="6350" cap="flat" cmpd="sng">
                <a:solidFill>
                  <a:srgbClr val="000080">
                    <a:alpha val="100000"/>
                  </a:srgbClr>
                </a:solidFill>
                <a:prstDash val="solid"/>
                <a:round/>
                <a:headEnd type="none" w="med" len="med"/>
                <a:tailEnd type="none" w="med" len="med"/>
              </a:ln>
            </p:spPr>
            <p:txBody>
              <a:bodyPr/>
              <a:p>
                <a:endParaRPr lang="en-US"/>
              </a:p>
            </p:txBody>
          </p:sp>
          <p:sp>
            <p:nvSpPr>
              <p:cNvPr id="22591" name="Freeform 1165"/>
              <p:cNvSpPr/>
              <p:nvPr/>
            </p:nvSpPr>
            <p:spPr>
              <a:xfrm>
                <a:off x="4320" y="3399"/>
                <a:ext cx="56" cy="57"/>
              </a:xfrm>
              <a:custGeom>
                <a:avLst/>
                <a:gdLst>
                  <a:gd name="txL" fmla="*/ 0 w 56"/>
                  <a:gd name="txT" fmla="*/ 0 h 57"/>
                  <a:gd name="txR" fmla="*/ 56 w 56"/>
                  <a:gd name="txB" fmla="*/ 57 h 57"/>
                </a:gdLst>
                <a:ahLst/>
                <a:cxnLst>
                  <a:cxn ang="0">
                    <a:pos x="28" y="0"/>
                  </a:cxn>
                  <a:cxn ang="0">
                    <a:pos x="56" y="29"/>
                  </a:cxn>
                  <a:cxn ang="0">
                    <a:pos x="28" y="57"/>
                  </a:cxn>
                  <a:cxn ang="0">
                    <a:pos x="0" y="29"/>
                  </a:cxn>
                  <a:cxn ang="0">
                    <a:pos x="28" y="0"/>
                  </a:cxn>
                </a:cxnLst>
                <a:rect l="txL" t="txT" r="txR" b="txB"/>
                <a:pathLst>
                  <a:path w="56" h="57">
                    <a:moveTo>
                      <a:pt x="28" y="0"/>
                    </a:moveTo>
                    <a:lnTo>
                      <a:pt x="56" y="29"/>
                    </a:lnTo>
                    <a:lnTo>
                      <a:pt x="28" y="57"/>
                    </a:lnTo>
                    <a:lnTo>
                      <a:pt x="0" y="29"/>
                    </a:lnTo>
                    <a:lnTo>
                      <a:pt x="28" y="0"/>
                    </a:lnTo>
                    <a:close/>
                  </a:path>
                </a:pathLst>
              </a:custGeom>
              <a:solidFill>
                <a:srgbClr val="000080">
                  <a:alpha val="100000"/>
                </a:srgbClr>
              </a:solidFill>
              <a:ln w="6350" cap="flat" cmpd="sng">
                <a:solidFill>
                  <a:srgbClr val="000080">
                    <a:alpha val="100000"/>
                  </a:srgbClr>
                </a:solidFill>
                <a:prstDash val="solid"/>
                <a:round/>
                <a:headEnd type="none" w="med" len="med"/>
                <a:tailEnd type="none" w="med" len="med"/>
              </a:ln>
            </p:spPr>
            <p:txBody>
              <a:bodyPr/>
              <a:p>
                <a:endParaRPr lang="en-US"/>
              </a:p>
            </p:txBody>
          </p:sp>
          <p:sp>
            <p:nvSpPr>
              <p:cNvPr id="22592" name="Freeform 1166"/>
              <p:cNvSpPr/>
              <p:nvPr/>
            </p:nvSpPr>
            <p:spPr>
              <a:xfrm>
                <a:off x="4561" y="3107"/>
                <a:ext cx="57" cy="56"/>
              </a:xfrm>
              <a:custGeom>
                <a:avLst/>
                <a:gdLst>
                  <a:gd name="txL" fmla="*/ 0 w 57"/>
                  <a:gd name="txT" fmla="*/ 0 h 56"/>
                  <a:gd name="txR" fmla="*/ 57 w 57"/>
                  <a:gd name="txB" fmla="*/ 56 h 56"/>
                </a:gdLst>
                <a:ahLst/>
                <a:cxnLst>
                  <a:cxn ang="0">
                    <a:pos x="28" y="0"/>
                  </a:cxn>
                  <a:cxn ang="0">
                    <a:pos x="57" y="28"/>
                  </a:cxn>
                  <a:cxn ang="0">
                    <a:pos x="28" y="56"/>
                  </a:cxn>
                  <a:cxn ang="0">
                    <a:pos x="0" y="28"/>
                  </a:cxn>
                  <a:cxn ang="0">
                    <a:pos x="28" y="0"/>
                  </a:cxn>
                </a:cxnLst>
                <a:rect l="txL" t="txT" r="txR" b="txB"/>
                <a:pathLst>
                  <a:path w="57" h="56">
                    <a:moveTo>
                      <a:pt x="28" y="0"/>
                    </a:moveTo>
                    <a:lnTo>
                      <a:pt x="57" y="28"/>
                    </a:lnTo>
                    <a:lnTo>
                      <a:pt x="28" y="56"/>
                    </a:lnTo>
                    <a:lnTo>
                      <a:pt x="0" y="28"/>
                    </a:lnTo>
                    <a:lnTo>
                      <a:pt x="28" y="0"/>
                    </a:lnTo>
                    <a:close/>
                  </a:path>
                </a:pathLst>
              </a:custGeom>
              <a:solidFill>
                <a:srgbClr val="000080">
                  <a:alpha val="100000"/>
                </a:srgbClr>
              </a:solidFill>
              <a:ln w="6350" cap="flat" cmpd="sng">
                <a:solidFill>
                  <a:srgbClr val="000080">
                    <a:alpha val="100000"/>
                  </a:srgbClr>
                </a:solidFill>
                <a:prstDash val="solid"/>
                <a:round/>
                <a:headEnd type="none" w="med" len="med"/>
                <a:tailEnd type="none" w="med" len="med"/>
              </a:ln>
            </p:spPr>
            <p:txBody>
              <a:bodyPr/>
              <a:p>
                <a:endParaRPr lang="en-US"/>
              </a:p>
            </p:txBody>
          </p:sp>
          <p:sp>
            <p:nvSpPr>
              <p:cNvPr id="22593" name="Freeform 1167"/>
              <p:cNvSpPr/>
              <p:nvPr/>
            </p:nvSpPr>
            <p:spPr>
              <a:xfrm>
                <a:off x="4320" y="3009"/>
                <a:ext cx="56" cy="57"/>
              </a:xfrm>
              <a:custGeom>
                <a:avLst/>
                <a:gdLst>
                  <a:gd name="txL" fmla="*/ 0 w 56"/>
                  <a:gd name="txT" fmla="*/ 0 h 57"/>
                  <a:gd name="txR" fmla="*/ 56 w 56"/>
                  <a:gd name="txB" fmla="*/ 57 h 57"/>
                </a:gdLst>
                <a:ahLst/>
                <a:cxnLst>
                  <a:cxn ang="0">
                    <a:pos x="28" y="0"/>
                  </a:cxn>
                  <a:cxn ang="0">
                    <a:pos x="56" y="28"/>
                  </a:cxn>
                  <a:cxn ang="0">
                    <a:pos x="28" y="57"/>
                  </a:cxn>
                  <a:cxn ang="0">
                    <a:pos x="0" y="28"/>
                  </a:cxn>
                  <a:cxn ang="0">
                    <a:pos x="28" y="0"/>
                  </a:cxn>
                </a:cxnLst>
                <a:rect l="txL" t="txT" r="txR" b="txB"/>
                <a:pathLst>
                  <a:path w="56" h="57">
                    <a:moveTo>
                      <a:pt x="28" y="0"/>
                    </a:moveTo>
                    <a:lnTo>
                      <a:pt x="56" y="28"/>
                    </a:lnTo>
                    <a:lnTo>
                      <a:pt x="28" y="57"/>
                    </a:lnTo>
                    <a:lnTo>
                      <a:pt x="0" y="28"/>
                    </a:lnTo>
                    <a:lnTo>
                      <a:pt x="28" y="0"/>
                    </a:lnTo>
                    <a:close/>
                  </a:path>
                </a:pathLst>
              </a:custGeom>
              <a:solidFill>
                <a:srgbClr val="00FFFF">
                  <a:alpha val="100000"/>
                </a:srgbClr>
              </a:solidFill>
              <a:ln w="6350" cap="flat" cmpd="sng">
                <a:solidFill>
                  <a:srgbClr val="000080">
                    <a:alpha val="100000"/>
                  </a:srgbClr>
                </a:solidFill>
                <a:prstDash val="solid"/>
                <a:round/>
                <a:headEnd type="none" w="med" len="med"/>
                <a:tailEnd type="none" w="med" len="med"/>
              </a:ln>
            </p:spPr>
            <p:txBody>
              <a:bodyPr/>
              <a:p>
                <a:endParaRPr lang="en-US"/>
              </a:p>
            </p:txBody>
          </p:sp>
          <p:sp>
            <p:nvSpPr>
              <p:cNvPr id="22594" name="Rectangle 1168"/>
              <p:cNvSpPr/>
              <p:nvPr/>
            </p:nvSpPr>
            <p:spPr>
              <a:xfrm>
                <a:off x="3693" y="3497"/>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0</a:t>
                </a:r>
                <a:endParaRPr lang="ko-KR" altLang="en-US" dirty="0">
                  <a:latin typeface="Tahoma" panose="020B0604030504040204" pitchFamily="34" charset="0"/>
                  <a:ea typeface="Gulim" panose="020B0600000101010101" pitchFamily="34" charset="-127"/>
                </a:endParaRPr>
              </a:p>
            </p:txBody>
          </p:sp>
          <p:sp>
            <p:nvSpPr>
              <p:cNvPr id="22595" name="Rectangle 1169"/>
              <p:cNvSpPr/>
              <p:nvPr/>
            </p:nvSpPr>
            <p:spPr>
              <a:xfrm>
                <a:off x="3693" y="3399"/>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1</a:t>
                </a:r>
                <a:endParaRPr lang="ko-KR" altLang="en-US" dirty="0">
                  <a:latin typeface="Tahoma" panose="020B0604030504040204" pitchFamily="34" charset="0"/>
                  <a:ea typeface="Gulim" panose="020B0600000101010101" pitchFamily="34" charset="-127"/>
                </a:endParaRPr>
              </a:p>
            </p:txBody>
          </p:sp>
          <p:sp>
            <p:nvSpPr>
              <p:cNvPr id="22596" name="Rectangle 1170"/>
              <p:cNvSpPr/>
              <p:nvPr/>
            </p:nvSpPr>
            <p:spPr>
              <a:xfrm>
                <a:off x="3693" y="3302"/>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2</a:t>
                </a:r>
                <a:endParaRPr lang="ko-KR" altLang="en-US" dirty="0">
                  <a:latin typeface="Tahoma" panose="020B0604030504040204" pitchFamily="34" charset="0"/>
                  <a:ea typeface="Gulim" panose="020B0600000101010101" pitchFamily="34" charset="-127"/>
                </a:endParaRPr>
              </a:p>
            </p:txBody>
          </p:sp>
          <p:sp>
            <p:nvSpPr>
              <p:cNvPr id="22597" name="Rectangle 1171"/>
              <p:cNvSpPr/>
              <p:nvPr/>
            </p:nvSpPr>
            <p:spPr>
              <a:xfrm>
                <a:off x="3693" y="3204"/>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3</a:t>
                </a:r>
                <a:endParaRPr lang="ko-KR" altLang="en-US" dirty="0">
                  <a:latin typeface="Tahoma" panose="020B0604030504040204" pitchFamily="34" charset="0"/>
                  <a:ea typeface="Gulim" panose="020B0600000101010101" pitchFamily="34" charset="-127"/>
                </a:endParaRPr>
              </a:p>
            </p:txBody>
          </p:sp>
          <p:sp>
            <p:nvSpPr>
              <p:cNvPr id="22598" name="Rectangle 1172"/>
              <p:cNvSpPr/>
              <p:nvPr/>
            </p:nvSpPr>
            <p:spPr>
              <a:xfrm>
                <a:off x="3693" y="3107"/>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4</a:t>
                </a:r>
                <a:endParaRPr lang="ko-KR" altLang="en-US" dirty="0">
                  <a:latin typeface="Tahoma" panose="020B0604030504040204" pitchFamily="34" charset="0"/>
                  <a:ea typeface="Gulim" panose="020B0600000101010101" pitchFamily="34" charset="-127"/>
                </a:endParaRPr>
              </a:p>
            </p:txBody>
          </p:sp>
          <p:sp>
            <p:nvSpPr>
              <p:cNvPr id="22599" name="Rectangle 1173"/>
              <p:cNvSpPr/>
              <p:nvPr/>
            </p:nvSpPr>
            <p:spPr>
              <a:xfrm>
                <a:off x="3693" y="3009"/>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5</a:t>
                </a:r>
                <a:endParaRPr lang="ko-KR" altLang="en-US" dirty="0">
                  <a:latin typeface="Tahoma" panose="020B0604030504040204" pitchFamily="34" charset="0"/>
                  <a:ea typeface="Gulim" panose="020B0600000101010101" pitchFamily="34" charset="-127"/>
                </a:endParaRPr>
              </a:p>
            </p:txBody>
          </p:sp>
          <p:sp>
            <p:nvSpPr>
              <p:cNvPr id="22600" name="Rectangle 1174"/>
              <p:cNvSpPr/>
              <p:nvPr/>
            </p:nvSpPr>
            <p:spPr>
              <a:xfrm>
                <a:off x="3693" y="2910"/>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6</a:t>
                </a:r>
                <a:endParaRPr lang="ko-KR" altLang="en-US" dirty="0">
                  <a:latin typeface="Tahoma" panose="020B0604030504040204" pitchFamily="34" charset="0"/>
                  <a:ea typeface="Gulim" panose="020B0600000101010101" pitchFamily="34" charset="-127"/>
                </a:endParaRPr>
              </a:p>
            </p:txBody>
          </p:sp>
          <p:sp>
            <p:nvSpPr>
              <p:cNvPr id="22601" name="Rectangle 1175"/>
              <p:cNvSpPr/>
              <p:nvPr/>
            </p:nvSpPr>
            <p:spPr>
              <a:xfrm>
                <a:off x="3693" y="2814"/>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7</a:t>
                </a:r>
                <a:endParaRPr lang="ko-KR" altLang="en-US" dirty="0">
                  <a:latin typeface="Tahoma" panose="020B0604030504040204" pitchFamily="34" charset="0"/>
                  <a:ea typeface="Gulim" panose="020B0600000101010101" pitchFamily="34" charset="-127"/>
                </a:endParaRPr>
              </a:p>
            </p:txBody>
          </p:sp>
          <p:sp>
            <p:nvSpPr>
              <p:cNvPr id="22602" name="Rectangle 1176"/>
              <p:cNvSpPr/>
              <p:nvPr/>
            </p:nvSpPr>
            <p:spPr>
              <a:xfrm>
                <a:off x="3693" y="2716"/>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8</a:t>
                </a:r>
                <a:endParaRPr lang="ko-KR" altLang="en-US" dirty="0">
                  <a:latin typeface="Tahoma" panose="020B0604030504040204" pitchFamily="34" charset="0"/>
                  <a:ea typeface="Gulim" panose="020B0600000101010101" pitchFamily="34" charset="-127"/>
                </a:endParaRPr>
              </a:p>
            </p:txBody>
          </p:sp>
          <p:sp>
            <p:nvSpPr>
              <p:cNvPr id="22603" name="Rectangle 1177"/>
              <p:cNvSpPr/>
              <p:nvPr/>
            </p:nvSpPr>
            <p:spPr>
              <a:xfrm>
                <a:off x="3693" y="2619"/>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9</a:t>
                </a:r>
                <a:endParaRPr lang="ko-KR" altLang="en-US" dirty="0">
                  <a:latin typeface="Tahoma" panose="020B0604030504040204" pitchFamily="34" charset="0"/>
                  <a:ea typeface="Gulim" panose="020B0600000101010101" pitchFamily="34" charset="-127"/>
                </a:endParaRPr>
              </a:p>
            </p:txBody>
          </p:sp>
          <p:sp>
            <p:nvSpPr>
              <p:cNvPr id="22604" name="Rectangle 1178"/>
              <p:cNvSpPr/>
              <p:nvPr/>
            </p:nvSpPr>
            <p:spPr>
              <a:xfrm>
                <a:off x="3667" y="2520"/>
                <a:ext cx="61"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10</a:t>
                </a:r>
                <a:endParaRPr lang="ko-KR" altLang="en-US" dirty="0">
                  <a:latin typeface="Tahoma" panose="020B0604030504040204" pitchFamily="34" charset="0"/>
                  <a:ea typeface="Gulim" panose="020B0600000101010101" pitchFamily="34" charset="-127"/>
                </a:endParaRPr>
              </a:p>
            </p:txBody>
          </p:sp>
          <p:sp>
            <p:nvSpPr>
              <p:cNvPr id="22605" name="Rectangle 1179"/>
              <p:cNvSpPr/>
              <p:nvPr/>
            </p:nvSpPr>
            <p:spPr>
              <a:xfrm>
                <a:off x="3737" y="3562"/>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0</a:t>
                </a:r>
                <a:endParaRPr lang="ko-KR" altLang="en-US" dirty="0">
                  <a:latin typeface="Tahoma" panose="020B0604030504040204" pitchFamily="34" charset="0"/>
                  <a:ea typeface="Gulim" panose="020B0600000101010101" pitchFamily="34" charset="-127"/>
                </a:endParaRPr>
              </a:p>
            </p:txBody>
          </p:sp>
          <p:sp>
            <p:nvSpPr>
              <p:cNvPr id="22606" name="Rectangle 1180"/>
              <p:cNvSpPr/>
              <p:nvPr/>
            </p:nvSpPr>
            <p:spPr>
              <a:xfrm>
                <a:off x="3856" y="3562"/>
                <a:ext cx="31"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1</a:t>
                </a:r>
                <a:endParaRPr lang="ko-KR" altLang="en-US" dirty="0">
                  <a:latin typeface="Tahoma" panose="020B0604030504040204" pitchFamily="34" charset="0"/>
                  <a:ea typeface="Gulim" panose="020B0600000101010101" pitchFamily="34" charset="-127"/>
                </a:endParaRPr>
              </a:p>
            </p:txBody>
          </p:sp>
          <p:sp>
            <p:nvSpPr>
              <p:cNvPr id="22607" name="Rectangle 1181"/>
              <p:cNvSpPr/>
              <p:nvPr/>
            </p:nvSpPr>
            <p:spPr>
              <a:xfrm>
                <a:off x="3978" y="3562"/>
                <a:ext cx="31"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2</a:t>
                </a:r>
                <a:endParaRPr lang="ko-KR" altLang="en-US" dirty="0">
                  <a:latin typeface="Tahoma" panose="020B0604030504040204" pitchFamily="34" charset="0"/>
                  <a:ea typeface="Gulim" panose="020B0600000101010101" pitchFamily="34" charset="-127"/>
                </a:endParaRPr>
              </a:p>
            </p:txBody>
          </p:sp>
          <p:sp>
            <p:nvSpPr>
              <p:cNvPr id="22608" name="Rectangle 1182"/>
              <p:cNvSpPr/>
              <p:nvPr/>
            </p:nvSpPr>
            <p:spPr>
              <a:xfrm>
                <a:off x="4095" y="3562"/>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3</a:t>
                </a:r>
                <a:endParaRPr lang="ko-KR" altLang="en-US" dirty="0">
                  <a:latin typeface="Tahoma" panose="020B0604030504040204" pitchFamily="34" charset="0"/>
                  <a:ea typeface="Gulim" panose="020B0600000101010101" pitchFamily="34" charset="-127"/>
                </a:endParaRPr>
              </a:p>
            </p:txBody>
          </p:sp>
          <p:sp>
            <p:nvSpPr>
              <p:cNvPr id="22609" name="Rectangle 1183"/>
              <p:cNvSpPr/>
              <p:nvPr/>
            </p:nvSpPr>
            <p:spPr>
              <a:xfrm>
                <a:off x="4214" y="3562"/>
                <a:ext cx="31"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4</a:t>
                </a:r>
                <a:endParaRPr lang="ko-KR" altLang="en-US" dirty="0">
                  <a:latin typeface="Tahoma" panose="020B0604030504040204" pitchFamily="34" charset="0"/>
                  <a:ea typeface="Gulim" panose="020B0600000101010101" pitchFamily="34" charset="-127"/>
                </a:endParaRPr>
              </a:p>
            </p:txBody>
          </p:sp>
          <p:sp>
            <p:nvSpPr>
              <p:cNvPr id="22610" name="Rectangle 1184"/>
              <p:cNvSpPr/>
              <p:nvPr/>
            </p:nvSpPr>
            <p:spPr>
              <a:xfrm>
                <a:off x="4336" y="3562"/>
                <a:ext cx="31"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5</a:t>
                </a:r>
                <a:endParaRPr lang="ko-KR" altLang="en-US" dirty="0">
                  <a:latin typeface="Tahoma" panose="020B0604030504040204" pitchFamily="34" charset="0"/>
                  <a:ea typeface="Gulim" panose="020B0600000101010101" pitchFamily="34" charset="-127"/>
                </a:endParaRPr>
              </a:p>
            </p:txBody>
          </p:sp>
          <p:sp>
            <p:nvSpPr>
              <p:cNvPr id="22611" name="Rectangle 1185"/>
              <p:cNvSpPr/>
              <p:nvPr/>
            </p:nvSpPr>
            <p:spPr>
              <a:xfrm>
                <a:off x="4457" y="3562"/>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6</a:t>
                </a:r>
                <a:endParaRPr lang="ko-KR" altLang="en-US" dirty="0">
                  <a:latin typeface="Tahoma" panose="020B0604030504040204" pitchFamily="34" charset="0"/>
                  <a:ea typeface="Gulim" panose="020B0600000101010101" pitchFamily="34" charset="-127"/>
                </a:endParaRPr>
              </a:p>
            </p:txBody>
          </p:sp>
          <p:sp>
            <p:nvSpPr>
              <p:cNvPr id="22612" name="Rectangle 1186"/>
              <p:cNvSpPr/>
              <p:nvPr/>
            </p:nvSpPr>
            <p:spPr>
              <a:xfrm>
                <a:off x="4577" y="3562"/>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7</a:t>
                </a:r>
                <a:endParaRPr lang="ko-KR" altLang="en-US" dirty="0">
                  <a:latin typeface="Tahoma" panose="020B0604030504040204" pitchFamily="34" charset="0"/>
                  <a:ea typeface="Gulim" panose="020B0600000101010101" pitchFamily="34" charset="-127"/>
                </a:endParaRPr>
              </a:p>
            </p:txBody>
          </p:sp>
          <p:sp>
            <p:nvSpPr>
              <p:cNvPr id="22613" name="Rectangle 1187"/>
              <p:cNvSpPr/>
              <p:nvPr/>
            </p:nvSpPr>
            <p:spPr>
              <a:xfrm>
                <a:off x="4694" y="3562"/>
                <a:ext cx="31"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8</a:t>
                </a:r>
                <a:endParaRPr lang="ko-KR" altLang="en-US" dirty="0">
                  <a:latin typeface="Tahoma" panose="020B0604030504040204" pitchFamily="34" charset="0"/>
                  <a:ea typeface="Gulim" panose="020B0600000101010101" pitchFamily="34" charset="-127"/>
                </a:endParaRPr>
              </a:p>
            </p:txBody>
          </p:sp>
          <p:sp>
            <p:nvSpPr>
              <p:cNvPr id="22614" name="Rectangle 1188"/>
              <p:cNvSpPr/>
              <p:nvPr/>
            </p:nvSpPr>
            <p:spPr>
              <a:xfrm>
                <a:off x="4815" y="3562"/>
                <a:ext cx="3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9</a:t>
                </a:r>
                <a:endParaRPr lang="ko-KR" altLang="en-US" dirty="0">
                  <a:latin typeface="Tahoma" panose="020B0604030504040204" pitchFamily="34" charset="0"/>
                  <a:ea typeface="Gulim" panose="020B0600000101010101" pitchFamily="34" charset="-127"/>
                </a:endParaRPr>
              </a:p>
            </p:txBody>
          </p:sp>
          <p:sp>
            <p:nvSpPr>
              <p:cNvPr id="22615" name="Rectangle 1189"/>
              <p:cNvSpPr/>
              <p:nvPr/>
            </p:nvSpPr>
            <p:spPr>
              <a:xfrm>
                <a:off x="4923" y="3562"/>
                <a:ext cx="60" cy="63"/>
              </a:xfrm>
              <a:prstGeom prst="rect">
                <a:avLst/>
              </a:prstGeom>
              <a:noFill/>
              <a:ln w="9525">
                <a:noFill/>
              </a:ln>
            </p:spPr>
            <p:txBody>
              <a:bodyPr wrap="none" lIns="0" tIns="0" rIns="0" bIns="0">
                <a:spAutoFit/>
              </a:bodyPr>
              <a:p>
                <a:pPr algn="l"/>
                <a:r>
                  <a:rPr lang="ko-KR" altLang="en-US" sz="600" dirty="0">
                    <a:solidFill>
                      <a:srgbClr val="000000"/>
                    </a:solidFill>
                    <a:latin typeface="Arial" panose="020B0604020202020204" pitchFamily="34" charset="0"/>
                    <a:ea typeface="Gulim" panose="020B0600000101010101" pitchFamily="34" charset="-127"/>
                  </a:rPr>
                  <a:t>10</a:t>
                </a:r>
                <a:endParaRPr lang="ko-KR" altLang="en-US" dirty="0">
                  <a:latin typeface="Tahoma" panose="020B0604030504040204" pitchFamily="34" charset="0"/>
                  <a:ea typeface="Gulim" panose="020B0600000101010101" pitchFamily="34" charset="-127"/>
                </a:endParaRPr>
              </a:p>
            </p:txBody>
          </p:sp>
          <p:sp>
            <p:nvSpPr>
              <p:cNvPr id="22616" name="Rectangle 1190"/>
              <p:cNvSpPr/>
              <p:nvPr/>
            </p:nvSpPr>
            <p:spPr>
              <a:xfrm>
                <a:off x="3616" y="2464"/>
                <a:ext cx="1396" cy="1208"/>
              </a:xfrm>
              <a:prstGeom prst="rect">
                <a:avLst/>
              </a:prstGeom>
              <a:noFill/>
              <a:ln w="0"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sp>
            <p:nvSpPr>
              <p:cNvPr id="22617" name="Freeform 1191"/>
              <p:cNvSpPr/>
              <p:nvPr/>
            </p:nvSpPr>
            <p:spPr>
              <a:xfrm>
                <a:off x="3955" y="2658"/>
                <a:ext cx="488" cy="597"/>
              </a:xfrm>
              <a:custGeom>
                <a:avLst/>
                <a:gdLst>
                  <a:gd name="txL" fmla="*/ 0 w 728"/>
                  <a:gd name="txT" fmla="*/ 0 h 896"/>
                  <a:gd name="txR" fmla="*/ 728 w 728"/>
                  <a:gd name="txB" fmla="*/ 896 h 896"/>
                </a:gdLst>
                <a:ahLst/>
                <a:cxnLst>
                  <a:cxn ang="0">
                    <a:pos x="2" y="1"/>
                  </a:cxn>
                  <a:cxn ang="0">
                    <a:pos x="1" y="1"/>
                  </a:cxn>
                  <a:cxn ang="0">
                    <a:pos x="1" y="1"/>
                  </a:cxn>
                  <a:cxn ang="0">
                    <a:pos x="1" y="2"/>
                  </a:cxn>
                  <a:cxn ang="0">
                    <a:pos x="1" y="3"/>
                  </a:cxn>
                  <a:cxn ang="0">
                    <a:pos x="1" y="8"/>
                  </a:cxn>
                  <a:cxn ang="0">
                    <a:pos x="1" y="9"/>
                  </a:cxn>
                  <a:cxn ang="0">
                    <a:pos x="4" y="10"/>
                  </a:cxn>
                  <a:cxn ang="0">
                    <a:pos x="6" y="10"/>
                  </a:cxn>
                  <a:cxn ang="0">
                    <a:pos x="7" y="9"/>
                  </a:cxn>
                  <a:cxn ang="0">
                    <a:pos x="9" y="7"/>
                  </a:cxn>
                  <a:cxn ang="0">
                    <a:pos x="9" y="7"/>
                  </a:cxn>
                  <a:cxn ang="0">
                    <a:pos x="9" y="6"/>
                  </a:cxn>
                  <a:cxn ang="0">
                    <a:pos x="9" y="3"/>
                  </a:cxn>
                  <a:cxn ang="0">
                    <a:pos x="7" y="1"/>
                  </a:cxn>
                  <a:cxn ang="0">
                    <a:pos x="6" y="1"/>
                  </a:cxn>
                  <a:cxn ang="0">
                    <a:pos x="6" y="1"/>
                  </a:cxn>
                  <a:cxn ang="0">
                    <a:pos x="3" y="0"/>
                  </a:cxn>
                  <a:cxn ang="0">
                    <a:pos x="3" y="1"/>
                  </a:cxn>
                  <a:cxn ang="0">
                    <a:pos x="2" y="1"/>
                  </a:cxn>
                  <a:cxn ang="0">
                    <a:pos x="2" y="1"/>
                  </a:cxn>
                </a:cxnLst>
                <a:rect l="txL" t="txT" r="txR" b="txB"/>
                <a:pathLst>
                  <a:path w="728" h="896">
                    <a:moveTo>
                      <a:pt x="199" y="7"/>
                    </a:moveTo>
                    <a:cubicBezTo>
                      <a:pt x="148" y="19"/>
                      <a:pt x="135" y="54"/>
                      <a:pt x="110" y="96"/>
                    </a:cubicBezTo>
                    <a:cubicBezTo>
                      <a:pt x="101" y="111"/>
                      <a:pt x="90" y="125"/>
                      <a:pt x="80" y="140"/>
                    </a:cubicBezTo>
                    <a:cubicBezTo>
                      <a:pt x="75" y="147"/>
                      <a:pt x="65" y="162"/>
                      <a:pt x="65" y="162"/>
                    </a:cubicBezTo>
                    <a:cubicBezTo>
                      <a:pt x="50" y="210"/>
                      <a:pt x="33" y="254"/>
                      <a:pt x="21" y="303"/>
                    </a:cubicBezTo>
                    <a:cubicBezTo>
                      <a:pt x="4" y="446"/>
                      <a:pt x="0" y="574"/>
                      <a:pt x="65" y="703"/>
                    </a:cubicBezTo>
                    <a:cubicBezTo>
                      <a:pt x="79" y="731"/>
                      <a:pt x="83" y="744"/>
                      <a:pt x="110" y="763"/>
                    </a:cubicBezTo>
                    <a:cubicBezTo>
                      <a:pt x="159" y="835"/>
                      <a:pt x="250" y="874"/>
                      <a:pt x="332" y="896"/>
                    </a:cubicBezTo>
                    <a:cubicBezTo>
                      <a:pt x="394" y="889"/>
                      <a:pt x="441" y="878"/>
                      <a:pt x="495" y="851"/>
                    </a:cubicBezTo>
                    <a:cubicBezTo>
                      <a:pt x="537" y="789"/>
                      <a:pt x="571" y="751"/>
                      <a:pt x="636" y="711"/>
                    </a:cubicBezTo>
                    <a:cubicBezTo>
                      <a:pt x="660" y="674"/>
                      <a:pt x="672" y="647"/>
                      <a:pt x="688" y="607"/>
                    </a:cubicBezTo>
                    <a:cubicBezTo>
                      <a:pt x="694" y="593"/>
                      <a:pt x="697" y="578"/>
                      <a:pt x="702" y="563"/>
                    </a:cubicBezTo>
                    <a:cubicBezTo>
                      <a:pt x="705" y="555"/>
                      <a:pt x="710" y="540"/>
                      <a:pt x="710" y="540"/>
                    </a:cubicBezTo>
                    <a:cubicBezTo>
                      <a:pt x="720" y="459"/>
                      <a:pt x="728" y="366"/>
                      <a:pt x="680" y="296"/>
                    </a:cubicBezTo>
                    <a:cubicBezTo>
                      <a:pt x="659" y="231"/>
                      <a:pt x="621" y="176"/>
                      <a:pt x="569" y="133"/>
                    </a:cubicBezTo>
                    <a:cubicBezTo>
                      <a:pt x="550" y="117"/>
                      <a:pt x="530" y="103"/>
                      <a:pt x="510" y="88"/>
                    </a:cubicBezTo>
                    <a:cubicBezTo>
                      <a:pt x="496" y="77"/>
                      <a:pt x="465" y="59"/>
                      <a:pt x="465" y="59"/>
                    </a:cubicBezTo>
                    <a:cubicBezTo>
                      <a:pt x="428" y="0"/>
                      <a:pt x="358" y="5"/>
                      <a:pt x="295" y="0"/>
                    </a:cubicBezTo>
                    <a:cubicBezTo>
                      <a:pt x="265" y="2"/>
                      <a:pt x="236" y="3"/>
                      <a:pt x="206" y="7"/>
                    </a:cubicBezTo>
                    <a:cubicBezTo>
                      <a:pt x="198" y="8"/>
                      <a:pt x="192" y="14"/>
                      <a:pt x="184" y="14"/>
                    </a:cubicBezTo>
                    <a:cubicBezTo>
                      <a:pt x="178" y="14"/>
                      <a:pt x="194" y="9"/>
                      <a:pt x="199" y="7"/>
                    </a:cubicBezTo>
                    <a:close/>
                  </a:path>
                </a:pathLst>
              </a:custGeom>
              <a:noFill/>
              <a:ln w="19050" cap="flat" cmpd="sng">
                <a:solidFill>
                  <a:schemeClr val="tx1">
                    <a:alpha val="100000"/>
                  </a:schemeClr>
                </a:solidFill>
                <a:prstDash val="solid"/>
                <a:round/>
                <a:headEnd type="none" w="med" len="med"/>
                <a:tailEnd type="none" w="med" len="med"/>
              </a:ln>
            </p:spPr>
            <p:txBody>
              <a:bodyPr/>
              <a:p>
                <a:endParaRPr lang="en-US"/>
              </a:p>
            </p:txBody>
          </p:sp>
          <p:sp>
            <p:nvSpPr>
              <p:cNvPr id="22618" name="Freeform 1192"/>
              <p:cNvSpPr/>
              <p:nvPr/>
            </p:nvSpPr>
            <p:spPr>
              <a:xfrm>
                <a:off x="4258" y="2900"/>
                <a:ext cx="538" cy="593"/>
              </a:xfrm>
              <a:custGeom>
                <a:avLst/>
                <a:gdLst>
                  <a:gd name="txL" fmla="*/ 0 w 802"/>
                  <a:gd name="txT" fmla="*/ 0 h 889"/>
                  <a:gd name="txR" fmla="*/ 802 w 802"/>
                  <a:gd name="txB" fmla="*/ 889 h 889"/>
                </a:gdLst>
                <a:ahLst/>
                <a:cxnLst>
                  <a:cxn ang="0">
                    <a:pos x="6" y="1"/>
                  </a:cxn>
                  <a:cxn ang="0">
                    <a:pos x="5" y="2"/>
                  </a:cxn>
                  <a:cxn ang="0">
                    <a:pos x="3" y="3"/>
                  </a:cxn>
                  <a:cxn ang="0">
                    <a:pos x="3" y="4"/>
                  </a:cxn>
                  <a:cxn ang="0">
                    <a:pos x="2" y="4"/>
                  </a:cxn>
                  <a:cxn ang="0">
                    <a:pos x="2" y="4"/>
                  </a:cxn>
                  <a:cxn ang="0">
                    <a:pos x="2" y="5"/>
                  </a:cxn>
                  <a:cxn ang="0">
                    <a:pos x="1" y="6"/>
                  </a:cxn>
                  <a:cxn ang="0">
                    <a:pos x="1" y="6"/>
                  </a:cxn>
                  <a:cxn ang="0">
                    <a:pos x="1" y="7"/>
                  </a:cxn>
                  <a:cxn ang="0">
                    <a:pos x="1" y="7"/>
                  </a:cxn>
                  <a:cxn ang="0">
                    <a:pos x="1" y="8"/>
                  </a:cxn>
                  <a:cxn ang="0">
                    <a:pos x="1" y="10"/>
                  </a:cxn>
                  <a:cxn ang="0">
                    <a:pos x="1" y="10"/>
                  </a:cxn>
                  <a:cxn ang="0">
                    <a:pos x="1" y="10"/>
                  </a:cxn>
                  <a:cxn ang="0">
                    <a:pos x="4" y="10"/>
                  </a:cxn>
                  <a:cxn ang="0">
                    <a:pos x="6" y="10"/>
                  </a:cxn>
                  <a:cxn ang="0">
                    <a:pos x="7" y="9"/>
                  </a:cxn>
                  <a:cxn ang="0">
                    <a:pos x="9" y="7"/>
                  </a:cxn>
                  <a:cxn ang="0">
                    <a:pos x="9" y="7"/>
                  </a:cxn>
                  <a:cxn ang="0">
                    <a:pos x="9" y="6"/>
                  </a:cxn>
                  <a:cxn ang="0">
                    <a:pos x="9" y="5"/>
                  </a:cxn>
                  <a:cxn ang="0">
                    <a:pos x="10" y="5"/>
                  </a:cxn>
                  <a:cxn ang="0">
                    <a:pos x="8" y="0"/>
                  </a:cxn>
                  <a:cxn ang="0">
                    <a:pos x="6" y="1"/>
                  </a:cxn>
                  <a:cxn ang="0">
                    <a:pos x="6" y="1"/>
                  </a:cxn>
                </a:cxnLst>
                <a:rect l="txL" t="txT" r="txR" b="txB"/>
                <a:pathLst>
                  <a:path w="802" h="889">
                    <a:moveTo>
                      <a:pt x="510" y="44"/>
                    </a:moveTo>
                    <a:cubicBezTo>
                      <a:pt x="455" y="80"/>
                      <a:pt x="422" y="133"/>
                      <a:pt x="376" y="177"/>
                    </a:cubicBezTo>
                    <a:cubicBezTo>
                      <a:pt x="346" y="236"/>
                      <a:pt x="298" y="273"/>
                      <a:pt x="236" y="296"/>
                    </a:cubicBezTo>
                    <a:cubicBezTo>
                      <a:pt x="231" y="303"/>
                      <a:pt x="227" y="312"/>
                      <a:pt x="221" y="318"/>
                    </a:cubicBezTo>
                    <a:cubicBezTo>
                      <a:pt x="215" y="324"/>
                      <a:pt x="205" y="326"/>
                      <a:pt x="199" y="333"/>
                    </a:cubicBezTo>
                    <a:cubicBezTo>
                      <a:pt x="194" y="339"/>
                      <a:pt x="195" y="348"/>
                      <a:pt x="191" y="355"/>
                    </a:cubicBezTo>
                    <a:cubicBezTo>
                      <a:pt x="185" y="366"/>
                      <a:pt x="176" y="375"/>
                      <a:pt x="169" y="385"/>
                    </a:cubicBezTo>
                    <a:cubicBezTo>
                      <a:pt x="156" y="422"/>
                      <a:pt x="155" y="463"/>
                      <a:pt x="132" y="496"/>
                    </a:cubicBezTo>
                    <a:cubicBezTo>
                      <a:pt x="126" y="504"/>
                      <a:pt x="116" y="510"/>
                      <a:pt x="110" y="518"/>
                    </a:cubicBezTo>
                    <a:cubicBezTo>
                      <a:pt x="99" y="532"/>
                      <a:pt x="80" y="562"/>
                      <a:pt x="80" y="562"/>
                    </a:cubicBezTo>
                    <a:cubicBezTo>
                      <a:pt x="68" y="602"/>
                      <a:pt x="78" y="578"/>
                      <a:pt x="43" y="629"/>
                    </a:cubicBezTo>
                    <a:cubicBezTo>
                      <a:pt x="28" y="651"/>
                      <a:pt x="22" y="678"/>
                      <a:pt x="13" y="703"/>
                    </a:cubicBezTo>
                    <a:cubicBezTo>
                      <a:pt x="15" y="727"/>
                      <a:pt x="0" y="812"/>
                      <a:pt x="36" y="844"/>
                    </a:cubicBezTo>
                    <a:cubicBezTo>
                      <a:pt x="49" y="856"/>
                      <a:pt x="65" y="864"/>
                      <a:pt x="80" y="874"/>
                    </a:cubicBezTo>
                    <a:cubicBezTo>
                      <a:pt x="93" y="883"/>
                      <a:pt x="124" y="888"/>
                      <a:pt x="124" y="888"/>
                    </a:cubicBezTo>
                    <a:cubicBezTo>
                      <a:pt x="167" y="886"/>
                      <a:pt x="287" y="889"/>
                      <a:pt x="354" y="874"/>
                    </a:cubicBezTo>
                    <a:cubicBezTo>
                      <a:pt x="410" y="861"/>
                      <a:pt x="461" y="835"/>
                      <a:pt x="517" y="822"/>
                    </a:cubicBezTo>
                    <a:cubicBezTo>
                      <a:pt x="534" y="811"/>
                      <a:pt x="553" y="804"/>
                      <a:pt x="569" y="792"/>
                    </a:cubicBezTo>
                    <a:cubicBezTo>
                      <a:pt x="613" y="757"/>
                      <a:pt x="651" y="702"/>
                      <a:pt x="673" y="651"/>
                    </a:cubicBezTo>
                    <a:cubicBezTo>
                      <a:pt x="680" y="634"/>
                      <a:pt x="685" y="615"/>
                      <a:pt x="695" y="600"/>
                    </a:cubicBezTo>
                    <a:cubicBezTo>
                      <a:pt x="711" y="577"/>
                      <a:pt x="747" y="533"/>
                      <a:pt x="747" y="533"/>
                    </a:cubicBezTo>
                    <a:cubicBezTo>
                      <a:pt x="756" y="504"/>
                      <a:pt x="784" y="451"/>
                      <a:pt x="784" y="451"/>
                    </a:cubicBezTo>
                    <a:cubicBezTo>
                      <a:pt x="787" y="439"/>
                      <a:pt x="798" y="395"/>
                      <a:pt x="798" y="385"/>
                    </a:cubicBezTo>
                    <a:cubicBezTo>
                      <a:pt x="798" y="264"/>
                      <a:pt x="802" y="46"/>
                      <a:pt x="650" y="0"/>
                    </a:cubicBezTo>
                    <a:cubicBezTo>
                      <a:pt x="598" y="5"/>
                      <a:pt x="575" y="6"/>
                      <a:pt x="532" y="22"/>
                    </a:cubicBezTo>
                    <a:cubicBezTo>
                      <a:pt x="516" y="46"/>
                      <a:pt x="526" y="44"/>
                      <a:pt x="510" y="44"/>
                    </a:cubicBezTo>
                    <a:close/>
                  </a:path>
                </a:pathLst>
              </a:custGeom>
              <a:noFill/>
              <a:ln w="19050" cap="flat" cmpd="sng">
                <a:solidFill>
                  <a:schemeClr val="tx1">
                    <a:alpha val="100000"/>
                  </a:schemeClr>
                </a:solidFill>
                <a:prstDash val="solid"/>
                <a:round/>
                <a:headEnd type="none" w="med" len="med"/>
                <a:tailEnd type="none" w="med" len="med"/>
              </a:ln>
            </p:spPr>
            <p:txBody>
              <a:bodyPr/>
              <a:p>
                <a:endParaRPr lang="en-US"/>
              </a:p>
            </p:txBody>
          </p:sp>
          <p:sp>
            <p:nvSpPr>
              <p:cNvPr id="22619" name="AutoShape 1193"/>
              <p:cNvSpPr/>
              <p:nvPr/>
            </p:nvSpPr>
            <p:spPr>
              <a:xfrm>
                <a:off x="4080" y="2880"/>
                <a:ext cx="48" cy="96"/>
              </a:xfrm>
              <a:prstGeom prst="plus">
                <a:avLst>
                  <a:gd name="adj" fmla="val 25000"/>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dirty="0">
                  <a:latin typeface="Tahoma" panose="020B0604030504040204" pitchFamily="34" charset="0"/>
                </a:endParaRPr>
              </a:p>
            </p:txBody>
          </p:sp>
          <p:sp>
            <p:nvSpPr>
              <p:cNvPr id="22620" name="AutoShape 1194"/>
              <p:cNvSpPr/>
              <p:nvPr/>
            </p:nvSpPr>
            <p:spPr>
              <a:xfrm>
                <a:off x="4560" y="3168"/>
                <a:ext cx="48" cy="96"/>
              </a:xfrm>
              <a:prstGeom prst="plus">
                <a:avLst>
                  <a:gd name="adj" fmla="val 25000"/>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dirty="0">
                  <a:latin typeface="Tahoma" panose="020B0604030504040204" pitchFamily="34" charset="0"/>
                </a:endParaRPr>
              </a:p>
            </p:txBody>
          </p:sp>
        </p:grpSp>
        <p:sp>
          <p:nvSpPr>
            <p:cNvPr id="22536" name="Line 1195"/>
            <p:cNvSpPr/>
            <p:nvPr/>
          </p:nvSpPr>
          <p:spPr>
            <a:xfrm>
              <a:off x="2784" y="3648"/>
              <a:ext cx="528" cy="0"/>
            </a:xfrm>
            <a:prstGeom prst="line">
              <a:avLst/>
            </a:prstGeom>
            <a:ln w="9525" cap="flat" cmpd="sng">
              <a:solidFill>
                <a:schemeClr val="tx1"/>
              </a:solidFill>
              <a:prstDash val="solid"/>
              <a:miter/>
              <a:headEnd type="none" w="med" len="med"/>
              <a:tailEnd type="triangle" w="med" len="med"/>
            </a:ln>
          </p:spPr>
        </p:sp>
      </p:grpSp>
      <p:sp>
        <p:nvSpPr>
          <p:cNvPr id="22533" name="Slide Number Placeholder 174"/>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23555" name="Rectangle 2050"/>
          <p:cNvSpPr>
            <a:spLocks noGrp="1"/>
          </p:cNvSpPr>
          <p:nvPr>
            <p:ph type="title"/>
          </p:nvPr>
        </p:nvSpPr>
        <p:spPr>
          <a:xfrm>
            <a:off x="0" y="381000"/>
            <a:ext cx="9144000" cy="609600"/>
          </a:xfrm>
        </p:spPr>
        <p:txBody>
          <a:bodyPr vert="horz" wrap="square" lIns="91440" tIns="45720" rIns="91440" bIns="45720" anchor="b" anchorCtr="0"/>
          <a:p>
            <a:pPr eaLnBrk="1" hangingPunct="1"/>
            <a:r>
              <a:rPr lang="en-US" altLang="ko-KR" sz="3200" dirty="0">
                <a:ea typeface="Gulim" panose="020B0600000101010101" pitchFamily="34" charset="-127"/>
              </a:rPr>
              <a:t>PAM: A Typical K-Medoids Algorithm</a:t>
            </a:r>
            <a:endParaRPr lang="en-US" altLang="ko-KR" sz="3200" dirty="0">
              <a:ea typeface="Gulim" panose="020B0600000101010101" pitchFamily="34" charset="-127"/>
            </a:endParaRPr>
          </a:p>
        </p:txBody>
      </p:sp>
      <p:grpSp>
        <p:nvGrpSpPr>
          <p:cNvPr id="23556" name="Group 2051"/>
          <p:cNvGrpSpPr/>
          <p:nvPr/>
        </p:nvGrpSpPr>
        <p:grpSpPr>
          <a:xfrm>
            <a:off x="6705600" y="1676400"/>
            <a:ext cx="2514600" cy="2362200"/>
            <a:chOff x="912" y="864"/>
            <a:chExt cx="1584" cy="1488"/>
          </a:xfrm>
        </p:grpSpPr>
        <p:graphicFrame>
          <p:nvGraphicFramePr>
            <p:cNvPr id="23817" name="Object 2052"/>
            <p:cNvGraphicFramePr>
              <a:graphicFrameLocks noChangeAspect="1"/>
            </p:cNvGraphicFramePr>
            <p:nvPr/>
          </p:nvGraphicFramePr>
          <p:xfrm>
            <a:off x="912" y="864"/>
            <a:ext cx="1584" cy="1488"/>
          </p:xfrm>
          <a:graphic>
            <a:graphicData uri="http://schemas.openxmlformats.org/presentationml/2006/ole">
              <mc:AlternateContent xmlns:mc="http://schemas.openxmlformats.org/markup-compatibility/2006">
                <mc:Choice xmlns:v="urn:schemas-microsoft-com:vml" Requires="v">
                  <p:oleObj spid="_x0000_s3083" name="" r:id="rId1" imgW="2618740" imgH="2472055" progId="Excel.Sheet.8">
                    <p:embed/>
                  </p:oleObj>
                </mc:Choice>
                <mc:Fallback>
                  <p:oleObj name="" r:id="rId1" imgW="2618740" imgH="2472055" progId="Excel.Sheet.8">
                    <p:embed/>
                    <p:pic>
                      <p:nvPicPr>
                        <p:cNvPr id="0" name="Picture 3082"/>
                        <p:cNvPicPr/>
                        <p:nvPr/>
                      </p:nvPicPr>
                      <p:blipFill>
                        <a:blip r:embed="rId2"/>
                        <a:stretch>
                          <a:fillRect/>
                        </a:stretch>
                      </p:blipFill>
                      <p:spPr>
                        <a:xfrm>
                          <a:off x="912" y="864"/>
                          <a:ext cx="1584" cy="1488"/>
                        </a:xfrm>
                        <a:prstGeom prst="rect">
                          <a:avLst/>
                        </a:prstGeom>
                        <a:noFill/>
                        <a:ln w="38100">
                          <a:noFill/>
                          <a:miter/>
                        </a:ln>
                      </p:spPr>
                    </p:pic>
                  </p:oleObj>
                </mc:Fallback>
              </mc:AlternateContent>
            </a:graphicData>
          </a:graphic>
        </p:graphicFrame>
        <p:sp>
          <p:nvSpPr>
            <p:cNvPr id="23818" name="Line 2053"/>
            <p:cNvSpPr/>
            <p:nvPr/>
          </p:nvSpPr>
          <p:spPr>
            <a:xfrm>
              <a:off x="1982" y="1502"/>
              <a:ext cx="0" cy="127"/>
            </a:xfrm>
            <a:prstGeom prst="line">
              <a:avLst/>
            </a:prstGeom>
            <a:ln w="9525" cap="flat" cmpd="sng">
              <a:solidFill>
                <a:schemeClr val="tx1"/>
              </a:solidFill>
              <a:prstDash val="solid"/>
              <a:headEnd type="none" w="med" len="med"/>
              <a:tailEnd type="none" w="med" len="med"/>
            </a:ln>
          </p:spPr>
        </p:sp>
        <p:sp>
          <p:nvSpPr>
            <p:cNvPr id="23819" name="Oval 2054"/>
            <p:cNvSpPr/>
            <p:nvPr/>
          </p:nvSpPr>
          <p:spPr>
            <a:xfrm>
              <a:off x="1212" y="1034"/>
              <a:ext cx="513" cy="765"/>
            </a:xfrm>
            <a:prstGeom prst="ellipse">
              <a:avLst/>
            </a:prstGeom>
            <a:noFill/>
            <a:ln w="9525" cap="flat" cmpd="sng">
              <a:solidFill>
                <a:schemeClr val="tx1"/>
              </a:solidFill>
              <a:prstDash val="lgDashDot"/>
              <a:headEnd type="none" w="med" len="med"/>
              <a:tailEnd type="none" w="med" len="med"/>
            </a:ln>
          </p:spPr>
          <p:txBody>
            <a:bodyPr wrap="none" anchor="ctr" anchorCtr="0">
              <a:spAutoFit/>
            </a:bodyPr>
            <a:p>
              <a:endParaRPr dirty="0">
                <a:latin typeface="Tahoma" panose="020B0604030504040204" pitchFamily="34" charset="0"/>
              </a:endParaRPr>
            </a:p>
          </p:txBody>
        </p:sp>
        <p:sp>
          <p:nvSpPr>
            <p:cNvPr id="23820" name="Oval 2055"/>
            <p:cNvSpPr/>
            <p:nvPr/>
          </p:nvSpPr>
          <p:spPr>
            <a:xfrm>
              <a:off x="1725" y="1374"/>
              <a:ext cx="514" cy="638"/>
            </a:xfrm>
            <a:prstGeom prst="ellipse">
              <a:avLst/>
            </a:prstGeom>
            <a:noFill/>
            <a:ln w="9525" cap="flat" cmpd="sng">
              <a:solidFill>
                <a:schemeClr val="tx1"/>
              </a:solidFill>
              <a:prstDash val="lgDashDot"/>
              <a:headEnd type="none" w="med" len="med"/>
              <a:tailEnd type="none" w="med" len="med"/>
            </a:ln>
          </p:spPr>
          <p:txBody>
            <a:bodyPr anchor="ctr" anchorCtr="0">
              <a:spAutoFit/>
            </a:bodyPr>
            <a:p>
              <a:endParaRPr dirty="0">
                <a:latin typeface="Tahoma" panose="020B0604030504040204" pitchFamily="34" charset="0"/>
              </a:endParaRPr>
            </a:p>
          </p:txBody>
        </p:sp>
      </p:grpSp>
      <p:sp>
        <p:nvSpPr>
          <p:cNvPr id="23557" name="Text Box 2056"/>
          <p:cNvSpPr txBox="1"/>
          <p:nvPr/>
        </p:nvSpPr>
        <p:spPr>
          <a:xfrm>
            <a:off x="7735888" y="1371600"/>
            <a:ext cx="1408112" cy="304800"/>
          </a:xfrm>
          <a:prstGeom prst="rect">
            <a:avLst/>
          </a:prstGeom>
          <a:noFill/>
          <a:ln w="9525">
            <a:noFill/>
          </a:ln>
        </p:spPr>
        <p:txBody>
          <a:bodyPr wrap="none">
            <a:spAutoFit/>
          </a:bodyPr>
          <a:p>
            <a:pPr algn="l"/>
            <a:r>
              <a:rPr lang="en-US" altLang="ko-KR" sz="1400" dirty="0">
                <a:latin typeface="Tahoma" panose="020B0604030504040204" pitchFamily="34" charset="0"/>
                <a:ea typeface="Gulim" panose="020B0600000101010101" pitchFamily="34" charset="-127"/>
              </a:rPr>
              <a:t>Total Cost = 20</a:t>
            </a:r>
            <a:endParaRPr lang="en-US" altLang="ko-KR" sz="1400" dirty="0">
              <a:latin typeface="Tahoma" panose="020B0604030504040204" pitchFamily="34" charset="0"/>
              <a:ea typeface="Gulim" panose="020B0600000101010101" pitchFamily="34" charset="-127"/>
            </a:endParaRPr>
          </a:p>
        </p:txBody>
      </p:sp>
      <p:sp>
        <p:nvSpPr>
          <p:cNvPr id="23558" name="Rectangle 2057"/>
          <p:cNvSpPr/>
          <p:nvPr/>
        </p:nvSpPr>
        <p:spPr>
          <a:xfrm>
            <a:off x="119063" y="1719263"/>
            <a:ext cx="2395537" cy="2254250"/>
          </a:xfrm>
          <a:prstGeom prst="rect">
            <a:avLst/>
          </a:prstGeom>
          <a:solidFill>
            <a:srgbClr val="FFFFFF"/>
          </a:solidFill>
          <a:ln w="0"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sp>
        <p:nvSpPr>
          <p:cNvPr id="23559" name="Rectangle 2058"/>
          <p:cNvSpPr/>
          <p:nvPr/>
        </p:nvSpPr>
        <p:spPr>
          <a:xfrm>
            <a:off x="369888" y="1903413"/>
            <a:ext cx="2014537" cy="1789112"/>
          </a:xfrm>
          <a:prstGeom prst="rect">
            <a:avLst/>
          </a:prstGeom>
          <a:solidFill>
            <a:srgbClr val="FFFFFF"/>
          </a:solidFill>
          <a:ln w="9525">
            <a:noFill/>
          </a:ln>
        </p:spPr>
        <p:txBody>
          <a:bodyPr/>
          <a:p>
            <a:endParaRPr dirty="0">
              <a:latin typeface="Tahoma" panose="020B0604030504040204" pitchFamily="34" charset="0"/>
            </a:endParaRPr>
          </a:p>
        </p:txBody>
      </p:sp>
      <p:sp>
        <p:nvSpPr>
          <p:cNvPr id="23560" name="Line 2059"/>
          <p:cNvSpPr/>
          <p:nvPr/>
        </p:nvSpPr>
        <p:spPr>
          <a:xfrm>
            <a:off x="369888" y="3517900"/>
            <a:ext cx="2014537" cy="1588"/>
          </a:xfrm>
          <a:prstGeom prst="line">
            <a:avLst/>
          </a:prstGeom>
          <a:ln w="0" cap="flat" cmpd="sng">
            <a:solidFill>
              <a:srgbClr val="000000"/>
            </a:solidFill>
            <a:prstDash val="solid"/>
            <a:headEnd type="none" w="med" len="med"/>
            <a:tailEnd type="none" w="med" len="med"/>
          </a:ln>
        </p:spPr>
      </p:sp>
      <p:sp>
        <p:nvSpPr>
          <p:cNvPr id="23561" name="Line 2060"/>
          <p:cNvSpPr/>
          <p:nvPr/>
        </p:nvSpPr>
        <p:spPr>
          <a:xfrm>
            <a:off x="369888" y="3333750"/>
            <a:ext cx="2014537" cy="1588"/>
          </a:xfrm>
          <a:prstGeom prst="line">
            <a:avLst/>
          </a:prstGeom>
          <a:ln w="0" cap="flat" cmpd="sng">
            <a:solidFill>
              <a:srgbClr val="000000"/>
            </a:solidFill>
            <a:prstDash val="solid"/>
            <a:headEnd type="none" w="med" len="med"/>
            <a:tailEnd type="none" w="med" len="med"/>
          </a:ln>
        </p:spPr>
      </p:sp>
      <p:sp>
        <p:nvSpPr>
          <p:cNvPr id="23562" name="Line 2061"/>
          <p:cNvSpPr/>
          <p:nvPr/>
        </p:nvSpPr>
        <p:spPr>
          <a:xfrm>
            <a:off x="369888" y="3160713"/>
            <a:ext cx="2014537" cy="1587"/>
          </a:xfrm>
          <a:prstGeom prst="line">
            <a:avLst/>
          </a:prstGeom>
          <a:ln w="0" cap="flat" cmpd="sng">
            <a:solidFill>
              <a:srgbClr val="000000"/>
            </a:solidFill>
            <a:prstDash val="solid"/>
            <a:headEnd type="none" w="med" len="med"/>
            <a:tailEnd type="none" w="med" len="med"/>
          </a:ln>
        </p:spPr>
      </p:sp>
      <p:sp>
        <p:nvSpPr>
          <p:cNvPr id="23563" name="Line 2062"/>
          <p:cNvSpPr/>
          <p:nvPr/>
        </p:nvSpPr>
        <p:spPr>
          <a:xfrm>
            <a:off x="369888" y="2976563"/>
            <a:ext cx="2014537" cy="1587"/>
          </a:xfrm>
          <a:prstGeom prst="line">
            <a:avLst/>
          </a:prstGeom>
          <a:ln w="0" cap="flat" cmpd="sng">
            <a:solidFill>
              <a:srgbClr val="000000"/>
            </a:solidFill>
            <a:prstDash val="solid"/>
            <a:headEnd type="none" w="med" len="med"/>
            <a:tailEnd type="none" w="med" len="med"/>
          </a:ln>
        </p:spPr>
      </p:sp>
      <p:sp>
        <p:nvSpPr>
          <p:cNvPr id="23564" name="Line 2063"/>
          <p:cNvSpPr/>
          <p:nvPr/>
        </p:nvSpPr>
        <p:spPr>
          <a:xfrm>
            <a:off x="369888" y="2803525"/>
            <a:ext cx="2014537" cy="1588"/>
          </a:xfrm>
          <a:prstGeom prst="line">
            <a:avLst/>
          </a:prstGeom>
          <a:ln w="0" cap="flat" cmpd="sng">
            <a:solidFill>
              <a:srgbClr val="000000"/>
            </a:solidFill>
            <a:prstDash val="solid"/>
            <a:headEnd type="none" w="med" len="med"/>
            <a:tailEnd type="none" w="med" len="med"/>
          </a:ln>
        </p:spPr>
      </p:sp>
      <p:sp>
        <p:nvSpPr>
          <p:cNvPr id="23565" name="Line 2064"/>
          <p:cNvSpPr/>
          <p:nvPr/>
        </p:nvSpPr>
        <p:spPr>
          <a:xfrm>
            <a:off x="369888" y="2619375"/>
            <a:ext cx="2014537" cy="1588"/>
          </a:xfrm>
          <a:prstGeom prst="line">
            <a:avLst/>
          </a:prstGeom>
          <a:ln w="0" cap="flat" cmpd="sng">
            <a:solidFill>
              <a:srgbClr val="000000"/>
            </a:solidFill>
            <a:prstDash val="solid"/>
            <a:headEnd type="none" w="med" len="med"/>
            <a:tailEnd type="none" w="med" len="med"/>
          </a:ln>
        </p:spPr>
      </p:sp>
      <p:sp>
        <p:nvSpPr>
          <p:cNvPr id="23566" name="Line 2065"/>
          <p:cNvSpPr/>
          <p:nvPr/>
        </p:nvSpPr>
        <p:spPr>
          <a:xfrm>
            <a:off x="369888" y="2446338"/>
            <a:ext cx="2014537" cy="1587"/>
          </a:xfrm>
          <a:prstGeom prst="line">
            <a:avLst/>
          </a:prstGeom>
          <a:ln w="0" cap="flat" cmpd="sng">
            <a:solidFill>
              <a:srgbClr val="000000"/>
            </a:solidFill>
            <a:prstDash val="solid"/>
            <a:headEnd type="none" w="med" len="med"/>
            <a:tailEnd type="none" w="med" len="med"/>
          </a:ln>
        </p:spPr>
      </p:sp>
      <p:sp>
        <p:nvSpPr>
          <p:cNvPr id="23567" name="Line 2066"/>
          <p:cNvSpPr/>
          <p:nvPr/>
        </p:nvSpPr>
        <p:spPr>
          <a:xfrm>
            <a:off x="369888" y="2262188"/>
            <a:ext cx="2014537" cy="1587"/>
          </a:xfrm>
          <a:prstGeom prst="line">
            <a:avLst/>
          </a:prstGeom>
          <a:ln w="0" cap="flat" cmpd="sng">
            <a:solidFill>
              <a:srgbClr val="000000"/>
            </a:solidFill>
            <a:prstDash val="solid"/>
            <a:headEnd type="none" w="med" len="med"/>
            <a:tailEnd type="none" w="med" len="med"/>
          </a:ln>
        </p:spPr>
      </p:sp>
      <p:sp>
        <p:nvSpPr>
          <p:cNvPr id="23568" name="Line 2067"/>
          <p:cNvSpPr/>
          <p:nvPr/>
        </p:nvSpPr>
        <p:spPr>
          <a:xfrm>
            <a:off x="369888" y="2087563"/>
            <a:ext cx="2014537" cy="1587"/>
          </a:xfrm>
          <a:prstGeom prst="line">
            <a:avLst/>
          </a:prstGeom>
          <a:ln w="0" cap="flat" cmpd="sng">
            <a:solidFill>
              <a:srgbClr val="000000"/>
            </a:solidFill>
            <a:prstDash val="solid"/>
            <a:headEnd type="none" w="med" len="med"/>
            <a:tailEnd type="none" w="med" len="med"/>
          </a:ln>
        </p:spPr>
      </p:sp>
      <p:sp>
        <p:nvSpPr>
          <p:cNvPr id="23569" name="Line 2068"/>
          <p:cNvSpPr/>
          <p:nvPr/>
        </p:nvSpPr>
        <p:spPr>
          <a:xfrm>
            <a:off x="369888" y="1903413"/>
            <a:ext cx="2014537" cy="1587"/>
          </a:xfrm>
          <a:prstGeom prst="line">
            <a:avLst/>
          </a:prstGeom>
          <a:ln w="0" cap="flat" cmpd="sng">
            <a:solidFill>
              <a:srgbClr val="000000"/>
            </a:solidFill>
            <a:prstDash val="solid"/>
            <a:headEnd type="none" w="med" len="med"/>
            <a:tailEnd type="none" w="med" len="med"/>
          </a:ln>
        </p:spPr>
      </p:sp>
      <p:sp>
        <p:nvSpPr>
          <p:cNvPr id="23570" name="Line 2069"/>
          <p:cNvSpPr/>
          <p:nvPr/>
        </p:nvSpPr>
        <p:spPr>
          <a:xfrm>
            <a:off x="576263" y="1903413"/>
            <a:ext cx="1587" cy="1789112"/>
          </a:xfrm>
          <a:prstGeom prst="line">
            <a:avLst/>
          </a:prstGeom>
          <a:ln w="0" cap="flat" cmpd="sng">
            <a:solidFill>
              <a:srgbClr val="000000"/>
            </a:solidFill>
            <a:prstDash val="solid"/>
            <a:headEnd type="none" w="med" len="med"/>
            <a:tailEnd type="none" w="med" len="med"/>
          </a:ln>
        </p:spPr>
      </p:sp>
      <p:sp>
        <p:nvSpPr>
          <p:cNvPr id="23571" name="Line 2070"/>
          <p:cNvSpPr/>
          <p:nvPr/>
        </p:nvSpPr>
        <p:spPr>
          <a:xfrm>
            <a:off x="773113" y="1903413"/>
            <a:ext cx="1587" cy="1789112"/>
          </a:xfrm>
          <a:prstGeom prst="line">
            <a:avLst/>
          </a:prstGeom>
          <a:ln w="0" cap="flat" cmpd="sng">
            <a:solidFill>
              <a:srgbClr val="000000"/>
            </a:solidFill>
            <a:prstDash val="solid"/>
            <a:headEnd type="none" w="med" len="med"/>
            <a:tailEnd type="none" w="med" len="med"/>
          </a:ln>
        </p:spPr>
      </p:sp>
      <p:sp>
        <p:nvSpPr>
          <p:cNvPr id="23572" name="Line 2071"/>
          <p:cNvSpPr/>
          <p:nvPr/>
        </p:nvSpPr>
        <p:spPr>
          <a:xfrm>
            <a:off x="979488" y="1903413"/>
            <a:ext cx="1587" cy="1789112"/>
          </a:xfrm>
          <a:prstGeom prst="line">
            <a:avLst/>
          </a:prstGeom>
          <a:ln w="0" cap="flat" cmpd="sng">
            <a:solidFill>
              <a:srgbClr val="000000"/>
            </a:solidFill>
            <a:prstDash val="solid"/>
            <a:headEnd type="none" w="med" len="med"/>
            <a:tailEnd type="none" w="med" len="med"/>
          </a:ln>
        </p:spPr>
      </p:sp>
      <p:sp>
        <p:nvSpPr>
          <p:cNvPr id="23573" name="Line 2072"/>
          <p:cNvSpPr/>
          <p:nvPr/>
        </p:nvSpPr>
        <p:spPr>
          <a:xfrm>
            <a:off x="1176338" y="1903413"/>
            <a:ext cx="1587" cy="1789112"/>
          </a:xfrm>
          <a:prstGeom prst="line">
            <a:avLst/>
          </a:prstGeom>
          <a:ln w="0" cap="flat" cmpd="sng">
            <a:solidFill>
              <a:srgbClr val="000000"/>
            </a:solidFill>
            <a:prstDash val="solid"/>
            <a:headEnd type="none" w="med" len="med"/>
            <a:tailEnd type="none" w="med" len="med"/>
          </a:ln>
        </p:spPr>
      </p:sp>
      <p:sp>
        <p:nvSpPr>
          <p:cNvPr id="23574" name="Line 2073"/>
          <p:cNvSpPr/>
          <p:nvPr/>
        </p:nvSpPr>
        <p:spPr>
          <a:xfrm>
            <a:off x="1382713" y="1903413"/>
            <a:ext cx="1587" cy="1789112"/>
          </a:xfrm>
          <a:prstGeom prst="line">
            <a:avLst/>
          </a:prstGeom>
          <a:ln w="0" cap="flat" cmpd="sng">
            <a:solidFill>
              <a:srgbClr val="000000"/>
            </a:solidFill>
            <a:prstDash val="solid"/>
            <a:headEnd type="none" w="med" len="med"/>
            <a:tailEnd type="none" w="med" len="med"/>
          </a:ln>
        </p:spPr>
      </p:sp>
      <p:sp>
        <p:nvSpPr>
          <p:cNvPr id="23575" name="Line 2074"/>
          <p:cNvSpPr/>
          <p:nvPr/>
        </p:nvSpPr>
        <p:spPr>
          <a:xfrm>
            <a:off x="1577975" y="1903413"/>
            <a:ext cx="1588" cy="1789112"/>
          </a:xfrm>
          <a:prstGeom prst="line">
            <a:avLst/>
          </a:prstGeom>
          <a:ln w="0" cap="flat" cmpd="sng">
            <a:solidFill>
              <a:srgbClr val="000000"/>
            </a:solidFill>
            <a:prstDash val="solid"/>
            <a:headEnd type="none" w="med" len="med"/>
            <a:tailEnd type="none" w="med" len="med"/>
          </a:ln>
        </p:spPr>
      </p:sp>
      <p:sp>
        <p:nvSpPr>
          <p:cNvPr id="23576" name="Line 2075"/>
          <p:cNvSpPr/>
          <p:nvPr/>
        </p:nvSpPr>
        <p:spPr>
          <a:xfrm>
            <a:off x="1785938" y="1903413"/>
            <a:ext cx="1587" cy="1789112"/>
          </a:xfrm>
          <a:prstGeom prst="line">
            <a:avLst/>
          </a:prstGeom>
          <a:ln w="0" cap="flat" cmpd="sng">
            <a:solidFill>
              <a:srgbClr val="000000"/>
            </a:solidFill>
            <a:prstDash val="solid"/>
            <a:headEnd type="none" w="med" len="med"/>
            <a:tailEnd type="none" w="med" len="med"/>
          </a:ln>
        </p:spPr>
      </p:sp>
      <p:sp>
        <p:nvSpPr>
          <p:cNvPr id="23577" name="Line 2076"/>
          <p:cNvSpPr/>
          <p:nvPr/>
        </p:nvSpPr>
        <p:spPr>
          <a:xfrm>
            <a:off x="1981200" y="1903413"/>
            <a:ext cx="1588" cy="1789112"/>
          </a:xfrm>
          <a:prstGeom prst="line">
            <a:avLst/>
          </a:prstGeom>
          <a:ln w="0" cap="flat" cmpd="sng">
            <a:solidFill>
              <a:srgbClr val="000000"/>
            </a:solidFill>
            <a:prstDash val="solid"/>
            <a:headEnd type="none" w="med" len="med"/>
            <a:tailEnd type="none" w="med" len="med"/>
          </a:ln>
        </p:spPr>
      </p:sp>
      <p:sp>
        <p:nvSpPr>
          <p:cNvPr id="23578" name="Line 2077"/>
          <p:cNvSpPr/>
          <p:nvPr/>
        </p:nvSpPr>
        <p:spPr>
          <a:xfrm>
            <a:off x="2187575" y="1903413"/>
            <a:ext cx="1588" cy="1789112"/>
          </a:xfrm>
          <a:prstGeom prst="line">
            <a:avLst/>
          </a:prstGeom>
          <a:ln w="0" cap="flat" cmpd="sng">
            <a:solidFill>
              <a:srgbClr val="000000"/>
            </a:solidFill>
            <a:prstDash val="solid"/>
            <a:headEnd type="none" w="med" len="med"/>
            <a:tailEnd type="none" w="med" len="med"/>
          </a:ln>
        </p:spPr>
      </p:sp>
      <p:sp>
        <p:nvSpPr>
          <p:cNvPr id="23579" name="Line 2078"/>
          <p:cNvSpPr/>
          <p:nvPr/>
        </p:nvSpPr>
        <p:spPr>
          <a:xfrm>
            <a:off x="2384425" y="1903413"/>
            <a:ext cx="1588" cy="1789112"/>
          </a:xfrm>
          <a:prstGeom prst="line">
            <a:avLst/>
          </a:prstGeom>
          <a:ln w="0" cap="flat" cmpd="sng">
            <a:solidFill>
              <a:srgbClr val="000000"/>
            </a:solidFill>
            <a:prstDash val="solid"/>
            <a:headEnd type="none" w="med" len="med"/>
            <a:tailEnd type="none" w="med" len="med"/>
          </a:ln>
        </p:spPr>
      </p:sp>
      <p:sp>
        <p:nvSpPr>
          <p:cNvPr id="23580" name="Rectangle 2079"/>
          <p:cNvSpPr/>
          <p:nvPr/>
        </p:nvSpPr>
        <p:spPr>
          <a:xfrm>
            <a:off x="369888" y="1903413"/>
            <a:ext cx="2014537" cy="1789112"/>
          </a:xfrm>
          <a:prstGeom prst="rect">
            <a:avLst/>
          </a:prstGeom>
          <a:noFill/>
          <a:ln w="11113"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sp>
        <p:nvSpPr>
          <p:cNvPr id="23581" name="Line 2080"/>
          <p:cNvSpPr/>
          <p:nvPr/>
        </p:nvSpPr>
        <p:spPr>
          <a:xfrm>
            <a:off x="369888" y="1903413"/>
            <a:ext cx="1587" cy="1789112"/>
          </a:xfrm>
          <a:prstGeom prst="line">
            <a:avLst/>
          </a:prstGeom>
          <a:ln w="0" cap="flat" cmpd="sng">
            <a:solidFill>
              <a:srgbClr val="000000"/>
            </a:solidFill>
            <a:prstDash val="solid"/>
            <a:headEnd type="none" w="med" len="med"/>
            <a:tailEnd type="none" w="med" len="med"/>
          </a:ln>
        </p:spPr>
      </p:sp>
      <p:sp>
        <p:nvSpPr>
          <p:cNvPr id="23582" name="Line 2081"/>
          <p:cNvSpPr/>
          <p:nvPr/>
        </p:nvSpPr>
        <p:spPr>
          <a:xfrm>
            <a:off x="347663" y="3692525"/>
            <a:ext cx="22225" cy="1588"/>
          </a:xfrm>
          <a:prstGeom prst="line">
            <a:avLst/>
          </a:prstGeom>
          <a:ln w="0" cap="flat" cmpd="sng">
            <a:solidFill>
              <a:srgbClr val="000000"/>
            </a:solidFill>
            <a:prstDash val="solid"/>
            <a:headEnd type="none" w="med" len="med"/>
            <a:tailEnd type="none" w="med" len="med"/>
          </a:ln>
        </p:spPr>
      </p:sp>
      <p:sp>
        <p:nvSpPr>
          <p:cNvPr id="23583" name="Line 2082"/>
          <p:cNvSpPr/>
          <p:nvPr/>
        </p:nvSpPr>
        <p:spPr>
          <a:xfrm>
            <a:off x="347663" y="3517900"/>
            <a:ext cx="22225" cy="1588"/>
          </a:xfrm>
          <a:prstGeom prst="line">
            <a:avLst/>
          </a:prstGeom>
          <a:ln w="0" cap="flat" cmpd="sng">
            <a:solidFill>
              <a:srgbClr val="000000"/>
            </a:solidFill>
            <a:prstDash val="solid"/>
            <a:headEnd type="none" w="med" len="med"/>
            <a:tailEnd type="none" w="med" len="med"/>
          </a:ln>
        </p:spPr>
      </p:sp>
      <p:sp>
        <p:nvSpPr>
          <p:cNvPr id="23584" name="Line 2083"/>
          <p:cNvSpPr/>
          <p:nvPr/>
        </p:nvSpPr>
        <p:spPr>
          <a:xfrm>
            <a:off x="347663" y="3333750"/>
            <a:ext cx="22225" cy="1588"/>
          </a:xfrm>
          <a:prstGeom prst="line">
            <a:avLst/>
          </a:prstGeom>
          <a:ln w="0" cap="flat" cmpd="sng">
            <a:solidFill>
              <a:srgbClr val="000000"/>
            </a:solidFill>
            <a:prstDash val="solid"/>
            <a:headEnd type="none" w="med" len="med"/>
            <a:tailEnd type="none" w="med" len="med"/>
          </a:ln>
        </p:spPr>
      </p:sp>
      <p:sp>
        <p:nvSpPr>
          <p:cNvPr id="23585" name="Line 2084"/>
          <p:cNvSpPr/>
          <p:nvPr/>
        </p:nvSpPr>
        <p:spPr>
          <a:xfrm>
            <a:off x="347663" y="3160713"/>
            <a:ext cx="22225" cy="1587"/>
          </a:xfrm>
          <a:prstGeom prst="line">
            <a:avLst/>
          </a:prstGeom>
          <a:ln w="0" cap="flat" cmpd="sng">
            <a:solidFill>
              <a:srgbClr val="000000"/>
            </a:solidFill>
            <a:prstDash val="solid"/>
            <a:headEnd type="none" w="med" len="med"/>
            <a:tailEnd type="none" w="med" len="med"/>
          </a:ln>
        </p:spPr>
      </p:sp>
      <p:sp>
        <p:nvSpPr>
          <p:cNvPr id="23586" name="Line 2085"/>
          <p:cNvSpPr/>
          <p:nvPr/>
        </p:nvSpPr>
        <p:spPr>
          <a:xfrm>
            <a:off x="347663" y="2976563"/>
            <a:ext cx="22225" cy="1587"/>
          </a:xfrm>
          <a:prstGeom prst="line">
            <a:avLst/>
          </a:prstGeom>
          <a:ln w="0" cap="flat" cmpd="sng">
            <a:solidFill>
              <a:srgbClr val="000000"/>
            </a:solidFill>
            <a:prstDash val="solid"/>
            <a:headEnd type="none" w="med" len="med"/>
            <a:tailEnd type="none" w="med" len="med"/>
          </a:ln>
        </p:spPr>
      </p:sp>
      <p:sp>
        <p:nvSpPr>
          <p:cNvPr id="23587" name="Line 2086"/>
          <p:cNvSpPr/>
          <p:nvPr/>
        </p:nvSpPr>
        <p:spPr>
          <a:xfrm>
            <a:off x="347663" y="2803525"/>
            <a:ext cx="22225" cy="1588"/>
          </a:xfrm>
          <a:prstGeom prst="line">
            <a:avLst/>
          </a:prstGeom>
          <a:ln w="0" cap="flat" cmpd="sng">
            <a:solidFill>
              <a:srgbClr val="000000"/>
            </a:solidFill>
            <a:prstDash val="solid"/>
            <a:headEnd type="none" w="med" len="med"/>
            <a:tailEnd type="none" w="med" len="med"/>
          </a:ln>
        </p:spPr>
      </p:sp>
      <p:sp>
        <p:nvSpPr>
          <p:cNvPr id="23588" name="Line 2087"/>
          <p:cNvSpPr/>
          <p:nvPr/>
        </p:nvSpPr>
        <p:spPr>
          <a:xfrm>
            <a:off x="347663" y="2619375"/>
            <a:ext cx="22225" cy="1588"/>
          </a:xfrm>
          <a:prstGeom prst="line">
            <a:avLst/>
          </a:prstGeom>
          <a:ln w="0" cap="flat" cmpd="sng">
            <a:solidFill>
              <a:srgbClr val="000000"/>
            </a:solidFill>
            <a:prstDash val="solid"/>
            <a:headEnd type="none" w="med" len="med"/>
            <a:tailEnd type="none" w="med" len="med"/>
          </a:ln>
        </p:spPr>
      </p:sp>
      <p:sp>
        <p:nvSpPr>
          <p:cNvPr id="23589" name="Line 2088"/>
          <p:cNvSpPr/>
          <p:nvPr/>
        </p:nvSpPr>
        <p:spPr>
          <a:xfrm>
            <a:off x="347663" y="2446338"/>
            <a:ext cx="22225" cy="1587"/>
          </a:xfrm>
          <a:prstGeom prst="line">
            <a:avLst/>
          </a:prstGeom>
          <a:ln w="0" cap="flat" cmpd="sng">
            <a:solidFill>
              <a:srgbClr val="000000"/>
            </a:solidFill>
            <a:prstDash val="solid"/>
            <a:headEnd type="none" w="med" len="med"/>
            <a:tailEnd type="none" w="med" len="med"/>
          </a:ln>
        </p:spPr>
      </p:sp>
      <p:sp>
        <p:nvSpPr>
          <p:cNvPr id="23590" name="Line 2089"/>
          <p:cNvSpPr/>
          <p:nvPr/>
        </p:nvSpPr>
        <p:spPr>
          <a:xfrm>
            <a:off x="347663" y="2262188"/>
            <a:ext cx="22225" cy="1587"/>
          </a:xfrm>
          <a:prstGeom prst="line">
            <a:avLst/>
          </a:prstGeom>
          <a:ln w="0" cap="flat" cmpd="sng">
            <a:solidFill>
              <a:srgbClr val="000000"/>
            </a:solidFill>
            <a:prstDash val="solid"/>
            <a:headEnd type="none" w="med" len="med"/>
            <a:tailEnd type="none" w="med" len="med"/>
          </a:ln>
        </p:spPr>
      </p:sp>
      <p:sp>
        <p:nvSpPr>
          <p:cNvPr id="23591" name="Line 2090"/>
          <p:cNvSpPr/>
          <p:nvPr/>
        </p:nvSpPr>
        <p:spPr>
          <a:xfrm>
            <a:off x="347663" y="2087563"/>
            <a:ext cx="22225" cy="1587"/>
          </a:xfrm>
          <a:prstGeom prst="line">
            <a:avLst/>
          </a:prstGeom>
          <a:ln w="0" cap="flat" cmpd="sng">
            <a:solidFill>
              <a:srgbClr val="000000"/>
            </a:solidFill>
            <a:prstDash val="solid"/>
            <a:headEnd type="none" w="med" len="med"/>
            <a:tailEnd type="none" w="med" len="med"/>
          </a:ln>
        </p:spPr>
      </p:sp>
      <p:sp>
        <p:nvSpPr>
          <p:cNvPr id="23592" name="Line 2091"/>
          <p:cNvSpPr/>
          <p:nvPr/>
        </p:nvSpPr>
        <p:spPr>
          <a:xfrm>
            <a:off x="347663" y="1903413"/>
            <a:ext cx="22225" cy="1587"/>
          </a:xfrm>
          <a:prstGeom prst="line">
            <a:avLst/>
          </a:prstGeom>
          <a:ln w="0" cap="flat" cmpd="sng">
            <a:solidFill>
              <a:srgbClr val="000000"/>
            </a:solidFill>
            <a:prstDash val="solid"/>
            <a:headEnd type="none" w="med" len="med"/>
            <a:tailEnd type="none" w="med" len="med"/>
          </a:ln>
        </p:spPr>
      </p:sp>
      <p:sp>
        <p:nvSpPr>
          <p:cNvPr id="23593" name="Line 2092"/>
          <p:cNvSpPr/>
          <p:nvPr/>
        </p:nvSpPr>
        <p:spPr>
          <a:xfrm>
            <a:off x="369888" y="3692525"/>
            <a:ext cx="2014537" cy="1588"/>
          </a:xfrm>
          <a:prstGeom prst="line">
            <a:avLst/>
          </a:prstGeom>
          <a:ln w="0" cap="flat" cmpd="sng">
            <a:solidFill>
              <a:srgbClr val="000000"/>
            </a:solidFill>
            <a:prstDash val="solid"/>
            <a:headEnd type="none" w="med" len="med"/>
            <a:tailEnd type="none" w="med" len="med"/>
          </a:ln>
        </p:spPr>
      </p:sp>
      <p:sp>
        <p:nvSpPr>
          <p:cNvPr id="23594" name="Line 2093"/>
          <p:cNvSpPr/>
          <p:nvPr/>
        </p:nvSpPr>
        <p:spPr>
          <a:xfrm flipV="1">
            <a:off x="369888" y="3692525"/>
            <a:ext cx="1587" cy="20638"/>
          </a:xfrm>
          <a:prstGeom prst="line">
            <a:avLst/>
          </a:prstGeom>
          <a:ln w="0" cap="flat" cmpd="sng">
            <a:solidFill>
              <a:srgbClr val="000000"/>
            </a:solidFill>
            <a:prstDash val="solid"/>
            <a:headEnd type="none" w="med" len="med"/>
            <a:tailEnd type="none" w="med" len="med"/>
          </a:ln>
        </p:spPr>
      </p:sp>
      <p:sp>
        <p:nvSpPr>
          <p:cNvPr id="23595" name="Line 2094"/>
          <p:cNvSpPr/>
          <p:nvPr/>
        </p:nvSpPr>
        <p:spPr>
          <a:xfrm flipV="1">
            <a:off x="576263" y="3692525"/>
            <a:ext cx="1587" cy="20638"/>
          </a:xfrm>
          <a:prstGeom prst="line">
            <a:avLst/>
          </a:prstGeom>
          <a:ln w="0" cap="flat" cmpd="sng">
            <a:solidFill>
              <a:srgbClr val="000000"/>
            </a:solidFill>
            <a:prstDash val="solid"/>
            <a:headEnd type="none" w="med" len="med"/>
            <a:tailEnd type="none" w="med" len="med"/>
          </a:ln>
        </p:spPr>
      </p:sp>
      <p:sp>
        <p:nvSpPr>
          <p:cNvPr id="23596" name="Line 2095"/>
          <p:cNvSpPr/>
          <p:nvPr/>
        </p:nvSpPr>
        <p:spPr>
          <a:xfrm flipV="1">
            <a:off x="773113" y="3692525"/>
            <a:ext cx="1587" cy="20638"/>
          </a:xfrm>
          <a:prstGeom prst="line">
            <a:avLst/>
          </a:prstGeom>
          <a:ln w="0" cap="flat" cmpd="sng">
            <a:solidFill>
              <a:srgbClr val="000000"/>
            </a:solidFill>
            <a:prstDash val="solid"/>
            <a:headEnd type="none" w="med" len="med"/>
            <a:tailEnd type="none" w="med" len="med"/>
          </a:ln>
        </p:spPr>
      </p:sp>
      <p:sp>
        <p:nvSpPr>
          <p:cNvPr id="23597" name="Line 2096"/>
          <p:cNvSpPr/>
          <p:nvPr/>
        </p:nvSpPr>
        <p:spPr>
          <a:xfrm flipV="1">
            <a:off x="979488" y="3692525"/>
            <a:ext cx="1587" cy="20638"/>
          </a:xfrm>
          <a:prstGeom prst="line">
            <a:avLst/>
          </a:prstGeom>
          <a:ln w="0" cap="flat" cmpd="sng">
            <a:solidFill>
              <a:srgbClr val="000000"/>
            </a:solidFill>
            <a:prstDash val="solid"/>
            <a:headEnd type="none" w="med" len="med"/>
            <a:tailEnd type="none" w="med" len="med"/>
          </a:ln>
        </p:spPr>
      </p:sp>
      <p:sp>
        <p:nvSpPr>
          <p:cNvPr id="23598" name="Line 2097"/>
          <p:cNvSpPr/>
          <p:nvPr/>
        </p:nvSpPr>
        <p:spPr>
          <a:xfrm flipV="1">
            <a:off x="1176338" y="3692525"/>
            <a:ext cx="1587" cy="20638"/>
          </a:xfrm>
          <a:prstGeom prst="line">
            <a:avLst/>
          </a:prstGeom>
          <a:ln w="0" cap="flat" cmpd="sng">
            <a:solidFill>
              <a:srgbClr val="000000"/>
            </a:solidFill>
            <a:prstDash val="solid"/>
            <a:headEnd type="none" w="med" len="med"/>
            <a:tailEnd type="none" w="med" len="med"/>
          </a:ln>
        </p:spPr>
      </p:sp>
      <p:sp>
        <p:nvSpPr>
          <p:cNvPr id="23599" name="Line 2098"/>
          <p:cNvSpPr/>
          <p:nvPr/>
        </p:nvSpPr>
        <p:spPr>
          <a:xfrm flipV="1">
            <a:off x="1382713" y="3692525"/>
            <a:ext cx="1587" cy="20638"/>
          </a:xfrm>
          <a:prstGeom prst="line">
            <a:avLst/>
          </a:prstGeom>
          <a:ln w="0" cap="flat" cmpd="sng">
            <a:solidFill>
              <a:srgbClr val="000000"/>
            </a:solidFill>
            <a:prstDash val="solid"/>
            <a:headEnd type="none" w="med" len="med"/>
            <a:tailEnd type="none" w="med" len="med"/>
          </a:ln>
        </p:spPr>
      </p:sp>
      <p:sp>
        <p:nvSpPr>
          <p:cNvPr id="23600" name="Line 2099"/>
          <p:cNvSpPr/>
          <p:nvPr/>
        </p:nvSpPr>
        <p:spPr>
          <a:xfrm flipV="1">
            <a:off x="1577975" y="3692525"/>
            <a:ext cx="1588" cy="20638"/>
          </a:xfrm>
          <a:prstGeom prst="line">
            <a:avLst/>
          </a:prstGeom>
          <a:ln w="0" cap="flat" cmpd="sng">
            <a:solidFill>
              <a:srgbClr val="000000"/>
            </a:solidFill>
            <a:prstDash val="solid"/>
            <a:headEnd type="none" w="med" len="med"/>
            <a:tailEnd type="none" w="med" len="med"/>
          </a:ln>
        </p:spPr>
      </p:sp>
      <p:sp>
        <p:nvSpPr>
          <p:cNvPr id="23601" name="Line 2100"/>
          <p:cNvSpPr/>
          <p:nvPr/>
        </p:nvSpPr>
        <p:spPr>
          <a:xfrm flipV="1">
            <a:off x="1785938" y="3692525"/>
            <a:ext cx="1587" cy="20638"/>
          </a:xfrm>
          <a:prstGeom prst="line">
            <a:avLst/>
          </a:prstGeom>
          <a:ln w="0" cap="flat" cmpd="sng">
            <a:solidFill>
              <a:srgbClr val="000000"/>
            </a:solidFill>
            <a:prstDash val="solid"/>
            <a:headEnd type="none" w="med" len="med"/>
            <a:tailEnd type="none" w="med" len="med"/>
          </a:ln>
        </p:spPr>
      </p:sp>
      <p:sp>
        <p:nvSpPr>
          <p:cNvPr id="23602" name="Line 2101"/>
          <p:cNvSpPr/>
          <p:nvPr/>
        </p:nvSpPr>
        <p:spPr>
          <a:xfrm flipV="1">
            <a:off x="1981200" y="3692525"/>
            <a:ext cx="1588" cy="20638"/>
          </a:xfrm>
          <a:prstGeom prst="line">
            <a:avLst/>
          </a:prstGeom>
          <a:ln w="0" cap="flat" cmpd="sng">
            <a:solidFill>
              <a:srgbClr val="000000"/>
            </a:solidFill>
            <a:prstDash val="solid"/>
            <a:headEnd type="none" w="med" len="med"/>
            <a:tailEnd type="none" w="med" len="med"/>
          </a:ln>
        </p:spPr>
      </p:sp>
      <p:sp>
        <p:nvSpPr>
          <p:cNvPr id="23603" name="Line 2102"/>
          <p:cNvSpPr/>
          <p:nvPr/>
        </p:nvSpPr>
        <p:spPr>
          <a:xfrm flipV="1">
            <a:off x="2187575" y="3692525"/>
            <a:ext cx="1588" cy="20638"/>
          </a:xfrm>
          <a:prstGeom prst="line">
            <a:avLst/>
          </a:prstGeom>
          <a:ln w="0" cap="flat" cmpd="sng">
            <a:solidFill>
              <a:srgbClr val="000000"/>
            </a:solidFill>
            <a:prstDash val="solid"/>
            <a:headEnd type="none" w="med" len="med"/>
            <a:tailEnd type="none" w="med" len="med"/>
          </a:ln>
        </p:spPr>
      </p:sp>
      <p:sp>
        <p:nvSpPr>
          <p:cNvPr id="23604" name="Line 2103"/>
          <p:cNvSpPr/>
          <p:nvPr/>
        </p:nvSpPr>
        <p:spPr>
          <a:xfrm flipV="1">
            <a:off x="2384425" y="3692525"/>
            <a:ext cx="1588" cy="20638"/>
          </a:xfrm>
          <a:prstGeom prst="line">
            <a:avLst/>
          </a:prstGeom>
          <a:ln w="0" cap="flat" cmpd="sng">
            <a:solidFill>
              <a:srgbClr val="000000"/>
            </a:solidFill>
            <a:prstDash val="solid"/>
            <a:headEnd type="none" w="med" len="med"/>
            <a:tailEnd type="none" w="med" len="med"/>
          </a:ln>
        </p:spPr>
      </p:sp>
      <p:sp>
        <p:nvSpPr>
          <p:cNvPr id="23605" name="Freeform 2104"/>
          <p:cNvSpPr/>
          <p:nvPr/>
        </p:nvSpPr>
        <p:spPr>
          <a:xfrm>
            <a:off x="903288" y="2900363"/>
            <a:ext cx="152400" cy="152400"/>
          </a:xfrm>
          <a:custGeom>
            <a:avLst/>
            <a:gdLst>
              <a:gd name="txL" fmla="*/ 0 w 96"/>
              <a:gd name="txT" fmla="*/ 0 h 96"/>
              <a:gd name="txR" fmla="*/ 96 w 96"/>
              <a:gd name="txB" fmla="*/ 96 h 96"/>
            </a:gdLst>
            <a:ahLst/>
            <a:cxnLst>
              <a:cxn ang="0">
                <a:pos x="2147483647" y="0"/>
              </a:cxn>
              <a:cxn ang="0">
                <a:pos x="2147483647" y="2147483647"/>
              </a:cxn>
              <a:cxn ang="0">
                <a:pos x="2147483647" y="2147483647"/>
              </a:cxn>
              <a:cxn ang="0">
                <a:pos x="0" y="2147483647"/>
              </a:cxn>
              <a:cxn ang="0">
                <a:pos x="2147483647" y="0"/>
              </a:cxn>
            </a:cxnLst>
            <a:rect l="txL" t="txT" r="txR" b="txB"/>
            <a:pathLst>
              <a:path w="96" h="96">
                <a:moveTo>
                  <a:pt x="48" y="0"/>
                </a:moveTo>
                <a:lnTo>
                  <a:pt x="96" y="48"/>
                </a:lnTo>
                <a:lnTo>
                  <a:pt x="48" y="96"/>
                </a:lnTo>
                <a:lnTo>
                  <a:pt x="0" y="48"/>
                </a:lnTo>
                <a:lnTo>
                  <a:pt x="48" y="0"/>
                </a:lnTo>
                <a:close/>
              </a:path>
            </a:pathLst>
          </a:custGeom>
          <a:solidFill>
            <a:srgbClr val="00FFFF">
              <a:alpha val="100000"/>
            </a:srgbClr>
          </a:solidFill>
          <a:ln w="11113" cap="flat" cmpd="sng">
            <a:solidFill>
              <a:srgbClr val="000080">
                <a:alpha val="100000"/>
              </a:srgbClr>
            </a:solidFill>
            <a:prstDash val="solid"/>
            <a:round/>
            <a:headEnd type="none" w="med" len="med"/>
            <a:tailEnd type="none" w="med" len="med"/>
          </a:ln>
        </p:spPr>
        <p:txBody>
          <a:bodyPr/>
          <a:p>
            <a:endParaRPr lang="en-US"/>
          </a:p>
        </p:txBody>
      </p:sp>
      <p:sp>
        <p:nvSpPr>
          <p:cNvPr id="23606" name="Freeform 2105"/>
          <p:cNvSpPr/>
          <p:nvPr/>
        </p:nvSpPr>
        <p:spPr>
          <a:xfrm>
            <a:off x="696913" y="2543175"/>
            <a:ext cx="152400" cy="152400"/>
          </a:xfrm>
          <a:custGeom>
            <a:avLst/>
            <a:gdLst>
              <a:gd name="txL" fmla="*/ 0 w 96"/>
              <a:gd name="txT" fmla="*/ 0 h 96"/>
              <a:gd name="txR" fmla="*/ 96 w 96"/>
              <a:gd name="txB" fmla="*/ 96 h 96"/>
            </a:gdLst>
            <a:ahLst/>
            <a:cxnLst>
              <a:cxn ang="0">
                <a:pos x="2147483647" y="0"/>
              </a:cxn>
              <a:cxn ang="0">
                <a:pos x="2147483647" y="2147483647"/>
              </a:cxn>
              <a:cxn ang="0">
                <a:pos x="2147483647" y="2147483647"/>
              </a:cxn>
              <a:cxn ang="0">
                <a:pos x="0" y="2147483647"/>
              </a:cxn>
              <a:cxn ang="0">
                <a:pos x="2147483647" y="0"/>
              </a:cxn>
            </a:cxnLst>
            <a:rect l="txL" t="txT" r="txR" b="txB"/>
            <a:pathLst>
              <a:path w="96" h="96">
                <a:moveTo>
                  <a:pt x="48" y="0"/>
                </a:moveTo>
                <a:lnTo>
                  <a:pt x="96" y="48"/>
                </a:lnTo>
                <a:lnTo>
                  <a:pt x="48" y="96"/>
                </a:lnTo>
                <a:lnTo>
                  <a:pt x="0" y="48"/>
                </a:lnTo>
                <a:lnTo>
                  <a:pt x="48" y="0"/>
                </a:lnTo>
                <a:close/>
              </a:path>
            </a:pathLst>
          </a:custGeom>
          <a:solidFill>
            <a:srgbClr val="00FFFF">
              <a:alpha val="100000"/>
            </a:srgbClr>
          </a:solidFill>
          <a:ln w="11113" cap="flat" cmpd="sng">
            <a:solidFill>
              <a:srgbClr val="000080">
                <a:alpha val="100000"/>
              </a:srgbClr>
            </a:solidFill>
            <a:prstDash val="solid"/>
            <a:round/>
            <a:headEnd type="none" w="med" len="med"/>
            <a:tailEnd type="none" w="med" len="med"/>
          </a:ln>
        </p:spPr>
        <p:txBody>
          <a:bodyPr/>
          <a:p>
            <a:endParaRPr lang="en-US"/>
          </a:p>
        </p:txBody>
      </p:sp>
      <p:sp>
        <p:nvSpPr>
          <p:cNvPr id="23607" name="Freeform 2106"/>
          <p:cNvSpPr/>
          <p:nvPr/>
        </p:nvSpPr>
        <p:spPr>
          <a:xfrm>
            <a:off x="1709738" y="3084513"/>
            <a:ext cx="152400" cy="152400"/>
          </a:xfrm>
          <a:custGeom>
            <a:avLst/>
            <a:gdLst>
              <a:gd name="txL" fmla="*/ 0 w 96"/>
              <a:gd name="txT" fmla="*/ 0 h 96"/>
              <a:gd name="txR" fmla="*/ 96 w 96"/>
              <a:gd name="txB" fmla="*/ 96 h 96"/>
            </a:gdLst>
            <a:ahLst/>
            <a:cxnLst>
              <a:cxn ang="0">
                <a:pos x="2147483647" y="0"/>
              </a:cxn>
              <a:cxn ang="0">
                <a:pos x="2147483647" y="2147483647"/>
              </a:cxn>
              <a:cxn ang="0">
                <a:pos x="2147483647" y="2147483647"/>
              </a:cxn>
              <a:cxn ang="0">
                <a:pos x="0" y="2147483647"/>
              </a:cxn>
              <a:cxn ang="0">
                <a:pos x="2147483647" y="0"/>
              </a:cxn>
            </a:cxnLst>
            <a:rect l="txL" t="txT" r="txR" b="txB"/>
            <a:pathLst>
              <a:path w="96" h="96">
                <a:moveTo>
                  <a:pt x="48" y="0"/>
                </a:moveTo>
                <a:lnTo>
                  <a:pt x="96" y="48"/>
                </a:lnTo>
                <a:lnTo>
                  <a:pt x="48" y="96"/>
                </a:lnTo>
                <a:lnTo>
                  <a:pt x="0" y="48"/>
                </a:lnTo>
                <a:lnTo>
                  <a:pt x="48" y="0"/>
                </a:lnTo>
                <a:close/>
              </a:path>
            </a:pathLst>
          </a:custGeom>
          <a:solidFill>
            <a:srgbClr val="00FFFF">
              <a:alpha val="100000"/>
            </a:srgbClr>
          </a:solidFill>
          <a:ln w="11113" cap="flat" cmpd="sng">
            <a:solidFill>
              <a:srgbClr val="000080">
                <a:alpha val="100000"/>
              </a:srgbClr>
            </a:solidFill>
            <a:prstDash val="solid"/>
            <a:round/>
            <a:headEnd type="none" w="med" len="med"/>
            <a:tailEnd type="none" w="med" len="med"/>
          </a:ln>
        </p:spPr>
        <p:txBody>
          <a:bodyPr/>
          <a:p>
            <a:endParaRPr lang="en-US"/>
          </a:p>
        </p:txBody>
      </p:sp>
      <p:sp>
        <p:nvSpPr>
          <p:cNvPr id="23608" name="Freeform 2107"/>
          <p:cNvSpPr/>
          <p:nvPr/>
        </p:nvSpPr>
        <p:spPr>
          <a:xfrm>
            <a:off x="1100138" y="2370138"/>
            <a:ext cx="152400" cy="150812"/>
          </a:xfrm>
          <a:custGeom>
            <a:avLst/>
            <a:gdLst>
              <a:gd name="txL" fmla="*/ 0 w 96"/>
              <a:gd name="txT" fmla="*/ 0 h 95"/>
              <a:gd name="txR" fmla="*/ 96 w 96"/>
              <a:gd name="txB" fmla="*/ 95 h 95"/>
            </a:gdLst>
            <a:ahLst/>
            <a:cxnLst>
              <a:cxn ang="0">
                <a:pos x="2147483647" y="0"/>
              </a:cxn>
              <a:cxn ang="0">
                <a:pos x="2147483647" y="2147483647"/>
              </a:cxn>
              <a:cxn ang="0">
                <a:pos x="2147483647" y="2147483647"/>
              </a:cxn>
              <a:cxn ang="0">
                <a:pos x="0" y="2147483647"/>
              </a:cxn>
              <a:cxn ang="0">
                <a:pos x="2147483647" y="0"/>
              </a:cxn>
            </a:cxnLst>
            <a:rect l="txL" t="txT" r="txR" b="txB"/>
            <a:pathLst>
              <a:path w="96" h="95">
                <a:moveTo>
                  <a:pt x="48" y="0"/>
                </a:moveTo>
                <a:lnTo>
                  <a:pt x="96" y="48"/>
                </a:lnTo>
                <a:lnTo>
                  <a:pt x="48" y="95"/>
                </a:lnTo>
                <a:lnTo>
                  <a:pt x="0" y="48"/>
                </a:lnTo>
                <a:lnTo>
                  <a:pt x="48" y="0"/>
                </a:lnTo>
                <a:close/>
              </a:path>
            </a:pathLst>
          </a:custGeom>
          <a:solidFill>
            <a:srgbClr val="00FFFF">
              <a:alpha val="100000"/>
            </a:srgbClr>
          </a:solidFill>
          <a:ln w="11113" cap="flat" cmpd="sng">
            <a:solidFill>
              <a:srgbClr val="000080">
                <a:alpha val="100000"/>
              </a:srgbClr>
            </a:solidFill>
            <a:prstDash val="solid"/>
            <a:round/>
            <a:headEnd type="none" w="med" len="med"/>
            <a:tailEnd type="none" w="med" len="med"/>
          </a:ln>
        </p:spPr>
        <p:txBody>
          <a:bodyPr/>
          <a:p>
            <a:endParaRPr lang="en-US"/>
          </a:p>
        </p:txBody>
      </p:sp>
      <p:sp>
        <p:nvSpPr>
          <p:cNvPr id="23609" name="Freeform 2108"/>
          <p:cNvSpPr/>
          <p:nvPr/>
        </p:nvSpPr>
        <p:spPr>
          <a:xfrm>
            <a:off x="1905000" y="2727325"/>
            <a:ext cx="152400" cy="152400"/>
          </a:xfrm>
          <a:custGeom>
            <a:avLst/>
            <a:gdLst>
              <a:gd name="txL" fmla="*/ 0 w 96"/>
              <a:gd name="txT" fmla="*/ 0 h 96"/>
              <a:gd name="txR" fmla="*/ 96 w 96"/>
              <a:gd name="txB" fmla="*/ 96 h 96"/>
            </a:gdLst>
            <a:ahLst/>
            <a:cxnLst>
              <a:cxn ang="0">
                <a:pos x="2147483647" y="0"/>
              </a:cxn>
              <a:cxn ang="0">
                <a:pos x="2147483647" y="2147483647"/>
              </a:cxn>
              <a:cxn ang="0">
                <a:pos x="2147483647" y="2147483647"/>
              </a:cxn>
              <a:cxn ang="0">
                <a:pos x="0" y="2147483647"/>
              </a:cxn>
              <a:cxn ang="0">
                <a:pos x="2147483647" y="0"/>
              </a:cxn>
            </a:cxnLst>
            <a:rect l="txL" t="txT" r="txR" b="txB"/>
            <a:pathLst>
              <a:path w="96" h="96">
                <a:moveTo>
                  <a:pt x="48" y="0"/>
                </a:moveTo>
                <a:lnTo>
                  <a:pt x="96" y="48"/>
                </a:lnTo>
                <a:lnTo>
                  <a:pt x="48" y="96"/>
                </a:lnTo>
                <a:lnTo>
                  <a:pt x="0" y="48"/>
                </a:lnTo>
                <a:lnTo>
                  <a:pt x="48" y="0"/>
                </a:lnTo>
                <a:close/>
              </a:path>
            </a:pathLst>
          </a:custGeom>
          <a:solidFill>
            <a:srgbClr val="00FFFF">
              <a:alpha val="100000"/>
            </a:srgbClr>
          </a:solidFill>
          <a:ln w="11113" cap="flat" cmpd="sng">
            <a:solidFill>
              <a:srgbClr val="000080">
                <a:alpha val="100000"/>
              </a:srgbClr>
            </a:solidFill>
            <a:prstDash val="solid"/>
            <a:round/>
            <a:headEnd type="none" w="med" len="med"/>
            <a:tailEnd type="none" w="med" len="med"/>
          </a:ln>
        </p:spPr>
        <p:txBody>
          <a:bodyPr/>
          <a:p>
            <a:endParaRPr lang="en-US"/>
          </a:p>
        </p:txBody>
      </p:sp>
      <p:sp>
        <p:nvSpPr>
          <p:cNvPr id="23610" name="Freeform 2109"/>
          <p:cNvSpPr/>
          <p:nvPr/>
        </p:nvSpPr>
        <p:spPr>
          <a:xfrm>
            <a:off x="1501775" y="3259138"/>
            <a:ext cx="152400" cy="150812"/>
          </a:xfrm>
          <a:custGeom>
            <a:avLst/>
            <a:gdLst>
              <a:gd name="txL" fmla="*/ 0 w 96"/>
              <a:gd name="txT" fmla="*/ 0 h 95"/>
              <a:gd name="txR" fmla="*/ 96 w 96"/>
              <a:gd name="txB" fmla="*/ 95 h 95"/>
            </a:gdLst>
            <a:ahLst/>
            <a:cxnLst>
              <a:cxn ang="0">
                <a:pos x="2147483647" y="0"/>
              </a:cxn>
              <a:cxn ang="0">
                <a:pos x="2147483647" y="2147483647"/>
              </a:cxn>
              <a:cxn ang="0">
                <a:pos x="2147483647" y="2147483647"/>
              </a:cxn>
              <a:cxn ang="0">
                <a:pos x="0" y="2147483647"/>
              </a:cxn>
              <a:cxn ang="0">
                <a:pos x="2147483647" y="0"/>
              </a:cxn>
            </a:cxnLst>
            <a:rect l="txL" t="txT" r="txR" b="txB"/>
            <a:pathLst>
              <a:path w="96" h="95">
                <a:moveTo>
                  <a:pt x="48" y="0"/>
                </a:moveTo>
                <a:lnTo>
                  <a:pt x="96" y="47"/>
                </a:lnTo>
                <a:lnTo>
                  <a:pt x="48" y="95"/>
                </a:lnTo>
                <a:lnTo>
                  <a:pt x="0" y="47"/>
                </a:lnTo>
                <a:lnTo>
                  <a:pt x="48" y="0"/>
                </a:lnTo>
                <a:close/>
              </a:path>
            </a:pathLst>
          </a:custGeom>
          <a:solidFill>
            <a:srgbClr val="00FFFF">
              <a:alpha val="100000"/>
            </a:srgbClr>
          </a:solidFill>
          <a:ln w="11113" cap="flat" cmpd="sng">
            <a:solidFill>
              <a:srgbClr val="000080">
                <a:alpha val="100000"/>
              </a:srgbClr>
            </a:solidFill>
            <a:prstDash val="solid"/>
            <a:round/>
            <a:headEnd type="none" w="med" len="med"/>
            <a:tailEnd type="none" w="med" len="med"/>
          </a:ln>
        </p:spPr>
        <p:txBody>
          <a:bodyPr/>
          <a:p>
            <a:endParaRPr lang="en-US"/>
          </a:p>
        </p:txBody>
      </p:sp>
      <p:sp>
        <p:nvSpPr>
          <p:cNvPr id="23611" name="Freeform 2110"/>
          <p:cNvSpPr/>
          <p:nvPr/>
        </p:nvSpPr>
        <p:spPr>
          <a:xfrm>
            <a:off x="1709738" y="2900363"/>
            <a:ext cx="152400" cy="152400"/>
          </a:xfrm>
          <a:custGeom>
            <a:avLst/>
            <a:gdLst>
              <a:gd name="txL" fmla="*/ 0 w 96"/>
              <a:gd name="txT" fmla="*/ 0 h 96"/>
              <a:gd name="txR" fmla="*/ 96 w 96"/>
              <a:gd name="txB" fmla="*/ 96 h 96"/>
            </a:gdLst>
            <a:ahLst/>
            <a:cxnLst>
              <a:cxn ang="0">
                <a:pos x="2147483647" y="0"/>
              </a:cxn>
              <a:cxn ang="0">
                <a:pos x="2147483647" y="2147483647"/>
              </a:cxn>
              <a:cxn ang="0">
                <a:pos x="2147483647" y="2147483647"/>
              </a:cxn>
              <a:cxn ang="0">
                <a:pos x="0" y="2147483647"/>
              </a:cxn>
              <a:cxn ang="0">
                <a:pos x="2147483647" y="0"/>
              </a:cxn>
            </a:cxnLst>
            <a:rect l="txL" t="txT" r="txR" b="txB"/>
            <a:pathLst>
              <a:path w="96" h="96">
                <a:moveTo>
                  <a:pt x="48" y="0"/>
                </a:moveTo>
                <a:lnTo>
                  <a:pt x="96" y="48"/>
                </a:lnTo>
                <a:lnTo>
                  <a:pt x="48" y="96"/>
                </a:lnTo>
                <a:lnTo>
                  <a:pt x="0" y="48"/>
                </a:lnTo>
                <a:lnTo>
                  <a:pt x="48" y="0"/>
                </a:lnTo>
                <a:close/>
              </a:path>
            </a:pathLst>
          </a:custGeom>
          <a:solidFill>
            <a:srgbClr val="00FFFF">
              <a:alpha val="100000"/>
            </a:srgbClr>
          </a:solidFill>
          <a:ln w="11113" cap="flat" cmpd="sng">
            <a:solidFill>
              <a:srgbClr val="000080">
                <a:alpha val="100000"/>
              </a:srgbClr>
            </a:solidFill>
            <a:prstDash val="solid"/>
            <a:round/>
            <a:headEnd type="none" w="med" len="med"/>
            <a:tailEnd type="none" w="med" len="med"/>
          </a:ln>
        </p:spPr>
        <p:txBody>
          <a:bodyPr/>
          <a:p>
            <a:endParaRPr lang="en-US"/>
          </a:p>
        </p:txBody>
      </p:sp>
      <p:sp>
        <p:nvSpPr>
          <p:cNvPr id="23612" name="Freeform 2111"/>
          <p:cNvSpPr/>
          <p:nvPr/>
        </p:nvSpPr>
        <p:spPr>
          <a:xfrm>
            <a:off x="1709738" y="2543175"/>
            <a:ext cx="152400" cy="152400"/>
          </a:xfrm>
          <a:custGeom>
            <a:avLst/>
            <a:gdLst>
              <a:gd name="txL" fmla="*/ 0 w 96"/>
              <a:gd name="txT" fmla="*/ 0 h 96"/>
              <a:gd name="txR" fmla="*/ 96 w 96"/>
              <a:gd name="txB" fmla="*/ 96 h 96"/>
            </a:gdLst>
            <a:ahLst/>
            <a:cxnLst>
              <a:cxn ang="0">
                <a:pos x="2147483647" y="0"/>
              </a:cxn>
              <a:cxn ang="0">
                <a:pos x="2147483647" y="2147483647"/>
              </a:cxn>
              <a:cxn ang="0">
                <a:pos x="2147483647" y="2147483647"/>
              </a:cxn>
              <a:cxn ang="0">
                <a:pos x="0" y="2147483647"/>
              </a:cxn>
              <a:cxn ang="0">
                <a:pos x="2147483647" y="0"/>
              </a:cxn>
            </a:cxnLst>
            <a:rect l="txL" t="txT" r="txR" b="txB"/>
            <a:pathLst>
              <a:path w="96" h="96">
                <a:moveTo>
                  <a:pt x="48" y="0"/>
                </a:moveTo>
                <a:lnTo>
                  <a:pt x="96" y="48"/>
                </a:lnTo>
                <a:lnTo>
                  <a:pt x="48" y="96"/>
                </a:lnTo>
                <a:lnTo>
                  <a:pt x="0" y="48"/>
                </a:lnTo>
                <a:lnTo>
                  <a:pt x="48" y="0"/>
                </a:lnTo>
                <a:close/>
              </a:path>
            </a:pathLst>
          </a:custGeom>
          <a:solidFill>
            <a:srgbClr val="00FFFF">
              <a:alpha val="100000"/>
            </a:srgbClr>
          </a:solidFill>
          <a:ln w="11113" cap="flat" cmpd="sng">
            <a:solidFill>
              <a:srgbClr val="000080">
                <a:alpha val="100000"/>
              </a:srgbClr>
            </a:solidFill>
            <a:prstDash val="solid"/>
            <a:round/>
            <a:headEnd type="none" w="med" len="med"/>
            <a:tailEnd type="none" w="med" len="med"/>
          </a:ln>
        </p:spPr>
        <p:txBody>
          <a:bodyPr/>
          <a:p>
            <a:endParaRPr lang="en-US"/>
          </a:p>
        </p:txBody>
      </p:sp>
      <p:sp>
        <p:nvSpPr>
          <p:cNvPr id="23613" name="Rectangle 2112"/>
          <p:cNvSpPr/>
          <p:nvPr/>
        </p:nvSpPr>
        <p:spPr>
          <a:xfrm>
            <a:off x="282575" y="365918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0</a:t>
            </a:r>
            <a:endParaRPr lang="ko-KR" altLang="en-US" dirty="0">
              <a:latin typeface="Tahoma" panose="020B0604030504040204" pitchFamily="34" charset="0"/>
              <a:ea typeface="Gulim" panose="020B0600000101010101" pitchFamily="34" charset="-127"/>
            </a:endParaRPr>
          </a:p>
        </p:txBody>
      </p:sp>
      <p:sp>
        <p:nvSpPr>
          <p:cNvPr id="23614" name="Rectangle 2113"/>
          <p:cNvSpPr/>
          <p:nvPr/>
        </p:nvSpPr>
        <p:spPr>
          <a:xfrm>
            <a:off x="282575" y="3486150"/>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a:t>
            </a:r>
            <a:endParaRPr lang="ko-KR" altLang="en-US" dirty="0">
              <a:latin typeface="Tahoma" panose="020B0604030504040204" pitchFamily="34" charset="0"/>
              <a:ea typeface="Gulim" panose="020B0600000101010101" pitchFamily="34" charset="-127"/>
            </a:endParaRPr>
          </a:p>
        </p:txBody>
      </p:sp>
      <p:sp>
        <p:nvSpPr>
          <p:cNvPr id="23615" name="Rectangle 2114"/>
          <p:cNvSpPr/>
          <p:nvPr/>
        </p:nvSpPr>
        <p:spPr>
          <a:xfrm>
            <a:off x="282575" y="3302000"/>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2</a:t>
            </a:r>
            <a:endParaRPr lang="ko-KR" altLang="en-US" dirty="0">
              <a:latin typeface="Tahoma" panose="020B0604030504040204" pitchFamily="34" charset="0"/>
              <a:ea typeface="Gulim" panose="020B0600000101010101" pitchFamily="34" charset="-127"/>
            </a:endParaRPr>
          </a:p>
        </p:txBody>
      </p:sp>
      <p:sp>
        <p:nvSpPr>
          <p:cNvPr id="23616" name="Rectangle 2115"/>
          <p:cNvSpPr/>
          <p:nvPr/>
        </p:nvSpPr>
        <p:spPr>
          <a:xfrm>
            <a:off x="282575" y="3128963"/>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3</a:t>
            </a:r>
            <a:endParaRPr lang="ko-KR" altLang="en-US" dirty="0">
              <a:latin typeface="Tahoma" panose="020B0604030504040204" pitchFamily="34" charset="0"/>
              <a:ea typeface="Gulim" panose="020B0600000101010101" pitchFamily="34" charset="-127"/>
            </a:endParaRPr>
          </a:p>
        </p:txBody>
      </p:sp>
      <p:sp>
        <p:nvSpPr>
          <p:cNvPr id="23617" name="Rectangle 2116"/>
          <p:cNvSpPr/>
          <p:nvPr/>
        </p:nvSpPr>
        <p:spPr>
          <a:xfrm>
            <a:off x="282575" y="2944813"/>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4</a:t>
            </a:r>
            <a:endParaRPr lang="ko-KR" altLang="en-US" dirty="0">
              <a:latin typeface="Tahoma" panose="020B0604030504040204" pitchFamily="34" charset="0"/>
              <a:ea typeface="Gulim" panose="020B0600000101010101" pitchFamily="34" charset="-127"/>
            </a:endParaRPr>
          </a:p>
        </p:txBody>
      </p:sp>
      <p:sp>
        <p:nvSpPr>
          <p:cNvPr id="23618" name="Rectangle 2117"/>
          <p:cNvSpPr/>
          <p:nvPr/>
        </p:nvSpPr>
        <p:spPr>
          <a:xfrm>
            <a:off x="282575" y="277018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5</a:t>
            </a:r>
            <a:endParaRPr lang="ko-KR" altLang="en-US" dirty="0">
              <a:latin typeface="Tahoma" panose="020B0604030504040204" pitchFamily="34" charset="0"/>
              <a:ea typeface="Gulim" panose="020B0600000101010101" pitchFamily="34" charset="-127"/>
            </a:endParaRPr>
          </a:p>
        </p:txBody>
      </p:sp>
      <p:sp>
        <p:nvSpPr>
          <p:cNvPr id="23619" name="Rectangle 2118"/>
          <p:cNvSpPr/>
          <p:nvPr/>
        </p:nvSpPr>
        <p:spPr>
          <a:xfrm>
            <a:off x="282575" y="258603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6</a:t>
            </a:r>
            <a:endParaRPr lang="ko-KR" altLang="en-US" dirty="0">
              <a:latin typeface="Tahoma" panose="020B0604030504040204" pitchFamily="34" charset="0"/>
              <a:ea typeface="Gulim" panose="020B0600000101010101" pitchFamily="34" charset="-127"/>
            </a:endParaRPr>
          </a:p>
        </p:txBody>
      </p:sp>
      <p:sp>
        <p:nvSpPr>
          <p:cNvPr id="23620" name="Rectangle 2119"/>
          <p:cNvSpPr/>
          <p:nvPr/>
        </p:nvSpPr>
        <p:spPr>
          <a:xfrm>
            <a:off x="282575" y="2413000"/>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7</a:t>
            </a:r>
            <a:endParaRPr lang="ko-KR" altLang="en-US" dirty="0">
              <a:latin typeface="Tahoma" panose="020B0604030504040204" pitchFamily="34" charset="0"/>
              <a:ea typeface="Gulim" panose="020B0600000101010101" pitchFamily="34" charset="-127"/>
            </a:endParaRPr>
          </a:p>
        </p:txBody>
      </p:sp>
      <p:sp>
        <p:nvSpPr>
          <p:cNvPr id="23621" name="Rectangle 2120"/>
          <p:cNvSpPr/>
          <p:nvPr/>
        </p:nvSpPr>
        <p:spPr>
          <a:xfrm>
            <a:off x="282575" y="2228850"/>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8</a:t>
            </a:r>
            <a:endParaRPr lang="ko-KR" altLang="en-US" dirty="0">
              <a:latin typeface="Tahoma" panose="020B0604030504040204" pitchFamily="34" charset="0"/>
              <a:ea typeface="Gulim" panose="020B0600000101010101" pitchFamily="34" charset="-127"/>
            </a:endParaRPr>
          </a:p>
        </p:txBody>
      </p:sp>
      <p:sp>
        <p:nvSpPr>
          <p:cNvPr id="23622" name="Rectangle 2121"/>
          <p:cNvSpPr/>
          <p:nvPr/>
        </p:nvSpPr>
        <p:spPr>
          <a:xfrm>
            <a:off x="282575" y="2055813"/>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9</a:t>
            </a:r>
            <a:endParaRPr lang="ko-KR" altLang="en-US" dirty="0">
              <a:latin typeface="Tahoma" panose="020B0604030504040204" pitchFamily="34" charset="0"/>
              <a:ea typeface="Gulim" panose="020B0600000101010101" pitchFamily="34" charset="-127"/>
            </a:endParaRPr>
          </a:p>
        </p:txBody>
      </p:sp>
      <p:sp>
        <p:nvSpPr>
          <p:cNvPr id="23623" name="Rectangle 2122"/>
          <p:cNvSpPr/>
          <p:nvPr/>
        </p:nvSpPr>
        <p:spPr>
          <a:xfrm>
            <a:off x="250825" y="1871663"/>
            <a:ext cx="33338"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10</a:t>
            </a:r>
            <a:endParaRPr lang="ko-KR" altLang="en-US" dirty="0">
              <a:latin typeface="Tahoma" panose="020B0604030504040204" pitchFamily="34" charset="0"/>
              <a:ea typeface="Gulim" panose="020B0600000101010101" pitchFamily="34" charset="-127"/>
            </a:endParaRPr>
          </a:p>
        </p:txBody>
      </p:sp>
      <p:sp>
        <p:nvSpPr>
          <p:cNvPr id="23624" name="Rectangle 2123"/>
          <p:cNvSpPr/>
          <p:nvPr/>
        </p:nvSpPr>
        <p:spPr>
          <a:xfrm>
            <a:off x="358775" y="376713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0</a:t>
            </a:r>
            <a:endParaRPr lang="ko-KR" altLang="en-US" dirty="0">
              <a:latin typeface="Tahoma" panose="020B0604030504040204" pitchFamily="34" charset="0"/>
              <a:ea typeface="Gulim" panose="020B0600000101010101" pitchFamily="34" charset="-127"/>
            </a:endParaRPr>
          </a:p>
        </p:txBody>
      </p:sp>
      <p:sp>
        <p:nvSpPr>
          <p:cNvPr id="23625" name="Rectangle 2124"/>
          <p:cNvSpPr/>
          <p:nvPr/>
        </p:nvSpPr>
        <p:spPr>
          <a:xfrm>
            <a:off x="566738" y="376713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a:t>
            </a:r>
            <a:endParaRPr lang="ko-KR" altLang="en-US" dirty="0">
              <a:latin typeface="Tahoma" panose="020B0604030504040204" pitchFamily="34" charset="0"/>
              <a:ea typeface="Gulim" panose="020B0600000101010101" pitchFamily="34" charset="-127"/>
            </a:endParaRPr>
          </a:p>
        </p:txBody>
      </p:sp>
      <p:sp>
        <p:nvSpPr>
          <p:cNvPr id="23626" name="Rectangle 2125"/>
          <p:cNvSpPr/>
          <p:nvPr/>
        </p:nvSpPr>
        <p:spPr>
          <a:xfrm>
            <a:off x="762000" y="376713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2</a:t>
            </a:r>
            <a:endParaRPr lang="ko-KR" altLang="en-US" dirty="0">
              <a:latin typeface="Tahoma" panose="020B0604030504040204" pitchFamily="34" charset="0"/>
              <a:ea typeface="Gulim" panose="020B0600000101010101" pitchFamily="34" charset="-127"/>
            </a:endParaRPr>
          </a:p>
        </p:txBody>
      </p:sp>
      <p:sp>
        <p:nvSpPr>
          <p:cNvPr id="23627" name="Rectangle 2126"/>
          <p:cNvSpPr/>
          <p:nvPr/>
        </p:nvSpPr>
        <p:spPr>
          <a:xfrm>
            <a:off x="968375" y="376713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3</a:t>
            </a:r>
            <a:endParaRPr lang="ko-KR" altLang="en-US" dirty="0">
              <a:latin typeface="Tahoma" panose="020B0604030504040204" pitchFamily="34" charset="0"/>
              <a:ea typeface="Gulim" panose="020B0600000101010101" pitchFamily="34" charset="-127"/>
            </a:endParaRPr>
          </a:p>
        </p:txBody>
      </p:sp>
      <p:sp>
        <p:nvSpPr>
          <p:cNvPr id="23628" name="Rectangle 2127"/>
          <p:cNvSpPr/>
          <p:nvPr/>
        </p:nvSpPr>
        <p:spPr>
          <a:xfrm>
            <a:off x="1165225" y="376713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4</a:t>
            </a:r>
            <a:endParaRPr lang="ko-KR" altLang="en-US" dirty="0">
              <a:latin typeface="Tahoma" panose="020B0604030504040204" pitchFamily="34" charset="0"/>
              <a:ea typeface="Gulim" panose="020B0600000101010101" pitchFamily="34" charset="-127"/>
            </a:endParaRPr>
          </a:p>
        </p:txBody>
      </p:sp>
      <p:sp>
        <p:nvSpPr>
          <p:cNvPr id="23629" name="Rectangle 2128"/>
          <p:cNvSpPr/>
          <p:nvPr/>
        </p:nvSpPr>
        <p:spPr>
          <a:xfrm>
            <a:off x="1371600" y="376713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5</a:t>
            </a:r>
            <a:endParaRPr lang="ko-KR" altLang="en-US" dirty="0">
              <a:latin typeface="Tahoma" panose="020B0604030504040204" pitchFamily="34" charset="0"/>
              <a:ea typeface="Gulim" panose="020B0600000101010101" pitchFamily="34" charset="-127"/>
            </a:endParaRPr>
          </a:p>
        </p:txBody>
      </p:sp>
      <p:sp>
        <p:nvSpPr>
          <p:cNvPr id="23630" name="Rectangle 2129"/>
          <p:cNvSpPr/>
          <p:nvPr/>
        </p:nvSpPr>
        <p:spPr>
          <a:xfrm>
            <a:off x="1566863" y="376713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6</a:t>
            </a:r>
            <a:endParaRPr lang="ko-KR" altLang="en-US" dirty="0">
              <a:latin typeface="Tahoma" panose="020B0604030504040204" pitchFamily="34" charset="0"/>
              <a:ea typeface="Gulim" panose="020B0600000101010101" pitchFamily="34" charset="-127"/>
            </a:endParaRPr>
          </a:p>
        </p:txBody>
      </p:sp>
      <p:sp>
        <p:nvSpPr>
          <p:cNvPr id="23631" name="Rectangle 2130"/>
          <p:cNvSpPr/>
          <p:nvPr/>
        </p:nvSpPr>
        <p:spPr>
          <a:xfrm>
            <a:off x="1774825" y="376713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7</a:t>
            </a:r>
            <a:endParaRPr lang="ko-KR" altLang="en-US" dirty="0">
              <a:latin typeface="Tahoma" panose="020B0604030504040204" pitchFamily="34" charset="0"/>
              <a:ea typeface="Gulim" panose="020B0600000101010101" pitchFamily="34" charset="-127"/>
            </a:endParaRPr>
          </a:p>
        </p:txBody>
      </p:sp>
      <p:sp>
        <p:nvSpPr>
          <p:cNvPr id="23632" name="Rectangle 2131"/>
          <p:cNvSpPr/>
          <p:nvPr/>
        </p:nvSpPr>
        <p:spPr>
          <a:xfrm>
            <a:off x="1970088" y="376713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8</a:t>
            </a:r>
            <a:endParaRPr lang="ko-KR" altLang="en-US" dirty="0">
              <a:latin typeface="Tahoma" panose="020B0604030504040204" pitchFamily="34" charset="0"/>
              <a:ea typeface="Gulim" panose="020B0600000101010101" pitchFamily="34" charset="-127"/>
            </a:endParaRPr>
          </a:p>
        </p:txBody>
      </p:sp>
      <p:sp>
        <p:nvSpPr>
          <p:cNvPr id="23633" name="Rectangle 2132"/>
          <p:cNvSpPr/>
          <p:nvPr/>
        </p:nvSpPr>
        <p:spPr>
          <a:xfrm>
            <a:off x="2176463" y="376713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9</a:t>
            </a:r>
            <a:endParaRPr lang="ko-KR" altLang="en-US" dirty="0">
              <a:latin typeface="Tahoma" panose="020B0604030504040204" pitchFamily="34" charset="0"/>
              <a:ea typeface="Gulim" panose="020B0600000101010101" pitchFamily="34" charset="-127"/>
            </a:endParaRPr>
          </a:p>
        </p:txBody>
      </p:sp>
      <p:sp>
        <p:nvSpPr>
          <p:cNvPr id="23634" name="Rectangle 2133"/>
          <p:cNvSpPr/>
          <p:nvPr/>
        </p:nvSpPr>
        <p:spPr>
          <a:xfrm>
            <a:off x="2351088" y="3767138"/>
            <a:ext cx="33337"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10</a:t>
            </a:r>
            <a:endParaRPr lang="ko-KR" altLang="en-US" dirty="0">
              <a:latin typeface="Tahoma" panose="020B0604030504040204" pitchFamily="34" charset="0"/>
              <a:ea typeface="Gulim" panose="020B0600000101010101" pitchFamily="34" charset="-127"/>
            </a:endParaRPr>
          </a:p>
        </p:txBody>
      </p:sp>
      <p:sp>
        <p:nvSpPr>
          <p:cNvPr id="23635" name="Rectangle 2134"/>
          <p:cNvSpPr/>
          <p:nvPr/>
        </p:nvSpPr>
        <p:spPr>
          <a:xfrm>
            <a:off x="119063" y="1719263"/>
            <a:ext cx="2395537" cy="2254250"/>
          </a:xfrm>
          <a:prstGeom prst="rect">
            <a:avLst/>
          </a:prstGeom>
          <a:noFill/>
          <a:ln w="0"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sp>
        <p:nvSpPr>
          <p:cNvPr id="23636" name="Freeform 2135"/>
          <p:cNvSpPr/>
          <p:nvPr/>
        </p:nvSpPr>
        <p:spPr>
          <a:xfrm>
            <a:off x="914400" y="2211388"/>
            <a:ext cx="152400" cy="150812"/>
          </a:xfrm>
          <a:custGeom>
            <a:avLst/>
            <a:gdLst>
              <a:gd name="txL" fmla="*/ 0 w 96"/>
              <a:gd name="txT" fmla="*/ 0 h 95"/>
              <a:gd name="txR" fmla="*/ 96 w 96"/>
              <a:gd name="txB" fmla="*/ 95 h 95"/>
            </a:gdLst>
            <a:ahLst/>
            <a:cxnLst>
              <a:cxn ang="0">
                <a:pos x="2147483647" y="0"/>
              </a:cxn>
              <a:cxn ang="0">
                <a:pos x="2147483647" y="2147483647"/>
              </a:cxn>
              <a:cxn ang="0">
                <a:pos x="2147483647" y="2147483647"/>
              </a:cxn>
              <a:cxn ang="0">
                <a:pos x="0" y="2147483647"/>
              </a:cxn>
              <a:cxn ang="0">
                <a:pos x="2147483647" y="0"/>
              </a:cxn>
            </a:cxnLst>
            <a:rect l="txL" t="txT" r="txR" b="txB"/>
            <a:pathLst>
              <a:path w="96" h="95">
                <a:moveTo>
                  <a:pt x="48" y="0"/>
                </a:moveTo>
                <a:lnTo>
                  <a:pt x="96" y="48"/>
                </a:lnTo>
                <a:lnTo>
                  <a:pt x="48" y="95"/>
                </a:lnTo>
                <a:lnTo>
                  <a:pt x="0" y="48"/>
                </a:lnTo>
                <a:lnTo>
                  <a:pt x="48" y="0"/>
                </a:lnTo>
                <a:close/>
              </a:path>
            </a:pathLst>
          </a:custGeom>
          <a:solidFill>
            <a:srgbClr val="00FFFF">
              <a:alpha val="100000"/>
            </a:srgbClr>
          </a:solidFill>
          <a:ln w="11113" cap="flat" cmpd="sng">
            <a:solidFill>
              <a:srgbClr val="000080">
                <a:alpha val="100000"/>
              </a:srgbClr>
            </a:solidFill>
            <a:prstDash val="solid"/>
            <a:round/>
            <a:headEnd type="none" w="med" len="med"/>
            <a:tailEnd type="none" w="med" len="med"/>
          </a:ln>
        </p:spPr>
        <p:txBody>
          <a:bodyPr/>
          <a:p>
            <a:endParaRPr lang="en-US"/>
          </a:p>
        </p:txBody>
      </p:sp>
      <p:sp>
        <p:nvSpPr>
          <p:cNvPr id="23637" name="Freeform 2136"/>
          <p:cNvSpPr/>
          <p:nvPr/>
        </p:nvSpPr>
        <p:spPr>
          <a:xfrm>
            <a:off x="1524000" y="3048000"/>
            <a:ext cx="152400" cy="152400"/>
          </a:xfrm>
          <a:custGeom>
            <a:avLst/>
            <a:gdLst>
              <a:gd name="txL" fmla="*/ 0 w 96"/>
              <a:gd name="txT" fmla="*/ 0 h 96"/>
              <a:gd name="txR" fmla="*/ 96 w 96"/>
              <a:gd name="txB" fmla="*/ 96 h 96"/>
            </a:gdLst>
            <a:ahLst/>
            <a:cxnLst>
              <a:cxn ang="0">
                <a:pos x="2147483647" y="0"/>
              </a:cxn>
              <a:cxn ang="0">
                <a:pos x="2147483647" y="2147483647"/>
              </a:cxn>
              <a:cxn ang="0">
                <a:pos x="2147483647" y="2147483647"/>
              </a:cxn>
              <a:cxn ang="0">
                <a:pos x="0" y="2147483647"/>
              </a:cxn>
              <a:cxn ang="0">
                <a:pos x="2147483647" y="0"/>
              </a:cxn>
            </a:cxnLst>
            <a:rect l="txL" t="txT" r="txR" b="txB"/>
            <a:pathLst>
              <a:path w="96" h="96">
                <a:moveTo>
                  <a:pt x="48" y="0"/>
                </a:moveTo>
                <a:lnTo>
                  <a:pt x="96" y="48"/>
                </a:lnTo>
                <a:lnTo>
                  <a:pt x="48" y="96"/>
                </a:lnTo>
                <a:lnTo>
                  <a:pt x="0" y="48"/>
                </a:lnTo>
                <a:lnTo>
                  <a:pt x="48" y="0"/>
                </a:lnTo>
                <a:close/>
              </a:path>
            </a:pathLst>
          </a:custGeom>
          <a:solidFill>
            <a:srgbClr val="00FFFF">
              <a:alpha val="100000"/>
            </a:srgbClr>
          </a:solidFill>
          <a:ln w="11113" cap="flat" cmpd="sng">
            <a:solidFill>
              <a:srgbClr val="000080">
                <a:alpha val="100000"/>
              </a:srgbClr>
            </a:solidFill>
            <a:prstDash val="solid"/>
            <a:round/>
            <a:headEnd type="none" w="med" len="med"/>
            <a:tailEnd type="none" w="med" len="med"/>
          </a:ln>
        </p:spPr>
        <p:txBody>
          <a:bodyPr/>
          <a:p>
            <a:endParaRPr lang="en-US"/>
          </a:p>
        </p:txBody>
      </p:sp>
      <p:sp>
        <p:nvSpPr>
          <p:cNvPr id="23638" name="Text Box 2137"/>
          <p:cNvSpPr txBox="1"/>
          <p:nvPr/>
        </p:nvSpPr>
        <p:spPr>
          <a:xfrm>
            <a:off x="136525" y="3886200"/>
            <a:ext cx="752475" cy="457200"/>
          </a:xfrm>
          <a:prstGeom prst="rect">
            <a:avLst/>
          </a:prstGeom>
          <a:noFill/>
          <a:ln w="9525">
            <a:noFill/>
          </a:ln>
        </p:spPr>
        <p:txBody>
          <a:bodyPr wrap="none">
            <a:spAutoFit/>
          </a:bodyPr>
          <a:p>
            <a:pPr algn="l"/>
            <a:r>
              <a:rPr lang="en-US" altLang="ko-KR" dirty="0">
                <a:latin typeface="Tahoma" panose="020B0604030504040204" pitchFamily="34" charset="0"/>
                <a:ea typeface="Gulim" panose="020B0600000101010101" pitchFamily="34" charset="-127"/>
              </a:rPr>
              <a:t>K=2</a:t>
            </a:r>
            <a:endParaRPr lang="en-US" altLang="ko-KR" dirty="0">
              <a:latin typeface="Tahoma" panose="020B0604030504040204" pitchFamily="34" charset="0"/>
              <a:ea typeface="Gulim" panose="020B0600000101010101" pitchFamily="34" charset="-127"/>
            </a:endParaRPr>
          </a:p>
        </p:txBody>
      </p:sp>
      <p:sp>
        <p:nvSpPr>
          <p:cNvPr id="23639" name="Line 2138"/>
          <p:cNvSpPr/>
          <p:nvPr/>
        </p:nvSpPr>
        <p:spPr>
          <a:xfrm>
            <a:off x="2590800" y="2057400"/>
            <a:ext cx="762000" cy="0"/>
          </a:xfrm>
          <a:prstGeom prst="line">
            <a:avLst/>
          </a:prstGeom>
          <a:ln w="9525" cap="flat" cmpd="sng">
            <a:solidFill>
              <a:schemeClr val="tx1"/>
            </a:solidFill>
            <a:prstDash val="solid"/>
            <a:miter/>
            <a:headEnd type="none" w="med" len="med"/>
            <a:tailEnd type="triangle" w="med" len="med"/>
          </a:ln>
        </p:spPr>
      </p:sp>
      <p:sp>
        <p:nvSpPr>
          <p:cNvPr id="23640" name="Text Box 2139"/>
          <p:cNvSpPr txBox="1"/>
          <p:nvPr/>
        </p:nvSpPr>
        <p:spPr>
          <a:xfrm>
            <a:off x="2590800" y="2362200"/>
            <a:ext cx="914400" cy="1155700"/>
          </a:xfrm>
          <a:prstGeom prst="rect">
            <a:avLst/>
          </a:prstGeom>
          <a:noFill/>
          <a:ln w="9525">
            <a:noFill/>
          </a:ln>
        </p:spPr>
        <p:txBody>
          <a:bodyPr>
            <a:spAutoFit/>
          </a:bodyPr>
          <a:p>
            <a:pPr algn="l">
              <a:spcBef>
                <a:spcPct val="50000"/>
              </a:spcBef>
            </a:pPr>
            <a:r>
              <a:rPr lang="en-US" altLang="ko-KR" sz="1400" dirty="0">
                <a:latin typeface="Tahoma" panose="020B0604030504040204" pitchFamily="34" charset="0"/>
                <a:ea typeface="Gulim" panose="020B0600000101010101" pitchFamily="34" charset="-127"/>
              </a:rPr>
              <a:t>Arbitrary choose k object as initial medoids</a:t>
            </a:r>
            <a:endParaRPr lang="en-US" altLang="ko-KR" sz="1400" dirty="0">
              <a:latin typeface="Tahoma" panose="020B0604030504040204" pitchFamily="34" charset="0"/>
              <a:ea typeface="Gulim" panose="020B0600000101010101" pitchFamily="34" charset="-127"/>
            </a:endParaRPr>
          </a:p>
        </p:txBody>
      </p:sp>
      <p:graphicFrame>
        <p:nvGraphicFramePr>
          <p:cNvPr id="23641" name="Object 2140"/>
          <p:cNvGraphicFramePr>
            <a:graphicFrameLocks noChangeAspect="1"/>
          </p:cNvGraphicFramePr>
          <p:nvPr/>
        </p:nvGraphicFramePr>
        <p:xfrm>
          <a:off x="3429000" y="1676400"/>
          <a:ext cx="2514600" cy="2362200"/>
        </p:xfrm>
        <a:graphic>
          <a:graphicData uri="http://schemas.openxmlformats.org/presentationml/2006/ole">
            <mc:AlternateContent xmlns:mc="http://schemas.openxmlformats.org/markup-compatibility/2006">
              <mc:Choice xmlns:v="urn:schemas-microsoft-com:vml" Requires="v">
                <p:oleObj spid="_x0000_s3085" name="" r:id="rId3" imgW="2618740" imgH="2472055" progId="Excel.Sheet.8">
                  <p:embed/>
                </p:oleObj>
              </mc:Choice>
              <mc:Fallback>
                <p:oleObj name="" r:id="rId3" imgW="2618740" imgH="2472055" progId="Excel.Sheet.8">
                  <p:embed/>
                  <p:pic>
                    <p:nvPicPr>
                      <p:cNvPr id="0" name="Picture 3084"/>
                      <p:cNvPicPr/>
                      <p:nvPr/>
                    </p:nvPicPr>
                    <p:blipFill>
                      <a:blip r:embed="rId2"/>
                      <a:stretch>
                        <a:fillRect/>
                      </a:stretch>
                    </p:blipFill>
                    <p:spPr>
                      <a:xfrm>
                        <a:off x="3429000" y="1676400"/>
                        <a:ext cx="2514600" cy="2362200"/>
                      </a:xfrm>
                      <a:prstGeom prst="rect">
                        <a:avLst/>
                      </a:prstGeom>
                      <a:noFill/>
                      <a:ln w="38100">
                        <a:noFill/>
                        <a:miter/>
                      </a:ln>
                    </p:spPr>
                  </p:pic>
                </p:oleObj>
              </mc:Fallback>
            </mc:AlternateContent>
          </a:graphicData>
        </a:graphic>
      </p:graphicFrame>
      <p:sp>
        <p:nvSpPr>
          <p:cNvPr id="23642" name="Line 2141"/>
          <p:cNvSpPr/>
          <p:nvPr/>
        </p:nvSpPr>
        <p:spPr>
          <a:xfrm>
            <a:off x="5127625" y="2689225"/>
            <a:ext cx="0" cy="201613"/>
          </a:xfrm>
          <a:prstGeom prst="line">
            <a:avLst/>
          </a:prstGeom>
          <a:ln w="9525" cap="flat" cmpd="sng">
            <a:solidFill>
              <a:schemeClr val="tx1"/>
            </a:solidFill>
            <a:prstDash val="solid"/>
            <a:headEnd type="none" w="med" len="med"/>
            <a:tailEnd type="none" w="med" len="med"/>
          </a:ln>
        </p:spPr>
      </p:sp>
      <p:sp>
        <p:nvSpPr>
          <p:cNvPr id="23643" name="Line 2142"/>
          <p:cNvSpPr/>
          <p:nvPr/>
        </p:nvSpPr>
        <p:spPr>
          <a:xfrm>
            <a:off x="5943600" y="2133600"/>
            <a:ext cx="762000" cy="0"/>
          </a:xfrm>
          <a:prstGeom prst="line">
            <a:avLst/>
          </a:prstGeom>
          <a:ln w="9525" cap="flat" cmpd="sng">
            <a:solidFill>
              <a:schemeClr val="tx1"/>
            </a:solidFill>
            <a:prstDash val="solid"/>
            <a:miter/>
            <a:headEnd type="none" w="med" len="med"/>
            <a:tailEnd type="triangle" w="med" len="med"/>
          </a:ln>
        </p:spPr>
      </p:sp>
      <p:sp>
        <p:nvSpPr>
          <p:cNvPr id="23644" name="Text Box 2143"/>
          <p:cNvSpPr txBox="1"/>
          <p:nvPr/>
        </p:nvSpPr>
        <p:spPr>
          <a:xfrm>
            <a:off x="5867400" y="2362200"/>
            <a:ext cx="914400" cy="1581150"/>
          </a:xfrm>
          <a:prstGeom prst="rect">
            <a:avLst/>
          </a:prstGeom>
          <a:noFill/>
          <a:ln w="9525">
            <a:noFill/>
          </a:ln>
        </p:spPr>
        <p:txBody>
          <a:bodyPr>
            <a:spAutoFit/>
          </a:bodyPr>
          <a:p>
            <a:pPr algn="l">
              <a:spcBef>
                <a:spcPct val="50000"/>
              </a:spcBef>
            </a:pPr>
            <a:r>
              <a:rPr lang="en-US" altLang="ko-KR" sz="1400" dirty="0">
                <a:latin typeface="Tahoma" panose="020B0604030504040204" pitchFamily="34" charset="0"/>
                <a:ea typeface="Gulim" panose="020B0600000101010101" pitchFamily="34" charset="-127"/>
              </a:rPr>
              <a:t>Assign each remaining object to nearest medoids</a:t>
            </a:r>
            <a:endParaRPr lang="en-US" altLang="ko-KR" sz="1400" dirty="0">
              <a:latin typeface="Tahoma" panose="020B0604030504040204" pitchFamily="34" charset="0"/>
              <a:ea typeface="Gulim" panose="020B0600000101010101" pitchFamily="34" charset="-127"/>
            </a:endParaRPr>
          </a:p>
        </p:txBody>
      </p:sp>
      <p:sp>
        <p:nvSpPr>
          <p:cNvPr id="23645" name="Line 2144"/>
          <p:cNvSpPr/>
          <p:nvPr/>
        </p:nvSpPr>
        <p:spPr>
          <a:xfrm>
            <a:off x="6781800" y="4038600"/>
            <a:ext cx="0" cy="381000"/>
          </a:xfrm>
          <a:prstGeom prst="line">
            <a:avLst/>
          </a:prstGeom>
          <a:ln w="9525" cap="flat" cmpd="sng">
            <a:solidFill>
              <a:schemeClr val="tx1"/>
            </a:solidFill>
            <a:prstDash val="solid"/>
            <a:miter/>
            <a:headEnd type="none" w="med" len="med"/>
            <a:tailEnd type="triangle" w="med" len="med"/>
          </a:ln>
        </p:spPr>
      </p:sp>
      <p:sp>
        <p:nvSpPr>
          <p:cNvPr id="23646" name="Text Box 2145"/>
          <p:cNvSpPr txBox="1"/>
          <p:nvPr/>
        </p:nvSpPr>
        <p:spPr>
          <a:xfrm>
            <a:off x="6934200" y="4038600"/>
            <a:ext cx="2209800" cy="517525"/>
          </a:xfrm>
          <a:prstGeom prst="rect">
            <a:avLst/>
          </a:prstGeom>
          <a:noFill/>
          <a:ln w="9525">
            <a:noFill/>
          </a:ln>
        </p:spPr>
        <p:txBody>
          <a:bodyPr>
            <a:spAutoFit/>
          </a:bodyPr>
          <a:p>
            <a:pPr algn="l">
              <a:spcBef>
                <a:spcPct val="50000"/>
              </a:spcBef>
            </a:pPr>
            <a:r>
              <a:rPr lang="en-US" altLang="ko-KR" sz="1400" dirty="0">
                <a:latin typeface="Tahoma" panose="020B0604030504040204" pitchFamily="34" charset="0"/>
                <a:ea typeface="Gulim" panose="020B0600000101010101" pitchFamily="34" charset="-127"/>
              </a:rPr>
              <a:t>Randomly select a nonmedoid object,O</a:t>
            </a:r>
            <a:r>
              <a:rPr lang="en-US" altLang="ko-KR" sz="1400" baseline="-25000" dirty="0">
                <a:latin typeface="Tahoma" panose="020B0604030504040204" pitchFamily="34" charset="0"/>
                <a:ea typeface="Gulim" panose="020B0600000101010101" pitchFamily="34" charset="-127"/>
              </a:rPr>
              <a:t>ramdom</a:t>
            </a:r>
            <a:endParaRPr lang="en-US" altLang="ko-KR" sz="1400" baseline="-25000" dirty="0">
              <a:latin typeface="Tahoma" panose="020B0604030504040204" pitchFamily="34" charset="0"/>
              <a:ea typeface="Gulim" panose="020B0600000101010101" pitchFamily="34" charset="-127"/>
            </a:endParaRPr>
          </a:p>
        </p:txBody>
      </p:sp>
      <p:sp>
        <p:nvSpPr>
          <p:cNvPr id="23647" name="Line 2146"/>
          <p:cNvSpPr/>
          <p:nvPr/>
        </p:nvSpPr>
        <p:spPr>
          <a:xfrm flipH="1">
            <a:off x="6019800" y="4724400"/>
            <a:ext cx="685800" cy="0"/>
          </a:xfrm>
          <a:prstGeom prst="line">
            <a:avLst/>
          </a:prstGeom>
          <a:ln w="9525" cap="flat" cmpd="sng">
            <a:solidFill>
              <a:schemeClr val="tx1"/>
            </a:solidFill>
            <a:prstDash val="solid"/>
            <a:miter/>
            <a:headEnd type="none" w="med" len="med"/>
            <a:tailEnd type="triangle" w="med" len="med"/>
          </a:ln>
        </p:spPr>
      </p:sp>
      <p:sp>
        <p:nvSpPr>
          <p:cNvPr id="23648" name="Text Box 2147"/>
          <p:cNvSpPr txBox="1"/>
          <p:nvPr/>
        </p:nvSpPr>
        <p:spPr>
          <a:xfrm>
            <a:off x="5715000" y="4876800"/>
            <a:ext cx="1143000" cy="730250"/>
          </a:xfrm>
          <a:prstGeom prst="rect">
            <a:avLst/>
          </a:prstGeom>
          <a:noFill/>
          <a:ln w="9525">
            <a:noFill/>
          </a:ln>
        </p:spPr>
        <p:txBody>
          <a:bodyPr>
            <a:spAutoFit/>
          </a:bodyPr>
          <a:p>
            <a:pPr algn="l">
              <a:spcBef>
                <a:spcPct val="50000"/>
              </a:spcBef>
            </a:pPr>
            <a:r>
              <a:rPr lang="en-US" altLang="ko-KR" sz="1400" dirty="0">
                <a:latin typeface="Tahoma" panose="020B0604030504040204" pitchFamily="34" charset="0"/>
                <a:ea typeface="Gulim" panose="020B0600000101010101" pitchFamily="34" charset="-127"/>
              </a:rPr>
              <a:t>Compute total cost of swapping</a:t>
            </a:r>
            <a:endParaRPr lang="en-US" altLang="ko-KR" sz="1400" dirty="0">
              <a:latin typeface="Tahoma" panose="020B0604030504040204" pitchFamily="34" charset="0"/>
              <a:ea typeface="Gulim" panose="020B0600000101010101" pitchFamily="34" charset="-127"/>
            </a:endParaRPr>
          </a:p>
        </p:txBody>
      </p:sp>
      <p:grpSp>
        <p:nvGrpSpPr>
          <p:cNvPr id="23649" name="Group 2148"/>
          <p:cNvGrpSpPr/>
          <p:nvPr/>
        </p:nvGrpSpPr>
        <p:grpSpPr>
          <a:xfrm>
            <a:off x="3544888" y="4611688"/>
            <a:ext cx="2176462" cy="2035175"/>
            <a:chOff x="2233" y="2905"/>
            <a:chExt cx="1371" cy="1282"/>
          </a:xfrm>
        </p:grpSpPr>
        <p:sp>
          <p:nvSpPr>
            <p:cNvPr id="23736" name="Rectangle 2149"/>
            <p:cNvSpPr/>
            <p:nvPr/>
          </p:nvSpPr>
          <p:spPr>
            <a:xfrm>
              <a:off x="2233" y="2905"/>
              <a:ext cx="1371" cy="1282"/>
            </a:xfrm>
            <a:prstGeom prst="rect">
              <a:avLst/>
            </a:prstGeom>
            <a:solidFill>
              <a:srgbClr val="FFFFFF"/>
            </a:solidFill>
            <a:ln w="0"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sp>
          <p:nvSpPr>
            <p:cNvPr id="23737" name="Rectangle 2150"/>
            <p:cNvSpPr/>
            <p:nvPr/>
          </p:nvSpPr>
          <p:spPr>
            <a:xfrm>
              <a:off x="2376" y="3009"/>
              <a:ext cx="1154" cy="1018"/>
            </a:xfrm>
            <a:prstGeom prst="rect">
              <a:avLst/>
            </a:prstGeom>
            <a:solidFill>
              <a:srgbClr val="FFFFFF"/>
            </a:solidFill>
            <a:ln w="9525">
              <a:noFill/>
            </a:ln>
          </p:spPr>
          <p:txBody>
            <a:bodyPr/>
            <a:p>
              <a:endParaRPr dirty="0">
                <a:latin typeface="Tahoma" panose="020B0604030504040204" pitchFamily="34" charset="0"/>
              </a:endParaRPr>
            </a:p>
          </p:txBody>
        </p:sp>
        <p:sp>
          <p:nvSpPr>
            <p:cNvPr id="23738" name="Line 2151"/>
            <p:cNvSpPr/>
            <p:nvPr/>
          </p:nvSpPr>
          <p:spPr>
            <a:xfrm>
              <a:off x="2376" y="3928"/>
              <a:ext cx="1154" cy="1"/>
            </a:xfrm>
            <a:prstGeom prst="line">
              <a:avLst/>
            </a:prstGeom>
            <a:ln w="0" cap="flat" cmpd="sng">
              <a:solidFill>
                <a:srgbClr val="000000"/>
              </a:solidFill>
              <a:prstDash val="solid"/>
              <a:headEnd type="none" w="med" len="med"/>
              <a:tailEnd type="none" w="med" len="med"/>
            </a:ln>
          </p:spPr>
        </p:sp>
        <p:sp>
          <p:nvSpPr>
            <p:cNvPr id="23739" name="Line 2152"/>
            <p:cNvSpPr/>
            <p:nvPr/>
          </p:nvSpPr>
          <p:spPr>
            <a:xfrm>
              <a:off x="2376" y="3823"/>
              <a:ext cx="1154" cy="1"/>
            </a:xfrm>
            <a:prstGeom prst="line">
              <a:avLst/>
            </a:prstGeom>
            <a:ln w="0" cap="flat" cmpd="sng">
              <a:solidFill>
                <a:srgbClr val="000000"/>
              </a:solidFill>
              <a:prstDash val="solid"/>
              <a:headEnd type="none" w="med" len="med"/>
              <a:tailEnd type="none" w="med" len="med"/>
            </a:ln>
          </p:spPr>
        </p:sp>
        <p:sp>
          <p:nvSpPr>
            <p:cNvPr id="23740" name="Line 2153"/>
            <p:cNvSpPr/>
            <p:nvPr/>
          </p:nvSpPr>
          <p:spPr>
            <a:xfrm>
              <a:off x="2376" y="3725"/>
              <a:ext cx="1154" cy="1"/>
            </a:xfrm>
            <a:prstGeom prst="line">
              <a:avLst/>
            </a:prstGeom>
            <a:ln w="0" cap="flat" cmpd="sng">
              <a:solidFill>
                <a:srgbClr val="000000"/>
              </a:solidFill>
              <a:prstDash val="solid"/>
              <a:headEnd type="none" w="med" len="med"/>
              <a:tailEnd type="none" w="med" len="med"/>
            </a:ln>
          </p:spPr>
        </p:sp>
        <p:sp>
          <p:nvSpPr>
            <p:cNvPr id="23741" name="Line 2154"/>
            <p:cNvSpPr/>
            <p:nvPr/>
          </p:nvSpPr>
          <p:spPr>
            <a:xfrm>
              <a:off x="2376" y="3620"/>
              <a:ext cx="1154" cy="1"/>
            </a:xfrm>
            <a:prstGeom prst="line">
              <a:avLst/>
            </a:prstGeom>
            <a:ln w="0" cap="flat" cmpd="sng">
              <a:solidFill>
                <a:srgbClr val="000000"/>
              </a:solidFill>
              <a:prstDash val="solid"/>
              <a:headEnd type="none" w="med" len="med"/>
              <a:tailEnd type="none" w="med" len="med"/>
            </a:ln>
          </p:spPr>
        </p:sp>
        <p:sp>
          <p:nvSpPr>
            <p:cNvPr id="23742" name="Line 2155"/>
            <p:cNvSpPr/>
            <p:nvPr/>
          </p:nvSpPr>
          <p:spPr>
            <a:xfrm>
              <a:off x="2376" y="3521"/>
              <a:ext cx="1154" cy="1"/>
            </a:xfrm>
            <a:prstGeom prst="line">
              <a:avLst/>
            </a:prstGeom>
            <a:ln w="0" cap="flat" cmpd="sng">
              <a:solidFill>
                <a:srgbClr val="000000"/>
              </a:solidFill>
              <a:prstDash val="solid"/>
              <a:headEnd type="none" w="med" len="med"/>
              <a:tailEnd type="none" w="med" len="med"/>
            </a:ln>
          </p:spPr>
        </p:sp>
        <p:sp>
          <p:nvSpPr>
            <p:cNvPr id="23743" name="Line 2156"/>
            <p:cNvSpPr/>
            <p:nvPr/>
          </p:nvSpPr>
          <p:spPr>
            <a:xfrm>
              <a:off x="2376" y="3416"/>
              <a:ext cx="1154" cy="1"/>
            </a:xfrm>
            <a:prstGeom prst="line">
              <a:avLst/>
            </a:prstGeom>
            <a:ln w="0" cap="flat" cmpd="sng">
              <a:solidFill>
                <a:srgbClr val="000000"/>
              </a:solidFill>
              <a:prstDash val="solid"/>
              <a:headEnd type="none" w="med" len="med"/>
              <a:tailEnd type="none" w="med" len="med"/>
            </a:ln>
          </p:spPr>
        </p:sp>
        <p:sp>
          <p:nvSpPr>
            <p:cNvPr id="23744" name="Line 2157"/>
            <p:cNvSpPr/>
            <p:nvPr/>
          </p:nvSpPr>
          <p:spPr>
            <a:xfrm>
              <a:off x="2376" y="3318"/>
              <a:ext cx="1154" cy="1"/>
            </a:xfrm>
            <a:prstGeom prst="line">
              <a:avLst/>
            </a:prstGeom>
            <a:ln w="0" cap="flat" cmpd="sng">
              <a:solidFill>
                <a:srgbClr val="000000"/>
              </a:solidFill>
              <a:prstDash val="solid"/>
              <a:headEnd type="none" w="med" len="med"/>
              <a:tailEnd type="none" w="med" len="med"/>
            </a:ln>
          </p:spPr>
        </p:sp>
        <p:sp>
          <p:nvSpPr>
            <p:cNvPr id="23745" name="Line 2158"/>
            <p:cNvSpPr/>
            <p:nvPr/>
          </p:nvSpPr>
          <p:spPr>
            <a:xfrm>
              <a:off x="2376" y="3213"/>
              <a:ext cx="1154" cy="1"/>
            </a:xfrm>
            <a:prstGeom prst="line">
              <a:avLst/>
            </a:prstGeom>
            <a:ln w="0" cap="flat" cmpd="sng">
              <a:solidFill>
                <a:srgbClr val="000000"/>
              </a:solidFill>
              <a:prstDash val="solid"/>
              <a:headEnd type="none" w="med" len="med"/>
              <a:tailEnd type="none" w="med" len="med"/>
            </a:ln>
          </p:spPr>
        </p:sp>
        <p:sp>
          <p:nvSpPr>
            <p:cNvPr id="23746" name="Line 2159"/>
            <p:cNvSpPr/>
            <p:nvPr/>
          </p:nvSpPr>
          <p:spPr>
            <a:xfrm>
              <a:off x="2376" y="3114"/>
              <a:ext cx="1154" cy="1"/>
            </a:xfrm>
            <a:prstGeom prst="line">
              <a:avLst/>
            </a:prstGeom>
            <a:ln w="0" cap="flat" cmpd="sng">
              <a:solidFill>
                <a:srgbClr val="000000"/>
              </a:solidFill>
              <a:prstDash val="solid"/>
              <a:headEnd type="none" w="med" len="med"/>
              <a:tailEnd type="none" w="med" len="med"/>
            </a:ln>
          </p:spPr>
        </p:sp>
        <p:sp>
          <p:nvSpPr>
            <p:cNvPr id="23747" name="Line 2160"/>
            <p:cNvSpPr/>
            <p:nvPr/>
          </p:nvSpPr>
          <p:spPr>
            <a:xfrm>
              <a:off x="2376" y="3009"/>
              <a:ext cx="1154" cy="1"/>
            </a:xfrm>
            <a:prstGeom prst="line">
              <a:avLst/>
            </a:prstGeom>
            <a:ln w="0" cap="flat" cmpd="sng">
              <a:solidFill>
                <a:srgbClr val="000000"/>
              </a:solidFill>
              <a:prstDash val="solid"/>
              <a:headEnd type="none" w="med" len="med"/>
              <a:tailEnd type="none" w="med" len="med"/>
            </a:ln>
          </p:spPr>
        </p:sp>
        <p:sp>
          <p:nvSpPr>
            <p:cNvPr id="23748" name="Line 2161"/>
            <p:cNvSpPr/>
            <p:nvPr/>
          </p:nvSpPr>
          <p:spPr>
            <a:xfrm>
              <a:off x="2495" y="3009"/>
              <a:ext cx="1" cy="1018"/>
            </a:xfrm>
            <a:prstGeom prst="line">
              <a:avLst/>
            </a:prstGeom>
            <a:ln w="0" cap="flat" cmpd="sng">
              <a:solidFill>
                <a:srgbClr val="000000"/>
              </a:solidFill>
              <a:prstDash val="solid"/>
              <a:headEnd type="none" w="med" len="med"/>
              <a:tailEnd type="none" w="med" len="med"/>
            </a:ln>
          </p:spPr>
        </p:sp>
        <p:sp>
          <p:nvSpPr>
            <p:cNvPr id="23749" name="Line 2162"/>
            <p:cNvSpPr/>
            <p:nvPr/>
          </p:nvSpPr>
          <p:spPr>
            <a:xfrm>
              <a:off x="2607" y="3009"/>
              <a:ext cx="1" cy="1018"/>
            </a:xfrm>
            <a:prstGeom prst="line">
              <a:avLst/>
            </a:prstGeom>
            <a:ln w="0" cap="flat" cmpd="sng">
              <a:solidFill>
                <a:srgbClr val="000000"/>
              </a:solidFill>
              <a:prstDash val="solid"/>
              <a:headEnd type="none" w="med" len="med"/>
              <a:tailEnd type="none" w="med" len="med"/>
            </a:ln>
          </p:spPr>
        </p:sp>
        <p:sp>
          <p:nvSpPr>
            <p:cNvPr id="23750" name="Line 2163"/>
            <p:cNvSpPr/>
            <p:nvPr/>
          </p:nvSpPr>
          <p:spPr>
            <a:xfrm>
              <a:off x="2725" y="3009"/>
              <a:ext cx="1" cy="1018"/>
            </a:xfrm>
            <a:prstGeom prst="line">
              <a:avLst/>
            </a:prstGeom>
            <a:ln w="0" cap="flat" cmpd="sng">
              <a:solidFill>
                <a:srgbClr val="000000"/>
              </a:solidFill>
              <a:prstDash val="solid"/>
              <a:headEnd type="none" w="med" len="med"/>
              <a:tailEnd type="none" w="med" len="med"/>
            </a:ln>
          </p:spPr>
        </p:sp>
        <p:sp>
          <p:nvSpPr>
            <p:cNvPr id="23751" name="Line 2164"/>
            <p:cNvSpPr/>
            <p:nvPr/>
          </p:nvSpPr>
          <p:spPr>
            <a:xfrm>
              <a:off x="2838" y="3009"/>
              <a:ext cx="1" cy="1018"/>
            </a:xfrm>
            <a:prstGeom prst="line">
              <a:avLst/>
            </a:prstGeom>
            <a:ln w="0" cap="flat" cmpd="sng">
              <a:solidFill>
                <a:srgbClr val="000000"/>
              </a:solidFill>
              <a:prstDash val="solid"/>
              <a:headEnd type="none" w="med" len="med"/>
              <a:tailEnd type="none" w="med" len="med"/>
            </a:ln>
          </p:spPr>
        </p:sp>
        <p:sp>
          <p:nvSpPr>
            <p:cNvPr id="23752" name="Line 2165"/>
            <p:cNvSpPr/>
            <p:nvPr/>
          </p:nvSpPr>
          <p:spPr>
            <a:xfrm>
              <a:off x="2956" y="3009"/>
              <a:ext cx="1" cy="1018"/>
            </a:xfrm>
            <a:prstGeom prst="line">
              <a:avLst/>
            </a:prstGeom>
            <a:ln w="0" cap="flat" cmpd="sng">
              <a:solidFill>
                <a:srgbClr val="000000"/>
              </a:solidFill>
              <a:prstDash val="solid"/>
              <a:headEnd type="none" w="med" len="med"/>
              <a:tailEnd type="none" w="med" len="med"/>
            </a:ln>
          </p:spPr>
        </p:sp>
        <p:sp>
          <p:nvSpPr>
            <p:cNvPr id="23753" name="Line 2166"/>
            <p:cNvSpPr/>
            <p:nvPr/>
          </p:nvSpPr>
          <p:spPr>
            <a:xfrm>
              <a:off x="3068" y="3009"/>
              <a:ext cx="1" cy="1018"/>
            </a:xfrm>
            <a:prstGeom prst="line">
              <a:avLst/>
            </a:prstGeom>
            <a:ln w="0" cap="flat" cmpd="sng">
              <a:solidFill>
                <a:srgbClr val="000000"/>
              </a:solidFill>
              <a:prstDash val="solid"/>
              <a:headEnd type="none" w="med" len="med"/>
              <a:tailEnd type="none" w="med" len="med"/>
            </a:ln>
          </p:spPr>
        </p:sp>
        <p:sp>
          <p:nvSpPr>
            <p:cNvPr id="23754" name="Line 2167"/>
            <p:cNvSpPr/>
            <p:nvPr/>
          </p:nvSpPr>
          <p:spPr>
            <a:xfrm>
              <a:off x="3187" y="3009"/>
              <a:ext cx="1" cy="1018"/>
            </a:xfrm>
            <a:prstGeom prst="line">
              <a:avLst/>
            </a:prstGeom>
            <a:ln w="0" cap="flat" cmpd="sng">
              <a:solidFill>
                <a:srgbClr val="000000"/>
              </a:solidFill>
              <a:prstDash val="solid"/>
              <a:headEnd type="none" w="med" len="med"/>
              <a:tailEnd type="none" w="med" len="med"/>
            </a:ln>
          </p:spPr>
        </p:sp>
        <p:sp>
          <p:nvSpPr>
            <p:cNvPr id="23755" name="Line 2168"/>
            <p:cNvSpPr/>
            <p:nvPr/>
          </p:nvSpPr>
          <p:spPr>
            <a:xfrm>
              <a:off x="3299" y="3009"/>
              <a:ext cx="1" cy="1018"/>
            </a:xfrm>
            <a:prstGeom prst="line">
              <a:avLst/>
            </a:prstGeom>
            <a:ln w="0" cap="flat" cmpd="sng">
              <a:solidFill>
                <a:srgbClr val="000000"/>
              </a:solidFill>
              <a:prstDash val="solid"/>
              <a:headEnd type="none" w="med" len="med"/>
              <a:tailEnd type="none" w="med" len="med"/>
            </a:ln>
          </p:spPr>
        </p:sp>
        <p:sp>
          <p:nvSpPr>
            <p:cNvPr id="23756" name="Line 2169"/>
            <p:cNvSpPr/>
            <p:nvPr/>
          </p:nvSpPr>
          <p:spPr>
            <a:xfrm>
              <a:off x="3417" y="3009"/>
              <a:ext cx="1" cy="1018"/>
            </a:xfrm>
            <a:prstGeom prst="line">
              <a:avLst/>
            </a:prstGeom>
            <a:ln w="0" cap="flat" cmpd="sng">
              <a:solidFill>
                <a:srgbClr val="000000"/>
              </a:solidFill>
              <a:prstDash val="solid"/>
              <a:headEnd type="none" w="med" len="med"/>
              <a:tailEnd type="none" w="med" len="med"/>
            </a:ln>
          </p:spPr>
        </p:sp>
        <p:sp>
          <p:nvSpPr>
            <p:cNvPr id="23757" name="Line 2170"/>
            <p:cNvSpPr/>
            <p:nvPr/>
          </p:nvSpPr>
          <p:spPr>
            <a:xfrm>
              <a:off x="3530" y="3009"/>
              <a:ext cx="1" cy="1018"/>
            </a:xfrm>
            <a:prstGeom prst="line">
              <a:avLst/>
            </a:prstGeom>
            <a:ln w="0" cap="flat" cmpd="sng">
              <a:solidFill>
                <a:srgbClr val="000000"/>
              </a:solidFill>
              <a:prstDash val="solid"/>
              <a:headEnd type="none" w="med" len="med"/>
              <a:tailEnd type="none" w="med" len="med"/>
            </a:ln>
          </p:spPr>
        </p:sp>
        <p:sp>
          <p:nvSpPr>
            <p:cNvPr id="23758" name="Rectangle 2171"/>
            <p:cNvSpPr/>
            <p:nvPr/>
          </p:nvSpPr>
          <p:spPr>
            <a:xfrm>
              <a:off x="2376" y="3009"/>
              <a:ext cx="1154" cy="1018"/>
            </a:xfrm>
            <a:prstGeom prst="rect">
              <a:avLst/>
            </a:prstGeom>
            <a:noFill/>
            <a:ln w="9525"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sp>
          <p:nvSpPr>
            <p:cNvPr id="23759" name="Line 2172"/>
            <p:cNvSpPr/>
            <p:nvPr/>
          </p:nvSpPr>
          <p:spPr>
            <a:xfrm>
              <a:off x="2376" y="3009"/>
              <a:ext cx="1" cy="1018"/>
            </a:xfrm>
            <a:prstGeom prst="line">
              <a:avLst/>
            </a:prstGeom>
            <a:ln w="0" cap="flat" cmpd="sng">
              <a:solidFill>
                <a:srgbClr val="000000"/>
              </a:solidFill>
              <a:prstDash val="solid"/>
              <a:headEnd type="none" w="med" len="med"/>
              <a:tailEnd type="none" w="med" len="med"/>
            </a:ln>
          </p:spPr>
        </p:sp>
        <p:sp>
          <p:nvSpPr>
            <p:cNvPr id="23760" name="Line 2173"/>
            <p:cNvSpPr/>
            <p:nvPr/>
          </p:nvSpPr>
          <p:spPr>
            <a:xfrm>
              <a:off x="2364" y="4027"/>
              <a:ext cx="12" cy="1"/>
            </a:xfrm>
            <a:prstGeom prst="line">
              <a:avLst/>
            </a:prstGeom>
            <a:ln w="0" cap="flat" cmpd="sng">
              <a:solidFill>
                <a:srgbClr val="000000"/>
              </a:solidFill>
              <a:prstDash val="solid"/>
              <a:headEnd type="none" w="med" len="med"/>
              <a:tailEnd type="none" w="med" len="med"/>
            </a:ln>
          </p:spPr>
        </p:sp>
        <p:sp>
          <p:nvSpPr>
            <p:cNvPr id="23761" name="Line 2174"/>
            <p:cNvSpPr/>
            <p:nvPr/>
          </p:nvSpPr>
          <p:spPr>
            <a:xfrm>
              <a:off x="2364" y="3928"/>
              <a:ext cx="12" cy="1"/>
            </a:xfrm>
            <a:prstGeom prst="line">
              <a:avLst/>
            </a:prstGeom>
            <a:ln w="0" cap="flat" cmpd="sng">
              <a:solidFill>
                <a:srgbClr val="000000"/>
              </a:solidFill>
              <a:prstDash val="solid"/>
              <a:headEnd type="none" w="med" len="med"/>
              <a:tailEnd type="none" w="med" len="med"/>
            </a:ln>
          </p:spPr>
        </p:sp>
        <p:sp>
          <p:nvSpPr>
            <p:cNvPr id="23762" name="Line 2175"/>
            <p:cNvSpPr/>
            <p:nvPr/>
          </p:nvSpPr>
          <p:spPr>
            <a:xfrm>
              <a:off x="2364" y="3823"/>
              <a:ext cx="12" cy="1"/>
            </a:xfrm>
            <a:prstGeom prst="line">
              <a:avLst/>
            </a:prstGeom>
            <a:ln w="0" cap="flat" cmpd="sng">
              <a:solidFill>
                <a:srgbClr val="000000"/>
              </a:solidFill>
              <a:prstDash val="solid"/>
              <a:headEnd type="none" w="med" len="med"/>
              <a:tailEnd type="none" w="med" len="med"/>
            </a:ln>
          </p:spPr>
        </p:sp>
        <p:sp>
          <p:nvSpPr>
            <p:cNvPr id="23763" name="Line 2176"/>
            <p:cNvSpPr/>
            <p:nvPr/>
          </p:nvSpPr>
          <p:spPr>
            <a:xfrm>
              <a:off x="2364" y="3725"/>
              <a:ext cx="12" cy="1"/>
            </a:xfrm>
            <a:prstGeom prst="line">
              <a:avLst/>
            </a:prstGeom>
            <a:ln w="0" cap="flat" cmpd="sng">
              <a:solidFill>
                <a:srgbClr val="000000"/>
              </a:solidFill>
              <a:prstDash val="solid"/>
              <a:headEnd type="none" w="med" len="med"/>
              <a:tailEnd type="none" w="med" len="med"/>
            </a:ln>
          </p:spPr>
        </p:sp>
        <p:sp>
          <p:nvSpPr>
            <p:cNvPr id="23764" name="Line 2177"/>
            <p:cNvSpPr/>
            <p:nvPr/>
          </p:nvSpPr>
          <p:spPr>
            <a:xfrm>
              <a:off x="2364" y="3620"/>
              <a:ext cx="12" cy="1"/>
            </a:xfrm>
            <a:prstGeom prst="line">
              <a:avLst/>
            </a:prstGeom>
            <a:ln w="0" cap="flat" cmpd="sng">
              <a:solidFill>
                <a:srgbClr val="000000"/>
              </a:solidFill>
              <a:prstDash val="solid"/>
              <a:headEnd type="none" w="med" len="med"/>
              <a:tailEnd type="none" w="med" len="med"/>
            </a:ln>
          </p:spPr>
        </p:sp>
        <p:sp>
          <p:nvSpPr>
            <p:cNvPr id="23765" name="Line 2178"/>
            <p:cNvSpPr/>
            <p:nvPr/>
          </p:nvSpPr>
          <p:spPr>
            <a:xfrm>
              <a:off x="2364" y="3521"/>
              <a:ext cx="12" cy="1"/>
            </a:xfrm>
            <a:prstGeom prst="line">
              <a:avLst/>
            </a:prstGeom>
            <a:ln w="0" cap="flat" cmpd="sng">
              <a:solidFill>
                <a:srgbClr val="000000"/>
              </a:solidFill>
              <a:prstDash val="solid"/>
              <a:headEnd type="none" w="med" len="med"/>
              <a:tailEnd type="none" w="med" len="med"/>
            </a:ln>
          </p:spPr>
        </p:sp>
        <p:sp>
          <p:nvSpPr>
            <p:cNvPr id="23766" name="Line 2179"/>
            <p:cNvSpPr/>
            <p:nvPr/>
          </p:nvSpPr>
          <p:spPr>
            <a:xfrm>
              <a:off x="2364" y="3416"/>
              <a:ext cx="12" cy="1"/>
            </a:xfrm>
            <a:prstGeom prst="line">
              <a:avLst/>
            </a:prstGeom>
            <a:ln w="0" cap="flat" cmpd="sng">
              <a:solidFill>
                <a:srgbClr val="000000"/>
              </a:solidFill>
              <a:prstDash val="solid"/>
              <a:headEnd type="none" w="med" len="med"/>
              <a:tailEnd type="none" w="med" len="med"/>
            </a:ln>
          </p:spPr>
        </p:sp>
        <p:sp>
          <p:nvSpPr>
            <p:cNvPr id="23767" name="Line 2180"/>
            <p:cNvSpPr/>
            <p:nvPr/>
          </p:nvSpPr>
          <p:spPr>
            <a:xfrm>
              <a:off x="2364" y="3318"/>
              <a:ext cx="12" cy="1"/>
            </a:xfrm>
            <a:prstGeom prst="line">
              <a:avLst/>
            </a:prstGeom>
            <a:ln w="0" cap="flat" cmpd="sng">
              <a:solidFill>
                <a:srgbClr val="000000"/>
              </a:solidFill>
              <a:prstDash val="solid"/>
              <a:headEnd type="none" w="med" len="med"/>
              <a:tailEnd type="none" w="med" len="med"/>
            </a:ln>
          </p:spPr>
        </p:sp>
        <p:sp>
          <p:nvSpPr>
            <p:cNvPr id="23768" name="Line 2181"/>
            <p:cNvSpPr/>
            <p:nvPr/>
          </p:nvSpPr>
          <p:spPr>
            <a:xfrm>
              <a:off x="2364" y="3213"/>
              <a:ext cx="12" cy="1"/>
            </a:xfrm>
            <a:prstGeom prst="line">
              <a:avLst/>
            </a:prstGeom>
            <a:ln w="0" cap="flat" cmpd="sng">
              <a:solidFill>
                <a:srgbClr val="000000"/>
              </a:solidFill>
              <a:prstDash val="solid"/>
              <a:headEnd type="none" w="med" len="med"/>
              <a:tailEnd type="none" w="med" len="med"/>
            </a:ln>
          </p:spPr>
        </p:sp>
        <p:sp>
          <p:nvSpPr>
            <p:cNvPr id="23769" name="Line 2182"/>
            <p:cNvSpPr/>
            <p:nvPr/>
          </p:nvSpPr>
          <p:spPr>
            <a:xfrm>
              <a:off x="2364" y="3114"/>
              <a:ext cx="12" cy="1"/>
            </a:xfrm>
            <a:prstGeom prst="line">
              <a:avLst/>
            </a:prstGeom>
            <a:ln w="0" cap="flat" cmpd="sng">
              <a:solidFill>
                <a:srgbClr val="000000"/>
              </a:solidFill>
              <a:prstDash val="solid"/>
              <a:headEnd type="none" w="med" len="med"/>
              <a:tailEnd type="none" w="med" len="med"/>
            </a:ln>
          </p:spPr>
        </p:sp>
        <p:sp>
          <p:nvSpPr>
            <p:cNvPr id="23770" name="Line 2183"/>
            <p:cNvSpPr/>
            <p:nvPr/>
          </p:nvSpPr>
          <p:spPr>
            <a:xfrm>
              <a:off x="2364" y="3009"/>
              <a:ext cx="12" cy="1"/>
            </a:xfrm>
            <a:prstGeom prst="line">
              <a:avLst/>
            </a:prstGeom>
            <a:ln w="0" cap="flat" cmpd="sng">
              <a:solidFill>
                <a:srgbClr val="000000"/>
              </a:solidFill>
              <a:prstDash val="solid"/>
              <a:headEnd type="none" w="med" len="med"/>
              <a:tailEnd type="none" w="med" len="med"/>
            </a:ln>
          </p:spPr>
        </p:sp>
        <p:sp>
          <p:nvSpPr>
            <p:cNvPr id="23771" name="Line 2184"/>
            <p:cNvSpPr/>
            <p:nvPr/>
          </p:nvSpPr>
          <p:spPr>
            <a:xfrm>
              <a:off x="2376" y="4027"/>
              <a:ext cx="1154" cy="1"/>
            </a:xfrm>
            <a:prstGeom prst="line">
              <a:avLst/>
            </a:prstGeom>
            <a:ln w="0" cap="flat" cmpd="sng">
              <a:solidFill>
                <a:srgbClr val="000000"/>
              </a:solidFill>
              <a:prstDash val="solid"/>
              <a:headEnd type="none" w="med" len="med"/>
              <a:tailEnd type="none" w="med" len="med"/>
            </a:ln>
          </p:spPr>
        </p:sp>
        <p:sp>
          <p:nvSpPr>
            <p:cNvPr id="23772" name="Line 2185"/>
            <p:cNvSpPr/>
            <p:nvPr/>
          </p:nvSpPr>
          <p:spPr>
            <a:xfrm flipV="1">
              <a:off x="2376" y="4027"/>
              <a:ext cx="1" cy="12"/>
            </a:xfrm>
            <a:prstGeom prst="line">
              <a:avLst/>
            </a:prstGeom>
            <a:ln w="0" cap="flat" cmpd="sng">
              <a:solidFill>
                <a:srgbClr val="000000"/>
              </a:solidFill>
              <a:prstDash val="solid"/>
              <a:headEnd type="none" w="med" len="med"/>
              <a:tailEnd type="none" w="med" len="med"/>
            </a:ln>
          </p:spPr>
        </p:sp>
        <p:sp>
          <p:nvSpPr>
            <p:cNvPr id="23773" name="Line 2186"/>
            <p:cNvSpPr/>
            <p:nvPr/>
          </p:nvSpPr>
          <p:spPr>
            <a:xfrm flipV="1">
              <a:off x="2495" y="4027"/>
              <a:ext cx="1" cy="12"/>
            </a:xfrm>
            <a:prstGeom prst="line">
              <a:avLst/>
            </a:prstGeom>
            <a:ln w="0" cap="flat" cmpd="sng">
              <a:solidFill>
                <a:srgbClr val="000000"/>
              </a:solidFill>
              <a:prstDash val="solid"/>
              <a:headEnd type="none" w="med" len="med"/>
              <a:tailEnd type="none" w="med" len="med"/>
            </a:ln>
          </p:spPr>
        </p:sp>
        <p:sp>
          <p:nvSpPr>
            <p:cNvPr id="23774" name="Line 2187"/>
            <p:cNvSpPr/>
            <p:nvPr/>
          </p:nvSpPr>
          <p:spPr>
            <a:xfrm flipV="1">
              <a:off x="2607" y="4027"/>
              <a:ext cx="1" cy="12"/>
            </a:xfrm>
            <a:prstGeom prst="line">
              <a:avLst/>
            </a:prstGeom>
            <a:ln w="0" cap="flat" cmpd="sng">
              <a:solidFill>
                <a:srgbClr val="000000"/>
              </a:solidFill>
              <a:prstDash val="solid"/>
              <a:headEnd type="none" w="med" len="med"/>
              <a:tailEnd type="none" w="med" len="med"/>
            </a:ln>
          </p:spPr>
        </p:sp>
        <p:sp>
          <p:nvSpPr>
            <p:cNvPr id="23775" name="Line 2188"/>
            <p:cNvSpPr/>
            <p:nvPr/>
          </p:nvSpPr>
          <p:spPr>
            <a:xfrm flipV="1">
              <a:off x="2725" y="4027"/>
              <a:ext cx="1" cy="12"/>
            </a:xfrm>
            <a:prstGeom prst="line">
              <a:avLst/>
            </a:prstGeom>
            <a:ln w="0" cap="flat" cmpd="sng">
              <a:solidFill>
                <a:srgbClr val="000000"/>
              </a:solidFill>
              <a:prstDash val="solid"/>
              <a:headEnd type="none" w="med" len="med"/>
              <a:tailEnd type="none" w="med" len="med"/>
            </a:ln>
          </p:spPr>
        </p:sp>
        <p:sp>
          <p:nvSpPr>
            <p:cNvPr id="23776" name="Line 2189"/>
            <p:cNvSpPr/>
            <p:nvPr/>
          </p:nvSpPr>
          <p:spPr>
            <a:xfrm flipV="1">
              <a:off x="2838" y="4027"/>
              <a:ext cx="1" cy="12"/>
            </a:xfrm>
            <a:prstGeom prst="line">
              <a:avLst/>
            </a:prstGeom>
            <a:ln w="0" cap="flat" cmpd="sng">
              <a:solidFill>
                <a:srgbClr val="000000"/>
              </a:solidFill>
              <a:prstDash val="solid"/>
              <a:headEnd type="none" w="med" len="med"/>
              <a:tailEnd type="none" w="med" len="med"/>
            </a:ln>
          </p:spPr>
        </p:sp>
        <p:sp>
          <p:nvSpPr>
            <p:cNvPr id="23777" name="Line 2190"/>
            <p:cNvSpPr/>
            <p:nvPr/>
          </p:nvSpPr>
          <p:spPr>
            <a:xfrm flipV="1">
              <a:off x="2956" y="4027"/>
              <a:ext cx="1" cy="12"/>
            </a:xfrm>
            <a:prstGeom prst="line">
              <a:avLst/>
            </a:prstGeom>
            <a:ln w="0" cap="flat" cmpd="sng">
              <a:solidFill>
                <a:srgbClr val="000000"/>
              </a:solidFill>
              <a:prstDash val="solid"/>
              <a:headEnd type="none" w="med" len="med"/>
              <a:tailEnd type="none" w="med" len="med"/>
            </a:ln>
          </p:spPr>
        </p:sp>
        <p:sp>
          <p:nvSpPr>
            <p:cNvPr id="23778" name="Line 2191"/>
            <p:cNvSpPr/>
            <p:nvPr/>
          </p:nvSpPr>
          <p:spPr>
            <a:xfrm flipV="1">
              <a:off x="3068" y="4027"/>
              <a:ext cx="1" cy="12"/>
            </a:xfrm>
            <a:prstGeom prst="line">
              <a:avLst/>
            </a:prstGeom>
            <a:ln w="0" cap="flat" cmpd="sng">
              <a:solidFill>
                <a:srgbClr val="000000"/>
              </a:solidFill>
              <a:prstDash val="solid"/>
              <a:headEnd type="none" w="med" len="med"/>
              <a:tailEnd type="none" w="med" len="med"/>
            </a:ln>
          </p:spPr>
        </p:sp>
        <p:sp>
          <p:nvSpPr>
            <p:cNvPr id="23779" name="Line 2192"/>
            <p:cNvSpPr/>
            <p:nvPr/>
          </p:nvSpPr>
          <p:spPr>
            <a:xfrm flipV="1">
              <a:off x="3187" y="4027"/>
              <a:ext cx="1" cy="12"/>
            </a:xfrm>
            <a:prstGeom prst="line">
              <a:avLst/>
            </a:prstGeom>
            <a:ln w="0" cap="flat" cmpd="sng">
              <a:solidFill>
                <a:srgbClr val="000000"/>
              </a:solidFill>
              <a:prstDash val="solid"/>
              <a:headEnd type="none" w="med" len="med"/>
              <a:tailEnd type="none" w="med" len="med"/>
            </a:ln>
          </p:spPr>
        </p:sp>
        <p:sp>
          <p:nvSpPr>
            <p:cNvPr id="23780" name="Line 2193"/>
            <p:cNvSpPr/>
            <p:nvPr/>
          </p:nvSpPr>
          <p:spPr>
            <a:xfrm flipV="1">
              <a:off x="3299" y="4027"/>
              <a:ext cx="1" cy="12"/>
            </a:xfrm>
            <a:prstGeom prst="line">
              <a:avLst/>
            </a:prstGeom>
            <a:ln w="0" cap="flat" cmpd="sng">
              <a:solidFill>
                <a:srgbClr val="000000"/>
              </a:solidFill>
              <a:prstDash val="solid"/>
              <a:headEnd type="none" w="med" len="med"/>
              <a:tailEnd type="none" w="med" len="med"/>
            </a:ln>
          </p:spPr>
        </p:sp>
        <p:sp>
          <p:nvSpPr>
            <p:cNvPr id="23781" name="Line 2194"/>
            <p:cNvSpPr/>
            <p:nvPr/>
          </p:nvSpPr>
          <p:spPr>
            <a:xfrm flipV="1">
              <a:off x="3417" y="4027"/>
              <a:ext cx="1" cy="12"/>
            </a:xfrm>
            <a:prstGeom prst="line">
              <a:avLst/>
            </a:prstGeom>
            <a:ln w="0" cap="flat" cmpd="sng">
              <a:solidFill>
                <a:srgbClr val="000000"/>
              </a:solidFill>
              <a:prstDash val="solid"/>
              <a:headEnd type="none" w="med" len="med"/>
              <a:tailEnd type="none" w="med" len="med"/>
            </a:ln>
          </p:spPr>
        </p:sp>
        <p:sp>
          <p:nvSpPr>
            <p:cNvPr id="23782" name="Line 2195"/>
            <p:cNvSpPr/>
            <p:nvPr/>
          </p:nvSpPr>
          <p:spPr>
            <a:xfrm flipV="1">
              <a:off x="3530" y="4027"/>
              <a:ext cx="1" cy="12"/>
            </a:xfrm>
            <a:prstGeom prst="line">
              <a:avLst/>
            </a:prstGeom>
            <a:ln w="0" cap="flat" cmpd="sng">
              <a:solidFill>
                <a:srgbClr val="000000"/>
              </a:solidFill>
              <a:prstDash val="solid"/>
              <a:headEnd type="none" w="med" len="med"/>
              <a:tailEnd type="none" w="med" len="med"/>
            </a:ln>
          </p:spPr>
        </p:sp>
        <p:sp>
          <p:nvSpPr>
            <p:cNvPr id="23783" name="Freeform 2196"/>
            <p:cNvSpPr/>
            <p:nvPr/>
          </p:nvSpPr>
          <p:spPr>
            <a:xfrm>
              <a:off x="2682" y="3577"/>
              <a:ext cx="87" cy="86"/>
            </a:xfrm>
            <a:custGeom>
              <a:avLst/>
              <a:gdLst>
                <a:gd name="txL" fmla="*/ 0 w 87"/>
                <a:gd name="txT" fmla="*/ 0 h 86"/>
                <a:gd name="txR" fmla="*/ 87 w 87"/>
                <a:gd name="txB" fmla="*/ 86 h 86"/>
              </a:gdLst>
              <a:ahLst/>
              <a:cxnLst>
                <a:cxn ang="0">
                  <a:pos x="43" y="0"/>
                </a:cxn>
                <a:cxn ang="0">
                  <a:pos x="87" y="43"/>
                </a:cxn>
                <a:cxn ang="0">
                  <a:pos x="43" y="86"/>
                </a:cxn>
                <a:cxn ang="0">
                  <a:pos x="0" y="43"/>
                </a:cxn>
                <a:cxn ang="0">
                  <a:pos x="43" y="0"/>
                </a:cxn>
              </a:cxnLst>
              <a:rect l="txL" t="txT" r="txR" b="txB"/>
              <a:pathLst>
                <a:path w="87" h="86">
                  <a:moveTo>
                    <a:pt x="43" y="0"/>
                  </a:moveTo>
                  <a:lnTo>
                    <a:pt x="87" y="43"/>
                  </a:lnTo>
                  <a:lnTo>
                    <a:pt x="43" y="86"/>
                  </a:lnTo>
                  <a:lnTo>
                    <a:pt x="0" y="43"/>
                  </a:lnTo>
                  <a:lnTo>
                    <a:pt x="43"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23784" name="Freeform 2197"/>
            <p:cNvSpPr/>
            <p:nvPr/>
          </p:nvSpPr>
          <p:spPr>
            <a:xfrm>
              <a:off x="2563" y="3373"/>
              <a:ext cx="88" cy="87"/>
            </a:xfrm>
            <a:custGeom>
              <a:avLst/>
              <a:gdLst>
                <a:gd name="txL" fmla="*/ 0 w 88"/>
                <a:gd name="txT" fmla="*/ 0 h 87"/>
                <a:gd name="txR" fmla="*/ 88 w 88"/>
                <a:gd name="txB" fmla="*/ 87 h 87"/>
              </a:gdLst>
              <a:ahLst/>
              <a:cxnLst>
                <a:cxn ang="0">
                  <a:pos x="44" y="0"/>
                </a:cxn>
                <a:cxn ang="0">
                  <a:pos x="88" y="43"/>
                </a:cxn>
                <a:cxn ang="0">
                  <a:pos x="44" y="87"/>
                </a:cxn>
                <a:cxn ang="0">
                  <a:pos x="0" y="43"/>
                </a:cxn>
                <a:cxn ang="0">
                  <a:pos x="44" y="0"/>
                </a:cxn>
              </a:cxnLst>
              <a:rect l="txL" t="txT" r="txR" b="txB"/>
              <a:pathLst>
                <a:path w="88" h="87">
                  <a:moveTo>
                    <a:pt x="44" y="0"/>
                  </a:moveTo>
                  <a:lnTo>
                    <a:pt x="88" y="43"/>
                  </a:lnTo>
                  <a:lnTo>
                    <a:pt x="44" y="87"/>
                  </a:lnTo>
                  <a:lnTo>
                    <a:pt x="0" y="43"/>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23785" name="Freeform 2198"/>
            <p:cNvSpPr/>
            <p:nvPr/>
          </p:nvSpPr>
          <p:spPr>
            <a:xfrm>
              <a:off x="3143" y="3681"/>
              <a:ext cx="87" cy="87"/>
            </a:xfrm>
            <a:custGeom>
              <a:avLst/>
              <a:gdLst>
                <a:gd name="txL" fmla="*/ 0 w 87"/>
                <a:gd name="txT" fmla="*/ 0 h 87"/>
                <a:gd name="txR" fmla="*/ 87 w 87"/>
                <a:gd name="txB" fmla="*/ 87 h 87"/>
              </a:gdLst>
              <a:ahLst/>
              <a:cxnLst>
                <a:cxn ang="0">
                  <a:pos x="44" y="0"/>
                </a:cxn>
                <a:cxn ang="0">
                  <a:pos x="87" y="44"/>
                </a:cxn>
                <a:cxn ang="0">
                  <a:pos x="44" y="87"/>
                </a:cxn>
                <a:cxn ang="0">
                  <a:pos x="0" y="44"/>
                </a:cxn>
                <a:cxn ang="0">
                  <a:pos x="44" y="0"/>
                </a:cxn>
              </a:cxnLst>
              <a:rect l="txL" t="txT" r="txR" b="txB"/>
              <a:pathLst>
                <a:path w="87" h="87">
                  <a:moveTo>
                    <a:pt x="44" y="0"/>
                  </a:moveTo>
                  <a:lnTo>
                    <a:pt x="87" y="44"/>
                  </a:lnTo>
                  <a:lnTo>
                    <a:pt x="44" y="87"/>
                  </a:lnTo>
                  <a:lnTo>
                    <a:pt x="0" y="44"/>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23786" name="Freeform 2199"/>
            <p:cNvSpPr/>
            <p:nvPr/>
          </p:nvSpPr>
          <p:spPr>
            <a:xfrm>
              <a:off x="2794" y="3275"/>
              <a:ext cx="87" cy="86"/>
            </a:xfrm>
            <a:custGeom>
              <a:avLst/>
              <a:gdLst>
                <a:gd name="txL" fmla="*/ 0 w 87"/>
                <a:gd name="txT" fmla="*/ 0 h 86"/>
                <a:gd name="txR" fmla="*/ 87 w 87"/>
                <a:gd name="txB" fmla="*/ 86 h 86"/>
              </a:gdLst>
              <a:ahLst/>
              <a:cxnLst>
                <a:cxn ang="0">
                  <a:pos x="44" y="0"/>
                </a:cxn>
                <a:cxn ang="0">
                  <a:pos x="87" y="43"/>
                </a:cxn>
                <a:cxn ang="0">
                  <a:pos x="44" y="86"/>
                </a:cxn>
                <a:cxn ang="0">
                  <a:pos x="0" y="43"/>
                </a:cxn>
                <a:cxn ang="0">
                  <a:pos x="44" y="0"/>
                </a:cxn>
              </a:cxnLst>
              <a:rect l="txL" t="txT" r="txR" b="txB"/>
              <a:pathLst>
                <a:path w="87" h="86">
                  <a:moveTo>
                    <a:pt x="44" y="0"/>
                  </a:moveTo>
                  <a:lnTo>
                    <a:pt x="87" y="43"/>
                  </a:lnTo>
                  <a:lnTo>
                    <a:pt x="44" y="86"/>
                  </a:lnTo>
                  <a:lnTo>
                    <a:pt x="0" y="43"/>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23787" name="Freeform 2200"/>
            <p:cNvSpPr/>
            <p:nvPr/>
          </p:nvSpPr>
          <p:spPr>
            <a:xfrm>
              <a:off x="2682" y="3170"/>
              <a:ext cx="87" cy="86"/>
            </a:xfrm>
            <a:custGeom>
              <a:avLst/>
              <a:gdLst>
                <a:gd name="txL" fmla="*/ 0 w 87"/>
                <a:gd name="txT" fmla="*/ 0 h 86"/>
                <a:gd name="txR" fmla="*/ 87 w 87"/>
                <a:gd name="txB" fmla="*/ 86 h 86"/>
              </a:gdLst>
              <a:ahLst/>
              <a:cxnLst>
                <a:cxn ang="0">
                  <a:pos x="43" y="0"/>
                </a:cxn>
                <a:cxn ang="0">
                  <a:pos x="87" y="43"/>
                </a:cxn>
                <a:cxn ang="0">
                  <a:pos x="43" y="86"/>
                </a:cxn>
                <a:cxn ang="0">
                  <a:pos x="0" y="43"/>
                </a:cxn>
                <a:cxn ang="0">
                  <a:pos x="43" y="0"/>
                </a:cxn>
              </a:cxnLst>
              <a:rect l="txL" t="txT" r="txR" b="txB"/>
              <a:pathLst>
                <a:path w="87" h="86">
                  <a:moveTo>
                    <a:pt x="43" y="0"/>
                  </a:moveTo>
                  <a:lnTo>
                    <a:pt x="87" y="43"/>
                  </a:lnTo>
                  <a:lnTo>
                    <a:pt x="43" y="86"/>
                  </a:lnTo>
                  <a:lnTo>
                    <a:pt x="0" y="43"/>
                  </a:lnTo>
                  <a:lnTo>
                    <a:pt x="43" y="0"/>
                  </a:lnTo>
                  <a:close/>
                </a:path>
              </a:pathLst>
            </a:custGeom>
            <a:solidFill>
              <a:srgbClr val="000080">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23788" name="Freeform 2201"/>
            <p:cNvSpPr/>
            <p:nvPr/>
          </p:nvSpPr>
          <p:spPr>
            <a:xfrm>
              <a:off x="3255" y="3478"/>
              <a:ext cx="88" cy="86"/>
            </a:xfrm>
            <a:custGeom>
              <a:avLst/>
              <a:gdLst>
                <a:gd name="txL" fmla="*/ 0 w 88"/>
                <a:gd name="txT" fmla="*/ 0 h 86"/>
                <a:gd name="txR" fmla="*/ 88 w 88"/>
                <a:gd name="txB" fmla="*/ 86 h 86"/>
              </a:gdLst>
              <a:ahLst/>
              <a:cxnLst>
                <a:cxn ang="0">
                  <a:pos x="44" y="0"/>
                </a:cxn>
                <a:cxn ang="0">
                  <a:pos x="88" y="43"/>
                </a:cxn>
                <a:cxn ang="0">
                  <a:pos x="44" y="86"/>
                </a:cxn>
                <a:cxn ang="0">
                  <a:pos x="0" y="43"/>
                </a:cxn>
                <a:cxn ang="0">
                  <a:pos x="44" y="0"/>
                </a:cxn>
              </a:cxnLst>
              <a:rect l="txL" t="txT" r="txR" b="txB"/>
              <a:pathLst>
                <a:path w="88" h="86">
                  <a:moveTo>
                    <a:pt x="44" y="0"/>
                  </a:moveTo>
                  <a:lnTo>
                    <a:pt x="88" y="43"/>
                  </a:lnTo>
                  <a:lnTo>
                    <a:pt x="44" y="86"/>
                  </a:lnTo>
                  <a:lnTo>
                    <a:pt x="0" y="43"/>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23789" name="Freeform 2202"/>
            <p:cNvSpPr/>
            <p:nvPr/>
          </p:nvSpPr>
          <p:spPr>
            <a:xfrm>
              <a:off x="3143" y="3577"/>
              <a:ext cx="87" cy="86"/>
            </a:xfrm>
            <a:custGeom>
              <a:avLst/>
              <a:gdLst>
                <a:gd name="txL" fmla="*/ 0 w 87"/>
                <a:gd name="txT" fmla="*/ 0 h 86"/>
                <a:gd name="txR" fmla="*/ 87 w 87"/>
                <a:gd name="txB" fmla="*/ 86 h 86"/>
              </a:gdLst>
              <a:ahLst/>
              <a:cxnLst>
                <a:cxn ang="0">
                  <a:pos x="44" y="0"/>
                </a:cxn>
                <a:cxn ang="0">
                  <a:pos x="87" y="43"/>
                </a:cxn>
                <a:cxn ang="0">
                  <a:pos x="44" y="86"/>
                </a:cxn>
                <a:cxn ang="0">
                  <a:pos x="0" y="43"/>
                </a:cxn>
                <a:cxn ang="0">
                  <a:pos x="44" y="0"/>
                </a:cxn>
              </a:cxnLst>
              <a:rect l="txL" t="txT" r="txR" b="txB"/>
              <a:pathLst>
                <a:path w="87" h="86">
                  <a:moveTo>
                    <a:pt x="44" y="0"/>
                  </a:moveTo>
                  <a:lnTo>
                    <a:pt x="87" y="43"/>
                  </a:lnTo>
                  <a:lnTo>
                    <a:pt x="44" y="86"/>
                  </a:lnTo>
                  <a:lnTo>
                    <a:pt x="0" y="43"/>
                  </a:lnTo>
                  <a:lnTo>
                    <a:pt x="44" y="0"/>
                  </a:lnTo>
                  <a:close/>
                </a:path>
              </a:pathLst>
            </a:custGeom>
            <a:solidFill>
              <a:schemeClr val="accent1">
                <a:alpha val="100000"/>
              </a:scheme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23790" name="Freeform 2203"/>
            <p:cNvSpPr/>
            <p:nvPr/>
          </p:nvSpPr>
          <p:spPr>
            <a:xfrm>
              <a:off x="3143" y="3373"/>
              <a:ext cx="87" cy="87"/>
            </a:xfrm>
            <a:custGeom>
              <a:avLst/>
              <a:gdLst>
                <a:gd name="txL" fmla="*/ 0 w 87"/>
                <a:gd name="txT" fmla="*/ 0 h 87"/>
                <a:gd name="txR" fmla="*/ 87 w 87"/>
                <a:gd name="txB" fmla="*/ 87 h 87"/>
              </a:gdLst>
              <a:ahLst/>
              <a:cxnLst>
                <a:cxn ang="0">
                  <a:pos x="44" y="0"/>
                </a:cxn>
                <a:cxn ang="0">
                  <a:pos x="87" y="43"/>
                </a:cxn>
                <a:cxn ang="0">
                  <a:pos x="44" y="87"/>
                </a:cxn>
                <a:cxn ang="0">
                  <a:pos x="0" y="43"/>
                </a:cxn>
                <a:cxn ang="0">
                  <a:pos x="44" y="0"/>
                </a:cxn>
              </a:cxnLst>
              <a:rect l="txL" t="txT" r="txR" b="txB"/>
              <a:pathLst>
                <a:path w="87" h="87">
                  <a:moveTo>
                    <a:pt x="44" y="0"/>
                  </a:moveTo>
                  <a:lnTo>
                    <a:pt x="87" y="43"/>
                  </a:lnTo>
                  <a:lnTo>
                    <a:pt x="44" y="87"/>
                  </a:lnTo>
                  <a:lnTo>
                    <a:pt x="0" y="43"/>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23791" name="Rectangle 2204"/>
            <p:cNvSpPr/>
            <p:nvPr/>
          </p:nvSpPr>
          <p:spPr>
            <a:xfrm>
              <a:off x="2326" y="4008"/>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0</a:t>
              </a:r>
              <a:endParaRPr lang="ko-KR" altLang="en-US" dirty="0">
                <a:latin typeface="Tahoma" panose="020B0604030504040204" pitchFamily="34" charset="0"/>
                <a:ea typeface="Gulim" panose="020B0600000101010101" pitchFamily="34" charset="-127"/>
              </a:endParaRPr>
            </a:p>
          </p:txBody>
        </p:sp>
        <p:sp>
          <p:nvSpPr>
            <p:cNvPr id="23792" name="Rectangle 2205"/>
            <p:cNvSpPr/>
            <p:nvPr/>
          </p:nvSpPr>
          <p:spPr>
            <a:xfrm>
              <a:off x="2326" y="391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a:t>
              </a:r>
              <a:endParaRPr lang="ko-KR" altLang="en-US" dirty="0">
                <a:latin typeface="Tahoma" panose="020B0604030504040204" pitchFamily="34" charset="0"/>
                <a:ea typeface="Gulim" panose="020B0600000101010101" pitchFamily="34" charset="-127"/>
              </a:endParaRPr>
            </a:p>
          </p:txBody>
        </p:sp>
        <p:sp>
          <p:nvSpPr>
            <p:cNvPr id="23793" name="Rectangle 2206"/>
            <p:cNvSpPr/>
            <p:nvPr/>
          </p:nvSpPr>
          <p:spPr>
            <a:xfrm>
              <a:off x="2326" y="3805"/>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2</a:t>
              </a:r>
              <a:endParaRPr lang="ko-KR" altLang="en-US" dirty="0">
                <a:latin typeface="Tahoma" panose="020B0604030504040204" pitchFamily="34" charset="0"/>
                <a:ea typeface="Gulim" panose="020B0600000101010101" pitchFamily="34" charset="-127"/>
              </a:endParaRPr>
            </a:p>
          </p:txBody>
        </p:sp>
        <p:sp>
          <p:nvSpPr>
            <p:cNvPr id="23794" name="Rectangle 2207"/>
            <p:cNvSpPr/>
            <p:nvPr/>
          </p:nvSpPr>
          <p:spPr>
            <a:xfrm>
              <a:off x="2326" y="3706"/>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3</a:t>
              </a:r>
              <a:endParaRPr lang="ko-KR" altLang="en-US" dirty="0">
                <a:latin typeface="Tahoma" panose="020B0604030504040204" pitchFamily="34" charset="0"/>
                <a:ea typeface="Gulim" panose="020B0600000101010101" pitchFamily="34" charset="-127"/>
              </a:endParaRPr>
            </a:p>
          </p:txBody>
        </p:sp>
        <p:sp>
          <p:nvSpPr>
            <p:cNvPr id="23795" name="Rectangle 2208"/>
            <p:cNvSpPr/>
            <p:nvPr/>
          </p:nvSpPr>
          <p:spPr>
            <a:xfrm>
              <a:off x="2326" y="3601"/>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4</a:t>
              </a:r>
              <a:endParaRPr lang="ko-KR" altLang="en-US" dirty="0">
                <a:latin typeface="Tahoma" panose="020B0604030504040204" pitchFamily="34" charset="0"/>
                <a:ea typeface="Gulim" panose="020B0600000101010101" pitchFamily="34" charset="-127"/>
              </a:endParaRPr>
            </a:p>
          </p:txBody>
        </p:sp>
        <p:sp>
          <p:nvSpPr>
            <p:cNvPr id="23796" name="Rectangle 2209"/>
            <p:cNvSpPr/>
            <p:nvPr/>
          </p:nvSpPr>
          <p:spPr>
            <a:xfrm>
              <a:off x="2326" y="3503"/>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5</a:t>
              </a:r>
              <a:endParaRPr lang="ko-KR" altLang="en-US" dirty="0">
                <a:latin typeface="Tahoma" panose="020B0604030504040204" pitchFamily="34" charset="0"/>
                <a:ea typeface="Gulim" panose="020B0600000101010101" pitchFamily="34" charset="-127"/>
              </a:endParaRPr>
            </a:p>
          </p:txBody>
        </p:sp>
        <p:sp>
          <p:nvSpPr>
            <p:cNvPr id="23797" name="Rectangle 2210"/>
            <p:cNvSpPr/>
            <p:nvPr/>
          </p:nvSpPr>
          <p:spPr>
            <a:xfrm>
              <a:off x="2326" y="3398"/>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6</a:t>
              </a:r>
              <a:endParaRPr lang="ko-KR" altLang="en-US" dirty="0">
                <a:latin typeface="Tahoma" panose="020B0604030504040204" pitchFamily="34" charset="0"/>
                <a:ea typeface="Gulim" panose="020B0600000101010101" pitchFamily="34" charset="-127"/>
              </a:endParaRPr>
            </a:p>
          </p:txBody>
        </p:sp>
        <p:sp>
          <p:nvSpPr>
            <p:cNvPr id="23798" name="Rectangle 2211"/>
            <p:cNvSpPr/>
            <p:nvPr/>
          </p:nvSpPr>
          <p:spPr>
            <a:xfrm>
              <a:off x="2326" y="3299"/>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7</a:t>
              </a:r>
              <a:endParaRPr lang="ko-KR" altLang="en-US" dirty="0">
                <a:latin typeface="Tahoma" panose="020B0604030504040204" pitchFamily="34" charset="0"/>
                <a:ea typeface="Gulim" panose="020B0600000101010101" pitchFamily="34" charset="-127"/>
              </a:endParaRPr>
            </a:p>
          </p:txBody>
        </p:sp>
        <p:sp>
          <p:nvSpPr>
            <p:cNvPr id="23799" name="Rectangle 2212"/>
            <p:cNvSpPr/>
            <p:nvPr/>
          </p:nvSpPr>
          <p:spPr>
            <a:xfrm>
              <a:off x="2326" y="3194"/>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8</a:t>
              </a:r>
              <a:endParaRPr lang="ko-KR" altLang="en-US" dirty="0">
                <a:latin typeface="Tahoma" panose="020B0604030504040204" pitchFamily="34" charset="0"/>
                <a:ea typeface="Gulim" panose="020B0600000101010101" pitchFamily="34" charset="-127"/>
              </a:endParaRPr>
            </a:p>
          </p:txBody>
        </p:sp>
        <p:sp>
          <p:nvSpPr>
            <p:cNvPr id="23800" name="Rectangle 2213"/>
            <p:cNvSpPr/>
            <p:nvPr/>
          </p:nvSpPr>
          <p:spPr>
            <a:xfrm>
              <a:off x="2326" y="3096"/>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9</a:t>
              </a:r>
              <a:endParaRPr lang="ko-KR" altLang="en-US" dirty="0">
                <a:latin typeface="Tahoma" panose="020B0604030504040204" pitchFamily="34" charset="0"/>
                <a:ea typeface="Gulim" panose="020B0600000101010101" pitchFamily="34" charset="-127"/>
              </a:endParaRPr>
            </a:p>
          </p:txBody>
        </p:sp>
        <p:sp>
          <p:nvSpPr>
            <p:cNvPr id="23801" name="Rectangle 2214"/>
            <p:cNvSpPr/>
            <p:nvPr/>
          </p:nvSpPr>
          <p:spPr>
            <a:xfrm>
              <a:off x="2308" y="2991"/>
              <a:ext cx="19"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10</a:t>
              </a:r>
              <a:endParaRPr lang="ko-KR" altLang="en-US" dirty="0">
                <a:latin typeface="Tahoma" panose="020B0604030504040204" pitchFamily="34" charset="0"/>
                <a:ea typeface="Gulim" panose="020B0600000101010101" pitchFamily="34" charset="-127"/>
              </a:endParaRPr>
            </a:p>
          </p:txBody>
        </p:sp>
        <p:sp>
          <p:nvSpPr>
            <p:cNvPr id="23802" name="Rectangle 2215"/>
            <p:cNvSpPr/>
            <p:nvPr/>
          </p:nvSpPr>
          <p:spPr>
            <a:xfrm>
              <a:off x="2370"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0</a:t>
              </a:r>
              <a:endParaRPr lang="ko-KR" altLang="en-US" dirty="0">
                <a:latin typeface="Tahoma" panose="020B0604030504040204" pitchFamily="34" charset="0"/>
                <a:ea typeface="Gulim" panose="020B0600000101010101" pitchFamily="34" charset="-127"/>
              </a:endParaRPr>
            </a:p>
          </p:txBody>
        </p:sp>
        <p:sp>
          <p:nvSpPr>
            <p:cNvPr id="23803" name="Rectangle 2216"/>
            <p:cNvSpPr/>
            <p:nvPr/>
          </p:nvSpPr>
          <p:spPr>
            <a:xfrm>
              <a:off x="2489"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a:t>
              </a:r>
              <a:endParaRPr lang="ko-KR" altLang="en-US" dirty="0">
                <a:latin typeface="Tahoma" panose="020B0604030504040204" pitchFamily="34" charset="0"/>
                <a:ea typeface="Gulim" panose="020B0600000101010101" pitchFamily="34" charset="-127"/>
              </a:endParaRPr>
            </a:p>
          </p:txBody>
        </p:sp>
        <p:sp>
          <p:nvSpPr>
            <p:cNvPr id="23804" name="Rectangle 2217"/>
            <p:cNvSpPr/>
            <p:nvPr/>
          </p:nvSpPr>
          <p:spPr>
            <a:xfrm>
              <a:off x="2601"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2</a:t>
              </a:r>
              <a:endParaRPr lang="ko-KR" altLang="en-US" dirty="0">
                <a:latin typeface="Tahoma" panose="020B0604030504040204" pitchFamily="34" charset="0"/>
                <a:ea typeface="Gulim" panose="020B0600000101010101" pitchFamily="34" charset="-127"/>
              </a:endParaRPr>
            </a:p>
          </p:txBody>
        </p:sp>
        <p:sp>
          <p:nvSpPr>
            <p:cNvPr id="23805" name="Rectangle 2218"/>
            <p:cNvSpPr/>
            <p:nvPr/>
          </p:nvSpPr>
          <p:spPr>
            <a:xfrm>
              <a:off x="2719"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3</a:t>
              </a:r>
              <a:endParaRPr lang="ko-KR" altLang="en-US" dirty="0">
                <a:latin typeface="Tahoma" panose="020B0604030504040204" pitchFamily="34" charset="0"/>
                <a:ea typeface="Gulim" panose="020B0600000101010101" pitchFamily="34" charset="-127"/>
              </a:endParaRPr>
            </a:p>
          </p:txBody>
        </p:sp>
        <p:sp>
          <p:nvSpPr>
            <p:cNvPr id="23806" name="Rectangle 2219"/>
            <p:cNvSpPr/>
            <p:nvPr/>
          </p:nvSpPr>
          <p:spPr>
            <a:xfrm>
              <a:off x="2831"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4</a:t>
              </a:r>
              <a:endParaRPr lang="ko-KR" altLang="en-US" dirty="0">
                <a:latin typeface="Tahoma" panose="020B0604030504040204" pitchFamily="34" charset="0"/>
                <a:ea typeface="Gulim" panose="020B0600000101010101" pitchFamily="34" charset="-127"/>
              </a:endParaRPr>
            </a:p>
          </p:txBody>
        </p:sp>
        <p:sp>
          <p:nvSpPr>
            <p:cNvPr id="23807" name="Rectangle 2220"/>
            <p:cNvSpPr/>
            <p:nvPr/>
          </p:nvSpPr>
          <p:spPr>
            <a:xfrm>
              <a:off x="2950"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5</a:t>
              </a:r>
              <a:endParaRPr lang="ko-KR" altLang="en-US" dirty="0">
                <a:latin typeface="Tahoma" panose="020B0604030504040204" pitchFamily="34" charset="0"/>
                <a:ea typeface="Gulim" panose="020B0600000101010101" pitchFamily="34" charset="-127"/>
              </a:endParaRPr>
            </a:p>
          </p:txBody>
        </p:sp>
        <p:sp>
          <p:nvSpPr>
            <p:cNvPr id="23808" name="Rectangle 2221"/>
            <p:cNvSpPr/>
            <p:nvPr/>
          </p:nvSpPr>
          <p:spPr>
            <a:xfrm>
              <a:off x="3062"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6</a:t>
              </a:r>
              <a:endParaRPr lang="ko-KR" altLang="en-US" dirty="0">
                <a:latin typeface="Tahoma" panose="020B0604030504040204" pitchFamily="34" charset="0"/>
                <a:ea typeface="Gulim" panose="020B0600000101010101" pitchFamily="34" charset="-127"/>
              </a:endParaRPr>
            </a:p>
          </p:txBody>
        </p:sp>
        <p:sp>
          <p:nvSpPr>
            <p:cNvPr id="23809" name="Rectangle 2222"/>
            <p:cNvSpPr/>
            <p:nvPr/>
          </p:nvSpPr>
          <p:spPr>
            <a:xfrm>
              <a:off x="3180"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7</a:t>
              </a:r>
              <a:endParaRPr lang="ko-KR" altLang="en-US" dirty="0">
                <a:latin typeface="Tahoma" panose="020B0604030504040204" pitchFamily="34" charset="0"/>
                <a:ea typeface="Gulim" panose="020B0600000101010101" pitchFamily="34" charset="-127"/>
              </a:endParaRPr>
            </a:p>
          </p:txBody>
        </p:sp>
        <p:sp>
          <p:nvSpPr>
            <p:cNvPr id="23810" name="Rectangle 2223"/>
            <p:cNvSpPr/>
            <p:nvPr/>
          </p:nvSpPr>
          <p:spPr>
            <a:xfrm>
              <a:off x="3293"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8</a:t>
              </a:r>
              <a:endParaRPr lang="ko-KR" altLang="en-US" dirty="0">
                <a:latin typeface="Tahoma" panose="020B0604030504040204" pitchFamily="34" charset="0"/>
                <a:ea typeface="Gulim" panose="020B0600000101010101" pitchFamily="34" charset="-127"/>
              </a:endParaRPr>
            </a:p>
          </p:txBody>
        </p:sp>
        <p:sp>
          <p:nvSpPr>
            <p:cNvPr id="23811" name="Rectangle 2224"/>
            <p:cNvSpPr/>
            <p:nvPr/>
          </p:nvSpPr>
          <p:spPr>
            <a:xfrm>
              <a:off x="3411"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9</a:t>
              </a:r>
              <a:endParaRPr lang="ko-KR" altLang="en-US" dirty="0">
                <a:latin typeface="Tahoma" panose="020B0604030504040204" pitchFamily="34" charset="0"/>
                <a:ea typeface="Gulim" panose="020B0600000101010101" pitchFamily="34" charset="-127"/>
              </a:endParaRPr>
            </a:p>
          </p:txBody>
        </p:sp>
        <p:sp>
          <p:nvSpPr>
            <p:cNvPr id="23812" name="Rectangle 2225"/>
            <p:cNvSpPr/>
            <p:nvPr/>
          </p:nvSpPr>
          <p:spPr>
            <a:xfrm>
              <a:off x="3511" y="4070"/>
              <a:ext cx="19"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10</a:t>
              </a:r>
              <a:endParaRPr lang="ko-KR" altLang="en-US" dirty="0">
                <a:latin typeface="Tahoma" panose="020B0604030504040204" pitchFamily="34" charset="0"/>
                <a:ea typeface="Gulim" panose="020B0600000101010101" pitchFamily="34" charset="-127"/>
              </a:endParaRPr>
            </a:p>
          </p:txBody>
        </p:sp>
        <p:sp>
          <p:nvSpPr>
            <p:cNvPr id="23813" name="Rectangle 2226"/>
            <p:cNvSpPr/>
            <p:nvPr/>
          </p:nvSpPr>
          <p:spPr>
            <a:xfrm>
              <a:off x="2233" y="2905"/>
              <a:ext cx="1371" cy="1282"/>
            </a:xfrm>
            <a:prstGeom prst="rect">
              <a:avLst/>
            </a:prstGeom>
            <a:noFill/>
            <a:ln w="0"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sp>
          <p:nvSpPr>
            <p:cNvPr id="23814" name="Line 2227"/>
            <p:cNvSpPr/>
            <p:nvPr/>
          </p:nvSpPr>
          <p:spPr>
            <a:xfrm>
              <a:off x="3181" y="3456"/>
              <a:ext cx="0" cy="115"/>
            </a:xfrm>
            <a:prstGeom prst="line">
              <a:avLst/>
            </a:prstGeom>
            <a:ln w="9525" cap="flat" cmpd="sng">
              <a:solidFill>
                <a:schemeClr val="tx1"/>
              </a:solidFill>
              <a:prstDash val="solid"/>
              <a:headEnd type="none" w="med" len="med"/>
              <a:tailEnd type="none" w="med" len="med"/>
            </a:ln>
          </p:spPr>
        </p:sp>
        <p:sp>
          <p:nvSpPr>
            <p:cNvPr id="23815" name="Freeform 2228"/>
            <p:cNvSpPr/>
            <p:nvPr/>
          </p:nvSpPr>
          <p:spPr>
            <a:xfrm>
              <a:off x="3033" y="3600"/>
              <a:ext cx="87" cy="86"/>
            </a:xfrm>
            <a:custGeom>
              <a:avLst/>
              <a:gdLst>
                <a:gd name="txL" fmla="*/ 0 w 87"/>
                <a:gd name="txT" fmla="*/ 0 h 86"/>
                <a:gd name="txR" fmla="*/ 87 w 87"/>
                <a:gd name="txB" fmla="*/ 86 h 86"/>
              </a:gdLst>
              <a:ahLst/>
              <a:cxnLst>
                <a:cxn ang="0">
                  <a:pos x="44" y="0"/>
                </a:cxn>
                <a:cxn ang="0">
                  <a:pos x="87" y="43"/>
                </a:cxn>
                <a:cxn ang="0">
                  <a:pos x="44" y="86"/>
                </a:cxn>
                <a:cxn ang="0">
                  <a:pos x="0" y="43"/>
                </a:cxn>
                <a:cxn ang="0">
                  <a:pos x="44" y="0"/>
                </a:cxn>
              </a:cxnLst>
              <a:rect l="txL" t="txT" r="txR" b="txB"/>
              <a:pathLst>
                <a:path w="87" h="86">
                  <a:moveTo>
                    <a:pt x="44" y="0"/>
                  </a:moveTo>
                  <a:lnTo>
                    <a:pt x="87" y="43"/>
                  </a:lnTo>
                  <a:lnTo>
                    <a:pt x="44" y="86"/>
                  </a:lnTo>
                  <a:lnTo>
                    <a:pt x="0" y="43"/>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23816" name="Freeform 2229"/>
            <p:cNvSpPr/>
            <p:nvPr/>
          </p:nvSpPr>
          <p:spPr>
            <a:xfrm>
              <a:off x="3024" y="3792"/>
              <a:ext cx="87" cy="86"/>
            </a:xfrm>
            <a:custGeom>
              <a:avLst/>
              <a:gdLst>
                <a:gd name="txL" fmla="*/ 0 w 87"/>
                <a:gd name="txT" fmla="*/ 0 h 86"/>
                <a:gd name="txR" fmla="*/ 87 w 87"/>
                <a:gd name="txB" fmla="*/ 86 h 86"/>
              </a:gdLst>
              <a:ahLst/>
              <a:cxnLst>
                <a:cxn ang="0">
                  <a:pos x="43" y="0"/>
                </a:cxn>
                <a:cxn ang="0">
                  <a:pos x="87" y="43"/>
                </a:cxn>
                <a:cxn ang="0">
                  <a:pos x="43" y="86"/>
                </a:cxn>
                <a:cxn ang="0">
                  <a:pos x="0" y="43"/>
                </a:cxn>
                <a:cxn ang="0">
                  <a:pos x="43" y="0"/>
                </a:cxn>
              </a:cxnLst>
              <a:rect l="txL" t="txT" r="txR" b="txB"/>
              <a:pathLst>
                <a:path w="87" h="86">
                  <a:moveTo>
                    <a:pt x="43" y="0"/>
                  </a:moveTo>
                  <a:lnTo>
                    <a:pt x="87" y="43"/>
                  </a:lnTo>
                  <a:lnTo>
                    <a:pt x="43" y="86"/>
                  </a:lnTo>
                  <a:lnTo>
                    <a:pt x="0" y="43"/>
                  </a:lnTo>
                  <a:lnTo>
                    <a:pt x="43" y="0"/>
                  </a:lnTo>
                  <a:close/>
                </a:path>
              </a:pathLst>
            </a:custGeom>
            <a:solidFill>
              <a:schemeClr val="hlink">
                <a:alpha val="100000"/>
              </a:schemeClr>
            </a:solidFill>
            <a:ln w="9525" cap="flat" cmpd="sng">
              <a:solidFill>
                <a:schemeClr val="hlink">
                  <a:alpha val="100000"/>
                </a:schemeClr>
              </a:solidFill>
              <a:prstDash val="solid"/>
              <a:round/>
              <a:headEnd type="none" w="med" len="med"/>
              <a:tailEnd type="none" w="med" len="med"/>
            </a:ln>
          </p:spPr>
          <p:txBody>
            <a:bodyPr/>
            <a:p>
              <a:endParaRPr lang="en-US"/>
            </a:p>
          </p:txBody>
        </p:sp>
      </p:grpSp>
      <p:sp>
        <p:nvSpPr>
          <p:cNvPr id="23650" name="Rectangle 2230"/>
          <p:cNvSpPr/>
          <p:nvPr/>
        </p:nvSpPr>
        <p:spPr>
          <a:xfrm>
            <a:off x="3657600" y="4267200"/>
            <a:ext cx="1408113" cy="304800"/>
          </a:xfrm>
          <a:prstGeom prst="rect">
            <a:avLst/>
          </a:prstGeom>
          <a:noFill/>
          <a:ln w="9525">
            <a:noFill/>
          </a:ln>
        </p:spPr>
        <p:txBody>
          <a:bodyPr wrap="none">
            <a:spAutoFit/>
          </a:bodyPr>
          <a:p>
            <a:pPr algn="l"/>
            <a:r>
              <a:rPr lang="en-US" altLang="ko-KR" sz="1400" dirty="0">
                <a:latin typeface="Tahoma" panose="020B0604030504040204" pitchFamily="34" charset="0"/>
                <a:ea typeface="Gulim" panose="020B0600000101010101" pitchFamily="34" charset="-127"/>
              </a:rPr>
              <a:t>Total Cost = 26</a:t>
            </a:r>
            <a:endParaRPr lang="en-US" altLang="ko-KR" sz="1400" dirty="0">
              <a:latin typeface="Tahoma" panose="020B0604030504040204" pitchFamily="34" charset="0"/>
              <a:ea typeface="Gulim" panose="020B0600000101010101" pitchFamily="34" charset="-127"/>
            </a:endParaRPr>
          </a:p>
        </p:txBody>
      </p:sp>
      <p:sp>
        <p:nvSpPr>
          <p:cNvPr id="23651" name="Line 2231"/>
          <p:cNvSpPr/>
          <p:nvPr/>
        </p:nvSpPr>
        <p:spPr>
          <a:xfrm flipV="1">
            <a:off x="5334000" y="4114800"/>
            <a:ext cx="0" cy="381000"/>
          </a:xfrm>
          <a:prstGeom prst="line">
            <a:avLst/>
          </a:prstGeom>
          <a:ln w="9525" cap="flat" cmpd="sng">
            <a:solidFill>
              <a:schemeClr val="tx1"/>
            </a:solidFill>
            <a:prstDash val="solid"/>
            <a:miter/>
            <a:headEnd type="none" w="med" len="med"/>
            <a:tailEnd type="triangle" w="med" len="med"/>
          </a:ln>
        </p:spPr>
      </p:sp>
      <p:sp>
        <p:nvSpPr>
          <p:cNvPr id="23652" name="Text Box 2232"/>
          <p:cNvSpPr txBox="1"/>
          <p:nvPr/>
        </p:nvSpPr>
        <p:spPr>
          <a:xfrm>
            <a:off x="2362200" y="5029200"/>
            <a:ext cx="1219200" cy="1049338"/>
          </a:xfrm>
          <a:prstGeom prst="rect">
            <a:avLst/>
          </a:prstGeom>
          <a:noFill/>
          <a:ln w="9525">
            <a:noFill/>
          </a:ln>
        </p:spPr>
        <p:txBody>
          <a:bodyPr>
            <a:spAutoFit/>
          </a:bodyPr>
          <a:p>
            <a:pPr algn="l">
              <a:spcBef>
                <a:spcPct val="50000"/>
              </a:spcBef>
            </a:pPr>
            <a:r>
              <a:rPr lang="en-US" altLang="ko-KR" sz="1400" dirty="0">
                <a:latin typeface="Tahoma" panose="020B0604030504040204" pitchFamily="34" charset="0"/>
                <a:ea typeface="Gulim" panose="020B0600000101010101" pitchFamily="34" charset="-127"/>
              </a:rPr>
              <a:t>Swapping O and O</a:t>
            </a:r>
            <a:r>
              <a:rPr lang="en-US" altLang="ko-KR" sz="1400" baseline="-25000" dirty="0">
                <a:latin typeface="Tahoma" panose="020B0604030504040204" pitchFamily="34" charset="0"/>
                <a:ea typeface="Gulim" panose="020B0600000101010101" pitchFamily="34" charset="-127"/>
              </a:rPr>
              <a:t>ramdom </a:t>
            </a:r>
            <a:endParaRPr lang="en-US" altLang="ko-KR" sz="1400" baseline="-25000" dirty="0">
              <a:latin typeface="Tahoma" panose="020B0604030504040204" pitchFamily="34" charset="0"/>
              <a:ea typeface="Gulim" panose="020B0600000101010101" pitchFamily="34" charset="-127"/>
            </a:endParaRPr>
          </a:p>
          <a:p>
            <a:pPr algn="l">
              <a:spcBef>
                <a:spcPct val="50000"/>
              </a:spcBef>
            </a:pPr>
            <a:r>
              <a:rPr lang="en-US" altLang="ko-KR" sz="1400" dirty="0">
                <a:latin typeface="Tahoma" panose="020B0604030504040204" pitchFamily="34" charset="0"/>
                <a:ea typeface="Gulim" panose="020B0600000101010101" pitchFamily="34" charset="-127"/>
              </a:rPr>
              <a:t>If quality is improved.</a:t>
            </a:r>
            <a:endParaRPr lang="en-US" altLang="ko-KR" sz="1400" dirty="0">
              <a:latin typeface="Tahoma" panose="020B0604030504040204" pitchFamily="34" charset="0"/>
              <a:ea typeface="Gulim" panose="020B0600000101010101" pitchFamily="34" charset="-127"/>
            </a:endParaRPr>
          </a:p>
        </p:txBody>
      </p:sp>
      <p:sp>
        <p:nvSpPr>
          <p:cNvPr id="23653" name="Text Box 2233"/>
          <p:cNvSpPr txBox="1"/>
          <p:nvPr/>
        </p:nvSpPr>
        <p:spPr>
          <a:xfrm>
            <a:off x="228600" y="4724400"/>
            <a:ext cx="1981200" cy="1158875"/>
          </a:xfrm>
          <a:prstGeom prst="rect">
            <a:avLst/>
          </a:prstGeom>
          <a:noFill/>
          <a:ln w="9525">
            <a:noFill/>
          </a:ln>
        </p:spPr>
        <p:txBody>
          <a:bodyPr>
            <a:spAutoFit/>
          </a:bodyPr>
          <a:p>
            <a:pPr algn="l">
              <a:spcBef>
                <a:spcPct val="50000"/>
              </a:spcBef>
            </a:pPr>
            <a:r>
              <a:rPr lang="en-US" altLang="ko-KR" sz="2000" b="1" dirty="0">
                <a:latin typeface="Tahoma" panose="020B0604030504040204" pitchFamily="34" charset="0"/>
                <a:ea typeface="Gulim" panose="020B0600000101010101" pitchFamily="34" charset="-127"/>
              </a:rPr>
              <a:t>Do loop</a:t>
            </a:r>
            <a:endParaRPr lang="en-US" altLang="ko-KR" sz="2000" b="1" dirty="0">
              <a:latin typeface="Tahoma" panose="020B0604030504040204" pitchFamily="34" charset="0"/>
              <a:ea typeface="Gulim" panose="020B0600000101010101" pitchFamily="34" charset="-127"/>
            </a:endParaRPr>
          </a:p>
          <a:p>
            <a:pPr algn="l">
              <a:spcBef>
                <a:spcPct val="50000"/>
              </a:spcBef>
            </a:pPr>
            <a:r>
              <a:rPr lang="en-US" altLang="ko-KR" sz="2000" b="1" dirty="0">
                <a:latin typeface="Tahoma" panose="020B0604030504040204" pitchFamily="34" charset="0"/>
                <a:ea typeface="Gulim" panose="020B0600000101010101" pitchFamily="34" charset="-127"/>
              </a:rPr>
              <a:t>Until no change</a:t>
            </a:r>
            <a:endParaRPr lang="en-US" altLang="ko-KR" sz="2000" b="1" dirty="0">
              <a:latin typeface="Tahoma" panose="020B0604030504040204" pitchFamily="34" charset="0"/>
              <a:ea typeface="Gulim" panose="020B0600000101010101" pitchFamily="34" charset="-127"/>
            </a:endParaRPr>
          </a:p>
        </p:txBody>
      </p:sp>
      <p:grpSp>
        <p:nvGrpSpPr>
          <p:cNvPr id="23654" name="Group 2234"/>
          <p:cNvGrpSpPr/>
          <p:nvPr/>
        </p:nvGrpSpPr>
        <p:grpSpPr>
          <a:xfrm>
            <a:off x="6821488" y="4611688"/>
            <a:ext cx="2176462" cy="2035175"/>
            <a:chOff x="4297" y="2905"/>
            <a:chExt cx="1371" cy="1282"/>
          </a:xfrm>
        </p:grpSpPr>
        <p:sp>
          <p:nvSpPr>
            <p:cNvPr id="23655" name="Rectangle 2235"/>
            <p:cNvSpPr/>
            <p:nvPr/>
          </p:nvSpPr>
          <p:spPr>
            <a:xfrm>
              <a:off x="4297" y="2905"/>
              <a:ext cx="1371" cy="1282"/>
            </a:xfrm>
            <a:prstGeom prst="rect">
              <a:avLst/>
            </a:prstGeom>
            <a:solidFill>
              <a:srgbClr val="FFFFFF"/>
            </a:solidFill>
            <a:ln w="0"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sp>
          <p:nvSpPr>
            <p:cNvPr id="23656" name="Rectangle 2236"/>
            <p:cNvSpPr/>
            <p:nvPr/>
          </p:nvSpPr>
          <p:spPr>
            <a:xfrm>
              <a:off x="4440" y="3009"/>
              <a:ext cx="1154" cy="1018"/>
            </a:xfrm>
            <a:prstGeom prst="rect">
              <a:avLst/>
            </a:prstGeom>
            <a:solidFill>
              <a:srgbClr val="FFFFFF"/>
            </a:solidFill>
            <a:ln w="9525">
              <a:noFill/>
            </a:ln>
          </p:spPr>
          <p:txBody>
            <a:bodyPr/>
            <a:p>
              <a:endParaRPr dirty="0">
                <a:latin typeface="Tahoma" panose="020B0604030504040204" pitchFamily="34" charset="0"/>
              </a:endParaRPr>
            </a:p>
          </p:txBody>
        </p:sp>
        <p:sp>
          <p:nvSpPr>
            <p:cNvPr id="23657" name="Line 2237"/>
            <p:cNvSpPr/>
            <p:nvPr/>
          </p:nvSpPr>
          <p:spPr>
            <a:xfrm>
              <a:off x="4440" y="3928"/>
              <a:ext cx="1154" cy="1"/>
            </a:xfrm>
            <a:prstGeom prst="line">
              <a:avLst/>
            </a:prstGeom>
            <a:ln w="0" cap="flat" cmpd="sng">
              <a:solidFill>
                <a:srgbClr val="000000"/>
              </a:solidFill>
              <a:prstDash val="solid"/>
              <a:headEnd type="none" w="med" len="med"/>
              <a:tailEnd type="none" w="med" len="med"/>
            </a:ln>
          </p:spPr>
        </p:sp>
        <p:sp>
          <p:nvSpPr>
            <p:cNvPr id="23658" name="Line 2238"/>
            <p:cNvSpPr/>
            <p:nvPr/>
          </p:nvSpPr>
          <p:spPr>
            <a:xfrm>
              <a:off x="4440" y="3823"/>
              <a:ext cx="1154" cy="1"/>
            </a:xfrm>
            <a:prstGeom prst="line">
              <a:avLst/>
            </a:prstGeom>
            <a:ln w="0" cap="flat" cmpd="sng">
              <a:solidFill>
                <a:srgbClr val="000000"/>
              </a:solidFill>
              <a:prstDash val="solid"/>
              <a:headEnd type="none" w="med" len="med"/>
              <a:tailEnd type="none" w="med" len="med"/>
            </a:ln>
          </p:spPr>
        </p:sp>
        <p:sp>
          <p:nvSpPr>
            <p:cNvPr id="23659" name="Line 2239"/>
            <p:cNvSpPr/>
            <p:nvPr/>
          </p:nvSpPr>
          <p:spPr>
            <a:xfrm>
              <a:off x="4440" y="3725"/>
              <a:ext cx="1154" cy="1"/>
            </a:xfrm>
            <a:prstGeom prst="line">
              <a:avLst/>
            </a:prstGeom>
            <a:ln w="0" cap="flat" cmpd="sng">
              <a:solidFill>
                <a:srgbClr val="000000"/>
              </a:solidFill>
              <a:prstDash val="solid"/>
              <a:headEnd type="none" w="med" len="med"/>
              <a:tailEnd type="none" w="med" len="med"/>
            </a:ln>
          </p:spPr>
        </p:sp>
        <p:sp>
          <p:nvSpPr>
            <p:cNvPr id="23660" name="Line 2240"/>
            <p:cNvSpPr/>
            <p:nvPr/>
          </p:nvSpPr>
          <p:spPr>
            <a:xfrm>
              <a:off x="4440" y="3620"/>
              <a:ext cx="1154" cy="1"/>
            </a:xfrm>
            <a:prstGeom prst="line">
              <a:avLst/>
            </a:prstGeom>
            <a:ln w="0" cap="flat" cmpd="sng">
              <a:solidFill>
                <a:srgbClr val="000000"/>
              </a:solidFill>
              <a:prstDash val="solid"/>
              <a:headEnd type="none" w="med" len="med"/>
              <a:tailEnd type="none" w="med" len="med"/>
            </a:ln>
          </p:spPr>
        </p:sp>
        <p:sp>
          <p:nvSpPr>
            <p:cNvPr id="23661" name="Line 2241"/>
            <p:cNvSpPr/>
            <p:nvPr/>
          </p:nvSpPr>
          <p:spPr>
            <a:xfrm>
              <a:off x="4440" y="3521"/>
              <a:ext cx="1154" cy="1"/>
            </a:xfrm>
            <a:prstGeom prst="line">
              <a:avLst/>
            </a:prstGeom>
            <a:ln w="0" cap="flat" cmpd="sng">
              <a:solidFill>
                <a:srgbClr val="000000"/>
              </a:solidFill>
              <a:prstDash val="solid"/>
              <a:headEnd type="none" w="med" len="med"/>
              <a:tailEnd type="none" w="med" len="med"/>
            </a:ln>
          </p:spPr>
        </p:sp>
        <p:sp>
          <p:nvSpPr>
            <p:cNvPr id="23662" name="Line 2242"/>
            <p:cNvSpPr/>
            <p:nvPr/>
          </p:nvSpPr>
          <p:spPr>
            <a:xfrm>
              <a:off x="4440" y="3416"/>
              <a:ext cx="1154" cy="1"/>
            </a:xfrm>
            <a:prstGeom prst="line">
              <a:avLst/>
            </a:prstGeom>
            <a:ln w="0" cap="flat" cmpd="sng">
              <a:solidFill>
                <a:srgbClr val="000000"/>
              </a:solidFill>
              <a:prstDash val="solid"/>
              <a:headEnd type="none" w="med" len="med"/>
              <a:tailEnd type="none" w="med" len="med"/>
            </a:ln>
          </p:spPr>
        </p:sp>
        <p:sp>
          <p:nvSpPr>
            <p:cNvPr id="23663" name="Line 2243"/>
            <p:cNvSpPr/>
            <p:nvPr/>
          </p:nvSpPr>
          <p:spPr>
            <a:xfrm>
              <a:off x="4440" y="3318"/>
              <a:ext cx="1154" cy="1"/>
            </a:xfrm>
            <a:prstGeom prst="line">
              <a:avLst/>
            </a:prstGeom>
            <a:ln w="0" cap="flat" cmpd="sng">
              <a:solidFill>
                <a:srgbClr val="000000"/>
              </a:solidFill>
              <a:prstDash val="solid"/>
              <a:headEnd type="none" w="med" len="med"/>
              <a:tailEnd type="none" w="med" len="med"/>
            </a:ln>
          </p:spPr>
        </p:sp>
        <p:sp>
          <p:nvSpPr>
            <p:cNvPr id="23664" name="Line 2244"/>
            <p:cNvSpPr/>
            <p:nvPr/>
          </p:nvSpPr>
          <p:spPr>
            <a:xfrm>
              <a:off x="4440" y="3213"/>
              <a:ext cx="1154" cy="1"/>
            </a:xfrm>
            <a:prstGeom prst="line">
              <a:avLst/>
            </a:prstGeom>
            <a:ln w="0" cap="flat" cmpd="sng">
              <a:solidFill>
                <a:srgbClr val="000000"/>
              </a:solidFill>
              <a:prstDash val="solid"/>
              <a:headEnd type="none" w="med" len="med"/>
              <a:tailEnd type="none" w="med" len="med"/>
            </a:ln>
          </p:spPr>
        </p:sp>
        <p:sp>
          <p:nvSpPr>
            <p:cNvPr id="23665" name="Line 2245"/>
            <p:cNvSpPr/>
            <p:nvPr/>
          </p:nvSpPr>
          <p:spPr>
            <a:xfrm>
              <a:off x="4440" y="3114"/>
              <a:ext cx="1154" cy="1"/>
            </a:xfrm>
            <a:prstGeom prst="line">
              <a:avLst/>
            </a:prstGeom>
            <a:ln w="0" cap="flat" cmpd="sng">
              <a:solidFill>
                <a:srgbClr val="000000"/>
              </a:solidFill>
              <a:prstDash val="solid"/>
              <a:headEnd type="none" w="med" len="med"/>
              <a:tailEnd type="none" w="med" len="med"/>
            </a:ln>
          </p:spPr>
        </p:sp>
        <p:sp>
          <p:nvSpPr>
            <p:cNvPr id="23666" name="Line 2246"/>
            <p:cNvSpPr/>
            <p:nvPr/>
          </p:nvSpPr>
          <p:spPr>
            <a:xfrm>
              <a:off x="4440" y="3009"/>
              <a:ext cx="1154" cy="1"/>
            </a:xfrm>
            <a:prstGeom prst="line">
              <a:avLst/>
            </a:prstGeom>
            <a:ln w="0" cap="flat" cmpd="sng">
              <a:solidFill>
                <a:srgbClr val="000000"/>
              </a:solidFill>
              <a:prstDash val="solid"/>
              <a:headEnd type="none" w="med" len="med"/>
              <a:tailEnd type="none" w="med" len="med"/>
            </a:ln>
          </p:spPr>
        </p:sp>
        <p:sp>
          <p:nvSpPr>
            <p:cNvPr id="23667" name="Line 2247"/>
            <p:cNvSpPr/>
            <p:nvPr/>
          </p:nvSpPr>
          <p:spPr>
            <a:xfrm>
              <a:off x="4559" y="3009"/>
              <a:ext cx="1" cy="1018"/>
            </a:xfrm>
            <a:prstGeom prst="line">
              <a:avLst/>
            </a:prstGeom>
            <a:ln w="0" cap="flat" cmpd="sng">
              <a:solidFill>
                <a:srgbClr val="000000"/>
              </a:solidFill>
              <a:prstDash val="solid"/>
              <a:headEnd type="none" w="med" len="med"/>
              <a:tailEnd type="none" w="med" len="med"/>
            </a:ln>
          </p:spPr>
        </p:sp>
        <p:sp>
          <p:nvSpPr>
            <p:cNvPr id="23668" name="Line 2248"/>
            <p:cNvSpPr/>
            <p:nvPr/>
          </p:nvSpPr>
          <p:spPr>
            <a:xfrm>
              <a:off x="4671" y="3009"/>
              <a:ext cx="1" cy="1018"/>
            </a:xfrm>
            <a:prstGeom prst="line">
              <a:avLst/>
            </a:prstGeom>
            <a:ln w="0" cap="flat" cmpd="sng">
              <a:solidFill>
                <a:srgbClr val="000000"/>
              </a:solidFill>
              <a:prstDash val="solid"/>
              <a:headEnd type="none" w="med" len="med"/>
              <a:tailEnd type="none" w="med" len="med"/>
            </a:ln>
          </p:spPr>
        </p:sp>
        <p:sp>
          <p:nvSpPr>
            <p:cNvPr id="23669" name="Line 2249"/>
            <p:cNvSpPr/>
            <p:nvPr/>
          </p:nvSpPr>
          <p:spPr>
            <a:xfrm>
              <a:off x="4789" y="3009"/>
              <a:ext cx="1" cy="1018"/>
            </a:xfrm>
            <a:prstGeom prst="line">
              <a:avLst/>
            </a:prstGeom>
            <a:ln w="0" cap="flat" cmpd="sng">
              <a:solidFill>
                <a:srgbClr val="000000"/>
              </a:solidFill>
              <a:prstDash val="solid"/>
              <a:headEnd type="none" w="med" len="med"/>
              <a:tailEnd type="none" w="med" len="med"/>
            </a:ln>
          </p:spPr>
        </p:sp>
        <p:sp>
          <p:nvSpPr>
            <p:cNvPr id="23670" name="Line 2250"/>
            <p:cNvSpPr/>
            <p:nvPr/>
          </p:nvSpPr>
          <p:spPr>
            <a:xfrm>
              <a:off x="4902" y="3009"/>
              <a:ext cx="1" cy="1018"/>
            </a:xfrm>
            <a:prstGeom prst="line">
              <a:avLst/>
            </a:prstGeom>
            <a:ln w="0" cap="flat" cmpd="sng">
              <a:solidFill>
                <a:srgbClr val="000000"/>
              </a:solidFill>
              <a:prstDash val="solid"/>
              <a:headEnd type="none" w="med" len="med"/>
              <a:tailEnd type="none" w="med" len="med"/>
            </a:ln>
          </p:spPr>
        </p:sp>
        <p:sp>
          <p:nvSpPr>
            <p:cNvPr id="23671" name="Line 2251"/>
            <p:cNvSpPr/>
            <p:nvPr/>
          </p:nvSpPr>
          <p:spPr>
            <a:xfrm>
              <a:off x="5020" y="3009"/>
              <a:ext cx="1" cy="1018"/>
            </a:xfrm>
            <a:prstGeom prst="line">
              <a:avLst/>
            </a:prstGeom>
            <a:ln w="0" cap="flat" cmpd="sng">
              <a:solidFill>
                <a:srgbClr val="000000"/>
              </a:solidFill>
              <a:prstDash val="solid"/>
              <a:headEnd type="none" w="med" len="med"/>
              <a:tailEnd type="none" w="med" len="med"/>
            </a:ln>
          </p:spPr>
        </p:sp>
        <p:sp>
          <p:nvSpPr>
            <p:cNvPr id="23672" name="Line 2252"/>
            <p:cNvSpPr/>
            <p:nvPr/>
          </p:nvSpPr>
          <p:spPr>
            <a:xfrm>
              <a:off x="5132" y="3009"/>
              <a:ext cx="1" cy="1018"/>
            </a:xfrm>
            <a:prstGeom prst="line">
              <a:avLst/>
            </a:prstGeom>
            <a:ln w="0" cap="flat" cmpd="sng">
              <a:solidFill>
                <a:srgbClr val="000000"/>
              </a:solidFill>
              <a:prstDash val="solid"/>
              <a:headEnd type="none" w="med" len="med"/>
              <a:tailEnd type="none" w="med" len="med"/>
            </a:ln>
          </p:spPr>
        </p:sp>
        <p:sp>
          <p:nvSpPr>
            <p:cNvPr id="23673" name="Line 2253"/>
            <p:cNvSpPr/>
            <p:nvPr/>
          </p:nvSpPr>
          <p:spPr>
            <a:xfrm>
              <a:off x="5251" y="3009"/>
              <a:ext cx="1" cy="1018"/>
            </a:xfrm>
            <a:prstGeom prst="line">
              <a:avLst/>
            </a:prstGeom>
            <a:ln w="0" cap="flat" cmpd="sng">
              <a:solidFill>
                <a:srgbClr val="000000"/>
              </a:solidFill>
              <a:prstDash val="solid"/>
              <a:headEnd type="none" w="med" len="med"/>
              <a:tailEnd type="none" w="med" len="med"/>
            </a:ln>
          </p:spPr>
        </p:sp>
        <p:sp>
          <p:nvSpPr>
            <p:cNvPr id="23674" name="Line 2254"/>
            <p:cNvSpPr/>
            <p:nvPr/>
          </p:nvSpPr>
          <p:spPr>
            <a:xfrm>
              <a:off x="5363" y="3009"/>
              <a:ext cx="1" cy="1018"/>
            </a:xfrm>
            <a:prstGeom prst="line">
              <a:avLst/>
            </a:prstGeom>
            <a:ln w="0" cap="flat" cmpd="sng">
              <a:solidFill>
                <a:srgbClr val="000000"/>
              </a:solidFill>
              <a:prstDash val="solid"/>
              <a:headEnd type="none" w="med" len="med"/>
              <a:tailEnd type="none" w="med" len="med"/>
            </a:ln>
          </p:spPr>
        </p:sp>
        <p:sp>
          <p:nvSpPr>
            <p:cNvPr id="23675" name="Line 2255"/>
            <p:cNvSpPr/>
            <p:nvPr/>
          </p:nvSpPr>
          <p:spPr>
            <a:xfrm>
              <a:off x="5481" y="3009"/>
              <a:ext cx="1" cy="1018"/>
            </a:xfrm>
            <a:prstGeom prst="line">
              <a:avLst/>
            </a:prstGeom>
            <a:ln w="0" cap="flat" cmpd="sng">
              <a:solidFill>
                <a:srgbClr val="000000"/>
              </a:solidFill>
              <a:prstDash val="solid"/>
              <a:headEnd type="none" w="med" len="med"/>
              <a:tailEnd type="none" w="med" len="med"/>
            </a:ln>
          </p:spPr>
        </p:sp>
        <p:sp>
          <p:nvSpPr>
            <p:cNvPr id="23676" name="Line 2256"/>
            <p:cNvSpPr/>
            <p:nvPr/>
          </p:nvSpPr>
          <p:spPr>
            <a:xfrm>
              <a:off x="5594" y="3009"/>
              <a:ext cx="1" cy="1018"/>
            </a:xfrm>
            <a:prstGeom prst="line">
              <a:avLst/>
            </a:prstGeom>
            <a:ln w="0" cap="flat" cmpd="sng">
              <a:solidFill>
                <a:srgbClr val="000000"/>
              </a:solidFill>
              <a:prstDash val="solid"/>
              <a:headEnd type="none" w="med" len="med"/>
              <a:tailEnd type="none" w="med" len="med"/>
            </a:ln>
          </p:spPr>
        </p:sp>
        <p:sp>
          <p:nvSpPr>
            <p:cNvPr id="23677" name="Rectangle 2257"/>
            <p:cNvSpPr/>
            <p:nvPr/>
          </p:nvSpPr>
          <p:spPr>
            <a:xfrm>
              <a:off x="4440" y="3009"/>
              <a:ext cx="1154" cy="1018"/>
            </a:xfrm>
            <a:prstGeom prst="rect">
              <a:avLst/>
            </a:prstGeom>
            <a:noFill/>
            <a:ln w="9525"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sp>
          <p:nvSpPr>
            <p:cNvPr id="23678" name="Line 2258"/>
            <p:cNvSpPr/>
            <p:nvPr/>
          </p:nvSpPr>
          <p:spPr>
            <a:xfrm>
              <a:off x="4440" y="3009"/>
              <a:ext cx="1" cy="1018"/>
            </a:xfrm>
            <a:prstGeom prst="line">
              <a:avLst/>
            </a:prstGeom>
            <a:ln w="0" cap="flat" cmpd="sng">
              <a:solidFill>
                <a:srgbClr val="000000"/>
              </a:solidFill>
              <a:prstDash val="solid"/>
              <a:headEnd type="none" w="med" len="med"/>
              <a:tailEnd type="none" w="med" len="med"/>
            </a:ln>
          </p:spPr>
        </p:sp>
        <p:sp>
          <p:nvSpPr>
            <p:cNvPr id="23679" name="Line 2259"/>
            <p:cNvSpPr/>
            <p:nvPr/>
          </p:nvSpPr>
          <p:spPr>
            <a:xfrm>
              <a:off x="4428" y="4027"/>
              <a:ext cx="12" cy="1"/>
            </a:xfrm>
            <a:prstGeom prst="line">
              <a:avLst/>
            </a:prstGeom>
            <a:ln w="0" cap="flat" cmpd="sng">
              <a:solidFill>
                <a:srgbClr val="000000"/>
              </a:solidFill>
              <a:prstDash val="solid"/>
              <a:headEnd type="none" w="med" len="med"/>
              <a:tailEnd type="none" w="med" len="med"/>
            </a:ln>
          </p:spPr>
        </p:sp>
        <p:sp>
          <p:nvSpPr>
            <p:cNvPr id="23680" name="Line 2260"/>
            <p:cNvSpPr/>
            <p:nvPr/>
          </p:nvSpPr>
          <p:spPr>
            <a:xfrm>
              <a:off x="4428" y="3928"/>
              <a:ext cx="12" cy="1"/>
            </a:xfrm>
            <a:prstGeom prst="line">
              <a:avLst/>
            </a:prstGeom>
            <a:ln w="0" cap="flat" cmpd="sng">
              <a:solidFill>
                <a:srgbClr val="000000"/>
              </a:solidFill>
              <a:prstDash val="solid"/>
              <a:headEnd type="none" w="med" len="med"/>
              <a:tailEnd type="none" w="med" len="med"/>
            </a:ln>
          </p:spPr>
        </p:sp>
        <p:sp>
          <p:nvSpPr>
            <p:cNvPr id="23681" name="Line 2261"/>
            <p:cNvSpPr/>
            <p:nvPr/>
          </p:nvSpPr>
          <p:spPr>
            <a:xfrm>
              <a:off x="4428" y="3823"/>
              <a:ext cx="12" cy="1"/>
            </a:xfrm>
            <a:prstGeom prst="line">
              <a:avLst/>
            </a:prstGeom>
            <a:ln w="0" cap="flat" cmpd="sng">
              <a:solidFill>
                <a:srgbClr val="000000"/>
              </a:solidFill>
              <a:prstDash val="solid"/>
              <a:headEnd type="none" w="med" len="med"/>
              <a:tailEnd type="none" w="med" len="med"/>
            </a:ln>
          </p:spPr>
        </p:sp>
        <p:sp>
          <p:nvSpPr>
            <p:cNvPr id="23682" name="Line 2262"/>
            <p:cNvSpPr/>
            <p:nvPr/>
          </p:nvSpPr>
          <p:spPr>
            <a:xfrm>
              <a:off x="4428" y="3725"/>
              <a:ext cx="12" cy="1"/>
            </a:xfrm>
            <a:prstGeom prst="line">
              <a:avLst/>
            </a:prstGeom>
            <a:ln w="0" cap="flat" cmpd="sng">
              <a:solidFill>
                <a:srgbClr val="000000"/>
              </a:solidFill>
              <a:prstDash val="solid"/>
              <a:headEnd type="none" w="med" len="med"/>
              <a:tailEnd type="none" w="med" len="med"/>
            </a:ln>
          </p:spPr>
        </p:sp>
        <p:sp>
          <p:nvSpPr>
            <p:cNvPr id="23683" name="Line 2263"/>
            <p:cNvSpPr/>
            <p:nvPr/>
          </p:nvSpPr>
          <p:spPr>
            <a:xfrm>
              <a:off x="4428" y="3620"/>
              <a:ext cx="12" cy="1"/>
            </a:xfrm>
            <a:prstGeom prst="line">
              <a:avLst/>
            </a:prstGeom>
            <a:ln w="0" cap="flat" cmpd="sng">
              <a:solidFill>
                <a:srgbClr val="000000"/>
              </a:solidFill>
              <a:prstDash val="solid"/>
              <a:headEnd type="none" w="med" len="med"/>
              <a:tailEnd type="none" w="med" len="med"/>
            </a:ln>
          </p:spPr>
        </p:sp>
        <p:sp>
          <p:nvSpPr>
            <p:cNvPr id="23684" name="Line 2264"/>
            <p:cNvSpPr/>
            <p:nvPr/>
          </p:nvSpPr>
          <p:spPr>
            <a:xfrm>
              <a:off x="4428" y="3521"/>
              <a:ext cx="12" cy="1"/>
            </a:xfrm>
            <a:prstGeom prst="line">
              <a:avLst/>
            </a:prstGeom>
            <a:ln w="0" cap="flat" cmpd="sng">
              <a:solidFill>
                <a:srgbClr val="000000"/>
              </a:solidFill>
              <a:prstDash val="solid"/>
              <a:headEnd type="none" w="med" len="med"/>
              <a:tailEnd type="none" w="med" len="med"/>
            </a:ln>
          </p:spPr>
        </p:sp>
        <p:sp>
          <p:nvSpPr>
            <p:cNvPr id="23685" name="Line 2265"/>
            <p:cNvSpPr/>
            <p:nvPr/>
          </p:nvSpPr>
          <p:spPr>
            <a:xfrm>
              <a:off x="4428" y="3416"/>
              <a:ext cx="12" cy="1"/>
            </a:xfrm>
            <a:prstGeom prst="line">
              <a:avLst/>
            </a:prstGeom>
            <a:ln w="0" cap="flat" cmpd="sng">
              <a:solidFill>
                <a:srgbClr val="000000"/>
              </a:solidFill>
              <a:prstDash val="solid"/>
              <a:headEnd type="none" w="med" len="med"/>
              <a:tailEnd type="none" w="med" len="med"/>
            </a:ln>
          </p:spPr>
        </p:sp>
        <p:sp>
          <p:nvSpPr>
            <p:cNvPr id="23686" name="Line 2266"/>
            <p:cNvSpPr/>
            <p:nvPr/>
          </p:nvSpPr>
          <p:spPr>
            <a:xfrm>
              <a:off x="4428" y="3318"/>
              <a:ext cx="12" cy="1"/>
            </a:xfrm>
            <a:prstGeom prst="line">
              <a:avLst/>
            </a:prstGeom>
            <a:ln w="0" cap="flat" cmpd="sng">
              <a:solidFill>
                <a:srgbClr val="000000"/>
              </a:solidFill>
              <a:prstDash val="solid"/>
              <a:headEnd type="none" w="med" len="med"/>
              <a:tailEnd type="none" w="med" len="med"/>
            </a:ln>
          </p:spPr>
        </p:sp>
        <p:sp>
          <p:nvSpPr>
            <p:cNvPr id="23687" name="Line 2267"/>
            <p:cNvSpPr/>
            <p:nvPr/>
          </p:nvSpPr>
          <p:spPr>
            <a:xfrm>
              <a:off x="4428" y="3213"/>
              <a:ext cx="12" cy="1"/>
            </a:xfrm>
            <a:prstGeom prst="line">
              <a:avLst/>
            </a:prstGeom>
            <a:ln w="0" cap="flat" cmpd="sng">
              <a:solidFill>
                <a:srgbClr val="000000"/>
              </a:solidFill>
              <a:prstDash val="solid"/>
              <a:headEnd type="none" w="med" len="med"/>
              <a:tailEnd type="none" w="med" len="med"/>
            </a:ln>
          </p:spPr>
        </p:sp>
        <p:sp>
          <p:nvSpPr>
            <p:cNvPr id="23688" name="Line 2268"/>
            <p:cNvSpPr/>
            <p:nvPr/>
          </p:nvSpPr>
          <p:spPr>
            <a:xfrm>
              <a:off x="4428" y="3114"/>
              <a:ext cx="12" cy="1"/>
            </a:xfrm>
            <a:prstGeom prst="line">
              <a:avLst/>
            </a:prstGeom>
            <a:ln w="0" cap="flat" cmpd="sng">
              <a:solidFill>
                <a:srgbClr val="000000"/>
              </a:solidFill>
              <a:prstDash val="solid"/>
              <a:headEnd type="none" w="med" len="med"/>
              <a:tailEnd type="none" w="med" len="med"/>
            </a:ln>
          </p:spPr>
        </p:sp>
        <p:sp>
          <p:nvSpPr>
            <p:cNvPr id="23689" name="Line 2269"/>
            <p:cNvSpPr/>
            <p:nvPr/>
          </p:nvSpPr>
          <p:spPr>
            <a:xfrm>
              <a:off x="4428" y="3009"/>
              <a:ext cx="12" cy="1"/>
            </a:xfrm>
            <a:prstGeom prst="line">
              <a:avLst/>
            </a:prstGeom>
            <a:ln w="0" cap="flat" cmpd="sng">
              <a:solidFill>
                <a:srgbClr val="000000"/>
              </a:solidFill>
              <a:prstDash val="solid"/>
              <a:headEnd type="none" w="med" len="med"/>
              <a:tailEnd type="none" w="med" len="med"/>
            </a:ln>
          </p:spPr>
        </p:sp>
        <p:sp>
          <p:nvSpPr>
            <p:cNvPr id="23690" name="Line 2270"/>
            <p:cNvSpPr/>
            <p:nvPr/>
          </p:nvSpPr>
          <p:spPr>
            <a:xfrm>
              <a:off x="4440" y="4027"/>
              <a:ext cx="1154" cy="1"/>
            </a:xfrm>
            <a:prstGeom prst="line">
              <a:avLst/>
            </a:prstGeom>
            <a:ln w="0" cap="flat" cmpd="sng">
              <a:solidFill>
                <a:srgbClr val="000000"/>
              </a:solidFill>
              <a:prstDash val="solid"/>
              <a:headEnd type="none" w="med" len="med"/>
              <a:tailEnd type="none" w="med" len="med"/>
            </a:ln>
          </p:spPr>
        </p:sp>
        <p:sp>
          <p:nvSpPr>
            <p:cNvPr id="23691" name="Line 2271"/>
            <p:cNvSpPr/>
            <p:nvPr/>
          </p:nvSpPr>
          <p:spPr>
            <a:xfrm flipV="1">
              <a:off x="4440" y="4027"/>
              <a:ext cx="1" cy="12"/>
            </a:xfrm>
            <a:prstGeom prst="line">
              <a:avLst/>
            </a:prstGeom>
            <a:ln w="0" cap="flat" cmpd="sng">
              <a:solidFill>
                <a:srgbClr val="000000"/>
              </a:solidFill>
              <a:prstDash val="solid"/>
              <a:headEnd type="none" w="med" len="med"/>
              <a:tailEnd type="none" w="med" len="med"/>
            </a:ln>
          </p:spPr>
        </p:sp>
        <p:sp>
          <p:nvSpPr>
            <p:cNvPr id="23692" name="Line 2272"/>
            <p:cNvSpPr/>
            <p:nvPr/>
          </p:nvSpPr>
          <p:spPr>
            <a:xfrm flipV="1">
              <a:off x="4559" y="4027"/>
              <a:ext cx="1" cy="12"/>
            </a:xfrm>
            <a:prstGeom prst="line">
              <a:avLst/>
            </a:prstGeom>
            <a:ln w="0" cap="flat" cmpd="sng">
              <a:solidFill>
                <a:srgbClr val="000000"/>
              </a:solidFill>
              <a:prstDash val="solid"/>
              <a:headEnd type="none" w="med" len="med"/>
              <a:tailEnd type="none" w="med" len="med"/>
            </a:ln>
          </p:spPr>
        </p:sp>
        <p:sp>
          <p:nvSpPr>
            <p:cNvPr id="23693" name="Line 2273"/>
            <p:cNvSpPr/>
            <p:nvPr/>
          </p:nvSpPr>
          <p:spPr>
            <a:xfrm flipV="1">
              <a:off x="4671" y="4027"/>
              <a:ext cx="1" cy="12"/>
            </a:xfrm>
            <a:prstGeom prst="line">
              <a:avLst/>
            </a:prstGeom>
            <a:ln w="0" cap="flat" cmpd="sng">
              <a:solidFill>
                <a:srgbClr val="000000"/>
              </a:solidFill>
              <a:prstDash val="solid"/>
              <a:headEnd type="none" w="med" len="med"/>
              <a:tailEnd type="none" w="med" len="med"/>
            </a:ln>
          </p:spPr>
        </p:sp>
        <p:sp>
          <p:nvSpPr>
            <p:cNvPr id="23694" name="Line 2274"/>
            <p:cNvSpPr/>
            <p:nvPr/>
          </p:nvSpPr>
          <p:spPr>
            <a:xfrm flipV="1">
              <a:off x="4789" y="4027"/>
              <a:ext cx="1" cy="12"/>
            </a:xfrm>
            <a:prstGeom prst="line">
              <a:avLst/>
            </a:prstGeom>
            <a:ln w="0" cap="flat" cmpd="sng">
              <a:solidFill>
                <a:srgbClr val="000000"/>
              </a:solidFill>
              <a:prstDash val="solid"/>
              <a:headEnd type="none" w="med" len="med"/>
              <a:tailEnd type="none" w="med" len="med"/>
            </a:ln>
          </p:spPr>
        </p:sp>
        <p:sp>
          <p:nvSpPr>
            <p:cNvPr id="23695" name="Line 2275"/>
            <p:cNvSpPr/>
            <p:nvPr/>
          </p:nvSpPr>
          <p:spPr>
            <a:xfrm flipV="1">
              <a:off x="4902" y="4027"/>
              <a:ext cx="1" cy="12"/>
            </a:xfrm>
            <a:prstGeom prst="line">
              <a:avLst/>
            </a:prstGeom>
            <a:ln w="0" cap="flat" cmpd="sng">
              <a:solidFill>
                <a:srgbClr val="000000"/>
              </a:solidFill>
              <a:prstDash val="solid"/>
              <a:headEnd type="none" w="med" len="med"/>
              <a:tailEnd type="none" w="med" len="med"/>
            </a:ln>
          </p:spPr>
        </p:sp>
        <p:sp>
          <p:nvSpPr>
            <p:cNvPr id="23696" name="Line 2276"/>
            <p:cNvSpPr/>
            <p:nvPr/>
          </p:nvSpPr>
          <p:spPr>
            <a:xfrm flipV="1">
              <a:off x="5020" y="4027"/>
              <a:ext cx="1" cy="12"/>
            </a:xfrm>
            <a:prstGeom prst="line">
              <a:avLst/>
            </a:prstGeom>
            <a:ln w="0" cap="flat" cmpd="sng">
              <a:solidFill>
                <a:srgbClr val="000000"/>
              </a:solidFill>
              <a:prstDash val="solid"/>
              <a:headEnd type="none" w="med" len="med"/>
              <a:tailEnd type="none" w="med" len="med"/>
            </a:ln>
          </p:spPr>
        </p:sp>
        <p:sp>
          <p:nvSpPr>
            <p:cNvPr id="23697" name="Line 2277"/>
            <p:cNvSpPr/>
            <p:nvPr/>
          </p:nvSpPr>
          <p:spPr>
            <a:xfrm flipV="1">
              <a:off x="5132" y="4027"/>
              <a:ext cx="1" cy="12"/>
            </a:xfrm>
            <a:prstGeom prst="line">
              <a:avLst/>
            </a:prstGeom>
            <a:ln w="0" cap="flat" cmpd="sng">
              <a:solidFill>
                <a:srgbClr val="000000"/>
              </a:solidFill>
              <a:prstDash val="solid"/>
              <a:headEnd type="none" w="med" len="med"/>
              <a:tailEnd type="none" w="med" len="med"/>
            </a:ln>
          </p:spPr>
        </p:sp>
        <p:sp>
          <p:nvSpPr>
            <p:cNvPr id="23698" name="Line 2278"/>
            <p:cNvSpPr/>
            <p:nvPr/>
          </p:nvSpPr>
          <p:spPr>
            <a:xfrm flipV="1">
              <a:off x="5251" y="4027"/>
              <a:ext cx="1" cy="12"/>
            </a:xfrm>
            <a:prstGeom prst="line">
              <a:avLst/>
            </a:prstGeom>
            <a:ln w="0" cap="flat" cmpd="sng">
              <a:solidFill>
                <a:srgbClr val="000000"/>
              </a:solidFill>
              <a:prstDash val="solid"/>
              <a:headEnd type="none" w="med" len="med"/>
              <a:tailEnd type="none" w="med" len="med"/>
            </a:ln>
          </p:spPr>
        </p:sp>
        <p:sp>
          <p:nvSpPr>
            <p:cNvPr id="23699" name="Line 2279"/>
            <p:cNvSpPr/>
            <p:nvPr/>
          </p:nvSpPr>
          <p:spPr>
            <a:xfrm flipV="1">
              <a:off x="5363" y="4027"/>
              <a:ext cx="1" cy="12"/>
            </a:xfrm>
            <a:prstGeom prst="line">
              <a:avLst/>
            </a:prstGeom>
            <a:ln w="0" cap="flat" cmpd="sng">
              <a:solidFill>
                <a:srgbClr val="000000"/>
              </a:solidFill>
              <a:prstDash val="solid"/>
              <a:headEnd type="none" w="med" len="med"/>
              <a:tailEnd type="none" w="med" len="med"/>
            </a:ln>
          </p:spPr>
        </p:sp>
        <p:sp>
          <p:nvSpPr>
            <p:cNvPr id="23700" name="Line 2280"/>
            <p:cNvSpPr/>
            <p:nvPr/>
          </p:nvSpPr>
          <p:spPr>
            <a:xfrm flipV="1">
              <a:off x="5481" y="4027"/>
              <a:ext cx="1" cy="12"/>
            </a:xfrm>
            <a:prstGeom prst="line">
              <a:avLst/>
            </a:prstGeom>
            <a:ln w="0" cap="flat" cmpd="sng">
              <a:solidFill>
                <a:srgbClr val="000000"/>
              </a:solidFill>
              <a:prstDash val="solid"/>
              <a:headEnd type="none" w="med" len="med"/>
              <a:tailEnd type="none" w="med" len="med"/>
            </a:ln>
          </p:spPr>
        </p:sp>
        <p:sp>
          <p:nvSpPr>
            <p:cNvPr id="23701" name="Line 2281"/>
            <p:cNvSpPr/>
            <p:nvPr/>
          </p:nvSpPr>
          <p:spPr>
            <a:xfrm flipV="1">
              <a:off x="5594" y="4027"/>
              <a:ext cx="1" cy="12"/>
            </a:xfrm>
            <a:prstGeom prst="line">
              <a:avLst/>
            </a:prstGeom>
            <a:ln w="0" cap="flat" cmpd="sng">
              <a:solidFill>
                <a:srgbClr val="000000"/>
              </a:solidFill>
              <a:prstDash val="solid"/>
              <a:headEnd type="none" w="med" len="med"/>
              <a:tailEnd type="none" w="med" len="med"/>
            </a:ln>
          </p:spPr>
        </p:sp>
        <p:sp>
          <p:nvSpPr>
            <p:cNvPr id="23702" name="Freeform 2282"/>
            <p:cNvSpPr/>
            <p:nvPr/>
          </p:nvSpPr>
          <p:spPr>
            <a:xfrm>
              <a:off x="4746" y="3577"/>
              <a:ext cx="87" cy="86"/>
            </a:xfrm>
            <a:custGeom>
              <a:avLst/>
              <a:gdLst>
                <a:gd name="txL" fmla="*/ 0 w 87"/>
                <a:gd name="txT" fmla="*/ 0 h 86"/>
                <a:gd name="txR" fmla="*/ 87 w 87"/>
                <a:gd name="txB" fmla="*/ 86 h 86"/>
              </a:gdLst>
              <a:ahLst/>
              <a:cxnLst>
                <a:cxn ang="0">
                  <a:pos x="43" y="0"/>
                </a:cxn>
                <a:cxn ang="0">
                  <a:pos x="87" y="43"/>
                </a:cxn>
                <a:cxn ang="0">
                  <a:pos x="43" y="86"/>
                </a:cxn>
                <a:cxn ang="0">
                  <a:pos x="0" y="43"/>
                </a:cxn>
                <a:cxn ang="0">
                  <a:pos x="43" y="0"/>
                </a:cxn>
              </a:cxnLst>
              <a:rect l="txL" t="txT" r="txR" b="txB"/>
              <a:pathLst>
                <a:path w="87" h="86">
                  <a:moveTo>
                    <a:pt x="43" y="0"/>
                  </a:moveTo>
                  <a:lnTo>
                    <a:pt x="87" y="43"/>
                  </a:lnTo>
                  <a:lnTo>
                    <a:pt x="43" y="86"/>
                  </a:lnTo>
                  <a:lnTo>
                    <a:pt x="0" y="43"/>
                  </a:lnTo>
                  <a:lnTo>
                    <a:pt x="43"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23703" name="Freeform 2283"/>
            <p:cNvSpPr/>
            <p:nvPr/>
          </p:nvSpPr>
          <p:spPr>
            <a:xfrm>
              <a:off x="4627" y="3373"/>
              <a:ext cx="88" cy="87"/>
            </a:xfrm>
            <a:custGeom>
              <a:avLst/>
              <a:gdLst>
                <a:gd name="txL" fmla="*/ 0 w 88"/>
                <a:gd name="txT" fmla="*/ 0 h 87"/>
                <a:gd name="txR" fmla="*/ 88 w 88"/>
                <a:gd name="txB" fmla="*/ 87 h 87"/>
              </a:gdLst>
              <a:ahLst/>
              <a:cxnLst>
                <a:cxn ang="0">
                  <a:pos x="44" y="0"/>
                </a:cxn>
                <a:cxn ang="0">
                  <a:pos x="88" y="43"/>
                </a:cxn>
                <a:cxn ang="0">
                  <a:pos x="44" y="87"/>
                </a:cxn>
                <a:cxn ang="0">
                  <a:pos x="0" y="43"/>
                </a:cxn>
                <a:cxn ang="0">
                  <a:pos x="44" y="0"/>
                </a:cxn>
              </a:cxnLst>
              <a:rect l="txL" t="txT" r="txR" b="txB"/>
              <a:pathLst>
                <a:path w="88" h="87">
                  <a:moveTo>
                    <a:pt x="44" y="0"/>
                  </a:moveTo>
                  <a:lnTo>
                    <a:pt x="88" y="43"/>
                  </a:lnTo>
                  <a:lnTo>
                    <a:pt x="44" y="87"/>
                  </a:lnTo>
                  <a:lnTo>
                    <a:pt x="0" y="43"/>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23704" name="Freeform 2284"/>
            <p:cNvSpPr/>
            <p:nvPr/>
          </p:nvSpPr>
          <p:spPr>
            <a:xfrm>
              <a:off x="5207" y="3681"/>
              <a:ext cx="87" cy="87"/>
            </a:xfrm>
            <a:custGeom>
              <a:avLst/>
              <a:gdLst>
                <a:gd name="txL" fmla="*/ 0 w 87"/>
                <a:gd name="txT" fmla="*/ 0 h 87"/>
                <a:gd name="txR" fmla="*/ 87 w 87"/>
                <a:gd name="txB" fmla="*/ 87 h 87"/>
              </a:gdLst>
              <a:ahLst/>
              <a:cxnLst>
                <a:cxn ang="0">
                  <a:pos x="44" y="0"/>
                </a:cxn>
                <a:cxn ang="0">
                  <a:pos x="87" y="44"/>
                </a:cxn>
                <a:cxn ang="0">
                  <a:pos x="44" y="87"/>
                </a:cxn>
                <a:cxn ang="0">
                  <a:pos x="0" y="44"/>
                </a:cxn>
                <a:cxn ang="0">
                  <a:pos x="44" y="0"/>
                </a:cxn>
              </a:cxnLst>
              <a:rect l="txL" t="txT" r="txR" b="txB"/>
              <a:pathLst>
                <a:path w="87" h="87">
                  <a:moveTo>
                    <a:pt x="44" y="0"/>
                  </a:moveTo>
                  <a:lnTo>
                    <a:pt x="87" y="44"/>
                  </a:lnTo>
                  <a:lnTo>
                    <a:pt x="44" y="87"/>
                  </a:lnTo>
                  <a:lnTo>
                    <a:pt x="0" y="44"/>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23705" name="Freeform 2285"/>
            <p:cNvSpPr/>
            <p:nvPr/>
          </p:nvSpPr>
          <p:spPr>
            <a:xfrm>
              <a:off x="4858" y="3275"/>
              <a:ext cx="87" cy="86"/>
            </a:xfrm>
            <a:custGeom>
              <a:avLst/>
              <a:gdLst>
                <a:gd name="txL" fmla="*/ 0 w 87"/>
                <a:gd name="txT" fmla="*/ 0 h 86"/>
                <a:gd name="txR" fmla="*/ 87 w 87"/>
                <a:gd name="txB" fmla="*/ 86 h 86"/>
              </a:gdLst>
              <a:ahLst/>
              <a:cxnLst>
                <a:cxn ang="0">
                  <a:pos x="44" y="0"/>
                </a:cxn>
                <a:cxn ang="0">
                  <a:pos x="87" y="43"/>
                </a:cxn>
                <a:cxn ang="0">
                  <a:pos x="44" y="86"/>
                </a:cxn>
                <a:cxn ang="0">
                  <a:pos x="0" y="43"/>
                </a:cxn>
                <a:cxn ang="0">
                  <a:pos x="44" y="0"/>
                </a:cxn>
              </a:cxnLst>
              <a:rect l="txL" t="txT" r="txR" b="txB"/>
              <a:pathLst>
                <a:path w="87" h="86">
                  <a:moveTo>
                    <a:pt x="44" y="0"/>
                  </a:moveTo>
                  <a:lnTo>
                    <a:pt x="87" y="43"/>
                  </a:lnTo>
                  <a:lnTo>
                    <a:pt x="44" y="86"/>
                  </a:lnTo>
                  <a:lnTo>
                    <a:pt x="0" y="43"/>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23706" name="Freeform 2286"/>
            <p:cNvSpPr/>
            <p:nvPr/>
          </p:nvSpPr>
          <p:spPr>
            <a:xfrm>
              <a:off x="4746" y="3170"/>
              <a:ext cx="87" cy="86"/>
            </a:xfrm>
            <a:custGeom>
              <a:avLst/>
              <a:gdLst>
                <a:gd name="txL" fmla="*/ 0 w 87"/>
                <a:gd name="txT" fmla="*/ 0 h 86"/>
                <a:gd name="txR" fmla="*/ 87 w 87"/>
                <a:gd name="txB" fmla="*/ 86 h 86"/>
              </a:gdLst>
              <a:ahLst/>
              <a:cxnLst>
                <a:cxn ang="0">
                  <a:pos x="43" y="0"/>
                </a:cxn>
                <a:cxn ang="0">
                  <a:pos x="87" y="43"/>
                </a:cxn>
                <a:cxn ang="0">
                  <a:pos x="43" y="86"/>
                </a:cxn>
                <a:cxn ang="0">
                  <a:pos x="0" y="43"/>
                </a:cxn>
                <a:cxn ang="0">
                  <a:pos x="43" y="0"/>
                </a:cxn>
              </a:cxnLst>
              <a:rect l="txL" t="txT" r="txR" b="txB"/>
              <a:pathLst>
                <a:path w="87" h="86">
                  <a:moveTo>
                    <a:pt x="43" y="0"/>
                  </a:moveTo>
                  <a:lnTo>
                    <a:pt x="87" y="43"/>
                  </a:lnTo>
                  <a:lnTo>
                    <a:pt x="43" y="86"/>
                  </a:lnTo>
                  <a:lnTo>
                    <a:pt x="0" y="43"/>
                  </a:lnTo>
                  <a:lnTo>
                    <a:pt x="43" y="0"/>
                  </a:lnTo>
                  <a:close/>
                </a:path>
              </a:pathLst>
            </a:custGeom>
            <a:solidFill>
              <a:srgbClr val="000080">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23707" name="Freeform 2287"/>
            <p:cNvSpPr/>
            <p:nvPr/>
          </p:nvSpPr>
          <p:spPr>
            <a:xfrm>
              <a:off x="5319" y="3478"/>
              <a:ext cx="88" cy="86"/>
            </a:xfrm>
            <a:custGeom>
              <a:avLst/>
              <a:gdLst>
                <a:gd name="txL" fmla="*/ 0 w 88"/>
                <a:gd name="txT" fmla="*/ 0 h 86"/>
                <a:gd name="txR" fmla="*/ 88 w 88"/>
                <a:gd name="txB" fmla="*/ 86 h 86"/>
              </a:gdLst>
              <a:ahLst/>
              <a:cxnLst>
                <a:cxn ang="0">
                  <a:pos x="44" y="0"/>
                </a:cxn>
                <a:cxn ang="0">
                  <a:pos x="88" y="43"/>
                </a:cxn>
                <a:cxn ang="0">
                  <a:pos x="44" y="86"/>
                </a:cxn>
                <a:cxn ang="0">
                  <a:pos x="0" y="43"/>
                </a:cxn>
                <a:cxn ang="0">
                  <a:pos x="44" y="0"/>
                </a:cxn>
              </a:cxnLst>
              <a:rect l="txL" t="txT" r="txR" b="txB"/>
              <a:pathLst>
                <a:path w="88" h="86">
                  <a:moveTo>
                    <a:pt x="44" y="0"/>
                  </a:moveTo>
                  <a:lnTo>
                    <a:pt x="88" y="43"/>
                  </a:lnTo>
                  <a:lnTo>
                    <a:pt x="44" y="86"/>
                  </a:lnTo>
                  <a:lnTo>
                    <a:pt x="0" y="43"/>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23708" name="Freeform 2288"/>
            <p:cNvSpPr/>
            <p:nvPr/>
          </p:nvSpPr>
          <p:spPr>
            <a:xfrm>
              <a:off x="5089" y="3780"/>
              <a:ext cx="87" cy="86"/>
            </a:xfrm>
            <a:custGeom>
              <a:avLst/>
              <a:gdLst>
                <a:gd name="txL" fmla="*/ 0 w 87"/>
                <a:gd name="txT" fmla="*/ 0 h 86"/>
                <a:gd name="txR" fmla="*/ 87 w 87"/>
                <a:gd name="txB" fmla="*/ 86 h 86"/>
              </a:gdLst>
              <a:ahLst/>
              <a:cxnLst>
                <a:cxn ang="0">
                  <a:pos x="43" y="0"/>
                </a:cxn>
                <a:cxn ang="0">
                  <a:pos x="87" y="43"/>
                </a:cxn>
                <a:cxn ang="0">
                  <a:pos x="43" y="86"/>
                </a:cxn>
                <a:cxn ang="0">
                  <a:pos x="0" y="43"/>
                </a:cxn>
                <a:cxn ang="0">
                  <a:pos x="43" y="0"/>
                </a:cxn>
              </a:cxnLst>
              <a:rect l="txL" t="txT" r="txR" b="txB"/>
              <a:pathLst>
                <a:path w="87" h="86">
                  <a:moveTo>
                    <a:pt x="43" y="0"/>
                  </a:moveTo>
                  <a:lnTo>
                    <a:pt x="87" y="43"/>
                  </a:lnTo>
                  <a:lnTo>
                    <a:pt x="43" y="86"/>
                  </a:lnTo>
                  <a:lnTo>
                    <a:pt x="0" y="43"/>
                  </a:lnTo>
                  <a:lnTo>
                    <a:pt x="43" y="0"/>
                  </a:lnTo>
                  <a:close/>
                </a:path>
              </a:pathLst>
            </a:custGeom>
            <a:solidFill>
              <a:schemeClr val="hlink">
                <a:alpha val="100000"/>
              </a:schemeClr>
            </a:solidFill>
            <a:ln w="9525" cap="flat" cmpd="sng">
              <a:solidFill>
                <a:schemeClr val="hlink">
                  <a:alpha val="100000"/>
                </a:schemeClr>
              </a:solidFill>
              <a:prstDash val="solid"/>
              <a:round/>
              <a:headEnd type="none" w="med" len="med"/>
              <a:tailEnd type="none" w="med" len="med"/>
            </a:ln>
          </p:spPr>
          <p:txBody>
            <a:bodyPr/>
            <a:p>
              <a:endParaRPr lang="en-US"/>
            </a:p>
          </p:txBody>
        </p:sp>
        <p:sp>
          <p:nvSpPr>
            <p:cNvPr id="23709" name="Freeform 2289"/>
            <p:cNvSpPr/>
            <p:nvPr/>
          </p:nvSpPr>
          <p:spPr>
            <a:xfrm>
              <a:off x="5207" y="3577"/>
              <a:ext cx="87" cy="86"/>
            </a:xfrm>
            <a:custGeom>
              <a:avLst/>
              <a:gdLst>
                <a:gd name="txL" fmla="*/ 0 w 87"/>
                <a:gd name="txT" fmla="*/ 0 h 86"/>
                <a:gd name="txR" fmla="*/ 87 w 87"/>
                <a:gd name="txB" fmla="*/ 86 h 86"/>
              </a:gdLst>
              <a:ahLst/>
              <a:cxnLst>
                <a:cxn ang="0">
                  <a:pos x="44" y="0"/>
                </a:cxn>
                <a:cxn ang="0">
                  <a:pos x="87" y="43"/>
                </a:cxn>
                <a:cxn ang="0">
                  <a:pos x="44" y="86"/>
                </a:cxn>
                <a:cxn ang="0">
                  <a:pos x="0" y="43"/>
                </a:cxn>
                <a:cxn ang="0">
                  <a:pos x="44" y="0"/>
                </a:cxn>
              </a:cxnLst>
              <a:rect l="txL" t="txT" r="txR" b="txB"/>
              <a:pathLst>
                <a:path w="87" h="86">
                  <a:moveTo>
                    <a:pt x="44" y="0"/>
                  </a:moveTo>
                  <a:lnTo>
                    <a:pt x="87" y="43"/>
                  </a:lnTo>
                  <a:lnTo>
                    <a:pt x="44" y="86"/>
                  </a:lnTo>
                  <a:lnTo>
                    <a:pt x="0" y="43"/>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23710" name="Freeform 2290"/>
            <p:cNvSpPr/>
            <p:nvPr/>
          </p:nvSpPr>
          <p:spPr>
            <a:xfrm>
              <a:off x="5207" y="3373"/>
              <a:ext cx="87" cy="87"/>
            </a:xfrm>
            <a:custGeom>
              <a:avLst/>
              <a:gdLst>
                <a:gd name="txL" fmla="*/ 0 w 87"/>
                <a:gd name="txT" fmla="*/ 0 h 87"/>
                <a:gd name="txR" fmla="*/ 87 w 87"/>
                <a:gd name="txB" fmla="*/ 87 h 87"/>
              </a:gdLst>
              <a:ahLst/>
              <a:cxnLst>
                <a:cxn ang="0">
                  <a:pos x="44" y="0"/>
                </a:cxn>
                <a:cxn ang="0">
                  <a:pos x="87" y="43"/>
                </a:cxn>
                <a:cxn ang="0">
                  <a:pos x="44" y="87"/>
                </a:cxn>
                <a:cxn ang="0">
                  <a:pos x="0" y="43"/>
                </a:cxn>
                <a:cxn ang="0">
                  <a:pos x="44" y="0"/>
                </a:cxn>
              </a:cxnLst>
              <a:rect l="txL" t="txT" r="txR" b="txB"/>
              <a:pathLst>
                <a:path w="87" h="87">
                  <a:moveTo>
                    <a:pt x="44" y="0"/>
                  </a:moveTo>
                  <a:lnTo>
                    <a:pt x="87" y="43"/>
                  </a:lnTo>
                  <a:lnTo>
                    <a:pt x="44" y="87"/>
                  </a:lnTo>
                  <a:lnTo>
                    <a:pt x="0" y="43"/>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23711" name="Rectangle 2291"/>
            <p:cNvSpPr/>
            <p:nvPr/>
          </p:nvSpPr>
          <p:spPr>
            <a:xfrm>
              <a:off x="4390" y="4008"/>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0</a:t>
              </a:r>
              <a:endParaRPr lang="ko-KR" altLang="en-US" dirty="0">
                <a:latin typeface="Tahoma" panose="020B0604030504040204" pitchFamily="34" charset="0"/>
                <a:ea typeface="Gulim" panose="020B0600000101010101" pitchFamily="34" charset="-127"/>
              </a:endParaRPr>
            </a:p>
          </p:txBody>
        </p:sp>
        <p:sp>
          <p:nvSpPr>
            <p:cNvPr id="23712" name="Rectangle 2292"/>
            <p:cNvSpPr/>
            <p:nvPr/>
          </p:nvSpPr>
          <p:spPr>
            <a:xfrm>
              <a:off x="4390" y="391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a:t>
              </a:r>
              <a:endParaRPr lang="ko-KR" altLang="en-US" dirty="0">
                <a:latin typeface="Tahoma" panose="020B0604030504040204" pitchFamily="34" charset="0"/>
                <a:ea typeface="Gulim" panose="020B0600000101010101" pitchFamily="34" charset="-127"/>
              </a:endParaRPr>
            </a:p>
          </p:txBody>
        </p:sp>
        <p:sp>
          <p:nvSpPr>
            <p:cNvPr id="23713" name="Rectangle 2293"/>
            <p:cNvSpPr/>
            <p:nvPr/>
          </p:nvSpPr>
          <p:spPr>
            <a:xfrm>
              <a:off x="4390" y="3805"/>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2</a:t>
              </a:r>
              <a:endParaRPr lang="ko-KR" altLang="en-US" dirty="0">
                <a:latin typeface="Tahoma" panose="020B0604030504040204" pitchFamily="34" charset="0"/>
                <a:ea typeface="Gulim" panose="020B0600000101010101" pitchFamily="34" charset="-127"/>
              </a:endParaRPr>
            </a:p>
          </p:txBody>
        </p:sp>
        <p:sp>
          <p:nvSpPr>
            <p:cNvPr id="23714" name="Rectangle 2294"/>
            <p:cNvSpPr/>
            <p:nvPr/>
          </p:nvSpPr>
          <p:spPr>
            <a:xfrm>
              <a:off x="4390" y="3706"/>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3</a:t>
              </a:r>
              <a:endParaRPr lang="ko-KR" altLang="en-US" dirty="0">
                <a:latin typeface="Tahoma" panose="020B0604030504040204" pitchFamily="34" charset="0"/>
                <a:ea typeface="Gulim" panose="020B0600000101010101" pitchFamily="34" charset="-127"/>
              </a:endParaRPr>
            </a:p>
          </p:txBody>
        </p:sp>
        <p:sp>
          <p:nvSpPr>
            <p:cNvPr id="23715" name="Rectangle 2295"/>
            <p:cNvSpPr/>
            <p:nvPr/>
          </p:nvSpPr>
          <p:spPr>
            <a:xfrm>
              <a:off x="4390" y="3601"/>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4</a:t>
              </a:r>
              <a:endParaRPr lang="ko-KR" altLang="en-US" dirty="0">
                <a:latin typeface="Tahoma" panose="020B0604030504040204" pitchFamily="34" charset="0"/>
                <a:ea typeface="Gulim" panose="020B0600000101010101" pitchFamily="34" charset="-127"/>
              </a:endParaRPr>
            </a:p>
          </p:txBody>
        </p:sp>
        <p:sp>
          <p:nvSpPr>
            <p:cNvPr id="23716" name="Rectangle 2296"/>
            <p:cNvSpPr/>
            <p:nvPr/>
          </p:nvSpPr>
          <p:spPr>
            <a:xfrm>
              <a:off x="4390" y="3503"/>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5</a:t>
              </a:r>
              <a:endParaRPr lang="ko-KR" altLang="en-US" dirty="0">
                <a:latin typeface="Tahoma" panose="020B0604030504040204" pitchFamily="34" charset="0"/>
                <a:ea typeface="Gulim" panose="020B0600000101010101" pitchFamily="34" charset="-127"/>
              </a:endParaRPr>
            </a:p>
          </p:txBody>
        </p:sp>
        <p:sp>
          <p:nvSpPr>
            <p:cNvPr id="23717" name="Rectangle 2297"/>
            <p:cNvSpPr/>
            <p:nvPr/>
          </p:nvSpPr>
          <p:spPr>
            <a:xfrm>
              <a:off x="4390" y="3398"/>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6</a:t>
              </a:r>
              <a:endParaRPr lang="ko-KR" altLang="en-US" dirty="0">
                <a:latin typeface="Tahoma" panose="020B0604030504040204" pitchFamily="34" charset="0"/>
                <a:ea typeface="Gulim" panose="020B0600000101010101" pitchFamily="34" charset="-127"/>
              </a:endParaRPr>
            </a:p>
          </p:txBody>
        </p:sp>
        <p:sp>
          <p:nvSpPr>
            <p:cNvPr id="23718" name="Rectangle 2298"/>
            <p:cNvSpPr/>
            <p:nvPr/>
          </p:nvSpPr>
          <p:spPr>
            <a:xfrm>
              <a:off x="4390" y="3299"/>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7</a:t>
              </a:r>
              <a:endParaRPr lang="ko-KR" altLang="en-US" dirty="0">
                <a:latin typeface="Tahoma" panose="020B0604030504040204" pitchFamily="34" charset="0"/>
                <a:ea typeface="Gulim" panose="020B0600000101010101" pitchFamily="34" charset="-127"/>
              </a:endParaRPr>
            </a:p>
          </p:txBody>
        </p:sp>
        <p:sp>
          <p:nvSpPr>
            <p:cNvPr id="23719" name="Rectangle 2299"/>
            <p:cNvSpPr/>
            <p:nvPr/>
          </p:nvSpPr>
          <p:spPr>
            <a:xfrm>
              <a:off x="4390" y="3194"/>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8</a:t>
              </a:r>
              <a:endParaRPr lang="ko-KR" altLang="en-US" dirty="0">
                <a:latin typeface="Tahoma" panose="020B0604030504040204" pitchFamily="34" charset="0"/>
                <a:ea typeface="Gulim" panose="020B0600000101010101" pitchFamily="34" charset="-127"/>
              </a:endParaRPr>
            </a:p>
          </p:txBody>
        </p:sp>
        <p:sp>
          <p:nvSpPr>
            <p:cNvPr id="23720" name="Rectangle 2300"/>
            <p:cNvSpPr/>
            <p:nvPr/>
          </p:nvSpPr>
          <p:spPr>
            <a:xfrm>
              <a:off x="4390" y="3096"/>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9</a:t>
              </a:r>
              <a:endParaRPr lang="ko-KR" altLang="en-US" dirty="0">
                <a:latin typeface="Tahoma" panose="020B0604030504040204" pitchFamily="34" charset="0"/>
                <a:ea typeface="Gulim" panose="020B0600000101010101" pitchFamily="34" charset="-127"/>
              </a:endParaRPr>
            </a:p>
          </p:txBody>
        </p:sp>
        <p:sp>
          <p:nvSpPr>
            <p:cNvPr id="23721" name="Rectangle 2301"/>
            <p:cNvSpPr/>
            <p:nvPr/>
          </p:nvSpPr>
          <p:spPr>
            <a:xfrm>
              <a:off x="4372" y="2991"/>
              <a:ext cx="19"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10</a:t>
              </a:r>
              <a:endParaRPr lang="ko-KR" altLang="en-US" dirty="0">
                <a:latin typeface="Tahoma" panose="020B0604030504040204" pitchFamily="34" charset="0"/>
                <a:ea typeface="Gulim" panose="020B0600000101010101" pitchFamily="34" charset="-127"/>
              </a:endParaRPr>
            </a:p>
          </p:txBody>
        </p:sp>
        <p:sp>
          <p:nvSpPr>
            <p:cNvPr id="23722" name="Rectangle 2302"/>
            <p:cNvSpPr/>
            <p:nvPr/>
          </p:nvSpPr>
          <p:spPr>
            <a:xfrm>
              <a:off x="4434"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0</a:t>
              </a:r>
              <a:endParaRPr lang="ko-KR" altLang="en-US" dirty="0">
                <a:latin typeface="Tahoma" panose="020B0604030504040204" pitchFamily="34" charset="0"/>
                <a:ea typeface="Gulim" panose="020B0600000101010101" pitchFamily="34" charset="-127"/>
              </a:endParaRPr>
            </a:p>
          </p:txBody>
        </p:sp>
        <p:sp>
          <p:nvSpPr>
            <p:cNvPr id="23723" name="Rectangle 2303"/>
            <p:cNvSpPr/>
            <p:nvPr/>
          </p:nvSpPr>
          <p:spPr>
            <a:xfrm>
              <a:off x="4553"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a:t>
              </a:r>
              <a:endParaRPr lang="ko-KR" altLang="en-US" dirty="0">
                <a:latin typeface="Tahoma" panose="020B0604030504040204" pitchFamily="34" charset="0"/>
                <a:ea typeface="Gulim" panose="020B0600000101010101" pitchFamily="34" charset="-127"/>
              </a:endParaRPr>
            </a:p>
          </p:txBody>
        </p:sp>
        <p:sp>
          <p:nvSpPr>
            <p:cNvPr id="23724" name="Rectangle 2304"/>
            <p:cNvSpPr/>
            <p:nvPr/>
          </p:nvSpPr>
          <p:spPr>
            <a:xfrm>
              <a:off x="4665"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2</a:t>
              </a:r>
              <a:endParaRPr lang="ko-KR" altLang="en-US" dirty="0">
                <a:latin typeface="Tahoma" panose="020B0604030504040204" pitchFamily="34" charset="0"/>
                <a:ea typeface="Gulim" panose="020B0600000101010101" pitchFamily="34" charset="-127"/>
              </a:endParaRPr>
            </a:p>
          </p:txBody>
        </p:sp>
        <p:sp>
          <p:nvSpPr>
            <p:cNvPr id="23725" name="Rectangle 2305"/>
            <p:cNvSpPr/>
            <p:nvPr/>
          </p:nvSpPr>
          <p:spPr>
            <a:xfrm>
              <a:off x="4783"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3</a:t>
              </a:r>
              <a:endParaRPr lang="ko-KR" altLang="en-US" dirty="0">
                <a:latin typeface="Tahoma" panose="020B0604030504040204" pitchFamily="34" charset="0"/>
                <a:ea typeface="Gulim" panose="020B0600000101010101" pitchFamily="34" charset="-127"/>
              </a:endParaRPr>
            </a:p>
          </p:txBody>
        </p:sp>
        <p:sp>
          <p:nvSpPr>
            <p:cNvPr id="23726" name="Rectangle 2306"/>
            <p:cNvSpPr/>
            <p:nvPr/>
          </p:nvSpPr>
          <p:spPr>
            <a:xfrm>
              <a:off x="4895"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4</a:t>
              </a:r>
              <a:endParaRPr lang="ko-KR" altLang="en-US" dirty="0">
                <a:latin typeface="Tahoma" panose="020B0604030504040204" pitchFamily="34" charset="0"/>
                <a:ea typeface="Gulim" panose="020B0600000101010101" pitchFamily="34" charset="-127"/>
              </a:endParaRPr>
            </a:p>
          </p:txBody>
        </p:sp>
        <p:sp>
          <p:nvSpPr>
            <p:cNvPr id="23727" name="Rectangle 2307"/>
            <p:cNvSpPr/>
            <p:nvPr/>
          </p:nvSpPr>
          <p:spPr>
            <a:xfrm>
              <a:off x="5014"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5</a:t>
              </a:r>
              <a:endParaRPr lang="ko-KR" altLang="en-US" dirty="0">
                <a:latin typeface="Tahoma" panose="020B0604030504040204" pitchFamily="34" charset="0"/>
                <a:ea typeface="Gulim" panose="020B0600000101010101" pitchFamily="34" charset="-127"/>
              </a:endParaRPr>
            </a:p>
          </p:txBody>
        </p:sp>
        <p:sp>
          <p:nvSpPr>
            <p:cNvPr id="23728" name="Rectangle 2308"/>
            <p:cNvSpPr/>
            <p:nvPr/>
          </p:nvSpPr>
          <p:spPr>
            <a:xfrm>
              <a:off x="5126"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6</a:t>
              </a:r>
              <a:endParaRPr lang="ko-KR" altLang="en-US" dirty="0">
                <a:latin typeface="Tahoma" panose="020B0604030504040204" pitchFamily="34" charset="0"/>
                <a:ea typeface="Gulim" panose="020B0600000101010101" pitchFamily="34" charset="-127"/>
              </a:endParaRPr>
            </a:p>
          </p:txBody>
        </p:sp>
        <p:sp>
          <p:nvSpPr>
            <p:cNvPr id="23729" name="Rectangle 2309"/>
            <p:cNvSpPr/>
            <p:nvPr/>
          </p:nvSpPr>
          <p:spPr>
            <a:xfrm>
              <a:off x="5244"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7</a:t>
              </a:r>
              <a:endParaRPr lang="ko-KR" altLang="en-US" dirty="0">
                <a:latin typeface="Tahoma" panose="020B0604030504040204" pitchFamily="34" charset="0"/>
                <a:ea typeface="Gulim" panose="020B0600000101010101" pitchFamily="34" charset="-127"/>
              </a:endParaRPr>
            </a:p>
          </p:txBody>
        </p:sp>
        <p:sp>
          <p:nvSpPr>
            <p:cNvPr id="23730" name="Rectangle 2310"/>
            <p:cNvSpPr/>
            <p:nvPr/>
          </p:nvSpPr>
          <p:spPr>
            <a:xfrm>
              <a:off x="5357"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8</a:t>
              </a:r>
              <a:endParaRPr lang="ko-KR" altLang="en-US" dirty="0">
                <a:latin typeface="Tahoma" panose="020B0604030504040204" pitchFamily="34" charset="0"/>
                <a:ea typeface="Gulim" panose="020B0600000101010101" pitchFamily="34" charset="-127"/>
              </a:endParaRPr>
            </a:p>
          </p:txBody>
        </p:sp>
        <p:sp>
          <p:nvSpPr>
            <p:cNvPr id="23731" name="Rectangle 2311"/>
            <p:cNvSpPr/>
            <p:nvPr/>
          </p:nvSpPr>
          <p:spPr>
            <a:xfrm>
              <a:off x="5475"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9</a:t>
              </a:r>
              <a:endParaRPr lang="ko-KR" altLang="en-US" dirty="0">
                <a:latin typeface="Tahoma" panose="020B0604030504040204" pitchFamily="34" charset="0"/>
                <a:ea typeface="Gulim" panose="020B0600000101010101" pitchFamily="34" charset="-127"/>
              </a:endParaRPr>
            </a:p>
          </p:txBody>
        </p:sp>
        <p:sp>
          <p:nvSpPr>
            <p:cNvPr id="23732" name="Rectangle 2312"/>
            <p:cNvSpPr/>
            <p:nvPr/>
          </p:nvSpPr>
          <p:spPr>
            <a:xfrm>
              <a:off x="5575" y="4070"/>
              <a:ext cx="19"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10</a:t>
              </a:r>
              <a:endParaRPr lang="ko-KR" altLang="en-US" dirty="0">
                <a:latin typeface="Tahoma" panose="020B0604030504040204" pitchFamily="34" charset="0"/>
                <a:ea typeface="Gulim" panose="020B0600000101010101" pitchFamily="34" charset="-127"/>
              </a:endParaRPr>
            </a:p>
          </p:txBody>
        </p:sp>
        <p:sp>
          <p:nvSpPr>
            <p:cNvPr id="23733" name="Rectangle 2313"/>
            <p:cNvSpPr/>
            <p:nvPr/>
          </p:nvSpPr>
          <p:spPr>
            <a:xfrm>
              <a:off x="4297" y="2905"/>
              <a:ext cx="1371" cy="1282"/>
            </a:xfrm>
            <a:prstGeom prst="rect">
              <a:avLst/>
            </a:prstGeom>
            <a:noFill/>
            <a:ln w="0"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sp>
          <p:nvSpPr>
            <p:cNvPr id="23734" name="Line 2314"/>
            <p:cNvSpPr/>
            <p:nvPr/>
          </p:nvSpPr>
          <p:spPr>
            <a:xfrm>
              <a:off x="5245" y="3456"/>
              <a:ext cx="0" cy="115"/>
            </a:xfrm>
            <a:prstGeom prst="line">
              <a:avLst/>
            </a:prstGeom>
            <a:ln w="9525" cap="flat" cmpd="sng">
              <a:solidFill>
                <a:schemeClr val="tx1"/>
              </a:solidFill>
              <a:prstDash val="solid"/>
              <a:headEnd type="none" w="med" len="med"/>
              <a:tailEnd type="none" w="med" len="med"/>
            </a:ln>
          </p:spPr>
        </p:sp>
        <p:sp>
          <p:nvSpPr>
            <p:cNvPr id="23735" name="Freeform 2315"/>
            <p:cNvSpPr/>
            <p:nvPr/>
          </p:nvSpPr>
          <p:spPr>
            <a:xfrm>
              <a:off x="5088" y="3600"/>
              <a:ext cx="87" cy="86"/>
            </a:xfrm>
            <a:custGeom>
              <a:avLst/>
              <a:gdLst>
                <a:gd name="txL" fmla="*/ 0 w 87"/>
                <a:gd name="txT" fmla="*/ 0 h 86"/>
                <a:gd name="txR" fmla="*/ 87 w 87"/>
                <a:gd name="txB" fmla="*/ 86 h 86"/>
              </a:gdLst>
              <a:ahLst/>
              <a:cxnLst>
                <a:cxn ang="0">
                  <a:pos x="43" y="0"/>
                </a:cxn>
                <a:cxn ang="0">
                  <a:pos x="87" y="43"/>
                </a:cxn>
                <a:cxn ang="0">
                  <a:pos x="43" y="86"/>
                </a:cxn>
                <a:cxn ang="0">
                  <a:pos x="0" y="43"/>
                </a:cxn>
                <a:cxn ang="0">
                  <a:pos x="43" y="0"/>
                </a:cxn>
              </a:cxnLst>
              <a:rect l="txL" t="txT" r="txR" b="txB"/>
              <a:pathLst>
                <a:path w="87" h="86">
                  <a:moveTo>
                    <a:pt x="43" y="0"/>
                  </a:moveTo>
                  <a:lnTo>
                    <a:pt x="87" y="43"/>
                  </a:lnTo>
                  <a:lnTo>
                    <a:pt x="43" y="86"/>
                  </a:lnTo>
                  <a:lnTo>
                    <a:pt x="0" y="43"/>
                  </a:lnTo>
                  <a:lnTo>
                    <a:pt x="43" y="0"/>
                  </a:lnTo>
                  <a:close/>
                </a:path>
              </a:pathLst>
            </a:custGeom>
            <a:solidFill>
              <a:srgbClr val="000080">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grpSp>
    </p:spTree>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a:xfrm>
            <a:off x="152400" y="457200"/>
            <a:ext cx="8763000" cy="442913"/>
          </a:xfrm>
        </p:spPr>
        <p:txBody>
          <a:bodyPr vert="horz" wrap="square" lIns="91440" tIns="45720" rIns="91440" bIns="45720" anchor="b" anchorCtr="0"/>
          <a:p>
            <a:pPr eaLnBrk="1" hangingPunct="1"/>
            <a:r>
              <a:rPr sz="3200" dirty="0"/>
              <a:t>The K-Medoid Clustering Method</a:t>
            </a:r>
            <a:endParaRPr sz="3200" dirty="0"/>
          </a:p>
        </p:txBody>
      </p:sp>
      <p:sp>
        <p:nvSpPr>
          <p:cNvPr id="24579" name="Rectangle 3"/>
          <p:cNvSpPr>
            <a:spLocks noGrp="1"/>
          </p:cNvSpPr>
          <p:nvPr>
            <p:ph idx="1"/>
          </p:nvPr>
        </p:nvSpPr>
        <p:spPr>
          <a:xfrm>
            <a:off x="304800" y="1371600"/>
            <a:ext cx="8610600" cy="5029200"/>
          </a:xfrm>
        </p:spPr>
        <p:txBody>
          <a:bodyPr vert="horz" wrap="square" lIns="91440" tIns="45720" rIns="91440" bIns="45720" anchor="t" anchorCtr="0"/>
          <a:p>
            <a:pPr eaLnBrk="1" hangingPunct="1">
              <a:lnSpc>
                <a:spcPct val="150000"/>
              </a:lnSpc>
            </a:pPr>
            <a:r>
              <a:rPr sz="2000" i="1" dirty="0"/>
              <a:t>K</a:t>
            </a:r>
            <a:r>
              <a:rPr sz="2000" dirty="0"/>
              <a:t>-</a:t>
            </a:r>
            <a:r>
              <a:rPr sz="2000" i="1" dirty="0"/>
              <a:t>Medoids</a:t>
            </a:r>
            <a:r>
              <a:rPr sz="2000" dirty="0"/>
              <a:t> Clustering: Find </a:t>
            </a:r>
            <a:r>
              <a:rPr sz="2000" i="1" dirty="0"/>
              <a:t>representative</a:t>
            </a:r>
            <a:r>
              <a:rPr sz="2000" dirty="0"/>
              <a:t> objects (</a:t>
            </a:r>
            <a:r>
              <a:rPr sz="2000" u="sng" dirty="0"/>
              <a:t>medoids</a:t>
            </a:r>
            <a:r>
              <a:rPr sz="2000" dirty="0"/>
              <a:t>) in clusters</a:t>
            </a:r>
            <a:endParaRPr sz="2000" dirty="0"/>
          </a:p>
          <a:p>
            <a:pPr lvl="1" eaLnBrk="1" hangingPunct="1">
              <a:lnSpc>
                <a:spcPct val="150000"/>
              </a:lnSpc>
            </a:pPr>
            <a:r>
              <a:rPr sz="2000" i="1" dirty="0"/>
              <a:t>PAM</a:t>
            </a:r>
            <a:r>
              <a:rPr sz="2000" dirty="0"/>
              <a:t> (Partitioning Around Medoids, Kaufmann &amp; Rousseeuw 1987)</a:t>
            </a:r>
            <a:endParaRPr sz="2000" dirty="0"/>
          </a:p>
          <a:p>
            <a:pPr lvl="2" eaLnBrk="1" hangingPunct="1">
              <a:lnSpc>
                <a:spcPct val="150000"/>
              </a:lnSpc>
            </a:pPr>
            <a:r>
              <a:rPr sz="2000" dirty="0"/>
              <a:t>Starts from an initial set of medoids and iteratively replaces one of the medoids by one of the non-medoids if it improves the total distance of the resulting clustering</a:t>
            </a:r>
            <a:endParaRPr sz="2000" dirty="0"/>
          </a:p>
          <a:p>
            <a:pPr lvl="2" eaLnBrk="1" hangingPunct="1">
              <a:lnSpc>
                <a:spcPct val="150000"/>
              </a:lnSpc>
            </a:pPr>
            <a:r>
              <a:rPr sz="2000" i="1" dirty="0"/>
              <a:t>PAM</a:t>
            </a:r>
            <a:r>
              <a:rPr sz="2000" dirty="0"/>
              <a:t> works effectively for small data sets, but does not scale well for large data sets (due to the computational complexity)</a:t>
            </a:r>
            <a:endParaRPr sz="2000" dirty="0"/>
          </a:p>
          <a:p>
            <a:pPr eaLnBrk="1" hangingPunct="1">
              <a:lnSpc>
                <a:spcPct val="150000"/>
              </a:lnSpc>
            </a:pPr>
            <a:r>
              <a:rPr sz="2000" dirty="0"/>
              <a:t>Efficiency improvement on PAM</a:t>
            </a:r>
            <a:endParaRPr sz="2000" dirty="0"/>
          </a:p>
          <a:p>
            <a:pPr lvl="1" eaLnBrk="1" hangingPunct="1">
              <a:lnSpc>
                <a:spcPct val="150000"/>
              </a:lnSpc>
            </a:pPr>
            <a:r>
              <a:rPr sz="2000" i="1" dirty="0"/>
              <a:t>CLARA</a:t>
            </a:r>
            <a:r>
              <a:rPr sz="2000" dirty="0"/>
              <a:t> (Kaufmann &amp; Rousseeuw, 1990): PAM on samples</a:t>
            </a:r>
            <a:endParaRPr sz="2000" dirty="0"/>
          </a:p>
          <a:p>
            <a:pPr lvl="1" eaLnBrk="1" hangingPunct="1">
              <a:lnSpc>
                <a:spcPct val="150000"/>
              </a:lnSpc>
            </a:pPr>
            <a:r>
              <a:rPr sz="2000" i="1" dirty="0"/>
              <a:t>CLARANS</a:t>
            </a:r>
            <a:r>
              <a:rPr sz="2000" dirty="0"/>
              <a:t> (Ng &amp; Han, 1994): Randomized re-sampling</a:t>
            </a:r>
            <a:endParaRPr sz="2000" dirty="0"/>
          </a:p>
        </p:txBody>
      </p:sp>
      <p:sp>
        <p:nvSpPr>
          <p:cNvPr id="24580"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25603" name="Rectangle 2"/>
          <p:cNvSpPr>
            <a:spLocks noGrp="1"/>
          </p:cNvSpPr>
          <p:nvPr>
            <p:ph type="title"/>
          </p:nvPr>
        </p:nvSpPr>
        <p:spPr>
          <a:xfrm>
            <a:off x="0" y="152400"/>
            <a:ext cx="9144000" cy="990600"/>
          </a:xfrm>
        </p:spPr>
        <p:txBody>
          <a:bodyPr vert="horz" wrap="square" lIns="92075" tIns="46038" rIns="92075" bIns="46038" anchor="ctr" anchorCtr="0"/>
          <a:p>
            <a:pPr eaLnBrk="1" hangingPunct="1"/>
            <a:r>
              <a:rPr sz="3200" dirty="0"/>
              <a:t>Chapter 10. </a:t>
            </a:r>
            <a:r>
              <a:rPr lang="en-AU" altLang="zh-TW" sz="3200" dirty="0">
                <a:ea typeface="PMingLiU" panose="02020500000000000000" pitchFamily="18" charset="-120"/>
              </a:rPr>
              <a:t>Cluster Analysis: Basic Concepts and Methods</a:t>
            </a:r>
            <a:endParaRPr sz="3200" dirty="0">
              <a:ea typeface="PMingLiU" panose="02020500000000000000" pitchFamily="18" charset="-120"/>
            </a:endParaRPr>
          </a:p>
        </p:txBody>
      </p:sp>
      <p:sp>
        <p:nvSpPr>
          <p:cNvPr id="25604" name="Rectangle 3"/>
          <p:cNvSpPr>
            <a:spLocks noGrp="1"/>
          </p:cNvSpPr>
          <p:nvPr>
            <p:ph type="body" idx="4294967295"/>
          </p:nvPr>
        </p:nvSpPr>
        <p:spPr>
          <a:xfrm>
            <a:off x="381000" y="1371600"/>
            <a:ext cx="8223250" cy="5181600"/>
          </a:xfrm>
        </p:spPr>
        <p:txBody>
          <a:bodyPr vert="horz" wrap="square" lIns="92075" tIns="46038" rIns="92075" bIns="46038" anchor="t" anchorCtr="0"/>
          <a:p>
            <a:pPr marL="533400" indent="-533400">
              <a:lnSpc>
                <a:spcPct val="130000"/>
              </a:lnSpc>
            </a:pPr>
            <a:r>
              <a:rPr dirty="0">
                <a:latin typeface="Calibri" panose="020F0502020204030204" pitchFamily="34" charset="0"/>
              </a:rPr>
              <a:t>Cluster Analysis: Basic Concepts</a:t>
            </a:r>
            <a:endParaRPr dirty="0">
              <a:latin typeface="Calibri" panose="020F0502020204030204" pitchFamily="34" charset="0"/>
            </a:endParaRPr>
          </a:p>
          <a:p>
            <a:pPr marL="533400" indent="-533400">
              <a:lnSpc>
                <a:spcPct val="130000"/>
              </a:lnSpc>
            </a:pPr>
            <a:r>
              <a:rPr dirty="0">
                <a:latin typeface="Calibri" panose="020F0502020204030204" pitchFamily="34" charset="0"/>
              </a:rPr>
              <a:t>Partitioning Methods</a:t>
            </a:r>
            <a:endParaRPr dirty="0">
              <a:latin typeface="Calibri" panose="020F0502020204030204" pitchFamily="34" charset="0"/>
            </a:endParaRPr>
          </a:p>
          <a:p>
            <a:pPr marL="533400" indent="-533400">
              <a:lnSpc>
                <a:spcPct val="130000"/>
              </a:lnSpc>
            </a:pPr>
            <a:r>
              <a:rPr dirty="0">
                <a:latin typeface="Calibri" panose="020F0502020204030204" pitchFamily="34" charset="0"/>
              </a:rPr>
              <a:t>Hierarchical Methods</a:t>
            </a:r>
            <a:endParaRPr dirty="0">
              <a:latin typeface="Calibri" panose="020F0502020204030204" pitchFamily="34" charset="0"/>
            </a:endParaRPr>
          </a:p>
          <a:p>
            <a:pPr marL="533400" indent="-533400">
              <a:lnSpc>
                <a:spcPct val="130000"/>
              </a:lnSpc>
            </a:pPr>
            <a:r>
              <a:rPr dirty="0">
                <a:latin typeface="Calibri" panose="020F0502020204030204" pitchFamily="34" charset="0"/>
              </a:rPr>
              <a:t>Density-Based Methods</a:t>
            </a:r>
            <a:endParaRPr dirty="0">
              <a:latin typeface="Calibri" panose="020F0502020204030204" pitchFamily="34" charset="0"/>
            </a:endParaRPr>
          </a:p>
          <a:p>
            <a:pPr marL="533400" indent="-533400">
              <a:lnSpc>
                <a:spcPct val="130000"/>
              </a:lnSpc>
            </a:pPr>
            <a:r>
              <a:rPr dirty="0">
                <a:latin typeface="Calibri" panose="020F0502020204030204" pitchFamily="34" charset="0"/>
              </a:rPr>
              <a:t>Grid-Based Methods</a:t>
            </a:r>
            <a:endParaRPr dirty="0">
              <a:latin typeface="Calibri" panose="020F0502020204030204" pitchFamily="34" charset="0"/>
            </a:endParaRPr>
          </a:p>
          <a:p>
            <a:pPr marL="533400" indent="-533400">
              <a:lnSpc>
                <a:spcPct val="130000"/>
              </a:lnSpc>
            </a:pPr>
            <a:r>
              <a:rPr dirty="0">
                <a:latin typeface="Calibri" panose="020F0502020204030204" pitchFamily="34" charset="0"/>
              </a:rPr>
              <a:t>Evaluation of Clustering</a:t>
            </a:r>
            <a:endParaRPr dirty="0">
              <a:latin typeface="Calibri" panose="020F0502020204030204" pitchFamily="34" charset="0"/>
            </a:endParaRPr>
          </a:p>
          <a:p>
            <a:pPr marL="533400" indent="-533400">
              <a:lnSpc>
                <a:spcPct val="130000"/>
              </a:lnSpc>
            </a:pPr>
            <a:r>
              <a:rPr dirty="0">
                <a:latin typeface="Calibri" panose="020F0502020204030204" pitchFamily="34" charset="0"/>
              </a:rPr>
              <a:t>Summary</a:t>
            </a:r>
            <a:endParaRPr dirty="0">
              <a:latin typeface="Calibri" panose="020F0502020204030204" pitchFamily="34" charset="0"/>
            </a:endParaRPr>
          </a:p>
        </p:txBody>
      </p:sp>
      <p:sp>
        <p:nvSpPr>
          <p:cNvPr id="25605" name="AutoShape 5"/>
          <p:cNvSpPr/>
          <p:nvPr/>
        </p:nvSpPr>
        <p:spPr>
          <a:xfrm rot="9867012">
            <a:off x="4419600" y="2743200"/>
            <a:ext cx="304800" cy="381000"/>
          </a:xfrm>
          <a:prstGeom prst="notchedRightArrow">
            <a:avLst>
              <a:gd name="adj1" fmla="val 50000"/>
              <a:gd name="adj2" fmla="val 25000"/>
            </a:avLst>
          </a:prstGeom>
          <a:solidFill>
            <a:srgbClr val="00CCFF"/>
          </a:solidFill>
          <a:ln w="9525" cap="flat" cmpd="sng">
            <a:solidFill>
              <a:schemeClr val="tx1"/>
            </a:solidFill>
            <a:prstDash val="solid"/>
            <a:miter/>
            <a:headEnd type="none" w="med" len="med"/>
            <a:tailEnd type="none" w="med" len="med"/>
          </a:ln>
        </p:spPr>
        <p:txBody>
          <a:bodyPr rot="10800000" wrap="none" anchor="ctr" anchorCtr="0"/>
          <a:p>
            <a:endParaRPr dirty="0">
              <a:latin typeface="Tahoma" panose="020B0604030504040204" pitchFamily="34" charset="0"/>
            </a:endParaRPr>
          </a:p>
        </p:txBody>
      </p:sp>
      <p:sp>
        <p:nvSpPr>
          <p:cNvPr id="25606"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p:cNvSpPr>
          <p:nvPr>
            <p:ph type="title"/>
          </p:nvPr>
        </p:nvSpPr>
        <p:spPr>
          <a:xfrm>
            <a:off x="750888" y="492125"/>
            <a:ext cx="7297737" cy="442913"/>
          </a:xfrm>
        </p:spPr>
        <p:txBody>
          <a:bodyPr vert="horz" wrap="square" lIns="92075" tIns="46038" rIns="92075" bIns="46038" anchor="ctr" anchorCtr="0"/>
          <a:p>
            <a:pPr eaLnBrk="1" hangingPunct="1"/>
            <a:r>
              <a:rPr lang="en-US" altLang="zh-CN" dirty="0">
                <a:ea typeface="SimSun" panose="02010600030101010101" pitchFamily="2" charset="-122"/>
              </a:rPr>
              <a:t>Hierarchical Clustering</a:t>
            </a:r>
            <a:endParaRPr lang="en-US" altLang="zh-CN" sz="4400" dirty="0">
              <a:ea typeface="SimSun" panose="02010600030101010101" pitchFamily="2" charset="-122"/>
            </a:endParaRPr>
          </a:p>
        </p:txBody>
      </p:sp>
      <p:sp>
        <p:nvSpPr>
          <p:cNvPr id="26627" name="Rectangle 3"/>
          <p:cNvSpPr>
            <a:spLocks noGrp="1"/>
          </p:cNvSpPr>
          <p:nvPr>
            <p:ph idx="1"/>
          </p:nvPr>
        </p:nvSpPr>
        <p:spPr>
          <a:xfrm>
            <a:off x="304800" y="1371600"/>
            <a:ext cx="8305800" cy="1219200"/>
          </a:xfrm>
        </p:spPr>
        <p:txBody>
          <a:bodyPr vert="horz" wrap="square" lIns="92075" tIns="46038" rIns="92075" bIns="46038" anchor="t" anchorCtr="0"/>
          <a:p>
            <a:pPr eaLnBrk="1" hangingPunct="1">
              <a:spcBef>
                <a:spcPct val="50000"/>
              </a:spcBef>
            </a:pPr>
            <a:r>
              <a:rPr lang="en-US" altLang="zh-CN" sz="2400" dirty="0">
                <a:ea typeface="SimSun" panose="02010600030101010101" pitchFamily="2" charset="-122"/>
              </a:rPr>
              <a:t>Use distance matrix as clustering criteria.  This method does not require the number of clusters </a:t>
            </a:r>
            <a:r>
              <a:rPr lang="en-US" altLang="zh-CN" sz="2400" b="1" i="1" dirty="0">
                <a:ea typeface="SimSun" panose="02010600030101010101" pitchFamily="2" charset="-122"/>
              </a:rPr>
              <a:t>k</a:t>
            </a:r>
            <a:r>
              <a:rPr lang="en-US" altLang="zh-CN" sz="2400" dirty="0">
                <a:ea typeface="SimSun" panose="02010600030101010101" pitchFamily="2" charset="-122"/>
              </a:rPr>
              <a:t> as an input, but needs a termination condition </a:t>
            </a:r>
            <a:endParaRPr lang="en-US" altLang="zh-CN" sz="2400" dirty="0">
              <a:ea typeface="SimSun" panose="02010600030101010101" pitchFamily="2" charset="-122"/>
            </a:endParaRPr>
          </a:p>
        </p:txBody>
      </p:sp>
      <p:grpSp>
        <p:nvGrpSpPr>
          <p:cNvPr id="26628" name="Group 4"/>
          <p:cNvGrpSpPr/>
          <p:nvPr/>
        </p:nvGrpSpPr>
        <p:grpSpPr>
          <a:xfrm>
            <a:off x="990600" y="2743200"/>
            <a:ext cx="6956425" cy="3641725"/>
            <a:chOff x="1200" y="1776"/>
            <a:chExt cx="4382" cy="2294"/>
          </a:xfrm>
        </p:grpSpPr>
        <p:sp>
          <p:nvSpPr>
            <p:cNvPr id="26630" name="Line 5"/>
            <p:cNvSpPr/>
            <p:nvPr/>
          </p:nvSpPr>
          <p:spPr>
            <a:xfrm>
              <a:off x="1200" y="2112"/>
              <a:ext cx="3216" cy="0"/>
            </a:xfrm>
            <a:prstGeom prst="line">
              <a:avLst/>
            </a:prstGeom>
            <a:ln w="19050" cap="flat" cmpd="sng">
              <a:solidFill>
                <a:schemeClr val="tx1"/>
              </a:solidFill>
              <a:prstDash val="solid"/>
              <a:headEnd type="none" w="med" len="med"/>
              <a:tailEnd type="triangle" w="med" len="med"/>
            </a:ln>
          </p:spPr>
        </p:sp>
        <p:grpSp>
          <p:nvGrpSpPr>
            <p:cNvPr id="26631" name="Group 6"/>
            <p:cNvGrpSpPr/>
            <p:nvPr/>
          </p:nvGrpSpPr>
          <p:grpSpPr>
            <a:xfrm>
              <a:off x="1440" y="1785"/>
              <a:ext cx="480" cy="327"/>
              <a:chOff x="1104" y="1785"/>
              <a:chExt cx="480" cy="327"/>
            </a:xfrm>
          </p:grpSpPr>
          <p:sp>
            <p:nvSpPr>
              <p:cNvPr id="26683" name="Line 7"/>
              <p:cNvSpPr/>
              <p:nvPr/>
            </p:nvSpPr>
            <p:spPr>
              <a:xfrm flipH="1">
                <a:off x="1200" y="2016"/>
                <a:ext cx="0" cy="96"/>
              </a:xfrm>
              <a:prstGeom prst="line">
                <a:avLst/>
              </a:prstGeom>
              <a:ln w="9525" cap="flat" cmpd="sng">
                <a:solidFill>
                  <a:schemeClr val="tx1"/>
                </a:solidFill>
                <a:prstDash val="solid"/>
                <a:headEnd type="none" w="med" len="med"/>
                <a:tailEnd type="none" w="med" len="med"/>
              </a:ln>
            </p:spPr>
          </p:sp>
          <p:sp>
            <p:nvSpPr>
              <p:cNvPr id="26684" name="Text Box 8"/>
              <p:cNvSpPr txBox="1"/>
              <p:nvPr/>
            </p:nvSpPr>
            <p:spPr>
              <a:xfrm>
                <a:off x="1104" y="1785"/>
                <a:ext cx="480" cy="231"/>
              </a:xfrm>
              <a:prstGeom prst="rect">
                <a:avLst/>
              </a:prstGeom>
              <a:noFill/>
              <a:ln w="9525">
                <a:noFill/>
              </a:ln>
            </p:spPr>
            <p:txBody>
              <a:bodyPr>
                <a:spAutoFit/>
              </a:bodyPr>
              <a:p>
                <a:pPr algn="l" eaLnBrk="0" hangingPunct="0">
                  <a:spcBef>
                    <a:spcPct val="50000"/>
                  </a:spcBef>
                </a:pPr>
                <a:r>
                  <a:rPr lang="en-US" altLang="zh-CN" sz="1800" dirty="0">
                    <a:latin typeface="Times New Roman" panose="02020603050405020304" pitchFamily="18" charset="0"/>
                    <a:ea typeface="SimSun" panose="02010600030101010101" pitchFamily="2" charset="-122"/>
                  </a:rPr>
                  <a:t>Step 0</a:t>
                </a:r>
                <a:endParaRPr lang="en-US" altLang="zh-CN" dirty="0">
                  <a:latin typeface="Times New Roman" panose="02020603050405020304" pitchFamily="18" charset="0"/>
                  <a:ea typeface="SimSun" panose="02010600030101010101" pitchFamily="2" charset="-122"/>
                </a:endParaRPr>
              </a:p>
            </p:txBody>
          </p:sp>
        </p:grpSp>
        <p:grpSp>
          <p:nvGrpSpPr>
            <p:cNvPr id="26632" name="Group 9"/>
            <p:cNvGrpSpPr/>
            <p:nvPr/>
          </p:nvGrpSpPr>
          <p:grpSpPr>
            <a:xfrm>
              <a:off x="1968" y="1776"/>
              <a:ext cx="480" cy="327"/>
              <a:chOff x="1104" y="1785"/>
              <a:chExt cx="480" cy="327"/>
            </a:xfrm>
          </p:grpSpPr>
          <p:sp>
            <p:nvSpPr>
              <p:cNvPr id="26681" name="Line 10"/>
              <p:cNvSpPr/>
              <p:nvPr/>
            </p:nvSpPr>
            <p:spPr>
              <a:xfrm flipH="1">
                <a:off x="1200" y="2016"/>
                <a:ext cx="0" cy="96"/>
              </a:xfrm>
              <a:prstGeom prst="line">
                <a:avLst/>
              </a:prstGeom>
              <a:ln w="9525" cap="flat" cmpd="sng">
                <a:solidFill>
                  <a:schemeClr val="tx1"/>
                </a:solidFill>
                <a:prstDash val="solid"/>
                <a:headEnd type="none" w="med" len="med"/>
                <a:tailEnd type="none" w="med" len="med"/>
              </a:ln>
            </p:spPr>
          </p:sp>
          <p:sp>
            <p:nvSpPr>
              <p:cNvPr id="26682" name="Text Box 11"/>
              <p:cNvSpPr txBox="1"/>
              <p:nvPr/>
            </p:nvSpPr>
            <p:spPr>
              <a:xfrm>
                <a:off x="1104" y="1785"/>
                <a:ext cx="480" cy="231"/>
              </a:xfrm>
              <a:prstGeom prst="rect">
                <a:avLst/>
              </a:prstGeom>
              <a:noFill/>
              <a:ln w="9525">
                <a:noFill/>
              </a:ln>
            </p:spPr>
            <p:txBody>
              <a:bodyPr>
                <a:spAutoFit/>
              </a:bodyPr>
              <a:p>
                <a:pPr algn="l" eaLnBrk="0" hangingPunct="0">
                  <a:spcBef>
                    <a:spcPct val="50000"/>
                  </a:spcBef>
                </a:pPr>
                <a:r>
                  <a:rPr lang="en-US" altLang="zh-CN" sz="1800" dirty="0">
                    <a:latin typeface="Times New Roman" panose="02020603050405020304" pitchFamily="18" charset="0"/>
                    <a:ea typeface="SimSun" panose="02010600030101010101" pitchFamily="2" charset="-122"/>
                  </a:rPr>
                  <a:t>Step 1</a:t>
                </a:r>
                <a:endParaRPr lang="en-US" altLang="zh-CN" dirty="0">
                  <a:latin typeface="Times New Roman" panose="02020603050405020304" pitchFamily="18" charset="0"/>
                  <a:ea typeface="SimSun" panose="02010600030101010101" pitchFamily="2" charset="-122"/>
                </a:endParaRPr>
              </a:p>
            </p:txBody>
          </p:sp>
        </p:grpSp>
        <p:grpSp>
          <p:nvGrpSpPr>
            <p:cNvPr id="26633" name="Group 12"/>
            <p:cNvGrpSpPr/>
            <p:nvPr/>
          </p:nvGrpSpPr>
          <p:grpSpPr>
            <a:xfrm>
              <a:off x="2496" y="1776"/>
              <a:ext cx="480" cy="327"/>
              <a:chOff x="1104" y="1785"/>
              <a:chExt cx="480" cy="327"/>
            </a:xfrm>
          </p:grpSpPr>
          <p:sp>
            <p:nvSpPr>
              <p:cNvPr id="26679" name="Line 13"/>
              <p:cNvSpPr/>
              <p:nvPr/>
            </p:nvSpPr>
            <p:spPr>
              <a:xfrm flipH="1">
                <a:off x="1200" y="2016"/>
                <a:ext cx="0" cy="96"/>
              </a:xfrm>
              <a:prstGeom prst="line">
                <a:avLst/>
              </a:prstGeom>
              <a:ln w="9525" cap="flat" cmpd="sng">
                <a:solidFill>
                  <a:schemeClr val="tx1"/>
                </a:solidFill>
                <a:prstDash val="solid"/>
                <a:headEnd type="none" w="med" len="med"/>
                <a:tailEnd type="none" w="med" len="med"/>
              </a:ln>
            </p:spPr>
          </p:sp>
          <p:sp>
            <p:nvSpPr>
              <p:cNvPr id="26680" name="Text Box 14"/>
              <p:cNvSpPr txBox="1"/>
              <p:nvPr/>
            </p:nvSpPr>
            <p:spPr>
              <a:xfrm>
                <a:off x="1104" y="1785"/>
                <a:ext cx="480" cy="231"/>
              </a:xfrm>
              <a:prstGeom prst="rect">
                <a:avLst/>
              </a:prstGeom>
              <a:noFill/>
              <a:ln w="9525">
                <a:noFill/>
              </a:ln>
            </p:spPr>
            <p:txBody>
              <a:bodyPr>
                <a:spAutoFit/>
              </a:bodyPr>
              <a:p>
                <a:pPr algn="l" eaLnBrk="0" hangingPunct="0">
                  <a:spcBef>
                    <a:spcPct val="50000"/>
                  </a:spcBef>
                </a:pPr>
                <a:r>
                  <a:rPr lang="en-US" altLang="zh-CN" sz="1800" dirty="0">
                    <a:latin typeface="Times New Roman" panose="02020603050405020304" pitchFamily="18" charset="0"/>
                    <a:ea typeface="SimSun" panose="02010600030101010101" pitchFamily="2" charset="-122"/>
                  </a:rPr>
                  <a:t>Step 2</a:t>
                </a:r>
                <a:endParaRPr lang="en-US" altLang="zh-CN" dirty="0">
                  <a:latin typeface="Times New Roman" panose="02020603050405020304" pitchFamily="18" charset="0"/>
                  <a:ea typeface="SimSun" panose="02010600030101010101" pitchFamily="2" charset="-122"/>
                </a:endParaRPr>
              </a:p>
            </p:txBody>
          </p:sp>
        </p:grpSp>
        <p:grpSp>
          <p:nvGrpSpPr>
            <p:cNvPr id="26634" name="Group 15"/>
            <p:cNvGrpSpPr/>
            <p:nvPr/>
          </p:nvGrpSpPr>
          <p:grpSpPr>
            <a:xfrm>
              <a:off x="2976" y="1776"/>
              <a:ext cx="480" cy="327"/>
              <a:chOff x="1104" y="1785"/>
              <a:chExt cx="480" cy="327"/>
            </a:xfrm>
          </p:grpSpPr>
          <p:sp>
            <p:nvSpPr>
              <p:cNvPr id="26677" name="Line 16"/>
              <p:cNvSpPr/>
              <p:nvPr/>
            </p:nvSpPr>
            <p:spPr>
              <a:xfrm flipH="1">
                <a:off x="1200" y="2016"/>
                <a:ext cx="0" cy="96"/>
              </a:xfrm>
              <a:prstGeom prst="line">
                <a:avLst/>
              </a:prstGeom>
              <a:ln w="9525" cap="flat" cmpd="sng">
                <a:solidFill>
                  <a:schemeClr val="tx1"/>
                </a:solidFill>
                <a:prstDash val="solid"/>
                <a:headEnd type="none" w="med" len="med"/>
                <a:tailEnd type="none" w="med" len="med"/>
              </a:ln>
            </p:spPr>
          </p:sp>
          <p:sp>
            <p:nvSpPr>
              <p:cNvPr id="26678" name="Text Box 17"/>
              <p:cNvSpPr txBox="1"/>
              <p:nvPr/>
            </p:nvSpPr>
            <p:spPr>
              <a:xfrm>
                <a:off x="1104" y="1785"/>
                <a:ext cx="480" cy="231"/>
              </a:xfrm>
              <a:prstGeom prst="rect">
                <a:avLst/>
              </a:prstGeom>
              <a:noFill/>
              <a:ln w="9525">
                <a:noFill/>
              </a:ln>
            </p:spPr>
            <p:txBody>
              <a:bodyPr>
                <a:spAutoFit/>
              </a:bodyPr>
              <a:p>
                <a:pPr algn="l" eaLnBrk="0" hangingPunct="0">
                  <a:spcBef>
                    <a:spcPct val="50000"/>
                  </a:spcBef>
                </a:pPr>
                <a:r>
                  <a:rPr lang="en-US" altLang="zh-CN" sz="1800" dirty="0">
                    <a:latin typeface="Times New Roman" panose="02020603050405020304" pitchFamily="18" charset="0"/>
                    <a:ea typeface="SimSun" panose="02010600030101010101" pitchFamily="2" charset="-122"/>
                  </a:rPr>
                  <a:t>Step 3</a:t>
                </a:r>
                <a:endParaRPr lang="en-US" altLang="zh-CN" dirty="0">
                  <a:latin typeface="Times New Roman" panose="02020603050405020304" pitchFamily="18" charset="0"/>
                  <a:ea typeface="SimSun" panose="02010600030101010101" pitchFamily="2" charset="-122"/>
                </a:endParaRPr>
              </a:p>
            </p:txBody>
          </p:sp>
        </p:grpSp>
        <p:grpSp>
          <p:nvGrpSpPr>
            <p:cNvPr id="26635" name="Group 18"/>
            <p:cNvGrpSpPr/>
            <p:nvPr/>
          </p:nvGrpSpPr>
          <p:grpSpPr>
            <a:xfrm>
              <a:off x="3456" y="1776"/>
              <a:ext cx="480" cy="327"/>
              <a:chOff x="1104" y="1785"/>
              <a:chExt cx="480" cy="327"/>
            </a:xfrm>
          </p:grpSpPr>
          <p:sp>
            <p:nvSpPr>
              <p:cNvPr id="26675" name="Line 19"/>
              <p:cNvSpPr/>
              <p:nvPr/>
            </p:nvSpPr>
            <p:spPr>
              <a:xfrm flipH="1">
                <a:off x="1200" y="2016"/>
                <a:ext cx="0" cy="96"/>
              </a:xfrm>
              <a:prstGeom prst="line">
                <a:avLst/>
              </a:prstGeom>
              <a:ln w="9525" cap="flat" cmpd="sng">
                <a:solidFill>
                  <a:schemeClr val="tx1"/>
                </a:solidFill>
                <a:prstDash val="solid"/>
                <a:headEnd type="none" w="med" len="med"/>
                <a:tailEnd type="none" w="med" len="med"/>
              </a:ln>
            </p:spPr>
          </p:sp>
          <p:sp>
            <p:nvSpPr>
              <p:cNvPr id="26676" name="Text Box 20"/>
              <p:cNvSpPr txBox="1"/>
              <p:nvPr/>
            </p:nvSpPr>
            <p:spPr>
              <a:xfrm>
                <a:off x="1104" y="1785"/>
                <a:ext cx="480" cy="231"/>
              </a:xfrm>
              <a:prstGeom prst="rect">
                <a:avLst/>
              </a:prstGeom>
              <a:noFill/>
              <a:ln w="9525">
                <a:noFill/>
              </a:ln>
            </p:spPr>
            <p:txBody>
              <a:bodyPr>
                <a:spAutoFit/>
              </a:bodyPr>
              <a:p>
                <a:pPr algn="l" eaLnBrk="0" hangingPunct="0">
                  <a:spcBef>
                    <a:spcPct val="50000"/>
                  </a:spcBef>
                </a:pPr>
                <a:r>
                  <a:rPr lang="en-US" altLang="zh-CN" sz="1800" dirty="0">
                    <a:latin typeface="Times New Roman" panose="02020603050405020304" pitchFamily="18" charset="0"/>
                    <a:ea typeface="SimSun" panose="02010600030101010101" pitchFamily="2" charset="-122"/>
                  </a:rPr>
                  <a:t>Step 4</a:t>
                </a:r>
                <a:endParaRPr lang="en-US" altLang="zh-CN" dirty="0">
                  <a:latin typeface="Times New Roman" panose="02020603050405020304" pitchFamily="18" charset="0"/>
                  <a:ea typeface="SimSun" panose="02010600030101010101" pitchFamily="2" charset="-122"/>
                </a:endParaRPr>
              </a:p>
            </p:txBody>
          </p:sp>
        </p:grpSp>
        <p:sp>
          <p:nvSpPr>
            <p:cNvPr id="26636" name="Text Box 21"/>
            <p:cNvSpPr txBox="1"/>
            <p:nvPr/>
          </p:nvSpPr>
          <p:spPr>
            <a:xfrm>
              <a:off x="1440" y="2508"/>
              <a:ext cx="212" cy="288"/>
            </a:xfrm>
            <a:prstGeom prst="rect">
              <a:avLst/>
            </a:prstGeom>
            <a:noFill/>
            <a:ln w="9525">
              <a:noFill/>
            </a:ln>
          </p:spPr>
          <p:txBody>
            <a:bodyPr wrap="none">
              <a:spAutoFit/>
            </a:bodyPr>
            <a:p>
              <a:pPr algn="l" eaLnBrk="0" hangingPunct="0"/>
              <a:r>
                <a:rPr lang="en-US" altLang="zh-CN" dirty="0">
                  <a:latin typeface="Times New Roman" panose="02020603050405020304" pitchFamily="18" charset="0"/>
                  <a:ea typeface="SimSun" panose="02010600030101010101" pitchFamily="2" charset="-122"/>
                </a:rPr>
                <a:t>b</a:t>
              </a:r>
              <a:endParaRPr lang="en-US" altLang="zh-CN" dirty="0">
                <a:latin typeface="Times New Roman" panose="02020603050405020304" pitchFamily="18" charset="0"/>
                <a:ea typeface="SimSun" panose="02010600030101010101" pitchFamily="2" charset="-122"/>
              </a:endParaRPr>
            </a:p>
          </p:txBody>
        </p:sp>
        <p:sp>
          <p:nvSpPr>
            <p:cNvPr id="26637" name="Text Box 22"/>
            <p:cNvSpPr txBox="1"/>
            <p:nvPr/>
          </p:nvSpPr>
          <p:spPr>
            <a:xfrm>
              <a:off x="1440" y="3108"/>
              <a:ext cx="212" cy="288"/>
            </a:xfrm>
            <a:prstGeom prst="rect">
              <a:avLst/>
            </a:prstGeom>
            <a:noFill/>
            <a:ln w="9525">
              <a:noFill/>
            </a:ln>
          </p:spPr>
          <p:txBody>
            <a:bodyPr wrap="none">
              <a:spAutoFit/>
            </a:bodyPr>
            <a:p>
              <a:pPr algn="l" eaLnBrk="0" hangingPunct="0"/>
              <a:r>
                <a:rPr lang="en-US" altLang="zh-CN" dirty="0">
                  <a:latin typeface="Times New Roman" panose="02020603050405020304" pitchFamily="18" charset="0"/>
                  <a:ea typeface="SimSun" panose="02010600030101010101" pitchFamily="2" charset="-122"/>
                </a:rPr>
                <a:t>d</a:t>
              </a:r>
              <a:endParaRPr lang="en-US" altLang="zh-CN" dirty="0">
                <a:latin typeface="Times New Roman" panose="02020603050405020304" pitchFamily="18" charset="0"/>
                <a:ea typeface="SimSun" panose="02010600030101010101" pitchFamily="2" charset="-122"/>
              </a:endParaRPr>
            </a:p>
          </p:txBody>
        </p:sp>
        <p:sp>
          <p:nvSpPr>
            <p:cNvPr id="26638" name="Text Box 23"/>
            <p:cNvSpPr txBox="1"/>
            <p:nvPr/>
          </p:nvSpPr>
          <p:spPr>
            <a:xfrm>
              <a:off x="1440" y="2808"/>
              <a:ext cx="201" cy="288"/>
            </a:xfrm>
            <a:prstGeom prst="rect">
              <a:avLst/>
            </a:prstGeom>
            <a:noFill/>
            <a:ln w="9525">
              <a:noFill/>
            </a:ln>
          </p:spPr>
          <p:txBody>
            <a:bodyPr wrap="none">
              <a:spAutoFit/>
            </a:bodyPr>
            <a:p>
              <a:pPr algn="l" eaLnBrk="0" hangingPunct="0"/>
              <a:r>
                <a:rPr lang="en-US" altLang="zh-CN" dirty="0">
                  <a:latin typeface="Times New Roman" panose="02020603050405020304" pitchFamily="18" charset="0"/>
                  <a:ea typeface="SimSun" panose="02010600030101010101" pitchFamily="2" charset="-122"/>
                </a:rPr>
                <a:t>c</a:t>
              </a:r>
              <a:endParaRPr lang="en-US" altLang="zh-CN" dirty="0">
                <a:latin typeface="Times New Roman" panose="02020603050405020304" pitchFamily="18" charset="0"/>
                <a:ea typeface="SimSun" panose="02010600030101010101" pitchFamily="2" charset="-122"/>
              </a:endParaRPr>
            </a:p>
          </p:txBody>
        </p:sp>
        <p:sp>
          <p:nvSpPr>
            <p:cNvPr id="26639" name="Text Box 24"/>
            <p:cNvSpPr txBox="1"/>
            <p:nvPr/>
          </p:nvSpPr>
          <p:spPr>
            <a:xfrm>
              <a:off x="1440" y="3408"/>
              <a:ext cx="201" cy="288"/>
            </a:xfrm>
            <a:prstGeom prst="rect">
              <a:avLst/>
            </a:prstGeom>
            <a:noFill/>
            <a:ln w="9525">
              <a:noFill/>
            </a:ln>
          </p:spPr>
          <p:txBody>
            <a:bodyPr wrap="none">
              <a:spAutoFit/>
            </a:bodyPr>
            <a:p>
              <a:pPr algn="l" eaLnBrk="0" hangingPunct="0"/>
              <a:r>
                <a:rPr lang="en-US" altLang="zh-CN" dirty="0">
                  <a:latin typeface="Times New Roman" panose="02020603050405020304" pitchFamily="18" charset="0"/>
                  <a:ea typeface="SimSun" panose="02010600030101010101" pitchFamily="2" charset="-122"/>
                </a:rPr>
                <a:t>e</a:t>
              </a:r>
              <a:endParaRPr lang="en-US" altLang="zh-CN" dirty="0">
                <a:latin typeface="Times New Roman" panose="02020603050405020304" pitchFamily="18" charset="0"/>
                <a:ea typeface="SimSun" panose="02010600030101010101" pitchFamily="2" charset="-122"/>
              </a:endParaRPr>
            </a:p>
          </p:txBody>
        </p:sp>
        <p:sp>
          <p:nvSpPr>
            <p:cNvPr id="26640" name="Text Box 25"/>
            <p:cNvSpPr txBox="1"/>
            <p:nvPr/>
          </p:nvSpPr>
          <p:spPr>
            <a:xfrm>
              <a:off x="1440" y="2208"/>
              <a:ext cx="201" cy="288"/>
            </a:xfrm>
            <a:prstGeom prst="rect">
              <a:avLst/>
            </a:prstGeom>
            <a:noFill/>
            <a:ln w="9525">
              <a:noFill/>
            </a:ln>
          </p:spPr>
          <p:txBody>
            <a:bodyPr wrap="none">
              <a:spAutoFit/>
            </a:bodyPr>
            <a:p>
              <a:pPr algn="l" eaLnBrk="0" hangingPunct="0"/>
              <a:r>
                <a:rPr lang="en-US" altLang="zh-CN" dirty="0">
                  <a:latin typeface="Times New Roman" panose="02020603050405020304" pitchFamily="18" charset="0"/>
                  <a:ea typeface="SimSun" panose="02010600030101010101" pitchFamily="2" charset="-122"/>
                </a:rPr>
                <a:t>a</a:t>
              </a:r>
              <a:endParaRPr lang="en-US" altLang="zh-CN" dirty="0">
                <a:latin typeface="Times New Roman" panose="02020603050405020304" pitchFamily="18" charset="0"/>
                <a:ea typeface="SimSun" panose="02010600030101010101" pitchFamily="2" charset="-122"/>
              </a:endParaRPr>
            </a:p>
          </p:txBody>
        </p:sp>
        <p:sp>
          <p:nvSpPr>
            <p:cNvPr id="26641" name="Oval 26"/>
            <p:cNvSpPr/>
            <p:nvPr/>
          </p:nvSpPr>
          <p:spPr>
            <a:xfrm>
              <a:off x="1392" y="2256"/>
              <a:ext cx="288" cy="240"/>
            </a:xfrm>
            <a:prstGeom prst="ellipse">
              <a:avLst/>
            </a:prstGeom>
            <a:no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26642" name="Oval 27"/>
            <p:cNvSpPr/>
            <p:nvPr/>
          </p:nvSpPr>
          <p:spPr>
            <a:xfrm>
              <a:off x="1392" y="2544"/>
              <a:ext cx="288" cy="240"/>
            </a:xfrm>
            <a:prstGeom prst="ellipse">
              <a:avLst/>
            </a:prstGeom>
            <a:no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26643" name="Oval 28"/>
            <p:cNvSpPr/>
            <p:nvPr/>
          </p:nvSpPr>
          <p:spPr>
            <a:xfrm>
              <a:off x="1392" y="2832"/>
              <a:ext cx="288" cy="240"/>
            </a:xfrm>
            <a:prstGeom prst="ellipse">
              <a:avLst/>
            </a:prstGeom>
            <a:no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26644" name="Oval 29"/>
            <p:cNvSpPr/>
            <p:nvPr/>
          </p:nvSpPr>
          <p:spPr>
            <a:xfrm>
              <a:off x="1392" y="3120"/>
              <a:ext cx="288" cy="240"/>
            </a:xfrm>
            <a:prstGeom prst="ellipse">
              <a:avLst/>
            </a:prstGeom>
            <a:no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26645" name="Oval 30"/>
            <p:cNvSpPr/>
            <p:nvPr/>
          </p:nvSpPr>
          <p:spPr>
            <a:xfrm>
              <a:off x="1392" y="3408"/>
              <a:ext cx="288" cy="240"/>
            </a:xfrm>
            <a:prstGeom prst="ellipse">
              <a:avLst/>
            </a:prstGeom>
            <a:no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26646" name="Text Box 31"/>
            <p:cNvSpPr txBox="1"/>
            <p:nvPr/>
          </p:nvSpPr>
          <p:spPr>
            <a:xfrm>
              <a:off x="1968" y="2304"/>
              <a:ext cx="345" cy="288"/>
            </a:xfrm>
            <a:prstGeom prst="rect">
              <a:avLst/>
            </a:prstGeom>
            <a:noFill/>
            <a:ln w="9525">
              <a:noFill/>
            </a:ln>
          </p:spPr>
          <p:txBody>
            <a:bodyPr wrap="none">
              <a:spAutoFit/>
            </a:bodyPr>
            <a:p>
              <a:pPr algn="l" eaLnBrk="0" hangingPunct="0"/>
              <a:r>
                <a:rPr lang="en-US" altLang="zh-CN" dirty="0">
                  <a:latin typeface="Times New Roman" panose="02020603050405020304" pitchFamily="18" charset="0"/>
                  <a:ea typeface="SimSun" panose="02010600030101010101" pitchFamily="2" charset="-122"/>
                </a:rPr>
                <a:t>a b</a:t>
              </a:r>
              <a:endParaRPr lang="en-US" altLang="zh-CN" dirty="0">
                <a:latin typeface="Times New Roman" panose="02020603050405020304" pitchFamily="18" charset="0"/>
                <a:ea typeface="SimSun" panose="02010600030101010101" pitchFamily="2" charset="-122"/>
              </a:endParaRPr>
            </a:p>
          </p:txBody>
        </p:sp>
        <p:sp>
          <p:nvSpPr>
            <p:cNvPr id="26647" name="Oval 32"/>
            <p:cNvSpPr/>
            <p:nvPr/>
          </p:nvSpPr>
          <p:spPr>
            <a:xfrm>
              <a:off x="1872" y="2352"/>
              <a:ext cx="528" cy="240"/>
            </a:xfrm>
            <a:prstGeom prst="ellipse">
              <a:avLst/>
            </a:prstGeom>
            <a:no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26648" name="Text Box 33"/>
            <p:cNvSpPr txBox="1"/>
            <p:nvPr/>
          </p:nvSpPr>
          <p:spPr>
            <a:xfrm>
              <a:off x="2496" y="3216"/>
              <a:ext cx="345" cy="288"/>
            </a:xfrm>
            <a:prstGeom prst="rect">
              <a:avLst/>
            </a:prstGeom>
            <a:noFill/>
            <a:ln w="9525">
              <a:noFill/>
            </a:ln>
          </p:spPr>
          <p:txBody>
            <a:bodyPr wrap="none">
              <a:spAutoFit/>
            </a:bodyPr>
            <a:p>
              <a:pPr algn="l" eaLnBrk="0" hangingPunct="0"/>
              <a:r>
                <a:rPr lang="en-US" altLang="zh-CN" dirty="0">
                  <a:latin typeface="Times New Roman" panose="02020603050405020304" pitchFamily="18" charset="0"/>
                  <a:ea typeface="SimSun" panose="02010600030101010101" pitchFamily="2" charset="-122"/>
                </a:rPr>
                <a:t>d e</a:t>
              </a:r>
              <a:endParaRPr lang="en-US" altLang="zh-CN" dirty="0">
                <a:latin typeface="Times New Roman" panose="02020603050405020304" pitchFamily="18" charset="0"/>
                <a:ea typeface="SimSun" panose="02010600030101010101" pitchFamily="2" charset="-122"/>
              </a:endParaRPr>
            </a:p>
          </p:txBody>
        </p:sp>
        <p:sp>
          <p:nvSpPr>
            <p:cNvPr id="26649" name="Oval 34"/>
            <p:cNvSpPr/>
            <p:nvPr/>
          </p:nvSpPr>
          <p:spPr>
            <a:xfrm>
              <a:off x="2400" y="3264"/>
              <a:ext cx="528" cy="240"/>
            </a:xfrm>
            <a:prstGeom prst="ellipse">
              <a:avLst/>
            </a:prstGeom>
            <a:no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26650" name="Text Box 35"/>
            <p:cNvSpPr txBox="1"/>
            <p:nvPr/>
          </p:nvSpPr>
          <p:spPr>
            <a:xfrm>
              <a:off x="2880" y="2928"/>
              <a:ext cx="478" cy="288"/>
            </a:xfrm>
            <a:prstGeom prst="rect">
              <a:avLst/>
            </a:prstGeom>
            <a:noFill/>
            <a:ln w="9525">
              <a:noFill/>
            </a:ln>
          </p:spPr>
          <p:txBody>
            <a:bodyPr wrap="none">
              <a:spAutoFit/>
            </a:bodyPr>
            <a:p>
              <a:pPr algn="l" eaLnBrk="0" hangingPunct="0"/>
              <a:r>
                <a:rPr lang="en-US" altLang="zh-CN" dirty="0">
                  <a:latin typeface="Times New Roman" panose="02020603050405020304" pitchFamily="18" charset="0"/>
                  <a:ea typeface="SimSun" panose="02010600030101010101" pitchFamily="2" charset="-122"/>
                </a:rPr>
                <a:t>c d e</a:t>
              </a:r>
              <a:endParaRPr lang="en-US" altLang="zh-CN" dirty="0">
                <a:latin typeface="Times New Roman" panose="02020603050405020304" pitchFamily="18" charset="0"/>
                <a:ea typeface="SimSun" panose="02010600030101010101" pitchFamily="2" charset="-122"/>
              </a:endParaRPr>
            </a:p>
          </p:txBody>
        </p:sp>
        <p:sp>
          <p:nvSpPr>
            <p:cNvPr id="26651" name="Oval 36"/>
            <p:cNvSpPr/>
            <p:nvPr/>
          </p:nvSpPr>
          <p:spPr>
            <a:xfrm>
              <a:off x="2784" y="2928"/>
              <a:ext cx="624" cy="288"/>
            </a:xfrm>
            <a:prstGeom prst="ellipse">
              <a:avLst/>
            </a:prstGeom>
            <a:no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26652" name="Text Box 37"/>
            <p:cNvSpPr txBox="1"/>
            <p:nvPr/>
          </p:nvSpPr>
          <p:spPr>
            <a:xfrm>
              <a:off x="3216" y="2592"/>
              <a:ext cx="755" cy="288"/>
            </a:xfrm>
            <a:prstGeom prst="rect">
              <a:avLst/>
            </a:prstGeom>
            <a:noFill/>
            <a:ln w="9525">
              <a:noFill/>
            </a:ln>
          </p:spPr>
          <p:txBody>
            <a:bodyPr wrap="none">
              <a:spAutoFit/>
            </a:bodyPr>
            <a:p>
              <a:pPr algn="l" eaLnBrk="0" hangingPunct="0"/>
              <a:r>
                <a:rPr lang="en-US" altLang="zh-CN" dirty="0">
                  <a:latin typeface="Times New Roman" panose="02020603050405020304" pitchFamily="18" charset="0"/>
                  <a:ea typeface="SimSun" panose="02010600030101010101" pitchFamily="2" charset="-122"/>
                </a:rPr>
                <a:t>a b c d e</a:t>
              </a:r>
              <a:endParaRPr lang="en-US" altLang="zh-CN" dirty="0">
                <a:latin typeface="Times New Roman" panose="02020603050405020304" pitchFamily="18" charset="0"/>
                <a:ea typeface="SimSun" panose="02010600030101010101" pitchFamily="2" charset="-122"/>
              </a:endParaRPr>
            </a:p>
          </p:txBody>
        </p:sp>
        <p:sp>
          <p:nvSpPr>
            <p:cNvPr id="26653" name="Oval 38"/>
            <p:cNvSpPr/>
            <p:nvPr/>
          </p:nvSpPr>
          <p:spPr>
            <a:xfrm>
              <a:off x="3120" y="2592"/>
              <a:ext cx="1008" cy="288"/>
            </a:xfrm>
            <a:prstGeom prst="ellipse">
              <a:avLst/>
            </a:prstGeom>
            <a:no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26654" name="Line 39"/>
            <p:cNvSpPr/>
            <p:nvPr/>
          </p:nvSpPr>
          <p:spPr>
            <a:xfrm>
              <a:off x="1200" y="3753"/>
              <a:ext cx="3216" cy="0"/>
            </a:xfrm>
            <a:prstGeom prst="line">
              <a:avLst/>
            </a:prstGeom>
            <a:ln w="19050" cap="flat" cmpd="sng">
              <a:solidFill>
                <a:schemeClr val="tx1"/>
              </a:solidFill>
              <a:prstDash val="solid"/>
              <a:headEnd type="triangle" w="med" len="med"/>
              <a:tailEnd type="none" w="med" len="med"/>
            </a:ln>
          </p:spPr>
        </p:sp>
        <p:sp>
          <p:nvSpPr>
            <p:cNvPr id="26655" name="Line 40"/>
            <p:cNvSpPr/>
            <p:nvPr/>
          </p:nvSpPr>
          <p:spPr>
            <a:xfrm flipH="1">
              <a:off x="1536" y="3753"/>
              <a:ext cx="0" cy="96"/>
            </a:xfrm>
            <a:prstGeom prst="line">
              <a:avLst/>
            </a:prstGeom>
            <a:ln w="9525" cap="flat" cmpd="sng">
              <a:solidFill>
                <a:schemeClr val="tx1"/>
              </a:solidFill>
              <a:prstDash val="solid"/>
              <a:headEnd type="none" w="med" len="med"/>
              <a:tailEnd type="none" w="med" len="med"/>
            </a:ln>
          </p:spPr>
        </p:sp>
        <p:sp>
          <p:nvSpPr>
            <p:cNvPr id="26656" name="Text Box 41"/>
            <p:cNvSpPr txBox="1"/>
            <p:nvPr/>
          </p:nvSpPr>
          <p:spPr>
            <a:xfrm>
              <a:off x="1440" y="3810"/>
              <a:ext cx="480" cy="231"/>
            </a:xfrm>
            <a:prstGeom prst="rect">
              <a:avLst/>
            </a:prstGeom>
            <a:noFill/>
            <a:ln w="9525">
              <a:noFill/>
            </a:ln>
          </p:spPr>
          <p:txBody>
            <a:bodyPr>
              <a:spAutoFit/>
            </a:bodyPr>
            <a:p>
              <a:pPr algn="l" eaLnBrk="0" hangingPunct="0">
                <a:spcBef>
                  <a:spcPct val="50000"/>
                </a:spcBef>
              </a:pPr>
              <a:r>
                <a:rPr lang="en-US" altLang="zh-CN" sz="1800" dirty="0">
                  <a:latin typeface="Times New Roman" panose="02020603050405020304" pitchFamily="18" charset="0"/>
                  <a:ea typeface="SimSun" panose="02010600030101010101" pitchFamily="2" charset="-122"/>
                </a:rPr>
                <a:t>Step 4</a:t>
              </a:r>
              <a:endParaRPr lang="en-US" altLang="zh-CN" dirty="0">
                <a:latin typeface="Times New Roman" panose="02020603050405020304" pitchFamily="18" charset="0"/>
                <a:ea typeface="SimSun" panose="02010600030101010101" pitchFamily="2" charset="-122"/>
              </a:endParaRPr>
            </a:p>
          </p:txBody>
        </p:sp>
        <p:sp>
          <p:nvSpPr>
            <p:cNvPr id="26657" name="Line 42"/>
            <p:cNvSpPr/>
            <p:nvPr/>
          </p:nvSpPr>
          <p:spPr>
            <a:xfrm flipH="1">
              <a:off x="2064" y="3744"/>
              <a:ext cx="0" cy="96"/>
            </a:xfrm>
            <a:prstGeom prst="line">
              <a:avLst/>
            </a:prstGeom>
            <a:ln w="9525" cap="flat" cmpd="sng">
              <a:solidFill>
                <a:schemeClr val="tx1"/>
              </a:solidFill>
              <a:prstDash val="solid"/>
              <a:headEnd type="none" w="med" len="med"/>
              <a:tailEnd type="none" w="med" len="med"/>
            </a:ln>
          </p:spPr>
        </p:sp>
        <p:sp>
          <p:nvSpPr>
            <p:cNvPr id="26658" name="Text Box 43"/>
            <p:cNvSpPr txBox="1"/>
            <p:nvPr/>
          </p:nvSpPr>
          <p:spPr>
            <a:xfrm>
              <a:off x="1968" y="3801"/>
              <a:ext cx="480" cy="231"/>
            </a:xfrm>
            <a:prstGeom prst="rect">
              <a:avLst/>
            </a:prstGeom>
            <a:noFill/>
            <a:ln w="9525">
              <a:noFill/>
            </a:ln>
          </p:spPr>
          <p:txBody>
            <a:bodyPr>
              <a:spAutoFit/>
            </a:bodyPr>
            <a:p>
              <a:pPr algn="l" eaLnBrk="0" hangingPunct="0">
                <a:spcBef>
                  <a:spcPct val="50000"/>
                </a:spcBef>
              </a:pPr>
              <a:r>
                <a:rPr lang="en-US" altLang="zh-CN" sz="1800" dirty="0">
                  <a:latin typeface="Times New Roman" panose="02020603050405020304" pitchFamily="18" charset="0"/>
                  <a:ea typeface="SimSun" panose="02010600030101010101" pitchFamily="2" charset="-122"/>
                </a:rPr>
                <a:t>Step 3</a:t>
              </a:r>
              <a:endParaRPr lang="en-US" altLang="zh-CN" dirty="0">
                <a:latin typeface="Times New Roman" panose="02020603050405020304" pitchFamily="18" charset="0"/>
                <a:ea typeface="SimSun" panose="02010600030101010101" pitchFamily="2" charset="-122"/>
              </a:endParaRPr>
            </a:p>
          </p:txBody>
        </p:sp>
        <p:sp>
          <p:nvSpPr>
            <p:cNvPr id="26659" name="Line 44"/>
            <p:cNvSpPr/>
            <p:nvPr/>
          </p:nvSpPr>
          <p:spPr>
            <a:xfrm flipH="1">
              <a:off x="2592" y="3744"/>
              <a:ext cx="0" cy="96"/>
            </a:xfrm>
            <a:prstGeom prst="line">
              <a:avLst/>
            </a:prstGeom>
            <a:ln w="9525" cap="flat" cmpd="sng">
              <a:solidFill>
                <a:schemeClr val="tx1"/>
              </a:solidFill>
              <a:prstDash val="solid"/>
              <a:headEnd type="none" w="med" len="med"/>
              <a:tailEnd type="none" w="med" len="med"/>
            </a:ln>
          </p:spPr>
        </p:sp>
        <p:sp>
          <p:nvSpPr>
            <p:cNvPr id="26660" name="Text Box 45"/>
            <p:cNvSpPr txBox="1"/>
            <p:nvPr/>
          </p:nvSpPr>
          <p:spPr>
            <a:xfrm>
              <a:off x="2496" y="3801"/>
              <a:ext cx="480" cy="231"/>
            </a:xfrm>
            <a:prstGeom prst="rect">
              <a:avLst/>
            </a:prstGeom>
            <a:noFill/>
            <a:ln w="9525">
              <a:noFill/>
            </a:ln>
          </p:spPr>
          <p:txBody>
            <a:bodyPr>
              <a:spAutoFit/>
            </a:bodyPr>
            <a:p>
              <a:pPr algn="l" eaLnBrk="0" hangingPunct="0">
                <a:spcBef>
                  <a:spcPct val="50000"/>
                </a:spcBef>
              </a:pPr>
              <a:r>
                <a:rPr lang="en-US" altLang="zh-CN" sz="1800" dirty="0">
                  <a:latin typeface="Times New Roman" panose="02020603050405020304" pitchFamily="18" charset="0"/>
                  <a:ea typeface="SimSun" panose="02010600030101010101" pitchFamily="2" charset="-122"/>
                </a:rPr>
                <a:t>Step 2</a:t>
              </a:r>
              <a:endParaRPr lang="en-US" altLang="zh-CN" dirty="0">
                <a:latin typeface="Times New Roman" panose="02020603050405020304" pitchFamily="18" charset="0"/>
                <a:ea typeface="SimSun" panose="02010600030101010101" pitchFamily="2" charset="-122"/>
              </a:endParaRPr>
            </a:p>
          </p:txBody>
        </p:sp>
        <p:sp>
          <p:nvSpPr>
            <p:cNvPr id="26661" name="Line 46"/>
            <p:cNvSpPr/>
            <p:nvPr/>
          </p:nvSpPr>
          <p:spPr>
            <a:xfrm flipH="1">
              <a:off x="3072" y="3744"/>
              <a:ext cx="0" cy="96"/>
            </a:xfrm>
            <a:prstGeom prst="line">
              <a:avLst/>
            </a:prstGeom>
            <a:ln w="9525" cap="flat" cmpd="sng">
              <a:solidFill>
                <a:schemeClr val="tx1"/>
              </a:solidFill>
              <a:prstDash val="solid"/>
              <a:headEnd type="none" w="med" len="med"/>
              <a:tailEnd type="none" w="med" len="med"/>
            </a:ln>
          </p:spPr>
        </p:sp>
        <p:sp>
          <p:nvSpPr>
            <p:cNvPr id="26662" name="Text Box 47"/>
            <p:cNvSpPr txBox="1"/>
            <p:nvPr/>
          </p:nvSpPr>
          <p:spPr>
            <a:xfrm>
              <a:off x="2976" y="3801"/>
              <a:ext cx="480" cy="231"/>
            </a:xfrm>
            <a:prstGeom prst="rect">
              <a:avLst/>
            </a:prstGeom>
            <a:noFill/>
            <a:ln w="9525">
              <a:noFill/>
            </a:ln>
          </p:spPr>
          <p:txBody>
            <a:bodyPr>
              <a:spAutoFit/>
            </a:bodyPr>
            <a:p>
              <a:pPr algn="l" eaLnBrk="0" hangingPunct="0">
                <a:spcBef>
                  <a:spcPct val="50000"/>
                </a:spcBef>
              </a:pPr>
              <a:r>
                <a:rPr lang="en-US" altLang="zh-CN" sz="1800" dirty="0">
                  <a:latin typeface="Times New Roman" panose="02020603050405020304" pitchFamily="18" charset="0"/>
                  <a:ea typeface="SimSun" panose="02010600030101010101" pitchFamily="2" charset="-122"/>
                </a:rPr>
                <a:t>Step 1</a:t>
              </a:r>
              <a:endParaRPr lang="en-US" altLang="zh-CN" dirty="0">
                <a:latin typeface="Times New Roman" panose="02020603050405020304" pitchFamily="18" charset="0"/>
                <a:ea typeface="SimSun" panose="02010600030101010101" pitchFamily="2" charset="-122"/>
              </a:endParaRPr>
            </a:p>
          </p:txBody>
        </p:sp>
        <p:sp>
          <p:nvSpPr>
            <p:cNvPr id="26663" name="Line 48"/>
            <p:cNvSpPr/>
            <p:nvPr/>
          </p:nvSpPr>
          <p:spPr>
            <a:xfrm flipH="1">
              <a:off x="3552" y="3744"/>
              <a:ext cx="0" cy="96"/>
            </a:xfrm>
            <a:prstGeom prst="line">
              <a:avLst/>
            </a:prstGeom>
            <a:ln w="9525" cap="flat" cmpd="sng">
              <a:solidFill>
                <a:schemeClr val="tx1"/>
              </a:solidFill>
              <a:prstDash val="solid"/>
              <a:headEnd type="none" w="med" len="med"/>
              <a:tailEnd type="none" w="med" len="med"/>
            </a:ln>
          </p:spPr>
        </p:sp>
        <p:sp>
          <p:nvSpPr>
            <p:cNvPr id="26664" name="Text Box 49"/>
            <p:cNvSpPr txBox="1"/>
            <p:nvPr/>
          </p:nvSpPr>
          <p:spPr>
            <a:xfrm>
              <a:off x="3456" y="3801"/>
              <a:ext cx="480" cy="231"/>
            </a:xfrm>
            <a:prstGeom prst="rect">
              <a:avLst/>
            </a:prstGeom>
            <a:noFill/>
            <a:ln w="9525">
              <a:noFill/>
            </a:ln>
          </p:spPr>
          <p:txBody>
            <a:bodyPr>
              <a:spAutoFit/>
            </a:bodyPr>
            <a:p>
              <a:pPr algn="l" eaLnBrk="0" hangingPunct="0">
                <a:spcBef>
                  <a:spcPct val="50000"/>
                </a:spcBef>
              </a:pPr>
              <a:r>
                <a:rPr lang="en-US" altLang="zh-CN" sz="1800" dirty="0">
                  <a:latin typeface="Times New Roman" panose="02020603050405020304" pitchFamily="18" charset="0"/>
                  <a:ea typeface="SimSun" panose="02010600030101010101" pitchFamily="2" charset="-122"/>
                </a:rPr>
                <a:t>Step 0</a:t>
              </a:r>
              <a:endParaRPr lang="en-US" altLang="zh-CN" dirty="0">
                <a:latin typeface="Times New Roman" panose="02020603050405020304" pitchFamily="18" charset="0"/>
                <a:ea typeface="SimSun" panose="02010600030101010101" pitchFamily="2" charset="-122"/>
              </a:endParaRPr>
            </a:p>
          </p:txBody>
        </p:sp>
        <p:sp>
          <p:nvSpPr>
            <p:cNvPr id="26665" name="Line 50"/>
            <p:cNvSpPr/>
            <p:nvPr/>
          </p:nvSpPr>
          <p:spPr>
            <a:xfrm>
              <a:off x="1680" y="2352"/>
              <a:ext cx="192" cy="96"/>
            </a:xfrm>
            <a:prstGeom prst="line">
              <a:avLst/>
            </a:prstGeom>
            <a:ln w="9525" cap="flat" cmpd="sng">
              <a:solidFill>
                <a:schemeClr val="tx1"/>
              </a:solidFill>
              <a:prstDash val="solid"/>
              <a:headEnd type="none" w="med" len="med"/>
              <a:tailEnd type="none" w="med" len="med"/>
            </a:ln>
          </p:spPr>
        </p:sp>
        <p:sp>
          <p:nvSpPr>
            <p:cNvPr id="26666" name="Line 51"/>
            <p:cNvSpPr/>
            <p:nvPr/>
          </p:nvSpPr>
          <p:spPr>
            <a:xfrm flipV="1">
              <a:off x="1680" y="2448"/>
              <a:ext cx="192" cy="192"/>
            </a:xfrm>
            <a:prstGeom prst="line">
              <a:avLst/>
            </a:prstGeom>
            <a:ln w="9525" cap="flat" cmpd="sng">
              <a:solidFill>
                <a:schemeClr val="tx1"/>
              </a:solidFill>
              <a:prstDash val="solid"/>
              <a:headEnd type="none" w="med" len="med"/>
              <a:tailEnd type="none" w="med" len="med"/>
            </a:ln>
          </p:spPr>
        </p:sp>
        <p:sp>
          <p:nvSpPr>
            <p:cNvPr id="26667" name="Line 52"/>
            <p:cNvSpPr/>
            <p:nvPr/>
          </p:nvSpPr>
          <p:spPr>
            <a:xfrm>
              <a:off x="1680" y="3216"/>
              <a:ext cx="720" cy="144"/>
            </a:xfrm>
            <a:prstGeom prst="line">
              <a:avLst/>
            </a:prstGeom>
            <a:ln w="9525" cap="flat" cmpd="sng">
              <a:solidFill>
                <a:schemeClr val="tx1"/>
              </a:solidFill>
              <a:prstDash val="solid"/>
              <a:headEnd type="none" w="med" len="med"/>
              <a:tailEnd type="none" w="med" len="med"/>
            </a:ln>
          </p:spPr>
        </p:sp>
        <p:sp>
          <p:nvSpPr>
            <p:cNvPr id="26668" name="Line 53"/>
            <p:cNvSpPr/>
            <p:nvPr/>
          </p:nvSpPr>
          <p:spPr>
            <a:xfrm flipV="1">
              <a:off x="1680" y="3360"/>
              <a:ext cx="720" cy="144"/>
            </a:xfrm>
            <a:prstGeom prst="line">
              <a:avLst/>
            </a:prstGeom>
            <a:ln w="9525" cap="flat" cmpd="sng">
              <a:solidFill>
                <a:schemeClr val="tx1"/>
              </a:solidFill>
              <a:prstDash val="solid"/>
              <a:headEnd type="none" w="med" len="med"/>
              <a:tailEnd type="none" w="med" len="med"/>
            </a:ln>
          </p:spPr>
        </p:sp>
        <p:sp>
          <p:nvSpPr>
            <p:cNvPr id="26669" name="Line 54"/>
            <p:cNvSpPr/>
            <p:nvPr/>
          </p:nvSpPr>
          <p:spPr>
            <a:xfrm>
              <a:off x="1680" y="2976"/>
              <a:ext cx="1104" cy="96"/>
            </a:xfrm>
            <a:prstGeom prst="line">
              <a:avLst/>
            </a:prstGeom>
            <a:ln w="9525" cap="flat" cmpd="sng">
              <a:solidFill>
                <a:schemeClr val="tx1"/>
              </a:solidFill>
              <a:prstDash val="solid"/>
              <a:headEnd type="none" w="med" len="med"/>
              <a:tailEnd type="none" w="med" len="med"/>
            </a:ln>
          </p:spPr>
        </p:sp>
        <p:sp>
          <p:nvSpPr>
            <p:cNvPr id="26670" name="Line 55"/>
            <p:cNvSpPr/>
            <p:nvPr/>
          </p:nvSpPr>
          <p:spPr>
            <a:xfrm flipV="1">
              <a:off x="2688" y="3072"/>
              <a:ext cx="96" cy="192"/>
            </a:xfrm>
            <a:prstGeom prst="line">
              <a:avLst/>
            </a:prstGeom>
            <a:ln w="9525" cap="flat" cmpd="sng">
              <a:solidFill>
                <a:schemeClr val="tx1"/>
              </a:solidFill>
              <a:prstDash val="solid"/>
              <a:headEnd type="none" w="med" len="med"/>
              <a:tailEnd type="none" w="med" len="med"/>
            </a:ln>
          </p:spPr>
        </p:sp>
        <p:sp>
          <p:nvSpPr>
            <p:cNvPr id="26671" name="Line 56"/>
            <p:cNvSpPr/>
            <p:nvPr/>
          </p:nvSpPr>
          <p:spPr>
            <a:xfrm>
              <a:off x="2400" y="2496"/>
              <a:ext cx="720" cy="240"/>
            </a:xfrm>
            <a:prstGeom prst="line">
              <a:avLst/>
            </a:prstGeom>
            <a:ln w="9525" cap="flat" cmpd="sng">
              <a:solidFill>
                <a:schemeClr val="tx1"/>
              </a:solidFill>
              <a:prstDash val="solid"/>
              <a:headEnd type="none" w="med" len="med"/>
              <a:tailEnd type="none" w="med" len="med"/>
            </a:ln>
          </p:spPr>
        </p:sp>
        <p:sp>
          <p:nvSpPr>
            <p:cNvPr id="26672" name="Line 57"/>
            <p:cNvSpPr/>
            <p:nvPr/>
          </p:nvSpPr>
          <p:spPr>
            <a:xfrm flipV="1">
              <a:off x="3072" y="2736"/>
              <a:ext cx="48" cy="192"/>
            </a:xfrm>
            <a:prstGeom prst="line">
              <a:avLst/>
            </a:prstGeom>
            <a:ln w="9525" cap="flat" cmpd="sng">
              <a:solidFill>
                <a:schemeClr val="tx1"/>
              </a:solidFill>
              <a:prstDash val="solid"/>
              <a:headEnd type="none" w="med" len="med"/>
              <a:tailEnd type="none" w="med" len="med"/>
            </a:ln>
          </p:spPr>
        </p:sp>
        <p:sp>
          <p:nvSpPr>
            <p:cNvPr id="26673" name="Text Box 58"/>
            <p:cNvSpPr txBox="1"/>
            <p:nvPr/>
          </p:nvSpPr>
          <p:spPr>
            <a:xfrm>
              <a:off x="4305" y="1824"/>
              <a:ext cx="1277" cy="518"/>
            </a:xfrm>
            <a:prstGeom prst="rect">
              <a:avLst/>
            </a:prstGeom>
            <a:noFill/>
            <a:ln w="9525">
              <a:noFill/>
            </a:ln>
          </p:spPr>
          <p:txBody>
            <a:bodyPr wrap="none">
              <a:spAutoFit/>
            </a:bodyPr>
            <a:p>
              <a:pPr eaLnBrk="0" hangingPunct="0"/>
              <a:r>
                <a:rPr lang="en-US" altLang="zh-CN" b="1" dirty="0">
                  <a:latin typeface="Times New Roman" panose="02020603050405020304" pitchFamily="18" charset="0"/>
                  <a:ea typeface="SimSun" panose="02010600030101010101" pitchFamily="2" charset="-122"/>
                </a:rPr>
                <a:t>agglomerative</a:t>
              </a:r>
              <a:endParaRPr lang="en-US" altLang="zh-CN" b="1" dirty="0">
                <a:latin typeface="Times New Roman" panose="02020603050405020304" pitchFamily="18" charset="0"/>
                <a:ea typeface="SimSun" panose="02010600030101010101" pitchFamily="2" charset="-122"/>
              </a:endParaRPr>
            </a:p>
            <a:p>
              <a:pPr eaLnBrk="0" hangingPunct="0"/>
              <a:r>
                <a:rPr lang="en-US" altLang="zh-CN" b="1" dirty="0">
                  <a:latin typeface="Times New Roman" panose="02020603050405020304" pitchFamily="18" charset="0"/>
                  <a:ea typeface="SimSun" panose="02010600030101010101" pitchFamily="2" charset="-122"/>
                </a:rPr>
                <a:t>(AGNES)</a:t>
              </a:r>
              <a:endParaRPr lang="en-US" altLang="zh-CN" b="1" dirty="0">
                <a:latin typeface="Times New Roman" panose="02020603050405020304" pitchFamily="18" charset="0"/>
                <a:ea typeface="SimSun" panose="02010600030101010101" pitchFamily="2" charset="-122"/>
              </a:endParaRPr>
            </a:p>
          </p:txBody>
        </p:sp>
        <p:sp>
          <p:nvSpPr>
            <p:cNvPr id="26674" name="Text Box 59"/>
            <p:cNvSpPr txBox="1"/>
            <p:nvPr/>
          </p:nvSpPr>
          <p:spPr>
            <a:xfrm>
              <a:off x="4401" y="3552"/>
              <a:ext cx="875" cy="518"/>
            </a:xfrm>
            <a:prstGeom prst="rect">
              <a:avLst/>
            </a:prstGeom>
            <a:noFill/>
            <a:ln w="9525">
              <a:noFill/>
            </a:ln>
          </p:spPr>
          <p:txBody>
            <a:bodyPr wrap="none">
              <a:spAutoFit/>
            </a:bodyPr>
            <a:p>
              <a:pPr eaLnBrk="0" hangingPunct="0"/>
              <a:r>
                <a:rPr lang="en-US" altLang="zh-CN" b="1" dirty="0">
                  <a:latin typeface="Times New Roman" panose="02020603050405020304" pitchFamily="18" charset="0"/>
                  <a:ea typeface="SimSun" panose="02010600030101010101" pitchFamily="2" charset="-122"/>
                </a:rPr>
                <a:t>divisive</a:t>
              </a:r>
              <a:endParaRPr lang="en-US" altLang="zh-CN" b="1" dirty="0">
                <a:latin typeface="Times New Roman" panose="02020603050405020304" pitchFamily="18" charset="0"/>
                <a:ea typeface="SimSun" panose="02010600030101010101" pitchFamily="2" charset="-122"/>
              </a:endParaRPr>
            </a:p>
            <a:p>
              <a:pPr eaLnBrk="0" hangingPunct="0"/>
              <a:r>
                <a:rPr lang="en-US" altLang="zh-CN" b="1" dirty="0">
                  <a:latin typeface="Times New Roman" panose="02020603050405020304" pitchFamily="18" charset="0"/>
                  <a:ea typeface="SimSun" panose="02010600030101010101" pitchFamily="2" charset="-122"/>
                </a:rPr>
                <a:t>(DIANA)</a:t>
              </a:r>
              <a:endParaRPr lang="en-US" altLang="zh-CN" dirty="0">
                <a:latin typeface="Times New Roman" panose="02020603050405020304" pitchFamily="18" charset="0"/>
                <a:ea typeface="SimSun" panose="02010600030101010101" pitchFamily="2" charset="-122"/>
              </a:endParaRPr>
            </a:p>
          </p:txBody>
        </p:sp>
      </p:grpSp>
      <p:sp>
        <p:nvSpPr>
          <p:cNvPr id="26629" name="Slide Number Placeholder 62"/>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title"/>
          </p:nvPr>
        </p:nvSpPr>
        <p:spPr>
          <a:xfrm>
            <a:off x="1295400" y="304800"/>
            <a:ext cx="7162800" cy="762000"/>
          </a:xfrm>
        </p:spPr>
        <p:txBody>
          <a:bodyPr vert="horz" wrap="square" lIns="91440" tIns="45720" rIns="91440" bIns="45720" anchor="b" anchorCtr="0"/>
          <a:p>
            <a:pPr eaLnBrk="1" hangingPunct="1"/>
            <a:r>
              <a:rPr lang="en-US" altLang="zh-CN" sz="3200" dirty="0">
                <a:ea typeface="SimSun" panose="02010600030101010101" pitchFamily="2" charset="-122"/>
              </a:rPr>
              <a:t>AGNES (Agglomerative Nesting)</a:t>
            </a:r>
            <a:endParaRPr lang="en-US" altLang="zh-CN" sz="2400" dirty="0">
              <a:ea typeface="SimSun" panose="02010600030101010101" pitchFamily="2" charset="-122"/>
            </a:endParaRPr>
          </a:p>
        </p:txBody>
      </p:sp>
      <p:sp>
        <p:nvSpPr>
          <p:cNvPr id="27651" name="Rectangle 3"/>
          <p:cNvSpPr>
            <a:spLocks noGrp="1"/>
          </p:cNvSpPr>
          <p:nvPr>
            <p:ph idx="1"/>
          </p:nvPr>
        </p:nvSpPr>
        <p:spPr>
          <a:xfrm>
            <a:off x="304800" y="1371600"/>
            <a:ext cx="8610600" cy="2895600"/>
          </a:xfrm>
        </p:spPr>
        <p:txBody>
          <a:bodyPr vert="horz" wrap="square" lIns="91440" tIns="45720" rIns="91440" bIns="45720" anchor="t" anchorCtr="0"/>
          <a:p>
            <a:pPr eaLnBrk="1" hangingPunct="1">
              <a:lnSpc>
                <a:spcPct val="80000"/>
              </a:lnSpc>
              <a:spcBef>
                <a:spcPct val="50000"/>
              </a:spcBef>
              <a:buClr>
                <a:schemeClr val="tx1"/>
              </a:buClr>
            </a:pPr>
            <a:r>
              <a:rPr lang="en-US" altLang="zh-CN" sz="2400" dirty="0">
                <a:ea typeface="SimSun" panose="02010600030101010101" pitchFamily="2" charset="-122"/>
              </a:rPr>
              <a:t>Introduced in Kaufmann and Rousseeuw (1990)</a:t>
            </a:r>
            <a:endParaRPr lang="en-US" altLang="zh-CN" sz="2400" dirty="0">
              <a:ea typeface="SimSun" panose="02010600030101010101" pitchFamily="2" charset="-122"/>
            </a:endParaRPr>
          </a:p>
          <a:p>
            <a:pPr eaLnBrk="1" hangingPunct="1">
              <a:lnSpc>
                <a:spcPct val="80000"/>
              </a:lnSpc>
              <a:spcBef>
                <a:spcPct val="50000"/>
              </a:spcBef>
              <a:buClr>
                <a:schemeClr val="tx1"/>
              </a:buClr>
            </a:pPr>
            <a:r>
              <a:rPr lang="en-US" altLang="zh-CN" sz="2400" dirty="0">
                <a:ea typeface="SimSun" panose="02010600030101010101" pitchFamily="2" charset="-122"/>
              </a:rPr>
              <a:t>Implemented in statistical packages, e.g., Splus</a:t>
            </a:r>
            <a:endParaRPr lang="en-US" altLang="zh-CN" sz="2400" dirty="0">
              <a:ea typeface="SimSun" panose="02010600030101010101" pitchFamily="2" charset="-122"/>
            </a:endParaRPr>
          </a:p>
          <a:p>
            <a:pPr eaLnBrk="1" hangingPunct="1">
              <a:lnSpc>
                <a:spcPct val="80000"/>
              </a:lnSpc>
              <a:spcBef>
                <a:spcPct val="50000"/>
              </a:spcBef>
              <a:buClr>
                <a:schemeClr val="tx1"/>
              </a:buClr>
            </a:pPr>
            <a:r>
              <a:rPr lang="en-US" altLang="zh-CN" sz="2400" dirty="0">
                <a:ea typeface="SimSun" panose="02010600030101010101" pitchFamily="2" charset="-122"/>
              </a:rPr>
              <a:t>Use the </a:t>
            </a:r>
            <a:r>
              <a:rPr lang="en-US" altLang="zh-CN" sz="2400" b="1" dirty="0">
                <a:ea typeface="SimSun" panose="02010600030101010101" pitchFamily="2" charset="-122"/>
              </a:rPr>
              <a:t>single-link</a:t>
            </a:r>
            <a:r>
              <a:rPr lang="en-US" altLang="zh-CN" sz="2400" dirty="0">
                <a:ea typeface="SimSun" panose="02010600030101010101" pitchFamily="2" charset="-122"/>
              </a:rPr>
              <a:t> method and the dissimilarity matrix  </a:t>
            </a:r>
            <a:endParaRPr lang="en-US" altLang="zh-CN" sz="2400" dirty="0">
              <a:ea typeface="SimSun" panose="02010600030101010101" pitchFamily="2" charset="-122"/>
            </a:endParaRPr>
          </a:p>
          <a:p>
            <a:pPr eaLnBrk="1" hangingPunct="1">
              <a:lnSpc>
                <a:spcPct val="80000"/>
              </a:lnSpc>
              <a:spcBef>
                <a:spcPct val="50000"/>
              </a:spcBef>
              <a:buClr>
                <a:schemeClr val="tx1"/>
              </a:buClr>
            </a:pPr>
            <a:r>
              <a:rPr lang="en-US" altLang="zh-CN" sz="2400" dirty="0">
                <a:ea typeface="SimSun" panose="02010600030101010101" pitchFamily="2" charset="-122"/>
              </a:rPr>
              <a:t>Merge nodes that have the least dissimilarity</a:t>
            </a:r>
            <a:endParaRPr lang="en-US" altLang="zh-CN" sz="2400" dirty="0">
              <a:ea typeface="SimSun" panose="02010600030101010101" pitchFamily="2" charset="-122"/>
            </a:endParaRPr>
          </a:p>
          <a:p>
            <a:pPr eaLnBrk="1" hangingPunct="1">
              <a:lnSpc>
                <a:spcPct val="80000"/>
              </a:lnSpc>
              <a:spcBef>
                <a:spcPct val="50000"/>
              </a:spcBef>
              <a:buClr>
                <a:schemeClr val="tx1"/>
              </a:buClr>
            </a:pPr>
            <a:r>
              <a:rPr lang="en-US" altLang="zh-CN" sz="2400" dirty="0">
                <a:ea typeface="SimSun" panose="02010600030101010101" pitchFamily="2" charset="-122"/>
              </a:rPr>
              <a:t>Go on in a non-descending fashion</a:t>
            </a:r>
            <a:endParaRPr lang="en-US" altLang="zh-CN" sz="2400" dirty="0">
              <a:ea typeface="SimSun" panose="02010600030101010101" pitchFamily="2" charset="-122"/>
            </a:endParaRPr>
          </a:p>
          <a:p>
            <a:pPr eaLnBrk="1" hangingPunct="1">
              <a:lnSpc>
                <a:spcPct val="80000"/>
              </a:lnSpc>
              <a:spcBef>
                <a:spcPct val="50000"/>
              </a:spcBef>
              <a:buClr>
                <a:schemeClr val="tx1"/>
              </a:buClr>
            </a:pPr>
            <a:r>
              <a:rPr lang="en-US" altLang="zh-CN" sz="2400" dirty="0">
                <a:ea typeface="SimSun" panose="02010600030101010101" pitchFamily="2" charset="-122"/>
              </a:rPr>
              <a:t>Eventually all nodes belong to the same cluster</a:t>
            </a:r>
            <a:endParaRPr lang="en-US" altLang="zh-CN" sz="2400" dirty="0">
              <a:ea typeface="SimSun" panose="02010600030101010101" pitchFamily="2" charset="-122"/>
            </a:endParaRPr>
          </a:p>
        </p:txBody>
      </p:sp>
      <p:grpSp>
        <p:nvGrpSpPr>
          <p:cNvPr id="27652" name="Group 4"/>
          <p:cNvGrpSpPr/>
          <p:nvPr/>
        </p:nvGrpSpPr>
        <p:grpSpPr>
          <a:xfrm>
            <a:off x="533400" y="4343400"/>
            <a:ext cx="2209800" cy="2017713"/>
            <a:chOff x="384" y="2496"/>
            <a:chExt cx="1392" cy="1271"/>
          </a:xfrm>
        </p:grpSpPr>
        <p:graphicFrame>
          <p:nvGraphicFramePr>
            <p:cNvPr id="27666" name="Object 1026"/>
            <p:cNvGraphicFramePr>
              <a:graphicFrameLocks noChangeAspect="1"/>
            </p:cNvGraphicFramePr>
            <p:nvPr/>
          </p:nvGraphicFramePr>
          <p:xfrm>
            <a:off x="384" y="2496"/>
            <a:ext cx="1392" cy="1271"/>
          </p:xfrm>
          <a:graphic>
            <a:graphicData uri="http://schemas.openxmlformats.org/presentationml/2006/ole">
              <mc:AlternateContent xmlns:mc="http://schemas.openxmlformats.org/markup-compatibility/2006">
                <mc:Choice xmlns:v="urn:schemas-microsoft-com:vml" Requires="v">
                  <p:oleObj spid="_x0000_s3086" name="" r:id="rId1" imgW="2618740" imgH="2472055" progId="Excel.Sheet.8">
                    <p:embed/>
                  </p:oleObj>
                </mc:Choice>
                <mc:Fallback>
                  <p:oleObj name="" r:id="rId1" imgW="2618740" imgH="2472055" progId="Excel.Sheet.8">
                    <p:embed/>
                    <p:pic>
                      <p:nvPicPr>
                        <p:cNvPr id="0" name="Picture 3085"/>
                        <p:cNvPicPr/>
                        <p:nvPr/>
                      </p:nvPicPr>
                      <p:blipFill>
                        <a:blip r:embed="rId2"/>
                        <a:stretch>
                          <a:fillRect/>
                        </a:stretch>
                      </p:blipFill>
                      <p:spPr>
                        <a:xfrm>
                          <a:off x="384" y="2496"/>
                          <a:ext cx="1392" cy="1271"/>
                        </a:xfrm>
                        <a:prstGeom prst="rect">
                          <a:avLst/>
                        </a:prstGeom>
                        <a:noFill/>
                        <a:ln w="38100">
                          <a:noFill/>
                          <a:miter/>
                        </a:ln>
                      </p:spPr>
                    </p:pic>
                  </p:oleObj>
                </mc:Fallback>
              </mc:AlternateContent>
            </a:graphicData>
          </a:graphic>
        </p:graphicFrame>
        <p:sp>
          <p:nvSpPr>
            <p:cNvPr id="27667" name="Oval 6"/>
            <p:cNvSpPr/>
            <p:nvPr/>
          </p:nvSpPr>
          <p:spPr>
            <a:xfrm>
              <a:off x="816" y="2736"/>
              <a:ext cx="288" cy="288"/>
            </a:xfrm>
            <a:prstGeom prst="ellipse">
              <a:avLst/>
            </a:prstGeom>
            <a:noFill/>
            <a:ln w="28575" cap="flat" cmpd="sng">
              <a:solidFill>
                <a:schemeClr val="tx1"/>
              </a:solidFill>
              <a:prstDash val="lgDash"/>
              <a:headEnd type="none" w="med" len="med"/>
              <a:tailEnd type="none" w="med" len="med"/>
            </a:ln>
          </p:spPr>
          <p:txBody>
            <a:bodyPr wrap="none" anchor="ctr" anchorCtr="0">
              <a:spAutoFit/>
            </a:bodyPr>
            <a:p>
              <a:endParaRPr dirty="0">
                <a:latin typeface="Tahoma" panose="020B0604030504040204" pitchFamily="34" charset="0"/>
              </a:endParaRPr>
            </a:p>
          </p:txBody>
        </p:sp>
        <p:sp>
          <p:nvSpPr>
            <p:cNvPr id="27668" name="Oval 7"/>
            <p:cNvSpPr/>
            <p:nvPr/>
          </p:nvSpPr>
          <p:spPr>
            <a:xfrm>
              <a:off x="816" y="3024"/>
              <a:ext cx="288" cy="288"/>
            </a:xfrm>
            <a:prstGeom prst="ellipse">
              <a:avLst/>
            </a:prstGeom>
            <a:noFill/>
            <a:ln w="28575" cap="flat" cmpd="sng">
              <a:solidFill>
                <a:schemeClr val="tx1"/>
              </a:solidFill>
              <a:prstDash val="lgDash"/>
              <a:headEnd type="none" w="med" len="med"/>
              <a:tailEnd type="none" w="med" len="med"/>
            </a:ln>
          </p:spPr>
          <p:txBody>
            <a:bodyPr wrap="none" anchor="ctr" anchorCtr="0">
              <a:spAutoFit/>
            </a:bodyPr>
            <a:p>
              <a:endParaRPr dirty="0">
                <a:latin typeface="Tahoma" panose="020B0604030504040204" pitchFamily="34" charset="0"/>
              </a:endParaRPr>
            </a:p>
          </p:txBody>
        </p:sp>
        <p:sp>
          <p:nvSpPr>
            <p:cNvPr id="27669" name="Oval 8"/>
            <p:cNvSpPr/>
            <p:nvPr/>
          </p:nvSpPr>
          <p:spPr>
            <a:xfrm>
              <a:off x="1392" y="3024"/>
              <a:ext cx="144" cy="288"/>
            </a:xfrm>
            <a:prstGeom prst="ellipse">
              <a:avLst/>
            </a:prstGeom>
            <a:noFill/>
            <a:ln w="28575" cap="flat" cmpd="sng">
              <a:solidFill>
                <a:schemeClr val="tx1"/>
              </a:solidFill>
              <a:prstDash val="lgDash"/>
              <a:headEnd type="none" w="med" len="med"/>
              <a:tailEnd type="none" w="med" len="med"/>
            </a:ln>
          </p:spPr>
          <p:txBody>
            <a:bodyPr anchor="ctr" anchorCtr="0">
              <a:spAutoFit/>
            </a:bodyPr>
            <a:p>
              <a:endParaRPr dirty="0">
                <a:latin typeface="Tahoma" panose="020B0604030504040204" pitchFamily="34" charset="0"/>
              </a:endParaRPr>
            </a:p>
          </p:txBody>
        </p:sp>
      </p:grpSp>
      <p:grpSp>
        <p:nvGrpSpPr>
          <p:cNvPr id="27653" name="Group 9"/>
          <p:cNvGrpSpPr/>
          <p:nvPr/>
        </p:nvGrpSpPr>
        <p:grpSpPr>
          <a:xfrm>
            <a:off x="3505200" y="4343400"/>
            <a:ext cx="2209800" cy="2017713"/>
            <a:chOff x="1968" y="2496"/>
            <a:chExt cx="1392" cy="1271"/>
          </a:xfrm>
        </p:grpSpPr>
        <p:graphicFrame>
          <p:nvGraphicFramePr>
            <p:cNvPr id="27661" name="Object 1025"/>
            <p:cNvGraphicFramePr>
              <a:graphicFrameLocks noChangeAspect="1"/>
            </p:cNvGraphicFramePr>
            <p:nvPr/>
          </p:nvGraphicFramePr>
          <p:xfrm>
            <a:off x="1968" y="2496"/>
            <a:ext cx="1392" cy="1271"/>
          </p:xfrm>
          <a:graphic>
            <a:graphicData uri="http://schemas.openxmlformats.org/presentationml/2006/ole">
              <mc:AlternateContent xmlns:mc="http://schemas.openxmlformats.org/markup-compatibility/2006">
                <mc:Choice xmlns:v="urn:schemas-microsoft-com:vml" Requires="v">
                  <p:oleObj spid="_x0000_s3087" name="" r:id="rId3" imgW="2618740" imgH="2472055" progId="Excel.Sheet.8">
                    <p:embed/>
                  </p:oleObj>
                </mc:Choice>
                <mc:Fallback>
                  <p:oleObj name="" r:id="rId3" imgW="2618740" imgH="2472055" progId="Excel.Sheet.8">
                    <p:embed/>
                    <p:pic>
                      <p:nvPicPr>
                        <p:cNvPr id="0" name="Picture 3086"/>
                        <p:cNvPicPr/>
                        <p:nvPr/>
                      </p:nvPicPr>
                      <p:blipFill>
                        <a:blip r:embed="rId2"/>
                        <a:stretch>
                          <a:fillRect/>
                        </a:stretch>
                      </p:blipFill>
                      <p:spPr>
                        <a:xfrm>
                          <a:off x="1968" y="2496"/>
                          <a:ext cx="1392" cy="1271"/>
                        </a:xfrm>
                        <a:prstGeom prst="rect">
                          <a:avLst/>
                        </a:prstGeom>
                        <a:noFill/>
                        <a:ln w="38100">
                          <a:noFill/>
                          <a:miter/>
                        </a:ln>
                      </p:spPr>
                    </p:pic>
                  </p:oleObj>
                </mc:Fallback>
              </mc:AlternateContent>
            </a:graphicData>
          </a:graphic>
        </p:graphicFrame>
        <p:sp>
          <p:nvSpPr>
            <p:cNvPr id="27662" name="Oval 11"/>
            <p:cNvSpPr/>
            <p:nvPr/>
          </p:nvSpPr>
          <p:spPr>
            <a:xfrm>
              <a:off x="2736" y="3312"/>
              <a:ext cx="288" cy="192"/>
            </a:xfrm>
            <a:prstGeom prst="ellipse">
              <a:avLst/>
            </a:prstGeom>
            <a:noFill/>
            <a:ln w="28575" cap="flat" cmpd="sng">
              <a:solidFill>
                <a:schemeClr val="tx1"/>
              </a:solidFill>
              <a:prstDash val="lgDash"/>
              <a:headEnd type="none" w="med" len="med"/>
              <a:tailEnd type="none" w="med" len="med"/>
            </a:ln>
          </p:spPr>
          <p:txBody>
            <a:bodyPr wrap="none" anchor="ctr" anchorCtr="0">
              <a:spAutoFit/>
            </a:bodyPr>
            <a:p>
              <a:endParaRPr dirty="0">
                <a:latin typeface="Tahoma" panose="020B0604030504040204" pitchFamily="34" charset="0"/>
              </a:endParaRPr>
            </a:p>
          </p:txBody>
        </p:sp>
        <p:sp>
          <p:nvSpPr>
            <p:cNvPr id="27663" name="Oval 12"/>
            <p:cNvSpPr/>
            <p:nvPr/>
          </p:nvSpPr>
          <p:spPr>
            <a:xfrm>
              <a:off x="2256" y="2688"/>
              <a:ext cx="384" cy="384"/>
            </a:xfrm>
            <a:prstGeom prst="ellipse">
              <a:avLst/>
            </a:prstGeom>
            <a:noFill/>
            <a:ln w="28575" cap="flat" cmpd="sng">
              <a:solidFill>
                <a:schemeClr val="tx1"/>
              </a:solidFill>
              <a:prstDash val="lgDash"/>
              <a:headEnd type="none" w="med" len="med"/>
              <a:tailEnd type="none" w="med" len="med"/>
            </a:ln>
          </p:spPr>
          <p:txBody>
            <a:bodyPr anchor="ctr" anchorCtr="0">
              <a:spAutoFit/>
            </a:bodyPr>
            <a:p>
              <a:endParaRPr dirty="0">
                <a:latin typeface="Tahoma" panose="020B0604030504040204" pitchFamily="34" charset="0"/>
              </a:endParaRPr>
            </a:p>
          </p:txBody>
        </p:sp>
        <p:sp>
          <p:nvSpPr>
            <p:cNvPr id="27664" name="Oval 13"/>
            <p:cNvSpPr/>
            <p:nvPr/>
          </p:nvSpPr>
          <p:spPr>
            <a:xfrm>
              <a:off x="2352" y="3024"/>
              <a:ext cx="384" cy="240"/>
            </a:xfrm>
            <a:prstGeom prst="ellipse">
              <a:avLst/>
            </a:prstGeom>
            <a:noFill/>
            <a:ln w="28575" cap="flat" cmpd="sng">
              <a:solidFill>
                <a:schemeClr val="tx1"/>
              </a:solidFill>
              <a:prstDash val="lgDash"/>
              <a:headEnd type="none" w="med" len="med"/>
              <a:tailEnd type="none" w="med" len="med"/>
            </a:ln>
          </p:spPr>
          <p:txBody>
            <a:bodyPr anchor="ctr" anchorCtr="0">
              <a:spAutoFit/>
            </a:bodyPr>
            <a:p>
              <a:endParaRPr dirty="0">
                <a:latin typeface="Tahoma" panose="020B0604030504040204" pitchFamily="34" charset="0"/>
              </a:endParaRPr>
            </a:p>
          </p:txBody>
        </p:sp>
        <p:sp>
          <p:nvSpPr>
            <p:cNvPr id="27665" name="Oval 14"/>
            <p:cNvSpPr/>
            <p:nvPr/>
          </p:nvSpPr>
          <p:spPr>
            <a:xfrm>
              <a:off x="2832" y="3024"/>
              <a:ext cx="288" cy="288"/>
            </a:xfrm>
            <a:prstGeom prst="ellipse">
              <a:avLst/>
            </a:prstGeom>
            <a:noFill/>
            <a:ln w="28575" cap="flat" cmpd="sng">
              <a:solidFill>
                <a:schemeClr val="tx1"/>
              </a:solidFill>
              <a:prstDash val="lgDash"/>
              <a:headEnd type="none" w="med" len="med"/>
              <a:tailEnd type="none" w="med" len="med"/>
            </a:ln>
          </p:spPr>
          <p:txBody>
            <a:bodyPr anchor="ctr" anchorCtr="0">
              <a:spAutoFit/>
            </a:bodyPr>
            <a:p>
              <a:endParaRPr dirty="0">
                <a:latin typeface="Tahoma" panose="020B0604030504040204" pitchFamily="34" charset="0"/>
              </a:endParaRPr>
            </a:p>
          </p:txBody>
        </p:sp>
      </p:grpSp>
      <p:grpSp>
        <p:nvGrpSpPr>
          <p:cNvPr id="27654" name="Group 15"/>
          <p:cNvGrpSpPr/>
          <p:nvPr/>
        </p:nvGrpSpPr>
        <p:grpSpPr>
          <a:xfrm>
            <a:off x="6553200" y="4343400"/>
            <a:ext cx="2209800" cy="2017713"/>
            <a:chOff x="3552" y="2496"/>
            <a:chExt cx="1392" cy="1271"/>
          </a:xfrm>
        </p:grpSpPr>
        <p:graphicFrame>
          <p:nvGraphicFramePr>
            <p:cNvPr id="27658" name="Object 1024"/>
            <p:cNvGraphicFramePr>
              <a:graphicFrameLocks noChangeAspect="1"/>
            </p:cNvGraphicFramePr>
            <p:nvPr/>
          </p:nvGraphicFramePr>
          <p:xfrm>
            <a:off x="3552" y="2496"/>
            <a:ext cx="1392" cy="1271"/>
          </p:xfrm>
          <a:graphic>
            <a:graphicData uri="http://schemas.openxmlformats.org/presentationml/2006/ole">
              <mc:AlternateContent xmlns:mc="http://schemas.openxmlformats.org/markup-compatibility/2006">
                <mc:Choice xmlns:v="urn:schemas-microsoft-com:vml" Requires="v">
                  <p:oleObj spid="_x0000_s3088" name="" r:id="rId4" imgW="2618740" imgH="2472055" progId="Excel.Sheet.8">
                    <p:embed/>
                  </p:oleObj>
                </mc:Choice>
                <mc:Fallback>
                  <p:oleObj name="" r:id="rId4" imgW="2618740" imgH="2472055" progId="Excel.Sheet.8">
                    <p:embed/>
                    <p:pic>
                      <p:nvPicPr>
                        <p:cNvPr id="0" name="Picture 3087"/>
                        <p:cNvPicPr/>
                        <p:nvPr/>
                      </p:nvPicPr>
                      <p:blipFill>
                        <a:blip r:embed="rId2"/>
                        <a:stretch>
                          <a:fillRect/>
                        </a:stretch>
                      </p:blipFill>
                      <p:spPr>
                        <a:xfrm>
                          <a:off x="3552" y="2496"/>
                          <a:ext cx="1392" cy="1271"/>
                        </a:xfrm>
                        <a:prstGeom prst="rect">
                          <a:avLst/>
                        </a:prstGeom>
                        <a:noFill/>
                        <a:ln w="38100">
                          <a:noFill/>
                          <a:miter/>
                        </a:ln>
                      </p:spPr>
                    </p:pic>
                  </p:oleObj>
                </mc:Fallback>
              </mc:AlternateContent>
            </a:graphicData>
          </a:graphic>
        </p:graphicFrame>
        <p:sp>
          <p:nvSpPr>
            <p:cNvPr id="27659" name="Oval 17"/>
            <p:cNvSpPr/>
            <p:nvPr/>
          </p:nvSpPr>
          <p:spPr>
            <a:xfrm>
              <a:off x="3888" y="2688"/>
              <a:ext cx="384" cy="624"/>
            </a:xfrm>
            <a:prstGeom prst="ellipse">
              <a:avLst/>
            </a:prstGeom>
            <a:noFill/>
            <a:ln w="28575" cap="flat" cmpd="sng">
              <a:solidFill>
                <a:schemeClr val="tx1"/>
              </a:solidFill>
              <a:prstDash val="lgDash"/>
              <a:headEnd type="none" w="med" len="med"/>
              <a:tailEnd type="none" w="med" len="med"/>
            </a:ln>
          </p:spPr>
          <p:txBody>
            <a:bodyPr anchor="ctr" anchorCtr="0">
              <a:spAutoFit/>
            </a:bodyPr>
            <a:p>
              <a:endParaRPr dirty="0">
                <a:latin typeface="Tahoma" panose="020B0604030504040204" pitchFamily="34" charset="0"/>
              </a:endParaRPr>
            </a:p>
          </p:txBody>
        </p:sp>
        <p:sp>
          <p:nvSpPr>
            <p:cNvPr id="27660" name="Oval 18"/>
            <p:cNvSpPr/>
            <p:nvPr/>
          </p:nvSpPr>
          <p:spPr>
            <a:xfrm>
              <a:off x="4272" y="3024"/>
              <a:ext cx="480" cy="480"/>
            </a:xfrm>
            <a:prstGeom prst="ellipse">
              <a:avLst/>
            </a:prstGeom>
            <a:noFill/>
            <a:ln w="28575" cap="flat" cmpd="sng">
              <a:solidFill>
                <a:schemeClr val="tx1"/>
              </a:solidFill>
              <a:prstDash val="lgDash"/>
              <a:headEnd type="none" w="med" len="med"/>
              <a:tailEnd type="none" w="med" len="med"/>
            </a:ln>
          </p:spPr>
          <p:txBody>
            <a:bodyPr anchor="ctr" anchorCtr="0">
              <a:spAutoFit/>
            </a:bodyPr>
            <a:p>
              <a:endParaRPr dirty="0">
                <a:latin typeface="Tahoma" panose="020B0604030504040204" pitchFamily="34" charset="0"/>
              </a:endParaRPr>
            </a:p>
          </p:txBody>
        </p:sp>
      </p:grpSp>
      <p:sp>
        <p:nvSpPr>
          <p:cNvPr id="27655" name="Line 19"/>
          <p:cNvSpPr/>
          <p:nvPr/>
        </p:nvSpPr>
        <p:spPr>
          <a:xfrm>
            <a:off x="2971800" y="5257800"/>
            <a:ext cx="304800" cy="0"/>
          </a:xfrm>
          <a:prstGeom prst="line">
            <a:avLst/>
          </a:prstGeom>
          <a:ln w="28575" cap="flat" cmpd="sng">
            <a:solidFill>
              <a:schemeClr val="tx1"/>
            </a:solidFill>
            <a:prstDash val="solid"/>
            <a:headEnd type="none" w="med" len="med"/>
            <a:tailEnd type="triangle" w="med" len="med"/>
          </a:ln>
        </p:spPr>
      </p:sp>
      <p:sp>
        <p:nvSpPr>
          <p:cNvPr id="27656" name="Line 20"/>
          <p:cNvSpPr/>
          <p:nvPr/>
        </p:nvSpPr>
        <p:spPr>
          <a:xfrm>
            <a:off x="5943600" y="5181600"/>
            <a:ext cx="304800" cy="0"/>
          </a:xfrm>
          <a:prstGeom prst="line">
            <a:avLst/>
          </a:prstGeom>
          <a:ln w="28575" cap="flat" cmpd="sng">
            <a:solidFill>
              <a:schemeClr val="tx1"/>
            </a:solidFill>
            <a:prstDash val="solid"/>
            <a:headEnd type="none" w="med" len="med"/>
            <a:tailEnd type="triangle" w="med" len="med"/>
          </a:ln>
        </p:spPr>
      </p:sp>
      <p:sp>
        <p:nvSpPr>
          <p:cNvPr id="27657" name="Slide Number Placeholder 23"/>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Oval 2"/>
          <p:cNvSpPr/>
          <p:nvPr/>
        </p:nvSpPr>
        <p:spPr>
          <a:xfrm>
            <a:off x="8229600" y="5867400"/>
            <a:ext cx="152400" cy="152400"/>
          </a:xfrm>
          <a:prstGeom prst="ellipse">
            <a:avLst/>
          </a:prstGeom>
          <a:solidFill>
            <a:schemeClr val="accent1"/>
          </a:solidFill>
          <a:ln w="12700" cap="flat" cmpd="sng">
            <a:solidFill>
              <a:schemeClr val="tx1"/>
            </a:solidFill>
            <a:prstDash val="solid"/>
            <a:headEnd type="none" w="sm" len="sm"/>
            <a:tailEnd type="none" w="sm" len="sm"/>
          </a:ln>
        </p:spPr>
        <p:txBody>
          <a:bodyPr wrap="none" anchor="ctr" anchorCtr="0"/>
          <a:p>
            <a:endParaRPr dirty="0">
              <a:latin typeface="Tahoma" panose="020B0604030504040204" pitchFamily="34" charset="0"/>
            </a:endParaRPr>
          </a:p>
        </p:txBody>
      </p:sp>
      <p:sp>
        <p:nvSpPr>
          <p:cNvPr id="28675" name="Oval 3"/>
          <p:cNvSpPr/>
          <p:nvPr/>
        </p:nvSpPr>
        <p:spPr>
          <a:xfrm>
            <a:off x="7162800" y="5867400"/>
            <a:ext cx="152400" cy="152400"/>
          </a:xfrm>
          <a:prstGeom prst="ellipse">
            <a:avLst/>
          </a:prstGeom>
          <a:solidFill>
            <a:schemeClr val="accent1"/>
          </a:solidFill>
          <a:ln w="12700" cap="flat" cmpd="sng">
            <a:solidFill>
              <a:schemeClr val="tx1"/>
            </a:solidFill>
            <a:prstDash val="solid"/>
            <a:headEnd type="none" w="sm" len="sm"/>
            <a:tailEnd type="none" w="sm" len="sm"/>
          </a:ln>
        </p:spPr>
        <p:txBody>
          <a:bodyPr wrap="none" anchor="ctr" anchorCtr="0"/>
          <a:p>
            <a:endParaRPr dirty="0">
              <a:latin typeface="Tahoma" panose="020B0604030504040204" pitchFamily="34" charset="0"/>
            </a:endParaRPr>
          </a:p>
        </p:txBody>
      </p:sp>
      <p:sp>
        <p:nvSpPr>
          <p:cNvPr id="28676" name="Oval 4"/>
          <p:cNvSpPr/>
          <p:nvPr/>
        </p:nvSpPr>
        <p:spPr>
          <a:xfrm>
            <a:off x="6172200" y="5867400"/>
            <a:ext cx="152400" cy="152400"/>
          </a:xfrm>
          <a:prstGeom prst="ellipse">
            <a:avLst/>
          </a:prstGeom>
          <a:solidFill>
            <a:schemeClr val="accent1"/>
          </a:solidFill>
          <a:ln w="12700" cap="flat" cmpd="sng">
            <a:solidFill>
              <a:schemeClr val="tx1"/>
            </a:solidFill>
            <a:prstDash val="solid"/>
            <a:headEnd type="none" w="sm" len="sm"/>
            <a:tailEnd type="none" w="sm" len="sm"/>
          </a:ln>
        </p:spPr>
        <p:txBody>
          <a:bodyPr wrap="none" anchor="ctr" anchorCtr="0"/>
          <a:p>
            <a:endParaRPr dirty="0">
              <a:latin typeface="Tahoma" panose="020B0604030504040204" pitchFamily="34" charset="0"/>
            </a:endParaRPr>
          </a:p>
        </p:txBody>
      </p:sp>
      <p:sp>
        <p:nvSpPr>
          <p:cNvPr id="28677" name="Oval 5"/>
          <p:cNvSpPr/>
          <p:nvPr/>
        </p:nvSpPr>
        <p:spPr>
          <a:xfrm>
            <a:off x="5257800" y="5867400"/>
            <a:ext cx="152400" cy="152400"/>
          </a:xfrm>
          <a:prstGeom prst="ellipse">
            <a:avLst/>
          </a:prstGeom>
          <a:solidFill>
            <a:schemeClr val="accent1"/>
          </a:solidFill>
          <a:ln w="12700" cap="flat" cmpd="sng">
            <a:solidFill>
              <a:schemeClr val="tx1"/>
            </a:solidFill>
            <a:prstDash val="solid"/>
            <a:headEnd type="none" w="sm" len="sm"/>
            <a:tailEnd type="none" w="sm" len="sm"/>
          </a:ln>
        </p:spPr>
        <p:txBody>
          <a:bodyPr wrap="none" anchor="ctr" anchorCtr="0"/>
          <a:p>
            <a:endParaRPr dirty="0">
              <a:latin typeface="Tahoma" panose="020B0604030504040204" pitchFamily="34" charset="0"/>
            </a:endParaRPr>
          </a:p>
        </p:txBody>
      </p:sp>
      <p:sp>
        <p:nvSpPr>
          <p:cNvPr id="28678" name="Oval 6"/>
          <p:cNvSpPr/>
          <p:nvPr/>
        </p:nvSpPr>
        <p:spPr>
          <a:xfrm>
            <a:off x="4267200" y="5867400"/>
            <a:ext cx="152400" cy="152400"/>
          </a:xfrm>
          <a:prstGeom prst="ellipse">
            <a:avLst/>
          </a:prstGeom>
          <a:solidFill>
            <a:schemeClr val="accent1"/>
          </a:solidFill>
          <a:ln w="12700" cap="flat" cmpd="sng">
            <a:solidFill>
              <a:schemeClr val="tx1"/>
            </a:solidFill>
            <a:prstDash val="solid"/>
            <a:headEnd type="none" w="sm" len="sm"/>
            <a:tailEnd type="none" w="sm" len="sm"/>
          </a:ln>
        </p:spPr>
        <p:txBody>
          <a:bodyPr wrap="none" anchor="ctr" anchorCtr="0"/>
          <a:p>
            <a:endParaRPr dirty="0">
              <a:latin typeface="Tahoma" panose="020B0604030504040204" pitchFamily="34" charset="0"/>
            </a:endParaRPr>
          </a:p>
        </p:txBody>
      </p:sp>
      <p:sp>
        <p:nvSpPr>
          <p:cNvPr id="28679" name="Oval 7"/>
          <p:cNvSpPr/>
          <p:nvPr/>
        </p:nvSpPr>
        <p:spPr>
          <a:xfrm>
            <a:off x="3276600" y="5867400"/>
            <a:ext cx="152400" cy="152400"/>
          </a:xfrm>
          <a:prstGeom prst="ellipse">
            <a:avLst/>
          </a:prstGeom>
          <a:solidFill>
            <a:schemeClr val="accent1"/>
          </a:solidFill>
          <a:ln w="12700" cap="flat" cmpd="sng">
            <a:solidFill>
              <a:schemeClr val="tx1"/>
            </a:solidFill>
            <a:prstDash val="solid"/>
            <a:headEnd type="none" w="sm" len="sm"/>
            <a:tailEnd type="none" w="sm" len="sm"/>
          </a:ln>
        </p:spPr>
        <p:txBody>
          <a:bodyPr wrap="none" anchor="ctr" anchorCtr="0"/>
          <a:p>
            <a:endParaRPr dirty="0">
              <a:latin typeface="Tahoma" panose="020B0604030504040204" pitchFamily="34" charset="0"/>
            </a:endParaRPr>
          </a:p>
        </p:txBody>
      </p:sp>
      <p:sp>
        <p:nvSpPr>
          <p:cNvPr id="28680" name="Oval 8"/>
          <p:cNvSpPr/>
          <p:nvPr/>
        </p:nvSpPr>
        <p:spPr>
          <a:xfrm>
            <a:off x="2362200" y="5867400"/>
            <a:ext cx="152400" cy="152400"/>
          </a:xfrm>
          <a:prstGeom prst="ellipse">
            <a:avLst/>
          </a:prstGeom>
          <a:solidFill>
            <a:schemeClr val="accent1"/>
          </a:solidFill>
          <a:ln w="12700" cap="flat" cmpd="sng">
            <a:solidFill>
              <a:schemeClr val="tx1"/>
            </a:solidFill>
            <a:prstDash val="solid"/>
            <a:headEnd type="none" w="sm" len="sm"/>
            <a:tailEnd type="none" w="sm" len="sm"/>
          </a:ln>
        </p:spPr>
        <p:txBody>
          <a:bodyPr wrap="none" anchor="ctr" anchorCtr="0"/>
          <a:p>
            <a:endParaRPr dirty="0">
              <a:latin typeface="Tahoma" panose="020B0604030504040204" pitchFamily="34" charset="0"/>
            </a:endParaRPr>
          </a:p>
        </p:txBody>
      </p:sp>
      <p:sp>
        <p:nvSpPr>
          <p:cNvPr id="28681" name="Oval 9"/>
          <p:cNvSpPr/>
          <p:nvPr/>
        </p:nvSpPr>
        <p:spPr>
          <a:xfrm>
            <a:off x="1371600" y="5867400"/>
            <a:ext cx="152400" cy="152400"/>
          </a:xfrm>
          <a:prstGeom prst="ellipse">
            <a:avLst/>
          </a:prstGeom>
          <a:solidFill>
            <a:schemeClr val="accent1"/>
          </a:solidFill>
          <a:ln w="12700" cap="flat" cmpd="sng">
            <a:solidFill>
              <a:schemeClr val="tx1"/>
            </a:solidFill>
            <a:prstDash val="solid"/>
            <a:headEnd type="none" w="sm" len="sm"/>
            <a:tailEnd type="none" w="sm" len="sm"/>
          </a:ln>
        </p:spPr>
        <p:txBody>
          <a:bodyPr wrap="none" anchor="ctr" anchorCtr="0"/>
          <a:p>
            <a:endParaRPr dirty="0">
              <a:latin typeface="Tahoma" panose="020B0604030504040204" pitchFamily="34" charset="0"/>
            </a:endParaRPr>
          </a:p>
        </p:txBody>
      </p:sp>
      <p:sp>
        <p:nvSpPr>
          <p:cNvPr id="28682" name="Oval 10"/>
          <p:cNvSpPr/>
          <p:nvPr/>
        </p:nvSpPr>
        <p:spPr>
          <a:xfrm>
            <a:off x="457200" y="5867400"/>
            <a:ext cx="152400" cy="152400"/>
          </a:xfrm>
          <a:prstGeom prst="ellipse">
            <a:avLst/>
          </a:prstGeom>
          <a:solidFill>
            <a:schemeClr val="accent1"/>
          </a:solidFill>
          <a:ln w="12700" cap="flat" cmpd="sng">
            <a:solidFill>
              <a:schemeClr val="tx1"/>
            </a:solidFill>
            <a:prstDash val="solid"/>
            <a:headEnd type="none" w="sm" len="sm"/>
            <a:tailEnd type="none" w="sm" len="sm"/>
          </a:ln>
        </p:spPr>
        <p:txBody>
          <a:bodyPr wrap="none" anchor="ctr" anchorCtr="0"/>
          <a:p>
            <a:endParaRPr dirty="0">
              <a:latin typeface="Tahoma" panose="020B0604030504040204" pitchFamily="34" charset="0"/>
            </a:endParaRPr>
          </a:p>
        </p:txBody>
      </p:sp>
      <p:sp>
        <p:nvSpPr>
          <p:cNvPr id="28683" name="Line 11"/>
          <p:cNvSpPr/>
          <p:nvPr/>
        </p:nvSpPr>
        <p:spPr>
          <a:xfrm>
            <a:off x="533400" y="5029200"/>
            <a:ext cx="914400" cy="0"/>
          </a:xfrm>
          <a:prstGeom prst="line">
            <a:avLst/>
          </a:prstGeom>
          <a:ln w="12700" cap="flat" cmpd="sng">
            <a:solidFill>
              <a:schemeClr val="tx1"/>
            </a:solidFill>
            <a:prstDash val="solid"/>
            <a:headEnd type="none" w="sm" len="sm"/>
            <a:tailEnd type="none" w="sm" len="sm"/>
          </a:ln>
        </p:spPr>
      </p:sp>
      <p:sp>
        <p:nvSpPr>
          <p:cNvPr id="28684" name="Line 12"/>
          <p:cNvSpPr/>
          <p:nvPr/>
        </p:nvSpPr>
        <p:spPr>
          <a:xfrm>
            <a:off x="1447800" y="5029200"/>
            <a:ext cx="0" cy="914400"/>
          </a:xfrm>
          <a:prstGeom prst="line">
            <a:avLst/>
          </a:prstGeom>
          <a:ln w="12700" cap="flat" cmpd="sng">
            <a:solidFill>
              <a:schemeClr val="tx1"/>
            </a:solidFill>
            <a:prstDash val="solid"/>
            <a:headEnd type="none" w="sm" len="sm"/>
            <a:tailEnd type="none" w="sm" len="sm"/>
          </a:ln>
        </p:spPr>
      </p:sp>
      <p:sp>
        <p:nvSpPr>
          <p:cNvPr id="28685" name="Line 13"/>
          <p:cNvSpPr/>
          <p:nvPr/>
        </p:nvSpPr>
        <p:spPr>
          <a:xfrm>
            <a:off x="3352800" y="5029200"/>
            <a:ext cx="0" cy="914400"/>
          </a:xfrm>
          <a:prstGeom prst="line">
            <a:avLst/>
          </a:prstGeom>
          <a:ln w="12700" cap="flat" cmpd="sng">
            <a:solidFill>
              <a:schemeClr val="tx1"/>
            </a:solidFill>
            <a:prstDash val="solid"/>
            <a:headEnd type="none" w="sm" len="sm"/>
            <a:tailEnd type="none" w="sm" len="sm"/>
          </a:ln>
        </p:spPr>
      </p:sp>
      <p:sp>
        <p:nvSpPr>
          <p:cNvPr id="28686" name="Line 14"/>
          <p:cNvSpPr/>
          <p:nvPr/>
        </p:nvSpPr>
        <p:spPr>
          <a:xfrm>
            <a:off x="3352800" y="5029200"/>
            <a:ext cx="990600" cy="0"/>
          </a:xfrm>
          <a:prstGeom prst="line">
            <a:avLst/>
          </a:prstGeom>
          <a:ln w="12700" cap="flat" cmpd="sng">
            <a:solidFill>
              <a:schemeClr val="tx1"/>
            </a:solidFill>
            <a:prstDash val="solid"/>
            <a:headEnd type="none" w="sm" len="sm"/>
            <a:tailEnd type="none" w="sm" len="sm"/>
          </a:ln>
        </p:spPr>
      </p:sp>
      <p:sp>
        <p:nvSpPr>
          <p:cNvPr id="28687" name="Line 15"/>
          <p:cNvSpPr/>
          <p:nvPr/>
        </p:nvSpPr>
        <p:spPr>
          <a:xfrm>
            <a:off x="4343400" y="5029200"/>
            <a:ext cx="0" cy="914400"/>
          </a:xfrm>
          <a:prstGeom prst="line">
            <a:avLst/>
          </a:prstGeom>
          <a:ln w="12700" cap="flat" cmpd="sng">
            <a:solidFill>
              <a:schemeClr val="tx1"/>
            </a:solidFill>
            <a:prstDash val="solid"/>
            <a:headEnd type="none" w="sm" len="sm"/>
            <a:tailEnd type="none" w="sm" len="sm"/>
          </a:ln>
        </p:spPr>
      </p:sp>
      <p:sp>
        <p:nvSpPr>
          <p:cNvPr id="28688" name="Line 16"/>
          <p:cNvSpPr/>
          <p:nvPr/>
        </p:nvSpPr>
        <p:spPr>
          <a:xfrm>
            <a:off x="7239000" y="5105400"/>
            <a:ext cx="0" cy="838200"/>
          </a:xfrm>
          <a:prstGeom prst="line">
            <a:avLst/>
          </a:prstGeom>
          <a:ln w="12700" cap="flat" cmpd="sng">
            <a:solidFill>
              <a:schemeClr val="tx1"/>
            </a:solidFill>
            <a:prstDash val="solid"/>
            <a:headEnd type="none" w="sm" len="sm"/>
            <a:tailEnd type="none" w="sm" len="sm"/>
          </a:ln>
        </p:spPr>
      </p:sp>
      <p:sp>
        <p:nvSpPr>
          <p:cNvPr id="28689" name="Line 17"/>
          <p:cNvSpPr/>
          <p:nvPr/>
        </p:nvSpPr>
        <p:spPr>
          <a:xfrm>
            <a:off x="7239000" y="5105400"/>
            <a:ext cx="1066800" cy="0"/>
          </a:xfrm>
          <a:prstGeom prst="line">
            <a:avLst/>
          </a:prstGeom>
          <a:ln w="12700" cap="flat" cmpd="sng">
            <a:solidFill>
              <a:schemeClr val="tx1"/>
            </a:solidFill>
            <a:prstDash val="solid"/>
            <a:headEnd type="none" w="sm" len="sm"/>
            <a:tailEnd type="none" w="sm" len="sm"/>
          </a:ln>
        </p:spPr>
      </p:sp>
      <p:sp>
        <p:nvSpPr>
          <p:cNvPr id="28690" name="Line 18"/>
          <p:cNvSpPr/>
          <p:nvPr/>
        </p:nvSpPr>
        <p:spPr>
          <a:xfrm>
            <a:off x="8305800" y="5105400"/>
            <a:ext cx="0" cy="838200"/>
          </a:xfrm>
          <a:prstGeom prst="line">
            <a:avLst/>
          </a:prstGeom>
          <a:ln w="12700" cap="flat" cmpd="sng">
            <a:solidFill>
              <a:schemeClr val="tx1"/>
            </a:solidFill>
            <a:prstDash val="solid"/>
            <a:headEnd type="none" w="sm" len="sm"/>
            <a:tailEnd type="none" w="sm" len="sm"/>
          </a:ln>
        </p:spPr>
      </p:sp>
      <p:sp>
        <p:nvSpPr>
          <p:cNvPr id="28691" name="Line 19"/>
          <p:cNvSpPr/>
          <p:nvPr/>
        </p:nvSpPr>
        <p:spPr>
          <a:xfrm>
            <a:off x="990600" y="4267200"/>
            <a:ext cx="0" cy="762000"/>
          </a:xfrm>
          <a:prstGeom prst="line">
            <a:avLst/>
          </a:prstGeom>
          <a:ln w="12700" cap="flat" cmpd="sng">
            <a:solidFill>
              <a:schemeClr val="tx1"/>
            </a:solidFill>
            <a:prstDash val="solid"/>
            <a:headEnd type="none" w="sm" len="sm"/>
            <a:tailEnd type="none" w="sm" len="sm"/>
          </a:ln>
        </p:spPr>
      </p:sp>
      <p:sp>
        <p:nvSpPr>
          <p:cNvPr id="28692" name="Line 20"/>
          <p:cNvSpPr/>
          <p:nvPr/>
        </p:nvSpPr>
        <p:spPr>
          <a:xfrm>
            <a:off x="990600" y="4267200"/>
            <a:ext cx="1447800" cy="0"/>
          </a:xfrm>
          <a:prstGeom prst="line">
            <a:avLst/>
          </a:prstGeom>
          <a:ln w="12700" cap="flat" cmpd="sng">
            <a:solidFill>
              <a:schemeClr val="tx1"/>
            </a:solidFill>
            <a:prstDash val="solid"/>
            <a:headEnd type="none" w="sm" len="sm"/>
            <a:tailEnd type="none" w="sm" len="sm"/>
          </a:ln>
        </p:spPr>
      </p:sp>
      <p:sp>
        <p:nvSpPr>
          <p:cNvPr id="28693" name="Line 21"/>
          <p:cNvSpPr/>
          <p:nvPr/>
        </p:nvSpPr>
        <p:spPr>
          <a:xfrm>
            <a:off x="2438400" y="4267200"/>
            <a:ext cx="0" cy="1676400"/>
          </a:xfrm>
          <a:prstGeom prst="line">
            <a:avLst/>
          </a:prstGeom>
          <a:ln w="12700" cap="flat" cmpd="sng">
            <a:solidFill>
              <a:schemeClr val="tx1"/>
            </a:solidFill>
            <a:prstDash val="solid"/>
            <a:headEnd type="none" w="sm" len="sm"/>
            <a:tailEnd type="none" w="sm" len="sm"/>
          </a:ln>
        </p:spPr>
      </p:sp>
      <p:sp>
        <p:nvSpPr>
          <p:cNvPr id="28694" name="Line 22"/>
          <p:cNvSpPr/>
          <p:nvPr/>
        </p:nvSpPr>
        <p:spPr>
          <a:xfrm>
            <a:off x="3733800" y="4267200"/>
            <a:ext cx="0" cy="0"/>
          </a:xfrm>
          <a:prstGeom prst="line">
            <a:avLst/>
          </a:prstGeom>
          <a:ln w="12700" cap="flat" cmpd="sng">
            <a:solidFill>
              <a:schemeClr val="tx1"/>
            </a:solidFill>
            <a:prstDash val="solid"/>
            <a:headEnd type="none" w="sm" len="sm"/>
            <a:tailEnd type="none" w="sm" len="sm"/>
          </a:ln>
        </p:spPr>
      </p:sp>
      <p:sp>
        <p:nvSpPr>
          <p:cNvPr id="28695" name="Line 23"/>
          <p:cNvSpPr/>
          <p:nvPr/>
        </p:nvSpPr>
        <p:spPr>
          <a:xfrm>
            <a:off x="3810000" y="4267200"/>
            <a:ext cx="0" cy="762000"/>
          </a:xfrm>
          <a:prstGeom prst="line">
            <a:avLst/>
          </a:prstGeom>
          <a:ln w="12700" cap="flat" cmpd="sng">
            <a:solidFill>
              <a:schemeClr val="tx1"/>
            </a:solidFill>
            <a:prstDash val="solid"/>
            <a:headEnd type="none" w="sm" len="sm"/>
            <a:tailEnd type="none" w="sm" len="sm"/>
          </a:ln>
        </p:spPr>
      </p:sp>
      <p:sp>
        <p:nvSpPr>
          <p:cNvPr id="28696" name="Line 24"/>
          <p:cNvSpPr/>
          <p:nvPr/>
        </p:nvSpPr>
        <p:spPr>
          <a:xfrm>
            <a:off x="3886200" y="4267200"/>
            <a:ext cx="1447800" cy="0"/>
          </a:xfrm>
          <a:prstGeom prst="line">
            <a:avLst/>
          </a:prstGeom>
          <a:ln w="12700" cap="flat" cmpd="sng">
            <a:solidFill>
              <a:schemeClr val="tx1"/>
            </a:solidFill>
            <a:prstDash val="solid"/>
            <a:headEnd type="none" w="sm" len="sm"/>
            <a:tailEnd type="none" w="sm" len="sm"/>
          </a:ln>
        </p:spPr>
      </p:sp>
      <p:sp>
        <p:nvSpPr>
          <p:cNvPr id="28697" name="Line 25"/>
          <p:cNvSpPr/>
          <p:nvPr/>
        </p:nvSpPr>
        <p:spPr>
          <a:xfrm>
            <a:off x="5334000" y="4267200"/>
            <a:ext cx="0" cy="1676400"/>
          </a:xfrm>
          <a:prstGeom prst="line">
            <a:avLst/>
          </a:prstGeom>
          <a:ln w="12700" cap="flat" cmpd="sng">
            <a:solidFill>
              <a:schemeClr val="tx1"/>
            </a:solidFill>
            <a:prstDash val="solid"/>
            <a:headEnd type="none" w="sm" len="sm"/>
            <a:tailEnd type="none" w="sm" len="sm"/>
          </a:ln>
        </p:spPr>
      </p:sp>
      <p:sp>
        <p:nvSpPr>
          <p:cNvPr id="28698" name="Line 26"/>
          <p:cNvSpPr/>
          <p:nvPr/>
        </p:nvSpPr>
        <p:spPr>
          <a:xfrm>
            <a:off x="3810000" y="4267200"/>
            <a:ext cx="152400" cy="0"/>
          </a:xfrm>
          <a:prstGeom prst="line">
            <a:avLst/>
          </a:prstGeom>
          <a:ln w="12700" cap="flat" cmpd="sng">
            <a:solidFill>
              <a:schemeClr val="tx1"/>
            </a:solidFill>
            <a:prstDash val="solid"/>
            <a:headEnd type="none" w="sm" len="sm"/>
            <a:tailEnd type="none" w="sm" len="sm"/>
          </a:ln>
        </p:spPr>
      </p:sp>
      <p:sp>
        <p:nvSpPr>
          <p:cNvPr id="28699" name="Line 27"/>
          <p:cNvSpPr/>
          <p:nvPr/>
        </p:nvSpPr>
        <p:spPr>
          <a:xfrm>
            <a:off x="4572000" y="3429000"/>
            <a:ext cx="0" cy="838200"/>
          </a:xfrm>
          <a:prstGeom prst="line">
            <a:avLst/>
          </a:prstGeom>
          <a:ln w="12700" cap="flat" cmpd="sng">
            <a:solidFill>
              <a:schemeClr val="tx1"/>
            </a:solidFill>
            <a:prstDash val="solid"/>
            <a:headEnd type="none" w="sm" len="sm"/>
            <a:tailEnd type="none" w="sm" len="sm"/>
          </a:ln>
        </p:spPr>
      </p:sp>
      <p:sp>
        <p:nvSpPr>
          <p:cNvPr id="28700" name="Line 28"/>
          <p:cNvSpPr/>
          <p:nvPr/>
        </p:nvSpPr>
        <p:spPr>
          <a:xfrm flipV="1">
            <a:off x="6248400" y="3429000"/>
            <a:ext cx="0" cy="2514600"/>
          </a:xfrm>
          <a:prstGeom prst="line">
            <a:avLst/>
          </a:prstGeom>
          <a:ln w="12700" cap="flat" cmpd="sng">
            <a:solidFill>
              <a:schemeClr val="tx1"/>
            </a:solidFill>
            <a:prstDash val="solid"/>
            <a:headEnd type="none" w="sm" len="sm"/>
            <a:tailEnd type="none" w="sm" len="sm"/>
          </a:ln>
        </p:spPr>
      </p:sp>
      <p:sp>
        <p:nvSpPr>
          <p:cNvPr id="28701" name="Line 29"/>
          <p:cNvSpPr/>
          <p:nvPr/>
        </p:nvSpPr>
        <p:spPr>
          <a:xfrm>
            <a:off x="4572000" y="3429000"/>
            <a:ext cx="1676400" cy="0"/>
          </a:xfrm>
          <a:prstGeom prst="line">
            <a:avLst/>
          </a:prstGeom>
          <a:ln w="12700" cap="flat" cmpd="sng">
            <a:solidFill>
              <a:schemeClr val="tx1"/>
            </a:solidFill>
            <a:prstDash val="solid"/>
            <a:headEnd type="none" w="sm" len="sm"/>
            <a:tailEnd type="none" w="sm" len="sm"/>
          </a:ln>
        </p:spPr>
      </p:sp>
      <p:sp>
        <p:nvSpPr>
          <p:cNvPr id="28702" name="Line 30"/>
          <p:cNvSpPr/>
          <p:nvPr/>
        </p:nvSpPr>
        <p:spPr>
          <a:xfrm>
            <a:off x="5410200" y="2590800"/>
            <a:ext cx="0" cy="838200"/>
          </a:xfrm>
          <a:prstGeom prst="line">
            <a:avLst/>
          </a:prstGeom>
          <a:ln w="12700" cap="flat" cmpd="sng">
            <a:solidFill>
              <a:schemeClr val="tx1"/>
            </a:solidFill>
            <a:prstDash val="solid"/>
            <a:headEnd type="none" w="sm" len="sm"/>
            <a:tailEnd type="none" w="sm" len="sm"/>
          </a:ln>
        </p:spPr>
      </p:sp>
      <p:sp>
        <p:nvSpPr>
          <p:cNvPr id="28703" name="Line 31"/>
          <p:cNvSpPr/>
          <p:nvPr/>
        </p:nvSpPr>
        <p:spPr>
          <a:xfrm flipV="1">
            <a:off x="7772400" y="2514600"/>
            <a:ext cx="0" cy="2590800"/>
          </a:xfrm>
          <a:prstGeom prst="line">
            <a:avLst/>
          </a:prstGeom>
          <a:ln w="12700" cap="flat" cmpd="sng">
            <a:solidFill>
              <a:schemeClr val="tx1"/>
            </a:solidFill>
            <a:prstDash val="solid"/>
            <a:headEnd type="none" w="sm" len="sm"/>
            <a:tailEnd type="none" w="sm" len="sm"/>
          </a:ln>
        </p:spPr>
      </p:sp>
      <p:sp>
        <p:nvSpPr>
          <p:cNvPr id="28704" name="Line 32"/>
          <p:cNvSpPr/>
          <p:nvPr/>
        </p:nvSpPr>
        <p:spPr>
          <a:xfrm flipH="1">
            <a:off x="5410200" y="2514600"/>
            <a:ext cx="2362200" cy="0"/>
          </a:xfrm>
          <a:prstGeom prst="line">
            <a:avLst/>
          </a:prstGeom>
          <a:ln w="12700" cap="flat" cmpd="sng">
            <a:solidFill>
              <a:schemeClr val="tx1"/>
            </a:solidFill>
            <a:prstDash val="solid"/>
            <a:headEnd type="none" w="sm" len="sm"/>
            <a:tailEnd type="none" w="sm" len="sm"/>
          </a:ln>
        </p:spPr>
      </p:sp>
      <p:sp>
        <p:nvSpPr>
          <p:cNvPr id="28705" name="Line 33"/>
          <p:cNvSpPr/>
          <p:nvPr/>
        </p:nvSpPr>
        <p:spPr>
          <a:xfrm flipV="1">
            <a:off x="5410200" y="2514600"/>
            <a:ext cx="0" cy="228600"/>
          </a:xfrm>
          <a:prstGeom prst="line">
            <a:avLst/>
          </a:prstGeom>
          <a:ln w="12700" cap="flat" cmpd="sng">
            <a:solidFill>
              <a:schemeClr val="tx1"/>
            </a:solidFill>
            <a:prstDash val="solid"/>
            <a:headEnd type="none" w="sm" len="sm"/>
            <a:tailEnd type="none" w="sm" len="sm"/>
          </a:ln>
        </p:spPr>
      </p:sp>
      <p:sp>
        <p:nvSpPr>
          <p:cNvPr id="28706" name="Line 34"/>
          <p:cNvSpPr/>
          <p:nvPr/>
        </p:nvSpPr>
        <p:spPr>
          <a:xfrm>
            <a:off x="6553200" y="1600200"/>
            <a:ext cx="0" cy="914400"/>
          </a:xfrm>
          <a:prstGeom prst="line">
            <a:avLst/>
          </a:prstGeom>
          <a:ln w="12700" cap="flat" cmpd="sng">
            <a:solidFill>
              <a:schemeClr val="tx1"/>
            </a:solidFill>
            <a:prstDash val="solid"/>
            <a:headEnd type="none" w="sm" len="sm"/>
            <a:tailEnd type="none" w="sm" len="sm"/>
          </a:ln>
        </p:spPr>
      </p:sp>
      <p:sp>
        <p:nvSpPr>
          <p:cNvPr id="28707" name="Line 35"/>
          <p:cNvSpPr/>
          <p:nvPr/>
        </p:nvSpPr>
        <p:spPr>
          <a:xfrm flipH="1">
            <a:off x="1828800" y="1600200"/>
            <a:ext cx="4724400" cy="0"/>
          </a:xfrm>
          <a:prstGeom prst="line">
            <a:avLst/>
          </a:prstGeom>
          <a:ln w="12700" cap="flat" cmpd="sng">
            <a:solidFill>
              <a:schemeClr val="tx1"/>
            </a:solidFill>
            <a:prstDash val="solid"/>
            <a:headEnd type="none" w="sm" len="sm"/>
            <a:tailEnd type="none" w="sm" len="sm"/>
          </a:ln>
        </p:spPr>
      </p:sp>
      <p:sp>
        <p:nvSpPr>
          <p:cNvPr id="28708" name="Line 36"/>
          <p:cNvSpPr/>
          <p:nvPr/>
        </p:nvSpPr>
        <p:spPr>
          <a:xfrm flipV="1">
            <a:off x="1676400" y="1600200"/>
            <a:ext cx="0" cy="2667000"/>
          </a:xfrm>
          <a:prstGeom prst="line">
            <a:avLst/>
          </a:prstGeom>
          <a:ln w="12700" cap="flat" cmpd="sng">
            <a:solidFill>
              <a:schemeClr val="tx1"/>
            </a:solidFill>
            <a:prstDash val="solid"/>
            <a:headEnd type="none" w="sm" len="sm"/>
            <a:tailEnd type="none" w="sm" len="sm"/>
          </a:ln>
        </p:spPr>
      </p:sp>
      <p:sp>
        <p:nvSpPr>
          <p:cNvPr id="28709" name="Line 37"/>
          <p:cNvSpPr/>
          <p:nvPr/>
        </p:nvSpPr>
        <p:spPr>
          <a:xfrm>
            <a:off x="2209800" y="1600200"/>
            <a:ext cx="0" cy="0"/>
          </a:xfrm>
          <a:prstGeom prst="line">
            <a:avLst/>
          </a:prstGeom>
          <a:ln w="12700" cap="flat" cmpd="sng">
            <a:solidFill>
              <a:schemeClr val="tx1"/>
            </a:solidFill>
            <a:prstDash val="solid"/>
            <a:headEnd type="none" w="sm" len="sm"/>
            <a:tailEnd type="none" w="sm" len="sm"/>
          </a:ln>
        </p:spPr>
      </p:sp>
      <p:sp>
        <p:nvSpPr>
          <p:cNvPr id="28710" name="Line 38"/>
          <p:cNvSpPr/>
          <p:nvPr/>
        </p:nvSpPr>
        <p:spPr>
          <a:xfrm flipH="1">
            <a:off x="1676400" y="1600200"/>
            <a:ext cx="381000" cy="0"/>
          </a:xfrm>
          <a:prstGeom prst="line">
            <a:avLst/>
          </a:prstGeom>
          <a:ln w="12700" cap="flat" cmpd="sng">
            <a:solidFill>
              <a:schemeClr val="tx1"/>
            </a:solidFill>
            <a:prstDash val="solid"/>
            <a:headEnd type="none" w="sm" len="sm"/>
            <a:tailEnd type="none" w="sm" len="sm"/>
          </a:ln>
        </p:spPr>
      </p:sp>
      <p:sp>
        <p:nvSpPr>
          <p:cNvPr id="28711" name="Line 39"/>
          <p:cNvSpPr/>
          <p:nvPr/>
        </p:nvSpPr>
        <p:spPr>
          <a:xfrm flipV="1">
            <a:off x="4114800" y="1143000"/>
            <a:ext cx="0" cy="457200"/>
          </a:xfrm>
          <a:prstGeom prst="line">
            <a:avLst/>
          </a:prstGeom>
          <a:ln w="12700" cap="flat" cmpd="sng">
            <a:solidFill>
              <a:schemeClr val="tx1"/>
            </a:solidFill>
            <a:prstDash val="solid"/>
            <a:headEnd type="none" w="sm" len="sm"/>
            <a:tailEnd type="none" w="sm" len="sm"/>
          </a:ln>
        </p:spPr>
      </p:sp>
      <p:sp>
        <p:nvSpPr>
          <p:cNvPr id="28712" name="Text Box 40"/>
          <p:cNvSpPr txBox="1"/>
          <p:nvPr/>
        </p:nvSpPr>
        <p:spPr>
          <a:xfrm>
            <a:off x="0" y="304800"/>
            <a:ext cx="9296400" cy="579438"/>
          </a:xfrm>
          <a:prstGeom prst="rect">
            <a:avLst/>
          </a:prstGeom>
          <a:noFill/>
          <a:ln w="12700">
            <a:noFill/>
          </a:ln>
        </p:spPr>
        <p:txBody>
          <a:bodyPr>
            <a:spAutoFit/>
          </a:bodyPr>
          <a:p>
            <a:pPr eaLnBrk="0" hangingPunct="0"/>
            <a:r>
              <a:rPr lang="en-US" altLang="zh-CN" sz="3200" b="1" i="1" dirty="0">
                <a:solidFill>
                  <a:srgbClr val="170981"/>
                </a:solidFill>
                <a:latin typeface="Berlin Sans FB Demi" panose="020E0802020502020306" pitchFamily="34" charset="0"/>
                <a:ea typeface="SimSun" panose="02010600030101010101" pitchFamily="2" charset="-122"/>
              </a:rPr>
              <a:t>Dendrogram:</a:t>
            </a:r>
            <a:r>
              <a:rPr lang="en-US" altLang="zh-CN" sz="3200" b="1" dirty="0">
                <a:solidFill>
                  <a:srgbClr val="170981"/>
                </a:solidFill>
                <a:latin typeface="Berlin Sans FB Demi" panose="020E0802020502020306" pitchFamily="34" charset="0"/>
                <a:ea typeface="SimSun" panose="02010600030101010101" pitchFamily="2" charset="-122"/>
              </a:rPr>
              <a:t> Shows How Clusters are Merged</a:t>
            </a:r>
            <a:endParaRPr lang="en-US" altLang="zh-CN" sz="3200" b="1" dirty="0">
              <a:solidFill>
                <a:schemeClr val="tx2"/>
              </a:solidFill>
              <a:latin typeface="Berlin Sans FB Demi" panose="020E0802020502020306" pitchFamily="34" charset="0"/>
              <a:ea typeface="SimSun" panose="02010600030101010101" pitchFamily="2" charset="-122"/>
            </a:endParaRPr>
          </a:p>
        </p:txBody>
      </p:sp>
      <p:sp>
        <p:nvSpPr>
          <p:cNvPr id="28713" name="Line 41"/>
          <p:cNvSpPr/>
          <p:nvPr/>
        </p:nvSpPr>
        <p:spPr>
          <a:xfrm>
            <a:off x="533400" y="5029200"/>
            <a:ext cx="0" cy="914400"/>
          </a:xfrm>
          <a:prstGeom prst="line">
            <a:avLst/>
          </a:prstGeom>
          <a:ln w="12700" cap="flat" cmpd="sng">
            <a:solidFill>
              <a:schemeClr val="tx1"/>
            </a:solidFill>
            <a:prstDash val="solid"/>
            <a:headEnd type="none" w="sm" len="sm"/>
            <a:tailEnd type="none" w="sm" len="sm"/>
          </a:ln>
        </p:spPr>
      </p:sp>
      <p:sp>
        <p:nvSpPr>
          <p:cNvPr id="28714" name="Rectangle 42"/>
          <p:cNvSpPr/>
          <p:nvPr/>
        </p:nvSpPr>
        <p:spPr>
          <a:xfrm>
            <a:off x="381000" y="1676400"/>
            <a:ext cx="8229600" cy="2282825"/>
          </a:xfrm>
          <a:prstGeom prst="rect">
            <a:avLst/>
          </a:prstGeom>
          <a:noFill/>
          <a:ln w="9525">
            <a:noFill/>
          </a:ln>
        </p:spPr>
        <p:txBody>
          <a:bodyPr>
            <a:spAutoFit/>
          </a:bodyPr>
          <a:p>
            <a:pPr lvl="1" algn="l" eaLnBrk="0" hangingPunct="0"/>
            <a:r>
              <a:rPr lang="en-US" altLang="zh-CN" dirty="0">
                <a:latin typeface="Arial" panose="020B0604020202020204" pitchFamily="34" charset="0"/>
                <a:ea typeface="SimSun" panose="02010600030101010101" pitchFamily="2" charset="-122"/>
              </a:rPr>
              <a:t>Decompose data objects into a several levels of nested partitioning (</a:t>
            </a:r>
            <a:r>
              <a:rPr lang="en-US" altLang="zh-CN" u="sng" dirty="0">
                <a:latin typeface="Arial" panose="020B0604020202020204" pitchFamily="34" charset="0"/>
                <a:ea typeface="SimSun" panose="02010600030101010101" pitchFamily="2" charset="-122"/>
              </a:rPr>
              <a:t>tree</a:t>
            </a:r>
            <a:r>
              <a:rPr lang="en-US" altLang="zh-CN" dirty="0">
                <a:latin typeface="Arial" panose="020B0604020202020204" pitchFamily="34" charset="0"/>
                <a:ea typeface="SimSun" panose="02010600030101010101" pitchFamily="2" charset="-122"/>
              </a:rPr>
              <a:t> of clusters), called a </a:t>
            </a:r>
            <a:r>
              <a:rPr lang="en-US" altLang="zh-CN" u="sng" dirty="0">
                <a:latin typeface="Arial" panose="020B0604020202020204" pitchFamily="34" charset="0"/>
                <a:ea typeface="SimSun" panose="02010600030101010101" pitchFamily="2" charset="-122"/>
              </a:rPr>
              <a:t>dendrogram</a:t>
            </a:r>
            <a:endParaRPr lang="en-US" altLang="zh-CN" dirty="0">
              <a:latin typeface="Arial" panose="020B0604020202020204" pitchFamily="34" charset="0"/>
              <a:ea typeface="SimSun" panose="02010600030101010101" pitchFamily="2" charset="-122"/>
            </a:endParaRPr>
          </a:p>
          <a:p>
            <a:pPr lvl="1" algn="l" eaLnBrk="0" hangingPunct="0"/>
            <a:endParaRPr lang="en-US" altLang="zh-CN" dirty="0">
              <a:latin typeface="Arial" panose="020B0604020202020204" pitchFamily="34" charset="0"/>
              <a:ea typeface="SimSun" panose="02010600030101010101" pitchFamily="2" charset="-122"/>
            </a:endParaRPr>
          </a:p>
          <a:p>
            <a:pPr lvl="1" algn="l" eaLnBrk="0" hangingPunct="0"/>
            <a:r>
              <a:rPr lang="en-US" altLang="zh-CN" dirty="0">
                <a:latin typeface="Arial" panose="020B0604020202020204" pitchFamily="34" charset="0"/>
                <a:ea typeface="SimSun" panose="02010600030101010101" pitchFamily="2" charset="-122"/>
              </a:rPr>
              <a:t>A </a:t>
            </a:r>
            <a:r>
              <a:rPr lang="en-US" altLang="zh-CN" u="sng" dirty="0">
                <a:latin typeface="Arial" panose="020B0604020202020204" pitchFamily="34" charset="0"/>
                <a:ea typeface="SimSun" panose="02010600030101010101" pitchFamily="2" charset="-122"/>
              </a:rPr>
              <a:t>clustering</a:t>
            </a:r>
            <a:r>
              <a:rPr lang="en-US" altLang="zh-CN" dirty="0">
                <a:latin typeface="Arial" panose="020B0604020202020204" pitchFamily="34" charset="0"/>
                <a:ea typeface="SimSun" panose="02010600030101010101" pitchFamily="2" charset="-122"/>
              </a:rPr>
              <a:t> of the data objects is obtained by </a:t>
            </a:r>
            <a:r>
              <a:rPr lang="en-US" altLang="zh-CN" u="sng" dirty="0">
                <a:latin typeface="Arial" panose="020B0604020202020204" pitchFamily="34" charset="0"/>
                <a:ea typeface="SimSun" panose="02010600030101010101" pitchFamily="2" charset="-122"/>
              </a:rPr>
              <a:t>cutting</a:t>
            </a:r>
            <a:r>
              <a:rPr lang="en-US" altLang="zh-CN" dirty="0">
                <a:latin typeface="Arial" panose="020B0604020202020204" pitchFamily="34" charset="0"/>
                <a:ea typeface="SimSun" panose="02010600030101010101" pitchFamily="2" charset="-122"/>
              </a:rPr>
              <a:t> the dendrogram at the desired level, then each </a:t>
            </a:r>
            <a:r>
              <a:rPr lang="en-US" altLang="zh-CN" u="sng" dirty="0">
                <a:latin typeface="Arial" panose="020B0604020202020204" pitchFamily="34" charset="0"/>
                <a:ea typeface="SimSun" panose="02010600030101010101" pitchFamily="2" charset="-122"/>
              </a:rPr>
              <a:t>connected component</a:t>
            </a:r>
            <a:r>
              <a:rPr lang="en-US" altLang="zh-CN" dirty="0">
                <a:latin typeface="Arial" panose="020B0604020202020204" pitchFamily="34" charset="0"/>
                <a:ea typeface="SimSun" panose="02010600030101010101" pitchFamily="2" charset="-122"/>
              </a:rPr>
              <a:t> forms a cluster</a:t>
            </a:r>
            <a:endParaRPr lang="en-US" altLang="zh-CN" dirty="0">
              <a:latin typeface="Arial" panose="020B0604020202020204" pitchFamily="34" charset="0"/>
              <a:ea typeface="SimSun" panose="02010600030101010101" pitchFamily="2" charset="-122"/>
            </a:endParaRPr>
          </a:p>
        </p:txBody>
      </p:sp>
      <p:sp>
        <p:nvSpPr>
          <p:cNvPr id="28715" name="Slide Number Placeholder 45"/>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title"/>
          </p:nvPr>
        </p:nvSpPr>
        <p:spPr>
          <a:xfrm>
            <a:off x="533400" y="304800"/>
            <a:ext cx="7924800" cy="762000"/>
          </a:xfrm>
        </p:spPr>
        <p:txBody>
          <a:bodyPr vert="horz" wrap="square" lIns="91440" tIns="45720" rIns="91440" bIns="45720" anchor="b" anchorCtr="0"/>
          <a:p>
            <a:pPr eaLnBrk="1" hangingPunct="1"/>
            <a:r>
              <a:rPr lang="en-US" altLang="zh-CN" sz="3200" dirty="0">
                <a:ea typeface="SimSun" panose="02010600030101010101" pitchFamily="2" charset="-122"/>
              </a:rPr>
              <a:t>DIANA (Divisive Analysis)</a:t>
            </a:r>
            <a:endParaRPr lang="en-US" altLang="zh-CN" sz="2400" dirty="0">
              <a:ea typeface="SimSun" panose="02010600030101010101" pitchFamily="2" charset="-122"/>
            </a:endParaRPr>
          </a:p>
        </p:txBody>
      </p:sp>
      <p:sp>
        <p:nvSpPr>
          <p:cNvPr id="29699" name="Rectangle 3"/>
          <p:cNvSpPr>
            <a:spLocks noGrp="1"/>
          </p:cNvSpPr>
          <p:nvPr>
            <p:ph idx="1"/>
          </p:nvPr>
        </p:nvSpPr>
        <p:spPr>
          <a:xfrm>
            <a:off x="381000" y="1524000"/>
            <a:ext cx="8382000" cy="2667000"/>
          </a:xfrm>
        </p:spPr>
        <p:txBody>
          <a:bodyPr vert="horz" wrap="square" lIns="91440" tIns="45720" rIns="91440" bIns="45720" anchor="t" anchorCtr="0"/>
          <a:p>
            <a:pPr eaLnBrk="1" hangingPunct="1">
              <a:lnSpc>
                <a:spcPct val="110000"/>
              </a:lnSpc>
              <a:spcBef>
                <a:spcPct val="50000"/>
              </a:spcBef>
              <a:buClr>
                <a:schemeClr val="tx1"/>
              </a:buClr>
            </a:pPr>
            <a:r>
              <a:rPr lang="en-US" altLang="zh-CN" sz="2400" dirty="0">
                <a:ea typeface="SimSun" panose="02010600030101010101" pitchFamily="2" charset="-122"/>
              </a:rPr>
              <a:t>Introduced in Kaufmann and Rousseeuw (1990)</a:t>
            </a:r>
            <a:endParaRPr lang="en-US" altLang="zh-CN" sz="2400" dirty="0">
              <a:ea typeface="SimSun" panose="02010600030101010101" pitchFamily="2" charset="-122"/>
            </a:endParaRPr>
          </a:p>
          <a:p>
            <a:pPr eaLnBrk="1" hangingPunct="1">
              <a:lnSpc>
                <a:spcPct val="110000"/>
              </a:lnSpc>
              <a:spcBef>
                <a:spcPct val="50000"/>
              </a:spcBef>
              <a:buClr>
                <a:schemeClr val="tx1"/>
              </a:buClr>
            </a:pPr>
            <a:r>
              <a:rPr lang="en-US" altLang="zh-CN" sz="2400" dirty="0">
                <a:ea typeface="SimSun" panose="02010600030101010101" pitchFamily="2" charset="-122"/>
              </a:rPr>
              <a:t>Implemented in statistical analysis packages, e.g., Splus</a:t>
            </a:r>
            <a:endParaRPr lang="en-US" altLang="zh-CN" sz="2400" dirty="0">
              <a:ea typeface="SimSun" panose="02010600030101010101" pitchFamily="2" charset="-122"/>
            </a:endParaRPr>
          </a:p>
          <a:p>
            <a:pPr eaLnBrk="1" hangingPunct="1">
              <a:lnSpc>
                <a:spcPct val="110000"/>
              </a:lnSpc>
              <a:spcBef>
                <a:spcPct val="50000"/>
              </a:spcBef>
              <a:buClr>
                <a:schemeClr val="tx1"/>
              </a:buClr>
            </a:pPr>
            <a:r>
              <a:rPr lang="en-US" altLang="zh-CN" sz="2400" dirty="0">
                <a:ea typeface="SimSun" panose="02010600030101010101" pitchFamily="2" charset="-122"/>
              </a:rPr>
              <a:t>Inverse order of AGNES</a:t>
            </a:r>
            <a:endParaRPr lang="en-US" altLang="zh-CN" sz="2400" dirty="0">
              <a:ea typeface="SimSun" panose="02010600030101010101" pitchFamily="2" charset="-122"/>
            </a:endParaRPr>
          </a:p>
          <a:p>
            <a:pPr eaLnBrk="1" hangingPunct="1">
              <a:lnSpc>
                <a:spcPct val="110000"/>
              </a:lnSpc>
              <a:spcBef>
                <a:spcPct val="50000"/>
              </a:spcBef>
              <a:buClr>
                <a:schemeClr val="tx1"/>
              </a:buClr>
            </a:pPr>
            <a:r>
              <a:rPr lang="en-US" altLang="zh-CN" sz="2400" dirty="0">
                <a:ea typeface="SimSun" panose="02010600030101010101" pitchFamily="2" charset="-122"/>
              </a:rPr>
              <a:t>Eventually each node forms a cluster on its own</a:t>
            </a:r>
            <a:endParaRPr lang="en-US" altLang="zh-CN" sz="2400" dirty="0">
              <a:ea typeface="SimSun" panose="02010600030101010101" pitchFamily="2" charset="-122"/>
            </a:endParaRPr>
          </a:p>
        </p:txBody>
      </p:sp>
      <p:grpSp>
        <p:nvGrpSpPr>
          <p:cNvPr id="29700" name="Group 4"/>
          <p:cNvGrpSpPr/>
          <p:nvPr/>
        </p:nvGrpSpPr>
        <p:grpSpPr>
          <a:xfrm>
            <a:off x="609600" y="4495800"/>
            <a:ext cx="2209800" cy="2017713"/>
            <a:chOff x="3552" y="2496"/>
            <a:chExt cx="1392" cy="1271"/>
          </a:xfrm>
        </p:grpSpPr>
        <p:graphicFrame>
          <p:nvGraphicFramePr>
            <p:cNvPr id="29718" name="Object 5"/>
            <p:cNvGraphicFramePr>
              <a:graphicFrameLocks noChangeAspect="1"/>
            </p:cNvGraphicFramePr>
            <p:nvPr/>
          </p:nvGraphicFramePr>
          <p:xfrm>
            <a:off x="3552" y="2496"/>
            <a:ext cx="1392" cy="1271"/>
          </p:xfrm>
          <a:graphic>
            <a:graphicData uri="http://schemas.openxmlformats.org/presentationml/2006/ole">
              <mc:AlternateContent xmlns:mc="http://schemas.openxmlformats.org/markup-compatibility/2006">
                <mc:Choice xmlns:v="urn:schemas-microsoft-com:vml" Requires="v">
                  <p:oleObj spid="_x0000_s3089" name="" r:id="rId1" imgW="2618740" imgH="2472055" progId="Excel.Sheet.8">
                    <p:embed/>
                  </p:oleObj>
                </mc:Choice>
                <mc:Fallback>
                  <p:oleObj name="" r:id="rId1" imgW="2618740" imgH="2472055" progId="Excel.Sheet.8">
                    <p:embed/>
                    <p:pic>
                      <p:nvPicPr>
                        <p:cNvPr id="0" name="Picture 3088"/>
                        <p:cNvPicPr/>
                        <p:nvPr/>
                      </p:nvPicPr>
                      <p:blipFill>
                        <a:blip r:embed="rId2"/>
                        <a:stretch>
                          <a:fillRect/>
                        </a:stretch>
                      </p:blipFill>
                      <p:spPr>
                        <a:xfrm>
                          <a:off x="3552" y="2496"/>
                          <a:ext cx="1392" cy="1271"/>
                        </a:xfrm>
                        <a:prstGeom prst="rect">
                          <a:avLst/>
                        </a:prstGeom>
                        <a:noFill/>
                        <a:ln w="38100">
                          <a:noFill/>
                          <a:miter/>
                        </a:ln>
                      </p:spPr>
                    </p:pic>
                  </p:oleObj>
                </mc:Fallback>
              </mc:AlternateContent>
            </a:graphicData>
          </a:graphic>
        </p:graphicFrame>
        <p:sp>
          <p:nvSpPr>
            <p:cNvPr id="29719" name="Oval 6"/>
            <p:cNvSpPr/>
            <p:nvPr/>
          </p:nvSpPr>
          <p:spPr>
            <a:xfrm>
              <a:off x="3888" y="2688"/>
              <a:ext cx="384" cy="624"/>
            </a:xfrm>
            <a:prstGeom prst="ellipse">
              <a:avLst/>
            </a:prstGeom>
            <a:noFill/>
            <a:ln w="28575" cap="flat" cmpd="sng">
              <a:solidFill>
                <a:schemeClr val="tx1"/>
              </a:solidFill>
              <a:prstDash val="lgDash"/>
              <a:headEnd type="none" w="med" len="med"/>
              <a:tailEnd type="none" w="med" len="med"/>
            </a:ln>
          </p:spPr>
          <p:txBody>
            <a:bodyPr anchor="ctr" anchorCtr="0">
              <a:spAutoFit/>
            </a:bodyPr>
            <a:p>
              <a:endParaRPr dirty="0">
                <a:latin typeface="Tahoma" panose="020B0604030504040204" pitchFamily="34" charset="0"/>
              </a:endParaRPr>
            </a:p>
          </p:txBody>
        </p:sp>
        <p:sp>
          <p:nvSpPr>
            <p:cNvPr id="29720" name="Oval 7"/>
            <p:cNvSpPr/>
            <p:nvPr/>
          </p:nvSpPr>
          <p:spPr>
            <a:xfrm>
              <a:off x="4272" y="3024"/>
              <a:ext cx="480" cy="480"/>
            </a:xfrm>
            <a:prstGeom prst="ellipse">
              <a:avLst/>
            </a:prstGeom>
            <a:noFill/>
            <a:ln w="28575" cap="flat" cmpd="sng">
              <a:solidFill>
                <a:schemeClr val="tx1"/>
              </a:solidFill>
              <a:prstDash val="lgDash"/>
              <a:headEnd type="none" w="med" len="med"/>
              <a:tailEnd type="none" w="med" len="med"/>
            </a:ln>
          </p:spPr>
          <p:txBody>
            <a:bodyPr anchor="ctr" anchorCtr="0">
              <a:spAutoFit/>
            </a:bodyPr>
            <a:p>
              <a:endParaRPr dirty="0">
                <a:latin typeface="Tahoma" panose="020B0604030504040204" pitchFamily="34" charset="0"/>
              </a:endParaRPr>
            </a:p>
          </p:txBody>
        </p:sp>
      </p:grpSp>
      <p:grpSp>
        <p:nvGrpSpPr>
          <p:cNvPr id="29701" name="Group 8"/>
          <p:cNvGrpSpPr/>
          <p:nvPr/>
        </p:nvGrpSpPr>
        <p:grpSpPr>
          <a:xfrm>
            <a:off x="3276600" y="4532313"/>
            <a:ext cx="2209800" cy="2017712"/>
            <a:chOff x="1968" y="2496"/>
            <a:chExt cx="1392" cy="1271"/>
          </a:xfrm>
        </p:grpSpPr>
        <p:graphicFrame>
          <p:nvGraphicFramePr>
            <p:cNvPr id="29713" name="Object 9"/>
            <p:cNvGraphicFramePr>
              <a:graphicFrameLocks noChangeAspect="1"/>
            </p:cNvGraphicFramePr>
            <p:nvPr/>
          </p:nvGraphicFramePr>
          <p:xfrm>
            <a:off x="1968" y="2496"/>
            <a:ext cx="1392" cy="1271"/>
          </p:xfrm>
          <a:graphic>
            <a:graphicData uri="http://schemas.openxmlformats.org/presentationml/2006/ole">
              <mc:AlternateContent xmlns:mc="http://schemas.openxmlformats.org/markup-compatibility/2006">
                <mc:Choice xmlns:v="urn:schemas-microsoft-com:vml" Requires="v">
                  <p:oleObj spid="_x0000_s3090" name="" r:id="rId3" imgW="2618740" imgH="2472055" progId="Excel.Sheet.8">
                    <p:embed/>
                  </p:oleObj>
                </mc:Choice>
                <mc:Fallback>
                  <p:oleObj name="" r:id="rId3" imgW="2618740" imgH="2472055" progId="Excel.Sheet.8">
                    <p:embed/>
                    <p:pic>
                      <p:nvPicPr>
                        <p:cNvPr id="0" name="Picture 3089"/>
                        <p:cNvPicPr/>
                        <p:nvPr/>
                      </p:nvPicPr>
                      <p:blipFill>
                        <a:blip r:embed="rId2"/>
                        <a:stretch>
                          <a:fillRect/>
                        </a:stretch>
                      </p:blipFill>
                      <p:spPr>
                        <a:xfrm>
                          <a:off x="1968" y="2496"/>
                          <a:ext cx="1392" cy="1271"/>
                        </a:xfrm>
                        <a:prstGeom prst="rect">
                          <a:avLst/>
                        </a:prstGeom>
                        <a:noFill/>
                        <a:ln w="38100">
                          <a:noFill/>
                          <a:miter/>
                        </a:ln>
                      </p:spPr>
                    </p:pic>
                  </p:oleObj>
                </mc:Fallback>
              </mc:AlternateContent>
            </a:graphicData>
          </a:graphic>
        </p:graphicFrame>
        <p:sp>
          <p:nvSpPr>
            <p:cNvPr id="29714" name="Oval 10"/>
            <p:cNvSpPr/>
            <p:nvPr/>
          </p:nvSpPr>
          <p:spPr>
            <a:xfrm>
              <a:off x="2736" y="3312"/>
              <a:ext cx="288" cy="192"/>
            </a:xfrm>
            <a:prstGeom prst="ellipse">
              <a:avLst/>
            </a:prstGeom>
            <a:noFill/>
            <a:ln w="28575" cap="flat" cmpd="sng">
              <a:solidFill>
                <a:schemeClr val="tx1"/>
              </a:solidFill>
              <a:prstDash val="lgDash"/>
              <a:headEnd type="none" w="med" len="med"/>
              <a:tailEnd type="none" w="med" len="med"/>
            </a:ln>
          </p:spPr>
          <p:txBody>
            <a:bodyPr wrap="none" anchor="ctr" anchorCtr="0">
              <a:spAutoFit/>
            </a:bodyPr>
            <a:p>
              <a:endParaRPr dirty="0">
                <a:latin typeface="Tahoma" panose="020B0604030504040204" pitchFamily="34" charset="0"/>
              </a:endParaRPr>
            </a:p>
          </p:txBody>
        </p:sp>
        <p:sp>
          <p:nvSpPr>
            <p:cNvPr id="29715" name="Oval 11"/>
            <p:cNvSpPr/>
            <p:nvPr/>
          </p:nvSpPr>
          <p:spPr>
            <a:xfrm>
              <a:off x="2256" y="2688"/>
              <a:ext cx="384" cy="384"/>
            </a:xfrm>
            <a:prstGeom prst="ellipse">
              <a:avLst/>
            </a:prstGeom>
            <a:noFill/>
            <a:ln w="28575" cap="flat" cmpd="sng">
              <a:solidFill>
                <a:schemeClr val="tx1"/>
              </a:solidFill>
              <a:prstDash val="lgDash"/>
              <a:headEnd type="none" w="med" len="med"/>
              <a:tailEnd type="none" w="med" len="med"/>
            </a:ln>
          </p:spPr>
          <p:txBody>
            <a:bodyPr anchor="ctr" anchorCtr="0">
              <a:spAutoFit/>
            </a:bodyPr>
            <a:p>
              <a:endParaRPr dirty="0">
                <a:latin typeface="Tahoma" panose="020B0604030504040204" pitchFamily="34" charset="0"/>
              </a:endParaRPr>
            </a:p>
          </p:txBody>
        </p:sp>
        <p:sp>
          <p:nvSpPr>
            <p:cNvPr id="29716" name="Oval 12"/>
            <p:cNvSpPr/>
            <p:nvPr/>
          </p:nvSpPr>
          <p:spPr>
            <a:xfrm>
              <a:off x="2352" y="3024"/>
              <a:ext cx="384" cy="240"/>
            </a:xfrm>
            <a:prstGeom prst="ellipse">
              <a:avLst/>
            </a:prstGeom>
            <a:noFill/>
            <a:ln w="28575" cap="flat" cmpd="sng">
              <a:solidFill>
                <a:schemeClr val="tx1"/>
              </a:solidFill>
              <a:prstDash val="lgDash"/>
              <a:headEnd type="none" w="med" len="med"/>
              <a:tailEnd type="none" w="med" len="med"/>
            </a:ln>
          </p:spPr>
          <p:txBody>
            <a:bodyPr anchor="ctr" anchorCtr="0">
              <a:spAutoFit/>
            </a:bodyPr>
            <a:p>
              <a:endParaRPr dirty="0">
                <a:latin typeface="Tahoma" panose="020B0604030504040204" pitchFamily="34" charset="0"/>
              </a:endParaRPr>
            </a:p>
          </p:txBody>
        </p:sp>
        <p:sp>
          <p:nvSpPr>
            <p:cNvPr id="29717" name="Oval 13"/>
            <p:cNvSpPr/>
            <p:nvPr/>
          </p:nvSpPr>
          <p:spPr>
            <a:xfrm>
              <a:off x="2832" y="3024"/>
              <a:ext cx="288" cy="288"/>
            </a:xfrm>
            <a:prstGeom prst="ellipse">
              <a:avLst/>
            </a:prstGeom>
            <a:noFill/>
            <a:ln w="28575" cap="flat" cmpd="sng">
              <a:solidFill>
                <a:schemeClr val="tx1"/>
              </a:solidFill>
              <a:prstDash val="lgDash"/>
              <a:headEnd type="none" w="med" len="med"/>
              <a:tailEnd type="none" w="med" len="med"/>
            </a:ln>
          </p:spPr>
          <p:txBody>
            <a:bodyPr anchor="ctr" anchorCtr="0">
              <a:spAutoFit/>
            </a:bodyPr>
            <a:p>
              <a:endParaRPr dirty="0">
                <a:latin typeface="Tahoma" panose="020B0604030504040204" pitchFamily="34" charset="0"/>
              </a:endParaRPr>
            </a:p>
          </p:txBody>
        </p:sp>
      </p:grpSp>
      <p:grpSp>
        <p:nvGrpSpPr>
          <p:cNvPr id="29702" name="Group 14"/>
          <p:cNvGrpSpPr/>
          <p:nvPr/>
        </p:nvGrpSpPr>
        <p:grpSpPr>
          <a:xfrm>
            <a:off x="6019800" y="4495800"/>
            <a:ext cx="2209800" cy="2017713"/>
            <a:chOff x="3792" y="2473"/>
            <a:chExt cx="1392" cy="1271"/>
          </a:xfrm>
        </p:grpSpPr>
        <p:graphicFrame>
          <p:nvGraphicFramePr>
            <p:cNvPr id="29706" name="Object 15"/>
            <p:cNvGraphicFramePr>
              <a:graphicFrameLocks noChangeAspect="1"/>
            </p:cNvGraphicFramePr>
            <p:nvPr/>
          </p:nvGraphicFramePr>
          <p:xfrm>
            <a:off x="3792" y="2473"/>
            <a:ext cx="1392" cy="1271"/>
          </p:xfrm>
          <a:graphic>
            <a:graphicData uri="http://schemas.openxmlformats.org/presentationml/2006/ole">
              <mc:AlternateContent xmlns:mc="http://schemas.openxmlformats.org/markup-compatibility/2006">
                <mc:Choice xmlns:v="urn:schemas-microsoft-com:vml" Requires="v">
                  <p:oleObj spid="_x0000_s3091" name="" r:id="rId4" imgW="2618740" imgH="2472055" progId="Excel.Sheet.8">
                    <p:embed/>
                  </p:oleObj>
                </mc:Choice>
                <mc:Fallback>
                  <p:oleObj name="" r:id="rId4" imgW="2618740" imgH="2472055" progId="Excel.Sheet.8">
                    <p:embed/>
                    <p:pic>
                      <p:nvPicPr>
                        <p:cNvPr id="0" name="Picture 3090"/>
                        <p:cNvPicPr/>
                        <p:nvPr/>
                      </p:nvPicPr>
                      <p:blipFill>
                        <a:blip r:embed="rId2"/>
                        <a:stretch>
                          <a:fillRect/>
                        </a:stretch>
                      </p:blipFill>
                      <p:spPr>
                        <a:xfrm>
                          <a:off x="3792" y="2473"/>
                          <a:ext cx="1392" cy="1271"/>
                        </a:xfrm>
                        <a:prstGeom prst="rect">
                          <a:avLst/>
                        </a:prstGeom>
                        <a:noFill/>
                        <a:ln w="38100">
                          <a:noFill/>
                          <a:miter/>
                        </a:ln>
                      </p:spPr>
                    </p:pic>
                  </p:oleObj>
                </mc:Fallback>
              </mc:AlternateContent>
            </a:graphicData>
          </a:graphic>
        </p:graphicFrame>
        <p:sp>
          <p:nvSpPr>
            <p:cNvPr id="29707" name="Oval 16"/>
            <p:cNvSpPr/>
            <p:nvPr/>
          </p:nvSpPr>
          <p:spPr>
            <a:xfrm>
              <a:off x="4224" y="2713"/>
              <a:ext cx="288" cy="288"/>
            </a:xfrm>
            <a:prstGeom prst="ellipse">
              <a:avLst/>
            </a:prstGeom>
            <a:noFill/>
            <a:ln w="28575" cap="flat" cmpd="sng">
              <a:solidFill>
                <a:schemeClr val="tx1"/>
              </a:solidFill>
              <a:prstDash val="lgDash"/>
              <a:headEnd type="none" w="med" len="med"/>
              <a:tailEnd type="none" w="med" len="med"/>
            </a:ln>
          </p:spPr>
          <p:txBody>
            <a:bodyPr wrap="none" anchor="ctr" anchorCtr="0">
              <a:spAutoFit/>
            </a:bodyPr>
            <a:p>
              <a:endParaRPr dirty="0">
                <a:latin typeface="Tahoma" panose="020B0604030504040204" pitchFamily="34" charset="0"/>
              </a:endParaRPr>
            </a:p>
          </p:txBody>
        </p:sp>
        <p:sp>
          <p:nvSpPr>
            <p:cNvPr id="29708" name="Oval 17"/>
            <p:cNvSpPr/>
            <p:nvPr/>
          </p:nvSpPr>
          <p:spPr>
            <a:xfrm>
              <a:off x="4224" y="3001"/>
              <a:ext cx="288" cy="288"/>
            </a:xfrm>
            <a:prstGeom prst="ellipse">
              <a:avLst/>
            </a:prstGeom>
            <a:noFill/>
            <a:ln w="28575" cap="flat" cmpd="sng">
              <a:solidFill>
                <a:schemeClr val="tx1"/>
              </a:solidFill>
              <a:prstDash val="lgDash"/>
              <a:headEnd type="none" w="med" len="med"/>
              <a:tailEnd type="none" w="med" len="med"/>
            </a:ln>
          </p:spPr>
          <p:txBody>
            <a:bodyPr wrap="none" anchor="ctr" anchorCtr="0">
              <a:spAutoFit/>
            </a:bodyPr>
            <a:p>
              <a:endParaRPr dirty="0">
                <a:latin typeface="Tahoma" panose="020B0604030504040204" pitchFamily="34" charset="0"/>
              </a:endParaRPr>
            </a:p>
          </p:txBody>
        </p:sp>
        <p:sp>
          <p:nvSpPr>
            <p:cNvPr id="29709" name="Oval 18"/>
            <p:cNvSpPr/>
            <p:nvPr/>
          </p:nvSpPr>
          <p:spPr>
            <a:xfrm>
              <a:off x="4800" y="3001"/>
              <a:ext cx="144" cy="288"/>
            </a:xfrm>
            <a:prstGeom prst="ellipse">
              <a:avLst/>
            </a:prstGeom>
            <a:noFill/>
            <a:ln w="28575" cap="flat" cmpd="sng">
              <a:solidFill>
                <a:schemeClr val="tx1"/>
              </a:solidFill>
              <a:prstDash val="lgDash"/>
              <a:headEnd type="none" w="med" len="med"/>
              <a:tailEnd type="none" w="med" len="med"/>
            </a:ln>
          </p:spPr>
          <p:txBody>
            <a:bodyPr anchor="ctr" anchorCtr="0">
              <a:spAutoFit/>
            </a:bodyPr>
            <a:p>
              <a:endParaRPr dirty="0">
                <a:latin typeface="Tahoma" panose="020B0604030504040204" pitchFamily="34" charset="0"/>
              </a:endParaRPr>
            </a:p>
          </p:txBody>
        </p:sp>
        <p:sp>
          <p:nvSpPr>
            <p:cNvPr id="29710" name="Oval 19"/>
            <p:cNvSpPr/>
            <p:nvPr/>
          </p:nvSpPr>
          <p:spPr>
            <a:xfrm>
              <a:off x="4128" y="2880"/>
              <a:ext cx="96" cy="192"/>
            </a:xfrm>
            <a:prstGeom prst="ellipse">
              <a:avLst/>
            </a:prstGeom>
            <a:noFill/>
            <a:ln w="28575" cap="flat" cmpd="sng">
              <a:solidFill>
                <a:schemeClr val="tx1"/>
              </a:solidFill>
              <a:prstDash val="lgDash"/>
              <a:headEnd type="none" w="med" len="med"/>
              <a:tailEnd type="none" w="med" len="med"/>
            </a:ln>
          </p:spPr>
          <p:txBody>
            <a:bodyPr anchor="ctr" anchorCtr="0">
              <a:spAutoFit/>
            </a:bodyPr>
            <a:p>
              <a:endParaRPr dirty="0">
                <a:latin typeface="Tahoma" panose="020B0604030504040204" pitchFamily="34" charset="0"/>
              </a:endParaRPr>
            </a:p>
          </p:txBody>
        </p:sp>
        <p:sp>
          <p:nvSpPr>
            <p:cNvPr id="29711" name="Oval 20"/>
            <p:cNvSpPr/>
            <p:nvPr/>
          </p:nvSpPr>
          <p:spPr>
            <a:xfrm rot="-5400000">
              <a:off x="4608" y="3216"/>
              <a:ext cx="144" cy="288"/>
            </a:xfrm>
            <a:prstGeom prst="ellipse">
              <a:avLst/>
            </a:prstGeom>
            <a:noFill/>
            <a:ln w="28575" cap="flat" cmpd="sng">
              <a:solidFill>
                <a:schemeClr val="tx1"/>
              </a:solidFill>
              <a:prstDash val="lgDash"/>
              <a:headEnd type="none" w="med" len="med"/>
              <a:tailEnd type="none" w="med" len="med"/>
            </a:ln>
          </p:spPr>
          <p:txBody>
            <a:bodyPr anchor="ctr" anchorCtr="0">
              <a:spAutoFit/>
            </a:bodyPr>
            <a:p>
              <a:endParaRPr dirty="0">
                <a:latin typeface="Tahoma" panose="020B0604030504040204" pitchFamily="34" charset="0"/>
              </a:endParaRPr>
            </a:p>
          </p:txBody>
        </p:sp>
        <p:sp>
          <p:nvSpPr>
            <p:cNvPr id="29712" name="Oval 21"/>
            <p:cNvSpPr/>
            <p:nvPr/>
          </p:nvSpPr>
          <p:spPr>
            <a:xfrm rot="-5400000">
              <a:off x="4704" y="3072"/>
              <a:ext cx="96" cy="192"/>
            </a:xfrm>
            <a:prstGeom prst="ellipse">
              <a:avLst/>
            </a:prstGeom>
            <a:noFill/>
            <a:ln w="28575" cap="flat" cmpd="sng">
              <a:solidFill>
                <a:schemeClr val="tx1"/>
              </a:solidFill>
              <a:prstDash val="lgDash"/>
              <a:headEnd type="none" w="med" len="med"/>
              <a:tailEnd type="none" w="med" len="med"/>
            </a:ln>
          </p:spPr>
          <p:txBody>
            <a:bodyPr anchor="ctr" anchorCtr="0">
              <a:spAutoFit/>
            </a:bodyPr>
            <a:p>
              <a:endParaRPr dirty="0">
                <a:latin typeface="Tahoma" panose="020B0604030504040204" pitchFamily="34" charset="0"/>
              </a:endParaRPr>
            </a:p>
          </p:txBody>
        </p:sp>
      </p:grpSp>
      <p:sp>
        <p:nvSpPr>
          <p:cNvPr id="29703" name="Line 22"/>
          <p:cNvSpPr/>
          <p:nvPr/>
        </p:nvSpPr>
        <p:spPr>
          <a:xfrm>
            <a:off x="2895600" y="5446713"/>
            <a:ext cx="304800" cy="0"/>
          </a:xfrm>
          <a:prstGeom prst="line">
            <a:avLst/>
          </a:prstGeom>
          <a:ln w="28575" cap="flat" cmpd="sng">
            <a:solidFill>
              <a:schemeClr val="tx1"/>
            </a:solidFill>
            <a:prstDash val="solid"/>
            <a:headEnd type="none" w="med" len="med"/>
            <a:tailEnd type="triangle" w="med" len="med"/>
          </a:ln>
        </p:spPr>
      </p:sp>
      <p:sp>
        <p:nvSpPr>
          <p:cNvPr id="29704" name="Line 23"/>
          <p:cNvSpPr/>
          <p:nvPr/>
        </p:nvSpPr>
        <p:spPr>
          <a:xfrm>
            <a:off x="5638800" y="5522913"/>
            <a:ext cx="304800" cy="0"/>
          </a:xfrm>
          <a:prstGeom prst="line">
            <a:avLst/>
          </a:prstGeom>
          <a:ln w="28575" cap="flat" cmpd="sng">
            <a:solidFill>
              <a:schemeClr val="tx1"/>
            </a:solidFill>
            <a:prstDash val="solid"/>
            <a:headEnd type="none" w="med" len="med"/>
            <a:tailEnd type="triangle" w="med" len="med"/>
          </a:ln>
        </p:spPr>
      </p:sp>
      <p:sp>
        <p:nvSpPr>
          <p:cNvPr id="29705" name="Slide Number Placeholder 2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a:xfrm>
            <a:off x="152400" y="304800"/>
            <a:ext cx="5791200" cy="838200"/>
          </a:xfrm>
        </p:spPr>
        <p:txBody>
          <a:bodyPr vert="horz" wrap="square" lIns="92075" tIns="46038" rIns="92075" bIns="46038" anchor="ctr" anchorCtr="0"/>
          <a:p>
            <a:pPr eaLnBrk="1" hangingPunct="1"/>
            <a:r>
              <a:rPr dirty="0">
                <a:cs typeface="Tahoma" panose="020B0604030504040204" pitchFamily="34" charset="0"/>
                <a:sym typeface="Symbol" panose="05050102010706020507" pitchFamily="18" charset="2"/>
              </a:rPr>
              <a:t>Distance between Clusters</a:t>
            </a:r>
            <a:endParaRPr sz="3200" dirty="0"/>
          </a:p>
        </p:txBody>
      </p:sp>
      <p:sp>
        <p:nvSpPr>
          <p:cNvPr id="30723" name="Rectangle 3"/>
          <p:cNvSpPr>
            <a:spLocks noGrp="1"/>
          </p:cNvSpPr>
          <p:nvPr>
            <p:ph type="body" idx="4294967295"/>
          </p:nvPr>
        </p:nvSpPr>
        <p:spPr>
          <a:xfrm>
            <a:off x="304800" y="1295400"/>
            <a:ext cx="8382000" cy="5181600"/>
          </a:xfrm>
        </p:spPr>
        <p:txBody>
          <a:bodyPr vert="horz" wrap="square" lIns="92075" tIns="46038" rIns="92075" bIns="46038" anchor="t" anchorCtr="0"/>
          <a:p>
            <a:pPr eaLnBrk="1" hangingPunct="1">
              <a:lnSpc>
                <a:spcPct val="130000"/>
              </a:lnSpc>
            </a:pPr>
            <a:r>
              <a:rPr sz="2400" dirty="0">
                <a:cs typeface="Tahoma" panose="020B0604030504040204" pitchFamily="34" charset="0"/>
                <a:sym typeface="Symbol" panose="05050102010706020507" pitchFamily="18" charset="2"/>
              </a:rPr>
              <a:t>Single link:  </a:t>
            </a:r>
            <a:r>
              <a:rPr sz="2000" dirty="0">
                <a:cs typeface="Tahoma" panose="020B0604030504040204" pitchFamily="34" charset="0"/>
                <a:sym typeface="Symbol" panose="05050102010706020507" pitchFamily="18" charset="2"/>
              </a:rPr>
              <a:t>smallest distance between an element in one cluster and an element in the other, i.e.,  dist(K</a:t>
            </a:r>
            <a:r>
              <a:rPr sz="2000" baseline="-25000" dirty="0">
                <a:cs typeface="Tahoma" panose="020B0604030504040204" pitchFamily="34" charset="0"/>
                <a:sym typeface="Symbol" panose="05050102010706020507" pitchFamily="18" charset="2"/>
              </a:rPr>
              <a:t>i</a:t>
            </a:r>
            <a:r>
              <a:rPr sz="2000" dirty="0">
                <a:cs typeface="Tahoma" panose="020B0604030504040204" pitchFamily="34" charset="0"/>
                <a:sym typeface="Symbol" panose="05050102010706020507" pitchFamily="18" charset="2"/>
              </a:rPr>
              <a:t>, K</a:t>
            </a:r>
            <a:r>
              <a:rPr sz="2000" baseline="-25000" dirty="0">
                <a:cs typeface="Tahoma" panose="020B0604030504040204" pitchFamily="34" charset="0"/>
                <a:sym typeface="Symbol" panose="05050102010706020507" pitchFamily="18" charset="2"/>
              </a:rPr>
              <a:t>j</a:t>
            </a:r>
            <a:r>
              <a:rPr sz="2000" dirty="0">
                <a:cs typeface="Tahoma" panose="020B0604030504040204" pitchFamily="34" charset="0"/>
                <a:sym typeface="Symbol" panose="05050102010706020507" pitchFamily="18" charset="2"/>
              </a:rPr>
              <a:t>) = min(t</a:t>
            </a:r>
            <a:r>
              <a:rPr sz="2000" baseline="-25000" dirty="0">
                <a:cs typeface="Tahoma" panose="020B0604030504040204" pitchFamily="34" charset="0"/>
                <a:sym typeface="Symbol" panose="05050102010706020507" pitchFamily="18" charset="2"/>
              </a:rPr>
              <a:t>ip</a:t>
            </a:r>
            <a:r>
              <a:rPr sz="2000" dirty="0">
                <a:cs typeface="Tahoma" panose="020B0604030504040204" pitchFamily="34" charset="0"/>
                <a:sym typeface="Symbol" panose="05050102010706020507" pitchFamily="18" charset="2"/>
              </a:rPr>
              <a:t>, t</a:t>
            </a:r>
            <a:r>
              <a:rPr sz="2000" baseline="-25000" dirty="0">
                <a:cs typeface="Tahoma" panose="020B0604030504040204" pitchFamily="34" charset="0"/>
                <a:sym typeface="Symbol" panose="05050102010706020507" pitchFamily="18" charset="2"/>
              </a:rPr>
              <a:t>jq</a:t>
            </a:r>
            <a:r>
              <a:rPr sz="2000" dirty="0">
                <a:cs typeface="Tahoma" panose="020B0604030504040204" pitchFamily="34" charset="0"/>
                <a:sym typeface="Symbol" panose="05050102010706020507" pitchFamily="18" charset="2"/>
              </a:rPr>
              <a:t>)</a:t>
            </a:r>
            <a:endParaRPr sz="2000" dirty="0">
              <a:cs typeface="Tahoma" panose="020B0604030504040204" pitchFamily="34" charset="0"/>
              <a:sym typeface="Symbol" panose="05050102010706020507" pitchFamily="18" charset="2"/>
            </a:endParaRPr>
          </a:p>
          <a:p>
            <a:pPr eaLnBrk="1" hangingPunct="1">
              <a:lnSpc>
                <a:spcPct val="130000"/>
              </a:lnSpc>
            </a:pPr>
            <a:r>
              <a:rPr sz="2400" dirty="0">
                <a:cs typeface="Tahoma" panose="020B0604030504040204" pitchFamily="34" charset="0"/>
                <a:sym typeface="Symbol" panose="05050102010706020507" pitchFamily="18" charset="2"/>
              </a:rPr>
              <a:t>Complete link: </a:t>
            </a:r>
            <a:r>
              <a:rPr sz="2000" dirty="0">
                <a:cs typeface="Tahoma" panose="020B0604030504040204" pitchFamily="34" charset="0"/>
                <a:sym typeface="Symbol" panose="05050102010706020507" pitchFamily="18" charset="2"/>
              </a:rPr>
              <a:t>largest distance between an element in one cluster and an element in the other, i.e.,  dist(K</a:t>
            </a:r>
            <a:r>
              <a:rPr sz="2000" baseline="-25000" dirty="0">
                <a:cs typeface="Tahoma" panose="020B0604030504040204" pitchFamily="34" charset="0"/>
                <a:sym typeface="Symbol" panose="05050102010706020507" pitchFamily="18" charset="2"/>
              </a:rPr>
              <a:t>i</a:t>
            </a:r>
            <a:r>
              <a:rPr sz="2000" dirty="0">
                <a:cs typeface="Tahoma" panose="020B0604030504040204" pitchFamily="34" charset="0"/>
                <a:sym typeface="Symbol" panose="05050102010706020507" pitchFamily="18" charset="2"/>
              </a:rPr>
              <a:t>, K</a:t>
            </a:r>
            <a:r>
              <a:rPr sz="2000" baseline="-25000" dirty="0">
                <a:cs typeface="Tahoma" panose="020B0604030504040204" pitchFamily="34" charset="0"/>
                <a:sym typeface="Symbol" panose="05050102010706020507" pitchFamily="18" charset="2"/>
              </a:rPr>
              <a:t>j</a:t>
            </a:r>
            <a:r>
              <a:rPr sz="2000" dirty="0">
                <a:cs typeface="Tahoma" panose="020B0604030504040204" pitchFamily="34" charset="0"/>
                <a:sym typeface="Symbol" panose="05050102010706020507" pitchFamily="18" charset="2"/>
              </a:rPr>
              <a:t>) = max(t</a:t>
            </a:r>
            <a:r>
              <a:rPr sz="2000" baseline="-25000" dirty="0">
                <a:cs typeface="Tahoma" panose="020B0604030504040204" pitchFamily="34" charset="0"/>
                <a:sym typeface="Symbol" panose="05050102010706020507" pitchFamily="18" charset="2"/>
              </a:rPr>
              <a:t>ip</a:t>
            </a:r>
            <a:r>
              <a:rPr sz="2000" dirty="0">
                <a:cs typeface="Tahoma" panose="020B0604030504040204" pitchFamily="34" charset="0"/>
                <a:sym typeface="Symbol" panose="05050102010706020507" pitchFamily="18" charset="2"/>
              </a:rPr>
              <a:t>, t</a:t>
            </a:r>
            <a:r>
              <a:rPr sz="2000" baseline="-25000" dirty="0">
                <a:cs typeface="Tahoma" panose="020B0604030504040204" pitchFamily="34" charset="0"/>
                <a:sym typeface="Symbol" panose="05050102010706020507" pitchFamily="18" charset="2"/>
              </a:rPr>
              <a:t>jq</a:t>
            </a:r>
            <a:r>
              <a:rPr sz="2000" dirty="0">
                <a:cs typeface="Tahoma" panose="020B0604030504040204" pitchFamily="34" charset="0"/>
                <a:sym typeface="Symbol" panose="05050102010706020507" pitchFamily="18" charset="2"/>
              </a:rPr>
              <a:t>)</a:t>
            </a:r>
            <a:endParaRPr sz="2000" dirty="0">
              <a:cs typeface="Tahoma" panose="020B0604030504040204" pitchFamily="34" charset="0"/>
              <a:sym typeface="Symbol" panose="05050102010706020507" pitchFamily="18" charset="2"/>
            </a:endParaRPr>
          </a:p>
          <a:p>
            <a:pPr eaLnBrk="1" hangingPunct="1">
              <a:lnSpc>
                <a:spcPct val="130000"/>
              </a:lnSpc>
            </a:pPr>
            <a:r>
              <a:rPr sz="2400" dirty="0">
                <a:cs typeface="Tahoma" panose="020B0604030504040204" pitchFamily="34" charset="0"/>
                <a:sym typeface="Symbol" panose="05050102010706020507" pitchFamily="18" charset="2"/>
              </a:rPr>
              <a:t>Average: </a:t>
            </a:r>
            <a:r>
              <a:rPr sz="2000" dirty="0">
                <a:cs typeface="Tahoma" panose="020B0604030504040204" pitchFamily="34" charset="0"/>
                <a:sym typeface="Symbol" panose="05050102010706020507" pitchFamily="18" charset="2"/>
              </a:rPr>
              <a:t>avg distance between an element in one cluster and an element in the other, i.e.,  dist(K</a:t>
            </a:r>
            <a:r>
              <a:rPr sz="2000" baseline="-25000" dirty="0">
                <a:cs typeface="Tahoma" panose="020B0604030504040204" pitchFamily="34" charset="0"/>
                <a:sym typeface="Symbol" panose="05050102010706020507" pitchFamily="18" charset="2"/>
              </a:rPr>
              <a:t>i</a:t>
            </a:r>
            <a:r>
              <a:rPr sz="2000" dirty="0">
                <a:cs typeface="Tahoma" panose="020B0604030504040204" pitchFamily="34" charset="0"/>
                <a:sym typeface="Symbol" panose="05050102010706020507" pitchFamily="18" charset="2"/>
              </a:rPr>
              <a:t>, K</a:t>
            </a:r>
            <a:r>
              <a:rPr sz="2000" baseline="-25000" dirty="0">
                <a:cs typeface="Tahoma" panose="020B0604030504040204" pitchFamily="34" charset="0"/>
                <a:sym typeface="Symbol" panose="05050102010706020507" pitchFamily="18" charset="2"/>
              </a:rPr>
              <a:t>j</a:t>
            </a:r>
            <a:r>
              <a:rPr sz="2000" dirty="0">
                <a:cs typeface="Tahoma" panose="020B0604030504040204" pitchFamily="34" charset="0"/>
                <a:sym typeface="Symbol" panose="05050102010706020507" pitchFamily="18" charset="2"/>
              </a:rPr>
              <a:t>) = avg(t</a:t>
            </a:r>
            <a:r>
              <a:rPr sz="2000" baseline="-25000" dirty="0">
                <a:cs typeface="Tahoma" panose="020B0604030504040204" pitchFamily="34" charset="0"/>
                <a:sym typeface="Symbol" panose="05050102010706020507" pitchFamily="18" charset="2"/>
              </a:rPr>
              <a:t>ip</a:t>
            </a:r>
            <a:r>
              <a:rPr sz="2000" dirty="0">
                <a:cs typeface="Tahoma" panose="020B0604030504040204" pitchFamily="34" charset="0"/>
                <a:sym typeface="Symbol" panose="05050102010706020507" pitchFamily="18" charset="2"/>
              </a:rPr>
              <a:t>, t</a:t>
            </a:r>
            <a:r>
              <a:rPr sz="2000" baseline="-25000" dirty="0">
                <a:cs typeface="Tahoma" panose="020B0604030504040204" pitchFamily="34" charset="0"/>
                <a:sym typeface="Symbol" panose="05050102010706020507" pitchFamily="18" charset="2"/>
              </a:rPr>
              <a:t>jq</a:t>
            </a:r>
            <a:r>
              <a:rPr sz="2000" dirty="0">
                <a:cs typeface="Tahoma" panose="020B0604030504040204" pitchFamily="34" charset="0"/>
                <a:sym typeface="Symbol" panose="05050102010706020507" pitchFamily="18" charset="2"/>
              </a:rPr>
              <a:t>)</a:t>
            </a:r>
            <a:endParaRPr sz="2000" dirty="0">
              <a:cs typeface="Tahoma" panose="020B0604030504040204" pitchFamily="34" charset="0"/>
              <a:sym typeface="Symbol" panose="05050102010706020507" pitchFamily="18" charset="2"/>
            </a:endParaRPr>
          </a:p>
          <a:p>
            <a:pPr eaLnBrk="1" hangingPunct="1">
              <a:lnSpc>
                <a:spcPct val="130000"/>
              </a:lnSpc>
            </a:pPr>
            <a:r>
              <a:rPr sz="2400" dirty="0">
                <a:cs typeface="Tahoma" panose="020B0604030504040204" pitchFamily="34" charset="0"/>
                <a:sym typeface="Symbol" panose="05050102010706020507" pitchFamily="18" charset="2"/>
              </a:rPr>
              <a:t>Centroid: </a:t>
            </a:r>
            <a:r>
              <a:rPr sz="2000" dirty="0">
                <a:cs typeface="Tahoma" panose="020B0604030504040204" pitchFamily="34" charset="0"/>
                <a:sym typeface="Symbol" panose="05050102010706020507" pitchFamily="18" charset="2"/>
              </a:rPr>
              <a:t>distance between the centroids of two clusters, i.e.,  dist(K</a:t>
            </a:r>
            <a:r>
              <a:rPr sz="2000" baseline="-25000" dirty="0">
                <a:cs typeface="Tahoma" panose="020B0604030504040204" pitchFamily="34" charset="0"/>
                <a:sym typeface="Symbol" panose="05050102010706020507" pitchFamily="18" charset="2"/>
              </a:rPr>
              <a:t>i</a:t>
            </a:r>
            <a:r>
              <a:rPr sz="2000" dirty="0">
                <a:cs typeface="Tahoma" panose="020B0604030504040204" pitchFamily="34" charset="0"/>
                <a:sym typeface="Symbol" panose="05050102010706020507" pitchFamily="18" charset="2"/>
              </a:rPr>
              <a:t>, K</a:t>
            </a:r>
            <a:r>
              <a:rPr sz="2000" baseline="-25000" dirty="0">
                <a:cs typeface="Tahoma" panose="020B0604030504040204" pitchFamily="34" charset="0"/>
                <a:sym typeface="Symbol" panose="05050102010706020507" pitchFamily="18" charset="2"/>
              </a:rPr>
              <a:t>j</a:t>
            </a:r>
            <a:r>
              <a:rPr sz="2000" dirty="0">
                <a:cs typeface="Tahoma" panose="020B0604030504040204" pitchFamily="34" charset="0"/>
                <a:sym typeface="Symbol" panose="05050102010706020507" pitchFamily="18" charset="2"/>
              </a:rPr>
              <a:t>) = dist(C</a:t>
            </a:r>
            <a:r>
              <a:rPr sz="2000" baseline="-25000" dirty="0">
                <a:cs typeface="Tahoma" panose="020B0604030504040204" pitchFamily="34" charset="0"/>
                <a:sym typeface="Symbol" panose="05050102010706020507" pitchFamily="18" charset="2"/>
              </a:rPr>
              <a:t>i</a:t>
            </a:r>
            <a:r>
              <a:rPr sz="2000" dirty="0">
                <a:cs typeface="Tahoma" panose="020B0604030504040204" pitchFamily="34" charset="0"/>
                <a:sym typeface="Symbol" panose="05050102010706020507" pitchFamily="18" charset="2"/>
              </a:rPr>
              <a:t>, C</a:t>
            </a:r>
            <a:r>
              <a:rPr sz="2000" baseline="-25000" dirty="0">
                <a:cs typeface="Tahoma" panose="020B0604030504040204" pitchFamily="34" charset="0"/>
                <a:sym typeface="Symbol" panose="05050102010706020507" pitchFamily="18" charset="2"/>
              </a:rPr>
              <a:t>j</a:t>
            </a:r>
            <a:r>
              <a:rPr sz="2000" dirty="0">
                <a:cs typeface="Tahoma" panose="020B0604030504040204" pitchFamily="34" charset="0"/>
                <a:sym typeface="Symbol" panose="05050102010706020507" pitchFamily="18" charset="2"/>
              </a:rPr>
              <a:t>)</a:t>
            </a:r>
            <a:endParaRPr sz="2000" dirty="0">
              <a:cs typeface="Tahoma" panose="020B0604030504040204" pitchFamily="34" charset="0"/>
              <a:sym typeface="Symbol" panose="05050102010706020507" pitchFamily="18" charset="2"/>
            </a:endParaRPr>
          </a:p>
          <a:p>
            <a:pPr eaLnBrk="1" hangingPunct="1">
              <a:lnSpc>
                <a:spcPct val="130000"/>
              </a:lnSpc>
            </a:pPr>
            <a:r>
              <a:rPr sz="2400" dirty="0">
                <a:cs typeface="Tahoma" panose="020B0604030504040204" pitchFamily="34" charset="0"/>
                <a:sym typeface="Symbol" panose="05050102010706020507" pitchFamily="18" charset="2"/>
              </a:rPr>
              <a:t>Medoid: </a:t>
            </a:r>
            <a:r>
              <a:rPr sz="2000" dirty="0">
                <a:cs typeface="Tahoma" panose="020B0604030504040204" pitchFamily="34" charset="0"/>
                <a:sym typeface="Symbol" panose="05050102010706020507" pitchFamily="18" charset="2"/>
              </a:rPr>
              <a:t>distance between the medoids of two clusters, i.e.,  dist(K</a:t>
            </a:r>
            <a:r>
              <a:rPr sz="2000" baseline="-25000" dirty="0">
                <a:cs typeface="Tahoma" panose="020B0604030504040204" pitchFamily="34" charset="0"/>
                <a:sym typeface="Symbol" panose="05050102010706020507" pitchFamily="18" charset="2"/>
              </a:rPr>
              <a:t>i</a:t>
            </a:r>
            <a:r>
              <a:rPr sz="2000" dirty="0">
                <a:cs typeface="Tahoma" panose="020B0604030504040204" pitchFamily="34" charset="0"/>
                <a:sym typeface="Symbol" panose="05050102010706020507" pitchFamily="18" charset="2"/>
              </a:rPr>
              <a:t>, K</a:t>
            </a:r>
            <a:r>
              <a:rPr sz="2000" baseline="-25000" dirty="0">
                <a:cs typeface="Tahoma" panose="020B0604030504040204" pitchFamily="34" charset="0"/>
                <a:sym typeface="Symbol" panose="05050102010706020507" pitchFamily="18" charset="2"/>
              </a:rPr>
              <a:t>j</a:t>
            </a:r>
            <a:r>
              <a:rPr sz="2000" dirty="0">
                <a:cs typeface="Tahoma" panose="020B0604030504040204" pitchFamily="34" charset="0"/>
                <a:sym typeface="Symbol" panose="05050102010706020507" pitchFamily="18" charset="2"/>
              </a:rPr>
              <a:t>) = dist(M</a:t>
            </a:r>
            <a:r>
              <a:rPr sz="2000" baseline="-25000" dirty="0">
                <a:cs typeface="Tahoma" panose="020B0604030504040204" pitchFamily="34" charset="0"/>
                <a:sym typeface="Symbol" panose="05050102010706020507" pitchFamily="18" charset="2"/>
              </a:rPr>
              <a:t>i</a:t>
            </a:r>
            <a:r>
              <a:rPr sz="2000" dirty="0">
                <a:cs typeface="Tahoma" panose="020B0604030504040204" pitchFamily="34" charset="0"/>
                <a:sym typeface="Symbol" panose="05050102010706020507" pitchFamily="18" charset="2"/>
              </a:rPr>
              <a:t>, M</a:t>
            </a:r>
            <a:r>
              <a:rPr sz="2000" baseline="-25000" dirty="0">
                <a:cs typeface="Tahoma" panose="020B0604030504040204" pitchFamily="34" charset="0"/>
                <a:sym typeface="Symbol" panose="05050102010706020507" pitchFamily="18" charset="2"/>
              </a:rPr>
              <a:t>j</a:t>
            </a:r>
            <a:r>
              <a:rPr sz="2000" dirty="0">
                <a:cs typeface="Tahoma" panose="020B0604030504040204" pitchFamily="34" charset="0"/>
                <a:sym typeface="Symbol" panose="05050102010706020507" pitchFamily="18" charset="2"/>
              </a:rPr>
              <a:t>)</a:t>
            </a:r>
            <a:endParaRPr sz="2000" dirty="0">
              <a:cs typeface="Tahoma" panose="020B0604030504040204" pitchFamily="34" charset="0"/>
              <a:sym typeface="Symbol" panose="05050102010706020507" pitchFamily="18" charset="2"/>
            </a:endParaRPr>
          </a:p>
          <a:p>
            <a:pPr lvl="1" eaLnBrk="1" hangingPunct="1">
              <a:lnSpc>
                <a:spcPct val="130000"/>
              </a:lnSpc>
            </a:pPr>
            <a:r>
              <a:rPr sz="2000" dirty="0">
                <a:cs typeface="Tahoma" panose="020B0604030504040204" pitchFamily="34" charset="0"/>
                <a:sym typeface="Symbol" panose="05050102010706020507" pitchFamily="18" charset="2"/>
              </a:rPr>
              <a:t>Medoid: a chosen, centrally located object in the cluster</a:t>
            </a:r>
            <a:endParaRPr sz="2000" dirty="0">
              <a:ea typeface="Tahoma" panose="020B0604030504040204" pitchFamily="34" charset="0"/>
              <a:sym typeface="Symbol" panose="05050102010706020507" pitchFamily="18" charset="2"/>
            </a:endParaRPr>
          </a:p>
        </p:txBody>
      </p:sp>
      <p:grpSp>
        <p:nvGrpSpPr>
          <p:cNvPr id="30724" name="Group 45"/>
          <p:cNvGrpSpPr/>
          <p:nvPr/>
        </p:nvGrpSpPr>
        <p:grpSpPr>
          <a:xfrm>
            <a:off x="6096000" y="152400"/>
            <a:ext cx="914400" cy="1066800"/>
            <a:chOff x="6096000" y="152400"/>
            <a:chExt cx="914400" cy="1066800"/>
          </a:xfrm>
        </p:grpSpPr>
        <p:grpSp>
          <p:nvGrpSpPr>
            <p:cNvPr id="30746" name="Group 38"/>
            <p:cNvGrpSpPr/>
            <p:nvPr/>
          </p:nvGrpSpPr>
          <p:grpSpPr>
            <a:xfrm>
              <a:off x="6096000" y="152400"/>
              <a:ext cx="914400" cy="1066800"/>
              <a:chOff x="6096000" y="152400"/>
              <a:chExt cx="914400" cy="1066800"/>
            </a:xfrm>
          </p:grpSpPr>
          <p:sp>
            <p:nvSpPr>
              <p:cNvPr id="7" name="Oval 6"/>
              <p:cNvSpPr/>
              <p:nvPr/>
            </p:nvSpPr>
            <p:spPr bwMode="auto">
              <a:xfrm>
                <a:off x="6096000" y="152400"/>
                <a:ext cx="914400" cy="1066800"/>
              </a:xfrm>
              <a:prstGeom prst="ellips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1" i="0" u="none" strike="noStrike" kern="1200" cap="none" spc="0" normalizeH="0" baseline="0" noProof="0">
                  <a:ln w="18000">
                    <a:solidFill>
                      <a:schemeClr val="accent2">
                        <a:satMod val="140000"/>
                      </a:schemeClr>
                    </a:solidFill>
                    <a:prstDash val="solid"/>
                    <a:miter lim="800000"/>
                  </a:ln>
                  <a:noFill/>
                  <a:effectLst>
                    <a:outerShdw blurRad="25500" dist="23000" dir="7020000" algn="tl">
                      <a:srgbClr val="000000">
                        <a:alpha val="50000"/>
                      </a:srgbClr>
                    </a:outerShdw>
                  </a:effectLst>
                  <a:uLnTx/>
                  <a:uFillTx/>
                  <a:latin typeface="Tahoma" panose="020B0604030504040204" pitchFamily="34" charset="0"/>
                  <a:ea typeface="+mn-ea"/>
                  <a:cs typeface="+mn-cs"/>
                </a:endParaRPr>
              </a:p>
            </p:txBody>
          </p:sp>
          <p:sp>
            <p:nvSpPr>
              <p:cNvPr id="30749" name="Oval 8"/>
              <p:cNvSpPr/>
              <p:nvPr/>
            </p:nvSpPr>
            <p:spPr>
              <a:xfrm>
                <a:off x="6324600" y="3048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0750" name="Oval 9"/>
              <p:cNvSpPr/>
              <p:nvPr/>
            </p:nvSpPr>
            <p:spPr>
              <a:xfrm>
                <a:off x="6477000" y="457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0751" name="Oval 10"/>
              <p:cNvSpPr/>
              <p:nvPr/>
            </p:nvSpPr>
            <p:spPr>
              <a:xfrm>
                <a:off x="6629400" y="838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0752" name="Oval 11"/>
              <p:cNvSpPr/>
              <p:nvPr/>
            </p:nvSpPr>
            <p:spPr>
              <a:xfrm>
                <a:off x="6858000" y="6096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0753" name="Oval 12"/>
              <p:cNvSpPr/>
              <p:nvPr/>
            </p:nvSpPr>
            <p:spPr>
              <a:xfrm>
                <a:off x="6172200" y="762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0754" name="Oval 13"/>
              <p:cNvSpPr/>
              <p:nvPr/>
            </p:nvSpPr>
            <p:spPr>
              <a:xfrm>
                <a:off x="6172200" y="457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0755" name="Oval 14"/>
              <p:cNvSpPr/>
              <p:nvPr/>
            </p:nvSpPr>
            <p:spPr>
              <a:xfrm>
                <a:off x="6629400" y="3048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0756" name="Oval 16"/>
              <p:cNvSpPr/>
              <p:nvPr/>
            </p:nvSpPr>
            <p:spPr>
              <a:xfrm>
                <a:off x="6781800" y="4572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0757" name="Oval 17"/>
              <p:cNvSpPr/>
              <p:nvPr/>
            </p:nvSpPr>
            <p:spPr>
              <a:xfrm>
                <a:off x="6400800" y="7620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0758" name="Oval 18"/>
              <p:cNvSpPr/>
              <p:nvPr/>
            </p:nvSpPr>
            <p:spPr>
              <a:xfrm>
                <a:off x="6629400" y="6096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0759" name="Oval 33"/>
              <p:cNvSpPr/>
              <p:nvPr/>
            </p:nvSpPr>
            <p:spPr>
              <a:xfrm>
                <a:off x="6477000" y="10668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0760" name="Oval 34"/>
              <p:cNvSpPr/>
              <p:nvPr/>
            </p:nvSpPr>
            <p:spPr>
              <a:xfrm>
                <a:off x="6477000" y="2286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0761" name="Oval 35"/>
              <p:cNvSpPr/>
              <p:nvPr/>
            </p:nvSpPr>
            <p:spPr>
              <a:xfrm>
                <a:off x="6248400" y="9906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0762" name="Oval 36"/>
              <p:cNvSpPr/>
              <p:nvPr/>
            </p:nvSpPr>
            <p:spPr>
              <a:xfrm>
                <a:off x="6781800" y="990600"/>
                <a:ext cx="76200" cy="762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grpSp>
        <p:sp>
          <p:nvSpPr>
            <p:cNvPr id="30747" name="TextBox 43"/>
            <p:cNvSpPr txBox="1"/>
            <p:nvPr/>
          </p:nvSpPr>
          <p:spPr>
            <a:xfrm flipH="1">
              <a:off x="6507481" y="533400"/>
              <a:ext cx="45719" cy="246221"/>
            </a:xfrm>
            <a:prstGeom prst="rect">
              <a:avLst/>
            </a:prstGeom>
            <a:noFill/>
            <a:ln w="9525">
              <a:noFill/>
            </a:ln>
          </p:spPr>
          <p:txBody>
            <a:bodyPr>
              <a:spAutoFit/>
            </a:bodyPr>
            <a:p>
              <a:r>
                <a:rPr sz="1000" dirty="0">
                  <a:latin typeface="Tahoma" panose="020B0604030504040204" pitchFamily="34" charset="0"/>
                </a:rPr>
                <a:t>X</a:t>
              </a:r>
              <a:endParaRPr sz="1000" dirty="0">
                <a:latin typeface="Tahoma" panose="020B0604030504040204" pitchFamily="34" charset="0"/>
              </a:endParaRPr>
            </a:p>
          </p:txBody>
        </p:sp>
      </p:grpSp>
      <p:grpSp>
        <p:nvGrpSpPr>
          <p:cNvPr id="30725" name="Group 46"/>
          <p:cNvGrpSpPr/>
          <p:nvPr/>
        </p:nvGrpSpPr>
        <p:grpSpPr>
          <a:xfrm>
            <a:off x="7924800" y="304800"/>
            <a:ext cx="1066800" cy="838200"/>
            <a:chOff x="7924800" y="304800"/>
            <a:chExt cx="1066800" cy="838200"/>
          </a:xfrm>
        </p:grpSpPr>
        <p:grpSp>
          <p:nvGrpSpPr>
            <p:cNvPr id="30727" name="Group 39"/>
            <p:cNvGrpSpPr/>
            <p:nvPr/>
          </p:nvGrpSpPr>
          <p:grpSpPr>
            <a:xfrm>
              <a:off x="7924800" y="304800"/>
              <a:ext cx="1066800" cy="838200"/>
              <a:chOff x="7924800" y="304800"/>
              <a:chExt cx="1066800" cy="838200"/>
            </a:xfrm>
          </p:grpSpPr>
          <p:sp>
            <p:nvSpPr>
              <p:cNvPr id="8" name="Oval 7"/>
              <p:cNvSpPr/>
              <p:nvPr/>
            </p:nvSpPr>
            <p:spPr bwMode="auto">
              <a:xfrm>
                <a:off x="7924800" y="304800"/>
                <a:ext cx="1066800" cy="838200"/>
              </a:xfrm>
              <a:prstGeom prst="ellipse">
                <a:avLst/>
              </a:prstGeom>
              <a:ln>
                <a:solidFill>
                  <a:schemeClr val="tx2">
                    <a:lumMod val="60000"/>
                    <a:lumOff val="4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1" i="0" u="none" strike="noStrike" kern="1200" cap="none" spc="0" normalizeH="0" baseline="0" noProof="0">
                  <a:ln w="18000">
                    <a:solidFill>
                      <a:schemeClr val="accent2">
                        <a:satMod val="140000"/>
                      </a:schemeClr>
                    </a:solidFill>
                    <a:prstDash val="solid"/>
                    <a:miter lim="800000"/>
                  </a:ln>
                  <a:noFill/>
                  <a:effectLst>
                    <a:outerShdw blurRad="25500" dist="23000" dir="7020000" algn="tl">
                      <a:srgbClr val="000000">
                        <a:alpha val="50000"/>
                      </a:srgbClr>
                    </a:outerShdw>
                  </a:effectLst>
                  <a:uLnTx/>
                  <a:uFillTx/>
                  <a:latin typeface="Tahoma" panose="020B0604030504040204" pitchFamily="34" charset="0"/>
                  <a:ea typeface="+mn-ea"/>
                  <a:cs typeface="+mn-cs"/>
                </a:endParaRPr>
              </a:p>
            </p:txBody>
          </p:sp>
          <p:sp>
            <p:nvSpPr>
              <p:cNvPr id="30730" name="Oval 15"/>
              <p:cNvSpPr/>
              <p:nvPr/>
            </p:nvSpPr>
            <p:spPr>
              <a:xfrm>
                <a:off x="8305800" y="609600"/>
                <a:ext cx="76200" cy="76200"/>
              </a:xfrm>
              <a:prstGeom prst="ellipse">
                <a:avLst/>
              </a:prstGeom>
              <a:solidFill>
                <a:srgbClr val="0070C0"/>
              </a:solidFill>
              <a:ln w="9525" cap="flat" cmpd="sng">
                <a:solidFill>
                  <a:schemeClr val="tx1"/>
                </a:solidFill>
                <a:prstDash val="solid"/>
                <a:headEnd type="none" w="med" len="med"/>
                <a:tailEnd type="none" w="med" len="med"/>
              </a:ln>
            </p:spPr>
            <p:txBody>
              <a:bodyPr wrap="none" anchor="ctr" anchorCtr="0"/>
              <a:p>
                <a:endParaRPr dirty="0">
                  <a:solidFill>
                    <a:srgbClr val="0000FF"/>
                  </a:solidFill>
                  <a:latin typeface="Tahoma" panose="020B0604030504040204" pitchFamily="34" charset="0"/>
                </a:endParaRPr>
              </a:p>
            </p:txBody>
          </p:sp>
          <p:sp>
            <p:nvSpPr>
              <p:cNvPr id="30731" name="Oval 19"/>
              <p:cNvSpPr/>
              <p:nvPr/>
            </p:nvSpPr>
            <p:spPr>
              <a:xfrm>
                <a:off x="8458200" y="914400"/>
                <a:ext cx="76200" cy="76200"/>
              </a:xfrm>
              <a:prstGeom prst="ellipse">
                <a:avLst/>
              </a:prstGeom>
              <a:solidFill>
                <a:srgbClr val="0070C0"/>
              </a:solidFill>
              <a:ln w="9525" cap="flat" cmpd="sng">
                <a:solidFill>
                  <a:schemeClr val="tx1"/>
                </a:solidFill>
                <a:prstDash val="solid"/>
                <a:headEnd type="none" w="med" len="med"/>
                <a:tailEnd type="none" w="med" len="med"/>
              </a:ln>
            </p:spPr>
            <p:txBody>
              <a:bodyPr wrap="none" anchor="ctr" anchorCtr="0"/>
              <a:p>
                <a:endParaRPr dirty="0">
                  <a:solidFill>
                    <a:srgbClr val="0000FF"/>
                  </a:solidFill>
                  <a:latin typeface="Tahoma" panose="020B0604030504040204" pitchFamily="34" charset="0"/>
                </a:endParaRPr>
              </a:p>
            </p:txBody>
          </p:sp>
          <p:sp>
            <p:nvSpPr>
              <p:cNvPr id="30732" name="Oval 20"/>
              <p:cNvSpPr/>
              <p:nvPr/>
            </p:nvSpPr>
            <p:spPr>
              <a:xfrm>
                <a:off x="8610600" y="533400"/>
                <a:ext cx="76200" cy="76200"/>
              </a:xfrm>
              <a:prstGeom prst="ellipse">
                <a:avLst/>
              </a:prstGeom>
              <a:solidFill>
                <a:srgbClr val="0070C0"/>
              </a:solidFill>
              <a:ln w="9525" cap="flat" cmpd="sng">
                <a:solidFill>
                  <a:schemeClr val="tx1"/>
                </a:solidFill>
                <a:prstDash val="solid"/>
                <a:headEnd type="none" w="med" len="med"/>
                <a:tailEnd type="none" w="med" len="med"/>
              </a:ln>
            </p:spPr>
            <p:txBody>
              <a:bodyPr wrap="none" anchor="ctr" anchorCtr="0"/>
              <a:p>
                <a:endParaRPr dirty="0">
                  <a:solidFill>
                    <a:srgbClr val="0000FF"/>
                  </a:solidFill>
                  <a:latin typeface="Tahoma" panose="020B0604030504040204" pitchFamily="34" charset="0"/>
                </a:endParaRPr>
              </a:p>
            </p:txBody>
          </p:sp>
          <p:sp>
            <p:nvSpPr>
              <p:cNvPr id="30733" name="Oval 21"/>
              <p:cNvSpPr/>
              <p:nvPr/>
            </p:nvSpPr>
            <p:spPr>
              <a:xfrm>
                <a:off x="8458200" y="762000"/>
                <a:ext cx="76200" cy="76200"/>
              </a:xfrm>
              <a:prstGeom prst="ellipse">
                <a:avLst/>
              </a:prstGeom>
              <a:solidFill>
                <a:srgbClr val="0070C0"/>
              </a:solidFill>
              <a:ln w="9525" cap="flat" cmpd="sng">
                <a:solidFill>
                  <a:schemeClr val="tx1"/>
                </a:solidFill>
                <a:prstDash val="solid"/>
                <a:headEnd type="none" w="med" len="med"/>
                <a:tailEnd type="none" w="med" len="med"/>
              </a:ln>
            </p:spPr>
            <p:txBody>
              <a:bodyPr wrap="none" anchor="ctr" anchorCtr="0"/>
              <a:p>
                <a:endParaRPr dirty="0">
                  <a:solidFill>
                    <a:srgbClr val="0000FF"/>
                  </a:solidFill>
                  <a:latin typeface="Tahoma" panose="020B0604030504040204" pitchFamily="34" charset="0"/>
                </a:endParaRPr>
              </a:p>
            </p:txBody>
          </p:sp>
          <p:sp>
            <p:nvSpPr>
              <p:cNvPr id="30734" name="Oval 22"/>
              <p:cNvSpPr/>
              <p:nvPr/>
            </p:nvSpPr>
            <p:spPr>
              <a:xfrm>
                <a:off x="8610600" y="381000"/>
                <a:ext cx="76200" cy="76200"/>
              </a:xfrm>
              <a:prstGeom prst="ellipse">
                <a:avLst/>
              </a:prstGeom>
              <a:solidFill>
                <a:srgbClr val="0070C0"/>
              </a:solidFill>
              <a:ln w="9525" cap="flat" cmpd="sng">
                <a:solidFill>
                  <a:schemeClr val="tx1"/>
                </a:solidFill>
                <a:prstDash val="solid"/>
                <a:headEnd type="none" w="med" len="med"/>
                <a:tailEnd type="none" w="med" len="med"/>
              </a:ln>
            </p:spPr>
            <p:txBody>
              <a:bodyPr wrap="none" anchor="ctr" anchorCtr="0"/>
              <a:p>
                <a:endParaRPr dirty="0">
                  <a:solidFill>
                    <a:srgbClr val="0000FF"/>
                  </a:solidFill>
                  <a:latin typeface="Tahoma" panose="020B0604030504040204" pitchFamily="34" charset="0"/>
                </a:endParaRPr>
              </a:p>
            </p:txBody>
          </p:sp>
          <p:sp>
            <p:nvSpPr>
              <p:cNvPr id="30735" name="Oval 23"/>
              <p:cNvSpPr/>
              <p:nvPr/>
            </p:nvSpPr>
            <p:spPr>
              <a:xfrm>
                <a:off x="8153400" y="838200"/>
                <a:ext cx="76200" cy="76200"/>
              </a:xfrm>
              <a:prstGeom prst="ellipse">
                <a:avLst/>
              </a:prstGeom>
              <a:solidFill>
                <a:srgbClr val="0070C0"/>
              </a:solidFill>
              <a:ln w="9525" cap="flat" cmpd="sng">
                <a:solidFill>
                  <a:schemeClr val="tx1"/>
                </a:solidFill>
                <a:prstDash val="solid"/>
                <a:headEnd type="none" w="med" len="med"/>
                <a:tailEnd type="none" w="med" len="med"/>
              </a:ln>
            </p:spPr>
            <p:txBody>
              <a:bodyPr wrap="none" anchor="ctr" anchorCtr="0"/>
              <a:p>
                <a:endParaRPr dirty="0">
                  <a:solidFill>
                    <a:srgbClr val="0000FF"/>
                  </a:solidFill>
                  <a:latin typeface="Tahoma" panose="020B0604030504040204" pitchFamily="34" charset="0"/>
                </a:endParaRPr>
              </a:p>
            </p:txBody>
          </p:sp>
          <p:sp>
            <p:nvSpPr>
              <p:cNvPr id="30736" name="Oval 24"/>
              <p:cNvSpPr/>
              <p:nvPr/>
            </p:nvSpPr>
            <p:spPr>
              <a:xfrm>
                <a:off x="8305800" y="381000"/>
                <a:ext cx="76200" cy="76200"/>
              </a:xfrm>
              <a:prstGeom prst="ellipse">
                <a:avLst/>
              </a:prstGeom>
              <a:solidFill>
                <a:srgbClr val="0070C0"/>
              </a:solidFill>
              <a:ln w="9525" cap="flat" cmpd="sng">
                <a:solidFill>
                  <a:schemeClr val="tx1"/>
                </a:solidFill>
                <a:prstDash val="solid"/>
                <a:headEnd type="none" w="med" len="med"/>
                <a:tailEnd type="none" w="med" len="med"/>
              </a:ln>
            </p:spPr>
            <p:txBody>
              <a:bodyPr wrap="none" anchor="ctr" anchorCtr="0"/>
              <a:p>
                <a:endParaRPr dirty="0">
                  <a:solidFill>
                    <a:srgbClr val="0000FF"/>
                  </a:solidFill>
                  <a:latin typeface="Tahoma" panose="020B0604030504040204" pitchFamily="34" charset="0"/>
                </a:endParaRPr>
              </a:p>
            </p:txBody>
          </p:sp>
          <p:sp>
            <p:nvSpPr>
              <p:cNvPr id="30737" name="Oval 25"/>
              <p:cNvSpPr/>
              <p:nvPr/>
            </p:nvSpPr>
            <p:spPr>
              <a:xfrm>
                <a:off x="8001000" y="533400"/>
                <a:ext cx="76200" cy="76200"/>
              </a:xfrm>
              <a:prstGeom prst="ellipse">
                <a:avLst/>
              </a:prstGeom>
              <a:solidFill>
                <a:srgbClr val="0070C0"/>
              </a:solidFill>
              <a:ln w="9525" cap="flat" cmpd="sng">
                <a:solidFill>
                  <a:schemeClr val="tx1"/>
                </a:solidFill>
                <a:prstDash val="solid"/>
                <a:headEnd type="none" w="med" len="med"/>
                <a:tailEnd type="none" w="med" len="med"/>
              </a:ln>
            </p:spPr>
            <p:txBody>
              <a:bodyPr wrap="none" anchor="ctr" anchorCtr="0"/>
              <a:p>
                <a:endParaRPr dirty="0">
                  <a:solidFill>
                    <a:srgbClr val="0000FF"/>
                  </a:solidFill>
                  <a:latin typeface="Tahoma" panose="020B0604030504040204" pitchFamily="34" charset="0"/>
                </a:endParaRPr>
              </a:p>
            </p:txBody>
          </p:sp>
          <p:sp>
            <p:nvSpPr>
              <p:cNvPr id="30738" name="Oval 26"/>
              <p:cNvSpPr/>
              <p:nvPr/>
            </p:nvSpPr>
            <p:spPr>
              <a:xfrm>
                <a:off x="8458200" y="533400"/>
                <a:ext cx="76200" cy="76200"/>
              </a:xfrm>
              <a:prstGeom prst="ellipse">
                <a:avLst/>
              </a:prstGeom>
              <a:solidFill>
                <a:srgbClr val="0070C0"/>
              </a:solidFill>
              <a:ln w="9525" cap="flat" cmpd="sng">
                <a:solidFill>
                  <a:schemeClr val="tx1"/>
                </a:solidFill>
                <a:prstDash val="solid"/>
                <a:headEnd type="none" w="med" len="med"/>
                <a:tailEnd type="none" w="med" len="med"/>
              </a:ln>
            </p:spPr>
            <p:txBody>
              <a:bodyPr wrap="none" anchor="ctr" anchorCtr="0"/>
              <a:p>
                <a:endParaRPr b="1" dirty="0">
                  <a:solidFill>
                    <a:srgbClr val="0000FF"/>
                  </a:solidFill>
                  <a:latin typeface="Tahoma" panose="020B0604030504040204" pitchFamily="34" charset="0"/>
                </a:endParaRPr>
              </a:p>
            </p:txBody>
          </p:sp>
          <p:sp>
            <p:nvSpPr>
              <p:cNvPr id="30739" name="Oval 27"/>
              <p:cNvSpPr/>
              <p:nvPr/>
            </p:nvSpPr>
            <p:spPr>
              <a:xfrm>
                <a:off x="8153400" y="685800"/>
                <a:ext cx="76200" cy="76200"/>
              </a:xfrm>
              <a:prstGeom prst="ellipse">
                <a:avLst/>
              </a:prstGeom>
              <a:solidFill>
                <a:srgbClr val="0070C0"/>
              </a:solidFill>
              <a:ln w="9525" cap="flat" cmpd="sng">
                <a:solidFill>
                  <a:schemeClr val="tx1"/>
                </a:solidFill>
                <a:prstDash val="solid"/>
                <a:headEnd type="none" w="med" len="med"/>
                <a:tailEnd type="none" w="med" len="med"/>
              </a:ln>
            </p:spPr>
            <p:txBody>
              <a:bodyPr wrap="none" anchor="ctr" anchorCtr="0"/>
              <a:p>
                <a:endParaRPr dirty="0">
                  <a:solidFill>
                    <a:srgbClr val="0000FF"/>
                  </a:solidFill>
                  <a:latin typeface="Tahoma" panose="020B0604030504040204" pitchFamily="34" charset="0"/>
                </a:endParaRPr>
              </a:p>
            </p:txBody>
          </p:sp>
          <p:sp>
            <p:nvSpPr>
              <p:cNvPr id="30740" name="Oval 28"/>
              <p:cNvSpPr/>
              <p:nvPr/>
            </p:nvSpPr>
            <p:spPr>
              <a:xfrm>
                <a:off x="8305800" y="838200"/>
                <a:ext cx="76200" cy="76200"/>
              </a:xfrm>
              <a:prstGeom prst="ellipse">
                <a:avLst/>
              </a:prstGeom>
              <a:solidFill>
                <a:srgbClr val="0070C0"/>
              </a:solidFill>
              <a:ln w="9525" cap="flat" cmpd="sng">
                <a:solidFill>
                  <a:schemeClr val="tx1"/>
                </a:solidFill>
                <a:prstDash val="solid"/>
                <a:headEnd type="none" w="med" len="med"/>
                <a:tailEnd type="none" w="med" len="med"/>
              </a:ln>
            </p:spPr>
            <p:txBody>
              <a:bodyPr wrap="none" anchor="ctr" anchorCtr="0"/>
              <a:p>
                <a:endParaRPr dirty="0">
                  <a:solidFill>
                    <a:srgbClr val="0000FF"/>
                  </a:solidFill>
                  <a:latin typeface="Tahoma" panose="020B0604030504040204" pitchFamily="34" charset="0"/>
                </a:endParaRPr>
              </a:p>
            </p:txBody>
          </p:sp>
          <p:sp>
            <p:nvSpPr>
              <p:cNvPr id="30741" name="Oval 29"/>
              <p:cNvSpPr/>
              <p:nvPr/>
            </p:nvSpPr>
            <p:spPr>
              <a:xfrm>
                <a:off x="8610600" y="914400"/>
                <a:ext cx="76200" cy="76200"/>
              </a:xfrm>
              <a:prstGeom prst="ellipse">
                <a:avLst/>
              </a:prstGeom>
              <a:solidFill>
                <a:srgbClr val="0070C0"/>
              </a:solidFill>
              <a:ln w="9525" cap="flat" cmpd="sng">
                <a:solidFill>
                  <a:schemeClr val="tx1"/>
                </a:solidFill>
                <a:prstDash val="solid"/>
                <a:headEnd type="none" w="med" len="med"/>
                <a:tailEnd type="none" w="med" len="med"/>
              </a:ln>
            </p:spPr>
            <p:txBody>
              <a:bodyPr wrap="none" anchor="ctr" anchorCtr="0"/>
              <a:p>
                <a:endParaRPr dirty="0">
                  <a:solidFill>
                    <a:srgbClr val="0000FF"/>
                  </a:solidFill>
                  <a:latin typeface="Tahoma" panose="020B0604030504040204" pitchFamily="34" charset="0"/>
                </a:endParaRPr>
              </a:p>
            </p:txBody>
          </p:sp>
          <p:sp>
            <p:nvSpPr>
              <p:cNvPr id="30742" name="Oval 30"/>
              <p:cNvSpPr/>
              <p:nvPr/>
            </p:nvSpPr>
            <p:spPr>
              <a:xfrm>
                <a:off x="8763000" y="838200"/>
                <a:ext cx="76200" cy="76200"/>
              </a:xfrm>
              <a:prstGeom prst="ellipse">
                <a:avLst/>
              </a:prstGeom>
              <a:solidFill>
                <a:srgbClr val="0070C0"/>
              </a:solidFill>
              <a:ln w="9525" cap="flat" cmpd="sng">
                <a:solidFill>
                  <a:schemeClr val="tx1"/>
                </a:solidFill>
                <a:prstDash val="solid"/>
                <a:headEnd type="none" w="med" len="med"/>
                <a:tailEnd type="none" w="med" len="med"/>
              </a:ln>
            </p:spPr>
            <p:txBody>
              <a:bodyPr wrap="none" anchor="ctr" anchorCtr="0"/>
              <a:p>
                <a:endParaRPr dirty="0">
                  <a:solidFill>
                    <a:srgbClr val="0000FF"/>
                  </a:solidFill>
                  <a:latin typeface="Tahoma" panose="020B0604030504040204" pitchFamily="34" charset="0"/>
                </a:endParaRPr>
              </a:p>
            </p:txBody>
          </p:sp>
          <p:sp>
            <p:nvSpPr>
              <p:cNvPr id="30743" name="Oval 31"/>
              <p:cNvSpPr/>
              <p:nvPr/>
            </p:nvSpPr>
            <p:spPr>
              <a:xfrm>
                <a:off x="8839200" y="609600"/>
                <a:ext cx="76200" cy="76200"/>
              </a:xfrm>
              <a:prstGeom prst="ellipse">
                <a:avLst/>
              </a:prstGeom>
              <a:solidFill>
                <a:srgbClr val="0070C0"/>
              </a:solidFill>
              <a:ln w="9525" cap="flat" cmpd="sng">
                <a:solidFill>
                  <a:schemeClr val="tx1"/>
                </a:solidFill>
                <a:prstDash val="solid"/>
                <a:headEnd type="none" w="med" len="med"/>
                <a:tailEnd type="none" w="med" len="med"/>
              </a:ln>
            </p:spPr>
            <p:txBody>
              <a:bodyPr wrap="none" anchor="ctr" anchorCtr="0"/>
              <a:p>
                <a:endParaRPr dirty="0">
                  <a:solidFill>
                    <a:srgbClr val="0000FF"/>
                  </a:solidFill>
                  <a:latin typeface="Tahoma" panose="020B0604030504040204" pitchFamily="34" charset="0"/>
                </a:endParaRPr>
              </a:p>
            </p:txBody>
          </p:sp>
          <p:sp>
            <p:nvSpPr>
              <p:cNvPr id="30744" name="Oval 32"/>
              <p:cNvSpPr/>
              <p:nvPr/>
            </p:nvSpPr>
            <p:spPr>
              <a:xfrm>
                <a:off x="8686800" y="685800"/>
                <a:ext cx="76200" cy="76200"/>
              </a:xfrm>
              <a:prstGeom prst="ellipse">
                <a:avLst/>
              </a:prstGeom>
              <a:solidFill>
                <a:srgbClr val="0070C0"/>
              </a:solidFill>
              <a:ln w="9525" cap="flat" cmpd="sng">
                <a:solidFill>
                  <a:schemeClr val="tx1"/>
                </a:solidFill>
                <a:prstDash val="solid"/>
                <a:headEnd type="none" w="med" len="med"/>
                <a:tailEnd type="none" w="med" len="med"/>
              </a:ln>
            </p:spPr>
            <p:txBody>
              <a:bodyPr wrap="none" anchor="ctr" anchorCtr="0"/>
              <a:p>
                <a:endParaRPr dirty="0">
                  <a:solidFill>
                    <a:srgbClr val="0000FF"/>
                  </a:solidFill>
                  <a:latin typeface="Tahoma" panose="020B0604030504040204" pitchFamily="34" charset="0"/>
                </a:endParaRPr>
              </a:p>
            </p:txBody>
          </p:sp>
          <p:sp>
            <p:nvSpPr>
              <p:cNvPr id="30745" name="Oval 37"/>
              <p:cNvSpPr/>
              <p:nvPr/>
            </p:nvSpPr>
            <p:spPr>
              <a:xfrm>
                <a:off x="8229600" y="990600"/>
                <a:ext cx="76200" cy="76200"/>
              </a:xfrm>
              <a:prstGeom prst="ellipse">
                <a:avLst/>
              </a:prstGeom>
              <a:solidFill>
                <a:srgbClr val="0070C0"/>
              </a:solidFill>
              <a:ln w="9525" cap="flat" cmpd="sng">
                <a:solidFill>
                  <a:schemeClr val="tx1"/>
                </a:solidFill>
                <a:prstDash val="solid"/>
                <a:headEnd type="none" w="med" len="med"/>
                <a:tailEnd type="none" w="med" len="med"/>
              </a:ln>
            </p:spPr>
            <p:txBody>
              <a:bodyPr wrap="none" anchor="ctr" anchorCtr="0"/>
              <a:p>
                <a:endParaRPr dirty="0">
                  <a:solidFill>
                    <a:srgbClr val="0000FF"/>
                  </a:solidFill>
                  <a:latin typeface="Tahoma" panose="020B0604030504040204" pitchFamily="34" charset="0"/>
                </a:endParaRPr>
              </a:p>
            </p:txBody>
          </p:sp>
        </p:grpSp>
        <p:sp>
          <p:nvSpPr>
            <p:cNvPr id="30728" name="TextBox 44"/>
            <p:cNvSpPr txBox="1"/>
            <p:nvPr/>
          </p:nvSpPr>
          <p:spPr>
            <a:xfrm flipH="1">
              <a:off x="8458200" y="591979"/>
              <a:ext cx="45719" cy="246221"/>
            </a:xfrm>
            <a:prstGeom prst="rect">
              <a:avLst/>
            </a:prstGeom>
            <a:noFill/>
            <a:ln w="9525">
              <a:noFill/>
            </a:ln>
          </p:spPr>
          <p:txBody>
            <a:bodyPr>
              <a:spAutoFit/>
            </a:bodyPr>
            <a:p>
              <a:r>
                <a:rPr sz="1000" dirty="0">
                  <a:latin typeface="Tahoma" panose="020B0604030504040204" pitchFamily="34" charset="0"/>
                </a:rPr>
                <a:t>X</a:t>
              </a:r>
              <a:endParaRPr sz="1000" dirty="0">
                <a:latin typeface="Tahoma" panose="020B0604030504040204" pitchFamily="34" charset="0"/>
              </a:endParaRPr>
            </a:p>
          </p:txBody>
        </p:sp>
      </p:grpSp>
      <p:sp>
        <p:nvSpPr>
          <p:cNvPr id="30726" name="Slide Number Placeholder 47"/>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type="title"/>
          </p:nvPr>
        </p:nvSpPr>
        <p:spPr/>
        <p:txBody>
          <a:bodyPr vert="horz" wrap="square" lIns="92075" tIns="46038" rIns="92075" bIns="46038" anchor="ctr" anchorCtr="0"/>
          <a:p>
            <a:pPr eaLnBrk="1" hangingPunct="1"/>
            <a:r>
              <a:rPr sz="3200" dirty="0">
                <a:cs typeface="Tahoma" panose="020B0604030504040204" pitchFamily="34" charset="0"/>
                <a:sym typeface="Symbol" panose="05050102010706020507" pitchFamily="18" charset="2"/>
              </a:rPr>
              <a:t>Centroid, Radius and Diameter of a </a:t>
            </a:r>
            <a:r>
              <a:rPr sz="3200" dirty="0"/>
              <a:t>Cluster (for numerical data sets)</a:t>
            </a:r>
            <a:endParaRPr sz="3200" dirty="0"/>
          </a:p>
        </p:txBody>
      </p:sp>
      <p:sp>
        <p:nvSpPr>
          <p:cNvPr id="31747" name="Rectangle 3"/>
          <p:cNvSpPr>
            <a:spLocks noGrp="1"/>
          </p:cNvSpPr>
          <p:nvPr>
            <p:ph type="body" sz="half" idx="4294967295"/>
          </p:nvPr>
        </p:nvSpPr>
        <p:spPr>
          <a:xfrm>
            <a:off x="381000" y="1371600"/>
            <a:ext cx="8153400" cy="5105400"/>
          </a:xfrm>
        </p:spPr>
        <p:txBody>
          <a:bodyPr vert="horz" wrap="square" lIns="92075" tIns="46038" rIns="92075" bIns="46038" anchor="t" anchorCtr="0"/>
          <a:lstStyle>
            <a:lvl1pPr lvl="0">
              <a:buClr>
                <a:schemeClr val="folHlink"/>
              </a:buClr>
              <a:buSzPct val="60000"/>
              <a:buFont typeface="Wingdings" panose="05000000000000000000" pitchFamily="2" charset="2"/>
              <a:defRPr sz="2400"/>
            </a:lvl1pPr>
            <a:lvl2pPr lvl="1">
              <a:buClr>
                <a:schemeClr val="hlink"/>
              </a:buClr>
              <a:buSzPct val="55000"/>
              <a:buFont typeface="Wingdings" panose="05000000000000000000" pitchFamily="2" charset="2"/>
              <a:defRPr sz="2400"/>
            </a:lvl2pPr>
            <a:lvl3pPr lvl="2">
              <a:buClr>
                <a:schemeClr val="folHlink"/>
              </a:buClr>
              <a:buSzPct val="50000"/>
              <a:buFont typeface="Wingdings" panose="05000000000000000000" pitchFamily="2" charset="2"/>
              <a:defRPr sz="2000"/>
            </a:lvl3pPr>
            <a:lvl4pPr lvl="3">
              <a:buClr>
                <a:schemeClr val="accent2"/>
              </a:buClr>
              <a:buSzPct val="55000"/>
              <a:buFont typeface="Wingdings" panose="05000000000000000000" pitchFamily="2" charset="2"/>
              <a:defRPr sz="1800"/>
            </a:lvl4pPr>
            <a:lvl5pPr lvl="4">
              <a:buClr>
                <a:schemeClr val="accent1"/>
              </a:buClr>
              <a:buSzPct val="50000"/>
              <a:buFont typeface="Wingdings" panose="05000000000000000000" pitchFamily="2" charset="2"/>
              <a:defRPr sz="1800"/>
            </a:lvl5pPr>
          </a:lstStyle>
          <a:p>
            <a:pPr lvl="0" eaLnBrk="1" hangingPunct="1">
              <a:lnSpc>
                <a:spcPct val="130000"/>
              </a:lnSpc>
            </a:pPr>
            <a:r>
              <a:rPr dirty="0">
                <a:cs typeface="Tahoma" panose="020B0604030504040204" pitchFamily="34" charset="0"/>
                <a:sym typeface="Symbol" panose="05050102010706020507" pitchFamily="18" charset="2"/>
              </a:rPr>
              <a:t>Centroid:  the “middle” of a cluster</a:t>
            </a:r>
            <a:endParaRPr dirty="0">
              <a:cs typeface="Tahoma" panose="020B0604030504040204" pitchFamily="34" charset="0"/>
              <a:sym typeface="Symbol" panose="05050102010706020507" pitchFamily="18" charset="2"/>
            </a:endParaRPr>
          </a:p>
          <a:p>
            <a:pPr lvl="0" eaLnBrk="1" hangingPunct="1">
              <a:lnSpc>
                <a:spcPct val="130000"/>
              </a:lnSpc>
            </a:pPr>
            <a:endParaRPr dirty="0">
              <a:cs typeface="Tahoma" panose="020B0604030504040204" pitchFamily="34" charset="0"/>
              <a:sym typeface="Symbol" panose="05050102010706020507" pitchFamily="18" charset="2"/>
            </a:endParaRPr>
          </a:p>
          <a:p>
            <a:pPr lvl="0" eaLnBrk="1" hangingPunct="1">
              <a:lnSpc>
                <a:spcPct val="130000"/>
              </a:lnSpc>
            </a:pPr>
            <a:r>
              <a:rPr dirty="0">
                <a:cs typeface="Tahoma" panose="020B0604030504040204" pitchFamily="34" charset="0"/>
                <a:sym typeface="Symbol" panose="05050102010706020507" pitchFamily="18" charset="2"/>
              </a:rPr>
              <a:t>Radius: square root of average distance from any point of the cluster to its centroid</a:t>
            </a:r>
            <a:endParaRPr dirty="0">
              <a:cs typeface="Tahoma" panose="020B0604030504040204" pitchFamily="34" charset="0"/>
              <a:sym typeface="Symbol" panose="05050102010706020507" pitchFamily="18" charset="2"/>
            </a:endParaRPr>
          </a:p>
          <a:p>
            <a:pPr lvl="0" eaLnBrk="1" hangingPunct="1">
              <a:lnSpc>
                <a:spcPct val="130000"/>
              </a:lnSpc>
            </a:pPr>
            <a:endParaRPr dirty="0">
              <a:cs typeface="Tahoma" panose="020B0604030504040204" pitchFamily="34" charset="0"/>
              <a:sym typeface="Symbol" panose="05050102010706020507" pitchFamily="18" charset="2"/>
            </a:endParaRPr>
          </a:p>
          <a:p>
            <a:pPr lvl="0" eaLnBrk="1" hangingPunct="1">
              <a:lnSpc>
                <a:spcPct val="130000"/>
              </a:lnSpc>
            </a:pPr>
            <a:r>
              <a:rPr dirty="0">
                <a:cs typeface="Tahoma" panose="020B0604030504040204" pitchFamily="34" charset="0"/>
                <a:sym typeface="Symbol" panose="05050102010706020507" pitchFamily="18" charset="2"/>
              </a:rPr>
              <a:t>Diameter: square root of average mean squared distance between all pairs of points in the cluster</a:t>
            </a:r>
            <a:endParaRPr dirty="0">
              <a:ea typeface="Tahoma" panose="020B0604030504040204" pitchFamily="34" charset="0"/>
              <a:sym typeface="Symbol" panose="05050102010706020507" pitchFamily="18" charset="2"/>
            </a:endParaRPr>
          </a:p>
        </p:txBody>
      </p:sp>
      <p:graphicFrame>
        <p:nvGraphicFramePr>
          <p:cNvPr id="31748" name="Object 4"/>
          <p:cNvGraphicFramePr>
            <a:graphicFrameLocks noChangeAspect="1"/>
          </p:cNvGraphicFramePr>
          <p:nvPr>
            <p:ph sz="quarter" idx="1"/>
          </p:nvPr>
        </p:nvGraphicFramePr>
        <p:xfrm>
          <a:off x="6096000" y="1447800"/>
          <a:ext cx="2136775" cy="876300"/>
        </p:xfrm>
        <a:graphic>
          <a:graphicData uri="http://schemas.openxmlformats.org/presentationml/2006/ole">
            <mc:AlternateContent xmlns:mc="http://schemas.openxmlformats.org/markup-compatibility/2006">
              <mc:Choice xmlns:v="urn:schemas-microsoft-com:vml" Requires="v">
                <p:oleObj spid="_x0000_s3092" name="" r:id="rId1" imgW="1269365" imgH="520700" progId="Equation.3">
                  <p:embed/>
                </p:oleObj>
              </mc:Choice>
              <mc:Fallback>
                <p:oleObj name="" r:id="rId1" imgW="1269365" imgH="520700" progId="Equation.3">
                  <p:embed/>
                  <p:pic>
                    <p:nvPicPr>
                      <p:cNvPr id="0" name="Picture 3091"/>
                      <p:cNvPicPr/>
                      <p:nvPr/>
                    </p:nvPicPr>
                    <p:blipFill>
                      <a:blip r:embed="rId2"/>
                      <a:srcRect/>
                      <a:stretch>
                        <a:fillRect/>
                      </a:stretch>
                    </p:blipFill>
                    <p:spPr>
                      <a:xfrm>
                        <a:off x="6096000" y="1447800"/>
                        <a:ext cx="2136775" cy="876300"/>
                      </a:xfrm>
                      <a:prstGeom prst="rect">
                        <a:avLst/>
                      </a:prstGeom>
                      <a:noFill/>
                      <a:ln w="38100">
                        <a:miter/>
                      </a:ln>
                    </p:spPr>
                  </p:pic>
                </p:oleObj>
              </mc:Fallback>
            </mc:AlternateContent>
          </a:graphicData>
        </a:graphic>
      </p:graphicFrame>
      <p:graphicFrame>
        <p:nvGraphicFramePr>
          <p:cNvPr id="31749" name="Object 5"/>
          <p:cNvGraphicFramePr>
            <a:graphicFrameLocks noChangeAspect="1"/>
          </p:cNvGraphicFramePr>
          <p:nvPr/>
        </p:nvGraphicFramePr>
        <p:xfrm>
          <a:off x="5334000" y="3048000"/>
          <a:ext cx="2828925" cy="1069975"/>
        </p:xfrm>
        <a:graphic>
          <a:graphicData uri="http://schemas.openxmlformats.org/presentationml/2006/ole">
            <mc:AlternateContent xmlns:mc="http://schemas.openxmlformats.org/markup-compatibility/2006">
              <mc:Choice xmlns:v="urn:schemas-microsoft-com:vml" Requires="v">
                <p:oleObj spid="_x0000_s3093" name="" r:id="rId3" imgW="2451100" imgH="927100" progId="Equation.3">
                  <p:embed/>
                </p:oleObj>
              </mc:Choice>
              <mc:Fallback>
                <p:oleObj name="" r:id="rId3" imgW="2451100" imgH="927100" progId="Equation.3">
                  <p:embed/>
                  <p:pic>
                    <p:nvPicPr>
                      <p:cNvPr id="0" name="Picture 3092"/>
                      <p:cNvPicPr/>
                      <p:nvPr/>
                    </p:nvPicPr>
                    <p:blipFill>
                      <a:blip r:embed="rId4"/>
                      <a:stretch>
                        <a:fillRect/>
                      </a:stretch>
                    </p:blipFill>
                    <p:spPr>
                      <a:xfrm>
                        <a:off x="5334000" y="3048000"/>
                        <a:ext cx="2828925" cy="1069975"/>
                      </a:xfrm>
                      <a:prstGeom prst="rect">
                        <a:avLst/>
                      </a:prstGeom>
                      <a:noFill/>
                      <a:ln w="38100">
                        <a:noFill/>
                        <a:miter/>
                      </a:ln>
                    </p:spPr>
                  </p:pic>
                </p:oleObj>
              </mc:Fallback>
            </mc:AlternateContent>
          </a:graphicData>
        </a:graphic>
      </p:graphicFrame>
      <p:graphicFrame>
        <p:nvGraphicFramePr>
          <p:cNvPr id="31750" name="Object 6"/>
          <p:cNvGraphicFramePr>
            <a:graphicFrameLocks noChangeAspect="1"/>
          </p:cNvGraphicFramePr>
          <p:nvPr>
            <p:ph sz="quarter" idx="1"/>
          </p:nvPr>
        </p:nvGraphicFramePr>
        <p:xfrm>
          <a:off x="4800600" y="5181600"/>
          <a:ext cx="3048000" cy="1006475"/>
        </p:xfrm>
        <a:graphic>
          <a:graphicData uri="http://schemas.openxmlformats.org/presentationml/2006/ole">
            <mc:AlternateContent xmlns:mc="http://schemas.openxmlformats.org/markup-compatibility/2006">
              <mc:Choice xmlns:v="urn:schemas-microsoft-com:vml" Requires="v">
                <p:oleObj spid="_x0000_s3084" name="" r:id="rId5" imgW="2959100" imgH="977900" progId="Equation.3">
                  <p:embed/>
                </p:oleObj>
              </mc:Choice>
              <mc:Fallback>
                <p:oleObj name="" r:id="rId5" imgW="2959100" imgH="977900" progId="Equation.3">
                  <p:embed/>
                  <p:pic>
                    <p:nvPicPr>
                      <p:cNvPr id="0" name="Picture 3083"/>
                      <p:cNvPicPr/>
                      <p:nvPr/>
                    </p:nvPicPr>
                    <p:blipFill>
                      <a:blip r:embed="rId6"/>
                      <a:srcRect/>
                      <a:stretch>
                        <a:fillRect/>
                      </a:stretch>
                    </p:blipFill>
                    <p:spPr>
                      <a:xfrm>
                        <a:off x="4800600" y="5181600"/>
                        <a:ext cx="3048000" cy="1006475"/>
                      </a:xfrm>
                      <a:prstGeom prst="rect">
                        <a:avLst/>
                      </a:prstGeom>
                      <a:noFill/>
                      <a:ln w="38100">
                        <a:miter/>
                      </a:ln>
                    </p:spPr>
                  </p:pic>
                </p:oleObj>
              </mc:Fallback>
            </mc:AlternateContent>
          </a:graphicData>
        </a:graphic>
      </p:graphicFrame>
      <p:sp>
        <p:nvSpPr>
          <p:cNvPr id="31751" name="Slide Number Placeholder 9"/>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xfrm>
            <a:off x="0" y="304800"/>
            <a:ext cx="9144000" cy="685800"/>
          </a:xfrm>
        </p:spPr>
        <p:txBody>
          <a:bodyPr vert="horz" wrap="square" lIns="92075" tIns="46038" rIns="92075" bIns="46038" anchor="ctr" anchorCtr="0"/>
          <a:p>
            <a:pPr eaLnBrk="1" hangingPunct="1"/>
            <a:r>
              <a:rPr lang="en-US" altLang="zh-CN" dirty="0">
                <a:ea typeface="SimSun" panose="02010600030101010101" pitchFamily="2" charset="-122"/>
              </a:rPr>
              <a:t>Extensions to Hierarchical Clustering</a:t>
            </a:r>
            <a:endParaRPr lang="en-US" altLang="zh-CN" dirty="0">
              <a:ea typeface="SimSun" panose="02010600030101010101" pitchFamily="2" charset="-122"/>
            </a:endParaRPr>
          </a:p>
        </p:txBody>
      </p:sp>
      <p:sp>
        <p:nvSpPr>
          <p:cNvPr id="32771" name="Rectangle 3"/>
          <p:cNvSpPr>
            <a:spLocks noGrp="1"/>
          </p:cNvSpPr>
          <p:nvPr>
            <p:ph idx="1"/>
          </p:nvPr>
        </p:nvSpPr>
        <p:spPr>
          <a:xfrm>
            <a:off x="304800" y="1219200"/>
            <a:ext cx="8534400" cy="5181600"/>
          </a:xfrm>
        </p:spPr>
        <p:txBody>
          <a:bodyPr vert="horz" wrap="square" lIns="92075" tIns="46038" rIns="92075" bIns="46038" anchor="t" anchorCtr="0"/>
          <a:p>
            <a:pPr eaLnBrk="1" hangingPunct="1">
              <a:lnSpc>
                <a:spcPct val="150000"/>
              </a:lnSpc>
            </a:pPr>
            <a:r>
              <a:rPr lang="en-US" altLang="zh-CN" sz="2400" dirty="0">
                <a:ea typeface="SimSun" panose="02010600030101010101" pitchFamily="2" charset="-122"/>
              </a:rPr>
              <a:t>Major weakness of agglomerative clustering methods</a:t>
            </a:r>
            <a:endParaRPr lang="en-US" altLang="zh-CN" sz="2400" dirty="0">
              <a:ea typeface="SimSun" panose="02010600030101010101" pitchFamily="2" charset="-122"/>
            </a:endParaRPr>
          </a:p>
          <a:p>
            <a:pPr lvl="1" eaLnBrk="1" hangingPunct="1">
              <a:lnSpc>
                <a:spcPct val="150000"/>
              </a:lnSpc>
            </a:pPr>
            <a:r>
              <a:rPr lang="en-US" altLang="zh-CN" sz="2400" u="sng" dirty="0">
                <a:ea typeface="SimSun" panose="02010600030101010101" pitchFamily="2" charset="-122"/>
              </a:rPr>
              <a:t>Can never undo what was done previously</a:t>
            </a:r>
            <a:endParaRPr lang="en-US" altLang="zh-CN" sz="2400" u="sng" dirty="0">
              <a:ea typeface="SimSun" panose="02010600030101010101" pitchFamily="2" charset="-122"/>
            </a:endParaRPr>
          </a:p>
          <a:p>
            <a:pPr lvl="1" eaLnBrk="1" hangingPunct="1">
              <a:lnSpc>
                <a:spcPct val="150000"/>
              </a:lnSpc>
            </a:pPr>
            <a:r>
              <a:rPr lang="en-US" altLang="zh-CN" sz="2400" u="sng" dirty="0">
                <a:ea typeface="SimSun" panose="02010600030101010101" pitchFamily="2" charset="-122"/>
              </a:rPr>
              <a:t>Do not scale</a:t>
            </a:r>
            <a:r>
              <a:rPr lang="en-US" altLang="zh-CN" sz="2400" dirty="0">
                <a:ea typeface="SimSun" panose="02010600030101010101" pitchFamily="2" charset="-122"/>
              </a:rPr>
              <a:t> well: time complexity of at least </a:t>
            </a:r>
            <a:r>
              <a:rPr lang="en-US" altLang="zh-CN" sz="2400" i="1" dirty="0">
                <a:ea typeface="SimSun" panose="02010600030101010101" pitchFamily="2" charset="-122"/>
              </a:rPr>
              <a:t>O</a:t>
            </a:r>
            <a:r>
              <a:rPr lang="en-US" altLang="zh-CN" sz="2400" dirty="0">
                <a:ea typeface="SimSun" panose="02010600030101010101" pitchFamily="2" charset="-122"/>
              </a:rPr>
              <a:t>(</a:t>
            </a:r>
            <a:r>
              <a:rPr lang="en-US" altLang="zh-CN" sz="2400" i="1" dirty="0">
                <a:ea typeface="SimSun" panose="02010600030101010101" pitchFamily="2" charset="-122"/>
              </a:rPr>
              <a:t>n</a:t>
            </a:r>
            <a:r>
              <a:rPr lang="en-US" altLang="zh-CN" sz="2400" i="1" baseline="30000" dirty="0">
                <a:ea typeface="SimSun" panose="02010600030101010101" pitchFamily="2" charset="-122"/>
              </a:rPr>
              <a:t>2</a:t>
            </a:r>
            <a:r>
              <a:rPr lang="en-US" altLang="zh-CN" sz="2400" dirty="0">
                <a:ea typeface="SimSun" panose="02010600030101010101" pitchFamily="2" charset="-122"/>
              </a:rPr>
              <a:t>), where </a:t>
            </a:r>
            <a:r>
              <a:rPr lang="en-US" altLang="zh-CN" sz="2400" i="1" dirty="0">
                <a:ea typeface="SimSun" panose="02010600030101010101" pitchFamily="2" charset="-122"/>
              </a:rPr>
              <a:t>n</a:t>
            </a:r>
            <a:r>
              <a:rPr lang="en-US" altLang="zh-CN" sz="2400" dirty="0">
                <a:ea typeface="SimSun" panose="02010600030101010101" pitchFamily="2" charset="-122"/>
              </a:rPr>
              <a:t> is the number of total objects</a:t>
            </a:r>
            <a:endParaRPr lang="en-US" altLang="zh-CN" sz="2400" dirty="0">
              <a:ea typeface="SimSun" panose="02010600030101010101" pitchFamily="2" charset="-122"/>
            </a:endParaRPr>
          </a:p>
          <a:p>
            <a:pPr eaLnBrk="1" hangingPunct="1">
              <a:lnSpc>
                <a:spcPct val="150000"/>
              </a:lnSpc>
            </a:pPr>
            <a:r>
              <a:rPr lang="en-US" altLang="zh-CN" sz="2400" dirty="0">
                <a:ea typeface="SimSun" panose="02010600030101010101" pitchFamily="2" charset="-122"/>
              </a:rPr>
              <a:t>Integration of hierarchical &amp; distance-based clustering</a:t>
            </a:r>
            <a:endParaRPr lang="en-US" altLang="zh-CN" sz="2400" dirty="0">
              <a:ea typeface="SimSun" panose="02010600030101010101" pitchFamily="2" charset="-122"/>
            </a:endParaRPr>
          </a:p>
          <a:p>
            <a:pPr lvl="1" eaLnBrk="1" hangingPunct="1">
              <a:lnSpc>
                <a:spcPct val="150000"/>
              </a:lnSpc>
            </a:pPr>
            <a:r>
              <a:rPr lang="en-US" altLang="zh-CN" sz="2400" u="sng" dirty="0">
                <a:ea typeface="SimSun" panose="02010600030101010101" pitchFamily="2" charset="-122"/>
              </a:rPr>
              <a:t>BIRCH (1996)</a:t>
            </a:r>
            <a:r>
              <a:rPr lang="en-US" altLang="zh-CN" sz="2400" dirty="0">
                <a:ea typeface="SimSun" panose="02010600030101010101" pitchFamily="2" charset="-122"/>
              </a:rPr>
              <a:t>: uses CF-tree and incrementally adjusts the quality of sub-clusters</a:t>
            </a:r>
            <a:endParaRPr lang="en-US" altLang="zh-CN" sz="2400" u="sng" dirty="0">
              <a:ea typeface="SimSun" panose="02010600030101010101" pitchFamily="2" charset="-122"/>
            </a:endParaRPr>
          </a:p>
          <a:p>
            <a:pPr lvl="1" eaLnBrk="1" hangingPunct="1">
              <a:lnSpc>
                <a:spcPct val="150000"/>
              </a:lnSpc>
            </a:pPr>
            <a:r>
              <a:rPr lang="en-US" altLang="zh-CN" sz="2400" u="sng" dirty="0">
                <a:ea typeface="SimSun" panose="02010600030101010101" pitchFamily="2" charset="-122"/>
              </a:rPr>
              <a:t>CHAMELEON (1999)</a:t>
            </a:r>
            <a:r>
              <a:rPr lang="en-US" altLang="zh-CN" sz="2400" dirty="0">
                <a:ea typeface="SimSun" panose="02010600030101010101" pitchFamily="2" charset="-122"/>
              </a:rPr>
              <a:t>: hierarchical clustering using dynamic modeling</a:t>
            </a:r>
            <a:endParaRPr lang="en-US" altLang="zh-CN" sz="2400" dirty="0">
              <a:ea typeface="SimSun" panose="02010600030101010101" pitchFamily="2" charset="-122"/>
            </a:endParaRPr>
          </a:p>
        </p:txBody>
      </p:sp>
      <p:sp>
        <p:nvSpPr>
          <p:cNvPr id="32772"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title"/>
          </p:nvPr>
        </p:nvSpPr>
        <p:spPr>
          <a:xfrm>
            <a:off x="0" y="0"/>
            <a:ext cx="9144000" cy="1219200"/>
          </a:xfrm>
        </p:spPr>
        <p:txBody>
          <a:bodyPr vert="horz" wrap="square" lIns="91440" tIns="45720" rIns="91440" bIns="45720" anchor="b" anchorCtr="0"/>
          <a:p>
            <a:pPr eaLnBrk="1" hangingPunct="1"/>
            <a:r>
              <a:rPr lang="en-US" altLang="zh-CN" dirty="0">
                <a:ea typeface="SimSun" panose="02010600030101010101" pitchFamily="2" charset="-122"/>
              </a:rPr>
              <a:t>BIRCH (Balanced Iterative Reducing and Clustering Using Hierarchies)</a:t>
            </a:r>
            <a:endParaRPr lang="en-US" altLang="zh-CN" dirty="0">
              <a:ea typeface="SimSun" panose="02010600030101010101" pitchFamily="2" charset="-122"/>
            </a:endParaRPr>
          </a:p>
        </p:txBody>
      </p:sp>
      <p:sp>
        <p:nvSpPr>
          <p:cNvPr id="33795" name="Rectangle 3"/>
          <p:cNvSpPr>
            <a:spLocks noGrp="1"/>
          </p:cNvSpPr>
          <p:nvPr>
            <p:ph idx="1"/>
          </p:nvPr>
        </p:nvSpPr>
        <p:spPr>
          <a:xfrm>
            <a:off x="304800" y="1447800"/>
            <a:ext cx="8610600" cy="5181600"/>
          </a:xfrm>
        </p:spPr>
        <p:txBody>
          <a:bodyPr vert="horz" wrap="square" lIns="91440" tIns="45720" rIns="91440" bIns="45720" anchor="t" anchorCtr="0"/>
          <a:p>
            <a:pPr eaLnBrk="1" hangingPunct="1">
              <a:lnSpc>
                <a:spcPct val="110000"/>
              </a:lnSpc>
              <a:spcBef>
                <a:spcPct val="50000"/>
              </a:spcBef>
            </a:pPr>
            <a:r>
              <a:rPr lang="en-US" altLang="zh-CN" sz="2000" dirty="0">
                <a:ea typeface="SimSun" panose="02010600030101010101" pitchFamily="2" charset="-122"/>
              </a:rPr>
              <a:t>Zhang, Ramakrishnan &amp; Livny, SIGMOD’96</a:t>
            </a:r>
            <a:endParaRPr lang="en-US" altLang="zh-CN" sz="2000" dirty="0">
              <a:ea typeface="SimSun" panose="02010600030101010101" pitchFamily="2" charset="-122"/>
            </a:endParaRPr>
          </a:p>
          <a:p>
            <a:pPr eaLnBrk="1" hangingPunct="1">
              <a:lnSpc>
                <a:spcPct val="110000"/>
              </a:lnSpc>
              <a:spcBef>
                <a:spcPct val="50000"/>
              </a:spcBef>
            </a:pPr>
            <a:r>
              <a:rPr lang="en-US" altLang="zh-CN" sz="2000" dirty="0">
                <a:ea typeface="SimSun" panose="02010600030101010101" pitchFamily="2" charset="-122"/>
              </a:rPr>
              <a:t>Incrementally construct a CF (Clustering Feature) tree, a hierarchical data structure for multiphase clustering</a:t>
            </a:r>
            <a:endParaRPr lang="en-US" altLang="zh-CN" sz="2000" dirty="0">
              <a:ea typeface="SimSun" panose="02010600030101010101" pitchFamily="2" charset="-122"/>
            </a:endParaRPr>
          </a:p>
          <a:p>
            <a:pPr lvl="1" eaLnBrk="1" hangingPunct="1">
              <a:lnSpc>
                <a:spcPct val="110000"/>
              </a:lnSpc>
              <a:spcBef>
                <a:spcPct val="50000"/>
              </a:spcBef>
            </a:pPr>
            <a:r>
              <a:rPr lang="en-US" altLang="zh-CN" sz="2000" dirty="0">
                <a:ea typeface="SimSun" panose="02010600030101010101" pitchFamily="2" charset="-122"/>
              </a:rPr>
              <a:t>Phase 1: scan DB to build an initial in-memory CF tree (a multi-level compression of the data that tries to preserve the inherent clustering structure of the data)  </a:t>
            </a:r>
            <a:endParaRPr lang="en-US" altLang="zh-CN" sz="2000" dirty="0">
              <a:ea typeface="SimSun" panose="02010600030101010101" pitchFamily="2" charset="-122"/>
            </a:endParaRPr>
          </a:p>
          <a:p>
            <a:pPr lvl="1" eaLnBrk="1" hangingPunct="1">
              <a:lnSpc>
                <a:spcPct val="110000"/>
              </a:lnSpc>
              <a:spcBef>
                <a:spcPct val="50000"/>
              </a:spcBef>
            </a:pPr>
            <a:r>
              <a:rPr lang="en-US" altLang="zh-CN" sz="2000" dirty="0">
                <a:ea typeface="SimSun" panose="02010600030101010101" pitchFamily="2" charset="-122"/>
              </a:rPr>
              <a:t>Phase 2: use an arbitrary clustering algorithm to cluster the leaf nodes of the CF-tree </a:t>
            </a:r>
            <a:endParaRPr lang="en-US" altLang="zh-CN" sz="2000" i="1" dirty="0">
              <a:ea typeface="SimSun" panose="02010600030101010101" pitchFamily="2" charset="-122"/>
            </a:endParaRPr>
          </a:p>
          <a:p>
            <a:pPr eaLnBrk="1" hangingPunct="1">
              <a:lnSpc>
                <a:spcPct val="110000"/>
              </a:lnSpc>
              <a:spcBef>
                <a:spcPct val="50000"/>
              </a:spcBef>
            </a:pPr>
            <a:r>
              <a:rPr lang="en-US" altLang="zh-CN" sz="2000" i="1" dirty="0">
                <a:ea typeface="SimSun" panose="02010600030101010101" pitchFamily="2" charset="-122"/>
              </a:rPr>
              <a:t>Scales linearly</a:t>
            </a:r>
            <a:r>
              <a:rPr lang="en-US" altLang="zh-CN" sz="2000" dirty="0">
                <a:ea typeface="SimSun" panose="02010600030101010101" pitchFamily="2" charset="-122"/>
              </a:rPr>
              <a:t>: finds a good clustering with a single scan and improves the quality with a few additional scans</a:t>
            </a:r>
            <a:endParaRPr lang="en-US" altLang="zh-CN" sz="2000" dirty="0">
              <a:ea typeface="SimSun" panose="02010600030101010101" pitchFamily="2" charset="-122"/>
            </a:endParaRPr>
          </a:p>
          <a:p>
            <a:pPr eaLnBrk="1" hangingPunct="1">
              <a:lnSpc>
                <a:spcPct val="110000"/>
              </a:lnSpc>
              <a:spcBef>
                <a:spcPct val="50000"/>
              </a:spcBef>
            </a:pPr>
            <a:r>
              <a:rPr lang="en-US" altLang="zh-CN" sz="2000" i="1" dirty="0">
                <a:ea typeface="SimSun" panose="02010600030101010101" pitchFamily="2" charset="-122"/>
              </a:rPr>
              <a:t>Weakness:</a:t>
            </a:r>
            <a:r>
              <a:rPr lang="en-US" altLang="zh-CN" sz="2000" dirty="0">
                <a:ea typeface="SimSun" panose="02010600030101010101" pitchFamily="2" charset="-122"/>
              </a:rPr>
              <a:t> handles only numeric data, and sensitive to the order of the data record</a:t>
            </a:r>
            <a:endParaRPr lang="en-US" altLang="zh-CN" sz="2000" dirty="0">
              <a:ea typeface="SimSun" panose="02010600030101010101" pitchFamily="2" charset="-122"/>
            </a:endParaRPr>
          </a:p>
        </p:txBody>
      </p:sp>
      <p:sp>
        <p:nvSpPr>
          <p:cNvPr id="33796"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p:nvPr/>
        </p:nvSpPr>
        <p:spPr>
          <a:xfrm>
            <a:off x="1066800" y="304800"/>
            <a:ext cx="7086600" cy="685800"/>
          </a:xfrm>
          <a:prstGeom prst="rect">
            <a:avLst/>
          </a:prstGeom>
          <a:noFill/>
          <a:ln w="9525">
            <a:noFill/>
          </a:ln>
        </p:spPr>
        <p:txBody>
          <a:bodyPr lIns="92075" tIns="46038" rIns="92075" bIns="46038" anchor="ctr" anchorCtr="0"/>
          <a:p>
            <a:r>
              <a:rPr lang="en-US" altLang="zh-CN" sz="3200" dirty="0">
                <a:solidFill>
                  <a:schemeClr val="tx2"/>
                </a:solidFill>
                <a:latin typeface="Berlin Sans FB Demi" panose="020E0802020502020306" pitchFamily="34" charset="0"/>
                <a:ea typeface="SimSun" panose="02010600030101010101" pitchFamily="2" charset="-122"/>
              </a:rPr>
              <a:t>Clustering Feature Vector in BIRCH</a:t>
            </a:r>
            <a:endParaRPr lang="en-US" altLang="zh-CN" sz="2000" b="1" dirty="0">
              <a:solidFill>
                <a:schemeClr val="tx2"/>
              </a:solidFill>
              <a:latin typeface="Berlin Sans FB Demi" panose="020E0802020502020306" pitchFamily="34" charset="0"/>
              <a:ea typeface="SimSun" panose="02010600030101010101" pitchFamily="2" charset="-122"/>
            </a:endParaRPr>
          </a:p>
        </p:txBody>
      </p:sp>
      <p:sp>
        <p:nvSpPr>
          <p:cNvPr id="34819" name="Text Box 4"/>
          <p:cNvSpPr txBox="1"/>
          <p:nvPr/>
        </p:nvSpPr>
        <p:spPr>
          <a:xfrm>
            <a:off x="304800" y="1371600"/>
            <a:ext cx="5943600" cy="2647950"/>
          </a:xfrm>
          <a:prstGeom prst="rect">
            <a:avLst/>
          </a:prstGeom>
          <a:noFill/>
          <a:ln w="9525">
            <a:noFill/>
          </a:ln>
        </p:spPr>
        <p:txBody>
          <a:bodyPr>
            <a:spAutoFit/>
          </a:bodyPr>
          <a:p>
            <a:pPr algn="l" eaLnBrk="0" hangingPunct="0">
              <a:spcBef>
                <a:spcPct val="50000"/>
              </a:spcBef>
            </a:pPr>
            <a:r>
              <a:rPr lang="en-US" altLang="zh-CN" b="1" dirty="0">
                <a:latin typeface="Times New Roman" panose="02020603050405020304" pitchFamily="18" charset="0"/>
                <a:ea typeface="SimSun" panose="02010600030101010101" pitchFamily="2" charset="-122"/>
              </a:rPr>
              <a:t>Clustering Feature (CF):</a:t>
            </a:r>
            <a:r>
              <a:rPr lang="en-US" altLang="zh-CN" dirty="0">
                <a:latin typeface="Times New Roman" panose="02020603050405020304" pitchFamily="18" charset="0"/>
                <a:ea typeface="SimSun" panose="02010600030101010101" pitchFamily="2" charset="-122"/>
              </a:rPr>
              <a:t>  </a:t>
            </a:r>
            <a:r>
              <a:rPr lang="en-US" altLang="zh-CN" b="1" i="1" dirty="0">
                <a:latin typeface="Times New Roman" panose="02020603050405020304" pitchFamily="18" charset="0"/>
                <a:ea typeface="SimSun" panose="02010600030101010101" pitchFamily="2" charset="-122"/>
              </a:rPr>
              <a:t>CF = (N, LS, SS)</a:t>
            </a:r>
            <a:endParaRPr lang="en-US" altLang="zh-CN" dirty="0">
              <a:latin typeface="Times New Roman" panose="02020603050405020304" pitchFamily="18" charset="0"/>
              <a:ea typeface="SimSun" panose="02010600030101010101" pitchFamily="2" charset="-122"/>
            </a:endParaRPr>
          </a:p>
          <a:p>
            <a:pPr algn="l" eaLnBrk="0" hangingPunct="0">
              <a:spcBef>
                <a:spcPct val="50000"/>
              </a:spcBef>
            </a:pPr>
            <a:r>
              <a:rPr lang="en-US" altLang="zh-CN" i="1" dirty="0">
                <a:latin typeface="Times New Roman" panose="02020603050405020304" pitchFamily="18" charset="0"/>
                <a:ea typeface="SimSun" panose="02010600030101010101" pitchFamily="2" charset="-122"/>
              </a:rPr>
              <a:t>N</a:t>
            </a:r>
            <a:r>
              <a:rPr lang="en-US" altLang="zh-CN" dirty="0">
                <a:latin typeface="Times New Roman" panose="02020603050405020304" pitchFamily="18" charset="0"/>
                <a:ea typeface="SimSun" panose="02010600030101010101" pitchFamily="2" charset="-122"/>
              </a:rPr>
              <a:t>: </a:t>
            </a:r>
            <a:r>
              <a:rPr lang="en-US" altLang="zh-CN" b="1" dirty="0">
                <a:latin typeface="Times New Roman" panose="02020603050405020304" pitchFamily="18" charset="0"/>
                <a:ea typeface="SimSun" panose="02010600030101010101" pitchFamily="2" charset="-122"/>
              </a:rPr>
              <a:t>Number of data points</a:t>
            </a:r>
            <a:endParaRPr lang="en-US" altLang="zh-CN" b="1" dirty="0">
              <a:latin typeface="Times New Roman" panose="02020603050405020304" pitchFamily="18" charset="0"/>
              <a:ea typeface="SimSun" panose="02010600030101010101" pitchFamily="2" charset="-122"/>
            </a:endParaRPr>
          </a:p>
          <a:p>
            <a:pPr algn="l" eaLnBrk="0" hangingPunct="0">
              <a:spcBef>
                <a:spcPct val="50000"/>
              </a:spcBef>
            </a:pPr>
            <a:r>
              <a:rPr lang="en-US" altLang="zh-CN" i="1" dirty="0">
                <a:latin typeface="Times New Roman" panose="02020603050405020304" pitchFamily="18" charset="0"/>
                <a:ea typeface="SimSun" panose="02010600030101010101" pitchFamily="2" charset="-122"/>
              </a:rPr>
              <a:t>LS: linear sum of N points:</a:t>
            </a:r>
            <a:endParaRPr lang="en-US" altLang="zh-CN" i="1" baseline="-25000" dirty="0">
              <a:latin typeface="Times New Roman" panose="02020603050405020304" pitchFamily="18" charset="0"/>
              <a:ea typeface="SimSun" panose="02010600030101010101" pitchFamily="2" charset="-122"/>
              <a:sym typeface="Symbol" panose="05050102010706020507" pitchFamily="18" charset="2"/>
            </a:endParaRPr>
          </a:p>
          <a:p>
            <a:pPr algn="l" eaLnBrk="0" hangingPunct="0">
              <a:spcBef>
                <a:spcPct val="50000"/>
              </a:spcBef>
            </a:pPr>
            <a:endParaRPr lang="en-US" altLang="zh-CN" i="1" dirty="0">
              <a:latin typeface="Times New Roman" panose="02020603050405020304" pitchFamily="18" charset="0"/>
              <a:ea typeface="SimSun" panose="02010600030101010101" pitchFamily="2" charset="-122"/>
            </a:endParaRPr>
          </a:p>
          <a:p>
            <a:pPr algn="l" eaLnBrk="0" hangingPunct="0">
              <a:spcBef>
                <a:spcPct val="50000"/>
              </a:spcBef>
            </a:pPr>
            <a:r>
              <a:rPr lang="en-US" altLang="zh-CN" i="1" dirty="0">
                <a:latin typeface="Times New Roman" panose="02020603050405020304" pitchFamily="18" charset="0"/>
                <a:ea typeface="SimSun" panose="02010600030101010101" pitchFamily="2" charset="-122"/>
              </a:rPr>
              <a:t>SS: square sum of N points</a:t>
            </a:r>
            <a:endParaRPr lang="en-US" altLang="zh-CN" i="1" baseline="-25000" dirty="0">
              <a:latin typeface="Times New Roman" panose="02020603050405020304" pitchFamily="18" charset="0"/>
              <a:ea typeface="SimSun" panose="02010600030101010101" pitchFamily="2" charset="-122"/>
              <a:sym typeface="Symbol" panose="05050102010706020507" pitchFamily="18" charset="2"/>
            </a:endParaRPr>
          </a:p>
        </p:txBody>
      </p:sp>
      <p:graphicFrame>
        <p:nvGraphicFramePr>
          <p:cNvPr id="34820" name="Object 0"/>
          <p:cNvGraphicFramePr>
            <a:graphicFrameLocks noChangeAspect="1"/>
          </p:cNvGraphicFramePr>
          <p:nvPr/>
        </p:nvGraphicFramePr>
        <p:xfrm>
          <a:off x="3352800" y="4078288"/>
          <a:ext cx="2209800" cy="2017712"/>
        </p:xfrm>
        <a:graphic>
          <a:graphicData uri="http://schemas.openxmlformats.org/presentationml/2006/ole">
            <mc:AlternateContent xmlns:mc="http://schemas.openxmlformats.org/markup-compatibility/2006">
              <mc:Choice xmlns:v="urn:schemas-microsoft-com:vml" Requires="v">
                <p:oleObj spid="_x0000_s3094" name="" r:id="rId1" imgW="2618740" imgH="2472055" progId="Excel.Sheet.8">
                  <p:embed/>
                </p:oleObj>
              </mc:Choice>
              <mc:Fallback>
                <p:oleObj name="" r:id="rId1" imgW="2618740" imgH="2472055" progId="Excel.Sheet.8">
                  <p:embed/>
                  <p:pic>
                    <p:nvPicPr>
                      <p:cNvPr id="0" name="Picture 3093"/>
                      <p:cNvPicPr/>
                      <p:nvPr/>
                    </p:nvPicPr>
                    <p:blipFill>
                      <a:blip r:embed="rId2"/>
                      <a:stretch>
                        <a:fillRect/>
                      </a:stretch>
                    </p:blipFill>
                    <p:spPr>
                      <a:xfrm>
                        <a:off x="3352800" y="4078288"/>
                        <a:ext cx="2209800" cy="2017712"/>
                      </a:xfrm>
                      <a:prstGeom prst="rect">
                        <a:avLst/>
                      </a:prstGeom>
                      <a:noFill/>
                      <a:ln w="38100">
                        <a:noFill/>
                        <a:miter/>
                      </a:ln>
                    </p:spPr>
                  </p:pic>
                </p:oleObj>
              </mc:Fallback>
            </mc:AlternateContent>
          </a:graphicData>
        </a:graphic>
      </p:graphicFrame>
      <p:sp>
        <p:nvSpPr>
          <p:cNvPr id="34821" name="Oval 9"/>
          <p:cNvSpPr/>
          <p:nvPr/>
        </p:nvSpPr>
        <p:spPr>
          <a:xfrm>
            <a:off x="3886200" y="4383088"/>
            <a:ext cx="609600" cy="990600"/>
          </a:xfrm>
          <a:prstGeom prst="ellipse">
            <a:avLst/>
          </a:prstGeom>
          <a:noFill/>
          <a:ln w="28575" cap="flat" cmpd="sng">
            <a:solidFill>
              <a:schemeClr val="tx1"/>
            </a:solidFill>
            <a:prstDash val="lgDash"/>
            <a:headEnd type="none" w="med" len="med"/>
            <a:tailEnd type="none" w="med" len="med"/>
          </a:ln>
        </p:spPr>
        <p:txBody>
          <a:bodyPr anchor="ctr" anchorCtr="0">
            <a:spAutoFit/>
          </a:bodyPr>
          <a:p>
            <a:endParaRPr dirty="0">
              <a:latin typeface="Tahoma" panose="020B0604030504040204" pitchFamily="34" charset="0"/>
            </a:endParaRPr>
          </a:p>
        </p:txBody>
      </p:sp>
      <p:sp>
        <p:nvSpPr>
          <p:cNvPr id="34822" name="Oval 10"/>
          <p:cNvSpPr/>
          <p:nvPr/>
        </p:nvSpPr>
        <p:spPr>
          <a:xfrm>
            <a:off x="4495800" y="4916488"/>
            <a:ext cx="762000" cy="762000"/>
          </a:xfrm>
          <a:prstGeom prst="ellipse">
            <a:avLst/>
          </a:prstGeom>
          <a:noFill/>
          <a:ln w="28575" cap="flat" cmpd="sng">
            <a:solidFill>
              <a:schemeClr val="tx1"/>
            </a:solidFill>
            <a:prstDash val="lgDash"/>
            <a:headEnd type="none" w="med" len="med"/>
            <a:tailEnd type="none" w="med" len="med"/>
          </a:ln>
        </p:spPr>
        <p:txBody>
          <a:bodyPr anchor="ctr" anchorCtr="0">
            <a:spAutoFit/>
          </a:bodyPr>
          <a:p>
            <a:endParaRPr dirty="0">
              <a:latin typeface="Tahoma" panose="020B0604030504040204" pitchFamily="34" charset="0"/>
            </a:endParaRPr>
          </a:p>
        </p:txBody>
      </p:sp>
      <p:sp>
        <p:nvSpPr>
          <p:cNvPr id="34823" name="AutoShape 11"/>
          <p:cNvSpPr/>
          <p:nvPr/>
        </p:nvSpPr>
        <p:spPr>
          <a:xfrm>
            <a:off x="5562600" y="3367088"/>
            <a:ext cx="3429000" cy="485775"/>
          </a:xfrm>
          <a:prstGeom prst="borderCallout2">
            <a:avLst>
              <a:gd name="adj1" fmla="val 23528"/>
              <a:gd name="adj2" fmla="val -2222"/>
              <a:gd name="adj3" fmla="val 23528"/>
              <a:gd name="adj4" fmla="val -20417"/>
              <a:gd name="adj5" fmla="val 212417"/>
              <a:gd name="adj6" fmla="val -39306"/>
            </a:avLst>
          </a:prstGeom>
          <a:noFill/>
          <a:ln w="28575" cap="flat" cmpd="sng">
            <a:solidFill>
              <a:schemeClr val="tx1"/>
            </a:solidFill>
            <a:prstDash val="solid"/>
            <a:miter/>
            <a:headEnd type="none" w="med" len="med"/>
            <a:tailEnd type="triangle" w="med" len="med"/>
          </a:ln>
        </p:spPr>
        <p:txBody>
          <a:bodyPr>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CF = (5, (16,30),(54,190))</a:t>
            </a:r>
            <a:endParaRPr lang="en-US" altLang="zh-CN" dirty="0">
              <a:latin typeface="Times New Roman" panose="02020603050405020304" pitchFamily="18" charset="0"/>
              <a:ea typeface="SimSun" panose="02010600030101010101" pitchFamily="2" charset="-122"/>
            </a:endParaRPr>
          </a:p>
        </p:txBody>
      </p:sp>
      <p:sp>
        <p:nvSpPr>
          <p:cNvPr id="34824" name="Text Box 12"/>
          <p:cNvSpPr txBox="1"/>
          <p:nvPr/>
        </p:nvSpPr>
        <p:spPr>
          <a:xfrm>
            <a:off x="6477000" y="4178300"/>
            <a:ext cx="990600" cy="1917700"/>
          </a:xfrm>
          <a:prstGeom prst="rect">
            <a:avLst/>
          </a:prstGeom>
          <a:noFill/>
          <a:ln w="9525">
            <a:noFill/>
          </a:ln>
        </p:spPr>
        <p:txBody>
          <a:bodyPr>
            <a:spAutoFit/>
          </a:bodyPr>
          <a:p>
            <a:pPr algn="l" eaLnBrk="0" hangingPunct="0">
              <a:lnSpc>
                <a:spcPct val="60000"/>
              </a:lnSpc>
              <a:spcBef>
                <a:spcPct val="50000"/>
              </a:spcBef>
            </a:pPr>
            <a:r>
              <a:rPr lang="zh-CN" altLang="en-US" dirty="0">
                <a:latin typeface="Times New Roman" panose="02020603050405020304" pitchFamily="18" charset="0"/>
                <a:ea typeface="SimSun" panose="02010600030101010101" pitchFamily="2" charset="-122"/>
              </a:rPr>
              <a:t>(3,4)</a:t>
            </a:r>
            <a:endParaRPr lang="zh-CN" altLang="en-US" dirty="0">
              <a:latin typeface="Times New Roman" panose="02020603050405020304" pitchFamily="18" charset="0"/>
              <a:ea typeface="SimSun" panose="02010600030101010101" pitchFamily="2" charset="-122"/>
            </a:endParaRPr>
          </a:p>
          <a:p>
            <a:pPr algn="l" eaLnBrk="0" hangingPunct="0">
              <a:lnSpc>
                <a:spcPct val="60000"/>
              </a:lnSpc>
              <a:spcBef>
                <a:spcPct val="50000"/>
              </a:spcBef>
            </a:pPr>
            <a:r>
              <a:rPr lang="zh-CN" altLang="en-US" dirty="0">
                <a:latin typeface="Times New Roman" panose="02020603050405020304" pitchFamily="18" charset="0"/>
                <a:ea typeface="SimSun" panose="02010600030101010101" pitchFamily="2" charset="-122"/>
              </a:rPr>
              <a:t>(2,6)</a:t>
            </a:r>
            <a:endParaRPr lang="zh-CN" altLang="en-US" dirty="0">
              <a:latin typeface="Times New Roman" panose="02020603050405020304" pitchFamily="18" charset="0"/>
              <a:ea typeface="SimSun" panose="02010600030101010101" pitchFamily="2" charset="-122"/>
            </a:endParaRPr>
          </a:p>
          <a:p>
            <a:pPr algn="l" eaLnBrk="0" hangingPunct="0">
              <a:lnSpc>
                <a:spcPct val="60000"/>
              </a:lnSpc>
              <a:spcBef>
                <a:spcPct val="50000"/>
              </a:spcBef>
            </a:pPr>
            <a:r>
              <a:rPr lang="zh-CN" altLang="en-US" dirty="0">
                <a:latin typeface="Times New Roman" panose="02020603050405020304" pitchFamily="18" charset="0"/>
                <a:ea typeface="SimSun" panose="02010600030101010101" pitchFamily="2" charset="-122"/>
              </a:rPr>
              <a:t>(4,5)</a:t>
            </a:r>
            <a:endParaRPr lang="zh-CN" altLang="en-US" dirty="0">
              <a:latin typeface="Times New Roman" panose="02020603050405020304" pitchFamily="18" charset="0"/>
              <a:ea typeface="SimSun" panose="02010600030101010101" pitchFamily="2" charset="-122"/>
            </a:endParaRPr>
          </a:p>
          <a:p>
            <a:pPr algn="l" eaLnBrk="0" hangingPunct="0">
              <a:lnSpc>
                <a:spcPct val="60000"/>
              </a:lnSpc>
              <a:spcBef>
                <a:spcPct val="50000"/>
              </a:spcBef>
            </a:pPr>
            <a:r>
              <a:rPr lang="zh-CN" altLang="en-US" dirty="0">
                <a:latin typeface="Times New Roman" panose="02020603050405020304" pitchFamily="18" charset="0"/>
                <a:ea typeface="SimSun" panose="02010600030101010101" pitchFamily="2" charset="-122"/>
              </a:rPr>
              <a:t>(4,7)</a:t>
            </a:r>
            <a:endParaRPr lang="zh-CN" altLang="en-US" dirty="0">
              <a:latin typeface="Times New Roman" panose="02020603050405020304" pitchFamily="18" charset="0"/>
              <a:ea typeface="SimSun" panose="02010600030101010101" pitchFamily="2" charset="-122"/>
            </a:endParaRPr>
          </a:p>
          <a:p>
            <a:pPr algn="l" eaLnBrk="0" hangingPunct="0">
              <a:lnSpc>
                <a:spcPct val="60000"/>
              </a:lnSpc>
              <a:spcBef>
                <a:spcPct val="50000"/>
              </a:spcBef>
            </a:pPr>
            <a:r>
              <a:rPr lang="zh-CN" altLang="en-US" dirty="0">
                <a:latin typeface="Times New Roman" panose="02020603050405020304" pitchFamily="18" charset="0"/>
                <a:ea typeface="SimSun" panose="02010600030101010101" pitchFamily="2" charset="-122"/>
              </a:rPr>
              <a:t>(3,8)</a:t>
            </a:r>
            <a:endParaRPr lang="zh-CN" altLang="en-US" dirty="0">
              <a:latin typeface="Times New Roman" panose="02020603050405020304" pitchFamily="18" charset="0"/>
              <a:ea typeface="SimSun" panose="02010600030101010101" pitchFamily="2" charset="-122"/>
            </a:endParaRPr>
          </a:p>
        </p:txBody>
      </p:sp>
      <p:graphicFrame>
        <p:nvGraphicFramePr>
          <p:cNvPr id="34825" name="Object 1"/>
          <p:cNvGraphicFramePr>
            <a:graphicFrameLocks noChangeAspect="1"/>
          </p:cNvGraphicFramePr>
          <p:nvPr/>
        </p:nvGraphicFramePr>
        <p:xfrm>
          <a:off x="3905250" y="2362200"/>
          <a:ext cx="1028700" cy="838200"/>
        </p:xfrm>
        <a:graphic>
          <a:graphicData uri="http://schemas.openxmlformats.org/presentationml/2006/ole">
            <mc:AlternateContent xmlns:mc="http://schemas.openxmlformats.org/markup-compatibility/2006">
              <mc:Choice xmlns:v="urn:schemas-microsoft-com:vml" Requires="v">
                <p:oleObj spid="_x0000_s3095" name="" r:id="rId3" imgW="342900" imgH="381000" progId="Equation.3">
                  <p:embed/>
                </p:oleObj>
              </mc:Choice>
              <mc:Fallback>
                <p:oleObj name="" r:id="rId3" imgW="342900" imgH="381000" progId="Equation.3">
                  <p:embed/>
                  <p:pic>
                    <p:nvPicPr>
                      <p:cNvPr id="0" name="Picture 3094"/>
                      <p:cNvPicPr/>
                      <p:nvPr/>
                    </p:nvPicPr>
                    <p:blipFill>
                      <a:blip r:embed="rId4"/>
                      <a:stretch>
                        <a:fillRect/>
                      </a:stretch>
                    </p:blipFill>
                    <p:spPr>
                      <a:xfrm>
                        <a:off x="3905250" y="2362200"/>
                        <a:ext cx="1028700" cy="838200"/>
                      </a:xfrm>
                      <a:prstGeom prst="rect">
                        <a:avLst/>
                      </a:prstGeom>
                      <a:noFill/>
                      <a:ln w="38100">
                        <a:noFill/>
                        <a:miter/>
                      </a:ln>
                    </p:spPr>
                  </p:pic>
                </p:oleObj>
              </mc:Fallback>
            </mc:AlternateContent>
          </a:graphicData>
        </a:graphic>
      </p:graphicFrame>
      <p:graphicFrame>
        <p:nvGraphicFramePr>
          <p:cNvPr id="34826" name="Object 2"/>
          <p:cNvGraphicFramePr>
            <a:graphicFrameLocks noChangeAspect="1"/>
          </p:cNvGraphicFramePr>
          <p:nvPr/>
        </p:nvGraphicFramePr>
        <p:xfrm>
          <a:off x="1695450" y="4114800"/>
          <a:ext cx="1181100" cy="838200"/>
        </p:xfrm>
        <a:graphic>
          <a:graphicData uri="http://schemas.openxmlformats.org/presentationml/2006/ole">
            <mc:AlternateContent xmlns:mc="http://schemas.openxmlformats.org/markup-compatibility/2006">
              <mc:Choice xmlns:v="urn:schemas-microsoft-com:vml" Requires="v">
                <p:oleObj spid="_x0000_s3096" name="" r:id="rId5" imgW="393700" imgH="381000" progId="Equation.3">
                  <p:embed/>
                </p:oleObj>
              </mc:Choice>
              <mc:Fallback>
                <p:oleObj name="" r:id="rId5" imgW="393700" imgH="381000" progId="Equation.3">
                  <p:embed/>
                  <p:pic>
                    <p:nvPicPr>
                      <p:cNvPr id="0" name="Picture 3095"/>
                      <p:cNvPicPr/>
                      <p:nvPr/>
                    </p:nvPicPr>
                    <p:blipFill>
                      <a:blip r:embed="rId6"/>
                      <a:stretch>
                        <a:fillRect/>
                      </a:stretch>
                    </p:blipFill>
                    <p:spPr>
                      <a:xfrm>
                        <a:off x="1695450" y="4114800"/>
                        <a:ext cx="1181100" cy="838200"/>
                      </a:xfrm>
                      <a:prstGeom prst="rect">
                        <a:avLst/>
                      </a:prstGeom>
                      <a:noFill/>
                      <a:ln w="38100">
                        <a:noFill/>
                        <a:miter/>
                      </a:ln>
                    </p:spPr>
                  </p:pic>
                </p:oleObj>
              </mc:Fallback>
            </mc:AlternateContent>
          </a:graphicData>
        </a:graphic>
      </p:graphicFrame>
      <p:sp>
        <p:nvSpPr>
          <p:cNvPr id="34827" name="Slide Number Placeholder 14"/>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1026"/>
          <p:cNvSpPr>
            <a:spLocks noGrp="1"/>
          </p:cNvSpPr>
          <p:nvPr>
            <p:ph type="title"/>
          </p:nvPr>
        </p:nvSpPr>
        <p:spPr>
          <a:xfrm>
            <a:off x="457200" y="381000"/>
            <a:ext cx="8001000" cy="609600"/>
          </a:xfrm>
        </p:spPr>
        <p:txBody>
          <a:bodyPr vert="horz" wrap="square" lIns="91440" tIns="45720" rIns="91440" bIns="45720" anchor="b" anchorCtr="0"/>
          <a:p>
            <a:pPr eaLnBrk="1" hangingPunct="1"/>
            <a:r>
              <a:rPr lang="en-US" altLang="zh-CN" sz="3200" dirty="0">
                <a:ea typeface="SimSun" panose="02010600030101010101" pitchFamily="2" charset="-122"/>
              </a:rPr>
              <a:t>CF-Tree in BIRCH</a:t>
            </a:r>
            <a:endParaRPr lang="en-US" altLang="zh-CN" sz="3200" dirty="0">
              <a:ea typeface="SimSun" panose="02010600030101010101" pitchFamily="2" charset="-122"/>
            </a:endParaRPr>
          </a:p>
        </p:txBody>
      </p:sp>
      <p:sp>
        <p:nvSpPr>
          <p:cNvPr id="35843" name="Rectangle 1027"/>
          <p:cNvSpPr>
            <a:spLocks noGrp="1"/>
          </p:cNvSpPr>
          <p:nvPr>
            <p:ph idx="1"/>
          </p:nvPr>
        </p:nvSpPr>
        <p:spPr>
          <a:xfrm>
            <a:off x="381000" y="1295400"/>
            <a:ext cx="8610600" cy="5410200"/>
          </a:xfrm>
        </p:spPr>
        <p:txBody>
          <a:bodyPr vert="horz" wrap="square" lIns="91440" tIns="45720" rIns="91440" bIns="45720" anchor="t" anchorCtr="0"/>
          <a:p>
            <a:pPr eaLnBrk="1" hangingPunct="1">
              <a:spcBef>
                <a:spcPts val="300"/>
              </a:spcBef>
            </a:pPr>
            <a:r>
              <a:rPr sz="2400" dirty="0">
                <a:latin typeface="Calibri" panose="020F0502020204030204" pitchFamily="34" charset="0"/>
              </a:rPr>
              <a:t>Clustering feature: </a:t>
            </a:r>
            <a:endParaRPr sz="2400" dirty="0">
              <a:latin typeface="Calibri" panose="020F0502020204030204" pitchFamily="34" charset="0"/>
            </a:endParaRPr>
          </a:p>
          <a:p>
            <a:pPr lvl="1" eaLnBrk="1" hangingPunct="1">
              <a:spcBef>
                <a:spcPts val="300"/>
              </a:spcBef>
            </a:pPr>
            <a:r>
              <a:rPr sz="2400" dirty="0">
                <a:latin typeface="Calibri" panose="020F0502020204030204" pitchFamily="34" charset="0"/>
              </a:rPr>
              <a:t>Summary of the statistics for a given subcluster: the 0-th, 1st, and 2nd moments of the subcluster from the statistical point of view</a:t>
            </a:r>
            <a:endParaRPr sz="2400" dirty="0">
              <a:latin typeface="Calibri" panose="020F0502020204030204" pitchFamily="34" charset="0"/>
            </a:endParaRPr>
          </a:p>
          <a:p>
            <a:pPr lvl="1" eaLnBrk="1" hangingPunct="1">
              <a:spcBef>
                <a:spcPts val="300"/>
              </a:spcBef>
            </a:pPr>
            <a:r>
              <a:rPr sz="2400" dirty="0">
                <a:latin typeface="Calibri" panose="020F0502020204030204" pitchFamily="34" charset="0"/>
              </a:rPr>
              <a:t>Registers crucial measurements for computing cluster and utilizes storage efficiently</a:t>
            </a:r>
            <a:endParaRPr lang="en-US" altLang="ko-KR" sz="2400" dirty="0">
              <a:latin typeface="Calibri" panose="020F0502020204030204" pitchFamily="34" charset="0"/>
              <a:ea typeface="Gulim" panose="020B0600000101010101" pitchFamily="34" charset="-127"/>
            </a:endParaRPr>
          </a:p>
          <a:p>
            <a:pPr eaLnBrk="1" hangingPunct="1">
              <a:spcBef>
                <a:spcPts val="300"/>
              </a:spcBef>
              <a:buClrTx/>
              <a:buSzPct val="65000"/>
              <a:buFontTx/>
              <a:buBlip>
                <a:blip r:embed="rId1"/>
              </a:buBlip>
            </a:pPr>
            <a:r>
              <a:rPr lang="en-US" altLang="ko-KR" sz="2400" dirty="0">
                <a:latin typeface="Calibri" panose="020F0502020204030204" pitchFamily="34" charset="0"/>
                <a:ea typeface="Gulim" panose="020B0600000101010101" pitchFamily="34" charset="-127"/>
              </a:rPr>
              <a:t>A CF tree is a height-balanced tree that stores the clustering features for a hierarchical clustering </a:t>
            </a:r>
            <a:endParaRPr lang="en-US" altLang="ko-KR" sz="2400" dirty="0">
              <a:latin typeface="Calibri" panose="020F0502020204030204" pitchFamily="34" charset="0"/>
              <a:ea typeface="Gulim" panose="020B0600000101010101" pitchFamily="34" charset="-127"/>
            </a:endParaRPr>
          </a:p>
          <a:p>
            <a:pPr lvl="1" eaLnBrk="1" hangingPunct="1">
              <a:spcBef>
                <a:spcPts val="300"/>
              </a:spcBef>
            </a:pPr>
            <a:r>
              <a:rPr lang="en-US" altLang="ko-KR" sz="2400" dirty="0">
                <a:latin typeface="Calibri" panose="020F0502020204030204" pitchFamily="34" charset="0"/>
                <a:ea typeface="Gulim" panose="020B0600000101010101" pitchFamily="34" charset="-127"/>
              </a:rPr>
              <a:t>A nonleaf node in a tree has descendants or “children”</a:t>
            </a:r>
            <a:endParaRPr lang="en-US" altLang="ko-KR" sz="2400" dirty="0">
              <a:latin typeface="Calibri" panose="020F0502020204030204" pitchFamily="34" charset="0"/>
              <a:ea typeface="Gulim" panose="020B0600000101010101" pitchFamily="34" charset="-127"/>
            </a:endParaRPr>
          </a:p>
          <a:p>
            <a:pPr lvl="1" eaLnBrk="1" hangingPunct="1">
              <a:spcBef>
                <a:spcPts val="300"/>
              </a:spcBef>
            </a:pPr>
            <a:r>
              <a:rPr lang="en-US" altLang="ko-KR" sz="2400" dirty="0">
                <a:latin typeface="Calibri" panose="020F0502020204030204" pitchFamily="34" charset="0"/>
                <a:ea typeface="Gulim" panose="020B0600000101010101" pitchFamily="34" charset="-127"/>
              </a:rPr>
              <a:t>The nonleaf nodes store sums of the CFs of their children</a:t>
            </a:r>
            <a:endParaRPr lang="en-US" altLang="ko-KR" sz="2400" dirty="0">
              <a:latin typeface="Calibri" panose="020F0502020204030204" pitchFamily="34" charset="0"/>
              <a:ea typeface="Gulim" panose="020B0600000101010101" pitchFamily="34" charset="-127"/>
            </a:endParaRPr>
          </a:p>
          <a:p>
            <a:pPr eaLnBrk="1" hangingPunct="1">
              <a:spcBef>
                <a:spcPts val="300"/>
              </a:spcBef>
            </a:pPr>
            <a:r>
              <a:rPr lang="en-US" altLang="ko-KR" sz="2400" dirty="0">
                <a:latin typeface="Calibri" panose="020F0502020204030204" pitchFamily="34" charset="0"/>
                <a:ea typeface="Gulim" panose="020B0600000101010101" pitchFamily="34" charset="-127"/>
              </a:rPr>
              <a:t>A CF tree has two parameters</a:t>
            </a:r>
            <a:endParaRPr lang="en-US" altLang="ko-KR" sz="2400" dirty="0">
              <a:latin typeface="Calibri" panose="020F0502020204030204" pitchFamily="34" charset="0"/>
              <a:ea typeface="Gulim" panose="020B0600000101010101" pitchFamily="34" charset="-127"/>
            </a:endParaRPr>
          </a:p>
          <a:p>
            <a:pPr lvl="1" eaLnBrk="1" hangingPunct="1">
              <a:spcBef>
                <a:spcPts val="300"/>
              </a:spcBef>
            </a:pPr>
            <a:r>
              <a:rPr lang="en-US" altLang="ko-KR" sz="2400" dirty="0">
                <a:latin typeface="Calibri" panose="020F0502020204030204" pitchFamily="34" charset="0"/>
                <a:ea typeface="Gulim" panose="020B0600000101010101" pitchFamily="34" charset="-127"/>
              </a:rPr>
              <a:t>Branching factor: max # of children</a:t>
            </a:r>
            <a:endParaRPr lang="en-US" altLang="ko-KR" sz="2400" dirty="0">
              <a:latin typeface="Calibri" panose="020F0502020204030204" pitchFamily="34" charset="0"/>
              <a:ea typeface="Gulim" panose="020B0600000101010101" pitchFamily="34" charset="-127"/>
            </a:endParaRPr>
          </a:p>
          <a:p>
            <a:pPr lvl="1" eaLnBrk="1" hangingPunct="1">
              <a:spcBef>
                <a:spcPts val="300"/>
              </a:spcBef>
            </a:pPr>
            <a:r>
              <a:rPr lang="en-US" altLang="ko-KR" sz="2400" dirty="0">
                <a:latin typeface="Calibri" panose="020F0502020204030204" pitchFamily="34" charset="0"/>
                <a:ea typeface="Gulim" panose="020B0600000101010101" pitchFamily="34" charset="-127"/>
              </a:rPr>
              <a:t>Threshold: max diameter of sub-clusters stored at the leaf nodes</a:t>
            </a:r>
            <a:endParaRPr lang="en-US" altLang="ko-KR" sz="2400" dirty="0">
              <a:latin typeface="Calibri" panose="020F0502020204030204" pitchFamily="34" charset="0"/>
              <a:ea typeface="Gulim" panose="020B0600000101010101" pitchFamily="34" charset="-127"/>
            </a:endParaRPr>
          </a:p>
        </p:txBody>
      </p:sp>
      <p:sp>
        <p:nvSpPr>
          <p:cNvPr id="35844"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a:xfrm>
            <a:off x="681038" y="228600"/>
            <a:ext cx="7548562" cy="609600"/>
          </a:xfrm>
        </p:spPr>
        <p:txBody>
          <a:bodyPr vert="horz" wrap="square" lIns="91440" tIns="45720" rIns="91440" bIns="45720" anchor="b" anchorCtr="0"/>
          <a:p>
            <a:pPr eaLnBrk="1" hangingPunct="1"/>
            <a:r>
              <a:rPr lang="en-US" altLang="zh-CN" sz="3200" dirty="0">
                <a:ea typeface="SimSun" panose="02010600030101010101" pitchFamily="2" charset="-122"/>
              </a:rPr>
              <a:t>The CF Tree Structure</a:t>
            </a:r>
            <a:endParaRPr lang="en-US" altLang="zh-CN" sz="4000" b="1" dirty="0">
              <a:ea typeface="SimSun" panose="02010600030101010101" pitchFamily="2" charset="-122"/>
            </a:endParaRPr>
          </a:p>
        </p:txBody>
      </p:sp>
      <p:grpSp>
        <p:nvGrpSpPr>
          <p:cNvPr id="36867" name="Group 3"/>
          <p:cNvGrpSpPr/>
          <p:nvPr/>
        </p:nvGrpSpPr>
        <p:grpSpPr>
          <a:xfrm>
            <a:off x="1828800" y="1295400"/>
            <a:ext cx="4953000" cy="914400"/>
            <a:chOff x="1152" y="816"/>
            <a:chExt cx="3120" cy="576"/>
          </a:xfrm>
        </p:grpSpPr>
        <p:sp>
          <p:nvSpPr>
            <p:cNvPr id="36935" name="Line 4"/>
            <p:cNvSpPr/>
            <p:nvPr/>
          </p:nvSpPr>
          <p:spPr>
            <a:xfrm>
              <a:off x="2187" y="816"/>
              <a:ext cx="0" cy="576"/>
            </a:xfrm>
            <a:prstGeom prst="line">
              <a:avLst/>
            </a:prstGeom>
            <a:ln w="12700" cap="flat" cmpd="sng">
              <a:solidFill>
                <a:schemeClr val="tx1"/>
              </a:solidFill>
              <a:prstDash val="solid"/>
              <a:headEnd type="none" w="sm" len="sm"/>
              <a:tailEnd type="none" w="sm" len="sm"/>
            </a:ln>
          </p:spPr>
        </p:sp>
        <p:sp>
          <p:nvSpPr>
            <p:cNvPr id="36936" name="Rectangle 5"/>
            <p:cNvSpPr/>
            <p:nvPr/>
          </p:nvSpPr>
          <p:spPr>
            <a:xfrm>
              <a:off x="1156" y="820"/>
              <a:ext cx="3016" cy="568"/>
            </a:xfrm>
            <a:prstGeom prst="rect">
              <a:avLst/>
            </a:prstGeom>
            <a:noFill/>
            <a:ln w="12700" cap="flat" cmpd="sng">
              <a:solidFill>
                <a:schemeClr val="tx1"/>
              </a:solidFill>
              <a:prstDash val="solid"/>
              <a:miter/>
              <a:headEnd type="none" w="med" len="med"/>
              <a:tailEnd type="none" w="med" len="med"/>
            </a:ln>
          </p:spPr>
          <p:txBody>
            <a:bodyPr wrap="none" anchor="ctr" anchorCtr="0"/>
            <a:p>
              <a:endParaRPr dirty="0">
                <a:latin typeface="Tahoma" panose="020B0604030504040204" pitchFamily="34" charset="0"/>
              </a:endParaRPr>
            </a:p>
          </p:txBody>
        </p:sp>
        <p:sp>
          <p:nvSpPr>
            <p:cNvPr id="36937" name="Line 6"/>
            <p:cNvSpPr/>
            <p:nvPr/>
          </p:nvSpPr>
          <p:spPr>
            <a:xfrm>
              <a:off x="1670" y="816"/>
              <a:ext cx="0" cy="576"/>
            </a:xfrm>
            <a:prstGeom prst="line">
              <a:avLst/>
            </a:prstGeom>
            <a:ln w="12700" cap="flat" cmpd="sng">
              <a:solidFill>
                <a:schemeClr val="tx1"/>
              </a:solidFill>
              <a:prstDash val="solid"/>
              <a:headEnd type="none" w="sm" len="sm"/>
              <a:tailEnd type="none" w="sm" len="sm"/>
            </a:ln>
          </p:spPr>
        </p:sp>
        <p:sp>
          <p:nvSpPr>
            <p:cNvPr id="36938" name="Line 7"/>
            <p:cNvSpPr/>
            <p:nvPr/>
          </p:nvSpPr>
          <p:spPr>
            <a:xfrm>
              <a:off x="3570" y="816"/>
              <a:ext cx="0" cy="576"/>
            </a:xfrm>
            <a:prstGeom prst="line">
              <a:avLst/>
            </a:prstGeom>
            <a:ln w="12700" cap="flat" cmpd="sng">
              <a:solidFill>
                <a:schemeClr val="tx1"/>
              </a:solidFill>
              <a:prstDash val="solid"/>
              <a:headEnd type="none" w="sm" len="sm"/>
              <a:tailEnd type="none" w="sm" len="sm"/>
            </a:ln>
          </p:spPr>
        </p:sp>
        <p:sp>
          <p:nvSpPr>
            <p:cNvPr id="36939" name="Line 8"/>
            <p:cNvSpPr/>
            <p:nvPr/>
          </p:nvSpPr>
          <p:spPr>
            <a:xfrm>
              <a:off x="2708" y="816"/>
              <a:ext cx="0" cy="576"/>
            </a:xfrm>
            <a:prstGeom prst="line">
              <a:avLst/>
            </a:prstGeom>
            <a:ln w="12700" cap="flat" cmpd="sng">
              <a:solidFill>
                <a:schemeClr val="tx1"/>
              </a:solidFill>
              <a:prstDash val="solid"/>
              <a:headEnd type="none" w="sm" len="sm"/>
              <a:tailEnd type="none" w="sm" len="sm"/>
            </a:ln>
          </p:spPr>
        </p:sp>
        <p:sp>
          <p:nvSpPr>
            <p:cNvPr id="36940" name="Line 9"/>
            <p:cNvSpPr/>
            <p:nvPr/>
          </p:nvSpPr>
          <p:spPr>
            <a:xfrm>
              <a:off x="1152" y="1104"/>
              <a:ext cx="1728" cy="0"/>
            </a:xfrm>
            <a:prstGeom prst="line">
              <a:avLst/>
            </a:prstGeom>
            <a:ln w="12700" cap="flat" cmpd="sng">
              <a:solidFill>
                <a:schemeClr val="tx1"/>
              </a:solidFill>
              <a:prstDash val="lgDash"/>
              <a:headEnd type="none" w="sm" len="sm"/>
              <a:tailEnd type="none" w="sm" len="sm"/>
            </a:ln>
          </p:spPr>
        </p:sp>
        <p:sp>
          <p:nvSpPr>
            <p:cNvPr id="36941" name="Line 10"/>
            <p:cNvSpPr/>
            <p:nvPr/>
          </p:nvSpPr>
          <p:spPr>
            <a:xfrm>
              <a:off x="3408" y="1104"/>
              <a:ext cx="768" cy="0"/>
            </a:xfrm>
            <a:prstGeom prst="line">
              <a:avLst/>
            </a:prstGeom>
            <a:ln w="12700" cap="flat" cmpd="sng">
              <a:solidFill>
                <a:schemeClr val="tx1"/>
              </a:solidFill>
              <a:prstDash val="lgDash"/>
              <a:headEnd type="none" w="sm" len="sm"/>
              <a:tailEnd type="none" w="sm" len="sm"/>
            </a:ln>
          </p:spPr>
        </p:sp>
        <p:sp>
          <p:nvSpPr>
            <p:cNvPr id="36942" name="Rectangle 11"/>
            <p:cNvSpPr/>
            <p:nvPr/>
          </p:nvSpPr>
          <p:spPr>
            <a:xfrm>
              <a:off x="1200" y="816"/>
              <a:ext cx="432" cy="288"/>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1</a:t>
              </a:r>
              <a:endParaRPr lang="en-US" altLang="zh-CN" baseline="-25000" dirty="0">
                <a:latin typeface="Times New Roman" panose="02020603050405020304" pitchFamily="18" charset="0"/>
                <a:ea typeface="SimSun" panose="02010600030101010101" pitchFamily="2" charset="-122"/>
              </a:endParaRPr>
            </a:p>
          </p:txBody>
        </p:sp>
        <p:sp>
          <p:nvSpPr>
            <p:cNvPr id="36943" name="Rectangle 12"/>
            <p:cNvSpPr/>
            <p:nvPr/>
          </p:nvSpPr>
          <p:spPr>
            <a:xfrm>
              <a:off x="1200" y="1152"/>
              <a:ext cx="576" cy="231"/>
            </a:xfrm>
            <a:prstGeom prst="rect">
              <a:avLst/>
            </a:prstGeom>
            <a:noFill/>
            <a:ln w="9525">
              <a:noFill/>
            </a:ln>
          </p:spPr>
          <p:txBody>
            <a:bodyPr lIns="92075" tIns="46038" rIns="92075" bIns="46038">
              <a:spAutoFit/>
            </a:bodyPr>
            <a:p>
              <a:pPr algn="l" eaLnBrk="0" hangingPunct="0">
                <a:spcBef>
                  <a:spcPct val="50000"/>
                </a:spcBef>
              </a:pPr>
              <a:r>
                <a:rPr lang="en-US" altLang="zh-CN" sz="1800" dirty="0">
                  <a:latin typeface="Times New Roman" panose="02020603050405020304" pitchFamily="18" charset="0"/>
                  <a:ea typeface="SimSun" panose="02010600030101010101" pitchFamily="2" charset="-122"/>
                </a:rPr>
                <a:t>child</a:t>
              </a:r>
              <a:r>
                <a:rPr lang="en-US" altLang="zh-CN" baseline="-25000" dirty="0">
                  <a:latin typeface="Times New Roman" panose="02020603050405020304" pitchFamily="18" charset="0"/>
                  <a:ea typeface="SimSun" panose="02010600030101010101" pitchFamily="2" charset="-122"/>
                </a:rPr>
                <a:t>1</a:t>
              </a:r>
              <a:endParaRPr lang="en-US" altLang="zh-CN" baseline="-25000" dirty="0">
                <a:latin typeface="Times New Roman" panose="02020603050405020304" pitchFamily="18" charset="0"/>
                <a:ea typeface="SimSun" panose="02010600030101010101" pitchFamily="2" charset="-122"/>
              </a:endParaRPr>
            </a:p>
          </p:txBody>
        </p:sp>
        <p:sp>
          <p:nvSpPr>
            <p:cNvPr id="36944" name="Rectangle 13"/>
            <p:cNvSpPr/>
            <p:nvPr/>
          </p:nvSpPr>
          <p:spPr>
            <a:xfrm>
              <a:off x="2208" y="816"/>
              <a:ext cx="432" cy="288"/>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3</a:t>
              </a:r>
              <a:endParaRPr lang="en-US" altLang="zh-CN" baseline="-25000" dirty="0">
                <a:latin typeface="Times New Roman" panose="02020603050405020304" pitchFamily="18" charset="0"/>
                <a:ea typeface="SimSun" panose="02010600030101010101" pitchFamily="2" charset="-122"/>
              </a:endParaRPr>
            </a:p>
          </p:txBody>
        </p:sp>
        <p:sp>
          <p:nvSpPr>
            <p:cNvPr id="36945" name="Rectangle 14"/>
            <p:cNvSpPr/>
            <p:nvPr/>
          </p:nvSpPr>
          <p:spPr>
            <a:xfrm>
              <a:off x="2208" y="1152"/>
              <a:ext cx="576" cy="231"/>
            </a:xfrm>
            <a:prstGeom prst="rect">
              <a:avLst/>
            </a:prstGeom>
            <a:noFill/>
            <a:ln w="9525">
              <a:noFill/>
            </a:ln>
          </p:spPr>
          <p:txBody>
            <a:bodyPr lIns="92075" tIns="46038" rIns="92075" bIns="46038">
              <a:spAutoFit/>
            </a:bodyPr>
            <a:p>
              <a:pPr algn="l" eaLnBrk="0" hangingPunct="0">
                <a:spcBef>
                  <a:spcPct val="50000"/>
                </a:spcBef>
              </a:pPr>
              <a:r>
                <a:rPr lang="en-US" altLang="zh-CN" sz="1800" dirty="0">
                  <a:latin typeface="Times New Roman" panose="02020603050405020304" pitchFamily="18" charset="0"/>
                  <a:ea typeface="SimSun" panose="02010600030101010101" pitchFamily="2" charset="-122"/>
                </a:rPr>
                <a:t>child</a:t>
              </a:r>
              <a:r>
                <a:rPr lang="en-US" altLang="zh-CN" baseline="-25000" dirty="0">
                  <a:latin typeface="Times New Roman" panose="02020603050405020304" pitchFamily="18" charset="0"/>
                  <a:ea typeface="SimSun" panose="02010600030101010101" pitchFamily="2" charset="-122"/>
                </a:rPr>
                <a:t>3</a:t>
              </a:r>
              <a:endParaRPr lang="en-US" altLang="zh-CN" baseline="-25000" dirty="0">
                <a:latin typeface="Times New Roman" panose="02020603050405020304" pitchFamily="18" charset="0"/>
                <a:ea typeface="SimSun" panose="02010600030101010101" pitchFamily="2" charset="-122"/>
              </a:endParaRPr>
            </a:p>
          </p:txBody>
        </p:sp>
        <p:sp>
          <p:nvSpPr>
            <p:cNvPr id="36946" name="Rectangle 15"/>
            <p:cNvSpPr/>
            <p:nvPr/>
          </p:nvSpPr>
          <p:spPr>
            <a:xfrm>
              <a:off x="1728" y="816"/>
              <a:ext cx="432" cy="288"/>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2</a:t>
              </a:r>
              <a:endParaRPr lang="en-US" altLang="zh-CN" baseline="-25000" dirty="0">
                <a:latin typeface="Times New Roman" panose="02020603050405020304" pitchFamily="18" charset="0"/>
                <a:ea typeface="SimSun" panose="02010600030101010101" pitchFamily="2" charset="-122"/>
              </a:endParaRPr>
            </a:p>
          </p:txBody>
        </p:sp>
        <p:sp>
          <p:nvSpPr>
            <p:cNvPr id="36947" name="Rectangle 16"/>
            <p:cNvSpPr/>
            <p:nvPr/>
          </p:nvSpPr>
          <p:spPr>
            <a:xfrm>
              <a:off x="1728" y="1152"/>
              <a:ext cx="576" cy="231"/>
            </a:xfrm>
            <a:prstGeom prst="rect">
              <a:avLst/>
            </a:prstGeom>
            <a:noFill/>
            <a:ln w="9525">
              <a:noFill/>
            </a:ln>
          </p:spPr>
          <p:txBody>
            <a:bodyPr lIns="92075" tIns="46038" rIns="92075" bIns="46038">
              <a:spAutoFit/>
            </a:bodyPr>
            <a:p>
              <a:pPr algn="l" eaLnBrk="0" hangingPunct="0">
                <a:spcBef>
                  <a:spcPct val="50000"/>
                </a:spcBef>
              </a:pPr>
              <a:r>
                <a:rPr lang="en-US" altLang="zh-CN" sz="1800" dirty="0">
                  <a:latin typeface="Times New Roman" panose="02020603050405020304" pitchFamily="18" charset="0"/>
                  <a:ea typeface="SimSun" panose="02010600030101010101" pitchFamily="2" charset="-122"/>
                </a:rPr>
                <a:t>child</a:t>
              </a:r>
              <a:r>
                <a:rPr lang="en-US" altLang="zh-CN" baseline="-25000" dirty="0">
                  <a:latin typeface="Times New Roman" panose="02020603050405020304" pitchFamily="18" charset="0"/>
                  <a:ea typeface="SimSun" panose="02010600030101010101" pitchFamily="2" charset="-122"/>
                </a:rPr>
                <a:t>2</a:t>
              </a:r>
              <a:endParaRPr lang="en-US" altLang="zh-CN" baseline="-25000" dirty="0">
                <a:latin typeface="Times New Roman" panose="02020603050405020304" pitchFamily="18" charset="0"/>
                <a:ea typeface="SimSun" panose="02010600030101010101" pitchFamily="2" charset="-122"/>
              </a:endParaRPr>
            </a:p>
          </p:txBody>
        </p:sp>
        <p:sp>
          <p:nvSpPr>
            <p:cNvPr id="36948" name="Rectangle 17"/>
            <p:cNvSpPr/>
            <p:nvPr/>
          </p:nvSpPr>
          <p:spPr>
            <a:xfrm>
              <a:off x="3696" y="816"/>
              <a:ext cx="432" cy="288"/>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6</a:t>
              </a:r>
              <a:endParaRPr lang="en-US" altLang="zh-CN" baseline="-25000" dirty="0">
                <a:latin typeface="Times New Roman" panose="02020603050405020304" pitchFamily="18" charset="0"/>
                <a:ea typeface="SimSun" panose="02010600030101010101" pitchFamily="2" charset="-122"/>
              </a:endParaRPr>
            </a:p>
          </p:txBody>
        </p:sp>
        <p:sp>
          <p:nvSpPr>
            <p:cNvPr id="36949" name="Rectangle 18"/>
            <p:cNvSpPr/>
            <p:nvPr/>
          </p:nvSpPr>
          <p:spPr>
            <a:xfrm>
              <a:off x="3696" y="1152"/>
              <a:ext cx="576" cy="231"/>
            </a:xfrm>
            <a:prstGeom prst="rect">
              <a:avLst/>
            </a:prstGeom>
            <a:noFill/>
            <a:ln w="9525">
              <a:noFill/>
            </a:ln>
          </p:spPr>
          <p:txBody>
            <a:bodyPr lIns="92075" tIns="46038" rIns="92075" bIns="46038">
              <a:spAutoFit/>
            </a:bodyPr>
            <a:p>
              <a:pPr algn="l" eaLnBrk="0" hangingPunct="0">
                <a:spcBef>
                  <a:spcPct val="50000"/>
                </a:spcBef>
              </a:pPr>
              <a:r>
                <a:rPr lang="en-US" altLang="zh-CN" sz="1800" dirty="0">
                  <a:latin typeface="Times New Roman" panose="02020603050405020304" pitchFamily="18" charset="0"/>
                  <a:ea typeface="SimSun" panose="02010600030101010101" pitchFamily="2" charset="-122"/>
                </a:rPr>
                <a:t>child</a:t>
              </a:r>
              <a:r>
                <a:rPr lang="en-US" altLang="zh-CN" baseline="-25000" dirty="0">
                  <a:latin typeface="Times New Roman" panose="02020603050405020304" pitchFamily="18" charset="0"/>
                  <a:ea typeface="SimSun" panose="02010600030101010101" pitchFamily="2" charset="-122"/>
                </a:rPr>
                <a:t>6</a:t>
              </a:r>
              <a:endParaRPr lang="en-US" altLang="zh-CN" baseline="-25000" dirty="0">
                <a:latin typeface="Times New Roman" panose="02020603050405020304" pitchFamily="18" charset="0"/>
                <a:ea typeface="SimSun" panose="02010600030101010101" pitchFamily="2" charset="-122"/>
              </a:endParaRPr>
            </a:p>
          </p:txBody>
        </p:sp>
      </p:grpSp>
      <p:sp>
        <p:nvSpPr>
          <p:cNvPr id="36868" name="Line 19"/>
          <p:cNvSpPr/>
          <p:nvPr/>
        </p:nvSpPr>
        <p:spPr>
          <a:xfrm>
            <a:off x="2557463" y="3276600"/>
            <a:ext cx="0" cy="914400"/>
          </a:xfrm>
          <a:prstGeom prst="line">
            <a:avLst/>
          </a:prstGeom>
          <a:ln w="12700" cap="flat" cmpd="sng">
            <a:solidFill>
              <a:schemeClr val="tx1"/>
            </a:solidFill>
            <a:prstDash val="solid"/>
            <a:headEnd type="none" w="sm" len="sm"/>
            <a:tailEnd type="none" w="sm" len="sm"/>
          </a:ln>
        </p:spPr>
      </p:sp>
      <p:sp>
        <p:nvSpPr>
          <p:cNvPr id="36869" name="Rectangle 20"/>
          <p:cNvSpPr/>
          <p:nvPr/>
        </p:nvSpPr>
        <p:spPr>
          <a:xfrm>
            <a:off x="920750" y="3282950"/>
            <a:ext cx="4787900" cy="901700"/>
          </a:xfrm>
          <a:prstGeom prst="rect">
            <a:avLst/>
          </a:prstGeom>
          <a:noFill/>
          <a:ln w="12700" cap="flat" cmpd="sng">
            <a:solidFill>
              <a:schemeClr val="tx1"/>
            </a:solidFill>
            <a:prstDash val="solid"/>
            <a:miter/>
            <a:headEnd type="none" w="med" len="med"/>
            <a:tailEnd type="none" w="med" len="med"/>
          </a:ln>
        </p:spPr>
        <p:txBody>
          <a:bodyPr wrap="none" anchor="ctr" anchorCtr="0"/>
          <a:p>
            <a:endParaRPr dirty="0">
              <a:latin typeface="Tahoma" panose="020B0604030504040204" pitchFamily="34" charset="0"/>
            </a:endParaRPr>
          </a:p>
        </p:txBody>
      </p:sp>
      <p:sp>
        <p:nvSpPr>
          <p:cNvPr id="36870" name="Line 21"/>
          <p:cNvSpPr/>
          <p:nvPr/>
        </p:nvSpPr>
        <p:spPr>
          <a:xfrm>
            <a:off x="1736725" y="3276600"/>
            <a:ext cx="0" cy="914400"/>
          </a:xfrm>
          <a:prstGeom prst="line">
            <a:avLst/>
          </a:prstGeom>
          <a:ln w="12700" cap="flat" cmpd="sng">
            <a:solidFill>
              <a:schemeClr val="tx1"/>
            </a:solidFill>
            <a:prstDash val="solid"/>
            <a:headEnd type="none" w="sm" len="sm"/>
            <a:tailEnd type="none" w="sm" len="sm"/>
          </a:ln>
        </p:spPr>
      </p:sp>
      <p:sp>
        <p:nvSpPr>
          <p:cNvPr id="36871" name="Line 22"/>
          <p:cNvSpPr/>
          <p:nvPr/>
        </p:nvSpPr>
        <p:spPr>
          <a:xfrm>
            <a:off x="4752975" y="3276600"/>
            <a:ext cx="0" cy="914400"/>
          </a:xfrm>
          <a:prstGeom prst="line">
            <a:avLst/>
          </a:prstGeom>
          <a:ln w="12700" cap="flat" cmpd="sng">
            <a:solidFill>
              <a:schemeClr val="tx1"/>
            </a:solidFill>
            <a:prstDash val="solid"/>
            <a:headEnd type="none" w="sm" len="sm"/>
            <a:tailEnd type="none" w="sm" len="sm"/>
          </a:ln>
        </p:spPr>
      </p:sp>
      <p:sp>
        <p:nvSpPr>
          <p:cNvPr id="36872" name="Line 23"/>
          <p:cNvSpPr/>
          <p:nvPr/>
        </p:nvSpPr>
        <p:spPr>
          <a:xfrm>
            <a:off x="3384550" y="3276600"/>
            <a:ext cx="0" cy="914400"/>
          </a:xfrm>
          <a:prstGeom prst="line">
            <a:avLst/>
          </a:prstGeom>
          <a:ln w="12700" cap="flat" cmpd="sng">
            <a:solidFill>
              <a:schemeClr val="tx1"/>
            </a:solidFill>
            <a:prstDash val="solid"/>
            <a:headEnd type="none" w="sm" len="sm"/>
            <a:tailEnd type="none" w="sm" len="sm"/>
          </a:ln>
        </p:spPr>
      </p:sp>
      <p:sp>
        <p:nvSpPr>
          <p:cNvPr id="36873" name="Line 24"/>
          <p:cNvSpPr/>
          <p:nvPr/>
        </p:nvSpPr>
        <p:spPr>
          <a:xfrm>
            <a:off x="914400" y="3733800"/>
            <a:ext cx="2743200" cy="0"/>
          </a:xfrm>
          <a:prstGeom prst="line">
            <a:avLst/>
          </a:prstGeom>
          <a:ln w="12700" cap="flat" cmpd="sng">
            <a:solidFill>
              <a:schemeClr val="tx1"/>
            </a:solidFill>
            <a:prstDash val="lgDash"/>
            <a:headEnd type="none" w="sm" len="sm"/>
            <a:tailEnd type="none" w="sm" len="sm"/>
          </a:ln>
        </p:spPr>
      </p:sp>
      <p:sp>
        <p:nvSpPr>
          <p:cNvPr id="36874" name="Line 25"/>
          <p:cNvSpPr/>
          <p:nvPr/>
        </p:nvSpPr>
        <p:spPr>
          <a:xfrm>
            <a:off x="4495800" y="3733800"/>
            <a:ext cx="1219200" cy="0"/>
          </a:xfrm>
          <a:prstGeom prst="line">
            <a:avLst/>
          </a:prstGeom>
          <a:ln w="12700" cap="flat" cmpd="sng">
            <a:solidFill>
              <a:schemeClr val="tx1"/>
            </a:solidFill>
            <a:prstDash val="lgDash"/>
            <a:headEnd type="none" w="sm" len="sm"/>
            <a:tailEnd type="none" w="sm" len="sm"/>
          </a:ln>
        </p:spPr>
      </p:sp>
      <p:sp>
        <p:nvSpPr>
          <p:cNvPr id="36875" name="Rectangle 26"/>
          <p:cNvSpPr/>
          <p:nvPr/>
        </p:nvSpPr>
        <p:spPr>
          <a:xfrm>
            <a:off x="990600" y="3276600"/>
            <a:ext cx="685800" cy="457200"/>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1</a:t>
            </a:r>
            <a:endParaRPr lang="en-US" altLang="zh-CN" baseline="-25000" dirty="0">
              <a:latin typeface="Times New Roman" panose="02020603050405020304" pitchFamily="18" charset="0"/>
              <a:ea typeface="SimSun" panose="02010600030101010101" pitchFamily="2" charset="-122"/>
            </a:endParaRPr>
          </a:p>
        </p:txBody>
      </p:sp>
      <p:sp>
        <p:nvSpPr>
          <p:cNvPr id="36876" name="Rectangle 27"/>
          <p:cNvSpPr/>
          <p:nvPr/>
        </p:nvSpPr>
        <p:spPr>
          <a:xfrm>
            <a:off x="990600" y="3810000"/>
            <a:ext cx="914400" cy="366713"/>
          </a:xfrm>
          <a:prstGeom prst="rect">
            <a:avLst/>
          </a:prstGeom>
          <a:noFill/>
          <a:ln w="9525">
            <a:noFill/>
          </a:ln>
        </p:spPr>
        <p:txBody>
          <a:bodyPr lIns="92075" tIns="46038" rIns="92075" bIns="46038">
            <a:spAutoFit/>
          </a:bodyPr>
          <a:p>
            <a:pPr algn="l" eaLnBrk="0" hangingPunct="0">
              <a:spcBef>
                <a:spcPct val="50000"/>
              </a:spcBef>
            </a:pPr>
            <a:r>
              <a:rPr lang="en-US" altLang="zh-CN" sz="1800" dirty="0">
                <a:latin typeface="Times New Roman" panose="02020603050405020304" pitchFamily="18" charset="0"/>
                <a:ea typeface="SimSun" panose="02010600030101010101" pitchFamily="2" charset="-122"/>
              </a:rPr>
              <a:t>child</a:t>
            </a:r>
            <a:r>
              <a:rPr lang="en-US" altLang="zh-CN" baseline="-25000" dirty="0">
                <a:latin typeface="Times New Roman" panose="02020603050405020304" pitchFamily="18" charset="0"/>
                <a:ea typeface="SimSun" panose="02010600030101010101" pitchFamily="2" charset="-122"/>
              </a:rPr>
              <a:t>1</a:t>
            </a:r>
            <a:endParaRPr lang="en-US" altLang="zh-CN" baseline="-25000" dirty="0">
              <a:latin typeface="Times New Roman" panose="02020603050405020304" pitchFamily="18" charset="0"/>
              <a:ea typeface="SimSun" panose="02010600030101010101" pitchFamily="2" charset="-122"/>
            </a:endParaRPr>
          </a:p>
        </p:txBody>
      </p:sp>
      <p:sp>
        <p:nvSpPr>
          <p:cNvPr id="36877" name="Rectangle 28"/>
          <p:cNvSpPr/>
          <p:nvPr/>
        </p:nvSpPr>
        <p:spPr>
          <a:xfrm>
            <a:off x="2590800" y="3276600"/>
            <a:ext cx="685800" cy="457200"/>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3</a:t>
            </a:r>
            <a:endParaRPr lang="en-US" altLang="zh-CN" baseline="-25000" dirty="0">
              <a:latin typeface="Times New Roman" panose="02020603050405020304" pitchFamily="18" charset="0"/>
              <a:ea typeface="SimSun" panose="02010600030101010101" pitchFamily="2" charset="-122"/>
            </a:endParaRPr>
          </a:p>
        </p:txBody>
      </p:sp>
      <p:sp>
        <p:nvSpPr>
          <p:cNvPr id="36878" name="Rectangle 29"/>
          <p:cNvSpPr/>
          <p:nvPr/>
        </p:nvSpPr>
        <p:spPr>
          <a:xfrm>
            <a:off x="2590800" y="3810000"/>
            <a:ext cx="914400" cy="366713"/>
          </a:xfrm>
          <a:prstGeom prst="rect">
            <a:avLst/>
          </a:prstGeom>
          <a:noFill/>
          <a:ln w="9525">
            <a:noFill/>
          </a:ln>
        </p:spPr>
        <p:txBody>
          <a:bodyPr lIns="92075" tIns="46038" rIns="92075" bIns="46038">
            <a:spAutoFit/>
          </a:bodyPr>
          <a:p>
            <a:pPr algn="l" eaLnBrk="0" hangingPunct="0">
              <a:spcBef>
                <a:spcPct val="50000"/>
              </a:spcBef>
            </a:pPr>
            <a:r>
              <a:rPr lang="en-US" altLang="zh-CN" sz="1800" dirty="0">
                <a:latin typeface="Times New Roman" panose="02020603050405020304" pitchFamily="18" charset="0"/>
                <a:ea typeface="SimSun" panose="02010600030101010101" pitchFamily="2" charset="-122"/>
              </a:rPr>
              <a:t>child</a:t>
            </a:r>
            <a:r>
              <a:rPr lang="en-US" altLang="zh-CN" baseline="-25000" dirty="0">
                <a:latin typeface="Times New Roman" panose="02020603050405020304" pitchFamily="18" charset="0"/>
                <a:ea typeface="SimSun" panose="02010600030101010101" pitchFamily="2" charset="-122"/>
              </a:rPr>
              <a:t>3</a:t>
            </a:r>
            <a:endParaRPr lang="en-US" altLang="zh-CN" baseline="-25000" dirty="0">
              <a:latin typeface="Times New Roman" panose="02020603050405020304" pitchFamily="18" charset="0"/>
              <a:ea typeface="SimSun" panose="02010600030101010101" pitchFamily="2" charset="-122"/>
            </a:endParaRPr>
          </a:p>
        </p:txBody>
      </p:sp>
      <p:sp>
        <p:nvSpPr>
          <p:cNvPr id="36879" name="Rectangle 30"/>
          <p:cNvSpPr/>
          <p:nvPr/>
        </p:nvSpPr>
        <p:spPr>
          <a:xfrm>
            <a:off x="1828800" y="3276600"/>
            <a:ext cx="685800" cy="457200"/>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2</a:t>
            </a:r>
            <a:endParaRPr lang="en-US" altLang="zh-CN" baseline="-25000" dirty="0">
              <a:latin typeface="Times New Roman" panose="02020603050405020304" pitchFamily="18" charset="0"/>
              <a:ea typeface="SimSun" panose="02010600030101010101" pitchFamily="2" charset="-122"/>
            </a:endParaRPr>
          </a:p>
        </p:txBody>
      </p:sp>
      <p:sp>
        <p:nvSpPr>
          <p:cNvPr id="36880" name="Rectangle 31"/>
          <p:cNvSpPr/>
          <p:nvPr/>
        </p:nvSpPr>
        <p:spPr>
          <a:xfrm>
            <a:off x="1828800" y="3810000"/>
            <a:ext cx="914400" cy="366713"/>
          </a:xfrm>
          <a:prstGeom prst="rect">
            <a:avLst/>
          </a:prstGeom>
          <a:noFill/>
          <a:ln w="9525">
            <a:noFill/>
          </a:ln>
        </p:spPr>
        <p:txBody>
          <a:bodyPr lIns="92075" tIns="46038" rIns="92075" bIns="46038">
            <a:spAutoFit/>
          </a:bodyPr>
          <a:p>
            <a:pPr algn="l" eaLnBrk="0" hangingPunct="0">
              <a:spcBef>
                <a:spcPct val="50000"/>
              </a:spcBef>
            </a:pPr>
            <a:r>
              <a:rPr lang="en-US" altLang="zh-CN" sz="1800" dirty="0">
                <a:latin typeface="Times New Roman" panose="02020603050405020304" pitchFamily="18" charset="0"/>
                <a:ea typeface="SimSun" panose="02010600030101010101" pitchFamily="2" charset="-122"/>
              </a:rPr>
              <a:t>child</a:t>
            </a:r>
            <a:r>
              <a:rPr lang="en-US" altLang="zh-CN" baseline="-25000" dirty="0">
                <a:latin typeface="Times New Roman" panose="02020603050405020304" pitchFamily="18" charset="0"/>
                <a:ea typeface="SimSun" panose="02010600030101010101" pitchFamily="2" charset="-122"/>
              </a:rPr>
              <a:t>2</a:t>
            </a:r>
            <a:endParaRPr lang="en-US" altLang="zh-CN" baseline="-25000" dirty="0">
              <a:latin typeface="Times New Roman" panose="02020603050405020304" pitchFamily="18" charset="0"/>
              <a:ea typeface="SimSun" panose="02010600030101010101" pitchFamily="2" charset="-122"/>
            </a:endParaRPr>
          </a:p>
        </p:txBody>
      </p:sp>
      <p:sp>
        <p:nvSpPr>
          <p:cNvPr id="36881" name="Rectangle 32"/>
          <p:cNvSpPr/>
          <p:nvPr/>
        </p:nvSpPr>
        <p:spPr>
          <a:xfrm>
            <a:off x="4953000" y="3276600"/>
            <a:ext cx="685800" cy="457200"/>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5</a:t>
            </a:r>
            <a:endParaRPr lang="en-US" altLang="zh-CN" baseline="-25000" dirty="0">
              <a:latin typeface="Times New Roman" panose="02020603050405020304" pitchFamily="18" charset="0"/>
              <a:ea typeface="SimSun" panose="02010600030101010101" pitchFamily="2" charset="-122"/>
            </a:endParaRPr>
          </a:p>
        </p:txBody>
      </p:sp>
      <p:sp>
        <p:nvSpPr>
          <p:cNvPr id="36882" name="Rectangle 33"/>
          <p:cNvSpPr/>
          <p:nvPr/>
        </p:nvSpPr>
        <p:spPr>
          <a:xfrm>
            <a:off x="4953000" y="3810000"/>
            <a:ext cx="914400" cy="366713"/>
          </a:xfrm>
          <a:prstGeom prst="rect">
            <a:avLst/>
          </a:prstGeom>
          <a:noFill/>
          <a:ln w="9525">
            <a:noFill/>
          </a:ln>
        </p:spPr>
        <p:txBody>
          <a:bodyPr lIns="92075" tIns="46038" rIns="92075" bIns="46038">
            <a:spAutoFit/>
          </a:bodyPr>
          <a:p>
            <a:pPr algn="l" eaLnBrk="0" hangingPunct="0">
              <a:spcBef>
                <a:spcPct val="50000"/>
              </a:spcBef>
            </a:pPr>
            <a:r>
              <a:rPr lang="en-US" altLang="zh-CN" sz="1800" dirty="0">
                <a:latin typeface="Times New Roman" panose="02020603050405020304" pitchFamily="18" charset="0"/>
                <a:ea typeface="SimSun" panose="02010600030101010101" pitchFamily="2" charset="-122"/>
              </a:rPr>
              <a:t>child</a:t>
            </a:r>
            <a:r>
              <a:rPr lang="en-US" altLang="zh-CN" baseline="-25000" dirty="0">
                <a:latin typeface="Times New Roman" panose="02020603050405020304" pitchFamily="18" charset="0"/>
                <a:ea typeface="SimSun" panose="02010600030101010101" pitchFamily="2" charset="-122"/>
              </a:rPr>
              <a:t>5</a:t>
            </a:r>
            <a:endParaRPr lang="en-US" altLang="zh-CN" baseline="-25000" dirty="0">
              <a:latin typeface="Times New Roman" panose="02020603050405020304" pitchFamily="18" charset="0"/>
              <a:ea typeface="SimSun" panose="02010600030101010101" pitchFamily="2" charset="-122"/>
            </a:endParaRPr>
          </a:p>
        </p:txBody>
      </p:sp>
      <p:sp>
        <p:nvSpPr>
          <p:cNvPr id="36883" name="Line 34"/>
          <p:cNvSpPr/>
          <p:nvPr/>
        </p:nvSpPr>
        <p:spPr>
          <a:xfrm flipH="1">
            <a:off x="1295400" y="2209800"/>
            <a:ext cx="990600" cy="1066800"/>
          </a:xfrm>
          <a:prstGeom prst="line">
            <a:avLst/>
          </a:prstGeom>
          <a:ln w="25400" cap="flat" cmpd="sng">
            <a:solidFill>
              <a:schemeClr val="tx1"/>
            </a:solidFill>
            <a:prstDash val="solid"/>
            <a:headEnd type="none" w="sm" len="sm"/>
            <a:tailEnd type="stealth" w="med" len="lg"/>
          </a:ln>
        </p:spPr>
      </p:sp>
      <p:sp>
        <p:nvSpPr>
          <p:cNvPr id="36884" name="Line 35"/>
          <p:cNvSpPr/>
          <p:nvPr/>
        </p:nvSpPr>
        <p:spPr>
          <a:xfrm>
            <a:off x="3048000" y="2209800"/>
            <a:ext cx="4191000" cy="990600"/>
          </a:xfrm>
          <a:prstGeom prst="line">
            <a:avLst/>
          </a:prstGeom>
          <a:ln w="25400" cap="flat" cmpd="sng">
            <a:solidFill>
              <a:schemeClr val="tx1"/>
            </a:solidFill>
            <a:prstDash val="solid"/>
            <a:headEnd type="none" w="sm" len="sm"/>
            <a:tailEnd type="stealth" w="med" len="lg"/>
          </a:ln>
        </p:spPr>
      </p:sp>
      <p:sp>
        <p:nvSpPr>
          <p:cNvPr id="36885" name="Line 36"/>
          <p:cNvSpPr/>
          <p:nvPr/>
        </p:nvSpPr>
        <p:spPr>
          <a:xfrm>
            <a:off x="3733800" y="2209800"/>
            <a:ext cx="5029200" cy="990600"/>
          </a:xfrm>
          <a:prstGeom prst="line">
            <a:avLst/>
          </a:prstGeom>
          <a:ln w="25400" cap="flat" cmpd="sng">
            <a:solidFill>
              <a:schemeClr val="tx1"/>
            </a:solidFill>
            <a:prstDash val="solid"/>
            <a:headEnd type="none" w="sm" len="sm"/>
            <a:tailEnd type="stealth" w="med" len="lg"/>
          </a:ln>
        </p:spPr>
      </p:sp>
      <p:sp>
        <p:nvSpPr>
          <p:cNvPr id="36886" name="Rectangle 37"/>
          <p:cNvSpPr/>
          <p:nvPr/>
        </p:nvSpPr>
        <p:spPr>
          <a:xfrm>
            <a:off x="311150" y="5035550"/>
            <a:ext cx="3797300" cy="596900"/>
          </a:xfrm>
          <a:prstGeom prst="rect">
            <a:avLst/>
          </a:prstGeom>
          <a:noFill/>
          <a:ln w="12700" cap="flat" cmpd="sng">
            <a:solidFill>
              <a:schemeClr val="tx1"/>
            </a:solidFill>
            <a:prstDash val="solid"/>
            <a:miter/>
            <a:headEnd type="none" w="med" len="med"/>
            <a:tailEnd type="none" w="med" len="med"/>
          </a:ln>
        </p:spPr>
        <p:txBody>
          <a:bodyPr wrap="none" anchor="ctr" anchorCtr="0"/>
          <a:p>
            <a:endParaRPr dirty="0">
              <a:latin typeface="Tahoma" panose="020B0604030504040204" pitchFamily="34" charset="0"/>
            </a:endParaRPr>
          </a:p>
        </p:txBody>
      </p:sp>
      <p:sp>
        <p:nvSpPr>
          <p:cNvPr id="36887" name="Rectangle 38"/>
          <p:cNvSpPr/>
          <p:nvPr/>
        </p:nvSpPr>
        <p:spPr>
          <a:xfrm>
            <a:off x="990600" y="5105400"/>
            <a:ext cx="685800" cy="457200"/>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1</a:t>
            </a:r>
            <a:endParaRPr lang="en-US" altLang="zh-CN" baseline="-25000" dirty="0">
              <a:latin typeface="Times New Roman" panose="02020603050405020304" pitchFamily="18" charset="0"/>
              <a:ea typeface="SimSun" panose="02010600030101010101" pitchFamily="2" charset="-122"/>
            </a:endParaRPr>
          </a:p>
        </p:txBody>
      </p:sp>
      <p:sp>
        <p:nvSpPr>
          <p:cNvPr id="36888" name="Line 39"/>
          <p:cNvSpPr/>
          <p:nvPr/>
        </p:nvSpPr>
        <p:spPr>
          <a:xfrm>
            <a:off x="990600" y="5029200"/>
            <a:ext cx="0" cy="609600"/>
          </a:xfrm>
          <a:prstGeom prst="line">
            <a:avLst/>
          </a:prstGeom>
          <a:ln w="12700" cap="flat" cmpd="sng">
            <a:solidFill>
              <a:schemeClr val="tx1"/>
            </a:solidFill>
            <a:prstDash val="solid"/>
            <a:headEnd type="none" w="sm" len="sm"/>
            <a:tailEnd type="none" w="sm" len="sm"/>
          </a:ln>
        </p:spPr>
      </p:sp>
      <p:sp>
        <p:nvSpPr>
          <p:cNvPr id="36889" name="Rectangle 40"/>
          <p:cNvSpPr/>
          <p:nvPr/>
        </p:nvSpPr>
        <p:spPr>
          <a:xfrm>
            <a:off x="1600200" y="5105400"/>
            <a:ext cx="685800" cy="457200"/>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2</a:t>
            </a:r>
            <a:endParaRPr lang="en-US" altLang="zh-CN" baseline="-25000" dirty="0">
              <a:latin typeface="Times New Roman" panose="02020603050405020304" pitchFamily="18" charset="0"/>
              <a:ea typeface="SimSun" panose="02010600030101010101" pitchFamily="2" charset="-122"/>
            </a:endParaRPr>
          </a:p>
        </p:txBody>
      </p:sp>
      <p:sp>
        <p:nvSpPr>
          <p:cNvPr id="36890" name="Line 41"/>
          <p:cNvSpPr/>
          <p:nvPr/>
        </p:nvSpPr>
        <p:spPr>
          <a:xfrm>
            <a:off x="1600200" y="5029200"/>
            <a:ext cx="0" cy="609600"/>
          </a:xfrm>
          <a:prstGeom prst="line">
            <a:avLst/>
          </a:prstGeom>
          <a:ln w="12700" cap="flat" cmpd="sng">
            <a:solidFill>
              <a:schemeClr val="tx1"/>
            </a:solidFill>
            <a:prstDash val="solid"/>
            <a:headEnd type="none" w="sm" len="sm"/>
            <a:tailEnd type="none" w="sm" len="sm"/>
          </a:ln>
        </p:spPr>
      </p:sp>
      <p:sp>
        <p:nvSpPr>
          <p:cNvPr id="36891" name="Rectangle 42"/>
          <p:cNvSpPr/>
          <p:nvPr/>
        </p:nvSpPr>
        <p:spPr>
          <a:xfrm>
            <a:off x="2819400" y="5105400"/>
            <a:ext cx="685800" cy="457200"/>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6</a:t>
            </a:r>
            <a:endParaRPr lang="en-US" altLang="zh-CN" baseline="-25000" dirty="0">
              <a:latin typeface="Times New Roman" panose="02020603050405020304" pitchFamily="18" charset="0"/>
              <a:ea typeface="SimSun" panose="02010600030101010101" pitchFamily="2" charset="-122"/>
            </a:endParaRPr>
          </a:p>
        </p:txBody>
      </p:sp>
      <p:sp>
        <p:nvSpPr>
          <p:cNvPr id="36892" name="Line 43"/>
          <p:cNvSpPr/>
          <p:nvPr/>
        </p:nvSpPr>
        <p:spPr>
          <a:xfrm>
            <a:off x="2819400" y="5029200"/>
            <a:ext cx="0" cy="609600"/>
          </a:xfrm>
          <a:prstGeom prst="line">
            <a:avLst/>
          </a:prstGeom>
          <a:ln w="12700" cap="flat" cmpd="sng">
            <a:solidFill>
              <a:schemeClr val="tx1"/>
            </a:solidFill>
            <a:prstDash val="solid"/>
            <a:headEnd type="none" w="sm" len="sm"/>
            <a:tailEnd type="none" w="sm" len="sm"/>
          </a:ln>
        </p:spPr>
      </p:sp>
      <p:sp>
        <p:nvSpPr>
          <p:cNvPr id="36893" name="Line 44"/>
          <p:cNvSpPr/>
          <p:nvPr/>
        </p:nvSpPr>
        <p:spPr>
          <a:xfrm>
            <a:off x="2209800" y="5029200"/>
            <a:ext cx="0" cy="609600"/>
          </a:xfrm>
          <a:prstGeom prst="line">
            <a:avLst/>
          </a:prstGeom>
          <a:ln w="12700" cap="flat" cmpd="sng">
            <a:solidFill>
              <a:schemeClr val="tx1"/>
            </a:solidFill>
            <a:prstDash val="solid"/>
            <a:headEnd type="none" w="sm" len="sm"/>
            <a:tailEnd type="none" w="sm" len="sm"/>
          </a:ln>
        </p:spPr>
      </p:sp>
      <p:sp>
        <p:nvSpPr>
          <p:cNvPr id="36894" name="Line 45"/>
          <p:cNvSpPr/>
          <p:nvPr/>
        </p:nvSpPr>
        <p:spPr>
          <a:xfrm>
            <a:off x="3429000" y="5029200"/>
            <a:ext cx="0" cy="609600"/>
          </a:xfrm>
          <a:prstGeom prst="line">
            <a:avLst/>
          </a:prstGeom>
          <a:ln w="12700" cap="flat" cmpd="sng">
            <a:solidFill>
              <a:schemeClr val="tx1"/>
            </a:solidFill>
            <a:prstDash val="solid"/>
            <a:headEnd type="none" w="sm" len="sm"/>
            <a:tailEnd type="none" w="sm" len="sm"/>
          </a:ln>
        </p:spPr>
      </p:sp>
      <p:sp>
        <p:nvSpPr>
          <p:cNvPr id="36895" name="Line 46"/>
          <p:cNvSpPr/>
          <p:nvPr/>
        </p:nvSpPr>
        <p:spPr>
          <a:xfrm>
            <a:off x="2362200" y="5334000"/>
            <a:ext cx="304800" cy="0"/>
          </a:xfrm>
          <a:prstGeom prst="line">
            <a:avLst/>
          </a:prstGeom>
          <a:ln w="25400" cap="flat" cmpd="sng">
            <a:solidFill>
              <a:schemeClr val="tx1"/>
            </a:solidFill>
            <a:prstDash val="sysDot"/>
            <a:headEnd type="none" w="sm" len="sm"/>
            <a:tailEnd type="none" w="sm" len="sm"/>
          </a:ln>
        </p:spPr>
      </p:sp>
      <p:sp>
        <p:nvSpPr>
          <p:cNvPr id="36896" name="Rectangle 47"/>
          <p:cNvSpPr/>
          <p:nvPr/>
        </p:nvSpPr>
        <p:spPr>
          <a:xfrm>
            <a:off x="381000" y="5105400"/>
            <a:ext cx="685800" cy="396875"/>
          </a:xfrm>
          <a:prstGeom prst="rect">
            <a:avLst/>
          </a:prstGeom>
          <a:noFill/>
          <a:ln w="9525">
            <a:noFill/>
          </a:ln>
        </p:spPr>
        <p:txBody>
          <a:bodyPr lIns="92075" tIns="46038" rIns="92075" bIns="46038">
            <a:spAutoFit/>
          </a:bodyPr>
          <a:p>
            <a:pPr algn="l" eaLnBrk="0" hangingPunct="0">
              <a:spcBef>
                <a:spcPct val="50000"/>
              </a:spcBef>
            </a:pPr>
            <a:r>
              <a:rPr lang="en-US" altLang="zh-CN" sz="2000" dirty="0">
                <a:latin typeface="Times New Roman" panose="02020603050405020304" pitchFamily="18" charset="0"/>
                <a:ea typeface="SimSun" panose="02010600030101010101" pitchFamily="2" charset="-122"/>
              </a:rPr>
              <a:t>prev</a:t>
            </a:r>
            <a:endParaRPr lang="en-US" altLang="zh-CN" sz="2000" dirty="0">
              <a:latin typeface="Times New Roman" panose="02020603050405020304" pitchFamily="18" charset="0"/>
              <a:ea typeface="SimSun" panose="02010600030101010101" pitchFamily="2" charset="-122"/>
            </a:endParaRPr>
          </a:p>
        </p:txBody>
      </p:sp>
      <p:sp>
        <p:nvSpPr>
          <p:cNvPr id="36897" name="Rectangle 48"/>
          <p:cNvSpPr/>
          <p:nvPr/>
        </p:nvSpPr>
        <p:spPr>
          <a:xfrm>
            <a:off x="3429000" y="5105400"/>
            <a:ext cx="685800" cy="396875"/>
          </a:xfrm>
          <a:prstGeom prst="rect">
            <a:avLst/>
          </a:prstGeom>
          <a:noFill/>
          <a:ln w="9525">
            <a:noFill/>
          </a:ln>
        </p:spPr>
        <p:txBody>
          <a:bodyPr lIns="92075" tIns="46038" rIns="92075" bIns="46038">
            <a:spAutoFit/>
          </a:bodyPr>
          <a:p>
            <a:pPr algn="l" eaLnBrk="0" hangingPunct="0">
              <a:spcBef>
                <a:spcPct val="50000"/>
              </a:spcBef>
            </a:pPr>
            <a:r>
              <a:rPr lang="en-US" altLang="zh-CN" sz="2000" dirty="0">
                <a:latin typeface="Times New Roman" panose="02020603050405020304" pitchFamily="18" charset="0"/>
                <a:ea typeface="SimSun" panose="02010600030101010101" pitchFamily="2" charset="-122"/>
              </a:rPr>
              <a:t>next</a:t>
            </a:r>
            <a:endParaRPr lang="en-US" altLang="zh-CN" sz="2000" dirty="0">
              <a:latin typeface="Times New Roman" panose="02020603050405020304" pitchFamily="18" charset="0"/>
              <a:ea typeface="SimSun" panose="02010600030101010101" pitchFamily="2" charset="-122"/>
            </a:endParaRPr>
          </a:p>
        </p:txBody>
      </p:sp>
      <p:sp>
        <p:nvSpPr>
          <p:cNvPr id="36898" name="Line 49"/>
          <p:cNvSpPr/>
          <p:nvPr/>
        </p:nvSpPr>
        <p:spPr>
          <a:xfrm flipH="1">
            <a:off x="914400" y="4191000"/>
            <a:ext cx="381000" cy="838200"/>
          </a:xfrm>
          <a:prstGeom prst="line">
            <a:avLst/>
          </a:prstGeom>
          <a:ln w="25400" cap="flat" cmpd="sng">
            <a:solidFill>
              <a:schemeClr val="tx1"/>
            </a:solidFill>
            <a:prstDash val="solid"/>
            <a:headEnd type="none" w="sm" len="sm"/>
            <a:tailEnd type="stealth" w="med" len="lg"/>
          </a:ln>
        </p:spPr>
      </p:sp>
      <p:sp>
        <p:nvSpPr>
          <p:cNvPr id="36899" name="Rectangle 50"/>
          <p:cNvSpPr/>
          <p:nvPr/>
        </p:nvSpPr>
        <p:spPr>
          <a:xfrm>
            <a:off x="4730750" y="5035550"/>
            <a:ext cx="3797300" cy="596900"/>
          </a:xfrm>
          <a:prstGeom prst="rect">
            <a:avLst/>
          </a:prstGeom>
          <a:noFill/>
          <a:ln w="12700" cap="flat" cmpd="sng">
            <a:solidFill>
              <a:schemeClr val="tx1"/>
            </a:solidFill>
            <a:prstDash val="solid"/>
            <a:miter/>
            <a:headEnd type="none" w="med" len="med"/>
            <a:tailEnd type="none" w="med" len="med"/>
          </a:ln>
        </p:spPr>
        <p:txBody>
          <a:bodyPr wrap="none" anchor="ctr" anchorCtr="0"/>
          <a:p>
            <a:endParaRPr dirty="0">
              <a:latin typeface="Tahoma" panose="020B0604030504040204" pitchFamily="34" charset="0"/>
            </a:endParaRPr>
          </a:p>
        </p:txBody>
      </p:sp>
      <p:sp>
        <p:nvSpPr>
          <p:cNvPr id="36900" name="Rectangle 51"/>
          <p:cNvSpPr/>
          <p:nvPr/>
        </p:nvSpPr>
        <p:spPr>
          <a:xfrm>
            <a:off x="5410200" y="5105400"/>
            <a:ext cx="685800" cy="457200"/>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1</a:t>
            </a:r>
            <a:endParaRPr lang="en-US" altLang="zh-CN" baseline="-25000" dirty="0">
              <a:latin typeface="Times New Roman" panose="02020603050405020304" pitchFamily="18" charset="0"/>
              <a:ea typeface="SimSun" panose="02010600030101010101" pitchFamily="2" charset="-122"/>
            </a:endParaRPr>
          </a:p>
        </p:txBody>
      </p:sp>
      <p:sp>
        <p:nvSpPr>
          <p:cNvPr id="36901" name="Line 52"/>
          <p:cNvSpPr/>
          <p:nvPr/>
        </p:nvSpPr>
        <p:spPr>
          <a:xfrm>
            <a:off x="5410200" y="5029200"/>
            <a:ext cx="0" cy="609600"/>
          </a:xfrm>
          <a:prstGeom prst="line">
            <a:avLst/>
          </a:prstGeom>
          <a:ln w="12700" cap="flat" cmpd="sng">
            <a:solidFill>
              <a:schemeClr val="tx1"/>
            </a:solidFill>
            <a:prstDash val="solid"/>
            <a:headEnd type="none" w="sm" len="sm"/>
            <a:tailEnd type="none" w="sm" len="sm"/>
          </a:ln>
        </p:spPr>
      </p:sp>
      <p:sp>
        <p:nvSpPr>
          <p:cNvPr id="36902" name="Rectangle 53"/>
          <p:cNvSpPr/>
          <p:nvPr/>
        </p:nvSpPr>
        <p:spPr>
          <a:xfrm>
            <a:off x="6019800" y="5105400"/>
            <a:ext cx="685800" cy="457200"/>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2</a:t>
            </a:r>
            <a:endParaRPr lang="en-US" altLang="zh-CN" baseline="-25000" dirty="0">
              <a:latin typeface="Times New Roman" panose="02020603050405020304" pitchFamily="18" charset="0"/>
              <a:ea typeface="SimSun" panose="02010600030101010101" pitchFamily="2" charset="-122"/>
            </a:endParaRPr>
          </a:p>
        </p:txBody>
      </p:sp>
      <p:sp>
        <p:nvSpPr>
          <p:cNvPr id="36903" name="Line 54"/>
          <p:cNvSpPr/>
          <p:nvPr/>
        </p:nvSpPr>
        <p:spPr>
          <a:xfrm>
            <a:off x="6019800" y="5029200"/>
            <a:ext cx="0" cy="609600"/>
          </a:xfrm>
          <a:prstGeom prst="line">
            <a:avLst/>
          </a:prstGeom>
          <a:ln w="12700" cap="flat" cmpd="sng">
            <a:solidFill>
              <a:schemeClr val="tx1"/>
            </a:solidFill>
            <a:prstDash val="solid"/>
            <a:headEnd type="none" w="sm" len="sm"/>
            <a:tailEnd type="none" w="sm" len="sm"/>
          </a:ln>
        </p:spPr>
      </p:sp>
      <p:sp>
        <p:nvSpPr>
          <p:cNvPr id="36904" name="Rectangle 55"/>
          <p:cNvSpPr/>
          <p:nvPr/>
        </p:nvSpPr>
        <p:spPr>
          <a:xfrm>
            <a:off x="7239000" y="5105400"/>
            <a:ext cx="685800" cy="457200"/>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CF</a:t>
            </a:r>
            <a:r>
              <a:rPr lang="en-US" altLang="zh-CN" baseline="-25000" dirty="0">
                <a:latin typeface="Times New Roman" panose="02020603050405020304" pitchFamily="18" charset="0"/>
                <a:ea typeface="SimSun" panose="02010600030101010101" pitchFamily="2" charset="-122"/>
              </a:rPr>
              <a:t>4</a:t>
            </a:r>
            <a:endParaRPr lang="en-US" altLang="zh-CN" baseline="-25000" dirty="0">
              <a:latin typeface="Times New Roman" panose="02020603050405020304" pitchFamily="18" charset="0"/>
              <a:ea typeface="SimSun" panose="02010600030101010101" pitchFamily="2" charset="-122"/>
            </a:endParaRPr>
          </a:p>
        </p:txBody>
      </p:sp>
      <p:sp>
        <p:nvSpPr>
          <p:cNvPr id="36905" name="Line 56"/>
          <p:cNvSpPr/>
          <p:nvPr/>
        </p:nvSpPr>
        <p:spPr>
          <a:xfrm>
            <a:off x="7239000" y="5029200"/>
            <a:ext cx="0" cy="609600"/>
          </a:xfrm>
          <a:prstGeom prst="line">
            <a:avLst/>
          </a:prstGeom>
          <a:ln w="12700" cap="flat" cmpd="sng">
            <a:solidFill>
              <a:schemeClr val="tx1"/>
            </a:solidFill>
            <a:prstDash val="solid"/>
            <a:headEnd type="none" w="sm" len="sm"/>
            <a:tailEnd type="none" w="sm" len="sm"/>
          </a:ln>
        </p:spPr>
      </p:sp>
      <p:sp>
        <p:nvSpPr>
          <p:cNvPr id="36906" name="Line 57"/>
          <p:cNvSpPr/>
          <p:nvPr/>
        </p:nvSpPr>
        <p:spPr>
          <a:xfrm>
            <a:off x="6629400" y="5029200"/>
            <a:ext cx="0" cy="609600"/>
          </a:xfrm>
          <a:prstGeom prst="line">
            <a:avLst/>
          </a:prstGeom>
          <a:ln w="12700" cap="flat" cmpd="sng">
            <a:solidFill>
              <a:schemeClr val="tx1"/>
            </a:solidFill>
            <a:prstDash val="solid"/>
            <a:headEnd type="none" w="sm" len="sm"/>
            <a:tailEnd type="none" w="sm" len="sm"/>
          </a:ln>
        </p:spPr>
      </p:sp>
      <p:sp>
        <p:nvSpPr>
          <p:cNvPr id="36907" name="Line 58"/>
          <p:cNvSpPr/>
          <p:nvPr/>
        </p:nvSpPr>
        <p:spPr>
          <a:xfrm>
            <a:off x="7848600" y="5029200"/>
            <a:ext cx="0" cy="609600"/>
          </a:xfrm>
          <a:prstGeom prst="line">
            <a:avLst/>
          </a:prstGeom>
          <a:ln w="12700" cap="flat" cmpd="sng">
            <a:solidFill>
              <a:schemeClr val="tx1"/>
            </a:solidFill>
            <a:prstDash val="solid"/>
            <a:headEnd type="none" w="sm" len="sm"/>
            <a:tailEnd type="none" w="sm" len="sm"/>
          </a:ln>
        </p:spPr>
      </p:sp>
      <p:sp>
        <p:nvSpPr>
          <p:cNvPr id="36908" name="Line 59"/>
          <p:cNvSpPr/>
          <p:nvPr/>
        </p:nvSpPr>
        <p:spPr>
          <a:xfrm>
            <a:off x="6781800" y="5334000"/>
            <a:ext cx="304800" cy="0"/>
          </a:xfrm>
          <a:prstGeom prst="line">
            <a:avLst/>
          </a:prstGeom>
          <a:ln w="25400" cap="flat" cmpd="sng">
            <a:solidFill>
              <a:schemeClr val="tx1"/>
            </a:solidFill>
            <a:prstDash val="sysDot"/>
            <a:headEnd type="none" w="sm" len="sm"/>
            <a:tailEnd type="none" w="sm" len="sm"/>
          </a:ln>
        </p:spPr>
      </p:sp>
      <p:sp>
        <p:nvSpPr>
          <p:cNvPr id="36909" name="Rectangle 60"/>
          <p:cNvSpPr/>
          <p:nvPr/>
        </p:nvSpPr>
        <p:spPr>
          <a:xfrm>
            <a:off x="4800600" y="5105400"/>
            <a:ext cx="685800" cy="396875"/>
          </a:xfrm>
          <a:prstGeom prst="rect">
            <a:avLst/>
          </a:prstGeom>
          <a:noFill/>
          <a:ln w="9525">
            <a:noFill/>
          </a:ln>
        </p:spPr>
        <p:txBody>
          <a:bodyPr lIns="92075" tIns="46038" rIns="92075" bIns="46038">
            <a:spAutoFit/>
          </a:bodyPr>
          <a:p>
            <a:pPr algn="l" eaLnBrk="0" hangingPunct="0">
              <a:spcBef>
                <a:spcPct val="50000"/>
              </a:spcBef>
            </a:pPr>
            <a:r>
              <a:rPr lang="en-US" altLang="zh-CN" sz="2000" dirty="0">
                <a:latin typeface="Times New Roman" panose="02020603050405020304" pitchFamily="18" charset="0"/>
                <a:ea typeface="SimSun" panose="02010600030101010101" pitchFamily="2" charset="-122"/>
              </a:rPr>
              <a:t>prev</a:t>
            </a:r>
            <a:endParaRPr lang="en-US" altLang="zh-CN" sz="2000" dirty="0">
              <a:latin typeface="Times New Roman" panose="02020603050405020304" pitchFamily="18" charset="0"/>
              <a:ea typeface="SimSun" panose="02010600030101010101" pitchFamily="2" charset="-122"/>
            </a:endParaRPr>
          </a:p>
        </p:txBody>
      </p:sp>
      <p:sp>
        <p:nvSpPr>
          <p:cNvPr id="36910" name="Rectangle 61"/>
          <p:cNvSpPr/>
          <p:nvPr/>
        </p:nvSpPr>
        <p:spPr>
          <a:xfrm>
            <a:off x="7848600" y="5105400"/>
            <a:ext cx="685800" cy="396875"/>
          </a:xfrm>
          <a:prstGeom prst="rect">
            <a:avLst/>
          </a:prstGeom>
          <a:noFill/>
          <a:ln w="9525">
            <a:noFill/>
          </a:ln>
        </p:spPr>
        <p:txBody>
          <a:bodyPr lIns="92075" tIns="46038" rIns="92075" bIns="46038">
            <a:spAutoFit/>
          </a:bodyPr>
          <a:p>
            <a:pPr algn="l" eaLnBrk="0" hangingPunct="0">
              <a:spcBef>
                <a:spcPct val="50000"/>
              </a:spcBef>
            </a:pPr>
            <a:r>
              <a:rPr lang="en-US" altLang="zh-CN" sz="2000" dirty="0">
                <a:latin typeface="Times New Roman" panose="02020603050405020304" pitchFamily="18" charset="0"/>
                <a:ea typeface="SimSun" panose="02010600030101010101" pitchFamily="2" charset="-122"/>
              </a:rPr>
              <a:t>next</a:t>
            </a:r>
            <a:endParaRPr lang="en-US" altLang="zh-CN" sz="2000" dirty="0">
              <a:latin typeface="Times New Roman" panose="02020603050405020304" pitchFamily="18" charset="0"/>
              <a:ea typeface="SimSun" panose="02010600030101010101" pitchFamily="2" charset="-122"/>
            </a:endParaRPr>
          </a:p>
        </p:txBody>
      </p:sp>
      <p:sp>
        <p:nvSpPr>
          <p:cNvPr id="36911" name="Line 62"/>
          <p:cNvSpPr/>
          <p:nvPr/>
        </p:nvSpPr>
        <p:spPr>
          <a:xfrm>
            <a:off x="2133600" y="4191000"/>
            <a:ext cx="4800600" cy="838200"/>
          </a:xfrm>
          <a:prstGeom prst="line">
            <a:avLst/>
          </a:prstGeom>
          <a:ln w="25400" cap="flat" cmpd="sng">
            <a:solidFill>
              <a:schemeClr val="tx1"/>
            </a:solidFill>
            <a:prstDash val="solid"/>
            <a:headEnd type="none" w="sm" len="sm"/>
            <a:tailEnd type="stealth" w="med" len="lg"/>
          </a:ln>
        </p:spPr>
      </p:sp>
      <p:sp>
        <p:nvSpPr>
          <p:cNvPr id="36912" name="Line 63"/>
          <p:cNvSpPr/>
          <p:nvPr/>
        </p:nvSpPr>
        <p:spPr>
          <a:xfrm flipH="1">
            <a:off x="4114800" y="5181600"/>
            <a:ext cx="609600" cy="0"/>
          </a:xfrm>
          <a:prstGeom prst="line">
            <a:avLst/>
          </a:prstGeom>
          <a:ln w="25400" cap="flat" cmpd="sng">
            <a:solidFill>
              <a:schemeClr val="tx1"/>
            </a:solidFill>
            <a:prstDash val="solid"/>
            <a:headEnd type="none" w="sm" len="sm"/>
            <a:tailEnd type="stealth" w="med" len="lg"/>
          </a:ln>
        </p:spPr>
      </p:sp>
      <p:sp>
        <p:nvSpPr>
          <p:cNvPr id="36913" name="Line 64"/>
          <p:cNvSpPr/>
          <p:nvPr/>
        </p:nvSpPr>
        <p:spPr>
          <a:xfrm>
            <a:off x="4114800" y="5486400"/>
            <a:ext cx="609600" cy="0"/>
          </a:xfrm>
          <a:prstGeom prst="line">
            <a:avLst/>
          </a:prstGeom>
          <a:ln w="25400" cap="flat" cmpd="sng">
            <a:solidFill>
              <a:schemeClr val="tx1"/>
            </a:solidFill>
            <a:prstDash val="solid"/>
            <a:headEnd type="none" w="sm" len="sm"/>
            <a:tailEnd type="stealth" w="med" len="lg"/>
          </a:ln>
        </p:spPr>
      </p:sp>
      <p:sp>
        <p:nvSpPr>
          <p:cNvPr id="36914" name="Line 65"/>
          <p:cNvSpPr/>
          <p:nvPr/>
        </p:nvSpPr>
        <p:spPr>
          <a:xfrm>
            <a:off x="8534400" y="5562600"/>
            <a:ext cx="381000" cy="0"/>
          </a:xfrm>
          <a:prstGeom prst="line">
            <a:avLst/>
          </a:prstGeom>
          <a:ln w="25400" cap="flat" cmpd="sng">
            <a:solidFill>
              <a:schemeClr val="tx1"/>
            </a:solidFill>
            <a:prstDash val="solid"/>
            <a:headEnd type="none" w="sm" len="sm"/>
            <a:tailEnd type="stealth" w="med" len="lg"/>
          </a:ln>
        </p:spPr>
      </p:sp>
      <p:sp>
        <p:nvSpPr>
          <p:cNvPr id="36915" name="Line 66"/>
          <p:cNvSpPr/>
          <p:nvPr/>
        </p:nvSpPr>
        <p:spPr>
          <a:xfrm flipH="1">
            <a:off x="8534400" y="5334000"/>
            <a:ext cx="381000" cy="0"/>
          </a:xfrm>
          <a:prstGeom prst="line">
            <a:avLst/>
          </a:prstGeom>
          <a:ln w="25400" cap="flat" cmpd="sng">
            <a:solidFill>
              <a:schemeClr val="tx1"/>
            </a:solidFill>
            <a:prstDash val="solid"/>
            <a:headEnd type="none" w="sm" len="sm"/>
            <a:tailEnd type="stealth" w="med" len="lg"/>
          </a:ln>
        </p:spPr>
      </p:sp>
      <p:sp>
        <p:nvSpPr>
          <p:cNvPr id="36916" name="Rectangle 67"/>
          <p:cNvSpPr/>
          <p:nvPr/>
        </p:nvSpPr>
        <p:spPr>
          <a:xfrm>
            <a:off x="304800" y="1371600"/>
            <a:ext cx="1066800" cy="1004888"/>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B = 7</a:t>
            </a:r>
            <a:endParaRPr lang="en-US" altLang="zh-CN" dirty="0">
              <a:latin typeface="Times New Roman" panose="02020603050405020304" pitchFamily="18" charset="0"/>
              <a:ea typeface="SimSun" panose="02010600030101010101" pitchFamily="2" charset="-122"/>
            </a:endParaRPr>
          </a:p>
          <a:p>
            <a:pPr algn="l" eaLnBrk="0" hangingPunct="0">
              <a:spcBef>
                <a:spcPct val="50000"/>
              </a:spcBef>
            </a:pPr>
            <a:r>
              <a:rPr lang="en-US" altLang="zh-CN" dirty="0">
                <a:latin typeface="Times New Roman" panose="02020603050405020304" pitchFamily="18" charset="0"/>
                <a:ea typeface="SimSun" panose="02010600030101010101" pitchFamily="2" charset="-122"/>
              </a:rPr>
              <a:t>L = 6</a:t>
            </a:r>
            <a:endParaRPr lang="en-US" altLang="zh-CN" dirty="0">
              <a:latin typeface="Times New Roman" panose="02020603050405020304" pitchFamily="18" charset="0"/>
              <a:ea typeface="SimSun" panose="02010600030101010101" pitchFamily="2" charset="-122"/>
            </a:endParaRPr>
          </a:p>
        </p:txBody>
      </p:sp>
      <p:sp>
        <p:nvSpPr>
          <p:cNvPr id="36917" name="Line 68"/>
          <p:cNvSpPr/>
          <p:nvPr/>
        </p:nvSpPr>
        <p:spPr>
          <a:xfrm>
            <a:off x="3962400" y="3733800"/>
            <a:ext cx="304800" cy="0"/>
          </a:xfrm>
          <a:prstGeom prst="line">
            <a:avLst/>
          </a:prstGeom>
          <a:ln w="25400" cap="flat" cmpd="sng">
            <a:solidFill>
              <a:schemeClr val="tx1"/>
            </a:solidFill>
            <a:prstDash val="sysDot"/>
            <a:headEnd type="none" w="sm" len="sm"/>
            <a:tailEnd type="none" w="sm" len="sm"/>
          </a:ln>
        </p:spPr>
      </p:sp>
      <p:sp>
        <p:nvSpPr>
          <p:cNvPr id="36918" name="Line 69"/>
          <p:cNvSpPr/>
          <p:nvPr/>
        </p:nvSpPr>
        <p:spPr>
          <a:xfrm>
            <a:off x="4876800" y="1752600"/>
            <a:ext cx="304800" cy="0"/>
          </a:xfrm>
          <a:prstGeom prst="line">
            <a:avLst/>
          </a:prstGeom>
          <a:ln w="25400" cap="flat" cmpd="sng">
            <a:solidFill>
              <a:schemeClr val="tx1"/>
            </a:solidFill>
            <a:prstDash val="sysDot"/>
            <a:headEnd type="none" w="sm" len="sm"/>
            <a:tailEnd type="none" w="sm" len="sm"/>
          </a:ln>
        </p:spPr>
      </p:sp>
      <p:sp>
        <p:nvSpPr>
          <p:cNvPr id="36919" name="Line 70"/>
          <p:cNvSpPr/>
          <p:nvPr/>
        </p:nvSpPr>
        <p:spPr>
          <a:xfrm>
            <a:off x="7391400" y="3733800"/>
            <a:ext cx="838200" cy="0"/>
          </a:xfrm>
          <a:prstGeom prst="line">
            <a:avLst/>
          </a:prstGeom>
          <a:ln w="25400" cap="flat" cmpd="sng">
            <a:solidFill>
              <a:schemeClr val="tx1"/>
            </a:solidFill>
            <a:prstDash val="sysDot"/>
            <a:headEnd type="none" w="sm" len="sm"/>
            <a:tailEnd type="none" w="sm" len="sm"/>
          </a:ln>
        </p:spPr>
      </p:sp>
      <p:sp>
        <p:nvSpPr>
          <p:cNvPr id="36920" name="Rectangle 71"/>
          <p:cNvSpPr/>
          <p:nvPr/>
        </p:nvSpPr>
        <p:spPr>
          <a:xfrm>
            <a:off x="3733800" y="762000"/>
            <a:ext cx="990600" cy="457200"/>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Root</a:t>
            </a:r>
            <a:endParaRPr lang="en-US" altLang="zh-CN" dirty="0">
              <a:latin typeface="Times New Roman" panose="02020603050405020304" pitchFamily="18" charset="0"/>
              <a:ea typeface="SimSun" panose="02010600030101010101" pitchFamily="2" charset="-122"/>
            </a:endParaRPr>
          </a:p>
        </p:txBody>
      </p:sp>
      <p:sp>
        <p:nvSpPr>
          <p:cNvPr id="36921" name="Rectangle 72"/>
          <p:cNvSpPr/>
          <p:nvPr/>
        </p:nvSpPr>
        <p:spPr>
          <a:xfrm>
            <a:off x="2438400" y="2819400"/>
            <a:ext cx="1981200" cy="457200"/>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Non-leaf node</a:t>
            </a:r>
            <a:endParaRPr lang="en-US" altLang="zh-CN" dirty="0">
              <a:latin typeface="Times New Roman" panose="02020603050405020304" pitchFamily="18" charset="0"/>
              <a:ea typeface="SimSun" panose="02010600030101010101" pitchFamily="2" charset="-122"/>
            </a:endParaRPr>
          </a:p>
        </p:txBody>
      </p:sp>
      <p:sp>
        <p:nvSpPr>
          <p:cNvPr id="36922" name="Rectangle 73"/>
          <p:cNvSpPr/>
          <p:nvPr/>
        </p:nvSpPr>
        <p:spPr>
          <a:xfrm>
            <a:off x="2362200" y="4572000"/>
            <a:ext cx="1447800" cy="457200"/>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Leaf node</a:t>
            </a:r>
            <a:endParaRPr lang="en-US" altLang="zh-CN" dirty="0">
              <a:latin typeface="Times New Roman" panose="02020603050405020304" pitchFamily="18" charset="0"/>
              <a:ea typeface="SimSun" panose="02010600030101010101" pitchFamily="2" charset="-122"/>
            </a:endParaRPr>
          </a:p>
        </p:txBody>
      </p:sp>
      <p:sp>
        <p:nvSpPr>
          <p:cNvPr id="36923" name="Rectangle 74"/>
          <p:cNvSpPr/>
          <p:nvPr/>
        </p:nvSpPr>
        <p:spPr>
          <a:xfrm>
            <a:off x="7010400" y="4572000"/>
            <a:ext cx="1447800" cy="457200"/>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Leaf node</a:t>
            </a:r>
            <a:endParaRPr lang="en-US" altLang="zh-CN" dirty="0">
              <a:latin typeface="Times New Roman" panose="02020603050405020304" pitchFamily="18" charset="0"/>
              <a:ea typeface="SimSun" panose="02010600030101010101" pitchFamily="2" charset="-122"/>
            </a:endParaRPr>
          </a:p>
        </p:txBody>
      </p:sp>
      <p:grpSp>
        <p:nvGrpSpPr>
          <p:cNvPr id="36924" name="Group 75"/>
          <p:cNvGrpSpPr/>
          <p:nvPr/>
        </p:nvGrpSpPr>
        <p:grpSpPr>
          <a:xfrm>
            <a:off x="920750" y="5949950"/>
            <a:ext cx="749300" cy="749300"/>
            <a:chOff x="580" y="3748"/>
            <a:chExt cx="472" cy="472"/>
          </a:xfrm>
        </p:grpSpPr>
        <p:sp>
          <p:nvSpPr>
            <p:cNvPr id="36927" name="Oval 76"/>
            <p:cNvSpPr/>
            <p:nvPr/>
          </p:nvSpPr>
          <p:spPr>
            <a:xfrm>
              <a:off x="724" y="3892"/>
              <a:ext cx="40" cy="40"/>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6928" name="Oval 77"/>
            <p:cNvSpPr/>
            <p:nvPr/>
          </p:nvSpPr>
          <p:spPr>
            <a:xfrm>
              <a:off x="820" y="3988"/>
              <a:ext cx="40" cy="40"/>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6929" name="Oval 78"/>
            <p:cNvSpPr/>
            <p:nvPr/>
          </p:nvSpPr>
          <p:spPr>
            <a:xfrm>
              <a:off x="820" y="3892"/>
              <a:ext cx="40" cy="40"/>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6930" name="Oval 79"/>
            <p:cNvSpPr/>
            <p:nvPr/>
          </p:nvSpPr>
          <p:spPr>
            <a:xfrm>
              <a:off x="676" y="4084"/>
              <a:ext cx="40" cy="40"/>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6931" name="Oval 80"/>
            <p:cNvSpPr/>
            <p:nvPr/>
          </p:nvSpPr>
          <p:spPr>
            <a:xfrm>
              <a:off x="676" y="3988"/>
              <a:ext cx="40" cy="40"/>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6932" name="Oval 81"/>
            <p:cNvSpPr/>
            <p:nvPr/>
          </p:nvSpPr>
          <p:spPr>
            <a:xfrm>
              <a:off x="772" y="4036"/>
              <a:ext cx="40" cy="40"/>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6933" name="Oval 82"/>
            <p:cNvSpPr/>
            <p:nvPr/>
          </p:nvSpPr>
          <p:spPr>
            <a:xfrm>
              <a:off x="916" y="4084"/>
              <a:ext cx="40" cy="40"/>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6934" name="Oval 83"/>
            <p:cNvSpPr/>
            <p:nvPr/>
          </p:nvSpPr>
          <p:spPr>
            <a:xfrm>
              <a:off x="580" y="3748"/>
              <a:ext cx="472" cy="472"/>
            </a:xfrm>
            <a:prstGeom prst="ellipse">
              <a:avLst/>
            </a:prstGeom>
            <a:no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grpSp>
      <p:sp>
        <p:nvSpPr>
          <p:cNvPr id="36925" name="Line 84"/>
          <p:cNvSpPr/>
          <p:nvPr/>
        </p:nvSpPr>
        <p:spPr>
          <a:xfrm>
            <a:off x="1295400" y="5715000"/>
            <a:ext cx="0" cy="152400"/>
          </a:xfrm>
          <a:prstGeom prst="line">
            <a:avLst/>
          </a:prstGeom>
          <a:ln w="38100" cap="flat" cmpd="dbl">
            <a:solidFill>
              <a:schemeClr val="tx1"/>
            </a:solidFill>
            <a:prstDash val="solid"/>
            <a:headEnd type="none" w="sm" len="sm"/>
            <a:tailEnd type="none" w="sm" len="sm"/>
          </a:ln>
        </p:spPr>
      </p:sp>
      <p:sp>
        <p:nvSpPr>
          <p:cNvPr id="36926" name="Slide Number Placeholder 87"/>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type="title"/>
          </p:nvPr>
        </p:nvSpPr>
        <p:spPr/>
        <p:txBody>
          <a:bodyPr vert="horz" wrap="square" lIns="91440" tIns="45720" rIns="91440" bIns="45720" anchor="b" anchorCtr="0"/>
          <a:p>
            <a:pPr eaLnBrk="1" hangingPunct="1"/>
            <a:r>
              <a:rPr sz="3200" dirty="0"/>
              <a:t>The Birch Algorithm</a:t>
            </a:r>
            <a:endParaRPr sz="3200" dirty="0"/>
          </a:p>
        </p:txBody>
      </p:sp>
      <p:sp>
        <p:nvSpPr>
          <p:cNvPr id="37891" name="Rectangle 3"/>
          <p:cNvSpPr>
            <a:spLocks noGrp="1"/>
          </p:cNvSpPr>
          <p:nvPr>
            <p:ph idx="1"/>
          </p:nvPr>
        </p:nvSpPr>
        <p:spPr>
          <a:xfrm>
            <a:off x="381000" y="1371600"/>
            <a:ext cx="8610600" cy="5257800"/>
          </a:xfrm>
        </p:spPr>
        <p:txBody>
          <a:bodyPr vert="horz" wrap="square" lIns="91440" tIns="45720" rIns="91440" bIns="45720" anchor="t" anchorCtr="0"/>
          <a:p>
            <a:pPr eaLnBrk="1" hangingPunct="1"/>
            <a:r>
              <a:rPr sz="2000" dirty="0"/>
              <a:t>Cluster Diameter</a:t>
            </a:r>
            <a:endParaRPr sz="2000" dirty="0"/>
          </a:p>
          <a:p>
            <a:pPr eaLnBrk="1" hangingPunct="1"/>
            <a:endParaRPr sz="2000" dirty="0"/>
          </a:p>
          <a:p>
            <a:pPr eaLnBrk="1" hangingPunct="1"/>
            <a:endParaRPr sz="2000" dirty="0"/>
          </a:p>
          <a:p>
            <a:pPr eaLnBrk="1" hangingPunct="1"/>
            <a:r>
              <a:rPr sz="2000" dirty="0"/>
              <a:t>For each point in the input</a:t>
            </a:r>
            <a:endParaRPr sz="2000" dirty="0"/>
          </a:p>
          <a:p>
            <a:pPr lvl="1" eaLnBrk="1" hangingPunct="1"/>
            <a:r>
              <a:rPr sz="2000" dirty="0"/>
              <a:t>Find closest leaf entry</a:t>
            </a:r>
            <a:endParaRPr sz="2000" dirty="0"/>
          </a:p>
          <a:p>
            <a:pPr lvl="1" eaLnBrk="1" hangingPunct="1"/>
            <a:r>
              <a:rPr sz="2000" dirty="0"/>
              <a:t>Add point to leaf entry and update CF </a:t>
            </a:r>
            <a:endParaRPr sz="2000" dirty="0"/>
          </a:p>
          <a:p>
            <a:pPr lvl="1" eaLnBrk="1" hangingPunct="1"/>
            <a:r>
              <a:rPr sz="2000" dirty="0"/>
              <a:t>If entry diameter &gt; max_diameter, then split leaf, and possibly parents</a:t>
            </a:r>
            <a:endParaRPr sz="2000" dirty="0"/>
          </a:p>
          <a:p>
            <a:pPr eaLnBrk="1" hangingPunct="1"/>
            <a:r>
              <a:rPr sz="2000" dirty="0"/>
              <a:t>Algorithm is O(n)</a:t>
            </a:r>
            <a:endParaRPr sz="2000" dirty="0"/>
          </a:p>
          <a:p>
            <a:pPr eaLnBrk="1" hangingPunct="1"/>
            <a:r>
              <a:rPr sz="2000" dirty="0"/>
              <a:t>Concerns</a:t>
            </a:r>
            <a:endParaRPr sz="2000" dirty="0"/>
          </a:p>
          <a:p>
            <a:pPr lvl="1" eaLnBrk="1" hangingPunct="1"/>
            <a:r>
              <a:rPr sz="2000" dirty="0"/>
              <a:t>Sensitive to insertion order of data points</a:t>
            </a:r>
            <a:endParaRPr sz="2000" dirty="0"/>
          </a:p>
          <a:p>
            <a:pPr lvl="1" eaLnBrk="1" hangingPunct="1"/>
            <a:r>
              <a:rPr sz="2000" dirty="0"/>
              <a:t>Since we fix the size of leaf nodes, so clusters may not be so natural</a:t>
            </a:r>
            <a:endParaRPr sz="2000" dirty="0"/>
          </a:p>
          <a:p>
            <a:pPr lvl="1" eaLnBrk="1" hangingPunct="1"/>
            <a:r>
              <a:rPr sz="2000" dirty="0"/>
              <a:t>Clusters tend to be spherical given the radius and diameter measures</a:t>
            </a:r>
            <a:endParaRPr sz="2000" dirty="0"/>
          </a:p>
        </p:txBody>
      </p:sp>
      <p:graphicFrame>
        <p:nvGraphicFramePr>
          <p:cNvPr id="37892" name="Object 4"/>
          <p:cNvGraphicFramePr>
            <a:graphicFrameLocks noChangeAspect="1"/>
          </p:cNvGraphicFramePr>
          <p:nvPr/>
        </p:nvGraphicFramePr>
        <p:xfrm>
          <a:off x="3276600" y="1371600"/>
          <a:ext cx="3771900" cy="938213"/>
        </p:xfrm>
        <a:graphic>
          <a:graphicData uri="http://schemas.openxmlformats.org/presentationml/2006/ole">
            <mc:AlternateContent xmlns:mc="http://schemas.openxmlformats.org/markup-compatibility/2006">
              <mc:Choice xmlns:v="urn:schemas-microsoft-com:vml" Requires="v">
                <p:oleObj spid="_x0000_s3097" name="" r:id="rId1" imgW="1459865" imgH="495300" progId="Equation.3">
                  <p:embed/>
                </p:oleObj>
              </mc:Choice>
              <mc:Fallback>
                <p:oleObj name="" r:id="rId1" imgW="1459865" imgH="495300" progId="Equation.3">
                  <p:embed/>
                  <p:pic>
                    <p:nvPicPr>
                      <p:cNvPr id="0" name="Picture 3096"/>
                      <p:cNvPicPr/>
                      <p:nvPr/>
                    </p:nvPicPr>
                    <p:blipFill>
                      <a:blip r:embed="rId2"/>
                      <a:stretch>
                        <a:fillRect/>
                      </a:stretch>
                    </p:blipFill>
                    <p:spPr>
                      <a:xfrm>
                        <a:off x="3276600" y="1371600"/>
                        <a:ext cx="3771900" cy="938213"/>
                      </a:xfrm>
                      <a:prstGeom prst="rect">
                        <a:avLst/>
                      </a:prstGeom>
                      <a:noFill/>
                      <a:ln w="38100">
                        <a:noFill/>
                        <a:miter/>
                      </a:ln>
                    </p:spPr>
                  </p:pic>
                </p:oleObj>
              </mc:Fallback>
            </mc:AlternateContent>
          </a:graphicData>
        </a:graphic>
      </p:graphicFrame>
      <p:sp>
        <p:nvSpPr>
          <p:cNvPr id="37893" name="Slide Number Placeholder 7"/>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title"/>
          </p:nvPr>
        </p:nvSpPr>
        <p:spPr>
          <a:xfrm>
            <a:off x="381000" y="228600"/>
            <a:ext cx="8382000" cy="990600"/>
          </a:xfrm>
        </p:spPr>
        <p:txBody>
          <a:bodyPr vert="horz" wrap="square" lIns="92075" tIns="46038" rIns="92075" bIns="46038" anchor="ctr" anchorCtr="0"/>
          <a:p>
            <a:pPr eaLnBrk="1" hangingPunct="1"/>
            <a:r>
              <a:rPr lang="en-US" altLang="zh-CN" sz="3200" dirty="0">
                <a:ea typeface="SimSun" panose="02010600030101010101" pitchFamily="2" charset="-122"/>
              </a:rPr>
              <a:t>CHAMELEON: Hierarchical Clustering Using Dynamic Modeling (1999)</a:t>
            </a:r>
            <a:endParaRPr lang="en-US" altLang="zh-CN" sz="3200" dirty="0">
              <a:ea typeface="SimSun" panose="02010600030101010101" pitchFamily="2" charset="-122"/>
            </a:endParaRPr>
          </a:p>
        </p:txBody>
      </p:sp>
      <p:sp>
        <p:nvSpPr>
          <p:cNvPr id="38915" name="Rectangle 3"/>
          <p:cNvSpPr>
            <a:spLocks noGrp="1"/>
          </p:cNvSpPr>
          <p:nvPr>
            <p:ph idx="1"/>
          </p:nvPr>
        </p:nvSpPr>
        <p:spPr>
          <a:xfrm>
            <a:off x="228600" y="1371600"/>
            <a:ext cx="8610600" cy="5257800"/>
          </a:xfrm>
        </p:spPr>
        <p:txBody>
          <a:bodyPr vert="horz" wrap="square" lIns="92075" tIns="46038" rIns="92075" bIns="46038" anchor="t" anchorCtr="0"/>
          <a:p>
            <a:pPr marL="457200" indent="-457200" eaLnBrk="1" hangingPunct="1">
              <a:lnSpc>
                <a:spcPct val="110000"/>
              </a:lnSpc>
            </a:pPr>
            <a:r>
              <a:rPr lang="en-US" altLang="zh-CN" sz="2400" dirty="0">
                <a:ea typeface="SimSun" panose="02010600030101010101" pitchFamily="2" charset="-122"/>
              </a:rPr>
              <a:t>CHAMELEON: G. Karypis, E. H. Han, and V. Kumar, 1999 </a:t>
            </a:r>
            <a:endParaRPr lang="en-US" altLang="zh-CN" sz="2400" dirty="0">
              <a:ea typeface="SimSun" panose="02010600030101010101" pitchFamily="2" charset="-122"/>
            </a:endParaRPr>
          </a:p>
          <a:p>
            <a:pPr marL="457200" indent="-457200" eaLnBrk="1" hangingPunct="1">
              <a:lnSpc>
                <a:spcPct val="110000"/>
              </a:lnSpc>
            </a:pPr>
            <a:r>
              <a:rPr lang="en-US" altLang="zh-CN" sz="2400" dirty="0">
                <a:ea typeface="SimSun" panose="02010600030101010101" pitchFamily="2" charset="-122"/>
              </a:rPr>
              <a:t>Measures the similarity based on a dynamic model</a:t>
            </a:r>
            <a:endParaRPr lang="en-US" altLang="zh-CN" sz="2400" dirty="0">
              <a:ea typeface="SimSun" panose="02010600030101010101" pitchFamily="2" charset="-122"/>
            </a:endParaRPr>
          </a:p>
          <a:p>
            <a:pPr marL="914400" lvl="1" indent="-457200" eaLnBrk="1" hangingPunct="1">
              <a:lnSpc>
                <a:spcPct val="110000"/>
              </a:lnSpc>
            </a:pPr>
            <a:r>
              <a:rPr lang="en-US" altLang="zh-CN" sz="2400" dirty="0">
                <a:ea typeface="SimSun" panose="02010600030101010101" pitchFamily="2" charset="-122"/>
              </a:rPr>
              <a:t>Two clusters are merged only if the </a:t>
            </a:r>
            <a:r>
              <a:rPr lang="en-US" altLang="zh-CN" sz="2400" i="1" dirty="0">
                <a:solidFill>
                  <a:schemeClr val="hlink"/>
                </a:solidFill>
                <a:ea typeface="SimSun" panose="02010600030101010101" pitchFamily="2" charset="-122"/>
              </a:rPr>
              <a:t>interconnectivity</a:t>
            </a:r>
            <a:r>
              <a:rPr lang="en-US" altLang="zh-CN" sz="2400" dirty="0">
                <a:solidFill>
                  <a:schemeClr val="hlink"/>
                </a:solidFill>
                <a:ea typeface="SimSun" panose="02010600030101010101" pitchFamily="2" charset="-122"/>
              </a:rPr>
              <a:t> </a:t>
            </a:r>
            <a:r>
              <a:rPr lang="en-US" altLang="zh-CN" sz="2400" dirty="0">
                <a:ea typeface="SimSun" panose="02010600030101010101" pitchFamily="2" charset="-122"/>
              </a:rPr>
              <a:t>and </a:t>
            </a:r>
            <a:r>
              <a:rPr lang="en-US" altLang="zh-CN" sz="2400" i="1" dirty="0">
                <a:solidFill>
                  <a:schemeClr val="hlink"/>
                </a:solidFill>
                <a:ea typeface="SimSun" panose="02010600030101010101" pitchFamily="2" charset="-122"/>
              </a:rPr>
              <a:t>closeness (proximity)</a:t>
            </a:r>
            <a:r>
              <a:rPr lang="en-US" altLang="zh-CN" sz="2400" dirty="0">
                <a:ea typeface="SimSun" panose="02010600030101010101" pitchFamily="2" charset="-122"/>
              </a:rPr>
              <a:t> between two clusters are high </a:t>
            </a:r>
            <a:r>
              <a:rPr lang="en-US" altLang="zh-CN" sz="2400" i="1" dirty="0">
                <a:ea typeface="SimSun" panose="02010600030101010101" pitchFamily="2" charset="-122"/>
              </a:rPr>
              <a:t>relative to</a:t>
            </a:r>
            <a:r>
              <a:rPr lang="en-US" altLang="zh-CN" sz="2400" dirty="0">
                <a:ea typeface="SimSun" panose="02010600030101010101" pitchFamily="2" charset="-122"/>
              </a:rPr>
              <a:t> the internal interconnectivity of the clusters and closeness of items within the clusters </a:t>
            </a:r>
            <a:endParaRPr lang="en-US" altLang="zh-CN" sz="2400" dirty="0">
              <a:ea typeface="SimSun" panose="02010600030101010101" pitchFamily="2" charset="-122"/>
            </a:endParaRPr>
          </a:p>
          <a:p>
            <a:pPr marL="457200" indent="-457200" eaLnBrk="1" hangingPunct="1">
              <a:lnSpc>
                <a:spcPct val="110000"/>
              </a:lnSpc>
            </a:pPr>
            <a:r>
              <a:rPr lang="en-US" altLang="zh-CN" sz="2400" dirty="0">
                <a:ea typeface="SimSun" panose="02010600030101010101" pitchFamily="2" charset="-122"/>
              </a:rPr>
              <a:t>Graph-based, and a two-phase algorithm</a:t>
            </a:r>
            <a:endParaRPr lang="en-US" altLang="zh-CN" sz="2400" dirty="0">
              <a:ea typeface="SimSun" panose="02010600030101010101" pitchFamily="2" charset="-122"/>
            </a:endParaRPr>
          </a:p>
          <a:p>
            <a:pPr marL="914400" lvl="1" indent="-457200" eaLnBrk="1" hangingPunct="1">
              <a:lnSpc>
                <a:spcPct val="110000"/>
              </a:lnSpc>
              <a:buSzTx/>
              <a:buFont typeface="Wingdings" panose="05000000000000000000" pitchFamily="2" charset="2"/>
              <a:buAutoNum type="arabicPeriod"/>
            </a:pPr>
            <a:r>
              <a:rPr lang="en-US" altLang="zh-CN" sz="2400" dirty="0">
                <a:ea typeface="SimSun" panose="02010600030101010101" pitchFamily="2" charset="-122"/>
              </a:rPr>
              <a:t>Use a graph-partitioning algorithm: cluster objects into a large number of relatively small sub-clusters</a:t>
            </a:r>
            <a:endParaRPr lang="en-US" altLang="zh-CN" sz="2400" dirty="0">
              <a:ea typeface="SimSun" panose="02010600030101010101" pitchFamily="2" charset="-122"/>
            </a:endParaRPr>
          </a:p>
          <a:p>
            <a:pPr marL="914400" lvl="1" indent="-457200" eaLnBrk="1" hangingPunct="1">
              <a:lnSpc>
                <a:spcPct val="110000"/>
              </a:lnSpc>
              <a:buSzTx/>
              <a:buFont typeface="Wingdings" panose="05000000000000000000" pitchFamily="2" charset="2"/>
              <a:buAutoNum type="arabicPeriod"/>
            </a:pPr>
            <a:r>
              <a:rPr lang="en-US" altLang="zh-CN" sz="2400" dirty="0">
                <a:ea typeface="SimSun" panose="02010600030101010101" pitchFamily="2" charset="-122"/>
              </a:rPr>
              <a:t>Use an agglomerative hierarchical clustering algorithm: find the genuine clusters by repeatedly combining these sub-clusters</a:t>
            </a:r>
            <a:endParaRPr lang="en-US" altLang="zh-CN" sz="2400" dirty="0">
              <a:ea typeface="SimSun" panose="02010600030101010101" pitchFamily="2" charset="-122"/>
            </a:endParaRPr>
          </a:p>
        </p:txBody>
      </p:sp>
      <p:sp>
        <p:nvSpPr>
          <p:cNvPr id="38916"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idx="1"/>
          </p:nvPr>
        </p:nvSpPr>
        <p:spPr>
          <a:xfrm>
            <a:off x="-609600" y="6858000"/>
            <a:ext cx="8382000" cy="304800"/>
          </a:xfrm>
        </p:spPr>
        <p:txBody>
          <a:bodyPr vert="horz" wrap="square" lIns="91440" tIns="45720" rIns="91440" bIns="45720" anchor="t" anchorCtr="0"/>
          <a:p>
            <a:pPr eaLnBrk="1" hangingPunct="1">
              <a:buNone/>
            </a:pPr>
            <a:endParaRPr lang="zh-CN" altLang="en-US" dirty="0">
              <a:ea typeface="SimSun" panose="02010600030101010101" pitchFamily="2" charset="-122"/>
            </a:endParaRPr>
          </a:p>
          <a:p>
            <a:pPr eaLnBrk="1" hangingPunct="1">
              <a:buNone/>
            </a:pPr>
            <a:endParaRPr lang="zh-CN" altLang="en-US" dirty="0">
              <a:ea typeface="SimSun" panose="02010600030101010101" pitchFamily="2" charset="-122"/>
            </a:endParaRPr>
          </a:p>
          <a:p>
            <a:pPr eaLnBrk="1" hangingPunct="1">
              <a:buNone/>
            </a:pPr>
            <a:endParaRPr lang="zh-CN" altLang="en-US" dirty="0">
              <a:ea typeface="SimSun" panose="02010600030101010101" pitchFamily="2" charset="-122"/>
            </a:endParaRPr>
          </a:p>
        </p:txBody>
      </p:sp>
      <p:sp>
        <p:nvSpPr>
          <p:cNvPr id="39939" name="Oval 159"/>
          <p:cNvSpPr/>
          <p:nvPr/>
        </p:nvSpPr>
        <p:spPr>
          <a:xfrm>
            <a:off x="6019800" y="4114800"/>
            <a:ext cx="63500" cy="63500"/>
          </a:xfrm>
          <a:prstGeom prst="ellipse">
            <a:avLst/>
          </a:prstGeom>
          <a:solidFill>
            <a:schemeClr val="tx2"/>
          </a:solidFill>
          <a:ln w="12700" cap="flat" cmpd="sng">
            <a:solidFill>
              <a:schemeClr val="tx2"/>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40" name="Rectangle 210"/>
          <p:cNvSpPr>
            <a:spLocks noGrp="1"/>
          </p:cNvSpPr>
          <p:nvPr>
            <p:ph type="title"/>
          </p:nvPr>
        </p:nvSpPr>
        <p:spPr>
          <a:xfrm>
            <a:off x="228600" y="304800"/>
            <a:ext cx="8686800" cy="685800"/>
          </a:xfrm>
        </p:spPr>
        <p:txBody>
          <a:bodyPr vert="horz" wrap="square" lIns="92075" tIns="46038" rIns="92075" bIns="46038" anchor="ctr" anchorCtr="0"/>
          <a:p>
            <a:pPr eaLnBrk="1" hangingPunct="1"/>
            <a:r>
              <a:rPr lang="en-US" altLang="zh-CN" dirty="0">
                <a:ea typeface="SimSun" panose="02010600030101010101" pitchFamily="2" charset="-122"/>
              </a:rPr>
              <a:t>Overall Framework of CHAMELEON</a:t>
            </a:r>
            <a:endParaRPr lang="en-US" altLang="zh-CN" dirty="0">
              <a:ea typeface="SimSun" panose="02010600030101010101" pitchFamily="2" charset="-122"/>
            </a:endParaRPr>
          </a:p>
        </p:txBody>
      </p:sp>
      <p:sp>
        <p:nvSpPr>
          <p:cNvPr id="39941" name="AutoShape 211"/>
          <p:cNvSpPr/>
          <p:nvPr/>
        </p:nvSpPr>
        <p:spPr>
          <a:xfrm>
            <a:off x="76200" y="1828800"/>
            <a:ext cx="685800" cy="1066800"/>
          </a:xfrm>
          <a:prstGeom prst="flowChartMagneticDisk">
            <a:avLst/>
          </a:prstGeom>
          <a:solidFill>
            <a:srgbClr val="FFFFFF"/>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42" name="Line 212"/>
          <p:cNvSpPr/>
          <p:nvPr/>
        </p:nvSpPr>
        <p:spPr>
          <a:xfrm>
            <a:off x="838200" y="2362200"/>
            <a:ext cx="990600" cy="0"/>
          </a:xfrm>
          <a:prstGeom prst="line">
            <a:avLst/>
          </a:prstGeom>
          <a:ln w="9525" cap="flat" cmpd="sng">
            <a:solidFill>
              <a:schemeClr val="tx1"/>
            </a:solidFill>
            <a:prstDash val="solid"/>
            <a:headEnd type="none" w="med" len="med"/>
            <a:tailEnd type="triangle" w="med" len="med"/>
          </a:ln>
        </p:spPr>
      </p:sp>
      <p:sp>
        <p:nvSpPr>
          <p:cNvPr id="39943" name="Text Box 213"/>
          <p:cNvSpPr txBox="1"/>
          <p:nvPr/>
        </p:nvSpPr>
        <p:spPr>
          <a:xfrm>
            <a:off x="762000" y="1524000"/>
            <a:ext cx="1752600" cy="630238"/>
          </a:xfrm>
          <a:prstGeom prst="rect">
            <a:avLst/>
          </a:prstGeom>
          <a:noFill/>
          <a:ln w="9525">
            <a:noFill/>
          </a:ln>
        </p:spPr>
        <p:txBody>
          <a:bodyPr>
            <a:spAutoFit/>
          </a:bodyPr>
          <a:p>
            <a:pPr algn="l" eaLnBrk="0" hangingPunct="0">
              <a:spcBef>
                <a:spcPct val="50000"/>
              </a:spcBef>
            </a:pPr>
            <a:r>
              <a:rPr lang="en-US" altLang="zh-CN" sz="1400" b="1" dirty="0">
                <a:latin typeface="Times New Roman" panose="02020603050405020304" pitchFamily="18" charset="0"/>
                <a:ea typeface="SimSun" panose="02010600030101010101" pitchFamily="2" charset="-122"/>
              </a:rPr>
              <a:t>Construct (K-NN)</a:t>
            </a:r>
            <a:endParaRPr lang="en-US" altLang="zh-CN" sz="1400" b="1" dirty="0">
              <a:latin typeface="Times New Roman" panose="02020603050405020304" pitchFamily="18" charset="0"/>
              <a:ea typeface="SimSun" panose="02010600030101010101" pitchFamily="2" charset="-122"/>
            </a:endParaRPr>
          </a:p>
          <a:p>
            <a:pPr algn="l" eaLnBrk="0" hangingPunct="0">
              <a:spcBef>
                <a:spcPct val="50000"/>
              </a:spcBef>
            </a:pPr>
            <a:r>
              <a:rPr lang="en-US" altLang="zh-CN" sz="1400" b="1" dirty="0">
                <a:latin typeface="Times New Roman" panose="02020603050405020304" pitchFamily="18" charset="0"/>
                <a:ea typeface="SimSun" panose="02010600030101010101" pitchFamily="2" charset="-122"/>
              </a:rPr>
              <a:t>Sparse Graph</a:t>
            </a:r>
            <a:endParaRPr lang="en-US" altLang="zh-CN" sz="1400" b="1" dirty="0">
              <a:latin typeface="Times New Roman" panose="02020603050405020304" pitchFamily="18" charset="0"/>
              <a:ea typeface="SimSun" panose="02010600030101010101" pitchFamily="2" charset="-122"/>
            </a:endParaRPr>
          </a:p>
        </p:txBody>
      </p:sp>
      <p:sp>
        <p:nvSpPr>
          <p:cNvPr id="39944" name="Line 214"/>
          <p:cNvSpPr/>
          <p:nvPr/>
        </p:nvSpPr>
        <p:spPr>
          <a:xfrm>
            <a:off x="4953000" y="2438400"/>
            <a:ext cx="990600" cy="0"/>
          </a:xfrm>
          <a:prstGeom prst="line">
            <a:avLst/>
          </a:prstGeom>
          <a:ln w="9525" cap="flat" cmpd="sng">
            <a:solidFill>
              <a:schemeClr val="tx1"/>
            </a:solidFill>
            <a:prstDash val="solid"/>
            <a:headEnd type="none" w="med" len="med"/>
            <a:tailEnd type="triangle" w="med" len="med"/>
          </a:ln>
        </p:spPr>
      </p:sp>
      <p:sp>
        <p:nvSpPr>
          <p:cNvPr id="39945" name="Text Box 215"/>
          <p:cNvSpPr txBox="1"/>
          <p:nvPr/>
        </p:nvSpPr>
        <p:spPr>
          <a:xfrm>
            <a:off x="4724400" y="1828800"/>
            <a:ext cx="1752600" cy="304800"/>
          </a:xfrm>
          <a:prstGeom prst="rect">
            <a:avLst/>
          </a:prstGeom>
          <a:noFill/>
          <a:ln w="9525">
            <a:noFill/>
          </a:ln>
        </p:spPr>
        <p:txBody>
          <a:bodyPr>
            <a:spAutoFit/>
          </a:bodyPr>
          <a:p>
            <a:pPr algn="l" eaLnBrk="0" hangingPunct="0">
              <a:spcBef>
                <a:spcPct val="50000"/>
              </a:spcBef>
            </a:pPr>
            <a:r>
              <a:rPr lang="en-US" altLang="zh-CN" sz="1400" b="1" dirty="0">
                <a:latin typeface="Times New Roman" panose="02020603050405020304" pitchFamily="18" charset="0"/>
                <a:ea typeface="SimSun" panose="02010600030101010101" pitchFamily="2" charset="-122"/>
              </a:rPr>
              <a:t>Partition the Graph</a:t>
            </a:r>
            <a:endParaRPr lang="en-US" altLang="zh-CN" sz="1400" b="1" dirty="0">
              <a:latin typeface="Times New Roman" panose="02020603050405020304" pitchFamily="18" charset="0"/>
              <a:ea typeface="SimSun" panose="02010600030101010101" pitchFamily="2" charset="-122"/>
            </a:endParaRPr>
          </a:p>
        </p:txBody>
      </p:sp>
      <p:sp>
        <p:nvSpPr>
          <p:cNvPr id="39946" name="Text Box 218"/>
          <p:cNvSpPr txBox="1"/>
          <p:nvPr/>
        </p:nvSpPr>
        <p:spPr>
          <a:xfrm>
            <a:off x="7086600" y="4267200"/>
            <a:ext cx="1752600" cy="304800"/>
          </a:xfrm>
          <a:prstGeom prst="rect">
            <a:avLst/>
          </a:prstGeom>
          <a:noFill/>
          <a:ln w="9525">
            <a:noFill/>
          </a:ln>
        </p:spPr>
        <p:txBody>
          <a:bodyPr>
            <a:spAutoFit/>
          </a:bodyPr>
          <a:p>
            <a:pPr algn="l" eaLnBrk="0" hangingPunct="0">
              <a:spcBef>
                <a:spcPct val="50000"/>
              </a:spcBef>
            </a:pPr>
            <a:r>
              <a:rPr lang="en-US" altLang="zh-CN" sz="1400" b="1" dirty="0">
                <a:latin typeface="Times New Roman" panose="02020603050405020304" pitchFamily="18" charset="0"/>
                <a:ea typeface="SimSun" panose="02010600030101010101" pitchFamily="2" charset="-122"/>
              </a:rPr>
              <a:t>Merge Partition</a:t>
            </a:r>
            <a:endParaRPr lang="en-US" altLang="zh-CN" sz="1400" b="1" dirty="0">
              <a:latin typeface="Times New Roman" panose="02020603050405020304" pitchFamily="18" charset="0"/>
              <a:ea typeface="SimSun" panose="02010600030101010101" pitchFamily="2" charset="-122"/>
            </a:endParaRPr>
          </a:p>
        </p:txBody>
      </p:sp>
      <p:sp>
        <p:nvSpPr>
          <p:cNvPr id="39947" name="Line 219"/>
          <p:cNvSpPr/>
          <p:nvPr/>
        </p:nvSpPr>
        <p:spPr>
          <a:xfrm>
            <a:off x="8229600" y="2438400"/>
            <a:ext cx="533400" cy="0"/>
          </a:xfrm>
          <a:prstGeom prst="line">
            <a:avLst/>
          </a:prstGeom>
          <a:ln w="9525" cap="flat" cmpd="sng">
            <a:solidFill>
              <a:schemeClr val="tx1"/>
            </a:solidFill>
            <a:prstDash val="solid"/>
            <a:headEnd type="none" w="med" len="med"/>
            <a:tailEnd type="triangle" w="med" len="med"/>
          </a:ln>
        </p:spPr>
      </p:sp>
      <p:sp>
        <p:nvSpPr>
          <p:cNvPr id="39948" name="Line 220"/>
          <p:cNvSpPr/>
          <p:nvPr/>
        </p:nvSpPr>
        <p:spPr>
          <a:xfrm>
            <a:off x="8763000" y="2438400"/>
            <a:ext cx="0" cy="2286000"/>
          </a:xfrm>
          <a:prstGeom prst="line">
            <a:avLst/>
          </a:prstGeom>
          <a:ln w="9525" cap="flat" cmpd="sng">
            <a:solidFill>
              <a:schemeClr val="tx1"/>
            </a:solidFill>
            <a:prstDash val="solid"/>
            <a:headEnd type="none" w="med" len="med"/>
            <a:tailEnd type="triangle" w="med" len="med"/>
          </a:ln>
        </p:spPr>
      </p:sp>
      <p:sp>
        <p:nvSpPr>
          <p:cNvPr id="39949" name="Line 221"/>
          <p:cNvSpPr/>
          <p:nvPr/>
        </p:nvSpPr>
        <p:spPr>
          <a:xfrm flipH="1">
            <a:off x="6781800" y="4648200"/>
            <a:ext cx="1981200" cy="0"/>
          </a:xfrm>
          <a:prstGeom prst="line">
            <a:avLst/>
          </a:prstGeom>
          <a:ln w="9525" cap="flat" cmpd="sng">
            <a:solidFill>
              <a:schemeClr val="tx1"/>
            </a:solidFill>
            <a:prstDash val="solid"/>
            <a:headEnd type="none" w="med" len="med"/>
            <a:tailEnd type="triangle" w="med" len="med"/>
          </a:ln>
        </p:spPr>
      </p:sp>
      <p:sp>
        <p:nvSpPr>
          <p:cNvPr id="39950" name="Text Box 222"/>
          <p:cNvSpPr txBox="1"/>
          <p:nvPr/>
        </p:nvSpPr>
        <p:spPr>
          <a:xfrm>
            <a:off x="3429000" y="5715000"/>
            <a:ext cx="1752600" cy="304800"/>
          </a:xfrm>
          <a:prstGeom prst="rect">
            <a:avLst/>
          </a:prstGeom>
          <a:noFill/>
          <a:ln w="9525">
            <a:noFill/>
          </a:ln>
        </p:spPr>
        <p:txBody>
          <a:bodyPr>
            <a:spAutoFit/>
          </a:bodyPr>
          <a:p>
            <a:pPr algn="l" eaLnBrk="0" hangingPunct="0">
              <a:spcBef>
                <a:spcPct val="50000"/>
              </a:spcBef>
            </a:pPr>
            <a:r>
              <a:rPr lang="en-US" altLang="zh-CN" sz="1400" b="1" dirty="0">
                <a:latin typeface="Times New Roman" panose="02020603050405020304" pitchFamily="18" charset="0"/>
                <a:ea typeface="SimSun" panose="02010600030101010101" pitchFamily="2" charset="-122"/>
              </a:rPr>
              <a:t>Final Clusters</a:t>
            </a:r>
            <a:endParaRPr lang="en-US" altLang="zh-CN" sz="1400" b="1" dirty="0">
              <a:latin typeface="Times New Roman" panose="02020603050405020304" pitchFamily="18" charset="0"/>
              <a:ea typeface="SimSun" panose="02010600030101010101" pitchFamily="2" charset="-122"/>
            </a:endParaRPr>
          </a:p>
        </p:txBody>
      </p:sp>
      <p:sp>
        <p:nvSpPr>
          <p:cNvPr id="39951" name="Text Box 224"/>
          <p:cNvSpPr txBox="1"/>
          <p:nvPr/>
        </p:nvSpPr>
        <p:spPr>
          <a:xfrm>
            <a:off x="76200" y="3048000"/>
            <a:ext cx="1752600" cy="304800"/>
          </a:xfrm>
          <a:prstGeom prst="rect">
            <a:avLst/>
          </a:prstGeom>
          <a:noFill/>
          <a:ln w="9525">
            <a:noFill/>
          </a:ln>
        </p:spPr>
        <p:txBody>
          <a:bodyPr>
            <a:spAutoFit/>
          </a:bodyPr>
          <a:p>
            <a:pPr algn="l" eaLnBrk="0" hangingPunct="0">
              <a:spcBef>
                <a:spcPct val="50000"/>
              </a:spcBef>
            </a:pPr>
            <a:r>
              <a:rPr lang="en-US" altLang="zh-CN" sz="1400" b="1" dirty="0">
                <a:latin typeface="Times New Roman" panose="02020603050405020304" pitchFamily="18" charset="0"/>
                <a:ea typeface="SimSun" panose="02010600030101010101" pitchFamily="2" charset="-122"/>
              </a:rPr>
              <a:t>Data Set</a:t>
            </a:r>
            <a:endParaRPr lang="en-US" altLang="zh-CN" sz="1400" b="1" dirty="0">
              <a:latin typeface="Times New Roman" panose="02020603050405020304" pitchFamily="18" charset="0"/>
              <a:ea typeface="SimSun" panose="02010600030101010101" pitchFamily="2" charset="-122"/>
            </a:endParaRPr>
          </a:p>
        </p:txBody>
      </p:sp>
      <p:grpSp>
        <p:nvGrpSpPr>
          <p:cNvPr id="39952" name="Group 271"/>
          <p:cNvGrpSpPr/>
          <p:nvPr/>
        </p:nvGrpSpPr>
        <p:grpSpPr>
          <a:xfrm>
            <a:off x="6019800" y="1536700"/>
            <a:ext cx="2057400" cy="2184400"/>
            <a:chOff x="6019800" y="1536700"/>
            <a:chExt cx="2057400" cy="2184400"/>
          </a:xfrm>
        </p:grpSpPr>
        <p:sp>
          <p:nvSpPr>
            <p:cNvPr id="40133" name="Oval 74"/>
            <p:cNvSpPr/>
            <p:nvPr/>
          </p:nvSpPr>
          <p:spPr>
            <a:xfrm>
              <a:off x="6248400" y="2438400"/>
              <a:ext cx="63500" cy="63500"/>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grpSp>
          <p:nvGrpSpPr>
            <p:cNvPr id="40134" name="Group 75"/>
            <p:cNvGrpSpPr/>
            <p:nvPr/>
          </p:nvGrpSpPr>
          <p:grpSpPr>
            <a:xfrm>
              <a:off x="6553200" y="1905000"/>
              <a:ext cx="292100" cy="533400"/>
              <a:chOff x="4128" y="1200"/>
              <a:chExt cx="184" cy="336"/>
            </a:xfrm>
          </p:grpSpPr>
          <p:sp>
            <p:nvSpPr>
              <p:cNvPr id="40198" name="Oval 76"/>
              <p:cNvSpPr/>
              <p:nvPr/>
            </p:nvSpPr>
            <p:spPr>
              <a:xfrm>
                <a:off x="4224" y="1200"/>
                <a:ext cx="40" cy="40"/>
              </a:xfrm>
              <a:prstGeom prst="ellipse">
                <a:avLst/>
              </a:prstGeom>
              <a:solidFill>
                <a:srgbClr val="00FF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99" name="Oval 77"/>
              <p:cNvSpPr/>
              <p:nvPr/>
            </p:nvSpPr>
            <p:spPr>
              <a:xfrm>
                <a:off x="4128" y="1296"/>
                <a:ext cx="40" cy="40"/>
              </a:xfrm>
              <a:prstGeom prst="ellipse">
                <a:avLst/>
              </a:prstGeom>
              <a:solidFill>
                <a:srgbClr val="00FF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200" name="Oval 78"/>
              <p:cNvSpPr/>
              <p:nvPr/>
            </p:nvSpPr>
            <p:spPr>
              <a:xfrm>
                <a:off x="4272" y="1400"/>
                <a:ext cx="40" cy="40"/>
              </a:xfrm>
              <a:prstGeom prst="ellipse">
                <a:avLst/>
              </a:prstGeom>
              <a:solidFill>
                <a:srgbClr val="00FF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201" name="Line 79"/>
              <p:cNvSpPr/>
              <p:nvPr/>
            </p:nvSpPr>
            <p:spPr>
              <a:xfrm flipV="1">
                <a:off x="4176" y="1200"/>
                <a:ext cx="96" cy="96"/>
              </a:xfrm>
              <a:prstGeom prst="line">
                <a:avLst/>
              </a:prstGeom>
              <a:ln w="9525" cap="flat" cmpd="sng">
                <a:solidFill>
                  <a:srgbClr val="00FF00"/>
                </a:solidFill>
                <a:prstDash val="solid"/>
                <a:headEnd type="none" w="med" len="med"/>
                <a:tailEnd type="none" w="med" len="med"/>
              </a:ln>
            </p:spPr>
          </p:sp>
          <p:sp>
            <p:nvSpPr>
              <p:cNvPr id="40202" name="Line 80"/>
              <p:cNvSpPr/>
              <p:nvPr/>
            </p:nvSpPr>
            <p:spPr>
              <a:xfrm>
                <a:off x="4128" y="1344"/>
                <a:ext cx="144" cy="48"/>
              </a:xfrm>
              <a:prstGeom prst="line">
                <a:avLst/>
              </a:prstGeom>
              <a:ln w="9525" cap="flat" cmpd="sng">
                <a:solidFill>
                  <a:srgbClr val="00FF00"/>
                </a:solidFill>
                <a:prstDash val="solid"/>
                <a:headEnd type="none" w="med" len="med"/>
                <a:tailEnd type="none" w="med" len="med"/>
              </a:ln>
            </p:spPr>
          </p:sp>
          <p:sp>
            <p:nvSpPr>
              <p:cNvPr id="40203" name="Line 81"/>
              <p:cNvSpPr/>
              <p:nvPr/>
            </p:nvSpPr>
            <p:spPr>
              <a:xfrm>
                <a:off x="4272" y="1248"/>
                <a:ext cx="0" cy="192"/>
              </a:xfrm>
              <a:prstGeom prst="line">
                <a:avLst/>
              </a:prstGeom>
              <a:ln w="9525" cap="flat" cmpd="sng">
                <a:solidFill>
                  <a:srgbClr val="00FF00"/>
                </a:solidFill>
                <a:prstDash val="solid"/>
                <a:headEnd type="none" w="med" len="med"/>
                <a:tailEnd type="none" w="med" len="med"/>
              </a:ln>
            </p:spPr>
          </p:sp>
          <p:sp>
            <p:nvSpPr>
              <p:cNvPr id="40204" name="Oval 82"/>
              <p:cNvSpPr/>
              <p:nvPr/>
            </p:nvSpPr>
            <p:spPr>
              <a:xfrm>
                <a:off x="4136" y="1496"/>
                <a:ext cx="40" cy="40"/>
              </a:xfrm>
              <a:prstGeom prst="ellipse">
                <a:avLst/>
              </a:prstGeom>
              <a:solidFill>
                <a:srgbClr val="00FF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205" name="Line 83"/>
              <p:cNvSpPr/>
              <p:nvPr/>
            </p:nvSpPr>
            <p:spPr>
              <a:xfrm>
                <a:off x="4128" y="1344"/>
                <a:ext cx="48" cy="192"/>
              </a:xfrm>
              <a:prstGeom prst="line">
                <a:avLst/>
              </a:prstGeom>
              <a:ln w="9525" cap="flat" cmpd="sng">
                <a:solidFill>
                  <a:srgbClr val="00FF00"/>
                </a:solidFill>
                <a:prstDash val="solid"/>
                <a:headEnd type="none" w="med" len="med"/>
                <a:tailEnd type="none" w="med" len="med"/>
              </a:ln>
            </p:spPr>
          </p:sp>
          <p:sp>
            <p:nvSpPr>
              <p:cNvPr id="40206" name="Line 84"/>
              <p:cNvSpPr/>
              <p:nvPr/>
            </p:nvSpPr>
            <p:spPr>
              <a:xfrm flipH="1">
                <a:off x="4176" y="1440"/>
                <a:ext cx="96" cy="48"/>
              </a:xfrm>
              <a:prstGeom prst="line">
                <a:avLst/>
              </a:prstGeom>
              <a:ln w="9525" cap="flat" cmpd="sng">
                <a:solidFill>
                  <a:srgbClr val="00FF00"/>
                </a:solidFill>
                <a:prstDash val="solid"/>
                <a:headEnd type="none" w="med" len="med"/>
                <a:tailEnd type="none" w="med" len="med"/>
              </a:ln>
            </p:spPr>
          </p:sp>
        </p:grpSp>
        <p:sp>
          <p:nvSpPr>
            <p:cNvPr id="40135" name="Oval 85"/>
            <p:cNvSpPr/>
            <p:nvPr/>
          </p:nvSpPr>
          <p:spPr>
            <a:xfrm>
              <a:off x="6337300" y="2679700"/>
              <a:ext cx="63500" cy="63500"/>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36" name="Oval 86"/>
            <p:cNvSpPr/>
            <p:nvPr/>
          </p:nvSpPr>
          <p:spPr>
            <a:xfrm>
              <a:off x="6019800" y="2667000"/>
              <a:ext cx="63500" cy="63500"/>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37" name="Oval 87"/>
            <p:cNvSpPr/>
            <p:nvPr/>
          </p:nvSpPr>
          <p:spPr>
            <a:xfrm>
              <a:off x="6705600" y="2679700"/>
              <a:ext cx="63500" cy="6350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38" name="Oval 88"/>
            <p:cNvSpPr/>
            <p:nvPr/>
          </p:nvSpPr>
          <p:spPr>
            <a:xfrm>
              <a:off x="6489700" y="2971800"/>
              <a:ext cx="63500" cy="6350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39" name="Oval 89"/>
            <p:cNvSpPr/>
            <p:nvPr/>
          </p:nvSpPr>
          <p:spPr>
            <a:xfrm>
              <a:off x="6553200" y="3289300"/>
              <a:ext cx="63500" cy="6350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40" name="Oval 90"/>
            <p:cNvSpPr/>
            <p:nvPr/>
          </p:nvSpPr>
          <p:spPr>
            <a:xfrm>
              <a:off x="6870700" y="3124200"/>
              <a:ext cx="63500" cy="6350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41" name="Line 91"/>
            <p:cNvSpPr/>
            <p:nvPr/>
          </p:nvSpPr>
          <p:spPr>
            <a:xfrm>
              <a:off x="6248400" y="2438400"/>
              <a:ext cx="152400" cy="304800"/>
            </a:xfrm>
            <a:prstGeom prst="line">
              <a:avLst/>
            </a:prstGeom>
            <a:ln w="9525" cap="flat" cmpd="sng">
              <a:solidFill>
                <a:schemeClr val="accent1"/>
              </a:solidFill>
              <a:prstDash val="solid"/>
              <a:headEnd type="none" w="med" len="med"/>
              <a:tailEnd type="none" w="med" len="med"/>
            </a:ln>
          </p:spPr>
        </p:sp>
        <p:sp>
          <p:nvSpPr>
            <p:cNvPr id="40142" name="Line 92"/>
            <p:cNvSpPr/>
            <p:nvPr/>
          </p:nvSpPr>
          <p:spPr>
            <a:xfrm flipH="1">
              <a:off x="6019800" y="2438400"/>
              <a:ext cx="228600" cy="228600"/>
            </a:xfrm>
            <a:prstGeom prst="line">
              <a:avLst/>
            </a:prstGeom>
            <a:ln w="9525" cap="flat" cmpd="sng">
              <a:solidFill>
                <a:schemeClr val="accent1"/>
              </a:solidFill>
              <a:prstDash val="solid"/>
              <a:headEnd type="none" w="med" len="med"/>
              <a:tailEnd type="none" w="med" len="med"/>
            </a:ln>
          </p:spPr>
        </p:sp>
        <p:sp>
          <p:nvSpPr>
            <p:cNvPr id="40143" name="Line 93"/>
            <p:cNvSpPr/>
            <p:nvPr/>
          </p:nvSpPr>
          <p:spPr>
            <a:xfrm>
              <a:off x="6019800" y="2667000"/>
              <a:ext cx="381000" cy="76200"/>
            </a:xfrm>
            <a:prstGeom prst="line">
              <a:avLst/>
            </a:prstGeom>
            <a:ln w="9525" cap="flat" cmpd="sng">
              <a:solidFill>
                <a:schemeClr val="accent1"/>
              </a:solidFill>
              <a:prstDash val="solid"/>
              <a:headEnd type="none" w="med" len="med"/>
              <a:tailEnd type="none" w="med" len="med"/>
            </a:ln>
          </p:spPr>
        </p:sp>
        <p:sp>
          <p:nvSpPr>
            <p:cNvPr id="40144" name="Oval 94"/>
            <p:cNvSpPr/>
            <p:nvPr/>
          </p:nvSpPr>
          <p:spPr>
            <a:xfrm>
              <a:off x="7086600" y="2971800"/>
              <a:ext cx="63500" cy="6350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45" name="Oval 95"/>
            <p:cNvSpPr/>
            <p:nvPr/>
          </p:nvSpPr>
          <p:spPr>
            <a:xfrm>
              <a:off x="7099300" y="3289300"/>
              <a:ext cx="63500" cy="6350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46" name="Oval 96"/>
            <p:cNvSpPr/>
            <p:nvPr/>
          </p:nvSpPr>
          <p:spPr>
            <a:xfrm>
              <a:off x="7251700" y="1676400"/>
              <a:ext cx="63500" cy="63500"/>
            </a:xfrm>
            <a:prstGeom prst="ellipse">
              <a:avLst/>
            </a:prstGeom>
            <a:solidFill>
              <a:srgbClr val="FFFF00"/>
            </a:solidFill>
            <a:ln w="12700" cap="flat" cmpd="sng">
              <a:solidFill>
                <a:srgbClr val="FFFF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47" name="Oval 97"/>
            <p:cNvSpPr/>
            <p:nvPr/>
          </p:nvSpPr>
          <p:spPr>
            <a:xfrm>
              <a:off x="7086600" y="2333625"/>
              <a:ext cx="74613" cy="76200"/>
            </a:xfrm>
            <a:prstGeom prst="ellipse">
              <a:avLst/>
            </a:prstGeom>
            <a:solidFill>
              <a:srgbClr val="FF0000"/>
            </a:solidFill>
            <a:ln w="12700" cap="flat" cmpd="sng">
              <a:solidFill>
                <a:srgbClr val="FF00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48" name="Oval 98"/>
            <p:cNvSpPr/>
            <p:nvPr/>
          </p:nvSpPr>
          <p:spPr>
            <a:xfrm>
              <a:off x="7467600" y="1536700"/>
              <a:ext cx="63500" cy="63500"/>
            </a:xfrm>
            <a:prstGeom prst="ellipse">
              <a:avLst/>
            </a:prstGeom>
            <a:solidFill>
              <a:srgbClr val="FFFF00"/>
            </a:solidFill>
            <a:ln w="12700" cap="flat" cmpd="sng">
              <a:solidFill>
                <a:srgbClr val="FFFF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49" name="Oval 99"/>
            <p:cNvSpPr/>
            <p:nvPr/>
          </p:nvSpPr>
          <p:spPr>
            <a:xfrm>
              <a:off x="7467600" y="1828800"/>
              <a:ext cx="63500" cy="63500"/>
            </a:xfrm>
            <a:prstGeom prst="ellipse">
              <a:avLst/>
            </a:prstGeom>
            <a:solidFill>
              <a:srgbClr val="FFFF00"/>
            </a:solidFill>
            <a:ln w="12700" cap="flat" cmpd="sng">
              <a:solidFill>
                <a:srgbClr val="FFFF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50" name="Oval 100"/>
            <p:cNvSpPr/>
            <p:nvPr/>
          </p:nvSpPr>
          <p:spPr>
            <a:xfrm>
              <a:off x="7315200" y="1905000"/>
              <a:ext cx="63500" cy="63500"/>
            </a:xfrm>
            <a:prstGeom prst="ellipse">
              <a:avLst/>
            </a:prstGeom>
            <a:solidFill>
              <a:srgbClr val="FFFF00"/>
            </a:solidFill>
            <a:ln w="12700" cap="flat" cmpd="sng">
              <a:solidFill>
                <a:srgbClr val="FFFF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51" name="Oval 101"/>
            <p:cNvSpPr/>
            <p:nvPr/>
          </p:nvSpPr>
          <p:spPr>
            <a:xfrm>
              <a:off x="7315200" y="2257425"/>
              <a:ext cx="74613" cy="76200"/>
            </a:xfrm>
            <a:prstGeom prst="ellipse">
              <a:avLst/>
            </a:prstGeom>
            <a:solidFill>
              <a:srgbClr val="FF0000"/>
            </a:solidFill>
            <a:ln w="12700" cap="flat" cmpd="sng">
              <a:solidFill>
                <a:srgbClr val="FF00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52" name="Oval 102"/>
            <p:cNvSpPr/>
            <p:nvPr/>
          </p:nvSpPr>
          <p:spPr>
            <a:xfrm>
              <a:off x="7239000" y="2486025"/>
              <a:ext cx="74613" cy="76200"/>
            </a:xfrm>
            <a:prstGeom prst="ellipse">
              <a:avLst/>
            </a:prstGeom>
            <a:solidFill>
              <a:srgbClr val="FF0000"/>
            </a:solidFill>
            <a:ln w="12700" cap="flat" cmpd="sng">
              <a:solidFill>
                <a:srgbClr val="FF00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53" name="Oval 103"/>
            <p:cNvSpPr/>
            <p:nvPr/>
          </p:nvSpPr>
          <p:spPr>
            <a:xfrm>
              <a:off x="7391400" y="2498725"/>
              <a:ext cx="74613" cy="76200"/>
            </a:xfrm>
            <a:prstGeom prst="ellipse">
              <a:avLst/>
            </a:prstGeom>
            <a:solidFill>
              <a:srgbClr val="FF0000"/>
            </a:solidFill>
            <a:ln w="12700" cap="flat" cmpd="sng">
              <a:solidFill>
                <a:srgbClr val="FF00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54" name="Oval 104"/>
            <p:cNvSpPr/>
            <p:nvPr/>
          </p:nvSpPr>
          <p:spPr>
            <a:xfrm>
              <a:off x="7315200" y="2638425"/>
              <a:ext cx="74613" cy="76200"/>
            </a:xfrm>
            <a:prstGeom prst="ellipse">
              <a:avLst/>
            </a:prstGeom>
            <a:solidFill>
              <a:srgbClr val="FF0000"/>
            </a:solidFill>
            <a:ln w="12700" cap="flat" cmpd="sng">
              <a:solidFill>
                <a:srgbClr val="FF00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55" name="Line 105"/>
            <p:cNvSpPr/>
            <p:nvPr/>
          </p:nvSpPr>
          <p:spPr>
            <a:xfrm flipV="1">
              <a:off x="7315200" y="1600200"/>
              <a:ext cx="152400" cy="76200"/>
            </a:xfrm>
            <a:prstGeom prst="line">
              <a:avLst/>
            </a:prstGeom>
            <a:ln w="9525" cap="flat" cmpd="sng">
              <a:solidFill>
                <a:srgbClr val="FFFF00"/>
              </a:solidFill>
              <a:prstDash val="solid"/>
              <a:headEnd type="none" w="med" len="med"/>
              <a:tailEnd type="none" w="med" len="med"/>
            </a:ln>
          </p:spPr>
        </p:sp>
        <p:sp>
          <p:nvSpPr>
            <p:cNvPr id="40156" name="Line 106"/>
            <p:cNvSpPr/>
            <p:nvPr/>
          </p:nvSpPr>
          <p:spPr>
            <a:xfrm>
              <a:off x="7315200" y="1676400"/>
              <a:ext cx="152400" cy="152400"/>
            </a:xfrm>
            <a:prstGeom prst="line">
              <a:avLst/>
            </a:prstGeom>
            <a:ln w="9525" cap="flat" cmpd="sng">
              <a:solidFill>
                <a:srgbClr val="FFFF00"/>
              </a:solidFill>
              <a:prstDash val="solid"/>
              <a:headEnd type="none" w="med" len="med"/>
              <a:tailEnd type="none" w="med" len="med"/>
            </a:ln>
          </p:spPr>
        </p:sp>
        <p:sp>
          <p:nvSpPr>
            <p:cNvPr id="40157" name="Line 107"/>
            <p:cNvSpPr/>
            <p:nvPr/>
          </p:nvSpPr>
          <p:spPr>
            <a:xfrm>
              <a:off x="7315200" y="1676400"/>
              <a:ext cx="0" cy="228600"/>
            </a:xfrm>
            <a:prstGeom prst="line">
              <a:avLst/>
            </a:prstGeom>
            <a:ln w="9525" cap="flat" cmpd="sng">
              <a:solidFill>
                <a:srgbClr val="FFFF00"/>
              </a:solidFill>
              <a:prstDash val="solid"/>
              <a:headEnd type="none" w="med" len="med"/>
              <a:tailEnd type="none" w="med" len="med"/>
            </a:ln>
          </p:spPr>
        </p:sp>
        <p:sp>
          <p:nvSpPr>
            <p:cNvPr id="40158" name="Line 108"/>
            <p:cNvSpPr/>
            <p:nvPr/>
          </p:nvSpPr>
          <p:spPr>
            <a:xfrm flipV="1">
              <a:off x="7315200" y="1828800"/>
              <a:ext cx="152400" cy="76200"/>
            </a:xfrm>
            <a:prstGeom prst="line">
              <a:avLst/>
            </a:prstGeom>
            <a:ln w="9525" cap="flat" cmpd="sng">
              <a:solidFill>
                <a:srgbClr val="FFFF00"/>
              </a:solidFill>
              <a:prstDash val="solid"/>
              <a:headEnd type="none" w="med" len="med"/>
              <a:tailEnd type="none" w="med" len="med"/>
            </a:ln>
          </p:spPr>
        </p:sp>
        <p:sp>
          <p:nvSpPr>
            <p:cNvPr id="40159" name="Line 109"/>
            <p:cNvSpPr/>
            <p:nvPr/>
          </p:nvSpPr>
          <p:spPr>
            <a:xfrm>
              <a:off x="7288213" y="2498725"/>
              <a:ext cx="114300" cy="1588"/>
            </a:xfrm>
            <a:prstGeom prst="line">
              <a:avLst/>
            </a:prstGeom>
            <a:ln w="9525" cap="flat" cmpd="sng">
              <a:solidFill>
                <a:srgbClr val="FF0000"/>
              </a:solidFill>
              <a:prstDash val="solid"/>
              <a:headEnd type="none" w="med" len="med"/>
              <a:tailEnd type="none" w="med" len="med"/>
            </a:ln>
          </p:spPr>
        </p:sp>
        <p:sp>
          <p:nvSpPr>
            <p:cNvPr id="40160" name="Line 110"/>
            <p:cNvSpPr/>
            <p:nvPr/>
          </p:nvSpPr>
          <p:spPr>
            <a:xfrm>
              <a:off x="7269163" y="2468563"/>
              <a:ext cx="57150" cy="182562"/>
            </a:xfrm>
            <a:prstGeom prst="line">
              <a:avLst/>
            </a:prstGeom>
            <a:ln w="9525" cap="flat" cmpd="sng">
              <a:solidFill>
                <a:srgbClr val="FF0000"/>
              </a:solidFill>
              <a:prstDash val="solid"/>
              <a:headEnd type="none" w="med" len="med"/>
              <a:tailEnd type="none" w="med" len="med"/>
            </a:ln>
          </p:spPr>
        </p:sp>
        <p:sp>
          <p:nvSpPr>
            <p:cNvPr id="40161" name="Line 111"/>
            <p:cNvSpPr/>
            <p:nvPr/>
          </p:nvSpPr>
          <p:spPr>
            <a:xfrm flipV="1">
              <a:off x="7345363" y="2559050"/>
              <a:ext cx="57150" cy="92075"/>
            </a:xfrm>
            <a:prstGeom prst="line">
              <a:avLst/>
            </a:prstGeom>
            <a:ln w="9525" cap="flat" cmpd="sng">
              <a:solidFill>
                <a:srgbClr val="FF0000"/>
              </a:solidFill>
              <a:prstDash val="solid"/>
              <a:headEnd type="none" w="med" len="med"/>
              <a:tailEnd type="none" w="med" len="med"/>
            </a:ln>
          </p:spPr>
        </p:sp>
        <p:sp>
          <p:nvSpPr>
            <p:cNvPr id="40162" name="Oval 112"/>
            <p:cNvSpPr/>
            <p:nvPr/>
          </p:nvSpPr>
          <p:spPr>
            <a:xfrm>
              <a:off x="7785100" y="22987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63" name="Oval 113"/>
            <p:cNvSpPr/>
            <p:nvPr/>
          </p:nvSpPr>
          <p:spPr>
            <a:xfrm>
              <a:off x="8013700" y="23749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64" name="Oval 114"/>
            <p:cNvSpPr/>
            <p:nvPr/>
          </p:nvSpPr>
          <p:spPr>
            <a:xfrm>
              <a:off x="7696200" y="2971800"/>
              <a:ext cx="63500" cy="63500"/>
            </a:xfrm>
            <a:prstGeom prst="ellipse">
              <a:avLst/>
            </a:prstGeom>
            <a:solidFill>
              <a:srgbClr val="99CC00"/>
            </a:solidFill>
            <a:ln w="12700" cap="flat" cmpd="sng">
              <a:solidFill>
                <a:srgbClr val="99CC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65" name="Oval 115"/>
            <p:cNvSpPr/>
            <p:nvPr/>
          </p:nvSpPr>
          <p:spPr>
            <a:xfrm>
              <a:off x="7556500" y="3200400"/>
              <a:ext cx="63500" cy="63500"/>
            </a:xfrm>
            <a:prstGeom prst="ellipse">
              <a:avLst/>
            </a:prstGeom>
            <a:solidFill>
              <a:srgbClr val="99CC00"/>
            </a:solidFill>
            <a:ln w="12700" cap="flat" cmpd="sng">
              <a:solidFill>
                <a:srgbClr val="99CC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66" name="Oval 116"/>
            <p:cNvSpPr/>
            <p:nvPr/>
          </p:nvSpPr>
          <p:spPr>
            <a:xfrm>
              <a:off x="7848600" y="3200400"/>
              <a:ext cx="63500" cy="63500"/>
            </a:xfrm>
            <a:prstGeom prst="ellipse">
              <a:avLst/>
            </a:prstGeom>
            <a:solidFill>
              <a:srgbClr val="99CC00"/>
            </a:solidFill>
            <a:ln w="12700" cap="flat" cmpd="sng">
              <a:solidFill>
                <a:srgbClr val="99CC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67" name="Oval 117"/>
            <p:cNvSpPr/>
            <p:nvPr/>
          </p:nvSpPr>
          <p:spPr>
            <a:xfrm>
              <a:off x="7696200" y="3441700"/>
              <a:ext cx="63500" cy="63500"/>
            </a:xfrm>
            <a:prstGeom prst="ellipse">
              <a:avLst/>
            </a:prstGeom>
            <a:solidFill>
              <a:srgbClr val="FF9900"/>
            </a:solidFill>
            <a:ln w="12700" cap="flat" cmpd="sng">
              <a:solidFill>
                <a:srgbClr val="FF99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68" name="Oval 118"/>
            <p:cNvSpPr/>
            <p:nvPr/>
          </p:nvSpPr>
          <p:spPr>
            <a:xfrm>
              <a:off x="7937500" y="21336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69" name="Oval 119"/>
            <p:cNvSpPr/>
            <p:nvPr/>
          </p:nvSpPr>
          <p:spPr>
            <a:xfrm>
              <a:off x="7620000" y="3594100"/>
              <a:ext cx="63500" cy="63500"/>
            </a:xfrm>
            <a:prstGeom prst="ellipse">
              <a:avLst/>
            </a:prstGeom>
            <a:solidFill>
              <a:srgbClr val="FF9900"/>
            </a:solidFill>
            <a:ln w="12700" cap="flat" cmpd="sng">
              <a:solidFill>
                <a:srgbClr val="FF99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70" name="Oval 120"/>
            <p:cNvSpPr/>
            <p:nvPr/>
          </p:nvSpPr>
          <p:spPr>
            <a:xfrm>
              <a:off x="7480300" y="3505200"/>
              <a:ext cx="63500" cy="63500"/>
            </a:xfrm>
            <a:prstGeom prst="ellipse">
              <a:avLst/>
            </a:prstGeom>
            <a:solidFill>
              <a:srgbClr val="FF9900"/>
            </a:solidFill>
            <a:ln w="12700" cap="flat" cmpd="sng">
              <a:solidFill>
                <a:srgbClr val="FF99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71" name="Oval 121"/>
            <p:cNvSpPr/>
            <p:nvPr/>
          </p:nvSpPr>
          <p:spPr>
            <a:xfrm>
              <a:off x="7404100" y="3657600"/>
              <a:ext cx="63500" cy="63500"/>
            </a:xfrm>
            <a:prstGeom prst="ellipse">
              <a:avLst/>
            </a:prstGeom>
            <a:solidFill>
              <a:srgbClr val="FF9900"/>
            </a:solidFill>
            <a:ln w="12700" cap="flat" cmpd="sng">
              <a:solidFill>
                <a:srgbClr val="FF99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172" name="Line 122"/>
            <p:cNvSpPr/>
            <p:nvPr/>
          </p:nvSpPr>
          <p:spPr>
            <a:xfrm>
              <a:off x="7848600" y="2362200"/>
              <a:ext cx="228600" cy="76200"/>
            </a:xfrm>
            <a:prstGeom prst="line">
              <a:avLst/>
            </a:prstGeom>
            <a:ln w="9525" cap="flat" cmpd="sng">
              <a:solidFill>
                <a:schemeClr val="tx1"/>
              </a:solidFill>
              <a:prstDash val="solid"/>
              <a:headEnd type="none" w="med" len="med"/>
              <a:tailEnd type="none" w="med" len="med"/>
            </a:ln>
          </p:spPr>
        </p:sp>
        <p:sp>
          <p:nvSpPr>
            <p:cNvPr id="40173" name="Line 123"/>
            <p:cNvSpPr/>
            <p:nvPr/>
          </p:nvSpPr>
          <p:spPr>
            <a:xfrm>
              <a:off x="8001000" y="2133600"/>
              <a:ext cx="76200" cy="304800"/>
            </a:xfrm>
            <a:prstGeom prst="line">
              <a:avLst/>
            </a:prstGeom>
            <a:ln w="9525" cap="flat" cmpd="sng">
              <a:solidFill>
                <a:schemeClr val="tx1"/>
              </a:solidFill>
              <a:prstDash val="solid"/>
              <a:headEnd type="none" w="med" len="med"/>
              <a:tailEnd type="none" w="med" len="med"/>
            </a:ln>
          </p:spPr>
        </p:sp>
        <p:sp>
          <p:nvSpPr>
            <p:cNvPr id="40174" name="Line 124"/>
            <p:cNvSpPr/>
            <p:nvPr/>
          </p:nvSpPr>
          <p:spPr>
            <a:xfrm flipH="1">
              <a:off x="7467600" y="3505200"/>
              <a:ext cx="76200" cy="152400"/>
            </a:xfrm>
            <a:prstGeom prst="line">
              <a:avLst/>
            </a:prstGeom>
            <a:ln w="9525" cap="flat" cmpd="sng">
              <a:solidFill>
                <a:srgbClr val="FF9900"/>
              </a:solidFill>
              <a:prstDash val="solid"/>
              <a:headEnd type="none" w="med" len="med"/>
              <a:tailEnd type="none" w="med" len="med"/>
            </a:ln>
          </p:spPr>
        </p:sp>
        <p:sp>
          <p:nvSpPr>
            <p:cNvPr id="40175" name="Line 125"/>
            <p:cNvSpPr/>
            <p:nvPr/>
          </p:nvSpPr>
          <p:spPr>
            <a:xfrm>
              <a:off x="6781800" y="2743200"/>
              <a:ext cx="304800" cy="228600"/>
            </a:xfrm>
            <a:prstGeom prst="line">
              <a:avLst/>
            </a:prstGeom>
            <a:ln w="9525" cap="flat" cmpd="sng">
              <a:solidFill>
                <a:schemeClr val="tx1"/>
              </a:solidFill>
              <a:prstDash val="solid"/>
              <a:headEnd type="none" w="med" len="med"/>
              <a:tailEnd type="none" w="med" len="med"/>
            </a:ln>
          </p:spPr>
        </p:sp>
        <p:sp>
          <p:nvSpPr>
            <p:cNvPr id="40176" name="Line 126"/>
            <p:cNvSpPr/>
            <p:nvPr/>
          </p:nvSpPr>
          <p:spPr>
            <a:xfrm>
              <a:off x="6705600" y="2743200"/>
              <a:ext cx="152400" cy="381000"/>
            </a:xfrm>
            <a:prstGeom prst="line">
              <a:avLst/>
            </a:prstGeom>
            <a:ln w="9525" cap="flat" cmpd="sng">
              <a:solidFill>
                <a:schemeClr val="tx1"/>
              </a:solidFill>
              <a:prstDash val="solid"/>
              <a:headEnd type="none" w="med" len="med"/>
              <a:tailEnd type="none" w="med" len="med"/>
            </a:ln>
          </p:spPr>
        </p:sp>
        <p:sp>
          <p:nvSpPr>
            <p:cNvPr id="40177" name="Line 127"/>
            <p:cNvSpPr/>
            <p:nvPr/>
          </p:nvSpPr>
          <p:spPr>
            <a:xfrm>
              <a:off x="6858000" y="3124200"/>
              <a:ext cx="304800" cy="228600"/>
            </a:xfrm>
            <a:prstGeom prst="line">
              <a:avLst/>
            </a:prstGeom>
            <a:ln w="9525" cap="flat" cmpd="sng">
              <a:solidFill>
                <a:schemeClr val="tx1"/>
              </a:solidFill>
              <a:prstDash val="solid"/>
              <a:headEnd type="none" w="med" len="med"/>
              <a:tailEnd type="none" w="med" len="med"/>
            </a:ln>
          </p:spPr>
        </p:sp>
        <p:sp>
          <p:nvSpPr>
            <p:cNvPr id="40178" name="Line 128"/>
            <p:cNvSpPr/>
            <p:nvPr/>
          </p:nvSpPr>
          <p:spPr>
            <a:xfrm flipV="1">
              <a:off x="6858000" y="3048000"/>
              <a:ext cx="228600" cy="152400"/>
            </a:xfrm>
            <a:prstGeom prst="line">
              <a:avLst/>
            </a:prstGeom>
            <a:ln w="9525" cap="flat" cmpd="sng">
              <a:solidFill>
                <a:schemeClr val="tx1"/>
              </a:solidFill>
              <a:prstDash val="solid"/>
              <a:headEnd type="none" w="med" len="med"/>
              <a:tailEnd type="none" w="med" len="med"/>
            </a:ln>
          </p:spPr>
        </p:sp>
        <p:sp>
          <p:nvSpPr>
            <p:cNvPr id="40179" name="Line 129"/>
            <p:cNvSpPr/>
            <p:nvPr/>
          </p:nvSpPr>
          <p:spPr>
            <a:xfrm flipH="1">
              <a:off x="6553200" y="2743200"/>
              <a:ext cx="152400" cy="304800"/>
            </a:xfrm>
            <a:prstGeom prst="line">
              <a:avLst/>
            </a:prstGeom>
            <a:ln w="9525" cap="flat" cmpd="sng">
              <a:solidFill>
                <a:schemeClr val="tx1"/>
              </a:solidFill>
              <a:prstDash val="solid"/>
              <a:headEnd type="none" w="med" len="med"/>
              <a:tailEnd type="none" w="med" len="med"/>
            </a:ln>
          </p:spPr>
        </p:sp>
        <p:sp>
          <p:nvSpPr>
            <p:cNvPr id="40180" name="Line 130"/>
            <p:cNvSpPr/>
            <p:nvPr/>
          </p:nvSpPr>
          <p:spPr>
            <a:xfrm>
              <a:off x="6553200" y="3048000"/>
              <a:ext cx="0" cy="228600"/>
            </a:xfrm>
            <a:prstGeom prst="line">
              <a:avLst/>
            </a:prstGeom>
            <a:ln w="9525" cap="flat" cmpd="sng">
              <a:solidFill>
                <a:schemeClr val="tx1"/>
              </a:solidFill>
              <a:prstDash val="solid"/>
              <a:headEnd type="none" w="med" len="med"/>
              <a:tailEnd type="none" w="med" len="med"/>
            </a:ln>
          </p:spPr>
        </p:sp>
        <p:sp>
          <p:nvSpPr>
            <p:cNvPr id="40181" name="Line 131"/>
            <p:cNvSpPr/>
            <p:nvPr/>
          </p:nvSpPr>
          <p:spPr>
            <a:xfrm>
              <a:off x="6553200" y="3352800"/>
              <a:ext cx="609600" cy="0"/>
            </a:xfrm>
            <a:prstGeom prst="line">
              <a:avLst/>
            </a:prstGeom>
            <a:ln w="9525" cap="flat" cmpd="sng">
              <a:solidFill>
                <a:schemeClr val="tx1"/>
              </a:solidFill>
              <a:prstDash val="solid"/>
              <a:headEnd type="none" w="med" len="med"/>
              <a:tailEnd type="none" w="med" len="med"/>
            </a:ln>
          </p:spPr>
        </p:sp>
        <p:sp>
          <p:nvSpPr>
            <p:cNvPr id="40182" name="Line 132"/>
            <p:cNvSpPr/>
            <p:nvPr/>
          </p:nvSpPr>
          <p:spPr>
            <a:xfrm flipV="1">
              <a:off x="6553200" y="3200400"/>
              <a:ext cx="304800" cy="152400"/>
            </a:xfrm>
            <a:prstGeom prst="line">
              <a:avLst/>
            </a:prstGeom>
            <a:ln w="9525" cap="flat" cmpd="sng">
              <a:solidFill>
                <a:schemeClr val="tx1"/>
              </a:solidFill>
              <a:prstDash val="solid"/>
              <a:headEnd type="none" w="med" len="med"/>
              <a:tailEnd type="none" w="med" len="med"/>
            </a:ln>
          </p:spPr>
        </p:sp>
        <p:sp>
          <p:nvSpPr>
            <p:cNvPr id="40183" name="Line 133"/>
            <p:cNvSpPr/>
            <p:nvPr/>
          </p:nvSpPr>
          <p:spPr>
            <a:xfrm>
              <a:off x="6553200" y="2971800"/>
              <a:ext cx="381000" cy="228600"/>
            </a:xfrm>
            <a:prstGeom prst="line">
              <a:avLst/>
            </a:prstGeom>
            <a:ln w="9525" cap="flat" cmpd="sng">
              <a:solidFill>
                <a:schemeClr val="tx1"/>
              </a:solidFill>
              <a:prstDash val="solid"/>
              <a:headEnd type="none" w="med" len="med"/>
              <a:tailEnd type="none" w="med" len="med"/>
            </a:ln>
          </p:spPr>
        </p:sp>
        <p:sp>
          <p:nvSpPr>
            <p:cNvPr id="40184" name="Line 216"/>
            <p:cNvSpPr/>
            <p:nvPr/>
          </p:nvSpPr>
          <p:spPr>
            <a:xfrm flipV="1">
              <a:off x="7097713" y="2270125"/>
              <a:ext cx="228600" cy="76200"/>
            </a:xfrm>
            <a:prstGeom prst="line">
              <a:avLst/>
            </a:prstGeom>
            <a:ln w="9525" cap="flat" cmpd="sng">
              <a:solidFill>
                <a:srgbClr val="FF0000"/>
              </a:solidFill>
              <a:prstDash val="solid"/>
              <a:headEnd type="none" w="med" len="med"/>
              <a:tailEnd type="none" w="med" len="med"/>
            </a:ln>
          </p:spPr>
        </p:sp>
        <p:sp>
          <p:nvSpPr>
            <p:cNvPr id="40185" name="Line 217"/>
            <p:cNvSpPr/>
            <p:nvPr/>
          </p:nvSpPr>
          <p:spPr>
            <a:xfrm>
              <a:off x="7097713" y="2346325"/>
              <a:ext cx="228600" cy="152400"/>
            </a:xfrm>
            <a:prstGeom prst="line">
              <a:avLst/>
            </a:prstGeom>
            <a:ln w="9525" cap="flat" cmpd="sng">
              <a:solidFill>
                <a:srgbClr val="FF0000"/>
              </a:solidFill>
              <a:prstDash val="solid"/>
              <a:headEnd type="none" w="med" len="med"/>
              <a:tailEnd type="none" w="med" len="med"/>
            </a:ln>
          </p:spPr>
        </p:sp>
        <p:sp>
          <p:nvSpPr>
            <p:cNvPr id="40186" name="Line 239"/>
            <p:cNvSpPr/>
            <p:nvPr/>
          </p:nvSpPr>
          <p:spPr>
            <a:xfrm>
              <a:off x="7467600" y="1600200"/>
              <a:ext cx="0" cy="228600"/>
            </a:xfrm>
            <a:prstGeom prst="line">
              <a:avLst/>
            </a:prstGeom>
            <a:ln w="9525" cap="flat" cmpd="sng">
              <a:solidFill>
                <a:srgbClr val="FFFF00"/>
              </a:solidFill>
              <a:prstDash val="solid"/>
              <a:headEnd type="none" w="med" len="med"/>
              <a:tailEnd type="none" w="med" len="med"/>
            </a:ln>
          </p:spPr>
        </p:sp>
        <p:sp>
          <p:nvSpPr>
            <p:cNvPr id="40187" name="Line 240"/>
            <p:cNvSpPr/>
            <p:nvPr/>
          </p:nvSpPr>
          <p:spPr>
            <a:xfrm flipV="1">
              <a:off x="7315200" y="2286000"/>
              <a:ext cx="0" cy="228600"/>
            </a:xfrm>
            <a:prstGeom prst="line">
              <a:avLst/>
            </a:prstGeom>
            <a:ln w="9525" cap="flat" cmpd="sng">
              <a:solidFill>
                <a:srgbClr val="FF0000"/>
              </a:solidFill>
              <a:prstDash val="solid"/>
              <a:headEnd type="none" w="med" len="med"/>
              <a:tailEnd type="none" w="med" len="med"/>
            </a:ln>
          </p:spPr>
        </p:sp>
        <p:sp>
          <p:nvSpPr>
            <p:cNvPr id="40188" name="Line 241"/>
            <p:cNvSpPr/>
            <p:nvPr/>
          </p:nvSpPr>
          <p:spPr>
            <a:xfrm>
              <a:off x="7315200" y="2286000"/>
              <a:ext cx="76200" cy="228600"/>
            </a:xfrm>
            <a:prstGeom prst="line">
              <a:avLst/>
            </a:prstGeom>
            <a:ln w="9525" cap="flat" cmpd="sng">
              <a:solidFill>
                <a:srgbClr val="FF0000"/>
              </a:solidFill>
              <a:prstDash val="solid"/>
              <a:headEnd type="none" w="med" len="med"/>
              <a:tailEnd type="none" w="med" len="med"/>
            </a:ln>
          </p:spPr>
        </p:sp>
        <p:sp>
          <p:nvSpPr>
            <p:cNvPr id="40189" name="Line 242"/>
            <p:cNvSpPr/>
            <p:nvPr/>
          </p:nvSpPr>
          <p:spPr>
            <a:xfrm flipV="1">
              <a:off x="7848600" y="2133600"/>
              <a:ext cx="152400" cy="228600"/>
            </a:xfrm>
            <a:prstGeom prst="line">
              <a:avLst/>
            </a:prstGeom>
            <a:ln w="9525" cap="flat" cmpd="sng">
              <a:solidFill>
                <a:schemeClr val="tx1"/>
              </a:solidFill>
              <a:prstDash val="solid"/>
              <a:headEnd type="none" w="med" len="med"/>
              <a:tailEnd type="none" w="med" len="med"/>
            </a:ln>
          </p:spPr>
        </p:sp>
        <p:sp>
          <p:nvSpPr>
            <p:cNvPr id="40190" name="Line 243"/>
            <p:cNvSpPr/>
            <p:nvPr/>
          </p:nvSpPr>
          <p:spPr>
            <a:xfrm>
              <a:off x="7086600" y="2971800"/>
              <a:ext cx="76200" cy="381000"/>
            </a:xfrm>
            <a:prstGeom prst="line">
              <a:avLst/>
            </a:prstGeom>
            <a:ln w="9525" cap="flat" cmpd="sng">
              <a:solidFill>
                <a:schemeClr val="tx1"/>
              </a:solidFill>
              <a:prstDash val="solid"/>
              <a:headEnd type="none" w="med" len="med"/>
              <a:tailEnd type="none" w="med" len="med"/>
            </a:ln>
          </p:spPr>
        </p:sp>
        <p:sp>
          <p:nvSpPr>
            <p:cNvPr id="40191" name="Line 244"/>
            <p:cNvSpPr/>
            <p:nvPr/>
          </p:nvSpPr>
          <p:spPr>
            <a:xfrm flipH="1">
              <a:off x="7620000" y="2971800"/>
              <a:ext cx="76200" cy="228600"/>
            </a:xfrm>
            <a:prstGeom prst="line">
              <a:avLst/>
            </a:prstGeom>
            <a:ln w="9525" cap="flat" cmpd="sng">
              <a:solidFill>
                <a:srgbClr val="99CC00"/>
              </a:solidFill>
              <a:prstDash val="solid"/>
              <a:headEnd type="none" w="med" len="med"/>
              <a:tailEnd type="none" w="med" len="med"/>
            </a:ln>
          </p:spPr>
        </p:sp>
        <p:sp>
          <p:nvSpPr>
            <p:cNvPr id="40192" name="Line 245"/>
            <p:cNvSpPr/>
            <p:nvPr/>
          </p:nvSpPr>
          <p:spPr>
            <a:xfrm>
              <a:off x="7620000" y="3200400"/>
              <a:ext cx="228600" cy="0"/>
            </a:xfrm>
            <a:prstGeom prst="line">
              <a:avLst/>
            </a:prstGeom>
            <a:ln w="9525" cap="flat" cmpd="sng">
              <a:solidFill>
                <a:srgbClr val="99CC00"/>
              </a:solidFill>
              <a:prstDash val="solid"/>
              <a:headEnd type="none" w="med" len="med"/>
              <a:tailEnd type="none" w="med" len="med"/>
            </a:ln>
          </p:spPr>
        </p:sp>
        <p:sp>
          <p:nvSpPr>
            <p:cNvPr id="40193" name="Line 246"/>
            <p:cNvSpPr/>
            <p:nvPr/>
          </p:nvSpPr>
          <p:spPr>
            <a:xfrm>
              <a:off x="7696200" y="2971800"/>
              <a:ext cx="152400" cy="228600"/>
            </a:xfrm>
            <a:prstGeom prst="line">
              <a:avLst/>
            </a:prstGeom>
            <a:ln w="9525" cap="flat" cmpd="sng">
              <a:solidFill>
                <a:srgbClr val="99CC00"/>
              </a:solidFill>
              <a:prstDash val="solid"/>
              <a:headEnd type="none" w="med" len="med"/>
              <a:tailEnd type="none" w="med" len="med"/>
            </a:ln>
          </p:spPr>
        </p:sp>
        <p:sp>
          <p:nvSpPr>
            <p:cNvPr id="40194" name="Line 247"/>
            <p:cNvSpPr/>
            <p:nvPr/>
          </p:nvSpPr>
          <p:spPr>
            <a:xfrm>
              <a:off x="7543800" y="3505200"/>
              <a:ext cx="152400" cy="0"/>
            </a:xfrm>
            <a:prstGeom prst="line">
              <a:avLst/>
            </a:prstGeom>
            <a:ln w="9525" cap="flat" cmpd="sng">
              <a:solidFill>
                <a:srgbClr val="FF9900"/>
              </a:solidFill>
              <a:prstDash val="solid"/>
              <a:headEnd type="none" w="med" len="med"/>
              <a:tailEnd type="none" w="med" len="med"/>
            </a:ln>
          </p:spPr>
        </p:sp>
        <p:sp>
          <p:nvSpPr>
            <p:cNvPr id="40195" name="Line 248"/>
            <p:cNvSpPr/>
            <p:nvPr/>
          </p:nvSpPr>
          <p:spPr>
            <a:xfrm>
              <a:off x="7467600" y="3657600"/>
              <a:ext cx="152400" cy="0"/>
            </a:xfrm>
            <a:prstGeom prst="line">
              <a:avLst/>
            </a:prstGeom>
            <a:ln w="9525" cap="flat" cmpd="sng">
              <a:solidFill>
                <a:srgbClr val="FF9900"/>
              </a:solidFill>
              <a:prstDash val="solid"/>
              <a:headEnd type="none" w="med" len="med"/>
              <a:tailEnd type="none" w="med" len="med"/>
            </a:ln>
          </p:spPr>
        </p:sp>
        <p:sp>
          <p:nvSpPr>
            <p:cNvPr id="40196" name="Line 249"/>
            <p:cNvSpPr/>
            <p:nvPr/>
          </p:nvSpPr>
          <p:spPr>
            <a:xfrm flipV="1">
              <a:off x="7620000" y="3505200"/>
              <a:ext cx="76200" cy="152400"/>
            </a:xfrm>
            <a:prstGeom prst="line">
              <a:avLst/>
            </a:prstGeom>
            <a:ln w="9525" cap="flat" cmpd="sng">
              <a:solidFill>
                <a:srgbClr val="FF9900"/>
              </a:solidFill>
              <a:prstDash val="solid"/>
              <a:headEnd type="none" w="med" len="med"/>
              <a:tailEnd type="none" w="med" len="med"/>
            </a:ln>
          </p:spPr>
        </p:sp>
        <p:sp>
          <p:nvSpPr>
            <p:cNvPr id="40197" name="Line 256"/>
            <p:cNvSpPr/>
            <p:nvPr/>
          </p:nvSpPr>
          <p:spPr>
            <a:xfrm flipH="1" flipV="1">
              <a:off x="7543800" y="3505200"/>
              <a:ext cx="76200" cy="152400"/>
            </a:xfrm>
            <a:prstGeom prst="line">
              <a:avLst/>
            </a:prstGeom>
            <a:ln w="9525" cap="flat" cmpd="sng">
              <a:solidFill>
                <a:srgbClr val="FF9900"/>
              </a:solidFill>
              <a:prstDash val="solid"/>
              <a:headEnd type="none" w="med" len="med"/>
              <a:tailEnd type="none" w="med" len="med"/>
            </a:ln>
          </p:spPr>
        </p:sp>
      </p:grpSp>
      <p:grpSp>
        <p:nvGrpSpPr>
          <p:cNvPr id="39953" name="Group 269"/>
          <p:cNvGrpSpPr/>
          <p:nvPr/>
        </p:nvGrpSpPr>
        <p:grpSpPr>
          <a:xfrm>
            <a:off x="3581400" y="3886200"/>
            <a:ext cx="2882900" cy="2273300"/>
            <a:chOff x="3898900" y="4114800"/>
            <a:chExt cx="2882900" cy="2273300"/>
          </a:xfrm>
        </p:grpSpPr>
        <p:sp>
          <p:nvSpPr>
            <p:cNvPr id="40049" name="Oval 134"/>
            <p:cNvSpPr/>
            <p:nvPr/>
          </p:nvSpPr>
          <p:spPr>
            <a:xfrm>
              <a:off x="4597400" y="4114800"/>
              <a:ext cx="63500" cy="63500"/>
            </a:xfrm>
            <a:prstGeom prst="ellipse">
              <a:avLst/>
            </a:prstGeom>
            <a:solidFill>
              <a:srgbClr val="FF0000"/>
            </a:solidFill>
            <a:ln w="12700" cap="flat" cmpd="sng">
              <a:solidFill>
                <a:srgbClr val="FF00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50" name="Oval 135"/>
            <p:cNvSpPr/>
            <p:nvPr/>
          </p:nvSpPr>
          <p:spPr>
            <a:xfrm>
              <a:off x="4432300" y="4279900"/>
              <a:ext cx="63500" cy="63500"/>
            </a:xfrm>
            <a:prstGeom prst="ellipse">
              <a:avLst/>
            </a:prstGeom>
            <a:solidFill>
              <a:srgbClr val="FF0000"/>
            </a:solidFill>
            <a:ln w="12700" cap="flat" cmpd="sng">
              <a:solidFill>
                <a:srgbClr val="FF00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51" name="Oval 136"/>
            <p:cNvSpPr/>
            <p:nvPr/>
          </p:nvSpPr>
          <p:spPr>
            <a:xfrm>
              <a:off x="4660900" y="4432300"/>
              <a:ext cx="63500" cy="63500"/>
            </a:xfrm>
            <a:prstGeom prst="ellipse">
              <a:avLst/>
            </a:prstGeom>
            <a:solidFill>
              <a:srgbClr val="FF0000"/>
            </a:solidFill>
            <a:ln w="12700" cap="flat" cmpd="sng">
              <a:solidFill>
                <a:srgbClr val="FF00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52" name="Line 137"/>
            <p:cNvSpPr/>
            <p:nvPr/>
          </p:nvSpPr>
          <p:spPr>
            <a:xfrm flipV="1">
              <a:off x="4432300" y="4114800"/>
              <a:ext cx="228600" cy="228600"/>
            </a:xfrm>
            <a:prstGeom prst="line">
              <a:avLst/>
            </a:prstGeom>
            <a:ln w="9525" cap="flat" cmpd="sng">
              <a:solidFill>
                <a:srgbClr val="FF0000"/>
              </a:solidFill>
              <a:prstDash val="solid"/>
              <a:headEnd type="none" w="med" len="med"/>
              <a:tailEnd type="none" w="med" len="med"/>
            </a:ln>
          </p:spPr>
        </p:sp>
        <p:sp>
          <p:nvSpPr>
            <p:cNvPr id="40053" name="Line 138"/>
            <p:cNvSpPr/>
            <p:nvPr/>
          </p:nvSpPr>
          <p:spPr>
            <a:xfrm>
              <a:off x="4432300" y="4343400"/>
              <a:ext cx="228600" cy="76200"/>
            </a:xfrm>
            <a:prstGeom prst="line">
              <a:avLst/>
            </a:prstGeom>
            <a:ln w="9525" cap="flat" cmpd="sng">
              <a:solidFill>
                <a:srgbClr val="FF0000"/>
              </a:solidFill>
              <a:prstDash val="solid"/>
              <a:headEnd type="none" w="med" len="med"/>
              <a:tailEnd type="none" w="med" len="med"/>
            </a:ln>
          </p:spPr>
        </p:sp>
        <p:sp>
          <p:nvSpPr>
            <p:cNvPr id="40054" name="Line 139"/>
            <p:cNvSpPr/>
            <p:nvPr/>
          </p:nvSpPr>
          <p:spPr>
            <a:xfrm>
              <a:off x="4660900" y="4114800"/>
              <a:ext cx="0" cy="304800"/>
            </a:xfrm>
            <a:prstGeom prst="line">
              <a:avLst/>
            </a:prstGeom>
            <a:ln w="9525" cap="flat" cmpd="sng">
              <a:solidFill>
                <a:srgbClr val="FF0000"/>
              </a:solidFill>
              <a:prstDash val="solid"/>
              <a:headEnd type="none" w="med" len="med"/>
              <a:tailEnd type="none" w="med" len="med"/>
            </a:ln>
          </p:spPr>
        </p:sp>
        <p:sp>
          <p:nvSpPr>
            <p:cNvPr id="40055" name="Oval 140"/>
            <p:cNvSpPr/>
            <p:nvPr/>
          </p:nvSpPr>
          <p:spPr>
            <a:xfrm>
              <a:off x="4445000" y="4584700"/>
              <a:ext cx="63500" cy="63500"/>
            </a:xfrm>
            <a:prstGeom prst="ellipse">
              <a:avLst/>
            </a:prstGeom>
            <a:solidFill>
              <a:srgbClr val="FF0000"/>
            </a:solidFill>
            <a:ln w="12700" cap="flat" cmpd="sng">
              <a:solidFill>
                <a:srgbClr val="FF00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56" name="Oval 141"/>
            <p:cNvSpPr/>
            <p:nvPr/>
          </p:nvSpPr>
          <p:spPr>
            <a:xfrm>
              <a:off x="4127500" y="4648200"/>
              <a:ext cx="63500" cy="63500"/>
            </a:xfrm>
            <a:prstGeom prst="ellipse">
              <a:avLst/>
            </a:prstGeom>
            <a:solidFill>
              <a:srgbClr val="FF0000"/>
            </a:solidFill>
            <a:ln w="12700" cap="flat" cmpd="sng">
              <a:solidFill>
                <a:srgbClr val="FF00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57" name="Line 142"/>
            <p:cNvSpPr/>
            <p:nvPr/>
          </p:nvSpPr>
          <p:spPr>
            <a:xfrm flipH="1">
              <a:off x="4127500" y="4343400"/>
              <a:ext cx="304800" cy="304800"/>
            </a:xfrm>
            <a:prstGeom prst="line">
              <a:avLst/>
            </a:prstGeom>
            <a:ln w="9525" cap="flat" cmpd="sng">
              <a:solidFill>
                <a:srgbClr val="FF0000"/>
              </a:solidFill>
              <a:prstDash val="solid"/>
              <a:headEnd type="none" w="med" len="med"/>
              <a:tailEnd type="none" w="med" len="med"/>
            </a:ln>
          </p:spPr>
        </p:sp>
        <p:sp>
          <p:nvSpPr>
            <p:cNvPr id="40058" name="Line 143"/>
            <p:cNvSpPr/>
            <p:nvPr/>
          </p:nvSpPr>
          <p:spPr>
            <a:xfrm>
              <a:off x="4432300" y="4343400"/>
              <a:ext cx="76200" cy="304800"/>
            </a:xfrm>
            <a:prstGeom prst="line">
              <a:avLst/>
            </a:prstGeom>
            <a:ln w="9525" cap="flat" cmpd="sng">
              <a:solidFill>
                <a:srgbClr val="FF0000"/>
              </a:solidFill>
              <a:prstDash val="solid"/>
              <a:headEnd type="none" w="med" len="med"/>
              <a:tailEnd type="none" w="med" len="med"/>
            </a:ln>
          </p:spPr>
        </p:sp>
        <p:sp>
          <p:nvSpPr>
            <p:cNvPr id="40059" name="Line 144"/>
            <p:cNvSpPr/>
            <p:nvPr/>
          </p:nvSpPr>
          <p:spPr>
            <a:xfrm flipH="1">
              <a:off x="4508500" y="4495800"/>
              <a:ext cx="152400" cy="76200"/>
            </a:xfrm>
            <a:prstGeom prst="line">
              <a:avLst/>
            </a:prstGeom>
            <a:ln w="9525" cap="flat" cmpd="sng">
              <a:solidFill>
                <a:srgbClr val="FF0000"/>
              </a:solidFill>
              <a:prstDash val="solid"/>
              <a:headEnd type="none" w="med" len="med"/>
              <a:tailEnd type="none" w="med" len="med"/>
            </a:ln>
          </p:spPr>
        </p:sp>
        <p:sp>
          <p:nvSpPr>
            <p:cNvPr id="40060" name="Oval 145"/>
            <p:cNvSpPr/>
            <p:nvPr/>
          </p:nvSpPr>
          <p:spPr>
            <a:xfrm>
              <a:off x="4216400" y="4889500"/>
              <a:ext cx="63500" cy="63500"/>
            </a:xfrm>
            <a:prstGeom prst="ellipse">
              <a:avLst/>
            </a:prstGeom>
            <a:solidFill>
              <a:srgbClr val="FF0000"/>
            </a:solidFill>
            <a:ln w="12700" cap="flat" cmpd="sng">
              <a:solidFill>
                <a:srgbClr val="FF00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61" name="Oval 146"/>
            <p:cNvSpPr/>
            <p:nvPr/>
          </p:nvSpPr>
          <p:spPr>
            <a:xfrm>
              <a:off x="3898900" y="4876800"/>
              <a:ext cx="63500" cy="63500"/>
            </a:xfrm>
            <a:prstGeom prst="ellipse">
              <a:avLst/>
            </a:prstGeom>
            <a:solidFill>
              <a:srgbClr val="FF0000"/>
            </a:solidFill>
            <a:ln w="12700" cap="flat" cmpd="sng">
              <a:solidFill>
                <a:srgbClr val="FF00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62" name="Oval 147"/>
            <p:cNvSpPr/>
            <p:nvPr/>
          </p:nvSpPr>
          <p:spPr>
            <a:xfrm>
              <a:off x="4584700" y="4889500"/>
              <a:ext cx="63500" cy="63500"/>
            </a:xfrm>
            <a:prstGeom prst="ellipse">
              <a:avLst/>
            </a:prstGeom>
            <a:solidFill>
              <a:srgbClr val="FF0000"/>
            </a:solidFill>
            <a:ln w="12700" cap="flat" cmpd="sng">
              <a:solidFill>
                <a:srgbClr val="FF00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63" name="Oval 148"/>
            <p:cNvSpPr/>
            <p:nvPr/>
          </p:nvSpPr>
          <p:spPr>
            <a:xfrm>
              <a:off x="4368800" y="5181600"/>
              <a:ext cx="63500" cy="63500"/>
            </a:xfrm>
            <a:prstGeom prst="ellipse">
              <a:avLst/>
            </a:prstGeom>
            <a:solidFill>
              <a:srgbClr val="FF0000"/>
            </a:solidFill>
            <a:ln w="12700" cap="flat" cmpd="sng">
              <a:solidFill>
                <a:srgbClr val="FF00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64" name="Oval 149"/>
            <p:cNvSpPr/>
            <p:nvPr/>
          </p:nvSpPr>
          <p:spPr>
            <a:xfrm>
              <a:off x="4432300" y="5499100"/>
              <a:ext cx="63500" cy="63500"/>
            </a:xfrm>
            <a:prstGeom prst="ellipse">
              <a:avLst/>
            </a:prstGeom>
            <a:solidFill>
              <a:srgbClr val="FF0000"/>
            </a:solidFill>
            <a:ln w="12700" cap="flat" cmpd="sng">
              <a:solidFill>
                <a:srgbClr val="FF00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65" name="Oval 150"/>
            <p:cNvSpPr/>
            <p:nvPr/>
          </p:nvSpPr>
          <p:spPr>
            <a:xfrm>
              <a:off x="4749800" y="5334000"/>
              <a:ext cx="63500" cy="63500"/>
            </a:xfrm>
            <a:prstGeom prst="ellipse">
              <a:avLst/>
            </a:prstGeom>
            <a:solidFill>
              <a:srgbClr val="FF0000"/>
            </a:solidFill>
            <a:ln w="12700" cap="flat" cmpd="sng">
              <a:solidFill>
                <a:srgbClr val="FF00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66" name="Line 151"/>
            <p:cNvSpPr/>
            <p:nvPr/>
          </p:nvSpPr>
          <p:spPr>
            <a:xfrm>
              <a:off x="4127500" y="4648200"/>
              <a:ext cx="152400" cy="304800"/>
            </a:xfrm>
            <a:prstGeom prst="line">
              <a:avLst/>
            </a:prstGeom>
            <a:ln w="9525" cap="flat" cmpd="sng">
              <a:solidFill>
                <a:srgbClr val="FF0000"/>
              </a:solidFill>
              <a:prstDash val="solid"/>
              <a:headEnd type="none" w="med" len="med"/>
              <a:tailEnd type="none" w="med" len="med"/>
            </a:ln>
          </p:spPr>
        </p:sp>
        <p:sp>
          <p:nvSpPr>
            <p:cNvPr id="40067" name="Line 152"/>
            <p:cNvSpPr/>
            <p:nvPr/>
          </p:nvSpPr>
          <p:spPr>
            <a:xfrm flipH="1">
              <a:off x="3898900" y="4648200"/>
              <a:ext cx="228600" cy="228600"/>
            </a:xfrm>
            <a:prstGeom prst="line">
              <a:avLst/>
            </a:prstGeom>
            <a:ln w="9525" cap="flat" cmpd="sng">
              <a:solidFill>
                <a:srgbClr val="FF0000"/>
              </a:solidFill>
              <a:prstDash val="solid"/>
              <a:headEnd type="none" w="med" len="med"/>
              <a:tailEnd type="none" w="med" len="med"/>
            </a:ln>
          </p:spPr>
        </p:sp>
        <p:sp>
          <p:nvSpPr>
            <p:cNvPr id="40068" name="Line 153"/>
            <p:cNvSpPr/>
            <p:nvPr/>
          </p:nvSpPr>
          <p:spPr>
            <a:xfrm>
              <a:off x="3898900" y="4876800"/>
              <a:ext cx="381000" cy="76200"/>
            </a:xfrm>
            <a:prstGeom prst="line">
              <a:avLst/>
            </a:prstGeom>
            <a:ln w="9525" cap="flat" cmpd="sng">
              <a:solidFill>
                <a:srgbClr val="FF0000"/>
              </a:solidFill>
              <a:prstDash val="solid"/>
              <a:headEnd type="none" w="med" len="med"/>
              <a:tailEnd type="none" w="med" len="med"/>
            </a:ln>
          </p:spPr>
        </p:sp>
        <p:sp>
          <p:nvSpPr>
            <p:cNvPr id="40069" name="Line 154"/>
            <p:cNvSpPr/>
            <p:nvPr/>
          </p:nvSpPr>
          <p:spPr>
            <a:xfrm flipV="1">
              <a:off x="4279900" y="4572000"/>
              <a:ext cx="228600" cy="381000"/>
            </a:xfrm>
            <a:prstGeom prst="line">
              <a:avLst/>
            </a:prstGeom>
            <a:ln w="9525" cap="flat" cmpd="sng">
              <a:solidFill>
                <a:srgbClr val="FF0000"/>
              </a:solidFill>
              <a:prstDash val="solid"/>
              <a:headEnd type="none" w="med" len="med"/>
              <a:tailEnd type="none" w="med" len="med"/>
            </a:ln>
          </p:spPr>
        </p:sp>
        <p:sp>
          <p:nvSpPr>
            <p:cNvPr id="40070" name="Oval 155"/>
            <p:cNvSpPr/>
            <p:nvPr/>
          </p:nvSpPr>
          <p:spPr>
            <a:xfrm>
              <a:off x="4965700" y="5181600"/>
              <a:ext cx="63500" cy="63500"/>
            </a:xfrm>
            <a:prstGeom prst="ellipse">
              <a:avLst/>
            </a:prstGeom>
            <a:solidFill>
              <a:srgbClr val="FF0000"/>
            </a:solidFill>
            <a:ln w="12700" cap="flat" cmpd="sng">
              <a:solidFill>
                <a:srgbClr val="FF00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71" name="Oval 156"/>
            <p:cNvSpPr/>
            <p:nvPr/>
          </p:nvSpPr>
          <p:spPr>
            <a:xfrm>
              <a:off x="5029200" y="5486400"/>
              <a:ext cx="63500" cy="63500"/>
            </a:xfrm>
            <a:prstGeom prst="ellipse">
              <a:avLst/>
            </a:prstGeom>
            <a:solidFill>
              <a:srgbClr val="FF0000"/>
            </a:solidFill>
            <a:ln w="12700" cap="flat" cmpd="sng">
              <a:solidFill>
                <a:srgbClr val="FF00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72" name="Oval 157"/>
            <p:cNvSpPr/>
            <p:nvPr/>
          </p:nvSpPr>
          <p:spPr>
            <a:xfrm>
              <a:off x="6032500" y="4191000"/>
              <a:ext cx="63500" cy="63500"/>
            </a:xfrm>
            <a:prstGeom prst="ellipse">
              <a:avLst/>
            </a:prstGeom>
            <a:solidFill>
              <a:schemeClr val="tx2"/>
            </a:solidFill>
            <a:ln w="12700" cap="flat" cmpd="sng">
              <a:solidFill>
                <a:schemeClr val="tx2"/>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73" name="Oval 158"/>
            <p:cNvSpPr/>
            <p:nvPr/>
          </p:nvSpPr>
          <p:spPr>
            <a:xfrm>
              <a:off x="5638800" y="4876800"/>
              <a:ext cx="63500" cy="63500"/>
            </a:xfrm>
            <a:prstGeom prst="ellipse">
              <a:avLst/>
            </a:prstGeom>
            <a:solidFill>
              <a:schemeClr val="tx2"/>
            </a:solidFill>
            <a:ln w="12700" cap="flat" cmpd="sng">
              <a:solidFill>
                <a:schemeClr val="tx2"/>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74" name="Oval 160"/>
            <p:cNvSpPr/>
            <p:nvPr/>
          </p:nvSpPr>
          <p:spPr>
            <a:xfrm>
              <a:off x="6248400" y="4343400"/>
              <a:ext cx="63500" cy="63500"/>
            </a:xfrm>
            <a:prstGeom prst="ellipse">
              <a:avLst/>
            </a:prstGeom>
            <a:solidFill>
              <a:schemeClr val="tx2"/>
            </a:solidFill>
            <a:ln w="12700" cap="flat" cmpd="sng">
              <a:solidFill>
                <a:schemeClr val="tx2"/>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75" name="Oval 161"/>
            <p:cNvSpPr/>
            <p:nvPr/>
          </p:nvSpPr>
          <p:spPr>
            <a:xfrm>
              <a:off x="6096000" y="4419600"/>
              <a:ext cx="63500" cy="63500"/>
            </a:xfrm>
            <a:prstGeom prst="ellipse">
              <a:avLst/>
            </a:prstGeom>
            <a:solidFill>
              <a:schemeClr val="tx2"/>
            </a:solidFill>
            <a:ln w="12700" cap="flat" cmpd="sng">
              <a:solidFill>
                <a:schemeClr val="tx2"/>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76" name="Oval 162"/>
            <p:cNvSpPr/>
            <p:nvPr/>
          </p:nvSpPr>
          <p:spPr>
            <a:xfrm>
              <a:off x="5867400" y="4800600"/>
              <a:ext cx="63500" cy="63500"/>
            </a:xfrm>
            <a:prstGeom prst="ellipse">
              <a:avLst/>
            </a:prstGeom>
            <a:solidFill>
              <a:schemeClr val="tx2"/>
            </a:solidFill>
            <a:ln w="12700" cap="flat" cmpd="sng">
              <a:solidFill>
                <a:schemeClr val="tx2"/>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77" name="Oval 163"/>
            <p:cNvSpPr/>
            <p:nvPr/>
          </p:nvSpPr>
          <p:spPr>
            <a:xfrm>
              <a:off x="5791200" y="5029200"/>
              <a:ext cx="63500" cy="63500"/>
            </a:xfrm>
            <a:prstGeom prst="ellipse">
              <a:avLst/>
            </a:prstGeom>
            <a:solidFill>
              <a:schemeClr val="tx2"/>
            </a:solidFill>
            <a:ln w="12700" cap="flat" cmpd="sng">
              <a:solidFill>
                <a:schemeClr val="tx2"/>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78" name="Oval 164"/>
            <p:cNvSpPr/>
            <p:nvPr/>
          </p:nvSpPr>
          <p:spPr>
            <a:xfrm>
              <a:off x="5943600" y="5041900"/>
              <a:ext cx="63500" cy="63500"/>
            </a:xfrm>
            <a:prstGeom prst="ellipse">
              <a:avLst/>
            </a:prstGeom>
            <a:solidFill>
              <a:schemeClr val="tx2"/>
            </a:solidFill>
            <a:ln w="12700" cap="flat" cmpd="sng">
              <a:solidFill>
                <a:schemeClr val="tx2"/>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79" name="Oval 165"/>
            <p:cNvSpPr/>
            <p:nvPr/>
          </p:nvSpPr>
          <p:spPr>
            <a:xfrm>
              <a:off x="5803900" y="5181600"/>
              <a:ext cx="63500" cy="63500"/>
            </a:xfrm>
            <a:prstGeom prst="ellipse">
              <a:avLst/>
            </a:prstGeom>
            <a:solidFill>
              <a:schemeClr val="tx2"/>
            </a:solidFill>
            <a:ln w="12700" cap="flat" cmpd="sng">
              <a:solidFill>
                <a:schemeClr val="tx2"/>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80" name="Line 166"/>
            <p:cNvSpPr/>
            <p:nvPr/>
          </p:nvSpPr>
          <p:spPr>
            <a:xfrm flipV="1">
              <a:off x="5715000" y="4191000"/>
              <a:ext cx="381000" cy="685800"/>
            </a:xfrm>
            <a:prstGeom prst="line">
              <a:avLst/>
            </a:prstGeom>
            <a:ln w="9525" cap="flat" cmpd="sng">
              <a:solidFill>
                <a:schemeClr val="tx2"/>
              </a:solidFill>
              <a:prstDash val="solid"/>
              <a:headEnd type="none" w="med" len="med"/>
              <a:tailEnd type="none" w="med" len="med"/>
            </a:ln>
          </p:spPr>
        </p:sp>
        <p:sp>
          <p:nvSpPr>
            <p:cNvPr id="40081" name="Line 167"/>
            <p:cNvSpPr/>
            <p:nvPr/>
          </p:nvSpPr>
          <p:spPr>
            <a:xfrm flipV="1">
              <a:off x="6096000" y="4114800"/>
              <a:ext cx="152400" cy="76200"/>
            </a:xfrm>
            <a:prstGeom prst="line">
              <a:avLst/>
            </a:prstGeom>
            <a:ln w="9525" cap="flat" cmpd="sng">
              <a:solidFill>
                <a:schemeClr val="tx2"/>
              </a:solidFill>
              <a:prstDash val="solid"/>
              <a:headEnd type="none" w="med" len="med"/>
              <a:tailEnd type="none" w="med" len="med"/>
            </a:ln>
          </p:spPr>
        </p:sp>
        <p:sp>
          <p:nvSpPr>
            <p:cNvPr id="40082" name="Line 168"/>
            <p:cNvSpPr/>
            <p:nvPr/>
          </p:nvSpPr>
          <p:spPr>
            <a:xfrm>
              <a:off x="6096000" y="4191000"/>
              <a:ext cx="152400" cy="152400"/>
            </a:xfrm>
            <a:prstGeom prst="line">
              <a:avLst/>
            </a:prstGeom>
            <a:ln w="9525" cap="flat" cmpd="sng">
              <a:solidFill>
                <a:schemeClr val="tx2"/>
              </a:solidFill>
              <a:prstDash val="solid"/>
              <a:headEnd type="none" w="med" len="med"/>
              <a:tailEnd type="none" w="med" len="med"/>
            </a:ln>
          </p:spPr>
        </p:sp>
        <p:sp>
          <p:nvSpPr>
            <p:cNvPr id="40083" name="Line 169"/>
            <p:cNvSpPr/>
            <p:nvPr/>
          </p:nvSpPr>
          <p:spPr>
            <a:xfrm>
              <a:off x="6096000" y="4191000"/>
              <a:ext cx="0" cy="228600"/>
            </a:xfrm>
            <a:prstGeom prst="line">
              <a:avLst/>
            </a:prstGeom>
            <a:ln w="9525" cap="flat" cmpd="sng">
              <a:solidFill>
                <a:schemeClr val="tx2"/>
              </a:solidFill>
              <a:prstDash val="solid"/>
              <a:headEnd type="none" w="med" len="med"/>
              <a:tailEnd type="none" w="med" len="med"/>
            </a:ln>
          </p:spPr>
        </p:sp>
        <p:sp>
          <p:nvSpPr>
            <p:cNvPr id="40084" name="Line 170"/>
            <p:cNvSpPr/>
            <p:nvPr/>
          </p:nvSpPr>
          <p:spPr>
            <a:xfrm flipV="1">
              <a:off x="6096000" y="4343400"/>
              <a:ext cx="152400" cy="76200"/>
            </a:xfrm>
            <a:prstGeom prst="line">
              <a:avLst/>
            </a:prstGeom>
            <a:ln w="9525" cap="flat" cmpd="sng">
              <a:solidFill>
                <a:schemeClr val="tx2"/>
              </a:solidFill>
              <a:prstDash val="solid"/>
              <a:headEnd type="none" w="med" len="med"/>
              <a:tailEnd type="none" w="med" len="med"/>
            </a:ln>
          </p:spPr>
        </p:sp>
        <p:sp>
          <p:nvSpPr>
            <p:cNvPr id="40085" name="Line 171"/>
            <p:cNvSpPr/>
            <p:nvPr/>
          </p:nvSpPr>
          <p:spPr>
            <a:xfrm>
              <a:off x="5867400" y="4800600"/>
              <a:ext cx="76200" cy="304800"/>
            </a:xfrm>
            <a:prstGeom prst="line">
              <a:avLst/>
            </a:prstGeom>
            <a:ln w="9525" cap="flat" cmpd="sng">
              <a:solidFill>
                <a:schemeClr val="tx2"/>
              </a:solidFill>
              <a:prstDash val="solid"/>
              <a:headEnd type="none" w="med" len="med"/>
              <a:tailEnd type="none" w="med" len="med"/>
            </a:ln>
          </p:spPr>
        </p:sp>
        <p:sp>
          <p:nvSpPr>
            <p:cNvPr id="40086" name="Line 172"/>
            <p:cNvSpPr/>
            <p:nvPr/>
          </p:nvSpPr>
          <p:spPr>
            <a:xfrm>
              <a:off x="5791200" y="5029200"/>
              <a:ext cx="76200" cy="152400"/>
            </a:xfrm>
            <a:prstGeom prst="line">
              <a:avLst/>
            </a:prstGeom>
            <a:ln w="9525" cap="flat" cmpd="sng">
              <a:solidFill>
                <a:schemeClr val="tx2"/>
              </a:solidFill>
              <a:prstDash val="solid"/>
              <a:headEnd type="none" w="med" len="med"/>
              <a:tailEnd type="none" w="med" len="med"/>
            </a:ln>
          </p:spPr>
        </p:sp>
        <p:sp>
          <p:nvSpPr>
            <p:cNvPr id="40087" name="Line 173"/>
            <p:cNvSpPr/>
            <p:nvPr/>
          </p:nvSpPr>
          <p:spPr>
            <a:xfrm flipV="1">
              <a:off x="5867400" y="5105400"/>
              <a:ext cx="76200" cy="76200"/>
            </a:xfrm>
            <a:prstGeom prst="line">
              <a:avLst/>
            </a:prstGeom>
            <a:ln w="9525" cap="flat" cmpd="sng">
              <a:solidFill>
                <a:schemeClr val="tx2"/>
              </a:solidFill>
              <a:prstDash val="solid"/>
              <a:headEnd type="none" w="med" len="med"/>
              <a:tailEnd type="none" w="med" len="med"/>
            </a:ln>
          </p:spPr>
        </p:sp>
        <p:sp>
          <p:nvSpPr>
            <p:cNvPr id="40088" name="Oval 174"/>
            <p:cNvSpPr/>
            <p:nvPr/>
          </p:nvSpPr>
          <p:spPr>
            <a:xfrm>
              <a:off x="6489700" y="4889500"/>
              <a:ext cx="63500" cy="63500"/>
            </a:xfrm>
            <a:prstGeom prst="ellipse">
              <a:avLst/>
            </a:prstGeom>
            <a:solidFill>
              <a:schemeClr val="tx2"/>
            </a:solidFill>
            <a:ln w="12700" cap="flat" cmpd="sng">
              <a:solidFill>
                <a:schemeClr val="tx2"/>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89" name="Oval 175"/>
            <p:cNvSpPr/>
            <p:nvPr/>
          </p:nvSpPr>
          <p:spPr>
            <a:xfrm>
              <a:off x="6718300" y="4965700"/>
              <a:ext cx="63500" cy="63500"/>
            </a:xfrm>
            <a:prstGeom prst="ellipse">
              <a:avLst/>
            </a:prstGeom>
            <a:solidFill>
              <a:schemeClr val="tx2"/>
            </a:solidFill>
            <a:ln w="12700" cap="flat" cmpd="sng">
              <a:solidFill>
                <a:schemeClr val="tx2"/>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90" name="Oval 176"/>
            <p:cNvSpPr/>
            <p:nvPr/>
          </p:nvSpPr>
          <p:spPr>
            <a:xfrm>
              <a:off x="5715000" y="5638800"/>
              <a:ext cx="63500" cy="63500"/>
            </a:xfrm>
            <a:prstGeom prst="ellipse">
              <a:avLst/>
            </a:prstGeom>
            <a:solidFill>
              <a:srgbClr val="00FF00"/>
            </a:solidFill>
            <a:ln w="12700" cap="flat" cmpd="sng">
              <a:solidFill>
                <a:srgbClr val="00FF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91" name="Oval 177"/>
            <p:cNvSpPr/>
            <p:nvPr/>
          </p:nvSpPr>
          <p:spPr>
            <a:xfrm>
              <a:off x="5638800" y="5791200"/>
              <a:ext cx="63500" cy="63500"/>
            </a:xfrm>
            <a:prstGeom prst="ellipse">
              <a:avLst/>
            </a:prstGeom>
            <a:solidFill>
              <a:srgbClr val="00FF00"/>
            </a:solidFill>
            <a:ln w="12700" cap="flat" cmpd="sng">
              <a:solidFill>
                <a:srgbClr val="00FF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92" name="Oval 178"/>
            <p:cNvSpPr/>
            <p:nvPr/>
          </p:nvSpPr>
          <p:spPr>
            <a:xfrm>
              <a:off x="5867400" y="5867400"/>
              <a:ext cx="63500" cy="63500"/>
            </a:xfrm>
            <a:prstGeom prst="ellipse">
              <a:avLst/>
            </a:prstGeom>
            <a:solidFill>
              <a:srgbClr val="00FF00"/>
            </a:solidFill>
            <a:ln w="12700" cap="flat" cmpd="sng">
              <a:solidFill>
                <a:srgbClr val="00FF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93" name="Oval 179"/>
            <p:cNvSpPr/>
            <p:nvPr/>
          </p:nvSpPr>
          <p:spPr>
            <a:xfrm>
              <a:off x="5715000" y="6096000"/>
              <a:ext cx="63500" cy="63500"/>
            </a:xfrm>
            <a:prstGeom prst="ellipse">
              <a:avLst/>
            </a:prstGeom>
            <a:solidFill>
              <a:srgbClr val="00FF00"/>
            </a:solidFill>
            <a:ln w="12700" cap="flat" cmpd="sng">
              <a:solidFill>
                <a:srgbClr val="00FF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94" name="Oval 180"/>
            <p:cNvSpPr/>
            <p:nvPr/>
          </p:nvSpPr>
          <p:spPr>
            <a:xfrm>
              <a:off x="6642100" y="4724400"/>
              <a:ext cx="63500" cy="63500"/>
            </a:xfrm>
            <a:prstGeom prst="ellipse">
              <a:avLst/>
            </a:prstGeom>
            <a:solidFill>
              <a:schemeClr val="tx2"/>
            </a:solidFill>
            <a:ln w="12700" cap="flat" cmpd="sng">
              <a:solidFill>
                <a:schemeClr val="tx2"/>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95" name="Oval 181"/>
            <p:cNvSpPr/>
            <p:nvPr/>
          </p:nvSpPr>
          <p:spPr>
            <a:xfrm>
              <a:off x="5638800" y="6261100"/>
              <a:ext cx="63500" cy="63500"/>
            </a:xfrm>
            <a:prstGeom prst="ellipse">
              <a:avLst/>
            </a:prstGeom>
            <a:solidFill>
              <a:srgbClr val="00FF00"/>
            </a:solidFill>
            <a:ln w="12700" cap="flat" cmpd="sng">
              <a:solidFill>
                <a:srgbClr val="00FF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96" name="Oval 182"/>
            <p:cNvSpPr/>
            <p:nvPr/>
          </p:nvSpPr>
          <p:spPr>
            <a:xfrm>
              <a:off x="5499100" y="6172200"/>
              <a:ext cx="63500" cy="63500"/>
            </a:xfrm>
            <a:prstGeom prst="ellipse">
              <a:avLst/>
            </a:prstGeom>
            <a:solidFill>
              <a:srgbClr val="00FF00"/>
            </a:solidFill>
            <a:ln w="12700" cap="flat" cmpd="sng">
              <a:solidFill>
                <a:srgbClr val="00FF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97" name="Oval 183"/>
            <p:cNvSpPr/>
            <p:nvPr/>
          </p:nvSpPr>
          <p:spPr>
            <a:xfrm>
              <a:off x="5486400" y="6324600"/>
              <a:ext cx="63500" cy="63500"/>
            </a:xfrm>
            <a:prstGeom prst="ellipse">
              <a:avLst/>
            </a:prstGeom>
            <a:solidFill>
              <a:srgbClr val="00FF00"/>
            </a:solidFill>
            <a:ln w="12700" cap="flat" cmpd="sng">
              <a:solidFill>
                <a:srgbClr val="00FF00"/>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98" name="Line 184"/>
            <p:cNvSpPr/>
            <p:nvPr/>
          </p:nvSpPr>
          <p:spPr>
            <a:xfrm>
              <a:off x="6553200" y="4953000"/>
              <a:ext cx="228600" cy="76200"/>
            </a:xfrm>
            <a:prstGeom prst="line">
              <a:avLst/>
            </a:prstGeom>
            <a:ln w="9525" cap="flat" cmpd="sng">
              <a:solidFill>
                <a:schemeClr val="tx2"/>
              </a:solidFill>
              <a:prstDash val="solid"/>
              <a:headEnd type="none" w="med" len="med"/>
              <a:tailEnd type="none" w="med" len="med"/>
            </a:ln>
          </p:spPr>
        </p:sp>
        <p:sp>
          <p:nvSpPr>
            <p:cNvPr id="40099" name="Line 185"/>
            <p:cNvSpPr/>
            <p:nvPr/>
          </p:nvSpPr>
          <p:spPr>
            <a:xfrm>
              <a:off x="6705600" y="4724400"/>
              <a:ext cx="76200" cy="304800"/>
            </a:xfrm>
            <a:prstGeom prst="line">
              <a:avLst/>
            </a:prstGeom>
            <a:ln w="9525" cap="flat" cmpd="sng">
              <a:solidFill>
                <a:schemeClr val="tx2"/>
              </a:solidFill>
              <a:prstDash val="solid"/>
              <a:headEnd type="none" w="med" len="med"/>
              <a:tailEnd type="none" w="med" len="med"/>
            </a:ln>
          </p:spPr>
        </p:sp>
        <p:sp>
          <p:nvSpPr>
            <p:cNvPr id="40100" name="Line 186"/>
            <p:cNvSpPr/>
            <p:nvPr/>
          </p:nvSpPr>
          <p:spPr>
            <a:xfrm>
              <a:off x="6248400" y="4343400"/>
              <a:ext cx="457200" cy="381000"/>
            </a:xfrm>
            <a:prstGeom prst="line">
              <a:avLst/>
            </a:prstGeom>
            <a:ln w="9525" cap="flat" cmpd="sng">
              <a:solidFill>
                <a:schemeClr val="tx2"/>
              </a:solidFill>
              <a:prstDash val="solid"/>
              <a:headEnd type="none" w="med" len="med"/>
              <a:tailEnd type="none" w="med" len="med"/>
            </a:ln>
          </p:spPr>
        </p:sp>
        <p:sp>
          <p:nvSpPr>
            <p:cNvPr id="40101" name="Line 187"/>
            <p:cNvSpPr/>
            <p:nvPr/>
          </p:nvSpPr>
          <p:spPr>
            <a:xfrm>
              <a:off x="6096000" y="4419600"/>
              <a:ext cx="609600" cy="304800"/>
            </a:xfrm>
            <a:prstGeom prst="line">
              <a:avLst/>
            </a:prstGeom>
            <a:ln w="9525" cap="flat" cmpd="sng">
              <a:solidFill>
                <a:schemeClr val="tx2"/>
              </a:solidFill>
              <a:prstDash val="solid"/>
              <a:headEnd type="none" w="med" len="med"/>
              <a:tailEnd type="none" w="med" len="med"/>
            </a:ln>
          </p:spPr>
        </p:sp>
        <p:sp>
          <p:nvSpPr>
            <p:cNvPr id="40102" name="Line 188"/>
            <p:cNvSpPr/>
            <p:nvPr/>
          </p:nvSpPr>
          <p:spPr>
            <a:xfrm>
              <a:off x="5638800" y="5867400"/>
              <a:ext cx="228600" cy="0"/>
            </a:xfrm>
            <a:prstGeom prst="line">
              <a:avLst/>
            </a:prstGeom>
            <a:ln w="9525" cap="flat" cmpd="sng">
              <a:solidFill>
                <a:srgbClr val="00FF00"/>
              </a:solidFill>
              <a:prstDash val="solid"/>
              <a:headEnd type="none" w="med" len="med"/>
              <a:tailEnd type="none" w="med" len="med"/>
            </a:ln>
          </p:spPr>
        </p:sp>
        <p:sp>
          <p:nvSpPr>
            <p:cNvPr id="40103" name="Line 189"/>
            <p:cNvSpPr/>
            <p:nvPr/>
          </p:nvSpPr>
          <p:spPr>
            <a:xfrm flipH="1">
              <a:off x="5562600" y="5791200"/>
              <a:ext cx="76200" cy="381000"/>
            </a:xfrm>
            <a:prstGeom prst="line">
              <a:avLst/>
            </a:prstGeom>
            <a:ln w="9525" cap="flat" cmpd="sng">
              <a:solidFill>
                <a:srgbClr val="00FF00"/>
              </a:solidFill>
              <a:prstDash val="solid"/>
              <a:headEnd type="none" w="med" len="med"/>
              <a:tailEnd type="none" w="med" len="med"/>
            </a:ln>
          </p:spPr>
        </p:sp>
        <p:sp>
          <p:nvSpPr>
            <p:cNvPr id="40104" name="Line 190"/>
            <p:cNvSpPr/>
            <p:nvPr/>
          </p:nvSpPr>
          <p:spPr>
            <a:xfrm>
              <a:off x="5638800" y="5791200"/>
              <a:ext cx="76200" cy="304800"/>
            </a:xfrm>
            <a:prstGeom prst="line">
              <a:avLst/>
            </a:prstGeom>
            <a:ln w="9525" cap="flat" cmpd="sng">
              <a:solidFill>
                <a:srgbClr val="00FF00"/>
              </a:solidFill>
              <a:prstDash val="solid"/>
              <a:headEnd type="none" w="med" len="med"/>
              <a:tailEnd type="none" w="med" len="med"/>
            </a:ln>
          </p:spPr>
        </p:sp>
        <p:sp>
          <p:nvSpPr>
            <p:cNvPr id="40105" name="Line 191"/>
            <p:cNvSpPr/>
            <p:nvPr/>
          </p:nvSpPr>
          <p:spPr>
            <a:xfrm flipH="1">
              <a:off x="5715000" y="5867400"/>
              <a:ext cx="152400" cy="304800"/>
            </a:xfrm>
            <a:prstGeom prst="line">
              <a:avLst/>
            </a:prstGeom>
            <a:ln w="9525" cap="flat" cmpd="sng">
              <a:solidFill>
                <a:srgbClr val="00FF00"/>
              </a:solidFill>
              <a:prstDash val="solid"/>
              <a:headEnd type="none" w="med" len="med"/>
              <a:tailEnd type="none" w="med" len="med"/>
            </a:ln>
          </p:spPr>
        </p:sp>
        <p:sp>
          <p:nvSpPr>
            <p:cNvPr id="40106" name="Line 192"/>
            <p:cNvSpPr/>
            <p:nvPr/>
          </p:nvSpPr>
          <p:spPr>
            <a:xfrm>
              <a:off x="5562600" y="6172200"/>
              <a:ext cx="152400" cy="0"/>
            </a:xfrm>
            <a:prstGeom prst="line">
              <a:avLst/>
            </a:prstGeom>
            <a:ln w="9525" cap="flat" cmpd="sng">
              <a:solidFill>
                <a:srgbClr val="00FF00"/>
              </a:solidFill>
              <a:prstDash val="solid"/>
              <a:headEnd type="none" w="med" len="med"/>
              <a:tailEnd type="none" w="med" len="med"/>
            </a:ln>
          </p:spPr>
        </p:sp>
        <p:sp>
          <p:nvSpPr>
            <p:cNvPr id="40107" name="Line 193"/>
            <p:cNvSpPr/>
            <p:nvPr/>
          </p:nvSpPr>
          <p:spPr>
            <a:xfrm flipH="1">
              <a:off x="5486400" y="6172200"/>
              <a:ext cx="76200" cy="152400"/>
            </a:xfrm>
            <a:prstGeom prst="line">
              <a:avLst/>
            </a:prstGeom>
            <a:ln w="9525" cap="flat" cmpd="sng">
              <a:solidFill>
                <a:srgbClr val="00FF00"/>
              </a:solidFill>
              <a:prstDash val="solid"/>
              <a:headEnd type="none" w="med" len="med"/>
              <a:tailEnd type="none" w="med" len="med"/>
            </a:ln>
          </p:spPr>
        </p:sp>
        <p:sp>
          <p:nvSpPr>
            <p:cNvPr id="40108" name="Line 194"/>
            <p:cNvSpPr/>
            <p:nvPr/>
          </p:nvSpPr>
          <p:spPr>
            <a:xfrm flipH="1">
              <a:off x="5638800" y="6096000"/>
              <a:ext cx="152400" cy="228600"/>
            </a:xfrm>
            <a:prstGeom prst="line">
              <a:avLst/>
            </a:prstGeom>
            <a:ln w="9525" cap="flat" cmpd="sng">
              <a:solidFill>
                <a:srgbClr val="00FF00"/>
              </a:solidFill>
              <a:prstDash val="solid"/>
              <a:headEnd type="none" w="med" len="med"/>
              <a:tailEnd type="none" w="med" len="med"/>
            </a:ln>
          </p:spPr>
        </p:sp>
        <p:sp>
          <p:nvSpPr>
            <p:cNvPr id="40109" name="Line 195"/>
            <p:cNvSpPr/>
            <p:nvPr/>
          </p:nvSpPr>
          <p:spPr>
            <a:xfrm>
              <a:off x="5486400" y="6324600"/>
              <a:ext cx="228600" cy="0"/>
            </a:xfrm>
            <a:prstGeom prst="line">
              <a:avLst/>
            </a:prstGeom>
            <a:ln w="9525" cap="flat" cmpd="sng">
              <a:solidFill>
                <a:srgbClr val="00FF00"/>
              </a:solidFill>
              <a:prstDash val="solid"/>
              <a:headEnd type="none" w="med" len="med"/>
              <a:tailEnd type="none" w="med" len="med"/>
            </a:ln>
          </p:spPr>
        </p:sp>
        <p:sp>
          <p:nvSpPr>
            <p:cNvPr id="40110" name="Line 196"/>
            <p:cNvSpPr/>
            <p:nvPr/>
          </p:nvSpPr>
          <p:spPr>
            <a:xfrm>
              <a:off x="4508500" y="4572000"/>
              <a:ext cx="76200" cy="304800"/>
            </a:xfrm>
            <a:prstGeom prst="line">
              <a:avLst/>
            </a:prstGeom>
            <a:ln w="9525" cap="flat" cmpd="sng">
              <a:solidFill>
                <a:srgbClr val="FF0000"/>
              </a:solidFill>
              <a:prstDash val="solid"/>
              <a:headEnd type="none" w="med" len="med"/>
              <a:tailEnd type="none" w="med" len="med"/>
            </a:ln>
          </p:spPr>
        </p:sp>
        <p:sp>
          <p:nvSpPr>
            <p:cNvPr id="40111" name="Line 197"/>
            <p:cNvSpPr/>
            <p:nvPr/>
          </p:nvSpPr>
          <p:spPr>
            <a:xfrm>
              <a:off x="4660900" y="4953000"/>
              <a:ext cx="304800" cy="228600"/>
            </a:xfrm>
            <a:prstGeom prst="line">
              <a:avLst/>
            </a:prstGeom>
            <a:ln w="9525" cap="flat" cmpd="sng">
              <a:solidFill>
                <a:srgbClr val="FF0000"/>
              </a:solidFill>
              <a:prstDash val="solid"/>
              <a:headEnd type="none" w="med" len="med"/>
              <a:tailEnd type="none" w="med" len="med"/>
            </a:ln>
          </p:spPr>
        </p:sp>
        <p:sp>
          <p:nvSpPr>
            <p:cNvPr id="40112" name="Line 198"/>
            <p:cNvSpPr/>
            <p:nvPr/>
          </p:nvSpPr>
          <p:spPr>
            <a:xfrm>
              <a:off x="4584700" y="4953000"/>
              <a:ext cx="152400" cy="381000"/>
            </a:xfrm>
            <a:prstGeom prst="line">
              <a:avLst/>
            </a:prstGeom>
            <a:ln w="9525" cap="flat" cmpd="sng">
              <a:solidFill>
                <a:srgbClr val="FF0000"/>
              </a:solidFill>
              <a:prstDash val="solid"/>
              <a:headEnd type="none" w="med" len="med"/>
              <a:tailEnd type="none" w="med" len="med"/>
            </a:ln>
          </p:spPr>
        </p:sp>
        <p:sp>
          <p:nvSpPr>
            <p:cNvPr id="40113" name="Line 199"/>
            <p:cNvSpPr/>
            <p:nvPr/>
          </p:nvSpPr>
          <p:spPr>
            <a:xfrm>
              <a:off x="4737100" y="5334000"/>
              <a:ext cx="304800" cy="228600"/>
            </a:xfrm>
            <a:prstGeom prst="line">
              <a:avLst/>
            </a:prstGeom>
            <a:ln w="9525" cap="flat" cmpd="sng">
              <a:solidFill>
                <a:srgbClr val="FF0000"/>
              </a:solidFill>
              <a:prstDash val="solid"/>
              <a:headEnd type="none" w="med" len="med"/>
              <a:tailEnd type="none" w="med" len="med"/>
            </a:ln>
          </p:spPr>
        </p:sp>
        <p:sp>
          <p:nvSpPr>
            <p:cNvPr id="40114" name="Line 200"/>
            <p:cNvSpPr/>
            <p:nvPr/>
          </p:nvSpPr>
          <p:spPr>
            <a:xfrm flipV="1">
              <a:off x="4737100" y="5257800"/>
              <a:ext cx="228600" cy="152400"/>
            </a:xfrm>
            <a:prstGeom prst="line">
              <a:avLst/>
            </a:prstGeom>
            <a:ln w="9525" cap="flat" cmpd="sng">
              <a:solidFill>
                <a:srgbClr val="FF0000"/>
              </a:solidFill>
              <a:prstDash val="solid"/>
              <a:headEnd type="none" w="med" len="med"/>
              <a:tailEnd type="none" w="med" len="med"/>
            </a:ln>
          </p:spPr>
        </p:sp>
        <p:sp>
          <p:nvSpPr>
            <p:cNvPr id="40115" name="Line 201"/>
            <p:cNvSpPr/>
            <p:nvPr/>
          </p:nvSpPr>
          <p:spPr>
            <a:xfrm>
              <a:off x="4279900" y="4953000"/>
              <a:ext cx="152400" cy="304800"/>
            </a:xfrm>
            <a:prstGeom prst="line">
              <a:avLst/>
            </a:prstGeom>
            <a:ln w="9525" cap="flat" cmpd="sng">
              <a:solidFill>
                <a:srgbClr val="FF0000"/>
              </a:solidFill>
              <a:prstDash val="solid"/>
              <a:headEnd type="none" w="med" len="med"/>
              <a:tailEnd type="none" w="med" len="med"/>
            </a:ln>
          </p:spPr>
        </p:sp>
        <p:sp>
          <p:nvSpPr>
            <p:cNvPr id="40116" name="Line 202"/>
            <p:cNvSpPr/>
            <p:nvPr/>
          </p:nvSpPr>
          <p:spPr>
            <a:xfrm flipH="1">
              <a:off x="4432300" y="4953000"/>
              <a:ext cx="152400" cy="304800"/>
            </a:xfrm>
            <a:prstGeom prst="line">
              <a:avLst/>
            </a:prstGeom>
            <a:ln w="9525" cap="flat" cmpd="sng">
              <a:solidFill>
                <a:srgbClr val="FF0000"/>
              </a:solidFill>
              <a:prstDash val="solid"/>
              <a:headEnd type="none" w="med" len="med"/>
              <a:tailEnd type="none" w="med" len="med"/>
            </a:ln>
          </p:spPr>
        </p:sp>
        <p:sp>
          <p:nvSpPr>
            <p:cNvPr id="40117" name="Line 203"/>
            <p:cNvSpPr/>
            <p:nvPr/>
          </p:nvSpPr>
          <p:spPr>
            <a:xfrm>
              <a:off x="4432300" y="5257800"/>
              <a:ext cx="0" cy="228600"/>
            </a:xfrm>
            <a:prstGeom prst="line">
              <a:avLst/>
            </a:prstGeom>
            <a:ln w="9525" cap="flat" cmpd="sng">
              <a:solidFill>
                <a:srgbClr val="FF0000"/>
              </a:solidFill>
              <a:prstDash val="solid"/>
              <a:headEnd type="none" w="med" len="med"/>
              <a:tailEnd type="none" w="med" len="med"/>
            </a:ln>
          </p:spPr>
        </p:sp>
        <p:sp>
          <p:nvSpPr>
            <p:cNvPr id="40118" name="Line 204"/>
            <p:cNvSpPr/>
            <p:nvPr/>
          </p:nvSpPr>
          <p:spPr>
            <a:xfrm>
              <a:off x="4432300" y="5562600"/>
              <a:ext cx="609600" cy="0"/>
            </a:xfrm>
            <a:prstGeom prst="line">
              <a:avLst/>
            </a:prstGeom>
            <a:ln w="9525" cap="flat" cmpd="sng">
              <a:solidFill>
                <a:srgbClr val="FF0000"/>
              </a:solidFill>
              <a:prstDash val="solid"/>
              <a:headEnd type="none" w="med" len="med"/>
              <a:tailEnd type="none" w="med" len="med"/>
            </a:ln>
          </p:spPr>
        </p:sp>
        <p:sp>
          <p:nvSpPr>
            <p:cNvPr id="40119" name="Line 205"/>
            <p:cNvSpPr/>
            <p:nvPr/>
          </p:nvSpPr>
          <p:spPr>
            <a:xfrm flipV="1">
              <a:off x="4432300" y="5410200"/>
              <a:ext cx="304800" cy="152400"/>
            </a:xfrm>
            <a:prstGeom prst="line">
              <a:avLst/>
            </a:prstGeom>
            <a:ln w="9525" cap="flat" cmpd="sng">
              <a:solidFill>
                <a:srgbClr val="FF0000"/>
              </a:solidFill>
              <a:prstDash val="solid"/>
              <a:headEnd type="none" w="med" len="med"/>
              <a:tailEnd type="none" w="med" len="med"/>
            </a:ln>
          </p:spPr>
        </p:sp>
        <p:sp>
          <p:nvSpPr>
            <p:cNvPr id="40120" name="Line 206"/>
            <p:cNvSpPr/>
            <p:nvPr/>
          </p:nvSpPr>
          <p:spPr>
            <a:xfrm>
              <a:off x="5562600" y="6172200"/>
              <a:ext cx="152400" cy="152400"/>
            </a:xfrm>
            <a:prstGeom prst="line">
              <a:avLst/>
            </a:prstGeom>
            <a:ln w="9525" cap="flat" cmpd="sng">
              <a:solidFill>
                <a:srgbClr val="00FF00"/>
              </a:solidFill>
              <a:prstDash val="solid"/>
              <a:headEnd type="none" w="med" len="med"/>
              <a:tailEnd type="none" w="med" len="med"/>
            </a:ln>
          </p:spPr>
        </p:sp>
        <p:sp>
          <p:nvSpPr>
            <p:cNvPr id="40121" name="Line 207"/>
            <p:cNvSpPr/>
            <p:nvPr/>
          </p:nvSpPr>
          <p:spPr>
            <a:xfrm flipV="1">
              <a:off x="6019800" y="4953000"/>
              <a:ext cx="533400" cy="152400"/>
            </a:xfrm>
            <a:prstGeom prst="line">
              <a:avLst/>
            </a:prstGeom>
            <a:ln w="9525" cap="flat" cmpd="sng">
              <a:solidFill>
                <a:schemeClr val="tx2"/>
              </a:solidFill>
              <a:prstDash val="solid"/>
              <a:headEnd type="none" w="med" len="med"/>
              <a:tailEnd type="none" w="med" len="med"/>
            </a:ln>
          </p:spPr>
        </p:sp>
        <p:sp>
          <p:nvSpPr>
            <p:cNvPr id="40122" name="Line 208"/>
            <p:cNvSpPr/>
            <p:nvPr/>
          </p:nvSpPr>
          <p:spPr>
            <a:xfrm>
              <a:off x="4432300" y="5181600"/>
              <a:ext cx="381000" cy="228600"/>
            </a:xfrm>
            <a:prstGeom prst="line">
              <a:avLst/>
            </a:prstGeom>
            <a:ln w="9525" cap="flat" cmpd="sng">
              <a:solidFill>
                <a:srgbClr val="FF0000"/>
              </a:solidFill>
              <a:prstDash val="solid"/>
              <a:headEnd type="none" w="med" len="med"/>
              <a:tailEnd type="none" w="med" len="med"/>
            </a:ln>
          </p:spPr>
        </p:sp>
        <p:sp>
          <p:nvSpPr>
            <p:cNvPr id="40123" name="Line 209"/>
            <p:cNvSpPr/>
            <p:nvPr/>
          </p:nvSpPr>
          <p:spPr>
            <a:xfrm flipH="1">
              <a:off x="5867400" y="4419600"/>
              <a:ext cx="228600" cy="381000"/>
            </a:xfrm>
            <a:prstGeom prst="line">
              <a:avLst/>
            </a:prstGeom>
            <a:ln w="9525" cap="flat" cmpd="sng">
              <a:solidFill>
                <a:schemeClr val="tx2"/>
              </a:solidFill>
              <a:prstDash val="solid"/>
              <a:headEnd type="none" w="med" len="med"/>
              <a:tailEnd type="none" w="med" len="med"/>
            </a:ln>
          </p:spPr>
        </p:sp>
        <p:sp>
          <p:nvSpPr>
            <p:cNvPr id="40124" name="Line 250"/>
            <p:cNvSpPr/>
            <p:nvPr/>
          </p:nvSpPr>
          <p:spPr>
            <a:xfrm>
              <a:off x="6248400" y="4114800"/>
              <a:ext cx="0" cy="228600"/>
            </a:xfrm>
            <a:prstGeom prst="line">
              <a:avLst/>
            </a:prstGeom>
            <a:ln w="9525" cap="flat" cmpd="sng">
              <a:solidFill>
                <a:schemeClr val="tx2"/>
              </a:solidFill>
              <a:prstDash val="solid"/>
              <a:headEnd type="none" w="med" len="med"/>
              <a:tailEnd type="none" w="med" len="med"/>
            </a:ln>
          </p:spPr>
        </p:sp>
        <p:sp>
          <p:nvSpPr>
            <p:cNvPr id="40125" name="Line 251"/>
            <p:cNvSpPr/>
            <p:nvPr/>
          </p:nvSpPr>
          <p:spPr>
            <a:xfrm flipV="1">
              <a:off x="5715000" y="4800600"/>
              <a:ext cx="152400" cy="76200"/>
            </a:xfrm>
            <a:prstGeom prst="line">
              <a:avLst/>
            </a:prstGeom>
            <a:ln w="9525" cap="flat" cmpd="sng">
              <a:solidFill>
                <a:schemeClr val="tx2"/>
              </a:solidFill>
              <a:prstDash val="solid"/>
              <a:headEnd type="none" w="med" len="med"/>
              <a:tailEnd type="none" w="med" len="med"/>
            </a:ln>
          </p:spPr>
        </p:sp>
        <p:sp>
          <p:nvSpPr>
            <p:cNvPr id="40126" name="Line 252"/>
            <p:cNvSpPr/>
            <p:nvPr/>
          </p:nvSpPr>
          <p:spPr>
            <a:xfrm>
              <a:off x="5791200" y="5029200"/>
              <a:ext cx="152400" cy="76200"/>
            </a:xfrm>
            <a:prstGeom prst="line">
              <a:avLst/>
            </a:prstGeom>
            <a:ln w="9525" cap="flat" cmpd="sng">
              <a:solidFill>
                <a:schemeClr val="tx2"/>
              </a:solidFill>
              <a:prstDash val="solid"/>
              <a:headEnd type="none" w="med" len="med"/>
              <a:tailEnd type="none" w="med" len="med"/>
            </a:ln>
          </p:spPr>
        </p:sp>
        <p:sp>
          <p:nvSpPr>
            <p:cNvPr id="40127" name="Line 253"/>
            <p:cNvSpPr/>
            <p:nvPr/>
          </p:nvSpPr>
          <p:spPr>
            <a:xfrm>
              <a:off x="5638800" y="4876800"/>
              <a:ext cx="152400" cy="152400"/>
            </a:xfrm>
            <a:prstGeom prst="line">
              <a:avLst/>
            </a:prstGeom>
            <a:ln w="9525" cap="flat" cmpd="sng">
              <a:solidFill>
                <a:schemeClr val="tx2"/>
              </a:solidFill>
              <a:prstDash val="solid"/>
              <a:headEnd type="none" w="med" len="med"/>
              <a:tailEnd type="none" w="med" len="med"/>
            </a:ln>
          </p:spPr>
        </p:sp>
        <p:sp>
          <p:nvSpPr>
            <p:cNvPr id="40128" name="Line 254"/>
            <p:cNvSpPr/>
            <p:nvPr/>
          </p:nvSpPr>
          <p:spPr>
            <a:xfrm flipV="1">
              <a:off x="5791200" y="4876800"/>
              <a:ext cx="76200" cy="152400"/>
            </a:xfrm>
            <a:prstGeom prst="line">
              <a:avLst/>
            </a:prstGeom>
            <a:ln w="9525" cap="flat" cmpd="sng">
              <a:solidFill>
                <a:schemeClr val="tx2"/>
              </a:solidFill>
              <a:prstDash val="solid"/>
              <a:headEnd type="none" w="med" len="med"/>
              <a:tailEnd type="none" w="med" len="med"/>
            </a:ln>
          </p:spPr>
        </p:sp>
        <p:sp>
          <p:nvSpPr>
            <p:cNvPr id="40129" name="Line 255"/>
            <p:cNvSpPr/>
            <p:nvPr/>
          </p:nvSpPr>
          <p:spPr>
            <a:xfrm flipV="1">
              <a:off x="5029200" y="5257800"/>
              <a:ext cx="0" cy="228600"/>
            </a:xfrm>
            <a:prstGeom prst="line">
              <a:avLst/>
            </a:prstGeom>
            <a:ln w="9525" cap="flat" cmpd="sng">
              <a:solidFill>
                <a:srgbClr val="FF0000"/>
              </a:solidFill>
              <a:prstDash val="solid"/>
              <a:headEnd type="none" w="med" len="med"/>
              <a:tailEnd type="none" w="med" len="med"/>
            </a:ln>
          </p:spPr>
        </p:sp>
        <p:sp>
          <p:nvSpPr>
            <p:cNvPr id="40130" name="Line 257"/>
            <p:cNvSpPr/>
            <p:nvPr/>
          </p:nvSpPr>
          <p:spPr>
            <a:xfrm flipV="1">
              <a:off x="6553200" y="4724400"/>
              <a:ext cx="152400" cy="228600"/>
            </a:xfrm>
            <a:prstGeom prst="line">
              <a:avLst/>
            </a:prstGeom>
            <a:ln w="9525" cap="flat" cmpd="sng">
              <a:solidFill>
                <a:schemeClr val="tx2"/>
              </a:solidFill>
              <a:prstDash val="solid"/>
              <a:headEnd type="none" w="med" len="med"/>
              <a:tailEnd type="none" w="med" len="med"/>
            </a:ln>
          </p:spPr>
        </p:sp>
        <p:sp>
          <p:nvSpPr>
            <p:cNvPr id="40131" name="Line 258"/>
            <p:cNvSpPr/>
            <p:nvPr/>
          </p:nvSpPr>
          <p:spPr>
            <a:xfrm flipH="1">
              <a:off x="5638800" y="5638800"/>
              <a:ext cx="76200" cy="228600"/>
            </a:xfrm>
            <a:prstGeom prst="line">
              <a:avLst/>
            </a:prstGeom>
            <a:ln w="9525" cap="flat" cmpd="sng">
              <a:solidFill>
                <a:srgbClr val="00FF00"/>
              </a:solidFill>
              <a:prstDash val="solid"/>
              <a:headEnd type="none" w="med" len="med"/>
              <a:tailEnd type="none" w="med" len="med"/>
            </a:ln>
          </p:spPr>
        </p:sp>
        <p:sp>
          <p:nvSpPr>
            <p:cNvPr id="40132" name="Line 259"/>
            <p:cNvSpPr/>
            <p:nvPr/>
          </p:nvSpPr>
          <p:spPr>
            <a:xfrm>
              <a:off x="5715000" y="5638800"/>
              <a:ext cx="152400" cy="228600"/>
            </a:xfrm>
            <a:prstGeom prst="line">
              <a:avLst/>
            </a:prstGeom>
            <a:ln w="9525" cap="flat" cmpd="sng">
              <a:solidFill>
                <a:srgbClr val="00FF00"/>
              </a:solidFill>
              <a:prstDash val="solid"/>
              <a:headEnd type="none" w="med" len="med"/>
              <a:tailEnd type="none" w="med" len="med"/>
            </a:ln>
          </p:spPr>
        </p:sp>
      </p:grpSp>
      <p:grpSp>
        <p:nvGrpSpPr>
          <p:cNvPr id="39954" name="Group 270"/>
          <p:cNvGrpSpPr/>
          <p:nvPr/>
        </p:nvGrpSpPr>
        <p:grpSpPr>
          <a:xfrm>
            <a:off x="1905000" y="1689100"/>
            <a:ext cx="2895600" cy="2336800"/>
            <a:chOff x="1905000" y="1689100"/>
            <a:chExt cx="2895600" cy="2336800"/>
          </a:xfrm>
        </p:grpSpPr>
        <p:sp>
          <p:nvSpPr>
            <p:cNvPr id="39958" name="Oval 3"/>
            <p:cNvSpPr/>
            <p:nvPr/>
          </p:nvSpPr>
          <p:spPr>
            <a:xfrm>
              <a:off x="2603500" y="17526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59" name="Oval 4"/>
            <p:cNvSpPr/>
            <p:nvPr/>
          </p:nvSpPr>
          <p:spPr>
            <a:xfrm>
              <a:off x="2438400" y="19177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60" name="Oval 5"/>
            <p:cNvSpPr/>
            <p:nvPr/>
          </p:nvSpPr>
          <p:spPr>
            <a:xfrm>
              <a:off x="2667000" y="20701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61" name="Line 6"/>
            <p:cNvSpPr/>
            <p:nvPr/>
          </p:nvSpPr>
          <p:spPr>
            <a:xfrm flipV="1">
              <a:off x="2438400" y="1752600"/>
              <a:ext cx="228600" cy="228600"/>
            </a:xfrm>
            <a:prstGeom prst="line">
              <a:avLst/>
            </a:prstGeom>
            <a:ln w="9525" cap="flat" cmpd="sng">
              <a:solidFill>
                <a:schemeClr val="tx1"/>
              </a:solidFill>
              <a:prstDash val="solid"/>
              <a:headEnd type="none" w="med" len="med"/>
              <a:tailEnd type="none" w="med" len="med"/>
            </a:ln>
          </p:spPr>
        </p:sp>
        <p:sp>
          <p:nvSpPr>
            <p:cNvPr id="39962" name="Oval 7"/>
            <p:cNvSpPr/>
            <p:nvPr/>
          </p:nvSpPr>
          <p:spPr>
            <a:xfrm>
              <a:off x="2451100" y="22225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63" name="Oval 8"/>
            <p:cNvSpPr/>
            <p:nvPr/>
          </p:nvSpPr>
          <p:spPr>
            <a:xfrm>
              <a:off x="2133600" y="22860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64" name="Line 9"/>
            <p:cNvSpPr/>
            <p:nvPr/>
          </p:nvSpPr>
          <p:spPr>
            <a:xfrm flipH="1">
              <a:off x="2133600" y="1981200"/>
              <a:ext cx="304800" cy="304800"/>
            </a:xfrm>
            <a:prstGeom prst="line">
              <a:avLst/>
            </a:prstGeom>
            <a:ln w="9525" cap="flat" cmpd="sng">
              <a:solidFill>
                <a:schemeClr val="tx1"/>
              </a:solidFill>
              <a:prstDash val="solid"/>
              <a:headEnd type="none" w="med" len="med"/>
              <a:tailEnd type="none" w="med" len="med"/>
            </a:ln>
          </p:spPr>
        </p:sp>
        <p:sp>
          <p:nvSpPr>
            <p:cNvPr id="39965" name="Line 10"/>
            <p:cNvSpPr/>
            <p:nvPr/>
          </p:nvSpPr>
          <p:spPr>
            <a:xfrm>
              <a:off x="2438400" y="1981200"/>
              <a:ext cx="76200" cy="304800"/>
            </a:xfrm>
            <a:prstGeom prst="line">
              <a:avLst/>
            </a:prstGeom>
            <a:ln w="9525" cap="flat" cmpd="sng">
              <a:solidFill>
                <a:schemeClr val="tx1"/>
              </a:solidFill>
              <a:prstDash val="solid"/>
              <a:headEnd type="none" w="med" len="med"/>
              <a:tailEnd type="none" w="med" len="med"/>
            </a:ln>
          </p:spPr>
        </p:sp>
        <p:sp>
          <p:nvSpPr>
            <p:cNvPr id="39966" name="Line 11"/>
            <p:cNvSpPr/>
            <p:nvPr/>
          </p:nvSpPr>
          <p:spPr>
            <a:xfrm flipH="1">
              <a:off x="2514600" y="2133600"/>
              <a:ext cx="152400" cy="76200"/>
            </a:xfrm>
            <a:prstGeom prst="line">
              <a:avLst/>
            </a:prstGeom>
            <a:ln w="9525" cap="flat" cmpd="sng">
              <a:solidFill>
                <a:schemeClr val="tx1"/>
              </a:solidFill>
              <a:prstDash val="solid"/>
              <a:headEnd type="none" w="med" len="med"/>
              <a:tailEnd type="none" w="med" len="med"/>
            </a:ln>
          </p:spPr>
        </p:sp>
        <p:sp>
          <p:nvSpPr>
            <p:cNvPr id="39967" name="Oval 12"/>
            <p:cNvSpPr/>
            <p:nvPr/>
          </p:nvSpPr>
          <p:spPr>
            <a:xfrm>
              <a:off x="2222500" y="25273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68" name="Oval 13"/>
            <p:cNvSpPr/>
            <p:nvPr/>
          </p:nvSpPr>
          <p:spPr>
            <a:xfrm>
              <a:off x="1905000" y="25146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69" name="Oval 14"/>
            <p:cNvSpPr/>
            <p:nvPr/>
          </p:nvSpPr>
          <p:spPr>
            <a:xfrm>
              <a:off x="2590800" y="25273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70" name="Oval 15"/>
            <p:cNvSpPr/>
            <p:nvPr/>
          </p:nvSpPr>
          <p:spPr>
            <a:xfrm>
              <a:off x="2374900" y="28194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71" name="Oval 16"/>
            <p:cNvSpPr/>
            <p:nvPr/>
          </p:nvSpPr>
          <p:spPr>
            <a:xfrm>
              <a:off x="2438400" y="31369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72" name="Oval 17"/>
            <p:cNvSpPr/>
            <p:nvPr/>
          </p:nvSpPr>
          <p:spPr>
            <a:xfrm>
              <a:off x="2755900" y="29718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73" name="Line 18"/>
            <p:cNvSpPr/>
            <p:nvPr/>
          </p:nvSpPr>
          <p:spPr>
            <a:xfrm>
              <a:off x="2133600" y="2286000"/>
              <a:ext cx="152400" cy="304800"/>
            </a:xfrm>
            <a:prstGeom prst="line">
              <a:avLst/>
            </a:prstGeom>
            <a:ln w="9525" cap="flat" cmpd="sng">
              <a:solidFill>
                <a:schemeClr val="tx1"/>
              </a:solidFill>
              <a:prstDash val="solid"/>
              <a:headEnd type="none" w="med" len="med"/>
              <a:tailEnd type="none" w="med" len="med"/>
            </a:ln>
          </p:spPr>
        </p:sp>
        <p:sp>
          <p:nvSpPr>
            <p:cNvPr id="39974" name="Line 19"/>
            <p:cNvSpPr/>
            <p:nvPr/>
          </p:nvSpPr>
          <p:spPr>
            <a:xfrm flipH="1">
              <a:off x="1905000" y="2286000"/>
              <a:ext cx="228600" cy="228600"/>
            </a:xfrm>
            <a:prstGeom prst="line">
              <a:avLst/>
            </a:prstGeom>
            <a:ln w="9525" cap="flat" cmpd="sng">
              <a:solidFill>
                <a:schemeClr val="tx1"/>
              </a:solidFill>
              <a:prstDash val="solid"/>
              <a:headEnd type="none" w="med" len="med"/>
              <a:tailEnd type="none" w="med" len="med"/>
            </a:ln>
          </p:spPr>
        </p:sp>
        <p:sp>
          <p:nvSpPr>
            <p:cNvPr id="39975" name="Line 20"/>
            <p:cNvSpPr/>
            <p:nvPr/>
          </p:nvSpPr>
          <p:spPr>
            <a:xfrm>
              <a:off x="1905000" y="2514600"/>
              <a:ext cx="381000" cy="76200"/>
            </a:xfrm>
            <a:prstGeom prst="line">
              <a:avLst/>
            </a:prstGeom>
            <a:ln w="9525" cap="flat" cmpd="sng">
              <a:solidFill>
                <a:schemeClr val="tx1"/>
              </a:solidFill>
              <a:prstDash val="solid"/>
              <a:headEnd type="none" w="med" len="med"/>
              <a:tailEnd type="none" w="med" len="med"/>
            </a:ln>
          </p:spPr>
        </p:sp>
        <p:sp>
          <p:nvSpPr>
            <p:cNvPr id="39976" name="Line 21"/>
            <p:cNvSpPr/>
            <p:nvPr/>
          </p:nvSpPr>
          <p:spPr>
            <a:xfrm flipV="1">
              <a:off x="2286000" y="2209800"/>
              <a:ext cx="228600" cy="381000"/>
            </a:xfrm>
            <a:prstGeom prst="line">
              <a:avLst/>
            </a:prstGeom>
            <a:ln w="9525" cap="flat" cmpd="sng">
              <a:solidFill>
                <a:schemeClr val="tx1"/>
              </a:solidFill>
              <a:prstDash val="solid"/>
              <a:headEnd type="none" w="med" len="med"/>
              <a:tailEnd type="none" w="med" len="med"/>
            </a:ln>
          </p:spPr>
        </p:sp>
        <p:sp>
          <p:nvSpPr>
            <p:cNvPr id="39977" name="Oval 22"/>
            <p:cNvSpPr/>
            <p:nvPr/>
          </p:nvSpPr>
          <p:spPr>
            <a:xfrm>
              <a:off x="2971800" y="28194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78" name="Oval 23"/>
            <p:cNvSpPr/>
            <p:nvPr/>
          </p:nvSpPr>
          <p:spPr>
            <a:xfrm>
              <a:off x="3048000" y="31369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79" name="Oval 24"/>
            <p:cNvSpPr/>
            <p:nvPr/>
          </p:nvSpPr>
          <p:spPr>
            <a:xfrm>
              <a:off x="4051300" y="18288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80" name="Oval 25"/>
            <p:cNvSpPr/>
            <p:nvPr/>
          </p:nvSpPr>
          <p:spPr>
            <a:xfrm>
              <a:off x="3657600" y="25146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81" name="Oval 26"/>
            <p:cNvSpPr/>
            <p:nvPr/>
          </p:nvSpPr>
          <p:spPr>
            <a:xfrm>
              <a:off x="4267200" y="16891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82" name="Oval 27"/>
            <p:cNvSpPr/>
            <p:nvPr/>
          </p:nvSpPr>
          <p:spPr>
            <a:xfrm>
              <a:off x="4267200" y="19812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83" name="Oval 28"/>
            <p:cNvSpPr/>
            <p:nvPr/>
          </p:nvSpPr>
          <p:spPr>
            <a:xfrm>
              <a:off x="4114800" y="20574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84" name="Oval 29"/>
            <p:cNvSpPr/>
            <p:nvPr/>
          </p:nvSpPr>
          <p:spPr>
            <a:xfrm>
              <a:off x="3822700" y="24384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85" name="Oval 30"/>
            <p:cNvSpPr/>
            <p:nvPr/>
          </p:nvSpPr>
          <p:spPr>
            <a:xfrm>
              <a:off x="3810000" y="26670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86" name="Oval 31"/>
            <p:cNvSpPr/>
            <p:nvPr/>
          </p:nvSpPr>
          <p:spPr>
            <a:xfrm>
              <a:off x="3975100" y="27432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87" name="Oval 32"/>
            <p:cNvSpPr/>
            <p:nvPr/>
          </p:nvSpPr>
          <p:spPr>
            <a:xfrm>
              <a:off x="3886200" y="28194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88" name="Line 33"/>
            <p:cNvSpPr/>
            <p:nvPr/>
          </p:nvSpPr>
          <p:spPr>
            <a:xfrm flipV="1">
              <a:off x="3048000" y="2514600"/>
              <a:ext cx="685800" cy="304800"/>
            </a:xfrm>
            <a:prstGeom prst="line">
              <a:avLst/>
            </a:prstGeom>
            <a:ln w="9525" cap="flat" cmpd="sng">
              <a:solidFill>
                <a:schemeClr val="tx1"/>
              </a:solidFill>
              <a:prstDash val="solid"/>
              <a:headEnd type="none" w="med" len="med"/>
              <a:tailEnd type="none" w="med" len="med"/>
            </a:ln>
          </p:spPr>
        </p:sp>
        <p:sp>
          <p:nvSpPr>
            <p:cNvPr id="39989" name="Line 34"/>
            <p:cNvSpPr/>
            <p:nvPr/>
          </p:nvSpPr>
          <p:spPr>
            <a:xfrm flipV="1">
              <a:off x="3733800" y="1828800"/>
              <a:ext cx="381000" cy="685800"/>
            </a:xfrm>
            <a:prstGeom prst="line">
              <a:avLst/>
            </a:prstGeom>
            <a:ln w="9525" cap="flat" cmpd="sng">
              <a:solidFill>
                <a:schemeClr val="tx1"/>
              </a:solidFill>
              <a:prstDash val="solid"/>
              <a:headEnd type="none" w="med" len="med"/>
              <a:tailEnd type="none" w="med" len="med"/>
            </a:ln>
          </p:spPr>
        </p:sp>
        <p:sp>
          <p:nvSpPr>
            <p:cNvPr id="39990" name="Line 35"/>
            <p:cNvSpPr/>
            <p:nvPr/>
          </p:nvSpPr>
          <p:spPr>
            <a:xfrm flipV="1">
              <a:off x="4114800" y="1752600"/>
              <a:ext cx="152400" cy="76200"/>
            </a:xfrm>
            <a:prstGeom prst="line">
              <a:avLst/>
            </a:prstGeom>
            <a:ln w="9525" cap="flat" cmpd="sng">
              <a:solidFill>
                <a:schemeClr val="tx1"/>
              </a:solidFill>
              <a:prstDash val="solid"/>
              <a:headEnd type="none" w="med" len="med"/>
              <a:tailEnd type="none" w="med" len="med"/>
            </a:ln>
          </p:spPr>
        </p:sp>
        <p:sp>
          <p:nvSpPr>
            <p:cNvPr id="39991" name="Line 36"/>
            <p:cNvSpPr/>
            <p:nvPr/>
          </p:nvSpPr>
          <p:spPr>
            <a:xfrm>
              <a:off x="4114800" y="1828800"/>
              <a:ext cx="152400" cy="152400"/>
            </a:xfrm>
            <a:prstGeom prst="line">
              <a:avLst/>
            </a:prstGeom>
            <a:ln w="9525" cap="flat" cmpd="sng">
              <a:solidFill>
                <a:schemeClr val="tx1"/>
              </a:solidFill>
              <a:prstDash val="solid"/>
              <a:headEnd type="none" w="med" len="med"/>
              <a:tailEnd type="none" w="med" len="med"/>
            </a:ln>
          </p:spPr>
        </p:sp>
        <p:sp>
          <p:nvSpPr>
            <p:cNvPr id="39992" name="Line 37"/>
            <p:cNvSpPr/>
            <p:nvPr/>
          </p:nvSpPr>
          <p:spPr>
            <a:xfrm>
              <a:off x="4114800" y="1828800"/>
              <a:ext cx="0" cy="228600"/>
            </a:xfrm>
            <a:prstGeom prst="line">
              <a:avLst/>
            </a:prstGeom>
            <a:ln w="9525" cap="flat" cmpd="sng">
              <a:solidFill>
                <a:schemeClr val="tx1"/>
              </a:solidFill>
              <a:prstDash val="solid"/>
              <a:headEnd type="none" w="med" len="med"/>
              <a:tailEnd type="none" w="med" len="med"/>
            </a:ln>
          </p:spPr>
        </p:sp>
        <p:sp>
          <p:nvSpPr>
            <p:cNvPr id="39993" name="Line 38"/>
            <p:cNvSpPr/>
            <p:nvPr/>
          </p:nvSpPr>
          <p:spPr>
            <a:xfrm flipV="1">
              <a:off x="4114800" y="1981200"/>
              <a:ext cx="152400" cy="76200"/>
            </a:xfrm>
            <a:prstGeom prst="line">
              <a:avLst/>
            </a:prstGeom>
            <a:ln w="9525" cap="flat" cmpd="sng">
              <a:solidFill>
                <a:schemeClr val="tx1"/>
              </a:solidFill>
              <a:prstDash val="solid"/>
              <a:headEnd type="none" w="med" len="med"/>
              <a:tailEnd type="none" w="med" len="med"/>
            </a:ln>
          </p:spPr>
        </p:sp>
        <p:sp>
          <p:nvSpPr>
            <p:cNvPr id="39994" name="Line 39"/>
            <p:cNvSpPr/>
            <p:nvPr/>
          </p:nvSpPr>
          <p:spPr>
            <a:xfrm>
              <a:off x="3810000" y="2667000"/>
              <a:ext cx="76200" cy="152400"/>
            </a:xfrm>
            <a:prstGeom prst="line">
              <a:avLst/>
            </a:prstGeom>
            <a:ln w="9525" cap="flat" cmpd="sng">
              <a:solidFill>
                <a:schemeClr val="tx1"/>
              </a:solidFill>
              <a:prstDash val="solid"/>
              <a:headEnd type="none" w="med" len="med"/>
              <a:tailEnd type="none" w="med" len="med"/>
            </a:ln>
          </p:spPr>
        </p:sp>
        <p:sp>
          <p:nvSpPr>
            <p:cNvPr id="39995" name="Oval 40"/>
            <p:cNvSpPr/>
            <p:nvPr/>
          </p:nvSpPr>
          <p:spPr>
            <a:xfrm>
              <a:off x="4508500" y="25273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96" name="Oval 41"/>
            <p:cNvSpPr/>
            <p:nvPr/>
          </p:nvSpPr>
          <p:spPr>
            <a:xfrm>
              <a:off x="4737100" y="26035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97" name="Oval 42"/>
            <p:cNvSpPr/>
            <p:nvPr/>
          </p:nvSpPr>
          <p:spPr>
            <a:xfrm>
              <a:off x="3670300" y="32766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98" name="Oval 43"/>
            <p:cNvSpPr/>
            <p:nvPr/>
          </p:nvSpPr>
          <p:spPr>
            <a:xfrm>
              <a:off x="3581400" y="34290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39999" name="Oval 44"/>
            <p:cNvSpPr/>
            <p:nvPr/>
          </p:nvSpPr>
          <p:spPr>
            <a:xfrm>
              <a:off x="3810000" y="35052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00" name="Oval 45"/>
            <p:cNvSpPr/>
            <p:nvPr/>
          </p:nvSpPr>
          <p:spPr>
            <a:xfrm>
              <a:off x="3657600" y="37338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01" name="Oval 46"/>
            <p:cNvSpPr/>
            <p:nvPr/>
          </p:nvSpPr>
          <p:spPr>
            <a:xfrm>
              <a:off x="4660900" y="23622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02" name="Oval 47"/>
            <p:cNvSpPr/>
            <p:nvPr/>
          </p:nvSpPr>
          <p:spPr>
            <a:xfrm>
              <a:off x="3581400" y="38989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03" name="Oval 48"/>
            <p:cNvSpPr/>
            <p:nvPr/>
          </p:nvSpPr>
          <p:spPr>
            <a:xfrm>
              <a:off x="3441700" y="38100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04" name="Oval 49"/>
            <p:cNvSpPr/>
            <p:nvPr/>
          </p:nvSpPr>
          <p:spPr>
            <a:xfrm>
              <a:off x="3365500" y="3962400"/>
              <a:ext cx="63500" cy="63500"/>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0005" name="Line 50"/>
            <p:cNvSpPr/>
            <p:nvPr/>
          </p:nvSpPr>
          <p:spPr>
            <a:xfrm>
              <a:off x="4572000" y="2590800"/>
              <a:ext cx="228600" cy="76200"/>
            </a:xfrm>
            <a:prstGeom prst="line">
              <a:avLst/>
            </a:prstGeom>
            <a:ln w="9525" cap="flat" cmpd="sng">
              <a:solidFill>
                <a:schemeClr val="tx1"/>
              </a:solidFill>
              <a:prstDash val="solid"/>
              <a:headEnd type="none" w="med" len="med"/>
              <a:tailEnd type="none" w="med" len="med"/>
            </a:ln>
          </p:spPr>
        </p:sp>
        <p:sp>
          <p:nvSpPr>
            <p:cNvPr id="40006" name="Line 51"/>
            <p:cNvSpPr/>
            <p:nvPr/>
          </p:nvSpPr>
          <p:spPr>
            <a:xfrm>
              <a:off x="4724400" y="2362200"/>
              <a:ext cx="76200" cy="304800"/>
            </a:xfrm>
            <a:prstGeom prst="line">
              <a:avLst/>
            </a:prstGeom>
            <a:ln w="9525" cap="flat" cmpd="sng">
              <a:solidFill>
                <a:schemeClr val="tx1"/>
              </a:solidFill>
              <a:prstDash val="solid"/>
              <a:headEnd type="none" w="med" len="med"/>
              <a:tailEnd type="none" w="med" len="med"/>
            </a:ln>
          </p:spPr>
        </p:sp>
        <p:sp>
          <p:nvSpPr>
            <p:cNvPr id="40007" name="Line 52"/>
            <p:cNvSpPr/>
            <p:nvPr/>
          </p:nvSpPr>
          <p:spPr>
            <a:xfrm>
              <a:off x="4267200" y="1981200"/>
              <a:ext cx="457200" cy="381000"/>
            </a:xfrm>
            <a:prstGeom prst="line">
              <a:avLst/>
            </a:prstGeom>
            <a:ln w="9525" cap="flat" cmpd="sng">
              <a:solidFill>
                <a:schemeClr val="tx1"/>
              </a:solidFill>
              <a:prstDash val="solid"/>
              <a:headEnd type="none" w="med" len="med"/>
              <a:tailEnd type="none" w="med" len="med"/>
            </a:ln>
          </p:spPr>
        </p:sp>
        <p:sp>
          <p:nvSpPr>
            <p:cNvPr id="40008" name="Line 53"/>
            <p:cNvSpPr/>
            <p:nvPr/>
          </p:nvSpPr>
          <p:spPr>
            <a:xfrm>
              <a:off x="4114800" y="2057400"/>
              <a:ext cx="609600" cy="304800"/>
            </a:xfrm>
            <a:prstGeom prst="line">
              <a:avLst/>
            </a:prstGeom>
            <a:ln w="9525" cap="flat" cmpd="sng">
              <a:solidFill>
                <a:schemeClr val="tx1"/>
              </a:solidFill>
              <a:prstDash val="solid"/>
              <a:headEnd type="none" w="med" len="med"/>
              <a:tailEnd type="none" w="med" len="med"/>
            </a:ln>
          </p:spPr>
        </p:sp>
        <p:sp>
          <p:nvSpPr>
            <p:cNvPr id="40009" name="Line 54"/>
            <p:cNvSpPr/>
            <p:nvPr/>
          </p:nvSpPr>
          <p:spPr>
            <a:xfrm flipV="1">
              <a:off x="3048000" y="2667000"/>
              <a:ext cx="762000" cy="152400"/>
            </a:xfrm>
            <a:prstGeom prst="line">
              <a:avLst/>
            </a:prstGeom>
            <a:ln w="9525" cap="flat" cmpd="sng">
              <a:solidFill>
                <a:schemeClr val="tx1"/>
              </a:solidFill>
              <a:prstDash val="solid"/>
              <a:headEnd type="none" w="med" len="med"/>
              <a:tailEnd type="none" w="med" len="med"/>
            </a:ln>
          </p:spPr>
        </p:sp>
        <p:sp>
          <p:nvSpPr>
            <p:cNvPr id="40010" name="Line 55"/>
            <p:cNvSpPr/>
            <p:nvPr/>
          </p:nvSpPr>
          <p:spPr>
            <a:xfrm>
              <a:off x="3048000" y="3200400"/>
              <a:ext cx="533400" cy="228600"/>
            </a:xfrm>
            <a:prstGeom prst="line">
              <a:avLst/>
            </a:prstGeom>
            <a:ln w="9525" cap="flat" cmpd="sng">
              <a:solidFill>
                <a:schemeClr val="tx1"/>
              </a:solidFill>
              <a:prstDash val="solid"/>
              <a:headEnd type="none" w="med" len="med"/>
              <a:tailEnd type="none" w="med" len="med"/>
            </a:ln>
          </p:spPr>
        </p:sp>
        <p:sp>
          <p:nvSpPr>
            <p:cNvPr id="40011" name="Line 56"/>
            <p:cNvSpPr/>
            <p:nvPr/>
          </p:nvSpPr>
          <p:spPr>
            <a:xfrm flipH="1">
              <a:off x="3505200" y="3429000"/>
              <a:ext cx="76200" cy="381000"/>
            </a:xfrm>
            <a:prstGeom prst="line">
              <a:avLst/>
            </a:prstGeom>
            <a:ln w="9525" cap="flat" cmpd="sng">
              <a:solidFill>
                <a:schemeClr val="tx1"/>
              </a:solidFill>
              <a:prstDash val="solid"/>
              <a:headEnd type="none" w="med" len="med"/>
              <a:tailEnd type="none" w="med" len="med"/>
            </a:ln>
          </p:spPr>
        </p:sp>
        <p:sp>
          <p:nvSpPr>
            <p:cNvPr id="40012" name="Line 57"/>
            <p:cNvSpPr/>
            <p:nvPr/>
          </p:nvSpPr>
          <p:spPr>
            <a:xfrm>
              <a:off x="3581400" y="3429000"/>
              <a:ext cx="76200" cy="304800"/>
            </a:xfrm>
            <a:prstGeom prst="line">
              <a:avLst/>
            </a:prstGeom>
            <a:ln w="9525" cap="flat" cmpd="sng">
              <a:solidFill>
                <a:schemeClr val="tx1"/>
              </a:solidFill>
              <a:prstDash val="solid"/>
              <a:headEnd type="none" w="med" len="med"/>
              <a:tailEnd type="none" w="med" len="med"/>
            </a:ln>
          </p:spPr>
        </p:sp>
        <p:sp>
          <p:nvSpPr>
            <p:cNvPr id="40013" name="Line 58"/>
            <p:cNvSpPr/>
            <p:nvPr/>
          </p:nvSpPr>
          <p:spPr>
            <a:xfrm flipH="1">
              <a:off x="3657600" y="3505200"/>
              <a:ext cx="152400" cy="304800"/>
            </a:xfrm>
            <a:prstGeom prst="line">
              <a:avLst/>
            </a:prstGeom>
            <a:ln w="9525" cap="flat" cmpd="sng">
              <a:solidFill>
                <a:schemeClr val="tx1"/>
              </a:solidFill>
              <a:prstDash val="solid"/>
              <a:headEnd type="none" w="med" len="med"/>
              <a:tailEnd type="none" w="med" len="med"/>
            </a:ln>
          </p:spPr>
        </p:sp>
        <p:sp>
          <p:nvSpPr>
            <p:cNvPr id="40014" name="Line 59"/>
            <p:cNvSpPr/>
            <p:nvPr/>
          </p:nvSpPr>
          <p:spPr>
            <a:xfrm>
              <a:off x="3505200" y="3810000"/>
              <a:ext cx="152400" cy="0"/>
            </a:xfrm>
            <a:prstGeom prst="line">
              <a:avLst/>
            </a:prstGeom>
            <a:ln w="9525" cap="flat" cmpd="sng">
              <a:solidFill>
                <a:schemeClr val="tx1"/>
              </a:solidFill>
              <a:prstDash val="solid"/>
              <a:headEnd type="none" w="med" len="med"/>
              <a:tailEnd type="none" w="med" len="med"/>
            </a:ln>
          </p:spPr>
        </p:sp>
        <p:sp>
          <p:nvSpPr>
            <p:cNvPr id="40015" name="Line 60"/>
            <p:cNvSpPr/>
            <p:nvPr/>
          </p:nvSpPr>
          <p:spPr>
            <a:xfrm flipH="1">
              <a:off x="3429000" y="3810000"/>
              <a:ext cx="76200" cy="152400"/>
            </a:xfrm>
            <a:prstGeom prst="line">
              <a:avLst/>
            </a:prstGeom>
            <a:ln w="9525" cap="flat" cmpd="sng">
              <a:solidFill>
                <a:schemeClr val="tx1"/>
              </a:solidFill>
              <a:prstDash val="solid"/>
              <a:headEnd type="none" w="med" len="med"/>
              <a:tailEnd type="none" w="med" len="med"/>
            </a:ln>
          </p:spPr>
        </p:sp>
        <p:sp>
          <p:nvSpPr>
            <p:cNvPr id="40016" name="Line 61"/>
            <p:cNvSpPr/>
            <p:nvPr/>
          </p:nvSpPr>
          <p:spPr>
            <a:xfrm>
              <a:off x="2514600" y="2209800"/>
              <a:ext cx="76200" cy="304800"/>
            </a:xfrm>
            <a:prstGeom prst="line">
              <a:avLst/>
            </a:prstGeom>
            <a:ln w="9525" cap="flat" cmpd="sng">
              <a:solidFill>
                <a:schemeClr val="tx1"/>
              </a:solidFill>
              <a:prstDash val="solid"/>
              <a:headEnd type="none" w="med" len="med"/>
              <a:tailEnd type="none" w="med" len="med"/>
            </a:ln>
          </p:spPr>
        </p:sp>
        <p:sp>
          <p:nvSpPr>
            <p:cNvPr id="40017" name="Line 62"/>
            <p:cNvSpPr/>
            <p:nvPr/>
          </p:nvSpPr>
          <p:spPr>
            <a:xfrm>
              <a:off x="2667000" y="2590800"/>
              <a:ext cx="304800" cy="228600"/>
            </a:xfrm>
            <a:prstGeom prst="line">
              <a:avLst/>
            </a:prstGeom>
            <a:ln w="9525" cap="flat" cmpd="sng">
              <a:solidFill>
                <a:schemeClr val="tx1"/>
              </a:solidFill>
              <a:prstDash val="solid"/>
              <a:headEnd type="none" w="med" len="med"/>
              <a:tailEnd type="none" w="med" len="med"/>
            </a:ln>
          </p:spPr>
        </p:sp>
        <p:sp>
          <p:nvSpPr>
            <p:cNvPr id="40018" name="Line 63"/>
            <p:cNvSpPr/>
            <p:nvPr/>
          </p:nvSpPr>
          <p:spPr>
            <a:xfrm>
              <a:off x="2590800" y="2590800"/>
              <a:ext cx="152400" cy="381000"/>
            </a:xfrm>
            <a:prstGeom prst="line">
              <a:avLst/>
            </a:prstGeom>
            <a:ln w="9525" cap="flat" cmpd="sng">
              <a:solidFill>
                <a:schemeClr val="tx1"/>
              </a:solidFill>
              <a:prstDash val="solid"/>
              <a:headEnd type="none" w="med" len="med"/>
              <a:tailEnd type="none" w="med" len="med"/>
            </a:ln>
          </p:spPr>
        </p:sp>
        <p:sp>
          <p:nvSpPr>
            <p:cNvPr id="40019" name="Line 64"/>
            <p:cNvSpPr/>
            <p:nvPr/>
          </p:nvSpPr>
          <p:spPr>
            <a:xfrm>
              <a:off x="2743200" y="2971800"/>
              <a:ext cx="304800" cy="228600"/>
            </a:xfrm>
            <a:prstGeom prst="line">
              <a:avLst/>
            </a:prstGeom>
            <a:ln w="9525" cap="flat" cmpd="sng">
              <a:solidFill>
                <a:schemeClr val="tx1"/>
              </a:solidFill>
              <a:prstDash val="solid"/>
              <a:headEnd type="none" w="med" len="med"/>
              <a:tailEnd type="none" w="med" len="med"/>
            </a:ln>
          </p:spPr>
        </p:sp>
        <p:sp>
          <p:nvSpPr>
            <p:cNvPr id="40020" name="Line 65"/>
            <p:cNvSpPr/>
            <p:nvPr/>
          </p:nvSpPr>
          <p:spPr>
            <a:xfrm flipV="1">
              <a:off x="2743200" y="2895600"/>
              <a:ext cx="228600" cy="152400"/>
            </a:xfrm>
            <a:prstGeom prst="line">
              <a:avLst/>
            </a:prstGeom>
            <a:ln w="9525" cap="flat" cmpd="sng">
              <a:solidFill>
                <a:schemeClr val="tx1"/>
              </a:solidFill>
              <a:prstDash val="solid"/>
              <a:headEnd type="none" w="med" len="med"/>
              <a:tailEnd type="none" w="med" len="med"/>
            </a:ln>
          </p:spPr>
        </p:sp>
        <p:sp>
          <p:nvSpPr>
            <p:cNvPr id="40021" name="Line 66"/>
            <p:cNvSpPr/>
            <p:nvPr/>
          </p:nvSpPr>
          <p:spPr>
            <a:xfrm>
              <a:off x="2286000" y="2590800"/>
              <a:ext cx="152400" cy="304800"/>
            </a:xfrm>
            <a:prstGeom prst="line">
              <a:avLst/>
            </a:prstGeom>
            <a:ln w="9525" cap="flat" cmpd="sng">
              <a:solidFill>
                <a:schemeClr val="tx1"/>
              </a:solidFill>
              <a:prstDash val="solid"/>
              <a:headEnd type="none" w="med" len="med"/>
              <a:tailEnd type="none" w="med" len="med"/>
            </a:ln>
          </p:spPr>
        </p:sp>
        <p:sp>
          <p:nvSpPr>
            <p:cNvPr id="40022" name="Line 67"/>
            <p:cNvSpPr/>
            <p:nvPr/>
          </p:nvSpPr>
          <p:spPr>
            <a:xfrm flipH="1">
              <a:off x="2438400" y="2590800"/>
              <a:ext cx="152400" cy="304800"/>
            </a:xfrm>
            <a:prstGeom prst="line">
              <a:avLst/>
            </a:prstGeom>
            <a:ln w="9525" cap="flat" cmpd="sng">
              <a:solidFill>
                <a:schemeClr val="tx1"/>
              </a:solidFill>
              <a:prstDash val="solid"/>
              <a:headEnd type="none" w="med" len="med"/>
              <a:tailEnd type="none" w="med" len="med"/>
            </a:ln>
          </p:spPr>
        </p:sp>
        <p:sp>
          <p:nvSpPr>
            <p:cNvPr id="40023" name="Line 68"/>
            <p:cNvSpPr/>
            <p:nvPr/>
          </p:nvSpPr>
          <p:spPr>
            <a:xfrm>
              <a:off x="2438400" y="2895600"/>
              <a:ext cx="0" cy="228600"/>
            </a:xfrm>
            <a:prstGeom prst="line">
              <a:avLst/>
            </a:prstGeom>
            <a:ln w="9525" cap="flat" cmpd="sng">
              <a:solidFill>
                <a:schemeClr val="tx1"/>
              </a:solidFill>
              <a:prstDash val="solid"/>
              <a:headEnd type="none" w="med" len="med"/>
              <a:tailEnd type="none" w="med" len="med"/>
            </a:ln>
          </p:spPr>
        </p:sp>
        <p:sp>
          <p:nvSpPr>
            <p:cNvPr id="40024" name="Line 69"/>
            <p:cNvSpPr/>
            <p:nvPr/>
          </p:nvSpPr>
          <p:spPr>
            <a:xfrm>
              <a:off x="2438400" y="3200400"/>
              <a:ext cx="609600" cy="0"/>
            </a:xfrm>
            <a:prstGeom prst="line">
              <a:avLst/>
            </a:prstGeom>
            <a:ln w="9525" cap="flat" cmpd="sng">
              <a:solidFill>
                <a:schemeClr val="tx1"/>
              </a:solidFill>
              <a:prstDash val="solid"/>
              <a:headEnd type="none" w="med" len="med"/>
              <a:tailEnd type="none" w="med" len="med"/>
            </a:ln>
          </p:spPr>
        </p:sp>
        <p:sp>
          <p:nvSpPr>
            <p:cNvPr id="40025" name="Line 70"/>
            <p:cNvSpPr/>
            <p:nvPr/>
          </p:nvSpPr>
          <p:spPr>
            <a:xfrm flipV="1">
              <a:off x="2438400" y="3048000"/>
              <a:ext cx="304800" cy="152400"/>
            </a:xfrm>
            <a:prstGeom prst="line">
              <a:avLst/>
            </a:prstGeom>
            <a:ln w="9525" cap="flat" cmpd="sng">
              <a:solidFill>
                <a:schemeClr val="tx1"/>
              </a:solidFill>
              <a:prstDash val="solid"/>
              <a:headEnd type="none" w="med" len="med"/>
              <a:tailEnd type="none" w="med" len="med"/>
            </a:ln>
          </p:spPr>
        </p:sp>
        <p:sp>
          <p:nvSpPr>
            <p:cNvPr id="40026" name="Line 71"/>
            <p:cNvSpPr/>
            <p:nvPr/>
          </p:nvSpPr>
          <p:spPr>
            <a:xfrm flipV="1">
              <a:off x="4038600" y="2590800"/>
              <a:ext cx="533400" cy="152400"/>
            </a:xfrm>
            <a:prstGeom prst="line">
              <a:avLst/>
            </a:prstGeom>
            <a:ln w="9525" cap="flat" cmpd="sng">
              <a:solidFill>
                <a:schemeClr val="tx1"/>
              </a:solidFill>
              <a:prstDash val="solid"/>
              <a:headEnd type="none" w="med" len="med"/>
              <a:tailEnd type="none" w="med" len="med"/>
            </a:ln>
          </p:spPr>
        </p:sp>
        <p:sp>
          <p:nvSpPr>
            <p:cNvPr id="40027" name="Line 72"/>
            <p:cNvSpPr/>
            <p:nvPr/>
          </p:nvSpPr>
          <p:spPr>
            <a:xfrm>
              <a:off x="2438400" y="2819400"/>
              <a:ext cx="381000" cy="228600"/>
            </a:xfrm>
            <a:prstGeom prst="line">
              <a:avLst/>
            </a:prstGeom>
            <a:ln w="9525" cap="flat" cmpd="sng">
              <a:solidFill>
                <a:schemeClr val="tx1"/>
              </a:solidFill>
              <a:prstDash val="solid"/>
              <a:headEnd type="none" w="med" len="med"/>
              <a:tailEnd type="none" w="med" len="med"/>
            </a:ln>
          </p:spPr>
        </p:sp>
        <p:sp>
          <p:nvSpPr>
            <p:cNvPr id="40028" name="Line 73"/>
            <p:cNvSpPr/>
            <p:nvPr/>
          </p:nvSpPr>
          <p:spPr>
            <a:xfrm flipH="1">
              <a:off x="3886200" y="2057400"/>
              <a:ext cx="228600" cy="381000"/>
            </a:xfrm>
            <a:prstGeom prst="line">
              <a:avLst/>
            </a:prstGeom>
            <a:ln w="9525" cap="flat" cmpd="sng">
              <a:solidFill>
                <a:schemeClr val="tx1"/>
              </a:solidFill>
              <a:prstDash val="solid"/>
              <a:headEnd type="none" w="med" len="med"/>
              <a:tailEnd type="none" w="med" len="med"/>
            </a:ln>
          </p:spPr>
        </p:sp>
        <p:sp>
          <p:nvSpPr>
            <p:cNvPr id="40029" name="Line 223"/>
            <p:cNvSpPr/>
            <p:nvPr/>
          </p:nvSpPr>
          <p:spPr>
            <a:xfrm>
              <a:off x="2667000" y="1752600"/>
              <a:ext cx="0" cy="381000"/>
            </a:xfrm>
            <a:prstGeom prst="line">
              <a:avLst/>
            </a:prstGeom>
            <a:ln w="9525" cap="flat" cmpd="sng">
              <a:solidFill>
                <a:schemeClr val="tx1"/>
              </a:solidFill>
              <a:prstDash val="solid"/>
              <a:headEnd type="none" w="med" len="med"/>
              <a:tailEnd type="none" w="med" len="med"/>
            </a:ln>
          </p:spPr>
        </p:sp>
        <p:sp>
          <p:nvSpPr>
            <p:cNvPr id="40030" name="Line 225"/>
            <p:cNvSpPr/>
            <p:nvPr/>
          </p:nvSpPr>
          <p:spPr>
            <a:xfrm>
              <a:off x="2514600" y="1981200"/>
              <a:ext cx="152400" cy="152400"/>
            </a:xfrm>
            <a:prstGeom prst="line">
              <a:avLst/>
            </a:prstGeom>
            <a:ln w="9525" cap="flat" cmpd="sng">
              <a:solidFill>
                <a:schemeClr val="tx1"/>
              </a:solidFill>
              <a:prstDash val="solid"/>
              <a:headEnd type="none" w="med" len="med"/>
              <a:tailEnd type="none" w="med" len="med"/>
            </a:ln>
          </p:spPr>
        </p:sp>
        <p:sp>
          <p:nvSpPr>
            <p:cNvPr id="40031" name="Line 226"/>
            <p:cNvSpPr/>
            <p:nvPr/>
          </p:nvSpPr>
          <p:spPr>
            <a:xfrm flipH="1">
              <a:off x="2590800" y="2133600"/>
              <a:ext cx="76200" cy="457200"/>
            </a:xfrm>
            <a:prstGeom prst="line">
              <a:avLst/>
            </a:prstGeom>
            <a:ln w="9525" cap="flat" cmpd="sng">
              <a:solidFill>
                <a:schemeClr val="tx1"/>
              </a:solidFill>
              <a:prstDash val="solid"/>
              <a:headEnd type="none" w="med" len="med"/>
              <a:tailEnd type="none" w="med" len="med"/>
            </a:ln>
          </p:spPr>
        </p:sp>
        <p:sp>
          <p:nvSpPr>
            <p:cNvPr id="40032" name="Line 227"/>
            <p:cNvSpPr/>
            <p:nvPr/>
          </p:nvSpPr>
          <p:spPr>
            <a:xfrm>
              <a:off x="2667000" y="2057400"/>
              <a:ext cx="304800" cy="762000"/>
            </a:xfrm>
            <a:prstGeom prst="line">
              <a:avLst/>
            </a:prstGeom>
            <a:ln w="9525" cap="flat" cmpd="sng">
              <a:solidFill>
                <a:schemeClr val="tx1"/>
              </a:solidFill>
              <a:prstDash val="solid"/>
              <a:headEnd type="none" w="med" len="med"/>
              <a:tailEnd type="none" w="med" len="med"/>
            </a:ln>
          </p:spPr>
        </p:sp>
        <p:sp>
          <p:nvSpPr>
            <p:cNvPr id="40033" name="Line 228"/>
            <p:cNvSpPr/>
            <p:nvPr/>
          </p:nvSpPr>
          <p:spPr>
            <a:xfrm>
              <a:off x="2971800" y="2819400"/>
              <a:ext cx="76200" cy="304800"/>
            </a:xfrm>
            <a:prstGeom prst="line">
              <a:avLst/>
            </a:prstGeom>
            <a:ln w="9525" cap="flat" cmpd="sng">
              <a:solidFill>
                <a:schemeClr val="tx1"/>
              </a:solidFill>
              <a:prstDash val="solid"/>
              <a:headEnd type="none" w="med" len="med"/>
              <a:tailEnd type="none" w="med" len="med"/>
            </a:ln>
          </p:spPr>
        </p:sp>
        <p:sp>
          <p:nvSpPr>
            <p:cNvPr id="40034" name="Line 229"/>
            <p:cNvSpPr/>
            <p:nvPr/>
          </p:nvSpPr>
          <p:spPr>
            <a:xfrm>
              <a:off x="3657600" y="2514600"/>
              <a:ext cx="152400" cy="152400"/>
            </a:xfrm>
            <a:prstGeom prst="line">
              <a:avLst/>
            </a:prstGeom>
            <a:ln w="9525" cap="flat" cmpd="sng">
              <a:solidFill>
                <a:schemeClr val="tx1"/>
              </a:solidFill>
              <a:prstDash val="solid"/>
              <a:headEnd type="none" w="med" len="med"/>
              <a:tailEnd type="none" w="med" len="med"/>
            </a:ln>
          </p:spPr>
        </p:sp>
        <p:sp>
          <p:nvSpPr>
            <p:cNvPr id="40035" name="Line 230"/>
            <p:cNvSpPr/>
            <p:nvPr/>
          </p:nvSpPr>
          <p:spPr>
            <a:xfrm flipH="1">
              <a:off x="3810000" y="2438400"/>
              <a:ext cx="76200" cy="228600"/>
            </a:xfrm>
            <a:prstGeom prst="line">
              <a:avLst/>
            </a:prstGeom>
            <a:ln w="9525" cap="flat" cmpd="sng">
              <a:solidFill>
                <a:schemeClr val="tx1"/>
              </a:solidFill>
              <a:prstDash val="solid"/>
              <a:headEnd type="none" w="med" len="med"/>
              <a:tailEnd type="none" w="med" len="med"/>
            </a:ln>
          </p:spPr>
        </p:sp>
        <p:sp>
          <p:nvSpPr>
            <p:cNvPr id="40036" name="Line 231"/>
            <p:cNvSpPr/>
            <p:nvPr/>
          </p:nvSpPr>
          <p:spPr>
            <a:xfrm>
              <a:off x="3810000" y="2667000"/>
              <a:ext cx="152400" cy="76200"/>
            </a:xfrm>
            <a:prstGeom prst="line">
              <a:avLst/>
            </a:prstGeom>
            <a:ln w="9525" cap="flat" cmpd="sng">
              <a:solidFill>
                <a:schemeClr val="tx1"/>
              </a:solidFill>
              <a:prstDash val="solid"/>
              <a:headEnd type="none" w="med" len="med"/>
              <a:tailEnd type="none" w="med" len="med"/>
            </a:ln>
          </p:spPr>
        </p:sp>
        <p:sp>
          <p:nvSpPr>
            <p:cNvPr id="40037" name="Line 232"/>
            <p:cNvSpPr/>
            <p:nvPr/>
          </p:nvSpPr>
          <p:spPr>
            <a:xfrm>
              <a:off x="3886200" y="2438400"/>
              <a:ext cx="76200" cy="304800"/>
            </a:xfrm>
            <a:prstGeom prst="line">
              <a:avLst/>
            </a:prstGeom>
            <a:ln w="9525" cap="flat" cmpd="sng">
              <a:solidFill>
                <a:schemeClr val="tx1"/>
              </a:solidFill>
              <a:prstDash val="solid"/>
              <a:headEnd type="none" w="med" len="med"/>
              <a:tailEnd type="none" w="med" len="med"/>
            </a:ln>
          </p:spPr>
        </p:sp>
        <p:sp>
          <p:nvSpPr>
            <p:cNvPr id="40038" name="Line 233"/>
            <p:cNvSpPr/>
            <p:nvPr/>
          </p:nvSpPr>
          <p:spPr>
            <a:xfrm flipV="1">
              <a:off x="3886200" y="2743200"/>
              <a:ext cx="152400" cy="76200"/>
            </a:xfrm>
            <a:prstGeom prst="line">
              <a:avLst/>
            </a:prstGeom>
            <a:ln w="9525" cap="flat" cmpd="sng">
              <a:solidFill>
                <a:schemeClr val="tx1"/>
              </a:solidFill>
              <a:prstDash val="solid"/>
              <a:headEnd type="none" w="med" len="med"/>
              <a:tailEnd type="none" w="med" len="med"/>
            </a:ln>
          </p:spPr>
        </p:sp>
        <p:sp>
          <p:nvSpPr>
            <p:cNvPr id="40039" name="Line 234"/>
            <p:cNvSpPr/>
            <p:nvPr/>
          </p:nvSpPr>
          <p:spPr>
            <a:xfrm flipH="1">
              <a:off x="3733800" y="2819400"/>
              <a:ext cx="152400" cy="457200"/>
            </a:xfrm>
            <a:prstGeom prst="line">
              <a:avLst/>
            </a:prstGeom>
            <a:ln w="9525" cap="flat" cmpd="sng">
              <a:solidFill>
                <a:schemeClr val="tx1"/>
              </a:solidFill>
              <a:prstDash val="solid"/>
              <a:headEnd type="none" w="med" len="med"/>
              <a:tailEnd type="none" w="med" len="med"/>
            </a:ln>
          </p:spPr>
        </p:sp>
        <p:sp>
          <p:nvSpPr>
            <p:cNvPr id="40040" name="Line 235"/>
            <p:cNvSpPr/>
            <p:nvPr/>
          </p:nvSpPr>
          <p:spPr>
            <a:xfrm flipH="1">
              <a:off x="3581400" y="3276600"/>
              <a:ext cx="152400" cy="152400"/>
            </a:xfrm>
            <a:prstGeom prst="line">
              <a:avLst/>
            </a:prstGeom>
            <a:ln w="9525" cap="flat" cmpd="sng">
              <a:solidFill>
                <a:schemeClr val="tx1"/>
              </a:solidFill>
              <a:prstDash val="solid"/>
              <a:headEnd type="none" w="med" len="med"/>
              <a:tailEnd type="none" w="med" len="med"/>
            </a:ln>
          </p:spPr>
        </p:sp>
        <p:sp>
          <p:nvSpPr>
            <p:cNvPr id="40041" name="Line 236"/>
            <p:cNvSpPr/>
            <p:nvPr/>
          </p:nvSpPr>
          <p:spPr>
            <a:xfrm>
              <a:off x="3733800" y="3276600"/>
              <a:ext cx="76200" cy="228600"/>
            </a:xfrm>
            <a:prstGeom prst="line">
              <a:avLst/>
            </a:prstGeom>
            <a:ln w="9525" cap="flat" cmpd="sng">
              <a:solidFill>
                <a:schemeClr val="tx1"/>
              </a:solidFill>
              <a:prstDash val="solid"/>
              <a:headEnd type="none" w="med" len="med"/>
              <a:tailEnd type="none" w="med" len="med"/>
            </a:ln>
          </p:spPr>
        </p:sp>
        <p:sp>
          <p:nvSpPr>
            <p:cNvPr id="40042" name="Line 237"/>
            <p:cNvSpPr/>
            <p:nvPr/>
          </p:nvSpPr>
          <p:spPr>
            <a:xfrm flipH="1">
              <a:off x="3581400" y="3810000"/>
              <a:ext cx="76200" cy="152400"/>
            </a:xfrm>
            <a:prstGeom prst="line">
              <a:avLst/>
            </a:prstGeom>
            <a:ln w="9525" cap="flat" cmpd="sng">
              <a:solidFill>
                <a:schemeClr val="tx1"/>
              </a:solidFill>
              <a:prstDash val="solid"/>
              <a:headEnd type="none" w="med" len="med"/>
              <a:tailEnd type="none" w="med" len="med"/>
            </a:ln>
          </p:spPr>
        </p:sp>
        <p:sp>
          <p:nvSpPr>
            <p:cNvPr id="40043" name="Line 238"/>
            <p:cNvSpPr/>
            <p:nvPr/>
          </p:nvSpPr>
          <p:spPr>
            <a:xfrm>
              <a:off x="3505200" y="3810000"/>
              <a:ext cx="76200" cy="152400"/>
            </a:xfrm>
            <a:prstGeom prst="line">
              <a:avLst/>
            </a:prstGeom>
            <a:ln w="9525" cap="flat" cmpd="sng">
              <a:solidFill>
                <a:schemeClr val="tx1"/>
              </a:solidFill>
              <a:prstDash val="solid"/>
              <a:headEnd type="none" w="med" len="med"/>
              <a:tailEnd type="none" w="med" len="med"/>
            </a:ln>
          </p:spPr>
        </p:sp>
        <p:sp>
          <p:nvSpPr>
            <p:cNvPr id="40044" name="Line 260"/>
            <p:cNvSpPr/>
            <p:nvPr/>
          </p:nvSpPr>
          <p:spPr>
            <a:xfrm flipH="1">
              <a:off x="3733800" y="2438400"/>
              <a:ext cx="152400" cy="76200"/>
            </a:xfrm>
            <a:prstGeom prst="line">
              <a:avLst/>
            </a:prstGeom>
            <a:ln w="9525" cap="flat" cmpd="sng">
              <a:solidFill>
                <a:schemeClr val="tx1"/>
              </a:solidFill>
              <a:prstDash val="solid"/>
              <a:headEnd type="none" w="med" len="med"/>
              <a:tailEnd type="none" w="med" len="med"/>
            </a:ln>
          </p:spPr>
        </p:sp>
        <p:sp>
          <p:nvSpPr>
            <p:cNvPr id="40045" name="Line 261"/>
            <p:cNvSpPr/>
            <p:nvPr/>
          </p:nvSpPr>
          <p:spPr>
            <a:xfrm flipH="1">
              <a:off x="4572000" y="2362200"/>
              <a:ext cx="152400" cy="228600"/>
            </a:xfrm>
            <a:prstGeom prst="line">
              <a:avLst/>
            </a:prstGeom>
            <a:ln w="9525" cap="flat" cmpd="sng">
              <a:solidFill>
                <a:schemeClr val="tx1"/>
              </a:solidFill>
              <a:prstDash val="solid"/>
              <a:headEnd type="none" w="med" len="med"/>
              <a:tailEnd type="none" w="med" len="med"/>
            </a:ln>
          </p:spPr>
        </p:sp>
        <p:sp>
          <p:nvSpPr>
            <p:cNvPr id="40046" name="Line 262"/>
            <p:cNvSpPr/>
            <p:nvPr/>
          </p:nvSpPr>
          <p:spPr>
            <a:xfrm>
              <a:off x="3581400" y="3429000"/>
              <a:ext cx="228600" cy="76200"/>
            </a:xfrm>
            <a:prstGeom prst="line">
              <a:avLst/>
            </a:prstGeom>
            <a:ln w="9525" cap="flat" cmpd="sng">
              <a:solidFill>
                <a:schemeClr val="tx1"/>
              </a:solidFill>
              <a:prstDash val="solid"/>
              <a:headEnd type="none" w="med" len="med"/>
              <a:tailEnd type="none" w="med" len="med"/>
            </a:ln>
          </p:spPr>
        </p:sp>
        <p:sp>
          <p:nvSpPr>
            <p:cNvPr id="40047" name="Line 263"/>
            <p:cNvSpPr/>
            <p:nvPr/>
          </p:nvSpPr>
          <p:spPr>
            <a:xfrm>
              <a:off x="3429000" y="3962400"/>
              <a:ext cx="152400" cy="0"/>
            </a:xfrm>
            <a:prstGeom prst="line">
              <a:avLst/>
            </a:prstGeom>
            <a:ln w="9525" cap="flat" cmpd="sng">
              <a:solidFill>
                <a:schemeClr val="tx1"/>
              </a:solidFill>
              <a:prstDash val="solid"/>
              <a:headEnd type="none" w="med" len="med"/>
              <a:tailEnd type="none" w="med" len="med"/>
            </a:ln>
          </p:spPr>
        </p:sp>
        <p:sp>
          <p:nvSpPr>
            <p:cNvPr id="40048" name="Line 264"/>
            <p:cNvSpPr/>
            <p:nvPr/>
          </p:nvSpPr>
          <p:spPr>
            <a:xfrm flipV="1">
              <a:off x="4267200" y="1752600"/>
              <a:ext cx="0" cy="228600"/>
            </a:xfrm>
            <a:prstGeom prst="line">
              <a:avLst/>
            </a:prstGeom>
            <a:ln w="9525" cap="flat" cmpd="sng">
              <a:solidFill>
                <a:schemeClr val="tx1"/>
              </a:solidFill>
              <a:prstDash val="solid"/>
              <a:headEnd type="none" w="med" len="med"/>
              <a:tailEnd type="none" w="med" len="med"/>
            </a:ln>
          </p:spPr>
        </p:sp>
      </p:grpSp>
      <p:sp>
        <p:nvSpPr>
          <p:cNvPr id="39955" name="Text Box 265"/>
          <p:cNvSpPr txBox="1"/>
          <p:nvPr/>
        </p:nvSpPr>
        <p:spPr>
          <a:xfrm>
            <a:off x="152400" y="3733800"/>
            <a:ext cx="2743200" cy="1338263"/>
          </a:xfrm>
          <a:prstGeom prst="rect">
            <a:avLst/>
          </a:prstGeom>
          <a:noFill/>
          <a:ln w="9525" cap="flat" cmpd="sng">
            <a:solidFill>
              <a:schemeClr val="tx1"/>
            </a:solidFill>
            <a:prstDash val="solid"/>
            <a:miter/>
            <a:headEnd type="none" w="med" len="med"/>
            <a:tailEnd type="none" w="med" len="med"/>
          </a:ln>
        </p:spPr>
        <p:txBody>
          <a:bodyPr>
            <a:spAutoFit/>
          </a:bodyPr>
          <a:p>
            <a:pPr algn="l" eaLnBrk="0" hangingPunct="0">
              <a:spcBef>
                <a:spcPct val="50000"/>
              </a:spcBef>
            </a:pPr>
            <a:r>
              <a:rPr lang="en-US" altLang="zh-CN" sz="1800" b="1" dirty="0">
                <a:latin typeface="Calibri" panose="020F0502020204030204" pitchFamily="34" charset="0"/>
                <a:ea typeface="SimSun" panose="02010600030101010101" pitchFamily="2" charset="-122"/>
              </a:rPr>
              <a:t>K-NN Graph</a:t>
            </a:r>
            <a:endParaRPr lang="en-US" altLang="zh-CN" sz="1800" b="1" dirty="0">
              <a:latin typeface="Calibri" panose="020F0502020204030204" pitchFamily="34" charset="0"/>
              <a:ea typeface="SimSun" panose="02010600030101010101" pitchFamily="2" charset="-122"/>
            </a:endParaRPr>
          </a:p>
          <a:p>
            <a:pPr marL="171450" lvl="1" indent="0" algn="l" eaLnBrk="0" hangingPunct="0">
              <a:spcBef>
                <a:spcPct val="50000"/>
              </a:spcBef>
            </a:pPr>
            <a:r>
              <a:rPr lang="en-US" altLang="zh-CN" sz="1800" dirty="0">
                <a:latin typeface="Calibri" panose="020F0502020204030204" pitchFamily="34" charset="0"/>
                <a:ea typeface="SimSun" panose="02010600030101010101" pitchFamily="2" charset="-122"/>
              </a:rPr>
              <a:t>P and q are connected if q is among the top k closest neighbors of p</a:t>
            </a:r>
            <a:endParaRPr lang="en-US" altLang="zh-CN" sz="1800" dirty="0">
              <a:latin typeface="Calibri" panose="020F0502020204030204" pitchFamily="34" charset="0"/>
              <a:ea typeface="SimSun" panose="02010600030101010101" pitchFamily="2" charset="-122"/>
            </a:endParaRPr>
          </a:p>
        </p:txBody>
      </p:sp>
      <p:sp>
        <p:nvSpPr>
          <p:cNvPr id="39956" name="Text Box 266"/>
          <p:cNvSpPr txBox="1"/>
          <p:nvPr/>
        </p:nvSpPr>
        <p:spPr>
          <a:xfrm>
            <a:off x="6477000" y="4894263"/>
            <a:ext cx="2819400" cy="1887537"/>
          </a:xfrm>
          <a:prstGeom prst="rect">
            <a:avLst/>
          </a:prstGeom>
          <a:noFill/>
          <a:ln w="9525" cap="flat" cmpd="sng">
            <a:solidFill>
              <a:schemeClr val="tx1"/>
            </a:solidFill>
            <a:prstDash val="solid"/>
            <a:miter/>
            <a:headEnd type="none" w="med" len="med"/>
            <a:tailEnd type="none" w="med" len="med"/>
          </a:ln>
        </p:spPr>
        <p:txBody>
          <a:bodyPr>
            <a:spAutoFit/>
          </a:bodyPr>
          <a:p>
            <a:pPr algn="l" eaLnBrk="0" hangingPunct="0">
              <a:spcBef>
                <a:spcPct val="50000"/>
              </a:spcBef>
            </a:pPr>
            <a:r>
              <a:rPr lang="en-US" altLang="zh-CN" sz="1800" b="1" dirty="0">
                <a:latin typeface="Calibri" panose="020F0502020204030204" pitchFamily="34" charset="0"/>
                <a:ea typeface="SimSun" panose="02010600030101010101" pitchFamily="2" charset="-122"/>
              </a:rPr>
              <a:t>Relative interconnectivity:  </a:t>
            </a:r>
            <a:r>
              <a:rPr lang="en-US" altLang="zh-CN" sz="1800" dirty="0">
                <a:latin typeface="Calibri" panose="020F0502020204030204" pitchFamily="34" charset="0"/>
                <a:ea typeface="SimSun" panose="02010600030101010101" pitchFamily="2" charset="-122"/>
              </a:rPr>
              <a:t>connectivity of c</a:t>
            </a:r>
            <a:r>
              <a:rPr lang="en-US" altLang="zh-CN" sz="1800" baseline="-25000" dirty="0">
                <a:latin typeface="Calibri" panose="020F0502020204030204" pitchFamily="34" charset="0"/>
                <a:ea typeface="SimSun" panose="02010600030101010101" pitchFamily="2" charset="-122"/>
              </a:rPr>
              <a:t>1</a:t>
            </a:r>
            <a:r>
              <a:rPr lang="en-US" altLang="zh-CN" sz="1800" dirty="0">
                <a:latin typeface="Calibri" panose="020F0502020204030204" pitchFamily="34" charset="0"/>
                <a:ea typeface="SimSun" panose="02010600030101010101" pitchFamily="2" charset="-122"/>
              </a:rPr>
              <a:t> and c</a:t>
            </a:r>
            <a:r>
              <a:rPr lang="en-US" altLang="zh-CN" sz="1800" baseline="-25000" dirty="0">
                <a:latin typeface="Calibri" panose="020F0502020204030204" pitchFamily="34" charset="0"/>
                <a:ea typeface="SimSun" panose="02010600030101010101" pitchFamily="2" charset="-122"/>
              </a:rPr>
              <a:t>2</a:t>
            </a:r>
            <a:r>
              <a:rPr lang="en-US" altLang="zh-CN" sz="1800" dirty="0">
                <a:latin typeface="Calibri" panose="020F0502020204030204" pitchFamily="34" charset="0"/>
                <a:ea typeface="SimSun" panose="02010600030101010101" pitchFamily="2" charset="-122"/>
              </a:rPr>
              <a:t> over internal connectivity</a:t>
            </a:r>
            <a:endParaRPr lang="en-US" altLang="zh-CN" sz="1800" dirty="0">
              <a:latin typeface="Calibri" panose="020F0502020204030204" pitchFamily="34" charset="0"/>
              <a:ea typeface="SimSun" panose="02010600030101010101" pitchFamily="2" charset="-122"/>
            </a:endParaRPr>
          </a:p>
          <a:p>
            <a:pPr algn="l" eaLnBrk="0" hangingPunct="0">
              <a:spcBef>
                <a:spcPct val="50000"/>
              </a:spcBef>
            </a:pPr>
            <a:r>
              <a:rPr lang="en-US" altLang="zh-CN" sz="1800" b="1" dirty="0">
                <a:latin typeface="Calibri" panose="020F0502020204030204" pitchFamily="34" charset="0"/>
                <a:ea typeface="SimSun" panose="02010600030101010101" pitchFamily="2" charset="-122"/>
              </a:rPr>
              <a:t>Relative closeness: </a:t>
            </a:r>
            <a:r>
              <a:rPr lang="en-US" altLang="zh-CN" sz="1800" dirty="0">
                <a:latin typeface="Calibri" panose="020F0502020204030204" pitchFamily="34" charset="0"/>
                <a:ea typeface="SimSun" panose="02010600030101010101" pitchFamily="2" charset="-122"/>
              </a:rPr>
              <a:t>closeness of c</a:t>
            </a:r>
            <a:r>
              <a:rPr lang="en-US" altLang="zh-CN" sz="1800" baseline="-25000" dirty="0">
                <a:latin typeface="Calibri" panose="020F0502020204030204" pitchFamily="34" charset="0"/>
                <a:ea typeface="SimSun" panose="02010600030101010101" pitchFamily="2" charset="-122"/>
              </a:rPr>
              <a:t>1</a:t>
            </a:r>
            <a:r>
              <a:rPr lang="en-US" altLang="zh-CN" sz="1800" dirty="0">
                <a:latin typeface="Calibri" panose="020F0502020204030204" pitchFamily="34" charset="0"/>
                <a:ea typeface="SimSun" panose="02010600030101010101" pitchFamily="2" charset="-122"/>
              </a:rPr>
              <a:t> and c</a:t>
            </a:r>
            <a:r>
              <a:rPr lang="en-US" altLang="zh-CN" sz="1800" baseline="-25000" dirty="0">
                <a:latin typeface="Calibri" panose="020F0502020204030204" pitchFamily="34" charset="0"/>
                <a:ea typeface="SimSun" panose="02010600030101010101" pitchFamily="2" charset="-122"/>
              </a:rPr>
              <a:t>2</a:t>
            </a:r>
            <a:r>
              <a:rPr lang="en-US" altLang="zh-CN" sz="1800" dirty="0">
                <a:latin typeface="Calibri" panose="020F0502020204030204" pitchFamily="34" charset="0"/>
                <a:ea typeface="SimSun" panose="02010600030101010101" pitchFamily="2" charset="-122"/>
              </a:rPr>
              <a:t> over internal closeness</a:t>
            </a:r>
            <a:endParaRPr lang="en-US" altLang="zh-CN" sz="1800" dirty="0">
              <a:latin typeface="Calibri" panose="020F0502020204030204" pitchFamily="34" charset="0"/>
              <a:ea typeface="SimSun" panose="02010600030101010101" pitchFamily="2" charset="-122"/>
            </a:endParaRPr>
          </a:p>
        </p:txBody>
      </p:sp>
      <p:sp>
        <p:nvSpPr>
          <p:cNvPr id="39957" name="Slide Number Placeholder 272"/>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Slide Number Placeholder 5"/>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
        <p:nvSpPr>
          <p:cNvPr id="40963" name="Rectangle 2"/>
          <p:cNvSpPr>
            <a:spLocks noGrp="1"/>
          </p:cNvSpPr>
          <p:nvPr>
            <p:ph type="title"/>
          </p:nvPr>
        </p:nvSpPr>
        <p:spPr>
          <a:xfrm>
            <a:off x="304800" y="0"/>
            <a:ext cx="8382000" cy="1066800"/>
          </a:xfrm>
        </p:spPr>
        <p:txBody>
          <a:bodyPr vert="horz" wrap="square" lIns="92075" tIns="46038" rIns="92075" bIns="46038" anchor="ctr" anchorCtr="0"/>
          <a:p>
            <a:pPr eaLnBrk="1" hangingPunct="1"/>
            <a:r>
              <a:rPr lang="en-US" altLang="zh-CN" sz="3200" dirty="0">
                <a:ea typeface="SimSun" panose="02010600030101010101" pitchFamily="2" charset="-122"/>
              </a:rPr>
              <a:t>CHAMELEON (Clustering Complex Objects)</a:t>
            </a:r>
            <a:endParaRPr lang="en-US" altLang="zh-CN" sz="3200" dirty="0">
              <a:ea typeface="SimSun" panose="02010600030101010101" pitchFamily="2" charset="-122"/>
            </a:endParaRPr>
          </a:p>
        </p:txBody>
      </p:sp>
      <p:pic>
        <p:nvPicPr>
          <p:cNvPr id="40964" name="Picture 3"/>
          <p:cNvPicPr>
            <a:picLocks noChangeAspect="1"/>
          </p:cNvPicPr>
          <p:nvPr>
            <p:ph idx="1"/>
          </p:nvPr>
        </p:nvPicPr>
        <p:blipFill>
          <a:blip r:embed="rId1"/>
          <a:srcRect/>
          <a:stretch>
            <a:fillRect/>
          </a:stretch>
        </p:blipFill>
        <p:spPr>
          <a:xfrm>
            <a:off x="152400" y="838200"/>
            <a:ext cx="8610600" cy="6019800"/>
          </a:xfrm>
        </p:spPr>
      </p:pic>
    </p:spTree>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title"/>
          </p:nvPr>
        </p:nvSpPr>
        <p:spPr>
          <a:xfrm>
            <a:off x="152400" y="381000"/>
            <a:ext cx="8839200" cy="609600"/>
          </a:xfrm>
        </p:spPr>
        <p:txBody>
          <a:bodyPr vert="horz" wrap="square" lIns="91440" tIns="45720" rIns="91440" bIns="45720" anchor="b" anchorCtr="0"/>
          <a:p>
            <a:r>
              <a:rPr dirty="0"/>
              <a:t>Probabilistic Hierarchical Clustering</a:t>
            </a:r>
            <a:endParaRPr dirty="0"/>
          </a:p>
        </p:txBody>
      </p:sp>
      <p:sp>
        <p:nvSpPr>
          <p:cNvPr id="41987" name="Rectangle 3"/>
          <p:cNvSpPr>
            <a:spLocks noGrp="1"/>
          </p:cNvSpPr>
          <p:nvPr>
            <p:ph type="body" idx="4294967295"/>
          </p:nvPr>
        </p:nvSpPr>
        <p:spPr>
          <a:xfrm>
            <a:off x="381000" y="1371600"/>
            <a:ext cx="8534400" cy="5257800"/>
          </a:xfrm>
        </p:spPr>
        <p:txBody>
          <a:bodyPr vert="horz" wrap="square" lIns="91440" tIns="45720" rIns="91440" bIns="45720" anchor="t" anchorCtr="0"/>
          <a:p>
            <a:pPr>
              <a:lnSpc>
                <a:spcPct val="110000"/>
              </a:lnSpc>
            </a:pPr>
            <a:r>
              <a:rPr sz="2000" dirty="0"/>
              <a:t>Algorithmic hierarchical clustering</a:t>
            </a:r>
            <a:endParaRPr sz="2000" dirty="0"/>
          </a:p>
          <a:p>
            <a:pPr lvl="1">
              <a:lnSpc>
                <a:spcPct val="110000"/>
              </a:lnSpc>
            </a:pPr>
            <a:r>
              <a:rPr sz="2000" dirty="0"/>
              <a:t>Nontrivial to choose a good distance measure </a:t>
            </a:r>
            <a:endParaRPr sz="2000" dirty="0"/>
          </a:p>
          <a:p>
            <a:pPr lvl="1">
              <a:lnSpc>
                <a:spcPct val="110000"/>
              </a:lnSpc>
            </a:pPr>
            <a:r>
              <a:rPr sz="2000" dirty="0"/>
              <a:t>Hard to handle missing attribute values</a:t>
            </a:r>
            <a:endParaRPr sz="2000" dirty="0"/>
          </a:p>
          <a:p>
            <a:pPr lvl="1">
              <a:lnSpc>
                <a:spcPct val="110000"/>
              </a:lnSpc>
            </a:pPr>
            <a:r>
              <a:rPr sz="2000" dirty="0"/>
              <a:t>Optimization goal not clear: heuristic, local search</a:t>
            </a:r>
            <a:endParaRPr sz="2000" dirty="0"/>
          </a:p>
          <a:p>
            <a:pPr>
              <a:lnSpc>
                <a:spcPct val="110000"/>
              </a:lnSpc>
            </a:pPr>
            <a:r>
              <a:rPr sz="2000" dirty="0"/>
              <a:t>Probabilistic hierarchical clustering</a:t>
            </a:r>
            <a:endParaRPr sz="2000" dirty="0"/>
          </a:p>
          <a:p>
            <a:pPr lvl="1">
              <a:lnSpc>
                <a:spcPct val="110000"/>
              </a:lnSpc>
            </a:pPr>
            <a:r>
              <a:rPr sz="2000" dirty="0"/>
              <a:t>Use probabilistic models to measure distances between clusters</a:t>
            </a:r>
            <a:endParaRPr sz="2000" dirty="0"/>
          </a:p>
          <a:p>
            <a:pPr lvl="1">
              <a:lnSpc>
                <a:spcPct val="110000"/>
              </a:lnSpc>
            </a:pPr>
            <a:r>
              <a:rPr sz="2000" dirty="0"/>
              <a:t>Generative model: Regard the set of data objects to be clustered as a sample of the underlying data generation mechanism to be analyzed</a:t>
            </a:r>
            <a:endParaRPr sz="2000" dirty="0"/>
          </a:p>
          <a:p>
            <a:pPr lvl="1">
              <a:lnSpc>
                <a:spcPct val="110000"/>
              </a:lnSpc>
            </a:pPr>
            <a:r>
              <a:rPr sz="2000" dirty="0"/>
              <a:t>Easy to understand, same efficiency as algorithmic agglomerative clustering method, can handle partially observed data</a:t>
            </a:r>
            <a:endParaRPr sz="2000" dirty="0"/>
          </a:p>
          <a:p>
            <a:pPr>
              <a:lnSpc>
                <a:spcPct val="110000"/>
              </a:lnSpc>
            </a:pPr>
            <a:r>
              <a:rPr sz="2000" dirty="0"/>
              <a:t>In practice, assume the generative models adopt common distributions functions, e.g., Gaussian distribution or Bernoulli distribution, governed by parameters</a:t>
            </a:r>
            <a:endParaRPr sz="2000" dirty="0"/>
          </a:p>
        </p:txBody>
      </p:sp>
      <p:sp>
        <p:nvSpPr>
          <p:cNvPr id="41988"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p:txBody>
          <a:bodyPr vert="horz" wrap="square" lIns="91440" tIns="45720" rIns="91440" bIns="45720" anchor="b" anchorCtr="0"/>
          <a:p>
            <a:r>
              <a:rPr dirty="0"/>
              <a:t>Generative Model</a:t>
            </a:r>
            <a:endParaRPr dirty="0"/>
          </a:p>
        </p:txBody>
      </p:sp>
      <p:sp>
        <p:nvSpPr>
          <p:cNvPr id="43011" name="Rectangle 3"/>
          <p:cNvSpPr>
            <a:spLocks noGrp="1"/>
          </p:cNvSpPr>
          <p:nvPr>
            <p:ph type="body" idx="4294967295"/>
          </p:nvPr>
        </p:nvSpPr>
        <p:spPr>
          <a:xfrm>
            <a:off x="381000" y="1371600"/>
            <a:ext cx="6705600" cy="5105400"/>
          </a:xfrm>
        </p:spPr>
        <p:txBody>
          <a:bodyPr vert="horz" wrap="square" lIns="91440" tIns="45720" rIns="91440" bIns="45720" anchor="t" anchorCtr="0"/>
          <a:p>
            <a:r>
              <a:rPr sz="2000" dirty="0"/>
              <a:t>Given a set of 1-D points </a:t>
            </a:r>
            <a:r>
              <a:rPr sz="2000" i="1" dirty="0"/>
              <a:t>X</a:t>
            </a:r>
            <a:r>
              <a:rPr sz="2000" dirty="0"/>
              <a:t> = {</a:t>
            </a:r>
            <a:r>
              <a:rPr sz="2000" i="1" dirty="0"/>
              <a:t>x</a:t>
            </a:r>
            <a:r>
              <a:rPr sz="2000" i="1" baseline="-25000" dirty="0"/>
              <a:t>1</a:t>
            </a:r>
            <a:r>
              <a:rPr sz="2000" i="1" dirty="0"/>
              <a:t>, …, x</a:t>
            </a:r>
            <a:r>
              <a:rPr sz="2000" i="1" baseline="-25000" dirty="0"/>
              <a:t>n</a:t>
            </a:r>
            <a:r>
              <a:rPr sz="2000" dirty="0"/>
              <a:t>} for clustering analysis &amp; assuming they are generated by a Gaussian distribution:</a:t>
            </a:r>
            <a:endParaRPr sz="2000" dirty="0"/>
          </a:p>
          <a:p>
            <a:endParaRPr sz="2000" dirty="0"/>
          </a:p>
          <a:p>
            <a:r>
              <a:rPr sz="2000" dirty="0"/>
              <a:t>The probability that a point </a:t>
            </a:r>
            <a:r>
              <a:rPr sz="2000" i="1" dirty="0"/>
              <a:t>x</a:t>
            </a:r>
            <a:r>
              <a:rPr sz="2000" i="1" baseline="-25000" dirty="0"/>
              <a:t>i</a:t>
            </a:r>
            <a:r>
              <a:rPr sz="2000" dirty="0"/>
              <a:t> ∈ </a:t>
            </a:r>
            <a:r>
              <a:rPr sz="2000" i="1" dirty="0"/>
              <a:t>X</a:t>
            </a:r>
            <a:r>
              <a:rPr sz="2000" dirty="0"/>
              <a:t> is generated by the model</a:t>
            </a:r>
            <a:endParaRPr sz="2000" dirty="0"/>
          </a:p>
          <a:p>
            <a:endParaRPr sz="2000" dirty="0"/>
          </a:p>
          <a:p>
            <a:r>
              <a:rPr sz="2000" dirty="0"/>
              <a:t>The likelihood that </a:t>
            </a:r>
            <a:r>
              <a:rPr sz="2000" i="1" dirty="0"/>
              <a:t>X</a:t>
            </a:r>
            <a:r>
              <a:rPr sz="2000" dirty="0"/>
              <a:t> is generated by the model:</a:t>
            </a:r>
            <a:endParaRPr sz="2000" dirty="0"/>
          </a:p>
          <a:p>
            <a:endParaRPr sz="2000" dirty="0"/>
          </a:p>
          <a:p>
            <a:endParaRPr sz="2000" dirty="0"/>
          </a:p>
          <a:p>
            <a:r>
              <a:rPr sz="2000" dirty="0"/>
              <a:t>The task of learning the generative model: find the parameters μ and σ</a:t>
            </a:r>
            <a:r>
              <a:rPr sz="2000" baseline="30000" dirty="0"/>
              <a:t>2</a:t>
            </a:r>
            <a:r>
              <a:rPr sz="2000" dirty="0"/>
              <a:t> such that</a:t>
            </a:r>
            <a:endParaRPr sz="2000" dirty="0"/>
          </a:p>
        </p:txBody>
      </p:sp>
      <p:pic>
        <p:nvPicPr>
          <p:cNvPr id="43012" name="Picture 4"/>
          <p:cNvPicPr>
            <a:picLocks noChangeAspect="1"/>
          </p:cNvPicPr>
          <p:nvPr/>
        </p:nvPicPr>
        <p:blipFill>
          <a:blip r:embed="rId1"/>
          <a:stretch>
            <a:fillRect/>
          </a:stretch>
        </p:blipFill>
        <p:spPr>
          <a:xfrm>
            <a:off x="5867400" y="2057400"/>
            <a:ext cx="3124200" cy="655638"/>
          </a:xfrm>
          <a:prstGeom prst="rect">
            <a:avLst/>
          </a:prstGeom>
          <a:noFill/>
          <a:ln w="9525">
            <a:noFill/>
          </a:ln>
        </p:spPr>
      </p:pic>
      <p:pic>
        <p:nvPicPr>
          <p:cNvPr id="43013" name="Picture 5"/>
          <p:cNvPicPr>
            <a:picLocks noChangeAspect="1"/>
          </p:cNvPicPr>
          <p:nvPr/>
        </p:nvPicPr>
        <p:blipFill>
          <a:blip r:embed="rId2"/>
          <a:stretch>
            <a:fillRect/>
          </a:stretch>
        </p:blipFill>
        <p:spPr>
          <a:xfrm>
            <a:off x="5486400" y="3124200"/>
            <a:ext cx="3657600" cy="668338"/>
          </a:xfrm>
          <a:prstGeom prst="rect">
            <a:avLst/>
          </a:prstGeom>
          <a:noFill/>
          <a:ln w="9525">
            <a:noFill/>
          </a:ln>
        </p:spPr>
      </p:pic>
      <p:pic>
        <p:nvPicPr>
          <p:cNvPr id="43014" name="Picture 6"/>
          <p:cNvPicPr>
            <a:picLocks noChangeAspect="1"/>
          </p:cNvPicPr>
          <p:nvPr/>
        </p:nvPicPr>
        <p:blipFill>
          <a:blip r:embed="rId3"/>
          <a:stretch>
            <a:fillRect/>
          </a:stretch>
        </p:blipFill>
        <p:spPr>
          <a:xfrm>
            <a:off x="3048000" y="4191000"/>
            <a:ext cx="5868988" cy="735013"/>
          </a:xfrm>
          <a:prstGeom prst="rect">
            <a:avLst/>
          </a:prstGeom>
          <a:noFill/>
          <a:ln w="9525">
            <a:noFill/>
          </a:ln>
        </p:spPr>
      </p:pic>
      <p:sp>
        <p:nvSpPr>
          <p:cNvPr id="43015" name="Text Box 8"/>
          <p:cNvSpPr txBox="1"/>
          <p:nvPr/>
        </p:nvSpPr>
        <p:spPr>
          <a:xfrm>
            <a:off x="6553200" y="5105400"/>
            <a:ext cx="2590800" cy="366713"/>
          </a:xfrm>
          <a:prstGeom prst="rect">
            <a:avLst/>
          </a:prstGeom>
          <a:solidFill>
            <a:schemeClr val="accent2"/>
          </a:solidFill>
          <a:ln w="9525">
            <a:noFill/>
          </a:ln>
        </p:spPr>
        <p:txBody>
          <a:bodyPr>
            <a:spAutoFit/>
          </a:bodyPr>
          <a:p>
            <a:pPr>
              <a:spcBef>
                <a:spcPct val="50000"/>
              </a:spcBef>
            </a:pPr>
            <a:r>
              <a:rPr sz="1800" dirty="0">
                <a:latin typeface="Tahoma" panose="020B0604030504040204" pitchFamily="34" charset="0"/>
              </a:rPr>
              <a:t>the maximum likelihood</a:t>
            </a:r>
            <a:endParaRPr sz="1800" dirty="0">
              <a:latin typeface="Tahoma" panose="020B0604030504040204" pitchFamily="34" charset="0"/>
            </a:endParaRPr>
          </a:p>
        </p:txBody>
      </p:sp>
      <p:pic>
        <p:nvPicPr>
          <p:cNvPr id="43016" name="Picture 7"/>
          <p:cNvPicPr>
            <a:picLocks noChangeAspect="1"/>
          </p:cNvPicPr>
          <p:nvPr/>
        </p:nvPicPr>
        <p:blipFill>
          <a:blip r:embed="rId4"/>
          <a:stretch>
            <a:fillRect/>
          </a:stretch>
        </p:blipFill>
        <p:spPr>
          <a:xfrm>
            <a:off x="3048000" y="5638800"/>
            <a:ext cx="4873625" cy="304800"/>
          </a:xfrm>
          <a:prstGeom prst="rect">
            <a:avLst/>
          </a:prstGeom>
          <a:noFill/>
          <a:ln w="9525">
            <a:noFill/>
          </a:ln>
        </p:spPr>
      </p:pic>
      <p:sp>
        <p:nvSpPr>
          <p:cNvPr id="43017" name="Text Box 9"/>
          <p:cNvSpPr txBox="1"/>
          <p:nvPr/>
        </p:nvSpPr>
        <p:spPr>
          <a:xfrm>
            <a:off x="5105400" y="5562600"/>
            <a:ext cx="2895600" cy="457200"/>
          </a:xfrm>
          <a:prstGeom prst="rect">
            <a:avLst/>
          </a:prstGeom>
          <a:solidFill>
            <a:schemeClr val="accent2">
              <a:alpha val="25098"/>
            </a:schemeClr>
          </a:solidFill>
          <a:ln w="9525">
            <a:noFill/>
          </a:ln>
        </p:spPr>
        <p:txBody>
          <a:bodyPr>
            <a:spAutoFit/>
          </a:bodyPr>
          <a:p>
            <a:pPr>
              <a:spcBef>
                <a:spcPct val="50000"/>
              </a:spcBef>
            </a:pPr>
            <a:endParaRPr dirty="0">
              <a:latin typeface="Tahoma" panose="020B0604030504040204" pitchFamily="34" charset="0"/>
            </a:endParaRPr>
          </a:p>
        </p:txBody>
      </p:sp>
      <p:sp>
        <p:nvSpPr>
          <p:cNvPr id="43018" name="Line 10"/>
          <p:cNvSpPr/>
          <p:nvPr/>
        </p:nvSpPr>
        <p:spPr>
          <a:xfrm flipH="1">
            <a:off x="6096000" y="5334000"/>
            <a:ext cx="457200" cy="228600"/>
          </a:xfrm>
          <a:prstGeom prst="line">
            <a:avLst/>
          </a:prstGeom>
          <a:ln w="9525" cap="flat" cmpd="sng">
            <a:solidFill>
              <a:schemeClr val="hlink"/>
            </a:solidFill>
            <a:prstDash val="solid"/>
            <a:headEnd type="none" w="med" len="med"/>
            <a:tailEnd type="triangle" w="med" len="med"/>
          </a:ln>
        </p:spPr>
      </p:sp>
      <p:sp>
        <p:nvSpPr>
          <p:cNvPr id="43019"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title"/>
          </p:nvPr>
        </p:nvSpPr>
        <p:spPr>
          <a:xfrm>
            <a:off x="0" y="304800"/>
            <a:ext cx="9144000" cy="609600"/>
          </a:xfrm>
        </p:spPr>
        <p:txBody>
          <a:bodyPr vert="horz" wrap="square" lIns="91440" tIns="45720" rIns="91440" bIns="45720" anchor="b" anchorCtr="0"/>
          <a:p>
            <a:r>
              <a:rPr sz="3200" dirty="0"/>
              <a:t>A Probabilistic Hierarchical Clustering Algorithm</a:t>
            </a:r>
            <a:endParaRPr sz="3200" dirty="0"/>
          </a:p>
        </p:txBody>
      </p:sp>
      <p:sp>
        <p:nvSpPr>
          <p:cNvPr id="44035" name="Rectangle 3"/>
          <p:cNvSpPr>
            <a:spLocks noGrp="1"/>
          </p:cNvSpPr>
          <p:nvPr>
            <p:ph type="body" idx="4294967295"/>
          </p:nvPr>
        </p:nvSpPr>
        <p:spPr>
          <a:xfrm>
            <a:off x="228600" y="1371600"/>
            <a:ext cx="8534400" cy="5105400"/>
          </a:xfrm>
        </p:spPr>
        <p:txBody>
          <a:bodyPr vert="horz" wrap="square" lIns="91440" tIns="45720" rIns="91440" bIns="45720" anchor="t" anchorCtr="0"/>
          <a:p>
            <a:r>
              <a:rPr sz="2000" dirty="0"/>
              <a:t>For a set of objects partitioned into </a:t>
            </a:r>
            <a:r>
              <a:rPr sz="2000" i="1" dirty="0"/>
              <a:t>m</a:t>
            </a:r>
            <a:r>
              <a:rPr sz="2000" dirty="0"/>
              <a:t> clusters </a:t>
            </a:r>
            <a:r>
              <a:rPr sz="2000" i="1" dirty="0"/>
              <a:t>C</a:t>
            </a:r>
            <a:r>
              <a:rPr sz="2000" i="1" baseline="-25000" dirty="0"/>
              <a:t>1</a:t>
            </a:r>
            <a:r>
              <a:rPr sz="2000" i="1" dirty="0"/>
              <a:t>, . . . ,C</a:t>
            </a:r>
            <a:r>
              <a:rPr sz="2000" i="1" baseline="-25000" dirty="0"/>
              <a:t>m</a:t>
            </a:r>
            <a:r>
              <a:rPr sz="2000" dirty="0"/>
              <a:t>, the quality can be measured by, </a:t>
            </a:r>
            <a:endParaRPr sz="2000" dirty="0"/>
          </a:p>
          <a:p>
            <a:endParaRPr sz="2000" dirty="0"/>
          </a:p>
          <a:p>
            <a:pPr lvl="1">
              <a:buNone/>
            </a:pPr>
            <a:r>
              <a:rPr sz="2000" dirty="0"/>
              <a:t>where </a:t>
            </a:r>
            <a:r>
              <a:rPr sz="2000" i="1" dirty="0"/>
              <a:t>P</a:t>
            </a:r>
            <a:r>
              <a:rPr sz="2000" dirty="0"/>
              <a:t>() is the maximum likelihood</a:t>
            </a:r>
            <a:endParaRPr sz="2000" dirty="0"/>
          </a:p>
          <a:p>
            <a:r>
              <a:rPr sz="2000" dirty="0"/>
              <a:t>Distance between clusters </a:t>
            </a:r>
            <a:r>
              <a:rPr sz="2000" i="1" dirty="0"/>
              <a:t>C</a:t>
            </a:r>
            <a:r>
              <a:rPr sz="2000" i="1" baseline="-25000" dirty="0"/>
              <a:t>1</a:t>
            </a:r>
            <a:r>
              <a:rPr sz="2000" dirty="0"/>
              <a:t> and </a:t>
            </a:r>
            <a:r>
              <a:rPr sz="2000" i="1" dirty="0"/>
              <a:t>C</a:t>
            </a:r>
            <a:r>
              <a:rPr sz="2000" i="1" baseline="-25000" dirty="0"/>
              <a:t>2</a:t>
            </a:r>
            <a:r>
              <a:rPr sz="2000" dirty="0"/>
              <a:t>:</a:t>
            </a:r>
            <a:endParaRPr sz="2000" dirty="0"/>
          </a:p>
          <a:p>
            <a:r>
              <a:rPr sz="2000" dirty="0"/>
              <a:t>Algorithm: Progressively merge points and clusters</a:t>
            </a:r>
            <a:endParaRPr sz="2000" dirty="0"/>
          </a:p>
          <a:p>
            <a:pPr lvl="1">
              <a:buNone/>
            </a:pPr>
            <a:r>
              <a:rPr sz="2000" dirty="0"/>
              <a:t>Input: </a:t>
            </a:r>
            <a:r>
              <a:rPr sz="2000" i="1" dirty="0"/>
              <a:t>D</a:t>
            </a:r>
            <a:r>
              <a:rPr sz="2000" dirty="0"/>
              <a:t> = {</a:t>
            </a:r>
            <a:r>
              <a:rPr sz="2000" i="1" dirty="0"/>
              <a:t>o</a:t>
            </a:r>
            <a:r>
              <a:rPr sz="2000" i="1" baseline="-25000" dirty="0"/>
              <a:t>1</a:t>
            </a:r>
            <a:r>
              <a:rPr sz="2000" i="1" dirty="0"/>
              <a:t>, ..., o</a:t>
            </a:r>
            <a:r>
              <a:rPr sz="2000" i="1" baseline="-25000" dirty="0"/>
              <a:t>n</a:t>
            </a:r>
            <a:r>
              <a:rPr sz="2000" dirty="0"/>
              <a:t>}: a data set containing n objects</a:t>
            </a:r>
            <a:endParaRPr sz="2000" dirty="0"/>
          </a:p>
          <a:p>
            <a:pPr lvl="1">
              <a:buNone/>
            </a:pPr>
            <a:r>
              <a:rPr sz="2000" dirty="0"/>
              <a:t>Output: A hierarchy of clusters</a:t>
            </a:r>
            <a:endParaRPr sz="2000" dirty="0"/>
          </a:p>
          <a:p>
            <a:pPr lvl="1">
              <a:buNone/>
            </a:pPr>
            <a:r>
              <a:rPr sz="2000" dirty="0"/>
              <a:t>Method</a:t>
            </a:r>
            <a:endParaRPr sz="2000" dirty="0"/>
          </a:p>
          <a:p>
            <a:pPr lvl="2">
              <a:buNone/>
            </a:pPr>
            <a:r>
              <a:rPr sz="2000" dirty="0"/>
              <a:t>Create a cluster for each object </a:t>
            </a:r>
            <a:r>
              <a:rPr sz="2000" i="1" dirty="0"/>
              <a:t>C</a:t>
            </a:r>
            <a:r>
              <a:rPr sz="2000" i="1" baseline="-25000" dirty="0"/>
              <a:t>i</a:t>
            </a:r>
            <a:r>
              <a:rPr sz="2000" dirty="0"/>
              <a:t> = {</a:t>
            </a:r>
            <a:r>
              <a:rPr sz="2000" i="1" dirty="0"/>
              <a:t>o</a:t>
            </a:r>
            <a:r>
              <a:rPr sz="2000" i="1" baseline="-25000" dirty="0"/>
              <a:t>i</a:t>
            </a:r>
            <a:r>
              <a:rPr sz="2000" dirty="0"/>
              <a:t>}, 1 ≤ i ≤ n;</a:t>
            </a:r>
            <a:endParaRPr sz="2000" dirty="0"/>
          </a:p>
          <a:p>
            <a:pPr lvl="2">
              <a:buNone/>
            </a:pPr>
            <a:r>
              <a:rPr sz="2000" dirty="0"/>
              <a:t>For i = 1 to n {</a:t>
            </a:r>
            <a:endParaRPr sz="2000" dirty="0"/>
          </a:p>
          <a:p>
            <a:pPr lvl="3">
              <a:buNone/>
            </a:pPr>
            <a:r>
              <a:rPr dirty="0"/>
              <a:t>Find pair of clusters </a:t>
            </a:r>
            <a:r>
              <a:rPr i="1" dirty="0"/>
              <a:t>C</a:t>
            </a:r>
            <a:r>
              <a:rPr baseline="-25000" dirty="0"/>
              <a:t>i</a:t>
            </a:r>
            <a:r>
              <a:rPr dirty="0"/>
              <a:t> and </a:t>
            </a:r>
            <a:r>
              <a:rPr i="1" dirty="0"/>
              <a:t>C</a:t>
            </a:r>
            <a:r>
              <a:rPr i="1" baseline="-25000" dirty="0"/>
              <a:t>j</a:t>
            </a:r>
            <a:r>
              <a:rPr dirty="0"/>
              <a:t> such that </a:t>
            </a:r>
            <a:endParaRPr dirty="0"/>
          </a:p>
          <a:p>
            <a:pPr lvl="4">
              <a:buNone/>
            </a:pPr>
            <a:r>
              <a:rPr dirty="0"/>
              <a:t>C</a:t>
            </a:r>
            <a:r>
              <a:rPr baseline="-25000" dirty="0"/>
              <a:t>i</a:t>
            </a:r>
            <a:r>
              <a:rPr dirty="0"/>
              <a:t>,C</a:t>
            </a:r>
            <a:r>
              <a:rPr baseline="-25000" dirty="0"/>
              <a:t>j</a:t>
            </a:r>
            <a:r>
              <a:rPr dirty="0"/>
              <a:t> = argmax</a:t>
            </a:r>
            <a:r>
              <a:rPr baseline="-25000" dirty="0"/>
              <a:t>i ≠ j</a:t>
            </a:r>
            <a:r>
              <a:rPr dirty="0"/>
              <a:t> {log (P(C</a:t>
            </a:r>
            <a:r>
              <a:rPr baseline="-25000" dirty="0"/>
              <a:t>i</a:t>
            </a:r>
            <a:r>
              <a:rPr dirty="0"/>
              <a:t>∪C</a:t>
            </a:r>
            <a:r>
              <a:rPr baseline="-25000" dirty="0"/>
              <a:t>j</a:t>
            </a:r>
            <a:r>
              <a:rPr dirty="0"/>
              <a:t> )/(P(C</a:t>
            </a:r>
            <a:r>
              <a:rPr baseline="-25000" dirty="0"/>
              <a:t>i</a:t>
            </a:r>
            <a:r>
              <a:rPr dirty="0"/>
              <a:t>)P(C</a:t>
            </a:r>
            <a:r>
              <a:rPr baseline="-25000" dirty="0"/>
              <a:t>j</a:t>
            </a:r>
            <a:r>
              <a:rPr dirty="0"/>
              <a:t> ))};</a:t>
            </a:r>
            <a:endParaRPr dirty="0"/>
          </a:p>
          <a:p>
            <a:pPr lvl="3" algn="just">
              <a:buNone/>
            </a:pPr>
            <a:r>
              <a:rPr dirty="0"/>
              <a:t>If log (P(C</a:t>
            </a:r>
            <a:r>
              <a:rPr baseline="-25000" dirty="0"/>
              <a:t>i</a:t>
            </a:r>
            <a:r>
              <a:rPr dirty="0"/>
              <a:t>∪C</a:t>
            </a:r>
            <a:r>
              <a:rPr baseline="-25000" dirty="0"/>
              <a:t>j</a:t>
            </a:r>
            <a:r>
              <a:rPr dirty="0"/>
              <a:t> )/(P(C</a:t>
            </a:r>
            <a:r>
              <a:rPr baseline="-25000" dirty="0"/>
              <a:t>i</a:t>
            </a:r>
            <a:r>
              <a:rPr dirty="0"/>
              <a:t>)P(C</a:t>
            </a:r>
            <a:r>
              <a:rPr baseline="-25000" dirty="0"/>
              <a:t>j</a:t>
            </a:r>
            <a:r>
              <a:rPr dirty="0"/>
              <a:t> )) &gt; 0 then merge C</a:t>
            </a:r>
            <a:r>
              <a:rPr baseline="-25000" dirty="0"/>
              <a:t>i</a:t>
            </a:r>
            <a:r>
              <a:rPr dirty="0"/>
              <a:t> and C</a:t>
            </a:r>
            <a:r>
              <a:rPr baseline="-25000" dirty="0"/>
              <a:t>j</a:t>
            </a:r>
            <a:r>
              <a:rPr dirty="0"/>
              <a:t> }</a:t>
            </a:r>
            <a:endParaRPr dirty="0"/>
          </a:p>
        </p:txBody>
      </p:sp>
      <p:pic>
        <p:nvPicPr>
          <p:cNvPr id="44036" name="Picture 4"/>
          <p:cNvPicPr>
            <a:picLocks noChangeAspect="1"/>
          </p:cNvPicPr>
          <p:nvPr/>
        </p:nvPicPr>
        <p:blipFill>
          <a:blip r:embed="rId1"/>
          <a:stretch>
            <a:fillRect/>
          </a:stretch>
        </p:blipFill>
        <p:spPr>
          <a:xfrm>
            <a:off x="3352800" y="1773238"/>
            <a:ext cx="3025775" cy="665162"/>
          </a:xfrm>
          <a:prstGeom prst="rect">
            <a:avLst/>
          </a:prstGeom>
          <a:noFill/>
          <a:ln w="9525">
            <a:noFill/>
          </a:ln>
        </p:spPr>
      </p:pic>
      <p:pic>
        <p:nvPicPr>
          <p:cNvPr id="44037" name="Picture 5"/>
          <p:cNvPicPr>
            <a:picLocks noChangeAspect="1"/>
          </p:cNvPicPr>
          <p:nvPr/>
        </p:nvPicPr>
        <p:blipFill>
          <a:blip r:embed="rId2"/>
          <a:stretch>
            <a:fillRect/>
          </a:stretch>
        </p:blipFill>
        <p:spPr>
          <a:xfrm>
            <a:off x="5105400" y="2540000"/>
            <a:ext cx="3581400" cy="736600"/>
          </a:xfrm>
          <a:prstGeom prst="rect">
            <a:avLst/>
          </a:prstGeom>
          <a:noFill/>
          <a:ln w="9525">
            <a:noFill/>
          </a:ln>
        </p:spPr>
      </p:pic>
      <p:sp>
        <p:nvSpPr>
          <p:cNvPr id="44038"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45059" name="Rectangle 2"/>
          <p:cNvSpPr>
            <a:spLocks noGrp="1"/>
          </p:cNvSpPr>
          <p:nvPr>
            <p:ph type="title" idx="4294967295"/>
          </p:nvPr>
        </p:nvSpPr>
        <p:spPr>
          <a:xfrm>
            <a:off x="0" y="152400"/>
            <a:ext cx="9144000" cy="990600"/>
          </a:xfrm>
        </p:spPr>
        <p:txBody>
          <a:bodyPr vert="horz" wrap="square" lIns="92075" tIns="46038" rIns="92075" bIns="46038" anchor="ctr" anchorCtr="0"/>
          <a:p>
            <a:pPr eaLnBrk="1" hangingPunct="1"/>
            <a:r>
              <a:rPr sz="3200" dirty="0"/>
              <a:t>Chapter 10. </a:t>
            </a:r>
            <a:r>
              <a:rPr lang="en-AU" altLang="zh-TW" sz="3200" dirty="0">
                <a:ea typeface="PMingLiU" panose="02020500000000000000" pitchFamily="18" charset="-120"/>
              </a:rPr>
              <a:t>Cluster Analysis: Basic Concepts and Methods</a:t>
            </a:r>
            <a:endParaRPr sz="3200" dirty="0">
              <a:ea typeface="PMingLiU" panose="02020500000000000000" pitchFamily="18" charset="-120"/>
            </a:endParaRPr>
          </a:p>
        </p:txBody>
      </p:sp>
      <p:sp>
        <p:nvSpPr>
          <p:cNvPr id="45060" name="Rectangle 3"/>
          <p:cNvSpPr>
            <a:spLocks noGrp="1"/>
          </p:cNvSpPr>
          <p:nvPr>
            <p:ph type="body" idx="4294967295"/>
          </p:nvPr>
        </p:nvSpPr>
        <p:spPr>
          <a:xfrm>
            <a:off x="381000" y="1371600"/>
            <a:ext cx="8223250" cy="5181600"/>
          </a:xfrm>
        </p:spPr>
        <p:txBody>
          <a:bodyPr vert="horz" wrap="square" lIns="92075" tIns="46038" rIns="92075" bIns="46038" anchor="t" anchorCtr="0"/>
          <a:p>
            <a:pPr marL="533400" indent="-533400">
              <a:lnSpc>
                <a:spcPct val="130000"/>
              </a:lnSpc>
            </a:pPr>
            <a:r>
              <a:rPr dirty="0">
                <a:latin typeface="Calibri" panose="020F0502020204030204" pitchFamily="34" charset="0"/>
              </a:rPr>
              <a:t>Cluster Analysis: Basic Concepts</a:t>
            </a:r>
            <a:endParaRPr dirty="0">
              <a:latin typeface="Calibri" panose="020F0502020204030204" pitchFamily="34" charset="0"/>
            </a:endParaRPr>
          </a:p>
          <a:p>
            <a:pPr marL="533400" indent="-533400">
              <a:lnSpc>
                <a:spcPct val="130000"/>
              </a:lnSpc>
            </a:pPr>
            <a:r>
              <a:rPr dirty="0">
                <a:latin typeface="Calibri" panose="020F0502020204030204" pitchFamily="34" charset="0"/>
              </a:rPr>
              <a:t>Partitioning Methods</a:t>
            </a:r>
            <a:endParaRPr dirty="0">
              <a:latin typeface="Calibri" panose="020F0502020204030204" pitchFamily="34" charset="0"/>
            </a:endParaRPr>
          </a:p>
          <a:p>
            <a:pPr marL="533400" indent="-533400">
              <a:lnSpc>
                <a:spcPct val="130000"/>
              </a:lnSpc>
            </a:pPr>
            <a:r>
              <a:rPr dirty="0">
                <a:latin typeface="Calibri" panose="020F0502020204030204" pitchFamily="34" charset="0"/>
              </a:rPr>
              <a:t>Hierarchical Methods</a:t>
            </a:r>
            <a:endParaRPr dirty="0">
              <a:latin typeface="Calibri" panose="020F0502020204030204" pitchFamily="34" charset="0"/>
            </a:endParaRPr>
          </a:p>
          <a:p>
            <a:pPr marL="533400" indent="-533400">
              <a:lnSpc>
                <a:spcPct val="130000"/>
              </a:lnSpc>
            </a:pPr>
            <a:r>
              <a:rPr dirty="0">
                <a:latin typeface="Calibri" panose="020F0502020204030204" pitchFamily="34" charset="0"/>
              </a:rPr>
              <a:t>Density-Based Methods</a:t>
            </a:r>
            <a:endParaRPr dirty="0">
              <a:latin typeface="Calibri" panose="020F0502020204030204" pitchFamily="34" charset="0"/>
            </a:endParaRPr>
          </a:p>
          <a:p>
            <a:pPr marL="533400" indent="-533400">
              <a:lnSpc>
                <a:spcPct val="130000"/>
              </a:lnSpc>
            </a:pPr>
            <a:r>
              <a:rPr dirty="0">
                <a:latin typeface="Calibri" panose="020F0502020204030204" pitchFamily="34" charset="0"/>
              </a:rPr>
              <a:t>Grid-Based Methods</a:t>
            </a:r>
            <a:endParaRPr dirty="0">
              <a:latin typeface="Calibri" panose="020F0502020204030204" pitchFamily="34" charset="0"/>
            </a:endParaRPr>
          </a:p>
          <a:p>
            <a:pPr marL="533400" indent="-533400">
              <a:lnSpc>
                <a:spcPct val="130000"/>
              </a:lnSpc>
            </a:pPr>
            <a:r>
              <a:rPr dirty="0">
                <a:latin typeface="Calibri" panose="020F0502020204030204" pitchFamily="34" charset="0"/>
              </a:rPr>
              <a:t>Evaluation of Clustering</a:t>
            </a:r>
            <a:endParaRPr dirty="0">
              <a:latin typeface="Calibri" panose="020F0502020204030204" pitchFamily="34" charset="0"/>
            </a:endParaRPr>
          </a:p>
          <a:p>
            <a:pPr marL="533400" indent="-533400">
              <a:lnSpc>
                <a:spcPct val="130000"/>
              </a:lnSpc>
            </a:pPr>
            <a:r>
              <a:rPr dirty="0">
                <a:latin typeface="Calibri" panose="020F0502020204030204" pitchFamily="34" charset="0"/>
              </a:rPr>
              <a:t>Summary</a:t>
            </a:r>
            <a:endParaRPr dirty="0">
              <a:latin typeface="Calibri" panose="020F0502020204030204" pitchFamily="34" charset="0"/>
            </a:endParaRPr>
          </a:p>
        </p:txBody>
      </p:sp>
      <p:sp>
        <p:nvSpPr>
          <p:cNvPr id="45061" name="AutoShape 5"/>
          <p:cNvSpPr/>
          <p:nvPr/>
        </p:nvSpPr>
        <p:spPr>
          <a:xfrm rot="9867012">
            <a:off x="4648200" y="3352800"/>
            <a:ext cx="304800" cy="381000"/>
          </a:xfrm>
          <a:prstGeom prst="notchedRightArrow">
            <a:avLst>
              <a:gd name="adj1" fmla="val 50000"/>
              <a:gd name="adj2" fmla="val 25000"/>
            </a:avLst>
          </a:prstGeom>
          <a:solidFill>
            <a:srgbClr val="00CCFF"/>
          </a:solidFill>
          <a:ln w="9525" cap="flat" cmpd="sng">
            <a:solidFill>
              <a:schemeClr val="tx1"/>
            </a:solidFill>
            <a:prstDash val="solid"/>
            <a:miter/>
            <a:headEnd type="none" w="med" len="med"/>
            <a:tailEnd type="none" w="med" len="med"/>
          </a:ln>
        </p:spPr>
        <p:txBody>
          <a:bodyPr rot="10800000" wrap="none" anchor="ctr" anchorCtr="0"/>
          <a:p>
            <a:endParaRPr dirty="0">
              <a:latin typeface="Tahoma" panose="020B0604030504040204" pitchFamily="34" charset="0"/>
            </a:endParaRPr>
          </a:p>
        </p:txBody>
      </p:sp>
      <p:sp>
        <p:nvSpPr>
          <p:cNvPr id="45062"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2"/>
          <p:cNvSpPr>
            <a:spLocks noGrp="1"/>
          </p:cNvSpPr>
          <p:nvPr>
            <p:ph type="title"/>
          </p:nvPr>
        </p:nvSpPr>
        <p:spPr>
          <a:xfrm>
            <a:off x="304800" y="228600"/>
            <a:ext cx="8610600" cy="706438"/>
          </a:xfrm>
        </p:spPr>
        <p:txBody>
          <a:bodyPr vert="horz" wrap="square" lIns="91440" tIns="45720" rIns="91440" bIns="45720" anchor="b" anchorCtr="0"/>
          <a:p>
            <a:pPr eaLnBrk="1" hangingPunct="1"/>
            <a:r>
              <a:rPr lang="en-US" altLang="zh-CN" dirty="0">
                <a:ea typeface="SimSun" panose="02010600030101010101" pitchFamily="2" charset="-122"/>
              </a:rPr>
              <a:t>Density-Based Clustering Methods</a:t>
            </a:r>
            <a:endParaRPr lang="en-US" altLang="zh-CN" dirty="0">
              <a:ea typeface="SimSun" panose="02010600030101010101" pitchFamily="2" charset="-122"/>
            </a:endParaRPr>
          </a:p>
        </p:txBody>
      </p:sp>
      <p:sp>
        <p:nvSpPr>
          <p:cNvPr id="46083" name="Rectangle 3"/>
          <p:cNvSpPr>
            <a:spLocks noGrp="1"/>
          </p:cNvSpPr>
          <p:nvPr>
            <p:ph idx="1"/>
          </p:nvPr>
        </p:nvSpPr>
        <p:spPr>
          <a:xfrm>
            <a:off x="381000" y="1371600"/>
            <a:ext cx="8534400" cy="5181600"/>
          </a:xfrm>
        </p:spPr>
        <p:txBody>
          <a:bodyPr vert="horz" wrap="square" lIns="91440" tIns="45720" rIns="91440" bIns="45720" anchor="t" anchorCtr="0"/>
          <a:p>
            <a:pPr eaLnBrk="1" hangingPunct="1">
              <a:spcBef>
                <a:spcPct val="50000"/>
              </a:spcBef>
            </a:pPr>
            <a:r>
              <a:rPr lang="en-US" altLang="zh-CN" sz="2400" dirty="0">
                <a:ea typeface="SimSun" panose="02010600030101010101" pitchFamily="2" charset="-122"/>
              </a:rPr>
              <a:t>Clustering based on density (local cluster criterion), such as density-connected points</a:t>
            </a:r>
            <a:endParaRPr lang="en-US" altLang="zh-CN" sz="2400" dirty="0">
              <a:ea typeface="SimSun" panose="02010600030101010101" pitchFamily="2" charset="-122"/>
            </a:endParaRPr>
          </a:p>
          <a:p>
            <a:pPr eaLnBrk="1" hangingPunct="1">
              <a:lnSpc>
                <a:spcPct val="50000"/>
              </a:lnSpc>
              <a:spcBef>
                <a:spcPct val="50000"/>
              </a:spcBef>
            </a:pPr>
            <a:r>
              <a:rPr lang="en-US" altLang="zh-CN" sz="2400" dirty="0">
                <a:ea typeface="SimSun" panose="02010600030101010101" pitchFamily="2" charset="-122"/>
              </a:rPr>
              <a:t>Major features:</a:t>
            </a:r>
            <a:endParaRPr lang="en-US" altLang="zh-CN" sz="2400" dirty="0">
              <a:ea typeface="SimSun" panose="02010600030101010101" pitchFamily="2" charset="-122"/>
            </a:endParaRPr>
          </a:p>
          <a:p>
            <a:pPr lvl="1" eaLnBrk="1" hangingPunct="1">
              <a:lnSpc>
                <a:spcPct val="50000"/>
              </a:lnSpc>
              <a:spcBef>
                <a:spcPct val="50000"/>
              </a:spcBef>
            </a:pPr>
            <a:r>
              <a:rPr lang="en-US" altLang="zh-CN" sz="2400" dirty="0">
                <a:ea typeface="SimSun" panose="02010600030101010101" pitchFamily="2" charset="-122"/>
              </a:rPr>
              <a:t>Discover clusters of arbitrary shape</a:t>
            </a:r>
            <a:endParaRPr lang="en-US" altLang="zh-CN" sz="2400" dirty="0">
              <a:ea typeface="SimSun" panose="02010600030101010101" pitchFamily="2" charset="-122"/>
            </a:endParaRPr>
          </a:p>
          <a:p>
            <a:pPr lvl="1" eaLnBrk="1" hangingPunct="1">
              <a:lnSpc>
                <a:spcPct val="50000"/>
              </a:lnSpc>
              <a:spcBef>
                <a:spcPct val="50000"/>
              </a:spcBef>
            </a:pPr>
            <a:r>
              <a:rPr lang="en-US" altLang="zh-CN" sz="2400" dirty="0">
                <a:ea typeface="SimSun" panose="02010600030101010101" pitchFamily="2" charset="-122"/>
              </a:rPr>
              <a:t>Handle noise</a:t>
            </a:r>
            <a:endParaRPr lang="en-US" altLang="zh-CN" sz="2400" dirty="0">
              <a:ea typeface="SimSun" panose="02010600030101010101" pitchFamily="2" charset="-122"/>
            </a:endParaRPr>
          </a:p>
          <a:p>
            <a:pPr lvl="1" eaLnBrk="1" hangingPunct="1">
              <a:lnSpc>
                <a:spcPct val="50000"/>
              </a:lnSpc>
              <a:spcBef>
                <a:spcPct val="50000"/>
              </a:spcBef>
            </a:pPr>
            <a:r>
              <a:rPr lang="en-US" altLang="zh-CN" sz="2400" dirty="0">
                <a:ea typeface="SimSun" panose="02010600030101010101" pitchFamily="2" charset="-122"/>
              </a:rPr>
              <a:t>One scan</a:t>
            </a:r>
            <a:endParaRPr lang="en-US" altLang="zh-CN" sz="2400" dirty="0">
              <a:ea typeface="SimSun" panose="02010600030101010101" pitchFamily="2" charset="-122"/>
            </a:endParaRPr>
          </a:p>
          <a:p>
            <a:pPr lvl="1" eaLnBrk="1" hangingPunct="1">
              <a:lnSpc>
                <a:spcPct val="50000"/>
              </a:lnSpc>
              <a:spcBef>
                <a:spcPct val="50000"/>
              </a:spcBef>
            </a:pPr>
            <a:r>
              <a:rPr lang="en-US" altLang="zh-CN" sz="2400" dirty="0">
                <a:ea typeface="SimSun" panose="02010600030101010101" pitchFamily="2" charset="-122"/>
              </a:rPr>
              <a:t>Need density parameters as termination condition</a:t>
            </a:r>
            <a:endParaRPr lang="en-US" altLang="zh-CN" sz="2400" dirty="0">
              <a:ea typeface="SimSun" panose="02010600030101010101" pitchFamily="2" charset="-122"/>
            </a:endParaRPr>
          </a:p>
          <a:p>
            <a:pPr eaLnBrk="1" hangingPunct="1">
              <a:lnSpc>
                <a:spcPct val="90000"/>
              </a:lnSpc>
              <a:spcBef>
                <a:spcPct val="50000"/>
              </a:spcBef>
            </a:pPr>
            <a:r>
              <a:rPr lang="en-US" altLang="zh-CN" sz="2400" dirty="0">
                <a:ea typeface="SimSun" panose="02010600030101010101" pitchFamily="2" charset="-122"/>
              </a:rPr>
              <a:t>Several interesting studies:</a:t>
            </a:r>
            <a:endParaRPr lang="en-US" altLang="zh-CN" sz="2400" dirty="0">
              <a:ea typeface="SimSun" panose="02010600030101010101" pitchFamily="2" charset="-122"/>
            </a:endParaRPr>
          </a:p>
          <a:p>
            <a:pPr lvl="1" eaLnBrk="1" hangingPunct="1"/>
            <a:r>
              <a:rPr lang="en-US" altLang="zh-CN" sz="2400" u="sng" dirty="0">
                <a:ea typeface="SimSun" panose="02010600030101010101" pitchFamily="2" charset="-122"/>
              </a:rPr>
              <a:t>DBSCAN:</a:t>
            </a:r>
            <a:r>
              <a:rPr lang="en-US" altLang="zh-CN" sz="2400" dirty="0">
                <a:ea typeface="SimSun" panose="02010600030101010101" pitchFamily="2" charset="-122"/>
              </a:rPr>
              <a:t> Ester, et al. (KDD</a:t>
            </a:r>
            <a:r>
              <a:rPr lang="en-US" altLang="zh-CN" sz="2400" dirty="0">
                <a:latin typeface="Times New Roman" panose="02020603050405020304" pitchFamily="18" charset="0"/>
                <a:ea typeface="SimSun" panose="02010600030101010101" pitchFamily="2" charset="-122"/>
              </a:rPr>
              <a:t>’</a:t>
            </a:r>
            <a:r>
              <a:rPr lang="en-US" altLang="zh-CN" sz="2400" dirty="0">
                <a:ea typeface="SimSun" panose="02010600030101010101" pitchFamily="2" charset="-122"/>
              </a:rPr>
              <a:t>96)</a:t>
            </a:r>
            <a:endParaRPr lang="en-US" altLang="zh-CN" sz="2400" dirty="0">
              <a:ea typeface="SimSun" panose="02010600030101010101" pitchFamily="2" charset="-122"/>
            </a:endParaRPr>
          </a:p>
          <a:p>
            <a:pPr lvl="1" eaLnBrk="1" hangingPunct="1"/>
            <a:r>
              <a:rPr lang="en-US" altLang="zh-CN" sz="2400" u="sng" dirty="0">
                <a:ea typeface="SimSun" panose="02010600030101010101" pitchFamily="2" charset="-122"/>
              </a:rPr>
              <a:t>OPTICS</a:t>
            </a:r>
            <a:r>
              <a:rPr lang="en-US" altLang="zh-CN" sz="2400" dirty="0">
                <a:ea typeface="SimSun" panose="02010600030101010101" pitchFamily="2" charset="-122"/>
              </a:rPr>
              <a:t>: Ankerst, et al (SIGMOD</a:t>
            </a:r>
            <a:r>
              <a:rPr lang="en-US" altLang="zh-CN" sz="2400" dirty="0">
                <a:latin typeface="Times New Roman" panose="02020603050405020304" pitchFamily="18" charset="0"/>
                <a:ea typeface="SimSun" panose="02010600030101010101" pitchFamily="2" charset="-122"/>
              </a:rPr>
              <a:t>’</a:t>
            </a:r>
            <a:r>
              <a:rPr lang="en-US" altLang="zh-CN" sz="2400" dirty="0">
                <a:ea typeface="SimSun" panose="02010600030101010101" pitchFamily="2" charset="-122"/>
              </a:rPr>
              <a:t>99).</a:t>
            </a:r>
            <a:endParaRPr lang="en-US" altLang="zh-CN" sz="2400" dirty="0">
              <a:ea typeface="SimSun" panose="02010600030101010101" pitchFamily="2" charset="-122"/>
            </a:endParaRPr>
          </a:p>
          <a:p>
            <a:pPr lvl="1" eaLnBrk="1" hangingPunct="1"/>
            <a:r>
              <a:rPr lang="en-US" altLang="zh-CN" sz="2400" u="sng" dirty="0">
                <a:ea typeface="SimSun" panose="02010600030101010101" pitchFamily="2" charset="-122"/>
              </a:rPr>
              <a:t>DENCLUE</a:t>
            </a:r>
            <a:r>
              <a:rPr lang="en-US" altLang="zh-CN" sz="2400" dirty="0">
                <a:ea typeface="SimSun" panose="02010600030101010101" pitchFamily="2" charset="-122"/>
              </a:rPr>
              <a:t>: Hinneburg &amp; D. Keim  (KDD</a:t>
            </a:r>
            <a:r>
              <a:rPr lang="en-US" altLang="zh-CN" sz="2400" dirty="0">
                <a:latin typeface="Times New Roman" panose="02020603050405020304" pitchFamily="18" charset="0"/>
                <a:ea typeface="SimSun" panose="02010600030101010101" pitchFamily="2" charset="-122"/>
              </a:rPr>
              <a:t>’</a:t>
            </a:r>
            <a:r>
              <a:rPr lang="en-US" altLang="zh-CN" sz="2400" dirty="0">
                <a:ea typeface="SimSun" panose="02010600030101010101" pitchFamily="2" charset="-122"/>
              </a:rPr>
              <a:t>98)</a:t>
            </a:r>
            <a:endParaRPr lang="en-US" altLang="zh-CN" sz="2400" dirty="0">
              <a:ea typeface="SimSun" panose="02010600030101010101" pitchFamily="2" charset="-122"/>
            </a:endParaRPr>
          </a:p>
          <a:p>
            <a:pPr lvl="1" eaLnBrk="1" hangingPunct="1"/>
            <a:r>
              <a:rPr lang="en-US" altLang="zh-CN" sz="2400" u="sng" dirty="0">
                <a:ea typeface="SimSun" panose="02010600030101010101" pitchFamily="2" charset="-122"/>
              </a:rPr>
              <a:t>CLIQUE</a:t>
            </a:r>
            <a:r>
              <a:rPr lang="en-US" altLang="zh-CN" sz="2400" dirty="0">
                <a:ea typeface="SimSun" panose="02010600030101010101" pitchFamily="2" charset="-122"/>
              </a:rPr>
              <a:t>: Agrawal, et al. (SIGMOD</a:t>
            </a:r>
            <a:r>
              <a:rPr lang="en-US" altLang="zh-CN" sz="2400" dirty="0">
                <a:latin typeface="Times New Roman" panose="02020603050405020304" pitchFamily="18" charset="0"/>
                <a:ea typeface="SimSun" panose="02010600030101010101" pitchFamily="2" charset="-122"/>
              </a:rPr>
              <a:t>’</a:t>
            </a:r>
            <a:r>
              <a:rPr lang="en-US" altLang="zh-CN" sz="2400" dirty="0">
                <a:ea typeface="SimSun" panose="02010600030101010101" pitchFamily="2" charset="-122"/>
              </a:rPr>
              <a:t>98) (more grid-based)</a:t>
            </a:r>
            <a:endParaRPr lang="en-US" altLang="zh-CN" sz="2400" dirty="0">
              <a:ea typeface="SimSun" panose="02010600030101010101" pitchFamily="2" charset="-122"/>
            </a:endParaRPr>
          </a:p>
        </p:txBody>
      </p:sp>
      <p:sp>
        <p:nvSpPr>
          <p:cNvPr id="46084"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050"/>
          <p:cNvSpPr>
            <a:spLocks noGrp="1"/>
          </p:cNvSpPr>
          <p:nvPr>
            <p:ph type="title"/>
          </p:nvPr>
        </p:nvSpPr>
        <p:spPr>
          <a:xfrm>
            <a:off x="381000" y="381000"/>
            <a:ext cx="8458200" cy="685800"/>
          </a:xfrm>
        </p:spPr>
        <p:txBody>
          <a:bodyPr vert="horz" wrap="square" lIns="91440" tIns="45720" rIns="91440" bIns="45720" anchor="b" anchorCtr="0"/>
          <a:p>
            <a:pPr eaLnBrk="1" hangingPunct="1"/>
            <a:r>
              <a:rPr lang="en-US" altLang="zh-CN" sz="3200" dirty="0">
                <a:ea typeface="SimSun" panose="02010600030101010101" pitchFamily="2" charset="-122"/>
              </a:rPr>
              <a:t>Density-Based Clustering: Basic Concepts</a:t>
            </a:r>
            <a:endParaRPr lang="en-US" altLang="zh-CN" sz="3200" dirty="0">
              <a:ea typeface="SimSun" panose="02010600030101010101" pitchFamily="2" charset="-122"/>
            </a:endParaRPr>
          </a:p>
        </p:txBody>
      </p:sp>
      <p:sp>
        <p:nvSpPr>
          <p:cNvPr id="47107" name="Rectangle 2051"/>
          <p:cNvSpPr>
            <a:spLocks noGrp="1"/>
          </p:cNvSpPr>
          <p:nvPr>
            <p:ph idx="1"/>
          </p:nvPr>
        </p:nvSpPr>
        <p:spPr>
          <a:xfrm>
            <a:off x="304800" y="1371600"/>
            <a:ext cx="7924800" cy="5181600"/>
          </a:xfrm>
        </p:spPr>
        <p:txBody>
          <a:bodyPr vert="horz" wrap="square" lIns="91440" tIns="45720" rIns="91440" bIns="45720" anchor="t" anchorCtr="0"/>
          <a:p>
            <a:pPr eaLnBrk="1" hangingPunct="1">
              <a:lnSpc>
                <a:spcPct val="90000"/>
              </a:lnSpc>
              <a:spcBef>
                <a:spcPct val="50000"/>
              </a:spcBef>
            </a:pPr>
            <a:r>
              <a:rPr lang="en-US" altLang="zh-CN" sz="2400" dirty="0">
                <a:ea typeface="SimSun" panose="02010600030101010101" pitchFamily="2" charset="-122"/>
              </a:rPr>
              <a:t>Two parameters</a:t>
            </a:r>
            <a:r>
              <a:rPr lang="en-US" altLang="zh-CN" sz="2400" i="1" dirty="0">
                <a:ea typeface="SimSun" panose="02010600030101010101" pitchFamily="2" charset="-122"/>
              </a:rPr>
              <a:t>:</a:t>
            </a:r>
            <a:endParaRPr lang="en-US" altLang="zh-CN" sz="2400" i="1" dirty="0">
              <a:ea typeface="SimSun" panose="02010600030101010101" pitchFamily="2" charset="-122"/>
            </a:endParaRPr>
          </a:p>
          <a:p>
            <a:pPr lvl="1" eaLnBrk="1" hangingPunct="1">
              <a:lnSpc>
                <a:spcPct val="90000"/>
              </a:lnSpc>
              <a:spcBef>
                <a:spcPct val="50000"/>
              </a:spcBef>
            </a:pPr>
            <a:r>
              <a:rPr lang="en-US" altLang="zh-CN" sz="2400" i="1" dirty="0">
                <a:solidFill>
                  <a:schemeClr val="hlink"/>
                </a:solidFill>
                <a:ea typeface="SimSun" panose="02010600030101010101" pitchFamily="2" charset="-122"/>
              </a:rPr>
              <a:t>Eps</a:t>
            </a:r>
            <a:r>
              <a:rPr lang="en-US" altLang="zh-CN" sz="2400" dirty="0">
                <a:ea typeface="SimSun" panose="02010600030101010101" pitchFamily="2" charset="-122"/>
              </a:rPr>
              <a:t>: Maximum radius of the neighbourhood</a:t>
            </a:r>
            <a:endParaRPr lang="en-US" altLang="zh-CN" sz="2400" dirty="0">
              <a:ea typeface="SimSun" panose="02010600030101010101" pitchFamily="2" charset="-122"/>
            </a:endParaRPr>
          </a:p>
          <a:p>
            <a:pPr lvl="1" eaLnBrk="1" hangingPunct="1">
              <a:lnSpc>
                <a:spcPct val="90000"/>
              </a:lnSpc>
              <a:spcBef>
                <a:spcPct val="50000"/>
              </a:spcBef>
            </a:pPr>
            <a:r>
              <a:rPr lang="en-US" altLang="zh-CN" sz="2400" i="1" dirty="0">
                <a:solidFill>
                  <a:schemeClr val="hlink"/>
                </a:solidFill>
                <a:ea typeface="SimSun" panose="02010600030101010101" pitchFamily="2" charset="-122"/>
              </a:rPr>
              <a:t>MinPts</a:t>
            </a:r>
            <a:r>
              <a:rPr lang="en-US" altLang="zh-CN" sz="2400" dirty="0">
                <a:ea typeface="SimSun" panose="02010600030101010101" pitchFamily="2" charset="-122"/>
              </a:rPr>
              <a:t>: Minimum number of points in an Eps-neighbourhood of that point</a:t>
            </a:r>
            <a:endParaRPr lang="en-US" altLang="zh-CN" sz="2400" dirty="0">
              <a:ea typeface="SimSun" panose="02010600030101010101" pitchFamily="2" charset="-122"/>
            </a:endParaRPr>
          </a:p>
          <a:p>
            <a:pPr eaLnBrk="1" hangingPunct="1">
              <a:lnSpc>
                <a:spcPct val="90000"/>
              </a:lnSpc>
              <a:spcBef>
                <a:spcPct val="50000"/>
              </a:spcBef>
            </a:pPr>
            <a:r>
              <a:rPr lang="en-US" altLang="zh-CN" sz="2400" i="1" dirty="0">
                <a:ea typeface="SimSun" panose="02010600030101010101" pitchFamily="2" charset="-122"/>
              </a:rPr>
              <a:t>N</a:t>
            </a:r>
            <a:r>
              <a:rPr lang="en-US" altLang="zh-CN" sz="2400" i="1" baseline="-25000" dirty="0">
                <a:ea typeface="SimSun" panose="02010600030101010101" pitchFamily="2" charset="-122"/>
              </a:rPr>
              <a:t>Eps</a:t>
            </a:r>
            <a:r>
              <a:rPr lang="en-US" altLang="zh-CN" sz="2400" i="1" dirty="0">
                <a:ea typeface="SimSun" panose="02010600030101010101" pitchFamily="2" charset="-122"/>
              </a:rPr>
              <a:t>(p)</a:t>
            </a:r>
            <a:r>
              <a:rPr lang="en-US" altLang="zh-CN" sz="2400" dirty="0">
                <a:ea typeface="SimSun" panose="02010600030101010101" pitchFamily="2" charset="-122"/>
              </a:rPr>
              <a:t>: {q belongs to D | dist(p,q) ≤ Eps}</a:t>
            </a:r>
            <a:endParaRPr lang="en-US" altLang="zh-CN" sz="2400" dirty="0">
              <a:ea typeface="SimSun" panose="02010600030101010101" pitchFamily="2" charset="-122"/>
            </a:endParaRPr>
          </a:p>
          <a:p>
            <a:pPr eaLnBrk="1" hangingPunct="1">
              <a:lnSpc>
                <a:spcPct val="90000"/>
              </a:lnSpc>
              <a:spcBef>
                <a:spcPct val="50000"/>
              </a:spcBef>
            </a:pPr>
            <a:r>
              <a:rPr lang="en-US" altLang="zh-CN" sz="2400" dirty="0">
                <a:solidFill>
                  <a:schemeClr val="hlink"/>
                </a:solidFill>
                <a:ea typeface="SimSun" panose="02010600030101010101" pitchFamily="2" charset="-122"/>
              </a:rPr>
              <a:t>Directly density-reachable</a:t>
            </a:r>
            <a:r>
              <a:rPr lang="en-US" altLang="zh-CN" sz="2400" dirty="0">
                <a:ea typeface="SimSun" panose="02010600030101010101" pitchFamily="2" charset="-122"/>
              </a:rPr>
              <a:t>: A point </a:t>
            </a:r>
            <a:r>
              <a:rPr lang="en-US" altLang="zh-CN" sz="2400" i="1" dirty="0">
                <a:ea typeface="SimSun" panose="02010600030101010101" pitchFamily="2" charset="-122"/>
              </a:rPr>
              <a:t>p</a:t>
            </a:r>
            <a:r>
              <a:rPr lang="en-US" altLang="zh-CN" sz="2400" dirty="0">
                <a:ea typeface="SimSun" panose="02010600030101010101" pitchFamily="2" charset="-122"/>
              </a:rPr>
              <a:t> is directly density-reachable from a point </a:t>
            </a:r>
            <a:r>
              <a:rPr lang="en-US" altLang="zh-CN" sz="2400" i="1" dirty="0">
                <a:ea typeface="SimSun" panose="02010600030101010101" pitchFamily="2" charset="-122"/>
              </a:rPr>
              <a:t>q</a:t>
            </a:r>
            <a:r>
              <a:rPr lang="en-US" altLang="zh-CN" sz="2400" dirty="0">
                <a:ea typeface="SimSun" panose="02010600030101010101" pitchFamily="2" charset="-122"/>
              </a:rPr>
              <a:t> w.r.t. </a:t>
            </a:r>
            <a:r>
              <a:rPr lang="en-US" altLang="zh-CN" sz="2400" i="1" dirty="0">
                <a:ea typeface="SimSun" panose="02010600030101010101" pitchFamily="2" charset="-122"/>
              </a:rPr>
              <a:t>Eps</a:t>
            </a:r>
            <a:r>
              <a:rPr lang="en-US" altLang="zh-CN" sz="2400" dirty="0">
                <a:ea typeface="SimSun" panose="02010600030101010101" pitchFamily="2" charset="-122"/>
              </a:rPr>
              <a:t>, </a:t>
            </a:r>
            <a:r>
              <a:rPr lang="en-US" altLang="zh-CN" sz="2400" i="1" dirty="0">
                <a:ea typeface="SimSun" panose="02010600030101010101" pitchFamily="2" charset="-122"/>
              </a:rPr>
              <a:t>MinPts</a:t>
            </a:r>
            <a:r>
              <a:rPr lang="en-US" altLang="zh-CN" sz="2400" dirty="0">
                <a:ea typeface="SimSun" panose="02010600030101010101" pitchFamily="2" charset="-122"/>
              </a:rPr>
              <a:t> if 	</a:t>
            </a:r>
            <a:endParaRPr lang="en-US" altLang="zh-CN" sz="2400" dirty="0">
              <a:ea typeface="SimSun" panose="02010600030101010101" pitchFamily="2" charset="-122"/>
            </a:endParaRPr>
          </a:p>
          <a:p>
            <a:pPr lvl="1" eaLnBrk="1" hangingPunct="1">
              <a:lnSpc>
                <a:spcPct val="90000"/>
              </a:lnSpc>
              <a:spcBef>
                <a:spcPct val="50000"/>
              </a:spcBef>
            </a:pPr>
            <a:r>
              <a:rPr lang="en-US" altLang="zh-CN" sz="2400" i="1" dirty="0">
                <a:ea typeface="SimSun" panose="02010600030101010101" pitchFamily="2" charset="-122"/>
              </a:rPr>
              <a:t>p</a:t>
            </a:r>
            <a:r>
              <a:rPr lang="en-US" altLang="zh-CN" sz="2400" dirty="0">
                <a:ea typeface="SimSun" panose="02010600030101010101" pitchFamily="2" charset="-122"/>
              </a:rPr>
              <a:t> belongs to </a:t>
            </a:r>
            <a:r>
              <a:rPr lang="en-US" altLang="zh-CN" sz="2400" i="1" dirty="0">
                <a:ea typeface="SimSun" panose="02010600030101010101" pitchFamily="2" charset="-122"/>
              </a:rPr>
              <a:t>N</a:t>
            </a:r>
            <a:r>
              <a:rPr lang="en-US" altLang="zh-CN" sz="2400" i="1" baseline="-25000" dirty="0">
                <a:ea typeface="SimSun" panose="02010600030101010101" pitchFamily="2" charset="-122"/>
              </a:rPr>
              <a:t>Eps</a:t>
            </a:r>
            <a:r>
              <a:rPr lang="en-US" altLang="zh-CN" sz="2400" i="1" dirty="0">
                <a:ea typeface="SimSun" panose="02010600030101010101" pitchFamily="2" charset="-122"/>
              </a:rPr>
              <a:t>(q)</a:t>
            </a:r>
            <a:endParaRPr lang="en-US" altLang="zh-CN" sz="2400" i="1" dirty="0">
              <a:ea typeface="SimSun" panose="02010600030101010101" pitchFamily="2" charset="-122"/>
            </a:endParaRPr>
          </a:p>
          <a:p>
            <a:pPr lvl="1" eaLnBrk="1" hangingPunct="1">
              <a:lnSpc>
                <a:spcPct val="90000"/>
              </a:lnSpc>
              <a:spcBef>
                <a:spcPct val="50000"/>
              </a:spcBef>
            </a:pPr>
            <a:r>
              <a:rPr lang="en-US" altLang="zh-CN" sz="2400" dirty="0">
                <a:ea typeface="SimSun" panose="02010600030101010101" pitchFamily="2" charset="-122"/>
              </a:rPr>
              <a:t>core point condition:</a:t>
            </a:r>
            <a:endParaRPr lang="en-US" altLang="zh-CN" sz="2400" dirty="0">
              <a:ea typeface="SimSun" panose="02010600030101010101" pitchFamily="2" charset="-122"/>
            </a:endParaRPr>
          </a:p>
          <a:p>
            <a:pPr lvl="1" eaLnBrk="1" hangingPunct="1">
              <a:lnSpc>
                <a:spcPct val="90000"/>
              </a:lnSpc>
              <a:spcBef>
                <a:spcPct val="50000"/>
              </a:spcBef>
              <a:buNone/>
            </a:pPr>
            <a:r>
              <a:rPr lang="en-US" altLang="zh-CN" sz="2400" dirty="0">
                <a:ea typeface="SimSun" panose="02010600030101010101" pitchFamily="2" charset="-122"/>
              </a:rPr>
              <a:t>              |</a:t>
            </a:r>
            <a:r>
              <a:rPr lang="en-US" altLang="zh-CN" sz="2400" i="1" dirty="0">
                <a:ea typeface="SimSun" panose="02010600030101010101" pitchFamily="2" charset="-122"/>
              </a:rPr>
              <a:t>N</a:t>
            </a:r>
            <a:r>
              <a:rPr lang="en-US" altLang="zh-CN" sz="2400" i="1" baseline="-25000" dirty="0">
                <a:ea typeface="SimSun" panose="02010600030101010101" pitchFamily="2" charset="-122"/>
              </a:rPr>
              <a:t>Eps</a:t>
            </a:r>
            <a:r>
              <a:rPr lang="en-US" altLang="zh-CN" sz="2400" i="1" dirty="0">
                <a:ea typeface="SimSun" panose="02010600030101010101" pitchFamily="2" charset="-122"/>
              </a:rPr>
              <a:t> (q)</a:t>
            </a:r>
            <a:r>
              <a:rPr lang="en-US" altLang="zh-CN" sz="2400" dirty="0">
                <a:ea typeface="SimSun" panose="02010600030101010101" pitchFamily="2" charset="-122"/>
              </a:rPr>
              <a:t>| ≥ </a:t>
            </a:r>
            <a:r>
              <a:rPr lang="en-US" altLang="zh-CN" sz="2400" i="1" dirty="0">
                <a:ea typeface="SimSun" panose="02010600030101010101" pitchFamily="2" charset="-122"/>
              </a:rPr>
              <a:t>MinPts</a:t>
            </a:r>
            <a:r>
              <a:rPr lang="en-US" altLang="zh-CN" sz="2400" dirty="0">
                <a:ea typeface="SimSun" panose="02010600030101010101" pitchFamily="2" charset="-122"/>
              </a:rPr>
              <a:t> </a:t>
            </a:r>
            <a:endParaRPr lang="en-US" altLang="zh-CN" sz="2400" i="1" dirty="0">
              <a:ea typeface="SimSun" panose="02010600030101010101" pitchFamily="2" charset="-122"/>
            </a:endParaRPr>
          </a:p>
        </p:txBody>
      </p:sp>
      <p:grpSp>
        <p:nvGrpSpPr>
          <p:cNvPr id="47108" name="Group 50"/>
          <p:cNvGrpSpPr/>
          <p:nvPr/>
        </p:nvGrpSpPr>
        <p:grpSpPr>
          <a:xfrm>
            <a:off x="5264150" y="4648200"/>
            <a:ext cx="3879850" cy="1663700"/>
            <a:chOff x="5264150" y="4648200"/>
            <a:chExt cx="3879850" cy="1663700"/>
          </a:xfrm>
        </p:grpSpPr>
        <p:sp>
          <p:nvSpPr>
            <p:cNvPr id="47110" name="Rectangle 2072"/>
            <p:cNvSpPr/>
            <p:nvPr/>
          </p:nvSpPr>
          <p:spPr>
            <a:xfrm>
              <a:off x="7315200" y="4946650"/>
              <a:ext cx="1828800" cy="1004888"/>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MinPts = 5</a:t>
              </a:r>
              <a:endParaRPr lang="en-US" altLang="zh-CN" dirty="0">
                <a:latin typeface="Times New Roman" panose="02020603050405020304" pitchFamily="18" charset="0"/>
                <a:ea typeface="SimSun" panose="02010600030101010101" pitchFamily="2" charset="-122"/>
              </a:endParaRPr>
            </a:p>
            <a:p>
              <a:pPr algn="l" eaLnBrk="0" hangingPunct="0">
                <a:spcBef>
                  <a:spcPct val="50000"/>
                </a:spcBef>
              </a:pPr>
              <a:r>
                <a:rPr lang="en-US" altLang="zh-CN" dirty="0">
                  <a:latin typeface="Times New Roman" panose="02020603050405020304" pitchFamily="18" charset="0"/>
                  <a:ea typeface="SimSun" panose="02010600030101010101" pitchFamily="2" charset="-122"/>
                </a:rPr>
                <a:t>Eps = 1 cm</a:t>
              </a:r>
              <a:endParaRPr lang="en-US" altLang="zh-CN" dirty="0">
                <a:latin typeface="Times New Roman" panose="02020603050405020304" pitchFamily="18" charset="0"/>
                <a:ea typeface="SimSun" panose="02010600030101010101" pitchFamily="2" charset="-122"/>
              </a:endParaRPr>
            </a:p>
          </p:txBody>
        </p:sp>
        <p:grpSp>
          <p:nvGrpSpPr>
            <p:cNvPr id="47111" name="Group 49"/>
            <p:cNvGrpSpPr/>
            <p:nvPr/>
          </p:nvGrpSpPr>
          <p:grpSpPr>
            <a:xfrm>
              <a:off x="5264150" y="4648200"/>
              <a:ext cx="1663700" cy="1663700"/>
              <a:chOff x="5264150" y="4648200"/>
              <a:chExt cx="1663700" cy="1663700"/>
            </a:xfrm>
          </p:grpSpPr>
          <p:sp>
            <p:nvSpPr>
              <p:cNvPr id="47112" name="Oval 2054"/>
              <p:cNvSpPr/>
              <p:nvPr/>
            </p:nvSpPr>
            <p:spPr>
              <a:xfrm>
                <a:off x="5375275" y="5430838"/>
                <a:ext cx="100013" cy="98425"/>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7113" name="Oval 2055"/>
              <p:cNvSpPr/>
              <p:nvPr/>
            </p:nvSpPr>
            <p:spPr>
              <a:xfrm>
                <a:off x="5711825" y="5541963"/>
                <a:ext cx="98425" cy="100013"/>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7114" name="Oval 2056"/>
              <p:cNvSpPr/>
              <p:nvPr/>
            </p:nvSpPr>
            <p:spPr>
              <a:xfrm>
                <a:off x="5867400" y="5181600"/>
                <a:ext cx="98425" cy="98425"/>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7115" name="Oval 2057"/>
              <p:cNvSpPr/>
              <p:nvPr/>
            </p:nvSpPr>
            <p:spPr>
              <a:xfrm>
                <a:off x="5264150" y="5876925"/>
                <a:ext cx="98425" cy="100013"/>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7116" name="Oval 2058"/>
              <p:cNvSpPr/>
              <p:nvPr/>
            </p:nvSpPr>
            <p:spPr>
              <a:xfrm>
                <a:off x="5487988" y="5654675"/>
                <a:ext cx="98425" cy="98425"/>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7117" name="Oval 2059"/>
              <p:cNvSpPr/>
              <p:nvPr/>
            </p:nvSpPr>
            <p:spPr>
              <a:xfrm>
                <a:off x="5487988" y="5876925"/>
                <a:ext cx="98425" cy="100013"/>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7118" name="Oval 2060"/>
              <p:cNvSpPr/>
              <p:nvPr/>
            </p:nvSpPr>
            <p:spPr>
              <a:xfrm>
                <a:off x="5822950" y="5989638"/>
                <a:ext cx="98425" cy="98425"/>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7119" name="Oval 2061"/>
              <p:cNvSpPr/>
              <p:nvPr/>
            </p:nvSpPr>
            <p:spPr>
              <a:xfrm>
                <a:off x="5822950" y="4648200"/>
                <a:ext cx="1104900" cy="1104900"/>
              </a:xfrm>
              <a:prstGeom prst="ellipse">
                <a:avLst/>
              </a:prstGeom>
              <a:no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7120" name="Oval 2062"/>
              <p:cNvSpPr/>
              <p:nvPr/>
            </p:nvSpPr>
            <p:spPr>
              <a:xfrm>
                <a:off x="5822950" y="4983163"/>
                <a:ext cx="98425" cy="100013"/>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7121" name="Oval 2063"/>
              <p:cNvSpPr/>
              <p:nvPr/>
            </p:nvSpPr>
            <p:spPr>
              <a:xfrm>
                <a:off x="6492875" y="5654675"/>
                <a:ext cx="100013" cy="98425"/>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7122" name="Oval 2064"/>
              <p:cNvSpPr/>
              <p:nvPr/>
            </p:nvSpPr>
            <p:spPr>
              <a:xfrm>
                <a:off x="6270625" y="5207000"/>
                <a:ext cx="98425" cy="98425"/>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7123" name="Oval 2065"/>
              <p:cNvSpPr/>
              <p:nvPr/>
            </p:nvSpPr>
            <p:spPr>
              <a:xfrm>
                <a:off x="5711825" y="5765800"/>
                <a:ext cx="98425" cy="98425"/>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7124" name="Oval 2066"/>
              <p:cNvSpPr/>
              <p:nvPr/>
            </p:nvSpPr>
            <p:spPr>
              <a:xfrm>
                <a:off x="5934075" y="5541963"/>
                <a:ext cx="100013" cy="100013"/>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7125" name="Oval 2067"/>
              <p:cNvSpPr/>
              <p:nvPr/>
            </p:nvSpPr>
            <p:spPr>
              <a:xfrm>
                <a:off x="6157913" y="5876925"/>
                <a:ext cx="100013" cy="100013"/>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7126" name="Oval 2068"/>
              <p:cNvSpPr/>
              <p:nvPr/>
            </p:nvSpPr>
            <p:spPr>
              <a:xfrm>
                <a:off x="6716713" y="5989638"/>
                <a:ext cx="100013" cy="98425"/>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7127" name="Oval 2069"/>
              <p:cNvSpPr/>
              <p:nvPr/>
            </p:nvSpPr>
            <p:spPr>
              <a:xfrm>
                <a:off x="5487988" y="5207000"/>
                <a:ext cx="1104900" cy="1104900"/>
              </a:xfrm>
              <a:prstGeom prst="ellipse">
                <a:avLst/>
              </a:prstGeom>
              <a:no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7128" name="Rectangle 2070"/>
              <p:cNvSpPr/>
              <p:nvPr/>
            </p:nvSpPr>
            <p:spPr>
              <a:xfrm>
                <a:off x="6324600" y="4946650"/>
                <a:ext cx="381000" cy="457200"/>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p</a:t>
                </a:r>
                <a:endParaRPr lang="en-US" altLang="zh-CN" dirty="0">
                  <a:latin typeface="Times New Roman" panose="02020603050405020304" pitchFamily="18" charset="0"/>
                  <a:ea typeface="SimSun" panose="02010600030101010101" pitchFamily="2" charset="-122"/>
                </a:endParaRPr>
              </a:p>
            </p:txBody>
          </p:sp>
          <p:sp>
            <p:nvSpPr>
              <p:cNvPr id="47129" name="Rectangle 2071"/>
              <p:cNvSpPr/>
              <p:nvPr/>
            </p:nvSpPr>
            <p:spPr>
              <a:xfrm>
                <a:off x="5867400" y="5715000"/>
                <a:ext cx="381000" cy="457200"/>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q</a:t>
                </a:r>
                <a:endParaRPr lang="en-US" altLang="zh-CN" dirty="0">
                  <a:latin typeface="Times New Roman" panose="02020603050405020304" pitchFamily="18" charset="0"/>
                  <a:ea typeface="SimSun" panose="02010600030101010101" pitchFamily="2" charset="-122"/>
                </a:endParaRPr>
              </a:p>
            </p:txBody>
          </p:sp>
          <p:sp>
            <p:nvSpPr>
              <p:cNvPr id="47130" name="Oval 2065"/>
              <p:cNvSpPr/>
              <p:nvPr/>
            </p:nvSpPr>
            <p:spPr>
              <a:xfrm>
                <a:off x="5997575" y="5768975"/>
                <a:ext cx="98425" cy="98425"/>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grpSp>
      </p:grpSp>
      <p:sp>
        <p:nvSpPr>
          <p:cNvPr id="47109" name="Slide Number Placeholder 51"/>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1026"/>
          <p:cNvSpPr>
            <a:spLocks noGrp="1"/>
          </p:cNvSpPr>
          <p:nvPr>
            <p:ph type="title"/>
          </p:nvPr>
        </p:nvSpPr>
        <p:spPr>
          <a:xfrm>
            <a:off x="0" y="381000"/>
            <a:ext cx="9144000" cy="838200"/>
          </a:xfrm>
        </p:spPr>
        <p:txBody>
          <a:bodyPr vert="horz" wrap="square" lIns="92075" tIns="46038" rIns="92075" bIns="46038" anchor="ctr" anchorCtr="0"/>
          <a:p>
            <a:pPr eaLnBrk="1" hangingPunct="1"/>
            <a:r>
              <a:rPr lang="en-US" altLang="zh-CN" sz="3200" dirty="0">
                <a:ea typeface="SimSun" panose="02010600030101010101" pitchFamily="2" charset="-122"/>
              </a:rPr>
              <a:t>Density-Reachable and Density-Connected</a:t>
            </a:r>
            <a:endParaRPr lang="en-US" altLang="zh-CN" sz="3200" dirty="0">
              <a:ea typeface="SimSun" panose="02010600030101010101" pitchFamily="2" charset="-122"/>
            </a:endParaRPr>
          </a:p>
        </p:txBody>
      </p:sp>
      <p:sp>
        <p:nvSpPr>
          <p:cNvPr id="48131" name="Rectangle 1027"/>
          <p:cNvSpPr>
            <a:spLocks noGrp="1"/>
          </p:cNvSpPr>
          <p:nvPr>
            <p:ph idx="1"/>
          </p:nvPr>
        </p:nvSpPr>
        <p:spPr>
          <a:xfrm>
            <a:off x="228600" y="1447800"/>
            <a:ext cx="5638800" cy="5029200"/>
          </a:xfrm>
        </p:spPr>
        <p:txBody>
          <a:bodyPr vert="horz" wrap="square" lIns="92075" tIns="46038" rIns="92075" bIns="46038" anchor="t" anchorCtr="0"/>
          <a:p>
            <a:pPr eaLnBrk="1" hangingPunct="1">
              <a:spcBef>
                <a:spcPct val="50000"/>
              </a:spcBef>
            </a:pPr>
            <a:r>
              <a:rPr lang="en-US" altLang="zh-CN" sz="2400" dirty="0">
                <a:ea typeface="SimSun" panose="02010600030101010101" pitchFamily="2" charset="-122"/>
              </a:rPr>
              <a:t>Density-reachable: </a:t>
            </a:r>
            <a:endParaRPr lang="en-US" altLang="zh-CN" sz="2400" dirty="0">
              <a:ea typeface="SimSun" panose="02010600030101010101" pitchFamily="2" charset="-122"/>
            </a:endParaRPr>
          </a:p>
          <a:p>
            <a:pPr lvl="1" eaLnBrk="1" hangingPunct="1">
              <a:spcBef>
                <a:spcPct val="50000"/>
              </a:spcBef>
            </a:pPr>
            <a:r>
              <a:rPr lang="en-US" altLang="zh-CN" sz="2400" dirty="0">
                <a:ea typeface="SimSun" panose="02010600030101010101" pitchFamily="2" charset="-122"/>
              </a:rPr>
              <a:t>A point </a:t>
            </a:r>
            <a:r>
              <a:rPr lang="en-US" altLang="zh-CN" sz="2400" i="1" dirty="0">
                <a:ea typeface="SimSun" panose="02010600030101010101" pitchFamily="2" charset="-122"/>
              </a:rPr>
              <a:t>p</a:t>
            </a:r>
            <a:r>
              <a:rPr lang="en-US" altLang="zh-CN" sz="2400" dirty="0">
                <a:ea typeface="SimSun" panose="02010600030101010101" pitchFamily="2" charset="-122"/>
              </a:rPr>
              <a:t> is </a:t>
            </a:r>
            <a:r>
              <a:rPr lang="en-US" altLang="zh-CN" sz="2400" dirty="0">
                <a:solidFill>
                  <a:schemeClr val="hlink"/>
                </a:solidFill>
                <a:ea typeface="SimSun" panose="02010600030101010101" pitchFamily="2" charset="-122"/>
              </a:rPr>
              <a:t>density-reachable</a:t>
            </a:r>
            <a:r>
              <a:rPr lang="en-US" altLang="zh-CN" sz="2400" dirty="0">
                <a:ea typeface="SimSun" panose="02010600030101010101" pitchFamily="2" charset="-122"/>
              </a:rPr>
              <a:t> from a point </a:t>
            </a:r>
            <a:r>
              <a:rPr lang="en-US" altLang="zh-CN" sz="2400" i="1" dirty="0">
                <a:ea typeface="SimSun" panose="02010600030101010101" pitchFamily="2" charset="-122"/>
              </a:rPr>
              <a:t>q</a:t>
            </a:r>
            <a:r>
              <a:rPr lang="en-US" altLang="zh-CN" sz="2400" dirty="0">
                <a:ea typeface="SimSun" panose="02010600030101010101" pitchFamily="2" charset="-122"/>
              </a:rPr>
              <a:t> w.r.t. </a:t>
            </a:r>
            <a:r>
              <a:rPr lang="en-US" altLang="zh-CN" sz="2400" i="1" dirty="0">
                <a:ea typeface="SimSun" panose="02010600030101010101" pitchFamily="2" charset="-122"/>
              </a:rPr>
              <a:t>Eps</a:t>
            </a:r>
            <a:r>
              <a:rPr lang="en-US" altLang="zh-CN" sz="2400" dirty="0">
                <a:ea typeface="SimSun" panose="02010600030101010101" pitchFamily="2" charset="-122"/>
              </a:rPr>
              <a:t>, </a:t>
            </a:r>
            <a:r>
              <a:rPr lang="en-US" altLang="zh-CN" sz="2400" i="1" dirty="0">
                <a:ea typeface="SimSun" panose="02010600030101010101" pitchFamily="2" charset="-122"/>
              </a:rPr>
              <a:t>MinPts</a:t>
            </a:r>
            <a:r>
              <a:rPr lang="en-US" altLang="zh-CN" sz="2400" dirty="0">
                <a:ea typeface="SimSun" panose="02010600030101010101" pitchFamily="2" charset="-122"/>
              </a:rPr>
              <a:t> if there is a chain of points </a:t>
            </a:r>
            <a:r>
              <a:rPr lang="en-US" altLang="zh-CN" sz="2400" i="1" dirty="0">
                <a:ea typeface="SimSun" panose="02010600030101010101" pitchFamily="2" charset="-122"/>
              </a:rPr>
              <a:t>p</a:t>
            </a:r>
            <a:r>
              <a:rPr lang="en-US" altLang="zh-CN" sz="2400" i="1" baseline="-25000" dirty="0">
                <a:ea typeface="SimSun" panose="02010600030101010101" pitchFamily="2" charset="-122"/>
              </a:rPr>
              <a:t>1</a:t>
            </a:r>
            <a:r>
              <a:rPr lang="en-US" altLang="zh-CN" sz="2400" dirty="0">
                <a:ea typeface="SimSun" panose="02010600030101010101" pitchFamily="2" charset="-122"/>
              </a:rPr>
              <a:t>, </a:t>
            </a:r>
            <a:r>
              <a:rPr lang="en-US" altLang="zh-CN" sz="2400" dirty="0">
                <a:latin typeface="Times New Roman" panose="02020603050405020304" pitchFamily="18" charset="0"/>
                <a:ea typeface="SimSun" panose="02010600030101010101" pitchFamily="2" charset="-122"/>
              </a:rPr>
              <a:t>…</a:t>
            </a:r>
            <a:r>
              <a:rPr lang="en-US" altLang="zh-CN" sz="2400" dirty="0">
                <a:ea typeface="SimSun" panose="02010600030101010101" pitchFamily="2" charset="-122"/>
              </a:rPr>
              <a:t>, </a:t>
            </a:r>
            <a:r>
              <a:rPr lang="en-US" altLang="zh-CN" sz="2400" i="1" dirty="0">
                <a:ea typeface="SimSun" panose="02010600030101010101" pitchFamily="2" charset="-122"/>
              </a:rPr>
              <a:t>p</a:t>
            </a:r>
            <a:r>
              <a:rPr lang="en-US" altLang="zh-CN" sz="2400" i="1" baseline="-25000" dirty="0">
                <a:ea typeface="SimSun" panose="02010600030101010101" pitchFamily="2" charset="-122"/>
              </a:rPr>
              <a:t>n</a:t>
            </a:r>
            <a:r>
              <a:rPr lang="en-US" altLang="zh-CN" sz="2400" dirty="0">
                <a:ea typeface="SimSun" panose="02010600030101010101" pitchFamily="2" charset="-122"/>
              </a:rPr>
              <a:t>, </a:t>
            </a:r>
            <a:r>
              <a:rPr lang="en-US" altLang="zh-CN" sz="2400" i="1" dirty="0">
                <a:ea typeface="SimSun" panose="02010600030101010101" pitchFamily="2" charset="-122"/>
              </a:rPr>
              <a:t>p</a:t>
            </a:r>
            <a:r>
              <a:rPr lang="en-US" altLang="zh-CN" sz="2400" i="1" baseline="-25000" dirty="0">
                <a:ea typeface="SimSun" panose="02010600030101010101" pitchFamily="2" charset="-122"/>
              </a:rPr>
              <a:t>1</a:t>
            </a:r>
            <a:r>
              <a:rPr lang="en-US" altLang="zh-CN" sz="2400" dirty="0">
                <a:ea typeface="SimSun" panose="02010600030101010101" pitchFamily="2" charset="-122"/>
              </a:rPr>
              <a:t> = </a:t>
            </a:r>
            <a:r>
              <a:rPr lang="en-US" altLang="zh-CN" sz="2400" i="1" dirty="0">
                <a:ea typeface="SimSun" panose="02010600030101010101" pitchFamily="2" charset="-122"/>
              </a:rPr>
              <a:t>q</a:t>
            </a:r>
            <a:r>
              <a:rPr lang="en-US" altLang="zh-CN" sz="2400" dirty="0">
                <a:ea typeface="SimSun" panose="02010600030101010101" pitchFamily="2" charset="-122"/>
              </a:rPr>
              <a:t>, </a:t>
            </a:r>
            <a:r>
              <a:rPr lang="en-US" altLang="zh-CN" sz="2400" i="1" dirty="0">
                <a:ea typeface="SimSun" panose="02010600030101010101" pitchFamily="2" charset="-122"/>
              </a:rPr>
              <a:t>p</a:t>
            </a:r>
            <a:r>
              <a:rPr lang="en-US" altLang="zh-CN" sz="2400" i="1" baseline="-25000" dirty="0">
                <a:ea typeface="SimSun" panose="02010600030101010101" pitchFamily="2" charset="-122"/>
              </a:rPr>
              <a:t>n</a:t>
            </a:r>
            <a:r>
              <a:rPr lang="en-US" altLang="zh-CN" sz="2400" dirty="0">
                <a:ea typeface="SimSun" panose="02010600030101010101" pitchFamily="2" charset="-122"/>
              </a:rPr>
              <a:t> = </a:t>
            </a:r>
            <a:r>
              <a:rPr lang="en-US" altLang="zh-CN" sz="2400" i="1" dirty="0">
                <a:ea typeface="SimSun" panose="02010600030101010101" pitchFamily="2" charset="-122"/>
              </a:rPr>
              <a:t>p</a:t>
            </a:r>
            <a:r>
              <a:rPr lang="en-US" altLang="zh-CN" sz="2400" dirty="0">
                <a:ea typeface="SimSun" panose="02010600030101010101" pitchFamily="2" charset="-122"/>
              </a:rPr>
              <a:t> such that </a:t>
            </a:r>
            <a:r>
              <a:rPr lang="en-US" altLang="zh-CN" sz="2400" i="1" dirty="0">
                <a:ea typeface="SimSun" panose="02010600030101010101" pitchFamily="2" charset="-122"/>
              </a:rPr>
              <a:t>p</a:t>
            </a:r>
            <a:r>
              <a:rPr lang="en-US" altLang="zh-CN" sz="2400" i="1" baseline="-25000" dirty="0">
                <a:ea typeface="SimSun" panose="02010600030101010101" pitchFamily="2" charset="-122"/>
              </a:rPr>
              <a:t>i+1</a:t>
            </a:r>
            <a:r>
              <a:rPr lang="en-US" altLang="zh-CN" sz="2400" dirty="0">
                <a:ea typeface="SimSun" panose="02010600030101010101" pitchFamily="2" charset="-122"/>
              </a:rPr>
              <a:t> is directly density-reachable from </a:t>
            </a:r>
            <a:r>
              <a:rPr lang="en-US" altLang="zh-CN" sz="2400" i="1" dirty="0">
                <a:ea typeface="SimSun" panose="02010600030101010101" pitchFamily="2" charset="-122"/>
              </a:rPr>
              <a:t>p</a:t>
            </a:r>
            <a:r>
              <a:rPr lang="en-US" altLang="zh-CN" sz="2400" i="1" baseline="-25000" dirty="0">
                <a:ea typeface="SimSun" panose="02010600030101010101" pitchFamily="2" charset="-122"/>
              </a:rPr>
              <a:t>i</a:t>
            </a:r>
            <a:r>
              <a:rPr lang="en-US" altLang="zh-CN" sz="2400" dirty="0">
                <a:ea typeface="SimSun" panose="02010600030101010101" pitchFamily="2" charset="-122"/>
              </a:rPr>
              <a:t>	</a:t>
            </a:r>
            <a:endParaRPr lang="en-US" altLang="zh-CN" sz="2400" dirty="0">
              <a:ea typeface="SimSun" panose="02010600030101010101" pitchFamily="2" charset="-122"/>
            </a:endParaRPr>
          </a:p>
          <a:p>
            <a:pPr eaLnBrk="1" hangingPunct="1">
              <a:spcBef>
                <a:spcPct val="50000"/>
              </a:spcBef>
            </a:pPr>
            <a:r>
              <a:rPr lang="en-US" altLang="zh-CN" sz="2400" dirty="0">
                <a:ea typeface="SimSun" panose="02010600030101010101" pitchFamily="2" charset="-122"/>
              </a:rPr>
              <a:t>Density-connected</a:t>
            </a:r>
            <a:endParaRPr lang="en-US" altLang="zh-CN" sz="2400" dirty="0">
              <a:ea typeface="SimSun" panose="02010600030101010101" pitchFamily="2" charset="-122"/>
            </a:endParaRPr>
          </a:p>
          <a:p>
            <a:pPr lvl="1" eaLnBrk="1" hangingPunct="1">
              <a:spcBef>
                <a:spcPct val="50000"/>
              </a:spcBef>
            </a:pPr>
            <a:r>
              <a:rPr lang="en-US" altLang="zh-CN" sz="2400" dirty="0">
                <a:ea typeface="SimSun" panose="02010600030101010101" pitchFamily="2" charset="-122"/>
              </a:rPr>
              <a:t>A point </a:t>
            </a:r>
            <a:r>
              <a:rPr lang="en-US" altLang="zh-CN" sz="2400" i="1" dirty="0">
                <a:ea typeface="SimSun" panose="02010600030101010101" pitchFamily="2" charset="-122"/>
              </a:rPr>
              <a:t>p</a:t>
            </a:r>
            <a:r>
              <a:rPr lang="en-US" altLang="zh-CN" sz="2400" dirty="0">
                <a:ea typeface="SimSun" panose="02010600030101010101" pitchFamily="2" charset="-122"/>
              </a:rPr>
              <a:t> is </a:t>
            </a:r>
            <a:r>
              <a:rPr lang="en-US" altLang="zh-CN" sz="2400" dirty="0">
                <a:solidFill>
                  <a:schemeClr val="hlink"/>
                </a:solidFill>
                <a:ea typeface="SimSun" panose="02010600030101010101" pitchFamily="2" charset="-122"/>
              </a:rPr>
              <a:t>density-connected</a:t>
            </a:r>
            <a:r>
              <a:rPr lang="en-US" altLang="zh-CN" sz="2400" dirty="0">
                <a:ea typeface="SimSun" panose="02010600030101010101" pitchFamily="2" charset="-122"/>
              </a:rPr>
              <a:t> to a point </a:t>
            </a:r>
            <a:r>
              <a:rPr lang="en-US" altLang="zh-CN" sz="2400" i="1" dirty="0">
                <a:ea typeface="SimSun" panose="02010600030101010101" pitchFamily="2" charset="-122"/>
              </a:rPr>
              <a:t>q</a:t>
            </a:r>
            <a:r>
              <a:rPr lang="en-US" altLang="zh-CN" sz="2400" dirty="0">
                <a:ea typeface="SimSun" panose="02010600030101010101" pitchFamily="2" charset="-122"/>
              </a:rPr>
              <a:t> w.r.t. </a:t>
            </a:r>
            <a:r>
              <a:rPr lang="en-US" altLang="zh-CN" sz="2400" i="1" dirty="0">
                <a:ea typeface="SimSun" panose="02010600030101010101" pitchFamily="2" charset="-122"/>
              </a:rPr>
              <a:t>Eps</a:t>
            </a:r>
            <a:r>
              <a:rPr lang="en-US" altLang="zh-CN" sz="2400" dirty="0">
                <a:ea typeface="SimSun" panose="02010600030101010101" pitchFamily="2" charset="-122"/>
              </a:rPr>
              <a:t>, </a:t>
            </a:r>
            <a:r>
              <a:rPr lang="en-US" altLang="zh-CN" sz="2400" i="1" dirty="0">
                <a:ea typeface="SimSun" panose="02010600030101010101" pitchFamily="2" charset="-122"/>
              </a:rPr>
              <a:t>MinPts</a:t>
            </a:r>
            <a:r>
              <a:rPr lang="en-US" altLang="zh-CN" sz="2400" dirty="0">
                <a:ea typeface="SimSun" panose="02010600030101010101" pitchFamily="2" charset="-122"/>
              </a:rPr>
              <a:t> if there is a point </a:t>
            </a:r>
            <a:r>
              <a:rPr lang="en-US" altLang="zh-CN" sz="2400" i="1" dirty="0">
                <a:ea typeface="SimSun" panose="02010600030101010101" pitchFamily="2" charset="-122"/>
              </a:rPr>
              <a:t>o </a:t>
            </a:r>
            <a:r>
              <a:rPr lang="en-US" altLang="zh-CN" sz="2400" dirty="0">
                <a:ea typeface="SimSun" panose="02010600030101010101" pitchFamily="2" charset="-122"/>
              </a:rPr>
              <a:t>such that both, </a:t>
            </a:r>
            <a:r>
              <a:rPr lang="en-US" altLang="zh-CN" sz="2400" i="1" dirty="0">
                <a:ea typeface="SimSun" panose="02010600030101010101" pitchFamily="2" charset="-122"/>
              </a:rPr>
              <a:t>p</a:t>
            </a:r>
            <a:r>
              <a:rPr lang="en-US" altLang="zh-CN" sz="2400" dirty="0">
                <a:ea typeface="SimSun" panose="02010600030101010101" pitchFamily="2" charset="-122"/>
              </a:rPr>
              <a:t> and </a:t>
            </a:r>
            <a:r>
              <a:rPr lang="en-US" altLang="zh-CN" sz="2400" i="1" dirty="0">
                <a:ea typeface="SimSun" panose="02010600030101010101" pitchFamily="2" charset="-122"/>
              </a:rPr>
              <a:t>q</a:t>
            </a:r>
            <a:r>
              <a:rPr lang="en-US" altLang="zh-CN" sz="2400" dirty="0">
                <a:ea typeface="SimSun" panose="02010600030101010101" pitchFamily="2" charset="-122"/>
              </a:rPr>
              <a:t> are density-reachable from </a:t>
            </a:r>
            <a:r>
              <a:rPr lang="en-US" altLang="zh-CN" sz="2400" i="1" dirty="0">
                <a:ea typeface="SimSun" panose="02010600030101010101" pitchFamily="2" charset="-122"/>
              </a:rPr>
              <a:t>o</a:t>
            </a:r>
            <a:r>
              <a:rPr lang="en-US" altLang="zh-CN" sz="2400" dirty="0">
                <a:ea typeface="SimSun" panose="02010600030101010101" pitchFamily="2" charset="-122"/>
              </a:rPr>
              <a:t> w.r.t. </a:t>
            </a:r>
            <a:r>
              <a:rPr lang="en-US" altLang="zh-CN" sz="2400" i="1" dirty="0">
                <a:ea typeface="SimSun" panose="02010600030101010101" pitchFamily="2" charset="-122"/>
              </a:rPr>
              <a:t>Eps</a:t>
            </a:r>
            <a:r>
              <a:rPr lang="en-US" altLang="zh-CN" sz="2400" dirty="0">
                <a:ea typeface="SimSun" panose="02010600030101010101" pitchFamily="2" charset="-122"/>
              </a:rPr>
              <a:t> and </a:t>
            </a:r>
            <a:r>
              <a:rPr lang="en-US" altLang="zh-CN" sz="2400" i="1" dirty="0">
                <a:ea typeface="SimSun" panose="02010600030101010101" pitchFamily="2" charset="-122"/>
              </a:rPr>
              <a:t>MinPts</a:t>
            </a:r>
            <a:endParaRPr lang="en-US" altLang="zh-CN" sz="2400" dirty="0">
              <a:ea typeface="SimSun" panose="02010600030101010101" pitchFamily="2" charset="-122"/>
            </a:endParaRPr>
          </a:p>
        </p:txBody>
      </p:sp>
      <p:sp>
        <p:nvSpPr>
          <p:cNvPr id="48132" name="Oval 1028"/>
          <p:cNvSpPr/>
          <p:nvPr/>
        </p:nvSpPr>
        <p:spPr>
          <a:xfrm>
            <a:off x="7019925" y="2459038"/>
            <a:ext cx="100013" cy="98425"/>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33" name="Oval 1029"/>
          <p:cNvSpPr/>
          <p:nvPr/>
        </p:nvSpPr>
        <p:spPr>
          <a:xfrm>
            <a:off x="7356475" y="2570163"/>
            <a:ext cx="98425" cy="100012"/>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34" name="Oval 1030"/>
          <p:cNvSpPr/>
          <p:nvPr/>
        </p:nvSpPr>
        <p:spPr>
          <a:xfrm>
            <a:off x="7356475" y="2235200"/>
            <a:ext cx="98425" cy="98425"/>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35" name="Oval 1031"/>
          <p:cNvSpPr/>
          <p:nvPr/>
        </p:nvSpPr>
        <p:spPr>
          <a:xfrm>
            <a:off x="6908800" y="2905125"/>
            <a:ext cx="98425" cy="100013"/>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36" name="Oval 1032"/>
          <p:cNvSpPr/>
          <p:nvPr/>
        </p:nvSpPr>
        <p:spPr>
          <a:xfrm>
            <a:off x="7132638" y="2682875"/>
            <a:ext cx="98425" cy="98425"/>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37" name="Oval 1033"/>
          <p:cNvSpPr/>
          <p:nvPr/>
        </p:nvSpPr>
        <p:spPr>
          <a:xfrm>
            <a:off x="7132638" y="2905125"/>
            <a:ext cx="98425" cy="100013"/>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38" name="Oval 1034"/>
          <p:cNvSpPr/>
          <p:nvPr/>
        </p:nvSpPr>
        <p:spPr>
          <a:xfrm>
            <a:off x="7467600" y="3017838"/>
            <a:ext cx="98425" cy="98425"/>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39" name="Oval 1035"/>
          <p:cNvSpPr/>
          <p:nvPr/>
        </p:nvSpPr>
        <p:spPr>
          <a:xfrm>
            <a:off x="7467600" y="2011363"/>
            <a:ext cx="98425" cy="100012"/>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40" name="Oval 1036"/>
          <p:cNvSpPr/>
          <p:nvPr/>
        </p:nvSpPr>
        <p:spPr>
          <a:xfrm>
            <a:off x="8137525" y="2682875"/>
            <a:ext cx="100013" cy="98425"/>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41" name="Oval 1037"/>
          <p:cNvSpPr/>
          <p:nvPr/>
        </p:nvSpPr>
        <p:spPr>
          <a:xfrm>
            <a:off x="7915275" y="2235200"/>
            <a:ext cx="98425" cy="98425"/>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42" name="Oval 1038"/>
          <p:cNvSpPr/>
          <p:nvPr/>
        </p:nvSpPr>
        <p:spPr>
          <a:xfrm>
            <a:off x="7356475" y="2794000"/>
            <a:ext cx="98425" cy="98425"/>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43" name="Oval 1039"/>
          <p:cNvSpPr/>
          <p:nvPr/>
        </p:nvSpPr>
        <p:spPr>
          <a:xfrm>
            <a:off x="7578725" y="2570163"/>
            <a:ext cx="100013" cy="100012"/>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44" name="Oval 1040"/>
          <p:cNvSpPr/>
          <p:nvPr/>
        </p:nvSpPr>
        <p:spPr>
          <a:xfrm>
            <a:off x="7802563" y="2905125"/>
            <a:ext cx="100012" cy="100013"/>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45" name="Oval 1041"/>
          <p:cNvSpPr/>
          <p:nvPr/>
        </p:nvSpPr>
        <p:spPr>
          <a:xfrm>
            <a:off x="8361363" y="3017838"/>
            <a:ext cx="100012" cy="98425"/>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46" name="Oval 1042"/>
          <p:cNvSpPr/>
          <p:nvPr/>
        </p:nvSpPr>
        <p:spPr>
          <a:xfrm>
            <a:off x="7086600" y="2438400"/>
            <a:ext cx="1104900" cy="1104900"/>
          </a:xfrm>
          <a:prstGeom prst="ellipse">
            <a:avLst/>
          </a:prstGeom>
          <a:no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47" name="Oval 1043"/>
          <p:cNvSpPr/>
          <p:nvPr/>
        </p:nvSpPr>
        <p:spPr>
          <a:xfrm>
            <a:off x="6370638" y="2311400"/>
            <a:ext cx="1104900" cy="1104900"/>
          </a:xfrm>
          <a:prstGeom prst="ellipse">
            <a:avLst/>
          </a:prstGeom>
          <a:no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48" name="Rectangle 1044"/>
          <p:cNvSpPr/>
          <p:nvPr/>
        </p:nvSpPr>
        <p:spPr>
          <a:xfrm>
            <a:off x="7969250" y="2051050"/>
            <a:ext cx="381000" cy="457200"/>
          </a:xfrm>
          <a:prstGeom prst="rect">
            <a:avLst/>
          </a:prstGeom>
          <a:noFill/>
          <a:ln w="9525">
            <a:noFill/>
          </a:ln>
        </p:spPr>
        <p:txBody>
          <a:bodyPr lIns="92075" tIns="46038" rIns="92075" bIns="46038">
            <a:spAutoFit/>
          </a:bodyPr>
          <a:p>
            <a:pPr algn="l" eaLnBrk="0" hangingPunct="0">
              <a:spcBef>
                <a:spcPct val="50000"/>
              </a:spcBef>
            </a:pPr>
            <a:r>
              <a:rPr lang="en-US" altLang="zh-CN" b="1" i="1" dirty="0">
                <a:latin typeface="Times New Roman" panose="02020603050405020304" pitchFamily="18" charset="0"/>
                <a:ea typeface="SimSun" panose="02010600030101010101" pitchFamily="2" charset="-122"/>
              </a:rPr>
              <a:t>p</a:t>
            </a:r>
            <a:endParaRPr lang="en-US" altLang="zh-CN" b="1" i="1" dirty="0">
              <a:latin typeface="Times New Roman" panose="02020603050405020304" pitchFamily="18" charset="0"/>
              <a:ea typeface="SimSun" panose="02010600030101010101" pitchFamily="2" charset="-122"/>
            </a:endParaRPr>
          </a:p>
        </p:txBody>
      </p:sp>
      <p:sp>
        <p:nvSpPr>
          <p:cNvPr id="48149" name="Rectangle 1045"/>
          <p:cNvSpPr/>
          <p:nvPr/>
        </p:nvSpPr>
        <p:spPr>
          <a:xfrm>
            <a:off x="6597650" y="2736850"/>
            <a:ext cx="381000" cy="457200"/>
          </a:xfrm>
          <a:prstGeom prst="rect">
            <a:avLst/>
          </a:prstGeom>
          <a:noFill/>
          <a:ln w="9525">
            <a:noFill/>
          </a:ln>
        </p:spPr>
        <p:txBody>
          <a:bodyPr lIns="92075" tIns="46038" rIns="92075" bIns="46038">
            <a:spAutoFit/>
          </a:bodyPr>
          <a:p>
            <a:pPr algn="l" eaLnBrk="0" hangingPunct="0">
              <a:spcBef>
                <a:spcPct val="50000"/>
              </a:spcBef>
            </a:pPr>
            <a:r>
              <a:rPr lang="en-US" altLang="zh-CN" b="1" i="1" dirty="0">
                <a:latin typeface="Times New Roman" panose="02020603050405020304" pitchFamily="18" charset="0"/>
                <a:ea typeface="SimSun" panose="02010600030101010101" pitchFamily="2" charset="-122"/>
              </a:rPr>
              <a:t>q</a:t>
            </a:r>
            <a:endParaRPr lang="en-US" altLang="zh-CN" b="1" i="1" dirty="0">
              <a:latin typeface="Times New Roman" panose="02020603050405020304" pitchFamily="18" charset="0"/>
              <a:ea typeface="SimSun" panose="02010600030101010101" pitchFamily="2" charset="-122"/>
            </a:endParaRPr>
          </a:p>
        </p:txBody>
      </p:sp>
      <p:sp>
        <p:nvSpPr>
          <p:cNvPr id="48150" name="Oval 1046"/>
          <p:cNvSpPr/>
          <p:nvPr/>
        </p:nvSpPr>
        <p:spPr>
          <a:xfrm>
            <a:off x="7315200" y="1752600"/>
            <a:ext cx="1104900" cy="1104900"/>
          </a:xfrm>
          <a:prstGeom prst="ellipse">
            <a:avLst/>
          </a:prstGeom>
          <a:no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51" name="Rectangle 1047"/>
          <p:cNvSpPr/>
          <p:nvPr/>
        </p:nvSpPr>
        <p:spPr>
          <a:xfrm>
            <a:off x="7359650" y="2508250"/>
            <a:ext cx="609600" cy="457200"/>
          </a:xfrm>
          <a:prstGeom prst="rect">
            <a:avLst/>
          </a:prstGeom>
          <a:noFill/>
          <a:ln w="9525">
            <a:noFill/>
          </a:ln>
        </p:spPr>
        <p:txBody>
          <a:bodyPr lIns="92075" tIns="46038" rIns="92075" bIns="46038">
            <a:spAutoFit/>
          </a:bodyPr>
          <a:p>
            <a:pPr algn="l" eaLnBrk="0" hangingPunct="0">
              <a:spcBef>
                <a:spcPct val="50000"/>
              </a:spcBef>
            </a:pPr>
            <a:r>
              <a:rPr lang="en-US" altLang="zh-CN" b="1" i="1" dirty="0">
                <a:latin typeface="Times New Roman" panose="02020603050405020304" pitchFamily="18" charset="0"/>
                <a:ea typeface="SimSun" panose="02010600030101010101" pitchFamily="2" charset="-122"/>
              </a:rPr>
              <a:t>p</a:t>
            </a:r>
            <a:r>
              <a:rPr lang="en-US" altLang="zh-CN" b="1" i="1" baseline="-25000" dirty="0">
                <a:latin typeface="Times New Roman" panose="02020603050405020304" pitchFamily="18" charset="0"/>
                <a:ea typeface="SimSun" panose="02010600030101010101" pitchFamily="2" charset="-122"/>
              </a:rPr>
              <a:t>1</a:t>
            </a:r>
            <a:endParaRPr lang="en-US" altLang="zh-CN" b="1" i="1" baseline="-25000" dirty="0">
              <a:latin typeface="Times New Roman" panose="02020603050405020304" pitchFamily="18" charset="0"/>
              <a:ea typeface="SimSun" panose="02010600030101010101" pitchFamily="2" charset="-122"/>
            </a:endParaRPr>
          </a:p>
        </p:txBody>
      </p:sp>
      <p:sp>
        <p:nvSpPr>
          <p:cNvPr id="48152" name="Line 1048"/>
          <p:cNvSpPr/>
          <p:nvPr/>
        </p:nvSpPr>
        <p:spPr>
          <a:xfrm flipH="1">
            <a:off x="7435850" y="2355850"/>
            <a:ext cx="457200" cy="228600"/>
          </a:xfrm>
          <a:prstGeom prst="line">
            <a:avLst/>
          </a:prstGeom>
          <a:ln w="25400" cap="flat" cmpd="sng">
            <a:solidFill>
              <a:schemeClr val="tx1"/>
            </a:solidFill>
            <a:prstDash val="solid"/>
            <a:headEnd type="stealth" w="lg" len="med"/>
            <a:tailEnd type="none" w="sm" len="sm"/>
          </a:ln>
        </p:spPr>
      </p:sp>
      <p:grpSp>
        <p:nvGrpSpPr>
          <p:cNvPr id="48153" name="Group 1049"/>
          <p:cNvGrpSpPr/>
          <p:nvPr/>
        </p:nvGrpSpPr>
        <p:grpSpPr>
          <a:xfrm>
            <a:off x="5867400" y="4343400"/>
            <a:ext cx="2863850" cy="1638300"/>
            <a:chOff x="3428" y="2740"/>
            <a:chExt cx="1804" cy="1032"/>
          </a:xfrm>
        </p:grpSpPr>
        <p:sp>
          <p:nvSpPr>
            <p:cNvPr id="48156" name="Oval 1050"/>
            <p:cNvSpPr/>
            <p:nvPr/>
          </p:nvSpPr>
          <p:spPr>
            <a:xfrm>
              <a:off x="3914" y="3089"/>
              <a:ext cx="63" cy="62"/>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57" name="Oval 1051"/>
            <p:cNvSpPr/>
            <p:nvPr/>
          </p:nvSpPr>
          <p:spPr>
            <a:xfrm>
              <a:off x="4126" y="3159"/>
              <a:ext cx="62" cy="63"/>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58" name="Oval 1052"/>
            <p:cNvSpPr/>
            <p:nvPr/>
          </p:nvSpPr>
          <p:spPr>
            <a:xfrm>
              <a:off x="4126" y="2948"/>
              <a:ext cx="62" cy="62"/>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59" name="Oval 1053"/>
            <p:cNvSpPr/>
            <p:nvPr/>
          </p:nvSpPr>
          <p:spPr>
            <a:xfrm>
              <a:off x="3844" y="3370"/>
              <a:ext cx="62" cy="63"/>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60" name="Oval 1054"/>
            <p:cNvSpPr/>
            <p:nvPr/>
          </p:nvSpPr>
          <p:spPr>
            <a:xfrm>
              <a:off x="3985" y="3230"/>
              <a:ext cx="62" cy="62"/>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61" name="Oval 1055"/>
            <p:cNvSpPr/>
            <p:nvPr/>
          </p:nvSpPr>
          <p:spPr>
            <a:xfrm>
              <a:off x="4129" y="3514"/>
              <a:ext cx="62" cy="63"/>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62" name="Oval 1056"/>
            <p:cNvSpPr/>
            <p:nvPr/>
          </p:nvSpPr>
          <p:spPr>
            <a:xfrm>
              <a:off x="4196" y="3297"/>
              <a:ext cx="62" cy="62"/>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63" name="Oval 1057"/>
            <p:cNvSpPr/>
            <p:nvPr/>
          </p:nvSpPr>
          <p:spPr>
            <a:xfrm>
              <a:off x="4196" y="2807"/>
              <a:ext cx="62" cy="63"/>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64" name="Oval 1058"/>
            <p:cNvSpPr/>
            <p:nvPr/>
          </p:nvSpPr>
          <p:spPr>
            <a:xfrm>
              <a:off x="4618" y="3230"/>
              <a:ext cx="63" cy="62"/>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65" name="Oval 1059"/>
            <p:cNvSpPr/>
            <p:nvPr/>
          </p:nvSpPr>
          <p:spPr>
            <a:xfrm>
              <a:off x="4478" y="2948"/>
              <a:ext cx="62" cy="62"/>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66" name="Oval 1060"/>
            <p:cNvSpPr/>
            <p:nvPr/>
          </p:nvSpPr>
          <p:spPr>
            <a:xfrm>
              <a:off x="3694" y="3252"/>
              <a:ext cx="62" cy="62"/>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67" name="Oval 1061"/>
            <p:cNvSpPr/>
            <p:nvPr/>
          </p:nvSpPr>
          <p:spPr>
            <a:xfrm>
              <a:off x="4266" y="3159"/>
              <a:ext cx="63" cy="63"/>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68" name="Oval 1062"/>
            <p:cNvSpPr/>
            <p:nvPr/>
          </p:nvSpPr>
          <p:spPr>
            <a:xfrm>
              <a:off x="4407" y="3370"/>
              <a:ext cx="63" cy="63"/>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69" name="Oval 1063"/>
            <p:cNvSpPr/>
            <p:nvPr/>
          </p:nvSpPr>
          <p:spPr>
            <a:xfrm>
              <a:off x="4759" y="3441"/>
              <a:ext cx="63" cy="62"/>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70" name="Rectangle 1064"/>
            <p:cNvSpPr/>
            <p:nvPr/>
          </p:nvSpPr>
          <p:spPr>
            <a:xfrm>
              <a:off x="3504" y="2832"/>
              <a:ext cx="240" cy="288"/>
            </a:xfrm>
            <a:prstGeom prst="rect">
              <a:avLst/>
            </a:prstGeom>
            <a:noFill/>
            <a:ln w="9525">
              <a:noFill/>
            </a:ln>
          </p:spPr>
          <p:txBody>
            <a:bodyPr lIns="92075" tIns="46038" rIns="92075" bIns="46038">
              <a:spAutoFit/>
            </a:bodyPr>
            <a:p>
              <a:pPr algn="l" eaLnBrk="0" hangingPunct="0">
                <a:spcBef>
                  <a:spcPct val="50000"/>
                </a:spcBef>
              </a:pPr>
              <a:r>
                <a:rPr lang="en-US" altLang="zh-CN" b="1" i="1" dirty="0">
                  <a:latin typeface="Times New Roman" panose="02020603050405020304" pitchFamily="18" charset="0"/>
                  <a:ea typeface="SimSun" panose="02010600030101010101" pitchFamily="2" charset="-122"/>
                </a:rPr>
                <a:t>p</a:t>
              </a:r>
              <a:endParaRPr lang="en-US" altLang="zh-CN" b="1" i="1" dirty="0">
                <a:latin typeface="Times New Roman" panose="02020603050405020304" pitchFamily="18" charset="0"/>
                <a:ea typeface="SimSun" panose="02010600030101010101" pitchFamily="2" charset="-122"/>
              </a:endParaRPr>
            </a:p>
          </p:txBody>
        </p:sp>
        <p:sp>
          <p:nvSpPr>
            <p:cNvPr id="48171" name="Rectangle 1065"/>
            <p:cNvSpPr/>
            <p:nvPr/>
          </p:nvSpPr>
          <p:spPr>
            <a:xfrm>
              <a:off x="4992" y="2832"/>
              <a:ext cx="240" cy="288"/>
            </a:xfrm>
            <a:prstGeom prst="rect">
              <a:avLst/>
            </a:prstGeom>
            <a:noFill/>
            <a:ln w="9525">
              <a:noFill/>
            </a:ln>
          </p:spPr>
          <p:txBody>
            <a:bodyPr lIns="92075" tIns="46038" rIns="92075" bIns="46038">
              <a:spAutoFit/>
            </a:bodyPr>
            <a:p>
              <a:pPr algn="l" eaLnBrk="0" hangingPunct="0">
                <a:spcBef>
                  <a:spcPct val="50000"/>
                </a:spcBef>
              </a:pPr>
              <a:r>
                <a:rPr lang="en-US" altLang="zh-CN" b="1" i="1" dirty="0">
                  <a:latin typeface="Times New Roman" panose="02020603050405020304" pitchFamily="18" charset="0"/>
                  <a:ea typeface="SimSun" panose="02010600030101010101" pitchFamily="2" charset="-122"/>
                </a:rPr>
                <a:t>q</a:t>
              </a:r>
              <a:endParaRPr lang="en-US" altLang="zh-CN" b="1" i="1" dirty="0">
                <a:latin typeface="Times New Roman" panose="02020603050405020304" pitchFamily="18" charset="0"/>
                <a:ea typeface="SimSun" panose="02010600030101010101" pitchFamily="2" charset="-122"/>
              </a:endParaRPr>
            </a:p>
          </p:txBody>
        </p:sp>
        <p:sp>
          <p:nvSpPr>
            <p:cNvPr id="48172" name="Oval 1066"/>
            <p:cNvSpPr/>
            <p:nvPr/>
          </p:nvSpPr>
          <p:spPr>
            <a:xfrm>
              <a:off x="4858" y="3182"/>
              <a:ext cx="63" cy="62"/>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73" name="Oval 1067"/>
            <p:cNvSpPr/>
            <p:nvPr/>
          </p:nvSpPr>
          <p:spPr>
            <a:xfrm>
              <a:off x="4506" y="3207"/>
              <a:ext cx="63" cy="63"/>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74" name="Oval 1068"/>
            <p:cNvSpPr/>
            <p:nvPr/>
          </p:nvSpPr>
          <p:spPr>
            <a:xfrm>
              <a:off x="4647" y="3322"/>
              <a:ext cx="63" cy="63"/>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75" name="Oval 1069"/>
            <p:cNvSpPr/>
            <p:nvPr/>
          </p:nvSpPr>
          <p:spPr>
            <a:xfrm>
              <a:off x="4954" y="2942"/>
              <a:ext cx="63" cy="62"/>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76" name="Oval 1070"/>
            <p:cNvSpPr/>
            <p:nvPr/>
          </p:nvSpPr>
          <p:spPr>
            <a:xfrm>
              <a:off x="4602" y="2871"/>
              <a:ext cx="63" cy="63"/>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77" name="Oval 1071"/>
            <p:cNvSpPr/>
            <p:nvPr/>
          </p:nvSpPr>
          <p:spPr>
            <a:xfrm>
              <a:off x="4791" y="3034"/>
              <a:ext cx="63" cy="63"/>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78" name="Oval 1072"/>
            <p:cNvSpPr/>
            <p:nvPr/>
          </p:nvSpPr>
          <p:spPr>
            <a:xfrm>
              <a:off x="3524" y="2980"/>
              <a:ext cx="696" cy="696"/>
            </a:xfrm>
            <a:prstGeom prst="ellipse">
              <a:avLst/>
            </a:prstGeom>
            <a:no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79" name="Oval 1073"/>
            <p:cNvSpPr/>
            <p:nvPr/>
          </p:nvSpPr>
          <p:spPr>
            <a:xfrm>
              <a:off x="3860" y="3076"/>
              <a:ext cx="696" cy="696"/>
            </a:xfrm>
            <a:prstGeom prst="ellipse">
              <a:avLst/>
            </a:prstGeom>
            <a:no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80" name="Oval 1074"/>
            <p:cNvSpPr/>
            <p:nvPr/>
          </p:nvSpPr>
          <p:spPr>
            <a:xfrm>
              <a:off x="4244" y="2980"/>
              <a:ext cx="696" cy="696"/>
            </a:xfrm>
            <a:prstGeom prst="ellipse">
              <a:avLst/>
            </a:prstGeom>
            <a:no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81" name="Oval 1075"/>
            <p:cNvSpPr/>
            <p:nvPr/>
          </p:nvSpPr>
          <p:spPr>
            <a:xfrm>
              <a:off x="4484" y="2740"/>
              <a:ext cx="696" cy="696"/>
            </a:xfrm>
            <a:prstGeom prst="ellipse">
              <a:avLst/>
            </a:prstGeom>
            <a:no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82" name="Line 1076"/>
            <p:cNvSpPr/>
            <p:nvPr/>
          </p:nvSpPr>
          <p:spPr>
            <a:xfrm flipV="1">
              <a:off x="3888" y="3312"/>
              <a:ext cx="288" cy="96"/>
            </a:xfrm>
            <a:prstGeom prst="line">
              <a:avLst/>
            </a:prstGeom>
            <a:ln w="25400" cap="flat" cmpd="sng">
              <a:solidFill>
                <a:schemeClr val="tx1"/>
              </a:solidFill>
              <a:prstDash val="solid"/>
              <a:headEnd type="stealth" w="med" len="lg"/>
              <a:tailEnd type="none" w="sm" len="sm"/>
            </a:ln>
          </p:spPr>
        </p:sp>
        <p:sp>
          <p:nvSpPr>
            <p:cNvPr id="48183" name="Line 1077"/>
            <p:cNvSpPr/>
            <p:nvPr/>
          </p:nvSpPr>
          <p:spPr>
            <a:xfrm flipH="1">
              <a:off x="4272" y="3264"/>
              <a:ext cx="240" cy="48"/>
            </a:xfrm>
            <a:prstGeom prst="line">
              <a:avLst/>
            </a:prstGeom>
            <a:ln w="25400" cap="flat" cmpd="sng">
              <a:solidFill>
                <a:schemeClr val="tx1"/>
              </a:solidFill>
              <a:prstDash val="solid"/>
              <a:headEnd type="stealth" w="med" len="lg"/>
              <a:tailEnd type="none" w="sm" len="sm"/>
            </a:ln>
          </p:spPr>
        </p:sp>
        <p:sp>
          <p:nvSpPr>
            <p:cNvPr id="48184" name="Oval 1078"/>
            <p:cNvSpPr/>
            <p:nvPr/>
          </p:nvSpPr>
          <p:spPr>
            <a:xfrm>
              <a:off x="3818" y="2993"/>
              <a:ext cx="63" cy="62"/>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85" name="Oval 1079"/>
            <p:cNvSpPr/>
            <p:nvPr/>
          </p:nvSpPr>
          <p:spPr>
            <a:xfrm>
              <a:off x="3694" y="3044"/>
              <a:ext cx="62" cy="62"/>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86" name="Oval 1080"/>
            <p:cNvSpPr/>
            <p:nvPr/>
          </p:nvSpPr>
          <p:spPr>
            <a:xfrm>
              <a:off x="3860" y="2807"/>
              <a:ext cx="62" cy="63"/>
            </a:xfrm>
            <a:prstGeom prst="ellipse">
              <a:avLst/>
            </a:prstGeom>
            <a:solidFill>
              <a:srgbClr val="CC3300"/>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87" name="Oval 1081"/>
            <p:cNvSpPr/>
            <p:nvPr/>
          </p:nvSpPr>
          <p:spPr>
            <a:xfrm>
              <a:off x="3428" y="2740"/>
              <a:ext cx="696" cy="696"/>
            </a:xfrm>
            <a:prstGeom prst="ellipse">
              <a:avLst/>
            </a:prstGeom>
            <a:no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8188" name="Line 1082"/>
            <p:cNvSpPr/>
            <p:nvPr/>
          </p:nvSpPr>
          <p:spPr>
            <a:xfrm>
              <a:off x="3744" y="3072"/>
              <a:ext cx="96" cy="288"/>
            </a:xfrm>
            <a:prstGeom prst="line">
              <a:avLst/>
            </a:prstGeom>
            <a:ln w="25400" cap="flat" cmpd="sng">
              <a:solidFill>
                <a:schemeClr val="tx1"/>
              </a:solidFill>
              <a:prstDash val="solid"/>
              <a:headEnd type="stealth" w="med" len="lg"/>
              <a:tailEnd type="none" w="sm" len="sm"/>
            </a:ln>
          </p:spPr>
        </p:sp>
        <p:sp>
          <p:nvSpPr>
            <p:cNvPr id="48189" name="Line 1083"/>
            <p:cNvSpPr/>
            <p:nvPr/>
          </p:nvSpPr>
          <p:spPr>
            <a:xfrm flipH="1">
              <a:off x="4560" y="3072"/>
              <a:ext cx="240" cy="144"/>
            </a:xfrm>
            <a:prstGeom prst="line">
              <a:avLst/>
            </a:prstGeom>
            <a:ln w="25400" cap="flat" cmpd="sng">
              <a:solidFill>
                <a:schemeClr val="tx1"/>
              </a:solidFill>
              <a:prstDash val="solid"/>
              <a:headEnd type="stealth" w="med" len="lg"/>
              <a:tailEnd type="none" w="sm" len="sm"/>
            </a:ln>
          </p:spPr>
        </p:sp>
        <p:sp>
          <p:nvSpPr>
            <p:cNvPr id="48190" name="Rectangle 1084"/>
            <p:cNvSpPr/>
            <p:nvPr/>
          </p:nvSpPr>
          <p:spPr>
            <a:xfrm>
              <a:off x="4176" y="3312"/>
              <a:ext cx="240" cy="288"/>
            </a:xfrm>
            <a:prstGeom prst="rect">
              <a:avLst/>
            </a:prstGeom>
            <a:noFill/>
            <a:ln w="9525">
              <a:noFill/>
            </a:ln>
          </p:spPr>
          <p:txBody>
            <a:bodyPr lIns="92075" tIns="46038" rIns="92075" bIns="46038">
              <a:spAutoFit/>
            </a:bodyPr>
            <a:p>
              <a:pPr algn="l" eaLnBrk="0" hangingPunct="0">
                <a:spcBef>
                  <a:spcPct val="50000"/>
                </a:spcBef>
              </a:pPr>
              <a:r>
                <a:rPr lang="en-US" altLang="zh-CN" b="1" i="1" dirty="0">
                  <a:latin typeface="Times New Roman" panose="02020603050405020304" pitchFamily="18" charset="0"/>
                  <a:ea typeface="SimSun" panose="02010600030101010101" pitchFamily="2" charset="-122"/>
                </a:rPr>
                <a:t>o</a:t>
              </a:r>
              <a:endParaRPr lang="en-US" altLang="zh-CN" b="1" i="1" dirty="0">
                <a:latin typeface="Times New Roman" panose="02020603050405020304" pitchFamily="18" charset="0"/>
                <a:ea typeface="SimSun" panose="02010600030101010101" pitchFamily="2" charset="-122"/>
              </a:endParaRPr>
            </a:p>
          </p:txBody>
        </p:sp>
      </p:grpSp>
      <p:sp>
        <p:nvSpPr>
          <p:cNvPr id="48154" name="Line 1085"/>
          <p:cNvSpPr/>
          <p:nvPr/>
        </p:nvSpPr>
        <p:spPr>
          <a:xfrm flipV="1">
            <a:off x="6934200" y="2667000"/>
            <a:ext cx="457200" cy="304800"/>
          </a:xfrm>
          <a:prstGeom prst="line">
            <a:avLst/>
          </a:prstGeom>
          <a:ln w="25400" cap="flat" cmpd="sng">
            <a:solidFill>
              <a:schemeClr val="tx1"/>
            </a:solidFill>
            <a:prstDash val="solid"/>
            <a:headEnd type="none" w="med" len="med"/>
            <a:tailEnd type="stealth" w="med" len="lg"/>
          </a:ln>
        </p:spPr>
      </p:sp>
      <p:sp>
        <p:nvSpPr>
          <p:cNvPr id="48155" name="Slide Number Placeholder 64"/>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type="title"/>
          </p:nvPr>
        </p:nvSpPr>
        <p:spPr>
          <a:xfrm>
            <a:off x="228600" y="228600"/>
            <a:ext cx="8534400" cy="990600"/>
          </a:xfrm>
        </p:spPr>
        <p:txBody>
          <a:bodyPr vert="horz" wrap="square" lIns="91440" tIns="45720" rIns="91440" bIns="45720" anchor="b" anchorCtr="0"/>
          <a:p>
            <a:pPr eaLnBrk="1" hangingPunct="1"/>
            <a:r>
              <a:rPr lang="en-US" altLang="zh-CN" sz="3200" dirty="0">
                <a:ea typeface="SimSun" panose="02010600030101010101" pitchFamily="2" charset="-122"/>
              </a:rPr>
              <a:t>DBSCAN: Density-Based Spatial Clustering of Applications with Noise</a:t>
            </a:r>
            <a:endParaRPr lang="en-US" altLang="zh-CN" sz="3200" dirty="0">
              <a:ea typeface="SimSun" panose="02010600030101010101" pitchFamily="2" charset="-122"/>
            </a:endParaRPr>
          </a:p>
        </p:txBody>
      </p:sp>
      <p:sp>
        <p:nvSpPr>
          <p:cNvPr id="49155" name="Rectangle 3"/>
          <p:cNvSpPr>
            <a:spLocks noGrp="1"/>
          </p:cNvSpPr>
          <p:nvPr>
            <p:ph idx="1"/>
          </p:nvPr>
        </p:nvSpPr>
        <p:spPr>
          <a:xfrm>
            <a:off x="228600" y="1524000"/>
            <a:ext cx="8534400" cy="5029200"/>
          </a:xfrm>
        </p:spPr>
        <p:txBody>
          <a:bodyPr vert="horz" wrap="square" lIns="91440" tIns="45720" rIns="91440" bIns="45720" anchor="t" anchorCtr="0"/>
          <a:p>
            <a:pPr eaLnBrk="1" hangingPunct="1"/>
            <a:r>
              <a:rPr lang="en-US" altLang="zh-CN" sz="2400" dirty="0">
                <a:ea typeface="SimSun" panose="02010600030101010101" pitchFamily="2" charset="-122"/>
              </a:rPr>
              <a:t>Relies on a </a:t>
            </a:r>
            <a:r>
              <a:rPr lang="en-US" altLang="zh-CN" sz="2400" i="1" dirty="0">
                <a:ea typeface="SimSun" panose="02010600030101010101" pitchFamily="2" charset="-122"/>
              </a:rPr>
              <a:t>density-based</a:t>
            </a:r>
            <a:r>
              <a:rPr lang="en-US" altLang="zh-CN" sz="2400" dirty="0">
                <a:ea typeface="SimSun" panose="02010600030101010101" pitchFamily="2" charset="-122"/>
              </a:rPr>
              <a:t> notion of cluster:  A </a:t>
            </a:r>
            <a:r>
              <a:rPr lang="en-US" altLang="zh-CN" sz="2400" i="1" dirty="0">
                <a:ea typeface="SimSun" panose="02010600030101010101" pitchFamily="2" charset="-122"/>
              </a:rPr>
              <a:t>cluster</a:t>
            </a:r>
            <a:r>
              <a:rPr lang="en-US" altLang="zh-CN" sz="2400" dirty="0">
                <a:ea typeface="SimSun" panose="02010600030101010101" pitchFamily="2" charset="-122"/>
              </a:rPr>
              <a:t> is defined as a maximal set of density-connected points</a:t>
            </a:r>
            <a:endParaRPr lang="en-US" altLang="zh-CN" sz="2400" dirty="0">
              <a:ea typeface="SimSun" panose="02010600030101010101" pitchFamily="2" charset="-122"/>
            </a:endParaRPr>
          </a:p>
          <a:p>
            <a:pPr eaLnBrk="1" hangingPunct="1"/>
            <a:r>
              <a:rPr lang="en-US" altLang="zh-CN" sz="2400" dirty="0">
                <a:ea typeface="SimSun" panose="02010600030101010101" pitchFamily="2" charset="-122"/>
              </a:rPr>
              <a:t>Discovers clusters of arbitrary shape in spatial databases with noise</a:t>
            </a:r>
            <a:endParaRPr lang="en-US" altLang="zh-CN" sz="2400" dirty="0">
              <a:ea typeface="SimSun" panose="02010600030101010101" pitchFamily="2" charset="-122"/>
            </a:endParaRPr>
          </a:p>
        </p:txBody>
      </p:sp>
      <p:grpSp>
        <p:nvGrpSpPr>
          <p:cNvPr id="49156" name="Group 4"/>
          <p:cNvGrpSpPr/>
          <p:nvPr/>
        </p:nvGrpSpPr>
        <p:grpSpPr>
          <a:xfrm>
            <a:off x="2057400" y="3505200"/>
            <a:ext cx="6324600" cy="2743200"/>
            <a:chOff x="672" y="1824"/>
            <a:chExt cx="4608" cy="2112"/>
          </a:xfrm>
        </p:grpSpPr>
        <p:sp>
          <p:nvSpPr>
            <p:cNvPr id="49158" name="Oval 5"/>
            <p:cNvSpPr/>
            <p:nvPr/>
          </p:nvSpPr>
          <p:spPr>
            <a:xfrm>
              <a:off x="1872" y="2496"/>
              <a:ext cx="144" cy="14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9159" name="Oval 6"/>
            <p:cNvSpPr/>
            <p:nvPr/>
          </p:nvSpPr>
          <p:spPr>
            <a:xfrm>
              <a:off x="1824" y="2736"/>
              <a:ext cx="144" cy="14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9160" name="Oval 7"/>
            <p:cNvSpPr/>
            <p:nvPr/>
          </p:nvSpPr>
          <p:spPr>
            <a:xfrm>
              <a:off x="2064" y="2784"/>
              <a:ext cx="144" cy="14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9161" name="Oval 8"/>
            <p:cNvSpPr/>
            <p:nvPr/>
          </p:nvSpPr>
          <p:spPr>
            <a:xfrm>
              <a:off x="2160" y="2496"/>
              <a:ext cx="144" cy="14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9162" name="Oval 9"/>
            <p:cNvSpPr/>
            <p:nvPr/>
          </p:nvSpPr>
          <p:spPr>
            <a:xfrm>
              <a:off x="2256" y="2928"/>
              <a:ext cx="144" cy="14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9163" name="Oval 10"/>
            <p:cNvSpPr/>
            <p:nvPr/>
          </p:nvSpPr>
          <p:spPr>
            <a:xfrm>
              <a:off x="1872" y="2976"/>
              <a:ext cx="144" cy="14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9164" name="Oval 11"/>
            <p:cNvSpPr/>
            <p:nvPr/>
          </p:nvSpPr>
          <p:spPr>
            <a:xfrm>
              <a:off x="2064" y="3120"/>
              <a:ext cx="144" cy="14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9165" name="Oval 12"/>
            <p:cNvSpPr/>
            <p:nvPr/>
          </p:nvSpPr>
          <p:spPr>
            <a:xfrm>
              <a:off x="1968" y="3360"/>
              <a:ext cx="144" cy="14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9166" name="Oval 13"/>
            <p:cNvSpPr/>
            <p:nvPr/>
          </p:nvSpPr>
          <p:spPr>
            <a:xfrm>
              <a:off x="2208" y="3504"/>
              <a:ext cx="144" cy="14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9167" name="Oval 14"/>
            <p:cNvSpPr/>
            <p:nvPr/>
          </p:nvSpPr>
          <p:spPr>
            <a:xfrm>
              <a:off x="2304" y="3696"/>
              <a:ext cx="144" cy="14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9168" name="Oval 15"/>
            <p:cNvSpPr/>
            <p:nvPr/>
          </p:nvSpPr>
          <p:spPr>
            <a:xfrm>
              <a:off x="2256" y="3264"/>
              <a:ext cx="144" cy="14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9169" name="Oval 16"/>
            <p:cNvSpPr/>
            <p:nvPr/>
          </p:nvSpPr>
          <p:spPr>
            <a:xfrm>
              <a:off x="2880" y="1920"/>
              <a:ext cx="144" cy="14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9170" name="Oval 17"/>
            <p:cNvSpPr/>
            <p:nvPr/>
          </p:nvSpPr>
          <p:spPr>
            <a:xfrm>
              <a:off x="2976" y="2496"/>
              <a:ext cx="144" cy="14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9171" name="Oval 18"/>
            <p:cNvSpPr/>
            <p:nvPr/>
          </p:nvSpPr>
          <p:spPr>
            <a:xfrm>
              <a:off x="2832" y="2688"/>
              <a:ext cx="144" cy="14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9172" name="Oval 19"/>
            <p:cNvSpPr/>
            <p:nvPr/>
          </p:nvSpPr>
          <p:spPr>
            <a:xfrm>
              <a:off x="3168" y="2784"/>
              <a:ext cx="144" cy="14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9173" name="Oval 20"/>
            <p:cNvSpPr/>
            <p:nvPr/>
          </p:nvSpPr>
          <p:spPr>
            <a:xfrm>
              <a:off x="3264" y="2544"/>
              <a:ext cx="144" cy="14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9174" name="Oval 21"/>
            <p:cNvSpPr/>
            <p:nvPr/>
          </p:nvSpPr>
          <p:spPr>
            <a:xfrm>
              <a:off x="2976" y="2880"/>
              <a:ext cx="144" cy="14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49175" name="Rectangle 22"/>
            <p:cNvSpPr/>
            <p:nvPr/>
          </p:nvSpPr>
          <p:spPr>
            <a:xfrm>
              <a:off x="1392" y="1824"/>
              <a:ext cx="2448" cy="2112"/>
            </a:xfrm>
            <a:prstGeom prst="rect">
              <a:avLst/>
            </a:prstGeom>
            <a:noFill/>
            <a:ln w="9525" cap="flat" cmpd="sng">
              <a:solidFill>
                <a:schemeClr val="tx1"/>
              </a:solidFill>
              <a:prstDash val="solid"/>
              <a:miter/>
              <a:headEnd type="none" w="med" len="med"/>
              <a:tailEnd type="none" w="med" len="med"/>
            </a:ln>
          </p:spPr>
          <p:txBody>
            <a:bodyPr wrap="none" anchor="ctr" anchorCtr="0"/>
            <a:p>
              <a:endParaRPr dirty="0">
                <a:latin typeface="Tahoma" panose="020B0604030504040204" pitchFamily="34" charset="0"/>
              </a:endParaRPr>
            </a:p>
          </p:txBody>
        </p:sp>
        <p:sp>
          <p:nvSpPr>
            <p:cNvPr id="49176" name="Oval 23"/>
            <p:cNvSpPr/>
            <p:nvPr/>
          </p:nvSpPr>
          <p:spPr>
            <a:xfrm>
              <a:off x="1584" y="2304"/>
              <a:ext cx="576" cy="624"/>
            </a:xfrm>
            <a:prstGeom prst="ellipse">
              <a:avLst/>
            </a:prstGeom>
            <a:noFill/>
            <a:ln w="9525" cap="flat" cmpd="sng">
              <a:solidFill>
                <a:schemeClr val="tx1"/>
              </a:solidFill>
              <a:prstDash val="dash"/>
              <a:headEnd type="none" w="med" len="med"/>
              <a:tailEnd type="none" w="med" len="med"/>
            </a:ln>
          </p:spPr>
          <p:txBody>
            <a:bodyPr wrap="none" anchor="ctr" anchorCtr="0"/>
            <a:p>
              <a:endParaRPr dirty="0">
                <a:latin typeface="Tahoma" panose="020B0604030504040204" pitchFamily="34" charset="0"/>
              </a:endParaRPr>
            </a:p>
          </p:txBody>
        </p:sp>
        <p:sp>
          <p:nvSpPr>
            <p:cNvPr id="49177" name="Oval 24"/>
            <p:cNvSpPr/>
            <p:nvPr/>
          </p:nvSpPr>
          <p:spPr>
            <a:xfrm>
              <a:off x="1872" y="2880"/>
              <a:ext cx="576" cy="624"/>
            </a:xfrm>
            <a:prstGeom prst="ellipse">
              <a:avLst/>
            </a:prstGeom>
            <a:noFill/>
            <a:ln w="9525" cap="flat" cmpd="sng">
              <a:solidFill>
                <a:schemeClr val="tx1"/>
              </a:solidFill>
              <a:prstDash val="dash"/>
              <a:headEnd type="none" w="med" len="med"/>
              <a:tailEnd type="none" w="med" len="med"/>
            </a:ln>
          </p:spPr>
          <p:txBody>
            <a:bodyPr wrap="none" anchor="ctr" anchorCtr="0"/>
            <a:p>
              <a:endParaRPr dirty="0">
                <a:latin typeface="Tahoma" panose="020B0604030504040204" pitchFamily="34" charset="0"/>
              </a:endParaRPr>
            </a:p>
          </p:txBody>
        </p:sp>
        <p:sp>
          <p:nvSpPr>
            <p:cNvPr id="49178" name="Oval 25"/>
            <p:cNvSpPr/>
            <p:nvPr/>
          </p:nvSpPr>
          <p:spPr>
            <a:xfrm>
              <a:off x="2688" y="1824"/>
              <a:ext cx="576" cy="624"/>
            </a:xfrm>
            <a:prstGeom prst="ellipse">
              <a:avLst/>
            </a:prstGeom>
            <a:noFill/>
            <a:ln w="9525" cap="flat" cmpd="sng">
              <a:solidFill>
                <a:schemeClr val="tx1"/>
              </a:solidFill>
              <a:prstDash val="dash"/>
              <a:headEnd type="none" w="med" len="med"/>
              <a:tailEnd type="none" w="med" len="med"/>
            </a:ln>
          </p:spPr>
          <p:txBody>
            <a:bodyPr wrap="none" anchor="ctr" anchorCtr="0"/>
            <a:p>
              <a:endParaRPr dirty="0">
                <a:latin typeface="Tahoma" panose="020B0604030504040204" pitchFamily="34" charset="0"/>
              </a:endParaRPr>
            </a:p>
          </p:txBody>
        </p:sp>
        <p:sp>
          <p:nvSpPr>
            <p:cNvPr id="49179" name="AutoShape 26"/>
            <p:cNvSpPr/>
            <p:nvPr/>
          </p:nvSpPr>
          <p:spPr>
            <a:xfrm>
              <a:off x="1094" y="3124"/>
              <a:ext cx="576" cy="360"/>
            </a:xfrm>
            <a:prstGeom prst="borderCallout1">
              <a:avLst>
                <a:gd name="adj1" fmla="val 18750"/>
                <a:gd name="adj2" fmla="val 108333"/>
                <a:gd name="adj3" fmla="val 18750"/>
                <a:gd name="adj4" fmla="val 168750"/>
              </a:avLst>
            </a:prstGeom>
            <a:solidFill>
              <a:schemeClr val="bg1"/>
            </a:solidFill>
            <a:ln w="9525" cap="flat" cmpd="sng">
              <a:solidFill>
                <a:schemeClr val="tx1"/>
              </a:solidFill>
              <a:prstDash val="solid"/>
              <a:miter/>
              <a:headEnd type="none" w="med" len="med"/>
              <a:tailEnd type="none" w="med" len="med"/>
            </a:ln>
          </p:spPr>
          <p:txBody>
            <a:bodyPr>
              <a:spAutoFit/>
            </a:bodyPr>
            <a:p>
              <a:pPr algn="l" eaLnBrk="0" hangingPunct="0"/>
              <a:r>
                <a:rPr lang="en-US" altLang="zh-CN" dirty="0">
                  <a:latin typeface="Times New Roman" panose="02020603050405020304" pitchFamily="18" charset="0"/>
                  <a:ea typeface="SimSun" panose="02010600030101010101" pitchFamily="2" charset="-122"/>
                </a:rPr>
                <a:t>Core</a:t>
              </a:r>
              <a:endParaRPr lang="en-US" altLang="zh-CN" dirty="0">
                <a:latin typeface="Times New Roman" panose="02020603050405020304" pitchFamily="18" charset="0"/>
                <a:ea typeface="SimSun" panose="02010600030101010101" pitchFamily="2" charset="-122"/>
              </a:endParaRPr>
            </a:p>
          </p:txBody>
        </p:sp>
        <p:sp>
          <p:nvSpPr>
            <p:cNvPr id="49180" name="AutoShape 27"/>
            <p:cNvSpPr/>
            <p:nvPr/>
          </p:nvSpPr>
          <p:spPr>
            <a:xfrm>
              <a:off x="672" y="2523"/>
              <a:ext cx="817" cy="359"/>
            </a:xfrm>
            <a:prstGeom prst="borderCallout1">
              <a:avLst>
                <a:gd name="adj1" fmla="val 14458"/>
                <a:gd name="adj2" fmla="val 105884"/>
                <a:gd name="adj3" fmla="val 14458"/>
                <a:gd name="adj4" fmla="val 148528"/>
              </a:avLst>
            </a:prstGeom>
            <a:solidFill>
              <a:schemeClr val="bg1"/>
            </a:solidFill>
            <a:ln w="9525" cap="flat" cmpd="sng">
              <a:solidFill>
                <a:schemeClr val="tx1"/>
              </a:solidFill>
              <a:prstDash val="solid"/>
              <a:miter/>
              <a:headEnd type="none" w="med" len="med"/>
              <a:tailEnd type="none" w="med" len="med"/>
            </a:ln>
          </p:spPr>
          <p:txBody>
            <a:bodyPr>
              <a:spAutoFit/>
            </a:bodyPr>
            <a:p>
              <a:pPr algn="l" eaLnBrk="0" hangingPunct="0"/>
              <a:r>
                <a:rPr lang="en-US" altLang="zh-CN" dirty="0">
                  <a:latin typeface="Times New Roman" panose="02020603050405020304" pitchFamily="18" charset="0"/>
                  <a:ea typeface="SimSun" panose="02010600030101010101" pitchFamily="2" charset="-122"/>
                </a:rPr>
                <a:t>Border</a:t>
              </a:r>
              <a:endParaRPr lang="en-US" altLang="zh-CN" dirty="0">
                <a:latin typeface="Times New Roman" panose="02020603050405020304" pitchFamily="18" charset="0"/>
                <a:ea typeface="SimSun" panose="02010600030101010101" pitchFamily="2" charset="-122"/>
              </a:endParaRPr>
            </a:p>
          </p:txBody>
        </p:sp>
        <p:sp>
          <p:nvSpPr>
            <p:cNvPr id="49181" name="AutoShape 28"/>
            <p:cNvSpPr/>
            <p:nvPr/>
          </p:nvSpPr>
          <p:spPr>
            <a:xfrm>
              <a:off x="3697" y="1921"/>
              <a:ext cx="824" cy="359"/>
            </a:xfrm>
            <a:prstGeom prst="borderCallout1">
              <a:avLst>
                <a:gd name="adj1" fmla="val 24491"/>
                <a:gd name="adj2" fmla="val -5810"/>
                <a:gd name="adj3" fmla="val 21431"/>
                <a:gd name="adj4" fmla="val -82810"/>
              </a:avLst>
            </a:prstGeom>
            <a:solidFill>
              <a:schemeClr val="bg1"/>
            </a:solidFill>
            <a:ln w="9525" cap="flat" cmpd="sng">
              <a:solidFill>
                <a:schemeClr val="tx1"/>
              </a:solidFill>
              <a:prstDash val="solid"/>
              <a:miter/>
              <a:headEnd type="none" w="med" len="med"/>
              <a:tailEnd type="none" w="med" len="med"/>
            </a:ln>
          </p:spPr>
          <p:txBody>
            <a:bodyPr>
              <a:spAutoFit/>
            </a:bodyPr>
            <a:p>
              <a:pPr algn="l" eaLnBrk="0" hangingPunct="0"/>
              <a:r>
                <a:rPr lang="en-US" altLang="zh-CN" dirty="0">
                  <a:latin typeface="Times New Roman" panose="02020603050405020304" pitchFamily="18" charset="0"/>
                  <a:ea typeface="SimSun" panose="02010600030101010101" pitchFamily="2" charset="-122"/>
                </a:rPr>
                <a:t>Outlier</a:t>
              </a:r>
              <a:endParaRPr lang="en-US" altLang="zh-CN" dirty="0">
                <a:latin typeface="Times New Roman" panose="02020603050405020304" pitchFamily="18" charset="0"/>
                <a:ea typeface="SimSun" panose="02010600030101010101" pitchFamily="2" charset="-122"/>
              </a:endParaRPr>
            </a:p>
          </p:txBody>
        </p:sp>
        <p:sp>
          <p:nvSpPr>
            <p:cNvPr id="49182" name="Text Box 29"/>
            <p:cNvSpPr txBox="1"/>
            <p:nvPr/>
          </p:nvSpPr>
          <p:spPr>
            <a:xfrm>
              <a:off x="4081" y="2736"/>
              <a:ext cx="1199" cy="773"/>
            </a:xfrm>
            <a:prstGeom prst="rect">
              <a:avLst/>
            </a:prstGeom>
            <a:noFill/>
            <a:ln w="9525">
              <a:noFill/>
            </a:ln>
          </p:spPr>
          <p:txBody>
            <a:bodyPr>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Eps = 1cm</a:t>
              </a:r>
              <a:endParaRPr lang="en-US" altLang="zh-CN" dirty="0">
                <a:latin typeface="Times New Roman" panose="02020603050405020304" pitchFamily="18" charset="0"/>
                <a:ea typeface="SimSun" panose="02010600030101010101" pitchFamily="2" charset="-122"/>
              </a:endParaRPr>
            </a:p>
            <a:p>
              <a:pPr algn="l" eaLnBrk="0" hangingPunct="0">
                <a:spcBef>
                  <a:spcPct val="50000"/>
                </a:spcBef>
              </a:pPr>
              <a:r>
                <a:rPr lang="en-US" altLang="zh-CN" dirty="0">
                  <a:latin typeface="Times New Roman" panose="02020603050405020304" pitchFamily="18" charset="0"/>
                  <a:ea typeface="SimSun" panose="02010600030101010101" pitchFamily="2" charset="-122"/>
                </a:rPr>
                <a:t>MinPts = 5</a:t>
              </a:r>
              <a:endParaRPr lang="en-US" altLang="zh-CN" dirty="0">
                <a:latin typeface="Times New Roman" panose="02020603050405020304" pitchFamily="18" charset="0"/>
                <a:ea typeface="SimSun" panose="02010600030101010101" pitchFamily="2" charset="-122"/>
              </a:endParaRPr>
            </a:p>
          </p:txBody>
        </p:sp>
        <p:sp>
          <p:nvSpPr>
            <p:cNvPr id="49183" name="Oval 30"/>
            <p:cNvSpPr/>
            <p:nvPr/>
          </p:nvSpPr>
          <p:spPr>
            <a:xfrm>
              <a:off x="2400" y="3456"/>
              <a:ext cx="144" cy="14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grpSp>
      <p:sp>
        <p:nvSpPr>
          <p:cNvPr id="49157" name="Slide Number Placeholder 33"/>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type="title"/>
          </p:nvPr>
        </p:nvSpPr>
        <p:spPr>
          <a:xfrm>
            <a:off x="681038" y="492125"/>
            <a:ext cx="7437437" cy="574675"/>
          </a:xfrm>
        </p:spPr>
        <p:txBody>
          <a:bodyPr vert="horz" wrap="square" lIns="91440" tIns="45720" rIns="91440" bIns="45720" anchor="b" anchorCtr="0"/>
          <a:p>
            <a:pPr eaLnBrk="1" hangingPunct="1"/>
            <a:r>
              <a:rPr lang="en-US" altLang="zh-CN" sz="4000" dirty="0">
                <a:ea typeface="SimSun" panose="02010600030101010101" pitchFamily="2" charset="-122"/>
              </a:rPr>
              <a:t>DBSCAN: The Algorithm</a:t>
            </a:r>
            <a:endParaRPr lang="en-US" altLang="zh-CN" dirty="0">
              <a:ea typeface="SimSun" panose="02010600030101010101" pitchFamily="2" charset="-122"/>
            </a:endParaRPr>
          </a:p>
        </p:txBody>
      </p:sp>
      <p:sp>
        <p:nvSpPr>
          <p:cNvPr id="50179" name="Rectangle 3"/>
          <p:cNvSpPr>
            <a:spLocks noGrp="1"/>
          </p:cNvSpPr>
          <p:nvPr>
            <p:ph idx="1"/>
          </p:nvPr>
        </p:nvSpPr>
        <p:spPr>
          <a:xfrm>
            <a:off x="304800" y="1371600"/>
            <a:ext cx="8305800" cy="5029200"/>
          </a:xfrm>
        </p:spPr>
        <p:txBody>
          <a:bodyPr vert="horz" wrap="square" lIns="91440" tIns="45720" rIns="91440" bIns="45720" anchor="t" anchorCtr="0"/>
          <a:p>
            <a:pPr eaLnBrk="1" hangingPunct="1">
              <a:lnSpc>
                <a:spcPct val="120000"/>
              </a:lnSpc>
              <a:spcBef>
                <a:spcPct val="50000"/>
              </a:spcBef>
            </a:pPr>
            <a:r>
              <a:rPr lang="en-US" altLang="zh-CN" sz="2400" dirty="0">
                <a:ea typeface="SimSun" panose="02010600030101010101" pitchFamily="2" charset="-122"/>
              </a:rPr>
              <a:t>Arbitrary select a point </a:t>
            </a:r>
            <a:r>
              <a:rPr lang="en-US" altLang="zh-CN" sz="2400" i="1" dirty="0">
                <a:ea typeface="SimSun" panose="02010600030101010101" pitchFamily="2" charset="-122"/>
              </a:rPr>
              <a:t>p</a:t>
            </a:r>
            <a:endParaRPr lang="en-US" altLang="zh-CN" sz="2400" dirty="0">
              <a:ea typeface="SimSun" panose="02010600030101010101" pitchFamily="2" charset="-122"/>
            </a:endParaRPr>
          </a:p>
          <a:p>
            <a:pPr eaLnBrk="1" hangingPunct="1">
              <a:lnSpc>
                <a:spcPct val="120000"/>
              </a:lnSpc>
              <a:spcBef>
                <a:spcPct val="50000"/>
              </a:spcBef>
            </a:pPr>
            <a:r>
              <a:rPr lang="en-US" altLang="zh-CN" sz="2400" dirty="0">
                <a:ea typeface="SimSun" panose="02010600030101010101" pitchFamily="2" charset="-122"/>
              </a:rPr>
              <a:t>Retrieve all points density-reachable from </a:t>
            </a:r>
            <a:r>
              <a:rPr lang="en-US" altLang="zh-CN" sz="2400" i="1" dirty="0">
                <a:ea typeface="SimSun" panose="02010600030101010101" pitchFamily="2" charset="-122"/>
              </a:rPr>
              <a:t>p</a:t>
            </a:r>
            <a:r>
              <a:rPr lang="en-US" altLang="zh-CN" sz="2400" dirty="0">
                <a:ea typeface="SimSun" panose="02010600030101010101" pitchFamily="2" charset="-122"/>
              </a:rPr>
              <a:t> w.r.t. </a:t>
            </a:r>
            <a:r>
              <a:rPr lang="en-US" altLang="zh-CN" sz="2400" i="1" dirty="0">
                <a:ea typeface="SimSun" panose="02010600030101010101" pitchFamily="2" charset="-122"/>
              </a:rPr>
              <a:t>Eps</a:t>
            </a:r>
            <a:r>
              <a:rPr lang="en-US" altLang="zh-CN" sz="2400" dirty="0">
                <a:ea typeface="SimSun" panose="02010600030101010101" pitchFamily="2" charset="-122"/>
              </a:rPr>
              <a:t> and </a:t>
            </a:r>
            <a:r>
              <a:rPr lang="en-US" altLang="zh-CN" sz="2400" i="1" dirty="0">
                <a:ea typeface="SimSun" panose="02010600030101010101" pitchFamily="2" charset="-122"/>
              </a:rPr>
              <a:t>MinPts</a:t>
            </a:r>
            <a:endParaRPr lang="en-US" altLang="zh-CN" sz="2400" dirty="0">
              <a:ea typeface="SimSun" panose="02010600030101010101" pitchFamily="2" charset="-122"/>
            </a:endParaRPr>
          </a:p>
          <a:p>
            <a:pPr eaLnBrk="1" hangingPunct="1">
              <a:lnSpc>
                <a:spcPct val="120000"/>
              </a:lnSpc>
              <a:spcBef>
                <a:spcPct val="50000"/>
              </a:spcBef>
            </a:pPr>
            <a:r>
              <a:rPr lang="en-US" altLang="zh-CN" sz="2400" dirty="0">
                <a:ea typeface="SimSun" panose="02010600030101010101" pitchFamily="2" charset="-122"/>
              </a:rPr>
              <a:t>If </a:t>
            </a:r>
            <a:r>
              <a:rPr lang="en-US" altLang="zh-CN" sz="2400" i="1" dirty="0">
                <a:ea typeface="SimSun" panose="02010600030101010101" pitchFamily="2" charset="-122"/>
              </a:rPr>
              <a:t>p</a:t>
            </a:r>
            <a:r>
              <a:rPr lang="en-US" altLang="zh-CN" sz="2400" dirty="0">
                <a:ea typeface="SimSun" panose="02010600030101010101" pitchFamily="2" charset="-122"/>
              </a:rPr>
              <a:t> is a core point, a cluster is formed</a:t>
            </a:r>
            <a:endParaRPr lang="en-US" altLang="zh-CN" sz="2400" dirty="0">
              <a:ea typeface="SimSun" panose="02010600030101010101" pitchFamily="2" charset="-122"/>
            </a:endParaRPr>
          </a:p>
          <a:p>
            <a:pPr eaLnBrk="1" hangingPunct="1">
              <a:lnSpc>
                <a:spcPct val="120000"/>
              </a:lnSpc>
              <a:spcBef>
                <a:spcPct val="50000"/>
              </a:spcBef>
            </a:pPr>
            <a:r>
              <a:rPr lang="en-US" altLang="zh-CN" sz="2400" dirty="0">
                <a:ea typeface="SimSun" panose="02010600030101010101" pitchFamily="2" charset="-122"/>
              </a:rPr>
              <a:t>If </a:t>
            </a:r>
            <a:r>
              <a:rPr lang="en-US" altLang="zh-CN" sz="2400" i="1" dirty="0">
                <a:ea typeface="SimSun" panose="02010600030101010101" pitchFamily="2" charset="-122"/>
              </a:rPr>
              <a:t>p</a:t>
            </a:r>
            <a:r>
              <a:rPr lang="en-US" altLang="zh-CN" sz="2400" dirty="0">
                <a:ea typeface="SimSun" panose="02010600030101010101" pitchFamily="2" charset="-122"/>
              </a:rPr>
              <a:t> is a border point, no points are density-reachable from </a:t>
            </a:r>
            <a:r>
              <a:rPr lang="en-US" altLang="zh-CN" sz="2400" i="1" dirty="0">
                <a:ea typeface="SimSun" panose="02010600030101010101" pitchFamily="2" charset="-122"/>
              </a:rPr>
              <a:t>p</a:t>
            </a:r>
            <a:r>
              <a:rPr lang="en-US" altLang="zh-CN" sz="2400" dirty="0">
                <a:ea typeface="SimSun" panose="02010600030101010101" pitchFamily="2" charset="-122"/>
              </a:rPr>
              <a:t> and DBSCAN visits the next point of the database</a:t>
            </a:r>
            <a:endParaRPr lang="en-US" altLang="zh-CN" sz="2400" dirty="0">
              <a:ea typeface="SimSun" panose="02010600030101010101" pitchFamily="2" charset="-122"/>
            </a:endParaRPr>
          </a:p>
          <a:p>
            <a:pPr eaLnBrk="1" hangingPunct="1">
              <a:lnSpc>
                <a:spcPct val="120000"/>
              </a:lnSpc>
              <a:spcBef>
                <a:spcPct val="50000"/>
              </a:spcBef>
            </a:pPr>
            <a:r>
              <a:rPr lang="en-US" altLang="zh-CN" sz="2400" dirty="0">
                <a:ea typeface="SimSun" panose="02010600030101010101" pitchFamily="2" charset="-122"/>
              </a:rPr>
              <a:t>Continue the process until all of the points have been processed</a:t>
            </a:r>
            <a:endParaRPr lang="en-US" altLang="zh-CN" sz="2000" dirty="0">
              <a:ea typeface="SimSun" panose="02010600030101010101" pitchFamily="2" charset="-122"/>
            </a:endParaRPr>
          </a:p>
        </p:txBody>
      </p:sp>
      <p:sp>
        <p:nvSpPr>
          <p:cNvPr id="50180"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p:cNvSpPr>
          <p:nvPr>
            <p:ph type="title"/>
          </p:nvPr>
        </p:nvSpPr>
        <p:spPr>
          <a:xfrm>
            <a:off x="681038" y="492125"/>
            <a:ext cx="7437437" cy="387350"/>
          </a:xfrm>
        </p:spPr>
        <p:txBody>
          <a:bodyPr vert="horz" wrap="square" lIns="91440" tIns="45720" rIns="91440" bIns="45720" anchor="b" anchorCtr="0"/>
          <a:p>
            <a:pPr eaLnBrk="1" hangingPunct="1"/>
            <a:r>
              <a:rPr lang="en-US" altLang="zh-CN" dirty="0">
                <a:ea typeface="SimSun" panose="02010600030101010101" pitchFamily="2" charset="-122"/>
              </a:rPr>
              <a:t>DBSCAN: Sensitive to Parameters</a:t>
            </a:r>
            <a:endParaRPr lang="en-US" altLang="zh-CN" sz="3200" dirty="0">
              <a:ea typeface="SimSun" panose="02010600030101010101" pitchFamily="2" charset="-122"/>
            </a:endParaRPr>
          </a:p>
        </p:txBody>
      </p:sp>
      <p:pic>
        <p:nvPicPr>
          <p:cNvPr id="51203" name="Picture 3"/>
          <p:cNvPicPr>
            <a:picLocks noChangeAspect="1"/>
          </p:cNvPicPr>
          <p:nvPr>
            <p:ph idx="1"/>
          </p:nvPr>
        </p:nvPicPr>
        <p:blipFill>
          <a:blip r:embed="rId1"/>
          <a:srcRect/>
          <a:stretch>
            <a:fillRect/>
          </a:stretch>
        </p:blipFill>
        <p:spPr>
          <a:xfrm>
            <a:off x="304800" y="1371600"/>
            <a:ext cx="8305800" cy="3124200"/>
          </a:xfrm>
        </p:spPr>
      </p:pic>
      <p:pic>
        <p:nvPicPr>
          <p:cNvPr id="51204" name="Picture 4"/>
          <p:cNvPicPr>
            <a:picLocks noChangeAspect="1"/>
          </p:cNvPicPr>
          <p:nvPr/>
        </p:nvPicPr>
        <p:blipFill>
          <a:blip r:embed="rId2"/>
          <a:stretch>
            <a:fillRect/>
          </a:stretch>
        </p:blipFill>
        <p:spPr>
          <a:xfrm>
            <a:off x="381000" y="4724400"/>
            <a:ext cx="8534400" cy="1752600"/>
          </a:xfrm>
          <a:prstGeom prst="rect">
            <a:avLst/>
          </a:prstGeom>
          <a:noFill/>
          <a:ln w="9525">
            <a:noFill/>
          </a:ln>
        </p:spPr>
      </p:pic>
      <p:pic>
        <p:nvPicPr>
          <p:cNvPr id="51205" name="Picture 5"/>
          <p:cNvPicPr>
            <a:picLocks noChangeAspect="1"/>
          </p:cNvPicPr>
          <p:nvPr/>
        </p:nvPicPr>
        <p:blipFill>
          <a:blip r:embed="rId3"/>
          <a:stretch>
            <a:fillRect/>
          </a:stretch>
        </p:blipFill>
        <p:spPr>
          <a:xfrm>
            <a:off x="152400" y="3455988"/>
            <a:ext cx="1524000" cy="1192212"/>
          </a:xfrm>
          <a:prstGeom prst="rect">
            <a:avLst/>
          </a:prstGeom>
          <a:noFill/>
          <a:ln w="9525">
            <a:noFill/>
          </a:ln>
        </p:spPr>
      </p:pic>
      <p:sp>
        <p:nvSpPr>
          <p:cNvPr id="51206" name="Slide Number Placeholder 8"/>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p:cNvSpPr>
          <p:nvPr>
            <p:ph type="title"/>
          </p:nvPr>
        </p:nvSpPr>
        <p:spPr>
          <a:xfrm>
            <a:off x="381000" y="381000"/>
            <a:ext cx="8382000" cy="533400"/>
          </a:xfrm>
        </p:spPr>
        <p:txBody>
          <a:bodyPr vert="horz" wrap="square" lIns="91440" tIns="45720" rIns="91440" bIns="45720" anchor="b" anchorCtr="0"/>
          <a:p>
            <a:pPr eaLnBrk="1" hangingPunct="1"/>
            <a:r>
              <a:rPr lang="en-US" altLang="zh-CN" sz="3200" dirty="0">
                <a:ea typeface="SimSun" panose="02010600030101010101" pitchFamily="2" charset="-122"/>
              </a:rPr>
              <a:t>OPTICS:  A Cluster-Ordering Method (1999)</a:t>
            </a:r>
            <a:endParaRPr lang="en-US" altLang="zh-CN" sz="4000" b="1" dirty="0">
              <a:ea typeface="SimSun" panose="02010600030101010101" pitchFamily="2" charset="-122"/>
            </a:endParaRPr>
          </a:p>
        </p:txBody>
      </p:sp>
      <p:sp>
        <p:nvSpPr>
          <p:cNvPr id="52227" name="Rectangle 3"/>
          <p:cNvSpPr>
            <a:spLocks noGrp="1"/>
          </p:cNvSpPr>
          <p:nvPr>
            <p:ph idx="1"/>
          </p:nvPr>
        </p:nvSpPr>
        <p:spPr>
          <a:xfrm>
            <a:off x="304800" y="1447800"/>
            <a:ext cx="8458200" cy="5105400"/>
          </a:xfrm>
        </p:spPr>
        <p:txBody>
          <a:bodyPr vert="horz" wrap="square" lIns="91440" tIns="45720" rIns="91440" bIns="45720" anchor="t" anchorCtr="0"/>
          <a:p>
            <a:pPr eaLnBrk="1" hangingPunct="1"/>
            <a:r>
              <a:rPr lang="en-US" altLang="zh-CN" sz="2400" dirty="0">
                <a:ea typeface="SimSun" panose="02010600030101010101" pitchFamily="2" charset="-122"/>
              </a:rPr>
              <a:t>OPTICS: Ordering Points To Identify the Clustering Structure</a:t>
            </a:r>
            <a:endParaRPr lang="en-US" altLang="zh-CN" sz="2400" dirty="0">
              <a:ea typeface="SimSun" panose="02010600030101010101" pitchFamily="2" charset="-122"/>
            </a:endParaRPr>
          </a:p>
          <a:p>
            <a:pPr lvl="1" eaLnBrk="1" hangingPunct="1"/>
            <a:r>
              <a:rPr lang="en-US" altLang="zh-CN" sz="2400" dirty="0">
                <a:ea typeface="SimSun" panose="02010600030101010101" pitchFamily="2" charset="-122"/>
              </a:rPr>
              <a:t>Ankerst, Breunig, Kriegel, and Sander (SIGMOD</a:t>
            </a:r>
            <a:r>
              <a:rPr lang="en-US" altLang="zh-CN" sz="2400" dirty="0">
                <a:latin typeface="Times New Roman" panose="02020603050405020304" pitchFamily="18" charset="0"/>
                <a:ea typeface="SimSun" panose="02010600030101010101" pitchFamily="2" charset="-122"/>
              </a:rPr>
              <a:t>’</a:t>
            </a:r>
            <a:r>
              <a:rPr lang="en-US" altLang="zh-CN" sz="2400" dirty="0">
                <a:ea typeface="SimSun" panose="02010600030101010101" pitchFamily="2" charset="-122"/>
              </a:rPr>
              <a:t>99)</a:t>
            </a:r>
            <a:endParaRPr lang="en-US" altLang="zh-CN" sz="2400" dirty="0">
              <a:ea typeface="SimSun" panose="02010600030101010101" pitchFamily="2" charset="-122"/>
            </a:endParaRPr>
          </a:p>
          <a:p>
            <a:pPr lvl="1" eaLnBrk="1" hangingPunct="1"/>
            <a:r>
              <a:rPr lang="en-US" altLang="zh-CN" sz="2400" dirty="0">
                <a:ea typeface="SimSun" panose="02010600030101010101" pitchFamily="2" charset="-122"/>
              </a:rPr>
              <a:t>Produces a special order of the database wrt its density-based clustering structure  </a:t>
            </a:r>
            <a:endParaRPr lang="en-US" altLang="zh-CN" sz="2400" dirty="0">
              <a:ea typeface="SimSun" panose="02010600030101010101" pitchFamily="2" charset="-122"/>
            </a:endParaRPr>
          </a:p>
          <a:p>
            <a:pPr lvl="1" eaLnBrk="1" hangingPunct="1"/>
            <a:r>
              <a:rPr lang="en-US" altLang="zh-CN" sz="2400" dirty="0">
                <a:ea typeface="SimSun" panose="02010600030101010101" pitchFamily="2" charset="-122"/>
              </a:rPr>
              <a:t>This cluster-ordering contains info equiv to the density-based clusterings corresponding to a broad range of parameter settings</a:t>
            </a:r>
            <a:endParaRPr lang="en-US" altLang="zh-CN" sz="2400" dirty="0">
              <a:ea typeface="SimSun" panose="02010600030101010101" pitchFamily="2" charset="-122"/>
            </a:endParaRPr>
          </a:p>
          <a:p>
            <a:pPr lvl="1" eaLnBrk="1" hangingPunct="1"/>
            <a:r>
              <a:rPr lang="en-US" altLang="zh-CN" sz="2400" dirty="0">
                <a:ea typeface="SimSun" panose="02010600030101010101" pitchFamily="2" charset="-122"/>
              </a:rPr>
              <a:t>Good for both automatic and interactive cluster analysis, including finding intrinsic clustering structure</a:t>
            </a:r>
            <a:endParaRPr lang="en-US" altLang="zh-CN" sz="2400" dirty="0">
              <a:ea typeface="SimSun" panose="02010600030101010101" pitchFamily="2" charset="-122"/>
            </a:endParaRPr>
          </a:p>
          <a:p>
            <a:pPr lvl="1" eaLnBrk="1" hangingPunct="1"/>
            <a:r>
              <a:rPr lang="en-US" altLang="zh-CN" sz="2400" dirty="0">
                <a:ea typeface="SimSun" panose="02010600030101010101" pitchFamily="2" charset="-122"/>
              </a:rPr>
              <a:t>Can be represented graphically or using visualization techniques</a:t>
            </a:r>
            <a:endParaRPr lang="en-US" altLang="zh-CN" sz="2400" dirty="0">
              <a:ea typeface="SimSun" panose="02010600030101010101" pitchFamily="2" charset="-122"/>
            </a:endParaRPr>
          </a:p>
        </p:txBody>
      </p:sp>
      <p:sp>
        <p:nvSpPr>
          <p:cNvPr id="52228"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1026"/>
          <p:cNvSpPr>
            <a:spLocks noGrp="1"/>
          </p:cNvSpPr>
          <p:nvPr>
            <p:ph type="title"/>
          </p:nvPr>
        </p:nvSpPr>
        <p:spPr>
          <a:xfrm>
            <a:off x="304800" y="436563"/>
            <a:ext cx="8458200" cy="442912"/>
          </a:xfrm>
        </p:spPr>
        <p:txBody>
          <a:bodyPr vert="horz" wrap="square" lIns="92075" tIns="46038" rIns="92075" bIns="46038" anchor="ctr" anchorCtr="0"/>
          <a:p>
            <a:pPr eaLnBrk="1" hangingPunct="1"/>
            <a:r>
              <a:rPr lang="en-US" altLang="zh-CN" dirty="0">
                <a:ea typeface="SimSun" panose="02010600030101010101" pitchFamily="2" charset="-122"/>
              </a:rPr>
              <a:t>OPTICS: Some Extension from DBSCAN</a:t>
            </a:r>
            <a:endParaRPr lang="en-US" altLang="zh-CN" sz="3200" dirty="0">
              <a:ea typeface="SimSun" panose="02010600030101010101" pitchFamily="2" charset="-122"/>
            </a:endParaRPr>
          </a:p>
        </p:txBody>
      </p:sp>
      <p:sp>
        <p:nvSpPr>
          <p:cNvPr id="53251" name="Rectangle 1027"/>
          <p:cNvSpPr>
            <a:spLocks noGrp="1"/>
          </p:cNvSpPr>
          <p:nvPr>
            <p:ph idx="1"/>
          </p:nvPr>
        </p:nvSpPr>
        <p:spPr>
          <a:xfrm>
            <a:off x="228600" y="1295400"/>
            <a:ext cx="5181600" cy="3962400"/>
          </a:xfrm>
        </p:spPr>
        <p:txBody>
          <a:bodyPr vert="horz" wrap="square" lIns="92075" tIns="46038" rIns="92075" bIns="46038" anchor="t" anchorCtr="0"/>
          <a:p>
            <a:pPr eaLnBrk="1" hangingPunct="1"/>
            <a:r>
              <a:rPr lang="en-US" altLang="zh-CN" sz="2400" dirty="0">
                <a:ea typeface="SimSun" panose="02010600030101010101" pitchFamily="2" charset="-122"/>
              </a:rPr>
              <a:t>Index-based: </a:t>
            </a:r>
            <a:endParaRPr lang="en-US" altLang="zh-CN" sz="2400" dirty="0">
              <a:ea typeface="SimSun" panose="02010600030101010101" pitchFamily="2" charset="-122"/>
            </a:endParaRPr>
          </a:p>
          <a:p>
            <a:pPr lvl="2" eaLnBrk="1" hangingPunct="1">
              <a:spcBef>
                <a:spcPct val="50000"/>
              </a:spcBef>
            </a:pPr>
            <a:r>
              <a:rPr lang="en-US" altLang="zh-CN" dirty="0">
                <a:ea typeface="SimSun" panose="02010600030101010101" pitchFamily="2" charset="-122"/>
              </a:rPr>
              <a:t>k = number of dimensions </a:t>
            </a:r>
            <a:endParaRPr lang="en-US" altLang="zh-CN" dirty="0">
              <a:ea typeface="SimSun" panose="02010600030101010101" pitchFamily="2" charset="-122"/>
            </a:endParaRPr>
          </a:p>
          <a:p>
            <a:pPr lvl="2" eaLnBrk="1" hangingPunct="1">
              <a:spcBef>
                <a:spcPct val="50000"/>
              </a:spcBef>
            </a:pPr>
            <a:r>
              <a:rPr lang="en-US" altLang="zh-CN" dirty="0">
                <a:ea typeface="SimSun" panose="02010600030101010101" pitchFamily="2" charset="-122"/>
              </a:rPr>
              <a:t>N = 20</a:t>
            </a:r>
            <a:endParaRPr lang="en-US" altLang="zh-CN" dirty="0">
              <a:ea typeface="SimSun" panose="02010600030101010101" pitchFamily="2" charset="-122"/>
            </a:endParaRPr>
          </a:p>
          <a:p>
            <a:pPr lvl="2" eaLnBrk="1" hangingPunct="1">
              <a:spcBef>
                <a:spcPct val="50000"/>
              </a:spcBef>
            </a:pPr>
            <a:r>
              <a:rPr lang="en-US" altLang="zh-CN" dirty="0">
                <a:ea typeface="SimSun" panose="02010600030101010101" pitchFamily="2" charset="-122"/>
              </a:rPr>
              <a:t>p = 75%</a:t>
            </a:r>
            <a:endParaRPr lang="en-US" altLang="zh-CN" dirty="0">
              <a:ea typeface="SimSun" panose="02010600030101010101" pitchFamily="2" charset="-122"/>
            </a:endParaRPr>
          </a:p>
          <a:p>
            <a:pPr lvl="2" eaLnBrk="1" hangingPunct="1">
              <a:spcBef>
                <a:spcPct val="50000"/>
              </a:spcBef>
            </a:pPr>
            <a:r>
              <a:rPr lang="en-US" altLang="zh-CN" dirty="0">
                <a:ea typeface="SimSun" panose="02010600030101010101" pitchFamily="2" charset="-122"/>
              </a:rPr>
              <a:t>M = N(1-p) = 5</a:t>
            </a:r>
            <a:endParaRPr lang="en-US" altLang="zh-CN" dirty="0">
              <a:ea typeface="SimSun" panose="02010600030101010101" pitchFamily="2" charset="-122"/>
            </a:endParaRPr>
          </a:p>
          <a:p>
            <a:pPr lvl="1" eaLnBrk="1" hangingPunct="1"/>
            <a:r>
              <a:rPr lang="en-US" altLang="zh-CN" sz="2400" dirty="0">
                <a:ea typeface="SimSun" panose="02010600030101010101" pitchFamily="2" charset="-122"/>
              </a:rPr>
              <a:t>Complexity:  O(</a:t>
            </a:r>
            <a:r>
              <a:rPr lang="en-US" altLang="zh-CN" sz="2400" i="1" dirty="0">
                <a:ea typeface="SimSun" panose="02010600030101010101" pitchFamily="2" charset="-122"/>
              </a:rPr>
              <a:t>NlogN</a:t>
            </a:r>
            <a:r>
              <a:rPr lang="en-US" altLang="zh-CN" sz="2400" dirty="0">
                <a:ea typeface="SimSun" panose="02010600030101010101" pitchFamily="2" charset="-122"/>
              </a:rPr>
              <a:t>)</a:t>
            </a:r>
            <a:endParaRPr lang="en-US" altLang="zh-CN" sz="2400" dirty="0">
              <a:ea typeface="SimSun" panose="02010600030101010101" pitchFamily="2" charset="-122"/>
            </a:endParaRPr>
          </a:p>
          <a:p>
            <a:pPr eaLnBrk="1" hangingPunct="1"/>
            <a:r>
              <a:rPr lang="en-US" altLang="zh-CN" sz="2400" dirty="0">
                <a:ea typeface="SimSun" panose="02010600030101010101" pitchFamily="2" charset="-122"/>
              </a:rPr>
              <a:t>Core Distance: </a:t>
            </a:r>
            <a:endParaRPr lang="en-US" altLang="zh-CN" sz="2400" dirty="0">
              <a:ea typeface="SimSun" panose="02010600030101010101" pitchFamily="2" charset="-122"/>
            </a:endParaRPr>
          </a:p>
          <a:p>
            <a:pPr lvl="1" eaLnBrk="1" hangingPunct="1"/>
            <a:r>
              <a:rPr lang="en-US" altLang="zh-CN" sz="2400" dirty="0">
                <a:ea typeface="SimSun" panose="02010600030101010101" pitchFamily="2" charset="-122"/>
              </a:rPr>
              <a:t>min eps s.t. point is core</a:t>
            </a:r>
            <a:endParaRPr lang="en-US" altLang="zh-CN" sz="2400" dirty="0">
              <a:ea typeface="SimSun" panose="02010600030101010101" pitchFamily="2" charset="-122"/>
            </a:endParaRPr>
          </a:p>
          <a:p>
            <a:pPr eaLnBrk="1" hangingPunct="1"/>
            <a:r>
              <a:rPr lang="en-US" altLang="zh-CN" sz="2400" dirty="0">
                <a:ea typeface="SimSun" panose="02010600030101010101" pitchFamily="2" charset="-122"/>
              </a:rPr>
              <a:t>Reachability Distance</a:t>
            </a:r>
            <a:endParaRPr lang="en-US" altLang="zh-CN" sz="2400" dirty="0">
              <a:ea typeface="SimSun" panose="02010600030101010101" pitchFamily="2" charset="-122"/>
            </a:endParaRPr>
          </a:p>
        </p:txBody>
      </p:sp>
      <p:sp>
        <p:nvSpPr>
          <p:cNvPr id="53252" name="Oval 1028"/>
          <p:cNvSpPr/>
          <p:nvPr/>
        </p:nvSpPr>
        <p:spPr>
          <a:xfrm>
            <a:off x="5699125" y="1758950"/>
            <a:ext cx="238125" cy="238125"/>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53" name="Oval 1029"/>
          <p:cNvSpPr/>
          <p:nvPr/>
        </p:nvSpPr>
        <p:spPr>
          <a:xfrm>
            <a:off x="5775325" y="2139950"/>
            <a:ext cx="238125" cy="238125"/>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54" name="Oval 1030"/>
          <p:cNvSpPr/>
          <p:nvPr/>
        </p:nvSpPr>
        <p:spPr>
          <a:xfrm>
            <a:off x="6080125" y="2063750"/>
            <a:ext cx="238125" cy="238125"/>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55" name="Oval 1031"/>
          <p:cNvSpPr/>
          <p:nvPr/>
        </p:nvSpPr>
        <p:spPr>
          <a:xfrm>
            <a:off x="5546725" y="2520950"/>
            <a:ext cx="238125" cy="238125"/>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56" name="Oval 1032"/>
          <p:cNvSpPr/>
          <p:nvPr/>
        </p:nvSpPr>
        <p:spPr>
          <a:xfrm>
            <a:off x="6384925" y="2139950"/>
            <a:ext cx="238125" cy="238125"/>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57" name="Oval 1033"/>
          <p:cNvSpPr/>
          <p:nvPr/>
        </p:nvSpPr>
        <p:spPr>
          <a:xfrm>
            <a:off x="6080125" y="1758950"/>
            <a:ext cx="238125" cy="238125"/>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58" name="Oval 1034"/>
          <p:cNvSpPr/>
          <p:nvPr/>
        </p:nvSpPr>
        <p:spPr>
          <a:xfrm>
            <a:off x="5851525" y="2825750"/>
            <a:ext cx="238125" cy="238125"/>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59" name="Oval 1035"/>
          <p:cNvSpPr/>
          <p:nvPr/>
        </p:nvSpPr>
        <p:spPr>
          <a:xfrm>
            <a:off x="6689725" y="1911350"/>
            <a:ext cx="238125" cy="238125"/>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60" name="Oval 1036"/>
          <p:cNvSpPr/>
          <p:nvPr/>
        </p:nvSpPr>
        <p:spPr>
          <a:xfrm>
            <a:off x="6461125" y="1606550"/>
            <a:ext cx="238125" cy="238125"/>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61" name="Oval 1037"/>
          <p:cNvSpPr/>
          <p:nvPr/>
        </p:nvSpPr>
        <p:spPr>
          <a:xfrm>
            <a:off x="6689725" y="2292350"/>
            <a:ext cx="238125" cy="238125"/>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62" name="Oval 1038"/>
          <p:cNvSpPr/>
          <p:nvPr/>
        </p:nvSpPr>
        <p:spPr>
          <a:xfrm>
            <a:off x="6537325" y="2597150"/>
            <a:ext cx="238125" cy="238125"/>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63" name="Oval 1039"/>
          <p:cNvSpPr/>
          <p:nvPr/>
        </p:nvSpPr>
        <p:spPr>
          <a:xfrm>
            <a:off x="6080125" y="2368550"/>
            <a:ext cx="238125" cy="238125"/>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64" name="Oval 1040"/>
          <p:cNvSpPr/>
          <p:nvPr/>
        </p:nvSpPr>
        <p:spPr>
          <a:xfrm>
            <a:off x="5318125" y="2139950"/>
            <a:ext cx="238125" cy="238125"/>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65" name="Oval 1041"/>
          <p:cNvSpPr/>
          <p:nvPr/>
        </p:nvSpPr>
        <p:spPr>
          <a:xfrm>
            <a:off x="8305800" y="2362200"/>
            <a:ext cx="238125" cy="238125"/>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66" name="Oval 1042"/>
          <p:cNvSpPr/>
          <p:nvPr/>
        </p:nvSpPr>
        <p:spPr>
          <a:xfrm>
            <a:off x="6308725" y="2901950"/>
            <a:ext cx="238125" cy="238125"/>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67" name="Oval 1043"/>
          <p:cNvSpPr/>
          <p:nvPr/>
        </p:nvSpPr>
        <p:spPr>
          <a:xfrm>
            <a:off x="7467600" y="3048000"/>
            <a:ext cx="238125" cy="238125"/>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68" name="Oval 1044"/>
          <p:cNvSpPr/>
          <p:nvPr/>
        </p:nvSpPr>
        <p:spPr>
          <a:xfrm>
            <a:off x="7924800" y="2819400"/>
            <a:ext cx="238125" cy="238125"/>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69" name="Oval 1045"/>
          <p:cNvSpPr/>
          <p:nvPr/>
        </p:nvSpPr>
        <p:spPr>
          <a:xfrm>
            <a:off x="7162800" y="1981200"/>
            <a:ext cx="1727200" cy="1727200"/>
          </a:xfrm>
          <a:prstGeom prst="ellipse">
            <a:avLst/>
          </a:prstGeom>
          <a:noFill/>
          <a:ln w="254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70" name="Line 1046"/>
          <p:cNvSpPr/>
          <p:nvPr/>
        </p:nvSpPr>
        <p:spPr>
          <a:xfrm>
            <a:off x="8153400" y="2895600"/>
            <a:ext cx="760413" cy="1588"/>
          </a:xfrm>
          <a:prstGeom prst="line">
            <a:avLst/>
          </a:prstGeom>
          <a:ln w="25400" cap="flat" cmpd="sng">
            <a:solidFill>
              <a:schemeClr val="tx1"/>
            </a:solidFill>
            <a:prstDash val="solid"/>
            <a:headEnd type="none" w="sm" len="sm"/>
            <a:tailEnd type="none" w="sm" len="sm"/>
          </a:ln>
        </p:spPr>
      </p:sp>
      <p:sp>
        <p:nvSpPr>
          <p:cNvPr id="53271" name="Rectangle 1047"/>
          <p:cNvSpPr/>
          <p:nvPr/>
        </p:nvSpPr>
        <p:spPr>
          <a:xfrm>
            <a:off x="8382000" y="2743200"/>
            <a:ext cx="434975" cy="457200"/>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D</a:t>
            </a:r>
            <a:endParaRPr lang="en-US" altLang="zh-CN" dirty="0">
              <a:latin typeface="Times New Roman" panose="02020603050405020304" pitchFamily="18" charset="0"/>
              <a:ea typeface="SimSun" panose="02010600030101010101" pitchFamily="2" charset="-122"/>
            </a:endParaRPr>
          </a:p>
        </p:txBody>
      </p:sp>
      <p:sp>
        <p:nvSpPr>
          <p:cNvPr id="53272" name="Oval 1048"/>
          <p:cNvSpPr/>
          <p:nvPr/>
        </p:nvSpPr>
        <p:spPr>
          <a:xfrm>
            <a:off x="7620000" y="2209800"/>
            <a:ext cx="238125" cy="238125"/>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73" name="Oval 1049"/>
          <p:cNvSpPr/>
          <p:nvPr/>
        </p:nvSpPr>
        <p:spPr>
          <a:xfrm>
            <a:off x="6918325" y="1606550"/>
            <a:ext cx="238125" cy="238125"/>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74" name="Oval 1050"/>
          <p:cNvSpPr/>
          <p:nvPr/>
        </p:nvSpPr>
        <p:spPr>
          <a:xfrm>
            <a:off x="5241925" y="1682750"/>
            <a:ext cx="238125" cy="238125"/>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75" name="Rectangle 1051"/>
          <p:cNvSpPr/>
          <p:nvPr/>
        </p:nvSpPr>
        <p:spPr>
          <a:xfrm>
            <a:off x="3810000" y="5105400"/>
            <a:ext cx="533400" cy="457200"/>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p2</a:t>
            </a:r>
            <a:endParaRPr lang="en-US" altLang="zh-CN" dirty="0">
              <a:latin typeface="Times New Roman" panose="02020603050405020304" pitchFamily="18" charset="0"/>
              <a:ea typeface="SimSun" panose="02010600030101010101" pitchFamily="2" charset="-122"/>
            </a:endParaRPr>
          </a:p>
        </p:txBody>
      </p:sp>
      <p:sp>
        <p:nvSpPr>
          <p:cNvPr id="53276" name="Oval 1052"/>
          <p:cNvSpPr/>
          <p:nvPr/>
        </p:nvSpPr>
        <p:spPr>
          <a:xfrm>
            <a:off x="4349750" y="3733800"/>
            <a:ext cx="2197100" cy="2197100"/>
          </a:xfrm>
          <a:prstGeom prst="ellipse">
            <a:avLst/>
          </a:prstGeom>
          <a:no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77" name="Oval 1053"/>
          <p:cNvSpPr/>
          <p:nvPr/>
        </p:nvSpPr>
        <p:spPr>
          <a:xfrm>
            <a:off x="5187950" y="4343400"/>
            <a:ext cx="215900" cy="215900"/>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78" name="Oval 1054"/>
          <p:cNvSpPr/>
          <p:nvPr/>
        </p:nvSpPr>
        <p:spPr>
          <a:xfrm>
            <a:off x="4654550" y="4572000"/>
            <a:ext cx="215900" cy="215900"/>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79" name="Oval 1055"/>
          <p:cNvSpPr/>
          <p:nvPr/>
        </p:nvSpPr>
        <p:spPr>
          <a:xfrm>
            <a:off x="5340350" y="4724400"/>
            <a:ext cx="215900" cy="215900"/>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80" name="Oval 1056"/>
          <p:cNvSpPr/>
          <p:nvPr/>
        </p:nvSpPr>
        <p:spPr>
          <a:xfrm>
            <a:off x="5492750" y="5257800"/>
            <a:ext cx="215900" cy="215900"/>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81" name="Oval 1057"/>
          <p:cNvSpPr/>
          <p:nvPr/>
        </p:nvSpPr>
        <p:spPr>
          <a:xfrm>
            <a:off x="6102350" y="4648200"/>
            <a:ext cx="215900" cy="215900"/>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82" name="Oval 1058"/>
          <p:cNvSpPr/>
          <p:nvPr/>
        </p:nvSpPr>
        <p:spPr>
          <a:xfrm>
            <a:off x="5645150" y="3886200"/>
            <a:ext cx="215900" cy="215900"/>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83" name="Oval 1059"/>
          <p:cNvSpPr/>
          <p:nvPr/>
        </p:nvSpPr>
        <p:spPr>
          <a:xfrm>
            <a:off x="6635750" y="4197350"/>
            <a:ext cx="2197100" cy="2197100"/>
          </a:xfrm>
          <a:prstGeom prst="ellipse">
            <a:avLst/>
          </a:prstGeom>
          <a:no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84" name="Oval 1060"/>
          <p:cNvSpPr/>
          <p:nvPr/>
        </p:nvSpPr>
        <p:spPr>
          <a:xfrm>
            <a:off x="6940550" y="5035550"/>
            <a:ext cx="215900" cy="215900"/>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85" name="Oval 1061"/>
          <p:cNvSpPr/>
          <p:nvPr/>
        </p:nvSpPr>
        <p:spPr>
          <a:xfrm>
            <a:off x="7626350" y="5187950"/>
            <a:ext cx="215900" cy="215900"/>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86" name="Oval 1062"/>
          <p:cNvSpPr/>
          <p:nvPr/>
        </p:nvSpPr>
        <p:spPr>
          <a:xfrm>
            <a:off x="8388350" y="5111750"/>
            <a:ext cx="215900" cy="215900"/>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87" name="Oval 1063"/>
          <p:cNvSpPr/>
          <p:nvPr/>
        </p:nvSpPr>
        <p:spPr>
          <a:xfrm>
            <a:off x="7931150" y="4349750"/>
            <a:ext cx="215900" cy="215900"/>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88" name="Rectangle 1064"/>
          <p:cNvSpPr/>
          <p:nvPr/>
        </p:nvSpPr>
        <p:spPr>
          <a:xfrm>
            <a:off x="5638800" y="5791200"/>
            <a:ext cx="1752600" cy="1004888"/>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MinPts = 5</a:t>
            </a:r>
            <a:endParaRPr lang="en-US" altLang="zh-CN" dirty="0">
              <a:latin typeface="Times New Roman" panose="02020603050405020304" pitchFamily="18" charset="0"/>
              <a:ea typeface="SimSun" panose="02010600030101010101" pitchFamily="2" charset="-122"/>
            </a:endParaRPr>
          </a:p>
          <a:p>
            <a:pPr algn="l" eaLnBrk="0" hangingPunct="0">
              <a:spcBef>
                <a:spcPct val="50000"/>
              </a:spcBef>
            </a:pPr>
            <a:r>
              <a:rPr lang="en-US" altLang="zh-CN" dirty="0">
                <a:latin typeface="Symbol" panose="05050102010706020507" pitchFamily="18" charset="2"/>
                <a:ea typeface="SimSun" panose="02010600030101010101" pitchFamily="2" charset="-122"/>
              </a:rPr>
              <a:t>e</a:t>
            </a:r>
            <a:r>
              <a:rPr lang="en-US" altLang="zh-CN" dirty="0">
                <a:latin typeface="Times New Roman" panose="02020603050405020304" pitchFamily="18" charset="0"/>
                <a:ea typeface="SimSun" panose="02010600030101010101" pitchFamily="2" charset="-122"/>
              </a:rPr>
              <a:t>  = 3 cm</a:t>
            </a:r>
            <a:endParaRPr lang="en-US" altLang="zh-CN" dirty="0">
              <a:latin typeface="Times New Roman" panose="02020603050405020304" pitchFamily="18" charset="0"/>
              <a:ea typeface="SimSun" panose="02010600030101010101" pitchFamily="2" charset="-122"/>
            </a:endParaRPr>
          </a:p>
        </p:txBody>
      </p:sp>
      <p:sp>
        <p:nvSpPr>
          <p:cNvPr id="53289" name="Rectangle 1065"/>
          <p:cNvSpPr/>
          <p:nvPr/>
        </p:nvSpPr>
        <p:spPr>
          <a:xfrm>
            <a:off x="533400" y="5700713"/>
            <a:ext cx="4343400" cy="1004887"/>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Max (core-distance (o), d (o, p))</a:t>
            </a:r>
            <a:endParaRPr lang="en-US" altLang="zh-CN" dirty="0">
              <a:latin typeface="Times New Roman" panose="02020603050405020304" pitchFamily="18" charset="0"/>
              <a:ea typeface="SimSun" panose="02010600030101010101" pitchFamily="2" charset="-122"/>
            </a:endParaRPr>
          </a:p>
          <a:p>
            <a:pPr algn="l" eaLnBrk="0" hangingPunct="0">
              <a:spcBef>
                <a:spcPct val="50000"/>
              </a:spcBef>
            </a:pPr>
            <a:r>
              <a:rPr lang="en-US" altLang="zh-CN" dirty="0">
                <a:latin typeface="Times New Roman" panose="02020603050405020304" pitchFamily="18" charset="0"/>
                <a:ea typeface="SimSun" panose="02010600030101010101" pitchFamily="2" charset="-122"/>
              </a:rPr>
              <a:t>r(p1, o) = 2.8cm.  r(p2,o) = 4cm</a:t>
            </a:r>
            <a:endParaRPr lang="en-US" altLang="zh-CN" dirty="0">
              <a:latin typeface="Times New Roman" panose="02020603050405020304" pitchFamily="18" charset="0"/>
              <a:ea typeface="SimSun" panose="02010600030101010101" pitchFamily="2" charset="-122"/>
            </a:endParaRPr>
          </a:p>
        </p:txBody>
      </p:sp>
      <p:sp>
        <p:nvSpPr>
          <p:cNvPr id="53290" name="Rectangle 1066"/>
          <p:cNvSpPr/>
          <p:nvPr/>
        </p:nvSpPr>
        <p:spPr>
          <a:xfrm>
            <a:off x="5029200" y="4718050"/>
            <a:ext cx="533400" cy="457200"/>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o</a:t>
            </a:r>
            <a:endParaRPr lang="en-US" altLang="zh-CN" dirty="0">
              <a:latin typeface="Times New Roman" panose="02020603050405020304" pitchFamily="18" charset="0"/>
              <a:ea typeface="SimSun" panose="02010600030101010101" pitchFamily="2" charset="-122"/>
            </a:endParaRPr>
          </a:p>
        </p:txBody>
      </p:sp>
      <p:sp>
        <p:nvSpPr>
          <p:cNvPr id="53291" name="Line 1067"/>
          <p:cNvSpPr/>
          <p:nvPr/>
        </p:nvSpPr>
        <p:spPr>
          <a:xfrm>
            <a:off x="5335588" y="4567238"/>
            <a:ext cx="74612" cy="150812"/>
          </a:xfrm>
          <a:prstGeom prst="line">
            <a:avLst/>
          </a:prstGeom>
          <a:ln w="50800" cap="flat" cmpd="sng">
            <a:solidFill>
              <a:schemeClr val="tx1"/>
            </a:solidFill>
            <a:prstDash val="solid"/>
            <a:headEnd type="none" w="sm" len="sm"/>
            <a:tailEnd type="none" w="sm" len="sm"/>
          </a:ln>
        </p:spPr>
      </p:sp>
      <p:sp>
        <p:nvSpPr>
          <p:cNvPr id="53292" name="Rectangle 1068"/>
          <p:cNvSpPr/>
          <p:nvPr/>
        </p:nvSpPr>
        <p:spPr>
          <a:xfrm>
            <a:off x="7315200" y="5257800"/>
            <a:ext cx="533400" cy="457200"/>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o</a:t>
            </a:r>
            <a:endParaRPr lang="en-US" altLang="zh-CN" dirty="0">
              <a:latin typeface="Times New Roman" panose="02020603050405020304" pitchFamily="18" charset="0"/>
              <a:ea typeface="SimSun" panose="02010600030101010101" pitchFamily="2" charset="-122"/>
            </a:endParaRPr>
          </a:p>
        </p:txBody>
      </p:sp>
      <p:sp>
        <p:nvSpPr>
          <p:cNvPr id="53293" name="Rectangle 1069"/>
          <p:cNvSpPr/>
          <p:nvPr/>
        </p:nvSpPr>
        <p:spPr>
          <a:xfrm>
            <a:off x="5029200" y="3962400"/>
            <a:ext cx="533400" cy="457200"/>
          </a:xfrm>
          <a:prstGeom prst="rect">
            <a:avLst/>
          </a:prstGeom>
          <a:noFill/>
          <a:ln w="9525">
            <a:noFill/>
          </a:ln>
        </p:spPr>
        <p:txBody>
          <a:bodyPr lIns="92075" tIns="46038" rIns="92075" bIns="46038">
            <a:spAutoFit/>
          </a:bodyPr>
          <a:p>
            <a:pPr algn="l" eaLnBrk="0" hangingPunct="0">
              <a:spcBef>
                <a:spcPct val="50000"/>
              </a:spcBef>
            </a:pPr>
            <a:r>
              <a:rPr lang="en-US" altLang="zh-CN" dirty="0">
                <a:latin typeface="Times New Roman" panose="02020603050405020304" pitchFamily="18" charset="0"/>
                <a:ea typeface="SimSun" panose="02010600030101010101" pitchFamily="2" charset="-122"/>
              </a:rPr>
              <a:t>p1</a:t>
            </a:r>
            <a:endParaRPr lang="en-US" altLang="zh-CN" dirty="0">
              <a:latin typeface="Times New Roman" panose="02020603050405020304" pitchFamily="18" charset="0"/>
              <a:ea typeface="SimSun" panose="02010600030101010101" pitchFamily="2" charset="-122"/>
            </a:endParaRPr>
          </a:p>
        </p:txBody>
      </p:sp>
      <p:sp>
        <p:nvSpPr>
          <p:cNvPr id="53294" name="Line 1070"/>
          <p:cNvSpPr/>
          <p:nvPr/>
        </p:nvSpPr>
        <p:spPr>
          <a:xfrm flipH="1">
            <a:off x="4192588" y="4954588"/>
            <a:ext cx="1217612" cy="608012"/>
          </a:xfrm>
          <a:prstGeom prst="line">
            <a:avLst/>
          </a:prstGeom>
          <a:ln w="25400" cap="flat" cmpd="sng">
            <a:solidFill>
              <a:schemeClr val="tx1"/>
            </a:solidFill>
            <a:prstDash val="solid"/>
            <a:headEnd type="none" w="sm" len="sm"/>
            <a:tailEnd type="none" w="sm" len="sm"/>
          </a:ln>
        </p:spPr>
      </p:sp>
      <p:sp>
        <p:nvSpPr>
          <p:cNvPr id="53295" name="Oval 1071"/>
          <p:cNvSpPr/>
          <p:nvPr/>
        </p:nvSpPr>
        <p:spPr>
          <a:xfrm>
            <a:off x="4038600" y="5499100"/>
            <a:ext cx="215900" cy="215900"/>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3296" name="Slide Number Placeholder 50"/>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Line 2"/>
          <p:cNvSpPr/>
          <p:nvPr/>
        </p:nvSpPr>
        <p:spPr>
          <a:xfrm>
            <a:off x="2133600" y="2439988"/>
            <a:ext cx="0" cy="3198812"/>
          </a:xfrm>
          <a:prstGeom prst="line">
            <a:avLst/>
          </a:prstGeom>
          <a:ln w="101600" cap="flat" cmpd="sng">
            <a:solidFill>
              <a:schemeClr val="tx1"/>
            </a:solidFill>
            <a:prstDash val="solid"/>
            <a:headEnd type="none" w="sm" len="sm"/>
            <a:tailEnd type="none" w="sm" len="sm"/>
          </a:ln>
        </p:spPr>
      </p:sp>
      <p:sp>
        <p:nvSpPr>
          <p:cNvPr id="54275" name="Line 3"/>
          <p:cNvSpPr/>
          <p:nvPr/>
        </p:nvSpPr>
        <p:spPr>
          <a:xfrm>
            <a:off x="2211388" y="5562600"/>
            <a:ext cx="6094412" cy="0"/>
          </a:xfrm>
          <a:prstGeom prst="line">
            <a:avLst/>
          </a:prstGeom>
          <a:ln w="101600" cap="flat" cmpd="sng">
            <a:solidFill>
              <a:schemeClr val="tx1"/>
            </a:solidFill>
            <a:prstDash val="solid"/>
            <a:headEnd type="none" w="sm" len="sm"/>
            <a:tailEnd type="none" w="sm" len="sm"/>
          </a:ln>
        </p:spPr>
      </p:sp>
      <p:sp>
        <p:nvSpPr>
          <p:cNvPr id="54276" name="Freeform 4"/>
          <p:cNvSpPr/>
          <p:nvPr/>
        </p:nvSpPr>
        <p:spPr>
          <a:xfrm>
            <a:off x="2057400" y="2408238"/>
            <a:ext cx="6280150" cy="3248025"/>
          </a:xfrm>
          <a:custGeom>
            <a:avLst/>
            <a:gdLst>
              <a:gd name="txL" fmla="*/ 0 w 3956"/>
              <a:gd name="txT" fmla="*/ 0 h 2046"/>
              <a:gd name="txR" fmla="*/ 3956 w 3956"/>
              <a:gd name="txB" fmla="*/ 2046 h 2046"/>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3956" h="2046">
                <a:moveTo>
                  <a:pt x="0" y="19"/>
                </a:moveTo>
                <a:lnTo>
                  <a:pt x="39" y="0"/>
                </a:lnTo>
                <a:lnTo>
                  <a:pt x="63" y="0"/>
                </a:lnTo>
                <a:lnTo>
                  <a:pt x="79" y="24"/>
                </a:lnTo>
                <a:lnTo>
                  <a:pt x="87" y="48"/>
                </a:lnTo>
                <a:lnTo>
                  <a:pt x="87" y="71"/>
                </a:lnTo>
                <a:lnTo>
                  <a:pt x="87" y="95"/>
                </a:lnTo>
                <a:lnTo>
                  <a:pt x="87" y="119"/>
                </a:lnTo>
                <a:lnTo>
                  <a:pt x="87" y="142"/>
                </a:lnTo>
                <a:lnTo>
                  <a:pt x="95" y="166"/>
                </a:lnTo>
                <a:lnTo>
                  <a:pt x="95" y="190"/>
                </a:lnTo>
                <a:lnTo>
                  <a:pt x="102" y="213"/>
                </a:lnTo>
                <a:lnTo>
                  <a:pt x="110" y="237"/>
                </a:lnTo>
                <a:lnTo>
                  <a:pt x="118" y="261"/>
                </a:lnTo>
                <a:lnTo>
                  <a:pt x="134" y="284"/>
                </a:lnTo>
                <a:lnTo>
                  <a:pt x="150" y="308"/>
                </a:lnTo>
                <a:lnTo>
                  <a:pt x="166" y="332"/>
                </a:lnTo>
                <a:lnTo>
                  <a:pt x="174" y="355"/>
                </a:lnTo>
                <a:lnTo>
                  <a:pt x="197" y="395"/>
                </a:lnTo>
                <a:lnTo>
                  <a:pt x="213" y="419"/>
                </a:lnTo>
                <a:lnTo>
                  <a:pt x="229" y="450"/>
                </a:lnTo>
                <a:lnTo>
                  <a:pt x="245" y="474"/>
                </a:lnTo>
                <a:lnTo>
                  <a:pt x="252" y="505"/>
                </a:lnTo>
                <a:lnTo>
                  <a:pt x="268" y="529"/>
                </a:lnTo>
                <a:lnTo>
                  <a:pt x="268" y="553"/>
                </a:lnTo>
                <a:lnTo>
                  <a:pt x="276" y="576"/>
                </a:lnTo>
                <a:lnTo>
                  <a:pt x="284" y="600"/>
                </a:lnTo>
                <a:lnTo>
                  <a:pt x="292" y="624"/>
                </a:lnTo>
                <a:lnTo>
                  <a:pt x="300" y="648"/>
                </a:lnTo>
                <a:lnTo>
                  <a:pt x="308" y="679"/>
                </a:lnTo>
                <a:lnTo>
                  <a:pt x="316" y="703"/>
                </a:lnTo>
                <a:lnTo>
                  <a:pt x="324" y="726"/>
                </a:lnTo>
                <a:lnTo>
                  <a:pt x="331" y="758"/>
                </a:lnTo>
                <a:lnTo>
                  <a:pt x="339" y="782"/>
                </a:lnTo>
                <a:lnTo>
                  <a:pt x="347" y="805"/>
                </a:lnTo>
                <a:lnTo>
                  <a:pt x="363" y="829"/>
                </a:lnTo>
                <a:lnTo>
                  <a:pt x="371" y="853"/>
                </a:lnTo>
                <a:lnTo>
                  <a:pt x="379" y="876"/>
                </a:lnTo>
                <a:lnTo>
                  <a:pt x="387" y="900"/>
                </a:lnTo>
                <a:lnTo>
                  <a:pt x="395" y="924"/>
                </a:lnTo>
                <a:lnTo>
                  <a:pt x="402" y="947"/>
                </a:lnTo>
                <a:lnTo>
                  <a:pt x="410" y="971"/>
                </a:lnTo>
                <a:lnTo>
                  <a:pt x="410" y="995"/>
                </a:lnTo>
                <a:lnTo>
                  <a:pt x="418" y="1018"/>
                </a:lnTo>
                <a:lnTo>
                  <a:pt x="418" y="1042"/>
                </a:lnTo>
                <a:lnTo>
                  <a:pt x="418" y="1074"/>
                </a:lnTo>
                <a:lnTo>
                  <a:pt x="418" y="1105"/>
                </a:lnTo>
                <a:lnTo>
                  <a:pt x="418" y="1129"/>
                </a:lnTo>
                <a:lnTo>
                  <a:pt x="418" y="1161"/>
                </a:lnTo>
                <a:lnTo>
                  <a:pt x="418" y="1184"/>
                </a:lnTo>
                <a:lnTo>
                  <a:pt x="418" y="1208"/>
                </a:lnTo>
                <a:lnTo>
                  <a:pt x="418" y="1232"/>
                </a:lnTo>
                <a:lnTo>
                  <a:pt x="426" y="1255"/>
                </a:lnTo>
                <a:lnTo>
                  <a:pt x="426" y="1279"/>
                </a:lnTo>
                <a:lnTo>
                  <a:pt x="434" y="1303"/>
                </a:lnTo>
                <a:lnTo>
                  <a:pt x="442" y="1326"/>
                </a:lnTo>
                <a:lnTo>
                  <a:pt x="458" y="1350"/>
                </a:lnTo>
                <a:lnTo>
                  <a:pt x="489" y="1374"/>
                </a:lnTo>
                <a:lnTo>
                  <a:pt x="521" y="1389"/>
                </a:lnTo>
                <a:lnTo>
                  <a:pt x="545" y="1397"/>
                </a:lnTo>
                <a:lnTo>
                  <a:pt x="568" y="1405"/>
                </a:lnTo>
                <a:lnTo>
                  <a:pt x="592" y="1421"/>
                </a:lnTo>
                <a:lnTo>
                  <a:pt x="623" y="1437"/>
                </a:lnTo>
                <a:lnTo>
                  <a:pt x="663" y="1460"/>
                </a:lnTo>
                <a:lnTo>
                  <a:pt x="687" y="1476"/>
                </a:lnTo>
                <a:lnTo>
                  <a:pt x="718" y="1492"/>
                </a:lnTo>
                <a:lnTo>
                  <a:pt x="734" y="1516"/>
                </a:lnTo>
                <a:lnTo>
                  <a:pt x="773" y="1524"/>
                </a:lnTo>
                <a:lnTo>
                  <a:pt x="797" y="1524"/>
                </a:lnTo>
                <a:lnTo>
                  <a:pt x="837" y="1524"/>
                </a:lnTo>
                <a:lnTo>
                  <a:pt x="884" y="1524"/>
                </a:lnTo>
                <a:lnTo>
                  <a:pt x="923" y="1524"/>
                </a:lnTo>
                <a:lnTo>
                  <a:pt x="963" y="1516"/>
                </a:lnTo>
                <a:lnTo>
                  <a:pt x="987" y="1516"/>
                </a:lnTo>
                <a:lnTo>
                  <a:pt x="1010" y="1508"/>
                </a:lnTo>
                <a:lnTo>
                  <a:pt x="1034" y="1484"/>
                </a:lnTo>
                <a:lnTo>
                  <a:pt x="1058" y="1460"/>
                </a:lnTo>
                <a:lnTo>
                  <a:pt x="1081" y="1437"/>
                </a:lnTo>
                <a:lnTo>
                  <a:pt x="1097" y="1413"/>
                </a:lnTo>
                <a:lnTo>
                  <a:pt x="1113" y="1389"/>
                </a:lnTo>
                <a:lnTo>
                  <a:pt x="1137" y="1366"/>
                </a:lnTo>
                <a:lnTo>
                  <a:pt x="1152" y="1342"/>
                </a:lnTo>
                <a:lnTo>
                  <a:pt x="1176" y="1318"/>
                </a:lnTo>
                <a:lnTo>
                  <a:pt x="1200" y="1295"/>
                </a:lnTo>
                <a:lnTo>
                  <a:pt x="1223" y="1271"/>
                </a:lnTo>
                <a:lnTo>
                  <a:pt x="1239" y="1247"/>
                </a:lnTo>
                <a:lnTo>
                  <a:pt x="1255" y="1224"/>
                </a:lnTo>
                <a:lnTo>
                  <a:pt x="1263" y="1200"/>
                </a:lnTo>
                <a:lnTo>
                  <a:pt x="1271" y="1176"/>
                </a:lnTo>
                <a:lnTo>
                  <a:pt x="1271" y="1153"/>
                </a:lnTo>
                <a:lnTo>
                  <a:pt x="1271" y="1129"/>
                </a:lnTo>
                <a:lnTo>
                  <a:pt x="1271" y="1105"/>
                </a:lnTo>
                <a:lnTo>
                  <a:pt x="1271" y="1082"/>
                </a:lnTo>
                <a:lnTo>
                  <a:pt x="1287" y="1058"/>
                </a:lnTo>
                <a:lnTo>
                  <a:pt x="1310" y="1034"/>
                </a:lnTo>
                <a:lnTo>
                  <a:pt x="1334" y="1018"/>
                </a:lnTo>
                <a:lnTo>
                  <a:pt x="1358" y="1003"/>
                </a:lnTo>
                <a:lnTo>
                  <a:pt x="1381" y="995"/>
                </a:lnTo>
                <a:lnTo>
                  <a:pt x="1405" y="979"/>
                </a:lnTo>
                <a:lnTo>
                  <a:pt x="1437" y="1003"/>
                </a:lnTo>
                <a:lnTo>
                  <a:pt x="1452" y="1026"/>
                </a:lnTo>
                <a:lnTo>
                  <a:pt x="1460" y="1050"/>
                </a:lnTo>
                <a:lnTo>
                  <a:pt x="1468" y="1074"/>
                </a:lnTo>
                <a:lnTo>
                  <a:pt x="1492" y="1082"/>
                </a:lnTo>
                <a:lnTo>
                  <a:pt x="1531" y="1082"/>
                </a:lnTo>
                <a:lnTo>
                  <a:pt x="1555" y="1082"/>
                </a:lnTo>
                <a:lnTo>
                  <a:pt x="1587" y="1074"/>
                </a:lnTo>
                <a:lnTo>
                  <a:pt x="1610" y="1066"/>
                </a:lnTo>
                <a:lnTo>
                  <a:pt x="1634" y="1050"/>
                </a:lnTo>
                <a:lnTo>
                  <a:pt x="1658" y="1034"/>
                </a:lnTo>
                <a:lnTo>
                  <a:pt x="1681" y="1018"/>
                </a:lnTo>
                <a:lnTo>
                  <a:pt x="1705" y="1003"/>
                </a:lnTo>
                <a:lnTo>
                  <a:pt x="1729" y="995"/>
                </a:lnTo>
                <a:lnTo>
                  <a:pt x="1744" y="1018"/>
                </a:lnTo>
                <a:lnTo>
                  <a:pt x="1752" y="1042"/>
                </a:lnTo>
                <a:lnTo>
                  <a:pt x="1760" y="1066"/>
                </a:lnTo>
                <a:lnTo>
                  <a:pt x="1760" y="1089"/>
                </a:lnTo>
                <a:lnTo>
                  <a:pt x="1760" y="1113"/>
                </a:lnTo>
                <a:lnTo>
                  <a:pt x="1760" y="1137"/>
                </a:lnTo>
                <a:lnTo>
                  <a:pt x="1760" y="1161"/>
                </a:lnTo>
                <a:lnTo>
                  <a:pt x="1760" y="1184"/>
                </a:lnTo>
                <a:lnTo>
                  <a:pt x="1760" y="1208"/>
                </a:lnTo>
                <a:lnTo>
                  <a:pt x="1760" y="1232"/>
                </a:lnTo>
                <a:lnTo>
                  <a:pt x="1760" y="1255"/>
                </a:lnTo>
                <a:lnTo>
                  <a:pt x="1760" y="1279"/>
                </a:lnTo>
                <a:lnTo>
                  <a:pt x="1760" y="1303"/>
                </a:lnTo>
                <a:lnTo>
                  <a:pt x="1760" y="1326"/>
                </a:lnTo>
                <a:lnTo>
                  <a:pt x="1760" y="1350"/>
                </a:lnTo>
                <a:lnTo>
                  <a:pt x="1768" y="1374"/>
                </a:lnTo>
                <a:lnTo>
                  <a:pt x="1776" y="1397"/>
                </a:lnTo>
                <a:lnTo>
                  <a:pt x="1784" y="1421"/>
                </a:lnTo>
                <a:lnTo>
                  <a:pt x="1792" y="1445"/>
                </a:lnTo>
                <a:lnTo>
                  <a:pt x="1815" y="1476"/>
                </a:lnTo>
                <a:lnTo>
                  <a:pt x="1855" y="1500"/>
                </a:lnTo>
                <a:lnTo>
                  <a:pt x="1879" y="1524"/>
                </a:lnTo>
                <a:lnTo>
                  <a:pt x="1910" y="1539"/>
                </a:lnTo>
                <a:lnTo>
                  <a:pt x="1934" y="1547"/>
                </a:lnTo>
                <a:lnTo>
                  <a:pt x="1958" y="1555"/>
                </a:lnTo>
                <a:lnTo>
                  <a:pt x="1981" y="1555"/>
                </a:lnTo>
                <a:lnTo>
                  <a:pt x="2005" y="1555"/>
                </a:lnTo>
                <a:lnTo>
                  <a:pt x="2037" y="1555"/>
                </a:lnTo>
                <a:lnTo>
                  <a:pt x="2068" y="1555"/>
                </a:lnTo>
                <a:lnTo>
                  <a:pt x="2092" y="1555"/>
                </a:lnTo>
                <a:lnTo>
                  <a:pt x="2131" y="1555"/>
                </a:lnTo>
                <a:lnTo>
                  <a:pt x="2155" y="1547"/>
                </a:lnTo>
                <a:lnTo>
                  <a:pt x="2179" y="1539"/>
                </a:lnTo>
                <a:lnTo>
                  <a:pt x="2210" y="1531"/>
                </a:lnTo>
                <a:lnTo>
                  <a:pt x="2234" y="1508"/>
                </a:lnTo>
                <a:lnTo>
                  <a:pt x="2258" y="1492"/>
                </a:lnTo>
                <a:lnTo>
                  <a:pt x="2281" y="1468"/>
                </a:lnTo>
                <a:lnTo>
                  <a:pt x="2289" y="1445"/>
                </a:lnTo>
                <a:lnTo>
                  <a:pt x="2313" y="1405"/>
                </a:lnTo>
                <a:lnTo>
                  <a:pt x="2329" y="1374"/>
                </a:lnTo>
                <a:lnTo>
                  <a:pt x="2352" y="1342"/>
                </a:lnTo>
                <a:lnTo>
                  <a:pt x="2360" y="1318"/>
                </a:lnTo>
                <a:lnTo>
                  <a:pt x="2376" y="1287"/>
                </a:lnTo>
                <a:lnTo>
                  <a:pt x="2384" y="1263"/>
                </a:lnTo>
                <a:lnTo>
                  <a:pt x="2400" y="1232"/>
                </a:lnTo>
                <a:lnTo>
                  <a:pt x="2408" y="1208"/>
                </a:lnTo>
                <a:lnTo>
                  <a:pt x="2423" y="1176"/>
                </a:lnTo>
                <a:lnTo>
                  <a:pt x="2439" y="1145"/>
                </a:lnTo>
                <a:lnTo>
                  <a:pt x="2447" y="1121"/>
                </a:lnTo>
                <a:lnTo>
                  <a:pt x="2455" y="1097"/>
                </a:lnTo>
                <a:lnTo>
                  <a:pt x="2471" y="1074"/>
                </a:lnTo>
                <a:lnTo>
                  <a:pt x="2486" y="1050"/>
                </a:lnTo>
                <a:lnTo>
                  <a:pt x="2502" y="1026"/>
                </a:lnTo>
                <a:lnTo>
                  <a:pt x="2518" y="1003"/>
                </a:lnTo>
                <a:lnTo>
                  <a:pt x="2542" y="979"/>
                </a:lnTo>
                <a:lnTo>
                  <a:pt x="2565" y="979"/>
                </a:lnTo>
                <a:lnTo>
                  <a:pt x="2589" y="987"/>
                </a:lnTo>
                <a:lnTo>
                  <a:pt x="2589" y="1011"/>
                </a:lnTo>
                <a:lnTo>
                  <a:pt x="2597" y="1034"/>
                </a:lnTo>
                <a:lnTo>
                  <a:pt x="2597" y="1058"/>
                </a:lnTo>
                <a:lnTo>
                  <a:pt x="2597" y="1082"/>
                </a:lnTo>
                <a:lnTo>
                  <a:pt x="2597" y="1113"/>
                </a:lnTo>
                <a:lnTo>
                  <a:pt x="2605" y="1145"/>
                </a:lnTo>
                <a:lnTo>
                  <a:pt x="2613" y="1176"/>
                </a:lnTo>
                <a:lnTo>
                  <a:pt x="2613" y="1200"/>
                </a:lnTo>
                <a:lnTo>
                  <a:pt x="2621" y="1224"/>
                </a:lnTo>
                <a:lnTo>
                  <a:pt x="2629" y="1255"/>
                </a:lnTo>
                <a:lnTo>
                  <a:pt x="2636" y="1279"/>
                </a:lnTo>
                <a:lnTo>
                  <a:pt x="2644" y="1310"/>
                </a:lnTo>
                <a:lnTo>
                  <a:pt x="2660" y="1342"/>
                </a:lnTo>
                <a:lnTo>
                  <a:pt x="2676" y="1366"/>
                </a:lnTo>
                <a:lnTo>
                  <a:pt x="2700" y="1389"/>
                </a:lnTo>
                <a:lnTo>
                  <a:pt x="2739" y="1429"/>
                </a:lnTo>
                <a:lnTo>
                  <a:pt x="2771" y="1460"/>
                </a:lnTo>
                <a:lnTo>
                  <a:pt x="2794" y="1476"/>
                </a:lnTo>
                <a:lnTo>
                  <a:pt x="2834" y="1508"/>
                </a:lnTo>
                <a:lnTo>
                  <a:pt x="2857" y="1531"/>
                </a:lnTo>
                <a:lnTo>
                  <a:pt x="2881" y="1547"/>
                </a:lnTo>
                <a:lnTo>
                  <a:pt x="2905" y="1547"/>
                </a:lnTo>
                <a:lnTo>
                  <a:pt x="2944" y="1563"/>
                </a:lnTo>
                <a:lnTo>
                  <a:pt x="2968" y="1563"/>
                </a:lnTo>
                <a:lnTo>
                  <a:pt x="2992" y="1571"/>
                </a:lnTo>
                <a:lnTo>
                  <a:pt x="3015" y="1571"/>
                </a:lnTo>
                <a:lnTo>
                  <a:pt x="3039" y="1571"/>
                </a:lnTo>
                <a:lnTo>
                  <a:pt x="3071" y="1571"/>
                </a:lnTo>
                <a:lnTo>
                  <a:pt x="3102" y="1571"/>
                </a:lnTo>
                <a:lnTo>
                  <a:pt x="3134" y="1555"/>
                </a:lnTo>
                <a:lnTo>
                  <a:pt x="3157" y="1539"/>
                </a:lnTo>
                <a:lnTo>
                  <a:pt x="3181" y="1524"/>
                </a:lnTo>
                <a:lnTo>
                  <a:pt x="3205" y="1500"/>
                </a:lnTo>
                <a:lnTo>
                  <a:pt x="3228" y="1484"/>
                </a:lnTo>
                <a:lnTo>
                  <a:pt x="3260" y="1453"/>
                </a:lnTo>
                <a:lnTo>
                  <a:pt x="3284" y="1429"/>
                </a:lnTo>
                <a:lnTo>
                  <a:pt x="3300" y="1405"/>
                </a:lnTo>
                <a:lnTo>
                  <a:pt x="3323" y="1382"/>
                </a:lnTo>
                <a:lnTo>
                  <a:pt x="3363" y="1350"/>
                </a:lnTo>
                <a:lnTo>
                  <a:pt x="3371" y="1326"/>
                </a:lnTo>
                <a:lnTo>
                  <a:pt x="3402" y="1295"/>
                </a:lnTo>
                <a:lnTo>
                  <a:pt x="3418" y="1271"/>
                </a:lnTo>
                <a:lnTo>
                  <a:pt x="3434" y="1239"/>
                </a:lnTo>
                <a:lnTo>
                  <a:pt x="3450" y="1216"/>
                </a:lnTo>
                <a:lnTo>
                  <a:pt x="3473" y="1192"/>
                </a:lnTo>
                <a:lnTo>
                  <a:pt x="3481" y="1168"/>
                </a:lnTo>
                <a:lnTo>
                  <a:pt x="3497" y="1145"/>
                </a:lnTo>
                <a:lnTo>
                  <a:pt x="3505" y="1121"/>
                </a:lnTo>
                <a:lnTo>
                  <a:pt x="3521" y="1082"/>
                </a:lnTo>
                <a:lnTo>
                  <a:pt x="3528" y="1050"/>
                </a:lnTo>
                <a:lnTo>
                  <a:pt x="3544" y="1011"/>
                </a:lnTo>
                <a:lnTo>
                  <a:pt x="3560" y="979"/>
                </a:lnTo>
                <a:lnTo>
                  <a:pt x="3568" y="955"/>
                </a:lnTo>
                <a:lnTo>
                  <a:pt x="3576" y="924"/>
                </a:lnTo>
                <a:lnTo>
                  <a:pt x="3584" y="892"/>
                </a:lnTo>
                <a:lnTo>
                  <a:pt x="3592" y="861"/>
                </a:lnTo>
                <a:lnTo>
                  <a:pt x="3600" y="829"/>
                </a:lnTo>
                <a:lnTo>
                  <a:pt x="3607" y="797"/>
                </a:lnTo>
                <a:lnTo>
                  <a:pt x="3615" y="774"/>
                </a:lnTo>
                <a:lnTo>
                  <a:pt x="3623" y="750"/>
                </a:lnTo>
                <a:lnTo>
                  <a:pt x="3631" y="726"/>
                </a:lnTo>
                <a:lnTo>
                  <a:pt x="3639" y="703"/>
                </a:lnTo>
                <a:lnTo>
                  <a:pt x="3655" y="671"/>
                </a:lnTo>
                <a:lnTo>
                  <a:pt x="3663" y="648"/>
                </a:lnTo>
                <a:lnTo>
                  <a:pt x="3678" y="624"/>
                </a:lnTo>
                <a:lnTo>
                  <a:pt x="3694" y="600"/>
                </a:lnTo>
                <a:lnTo>
                  <a:pt x="3694" y="576"/>
                </a:lnTo>
                <a:lnTo>
                  <a:pt x="3726" y="561"/>
                </a:lnTo>
                <a:lnTo>
                  <a:pt x="3757" y="561"/>
                </a:lnTo>
                <a:lnTo>
                  <a:pt x="3805" y="561"/>
                </a:lnTo>
                <a:lnTo>
                  <a:pt x="3852" y="561"/>
                </a:lnTo>
                <a:lnTo>
                  <a:pt x="3899" y="561"/>
                </a:lnTo>
                <a:lnTo>
                  <a:pt x="3923" y="553"/>
                </a:lnTo>
                <a:lnTo>
                  <a:pt x="3931" y="576"/>
                </a:lnTo>
                <a:lnTo>
                  <a:pt x="3931" y="600"/>
                </a:lnTo>
                <a:lnTo>
                  <a:pt x="3931" y="624"/>
                </a:lnTo>
                <a:lnTo>
                  <a:pt x="3931" y="648"/>
                </a:lnTo>
                <a:lnTo>
                  <a:pt x="3931" y="671"/>
                </a:lnTo>
                <a:lnTo>
                  <a:pt x="3939" y="695"/>
                </a:lnTo>
                <a:lnTo>
                  <a:pt x="3939" y="726"/>
                </a:lnTo>
                <a:lnTo>
                  <a:pt x="3939" y="750"/>
                </a:lnTo>
                <a:lnTo>
                  <a:pt x="3947" y="782"/>
                </a:lnTo>
                <a:lnTo>
                  <a:pt x="3947" y="813"/>
                </a:lnTo>
                <a:lnTo>
                  <a:pt x="3947" y="837"/>
                </a:lnTo>
                <a:lnTo>
                  <a:pt x="3947" y="861"/>
                </a:lnTo>
                <a:lnTo>
                  <a:pt x="3947" y="892"/>
                </a:lnTo>
                <a:lnTo>
                  <a:pt x="3947" y="924"/>
                </a:lnTo>
                <a:lnTo>
                  <a:pt x="3947" y="947"/>
                </a:lnTo>
                <a:lnTo>
                  <a:pt x="3947" y="987"/>
                </a:lnTo>
                <a:lnTo>
                  <a:pt x="3947" y="1011"/>
                </a:lnTo>
                <a:lnTo>
                  <a:pt x="3947" y="1050"/>
                </a:lnTo>
                <a:lnTo>
                  <a:pt x="3947" y="1089"/>
                </a:lnTo>
                <a:lnTo>
                  <a:pt x="3947" y="1113"/>
                </a:lnTo>
                <a:lnTo>
                  <a:pt x="3947" y="1137"/>
                </a:lnTo>
                <a:lnTo>
                  <a:pt x="3947" y="1176"/>
                </a:lnTo>
                <a:lnTo>
                  <a:pt x="3947" y="1200"/>
                </a:lnTo>
                <a:lnTo>
                  <a:pt x="3947" y="1224"/>
                </a:lnTo>
                <a:lnTo>
                  <a:pt x="3947" y="1247"/>
                </a:lnTo>
                <a:lnTo>
                  <a:pt x="3947" y="1279"/>
                </a:lnTo>
                <a:lnTo>
                  <a:pt x="3947" y="1310"/>
                </a:lnTo>
                <a:lnTo>
                  <a:pt x="3947" y="1334"/>
                </a:lnTo>
                <a:lnTo>
                  <a:pt x="3947" y="1374"/>
                </a:lnTo>
                <a:lnTo>
                  <a:pt x="3947" y="1397"/>
                </a:lnTo>
                <a:lnTo>
                  <a:pt x="3947" y="1421"/>
                </a:lnTo>
                <a:lnTo>
                  <a:pt x="3947" y="1445"/>
                </a:lnTo>
                <a:lnTo>
                  <a:pt x="3947" y="1468"/>
                </a:lnTo>
                <a:lnTo>
                  <a:pt x="3947" y="1500"/>
                </a:lnTo>
                <a:lnTo>
                  <a:pt x="3947" y="1531"/>
                </a:lnTo>
                <a:lnTo>
                  <a:pt x="3947" y="1555"/>
                </a:lnTo>
                <a:lnTo>
                  <a:pt x="3947" y="1579"/>
                </a:lnTo>
                <a:lnTo>
                  <a:pt x="3947" y="1603"/>
                </a:lnTo>
                <a:lnTo>
                  <a:pt x="3947" y="1626"/>
                </a:lnTo>
                <a:lnTo>
                  <a:pt x="3947" y="1658"/>
                </a:lnTo>
                <a:lnTo>
                  <a:pt x="3947" y="1689"/>
                </a:lnTo>
                <a:lnTo>
                  <a:pt x="3947" y="1713"/>
                </a:lnTo>
                <a:lnTo>
                  <a:pt x="3947" y="1745"/>
                </a:lnTo>
                <a:lnTo>
                  <a:pt x="3947" y="1768"/>
                </a:lnTo>
                <a:lnTo>
                  <a:pt x="3947" y="1800"/>
                </a:lnTo>
                <a:lnTo>
                  <a:pt x="3947" y="1824"/>
                </a:lnTo>
                <a:lnTo>
                  <a:pt x="3947" y="1847"/>
                </a:lnTo>
                <a:lnTo>
                  <a:pt x="3947" y="1871"/>
                </a:lnTo>
                <a:lnTo>
                  <a:pt x="3947" y="1895"/>
                </a:lnTo>
                <a:lnTo>
                  <a:pt x="3947" y="1918"/>
                </a:lnTo>
                <a:lnTo>
                  <a:pt x="3947" y="1942"/>
                </a:lnTo>
                <a:lnTo>
                  <a:pt x="3947" y="1966"/>
                </a:lnTo>
                <a:lnTo>
                  <a:pt x="3947" y="1989"/>
                </a:lnTo>
                <a:lnTo>
                  <a:pt x="3947" y="2013"/>
                </a:lnTo>
                <a:lnTo>
                  <a:pt x="3955" y="2037"/>
                </a:lnTo>
                <a:lnTo>
                  <a:pt x="3931" y="2045"/>
                </a:lnTo>
                <a:lnTo>
                  <a:pt x="3907" y="2037"/>
                </a:lnTo>
                <a:lnTo>
                  <a:pt x="3876" y="2021"/>
                </a:lnTo>
                <a:lnTo>
                  <a:pt x="3852" y="2013"/>
                </a:lnTo>
                <a:lnTo>
                  <a:pt x="3828" y="2013"/>
                </a:lnTo>
                <a:lnTo>
                  <a:pt x="3805" y="2013"/>
                </a:lnTo>
                <a:lnTo>
                  <a:pt x="3781" y="2013"/>
                </a:lnTo>
                <a:lnTo>
                  <a:pt x="3750" y="2013"/>
                </a:lnTo>
                <a:lnTo>
                  <a:pt x="3726" y="2013"/>
                </a:lnTo>
                <a:lnTo>
                  <a:pt x="3702" y="2005"/>
                </a:lnTo>
                <a:lnTo>
                  <a:pt x="3678" y="2005"/>
                </a:lnTo>
                <a:lnTo>
                  <a:pt x="3655" y="1997"/>
                </a:lnTo>
                <a:lnTo>
                  <a:pt x="3623" y="1989"/>
                </a:lnTo>
                <a:lnTo>
                  <a:pt x="3600" y="1989"/>
                </a:lnTo>
                <a:lnTo>
                  <a:pt x="3568" y="1989"/>
                </a:lnTo>
                <a:lnTo>
                  <a:pt x="3544" y="1989"/>
                </a:lnTo>
                <a:lnTo>
                  <a:pt x="3521" y="1989"/>
                </a:lnTo>
                <a:lnTo>
                  <a:pt x="3481" y="1989"/>
                </a:lnTo>
                <a:lnTo>
                  <a:pt x="3457" y="1989"/>
                </a:lnTo>
                <a:lnTo>
                  <a:pt x="3434" y="1989"/>
                </a:lnTo>
                <a:lnTo>
                  <a:pt x="3402" y="1989"/>
                </a:lnTo>
                <a:lnTo>
                  <a:pt x="3363" y="1989"/>
                </a:lnTo>
                <a:lnTo>
                  <a:pt x="3331" y="1989"/>
                </a:lnTo>
                <a:lnTo>
                  <a:pt x="3300" y="1981"/>
                </a:lnTo>
                <a:lnTo>
                  <a:pt x="3276" y="1981"/>
                </a:lnTo>
                <a:lnTo>
                  <a:pt x="3252" y="1981"/>
                </a:lnTo>
                <a:lnTo>
                  <a:pt x="3221" y="1981"/>
                </a:lnTo>
                <a:lnTo>
                  <a:pt x="3189" y="1981"/>
                </a:lnTo>
                <a:lnTo>
                  <a:pt x="3165" y="1981"/>
                </a:lnTo>
                <a:lnTo>
                  <a:pt x="3126" y="1981"/>
                </a:lnTo>
                <a:lnTo>
                  <a:pt x="3102" y="1981"/>
                </a:lnTo>
                <a:lnTo>
                  <a:pt x="3079" y="1981"/>
                </a:lnTo>
                <a:lnTo>
                  <a:pt x="3055" y="1981"/>
                </a:lnTo>
                <a:lnTo>
                  <a:pt x="3031" y="1981"/>
                </a:lnTo>
                <a:lnTo>
                  <a:pt x="3007" y="1981"/>
                </a:lnTo>
                <a:lnTo>
                  <a:pt x="2984" y="1981"/>
                </a:lnTo>
                <a:lnTo>
                  <a:pt x="2944" y="1981"/>
                </a:lnTo>
                <a:lnTo>
                  <a:pt x="2913" y="1981"/>
                </a:lnTo>
                <a:lnTo>
                  <a:pt x="2873" y="1981"/>
                </a:lnTo>
                <a:lnTo>
                  <a:pt x="2850" y="1973"/>
                </a:lnTo>
                <a:lnTo>
                  <a:pt x="2818" y="1973"/>
                </a:lnTo>
                <a:lnTo>
                  <a:pt x="2794" y="1973"/>
                </a:lnTo>
                <a:lnTo>
                  <a:pt x="2763" y="1966"/>
                </a:lnTo>
                <a:lnTo>
                  <a:pt x="2739" y="1958"/>
                </a:lnTo>
                <a:lnTo>
                  <a:pt x="2715" y="1950"/>
                </a:lnTo>
                <a:lnTo>
                  <a:pt x="2676" y="1950"/>
                </a:lnTo>
                <a:lnTo>
                  <a:pt x="2636" y="1950"/>
                </a:lnTo>
                <a:lnTo>
                  <a:pt x="2605" y="1950"/>
                </a:lnTo>
                <a:lnTo>
                  <a:pt x="2565" y="1950"/>
                </a:lnTo>
                <a:lnTo>
                  <a:pt x="2534" y="1950"/>
                </a:lnTo>
                <a:lnTo>
                  <a:pt x="2502" y="1950"/>
                </a:lnTo>
                <a:lnTo>
                  <a:pt x="2471" y="1950"/>
                </a:lnTo>
                <a:lnTo>
                  <a:pt x="2447" y="1950"/>
                </a:lnTo>
                <a:lnTo>
                  <a:pt x="2415" y="1950"/>
                </a:lnTo>
                <a:lnTo>
                  <a:pt x="2392" y="1950"/>
                </a:lnTo>
                <a:lnTo>
                  <a:pt x="2368" y="1950"/>
                </a:lnTo>
                <a:lnTo>
                  <a:pt x="2344" y="1950"/>
                </a:lnTo>
                <a:lnTo>
                  <a:pt x="2313" y="1950"/>
                </a:lnTo>
                <a:lnTo>
                  <a:pt x="2281" y="1950"/>
                </a:lnTo>
                <a:lnTo>
                  <a:pt x="2258" y="1950"/>
                </a:lnTo>
                <a:lnTo>
                  <a:pt x="2234" y="1950"/>
                </a:lnTo>
                <a:lnTo>
                  <a:pt x="2210" y="1950"/>
                </a:lnTo>
                <a:lnTo>
                  <a:pt x="2171" y="1950"/>
                </a:lnTo>
                <a:lnTo>
                  <a:pt x="2139" y="1950"/>
                </a:lnTo>
                <a:lnTo>
                  <a:pt x="2108" y="1950"/>
                </a:lnTo>
                <a:lnTo>
                  <a:pt x="2084" y="1950"/>
                </a:lnTo>
                <a:lnTo>
                  <a:pt x="2052" y="1958"/>
                </a:lnTo>
                <a:lnTo>
                  <a:pt x="2029" y="1958"/>
                </a:lnTo>
                <a:lnTo>
                  <a:pt x="1997" y="1966"/>
                </a:lnTo>
                <a:lnTo>
                  <a:pt x="1973" y="1966"/>
                </a:lnTo>
                <a:lnTo>
                  <a:pt x="1950" y="1966"/>
                </a:lnTo>
                <a:lnTo>
                  <a:pt x="1926" y="1966"/>
                </a:lnTo>
                <a:lnTo>
                  <a:pt x="1894" y="1966"/>
                </a:lnTo>
                <a:lnTo>
                  <a:pt x="1863" y="1966"/>
                </a:lnTo>
                <a:lnTo>
                  <a:pt x="1831" y="1966"/>
                </a:lnTo>
                <a:lnTo>
                  <a:pt x="1800" y="1966"/>
                </a:lnTo>
                <a:lnTo>
                  <a:pt x="1768" y="1966"/>
                </a:lnTo>
                <a:lnTo>
                  <a:pt x="1737" y="1966"/>
                </a:lnTo>
                <a:lnTo>
                  <a:pt x="1713" y="1966"/>
                </a:lnTo>
                <a:lnTo>
                  <a:pt x="1689" y="1966"/>
                </a:lnTo>
                <a:lnTo>
                  <a:pt x="1665" y="1966"/>
                </a:lnTo>
                <a:lnTo>
                  <a:pt x="1634" y="1966"/>
                </a:lnTo>
                <a:lnTo>
                  <a:pt x="1602" y="1966"/>
                </a:lnTo>
                <a:lnTo>
                  <a:pt x="1571" y="1966"/>
                </a:lnTo>
                <a:lnTo>
                  <a:pt x="1531" y="1966"/>
                </a:lnTo>
                <a:lnTo>
                  <a:pt x="1508" y="1966"/>
                </a:lnTo>
                <a:lnTo>
                  <a:pt x="1468" y="1958"/>
                </a:lnTo>
                <a:lnTo>
                  <a:pt x="1437" y="1958"/>
                </a:lnTo>
                <a:lnTo>
                  <a:pt x="1413" y="1958"/>
                </a:lnTo>
                <a:lnTo>
                  <a:pt x="1389" y="1958"/>
                </a:lnTo>
                <a:lnTo>
                  <a:pt x="1358" y="1950"/>
                </a:lnTo>
                <a:lnTo>
                  <a:pt x="1334" y="1950"/>
                </a:lnTo>
                <a:lnTo>
                  <a:pt x="1302" y="1950"/>
                </a:lnTo>
                <a:lnTo>
                  <a:pt x="1279" y="1950"/>
                </a:lnTo>
                <a:lnTo>
                  <a:pt x="1255" y="1950"/>
                </a:lnTo>
                <a:lnTo>
                  <a:pt x="1231" y="1950"/>
                </a:lnTo>
                <a:lnTo>
                  <a:pt x="1192" y="1942"/>
                </a:lnTo>
                <a:lnTo>
                  <a:pt x="1152" y="1934"/>
                </a:lnTo>
                <a:lnTo>
                  <a:pt x="1129" y="1926"/>
                </a:lnTo>
                <a:lnTo>
                  <a:pt x="1152" y="1939"/>
                </a:lnTo>
                <a:lnTo>
                  <a:pt x="1105" y="1926"/>
                </a:lnTo>
                <a:lnTo>
                  <a:pt x="1081" y="1918"/>
                </a:lnTo>
                <a:lnTo>
                  <a:pt x="1056" y="1987"/>
                </a:lnTo>
                <a:lnTo>
                  <a:pt x="1026" y="1910"/>
                </a:lnTo>
                <a:lnTo>
                  <a:pt x="1002" y="1902"/>
                </a:lnTo>
                <a:lnTo>
                  <a:pt x="912" y="1939"/>
                </a:lnTo>
                <a:lnTo>
                  <a:pt x="960" y="1939"/>
                </a:lnTo>
                <a:lnTo>
                  <a:pt x="912" y="1939"/>
                </a:lnTo>
                <a:lnTo>
                  <a:pt x="864" y="1939"/>
                </a:lnTo>
                <a:lnTo>
                  <a:pt x="912" y="1939"/>
                </a:lnTo>
                <a:lnTo>
                  <a:pt x="816" y="1987"/>
                </a:lnTo>
                <a:lnTo>
                  <a:pt x="768" y="1939"/>
                </a:lnTo>
                <a:lnTo>
                  <a:pt x="720" y="1939"/>
                </a:lnTo>
                <a:lnTo>
                  <a:pt x="672" y="1939"/>
                </a:lnTo>
                <a:lnTo>
                  <a:pt x="624" y="1939"/>
                </a:lnTo>
                <a:lnTo>
                  <a:pt x="624" y="1987"/>
                </a:lnTo>
                <a:lnTo>
                  <a:pt x="600" y="1918"/>
                </a:lnTo>
                <a:lnTo>
                  <a:pt x="560" y="1926"/>
                </a:lnTo>
                <a:lnTo>
                  <a:pt x="528" y="1939"/>
                </a:lnTo>
                <a:lnTo>
                  <a:pt x="513" y="1926"/>
                </a:lnTo>
                <a:lnTo>
                  <a:pt x="481" y="1934"/>
                </a:lnTo>
                <a:lnTo>
                  <a:pt x="458" y="1934"/>
                </a:lnTo>
                <a:lnTo>
                  <a:pt x="418" y="1942"/>
                </a:lnTo>
                <a:lnTo>
                  <a:pt x="387" y="1942"/>
                </a:lnTo>
                <a:lnTo>
                  <a:pt x="363" y="1950"/>
                </a:lnTo>
                <a:lnTo>
                  <a:pt x="339" y="1958"/>
                </a:lnTo>
                <a:lnTo>
                  <a:pt x="316" y="1958"/>
                </a:lnTo>
                <a:lnTo>
                  <a:pt x="292" y="1958"/>
                </a:lnTo>
                <a:lnTo>
                  <a:pt x="1296" y="1939"/>
                </a:lnTo>
                <a:lnTo>
                  <a:pt x="229" y="1966"/>
                </a:lnTo>
                <a:lnTo>
                  <a:pt x="205" y="1966"/>
                </a:lnTo>
                <a:lnTo>
                  <a:pt x="181" y="1966"/>
                </a:lnTo>
                <a:lnTo>
                  <a:pt x="158" y="1966"/>
                </a:lnTo>
                <a:lnTo>
                  <a:pt x="134" y="1966"/>
                </a:lnTo>
                <a:lnTo>
                  <a:pt x="102" y="1966"/>
                </a:lnTo>
                <a:lnTo>
                  <a:pt x="87" y="1942"/>
                </a:lnTo>
                <a:lnTo>
                  <a:pt x="87" y="1918"/>
                </a:lnTo>
                <a:lnTo>
                  <a:pt x="87" y="1895"/>
                </a:lnTo>
                <a:lnTo>
                  <a:pt x="87" y="1871"/>
                </a:lnTo>
                <a:lnTo>
                  <a:pt x="87" y="1839"/>
                </a:lnTo>
                <a:lnTo>
                  <a:pt x="87" y="1816"/>
                </a:lnTo>
                <a:lnTo>
                  <a:pt x="87" y="1784"/>
                </a:lnTo>
                <a:lnTo>
                  <a:pt x="87" y="1760"/>
                </a:lnTo>
                <a:lnTo>
                  <a:pt x="87" y="1729"/>
                </a:lnTo>
                <a:lnTo>
                  <a:pt x="87" y="1697"/>
                </a:lnTo>
                <a:lnTo>
                  <a:pt x="87" y="1666"/>
                </a:lnTo>
                <a:lnTo>
                  <a:pt x="87" y="1634"/>
                </a:lnTo>
                <a:lnTo>
                  <a:pt x="87" y="1610"/>
                </a:lnTo>
                <a:lnTo>
                  <a:pt x="87" y="1579"/>
                </a:lnTo>
                <a:lnTo>
                  <a:pt x="79" y="1555"/>
                </a:lnTo>
                <a:lnTo>
                  <a:pt x="79" y="1531"/>
                </a:lnTo>
                <a:lnTo>
                  <a:pt x="79" y="1508"/>
                </a:lnTo>
                <a:lnTo>
                  <a:pt x="79" y="1476"/>
                </a:lnTo>
                <a:lnTo>
                  <a:pt x="79" y="1453"/>
                </a:lnTo>
                <a:lnTo>
                  <a:pt x="79" y="1421"/>
                </a:lnTo>
                <a:lnTo>
                  <a:pt x="79" y="1389"/>
                </a:lnTo>
                <a:lnTo>
                  <a:pt x="79" y="1350"/>
                </a:lnTo>
                <a:lnTo>
                  <a:pt x="79" y="1318"/>
                </a:lnTo>
                <a:lnTo>
                  <a:pt x="79" y="1279"/>
                </a:lnTo>
                <a:lnTo>
                  <a:pt x="79" y="1247"/>
                </a:lnTo>
                <a:lnTo>
                  <a:pt x="79" y="1208"/>
                </a:lnTo>
                <a:lnTo>
                  <a:pt x="79" y="1184"/>
                </a:lnTo>
                <a:lnTo>
                  <a:pt x="79" y="1161"/>
                </a:lnTo>
                <a:lnTo>
                  <a:pt x="79" y="1129"/>
                </a:lnTo>
                <a:lnTo>
                  <a:pt x="79" y="1097"/>
                </a:lnTo>
                <a:lnTo>
                  <a:pt x="79" y="1074"/>
                </a:lnTo>
                <a:lnTo>
                  <a:pt x="79" y="1042"/>
                </a:lnTo>
                <a:lnTo>
                  <a:pt x="71" y="1003"/>
                </a:lnTo>
                <a:lnTo>
                  <a:pt x="71" y="979"/>
                </a:lnTo>
                <a:lnTo>
                  <a:pt x="63" y="947"/>
                </a:lnTo>
                <a:lnTo>
                  <a:pt x="63" y="924"/>
                </a:lnTo>
                <a:lnTo>
                  <a:pt x="63" y="892"/>
                </a:lnTo>
                <a:lnTo>
                  <a:pt x="63" y="869"/>
                </a:lnTo>
                <a:lnTo>
                  <a:pt x="63" y="845"/>
                </a:lnTo>
                <a:lnTo>
                  <a:pt x="55" y="821"/>
                </a:lnTo>
                <a:lnTo>
                  <a:pt x="55" y="790"/>
                </a:lnTo>
                <a:lnTo>
                  <a:pt x="55" y="758"/>
                </a:lnTo>
                <a:lnTo>
                  <a:pt x="55" y="734"/>
                </a:lnTo>
                <a:lnTo>
                  <a:pt x="55" y="703"/>
                </a:lnTo>
                <a:lnTo>
                  <a:pt x="55" y="679"/>
                </a:lnTo>
                <a:lnTo>
                  <a:pt x="55" y="655"/>
                </a:lnTo>
                <a:lnTo>
                  <a:pt x="55" y="616"/>
                </a:lnTo>
                <a:lnTo>
                  <a:pt x="55" y="592"/>
                </a:lnTo>
                <a:lnTo>
                  <a:pt x="55" y="553"/>
                </a:lnTo>
                <a:lnTo>
                  <a:pt x="55" y="529"/>
                </a:lnTo>
                <a:lnTo>
                  <a:pt x="55" y="498"/>
                </a:lnTo>
                <a:lnTo>
                  <a:pt x="55" y="466"/>
                </a:lnTo>
                <a:lnTo>
                  <a:pt x="55" y="442"/>
                </a:lnTo>
                <a:lnTo>
                  <a:pt x="55" y="419"/>
                </a:lnTo>
                <a:lnTo>
                  <a:pt x="55" y="387"/>
                </a:lnTo>
                <a:lnTo>
                  <a:pt x="55" y="363"/>
                </a:lnTo>
                <a:lnTo>
                  <a:pt x="55" y="332"/>
                </a:lnTo>
                <a:lnTo>
                  <a:pt x="55" y="300"/>
                </a:lnTo>
                <a:lnTo>
                  <a:pt x="55" y="269"/>
                </a:lnTo>
                <a:lnTo>
                  <a:pt x="55" y="245"/>
                </a:lnTo>
                <a:lnTo>
                  <a:pt x="55" y="221"/>
                </a:lnTo>
                <a:lnTo>
                  <a:pt x="55" y="198"/>
                </a:lnTo>
                <a:lnTo>
                  <a:pt x="55" y="174"/>
                </a:lnTo>
                <a:lnTo>
                  <a:pt x="55" y="150"/>
                </a:lnTo>
                <a:lnTo>
                  <a:pt x="55" y="127"/>
                </a:lnTo>
                <a:lnTo>
                  <a:pt x="47" y="103"/>
                </a:lnTo>
                <a:lnTo>
                  <a:pt x="39" y="79"/>
                </a:lnTo>
                <a:lnTo>
                  <a:pt x="31" y="56"/>
                </a:lnTo>
                <a:lnTo>
                  <a:pt x="0" y="19"/>
                </a:lnTo>
              </a:path>
            </a:pathLst>
          </a:custGeom>
          <a:solidFill>
            <a:schemeClr val="tx2">
              <a:alpha val="100000"/>
            </a:schemeClr>
          </a:solidFill>
          <a:ln w="12700" cap="rnd" cmpd="sng">
            <a:solidFill>
              <a:schemeClr val="tx1">
                <a:alpha val="100000"/>
              </a:schemeClr>
            </a:solidFill>
            <a:prstDash val="solid"/>
            <a:round/>
            <a:headEnd type="none" w="sm" len="sm"/>
            <a:tailEnd type="none" w="sm" len="sm"/>
          </a:ln>
        </p:spPr>
        <p:txBody>
          <a:bodyPr/>
          <a:p>
            <a:endParaRPr lang="en-US"/>
          </a:p>
        </p:txBody>
      </p:sp>
      <p:sp>
        <p:nvSpPr>
          <p:cNvPr id="54277" name="Line 5"/>
          <p:cNvSpPr/>
          <p:nvPr/>
        </p:nvSpPr>
        <p:spPr>
          <a:xfrm>
            <a:off x="2592388" y="5486400"/>
            <a:ext cx="1522412" cy="0"/>
          </a:xfrm>
          <a:prstGeom prst="line">
            <a:avLst/>
          </a:prstGeom>
          <a:ln w="127000" cap="flat" cmpd="sng">
            <a:solidFill>
              <a:schemeClr val="tx1"/>
            </a:solidFill>
            <a:prstDash val="solid"/>
            <a:headEnd type="none" w="sm" len="sm"/>
            <a:tailEnd type="none" w="sm" len="sm"/>
          </a:ln>
        </p:spPr>
      </p:sp>
      <p:sp>
        <p:nvSpPr>
          <p:cNvPr id="54278" name="Line 6"/>
          <p:cNvSpPr/>
          <p:nvPr/>
        </p:nvSpPr>
        <p:spPr>
          <a:xfrm>
            <a:off x="2209800" y="4725988"/>
            <a:ext cx="0" cy="836612"/>
          </a:xfrm>
          <a:prstGeom prst="line">
            <a:avLst/>
          </a:prstGeom>
          <a:ln w="127000" cap="flat" cmpd="sng">
            <a:solidFill>
              <a:schemeClr val="tx1"/>
            </a:solidFill>
            <a:prstDash val="solid"/>
            <a:headEnd type="none" w="sm" len="sm"/>
            <a:tailEnd type="none" w="sm" len="sm"/>
          </a:ln>
        </p:spPr>
      </p:sp>
      <p:sp>
        <p:nvSpPr>
          <p:cNvPr id="54279" name="Line 7"/>
          <p:cNvSpPr/>
          <p:nvPr/>
        </p:nvSpPr>
        <p:spPr>
          <a:xfrm>
            <a:off x="1828800" y="1601788"/>
            <a:ext cx="0" cy="4189412"/>
          </a:xfrm>
          <a:prstGeom prst="line">
            <a:avLst/>
          </a:prstGeom>
          <a:ln w="12700" cap="flat" cmpd="sng">
            <a:solidFill>
              <a:schemeClr val="tx1"/>
            </a:solidFill>
            <a:prstDash val="solid"/>
            <a:headEnd type="stealth" w="med" len="lg"/>
            <a:tailEnd type="none" w="sm" len="sm"/>
          </a:ln>
        </p:spPr>
      </p:sp>
      <p:sp>
        <p:nvSpPr>
          <p:cNvPr id="54280" name="Line 8"/>
          <p:cNvSpPr/>
          <p:nvPr/>
        </p:nvSpPr>
        <p:spPr>
          <a:xfrm>
            <a:off x="1830388" y="5791200"/>
            <a:ext cx="6932612" cy="0"/>
          </a:xfrm>
          <a:prstGeom prst="line">
            <a:avLst/>
          </a:prstGeom>
          <a:ln w="12700" cap="flat" cmpd="sng">
            <a:solidFill>
              <a:schemeClr val="tx1"/>
            </a:solidFill>
            <a:prstDash val="solid"/>
            <a:headEnd type="none" w="sm" len="sm"/>
            <a:tailEnd type="stealth" w="med" len="lg"/>
          </a:ln>
        </p:spPr>
      </p:sp>
      <p:sp>
        <p:nvSpPr>
          <p:cNvPr id="54281" name="Rectangle 9"/>
          <p:cNvSpPr/>
          <p:nvPr/>
        </p:nvSpPr>
        <p:spPr>
          <a:xfrm>
            <a:off x="1355725" y="2193925"/>
            <a:ext cx="184150" cy="457200"/>
          </a:xfrm>
          <a:prstGeom prst="rect">
            <a:avLst/>
          </a:prstGeom>
          <a:noFill/>
          <a:ln w="9525">
            <a:noFill/>
          </a:ln>
        </p:spPr>
        <p:txBody>
          <a:bodyPr wrap="none" lIns="92075" tIns="46038" rIns="92075" bIns="46038">
            <a:spAutoFit/>
          </a:bodyPr>
          <a:p>
            <a:pPr algn="l"/>
            <a:endParaRPr lang="zh-CN" altLang="en-US" dirty="0">
              <a:latin typeface="Arial" panose="020B0604020202020204" pitchFamily="34" charset="0"/>
              <a:ea typeface="SimSun" panose="02010600030101010101" pitchFamily="2" charset="-122"/>
            </a:endParaRPr>
          </a:p>
        </p:txBody>
      </p:sp>
      <p:graphicFrame>
        <p:nvGraphicFramePr>
          <p:cNvPr id="54282" name="Object 0"/>
          <p:cNvGraphicFramePr/>
          <p:nvPr/>
        </p:nvGraphicFramePr>
        <p:xfrm>
          <a:off x="2433638" y="3586163"/>
          <a:ext cx="5489575" cy="441325"/>
        </p:xfrm>
        <a:graphic>
          <a:graphicData uri="http://schemas.openxmlformats.org/presentationml/2006/ole">
            <mc:AlternateContent xmlns:mc="http://schemas.openxmlformats.org/markup-compatibility/2006">
              <mc:Choice xmlns:v="urn:schemas-microsoft-com:vml" Requires="v">
                <p:oleObj spid="_x0000_s3098" name="" r:id="rId1" imgW="5489575" imgH="441325" progId="Word.Document.8">
                  <p:embed/>
                </p:oleObj>
              </mc:Choice>
              <mc:Fallback>
                <p:oleObj name="" r:id="rId1" imgW="5489575" imgH="441325" progId="Word.Document.8">
                  <p:embed/>
                  <p:pic>
                    <p:nvPicPr>
                      <p:cNvPr id="0" name="Picture 3097"/>
                      <p:cNvPicPr/>
                      <p:nvPr/>
                    </p:nvPicPr>
                    <p:blipFill>
                      <a:blip r:embed="rId2"/>
                      <a:stretch>
                        <a:fillRect/>
                      </a:stretch>
                    </p:blipFill>
                    <p:spPr>
                      <a:xfrm>
                        <a:off x="2433638" y="3586163"/>
                        <a:ext cx="5489575" cy="441325"/>
                      </a:xfrm>
                      <a:prstGeom prst="rect">
                        <a:avLst/>
                      </a:prstGeom>
                      <a:noFill/>
                      <a:ln w="38100">
                        <a:noFill/>
                        <a:miter/>
                      </a:ln>
                    </p:spPr>
                  </p:pic>
                </p:oleObj>
              </mc:Fallback>
            </mc:AlternateContent>
          </a:graphicData>
        </a:graphic>
      </p:graphicFrame>
      <p:graphicFrame>
        <p:nvGraphicFramePr>
          <p:cNvPr id="54283" name="Object 1"/>
          <p:cNvGraphicFramePr/>
          <p:nvPr/>
        </p:nvGraphicFramePr>
        <p:xfrm>
          <a:off x="1214438" y="2362200"/>
          <a:ext cx="474662" cy="750888"/>
        </p:xfrm>
        <a:graphic>
          <a:graphicData uri="http://schemas.openxmlformats.org/presentationml/2006/ole">
            <mc:AlternateContent xmlns:mc="http://schemas.openxmlformats.org/markup-compatibility/2006">
              <mc:Choice xmlns:v="urn:schemas-microsoft-com:vml" Requires="v">
                <p:oleObj spid="_x0000_s3099" name="" r:id="rId3" imgW="474980" imgH="751205" progId="Word.Document.8">
                  <p:embed/>
                </p:oleObj>
              </mc:Choice>
              <mc:Fallback>
                <p:oleObj name="" r:id="rId3" imgW="474980" imgH="751205" progId="Word.Document.8">
                  <p:embed/>
                  <p:pic>
                    <p:nvPicPr>
                      <p:cNvPr id="0" name="Picture 3098"/>
                      <p:cNvPicPr/>
                      <p:nvPr/>
                    </p:nvPicPr>
                    <p:blipFill>
                      <a:blip r:embed="rId4"/>
                      <a:stretch>
                        <a:fillRect/>
                      </a:stretch>
                    </p:blipFill>
                    <p:spPr>
                      <a:xfrm>
                        <a:off x="1214438" y="2362200"/>
                        <a:ext cx="474662" cy="750888"/>
                      </a:xfrm>
                      <a:prstGeom prst="rect">
                        <a:avLst/>
                      </a:prstGeom>
                      <a:noFill/>
                      <a:ln w="38100">
                        <a:noFill/>
                        <a:miter/>
                      </a:ln>
                    </p:spPr>
                  </p:pic>
                </p:oleObj>
              </mc:Fallback>
            </mc:AlternateContent>
          </a:graphicData>
        </a:graphic>
      </p:graphicFrame>
      <p:sp>
        <p:nvSpPr>
          <p:cNvPr id="54284" name="Rectangle 12"/>
          <p:cNvSpPr/>
          <p:nvPr/>
        </p:nvSpPr>
        <p:spPr>
          <a:xfrm>
            <a:off x="533400" y="685800"/>
            <a:ext cx="1828800" cy="676275"/>
          </a:xfrm>
          <a:prstGeom prst="rect">
            <a:avLst/>
          </a:prstGeom>
          <a:noFill/>
          <a:ln w="9525">
            <a:noFill/>
          </a:ln>
        </p:spPr>
        <p:txBody>
          <a:bodyPr lIns="92075" tIns="46038" rIns="92075" bIns="46038">
            <a:spAutoFit/>
          </a:bodyPr>
          <a:p>
            <a:pPr algn="l" eaLnBrk="0" hangingPunct="0">
              <a:lnSpc>
                <a:spcPct val="80000"/>
              </a:lnSpc>
              <a:spcBef>
                <a:spcPct val="50000"/>
              </a:spcBef>
            </a:pPr>
            <a:r>
              <a:rPr lang="en-US" altLang="zh-CN" b="1" dirty="0">
                <a:latin typeface="Times New Roman" panose="02020603050405020304" pitchFamily="18" charset="0"/>
                <a:ea typeface="SimSun" panose="02010600030101010101" pitchFamily="2" charset="-122"/>
              </a:rPr>
              <a:t>Reachability-distance</a:t>
            </a:r>
            <a:endParaRPr lang="en-US" altLang="zh-CN" b="1" dirty="0">
              <a:latin typeface="Times New Roman" panose="02020603050405020304" pitchFamily="18" charset="0"/>
              <a:ea typeface="SimSun" panose="02010600030101010101" pitchFamily="2" charset="-122"/>
            </a:endParaRPr>
          </a:p>
        </p:txBody>
      </p:sp>
      <p:sp>
        <p:nvSpPr>
          <p:cNvPr id="54285" name="Rectangle 13"/>
          <p:cNvSpPr/>
          <p:nvPr/>
        </p:nvSpPr>
        <p:spPr>
          <a:xfrm>
            <a:off x="6781800" y="5943600"/>
            <a:ext cx="2362200" cy="785813"/>
          </a:xfrm>
          <a:prstGeom prst="rect">
            <a:avLst/>
          </a:prstGeom>
          <a:noFill/>
          <a:ln w="9525">
            <a:noFill/>
          </a:ln>
        </p:spPr>
        <p:txBody>
          <a:bodyPr lIns="92075" tIns="46038" rIns="92075" bIns="46038">
            <a:spAutoFit/>
          </a:bodyPr>
          <a:p>
            <a:pPr algn="l" eaLnBrk="0" hangingPunct="0">
              <a:lnSpc>
                <a:spcPct val="70000"/>
              </a:lnSpc>
              <a:spcBef>
                <a:spcPct val="50000"/>
              </a:spcBef>
            </a:pPr>
            <a:r>
              <a:rPr lang="en-US" altLang="zh-CN" b="1" dirty="0">
                <a:latin typeface="Times New Roman" panose="02020603050405020304" pitchFamily="18" charset="0"/>
                <a:ea typeface="SimSun" panose="02010600030101010101" pitchFamily="2" charset="-122"/>
              </a:rPr>
              <a:t>Cluster-order</a:t>
            </a:r>
            <a:endParaRPr lang="en-US" altLang="zh-CN" b="1" dirty="0">
              <a:latin typeface="Times New Roman" panose="02020603050405020304" pitchFamily="18" charset="0"/>
              <a:ea typeface="SimSun" panose="02010600030101010101" pitchFamily="2" charset="-122"/>
            </a:endParaRPr>
          </a:p>
          <a:p>
            <a:pPr algn="l" eaLnBrk="0" hangingPunct="0">
              <a:lnSpc>
                <a:spcPct val="70000"/>
              </a:lnSpc>
              <a:spcBef>
                <a:spcPct val="50000"/>
              </a:spcBef>
            </a:pPr>
            <a:r>
              <a:rPr lang="en-US" altLang="zh-CN" b="1" dirty="0">
                <a:latin typeface="Times New Roman" panose="02020603050405020304" pitchFamily="18" charset="0"/>
                <a:ea typeface="SimSun" panose="02010600030101010101" pitchFamily="2" charset="-122"/>
              </a:rPr>
              <a:t>of the objects</a:t>
            </a:r>
            <a:endParaRPr lang="en-US" altLang="zh-CN" dirty="0">
              <a:latin typeface="Times New Roman" panose="02020603050405020304" pitchFamily="18" charset="0"/>
              <a:ea typeface="SimSun" panose="02010600030101010101" pitchFamily="2" charset="-122"/>
            </a:endParaRPr>
          </a:p>
        </p:txBody>
      </p:sp>
      <p:sp>
        <p:nvSpPr>
          <p:cNvPr id="54286" name="Line 14"/>
          <p:cNvSpPr/>
          <p:nvPr/>
        </p:nvSpPr>
        <p:spPr>
          <a:xfrm flipH="1">
            <a:off x="3354388" y="2439988"/>
            <a:ext cx="684212" cy="1827212"/>
          </a:xfrm>
          <a:prstGeom prst="line">
            <a:avLst/>
          </a:prstGeom>
          <a:ln w="12700" cap="flat" cmpd="sng">
            <a:solidFill>
              <a:schemeClr val="tx1"/>
            </a:solidFill>
            <a:prstDash val="solid"/>
            <a:headEnd type="none" w="sm" len="sm"/>
            <a:tailEnd type="stealth" w="med" len="lg"/>
          </a:ln>
        </p:spPr>
      </p:sp>
      <p:sp>
        <p:nvSpPr>
          <p:cNvPr id="54287" name="Line 15"/>
          <p:cNvSpPr/>
          <p:nvPr/>
        </p:nvSpPr>
        <p:spPr>
          <a:xfrm>
            <a:off x="5410200" y="2668588"/>
            <a:ext cx="0" cy="1674812"/>
          </a:xfrm>
          <a:prstGeom prst="line">
            <a:avLst/>
          </a:prstGeom>
          <a:ln w="12700" cap="flat" cmpd="sng">
            <a:solidFill>
              <a:schemeClr val="tx1"/>
            </a:solidFill>
            <a:prstDash val="solid"/>
            <a:headEnd type="none" w="sm" len="sm"/>
            <a:tailEnd type="stealth" w="med" len="lg"/>
          </a:ln>
        </p:spPr>
      </p:sp>
      <p:sp>
        <p:nvSpPr>
          <p:cNvPr id="54288" name="Line 16"/>
          <p:cNvSpPr/>
          <p:nvPr/>
        </p:nvSpPr>
        <p:spPr>
          <a:xfrm>
            <a:off x="6173788" y="1906588"/>
            <a:ext cx="911225" cy="2359025"/>
          </a:xfrm>
          <a:prstGeom prst="line">
            <a:avLst/>
          </a:prstGeom>
          <a:ln w="12700" cap="flat" cmpd="sng">
            <a:solidFill>
              <a:schemeClr val="tx1"/>
            </a:solidFill>
            <a:prstDash val="solid"/>
            <a:headEnd type="none" w="sm" len="sm"/>
            <a:tailEnd type="stealth" w="med" len="lg"/>
          </a:ln>
        </p:spPr>
      </p:sp>
      <p:sp>
        <p:nvSpPr>
          <p:cNvPr id="54289" name="Line 17"/>
          <p:cNvSpPr/>
          <p:nvPr/>
        </p:nvSpPr>
        <p:spPr>
          <a:xfrm>
            <a:off x="2135188" y="5562600"/>
            <a:ext cx="6170612" cy="0"/>
          </a:xfrm>
          <a:prstGeom prst="line">
            <a:avLst/>
          </a:prstGeom>
          <a:ln w="101600" cap="flat" cmpd="sng">
            <a:solidFill>
              <a:schemeClr val="tx1"/>
            </a:solidFill>
            <a:prstDash val="solid"/>
            <a:headEnd type="none" w="sm" len="sm"/>
            <a:tailEnd type="none" w="sm" len="sm"/>
          </a:ln>
        </p:spPr>
      </p:sp>
      <p:sp>
        <p:nvSpPr>
          <p:cNvPr id="54290" name="Line 18"/>
          <p:cNvSpPr/>
          <p:nvPr/>
        </p:nvSpPr>
        <p:spPr>
          <a:xfrm>
            <a:off x="2058988" y="5638800"/>
            <a:ext cx="6246812" cy="0"/>
          </a:xfrm>
          <a:prstGeom prst="line">
            <a:avLst/>
          </a:prstGeom>
          <a:ln w="101600" cap="flat" cmpd="sng">
            <a:solidFill>
              <a:schemeClr val="tx1"/>
            </a:solidFill>
            <a:prstDash val="solid"/>
            <a:headEnd type="none" w="sm" len="sm"/>
            <a:tailEnd type="none" w="sm" len="sm"/>
          </a:ln>
        </p:spPr>
      </p:sp>
      <p:sp>
        <p:nvSpPr>
          <p:cNvPr id="54291" name="Line 19"/>
          <p:cNvSpPr/>
          <p:nvPr/>
        </p:nvSpPr>
        <p:spPr>
          <a:xfrm>
            <a:off x="1754188" y="2819400"/>
            <a:ext cx="150812" cy="0"/>
          </a:xfrm>
          <a:prstGeom prst="line">
            <a:avLst/>
          </a:prstGeom>
          <a:ln w="12700" cap="flat" cmpd="sng">
            <a:solidFill>
              <a:schemeClr val="tx1"/>
            </a:solidFill>
            <a:prstDash val="solid"/>
            <a:headEnd type="none" w="sm" len="sm"/>
            <a:tailEnd type="none" w="sm" len="sm"/>
          </a:ln>
        </p:spPr>
      </p:sp>
      <p:sp>
        <p:nvSpPr>
          <p:cNvPr id="54292" name="Line 20"/>
          <p:cNvSpPr/>
          <p:nvPr/>
        </p:nvSpPr>
        <p:spPr>
          <a:xfrm>
            <a:off x="1754188" y="2438400"/>
            <a:ext cx="150812" cy="0"/>
          </a:xfrm>
          <a:prstGeom prst="line">
            <a:avLst/>
          </a:prstGeom>
          <a:ln w="12700" cap="flat" cmpd="sng">
            <a:solidFill>
              <a:schemeClr val="tx1"/>
            </a:solidFill>
            <a:prstDash val="solid"/>
            <a:headEnd type="none" w="sm" len="sm"/>
            <a:tailEnd type="none" w="sm" len="sm"/>
          </a:ln>
        </p:spPr>
      </p:sp>
      <p:sp>
        <p:nvSpPr>
          <p:cNvPr id="54293" name="Rectangle 21"/>
          <p:cNvSpPr/>
          <p:nvPr/>
        </p:nvSpPr>
        <p:spPr>
          <a:xfrm>
            <a:off x="228600" y="2133600"/>
            <a:ext cx="1676400" cy="457200"/>
          </a:xfrm>
          <a:prstGeom prst="rect">
            <a:avLst/>
          </a:prstGeom>
          <a:noFill/>
          <a:ln w="9525">
            <a:noFill/>
          </a:ln>
        </p:spPr>
        <p:txBody>
          <a:bodyPr lIns="92075" tIns="46038" rIns="92075" bIns="46038">
            <a:spAutoFit/>
          </a:bodyPr>
          <a:p>
            <a:pPr algn="l" eaLnBrk="0" hangingPunct="0">
              <a:spcBef>
                <a:spcPct val="50000"/>
              </a:spcBef>
            </a:pPr>
            <a:r>
              <a:rPr lang="en-US" altLang="zh-CN" b="1" dirty="0">
                <a:latin typeface="Times New Roman" panose="02020603050405020304" pitchFamily="18" charset="0"/>
                <a:ea typeface="SimSun" panose="02010600030101010101" pitchFamily="2" charset="-122"/>
              </a:rPr>
              <a:t>undefined</a:t>
            </a:r>
            <a:endParaRPr lang="en-US" altLang="zh-CN" b="1" dirty="0">
              <a:latin typeface="Times New Roman" panose="02020603050405020304" pitchFamily="18" charset="0"/>
              <a:ea typeface="SimSun" panose="02010600030101010101" pitchFamily="2" charset="-122"/>
            </a:endParaRPr>
          </a:p>
        </p:txBody>
      </p:sp>
      <p:sp>
        <p:nvSpPr>
          <p:cNvPr id="54294" name="Line 22"/>
          <p:cNvSpPr/>
          <p:nvPr/>
        </p:nvSpPr>
        <p:spPr>
          <a:xfrm>
            <a:off x="1830388" y="4191000"/>
            <a:ext cx="7161212" cy="0"/>
          </a:xfrm>
          <a:prstGeom prst="line">
            <a:avLst/>
          </a:prstGeom>
          <a:ln w="12700" cap="flat" cmpd="sng">
            <a:solidFill>
              <a:srgbClr val="FF0000"/>
            </a:solidFill>
            <a:prstDash val="solid"/>
            <a:headEnd type="none" w="sm" len="sm"/>
            <a:tailEnd type="none" w="sm" len="sm"/>
          </a:ln>
        </p:spPr>
      </p:sp>
      <p:graphicFrame>
        <p:nvGraphicFramePr>
          <p:cNvPr id="54295" name="Object 2"/>
          <p:cNvGraphicFramePr/>
          <p:nvPr/>
        </p:nvGraphicFramePr>
        <p:xfrm>
          <a:off x="1290638" y="3757613"/>
          <a:ext cx="474662" cy="750887"/>
        </p:xfrm>
        <a:graphic>
          <a:graphicData uri="http://schemas.openxmlformats.org/presentationml/2006/ole">
            <mc:AlternateContent xmlns:mc="http://schemas.openxmlformats.org/markup-compatibility/2006">
              <mc:Choice xmlns:v="urn:schemas-microsoft-com:vml" Requires="v">
                <p:oleObj spid="_x0000_s3100" name="" r:id="rId5" imgW="474980" imgH="751205" progId="Word.Document.8">
                  <p:embed/>
                </p:oleObj>
              </mc:Choice>
              <mc:Fallback>
                <p:oleObj name="" r:id="rId5" imgW="474980" imgH="751205" progId="Word.Document.8">
                  <p:embed/>
                  <p:pic>
                    <p:nvPicPr>
                      <p:cNvPr id="0" name="Picture 3099"/>
                      <p:cNvPicPr/>
                      <p:nvPr/>
                    </p:nvPicPr>
                    <p:blipFill>
                      <a:blip r:embed="rId6"/>
                      <a:stretch>
                        <a:fillRect/>
                      </a:stretch>
                    </p:blipFill>
                    <p:spPr>
                      <a:xfrm>
                        <a:off x="1290638" y="3757613"/>
                        <a:ext cx="474662" cy="750887"/>
                      </a:xfrm>
                      <a:prstGeom prst="rect">
                        <a:avLst/>
                      </a:prstGeom>
                      <a:noFill/>
                      <a:ln w="38100">
                        <a:noFill/>
                        <a:miter/>
                      </a:ln>
                    </p:spPr>
                  </p:pic>
                </p:oleObj>
              </mc:Fallback>
            </mc:AlternateContent>
          </a:graphicData>
        </a:graphic>
      </p:graphicFrame>
      <p:sp>
        <p:nvSpPr>
          <p:cNvPr id="54296" name="Rectangle 24"/>
          <p:cNvSpPr/>
          <p:nvPr/>
        </p:nvSpPr>
        <p:spPr>
          <a:xfrm>
            <a:off x="1447800" y="3810000"/>
            <a:ext cx="381000" cy="579438"/>
          </a:xfrm>
          <a:prstGeom prst="rect">
            <a:avLst/>
          </a:prstGeom>
          <a:noFill/>
          <a:ln w="9525">
            <a:noFill/>
          </a:ln>
        </p:spPr>
        <p:txBody>
          <a:bodyPr lIns="92075" tIns="46038" rIns="92075" bIns="46038">
            <a:spAutoFit/>
          </a:bodyPr>
          <a:p>
            <a:pPr algn="l" eaLnBrk="0" hangingPunct="0">
              <a:spcBef>
                <a:spcPct val="50000"/>
              </a:spcBef>
            </a:pPr>
            <a:r>
              <a:rPr lang="zh-CN" altLang="en-US" sz="3200" b="1" dirty="0">
                <a:latin typeface="Times New Roman" panose="02020603050405020304" pitchFamily="18" charset="0"/>
                <a:ea typeface="SimSun" panose="02010600030101010101" pitchFamily="2" charset="-122"/>
              </a:rPr>
              <a:t>‘</a:t>
            </a:r>
            <a:endParaRPr lang="zh-CN" altLang="en-US" sz="3200" b="1" dirty="0">
              <a:latin typeface="Times New Roman" panose="02020603050405020304" pitchFamily="18" charset="0"/>
              <a:ea typeface="SimSun" panose="02010600030101010101" pitchFamily="2" charset="-122"/>
            </a:endParaRPr>
          </a:p>
        </p:txBody>
      </p:sp>
      <p:grpSp>
        <p:nvGrpSpPr>
          <p:cNvPr id="54297" name="Group 25"/>
          <p:cNvGrpSpPr/>
          <p:nvPr/>
        </p:nvGrpSpPr>
        <p:grpSpPr>
          <a:xfrm>
            <a:off x="3892550" y="1149350"/>
            <a:ext cx="2349500" cy="1816100"/>
            <a:chOff x="2452" y="724"/>
            <a:chExt cx="1480" cy="1144"/>
          </a:xfrm>
        </p:grpSpPr>
        <p:sp>
          <p:nvSpPr>
            <p:cNvPr id="54299" name="Oval 26"/>
            <p:cNvSpPr/>
            <p:nvPr/>
          </p:nvSpPr>
          <p:spPr>
            <a:xfrm>
              <a:off x="2644" y="1108"/>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00" name="Oval 27"/>
            <p:cNvSpPr/>
            <p:nvPr/>
          </p:nvSpPr>
          <p:spPr>
            <a:xfrm>
              <a:off x="2596" y="1156"/>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01" name="Oval 28"/>
            <p:cNvSpPr/>
            <p:nvPr/>
          </p:nvSpPr>
          <p:spPr>
            <a:xfrm>
              <a:off x="2548" y="1156"/>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02" name="Oval 29"/>
            <p:cNvSpPr/>
            <p:nvPr/>
          </p:nvSpPr>
          <p:spPr>
            <a:xfrm>
              <a:off x="2596" y="1204"/>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03" name="Oval 30"/>
            <p:cNvSpPr/>
            <p:nvPr/>
          </p:nvSpPr>
          <p:spPr>
            <a:xfrm>
              <a:off x="2692" y="1204"/>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04" name="Oval 31"/>
            <p:cNvSpPr/>
            <p:nvPr/>
          </p:nvSpPr>
          <p:spPr>
            <a:xfrm>
              <a:off x="2452" y="1252"/>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05" name="Oval 32"/>
            <p:cNvSpPr/>
            <p:nvPr/>
          </p:nvSpPr>
          <p:spPr>
            <a:xfrm>
              <a:off x="2596" y="1348"/>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06" name="Oval 33"/>
            <p:cNvSpPr/>
            <p:nvPr/>
          </p:nvSpPr>
          <p:spPr>
            <a:xfrm>
              <a:off x="2548" y="1300"/>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07" name="Oval 34"/>
            <p:cNvSpPr/>
            <p:nvPr/>
          </p:nvSpPr>
          <p:spPr>
            <a:xfrm>
              <a:off x="2740" y="1348"/>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08" name="Oval 35"/>
            <p:cNvSpPr/>
            <p:nvPr/>
          </p:nvSpPr>
          <p:spPr>
            <a:xfrm>
              <a:off x="2644" y="1300"/>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09" name="Oval 36"/>
            <p:cNvSpPr/>
            <p:nvPr/>
          </p:nvSpPr>
          <p:spPr>
            <a:xfrm>
              <a:off x="3364" y="1348"/>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10" name="Oval 37"/>
            <p:cNvSpPr/>
            <p:nvPr/>
          </p:nvSpPr>
          <p:spPr>
            <a:xfrm>
              <a:off x="3316" y="1396"/>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11" name="Oval 38"/>
            <p:cNvSpPr/>
            <p:nvPr/>
          </p:nvSpPr>
          <p:spPr>
            <a:xfrm>
              <a:off x="3268" y="1396"/>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12" name="Oval 39"/>
            <p:cNvSpPr/>
            <p:nvPr/>
          </p:nvSpPr>
          <p:spPr>
            <a:xfrm>
              <a:off x="3316" y="1444"/>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13" name="Oval 40"/>
            <p:cNvSpPr/>
            <p:nvPr/>
          </p:nvSpPr>
          <p:spPr>
            <a:xfrm>
              <a:off x="3412" y="1444"/>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14" name="Oval 41"/>
            <p:cNvSpPr/>
            <p:nvPr/>
          </p:nvSpPr>
          <p:spPr>
            <a:xfrm>
              <a:off x="3460" y="1492"/>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15" name="Oval 42"/>
            <p:cNvSpPr/>
            <p:nvPr/>
          </p:nvSpPr>
          <p:spPr>
            <a:xfrm>
              <a:off x="3316" y="1588"/>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16" name="Oval 43"/>
            <p:cNvSpPr/>
            <p:nvPr/>
          </p:nvSpPr>
          <p:spPr>
            <a:xfrm>
              <a:off x="3268" y="1540"/>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17" name="Oval 44"/>
            <p:cNvSpPr/>
            <p:nvPr/>
          </p:nvSpPr>
          <p:spPr>
            <a:xfrm>
              <a:off x="3460" y="1588"/>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18" name="Oval 45"/>
            <p:cNvSpPr/>
            <p:nvPr/>
          </p:nvSpPr>
          <p:spPr>
            <a:xfrm>
              <a:off x="3364" y="1540"/>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19" name="Oval 46"/>
            <p:cNvSpPr/>
            <p:nvPr/>
          </p:nvSpPr>
          <p:spPr>
            <a:xfrm>
              <a:off x="3700" y="724"/>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20" name="Oval 47"/>
            <p:cNvSpPr/>
            <p:nvPr/>
          </p:nvSpPr>
          <p:spPr>
            <a:xfrm>
              <a:off x="3652" y="772"/>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21" name="Oval 48"/>
            <p:cNvSpPr/>
            <p:nvPr/>
          </p:nvSpPr>
          <p:spPr>
            <a:xfrm>
              <a:off x="3604" y="772"/>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22" name="Oval 49"/>
            <p:cNvSpPr/>
            <p:nvPr/>
          </p:nvSpPr>
          <p:spPr>
            <a:xfrm>
              <a:off x="3652" y="820"/>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23" name="Oval 50"/>
            <p:cNvSpPr/>
            <p:nvPr/>
          </p:nvSpPr>
          <p:spPr>
            <a:xfrm>
              <a:off x="3748" y="820"/>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24" name="Oval 51"/>
            <p:cNvSpPr/>
            <p:nvPr/>
          </p:nvSpPr>
          <p:spPr>
            <a:xfrm>
              <a:off x="3556" y="868"/>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25" name="Oval 52"/>
            <p:cNvSpPr/>
            <p:nvPr/>
          </p:nvSpPr>
          <p:spPr>
            <a:xfrm>
              <a:off x="3652" y="964"/>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26" name="Oval 53"/>
            <p:cNvSpPr/>
            <p:nvPr/>
          </p:nvSpPr>
          <p:spPr>
            <a:xfrm>
              <a:off x="3604" y="916"/>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27" name="Oval 54"/>
            <p:cNvSpPr/>
            <p:nvPr/>
          </p:nvSpPr>
          <p:spPr>
            <a:xfrm>
              <a:off x="3796" y="964"/>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28" name="Oval 55"/>
            <p:cNvSpPr/>
            <p:nvPr/>
          </p:nvSpPr>
          <p:spPr>
            <a:xfrm>
              <a:off x="3700" y="916"/>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29" name="Oval 56"/>
            <p:cNvSpPr/>
            <p:nvPr/>
          </p:nvSpPr>
          <p:spPr>
            <a:xfrm>
              <a:off x="2740" y="1060"/>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30" name="Oval 57"/>
            <p:cNvSpPr/>
            <p:nvPr/>
          </p:nvSpPr>
          <p:spPr>
            <a:xfrm>
              <a:off x="2788" y="1156"/>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31" name="Oval 58"/>
            <p:cNvSpPr/>
            <p:nvPr/>
          </p:nvSpPr>
          <p:spPr>
            <a:xfrm>
              <a:off x="2836" y="1300"/>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32" name="Oval 59"/>
            <p:cNvSpPr/>
            <p:nvPr/>
          </p:nvSpPr>
          <p:spPr>
            <a:xfrm>
              <a:off x="2740" y="1252"/>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33" name="Oval 60"/>
            <p:cNvSpPr/>
            <p:nvPr/>
          </p:nvSpPr>
          <p:spPr>
            <a:xfrm>
              <a:off x="3556" y="1588"/>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34" name="Oval 61"/>
            <p:cNvSpPr/>
            <p:nvPr/>
          </p:nvSpPr>
          <p:spPr>
            <a:xfrm>
              <a:off x="2836" y="1636"/>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35" name="Oval 62"/>
            <p:cNvSpPr/>
            <p:nvPr/>
          </p:nvSpPr>
          <p:spPr>
            <a:xfrm>
              <a:off x="3892" y="1060"/>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36" name="Oval 63"/>
            <p:cNvSpPr/>
            <p:nvPr/>
          </p:nvSpPr>
          <p:spPr>
            <a:xfrm>
              <a:off x="3700" y="1108"/>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37" name="Oval 64"/>
            <p:cNvSpPr/>
            <p:nvPr/>
          </p:nvSpPr>
          <p:spPr>
            <a:xfrm>
              <a:off x="3844" y="1348"/>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38" name="Oval 65"/>
            <p:cNvSpPr/>
            <p:nvPr/>
          </p:nvSpPr>
          <p:spPr>
            <a:xfrm>
              <a:off x="3652" y="1492"/>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39" name="Oval 66"/>
            <p:cNvSpPr/>
            <p:nvPr/>
          </p:nvSpPr>
          <p:spPr>
            <a:xfrm>
              <a:off x="3220" y="724"/>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40" name="Oval 67"/>
            <p:cNvSpPr/>
            <p:nvPr/>
          </p:nvSpPr>
          <p:spPr>
            <a:xfrm>
              <a:off x="3220" y="964"/>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41" name="Oval 68"/>
            <p:cNvSpPr/>
            <p:nvPr/>
          </p:nvSpPr>
          <p:spPr>
            <a:xfrm>
              <a:off x="3316" y="1060"/>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42" name="Oval 69"/>
            <p:cNvSpPr/>
            <p:nvPr/>
          </p:nvSpPr>
          <p:spPr>
            <a:xfrm>
              <a:off x="3124" y="1108"/>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43" name="Oval 70"/>
            <p:cNvSpPr/>
            <p:nvPr/>
          </p:nvSpPr>
          <p:spPr>
            <a:xfrm>
              <a:off x="2692" y="1684"/>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44" name="Oval 71"/>
            <p:cNvSpPr/>
            <p:nvPr/>
          </p:nvSpPr>
          <p:spPr>
            <a:xfrm>
              <a:off x="2788" y="1828"/>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45" name="Oval 72"/>
            <p:cNvSpPr/>
            <p:nvPr/>
          </p:nvSpPr>
          <p:spPr>
            <a:xfrm>
              <a:off x="3268" y="1588"/>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46" name="Oval 73"/>
            <p:cNvSpPr/>
            <p:nvPr/>
          </p:nvSpPr>
          <p:spPr>
            <a:xfrm>
              <a:off x="3124" y="1540"/>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47" name="Oval 74"/>
            <p:cNvSpPr/>
            <p:nvPr/>
          </p:nvSpPr>
          <p:spPr>
            <a:xfrm>
              <a:off x="3028" y="1348"/>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48" name="Oval 75"/>
            <p:cNvSpPr/>
            <p:nvPr/>
          </p:nvSpPr>
          <p:spPr>
            <a:xfrm>
              <a:off x="3508" y="1156"/>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49" name="Oval 76"/>
            <p:cNvSpPr/>
            <p:nvPr/>
          </p:nvSpPr>
          <p:spPr>
            <a:xfrm>
              <a:off x="2932" y="820"/>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54350" name="Oval 77"/>
            <p:cNvSpPr/>
            <p:nvPr/>
          </p:nvSpPr>
          <p:spPr>
            <a:xfrm>
              <a:off x="3124" y="1444"/>
              <a:ext cx="40" cy="40"/>
            </a:xfrm>
            <a:prstGeom prst="ellipse">
              <a:avLst/>
            </a:prstGeom>
            <a:solidFill>
              <a:schemeClr val="tx2"/>
            </a:solidFill>
            <a:ln w="127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grpSp>
      <p:sp>
        <p:nvSpPr>
          <p:cNvPr id="54298" name="Slide Number Placeholder 80"/>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Slide Number Placeholder 5"/>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
        <p:nvSpPr>
          <p:cNvPr id="55299" name="Rectangle 2"/>
          <p:cNvSpPr>
            <a:spLocks noGrp="1"/>
          </p:cNvSpPr>
          <p:nvPr>
            <p:ph type="title"/>
          </p:nvPr>
        </p:nvSpPr>
        <p:spPr>
          <a:xfrm>
            <a:off x="228600" y="228600"/>
            <a:ext cx="8686800" cy="762000"/>
          </a:xfrm>
        </p:spPr>
        <p:txBody>
          <a:bodyPr vert="horz" wrap="square" lIns="91440" tIns="45720" rIns="91440" bIns="45720" anchor="b" anchorCtr="0"/>
          <a:p>
            <a:pPr eaLnBrk="1" hangingPunct="1"/>
            <a:r>
              <a:rPr sz="2800" dirty="0"/>
              <a:t>Density-Based Clustering: OPTICS &amp; Its Applications</a:t>
            </a:r>
            <a:endParaRPr sz="2800" dirty="0"/>
          </a:p>
        </p:txBody>
      </p:sp>
      <p:pic>
        <p:nvPicPr>
          <p:cNvPr id="55300" name="Picture 3" descr="DBSCAN"/>
          <p:cNvPicPr>
            <a:picLocks noChangeAspect="1"/>
          </p:cNvPicPr>
          <p:nvPr/>
        </p:nvPicPr>
        <p:blipFill>
          <a:blip r:embed="rId1"/>
          <a:stretch>
            <a:fillRect/>
          </a:stretch>
        </p:blipFill>
        <p:spPr>
          <a:xfrm>
            <a:off x="228600" y="1295400"/>
            <a:ext cx="4267200" cy="2733675"/>
          </a:xfrm>
          <a:prstGeom prst="rect">
            <a:avLst/>
          </a:prstGeom>
          <a:noFill/>
          <a:ln w="9525">
            <a:noFill/>
          </a:ln>
        </p:spPr>
      </p:pic>
      <p:pic>
        <p:nvPicPr>
          <p:cNvPr id="55301" name="Picture 4" descr="OPTICS"/>
          <p:cNvPicPr>
            <a:picLocks noChangeAspect="1"/>
          </p:cNvPicPr>
          <p:nvPr/>
        </p:nvPicPr>
        <p:blipFill>
          <a:blip r:embed="rId2"/>
          <a:stretch>
            <a:fillRect/>
          </a:stretch>
        </p:blipFill>
        <p:spPr>
          <a:xfrm>
            <a:off x="4800600" y="1295400"/>
            <a:ext cx="4114800" cy="2667000"/>
          </a:xfrm>
          <a:prstGeom prst="rect">
            <a:avLst/>
          </a:prstGeom>
          <a:noFill/>
          <a:ln w="9525">
            <a:noFill/>
          </a:ln>
        </p:spPr>
      </p:pic>
      <p:pic>
        <p:nvPicPr>
          <p:cNvPr id="55302" name="Picture 5" descr="OPTICSOF"/>
          <p:cNvPicPr>
            <a:picLocks noChangeAspect="1"/>
          </p:cNvPicPr>
          <p:nvPr/>
        </p:nvPicPr>
        <p:blipFill>
          <a:blip r:embed="rId3"/>
          <a:stretch>
            <a:fillRect/>
          </a:stretch>
        </p:blipFill>
        <p:spPr>
          <a:xfrm>
            <a:off x="304800" y="4173538"/>
            <a:ext cx="4343400" cy="2684462"/>
          </a:xfrm>
          <a:prstGeom prst="rect">
            <a:avLst/>
          </a:prstGeom>
          <a:noFill/>
          <a:ln w="9525">
            <a:noFill/>
          </a:ln>
        </p:spPr>
      </p:pic>
      <p:pic>
        <p:nvPicPr>
          <p:cNvPr id="55303" name="Picture 6" descr="Histograms"/>
          <p:cNvPicPr>
            <a:picLocks noChangeAspect="1"/>
          </p:cNvPicPr>
          <p:nvPr/>
        </p:nvPicPr>
        <p:blipFill>
          <a:blip r:embed="rId4"/>
          <a:stretch>
            <a:fillRect/>
          </a:stretch>
        </p:blipFill>
        <p:spPr>
          <a:xfrm>
            <a:off x="4724400" y="4054475"/>
            <a:ext cx="4191000" cy="2803525"/>
          </a:xfrm>
          <a:prstGeom prst="rect">
            <a:avLst/>
          </a:prstGeom>
          <a:noFill/>
          <a:ln w="9525">
            <a:noFill/>
          </a:ln>
        </p:spPr>
      </p:pic>
    </p:spTree>
  </p:cSld>
  <p:clrMapOvr>
    <a:masterClrMapping/>
  </p:clrMapOvr>
  <p:transition>
    <p:zo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1026"/>
          <p:cNvSpPr>
            <a:spLocks noGrp="1"/>
          </p:cNvSpPr>
          <p:nvPr>
            <p:ph type="title"/>
          </p:nvPr>
        </p:nvSpPr>
        <p:spPr>
          <a:xfrm>
            <a:off x="0" y="304800"/>
            <a:ext cx="9144000" cy="685800"/>
          </a:xfrm>
        </p:spPr>
        <p:txBody>
          <a:bodyPr vert="horz" wrap="square" lIns="92075" tIns="46038" rIns="92075" bIns="46038" anchor="ctr" anchorCtr="0"/>
          <a:p>
            <a:pPr eaLnBrk="1" hangingPunct="1"/>
            <a:r>
              <a:rPr lang="en-US" altLang="zh-CN" sz="3200" dirty="0">
                <a:ea typeface="SimSun" panose="02010600030101010101" pitchFamily="2" charset="-122"/>
              </a:rPr>
              <a:t>DENCLUE: Using Statistical Density Functions</a:t>
            </a:r>
            <a:endParaRPr lang="en-US" altLang="zh-CN" sz="2400" dirty="0">
              <a:ea typeface="SimSun" panose="02010600030101010101" pitchFamily="2" charset="-122"/>
            </a:endParaRPr>
          </a:p>
        </p:txBody>
      </p:sp>
      <p:sp>
        <p:nvSpPr>
          <p:cNvPr id="56323" name="Rectangle 1027"/>
          <p:cNvSpPr>
            <a:spLocks noGrp="1"/>
          </p:cNvSpPr>
          <p:nvPr>
            <p:ph type="body" sz="half" idx="1"/>
          </p:nvPr>
        </p:nvSpPr>
        <p:spPr>
          <a:xfrm>
            <a:off x="381000" y="1371600"/>
            <a:ext cx="8382000" cy="5105400"/>
          </a:xfrm>
        </p:spPr>
        <p:txBody>
          <a:bodyPr vert="horz" wrap="square" lIns="92075" tIns="46038" rIns="92075" bIns="46038" anchor="t" anchorCtr="0"/>
          <a:p>
            <a:pPr eaLnBrk="1" hangingPunct="1">
              <a:lnSpc>
                <a:spcPct val="120000"/>
              </a:lnSpc>
              <a:buClr>
                <a:schemeClr val="folHlink"/>
              </a:buClr>
              <a:buSzPct val="60000"/>
              <a:buFont typeface="Wingdings" panose="05000000000000000000" pitchFamily="2" charset="2"/>
            </a:pPr>
            <a:r>
              <a:rPr lang="en-US" altLang="zh-CN" sz="2000" dirty="0">
                <a:ea typeface="SimSun" panose="02010600030101010101" pitchFamily="2" charset="-122"/>
              </a:rPr>
              <a:t>DENsity-based CLUstEring by Hinneburg &amp; Keim  (KDD</a:t>
            </a:r>
            <a:r>
              <a:rPr lang="en-US" altLang="zh-CN" sz="2000" dirty="0">
                <a:latin typeface="Times New Roman" panose="02020603050405020304" pitchFamily="18" charset="0"/>
                <a:ea typeface="SimSun" panose="02010600030101010101" pitchFamily="2" charset="-122"/>
              </a:rPr>
              <a:t>’</a:t>
            </a:r>
            <a:r>
              <a:rPr lang="en-US" altLang="zh-CN" sz="2000" dirty="0">
                <a:ea typeface="SimSun" panose="02010600030101010101" pitchFamily="2" charset="-122"/>
              </a:rPr>
              <a:t>98)</a:t>
            </a:r>
            <a:endParaRPr lang="en-US" altLang="zh-CN" sz="2000" dirty="0">
              <a:ea typeface="SimSun" panose="02010600030101010101" pitchFamily="2" charset="-122"/>
            </a:endParaRPr>
          </a:p>
          <a:p>
            <a:pPr eaLnBrk="1" hangingPunct="1">
              <a:lnSpc>
                <a:spcPct val="120000"/>
              </a:lnSpc>
              <a:buClr>
                <a:schemeClr val="folHlink"/>
              </a:buClr>
              <a:buSzPct val="60000"/>
              <a:buFont typeface="Wingdings" panose="05000000000000000000" pitchFamily="2" charset="2"/>
            </a:pPr>
            <a:r>
              <a:rPr lang="en-US" altLang="zh-CN" sz="2000" dirty="0">
                <a:ea typeface="SimSun" panose="02010600030101010101" pitchFamily="2" charset="-122"/>
              </a:rPr>
              <a:t>Using statistical density functions:</a:t>
            </a:r>
            <a:endParaRPr lang="en-US" altLang="zh-CN" sz="2000" dirty="0">
              <a:ea typeface="SimSun" panose="02010600030101010101" pitchFamily="2" charset="-122"/>
            </a:endParaRPr>
          </a:p>
          <a:p>
            <a:pPr eaLnBrk="1" hangingPunct="1">
              <a:lnSpc>
                <a:spcPct val="120000"/>
              </a:lnSpc>
              <a:buClr>
                <a:schemeClr val="folHlink"/>
              </a:buClr>
              <a:buSzPct val="60000"/>
              <a:buFont typeface="Wingdings" panose="05000000000000000000" pitchFamily="2" charset="2"/>
            </a:pPr>
            <a:endParaRPr lang="en-US" altLang="zh-CN" sz="2000" dirty="0">
              <a:ea typeface="SimSun" panose="02010600030101010101" pitchFamily="2" charset="-122"/>
            </a:endParaRPr>
          </a:p>
          <a:p>
            <a:pPr eaLnBrk="1" hangingPunct="1">
              <a:lnSpc>
                <a:spcPct val="120000"/>
              </a:lnSpc>
              <a:buClr>
                <a:schemeClr val="folHlink"/>
              </a:buClr>
              <a:buSzPct val="60000"/>
              <a:buFont typeface="Wingdings" panose="05000000000000000000" pitchFamily="2" charset="2"/>
            </a:pPr>
            <a:endParaRPr lang="en-US" altLang="zh-CN" sz="2000" dirty="0">
              <a:ea typeface="SimSun" panose="02010600030101010101" pitchFamily="2" charset="-122"/>
            </a:endParaRPr>
          </a:p>
          <a:p>
            <a:pPr eaLnBrk="1" hangingPunct="1">
              <a:lnSpc>
                <a:spcPct val="120000"/>
              </a:lnSpc>
              <a:buClr>
                <a:schemeClr val="folHlink"/>
              </a:buClr>
              <a:buSzPct val="60000"/>
              <a:buFont typeface="Wingdings" panose="05000000000000000000" pitchFamily="2" charset="2"/>
            </a:pPr>
            <a:endParaRPr lang="en-US" altLang="zh-CN" sz="2000" dirty="0">
              <a:ea typeface="SimSun" panose="02010600030101010101" pitchFamily="2" charset="-122"/>
            </a:endParaRPr>
          </a:p>
          <a:p>
            <a:pPr eaLnBrk="1" hangingPunct="1">
              <a:lnSpc>
                <a:spcPct val="120000"/>
              </a:lnSpc>
              <a:buClr>
                <a:schemeClr val="folHlink"/>
              </a:buClr>
              <a:buSzPct val="60000"/>
              <a:buFont typeface="Wingdings" panose="05000000000000000000" pitchFamily="2" charset="2"/>
            </a:pPr>
            <a:r>
              <a:rPr lang="en-US" altLang="zh-CN" sz="2000" dirty="0">
                <a:ea typeface="SimSun" panose="02010600030101010101" pitchFamily="2" charset="-122"/>
              </a:rPr>
              <a:t>Major features</a:t>
            </a:r>
            <a:endParaRPr lang="en-US" altLang="zh-CN" sz="2000" dirty="0">
              <a:ea typeface="SimSun" panose="02010600030101010101" pitchFamily="2" charset="-122"/>
            </a:endParaRPr>
          </a:p>
          <a:p>
            <a:pPr lvl="1" eaLnBrk="1" hangingPunct="1">
              <a:lnSpc>
                <a:spcPct val="120000"/>
              </a:lnSpc>
              <a:buClr>
                <a:schemeClr val="hlink"/>
              </a:buClr>
              <a:buSzPct val="55000"/>
              <a:buFont typeface="Wingdings" panose="05000000000000000000" pitchFamily="2" charset="2"/>
            </a:pPr>
            <a:r>
              <a:rPr lang="en-US" altLang="zh-CN" sz="2000" dirty="0">
                <a:ea typeface="SimSun" panose="02010600030101010101" pitchFamily="2" charset="-122"/>
              </a:rPr>
              <a:t>Solid mathematical foundation</a:t>
            </a:r>
            <a:endParaRPr lang="en-US" altLang="zh-CN" sz="2000" dirty="0">
              <a:ea typeface="SimSun" panose="02010600030101010101" pitchFamily="2" charset="-122"/>
            </a:endParaRPr>
          </a:p>
          <a:p>
            <a:pPr lvl="1" eaLnBrk="1" hangingPunct="1">
              <a:lnSpc>
                <a:spcPct val="120000"/>
              </a:lnSpc>
              <a:buClr>
                <a:schemeClr val="hlink"/>
              </a:buClr>
              <a:buSzPct val="55000"/>
              <a:buFont typeface="Wingdings" panose="05000000000000000000" pitchFamily="2" charset="2"/>
            </a:pPr>
            <a:r>
              <a:rPr lang="en-US" altLang="zh-CN" sz="2000" dirty="0">
                <a:ea typeface="SimSun" panose="02010600030101010101" pitchFamily="2" charset="-122"/>
              </a:rPr>
              <a:t>Good for data sets with large amounts of noise</a:t>
            </a:r>
            <a:endParaRPr lang="en-US" altLang="zh-CN" sz="2000" dirty="0">
              <a:ea typeface="SimSun" panose="02010600030101010101" pitchFamily="2" charset="-122"/>
            </a:endParaRPr>
          </a:p>
          <a:p>
            <a:pPr lvl="1" eaLnBrk="1" hangingPunct="1">
              <a:lnSpc>
                <a:spcPct val="120000"/>
              </a:lnSpc>
              <a:buClr>
                <a:schemeClr val="hlink"/>
              </a:buClr>
              <a:buSzPct val="55000"/>
              <a:buFont typeface="Wingdings" panose="05000000000000000000" pitchFamily="2" charset="2"/>
            </a:pPr>
            <a:r>
              <a:rPr lang="en-US" altLang="zh-CN" sz="2000" dirty="0">
                <a:ea typeface="SimSun" panose="02010600030101010101" pitchFamily="2" charset="-122"/>
              </a:rPr>
              <a:t>Allows a compact mathematical description of arbitrarily shaped clusters in high-dimensional data sets</a:t>
            </a:r>
            <a:endParaRPr lang="en-US" altLang="zh-CN" sz="2000" dirty="0">
              <a:ea typeface="SimSun" panose="02010600030101010101" pitchFamily="2" charset="-122"/>
            </a:endParaRPr>
          </a:p>
          <a:p>
            <a:pPr lvl="1" eaLnBrk="1" hangingPunct="1">
              <a:lnSpc>
                <a:spcPct val="120000"/>
              </a:lnSpc>
              <a:buClr>
                <a:schemeClr val="hlink"/>
              </a:buClr>
              <a:buSzPct val="55000"/>
              <a:buFont typeface="Wingdings" panose="05000000000000000000" pitchFamily="2" charset="2"/>
            </a:pPr>
            <a:r>
              <a:rPr lang="en-US" altLang="zh-CN" sz="2000" dirty="0">
                <a:ea typeface="SimSun" panose="02010600030101010101" pitchFamily="2" charset="-122"/>
              </a:rPr>
              <a:t>Significant faster than existing algorithm (e.g., DBSCAN)</a:t>
            </a:r>
            <a:endParaRPr lang="en-US" altLang="zh-CN" sz="2000" dirty="0">
              <a:ea typeface="SimSun" panose="02010600030101010101" pitchFamily="2" charset="-122"/>
            </a:endParaRPr>
          </a:p>
          <a:p>
            <a:pPr lvl="1" eaLnBrk="1" hangingPunct="1">
              <a:lnSpc>
                <a:spcPct val="120000"/>
              </a:lnSpc>
              <a:buClr>
                <a:schemeClr val="hlink"/>
              </a:buClr>
              <a:buSzPct val="55000"/>
              <a:buFont typeface="Wingdings" panose="05000000000000000000" pitchFamily="2" charset="2"/>
            </a:pPr>
            <a:r>
              <a:rPr lang="en-US" altLang="zh-CN" sz="2000" dirty="0">
                <a:ea typeface="SimSun" panose="02010600030101010101" pitchFamily="2" charset="-122"/>
              </a:rPr>
              <a:t>But needs a large number of parameters</a:t>
            </a:r>
            <a:endParaRPr lang="en-US" altLang="zh-CN" sz="2000" dirty="0">
              <a:ea typeface="SimSun" panose="02010600030101010101" pitchFamily="2" charset="-122"/>
            </a:endParaRPr>
          </a:p>
        </p:txBody>
      </p:sp>
      <p:graphicFrame>
        <p:nvGraphicFramePr>
          <p:cNvPr id="56324" name="Object 1028"/>
          <p:cNvGraphicFramePr/>
          <p:nvPr>
            <p:ph sz="quarter" idx="2"/>
          </p:nvPr>
        </p:nvGraphicFramePr>
        <p:xfrm>
          <a:off x="1066800" y="2438400"/>
          <a:ext cx="2209800" cy="666750"/>
        </p:xfrm>
        <a:graphic>
          <a:graphicData uri="http://schemas.openxmlformats.org/presentationml/2006/ole">
            <mc:AlternateContent xmlns:mc="http://schemas.openxmlformats.org/markup-compatibility/2006">
              <mc:Choice xmlns:v="urn:schemas-microsoft-com:vml" Requires="v">
                <p:oleObj spid="_x0000_s3101" name="" r:id="rId1" imgW="1524000" imgH="381000" progId="Equation.2">
                  <p:embed/>
                </p:oleObj>
              </mc:Choice>
              <mc:Fallback>
                <p:oleObj name="" r:id="rId1" imgW="1524000" imgH="381000" progId="Equation.2">
                  <p:embed/>
                  <p:pic>
                    <p:nvPicPr>
                      <p:cNvPr id="0" name="Picture 3100"/>
                      <p:cNvPicPr/>
                      <p:nvPr/>
                    </p:nvPicPr>
                    <p:blipFill>
                      <a:blip r:embed="rId2"/>
                      <a:srcRect/>
                      <a:stretch>
                        <a:fillRect/>
                      </a:stretch>
                    </p:blipFill>
                    <p:spPr>
                      <a:xfrm>
                        <a:off x="1066800" y="2438400"/>
                        <a:ext cx="2209800" cy="666750"/>
                      </a:xfrm>
                      <a:prstGeom prst="rect">
                        <a:avLst/>
                      </a:prstGeom>
                      <a:noFill/>
                      <a:ln w="38100">
                        <a:miter/>
                      </a:ln>
                    </p:spPr>
                  </p:pic>
                </p:oleObj>
              </mc:Fallback>
            </mc:AlternateContent>
          </a:graphicData>
        </a:graphic>
      </p:graphicFrame>
      <p:graphicFrame>
        <p:nvGraphicFramePr>
          <p:cNvPr id="56325" name="Object 1030"/>
          <p:cNvGraphicFramePr/>
          <p:nvPr>
            <p:ph sz="quarter" idx="3"/>
          </p:nvPr>
        </p:nvGraphicFramePr>
        <p:xfrm>
          <a:off x="4419600" y="2286000"/>
          <a:ext cx="3810000" cy="762000"/>
        </p:xfrm>
        <a:graphic>
          <a:graphicData uri="http://schemas.openxmlformats.org/presentationml/2006/ole">
            <mc:AlternateContent xmlns:mc="http://schemas.openxmlformats.org/markup-compatibility/2006">
              <mc:Choice xmlns:v="urn:schemas-microsoft-com:vml" Requires="v">
                <p:oleObj spid="_x0000_s3103" name="" r:id="rId3" imgW="6307455" imgH="1516380" progId="Equation.3">
                  <p:embed/>
                </p:oleObj>
              </mc:Choice>
              <mc:Fallback>
                <p:oleObj name="" r:id="rId3" imgW="6307455" imgH="1516380" progId="Equation.3">
                  <p:embed/>
                  <p:pic>
                    <p:nvPicPr>
                      <p:cNvPr id="0" name="Picture 3102"/>
                      <p:cNvPicPr/>
                      <p:nvPr/>
                    </p:nvPicPr>
                    <p:blipFill>
                      <a:blip r:embed="rId4"/>
                      <a:srcRect/>
                      <a:stretch>
                        <a:fillRect/>
                      </a:stretch>
                    </p:blipFill>
                    <p:spPr>
                      <a:xfrm>
                        <a:off x="4419600" y="2286000"/>
                        <a:ext cx="3810000" cy="762000"/>
                      </a:xfrm>
                      <a:prstGeom prst="rect">
                        <a:avLst/>
                      </a:prstGeom>
                      <a:noFill/>
                      <a:ln w="38100">
                        <a:miter/>
                      </a:ln>
                    </p:spPr>
                  </p:pic>
                </p:oleObj>
              </mc:Fallback>
            </mc:AlternateContent>
          </a:graphicData>
        </a:graphic>
      </p:graphicFrame>
      <p:graphicFrame>
        <p:nvGraphicFramePr>
          <p:cNvPr id="56326" name="Object 1032"/>
          <p:cNvGraphicFramePr/>
          <p:nvPr/>
        </p:nvGraphicFramePr>
        <p:xfrm>
          <a:off x="4343400" y="3124200"/>
          <a:ext cx="4356100" cy="762000"/>
        </p:xfrm>
        <a:graphic>
          <a:graphicData uri="http://schemas.openxmlformats.org/presentationml/2006/ole">
            <mc:AlternateContent xmlns:mc="http://schemas.openxmlformats.org/markup-compatibility/2006">
              <mc:Choice xmlns:v="urn:schemas-microsoft-com:vml" Requires="v">
                <p:oleObj spid="_x0000_s3102" name="" r:id="rId5" imgW="8547100" imgH="1536700" progId="Equation.3">
                  <p:embed/>
                </p:oleObj>
              </mc:Choice>
              <mc:Fallback>
                <p:oleObj name="" r:id="rId5" imgW="8547100" imgH="1536700" progId="Equation.3">
                  <p:embed/>
                  <p:pic>
                    <p:nvPicPr>
                      <p:cNvPr id="0" name="Picture 3101"/>
                      <p:cNvPicPr/>
                      <p:nvPr/>
                    </p:nvPicPr>
                    <p:blipFill>
                      <a:blip r:embed="rId6"/>
                      <a:stretch>
                        <a:fillRect/>
                      </a:stretch>
                    </p:blipFill>
                    <p:spPr>
                      <a:xfrm>
                        <a:off x="4343400" y="3124200"/>
                        <a:ext cx="4356100" cy="762000"/>
                      </a:xfrm>
                      <a:prstGeom prst="rect">
                        <a:avLst/>
                      </a:prstGeom>
                      <a:noFill/>
                      <a:ln w="38100">
                        <a:noFill/>
                        <a:miter/>
                      </a:ln>
                    </p:spPr>
                  </p:pic>
                </p:oleObj>
              </mc:Fallback>
            </mc:AlternateContent>
          </a:graphicData>
        </a:graphic>
      </p:graphicFrame>
      <p:sp>
        <p:nvSpPr>
          <p:cNvPr id="56327" name="AutoShape 1033"/>
          <p:cNvSpPr/>
          <p:nvPr/>
        </p:nvSpPr>
        <p:spPr>
          <a:xfrm>
            <a:off x="2362200" y="3200400"/>
            <a:ext cx="1447800" cy="609600"/>
          </a:xfrm>
          <a:prstGeom prst="wedgeRoundRectCallout">
            <a:avLst>
              <a:gd name="adj1" fmla="val -72042"/>
              <a:gd name="adj2" fmla="val -59634"/>
              <a:gd name="adj3" fmla="val 16667"/>
            </a:avLst>
          </a:prstGeom>
          <a:noFill/>
          <a:ln w="9525" cap="flat" cmpd="sng">
            <a:solidFill>
              <a:schemeClr val="tx1"/>
            </a:solidFill>
            <a:prstDash val="solid"/>
            <a:miter/>
            <a:headEnd type="none" w="med" len="med"/>
            <a:tailEnd type="none" w="med" len="med"/>
          </a:ln>
        </p:spPr>
        <p:txBody>
          <a:bodyPr anchor="ctr" anchorCtr="0"/>
          <a:p>
            <a:r>
              <a:rPr sz="1400" dirty="0">
                <a:latin typeface="Tahoma" panose="020B0604030504040204" pitchFamily="34" charset="0"/>
              </a:rPr>
              <a:t>influence of y on x</a:t>
            </a:r>
            <a:endParaRPr sz="1400" dirty="0">
              <a:latin typeface="Tahoma" panose="020B0604030504040204" pitchFamily="34" charset="0"/>
            </a:endParaRPr>
          </a:p>
        </p:txBody>
      </p:sp>
      <p:sp>
        <p:nvSpPr>
          <p:cNvPr id="56328" name="AutoShape 1034"/>
          <p:cNvSpPr/>
          <p:nvPr/>
        </p:nvSpPr>
        <p:spPr>
          <a:xfrm>
            <a:off x="7543800" y="1676400"/>
            <a:ext cx="1447800" cy="609600"/>
          </a:xfrm>
          <a:prstGeom prst="wedgeRoundRectCallout">
            <a:avLst>
              <a:gd name="adj1" fmla="val -170065"/>
              <a:gd name="adj2" fmla="val 95051"/>
              <a:gd name="adj3" fmla="val 16667"/>
            </a:avLst>
          </a:prstGeom>
          <a:noFill/>
          <a:ln w="9525" cap="flat" cmpd="sng">
            <a:solidFill>
              <a:schemeClr val="tx1"/>
            </a:solidFill>
            <a:prstDash val="solid"/>
            <a:miter/>
            <a:headEnd type="none" w="med" len="med"/>
            <a:tailEnd type="none" w="med" len="med"/>
          </a:ln>
        </p:spPr>
        <p:txBody>
          <a:bodyPr anchor="ctr" anchorCtr="0"/>
          <a:p>
            <a:r>
              <a:rPr sz="1400" dirty="0">
                <a:latin typeface="Tahoma" panose="020B0604030504040204" pitchFamily="34" charset="0"/>
              </a:rPr>
              <a:t>total influence on x</a:t>
            </a:r>
            <a:endParaRPr sz="1400" dirty="0">
              <a:latin typeface="Tahoma" panose="020B0604030504040204" pitchFamily="34" charset="0"/>
            </a:endParaRPr>
          </a:p>
        </p:txBody>
      </p:sp>
      <p:sp>
        <p:nvSpPr>
          <p:cNvPr id="56329" name="AutoShape 1035"/>
          <p:cNvSpPr/>
          <p:nvPr/>
        </p:nvSpPr>
        <p:spPr>
          <a:xfrm>
            <a:off x="7391400" y="3886200"/>
            <a:ext cx="1524000" cy="762000"/>
          </a:xfrm>
          <a:prstGeom prst="wedgeRoundRectCallout">
            <a:avLst>
              <a:gd name="adj1" fmla="val -165315"/>
              <a:gd name="adj2" fmla="val -55208"/>
              <a:gd name="adj3" fmla="val 16667"/>
            </a:avLst>
          </a:prstGeom>
          <a:noFill/>
          <a:ln w="9525" cap="flat" cmpd="sng">
            <a:solidFill>
              <a:schemeClr val="tx1"/>
            </a:solidFill>
            <a:prstDash val="solid"/>
            <a:miter/>
            <a:headEnd type="none" w="med" len="med"/>
            <a:tailEnd type="none" w="med" len="med"/>
          </a:ln>
        </p:spPr>
        <p:txBody>
          <a:bodyPr anchor="ctr" anchorCtr="0"/>
          <a:p>
            <a:r>
              <a:rPr sz="1400" dirty="0">
                <a:latin typeface="Tahoma" panose="020B0604030504040204" pitchFamily="34" charset="0"/>
              </a:rPr>
              <a:t>gradient of x in the direction of x</a:t>
            </a:r>
            <a:r>
              <a:rPr sz="1400" baseline="-25000" dirty="0">
                <a:latin typeface="Tahoma" panose="020B0604030504040204" pitchFamily="34" charset="0"/>
              </a:rPr>
              <a:t>i</a:t>
            </a:r>
            <a:endParaRPr sz="1400" baseline="-25000" dirty="0">
              <a:latin typeface="Tahoma" panose="020B0604030504040204" pitchFamily="34" charset="0"/>
            </a:endParaRPr>
          </a:p>
        </p:txBody>
      </p:sp>
      <p:sp>
        <p:nvSpPr>
          <p:cNvPr id="56330" name="Slide Number Placeholder 12"/>
          <p:cNvSpPr txBox="1">
            <a:spLocks noGrp="1"/>
          </p:cNvSpPr>
          <p:nvPr>
            <p:ph type="sldNum" sz="quarter" idx="12"/>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p:cNvSpPr>
          <p:nvPr>
            <p:ph idx="1"/>
          </p:nvPr>
        </p:nvSpPr>
        <p:spPr>
          <a:xfrm>
            <a:off x="304800" y="1371600"/>
            <a:ext cx="8534400" cy="5181600"/>
          </a:xfrm>
        </p:spPr>
        <p:txBody>
          <a:bodyPr vert="horz" wrap="square" lIns="92075" tIns="46038" rIns="92075" bIns="46038" anchor="t" anchorCtr="0"/>
          <a:p>
            <a:pPr eaLnBrk="1" hangingPunct="1">
              <a:spcBef>
                <a:spcPts val="600"/>
              </a:spcBef>
            </a:pPr>
            <a:r>
              <a:rPr lang="en-US" altLang="zh-CN" sz="2000" dirty="0">
                <a:ea typeface="SimSun" panose="02010600030101010101" pitchFamily="2" charset="-122"/>
              </a:rPr>
              <a:t>Uses grid cells but only keeps information about grid cells that do actually contain data points and manages these cells in a tree-based access structure</a:t>
            </a:r>
            <a:endParaRPr lang="en-US" altLang="zh-CN" sz="2000" dirty="0">
              <a:ea typeface="SimSun" panose="02010600030101010101" pitchFamily="2" charset="-122"/>
            </a:endParaRPr>
          </a:p>
          <a:p>
            <a:pPr eaLnBrk="1" hangingPunct="1">
              <a:spcBef>
                <a:spcPts val="600"/>
              </a:spcBef>
            </a:pPr>
            <a:r>
              <a:rPr lang="en-US" altLang="zh-CN" sz="2000" dirty="0">
                <a:ea typeface="SimSun" panose="02010600030101010101" pitchFamily="2" charset="-122"/>
              </a:rPr>
              <a:t>Influence function: describes the impact of a data point within its neighborhood</a:t>
            </a:r>
            <a:endParaRPr lang="en-US" altLang="zh-CN" sz="2000" dirty="0">
              <a:ea typeface="SimSun" panose="02010600030101010101" pitchFamily="2" charset="-122"/>
            </a:endParaRPr>
          </a:p>
          <a:p>
            <a:pPr eaLnBrk="1" hangingPunct="1">
              <a:spcBef>
                <a:spcPts val="600"/>
              </a:spcBef>
            </a:pPr>
            <a:r>
              <a:rPr lang="en-US" altLang="zh-CN" sz="2000" dirty="0">
                <a:ea typeface="SimSun" panose="02010600030101010101" pitchFamily="2" charset="-122"/>
              </a:rPr>
              <a:t>Overall density of the data space can be calculated as the sum of the influence function of all data points</a:t>
            </a:r>
            <a:endParaRPr lang="en-US" altLang="zh-CN" sz="2000" dirty="0">
              <a:ea typeface="SimSun" panose="02010600030101010101" pitchFamily="2" charset="-122"/>
            </a:endParaRPr>
          </a:p>
          <a:p>
            <a:pPr eaLnBrk="1" hangingPunct="1">
              <a:spcBef>
                <a:spcPts val="600"/>
              </a:spcBef>
            </a:pPr>
            <a:r>
              <a:rPr lang="en-US" altLang="zh-CN" sz="2000" dirty="0">
                <a:ea typeface="SimSun" panose="02010600030101010101" pitchFamily="2" charset="-122"/>
              </a:rPr>
              <a:t>Clusters can be determined mathematically by identifying density attractors</a:t>
            </a:r>
            <a:endParaRPr lang="en-US" altLang="zh-CN" sz="2000" dirty="0">
              <a:ea typeface="SimSun" panose="02010600030101010101" pitchFamily="2" charset="-122"/>
            </a:endParaRPr>
          </a:p>
          <a:p>
            <a:pPr eaLnBrk="1" hangingPunct="1">
              <a:spcBef>
                <a:spcPts val="600"/>
              </a:spcBef>
            </a:pPr>
            <a:r>
              <a:rPr lang="en-US" altLang="zh-CN" sz="2000" dirty="0">
                <a:ea typeface="SimSun" panose="02010600030101010101" pitchFamily="2" charset="-122"/>
              </a:rPr>
              <a:t>Density attractors are local maximal of the overall density function</a:t>
            </a:r>
            <a:endParaRPr lang="en-US" altLang="zh-CN" sz="2000" dirty="0">
              <a:ea typeface="SimSun" panose="02010600030101010101" pitchFamily="2" charset="-122"/>
            </a:endParaRPr>
          </a:p>
          <a:p>
            <a:pPr eaLnBrk="1" hangingPunct="1">
              <a:spcBef>
                <a:spcPts val="600"/>
              </a:spcBef>
            </a:pPr>
            <a:r>
              <a:rPr lang="en-US" altLang="zh-CN" sz="2000" dirty="0">
                <a:ea typeface="SimSun" panose="02010600030101010101" pitchFamily="2" charset="-122"/>
              </a:rPr>
              <a:t>Center defined clusters: assign to each density attractor the points density attracted to it</a:t>
            </a:r>
            <a:endParaRPr lang="en-US" altLang="zh-CN" sz="2000" dirty="0">
              <a:ea typeface="SimSun" panose="02010600030101010101" pitchFamily="2" charset="-122"/>
            </a:endParaRPr>
          </a:p>
          <a:p>
            <a:pPr eaLnBrk="1" hangingPunct="1">
              <a:spcBef>
                <a:spcPts val="600"/>
              </a:spcBef>
            </a:pPr>
            <a:r>
              <a:rPr lang="en-US" altLang="zh-CN" sz="2000" dirty="0">
                <a:ea typeface="SimSun" panose="02010600030101010101" pitchFamily="2" charset="-122"/>
              </a:rPr>
              <a:t>Arbitrary shaped cluster: merge density attractors that are connected through paths of high density (&gt; threshold)</a:t>
            </a:r>
            <a:endParaRPr lang="en-US" altLang="zh-CN" sz="2000" dirty="0">
              <a:ea typeface="SimSun" panose="02010600030101010101" pitchFamily="2" charset="-122"/>
            </a:endParaRPr>
          </a:p>
        </p:txBody>
      </p:sp>
      <p:sp>
        <p:nvSpPr>
          <p:cNvPr id="57347" name="Rectangle 3"/>
          <p:cNvSpPr>
            <a:spLocks noGrp="1"/>
          </p:cNvSpPr>
          <p:nvPr>
            <p:ph type="title"/>
          </p:nvPr>
        </p:nvSpPr>
        <p:spPr/>
        <p:txBody>
          <a:bodyPr vert="horz" wrap="square" lIns="91440" tIns="45720" rIns="91440" bIns="45720" anchor="b" anchorCtr="0"/>
          <a:p>
            <a:pPr eaLnBrk="1" hangingPunct="1"/>
            <a:r>
              <a:rPr lang="en-US" altLang="zh-CN" dirty="0">
                <a:ea typeface="SimSun" panose="02010600030101010101" pitchFamily="2" charset="-122"/>
              </a:rPr>
              <a:t>Denclue: Technical Essence</a:t>
            </a:r>
            <a:endParaRPr lang="en-US" altLang="zh-CN" dirty="0">
              <a:ea typeface="SimSun" panose="02010600030101010101" pitchFamily="2" charset="-122"/>
            </a:endParaRPr>
          </a:p>
        </p:txBody>
      </p:sp>
      <p:sp>
        <p:nvSpPr>
          <p:cNvPr id="57348"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a:spLocks noGrp="1"/>
          </p:cNvSpPr>
          <p:nvPr>
            <p:ph type="title"/>
          </p:nvPr>
        </p:nvSpPr>
        <p:spPr/>
        <p:txBody>
          <a:bodyPr vert="horz" wrap="square" lIns="92075" tIns="46038" rIns="92075" bIns="46038" anchor="ctr" anchorCtr="0"/>
          <a:p>
            <a:pPr eaLnBrk="1" hangingPunct="1"/>
            <a:r>
              <a:rPr lang="en-US" altLang="zh-CN" dirty="0">
                <a:ea typeface="SimSun" panose="02010600030101010101" pitchFamily="2" charset="-122"/>
              </a:rPr>
              <a:t>Density Attractor</a:t>
            </a:r>
            <a:endParaRPr lang="en-US" altLang="zh-CN" sz="2800" dirty="0">
              <a:ea typeface="SimSun" panose="02010600030101010101" pitchFamily="2" charset="-122"/>
            </a:endParaRPr>
          </a:p>
        </p:txBody>
      </p:sp>
      <p:pic>
        <p:nvPicPr>
          <p:cNvPr id="58371" name="Picture 3"/>
          <p:cNvPicPr/>
          <p:nvPr/>
        </p:nvPicPr>
        <p:blipFill>
          <a:blip r:embed="rId1"/>
          <a:stretch>
            <a:fillRect/>
          </a:stretch>
        </p:blipFill>
        <p:spPr>
          <a:xfrm>
            <a:off x="990600" y="1676400"/>
            <a:ext cx="2743200" cy="2209800"/>
          </a:xfrm>
          <a:prstGeom prst="rect">
            <a:avLst/>
          </a:prstGeom>
          <a:noFill/>
          <a:ln w="9525">
            <a:noFill/>
          </a:ln>
        </p:spPr>
      </p:pic>
      <p:pic>
        <p:nvPicPr>
          <p:cNvPr id="58372" name="Picture 4"/>
          <p:cNvPicPr/>
          <p:nvPr/>
        </p:nvPicPr>
        <p:blipFill>
          <a:blip r:embed="rId2"/>
          <a:stretch>
            <a:fillRect/>
          </a:stretch>
        </p:blipFill>
        <p:spPr>
          <a:xfrm>
            <a:off x="5410200" y="1600200"/>
            <a:ext cx="2508250" cy="2219325"/>
          </a:xfrm>
          <a:prstGeom prst="rect">
            <a:avLst/>
          </a:prstGeom>
          <a:noFill/>
          <a:ln w="9525">
            <a:noFill/>
          </a:ln>
        </p:spPr>
      </p:pic>
      <p:pic>
        <p:nvPicPr>
          <p:cNvPr id="58373" name="Picture 5"/>
          <p:cNvPicPr/>
          <p:nvPr/>
        </p:nvPicPr>
        <p:blipFill>
          <a:blip r:embed="rId3"/>
          <a:stretch>
            <a:fillRect/>
          </a:stretch>
        </p:blipFill>
        <p:spPr>
          <a:xfrm>
            <a:off x="3124200" y="4191000"/>
            <a:ext cx="3121025" cy="1979613"/>
          </a:xfrm>
          <a:prstGeom prst="rect">
            <a:avLst/>
          </a:prstGeom>
          <a:noFill/>
          <a:ln w="9525">
            <a:noFill/>
          </a:ln>
        </p:spPr>
      </p:pic>
      <p:sp>
        <p:nvSpPr>
          <p:cNvPr id="58374" name="Slide Number Placeholder 8"/>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1026"/>
          <p:cNvSpPr>
            <a:spLocks noGrp="1"/>
          </p:cNvSpPr>
          <p:nvPr>
            <p:ph type="title"/>
          </p:nvPr>
        </p:nvSpPr>
        <p:spPr/>
        <p:txBody>
          <a:bodyPr vert="horz" wrap="square" lIns="92075" tIns="46038" rIns="92075" bIns="46038" anchor="ctr" anchorCtr="0"/>
          <a:p>
            <a:pPr eaLnBrk="1" hangingPunct="1"/>
            <a:r>
              <a:rPr lang="en-US" altLang="zh-CN" dirty="0">
                <a:ea typeface="SimSun" panose="02010600030101010101" pitchFamily="2" charset="-122"/>
              </a:rPr>
              <a:t>Center-Defined and Arbitrary</a:t>
            </a:r>
            <a:endParaRPr lang="en-US" altLang="zh-CN" sz="2800" dirty="0">
              <a:ea typeface="SimSun" panose="02010600030101010101" pitchFamily="2" charset="-122"/>
            </a:endParaRPr>
          </a:p>
        </p:txBody>
      </p:sp>
      <p:pic>
        <p:nvPicPr>
          <p:cNvPr id="59395" name="Picture 1027"/>
          <p:cNvPicPr/>
          <p:nvPr/>
        </p:nvPicPr>
        <p:blipFill>
          <a:blip r:embed="rId1"/>
          <a:stretch>
            <a:fillRect/>
          </a:stretch>
        </p:blipFill>
        <p:spPr>
          <a:xfrm>
            <a:off x="0" y="1600200"/>
            <a:ext cx="8991600" cy="4735513"/>
          </a:xfrm>
          <a:prstGeom prst="rect">
            <a:avLst/>
          </a:prstGeom>
          <a:noFill/>
          <a:ln w="9525">
            <a:noFill/>
          </a:ln>
        </p:spPr>
      </p:pic>
      <p:sp>
        <p:nvSpPr>
          <p:cNvPr id="59396"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60419" name="Rectangle 2"/>
          <p:cNvSpPr>
            <a:spLocks noGrp="1"/>
          </p:cNvSpPr>
          <p:nvPr>
            <p:ph type="title" idx="4294967295"/>
          </p:nvPr>
        </p:nvSpPr>
        <p:spPr>
          <a:xfrm>
            <a:off x="0" y="152400"/>
            <a:ext cx="9144000" cy="990600"/>
          </a:xfrm>
        </p:spPr>
        <p:txBody>
          <a:bodyPr vert="horz" wrap="square" lIns="92075" tIns="46038" rIns="92075" bIns="46038" anchor="ctr" anchorCtr="0"/>
          <a:p>
            <a:pPr eaLnBrk="1" hangingPunct="1"/>
            <a:r>
              <a:rPr sz="3200" dirty="0"/>
              <a:t>Chapter 10. </a:t>
            </a:r>
            <a:r>
              <a:rPr lang="en-AU" altLang="zh-TW" sz="3200" dirty="0">
                <a:ea typeface="PMingLiU" panose="02020500000000000000" pitchFamily="18" charset="-120"/>
              </a:rPr>
              <a:t>Cluster Analysis: Basic Concepts and Methods</a:t>
            </a:r>
            <a:endParaRPr sz="3200" dirty="0">
              <a:ea typeface="PMingLiU" panose="02020500000000000000" pitchFamily="18" charset="-120"/>
            </a:endParaRPr>
          </a:p>
        </p:txBody>
      </p:sp>
      <p:sp>
        <p:nvSpPr>
          <p:cNvPr id="60420" name="Rectangle 3"/>
          <p:cNvSpPr>
            <a:spLocks noGrp="1"/>
          </p:cNvSpPr>
          <p:nvPr>
            <p:ph type="body" idx="4294967295"/>
          </p:nvPr>
        </p:nvSpPr>
        <p:spPr>
          <a:xfrm>
            <a:off x="381000" y="1371600"/>
            <a:ext cx="8223250" cy="5181600"/>
          </a:xfrm>
        </p:spPr>
        <p:txBody>
          <a:bodyPr vert="horz" wrap="square" lIns="92075" tIns="46038" rIns="92075" bIns="46038" anchor="t" anchorCtr="0"/>
          <a:p>
            <a:pPr marL="533400" indent="-533400">
              <a:lnSpc>
                <a:spcPct val="130000"/>
              </a:lnSpc>
            </a:pPr>
            <a:r>
              <a:rPr dirty="0">
                <a:latin typeface="Calibri" panose="020F0502020204030204" pitchFamily="34" charset="0"/>
              </a:rPr>
              <a:t>Cluster Analysis: Basic Concepts</a:t>
            </a:r>
            <a:endParaRPr dirty="0">
              <a:latin typeface="Calibri" panose="020F0502020204030204" pitchFamily="34" charset="0"/>
            </a:endParaRPr>
          </a:p>
          <a:p>
            <a:pPr marL="533400" indent="-533400">
              <a:lnSpc>
                <a:spcPct val="130000"/>
              </a:lnSpc>
            </a:pPr>
            <a:r>
              <a:rPr dirty="0">
                <a:latin typeface="Calibri" panose="020F0502020204030204" pitchFamily="34" charset="0"/>
              </a:rPr>
              <a:t>Partitioning Methods</a:t>
            </a:r>
            <a:endParaRPr dirty="0">
              <a:latin typeface="Calibri" panose="020F0502020204030204" pitchFamily="34" charset="0"/>
            </a:endParaRPr>
          </a:p>
          <a:p>
            <a:pPr marL="533400" indent="-533400">
              <a:lnSpc>
                <a:spcPct val="130000"/>
              </a:lnSpc>
            </a:pPr>
            <a:r>
              <a:rPr dirty="0">
                <a:latin typeface="Calibri" panose="020F0502020204030204" pitchFamily="34" charset="0"/>
              </a:rPr>
              <a:t>Hierarchical Methods</a:t>
            </a:r>
            <a:endParaRPr dirty="0">
              <a:latin typeface="Calibri" panose="020F0502020204030204" pitchFamily="34" charset="0"/>
            </a:endParaRPr>
          </a:p>
          <a:p>
            <a:pPr marL="533400" indent="-533400">
              <a:lnSpc>
                <a:spcPct val="130000"/>
              </a:lnSpc>
            </a:pPr>
            <a:r>
              <a:rPr dirty="0">
                <a:latin typeface="Calibri" panose="020F0502020204030204" pitchFamily="34" charset="0"/>
              </a:rPr>
              <a:t>Density-Based Methods</a:t>
            </a:r>
            <a:endParaRPr dirty="0">
              <a:latin typeface="Calibri" panose="020F0502020204030204" pitchFamily="34" charset="0"/>
            </a:endParaRPr>
          </a:p>
          <a:p>
            <a:pPr marL="533400" indent="-533400">
              <a:lnSpc>
                <a:spcPct val="130000"/>
              </a:lnSpc>
            </a:pPr>
            <a:r>
              <a:rPr dirty="0">
                <a:latin typeface="Calibri" panose="020F0502020204030204" pitchFamily="34" charset="0"/>
              </a:rPr>
              <a:t>Grid-Based Methods</a:t>
            </a:r>
            <a:endParaRPr dirty="0">
              <a:latin typeface="Calibri" panose="020F0502020204030204" pitchFamily="34" charset="0"/>
            </a:endParaRPr>
          </a:p>
          <a:p>
            <a:pPr marL="533400" indent="-533400">
              <a:lnSpc>
                <a:spcPct val="130000"/>
              </a:lnSpc>
            </a:pPr>
            <a:r>
              <a:rPr dirty="0">
                <a:latin typeface="Calibri" panose="020F0502020204030204" pitchFamily="34" charset="0"/>
              </a:rPr>
              <a:t>Evaluation of Clustering</a:t>
            </a:r>
            <a:endParaRPr dirty="0">
              <a:latin typeface="Calibri" panose="020F0502020204030204" pitchFamily="34" charset="0"/>
            </a:endParaRPr>
          </a:p>
          <a:p>
            <a:pPr marL="533400" indent="-533400">
              <a:lnSpc>
                <a:spcPct val="130000"/>
              </a:lnSpc>
            </a:pPr>
            <a:r>
              <a:rPr dirty="0">
                <a:latin typeface="Calibri" panose="020F0502020204030204" pitchFamily="34" charset="0"/>
              </a:rPr>
              <a:t>Summary</a:t>
            </a:r>
            <a:endParaRPr dirty="0">
              <a:latin typeface="Calibri" panose="020F0502020204030204" pitchFamily="34" charset="0"/>
            </a:endParaRPr>
          </a:p>
        </p:txBody>
      </p:sp>
      <p:sp>
        <p:nvSpPr>
          <p:cNvPr id="60421" name="AutoShape 5"/>
          <p:cNvSpPr/>
          <p:nvPr/>
        </p:nvSpPr>
        <p:spPr>
          <a:xfrm rot="9867012">
            <a:off x="4191000" y="4038600"/>
            <a:ext cx="304800" cy="381000"/>
          </a:xfrm>
          <a:prstGeom prst="notchedRightArrow">
            <a:avLst>
              <a:gd name="adj1" fmla="val 50000"/>
              <a:gd name="adj2" fmla="val 25000"/>
            </a:avLst>
          </a:prstGeom>
          <a:solidFill>
            <a:srgbClr val="00CCFF"/>
          </a:solidFill>
          <a:ln w="9525" cap="flat" cmpd="sng">
            <a:solidFill>
              <a:schemeClr val="tx1"/>
            </a:solidFill>
            <a:prstDash val="solid"/>
            <a:miter/>
            <a:headEnd type="none" w="med" len="med"/>
            <a:tailEnd type="none" w="med" len="med"/>
          </a:ln>
        </p:spPr>
        <p:txBody>
          <a:bodyPr rot="10800000" wrap="none" anchor="ctr" anchorCtr="0"/>
          <a:p>
            <a:endParaRPr dirty="0">
              <a:latin typeface="Tahoma" panose="020B0604030504040204" pitchFamily="34" charset="0"/>
            </a:endParaRPr>
          </a:p>
        </p:txBody>
      </p:sp>
      <p:sp>
        <p:nvSpPr>
          <p:cNvPr id="60422"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p:cNvSpPr>
          <p:nvPr>
            <p:ph type="title"/>
          </p:nvPr>
        </p:nvSpPr>
        <p:spPr/>
        <p:txBody>
          <a:bodyPr vert="horz" wrap="square" lIns="92075" tIns="46038" rIns="92075" bIns="46038" anchor="ctr" anchorCtr="0"/>
          <a:p>
            <a:pPr eaLnBrk="1" hangingPunct="1"/>
            <a:r>
              <a:rPr dirty="0"/>
              <a:t>Grid-Based Clustering Method </a:t>
            </a:r>
            <a:endParaRPr dirty="0"/>
          </a:p>
        </p:txBody>
      </p:sp>
      <p:sp>
        <p:nvSpPr>
          <p:cNvPr id="61443" name="Rectangle 3"/>
          <p:cNvSpPr>
            <a:spLocks noGrp="1"/>
          </p:cNvSpPr>
          <p:nvPr>
            <p:ph idx="1"/>
          </p:nvPr>
        </p:nvSpPr>
        <p:spPr>
          <a:xfrm>
            <a:off x="381000" y="1524000"/>
            <a:ext cx="8066088" cy="4876800"/>
          </a:xfrm>
        </p:spPr>
        <p:txBody>
          <a:bodyPr vert="horz" wrap="square" lIns="92075" tIns="46038" rIns="92075" bIns="46038" anchor="t" anchorCtr="0"/>
          <a:p>
            <a:pPr eaLnBrk="1" hangingPunct="1"/>
            <a:r>
              <a:rPr sz="2400" dirty="0"/>
              <a:t>Using multi-resolution grid data structure</a:t>
            </a:r>
            <a:endParaRPr sz="2400" dirty="0"/>
          </a:p>
          <a:p>
            <a:pPr eaLnBrk="1" hangingPunct="1"/>
            <a:r>
              <a:rPr sz="2400" dirty="0"/>
              <a:t>Several interesting methods</a:t>
            </a:r>
            <a:endParaRPr sz="2400" dirty="0"/>
          </a:p>
          <a:p>
            <a:pPr lvl="1" eaLnBrk="1" hangingPunct="1"/>
            <a:r>
              <a:rPr sz="2400" dirty="0">
                <a:solidFill>
                  <a:schemeClr val="hlink"/>
                </a:solidFill>
              </a:rPr>
              <a:t>STING </a:t>
            </a:r>
            <a:r>
              <a:rPr sz="2400" dirty="0"/>
              <a:t>(a STatistical INformation Grid approach) by Wang, Yang and Muntz (1997)</a:t>
            </a:r>
            <a:endParaRPr sz="2400" dirty="0"/>
          </a:p>
          <a:p>
            <a:pPr lvl="1" eaLnBrk="1" hangingPunct="1">
              <a:spcBef>
                <a:spcPct val="40000"/>
              </a:spcBef>
            </a:pPr>
            <a:r>
              <a:rPr sz="2400" dirty="0">
                <a:solidFill>
                  <a:schemeClr val="hlink"/>
                </a:solidFill>
              </a:rPr>
              <a:t>WaveCluster</a:t>
            </a:r>
            <a:r>
              <a:rPr sz="2400" dirty="0"/>
              <a:t> by Sheikholeslami, Chatterjee, and Zhang (VLDB’98)</a:t>
            </a:r>
            <a:endParaRPr sz="2400" dirty="0"/>
          </a:p>
          <a:p>
            <a:pPr lvl="2" eaLnBrk="1" hangingPunct="1">
              <a:spcBef>
                <a:spcPct val="40000"/>
              </a:spcBef>
            </a:pPr>
            <a:r>
              <a:rPr dirty="0"/>
              <a:t>A multi-resolution clustering approach using wavelet method</a:t>
            </a:r>
            <a:endParaRPr dirty="0"/>
          </a:p>
          <a:p>
            <a:pPr lvl="1" eaLnBrk="1" hangingPunct="1">
              <a:spcBef>
                <a:spcPct val="40000"/>
              </a:spcBef>
            </a:pPr>
            <a:r>
              <a:rPr lang="en-US" altLang="zh-CN" sz="2400" dirty="0">
                <a:solidFill>
                  <a:schemeClr val="hlink"/>
                </a:solidFill>
                <a:ea typeface="SimSun" panose="02010600030101010101" pitchFamily="2" charset="-122"/>
              </a:rPr>
              <a:t>CLIQUE</a:t>
            </a:r>
            <a:r>
              <a:rPr lang="en-US" altLang="zh-CN" sz="2400" dirty="0">
                <a:ea typeface="SimSun" panose="02010600030101010101" pitchFamily="2" charset="-122"/>
              </a:rPr>
              <a:t>: Agrawal, et al. (SIGMOD’98)</a:t>
            </a:r>
            <a:endParaRPr lang="en-US" altLang="zh-CN" sz="2400" dirty="0">
              <a:ea typeface="SimSun" panose="02010600030101010101" pitchFamily="2" charset="-122"/>
            </a:endParaRPr>
          </a:p>
          <a:p>
            <a:pPr lvl="2" eaLnBrk="1" hangingPunct="1">
              <a:spcBef>
                <a:spcPct val="40000"/>
              </a:spcBef>
            </a:pPr>
            <a:r>
              <a:rPr lang="en-US" altLang="zh-CN" dirty="0">
                <a:ea typeface="SimSun" panose="02010600030101010101" pitchFamily="2" charset="-122"/>
              </a:rPr>
              <a:t>Both grid-based and subspace clustering</a:t>
            </a:r>
            <a:endParaRPr dirty="0"/>
          </a:p>
        </p:txBody>
      </p:sp>
      <p:sp>
        <p:nvSpPr>
          <p:cNvPr id="61444"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1026"/>
          <p:cNvSpPr>
            <a:spLocks noGrp="1"/>
          </p:cNvSpPr>
          <p:nvPr>
            <p:ph type="title"/>
          </p:nvPr>
        </p:nvSpPr>
        <p:spPr>
          <a:xfrm>
            <a:off x="0" y="228600"/>
            <a:ext cx="9144000" cy="914400"/>
          </a:xfrm>
        </p:spPr>
        <p:txBody>
          <a:bodyPr vert="horz" wrap="square" lIns="92075" tIns="46038" rIns="92075" bIns="46038" anchor="ctr" anchorCtr="0"/>
          <a:p>
            <a:pPr eaLnBrk="1" hangingPunct="1"/>
            <a:r>
              <a:rPr sz="3200" dirty="0"/>
              <a:t>STING: A Statistical Information Grid Approach</a:t>
            </a:r>
            <a:endParaRPr dirty="0"/>
          </a:p>
        </p:txBody>
      </p:sp>
      <p:sp>
        <p:nvSpPr>
          <p:cNvPr id="62467" name="Rectangle 1027"/>
          <p:cNvSpPr>
            <a:spLocks noGrp="1"/>
          </p:cNvSpPr>
          <p:nvPr>
            <p:ph idx="1"/>
          </p:nvPr>
        </p:nvSpPr>
        <p:spPr>
          <a:xfrm>
            <a:off x="304800" y="1371600"/>
            <a:ext cx="8458200" cy="1447800"/>
          </a:xfrm>
        </p:spPr>
        <p:txBody>
          <a:bodyPr vert="horz" wrap="square" lIns="92075" tIns="46038" rIns="92075" bIns="46038" anchor="t" anchorCtr="0"/>
          <a:p>
            <a:pPr eaLnBrk="1" hangingPunct="1">
              <a:lnSpc>
                <a:spcPct val="90000"/>
              </a:lnSpc>
            </a:pPr>
            <a:r>
              <a:rPr sz="2400" dirty="0"/>
              <a:t>Wang, Yang and Muntz (VLDB’97)</a:t>
            </a:r>
            <a:endParaRPr sz="2400" dirty="0"/>
          </a:p>
          <a:p>
            <a:pPr eaLnBrk="1" hangingPunct="1">
              <a:lnSpc>
                <a:spcPct val="90000"/>
              </a:lnSpc>
            </a:pPr>
            <a:r>
              <a:rPr sz="2400" dirty="0"/>
              <a:t>The spatial area is divided into rectangular cells</a:t>
            </a:r>
            <a:endParaRPr sz="2400" dirty="0"/>
          </a:p>
          <a:p>
            <a:pPr eaLnBrk="1" hangingPunct="1">
              <a:lnSpc>
                <a:spcPct val="90000"/>
              </a:lnSpc>
            </a:pPr>
            <a:r>
              <a:rPr sz="2400" dirty="0"/>
              <a:t>There are several levels of cells corresponding to different levels of resolution</a:t>
            </a:r>
            <a:endParaRPr sz="2400" dirty="0"/>
          </a:p>
          <a:p>
            <a:pPr eaLnBrk="1" hangingPunct="1">
              <a:lnSpc>
                <a:spcPct val="90000"/>
              </a:lnSpc>
            </a:pPr>
            <a:endParaRPr sz="2400" dirty="0"/>
          </a:p>
        </p:txBody>
      </p:sp>
      <p:sp>
        <p:nvSpPr>
          <p:cNvPr id="62468" name="Line 1028"/>
          <p:cNvSpPr/>
          <p:nvPr/>
        </p:nvSpPr>
        <p:spPr>
          <a:xfrm>
            <a:off x="9124950" y="4724400"/>
            <a:ext cx="0" cy="1524000"/>
          </a:xfrm>
          <a:prstGeom prst="line">
            <a:avLst/>
          </a:prstGeom>
          <a:ln w="9525" cap="rnd" cmpd="sng">
            <a:solidFill>
              <a:schemeClr val="tx1"/>
            </a:solidFill>
            <a:prstDash val="sysDot"/>
            <a:headEnd type="none" w="med" len="med"/>
            <a:tailEnd type="none" w="med" len="med"/>
          </a:ln>
        </p:spPr>
      </p:sp>
      <p:sp>
        <p:nvSpPr>
          <p:cNvPr id="62469" name="Slide Number Placeholder 8"/>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graphicFrame>
        <p:nvGraphicFramePr>
          <p:cNvPr id="62470" name="Object 8"/>
          <p:cNvGraphicFramePr>
            <a:graphicFrameLocks noChangeAspect="1"/>
          </p:cNvGraphicFramePr>
          <p:nvPr/>
        </p:nvGraphicFramePr>
        <p:xfrm>
          <a:off x="760413" y="3106738"/>
          <a:ext cx="7623175" cy="3217862"/>
        </p:xfrm>
        <a:graphic>
          <a:graphicData uri="http://schemas.openxmlformats.org/presentationml/2006/ole">
            <mc:AlternateContent xmlns:mc="http://schemas.openxmlformats.org/markup-compatibility/2006">
              <mc:Choice xmlns:v="urn:schemas-microsoft-com:vml" Requires="v">
                <p:oleObj spid="_x0000_s3104" name="" r:id="rId1" imgW="44841160" imgH="18933160" progId="SmartDraw.2">
                  <p:embed/>
                </p:oleObj>
              </mc:Choice>
              <mc:Fallback>
                <p:oleObj name="" r:id="rId1" imgW="44841160" imgH="18933160" progId="SmartDraw.2">
                  <p:embed/>
                  <p:pic>
                    <p:nvPicPr>
                      <p:cNvPr id="0" name="Picture 3103"/>
                      <p:cNvPicPr/>
                      <p:nvPr/>
                    </p:nvPicPr>
                    <p:blipFill>
                      <a:blip r:embed="rId2"/>
                      <a:stretch>
                        <a:fillRect/>
                      </a:stretch>
                    </p:blipFill>
                    <p:spPr>
                      <a:xfrm>
                        <a:off x="760413" y="3106738"/>
                        <a:ext cx="7623175" cy="3217862"/>
                      </a:xfrm>
                      <a:prstGeom prst="rect">
                        <a:avLst/>
                      </a:prstGeom>
                      <a:noFill/>
                      <a:ln w="38100">
                        <a:noFill/>
                        <a:miter/>
                      </a:ln>
                    </p:spPr>
                  </p:pic>
                </p:oleObj>
              </mc:Fallback>
            </mc:AlternateContent>
          </a:graphicData>
        </a:graphic>
      </p:graphicFrame>
    </p:spTree>
  </p:cSld>
  <p:clrMapOvr>
    <a:masterClrMapping/>
  </p:clrMapOvr>
  <p:transition>
    <p:zo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type="title"/>
          </p:nvPr>
        </p:nvSpPr>
        <p:spPr>
          <a:xfrm>
            <a:off x="457200" y="228600"/>
            <a:ext cx="8153400" cy="914400"/>
          </a:xfrm>
        </p:spPr>
        <p:txBody>
          <a:bodyPr vert="horz" wrap="square" lIns="92075" tIns="46038" rIns="92075" bIns="46038" anchor="ctr" anchorCtr="0"/>
          <a:p>
            <a:pPr eaLnBrk="1" hangingPunct="1"/>
            <a:r>
              <a:rPr dirty="0"/>
              <a:t>The STING Clustering Method</a:t>
            </a:r>
            <a:endParaRPr dirty="0"/>
          </a:p>
        </p:txBody>
      </p:sp>
      <p:sp>
        <p:nvSpPr>
          <p:cNvPr id="63491" name="Rectangle 3"/>
          <p:cNvSpPr>
            <a:spLocks noGrp="1"/>
          </p:cNvSpPr>
          <p:nvPr>
            <p:ph idx="1"/>
          </p:nvPr>
        </p:nvSpPr>
        <p:spPr>
          <a:xfrm>
            <a:off x="304800" y="1295400"/>
            <a:ext cx="8458200" cy="5257800"/>
          </a:xfrm>
        </p:spPr>
        <p:txBody>
          <a:bodyPr vert="horz" wrap="square" lIns="92075" tIns="46038" rIns="92075" bIns="46038" anchor="t" anchorCtr="0"/>
          <a:p>
            <a:pPr eaLnBrk="1" hangingPunct="1"/>
            <a:r>
              <a:rPr sz="2400" dirty="0"/>
              <a:t>Each cell at a high level is partitioned into a number of smaller cells in the next lower level</a:t>
            </a:r>
            <a:endParaRPr sz="2400" dirty="0"/>
          </a:p>
          <a:p>
            <a:pPr eaLnBrk="1" hangingPunct="1"/>
            <a:r>
              <a:rPr sz="2400" dirty="0"/>
              <a:t>Statistical info of each cell is calculated and stored beforehand and is used to answer queries</a:t>
            </a:r>
            <a:endParaRPr sz="2400" dirty="0"/>
          </a:p>
          <a:p>
            <a:pPr eaLnBrk="1" hangingPunct="1"/>
            <a:r>
              <a:rPr sz="2400" dirty="0"/>
              <a:t>Parameters of higher level cells can be easily calculated from parameters of lower level cell</a:t>
            </a:r>
            <a:endParaRPr sz="2400" dirty="0"/>
          </a:p>
          <a:p>
            <a:pPr lvl="1" eaLnBrk="1" hangingPunct="1"/>
            <a:r>
              <a:rPr sz="2400" i="1" dirty="0"/>
              <a:t>count</a:t>
            </a:r>
            <a:r>
              <a:rPr sz="2400" dirty="0"/>
              <a:t>, </a:t>
            </a:r>
            <a:r>
              <a:rPr sz="2400" i="1" dirty="0"/>
              <a:t>mean</a:t>
            </a:r>
            <a:r>
              <a:rPr sz="2400" dirty="0"/>
              <a:t>, </a:t>
            </a:r>
            <a:r>
              <a:rPr sz="2400" i="1" dirty="0"/>
              <a:t>s</a:t>
            </a:r>
            <a:r>
              <a:rPr sz="2400" dirty="0"/>
              <a:t>, </a:t>
            </a:r>
            <a:r>
              <a:rPr sz="2400" i="1" dirty="0"/>
              <a:t>min</a:t>
            </a:r>
            <a:r>
              <a:rPr sz="2400" dirty="0"/>
              <a:t>, </a:t>
            </a:r>
            <a:r>
              <a:rPr sz="2400" i="1" dirty="0"/>
              <a:t>max</a:t>
            </a:r>
            <a:r>
              <a:rPr sz="2400" dirty="0"/>
              <a:t> </a:t>
            </a:r>
            <a:endParaRPr sz="2400" dirty="0"/>
          </a:p>
          <a:p>
            <a:pPr lvl="1" eaLnBrk="1" hangingPunct="1"/>
            <a:r>
              <a:rPr sz="2400" dirty="0"/>
              <a:t>type of distribution—</a:t>
            </a:r>
            <a:r>
              <a:rPr sz="2400" i="1" dirty="0"/>
              <a:t>normal</a:t>
            </a:r>
            <a:r>
              <a:rPr sz="2400" dirty="0"/>
              <a:t>, </a:t>
            </a:r>
            <a:r>
              <a:rPr sz="2400" i="1" dirty="0"/>
              <a:t>uniform</a:t>
            </a:r>
            <a:r>
              <a:rPr sz="2400" dirty="0"/>
              <a:t>, etc.</a:t>
            </a:r>
            <a:endParaRPr sz="2400" dirty="0"/>
          </a:p>
          <a:p>
            <a:pPr eaLnBrk="1" hangingPunct="1"/>
            <a:r>
              <a:rPr sz="2400" dirty="0"/>
              <a:t>Use a top-down approach to answer spatial data queries</a:t>
            </a:r>
            <a:endParaRPr sz="2400" dirty="0"/>
          </a:p>
          <a:p>
            <a:pPr eaLnBrk="1" hangingPunct="1"/>
            <a:r>
              <a:rPr sz="2400" dirty="0"/>
              <a:t>Start from a pre-selected layer—typically with a small number of cells</a:t>
            </a:r>
            <a:endParaRPr sz="2400" dirty="0"/>
          </a:p>
          <a:p>
            <a:pPr eaLnBrk="1" hangingPunct="1"/>
            <a:r>
              <a:rPr sz="2400" dirty="0"/>
              <a:t>For each cell in the current level compute the confidence interval</a:t>
            </a:r>
            <a:endParaRPr sz="2400" dirty="0"/>
          </a:p>
        </p:txBody>
      </p:sp>
      <p:sp>
        <p:nvSpPr>
          <p:cNvPr id="63492" name="Line 4"/>
          <p:cNvSpPr/>
          <p:nvPr/>
        </p:nvSpPr>
        <p:spPr>
          <a:xfrm>
            <a:off x="9124950" y="4724400"/>
            <a:ext cx="0" cy="1524000"/>
          </a:xfrm>
          <a:prstGeom prst="line">
            <a:avLst/>
          </a:prstGeom>
          <a:ln w="9525" cap="rnd" cmpd="sng">
            <a:solidFill>
              <a:schemeClr val="tx1"/>
            </a:solidFill>
            <a:prstDash val="sysDot"/>
            <a:headEnd type="none" w="med" len="med"/>
            <a:tailEnd type="none" w="med" len="med"/>
          </a:ln>
        </p:spPr>
      </p:sp>
      <p:sp>
        <p:nvSpPr>
          <p:cNvPr id="63493" name="Line 5"/>
          <p:cNvSpPr/>
          <p:nvPr/>
        </p:nvSpPr>
        <p:spPr>
          <a:xfrm>
            <a:off x="9124950" y="6248400"/>
            <a:ext cx="0" cy="609600"/>
          </a:xfrm>
          <a:prstGeom prst="line">
            <a:avLst/>
          </a:prstGeom>
          <a:ln w="9525" cap="flat" cmpd="sng">
            <a:solidFill>
              <a:schemeClr val="tx1"/>
            </a:solidFill>
            <a:prstDash val="solid"/>
            <a:headEnd type="none" w="med" len="med"/>
            <a:tailEnd type="none" w="med" len="med"/>
          </a:ln>
        </p:spPr>
      </p:sp>
      <p:sp>
        <p:nvSpPr>
          <p:cNvPr id="63494" name="Line 6"/>
          <p:cNvSpPr/>
          <p:nvPr/>
        </p:nvSpPr>
        <p:spPr>
          <a:xfrm>
            <a:off x="9124950" y="5638800"/>
            <a:ext cx="0" cy="609600"/>
          </a:xfrm>
          <a:prstGeom prst="line">
            <a:avLst/>
          </a:prstGeom>
          <a:ln w="9525" cap="flat" cmpd="sng">
            <a:solidFill>
              <a:schemeClr val="tx1"/>
            </a:solidFill>
            <a:prstDash val="solid"/>
            <a:headEnd type="none" w="med" len="med"/>
            <a:tailEnd type="none" w="med" len="med"/>
          </a:ln>
        </p:spPr>
      </p:sp>
      <p:sp>
        <p:nvSpPr>
          <p:cNvPr id="63495" name="Slide Number Placeholder 9"/>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2"/>
          <p:cNvSpPr>
            <a:spLocks noGrp="1"/>
          </p:cNvSpPr>
          <p:nvPr>
            <p:ph type="title"/>
          </p:nvPr>
        </p:nvSpPr>
        <p:spPr>
          <a:xfrm>
            <a:off x="304800" y="228600"/>
            <a:ext cx="8610600" cy="838200"/>
          </a:xfrm>
        </p:spPr>
        <p:txBody>
          <a:bodyPr vert="horz" wrap="square" lIns="92075" tIns="46038" rIns="92075" bIns="46038" anchor="ctr" anchorCtr="0"/>
          <a:p>
            <a:pPr eaLnBrk="1" hangingPunct="1"/>
            <a:r>
              <a:rPr dirty="0"/>
              <a:t>STING Algorithm and Its Analysis</a:t>
            </a:r>
            <a:endParaRPr dirty="0"/>
          </a:p>
        </p:txBody>
      </p:sp>
      <p:sp>
        <p:nvSpPr>
          <p:cNvPr id="64515" name="Rectangle 3"/>
          <p:cNvSpPr>
            <a:spLocks noGrp="1"/>
          </p:cNvSpPr>
          <p:nvPr>
            <p:ph idx="1"/>
          </p:nvPr>
        </p:nvSpPr>
        <p:spPr>
          <a:xfrm>
            <a:off x="381000" y="1447800"/>
            <a:ext cx="8305800" cy="4953000"/>
          </a:xfrm>
        </p:spPr>
        <p:txBody>
          <a:bodyPr vert="horz" wrap="square" lIns="92075" tIns="46038" rIns="92075" bIns="46038" anchor="t" anchorCtr="0"/>
          <a:p>
            <a:pPr eaLnBrk="1" hangingPunct="1">
              <a:lnSpc>
                <a:spcPct val="90000"/>
              </a:lnSpc>
              <a:spcBef>
                <a:spcPct val="25000"/>
              </a:spcBef>
            </a:pPr>
            <a:r>
              <a:rPr sz="2400" dirty="0"/>
              <a:t>Remove the irrelevant cells from further consideration</a:t>
            </a:r>
            <a:endParaRPr sz="2400" dirty="0"/>
          </a:p>
          <a:p>
            <a:pPr eaLnBrk="1" hangingPunct="1">
              <a:lnSpc>
                <a:spcPct val="90000"/>
              </a:lnSpc>
              <a:spcBef>
                <a:spcPct val="25000"/>
              </a:spcBef>
            </a:pPr>
            <a:r>
              <a:rPr sz="2400" dirty="0"/>
              <a:t>When finish examining the current layer, proceed to the next lower level </a:t>
            </a:r>
            <a:endParaRPr sz="2400" dirty="0"/>
          </a:p>
          <a:p>
            <a:pPr eaLnBrk="1" hangingPunct="1">
              <a:lnSpc>
                <a:spcPct val="90000"/>
              </a:lnSpc>
              <a:spcBef>
                <a:spcPct val="25000"/>
              </a:spcBef>
            </a:pPr>
            <a:r>
              <a:rPr sz="2400" dirty="0"/>
              <a:t>Repeat this process until the bottom layer is reached</a:t>
            </a:r>
            <a:endParaRPr sz="2400" dirty="0"/>
          </a:p>
          <a:p>
            <a:pPr eaLnBrk="1" hangingPunct="1">
              <a:lnSpc>
                <a:spcPct val="90000"/>
              </a:lnSpc>
              <a:spcBef>
                <a:spcPct val="25000"/>
              </a:spcBef>
            </a:pPr>
            <a:r>
              <a:rPr sz="2400" dirty="0"/>
              <a:t>Advantages:</a:t>
            </a:r>
            <a:endParaRPr sz="2400" dirty="0"/>
          </a:p>
          <a:p>
            <a:pPr lvl="1" eaLnBrk="1" hangingPunct="1">
              <a:lnSpc>
                <a:spcPct val="90000"/>
              </a:lnSpc>
              <a:spcBef>
                <a:spcPct val="25000"/>
              </a:spcBef>
            </a:pPr>
            <a:r>
              <a:rPr sz="2400" dirty="0"/>
              <a:t>Query-independent, easy to parallelize, incremental update</a:t>
            </a:r>
            <a:endParaRPr sz="2400" dirty="0"/>
          </a:p>
          <a:p>
            <a:pPr lvl="1" eaLnBrk="1" hangingPunct="1">
              <a:lnSpc>
                <a:spcPct val="90000"/>
              </a:lnSpc>
              <a:spcBef>
                <a:spcPct val="25000"/>
              </a:spcBef>
            </a:pPr>
            <a:r>
              <a:rPr sz="2400" i="1" dirty="0"/>
              <a:t>O(K),</a:t>
            </a:r>
            <a:r>
              <a:rPr sz="2400" dirty="0"/>
              <a:t> where </a:t>
            </a:r>
            <a:r>
              <a:rPr sz="2400" i="1" dirty="0"/>
              <a:t>K</a:t>
            </a:r>
            <a:r>
              <a:rPr sz="2400" dirty="0"/>
              <a:t> is the number of grid cells at the lowest level </a:t>
            </a:r>
            <a:endParaRPr sz="2400" dirty="0"/>
          </a:p>
          <a:p>
            <a:pPr eaLnBrk="1" hangingPunct="1">
              <a:lnSpc>
                <a:spcPct val="90000"/>
              </a:lnSpc>
              <a:spcBef>
                <a:spcPct val="25000"/>
              </a:spcBef>
            </a:pPr>
            <a:r>
              <a:rPr sz="2400" dirty="0"/>
              <a:t>Disadvantages:</a:t>
            </a:r>
            <a:endParaRPr sz="2400" dirty="0"/>
          </a:p>
          <a:p>
            <a:pPr lvl="1" eaLnBrk="1" hangingPunct="1">
              <a:lnSpc>
                <a:spcPct val="90000"/>
              </a:lnSpc>
              <a:spcBef>
                <a:spcPct val="25000"/>
              </a:spcBef>
            </a:pPr>
            <a:r>
              <a:rPr sz="2400" dirty="0"/>
              <a:t>All the cluster boundaries are either horizontal or vertical, and no diagonal boundary is detected</a:t>
            </a:r>
            <a:endParaRPr sz="2400" dirty="0"/>
          </a:p>
        </p:txBody>
      </p:sp>
      <p:sp>
        <p:nvSpPr>
          <p:cNvPr id="64516" name="Line 4"/>
          <p:cNvSpPr/>
          <p:nvPr/>
        </p:nvSpPr>
        <p:spPr>
          <a:xfrm>
            <a:off x="9124950" y="4724400"/>
            <a:ext cx="0" cy="1524000"/>
          </a:xfrm>
          <a:prstGeom prst="line">
            <a:avLst/>
          </a:prstGeom>
          <a:ln w="9525" cap="rnd" cmpd="sng">
            <a:solidFill>
              <a:schemeClr val="tx1"/>
            </a:solidFill>
            <a:prstDash val="sysDot"/>
            <a:headEnd type="none" w="med" len="med"/>
            <a:tailEnd type="none" w="med" len="med"/>
          </a:ln>
        </p:spPr>
      </p:sp>
      <p:sp>
        <p:nvSpPr>
          <p:cNvPr id="64517" name="Slide Number Placeholder 7"/>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65539" name="Rectangle 2"/>
          <p:cNvSpPr>
            <a:spLocks noGrp="1"/>
          </p:cNvSpPr>
          <p:nvPr>
            <p:ph type="title"/>
          </p:nvPr>
        </p:nvSpPr>
        <p:spPr>
          <a:xfrm>
            <a:off x="681038" y="436563"/>
            <a:ext cx="7226300" cy="498475"/>
          </a:xfrm>
        </p:spPr>
        <p:txBody>
          <a:bodyPr vert="horz" wrap="square" lIns="91440" tIns="45720" rIns="91440" bIns="45720" anchor="b" anchorCtr="0"/>
          <a:p>
            <a:pPr eaLnBrk="1" hangingPunct="1"/>
            <a:r>
              <a:rPr sz="3200" dirty="0"/>
              <a:t>CLIQUE (Clustering In QUEst)</a:t>
            </a:r>
            <a:r>
              <a:rPr dirty="0"/>
              <a:t> </a:t>
            </a:r>
            <a:endParaRPr dirty="0"/>
          </a:p>
        </p:txBody>
      </p:sp>
      <p:sp>
        <p:nvSpPr>
          <p:cNvPr id="65540" name="Rectangle 3"/>
          <p:cNvSpPr>
            <a:spLocks noGrp="1"/>
          </p:cNvSpPr>
          <p:nvPr>
            <p:ph type="body" idx="4294967295"/>
          </p:nvPr>
        </p:nvSpPr>
        <p:spPr>
          <a:xfrm>
            <a:off x="228600" y="1447800"/>
            <a:ext cx="8686800" cy="5105400"/>
          </a:xfrm>
        </p:spPr>
        <p:txBody>
          <a:bodyPr vert="horz" wrap="square" lIns="91440" tIns="45720" rIns="91440" bIns="45720" anchor="t" anchorCtr="0"/>
          <a:p>
            <a:pPr eaLnBrk="1" hangingPunct="1">
              <a:lnSpc>
                <a:spcPct val="110000"/>
              </a:lnSpc>
              <a:spcBef>
                <a:spcPct val="50000"/>
              </a:spcBef>
              <a:buClr>
                <a:schemeClr val="tx1"/>
              </a:buClr>
            </a:pPr>
            <a:r>
              <a:rPr sz="2000" dirty="0"/>
              <a:t>Agrawal, Gehrke, Gunopulos, Raghavan (SIGMOD’98)</a:t>
            </a:r>
            <a:endParaRPr sz="2000" dirty="0"/>
          </a:p>
          <a:p>
            <a:pPr eaLnBrk="1" hangingPunct="1">
              <a:lnSpc>
                <a:spcPct val="110000"/>
              </a:lnSpc>
              <a:spcBef>
                <a:spcPct val="50000"/>
              </a:spcBef>
              <a:buClr>
                <a:schemeClr val="tx1"/>
              </a:buClr>
            </a:pPr>
            <a:r>
              <a:rPr sz="2000" dirty="0"/>
              <a:t>Automatically identifying subspaces of a high dimensional data space that allow better clustering than original space </a:t>
            </a:r>
            <a:endParaRPr sz="2000" dirty="0"/>
          </a:p>
          <a:p>
            <a:pPr eaLnBrk="1" hangingPunct="1">
              <a:lnSpc>
                <a:spcPct val="110000"/>
              </a:lnSpc>
              <a:spcBef>
                <a:spcPct val="50000"/>
              </a:spcBef>
              <a:buClr>
                <a:schemeClr val="tx1"/>
              </a:buClr>
            </a:pPr>
            <a:r>
              <a:rPr sz="2000" dirty="0"/>
              <a:t>CLIQUE can be considered as both density-based and grid-based</a:t>
            </a:r>
            <a:endParaRPr sz="2000" dirty="0"/>
          </a:p>
          <a:p>
            <a:pPr lvl="1" eaLnBrk="1" hangingPunct="1">
              <a:lnSpc>
                <a:spcPct val="110000"/>
              </a:lnSpc>
              <a:spcBef>
                <a:spcPct val="50000"/>
              </a:spcBef>
              <a:buClr>
                <a:schemeClr val="tx1"/>
              </a:buClr>
            </a:pPr>
            <a:r>
              <a:rPr sz="2000" dirty="0"/>
              <a:t>It partitions each dimension into the same number of equal length interval</a:t>
            </a:r>
            <a:endParaRPr sz="2000" dirty="0"/>
          </a:p>
          <a:p>
            <a:pPr lvl="1" eaLnBrk="1" hangingPunct="1">
              <a:lnSpc>
                <a:spcPct val="110000"/>
              </a:lnSpc>
              <a:spcBef>
                <a:spcPct val="50000"/>
              </a:spcBef>
              <a:buClr>
                <a:schemeClr val="tx1"/>
              </a:buClr>
            </a:pPr>
            <a:r>
              <a:rPr sz="2000" dirty="0"/>
              <a:t>It partitions an m-dimensional data space into non-overlapping rectangular units</a:t>
            </a:r>
            <a:endParaRPr sz="2000" dirty="0"/>
          </a:p>
          <a:p>
            <a:pPr lvl="1" eaLnBrk="1" hangingPunct="1">
              <a:lnSpc>
                <a:spcPct val="110000"/>
              </a:lnSpc>
              <a:spcBef>
                <a:spcPct val="50000"/>
              </a:spcBef>
              <a:buClr>
                <a:schemeClr val="tx1"/>
              </a:buClr>
            </a:pPr>
            <a:r>
              <a:rPr sz="2000" dirty="0"/>
              <a:t>A unit is dense if the fraction of total data points contained in the unit exceeds the input model parameter</a:t>
            </a:r>
            <a:endParaRPr sz="2000" dirty="0"/>
          </a:p>
          <a:p>
            <a:pPr lvl="1" eaLnBrk="1" hangingPunct="1">
              <a:lnSpc>
                <a:spcPct val="110000"/>
              </a:lnSpc>
              <a:spcBef>
                <a:spcPct val="50000"/>
              </a:spcBef>
              <a:buClr>
                <a:schemeClr val="tx1"/>
              </a:buClr>
            </a:pPr>
            <a:r>
              <a:rPr sz="2000" dirty="0"/>
              <a:t>A cluster is a maximal set of connected dense units within a subspace</a:t>
            </a:r>
            <a:endParaRPr sz="2000" dirty="0"/>
          </a:p>
        </p:txBody>
      </p:sp>
    </p:spTree>
  </p:cSld>
  <p:clrMapOvr>
    <a:masterClrMapping/>
  </p:clrMapOvr>
  <p:transition>
    <p:zo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66563" name="Rectangle 2"/>
          <p:cNvSpPr>
            <a:spLocks noGrp="1"/>
          </p:cNvSpPr>
          <p:nvPr>
            <p:ph type="title"/>
          </p:nvPr>
        </p:nvSpPr>
        <p:spPr>
          <a:xfrm>
            <a:off x="681038" y="436563"/>
            <a:ext cx="7226300" cy="498475"/>
          </a:xfrm>
        </p:spPr>
        <p:txBody>
          <a:bodyPr vert="horz" wrap="square" lIns="91440" tIns="45720" rIns="91440" bIns="45720" anchor="b" anchorCtr="0"/>
          <a:p>
            <a:pPr eaLnBrk="1" hangingPunct="1"/>
            <a:r>
              <a:rPr sz="3200" dirty="0"/>
              <a:t>CLIQUE: The Major Steps</a:t>
            </a:r>
            <a:endParaRPr sz="3200" dirty="0"/>
          </a:p>
        </p:txBody>
      </p:sp>
      <p:sp>
        <p:nvSpPr>
          <p:cNvPr id="66564" name="Rectangle 3"/>
          <p:cNvSpPr>
            <a:spLocks noGrp="1"/>
          </p:cNvSpPr>
          <p:nvPr>
            <p:ph type="body" idx="4294967295"/>
          </p:nvPr>
        </p:nvSpPr>
        <p:spPr>
          <a:xfrm>
            <a:off x="304800" y="1371600"/>
            <a:ext cx="8610600" cy="4953000"/>
          </a:xfrm>
        </p:spPr>
        <p:txBody>
          <a:bodyPr vert="horz" wrap="square" lIns="91440" tIns="45720" rIns="91440" bIns="45720" anchor="t" anchorCtr="0"/>
          <a:p>
            <a:pPr eaLnBrk="1" hangingPunct="1">
              <a:lnSpc>
                <a:spcPct val="90000"/>
              </a:lnSpc>
              <a:spcBef>
                <a:spcPct val="50000"/>
              </a:spcBef>
              <a:buClr>
                <a:schemeClr val="tx1"/>
              </a:buClr>
            </a:pPr>
            <a:r>
              <a:rPr sz="2400" dirty="0">
                <a:solidFill>
                  <a:srgbClr val="261C6E"/>
                </a:solidFill>
              </a:rPr>
              <a:t>Partition the data space and find the number of points that lie inside each cell of the partition.</a:t>
            </a:r>
            <a:endParaRPr sz="2400" dirty="0">
              <a:solidFill>
                <a:srgbClr val="261C6E"/>
              </a:solidFill>
            </a:endParaRPr>
          </a:p>
          <a:p>
            <a:pPr eaLnBrk="1" hangingPunct="1">
              <a:lnSpc>
                <a:spcPct val="90000"/>
              </a:lnSpc>
              <a:spcBef>
                <a:spcPct val="50000"/>
              </a:spcBef>
              <a:buClr>
                <a:schemeClr val="tx1"/>
              </a:buClr>
            </a:pPr>
            <a:r>
              <a:rPr sz="2400" dirty="0">
                <a:solidFill>
                  <a:srgbClr val="261C6E"/>
                </a:solidFill>
              </a:rPr>
              <a:t>Identify the subspaces that contain clusters using the Apriori principle</a:t>
            </a:r>
            <a:endParaRPr sz="2400" dirty="0">
              <a:solidFill>
                <a:srgbClr val="261C6E"/>
              </a:solidFill>
            </a:endParaRPr>
          </a:p>
          <a:p>
            <a:pPr eaLnBrk="1" hangingPunct="1">
              <a:lnSpc>
                <a:spcPct val="90000"/>
              </a:lnSpc>
              <a:spcBef>
                <a:spcPct val="50000"/>
              </a:spcBef>
              <a:buClr>
                <a:schemeClr val="tx1"/>
              </a:buClr>
            </a:pPr>
            <a:r>
              <a:rPr sz="2400" dirty="0">
                <a:solidFill>
                  <a:srgbClr val="261C6E"/>
                </a:solidFill>
              </a:rPr>
              <a:t>Identify clusters</a:t>
            </a:r>
            <a:endParaRPr sz="2400" dirty="0"/>
          </a:p>
          <a:p>
            <a:pPr lvl="1" eaLnBrk="1" hangingPunct="1">
              <a:lnSpc>
                <a:spcPct val="90000"/>
              </a:lnSpc>
              <a:spcBef>
                <a:spcPct val="50000"/>
              </a:spcBef>
              <a:buClr>
                <a:schemeClr val="tx1"/>
              </a:buClr>
            </a:pPr>
            <a:r>
              <a:rPr sz="2400" dirty="0"/>
              <a:t>Determine dense units in all subspaces of interests</a:t>
            </a:r>
            <a:endParaRPr sz="2400" dirty="0"/>
          </a:p>
          <a:p>
            <a:pPr lvl="1" eaLnBrk="1" hangingPunct="1">
              <a:lnSpc>
                <a:spcPct val="90000"/>
              </a:lnSpc>
            </a:pPr>
            <a:r>
              <a:rPr sz="2400" dirty="0"/>
              <a:t>Determine connected dense units in all subspaces of interests.</a:t>
            </a:r>
            <a:endParaRPr sz="2400" dirty="0"/>
          </a:p>
          <a:p>
            <a:pPr eaLnBrk="1" hangingPunct="1">
              <a:lnSpc>
                <a:spcPct val="90000"/>
              </a:lnSpc>
              <a:spcBef>
                <a:spcPct val="50000"/>
              </a:spcBef>
              <a:buClr>
                <a:schemeClr val="tx1"/>
              </a:buClr>
            </a:pPr>
            <a:r>
              <a:rPr sz="2400" dirty="0">
                <a:solidFill>
                  <a:srgbClr val="261C6E"/>
                </a:solidFill>
              </a:rPr>
              <a:t>Generate minimal description for the clusters</a:t>
            </a:r>
            <a:endParaRPr sz="2400" dirty="0"/>
          </a:p>
          <a:p>
            <a:pPr lvl="1" eaLnBrk="1" hangingPunct="1">
              <a:lnSpc>
                <a:spcPct val="90000"/>
              </a:lnSpc>
            </a:pPr>
            <a:r>
              <a:rPr sz="2400" dirty="0"/>
              <a:t>Determine maximal regions that cover a cluster of connected dense units for each cluster</a:t>
            </a:r>
            <a:endParaRPr sz="2400" dirty="0"/>
          </a:p>
          <a:p>
            <a:pPr lvl="1" eaLnBrk="1" hangingPunct="1">
              <a:lnSpc>
                <a:spcPct val="90000"/>
              </a:lnSpc>
            </a:pPr>
            <a:r>
              <a:rPr sz="2400" dirty="0"/>
              <a:t>Determination of minimal cover for each cluster</a:t>
            </a:r>
            <a:endParaRPr sz="2400" dirty="0"/>
          </a:p>
        </p:txBody>
      </p:sp>
    </p:spTree>
  </p:cSld>
  <p:clrMapOvr>
    <a:masterClrMapping/>
  </p:clrMapOvr>
  <p:transition>
    <p:zo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Slide Number Placeholder 3"/>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67587" name="Text Box 2"/>
          <p:cNvSpPr txBox="1"/>
          <p:nvPr/>
        </p:nvSpPr>
        <p:spPr>
          <a:xfrm rot="-5400000">
            <a:off x="19050" y="368300"/>
            <a:ext cx="1058863" cy="641350"/>
          </a:xfrm>
          <a:prstGeom prst="rect">
            <a:avLst/>
          </a:prstGeom>
          <a:noFill/>
          <a:ln w="9525">
            <a:noFill/>
          </a:ln>
        </p:spPr>
        <p:txBody>
          <a:bodyPr>
            <a:spAutoFit/>
          </a:bodyPr>
          <a:p>
            <a:pPr algn="l" eaLnBrk="0" hangingPunct="0">
              <a:spcBef>
                <a:spcPct val="50000"/>
              </a:spcBef>
            </a:pPr>
            <a:r>
              <a:rPr sz="1800" dirty="0">
                <a:latin typeface="Times New Roman" panose="02020603050405020304" pitchFamily="18" charset="0"/>
              </a:rPr>
              <a:t>Salary (10,000)</a:t>
            </a:r>
            <a:endParaRPr dirty="0">
              <a:latin typeface="Times New Roman" panose="02020603050405020304" pitchFamily="18" charset="0"/>
            </a:endParaRPr>
          </a:p>
        </p:txBody>
      </p:sp>
      <p:sp>
        <p:nvSpPr>
          <p:cNvPr id="67588" name="Rectangle 3" descr="25%"/>
          <p:cNvSpPr/>
          <p:nvPr/>
        </p:nvSpPr>
        <p:spPr>
          <a:xfrm>
            <a:off x="2133600" y="1066800"/>
            <a:ext cx="914400" cy="1204913"/>
          </a:xfrm>
          <a:prstGeom prst="rect">
            <a:avLst/>
          </a:prstGeom>
          <a:pattFill prst="pct25">
            <a:fgClr>
              <a:schemeClr val="tx2"/>
            </a:fgClr>
            <a:bgClr>
              <a:srgbClr val="FFFFFF"/>
            </a:bgClr>
          </a:pattFill>
          <a:ln w="9525" cap="flat" cmpd="sng">
            <a:solidFill>
              <a:schemeClr val="tx1"/>
            </a:solidFill>
            <a:prstDash val="solid"/>
            <a:miter/>
            <a:headEnd type="none" w="med" len="med"/>
            <a:tailEnd type="none" w="med" len="med"/>
          </a:ln>
        </p:spPr>
        <p:txBody>
          <a:bodyPr anchor="ctr" anchorCtr="0">
            <a:spAutoFit/>
          </a:bodyPr>
          <a:p>
            <a:endParaRPr dirty="0">
              <a:latin typeface="Tahoma" panose="020B0604030504040204" pitchFamily="34" charset="0"/>
            </a:endParaRPr>
          </a:p>
        </p:txBody>
      </p:sp>
      <p:sp>
        <p:nvSpPr>
          <p:cNvPr id="67589" name="Rectangle 4" descr="25%"/>
          <p:cNvSpPr/>
          <p:nvPr/>
        </p:nvSpPr>
        <p:spPr>
          <a:xfrm>
            <a:off x="1524000" y="762000"/>
            <a:ext cx="1219200" cy="1219200"/>
          </a:xfrm>
          <a:prstGeom prst="rect">
            <a:avLst/>
          </a:prstGeom>
          <a:pattFill prst="pct25">
            <a:fgClr>
              <a:schemeClr val="tx2"/>
            </a:fgClr>
            <a:bgClr>
              <a:srgbClr val="FFFFFF"/>
            </a:bgClr>
          </a:pattFill>
          <a:ln w="9525" cap="flat" cmpd="sng">
            <a:solidFill>
              <a:schemeClr val="tx1"/>
            </a:solidFill>
            <a:prstDash val="solid"/>
            <a:miter/>
            <a:headEnd type="none" w="med" len="med"/>
            <a:tailEnd type="none" w="med" len="med"/>
          </a:ln>
        </p:spPr>
        <p:txBody>
          <a:bodyPr anchor="ctr" anchorCtr="0">
            <a:spAutoFit/>
          </a:bodyPr>
          <a:p>
            <a:endParaRPr dirty="0">
              <a:latin typeface="Tahoma" panose="020B0604030504040204" pitchFamily="34" charset="0"/>
            </a:endParaRPr>
          </a:p>
        </p:txBody>
      </p:sp>
      <p:sp>
        <p:nvSpPr>
          <p:cNvPr id="67590" name="Rectangle 5"/>
          <p:cNvSpPr/>
          <p:nvPr/>
        </p:nvSpPr>
        <p:spPr>
          <a:xfrm>
            <a:off x="1219200" y="381000"/>
            <a:ext cx="2438400" cy="2514600"/>
          </a:xfrm>
          <a:prstGeom prst="rect">
            <a:avLst/>
          </a:prstGeom>
          <a:noFill/>
          <a:ln w="9525" cap="flat" cmpd="sng">
            <a:solidFill>
              <a:schemeClr val="tx1"/>
            </a:solidFill>
            <a:prstDash val="solid"/>
            <a:miter/>
            <a:headEnd type="none" w="med" len="med"/>
            <a:tailEnd type="none" w="med" len="med"/>
          </a:ln>
        </p:spPr>
        <p:txBody>
          <a:bodyPr anchor="ctr" anchorCtr="0">
            <a:spAutoFit/>
          </a:bodyPr>
          <a:p>
            <a:endParaRPr dirty="0">
              <a:latin typeface="Tahoma" panose="020B0604030504040204" pitchFamily="34" charset="0"/>
            </a:endParaRPr>
          </a:p>
        </p:txBody>
      </p:sp>
      <p:sp>
        <p:nvSpPr>
          <p:cNvPr id="67591" name="Line 6"/>
          <p:cNvSpPr/>
          <p:nvPr/>
        </p:nvSpPr>
        <p:spPr>
          <a:xfrm>
            <a:off x="2438400" y="381000"/>
            <a:ext cx="0" cy="2514600"/>
          </a:xfrm>
          <a:prstGeom prst="line">
            <a:avLst/>
          </a:prstGeom>
          <a:ln w="9525" cap="flat" cmpd="sng">
            <a:solidFill>
              <a:schemeClr val="tx1"/>
            </a:solidFill>
            <a:prstDash val="solid"/>
            <a:headEnd type="none" w="med" len="med"/>
            <a:tailEnd type="none" w="med" len="med"/>
          </a:ln>
        </p:spPr>
      </p:sp>
      <p:sp>
        <p:nvSpPr>
          <p:cNvPr id="67592" name="Line 7"/>
          <p:cNvSpPr/>
          <p:nvPr/>
        </p:nvSpPr>
        <p:spPr>
          <a:xfrm>
            <a:off x="3048000" y="381000"/>
            <a:ext cx="0" cy="2514600"/>
          </a:xfrm>
          <a:prstGeom prst="line">
            <a:avLst/>
          </a:prstGeom>
          <a:ln w="9525" cap="flat" cmpd="sng">
            <a:solidFill>
              <a:schemeClr val="tx1"/>
            </a:solidFill>
            <a:prstDash val="solid"/>
            <a:headEnd type="none" w="med" len="med"/>
            <a:tailEnd type="none" w="med" len="med"/>
          </a:ln>
        </p:spPr>
      </p:sp>
      <p:sp>
        <p:nvSpPr>
          <p:cNvPr id="67593" name="Line 8"/>
          <p:cNvSpPr/>
          <p:nvPr/>
        </p:nvSpPr>
        <p:spPr>
          <a:xfrm>
            <a:off x="1828800" y="381000"/>
            <a:ext cx="0" cy="2514600"/>
          </a:xfrm>
          <a:prstGeom prst="line">
            <a:avLst/>
          </a:prstGeom>
          <a:ln w="9525" cap="flat" cmpd="sng">
            <a:solidFill>
              <a:schemeClr val="tx1"/>
            </a:solidFill>
            <a:prstDash val="solid"/>
            <a:headEnd type="none" w="med" len="med"/>
            <a:tailEnd type="none" w="med" len="med"/>
          </a:ln>
        </p:spPr>
      </p:sp>
      <p:sp>
        <p:nvSpPr>
          <p:cNvPr id="67594" name="Line 9"/>
          <p:cNvSpPr/>
          <p:nvPr/>
        </p:nvSpPr>
        <p:spPr>
          <a:xfrm>
            <a:off x="3352800" y="381000"/>
            <a:ext cx="0" cy="2514600"/>
          </a:xfrm>
          <a:prstGeom prst="line">
            <a:avLst/>
          </a:prstGeom>
          <a:ln w="9525" cap="flat" cmpd="sng">
            <a:solidFill>
              <a:schemeClr val="tx1"/>
            </a:solidFill>
            <a:prstDash val="solid"/>
            <a:headEnd type="none" w="med" len="med"/>
            <a:tailEnd type="none" w="med" len="med"/>
          </a:ln>
        </p:spPr>
      </p:sp>
      <p:sp>
        <p:nvSpPr>
          <p:cNvPr id="67595" name="Line 10"/>
          <p:cNvSpPr/>
          <p:nvPr/>
        </p:nvSpPr>
        <p:spPr>
          <a:xfrm>
            <a:off x="2743200" y="381000"/>
            <a:ext cx="0" cy="2514600"/>
          </a:xfrm>
          <a:prstGeom prst="line">
            <a:avLst/>
          </a:prstGeom>
          <a:ln w="9525" cap="flat" cmpd="sng">
            <a:solidFill>
              <a:schemeClr val="tx1"/>
            </a:solidFill>
            <a:prstDash val="solid"/>
            <a:headEnd type="none" w="med" len="med"/>
            <a:tailEnd type="none" w="med" len="med"/>
          </a:ln>
        </p:spPr>
      </p:sp>
      <p:sp>
        <p:nvSpPr>
          <p:cNvPr id="67596" name="Line 11"/>
          <p:cNvSpPr/>
          <p:nvPr/>
        </p:nvSpPr>
        <p:spPr>
          <a:xfrm>
            <a:off x="2133600" y="381000"/>
            <a:ext cx="0" cy="2514600"/>
          </a:xfrm>
          <a:prstGeom prst="line">
            <a:avLst/>
          </a:prstGeom>
          <a:ln w="9525" cap="flat" cmpd="sng">
            <a:solidFill>
              <a:schemeClr val="tx1"/>
            </a:solidFill>
            <a:prstDash val="solid"/>
            <a:headEnd type="none" w="med" len="med"/>
            <a:tailEnd type="none" w="med" len="med"/>
          </a:ln>
        </p:spPr>
      </p:sp>
      <p:sp>
        <p:nvSpPr>
          <p:cNvPr id="67597" name="Line 12"/>
          <p:cNvSpPr/>
          <p:nvPr/>
        </p:nvSpPr>
        <p:spPr>
          <a:xfrm>
            <a:off x="1524000" y="381000"/>
            <a:ext cx="0" cy="2514600"/>
          </a:xfrm>
          <a:prstGeom prst="line">
            <a:avLst/>
          </a:prstGeom>
          <a:ln w="9525" cap="flat" cmpd="sng">
            <a:solidFill>
              <a:schemeClr val="tx1"/>
            </a:solidFill>
            <a:prstDash val="solid"/>
            <a:headEnd type="none" w="med" len="med"/>
            <a:tailEnd type="none" w="med" len="med"/>
          </a:ln>
        </p:spPr>
      </p:sp>
      <p:sp>
        <p:nvSpPr>
          <p:cNvPr id="67598" name="Line 13"/>
          <p:cNvSpPr/>
          <p:nvPr/>
        </p:nvSpPr>
        <p:spPr>
          <a:xfrm rot="-5400000" flipH="1">
            <a:off x="2439988" y="458788"/>
            <a:ext cx="0" cy="2435225"/>
          </a:xfrm>
          <a:prstGeom prst="line">
            <a:avLst/>
          </a:prstGeom>
          <a:ln w="9525" cap="flat" cmpd="sng">
            <a:solidFill>
              <a:schemeClr val="tx1"/>
            </a:solidFill>
            <a:prstDash val="solid"/>
            <a:headEnd type="none" w="med" len="med"/>
            <a:tailEnd type="none" w="med" len="med"/>
          </a:ln>
        </p:spPr>
      </p:sp>
      <p:sp>
        <p:nvSpPr>
          <p:cNvPr id="67599" name="Line 14"/>
          <p:cNvSpPr/>
          <p:nvPr/>
        </p:nvSpPr>
        <p:spPr>
          <a:xfrm rot="-5400000" flipH="1">
            <a:off x="2436813" y="1068388"/>
            <a:ext cx="0" cy="2435225"/>
          </a:xfrm>
          <a:prstGeom prst="line">
            <a:avLst/>
          </a:prstGeom>
          <a:ln w="9525" cap="flat" cmpd="sng">
            <a:solidFill>
              <a:schemeClr val="tx1"/>
            </a:solidFill>
            <a:prstDash val="solid"/>
            <a:headEnd type="none" w="med" len="med"/>
            <a:tailEnd type="none" w="med" len="med"/>
          </a:ln>
        </p:spPr>
      </p:sp>
      <p:sp>
        <p:nvSpPr>
          <p:cNvPr id="67600" name="Line 15"/>
          <p:cNvSpPr/>
          <p:nvPr/>
        </p:nvSpPr>
        <p:spPr>
          <a:xfrm rot="-5400000" flipH="1">
            <a:off x="2436813" y="153988"/>
            <a:ext cx="0" cy="2435225"/>
          </a:xfrm>
          <a:prstGeom prst="line">
            <a:avLst/>
          </a:prstGeom>
          <a:ln w="9525" cap="flat" cmpd="sng">
            <a:solidFill>
              <a:schemeClr val="tx1"/>
            </a:solidFill>
            <a:prstDash val="solid"/>
            <a:headEnd type="none" w="med" len="med"/>
            <a:tailEnd type="none" w="med" len="med"/>
          </a:ln>
        </p:spPr>
      </p:sp>
      <p:sp>
        <p:nvSpPr>
          <p:cNvPr id="67601" name="Line 16"/>
          <p:cNvSpPr/>
          <p:nvPr/>
        </p:nvSpPr>
        <p:spPr>
          <a:xfrm rot="-5400000" flipH="1">
            <a:off x="2436813" y="-455612"/>
            <a:ext cx="0" cy="2435225"/>
          </a:xfrm>
          <a:prstGeom prst="line">
            <a:avLst/>
          </a:prstGeom>
          <a:ln w="9525" cap="flat" cmpd="sng">
            <a:solidFill>
              <a:schemeClr val="tx1"/>
            </a:solidFill>
            <a:prstDash val="solid"/>
            <a:headEnd type="none" w="med" len="med"/>
            <a:tailEnd type="none" w="med" len="med"/>
          </a:ln>
        </p:spPr>
      </p:sp>
      <p:sp>
        <p:nvSpPr>
          <p:cNvPr id="67602" name="Line 17"/>
          <p:cNvSpPr/>
          <p:nvPr/>
        </p:nvSpPr>
        <p:spPr>
          <a:xfrm rot="-5400000" flipH="1">
            <a:off x="2436813" y="-150812"/>
            <a:ext cx="0" cy="2435225"/>
          </a:xfrm>
          <a:prstGeom prst="line">
            <a:avLst/>
          </a:prstGeom>
          <a:ln w="9525" cap="flat" cmpd="sng">
            <a:solidFill>
              <a:schemeClr val="tx1"/>
            </a:solidFill>
            <a:prstDash val="solid"/>
            <a:headEnd type="none" w="med" len="med"/>
            <a:tailEnd type="none" w="med" len="med"/>
          </a:ln>
        </p:spPr>
      </p:sp>
      <p:sp>
        <p:nvSpPr>
          <p:cNvPr id="67603" name="Line 18"/>
          <p:cNvSpPr/>
          <p:nvPr/>
        </p:nvSpPr>
        <p:spPr>
          <a:xfrm rot="-5400000" flipH="1">
            <a:off x="2436813" y="763588"/>
            <a:ext cx="0" cy="2435225"/>
          </a:xfrm>
          <a:prstGeom prst="line">
            <a:avLst/>
          </a:prstGeom>
          <a:ln w="9525" cap="flat" cmpd="sng">
            <a:solidFill>
              <a:schemeClr val="tx1"/>
            </a:solidFill>
            <a:prstDash val="solid"/>
            <a:headEnd type="none" w="med" len="med"/>
            <a:tailEnd type="none" w="med" len="med"/>
          </a:ln>
        </p:spPr>
      </p:sp>
      <p:sp>
        <p:nvSpPr>
          <p:cNvPr id="67604" name="Line 19"/>
          <p:cNvSpPr/>
          <p:nvPr/>
        </p:nvSpPr>
        <p:spPr>
          <a:xfrm rot="-5400000" flipH="1">
            <a:off x="2436813" y="1373188"/>
            <a:ext cx="0" cy="2435225"/>
          </a:xfrm>
          <a:prstGeom prst="line">
            <a:avLst/>
          </a:prstGeom>
          <a:ln w="9525" cap="flat" cmpd="sng">
            <a:solidFill>
              <a:schemeClr val="tx1"/>
            </a:solidFill>
            <a:prstDash val="solid"/>
            <a:headEnd type="none" w="med" len="med"/>
            <a:tailEnd type="none" w="med" len="med"/>
          </a:ln>
        </p:spPr>
      </p:sp>
      <p:sp>
        <p:nvSpPr>
          <p:cNvPr id="67605" name="Text Box 20"/>
          <p:cNvSpPr txBox="1"/>
          <p:nvPr/>
        </p:nvSpPr>
        <p:spPr>
          <a:xfrm>
            <a:off x="990600" y="2895600"/>
            <a:ext cx="412750" cy="366713"/>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20</a:t>
            </a:r>
            <a:endParaRPr dirty="0">
              <a:latin typeface="Times New Roman" panose="02020603050405020304" pitchFamily="18" charset="0"/>
            </a:endParaRPr>
          </a:p>
        </p:txBody>
      </p:sp>
      <p:sp>
        <p:nvSpPr>
          <p:cNvPr id="67606" name="Text Box 21"/>
          <p:cNvSpPr txBox="1"/>
          <p:nvPr/>
        </p:nvSpPr>
        <p:spPr>
          <a:xfrm>
            <a:off x="1644650" y="2895600"/>
            <a:ext cx="412750" cy="366713"/>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30</a:t>
            </a:r>
            <a:endParaRPr dirty="0">
              <a:latin typeface="Times New Roman" panose="02020603050405020304" pitchFamily="18" charset="0"/>
            </a:endParaRPr>
          </a:p>
        </p:txBody>
      </p:sp>
      <p:sp>
        <p:nvSpPr>
          <p:cNvPr id="67607" name="Text Box 22"/>
          <p:cNvSpPr txBox="1"/>
          <p:nvPr/>
        </p:nvSpPr>
        <p:spPr>
          <a:xfrm>
            <a:off x="2254250" y="2895600"/>
            <a:ext cx="412750" cy="366713"/>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40</a:t>
            </a:r>
            <a:endParaRPr dirty="0">
              <a:latin typeface="Times New Roman" panose="02020603050405020304" pitchFamily="18" charset="0"/>
            </a:endParaRPr>
          </a:p>
        </p:txBody>
      </p:sp>
      <p:sp>
        <p:nvSpPr>
          <p:cNvPr id="67608" name="Text Box 23"/>
          <p:cNvSpPr txBox="1"/>
          <p:nvPr/>
        </p:nvSpPr>
        <p:spPr>
          <a:xfrm>
            <a:off x="2863850" y="2895600"/>
            <a:ext cx="412750" cy="366713"/>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50</a:t>
            </a:r>
            <a:endParaRPr dirty="0">
              <a:latin typeface="Times New Roman" panose="02020603050405020304" pitchFamily="18" charset="0"/>
            </a:endParaRPr>
          </a:p>
        </p:txBody>
      </p:sp>
      <p:sp>
        <p:nvSpPr>
          <p:cNvPr id="67609" name="Text Box 24"/>
          <p:cNvSpPr txBox="1"/>
          <p:nvPr/>
        </p:nvSpPr>
        <p:spPr>
          <a:xfrm>
            <a:off x="3473450" y="2895600"/>
            <a:ext cx="412750" cy="366713"/>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60</a:t>
            </a:r>
            <a:endParaRPr dirty="0">
              <a:latin typeface="Times New Roman" panose="02020603050405020304" pitchFamily="18" charset="0"/>
            </a:endParaRPr>
          </a:p>
        </p:txBody>
      </p:sp>
      <p:sp>
        <p:nvSpPr>
          <p:cNvPr id="67610" name="Text Box 25"/>
          <p:cNvSpPr txBox="1"/>
          <p:nvPr/>
        </p:nvSpPr>
        <p:spPr>
          <a:xfrm>
            <a:off x="3689350" y="2681288"/>
            <a:ext cx="501650" cy="366712"/>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age</a:t>
            </a:r>
            <a:endParaRPr dirty="0">
              <a:latin typeface="Times New Roman" panose="02020603050405020304" pitchFamily="18" charset="0"/>
            </a:endParaRPr>
          </a:p>
        </p:txBody>
      </p:sp>
      <p:sp>
        <p:nvSpPr>
          <p:cNvPr id="67611" name="Text Box 26"/>
          <p:cNvSpPr txBox="1"/>
          <p:nvPr/>
        </p:nvSpPr>
        <p:spPr>
          <a:xfrm rot="-5400000">
            <a:off x="871538" y="1184275"/>
            <a:ext cx="298450" cy="366713"/>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5</a:t>
            </a:r>
            <a:endParaRPr dirty="0">
              <a:latin typeface="Times New Roman" panose="02020603050405020304" pitchFamily="18" charset="0"/>
            </a:endParaRPr>
          </a:p>
        </p:txBody>
      </p:sp>
      <p:sp>
        <p:nvSpPr>
          <p:cNvPr id="67612" name="Text Box 27"/>
          <p:cNvSpPr txBox="1"/>
          <p:nvPr/>
        </p:nvSpPr>
        <p:spPr>
          <a:xfrm rot="-5400000">
            <a:off x="871538" y="1489075"/>
            <a:ext cx="298450" cy="366713"/>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4</a:t>
            </a:r>
            <a:endParaRPr dirty="0">
              <a:latin typeface="Times New Roman" panose="02020603050405020304" pitchFamily="18" charset="0"/>
            </a:endParaRPr>
          </a:p>
        </p:txBody>
      </p:sp>
      <p:sp>
        <p:nvSpPr>
          <p:cNvPr id="67613" name="Text Box 28"/>
          <p:cNvSpPr txBox="1"/>
          <p:nvPr/>
        </p:nvSpPr>
        <p:spPr>
          <a:xfrm rot="-5400000">
            <a:off x="871538" y="1800225"/>
            <a:ext cx="298450" cy="366713"/>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3</a:t>
            </a:r>
            <a:endParaRPr dirty="0">
              <a:latin typeface="Times New Roman" panose="02020603050405020304" pitchFamily="18" charset="0"/>
            </a:endParaRPr>
          </a:p>
        </p:txBody>
      </p:sp>
      <p:sp>
        <p:nvSpPr>
          <p:cNvPr id="67614" name="Text Box 29"/>
          <p:cNvSpPr txBox="1"/>
          <p:nvPr/>
        </p:nvSpPr>
        <p:spPr>
          <a:xfrm rot="-5400000">
            <a:off x="871538" y="2403475"/>
            <a:ext cx="298450" cy="366713"/>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1</a:t>
            </a:r>
            <a:endParaRPr dirty="0">
              <a:latin typeface="Times New Roman" panose="02020603050405020304" pitchFamily="18" charset="0"/>
            </a:endParaRPr>
          </a:p>
        </p:txBody>
      </p:sp>
      <p:sp>
        <p:nvSpPr>
          <p:cNvPr id="67615" name="Text Box 30"/>
          <p:cNvSpPr txBox="1"/>
          <p:nvPr/>
        </p:nvSpPr>
        <p:spPr>
          <a:xfrm rot="-5400000">
            <a:off x="871538" y="2105025"/>
            <a:ext cx="298450" cy="366713"/>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2</a:t>
            </a:r>
            <a:endParaRPr dirty="0">
              <a:latin typeface="Times New Roman" panose="02020603050405020304" pitchFamily="18" charset="0"/>
            </a:endParaRPr>
          </a:p>
        </p:txBody>
      </p:sp>
      <p:sp>
        <p:nvSpPr>
          <p:cNvPr id="67616" name="Text Box 31"/>
          <p:cNvSpPr txBox="1"/>
          <p:nvPr/>
        </p:nvSpPr>
        <p:spPr>
          <a:xfrm rot="-5400000">
            <a:off x="885825" y="877888"/>
            <a:ext cx="298450" cy="366712"/>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6</a:t>
            </a:r>
            <a:endParaRPr dirty="0">
              <a:latin typeface="Times New Roman" panose="02020603050405020304" pitchFamily="18" charset="0"/>
            </a:endParaRPr>
          </a:p>
        </p:txBody>
      </p:sp>
      <p:sp>
        <p:nvSpPr>
          <p:cNvPr id="67617" name="Text Box 32"/>
          <p:cNvSpPr txBox="1"/>
          <p:nvPr/>
        </p:nvSpPr>
        <p:spPr>
          <a:xfrm rot="-5400000">
            <a:off x="871538" y="573088"/>
            <a:ext cx="298450" cy="366712"/>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7</a:t>
            </a:r>
            <a:endParaRPr dirty="0">
              <a:latin typeface="Times New Roman" panose="02020603050405020304" pitchFamily="18" charset="0"/>
            </a:endParaRPr>
          </a:p>
        </p:txBody>
      </p:sp>
      <p:sp>
        <p:nvSpPr>
          <p:cNvPr id="67618" name="Text Box 33"/>
          <p:cNvSpPr txBox="1"/>
          <p:nvPr/>
        </p:nvSpPr>
        <p:spPr>
          <a:xfrm rot="-5400000">
            <a:off x="885825" y="2698750"/>
            <a:ext cx="298450" cy="366713"/>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0</a:t>
            </a:r>
            <a:endParaRPr dirty="0">
              <a:latin typeface="Times New Roman" panose="02020603050405020304" pitchFamily="18" charset="0"/>
            </a:endParaRPr>
          </a:p>
        </p:txBody>
      </p:sp>
      <p:grpSp>
        <p:nvGrpSpPr>
          <p:cNvPr id="67619" name="Group 34"/>
          <p:cNvGrpSpPr/>
          <p:nvPr/>
        </p:nvGrpSpPr>
        <p:grpSpPr>
          <a:xfrm>
            <a:off x="4648200" y="160338"/>
            <a:ext cx="3921125" cy="3101975"/>
            <a:chOff x="2928" y="101"/>
            <a:chExt cx="2470" cy="1954"/>
          </a:xfrm>
        </p:grpSpPr>
        <p:sp>
          <p:nvSpPr>
            <p:cNvPr id="67709" name="Rectangle 35" descr="25%"/>
            <p:cNvSpPr/>
            <p:nvPr/>
          </p:nvSpPr>
          <p:spPr>
            <a:xfrm>
              <a:off x="3720" y="1248"/>
              <a:ext cx="382" cy="382"/>
            </a:xfrm>
            <a:prstGeom prst="rect">
              <a:avLst/>
            </a:prstGeom>
            <a:pattFill prst="pct25">
              <a:fgClr>
                <a:schemeClr val="tx2"/>
              </a:fgClr>
              <a:bgClr>
                <a:srgbClr val="FFFFFF"/>
              </a:bgClr>
            </a:pattFill>
            <a:ln w="9525" cap="flat" cmpd="sng">
              <a:solidFill>
                <a:schemeClr val="tx1"/>
              </a:solidFill>
              <a:prstDash val="solid"/>
              <a:miter/>
              <a:headEnd type="none" w="med" len="med"/>
              <a:tailEnd type="none" w="med" len="med"/>
            </a:ln>
          </p:spPr>
          <p:txBody>
            <a:bodyPr anchor="ctr" anchorCtr="0">
              <a:spAutoFit/>
            </a:bodyPr>
            <a:p>
              <a:endParaRPr dirty="0">
                <a:latin typeface="Tahoma" panose="020B0604030504040204" pitchFamily="34" charset="0"/>
              </a:endParaRPr>
            </a:p>
          </p:txBody>
        </p:sp>
        <p:sp>
          <p:nvSpPr>
            <p:cNvPr id="67710" name="Rectangle 36" descr="25%"/>
            <p:cNvSpPr/>
            <p:nvPr/>
          </p:nvSpPr>
          <p:spPr>
            <a:xfrm>
              <a:off x="3910" y="1056"/>
              <a:ext cx="384" cy="574"/>
            </a:xfrm>
            <a:prstGeom prst="rect">
              <a:avLst/>
            </a:prstGeom>
            <a:pattFill prst="pct25">
              <a:fgClr>
                <a:schemeClr val="tx2"/>
              </a:fgClr>
              <a:bgClr>
                <a:srgbClr val="FFFFFF"/>
              </a:bgClr>
            </a:pattFill>
            <a:ln w="9525" cap="flat" cmpd="sng">
              <a:solidFill>
                <a:schemeClr val="tx1"/>
              </a:solidFill>
              <a:prstDash val="solid"/>
              <a:miter/>
              <a:headEnd type="none" w="med" len="med"/>
              <a:tailEnd type="none" w="med" len="med"/>
            </a:ln>
          </p:spPr>
          <p:txBody>
            <a:bodyPr anchor="ctr" anchorCtr="0">
              <a:spAutoFit/>
            </a:bodyPr>
            <a:p>
              <a:endParaRPr dirty="0">
                <a:latin typeface="Tahoma" panose="020B0604030504040204" pitchFamily="34" charset="0"/>
              </a:endParaRPr>
            </a:p>
          </p:txBody>
        </p:sp>
        <p:sp>
          <p:nvSpPr>
            <p:cNvPr id="67711" name="Rectangle 37" descr="25%"/>
            <p:cNvSpPr/>
            <p:nvPr/>
          </p:nvSpPr>
          <p:spPr>
            <a:xfrm>
              <a:off x="4102" y="866"/>
              <a:ext cx="384" cy="574"/>
            </a:xfrm>
            <a:prstGeom prst="rect">
              <a:avLst/>
            </a:prstGeom>
            <a:pattFill prst="pct25">
              <a:fgClr>
                <a:schemeClr val="tx2"/>
              </a:fgClr>
              <a:bgClr>
                <a:srgbClr val="FFFFFF"/>
              </a:bgClr>
            </a:pattFill>
            <a:ln w="9525" cap="flat" cmpd="sng">
              <a:solidFill>
                <a:schemeClr val="tx1"/>
              </a:solidFill>
              <a:prstDash val="solid"/>
              <a:miter/>
              <a:headEnd type="none" w="med" len="med"/>
              <a:tailEnd type="none" w="med" len="med"/>
            </a:ln>
          </p:spPr>
          <p:txBody>
            <a:bodyPr anchor="ctr" anchorCtr="0">
              <a:spAutoFit/>
            </a:bodyPr>
            <a:p>
              <a:endParaRPr dirty="0">
                <a:latin typeface="Tahoma" panose="020B0604030504040204" pitchFamily="34" charset="0"/>
              </a:endParaRPr>
            </a:p>
          </p:txBody>
        </p:sp>
        <p:sp>
          <p:nvSpPr>
            <p:cNvPr id="67712" name="Rectangle 38" descr="25%"/>
            <p:cNvSpPr/>
            <p:nvPr/>
          </p:nvSpPr>
          <p:spPr>
            <a:xfrm>
              <a:off x="4294" y="862"/>
              <a:ext cx="384" cy="574"/>
            </a:xfrm>
            <a:prstGeom prst="rect">
              <a:avLst/>
            </a:prstGeom>
            <a:pattFill prst="pct25">
              <a:fgClr>
                <a:schemeClr val="tx2"/>
              </a:fgClr>
              <a:bgClr>
                <a:srgbClr val="FFFFFF"/>
              </a:bgClr>
            </a:pattFill>
            <a:ln w="9525" cap="flat" cmpd="sng">
              <a:solidFill>
                <a:schemeClr val="tx1"/>
              </a:solidFill>
              <a:prstDash val="solid"/>
              <a:miter/>
              <a:headEnd type="none" w="med" len="med"/>
              <a:tailEnd type="none" w="med" len="med"/>
            </a:ln>
          </p:spPr>
          <p:txBody>
            <a:bodyPr anchor="ctr" anchorCtr="0">
              <a:spAutoFit/>
            </a:bodyPr>
            <a:p>
              <a:endParaRPr dirty="0">
                <a:latin typeface="Tahoma" panose="020B0604030504040204" pitchFamily="34" charset="0"/>
              </a:endParaRPr>
            </a:p>
          </p:txBody>
        </p:sp>
        <p:sp>
          <p:nvSpPr>
            <p:cNvPr id="67713" name="Rectangle 39"/>
            <p:cNvSpPr/>
            <p:nvPr/>
          </p:nvSpPr>
          <p:spPr>
            <a:xfrm>
              <a:off x="3526" y="240"/>
              <a:ext cx="1536" cy="1584"/>
            </a:xfrm>
            <a:prstGeom prst="rect">
              <a:avLst/>
            </a:prstGeom>
            <a:noFill/>
            <a:ln w="9525" cap="flat" cmpd="sng">
              <a:solidFill>
                <a:schemeClr val="tx1"/>
              </a:solidFill>
              <a:prstDash val="solid"/>
              <a:miter/>
              <a:headEnd type="none" w="med" len="med"/>
              <a:tailEnd type="none" w="med" len="med"/>
            </a:ln>
          </p:spPr>
          <p:txBody>
            <a:bodyPr anchor="ctr" anchorCtr="0">
              <a:spAutoFit/>
            </a:bodyPr>
            <a:p>
              <a:endParaRPr dirty="0">
                <a:latin typeface="Tahoma" panose="020B0604030504040204" pitchFamily="34" charset="0"/>
              </a:endParaRPr>
            </a:p>
          </p:txBody>
        </p:sp>
        <p:sp>
          <p:nvSpPr>
            <p:cNvPr id="67714" name="Line 40"/>
            <p:cNvSpPr/>
            <p:nvPr/>
          </p:nvSpPr>
          <p:spPr>
            <a:xfrm>
              <a:off x="4294" y="240"/>
              <a:ext cx="0" cy="1584"/>
            </a:xfrm>
            <a:prstGeom prst="line">
              <a:avLst/>
            </a:prstGeom>
            <a:ln w="9525" cap="flat" cmpd="sng">
              <a:solidFill>
                <a:schemeClr val="tx1"/>
              </a:solidFill>
              <a:prstDash val="solid"/>
              <a:headEnd type="none" w="med" len="med"/>
              <a:tailEnd type="none" w="med" len="med"/>
            </a:ln>
          </p:spPr>
        </p:sp>
        <p:sp>
          <p:nvSpPr>
            <p:cNvPr id="67715" name="Line 41"/>
            <p:cNvSpPr/>
            <p:nvPr/>
          </p:nvSpPr>
          <p:spPr>
            <a:xfrm>
              <a:off x="4678" y="240"/>
              <a:ext cx="0" cy="1584"/>
            </a:xfrm>
            <a:prstGeom prst="line">
              <a:avLst/>
            </a:prstGeom>
            <a:ln w="9525" cap="flat" cmpd="sng">
              <a:solidFill>
                <a:schemeClr val="tx1"/>
              </a:solidFill>
              <a:prstDash val="solid"/>
              <a:headEnd type="none" w="med" len="med"/>
              <a:tailEnd type="none" w="med" len="med"/>
            </a:ln>
          </p:spPr>
        </p:sp>
        <p:sp>
          <p:nvSpPr>
            <p:cNvPr id="67716" name="Line 42"/>
            <p:cNvSpPr/>
            <p:nvPr/>
          </p:nvSpPr>
          <p:spPr>
            <a:xfrm>
              <a:off x="3910" y="240"/>
              <a:ext cx="0" cy="1584"/>
            </a:xfrm>
            <a:prstGeom prst="line">
              <a:avLst/>
            </a:prstGeom>
            <a:ln w="9525" cap="flat" cmpd="sng">
              <a:solidFill>
                <a:schemeClr val="tx1"/>
              </a:solidFill>
              <a:prstDash val="solid"/>
              <a:headEnd type="none" w="med" len="med"/>
              <a:tailEnd type="none" w="med" len="med"/>
            </a:ln>
          </p:spPr>
        </p:sp>
        <p:sp>
          <p:nvSpPr>
            <p:cNvPr id="67717" name="Line 43"/>
            <p:cNvSpPr/>
            <p:nvPr/>
          </p:nvSpPr>
          <p:spPr>
            <a:xfrm>
              <a:off x="4870" y="240"/>
              <a:ext cx="0" cy="1584"/>
            </a:xfrm>
            <a:prstGeom prst="line">
              <a:avLst/>
            </a:prstGeom>
            <a:ln w="9525" cap="flat" cmpd="sng">
              <a:solidFill>
                <a:schemeClr val="tx1"/>
              </a:solidFill>
              <a:prstDash val="solid"/>
              <a:headEnd type="none" w="med" len="med"/>
              <a:tailEnd type="none" w="med" len="med"/>
            </a:ln>
          </p:spPr>
        </p:sp>
        <p:sp>
          <p:nvSpPr>
            <p:cNvPr id="67718" name="Line 44"/>
            <p:cNvSpPr/>
            <p:nvPr/>
          </p:nvSpPr>
          <p:spPr>
            <a:xfrm>
              <a:off x="4486" y="240"/>
              <a:ext cx="0" cy="1584"/>
            </a:xfrm>
            <a:prstGeom prst="line">
              <a:avLst/>
            </a:prstGeom>
            <a:ln w="9525" cap="flat" cmpd="sng">
              <a:solidFill>
                <a:schemeClr val="tx1"/>
              </a:solidFill>
              <a:prstDash val="solid"/>
              <a:headEnd type="none" w="med" len="med"/>
              <a:tailEnd type="none" w="med" len="med"/>
            </a:ln>
          </p:spPr>
        </p:sp>
        <p:sp>
          <p:nvSpPr>
            <p:cNvPr id="67719" name="Line 45"/>
            <p:cNvSpPr/>
            <p:nvPr/>
          </p:nvSpPr>
          <p:spPr>
            <a:xfrm>
              <a:off x="4102" y="240"/>
              <a:ext cx="0" cy="1584"/>
            </a:xfrm>
            <a:prstGeom prst="line">
              <a:avLst/>
            </a:prstGeom>
            <a:ln w="9525" cap="flat" cmpd="sng">
              <a:solidFill>
                <a:schemeClr val="tx1"/>
              </a:solidFill>
              <a:prstDash val="solid"/>
              <a:headEnd type="none" w="med" len="med"/>
              <a:tailEnd type="none" w="med" len="med"/>
            </a:ln>
          </p:spPr>
        </p:sp>
        <p:sp>
          <p:nvSpPr>
            <p:cNvPr id="67720" name="Line 46"/>
            <p:cNvSpPr/>
            <p:nvPr/>
          </p:nvSpPr>
          <p:spPr>
            <a:xfrm>
              <a:off x="3718" y="240"/>
              <a:ext cx="0" cy="1584"/>
            </a:xfrm>
            <a:prstGeom prst="line">
              <a:avLst/>
            </a:prstGeom>
            <a:ln w="9525" cap="flat" cmpd="sng">
              <a:solidFill>
                <a:schemeClr val="tx1"/>
              </a:solidFill>
              <a:prstDash val="solid"/>
              <a:headEnd type="none" w="med" len="med"/>
              <a:tailEnd type="none" w="med" len="med"/>
            </a:ln>
          </p:spPr>
        </p:sp>
        <p:sp>
          <p:nvSpPr>
            <p:cNvPr id="67721" name="Line 47"/>
            <p:cNvSpPr/>
            <p:nvPr/>
          </p:nvSpPr>
          <p:spPr>
            <a:xfrm rot="-5400000" flipH="1">
              <a:off x="4295" y="289"/>
              <a:ext cx="0" cy="1534"/>
            </a:xfrm>
            <a:prstGeom prst="line">
              <a:avLst/>
            </a:prstGeom>
            <a:ln w="9525" cap="flat" cmpd="sng">
              <a:solidFill>
                <a:schemeClr val="tx1"/>
              </a:solidFill>
              <a:prstDash val="solid"/>
              <a:headEnd type="none" w="med" len="med"/>
              <a:tailEnd type="none" w="med" len="med"/>
            </a:ln>
          </p:spPr>
        </p:sp>
        <p:sp>
          <p:nvSpPr>
            <p:cNvPr id="67722" name="Line 48"/>
            <p:cNvSpPr/>
            <p:nvPr/>
          </p:nvSpPr>
          <p:spPr>
            <a:xfrm rot="-5400000" flipH="1">
              <a:off x="4293" y="673"/>
              <a:ext cx="0" cy="1534"/>
            </a:xfrm>
            <a:prstGeom prst="line">
              <a:avLst/>
            </a:prstGeom>
            <a:ln w="9525" cap="flat" cmpd="sng">
              <a:solidFill>
                <a:schemeClr val="tx1"/>
              </a:solidFill>
              <a:prstDash val="solid"/>
              <a:headEnd type="none" w="med" len="med"/>
              <a:tailEnd type="none" w="med" len="med"/>
            </a:ln>
          </p:spPr>
        </p:sp>
        <p:sp>
          <p:nvSpPr>
            <p:cNvPr id="67723" name="Line 49"/>
            <p:cNvSpPr/>
            <p:nvPr/>
          </p:nvSpPr>
          <p:spPr>
            <a:xfrm rot="-5400000" flipH="1">
              <a:off x="4293" y="97"/>
              <a:ext cx="0" cy="1534"/>
            </a:xfrm>
            <a:prstGeom prst="line">
              <a:avLst/>
            </a:prstGeom>
            <a:ln w="9525" cap="flat" cmpd="sng">
              <a:solidFill>
                <a:schemeClr val="tx1"/>
              </a:solidFill>
              <a:prstDash val="solid"/>
              <a:headEnd type="none" w="med" len="med"/>
              <a:tailEnd type="none" w="med" len="med"/>
            </a:ln>
          </p:spPr>
        </p:sp>
        <p:sp>
          <p:nvSpPr>
            <p:cNvPr id="67724" name="Line 50"/>
            <p:cNvSpPr/>
            <p:nvPr/>
          </p:nvSpPr>
          <p:spPr>
            <a:xfrm rot="-5400000" flipH="1">
              <a:off x="4293" y="-287"/>
              <a:ext cx="0" cy="1534"/>
            </a:xfrm>
            <a:prstGeom prst="line">
              <a:avLst/>
            </a:prstGeom>
            <a:ln w="9525" cap="flat" cmpd="sng">
              <a:solidFill>
                <a:schemeClr val="tx1"/>
              </a:solidFill>
              <a:prstDash val="solid"/>
              <a:headEnd type="none" w="med" len="med"/>
              <a:tailEnd type="none" w="med" len="med"/>
            </a:ln>
          </p:spPr>
        </p:sp>
        <p:sp>
          <p:nvSpPr>
            <p:cNvPr id="67725" name="Line 51"/>
            <p:cNvSpPr/>
            <p:nvPr/>
          </p:nvSpPr>
          <p:spPr>
            <a:xfrm rot="-5400000" flipH="1">
              <a:off x="4293" y="-95"/>
              <a:ext cx="0" cy="1534"/>
            </a:xfrm>
            <a:prstGeom prst="line">
              <a:avLst/>
            </a:prstGeom>
            <a:ln w="9525" cap="flat" cmpd="sng">
              <a:solidFill>
                <a:schemeClr val="tx1"/>
              </a:solidFill>
              <a:prstDash val="solid"/>
              <a:headEnd type="none" w="med" len="med"/>
              <a:tailEnd type="none" w="med" len="med"/>
            </a:ln>
          </p:spPr>
        </p:sp>
        <p:sp>
          <p:nvSpPr>
            <p:cNvPr id="67726" name="Line 52"/>
            <p:cNvSpPr/>
            <p:nvPr/>
          </p:nvSpPr>
          <p:spPr>
            <a:xfrm rot="-5400000" flipH="1">
              <a:off x="4293" y="481"/>
              <a:ext cx="0" cy="1534"/>
            </a:xfrm>
            <a:prstGeom prst="line">
              <a:avLst/>
            </a:prstGeom>
            <a:ln w="9525" cap="flat" cmpd="sng">
              <a:solidFill>
                <a:schemeClr val="tx1"/>
              </a:solidFill>
              <a:prstDash val="solid"/>
              <a:headEnd type="none" w="med" len="med"/>
              <a:tailEnd type="none" w="med" len="med"/>
            </a:ln>
          </p:spPr>
        </p:sp>
        <p:sp>
          <p:nvSpPr>
            <p:cNvPr id="67727" name="Line 53"/>
            <p:cNvSpPr/>
            <p:nvPr/>
          </p:nvSpPr>
          <p:spPr>
            <a:xfrm rot="-5400000" flipH="1">
              <a:off x="4293" y="865"/>
              <a:ext cx="0" cy="1534"/>
            </a:xfrm>
            <a:prstGeom prst="line">
              <a:avLst/>
            </a:prstGeom>
            <a:ln w="9525" cap="flat" cmpd="sng">
              <a:solidFill>
                <a:schemeClr val="tx1"/>
              </a:solidFill>
              <a:prstDash val="solid"/>
              <a:headEnd type="none" w="med" len="med"/>
              <a:tailEnd type="none" w="med" len="med"/>
            </a:ln>
          </p:spPr>
        </p:sp>
        <p:sp>
          <p:nvSpPr>
            <p:cNvPr id="67728" name="Text Box 54"/>
            <p:cNvSpPr txBox="1"/>
            <p:nvPr/>
          </p:nvSpPr>
          <p:spPr>
            <a:xfrm>
              <a:off x="3382" y="1824"/>
              <a:ext cx="260" cy="231"/>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20</a:t>
              </a:r>
              <a:endParaRPr dirty="0">
                <a:latin typeface="Times New Roman" panose="02020603050405020304" pitchFamily="18" charset="0"/>
              </a:endParaRPr>
            </a:p>
          </p:txBody>
        </p:sp>
        <p:sp>
          <p:nvSpPr>
            <p:cNvPr id="67729" name="Text Box 55"/>
            <p:cNvSpPr txBox="1"/>
            <p:nvPr/>
          </p:nvSpPr>
          <p:spPr>
            <a:xfrm>
              <a:off x="3794" y="1824"/>
              <a:ext cx="260" cy="231"/>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30</a:t>
              </a:r>
              <a:endParaRPr dirty="0">
                <a:latin typeface="Times New Roman" panose="02020603050405020304" pitchFamily="18" charset="0"/>
              </a:endParaRPr>
            </a:p>
          </p:txBody>
        </p:sp>
        <p:sp>
          <p:nvSpPr>
            <p:cNvPr id="67730" name="Text Box 56"/>
            <p:cNvSpPr txBox="1"/>
            <p:nvPr/>
          </p:nvSpPr>
          <p:spPr>
            <a:xfrm>
              <a:off x="4178" y="1824"/>
              <a:ext cx="260" cy="231"/>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40</a:t>
              </a:r>
              <a:endParaRPr dirty="0">
                <a:latin typeface="Times New Roman" panose="02020603050405020304" pitchFamily="18" charset="0"/>
              </a:endParaRPr>
            </a:p>
          </p:txBody>
        </p:sp>
        <p:sp>
          <p:nvSpPr>
            <p:cNvPr id="67731" name="Text Box 57"/>
            <p:cNvSpPr txBox="1"/>
            <p:nvPr/>
          </p:nvSpPr>
          <p:spPr>
            <a:xfrm>
              <a:off x="4562" y="1824"/>
              <a:ext cx="260" cy="231"/>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50</a:t>
              </a:r>
              <a:endParaRPr dirty="0">
                <a:latin typeface="Times New Roman" panose="02020603050405020304" pitchFamily="18" charset="0"/>
              </a:endParaRPr>
            </a:p>
          </p:txBody>
        </p:sp>
        <p:sp>
          <p:nvSpPr>
            <p:cNvPr id="67732" name="Text Box 58"/>
            <p:cNvSpPr txBox="1"/>
            <p:nvPr/>
          </p:nvSpPr>
          <p:spPr>
            <a:xfrm>
              <a:off x="4946" y="1824"/>
              <a:ext cx="260" cy="231"/>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60</a:t>
              </a:r>
              <a:endParaRPr dirty="0">
                <a:latin typeface="Times New Roman" panose="02020603050405020304" pitchFamily="18" charset="0"/>
              </a:endParaRPr>
            </a:p>
          </p:txBody>
        </p:sp>
        <p:sp>
          <p:nvSpPr>
            <p:cNvPr id="67733" name="Text Box 59"/>
            <p:cNvSpPr txBox="1"/>
            <p:nvPr/>
          </p:nvSpPr>
          <p:spPr>
            <a:xfrm>
              <a:off x="5082" y="1689"/>
              <a:ext cx="316" cy="231"/>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age</a:t>
              </a:r>
              <a:endParaRPr dirty="0">
                <a:latin typeface="Times New Roman" panose="02020603050405020304" pitchFamily="18" charset="0"/>
              </a:endParaRPr>
            </a:p>
          </p:txBody>
        </p:sp>
        <p:sp>
          <p:nvSpPr>
            <p:cNvPr id="67734" name="Text Box 60"/>
            <p:cNvSpPr txBox="1"/>
            <p:nvPr/>
          </p:nvSpPr>
          <p:spPr>
            <a:xfrm rot="-5400000">
              <a:off x="3307" y="746"/>
              <a:ext cx="188" cy="231"/>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5</a:t>
              </a:r>
              <a:endParaRPr dirty="0">
                <a:latin typeface="Times New Roman" panose="02020603050405020304" pitchFamily="18" charset="0"/>
              </a:endParaRPr>
            </a:p>
          </p:txBody>
        </p:sp>
        <p:sp>
          <p:nvSpPr>
            <p:cNvPr id="67735" name="Text Box 61"/>
            <p:cNvSpPr txBox="1"/>
            <p:nvPr/>
          </p:nvSpPr>
          <p:spPr>
            <a:xfrm rot="-5400000">
              <a:off x="3307" y="938"/>
              <a:ext cx="188" cy="231"/>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4</a:t>
              </a:r>
              <a:endParaRPr dirty="0">
                <a:latin typeface="Times New Roman" panose="02020603050405020304" pitchFamily="18" charset="0"/>
              </a:endParaRPr>
            </a:p>
          </p:txBody>
        </p:sp>
        <p:sp>
          <p:nvSpPr>
            <p:cNvPr id="67736" name="Text Box 62"/>
            <p:cNvSpPr txBox="1"/>
            <p:nvPr/>
          </p:nvSpPr>
          <p:spPr>
            <a:xfrm rot="-5400000">
              <a:off x="3307" y="1134"/>
              <a:ext cx="188" cy="231"/>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3</a:t>
              </a:r>
              <a:endParaRPr dirty="0">
                <a:latin typeface="Times New Roman" panose="02020603050405020304" pitchFamily="18" charset="0"/>
              </a:endParaRPr>
            </a:p>
          </p:txBody>
        </p:sp>
        <p:sp>
          <p:nvSpPr>
            <p:cNvPr id="67737" name="Text Box 63"/>
            <p:cNvSpPr txBox="1"/>
            <p:nvPr/>
          </p:nvSpPr>
          <p:spPr>
            <a:xfrm rot="-5400000">
              <a:off x="3307" y="1514"/>
              <a:ext cx="188" cy="231"/>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1</a:t>
              </a:r>
              <a:endParaRPr dirty="0">
                <a:latin typeface="Times New Roman" panose="02020603050405020304" pitchFamily="18" charset="0"/>
              </a:endParaRPr>
            </a:p>
          </p:txBody>
        </p:sp>
        <p:sp>
          <p:nvSpPr>
            <p:cNvPr id="67738" name="Text Box 64"/>
            <p:cNvSpPr txBox="1"/>
            <p:nvPr/>
          </p:nvSpPr>
          <p:spPr>
            <a:xfrm rot="-5400000">
              <a:off x="3307" y="1326"/>
              <a:ext cx="188" cy="231"/>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2</a:t>
              </a:r>
              <a:endParaRPr dirty="0">
                <a:latin typeface="Times New Roman" panose="02020603050405020304" pitchFamily="18" charset="0"/>
              </a:endParaRPr>
            </a:p>
          </p:txBody>
        </p:sp>
        <p:sp>
          <p:nvSpPr>
            <p:cNvPr id="67739" name="Text Box 65"/>
            <p:cNvSpPr txBox="1"/>
            <p:nvPr/>
          </p:nvSpPr>
          <p:spPr>
            <a:xfrm rot="-5400000">
              <a:off x="3317" y="552"/>
              <a:ext cx="188" cy="231"/>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6</a:t>
              </a:r>
              <a:endParaRPr dirty="0">
                <a:latin typeface="Times New Roman" panose="02020603050405020304" pitchFamily="18" charset="0"/>
              </a:endParaRPr>
            </a:p>
          </p:txBody>
        </p:sp>
        <p:sp>
          <p:nvSpPr>
            <p:cNvPr id="67740" name="Text Box 66"/>
            <p:cNvSpPr txBox="1"/>
            <p:nvPr/>
          </p:nvSpPr>
          <p:spPr>
            <a:xfrm rot="-5400000">
              <a:off x="3308" y="360"/>
              <a:ext cx="188" cy="231"/>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7</a:t>
              </a:r>
              <a:endParaRPr dirty="0">
                <a:latin typeface="Times New Roman" panose="02020603050405020304" pitchFamily="18" charset="0"/>
              </a:endParaRPr>
            </a:p>
          </p:txBody>
        </p:sp>
        <p:sp>
          <p:nvSpPr>
            <p:cNvPr id="67741" name="Text Box 67"/>
            <p:cNvSpPr txBox="1"/>
            <p:nvPr/>
          </p:nvSpPr>
          <p:spPr>
            <a:xfrm rot="-5400000">
              <a:off x="3316" y="1700"/>
              <a:ext cx="188" cy="231"/>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0</a:t>
              </a:r>
              <a:endParaRPr dirty="0">
                <a:latin typeface="Times New Roman" panose="02020603050405020304" pitchFamily="18" charset="0"/>
              </a:endParaRPr>
            </a:p>
          </p:txBody>
        </p:sp>
        <p:sp>
          <p:nvSpPr>
            <p:cNvPr id="67742" name="Text Box 68"/>
            <p:cNvSpPr txBox="1"/>
            <p:nvPr/>
          </p:nvSpPr>
          <p:spPr>
            <a:xfrm rot="-5400000">
              <a:off x="2796" y="232"/>
              <a:ext cx="667" cy="404"/>
            </a:xfrm>
            <a:prstGeom prst="rect">
              <a:avLst/>
            </a:prstGeom>
            <a:noFill/>
            <a:ln w="9525">
              <a:noFill/>
            </a:ln>
          </p:spPr>
          <p:txBody>
            <a:bodyPr>
              <a:spAutoFit/>
            </a:bodyPr>
            <a:p>
              <a:pPr algn="l" eaLnBrk="0" hangingPunct="0">
                <a:spcBef>
                  <a:spcPct val="50000"/>
                </a:spcBef>
              </a:pPr>
              <a:r>
                <a:rPr sz="1800" dirty="0">
                  <a:latin typeface="Times New Roman" panose="02020603050405020304" pitchFamily="18" charset="0"/>
                </a:rPr>
                <a:t>Vacation(week)</a:t>
              </a:r>
              <a:endParaRPr dirty="0">
                <a:latin typeface="Times New Roman" panose="02020603050405020304" pitchFamily="18" charset="0"/>
              </a:endParaRPr>
            </a:p>
          </p:txBody>
        </p:sp>
      </p:grpSp>
      <p:grpSp>
        <p:nvGrpSpPr>
          <p:cNvPr id="67620" name="Group 69"/>
          <p:cNvGrpSpPr/>
          <p:nvPr/>
        </p:nvGrpSpPr>
        <p:grpSpPr>
          <a:xfrm>
            <a:off x="2209800" y="3505200"/>
            <a:ext cx="5149850" cy="3124200"/>
            <a:chOff x="1776" y="2064"/>
            <a:chExt cx="3244" cy="1968"/>
          </a:xfrm>
        </p:grpSpPr>
        <p:grpSp>
          <p:nvGrpSpPr>
            <p:cNvPr id="67687" name="Group 70"/>
            <p:cNvGrpSpPr/>
            <p:nvPr/>
          </p:nvGrpSpPr>
          <p:grpSpPr>
            <a:xfrm>
              <a:off x="2976" y="2256"/>
              <a:ext cx="672" cy="768"/>
              <a:chOff x="2976" y="2256"/>
              <a:chExt cx="958" cy="768"/>
            </a:xfrm>
          </p:grpSpPr>
          <p:sp>
            <p:nvSpPr>
              <p:cNvPr id="67705" name="Rectangle 71" descr="25%"/>
              <p:cNvSpPr/>
              <p:nvPr/>
            </p:nvSpPr>
            <p:spPr>
              <a:xfrm>
                <a:off x="2976" y="2642"/>
                <a:ext cx="382" cy="382"/>
              </a:xfrm>
              <a:prstGeom prst="rect">
                <a:avLst/>
              </a:prstGeom>
              <a:pattFill prst="pct25">
                <a:fgClr>
                  <a:schemeClr val="tx2"/>
                </a:fgClr>
                <a:bgClr>
                  <a:srgbClr val="FFFFFF"/>
                </a:bgClr>
              </a:pattFill>
              <a:ln w="9525">
                <a:noFill/>
              </a:ln>
            </p:spPr>
            <p:txBody>
              <a:bodyPr anchor="ctr" anchorCtr="0">
                <a:spAutoFit/>
              </a:bodyPr>
              <a:p>
                <a:endParaRPr dirty="0">
                  <a:latin typeface="Tahoma" panose="020B0604030504040204" pitchFamily="34" charset="0"/>
                </a:endParaRPr>
              </a:p>
            </p:txBody>
          </p:sp>
          <p:sp>
            <p:nvSpPr>
              <p:cNvPr id="67706" name="Rectangle 72" descr="25%"/>
              <p:cNvSpPr/>
              <p:nvPr/>
            </p:nvSpPr>
            <p:spPr>
              <a:xfrm>
                <a:off x="3166" y="2450"/>
                <a:ext cx="384" cy="574"/>
              </a:xfrm>
              <a:prstGeom prst="rect">
                <a:avLst/>
              </a:prstGeom>
              <a:pattFill prst="pct25">
                <a:fgClr>
                  <a:schemeClr val="tx2"/>
                </a:fgClr>
                <a:bgClr>
                  <a:srgbClr val="FFFFFF"/>
                </a:bgClr>
              </a:pattFill>
              <a:ln w="9525">
                <a:noFill/>
              </a:ln>
            </p:spPr>
            <p:txBody>
              <a:bodyPr anchor="ctr" anchorCtr="0">
                <a:spAutoFit/>
              </a:bodyPr>
              <a:p>
                <a:endParaRPr dirty="0">
                  <a:latin typeface="Tahoma" panose="020B0604030504040204" pitchFamily="34" charset="0"/>
                </a:endParaRPr>
              </a:p>
            </p:txBody>
          </p:sp>
          <p:sp>
            <p:nvSpPr>
              <p:cNvPr id="67707" name="Rectangle 73" descr="25%"/>
              <p:cNvSpPr/>
              <p:nvPr/>
            </p:nvSpPr>
            <p:spPr>
              <a:xfrm>
                <a:off x="3358" y="2260"/>
                <a:ext cx="384" cy="574"/>
              </a:xfrm>
              <a:prstGeom prst="rect">
                <a:avLst/>
              </a:prstGeom>
              <a:pattFill prst="pct25">
                <a:fgClr>
                  <a:schemeClr val="tx2"/>
                </a:fgClr>
                <a:bgClr>
                  <a:srgbClr val="FFFFFF"/>
                </a:bgClr>
              </a:pattFill>
              <a:ln w="9525">
                <a:noFill/>
              </a:ln>
            </p:spPr>
            <p:txBody>
              <a:bodyPr anchor="ctr" anchorCtr="0">
                <a:spAutoFit/>
              </a:bodyPr>
              <a:p>
                <a:endParaRPr dirty="0">
                  <a:latin typeface="Tahoma" panose="020B0604030504040204" pitchFamily="34" charset="0"/>
                </a:endParaRPr>
              </a:p>
            </p:txBody>
          </p:sp>
          <p:sp>
            <p:nvSpPr>
              <p:cNvPr id="67708" name="Rectangle 74" descr="25%"/>
              <p:cNvSpPr/>
              <p:nvPr/>
            </p:nvSpPr>
            <p:spPr>
              <a:xfrm>
                <a:off x="3550" y="2256"/>
                <a:ext cx="384" cy="574"/>
              </a:xfrm>
              <a:prstGeom prst="rect">
                <a:avLst/>
              </a:prstGeom>
              <a:pattFill prst="pct25">
                <a:fgClr>
                  <a:schemeClr val="tx2"/>
                </a:fgClr>
                <a:bgClr>
                  <a:srgbClr val="FFFFFF"/>
                </a:bgClr>
              </a:pattFill>
              <a:ln w="9525">
                <a:noFill/>
              </a:ln>
            </p:spPr>
            <p:txBody>
              <a:bodyPr anchor="ctr" anchorCtr="0">
                <a:spAutoFit/>
              </a:bodyPr>
              <a:p>
                <a:endParaRPr dirty="0">
                  <a:latin typeface="Tahoma" panose="020B0604030504040204" pitchFamily="34" charset="0"/>
                </a:endParaRPr>
              </a:p>
            </p:txBody>
          </p:sp>
        </p:grpSp>
        <p:sp>
          <p:nvSpPr>
            <p:cNvPr id="67688" name="Rectangle 75"/>
            <p:cNvSpPr/>
            <p:nvPr/>
          </p:nvSpPr>
          <p:spPr>
            <a:xfrm>
              <a:off x="1776" y="2928"/>
              <a:ext cx="2016" cy="1104"/>
            </a:xfrm>
            <a:prstGeom prst="rect">
              <a:avLst/>
            </a:prstGeom>
            <a:solidFill>
              <a:schemeClr val="accent1"/>
            </a:solidFill>
            <a:ln w="9525" cap="flat" cmpd="sng">
              <a:prstDash val="solid"/>
              <a:miter/>
              <a:headEnd type="none" w="med" len="med"/>
              <a:tailEnd type="none" w="med" len="med"/>
            </a:ln>
            <a:scene3d>
              <a:camera prst="legacyObliqueTopRight">
                <a:rot lat="0" lon="0" rev="0"/>
              </a:camera>
              <a:lightRig rig="legacyNormal3" dir="b"/>
            </a:scene3d>
            <a:sp3d extrusionH="3630600" prstMaterial="legacyWireframe">
              <a:bevelT w="13500" h="13500" prst="angle"/>
              <a:bevelB w="13500" h="13500" prst="angle"/>
              <a:extrusionClr>
                <a:schemeClr val="accent1"/>
              </a:extrusionClr>
            </a:sp3d>
          </p:spPr>
          <p:txBody>
            <a:bodyPr wrap="none" anchor="ctr" anchorCtr="0">
              <a:flatTx/>
            </a:bodyPr>
            <a:p>
              <a:endParaRPr dirty="0">
                <a:latin typeface="Tahoma" panose="020B0604030504040204" pitchFamily="34" charset="0"/>
              </a:endParaRPr>
            </a:p>
          </p:txBody>
        </p:sp>
        <p:sp>
          <p:nvSpPr>
            <p:cNvPr id="67689" name="Text Box 76"/>
            <p:cNvSpPr txBox="1"/>
            <p:nvPr/>
          </p:nvSpPr>
          <p:spPr>
            <a:xfrm>
              <a:off x="4704" y="3168"/>
              <a:ext cx="316" cy="231"/>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age</a:t>
              </a:r>
              <a:endParaRPr dirty="0">
                <a:latin typeface="Times New Roman" panose="02020603050405020304" pitchFamily="18" charset="0"/>
              </a:endParaRPr>
            </a:p>
          </p:txBody>
        </p:sp>
        <p:sp>
          <p:nvSpPr>
            <p:cNvPr id="67690" name="Text Box 77"/>
            <p:cNvSpPr txBox="1"/>
            <p:nvPr/>
          </p:nvSpPr>
          <p:spPr>
            <a:xfrm rot="-5400000">
              <a:off x="2143" y="2282"/>
              <a:ext cx="667" cy="231"/>
            </a:xfrm>
            <a:prstGeom prst="rect">
              <a:avLst/>
            </a:prstGeom>
            <a:noFill/>
            <a:ln w="9525">
              <a:noFill/>
            </a:ln>
          </p:spPr>
          <p:txBody>
            <a:bodyPr>
              <a:spAutoFit/>
            </a:bodyPr>
            <a:p>
              <a:pPr algn="l" eaLnBrk="0" hangingPunct="0">
                <a:spcBef>
                  <a:spcPct val="50000"/>
                </a:spcBef>
              </a:pPr>
              <a:r>
                <a:rPr sz="1800" dirty="0">
                  <a:latin typeface="Times New Roman" panose="02020603050405020304" pitchFamily="18" charset="0"/>
                </a:rPr>
                <a:t>Vacation</a:t>
              </a:r>
              <a:endParaRPr dirty="0">
                <a:latin typeface="Times New Roman" panose="02020603050405020304" pitchFamily="18" charset="0"/>
              </a:endParaRPr>
            </a:p>
          </p:txBody>
        </p:sp>
        <p:sp>
          <p:nvSpPr>
            <p:cNvPr id="67691" name="Text Box 78"/>
            <p:cNvSpPr txBox="1"/>
            <p:nvPr/>
          </p:nvSpPr>
          <p:spPr>
            <a:xfrm rot="-2607393">
              <a:off x="2160" y="3072"/>
              <a:ext cx="528" cy="231"/>
            </a:xfrm>
            <a:prstGeom prst="rect">
              <a:avLst/>
            </a:prstGeom>
            <a:noFill/>
            <a:ln w="9525">
              <a:noFill/>
            </a:ln>
          </p:spPr>
          <p:txBody>
            <a:bodyPr>
              <a:spAutoFit/>
            </a:bodyPr>
            <a:p>
              <a:pPr algn="l" eaLnBrk="0" hangingPunct="0">
                <a:spcBef>
                  <a:spcPct val="50000"/>
                </a:spcBef>
              </a:pPr>
              <a:r>
                <a:rPr sz="1800" dirty="0">
                  <a:latin typeface="Times New Roman" panose="02020603050405020304" pitchFamily="18" charset="0"/>
                </a:rPr>
                <a:t>Salary</a:t>
              </a:r>
              <a:endParaRPr dirty="0">
                <a:latin typeface="Times New Roman" panose="02020603050405020304" pitchFamily="18" charset="0"/>
              </a:endParaRPr>
            </a:p>
          </p:txBody>
        </p:sp>
        <p:grpSp>
          <p:nvGrpSpPr>
            <p:cNvPr id="67692" name="Group 79"/>
            <p:cNvGrpSpPr/>
            <p:nvPr/>
          </p:nvGrpSpPr>
          <p:grpSpPr>
            <a:xfrm>
              <a:off x="2736" y="3360"/>
              <a:ext cx="720" cy="624"/>
              <a:chOff x="4512" y="3120"/>
              <a:chExt cx="576" cy="528"/>
            </a:xfrm>
          </p:grpSpPr>
          <p:sp>
            <p:nvSpPr>
              <p:cNvPr id="67695" name="Line 80"/>
              <p:cNvSpPr/>
              <p:nvPr/>
            </p:nvSpPr>
            <p:spPr>
              <a:xfrm flipH="1">
                <a:off x="4512" y="3120"/>
                <a:ext cx="144" cy="192"/>
              </a:xfrm>
              <a:prstGeom prst="line">
                <a:avLst/>
              </a:prstGeom>
              <a:ln w="9525" cap="flat" cmpd="sng">
                <a:solidFill>
                  <a:schemeClr val="tx1"/>
                </a:solidFill>
                <a:prstDash val="solid"/>
                <a:headEnd type="none" w="med" len="med"/>
                <a:tailEnd type="none" w="med" len="med"/>
              </a:ln>
            </p:spPr>
          </p:sp>
          <p:sp>
            <p:nvSpPr>
              <p:cNvPr id="67696" name="Line 81"/>
              <p:cNvSpPr/>
              <p:nvPr/>
            </p:nvSpPr>
            <p:spPr>
              <a:xfrm>
                <a:off x="4512" y="3312"/>
                <a:ext cx="144" cy="0"/>
              </a:xfrm>
              <a:prstGeom prst="line">
                <a:avLst/>
              </a:prstGeom>
              <a:ln w="9525" cap="flat" cmpd="sng">
                <a:solidFill>
                  <a:schemeClr val="tx1"/>
                </a:solidFill>
                <a:prstDash val="solid"/>
                <a:headEnd type="none" w="med" len="med"/>
                <a:tailEnd type="none" w="med" len="med"/>
              </a:ln>
            </p:spPr>
          </p:sp>
          <p:sp>
            <p:nvSpPr>
              <p:cNvPr id="67697" name="Line 82"/>
              <p:cNvSpPr/>
              <p:nvPr/>
            </p:nvSpPr>
            <p:spPr>
              <a:xfrm flipH="1">
                <a:off x="4512" y="3312"/>
                <a:ext cx="144" cy="192"/>
              </a:xfrm>
              <a:prstGeom prst="line">
                <a:avLst/>
              </a:prstGeom>
              <a:ln w="9525" cap="flat" cmpd="sng">
                <a:solidFill>
                  <a:schemeClr val="tx1"/>
                </a:solidFill>
                <a:prstDash val="solid"/>
                <a:headEnd type="none" w="med" len="med"/>
                <a:tailEnd type="none" w="med" len="med"/>
              </a:ln>
            </p:spPr>
          </p:sp>
          <p:sp>
            <p:nvSpPr>
              <p:cNvPr id="67698" name="Line 83"/>
              <p:cNvSpPr/>
              <p:nvPr/>
            </p:nvSpPr>
            <p:spPr>
              <a:xfrm>
                <a:off x="4512" y="3504"/>
                <a:ext cx="192" cy="0"/>
              </a:xfrm>
              <a:prstGeom prst="line">
                <a:avLst/>
              </a:prstGeom>
              <a:ln w="9525" cap="flat" cmpd="sng">
                <a:solidFill>
                  <a:schemeClr val="tx1"/>
                </a:solidFill>
                <a:prstDash val="solid"/>
                <a:headEnd type="none" w="med" len="med"/>
                <a:tailEnd type="none" w="med" len="med"/>
              </a:ln>
            </p:spPr>
          </p:sp>
          <p:sp>
            <p:nvSpPr>
              <p:cNvPr id="67699" name="Line 84"/>
              <p:cNvSpPr/>
              <p:nvPr/>
            </p:nvSpPr>
            <p:spPr>
              <a:xfrm flipH="1">
                <a:off x="4608" y="3504"/>
                <a:ext cx="96" cy="144"/>
              </a:xfrm>
              <a:prstGeom prst="line">
                <a:avLst/>
              </a:prstGeom>
              <a:ln w="9525" cap="flat" cmpd="sng">
                <a:solidFill>
                  <a:schemeClr val="tx1"/>
                </a:solidFill>
                <a:prstDash val="solid"/>
                <a:headEnd type="none" w="med" len="med"/>
                <a:tailEnd type="none" w="med" len="med"/>
              </a:ln>
            </p:spPr>
          </p:sp>
          <p:sp>
            <p:nvSpPr>
              <p:cNvPr id="67700" name="Line 85"/>
              <p:cNvSpPr/>
              <p:nvPr/>
            </p:nvSpPr>
            <p:spPr>
              <a:xfrm>
                <a:off x="4608" y="3648"/>
                <a:ext cx="240" cy="0"/>
              </a:xfrm>
              <a:prstGeom prst="line">
                <a:avLst/>
              </a:prstGeom>
              <a:ln w="9525" cap="flat" cmpd="sng">
                <a:solidFill>
                  <a:schemeClr val="tx1"/>
                </a:solidFill>
                <a:prstDash val="solid"/>
                <a:headEnd type="none" w="med" len="med"/>
                <a:tailEnd type="none" w="med" len="med"/>
              </a:ln>
            </p:spPr>
          </p:sp>
          <p:sp>
            <p:nvSpPr>
              <p:cNvPr id="67701" name="Line 86"/>
              <p:cNvSpPr/>
              <p:nvPr/>
            </p:nvSpPr>
            <p:spPr>
              <a:xfrm>
                <a:off x="4656" y="3120"/>
                <a:ext cx="432" cy="0"/>
              </a:xfrm>
              <a:prstGeom prst="line">
                <a:avLst/>
              </a:prstGeom>
              <a:ln w="9525" cap="flat" cmpd="sng">
                <a:solidFill>
                  <a:schemeClr val="tx1"/>
                </a:solidFill>
                <a:prstDash val="solid"/>
                <a:headEnd type="none" w="med" len="med"/>
                <a:tailEnd type="none" w="med" len="med"/>
              </a:ln>
            </p:spPr>
          </p:sp>
          <p:sp>
            <p:nvSpPr>
              <p:cNvPr id="67702" name="Line 87"/>
              <p:cNvSpPr/>
              <p:nvPr/>
            </p:nvSpPr>
            <p:spPr>
              <a:xfrm flipH="1">
                <a:off x="4944" y="3120"/>
                <a:ext cx="144" cy="192"/>
              </a:xfrm>
              <a:prstGeom prst="line">
                <a:avLst/>
              </a:prstGeom>
              <a:ln w="9525" cap="flat" cmpd="sng">
                <a:solidFill>
                  <a:schemeClr val="tx1"/>
                </a:solidFill>
                <a:prstDash val="solid"/>
                <a:headEnd type="none" w="med" len="med"/>
                <a:tailEnd type="none" w="med" len="med"/>
              </a:ln>
            </p:spPr>
          </p:sp>
          <p:sp>
            <p:nvSpPr>
              <p:cNvPr id="67703" name="Line 88"/>
              <p:cNvSpPr/>
              <p:nvPr/>
            </p:nvSpPr>
            <p:spPr>
              <a:xfrm>
                <a:off x="4944" y="3312"/>
                <a:ext cx="144" cy="0"/>
              </a:xfrm>
              <a:prstGeom prst="line">
                <a:avLst/>
              </a:prstGeom>
              <a:ln w="9525" cap="flat" cmpd="sng">
                <a:solidFill>
                  <a:schemeClr val="tx1"/>
                </a:solidFill>
                <a:prstDash val="solid"/>
                <a:headEnd type="none" w="med" len="med"/>
                <a:tailEnd type="none" w="med" len="med"/>
              </a:ln>
            </p:spPr>
          </p:sp>
          <p:sp>
            <p:nvSpPr>
              <p:cNvPr id="67704" name="Line 89"/>
              <p:cNvSpPr/>
              <p:nvPr/>
            </p:nvSpPr>
            <p:spPr>
              <a:xfrm flipH="1">
                <a:off x="4848" y="3312"/>
                <a:ext cx="240" cy="336"/>
              </a:xfrm>
              <a:prstGeom prst="line">
                <a:avLst/>
              </a:prstGeom>
              <a:ln w="9525" cap="flat" cmpd="sng">
                <a:solidFill>
                  <a:schemeClr val="tx1"/>
                </a:solidFill>
                <a:prstDash val="solid"/>
                <a:headEnd type="none" w="med" len="med"/>
                <a:tailEnd type="none" w="med" len="med"/>
              </a:ln>
            </p:spPr>
          </p:sp>
        </p:grpSp>
        <p:sp>
          <p:nvSpPr>
            <p:cNvPr id="67693" name="Text Box 90"/>
            <p:cNvSpPr txBox="1"/>
            <p:nvPr/>
          </p:nvSpPr>
          <p:spPr>
            <a:xfrm>
              <a:off x="2880" y="3033"/>
              <a:ext cx="260" cy="231"/>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30</a:t>
              </a:r>
              <a:endParaRPr dirty="0">
                <a:latin typeface="Times New Roman" panose="02020603050405020304" pitchFamily="18" charset="0"/>
              </a:endParaRPr>
            </a:p>
          </p:txBody>
        </p:sp>
        <p:sp>
          <p:nvSpPr>
            <p:cNvPr id="67694" name="Text Box 91"/>
            <p:cNvSpPr txBox="1"/>
            <p:nvPr/>
          </p:nvSpPr>
          <p:spPr>
            <a:xfrm>
              <a:off x="3504" y="3033"/>
              <a:ext cx="260" cy="231"/>
            </a:xfrm>
            <a:prstGeom prst="rect">
              <a:avLst/>
            </a:prstGeom>
            <a:noFill/>
            <a:ln w="9525">
              <a:noFill/>
            </a:ln>
          </p:spPr>
          <p:txBody>
            <a:bodyPr wrap="none">
              <a:spAutoFit/>
            </a:bodyPr>
            <a:p>
              <a:pPr algn="l" eaLnBrk="0" hangingPunct="0">
                <a:spcBef>
                  <a:spcPct val="50000"/>
                </a:spcBef>
              </a:pPr>
              <a:r>
                <a:rPr sz="1800" dirty="0">
                  <a:latin typeface="Times New Roman" panose="02020603050405020304" pitchFamily="18" charset="0"/>
                </a:rPr>
                <a:t>50</a:t>
              </a:r>
              <a:endParaRPr dirty="0">
                <a:latin typeface="Times New Roman" panose="02020603050405020304" pitchFamily="18" charset="0"/>
              </a:endParaRPr>
            </a:p>
          </p:txBody>
        </p:sp>
      </p:grpSp>
      <p:sp>
        <p:nvSpPr>
          <p:cNvPr id="67621" name="Oval 92"/>
          <p:cNvSpPr/>
          <p:nvPr/>
        </p:nvSpPr>
        <p:spPr>
          <a:xfrm>
            <a:off x="6096000" y="24384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22" name="Oval 93"/>
          <p:cNvSpPr/>
          <p:nvPr/>
        </p:nvSpPr>
        <p:spPr>
          <a:xfrm>
            <a:off x="1600200" y="17526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23" name="Oval 94"/>
          <p:cNvSpPr/>
          <p:nvPr/>
        </p:nvSpPr>
        <p:spPr>
          <a:xfrm>
            <a:off x="1752600" y="19050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24" name="Oval 95"/>
          <p:cNvSpPr/>
          <p:nvPr/>
        </p:nvSpPr>
        <p:spPr>
          <a:xfrm>
            <a:off x="1752600" y="15240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25" name="Oval 96"/>
          <p:cNvSpPr/>
          <p:nvPr/>
        </p:nvSpPr>
        <p:spPr>
          <a:xfrm>
            <a:off x="1600200" y="12192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26" name="Oval 97"/>
          <p:cNvSpPr/>
          <p:nvPr/>
        </p:nvSpPr>
        <p:spPr>
          <a:xfrm>
            <a:off x="1752600" y="9144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27" name="Oval 98"/>
          <p:cNvSpPr/>
          <p:nvPr/>
        </p:nvSpPr>
        <p:spPr>
          <a:xfrm>
            <a:off x="1600200" y="8382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28" name="Oval 99"/>
          <p:cNvSpPr/>
          <p:nvPr/>
        </p:nvSpPr>
        <p:spPr>
          <a:xfrm>
            <a:off x="1676400" y="10668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29" name="Oval 100"/>
          <p:cNvSpPr/>
          <p:nvPr/>
        </p:nvSpPr>
        <p:spPr>
          <a:xfrm>
            <a:off x="1828800" y="8382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30" name="Oval 101"/>
          <p:cNvSpPr/>
          <p:nvPr/>
        </p:nvSpPr>
        <p:spPr>
          <a:xfrm>
            <a:off x="1981200" y="17526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31" name="Oval 102"/>
          <p:cNvSpPr/>
          <p:nvPr/>
        </p:nvSpPr>
        <p:spPr>
          <a:xfrm>
            <a:off x="2133600" y="19050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32" name="Oval 103"/>
          <p:cNvSpPr/>
          <p:nvPr/>
        </p:nvSpPr>
        <p:spPr>
          <a:xfrm>
            <a:off x="2133600" y="15240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33" name="Oval 104"/>
          <p:cNvSpPr/>
          <p:nvPr/>
        </p:nvSpPr>
        <p:spPr>
          <a:xfrm>
            <a:off x="1981200" y="8382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34" name="Oval 105"/>
          <p:cNvSpPr/>
          <p:nvPr/>
        </p:nvSpPr>
        <p:spPr>
          <a:xfrm>
            <a:off x="2209800" y="8382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35" name="Oval 106"/>
          <p:cNvSpPr/>
          <p:nvPr/>
        </p:nvSpPr>
        <p:spPr>
          <a:xfrm>
            <a:off x="2362200" y="17526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36" name="Oval 107"/>
          <p:cNvSpPr/>
          <p:nvPr/>
        </p:nvSpPr>
        <p:spPr>
          <a:xfrm>
            <a:off x="2514600" y="19050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37" name="Oval 108"/>
          <p:cNvSpPr/>
          <p:nvPr/>
        </p:nvSpPr>
        <p:spPr>
          <a:xfrm>
            <a:off x="2514600" y="15240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38" name="Oval 109"/>
          <p:cNvSpPr/>
          <p:nvPr/>
        </p:nvSpPr>
        <p:spPr>
          <a:xfrm>
            <a:off x="2362200" y="8382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39" name="Oval 110"/>
          <p:cNvSpPr/>
          <p:nvPr/>
        </p:nvSpPr>
        <p:spPr>
          <a:xfrm>
            <a:off x="2590800" y="8382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40" name="Oval 111"/>
          <p:cNvSpPr/>
          <p:nvPr/>
        </p:nvSpPr>
        <p:spPr>
          <a:xfrm>
            <a:off x="2590800" y="20574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41" name="Oval 112"/>
          <p:cNvSpPr/>
          <p:nvPr/>
        </p:nvSpPr>
        <p:spPr>
          <a:xfrm>
            <a:off x="2743200" y="22098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42" name="Oval 113"/>
          <p:cNvSpPr/>
          <p:nvPr/>
        </p:nvSpPr>
        <p:spPr>
          <a:xfrm>
            <a:off x="2743200" y="18288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43" name="Oval 114"/>
          <p:cNvSpPr/>
          <p:nvPr/>
        </p:nvSpPr>
        <p:spPr>
          <a:xfrm>
            <a:off x="2590800" y="11430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44" name="Oval 115"/>
          <p:cNvSpPr/>
          <p:nvPr/>
        </p:nvSpPr>
        <p:spPr>
          <a:xfrm>
            <a:off x="2819400" y="11430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45" name="Oval 116"/>
          <p:cNvSpPr/>
          <p:nvPr/>
        </p:nvSpPr>
        <p:spPr>
          <a:xfrm>
            <a:off x="2133600" y="20574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46" name="Oval 117"/>
          <p:cNvSpPr/>
          <p:nvPr/>
        </p:nvSpPr>
        <p:spPr>
          <a:xfrm>
            <a:off x="2286000" y="22098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47" name="Oval 118"/>
          <p:cNvSpPr/>
          <p:nvPr/>
        </p:nvSpPr>
        <p:spPr>
          <a:xfrm>
            <a:off x="2286000" y="18288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48" name="Oval 119"/>
          <p:cNvSpPr/>
          <p:nvPr/>
        </p:nvSpPr>
        <p:spPr>
          <a:xfrm>
            <a:off x="2133600" y="11430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49" name="Oval 120"/>
          <p:cNvSpPr/>
          <p:nvPr/>
        </p:nvSpPr>
        <p:spPr>
          <a:xfrm>
            <a:off x="2362200" y="11430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50" name="Oval 121"/>
          <p:cNvSpPr/>
          <p:nvPr/>
        </p:nvSpPr>
        <p:spPr>
          <a:xfrm>
            <a:off x="3200400" y="18288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51" name="Oval 122"/>
          <p:cNvSpPr/>
          <p:nvPr/>
        </p:nvSpPr>
        <p:spPr>
          <a:xfrm>
            <a:off x="1371600" y="4572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52" name="Text Box 123"/>
          <p:cNvSpPr txBox="1"/>
          <p:nvPr/>
        </p:nvSpPr>
        <p:spPr>
          <a:xfrm>
            <a:off x="304800" y="3581400"/>
            <a:ext cx="1066800" cy="457200"/>
          </a:xfrm>
          <a:prstGeom prst="rect">
            <a:avLst/>
          </a:prstGeom>
          <a:noFill/>
          <a:ln w="9525">
            <a:noFill/>
          </a:ln>
        </p:spPr>
        <p:txBody>
          <a:bodyPr>
            <a:spAutoFit/>
          </a:bodyPr>
          <a:p>
            <a:pPr algn="l" eaLnBrk="0" hangingPunct="0">
              <a:spcBef>
                <a:spcPct val="50000"/>
              </a:spcBef>
            </a:pPr>
            <a:r>
              <a:rPr dirty="0">
                <a:latin typeface="Times New Roman" panose="02020603050405020304" pitchFamily="18" charset="0"/>
                <a:sym typeface="Symbol" panose="05050102010706020507" pitchFamily="18" charset="2"/>
              </a:rPr>
              <a:t></a:t>
            </a:r>
            <a:r>
              <a:rPr dirty="0">
                <a:latin typeface="Times New Roman" panose="02020603050405020304" pitchFamily="18" charset="0"/>
              </a:rPr>
              <a:t> = 3</a:t>
            </a:r>
            <a:endParaRPr dirty="0">
              <a:latin typeface="Times New Roman" panose="02020603050405020304" pitchFamily="18" charset="0"/>
            </a:endParaRPr>
          </a:p>
        </p:txBody>
      </p:sp>
      <p:sp>
        <p:nvSpPr>
          <p:cNvPr id="67653" name="Oval 124"/>
          <p:cNvSpPr/>
          <p:nvPr/>
        </p:nvSpPr>
        <p:spPr>
          <a:xfrm>
            <a:off x="6324600" y="23622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54" name="Oval 125"/>
          <p:cNvSpPr/>
          <p:nvPr/>
        </p:nvSpPr>
        <p:spPr>
          <a:xfrm>
            <a:off x="6019800" y="21336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55" name="Oval 126"/>
          <p:cNvSpPr/>
          <p:nvPr/>
        </p:nvSpPr>
        <p:spPr>
          <a:xfrm>
            <a:off x="5943600" y="23622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56" name="Oval 127"/>
          <p:cNvSpPr/>
          <p:nvPr/>
        </p:nvSpPr>
        <p:spPr>
          <a:xfrm>
            <a:off x="6400800" y="22098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57" name="Oval 128"/>
          <p:cNvSpPr/>
          <p:nvPr/>
        </p:nvSpPr>
        <p:spPr>
          <a:xfrm>
            <a:off x="6629400" y="21336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58" name="Oval 129"/>
          <p:cNvSpPr/>
          <p:nvPr/>
        </p:nvSpPr>
        <p:spPr>
          <a:xfrm>
            <a:off x="6324600" y="19050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59" name="Oval 130"/>
          <p:cNvSpPr/>
          <p:nvPr/>
        </p:nvSpPr>
        <p:spPr>
          <a:xfrm>
            <a:off x="6248400" y="21336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60" name="Oval 131"/>
          <p:cNvSpPr/>
          <p:nvPr/>
        </p:nvSpPr>
        <p:spPr>
          <a:xfrm>
            <a:off x="6781800" y="19812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61" name="Oval 132"/>
          <p:cNvSpPr/>
          <p:nvPr/>
        </p:nvSpPr>
        <p:spPr>
          <a:xfrm>
            <a:off x="7010400" y="19050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62" name="Oval 133"/>
          <p:cNvSpPr/>
          <p:nvPr/>
        </p:nvSpPr>
        <p:spPr>
          <a:xfrm>
            <a:off x="6705600" y="16764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63" name="Oval 134"/>
          <p:cNvSpPr/>
          <p:nvPr/>
        </p:nvSpPr>
        <p:spPr>
          <a:xfrm>
            <a:off x="6629400" y="19050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64" name="Oval 135"/>
          <p:cNvSpPr/>
          <p:nvPr/>
        </p:nvSpPr>
        <p:spPr>
          <a:xfrm>
            <a:off x="7086600" y="21336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65" name="Oval 136"/>
          <p:cNvSpPr/>
          <p:nvPr/>
        </p:nvSpPr>
        <p:spPr>
          <a:xfrm>
            <a:off x="7315200" y="20574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66" name="Oval 137"/>
          <p:cNvSpPr/>
          <p:nvPr/>
        </p:nvSpPr>
        <p:spPr>
          <a:xfrm>
            <a:off x="7010400" y="18288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67" name="Oval 138"/>
          <p:cNvSpPr/>
          <p:nvPr/>
        </p:nvSpPr>
        <p:spPr>
          <a:xfrm>
            <a:off x="6934200" y="20574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68" name="Oval 139"/>
          <p:cNvSpPr/>
          <p:nvPr/>
        </p:nvSpPr>
        <p:spPr>
          <a:xfrm>
            <a:off x="7239000" y="17526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69" name="Oval 140"/>
          <p:cNvSpPr/>
          <p:nvPr/>
        </p:nvSpPr>
        <p:spPr>
          <a:xfrm>
            <a:off x="7315200" y="16002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70" name="Oval 141"/>
          <p:cNvSpPr/>
          <p:nvPr/>
        </p:nvSpPr>
        <p:spPr>
          <a:xfrm>
            <a:off x="7010400" y="13716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71" name="Oval 142"/>
          <p:cNvSpPr/>
          <p:nvPr/>
        </p:nvSpPr>
        <p:spPr>
          <a:xfrm>
            <a:off x="6934200" y="16002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72" name="Oval 143"/>
          <p:cNvSpPr/>
          <p:nvPr/>
        </p:nvSpPr>
        <p:spPr>
          <a:xfrm>
            <a:off x="6705600" y="16764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73" name="Oval 144"/>
          <p:cNvSpPr/>
          <p:nvPr/>
        </p:nvSpPr>
        <p:spPr>
          <a:xfrm>
            <a:off x="6934200" y="16002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74" name="Oval 145"/>
          <p:cNvSpPr/>
          <p:nvPr/>
        </p:nvSpPr>
        <p:spPr>
          <a:xfrm>
            <a:off x="6629400" y="13716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75" name="Oval 146"/>
          <p:cNvSpPr/>
          <p:nvPr/>
        </p:nvSpPr>
        <p:spPr>
          <a:xfrm>
            <a:off x="6553200" y="16002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76" name="Oval 147"/>
          <p:cNvSpPr/>
          <p:nvPr/>
        </p:nvSpPr>
        <p:spPr>
          <a:xfrm>
            <a:off x="6705600" y="25146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77" name="Oval 148"/>
          <p:cNvSpPr/>
          <p:nvPr/>
        </p:nvSpPr>
        <p:spPr>
          <a:xfrm>
            <a:off x="7772400" y="27432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78" name="Oval 149"/>
          <p:cNvSpPr/>
          <p:nvPr/>
        </p:nvSpPr>
        <p:spPr>
          <a:xfrm>
            <a:off x="6629400" y="22098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79" name="Oval 150"/>
          <p:cNvSpPr/>
          <p:nvPr/>
        </p:nvSpPr>
        <p:spPr>
          <a:xfrm>
            <a:off x="6553200" y="24384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80" name="Oval 151"/>
          <p:cNvSpPr/>
          <p:nvPr/>
        </p:nvSpPr>
        <p:spPr>
          <a:xfrm>
            <a:off x="5715000" y="1219200"/>
            <a:ext cx="76200" cy="762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67681" name="Rectangle 152"/>
          <p:cNvSpPr/>
          <p:nvPr/>
        </p:nvSpPr>
        <p:spPr>
          <a:xfrm>
            <a:off x="1524000" y="762000"/>
            <a:ext cx="1219200" cy="1219200"/>
          </a:xfrm>
          <a:prstGeom prst="rect">
            <a:avLst/>
          </a:prstGeom>
          <a:noFill/>
          <a:ln w="28575" cap="flat" cmpd="sng">
            <a:solidFill>
              <a:schemeClr val="tx1"/>
            </a:solidFill>
            <a:prstDash val="solid"/>
            <a:miter/>
            <a:headEnd type="none" w="med" len="med"/>
            <a:tailEnd type="none" w="med" len="med"/>
          </a:ln>
        </p:spPr>
        <p:txBody>
          <a:bodyPr wrap="none" anchor="ctr" anchorCtr="0"/>
          <a:p>
            <a:endParaRPr dirty="0">
              <a:latin typeface="Tahoma" panose="020B0604030504040204" pitchFamily="34" charset="0"/>
            </a:endParaRPr>
          </a:p>
        </p:txBody>
      </p:sp>
      <p:sp>
        <p:nvSpPr>
          <p:cNvPr id="67682" name="Rectangle 153"/>
          <p:cNvSpPr/>
          <p:nvPr/>
        </p:nvSpPr>
        <p:spPr>
          <a:xfrm>
            <a:off x="2133600" y="1066800"/>
            <a:ext cx="914400" cy="1219200"/>
          </a:xfrm>
          <a:prstGeom prst="rect">
            <a:avLst/>
          </a:prstGeom>
          <a:noFill/>
          <a:ln w="28575" cap="flat" cmpd="sng">
            <a:solidFill>
              <a:schemeClr val="tx1"/>
            </a:solidFill>
            <a:prstDash val="solid"/>
            <a:miter/>
            <a:headEnd type="none" w="med" len="med"/>
            <a:tailEnd type="none" w="med" len="med"/>
          </a:ln>
        </p:spPr>
        <p:txBody>
          <a:bodyPr wrap="none" anchor="ctr" anchorCtr="0"/>
          <a:p>
            <a:endParaRPr dirty="0">
              <a:latin typeface="Tahoma" panose="020B0604030504040204" pitchFamily="34" charset="0"/>
            </a:endParaRPr>
          </a:p>
        </p:txBody>
      </p:sp>
      <p:sp>
        <p:nvSpPr>
          <p:cNvPr id="67683" name="Line 154"/>
          <p:cNvSpPr/>
          <p:nvPr/>
        </p:nvSpPr>
        <p:spPr>
          <a:xfrm>
            <a:off x="1219200" y="3429000"/>
            <a:ext cx="2590800" cy="0"/>
          </a:xfrm>
          <a:prstGeom prst="line">
            <a:avLst/>
          </a:prstGeom>
          <a:ln w="9525" cap="flat" cmpd="sng">
            <a:solidFill>
              <a:schemeClr val="tx1"/>
            </a:solidFill>
            <a:prstDash val="solid"/>
            <a:headEnd type="none" w="med" len="med"/>
            <a:tailEnd type="none" w="med" len="med"/>
          </a:ln>
        </p:spPr>
      </p:sp>
      <p:sp>
        <p:nvSpPr>
          <p:cNvPr id="67684" name="Freeform 155"/>
          <p:cNvSpPr/>
          <p:nvPr/>
        </p:nvSpPr>
        <p:spPr>
          <a:xfrm>
            <a:off x="1528763" y="3327400"/>
            <a:ext cx="1557337" cy="109538"/>
          </a:xfrm>
          <a:custGeom>
            <a:avLst/>
            <a:gdLst>
              <a:gd name="txL" fmla="*/ 0 w 981"/>
              <a:gd name="txT" fmla="*/ 0 h 69"/>
              <a:gd name="txR" fmla="*/ 981 w 981"/>
              <a:gd name="txB" fmla="*/ 69 h 69"/>
            </a:gdLst>
            <a:ahLst/>
            <a:cxnLst>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Lst>
            <a:rect l="txL" t="txT" r="txR" b="txB"/>
            <a:pathLst>
              <a:path w="981" h="69">
                <a:moveTo>
                  <a:pt x="0" y="67"/>
                </a:moveTo>
                <a:cubicBezTo>
                  <a:pt x="3" y="66"/>
                  <a:pt x="47" y="57"/>
                  <a:pt x="52" y="52"/>
                </a:cubicBezTo>
                <a:cubicBezTo>
                  <a:pt x="57" y="46"/>
                  <a:pt x="54" y="35"/>
                  <a:pt x="59" y="30"/>
                </a:cubicBezTo>
                <a:cubicBezTo>
                  <a:pt x="72" y="17"/>
                  <a:pt x="94" y="20"/>
                  <a:pt x="111" y="15"/>
                </a:cubicBezTo>
                <a:cubicBezTo>
                  <a:pt x="326" y="34"/>
                  <a:pt x="603" y="11"/>
                  <a:pt x="792" y="8"/>
                </a:cubicBezTo>
                <a:cubicBezTo>
                  <a:pt x="839" y="0"/>
                  <a:pt x="879" y="0"/>
                  <a:pt x="926" y="15"/>
                </a:cubicBezTo>
                <a:cubicBezTo>
                  <a:pt x="957" y="36"/>
                  <a:pt x="981" y="40"/>
                  <a:pt x="941" y="67"/>
                </a:cubicBezTo>
                <a:cubicBezTo>
                  <a:pt x="862" y="48"/>
                  <a:pt x="948" y="66"/>
                  <a:pt x="778" y="67"/>
                </a:cubicBezTo>
                <a:cubicBezTo>
                  <a:pt x="519" y="69"/>
                  <a:pt x="259" y="67"/>
                  <a:pt x="0" y="67"/>
                </a:cubicBezTo>
                <a:close/>
              </a:path>
            </a:pathLst>
          </a:custGeom>
          <a:solidFill>
            <a:schemeClr val="tx2">
              <a:alpha val="100000"/>
            </a:schemeClr>
          </a:solidFill>
          <a:ln w="9525" cap="flat" cmpd="sng">
            <a:solidFill>
              <a:schemeClr val="tx1">
                <a:alpha val="100000"/>
              </a:schemeClr>
            </a:solidFill>
            <a:prstDash val="solid"/>
            <a:round/>
            <a:headEnd type="none" w="med" len="med"/>
            <a:tailEnd type="none" w="med" len="med"/>
          </a:ln>
        </p:spPr>
        <p:txBody>
          <a:bodyPr/>
          <a:p>
            <a:endParaRPr lang="en-US"/>
          </a:p>
        </p:txBody>
      </p:sp>
      <p:sp>
        <p:nvSpPr>
          <p:cNvPr id="67685" name="Line 156"/>
          <p:cNvSpPr/>
          <p:nvPr/>
        </p:nvSpPr>
        <p:spPr>
          <a:xfrm>
            <a:off x="4267200" y="381000"/>
            <a:ext cx="0" cy="2819400"/>
          </a:xfrm>
          <a:prstGeom prst="line">
            <a:avLst/>
          </a:prstGeom>
          <a:ln w="9525" cap="flat" cmpd="sng">
            <a:solidFill>
              <a:schemeClr val="tx1"/>
            </a:solidFill>
            <a:prstDash val="solid"/>
            <a:headEnd type="none" w="med" len="med"/>
            <a:tailEnd type="none" w="med" len="med"/>
          </a:ln>
        </p:spPr>
      </p:sp>
      <p:sp>
        <p:nvSpPr>
          <p:cNvPr id="67686" name="Freeform 157"/>
          <p:cNvSpPr/>
          <p:nvPr/>
        </p:nvSpPr>
        <p:spPr>
          <a:xfrm>
            <a:off x="4114800" y="752475"/>
            <a:ext cx="198438" cy="1522413"/>
          </a:xfrm>
          <a:custGeom>
            <a:avLst/>
            <a:gdLst>
              <a:gd name="txL" fmla="*/ 0 w 125"/>
              <a:gd name="txT" fmla="*/ 0 h 959"/>
              <a:gd name="txR" fmla="*/ 125 w 125"/>
              <a:gd name="txB" fmla="*/ 959 h 959"/>
            </a:gdLst>
            <a:ahLst/>
            <a:cxnLst>
              <a:cxn ang="0">
                <a:pos x="2147483647" y="0"/>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txL" t="txT" r="txR" b="txB"/>
            <a:pathLst>
              <a:path w="125" h="959">
                <a:moveTo>
                  <a:pt x="97" y="0"/>
                </a:moveTo>
                <a:cubicBezTo>
                  <a:pt x="92" y="7"/>
                  <a:pt x="86" y="14"/>
                  <a:pt x="82" y="22"/>
                </a:cubicBezTo>
                <a:cubicBezTo>
                  <a:pt x="76" y="36"/>
                  <a:pt x="67" y="67"/>
                  <a:pt x="67" y="67"/>
                </a:cubicBezTo>
                <a:cubicBezTo>
                  <a:pt x="59" y="183"/>
                  <a:pt x="41" y="283"/>
                  <a:pt x="8" y="393"/>
                </a:cubicBezTo>
                <a:cubicBezTo>
                  <a:pt x="5" y="452"/>
                  <a:pt x="0" y="512"/>
                  <a:pt x="0" y="571"/>
                </a:cubicBezTo>
                <a:cubicBezTo>
                  <a:pt x="0" y="667"/>
                  <a:pt x="14" y="765"/>
                  <a:pt x="37" y="859"/>
                </a:cubicBezTo>
                <a:cubicBezTo>
                  <a:pt x="45" y="893"/>
                  <a:pt x="54" y="937"/>
                  <a:pt x="82" y="956"/>
                </a:cubicBezTo>
                <a:cubicBezTo>
                  <a:pt x="114" y="906"/>
                  <a:pt x="89" y="959"/>
                  <a:pt x="89" y="911"/>
                </a:cubicBezTo>
                <a:cubicBezTo>
                  <a:pt x="89" y="898"/>
                  <a:pt x="94" y="886"/>
                  <a:pt x="97" y="874"/>
                </a:cubicBezTo>
                <a:cubicBezTo>
                  <a:pt x="100" y="647"/>
                  <a:pt x="125" y="384"/>
                  <a:pt x="89" y="148"/>
                </a:cubicBezTo>
                <a:cubicBezTo>
                  <a:pt x="98" y="30"/>
                  <a:pt x="97" y="79"/>
                  <a:pt x="97" y="0"/>
                </a:cubicBezTo>
                <a:close/>
              </a:path>
            </a:pathLst>
          </a:custGeom>
          <a:solidFill>
            <a:schemeClr val="tx2">
              <a:alpha val="100000"/>
            </a:schemeClr>
          </a:solidFill>
          <a:ln w="9525" cap="flat" cmpd="sng">
            <a:solidFill>
              <a:schemeClr val="tx1">
                <a:alpha val="100000"/>
              </a:schemeClr>
            </a:solidFill>
            <a:prstDash val="solid"/>
            <a:round/>
            <a:headEnd type="none" w="med" len="med"/>
            <a:tailEnd type="none" w="med" len="med"/>
          </a:ln>
        </p:spPr>
        <p:txBody>
          <a:bodyPr/>
          <a:p>
            <a:endParaRPr lang="en-US"/>
          </a:p>
        </p:txBody>
      </p:sp>
    </p:spTree>
  </p:cSld>
  <p:clrMapOvr>
    <a:masterClrMapping/>
  </p:clrMapOvr>
  <p:transition>
    <p:zo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68611" name="Rectangle 2"/>
          <p:cNvSpPr>
            <a:spLocks noGrp="1"/>
          </p:cNvSpPr>
          <p:nvPr>
            <p:ph type="title"/>
          </p:nvPr>
        </p:nvSpPr>
        <p:spPr>
          <a:xfrm>
            <a:off x="1143000" y="304800"/>
            <a:ext cx="6873875" cy="650875"/>
          </a:xfrm>
        </p:spPr>
        <p:txBody>
          <a:bodyPr vert="horz" wrap="square" lIns="91440" tIns="45720" rIns="91440" bIns="45720" anchor="b" anchorCtr="0"/>
          <a:p>
            <a:pPr eaLnBrk="1" hangingPunct="1"/>
            <a:r>
              <a:rPr sz="3200" dirty="0"/>
              <a:t>Strength and Weakness of </a:t>
            </a:r>
            <a:r>
              <a:rPr sz="3200" i="1" dirty="0"/>
              <a:t>CLIQUE</a:t>
            </a:r>
            <a:endParaRPr sz="2100" b="1" dirty="0"/>
          </a:p>
        </p:txBody>
      </p:sp>
      <p:sp>
        <p:nvSpPr>
          <p:cNvPr id="68612" name="Rectangle 3"/>
          <p:cNvSpPr>
            <a:spLocks noGrp="1"/>
          </p:cNvSpPr>
          <p:nvPr>
            <p:ph type="body" idx="4294967295"/>
          </p:nvPr>
        </p:nvSpPr>
        <p:spPr>
          <a:xfrm>
            <a:off x="304800" y="1447800"/>
            <a:ext cx="8458200" cy="4953000"/>
          </a:xfrm>
        </p:spPr>
        <p:txBody>
          <a:bodyPr vert="horz" wrap="square" lIns="91440" tIns="45720" rIns="91440" bIns="45720" anchor="t" anchorCtr="0"/>
          <a:p>
            <a:pPr eaLnBrk="1" hangingPunct="1"/>
            <a:r>
              <a:rPr sz="2400" u="sng" dirty="0"/>
              <a:t>Strength</a:t>
            </a:r>
            <a:r>
              <a:rPr sz="2400" dirty="0"/>
              <a:t> </a:t>
            </a:r>
            <a:endParaRPr sz="2400" dirty="0"/>
          </a:p>
          <a:p>
            <a:pPr lvl="1" eaLnBrk="1" hangingPunct="1"/>
            <a:r>
              <a:rPr sz="2400" i="1" u="sng" dirty="0"/>
              <a:t>automatically</a:t>
            </a:r>
            <a:r>
              <a:rPr sz="2400" u="sng" dirty="0"/>
              <a:t> finds subspaces of the</a:t>
            </a:r>
            <a:r>
              <a:rPr sz="2400" dirty="0"/>
              <a:t> </a:t>
            </a:r>
            <a:r>
              <a:rPr sz="2400" u="sng" dirty="0"/>
              <a:t>highest dimensionality</a:t>
            </a:r>
            <a:r>
              <a:rPr sz="2400" dirty="0"/>
              <a:t> such that high density clusters exist in those subspaces</a:t>
            </a:r>
            <a:endParaRPr sz="2400" dirty="0"/>
          </a:p>
          <a:p>
            <a:pPr lvl="1" eaLnBrk="1" hangingPunct="1"/>
            <a:r>
              <a:rPr sz="2400" i="1" dirty="0"/>
              <a:t>insensitive</a:t>
            </a:r>
            <a:r>
              <a:rPr sz="2400" dirty="0"/>
              <a:t> to the order of records in input and does not presume some canonical data distribution</a:t>
            </a:r>
            <a:endParaRPr sz="2400" dirty="0"/>
          </a:p>
          <a:p>
            <a:pPr lvl="1" eaLnBrk="1" hangingPunct="1"/>
            <a:r>
              <a:rPr sz="2400" dirty="0"/>
              <a:t>scales</a:t>
            </a:r>
            <a:r>
              <a:rPr sz="2400" i="1" dirty="0"/>
              <a:t> linearly</a:t>
            </a:r>
            <a:r>
              <a:rPr sz="2400" dirty="0"/>
              <a:t> with the size of input and has good scalability as the number of dimensions in the data increases</a:t>
            </a:r>
            <a:endParaRPr sz="2400" dirty="0"/>
          </a:p>
          <a:p>
            <a:pPr eaLnBrk="1" hangingPunct="1"/>
            <a:r>
              <a:rPr sz="2400" u="sng" dirty="0"/>
              <a:t>Weakness</a:t>
            </a:r>
            <a:endParaRPr sz="2400" dirty="0"/>
          </a:p>
          <a:p>
            <a:pPr lvl="1" eaLnBrk="1" hangingPunct="1"/>
            <a:r>
              <a:rPr sz="2400" dirty="0"/>
              <a:t>The accuracy of the clustering result may be degraded at the expense of simplicity of the method</a:t>
            </a:r>
            <a:endParaRPr sz="2400" dirty="0"/>
          </a:p>
        </p:txBody>
      </p:sp>
    </p:spTree>
  </p:cSld>
  <p:clrMapOvr>
    <a:masterClrMapping/>
  </p:clrMapOvr>
  <p:transition>
    <p:zo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69635" name="Rectangle 2"/>
          <p:cNvSpPr>
            <a:spLocks noGrp="1"/>
          </p:cNvSpPr>
          <p:nvPr>
            <p:ph type="title"/>
          </p:nvPr>
        </p:nvSpPr>
        <p:spPr>
          <a:xfrm>
            <a:off x="0" y="152400"/>
            <a:ext cx="9144000" cy="990600"/>
          </a:xfrm>
        </p:spPr>
        <p:txBody>
          <a:bodyPr vert="horz" wrap="square" lIns="92075" tIns="46038" rIns="92075" bIns="46038" anchor="ctr" anchorCtr="0"/>
          <a:p>
            <a:pPr eaLnBrk="1" hangingPunct="1"/>
            <a:r>
              <a:rPr sz="3200" dirty="0"/>
              <a:t>Chapter 10. </a:t>
            </a:r>
            <a:r>
              <a:rPr lang="en-AU" altLang="zh-TW" sz="3200" dirty="0">
                <a:ea typeface="PMingLiU" panose="02020500000000000000" pitchFamily="18" charset="-120"/>
              </a:rPr>
              <a:t>Cluster Analysis: Basic Concepts and Methods</a:t>
            </a:r>
            <a:endParaRPr sz="3200" dirty="0">
              <a:ea typeface="PMingLiU" panose="02020500000000000000" pitchFamily="18" charset="-120"/>
            </a:endParaRPr>
          </a:p>
        </p:txBody>
      </p:sp>
      <p:sp>
        <p:nvSpPr>
          <p:cNvPr id="69636" name="Rectangle 3"/>
          <p:cNvSpPr>
            <a:spLocks noGrp="1"/>
          </p:cNvSpPr>
          <p:nvPr>
            <p:ph type="body" idx="4294967295"/>
          </p:nvPr>
        </p:nvSpPr>
        <p:spPr>
          <a:xfrm>
            <a:off x="381000" y="1371600"/>
            <a:ext cx="8223250" cy="5181600"/>
          </a:xfrm>
        </p:spPr>
        <p:txBody>
          <a:bodyPr vert="horz" wrap="square" lIns="92075" tIns="46038" rIns="92075" bIns="46038" anchor="t" anchorCtr="0"/>
          <a:p>
            <a:pPr marL="533400" indent="-533400">
              <a:lnSpc>
                <a:spcPct val="150000"/>
              </a:lnSpc>
            </a:pPr>
            <a:r>
              <a:rPr dirty="0">
                <a:latin typeface="Calibri" panose="020F0502020204030204" pitchFamily="34" charset="0"/>
              </a:rPr>
              <a:t>Cluster Analysis: Basic Concepts</a:t>
            </a:r>
            <a:endParaRPr dirty="0">
              <a:latin typeface="Calibri" panose="020F0502020204030204" pitchFamily="34" charset="0"/>
            </a:endParaRPr>
          </a:p>
          <a:p>
            <a:pPr marL="533400" indent="-533400">
              <a:lnSpc>
                <a:spcPct val="150000"/>
              </a:lnSpc>
            </a:pPr>
            <a:r>
              <a:rPr dirty="0">
                <a:latin typeface="Calibri" panose="020F0502020204030204" pitchFamily="34" charset="0"/>
              </a:rPr>
              <a:t>Partitioning Methods</a:t>
            </a:r>
            <a:endParaRPr dirty="0">
              <a:latin typeface="Calibri" panose="020F0502020204030204" pitchFamily="34" charset="0"/>
            </a:endParaRPr>
          </a:p>
          <a:p>
            <a:pPr marL="533400" indent="-533400">
              <a:lnSpc>
                <a:spcPct val="150000"/>
              </a:lnSpc>
            </a:pPr>
            <a:r>
              <a:rPr dirty="0">
                <a:latin typeface="Calibri" panose="020F0502020204030204" pitchFamily="34" charset="0"/>
              </a:rPr>
              <a:t>Hierarchical Methods</a:t>
            </a:r>
            <a:endParaRPr dirty="0">
              <a:latin typeface="Calibri" panose="020F0502020204030204" pitchFamily="34" charset="0"/>
            </a:endParaRPr>
          </a:p>
          <a:p>
            <a:pPr marL="533400" indent="-533400">
              <a:lnSpc>
                <a:spcPct val="150000"/>
              </a:lnSpc>
            </a:pPr>
            <a:r>
              <a:rPr dirty="0">
                <a:latin typeface="Calibri" panose="020F0502020204030204" pitchFamily="34" charset="0"/>
              </a:rPr>
              <a:t>Density-Based Methods</a:t>
            </a:r>
            <a:endParaRPr dirty="0">
              <a:latin typeface="Calibri" panose="020F0502020204030204" pitchFamily="34" charset="0"/>
            </a:endParaRPr>
          </a:p>
          <a:p>
            <a:pPr marL="533400" indent="-533400">
              <a:lnSpc>
                <a:spcPct val="150000"/>
              </a:lnSpc>
            </a:pPr>
            <a:r>
              <a:rPr dirty="0">
                <a:latin typeface="Calibri" panose="020F0502020204030204" pitchFamily="34" charset="0"/>
              </a:rPr>
              <a:t>Grid-Based Methods</a:t>
            </a:r>
            <a:endParaRPr dirty="0">
              <a:latin typeface="Calibri" panose="020F0502020204030204" pitchFamily="34" charset="0"/>
            </a:endParaRPr>
          </a:p>
          <a:p>
            <a:pPr marL="533400" indent="-533400">
              <a:lnSpc>
                <a:spcPct val="150000"/>
              </a:lnSpc>
            </a:pPr>
            <a:r>
              <a:rPr dirty="0">
                <a:latin typeface="Calibri" panose="020F0502020204030204" pitchFamily="34" charset="0"/>
              </a:rPr>
              <a:t>Evaluation of Clustering</a:t>
            </a:r>
            <a:endParaRPr dirty="0">
              <a:latin typeface="Calibri" panose="020F0502020204030204" pitchFamily="34" charset="0"/>
            </a:endParaRPr>
          </a:p>
          <a:p>
            <a:pPr marL="533400" indent="-533400">
              <a:lnSpc>
                <a:spcPct val="150000"/>
              </a:lnSpc>
            </a:pPr>
            <a:r>
              <a:rPr dirty="0">
                <a:latin typeface="Calibri" panose="020F0502020204030204" pitchFamily="34" charset="0"/>
              </a:rPr>
              <a:t>Summary</a:t>
            </a:r>
            <a:endParaRPr dirty="0">
              <a:latin typeface="Calibri" panose="020F0502020204030204" pitchFamily="34" charset="0"/>
            </a:endParaRPr>
          </a:p>
        </p:txBody>
      </p:sp>
      <p:sp>
        <p:nvSpPr>
          <p:cNvPr id="69637" name="AutoShape 5"/>
          <p:cNvSpPr/>
          <p:nvPr/>
        </p:nvSpPr>
        <p:spPr>
          <a:xfrm rot="9867012">
            <a:off x="4648200" y="5257800"/>
            <a:ext cx="304800" cy="381000"/>
          </a:xfrm>
          <a:prstGeom prst="notchedRightArrow">
            <a:avLst>
              <a:gd name="adj1" fmla="val 50000"/>
              <a:gd name="adj2" fmla="val 25000"/>
            </a:avLst>
          </a:prstGeom>
          <a:solidFill>
            <a:srgbClr val="00CCFF"/>
          </a:solidFill>
          <a:ln w="9525" cap="flat" cmpd="sng">
            <a:solidFill>
              <a:schemeClr val="tx1"/>
            </a:solidFill>
            <a:prstDash val="solid"/>
            <a:miter/>
            <a:headEnd type="none" w="med" len="med"/>
            <a:tailEnd type="none" w="med" len="med"/>
          </a:ln>
        </p:spPr>
        <p:txBody>
          <a:bodyPr rot="10800000" wrap="none" anchor="ctr" anchorCtr="0"/>
          <a:p>
            <a:endParaRPr dirty="0">
              <a:latin typeface="Tahoma" panose="020B0604030504040204" pitchFamily="34" charset="0"/>
            </a:endParaRPr>
          </a:p>
        </p:txBody>
      </p:sp>
      <p:sp>
        <p:nvSpPr>
          <p:cNvPr id="69638"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2"/>
          <p:cNvSpPr>
            <a:spLocks noGrp="1"/>
          </p:cNvSpPr>
          <p:nvPr>
            <p:ph type="title"/>
          </p:nvPr>
        </p:nvSpPr>
        <p:spPr/>
        <p:txBody>
          <a:bodyPr vert="horz" wrap="square" lIns="91440" tIns="45720" rIns="91440" bIns="45720" anchor="b" anchorCtr="0"/>
          <a:p>
            <a:r>
              <a:rPr sz="3200" dirty="0"/>
              <a:t>Assessing Clustering Tendency</a:t>
            </a:r>
            <a:endParaRPr sz="3200" dirty="0"/>
          </a:p>
        </p:txBody>
      </p:sp>
      <p:sp>
        <p:nvSpPr>
          <p:cNvPr id="70659" name="Rectangle 3"/>
          <p:cNvSpPr>
            <a:spLocks noGrp="1"/>
          </p:cNvSpPr>
          <p:nvPr>
            <p:ph type="body" idx="4294967295"/>
          </p:nvPr>
        </p:nvSpPr>
        <p:spPr/>
        <p:txBody>
          <a:bodyPr vert="horz" wrap="square" lIns="91440" tIns="45720" rIns="91440" bIns="45720" anchor="t" anchorCtr="0"/>
          <a:p>
            <a:r>
              <a:rPr sz="2000" dirty="0"/>
              <a:t>Assess if non-random structure exists in the data by measuring the probability that the data is generated by a uniform data distribution</a:t>
            </a:r>
            <a:endParaRPr sz="2000" dirty="0"/>
          </a:p>
          <a:p>
            <a:r>
              <a:rPr sz="2000" dirty="0"/>
              <a:t>Test spatial randomness by statistic test: Hopkins Static</a:t>
            </a:r>
            <a:endParaRPr sz="2000" dirty="0"/>
          </a:p>
          <a:p>
            <a:pPr lvl="1"/>
            <a:r>
              <a:rPr sz="2000" dirty="0"/>
              <a:t>Given a dataset D regarded as a sample of a random variable o, determine how far away o is from being uniformly distributed in the data space</a:t>
            </a:r>
            <a:endParaRPr sz="2000" dirty="0"/>
          </a:p>
          <a:p>
            <a:pPr lvl="1"/>
            <a:r>
              <a:rPr sz="2000" dirty="0"/>
              <a:t>Sample </a:t>
            </a:r>
            <a:r>
              <a:rPr sz="2000" i="1" dirty="0"/>
              <a:t>n</a:t>
            </a:r>
            <a:r>
              <a:rPr sz="2000" dirty="0"/>
              <a:t> points, </a:t>
            </a:r>
            <a:r>
              <a:rPr sz="2000" i="1" dirty="0"/>
              <a:t>p</a:t>
            </a:r>
            <a:r>
              <a:rPr sz="2000" i="1" baseline="-25000" dirty="0"/>
              <a:t>1</a:t>
            </a:r>
            <a:r>
              <a:rPr sz="2000" i="1" dirty="0"/>
              <a:t>, …, p</a:t>
            </a:r>
            <a:r>
              <a:rPr sz="2000" i="1" baseline="-25000" dirty="0"/>
              <a:t>n</a:t>
            </a:r>
            <a:r>
              <a:rPr sz="2000" dirty="0"/>
              <a:t>, uniformly from D.  For each p</a:t>
            </a:r>
            <a:r>
              <a:rPr sz="2000" baseline="-25000" dirty="0"/>
              <a:t>i</a:t>
            </a:r>
            <a:r>
              <a:rPr sz="2000" dirty="0"/>
              <a:t>, find its nearest neighbor in D:  </a:t>
            </a:r>
            <a:r>
              <a:rPr sz="2000" i="1" dirty="0"/>
              <a:t>x</a:t>
            </a:r>
            <a:r>
              <a:rPr sz="2000" i="1" baseline="-25000" dirty="0"/>
              <a:t>i</a:t>
            </a:r>
            <a:r>
              <a:rPr sz="2000" dirty="0"/>
              <a:t> = </a:t>
            </a:r>
            <a:r>
              <a:rPr sz="2000" i="1" dirty="0"/>
              <a:t>min{dist (p</a:t>
            </a:r>
            <a:r>
              <a:rPr sz="2000" i="1" baseline="-25000" dirty="0"/>
              <a:t>i</a:t>
            </a:r>
            <a:r>
              <a:rPr sz="2000" i="1" dirty="0"/>
              <a:t>, v)}</a:t>
            </a:r>
            <a:r>
              <a:rPr sz="2000" dirty="0"/>
              <a:t> where </a:t>
            </a:r>
            <a:r>
              <a:rPr sz="2000" i="1" dirty="0"/>
              <a:t>v</a:t>
            </a:r>
            <a:r>
              <a:rPr sz="2000" dirty="0"/>
              <a:t> in D</a:t>
            </a:r>
            <a:endParaRPr sz="2000" dirty="0"/>
          </a:p>
          <a:p>
            <a:pPr lvl="1"/>
            <a:r>
              <a:rPr sz="2000" dirty="0"/>
              <a:t>Sample </a:t>
            </a:r>
            <a:r>
              <a:rPr sz="2000" i="1" dirty="0"/>
              <a:t>n</a:t>
            </a:r>
            <a:r>
              <a:rPr sz="2000" dirty="0"/>
              <a:t> points, </a:t>
            </a:r>
            <a:r>
              <a:rPr sz="2000" i="1" dirty="0"/>
              <a:t>q</a:t>
            </a:r>
            <a:r>
              <a:rPr sz="2000" i="1" baseline="-25000" dirty="0"/>
              <a:t>1</a:t>
            </a:r>
            <a:r>
              <a:rPr sz="2000" i="1" dirty="0"/>
              <a:t>, …, q</a:t>
            </a:r>
            <a:r>
              <a:rPr sz="2000" i="1" baseline="-25000" dirty="0"/>
              <a:t>n</a:t>
            </a:r>
            <a:r>
              <a:rPr sz="2000" dirty="0"/>
              <a:t>, uniformly from D.  For each </a:t>
            </a:r>
            <a:r>
              <a:rPr sz="2000" i="1" dirty="0"/>
              <a:t>q</a:t>
            </a:r>
            <a:r>
              <a:rPr sz="2000" i="1" baseline="-25000" dirty="0"/>
              <a:t>i</a:t>
            </a:r>
            <a:r>
              <a:rPr sz="2000" dirty="0"/>
              <a:t>, find its nearest neighbor in D </a:t>
            </a:r>
            <a:r>
              <a:rPr sz="2000" dirty="0">
                <a:latin typeface="Times New Roman" panose="02020603050405020304" pitchFamily="18" charset="0"/>
                <a:cs typeface="Times New Roman" panose="02020603050405020304" pitchFamily="18" charset="0"/>
              </a:rPr>
              <a:t>– </a:t>
            </a:r>
            <a:r>
              <a:rPr sz="2000" dirty="0"/>
              <a:t>{</a:t>
            </a:r>
            <a:r>
              <a:rPr sz="2000" i="1" dirty="0"/>
              <a:t>q</a:t>
            </a:r>
            <a:r>
              <a:rPr sz="2000" i="1" baseline="-25000" dirty="0"/>
              <a:t>i</a:t>
            </a:r>
            <a:r>
              <a:rPr sz="2000" dirty="0"/>
              <a:t>}:  </a:t>
            </a:r>
            <a:r>
              <a:rPr sz="2000" i="1" dirty="0"/>
              <a:t>y</a:t>
            </a:r>
            <a:r>
              <a:rPr sz="2000" i="1" baseline="-25000" dirty="0"/>
              <a:t>i</a:t>
            </a:r>
            <a:r>
              <a:rPr sz="2000" dirty="0"/>
              <a:t> = </a:t>
            </a:r>
            <a:r>
              <a:rPr sz="2000" i="1" dirty="0"/>
              <a:t>min{dist (q</a:t>
            </a:r>
            <a:r>
              <a:rPr sz="2000" i="1" baseline="-25000" dirty="0"/>
              <a:t>i</a:t>
            </a:r>
            <a:r>
              <a:rPr sz="2000" i="1" dirty="0"/>
              <a:t>, v)}</a:t>
            </a:r>
            <a:r>
              <a:rPr sz="2000" dirty="0"/>
              <a:t> where </a:t>
            </a:r>
            <a:r>
              <a:rPr sz="2000" i="1" dirty="0"/>
              <a:t>v</a:t>
            </a:r>
            <a:r>
              <a:rPr sz="2000" dirty="0"/>
              <a:t> in D and v </a:t>
            </a:r>
            <a:r>
              <a:rPr sz="2000" dirty="0">
                <a:cs typeface="Arial" panose="020B0604020202020204" pitchFamily="34" charset="0"/>
              </a:rPr>
              <a:t>≠ </a:t>
            </a:r>
            <a:r>
              <a:rPr sz="2000" i="1" dirty="0"/>
              <a:t>q</a:t>
            </a:r>
            <a:r>
              <a:rPr sz="2000" i="1" baseline="-25000" dirty="0"/>
              <a:t>i</a:t>
            </a:r>
            <a:endParaRPr sz="2000" i="1" baseline="-25000" dirty="0"/>
          </a:p>
          <a:p>
            <a:pPr lvl="1"/>
            <a:r>
              <a:rPr sz="2000" dirty="0"/>
              <a:t>Calculate the Hopkins Statistic:</a:t>
            </a:r>
            <a:endParaRPr sz="2000" i="1" dirty="0"/>
          </a:p>
          <a:p>
            <a:pPr lvl="1"/>
            <a:endParaRPr sz="2000" dirty="0">
              <a:cs typeface="Arial" panose="020B0604020202020204" pitchFamily="34" charset="0"/>
            </a:endParaRPr>
          </a:p>
          <a:p>
            <a:pPr lvl="1"/>
            <a:r>
              <a:rPr sz="2000" dirty="0"/>
              <a:t>If D is uniformly distributed, </a:t>
            </a:r>
            <a:r>
              <a:rPr sz="2000" dirty="0">
                <a:cs typeface="Arial" panose="020B0604020202020204" pitchFamily="34" charset="0"/>
              </a:rPr>
              <a:t>∑ x</a:t>
            </a:r>
            <a:r>
              <a:rPr sz="2000" baseline="-25000" dirty="0">
                <a:cs typeface="Arial" panose="020B0604020202020204" pitchFamily="34" charset="0"/>
              </a:rPr>
              <a:t>i</a:t>
            </a:r>
            <a:r>
              <a:rPr sz="2000" dirty="0">
                <a:cs typeface="Arial" panose="020B0604020202020204" pitchFamily="34" charset="0"/>
              </a:rPr>
              <a:t> and ∑ y</a:t>
            </a:r>
            <a:r>
              <a:rPr sz="2000" baseline="-25000" dirty="0">
                <a:cs typeface="Arial" panose="020B0604020202020204" pitchFamily="34" charset="0"/>
              </a:rPr>
              <a:t>i</a:t>
            </a:r>
            <a:r>
              <a:rPr sz="2000" dirty="0">
                <a:cs typeface="Arial" panose="020B0604020202020204" pitchFamily="34" charset="0"/>
              </a:rPr>
              <a:t> will be close to each other and H is close to 0.5.  If D is highly skewed, H is close to 0</a:t>
            </a:r>
            <a:endParaRPr sz="2000" dirty="0">
              <a:cs typeface="Arial" panose="020B0604020202020204" pitchFamily="34" charset="0"/>
            </a:endParaRPr>
          </a:p>
          <a:p>
            <a:endParaRPr sz="2000" dirty="0"/>
          </a:p>
        </p:txBody>
      </p:sp>
      <p:pic>
        <p:nvPicPr>
          <p:cNvPr id="70660" name="Picture 4"/>
          <p:cNvPicPr>
            <a:picLocks noChangeAspect="1"/>
          </p:cNvPicPr>
          <p:nvPr/>
        </p:nvPicPr>
        <p:blipFill>
          <a:blip r:embed="rId1"/>
          <a:stretch>
            <a:fillRect/>
          </a:stretch>
        </p:blipFill>
        <p:spPr>
          <a:xfrm>
            <a:off x="4800600" y="4876800"/>
            <a:ext cx="3048000" cy="733425"/>
          </a:xfrm>
          <a:prstGeom prst="rect">
            <a:avLst/>
          </a:prstGeom>
          <a:noFill/>
          <a:ln w="9525">
            <a:noFill/>
          </a:ln>
        </p:spPr>
      </p:pic>
      <p:sp>
        <p:nvSpPr>
          <p:cNvPr id="70661"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b="1" dirty="0">
                <a:latin typeface="Tahoma" panose="020B0604030504040204" pitchFamily="34" charset="0"/>
              </a:rPr>
            </a:fld>
            <a:endParaRPr lang="en-US" sz="1200" b="1" dirty="0">
              <a:latin typeface="Tahoma" panose="020B0604030504040204" pitchFamily="34" charset="0"/>
            </a:endParaRPr>
          </a:p>
        </p:txBody>
      </p:sp>
    </p:spTree>
  </p:cSld>
  <p:clrMapOvr>
    <a:masterClrMapping/>
  </p:clrMapOvr>
  <p:transition>
    <p:zo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p:cNvSpPr>
          <p:nvPr>
            <p:ph type="title"/>
          </p:nvPr>
        </p:nvSpPr>
        <p:spPr/>
        <p:txBody>
          <a:bodyPr vert="horz" wrap="square" lIns="91440" tIns="45720" rIns="91440" bIns="45720" anchor="b" anchorCtr="0"/>
          <a:p>
            <a:r>
              <a:rPr sz="3200" dirty="0"/>
              <a:t>Determine the Number of Clusters</a:t>
            </a:r>
            <a:endParaRPr sz="3200" dirty="0"/>
          </a:p>
        </p:txBody>
      </p:sp>
      <p:sp>
        <p:nvSpPr>
          <p:cNvPr id="71683" name="Rectangle 3"/>
          <p:cNvSpPr>
            <a:spLocks noGrp="1"/>
          </p:cNvSpPr>
          <p:nvPr>
            <p:ph type="body" idx="4294967295"/>
          </p:nvPr>
        </p:nvSpPr>
        <p:spPr>
          <a:xfrm>
            <a:off x="228600" y="1371600"/>
            <a:ext cx="8686800" cy="5334000"/>
          </a:xfrm>
        </p:spPr>
        <p:txBody>
          <a:bodyPr vert="horz" wrap="square" lIns="91440" tIns="45720" rIns="91440" bIns="45720" anchor="t" anchorCtr="0"/>
          <a:p>
            <a:r>
              <a:rPr sz="2000" dirty="0"/>
              <a:t>Empirical method</a:t>
            </a:r>
            <a:endParaRPr sz="2000" dirty="0"/>
          </a:p>
          <a:p>
            <a:pPr lvl="1"/>
            <a:r>
              <a:rPr sz="2000" dirty="0"/>
              <a:t># of clusters </a:t>
            </a:r>
            <a:r>
              <a:rPr sz="2000" dirty="0">
                <a:cs typeface="Arial" panose="020B0604020202020204" pitchFamily="34" charset="0"/>
              </a:rPr>
              <a:t>≈√n/2 for a dataset of n points</a:t>
            </a:r>
            <a:endParaRPr sz="2000" dirty="0">
              <a:cs typeface="Arial" panose="020B0604020202020204" pitchFamily="34" charset="0"/>
            </a:endParaRPr>
          </a:p>
          <a:p>
            <a:r>
              <a:rPr sz="2000" dirty="0">
                <a:cs typeface="Arial" panose="020B0604020202020204" pitchFamily="34" charset="0"/>
              </a:rPr>
              <a:t>Elbow method</a:t>
            </a:r>
            <a:endParaRPr sz="2000" dirty="0">
              <a:cs typeface="Arial" panose="020B0604020202020204" pitchFamily="34" charset="0"/>
            </a:endParaRPr>
          </a:p>
          <a:p>
            <a:pPr lvl="1"/>
            <a:r>
              <a:rPr sz="2000" dirty="0">
                <a:cs typeface="Arial" panose="020B0604020202020204" pitchFamily="34" charset="0"/>
              </a:rPr>
              <a:t>Use the turning point in the curve of sum of within cluster variance w.r.t  the # of clusters</a:t>
            </a:r>
            <a:endParaRPr sz="2000" dirty="0">
              <a:cs typeface="Arial" panose="020B0604020202020204" pitchFamily="34" charset="0"/>
            </a:endParaRPr>
          </a:p>
          <a:p>
            <a:r>
              <a:rPr sz="2000" dirty="0">
                <a:cs typeface="Arial" panose="020B0604020202020204" pitchFamily="34" charset="0"/>
              </a:rPr>
              <a:t>Cross validation method</a:t>
            </a:r>
            <a:endParaRPr sz="2000" dirty="0">
              <a:cs typeface="Arial" panose="020B0604020202020204" pitchFamily="34" charset="0"/>
            </a:endParaRPr>
          </a:p>
          <a:p>
            <a:pPr lvl="1"/>
            <a:r>
              <a:rPr sz="2000" dirty="0">
                <a:cs typeface="Arial" panose="020B0604020202020204" pitchFamily="34" charset="0"/>
              </a:rPr>
              <a:t>Divide a given data set into </a:t>
            </a:r>
            <a:r>
              <a:rPr sz="2000" i="1" dirty="0">
                <a:cs typeface="Arial" panose="020B0604020202020204" pitchFamily="34" charset="0"/>
              </a:rPr>
              <a:t>m</a:t>
            </a:r>
            <a:r>
              <a:rPr sz="2000" dirty="0">
                <a:cs typeface="Arial" panose="020B0604020202020204" pitchFamily="34" charset="0"/>
              </a:rPr>
              <a:t> parts</a:t>
            </a:r>
            <a:endParaRPr sz="2000" dirty="0">
              <a:cs typeface="Arial" panose="020B0604020202020204" pitchFamily="34" charset="0"/>
            </a:endParaRPr>
          </a:p>
          <a:p>
            <a:pPr lvl="1"/>
            <a:r>
              <a:rPr sz="2000" dirty="0">
                <a:cs typeface="Arial" panose="020B0604020202020204" pitchFamily="34" charset="0"/>
              </a:rPr>
              <a:t>Use </a:t>
            </a:r>
            <a:r>
              <a:rPr sz="2000" i="1" dirty="0">
                <a:cs typeface="Arial" panose="020B0604020202020204" pitchFamily="34" charset="0"/>
              </a:rPr>
              <a:t>m</a:t>
            </a:r>
            <a:r>
              <a:rPr sz="2000" dirty="0">
                <a:cs typeface="Arial" panose="020B0604020202020204" pitchFamily="34" charset="0"/>
              </a:rPr>
              <a:t> </a:t>
            </a:r>
            <a:r>
              <a:rPr sz="2000" dirty="0">
                <a:cs typeface="Times New Roman" panose="02020603050405020304" pitchFamily="18" charset="0"/>
              </a:rPr>
              <a:t>–</a:t>
            </a:r>
            <a:r>
              <a:rPr sz="2000" dirty="0">
                <a:cs typeface="Arial" panose="020B0604020202020204" pitchFamily="34" charset="0"/>
              </a:rPr>
              <a:t> 1 parts to obtain a clustering model</a:t>
            </a:r>
            <a:endParaRPr sz="2000" dirty="0">
              <a:cs typeface="Arial" panose="020B0604020202020204" pitchFamily="34" charset="0"/>
            </a:endParaRPr>
          </a:p>
          <a:p>
            <a:pPr lvl="1"/>
            <a:r>
              <a:rPr sz="2000" dirty="0">
                <a:cs typeface="Arial" panose="020B0604020202020204" pitchFamily="34" charset="0"/>
              </a:rPr>
              <a:t>Use the remaining part to test the quality of the clustering</a:t>
            </a:r>
            <a:endParaRPr sz="2000" dirty="0">
              <a:cs typeface="Arial" panose="020B0604020202020204" pitchFamily="34" charset="0"/>
            </a:endParaRPr>
          </a:p>
          <a:p>
            <a:pPr lvl="2"/>
            <a:r>
              <a:rPr sz="2000" dirty="0">
                <a:cs typeface="Arial" panose="020B0604020202020204" pitchFamily="34" charset="0"/>
              </a:rPr>
              <a:t>E.g., For each point in the test set, find the closest centroid, and use the sum of squared distance between all points in the test set and the closest centroids to measure how well the model fits the test set</a:t>
            </a:r>
            <a:endParaRPr sz="2000" dirty="0">
              <a:cs typeface="Arial" panose="020B0604020202020204" pitchFamily="34" charset="0"/>
            </a:endParaRPr>
          </a:p>
          <a:p>
            <a:pPr lvl="1"/>
            <a:r>
              <a:rPr sz="2000" dirty="0">
                <a:cs typeface="Arial" panose="020B0604020202020204" pitchFamily="34" charset="0"/>
              </a:rPr>
              <a:t>For any k &gt; 0, repeat it </a:t>
            </a:r>
            <a:r>
              <a:rPr sz="2000" i="1" dirty="0">
                <a:cs typeface="Arial" panose="020B0604020202020204" pitchFamily="34" charset="0"/>
              </a:rPr>
              <a:t>m</a:t>
            </a:r>
            <a:r>
              <a:rPr sz="2000" dirty="0">
                <a:cs typeface="Arial" panose="020B0604020202020204" pitchFamily="34" charset="0"/>
              </a:rPr>
              <a:t> times, compare the overall quality measure w.r.t. different </a:t>
            </a:r>
            <a:r>
              <a:rPr sz="2000" i="1" dirty="0">
                <a:cs typeface="Arial" panose="020B0604020202020204" pitchFamily="34" charset="0"/>
              </a:rPr>
              <a:t>k’s</a:t>
            </a:r>
            <a:r>
              <a:rPr sz="2000" dirty="0">
                <a:cs typeface="Arial" panose="020B0604020202020204" pitchFamily="34" charset="0"/>
              </a:rPr>
              <a:t>, and find # of clusters that fits the data the best</a:t>
            </a:r>
            <a:endParaRPr sz="2000" dirty="0">
              <a:ea typeface="Arial" panose="020B0604020202020204" pitchFamily="34" charset="0"/>
            </a:endParaRPr>
          </a:p>
        </p:txBody>
      </p:sp>
      <p:sp>
        <p:nvSpPr>
          <p:cNvPr id="71684"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b="1" dirty="0">
                <a:latin typeface="Tahoma" panose="020B0604030504040204" pitchFamily="34" charset="0"/>
              </a:rPr>
            </a:fld>
            <a:endParaRPr lang="en-US" sz="1200" b="1" dirty="0">
              <a:latin typeface="Tahoma" panose="020B0604030504040204" pitchFamily="34" charset="0"/>
            </a:endParaRPr>
          </a:p>
        </p:txBody>
      </p:sp>
    </p:spTree>
  </p:cSld>
  <p:clrMapOvr>
    <a:masterClrMapping/>
  </p:clrMapOvr>
  <p:transition>
    <p:zo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2"/>
          <p:cNvSpPr>
            <a:spLocks noGrp="1"/>
          </p:cNvSpPr>
          <p:nvPr>
            <p:ph type="title"/>
          </p:nvPr>
        </p:nvSpPr>
        <p:spPr/>
        <p:txBody>
          <a:bodyPr vert="horz" wrap="square" lIns="91440" tIns="45720" rIns="91440" bIns="45720" anchor="b" anchorCtr="0"/>
          <a:p>
            <a:r>
              <a:rPr sz="3200" dirty="0"/>
              <a:t>Measuring Clustering Quality</a:t>
            </a:r>
            <a:endParaRPr sz="3200" dirty="0"/>
          </a:p>
        </p:txBody>
      </p:sp>
      <p:sp>
        <p:nvSpPr>
          <p:cNvPr id="72707" name="Rectangle 3"/>
          <p:cNvSpPr>
            <a:spLocks noGrp="1"/>
          </p:cNvSpPr>
          <p:nvPr>
            <p:ph type="body" idx="4294967295"/>
          </p:nvPr>
        </p:nvSpPr>
        <p:spPr>
          <a:xfrm>
            <a:off x="381000" y="1371600"/>
            <a:ext cx="8534400" cy="5105400"/>
          </a:xfrm>
        </p:spPr>
        <p:txBody>
          <a:bodyPr vert="horz" wrap="square" lIns="91440" tIns="45720" rIns="91440" bIns="45720" anchor="t" anchorCtr="0"/>
          <a:p>
            <a:pPr>
              <a:lnSpc>
                <a:spcPct val="120000"/>
              </a:lnSpc>
            </a:pPr>
            <a:r>
              <a:rPr sz="2400" dirty="0"/>
              <a:t>Two methods: extrinsic vs. intrinsic  </a:t>
            </a:r>
            <a:endParaRPr sz="2400" dirty="0"/>
          </a:p>
          <a:p>
            <a:pPr>
              <a:lnSpc>
                <a:spcPct val="120000"/>
              </a:lnSpc>
            </a:pPr>
            <a:r>
              <a:rPr sz="2400" dirty="0"/>
              <a:t>Extrinsic: supervised, i.e., the ground truth is available</a:t>
            </a:r>
            <a:endParaRPr sz="2400" dirty="0"/>
          </a:p>
          <a:p>
            <a:pPr lvl="1">
              <a:lnSpc>
                <a:spcPct val="120000"/>
              </a:lnSpc>
            </a:pPr>
            <a:r>
              <a:rPr sz="2400" dirty="0"/>
              <a:t>Compare a clustering against the ground truth using certain clustering quality measure</a:t>
            </a:r>
            <a:endParaRPr sz="2400" dirty="0"/>
          </a:p>
          <a:p>
            <a:pPr lvl="1">
              <a:lnSpc>
                <a:spcPct val="120000"/>
              </a:lnSpc>
            </a:pPr>
            <a:r>
              <a:rPr sz="2400" dirty="0"/>
              <a:t>Ex. BCubed precision and recall metrics</a:t>
            </a:r>
            <a:endParaRPr sz="2400" dirty="0"/>
          </a:p>
          <a:p>
            <a:pPr>
              <a:lnSpc>
                <a:spcPct val="120000"/>
              </a:lnSpc>
            </a:pPr>
            <a:r>
              <a:rPr sz="2400" dirty="0"/>
              <a:t>Intrinsic: unsupervised, i.e., the ground truth is unavailable</a:t>
            </a:r>
            <a:endParaRPr sz="2400" dirty="0"/>
          </a:p>
          <a:p>
            <a:pPr lvl="1">
              <a:lnSpc>
                <a:spcPct val="120000"/>
              </a:lnSpc>
            </a:pPr>
            <a:r>
              <a:rPr sz="2400" dirty="0"/>
              <a:t>Evaluate the goodness of a clustering by considering how well the clusters are separated, and how compact the clusters are</a:t>
            </a:r>
            <a:endParaRPr sz="2400" dirty="0"/>
          </a:p>
          <a:p>
            <a:pPr lvl="1">
              <a:lnSpc>
                <a:spcPct val="120000"/>
              </a:lnSpc>
            </a:pPr>
            <a:r>
              <a:rPr sz="2400" dirty="0"/>
              <a:t>Ex. Silhouette coefficient</a:t>
            </a:r>
            <a:endParaRPr sz="2400" dirty="0"/>
          </a:p>
        </p:txBody>
      </p:sp>
      <p:sp>
        <p:nvSpPr>
          <p:cNvPr id="72708"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b="1" dirty="0">
                <a:latin typeface="Tahoma" panose="020B0604030504040204" pitchFamily="34" charset="0"/>
              </a:rPr>
            </a:fld>
            <a:endParaRPr lang="en-US" sz="1200" b="1" dirty="0">
              <a:latin typeface="Tahoma" panose="020B0604030504040204" pitchFamily="34" charset="0"/>
            </a:endParaRPr>
          </a:p>
        </p:txBody>
      </p:sp>
    </p:spTree>
  </p:cSld>
  <p:clrMapOvr>
    <a:masterClrMapping/>
  </p:clrMapOvr>
  <p:transition>
    <p:zo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Grp="1"/>
          </p:cNvSpPr>
          <p:nvPr>
            <p:ph type="title"/>
          </p:nvPr>
        </p:nvSpPr>
        <p:spPr>
          <a:xfrm>
            <a:off x="0" y="381000"/>
            <a:ext cx="9144000" cy="609600"/>
          </a:xfrm>
        </p:spPr>
        <p:txBody>
          <a:bodyPr vert="horz" wrap="square" lIns="91440" tIns="45720" rIns="91440" bIns="45720" anchor="b" anchorCtr="0"/>
          <a:p>
            <a:r>
              <a:rPr sz="3200" dirty="0"/>
              <a:t>Measuring Clustering Quality: Extrinsic Methods </a:t>
            </a:r>
            <a:endParaRPr sz="3200" dirty="0"/>
          </a:p>
        </p:txBody>
      </p:sp>
      <p:sp>
        <p:nvSpPr>
          <p:cNvPr id="73731" name="Rectangle 3"/>
          <p:cNvSpPr>
            <a:spLocks noGrp="1"/>
          </p:cNvSpPr>
          <p:nvPr>
            <p:ph type="body" idx="4294967295"/>
          </p:nvPr>
        </p:nvSpPr>
        <p:spPr/>
        <p:txBody>
          <a:bodyPr vert="horz" wrap="square" lIns="91440" tIns="45720" rIns="91440" bIns="45720" anchor="t" anchorCtr="0"/>
          <a:p>
            <a:r>
              <a:rPr sz="2400" dirty="0"/>
              <a:t>Clustering quality measure: </a:t>
            </a:r>
            <a:r>
              <a:rPr sz="2400" i="1" dirty="0"/>
              <a:t>Q(C, C</a:t>
            </a:r>
            <a:r>
              <a:rPr sz="2400" i="1" baseline="-25000" dirty="0"/>
              <a:t>g</a:t>
            </a:r>
            <a:r>
              <a:rPr sz="2400" i="1" dirty="0"/>
              <a:t>),</a:t>
            </a:r>
            <a:r>
              <a:rPr sz="2400" dirty="0"/>
              <a:t> for a clustering </a:t>
            </a:r>
            <a:r>
              <a:rPr sz="2400" i="1" dirty="0"/>
              <a:t>C</a:t>
            </a:r>
            <a:r>
              <a:rPr sz="2400" dirty="0"/>
              <a:t> given the ground truth </a:t>
            </a:r>
            <a:r>
              <a:rPr sz="2400" i="1" dirty="0"/>
              <a:t>C</a:t>
            </a:r>
            <a:r>
              <a:rPr sz="2400" i="1" baseline="-25000" dirty="0"/>
              <a:t>g</a:t>
            </a:r>
            <a:r>
              <a:rPr sz="2400" dirty="0"/>
              <a:t>. </a:t>
            </a:r>
            <a:endParaRPr sz="2400" dirty="0"/>
          </a:p>
          <a:p>
            <a:r>
              <a:rPr sz="2400" i="1" dirty="0"/>
              <a:t>Q</a:t>
            </a:r>
            <a:r>
              <a:rPr sz="2400" dirty="0"/>
              <a:t> is good if it satisfies the following </a:t>
            </a:r>
            <a:r>
              <a:rPr sz="2400" b="1" dirty="0"/>
              <a:t>4</a:t>
            </a:r>
            <a:r>
              <a:rPr sz="2400" dirty="0"/>
              <a:t> essential criteria</a:t>
            </a:r>
            <a:endParaRPr sz="2400" dirty="0"/>
          </a:p>
          <a:p>
            <a:pPr lvl="1"/>
            <a:r>
              <a:rPr sz="2400" dirty="0"/>
              <a:t>Cluster homogeneity: the purer, the better</a:t>
            </a:r>
            <a:endParaRPr sz="2400" dirty="0"/>
          </a:p>
          <a:p>
            <a:pPr lvl="1"/>
            <a:r>
              <a:rPr sz="2400" dirty="0"/>
              <a:t>Cluster completeness: should assign objects belong to the same category in the ground truth to the same cluster</a:t>
            </a:r>
            <a:endParaRPr sz="2400" dirty="0"/>
          </a:p>
          <a:p>
            <a:pPr lvl="1"/>
            <a:r>
              <a:rPr sz="2400" dirty="0"/>
              <a:t>Rag bag: putting a heterogeneous object into a pure cluster should be penalized more than putting it into a </a:t>
            </a:r>
            <a:r>
              <a:rPr sz="2400" i="1" dirty="0"/>
              <a:t>rag bag</a:t>
            </a:r>
            <a:r>
              <a:rPr sz="2400" dirty="0"/>
              <a:t> (i.e., “miscellaneous” or “other” category)</a:t>
            </a:r>
            <a:endParaRPr sz="2400" dirty="0"/>
          </a:p>
          <a:p>
            <a:pPr lvl="1"/>
            <a:r>
              <a:rPr sz="2400" dirty="0"/>
              <a:t>Small cluster preservation: splitting a small category into pieces is more harmful than splitting a large category into pieces</a:t>
            </a:r>
            <a:endParaRPr sz="2400" dirty="0"/>
          </a:p>
        </p:txBody>
      </p:sp>
      <p:sp>
        <p:nvSpPr>
          <p:cNvPr id="73732"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b="1" dirty="0">
                <a:latin typeface="Tahoma" panose="020B0604030504040204" pitchFamily="34" charset="0"/>
              </a:rPr>
            </a:fld>
            <a:endParaRPr lang="en-US" sz="1200" b="1" dirty="0">
              <a:latin typeface="Tahoma" panose="020B0604030504040204" pitchFamily="34" charset="0"/>
            </a:endParaRPr>
          </a:p>
        </p:txBody>
      </p:sp>
    </p:spTree>
  </p:cSld>
  <p:clrMapOvr>
    <a:masterClrMapping/>
  </p:clrMapOvr>
  <p:transition>
    <p:zo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74755" name="Rectangle 2"/>
          <p:cNvSpPr>
            <a:spLocks noGrp="1"/>
          </p:cNvSpPr>
          <p:nvPr>
            <p:ph type="title"/>
          </p:nvPr>
        </p:nvSpPr>
        <p:spPr>
          <a:xfrm>
            <a:off x="0" y="152400"/>
            <a:ext cx="9144000" cy="990600"/>
          </a:xfrm>
        </p:spPr>
        <p:txBody>
          <a:bodyPr vert="horz" wrap="square" lIns="92075" tIns="46038" rIns="92075" bIns="46038" anchor="ctr" anchorCtr="0"/>
          <a:p>
            <a:pPr eaLnBrk="1" hangingPunct="1"/>
            <a:r>
              <a:rPr sz="3200" dirty="0"/>
              <a:t>Chapter 10. </a:t>
            </a:r>
            <a:r>
              <a:rPr lang="en-AU" altLang="zh-TW" sz="3200" dirty="0">
                <a:ea typeface="PMingLiU" panose="02020500000000000000" pitchFamily="18" charset="-120"/>
              </a:rPr>
              <a:t>Cluster Analysis: Basic Concepts and Methods</a:t>
            </a:r>
            <a:endParaRPr sz="3200" dirty="0">
              <a:ea typeface="PMingLiU" panose="02020500000000000000" pitchFamily="18" charset="-120"/>
            </a:endParaRPr>
          </a:p>
        </p:txBody>
      </p:sp>
      <p:sp>
        <p:nvSpPr>
          <p:cNvPr id="74756" name="Rectangle 3"/>
          <p:cNvSpPr>
            <a:spLocks noGrp="1"/>
          </p:cNvSpPr>
          <p:nvPr>
            <p:ph type="body" idx="4294967295"/>
          </p:nvPr>
        </p:nvSpPr>
        <p:spPr>
          <a:xfrm>
            <a:off x="381000" y="1371600"/>
            <a:ext cx="8223250" cy="5181600"/>
          </a:xfrm>
        </p:spPr>
        <p:txBody>
          <a:bodyPr vert="horz" wrap="square" lIns="92075" tIns="46038" rIns="92075" bIns="46038" anchor="t" anchorCtr="0"/>
          <a:p>
            <a:pPr marL="533400" indent="-533400">
              <a:lnSpc>
                <a:spcPct val="150000"/>
              </a:lnSpc>
            </a:pPr>
            <a:r>
              <a:rPr dirty="0">
                <a:latin typeface="Calibri" panose="020F0502020204030204" pitchFamily="34" charset="0"/>
              </a:rPr>
              <a:t>Cluster Analysis: Basic Concepts</a:t>
            </a:r>
            <a:endParaRPr dirty="0">
              <a:latin typeface="Calibri" panose="020F0502020204030204" pitchFamily="34" charset="0"/>
            </a:endParaRPr>
          </a:p>
          <a:p>
            <a:pPr marL="533400" indent="-533400">
              <a:lnSpc>
                <a:spcPct val="150000"/>
              </a:lnSpc>
            </a:pPr>
            <a:r>
              <a:rPr dirty="0">
                <a:latin typeface="Calibri" panose="020F0502020204030204" pitchFamily="34" charset="0"/>
              </a:rPr>
              <a:t>Partitioning Methods</a:t>
            </a:r>
            <a:endParaRPr dirty="0">
              <a:latin typeface="Calibri" panose="020F0502020204030204" pitchFamily="34" charset="0"/>
            </a:endParaRPr>
          </a:p>
          <a:p>
            <a:pPr marL="533400" indent="-533400">
              <a:lnSpc>
                <a:spcPct val="150000"/>
              </a:lnSpc>
            </a:pPr>
            <a:r>
              <a:rPr dirty="0">
                <a:latin typeface="Calibri" panose="020F0502020204030204" pitchFamily="34" charset="0"/>
              </a:rPr>
              <a:t>Hierarchical Methods</a:t>
            </a:r>
            <a:endParaRPr dirty="0">
              <a:latin typeface="Calibri" panose="020F0502020204030204" pitchFamily="34" charset="0"/>
            </a:endParaRPr>
          </a:p>
          <a:p>
            <a:pPr marL="533400" indent="-533400">
              <a:lnSpc>
                <a:spcPct val="150000"/>
              </a:lnSpc>
            </a:pPr>
            <a:r>
              <a:rPr dirty="0">
                <a:latin typeface="Calibri" panose="020F0502020204030204" pitchFamily="34" charset="0"/>
              </a:rPr>
              <a:t>Density-Based Methods</a:t>
            </a:r>
            <a:endParaRPr dirty="0">
              <a:latin typeface="Calibri" panose="020F0502020204030204" pitchFamily="34" charset="0"/>
            </a:endParaRPr>
          </a:p>
          <a:p>
            <a:pPr marL="533400" indent="-533400">
              <a:lnSpc>
                <a:spcPct val="150000"/>
              </a:lnSpc>
            </a:pPr>
            <a:r>
              <a:rPr dirty="0">
                <a:latin typeface="Calibri" panose="020F0502020204030204" pitchFamily="34" charset="0"/>
              </a:rPr>
              <a:t>Grid-Based Methods</a:t>
            </a:r>
            <a:endParaRPr dirty="0">
              <a:latin typeface="Calibri" panose="020F0502020204030204" pitchFamily="34" charset="0"/>
            </a:endParaRPr>
          </a:p>
          <a:p>
            <a:pPr marL="533400" indent="-533400">
              <a:lnSpc>
                <a:spcPct val="150000"/>
              </a:lnSpc>
            </a:pPr>
            <a:r>
              <a:rPr dirty="0">
                <a:latin typeface="Calibri" panose="020F0502020204030204" pitchFamily="34" charset="0"/>
              </a:rPr>
              <a:t>Evaluation of Clustering</a:t>
            </a:r>
            <a:endParaRPr dirty="0">
              <a:latin typeface="Calibri" panose="020F0502020204030204" pitchFamily="34" charset="0"/>
            </a:endParaRPr>
          </a:p>
          <a:p>
            <a:pPr marL="533400" indent="-533400">
              <a:lnSpc>
                <a:spcPct val="150000"/>
              </a:lnSpc>
            </a:pPr>
            <a:r>
              <a:rPr dirty="0">
                <a:latin typeface="Calibri" panose="020F0502020204030204" pitchFamily="34" charset="0"/>
              </a:rPr>
              <a:t>Summary</a:t>
            </a:r>
            <a:endParaRPr dirty="0">
              <a:latin typeface="Calibri" panose="020F0502020204030204" pitchFamily="34" charset="0"/>
            </a:endParaRPr>
          </a:p>
        </p:txBody>
      </p:sp>
      <p:sp>
        <p:nvSpPr>
          <p:cNvPr id="74757" name="AutoShape 5"/>
          <p:cNvSpPr/>
          <p:nvPr/>
        </p:nvSpPr>
        <p:spPr>
          <a:xfrm rot="9867012">
            <a:off x="2743200" y="5943600"/>
            <a:ext cx="304800" cy="381000"/>
          </a:xfrm>
          <a:prstGeom prst="notchedRightArrow">
            <a:avLst>
              <a:gd name="adj1" fmla="val 50000"/>
              <a:gd name="adj2" fmla="val 25000"/>
            </a:avLst>
          </a:prstGeom>
          <a:solidFill>
            <a:srgbClr val="00CCFF"/>
          </a:solidFill>
          <a:ln w="9525" cap="flat" cmpd="sng">
            <a:solidFill>
              <a:schemeClr val="tx1"/>
            </a:solidFill>
            <a:prstDash val="solid"/>
            <a:miter/>
            <a:headEnd type="none" w="med" len="med"/>
            <a:tailEnd type="none" w="med" len="med"/>
          </a:ln>
        </p:spPr>
        <p:txBody>
          <a:bodyPr rot="10800000" wrap="none" anchor="ctr" anchorCtr="0"/>
          <a:p>
            <a:endParaRPr dirty="0">
              <a:latin typeface="Tahoma" panose="020B0604030504040204" pitchFamily="34" charset="0"/>
            </a:endParaRPr>
          </a:p>
        </p:txBody>
      </p:sp>
      <p:sp>
        <p:nvSpPr>
          <p:cNvPr id="74758"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Grp="1"/>
          </p:cNvSpPr>
          <p:nvPr>
            <p:ph type="title"/>
          </p:nvPr>
        </p:nvSpPr>
        <p:spPr>
          <a:xfrm>
            <a:off x="2667000" y="457200"/>
            <a:ext cx="3657600" cy="609600"/>
          </a:xfrm>
        </p:spPr>
        <p:txBody>
          <a:bodyPr vert="horz" wrap="square" lIns="91440" tIns="45720" rIns="91440" bIns="45720" anchor="b" anchorCtr="0"/>
          <a:p>
            <a:pPr eaLnBrk="1" hangingPunct="1"/>
            <a:r>
              <a:rPr sz="4800" dirty="0"/>
              <a:t>Summary</a:t>
            </a:r>
            <a:endParaRPr sz="4800" dirty="0"/>
          </a:p>
        </p:txBody>
      </p:sp>
      <p:sp>
        <p:nvSpPr>
          <p:cNvPr id="75779" name="Rectangle 3"/>
          <p:cNvSpPr>
            <a:spLocks noGrp="1"/>
          </p:cNvSpPr>
          <p:nvPr>
            <p:ph idx="1"/>
          </p:nvPr>
        </p:nvSpPr>
        <p:spPr>
          <a:xfrm>
            <a:off x="381000" y="1295400"/>
            <a:ext cx="8382000" cy="5410200"/>
          </a:xfrm>
        </p:spPr>
        <p:txBody>
          <a:bodyPr vert="horz" wrap="square" lIns="91440" tIns="45720" rIns="91440" bIns="45720" anchor="t" anchorCtr="0"/>
          <a:p>
            <a:pPr eaLnBrk="1" hangingPunct="1"/>
            <a:r>
              <a:rPr sz="2000" dirty="0">
                <a:solidFill>
                  <a:schemeClr val="hlink"/>
                </a:solidFill>
              </a:rPr>
              <a:t>Cluster analysis</a:t>
            </a:r>
            <a:r>
              <a:rPr sz="2000" dirty="0"/>
              <a:t> groups objects based on their </a:t>
            </a:r>
            <a:r>
              <a:rPr sz="2000" dirty="0">
                <a:solidFill>
                  <a:schemeClr val="hlink"/>
                </a:solidFill>
              </a:rPr>
              <a:t>similarity</a:t>
            </a:r>
            <a:r>
              <a:rPr sz="2000" dirty="0"/>
              <a:t>  and has wide applications</a:t>
            </a:r>
            <a:endParaRPr sz="2000" dirty="0"/>
          </a:p>
          <a:p>
            <a:pPr eaLnBrk="1" hangingPunct="1"/>
            <a:r>
              <a:rPr sz="2000" dirty="0"/>
              <a:t>Measure of similarity can be computed for </a:t>
            </a:r>
            <a:r>
              <a:rPr sz="2000" dirty="0">
                <a:solidFill>
                  <a:schemeClr val="hlink"/>
                </a:solidFill>
              </a:rPr>
              <a:t>various types of data</a:t>
            </a:r>
            <a:endParaRPr sz="2000" dirty="0">
              <a:solidFill>
                <a:schemeClr val="hlink"/>
              </a:solidFill>
            </a:endParaRPr>
          </a:p>
          <a:p>
            <a:pPr eaLnBrk="1" hangingPunct="1"/>
            <a:r>
              <a:rPr sz="2000" dirty="0"/>
              <a:t>Clustering algorithms can be </a:t>
            </a:r>
            <a:r>
              <a:rPr sz="2000" dirty="0">
                <a:solidFill>
                  <a:schemeClr val="hlink"/>
                </a:solidFill>
              </a:rPr>
              <a:t>categorized</a:t>
            </a:r>
            <a:r>
              <a:rPr sz="2000" dirty="0"/>
              <a:t> into partitioning methods, hierarchical methods, density-based methods, grid-based methods, and model-based methods</a:t>
            </a:r>
            <a:endParaRPr sz="2000" dirty="0"/>
          </a:p>
          <a:p>
            <a:pPr eaLnBrk="1" hangingPunct="1"/>
            <a:r>
              <a:rPr sz="2000" dirty="0">
                <a:solidFill>
                  <a:schemeClr val="hlink"/>
                </a:solidFill>
              </a:rPr>
              <a:t>K-means</a:t>
            </a:r>
            <a:r>
              <a:rPr sz="2000" dirty="0"/>
              <a:t> and </a:t>
            </a:r>
            <a:r>
              <a:rPr sz="2000" dirty="0">
                <a:solidFill>
                  <a:schemeClr val="hlink"/>
                </a:solidFill>
              </a:rPr>
              <a:t>K-medoids</a:t>
            </a:r>
            <a:r>
              <a:rPr sz="2000" dirty="0"/>
              <a:t> algorithms are popular partitioning-based clustering algorithms</a:t>
            </a:r>
            <a:endParaRPr sz="2000" dirty="0"/>
          </a:p>
          <a:p>
            <a:pPr eaLnBrk="1" hangingPunct="1"/>
            <a:r>
              <a:rPr sz="2000" dirty="0">
                <a:solidFill>
                  <a:schemeClr val="hlink"/>
                </a:solidFill>
              </a:rPr>
              <a:t>Birch</a:t>
            </a:r>
            <a:r>
              <a:rPr sz="2000" dirty="0"/>
              <a:t> and </a:t>
            </a:r>
            <a:r>
              <a:rPr sz="2000" dirty="0">
                <a:solidFill>
                  <a:schemeClr val="hlink"/>
                </a:solidFill>
              </a:rPr>
              <a:t>Chameleon</a:t>
            </a:r>
            <a:r>
              <a:rPr sz="2000" dirty="0"/>
              <a:t> are interesting hierarchical clustering algorithms, and there are also probabilistic hierarchical clustering algorithms</a:t>
            </a:r>
            <a:endParaRPr sz="2000" dirty="0"/>
          </a:p>
          <a:p>
            <a:pPr eaLnBrk="1" hangingPunct="1"/>
            <a:r>
              <a:rPr sz="2000" dirty="0">
                <a:solidFill>
                  <a:schemeClr val="hlink"/>
                </a:solidFill>
              </a:rPr>
              <a:t>DBSCAN</a:t>
            </a:r>
            <a:r>
              <a:rPr sz="2000" dirty="0"/>
              <a:t>, </a:t>
            </a:r>
            <a:r>
              <a:rPr sz="2000" dirty="0">
                <a:solidFill>
                  <a:schemeClr val="hlink"/>
                </a:solidFill>
              </a:rPr>
              <a:t>OPTICS</a:t>
            </a:r>
            <a:r>
              <a:rPr sz="2000" dirty="0"/>
              <a:t>, and </a:t>
            </a:r>
            <a:r>
              <a:rPr sz="2000" dirty="0">
                <a:solidFill>
                  <a:schemeClr val="hlink"/>
                </a:solidFill>
              </a:rPr>
              <a:t>DENCLU</a:t>
            </a:r>
            <a:r>
              <a:rPr sz="2000" dirty="0"/>
              <a:t> are interesting density-based algorithms</a:t>
            </a:r>
            <a:endParaRPr sz="2000" dirty="0"/>
          </a:p>
          <a:p>
            <a:pPr eaLnBrk="1" hangingPunct="1"/>
            <a:r>
              <a:rPr sz="2000" dirty="0">
                <a:solidFill>
                  <a:schemeClr val="hlink"/>
                </a:solidFill>
              </a:rPr>
              <a:t>STING</a:t>
            </a:r>
            <a:r>
              <a:rPr sz="2000" dirty="0"/>
              <a:t> and </a:t>
            </a:r>
            <a:r>
              <a:rPr sz="2000" dirty="0">
                <a:solidFill>
                  <a:schemeClr val="hlink"/>
                </a:solidFill>
              </a:rPr>
              <a:t>CLIQUE</a:t>
            </a:r>
            <a:r>
              <a:rPr sz="2000" dirty="0"/>
              <a:t> are grid-based methods, where CLIQUE is also a subspace clustering algorithm</a:t>
            </a:r>
            <a:endParaRPr sz="2000" dirty="0"/>
          </a:p>
          <a:p>
            <a:pPr eaLnBrk="1" hangingPunct="1"/>
            <a:r>
              <a:rPr sz="2000" dirty="0"/>
              <a:t>Quality of clustering results can be evaluated in various ways</a:t>
            </a:r>
            <a:r>
              <a:rPr sz="2000" dirty="0">
                <a:solidFill>
                  <a:schemeClr val="hlink"/>
                </a:solidFill>
              </a:rPr>
              <a:t> </a:t>
            </a:r>
            <a:endParaRPr sz="2000" dirty="0"/>
          </a:p>
        </p:txBody>
      </p:sp>
      <p:sp>
        <p:nvSpPr>
          <p:cNvPr id="75780"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Slide Number Placeholder 3"/>
          <p:cNvSpPr txBox="1">
            <a:spLocks noGrp="1"/>
          </p:cNvSpPr>
          <p:nvPr/>
        </p:nvSpPr>
        <p:spPr>
          <a:xfrm>
            <a:off x="7239000" y="6400800"/>
            <a:ext cx="1905000" cy="457200"/>
          </a:xfrm>
          <a:prstGeom prst="rect">
            <a:avLst/>
          </a:prstGeom>
          <a:noFill/>
          <a:ln w="9525">
            <a:noFill/>
          </a:ln>
        </p:spPr>
        <p:txBody>
          <a:bodyPr anchor="b" anchorCtr="0"/>
          <a:p>
            <a:pPr algn="r"/>
            <a:fld id="{9A0DB2DC-4C9A-4742-B13C-FB6460FD3503}" type="slidenum">
              <a:rPr lang="en-US" sz="1400" dirty="0">
                <a:latin typeface="Tahoma" panose="020B0604030504040204" pitchFamily="34" charset="0"/>
              </a:rPr>
            </a:fld>
            <a:endParaRPr lang="en-US" sz="1400" dirty="0">
              <a:latin typeface="Tahoma" panose="020B0604030504040204" pitchFamily="34" charset="0"/>
            </a:endParaRPr>
          </a:p>
        </p:txBody>
      </p:sp>
      <p:sp>
        <p:nvSpPr>
          <p:cNvPr id="76803" name="Rectangle 2"/>
          <p:cNvSpPr>
            <a:spLocks noGrp="1"/>
          </p:cNvSpPr>
          <p:nvPr>
            <p:ph type="title"/>
          </p:nvPr>
        </p:nvSpPr>
        <p:spPr>
          <a:xfrm>
            <a:off x="304800" y="228600"/>
            <a:ext cx="8534400" cy="685800"/>
          </a:xfrm>
        </p:spPr>
        <p:txBody>
          <a:bodyPr vert="horz" wrap="square" lIns="91440" tIns="45720" rIns="91440" bIns="45720" anchor="b" anchorCtr="0"/>
          <a:p>
            <a:pPr eaLnBrk="1" hangingPunct="1"/>
            <a:r>
              <a:rPr sz="4000" dirty="0"/>
              <a:t>CS512-Spring 2011: An Introduction</a:t>
            </a:r>
            <a:endParaRPr sz="4000" dirty="0"/>
          </a:p>
        </p:txBody>
      </p:sp>
      <p:sp>
        <p:nvSpPr>
          <p:cNvPr id="76804" name="Rectangle 3"/>
          <p:cNvSpPr>
            <a:spLocks noGrp="1"/>
          </p:cNvSpPr>
          <p:nvPr>
            <p:ph type="body" idx="4294967295"/>
          </p:nvPr>
        </p:nvSpPr>
        <p:spPr>
          <a:xfrm>
            <a:off x="304800" y="1295400"/>
            <a:ext cx="8382000" cy="5334000"/>
          </a:xfrm>
        </p:spPr>
        <p:txBody>
          <a:bodyPr vert="horz" wrap="square" lIns="91440" tIns="45720" rIns="91440" bIns="45720" anchor="t" anchorCtr="0"/>
          <a:p>
            <a:pPr defTabSz="914400" eaLnBrk="1" hangingPunct="1">
              <a:lnSpc>
                <a:spcPct val="110000"/>
              </a:lnSpc>
              <a:tabLst>
                <a:tab pos="6178550" algn="l"/>
              </a:tabLst>
            </a:pPr>
            <a:r>
              <a:rPr sz="1600" dirty="0"/>
              <a:t>Coverage</a:t>
            </a:r>
            <a:endParaRPr sz="1600" dirty="0"/>
          </a:p>
          <a:p>
            <a:pPr lvl="1" defTabSz="914400" eaLnBrk="1" hangingPunct="1">
              <a:lnSpc>
                <a:spcPct val="110000"/>
              </a:lnSpc>
              <a:tabLst>
                <a:tab pos="6178550" algn="l"/>
              </a:tabLst>
            </a:pPr>
            <a:r>
              <a:rPr sz="1600" dirty="0"/>
              <a:t>Cluster Analysis: Chapter 11</a:t>
            </a:r>
            <a:endParaRPr sz="1600" dirty="0"/>
          </a:p>
          <a:p>
            <a:pPr lvl="1" defTabSz="914400" eaLnBrk="1" hangingPunct="1">
              <a:lnSpc>
                <a:spcPct val="110000"/>
              </a:lnSpc>
              <a:tabLst>
                <a:tab pos="6178550" algn="l"/>
              </a:tabLst>
            </a:pPr>
            <a:r>
              <a:rPr sz="1600" dirty="0"/>
              <a:t>Outlier Detection: Chapter 12 </a:t>
            </a:r>
            <a:endParaRPr sz="1600" dirty="0"/>
          </a:p>
          <a:p>
            <a:pPr lvl="1" defTabSz="914400" eaLnBrk="1" hangingPunct="1">
              <a:lnSpc>
                <a:spcPct val="110000"/>
              </a:lnSpc>
              <a:tabLst>
                <a:tab pos="6178550" algn="l"/>
              </a:tabLst>
            </a:pPr>
            <a:r>
              <a:rPr sz="1600" dirty="0"/>
              <a:t>Mining Sequence Data: BK2: Chapter 8</a:t>
            </a:r>
            <a:endParaRPr sz="1600" dirty="0"/>
          </a:p>
          <a:p>
            <a:pPr lvl="1" defTabSz="914400" eaLnBrk="1" hangingPunct="1">
              <a:lnSpc>
                <a:spcPct val="110000"/>
              </a:lnSpc>
              <a:tabLst>
                <a:tab pos="6178550" algn="l"/>
              </a:tabLst>
            </a:pPr>
            <a:r>
              <a:rPr sz="1600" dirty="0"/>
              <a:t>Mining Graphs Data: BK2: Chapter 9</a:t>
            </a:r>
            <a:endParaRPr sz="1600" dirty="0"/>
          </a:p>
          <a:p>
            <a:pPr lvl="1" defTabSz="914400" eaLnBrk="1" hangingPunct="1">
              <a:lnSpc>
                <a:spcPct val="110000"/>
              </a:lnSpc>
              <a:tabLst>
                <a:tab pos="6178550" algn="l"/>
              </a:tabLst>
            </a:pPr>
            <a:r>
              <a:rPr sz="1600" dirty="0"/>
              <a:t>Social and Information Network Analysis</a:t>
            </a:r>
            <a:endParaRPr sz="1600" dirty="0"/>
          </a:p>
          <a:p>
            <a:pPr lvl="2" defTabSz="914400" eaLnBrk="1" hangingPunct="1">
              <a:lnSpc>
                <a:spcPct val="110000"/>
              </a:lnSpc>
              <a:tabLst>
                <a:tab pos="6178550" algn="l"/>
              </a:tabLst>
            </a:pPr>
            <a:r>
              <a:rPr sz="1600" dirty="0"/>
              <a:t>BK2: Chapter 9</a:t>
            </a:r>
            <a:endParaRPr sz="1600" dirty="0"/>
          </a:p>
          <a:p>
            <a:pPr lvl="2" defTabSz="914400" eaLnBrk="1" hangingPunct="1">
              <a:lnSpc>
                <a:spcPct val="110000"/>
              </a:lnSpc>
              <a:tabLst>
                <a:tab pos="6178550" algn="l"/>
              </a:tabLst>
            </a:pPr>
            <a:r>
              <a:rPr sz="1600" dirty="0"/>
              <a:t>Partial coverage: Mark Newman: “Networks: An Introduction”, Oxford U., 2010</a:t>
            </a:r>
            <a:endParaRPr sz="1600" dirty="0"/>
          </a:p>
          <a:p>
            <a:pPr lvl="2" defTabSz="914400">
              <a:lnSpc>
                <a:spcPct val="110000"/>
              </a:lnSpc>
              <a:tabLst>
                <a:tab pos="6178550" algn="l"/>
              </a:tabLst>
            </a:pPr>
            <a:r>
              <a:rPr sz="1600" dirty="0"/>
              <a:t>Scattered coverage: Easley and Kleinberg, “Networks, Crowds, and Markets: Reasoning About a Highly Connected World”, Cambridge U., 2010</a:t>
            </a:r>
            <a:endParaRPr sz="1600" dirty="0"/>
          </a:p>
          <a:p>
            <a:pPr lvl="2" defTabSz="914400" eaLnBrk="1" hangingPunct="1">
              <a:lnSpc>
                <a:spcPct val="110000"/>
              </a:lnSpc>
              <a:tabLst>
                <a:tab pos="6178550" algn="l"/>
              </a:tabLst>
            </a:pPr>
            <a:r>
              <a:rPr sz="1600" dirty="0"/>
              <a:t>Recent research papers</a:t>
            </a:r>
            <a:endParaRPr sz="1600" dirty="0"/>
          </a:p>
          <a:p>
            <a:pPr lvl="1" defTabSz="914400" eaLnBrk="1" hangingPunct="1">
              <a:lnSpc>
                <a:spcPct val="110000"/>
              </a:lnSpc>
              <a:tabLst>
                <a:tab pos="6178550" algn="l"/>
              </a:tabLst>
            </a:pPr>
            <a:r>
              <a:rPr sz="1600" dirty="0"/>
              <a:t>Mining Data Streams: BK2: Chapter 8</a:t>
            </a:r>
            <a:endParaRPr sz="1600" dirty="0"/>
          </a:p>
          <a:p>
            <a:pPr defTabSz="914400" eaLnBrk="1" hangingPunct="1">
              <a:lnSpc>
                <a:spcPct val="110000"/>
              </a:lnSpc>
              <a:tabLst>
                <a:tab pos="6178550" algn="l"/>
              </a:tabLst>
            </a:pPr>
            <a:r>
              <a:rPr sz="1600" dirty="0"/>
              <a:t>Requirements</a:t>
            </a:r>
            <a:endParaRPr sz="1600" dirty="0"/>
          </a:p>
          <a:p>
            <a:pPr lvl="1" defTabSz="914400" eaLnBrk="1" hangingPunct="1">
              <a:lnSpc>
                <a:spcPct val="110000"/>
              </a:lnSpc>
              <a:tabLst>
                <a:tab pos="6178550" algn="l"/>
              </a:tabLst>
            </a:pPr>
            <a:r>
              <a:rPr sz="1600" dirty="0"/>
              <a:t>One research project</a:t>
            </a:r>
            <a:endParaRPr sz="1600" dirty="0"/>
          </a:p>
          <a:p>
            <a:pPr lvl="1" defTabSz="914400" eaLnBrk="1" hangingPunct="1">
              <a:lnSpc>
                <a:spcPct val="110000"/>
              </a:lnSpc>
              <a:tabLst>
                <a:tab pos="6178550" algn="l"/>
              </a:tabLst>
            </a:pPr>
            <a:r>
              <a:rPr sz="1600" dirty="0"/>
              <a:t>One class presentation (15 minutes)</a:t>
            </a:r>
            <a:endParaRPr sz="1600" dirty="0"/>
          </a:p>
          <a:p>
            <a:pPr lvl="1" defTabSz="914400" eaLnBrk="1" hangingPunct="1">
              <a:lnSpc>
                <a:spcPct val="110000"/>
              </a:lnSpc>
              <a:tabLst>
                <a:tab pos="6178550" algn="l"/>
              </a:tabLst>
            </a:pPr>
            <a:r>
              <a:rPr sz="1600" dirty="0"/>
              <a:t>Two homeworks (no programming assignment)</a:t>
            </a:r>
            <a:endParaRPr sz="1600" dirty="0"/>
          </a:p>
          <a:p>
            <a:pPr lvl="1" defTabSz="914400" eaLnBrk="1" hangingPunct="1">
              <a:lnSpc>
                <a:spcPct val="110000"/>
              </a:lnSpc>
              <a:tabLst>
                <a:tab pos="6178550" algn="l"/>
              </a:tabLst>
            </a:pPr>
            <a:r>
              <a:rPr sz="1600" dirty="0"/>
              <a:t>Two midterm exams (no final exam)</a:t>
            </a:r>
            <a:endParaRPr sz="1600" dirty="0"/>
          </a:p>
        </p:txBody>
      </p:sp>
    </p:spTree>
  </p:cSld>
  <p:clrMapOvr>
    <a:masterClrMapping/>
  </p:clrMapOvr>
  <p:transition>
    <p:zo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p:cNvSpPr>
          <p:nvPr>
            <p:ph type="title"/>
          </p:nvPr>
        </p:nvSpPr>
        <p:spPr>
          <a:xfrm>
            <a:off x="1981200" y="304800"/>
            <a:ext cx="4724400" cy="857250"/>
          </a:xfrm>
        </p:spPr>
        <p:txBody>
          <a:bodyPr vert="horz" wrap="square" lIns="92075" tIns="46038" rIns="92075" bIns="46038" anchor="ctr" anchorCtr="0"/>
          <a:p>
            <a:pPr eaLnBrk="1" hangingPunct="1"/>
            <a:r>
              <a:rPr sz="3200" dirty="0"/>
              <a:t>References (1)</a:t>
            </a:r>
            <a:endParaRPr sz="3200" b="1" u="sng" dirty="0"/>
          </a:p>
        </p:txBody>
      </p:sp>
      <p:sp>
        <p:nvSpPr>
          <p:cNvPr id="77827" name="Rectangle 3"/>
          <p:cNvSpPr>
            <a:spLocks noGrp="1"/>
          </p:cNvSpPr>
          <p:nvPr>
            <p:ph idx="1"/>
          </p:nvPr>
        </p:nvSpPr>
        <p:spPr>
          <a:xfrm>
            <a:off x="304800" y="1447800"/>
            <a:ext cx="8534400" cy="5257800"/>
          </a:xfrm>
        </p:spPr>
        <p:txBody>
          <a:bodyPr vert="horz" wrap="square" lIns="92075" tIns="46038" rIns="92075" bIns="46038" anchor="t" anchorCtr="0"/>
          <a:p>
            <a:pPr eaLnBrk="1" hangingPunct="1">
              <a:lnSpc>
                <a:spcPct val="90000"/>
              </a:lnSpc>
            </a:pPr>
            <a:r>
              <a:rPr sz="1800" dirty="0"/>
              <a:t>R. Agrawal, J. Gehrke, D. Gunopulos, and P. Raghavan. Automatic subspace clustering of high dimensional data for data mining applications. SIGMOD'98</a:t>
            </a:r>
            <a:endParaRPr sz="1800" dirty="0"/>
          </a:p>
          <a:p>
            <a:pPr eaLnBrk="1" hangingPunct="1">
              <a:lnSpc>
                <a:spcPct val="90000"/>
              </a:lnSpc>
            </a:pPr>
            <a:r>
              <a:rPr sz="1800" dirty="0"/>
              <a:t>M. R. Anderberg. Cluster Analysis for Applications. Academic Press, 1973.</a:t>
            </a:r>
            <a:endParaRPr sz="1800" dirty="0"/>
          </a:p>
          <a:p>
            <a:pPr eaLnBrk="1" hangingPunct="1">
              <a:lnSpc>
                <a:spcPct val="90000"/>
              </a:lnSpc>
            </a:pPr>
            <a:r>
              <a:rPr sz="1800" dirty="0"/>
              <a:t>M. Ankerst, M. Breunig, H.-P. Kriegel, and J. Sander.  Optics: Ordering points to identify the clustering structure, SIGMOD’99.</a:t>
            </a:r>
            <a:endParaRPr sz="1800" dirty="0"/>
          </a:p>
          <a:p>
            <a:pPr eaLnBrk="1" hangingPunct="1">
              <a:lnSpc>
                <a:spcPct val="90000"/>
              </a:lnSpc>
            </a:pPr>
            <a:r>
              <a:rPr sz="1800" dirty="0"/>
              <a:t>Beil F., Ester M., Xu X.: "Frequent Term-Based Text Clustering", KDD'02</a:t>
            </a:r>
            <a:endParaRPr sz="1800" dirty="0"/>
          </a:p>
          <a:p>
            <a:pPr eaLnBrk="1" hangingPunct="1">
              <a:lnSpc>
                <a:spcPct val="90000"/>
              </a:lnSpc>
            </a:pPr>
            <a:r>
              <a:rPr lang="de-DE" altLang="x-none" sz="1800" dirty="0"/>
              <a:t>M. M. Breunig, H.-P. Kriegel, R. Ng, J. Sander. </a:t>
            </a:r>
            <a:r>
              <a:rPr sz="1800" dirty="0"/>
              <a:t>LOF: Identifying Density-Based Local Outliers. SIGMOD 2000.</a:t>
            </a:r>
            <a:endParaRPr sz="1800" dirty="0"/>
          </a:p>
          <a:p>
            <a:pPr eaLnBrk="1" hangingPunct="1">
              <a:lnSpc>
                <a:spcPct val="90000"/>
              </a:lnSpc>
            </a:pPr>
            <a:r>
              <a:rPr sz="1800" dirty="0"/>
              <a:t>M. Ester, H.-P. Kriegel, J. Sander, and X. Xu. A density-based algorithm for discovering clusters in large spatial databases. KDD'96.</a:t>
            </a:r>
            <a:endParaRPr sz="1800" dirty="0"/>
          </a:p>
          <a:p>
            <a:pPr eaLnBrk="1" hangingPunct="1">
              <a:lnSpc>
                <a:spcPct val="90000"/>
              </a:lnSpc>
            </a:pPr>
            <a:r>
              <a:rPr sz="1800" dirty="0"/>
              <a:t>M. Ester, H.-P. Kriegel, and X. Xu. Knowledge discovery in large spatial databases: Focusing techniques for efficient class identification. SSD'95.</a:t>
            </a:r>
            <a:endParaRPr sz="1800" dirty="0"/>
          </a:p>
          <a:p>
            <a:pPr eaLnBrk="1" hangingPunct="1">
              <a:lnSpc>
                <a:spcPct val="90000"/>
              </a:lnSpc>
            </a:pPr>
            <a:r>
              <a:rPr sz="1800" dirty="0"/>
              <a:t>D. Fisher. Knowledge acquisition via incremental conceptual clustering. Machine Learning, 2:139-172, 1987.</a:t>
            </a:r>
            <a:endParaRPr sz="1800" dirty="0"/>
          </a:p>
          <a:p>
            <a:pPr eaLnBrk="1" hangingPunct="1">
              <a:lnSpc>
                <a:spcPct val="90000"/>
              </a:lnSpc>
            </a:pPr>
            <a:r>
              <a:rPr lang="de-DE" altLang="x-none" sz="1800" dirty="0"/>
              <a:t>D. Gibson, J. Kleinberg, and P. Raghavan. </a:t>
            </a:r>
            <a:r>
              <a:rPr sz="1800" dirty="0"/>
              <a:t>Clustering categorical data: An approach based on dynamic systems. VLDB’98. </a:t>
            </a:r>
            <a:endParaRPr sz="1800" dirty="0"/>
          </a:p>
          <a:p>
            <a:pPr eaLnBrk="1" hangingPunct="1">
              <a:lnSpc>
                <a:spcPct val="90000"/>
              </a:lnSpc>
            </a:pPr>
            <a:r>
              <a:rPr sz="1800" dirty="0"/>
              <a:t>V. Ganti, J. Gehrke, R. Ramakrishan. CACTUS Clustering Categorical Data Using Summaries. KDD'99. </a:t>
            </a:r>
            <a:endParaRPr sz="1800" dirty="0"/>
          </a:p>
        </p:txBody>
      </p:sp>
      <p:sp>
        <p:nvSpPr>
          <p:cNvPr id="77828"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1026"/>
          <p:cNvSpPr>
            <a:spLocks noGrp="1"/>
          </p:cNvSpPr>
          <p:nvPr>
            <p:ph type="title"/>
          </p:nvPr>
        </p:nvSpPr>
        <p:spPr>
          <a:xfrm>
            <a:off x="1524000" y="381000"/>
            <a:ext cx="5562600" cy="781050"/>
          </a:xfrm>
        </p:spPr>
        <p:txBody>
          <a:bodyPr vert="horz" wrap="square" lIns="92075" tIns="46038" rIns="92075" bIns="46038" anchor="ctr" anchorCtr="0"/>
          <a:p>
            <a:pPr eaLnBrk="1" hangingPunct="1"/>
            <a:r>
              <a:rPr sz="3200" dirty="0"/>
              <a:t>References (2)</a:t>
            </a:r>
            <a:endParaRPr sz="3200" b="1" u="sng" dirty="0"/>
          </a:p>
        </p:txBody>
      </p:sp>
      <p:sp>
        <p:nvSpPr>
          <p:cNvPr id="78851" name="Rectangle 1027"/>
          <p:cNvSpPr>
            <a:spLocks noGrp="1"/>
          </p:cNvSpPr>
          <p:nvPr>
            <p:ph idx="1"/>
          </p:nvPr>
        </p:nvSpPr>
        <p:spPr>
          <a:xfrm>
            <a:off x="304800" y="1371600"/>
            <a:ext cx="8458200" cy="5105400"/>
          </a:xfrm>
        </p:spPr>
        <p:txBody>
          <a:bodyPr vert="horz" wrap="square" lIns="92075" tIns="46038" rIns="92075" bIns="46038" anchor="t" anchorCtr="0"/>
          <a:p>
            <a:pPr eaLnBrk="1" hangingPunct="1">
              <a:lnSpc>
                <a:spcPct val="90000"/>
              </a:lnSpc>
            </a:pPr>
            <a:r>
              <a:rPr sz="1800" dirty="0"/>
              <a:t>D. Gibson, J. Kleinberg, and P. Raghavan. Clustering categorical data: An approach based on dynamic systems. In Proc. VLDB’98.</a:t>
            </a:r>
            <a:endParaRPr sz="1800" dirty="0"/>
          </a:p>
          <a:p>
            <a:pPr eaLnBrk="1" hangingPunct="1">
              <a:lnSpc>
                <a:spcPct val="90000"/>
              </a:lnSpc>
            </a:pPr>
            <a:r>
              <a:rPr sz="1800" dirty="0"/>
              <a:t>S. Guha, R. Rastogi, and K. Shim. Cure: An efficient clustering algorithm for large databases. SIGMOD'98.</a:t>
            </a:r>
            <a:endParaRPr sz="1800" dirty="0"/>
          </a:p>
          <a:p>
            <a:pPr eaLnBrk="1" hangingPunct="1">
              <a:lnSpc>
                <a:spcPct val="90000"/>
              </a:lnSpc>
            </a:pPr>
            <a:r>
              <a:rPr sz="1800" dirty="0"/>
              <a:t>S. Guha, R. Rastogi, and K. Shim. ROCK: A robust clustering algorithm for categorical attributes. In </a:t>
            </a:r>
            <a:r>
              <a:rPr sz="1800" i="1" dirty="0"/>
              <a:t>ICDE'99</a:t>
            </a:r>
            <a:r>
              <a:rPr sz="1800" dirty="0"/>
              <a:t>, pp. 512-521, Sydney, Australia, March 1999. </a:t>
            </a:r>
            <a:endParaRPr sz="1800" dirty="0"/>
          </a:p>
          <a:p>
            <a:pPr eaLnBrk="1" hangingPunct="1">
              <a:lnSpc>
                <a:spcPct val="90000"/>
              </a:lnSpc>
            </a:pPr>
            <a:r>
              <a:rPr sz="1800" dirty="0"/>
              <a:t>A. Hinneburg, D.l A. Keim: An Efficient Approach to Clustering in Large Multimedia Databases with Noise. KDD’98.</a:t>
            </a:r>
            <a:endParaRPr sz="1800" dirty="0"/>
          </a:p>
          <a:p>
            <a:pPr eaLnBrk="1" hangingPunct="1">
              <a:lnSpc>
                <a:spcPct val="90000"/>
              </a:lnSpc>
            </a:pPr>
            <a:r>
              <a:rPr sz="1800" dirty="0"/>
              <a:t>A. K. Jain and R. C. Dubes. Algorithms for Clustering Data. Printice Hall, 1988.</a:t>
            </a:r>
            <a:endParaRPr sz="1800" dirty="0"/>
          </a:p>
          <a:p>
            <a:pPr eaLnBrk="1" hangingPunct="1">
              <a:lnSpc>
                <a:spcPct val="90000"/>
              </a:lnSpc>
            </a:pPr>
            <a:r>
              <a:rPr sz="1800" dirty="0"/>
              <a:t>G. Karypis, E.-H. Han, and V. Kumar. CHAMELEON: A Hierarchical Clustering Algorithm Using Dynamic Modeling. </a:t>
            </a:r>
            <a:r>
              <a:rPr sz="1800" i="1" dirty="0"/>
              <a:t>COMPUTER</a:t>
            </a:r>
            <a:r>
              <a:rPr sz="1800" dirty="0"/>
              <a:t>, 32(8): 68-75, 1999. </a:t>
            </a:r>
            <a:endParaRPr sz="1800" dirty="0"/>
          </a:p>
          <a:p>
            <a:pPr eaLnBrk="1" hangingPunct="1">
              <a:lnSpc>
                <a:spcPct val="90000"/>
              </a:lnSpc>
            </a:pPr>
            <a:r>
              <a:rPr sz="1800" dirty="0"/>
              <a:t>L. Kaufman and P. J. Rousseeuw. Finding Groups in Data: an Introduction to Cluster Analysis. John Wiley &amp; Sons, 1990.</a:t>
            </a:r>
            <a:endParaRPr sz="1800" dirty="0"/>
          </a:p>
          <a:p>
            <a:pPr eaLnBrk="1" hangingPunct="1">
              <a:lnSpc>
                <a:spcPct val="90000"/>
              </a:lnSpc>
            </a:pPr>
            <a:r>
              <a:rPr sz="1800" dirty="0"/>
              <a:t>E. Knorr and R. Ng. Algorithms for mining distance-based outliers in large datasets. VLDB’98.</a:t>
            </a:r>
            <a:endParaRPr sz="1800" dirty="0"/>
          </a:p>
        </p:txBody>
      </p:sp>
      <p:sp>
        <p:nvSpPr>
          <p:cNvPr id="78852"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Grp="1"/>
          </p:cNvSpPr>
          <p:nvPr>
            <p:ph type="title"/>
          </p:nvPr>
        </p:nvSpPr>
        <p:spPr>
          <a:xfrm>
            <a:off x="1524000" y="381000"/>
            <a:ext cx="5638800" cy="781050"/>
          </a:xfrm>
        </p:spPr>
        <p:txBody>
          <a:bodyPr vert="horz" wrap="square" lIns="92075" tIns="46038" rIns="92075" bIns="46038" anchor="ctr" anchorCtr="0"/>
          <a:p>
            <a:pPr eaLnBrk="1" hangingPunct="1"/>
            <a:r>
              <a:rPr sz="3200" dirty="0"/>
              <a:t>References (3)</a:t>
            </a:r>
            <a:endParaRPr sz="3200" b="1" u="sng" dirty="0"/>
          </a:p>
        </p:txBody>
      </p:sp>
      <p:sp>
        <p:nvSpPr>
          <p:cNvPr id="79875" name="Rectangle 3"/>
          <p:cNvSpPr>
            <a:spLocks noGrp="1"/>
          </p:cNvSpPr>
          <p:nvPr>
            <p:ph idx="1"/>
          </p:nvPr>
        </p:nvSpPr>
        <p:spPr>
          <a:xfrm>
            <a:off x="228600" y="1447800"/>
            <a:ext cx="8610600" cy="5181600"/>
          </a:xfrm>
        </p:spPr>
        <p:txBody>
          <a:bodyPr vert="horz" wrap="square" lIns="92075" tIns="46038" rIns="92075" bIns="46038" anchor="t" anchorCtr="0"/>
          <a:p>
            <a:pPr marL="533400" indent="-533400" eaLnBrk="1" hangingPunct="1">
              <a:lnSpc>
                <a:spcPct val="80000"/>
              </a:lnSpc>
            </a:pPr>
            <a:r>
              <a:rPr sz="1600" dirty="0"/>
              <a:t>G. J. McLachlan and K.E. Bkasford. Mixture Models: Inference and Applications to Clustering. John Wiley and Sons, 1988.</a:t>
            </a:r>
            <a:endParaRPr sz="1600" dirty="0"/>
          </a:p>
          <a:p>
            <a:pPr marL="533400" indent="-533400" eaLnBrk="1" hangingPunct="1">
              <a:lnSpc>
                <a:spcPct val="90000"/>
              </a:lnSpc>
            </a:pPr>
            <a:r>
              <a:rPr sz="1600" dirty="0"/>
              <a:t>R. Ng and J. Han. Efficient and effective clustering method for spatial data mining. VLDB'94.</a:t>
            </a:r>
            <a:endParaRPr sz="1600" dirty="0"/>
          </a:p>
          <a:p>
            <a:pPr marL="533400" indent="-533400" eaLnBrk="1" hangingPunct="1">
              <a:lnSpc>
                <a:spcPct val="80000"/>
              </a:lnSpc>
            </a:pPr>
            <a:r>
              <a:rPr sz="1600" dirty="0"/>
              <a:t>L. Parsons, E. Haque and H. Liu, Subspace Clustering for High Dimensional Data: A Review, SIGKDD Explorations, 6(1), June 2004</a:t>
            </a:r>
            <a:endParaRPr sz="1600" dirty="0"/>
          </a:p>
          <a:p>
            <a:pPr marL="533400" indent="-533400" eaLnBrk="1" hangingPunct="1">
              <a:lnSpc>
                <a:spcPct val="80000"/>
              </a:lnSpc>
            </a:pPr>
            <a:r>
              <a:rPr sz="1600" dirty="0"/>
              <a:t>E. Schikuta. Grid clustering: An efficient hierarchical clustering method for very large data sets. Proc. 1996 Int. Conf. on Pattern Recognition</a:t>
            </a:r>
            <a:endParaRPr sz="1600" dirty="0"/>
          </a:p>
          <a:p>
            <a:pPr marL="533400" indent="-533400" eaLnBrk="1" hangingPunct="1">
              <a:lnSpc>
                <a:spcPct val="80000"/>
              </a:lnSpc>
            </a:pPr>
            <a:r>
              <a:rPr sz="1600" dirty="0"/>
              <a:t>G. Sheikholeslami, S. Chatterjee, and A. Zhang. WaveCluster: A multi-resolution clustering approach for very large spatial databases. VLDB’98.</a:t>
            </a:r>
            <a:endParaRPr sz="1600" dirty="0"/>
          </a:p>
          <a:p>
            <a:pPr marL="533400" indent="-533400" eaLnBrk="1" hangingPunct="1">
              <a:lnSpc>
                <a:spcPct val="80000"/>
              </a:lnSpc>
            </a:pPr>
            <a:r>
              <a:rPr sz="1600" dirty="0"/>
              <a:t>A. K. H. Tung, J. Han, L. V. S. Lakshmanan, and R. T. Ng. Constraint-Based Clustering in Large Databases, ICDT'01. </a:t>
            </a:r>
            <a:endParaRPr sz="1600" dirty="0"/>
          </a:p>
          <a:p>
            <a:pPr marL="533400" indent="-533400" eaLnBrk="1" hangingPunct="1">
              <a:lnSpc>
                <a:spcPct val="80000"/>
              </a:lnSpc>
            </a:pPr>
            <a:r>
              <a:rPr sz="1600" dirty="0"/>
              <a:t>A. K. H. Tung, J. Hou, and J. Han. Spatial Clustering in the Presence of Obstacles, ICDE'01</a:t>
            </a:r>
            <a:endParaRPr sz="1600" dirty="0"/>
          </a:p>
          <a:p>
            <a:pPr marL="533400" indent="-533400" eaLnBrk="1" hangingPunct="1">
              <a:lnSpc>
                <a:spcPct val="80000"/>
              </a:lnSpc>
            </a:pPr>
            <a:r>
              <a:rPr sz="1600" dirty="0"/>
              <a:t>H. Wang, W. Wang, J. Yang, and P.S. Yu. Clustering by pattern similarity in large data sets,  SIGMOD’02</a:t>
            </a:r>
            <a:endParaRPr sz="1600" dirty="0"/>
          </a:p>
          <a:p>
            <a:pPr marL="533400" indent="-533400" eaLnBrk="1" hangingPunct="1">
              <a:lnSpc>
                <a:spcPct val="80000"/>
              </a:lnSpc>
            </a:pPr>
            <a:r>
              <a:rPr sz="1600" dirty="0"/>
              <a:t>W. Wang, Yang, R. Muntz, STING: A Statistical Information grid Approach to Spatial Data Mining, VLDB’97</a:t>
            </a:r>
            <a:endParaRPr sz="1600" dirty="0"/>
          </a:p>
          <a:p>
            <a:pPr marL="533400" indent="-533400" eaLnBrk="1" hangingPunct="1">
              <a:lnSpc>
                <a:spcPct val="80000"/>
              </a:lnSpc>
            </a:pPr>
            <a:r>
              <a:rPr sz="1600" dirty="0"/>
              <a:t>T. Zhang, R. Ramakrishnan, and M. Livny. BIRCH : An efficient data clustering method for very large databases. SIGMOD'96</a:t>
            </a:r>
            <a:endParaRPr sz="1600" dirty="0"/>
          </a:p>
          <a:p>
            <a:pPr marL="533400" indent="-533400" eaLnBrk="1" hangingPunct="1">
              <a:lnSpc>
                <a:spcPct val="80000"/>
              </a:lnSpc>
            </a:pPr>
            <a:r>
              <a:rPr sz="1600" dirty="0"/>
              <a:t>X. Yin, J. Han, and P. S. Yu, “LinkClus: Efficient Clustering via Heterogeneous Semantic Links”, VLDB'06</a:t>
            </a:r>
            <a:endParaRPr sz="1800" dirty="0"/>
          </a:p>
        </p:txBody>
      </p:sp>
      <p:sp>
        <p:nvSpPr>
          <p:cNvPr id="79876" name="Slide Number Placeholder 6"/>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Content Placeholder 1"/>
          <p:cNvSpPr>
            <a:spLocks noGrp="1"/>
          </p:cNvSpPr>
          <p:nvPr>
            <p:ph/>
          </p:nvPr>
        </p:nvSpPr>
        <p:spPr>
          <a:xfrm>
            <a:off x="304800" y="3048000"/>
            <a:ext cx="8458200" cy="609600"/>
          </a:xfrm>
        </p:spPr>
        <p:txBody>
          <a:bodyPr vert="horz" wrap="square" lIns="91440" tIns="45720" rIns="91440" bIns="45720" anchor="t" anchorCtr="0"/>
          <a:p>
            <a:pPr algn="ctr">
              <a:buNone/>
            </a:pPr>
            <a:r>
              <a:rPr sz="3200" dirty="0"/>
              <a:t>Slides unused in class</a:t>
            </a:r>
            <a:endParaRPr sz="3200" dirty="0"/>
          </a:p>
        </p:txBody>
      </p:sp>
      <p:sp>
        <p:nvSpPr>
          <p:cNvPr id="80899" name="Slide Number Placeholder 4"/>
          <p:cNvSpPr txBox="1">
            <a:spLocks noGrp="1"/>
          </p:cNvSpPr>
          <p:nvPr>
            <p:ph type="sldNum" sz="quarter" idx="12"/>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Slide Number Placeholder 5"/>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
        <p:nvSpPr>
          <p:cNvPr id="81923" name="Rectangle 2050"/>
          <p:cNvSpPr>
            <a:spLocks noGrp="1"/>
          </p:cNvSpPr>
          <p:nvPr>
            <p:ph type="title"/>
          </p:nvPr>
        </p:nvSpPr>
        <p:spPr>
          <a:xfrm>
            <a:off x="0" y="381000"/>
            <a:ext cx="9144000" cy="609600"/>
          </a:xfrm>
        </p:spPr>
        <p:txBody>
          <a:bodyPr vert="horz" wrap="square" lIns="91440" tIns="45720" rIns="91440" bIns="45720" anchor="b" anchorCtr="0"/>
          <a:p>
            <a:pPr eaLnBrk="1" hangingPunct="1"/>
            <a:r>
              <a:rPr lang="en-US" altLang="ko-KR" sz="3200" dirty="0">
                <a:ea typeface="Gulim" panose="020B0600000101010101" pitchFamily="34" charset="-127"/>
              </a:rPr>
              <a:t>A Typical K-Medoids Algorithm (PAM)</a:t>
            </a:r>
            <a:endParaRPr lang="en-US" altLang="ko-KR" sz="4800" b="1" i="1" baseline="-25000" dirty="0">
              <a:ea typeface="Gulim" panose="020B0600000101010101" pitchFamily="34" charset="-127"/>
              <a:sym typeface="Symbol" panose="05050102010706020507" pitchFamily="18" charset="2"/>
            </a:endParaRPr>
          </a:p>
        </p:txBody>
      </p:sp>
      <p:grpSp>
        <p:nvGrpSpPr>
          <p:cNvPr id="81924" name="Group 2051"/>
          <p:cNvGrpSpPr/>
          <p:nvPr/>
        </p:nvGrpSpPr>
        <p:grpSpPr>
          <a:xfrm>
            <a:off x="6705600" y="1676400"/>
            <a:ext cx="2514600" cy="2362200"/>
            <a:chOff x="912" y="864"/>
            <a:chExt cx="1584" cy="1488"/>
          </a:xfrm>
        </p:grpSpPr>
        <p:graphicFrame>
          <p:nvGraphicFramePr>
            <p:cNvPr id="82185" name="Object 2052"/>
            <p:cNvGraphicFramePr>
              <a:graphicFrameLocks noChangeAspect="1"/>
            </p:cNvGraphicFramePr>
            <p:nvPr/>
          </p:nvGraphicFramePr>
          <p:xfrm>
            <a:off x="912" y="864"/>
            <a:ext cx="1584" cy="1488"/>
          </p:xfrm>
          <a:graphic>
            <a:graphicData uri="http://schemas.openxmlformats.org/presentationml/2006/ole">
              <mc:AlternateContent xmlns:mc="http://schemas.openxmlformats.org/markup-compatibility/2006">
                <mc:Choice xmlns:v="urn:schemas-microsoft-com:vml" Requires="v">
                  <p:oleObj spid="_x0000_s3105" name="" r:id="rId1" imgW="2618740" imgH="2472055" progId="Excel.Sheet.8">
                    <p:embed/>
                  </p:oleObj>
                </mc:Choice>
                <mc:Fallback>
                  <p:oleObj name="" r:id="rId1" imgW="2618740" imgH="2472055" progId="Excel.Sheet.8">
                    <p:embed/>
                    <p:pic>
                      <p:nvPicPr>
                        <p:cNvPr id="0" name="Picture 3104"/>
                        <p:cNvPicPr/>
                        <p:nvPr/>
                      </p:nvPicPr>
                      <p:blipFill>
                        <a:blip r:embed="rId2"/>
                        <a:stretch>
                          <a:fillRect/>
                        </a:stretch>
                      </p:blipFill>
                      <p:spPr>
                        <a:xfrm>
                          <a:off x="912" y="864"/>
                          <a:ext cx="1584" cy="1488"/>
                        </a:xfrm>
                        <a:prstGeom prst="rect">
                          <a:avLst/>
                        </a:prstGeom>
                        <a:noFill/>
                        <a:ln w="38100">
                          <a:noFill/>
                          <a:miter/>
                        </a:ln>
                      </p:spPr>
                    </p:pic>
                  </p:oleObj>
                </mc:Fallback>
              </mc:AlternateContent>
            </a:graphicData>
          </a:graphic>
        </p:graphicFrame>
        <p:sp>
          <p:nvSpPr>
            <p:cNvPr id="82186" name="Line 2053"/>
            <p:cNvSpPr/>
            <p:nvPr/>
          </p:nvSpPr>
          <p:spPr>
            <a:xfrm>
              <a:off x="1982" y="1502"/>
              <a:ext cx="0" cy="127"/>
            </a:xfrm>
            <a:prstGeom prst="line">
              <a:avLst/>
            </a:prstGeom>
            <a:ln w="9525" cap="flat" cmpd="sng">
              <a:solidFill>
                <a:schemeClr val="tx1"/>
              </a:solidFill>
              <a:prstDash val="solid"/>
              <a:headEnd type="none" w="med" len="med"/>
              <a:tailEnd type="none" w="med" len="med"/>
            </a:ln>
          </p:spPr>
        </p:sp>
        <p:sp>
          <p:nvSpPr>
            <p:cNvPr id="82187" name="Oval 2054"/>
            <p:cNvSpPr/>
            <p:nvPr/>
          </p:nvSpPr>
          <p:spPr>
            <a:xfrm>
              <a:off x="1212" y="1034"/>
              <a:ext cx="513" cy="765"/>
            </a:xfrm>
            <a:prstGeom prst="ellipse">
              <a:avLst/>
            </a:prstGeom>
            <a:noFill/>
            <a:ln w="9525" cap="flat" cmpd="sng">
              <a:solidFill>
                <a:schemeClr val="tx1"/>
              </a:solidFill>
              <a:prstDash val="lgDashDot"/>
              <a:headEnd type="none" w="med" len="med"/>
              <a:tailEnd type="none" w="med" len="med"/>
            </a:ln>
          </p:spPr>
          <p:txBody>
            <a:bodyPr wrap="none" anchor="ctr" anchorCtr="0">
              <a:spAutoFit/>
            </a:bodyPr>
            <a:p>
              <a:endParaRPr dirty="0">
                <a:latin typeface="Tahoma" panose="020B0604030504040204" pitchFamily="34" charset="0"/>
              </a:endParaRPr>
            </a:p>
          </p:txBody>
        </p:sp>
        <p:sp>
          <p:nvSpPr>
            <p:cNvPr id="82188" name="Oval 2055"/>
            <p:cNvSpPr/>
            <p:nvPr/>
          </p:nvSpPr>
          <p:spPr>
            <a:xfrm>
              <a:off x="1725" y="1374"/>
              <a:ext cx="514" cy="638"/>
            </a:xfrm>
            <a:prstGeom prst="ellipse">
              <a:avLst/>
            </a:prstGeom>
            <a:noFill/>
            <a:ln w="9525" cap="flat" cmpd="sng">
              <a:solidFill>
                <a:schemeClr val="tx1"/>
              </a:solidFill>
              <a:prstDash val="lgDashDot"/>
              <a:headEnd type="none" w="med" len="med"/>
              <a:tailEnd type="none" w="med" len="med"/>
            </a:ln>
          </p:spPr>
          <p:txBody>
            <a:bodyPr anchor="ctr" anchorCtr="0">
              <a:spAutoFit/>
            </a:bodyPr>
            <a:p>
              <a:endParaRPr dirty="0">
                <a:latin typeface="Tahoma" panose="020B0604030504040204" pitchFamily="34" charset="0"/>
              </a:endParaRPr>
            </a:p>
          </p:txBody>
        </p:sp>
      </p:grpSp>
      <p:sp>
        <p:nvSpPr>
          <p:cNvPr id="81925" name="Text Box 2056"/>
          <p:cNvSpPr txBox="1"/>
          <p:nvPr/>
        </p:nvSpPr>
        <p:spPr>
          <a:xfrm>
            <a:off x="7735888" y="1371600"/>
            <a:ext cx="1408112" cy="304800"/>
          </a:xfrm>
          <a:prstGeom prst="rect">
            <a:avLst/>
          </a:prstGeom>
          <a:noFill/>
          <a:ln w="9525">
            <a:noFill/>
          </a:ln>
        </p:spPr>
        <p:txBody>
          <a:bodyPr wrap="none">
            <a:spAutoFit/>
          </a:bodyPr>
          <a:p>
            <a:pPr algn="l"/>
            <a:r>
              <a:rPr lang="en-US" altLang="ko-KR" sz="1400" dirty="0">
                <a:latin typeface="Tahoma" panose="020B0604030504040204" pitchFamily="34" charset="0"/>
                <a:ea typeface="Gulim" panose="020B0600000101010101" pitchFamily="34" charset="-127"/>
              </a:rPr>
              <a:t>Total Cost = 20</a:t>
            </a:r>
            <a:endParaRPr lang="en-US" altLang="ko-KR" sz="1400" dirty="0">
              <a:latin typeface="Tahoma" panose="020B0604030504040204" pitchFamily="34" charset="0"/>
              <a:ea typeface="Gulim" panose="020B0600000101010101" pitchFamily="34" charset="-127"/>
            </a:endParaRPr>
          </a:p>
        </p:txBody>
      </p:sp>
      <p:sp>
        <p:nvSpPr>
          <p:cNvPr id="81926" name="Rectangle 2057"/>
          <p:cNvSpPr/>
          <p:nvPr/>
        </p:nvSpPr>
        <p:spPr>
          <a:xfrm>
            <a:off x="119063" y="1719263"/>
            <a:ext cx="2395537" cy="2254250"/>
          </a:xfrm>
          <a:prstGeom prst="rect">
            <a:avLst/>
          </a:prstGeom>
          <a:solidFill>
            <a:srgbClr val="FFFFFF"/>
          </a:solidFill>
          <a:ln w="0"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sp>
        <p:nvSpPr>
          <p:cNvPr id="81927" name="Rectangle 2058"/>
          <p:cNvSpPr/>
          <p:nvPr/>
        </p:nvSpPr>
        <p:spPr>
          <a:xfrm>
            <a:off x="369888" y="1903413"/>
            <a:ext cx="2014537" cy="1789112"/>
          </a:xfrm>
          <a:prstGeom prst="rect">
            <a:avLst/>
          </a:prstGeom>
          <a:solidFill>
            <a:srgbClr val="FFFFFF"/>
          </a:solidFill>
          <a:ln w="9525">
            <a:noFill/>
          </a:ln>
        </p:spPr>
        <p:txBody>
          <a:bodyPr/>
          <a:p>
            <a:endParaRPr dirty="0">
              <a:latin typeface="Tahoma" panose="020B0604030504040204" pitchFamily="34" charset="0"/>
            </a:endParaRPr>
          </a:p>
        </p:txBody>
      </p:sp>
      <p:sp>
        <p:nvSpPr>
          <p:cNvPr id="81928" name="Line 2059"/>
          <p:cNvSpPr/>
          <p:nvPr/>
        </p:nvSpPr>
        <p:spPr>
          <a:xfrm>
            <a:off x="369888" y="3517900"/>
            <a:ext cx="2014537" cy="1588"/>
          </a:xfrm>
          <a:prstGeom prst="line">
            <a:avLst/>
          </a:prstGeom>
          <a:ln w="0" cap="flat" cmpd="sng">
            <a:solidFill>
              <a:srgbClr val="000000"/>
            </a:solidFill>
            <a:prstDash val="solid"/>
            <a:headEnd type="none" w="med" len="med"/>
            <a:tailEnd type="none" w="med" len="med"/>
          </a:ln>
        </p:spPr>
      </p:sp>
      <p:sp>
        <p:nvSpPr>
          <p:cNvPr id="81929" name="Line 2060"/>
          <p:cNvSpPr/>
          <p:nvPr/>
        </p:nvSpPr>
        <p:spPr>
          <a:xfrm>
            <a:off x="369888" y="3333750"/>
            <a:ext cx="2014537" cy="1588"/>
          </a:xfrm>
          <a:prstGeom prst="line">
            <a:avLst/>
          </a:prstGeom>
          <a:ln w="0" cap="flat" cmpd="sng">
            <a:solidFill>
              <a:srgbClr val="000000"/>
            </a:solidFill>
            <a:prstDash val="solid"/>
            <a:headEnd type="none" w="med" len="med"/>
            <a:tailEnd type="none" w="med" len="med"/>
          </a:ln>
        </p:spPr>
      </p:sp>
      <p:sp>
        <p:nvSpPr>
          <p:cNvPr id="81930" name="Line 2061"/>
          <p:cNvSpPr/>
          <p:nvPr/>
        </p:nvSpPr>
        <p:spPr>
          <a:xfrm>
            <a:off x="369888" y="3160713"/>
            <a:ext cx="2014537" cy="1587"/>
          </a:xfrm>
          <a:prstGeom prst="line">
            <a:avLst/>
          </a:prstGeom>
          <a:ln w="0" cap="flat" cmpd="sng">
            <a:solidFill>
              <a:srgbClr val="000000"/>
            </a:solidFill>
            <a:prstDash val="solid"/>
            <a:headEnd type="none" w="med" len="med"/>
            <a:tailEnd type="none" w="med" len="med"/>
          </a:ln>
        </p:spPr>
      </p:sp>
      <p:sp>
        <p:nvSpPr>
          <p:cNvPr id="81931" name="Line 2062"/>
          <p:cNvSpPr/>
          <p:nvPr/>
        </p:nvSpPr>
        <p:spPr>
          <a:xfrm>
            <a:off x="369888" y="2976563"/>
            <a:ext cx="2014537" cy="1587"/>
          </a:xfrm>
          <a:prstGeom prst="line">
            <a:avLst/>
          </a:prstGeom>
          <a:ln w="0" cap="flat" cmpd="sng">
            <a:solidFill>
              <a:srgbClr val="000000"/>
            </a:solidFill>
            <a:prstDash val="solid"/>
            <a:headEnd type="none" w="med" len="med"/>
            <a:tailEnd type="none" w="med" len="med"/>
          </a:ln>
        </p:spPr>
      </p:sp>
      <p:sp>
        <p:nvSpPr>
          <p:cNvPr id="81932" name="Line 2063"/>
          <p:cNvSpPr/>
          <p:nvPr/>
        </p:nvSpPr>
        <p:spPr>
          <a:xfrm>
            <a:off x="369888" y="2803525"/>
            <a:ext cx="2014537" cy="1588"/>
          </a:xfrm>
          <a:prstGeom prst="line">
            <a:avLst/>
          </a:prstGeom>
          <a:ln w="0" cap="flat" cmpd="sng">
            <a:solidFill>
              <a:srgbClr val="000000"/>
            </a:solidFill>
            <a:prstDash val="solid"/>
            <a:headEnd type="none" w="med" len="med"/>
            <a:tailEnd type="none" w="med" len="med"/>
          </a:ln>
        </p:spPr>
      </p:sp>
      <p:sp>
        <p:nvSpPr>
          <p:cNvPr id="81933" name="Line 2064"/>
          <p:cNvSpPr/>
          <p:nvPr/>
        </p:nvSpPr>
        <p:spPr>
          <a:xfrm>
            <a:off x="369888" y="2619375"/>
            <a:ext cx="2014537" cy="1588"/>
          </a:xfrm>
          <a:prstGeom prst="line">
            <a:avLst/>
          </a:prstGeom>
          <a:ln w="0" cap="flat" cmpd="sng">
            <a:solidFill>
              <a:srgbClr val="000000"/>
            </a:solidFill>
            <a:prstDash val="solid"/>
            <a:headEnd type="none" w="med" len="med"/>
            <a:tailEnd type="none" w="med" len="med"/>
          </a:ln>
        </p:spPr>
      </p:sp>
      <p:sp>
        <p:nvSpPr>
          <p:cNvPr id="81934" name="Line 2065"/>
          <p:cNvSpPr/>
          <p:nvPr/>
        </p:nvSpPr>
        <p:spPr>
          <a:xfrm>
            <a:off x="369888" y="2446338"/>
            <a:ext cx="2014537" cy="1587"/>
          </a:xfrm>
          <a:prstGeom prst="line">
            <a:avLst/>
          </a:prstGeom>
          <a:ln w="0" cap="flat" cmpd="sng">
            <a:solidFill>
              <a:srgbClr val="000000"/>
            </a:solidFill>
            <a:prstDash val="solid"/>
            <a:headEnd type="none" w="med" len="med"/>
            <a:tailEnd type="none" w="med" len="med"/>
          </a:ln>
        </p:spPr>
      </p:sp>
      <p:sp>
        <p:nvSpPr>
          <p:cNvPr id="81935" name="Line 2066"/>
          <p:cNvSpPr/>
          <p:nvPr/>
        </p:nvSpPr>
        <p:spPr>
          <a:xfrm>
            <a:off x="369888" y="2262188"/>
            <a:ext cx="2014537" cy="1587"/>
          </a:xfrm>
          <a:prstGeom prst="line">
            <a:avLst/>
          </a:prstGeom>
          <a:ln w="0" cap="flat" cmpd="sng">
            <a:solidFill>
              <a:srgbClr val="000000"/>
            </a:solidFill>
            <a:prstDash val="solid"/>
            <a:headEnd type="none" w="med" len="med"/>
            <a:tailEnd type="none" w="med" len="med"/>
          </a:ln>
        </p:spPr>
      </p:sp>
      <p:sp>
        <p:nvSpPr>
          <p:cNvPr id="81936" name="Line 2067"/>
          <p:cNvSpPr/>
          <p:nvPr/>
        </p:nvSpPr>
        <p:spPr>
          <a:xfrm>
            <a:off x="369888" y="2087563"/>
            <a:ext cx="2014537" cy="1587"/>
          </a:xfrm>
          <a:prstGeom prst="line">
            <a:avLst/>
          </a:prstGeom>
          <a:ln w="0" cap="flat" cmpd="sng">
            <a:solidFill>
              <a:srgbClr val="000000"/>
            </a:solidFill>
            <a:prstDash val="solid"/>
            <a:headEnd type="none" w="med" len="med"/>
            <a:tailEnd type="none" w="med" len="med"/>
          </a:ln>
        </p:spPr>
      </p:sp>
      <p:sp>
        <p:nvSpPr>
          <p:cNvPr id="81937" name="Line 2068"/>
          <p:cNvSpPr/>
          <p:nvPr/>
        </p:nvSpPr>
        <p:spPr>
          <a:xfrm>
            <a:off x="369888" y="1903413"/>
            <a:ext cx="2014537" cy="1587"/>
          </a:xfrm>
          <a:prstGeom prst="line">
            <a:avLst/>
          </a:prstGeom>
          <a:ln w="0" cap="flat" cmpd="sng">
            <a:solidFill>
              <a:srgbClr val="000000"/>
            </a:solidFill>
            <a:prstDash val="solid"/>
            <a:headEnd type="none" w="med" len="med"/>
            <a:tailEnd type="none" w="med" len="med"/>
          </a:ln>
        </p:spPr>
      </p:sp>
      <p:sp>
        <p:nvSpPr>
          <p:cNvPr id="81938" name="Line 2069"/>
          <p:cNvSpPr/>
          <p:nvPr/>
        </p:nvSpPr>
        <p:spPr>
          <a:xfrm>
            <a:off x="576263" y="1903413"/>
            <a:ext cx="1587" cy="1789112"/>
          </a:xfrm>
          <a:prstGeom prst="line">
            <a:avLst/>
          </a:prstGeom>
          <a:ln w="0" cap="flat" cmpd="sng">
            <a:solidFill>
              <a:srgbClr val="000000"/>
            </a:solidFill>
            <a:prstDash val="solid"/>
            <a:headEnd type="none" w="med" len="med"/>
            <a:tailEnd type="none" w="med" len="med"/>
          </a:ln>
        </p:spPr>
      </p:sp>
      <p:sp>
        <p:nvSpPr>
          <p:cNvPr id="81939" name="Line 2070"/>
          <p:cNvSpPr/>
          <p:nvPr/>
        </p:nvSpPr>
        <p:spPr>
          <a:xfrm>
            <a:off x="773113" y="1903413"/>
            <a:ext cx="1587" cy="1789112"/>
          </a:xfrm>
          <a:prstGeom prst="line">
            <a:avLst/>
          </a:prstGeom>
          <a:ln w="0" cap="flat" cmpd="sng">
            <a:solidFill>
              <a:srgbClr val="000000"/>
            </a:solidFill>
            <a:prstDash val="solid"/>
            <a:headEnd type="none" w="med" len="med"/>
            <a:tailEnd type="none" w="med" len="med"/>
          </a:ln>
        </p:spPr>
      </p:sp>
      <p:sp>
        <p:nvSpPr>
          <p:cNvPr id="81940" name="Line 2071"/>
          <p:cNvSpPr/>
          <p:nvPr/>
        </p:nvSpPr>
        <p:spPr>
          <a:xfrm>
            <a:off x="979488" y="1903413"/>
            <a:ext cx="1587" cy="1789112"/>
          </a:xfrm>
          <a:prstGeom prst="line">
            <a:avLst/>
          </a:prstGeom>
          <a:ln w="0" cap="flat" cmpd="sng">
            <a:solidFill>
              <a:srgbClr val="000000"/>
            </a:solidFill>
            <a:prstDash val="solid"/>
            <a:headEnd type="none" w="med" len="med"/>
            <a:tailEnd type="none" w="med" len="med"/>
          </a:ln>
        </p:spPr>
      </p:sp>
      <p:sp>
        <p:nvSpPr>
          <p:cNvPr id="81941" name="Line 2072"/>
          <p:cNvSpPr/>
          <p:nvPr/>
        </p:nvSpPr>
        <p:spPr>
          <a:xfrm>
            <a:off x="1176338" y="1903413"/>
            <a:ext cx="1587" cy="1789112"/>
          </a:xfrm>
          <a:prstGeom prst="line">
            <a:avLst/>
          </a:prstGeom>
          <a:ln w="0" cap="flat" cmpd="sng">
            <a:solidFill>
              <a:srgbClr val="000000"/>
            </a:solidFill>
            <a:prstDash val="solid"/>
            <a:headEnd type="none" w="med" len="med"/>
            <a:tailEnd type="none" w="med" len="med"/>
          </a:ln>
        </p:spPr>
      </p:sp>
      <p:sp>
        <p:nvSpPr>
          <p:cNvPr id="81942" name="Line 2073"/>
          <p:cNvSpPr/>
          <p:nvPr/>
        </p:nvSpPr>
        <p:spPr>
          <a:xfrm>
            <a:off x="1382713" y="1903413"/>
            <a:ext cx="1587" cy="1789112"/>
          </a:xfrm>
          <a:prstGeom prst="line">
            <a:avLst/>
          </a:prstGeom>
          <a:ln w="0" cap="flat" cmpd="sng">
            <a:solidFill>
              <a:srgbClr val="000000"/>
            </a:solidFill>
            <a:prstDash val="solid"/>
            <a:headEnd type="none" w="med" len="med"/>
            <a:tailEnd type="none" w="med" len="med"/>
          </a:ln>
        </p:spPr>
      </p:sp>
      <p:sp>
        <p:nvSpPr>
          <p:cNvPr id="81943" name="Line 2074"/>
          <p:cNvSpPr/>
          <p:nvPr/>
        </p:nvSpPr>
        <p:spPr>
          <a:xfrm>
            <a:off x="1577975" y="1903413"/>
            <a:ext cx="1588" cy="1789112"/>
          </a:xfrm>
          <a:prstGeom prst="line">
            <a:avLst/>
          </a:prstGeom>
          <a:ln w="0" cap="flat" cmpd="sng">
            <a:solidFill>
              <a:srgbClr val="000000"/>
            </a:solidFill>
            <a:prstDash val="solid"/>
            <a:headEnd type="none" w="med" len="med"/>
            <a:tailEnd type="none" w="med" len="med"/>
          </a:ln>
        </p:spPr>
      </p:sp>
      <p:sp>
        <p:nvSpPr>
          <p:cNvPr id="81944" name="Line 2075"/>
          <p:cNvSpPr/>
          <p:nvPr/>
        </p:nvSpPr>
        <p:spPr>
          <a:xfrm>
            <a:off x="1785938" y="1903413"/>
            <a:ext cx="1587" cy="1789112"/>
          </a:xfrm>
          <a:prstGeom prst="line">
            <a:avLst/>
          </a:prstGeom>
          <a:ln w="0" cap="flat" cmpd="sng">
            <a:solidFill>
              <a:srgbClr val="000000"/>
            </a:solidFill>
            <a:prstDash val="solid"/>
            <a:headEnd type="none" w="med" len="med"/>
            <a:tailEnd type="none" w="med" len="med"/>
          </a:ln>
        </p:spPr>
      </p:sp>
      <p:sp>
        <p:nvSpPr>
          <p:cNvPr id="81945" name="Line 2076"/>
          <p:cNvSpPr/>
          <p:nvPr/>
        </p:nvSpPr>
        <p:spPr>
          <a:xfrm>
            <a:off x="1981200" y="1903413"/>
            <a:ext cx="1588" cy="1789112"/>
          </a:xfrm>
          <a:prstGeom prst="line">
            <a:avLst/>
          </a:prstGeom>
          <a:ln w="0" cap="flat" cmpd="sng">
            <a:solidFill>
              <a:srgbClr val="000000"/>
            </a:solidFill>
            <a:prstDash val="solid"/>
            <a:headEnd type="none" w="med" len="med"/>
            <a:tailEnd type="none" w="med" len="med"/>
          </a:ln>
        </p:spPr>
      </p:sp>
      <p:sp>
        <p:nvSpPr>
          <p:cNvPr id="81946" name="Line 2077"/>
          <p:cNvSpPr/>
          <p:nvPr/>
        </p:nvSpPr>
        <p:spPr>
          <a:xfrm>
            <a:off x="2187575" y="1903413"/>
            <a:ext cx="1588" cy="1789112"/>
          </a:xfrm>
          <a:prstGeom prst="line">
            <a:avLst/>
          </a:prstGeom>
          <a:ln w="0" cap="flat" cmpd="sng">
            <a:solidFill>
              <a:srgbClr val="000000"/>
            </a:solidFill>
            <a:prstDash val="solid"/>
            <a:headEnd type="none" w="med" len="med"/>
            <a:tailEnd type="none" w="med" len="med"/>
          </a:ln>
        </p:spPr>
      </p:sp>
      <p:sp>
        <p:nvSpPr>
          <p:cNvPr id="81947" name="Line 2078"/>
          <p:cNvSpPr/>
          <p:nvPr/>
        </p:nvSpPr>
        <p:spPr>
          <a:xfrm>
            <a:off x="2384425" y="1903413"/>
            <a:ext cx="1588" cy="1789112"/>
          </a:xfrm>
          <a:prstGeom prst="line">
            <a:avLst/>
          </a:prstGeom>
          <a:ln w="0" cap="flat" cmpd="sng">
            <a:solidFill>
              <a:srgbClr val="000000"/>
            </a:solidFill>
            <a:prstDash val="solid"/>
            <a:headEnd type="none" w="med" len="med"/>
            <a:tailEnd type="none" w="med" len="med"/>
          </a:ln>
        </p:spPr>
      </p:sp>
      <p:sp>
        <p:nvSpPr>
          <p:cNvPr id="81948" name="Rectangle 2079"/>
          <p:cNvSpPr/>
          <p:nvPr/>
        </p:nvSpPr>
        <p:spPr>
          <a:xfrm>
            <a:off x="369888" y="1903413"/>
            <a:ext cx="2014537" cy="1789112"/>
          </a:xfrm>
          <a:prstGeom prst="rect">
            <a:avLst/>
          </a:prstGeom>
          <a:noFill/>
          <a:ln w="11113"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sp>
        <p:nvSpPr>
          <p:cNvPr id="81949" name="Line 2080"/>
          <p:cNvSpPr/>
          <p:nvPr/>
        </p:nvSpPr>
        <p:spPr>
          <a:xfrm>
            <a:off x="369888" y="1903413"/>
            <a:ext cx="1587" cy="1789112"/>
          </a:xfrm>
          <a:prstGeom prst="line">
            <a:avLst/>
          </a:prstGeom>
          <a:ln w="0" cap="flat" cmpd="sng">
            <a:solidFill>
              <a:srgbClr val="000000"/>
            </a:solidFill>
            <a:prstDash val="solid"/>
            <a:headEnd type="none" w="med" len="med"/>
            <a:tailEnd type="none" w="med" len="med"/>
          </a:ln>
        </p:spPr>
      </p:sp>
      <p:sp>
        <p:nvSpPr>
          <p:cNvPr id="81950" name="Line 2081"/>
          <p:cNvSpPr/>
          <p:nvPr/>
        </p:nvSpPr>
        <p:spPr>
          <a:xfrm>
            <a:off x="347663" y="3692525"/>
            <a:ext cx="22225" cy="1588"/>
          </a:xfrm>
          <a:prstGeom prst="line">
            <a:avLst/>
          </a:prstGeom>
          <a:ln w="0" cap="flat" cmpd="sng">
            <a:solidFill>
              <a:srgbClr val="000000"/>
            </a:solidFill>
            <a:prstDash val="solid"/>
            <a:headEnd type="none" w="med" len="med"/>
            <a:tailEnd type="none" w="med" len="med"/>
          </a:ln>
        </p:spPr>
      </p:sp>
      <p:sp>
        <p:nvSpPr>
          <p:cNvPr id="81951" name="Line 2082"/>
          <p:cNvSpPr/>
          <p:nvPr/>
        </p:nvSpPr>
        <p:spPr>
          <a:xfrm>
            <a:off x="347663" y="3517900"/>
            <a:ext cx="22225" cy="1588"/>
          </a:xfrm>
          <a:prstGeom prst="line">
            <a:avLst/>
          </a:prstGeom>
          <a:ln w="0" cap="flat" cmpd="sng">
            <a:solidFill>
              <a:srgbClr val="000000"/>
            </a:solidFill>
            <a:prstDash val="solid"/>
            <a:headEnd type="none" w="med" len="med"/>
            <a:tailEnd type="none" w="med" len="med"/>
          </a:ln>
        </p:spPr>
      </p:sp>
      <p:sp>
        <p:nvSpPr>
          <p:cNvPr id="81952" name="Line 2083"/>
          <p:cNvSpPr/>
          <p:nvPr/>
        </p:nvSpPr>
        <p:spPr>
          <a:xfrm>
            <a:off x="347663" y="3333750"/>
            <a:ext cx="22225" cy="1588"/>
          </a:xfrm>
          <a:prstGeom prst="line">
            <a:avLst/>
          </a:prstGeom>
          <a:ln w="0" cap="flat" cmpd="sng">
            <a:solidFill>
              <a:srgbClr val="000000"/>
            </a:solidFill>
            <a:prstDash val="solid"/>
            <a:headEnd type="none" w="med" len="med"/>
            <a:tailEnd type="none" w="med" len="med"/>
          </a:ln>
        </p:spPr>
      </p:sp>
      <p:sp>
        <p:nvSpPr>
          <p:cNvPr id="81953" name="Line 2084"/>
          <p:cNvSpPr/>
          <p:nvPr/>
        </p:nvSpPr>
        <p:spPr>
          <a:xfrm>
            <a:off x="347663" y="3160713"/>
            <a:ext cx="22225" cy="1587"/>
          </a:xfrm>
          <a:prstGeom prst="line">
            <a:avLst/>
          </a:prstGeom>
          <a:ln w="0" cap="flat" cmpd="sng">
            <a:solidFill>
              <a:srgbClr val="000000"/>
            </a:solidFill>
            <a:prstDash val="solid"/>
            <a:headEnd type="none" w="med" len="med"/>
            <a:tailEnd type="none" w="med" len="med"/>
          </a:ln>
        </p:spPr>
      </p:sp>
      <p:sp>
        <p:nvSpPr>
          <p:cNvPr id="81954" name="Line 2085"/>
          <p:cNvSpPr/>
          <p:nvPr/>
        </p:nvSpPr>
        <p:spPr>
          <a:xfrm>
            <a:off x="347663" y="2976563"/>
            <a:ext cx="22225" cy="1587"/>
          </a:xfrm>
          <a:prstGeom prst="line">
            <a:avLst/>
          </a:prstGeom>
          <a:ln w="0" cap="flat" cmpd="sng">
            <a:solidFill>
              <a:srgbClr val="000000"/>
            </a:solidFill>
            <a:prstDash val="solid"/>
            <a:headEnd type="none" w="med" len="med"/>
            <a:tailEnd type="none" w="med" len="med"/>
          </a:ln>
        </p:spPr>
      </p:sp>
      <p:sp>
        <p:nvSpPr>
          <p:cNvPr id="81955" name="Line 2086"/>
          <p:cNvSpPr/>
          <p:nvPr/>
        </p:nvSpPr>
        <p:spPr>
          <a:xfrm>
            <a:off x="347663" y="2803525"/>
            <a:ext cx="22225" cy="1588"/>
          </a:xfrm>
          <a:prstGeom prst="line">
            <a:avLst/>
          </a:prstGeom>
          <a:ln w="0" cap="flat" cmpd="sng">
            <a:solidFill>
              <a:srgbClr val="000000"/>
            </a:solidFill>
            <a:prstDash val="solid"/>
            <a:headEnd type="none" w="med" len="med"/>
            <a:tailEnd type="none" w="med" len="med"/>
          </a:ln>
        </p:spPr>
      </p:sp>
      <p:sp>
        <p:nvSpPr>
          <p:cNvPr id="81956" name="Line 2087"/>
          <p:cNvSpPr/>
          <p:nvPr/>
        </p:nvSpPr>
        <p:spPr>
          <a:xfrm>
            <a:off x="347663" y="2619375"/>
            <a:ext cx="22225" cy="1588"/>
          </a:xfrm>
          <a:prstGeom prst="line">
            <a:avLst/>
          </a:prstGeom>
          <a:ln w="0" cap="flat" cmpd="sng">
            <a:solidFill>
              <a:srgbClr val="000000"/>
            </a:solidFill>
            <a:prstDash val="solid"/>
            <a:headEnd type="none" w="med" len="med"/>
            <a:tailEnd type="none" w="med" len="med"/>
          </a:ln>
        </p:spPr>
      </p:sp>
      <p:sp>
        <p:nvSpPr>
          <p:cNvPr id="81957" name="Line 2088"/>
          <p:cNvSpPr/>
          <p:nvPr/>
        </p:nvSpPr>
        <p:spPr>
          <a:xfrm>
            <a:off x="347663" y="2446338"/>
            <a:ext cx="22225" cy="1587"/>
          </a:xfrm>
          <a:prstGeom prst="line">
            <a:avLst/>
          </a:prstGeom>
          <a:ln w="0" cap="flat" cmpd="sng">
            <a:solidFill>
              <a:srgbClr val="000000"/>
            </a:solidFill>
            <a:prstDash val="solid"/>
            <a:headEnd type="none" w="med" len="med"/>
            <a:tailEnd type="none" w="med" len="med"/>
          </a:ln>
        </p:spPr>
      </p:sp>
      <p:sp>
        <p:nvSpPr>
          <p:cNvPr id="81958" name="Line 2089"/>
          <p:cNvSpPr/>
          <p:nvPr/>
        </p:nvSpPr>
        <p:spPr>
          <a:xfrm>
            <a:off x="347663" y="2262188"/>
            <a:ext cx="22225" cy="1587"/>
          </a:xfrm>
          <a:prstGeom prst="line">
            <a:avLst/>
          </a:prstGeom>
          <a:ln w="0" cap="flat" cmpd="sng">
            <a:solidFill>
              <a:srgbClr val="000000"/>
            </a:solidFill>
            <a:prstDash val="solid"/>
            <a:headEnd type="none" w="med" len="med"/>
            <a:tailEnd type="none" w="med" len="med"/>
          </a:ln>
        </p:spPr>
      </p:sp>
      <p:sp>
        <p:nvSpPr>
          <p:cNvPr id="81959" name="Line 2090"/>
          <p:cNvSpPr/>
          <p:nvPr/>
        </p:nvSpPr>
        <p:spPr>
          <a:xfrm>
            <a:off x="347663" y="2087563"/>
            <a:ext cx="22225" cy="1587"/>
          </a:xfrm>
          <a:prstGeom prst="line">
            <a:avLst/>
          </a:prstGeom>
          <a:ln w="0" cap="flat" cmpd="sng">
            <a:solidFill>
              <a:srgbClr val="000000"/>
            </a:solidFill>
            <a:prstDash val="solid"/>
            <a:headEnd type="none" w="med" len="med"/>
            <a:tailEnd type="none" w="med" len="med"/>
          </a:ln>
        </p:spPr>
      </p:sp>
      <p:sp>
        <p:nvSpPr>
          <p:cNvPr id="81960" name="Line 2091"/>
          <p:cNvSpPr/>
          <p:nvPr/>
        </p:nvSpPr>
        <p:spPr>
          <a:xfrm>
            <a:off x="347663" y="1903413"/>
            <a:ext cx="22225" cy="1587"/>
          </a:xfrm>
          <a:prstGeom prst="line">
            <a:avLst/>
          </a:prstGeom>
          <a:ln w="0" cap="flat" cmpd="sng">
            <a:solidFill>
              <a:srgbClr val="000000"/>
            </a:solidFill>
            <a:prstDash val="solid"/>
            <a:headEnd type="none" w="med" len="med"/>
            <a:tailEnd type="none" w="med" len="med"/>
          </a:ln>
        </p:spPr>
      </p:sp>
      <p:sp>
        <p:nvSpPr>
          <p:cNvPr id="81961" name="Line 2092"/>
          <p:cNvSpPr/>
          <p:nvPr/>
        </p:nvSpPr>
        <p:spPr>
          <a:xfrm>
            <a:off x="369888" y="3692525"/>
            <a:ext cx="2014537" cy="1588"/>
          </a:xfrm>
          <a:prstGeom prst="line">
            <a:avLst/>
          </a:prstGeom>
          <a:ln w="0" cap="flat" cmpd="sng">
            <a:solidFill>
              <a:srgbClr val="000000"/>
            </a:solidFill>
            <a:prstDash val="solid"/>
            <a:headEnd type="none" w="med" len="med"/>
            <a:tailEnd type="none" w="med" len="med"/>
          </a:ln>
        </p:spPr>
      </p:sp>
      <p:sp>
        <p:nvSpPr>
          <p:cNvPr id="81962" name="Line 2093"/>
          <p:cNvSpPr/>
          <p:nvPr/>
        </p:nvSpPr>
        <p:spPr>
          <a:xfrm flipV="1">
            <a:off x="369888" y="3692525"/>
            <a:ext cx="1587" cy="20638"/>
          </a:xfrm>
          <a:prstGeom prst="line">
            <a:avLst/>
          </a:prstGeom>
          <a:ln w="0" cap="flat" cmpd="sng">
            <a:solidFill>
              <a:srgbClr val="000000"/>
            </a:solidFill>
            <a:prstDash val="solid"/>
            <a:headEnd type="none" w="med" len="med"/>
            <a:tailEnd type="none" w="med" len="med"/>
          </a:ln>
        </p:spPr>
      </p:sp>
      <p:sp>
        <p:nvSpPr>
          <p:cNvPr id="81963" name="Line 2094"/>
          <p:cNvSpPr/>
          <p:nvPr/>
        </p:nvSpPr>
        <p:spPr>
          <a:xfrm flipV="1">
            <a:off x="576263" y="3692525"/>
            <a:ext cx="1587" cy="20638"/>
          </a:xfrm>
          <a:prstGeom prst="line">
            <a:avLst/>
          </a:prstGeom>
          <a:ln w="0" cap="flat" cmpd="sng">
            <a:solidFill>
              <a:srgbClr val="000000"/>
            </a:solidFill>
            <a:prstDash val="solid"/>
            <a:headEnd type="none" w="med" len="med"/>
            <a:tailEnd type="none" w="med" len="med"/>
          </a:ln>
        </p:spPr>
      </p:sp>
      <p:sp>
        <p:nvSpPr>
          <p:cNvPr id="81964" name="Line 2095"/>
          <p:cNvSpPr/>
          <p:nvPr/>
        </p:nvSpPr>
        <p:spPr>
          <a:xfrm flipV="1">
            <a:off x="773113" y="3692525"/>
            <a:ext cx="1587" cy="20638"/>
          </a:xfrm>
          <a:prstGeom prst="line">
            <a:avLst/>
          </a:prstGeom>
          <a:ln w="0" cap="flat" cmpd="sng">
            <a:solidFill>
              <a:srgbClr val="000000"/>
            </a:solidFill>
            <a:prstDash val="solid"/>
            <a:headEnd type="none" w="med" len="med"/>
            <a:tailEnd type="none" w="med" len="med"/>
          </a:ln>
        </p:spPr>
      </p:sp>
      <p:sp>
        <p:nvSpPr>
          <p:cNvPr id="81965" name="Line 2096"/>
          <p:cNvSpPr/>
          <p:nvPr/>
        </p:nvSpPr>
        <p:spPr>
          <a:xfrm flipV="1">
            <a:off x="979488" y="3692525"/>
            <a:ext cx="1587" cy="20638"/>
          </a:xfrm>
          <a:prstGeom prst="line">
            <a:avLst/>
          </a:prstGeom>
          <a:ln w="0" cap="flat" cmpd="sng">
            <a:solidFill>
              <a:srgbClr val="000000"/>
            </a:solidFill>
            <a:prstDash val="solid"/>
            <a:headEnd type="none" w="med" len="med"/>
            <a:tailEnd type="none" w="med" len="med"/>
          </a:ln>
        </p:spPr>
      </p:sp>
      <p:sp>
        <p:nvSpPr>
          <p:cNvPr id="81966" name="Line 2097"/>
          <p:cNvSpPr/>
          <p:nvPr/>
        </p:nvSpPr>
        <p:spPr>
          <a:xfrm flipV="1">
            <a:off x="1176338" y="3692525"/>
            <a:ext cx="1587" cy="20638"/>
          </a:xfrm>
          <a:prstGeom prst="line">
            <a:avLst/>
          </a:prstGeom>
          <a:ln w="0" cap="flat" cmpd="sng">
            <a:solidFill>
              <a:srgbClr val="000000"/>
            </a:solidFill>
            <a:prstDash val="solid"/>
            <a:headEnd type="none" w="med" len="med"/>
            <a:tailEnd type="none" w="med" len="med"/>
          </a:ln>
        </p:spPr>
      </p:sp>
      <p:sp>
        <p:nvSpPr>
          <p:cNvPr id="81967" name="Line 2098"/>
          <p:cNvSpPr/>
          <p:nvPr/>
        </p:nvSpPr>
        <p:spPr>
          <a:xfrm flipV="1">
            <a:off x="1382713" y="3692525"/>
            <a:ext cx="1587" cy="20638"/>
          </a:xfrm>
          <a:prstGeom prst="line">
            <a:avLst/>
          </a:prstGeom>
          <a:ln w="0" cap="flat" cmpd="sng">
            <a:solidFill>
              <a:srgbClr val="000000"/>
            </a:solidFill>
            <a:prstDash val="solid"/>
            <a:headEnd type="none" w="med" len="med"/>
            <a:tailEnd type="none" w="med" len="med"/>
          </a:ln>
        </p:spPr>
      </p:sp>
      <p:sp>
        <p:nvSpPr>
          <p:cNvPr id="81968" name="Line 2099"/>
          <p:cNvSpPr/>
          <p:nvPr/>
        </p:nvSpPr>
        <p:spPr>
          <a:xfrm flipV="1">
            <a:off x="1577975" y="3692525"/>
            <a:ext cx="1588" cy="20638"/>
          </a:xfrm>
          <a:prstGeom prst="line">
            <a:avLst/>
          </a:prstGeom>
          <a:ln w="0" cap="flat" cmpd="sng">
            <a:solidFill>
              <a:srgbClr val="000000"/>
            </a:solidFill>
            <a:prstDash val="solid"/>
            <a:headEnd type="none" w="med" len="med"/>
            <a:tailEnd type="none" w="med" len="med"/>
          </a:ln>
        </p:spPr>
      </p:sp>
      <p:sp>
        <p:nvSpPr>
          <p:cNvPr id="81969" name="Line 2100"/>
          <p:cNvSpPr/>
          <p:nvPr/>
        </p:nvSpPr>
        <p:spPr>
          <a:xfrm flipV="1">
            <a:off x="1785938" y="3692525"/>
            <a:ext cx="1587" cy="20638"/>
          </a:xfrm>
          <a:prstGeom prst="line">
            <a:avLst/>
          </a:prstGeom>
          <a:ln w="0" cap="flat" cmpd="sng">
            <a:solidFill>
              <a:srgbClr val="000000"/>
            </a:solidFill>
            <a:prstDash val="solid"/>
            <a:headEnd type="none" w="med" len="med"/>
            <a:tailEnd type="none" w="med" len="med"/>
          </a:ln>
        </p:spPr>
      </p:sp>
      <p:sp>
        <p:nvSpPr>
          <p:cNvPr id="81970" name="Line 2101"/>
          <p:cNvSpPr/>
          <p:nvPr/>
        </p:nvSpPr>
        <p:spPr>
          <a:xfrm flipV="1">
            <a:off x="1981200" y="3692525"/>
            <a:ext cx="1588" cy="20638"/>
          </a:xfrm>
          <a:prstGeom prst="line">
            <a:avLst/>
          </a:prstGeom>
          <a:ln w="0" cap="flat" cmpd="sng">
            <a:solidFill>
              <a:srgbClr val="000000"/>
            </a:solidFill>
            <a:prstDash val="solid"/>
            <a:headEnd type="none" w="med" len="med"/>
            <a:tailEnd type="none" w="med" len="med"/>
          </a:ln>
        </p:spPr>
      </p:sp>
      <p:sp>
        <p:nvSpPr>
          <p:cNvPr id="81971" name="Line 2102"/>
          <p:cNvSpPr/>
          <p:nvPr/>
        </p:nvSpPr>
        <p:spPr>
          <a:xfrm flipV="1">
            <a:off x="2187575" y="3692525"/>
            <a:ext cx="1588" cy="20638"/>
          </a:xfrm>
          <a:prstGeom prst="line">
            <a:avLst/>
          </a:prstGeom>
          <a:ln w="0" cap="flat" cmpd="sng">
            <a:solidFill>
              <a:srgbClr val="000000"/>
            </a:solidFill>
            <a:prstDash val="solid"/>
            <a:headEnd type="none" w="med" len="med"/>
            <a:tailEnd type="none" w="med" len="med"/>
          </a:ln>
        </p:spPr>
      </p:sp>
      <p:sp>
        <p:nvSpPr>
          <p:cNvPr id="81972" name="Line 2103"/>
          <p:cNvSpPr/>
          <p:nvPr/>
        </p:nvSpPr>
        <p:spPr>
          <a:xfrm flipV="1">
            <a:off x="2384425" y="3692525"/>
            <a:ext cx="1588" cy="20638"/>
          </a:xfrm>
          <a:prstGeom prst="line">
            <a:avLst/>
          </a:prstGeom>
          <a:ln w="0" cap="flat" cmpd="sng">
            <a:solidFill>
              <a:srgbClr val="000000"/>
            </a:solidFill>
            <a:prstDash val="solid"/>
            <a:headEnd type="none" w="med" len="med"/>
            <a:tailEnd type="none" w="med" len="med"/>
          </a:ln>
        </p:spPr>
      </p:sp>
      <p:sp>
        <p:nvSpPr>
          <p:cNvPr id="81973" name="Freeform 2104"/>
          <p:cNvSpPr/>
          <p:nvPr/>
        </p:nvSpPr>
        <p:spPr>
          <a:xfrm>
            <a:off x="903288" y="2900363"/>
            <a:ext cx="152400" cy="152400"/>
          </a:xfrm>
          <a:custGeom>
            <a:avLst/>
            <a:gdLst>
              <a:gd name="txL" fmla="*/ 0 w 96"/>
              <a:gd name="txT" fmla="*/ 0 h 96"/>
              <a:gd name="txR" fmla="*/ 96 w 96"/>
              <a:gd name="txB" fmla="*/ 96 h 96"/>
            </a:gdLst>
            <a:ahLst/>
            <a:cxnLst>
              <a:cxn ang="0">
                <a:pos x="2147483647" y="0"/>
              </a:cxn>
              <a:cxn ang="0">
                <a:pos x="2147483647" y="2147483647"/>
              </a:cxn>
              <a:cxn ang="0">
                <a:pos x="2147483647" y="2147483647"/>
              </a:cxn>
              <a:cxn ang="0">
                <a:pos x="0" y="2147483647"/>
              </a:cxn>
              <a:cxn ang="0">
                <a:pos x="2147483647" y="0"/>
              </a:cxn>
            </a:cxnLst>
            <a:rect l="txL" t="txT" r="txR" b="txB"/>
            <a:pathLst>
              <a:path w="96" h="96">
                <a:moveTo>
                  <a:pt x="48" y="0"/>
                </a:moveTo>
                <a:lnTo>
                  <a:pt x="96" y="48"/>
                </a:lnTo>
                <a:lnTo>
                  <a:pt x="48" y="96"/>
                </a:lnTo>
                <a:lnTo>
                  <a:pt x="0" y="48"/>
                </a:lnTo>
                <a:lnTo>
                  <a:pt x="48" y="0"/>
                </a:lnTo>
                <a:close/>
              </a:path>
            </a:pathLst>
          </a:custGeom>
          <a:solidFill>
            <a:srgbClr val="00FFFF">
              <a:alpha val="100000"/>
            </a:srgbClr>
          </a:solidFill>
          <a:ln w="11113" cap="flat" cmpd="sng">
            <a:solidFill>
              <a:srgbClr val="000080">
                <a:alpha val="100000"/>
              </a:srgbClr>
            </a:solidFill>
            <a:prstDash val="solid"/>
            <a:round/>
            <a:headEnd type="none" w="med" len="med"/>
            <a:tailEnd type="none" w="med" len="med"/>
          </a:ln>
        </p:spPr>
        <p:txBody>
          <a:bodyPr/>
          <a:p>
            <a:endParaRPr lang="en-US"/>
          </a:p>
        </p:txBody>
      </p:sp>
      <p:sp>
        <p:nvSpPr>
          <p:cNvPr id="81974" name="Freeform 2105"/>
          <p:cNvSpPr/>
          <p:nvPr/>
        </p:nvSpPr>
        <p:spPr>
          <a:xfrm>
            <a:off x="696913" y="2543175"/>
            <a:ext cx="152400" cy="152400"/>
          </a:xfrm>
          <a:custGeom>
            <a:avLst/>
            <a:gdLst>
              <a:gd name="txL" fmla="*/ 0 w 96"/>
              <a:gd name="txT" fmla="*/ 0 h 96"/>
              <a:gd name="txR" fmla="*/ 96 w 96"/>
              <a:gd name="txB" fmla="*/ 96 h 96"/>
            </a:gdLst>
            <a:ahLst/>
            <a:cxnLst>
              <a:cxn ang="0">
                <a:pos x="2147483647" y="0"/>
              </a:cxn>
              <a:cxn ang="0">
                <a:pos x="2147483647" y="2147483647"/>
              </a:cxn>
              <a:cxn ang="0">
                <a:pos x="2147483647" y="2147483647"/>
              </a:cxn>
              <a:cxn ang="0">
                <a:pos x="0" y="2147483647"/>
              </a:cxn>
              <a:cxn ang="0">
                <a:pos x="2147483647" y="0"/>
              </a:cxn>
            </a:cxnLst>
            <a:rect l="txL" t="txT" r="txR" b="txB"/>
            <a:pathLst>
              <a:path w="96" h="96">
                <a:moveTo>
                  <a:pt x="48" y="0"/>
                </a:moveTo>
                <a:lnTo>
                  <a:pt x="96" y="48"/>
                </a:lnTo>
                <a:lnTo>
                  <a:pt x="48" y="96"/>
                </a:lnTo>
                <a:lnTo>
                  <a:pt x="0" y="48"/>
                </a:lnTo>
                <a:lnTo>
                  <a:pt x="48" y="0"/>
                </a:lnTo>
                <a:close/>
              </a:path>
            </a:pathLst>
          </a:custGeom>
          <a:solidFill>
            <a:srgbClr val="00FFFF">
              <a:alpha val="100000"/>
            </a:srgbClr>
          </a:solidFill>
          <a:ln w="11113" cap="flat" cmpd="sng">
            <a:solidFill>
              <a:srgbClr val="000080">
                <a:alpha val="100000"/>
              </a:srgbClr>
            </a:solidFill>
            <a:prstDash val="solid"/>
            <a:round/>
            <a:headEnd type="none" w="med" len="med"/>
            <a:tailEnd type="none" w="med" len="med"/>
          </a:ln>
        </p:spPr>
        <p:txBody>
          <a:bodyPr/>
          <a:p>
            <a:endParaRPr lang="en-US"/>
          </a:p>
        </p:txBody>
      </p:sp>
      <p:sp>
        <p:nvSpPr>
          <p:cNvPr id="81975" name="Freeform 2106"/>
          <p:cNvSpPr/>
          <p:nvPr/>
        </p:nvSpPr>
        <p:spPr>
          <a:xfrm>
            <a:off x="1709738" y="3084513"/>
            <a:ext cx="152400" cy="152400"/>
          </a:xfrm>
          <a:custGeom>
            <a:avLst/>
            <a:gdLst>
              <a:gd name="txL" fmla="*/ 0 w 96"/>
              <a:gd name="txT" fmla="*/ 0 h 96"/>
              <a:gd name="txR" fmla="*/ 96 w 96"/>
              <a:gd name="txB" fmla="*/ 96 h 96"/>
            </a:gdLst>
            <a:ahLst/>
            <a:cxnLst>
              <a:cxn ang="0">
                <a:pos x="2147483647" y="0"/>
              </a:cxn>
              <a:cxn ang="0">
                <a:pos x="2147483647" y="2147483647"/>
              </a:cxn>
              <a:cxn ang="0">
                <a:pos x="2147483647" y="2147483647"/>
              </a:cxn>
              <a:cxn ang="0">
                <a:pos x="0" y="2147483647"/>
              </a:cxn>
              <a:cxn ang="0">
                <a:pos x="2147483647" y="0"/>
              </a:cxn>
            </a:cxnLst>
            <a:rect l="txL" t="txT" r="txR" b="txB"/>
            <a:pathLst>
              <a:path w="96" h="96">
                <a:moveTo>
                  <a:pt x="48" y="0"/>
                </a:moveTo>
                <a:lnTo>
                  <a:pt x="96" y="48"/>
                </a:lnTo>
                <a:lnTo>
                  <a:pt x="48" y="96"/>
                </a:lnTo>
                <a:lnTo>
                  <a:pt x="0" y="48"/>
                </a:lnTo>
                <a:lnTo>
                  <a:pt x="48" y="0"/>
                </a:lnTo>
                <a:close/>
              </a:path>
            </a:pathLst>
          </a:custGeom>
          <a:solidFill>
            <a:srgbClr val="00FFFF">
              <a:alpha val="100000"/>
            </a:srgbClr>
          </a:solidFill>
          <a:ln w="11113" cap="flat" cmpd="sng">
            <a:solidFill>
              <a:srgbClr val="000080">
                <a:alpha val="100000"/>
              </a:srgbClr>
            </a:solidFill>
            <a:prstDash val="solid"/>
            <a:round/>
            <a:headEnd type="none" w="med" len="med"/>
            <a:tailEnd type="none" w="med" len="med"/>
          </a:ln>
        </p:spPr>
        <p:txBody>
          <a:bodyPr/>
          <a:p>
            <a:endParaRPr lang="en-US"/>
          </a:p>
        </p:txBody>
      </p:sp>
      <p:sp>
        <p:nvSpPr>
          <p:cNvPr id="81976" name="Freeform 2107"/>
          <p:cNvSpPr/>
          <p:nvPr/>
        </p:nvSpPr>
        <p:spPr>
          <a:xfrm>
            <a:off x="1100138" y="2370138"/>
            <a:ext cx="152400" cy="150812"/>
          </a:xfrm>
          <a:custGeom>
            <a:avLst/>
            <a:gdLst>
              <a:gd name="txL" fmla="*/ 0 w 96"/>
              <a:gd name="txT" fmla="*/ 0 h 95"/>
              <a:gd name="txR" fmla="*/ 96 w 96"/>
              <a:gd name="txB" fmla="*/ 95 h 95"/>
            </a:gdLst>
            <a:ahLst/>
            <a:cxnLst>
              <a:cxn ang="0">
                <a:pos x="2147483647" y="0"/>
              </a:cxn>
              <a:cxn ang="0">
                <a:pos x="2147483647" y="2147483647"/>
              </a:cxn>
              <a:cxn ang="0">
                <a:pos x="2147483647" y="2147483647"/>
              </a:cxn>
              <a:cxn ang="0">
                <a:pos x="0" y="2147483647"/>
              </a:cxn>
              <a:cxn ang="0">
                <a:pos x="2147483647" y="0"/>
              </a:cxn>
            </a:cxnLst>
            <a:rect l="txL" t="txT" r="txR" b="txB"/>
            <a:pathLst>
              <a:path w="96" h="95">
                <a:moveTo>
                  <a:pt x="48" y="0"/>
                </a:moveTo>
                <a:lnTo>
                  <a:pt x="96" y="48"/>
                </a:lnTo>
                <a:lnTo>
                  <a:pt x="48" y="95"/>
                </a:lnTo>
                <a:lnTo>
                  <a:pt x="0" y="48"/>
                </a:lnTo>
                <a:lnTo>
                  <a:pt x="48" y="0"/>
                </a:lnTo>
                <a:close/>
              </a:path>
            </a:pathLst>
          </a:custGeom>
          <a:solidFill>
            <a:srgbClr val="00FFFF">
              <a:alpha val="100000"/>
            </a:srgbClr>
          </a:solidFill>
          <a:ln w="11113" cap="flat" cmpd="sng">
            <a:solidFill>
              <a:srgbClr val="000080">
                <a:alpha val="100000"/>
              </a:srgbClr>
            </a:solidFill>
            <a:prstDash val="solid"/>
            <a:round/>
            <a:headEnd type="none" w="med" len="med"/>
            <a:tailEnd type="none" w="med" len="med"/>
          </a:ln>
        </p:spPr>
        <p:txBody>
          <a:bodyPr/>
          <a:p>
            <a:endParaRPr lang="en-US"/>
          </a:p>
        </p:txBody>
      </p:sp>
      <p:sp>
        <p:nvSpPr>
          <p:cNvPr id="81977" name="Freeform 2108"/>
          <p:cNvSpPr/>
          <p:nvPr/>
        </p:nvSpPr>
        <p:spPr>
          <a:xfrm>
            <a:off x="1905000" y="2727325"/>
            <a:ext cx="152400" cy="152400"/>
          </a:xfrm>
          <a:custGeom>
            <a:avLst/>
            <a:gdLst>
              <a:gd name="txL" fmla="*/ 0 w 96"/>
              <a:gd name="txT" fmla="*/ 0 h 96"/>
              <a:gd name="txR" fmla="*/ 96 w 96"/>
              <a:gd name="txB" fmla="*/ 96 h 96"/>
            </a:gdLst>
            <a:ahLst/>
            <a:cxnLst>
              <a:cxn ang="0">
                <a:pos x="2147483647" y="0"/>
              </a:cxn>
              <a:cxn ang="0">
                <a:pos x="2147483647" y="2147483647"/>
              </a:cxn>
              <a:cxn ang="0">
                <a:pos x="2147483647" y="2147483647"/>
              </a:cxn>
              <a:cxn ang="0">
                <a:pos x="0" y="2147483647"/>
              </a:cxn>
              <a:cxn ang="0">
                <a:pos x="2147483647" y="0"/>
              </a:cxn>
            </a:cxnLst>
            <a:rect l="txL" t="txT" r="txR" b="txB"/>
            <a:pathLst>
              <a:path w="96" h="96">
                <a:moveTo>
                  <a:pt x="48" y="0"/>
                </a:moveTo>
                <a:lnTo>
                  <a:pt x="96" y="48"/>
                </a:lnTo>
                <a:lnTo>
                  <a:pt x="48" y="96"/>
                </a:lnTo>
                <a:lnTo>
                  <a:pt x="0" y="48"/>
                </a:lnTo>
                <a:lnTo>
                  <a:pt x="48" y="0"/>
                </a:lnTo>
                <a:close/>
              </a:path>
            </a:pathLst>
          </a:custGeom>
          <a:solidFill>
            <a:srgbClr val="00FFFF">
              <a:alpha val="100000"/>
            </a:srgbClr>
          </a:solidFill>
          <a:ln w="11113" cap="flat" cmpd="sng">
            <a:solidFill>
              <a:srgbClr val="000080">
                <a:alpha val="100000"/>
              </a:srgbClr>
            </a:solidFill>
            <a:prstDash val="solid"/>
            <a:round/>
            <a:headEnd type="none" w="med" len="med"/>
            <a:tailEnd type="none" w="med" len="med"/>
          </a:ln>
        </p:spPr>
        <p:txBody>
          <a:bodyPr/>
          <a:p>
            <a:endParaRPr lang="en-US"/>
          </a:p>
        </p:txBody>
      </p:sp>
      <p:sp>
        <p:nvSpPr>
          <p:cNvPr id="81978" name="Freeform 2109"/>
          <p:cNvSpPr/>
          <p:nvPr/>
        </p:nvSpPr>
        <p:spPr>
          <a:xfrm>
            <a:off x="1501775" y="3259138"/>
            <a:ext cx="152400" cy="150812"/>
          </a:xfrm>
          <a:custGeom>
            <a:avLst/>
            <a:gdLst>
              <a:gd name="txL" fmla="*/ 0 w 96"/>
              <a:gd name="txT" fmla="*/ 0 h 95"/>
              <a:gd name="txR" fmla="*/ 96 w 96"/>
              <a:gd name="txB" fmla="*/ 95 h 95"/>
            </a:gdLst>
            <a:ahLst/>
            <a:cxnLst>
              <a:cxn ang="0">
                <a:pos x="2147483647" y="0"/>
              </a:cxn>
              <a:cxn ang="0">
                <a:pos x="2147483647" y="2147483647"/>
              </a:cxn>
              <a:cxn ang="0">
                <a:pos x="2147483647" y="2147483647"/>
              </a:cxn>
              <a:cxn ang="0">
                <a:pos x="0" y="2147483647"/>
              </a:cxn>
              <a:cxn ang="0">
                <a:pos x="2147483647" y="0"/>
              </a:cxn>
            </a:cxnLst>
            <a:rect l="txL" t="txT" r="txR" b="txB"/>
            <a:pathLst>
              <a:path w="96" h="95">
                <a:moveTo>
                  <a:pt x="48" y="0"/>
                </a:moveTo>
                <a:lnTo>
                  <a:pt x="96" y="47"/>
                </a:lnTo>
                <a:lnTo>
                  <a:pt x="48" y="95"/>
                </a:lnTo>
                <a:lnTo>
                  <a:pt x="0" y="47"/>
                </a:lnTo>
                <a:lnTo>
                  <a:pt x="48" y="0"/>
                </a:lnTo>
                <a:close/>
              </a:path>
            </a:pathLst>
          </a:custGeom>
          <a:solidFill>
            <a:srgbClr val="00FFFF">
              <a:alpha val="100000"/>
            </a:srgbClr>
          </a:solidFill>
          <a:ln w="11113" cap="flat" cmpd="sng">
            <a:solidFill>
              <a:srgbClr val="000080">
                <a:alpha val="100000"/>
              </a:srgbClr>
            </a:solidFill>
            <a:prstDash val="solid"/>
            <a:round/>
            <a:headEnd type="none" w="med" len="med"/>
            <a:tailEnd type="none" w="med" len="med"/>
          </a:ln>
        </p:spPr>
        <p:txBody>
          <a:bodyPr/>
          <a:p>
            <a:endParaRPr lang="en-US"/>
          </a:p>
        </p:txBody>
      </p:sp>
      <p:sp>
        <p:nvSpPr>
          <p:cNvPr id="81979" name="Freeform 2110"/>
          <p:cNvSpPr/>
          <p:nvPr/>
        </p:nvSpPr>
        <p:spPr>
          <a:xfrm>
            <a:off x="1709738" y="2900363"/>
            <a:ext cx="152400" cy="152400"/>
          </a:xfrm>
          <a:custGeom>
            <a:avLst/>
            <a:gdLst>
              <a:gd name="txL" fmla="*/ 0 w 96"/>
              <a:gd name="txT" fmla="*/ 0 h 96"/>
              <a:gd name="txR" fmla="*/ 96 w 96"/>
              <a:gd name="txB" fmla="*/ 96 h 96"/>
            </a:gdLst>
            <a:ahLst/>
            <a:cxnLst>
              <a:cxn ang="0">
                <a:pos x="2147483647" y="0"/>
              </a:cxn>
              <a:cxn ang="0">
                <a:pos x="2147483647" y="2147483647"/>
              </a:cxn>
              <a:cxn ang="0">
                <a:pos x="2147483647" y="2147483647"/>
              </a:cxn>
              <a:cxn ang="0">
                <a:pos x="0" y="2147483647"/>
              </a:cxn>
              <a:cxn ang="0">
                <a:pos x="2147483647" y="0"/>
              </a:cxn>
            </a:cxnLst>
            <a:rect l="txL" t="txT" r="txR" b="txB"/>
            <a:pathLst>
              <a:path w="96" h="96">
                <a:moveTo>
                  <a:pt x="48" y="0"/>
                </a:moveTo>
                <a:lnTo>
                  <a:pt x="96" y="48"/>
                </a:lnTo>
                <a:lnTo>
                  <a:pt x="48" y="96"/>
                </a:lnTo>
                <a:lnTo>
                  <a:pt x="0" y="48"/>
                </a:lnTo>
                <a:lnTo>
                  <a:pt x="48" y="0"/>
                </a:lnTo>
                <a:close/>
              </a:path>
            </a:pathLst>
          </a:custGeom>
          <a:solidFill>
            <a:srgbClr val="00FFFF">
              <a:alpha val="100000"/>
            </a:srgbClr>
          </a:solidFill>
          <a:ln w="11113" cap="flat" cmpd="sng">
            <a:solidFill>
              <a:srgbClr val="000080">
                <a:alpha val="100000"/>
              </a:srgbClr>
            </a:solidFill>
            <a:prstDash val="solid"/>
            <a:round/>
            <a:headEnd type="none" w="med" len="med"/>
            <a:tailEnd type="none" w="med" len="med"/>
          </a:ln>
        </p:spPr>
        <p:txBody>
          <a:bodyPr/>
          <a:p>
            <a:endParaRPr lang="en-US"/>
          </a:p>
        </p:txBody>
      </p:sp>
      <p:sp>
        <p:nvSpPr>
          <p:cNvPr id="81980" name="Freeform 2111"/>
          <p:cNvSpPr/>
          <p:nvPr/>
        </p:nvSpPr>
        <p:spPr>
          <a:xfrm>
            <a:off x="1709738" y="2543175"/>
            <a:ext cx="152400" cy="152400"/>
          </a:xfrm>
          <a:custGeom>
            <a:avLst/>
            <a:gdLst>
              <a:gd name="txL" fmla="*/ 0 w 96"/>
              <a:gd name="txT" fmla="*/ 0 h 96"/>
              <a:gd name="txR" fmla="*/ 96 w 96"/>
              <a:gd name="txB" fmla="*/ 96 h 96"/>
            </a:gdLst>
            <a:ahLst/>
            <a:cxnLst>
              <a:cxn ang="0">
                <a:pos x="2147483647" y="0"/>
              </a:cxn>
              <a:cxn ang="0">
                <a:pos x="2147483647" y="2147483647"/>
              </a:cxn>
              <a:cxn ang="0">
                <a:pos x="2147483647" y="2147483647"/>
              </a:cxn>
              <a:cxn ang="0">
                <a:pos x="0" y="2147483647"/>
              </a:cxn>
              <a:cxn ang="0">
                <a:pos x="2147483647" y="0"/>
              </a:cxn>
            </a:cxnLst>
            <a:rect l="txL" t="txT" r="txR" b="txB"/>
            <a:pathLst>
              <a:path w="96" h="96">
                <a:moveTo>
                  <a:pt x="48" y="0"/>
                </a:moveTo>
                <a:lnTo>
                  <a:pt x="96" y="48"/>
                </a:lnTo>
                <a:lnTo>
                  <a:pt x="48" y="96"/>
                </a:lnTo>
                <a:lnTo>
                  <a:pt x="0" y="48"/>
                </a:lnTo>
                <a:lnTo>
                  <a:pt x="48" y="0"/>
                </a:lnTo>
                <a:close/>
              </a:path>
            </a:pathLst>
          </a:custGeom>
          <a:solidFill>
            <a:srgbClr val="00FFFF">
              <a:alpha val="100000"/>
            </a:srgbClr>
          </a:solidFill>
          <a:ln w="11113" cap="flat" cmpd="sng">
            <a:solidFill>
              <a:srgbClr val="000080">
                <a:alpha val="100000"/>
              </a:srgbClr>
            </a:solidFill>
            <a:prstDash val="solid"/>
            <a:round/>
            <a:headEnd type="none" w="med" len="med"/>
            <a:tailEnd type="none" w="med" len="med"/>
          </a:ln>
        </p:spPr>
        <p:txBody>
          <a:bodyPr/>
          <a:p>
            <a:endParaRPr lang="en-US"/>
          </a:p>
        </p:txBody>
      </p:sp>
      <p:sp>
        <p:nvSpPr>
          <p:cNvPr id="81981" name="Rectangle 2112"/>
          <p:cNvSpPr/>
          <p:nvPr/>
        </p:nvSpPr>
        <p:spPr>
          <a:xfrm>
            <a:off x="282575" y="365918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0</a:t>
            </a:r>
            <a:endParaRPr lang="ko-KR" altLang="en-US" dirty="0">
              <a:latin typeface="Tahoma" panose="020B0604030504040204" pitchFamily="34" charset="0"/>
              <a:ea typeface="Gulim" panose="020B0600000101010101" pitchFamily="34" charset="-127"/>
            </a:endParaRPr>
          </a:p>
        </p:txBody>
      </p:sp>
      <p:sp>
        <p:nvSpPr>
          <p:cNvPr id="81982" name="Rectangle 2113"/>
          <p:cNvSpPr/>
          <p:nvPr/>
        </p:nvSpPr>
        <p:spPr>
          <a:xfrm>
            <a:off x="282575" y="3486150"/>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a:t>
            </a:r>
            <a:endParaRPr lang="ko-KR" altLang="en-US" dirty="0">
              <a:latin typeface="Tahoma" panose="020B0604030504040204" pitchFamily="34" charset="0"/>
              <a:ea typeface="Gulim" panose="020B0600000101010101" pitchFamily="34" charset="-127"/>
            </a:endParaRPr>
          </a:p>
        </p:txBody>
      </p:sp>
      <p:sp>
        <p:nvSpPr>
          <p:cNvPr id="81983" name="Rectangle 2114"/>
          <p:cNvSpPr/>
          <p:nvPr/>
        </p:nvSpPr>
        <p:spPr>
          <a:xfrm>
            <a:off x="282575" y="3302000"/>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2</a:t>
            </a:r>
            <a:endParaRPr lang="ko-KR" altLang="en-US" dirty="0">
              <a:latin typeface="Tahoma" panose="020B0604030504040204" pitchFamily="34" charset="0"/>
              <a:ea typeface="Gulim" panose="020B0600000101010101" pitchFamily="34" charset="-127"/>
            </a:endParaRPr>
          </a:p>
        </p:txBody>
      </p:sp>
      <p:sp>
        <p:nvSpPr>
          <p:cNvPr id="81984" name="Rectangle 2115"/>
          <p:cNvSpPr/>
          <p:nvPr/>
        </p:nvSpPr>
        <p:spPr>
          <a:xfrm>
            <a:off x="282575" y="3128963"/>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3</a:t>
            </a:r>
            <a:endParaRPr lang="ko-KR" altLang="en-US" dirty="0">
              <a:latin typeface="Tahoma" panose="020B0604030504040204" pitchFamily="34" charset="0"/>
              <a:ea typeface="Gulim" panose="020B0600000101010101" pitchFamily="34" charset="-127"/>
            </a:endParaRPr>
          </a:p>
        </p:txBody>
      </p:sp>
      <p:sp>
        <p:nvSpPr>
          <p:cNvPr id="81985" name="Rectangle 2116"/>
          <p:cNvSpPr/>
          <p:nvPr/>
        </p:nvSpPr>
        <p:spPr>
          <a:xfrm>
            <a:off x="282575" y="2944813"/>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4</a:t>
            </a:r>
            <a:endParaRPr lang="ko-KR" altLang="en-US" dirty="0">
              <a:latin typeface="Tahoma" panose="020B0604030504040204" pitchFamily="34" charset="0"/>
              <a:ea typeface="Gulim" panose="020B0600000101010101" pitchFamily="34" charset="-127"/>
            </a:endParaRPr>
          </a:p>
        </p:txBody>
      </p:sp>
      <p:sp>
        <p:nvSpPr>
          <p:cNvPr id="81986" name="Rectangle 2117"/>
          <p:cNvSpPr/>
          <p:nvPr/>
        </p:nvSpPr>
        <p:spPr>
          <a:xfrm>
            <a:off x="282575" y="277018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5</a:t>
            </a:r>
            <a:endParaRPr lang="ko-KR" altLang="en-US" dirty="0">
              <a:latin typeface="Tahoma" panose="020B0604030504040204" pitchFamily="34" charset="0"/>
              <a:ea typeface="Gulim" panose="020B0600000101010101" pitchFamily="34" charset="-127"/>
            </a:endParaRPr>
          </a:p>
        </p:txBody>
      </p:sp>
      <p:sp>
        <p:nvSpPr>
          <p:cNvPr id="81987" name="Rectangle 2118"/>
          <p:cNvSpPr/>
          <p:nvPr/>
        </p:nvSpPr>
        <p:spPr>
          <a:xfrm>
            <a:off x="282575" y="258603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6</a:t>
            </a:r>
            <a:endParaRPr lang="ko-KR" altLang="en-US" dirty="0">
              <a:latin typeface="Tahoma" panose="020B0604030504040204" pitchFamily="34" charset="0"/>
              <a:ea typeface="Gulim" panose="020B0600000101010101" pitchFamily="34" charset="-127"/>
            </a:endParaRPr>
          </a:p>
        </p:txBody>
      </p:sp>
      <p:sp>
        <p:nvSpPr>
          <p:cNvPr id="81988" name="Rectangle 2119"/>
          <p:cNvSpPr/>
          <p:nvPr/>
        </p:nvSpPr>
        <p:spPr>
          <a:xfrm>
            <a:off x="282575" y="2413000"/>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7</a:t>
            </a:r>
            <a:endParaRPr lang="ko-KR" altLang="en-US" dirty="0">
              <a:latin typeface="Tahoma" panose="020B0604030504040204" pitchFamily="34" charset="0"/>
              <a:ea typeface="Gulim" panose="020B0600000101010101" pitchFamily="34" charset="-127"/>
            </a:endParaRPr>
          </a:p>
        </p:txBody>
      </p:sp>
      <p:sp>
        <p:nvSpPr>
          <p:cNvPr id="81989" name="Rectangle 2120"/>
          <p:cNvSpPr/>
          <p:nvPr/>
        </p:nvSpPr>
        <p:spPr>
          <a:xfrm>
            <a:off x="282575" y="2228850"/>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8</a:t>
            </a:r>
            <a:endParaRPr lang="ko-KR" altLang="en-US" dirty="0">
              <a:latin typeface="Tahoma" panose="020B0604030504040204" pitchFamily="34" charset="0"/>
              <a:ea typeface="Gulim" panose="020B0600000101010101" pitchFamily="34" charset="-127"/>
            </a:endParaRPr>
          </a:p>
        </p:txBody>
      </p:sp>
      <p:sp>
        <p:nvSpPr>
          <p:cNvPr id="81990" name="Rectangle 2121"/>
          <p:cNvSpPr/>
          <p:nvPr/>
        </p:nvSpPr>
        <p:spPr>
          <a:xfrm>
            <a:off x="282575" y="2055813"/>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9</a:t>
            </a:r>
            <a:endParaRPr lang="ko-KR" altLang="en-US" dirty="0">
              <a:latin typeface="Tahoma" panose="020B0604030504040204" pitchFamily="34" charset="0"/>
              <a:ea typeface="Gulim" panose="020B0600000101010101" pitchFamily="34" charset="-127"/>
            </a:endParaRPr>
          </a:p>
        </p:txBody>
      </p:sp>
      <p:sp>
        <p:nvSpPr>
          <p:cNvPr id="81991" name="Rectangle 2122"/>
          <p:cNvSpPr/>
          <p:nvPr/>
        </p:nvSpPr>
        <p:spPr>
          <a:xfrm>
            <a:off x="250825" y="1871663"/>
            <a:ext cx="33338"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10</a:t>
            </a:r>
            <a:endParaRPr lang="ko-KR" altLang="en-US" dirty="0">
              <a:latin typeface="Tahoma" panose="020B0604030504040204" pitchFamily="34" charset="0"/>
              <a:ea typeface="Gulim" panose="020B0600000101010101" pitchFamily="34" charset="-127"/>
            </a:endParaRPr>
          </a:p>
        </p:txBody>
      </p:sp>
      <p:sp>
        <p:nvSpPr>
          <p:cNvPr id="81992" name="Rectangle 2123"/>
          <p:cNvSpPr/>
          <p:nvPr/>
        </p:nvSpPr>
        <p:spPr>
          <a:xfrm>
            <a:off x="358775" y="376713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0</a:t>
            </a:r>
            <a:endParaRPr lang="ko-KR" altLang="en-US" dirty="0">
              <a:latin typeface="Tahoma" panose="020B0604030504040204" pitchFamily="34" charset="0"/>
              <a:ea typeface="Gulim" panose="020B0600000101010101" pitchFamily="34" charset="-127"/>
            </a:endParaRPr>
          </a:p>
        </p:txBody>
      </p:sp>
      <p:sp>
        <p:nvSpPr>
          <p:cNvPr id="81993" name="Rectangle 2124"/>
          <p:cNvSpPr/>
          <p:nvPr/>
        </p:nvSpPr>
        <p:spPr>
          <a:xfrm>
            <a:off x="566738" y="376713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a:t>
            </a:r>
            <a:endParaRPr lang="ko-KR" altLang="en-US" dirty="0">
              <a:latin typeface="Tahoma" panose="020B0604030504040204" pitchFamily="34" charset="0"/>
              <a:ea typeface="Gulim" panose="020B0600000101010101" pitchFamily="34" charset="-127"/>
            </a:endParaRPr>
          </a:p>
        </p:txBody>
      </p:sp>
      <p:sp>
        <p:nvSpPr>
          <p:cNvPr id="81994" name="Rectangle 2125"/>
          <p:cNvSpPr/>
          <p:nvPr/>
        </p:nvSpPr>
        <p:spPr>
          <a:xfrm>
            <a:off x="762000" y="376713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2</a:t>
            </a:r>
            <a:endParaRPr lang="ko-KR" altLang="en-US" dirty="0">
              <a:latin typeface="Tahoma" panose="020B0604030504040204" pitchFamily="34" charset="0"/>
              <a:ea typeface="Gulim" panose="020B0600000101010101" pitchFamily="34" charset="-127"/>
            </a:endParaRPr>
          </a:p>
        </p:txBody>
      </p:sp>
      <p:sp>
        <p:nvSpPr>
          <p:cNvPr id="81995" name="Rectangle 2126"/>
          <p:cNvSpPr/>
          <p:nvPr/>
        </p:nvSpPr>
        <p:spPr>
          <a:xfrm>
            <a:off x="968375" y="376713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3</a:t>
            </a:r>
            <a:endParaRPr lang="ko-KR" altLang="en-US" dirty="0">
              <a:latin typeface="Tahoma" panose="020B0604030504040204" pitchFamily="34" charset="0"/>
              <a:ea typeface="Gulim" panose="020B0600000101010101" pitchFamily="34" charset="-127"/>
            </a:endParaRPr>
          </a:p>
        </p:txBody>
      </p:sp>
      <p:sp>
        <p:nvSpPr>
          <p:cNvPr id="81996" name="Rectangle 2127"/>
          <p:cNvSpPr/>
          <p:nvPr/>
        </p:nvSpPr>
        <p:spPr>
          <a:xfrm>
            <a:off x="1165225" y="376713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4</a:t>
            </a:r>
            <a:endParaRPr lang="ko-KR" altLang="en-US" dirty="0">
              <a:latin typeface="Tahoma" panose="020B0604030504040204" pitchFamily="34" charset="0"/>
              <a:ea typeface="Gulim" panose="020B0600000101010101" pitchFamily="34" charset="-127"/>
            </a:endParaRPr>
          </a:p>
        </p:txBody>
      </p:sp>
      <p:sp>
        <p:nvSpPr>
          <p:cNvPr id="81997" name="Rectangle 2128"/>
          <p:cNvSpPr/>
          <p:nvPr/>
        </p:nvSpPr>
        <p:spPr>
          <a:xfrm>
            <a:off x="1371600" y="376713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5</a:t>
            </a:r>
            <a:endParaRPr lang="ko-KR" altLang="en-US" dirty="0">
              <a:latin typeface="Tahoma" panose="020B0604030504040204" pitchFamily="34" charset="0"/>
              <a:ea typeface="Gulim" panose="020B0600000101010101" pitchFamily="34" charset="-127"/>
            </a:endParaRPr>
          </a:p>
        </p:txBody>
      </p:sp>
      <p:sp>
        <p:nvSpPr>
          <p:cNvPr id="81998" name="Rectangle 2129"/>
          <p:cNvSpPr/>
          <p:nvPr/>
        </p:nvSpPr>
        <p:spPr>
          <a:xfrm>
            <a:off x="1566863" y="376713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6</a:t>
            </a:r>
            <a:endParaRPr lang="ko-KR" altLang="en-US" dirty="0">
              <a:latin typeface="Tahoma" panose="020B0604030504040204" pitchFamily="34" charset="0"/>
              <a:ea typeface="Gulim" panose="020B0600000101010101" pitchFamily="34" charset="-127"/>
            </a:endParaRPr>
          </a:p>
        </p:txBody>
      </p:sp>
      <p:sp>
        <p:nvSpPr>
          <p:cNvPr id="81999" name="Rectangle 2130"/>
          <p:cNvSpPr/>
          <p:nvPr/>
        </p:nvSpPr>
        <p:spPr>
          <a:xfrm>
            <a:off x="1774825" y="376713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7</a:t>
            </a:r>
            <a:endParaRPr lang="ko-KR" altLang="en-US" dirty="0">
              <a:latin typeface="Tahoma" panose="020B0604030504040204" pitchFamily="34" charset="0"/>
              <a:ea typeface="Gulim" panose="020B0600000101010101" pitchFamily="34" charset="-127"/>
            </a:endParaRPr>
          </a:p>
        </p:txBody>
      </p:sp>
      <p:sp>
        <p:nvSpPr>
          <p:cNvPr id="82000" name="Rectangle 2131"/>
          <p:cNvSpPr/>
          <p:nvPr/>
        </p:nvSpPr>
        <p:spPr>
          <a:xfrm>
            <a:off x="1970088" y="376713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8</a:t>
            </a:r>
            <a:endParaRPr lang="ko-KR" altLang="en-US" dirty="0">
              <a:latin typeface="Tahoma" panose="020B0604030504040204" pitchFamily="34" charset="0"/>
              <a:ea typeface="Gulim" panose="020B0600000101010101" pitchFamily="34" charset="-127"/>
            </a:endParaRPr>
          </a:p>
        </p:txBody>
      </p:sp>
      <p:sp>
        <p:nvSpPr>
          <p:cNvPr id="82001" name="Rectangle 2132"/>
          <p:cNvSpPr/>
          <p:nvPr/>
        </p:nvSpPr>
        <p:spPr>
          <a:xfrm>
            <a:off x="2176463" y="3767138"/>
            <a:ext cx="22225"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9</a:t>
            </a:r>
            <a:endParaRPr lang="ko-KR" altLang="en-US" dirty="0">
              <a:latin typeface="Tahoma" panose="020B0604030504040204" pitchFamily="34" charset="0"/>
              <a:ea typeface="Gulim" panose="020B0600000101010101" pitchFamily="34" charset="-127"/>
            </a:endParaRPr>
          </a:p>
        </p:txBody>
      </p:sp>
      <p:sp>
        <p:nvSpPr>
          <p:cNvPr id="82002" name="Rectangle 2133"/>
          <p:cNvSpPr/>
          <p:nvPr/>
        </p:nvSpPr>
        <p:spPr>
          <a:xfrm>
            <a:off x="2351088" y="3767138"/>
            <a:ext cx="33337" cy="31750"/>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10</a:t>
            </a:r>
            <a:endParaRPr lang="ko-KR" altLang="en-US" dirty="0">
              <a:latin typeface="Tahoma" panose="020B0604030504040204" pitchFamily="34" charset="0"/>
              <a:ea typeface="Gulim" panose="020B0600000101010101" pitchFamily="34" charset="-127"/>
            </a:endParaRPr>
          </a:p>
        </p:txBody>
      </p:sp>
      <p:sp>
        <p:nvSpPr>
          <p:cNvPr id="82003" name="Rectangle 2134"/>
          <p:cNvSpPr/>
          <p:nvPr/>
        </p:nvSpPr>
        <p:spPr>
          <a:xfrm>
            <a:off x="119063" y="1719263"/>
            <a:ext cx="2395537" cy="2254250"/>
          </a:xfrm>
          <a:prstGeom prst="rect">
            <a:avLst/>
          </a:prstGeom>
          <a:noFill/>
          <a:ln w="0"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sp>
        <p:nvSpPr>
          <p:cNvPr id="82004" name="Freeform 2135"/>
          <p:cNvSpPr/>
          <p:nvPr/>
        </p:nvSpPr>
        <p:spPr>
          <a:xfrm>
            <a:off x="914400" y="2211388"/>
            <a:ext cx="152400" cy="150812"/>
          </a:xfrm>
          <a:custGeom>
            <a:avLst/>
            <a:gdLst>
              <a:gd name="txL" fmla="*/ 0 w 96"/>
              <a:gd name="txT" fmla="*/ 0 h 95"/>
              <a:gd name="txR" fmla="*/ 96 w 96"/>
              <a:gd name="txB" fmla="*/ 95 h 95"/>
            </a:gdLst>
            <a:ahLst/>
            <a:cxnLst>
              <a:cxn ang="0">
                <a:pos x="2147483647" y="0"/>
              </a:cxn>
              <a:cxn ang="0">
                <a:pos x="2147483647" y="2147483647"/>
              </a:cxn>
              <a:cxn ang="0">
                <a:pos x="2147483647" y="2147483647"/>
              </a:cxn>
              <a:cxn ang="0">
                <a:pos x="0" y="2147483647"/>
              </a:cxn>
              <a:cxn ang="0">
                <a:pos x="2147483647" y="0"/>
              </a:cxn>
            </a:cxnLst>
            <a:rect l="txL" t="txT" r="txR" b="txB"/>
            <a:pathLst>
              <a:path w="96" h="95">
                <a:moveTo>
                  <a:pt x="48" y="0"/>
                </a:moveTo>
                <a:lnTo>
                  <a:pt x="96" y="48"/>
                </a:lnTo>
                <a:lnTo>
                  <a:pt x="48" y="95"/>
                </a:lnTo>
                <a:lnTo>
                  <a:pt x="0" y="48"/>
                </a:lnTo>
                <a:lnTo>
                  <a:pt x="48" y="0"/>
                </a:lnTo>
                <a:close/>
              </a:path>
            </a:pathLst>
          </a:custGeom>
          <a:solidFill>
            <a:srgbClr val="00FFFF">
              <a:alpha val="100000"/>
            </a:srgbClr>
          </a:solidFill>
          <a:ln w="11113" cap="flat" cmpd="sng">
            <a:solidFill>
              <a:srgbClr val="000080">
                <a:alpha val="100000"/>
              </a:srgbClr>
            </a:solidFill>
            <a:prstDash val="solid"/>
            <a:round/>
            <a:headEnd type="none" w="med" len="med"/>
            <a:tailEnd type="none" w="med" len="med"/>
          </a:ln>
        </p:spPr>
        <p:txBody>
          <a:bodyPr/>
          <a:p>
            <a:endParaRPr lang="en-US"/>
          </a:p>
        </p:txBody>
      </p:sp>
      <p:sp>
        <p:nvSpPr>
          <p:cNvPr id="82005" name="Freeform 2136"/>
          <p:cNvSpPr/>
          <p:nvPr/>
        </p:nvSpPr>
        <p:spPr>
          <a:xfrm>
            <a:off x="1524000" y="3048000"/>
            <a:ext cx="152400" cy="152400"/>
          </a:xfrm>
          <a:custGeom>
            <a:avLst/>
            <a:gdLst>
              <a:gd name="txL" fmla="*/ 0 w 96"/>
              <a:gd name="txT" fmla="*/ 0 h 96"/>
              <a:gd name="txR" fmla="*/ 96 w 96"/>
              <a:gd name="txB" fmla="*/ 96 h 96"/>
            </a:gdLst>
            <a:ahLst/>
            <a:cxnLst>
              <a:cxn ang="0">
                <a:pos x="2147483647" y="0"/>
              </a:cxn>
              <a:cxn ang="0">
                <a:pos x="2147483647" y="2147483647"/>
              </a:cxn>
              <a:cxn ang="0">
                <a:pos x="2147483647" y="2147483647"/>
              </a:cxn>
              <a:cxn ang="0">
                <a:pos x="0" y="2147483647"/>
              </a:cxn>
              <a:cxn ang="0">
                <a:pos x="2147483647" y="0"/>
              </a:cxn>
            </a:cxnLst>
            <a:rect l="txL" t="txT" r="txR" b="txB"/>
            <a:pathLst>
              <a:path w="96" h="96">
                <a:moveTo>
                  <a:pt x="48" y="0"/>
                </a:moveTo>
                <a:lnTo>
                  <a:pt x="96" y="48"/>
                </a:lnTo>
                <a:lnTo>
                  <a:pt x="48" y="96"/>
                </a:lnTo>
                <a:lnTo>
                  <a:pt x="0" y="48"/>
                </a:lnTo>
                <a:lnTo>
                  <a:pt x="48" y="0"/>
                </a:lnTo>
                <a:close/>
              </a:path>
            </a:pathLst>
          </a:custGeom>
          <a:solidFill>
            <a:srgbClr val="00FFFF">
              <a:alpha val="100000"/>
            </a:srgbClr>
          </a:solidFill>
          <a:ln w="11113" cap="flat" cmpd="sng">
            <a:solidFill>
              <a:srgbClr val="000080">
                <a:alpha val="100000"/>
              </a:srgbClr>
            </a:solidFill>
            <a:prstDash val="solid"/>
            <a:round/>
            <a:headEnd type="none" w="med" len="med"/>
            <a:tailEnd type="none" w="med" len="med"/>
          </a:ln>
        </p:spPr>
        <p:txBody>
          <a:bodyPr/>
          <a:p>
            <a:endParaRPr lang="en-US"/>
          </a:p>
        </p:txBody>
      </p:sp>
      <p:sp>
        <p:nvSpPr>
          <p:cNvPr id="82006" name="Text Box 2137"/>
          <p:cNvSpPr txBox="1"/>
          <p:nvPr/>
        </p:nvSpPr>
        <p:spPr>
          <a:xfrm>
            <a:off x="136525" y="3886200"/>
            <a:ext cx="752475" cy="457200"/>
          </a:xfrm>
          <a:prstGeom prst="rect">
            <a:avLst/>
          </a:prstGeom>
          <a:noFill/>
          <a:ln w="9525">
            <a:noFill/>
          </a:ln>
        </p:spPr>
        <p:txBody>
          <a:bodyPr wrap="none">
            <a:spAutoFit/>
          </a:bodyPr>
          <a:p>
            <a:pPr algn="l"/>
            <a:r>
              <a:rPr lang="en-US" altLang="ko-KR" dirty="0">
                <a:latin typeface="Tahoma" panose="020B0604030504040204" pitchFamily="34" charset="0"/>
                <a:ea typeface="Gulim" panose="020B0600000101010101" pitchFamily="34" charset="-127"/>
              </a:rPr>
              <a:t>K=2</a:t>
            </a:r>
            <a:endParaRPr lang="en-US" altLang="ko-KR" dirty="0">
              <a:latin typeface="Tahoma" panose="020B0604030504040204" pitchFamily="34" charset="0"/>
              <a:ea typeface="Gulim" panose="020B0600000101010101" pitchFamily="34" charset="-127"/>
            </a:endParaRPr>
          </a:p>
        </p:txBody>
      </p:sp>
      <p:sp>
        <p:nvSpPr>
          <p:cNvPr id="82007" name="Line 2138"/>
          <p:cNvSpPr/>
          <p:nvPr/>
        </p:nvSpPr>
        <p:spPr>
          <a:xfrm>
            <a:off x="2590800" y="2057400"/>
            <a:ext cx="762000" cy="0"/>
          </a:xfrm>
          <a:prstGeom prst="line">
            <a:avLst/>
          </a:prstGeom>
          <a:ln w="9525" cap="flat" cmpd="sng">
            <a:solidFill>
              <a:schemeClr val="tx1"/>
            </a:solidFill>
            <a:prstDash val="solid"/>
            <a:miter/>
            <a:headEnd type="none" w="med" len="med"/>
            <a:tailEnd type="triangle" w="med" len="med"/>
          </a:ln>
        </p:spPr>
      </p:sp>
      <p:sp>
        <p:nvSpPr>
          <p:cNvPr id="82008" name="Text Box 2139"/>
          <p:cNvSpPr txBox="1"/>
          <p:nvPr/>
        </p:nvSpPr>
        <p:spPr>
          <a:xfrm>
            <a:off x="2590800" y="2362200"/>
            <a:ext cx="914400" cy="1155700"/>
          </a:xfrm>
          <a:prstGeom prst="rect">
            <a:avLst/>
          </a:prstGeom>
          <a:noFill/>
          <a:ln w="9525">
            <a:noFill/>
          </a:ln>
        </p:spPr>
        <p:txBody>
          <a:bodyPr>
            <a:spAutoFit/>
          </a:bodyPr>
          <a:p>
            <a:pPr algn="l">
              <a:spcBef>
                <a:spcPct val="50000"/>
              </a:spcBef>
            </a:pPr>
            <a:r>
              <a:rPr lang="en-US" altLang="ko-KR" sz="1400" dirty="0">
                <a:latin typeface="Tahoma" panose="020B0604030504040204" pitchFamily="34" charset="0"/>
                <a:ea typeface="Gulim" panose="020B0600000101010101" pitchFamily="34" charset="-127"/>
              </a:rPr>
              <a:t>Arbitrary choose k object as initial medoids</a:t>
            </a:r>
            <a:endParaRPr lang="en-US" altLang="ko-KR" sz="1400" dirty="0">
              <a:latin typeface="Tahoma" panose="020B0604030504040204" pitchFamily="34" charset="0"/>
              <a:ea typeface="Gulim" panose="020B0600000101010101" pitchFamily="34" charset="-127"/>
            </a:endParaRPr>
          </a:p>
        </p:txBody>
      </p:sp>
      <p:graphicFrame>
        <p:nvGraphicFramePr>
          <p:cNvPr id="82009" name="Object 2140"/>
          <p:cNvGraphicFramePr>
            <a:graphicFrameLocks noChangeAspect="1"/>
          </p:cNvGraphicFramePr>
          <p:nvPr/>
        </p:nvGraphicFramePr>
        <p:xfrm>
          <a:off x="3429000" y="1676400"/>
          <a:ext cx="2514600" cy="2362200"/>
        </p:xfrm>
        <a:graphic>
          <a:graphicData uri="http://schemas.openxmlformats.org/presentationml/2006/ole">
            <mc:AlternateContent xmlns:mc="http://schemas.openxmlformats.org/markup-compatibility/2006">
              <mc:Choice xmlns:v="urn:schemas-microsoft-com:vml" Requires="v">
                <p:oleObj spid="_x0000_s3106" name="" r:id="rId3" imgW="2618740" imgH="2472055" progId="Excel.Sheet.8">
                  <p:embed/>
                </p:oleObj>
              </mc:Choice>
              <mc:Fallback>
                <p:oleObj name="" r:id="rId3" imgW="2618740" imgH="2472055" progId="Excel.Sheet.8">
                  <p:embed/>
                  <p:pic>
                    <p:nvPicPr>
                      <p:cNvPr id="0" name="Picture 3105"/>
                      <p:cNvPicPr/>
                      <p:nvPr/>
                    </p:nvPicPr>
                    <p:blipFill>
                      <a:blip r:embed="rId2"/>
                      <a:stretch>
                        <a:fillRect/>
                      </a:stretch>
                    </p:blipFill>
                    <p:spPr>
                      <a:xfrm>
                        <a:off x="3429000" y="1676400"/>
                        <a:ext cx="2514600" cy="2362200"/>
                      </a:xfrm>
                      <a:prstGeom prst="rect">
                        <a:avLst/>
                      </a:prstGeom>
                      <a:noFill/>
                      <a:ln w="38100">
                        <a:noFill/>
                        <a:miter/>
                      </a:ln>
                    </p:spPr>
                  </p:pic>
                </p:oleObj>
              </mc:Fallback>
            </mc:AlternateContent>
          </a:graphicData>
        </a:graphic>
      </p:graphicFrame>
      <p:sp>
        <p:nvSpPr>
          <p:cNvPr id="82010" name="Line 2141"/>
          <p:cNvSpPr/>
          <p:nvPr/>
        </p:nvSpPr>
        <p:spPr>
          <a:xfrm>
            <a:off x="5127625" y="2689225"/>
            <a:ext cx="0" cy="201613"/>
          </a:xfrm>
          <a:prstGeom prst="line">
            <a:avLst/>
          </a:prstGeom>
          <a:ln w="9525" cap="flat" cmpd="sng">
            <a:solidFill>
              <a:schemeClr val="tx1"/>
            </a:solidFill>
            <a:prstDash val="solid"/>
            <a:headEnd type="none" w="med" len="med"/>
            <a:tailEnd type="none" w="med" len="med"/>
          </a:ln>
        </p:spPr>
      </p:sp>
      <p:sp>
        <p:nvSpPr>
          <p:cNvPr id="82011" name="Line 2142"/>
          <p:cNvSpPr/>
          <p:nvPr/>
        </p:nvSpPr>
        <p:spPr>
          <a:xfrm>
            <a:off x="5943600" y="2133600"/>
            <a:ext cx="762000" cy="0"/>
          </a:xfrm>
          <a:prstGeom prst="line">
            <a:avLst/>
          </a:prstGeom>
          <a:ln w="9525" cap="flat" cmpd="sng">
            <a:solidFill>
              <a:schemeClr val="tx1"/>
            </a:solidFill>
            <a:prstDash val="solid"/>
            <a:miter/>
            <a:headEnd type="none" w="med" len="med"/>
            <a:tailEnd type="triangle" w="med" len="med"/>
          </a:ln>
        </p:spPr>
      </p:sp>
      <p:sp>
        <p:nvSpPr>
          <p:cNvPr id="82012" name="Text Box 2143"/>
          <p:cNvSpPr txBox="1"/>
          <p:nvPr/>
        </p:nvSpPr>
        <p:spPr>
          <a:xfrm>
            <a:off x="5867400" y="2362200"/>
            <a:ext cx="914400" cy="1581150"/>
          </a:xfrm>
          <a:prstGeom prst="rect">
            <a:avLst/>
          </a:prstGeom>
          <a:noFill/>
          <a:ln w="9525">
            <a:noFill/>
          </a:ln>
        </p:spPr>
        <p:txBody>
          <a:bodyPr>
            <a:spAutoFit/>
          </a:bodyPr>
          <a:p>
            <a:pPr algn="l">
              <a:spcBef>
                <a:spcPct val="50000"/>
              </a:spcBef>
            </a:pPr>
            <a:r>
              <a:rPr lang="en-US" altLang="ko-KR" sz="1400" dirty="0">
                <a:latin typeface="Tahoma" panose="020B0604030504040204" pitchFamily="34" charset="0"/>
                <a:ea typeface="Gulim" panose="020B0600000101010101" pitchFamily="34" charset="-127"/>
              </a:rPr>
              <a:t>Assign each remaining object to nearest medoids</a:t>
            </a:r>
            <a:endParaRPr lang="en-US" altLang="ko-KR" sz="1400" dirty="0">
              <a:latin typeface="Tahoma" panose="020B0604030504040204" pitchFamily="34" charset="0"/>
              <a:ea typeface="Gulim" panose="020B0600000101010101" pitchFamily="34" charset="-127"/>
            </a:endParaRPr>
          </a:p>
        </p:txBody>
      </p:sp>
      <p:sp>
        <p:nvSpPr>
          <p:cNvPr id="82013" name="Line 2144"/>
          <p:cNvSpPr/>
          <p:nvPr/>
        </p:nvSpPr>
        <p:spPr>
          <a:xfrm>
            <a:off x="6781800" y="4038600"/>
            <a:ext cx="0" cy="381000"/>
          </a:xfrm>
          <a:prstGeom prst="line">
            <a:avLst/>
          </a:prstGeom>
          <a:ln w="9525" cap="flat" cmpd="sng">
            <a:solidFill>
              <a:schemeClr val="tx1"/>
            </a:solidFill>
            <a:prstDash val="solid"/>
            <a:miter/>
            <a:headEnd type="none" w="med" len="med"/>
            <a:tailEnd type="triangle" w="med" len="med"/>
          </a:ln>
        </p:spPr>
      </p:sp>
      <p:sp>
        <p:nvSpPr>
          <p:cNvPr id="82014" name="Text Box 2145"/>
          <p:cNvSpPr txBox="1"/>
          <p:nvPr/>
        </p:nvSpPr>
        <p:spPr>
          <a:xfrm>
            <a:off x="6934200" y="4038600"/>
            <a:ext cx="2209800" cy="517525"/>
          </a:xfrm>
          <a:prstGeom prst="rect">
            <a:avLst/>
          </a:prstGeom>
          <a:noFill/>
          <a:ln w="9525">
            <a:noFill/>
          </a:ln>
        </p:spPr>
        <p:txBody>
          <a:bodyPr>
            <a:spAutoFit/>
          </a:bodyPr>
          <a:p>
            <a:pPr algn="l">
              <a:spcBef>
                <a:spcPct val="50000"/>
              </a:spcBef>
            </a:pPr>
            <a:r>
              <a:rPr lang="en-US" altLang="ko-KR" sz="1400" dirty="0">
                <a:latin typeface="Tahoma" panose="020B0604030504040204" pitchFamily="34" charset="0"/>
                <a:ea typeface="Gulim" panose="020B0600000101010101" pitchFamily="34" charset="-127"/>
              </a:rPr>
              <a:t>Randomly select a nonmedoid object,O</a:t>
            </a:r>
            <a:r>
              <a:rPr lang="en-US" altLang="ko-KR" sz="1400" baseline="-25000" dirty="0">
                <a:latin typeface="Tahoma" panose="020B0604030504040204" pitchFamily="34" charset="0"/>
                <a:ea typeface="Gulim" panose="020B0600000101010101" pitchFamily="34" charset="-127"/>
              </a:rPr>
              <a:t>ramdom</a:t>
            </a:r>
            <a:endParaRPr lang="en-US" altLang="ko-KR" sz="1400" baseline="-25000" dirty="0">
              <a:latin typeface="Tahoma" panose="020B0604030504040204" pitchFamily="34" charset="0"/>
              <a:ea typeface="Gulim" panose="020B0600000101010101" pitchFamily="34" charset="-127"/>
            </a:endParaRPr>
          </a:p>
        </p:txBody>
      </p:sp>
      <p:sp>
        <p:nvSpPr>
          <p:cNvPr id="82015" name="Line 2146"/>
          <p:cNvSpPr/>
          <p:nvPr/>
        </p:nvSpPr>
        <p:spPr>
          <a:xfrm flipH="1">
            <a:off x="6019800" y="4724400"/>
            <a:ext cx="685800" cy="0"/>
          </a:xfrm>
          <a:prstGeom prst="line">
            <a:avLst/>
          </a:prstGeom>
          <a:ln w="9525" cap="flat" cmpd="sng">
            <a:solidFill>
              <a:schemeClr val="tx1"/>
            </a:solidFill>
            <a:prstDash val="solid"/>
            <a:miter/>
            <a:headEnd type="none" w="med" len="med"/>
            <a:tailEnd type="triangle" w="med" len="med"/>
          </a:ln>
        </p:spPr>
      </p:sp>
      <p:sp>
        <p:nvSpPr>
          <p:cNvPr id="82016" name="Text Box 2147"/>
          <p:cNvSpPr txBox="1"/>
          <p:nvPr/>
        </p:nvSpPr>
        <p:spPr>
          <a:xfrm>
            <a:off x="5715000" y="4876800"/>
            <a:ext cx="1143000" cy="730250"/>
          </a:xfrm>
          <a:prstGeom prst="rect">
            <a:avLst/>
          </a:prstGeom>
          <a:noFill/>
          <a:ln w="9525">
            <a:noFill/>
          </a:ln>
        </p:spPr>
        <p:txBody>
          <a:bodyPr>
            <a:spAutoFit/>
          </a:bodyPr>
          <a:p>
            <a:pPr algn="l">
              <a:spcBef>
                <a:spcPct val="50000"/>
              </a:spcBef>
            </a:pPr>
            <a:r>
              <a:rPr lang="en-US" altLang="ko-KR" sz="1400" dirty="0">
                <a:latin typeface="Tahoma" panose="020B0604030504040204" pitchFamily="34" charset="0"/>
                <a:ea typeface="Gulim" panose="020B0600000101010101" pitchFamily="34" charset="-127"/>
              </a:rPr>
              <a:t>Compute total cost of swapping</a:t>
            </a:r>
            <a:endParaRPr lang="en-US" altLang="ko-KR" sz="1400" dirty="0">
              <a:latin typeface="Tahoma" panose="020B0604030504040204" pitchFamily="34" charset="0"/>
              <a:ea typeface="Gulim" panose="020B0600000101010101" pitchFamily="34" charset="-127"/>
            </a:endParaRPr>
          </a:p>
        </p:txBody>
      </p:sp>
      <p:grpSp>
        <p:nvGrpSpPr>
          <p:cNvPr id="82017" name="Group 2148"/>
          <p:cNvGrpSpPr/>
          <p:nvPr/>
        </p:nvGrpSpPr>
        <p:grpSpPr>
          <a:xfrm>
            <a:off x="3544888" y="4611688"/>
            <a:ext cx="2176462" cy="2035175"/>
            <a:chOff x="2233" y="2905"/>
            <a:chExt cx="1371" cy="1282"/>
          </a:xfrm>
        </p:grpSpPr>
        <p:sp>
          <p:nvSpPr>
            <p:cNvPr id="82104" name="Rectangle 2149"/>
            <p:cNvSpPr/>
            <p:nvPr/>
          </p:nvSpPr>
          <p:spPr>
            <a:xfrm>
              <a:off x="2233" y="2905"/>
              <a:ext cx="1371" cy="1282"/>
            </a:xfrm>
            <a:prstGeom prst="rect">
              <a:avLst/>
            </a:prstGeom>
            <a:solidFill>
              <a:srgbClr val="FFFFFF"/>
            </a:solidFill>
            <a:ln w="0"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sp>
          <p:nvSpPr>
            <p:cNvPr id="82105" name="Rectangle 2150"/>
            <p:cNvSpPr/>
            <p:nvPr/>
          </p:nvSpPr>
          <p:spPr>
            <a:xfrm>
              <a:off x="2376" y="3009"/>
              <a:ext cx="1154" cy="1018"/>
            </a:xfrm>
            <a:prstGeom prst="rect">
              <a:avLst/>
            </a:prstGeom>
            <a:solidFill>
              <a:srgbClr val="FFFFFF"/>
            </a:solidFill>
            <a:ln w="9525">
              <a:noFill/>
            </a:ln>
          </p:spPr>
          <p:txBody>
            <a:bodyPr/>
            <a:p>
              <a:endParaRPr dirty="0">
                <a:latin typeface="Tahoma" panose="020B0604030504040204" pitchFamily="34" charset="0"/>
              </a:endParaRPr>
            </a:p>
          </p:txBody>
        </p:sp>
        <p:sp>
          <p:nvSpPr>
            <p:cNvPr id="82106" name="Line 2151"/>
            <p:cNvSpPr/>
            <p:nvPr/>
          </p:nvSpPr>
          <p:spPr>
            <a:xfrm>
              <a:off x="2376" y="3928"/>
              <a:ext cx="1154" cy="1"/>
            </a:xfrm>
            <a:prstGeom prst="line">
              <a:avLst/>
            </a:prstGeom>
            <a:ln w="0" cap="flat" cmpd="sng">
              <a:solidFill>
                <a:srgbClr val="000000"/>
              </a:solidFill>
              <a:prstDash val="solid"/>
              <a:headEnd type="none" w="med" len="med"/>
              <a:tailEnd type="none" w="med" len="med"/>
            </a:ln>
          </p:spPr>
        </p:sp>
        <p:sp>
          <p:nvSpPr>
            <p:cNvPr id="82107" name="Line 2152"/>
            <p:cNvSpPr/>
            <p:nvPr/>
          </p:nvSpPr>
          <p:spPr>
            <a:xfrm>
              <a:off x="2376" y="3823"/>
              <a:ext cx="1154" cy="1"/>
            </a:xfrm>
            <a:prstGeom prst="line">
              <a:avLst/>
            </a:prstGeom>
            <a:ln w="0" cap="flat" cmpd="sng">
              <a:solidFill>
                <a:srgbClr val="000000"/>
              </a:solidFill>
              <a:prstDash val="solid"/>
              <a:headEnd type="none" w="med" len="med"/>
              <a:tailEnd type="none" w="med" len="med"/>
            </a:ln>
          </p:spPr>
        </p:sp>
        <p:sp>
          <p:nvSpPr>
            <p:cNvPr id="82108" name="Line 2153"/>
            <p:cNvSpPr/>
            <p:nvPr/>
          </p:nvSpPr>
          <p:spPr>
            <a:xfrm>
              <a:off x="2376" y="3725"/>
              <a:ext cx="1154" cy="1"/>
            </a:xfrm>
            <a:prstGeom prst="line">
              <a:avLst/>
            </a:prstGeom>
            <a:ln w="0" cap="flat" cmpd="sng">
              <a:solidFill>
                <a:srgbClr val="000000"/>
              </a:solidFill>
              <a:prstDash val="solid"/>
              <a:headEnd type="none" w="med" len="med"/>
              <a:tailEnd type="none" w="med" len="med"/>
            </a:ln>
          </p:spPr>
        </p:sp>
        <p:sp>
          <p:nvSpPr>
            <p:cNvPr id="82109" name="Line 2154"/>
            <p:cNvSpPr/>
            <p:nvPr/>
          </p:nvSpPr>
          <p:spPr>
            <a:xfrm>
              <a:off x="2376" y="3620"/>
              <a:ext cx="1154" cy="1"/>
            </a:xfrm>
            <a:prstGeom prst="line">
              <a:avLst/>
            </a:prstGeom>
            <a:ln w="0" cap="flat" cmpd="sng">
              <a:solidFill>
                <a:srgbClr val="000000"/>
              </a:solidFill>
              <a:prstDash val="solid"/>
              <a:headEnd type="none" w="med" len="med"/>
              <a:tailEnd type="none" w="med" len="med"/>
            </a:ln>
          </p:spPr>
        </p:sp>
        <p:sp>
          <p:nvSpPr>
            <p:cNvPr id="82110" name="Line 2155"/>
            <p:cNvSpPr/>
            <p:nvPr/>
          </p:nvSpPr>
          <p:spPr>
            <a:xfrm>
              <a:off x="2376" y="3521"/>
              <a:ext cx="1154" cy="1"/>
            </a:xfrm>
            <a:prstGeom prst="line">
              <a:avLst/>
            </a:prstGeom>
            <a:ln w="0" cap="flat" cmpd="sng">
              <a:solidFill>
                <a:srgbClr val="000000"/>
              </a:solidFill>
              <a:prstDash val="solid"/>
              <a:headEnd type="none" w="med" len="med"/>
              <a:tailEnd type="none" w="med" len="med"/>
            </a:ln>
          </p:spPr>
        </p:sp>
        <p:sp>
          <p:nvSpPr>
            <p:cNvPr id="82111" name="Line 2156"/>
            <p:cNvSpPr/>
            <p:nvPr/>
          </p:nvSpPr>
          <p:spPr>
            <a:xfrm>
              <a:off x="2376" y="3416"/>
              <a:ext cx="1154" cy="1"/>
            </a:xfrm>
            <a:prstGeom prst="line">
              <a:avLst/>
            </a:prstGeom>
            <a:ln w="0" cap="flat" cmpd="sng">
              <a:solidFill>
                <a:srgbClr val="000000"/>
              </a:solidFill>
              <a:prstDash val="solid"/>
              <a:headEnd type="none" w="med" len="med"/>
              <a:tailEnd type="none" w="med" len="med"/>
            </a:ln>
          </p:spPr>
        </p:sp>
        <p:sp>
          <p:nvSpPr>
            <p:cNvPr id="82112" name="Line 2157"/>
            <p:cNvSpPr/>
            <p:nvPr/>
          </p:nvSpPr>
          <p:spPr>
            <a:xfrm>
              <a:off x="2376" y="3318"/>
              <a:ext cx="1154" cy="1"/>
            </a:xfrm>
            <a:prstGeom prst="line">
              <a:avLst/>
            </a:prstGeom>
            <a:ln w="0" cap="flat" cmpd="sng">
              <a:solidFill>
                <a:srgbClr val="000000"/>
              </a:solidFill>
              <a:prstDash val="solid"/>
              <a:headEnd type="none" w="med" len="med"/>
              <a:tailEnd type="none" w="med" len="med"/>
            </a:ln>
          </p:spPr>
        </p:sp>
        <p:sp>
          <p:nvSpPr>
            <p:cNvPr id="82113" name="Line 2158"/>
            <p:cNvSpPr/>
            <p:nvPr/>
          </p:nvSpPr>
          <p:spPr>
            <a:xfrm>
              <a:off x="2376" y="3213"/>
              <a:ext cx="1154" cy="1"/>
            </a:xfrm>
            <a:prstGeom prst="line">
              <a:avLst/>
            </a:prstGeom>
            <a:ln w="0" cap="flat" cmpd="sng">
              <a:solidFill>
                <a:srgbClr val="000000"/>
              </a:solidFill>
              <a:prstDash val="solid"/>
              <a:headEnd type="none" w="med" len="med"/>
              <a:tailEnd type="none" w="med" len="med"/>
            </a:ln>
          </p:spPr>
        </p:sp>
        <p:sp>
          <p:nvSpPr>
            <p:cNvPr id="82114" name="Line 2159"/>
            <p:cNvSpPr/>
            <p:nvPr/>
          </p:nvSpPr>
          <p:spPr>
            <a:xfrm>
              <a:off x="2376" y="3114"/>
              <a:ext cx="1154" cy="1"/>
            </a:xfrm>
            <a:prstGeom prst="line">
              <a:avLst/>
            </a:prstGeom>
            <a:ln w="0" cap="flat" cmpd="sng">
              <a:solidFill>
                <a:srgbClr val="000000"/>
              </a:solidFill>
              <a:prstDash val="solid"/>
              <a:headEnd type="none" w="med" len="med"/>
              <a:tailEnd type="none" w="med" len="med"/>
            </a:ln>
          </p:spPr>
        </p:sp>
        <p:sp>
          <p:nvSpPr>
            <p:cNvPr id="82115" name="Line 2160"/>
            <p:cNvSpPr/>
            <p:nvPr/>
          </p:nvSpPr>
          <p:spPr>
            <a:xfrm>
              <a:off x="2376" y="3009"/>
              <a:ext cx="1154" cy="1"/>
            </a:xfrm>
            <a:prstGeom prst="line">
              <a:avLst/>
            </a:prstGeom>
            <a:ln w="0" cap="flat" cmpd="sng">
              <a:solidFill>
                <a:srgbClr val="000000"/>
              </a:solidFill>
              <a:prstDash val="solid"/>
              <a:headEnd type="none" w="med" len="med"/>
              <a:tailEnd type="none" w="med" len="med"/>
            </a:ln>
          </p:spPr>
        </p:sp>
        <p:sp>
          <p:nvSpPr>
            <p:cNvPr id="82116" name="Line 2161"/>
            <p:cNvSpPr/>
            <p:nvPr/>
          </p:nvSpPr>
          <p:spPr>
            <a:xfrm>
              <a:off x="2495" y="3009"/>
              <a:ext cx="1" cy="1018"/>
            </a:xfrm>
            <a:prstGeom prst="line">
              <a:avLst/>
            </a:prstGeom>
            <a:ln w="0" cap="flat" cmpd="sng">
              <a:solidFill>
                <a:srgbClr val="000000"/>
              </a:solidFill>
              <a:prstDash val="solid"/>
              <a:headEnd type="none" w="med" len="med"/>
              <a:tailEnd type="none" w="med" len="med"/>
            </a:ln>
          </p:spPr>
        </p:sp>
        <p:sp>
          <p:nvSpPr>
            <p:cNvPr id="82117" name="Line 2162"/>
            <p:cNvSpPr/>
            <p:nvPr/>
          </p:nvSpPr>
          <p:spPr>
            <a:xfrm>
              <a:off x="2607" y="3009"/>
              <a:ext cx="1" cy="1018"/>
            </a:xfrm>
            <a:prstGeom prst="line">
              <a:avLst/>
            </a:prstGeom>
            <a:ln w="0" cap="flat" cmpd="sng">
              <a:solidFill>
                <a:srgbClr val="000000"/>
              </a:solidFill>
              <a:prstDash val="solid"/>
              <a:headEnd type="none" w="med" len="med"/>
              <a:tailEnd type="none" w="med" len="med"/>
            </a:ln>
          </p:spPr>
        </p:sp>
        <p:sp>
          <p:nvSpPr>
            <p:cNvPr id="82118" name="Line 2163"/>
            <p:cNvSpPr/>
            <p:nvPr/>
          </p:nvSpPr>
          <p:spPr>
            <a:xfrm>
              <a:off x="2725" y="3009"/>
              <a:ext cx="1" cy="1018"/>
            </a:xfrm>
            <a:prstGeom prst="line">
              <a:avLst/>
            </a:prstGeom>
            <a:ln w="0" cap="flat" cmpd="sng">
              <a:solidFill>
                <a:srgbClr val="000000"/>
              </a:solidFill>
              <a:prstDash val="solid"/>
              <a:headEnd type="none" w="med" len="med"/>
              <a:tailEnd type="none" w="med" len="med"/>
            </a:ln>
          </p:spPr>
        </p:sp>
        <p:sp>
          <p:nvSpPr>
            <p:cNvPr id="82119" name="Line 2164"/>
            <p:cNvSpPr/>
            <p:nvPr/>
          </p:nvSpPr>
          <p:spPr>
            <a:xfrm>
              <a:off x="2838" y="3009"/>
              <a:ext cx="1" cy="1018"/>
            </a:xfrm>
            <a:prstGeom prst="line">
              <a:avLst/>
            </a:prstGeom>
            <a:ln w="0" cap="flat" cmpd="sng">
              <a:solidFill>
                <a:srgbClr val="000000"/>
              </a:solidFill>
              <a:prstDash val="solid"/>
              <a:headEnd type="none" w="med" len="med"/>
              <a:tailEnd type="none" w="med" len="med"/>
            </a:ln>
          </p:spPr>
        </p:sp>
        <p:sp>
          <p:nvSpPr>
            <p:cNvPr id="82120" name="Line 2165"/>
            <p:cNvSpPr/>
            <p:nvPr/>
          </p:nvSpPr>
          <p:spPr>
            <a:xfrm>
              <a:off x="2956" y="3009"/>
              <a:ext cx="1" cy="1018"/>
            </a:xfrm>
            <a:prstGeom prst="line">
              <a:avLst/>
            </a:prstGeom>
            <a:ln w="0" cap="flat" cmpd="sng">
              <a:solidFill>
                <a:srgbClr val="000000"/>
              </a:solidFill>
              <a:prstDash val="solid"/>
              <a:headEnd type="none" w="med" len="med"/>
              <a:tailEnd type="none" w="med" len="med"/>
            </a:ln>
          </p:spPr>
        </p:sp>
        <p:sp>
          <p:nvSpPr>
            <p:cNvPr id="82121" name="Line 2166"/>
            <p:cNvSpPr/>
            <p:nvPr/>
          </p:nvSpPr>
          <p:spPr>
            <a:xfrm>
              <a:off x="3068" y="3009"/>
              <a:ext cx="1" cy="1018"/>
            </a:xfrm>
            <a:prstGeom prst="line">
              <a:avLst/>
            </a:prstGeom>
            <a:ln w="0" cap="flat" cmpd="sng">
              <a:solidFill>
                <a:srgbClr val="000000"/>
              </a:solidFill>
              <a:prstDash val="solid"/>
              <a:headEnd type="none" w="med" len="med"/>
              <a:tailEnd type="none" w="med" len="med"/>
            </a:ln>
          </p:spPr>
        </p:sp>
        <p:sp>
          <p:nvSpPr>
            <p:cNvPr id="82122" name="Line 2167"/>
            <p:cNvSpPr/>
            <p:nvPr/>
          </p:nvSpPr>
          <p:spPr>
            <a:xfrm>
              <a:off x="3187" y="3009"/>
              <a:ext cx="1" cy="1018"/>
            </a:xfrm>
            <a:prstGeom prst="line">
              <a:avLst/>
            </a:prstGeom>
            <a:ln w="0" cap="flat" cmpd="sng">
              <a:solidFill>
                <a:srgbClr val="000000"/>
              </a:solidFill>
              <a:prstDash val="solid"/>
              <a:headEnd type="none" w="med" len="med"/>
              <a:tailEnd type="none" w="med" len="med"/>
            </a:ln>
          </p:spPr>
        </p:sp>
        <p:sp>
          <p:nvSpPr>
            <p:cNvPr id="82123" name="Line 2168"/>
            <p:cNvSpPr/>
            <p:nvPr/>
          </p:nvSpPr>
          <p:spPr>
            <a:xfrm>
              <a:off x="3299" y="3009"/>
              <a:ext cx="1" cy="1018"/>
            </a:xfrm>
            <a:prstGeom prst="line">
              <a:avLst/>
            </a:prstGeom>
            <a:ln w="0" cap="flat" cmpd="sng">
              <a:solidFill>
                <a:srgbClr val="000000"/>
              </a:solidFill>
              <a:prstDash val="solid"/>
              <a:headEnd type="none" w="med" len="med"/>
              <a:tailEnd type="none" w="med" len="med"/>
            </a:ln>
          </p:spPr>
        </p:sp>
        <p:sp>
          <p:nvSpPr>
            <p:cNvPr id="82124" name="Line 2169"/>
            <p:cNvSpPr/>
            <p:nvPr/>
          </p:nvSpPr>
          <p:spPr>
            <a:xfrm>
              <a:off x="3417" y="3009"/>
              <a:ext cx="1" cy="1018"/>
            </a:xfrm>
            <a:prstGeom prst="line">
              <a:avLst/>
            </a:prstGeom>
            <a:ln w="0" cap="flat" cmpd="sng">
              <a:solidFill>
                <a:srgbClr val="000000"/>
              </a:solidFill>
              <a:prstDash val="solid"/>
              <a:headEnd type="none" w="med" len="med"/>
              <a:tailEnd type="none" w="med" len="med"/>
            </a:ln>
          </p:spPr>
        </p:sp>
        <p:sp>
          <p:nvSpPr>
            <p:cNvPr id="82125" name="Line 2170"/>
            <p:cNvSpPr/>
            <p:nvPr/>
          </p:nvSpPr>
          <p:spPr>
            <a:xfrm>
              <a:off x="3530" y="3009"/>
              <a:ext cx="1" cy="1018"/>
            </a:xfrm>
            <a:prstGeom prst="line">
              <a:avLst/>
            </a:prstGeom>
            <a:ln w="0" cap="flat" cmpd="sng">
              <a:solidFill>
                <a:srgbClr val="000000"/>
              </a:solidFill>
              <a:prstDash val="solid"/>
              <a:headEnd type="none" w="med" len="med"/>
              <a:tailEnd type="none" w="med" len="med"/>
            </a:ln>
          </p:spPr>
        </p:sp>
        <p:sp>
          <p:nvSpPr>
            <p:cNvPr id="82126" name="Rectangle 2171"/>
            <p:cNvSpPr/>
            <p:nvPr/>
          </p:nvSpPr>
          <p:spPr>
            <a:xfrm>
              <a:off x="2376" y="3009"/>
              <a:ext cx="1154" cy="1018"/>
            </a:xfrm>
            <a:prstGeom prst="rect">
              <a:avLst/>
            </a:prstGeom>
            <a:noFill/>
            <a:ln w="9525"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sp>
          <p:nvSpPr>
            <p:cNvPr id="82127" name="Line 2172"/>
            <p:cNvSpPr/>
            <p:nvPr/>
          </p:nvSpPr>
          <p:spPr>
            <a:xfrm>
              <a:off x="2376" y="3009"/>
              <a:ext cx="1" cy="1018"/>
            </a:xfrm>
            <a:prstGeom prst="line">
              <a:avLst/>
            </a:prstGeom>
            <a:ln w="0" cap="flat" cmpd="sng">
              <a:solidFill>
                <a:srgbClr val="000000"/>
              </a:solidFill>
              <a:prstDash val="solid"/>
              <a:headEnd type="none" w="med" len="med"/>
              <a:tailEnd type="none" w="med" len="med"/>
            </a:ln>
          </p:spPr>
        </p:sp>
        <p:sp>
          <p:nvSpPr>
            <p:cNvPr id="82128" name="Line 2173"/>
            <p:cNvSpPr/>
            <p:nvPr/>
          </p:nvSpPr>
          <p:spPr>
            <a:xfrm>
              <a:off x="2364" y="4027"/>
              <a:ext cx="12" cy="1"/>
            </a:xfrm>
            <a:prstGeom prst="line">
              <a:avLst/>
            </a:prstGeom>
            <a:ln w="0" cap="flat" cmpd="sng">
              <a:solidFill>
                <a:srgbClr val="000000"/>
              </a:solidFill>
              <a:prstDash val="solid"/>
              <a:headEnd type="none" w="med" len="med"/>
              <a:tailEnd type="none" w="med" len="med"/>
            </a:ln>
          </p:spPr>
        </p:sp>
        <p:sp>
          <p:nvSpPr>
            <p:cNvPr id="82129" name="Line 2174"/>
            <p:cNvSpPr/>
            <p:nvPr/>
          </p:nvSpPr>
          <p:spPr>
            <a:xfrm>
              <a:off x="2364" y="3928"/>
              <a:ext cx="12" cy="1"/>
            </a:xfrm>
            <a:prstGeom prst="line">
              <a:avLst/>
            </a:prstGeom>
            <a:ln w="0" cap="flat" cmpd="sng">
              <a:solidFill>
                <a:srgbClr val="000000"/>
              </a:solidFill>
              <a:prstDash val="solid"/>
              <a:headEnd type="none" w="med" len="med"/>
              <a:tailEnd type="none" w="med" len="med"/>
            </a:ln>
          </p:spPr>
        </p:sp>
        <p:sp>
          <p:nvSpPr>
            <p:cNvPr id="82130" name="Line 2175"/>
            <p:cNvSpPr/>
            <p:nvPr/>
          </p:nvSpPr>
          <p:spPr>
            <a:xfrm>
              <a:off x="2364" y="3823"/>
              <a:ext cx="12" cy="1"/>
            </a:xfrm>
            <a:prstGeom prst="line">
              <a:avLst/>
            </a:prstGeom>
            <a:ln w="0" cap="flat" cmpd="sng">
              <a:solidFill>
                <a:srgbClr val="000000"/>
              </a:solidFill>
              <a:prstDash val="solid"/>
              <a:headEnd type="none" w="med" len="med"/>
              <a:tailEnd type="none" w="med" len="med"/>
            </a:ln>
          </p:spPr>
        </p:sp>
        <p:sp>
          <p:nvSpPr>
            <p:cNvPr id="82131" name="Line 2176"/>
            <p:cNvSpPr/>
            <p:nvPr/>
          </p:nvSpPr>
          <p:spPr>
            <a:xfrm>
              <a:off x="2364" y="3725"/>
              <a:ext cx="12" cy="1"/>
            </a:xfrm>
            <a:prstGeom prst="line">
              <a:avLst/>
            </a:prstGeom>
            <a:ln w="0" cap="flat" cmpd="sng">
              <a:solidFill>
                <a:srgbClr val="000000"/>
              </a:solidFill>
              <a:prstDash val="solid"/>
              <a:headEnd type="none" w="med" len="med"/>
              <a:tailEnd type="none" w="med" len="med"/>
            </a:ln>
          </p:spPr>
        </p:sp>
        <p:sp>
          <p:nvSpPr>
            <p:cNvPr id="82132" name="Line 2177"/>
            <p:cNvSpPr/>
            <p:nvPr/>
          </p:nvSpPr>
          <p:spPr>
            <a:xfrm>
              <a:off x="2364" y="3620"/>
              <a:ext cx="12" cy="1"/>
            </a:xfrm>
            <a:prstGeom prst="line">
              <a:avLst/>
            </a:prstGeom>
            <a:ln w="0" cap="flat" cmpd="sng">
              <a:solidFill>
                <a:srgbClr val="000000"/>
              </a:solidFill>
              <a:prstDash val="solid"/>
              <a:headEnd type="none" w="med" len="med"/>
              <a:tailEnd type="none" w="med" len="med"/>
            </a:ln>
          </p:spPr>
        </p:sp>
        <p:sp>
          <p:nvSpPr>
            <p:cNvPr id="82133" name="Line 2178"/>
            <p:cNvSpPr/>
            <p:nvPr/>
          </p:nvSpPr>
          <p:spPr>
            <a:xfrm>
              <a:off x="2364" y="3521"/>
              <a:ext cx="12" cy="1"/>
            </a:xfrm>
            <a:prstGeom prst="line">
              <a:avLst/>
            </a:prstGeom>
            <a:ln w="0" cap="flat" cmpd="sng">
              <a:solidFill>
                <a:srgbClr val="000000"/>
              </a:solidFill>
              <a:prstDash val="solid"/>
              <a:headEnd type="none" w="med" len="med"/>
              <a:tailEnd type="none" w="med" len="med"/>
            </a:ln>
          </p:spPr>
        </p:sp>
        <p:sp>
          <p:nvSpPr>
            <p:cNvPr id="82134" name="Line 2179"/>
            <p:cNvSpPr/>
            <p:nvPr/>
          </p:nvSpPr>
          <p:spPr>
            <a:xfrm>
              <a:off x="2364" y="3416"/>
              <a:ext cx="12" cy="1"/>
            </a:xfrm>
            <a:prstGeom prst="line">
              <a:avLst/>
            </a:prstGeom>
            <a:ln w="0" cap="flat" cmpd="sng">
              <a:solidFill>
                <a:srgbClr val="000000"/>
              </a:solidFill>
              <a:prstDash val="solid"/>
              <a:headEnd type="none" w="med" len="med"/>
              <a:tailEnd type="none" w="med" len="med"/>
            </a:ln>
          </p:spPr>
        </p:sp>
        <p:sp>
          <p:nvSpPr>
            <p:cNvPr id="82135" name="Line 2180"/>
            <p:cNvSpPr/>
            <p:nvPr/>
          </p:nvSpPr>
          <p:spPr>
            <a:xfrm>
              <a:off x="2364" y="3318"/>
              <a:ext cx="12" cy="1"/>
            </a:xfrm>
            <a:prstGeom prst="line">
              <a:avLst/>
            </a:prstGeom>
            <a:ln w="0" cap="flat" cmpd="sng">
              <a:solidFill>
                <a:srgbClr val="000000"/>
              </a:solidFill>
              <a:prstDash val="solid"/>
              <a:headEnd type="none" w="med" len="med"/>
              <a:tailEnd type="none" w="med" len="med"/>
            </a:ln>
          </p:spPr>
        </p:sp>
        <p:sp>
          <p:nvSpPr>
            <p:cNvPr id="82136" name="Line 2181"/>
            <p:cNvSpPr/>
            <p:nvPr/>
          </p:nvSpPr>
          <p:spPr>
            <a:xfrm>
              <a:off x="2364" y="3213"/>
              <a:ext cx="12" cy="1"/>
            </a:xfrm>
            <a:prstGeom prst="line">
              <a:avLst/>
            </a:prstGeom>
            <a:ln w="0" cap="flat" cmpd="sng">
              <a:solidFill>
                <a:srgbClr val="000000"/>
              </a:solidFill>
              <a:prstDash val="solid"/>
              <a:headEnd type="none" w="med" len="med"/>
              <a:tailEnd type="none" w="med" len="med"/>
            </a:ln>
          </p:spPr>
        </p:sp>
        <p:sp>
          <p:nvSpPr>
            <p:cNvPr id="82137" name="Line 2182"/>
            <p:cNvSpPr/>
            <p:nvPr/>
          </p:nvSpPr>
          <p:spPr>
            <a:xfrm>
              <a:off x="2364" y="3114"/>
              <a:ext cx="12" cy="1"/>
            </a:xfrm>
            <a:prstGeom prst="line">
              <a:avLst/>
            </a:prstGeom>
            <a:ln w="0" cap="flat" cmpd="sng">
              <a:solidFill>
                <a:srgbClr val="000000"/>
              </a:solidFill>
              <a:prstDash val="solid"/>
              <a:headEnd type="none" w="med" len="med"/>
              <a:tailEnd type="none" w="med" len="med"/>
            </a:ln>
          </p:spPr>
        </p:sp>
        <p:sp>
          <p:nvSpPr>
            <p:cNvPr id="82138" name="Line 2183"/>
            <p:cNvSpPr/>
            <p:nvPr/>
          </p:nvSpPr>
          <p:spPr>
            <a:xfrm>
              <a:off x="2364" y="3009"/>
              <a:ext cx="12" cy="1"/>
            </a:xfrm>
            <a:prstGeom prst="line">
              <a:avLst/>
            </a:prstGeom>
            <a:ln w="0" cap="flat" cmpd="sng">
              <a:solidFill>
                <a:srgbClr val="000000"/>
              </a:solidFill>
              <a:prstDash val="solid"/>
              <a:headEnd type="none" w="med" len="med"/>
              <a:tailEnd type="none" w="med" len="med"/>
            </a:ln>
          </p:spPr>
        </p:sp>
        <p:sp>
          <p:nvSpPr>
            <p:cNvPr id="82139" name="Line 2184"/>
            <p:cNvSpPr/>
            <p:nvPr/>
          </p:nvSpPr>
          <p:spPr>
            <a:xfrm>
              <a:off x="2376" y="4027"/>
              <a:ext cx="1154" cy="1"/>
            </a:xfrm>
            <a:prstGeom prst="line">
              <a:avLst/>
            </a:prstGeom>
            <a:ln w="0" cap="flat" cmpd="sng">
              <a:solidFill>
                <a:srgbClr val="000000"/>
              </a:solidFill>
              <a:prstDash val="solid"/>
              <a:headEnd type="none" w="med" len="med"/>
              <a:tailEnd type="none" w="med" len="med"/>
            </a:ln>
          </p:spPr>
        </p:sp>
        <p:sp>
          <p:nvSpPr>
            <p:cNvPr id="82140" name="Line 2185"/>
            <p:cNvSpPr/>
            <p:nvPr/>
          </p:nvSpPr>
          <p:spPr>
            <a:xfrm flipV="1">
              <a:off x="2376" y="4027"/>
              <a:ext cx="1" cy="12"/>
            </a:xfrm>
            <a:prstGeom prst="line">
              <a:avLst/>
            </a:prstGeom>
            <a:ln w="0" cap="flat" cmpd="sng">
              <a:solidFill>
                <a:srgbClr val="000000"/>
              </a:solidFill>
              <a:prstDash val="solid"/>
              <a:headEnd type="none" w="med" len="med"/>
              <a:tailEnd type="none" w="med" len="med"/>
            </a:ln>
          </p:spPr>
        </p:sp>
        <p:sp>
          <p:nvSpPr>
            <p:cNvPr id="82141" name="Line 2186"/>
            <p:cNvSpPr/>
            <p:nvPr/>
          </p:nvSpPr>
          <p:spPr>
            <a:xfrm flipV="1">
              <a:off x="2495" y="4027"/>
              <a:ext cx="1" cy="12"/>
            </a:xfrm>
            <a:prstGeom prst="line">
              <a:avLst/>
            </a:prstGeom>
            <a:ln w="0" cap="flat" cmpd="sng">
              <a:solidFill>
                <a:srgbClr val="000000"/>
              </a:solidFill>
              <a:prstDash val="solid"/>
              <a:headEnd type="none" w="med" len="med"/>
              <a:tailEnd type="none" w="med" len="med"/>
            </a:ln>
          </p:spPr>
        </p:sp>
        <p:sp>
          <p:nvSpPr>
            <p:cNvPr id="82142" name="Line 2187"/>
            <p:cNvSpPr/>
            <p:nvPr/>
          </p:nvSpPr>
          <p:spPr>
            <a:xfrm flipV="1">
              <a:off x="2607" y="4027"/>
              <a:ext cx="1" cy="12"/>
            </a:xfrm>
            <a:prstGeom prst="line">
              <a:avLst/>
            </a:prstGeom>
            <a:ln w="0" cap="flat" cmpd="sng">
              <a:solidFill>
                <a:srgbClr val="000000"/>
              </a:solidFill>
              <a:prstDash val="solid"/>
              <a:headEnd type="none" w="med" len="med"/>
              <a:tailEnd type="none" w="med" len="med"/>
            </a:ln>
          </p:spPr>
        </p:sp>
        <p:sp>
          <p:nvSpPr>
            <p:cNvPr id="82143" name="Line 2188"/>
            <p:cNvSpPr/>
            <p:nvPr/>
          </p:nvSpPr>
          <p:spPr>
            <a:xfrm flipV="1">
              <a:off x="2725" y="4027"/>
              <a:ext cx="1" cy="12"/>
            </a:xfrm>
            <a:prstGeom prst="line">
              <a:avLst/>
            </a:prstGeom>
            <a:ln w="0" cap="flat" cmpd="sng">
              <a:solidFill>
                <a:srgbClr val="000000"/>
              </a:solidFill>
              <a:prstDash val="solid"/>
              <a:headEnd type="none" w="med" len="med"/>
              <a:tailEnd type="none" w="med" len="med"/>
            </a:ln>
          </p:spPr>
        </p:sp>
        <p:sp>
          <p:nvSpPr>
            <p:cNvPr id="82144" name="Line 2189"/>
            <p:cNvSpPr/>
            <p:nvPr/>
          </p:nvSpPr>
          <p:spPr>
            <a:xfrm flipV="1">
              <a:off x="2838" y="4027"/>
              <a:ext cx="1" cy="12"/>
            </a:xfrm>
            <a:prstGeom prst="line">
              <a:avLst/>
            </a:prstGeom>
            <a:ln w="0" cap="flat" cmpd="sng">
              <a:solidFill>
                <a:srgbClr val="000000"/>
              </a:solidFill>
              <a:prstDash val="solid"/>
              <a:headEnd type="none" w="med" len="med"/>
              <a:tailEnd type="none" w="med" len="med"/>
            </a:ln>
          </p:spPr>
        </p:sp>
        <p:sp>
          <p:nvSpPr>
            <p:cNvPr id="82145" name="Line 2190"/>
            <p:cNvSpPr/>
            <p:nvPr/>
          </p:nvSpPr>
          <p:spPr>
            <a:xfrm flipV="1">
              <a:off x="2956" y="4027"/>
              <a:ext cx="1" cy="12"/>
            </a:xfrm>
            <a:prstGeom prst="line">
              <a:avLst/>
            </a:prstGeom>
            <a:ln w="0" cap="flat" cmpd="sng">
              <a:solidFill>
                <a:srgbClr val="000000"/>
              </a:solidFill>
              <a:prstDash val="solid"/>
              <a:headEnd type="none" w="med" len="med"/>
              <a:tailEnd type="none" w="med" len="med"/>
            </a:ln>
          </p:spPr>
        </p:sp>
        <p:sp>
          <p:nvSpPr>
            <p:cNvPr id="82146" name="Line 2191"/>
            <p:cNvSpPr/>
            <p:nvPr/>
          </p:nvSpPr>
          <p:spPr>
            <a:xfrm flipV="1">
              <a:off x="3068" y="4027"/>
              <a:ext cx="1" cy="12"/>
            </a:xfrm>
            <a:prstGeom prst="line">
              <a:avLst/>
            </a:prstGeom>
            <a:ln w="0" cap="flat" cmpd="sng">
              <a:solidFill>
                <a:srgbClr val="000000"/>
              </a:solidFill>
              <a:prstDash val="solid"/>
              <a:headEnd type="none" w="med" len="med"/>
              <a:tailEnd type="none" w="med" len="med"/>
            </a:ln>
          </p:spPr>
        </p:sp>
        <p:sp>
          <p:nvSpPr>
            <p:cNvPr id="82147" name="Line 2192"/>
            <p:cNvSpPr/>
            <p:nvPr/>
          </p:nvSpPr>
          <p:spPr>
            <a:xfrm flipV="1">
              <a:off x="3187" y="4027"/>
              <a:ext cx="1" cy="12"/>
            </a:xfrm>
            <a:prstGeom prst="line">
              <a:avLst/>
            </a:prstGeom>
            <a:ln w="0" cap="flat" cmpd="sng">
              <a:solidFill>
                <a:srgbClr val="000000"/>
              </a:solidFill>
              <a:prstDash val="solid"/>
              <a:headEnd type="none" w="med" len="med"/>
              <a:tailEnd type="none" w="med" len="med"/>
            </a:ln>
          </p:spPr>
        </p:sp>
        <p:sp>
          <p:nvSpPr>
            <p:cNvPr id="82148" name="Line 2193"/>
            <p:cNvSpPr/>
            <p:nvPr/>
          </p:nvSpPr>
          <p:spPr>
            <a:xfrm flipV="1">
              <a:off x="3299" y="4027"/>
              <a:ext cx="1" cy="12"/>
            </a:xfrm>
            <a:prstGeom prst="line">
              <a:avLst/>
            </a:prstGeom>
            <a:ln w="0" cap="flat" cmpd="sng">
              <a:solidFill>
                <a:srgbClr val="000000"/>
              </a:solidFill>
              <a:prstDash val="solid"/>
              <a:headEnd type="none" w="med" len="med"/>
              <a:tailEnd type="none" w="med" len="med"/>
            </a:ln>
          </p:spPr>
        </p:sp>
        <p:sp>
          <p:nvSpPr>
            <p:cNvPr id="82149" name="Line 2194"/>
            <p:cNvSpPr/>
            <p:nvPr/>
          </p:nvSpPr>
          <p:spPr>
            <a:xfrm flipV="1">
              <a:off x="3417" y="4027"/>
              <a:ext cx="1" cy="12"/>
            </a:xfrm>
            <a:prstGeom prst="line">
              <a:avLst/>
            </a:prstGeom>
            <a:ln w="0" cap="flat" cmpd="sng">
              <a:solidFill>
                <a:srgbClr val="000000"/>
              </a:solidFill>
              <a:prstDash val="solid"/>
              <a:headEnd type="none" w="med" len="med"/>
              <a:tailEnd type="none" w="med" len="med"/>
            </a:ln>
          </p:spPr>
        </p:sp>
        <p:sp>
          <p:nvSpPr>
            <p:cNvPr id="82150" name="Line 2195"/>
            <p:cNvSpPr/>
            <p:nvPr/>
          </p:nvSpPr>
          <p:spPr>
            <a:xfrm flipV="1">
              <a:off x="3530" y="4027"/>
              <a:ext cx="1" cy="12"/>
            </a:xfrm>
            <a:prstGeom prst="line">
              <a:avLst/>
            </a:prstGeom>
            <a:ln w="0" cap="flat" cmpd="sng">
              <a:solidFill>
                <a:srgbClr val="000000"/>
              </a:solidFill>
              <a:prstDash val="solid"/>
              <a:headEnd type="none" w="med" len="med"/>
              <a:tailEnd type="none" w="med" len="med"/>
            </a:ln>
          </p:spPr>
        </p:sp>
        <p:sp>
          <p:nvSpPr>
            <p:cNvPr id="82151" name="Freeform 2196"/>
            <p:cNvSpPr/>
            <p:nvPr/>
          </p:nvSpPr>
          <p:spPr>
            <a:xfrm>
              <a:off x="2682" y="3577"/>
              <a:ext cx="87" cy="86"/>
            </a:xfrm>
            <a:custGeom>
              <a:avLst/>
              <a:gdLst>
                <a:gd name="txL" fmla="*/ 0 w 87"/>
                <a:gd name="txT" fmla="*/ 0 h 86"/>
                <a:gd name="txR" fmla="*/ 87 w 87"/>
                <a:gd name="txB" fmla="*/ 86 h 86"/>
              </a:gdLst>
              <a:ahLst/>
              <a:cxnLst>
                <a:cxn ang="0">
                  <a:pos x="43" y="0"/>
                </a:cxn>
                <a:cxn ang="0">
                  <a:pos x="87" y="43"/>
                </a:cxn>
                <a:cxn ang="0">
                  <a:pos x="43" y="86"/>
                </a:cxn>
                <a:cxn ang="0">
                  <a:pos x="0" y="43"/>
                </a:cxn>
                <a:cxn ang="0">
                  <a:pos x="43" y="0"/>
                </a:cxn>
              </a:cxnLst>
              <a:rect l="txL" t="txT" r="txR" b="txB"/>
              <a:pathLst>
                <a:path w="87" h="86">
                  <a:moveTo>
                    <a:pt x="43" y="0"/>
                  </a:moveTo>
                  <a:lnTo>
                    <a:pt x="87" y="43"/>
                  </a:lnTo>
                  <a:lnTo>
                    <a:pt x="43" y="86"/>
                  </a:lnTo>
                  <a:lnTo>
                    <a:pt x="0" y="43"/>
                  </a:lnTo>
                  <a:lnTo>
                    <a:pt x="43"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82152" name="Freeform 2197"/>
            <p:cNvSpPr/>
            <p:nvPr/>
          </p:nvSpPr>
          <p:spPr>
            <a:xfrm>
              <a:off x="2563" y="3373"/>
              <a:ext cx="88" cy="87"/>
            </a:xfrm>
            <a:custGeom>
              <a:avLst/>
              <a:gdLst>
                <a:gd name="txL" fmla="*/ 0 w 88"/>
                <a:gd name="txT" fmla="*/ 0 h 87"/>
                <a:gd name="txR" fmla="*/ 88 w 88"/>
                <a:gd name="txB" fmla="*/ 87 h 87"/>
              </a:gdLst>
              <a:ahLst/>
              <a:cxnLst>
                <a:cxn ang="0">
                  <a:pos x="44" y="0"/>
                </a:cxn>
                <a:cxn ang="0">
                  <a:pos x="88" y="43"/>
                </a:cxn>
                <a:cxn ang="0">
                  <a:pos x="44" y="87"/>
                </a:cxn>
                <a:cxn ang="0">
                  <a:pos x="0" y="43"/>
                </a:cxn>
                <a:cxn ang="0">
                  <a:pos x="44" y="0"/>
                </a:cxn>
              </a:cxnLst>
              <a:rect l="txL" t="txT" r="txR" b="txB"/>
              <a:pathLst>
                <a:path w="88" h="87">
                  <a:moveTo>
                    <a:pt x="44" y="0"/>
                  </a:moveTo>
                  <a:lnTo>
                    <a:pt x="88" y="43"/>
                  </a:lnTo>
                  <a:lnTo>
                    <a:pt x="44" y="87"/>
                  </a:lnTo>
                  <a:lnTo>
                    <a:pt x="0" y="43"/>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82153" name="Freeform 2198"/>
            <p:cNvSpPr/>
            <p:nvPr/>
          </p:nvSpPr>
          <p:spPr>
            <a:xfrm>
              <a:off x="3143" y="3681"/>
              <a:ext cx="87" cy="87"/>
            </a:xfrm>
            <a:custGeom>
              <a:avLst/>
              <a:gdLst>
                <a:gd name="txL" fmla="*/ 0 w 87"/>
                <a:gd name="txT" fmla="*/ 0 h 87"/>
                <a:gd name="txR" fmla="*/ 87 w 87"/>
                <a:gd name="txB" fmla="*/ 87 h 87"/>
              </a:gdLst>
              <a:ahLst/>
              <a:cxnLst>
                <a:cxn ang="0">
                  <a:pos x="44" y="0"/>
                </a:cxn>
                <a:cxn ang="0">
                  <a:pos x="87" y="44"/>
                </a:cxn>
                <a:cxn ang="0">
                  <a:pos x="44" y="87"/>
                </a:cxn>
                <a:cxn ang="0">
                  <a:pos x="0" y="44"/>
                </a:cxn>
                <a:cxn ang="0">
                  <a:pos x="44" y="0"/>
                </a:cxn>
              </a:cxnLst>
              <a:rect l="txL" t="txT" r="txR" b="txB"/>
              <a:pathLst>
                <a:path w="87" h="87">
                  <a:moveTo>
                    <a:pt x="44" y="0"/>
                  </a:moveTo>
                  <a:lnTo>
                    <a:pt x="87" y="44"/>
                  </a:lnTo>
                  <a:lnTo>
                    <a:pt x="44" y="87"/>
                  </a:lnTo>
                  <a:lnTo>
                    <a:pt x="0" y="44"/>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82154" name="Freeform 2199"/>
            <p:cNvSpPr/>
            <p:nvPr/>
          </p:nvSpPr>
          <p:spPr>
            <a:xfrm>
              <a:off x="2794" y="3275"/>
              <a:ext cx="87" cy="86"/>
            </a:xfrm>
            <a:custGeom>
              <a:avLst/>
              <a:gdLst>
                <a:gd name="txL" fmla="*/ 0 w 87"/>
                <a:gd name="txT" fmla="*/ 0 h 86"/>
                <a:gd name="txR" fmla="*/ 87 w 87"/>
                <a:gd name="txB" fmla="*/ 86 h 86"/>
              </a:gdLst>
              <a:ahLst/>
              <a:cxnLst>
                <a:cxn ang="0">
                  <a:pos x="44" y="0"/>
                </a:cxn>
                <a:cxn ang="0">
                  <a:pos x="87" y="43"/>
                </a:cxn>
                <a:cxn ang="0">
                  <a:pos x="44" y="86"/>
                </a:cxn>
                <a:cxn ang="0">
                  <a:pos x="0" y="43"/>
                </a:cxn>
                <a:cxn ang="0">
                  <a:pos x="44" y="0"/>
                </a:cxn>
              </a:cxnLst>
              <a:rect l="txL" t="txT" r="txR" b="txB"/>
              <a:pathLst>
                <a:path w="87" h="86">
                  <a:moveTo>
                    <a:pt x="44" y="0"/>
                  </a:moveTo>
                  <a:lnTo>
                    <a:pt x="87" y="43"/>
                  </a:lnTo>
                  <a:lnTo>
                    <a:pt x="44" y="86"/>
                  </a:lnTo>
                  <a:lnTo>
                    <a:pt x="0" y="43"/>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82155" name="Freeform 2200"/>
            <p:cNvSpPr/>
            <p:nvPr/>
          </p:nvSpPr>
          <p:spPr>
            <a:xfrm>
              <a:off x="2682" y="3170"/>
              <a:ext cx="87" cy="86"/>
            </a:xfrm>
            <a:custGeom>
              <a:avLst/>
              <a:gdLst>
                <a:gd name="txL" fmla="*/ 0 w 87"/>
                <a:gd name="txT" fmla="*/ 0 h 86"/>
                <a:gd name="txR" fmla="*/ 87 w 87"/>
                <a:gd name="txB" fmla="*/ 86 h 86"/>
              </a:gdLst>
              <a:ahLst/>
              <a:cxnLst>
                <a:cxn ang="0">
                  <a:pos x="43" y="0"/>
                </a:cxn>
                <a:cxn ang="0">
                  <a:pos x="87" y="43"/>
                </a:cxn>
                <a:cxn ang="0">
                  <a:pos x="43" y="86"/>
                </a:cxn>
                <a:cxn ang="0">
                  <a:pos x="0" y="43"/>
                </a:cxn>
                <a:cxn ang="0">
                  <a:pos x="43" y="0"/>
                </a:cxn>
              </a:cxnLst>
              <a:rect l="txL" t="txT" r="txR" b="txB"/>
              <a:pathLst>
                <a:path w="87" h="86">
                  <a:moveTo>
                    <a:pt x="43" y="0"/>
                  </a:moveTo>
                  <a:lnTo>
                    <a:pt x="87" y="43"/>
                  </a:lnTo>
                  <a:lnTo>
                    <a:pt x="43" y="86"/>
                  </a:lnTo>
                  <a:lnTo>
                    <a:pt x="0" y="43"/>
                  </a:lnTo>
                  <a:lnTo>
                    <a:pt x="43" y="0"/>
                  </a:lnTo>
                  <a:close/>
                </a:path>
              </a:pathLst>
            </a:custGeom>
            <a:solidFill>
              <a:srgbClr val="000080">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82156" name="Freeform 2201"/>
            <p:cNvSpPr/>
            <p:nvPr/>
          </p:nvSpPr>
          <p:spPr>
            <a:xfrm>
              <a:off x="3255" y="3478"/>
              <a:ext cx="88" cy="86"/>
            </a:xfrm>
            <a:custGeom>
              <a:avLst/>
              <a:gdLst>
                <a:gd name="txL" fmla="*/ 0 w 88"/>
                <a:gd name="txT" fmla="*/ 0 h 86"/>
                <a:gd name="txR" fmla="*/ 88 w 88"/>
                <a:gd name="txB" fmla="*/ 86 h 86"/>
              </a:gdLst>
              <a:ahLst/>
              <a:cxnLst>
                <a:cxn ang="0">
                  <a:pos x="44" y="0"/>
                </a:cxn>
                <a:cxn ang="0">
                  <a:pos x="88" y="43"/>
                </a:cxn>
                <a:cxn ang="0">
                  <a:pos x="44" y="86"/>
                </a:cxn>
                <a:cxn ang="0">
                  <a:pos x="0" y="43"/>
                </a:cxn>
                <a:cxn ang="0">
                  <a:pos x="44" y="0"/>
                </a:cxn>
              </a:cxnLst>
              <a:rect l="txL" t="txT" r="txR" b="txB"/>
              <a:pathLst>
                <a:path w="88" h="86">
                  <a:moveTo>
                    <a:pt x="44" y="0"/>
                  </a:moveTo>
                  <a:lnTo>
                    <a:pt x="88" y="43"/>
                  </a:lnTo>
                  <a:lnTo>
                    <a:pt x="44" y="86"/>
                  </a:lnTo>
                  <a:lnTo>
                    <a:pt x="0" y="43"/>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82157" name="Freeform 2202"/>
            <p:cNvSpPr/>
            <p:nvPr/>
          </p:nvSpPr>
          <p:spPr>
            <a:xfrm>
              <a:off x="3143" y="3577"/>
              <a:ext cx="87" cy="86"/>
            </a:xfrm>
            <a:custGeom>
              <a:avLst/>
              <a:gdLst>
                <a:gd name="txL" fmla="*/ 0 w 87"/>
                <a:gd name="txT" fmla="*/ 0 h 86"/>
                <a:gd name="txR" fmla="*/ 87 w 87"/>
                <a:gd name="txB" fmla="*/ 86 h 86"/>
              </a:gdLst>
              <a:ahLst/>
              <a:cxnLst>
                <a:cxn ang="0">
                  <a:pos x="44" y="0"/>
                </a:cxn>
                <a:cxn ang="0">
                  <a:pos x="87" y="43"/>
                </a:cxn>
                <a:cxn ang="0">
                  <a:pos x="44" y="86"/>
                </a:cxn>
                <a:cxn ang="0">
                  <a:pos x="0" y="43"/>
                </a:cxn>
                <a:cxn ang="0">
                  <a:pos x="44" y="0"/>
                </a:cxn>
              </a:cxnLst>
              <a:rect l="txL" t="txT" r="txR" b="txB"/>
              <a:pathLst>
                <a:path w="87" h="86">
                  <a:moveTo>
                    <a:pt x="44" y="0"/>
                  </a:moveTo>
                  <a:lnTo>
                    <a:pt x="87" y="43"/>
                  </a:lnTo>
                  <a:lnTo>
                    <a:pt x="44" y="86"/>
                  </a:lnTo>
                  <a:lnTo>
                    <a:pt x="0" y="43"/>
                  </a:lnTo>
                  <a:lnTo>
                    <a:pt x="44" y="0"/>
                  </a:lnTo>
                  <a:close/>
                </a:path>
              </a:pathLst>
            </a:custGeom>
            <a:solidFill>
              <a:schemeClr val="accent1">
                <a:alpha val="100000"/>
              </a:scheme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82158" name="Freeform 2203"/>
            <p:cNvSpPr/>
            <p:nvPr/>
          </p:nvSpPr>
          <p:spPr>
            <a:xfrm>
              <a:off x="3143" y="3373"/>
              <a:ext cx="87" cy="87"/>
            </a:xfrm>
            <a:custGeom>
              <a:avLst/>
              <a:gdLst>
                <a:gd name="txL" fmla="*/ 0 w 87"/>
                <a:gd name="txT" fmla="*/ 0 h 87"/>
                <a:gd name="txR" fmla="*/ 87 w 87"/>
                <a:gd name="txB" fmla="*/ 87 h 87"/>
              </a:gdLst>
              <a:ahLst/>
              <a:cxnLst>
                <a:cxn ang="0">
                  <a:pos x="44" y="0"/>
                </a:cxn>
                <a:cxn ang="0">
                  <a:pos x="87" y="43"/>
                </a:cxn>
                <a:cxn ang="0">
                  <a:pos x="44" y="87"/>
                </a:cxn>
                <a:cxn ang="0">
                  <a:pos x="0" y="43"/>
                </a:cxn>
                <a:cxn ang="0">
                  <a:pos x="44" y="0"/>
                </a:cxn>
              </a:cxnLst>
              <a:rect l="txL" t="txT" r="txR" b="txB"/>
              <a:pathLst>
                <a:path w="87" h="87">
                  <a:moveTo>
                    <a:pt x="44" y="0"/>
                  </a:moveTo>
                  <a:lnTo>
                    <a:pt x="87" y="43"/>
                  </a:lnTo>
                  <a:lnTo>
                    <a:pt x="44" y="87"/>
                  </a:lnTo>
                  <a:lnTo>
                    <a:pt x="0" y="43"/>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82159" name="Rectangle 2204"/>
            <p:cNvSpPr/>
            <p:nvPr/>
          </p:nvSpPr>
          <p:spPr>
            <a:xfrm>
              <a:off x="2326" y="4008"/>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0</a:t>
              </a:r>
              <a:endParaRPr lang="ko-KR" altLang="en-US" dirty="0">
                <a:latin typeface="Tahoma" panose="020B0604030504040204" pitchFamily="34" charset="0"/>
                <a:ea typeface="Gulim" panose="020B0600000101010101" pitchFamily="34" charset="-127"/>
              </a:endParaRPr>
            </a:p>
          </p:txBody>
        </p:sp>
        <p:sp>
          <p:nvSpPr>
            <p:cNvPr id="82160" name="Rectangle 2205"/>
            <p:cNvSpPr/>
            <p:nvPr/>
          </p:nvSpPr>
          <p:spPr>
            <a:xfrm>
              <a:off x="2326" y="391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a:t>
              </a:r>
              <a:endParaRPr lang="ko-KR" altLang="en-US" dirty="0">
                <a:latin typeface="Tahoma" panose="020B0604030504040204" pitchFamily="34" charset="0"/>
                <a:ea typeface="Gulim" panose="020B0600000101010101" pitchFamily="34" charset="-127"/>
              </a:endParaRPr>
            </a:p>
          </p:txBody>
        </p:sp>
        <p:sp>
          <p:nvSpPr>
            <p:cNvPr id="82161" name="Rectangle 2206"/>
            <p:cNvSpPr/>
            <p:nvPr/>
          </p:nvSpPr>
          <p:spPr>
            <a:xfrm>
              <a:off x="2326" y="3805"/>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2</a:t>
              </a:r>
              <a:endParaRPr lang="ko-KR" altLang="en-US" dirty="0">
                <a:latin typeface="Tahoma" panose="020B0604030504040204" pitchFamily="34" charset="0"/>
                <a:ea typeface="Gulim" panose="020B0600000101010101" pitchFamily="34" charset="-127"/>
              </a:endParaRPr>
            </a:p>
          </p:txBody>
        </p:sp>
        <p:sp>
          <p:nvSpPr>
            <p:cNvPr id="82162" name="Rectangle 2207"/>
            <p:cNvSpPr/>
            <p:nvPr/>
          </p:nvSpPr>
          <p:spPr>
            <a:xfrm>
              <a:off x="2326" y="3706"/>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3</a:t>
              </a:r>
              <a:endParaRPr lang="ko-KR" altLang="en-US" dirty="0">
                <a:latin typeface="Tahoma" panose="020B0604030504040204" pitchFamily="34" charset="0"/>
                <a:ea typeface="Gulim" panose="020B0600000101010101" pitchFamily="34" charset="-127"/>
              </a:endParaRPr>
            </a:p>
          </p:txBody>
        </p:sp>
        <p:sp>
          <p:nvSpPr>
            <p:cNvPr id="82163" name="Rectangle 2208"/>
            <p:cNvSpPr/>
            <p:nvPr/>
          </p:nvSpPr>
          <p:spPr>
            <a:xfrm>
              <a:off x="2326" y="3601"/>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4</a:t>
              </a:r>
              <a:endParaRPr lang="ko-KR" altLang="en-US" dirty="0">
                <a:latin typeface="Tahoma" panose="020B0604030504040204" pitchFamily="34" charset="0"/>
                <a:ea typeface="Gulim" panose="020B0600000101010101" pitchFamily="34" charset="-127"/>
              </a:endParaRPr>
            </a:p>
          </p:txBody>
        </p:sp>
        <p:sp>
          <p:nvSpPr>
            <p:cNvPr id="82164" name="Rectangle 2209"/>
            <p:cNvSpPr/>
            <p:nvPr/>
          </p:nvSpPr>
          <p:spPr>
            <a:xfrm>
              <a:off x="2326" y="3503"/>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5</a:t>
              </a:r>
              <a:endParaRPr lang="ko-KR" altLang="en-US" dirty="0">
                <a:latin typeface="Tahoma" panose="020B0604030504040204" pitchFamily="34" charset="0"/>
                <a:ea typeface="Gulim" panose="020B0600000101010101" pitchFamily="34" charset="-127"/>
              </a:endParaRPr>
            </a:p>
          </p:txBody>
        </p:sp>
        <p:sp>
          <p:nvSpPr>
            <p:cNvPr id="82165" name="Rectangle 2210"/>
            <p:cNvSpPr/>
            <p:nvPr/>
          </p:nvSpPr>
          <p:spPr>
            <a:xfrm>
              <a:off x="2326" y="3398"/>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6</a:t>
              </a:r>
              <a:endParaRPr lang="ko-KR" altLang="en-US" dirty="0">
                <a:latin typeface="Tahoma" panose="020B0604030504040204" pitchFamily="34" charset="0"/>
                <a:ea typeface="Gulim" panose="020B0600000101010101" pitchFamily="34" charset="-127"/>
              </a:endParaRPr>
            </a:p>
          </p:txBody>
        </p:sp>
        <p:sp>
          <p:nvSpPr>
            <p:cNvPr id="82166" name="Rectangle 2211"/>
            <p:cNvSpPr/>
            <p:nvPr/>
          </p:nvSpPr>
          <p:spPr>
            <a:xfrm>
              <a:off x="2326" y="3299"/>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7</a:t>
              </a:r>
              <a:endParaRPr lang="ko-KR" altLang="en-US" dirty="0">
                <a:latin typeface="Tahoma" panose="020B0604030504040204" pitchFamily="34" charset="0"/>
                <a:ea typeface="Gulim" panose="020B0600000101010101" pitchFamily="34" charset="-127"/>
              </a:endParaRPr>
            </a:p>
          </p:txBody>
        </p:sp>
        <p:sp>
          <p:nvSpPr>
            <p:cNvPr id="82167" name="Rectangle 2212"/>
            <p:cNvSpPr/>
            <p:nvPr/>
          </p:nvSpPr>
          <p:spPr>
            <a:xfrm>
              <a:off x="2326" y="3194"/>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8</a:t>
              </a:r>
              <a:endParaRPr lang="ko-KR" altLang="en-US" dirty="0">
                <a:latin typeface="Tahoma" panose="020B0604030504040204" pitchFamily="34" charset="0"/>
                <a:ea typeface="Gulim" panose="020B0600000101010101" pitchFamily="34" charset="-127"/>
              </a:endParaRPr>
            </a:p>
          </p:txBody>
        </p:sp>
        <p:sp>
          <p:nvSpPr>
            <p:cNvPr id="82168" name="Rectangle 2213"/>
            <p:cNvSpPr/>
            <p:nvPr/>
          </p:nvSpPr>
          <p:spPr>
            <a:xfrm>
              <a:off x="2326" y="3096"/>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9</a:t>
              </a:r>
              <a:endParaRPr lang="ko-KR" altLang="en-US" dirty="0">
                <a:latin typeface="Tahoma" panose="020B0604030504040204" pitchFamily="34" charset="0"/>
                <a:ea typeface="Gulim" panose="020B0600000101010101" pitchFamily="34" charset="-127"/>
              </a:endParaRPr>
            </a:p>
          </p:txBody>
        </p:sp>
        <p:sp>
          <p:nvSpPr>
            <p:cNvPr id="82169" name="Rectangle 2214"/>
            <p:cNvSpPr/>
            <p:nvPr/>
          </p:nvSpPr>
          <p:spPr>
            <a:xfrm>
              <a:off x="2308" y="2991"/>
              <a:ext cx="19"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10</a:t>
              </a:r>
              <a:endParaRPr lang="ko-KR" altLang="en-US" dirty="0">
                <a:latin typeface="Tahoma" panose="020B0604030504040204" pitchFamily="34" charset="0"/>
                <a:ea typeface="Gulim" panose="020B0600000101010101" pitchFamily="34" charset="-127"/>
              </a:endParaRPr>
            </a:p>
          </p:txBody>
        </p:sp>
        <p:sp>
          <p:nvSpPr>
            <p:cNvPr id="82170" name="Rectangle 2215"/>
            <p:cNvSpPr/>
            <p:nvPr/>
          </p:nvSpPr>
          <p:spPr>
            <a:xfrm>
              <a:off x="2370"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0</a:t>
              </a:r>
              <a:endParaRPr lang="ko-KR" altLang="en-US" dirty="0">
                <a:latin typeface="Tahoma" panose="020B0604030504040204" pitchFamily="34" charset="0"/>
                <a:ea typeface="Gulim" panose="020B0600000101010101" pitchFamily="34" charset="-127"/>
              </a:endParaRPr>
            </a:p>
          </p:txBody>
        </p:sp>
        <p:sp>
          <p:nvSpPr>
            <p:cNvPr id="82171" name="Rectangle 2216"/>
            <p:cNvSpPr/>
            <p:nvPr/>
          </p:nvSpPr>
          <p:spPr>
            <a:xfrm>
              <a:off x="2489"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a:t>
              </a:r>
              <a:endParaRPr lang="ko-KR" altLang="en-US" dirty="0">
                <a:latin typeface="Tahoma" panose="020B0604030504040204" pitchFamily="34" charset="0"/>
                <a:ea typeface="Gulim" panose="020B0600000101010101" pitchFamily="34" charset="-127"/>
              </a:endParaRPr>
            </a:p>
          </p:txBody>
        </p:sp>
        <p:sp>
          <p:nvSpPr>
            <p:cNvPr id="82172" name="Rectangle 2217"/>
            <p:cNvSpPr/>
            <p:nvPr/>
          </p:nvSpPr>
          <p:spPr>
            <a:xfrm>
              <a:off x="2601"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2</a:t>
              </a:r>
              <a:endParaRPr lang="ko-KR" altLang="en-US" dirty="0">
                <a:latin typeface="Tahoma" panose="020B0604030504040204" pitchFamily="34" charset="0"/>
                <a:ea typeface="Gulim" panose="020B0600000101010101" pitchFamily="34" charset="-127"/>
              </a:endParaRPr>
            </a:p>
          </p:txBody>
        </p:sp>
        <p:sp>
          <p:nvSpPr>
            <p:cNvPr id="82173" name="Rectangle 2218"/>
            <p:cNvSpPr/>
            <p:nvPr/>
          </p:nvSpPr>
          <p:spPr>
            <a:xfrm>
              <a:off x="2719"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3</a:t>
              </a:r>
              <a:endParaRPr lang="ko-KR" altLang="en-US" dirty="0">
                <a:latin typeface="Tahoma" panose="020B0604030504040204" pitchFamily="34" charset="0"/>
                <a:ea typeface="Gulim" panose="020B0600000101010101" pitchFamily="34" charset="-127"/>
              </a:endParaRPr>
            </a:p>
          </p:txBody>
        </p:sp>
        <p:sp>
          <p:nvSpPr>
            <p:cNvPr id="82174" name="Rectangle 2219"/>
            <p:cNvSpPr/>
            <p:nvPr/>
          </p:nvSpPr>
          <p:spPr>
            <a:xfrm>
              <a:off x="2831"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4</a:t>
              </a:r>
              <a:endParaRPr lang="ko-KR" altLang="en-US" dirty="0">
                <a:latin typeface="Tahoma" panose="020B0604030504040204" pitchFamily="34" charset="0"/>
                <a:ea typeface="Gulim" panose="020B0600000101010101" pitchFamily="34" charset="-127"/>
              </a:endParaRPr>
            </a:p>
          </p:txBody>
        </p:sp>
        <p:sp>
          <p:nvSpPr>
            <p:cNvPr id="82175" name="Rectangle 2220"/>
            <p:cNvSpPr/>
            <p:nvPr/>
          </p:nvSpPr>
          <p:spPr>
            <a:xfrm>
              <a:off x="2950"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5</a:t>
              </a:r>
              <a:endParaRPr lang="ko-KR" altLang="en-US" dirty="0">
                <a:latin typeface="Tahoma" panose="020B0604030504040204" pitchFamily="34" charset="0"/>
                <a:ea typeface="Gulim" panose="020B0600000101010101" pitchFamily="34" charset="-127"/>
              </a:endParaRPr>
            </a:p>
          </p:txBody>
        </p:sp>
        <p:sp>
          <p:nvSpPr>
            <p:cNvPr id="82176" name="Rectangle 2221"/>
            <p:cNvSpPr/>
            <p:nvPr/>
          </p:nvSpPr>
          <p:spPr>
            <a:xfrm>
              <a:off x="3062"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6</a:t>
              </a:r>
              <a:endParaRPr lang="ko-KR" altLang="en-US" dirty="0">
                <a:latin typeface="Tahoma" panose="020B0604030504040204" pitchFamily="34" charset="0"/>
                <a:ea typeface="Gulim" panose="020B0600000101010101" pitchFamily="34" charset="-127"/>
              </a:endParaRPr>
            </a:p>
          </p:txBody>
        </p:sp>
        <p:sp>
          <p:nvSpPr>
            <p:cNvPr id="82177" name="Rectangle 2222"/>
            <p:cNvSpPr/>
            <p:nvPr/>
          </p:nvSpPr>
          <p:spPr>
            <a:xfrm>
              <a:off x="3180"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7</a:t>
              </a:r>
              <a:endParaRPr lang="ko-KR" altLang="en-US" dirty="0">
                <a:latin typeface="Tahoma" panose="020B0604030504040204" pitchFamily="34" charset="0"/>
                <a:ea typeface="Gulim" panose="020B0600000101010101" pitchFamily="34" charset="-127"/>
              </a:endParaRPr>
            </a:p>
          </p:txBody>
        </p:sp>
        <p:sp>
          <p:nvSpPr>
            <p:cNvPr id="82178" name="Rectangle 2223"/>
            <p:cNvSpPr/>
            <p:nvPr/>
          </p:nvSpPr>
          <p:spPr>
            <a:xfrm>
              <a:off x="3293"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8</a:t>
              </a:r>
              <a:endParaRPr lang="ko-KR" altLang="en-US" dirty="0">
                <a:latin typeface="Tahoma" panose="020B0604030504040204" pitchFamily="34" charset="0"/>
                <a:ea typeface="Gulim" panose="020B0600000101010101" pitchFamily="34" charset="-127"/>
              </a:endParaRPr>
            </a:p>
          </p:txBody>
        </p:sp>
        <p:sp>
          <p:nvSpPr>
            <p:cNvPr id="82179" name="Rectangle 2224"/>
            <p:cNvSpPr/>
            <p:nvPr/>
          </p:nvSpPr>
          <p:spPr>
            <a:xfrm>
              <a:off x="3411"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9</a:t>
              </a:r>
              <a:endParaRPr lang="ko-KR" altLang="en-US" dirty="0">
                <a:latin typeface="Tahoma" panose="020B0604030504040204" pitchFamily="34" charset="0"/>
                <a:ea typeface="Gulim" panose="020B0600000101010101" pitchFamily="34" charset="-127"/>
              </a:endParaRPr>
            </a:p>
          </p:txBody>
        </p:sp>
        <p:sp>
          <p:nvSpPr>
            <p:cNvPr id="82180" name="Rectangle 2225"/>
            <p:cNvSpPr/>
            <p:nvPr/>
          </p:nvSpPr>
          <p:spPr>
            <a:xfrm>
              <a:off x="3511" y="4070"/>
              <a:ext cx="19"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10</a:t>
              </a:r>
              <a:endParaRPr lang="ko-KR" altLang="en-US" dirty="0">
                <a:latin typeface="Tahoma" panose="020B0604030504040204" pitchFamily="34" charset="0"/>
                <a:ea typeface="Gulim" panose="020B0600000101010101" pitchFamily="34" charset="-127"/>
              </a:endParaRPr>
            </a:p>
          </p:txBody>
        </p:sp>
        <p:sp>
          <p:nvSpPr>
            <p:cNvPr id="82181" name="Rectangle 2226"/>
            <p:cNvSpPr/>
            <p:nvPr/>
          </p:nvSpPr>
          <p:spPr>
            <a:xfrm>
              <a:off x="2233" y="2905"/>
              <a:ext cx="1371" cy="1282"/>
            </a:xfrm>
            <a:prstGeom prst="rect">
              <a:avLst/>
            </a:prstGeom>
            <a:noFill/>
            <a:ln w="0"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sp>
          <p:nvSpPr>
            <p:cNvPr id="82182" name="Line 2227"/>
            <p:cNvSpPr/>
            <p:nvPr/>
          </p:nvSpPr>
          <p:spPr>
            <a:xfrm>
              <a:off x="3181" y="3456"/>
              <a:ext cx="0" cy="115"/>
            </a:xfrm>
            <a:prstGeom prst="line">
              <a:avLst/>
            </a:prstGeom>
            <a:ln w="9525" cap="flat" cmpd="sng">
              <a:solidFill>
                <a:schemeClr val="tx1"/>
              </a:solidFill>
              <a:prstDash val="solid"/>
              <a:headEnd type="none" w="med" len="med"/>
              <a:tailEnd type="none" w="med" len="med"/>
            </a:ln>
          </p:spPr>
        </p:sp>
        <p:sp>
          <p:nvSpPr>
            <p:cNvPr id="82183" name="Freeform 2228"/>
            <p:cNvSpPr/>
            <p:nvPr/>
          </p:nvSpPr>
          <p:spPr>
            <a:xfrm>
              <a:off x="3033" y="3600"/>
              <a:ext cx="87" cy="86"/>
            </a:xfrm>
            <a:custGeom>
              <a:avLst/>
              <a:gdLst>
                <a:gd name="txL" fmla="*/ 0 w 87"/>
                <a:gd name="txT" fmla="*/ 0 h 86"/>
                <a:gd name="txR" fmla="*/ 87 w 87"/>
                <a:gd name="txB" fmla="*/ 86 h 86"/>
              </a:gdLst>
              <a:ahLst/>
              <a:cxnLst>
                <a:cxn ang="0">
                  <a:pos x="44" y="0"/>
                </a:cxn>
                <a:cxn ang="0">
                  <a:pos x="87" y="43"/>
                </a:cxn>
                <a:cxn ang="0">
                  <a:pos x="44" y="86"/>
                </a:cxn>
                <a:cxn ang="0">
                  <a:pos x="0" y="43"/>
                </a:cxn>
                <a:cxn ang="0">
                  <a:pos x="44" y="0"/>
                </a:cxn>
              </a:cxnLst>
              <a:rect l="txL" t="txT" r="txR" b="txB"/>
              <a:pathLst>
                <a:path w="87" h="86">
                  <a:moveTo>
                    <a:pt x="44" y="0"/>
                  </a:moveTo>
                  <a:lnTo>
                    <a:pt x="87" y="43"/>
                  </a:lnTo>
                  <a:lnTo>
                    <a:pt x="44" y="86"/>
                  </a:lnTo>
                  <a:lnTo>
                    <a:pt x="0" y="43"/>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82184" name="Freeform 2229"/>
            <p:cNvSpPr/>
            <p:nvPr/>
          </p:nvSpPr>
          <p:spPr>
            <a:xfrm>
              <a:off x="3024" y="3792"/>
              <a:ext cx="87" cy="86"/>
            </a:xfrm>
            <a:custGeom>
              <a:avLst/>
              <a:gdLst>
                <a:gd name="txL" fmla="*/ 0 w 87"/>
                <a:gd name="txT" fmla="*/ 0 h 86"/>
                <a:gd name="txR" fmla="*/ 87 w 87"/>
                <a:gd name="txB" fmla="*/ 86 h 86"/>
              </a:gdLst>
              <a:ahLst/>
              <a:cxnLst>
                <a:cxn ang="0">
                  <a:pos x="43" y="0"/>
                </a:cxn>
                <a:cxn ang="0">
                  <a:pos x="87" y="43"/>
                </a:cxn>
                <a:cxn ang="0">
                  <a:pos x="43" y="86"/>
                </a:cxn>
                <a:cxn ang="0">
                  <a:pos x="0" y="43"/>
                </a:cxn>
                <a:cxn ang="0">
                  <a:pos x="43" y="0"/>
                </a:cxn>
              </a:cxnLst>
              <a:rect l="txL" t="txT" r="txR" b="txB"/>
              <a:pathLst>
                <a:path w="87" h="86">
                  <a:moveTo>
                    <a:pt x="43" y="0"/>
                  </a:moveTo>
                  <a:lnTo>
                    <a:pt x="87" y="43"/>
                  </a:lnTo>
                  <a:lnTo>
                    <a:pt x="43" y="86"/>
                  </a:lnTo>
                  <a:lnTo>
                    <a:pt x="0" y="43"/>
                  </a:lnTo>
                  <a:lnTo>
                    <a:pt x="43" y="0"/>
                  </a:lnTo>
                  <a:close/>
                </a:path>
              </a:pathLst>
            </a:custGeom>
            <a:solidFill>
              <a:schemeClr val="hlink">
                <a:alpha val="100000"/>
              </a:schemeClr>
            </a:solidFill>
            <a:ln w="9525" cap="flat" cmpd="sng">
              <a:solidFill>
                <a:schemeClr val="hlink">
                  <a:alpha val="100000"/>
                </a:schemeClr>
              </a:solidFill>
              <a:prstDash val="solid"/>
              <a:round/>
              <a:headEnd type="none" w="med" len="med"/>
              <a:tailEnd type="none" w="med" len="med"/>
            </a:ln>
          </p:spPr>
          <p:txBody>
            <a:bodyPr/>
            <a:p>
              <a:endParaRPr lang="en-US"/>
            </a:p>
          </p:txBody>
        </p:sp>
      </p:grpSp>
      <p:sp>
        <p:nvSpPr>
          <p:cNvPr id="82018" name="Rectangle 2230"/>
          <p:cNvSpPr/>
          <p:nvPr/>
        </p:nvSpPr>
        <p:spPr>
          <a:xfrm>
            <a:off x="3657600" y="4267200"/>
            <a:ext cx="1408113" cy="304800"/>
          </a:xfrm>
          <a:prstGeom prst="rect">
            <a:avLst/>
          </a:prstGeom>
          <a:noFill/>
          <a:ln w="9525">
            <a:noFill/>
          </a:ln>
        </p:spPr>
        <p:txBody>
          <a:bodyPr wrap="none">
            <a:spAutoFit/>
          </a:bodyPr>
          <a:p>
            <a:pPr algn="l"/>
            <a:r>
              <a:rPr lang="en-US" altLang="ko-KR" sz="1400" dirty="0">
                <a:latin typeface="Tahoma" panose="020B0604030504040204" pitchFamily="34" charset="0"/>
                <a:ea typeface="Gulim" panose="020B0600000101010101" pitchFamily="34" charset="-127"/>
              </a:rPr>
              <a:t>Total Cost = 26</a:t>
            </a:r>
            <a:endParaRPr lang="en-US" altLang="ko-KR" sz="1400" dirty="0">
              <a:latin typeface="Tahoma" panose="020B0604030504040204" pitchFamily="34" charset="0"/>
              <a:ea typeface="Gulim" panose="020B0600000101010101" pitchFamily="34" charset="-127"/>
            </a:endParaRPr>
          </a:p>
        </p:txBody>
      </p:sp>
      <p:sp>
        <p:nvSpPr>
          <p:cNvPr id="82019" name="Line 2231"/>
          <p:cNvSpPr/>
          <p:nvPr/>
        </p:nvSpPr>
        <p:spPr>
          <a:xfrm flipV="1">
            <a:off x="5334000" y="4114800"/>
            <a:ext cx="0" cy="381000"/>
          </a:xfrm>
          <a:prstGeom prst="line">
            <a:avLst/>
          </a:prstGeom>
          <a:ln w="9525" cap="flat" cmpd="sng">
            <a:solidFill>
              <a:schemeClr val="tx1"/>
            </a:solidFill>
            <a:prstDash val="solid"/>
            <a:miter/>
            <a:headEnd type="none" w="med" len="med"/>
            <a:tailEnd type="triangle" w="med" len="med"/>
          </a:ln>
        </p:spPr>
      </p:sp>
      <p:sp>
        <p:nvSpPr>
          <p:cNvPr id="82020" name="Text Box 2232"/>
          <p:cNvSpPr txBox="1"/>
          <p:nvPr/>
        </p:nvSpPr>
        <p:spPr>
          <a:xfrm>
            <a:off x="2362200" y="5029200"/>
            <a:ext cx="1219200" cy="1049338"/>
          </a:xfrm>
          <a:prstGeom prst="rect">
            <a:avLst/>
          </a:prstGeom>
          <a:noFill/>
          <a:ln w="9525">
            <a:noFill/>
          </a:ln>
        </p:spPr>
        <p:txBody>
          <a:bodyPr>
            <a:spAutoFit/>
          </a:bodyPr>
          <a:p>
            <a:pPr algn="l">
              <a:spcBef>
                <a:spcPct val="50000"/>
              </a:spcBef>
            </a:pPr>
            <a:r>
              <a:rPr lang="en-US" altLang="ko-KR" sz="1400" dirty="0">
                <a:latin typeface="Tahoma" panose="020B0604030504040204" pitchFamily="34" charset="0"/>
                <a:ea typeface="Gulim" panose="020B0600000101010101" pitchFamily="34" charset="-127"/>
              </a:rPr>
              <a:t>Swapping O and O</a:t>
            </a:r>
            <a:r>
              <a:rPr lang="en-US" altLang="ko-KR" sz="1400" baseline="-25000" dirty="0">
                <a:latin typeface="Tahoma" panose="020B0604030504040204" pitchFamily="34" charset="0"/>
                <a:ea typeface="Gulim" panose="020B0600000101010101" pitchFamily="34" charset="-127"/>
              </a:rPr>
              <a:t>ramdom </a:t>
            </a:r>
            <a:endParaRPr lang="en-US" altLang="ko-KR" sz="1400" baseline="-25000" dirty="0">
              <a:latin typeface="Tahoma" panose="020B0604030504040204" pitchFamily="34" charset="0"/>
              <a:ea typeface="Gulim" panose="020B0600000101010101" pitchFamily="34" charset="-127"/>
            </a:endParaRPr>
          </a:p>
          <a:p>
            <a:pPr algn="l">
              <a:spcBef>
                <a:spcPct val="50000"/>
              </a:spcBef>
            </a:pPr>
            <a:r>
              <a:rPr lang="en-US" altLang="ko-KR" sz="1400" dirty="0">
                <a:latin typeface="Tahoma" panose="020B0604030504040204" pitchFamily="34" charset="0"/>
                <a:ea typeface="Gulim" panose="020B0600000101010101" pitchFamily="34" charset="-127"/>
              </a:rPr>
              <a:t>If quality is improved.</a:t>
            </a:r>
            <a:endParaRPr lang="en-US" altLang="ko-KR" sz="1400" dirty="0">
              <a:latin typeface="Tahoma" panose="020B0604030504040204" pitchFamily="34" charset="0"/>
              <a:ea typeface="Gulim" panose="020B0600000101010101" pitchFamily="34" charset="-127"/>
            </a:endParaRPr>
          </a:p>
        </p:txBody>
      </p:sp>
      <p:sp>
        <p:nvSpPr>
          <p:cNvPr id="82021" name="Text Box 2233"/>
          <p:cNvSpPr txBox="1"/>
          <p:nvPr/>
        </p:nvSpPr>
        <p:spPr>
          <a:xfrm>
            <a:off x="228600" y="4724400"/>
            <a:ext cx="1981200" cy="1158875"/>
          </a:xfrm>
          <a:prstGeom prst="rect">
            <a:avLst/>
          </a:prstGeom>
          <a:noFill/>
          <a:ln w="9525">
            <a:noFill/>
          </a:ln>
        </p:spPr>
        <p:txBody>
          <a:bodyPr>
            <a:spAutoFit/>
          </a:bodyPr>
          <a:p>
            <a:pPr algn="l">
              <a:spcBef>
                <a:spcPct val="50000"/>
              </a:spcBef>
            </a:pPr>
            <a:r>
              <a:rPr lang="en-US" altLang="ko-KR" sz="2000" b="1" dirty="0">
                <a:latin typeface="Tahoma" panose="020B0604030504040204" pitchFamily="34" charset="0"/>
                <a:ea typeface="Gulim" panose="020B0600000101010101" pitchFamily="34" charset="-127"/>
              </a:rPr>
              <a:t>Do loop</a:t>
            </a:r>
            <a:endParaRPr lang="en-US" altLang="ko-KR" sz="2000" b="1" dirty="0">
              <a:latin typeface="Tahoma" panose="020B0604030504040204" pitchFamily="34" charset="0"/>
              <a:ea typeface="Gulim" panose="020B0600000101010101" pitchFamily="34" charset="-127"/>
            </a:endParaRPr>
          </a:p>
          <a:p>
            <a:pPr algn="l">
              <a:spcBef>
                <a:spcPct val="50000"/>
              </a:spcBef>
            </a:pPr>
            <a:r>
              <a:rPr lang="en-US" altLang="ko-KR" sz="2000" b="1" dirty="0">
                <a:latin typeface="Tahoma" panose="020B0604030504040204" pitchFamily="34" charset="0"/>
                <a:ea typeface="Gulim" panose="020B0600000101010101" pitchFamily="34" charset="-127"/>
              </a:rPr>
              <a:t>Until no change</a:t>
            </a:r>
            <a:endParaRPr lang="en-US" altLang="ko-KR" sz="2000" b="1" dirty="0">
              <a:latin typeface="Tahoma" panose="020B0604030504040204" pitchFamily="34" charset="0"/>
              <a:ea typeface="Gulim" panose="020B0600000101010101" pitchFamily="34" charset="-127"/>
            </a:endParaRPr>
          </a:p>
        </p:txBody>
      </p:sp>
      <p:grpSp>
        <p:nvGrpSpPr>
          <p:cNvPr id="82022" name="Group 2234"/>
          <p:cNvGrpSpPr/>
          <p:nvPr/>
        </p:nvGrpSpPr>
        <p:grpSpPr>
          <a:xfrm>
            <a:off x="6821488" y="4611688"/>
            <a:ext cx="2176462" cy="2035175"/>
            <a:chOff x="4297" y="2905"/>
            <a:chExt cx="1371" cy="1282"/>
          </a:xfrm>
        </p:grpSpPr>
        <p:sp>
          <p:nvSpPr>
            <p:cNvPr id="82023" name="Rectangle 2235"/>
            <p:cNvSpPr/>
            <p:nvPr/>
          </p:nvSpPr>
          <p:spPr>
            <a:xfrm>
              <a:off x="4297" y="2905"/>
              <a:ext cx="1371" cy="1282"/>
            </a:xfrm>
            <a:prstGeom prst="rect">
              <a:avLst/>
            </a:prstGeom>
            <a:solidFill>
              <a:srgbClr val="FFFFFF"/>
            </a:solidFill>
            <a:ln w="0"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sp>
          <p:nvSpPr>
            <p:cNvPr id="82024" name="Rectangle 2236"/>
            <p:cNvSpPr/>
            <p:nvPr/>
          </p:nvSpPr>
          <p:spPr>
            <a:xfrm>
              <a:off x="4440" y="3009"/>
              <a:ext cx="1154" cy="1018"/>
            </a:xfrm>
            <a:prstGeom prst="rect">
              <a:avLst/>
            </a:prstGeom>
            <a:solidFill>
              <a:srgbClr val="FFFFFF"/>
            </a:solidFill>
            <a:ln w="9525">
              <a:noFill/>
            </a:ln>
          </p:spPr>
          <p:txBody>
            <a:bodyPr/>
            <a:p>
              <a:endParaRPr dirty="0">
                <a:latin typeface="Tahoma" panose="020B0604030504040204" pitchFamily="34" charset="0"/>
              </a:endParaRPr>
            </a:p>
          </p:txBody>
        </p:sp>
        <p:sp>
          <p:nvSpPr>
            <p:cNvPr id="82025" name="Line 2237"/>
            <p:cNvSpPr/>
            <p:nvPr/>
          </p:nvSpPr>
          <p:spPr>
            <a:xfrm>
              <a:off x="4440" y="3928"/>
              <a:ext cx="1154" cy="1"/>
            </a:xfrm>
            <a:prstGeom prst="line">
              <a:avLst/>
            </a:prstGeom>
            <a:ln w="0" cap="flat" cmpd="sng">
              <a:solidFill>
                <a:srgbClr val="000000"/>
              </a:solidFill>
              <a:prstDash val="solid"/>
              <a:headEnd type="none" w="med" len="med"/>
              <a:tailEnd type="none" w="med" len="med"/>
            </a:ln>
          </p:spPr>
        </p:sp>
        <p:sp>
          <p:nvSpPr>
            <p:cNvPr id="82026" name="Line 2238"/>
            <p:cNvSpPr/>
            <p:nvPr/>
          </p:nvSpPr>
          <p:spPr>
            <a:xfrm>
              <a:off x="4440" y="3823"/>
              <a:ext cx="1154" cy="1"/>
            </a:xfrm>
            <a:prstGeom prst="line">
              <a:avLst/>
            </a:prstGeom>
            <a:ln w="0" cap="flat" cmpd="sng">
              <a:solidFill>
                <a:srgbClr val="000000"/>
              </a:solidFill>
              <a:prstDash val="solid"/>
              <a:headEnd type="none" w="med" len="med"/>
              <a:tailEnd type="none" w="med" len="med"/>
            </a:ln>
          </p:spPr>
        </p:sp>
        <p:sp>
          <p:nvSpPr>
            <p:cNvPr id="82027" name="Line 2239"/>
            <p:cNvSpPr/>
            <p:nvPr/>
          </p:nvSpPr>
          <p:spPr>
            <a:xfrm>
              <a:off x="4440" y="3725"/>
              <a:ext cx="1154" cy="1"/>
            </a:xfrm>
            <a:prstGeom prst="line">
              <a:avLst/>
            </a:prstGeom>
            <a:ln w="0" cap="flat" cmpd="sng">
              <a:solidFill>
                <a:srgbClr val="000000"/>
              </a:solidFill>
              <a:prstDash val="solid"/>
              <a:headEnd type="none" w="med" len="med"/>
              <a:tailEnd type="none" w="med" len="med"/>
            </a:ln>
          </p:spPr>
        </p:sp>
        <p:sp>
          <p:nvSpPr>
            <p:cNvPr id="82028" name="Line 2240"/>
            <p:cNvSpPr/>
            <p:nvPr/>
          </p:nvSpPr>
          <p:spPr>
            <a:xfrm>
              <a:off x="4440" y="3620"/>
              <a:ext cx="1154" cy="1"/>
            </a:xfrm>
            <a:prstGeom prst="line">
              <a:avLst/>
            </a:prstGeom>
            <a:ln w="0" cap="flat" cmpd="sng">
              <a:solidFill>
                <a:srgbClr val="000000"/>
              </a:solidFill>
              <a:prstDash val="solid"/>
              <a:headEnd type="none" w="med" len="med"/>
              <a:tailEnd type="none" w="med" len="med"/>
            </a:ln>
          </p:spPr>
        </p:sp>
        <p:sp>
          <p:nvSpPr>
            <p:cNvPr id="82029" name="Line 2241"/>
            <p:cNvSpPr/>
            <p:nvPr/>
          </p:nvSpPr>
          <p:spPr>
            <a:xfrm>
              <a:off x="4440" y="3521"/>
              <a:ext cx="1154" cy="1"/>
            </a:xfrm>
            <a:prstGeom prst="line">
              <a:avLst/>
            </a:prstGeom>
            <a:ln w="0" cap="flat" cmpd="sng">
              <a:solidFill>
                <a:srgbClr val="000000"/>
              </a:solidFill>
              <a:prstDash val="solid"/>
              <a:headEnd type="none" w="med" len="med"/>
              <a:tailEnd type="none" w="med" len="med"/>
            </a:ln>
          </p:spPr>
        </p:sp>
        <p:sp>
          <p:nvSpPr>
            <p:cNvPr id="82030" name="Line 2242"/>
            <p:cNvSpPr/>
            <p:nvPr/>
          </p:nvSpPr>
          <p:spPr>
            <a:xfrm>
              <a:off x="4440" y="3416"/>
              <a:ext cx="1154" cy="1"/>
            </a:xfrm>
            <a:prstGeom prst="line">
              <a:avLst/>
            </a:prstGeom>
            <a:ln w="0" cap="flat" cmpd="sng">
              <a:solidFill>
                <a:srgbClr val="000000"/>
              </a:solidFill>
              <a:prstDash val="solid"/>
              <a:headEnd type="none" w="med" len="med"/>
              <a:tailEnd type="none" w="med" len="med"/>
            </a:ln>
          </p:spPr>
        </p:sp>
        <p:sp>
          <p:nvSpPr>
            <p:cNvPr id="82031" name="Line 2243"/>
            <p:cNvSpPr/>
            <p:nvPr/>
          </p:nvSpPr>
          <p:spPr>
            <a:xfrm>
              <a:off x="4440" y="3318"/>
              <a:ext cx="1154" cy="1"/>
            </a:xfrm>
            <a:prstGeom prst="line">
              <a:avLst/>
            </a:prstGeom>
            <a:ln w="0" cap="flat" cmpd="sng">
              <a:solidFill>
                <a:srgbClr val="000000"/>
              </a:solidFill>
              <a:prstDash val="solid"/>
              <a:headEnd type="none" w="med" len="med"/>
              <a:tailEnd type="none" w="med" len="med"/>
            </a:ln>
          </p:spPr>
        </p:sp>
        <p:sp>
          <p:nvSpPr>
            <p:cNvPr id="82032" name="Line 2244"/>
            <p:cNvSpPr/>
            <p:nvPr/>
          </p:nvSpPr>
          <p:spPr>
            <a:xfrm>
              <a:off x="4440" y="3213"/>
              <a:ext cx="1154" cy="1"/>
            </a:xfrm>
            <a:prstGeom prst="line">
              <a:avLst/>
            </a:prstGeom>
            <a:ln w="0" cap="flat" cmpd="sng">
              <a:solidFill>
                <a:srgbClr val="000000"/>
              </a:solidFill>
              <a:prstDash val="solid"/>
              <a:headEnd type="none" w="med" len="med"/>
              <a:tailEnd type="none" w="med" len="med"/>
            </a:ln>
          </p:spPr>
        </p:sp>
        <p:sp>
          <p:nvSpPr>
            <p:cNvPr id="82033" name="Line 2245"/>
            <p:cNvSpPr/>
            <p:nvPr/>
          </p:nvSpPr>
          <p:spPr>
            <a:xfrm>
              <a:off x="4440" y="3114"/>
              <a:ext cx="1154" cy="1"/>
            </a:xfrm>
            <a:prstGeom prst="line">
              <a:avLst/>
            </a:prstGeom>
            <a:ln w="0" cap="flat" cmpd="sng">
              <a:solidFill>
                <a:srgbClr val="000000"/>
              </a:solidFill>
              <a:prstDash val="solid"/>
              <a:headEnd type="none" w="med" len="med"/>
              <a:tailEnd type="none" w="med" len="med"/>
            </a:ln>
          </p:spPr>
        </p:sp>
        <p:sp>
          <p:nvSpPr>
            <p:cNvPr id="82034" name="Line 2246"/>
            <p:cNvSpPr/>
            <p:nvPr/>
          </p:nvSpPr>
          <p:spPr>
            <a:xfrm>
              <a:off x="4440" y="3009"/>
              <a:ext cx="1154" cy="1"/>
            </a:xfrm>
            <a:prstGeom prst="line">
              <a:avLst/>
            </a:prstGeom>
            <a:ln w="0" cap="flat" cmpd="sng">
              <a:solidFill>
                <a:srgbClr val="000000"/>
              </a:solidFill>
              <a:prstDash val="solid"/>
              <a:headEnd type="none" w="med" len="med"/>
              <a:tailEnd type="none" w="med" len="med"/>
            </a:ln>
          </p:spPr>
        </p:sp>
        <p:sp>
          <p:nvSpPr>
            <p:cNvPr id="82035" name="Line 2247"/>
            <p:cNvSpPr/>
            <p:nvPr/>
          </p:nvSpPr>
          <p:spPr>
            <a:xfrm>
              <a:off x="4559" y="3009"/>
              <a:ext cx="1" cy="1018"/>
            </a:xfrm>
            <a:prstGeom prst="line">
              <a:avLst/>
            </a:prstGeom>
            <a:ln w="0" cap="flat" cmpd="sng">
              <a:solidFill>
                <a:srgbClr val="000000"/>
              </a:solidFill>
              <a:prstDash val="solid"/>
              <a:headEnd type="none" w="med" len="med"/>
              <a:tailEnd type="none" w="med" len="med"/>
            </a:ln>
          </p:spPr>
        </p:sp>
        <p:sp>
          <p:nvSpPr>
            <p:cNvPr id="82036" name="Line 2248"/>
            <p:cNvSpPr/>
            <p:nvPr/>
          </p:nvSpPr>
          <p:spPr>
            <a:xfrm>
              <a:off x="4671" y="3009"/>
              <a:ext cx="1" cy="1018"/>
            </a:xfrm>
            <a:prstGeom prst="line">
              <a:avLst/>
            </a:prstGeom>
            <a:ln w="0" cap="flat" cmpd="sng">
              <a:solidFill>
                <a:srgbClr val="000000"/>
              </a:solidFill>
              <a:prstDash val="solid"/>
              <a:headEnd type="none" w="med" len="med"/>
              <a:tailEnd type="none" w="med" len="med"/>
            </a:ln>
          </p:spPr>
        </p:sp>
        <p:sp>
          <p:nvSpPr>
            <p:cNvPr id="82037" name="Line 2249"/>
            <p:cNvSpPr/>
            <p:nvPr/>
          </p:nvSpPr>
          <p:spPr>
            <a:xfrm>
              <a:off x="4789" y="3009"/>
              <a:ext cx="1" cy="1018"/>
            </a:xfrm>
            <a:prstGeom prst="line">
              <a:avLst/>
            </a:prstGeom>
            <a:ln w="0" cap="flat" cmpd="sng">
              <a:solidFill>
                <a:srgbClr val="000000"/>
              </a:solidFill>
              <a:prstDash val="solid"/>
              <a:headEnd type="none" w="med" len="med"/>
              <a:tailEnd type="none" w="med" len="med"/>
            </a:ln>
          </p:spPr>
        </p:sp>
        <p:sp>
          <p:nvSpPr>
            <p:cNvPr id="82038" name="Line 2250"/>
            <p:cNvSpPr/>
            <p:nvPr/>
          </p:nvSpPr>
          <p:spPr>
            <a:xfrm>
              <a:off x="4902" y="3009"/>
              <a:ext cx="1" cy="1018"/>
            </a:xfrm>
            <a:prstGeom prst="line">
              <a:avLst/>
            </a:prstGeom>
            <a:ln w="0" cap="flat" cmpd="sng">
              <a:solidFill>
                <a:srgbClr val="000000"/>
              </a:solidFill>
              <a:prstDash val="solid"/>
              <a:headEnd type="none" w="med" len="med"/>
              <a:tailEnd type="none" w="med" len="med"/>
            </a:ln>
          </p:spPr>
        </p:sp>
        <p:sp>
          <p:nvSpPr>
            <p:cNvPr id="82039" name="Line 2251"/>
            <p:cNvSpPr/>
            <p:nvPr/>
          </p:nvSpPr>
          <p:spPr>
            <a:xfrm>
              <a:off x="5020" y="3009"/>
              <a:ext cx="1" cy="1018"/>
            </a:xfrm>
            <a:prstGeom prst="line">
              <a:avLst/>
            </a:prstGeom>
            <a:ln w="0" cap="flat" cmpd="sng">
              <a:solidFill>
                <a:srgbClr val="000000"/>
              </a:solidFill>
              <a:prstDash val="solid"/>
              <a:headEnd type="none" w="med" len="med"/>
              <a:tailEnd type="none" w="med" len="med"/>
            </a:ln>
          </p:spPr>
        </p:sp>
        <p:sp>
          <p:nvSpPr>
            <p:cNvPr id="82040" name="Line 2252"/>
            <p:cNvSpPr/>
            <p:nvPr/>
          </p:nvSpPr>
          <p:spPr>
            <a:xfrm>
              <a:off x="5132" y="3009"/>
              <a:ext cx="1" cy="1018"/>
            </a:xfrm>
            <a:prstGeom prst="line">
              <a:avLst/>
            </a:prstGeom>
            <a:ln w="0" cap="flat" cmpd="sng">
              <a:solidFill>
                <a:srgbClr val="000000"/>
              </a:solidFill>
              <a:prstDash val="solid"/>
              <a:headEnd type="none" w="med" len="med"/>
              <a:tailEnd type="none" w="med" len="med"/>
            </a:ln>
          </p:spPr>
        </p:sp>
        <p:sp>
          <p:nvSpPr>
            <p:cNvPr id="82041" name="Line 2253"/>
            <p:cNvSpPr/>
            <p:nvPr/>
          </p:nvSpPr>
          <p:spPr>
            <a:xfrm>
              <a:off x="5251" y="3009"/>
              <a:ext cx="1" cy="1018"/>
            </a:xfrm>
            <a:prstGeom prst="line">
              <a:avLst/>
            </a:prstGeom>
            <a:ln w="0" cap="flat" cmpd="sng">
              <a:solidFill>
                <a:srgbClr val="000000"/>
              </a:solidFill>
              <a:prstDash val="solid"/>
              <a:headEnd type="none" w="med" len="med"/>
              <a:tailEnd type="none" w="med" len="med"/>
            </a:ln>
          </p:spPr>
        </p:sp>
        <p:sp>
          <p:nvSpPr>
            <p:cNvPr id="82042" name="Line 2254"/>
            <p:cNvSpPr/>
            <p:nvPr/>
          </p:nvSpPr>
          <p:spPr>
            <a:xfrm>
              <a:off x="5363" y="3009"/>
              <a:ext cx="1" cy="1018"/>
            </a:xfrm>
            <a:prstGeom prst="line">
              <a:avLst/>
            </a:prstGeom>
            <a:ln w="0" cap="flat" cmpd="sng">
              <a:solidFill>
                <a:srgbClr val="000000"/>
              </a:solidFill>
              <a:prstDash val="solid"/>
              <a:headEnd type="none" w="med" len="med"/>
              <a:tailEnd type="none" w="med" len="med"/>
            </a:ln>
          </p:spPr>
        </p:sp>
        <p:sp>
          <p:nvSpPr>
            <p:cNvPr id="82043" name="Line 2255"/>
            <p:cNvSpPr/>
            <p:nvPr/>
          </p:nvSpPr>
          <p:spPr>
            <a:xfrm>
              <a:off x="5481" y="3009"/>
              <a:ext cx="1" cy="1018"/>
            </a:xfrm>
            <a:prstGeom prst="line">
              <a:avLst/>
            </a:prstGeom>
            <a:ln w="0" cap="flat" cmpd="sng">
              <a:solidFill>
                <a:srgbClr val="000000"/>
              </a:solidFill>
              <a:prstDash val="solid"/>
              <a:headEnd type="none" w="med" len="med"/>
              <a:tailEnd type="none" w="med" len="med"/>
            </a:ln>
          </p:spPr>
        </p:sp>
        <p:sp>
          <p:nvSpPr>
            <p:cNvPr id="82044" name="Line 2256"/>
            <p:cNvSpPr/>
            <p:nvPr/>
          </p:nvSpPr>
          <p:spPr>
            <a:xfrm>
              <a:off x="5594" y="3009"/>
              <a:ext cx="1" cy="1018"/>
            </a:xfrm>
            <a:prstGeom prst="line">
              <a:avLst/>
            </a:prstGeom>
            <a:ln w="0" cap="flat" cmpd="sng">
              <a:solidFill>
                <a:srgbClr val="000000"/>
              </a:solidFill>
              <a:prstDash val="solid"/>
              <a:headEnd type="none" w="med" len="med"/>
              <a:tailEnd type="none" w="med" len="med"/>
            </a:ln>
          </p:spPr>
        </p:sp>
        <p:sp>
          <p:nvSpPr>
            <p:cNvPr id="82045" name="Rectangle 2257"/>
            <p:cNvSpPr/>
            <p:nvPr/>
          </p:nvSpPr>
          <p:spPr>
            <a:xfrm>
              <a:off x="4440" y="3009"/>
              <a:ext cx="1154" cy="1018"/>
            </a:xfrm>
            <a:prstGeom prst="rect">
              <a:avLst/>
            </a:prstGeom>
            <a:noFill/>
            <a:ln w="9525"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sp>
          <p:nvSpPr>
            <p:cNvPr id="82046" name="Line 2258"/>
            <p:cNvSpPr/>
            <p:nvPr/>
          </p:nvSpPr>
          <p:spPr>
            <a:xfrm>
              <a:off x="4440" y="3009"/>
              <a:ext cx="1" cy="1018"/>
            </a:xfrm>
            <a:prstGeom prst="line">
              <a:avLst/>
            </a:prstGeom>
            <a:ln w="0" cap="flat" cmpd="sng">
              <a:solidFill>
                <a:srgbClr val="000000"/>
              </a:solidFill>
              <a:prstDash val="solid"/>
              <a:headEnd type="none" w="med" len="med"/>
              <a:tailEnd type="none" w="med" len="med"/>
            </a:ln>
          </p:spPr>
        </p:sp>
        <p:sp>
          <p:nvSpPr>
            <p:cNvPr id="82047" name="Line 2259"/>
            <p:cNvSpPr/>
            <p:nvPr/>
          </p:nvSpPr>
          <p:spPr>
            <a:xfrm>
              <a:off x="4428" y="4027"/>
              <a:ext cx="12" cy="1"/>
            </a:xfrm>
            <a:prstGeom prst="line">
              <a:avLst/>
            </a:prstGeom>
            <a:ln w="0" cap="flat" cmpd="sng">
              <a:solidFill>
                <a:srgbClr val="000000"/>
              </a:solidFill>
              <a:prstDash val="solid"/>
              <a:headEnd type="none" w="med" len="med"/>
              <a:tailEnd type="none" w="med" len="med"/>
            </a:ln>
          </p:spPr>
        </p:sp>
        <p:sp>
          <p:nvSpPr>
            <p:cNvPr id="82048" name="Line 2260"/>
            <p:cNvSpPr/>
            <p:nvPr/>
          </p:nvSpPr>
          <p:spPr>
            <a:xfrm>
              <a:off x="4428" y="3928"/>
              <a:ext cx="12" cy="1"/>
            </a:xfrm>
            <a:prstGeom prst="line">
              <a:avLst/>
            </a:prstGeom>
            <a:ln w="0" cap="flat" cmpd="sng">
              <a:solidFill>
                <a:srgbClr val="000000"/>
              </a:solidFill>
              <a:prstDash val="solid"/>
              <a:headEnd type="none" w="med" len="med"/>
              <a:tailEnd type="none" w="med" len="med"/>
            </a:ln>
          </p:spPr>
        </p:sp>
        <p:sp>
          <p:nvSpPr>
            <p:cNvPr id="82049" name="Line 2261"/>
            <p:cNvSpPr/>
            <p:nvPr/>
          </p:nvSpPr>
          <p:spPr>
            <a:xfrm>
              <a:off x="4428" y="3823"/>
              <a:ext cx="12" cy="1"/>
            </a:xfrm>
            <a:prstGeom prst="line">
              <a:avLst/>
            </a:prstGeom>
            <a:ln w="0" cap="flat" cmpd="sng">
              <a:solidFill>
                <a:srgbClr val="000000"/>
              </a:solidFill>
              <a:prstDash val="solid"/>
              <a:headEnd type="none" w="med" len="med"/>
              <a:tailEnd type="none" w="med" len="med"/>
            </a:ln>
          </p:spPr>
        </p:sp>
        <p:sp>
          <p:nvSpPr>
            <p:cNvPr id="82050" name="Line 2262"/>
            <p:cNvSpPr/>
            <p:nvPr/>
          </p:nvSpPr>
          <p:spPr>
            <a:xfrm>
              <a:off x="4428" y="3725"/>
              <a:ext cx="12" cy="1"/>
            </a:xfrm>
            <a:prstGeom prst="line">
              <a:avLst/>
            </a:prstGeom>
            <a:ln w="0" cap="flat" cmpd="sng">
              <a:solidFill>
                <a:srgbClr val="000000"/>
              </a:solidFill>
              <a:prstDash val="solid"/>
              <a:headEnd type="none" w="med" len="med"/>
              <a:tailEnd type="none" w="med" len="med"/>
            </a:ln>
          </p:spPr>
        </p:sp>
        <p:sp>
          <p:nvSpPr>
            <p:cNvPr id="82051" name="Line 2263"/>
            <p:cNvSpPr/>
            <p:nvPr/>
          </p:nvSpPr>
          <p:spPr>
            <a:xfrm>
              <a:off x="4428" y="3620"/>
              <a:ext cx="12" cy="1"/>
            </a:xfrm>
            <a:prstGeom prst="line">
              <a:avLst/>
            </a:prstGeom>
            <a:ln w="0" cap="flat" cmpd="sng">
              <a:solidFill>
                <a:srgbClr val="000000"/>
              </a:solidFill>
              <a:prstDash val="solid"/>
              <a:headEnd type="none" w="med" len="med"/>
              <a:tailEnd type="none" w="med" len="med"/>
            </a:ln>
          </p:spPr>
        </p:sp>
        <p:sp>
          <p:nvSpPr>
            <p:cNvPr id="82052" name="Line 2264"/>
            <p:cNvSpPr/>
            <p:nvPr/>
          </p:nvSpPr>
          <p:spPr>
            <a:xfrm>
              <a:off x="4428" y="3521"/>
              <a:ext cx="12" cy="1"/>
            </a:xfrm>
            <a:prstGeom prst="line">
              <a:avLst/>
            </a:prstGeom>
            <a:ln w="0" cap="flat" cmpd="sng">
              <a:solidFill>
                <a:srgbClr val="000000"/>
              </a:solidFill>
              <a:prstDash val="solid"/>
              <a:headEnd type="none" w="med" len="med"/>
              <a:tailEnd type="none" w="med" len="med"/>
            </a:ln>
          </p:spPr>
        </p:sp>
        <p:sp>
          <p:nvSpPr>
            <p:cNvPr id="82053" name="Line 2265"/>
            <p:cNvSpPr/>
            <p:nvPr/>
          </p:nvSpPr>
          <p:spPr>
            <a:xfrm>
              <a:off x="4428" y="3416"/>
              <a:ext cx="12" cy="1"/>
            </a:xfrm>
            <a:prstGeom prst="line">
              <a:avLst/>
            </a:prstGeom>
            <a:ln w="0" cap="flat" cmpd="sng">
              <a:solidFill>
                <a:srgbClr val="000000"/>
              </a:solidFill>
              <a:prstDash val="solid"/>
              <a:headEnd type="none" w="med" len="med"/>
              <a:tailEnd type="none" w="med" len="med"/>
            </a:ln>
          </p:spPr>
        </p:sp>
        <p:sp>
          <p:nvSpPr>
            <p:cNvPr id="82054" name="Line 2266"/>
            <p:cNvSpPr/>
            <p:nvPr/>
          </p:nvSpPr>
          <p:spPr>
            <a:xfrm>
              <a:off x="4428" y="3318"/>
              <a:ext cx="12" cy="1"/>
            </a:xfrm>
            <a:prstGeom prst="line">
              <a:avLst/>
            </a:prstGeom>
            <a:ln w="0" cap="flat" cmpd="sng">
              <a:solidFill>
                <a:srgbClr val="000000"/>
              </a:solidFill>
              <a:prstDash val="solid"/>
              <a:headEnd type="none" w="med" len="med"/>
              <a:tailEnd type="none" w="med" len="med"/>
            </a:ln>
          </p:spPr>
        </p:sp>
        <p:sp>
          <p:nvSpPr>
            <p:cNvPr id="82055" name="Line 2267"/>
            <p:cNvSpPr/>
            <p:nvPr/>
          </p:nvSpPr>
          <p:spPr>
            <a:xfrm>
              <a:off x="4428" y="3213"/>
              <a:ext cx="12" cy="1"/>
            </a:xfrm>
            <a:prstGeom prst="line">
              <a:avLst/>
            </a:prstGeom>
            <a:ln w="0" cap="flat" cmpd="sng">
              <a:solidFill>
                <a:srgbClr val="000000"/>
              </a:solidFill>
              <a:prstDash val="solid"/>
              <a:headEnd type="none" w="med" len="med"/>
              <a:tailEnd type="none" w="med" len="med"/>
            </a:ln>
          </p:spPr>
        </p:sp>
        <p:sp>
          <p:nvSpPr>
            <p:cNvPr id="82056" name="Line 2268"/>
            <p:cNvSpPr/>
            <p:nvPr/>
          </p:nvSpPr>
          <p:spPr>
            <a:xfrm>
              <a:off x="4428" y="3114"/>
              <a:ext cx="12" cy="1"/>
            </a:xfrm>
            <a:prstGeom prst="line">
              <a:avLst/>
            </a:prstGeom>
            <a:ln w="0" cap="flat" cmpd="sng">
              <a:solidFill>
                <a:srgbClr val="000000"/>
              </a:solidFill>
              <a:prstDash val="solid"/>
              <a:headEnd type="none" w="med" len="med"/>
              <a:tailEnd type="none" w="med" len="med"/>
            </a:ln>
          </p:spPr>
        </p:sp>
        <p:sp>
          <p:nvSpPr>
            <p:cNvPr id="82057" name="Line 2269"/>
            <p:cNvSpPr/>
            <p:nvPr/>
          </p:nvSpPr>
          <p:spPr>
            <a:xfrm>
              <a:off x="4428" y="3009"/>
              <a:ext cx="12" cy="1"/>
            </a:xfrm>
            <a:prstGeom prst="line">
              <a:avLst/>
            </a:prstGeom>
            <a:ln w="0" cap="flat" cmpd="sng">
              <a:solidFill>
                <a:srgbClr val="000000"/>
              </a:solidFill>
              <a:prstDash val="solid"/>
              <a:headEnd type="none" w="med" len="med"/>
              <a:tailEnd type="none" w="med" len="med"/>
            </a:ln>
          </p:spPr>
        </p:sp>
        <p:sp>
          <p:nvSpPr>
            <p:cNvPr id="82058" name="Line 2270"/>
            <p:cNvSpPr/>
            <p:nvPr/>
          </p:nvSpPr>
          <p:spPr>
            <a:xfrm>
              <a:off x="4440" y="4027"/>
              <a:ext cx="1154" cy="1"/>
            </a:xfrm>
            <a:prstGeom prst="line">
              <a:avLst/>
            </a:prstGeom>
            <a:ln w="0" cap="flat" cmpd="sng">
              <a:solidFill>
                <a:srgbClr val="000000"/>
              </a:solidFill>
              <a:prstDash val="solid"/>
              <a:headEnd type="none" w="med" len="med"/>
              <a:tailEnd type="none" w="med" len="med"/>
            </a:ln>
          </p:spPr>
        </p:sp>
        <p:sp>
          <p:nvSpPr>
            <p:cNvPr id="82059" name="Line 2271"/>
            <p:cNvSpPr/>
            <p:nvPr/>
          </p:nvSpPr>
          <p:spPr>
            <a:xfrm flipV="1">
              <a:off x="4440" y="4027"/>
              <a:ext cx="1" cy="12"/>
            </a:xfrm>
            <a:prstGeom prst="line">
              <a:avLst/>
            </a:prstGeom>
            <a:ln w="0" cap="flat" cmpd="sng">
              <a:solidFill>
                <a:srgbClr val="000000"/>
              </a:solidFill>
              <a:prstDash val="solid"/>
              <a:headEnd type="none" w="med" len="med"/>
              <a:tailEnd type="none" w="med" len="med"/>
            </a:ln>
          </p:spPr>
        </p:sp>
        <p:sp>
          <p:nvSpPr>
            <p:cNvPr id="82060" name="Line 2272"/>
            <p:cNvSpPr/>
            <p:nvPr/>
          </p:nvSpPr>
          <p:spPr>
            <a:xfrm flipV="1">
              <a:off x="4559" y="4027"/>
              <a:ext cx="1" cy="12"/>
            </a:xfrm>
            <a:prstGeom prst="line">
              <a:avLst/>
            </a:prstGeom>
            <a:ln w="0" cap="flat" cmpd="sng">
              <a:solidFill>
                <a:srgbClr val="000000"/>
              </a:solidFill>
              <a:prstDash val="solid"/>
              <a:headEnd type="none" w="med" len="med"/>
              <a:tailEnd type="none" w="med" len="med"/>
            </a:ln>
          </p:spPr>
        </p:sp>
        <p:sp>
          <p:nvSpPr>
            <p:cNvPr id="82061" name="Line 2273"/>
            <p:cNvSpPr/>
            <p:nvPr/>
          </p:nvSpPr>
          <p:spPr>
            <a:xfrm flipV="1">
              <a:off x="4671" y="4027"/>
              <a:ext cx="1" cy="12"/>
            </a:xfrm>
            <a:prstGeom prst="line">
              <a:avLst/>
            </a:prstGeom>
            <a:ln w="0" cap="flat" cmpd="sng">
              <a:solidFill>
                <a:srgbClr val="000000"/>
              </a:solidFill>
              <a:prstDash val="solid"/>
              <a:headEnd type="none" w="med" len="med"/>
              <a:tailEnd type="none" w="med" len="med"/>
            </a:ln>
          </p:spPr>
        </p:sp>
        <p:sp>
          <p:nvSpPr>
            <p:cNvPr id="82062" name="Line 2274"/>
            <p:cNvSpPr/>
            <p:nvPr/>
          </p:nvSpPr>
          <p:spPr>
            <a:xfrm flipV="1">
              <a:off x="4789" y="4027"/>
              <a:ext cx="1" cy="12"/>
            </a:xfrm>
            <a:prstGeom prst="line">
              <a:avLst/>
            </a:prstGeom>
            <a:ln w="0" cap="flat" cmpd="sng">
              <a:solidFill>
                <a:srgbClr val="000000"/>
              </a:solidFill>
              <a:prstDash val="solid"/>
              <a:headEnd type="none" w="med" len="med"/>
              <a:tailEnd type="none" w="med" len="med"/>
            </a:ln>
          </p:spPr>
        </p:sp>
        <p:sp>
          <p:nvSpPr>
            <p:cNvPr id="82063" name="Line 2275"/>
            <p:cNvSpPr/>
            <p:nvPr/>
          </p:nvSpPr>
          <p:spPr>
            <a:xfrm flipV="1">
              <a:off x="4902" y="4027"/>
              <a:ext cx="1" cy="12"/>
            </a:xfrm>
            <a:prstGeom prst="line">
              <a:avLst/>
            </a:prstGeom>
            <a:ln w="0" cap="flat" cmpd="sng">
              <a:solidFill>
                <a:srgbClr val="000000"/>
              </a:solidFill>
              <a:prstDash val="solid"/>
              <a:headEnd type="none" w="med" len="med"/>
              <a:tailEnd type="none" w="med" len="med"/>
            </a:ln>
          </p:spPr>
        </p:sp>
        <p:sp>
          <p:nvSpPr>
            <p:cNvPr id="82064" name="Line 2276"/>
            <p:cNvSpPr/>
            <p:nvPr/>
          </p:nvSpPr>
          <p:spPr>
            <a:xfrm flipV="1">
              <a:off x="5020" y="4027"/>
              <a:ext cx="1" cy="12"/>
            </a:xfrm>
            <a:prstGeom prst="line">
              <a:avLst/>
            </a:prstGeom>
            <a:ln w="0" cap="flat" cmpd="sng">
              <a:solidFill>
                <a:srgbClr val="000000"/>
              </a:solidFill>
              <a:prstDash val="solid"/>
              <a:headEnd type="none" w="med" len="med"/>
              <a:tailEnd type="none" w="med" len="med"/>
            </a:ln>
          </p:spPr>
        </p:sp>
        <p:sp>
          <p:nvSpPr>
            <p:cNvPr id="82065" name="Line 2277"/>
            <p:cNvSpPr/>
            <p:nvPr/>
          </p:nvSpPr>
          <p:spPr>
            <a:xfrm flipV="1">
              <a:off x="5132" y="4027"/>
              <a:ext cx="1" cy="12"/>
            </a:xfrm>
            <a:prstGeom prst="line">
              <a:avLst/>
            </a:prstGeom>
            <a:ln w="0" cap="flat" cmpd="sng">
              <a:solidFill>
                <a:srgbClr val="000000"/>
              </a:solidFill>
              <a:prstDash val="solid"/>
              <a:headEnd type="none" w="med" len="med"/>
              <a:tailEnd type="none" w="med" len="med"/>
            </a:ln>
          </p:spPr>
        </p:sp>
        <p:sp>
          <p:nvSpPr>
            <p:cNvPr id="82066" name="Line 2278"/>
            <p:cNvSpPr/>
            <p:nvPr/>
          </p:nvSpPr>
          <p:spPr>
            <a:xfrm flipV="1">
              <a:off x="5251" y="4027"/>
              <a:ext cx="1" cy="12"/>
            </a:xfrm>
            <a:prstGeom prst="line">
              <a:avLst/>
            </a:prstGeom>
            <a:ln w="0" cap="flat" cmpd="sng">
              <a:solidFill>
                <a:srgbClr val="000000"/>
              </a:solidFill>
              <a:prstDash val="solid"/>
              <a:headEnd type="none" w="med" len="med"/>
              <a:tailEnd type="none" w="med" len="med"/>
            </a:ln>
          </p:spPr>
        </p:sp>
        <p:sp>
          <p:nvSpPr>
            <p:cNvPr id="82067" name="Line 2279"/>
            <p:cNvSpPr/>
            <p:nvPr/>
          </p:nvSpPr>
          <p:spPr>
            <a:xfrm flipV="1">
              <a:off x="5363" y="4027"/>
              <a:ext cx="1" cy="12"/>
            </a:xfrm>
            <a:prstGeom prst="line">
              <a:avLst/>
            </a:prstGeom>
            <a:ln w="0" cap="flat" cmpd="sng">
              <a:solidFill>
                <a:srgbClr val="000000"/>
              </a:solidFill>
              <a:prstDash val="solid"/>
              <a:headEnd type="none" w="med" len="med"/>
              <a:tailEnd type="none" w="med" len="med"/>
            </a:ln>
          </p:spPr>
        </p:sp>
        <p:sp>
          <p:nvSpPr>
            <p:cNvPr id="82068" name="Line 2280"/>
            <p:cNvSpPr/>
            <p:nvPr/>
          </p:nvSpPr>
          <p:spPr>
            <a:xfrm flipV="1">
              <a:off x="5481" y="4027"/>
              <a:ext cx="1" cy="12"/>
            </a:xfrm>
            <a:prstGeom prst="line">
              <a:avLst/>
            </a:prstGeom>
            <a:ln w="0" cap="flat" cmpd="sng">
              <a:solidFill>
                <a:srgbClr val="000000"/>
              </a:solidFill>
              <a:prstDash val="solid"/>
              <a:headEnd type="none" w="med" len="med"/>
              <a:tailEnd type="none" w="med" len="med"/>
            </a:ln>
          </p:spPr>
        </p:sp>
        <p:sp>
          <p:nvSpPr>
            <p:cNvPr id="82069" name="Line 2281"/>
            <p:cNvSpPr/>
            <p:nvPr/>
          </p:nvSpPr>
          <p:spPr>
            <a:xfrm flipV="1">
              <a:off x="5594" y="4027"/>
              <a:ext cx="1" cy="12"/>
            </a:xfrm>
            <a:prstGeom prst="line">
              <a:avLst/>
            </a:prstGeom>
            <a:ln w="0" cap="flat" cmpd="sng">
              <a:solidFill>
                <a:srgbClr val="000000"/>
              </a:solidFill>
              <a:prstDash val="solid"/>
              <a:headEnd type="none" w="med" len="med"/>
              <a:tailEnd type="none" w="med" len="med"/>
            </a:ln>
          </p:spPr>
        </p:sp>
        <p:sp>
          <p:nvSpPr>
            <p:cNvPr id="82070" name="Freeform 2282"/>
            <p:cNvSpPr/>
            <p:nvPr/>
          </p:nvSpPr>
          <p:spPr>
            <a:xfrm>
              <a:off x="4746" y="3577"/>
              <a:ext cx="87" cy="86"/>
            </a:xfrm>
            <a:custGeom>
              <a:avLst/>
              <a:gdLst>
                <a:gd name="txL" fmla="*/ 0 w 87"/>
                <a:gd name="txT" fmla="*/ 0 h 86"/>
                <a:gd name="txR" fmla="*/ 87 w 87"/>
                <a:gd name="txB" fmla="*/ 86 h 86"/>
              </a:gdLst>
              <a:ahLst/>
              <a:cxnLst>
                <a:cxn ang="0">
                  <a:pos x="43" y="0"/>
                </a:cxn>
                <a:cxn ang="0">
                  <a:pos x="87" y="43"/>
                </a:cxn>
                <a:cxn ang="0">
                  <a:pos x="43" y="86"/>
                </a:cxn>
                <a:cxn ang="0">
                  <a:pos x="0" y="43"/>
                </a:cxn>
                <a:cxn ang="0">
                  <a:pos x="43" y="0"/>
                </a:cxn>
              </a:cxnLst>
              <a:rect l="txL" t="txT" r="txR" b="txB"/>
              <a:pathLst>
                <a:path w="87" h="86">
                  <a:moveTo>
                    <a:pt x="43" y="0"/>
                  </a:moveTo>
                  <a:lnTo>
                    <a:pt x="87" y="43"/>
                  </a:lnTo>
                  <a:lnTo>
                    <a:pt x="43" y="86"/>
                  </a:lnTo>
                  <a:lnTo>
                    <a:pt x="0" y="43"/>
                  </a:lnTo>
                  <a:lnTo>
                    <a:pt x="43"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82071" name="Freeform 2283"/>
            <p:cNvSpPr/>
            <p:nvPr/>
          </p:nvSpPr>
          <p:spPr>
            <a:xfrm>
              <a:off x="4627" y="3373"/>
              <a:ext cx="88" cy="87"/>
            </a:xfrm>
            <a:custGeom>
              <a:avLst/>
              <a:gdLst>
                <a:gd name="txL" fmla="*/ 0 w 88"/>
                <a:gd name="txT" fmla="*/ 0 h 87"/>
                <a:gd name="txR" fmla="*/ 88 w 88"/>
                <a:gd name="txB" fmla="*/ 87 h 87"/>
              </a:gdLst>
              <a:ahLst/>
              <a:cxnLst>
                <a:cxn ang="0">
                  <a:pos x="44" y="0"/>
                </a:cxn>
                <a:cxn ang="0">
                  <a:pos x="88" y="43"/>
                </a:cxn>
                <a:cxn ang="0">
                  <a:pos x="44" y="87"/>
                </a:cxn>
                <a:cxn ang="0">
                  <a:pos x="0" y="43"/>
                </a:cxn>
                <a:cxn ang="0">
                  <a:pos x="44" y="0"/>
                </a:cxn>
              </a:cxnLst>
              <a:rect l="txL" t="txT" r="txR" b="txB"/>
              <a:pathLst>
                <a:path w="88" h="87">
                  <a:moveTo>
                    <a:pt x="44" y="0"/>
                  </a:moveTo>
                  <a:lnTo>
                    <a:pt x="88" y="43"/>
                  </a:lnTo>
                  <a:lnTo>
                    <a:pt x="44" y="87"/>
                  </a:lnTo>
                  <a:lnTo>
                    <a:pt x="0" y="43"/>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82072" name="Freeform 2284"/>
            <p:cNvSpPr/>
            <p:nvPr/>
          </p:nvSpPr>
          <p:spPr>
            <a:xfrm>
              <a:off x="5207" y="3681"/>
              <a:ext cx="87" cy="87"/>
            </a:xfrm>
            <a:custGeom>
              <a:avLst/>
              <a:gdLst>
                <a:gd name="txL" fmla="*/ 0 w 87"/>
                <a:gd name="txT" fmla="*/ 0 h 87"/>
                <a:gd name="txR" fmla="*/ 87 w 87"/>
                <a:gd name="txB" fmla="*/ 87 h 87"/>
              </a:gdLst>
              <a:ahLst/>
              <a:cxnLst>
                <a:cxn ang="0">
                  <a:pos x="44" y="0"/>
                </a:cxn>
                <a:cxn ang="0">
                  <a:pos x="87" y="44"/>
                </a:cxn>
                <a:cxn ang="0">
                  <a:pos x="44" y="87"/>
                </a:cxn>
                <a:cxn ang="0">
                  <a:pos x="0" y="44"/>
                </a:cxn>
                <a:cxn ang="0">
                  <a:pos x="44" y="0"/>
                </a:cxn>
              </a:cxnLst>
              <a:rect l="txL" t="txT" r="txR" b="txB"/>
              <a:pathLst>
                <a:path w="87" h="87">
                  <a:moveTo>
                    <a:pt x="44" y="0"/>
                  </a:moveTo>
                  <a:lnTo>
                    <a:pt x="87" y="44"/>
                  </a:lnTo>
                  <a:lnTo>
                    <a:pt x="44" y="87"/>
                  </a:lnTo>
                  <a:lnTo>
                    <a:pt x="0" y="44"/>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82073" name="Freeform 2285"/>
            <p:cNvSpPr/>
            <p:nvPr/>
          </p:nvSpPr>
          <p:spPr>
            <a:xfrm>
              <a:off x="4858" y="3275"/>
              <a:ext cx="87" cy="86"/>
            </a:xfrm>
            <a:custGeom>
              <a:avLst/>
              <a:gdLst>
                <a:gd name="txL" fmla="*/ 0 w 87"/>
                <a:gd name="txT" fmla="*/ 0 h 86"/>
                <a:gd name="txR" fmla="*/ 87 w 87"/>
                <a:gd name="txB" fmla="*/ 86 h 86"/>
              </a:gdLst>
              <a:ahLst/>
              <a:cxnLst>
                <a:cxn ang="0">
                  <a:pos x="44" y="0"/>
                </a:cxn>
                <a:cxn ang="0">
                  <a:pos x="87" y="43"/>
                </a:cxn>
                <a:cxn ang="0">
                  <a:pos x="44" y="86"/>
                </a:cxn>
                <a:cxn ang="0">
                  <a:pos x="0" y="43"/>
                </a:cxn>
                <a:cxn ang="0">
                  <a:pos x="44" y="0"/>
                </a:cxn>
              </a:cxnLst>
              <a:rect l="txL" t="txT" r="txR" b="txB"/>
              <a:pathLst>
                <a:path w="87" h="86">
                  <a:moveTo>
                    <a:pt x="44" y="0"/>
                  </a:moveTo>
                  <a:lnTo>
                    <a:pt x="87" y="43"/>
                  </a:lnTo>
                  <a:lnTo>
                    <a:pt x="44" y="86"/>
                  </a:lnTo>
                  <a:lnTo>
                    <a:pt x="0" y="43"/>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82074" name="Freeform 2286"/>
            <p:cNvSpPr/>
            <p:nvPr/>
          </p:nvSpPr>
          <p:spPr>
            <a:xfrm>
              <a:off x="4746" y="3170"/>
              <a:ext cx="87" cy="86"/>
            </a:xfrm>
            <a:custGeom>
              <a:avLst/>
              <a:gdLst>
                <a:gd name="txL" fmla="*/ 0 w 87"/>
                <a:gd name="txT" fmla="*/ 0 h 86"/>
                <a:gd name="txR" fmla="*/ 87 w 87"/>
                <a:gd name="txB" fmla="*/ 86 h 86"/>
              </a:gdLst>
              <a:ahLst/>
              <a:cxnLst>
                <a:cxn ang="0">
                  <a:pos x="43" y="0"/>
                </a:cxn>
                <a:cxn ang="0">
                  <a:pos x="87" y="43"/>
                </a:cxn>
                <a:cxn ang="0">
                  <a:pos x="43" y="86"/>
                </a:cxn>
                <a:cxn ang="0">
                  <a:pos x="0" y="43"/>
                </a:cxn>
                <a:cxn ang="0">
                  <a:pos x="43" y="0"/>
                </a:cxn>
              </a:cxnLst>
              <a:rect l="txL" t="txT" r="txR" b="txB"/>
              <a:pathLst>
                <a:path w="87" h="86">
                  <a:moveTo>
                    <a:pt x="43" y="0"/>
                  </a:moveTo>
                  <a:lnTo>
                    <a:pt x="87" y="43"/>
                  </a:lnTo>
                  <a:lnTo>
                    <a:pt x="43" y="86"/>
                  </a:lnTo>
                  <a:lnTo>
                    <a:pt x="0" y="43"/>
                  </a:lnTo>
                  <a:lnTo>
                    <a:pt x="43" y="0"/>
                  </a:lnTo>
                  <a:close/>
                </a:path>
              </a:pathLst>
            </a:custGeom>
            <a:solidFill>
              <a:srgbClr val="000080">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82075" name="Freeform 2287"/>
            <p:cNvSpPr/>
            <p:nvPr/>
          </p:nvSpPr>
          <p:spPr>
            <a:xfrm>
              <a:off x="5319" y="3478"/>
              <a:ext cx="88" cy="86"/>
            </a:xfrm>
            <a:custGeom>
              <a:avLst/>
              <a:gdLst>
                <a:gd name="txL" fmla="*/ 0 w 88"/>
                <a:gd name="txT" fmla="*/ 0 h 86"/>
                <a:gd name="txR" fmla="*/ 88 w 88"/>
                <a:gd name="txB" fmla="*/ 86 h 86"/>
              </a:gdLst>
              <a:ahLst/>
              <a:cxnLst>
                <a:cxn ang="0">
                  <a:pos x="44" y="0"/>
                </a:cxn>
                <a:cxn ang="0">
                  <a:pos x="88" y="43"/>
                </a:cxn>
                <a:cxn ang="0">
                  <a:pos x="44" y="86"/>
                </a:cxn>
                <a:cxn ang="0">
                  <a:pos x="0" y="43"/>
                </a:cxn>
                <a:cxn ang="0">
                  <a:pos x="44" y="0"/>
                </a:cxn>
              </a:cxnLst>
              <a:rect l="txL" t="txT" r="txR" b="txB"/>
              <a:pathLst>
                <a:path w="88" h="86">
                  <a:moveTo>
                    <a:pt x="44" y="0"/>
                  </a:moveTo>
                  <a:lnTo>
                    <a:pt x="88" y="43"/>
                  </a:lnTo>
                  <a:lnTo>
                    <a:pt x="44" y="86"/>
                  </a:lnTo>
                  <a:lnTo>
                    <a:pt x="0" y="43"/>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82076" name="Freeform 2288"/>
            <p:cNvSpPr/>
            <p:nvPr/>
          </p:nvSpPr>
          <p:spPr>
            <a:xfrm>
              <a:off x="5089" y="3780"/>
              <a:ext cx="87" cy="86"/>
            </a:xfrm>
            <a:custGeom>
              <a:avLst/>
              <a:gdLst>
                <a:gd name="txL" fmla="*/ 0 w 87"/>
                <a:gd name="txT" fmla="*/ 0 h 86"/>
                <a:gd name="txR" fmla="*/ 87 w 87"/>
                <a:gd name="txB" fmla="*/ 86 h 86"/>
              </a:gdLst>
              <a:ahLst/>
              <a:cxnLst>
                <a:cxn ang="0">
                  <a:pos x="43" y="0"/>
                </a:cxn>
                <a:cxn ang="0">
                  <a:pos x="87" y="43"/>
                </a:cxn>
                <a:cxn ang="0">
                  <a:pos x="43" y="86"/>
                </a:cxn>
                <a:cxn ang="0">
                  <a:pos x="0" y="43"/>
                </a:cxn>
                <a:cxn ang="0">
                  <a:pos x="43" y="0"/>
                </a:cxn>
              </a:cxnLst>
              <a:rect l="txL" t="txT" r="txR" b="txB"/>
              <a:pathLst>
                <a:path w="87" h="86">
                  <a:moveTo>
                    <a:pt x="43" y="0"/>
                  </a:moveTo>
                  <a:lnTo>
                    <a:pt x="87" y="43"/>
                  </a:lnTo>
                  <a:lnTo>
                    <a:pt x="43" y="86"/>
                  </a:lnTo>
                  <a:lnTo>
                    <a:pt x="0" y="43"/>
                  </a:lnTo>
                  <a:lnTo>
                    <a:pt x="43" y="0"/>
                  </a:lnTo>
                  <a:close/>
                </a:path>
              </a:pathLst>
            </a:custGeom>
            <a:solidFill>
              <a:schemeClr val="hlink">
                <a:alpha val="100000"/>
              </a:schemeClr>
            </a:solidFill>
            <a:ln w="9525" cap="flat" cmpd="sng">
              <a:solidFill>
                <a:schemeClr val="hlink">
                  <a:alpha val="100000"/>
                </a:schemeClr>
              </a:solidFill>
              <a:prstDash val="solid"/>
              <a:round/>
              <a:headEnd type="none" w="med" len="med"/>
              <a:tailEnd type="none" w="med" len="med"/>
            </a:ln>
          </p:spPr>
          <p:txBody>
            <a:bodyPr/>
            <a:p>
              <a:endParaRPr lang="en-US"/>
            </a:p>
          </p:txBody>
        </p:sp>
        <p:sp>
          <p:nvSpPr>
            <p:cNvPr id="82077" name="Freeform 2289"/>
            <p:cNvSpPr/>
            <p:nvPr/>
          </p:nvSpPr>
          <p:spPr>
            <a:xfrm>
              <a:off x="5207" y="3577"/>
              <a:ext cx="87" cy="86"/>
            </a:xfrm>
            <a:custGeom>
              <a:avLst/>
              <a:gdLst>
                <a:gd name="txL" fmla="*/ 0 w 87"/>
                <a:gd name="txT" fmla="*/ 0 h 86"/>
                <a:gd name="txR" fmla="*/ 87 w 87"/>
                <a:gd name="txB" fmla="*/ 86 h 86"/>
              </a:gdLst>
              <a:ahLst/>
              <a:cxnLst>
                <a:cxn ang="0">
                  <a:pos x="44" y="0"/>
                </a:cxn>
                <a:cxn ang="0">
                  <a:pos x="87" y="43"/>
                </a:cxn>
                <a:cxn ang="0">
                  <a:pos x="44" y="86"/>
                </a:cxn>
                <a:cxn ang="0">
                  <a:pos x="0" y="43"/>
                </a:cxn>
                <a:cxn ang="0">
                  <a:pos x="44" y="0"/>
                </a:cxn>
              </a:cxnLst>
              <a:rect l="txL" t="txT" r="txR" b="txB"/>
              <a:pathLst>
                <a:path w="87" h="86">
                  <a:moveTo>
                    <a:pt x="44" y="0"/>
                  </a:moveTo>
                  <a:lnTo>
                    <a:pt x="87" y="43"/>
                  </a:lnTo>
                  <a:lnTo>
                    <a:pt x="44" y="86"/>
                  </a:lnTo>
                  <a:lnTo>
                    <a:pt x="0" y="43"/>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82078" name="Freeform 2290"/>
            <p:cNvSpPr/>
            <p:nvPr/>
          </p:nvSpPr>
          <p:spPr>
            <a:xfrm>
              <a:off x="5207" y="3373"/>
              <a:ext cx="87" cy="87"/>
            </a:xfrm>
            <a:custGeom>
              <a:avLst/>
              <a:gdLst>
                <a:gd name="txL" fmla="*/ 0 w 87"/>
                <a:gd name="txT" fmla="*/ 0 h 87"/>
                <a:gd name="txR" fmla="*/ 87 w 87"/>
                <a:gd name="txB" fmla="*/ 87 h 87"/>
              </a:gdLst>
              <a:ahLst/>
              <a:cxnLst>
                <a:cxn ang="0">
                  <a:pos x="44" y="0"/>
                </a:cxn>
                <a:cxn ang="0">
                  <a:pos x="87" y="43"/>
                </a:cxn>
                <a:cxn ang="0">
                  <a:pos x="44" y="87"/>
                </a:cxn>
                <a:cxn ang="0">
                  <a:pos x="0" y="43"/>
                </a:cxn>
                <a:cxn ang="0">
                  <a:pos x="44" y="0"/>
                </a:cxn>
              </a:cxnLst>
              <a:rect l="txL" t="txT" r="txR" b="txB"/>
              <a:pathLst>
                <a:path w="87" h="87">
                  <a:moveTo>
                    <a:pt x="44" y="0"/>
                  </a:moveTo>
                  <a:lnTo>
                    <a:pt x="87" y="43"/>
                  </a:lnTo>
                  <a:lnTo>
                    <a:pt x="44" y="87"/>
                  </a:lnTo>
                  <a:lnTo>
                    <a:pt x="0" y="43"/>
                  </a:lnTo>
                  <a:lnTo>
                    <a:pt x="44" y="0"/>
                  </a:lnTo>
                  <a:close/>
                </a:path>
              </a:pathLst>
            </a:custGeom>
            <a:solidFill>
              <a:srgbClr val="00FFFF">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sp>
          <p:nvSpPr>
            <p:cNvPr id="82079" name="Rectangle 2291"/>
            <p:cNvSpPr/>
            <p:nvPr/>
          </p:nvSpPr>
          <p:spPr>
            <a:xfrm>
              <a:off x="4390" y="4008"/>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0</a:t>
              </a:r>
              <a:endParaRPr lang="ko-KR" altLang="en-US" dirty="0">
                <a:latin typeface="Tahoma" panose="020B0604030504040204" pitchFamily="34" charset="0"/>
                <a:ea typeface="Gulim" panose="020B0600000101010101" pitchFamily="34" charset="-127"/>
              </a:endParaRPr>
            </a:p>
          </p:txBody>
        </p:sp>
        <p:sp>
          <p:nvSpPr>
            <p:cNvPr id="82080" name="Rectangle 2292"/>
            <p:cNvSpPr/>
            <p:nvPr/>
          </p:nvSpPr>
          <p:spPr>
            <a:xfrm>
              <a:off x="4390" y="391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a:t>
              </a:r>
              <a:endParaRPr lang="ko-KR" altLang="en-US" dirty="0">
                <a:latin typeface="Tahoma" panose="020B0604030504040204" pitchFamily="34" charset="0"/>
                <a:ea typeface="Gulim" panose="020B0600000101010101" pitchFamily="34" charset="-127"/>
              </a:endParaRPr>
            </a:p>
          </p:txBody>
        </p:sp>
        <p:sp>
          <p:nvSpPr>
            <p:cNvPr id="82081" name="Rectangle 2293"/>
            <p:cNvSpPr/>
            <p:nvPr/>
          </p:nvSpPr>
          <p:spPr>
            <a:xfrm>
              <a:off x="4390" y="3805"/>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2</a:t>
              </a:r>
              <a:endParaRPr lang="ko-KR" altLang="en-US" dirty="0">
                <a:latin typeface="Tahoma" panose="020B0604030504040204" pitchFamily="34" charset="0"/>
                <a:ea typeface="Gulim" panose="020B0600000101010101" pitchFamily="34" charset="-127"/>
              </a:endParaRPr>
            </a:p>
          </p:txBody>
        </p:sp>
        <p:sp>
          <p:nvSpPr>
            <p:cNvPr id="82082" name="Rectangle 2294"/>
            <p:cNvSpPr/>
            <p:nvPr/>
          </p:nvSpPr>
          <p:spPr>
            <a:xfrm>
              <a:off x="4390" y="3706"/>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3</a:t>
              </a:r>
              <a:endParaRPr lang="ko-KR" altLang="en-US" dirty="0">
                <a:latin typeface="Tahoma" panose="020B0604030504040204" pitchFamily="34" charset="0"/>
                <a:ea typeface="Gulim" panose="020B0600000101010101" pitchFamily="34" charset="-127"/>
              </a:endParaRPr>
            </a:p>
          </p:txBody>
        </p:sp>
        <p:sp>
          <p:nvSpPr>
            <p:cNvPr id="82083" name="Rectangle 2295"/>
            <p:cNvSpPr/>
            <p:nvPr/>
          </p:nvSpPr>
          <p:spPr>
            <a:xfrm>
              <a:off x="4390" y="3601"/>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4</a:t>
              </a:r>
              <a:endParaRPr lang="ko-KR" altLang="en-US" dirty="0">
                <a:latin typeface="Tahoma" panose="020B0604030504040204" pitchFamily="34" charset="0"/>
                <a:ea typeface="Gulim" panose="020B0600000101010101" pitchFamily="34" charset="-127"/>
              </a:endParaRPr>
            </a:p>
          </p:txBody>
        </p:sp>
        <p:sp>
          <p:nvSpPr>
            <p:cNvPr id="82084" name="Rectangle 2296"/>
            <p:cNvSpPr/>
            <p:nvPr/>
          </p:nvSpPr>
          <p:spPr>
            <a:xfrm>
              <a:off x="4390" y="3503"/>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5</a:t>
              </a:r>
              <a:endParaRPr lang="ko-KR" altLang="en-US" dirty="0">
                <a:latin typeface="Tahoma" panose="020B0604030504040204" pitchFamily="34" charset="0"/>
                <a:ea typeface="Gulim" panose="020B0600000101010101" pitchFamily="34" charset="-127"/>
              </a:endParaRPr>
            </a:p>
          </p:txBody>
        </p:sp>
        <p:sp>
          <p:nvSpPr>
            <p:cNvPr id="82085" name="Rectangle 2297"/>
            <p:cNvSpPr/>
            <p:nvPr/>
          </p:nvSpPr>
          <p:spPr>
            <a:xfrm>
              <a:off x="4390" y="3398"/>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6</a:t>
              </a:r>
              <a:endParaRPr lang="ko-KR" altLang="en-US" dirty="0">
                <a:latin typeface="Tahoma" panose="020B0604030504040204" pitchFamily="34" charset="0"/>
                <a:ea typeface="Gulim" panose="020B0600000101010101" pitchFamily="34" charset="-127"/>
              </a:endParaRPr>
            </a:p>
          </p:txBody>
        </p:sp>
        <p:sp>
          <p:nvSpPr>
            <p:cNvPr id="82086" name="Rectangle 2298"/>
            <p:cNvSpPr/>
            <p:nvPr/>
          </p:nvSpPr>
          <p:spPr>
            <a:xfrm>
              <a:off x="4390" y="3299"/>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7</a:t>
              </a:r>
              <a:endParaRPr lang="ko-KR" altLang="en-US" dirty="0">
                <a:latin typeface="Tahoma" panose="020B0604030504040204" pitchFamily="34" charset="0"/>
                <a:ea typeface="Gulim" panose="020B0600000101010101" pitchFamily="34" charset="-127"/>
              </a:endParaRPr>
            </a:p>
          </p:txBody>
        </p:sp>
        <p:sp>
          <p:nvSpPr>
            <p:cNvPr id="82087" name="Rectangle 2299"/>
            <p:cNvSpPr/>
            <p:nvPr/>
          </p:nvSpPr>
          <p:spPr>
            <a:xfrm>
              <a:off x="4390" y="3194"/>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8</a:t>
              </a:r>
              <a:endParaRPr lang="ko-KR" altLang="en-US" dirty="0">
                <a:latin typeface="Tahoma" panose="020B0604030504040204" pitchFamily="34" charset="0"/>
                <a:ea typeface="Gulim" panose="020B0600000101010101" pitchFamily="34" charset="-127"/>
              </a:endParaRPr>
            </a:p>
          </p:txBody>
        </p:sp>
        <p:sp>
          <p:nvSpPr>
            <p:cNvPr id="82088" name="Rectangle 2300"/>
            <p:cNvSpPr/>
            <p:nvPr/>
          </p:nvSpPr>
          <p:spPr>
            <a:xfrm>
              <a:off x="4390" y="3096"/>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9</a:t>
              </a:r>
              <a:endParaRPr lang="ko-KR" altLang="en-US" dirty="0">
                <a:latin typeface="Tahoma" panose="020B0604030504040204" pitchFamily="34" charset="0"/>
                <a:ea typeface="Gulim" panose="020B0600000101010101" pitchFamily="34" charset="-127"/>
              </a:endParaRPr>
            </a:p>
          </p:txBody>
        </p:sp>
        <p:sp>
          <p:nvSpPr>
            <p:cNvPr id="82089" name="Rectangle 2301"/>
            <p:cNvSpPr/>
            <p:nvPr/>
          </p:nvSpPr>
          <p:spPr>
            <a:xfrm>
              <a:off x="4372" y="2991"/>
              <a:ext cx="19"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10</a:t>
              </a:r>
              <a:endParaRPr lang="ko-KR" altLang="en-US" dirty="0">
                <a:latin typeface="Tahoma" panose="020B0604030504040204" pitchFamily="34" charset="0"/>
                <a:ea typeface="Gulim" panose="020B0600000101010101" pitchFamily="34" charset="-127"/>
              </a:endParaRPr>
            </a:p>
          </p:txBody>
        </p:sp>
        <p:sp>
          <p:nvSpPr>
            <p:cNvPr id="82090" name="Rectangle 2302"/>
            <p:cNvSpPr/>
            <p:nvPr/>
          </p:nvSpPr>
          <p:spPr>
            <a:xfrm>
              <a:off x="4434"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0</a:t>
              </a:r>
              <a:endParaRPr lang="ko-KR" altLang="en-US" dirty="0">
                <a:latin typeface="Tahoma" panose="020B0604030504040204" pitchFamily="34" charset="0"/>
                <a:ea typeface="Gulim" panose="020B0600000101010101" pitchFamily="34" charset="-127"/>
              </a:endParaRPr>
            </a:p>
          </p:txBody>
        </p:sp>
        <p:sp>
          <p:nvSpPr>
            <p:cNvPr id="82091" name="Rectangle 2303"/>
            <p:cNvSpPr/>
            <p:nvPr/>
          </p:nvSpPr>
          <p:spPr>
            <a:xfrm>
              <a:off x="4553"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a:t>
              </a:r>
              <a:endParaRPr lang="ko-KR" altLang="en-US" dirty="0">
                <a:latin typeface="Tahoma" panose="020B0604030504040204" pitchFamily="34" charset="0"/>
                <a:ea typeface="Gulim" panose="020B0600000101010101" pitchFamily="34" charset="-127"/>
              </a:endParaRPr>
            </a:p>
          </p:txBody>
        </p:sp>
        <p:sp>
          <p:nvSpPr>
            <p:cNvPr id="82092" name="Rectangle 2304"/>
            <p:cNvSpPr/>
            <p:nvPr/>
          </p:nvSpPr>
          <p:spPr>
            <a:xfrm>
              <a:off x="4665"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2</a:t>
              </a:r>
              <a:endParaRPr lang="ko-KR" altLang="en-US" dirty="0">
                <a:latin typeface="Tahoma" panose="020B0604030504040204" pitchFamily="34" charset="0"/>
                <a:ea typeface="Gulim" panose="020B0600000101010101" pitchFamily="34" charset="-127"/>
              </a:endParaRPr>
            </a:p>
          </p:txBody>
        </p:sp>
        <p:sp>
          <p:nvSpPr>
            <p:cNvPr id="82093" name="Rectangle 2305"/>
            <p:cNvSpPr/>
            <p:nvPr/>
          </p:nvSpPr>
          <p:spPr>
            <a:xfrm>
              <a:off x="4783"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3</a:t>
              </a:r>
              <a:endParaRPr lang="ko-KR" altLang="en-US" dirty="0">
                <a:latin typeface="Tahoma" panose="020B0604030504040204" pitchFamily="34" charset="0"/>
                <a:ea typeface="Gulim" panose="020B0600000101010101" pitchFamily="34" charset="-127"/>
              </a:endParaRPr>
            </a:p>
          </p:txBody>
        </p:sp>
        <p:sp>
          <p:nvSpPr>
            <p:cNvPr id="82094" name="Rectangle 2306"/>
            <p:cNvSpPr/>
            <p:nvPr/>
          </p:nvSpPr>
          <p:spPr>
            <a:xfrm>
              <a:off x="4895"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4</a:t>
              </a:r>
              <a:endParaRPr lang="ko-KR" altLang="en-US" dirty="0">
                <a:latin typeface="Tahoma" panose="020B0604030504040204" pitchFamily="34" charset="0"/>
                <a:ea typeface="Gulim" panose="020B0600000101010101" pitchFamily="34" charset="-127"/>
              </a:endParaRPr>
            </a:p>
          </p:txBody>
        </p:sp>
        <p:sp>
          <p:nvSpPr>
            <p:cNvPr id="82095" name="Rectangle 2307"/>
            <p:cNvSpPr/>
            <p:nvPr/>
          </p:nvSpPr>
          <p:spPr>
            <a:xfrm>
              <a:off x="5014"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5</a:t>
              </a:r>
              <a:endParaRPr lang="ko-KR" altLang="en-US" dirty="0">
                <a:latin typeface="Tahoma" panose="020B0604030504040204" pitchFamily="34" charset="0"/>
                <a:ea typeface="Gulim" panose="020B0600000101010101" pitchFamily="34" charset="-127"/>
              </a:endParaRPr>
            </a:p>
          </p:txBody>
        </p:sp>
        <p:sp>
          <p:nvSpPr>
            <p:cNvPr id="82096" name="Rectangle 2308"/>
            <p:cNvSpPr/>
            <p:nvPr/>
          </p:nvSpPr>
          <p:spPr>
            <a:xfrm>
              <a:off x="5126"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6</a:t>
              </a:r>
              <a:endParaRPr lang="ko-KR" altLang="en-US" dirty="0">
                <a:latin typeface="Tahoma" panose="020B0604030504040204" pitchFamily="34" charset="0"/>
                <a:ea typeface="Gulim" panose="020B0600000101010101" pitchFamily="34" charset="-127"/>
              </a:endParaRPr>
            </a:p>
          </p:txBody>
        </p:sp>
        <p:sp>
          <p:nvSpPr>
            <p:cNvPr id="82097" name="Rectangle 2309"/>
            <p:cNvSpPr/>
            <p:nvPr/>
          </p:nvSpPr>
          <p:spPr>
            <a:xfrm>
              <a:off x="5244"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7</a:t>
              </a:r>
              <a:endParaRPr lang="ko-KR" altLang="en-US" dirty="0">
                <a:latin typeface="Tahoma" panose="020B0604030504040204" pitchFamily="34" charset="0"/>
                <a:ea typeface="Gulim" panose="020B0600000101010101" pitchFamily="34" charset="-127"/>
              </a:endParaRPr>
            </a:p>
          </p:txBody>
        </p:sp>
        <p:sp>
          <p:nvSpPr>
            <p:cNvPr id="82098" name="Rectangle 2310"/>
            <p:cNvSpPr/>
            <p:nvPr/>
          </p:nvSpPr>
          <p:spPr>
            <a:xfrm>
              <a:off x="5357"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8</a:t>
              </a:r>
              <a:endParaRPr lang="ko-KR" altLang="en-US" dirty="0">
                <a:latin typeface="Tahoma" panose="020B0604030504040204" pitchFamily="34" charset="0"/>
                <a:ea typeface="Gulim" panose="020B0600000101010101" pitchFamily="34" charset="-127"/>
              </a:endParaRPr>
            </a:p>
          </p:txBody>
        </p:sp>
        <p:sp>
          <p:nvSpPr>
            <p:cNvPr id="82099" name="Rectangle 2311"/>
            <p:cNvSpPr/>
            <p:nvPr/>
          </p:nvSpPr>
          <p:spPr>
            <a:xfrm>
              <a:off x="5475" y="4070"/>
              <a:ext cx="12"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9</a:t>
              </a:r>
              <a:endParaRPr lang="ko-KR" altLang="en-US" dirty="0">
                <a:latin typeface="Tahoma" panose="020B0604030504040204" pitchFamily="34" charset="0"/>
                <a:ea typeface="Gulim" panose="020B0600000101010101" pitchFamily="34" charset="-127"/>
              </a:endParaRPr>
            </a:p>
          </p:txBody>
        </p:sp>
        <p:sp>
          <p:nvSpPr>
            <p:cNvPr id="82100" name="Rectangle 2312"/>
            <p:cNvSpPr/>
            <p:nvPr/>
          </p:nvSpPr>
          <p:spPr>
            <a:xfrm>
              <a:off x="5575" y="4070"/>
              <a:ext cx="19" cy="12"/>
            </a:xfrm>
            <a:prstGeom prst="rect">
              <a:avLst/>
            </a:prstGeom>
            <a:noFill/>
            <a:ln w="9525">
              <a:noFill/>
            </a:ln>
          </p:spPr>
          <p:txBody>
            <a:bodyPr wrap="none" lIns="0" tIns="0" rIns="0" bIns="0">
              <a:spAutoFit/>
            </a:bodyPr>
            <a:p>
              <a:pPr algn="l"/>
              <a:r>
                <a:rPr lang="ko-KR" altLang="en-US" sz="500" dirty="0">
                  <a:solidFill>
                    <a:srgbClr val="000000"/>
                  </a:solidFill>
                  <a:latin typeface="Small Fonts" charset="0"/>
                  <a:ea typeface="Gulim" panose="020B0600000101010101" pitchFamily="34" charset="-127"/>
                </a:rPr>
                <a:t>10</a:t>
              </a:r>
              <a:endParaRPr lang="ko-KR" altLang="en-US" dirty="0">
                <a:latin typeface="Tahoma" panose="020B0604030504040204" pitchFamily="34" charset="0"/>
                <a:ea typeface="Gulim" panose="020B0600000101010101" pitchFamily="34" charset="-127"/>
              </a:endParaRPr>
            </a:p>
          </p:txBody>
        </p:sp>
        <p:sp>
          <p:nvSpPr>
            <p:cNvPr id="82101" name="Rectangle 2313"/>
            <p:cNvSpPr/>
            <p:nvPr/>
          </p:nvSpPr>
          <p:spPr>
            <a:xfrm>
              <a:off x="4297" y="2905"/>
              <a:ext cx="1371" cy="1282"/>
            </a:xfrm>
            <a:prstGeom prst="rect">
              <a:avLst/>
            </a:prstGeom>
            <a:noFill/>
            <a:ln w="0" cap="flat" cmpd="sng">
              <a:solidFill>
                <a:srgbClr val="000000"/>
              </a:solidFill>
              <a:prstDash val="solid"/>
              <a:miter/>
              <a:headEnd type="none" w="med" len="med"/>
              <a:tailEnd type="none" w="med" len="med"/>
            </a:ln>
          </p:spPr>
          <p:txBody>
            <a:bodyPr/>
            <a:p>
              <a:endParaRPr dirty="0">
                <a:latin typeface="Tahoma" panose="020B0604030504040204" pitchFamily="34" charset="0"/>
              </a:endParaRPr>
            </a:p>
          </p:txBody>
        </p:sp>
        <p:sp>
          <p:nvSpPr>
            <p:cNvPr id="82102" name="Line 2314"/>
            <p:cNvSpPr/>
            <p:nvPr/>
          </p:nvSpPr>
          <p:spPr>
            <a:xfrm>
              <a:off x="5245" y="3456"/>
              <a:ext cx="0" cy="115"/>
            </a:xfrm>
            <a:prstGeom prst="line">
              <a:avLst/>
            </a:prstGeom>
            <a:ln w="9525" cap="flat" cmpd="sng">
              <a:solidFill>
                <a:schemeClr val="tx1"/>
              </a:solidFill>
              <a:prstDash val="solid"/>
              <a:headEnd type="none" w="med" len="med"/>
              <a:tailEnd type="none" w="med" len="med"/>
            </a:ln>
          </p:spPr>
        </p:sp>
        <p:sp>
          <p:nvSpPr>
            <p:cNvPr id="82103" name="Freeform 2315"/>
            <p:cNvSpPr/>
            <p:nvPr/>
          </p:nvSpPr>
          <p:spPr>
            <a:xfrm>
              <a:off x="5088" y="3600"/>
              <a:ext cx="87" cy="86"/>
            </a:xfrm>
            <a:custGeom>
              <a:avLst/>
              <a:gdLst>
                <a:gd name="txL" fmla="*/ 0 w 87"/>
                <a:gd name="txT" fmla="*/ 0 h 86"/>
                <a:gd name="txR" fmla="*/ 87 w 87"/>
                <a:gd name="txB" fmla="*/ 86 h 86"/>
              </a:gdLst>
              <a:ahLst/>
              <a:cxnLst>
                <a:cxn ang="0">
                  <a:pos x="43" y="0"/>
                </a:cxn>
                <a:cxn ang="0">
                  <a:pos x="87" y="43"/>
                </a:cxn>
                <a:cxn ang="0">
                  <a:pos x="43" y="86"/>
                </a:cxn>
                <a:cxn ang="0">
                  <a:pos x="0" y="43"/>
                </a:cxn>
                <a:cxn ang="0">
                  <a:pos x="43" y="0"/>
                </a:cxn>
              </a:cxnLst>
              <a:rect l="txL" t="txT" r="txR" b="txB"/>
              <a:pathLst>
                <a:path w="87" h="86">
                  <a:moveTo>
                    <a:pt x="43" y="0"/>
                  </a:moveTo>
                  <a:lnTo>
                    <a:pt x="87" y="43"/>
                  </a:lnTo>
                  <a:lnTo>
                    <a:pt x="43" y="86"/>
                  </a:lnTo>
                  <a:lnTo>
                    <a:pt x="0" y="43"/>
                  </a:lnTo>
                  <a:lnTo>
                    <a:pt x="43" y="0"/>
                  </a:lnTo>
                  <a:close/>
                </a:path>
              </a:pathLst>
            </a:custGeom>
            <a:solidFill>
              <a:srgbClr val="000080">
                <a:alpha val="100000"/>
              </a:srgbClr>
            </a:solidFill>
            <a:ln w="9525" cap="flat" cmpd="sng">
              <a:solidFill>
                <a:srgbClr val="000080">
                  <a:alpha val="100000"/>
                </a:srgbClr>
              </a:solidFill>
              <a:prstDash val="solid"/>
              <a:round/>
              <a:headEnd type="none" w="med" len="med"/>
              <a:tailEnd type="none" w="med" len="med"/>
            </a:ln>
          </p:spPr>
          <p:txBody>
            <a:bodyPr/>
            <a:p>
              <a:endParaRPr lang="en-US"/>
            </a:p>
          </p:txBody>
        </p:sp>
      </p:grpSp>
    </p:spTree>
  </p:cSld>
  <p:clrMapOvr>
    <a:masterClrMapping/>
  </p:clrMapOvr>
  <p:transition>
    <p:zo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Slide Number Placeholder 5"/>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
        <p:nvSpPr>
          <p:cNvPr id="82947" name="Rectangle 2"/>
          <p:cNvSpPr>
            <a:spLocks noGrp="1"/>
          </p:cNvSpPr>
          <p:nvPr>
            <p:ph type="title"/>
          </p:nvPr>
        </p:nvSpPr>
        <p:spPr>
          <a:xfrm>
            <a:off x="304800" y="152400"/>
            <a:ext cx="8458200" cy="838200"/>
          </a:xfrm>
        </p:spPr>
        <p:txBody>
          <a:bodyPr vert="horz" wrap="square" lIns="91440" tIns="45720" rIns="91440" bIns="45720" anchor="b" anchorCtr="0"/>
          <a:p>
            <a:pPr eaLnBrk="1" hangingPunct="1"/>
            <a:r>
              <a:rPr lang="en-US" altLang="ko-KR" sz="3200" dirty="0">
                <a:ea typeface="Gulim" panose="020B0600000101010101" pitchFamily="34" charset="-127"/>
              </a:rPr>
              <a:t>PAM (Partitioning Around Medoids) (1987)</a:t>
            </a:r>
            <a:endParaRPr lang="en-US" altLang="ko-KR" sz="4400" dirty="0">
              <a:ea typeface="Gulim" panose="020B0600000101010101" pitchFamily="34" charset="-127"/>
            </a:endParaRPr>
          </a:p>
        </p:txBody>
      </p:sp>
      <p:sp>
        <p:nvSpPr>
          <p:cNvPr id="82948" name="Rectangle 3"/>
          <p:cNvSpPr>
            <a:spLocks noGrp="1"/>
          </p:cNvSpPr>
          <p:nvPr>
            <p:ph idx="1"/>
          </p:nvPr>
        </p:nvSpPr>
        <p:spPr>
          <a:xfrm>
            <a:off x="381000" y="1447800"/>
            <a:ext cx="8382000" cy="5029200"/>
          </a:xfrm>
        </p:spPr>
        <p:txBody>
          <a:bodyPr vert="horz" wrap="square" lIns="91440" tIns="45720" rIns="91440" bIns="45720" anchor="t" anchorCtr="0"/>
          <a:p>
            <a:pPr eaLnBrk="1" hangingPunct="1">
              <a:lnSpc>
                <a:spcPct val="120000"/>
              </a:lnSpc>
            </a:pPr>
            <a:r>
              <a:rPr lang="en-US" altLang="ko-KR" sz="2400" dirty="0">
                <a:ea typeface="Gulim" panose="020B0600000101010101" pitchFamily="34" charset="-127"/>
              </a:rPr>
              <a:t>PAM (Kaufman and Rousseeuw, 1987), built in Splus</a:t>
            </a:r>
            <a:endParaRPr lang="en-US" altLang="ko-KR" sz="2400" dirty="0">
              <a:ea typeface="Gulim" panose="020B0600000101010101" pitchFamily="34" charset="-127"/>
            </a:endParaRPr>
          </a:p>
          <a:p>
            <a:pPr eaLnBrk="1" hangingPunct="1">
              <a:lnSpc>
                <a:spcPct val="120000"/>
              </a:lnSpc>
            </a:pPr>
            <a:r>
              <a:rPr lang="en-US" altLang="ko-KR" sz="2400" dirty="0">
                <a:ea typeface="Gulim" panose="020B0600000101010101" pitchFamily="34" charset="-127"/>
              </a:rPr>
              <a:t>Use real object to represent the cluster</a:t>
            </a:r>
            <a:endParaRPr lang="en-US" altLang="ko-KR" sz="2400" dirty="0">
              <a:ea typeface="Gulim" panose="020B0600000101010101" pitchFamily="34" charset="-127"/>
            </a:endParaRPr>
          </a:p>
          <a:p>
            <a:pPr lvl="1" eaLnBrk="1" hangingPunct="1">
              <a:lnSpc>
                <a:spcPct val="120000"/>
              </a:lnSpc>
            </a:pPr>
            <a:r>
              <a:rPr lang="en-US" altLang="ko-KR" sz="2400" dirty="0">
                <a:ea typeface="Gulim" panose="020B0600000101010101" pitchFamily="34" charset="-127"/>
              </a:rPr>
              <a:t>Select </a:t>
            </a:r>
            <a:r>
              <a:rPr lang="en-US" altLang="ko-KR" sz="2400" b="1" i="1" dirty="0">
                <a:ea typeface="Gulim" panose="020B0600000101010101" pitchFamily="34" charset="-127"/>
              </a:rPr>
              <a:t>k</a:t>
            </a:r>
            <a:r>
              <a:rPr lang="en-US" altLang="ko-KR" sz="2400" dirty="0">
                <a:ea typeface="Gulim" panose="020B0600000101010101" pitchFamily="34" charset="-127"/>
              </a:rPr>
              <a:t> representative objects arbitrarily</a:t>
            </a:r>
            <a:endParaRPr lang="en-US" altLang="ko-KR" sz="2400" dirty="0">
              <a:ea typeface="Gulim" panose="020B0600000101010101" pitchFamily="34" charset="-127"/>
            </a:endParaRPr>
          </a:p>
          <a:p>
            <a:pPr lvl="1" eaLnBrk="1" hangingPunct="1">
              <a:lnSpc>
                <a:spcPct val="120000"/>
              </a:lnSpc>
            </a:pPr>
            <a:r>
              <a:rPr lang="en-US" altLang="ko-KR" sz="2400" dirty="0">
                <a:ea typeface="Gulim" panose="020B0600000101010101" pitchFamily="34" charset="-127"/>
              </a:rPr>
              <a:t>For each pair of non-selected object </a:t>
            </a:r>
            <a:r>
              <a:rPr lang="en-US" altLang="ko-KR" sz="2400" b="1" i="1" dirty="0">
                <a:ea typeface="Gulim" panose="020B0600000101010101" pitchFamily="34" charset="-127"/>
              </a:rPr>
              <a:t>h</a:t>
            </a:r>
            <a:r>
              <a:rPr lang="en-US" altLang="ko-KR" sz="2400" dirty="0">
                <a:ea typeface="Gulim" panose="020B0600000101010101" pitchFamily="34" charset="-127"/>
              </a:rPr>
              <a:t> and selected object </a:t>
            </a:r>
            <a:r>
              <a:rPr lang="en-US" altLang="ko-KR" sz="2400" b="1" i="1" dirty="0">
                <a:ea typeface="Gulim" panose="020B0600000101010101" pitchFamily="34" charset="-127"/>
              </a:rPr>
              <a:t>i</a:t>
            </a:r>
            <a:r>
              <a:rPr lang="en-US" altLang="ko-KR" sz="2400" dirty="0">
                <a:ea typeface="Gulim" panose="020B0600000101010101" pitchFamily="34" charset="-127"/>
              </a:rPr>
              <a:t>, calculate the total swapping cost </a:t>
            </a:r>
            <a:r>
              <a:rPr lang="en-US" altLang="ko-KR" sz="2400" b="1" i="1" dirty="0">
                <a:ea typeface="Gulim" panose="020B0600000101010101" pitchFamily="34" charset="-127"/>
              </a:rPr>
              <a:t>TC</a:t>
            </a:r>
            <a:r>
              <a:rPr lang="en-US" altLang="ko-KR" sz="2400" b="1" i="1" baseline="-25000" dirty="0">
                <a:ea typeface="Gulim" panose="020B0600000101010101" pitchFamily="34" charset="-127"/>
              </a:rPr>
              <a:t>ih</a:t>
            </a:r>
            <a:endParaRPr lang="en-US" altLang="ko-KR" sz="2400" dirty="0">
              <a:ea typeface="Gulim" panose="020B0600000101010101" pitchFamily="34" charset="-127"/>
            </a:endParaRPr>
          </a:p>
          <a:p>
            <a:pPr lvl="1" eaLnBrk="1" hangingPunct="1">
              <a:lnSpc>
                <a:spcPct val="120000"/>
              </a:lnSpc>
            </a:pPr>
            <a:r>
              <a:rPr lang="en-US" altLang="ko-KR" sz="2400" dirty="0">
                <a:ea typeface="Gulim" panose="020B0600000101010101" pitchFamily="34" charset="-127"/>
              </a:rPr>
              <a:t>For each pair of </a:t>
            </a:r>
            <a:r>
              <a:rPr lang="en-US" altLang="ko-KR" sz="2400" b="1" i="1" dirty="0">
                <a:ea typeface="Gulim" panose="020B0600000101010101" pitchFamily="34" charset="-127"/>
              </a:rPr>
              <a:t>i</a:t>
            </a:r>
            <a:r>
              <a:rPr lang="en-US" altLang="ko-KR" sz="2400" dirty="0">
                <a:ea typeface="Gulim" panose="020B0600000101010101" pitchFamily="34" charset="-127"/>
              </a:rPr>
              <a:t> and </a:t>
            </a:r>
            <a:r>
              <a:rPr lang="en-US" altLang="ko-KR" sz="2400" b="1" i="1" dirty="0">
                <a:ea typeface="Gulim" panose="020B0600000101010101" pitchFamily="34" charset="-127"/>
              </a:rPr>
              <a:t>h</a:t>
            </a:r>
            <a:r>
              <a:rPr lang="en-US" altLang="ko-KR" sz="2400" dirty="0">
                <a:ea typeface="Gulim" panose="020B0600000101010101" pitchFamily="34" charset="-127"/>
              </a:rPr>
              <a:t>, </a:t>
            </a:r>
            <a:endParaRPr lang="en-US" altLang="ko-KR" sz="2400" dirty="0">
              <a:ea typeface="Gulim" panose="020B0600000101010101" pitchFamily="34" charset="-127"/>
            </a:endParaRPr>
          </a:p>
          <a:p>
            <a:pPr lvl="2" eaLnBrk="1" hangingPunct="1">
              <a:lnSpc>
                <a:spcPct val="120000"/>
              </a:lnSpc>
            </a:pPr>
            <a:r>
              <a:rPr lang="en-US" altLang="ko-KR" dirty="0">
                <a:ea typeface="Gulim" panose="020B0600000101010101" pitchFamily="34" charset="-127"/>
              </a:rPr>
              <a:t>If </a:t>
            </a:r>
            <a:r>
              <a:rPr lang="en-US" altLang="ko-KR" i="1" dirty="0">
                <a:ea typeface="Gulim" panose="020B0600000101010101" pitchFamily="34" charset="-127"/>
              </a:rPr>
              <a:t>TC</a:t>
            </a:r>
            <a:r>
              <a:rPr lang="en-US" altLang="ko-KR" i="1" baseline="-25000" dirty="0">
                <a:ea typeface="Gulim" panose="020B0600000101010101" pitchFamily="34" charset="-127"/>
              </a:rPr>
              <a:t>ih</a:t>
            </a:r>
            <a:r>
              <a:rPr lang="en-US" altLang="ko-KR" dirty="0">
                <a:ea typeface="Gulim" panose="020B0600000101010101" pitchFamily="34" charset="-127"/>
              </a:rPr>
              <a:t> &lt; 0, </a:t>
            </a:r>
            <a:r>
              <a:rPr lang="en-US" altLang="ko-KR" b="1" i="1" dirty="0">
                <a:ea typeface="Gulim" panose="020B0600000101010101" pitchFamily="34" charset="-127"/>
              </a:rPr>
              <a:t>i</a:t>
            </a:r>
            <a:r>
              <a:rPr lang="en-US" altLang="ko-KR" dirty="0">
                <a:ea typeface="Gulim" panose="020B0600000101010101" pitchFamily="34" charset="-127"/>
              </a:rPr>
              <a:t> is replaced by </a:t>
            </a:r>
            <a:r>
              <a:rPr lang="en-US" altLang="ko-KR" b="1" i="1" dirty="0">
                <a:ea typeface="Gulim" panose="020B0600000101010101" pitchFamily="34" charset="-127"/>
              </a:rPr>
              <a:t>h</a:t>
            </a:r>
            <a:endParaRPr lang="en-US" altLang="ko-KR" dirty="0">
              <a:ea typeface="Gulim" panose="020B0600000101010101" pitchFamily="34" charset="-127"/>
            </a:endParaRPr>
          </a:p>
          <a:p>
            <a:pPr lvl="2" eaLnBrk="1" hangingPunct="1">
              <a:lnSpc>
                <a:spcPct val="120000"/>
              </a:lnSpc>
            </a:pPr>
            <a:r>
              <a:rPr lang="en-US" altLang="ko-KR" dirty="0">
                <a:ea typeface="Gulim" panose="020B0600000101010101" pitchFamily="34" charset="-127"/>
              </a:rPr>
              <a:t>Then assign each non-selected object to the most similar representative object</a:t>
            </a:r>
            <a:endParaRPr lang="en-US" altLang="ko-KR" dirty="0">
              <a:ea typeface="Gulim" panose="020B0600000101010101" pitchFamily="34" charset="-127"/>
            </a:endParaRPr>
          </a:p>
          <a:p>
            <a:pPr lvl="1" eaLnBrk="1" hangingPunct="1">
              <a:lnSpc>
                <a:spcPct val="120000"/>
              </a:lnSpc>
            </a:pPr>
            <a:r>
              <a:rPr lang="en-US" altLang="ko-KR" sz="2400" dirty="0">
                <a:ea typeface="Gulim" panose="020B0600000101010101" pitchFamily="34" charset="-127"/>
              </a:rPr>
              <a:t>repeat steps 2-3 until there is no change</a:t>
            </a:r>
            <a:endParaRPr lang="en-US" altLang="ko-KR" sz="2400" dirty="0">
              <a:ea typeface="Gulim" panose="020B0600000101010101" pitchFamily="34" charset="-127"/>
            </a:endParaRPr>
          </a:p>
        </p:txBody>
      </p:sp>
    </p:spTree>
  </p:cSld>
  <p:clrMapOvr>
    <a:masterClrMapping/>
  </p:clrMapOvr>
  <p:transition>
    <p:zo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Slide Number Placeholder 5"/>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
        <p:nvSpPr>
          <p:cNvPr id="83971" name="Rectangle 2"/>
          <p:cNvSpPr>
            <a:spLocks noGrp="1"/>
          </p:cNvSpPr>
          <p:nvPr>
            <p:ph type="title"/>
          </p:nvPr>
        </p:nvSpPr>
        <p:spPr>
          <a:xfrm>
            <a:off x="381000" y="304800"/>
            <a:ext cx="8458200" cy="609600"/>
          </a:xfrm>
        </p:spPr>
        <p:txBody>
          <a:bodyPr vert="horz" wrap="square" lIns="91440" tIns="45720" rIns="91440" bIns="45720" anchor="b" anchorCtr="0"/>
          <a:p>
            <a:pPr eaLnBrk="1" hangingPunct="1"/>
            <a:r>
              <a:rPr sz="3200" dirty="0"/>
              <a:t>PAM Clustering: </a:t>
            </a:r>
            <a:r>
              <a:rPr sz="2800" dirty="0">
                <a:solidFill>
                  <a:srgbClr val="170981"/>
                </a:solidFill>
              </a:rPr>
              <a:t>Finding the Best Cluster Center</a:t>
            </a:r>
            <a:endParaRPr sz="2800" dirty="0">
              <a:solidFill>
                <a:srgbClr val="170981"/>
              </a:solidFill>
            </a:endParaRPr>
          </a:p>
        </p:txBody>
      </p:sp>
      <p:sp>
        <p:nvSpPr>
          <p:cNvPr id="83972" name="Rectangle 3"/>
          <p:cNvSpPr>
            <a:spLocks noGrp="1"/>
          </p:cNvSpPr>
          <p:nvPr>
            <p:ph idx="1"/>
          </p:nvPr>
        </p:nvSpPr>
        <p:spPr/>
        <p:txBody>
          <a:bodyPr vert="horz" wrap="square" lIns="91440" tIns="45720" rIns="91440" bIns="45720" anchor="t" anchorCtr="0"/>
          <a:p>
            <a:pPr eaLnBrk="1" hangingPunct="1"/>
            <a:r>
              <a:rPr sz="2000" dirty="0"/>
              <a:t>Case 1: p currently belongs to o</a:t>
            </a:r>
            <a:r>
              <a:rPr sz="2000" baseline="-25000" dirty="0"/>
              <a:t>j</a:t>
            </a:r>
            <a:r>
              <a:rPr sz="2000" dirty="0"/>
              <a:t>.  If o</a:t>
            </a:r>
            <a:r>
              <a:rPr sz="2000" baseline="-25000" dirty="0"/>
              <a:t>j</a:t>
            </a:r>
            <a:r>
              <a:rPr sz="2000" dirty="0"/>
              <a:t> is replaced by o</a:t>
            </a:r>
            <a:r>
              <a:rPr sz="2000" baseline="-25000" dirty="0"/>
              <a:t>random</a:t>
            </a:r>
            <a:r>
              <a:rPr sz="2000" dirty="0"/>
              <a:t> as a representative object and p is the closest to one of the other representative object o</a:t>
            </a:r>
            <a:r>
              <a:rPr sz="2000" baseline="-25000" dirty="0"/>
              <a:t>i</a:t>
            </a:r>
            <a:r>
              <a:rPr sz="2000" dirty="0"/>
              <a:t>, then p is reassigned to o</a:t>
            </a:r>
            <a:r>
              <a:rPr sz="2000" baseline="-25000" dirty="0"/>
              <a:t>i</a:t>
            </a:r>
            <a:endParaRPr sz="2000" baseline="-25000" dirty="0"/>
          </a:p>
        </p:txBody>
      </p:sp>
      <p:pic>
        <p:nvPicPr>
          <p:cNvPr id="83973" name="Picture 4"/>
          <p:cNvPicPr>
            <a:picLocks noChangeAspect="1"/>
          </p:cNvPicPr>
          <p:nvPr/>
        </p:nvPicPr>
        <p:blipFill>
          <a:blip r:embed="rId1"/>
          <a:stretch>
            <a:fillRect/>
          </a:stretch>
        </p:blipFill>
        <p:spPr>
          <a:xfrm>
            <a:off x="533400" y="2514600"/>
            <a:ext cx="8229600" cy="4038600"/>
          </a:xfrm>
          <a:prstGeom prst="rect">
            <a:avLst/>
          </a:prstGeom>
          <a:noFill/>
          <a:ln w="9525">
            <a:noFill/>
          </a:ln>
        </p:spPr>
      </p:pic>
    </p:spTree>
  </p:cSld>
  <p:clrMapOvr>
    <a:masterClrMapping/>
  </p:clrMapOvr>
  <p:transition>
    <p:zo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Slide Number Placeholder 5"/>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
        <p:nvSpPr>
          <p:cNvPr id="84995" name="Rectangle 1026"/>
          <p:cNvSpPr>
            <a:spLocks noGrp="1"/>
          </p:cNvSpPr>
          <p:nvPr>
            <p:ph type="title"/>
          </p:nvPr>
        </p:nvSpPr>
        <p:spPr>
          <a:xfrm>
            <a:off x="609600" y="228600"/>
            <a:ext cx="7848600" cy="762000"/>
          </a:xfrm>
        </p:spPr>
        <p:txBody>
          <a:bodyPr vert="horz" wrap="square" lIns="91440" tIns="45720" rIns="91440" bIns="45720" anchor="b" anchorCtr="0"/>
          <a:p>
            <a:pPr eaLnBrk="1" hangingPunct="1"/>
            <a:r>
              <a:rPr lang="en-US" altLang="ko-KR" dirty="0">
                <a:ea typeface="Gulim" panose="020B0600000101010101" pitchFamily="34" charset="-127"/>
              </a:rPr>
              <a:t>What Is the Problem with PAM?</a:t>
            </a:r>
            <a:endParaRPr dirty="0">
              <a:ea typeface="Gulim" panose="020B0600000101010101" pitchFamily="34" charset="-127"/>
            </a:endParaRPr>
          </a:p>
        </p:txBody>
      </p:sp>
      <p:sp>
        <p:nvSpPr>
          <p:cNvPr id="84996" name="Rectangle 1027"/>
          <p:cNvSpPr>
            <a:spLocks noGrp="1"/>
          </p:cNvSpPr>
          <p:nvPr>
            <p:ph idx="1"/>
          </p:nvPr>
        </p:nvSpPr>
        <p:spPr>
          <a:xfrm>
            <a:off x="381000" y="1524000"/>
            <a:ext cx="8305800" cy="4724400"/>
          </a:xfrm>
        </p:spPr>
        <p:txBody>
          <a:bodyPr vert="horz" wrap="square" lIns="91440" tIns="45720" rIns="91440" bIns="45720" anchor="t" anchorCtr="0"/>
          <a:p>
            <a:pPr eaLnBrk="1" hangingPunct="1">
              <a:lnSpc>
                <a:spcPct val="120000"/>
              </a:lnSpc>
            </a:pPr>
            <a:r>
              <a:rPr lang="en-US" altLang="ko-KR" sz="2400" dirty="0">
                <a:ea typeface="Gulim" panose="020B0600000101010101" pitchFamily="34" charset="-127"/>
              </a:rPr>
              <a:t>Pam is more robust than k-means in the presence of noise and outliers because a medoid is less influenced by outliers or other extreme values than a mean</a:t>
            </a:r>
            <a:endParaRPr lang="en-US" altLang="ko-KR" sz="2400" dirty="0">
              <a:ea typeface="Gulim" panose="020B0600000101010101" pitchFamily="34" charset="-127"/>
            </a:endParaRPr>
          </a:p>
          <a:p>
            <a:pPr eaLnBrk="1" hangingPunct="1">
              <a:lnSpc>
                <a:spcPct val="120000"/>
              </a:lnSpc>
            </a:pPr>
            <a:r>
              <a:rPr lang="en-US" altLang="ko-KR" sz="2400" dirty="0">
                <a:ea typeface="Gulim" panose="020B0600000101010101" pitchFamily="34" charset="-127"/>
              </a:rPr>
              <a:t>Pam works efficiently for small data sets but does not </a:t>
            </a:r>
            <a:r>
              <a:rPr lang="en-US" altLang="ko-KR" sz="2400" b="1" dirty="0">
                <a:ea typeface="Gulim" panose="020B0600000101010101" pitchFamily="34" charset="-127"/>
              </a:rPr>
              <a:t>scale well</a:t>
            </a:r>
            <a:r>
              <a:rPr lang="en-US" altLang="ko-KR" sz="2400" dirty="0">
                <a:ea typeface="Gulim" panose="020B0600000101010101" pitchFamily="34" charset="-127"/>
              </a:rPr>
              <a:t> for large data sets.</a:t>
            </a:r>
            <a:endParaRPr lang="en-US" altLang="ko-KR" sz="2400" dirty="0">
              <a:ea typeface="Gulim" panose="020B0600000101010101" pitchFamily="34" charset="-127"/>
            </a:endParaRPr>
          </a:p>
          <a:p>
            <a:pPr lvl="1" eaLnBrk="1" hangingPunct="1">
              <a:lnSpc>
                <a:spcPct val="120000"/>
              </a:lnSpc>
            </a:pPr>
            <a:r>
              <a:rPr lang="en-US" altLang="ko-KR" sz="2400" dirty="0">
                <a:ea typeface="Gulim" panose="020B0600000101010101" pitchFamily="34" charset="-127"/>
              </a:rPr>
              <a:t>O(k(n-k)</a:t>
            </a:r>
            <a:r>
              <a:rPr lang="en-US" altLang="ko-KR" sz="2400" baseline="30000" dirty="0">
                <a:ea typeface="Gulim" panose="020B0600000101010101" pitchFamily="34" charset="-127"/>
              </a:rPr>
              <a:t>2</a:t>
            </a:r>
            <a:r>
              <a:rPr lang="en-US" altLang="ko-KR" sz="2400" dirty="0">
                <a:ea typeface="Gulim" panose="020B0600000101010101" pitchFamily="34" charset="-127"/>
              </a:rPr>
              <a:t> ) for each iteration </a:t>
            </a:r>
            <a:endParaRPr lang="en-US" altLang="ko-KR" sz="2400" dirty="0">
              <a:ea typeface="Gulim" panose="020B0600000101010101" pitchFamily="34" charset="-127"/>
            </a:endParaRPr>
          </a:p>
          <a:p>
            <a:pPr eaLnBrk="1" hangingPunct="1">
              <a:spcBef>
                <a:spcPct val="50000"/>
              </a:spcBef>
              <a:buClrTx/>
              <a:buSzTx/>
              <a:buFontTx/>
              <a:buNone/>
            </a:pPr>
            <a:r>
              <a:rPr lang="en-US" altLang="ko-KR" sz="2400" dirty="0">
                <a:ea typeface="Gulim" panose="020B0600000101010101" pitchFamily="34" charset="-127"/>
              </a:rPr>
              <a:t>			where n is # of data,k is # of clusters</a:t>
            </a:r>
            <a:endParaRPr lang="en-US" altLang="ko-KR" sz="2400" dirty="0">
              <a:ea typeface="Gulim" panose="020B0600000101010101" pitchFamily="34" charset="-127"/>
            </a:endParaRPr>
          </a:p>
          <a:p>
            <a:pPr eaLnBrk="1" hangingPunct="1">
              <a:spcBef>
                <a:spcPct val="50000"/>
              </a:spcBef>
              <a:buClrTx/>
              <a:buSzTx/>
              <a:buFont typeface="Wingdings" panose="05000000000000000000" pitchFamily="2" charset="2"/>
              <a:buChar char="è"/>
            </a:pPr>
            <a:r>
              <a:rPr lang="en-US" altLang="ko-KR" sz="2400" dirty="0">
                <a:ea typeface="Gulim" panose="020B0600000101010101" pitchFamily="34" charset="-127"/>
                <a:sym typeface="Wingdings" panose="05000000000000000000" pitchFamily="2" charset="2"/>
              </a:rPr>
              <a:t>Sampling-based method</a:t>
            </a:r>
            <a:endParaRPr lang="en-US" altLang="ko-KR" sz="2400" dirty="0">
              <a:ea typeface="Gulim" panose="020B0600000101010101" pitchFamily="34" charset="-127"/>
              <a:sym typeface="Wingdings" panose="05000000000000000000" pitchFamily="2" charset="2"/>
            </a:endParaRPr>
          </a:p>
          <a:p>
            <a:pPr eaLnBrk="1" hangingPunct="1">
              <a:spcBef>
                <a:spcPct val="50000"/>
              </a:spcBef>
              <a:buClrTx/>
              <a:buSzTx/>
              <a:buNone/>
            </a:pPr>
            <a:r>
              <a:rPr lang="en-US" altLang="ko-KR" sz="2400" dirty="0">
                <a:ea typeface="Gulim" panose="020B0600000101010101" pitchFamily="34" charset="-127"/>
                <a:sym typeface="Wingdings" panose="05000000000000000000" pitchFamily="2" charset="2"/>
              </a:rPr>
              <a:t>	CLARA(Clustering LARge Applications)</a:t>
            </a:r>
            <a:endParaRPr lang="en-US" altLang="ko-KR" sz="2400" dirty="0">
              <a:ea typeface="Gulim" panose="020B0600000101010101" pitchFamily="34" charset="-127"/>
              <a:sym typeface="Wingdings" panose="05000000000000000000" pitchFamily="2" charset="2"/>
            </a:endParaRPr>
          </a:p>
        </p:txBody>
      </p:sp>
    </p:spTree>
  </p:cSld>
  <p:clrMapOvr>
    <a:masterClrMapping/>
  </p:clrMapOvr>
  <p:transition>
    <p:zo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Slide Number Placeholder 5"/>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
        <p:nvSpPr>
          <p:cNvPr id="86019" name="Rectangle 2"/>
          <p:cNvSpPr>
            <a:spLocks noGrp="1"/>
          </p:cNvSpPr>
          <p:nvPr>
            <p:ph type="title"/>
          </p:nvPr>
        </p:nvSpPr>
        <p:spPr>
          <a:xfrm>
            <a:off x="381000" y="457200"/>
            <a:ext cx="8458200" cy="609600"/>
          </a:xfrm>
        </p:spPr>
        <p:txBody>
          <a:bodyPr vert="horz" wrap="square" lIns="91440" tIns="45720" rIns="91440" bIns="45720" anchor="b" anchorCtr="0"/>
          <a:p>
            <a:pPr eaLnBrk="1" hangingPunct="1"/>
            <a:r>
              <a:rPr sz="3200" i="1" dirty="0"/>
              <a:t>CLARA</a:t>
            </a:r>
            <a:r>
              <a:rPr sz="3200" dirty="0"/>
              <a:t> (Clustering Large Applications) (1990)</a:t>
            </a:r>
            <a:endParaRPr sz="2100" b="1" dirty="0"/>
          </a:p>
        </p:txBody>
      </p:sp>
      <p:sp>
        <p:nvSpPr>
          <p:cNvPr id="86020" name="Rectangle 3"/>
          <p:cNvSpPr>
            <a:spLocks noGrp="1"/>
          </p:cNvSpPr>
          <p:nvPr>
            <p:ph idx="1"/>
          </p:nvPr>
        </p:nvSpPr>
        <p:spPr>
          <a:xfrm>
            <a:off x="381000" y="1524000"/>
            <a:ext cx="8229600" cy="4953000"/>
          </a:xfrm>
        </p:spPr>
        <p:txBody>
          <a:bodyPr vert="horz" wrap="square" lIns="91440" tIns="45720" rIns="91440" bIns="45720" anchor="t" anchorCtr="0"/>
          <a:p>
            <a:pPr eaLnBrk="1" hangingPunct="1">
              <a:lnSpc>
                <a:spcPct val="110000"/>
              </a:lnSpc>
            </a:pPr>
            <a:r>
              <a:rPr sz="2400" i="1" dirty="0"/>
              <a:t>CLARA</a:t>
            </a:r>
            <a:r>
              <a:rPr sz="2400" dirty="0"/>
              <a:t> (Kaufmann and Rousseeuw in 1990)</a:t>
            </a:r>
            <a:endParaRPr sz="2400" dirty="0"/>
          </a:p>
          <a:p>
            <a:pPr lvl="1" eaLnBrk="1" hangingPunct="1">
              <a:lnSpc>
                <a:spcPct val="110000"/>
              </a:lnSpc>
              <a:spcBef>
                <a:spcPct val="50000"/>
              </a:spcBef>
              <a:buClr>
                <a:schemeClr val="tx1"/>
              </a:buClr>
            </a:pPr>
            <a:r>
              <a:rPr sz="2400" dirty="0"/>
              <a:t>Built in statistical analysis packages, such as SPlus</a:t>
            </a:r>
            <a:endParaRPr sz="2400" dirty="0"/>
          </a:p>
          <a:p>
            <a:pPr lvl="1" eaLnBrk="1" hangingPunct="1">
              <a:lnSpc>
                <a:spcPct val="110000"/>
              </a:lnSpc>
            </a:pPr>
            <a:r>
              <a:rPr sz="2400" dirty="0"/>
              <a:t>It draws </a:t>
            </a:r>
            <a:r>
              <a:rPr sz="2400" i="1" dirty="0"/>
              <a:t>multiple samples</a:t>
            </a:r>
            <a:r>
              <a:rPr sz="2400" dirty="0"/>
              <a:t> of the data set, applies </a:t>
            </a:r>
            <a:r>
              <a:rPr sz="2400" i="1" dirty="0"/>
              <a:t>PAM</a:t>
            </a:r>
            <a:r>
              <a:rPr sz="2400" dirty="0"/>
              <a:t> on each sample, and gives the best clustering as the output</a:t>
            </a:r>
            <a:endParaRPr sz="2400" dirty="0"/>
          </a:p>
          <a:p>
            <a:pPr eaLnBrk="1" hangingPunct="1">
              <a:lnSpc>
                <a:spcPct val="110000"/>
              </a:lnSpc>
            </a:pPr>
            <a:r>
              <a:rPr sz="2400" u="sng" dirty="0"/>
              <a:t>Strength</a:t>
            </a:r>
            <a:r>
              <a:rPr sz="2400" dirty="0"/>
              <a:t>: deals with larger data sets than </a:t>
            </a:r>
            <a:r>
              <a:rPr sz="2400" i="1" dirty="0"/>
              <a:t>PAM</a:t>
            </a:r>
            <a:endParaRPr sz="2400" dirty="0"/>
          </a:p>
          <a:p>
            <a:pPr eaLnBrk="1" hangingPunct="1">
              <a:lnSpc>
                <a:spcPct val="110000"/>
              </a:lnSpc>
            </a:pPr>
            <a:r>
              <a:rPr sz="2400" u="sng" dirty="0"/>
              <a:t>Weakness:</a:t>
            </a:r>
            <a:endParaRPr sz="2400" dirty="0"/>
          </a:p>
          <a:p>
            <a:pPr lvl="1" eaLnBrk="1" hangingPunct="1">
              <a:lnSpc>
                <a:spcPct val="110000"/>
              </a:lnSpc>
            </a:pPr>
            <a:r>
              <a:rPr sz="2400" dirty="0"/>
              <a:t>Efficiency depends on the sample size</a:t>
            </a:r>
            <a:endParaRPr sz="2400" dirty="0"/>
          </a:p>
          <a:p>
            <a:pPr lvl="1" eaLnBrk="1" hangingPunct="1">
              <a:lnSpc>
                <a:spcPct val="110000"/>
              </a:lnSpc>
            </a:pPr>
            <a:r>
              <a:rPr sz="2400" dirty="0"/>
              <a:t>A good clustering based on samples will not necessarily represent a good clustering of the whole data set if the sample is biased</a:t>
            </a:r>
            <a:endParaRPr sz="2400" dirty="0"/>
          </a:p>
        </p:txBody>
      </p:sp>
    </p:spTree>
  </p:cSld>
  <p:clrMapOvr>
    <a:masterClrMapping/>
  </p:clrMapOvr>
  <p:transition>
    <p:zo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Slide Number Placeholder 5"/>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
        <p:nvSpPr>
          <p:cNvPr id="87043" name="Rectangle 2"/>
          <p:cNvSpPr>
            <a:spLocks noGrp="1"/>
          </p:cNvSpPr>
          <p:nvPr>
            <p:ph type="title"/>
          </p:nvPr>
        </p:nvSpPr>
        <p:spPr>
          <a:xfrm>
            <a:off x="533400" y="304800"/>
            <a:ext cx="8077200" cy="762000"/>
          </a:xfrm>
        </p:spPr>
        <p:txBody>
          <a:bodyPr vert="horz" wrap="square" lIns="91440" tIns="45720" rIns="91440" bIns="45720" anchor="b" anchorCtr="0"/>
          <a:p>
            <a:pPr eaLnBrk="1" hangingPunct="1"/>
            <a:r>
              <a:rPr sz="3200" i="1" dirty="0"/>
              <a:t>CLARANS </a:t>
            </a:r>
            <a:r>
              <a:rPr sz="3200" dirty="0"/>
              <a:t>(“Randomized” CLARA)</a:t>
            </a:r>
            <a:r>
              <a:rPr sz="3200" i="1" dirty="0"/>
              <a:t> (1994)</a:t>
            </a:r>
            <a:endParaRPr dirty="0"/>
          </a:p>
        </p:txBody>
      </p:sp>
      <p:sp>
        <p:nvSpPr>
          <p:cNvPr id="87044" name="Rectangle 3"/>
          <p:cNvSpPr>
            <a:spLocks noGrp="1"/>
          </p:cNvSpPr>
          <p:nvPr>
            <p:ph idx="1"/>
          </p:nvPr>
        </p:nvSpPr>
        <p:spPr>
          <a:xfrm>
            <a:off x="304800" y="1371600"/>
            <a:ext cx="8610600" cy="5029200"/>
          </a:xfrm>
        </p:spPr>
        <p:txBody>
          <a:bodyPr vert="horz" wrap="square" lIns="91440" tIns="45720" rIns="91440" bIns="45720" anchor="t" anchorCtr="0"/>
          <a:p>
            <a:pPr eaLnBrk="1" hangingPunct="1"/>
            <a:r>
              <a:rPr sz="2400" i="1" dirty="0"/>
              <a:t>CLARANS</a:t>
            </a:r>
            <a:r>
              <a:rPr sz="2400" dirty="0"/>
              <a:t> (A Clustering Algorithm based on Randomized Search)  (Ng and Han’94)</a:t>
            </a:r>
            <a:endParaRPr sz="2400" dirty="0"/>
          </a:p>
          <a:p>
            <a:pPr lvl="1" eaLnBrk="1" hangingPunct="1"/>
            <a:r>
              <a:rPr sz="2400" dirty="0"/>
              <a:t>Draws sample of neighbors dynamically</a:t>
            </a:r>
            <a:endParaRPr sz="2400" dirty="0"/>
          </a:p>
          <a:p>
            <a:pPr lvl="1" eaLnBrk="1" hangingPunct="1"/>
            <a:r>
              <a:rPr sz="2400" dirty="0"/>
              <a:t>The clustering process can be presented as searching a graph where every node is a potential solution, that is, a set of </a:t>
            </a:r>
            <a:r>
              <a:rPr sz="2400" i="1" dirty="0"/>
              <a:t>k</a:t>
            </a:r>
            <a:r>
              <a:rPr sz="2400" dirty="0"/>
              <a:t> medoids</a:t>
            </a:r>
            <a:endParaRPr sz="2400" dirty="0"/>
          </a:p>
          <a:p>
            <a:pPr lvl="1" eaLnBrk="1" hangingPunct="1"/>
            <a:r>
              <a:rPr sz="2400" dirty="0"/>
              <a:t>If the local optimum is found, </a:t>
            </a:r>
            <a:r>
              <a:rPr sz="2400" i="1" dirty="0"/>
              <a:t>it</a:t>
            </a:r>
            <a:r>
              <a:rPr sz="2400" dirty="0"/>
              <a:t> starts with new randomly selected node in search for a new local optimum</a:t>
            </a:r>
            <a:endParaRPr sz="2400" dirty="0"/>
          </a:p>
          <a:p>
            <a:pPr eaLnBrk="1" hangingPunct="1"/>
            <a:r>
              <a:rPr sz="2400" dirty="0"/>
              <a:t>Advantages:  More efficient and scalable than both </a:t>
            </a:r>
            <a:r>
              <a:rPr sz="2400" i="1" dirty="0"/>
              <a:t>PAM</a:t>
            </a:r>
            <a:r>
              <a:rPr sz="2400" dirty="0"/>
              <a:t> and </a:t>
            </a:r>
            <a:r>
              <a:rPr sz="2400" i="1" dirty="0"/>
              <a:t>CLARA</a:t>
            </a:r>
            <a:endParaRPr sz="2400" dirty="0"/>
          </a:p>
          <a:p>
            <a:pPr eaLnBrk="1" hangingPunct="1"/>
            <a:r>
              <a:rPr sz="2400" dirty="0"/>
              <a:t>Further improvement: Focusing techniques and spatial access structures (Ester et al.’95)</a:t>
            </a:r>
            <a:endParaRPr sz="2400" dirty="0"/>
          </a:p>
        </p:txBody>
      </p:sp>
    </p:spTree>
  </p:cSld>
  <p:clrMapOvr>
    <a:masterClrMapping/>
  </p:clrMapOvr>
  <p:transition>
    <p:zo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Slide Number Placeholder 5"/>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
        <p:nvSpPr>
          <p:cNvPr id="88067" name="Rectangle 1026"/>
          <p:cNvSpPr>
            <a:spLocks noGrp="1"/>
          </p:cNvSpPr>
          <p:nvPr>
            <p:ph type="title"/>
          </p:nvPr>
        </p:nvSpPr>
        <p:spPr>
          <a:xfrm>
            <a:off x="0" y="228600"/>
            <a:ext cx="9144000" cy="838200"/>
          </a:xfrm>
        </p:spPr>
        <p:txBody>
          <a:bodyPr vert="horz" wrap="square" lIns="92075" tIns="46038" rIns="92075" bIns="46038" anchor="ctr" anchorCtr="0"/>
          <a:p>
            <a:pPr eaLnBrk="1" hangingPunct="1"/>
            <a:r>
              <a:rPr sz="3200" dirty="0"/>
              <a:t>ROCK: Clustering Categorical Data</a:t>
            </a:r>
            <a:endParaRPr sz="3200" dirty="0"/>
          </a:p>
        </p:txBody>
      </p:sp>
      <p:sp>
        <p:nvSpPr>
          <p:cNvPr id="88068" name="Rectangle 1027"/>
          <p:cNvSpPr>
            <a:spLocks noGrp="1"/>
          </p:cNvSpPr>
          <p:nvPr>
            <p:ph idx="1"/>
          </p:nvPr>
        </p:nvSpPr>
        <p:spPr>
          <a:xfrm>
            <a:off x="381000" y="1371600"/>
            <a:ext cx="8458200" cy="5105400"/>
          </a:xfrm>
        </p:spPr>
        <p:txBody>
          <a:bodyPr vert="horz" wrap="square" lIns="92075" tIns="46038" rIns="92075" bIns="46038" anchor="t" anchorCtr="0"/>
          <a:p>
            <a:pPr eaLnBrk="1" hangingPunct="1"/>
            <a:r>
              <a:rPr sz="2400" dirty="0"/>
              <a:t>ROCK: RObust Clustering using linKs </a:t>
            </a:r>
            <a:endParaRPr sz="2400" dirty="0"/>
          </a:p>
          <a:p>
            <a:pPr lvl="1" eaLnBrk="1" hangingPunct="1"/>
            <a:r>
              <a:rPr sz="2400" dirty="0"/>
              <a:t>S. Guha, R. Rastogi &amp; K. Shim, ICDE’99</a:t>
            </a:r>
            <a:endParaRPr sz="2400" dirty="0"/>
          </a:p>
          <a:p>
            <a:pPr eaLnBrk="1" hangingPunct="1"/>
            <a:r>
              <a:rPr sz="2400" dirty="0"/>
              <a:t>Major ideas</a:t>
            </a:r>
            <a:endParaRPr sz="2400" dirty="0"/>
          </a:p>
          <a:p>
            <a:pPr lvl="1" eaLnBrk="1" hangingPunct="1"/>
            <a:r>
              <a:rPr sz="2400" dirty="0"/>
              <a:t>Use links to measure similarity/proximity</a:t>
            </a:r>
            <a:endParaRPr sz="2400" dirty="0"/>
          </a:p>
          <a:p>
            <a:pPr lvl="1" eaLnBrk="1" hangingPunct="1"/>
            <a:r>
              <a:rPr sz="2400" dirty="0"/>
              <a:t>Not distance-based</a:t>
            </a:r>
            <a:endParaRPr sz="2400" dirty="0"/>
          </a:p>
          <a:p>
            <a:pPr eaLnBrk="1" hangingPunct="1"/>
            <a:r>
              <a:rPr sz="2400" dirty="0"/>
              <a:t>Algorithm: sampling-based clustering</a:t>
            </a:r>
            <a:endParaRPr sz="2400" dirty="0"/>
          </a:p>
          <a:p>
            <a:pPr lvl="1" eaLnBrk="1" hangingPunct="1"/>
            <a:r>
              <a:rPr sz="2400" dirty="0"/>
              <a:t>Draw random sample</a:t>
            </a:r>
            <a:endParaRPr sz="2400" dirty="0"/>
          </a:p>
          <a:p>
            <a:pPr lvl="1" eaLnBrk="1" hangingPunct="1"/>
            <a:r>
              <a:rPr sz="2400" dirty="0"/>
              <a:t>Cluster with links</a:t>
            </a:r>
            <a:endParaRPr sz="2400" dirty="0"/>
          </a:p>
          <a:p>
            <a:pPr lvl="1" eaLnBrk="1" hangingPunct="1"/>
            <a:r>
              <a:rPr sz="2400" dirty="0"/>
              <a:t>Label data in disk</a:t>
            </a:r>
            <a:endParaRPr sz="2400" dirty="0"/>
          </a:p>
          <a:p>
            <a:pPr eaLnBrk="1" hangingPunct="1"/>
            <a:r>
              <a:rPr sz="2400" dirty="0"/>
              <a:t>Experiments</a:t>
            </a:r>
            <a:endParaRPr sz="2400" dirty="0"/>
          </a:p>
          <a:p>
            <a:pPr lvl="1" eaLnBrk="1" hangingPunct="1"/>
            <a:r>
              <a:rPr sz="2400" dirty="0"/>
              <a:t>Congressional voting, mushroom data </a:t>
            </a:r>
            <a:endParaRPr sz="2400" dirty="0"/>
          </a:p>
        </p:txBody>
      </p:sp>
    </p:spTree>
  </p:cSld>
  <p:clrMapOvr>
    <a:masterClrMapping/>
  </p:clrMapOvr>
  <p:transition>
    <p:zo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Slide Number Placeholder 5"/>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
        <p:nvSpPr>
          <p:cNvPr id="89091" name="Rectangle 2"/>
          <p:cNvSpPr>
            <a:spLocks noGrp="1"/>
          </p:cNvSpPr>
          <p:nvPr>
            <p:ph type="title"/>
          </p:nvPr>
        </p:nvSpPr>
        <p:spPr>
          <a:xfrm>
            <a:off x="914400" y="228600"/>
            <a:ext cx="7391400" cy="838200"/>
          </a:xfrm>
        </p:spPr>
        <p:txBody>
          <a:bodyPr vert="horz" wrap="square" lIns="92075" tIns="46038" rIns="92075" bIns="46038" anchor="ctr" anchorCtr="0"/>
          <a:p>
            <a:pPr eaLnBrk="1" hangingPunct="1"/>
            <a:r>
              <a:rPr dirty="0"/>
              <a:t>Similarity Measure in ROCK</a:t>
            </a:r>
            <a:endParaRPr dirty="0"/>
          </a:p>
        </p:txBody>
      </p:sp>
      <p:sp>
        <p:nvSpPr>
          <p:cNvPr id="89092" name="Rectangle 3"/>
          <p:cNvSpPr>
            <a:spLocks noGrp="1"/>
          </p:cNvSpPr>
          <p:nvPr>
            <p:ph idx="1"/>
          </p:nvPr>
        </p:nvSpPr>
        <p:spPr>
          <a:xfrm>
            <a:off x="381000" y="1371600"/>
            <a:ext cx="8458200" cy="5105400"/>
          </a:xfrm>
        </p:spPr>
        <p:txBody>
          <a:bodyPr vert="horz" wrap="square" lIns="92075" tIns="46038" rIns="92075" bIns="46038" anchor="t" anchorCtr="0"/>
          <a:p>
            <a:pPr marL="533400" indent="-533400" eaLnBrk="1" hangingPunct="1"/>
            <a:r>
              <a:rPr sz="2000" dirty="0"/>
              <a:t>Traditional measures for categorical data may not work well, e.g., Jaccard coefficient</a:t>
            </a:r>
            <a:endParaRPr sz="2000" dirty="0"/>
          </a:p>
          <a:p>
            <a:pPr marL="533400" indent="-533400" eaLnBrk="1" hangingPunct="1"/>
            <a:r>
              <a:rPr sz="2000" dirty="0"/>
              <a:t>Example: Two groups (clusters) of transactions</a:t>
            </a:r>
            <a:endParaRPr sz="2000" dirty="0"/>
          </a:p>
          <a:p>
            <a:pPr marL="990600" lvl="1" indent="-533400" eaLnBrk="1" hangingPunct="1"/>
            <a:r>
              <a:rPr sz="2000" dirty="0"/>
              <a:t>C</a:t>
            </a:r>
            <a:r>
              <a:rPr sz="2000" baseline="-25000" dirty="0"/>
              <a:t>1</a:t>
            </a:r>
            <a:r>
              <a:rPr sz="2000" dirty="0"/>
              <a:t>. &lt;a, b, c, d, e&gt;: {a, b, c}, {a, b, d}, {a, b, e}, {a, c, d}, {a, c, e}, {a, d, e}, {b, c, d}, {b, c, e}, {b, d, e}, {c, d, e}</a:t>
            </a:r>
            <a:endParaRPr sz="2000" dirty="0"/>
          </a:p>
          <a:p>
            <a:pPr marL="990600" lvl="1" indent="-533400" eaLnBrk="1" hangingPunct="1"/>
            <a:r>
              <a:rPr sz="2000" dirty="0"/>
              <a:t>C</a:t>
            </a:r>
            <a:r>
              <a:rPr sz="2000" baseline="-25000" dirty="0"/>
              <a:t>2</a:t>
            </a:r>
            <a:r>
              <a:rPr sz="2000" dirty="0"/>
              <a:t>. &lt;a, b, f, g&gt;: {a, b, f}, {a, b, g}, {a, f, g}, {b, f, g}</a:t>
            </a:r>
            <a:endParaRPr sz="2000" dirty="0"/>
          </a:p>
          <a:p>
            <a:pPr marL="533400" indent="-533400" eaLnBrk="1" hangingPunct="1"/>
            <a:r>
              <a:rPr sz="2000" dirty="0"/>
              <a:t>Jaccard co-efficient may lead to wrong clustering result</a:t>
            </a:r>
            <a:endParaRPr sz="2000" dirty="0"/>
          </a:p>
          <a:p>
            <a:pPr marL="990600" lvl="1" indent="-533400" eaLnBrk="1" hangingPunct="1"/>
            <a:r>
              <a:rPr sz="2000" dirty="0"/>
              <a:t>C</a:t>
            </a:r>
            <a:r>
              <a:rPr sz="2000" baseline="-25000" dirty="0"/>
              <a:t>1</a:t>
            </a:r>
            <a:r>
              <a:rPr sz="2000" dirty="0"/>
              <a:t>: 0.2 ({a, b, c}, {b, d, e}} to 0.5 ({a, b, c}, {a, b, d}) </a:t>
            </a:r>
            <a:endParaRPr sz="2000" dirty="0"/>
          </a:p>
          <a:p>
            <a:pPr marL="990600" lvl="1" indent="-533400" eaLnBrk="1" hangingPunct="1"/>
            <a:r>
              <a:rPr sz="2000" dirty="0"/>
              <a:t>C</a:t>
            </a:r>
            <a:r>
              <a:rPr sz="2000" baseline="-25000" dirty="0"/>
              <a:t>1</a:t>
            </a:r>
            <a:r>
              <a:rPr sz="2000" dirty="0"/>
              <a:t> &amp; C</a:t>
            </a:r>
            <a:r>
              <a:rPr sz="2000" baseline="-25000" dirty="0"/>
              <a:t>2</a:t>
            </a:r>
            <a:r>
              <a:rPr sz="2000" dirty="0"/>
              <a:t>: could be as high as 0.5  ({a, b, c}, {a, b, f}) </a:t>
            </a:r>
            <a:endParaRPr sz="2000" dirty="0"/>
          </a:p>
          <a:p>
            <a:pPr marL="533400" indent="-533400" eaLnBrk="1" hangingPunct="1"/>
            <a:r>
              <a:rPr sz="2000" dirty="0"/>
              <a:t>Jaccard co-efficient-based similarity function:	</a:t>
            </a:r>
            <a:endParaRPr sz="2000" dirty="0"/>
          </a:p>
          <a:p>
            <a:pPr marL="990600" lvl="1" indent="-533400" eaLnBrk="1" hangingPunct="1"/>
            <a:endParaRPr sz="2000" dirty="0"/>
          </a:p>
          <a:p>
            <a:pPr marL="990600" lvl="1" indent="-533400" eaLnBrk="1" hangingPunct="1"/>
            <a:r>
              <a:rPr sz="2000" dirty="0"/>
              <a:t>Ex.  Let </a:t>
            </a:r>
            <a:r>
              <a:rPr sz="2000" i="1" dirty="0"/>
              <a:t>T</a:t>
            </a:r>
            <a:r>
              <a:rPr sz="2000" i="1" baseline="-25000" dirty="0"/>
              <a:t>1</a:t>
            </a:r>
            <a:r>
              <a:rPr sz="2000" dirty="0"/>
              <a:t> = {a, b, c}, </a:t>
            </a:r>
            <a:r>
              <a:rPr sz="2000" i="1" dirty="0"/>
              <a:t>T</a:t>
            </a:r>
            <a:r>
              <a:rPr sz="2000" i="1" baseline="-25000" dirty="0"/>
              <a:t>2 </a:t>
            </a:r>
            <a:r>
              <a:rPr sz="2000" dirty="0"/>
              <a:t>= {c, d, e}</a:t>
            </a:r>
            <a:endParaRPr sz="2000" dirty="0"/>
          </a:p>
        </p:txBody>
      </p:sp>
      <p:graphicFrame>
        <p:nvGraphicFramePr>
          <p:cNvPr id="89093" name="Object 5"/>
          <p:cNvGraphicFramePr/>
          <p:nvPr/>
        </p:nvGraphicFramePr>
        <p:xfrm>
          <a:off x="6096000" y="4648200"/>
          <a:ext cx="2590800" cy="762000"/>
        </p:xfrm>
        <a:graphic>
          <a:graphicData uri="http://schemas.openxmlformats.org/presentationml/2006/ole">
            <mc:AlternateContent xmlns:mc="http://schemas.openxmlformats.org/markup-compatibility/2006">
              <mc:Choice xmlns:v="urn:schemas-microsoft-com:vml" Requires="v">
                <p:oleObj spid="_x0000_s3107" name="" r:id="rId1" imgW="1485900" imgH="533400" progId="Equation.3">
                  <p:embed/>
                </p:oleObj>
              </mc:Choice>
              <mc:Fallback>
                <p:oleObj name="" r:id="rId1" imgW="1485900" imgH="533400" progId="Equation.3">
                  <p:embed/>
                  <p:pic>
                    <p:nvPicPr>
                      <p:cNvPr id="0" name="Picture 3106"/>
                      <p:cNvPicPr/>
                      <p:nvPr/>
                    </p:nvPicPr>
                    <p:blipFill>
                      <a:blip r:embed="rId2"/>
                      <a:stretch>
                        <a:fillRect/>
                      </a:stretch>
                    </p:blipFill>
                    <p:spPr>
                      <a:xfrm>
                        <a:off x="6096000" y="4648200"/>
                        <a:ext cx="2590800" cy="762000"/>
                      </a:xfrm>
                      <a:prstGeom prst="rect">
                        <a:avLst/>
                      </a:prstGeom>
                      <a:noFill/>
                      <a:ln w="38100">
                        <a:noFill/>
                        <a:miter/>
                      </a:ln>
                    </p:spPr>
                  </p:pic>
                </p:oleObj>
              </mc:Fallback>
            </mc:AlternateContent>
          </a:graphicData>
        </a:graphic>
      </p:graphicFrame>
      <p:graphicFrame>
        <p:nvGraphicFramePr>
          <p:cNvPr id="89094" name="Object 6"/>
          <p:cNvGraphicFramePr/>
          <p:nvPr/>
        </p:nvGraphicFramePr>
        <p:xfrm>
          <a:off x="2252663" y="5715000"/>
          <a:ext cx="4910137" cy="688975"/>
        </p:xfrm>
        <a:graphic>
          <a:graphicData uri="http://schemas.openxmlformats.org/presentationml/2006/ole">
            <mc:AlternateContent xmlns:mc="http://schemas.openxmlformats.org/markup-compatibility/2006">
              <mc:Choice xmlns:v="urn:schemas-microsoft-com:vml" Requires="v">
                <p:oleObj spid="_x0000_s3108" name="" r:id="rId3" imgW="2235200" imgH="469900" progId="Equation.3">
                  <p:embed/>
                </p:oleObj>
              </mc:Choice>
              <mc:Fallback>
                <p:oleObj name="" r:id="rId3" imgW="2235200" imgH="469900" progId="Equation.3">
                  <p:embed/>
                  <p:pic>
                    <p:nvPicPr>
                      <p:cNvPr id="0" name="Picture 3107"/>
                      <p:cNvPicPr/>
                      <p:nvPr/>
                    </p:nvPicPr>
                    <p:blipFill>
                      <a:blip r:embed="rId4"/>
                      <a:stretch>
                        <a:fillRect/>
                      </a:stretch>
                    </p:blipFill>
                    <p:spPr>
                      <a:xfrm>
                        <a:off x="2252663" y="5715000"/>
                        <a:ext cx="4910137" cy="688975"/>
                      </a:xfrm>
                      <a:prstGeom prst="rect">
                        <a:avLst/>
                      </a:prstGeom>
                      <a:noFill/>
                      <a:ln w="38100">
                        <a:noFill/>
                        <a:miter/>
                      </a:ln>
                    </p:spPr>
                  </p:pic>
                </p:oleObj>
              </mc:Fallback>
            </mc:AlternateContent>
          </a:graphicData>
        </a:graphic>
      </p:graphicFrame>
    </p:spTree>
  </p:cSld>
  <p:clrMapOvr>
    <a:masterClrMapping/>
  </p:clrMapOvr>
  <p:transition>
    <p:zo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Slide Number Placeholder 5"/>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
        <p:nvSpPr>
          <p:cNvPr id="90115" name="Rectangle 2"/>
          <p:cNvSpPr>
            <a:spLocks noGrp="1"/>
          </p:cNvSpPr>
          <p:nvPr>
            <p:ph type="title"/>
          </p:nvPr>
        </p:nvSpPr>
        <p:spPr/>
        <p:txBody>
          <a:bodyPr vert="horz" wrap="square" lIns="91440" tIns="45720" rIns="91440" bIns="45720" anchor="b" anchorCtr="0"/>
          <a:p>
            <a:pPr eaLnBrk="1" hangingPunct="1"/>
            <a:r>
              <a:rPr sz="3200" dirty="0"/>
              <a:t>Link Measure in ROCK</a:t>
            </a:r>
            <a:endParaRPr sz="3200" dirty="0"/>
          </a:p>
        </p:txBody>
      </p:sp>
      <p:sp>
        <p:nvSpPr>
          <p:cNvPr id="90116" name="Rectangle 3"/>
          <p:cNvSpPr>
            <a:spLocks noGrp="1"/>
          </p:cNvSpPr>
          <p:nvPr>
            <p:ph idx="1"/>
          </p:nvPr>
        </p:nvSpPr>
        <p:spPr>
          <a:xfrm>
            <a:off x="381000" y="1219200"/>
            <a:ext cx="8382000" cy="5410200"/>
          </a:xfrm>
        </p:spPr>
        <p:txBody>
          <a:bodyPr vert="horz" wrap="square" lIns="91440" tIns="45720" rIns="91440" bIns="45720" anchor="t" anchorCtr="0"/>
          <a:p>
            <a:pPr eaLnBrk="1" hangingPunct="1">
              <a:lnSpc>
                <a:spcPct val="80000"/>
              </a:lnSpc>
            </a:pPr>
            <a:r>
              <a:rPr sz="1800" dirty="0"/>
              <a:t>Clusters</a:t>
            </a:r>
            <a:endParaRPr sz="1800" dirty="0"/>
          </a:p>
          <a:p>
            <a:pPr lvl="1" eaLnBrk="1" hangingPunct="1">
              <a:lnSpc>
                <a:spcPct val="80000"/>
              </a:lnSpc>
            </a:pPr>
            <a:r>
              <a:rPr sz="1800" dirty="0"/>
              <a:t>C</a:t>
            </a:r>
            <a:r>
              <a:rPr sz="1800" baseline="-25000" dirty="0"/>
              <a:t>1</a:t>
            </a:r>
            <a:r>
              <a:rPr sz="1800" dirty="0"/>
              <a:t>:&lt;a, b, c, d, e&gt;: {a, b, c}, {a, b, d}, {a, b, e}, {a, c, d}, {a, c, e}, {a, d, e}, {b, c, d}, {b, c, e}, {b, d, e}, {c, d, e}</a:t>
            </a:r>
            <a:endParaRPr sz="1800" dirty="0"/>
          </a:p>
          <a:p>
            <a:pPr lvl="1" eaLnBrk="1" hangingPunct="1">
              <a:lnSpc>
                <a:spcPct val="80000"/>
              </a:lnSpc>
            </a:pPr>
            <a:r>
              <a:rPr sz="1800" dirty="0"/>
              <a:t>C</a:t>
            </a:r>
            <a:r>
              <a:rPr sz="1800" baseline="-25000" dirty="0"/>
              <a:t>2</a:t>
            </a:r>
            <a:r>
              <a:rPr sz="1800" dirty="0"/>
              <a:t>: &lt;a, b, f, g&gt;: {a, b, f}, {a, b, g}, {a, f, g}, {b, f, g}</a:t>
            </a:r>
            <a:endParaRPr sz="1800" dirty="0"/>
          </a:p>
          <a:p>
            <a:pPr eaLnBrk="1" hangingPunct="1">
              <a:lnSpc>
                <a:spcPct val="80000"/>
              </a:lnSpc>
            </a:pPr>
            <a:r>
              <a:rPr sz="1800" dirty="0"/>
              <a:t>Neighbors</a:t>
            </a:r>
            <a:endParaRPr sz="1800" dirty="0"/>
          </a:p>
          <a:p>
            <a:pPr lvl="1" eaLnBrk="1" hangingPunct="1">
              <a:lnSpc>
                <a:spcPct val="80000"/>
              </a:lnSpc>
            </a:pPr>
            <a:r>
              <a:rPr sz="1800" dirty="0"/>
              <a:t>Two transactions are neighbors if sim(T</a:t>
            </a:r>
            <a:r>
              <a:rPr sz="1800" baseline="-25000" dirty="0"/>
              <a:t>1</a:t>
            </a:r>
            <a:r>
              <a:rPr sz="1800" dirty="0"/>
              <a:t>,T</a:t>
            </a:r>
            <a:r>
              <a:rPr sz="1800" baseline="-25000" dirty="0"/>
              <a:t>2</a:t>
            </a:r>
            <a:r>
              <a:rPr sz="1800" dirty="0"/>
              <a:t>) &gt; threshold</a:t>
            </a:r>
            <a:endParaRPr sz="1800" dirty="0"/>
          </a:p>
          <a:p>
            <a:pPr lvl="1" eaLnBrk="1" hangingPunct="1">
              <a:lnSpc>
                <a:spcPct val="120000"/>
              </a:lnSpc>
            </a:pPr>
            <a:r>
              <a:rPr sz="1800" dirty="0"/>
              <a:t>Let </a:t>
            </a:r>
            <a:r>
              <a:rPr sz="1800" i="1" dirty="0"/>
              <a:t>T</a:t>
            </a:r>
            <a:r>
              <a:rPr sz="1800" i="1" baseline="-25000" dirty="0"/>
              <a:t>1</a:t>
            </a:r>
            <a:r>
              <a:rPr sz="1800" dirty="0"/>
              <a:t> = {a, b, c}, </a:t>
            </a:r>
            <a:r>
              <a:rPr sz="1800" i="1" dirty="0"/>
              <a:t>T</a:t>
            </a:r>
            <a:r>
              <a:rPr sz="1800" i="1" baseline="-25000" dirty="0"/>
              <a:t>2 </a:t>
            </a:r>
            <a:r>
              <a:rPr sz="1800" dirty="0"/>
              <a:t>= {c, d, e}, T</a:t>
            </a:r>
            <a:r>
              <a:rPr sz="1800" baseline="-25000" dirty="0"/>
              <a:t>3</a:t>
            </a:r>
            <a:r>
              <a:rPr sz="1800" dirty="0"/>
              <a:t> = {a, b, f}</a:t>
            </a:r>
            <a:endParaRPr sz="1800" dirty="0"/>
          </a:p>
          <a:p>
            <a:pPr lvl="2" eaLnBrk="1" hangingPunct="1">
              <a:lnSpc>
                <a:spcPct val="80000"/>
              </a:lnSpc>
            </a:pPr>
            <a:r>
              <a:rPr sz="1800" i="1" dirty="0"/>
              <a:t>T</a:t>
            </a:r>
            <a:r>
              <a:rPr sz="1800" i="1" baseline="-25000" dirty="0"/>
              <a:t>1 </a:t>
            </a:r>
            <a:r>
              <a:rPr sz="1800" dirty="0"/>
              <a:t> connected to: {a,b,d}, {a,b,e}, {a,c,d}, {a,c,e}, {b,c,d}, {b,c,e}, {a,b,f}, {a,b,g}</a:t>
            </a:r>
            <a:endParaRPr sz="1800" dirty="0"/>
          </a:p>
          <a:p>
            <a:pPr lvl="2" eaLnBrk="1" hangingPunct="1">
              <a:lnSpc>
                <a:spcPct val="80000"/>
              </a:lnSpc>
            </a:pPr>
            <a:r>
              <a:rPr sz="1800" i="1" dirty="0"/>
              <a:t>T</a:t>
            </a:r>
            <a:r>
              <a:rPr sz="1800" i="1" baseline="-25000" dirty="0"/>
              <a:t>2</a:t>
            </a:r>
            <a:r>
              <a:rPr sz="1800" dirty="0"/>
              <a:t> connected to: {a,c,d}, {a,c,e}, {a,d,e}, {b,c,e}, {b,d,e}, {b,c,d}</a:t>
            </a:r>
            <a:endParaRPr sz="1800" dirty="0"/>
          </a:p>
          <a:p>
            <a:pPr lvl="2" eaLnBrk="1" hangingPunct="1">
              <a:lnSpc>
                <a:spcPct val="80000"/>
              </a:lnSpc>
            </a:pPr>
            <a:r>
              <a:rPr sz="1800" dirty="0"/>
              <a:t>T</a:t>
            </a:r>
            <a:r>
              <a:rPr sz="1800" baseline="-25000" dirty="0"/>
              <a:t>3</a:t>
            </a:r>
            <a:r>
              <a:rPr sz="1800" dirty="0"/>
              <a:t> connected to: {a,b,c}, {a,b,d}, {a,b,e}, {a,b,g}, {a,f,g}, {b,f,g}</a:t>
            </a:r>
            <a:endParaRPr sz="1800" dirty="0"/>
          </a:p>
          <a:p>
            <a:pPr eaLnBrk="1" hangingPunct="1">
              <a:lnSpc>
                <a:spcPct val="80000"/>
              </a:lnSpc>
            </a:pPr>
            <a:r>
              <a:rPr sz="1800" dirty="0"/>
              <a:t>Link Similarity</a:t>
            </a:r>
            <a:endParaRPr sz="1800" dirty="0"/>
          </a:p>
          <a:p>
            <a:pPr lvl="1" eaLnBrk="1" hangingPunct="1">
              <a:lnSpc>
                <a:spcPct val="80000"/>
              </a:lnSpc>
            </a:pPr>
            <a:r>
              <a:rPr sz="1800" dirty="0"/>
              <a:t>Link similarity between two transactions is the # of common neighbors</a:t>
            </a:r>
            <a:endParaRPr sz="1800" dirty="0"/>
          </a:p>
          <a:p>
            <a:pPr lvl="1" eaLnBrk="1" hangingPunct="1">
              <a:lnSpc>
                <a:spcPct val="120000"/>
              </a:lnSpc>
            </a:pPr>
            <a:r>
              <a:rPr sz="1800" dirty="0"/>
              <a:t>link(</a:t>
            </a:r>
            <a:r>
              <a:rPr sz="1800" i="1" dirty="0"/>
              <a:t>T</a:t>
            </a:r>
            <a:r>
              <a:rPr sz="1800" i="1" baseline="-25000" dirty="0"/>
              <a:t>1, </a:t>
            </a:r>
            <a:r>
              <a:rPr sz="1800" i="1" dirty="0"/>
              <a:t>T</a:t>
            </a:r>
            <a:r>
              <a:rPr sz="1800" i="1" baseline="-25000" dirty="0"/>
              <a:t>2</a:t>
            </a:r>
            <a:r>
              <a:rPr sz="1800" i="1" dirty="0"/>
              <a:t>) = 4, since they have 4 common neighbors</a:t>
            </a:r>
            <a:endParaRPr sz="1800" i="1" dirty="0"/>
          </a:p>
          <a:p>
            <a:pPr lvl="2" eaLnBrk="1" hangingPunct="1">
              <a:lnSpc>
                <a:spcPct val="120000"/>
              </a:lnSpc>
            </a:pPr>
            <a:r>
              <a:rPr sz="1800" dirty="0"/>
              <a:t>{a, c, d}, {a, c, e}, {b, c, d}, {b, c, e}</a:t>
            </a:r>
            <a:endParaRPr sz="1800" dirty="0"/>
          </a:p>
          <a:p>
            <a:pPr lvl="1" eaLnBrk="1" hangingPunct="1">
              <a:lnSpc>
                <a:spcPct val="120000"/>
              </a:lnSpc>
            </a:pPr>
            <a:r>
              <a:rPr sz="1800" dirty="0"/>
              <a:t>link(</a:t>
            </a:r>
            <a:r>
              <a:rPr sz="1800" i="1" dirty="0"/>
              <a:t>T</a:t>
            </a:r>
            <a:r>
              <a:rPr sz="1800" i="1" baseline="-25000" dirty="0"/>
              <a:t>1, </a:t>
            </a:r>
            <a:r>
              <a:rPr sz="1800" i="1" dirty="0"/>
              <a:t>T</a:t>
            </a:r>
            <a:r>
              <a:rPr sz="1800" i="1" baseline="-25000" dirty="0"/>
              <a:t>3</a:t>
            </a:r>
            <a:r>
              <a:rPr sz="1800" i="1" dirty="0"/>
              <a:t>) = 3, since they have 3 common neighbors</a:t>
            </a:r>
            <a:endParaRPr sz="1800" i="1" dirty="0"/>
          </a:p>
          <a:p>
            <a:pPr lvl="2" eaLnBrk="1" hangingPunct="1">
              <a:lnSpc>
                <a:spcPct val="120000"/>
              </a:lnSpc>
            </a:pPr>
            <a:r>
              <a:rPr sz="1800" dirty="0"/>
              <a:t>{a, b, d}, {a, b, e}, {a, b, g}</a:t>
            </a:r>
            <a:endParaRPr sz="1800" dirty="0"/>
          </a:p>
        </p:txBody>
      </p:sp>
    </p:spTree>
  </p:cSld>
  <p:clrMapOvr>
    <a:masterClrMapping/>
  </p:clrMapOvr>
  <p:transition>
    <p:zoom/>
  </p:transition>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91138" name="Slide Number Placeholder 5"/>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
        <p:nvSpPr>
          <p:cNvPr id="91139" name="Rectangle 2"/>
          <p:cNvSpPr>
            <a:spLocks noGrp="1"/>
          </p:cNvSpPr>
          <p:nvPr>
            <p:ph type="title"/>
          </p:nvPr>
        </p:nvSpPr>
        <p:spPr/>
        <p:txBody>
          <a:bodyPr vert="horz" wrap="square" lIns="91440" tIns="45720" rIns="91440" bIns="45720" anchor="b" anchorCtr="0"/>
          <a:p>
            <a:pPr eaLnBrk="1" hangingPunct="1"/>
            <a:r>
              <a:rPr sz="3200" dirty="0"/>
              <a:t>Rock Algorithm</a:t>
            </a:r>
            <a:endParaRPr sz="3200" dirty="0"/>
          </a:p>
        </p:txBody>
      </p:sp>
      <p:sp>
        <p:nvSpPr>
          <p:cNvPr id="91140" name="Rectangle 3"/>
          <p:cNvSpPr>
            <a:spLocks noGrp="1"/>
          </p:cNvSpPr>
          <p:nvPr>
            <p:ph idx="1"/>
          </p:nvPr>
        </p:nvSpPr>
        <p:spPr/>
        <p:txBody>
          <a:bodyPr vert="horz" wrap="square" lIns="91440" tIns="45720" rIns="91440" bIns="45720" anchor="t" anchorCtr="0"/>
          <a:p>
            <a:pPr eaLnBrk="1" hangingPunct="1"/>
            <a:r>
              <a:rPr sz="2400" dirty="0"/>
              <a:t>Method</a:t>
            </a:r>
            <a:endParaRPr sz="2400" dirty="0"/>
          </a:p>
          <a:p>
            <a:pPr lvl="1" eaLnBrk="1" hangingPunct="1"/>
            <a:r>
              <a:rPr sz="2400" dirty="0"/>
              <a:t>Compute similarity matrix</a:t>
            </a:r>
            <a:endParaRPr sz="2400" dirty="0"/>
          </a:p>
          <a:p>
            <a:pPr lvl="2" eaLnBrk="1" hangingPunct="1"/>
            <a:r>
              <a:rPr sz="2000" dirty="0"/>
              <a:t>Use link similarity</a:t>
            </a:r>
            <a:endParaRPr sz="2000" dirty="0"/>
          </a:p>
          <a:p>
            <a:pPr lvl="1" eaLnBrk="1" hangingPunct="1"/>
            <a:r>
              <a:rPr sz="2400" dirty="0"/>
              <a:t>Run agglomerative hierarchical clustering</a:t>
            </a:r>
            <a:endParaRPr sz="2400" dirty="0"/>
          </a:p>
          <a:p>
            <a:pPr lvl="1" eaLnBrk="1" hangingPunct="1"/>
            <a:r>
              <a:rPr sz="2400" dirty="0"/>
              <a:t>When the data set is big</a:t>
            </a:r>
            <a:endParaRPr sz="2400" dirty="0"/>
          </a:p>
          <a:p>
            <a:pPr lvl="2" eaLnBrk="1" hangingPunct="1"/>
            <a:r>
              <a:rPr sz="2000" dirty="0"/>
              <a:t>Get sample of transactions</a:t>
            </a:r>
            <a:endParaRPr sz="2000" dirty="0"/>
          </a:p>
          <a:p>
            <a:pPr lvl="2" eaLnBrk="1" hangingPunct="1"/>
            <a:r>
              <a:rPr sz="2000" dirty="0"/>
              <a:t>Cluster sample</a:t>
            </a:r>
            <a:endParaRPr sz="2000" dirty="0"/>
          </a:p>
          <a:p>
            <a:pPr eaLnBrk="1" hangingPunct="1"/>
            <a:r>
              <a:rPr sz="2400" dirty="0"/>
              <a:t>Problems:</a:t>
            </a:r>
            <a:endParaRPr sz="2400" dirty="0"/>
          </a:p>
          <a:p>
            <a:pPr lvl="1" eaLnBrk="1" hangingPunct="1"/>
            <a:r>
              <a:rPr sz="2400" dirty="0"/>
              <a:t>Guarantee cluster interconnectivity</a:t>
            </a:r>
            <a:endParaRPr sz="2400" dirty="0"/>
          </a:p>
          <a:p>
            <a:pPr lvl="2" eaLnBrk="1" hangingPunct="1"/>
            <a:r>
              <a:rPr sz="2000" dirty="0"/>
              <a:t>any two transactions in a cluster are very well connected</a:t>
            </a:r>
            <a:endParaRPr sz="2000" dirty="0"/>
          </a:p>
          <a:p>
            <a:pPr lvl="1" eaLnBrk="1" hangingPunct="1"/>
            <a:r>
              <a:rPr sz="2400" dirty="0"/>
              <a:t>Ignores information about closeness of two clusters</a:t>
            </a:r>
            <a:endParaRPr sz="2400" dirty="0"/>
          </a:p>
          <a:p>
            <a:pPr lvl="2" eaLnBrk="1" hangingPunct="1"/>
            <a:r>
              <a:rPr sz="2000" dirty="0"/>
              <a:t>two separate clusters may still be quite connected</a:t>
            </a:r>
            <a:endParaRPr sz="2000" dirty="0"/>
          </a:p>
        </p:txBody>
      </p:sp>
    </p:spTree>
  </p:cSld>
  <p:clrMapOvr>
    <a:masterClrMapping/>
  </p:clrMapOvr>
  <p:transition>
    <p:zo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2"/>
          <p:cNvSpPr>
            <a:spLocks noGrp="1"/>
          </p:cNvSpPr>
          <p:nvPr>
            <p:ph type="title" idx="4294967295"/>
          </p:nvPr>
        </p:nvSpPr>
        <p:spPr>
          <a:xfrm>
            <a:off x="76200" y="304800"/>
            <a:ext cx="9067800" cy="533400"/>
          </a:xfrm>
        </p:spPr>
        <p:txBody>
          <a:bodyPr vert="horz" wrap="square" lIns="91440" tIns="45720" rIns="91440" bIns="45720" anchor="b" anchorCtr="0"/>
          <a:p>
            <a:pPr eaLnBrk="1" hangingPunct="1"/>
            <a:r>
              <a:rPr lang="en-US" altLang="zh-CN" sz="2800" dirty="0">
                <a:ea typeface="SimSun" panose="02010600030101010101" pitchFamily="2" charset="-122"/>
              </a:rPr>
              <a:t>Aggregation-Based Similarity Computation</a:t>
            </a:r>
            <a:endParaRPr lang="en-US" altLang="zh-CN" sz="2800" dirty="0">
              <a:ea typeface="SimSun" panose="02010600030101010101" pitchFamily="2" charset="-122"/>
            </a:endParaRPr>
          </a:p>
        </p:txBody>
      </p:sp>
      <p:grpSp>
        <p:nvGrpSpPr>
          <p:cNvPr id="92163" name="Group 3"/>
          <p:cNvGrpSpPr/>
          <p:nvPr/>
        </p:nvGrpSpPr>
        <p:grpSpPr>
          <a:xfrm>
            <a:off x="2209800" y="990600"/>
            <a:ext cx="4953000" cy="2133600"/>
            <a:chOff x="1392" y="624"/>
            <a:chExt cx="3120" cy="1344"/>
          </a:xfrm>
        </p:grpSpPr>
        <p:sp>
          <p:nvSpPr>
            <p:cNvPr id="92176" name="Oval 4"/>
            <p:cNvSpPr/>
            <p:nvPr/>
          </p:nvSpPr>
          <p:spPr>
            <a:xfrm>
              <a:off x="1824" y="720"/>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r>
                <a:rPr lang="en-US" altLang="zh-CN" sz="2000" dirty="0">
                  <a:latin typeface="Times New Roman" panose="02020603050405020304" pitchFamily="18" charset="0"/>
                  <a:ea typeface="SimSun" panose="02010600030101010101" pitchFamily="2" charset="-122"/>
                </a:rPr>
                <a:t>4</a:t>
              </a:r>
              <a:endParaRPr lang="en-US" altLang="zh-CN" sz="2000" dirty="0">
                <a:latin typeface="Times New Roman" panose="02020603050405020304" pitchFamily="18" charset="0"/>
                <a:ea typeface="SimSun" panose="02010600030101010101" pitchFamily="2" charset="-122"/>
              </a:endParaRPr>
            </a:p>
          </p:txBody>
        </p:sp>
        <p:sp>
          <p:nvSpPr>
            <p:cNvPr id="92177" name="Oval 5"/>
            <p:cNvSpPr/>
            <p:nvPr/>
          </p:nvSpPr>
          <p:spPr>
            <a:xfrm>
              <a:off x="3504" y="720"/>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r>
                <a:rPr lang="en-US" altLang="zh-CN" sz="2000" dirty="0">
                  <a:latin typeface="Times New Roman" panose="02020603050405020304" pitchFamily="18" charset="0"/>
                  <a:ea typeface="SimSun" panose="02010600030101010101" pitchFamily="2" charset="-122"/>
                </a:rPr>
                <a:t>5</a:t>
              </a:r>
              <a:endParaRPr lang="en-US" altLang="zh-CN" sz="2000" dirty="0">
                <a:latin typeface="Times New Roman" panose="02020603050405020304" pitchFamily="18" charset="0"/>
                <a:ea typeface="SimSun" panose="02010600030101010101" pitchFamily="2" charset="-122"/>
              </a:endParaRPr>
            </a:p>
          </p:txBody>
        </p:sp>
        <p:cxnSp>
          <p:nvCxnSpPr>
            <p:cNvPr id="92178" name="AutoShape 6"/>
            <p:cNvCxnSpPr>
              <a:stCxn id="92176" idx="4"/>
              <a:endCxn id="92182" idx="0"/>
            </p:cNvCxnSpPr>
            <p:nvPr/>
          </p:nvCxnSpPr>
          <p:spPr>
            <a:xfrm flipH="1">
              <a:off x="1488" y="912"/>
              <a:ext cx="432" cy="288"/>
            </a:xfrm>
            <a:prstGeom prst="straightConnector1">
              <a:avLst/>
            </a:prstGeom>
            <a:ln w="9525" cap="flat" cmpd="sng">
              <a:solidFill>
                <a:schemeClr val="tx1"/>
              </a:solidFill>
              <a:prstDash val="solid"/>
              <a:headEnd type="none" w="med" len="med"/>
              <a:tailEnd type="none" w="med" len="med"/>
            </a:ln>
          </p:spPr>
        </p:cxnSp>
        <p:cxnSp>
          <p:nvCxnSpPr>
            <p:cNvPr id="92179" name="AutoShape 7"/>
            <p:cNvCxnSpPr>
              <a:stCxn id="92176" idx="4"/>
              <a:endCxn id="92183" idx="0"/>
            </p:cNvCxnSpPr>
            <p:nvPr/>
          </p:nvCxnSpPr>
          <p:spPr>
            <a:xfrm>
              <a:off x="1920" y="912"/>
              <a:ext cx="480" cy="288"/>
            </a:xfrm>
            <a:prstGeom prst="straightConnector1">
              <a:avLst/>
            </a:prstGeom>
            <a:ln w="9525" cap="flat" cmpd="sng">
              <a:solidFill>
                <a:schemeClr val="tx1"/>
              </a:solidFill>
              <a:prstDash val="solid"/>
              <a:headEnd type="none" w="med" len="med"/>
              <a:tailEnd type="none" w="med" len="med"/>
            </a:ln>
          </p:spPr>
        </p:cxnSp>
        <p:cxnSp>
          <p:nvCxnSpPr>
            <p:cNvPr id="92180" name="AutoShape 8"/>
            <p:cNvCxnSpPr>
              <a:stCxn id="92177" idx="4"/>
              <a:endCxn id="92184" idx="0"/>
            </p:cNvCxnSpPr>
            <p:nvPr/>
          </p:nvCxnSpPr>
          <p:spPr>
            <a:xfrm flipH="1">
              <a:off x="3360" y="912"/>
              <a:ext cx="240" cy="288"/>
            </a:xfrm>
            <a:prstGeom prst="straightConnector1">
              <a:avLst/>
            </a:prstGeom>
            <a:ln w="9525" cap="flat" cmpd="sng">
              <a:solidFill>
                <a:schemeClr val="tx1"/>
              </a:solidFill>
              <a:prstDash val="solid"/>
              <a:headEnd type="none" w="med" len="med"/>
              <a:tailEnd type="none" w="med" len="med"/>
            </a:ln>
          </p:spPr>
        </p:cxnSp>
        <p:cxnSp>
          <p:nvCxnSpPr>
            <p:cNvPr id="92181" name="AutoShape 9"/>
            <p:cNvCxnSpPr>
              <a:stCxn id="92177" idx="4"/>
              <a:endCxn id="92185" idx="0"/>
            </p:cNvCxnSpPr>
            <p:nvPr/>
          </p:nvCxnSpPr>
          <p:spPr>
            <a:xfrm>
              <a:off x="3600" y="912"/>
              <a:ext cx="240" cy="288"/>
            </a:xfrm>
            <a:prstGeom prst="straightConnector1">
              <a:avLst/>
            </a:prstGeom>
            <a:ln w="9525" cap="flat" cmpd="sng">
              <a:solidFill>
                <a:schemeClr val="tx1"/>
              </a:solidFill>
              <a:prstDash val="solid"/>
              <a:headEnd type="none" w="med" len="med"/>
              <a:tailEnd type="none" w="med" len="med"/>
            </a:ln>
          </p:spPr>
        </p:cxnSp>
        <p:sp>
          <p:nvSpPr>
            <p:cNvPr id="92182" name="Oval 10"/>
            <p:cNvSpPr/>
            <p:nvPr/>
          </p:nvSpPr>
          <p:spPr>
            <a:xfrm>
              <a:off x="1392" y="1200"/>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r>
                <a:rPr lang="en-US" altLang="zh-CN" sz="1600" dirty="0">
                  <a:latin typeface="Times New Roman" panose="02020603050405020304" pitchFamily="18" charset="0"/>
                  <a:ea typeface="SimSun" panose="02010600030101010101" pitchFamily="2" charset="-122"/>
                </a:rPr>
                <a:t>10</a:t>
              </a:r>
              <a:endParaRPr lang="en-US" altLang="zh-CN" sz="1600" dirty="0">
                <a:latin typeface="Times New Roman" panose="02020603050405020304" pitchFamily="18" charset="0"/>
                <a:ea typeface="SimSun" panose="02010600030101010101" pitchFamily="2" charset="-122"/>
              </a:endParaRPr>
            </a:p>
          </p:txBody>
        </p:sp>
        <p:sp>
          <p:nvSpPr>
            <p:cNvPr id="92183" name="Oval 11"/>
            <p:cNvSpPr/>
            <p:nvPr/>
          </p:nvSpPr>
          <p:spPr>
            <a:xfrm>
              <a:off x="2304" y="1200"/>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r>
                <a:rPr lang="en-US" altLang="zh-CN" sz="1600" dirty="0">
                  <a:latin typeface="Times New Roman" panose="02020603050405020304" pitchFamily="18" charset="0"/>
                  <a:ea typeface="SimSun" panose="02010600030101010101" pitchFamily="2" charset="-122"/>
                </a:rPr>
                <a:t>12</a:t>
              </a:r>
              <a:endParaRPr lang="en-US" altLang="zh-CN" sz="1600" dirty="0">
                <a:latin typeface="Times New Roman" panose="02020603050405020304" pitchFamily="18" charset="0"/>
                <a:ea typeface="SimSun" panose="02010600030101010101" pitchFamily="2" charset="-122"/>
              </a:endParaRPr>
            </a:p>
          </p:txBody>
        </p:sp>
        <p:sp>
          <p:nvSpPr>
            <p:cNvPr id="92184" name="Oval 12"/>
            <p:cNvSpPr/>
            <p:nvPr/>
          </p:nvSpPr>
          <p:spPr>
            <a:xfrm>
              <a:off x="3264" y="1200"/>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r>
                <a:rPr lang="en-US" altLang="zh-CN" sz="1600" dirty="0">
                  <a:latin typeface="Times New Roman" panose="02020603050405020304" pitchFamily="18" charset="0"/>
                  <a:ea typeface="SimSun" panose="02010600030101010101" pitchFamily="2" charset="-122"/>
                </a:rPr>
                <a:t>13</a:t>
              </a:r>
              <a:endParaRPr lang="en-US" altLang="zh-CN" sz="1600" dirty="0">
                <a:latin typeface="Times New Roman" panose="02020603050405020304" pitchFamily="18" charset="0"/>
                <a:ea typeface="SimSun" panose="02010600030101010101" pitchFamily="2" charset="-122"/>
              </a:endParaRPr>
            </a:p>
          </p:txBody>
        </p:sp>
        <p:sp>
          <p:nvSpPr>
            <p:cNvPr id="92185" name="Oval 13"/>
            <p:cNvSpPr/>
            <p:nvPr/>
          </p:nvSpPr>
          <p:spPr>
            <a:xfrm>
              <a:off x="3744" y="1200"/>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r>
                <a:rPr lang="en-US" altLang="zh-CN" sz="1600" dirty="0">
                  <a:latin typeface="Times New Roman" panose="02020603050405020304" pitchFamily="18" charset="0"/>
                  <a:ea typeface="SimSun" panose="02010600030101010101" pitchFamily="2" charset="-122"/>
                </a:rPr>
                <a:t>14</a:t>
              </a:r>
              <a:endParaRPr lang="en-US" altLang="zh-CN" sz="1600" dirty="0">
                <a:latin typeface="Times New Roman" panose="02020603050405020304" pitchFamily="18" charset="0"/>
                <a:ea typeface="SimSun" panose="02010600030101010101" pitchFamily="2" charset="-122"/>
              </a:endParaRPr>
            </a:p>
          </p:txBody>
        </p:sp>
        <p:sp>
          <p:nvSpPr>
            <p:cNvPr id="92186" name="Oval 14"/>
            <p:cNvSpPr/>
            <p:nvPr/>
          </p:nvSpPr>
          <p:spPr>
            <a:xfrm>
              <a:off x="1824" y="1776"/>
              <a:ext cx="192" cy="192"/>
            </a:xfrm>
            <a:prstGeom prst="ellipse">
              <a:avLst/>
            </a:prstGeom>
            <a:solidFill>
              <a:schemeClr val="bg1"/>
            </a:solidFill>
            <a:ln w="22225" cap="flat" cmpd="sng">
              <a:solidFill>
                <a:schemeClr val="tx1"/>
              </a:solidFill>
              <a:prstDash val="solid"/>
              <a:headEnd type="none" w="med" len="med"/>
              <a:tailEnd type="none" w="med" len="med"/>
            </a:ln>
          </p:spPr>
          <p:txBody>
            <a:bodyPr wrap="none" anchor="ctr" anchorCtr="0"/>
            <a:p>
              <a:r>
                <a:rPr lang="en-US" altLang="zh-CN" sz="2000" dirty="0">
                  <a:latin typeface="Times New Roman" panose="02020603050405020304" pitchFamily="18" charset="0"/>
                  <a:ea typeface="SimSun" panose="02010600030101010101" pitchFamily="2" charset="-122"/>
                </a:rPr>
                <a:t>a</a:t>
              </a:r>
              <a:endParaRPr lang="en-US" altLang="zh-CN" sz="2000" dirty="0">
                <a:latin typeface="Times New Roman" panose="02020603050405020304" pitchFamily="18" charset="0"/>
                <a:ea typeface="SimSun" panose="02010600030101010101" pitchFamily="2" charset="-122"/>
              </a:endParaRPr>
            </a:p>
          </p:txBody>
        </p:sp>
        <p:sp>
          <p:nvSpPr>
            <p:cNvPr id="92187" name="Oval 15"/>
            <p:cNvSpPr/>
            <p:nvPr/>
          </p:nvSpPr>
          <p:spPr>
            <a:xfrm>
              <a:off x="3504" y="1776"/>
              <a:ext cx="192" cy="192"/>
            </a:xfrm>
            <a:prstGeom prst="ellipse">
              <a:avLst/>
            </a:prstGeom>
            <a:solidFill>
              <a:schemeClr val="bg1"/>
            </a:solidFill>
            <a:ln w="22225" cap="flat" cmpd="sng">
              <a:solidFill>
                <a:schemeClr val="tx1"/>
              </a:solidFill>
              <a:prstDash val="solid"/>
              <a:headEnd type="none" w="med" len="med"/>
              <a:tailEnd type="none" w="med" len="med"/>
            </a:ln>
          </p:spPr>
          <p:txBody>
            <a:bodyPr wrap="none" anchor="ctr" anchorCtr="0"/>
            <a:p>
              <a:r>
                <a:rPr lang="en-US" altLang="zh-CN" sz="2000" dirty="0">
                  <a:latin typeface="Times New Roman" panose="02020603050405020304" pitchFamily="18" charset="0"/>
                  <a:ea typeface="SimSun" panose="02010600030101010101" pitchFamily="2" charset="-122"/>
                </a:rPr>
                <a:t>b</a:t>
              </a:r>
              <a:endParaRPr lang="en-US" altLang="zh-CN" sz="2000" dirty="0">
                <a:latin typeface="Times New Roman" panose="02020603050405020304" pitchFamily="18" charset="0"/>
                <a:ea typeface="SimSun" panose="02010600030101010101" pitchFamily="2" charset="-122"/>
              </a:endParaRPr>
            </a:p>
          </p:txBody>
        </p:sp>
        <p:cxnSp>
          <p:nvCxnSpPr>
            <p:cNvPr id="92188" name="AutoShape 16"/>
            <p:cNvCxnSpPr>
              <a:stCxn id="92186" idx="0"/>
              <a:endCxn id="92182" idx="4"/>
            </p:cNvCxnSpPr>
            <p:nvPr/>
          </p:nvCxnSpPr>
          <p:spPr>
            <a:xfrm rot="5400000" flipH="1">
              <a:off x="1515" y="1364"/>
              <a:ext cx="377" cy="432"/>
            </a:xfrm>
            <a:prstGeom prst="curvedConnector3">
              <a:avLst>
                <a:gd name="adj1" fmla="val 49069"/>
              </a:avLst>
            </a:prstGeom>
            <a:ln w="9525" cap="flat" cmpd="sng">
              <a:solidFill>
                <a:schemeClr val="tx1"/>
              </a:solidFill>
              <a:prstDash val="dash"/>
              <a:headEnd type="none" w="med" len="med"/>
              <a:tailEnd type="none" w="med" len="med"/>
            </a:ln>
          </p:spPr>
        </p:cxnSp>
        <p:cxnSp>
          <p:nvCxnSpPr>
            <p:cNvPr id="92189" name="AutoShape 17"/>
            <p:cNvCxnSpPr>
              <a:stCxn id="92186" idx="0"/>
              <a:endCxn id="92183" idx="4"/>
            </p:cNvCxnSpPr>
            <p:nvPr/>
          </p:nvCxnSpPr>
          <p:spPr>
            <a:xfrm rot="-5400000">
              <a:off x="1971" y="1340"/>
              <a:ext cx="377" cy="480"/>
            </a:xfrm>
            <a:prstGeom prst="curvedConnector3">
              <a:avLst>
                <a:gd name="adj1" fmla="val 49069"/>
              </a:avLst>
            </a:prstGeom>
            <a:ln w="9525" cap="flat" cmpd="sng">
              <a:solidFill>
                <a:schemeClr val="tx1"/>
              </a:solidFill>
              <a:prstDash val="dash"/>
              <a:headEnd type="none" w="med" len="med"/>
              <a:tailEnd type="none" w="med" len="med"/>
            </a:ln>
          </p:spPr>
        </p:cxnSp>
        <p:cxnSp>
          <p:nvCxnSpPr>
            <p:cNvPr id="92190" name="AutoShape 18"/>
            <p:cNvCxnSpPr>
              <a:stCxn id="92187" idx="0"/>
              <a:endCxn id="92185" idx="4"/>
            </p:cNvCxnSpPr>
            <p:nvPr/>
          </p:nvCxnSpPr>
          <p:spPr>
            <a:xfrm rot="-5400000">
              <a:off x="3531" y="1460"/>
              <a:ext cx="377" cy="240"/>
            </a:xfrm>
            <a:prstGeom prst="curvedConnector3">
              <a:avLst>
                <a:gd name="adj1" fmla="val 49069"/>
              </a:avLst>
            </a:prstGeom>
            <a:ln w="9525" cap="flat" cmpd="sng">
              <a:solidFill>
                <a:schemeClr val="tx1"/>
              </a:solidFill>
              <a:prstDash val="dash"/>
              <a:headEnd type="none" w="med" len="med"/>
              <a:tailEnd type="none" w="med" len="med"/>
            </a:ln>
          </p:spPr>
        </p:cxnSp>
        <p:sp>
          <p:nvSpPr>
            <p:cNvPr id="92191" name="Text Box 19"/>
            <p:cNvSpPr txBox="1"/>
            <p:nvPr/>
          </p:nvSpPr>
          <p:spPr>
            <a:xfrm>
              <a:off x="3936" y="672"/>
              <a:ext cx="528" cy="288"/>
            </a:xfrm>
            <a:prstGeom prst="rect">
              <a:avLst/>
            </a:prstGeom>
            <a:noFill/>
            <a:ln w="9525">
              <a:noFill/>
            </a:ln>
          </p:spPr>
          <p:txBody>
            <a:bodyPr>
              <a:spAutoFit/>
            </a:bodyPr>
            <a:p>
              <a:pPr>
                <a:spcBef>
                  <a:spcPct val="50000"/>
                </a:spcBef>
              </a:pPr>
              <a:r>
                <a:rPr lang="en-US" altLang="zh-CN" i="1" dirty="0">
                  <a:latin typeface="Times New Roman" panose="02020603050405020304" pitchFamily="18" charset="0"/>
                  <a:ea typeface="SimSun" panose="02010600030101010101" pitchFamily="2" charset="-122"/>
                </a:rPr>
                <a:t>ST</a:t>
              </a:r>
              <a:r>
                <a:rPr lang="en-US" altLang="zh-CN" baseline="-25000" dirty="0">
                  <a:latin typeface="Times New Roman" panose="02020603050405020304" pitchFamily="18" charset="0"/>
                  <a:ea typeface="SimSun" panose="02010600030101010101" pitchFamily="2" charset="-122"/>
                </a:rPr>
                <a:t>2</a:t>
              </a:r>
              <a:endParaRPr lang="en-US" altLang="zh-CN" baseline="-25000" dirty="0">
                <a:latin typeface="Times New Roman" panose="02020603050405020304" pitchFamily="18" charset="0"/>
                <a:ea typeface="SimSun" panose="02010600030101010101" pitchFamily="2" charset="-122"/>
              </a:endParaRPr>
            </a:p>
          </p:txBody>
        </p:sp>
        <p:cxnSp>
          <p:nvCxnSpPr>
            <p:cNvPr id="92192" name="AutoShape 20"/>
            <p:cNvCxnSpPr>
              <a:stCxn id="92176" idx="6"/>
              <a:endCxn id="92177" idx="2"/>
            </p:cNvCxnSpPr>
            <p:nvPr/>
          </p:nvCxnSpPr>
          <p:spPr>
            <a:xfrm>
              <a:off x="2016" y="816"/>
              <a:ext cx="1488" cy="0"/>
            </a:xfrm>
            <a:prstGeom prst="straightConnector1">
              <a:avLst/>
            </a:prstGeom>
            <a:ln w="9525" cap="flat" cmpd="sng">
              <a:solidFill>
                <a:schemeClr val="tx1"/>
              </a:solidFill>
              <a:prstDash val="solid"/>
              <a:headEnd type="none" w="med" len="med"/>
              <a:tailEnd type="none" w="med" len="med"/>
            </a:ln>
          </p:spPr>
        </p:cxnSp>
        <p:sp>
          <p:nvSpPr>
            <p:cNvPr id="92193" name="Text Box 21"/>
            <p:cNvSpPr txBox="1"/>
            <p:nvPr/>
          </p:nvSpPr>
          <p:spPr>
            <a:xfrm>
              <a:off x="3984" y="1680"/>
              <a:ext cx="528" cy="288"/>
            </a:xfrm>
            <a:prstGeom prst="rect">
              <a:avLst/>
            </a:prstGeom>
            <a:noFill/>
            <a:ln w="9525">
              <a:noFill/>
            </a:ln>
          </p:spPr>
          <p:txBody>
            <a:bodyPr>
              <a:spAutoFit/>
            </a:bodyPr>
            <a:p>
              <a:pPr>
                <a:spcBef>
                  <a:spcPct val="50000"/>
                </a:spcBef>
              </a:pPr>
              <a:r>
                <a:rPr lang="en-US" altLang="zh-CN" i="1" dirty="0">
                  <a:latin typeface="Times New Roman" panose="02020603050405020304" pitchFamily="18" charset="0"/>
                  <a:ea typeface="SimSun" panose="02010600030101010101" pitchFamily="2" charset="-122"/>
                </a:rPr>
                <a:t>ST</a:t>
              </a:r>
              <a:r>
                <a:rPr lang="en-US" altLang="zh-CN" baseline="-25000" dirty="0">
                  <a:latin typeface="Times New Roman" panose="02020603050405020304" pitchFamily="18" charset="0"/>
                  <a:ea typeface="SimSun" panose="02010600030101010101" pitchFamily="2" charset="-122"/>
                </a:rPr>
                <a:t>1</a:t>
              </a:r>
              <a:endParaRPr lang="en-US" altLang="zh-CN" baseline="-25000" dirty="0">
                <a:latin typeface="Times New Roman" panose="02020603050405020304" pitchFamily="18" charset="0"/>
                <a:ea typeface="SimSun" panose="02010600030101010101" pitchFamily="2" charset="-122"/>
              </a:endParaRPr>
            </a:p>
          </p:txBody>
        </p:sp>
        <p:cxnSp>
          <p:nvCxnSpPr>
            <p:cNvPr id="92194" name="AutoShape 22"/>
            <p:cNvCxnSpPr>
              <a:stCxn id="92187" idx="0"/>
              <a:endCxn id="92184" idx="4"/>
            </p:cNvCxnSpPr>
            <p:nvPr/>
          </p:nvCxnSpPr>
          <p:spPr>
            <a:xfrm rot="5400000" flipH="1">
              <a:off x="3291" y="1460"/>
              <a:ext cx="377" cy="240"/>
            </a:xfrm>
            <a:prstGeom prst="curvedConnector3">
              <a:avLst>
                <a:gd name="adj1" fmla="val 49069"/>
              </a:avLst>
            </a:prstGeom>
            <a:ln w="9525" cap="flat" cmpd="sng">
              <a:solidFill>
                <a:schemeClr val="tx1"/>
              </a:solidFill>
              <a:prstDash val="dash"/>
              <a:headEnd type="none" w="med" len="med"/>
              <a:tailEnd type="none" w="med" len="med"/>
            </a:ln>
          </p:spPr>
        </p:cxnSp>
        <p:cxnSp>
          <p:nvCxnSpPr>
            <p:cNvPr id="92195" name="AutoShape 23"/>
            <p:cNvCxnSpPr>
              <a:stCxn id="92176" idx="4"/>
              <a:endCxn id="92196" idx="0"/>
            </p:cNvCxnSpPr>
            <p:nvPr/>
          </p:nvCxnSpPr>
          <p:spPr>
            <a:xfrm>
              <a:off x="1920" y="912"/>
              <a:ext cx="0" cy="288"/>
            </a:xfrm>
            <a:prstGeom prst="straightConnector1">
              <a:avLst/>
            </a:prstGeom>
            <a:ln w="9525" cap="flat" cmpd="sng">
              <a:solidFill>
                <a:schemeClr val="tx1"/>
              </a:solidFill>
              <a:prstDash val="solid"/>
              <a:headEnd type="none" w="med" len="med"/>
              <a:tailEnd type="none" w="med" len="med"/>
            </a:ln>
          </p:spPr>
        </p:cxnSp>
        <p:sp>
          <p:nvSpPr>
            <p:cNvPr id="92196" name="Oval 24"/>
            <p:cNvSpPr/>
            <p:nvPr/>
          </p:nvSpPr>
          <p:spPr>
            <a:xfrm>
              <a:off x="1824" y="1200"/>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r>
                <a:rPr lang="en-US" altLang="zh-CN" sz="1600" dirty="0">
                  <a:latin typeface="Times New Roman" panose="02020603050405020304" pitchFamily="18" charset="0"/>
                  <a:ea typeface="SimSun" panose="02010600030101010101" pitchFamily="2" charset="-122"/>
                </a:rPr>
                <a:t>11</a:t>
              </a:r>
              <a:endParaRPr lang="en-US" altLang="zh-CN" sz="1600" dirty="0">
                <a:latin typeface="Times New Roman" panose="02020603050405020304" pitchFamily="18" charset="0"/>
                <a:ea typeface="SimSun" panose="02010600030101010101" pitchFamily="2" charset="-122"/>
              </a:endParaRPr>
            </a:p>
          </p:txBody>
        </p:sp>
        <p:cxnSp>
          <p:nvCxnSpPr>
            <p:cNvPr id="92197" name="AutoShape 25"/>
            <p:cNvCxnSpPr>
              <a:stCxn id="92186" idx="0"/>
              <a:endCxn id="92196" idx="4"/>
            </p:cNvCxnSpPr>
            <p:nvPr/>
          </p:nvCxnSpPr>
          <p:spPr>
            <a:xfrm rot="-5400000">
              <a:off x="1731" y="1580"/>
              <a:ext cx="377" cy="0"/>
            </a:xfrm>
            <a:prstGeom prst="straightConnector1">
              <a:avLst/>
            </a:prstGeom>
            <a:ln w="9525" cap="flat" cmpd="sng">
              <a:solidFill>
                <a:schemeClr val="tx1"/>
              </a:solidFill>
              <a:prstDash val="dash"/>
              <a:headEnd type="none" w="med" len="med"/>
              <a:tailEnd type="none" w="med" len="med"/>
            </a:ln>
          </p:spPr>
        </p:cxnSp>
        <p:sp>
          <p:nvSpPr>
            <p:cNvPr id="92198" name="Text Box 26"/>
            <p:cNvSpPr txBox="1"/>
            <p:nvPr/>
          </p:nvSpPr>
          <p:spPr>
            <a:xfrm>
              <a:off x="2544" y="624"/>
              <a:ext cx="384" cy="231"/>
            </a:xfrm>
            <a:prstGeom prst="rect">
              <a:avLst/>
            </a:prstGeom>
            <a:noFill/>
            <a:ln w="9525">
              <a:noFill/>
            </a:ln>
          </p:spPr>
          <p:txBody>
            <a:bodyPr>
              <a:spAutoFit/>
            </a:bodyPr>
            <a:p>
              <a:pPr algn="l">
                <a:spcBef>
                  <a:spcPct val="50000"/>
                </a:spcBef>
              </a:pPr>
              <a:r>
                <a:rPr lang="en-US" altLang="zh-CN" sz="1800" dirty="0">
                  <a:latin typeface="Times New Roman" panose="02020603050405020304" pitchFamily="18" charset="0"/>
                  <a:ea typeface="SimSun" panose="02010600030101010101" pitchFamily="2" charset="-122"/>
                </a:rPr>
                <a:t>0.2</a:t>
              </a:r>
              <a:endParaRPr lang="en-US" altLang="zh-CN" sz="1800" dirty="0">
                <a:latin typeface="Times New Roman" panose="02020603050405020304" pitchFamily="18" charset="0"/>
                <a:ea typeface="SimSun" panose="02010600030101010101" pitchFamily="2" charset="-122"/>
              </a:endParaRPr>
            </a:p>
          </p:txBody>
        </p:sp>
        <p:sp>
          <p:nvSpPr>
            <p:cNvPr id="92199" name="Text Box 27"/>
            <p:cNvSpPr txBox="1"/>
            <p:nvPr/>
          </p:nvSpPr>
          <p:spPr>
            <a:xfrm>
              <a:off x="1440" y="912"/>
              <a:ext cx="384" cy="231"/>
            </a:xfrm>
            <a:prstGeom prst="rect">
              <a:avLst/>
            </a:prstGeom>
            <a:noFill/>
            <a:ln w="9525">
              <a:noFill/>
            </a:ln>
          </p:spPr>
          <p:txBody>
            <a:bodyPr>
              <a:spAutoFit/>
            </a:bodyPr>
            <a:p>
              <a:pPr algn="l">
                <a:spcBef>
                  <a:spcPct val="50000"/>
                </a:spcBef>
              </a:pPr>
              <a:r>
                <a:rPr lang="en-US" altLang="zh-CN" sz="1800" dirty="0">
                  <a:latin typeface="Times New Roman" panose="02020603050405020304" pitchFamily="18" charset="0"/>
                  <a:ea typeface="SimSun" panose="02010600030101010101" pitchFamily="2" charset="-122"/>
                </a:rPr>
                <a:t>0.9</a:t>
              </a:r>
              <a:endParaRPr lang="en-US" altLang="zh-CN" sz="1800" dirty="0">
                <a:latin typeface="Times New Roman" panose="02020603050405020304" pitchFamily="18" charset="0"/>
                <a:ea typeface="SimSun" panose="02010600030101010101" pitchFamily="2" charset="-122"/>
              </a:endParaRPr>
            </a:p>
          </p:txBody>
        </p:sp>
        <p:sp>
          <p:nvSpPr>
            <p:cNvPr id="92200" name="Text Box 28"/>
            <p:cNvSpPr txBox="1"/>
            <p:nvPr/>
          </p:nvSpPr>
          <p:spPr>
            <a:xfrm>
              <a:off x="1872" y="969"/>
              <a:ext cx="384" cy="231"/>
            </a:xfrm>
            <a:prstGeom prst="rect">
              <a:avLst/>
            </a:prstGeom>
            <a:noFill/>
            <a:ln w="9525">
              <a:noFill/>
            </a:ln>
          </p:spPr>
          <p:txBody>
            <a:bodyPr>
              <a:spAutoFit/>
            </a:bodyPr>
            <a:p>
              <a:pPr algn="l">
                <a:spcBef>
                  <a:spcPct val="50000"/>
                </a:spcBef>
              </a:pPr>
              <a:r>
                <a:rPr lang="en-US" altLang="zh-CN" sz="1800" dirty="0">
                  <a:latin typeface="Times New Roman" panose="02020603050405020304" pitchFamily="18" charset="0"/>
                  <a:ea typeface="SimSun" panose="02010600030101010101" pitchFamily="2" charset="-122"/>
                </a:rPr>
                <a:t>1.0</a:t>
              </a:r>
              <a:endParaRPr lang="en-US" altLang="zh-CN" sz="1800" dirty="0">
                <a:latin typeface="Times New Roman" panose="02020603050405020304" pitchFamily="18" charset="0"/>
                <a:ea typeface="SimSun" panose="02010600030101010101" pitchFamily="2" charset="-122"/>
              </a:endParaRPr>
            </a:p>
          </p:txBody>
        </p:sp>
        <p:sp>
          <p:nvSpPr>
            <p:cNvPr id="92201" name="Text Box 29"/>
            <p:cNvSpPr txBox="1"/>
            <p:nvPr/>
          </p:nvSpPr>
          <p:spPr>
            <a:xfrm>
              <a:off x="2160" y="912"/>
              <a:ext cx="384" cy="231"/>
            </a:xfrm>
            <a:prstGeom prst="rect">
              <a:avLst/>
            </a:prstGeom>
            <a:noFill/>
            <a:ln w="9525">
              <a:noFill/>
            </a:ln>
          </p:spPr>
          <p:txBody>
            <a:bodyPr>
              <a:spAutoFit/>
            </a:bodyPr>
            <a:p>
              <a:pPr algn="l">
                <a:spcBef>
                  <a:spcPct val="50000"/>
                </a:spcBef>
              </a:pPr>
              <a:r>
                <a:rPr lang="en-US" altLang="zh-CN" sz="1800" dirty="0">
                  <a:latin typeface="Times New Roman" panose="02020603050405020304" pitchFamily="18" charset="0"/>
                  <a:ea typeface="SimSun" panose="02010600030101010101" pitchFamily="2" charset="-122"/>
                </a:rPr>
                <a:t>0.8</a:t>
              </a:r>
              <a:endParaRPr lang="en-US" altLang="zh-CN" sz="1800" dirty="0">
                <a:latin typeface="Times New Roman" panose="02020603050405020304" pitchFamily="18" charset="0"/>
                <a:ea typeface="SimSun" panose="02010600030101010101" pitchFamily="2" charset="-122"/>
              </a:endParaRPr>
            </a:p>
          </p:txBody>
        </p:sp>
        <p:sp>
          <p:nvSpPr>
            <p:cNvPr id="92202" name="Text Box 30"/>
            <p:cNvSpPr txBox="1"/>
            <p:nvPr/>
          </p:nvSpPr>
          <p:spPr>
            <a:xfrm>
              <a:off x="3216" y="912"/>
              <a:ext cx="384" cy="231"/>
            </a:xfrm>
            <a:prstGeom prst="rect">
              <a:avLst/>
            </a:prstGeom>
            <a:noFill/>
            <a:ln w="9525">
              <a:noFill/>
            </a:ln>
          </p:spPr>
          <p:txBody>
            <a:bodyPr>
              <a:spAutoFit/>
            </a:bodyPr>
            <a:p>
              <a:pPr algn="l">
                <a:spcBef>
                  <a:spcPct val="50000"/>
                </a:spcBef>
              </a:pPr>
              <a:r>
                <a:rPr lang="en-US" altLang="zh-CN" sz="1800" dirty="0">
                  <a:latin typeface="Times New Roman" panose="02020603050405020304" pitchFamily="18" charset="0"/>
                  <a:ea typeface="SimSun" panose="02010600030101010101" pitchFamily="2" charset="-122"/>
                </a:rPr>
                <a:t>0.9</a:t>
              </a:r>
              <a:endParaRPr lang="en-US" altLang="zh-CN" sz="1800" dirty="0">
                <a:latin typeface="Times New Roman" panose="02020603050405020304" pitchFamily="18" charset="0"/>
                <a:ea typeface="SimSun" panose="02010600030101010101" pitchFamily="2" charset="-122"/>
              </a:endParaRPr>
            </a:p>
          </p:txBody>
        </p:sp>
        <p:sp>
          <p:nvSpPr>
            <p:cNvPr id="92203" name="Text Box 31"/>
            <p:cNvSpPr txBox="1"/>
            <p:nvPr/>
          </p:nvSpPr>
          <p:spPr>
            <a:xfrm>
              <a:off x="3696" y="912"/>
              <a:ext cx="384" cy="231"/>
            </a:xfrm>
            <a:prstGeom prst="rect">
              <a:avLst/>
            </a:prstGeom>
            <a:noFill/>
            <a:ln w="9525">
              <a:noFill/>
            </a:ln>
          </p:spPr>
          <p:txBody>
            <a:bodyPr>
              <a:spAutoFit/>
            </a:bodyPr>
            <a:p>
              <a:pPr algn="l">
                <a:spcBef>
                  <a:spcPct val="50000"/>
                </a:spcBef>
              </a:pPr>
              <a:r>
                <a:rPr lang="en-US" altLang="zh-CN" sz="1800" dirty="0">
                  <a:latin typeface="Times New Roman" panose="02020603050405020304" pitchFamily="18" charset="0"/>
                  <a:ea typeface="SimSun" panose="02010600030101010101" pitchFamily="2" charset="-122"/>
                </a:rPr>
                <a:t>1.0</a:t>
              </a:r>
              <a:endParaRPr lang="en-US" altLang="zh-CN" sz="1800" dirty="0">
                <a:latin typeface="Times New Roman" panose="02020603050405020304" pitchFamily="18" charset="0"/>
                <a:ea typeface="SimSun" panose="02010600030101010101" pitchFamily="2" charset="-122"/>
              </a:endParaRPr>
            </a:p>
          </p:txBody>
        </p:sp>
      </p:grpSp>
      <p:sp>
        <p:nvSpPr>
          <p:cNvPr id="92164" name="Text Box 32"/>
          <p:cNvSpPr txBox="1"/>
          <p:nvPr/>
        </p:nvSpPr>
        <p:spPr>
          <a:xfrm>
            <a:off x="533400" y="3292475"/>
            <a:ext cx="7924800" cy="701675"/>
          </a:xfrm>
          <a:prstGeom prst="rect">
            <a:avLst/>
          </a:prstGeom>
          <a:noFill/>
          <a:ln w="9525">
            <a:noFill/>
          </a:ln>
        </p:spPr>
        <p:txBody>
          <a:bodyPr>
            <a:spAutoFit/>
          </a:bodyPr>
          <a:p>
            <a:pPr algn="l"/>
            <a:r>
              <a:rPr lang="en-US" altLang="zh-CN" sz="2000" dirty="0">
                <a:latin typeface="Tahoma" panose="020B0604030504040204" pitchFamily="34" charset="0"/>
                <a:ea typeface="SimSun" panose="02010600030101010101" pitchFamily="2" charset="-122"/>
              </a:rPr>
              <a:t>For each node </a:t>
            </a:r>
            <a:r>
              <a:rPr lang="en-US" altLang="zh-CN" sz="2000" i="1" dirty="0">
                <a:latin typeface="Tahoma" panose="020B0604030504040204" pitchFamily="34" charset="0"/>
                <a:ea typeface="SimSun" panose="02010600030101010101" pitchFamily="2" charset="-122"/>
              </a:rPr>
              <a:t>n</a:t>
            </a:r>
            <a:r>
              <a:rPr lang="en-US" altLang="zh-CN" sz="2000" i="1" baseline="-25000" dirty="0">
                <a:latin typeface="Tahoma" panose="020B0604030504040204" pitchFamily="34" charset="0"/>
                <a:ea typeface="SimSun" panose="02010600030101010101" pitchFamily="2" charset="-122"/>
              </a:rPr>
              <a:t>k </a:t>
            </a:r>
            <a:r>
              <a:rPr lang="en-US" altLang="zh-CN" sz="2000" dirty="0">
                <a:latin typeface="Tahoma" panose="020B0604030504040204" pitchFamily="34" charset="0"/>
                <a:ea typeface="SimSun" panose="02010600030101010101" pitchFamily="2" charset="-122"/>
              </a:rPr>
              <a:t>∈ {</a:t>
            </a:r>
            <a:r>
              <a:rPr lang="en-US" altLang="zh-CN" sz="2000" i="1" dirty="0">
                <a:latin typeface="Tahoma" panose="020B0604030504040204" pitchFamily="34" charset="0"/>
                <a:ea typeface="SimSun" panose="02010600030101010101" pitchFamily="2" charset="-122"/>
              </a:rPr>
              <a:t>n</a:t>
            </a:r>
            <a:r>
              <a:rPr lang="en-US" altLang="zh-CN" sz="2000" baseline="-25000" dirty="0">
                <a:latin typeface="Tahoma" panose="020B0604030504040204" pitchFamily="34" charset="0"/>
                <a:ea typeface="SimSun" panose="02010600030101010101" pitchFamily="2" charset="-122"/>
              </a:rPr>
              <a:t>10</a:t>
            </a:r>
            <a:r>
              <a:rPr lang="en-US" altLang="zh-CN" sz="2000" dirty="0">
                <a:latin typeface="Tahoma" panose="020B0604030504040204" pitchFamily="34" charset="0"/>
                <a:ea typeface="SimSun" panose="02010600030101010101" pitchFamily="2" charset="-122"/>
              </a:rPr>
              <a:t>, </a:t>
            </a:r>
            <a:r>
              <a:rPr lang="en-US" altLang="zh-CN" sz="2000" i="1" dirty="0">
                <a:latin typeface="Tahoma" panose="020B0604030504040204" pitchFamily="34" charset="0"/>
                <a:ea typeface="SimSun" panose="02010600030101010101" pitchFamily="2" charset="-122"/>
              </a:rPr>
              <a:t>n</a:t>
            </a:r>
            <a:r>
              <a:rPr lang="en-US" altLang="zh-CN" sz="2000" baseline="-25000" dirty="0">
                <a:latin typeface="Tahoma" panose="020B0604030504040204" pitchFamily="34" charset="0"/>
                <a:ea typeface="SimSun" panose="02010600030101010101" pitchFamily="2" charset="-122"/>
              </a:rPr>
              <a:t>11</a:t>
            </a:r>
            <a:r>
              <a:rPr lang="en-US" altLang="zh-CN" sz="2000" dirty="0">
                <a:latin typeface="Tahoma" panose="020B0604030504040204" pitchFamily="34" charset="0"/>
                <a:ea typeface="SimSun" panose="02010600030101010101" pitchFamily="2" charset="-122"/>
              </a:rPr>
              <a:t>, </a:t>
            </a:r>
            <a:r>
              <a:rPr lang="en-US" altLang="zh-CN" sz="2000" i="1" dirty="0">
                <a:latin typeface="Tahoma" panose="020B0604030504040204" pitchFamily="34" charset="0"/>
                <a:ea typeface="SimSun" panose="02010600030101010101" pitchFamily="2" charset="-122"/>
              </a:rPr>
              <a:t>n</a:t>
            </a:r>
            <a:r>
              <a:rPr lang="en-US" altLang="zh-CN" sz="2000" baseline="-25000" dirty="0">
                <a:latin typeface="Tahoma" panose="020B0604030504040204" pitchFamily="34" charset="0"/>
                <a:ea typeface="SimSun" panose="02010600030101010101" pitchFamily="2" charset="-122"/>
              </a:rPr>
              <a:t>12</a:t>
            </a:r>
            <a:r>
              <a:rPr lang="en-US" altLang="zh-CN" sz="2000" dirty="0">
                <a:latin typeface="Tahoma" panose="020B0604030504040204" pitchFamily="34" charset="0"/>
                <a:ea typeface="SimSun" panose="02010600030101010101" pitchFamily="2" charset="-122"/>
              </a:rPr>
              <a:t>} and </a:t>
            </a:r>
            <a:r>
              <a:rPr lang="en-US" altLang="zh-CN" sz="2000" i="1" dirty="0">
                <a:latin typeface="Tahoma" panose="020B0604030504040204" pitchFamily="34" charset="0"/>
                <a:ea typeface="SimSun" panose="02010600030101010101" pitchFamily="2" charset="-122"/>
              </a:rPr>
              <a:t>n</a:t>
            </a:r>
            <a:r>
              <a:rPr lang="en-US" altLang="zh-CN" sz="2000" i="1" baseline="-25000" dirty="0">
                <a:latin typeface="Tahoma" panose="020B0604030504040204" pitchFamily="34" charset="0"/>
                <a:ea typeface="SimSun" panose="02010600030101010101" pitchFamily="2" charset="-122"/>
              </a:rPr>
              <a:t>l </a:t>
            </a:r>
            <a:r>
              <a:rPr lang="en-US" altLang="zh-CN" sz="2000" dirty="0">
                <a:latin typeface="Tahoma" panose="020B0604030504040204" pitchFamily="34" charset="0"/>
                <a:ea typeface="SimSun" panose="02010600030101010101" pitchFamily="2" charset="-122"/>
              </a:rPr>
              <a:t>∈ {</a:t>
            </a:r>
            <a:r>
              <a:rPr lang="en-US" altLang="zh-CN" sz="2000" i="1" dirty="0">
                <a:latin typeface="Tahoma" panose="020B0604030504040204" pitchFamily="34" charset="0"/>
                <a:ea typeface="SimSun" panose="02010600030101010101" pitchFamily="2" charset="-122"/>
              </a:rPr>
              <a:t>n</a:t>
            </a:r>
            <a:r>
              <a:rPr lang="en-US" altLang="zh-CN" sz="2000" baseline="-25000" dirty="0">
                <a:latin typeface="Tahoma" panose="020B0604030504040204" pitchFamily="34" charset="0"/>
                <a:ea typeface="SimSun" panose="02010600030101010101" pitchFamily="2" charset="-122"/>
              </a:rPr>
              <a:t>13</a:t>
            </a:r>
            <a:r>
              <a:rPr lang="en-US" altLang="zh-CN" sz="2000" dirty="0">
                <a:latin typeface="Tahoma" panose="020B0604030504040204" pitchFamily="34" charset="0"/>
                <a:ea typeface="SimSun" panose="02010600030101010101" pitchFamily="2" charset="-122"/>
              </a:rPr>
              <a:t>, </a:t>
            </a:r>
            <a:r>
              <a:rPr lang="en-US" altLang="zh-CN" sz="2000" i="1" dirty="0">
                <a:latin typeface="Tahoma" panose="020B0604030504040204" pitchFamily="34" charset="0"/>
                <a:ea typeface="SimSun" panose="02010600030101010101" pitchFamily="2" charset="-122"/>
              </a:rPr>
              <a:t>n</a:t>
            </a:r>
            <a:r>
              <a:rPr lang="en-US" altLang="zh-CN" sz="2000" baseline="-25000" dirty="0">
                <a:latin typeface="Tahoma" panose="020B0604030504040204" pitchFamily="34" charset="0"/>
                <a:ea typeface="SimSun" panose="02010600030101010101" pitchFamily="2" charset="-122"/>
              </a:rPr>
              <a:t>14</a:t>
            </a:r>
            <a:r>
              <a:rPr lang="en-US" altLang="zh-CN" sz="2000" dirty="0">
                <a:latin typeface="Tahoma" panose="020B0604030504040204" pitchFamily="34" charset="0"/>
                <a:ea typeface="SimSun" panose="02010600030101010101" pitchFamily="2" charset="-122"/>
              </a:rPr>
              <a:t>}, their path-based similarity </a:t>
            </a:r>
            <a:r>
              <a:rPr lang="en-US" altLang="zh-CN" sz="2000" i="1" dirty="0">
                <a:latin typeface="Tahoma" panose="020B0604030504040204" pitchFamily="34" charset="0"/>
                <a:ea typeface="SimSun" panose="02010600030101010101" pitchFamily="2" charset="-122"/>
              </a:rPr>
              <a:t>sim</a:t>
            </a:r>
            <a:r>
              <a:rPr lang="en-US" altLang="zh-CN" sz="2000" i="1" baseline="-25000" dirty="0">
                <a:latin typeface="Tahoma" panose="020B0604030504040204" pitchFamily="34" charset="0"/>
                <a:ea typeface="SimSun" panose="02010600030101010101" pitchFamily="2" charset="-122"/>
              </a:rPr>
              <a:t>p</a:t>
            </a:r>
            <a:r>
              <a:rPr lang="en-US" altLang="zh-CN" sz="2000" dirty="0">
                <a:latin typeface="Tahoma" panose="020B0604030504040204" pitchFamily="34" charset="0"/>
                <a:ea typeface="SimSun" panose="02010600030101010101" pitchFamily="2" charset="-122"/>
              </a:rPr>
              <a:t>(</a:t>
            </a:r>
            <a:r>
              <a:rPr lang="en-US" altLang="zh-CN" sz="2000" i="1" dirty="0">
                <a:latin typeface="Tahoma" panose="020B0604030504040204" pitchFamily="34" charset="0"/>
                <a:ea typeface="SimSun" panose="02010600030101010101" pitchFamily="2" charset="-122"/>
              </a:rPr>
              <a:t>n</a:t>
            </a:r>
            <a:r>
              <a:rPr lang="en-US" altLang="zh-CN" sz="2000" i="1" baseline="-25000" dirty="0">
                <a:latin typeface="Tahoma" panose="020B0604030504040204" pitchFamily="34" charset="0"/>
                <a:ea typeface="SimSun" panose="02010600030101010101" pitchFamily="2" charset="-122"/>
              </a:rPr>
              <a:t>k</a:t>
            </a:r>
            <a:r>
              <a:rPr lang="en-US" altLang="zh-CN" sz="2000" dirty="0">
                <a:latin typeface="Tahoma" panose="020B0604030504040204" pitchFamily="34" charset="0"/>
                <a:ea typeface="SimSun" panose="02010600030101010101" pitchFamily="2" charset="-122"/>
              </a:rPr>
              <a:t>, </a:t>
            </a:r>
            <a:r>
              <a:rPr lang="en-US" altLang="zh-CN" sz="2000" i="1" dirty="0">
                <a:latin typeface="Tahoma" panose="020B0604030504040204" pitchFamily="34" charset="0"/>
                <a:ea typeface="SimSun" panose="02010600030101010101" pitchFamily="2" charset="-122"/>
              </a:rPr>
              <a:t>n</a:t>
            </a:r>
            <a:r>
              <a:rPr lang="en-US" altLang="zh-CN" sz="2000" i="1" baseline="-25000" dirty="0">
                <a:latin typeface="Tahoma" panose="020B0604030504040204" pitchFamily="34" charset="0"/>
                <a:ea typeface="SimSun" panose="02010600030101010101" pitchFamily="2" charset="-122"/>
              </a:rPr>
              <a:t>l</a:t>
            </a:r>
            <a:r>
              <a:rPr lang="en-US" altLang="zh-CN" sz="2000" dirty="0">
                <a:latin typeface="Tahoma" panose="020B0604030504040204" pitchFamily="34" charset="0"/>
                <a:ea typeface="SimSun" panose="02010600030101010101" pitchFamily="2" charset="-122"/>
              </a:rPr>
              <a:t>) = </a:t>
            </a:r>
            <a:r>
              <a:rPr lang="en-US" altLang="zh-CN" sz="2000" i="1" dirty="0">
                <a:latin typeface="Tahoma" panose="020B0604030504040204" pitchFamily="34" charset="0"/>
                <a:ea typeface="SimSun" panose="02010600030101010101" pitchFamily="2" charset="-122"/>
              </a:rPr>
              <a:t>s</a:t>
            </a:r>
            <a:r>
              <a:rPr lang="en-US" altLang="zh-CN" sz="2000" dirty="0">
                <a:latin typeface="Tahoma" panose="020B0604030504040204" pitchFamily="34" charset="0"/>
                <a:ea typeface="SimSun" panose="02010600030101010101" pitchFamily="2" charset="-122"/>
              </a:rPr>
              <a:t>(</a:t>
            </a:r>
            <a:r>
              <a:rPr lang="en-US" altLang="zh-CN" sz="2000" i="1" dirty="0">
                <a:latin typeface="Tahoma" panose="020B0604030504040204" pitchFamily="34" charset="0"/>
                <a:ea typeface="SimSun" panose="02010600030101010101" pitchFamily="2" charset="-122"/>
              </a:rPr>
              <a:t>n</a:t>
            </a:r>
            <a:r>
              <a:rPr lang="en-US" altLang="zh-CN" sz="2000" i="1" baseline="-25000" dirty="0">
                <a:latin typeface="Tahoma" panose="020B0604030504040204" pitchFamily="34" charset="0"/>
                <a:ea typeface="SimSun" panose="02010600030101010101" pitchFamily="2" charset="-122"/>
              </a:rPr>
              <a:t>k</a:t>
            </a:r>
            <a:r>
              <a:rPr lang="en-US" altLang="zh-CN" sz="2000" dirty="0">
                <a:latin typeface="Tahoma" panose="020B0604030504040204" pitchFamily="34" charset="0"/>
                <a:ea typeface="SimSun" panose="02010600030101010101" pitchFamily="2" charset="-122"/>
              </a:rPr>
              <a:t>, </a:t>
            </a:r>
            <a:r>
              <a:rPr lang="en-US" altLang="zh-CN" sz="2000" i="1" dirty="0">
                <a:latin typeface="Tahoma" panose="020B0604030504040204" pitchFamily="34" charset="0"/>
                <a:ea typeface="SimSun" panose="02010600030101010101" pitchFamily="2" charset="-122"/>
              </a:rPr>
              <a:t>n</a:t>
            </a:r>
            <a:r>
              <a:rPr lang="en-US" altLang="zh-CN" sz="2000" baseline="-25000" dirty="0">
                <a:latin typeface="Tahoma" panose="020B0604030504040204" pitchFamily="34" charset="0"/>
                <a:ea typeface="SimSun" panose="02010600030101010101" pitchFamily="2" charset="-122"/>
              </a:rPr>
              <a:t>4</a:t>
            </a:r>
            <a:r>
              <a:rPr lang="en-US" altLang="zh-CN" sz="2000" dirty="0">
                <a:latin typeface="Tahoma" panose="020B0604030504040204" pitchFamily="34" charset="0"/>
                <a:ea typeface="SimSun" panose="02010600030101010101" pitchFamily="2" charset="-122"/>
              </a:rPr>
              <a:t>)·</a:t>
            </a:r>
            <a:r>
              <a:rPr lang="en-US" altLang="zh-CN" sz="2000" i="1" dirty="0">
                <a:latin typeface="Tahoma" panose="020B0604030504040204" pitchFamily="34" charset="0"/>
                <a:ea typeface="SimSun" panose="02010600030101010101" pitchFamily="2" charset="-122"/>
              </a:rPr>
              <a:t>s</a:t>
            </a:r>
            <a:r>
              <a:rPr lang="en-US" altLang="zh-CN" sz="2000" dirty="0">
                <a:latin typeface="Tahoma" panose="020B0604030504040204" pitchFamily="34" charset="0"/>
                <a:ea typeface="SimSun" panose="02010600030101010101" pitchFamily="2" charset="-122"/>
              </a:rPr>
              <a:t>(</a:t>
            </a:r>
            <a:r>
              <a:rPr lang="en-US" altLang="zh-CN" sz="2000" i="1" dirty="0">
                <a:latin typeface="Tahoma" panose="020B0604030504040204" pitchFamily="34" charset="0"/>
                <a:ea typeface="SimSun" panose="02010600030101010101" pitchFamily="2" charset="-122"/>
              </a:rPr>
              <a:t>n</a:t>
            </a:r>
            <a:r>
              <a:rPr lang="en-US" altLang="zh-CN" sz="2000" baseline="-25000" dirty="0">
                <a:latin typeface="Tahoma" panose="020B0604030504040204" pitchFamily="34" charset="0"/>
                <a:ea typeface="SimSun" panose="02010600030101010101" pitchFamily="2" charset="-122"/>
              </a:rPr>
              <a:t>4</a:t>
            </a:r>
            <a:r>
              <a:rPr lang="en-US" altLang="zh-CN" sz="2000" dirty="0">
                <a:latin typeface="Tahoma" panose="020B0604030504040204" pitchFamily="34" charset="0"/>
                <a:ea typeface="SimSun" panose="02010600030101010101" pitchFamily="2" charset="-122"/>
              </a:rPr>
              <a:t>, </a:t>
            </a:r>
            <a:r>
              <a:rPr lang="en-US" altLang="zh-CN" sz="2000" i="1" dirty="0">
                <a:latin typeface="Tahoma" panose="020B0604030504040204" pitchFamily="34" charset="0"/>
                <a:ea typeface="SimSun" panose="02010600030101010101" pitchFamily="2" charset="-122"/>
              </a:rPr>
              <a:t>n</a:t>
            </a:r>
            <a:r>
              <a:rPr lang="en-US" altLang="zh-CN" sz="2000" baseline="-25000" dirty="0">
                <a:latin typeface="Tahoma" panose="020B0604030504040204" pitchFamily="34" charset="0"/>
                <a:ea typeface="SimSun" panose="02010600030101010101" pitchFamily="2" charset="-122"/>
              </a:rPr>
              <a:t>5</a:t>
            </a:r>
            <a:r>
              <a:rPr lang="en-US" altLang="zh-CN" sz="2000" dirty="0">
                <a:latin typeface="Tahoma" panose="020B0604030504040204" pitchFamily="34" charset="0"/>
                <a:ea typeface="SimSun" panose="02010600030101010101" pitchFamily="2" charset="-122"/>
              </a:rPr>
              <a:t>)·</a:t>
            </a:r>
            <a:r>
              <a:rPr lang="en-US" altLang="zh-CN" sz="2000" i="1" dirty="0">
                <a:latin typeface="Tahoma" panose="020B0604030504040204" pitchFamily="34" charset="0"/>
                <a:ea typeface="SimSun" panose="02010600030101010101" pitchFamily="2" charset="-122"/>
              </a:rPr>
              <a:t>s</a:t>
            </a:r>
            <a:r>
              <a:rPr lang="en-US" altLang="zh-CN" sz="2000" dirty="0">
                <a:latin typeface="Tahoma" panose="020B0604030504040204" pitchFamily="34" charset="0"/>
                <a:ea typeface="SimSun" panose="02010600030101010101" pitchFamily="2" charset="-122"/>
              </a:rPr>
              <a:t>(</a:t>
            </a:r>
            <a:r>
              <a:rPr lang="en-US" altLang="zh-CN" sz="2000" i="1" dirty="0">
                <a:latin typeface="Tahoma" panose="020B0604030504040204" pitchFamily="34" charset="0"/>
                <a:ea typeface="SimSun" panose="02010600030101010101" pitchFamily="2" charset="-122"/>
              </a:rPr>
              <a:t>n</a:t>
            </a:r>
            <a:r>
              <a:rPr lang="en-US" altLang="zh-CN" sz="2000" baseline="-25000" dirty="0">
                <a:latin typeface="Tahoma" panose="020B0604030504040204" pitchFamily="34" charset="0"/>
                <a:ea typeface="SimSun" panose="02010600030101010101" pitchFamily="2" charset="-122"/>
              </a:rPr>
              <a:t>5</a:t>
            </a:r>
            <a:r>
              <a:rPr lang="en-US" altLang="zh-CN" sz="2000" dirty="0">
                <a:latin typeface="Tahoma" panose="020B0604030504040204" pitchFamily="34" charset="0"/>
                <a:ea typeface="SimSun" panose="02010600030101010101" pitchFamily="2" charset="-122"/>
              </a:rPr>
              <a:t>, </a:t>
            </a:r>
            <a:r>
              <a:rPr lang="en-US" altLang="zh-CN" sz="2000" i="1" dirty="0">
                <a:latin typeface="Tahoma" panose="020B0604030504040204" pitchFamily="34" charset="0"/>
                <a:ea typeface="SimSun" panose="02010600030101010101" pitchFamily="2" charset="-122"/>
              </a:rPr>
              <a:t>n</a:t>
            </a:r>
            <a:r>
              <a:rPr lang="en-US" altLang="zh-CN" sz="2000" i="1" baseline="-25000" dirty="0">
                <a:latin typeface="Tahoma" panose="020B0604030504040204" pitchFamily="34" charset="0"/>
                <a:ea typeface="SimSun" panose="02010600030101010101" pitchFamily="2" charset="-122"/>
              </a:rPr>
              <a:t>l</a:t>
            </a:r>
            <a:r>
              <a:rPr lang="en-US" altLang="zh-CN" sz="2000" dirty="0">
                <a:latin typeface="Tahoma" panose="020B0604030504040204" pitchFamily="34" charset="0"/>
                <a:ea typeface="SimSun" panose="02010600030101010101" pitchFamily="2" charset="-122"/>
              </a:rPr>
              <a:t>).</a:t>
            </a:r>
            <a:endParaRPr lang="en-US" altLang="zh-CN" sz="2000" dirty="0">
              <a:latin typeface="Tahoma" panose="020B0604030504040204" pitchFamily="34" charset="0"/>
              <a:ea typeface="SimSun" panose="02010600030101010101" pitchFamily="2" charset="-122"/>
            </a:endParaRPr>
          </a:p>
        </p:txBody>
      </p:sp>
      <p:grpSp>
        <p:nvGrpSpPr>
          <p:cNvPr id="92165" name="Group 33"/>
          <p:cNvGrpSpPr/>
          <p:nvPr/>
        </p:nvGrpSpPr>
        <p:grpSpPr>
          <a:xfrm>
            <a:off x="2362200" y="1295400"/>
            <a:ext cx="3733800" cy="609600"/>
            <a:chOff x="1488" y="2736"/>
            <a:chExt cx="2352" cy="288"/>
          </a:xfrm>
        </p:grpSpPr>
        <p:cxnSp>
          <p:nvCxnSpPr>
            <p:cNvPr id="92170" name="AutoShape 34"/>
            <p:cNvCxnSpPr/>
            <p:nvPr/>
          </p:nvCxnSpPr>
          <p:spPr>
            <a:xfrm flipH="1">
              <a:off x="1488" y="2736"/>
              <a:ext cx="432" cy="288"/>
            </a:xfrm>
            <a:prstGeom prst="straightConnector1">
              <a:avLst/>
            </a:prstGeom>
            <a:ln w="19050" cap="flat" cmpd="sng">
              <a:solidFill>
                <a:srgbClr val="FF0000"/>
              </a:solidFill>
              <a:prstDash val="solid"/>
              <a:headEnd type="none" w="med" len="med"/>
              <a:tailEnd type="none" w="med" len="med"/>
            </a:ln>
          </p:spPr>
        </p:cxnSp>
        <p:cxnSp>
          <p:nvCxnSpPr>
            <p:cNvPr id="92171" name="AutoShape 35"/>
            <p:cNvCxnSpPr/>
            <p:nvPr/>
          </p:nvCxnSpPr>
          <p:spPr>
            <a:xfrm>
              <a:off x="1920" y="2736"/>
              <a:ext cx="480" cy="288"/>
            </a:xfrm>
            <a:prstGeom prst="straightConnector1">
              <a:avLst/>
            </a:prstGeom>
            <a:ln w="19050" cap="flat" cmpd="sng">
              <a:solidFill>
                <a:srgbClr val="FF0000"/>
              </a:solidFill>
              <a:prstDash val="solid"/>
              <a:headEnd type="none" w="med" len="med"/>
              <a:tailEnd type="none" w="med" len="med"/>
            </a:ln>
          </p:spPr>
        </p:cxnSp>
        <p:cxnSp>
          <p:nvCxnSpPr>
            <p:cNvPr id="92172" name="AutoShape 36"/>
            <p:cNvCxnSpPr/>
            <p:nvPr/>
          </p:nvCxnSpPr>
          <p:spPr>
            <a:xfrm flipH="1">
              <a:off x="3360" y="2736"/>
              <a:ext cx="240" cy="288"/>
            </a:xfrm>
            <a:prstGeom prst="straightConnector1">
              <a:avLst/>
            </a:prstGeom>
            <a:ln w="19050" cap="flat" cmpd="sng">
              <a:solidFill>
                <a:srgbClr val="FF0000"/>
              </a:solidFill>
              <a:prstDash val="solid"/>
              <a:headEnd type="none" w="med" len="med"/>
              <a:tailEnd type="none" w="med" len="med"/>
            </a:ln>
          </p:spPr>
        </p:cxnSp>
        <p:cxnSp>
          <p:nvCxnSpPr>
            <p:cNvPr id="92173" name="AutoShape 37"/>
            <p:cNvCxnSpPr/>
            <p:nvPr/>
          </p:nvCxnSpPr>
          <p:spPr>
            <a:xfrm>
              <a:off x="3600" y="2736"/>
              <a:ext cx="240" cy="288"/>
            </a:xfrm>
            <a:prstGeom prst="straightConnector1">
              <a:avLst/>
            </a:prstGeom>
            <a:ln w="19050" cap="flat" cmpd="sng">
              <a:solidFill>
                <a:srgbClr val="FF0000"/>
              </a:solidFill>
              <a:prstDash val="solid"/>
              <a:headEnd type="none" w="med" len="med"/>
              <a:tailEnd type="none" w="med" len="med"/>
            </a:ln>
          </p:spPr>
        </p:cxnSp>
        <p:cxnSp>
          <p:nvCxnSpPr>
            <p:cNvPr id="92174" name="AutoShape 38"/>
            <p:cNvCxnSpPr/>
            <p:nvPr/>
          </p:nvCxnSpPr>
          <p:spPr>
            <a:xfrm>
              <a:off x="1920" y="2736"/>
              <a:ext cx="0" cy="288"/>
            </a:xfrm>
            <a:prstGeom prst="straightConnector1">
              <a:avLst/>
            </a:prstGeom>
            <a:ln w="19050" cap="flat" cmpd="sng">
              <a:solidFill>
                <a:srgbClr val="FF0000"/>
              </a:solidFill>
              <a:prstDash val="solid"/>
              <a:headEnd type="none" w="med" len="med"/>
              <a:tailEnd type="none" w="med" len="med"/>
            </a:ln>
          </p:spPr>
        </p:cxnSp>
        <p:cxnSp>
          <p:nvCxnSpPr>
            <p:cNvPr id="92175" name="AutoShape 39"/>
            <p:cNvCxnSpPr/>
            <p:nvPr/>
          </p:nvCxnSpPr>
          <p:spPr>
            <a:xfrm>
              <a:off x="1920" y="2736"/>
              <a:ext cx="1680" cy="0"/>
            </a:xfrm>
            <a:prstGeom prst="straightConnector1">
              <a:avLst/>
            </a:prstGeom>
            <a:ln w="19050" cap="flat" cmpd="sng">
              <a:solidFill>
                <a:srgbClr val="FF0000"/>
              </a:solidFill>
              <a:prstDash val="solid"/>
              <a:headEnd type="none" w="med" len="med"/>
              <a:tailEnd type="none" w="med" len="med"/>
            </a:ln>
          </p:spPr>
        </p:cxnSp>
      </p:grpSp>
      <p:graphicFrame>
        <p:nvGraphicFramePr>
          <p:cNvPr id="92166" name="Object 40"/>
          <p:cNvGraphicFramePr>
            <a:graphicFrameLocks noChangeAspect="1"/>
          </p:cNvGraphicFramePr>
          <p:nvPr>
            <p:ph idx="1"/>
          </p:nvPr>
        </p:nvGraphicFramePr>
        <p:xfrm>
          <a:off x="1143000" y="4191000"/>
          <a:ext cx="5830888" cy="735013"/>
        </p:xfrm>
        <a:graphic>
          <a:graphicData uri="http://schemas.openxmlformats.org/presentationml/2006/ole">
            <mc:AlternateContent xmlns:mc="http://schemas.openxmlformats.org/markup-compatibility/2006">
              <mc:Choice xmlns:v="urn:schemas-microsoft-com:vml" Requires="v">
                <p:oleObj spid="_x0000_s3109" name="" r:id="rId1" imgW="3683000" imgH="469900" progId="Equation.3">
                  <p:embed/>
                </p:oleObj>
              </mc:Choice>
              <mc:Fallback>
                <p:oleObj name="" r:id="rId1" imgW="3683000" imgH="469900" progId="Equation.3">
                  <p:embed/>
                  <p:pic>
                    <p:nvPicPr>
                      <p:cNvPr id="0" name="Picture 3108"/>
                      <p:cNvPicPr/>
                      <p:nvPr/>
                    </p:nvPicPr>
                    <p:blipFill>
                      <a:blip r:embed="rId2"/>
                      <a:srcRect/>
                      <a:stretch>
                        <a:fillRect/>
                      </a:stretch>
                    </p:blipFill>
                    <p:spPr>
                      <a:xfrm>
                        <a:off x="1143000" y="4191000"/>
                        <a:ext cx="5830888" cy="735013"/>
                      </a:xfrm>
                      <a:prstGeom prst="rect">
                        <a:avLst/>
                      </a:prstGeom>
                      <a:noFill/>
                      <a:ln w="38100">
                        <a:miter/>
                      </a:ln>
                    </p:spPr>
                  </p:pic>
                </p:oleObj>
              </mc:Fallback>
            </mc:AlternateContent>
          </a:graphicData>
        </a:graphic>
      </p:graphicFrame>
      <p:sp>
        <p:nvSpPr>
          <p:cNvPr id="92167" name="Text Box 41"/>
          <p:cNvSpPr txBox="1"/>
          <p:nvPr/>
        </p:nvSpPr>
        <p:spPr>
          <a:xfrm>
            <a:off x="533400" y="5622925"/>
            <a:ext cx="7924800" cy="701675"/>
          </a:xfrm>
          <a:prstGeom prst="rect">
            <a:avLst/>
          </a:prstGeom>
          <a:noFill/>
          <a:ln w="9525">
            <a:noFill/>
          </a:ln>
        </p:spPr>
        <p:txBody>
          <a:bodyPr>
            <a:spAutoFit/>
          </a:bodyPr>
          <a:p>
            <a:pPr algn="l"/>
            <a:r>
              <a:rPr lang="en-US" altLang="zh-CN" sz="2000" dirty="0">
                <a:latin typeface="Tahoma" panose="020B0604030504040204" pitchFamily="34" charset="0"/>
                <a:ea typeface="SimSun" panose="02010600030101010101" pitchFamily="2" charset="-122"/>
              </a:rPr>
              <a:t>After aggregation, we reduce quadratic time computation to linear time computation.</a:t>
            </a:r>
            <a:endParaRPr lang="en-US" altLang="zh-CN" sz="2000" dirty="0">
              <a:latin typeface="Tahoma" panose="020B0604030504040204" pitchFamily="34" charset="0"/>
              <a:ea typeface="SimSun" panose="02010600030101010101" pitchFamily="2" charset="-122"/>
            </a:endParaRPr>
          </a:p>
        </p:txBody>
      </p:sp>
      <p:sp>
        <p:nvSpPr>
          <p:cNvPr id="92168" name="Text Box 42"/>
          <p:cNvSpPr txBox="1"/>
          <p:nvPr/>
        </p:nvSpPr>
        <p:spPr>
          <a:xfrm>
            <a:off x="990600" y="5105400"/>
            <a:ext cx="4114800" cy="457200"/>
          </a:xfrm>
          <a:prstGeom prst="rect">
            <a:avLst/>
          </a:prstGeom>
          <a:noFill/>
          <a:ln w="9525">
            <a:noFill/>
          </a:ln>
        </p:spPr>
        <p:txBody>
          <a:bodyPr>
            <a:spAutoFit/>
          </a:bodyPr>
          <a:p>
            <a:pPr algn="l">
              <a:spcBef>
                <a:spcPct val="50000"/>
              </a:spcBef>
            </a:pPr>
            <a:r>
              <a:rPr lang="en-US" altLang="zh-CN" dirty="0">
                <a:latin typeface="Times New Roman" panose="02020603050405020304" pitchFamily="18" charset="0"/>
                <a:ea typeface="SimSun" panose="02010600030101010101" pitchFamily="2" charset="-122"/>
              </a:rPr>
              <a:t>takes </a:t>
            </a:r>
            <a:r>
              <a:rPr lang="en-US" altLang="zh-CN" i="1" dirty="0">
                <a:latin typeface="Times New Roman" panose="02020603050405020304" pitchFamily="18" charset="0"/>
                <a:ea typeface="SimSun" panose="02010600030101010101" pitchFamily="2" charset="-122"/>
              </a:rPr>
              <a:t>O</a:t>
            </a:r>
            <a:r>
              <a:rPr lang="en-US" altLang="zh-CN" dirty="0">
                <a:latin typeface="Times New Roman" panose="02020603050405020304" pitchFamily="18" charset="0"/>
                <a:ea typeface="SimSun" panose="02010600030101010101" pitchFamily="2" charset="-122"/>
              </a:rPr>
              <a:t>(3</a:t>
            </a:r>
            <a:r>
              <a:rPr lang="en-US" altLang="zh-CN" dirty="0">
                <a:latin typeface="Arial" panose="020B0604020202020204" pitchFamily="34" charset="0"/>
                <a:ea typeface="SimSun" panose="02010600030101010101" pitchFamily="2" charset="-122"/>
              </a:rPr>
              <a:t>+</a:t>
            </a:r>
            <a:r>
              <a:rPr lang="en-US" altLang="zh-CN" dirty="0">
                <a:latin typeface="Times New Roman" panose="02020603050405020304" pitchFamily="18" charset="0"/>
                <a:ea typeface="SimSun" panose="02010600030101010101" pitchFamily="2" charset="-122"/>
              </a:rPr>
              <a:t>2) time</a:t>
            </a:r>
            <a:endParaRPr lang="en-US" altLang="zh-CN" dirty="0">
              <a:latin typeface="Times New Roman" panose="02020603050405020304" pitchFamily="18" charset="0"/>
              <a:ea typeface="SimSun" panose="02010600030101010101" pitchFamily="2" charset="-122"/>
            </a:endParaRPr>
          </a:p>
        </p:txBody>
      </p:sp>
      <p:sp>
        <p:nvSpPr>
          <p:cNvPr id="92169" name="Slide Number Placeholder 45"/>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2"/>
          <p:cNvSpPr>
            <a:spLocks noGrp="1"/>
          </p:cNvSpPr>
          <p:nvPr>
            <p:ph type="title" idx="4294967295"/>
          </p:nvPr>
        </p:nvSpPr>
        <p:spPr>
          <a:xfrm>
            <a:off x="0" y="304800"/>
            <a:ext cx="9144000" cy="609600"/>
          </a:xfrm>
        </p:spPr>
        <p:txBody>
          <a:bodyPr vert="horz" wrap="square" lIns="91440" tIns="45720" rIns="91440" bIns="45720" anchor="b" anchorCtr="0"/>
          <a:p>
            <a:pPr eaLnBrk="1" hangingPunct="1"/>
            <a:r>
              <a:rPr lang="en-US" altLang="zh-CN" sz="3200" dirty="0">
                <a:ea typeface="SimSun" panose="02010600030101010101" pitchFamily="2" charset="-122"/>
              </a:rPr>
              <a:t>Computing Similarity with Aggregation</a:t>
            </a:r>
            <a:endParaRPr lang="en-US" altLang="zh-CN" sz="3200" dirty="0">
              <a:ea typeface="SimSun" panose="02010600030101010101" pitchFamily="2" charset="-122"/>
            </a:endParaRPr>
          </a:p>
        </p:txBody>
      </p:sp>
      <p:sp>
        <p:nvSpPr>
          <p:cNvPr id="93187" name="Rectangle 3"/>
          <p:cNvSpPr>
            <a:spLocks noGrp="1"/>
          </p:cNvSpPr>
          <p:nvPr>
            <p:ph type="body" idx="4294967295"/>
          </p:nvPr>
        </p:nvSpPr>
        <p:spPr>
          <a:xfrm>
            <a:off x="381000" y="4343400"/>
            <a:ext cx="8534400" cy="2286000"/>
          </a:xfrm>
        </p:spPr>
        <p:txBody>
          <a:bodyPr vert="horz" wrap="square" lIns="91440" tIns="45720" rIns="91440" bIns="45720" anchor="t" anchorCtr="0"/>
          <a:p>
            <a:pPr eaLnBrk="1" hangingPunct="1">
              <a:lnSpc>
                <a:spcPct val="110000"/>
              </a:lnSpc>
              <a:buNone/>
            </a:pPr>
            <a:r>
              <a:rPr lang="en-US" altLang="zh-CN" sz="2000" dirty="0">
                <a:ea typeface="SimSun" panose="02010600030101010101" pitchFamily="2" charset="-122"/>
              </a:rPr>
              <a:t>To compute</a:t>
            </a:r>
            <a:r>
              <a:rPr lang="en-US" altLang="zh-CN" sz="2000" i="1" dirty="0">
                <a:ea typeface="SimSun" panose="02010600030101010101" pitchFamily="2" charset="-122"/>
              </a:rPr>
              <a:t> sim</a:t>
            </a:r>
            <a:r>
              <a:rPr lang="en-US" altLang="zh-CN" sz="2000" dirty="0">
                <a:ea typeface="SimSun" panose="02010600030101010101" pitchFamily="2" charset="-122"/>
              </a:rPr>
              <a:t>(</a:t>
            </a:r>
            <a:r>
              <a:rPr lang="en-US" altLang="zh-CN" sz="2000" i="1" dirty="0">
                <a:ea typeface="SimSun" panose="02010600030101010101" pitchFamily="2" charset="-122"/>
              </a:rPr>
              <a:t>n</a:t>
            </a:r>
            <a:r>
              <a:rPr lang="en-US" altLang="zh-CN" sz="2000" i="1" baseline="-25000" dirty="0">
                <a:ea typeface="SimSun" panose="02010600030101010101" pitchFamily="2" charset="-122"/>
              </a:rPr>
              <a:t>a</a:t>
            </a:r>
            <a:r>
              <a:rPr lang="en-US" altLang="zh-CN" sz="2000" dirty="0">
                <a:ea typeface="SimSun" panose="02010600030101010101" pitchFamily="2" charset="-122"/>
              </a:rPr>
              <a:t>,</a:t>
            </a:r>
            <a:r>
              <a:rPr lang="en-US" altLang="zh-CN" sz="2000" i="1" dirty="0">
                <a:ea typeface="SimSun" panose="02010600030101010101" pitchFamily="2" charset="-122"/>
              </a:rPr>
              <a:t>n</a:t>
            </a:r>
            <a:r>
              <a:rPr lang="en-US" altLang="zh-CN" sz="2000" i="1" baseline="-25000" dirty="0">
                <a:ea typeface="SimSun" panose="02010600030101010101" pitchFamily="2" charset="-122"/>
              </a:rPr>
              <a:t>b</a:t>
            </a:r>
            <a:r>
              <a:rPr lang="en-US" altLang="zh-CN" sz="2000" dirty="0">
                <a:ea typeface="SimSun" panose="02010600030101010101" pitchFamily="2" charset="-122"/>
              </a:rPr>
              <a:t>):</a:t>
            </a:r>
            <a:endParaRPr lang="en-US" altLang="zh-CN" sz="2000" dirty="0">
              <a:ea typeface="SimSun" panose="02010600030101010101" pitchFamily="2" charset="-122"/>
            </a:endParaRPr>
          </a:p>
          <a:p>
            <a:pPr eaLnBrk="1" hangingPunct="1">
              <a:lnSpc>
                <a:spcPct val="110000"/>
              </a:lnSpc>
            </a:pPr>
            <a:r>
              <a:rPr lang="en-US" altLang="zh-CN" sz="2000" dirty="0">
                <a:ea typeface="SimSun" panose="02010600030101010101" pitchFamily="2" charset="-122"/>
              </a:rPr>
              <a:t>Find all pairs of sibling nodes </a:t>
            </a:r>
            <a:r>
              <a:rPr lang="en-US" altLang="zh-CN" sz="2000" i="1" dirty="0">
                <a:ea typeface="SimSun" panose="02010600030101010101" pitchFamily="2" charset="-122"/>
              </a:rPr>
              <a:t>n</a:t>
            </a:r>
            <a:r>
              <a:rPr lang="en-US" altLang="zh-CN" sz="2000" i="1" baseline="-25000" dirty="0">
                <a:ea typeface="SimSun" panose="02010600030101010101" pitchFamily="2" charset="-122"/>
              </a:rPr>
              <a:t>i</a:t>
            </a:r>
            <a:r>
              <a:rPr lang="en-US" altLang="zh-CN" sz="2000" dirty="0">
                <a:ea typeface="SimSun" panose="02010600030101010101" pitchFamily="2" charset="-122"/>
              </a:rPr>
              <a:t> and </a:t>
            </a:r>
            <a:r>
              <a:rPr lang="en-US" altLang="zh-CN" sz="2000" i="1" dirty="0">
                <a:ea typeface="SimSun" panose="02010600030101010101" pitchFamily="2" charset="-122"/>
              </a:rPr>
              <a:t>n</a:t>
            </a:r>
            <a:r>
              <a:rPr lang="en-US" altLang="zh-CN" sz="2000" i="1" baseline="-25000" dirty="0">
                <a:ea typeface="SimSun" panose="02010600030101010101" pitchFamily="2" charset="-122"/>
              </a:rPr>
              <a:t>j</a:t>
            </a:r>
            <a:r>
              <a:rPr lang="en-US" altLang="zh-CN" sz="2000" dirty="0">
                <a:ea typeface="SimSun" panose="02010600030101010101" pitchFamily="2" charset="-122"/>
              </a:rPr>
              <a:t>, so that </a:t>
            </a:r>
            <a:r>
              <a:rPr lang="en-US" altLang="zh-CN" sz="2000" i="1" dirty="0">
                <a:ea typeface="SimSun" panose="02010600030101010101" pitchFamily="2" charset="-122"/>
              </a:rPr>
              <a:t>n</a:t>
            </a:r>
            <a:r>
              <a:rPr lang="en-US" altLang="zh-CN" sz="2000" i="1" baseline="-25000" dirty="0">
                <a:ea typeface="SimSun" panose="02010600030101010101" pitchFamily="2" charset="-122"/>
              </a:rPr>
              <a:t>a</a:t>
            </a:r>
            <a:r>
              <a:rPr lang="en-US" altLang="zh-CN" sz="2000" dirty="0">
                <a:ea typeface="SimSun" panose="02010600030101010101" pitchFamily="2" charset="-122"/>
              </a:rPr>
              <a:t> linked with </a:t>
            </a:r>
            <a:r>
              <a:rPr lang="en-US" altLang="zh-CN" sz="2000" i="1" dirty="0">
                <a:ea typeface="SimSun" panose="02010600030101010101" pitchFamily="2" charset="-122"/>
              </a:rPr>
              <a:t>n</a:t>
            </a:r>
            <a:r>
              <a:rPr lang="en-US" altLang="zh-CN" sz="2000" i="1" baseline="-25000" dirty="0">
                <a:ea typeface="SimSun" panose="02010600030101010101" pitchFamily="2" charset="-122"/>
              </a:rPr>
              <a:t>i</a:t>
            </a:r>
            <a:r>
              <a:rPr lang="en-US" altLang="zh-CN" sz="2000" dirty="0">
                <a:ea typeface="SimSun" panose="02010600030101010101" pitchFamily="2" charset="-122"/>
              </a:rPr>
              <a:t> and </a:t>
            </a:r>
            <a:r>
              <a:rPr lang="en-US" altLang="zh-CN" sz="2000" i="1" dirty="0">
                <a:ea typeface="SimSun" panose="02010600030101010101" pitchFamily="2" charset="-122"/>
              </a:rPr>
              <a:t>n</a:t>
            </a:r>
            <a:r>
              <a:rPr lang="en-US" altLang="zh-CN" sz="2000" i="1" baseline="-25000" dirty="0">
                <a:ea typeface="SimSun" panose="02010600030101010101" pitchFamily="2" charset="-122"/>
              </a:rPr>
              <a:t>b</a:t>
            </a:r>
            <a:r>
              <a:rPr lang="en-US" altLang="zh-CN" sz="2000" dirty="0">
                <a:ea typeface="SimSun" panose="02010600030101010101" pitchFamily="2" charset="-122"/>
              </a:rPr>
              <a:t> with </a:t>
            </a:r>
            <a:r>
              <a:rPr lang="en-US" altLang="zh-CN" sz="2000" i="1" dirty="0">
                <a:ea typeface="SimSun" panose="02010600030101010101" pitchFamily="2" charset="-122"/>
              </a:rPr>
              <a:t>n</a:t>
            </a:r>
            <a:r>
              <a:rPr lang="en-US" altLang="zh-CN" sz="2000" i="1" baseline="-25000" dirty="0">
                <a:ea typeface="SimSun" panose="02010600030101010101" pitchFamily="2" charset="-122"/>
              </a:rPr>
              <a:t>j</a:t>
            </a:r>
            <a:r>
              <a:rPr lang="en-US" altLang="zh-CN" sz="2000" dirty="0">
                <a:ea typeface="SimSun" panose="02010600030101010101" pitchFamily="2" charset="-122"/>
              </a:rPr>
              <a:t>. </a:t>
            </a:r>
            <a:endParaRPr lang="en-US" altLang="zh-CN" sz="2000" dirty="0">
              <a:ea typeface="SimSun" panose="02010600030101010101" pitchFamily="2" charset="-122"/>
            </a:endParaRPr>
          </a:p>
          <a:p>
            <a:pPr eaLnBrk="1" hangingPunct="1">
              <a:lnSpc>
                <a:spcPct val="110000"/>
              </a:lnSpc>
            </a:pPr>
            <a:r>
              <a:rPr lang="en-US" altLang="zh-CN" sz="2000" dirty="0">
                <a:ea typeface="SimSun" panose="02010600030101010101" pitchFamily="2" charset="-122"/>
              </a:rPr>
              <a:t>Calculate similarity (and weight) between </a:t>
            </a:r>
            <a:r>
              <a:rPr lang="en-US" altLang="zh-CN" sz="2000" i="1" dirty="0">
                <a:ea typeface="SimSun" panose="02010600030101010101" pitchFamily="2" charset="-122"/>
              </a:rPr>
              <a:t>n</a:t>
            </a:r>
            <a:r>
              <a:rPr lang="en-US" altLang="zh-CN" sz="2000" i="1" baseline="-25000" dirty="0">
                <a:ea typeface="SimSun" panose="02010600030101010101" pitchFamily="2" charset="-122"/>
              </a:rPr>
              <a:t>a</a:t>
            </a:r>
            <a:r>
              <a:rPr lang="en-US" altLang="zh-CN" sz="2000" dirty="0">
                <a:ea typeface="SimSun" panose="02010600030101010101" pitchFamily="2" charset="-122"/>
              </a:rPr>
              <a:t> and </a:t>
            </a:r>
            <a:r>
              <a:rPr lang="en-US" altLang="zh-CN" sz="2000" i="1" dirty="0">
                <a:ea typeface="SimSun" panose="02010600030101010101" pitchFamily="2" charset="-122"/>
              </a:rPr>
              <a:t>n</a:t>
            </a:r>
            <a:r>
              <a:rPr lang="en-US" altLang="zh-CN" sz="2000" i="1" baseline="-25000" dirty="0">
                <a:ea typeface="SimSun" panose="02010600030101010101" pitchFamily="2" charset="-122"/>
              </a:rPr>
              <a:t>b </a:t>
            </a:r>
            <a:r>
              <a:rPr lang="en-US" altLang="zh-CN" sz="2000" dirty="0">
                <a:ea typeface="SimSun" panose="02010600030101010101" pitchFamily="2" charset="-122"/>
              </a:rPr>
              <a:t>w.r.t. </a:t>
            </a:r>
            <a:r>
              <a:rPr lang="en-US" altLang="zh-CN" sz="2000" i="1" dirty="0">
                <a:ea typeface="SimSun" panose="02010600030101010101" pitchFamily="2" charset="-122"/>
              </a:rPr>
              <a:t>n</a:t>
            </a:r>
            <a:r>
              <a:rPr lang="en-US" altLang="zh-CN" sz="2000" i="1" baseline="-25000" dirty="0">
                <a:ea typeface="SimSun" panose="02010600030101010101" pitchFamily="2" charset="-122"/>
              </a:rPr>
              <a:t>i</a:t>
            </a:r>
            <a:r>
              <a:rPr lang="en-US" altLang="zh-CN" sz="2000" dirty="0">
                <a:ea typeface="SimSun" panose="02010600030101010101" pitchFamily="2" charset="-122"/>
              </a:rPr>
              <a:t> and </a:t>
            </a:r>
            <a:r>
              <a:rPr lang="en-US" altLang="zh-CN" sz="2000" i="1" dirty="0">
                <a:ea typeface="SimSun" panose="02010600030101010101" pitchFamily="2" charset="-122"/>
              </a:rPr>
              <a:t>n</a:t>
            </a:r>
            <a:r>
              <a:rPr lang="en-US" altLang="zh-CN" sz="2000" i="1" baseline="-25000" dirty="0">
                <a:ea typeface="SimSun" panose="02010600030101010101" pitchFamily="2" charset="-122"/>
              </a:rPr>
              <a:t>j</a:t>
            </a:r>
            <a:r>
              <a:rPr lang="en-US" altLang="zh-CN" sz="2000" dirty="0">
                <a:ea typeface="SimSun" panose="02010600030101010101" pitchFamily="2" charset="-122"/>
              </a:rPr>
              <a:t>.</a:t>
            </a:r>
            <a:endParaRPr lang="en-US" altLang="zh-CN" sz="2000" dirty="0">
              <a:ea typeface="SimSun" panose="02010600030101010101" pitchFamily="2" charset="-122"/>
            </a:endParaRPr>
          </a:p>
          <a:p>
            <a:pPr eaLnBrk="1" hangingPunct="1">
              <a:lnSpc>
                <a:spcPct val="110000"/>
              </a:lnSpc>
            </a:pPr>
            <a:r>
              <a:rPr lang="en-US" altLang="zh-CN" sz="2000" dirty="0">
                <a:ea typeface="SimSun" panose="02010600030101010101" pitchFamily="2" charset="-122"/>
              </a:rPr>
              <a:t>Calculate weighted average similarity between </a:t>
            </a:r>
            <a:r>
              <a:rPr lang="en-US" altLang="zh-CN" sz="2000" i="1" dirty="0">
                <a:ea typeface="SimSun" panose="02010600030101010101" pitchFamily="2" charset="-122"/>
              </a:rPr>
              <a:t>n</a:t>
            </a:r>
            <a:r>
              <a:rPr lang="en-US" altLang="zh-CN" sz="2000" i="1" baseline="-25000" dirty="0">
                <a:ea typeface="SimSun" panose="02010600030101010101" pitchFamily="2" charset="-122"/>
              </a:rPr>
              <a:t>a</a:t>
            </a:r>
            <a:r>
              <a:rPr lang="en-US" altLang="zh-CN" sz="2000" dirty="0">
                <a:ea typeface="SimSun" panose="02010600030101010101" pitchFamily="2" charset="-122"/>
              </a:rPr>
              <a:t> and </a:t>
            </a:r>
            <a:r>
              <a:rPr lang="en-US" altLang="zh-CN" sz="2000" i="1" dirty="0">
                <a:ea typeface="SimSun" panose="02010600030101010101" pitchFamily="2" charset="-122"/>
              </a:rPr>
              <a:t>n</a:t>
            </a:r>
            <a:r>
              <a:rPr lang="en-US" altLang="zh-CN" sz="2000" i="1" baseline="-25000" dirty="0">
                <a:ea typeface="SimSun" panose="02010600030101010101" pitchFamily="2" charset="-122"/>
              </a:rPr>
              <a:t>b </a:t>
            </a:r>
            <a:r>
              <a:rPr lang="en-US" altLang="zh-CN" sz="2000" dirty="0">
                <a:ea typeface="SimSun" panose="02010600030101010101" pitchFamily="2" charset="-122"/>
              </a:rPr>
              <a:t>w.r.t. all such pairs.</a:t>
            </a:r>
            <a:endParaRPr lang="en-US" altLang="zh-CN" sz="2000" dirty="0">
              <a:ea typeface="SimSun" panose="02010600030101010101" pitchFamily="2" charset="-122"/>
            </a:endParaRPr>
          </a:p>
        </p:txBody>
      </p:sp>
      <p:sp>
        <p:nvSpPr>
          <p:cNvPr id="93188" name="Text Box 4"/>
          <p:cNvSpPr txBox="1"/>
          <p:nvPr/>
        </p:nvSpPr>
        <p:spPr>
          <a:xfrm>
            <a:off x="304800" y="3505200"/>
            <a:ext cx="8610600" cy="854075"/>
          </a:xfrm>
          <a:prstGeom prst="rect">
            <a:avLst/>
          </a:prstGeom>
          <a:noFill/>
          <a:ln w="9525">
            <a:noFill/>
          </a:ln>
        </p:spPr>
        <p:txBody>
          <a:bodyPr>
            <a:spAutoFit/>
          </a:bodyPr>
          <a:p>
            <a:pPr algn="l">
              <a:spcBef>
                <a:spcPct val="50000"/>
              </a:spcBef>
            </a:pPr>
            <a:r>
              <a:rPr lang="en-US" altLang="zh-CN" sz="2000" i="1" dirty="0">
                <a:latin typeface="Tahoma" panose="020B0604030504040204" pitchFamily="34" charset="0"/>
                <a:ea typeface="SimSun" panose="02010600030101010101" pitchFamily="2" charset="-122"/>
              </a:rPr>
              <a:t>sim</a:t>
            </a:r>
            <a:r>
              <a:rPr lang="en-US" altLang="zh-CN" sz="2000" dirty="0">
                <a:latin typeface="Tahoma" panose="020B0604030504040204" pitchFamily="34" charset="0"/>
                <a:ea typeface="SimSun" panose="02010600030101010101" pitchFamily="2" charset="-122"/>
              </a:rPr>
              <a:t>(</a:t>
            </a:r>
            <a:r>
              <a:rPr lang="en-US" altLang="zh-CN" sz="2000" i="1" dirty="0">
                <a:latin typeface="Tahoma" panose="020B0604030504040204" pitchFamily="34" charset="0"/>
                <a:ea typeface="SimSun" panose="02010600030101010101" pitchFamily="2" charset="-122"/>
              </a:rPr>
              <a:t>n</a:t>
            </a:r>
            <a:r>
              <a:rPr lang="en-US" altLang="zh-CN" sz="2000" i="1" baseline="-25000" dirty="0">
                <a:latin typeface="Tahoma" panose="020B0604030504040204" pitchFamily="34" charset="0"/>
                <a:ea typeface="SimSun" panose="02010600030101010101" pitchFamily="2" charset="-122"/>
              </a:rPr>
              <a:t>a</a:t>
            </a:r>
            <a:r>
              <a:rPr lang="en-US" altLang="zh-CN" sz="2000" i="1" dirty="0">
                <a:latin typeface="Tahoma" panose="020B0604030504040204" pitchFamily="34" charset="0"/>
                <a:ea typeface="SimSun" panose="02010600030101010101" pitchFamily="2" charset="-122"/>
              </a:rPr>
              <a:t>, n</a:t>
            </a:r>
            <a:r>
              <a:rPr lang="en-US" altLang="zh-CN" sz="2000" i="1" baseline="-25000" dirty="0">
                <a:latin typeface="Tahoma" panose="020B0604030504040204" pitchFamily="34" charset="0"/>
                <a:ea typeface="SimSun" panose="02010600030101010101" pitchFamily="2" charset="-122"/>
              </a:rPr>
              <a:t>b</a:t>
            </a:r>
            <a:r>
              <a:rPr lang="en-US" altLang="zh-CN" sz="2000" dirty="0">
                <a:latin typeface="Tahoma" panose="020B0604030504040204" pitchFamily="34" charset="0"/>
                <a:ea typeface="SimSun" panose="02010600030101010101" pitchFamily="2" charset="-122"/>
              </a:rPr>
              <a:t>) = avg_sim(</a:t>
            </a:r>
            <a:r>
              <a:rPr lang="en-US" altLang="zh-CN" sz="2000" i="1" dirty="0">
                <a:latin typeface="Tahoma" panose="020B0604030504040204" pitchFamily="34" charset="0"/>
                <a:ea typeface="SimSun" panose="02010600030101010101" pitchFamily="2" charset="-122"/>
              </a:rPr>
              <a:t>n</a:t>
            </a:r>
            <a:r>
              <a:rPr lang="en-US" altLang="zh-CN" sz="2000" i="1" baseline="-25000" dirty="0">
                <a:latin typeface="Tahoma" panose="020B0604030504040204" pitchFamily="34" charset="0"/>
                <a:ea typeface="SimSun" panose="02010600030101010101" pitchFamily="2" charset="-122"/>
              </a:rPr>
              <a:t>a</a:t>
            </a:r>
            <a:r>
              <a:rPr lang="en-US" altLang="zh-CN" sz="2000" i="1" dirty="0">
                <a:latin typeface="Tahoma" panose="020B0604030504040204" pitchFamily="34" charset="0"/>
                <a:ea typeface="SimSun" panose="02010600030101010101" pitchFamily="2" charset="-122"/>
              </a:rPr>
              <a:t>,n</a:t>
            </a:r>
            <a:r>
              <a:rPr lang="en-US" altLang="zh-CN" sz="2000" baseline="-25000" dirty="0">
                <a:latin typeface="Tahoma" panose="020B0604030504040204" pitchFamily="34" charset="0"/>
                <a:ea typeface="SimSun" panose="02010600030101010101" pitchFamily="2" charset="-122"/>
              </a:rPr>
              <a:t>4</a:t>
            </a:r>
            <a:r>
              <a:rPr lang="en-US" altLang="zh-CN" sz="2000" dirty="0">
                <a:latin typeface="Tahoma" panose="020B0604030504040204" pitchFamily="34" charset="0"/>
                <a:ea typeface="SimSun" panose="02010600030101010101" pitchFamily="2" charset="-122"/>
              </a:rPr>
              <a:t>) x </a:t>
            </a:r>
            <a:r>
              <a:rPr lang="en-US" altLang="zh-CN" sz="2000" i="1" dirty="0">
                <a:latin typeface="Tahoma" panose="020B0604030504040204" pitchFamily="34" charset="0"/>
                <a:ea typeface="SimSun" panose="02010600030101010101" pitchFamily="2" charset="-122"/>
              </a:rPr>
              <a:t>s</a:t>
            </a:r>
            <a:r>
              <a:rPr lang="en-US" altLang="zh-CN" sz="2000" dirty="0">
                <a:latin typeface="Tahoma" panose="020B0604030504040204" pitchFamily="34" charset="0"/>
                <a:ea typeface="SimSun" panose="02010600030101010101" pitchFamily="2" charset="-122"/>
              </a:rPr>
              <a:t>(</a:t>
            </a:r>
            <a:r>
              <a:rPr lang="en-US" altLang="zh-CN" sz="2000" i="1" dirty="0">
                <a:latin typeface="Tahoma" panose="020B0604030504040204" pitchFamily="34" charset="0"/>
                <a:ea typeface="SimSun" panose="02010600030101010101" pitchFamily="2" charset="-122"/>
              </a:rPr>
              <a:t>n</a:t>
            </a:r>
            <a:r>
              <a:rPr lang="en-US" altLang="zh-CN" sz="2000" baseline="-25000" dirty="0">
                <a:latin typeface="Tahoma" panose="020B0604030504040204" pitchFamily="34" charset="0"/>
                <a:ea typeface="SimSun" panose="02010600030101010101" pitchFamily="2" charset="-122"/>
              </a:rPr>
              <a:t>4</a:t>
            </a:r>
            <a:r>
              <a:rPr lang="en-US" altLang="zh-CN" sz="2000" i="1" dirty="0">
                <a:latin typeface="Tahoma" panose="020B0604030504040204" pitchFamily="34" charset="0"/>
                <a:ea typeface="SimSun" panose="02010600030101010101" pitchFamily="2" charset="-122"/>
              </a:rPr>
              <a:t>, n</a:t>
            </a:r>
            <a:r>
              <a:rPr lang="en-US" altLang="zh-CN" sz="2000" baseline="-25000" dirty="0">
                <a:latin typeface="Tahoma" panose="020B0604030504040204" pitchFamily="34" charset="0"/>
                <a:ea typeface="SimSun" panose="02010600030101010101" pitchFamily="2" charset="-122"/>
              </a:rPr>
              <a:t>5</a:t>
            </a:r>
            <a:r>
              <a:rPr lang="en-US" altLang="zh-CN" sz="2000" dirty="0">
                <a:latin typeface="Tahoma" panose="020B0604030504040204" pitchFamily="34" charset="0"/>
                <a:ea typeface="SimSun" panose="02010600030101010101" pitchFamily="2" charset="-122"/>
              </a:rPr>
              <a:t>) x avg_sim(</a:t>
            </a:r>
            <a:r>
              <a:rPr lang="en-US" altLang="zh-CN" sz="2000" i="1" dirty="0">
                <a:latin typeface="Tahoma" panose="020B0604030504040204" pitchFamily="34" charset="0"/>
                <a:ea typeface="SimSun" panose="02010600030101010101" pitchFamily="2" charset="-122"/>
              </a:rPr>
              <a:t>n</a:t>
            </a:r>
            <a:r>
              <a:rPr lang="en-US" altLang="zh-CN" sz="2000" i="1" baseline="-25000" dirty="0">
                <a:latin typeface="Tahoma" panose="020B0604030504040204" pitchFamily="34" charset="0"/>
                <a:ea typeface="SimSun" panose="02010600030101010101" pitchFamily="2" charset="-122"/>
              </a:rPr>
              <a:t>b</a:t>
            </a:r>
            <a:r>
              <a:rPr lang="en-US" altLang="zh-CN" sz="2000" i="1" dirty="0">
                <a:latin typeface="Tahoma" panose="020B0604030504040204" pitchFamily="34" charset="0"/>
                <a:ea typeface="SimSun" panose="02010600030101010101" pitchFamily="2" charset="-122"/>
              </a:rPr>
              <a:t>,n</a:t>
            </a:r>
            <a:r>
              <a:rPr lang="en-US" altLang="zh-CN" sz="2000" baseline="-25000" dirty="0">
                <a:latin typeface="Tahoma" panose="020B0604030504040204" pitchFamily="34" charset="0"/>
                <a:ea typeface="SimSun" panose="02010600030101010101" pitchFamily="2" charset="-122"/>
              </a:rPr>
              <a:t>5</a:t>
            </a:r>
            <a:r>
              <a:rPr lang="en-US" altLang="zh-CN" sz="2000" dirty="0">
                <a:latin typeface="Tahoma" panose="020B0604030504040204" pitchFamily="34" charset="0"/>
                <a:ea typeface="SimSun" panose="02010600030101010101" pitchFamily="2" charset="-122"/>
              </a:rPr>
              <a:t>)</a:t>
            </a:r>
            <a:endParaRPr lang="en-US" altLang="zh-CN" sz="2000" dirty="0">
              <a:latin typeface="Tahoma" panose="020B0604030504040204" pitchFamily="34" charset="0"/>
              <a:ea typeface="SimSun" panose="02010600030101010101" pitchFamily="2" charset="-122"/>
            </a:endParaRPr>
          </a:p>
          <a:p>
            <a:pPr algn="l">
              <a:spcBef>
                <a:spcPct val="50000"/>
              </a:spcBef>
            </a:pPr>
            <a:r>
              <a:rPr lang="en-US" altLang="zh-CN" sz="2000" dirty="0">
                <a:latin typeface="Tahoma" panose="020B0604030504040204" pitchFamily="34" charset="0"/>
                <a:ea typeface="SimSun" panose="02010600030101010101" pitchFamily="2" charset="-122"/>
              </a:rPr>
              <a:t>                  = 0.9 x 0.2 x 0.95 = 0.171</a:t>
            </a:r>
            <a:endParaRPr lang="en-US" altLang="zh-CN" sz="2000" dirty="0">
              <a:latin typeface="Tahoma" panose="020B0604030504040204" pitchFamily="34" charset="0"/>
              <a:ea typeface="SimSun" panose="02010600030101010101" pitchFamily="2" charset="-122"/>
            </a:endParaRPr>
          </a:p>
        </p:txBody>
      </p:sp>
      <p:sp>
        <p:nvSpPr>
          <p:cNvPr id="93189" name="Text Box 5"/>
          <p:cNvSpPr txBox="1"/>
          <p:nvPr/>
        </p:nvSpPr>
        <p:spPr>
          <a:xfrm>
            <a:off x="381000" y="2117725"/>
            <a:ext cx="3733800" cy="701675"/>
          </a:xfrm>
          <a:prstGeom prst="rect">
            <a:avLst/>
          </a:prstGeom>
          <a:noFill/>
          <a:ln w="9525">
            <a:noFill/>
          </a:ln>
        </p:spPr>
        <p:txBody>
          <a:bodyPr>
            <a:spAutoFit/>
          </a:bodyPr>
          <a:p>
            <a:pPr algn="l">
              <a:spcBef>
                <a:spcPct val="50000"/>
              </a:spcBef>
            </a:pPr>
            <a:r>
              <a:rPr lang="en-US" altLang="zh-CN" sz="2000" i="1" dirty="0">
                <a:latin typeface="Tahoma" panose="020B0604030504040204" pitchFamily="34" charset="0"/>
                <a:ea typeface="SimSun" panose="02010600030101010101" pitchFamily="2" charset="-122"/>
              </a:rPr>
              <a:t>sim</a:t>
            </a:r>
            <a:r>
              <a:rPr lang="en-US" altLang="zh-CN" sz="2000" dirty="0">
                <a:latin typeface="Tahoma" panose="020B0604030504040204" pitchFamily="34" charset="0"/>
                <a:ea typeface="SimSun" panose="02010600030101010101" pitchFamily="2" charset="-122"/>
              </a:rPr>
              <a:t>(</a:t>
            </a:r>
            <a:r>
              <a:rPr lang="en-US" altLang="zh-CN" sz="2000" i="1" dirty="0">
                <a:latin typeface="Tahoma" panose="020B0604030504040204" pitchFamily="34" charset="0"/>
                <a:ea typeface="SimSun" panose="02010600030101010101" pitchFamily="2" charset="-122"/>
              </a:rPr>
              <a:t>n</a:t>
            </a:r>
            <a:r>
              <a:rPr lang="en-US" altLang="zh-CN" sz="2000" i="1" baseline="-25000" dirty="0">
                <a:latin typeface="Tahoma" panose="020B0604030504040204" pitchFamily="34" charset="0"/>
                <a:ea typeface="SimSun" panose="02010600030101010101" pitchFamily="2" charset="-122"/>
              </a:rPr>
              <a:t>a</a:t>
            </a:r>
            <a:r>
              <a:rPr lang="en-US" altLang="zh-CN" sz="2000" i="1" dirty="0">
                <a:latin typeface="Tahoma" panose="020B0604030504040204" pitchFamily="34" charset="0"/>
                <a:ea typeface="SimSun" panose="02010600030101010101" pitchFamily="2" charset="-122"/>
              </a:rPr>
              <a:t>, n</a:t>
            </a:r>
            <a:r>
              <a:rPr lang="en-US" altLang="zh-CN" sz="2000" i="1" baseline="-25000" dirty="0">
                <a:latin typeface="Tahoma" panose="020B0604030504040204" pitchFamily="34" charset="0"/>
                <a:ea typeface="SimSun" panose="02010600030101010101" pitchFamily="2" charset="-122"/>
              </a:rPr>
              <a:t>b</a:t>
            </a:r>
            <a:r>
              <a:rPr lang="en-US" altLang="zh-CN" sz="2000" dirty="0">
                <a:latin typeface="Tahoma" panose="020B0604030504040204" pitchFamily="34" charset="0"/>
                <a:ea typeface="SimSun" panose="02010600030101010101" pitchFamily="2" charset="-122"/>
              </a:rPr>
              <a:t>) can be computed from aggregated similarities</a:t>
            </a:r>
            <a:endParaRPr lang="en-US" altLang="zh-CN" sz="2000" dirty="0">
              <a:latin typeface="Tahoma" panose="020B0604030504040204" pitchFamily="34" charset="0"/>
              <a:ea typeface="SimSun" panose="02010600030101010101" pitchFamily="2" charset="-122"/>
            </a:endParaRPr>
          </a:p>
        </p:txBody>
      </p:sp>
      <p:sp>
        <p:nvSpPr>
          <p:cNvPr id="93190" name="Rectangle 6"/>
          <p:cNvSpPr/>
          <p:nvPr/>
        </p:nvSpPr>
        <p:spPr>
          <a:xfrm>
            <a:off x="1981200" y="1143000"/>
            <a:ext cx="2057400" cy="609600"/>
          </a:xfrm>
          <a:prstGeom prst="rect">
            <a:avLst/>
          </a:prstGeom>
          <a:noFill/>
          <a:ln w="9525" cap="flat" cmpd="sng">
            <a:solidFill>
              <a:schemeClr val="tx1"/>
            </a:solidFill>
            <a:prstDash val="solid"/>
            <a:miter/>
            <a:headEnd type="none" w="med" len="med"/>
            <a:tailEnd type="none" w="med" len="med"/>
          </a:ln>
        </p:spPr>
        <p:txBody>
          <a:bodyPr wrap="none" anchor="ctr" anchorCtr="0"/>
          <a:p>
            <a:r>
              <a:rPr sz="2000" dirty="0">
                <a:latin typeface="Tahoma" panose="020B0604030504040204" pitchFamily="34" charset="0"/>
                <a:ea typeface="SimSun" panose="02010600030101010101" pitchFamily="2" charset="-122"/>
              </a:rPr>
              <a:t>Average similarity</a:t>
            </a:r>
            <a:endParaRPr sz="2000" dirty="0">
              <a:latin typeface="Tahoma" panose="020B0604030504040204" pitchFamily="34" charset="0"/>
              <a:ea typeface="SimSun" panose="02010600030101010101" pitchFamily="2" charset="-122"/>
            </a:endParaRPr>
          </a:p>
          <a:p>
            <a:r>
              <a:rPr sz="2000" dirty="0">
                <a:latin typeface="Tahoma" panose="020B0604030504040204" pitchFamily="34" charset="0"/>
                <a:ea typeface="SimSun" panose="02010600030101010101" pitchFamily="2" charset="-122"/>
              </a:rPr>
              <a:t>and total weight</a:t>
            </a:r>
            <a:endParaRPr sz="2000" dirty="0">
              <a:latin typeface="Tahoma" panose="020B0604030504040204" pitchFamily="34" charset="0"/>
              <a:ea typeface="SimSun" panose="02010600030101010101" pitchFamily="2" charset="-122"/>
            </a:endParaRPr>
          </a:p>
        </p:txBody>
      </p:sp>
      <p:grpSp>
        <p:nvGrpSpPr>
          <p:cNvPr id="93191" name="Group 7"/>
          <p:cNvGrpSpPr/>
          <p:nvPr/>
        </p:nvGrpSpPr>
        <p:grpSpPr>
          <a:xfrm>
            <a:off x="4114800" y="1219200"/>
            <a:ext cx="4114800" cy="2057400"/>
            <a:chOff x="2592" y="576"/>
            <a:chExt cx="2592" cy="1296"/>
          </a:xfrm>
        </p:grpSpPr>
        <p:sp>
          <p:nvSpPr>
            <p:cNvPr id="93193" name="Oval 8"/>
            <p:cNvSpPr/>
            <p:nvPr/>
          </p:nvSpPr>
          <p:spPr>
            <a:xfrm>
              <a:off x="3024" y="784"/>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r>
                <a:rPr lang="en-US" altLang="zh-CN" sz="2000" dirty="0">
                  <a:latin typeface="Times New Roman" panose="02020603050405020304" pitchFamily="18" charset="0"/>
                  <a:ea typeface="SimSun" panose="02010600030101010101" pitchFamily="2" charset="-122"/>
                </a:rPr>
                <a:t>4</a:t>
              </a:r>
              <a:endParaRPr lang="en-US" altLang="zh-CN" sz="2000" dirty="0">
                <a:latin typeface="Times New Roman" panose="02020603050405020304" pitchFamily="18" charset="0"/>
                <a:ea typeface="SimSun" panose="02010600030101010101" pitchFamily="2" charset="-122"/>
              </a:endParaRPr>
            </a:p>
          </p:txBody>
        </p:sp>
        <p:sp>
          <p:nvSpPr>
            <p:cNvPr id="93194" name="Oval 9"/>
            <p:cNvSpPr/>
            <p:nvPr/>
          </p:nvSpPr>
          <p:spPr>
            <a:xfrm>
              <a:off x="4704" y="784"/>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r>
                <a:rPr lang="en-US" altLang="zh-CN" sz="2000" dirty="0">
                  <a:latin typeface="Times New Roman" panose="02020603050405020304" pitchFamily="18" charset="0"/>
                  <a:ea typeface="SimSun" panose="02010600030101010101" pitchFamily="2" charset="-122"/>
                </a:rPr>
                <a:t>5</a:t>
              </a:r>
              <a:endParaRPr lang="en-US" altLang="zh-CN" sz="2000" dirty="0">
                <a:latin typeface="Times New Roman" panose="02020603050405020304" pitchFamily="18" charset="0"/>
                <a:ea typeface="SimSun" panose="02010600030101010101" pitchFamily="2" charset="-122"/>
              </a:endParaRPr>
            </a:p>
          </p:txBody>
        </p:sp>
        <p:cxnSp>
          <p:nvCxnSpPr>
            <p:cNvPr id="93195" name="AutoShape 10"/>
            <p:cNvCxnSpPr>
              <a:stCxn id="93193" idx="4"/>
              <a:endCxn id="93199" idx="0"/>
            </p:cNvCxnSpPr>
            <p:nvPr/>
          </p:nvCxnSpPr>
          <p:spPr>
            <a:xfrm flipH="1">
              <a:off x="2688" y="976"/>
              <a:ext cx="432" cy="224"/>
            </a:xfrm>
            <a:prstGeom prst="straightConnector1">
              <a:avLst/>
            </a:prstGeom>
            <a:ln w="9525" cap="flat" cmpd="sng">
              <a:solidFill>
                <a:schemeClr val="tx1"/>
              </a:solidFill>
              <a:prstDash val="solid"/>
              <a:headEnd type="none" w="med" len="med"/>
              <a:tailEnd type="none" w="med" len="med"/>
            </a:ln>
          </p:spPr>
        </p:cxnSp>
        <p:cxnSp>
          <p:nvCxnSpPr>
            <p:cNvPr id="93196" name="AutoShape 11"/>
            <p:cNvCxnSpPr>
              <a:stCxn id="93193" idx="4"/>
              <a:endCxn id="93200" idx="0"/>
            </p:cNvCxnSpPr>
            <p:nvPr/>
          </p:nvCxnSpPr>
          <p:spPr>
            <a:xfrm>
              <a:off x="3120" y="976"/>
              <a:ext cx="480" cy="224"/>
            </a:xfrm>
            <a:prstGeom prst="straightConnector1">
              <a:avLst/>
            </a:prstGeom>
            <a:ln w="9525" cap="flat" cmpd="sng">
              <a:solidFill>
                <a:schemeClr val="tx1"/>
              </a:solidFill>
              <a:prstDash val="solid"/>
              <a:headEnd type="none" w="med" len="med"/>
              <a:tailEnd type="none" w="med" len="med"/>
            </a:ln>
          </p:spPr>
        </p:cxnSp>
        <p:cxnSp>
          <p:nvCxnSpPr>
            <p:cNvPr id="93197" name="AutoShape 12"/>
            <p:cNvCxnSpPr>
              <a:stCxn id="93194" idx="4"/>
              <a:endCxn id="93201" idx="0"/>
            </p:cNvCxnSpPr>
            <p:nvPr/>
          </p:nvCxnSpPr>
          <p:spPr>
            <a:xfrm flipH="1">
              <a:off x="4560" y="976"/>
              <a:ext cx="240" cy="224"/>
            </a:xfrm>
            <a:prstGeom prst="straightConnector1">
              <a:avLst/>
            </a:prstGeom>
            <a:ln w="9525" cap="flat" cmpd="sng">
              <a:solidFill>
                <a:schemeClr val="tx1"/>
              </a:solidFill>
              <a:prstDash val="solid"/>
              <a:headEnd type="none" w="med" len="med"/>
              <a:tailEnd type="none" w="med" len="med"/>
            </a:ln>
          </p:spPr>
        </p:cxnSp>
        <p:cxnSp>
          <p:nvCxnSpPr>
            <p:cNvPr id="93198" name="AutoShape 13"/>
            <p:cNvCxnSpPr>
              <a:stCxn id="93194" idx="4"/>
              <a:endCxn id="93202" idx="0"/>
            </p:cNvCxnSpPr>
            <p:nvPr/>
          </p:nvCxnSpPr>
          <p:spPr>
            <a:xfrm>
              <a:off x="4800" y="976"/>
              <a:ext cx="240" cy="224"/>
            </a:xfrm>
            <a:prstGeom prst="straightConnector1">
              <a:avLst/>
            </a:prstGeom>
            <a:ln w="9525" cap="flat" cmpd="sng">
              <a:solidFill>
                <a:schemeClr val="tx1"/>
              </a:solidFill>
              <a:prstDash val="solid"/>
              <a:headEnd type="none" w="med" len="med"/>
              <a:tailEnd type="none" w="med" len="med"/>
            </a:ln>
          </p:spPr>
        </p:cxnSp>
        <p:sp>
          <p:nvSpPr>
            <p:cNvPr id="93199" name="Oval 14"/>
            <p:cNvSpPr/>
            <p:nvPr/>
          </p:nvSpPr>
          <p:spPr>
            <a:xfrm>
              <a:off x="2592" y="1200"/>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r>
                <a:rPr lang="en-US" altLang="zh-CN" sz="1600" dirty="0">
                  <a:latin typeface="Times New Roman" panose="02020603050405020304" pitchFamily="18" charset="0"/>
                  <a:ea typeface="SimSun" panose="02010600030101010101" pitchFamily="2" charset="-122"/>
                </a:rPr>
                <a:t>10</a:t>
              </a:r>
              <a:endParaRPr lang="en-US" altLang="zh-CN" sz="1600" dirty="0">
                <a:latin typeface="Times New Roman" panose="02020603050405020304" pitchFamily="18" charset="0"/>
                <a:ea typeface="SimSun" panose="02010600030101010101" pitchFamily="2" charset="-122"/>
              </a:endParaRPr>
            </a:p>
          </p:txBody>
        </p:sp>
        <p:sp>
          <p:nvSpPr>
            <p:cNvPr id="93200" name="Oval 15"/>
            <p:cNvSpPr/>
            <p:nvPr/>
          </p:nvSpPr>
          <p:spPr>
            <a:xfrm>
              <a:off x="3504" y="1200"/>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r>
                <a:rPr lang="en-US" altLang="zh-CN" sz="1600" dirty="0">
                  <a:latin typeface="Times New Roman" panose="02020603050405020304" pitchFamily="18" charset="0"/>
                  <a:ea typeface="SimSun" panose="02010600030101010101" pitchFamily="2" charset="-122"/>
                </a:rPr>
                <a:t>12</a:t>
              </a:r>
              <a:endParaRPr lang="en-US" altLang="zh-CN" sz="1600" dirty="0">
                <a:latin typeface="Times New Roman" panose="02020603050405020304" pitchFamily="18" charset="0"/>
                <a:ea typeface="SimSun" panose="02010600030101010101" pitchFamily="2" charset="-122"/>
              </a:endParaRPr>
            </a:p>
          </p:txBody>
        </p:sp>
        <p:sp>
          <p:nvSpPr>
            <p:cNvPr id="93201" name="Oval 16"/>
            <p:cNvSpPr/>
            <p:nvPr/>
          </p:nvSpPr>
          <p:spPr>
            <a:xfrm>
              <a:off x="4464" y="1200"/>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r>
                <a:rPr lang="en-US" altLang="zh-CN" sz="1600" dirty="0">
                  <a:latin typeface="Times New Roman" panose="02020603050405020304" pitchFamily="18" charset="0"/>
                  <a:ea typeface="SimSun" panose="02010600030101010101" pitchFamily="2" charset="-122"/>
                </a:rPr>
                <a:t>13</a:t>
              </a:r>
              <a:endParaRPr lang="en-US" altLang="zh-CN" sz="1600" dirty="0">
                <a:latin typeface="Times New Roman" panose="02020603050405020304" pitchFamily="18" charset="0"/>
                <a:ea typeface="SimSun" panose="02010600030101010101" pitchFamily="2" charset="-122"/>
              </a:endParaRPr>
            </a:p>
          </p:txBody>
        </p:sp>
        <p:sp>
          <p:nvSpPr>
            <p:cNvPr id="93202" name="Oval 17"/>
            <p:cNvSpPr/>
            <p:nvPr/>
          </p:nvSpPr>
          <p:spPr>
            <a:xfrm>
              <a:off x="4944" y="1200"/>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r>
                <a:rPr lang="en-US" altLang="zh-CN" sz="1600" dirty="0">
                  <a:latin typeface="Times New Roman" panose="02020603050405020304" pitchFamily="18" charset="0"/>
                  <a:ea typeface="SimSun" panose="02010600030101010101" pitchFamily="2" charset="-122"/>
                </a:rPr>
                <a:t>14</a:t>
              </a:r>
              <a:endParaRPr lang="en-US" altLang="zh-CN" sz="1600" dirty="0">
                <a:latin typeface="Times New Roman" panose="02020603050405020304" pitchFamily="18" charset="0"/>
                <a:ea typeface="SimSun" panose="02010600030101010101" pitchFamily="2" charset="-122"/>
              </a:endParaRPr>
            </a:p>
          </p:txBody>
        </p:sp>
        <p:sp>
          <p:nvSpPr>
            <p:cNvPr id="93203" name="Oval 18"/>
            <p:cNvSpPr/>
            <p:nvPr/>
          </p:nvSpPr>
          <p:spPr>
            <a:xfrm>
              <a:off x="3024" y="1680"/>
              <a:ext cx="192" cy="192"/>
            </a:xfrm>
            <a:prstGeom prst="ellipse">
              <a:avLst/>
            </a:prstGeom>
            <a:solidFill>
              <a:schemeClr val="bg1"/>
            </a:solidFill>
            <a:ln w="22225" cap="flat" cmpd="sng">
              <a:solidFill>
                <a:schemeClr val="tx1"/>
              </a:solidFill>
              <a:prstDash val="solid"/>
              <a:headEnd type="none" w="med" len="med"/>
              <a:tailEnd type="none" w="med" len="med"/>
            </a:ln>
          </p:spPr>
          <p:txBody>
            <a:bodyPr wrap="none" anchor="ctr" anchorCtr="0"/>
            <a:p>
              <a:r>
                <a:rPr lang="en-US" altLang="zh-CN" sz="2000" dirty="0">
                  <a:latin typeface="Times New Roman" panose="02020603050405020304" pitchFamily="18" charset="0"/>
                  <a:ea typeface="SimSun" panose="02010600030101010101" pitchFamily="2" charset="-122"/>
                </a:rPr>
                <a:t>a</a:t>
              </a:r>
              <a:endParaRPr lang="en-US" altLang="zh-CN" sz="2000" dirty="0">
                <a:latin typeface="Times New Roman" panose="02020603050405020304" pitchFamily="18" charset="0"/>
                <a:ea typeface="SimSun" panose="02010600030101010101" pitchFamily="2" charset="-122"/>
              </a:endParaRPr>
            </a:p>
          </p:txBody>
        </p:sp>
        <p:sp>
          <p:nvSpPr>
            <p:cNvPr id="93204" name="Oval 19"/>
            <p:cNvSpPr/>
            <p:nvPr/>
          </p:nvSpPr>
          <p:spPr>
            <a:xfrm>
              <a:off x="4704" y="1680"/>
              <a:ext cx="192" cy="192"/>
            </a:xfrm>
            <a:prstGeom prst="ellipse">
              <a:avLst/>
            </a:prstGeom>
            <a:solidFill>
              <a:schemeClr val="bg1"/>
            </a:solidFill>
            <a:ln w="22225" cap="flat" cmpd="sng">
              <a:solidFill>
                <a:schemeClr val="tx1"/>
              </a:solidFill>
              <a:prstDash val="solid"/>
              <a:headEnd type="none" w="med" len="med"/>
              <a:tailEnd type="none" w="med" len="med"/>
            </a:ln>
          </p:spPr>
          <p:txBody>
            <a:bodyPr wrap="none" anchor="ctr" anchorCtr="0"/>
            <a:p>
              <a:r>
                <a:rPr lang="en-US" altLang="zh-CN" sz="2000" dirty="0">
                  <a:latin typeface="Times New Roman" panose="02020603050405020304" pitchFamily="18" charset="0"/>
                  <a:ea typeface="SimSun" panose="02010600030101010101" pitchFamily="2" charset="-122"/>
                </a:rPr>
                <a:t>b</a:t>
              </a:r>
              <a:endParaRPr lang="en-US" altLang="zh-CN" sz="2000" dirty="0">
                <a:latin typeface="Times New Roman" panose="02020603050405020304" pitchFamily="18" charset="0"/>
                <a:ea typeface="SimSun" panose="02010600030101010101" pitchFamily="2" charset="-122"/>
              </a:endParaRPr>
            </a:p>
          </p:txBody>
        </p:sp>
        <p:cxnSp>
          <p:nvCxnSpPr>
            <p:cNvPr id="93205" name="AutoShape 20"/>
            <p:cNvCxnSpPr>
              <a:stCxn id="93203" idx="0"/>
              <a:endCxn id="93199" idx="4"/>
            </p:cNvCxnSpPr>
            <p:nvPr/>
          </p:nvCxnSpPr>
          <p:spPr>
            <a:xfrm rot="5400000" flipH="1">
              <a:off x="2763" y="1316"/>
              <a:ext cx="281" cy="432"/>
            </a:xfrm>
            <a:prstGeom prst="curvedConnector3">
              <a:avLst>
                <a:gd name="adj1" fmla="val 48755"/>
              </a:avLst>
            </a:prstGeom>
            <a:ln w="9525" cap="flat" cmpd="sng">
              <a:solidFill>
                <a:schemeClr val="tx1"/>
              </a:solidFill>
              <a:prstDash val="dash"/>
              <a:headEnd type="none" w="med" len="med"/>
              <a:tailEnd type="none" w="med" len="med"/>
            </a:ln>
          </p:spPr>
        </p:cxnSp>
        <p:cxnSp>
          <p:nvCxnSpPr>
            <p:cNvPr id="93206" name="AutoShape 21"/>
            <p:cNvCxnSpPr>
              <a:stCxn id="93203" idx="0"/>
              <a:endCxn id="93200" idx="4"/>
            </p:cNvCxnSpPr>
            <p:nvPr/>
          </p:nvCxnSpPr>
          <p:spPr>
            <a:xfrm rot="-5400000">
              <a:off x="3219" y="1292"/>
              <a:ext cx="281" cy="480"/>
            </a:xfrm>
            <a:prstGeom prst="curvedConnector3">
              <a:avLst>
                <a:gd name="adj1" fmla="val 48755"/>
              </a:avLst>
            </a:prstGeom>
            <a:ln w="9525" cap="flat" cmpd="sng">
              <a:solidFill>
                <a:schemeClr val="tx1"/>
              </a:solidFill>
              <a:prstDash val="dash"/>
              <a:headEnd type="none" w="med" len="med"/>
              <a:tailEnd type="none" w="med" len="med"/>
            </a:ln>
          </p:spPr>
        </p:cxnSp>
        <p:cxnSp>
          <p:nvCxnSpPr>
            <p:cNvPr id="93207" name="AutoShape 22"/>
            <p:cNvCxnSpPr>
              <a:stCxn id="93204" idx="0"/>
              <a:endCxn id="93202" idx="4"/>
            </p:cNvCxnSpPr>
            <p:nvPr/>
          </p:nvCxnSpPr>
          <p:spPr>
            <a:xfrm rot="-5400000">
              <a:off x="4779" y="1412"/>
              <a:ext cx="281" cy="240"/>
            </a:xfrm>
            <a:prstGeom prst="curvedConnector3">
              <a:avLst>
                <a:gd name="adj1" fmla="val 48755"/>
              </a:avLst>
            </a:prstGeom>
            <a:ln w="9525" cap="flat" cmpd="sng">
              <a:solidFill>
                <a:schemeClr val="tx1"/>
              </a:solidFill>
              <a:prstDash val="dash"/>
              <a:headEnd type="none" w="med" len="med"/>
              <a:tailEnd type="none" w="med" len="med"/>
            </a:ln>
          </p:spPr>
        </p:cxnSp>
        <p:cxnSp>
          <p:nvCxnSpPr>
            <p:cNvPr id="93208" name="AutoShape 23"/>
            <p:cNvCxnSpPr>
              <a:stCxn id="93193" idx="6"/>
              <a:endCxn id="93194" idx="2"/>
            </p:cNvCxnSpPr>
            <p:nvPr/>
          </p:nvCxnSpPr>
          <p:spPr>
            <a:xfrm>
              <a:off x="3216" y="880"/>
              <a:ext cx="1488" cy="0"/>
            </a:xfrm>
            <a:prstGeom prst="straightConnector1">
              <a:avLst/>
            </a:prstGeom>
            <a:ln w="9525" cap="flat" cmpd="sng">
              <a:solidFill>
                <a:schemeClr val="tx1"/>
              </a:solidFill>
              <a:prstDash val="solid"/>
              <a:headEnd type="none" w="med" len="med"/>
              <a:tailEnd type="none" w="med" len="med"/>
            </a:ln>
          </p:spPr>
        </p:cxnSp>
        <p:sp>
          <p:nvSpPr>
            <p:cNvPr id="93209" name="Text Box 24"/>
            <p:cNvSpPr txBox="1"/>
            <p:nvPr/>
          </p:nvSpPr>
          <p:spPr>
            <a:xfrm>
              <a:off x="2784" y="576"/>
              <a:ext cx="576" cy="231"/>
            </a:xfrm>
            <a:prstGeom prst="rect">
              <a:avLst/>
            </a:prstGeom>
            <a:noFill/>
            <a:ln w="9525">
              <a:noFill/>
            </a:ln>
          </p:spPr>
          <p:txBody>
            <a:bodyPr>
              <a:spAutoFit/>
            </a:bodyPr>
            <a:p>
              <a:pPr algn="l">
                <a:spcBef>
                  <a:spcPct val="50000"/>
                </a:spcBef>
              </a:pPr>
              <a:r>
                <a:rPr lang="en-US" altLang="zh-CN" sz="1800" i="1" dirty="0">
                  <a:latin typeface="Times New Roman" panose="02020603050405020304" pitchFamily="18" charset="0"/>
                  <a:ea typeface="SimSun" panose="02010600030101010101" pitchFamily="2" charset="-122"/>
                </a:rPr>
                <a:t>a:(0.9,3)</a:t>
              </a:r>
              <a:endParaRPr lang="en-US" altLang="zh-CN" sz="1800" i="1" dirty="0">
                <a:latin typeface="Times New Roman" panose="02020603050405020304" pitchFamily="18" charset="0"/>
                <a:ea typeface="SimSun" panose="02010600030101010101" pitchFamily="2" charset="-122"/>
              </a:endParaRPr>
            </a:p>
          </p:txBody>
        </p:sp>
        <p:sp>
          <p:nvSpPr>
            <p:cNvPr id="93210" name="Text Box 25"/>
            <p:cNvSpPr txBox="1"/>
            <p:nvPr/>
          </p:nvSpPr>
          <p:spPr>
            <a:xfrm>
              <a:off x="4464" y="576"/>
              <a:ext cx="720" cy="231"/>
            </a:xfrm>
            <a:prstGeom prst="rect">
              <a:avLst/>
            </a:prstGeom>
            <a:noFill/>
            <a:ln w="9525">
              <a:noFill/>
            </a:ln>
          </p:spPr>
          <p:txBody>
            <a:bodyPr>
              <a:spAutoFit/>
            </a:bodyPr>
            <a:p>
              <a:pPr algn="l">
                <a:spcBef>
                  <a:spcPct val="50000"/>
                </a:spcBef>
              </a:pPr>
              <a:r>
                <a:rPr lang="en-US" altLang="zh-CN" sz="1800" i="1" dirty="0">
                  <a:latin typeface="Times New Roman" panose="02020603050405020304" pitchFamily="18" charset="0"/>
                  <a:ea typeface="SimSun" panose="02010600030101010101" pitchFamily="2" charset="-122"/>
                </a:rPr>
                <a:t>b:(0.95,2)</a:t>
              </a:r>
              <a:endParaRPr lang="en-US" altLang="zh-CN" sz="1800" i="1" dirty="0">
                <a:latin typeface="Times New Roman" panose="02020603050405020304" pitchFamily="18" charset="0"/>
                <a:ea typeface="SimSun" panose="02010600030101010101" pitchFamily="2" charset="-122"/>
              </a:endParaRPr>
            </a:p>
          </p:txBody>
        </p:sp>
        <p:cxnSp>
          <p:nvCxnSpPr>
            <p:cNvPr id="93211" name="AutoShape 26"/>
            <p:cNvCxnSpPr>
              <a:stCxn id="93204" idx="0"/>
              <a:endCxn id="93201" idx="4"/>
            </p:cNvCxnSpPr>
            <p:nvPr/>
          </p:nvCxnSpPr>
          <p:spPr>
            <a:xfrm rot="5400000" flipH="1">
              <a:off x="4539" y="1412"/>
              <a:ext cx="281" cy="240"/>
            </a:xfrm>
            <a:prstGeom prst="curvedConnector3">
              <a:avLst>
                <a:gd name="adj1" fmla="val 48755"/>
              </a:avLst>
            </a:prstGeom>
            <a:ln w="9525" cap="flat" cmpd="sng">
              <a:solidFill>
                <a:schemeClr val="tx1"/>
              </a:solidFill>
              <a:prstDash val="dash"/>
              <a:headEnd type="none" w="med" len="med"/>
              <a:tailEnd type="none" w="med" len="med"/>
            </a:ln>
          </p:spPr>
        </p:cxnSp>
        <p:cxnSp>
          <p:nvCxnSpPr>
            <p:cNvPr id="93212" name="AutoShape 27"/>
            <p:cNvCxnSpPr>
              <a:stCxn id="93193" idx="4"/>
              <a:endCxn id="93213" idx="0"/>
            </p:cNvCxnSpPr>
            <p:nvPr/>
          </p:nvCxnSpPr>
          <p:spPr>
            <a:xfrm>
              <a:off x="3120" y="976"/>
              <a:ext cx="0" cy="224"/>
            </a:xfrm>
            <a:prstGeom prst="straightConnector1">
              <a:avLst/>
            </a:prstGeom>
            <a:ln w="9525" cap="flat" cmpd="sng">
              <a:solidFill>
                <a:schemeClr val="tx1"/>
              </a:solidFill>
              <a:prstDash val="solid"/>
              <a:headEnd type="none" w="med" len="med"/>
              <a:tailEnd type="none" w="med" len="med"/>
            </a:ln>
          </p:spPr>
        </p:cxnSp>
        <p:sp>
          <p:nvSpPr>
            <p:cNvPr id="93213" name="Oval 28"/>
            <p:cNvSpPr/>
            <p:nvPr/>
          </p:nvSpPr>
          <p:spPr>
            <a:xfrm>
              <a:off x="3024" y="1200"/>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r>
                <a:rPr lang="en-US" altLang="zh-CN" sz="1600" dirty="0">
                  <a:latin typeface="Times New Roman" panose="02020603050405020304" pitchFamily="18" charset="0"/>
                  <a:ea typeface="SimSun" panose="02010600030101010101" pitchFamily="2" charset="-122"/>
                </a:rPr>
                <a:t>11</a:t>
              </a:r>
              <a:endParaRPr lang="en-US" altLang="zh-CN" sz="1600" dirty="0">
                <a:latin typeface="Times New Roman" panose="02020603050405020304" pitchFamily="18" charset="0"/>
                <a:ea typeface="SimSun" panose="02010600030101010101" pitchFamily="2" charset="-122"/>
              </a:endParaRPr>
            </a:p>
          </p:txBody>
        </p:sp>
        <p:cxnSp>
          <p:nvCxnSpPr>
            <p:cNvPr id="93214" name="AutoShape 29"/>
            <p:cNvCxnSpPr>
              <a:stCxn id="93203" idx="0"/>
              <a:endCxn id="93213" idx="4"/>
            </p:cNvCxnSpPr>
            <p:nvPr/>
          </p:nvCxnSpPr>
          <p:spPr>
            <a:xfrm rot="-5400000">
              <a:off x="2979" y="1532"/>
              <a:ext cx="281" cy="0"/>
            </a:xfrm>
            <a:prstGeom prst="straightConnector1">
              <a:avLst/>
            </a:prstGeom>
            <a:ln w="9525" cap="flat" cmpd="sng">
              <a:solidFill>
                <a:schemeClr val="tx1"/>
              </a:solidFill>
              <a:prstDash val="dash"/>
              <a:headEnd type="none" w="med" len="med"/>
              <a:tailEnd type="none" w="med" len="med"/>
            </a:ln>
          </p:spPr>
        </p:cxnSp>
        <p:sp>
          <p:nvSpPr>
            <p:cNvPr id="93215" name="Text Box 30"/>
            <p:cNvSpPr txBox="1"/>
            <p:nvPr/>
          </p:nvSpPr>
          <p:spPr>
            <a:xfrm>
              <a:off x="3744" y="688"/>
              <a:ext cx="384" cy="231"/>
            </a:xfrm>
            <a:prstGeom prst="rect">
              <a:avLst/>
            </a:prstGeom>
            <a:noFill/>
            <a:ln w="9525">
              <a:noFill/>
            </a:ln>
          </p:spPr>
          <p:txBody>
            <a:bodyPr>
              <a:spAutoFit/>
            </a:bodyPr>
            <a:p>
              <a:pPr algn="l">
                <a:spcBef>
                  <a:spcPct val="50000"/>
                </a:spcBef>
              </a:pPr>
              <a:r>
                <a:rPr lang="en-US" altLang="zh-CN" sz="1800" dirty="0">
                  <a:latin typeface="Times New Roman" panose="02020603050405020304" pitchFamily="18" charset="0"/>
                  <a:ea typeface="SimSun" panose="02010600030101010101" pitchFamily="2" charset="-122"/>
                </a:rPr>
                <a:t>0.2</a:t>
              </a:r>
              <a:endParaRPr lang="en-US" altLang="zh-CN" sz="1800" dirty="0">
                <a:latin typeface="Times New Roman" panose="02020603050405020304" pitchFamily="18" charset="0"/>
                <a:ea typeface="SimSun" panose="02010600030101010101" pitchFamily="2" charset="-122"/>
              </a:endParaRPr>
            </a:p>
          </p:txBody>
        </p:sp>
        <p:sp>
          <p:nvSpPr>
            <p:cNvPr id="93216" name="Line 31"/>
            <p:cNvSpPr/>
            <p:nvPr/>
          </p:nvSpPr>
          <p:spPr>
            <a:xfrm flipV="1">
              <a:off x="2592" y="720"/>
              <a:ext cx="432" cy="48"/>
            </a:xfrm>
            <a:prstGeom prst="line">
              <a:avLst/>
            </a:prstGeom>
            <a:ln w="9525" cap="flat" cmpd="sng">
              <a:solidFill>
                <a:schemeClr val="tx1"/>
              </a:solidFill>
              <a:prstDash val="solid"/>
              <a:headEnd type="none" w="med" len="med"/>
              <a:tailEnd type="triangle" w="med" len="med"/>
            </a:ln>
          </p:spPr>
        </p:sp>
        <p:sp>
          <p:nvSpPr>
            <p:cNvPr id="93217" name="Line 32"/>
            <p:cNvSpPr/>
            <p:nvPr/>
          </p:nvSpPr>
          <p:spPr>
            <a:xfrm flipV="1">
              <a:off x="2592" y="720"/>
              <a:ext cx="2064" cy="48"/>
            </a:xfrm>
            <a:prstGeom prst="line">
              <a:avLst/>
            </a:prstGeom>
            <a:ln w="9525" cap="flat" cmpd="sng">
              <a:solidFill>
                <a:schemeClr val="tx1"/>
              </a:solidFill>
              <a:prstDash val="solid"/>
              <a:headEnd type="none" w="med" len="med"/>
              <a:tailEnd type="triangle" w="med" len="med"/>
            </a:ln>
          </p:spPr>
        </p:sp>
      </p:grpSp>
      <p:sp>
        <p:nvSpPr>
          <p:cNvPr id="93192" name="Slide Number Placeholder 35"/>
          <p:cNvSpPr txBox="1">
            <a:spLocks noGrp="1"/>
          </p:cNvSpPr>
          <p:nvPr>
            <p:ph type="sldNum" sz="quarter" idx="4"/>
          </p:nvPr>
        </p:nvSpPr>
        <p:spPr/>
        <p:txBody>
          <a:bodyPr anchor="b" anchorCtr="0"/>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r" eaLnBrk="1" hangingPunct="1"/>
            <a:fld id="{9A0DB2DC-4C9A-4742-B13C-FB6460FD3503}" type="slidenum">
              <a:rPr lang="en-US" sz="1200" dirty="0"/>
            </a:fld>
            <a:endParaRPr lang="en-US" sz="1200" dirty="0"/>
          </a:p>
        </p:txBody>
      </p:sp>
    </p:spTree>
  </p:cSld>
  <p:clrMapOvr>
    <a:masterClrMapping/>
  </p:clrMapOvr>
  <p:transition>
    <p:zoom/>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
        <p:nvSpPr>
          <p:cNvPr id="94211" name="Rectangle 2"/>
          <p:cNvSpPr>
            <a:spLocks noGrp="1"/>
          </p:cNvSpPr>
          <p:nvPr>
            <p:ph type="title" idx="4294967295"/>
          </p:nvPr>
        </p:nvSpPr>
        <p:spPr>
          <a:xfrm>
            <a:off x="0" y="152400"/>
            <a:ext cx="9144000" cy="990600"/>
          </a:xfrm>
        </p:spPr>
        <p:txBody>
          <a:bodyPr vert="horz" wrap="square" lIns="92075" tIns="46038" rIns="92075" bIns="46038" anchor="ctr" anchorCtr="0"/>
          <a:p>
            <a:pPr eaLnBrk="1" hangingPunct="1"/>
            <a:r>
              <a:rPr sz="3200" dirty="0"/>
              <a:t>Chapter 10. </a:t>
            </a:r>
            <a:r>
              <a:rPr lang="en-AU" altLang="zh-TW" sz="3200" dirty="0">
                <a:ea typeface="PMingLiU" panose="02020500000000000000" pitchFamily="18" charset="-120"/>
              </a:rPr>
              <a:t>Cluster Analysis: Basic Concepts and Methods</a:t>
            </a:r>
            <a:endParaRPr sz="3200" dirty="0">
              <a:ea typeface="PMingLiU" panose="02020500000000000000" pitchFamily="18" charset="-120"/>
            </a:endParaRPr>
          </a:p>
        </p:txBody>
      </p:sp>
      <p:sp>
        <p:nvSpPr>
          <p:cNvPr id="94212" name="Rectangle 3"/>
          <p:cNvSpPr>
            <a:spLocks noGrp="1"/>
          </p:cNvSpPr>
          <p:nvPr>
            <p:ph type="body" idx="4294967295"/>
          </p:nvPr>
        </p:nvSpPr>
        <p:spPr>
          <a:xfrm>
            <a:off x="381000" y="1371600"/>
            <a:ext cx="8223250" cy="5181600"/>
          </a:xfrm>
        </p:spPr>
        <p:txBody>
          <a:bodyPr vert="horz" wrap="square" lIns="92075" tIns="46038" rIns="92075" bIns="46038" anchor="t" anchorCtr="0"/>
          <a:p>
            <a:pPr marL="533400" indent="-533400">
              <a:lnSpc>
                <a:spcPct val="130000"/>
              </a:lnSpc>
            </a:pPr>
            <a:r>
              <a:rPr sz="3200" dirty="0">
                <a:latin typeface="Calibri" panose="020F0502020204030204" pitchFamily="34" charset="0"/>
              </a:rPr>
              <a:t>Cluster Analysis: Basic Concepts</a:t>
            </a:r>
            <a:endParaRPr sz="3200" dirty="0">
              <a:latin typeface="Calibri" panose="020F0502020204030204" pitchFamily="34" charset="0"/>
            </a:endParaRPr>
          </a:p>
          <a:p>
            <a:pPr marL="533400" indent="-533400">
              <a:lnSpc>
                <a:spcPct val="130000"/>
              </a:lnSpc>
            </a:pPr>
            <a:r>
              <a:rPr sz="3200" dirty="0">
                <a:latin typeface="Calibri" panose="020F0502020204030204" pitchFamily="34" charset="0"/>
              </a:rPr>
              <a:t>Overview of Clustering Methods</a:t>
            </a:r>
            <a:endParaRPr sz="3200" dirty="0">
              <a:latin typeface="Calibri" panose="020F0502020204030204" pitchFamily="34" charset="0"/>
            </a:endParaRPr>
          </a:p>
          <a:p>
            <a:pPr marL="533400" indent="-533400">
              <a:lnSpc>
                <a:spcPct val="130000"/>
              </a:lnSpc>
            </a:pPr>
            <a:r>
              <a:rPr sz="3200" dirty="0">
                <a:latin typeface="Calibri" panose="020F0502020204030204" pitchFamily="34" charset="0"/>
              </a:rPr>
              <a:t>Partitioning Methods</a:t>
            </a:r>
            <a:endParaRPr sz="3200" dirty="0">
              <a:latin typeface="Calibri" panose="020F0502020204030204" pitchFamily="34" charset="0"/>
            </a:endParaRPr>
          </a:p>
          <a:p>
            <a:pPr marL="533400" indent="-533400">
              <a:lnSpc>
                <a:spcPct val="130000"/>
              </a:lnSpc>
            </a:pPr>
            <a:r>
              <a:rPr sz="3200" dirty="0">
                <a:latin typeface="Calibri" panose="020F0502020204030204" pitchFamily="34" charset="0"/>
              </a:rPr>
              <a:t>Hierarchical Methods</a:t>
            </a:r>
            <a:endParaRPr sz="3200" dirty="0">
              <a:latin typeface="Calibri" panose="020F0502020204030204" pitchFamily="34" charset="0"/>
            </a:endParaRPr>
          </a:p>
          <a:p>
            <a:pPr marL="533400" indent="-533400">
              <a:lnSpc>
                <a:spcPct val="130000"/>
              </a:lnSpc>
            </a:pPr>
            <a:r>
              <a:rPr sz="3200" dirty="0">
                <a:latin typeface="Calibri" panose="020F0502020204030204" pitchFamily="34" charset="0"/>
              </a:rPr>
              <a:t>Density-Based Methods</a:t>
            </a:r>
            <a:endParaRPr sz="3200" dirty="0">
              <a:latin typeface="Calibri" panose="020F0502020204030204" pitchFamily="34" charset="0"/>
            </a:endParaRPr>
          </a:p>
          <a:p>
            <a:pPr marL="533400" indent="-533400">
              <a:lnSpc>
                <a:spcPct val="130000"/>
              </a:lnSpc>
            </a:pPr>
            <a:r>
              <a:rPr sz="3200" dirty="0">
                <a:latin typeface="Calibri" panose="020F0502020204030204" pitchFamily="34" charset="0"/>
              </a:rPr>
              <a:t>Grid-Based Methods</a:t>
            </a:r>
            <a:endParaRPr sz="3200" dirty="0">
              <a:latin typeface="Calibri" panose="020F0502020204030204" pitchFamily="34" charset="0"/>
            </a:endParaRPr>
          </a:p>
          <a:p>
            <a:pPr marL="533400" indent="-533400">
              <a:lnSpc>
                <a:spcPct val="130000"/>
              </a:lnSpc>
            </a:pPr>
            <a:r>
              <a:rPr sz="3200" dirty="0">
                <a:latin typeface="Calibri" panose="020F0502020204030204" pitchFamily="34" charset="0"/>
              </a:rPr>
              <a:t>Summary</a:t>
            </a:r>
            <a:endParaRPr sz="3200" dirty="0">
              <a:latin typeface="Calibri" panose="020F0502020204030204" pitchFamily="34" charset="0"/>
            </a:endParaRPr>
          </a:p>
        </p:txBody>
      </p:sp>
      <p:sp>
        <p:nvSpPr>
          <p:cNvPr id="94213" name="AutoShape 5"/>
          <p:cNvSpPr/>
          <p:nvPr/>
        </p:nvSpPr>
        <p:spPr>
          <a:xfrm rot="9867012">
            <a:off x="5181600" y="4343400"/>
            <a:ext cx="304800" cy="381000"/>
          </a:xfrm>
          <a:prstGeom prst="notchedRightArrow">
            <a:avLst>
              <a:gd name="adj1" fmla="val 50000"/>
              <a:gd name="adj2" fmla="val 25000"/>
            </a:avLst>
          </a:prstGeom>
          <a:solidFill>
            <a:srgbClr val="00CCFF"/>
          </a:solidFill>
          <a:ln w="9525" cap="flat" cmpd="sng">
            <a:solidFill>
              <a:schemeClr val="tx1"/>
            </a:solidFill>
            <a:prstDash val="solid"/>
            <a:miter/>
            <a:headEnd type="none" w="med" len="med"/>
            <a:tailEnd type="none" w="med" len="med"/>
          </a:ln>
        </p:spPr>
        <p:txBody>
          <a:bodyPr rot="10800000" wrap="none" anchor="ctr" anchorCtr="0"/>
          <a:p>
            <a:endParaRPr dirty="0">
              <a:latin typeface="Tahoma" panose="020B0604030504040204" pitchFamily="34" charset="0"/>
            </a:endParaRPr>
          </a:p>
        </p:txBody>
      </p:sp>
      <p:sp>
        <p:nvSpPr>
          <p:cNvPr id="94214"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2"/>
          <p:cNvSpPr>
            <a:spLocks noGrp="1"/>
          </p:cNvSpPr>
          <p:nvPr>
            <p:ph type="title" idx="4294967295"/>
          </p:nvPr>
        </p:nvSpPr>
        <p:spPr>
          <a:xfrm>
            <a:off x="152400" y="152400"/>
            <a:ext cx="8763000" cy="1066800"/>
          </a:xfrm>
        </p:spPr>
        <p:txBody>
          <a:bodyPr vert="horz" wrap="square" lIns="91440" tIns="45720" rIns="91440" bIns="45720" anchor="b" anchorCtr="0"/>
          <a:p>
            <a:pPr eaLnBrk="1" hangingPunct="1"/>
            <a:r>
              <a:rPr lang="en-US" altLang="zh-CN" sz="3200" dirty="0">
                <a:ea typeface="SimSun" panose="02010600030101010101" pitchFamily="2" charset="-122"/>
              </a:rPr>
              <a:t>Link-Based Clustering: Calculate Similarities Based On Links</a:t>
            </a:r>
            <a:endParaRPr lang="en-US" altLang="zh-CN" sz="3200" dirty="0">
              <a:ea typeface="SimSun" panose="02010600030101010101" pitchFamily="2" charset="-122"/>
            </a:endParaRPr>
          </a:p>
        </p:txBody>
      </p:sp>
      <p:sp>
        <p:nvSpPr>
          <p:cNvPr id="95235" name="Rectangle 3"/>
          <p:cNvSpPr>
            <a:spLocks noGrp="1"/>
          </p:cNvSpPr>
          <p:nvPr>
            <p:ph type="body" sz="half" idx="4294967295"/>
          </p:nvPr>
        </p:nvSpPr>
        <p:spPr>
          <a:xfrm>
            <a:off x="228600" y="4876800"/>
            <a:ext cx="4800600" cy="1676400"/>
          </a:xfrm>
        </p:spPr>
        <p:txBody>
          <a:bodyPr vert="horz" wrap="square" lIns="91440" tIns="45720" rIns="91440" bIns="45720" anchor="t" anchorCtr="0"/>
          <a:lstStyle>
            <a:lvl1pPr lvl="0">
              <a:buClr>
                <a:schemeClr val="folHlink"/>
              </a:buClr>
              <a:buSzPct val="60000"/>
              <a:buFont typeface="Wingdings" panose="05000000000000000000" pitchFamily="2" charset="2"/>
              <a:defRPr sz="2400"/>
            </a:lvl1pPr>
            <a:lvl2pPr lvl="1">
              <a:buClr>
                <a:schemeClr val="hlink"/>
              </a:buClr>
              <a:buSzPct val="55000"/>
              <a:buFont typeface="Wingdings" panose="05000000000000000000" pitchFamily="2" charset="2"/>
              <a:defRPr sz="2400"/>
            </a:lvl2pPr>
            <a:lvl3pPr lvl="2">
              <a:buClr>
                <a:schemeClr val="folHlink"/>
              </a:buClr>
              <a:buSzPct val="50000"/>
              <a:buFont typeface="Wingdings" panose="05000000000000000000" pitchFamily="2" charset="2"/>
              <a:defRPr sz="2000"/>
            </a:lvl3pPr>
            <a:lvl4pPr lvl="3">
              <a:buClr>
                <a:schemeClr val="accent2"/>
              </a:buClr>
              <a:buSzPct val="55000"/>
              <a:buFont typeface="Wingdings" panose="05000000000000000000" pitchFamily="2" charset="2"/>
              <a:defRPr sz="1800"/>
            </a:lvl4pPr>
            <a:lvl5pPr lvl="4">
              <a:buClr>
                <a:schemeClr val="accent1"/>
              </a:buClr>
              <a:buSzPct val="50000"/>
              <a:buFont typeface="Wingdings" panose="05000000000000000000" pitchFamily="2" charset="2"/>
              <a:defRPr sz="1800"/>
            </a:lvl5pPr>
          </a:lstStyle>
          <a:p>
            <a:pPr lvl="0" eaLnBrk="1" hangingPunct="1">
              <a:buNone/>
            </a:pPr>
            <a:r>
              <a:rPr lang="en-US" altLang="zh-CN" sz="2200" dirty="0">
                <a:ea typeface="SimSun" panose="02010600030101010101" pitchFamily="2" charset="-122"/>
              </a:rPr>
              <a:t>Jeh &amp; Widom, KDD’2002: </a:t>
            </a:r>
            <a:r>
              <a:rPr lang="en-US" altLang="zh-CN" sz="2200" i="1" dirty="0">
                <a:ea typeface="SimSun" panose="02010600030101010101" pitchFamily="2" charset="-122"/>
              </a:rPr>
              <a:t>SimRank</a:t>
            </a:r>
            <a:endParaRPr lang="en-US" altLang="zh-CN" sz="2200" i="1" dirty="0">
              <a:ea typeface="SimSun" panose="02010600030101010101" pitchFamily="2" charset="-122"/>
            </a:endParaRPr>
          </a:p>
          <a:p>
            <a:pPr lvl="0" eaLnBrk="1" hangingPunct="1">
              <a:buNone/>
            </a:pPr>
            <a:r>
              <a:rPr lang="en-US" altLang="zh-CN" sz="2200" dirty="0">
                <a:ea typeface="SimSun" panose="02010600030101010101" pitchFamily="2" charset="-122"/>
              </a:rPr>
              <a:t>Two objects are similar if they are linked with the same or similar objects</a:t>
            </a:r>
            <a:endParaRPr lang="en-US" altLang="zh-CN" sz="2200" dirty="0">
              <a:ea typeface="SimSun" panose="02010600030101010101" pitchFamily="2" charset="-122"/>
            </a:endParaRPr>
          </a:p>
        </p:txBody>
      </p:sp>
      <p:sp>
        <p:nvSpPr>
          <p:cNvPr id="95236" name="Rectangle 138"/>
          <p:cNvSpPr>
            <a:spLocks noGrp="1"/>
          </p:cNvSpPr>
          <p:nvPr>
            <p:ph type="body" sz="half" idx="4294967295"/>
          </p:nvPr>
        </p:nvSpPr>
        <p:spPr>
          <a:xfrm>
            <a:off x="4648200" y="1447800"/>
            <a:ext cx="4343400" cy="5029200"/>
          </a:xfrm>
        </p:spPr>
        <p:txBody>
          <a:bodyPr vert="horz" wrap="square" lIns="91440" tIns="45720" rIns="91440" bIns="45720" anchor="t" anchorCtr="0"/>
          <a:lstStyle>
            <a:lvl1pPr lvl="0">
              <a:buClr>
                <a:schemeClr val="folHlink"/>
              </a:buClr>
              <a:buSzPct val="60000"/>
              <a:buFont typeface="Wingdings" panose="05000000000000000000" pitchFamily="2" charset="2"/>
              <a:defRPr sz="2400"/>
            </a:lvl1pPr>
            <a:lvl2pPr lvl="1">
              <a:buClr>
                <a:schemeClr val="hlink"/>
              </a:buClr>
              <a:buSzPct val="55000"/>
              <a:buFont typeface="Wingdings" panose="05000000000000000000" pitchFamily="2" charset="2"/>
              <a:defRPr sz="2400"/>
            </a:lvl2pPr>
            <a:lvl3pPr lvl="2">
              <a:buClr>
                <a:schemeClr val="folHlink"/>
              </a:buClr>
              <a:buSzPct val="50000"/>
              <a:buFont typeface="Wingdings" panose="05000000000000000000" pitchFamily="2" charset="2"/>
              <a:defRPr sz="2000"/>
            </a:lvl3pPr>
            <a:lvl4pPr lvl="3">
              <a:buClr>
                <a:schemeClr val="accent2"/>
              </a:buClr>
              <a:buSzPct val="55000"/>
              <a:buFont typeface="Wingdings" panose="05000000000000000000" pitchFamily="2" charset="2"/>
              <a:defRPr sz="1800"/>
            </a:lvl4pPr>
            <a:lvl5pPr lvl="4">
              <a:buClr>
                <a:schemeClr val="accent1"/>
              </a:buClr>
              <a:buSzPct val="50000"/>
              <a:buFont typeface="Wingdings" panose="05000000000000000000" pitchFamily="2" charset="2"/>
              <a:defRPr sz="1800"/>
            </a:lvl5pPr>
          </a:lstStyle>
          <a:p>
            <a:pPr lvl="0" eaLnBrk="1" hangingPunct="1"/>
            <a:r>
              <a:rPr lang="en-US" altLang="zh-CN" sz="2200" dirty="0">
                <a:ea typeface="SimSun" panose="02010600030101010101" pitchFamily="2" charset="-122"/>
              </a:rPr>
              <a:t>The similarity between two objects </a:t>
            </a:r>
            <a:r>
              <a:rPr lang="en-US" altLang="zh-CN" sz="2200" i="1" dirty="0">
                <a:ea typeface="SimSun" panose="02010600030101010101" pitchFamily="2" charset="-122"/>
              </a:rPr>
              <a:t>x</a:t>
            </a:r>
            <a:r>
              <a:rPr lang="en-US" altLang="zh-CN" sz="2200" dirty="0">
                <a:ea typeface="SimSun" panose="02010600030101010101" pitchFamily="2" charset="-122"/>
              </a:rPr>
              <a:t> and </a:t>
            </a:r>
            <a:r>
              <a:rPr lang="en-US" altLang="zh-CN" sz="2200" i="1" dirty="0">
                <a:ea typeface="SimSun" panose="02010600030101010101" pitchFamily="2" charset="-122"/>
              </a:rPr>
              <a:t>y</a:t>
            </a:r>
            <a:r>
              <a:rPr lang="en-US" altLang="zh-CN" sz="2200" dirty="0">
                <a:ea typeface="SimSun" panose="02010600030101010101" pitchFamily="2" charset="-122"/>
              </a:rPr>
              <a:t> is defined as the average similarity between objects linked with </a:t>
            </a:r>
            <a:r>
              <a:rPr lang="en-US" altLang="zh-CN" sz="2200" i="1" dirty="0">
                <a:ea typeface="SimSun" panose="02010600030101010101" pitchFamily="2" charset="-122"/>
              </a:rPr>
              <a:t>x</a:t>
            </a:r>
            <a:r>
              <a:rPr lang="en-US" altLang="zh-CN" sz="2200" dirty="0">
                <a:ea typeface="SimSun" panose="02010600030101010101" pitchFamily="2" charset="-122"/>
              </a:rPr>
              <a:t> and those with </a:t>
            </a:r>
            <a:r>
              <a:rPr lang="en-US" altLang="zh-CN" sz="2200" i="1" dirty="0">
                <a:ea typeface="SimSun" panose="02010600030101010101" pitchFamily="2" charset="-122"/>
              </a:rPr>
              <a:t>y</a:t>
            </a:r>
            <a:r>
              <a:rPr lang="en-US" altLang="zh-CN" sz="2200" dirty="0">
                <a:ea typeface="SimSun" panose="02010600030101010101" pitchFamily="2" charset="-122"/>
              </a:rPr>
              <a:t>:</a:t>
            </a:r>
            <a:endParaRPr lang="en-US" altLang="zh-CN" sz="2200" dirty="0">
              <a:ea typeface="SimSun" panose="02010600030101010101" pitchFamily="2" charset="-122"/>
            </a:endParaRPr>
          </a:p>
          <a:p>
            <a:pPr lvl="0" eaLnBrk="1" hangingPunct="1"/>
            <a:endParaRPr lang="en-US" altLang="zh-CN" sz="2200" dirty="0">
              <a:ea typeface="SimSun" panose="02010600030101010101" pitchFamily="2" charset="-122"/>
            </a:endParaRPr>
          </a:p>
          <a:p>
            <a:pPr lvl="0" eaLnBrk="1" hangingPunct="1"/>
            <a:endParaRPr lang="en-US" altLang="zh-CN" dirty="0">
              <a:ea typeface="SimSun" panose="02010600030101010101" pitchFamily="2" charset="-122"/>
            </a:endParaRPr>
          </a:p>
          <a:p>
            <a:pPr lvl="0" eaLnBrk="1" hangingPunct="1"/>
            <a:endParaRPr lang="en-US" altLang="zh-CN" sz="2200" dirty="0">
              <a:ea typeface="SimSun" panose="02010600030101010101" pitchFamily="2" charset="-122"/>
            </a:endParaRPr>
          </a:p>
          <a:p>
            <a:pPr lvl="0" eaLnBrk="1" hangingPunct="1"/>
            <a:r>
              <a:rPr lang="en-US" altLang="zh-CN" sz="2200" dirty="0">
                <a:ea typeface="SimSun" panose="02010600030101010101" pitchFamily="2" charset="-122"/>
              </a:rPr>
              <a:t>Issue: Expensive to compute:</a:t>
            </a:r>
            <a:endParaRPr lang="en-US" altLang="zh-CN" sz="2200" dirty="0">
              <a:ea typeface="SimSun" panose="02010600030101010101" pitchFamily="2" charset="-122"/>
            </a:endParaRPr>
          </a:p>
          <a:p>
            <a:pPr lvl="1" eaLnBrk="1" hangingPunct="1"/>
            <a:r>
              <a:rPr lang="en-US" altLang="zh-CN" sz="2200" dirty="0">
                <a:ea typeface="SimSun" panose="02010600030101010101" pitchFamily="2" charset="-122"/>
              </a:rPr>
              <a:t>For a dataset of </a:t>
            </a:r>
            <a:r>
              <a:rPr lang="en-US" altLang="zh-CN" sz="2200" i="1" dirty="0">
                <a:ea typeface="SimSun" panose="02010600030101010101" pitchFamily="2" charset="-122"/>
              </a:rPr>
              <a:t>N</a:t>
            </a:r>
            <a:r>
              <a:rPr lang="en-US" altLang="zh-CN" sz="2200" dirty="0">
                <a:ea typeface="SimSun" panose="02010600030101010101" pitchFamily="2" charset="-122"/>
              </a:rPr>
              <a:t> objects and </a:t>
            </a:r>
            <a:r>
              <a:rPr lang="en-US" altLang="zh-CN" sz="2200" i="1" dirty="0">
                <a:ea typeface="SimSun" panose="02010600030101010101" pitchFamily="2" charset="-122"/>
              </a:rPr>
              <a:t>M</a:t>
            </a:r>
            <a:r>
              <a:rPr lang="en-US" altLang="zh-CN" sz="2200" dirty="0">
                <a:ea typeface="SimSun" panose="02010600030101010101" pitchFamily="2" charset="-122"/>
              </a:rPr>
              <a:t> links, it takes </a:t>
            </a:r>
            <a:r>
              <a:rPr lang="en-US" altLang="zh-CN" sz="2200" i="1" dirty="0">
                <a:ea typeface="SimSun" panose="02010600030101010101" pitchFamily="2" charset="-122"/>
              </a:rPr>
              <a:t>O</a:t>
            </a:r>
            <a:r>
              <a:rPr lang="en-US" altLang="zh-CN" sz="2200" dirty="0">
                <a:ea typeface="SimSun" panose="02010600030101010101" pitchFamily="2" charset="-122"/>
              </a:rPr>
              <a:t>(</a:t>
            </a:r>
            <a:r>
              <a:rPr lang="en-US" altLang="zh-CN" sz="2200" i="1" dirty="0">
                <a:ea typeface="SimSun" panose="02010600030101010101" pitchFamily="2" charset="-122"/>
              </a:rPr>
              <a:t>N</a:t>
            </a:r>
            <a:r>
              <a:rPr lang="en-US" altLang="zh-CN" sz="2200" baseline="30000" dirty="0">
                <a:ea typeface="SimSun" panose="02010600030101010101" pitchFamily="2" charset="-122"/>
              </a:rPr>
              <a:t>2</a:t>
            </a:r>
            <a:r>
              <a:rPr lang="en-US" altLang="zh-CN" sz="2200" dirty="0">
                <a:ea typeface="SimSun" panose="02010600030101010101" pitchFamily="2" charset="-122"/>
              </a:rPr>
              <a:t>) space and </a:t>
            </a:r>
            <a:r>
              <a:rPr lang="en-US" altLang="zh-CN" sz="2200" i="1" dirty="0">
                <a:ea typeface="SimSun" panose="02010600030101010101" pitchFamily="2" charset="-122"/>
              </a:rPr>
              <a:t>O</a:t>
            </a:r>
            <a:r>
              <a:rPr lang="en-US" altLang="zh-CN" sz="2200" dirty="0">
                <a:ea typeface="SimSun" panose="02010600030101010101" pitchFamily="2" charset="-122"/>
              </a:rPr>
              <a:t>(</a:t>
            </a:r>
            <a:r>
              <a:rPr lang="en-US" altLang="zh-CN" sz="2200" i="1" dirty="0">
                <a:ea typeface="SimSun" panose="02010600030101010101" pitchFamily="2" charset="-122"/>
              </a:rPr>
              <a:t>M</a:t>
            </a:r>
            <a:r>
              <a:rPr lang="en-US" altLang="zh-CN" sz="2200" baseline="30000" dirty="0">
                <a:ea typeface="SimSun" panose="02010600030101010101" pitchFamily="2" charset="-122"/>
              </a:rPr>
              <a:t>2</a:t>
            </a:r>
            <a:r>
              <a:rPr lang="en-US" altLang="zh-CN" sz="2200" dirty="0">
                <a:ea typeface="SimSun" panose="02010600030101010101" pitchFamily="2" charset="-122"/>
              </a:rPr>
              <a:t>) time to compute all similarities.</a:t>
            </a:r>
            <a:endParaRPr sz="2200" dirty="0"/>
          </a:p>
        </p:txBody>
      </p:sp>
      <p:grpSp>
        <p:nvGrpSpPr>
          <p:cNvPr id="95237" name="Group 4"/>
          <p:cNvGrpSpPr/>
          <p:nvPr/>
        </p:nvGrpSpPr>
        <p:grpSpPr>
          <a:xfrm>
            <a:off x="0" y="1371600"/>
            <a:ext cx="4876800" cy="3276600"/>
            <a:chOff x="1056" y="576"/>
            <a:chExt cx="3600" cy="2496"/>
          </a:xfrm>
        </p:grpSpPr>
        <p:sp>
          <p:nvSpPr>
            <p:cNvPr id="95240" name="Rectangle 5"/>
            <p:cNvSpPr/>
            <p:nvPr/>
          </p:nvSpPr>
          <p:spPr>
            <a:xfrm>
              <a:off x="1104" y="864"/>
              <a:ext cx="576" cy="192"/>
            </a:xfrm>
            <a:prstGeom prst="rect">
              <a:avLst/>
            </a:prstGeom>
            <a:noFill/>
            <a:ln w="9525" cap="flat" cmpd="sng">
              <a:solidFill>
                <a:schemeClr val="tx1"/>
              </a:solidFill>
              <a:prstDash val="solid"/>
              <a:miter/>
              <a:headEnd type="none" w="med" len="med"/>
              <a:tailEnd type="none" w="med" len="med"/>
            </a:ln>
          </p:spPr>
          <p:txBody>
            <a:bodyPr wrap="none" anchor="ctr" anchorCtr="0"/>
            <a:p>
              <a:r>
                <a:rPr lang="en-US" altLang="zh-CN" sz="2000" dirty="0">
                  <a:latin typeface="Times New Roman" panose="02020603050405020304" pitchFamily="18" charset="0"/>
                  <a:ea typeface="SimSun" panose="02010600030101010101" pitchFamily="2" charset="-122"/>
                </a:rPr>
                <a:t>Tom</a:t>
              </a:r>
              <a:endParaRPr lang="en-US" altLang="zh-CN" sz="2000" baseline="-25000" dirty="0">
                <a:latin typeface="Times New Roman" panose="02020603050405020304" pitchFamily="18" charset="0"/>
                <a:ea typeface="SimSun" panose="02010600030101010101" pitchFamily="2" charset="-122"/>
              </a:endParaRPr>
            </a:p>
          </p:txBody>
        </p:sp>
        <p:sp>
          <p:nvSpPr>
            <p:cNvPr id="95241" name="Rectangle 6"/>
            <p:cNvSpPr/>
            <p:nvPr/>
          </p:nvSpPr>
          <p:spPr>
            <a:xfrm>
              <a:off x="2400" y="864"/>
              <a:ext cx="672" cy="192"/>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p>
              <a:r>
                <a:rPr lang="en-US" altLang="zh-CN" sz="1800" dirty="0">
                  <a:latin typeface="Times New Roman" panose="02020603050405020304" pitchFamily="18" charset="0"/>
                  <a:ea typeface="SimSun" panose="02010600030101010101" pitchFamily="2" charset="-122"/>
                </a:rPr>
                <a:t>sigmod03</a:t>
              </a:r>
              <a:endParaRPr lang="en-US" altLang="zh-CN" sz="1800" dirty="0">
                <a:latin typeface="Times New Roman" panose="02020603050405020304" pitchFamily="18" charset="0"/>
                <a:ea typeface="SimSun" panose="02010600030101010101" pitchFamily="2" charset="-122"/>
              </a:endParaRPr>
            </a:p>
          </p:txBody>
        </p:sp>
        <p:sp>
          <p:nvSpPr>
            <p:cNvPr id="95242" name="Rectangle 7"/>
            <p:cNvSpPr/>
            <p:nvPr/>
          </p:nvSpPr>
          <p:spPr>
            <a:xfrm>
              <a:off x="1104" y="1344"/>
              <a:ext cx="576" cy="192"/>
            </a:xfrm>
            <a:prstGeom prst="rect">
              <a:avLst/>
            </a:prstGeom>
            <a:noFill/>
            <a:ln w="9525" cap="flat" cmpd="sng">
              <a:solidFill>
                <a:schemeClr val="tx1"/>
              </a:solidFill>
              <a:prstDash val="solid"/>
              <a:miter/>
              <a:headEnd type="none" w="med" len="med"/>
              <a:tailEnd type="none" w="med" len="med"/>
            </a:ln>
          </p:spPr>
          <p:txBody>
            <a:bodyPr wrap="none" anchor="ctr" anchorCtr="0"/>
            <a:p>
              <a:r>
                <a:rPr lang="en-US" altLang="zh-CN" sz="2000" dirty="0">
                  <a:latin typeface="Times New Roman" panose="02020603050405020304" pitchFamily="18" charset="0"/>
                  <a:ea typeface="SimSun" panose="02010600030101010101" pitchFamily="2" charset="-122"/>
                </a:rPr>
                <a:t>Mike</a:t>
              </a:r>
              <a:endParaRPr lang="en-US" altLang="zh-CN" sz="2000" dirty="0">
                <a:latin typeface="Times New Roman" panose="02020603050405020304" pitchFamily="18" charset="0"/>
                <a:ea typeface="SimSun" panose="02010600030101010101" pitchFamily="2" charset="-122"/>
              </a:endParaRPr>
            </a:p>
          </p:txBody>
        </p:sp>
        <p:sp>
          <p:nvSpPr>
            <p:cNvPr id="95243" name="Rectangle 8"/>
            <p:cNvSpPr/>
            <p:nvPr/>
          </p:nvSpPr>
          <p:spPr>
            <a:xfrm>
              <a:off x="1104" y="1872"/>
              <a:ext cx="576" cy="192"/>
            </a:xfrm>
            <a:prstGeom prst="rect">
              <a:avLst/>
            </a:prstGeom>
            <a:noFill/>
            <a:ln w="9525" cap="flat" cmpd="sng">
              <a:solidFill>
                <a:schemeClr val="tx1"/>
              </a:solidFill>
              <a:prstDash val="solid"/>
              <a:miter/>
              <a:headEnd type="none" w="med" len="med"/>
              <a:tailEnd type="none" w="med" len="med"/>
            </a:ln>
          </p:spPr>
          <p:txBody>
            <a:bodyPr wrap="none" anchor="ctr" anchorCtr="0"/>
            <a:p>
              <a:r>
                <a:rPr lang="en-US" altLang="zh-CN" sz="2000" dirty="0">
                  <a:latin typeface="Times New Roman" panose="02020603050405020304" pitchFamily="18" charset="0"/>
                  <a:ea typeface="SimSun" panose="02010600030101010101" pitchFamily="2" charset="-122"/>
                </a:rPr>
                <a:t>Cathy</a:t>
              </a:r>
              <a:endParaRPr lang="en-US" altLang="zh-CN" sz="2000" dirty="0">
                <a:latin typeface="Times New Roman" panose="02020603050405020304" pitchFamily="18" charset="0"/>
                <a:ea typeface="SimSun" panose="02010600030101010101" pitchFamily="2" charset="-122"/>
              </a:endParaRPr>
            </a:p>
          </p:txBody>
        </p:sp>
        <p:sp>
          <p:nvSpPr>
            <p:cNvPr id="95244" name="Rectangle 9"/>
            <p:cNvSpPr/>
            <p:nvPr/>
          </p:nvSpPr>
          <p:spPr>
            <a:xfrm>
              <a:off x="1104" y="2352"/>
              <a:ext cx="576" cy="192"/>
            </a:xfrm>
            <a:prstGeom prst="rect">
              <a:avLst/>
            </a:prstGeom>
            <a:noFill/>
            <a:ln w="9525" cap="flat" cmpd="sng">
              <a:solidFill>
                <a:schemeClr val="tx1"/>
              </a:solidFill>
              <a:prstDash val="solid"/>
              <a:miter/>
              <a:headEnd type="none" w="med" len="med"/>
              <a:tailEnd type="none" w="med" len="med"/>
            </a:ln>
          </p:spPr>
          <p:txBody>
            <a:bodyPr wrap="none" anchor="ctr" anchorCtr="0"/>
            <a:p>
              <a:r>
                <a:rPr lang="en-US" altLang="zh-CN" sz="2000" dirty="0">
                  <a:latin typeface="Times New Roman" panose="02020603050405020304" pitchFamily="18" charset="0"/>
                  <a:ea typeface="SimSun" panose="02010600030101010101" pitchFamily="2" charset="-122"/>
                </a:rPr>
                <a:t>John</a:t>
              </a:r>
              <a:endParaRPr lang="en-US" altLang="zh-CN" sz="2000" dirty="0">
                <a:latin typeface="Times New Roman" panose="02020603050405020304" pitchFamily="18" charset="0"/>
                <a:ea typeface="SimSun" panose="02010600030101010101" pitchFamily="2" charset="-122"/>
              </a:endParaRPr>
            </a:p>
          </p:txBody>
        </p:sp>
        <p:sp>
          <p:nvSpPr>
            <p:cNvPr id="95245" name="Rectangle 10"/>
            <p:cNvSpPr/>
            <p:nvPr/>
          </p:nvSpPr>
          <p:spPr>
            <a:xfrm>
              <a:off x="2400" y="1152"/>
              <a:ext cx="672" cy="192"/>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p>
              <a:r>
                <a:rPr lang="en-US" altLang="zh-CN" sz="1800" dirty="0">
                  <a:latin typeface="Times New Roman" panose="02020603050405020304" pitchFamily="18" charset="0"/>
                  <a:ea typeface="SimSun" panose="02010600030101010101" pitchFamily="2" charset="-122"/>
                </a:rPr>
                <a:t>sigmod04</a:t>
              </a:r>
              <a:endParaRPr lang="en-US" altLang="zh-CN" sz="1800" dirty="0">
                <a:latin typeface="Times New Roman" panose="02020603050405020304" pitchFamily="18" charset="0"/>
                <a:ea typeface="SimSun" panose="02010600030101010101" pitchFamily="2" charset="-122"/>
              </a:endParaRPr>
            </a:p>
          </p:txBody>
        </p:sp>
        <p:sp>
          <p:nvSpPr>
            <p:cNvPr id="95246" name="Rectangle 11"/>
            <p:cNvSpPr/>
            <p:nvPr/>
          </p:nvSpPr>
          <p:spPr>
            <a:xfrm>
              <a:off x="2400" y="1440"/>
              <a:ext cx="672" cy="192"/>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p>
              <a:r>
                <a:rPr lang="en-US" altLang="zh-CN" sz="1800" dirty="0">
                  <a:latin typeface="Times New Roman" panose="02020603050405020304" pitchFamily="18" charset="0"/>
                  <a:ea typeface="SimSun" panose="02010600030101010101" pitchFamily="2" charset="-122"/>
                </a:rPr>
                <a:t>sigmod05</a:t>
              </a:r>
              <a:endParaRPr lang="en-US" altLang="zh-CN" sz="1800" dirty="0">
                <a:latin typeface="Times New Roman" panose="02020603050405020304" pitchFamily="18" charset="0"/>
                <a:ea typeface="SimSun" panose="02010600030101010101" pitchFamily="2" charset="-122"/>
              </a:endParaRPr>
            </a:p>
          </p:txBody>
        </p:sp>
        <p:sp>
          <p:nvSpPr>
            <p:cNvPr id="95247" name="Rectangle 12"/>
            <p:cNvSpPr/>
            <p:nvPr/>
          </p:nvSpPr>
          <p:spPr>
            <a:xfrm>
              <a:off x="2400" y="1728"/>
              <a:ext cx="672" cy="192"/>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p>
              <a:r>
                <a:rPr lang="en-US" altLang="zh-CN" sz="2000" dirty="0">
                  <a:latin typeface="Times New Roman" panose="02020603050405020304" pitchFamily="18" charset="0"/>
                  <a:ea typeface="SimSun" panose="02010600030101010101" pitchFamily="2" charset="-122"/>
                </a:rPr>
                <a:t>vldb03</a:t>
              </a:r>
              <a:endParaRPr lang="en-US" altLang="zh-CN" sz="2000" dirty="0">
                <a:latin typeface="Times New Roman" panose="02020603050405020304" pitchFamily="18" charset="0"/>
                <a:ea typeface="SimSun" panose="02010600030101010101" pitchFamily="2" charset="-122"/>
              </a:endParaRPr>
            </a:p>
          </p:txBody>
        </p:sp>
        <p:sp>
          <p:nvSpPr>
            <p:cNvPr id="95248" name="Rectangle 13"/>
            <p:cNvSpPr/>
            <p:nvPr/>
          </p:nvSpPr>
          <p:spPr>
            <a:xfrm>
              <a:off x="2400" y="2016"/>
              <a:ext cx="672" cy="192"/>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p>
              <a:r>
                <a:rPr lang="en-US" altLang="zh-CN" sz="2000" dirty="0">
                  <a:latin typeface="Times New Roman" panose="02020603050405020304" pitchFamily="18" charset="0"/>
                  <a:ea typeface="SimSun" panose="02010600030101010101" pitchFamily="2" charset="-122"/>
                </a:rPr>
                <a:t>vldb04</a:t>
              </a:r>
              <a:endParaRPr lang="en-US" altLang="zh-CN" sz="2000" dirty="0">
                <a:latin typeface="Times New Roman" panose="02020603050405020304" pitchFamily="18" charset="0"/>
                <a:ea typeface="SimSun" panose="02010600030101010101" pitchFamily="2" charset="-122"/>
              </a:endParaRPr>
            </a:p>
          </p:txBody>
        </p:sp>
        <p:sp>
          <p:nvSpPr>
            <p:cNvPr id="95249" name="Rectangle 14"/>
            <p:cNvSpPr/>
            <p:nvPr/>
          </p:nvSpPr>
          <p:spPr>
            <a:xfrm>
              <a:off x="2400" y="2304"/>
              <a:ext cx="672" cy="192"/>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p>
              <a:r>
                <a:rPr lang="en-US" altLang="zh-CN" sz="2000" dirty="0">
                  <a:latin typeface="Times New Roman" panose="02020603050405020304" pitchFamily="18" charset="0"/>
                  <a:ea typeface="SimSun" panose="02010600030101010101" pitchFamily="2" charset="-122"/>
                </a:rPr>
                <a:t>vldb05</a:t>
              </a:r>
              <a:endParaRPr lang="en-US" altLang="zh-CN" sz="2000" dirty="0">
                <a:latin typeface="Times New Roman" panose="02020603050405020304" pitchFamily="18" charset="0"/>
                <a:ea typeface="SimSun" panose="02010600030101010101" pitchFamily="2" charset="-122"/>
              </a:endParaRPr>
            </a:p>
          </p:txBody>
        </p:sp>
        <p:sp>
          <p:nvSpPr>
            <p:cNvPr id="95250" name="Rectangle 15"/>
            <p:cNvSpPr/>
            <p:nvPr/>
          </p:nvSpPr>
          <p:spPr>
            <a:xfrm>
              <a:off x="3792" y="1152"/>
              <a:ext cx="576" cy="192"/>
            </a:xfrm>
            <a:prstGeom prst="rect">
              <a:avLst/>
            </a:prstGeom>
            <a:noFill/>
            <a:ln w="9525" cap="flat" cmpd="sng">
              <a:solidFill>
                <a:schemeClr val="tx1"/>
              </a:solidFill>
              <a:prstDash val="solid"/>
              <a:miter/>
              <a:headEnd type="none" w="med" len="med"/>
              <a:tailEnd type="none" w="med" len="med"/>
            </a:ln>
          </p:spPr>
          <p:txBody>
            <a:bodyPr wrap="none" anchor="ctr" anchorCtr="0"/>
            <a:p>
              <a:r>
                <a:rPr lang="en-US" altLang="zh-CN" sz="2000" dirty="0">
                  <a:latin typeface="Times New Roman" panose="02020603050405020304" pitchFamily="18" charset="0"/>
                  <a:ea typeface="SimSun" panose="02010600030101010101" pitchFamily="2" charset="-122"/>
                </a:rPr>
                <a:t>sigmod</a:t>
              </a:r>
              <a:endParaRPr lang="en-US" altLang="zh-CN" sz="2000" dirty="0">
                <a:latin typeface="Times New Roman" panose="02020603050405020304" pitchFamily="18" charset="0"/>
                <a:ea typeface="SimSun" panose="02010600030101010101" pitchFamily="2" charset="-122"/>
              </a:endParaRPr>
            </a:p>
          </p:txBody>
        </p:sp>
        <p:sp>
          <p:nvSpPr>
            <p:cNvPr id="95251" name="Rectangle 16"/>
            <p:cNvSpPr/>
            <p:nvPr/>
          </p:nvSpPr>
          <p:spPr>
            <a:xfrm>
              <a:off x="3792" y="2016"/>
              <a:ext cx="576" cy="192"/>
            </a:xfrm>
            <a:prstGeom prst="rect">
              <a:avLst/>
            </a:prstGeom>
            <a:noFill/>
            <a:ln w="9525" cap="flat" cmpd="sng">
              <a:solidFill>
                <a:schemeClr val="tx1"/>
              </a:solidFill>
              <a:prstDash val="solid"/>
              <a:miter/>
              <a:headEnd type="none" w="med" len="med"/>
              <a:tailEnd type="none" w="med" len="med"/>
            </a:ln>
          </p:spPr>
          <p:txBody>
            <a:bodyPr wrap="none" anchor="ctr" anchorCtr="0"/>
            <a:p>
              <a:r>
                <a:rPr lang="en-US" altLang="zh-CN" sz="2000" dirty="0">
                  <a:latin typeface="Times New Roman" panose="02020603050405020304" pitchFamily="18" charset="0"/>
                  <a:ea typeface="SimSun" panose="02010600030101010101" pitchFamily="2" charset="-122"/>
                </a:rPr>
                <a:t>vldb</a:t>
              </a:r>
              <a:endParaRPr lang="en-US" altLang="zh-CN" sz="2000" dirty="0">
                <a:latin typeface="Times New Roman" panose="02020603050405020304" pitchFamily="18" charset="0"/>
                <a:ea typeface="SimSun" panose="02010600030101010101" pitchFamily="2" charset="-122"/>
              </a:endParaRPr>
            </a:p>
          </p:txBody>
        </p:sp>
        <p:cxnSp>
          <p:nvCxnSpPr>
            <p:cNvPr id="95252" name="AutoShape 17"/>
            <p:cNvCxnSpPr>
              <a:stCxn id="95240" idx="3"/>
              <a:endCxn id="95241" idx="1"/>
            </p:cNvCxnSpPr>
            <p:nvPr/>
          </p:nvCxnSpPr>
          <p:spPr>
            <a:xfrm>
              <a:off x="1680" y="960"/>
              <a:ext cx="720" cy="0"/>
            </a:xfrm>
            <a:prstGeom prst="straightConnector1">
              <a:avLst/>
            </a:prstGeom>
            <a:ln w="9525" cap="flat" cmpd="sng">
              <a:solidFill>
                <a:schemeClr val="tx1"/>
              </a:solidFill>
              <a:prstDash val="solid"/>
              <a:headEnd type="none" w="med" len="med"/>
              <a:tailEnd type="none" w="med" len="med"/>
            </a:ln>
          </p:spPr>
        </p:cxnSp>
        <p:cxnSp>
          <p:nvCxnSpPr>
            <p:cNvPr id="95253" name="AutoShape 18"/>
            <p:cNvCxnSpPr>
              <a:stCxn id="95240" idx="3"/>
              <a:endCxn id="95246" idx="1"/>
            </p:cNvCxnSpPr>
            <p:nvPr/>
          </p:nvCxnSpPr>
          <p:spPr>
            <a:xfrm>
              <a:off x="1680" y="960"/>
              <a:ext cx="720" cy="576"/>
            </a:xfrm>
            <a:prstGeom prst="straightConnector1">
              <a:avLst/>
            </a:prstGeom>
            <a:ln w="9525" cap="flat" cmpd="sng">
              <a:solidFill>
                <a:schemeClr val="tx1"/>
              </a:solidFill>
              <a:prstDash val="solid"/>
              <a:headEnd type="none" w="med" len="med"/>
              <a:tailEnd type="none" w="med" len="med"/>
            </a:ln>
          </p:spPr>
        </p:cxnSp>
        <p:cxnSp>
          <p:nvCxnSpPr>
            <p:cNvPr id="95254" name="AutoShape 19"/>
            <p:cNvCxnSpPr>
              <a:stCxn id="95244" idx="3"/>
              <a:endCxn id="95248" idx="1"/>
            </p:cNvCxnSpPr>
            <p:nvPr/>
          </p:nvCxnSpPr>
          <p:spPr>
            <a:xfrm flipV="1">
              <a:off x="1680" y="2112"/>
              <a:ext cx="720" cy="336"/>
            </a:xfrm>
            <a:prstGeom prst="straightConnector1">
              <a:avLst/>
            </a:prstGeom>
            <a:ln w="9525" cap="flat" cmpd="sng">
              <a:solidFill>
                <a:schemeClr val="tx1"/>
              </a:solidFill>
              <a:prstDash val="solid"/>
              <a:headEnd type="none" w="med" len="med"/>
              <a:tailEnd type="none" w="med" len="med"/>
            </a:ln>
          </p:spPr>
        </p:cxnSp>
        <p:cxnSp>
          <p:nvCxnSpPr>
            <p:cNvPr id="95255" name="AutoShape 20"/>
            <p:cNvCxnSpPr>
              <a:stCxn id="95244" idx="3"/>
              <a:endCxn id="95249" idx="1"/>
            </p:cNvCxnSpPr>
            <p:nvPr/>
          </p:nvCxnSpPr>
          <p:spPr>
            <a:xfrm flipV="1">
              <a:off x="1680" y="2400"/>
              <a:ext cx="720" cy="48"/>
            </a:xfrm>
            <a:prstGeom prst="straightConnector1">
              <a:avLst/>
            </a:prstGeom>
            <a:ln w="9525" cap="flat" cmpd="sng">
              <a:solidFill>
                <a:schemeClr val="tx1"/>
              </a:solidFill>
              <a:prstDash val="solid"/>
              <a:headEnd type="none" w="med" len="med"/>
              <a:tailEnd type="none" w="med" len="med"/>
            </a:ln>
          </p:spPr>
        </p:cxnSp>
        <p:cxnSp>
          <p:nvCxnSpPr>
            <p:cNvPr id="95256" name="AutoShape 21"/>
            <p:cNvCxnSpPr>
              <a:stCxn id="95242" idx="3"/>
              <a:endCxn id="95245" idx="1"/>
            </p:cNvCxnSpPr>
            <p:nvPr/>
          </p:nvCxnSpPr>
          <p:spPr>
            <a:xfrm flipV="1">
              <a:off x="1680" y="1248"/>
              <a:ext cx="720" cy="192"/>
            </a:xfrm>
            <a:prstGeom prst="straightConnector1">
              <a:avLst/>
            </a:prstGeom>
            <a:ln w="9525" cap="flat" cmpd="sng">
              <a:solidFill>
                <a:schemeClr val="tx1"/>
              </a:solidFill>
              <a:prstDash val="solid"/>
              <a:headEnd type="none" w="med" len="med"/>
              <a:tailEnd type="none" w="med" len="med"/>
            </a:ln>
          </p:spPr>
        </p:cxnSp>
        <p:cxnSp>
          <p:nvCxnSpPr>
            <p:cNvPr id="95257" name="AutoShape 22"/>
            <p:cNvCxnSpPr>
              <a:stCxn id="95242" idx="3"/>
              <a:endCxn id="95247" idx="1"/>
            </p:cNvCxnSpPr>
            <p:nvPr/>
          </p:nvCxnSpPr>
          <p:spPr>
            <a:xfrm>
              <a:off x="1680" y="1440"/>
              <a:ext cx="720" cy="384"/>
            </a:xfrm>
            <a:prstGeom prst="straightConnector1">
              <a:avLst/>
            </a:prstGeom>
            <a:ln w="9525" cap="flat" cmpd="sng">
              <a:solidFill>
                <a:schemeClr val="tx1"/>
              </a:solidFill>
              <a:prstDash val="solid"/>
              <a:headEnd type="none" w="med" len="med"/>
              <a:tailEnd type="none" w="med" len="med"/>
            </a:ln>
          </p:spPr>
        </p:cxnSp>
        <p:cxnSp>
          <p:nvCxnSpPr>
            <p:cNvPr id="95258" name="AutoShape 23"/>
            <p:cNvCxnSpPr>
              <a:stCxn id="95243" idx="3"/>
              <a:endCxn id="95246" idx="1"/>
            </p:cNvCxnSpPr>
            <p:nvPr/>
          </p:nvCxnSpPr>
          <p:spPr>
            <a:xfrm flipV="1">
              <a:off x="1680" y="1536"/>
              <a:ext cx="720" cy="432"/>
            </a:xfrm>
            <a:prstGeom prst="straightConnector1">
              <a:avLst/>
            </a:prstGeom>
            <a:ln w="9525" cap="flat" cmpd="sng">
              <a:solidFill>
                <a:schemeClr val="tx1"/>
              </a:solidFill>
              <a:prstDash val="solid"/>
              <a:headEnd type="none" w="med" len="med"/>
              <a:tailEnd type="none" w="med" len="med"/>
            </a:ln>
          </p:spPr>
        </p:cxnSp>
        <p:cxnSp>
          <p:nvCxnSpPr>
            <p:cNvPr id="95259" name="AutoShape 24"/>
            <p:cNvCxnSpPr>
              <a:stCxn id="95243" idx="3"/>
              <a:endCxn id="95248" idx="1"/>
            </p:cNvCxnSpPr>
            <p:nvPr/>
          </p:nvCxnSpPr>
          <p:spPr>
            <a:xfrm>
              <a:off x="1680" y="1968"/>
              <a:ext cx="720" cy="144"/>
            </a:xfrm>
            <a:prstGeom prst="straightConnector1">
              <a:avLst/>
            </a:prstGeom>
            <a:ln w="9525" cap="flat" cmpd="sng">
              <a:solidFill>
                <a:schemeClr val="tx1"/>
              </a:solidFill>
              <a:prstDash val="solid"/>
              <a:headEnd type="none" w="med" len="med"/>
              <a:tailEnd type="none" w="med" len="med"/>
            </a:ln>
          </p:spPr>
        </p:cxnSp>
        <p:cxnSp>
          <p:nvCxnSpPr>
            <p:cNvPr id="95260" name="AutoShape 25"/>
            <p:cNvCxnSpPr>
              <a:stCxn id="95244" idx="3"/>
              <a:endCxn id="95246" idx="1"/>
            </p:cNvCxnSpPr>
            <p:nvPr/>
          </p:nvCxnSpPr>
          <p:spPr>
            <a:xfrm flipV="1">
              <a:off x="1680" y="1536"/>
              <a:ext cx="720" cy="912"/>
            </a:xfrm>
            <a:prstGeom prst="straightConnector1">
              <a:avLst/>
            </a:prstGeom>
            <a:ln w="9525" cap="flat" cmpd="sng">
              <a:solidFill>
                <a:schemeClr val="tx1"/>
              </a:solidFill>
              <a:prstDash val="solid"/>
              <a:headEnd type="none" w="med" len="med"/>
              <a:tailEnd type="none" w="med" len="med"/>
            </a:ln>
          </p:spPr>
        </p:cxnSp>
        <p:cxnSp>
          <p:nvCxnSpPr>
            <p:cNvPr id="95261" name="AutoShape 26"/>
            <p:cNvCxnSpPr>
              <a:stCxn id="95241" idx="3"/>
              <a:endCxn id="95250" idx="1"/>
            </p:cNvCxnSpPr>
            <p:nvPr/>
          </p:nvCxnSpPr>
          <p:spPr>
            <a:xfrm>
              <a:off x="3072" y="960"/>
              <a:ext cx="720" cy="288"/>
            </a:xfrm>
            <a:prstGeom prst="straightConnector1">
              <a:avLst/>
            </a:prstGeom>
            <a:ln w="9525" cap="flat" cmpd="sng">
              <a:solidFill>
                <a:schemeClr val="tx1"/>
              </a:solidFill>
              <a:prstDash val="solid"/>
              <a:headEnd type="none" w="med" len="med"/>
              <a:tailEnd type="none" w="med" len="med"/>
            </a:ln>
          </p:spPr>
        </p:cxnSp>
        <p:cxnSp>
          <p:nvCxnSpPr>
            <p:cNvPr id="95262" name="AutoShape 27"/>
            <p:cNvCxnSpPr>
              <a:stCxn id="95245" idx="3"/>
              <a:endCxn id="95250" idx="1"/>
            </p:cNvCxnSpPr>
            <p:nvPr/>
          </p:nvCxnSpPr>
          <p:spPr>
            <a:xfrm>
              <a:off x="3072" y="1248"/>
              <a:ext cx="720" cy="0"/>
            </a:xfrm>
            <a:prstGeom prst="straightConnector1">
              <a:avLst/>
            </a:prstGeom>
            <a:ln w="9525" cap="flat" cmpd="sng">
              <a:solidFill>
                <a:schemeClr val="tx1"/>
              </a:solidFill>
              <a:prstDash val="solid"/>
              <a:headEnd type="none" w="med" len="med"/>
              <a:tailEnd type="none" w="med" len="med"/>
            </a:ln>
          </p:spPr>
        </p:cxnSp>
        <p:cxnSp>
          <p:nvCxnSpPr>
            <p:cNvPr id="95263" name="AutoShape 28"/>
            <p:cNvCxnSpPr>
              <a:stCxn id="95246" idx="3"/>
              <a:endCxn id="95250" idx="1"/>
            </p:cNvCxnSpPr>
            <p:nvPr/>
          </p:nvCxnSpPr>
          <p:spPr>
            <a:xfrm flipV="1">
              <a:off x="3072" y="1248"/>
              <a:ext cx="720" cy="288"/>
            </a:xfrm>
            <a:prstGeom prst="straightConnector1">
              <a:avLst/>
            </a:prstGeom>
            <a:ln w="9525" cap="flat" cmpd="sng">
              <a:solidFill>
                <a:schemeClr val="tx1"/>
              </a:solidFill>
              <a:prstDash val="solid"/>
              <a:headEnd type="none" w="med" len="med"/>
              <a:tailEnd type="none" w="med" len="med"/>
            </a:ln>
          </p:spPr>
        </p:cxnSp>
        <p:cxnSp>
          <p:nvCxnSpPr>
            <p:cNvPr id="95264" name="AutoShape 29"/>
            <p:cNvCxnSpPr>
              <a:stCxn id="95247" idx="3"/>
              <a:endCxn id="95251" idx="1"/>
            </p:cNvCxnSpPr>
            <p:nvPr/>
          </p:nvCxnSpPr>
          <p:spPr>
            <a:xfrm>
              <a:off x="3072" y="1824"/>
              <a:ext cx="720" cy="288"/>
            </a:xfrm>
            <a:prstGeom prst="straightConnector1">
              <a:avLst/>
            </a:prstGeom>
            <a:ln w="9525" cap="flat" cmpd="sng">
              <a:solidFill>
                <a:schemeClr val="tx1"/>
              </a:solidFill>
              <a:prstDash val="solid"/>
              <a:headEnd type="none" w="med" len="med"/>
              <a:tailEnd type="none" w="med" len="med"/>
            </a:ln>
          </p:spPr>
        </p:cxnSp>
        <p:cxnSp>
          <p:nvCxnSpPr>
            <p:cNvPr id="95265" name="AutoShape 30"/>
            <p:cNvCxnSpPr>
              <a:stCxn id="95248" idx="3"/>
              <a:endCxn id="95251" idx="1"/>
            </p:cNvCxnSpPr>
            <p:nvPr/>
          </p:nvCxnSpPr>
          <p:spPr>
            <a:xfrm>
              <a:off x="3072" y="2112"/>
              <a:ext cx="720" cy="0"/>
            </a:xfrm>
            <a:prstGeom prst="straightConnector1">
              <a:avLst/>
            </a:prstGeom>
            <a:ln w="9525" cap="flat" cmpd="sng">
              <a:solidFill>
                <a:schemeClr val="tx1"/>
              </a:solidFill>
              <a:prstDash val="solid"/>
              <a:headEnd type="none" w="med" len="med"/>
              <a:tailEnd type="none" w="med" len="med"/>
            </a:ln>
          </p:spPr>
        </p:cxnSp>
        <p:cxnSp>
          <p:nvCxnSpPr>
            <p:cNvPr id="95266" name="AutoShape 31"/>
            <p:cNvCxnSpPr>
              <a:stCxn id="95249" idx="3"/>
              <a:endCxn id="95251" idx="1"/>
            </p:cNvCxnSpPr>
            <p:nvPr/>
          </p:nvCxnSpPr>
          <p:spPr>
            <a:xfrm flipV="1">
              <a:off x="3072" y="2112"/>
              <a:ext cx="720" cy="288"/>
            </a:xfrm>
            <a:prstGeom prst="straightConnector1">
              <a:avLst/>
            </a:prstGeom>
            <a:ln w="9525" cap="flat" cmpd="sng">
              <a:solidFill>
                <a:schemeClr val="tx1"/>
              </a:solidFill>
              <a:prstDash val="solid"/>
              <a:headEnd type="none" w="med" len="med"/>
              <a:tailEnd type="none" w="med" len="med"/>
            </a:ln>
          </p:spPr>
        </p:cxnSp>
        <p:sp>
          <p:nvSpPr>
            <p:cNvPr id="95267" name="Rectangle 32"/>
            <p:cNvSpPr/>
            <p:nvPr/>
          </p:nvSpPr>
          <p:spPr>
            <a:xfrm>
              <a:off x="1104" y="2880"/>
              <a:ext cx="576" cy="192"/>
            </a:xfrm>
            <a:prstGeom prst="rect">
              <a:avLst/>
            </a:prstGeom>
            <a:noFill/>
            <a:ln w="9525" cap="flat" cmpd="sng">
              <a:solidFill>
                <a:schemeClr val="tx1"/>
              </a:solidFill>
              <a:prstDash val="solid"/>
              <a:miter/>
              <a:headEnd type="none" w="med" len="med"/>
              <a:tailEnd type="none" w="med" len="med"/>
            </a:ln>
          </p:spPr>
          <p:txBody>
            <a:bodyPr wrap="none" anchor="ctr" anchorCtr="0"/>
            <a:p>
              <a:r>
                <a:rPr lang="en-US" altLang="zh-CN" sz="2000" dirty="0">
                  <a:latin typeface="Times New Roman" panose="02020603050405020304" pitchFamily="18" charset="0"/>
                  <a:ea typeface="SimSun" panose="02010600030101010101" pitchFamily="2" charset="-122"/>
                </a:rPr>
                <a:t>Mary</a:t>
              </a:r>
              <a:endParaRPr lang="en-US" altLang="zh-CN" sz="2000" dirty="0">
                <a:latin typeface="Times New Roman" panose="02020603050405020304" pitchFamily="18" charset="0"/>
                <a:ea typeface="SimSun" panose="02010600030101010101" pitchFamily="2" charset="-122"/>
              </a:endParaRPr>
            </a:p>
          </p:txBody>
        </p:sp>
        <p:sp>
          <p:nvSpPr>
            <p:cNvPr id="95268" name="Rectangle 33"/>
            <p:cNvSpPr/>
            <p:nvPr/>
          </p:nvSpPr>
          <p:spPr>
            <a:xfrm>
              <a:off x="2400" y="2592"/>
              <a:ext cx="672" cy="192"/>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p>
              <a:r>
                <a:rPr lang="en-US" altLang="zh-CN" sz="2000" dirty="0">
                  <a:latin typeface="Times New Roman" panose="02020603050405020304" pitchFamily="18" charset="0"/>
                  <a:ea typeface="SimSun" panose="02010600030101010101" pitchFamily="2" charset="-122"/>
                </a:rPr>
                <a:t>aaai04</a:t>
              </a:r>
              <a:endParaRPr lang="en-US" altLang="zh-CN" sz="2000" dirty="0">
                <a:latin typeface="Times New Roman" panose="02020603050405020304" pitchFamily="18" charset="0"/>
                <a:ea typeface="SimSun" panose="02010600030101010101" pitchFamily="2" charset="-122"/>
              </a:endParaRPr>
            </a:p>
          </p:txBody>
        </p:sp>
        <p:cxnSp>
          <p:nvCxnSpPr>
            <p:cNvPr id="95269" name="AutoShape 34"/>
            <p:cNvCxnSpPr>
              <a:stCxn id="95267" idx="3"/>
              <a:endCxn id="95268" idx="1"/>
            </p:cNvCxnSpPr>
            <p:nvPr/>
          </p:nvCxnSpPr>
          <p:spPr>
            <a:xfrm flipV="1">
              <a:off x="1680" y="2688"/>
              <a:ext cx="720" cy="288"/>
            </a:xfrm>
            <a:prstGeom prst="straightConnector1">
              <a:avLst/>
            </a:prstGeom>
            <a:ln w="9525" cap="flat" cmpd="sng">
              <a:solidFill>
                <a:schemeClr val="tx1"/>
              </a:solidFill>
              <a:prstDash val="solid"/>
              <a:headEnd type="none" w="med" len="med"/>
              <a:tailEnd type="none" w="med" len="med"/>
            </a:ln>
          </p:spPr>
        </p:cxnSp>
        <p:sp>
          <p:nvSpPr>
            <p:cNvPr id="95270" name="Rectangle 35"/>
            <p:cNvSpPr/>
            <p:nvPr/>
          </p:nvSpPr>
          <p:spPr>
            <a:xfrm>
              <a:off x="2400" y="2880"/>
              <a:ext cx="672" cy="192"/>
            </a:xfrm>
            <a:prstGeom prst="rect">
              <a:avLst/>
            </a:prstGeom>
            <a:solidFill>
              <a:srgbClr val="FFFFFF"/>
            </a:solidFill>
            <a:ln w="9525" cap="flat" cmpd="sng">
              <a:solidFill>
                <a:schemeClr val="tx1"/>
              </a:solidFill>
              <a:prstDash val="solid"/>
              <a:miter/>
              <a:headEnd type="none" w="med" len="med"/>
              <a:tailEnd type="none" w="med" len="med"/>
            </a:ln>
          </p:spPr>
          <p:txBody>
            <a:bodyPr wrap="none" lIns="45720" tIns="0" rIns="45720" bIns="0" anchor="ctr" anchorCtr="0"/>
            <a:p>
              <a:r>
                <a:rPr lang="en-US" altLang="zh-CN" sz="2000" dirty="0">
                  <a:latin typeface="Times New Roman" panose="02020603050405020304" pitchFamily="18" charset="0"/>
                  <a:ea typeface="SimSun" panose="02010600030101010101" pitchFamily="2" charset="-122"/>
                </a:rPr>
                <a:t>aaai05</a:t>
              </a:r>
              <a:endParaRPr lang="en-US" altLang="zh-CN" sz="2000" dirty="0">
                <a:latin typeface="Times New Roman" panose="02020603050405020304" pitchFamily="18" charset="0"/>
                <a:ea typeface="SimSun" panose="02010600030101010101" pitchFamily="2" charset="-122"/>
              </a:endParaRPr>
            </a:p>
          </p:txBody>
        </p:sp>
        <p:sp>
          <p:nvSpPr>
            <p:cNvPr id="95271" name="Rectangle 36"/>
            <p:cNvSpPr/>
            <p:nvPr/>
          </p:nvSpPr>
          <p:spPr>
            <a:xfrm>
              <a:off x="3792" y="2736"/>
              <a:ext cx="576" cy="192"/>
            </a:xfrm>
            <a:prstGeom prst="rect">
              <a:avLst/>
            </a:prstGeom>
            <a:noFill/>
            <a:ln w="9525" cap="flat" cmpd="sng">
              <a:solidFill>
                <a:schemeClr val="tx1"/>
              </a:solidFill>
              <a:prstDash val="solid"/>
              <a:miter/>
              <a:headEnd type="none" w="med" len="med"/>
              <a:tailEnd type="none" w="med" len="med"/>
            </a:ln>
          </p:spPr>
          <p:txBody>
            <a:bodyPr wrap="none" anchor="ctr" anchorCtr="0"/>
            <a:p>
              <a:r>
                <a:rPr lang="en-US" altLang="zh-CN" sz="2000" dirty="0">
                  <a:latin typeface="Times New Roman" panose="02020603050405020304" pitchFamily="18" charset="0"/>
                  <a:ea typeface="SimSun" panose="02010600030101010101" pitchFamily="2" charset="-122"/>
                </a:rPr>
                <a:t>aaai</a:t>
              </a:r>
              <a:endParaRPr lang="en-US" altLang="zh-CN" sz="2000" dirty="0">
                <a:latin typeface="Times New Roman" panose="02020603050405020304" pitchFamily="18" charset="0"/>
                <a:ea typeface="SimSun" panose="02010600030101010101" pitchFamily="2" charset="-122"/>
              </a:endParaRPr>
            </a:p>
          </p:txBody>
        </p:sp>
        <p:cxnSp>
          <p:nvCxnSpPr>
            <p:cNvPr id="95272" name="AutoShape 37"/>
            <p:cNvCxnSpPr>
              <a:stCxn id="95268" idx="3"/>
              <a:endCxn id="95271" idx="1"/>
            </p:cNvCxnSpPr>
            <p:nvPr/>
          </p:nvCxnSpPr>
          <p:spPr>
            <a:xfrm>
              <a:off x="3072" y="2688"/>
              <a:ext cx="720" cy="144"/>
            </a:xfrm>
            <a:prstGeom prst="straightConnector1">
              <a:avLst/>
            </a:prstGeom>
            <a:ln w="9525" cap="flat" cmpd="sng">
              <a:solidFill>
                <a:schemeClr val="tx1"/>
              </a:solidFill>
              <a:prstDash val="solid"/>
              <a:headEnd type="none" w="med" len="med"/>
              <a:tailEnd type="none" w="med" len="med"/>
            </a:ln>
          </p:spPr>
        </p:cxnSp>
        <p:cxnSp>
          <p:nvCxnSpPr>
            <p:cNvPr id="95273" name="AutoShape 38"/>
            <p:cNvCxnSpPr>
              <a:stCxn id="95270" idx="3"/>
              <a:endCxn id="95271" idx="1"/>
            </p:cNvCxnSpPr>
            <p:nvPr/>
          </p:nvCxnSpPr>
          <p:spPr>
            <a:xfrm flipV="1">
              <a:off x="3072" y="2832"/>
              <a:ext cx="720" cy="144"/>
            </a:xfrm>
            <a:prstGeom prst="straightConnector1">
              <a:avLst/>
            </a:prstGeom>
            <a:ln w="9525" cap="flat" cmpd="sng">
              <a:solidFill>
                <a:schemeClr val="tx1"/>
              </a:solidFill>
              <a:prstDash val="solid"/>
              <a:headEnd type="none" w="med" len="med"/>
              <a:tailEnd type="none" w="med" len="med"/>
            </a:ln>
          </p:spPr>
        </p:cxnSp>
        <p:cxnSp>
          <p:nvCxnSpPr>
            <p:cNvPr id="95274" name="AutoShape 39"/>
            <p:cNvCxnSpPr>
              <a:stCxn id="95267" idx="3"/>
              <a:endCxn id="95270" idx="1"/>
            </p:cNvCxnSpPr>
            <p:nvPr/>
          </p:nvCxnSpPr>
          <p:spPr>
            <a:xfrm>
              <a:off x="1680" y="2976"/>
              <a:ext cx="720" cy="0"/>
            </a:xfrm>
            <a:prstGeom prst="straightConnector1">
              <a:avLst/>
            </a:prstGeom>
            <a:ln w="9525" cap="flat" cmpd="sng">
              <a:solidFill>
                <a:schemeClr val="tx1"/>
              </a:solidFill>
              <a:prstDash val="solid"/>
              <a:headEnd type="none" w="med" len="med"/>
              <a:tailEnd type="none" w="med" len="med"/>
            </a:ln>
          </p:spPr>
        </p:cxnSp>
        <p:cxnSp>
          <p:nvCxnSpPr>
            <p:cNvPr id="95275" name="AutoShape 40"/>
            <p:cNvCxnSpPr>
              <a:stCxn id="95267" idx="3"/>
              <a:endCxn id="95249" idx="1"/>
            </p:cNvCxnSpPr>
            <p:nvPr/>
          </p:nvCxnSpPr>
          <p:spPr>
            <a:xfrm flipV="1">
              <a:off x="1680" y="2400"/>
              <a:ext cx="720" cy="576"/>
            </a:xfrm>
            <a:prstGeom prst="straightConnector1">
              <a:avLst/>
            </a:prstGeom>
            <a:ln w="9525" cap="flat" cmpd="sng">
              <a:solidFill>
                <a:schemeClr val="tx1"/>
              </a:solidFill>
              <a:prstDash val="solid"/>
              <a:headEnd type="none" w="med" len="med"/>
              <a:tailEnd type="none" w="med" len="med"/>
            </a:ln>
          </p:spPr>
        </p:cxnSp>
        <p:sp>
          <p:nvSpPr>
            <p:cNvPr id="95276" name="Text Box 41"/>
            <p:cNvSpPr txBox="1"/>
            <p:nvPr/>
          </p:nvSpPr>
          <p:spPr>
            <a:xfrm>
              <a:off x="1056" y="576"/>
              <a:ext cx="864" cy="279"/>
            </a:xfrm>
            <a:prstGeom prst="rect">
              <a:avLst/>
            </a:prstGeom>
            <a:noFill/>
            <a:ln w="9525">
              <a:noFill/>
            </a:ln>
          </p:spPr>
          <p:txBody>
            <a:bodyPr>
              <a:spAutoFit/>
            </a:bodyPr>
            <a:p>
              <a:pPr algn="l">
                <a:spcBef>
                  <a:spcPct val="50000"/>
                </a:spcBef>
              </a:pPr>
              <a:r>
                <a:rPr lang="en-US" altLang="zh-CN" sz="1800" b="1" i="1" dirty="0">
                  <a:latin typeface="Arial" panose="020B0604020202020204" pitchFamily="34" charset="0"/>
                  <a:ea typeface="SimSun" panose="02010600030101010101" pitchFamily="2" charset="-122"/>
                </a:rPr>
                <a:t>Authors</a:t>
              </a:r>
              <a:endParaRPr lang="en-US" altLang="zh-CN" sz="1800" b="1" i="1" dirty="0">
                <a:latin typeface="Arial" panose="020B0604020202020204" pitchFamily="34" charset="0"/>
                <a:ea typeface="SimSun" panose="02010600030101010101" pitchFamily="2" charset="-122"/>
              </a:endParaRPr>
            </a:p>
          </p:txBody>
        </p:sp>
        <p:sp>
          <p:nvSpPr>
            <p:cNvPr id="95277" name="Text Box 42"/>
            <p:cNvSpPr txBox="1"/>
            <p:nvPr/>
          </p:nvSpPr>
          <p:spPr>
            <a:xfrm>
              <a:off x="2206" y="576"/>
              <a:ext cx="1106" cy="232"/>
            </a:xfrm>
            <a:prstGeom prst="rect">
              <a:avLst/>
            </a:prstGeom>
            <a:noFill/>
            <a:ln w="9525">
              <a:noFill/>
            </a:ln>
          </p:spPr>
          <p:txBody>
            <a:bodyPr>
              <a:spAutoFit/>
            </a:bodyPr>
            <a:p>
              <a:pPr algn="l">
                <a:spcBef>
                  <a:spcPct val="50000"/>
                </a:spcBef>
              </a:pPr>
              <a:r>
                <a:rPr lang="en-US" altLang="zh-CN" sz="1400" b="1" i="1" dirty="0">
                  <a:latin typeface="Arial" panose="020B0604020202020204" pitchFamily="34" charset="0"/>
                  <a:ea typeface="SimSun" panose="02010600030101010101" pitchFamily="2" charset="-122"/>
                </a:rPr>
                <a:t>Proceedings</a:t>
              </a:r>
              <a:endParaRPr lang="en-US" altLang="zh-CN" sz="1400" b="1" i="1" dirty="0">
                <a:latin typeface="Arial" panose="020B0604020202020204" pitchFamily="34" charset="0"/>
                <a:ea typeface="SimSun" panose="02010600030101010101" pitchFamily="2" charset="-122"/>
              </a:endParaRPr>
            </a:p>
          </p:txBody>
        </p:sp>
        <p:sp>
          <p:nvSpPr>
            <p:cNvPr id="95278" name="Text Box 43"/>
            <p:cNvSpPr txBox="1"/>
            <p:nvPr/>
          </p:nvSpPr>
          <p:spPr>
            <a:xfrm>
              <a:off x="3553" y="576"/>
              <a:ext cx="1103" cy="232"/>
            </a:xfrm>
            <a:prstGeom prst="rect">
              <a:avLst/>
            </a:prstGeom>
            <a:noFill/>
            <a:ln w="9525">
              <a:noFill/>
            </a:ln>
          </p:spPr>
          <p:txBody>
            <a:bodyPr>
              <a:spAutoFit/>
            </a:bodyPr>
            <a:p>
              <a:pPr algn="l">
                <a:spcBef>
                  <a:spcPct val="50000"/>
                </a:spcBef>
              </a:pPr>
              <a:r>
                <a:rPr lang="en-US" altLang="zh-CN" sz="1400" b="1" i="1" dirty="0">
                  <a:latin typeface="Arial" panose="020B0604020202020204" pitchFamily="34" charset="0"/>
                  <a:ea typeface="SimSun" panose="02010600030101010101" pitchFamily="2" charset="-122"/>
                </a:rPr>
                <a:t>Conferences</a:t>
              </a:r>
              <a:endParaRPr lang="en-US" altLang="zh-CN" sz="1400" b="1" i="1" dirty="0">
                <a:latin typeface="Arial" panose="020B0604020202020204" pitchFamily="34" charset="0"/>
                <a:ea typeface="SimSun" panose="02010600030101010101" pitchFamily="2" charset="-122"/>
              </a:endParaRPr>
            </a:p>
          </p:txBody>
        </p:sp>
        <p:cxnSp>
          <p:nvCxnSpPr>
            <p:cNvPr id="95279" name="AutoShape 44"/>
            <p:cNvCxnSpPr>
              <a:stCxn id="95240" idx="3"/>
              <a:endCxn id="95247" idx="1"/>
            </p:cNvCxnSpPr>
            <p:nvPr/>
          </p:nvCxnSpPr>
          <p:spPr>
            <a:xfrm>
              <a:off x="1680" y="960"/>
              <a:ext cx="720" cy="864"/>
            </a:xfrm>
            <a:prstGeom prst="straightConnector1">
              <a:avLst/>
            </a:prstGeom>
            <a:ln w="9525" cap="flat" cmpd="sng">
              <a:solidFill>
                <a:schemeClr val="tx1"/>
              </a:solidFill>
              <a:prstDash val="solid"/>
              <a:headEnd type="none" w="med" len="med"/>
              <a:tailEnd type="none" w="med" len="med"/>
            </a:ln>
          </p:spPr>
        </p:cxnSp>
      </p:grpSp>
      <p:graphicFrame>
        <p:nvGraphicFramePr>
          <p:cNvPr id="1877131" name="Object 139"/>
          <p:cNvGraphicFramePr>
            <a:graphicFrameLocks noChangeAspect="1"/>
          </p:cNvGraphicFramePr>
          <p:nvPr/>
        </p:nvGraphicFramePr>
        <p:xfrm>
          <a:off x="4495800" y="3275013"/>
          <a:ext cx="4648200" cy="839787"/>
        </p:xfrm>
        <a:graphic>
          <a:graphicData uri="http://schemas.openxmlformats.org/presentationml/2006/ole">
            <mc:AlternateContent xmlns:mc="http://schemas.openxmlformats.org/markup-compatibility/2006">
              <mc:Choice xmlns:v="urn:schemas-microsoft-com:vml" Requires="v">
                <p:oleObj spid="_x0000_s3110" name="" r:id="rId1" imgW="2667000" imgH="482600" progId="Equation.3">
                  <p:embed/>
                </p:oleObj>
              </mc:Choice>
              <mc:Fallback>
                <p:oleObj name="" r:id="rId1" imgW="2667000" imgH="482600" progId="Equation.3">
                  <p:embed/>
                  <p:pic>
                    <p:nvPicPr>
                      <p:cNvPr id="0" name="Picture 3109"/>
                      <p:cNvPicPr/>
                      <p:nvPr/>
                    </p:nvPicPr>
                    <p:blipFill>
                      <a:blip r:embed="rId2"/>
                      <a:stretch>
                        <a:fillRect/>
                      </a:stretch>
                    </p:blipFill>
                    <p:spPr>
                      <a:xfrm>
                        <a:off x="4495800" y="3275013"/>
                        <a:ext cx="4648200" cy="839787"/>
                      </a:xfrm>
                      <a:prstGeom prst="rect">
                        <a:avLst/>
                      </a:prstGeom>
                      <a:noFill/>
                      <a:ln w="38100">
                        <a:noFill/>
                        <a:miter/>
                      </a:ln>
                    </p:spPr>
                  </p:pic>
                </p:oleObj>
              </mc:Fallback>
            </mc:AlternateContent>
          </a:graphicData>
        </a:graphic>
      </p:graphicFrame>
      <p:sp>
        <p:nvSpPr>
          <p:cNvPr id="95239" name="Slide Number Placeholder 49"/>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771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2"/>
          <p:cNvSpPr>
            <a:spLocks noGrp="1"/>
          </p:cNvSpPr>
          <p:nvPr>
            <p:ph type="title" idx="4294967295"/>
          </p:nvPr>
        </p:nvSpPr>
        <p:spPr>
          <a:xfrm>
            <a:off x="0" y="304800"/>
            <a:ext cx="8915400" cy="609600"/>
          </a:xfrm>
        </p:spPr>
        <p:txBody>
          <a:bodyPr vert="horz" wrap="square" lIns="91440" tIns="45720" rIns="91440" bIns="45720" anchor="b" anchorCtr="0"/>
          <a:p>
            <a:pPr eaLnBrk="1" hangingPunct="1"/>
            <a:r>
              <a:rPr lang="en-US" altLang="zh-CN" sz="3200" dirty="0">
                <a:ea typeface="SimSun" panose="02010600030101010101" pitchFamily="2" charset="-122"/>
              </a:rPr>
              <a:t>Observation 1: Hierarchical Structures</a:t>
            </a:r>
            <a:endParaRPr lang="en-US" altLang="zh-CN" sz="3200" dirty="0">
              <a:ea typeface="SimSun" panose="02010600030101010101" pitchFamily="2" charset="-122"/>
            </a:endParaRPr>
          </a:p>
        </p:txBody>
      </p:sp>
      <p:sp>
        <p:nvSpPr>
          <p:cNvPr id="96259" name="Rectangle 3"/>
          <p:cNvSpPr>
            <a:spLocks noGrp="1"/>
          </p:cNvSpPr>
          <p:nvPr>
            <p:ph type="body" idx="4294967295"/>
          </p:nvPr>
        </p:nvSpPr>
        <p:spPr>
          <a:xfrm>
            <a:off x="304800" y="1371600"/>
            <a:ext cx="8610600" cy="762000"/>
          </a:xfrm>
        </p:spPr>
        <p:txBody>
          <a:bodyPr vert="horz" wrap="square" lIns="91440" tIns="45720" rIns="91440" bIns="45720" anchor="t" anchorCtr="0"/>
          <a:p>
            <a:pPr eaLnBrk="1" hangingPunct="1">
              <a:lnSpc>
                <a:spcPct val="90000"/>
              </a:lnSpc>
            </a:pPr>
            <a:r>
              <a:rPr lang="en-US" altLang="zh-CN" sz="2400" dirty="0">
                <a:ea typeface="SimSun" panose="02010600030101010101" pitchFamily="2" charset="-122"/>
              </a:rPr>
              <a:t>Hierarchical structures often exist naturally among objects (e.g., taxonomy of animals)</a:t>
            </a:r>
            <a:endParaRPr lang="en-US" altLang="zh-CN" sz="2400" dirty="0">
              <a:ea typeface="SimSun" panose="02010600030101010101" pitchFamily="2" charset="-122"/>
            </a:endParaRPr>
          </a:p>
          <a:p>
            <a:pPr lvl="1" eaLnBrk="1" hangingPunct="1">
              <a:lnSpc>
                <a:spcPct val="90000"/>
              </a:lnSpc>
            </a:pPr>
            <a:endParaRPr lang="en-US" altLang="zh-CN" dirty="0">
              <a:ea typeface="SimSun" panose="02010600030101010101" pitchFamily="2" charset="-122"/>
            </a:endParaRPr>
          </a:p>
        </p:txBody>
      </p:sp>
      <p:grpSp>
        <p:nvGrpSpPr>
          <p:cNvPr id="96260" name="Group 4"/>
          <p:cNvGrpSpPr/>
          <p:nvPr/>
        </p:nvGrpSpPr>
        <p:grpSpPr>
          <a:xfrm>
            <a:off x="68263" y="2286000"/>
            <a:ext cx="4427537" cy="3886200"/>
            <a:chOff x="43" y="1440"/>
            <a:chExt cx="2789" cy="2448"/>
          </a:xfrm>
        </p:grpSpPr>
        <p:sp>
          <p:nvSpPr>
            <p:cNvPr id="96270" name="Oval 5"/>
            <p:cNvSpPr/>
            <p:nvPr/>
          </p:nvSpPr>
          <p:spPr>
            <a:xfrm>
              <a:off x="1192" y="2016"/>
              <a:ext cx="488" cy="288"/>
            </a:xfrm>
            <a:prstGeom prst="ellipse">
              <a:avLst/>
            </a:prstGeom>
            <a:noFill/>
            <a:ln w="9525" cap="flat" cmpd="sng">
              <a:solidFill>
                <a:schemeClr val="tx1"/>
              </a:solidFill>
              <a:prstDash val="solid"/>
              <a:headEnd type="none" w="med" len="med"/>
              <a:tailEnd type="none" w="med" len="med"/>
            </a:ln>
          </p:spPr>
          <p:txBody>
            <a:bodyPr wrap="none" anchor="ctr" anchorCtr="0"/>
            <a:p>
              <a:r>
                <a:rPr lang="en-US" altLang="zh-CN" sz="2000" dirty="0">
                  <a:latin typeface="Times New Roman" panose="02020603050405020304" pitchFamily="18" charset="0"/>
                  <a:ea typeface="SimSun" panose="02010600030101010101" pitchFamily="2" charset="-122"/>
                </a:rPr>
                <a:t>All</a:t>
              </a:r>
              <a:endParaRPr lang="en-US" altLang="zh-CN" sz="2000" dirty="0">
                <a:latin typeface="Times New Roman" panose="02020603050405020304" pitchFamily="18" charset="0"/>
                <a:ea typeface="SimSun" panose="02010600030101010101" pitchFamily="2" charset="-122"/>
              </a:endParaRPr>
            </a:p>
          </p:txBody>
        </p:sp>
        <p:sp>
          <p:nvSpPr>
            <p:cNvPr id="96271" name="Oval 6"/>
            <p:cNvSpPr/>
            <p:nvPr/>
          </p:nvSpPr>
          <p:spPr>
            <a:xfrm>
              <a:off x="804" y="2592"/>
              <a:ext cx="732" cy="288"/>
            </a:xfrm>
            <a:prstGeom prst="ellipse">
              <a:avLst/>
            </a:prstGeom>
            <a:noFill/>
            <a:ln w="9525" cap="flat" cmpd="sng">
              <a:solidFill>
                <a:schemeClr val="tx1"/>
              </a:solidFill>
              <a:prstDash val="solid"/>
              <a:headEnd type="none" w="med" len="med"/>
              <a:tailEnd type="none" w="med" len="med"/>
            </a:ln>
          </p:spPr>
          <p:txBody>
            <a:bodyPr wrap="none" anchor="ctr" anchorCtr="0"/>
            <a:p>
              <a:r>
                <a:rPr lang="en-US" altLang="zh-CN" sz="2000" dirty="0">
                  <a:latin typeface="Times New Roman" panose="02020603050405020304" pitchFamily="18" charset="0"/>
                  <a:ea typeface="SimSun" panose="02010600030101010101" pitchFamily="2" charset="-122"/>
                </a:rPr>
                <a:t>electronics</a:t>
              </a:r>
              <a:endParaRPr lang="en-US" altLang="zh-CN" sz="2000" dirty="0">
                <a:latin typeface="Times New Roman" panose="02020603050405020304" pitchFamily="18" charset="0"/>
                <a:ea typeface="SimSun" panose="02010600030101010101" pitchFamily="2" charset="-122"/>
              </a:endParaRPr>
            </a:p>
          </p:txBody>
        </p:sp>
        <p:sp>
          <p:nvSpPr>
            <p:cNvPr id="96272" name="Oval 7"/>
            <p:cNvSpPr/>
            <p:nvPr/>
          </p:nvSpPr>
          <p:spPr>
            <a:xfrm>
              <a:off x="134" y="2592"/>
              <a:ext cx="586" cy="288"/>
            </a:xfrm>
            <a:prstGeom prst="ellipse">
              <a:avLst/>
            </a:prstGeom>
            <a:noFill/>
            <a:ln w="9525" cap="flat" cmpd="sng">
              <a:solidFill>
                <a:schemeClr val="tx1"/>
              </a:solidFill>
              <a:prstDash val="solid"/>
              <a:headEnd type="none" w="med" len="med"/>
              <a:tailEnd type="none" w="med" len="med"/>
            </a:ln>
          </p:spPr>
          <p:txBody>
            <a:bodyPr wrap="none" anchor="ctr" anchorCtr="0"/>
            <a:p>
              <a:r>
                <a:rPr lang="en-US" altLang="zh-CN" sz="2000" dirty="0">
                  <a:latin typeface="Times New Roman" panose="02020603050405020304" pitchFamily="18" charset="0"/>
                  <a:ea typeface="SimSun" panose="02010600030101010101" pitchFamily="2" charset="-122"/>
                </a:rPr>
                <a:t>grocery</a:t>
              </a:r>
              <a:endParaRPr lang="en-US" altLang="zh-CN" sz="2000" dirty="0">
                <a:latin typeface="Times New Roman" panose="02020603050405020304" pitchFamily="18" charset="0"/>
                <a:ea typeface="SimSun" panose="02010600030101010101" pitchFamily="2" charset="-122"/>
              </a:endParaRPr>
            </a:p>
          </p:txBody>
        </p:sp>
        <p:sp>
          <p:nvSpPr>
            <p:cNvPr id="96273" name="Oval 8"/>
            <p:cNvSpPr/>
            <p:nvPr/>
          </p:nvSpPr>
          <p:spPr>
            <a:xfrm>
              <a:off x="2007" y="2592"/>
              <a:ext cx="537" cy="288"/>
            </a:xfrm>
            <a:prstGeom prst="ellipse">
              <a:avLst/>
            </a:prstGeom>
            <a:noFill/>
            <a:ln w="9525" cap="flat" cmpd="sng">
              <a:solidFill>
                <a:schemeClr val="tx1"/>
              </a:solidFill>
              <a:prstDash val="solid"/>
              <a:headEnd type="none" w="med" len="med"/>
              <a:tailEnd type="none" w="med" len="med"/>
            </a:ln>
          </p:spPr>
          <p:txBody>
            <a:bodyPr wrap="none" anchor="ctr" anchorCtr="0"/>
            <a:p>
              <a:r>
                <a:rPr lang="en-US" altLang="zh-CN" sz="2000" dirty="0">
                  <a:latin typeface="Times New Roman" panose="02020603050405020304" pitchFamily="18" charset="0"/>
                  <a:ea typeface="SimSun" panose="02010600030101010101" pitchFamily="2" charset="-122"/>
                </a:rPr>
                <a:t>apparel</a:t>
              </a:r>
              <a:endParaRPr lang="en-US" altLang="zh-CN" sz="2000" dirty="0">
                <a:latin typeface="Times New Roman" panose="02020603050405020304" pitchFamily="18" charset="0"/>
                <a:ea typeface="SimSun" panose="02010600030101010101" pitchFamily="2" charset="-122"/>
              </a:endParaRPr>
            </a:p>
          </p:txBody>
        </p:sp>
        <p:sp>
          <p:nvSpPr>
            <p:cNvPr id="96274" name="Oval 9"/>
            <p:cNvSpPr/>
            <p:nvPr/>
          </p:nvSpPr>
          <p:spPr>
            <a:xfrm>
              <a:off x="1631" y="2688"/>
              <a:ext cx="49"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6275" name="Oval 10"/>
            <p:cNvSpPr/>
            <p:nvPr/>
          </p:nvSpPr>
          <p:spPr>
            <a:xfrm>
              <a:off x="1727" y="2688"/>
              <a:ext cx="49"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6276" name="Oval 11"/>
            <p:cNvSpPr/>
            <p:nvPr/>
          </p:nvSpPr>
          <p:spPr>
            <a:xfrm>
              <a:off x="1823" y="2688"/>
              <a:ext cx="49"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6277" name="Oval 12"/>
            <p:cNvSpPr/>
            <p:nvPr/>
          </p:nvSpPr>
          <p:spPr>
            <a:xfrm>
              <a:off x="808" y="3600"/>
              <a:ext cx="488" cy="288"/>
            </a:xfrm>
            <a:prstGeom prst="ellipse">
              <a:avLst/>
            </a:prstGeom>
            <a:noFill/>
            <a:ln w="9525" cap="flat" cmpd="sng">
              <a:solidFill>
                <a:schemeClr val="tx1"/>
              </a:solidFill>
              <a:prstDash val="solid"/>
              <a:headEnd type="none" w="med" len="med"/>
              <a:tailEnd type="none" w="med" len="med"/>
            </a:ln>
          </p:spPr>
          <p:txBody>
            <a:bodyPr wrap="none" anchor="ctr" anchorCtr="0"/>
            <a:p>
              <a:r>
                <a:rPr lang="en-US" altLang="zh-CN" sz="2000" dirty="0">
                  <a:latin typeface="Times New Roman" panose="02020603050405020304" pitchFamily="18" charset="0"/>
                  <a:ea typeface="SimSun" panose="02010600030101010101" pitchFamily="2" charset="-122"/>
                </a:rPr>
                <a:t>DVD</a:t>
              </a:r>
              <a:endParaRPr lang="en-US" altLang="zh-CN" sz="2000" dirty="0">
                <a:latin typeface="Times New Roman" panose="02020603050405020304" pitchFamily="18" charset="0"/>
                <a:ea typeface="SimSun" panose="02010600030101010101" pitchFamily="2" charset="-122"/>
              </a:endParaRPr>
            </a:p>
          </p:txBody>
        </p:sp>
        <p:sp>
          <p:nvSpPr>
            <p:cNvPr id="96278" name="Oval 13"/>
            <p:cNvSpPr/>
            <p:nvPr/>
          </p:nvSpPr>
          <p:spPr>
            <a:xfrm>
              <a:off x="1624" y="3600"/>
              <a:ext cx="488" cy="288"/>
            </a:xfrm>
            <a:prstGeom prst="ellipse">
              <a:avLst/>
            </a:prstGeom>
            <a:noFill/>
            <a:ln w="9525" cap="flat" cmpd="sng">
              <a:solidFill>
                <a:schemeClr val="tx1"/>
              </a:solidFill>
              <a:prstDash val="solid"/>
              <a:headEnd type="none" w="med" len="med"/>
              <a:tailEnd type="none" w="med" len="med"/>
            </a:ln>
          </p:spPr>
          <p:txBody>
            <a:bodyPr wrap="none" anchor="ctr" anchorCtr="0"/>
            <a:p>
              <a:r>
                <a:rPr lang="en-US" altLang="zh-CN" sz="2000" dirty="0">
                  <a:latin typeface="Times New Roman" panose="02020603050405020304" pitchFamily="18" charset="0"/>
                  <a:ea typeface="SimSun" panose="02010600030101010101" pitchFamily="2" charset="-122"/>
                </a:rPr>
                <a:t>camera</a:t>
              </a:r>
              <a:endParaRPr lang="en-US" altLang="zh-CN" sz="2000" dirty="0">
                <a:latin typeface="Times New Roman" panose="02020603050405020304" pitchFamily="18" charset="0"/>
                <a:ea typeface="SimSun" panose="02010600030101010101" pitchFamily="2" charset="-122"/>
              </a:endParaRPr>
            </a:p>
          </p:txBody>
        </p:sp>
        <p:sp>
          <p:nvSpPr>
            <p:cNvPr id="96279" name="Oval 14"/>
            <p:cNvSpPr/>
            <p:nvPr/>
          </p:nvSpPr>
          <p:spPr>
            <a:xfrm>
              <a:off x="1343" y="3696"/>
              <a:ext cx="49"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6280" name="Oval 15"/>
            <p:cNvSpPr/>
            <p:nvPr/>
          </p:nvSpPr>
          <p:spPr>
            <a:xfrm>
              <a:off x="1439" y="3696"/>
              <a:ext cx="49"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6281" name="Oval 16"/>
            <p:cNvSpPr/>
            <p:nvPr/>
          </p:nvSpPr>
          <p:spPr>
            <a:xfrm>
              <a:off x="1535" y="3696"/>
              <a:ext cx="49"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6282" name="Oval 17"/>
            <p:cNvSpPr/>
            <p:nvPr/>
          </p:nvSpPr>
          <p:spPr>
            <a:xfrm>
              <a:off x="280" y="3600"/>
              <a:ext cx="488" cy="288"/>
            </a:xfrm>
            <a:prstGeom prst="ellipse">
              <a:avLst/>
            </a:prstGeom>
            <a:noFill/>
            <a:ln w="9525" cap="flat" cmpd="sng">
              <a:solidFill>
                <a:schemeClr val="tx1"/>
              </a:solidFill>
              <a:prstDash val="solid"/>
              <a:headEnd type="none" w="med" len="med"/>
              <a:tailEnd type="none" w="med" len="med"/>
            </a:ln>
          </p:spPr>
          <p:txBody>
            <a:bodyPr wrap="none" anchor="ctr" anchorCtr="0"/>
            <a:p>
              <a:r>
                <a:rPr lang="en-US" altLang="zh-CN" sz="2000" dirty="0">
                  <a:latin typeface="Times New Roman" panose="02020603050405020304" pitchFamily="18" charset="0"/>
                  <a:ea typeface="SimSun" panose="02010600030101010101" pitchFamily="2" charset="-122"/>
                </a:rPr>
                <a:t>TV</a:t>
              </a:r>
              <a:endParaRPr lang="en-US" altLang="zh-CN" sz="2000" dirty="0">
                <a:latin typeface="Times New Roman" panose="02020603050405020304" pitchFamily="18" charset="0"/>
                <a:ea typeface="SimSun" panose="02010600030101010101" pitchFamily="2" charset="-122"/>
              </a:endParaRPr>
            </a:p>
          </p:txBody>
        </p:sp>
        <p:cxnSp>
          <p:nvCxnSpPr>
            <p:cNvPr id="96283" name="AutoShape 18"/>
            <p:cNvCxnSpPr>
              <a:stCxn id="96270" idx="4"/>
              <a:endCxn id="96272" idx="0"/>
            </p:cNvCxnSpPr>
            <p:nvPr/>
          </p:nvCxnSpPr>
          <p:spPr>
            <a:xfrm flipH="1">
              <a:off x="427" y="2304"/>
              <a:ext cx="1009" cy="288"/>
            </a:xfrm>
            <a:prstGeom prst="straightConnector1">
              <a:avLst/>
            </a:prstGeom>
            <a:ln w="9525" cap="flat" cmpd="sng">
              <a:solidFill>
                <a:schemeClr val="tx1"/>
              </a:solidFill>
              <a:prstDash val="solid"/>
              <a:headEnd type="none" w="med" len="med"/>
              <a:tailEnd type="triangle" w="med" len="med"/>
            </a:ln>
          </p:spPr>
        </p:cxnSp>
        <p:cxnSp>
          <p:nvCxnSpPr>
            <p:cNvPr id="96284" name="AutoShape 19"/>
            <p:cNvCxnSpPr>
              <a:stCxn id="96270" idx="4"/>
              <a:endCxn id="96271" idx="0"/>
            </p:cNvCxnSpPr>
            <p:nvPr/>
          </p:nvCxnSpPr>
          <p:spPr>
            <a:xfrm flipH="1">
              <a:off x="1170" y="2304"/>
              <a:ext cx="266" cy="288"/>
            </a:xfrm>
            <a:prstGeom prst="straightConnector1">
              <a:avLst/>
            </a:prstGeom>
            <a:ln w="9525" cap="flat" cmpd="sng">
              <a:solidFill>
                <a:schemeClr val="tx1"/>
              </a:solidFill>
              <a:prstDash val="solid"/>
              <a:headEnd type="none" w="med" len="med"/>
              <a:tailEnd type="triangle" w="med" len="med"/>
            </a:ln>
          </p:spPr>
        </p:cxnSp>
        <p:cxnSp>
          <p:nvCxnSpPr>
            <p:cNvPr id="96285" name="AutoShape 20"/>
            <p:cNvCxnSpPr>
              <a:stCxn id="96270" idx="4"/>
              <a:endCxn id="96273" idx="0"/>
            </p:cNvCxnSpPr>
            <p:nvPr/>
          </p:nvCxnSpPr>
          <p:spPr>
            <a:xfrm>
              <a:off x="1436" y="2304"/>
              <a:ext cx="840" cy="288"/>
            </a:xfrm>
            <a:prstGeom prst="straightConnector1">
              <a:avLst/>
            </a:prstGeom>
            <a:ln w="9525" cap="flat" cmpd="sng">
              <a:solidFill>
                <a:schemeClr val="tx1"/>
              </a:solidFill>
              <a:prstDash val="solid"/>
              <a:headEnd type="none" w="med" len="med"/>
              <a:tailEnd type="triangle" w="med" len="med"/>
            </a:ln>
          </p:spPr>
        </p:cxnSp>
        <p:cxnSp>
          <p:nvCxnSpPr>
            <p:cNvPr id="96286" name="AutoShape 21"/>
            <p:cNvCxnSpPr>
              <a:stCxn id="96271" idx="4"/>
              <a:endCxn id="96282" idx="0"/>
            </p:cNvCxnSpPr>
            <p:nvPr/>
          </p:nvCxnSpPr>
          <p:spPr>
            <a:xfrm flipH="1">
              <a:off x="524" y="2880"/>
              <a:ext cx="646" cy="720"/>
            </a:xfrm>
            <a:prstGeom prst="straightConnector1">
              <a:avLst/>
            </a:prstGeom>
            <a:ln w="9525" cap="flat" cmpd="sng">
              <a:solidFill>
                <a:schemeClr val="tx1"/>
              </a:solidFill>
              <a:prstDash val="solid"/>
              <a:headEnd type="none" w="med" len="med"/>
              <a:tailEnd type="triangle" w="med" len="med"/>
            </a:ln>
          </p:spPr>
        </p:cxnSp>
        <p:cxnSp>
          <p:nvCxnSpPr>
            <p:cNvPr id="96287" name="AutoShape 22"/>
            <p:cNvCxnSpPr>
              <a:stCxn id="96271" idx="4"/>
              <a:endCxn id="96277" idx="0"/>
            </p:cNvCxnSpPr>
            <p:nvPr/>
          </p:nvCxnSpPr>
          <p:spPr>
            <a:xfrm flipH="1">
              <a:off x="1052" y="2880"/>
              <a:ext cx="118" cy="720"/>
            </a:xfrm>
            <a:prstGeom prst="straightConnector1">
              <a:avLst/>
            </a:prstGeom>
            <a:ln w="9525" cap="flat" cmpd="sng">
              <a:solidFill>
                <a:schemeClr val="tx1"/>
              </a:solidFill>
              <a:prstDash val="solid"/>
              <a:headEnd type="none" w="med" len="med"/>
              <a:tailEnd type="triangle" w="med" len="med"/>
            </a:ln>
          </p:spPr>
        </p:cxnSp>
        <p:cxnSp>
          <p:nvCxnSpPr>
            <p:cNvPr id="96288" name="AutoShape 23"/>
            <p:cNvCxnSpPr>
              <a:stCxn id="96271" idx="4"/>
              <a:endCxn id="96278" idx="0"/>
            </p:cNvCxnSpPr>
            <p:nvPr/>
          </p:nvCxnSpPr>
          <p:spPr>
            <a:xfrm>
              <a:off x="1170" y="2880"/>
              <a:ext cx="698" cy="720"/>
            </a:xfrm>
            <a:prstGeom prst="straightConnector1">
              <a:avLst/>
            </a:prstGeom>
            <a:ln w="9525" cap="flat" cmpd="sng">
              <a:solidFill>
                <a:schemeClr val="tx1"/>
              </a:solidFill>
              <a:prstDash val="solid"/>
              <a:headEnd type="none" w="med" len="med"/>
              <a:tailEnd type="triangle" w="med" len="med"/>
            </a:ln>
          </p:spPr>
        </p:cxnSp>
        <p:cxnSp>
          <p:nvCxnSpPr>
            <p:cNvPr id="96289" name="AutoShape 24"/>
            <p:cNvCxnSpPr>
              <a:stCxn id="96272" idx="4"/>
            </p:cNvCxnSpPr>
            <p:nvPr/>
          </p:nvCxnSpPr>
          <p:spPr>
            <a:xfrm flipH="1">
              <a:off x="43" y="2880"/>
              <a:ext cx="384" cy="240"/>
            </a:xfrm>
            <a:prstGeom prst="straightConnector1">
              <a:avLst/>
            </a:prstGeom>
            <a:ln w="9525" cap="flat" cmpd="sng">
              <a:solidFill>
                <a:schemeClr val="tx1"/>
              </a:solidFill>
              <a:prstDash val="solid"/>
              <a:headEnd type="none" w="med" len="med"/>
              <a:tailEnd type="triangle" w="med" len="med"/>
            </a:ln>
          </p:spPr>
        </p:cxnSp>
        <p:cxnSp>
          <p:nvCxnSpPr>
            <p:cNvPr id="96290" name="AutoShape 25"/>
            <p:cNvCxnSpPr>
              <a:stCxn id="96272" idx="4"/>
            </p:cNvCxnSpPr>
            <p:nvPr/>
          </p:nvCxnSpPr>
          <p:spPr>
            <a:xfrm flipH="1">
              <a:off x="283" y="2880"/>
              <a:ext cx="144" cy="240"/>
            </a:xfrm>
            <a:prstGeom prst="straightConnector1">
              <a:avLst/>
            </a:prstGeom>
            <a:ln w="9525" cap="flat" cmpd="sng">
              <a:solidFill>
                <a:schemeClr val="tx1"/>
              </a:solidFill>
              <a:prstDash val="solid"/>
              <a:headEnd type="none" w="med" len="med"/>
              <a:tailEnd type="triangle" w="med" len="med"/>
            </a:ln>
          </p:spPr>
        </p:cxnSp>
        <p:cxnSp>
          <p:nvCxnSpPr>
            <p:cNvPr id="96291" name="AutoShape 26"/>
            <p:cNvCxnSpPr>
              <a:stCxn id="96272" idx="4"/>
            </p:cNvCxnSpPr>
            <p:nvPr/>
          </p:nvCxnSpPr>
          <p:spPr>
            <a:xfrm>
              <a:off x="427" y="2880"/>
              <a:ext cx="96" cy="240"/>
            </a:xfrm>
            <a:prstGeom prst="straightConnector1">
              <a:avLst/>
            </a:prstGeom>
            <a:ln w="9525" cap="flat" cmpd="sng">
              <a:solidFill>
                <a:schemeClr val="tx1"/>
              </a:solidFill>
              <a:prstDash val="solid"/>
              <a:headEnd type="none" w="med" len="med"/>
              <a:tailEnd type="triangle" w="med" len="med"/>
            </a:ln>
          </p:spPr>
        </p:cxnSp>
        <p:cxnSp>
          <p:nvCxnSpPr>
            <p:cNvPr id="96292" name="AutoShape 27"/>
            <p:cNvCxnSpPr>
              <a:stCxn id="96273" idx="4"/>
            </p:cNvCxnSpPr>
            <p:nvPr/>
          </p:nvCxnSpPr>
          <p:spPr>
            <a:xfrm flipH="1">
              <a:off x="1988" y="2880"/>
              <a:ext cx="288" cy="192"/>
            </a:xfrm>
            <a:prstGeom prst="straightConnector1">
              <a:avLst/>
            </a:prstGeom>
            <a:ln w="9525" cap="flat" cmpd="sng">
              <a:solidFill>
                <a:schemeClr val="tx1"/>
              </a:solidFill>
              <a:prstDash val="solid"/>
              <a:headEnd type="none" w="med" len="med"/>
              <a:tailEnd type="triangle" w="med" len="med"/>
            </a:ln>
          </p:spPr>
        </p:cxnSp>
        <p:cxnSp>
          <p:nvCxnSpPr>
            <p:cNvPr id="96293" name="AutoShape 28"/>
            <p:cNvCxnSpPr>
              <a:stCxn id="96273" idx="4"/>
            </p:cNvCxnSpPr>
            <p:nvPr/>
          </p:nvCxnSpPr>
          <p:spPr>
            <a:xfrm>
              <a:off x="2276" y="2880"/>
              <a:ext cx="0" cy="240"/>
            </a:xfrm>
            <a:prstGeom prst="straightConnector1">
              <a:avLst/>
            </a:prstGeom>
            <a:ln w="9525" cap="flat" cmpd="sng">
              <a:solidFill>
                <a:schemeClr val="tx1"/>
              </a:solidFill>
              <a:prstDash val="solid"/>
              <a:headEnd type="none" w="med" len="med"/>
              <a:tailEnd type="triangle" w="med" len="med"/>
            </a:ln>
          </p:spPr>
        </p:cxnSp>
        <p:cxnSp>
          <p:nvCxnSpPr>
            <p:cNvPr id="96294" name="AutoShape 29"/>
            <p:cNvCxnSpPr>
              <a:stCxn id="96273" idx="4"/>
            </p:cNvCxnSpPr>
            <p:nvPr/>
          </p:nvCxnSpPr>
          <p:spPr>
            <a:xfrm>
              <a:off x="2276" y="2880"/>
              <a:ext cx="336" cy="192"/>
            </a:xfrm>
            <a:prstGeom prst="straightConnector1">
              <a:avLst/>
            </a:prstGeom>
            <a:ln w="9525" cap="flat" cmpd="sng">
              <a:solidFill>
                <a:schemeClr val="tx1"/>
              </a:solidFill>
              <a:prstDash val="solid"/>
              <a:headEnd type="none" w="med" len="med"/>
              <a:tailEnd type="triangle" w="med" len="med"/>
            </a:ln>
          </p:spPr>
        </p:cxnSp>
        <p:sp>
          <p:nvSpPr>
            <p:cNvPr id="96295" name="Text Box 30"/>
            <p:cNvSpPr txBox="1"/>
            <p:nvPr/>
          </p:nvSpPr>
          <p:spPr>
            <a:xfrm>
              <a:off x="144" y="1440"/>
              <a:ext cx="2688" cy="518"/>
            </a:xfrm>
            <a:prstGeom prst="rect">
              <a:avLst/>
            </a:prstGeom>
            <a:noFill/>
            <a:ln w="9525">
              <a:noFill/>
            </a:ln>
          </p:spPr>
          <p:txBody>
            <a:bodyPr>
              <a:spAutoFit/>
            </a:bodyPr>
            <a:p>
              <a:pPr>
                <a:spcBef>
                  <a:spcPct val="50000"/>
                </a:spcBef>
              </a:pPr>
              <a:r>
                <a:rPr lang="en-US" altLang="zh-CN" dirty="0">
                  <a:latin typeface="Arial" panose="020B0604020202020204" pitchFamily="34" charset="0"/>
                  <a:ea typeface="SimSun" panose="02010600030101010101" pitchFamily="2" charset="-122"/>
                </a:rPr>
                <a:t>A hierarchical structure of products in Walmart</a:t>
              </a:r>
              <a:endParaRPr lang="en-US" altLang="zh-CN" dirty="0">
                <a:latin typeface="Arial" panose="020B0604020202020204" pitchFamily="34" charset="0"/>
                <a:ea typeface="SimSun" panose="02010600030101010101" pitchFamily="2" charset="-122"/>
              </a:endParaRPr>
            </a:p>
          </p:txBody>
        </p:sp>
      </p:grpSp>
      <p:pic>
        <p:nvPicPr>
          <p:cNvPr id="96261" name="Picture 31"/>
          <p:cNvPicPr>
            <a:picLocks noChangeAspect="1"/>
          </p:cNvPicPr>
          <p:nvPr/>
        </p:nvPicPr>
        <p:blipFill>
          <a:blip r:embed="rId1"/>
          <a:stretch>
            <a:fillRect/>
          </a:stretch>
        </p:blipFill>
        <p:spPr>
          <a:xfrm>
            <a:off x="4840288" y="3124200"/>
            <a:ext cx="3962400" cy="3135313"/>
          </a:xfrm>
          <a:prstGeom prst="rect">
            <a:avLst/>
          </a:prstGeom>
          <a:noFill/>
          <a:ln w="9525">
            <a:noFill/>
          </a:ln>
        </p:spPr>
      </p:pic>
      <p:sp>
        <p:nvSpPr>
          <p:cNvPr id="96262" name="Text Box 32"/>
          <p:cNvSpPr txBox="1"/>
          <p:nvPr/>
        </p:nvSpPr>
        <p:spPr>
          <a:xfrm rot="-5400000">
            <a:off x="3773488" y="4125913"/>
            <a:ext cx="1676400" cy="457200"/>
          </a:xfrm>
          <a:prstGeom prst="rect">
            <a:avLst/>
          </a:prstGeom>
          <a:noFill/>
          <a:ln w="9525">
            <a:noFill/>
          </a:ln>
        </p:spPr>
        <p:txBody>
          <a:bodyPr>
            <a:spAutoFit/>
          </a:bodyPr>
          <a:p>
            <a:pPr algn="l">
              <a:spcBef>
                <a:spcPct val="50000"/>
              </a:spcBef>
            </a:pPr>
            <a:r>
              <a:rPr lang="en-US" altLang="zh-CN" dirty="0">
                <a:latin typeface="Times New Roman" panose="02020603050405020304" pitchFamily="18" charset="0"/>
                <a:ea typeface="SimSun" panose="02010600030101010101" pitchFamily="2" charset="-122"/>
              </a:rPr>
              <a:t>Articles</a:t>
            </a:r>
            <a:endParaRPr lang="en-US" altLang="zh-CN" dirty="0">
              <a:latin typeface="Times New Roman" panose="02020603050405020304" pitchFamily="18" charset="0"/>
              <a:ea typeface="SimSun" panose="02010600030101010101" pitchFamily="2" charset="-122"/>
            </a:endParaRPr>
          </a:p>
        </p:txBody>
      </p:sp>
      <p:sp>
        <p:nvSpPr>
          <p:cNvPr id="96263" name="Text Box 33"/>
          <p:cNvSpPr txBox="1"/>
          <p:nvPr/>
        </p:nvSpPr>
        <p:spPr>
          <a:xfrm>
            <a:off x="6288088" y="6259513"/>
            <a:ext cx="1066800" cy="457200"/>
          </a:xfrm>
          <a:prstGeom prst="rect">
            <a:avLst/>
          </a:prstGeom>
          <a:noFill/>
          <a:ln w="9525">
            <a:noFill/>
          </a:ln>
        </p:spPr>
        <p:txBody>
          <a:bodyPr>
            <a:spAutoFit/>
          </a:bodyPr>
          <a:p>
            <a:pPr algn="l">
              <a:spcBef>
                <a:spcPct val="50000"/>
              </a:spcBef>
            </a:pPr>
            <a:r>
              <a:rPr lang="en-US" altLang="zh-CN" dirty="0">
                <a:latin typeface="Times New Roman" panose="02020603050405020304" pitchFamily="18" charset="0"/>
                <a:ea typeface="SimSun" panose="02010600030101010101" pitchFamily="2" charset="-122"/>
              </a:rPr>
              <a:t>Words</a:t>
            </a:r>
            <a:endParaRPr lang="en-US" altLang="zh-CN" dirty="0">
              <a:latin typeface="Times New Roman" panose="02020603050405020304" pitchFamily="18" charset="0"/>
              <a:ea typeface="SimSun" panose="02010600030101010101" pitchFamily="2" charset="-122"/>
            </a:endParaRPr>
          </a:p>
        </p:txBody>
      </p:sp>
      <p:sp>
        <p:nvSpPr>
          <p:cNvPr id="96264" name="Rectangle 34"/>
          <p:cNvSpPr/>
          <p:nvPr/>
        </p:nvSpPr>
        <p:spPr>
          <a:xfrm>
            <a:off x="4764088" y="4735513"/>
            <a:ext cx="931862" cy="579437"/>
          </a:xfrm>
          <a:prstGeom prst="rect">
            <a:avLst/>
          </a:prstGeom>
          <a:noFill/>
          <a:ln w="25400" cap="flat" cmpd="sng">
            <a:solidFill>
              <a:schemeClr val="tx1"/>
            </a:solidFill>
            <a:prstDash val="lgDash"/>
            <a:miter/>
            <a:headEnd type="none" w="med" len="med"/>
            <a:tailEnd type="none" w="med" len="med"/>
          </a:ln>
        </p:spPr>
        <p:txBody>
          <a:bodyPr wrap="none" anchor="ctr" anchorCtr="0"/>
          <a:p>
            <a:endParaRPr dirty="0">
              <a:latin typeface="Tahoma" panose="020B0604030504040204" pitchFamily="34" charset="0"/>
            </a:endParaRPr>
          </a:p>
        </p:txBody>
      </p:sp>
      <p:sp>
        <p:nvSpPr>
          <p:cNvPr id="96265" name="Rectangle 35"/>
          <p:cNvSpPr/>
          <p:nvPr/>
        </p:nvSpPr>
        <p:spPr>
          <a:xfrm>
            <a:off x="5602288" y="4125913"/>
            <a:ext cx="1025525" cy="620712"/>
          </a:xfrm>
          <a:prstGeom prst="rect">
            <a:avLst/>
          </a:prstGeom>
          <a:noFill/>
          <a:ln w="25400" cap="flat" cmpd="sng">
            <a:solidFill>
              <a:schemeClr val="tx1"/>
            </a:solidFill>
            <a:prstDash val="lgDash"/>
            <a:miter/>
            <a:headEnd type="none" w="med" len="med"/>
            <a:tailEnd type="none" w="med" len="med"/>
          </a:ln>
        </p:spPr>
        <p:txBody>
          <a:bodyPr wrap="none" anchor="ctr" anchorCtr="0"/>
          <a:p>
            <a:endParaRPr dirty="0">
              <a:latin typeface="Tahoma" panose="020B0604030504040204" pitchFamily="34" charset="0"/>
            </a:endParaRPr>
          </a:p>
        </p:txBody>
      </p:sp>
      <p:sp>
        <p:nvSpPr>
          <p:cNvPr id="96266" name="Rectangle 36"/>
          <p:cNvSpPr/>
          <p:nvPr/>
        </p:nvSpPr>
        <p:spPr>
          <a:xfrm>
            <a:off x="6973888" y="3194050"/>
            <a:ext cx="1865312" cy="703263"/>
          </a:xfrm>
          <a:prstGeom prst="rect">
            <a:avLst/>
          </a:prstGeom>
          <a:noFill/>
          <a:ln w="25400" cap="flat" cmpd="sng">
            <a:solidFill>
              <a:schemeClr val="tx1"/>
            </a:solidFill>
            <a:prstDash val="lgDash"/>
            <a:miter/>
            <a:headEnd type="none" w="med" len="med"/>
            <a:tailEnd type="none" w="med" len="med"/>
          </a:ln>
        </p:spPr>
        <p:txBody>
          <a:bodyPr wrap="none" anchor="ctr" anchorCtr="0"/>
          <a:p>
            <a:endParaRPr dirty="0">
              <a:latin typeface="Tahoma" panose="020B0604030504040204" pitchFamily="34" charset="0"/>
            </a:endParaRPr>
          </a:p>
        </p:txBody>
      </p:sp>
      <p:sp>
        <p:nvSpPr>
          <p:cNvPr id="96267" name="Rectangle 37"/>
          <p:cNvSpPr/>
          <p:nvPr/>
        </p:nvSpPr>
        <p:spPr>
          <a:xfrm>
            <a:off x="6583363" y="3821113"/>
            <a:ext cx="466725" cy="373062"/>
          </a:xfrm>
          <a:prstGeom prst="rect">
            <a:avLst/>
          </a:prstGeom>
          <a:noFill/>
          <a:ln w="25400" cap="flat" cmpd="sng">
            <a:solidFill>
              <a:schemeClr val="tx1"/>
            </a:solidFill>
            <a:prstDash val="lgDash"/>
            <a:miter/>
            <a:headEnd type="none" w="med" len="med"/>
            <a:tailEnd type="none" w="med" len="med"/>
          </a:ln>
        </p:spPr>
        <p:txBody>
          <a:bodyPr wrap="none" anchor="ctr" anchorCtr="0"/>
          <a:p>
            <a:endParaRPr dirty="0">
              <a:latin typeface="Tahoma" panose="020B0604030504040204" pitchFamily="34" charset="0"/>
            </a:endParaRPr>
          </a:p>
        </p:txBody>
      </p:sp>
      <p:sp>
        <p:nvSpPr>
          <p:cNvPr id="96268" name="Text Box 38"/>
          <p:cNvSpPr txBox="1"/>
          <p:nvPr/>
        </p:nvSpPr>
        <p:spPr>
          <a:xfrm>
            <a:off x="4648200" y="2057400"/>
            <a:ext cx="4267200" cy="1006475"/>
          </a:xfrm>
          <a:prstGeom prst="rect">
            <a:avLst/>
          </a:prstGeom>
          <a:noFill/>
          <a:ln w="9525">
            <a:noFill/>
          </a:ln>
        </p:spPr>
        <p:txBody>
          <a:bodyPr>
            <a:spAutoFit/>
          </a:bodyPr>
          <a:p>
            <a:r>
              <a:rPr lang="en-US" altLang="zh-CN" sz="2000" dirty="0">
                <a:latin typeface="Arial" panose="020B0604020202020204" pitchFamily="34" charset="0"/>
                <a:ea typeface="SimSun" panose="02010600030101010101" pitchFamily="2" charset="-122"/>
              </a:rPr>
              <a:t>Relationships between articles and words (Chakrabarti, Papadimitriou, Modha, Faloutsos, 2004)</a:t>
            </a:r>
            <a:endParaRPr lang="en-US" altLang="zh-CN" sz="2000" dirty="0">
              <a:latin typeface="Arial" panose="020B0604020202020204" pitchFamily="34" charset="0"/>
              <a:ea typeface="SimSun" panose="02010600030101010101" pitchFamily="2" charset="-122"/>
            </a:endParaRPr>
          </a:p>
        </p:txBody>
      </p:sp>
      <p:sp>
        <p:nvSpPr>
          <p:cNvPr id="96269" name="Slide Number Placeholder 41"/>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2"/>
          <p:cNvSpPr>
            <a:spLocks noGrp="1"/>
          </p:cNvSpPr>
          <p:nvPr>
            <p:ph type="title" idx="4294967295"/>
          </p:nvPr>
        </p:nvSpPr>
        <p:spPr>
          <a:xfrm>
            <a:off x="0" y="304800"/>
            <a:ext cx="9144000" cy="609600"/>
          </a:xfrm>
        </p:spPr>
        <p:txBody>
          <a:bodyPr vert="horz" wrap="square" lIns="91440" tIns="45720" rIns="91440" bIns="45720" anchor="b" anchorCtr="0"/>
          <a:p>
            <a:pPr eaLnBrk="1" hangingPunct="1"/>
            <a:r>
              <a:rPr lang="en-US" altLang="zh-CN" sz="3200" dirty="0">
                <a:ea typeface="SimSun" panose="02010600030101010101" pitchFamily="2" charset="-122"/>
              </a:rPr>
              <a:t>Observation 2: Distribution of Similarity</a:t>
            </a:r>
            <a:endParaRPr lang="en-US" altLang="zh-CN" sz="3200" dirty="0">
              <a:ea typeface="SimSun" panose="02010600030101010101" pitchFamily="2" charset="-122"/>
            </a:endParaRPr>
          </a:p>
        </p:txBody>
      </p:sp>
      <p:sp>
        <p:nvSpPr>
          <p:cNvPr id="97283" name="Rectangle 3"/>
          <p:cNvSpPr/>
          <p:nvPr>
            <p:ph type="body" sz="half" idx="4294967295"/>
          </p:nvPr>
        </p:nvSpPr>
        <p:spPr>
          <a:xfrm>
            <a:off x="152400" y="4267200"/>
            <a:ext cx="8839200" cy="2209800"/>
          </a:xfrm>
        </p:spPr>
        <p:txBody>
          <a:bodyPr vert="horz" wrap="square" lIns="91440" tIns="45720" rIns="91440" bIns="45720" anchor="t" anchorCtr="0"/>
          <a:lstStyle>
            <a:lvl1pPr lvl="0">
              <a:buClr>
                <a:schemeClr val="folHlink"/>
              </a:buClr>
              <a:buSzPct val="60000"/>
              <a:buFont typeface="Wingdings" panose="05000000000000000000" pitchFamily="2" charset="2"/>
              <a:defRPr sz="2400"/>
            </a:lvl1pPr>
            <a:lvl2pPr lvl="1">
              <a:buClr>
                <a:schemeClr val="hlink"/>
              </a:buClr>
              <a:buSzPct val="55000"/>
              <a:buFont typeface="Wingdings" panose="05000000000000000000" pitchFamily="2" charset="2"/>
              <a:defRPr sz="2400"/>
            </a:lvl2pPr>
            <a:lvl3pPr lvl="2">
              <a:buClr>
                <a:schemeClr val="folHlink"/>
              </a:buClr>
              <a:buSzPct val="50000"/>
              <a:buFont typeface="Wingdings" panose="05000000000000000000" pitchFamily="2" charset="2"/>
              <a:defRPr sz="2000"/>
            </a:lvl3pPr>
            <a:lvl4pPr lvl="3">
              <a:buClr>
                <a:schemeClr val="accent2"/>
              </a:buClr>
              <a:buSzPct val="55000"/>
              <a:buFont typeface="Wingdings" panose="05000000000000000000" pitchFamily="2" charset="2"/>
              <a:defRPr sz="1800"/>
            </a:lvl4pPr>
            <a:lvl5pPr lvl="4">
              <a:buClr>
                <a:schemeClr val="accent1"/>
              </a:buClr>
              <a:buSzPct val="50000"/>
              <a:buFont typeface="Wingdings" panose="05000000000000000000" pitchFamily="2" charset="2"/>
              <a:defRPr sz="1800"/>
            </a:lvl5pPr>
          </a:lstStyle>
          <a:p>
            <a:pPr lvl="0" eaLnBrk="1" hangingPunct="1"/>
            <a:r>
              <a:rPr lang="en-US" altLang="zh-CN" dirty="0">
                <a:ea typeface="SimSun" panose="02010600030101010101" pitchFamily="2" charset="-122"/>
              </a:rPr>
              <a:t>Power law distribution exists in similarities</a:t>
            </a:r>
            <a:endParaRPr lang="en-US" altLang="zh-CN" dirty="0">
              <a:ea typeface="SimSun" panose="02010600030101010101" pitchFamily="2" charset="-122"/>
            </a:endParaRPr>
          </a:p>
          <a:p>
            <a:pPr lvl="1" eaLnBrk="1" hangingPunct="1"/>
            <a:r>
              <a:rPr lang="en-US" altLang="zh-CN" dirty="0">
                <a:ea typeface="SimSun" panose="02010600030101010101" pitchFamily="2" charset="-122"/>
              </a:rPr>
              <a:t>56% of similarity entries are in [0.005, 0.015]</a:t>
            </a:r>
            <a:endParaRPr lang="en-US" altLang="zh-CN" dirty="0">
              <a:ea typeface="SimSun" panose="02010600030101010101" pitchFamily="2" charset="-122"/>
            </a:endParaRPr>
          </a:p>
          <a:p>
            <a:pPr lvl="1" eaLnBrk="1" hangingPunct="1"/>
            <a:r>
              <a:rPr lang="en-US" altLang="zh-CN" dirty="0">
                <a:ea typeface="SimSun" panose="02010600030101010101" pitchFamily="2" charset="-122"/>
              </a:rPr>
              <a:t>1.4% of similarity entries are larger than 0.1</a:t>
            </a:r>
            <a:endParaRPr lang="en-US" altLang="zh-CN" dirty="0">
              <a:ea typeface="SimSun" panose="02010600030101010101" pitchFamily="2" charset="-122"/>
            </a:endParaRPr>
          </a:p>
          <a:p>
            <a:pPr lvl="1" eaLnBrk="1" hangingPunct="1"/>
            <a:r>
              <a:rPr lang="en-US" altLang="zh-CN" dirty="0">
                <a:ea typeface="SimSun" panose="02010600030101010101" pitchFamily="2" charset="-122"/>
              </a:rPr>
              <a:t>Can we design a data structure that stores the significant similarities and compresses insignificant ones?</a:t>
            </a:r>
            <a:endParaRPr lang="en-US" altLang="zh-CN" dirty="0">
              <a:ea typeface="SimSun" panose="02010600030101010101" pitchFamily="2" charset="-122"/>
            </a:endParaRPr>
          </a:p>
        </p:txBody>
      </p:sp>
      <p:graphicFrame>
        <p:nvGraphicFramePr>
          <p:cNvPr id="97284" name="Object 4"/>
          <p:cNvGraphicFramePr>
            <a:graphicFrameLocks noChangeAspect="1"/>
          </p:cNvGraphicFramePr>
          <p:nvPr>
            <p:ph sz="half" idx="1"/>
          </p:nvPr>
        </p:nvGraphicFramePr>
        <p:xfrm>
          <a:off x="762000" y="1144588"/>
          <a:ext cx="7239000" cy="3275012"/>
        </p:xfrm>
        <a:graphic>
          <a:graphicData uri="http://schemas.openxmlformats.org/presentationml/2006/ole">
            <mc:AlternateContent xmlns:mc="http://schemas.openxmlformats.org/markup-compatibility/2006">
              <mc:Choice xmlns:v="urn:schemas-microsoft-com:vml" Requires="v">
                <p:oleObj spid="_x0000_s3111" name="" r:id="rId1" imgW="8750300" imgH="3966210" progId="Excel.Chart.8">
                  <p:embed/>
                </p:oleObj>
              </mc:Choice>
              <mc:Fallback>
                <p:oleObj name="" r:id="rId1" imgW="8750300" imgH="3966210" progId="Excel.Chart.8">
                  <p:embed/>
                  <p:pic>
                    <p:nvPicPr>
                      <p:cNvPr id="0" name="Picture 3110"/>
                      <p:cNvPicPr/>
                      <p:nvPr/>
                    </p:nvPicPr>
                    <p:blipFill>
                      <a:blip r:embed="rId2"/>
                      <a:srcRect/>
                      <a:stretch>
                        <a:fillRect/>
                      </a:stretch>
                    </p:blipFill>
                    <p:spPr>
                      <a:xfrm>
                        <a:off x="762000" y="1144588"/>
                        <a:ext cx="7239000" cy="3275012"/>
                      </a:xfrm>
                      <a:prstGeom prst="rect">
                        <a:avLst/>
                      </a:prstGeom>
                      <a:noFill/>
                      <a:ln w="38100">
                        <a:miter/>
                      </a:ln>
                    </p:spPr>
                  </p:pic>
                </p:oleObj>
              </mc:Fallback>
            </mc:AlternateContent>
          </a:graphicData>
        </a:graphic>
      </p:graphicFrame>
      <p:sp>
        <p:nvSpPr>
          <p:cNvPr id="97285" name="Text Box 5"/>
          <p:cNvSpPr txBox="1"/>
          <p:nvPr/>
        </p:nvSpPr>
        <p:spPr>
          <a:xfrm>
            <a:off x="3048000" y="1524000"/>
            <a:ext cx="4724400" cy="822325"/>
          </a:xfrm>
          <a:prstGeom prst="rect">
            <a:avLst/>
          </a:prstGeom>
          <a:noFill/>
          <a:ln w="9525">
            <a:noFill/>
          </a:ln>
        </p:spPr>
        <p:txBody>
          <a:bodyPr>
            <a:spAutoFit/>
          </a:bodyPr>
          <a:p>
            <a:pPr>
              <a:spcBef>
                <a:spcPct val="50000"/>
              </a:spcBef>
            </a:pPr>
            <a:r>
              <a:rPr lang="en-US" altLang="zh-CN" dirty="0">
                <a:latin typeface="Times New Roman" panose="02020603050405020304" pitchFamily="18" charset="0"/>
                <a:ea typeface="SimSun" panose="02010600030101010101" pitchFamily="2" charset="-122"/>
              </a:rPr>
              <a:t>Distribution of </a:t>
            </a:r>
            <a:r>
              <a:rPr lang="en-US" altLang="zh-CN" i="1" dirty="0">
                <a:latin typeface="Times New Roman" panose="02020603050405020304" pitchFamily="18" charset="0"/>
                <a:ea typeface="SimSun" panose="02010600030101010101" pitchFamily="2" charset="-122"/>
              </a:rPr>
              <a:t>SimRank</a:t>
            </a:r>
            <a:r>
              <a:rPr lang="en-US" altLang="zh-CN" dirty="0">
                <a:latin typeface="Times New Roman" panose="02020603050405020304" pitchFamily="18" charset="0"/>
                <a:ea typeface="SimSun" panose="02010600030101010101" pitchFamily="2" charset="-122"/>
              </a:rPr>
              <a:t> similarities among DBLP authors</a:t>
            </a:r>
            <a:endParaRPr lang="en-US" altLang="zh-CN" dirty="0">
              <a:latin typeface="Times New Roman" panose="02020603050405020304" pitchFamily="18" charset="0"/>
              <a:ea typeface="SimSun" panose="02010600030101010101" pitchFamily="2" charset="-122"/>
            </a:endParaRPr>
          </a:p>
        </p:txBody>
      </p:sp>
      <p:sp>
        <p:nvSpPr>
          <p:cNvPr id="97286" name="Slide Number Placeholder 8"/>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2"/>
          <p:cNvSpPr>
            <a:spLocks noGrp="1"/>
          </p:cNvSpPr>
          <p:nvPr>
            <p:ph type="title" idx="4294967295"/>
          </p:nvPr>
        </p:nvSpPr>
        <p:spPr/>
        <p:txBody>
          <a:bodyPr vert="horz" wrap="square" lIns="91440" tIns="45720" rIns="91440" bIns="45720" anchor="b" anchorCtr="0"/>
          <a:p>
            <a:pPr eaLnBrk="1" hangingPunct="1"/>
            <a:r>
              <a:rPr lang="en-US" altLang="zh-CN" dirty="0">
                <a:ea typeface="SimSun" panose="02010600030101010101" pitchFamily="2" charset="-122"/>
              </a:rPr>
              <a:t>A Novel Data Structure: SimTree</a:t>
            </a:r>
            <a:endParaRPr lang="en-US" altLang="zh-CN" dirty="0">
              <a:ea typeface="SimSun" panose="02010600030101010101" pitchFamily="2" charset="-122"/>
            </a:endParaRPr>
          </a:p>
        </p:txBody>
      </p:sp>
      <p:grpSp>
        <p:nvGrpSpPr>
          <p:cNvPr id="98307" name="Group 3"/>
          <p:cNvGrpSpPr/>
          <p:nvPr/>
        </p:nvGrpSpPr>
        <p:grpSpPr>
          <a:xfrm>
            <a:off x="2819400" y="1219200"/>
            <a:ext cx="3429000" cy="2514600"/>
            <a:chOff x="1440" y="144"/>
            <a:chExt cx="2544" cy="2016"/>
          </a:xfrm>
        </p:grpSpPr>
        <p:sp>
          <p:nvSpPr>
            <p:cNvPr id="98364" name="Oval 4"/>
            <p:cNvSpPr/>
            <p:nvPr/>
          </p:nvSpPr>
          <p:spPr>
            <a:xfrm>
              <a:off x="2624" y="1392"/>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8365" name="Oval 5"/>
            <p:cNvSpPr/>
            <p:nvPr/>
          </p:nvSpPr>
          <p:spPr>
            <a:xfrm>
              <a:off x="2432" y="1776"/>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8366" name="Oval 6"/>
            <p:cNvSpPr/>
            <p:nvPr/>
          </p:nvSpPr>
          <p:spPr>
            <a:xfrm>
              <a:off x="2816" y="1776"/>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cxnSp>
          <p:nvCxnSpPr>
            <p:cNvPr id="98367" name="AutoShape 7"/>
            <p:cNvCxnSpPr>
              <a:stCxn id="98364" idx="3"/>
              <a:endCxn id="98365" idx="0"/>
            </p:cNvCxnSpPr>
            <p:nvPr/>
          </p:nvCxnSpPr>
          <p:spPr>
            <a:xfrm flipH="1">
              <a:off x="2528" y="1556"/>
              <a:ext cx="124" cy="220"/>
            </a:xfrm>
            <a:prstGeom prst="straightConnector1">
              <a:avLst/>
            </a:prstGeom>
            <a:ln w="9525" cap="flat" cmpd="sng">
              <a:solidFill>
                <a:schemeClr val="tx1"/>
              </a:solidFill>
              <a:prstDash val="solid"/>
              <a:headEnd type="none" w="med" len="med"/>
              <a:tailEnd type="none" w="med" len="med"/>
            </a:ln>
          </p:spPr>
        </p:cxnSp>
        <p:cxnSp>
          <p:nvCxnSpPr>
            <p:cNvPr id="98368" name="AutoShape 8"/>
            <p:cNvCxnSpPr>
              <a:stCxn id="98364" idx="5"/>
              <a:endCxn id="98366" idx="0"/>
            </p:cNvCxnSpPr>
            <p:nvPr/>
          </p:nvCxnSpPr>
          <p:spPr>
            <a:xfrm>
              <a:off x="2788" y="1556"/>
              <a:ext cx="124" cy="220"/>
            </a:xfrm>
            <a:prstGeom prst="straightConnector1">
              <a:avLst/>
            </a:prstGeom>
            <a:ln w="9525" cap="flat" cmpd="sng">
              <a:solidFill>
                <a:schemeClr val="tx1"/>
              </a:solidFill>
              <a:prstDash val="solid"/>
              <a:headEnd type="none" w="med" len="med"/>
              <a:tailEnd type="none" w="med" len="med"/>
            </a:ln>
          </p:spPr>
        </p:cxnSp>
        <p:sp>
          <p:nvSpPr>
            <p:cNvPr id="98369" name="Oval 9"/>
            <p:cNvSpPr/>
            <p:nvPr/>
          </p:nvSpPr>
          <p:spPr>
            <a:xfrm rot="8706364">
              <a:off x="2068" y="1004"/>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8370" name="Oval 10"/>
            <p:cNvSpPr/>
            <p:nvPr/>
          </p:nvSpPr>
          <p:spPr>
            <a:xfrm rot="8706364">
              <a:off x="2006" y="579"/>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8371" name="Oval 11"/>
            <p:cNvSpPr/>
            <p:nvPr/>
          </p:nvSpPr>
          <p:spPr>
            <a:xfrm rot="8706364">
              <a:off x="1691" y="799"/>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cxnSp>
          <p:nvCxnSpPr>
            <p:cNvPr id="98372" name="AutoShape 12"/>
            <p:cNvCxnSpPr>
              <a:stCxn id="98369" idx="3"/>
              <a:endCxn id="98370" idx="0"/>
            </p:cNvCxnSpPr>
            <p:nvPr/>
          </p:nvCxnSpPr>
          <p:spPr>
            <a:xfrm flipH="1" flipV="1">
              <a:off x="2156" y="753"/>
              <a:ext cx="24" cy="252"/>
            </a:xfrm>
            <a:prstGeom prst="straightConnector1">
              <a:avLst/>
            </a:prstGeom>
            <a:ln w="9525" cap="flat" cmpd="sng">
              <a:solidFill>
                <a:schemeClr val="tx1"/>
              </a:solidFill>
              <a:prstDash val="solid"/>
              <a:headEnd type="none" w="med" len="med"/>
              <a:tailEnd type="none" w="med" len="med"/>
            </a:ln>
          </p:spPr>
        </p:cxnSp>
        <p:cxnSp>
          <p:nvCxnSpPr>
            <p:cNvPr id="98373" name="AutoShape 13"/>
            <p:cNvCxnSpPr>
              <a:stCxn id="98369" idx="5"/>
              <a:endCxn id="98371" idx="0"/>
            </p:cNvCxnSpPr>
            <p:nvPr/>
          </p:nvCxnSpPr>
          <p:spPr>
            <a:xfrm flipH="1" flipV="1">
              <a:off x="1841" y="973"/>
              <a:ext cx="228" cy="110"/>
            </a:xfrm>
            <a:prstGeom prst="straightConnector1">
              <a:avLst/>
            </a:prstGeom>
            <a:ln w="9525" cap="flat" cmpd="sng">
              <a:solidFill>
                <a:schemeClr val="tx1"/>
              </a:solidFill>
              <a:prstDash val="solid"/>
              <a:headEnd type="none" w="med" len="med"/>
              <a:tailEnd type="none" w="med" len="med"/>
            </a:ln>
          </p:spPr>
        </p:cxnSp>
        <p:sp>
          <p:nvSpPr>
            <p:cNvPr id="98374" name="Oval 14"/>
            <p:cNvSpPr/>
            <p:nvPr/>
          </p:nvSpPr>
          <p:spPr>
            <a:xfrm rot="-8230754">
              <a:off x="3212" y="988"/>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8375" name="Oval 15"/>
            <p:cNvSpPr/>
            <p:nvPr/>
          </p:nvSpPr>
          <p:spPr>
            <a:xfrm rot="-8230754">
              <a:off x="3614" y="837"/>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8376" name="Oval 16"/>
            <p:cNvSpPr/>
            <p:nvPr/>
          </p:nvSpPr>
          <p:spPr>
            <a:xfrm rot="-8230754">
              <a:off x="3332" y="576"/>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cxnSp>
          <p:nvCxnSpPr>
            <p:cNvPr id="98377" name="AutoShape 17"/>
            <p:cNvCxnSpPr>
              <a:stCxn id="98374" idx="3"/>
              <a:endCxn id="98375" idx="0"/>
            </p:cNvCxnSpPr>
            <p:nvPr/>
          </p:nvCxnSpPr>
          <p:spPr>
            <a:xfrm flipV="1">
              <a:off x="3403" y="1003"/>
              <a:ext cx="241" cy="77"/>
            </a:xfrm>
            <a:prstGeom prst="straightConnector1">
              <a:avLst/>
            </a:prstGeom>
            <a:ln w="9525" cap="flat" cmpd="sng">
              <a:solidFill>
                <a:schemeClr val="tx1"/>
              </a:solidFill>
              <a:prstDash val="solid"/>
              <a:headEnd type="none" w="med" len="med"/>
              <a:tailEnd type="none" w="med" len="med"/>
            </a:ln>
          </p:spPr>
        </p:cxnSp>
        <p:cxnSp>
          <p:nvCxnSpPr>
            <p:cNvPr id="98378" name="AutoShape 18"/>
            <p:cNvCxnSpPr>
              <a:stCxn id="98374" idx="5"/>
              <a:endCxn id="98376" idx="0"/>
            </p:cNvCxnSpPr>
            <p:nvPr/>
          </p:nvCxnSpPr>
          <p:spPr>
            <a:xfrm flipV="1">
              <a:off x="3304" y="742"/>
              <a:ext cx="58" cy="246"/>
            </a:xfrm>
            <a:prstGeom prst="straightConnector1">
              <a:avLst/>
            </a:prstGeom>
            <a:ln w="9525" cap="flat" cmpd="sng">
              <a:solidFill>
                <a:schemeClr val="tx1"/>
              </a:solidFill>
              <a:prstDash val="solid"/>
              <a:headEnd type="none" w="med" len="med"/>
              <a:tailEnd type="none" w="med" len="med"/>
            </a:ln>
          </p:spPr>
        </p:cxnSp>
        <p:cxnSp>
          <p:nvCxnSpPr>
            <p:cNvPr id="98379" name="AutoShape 19"/>
            <p:cNvCxnSpPr>
              <a:stCxn id="98371" idx="2"/>
              <a:endCxn id="98370" idx="6"/>
            </p:cNvCxnSpPr>
            <p:nvPr/>
          </p:nvCxnSpPr>
          <p:spPr>
            <a:xfrm flipV="1">
              <a:off x="1865" y="729"/>
              <a:ext cx="158" cy="111"/>
            </a:xfrm>
            <a:prstGeom prst="straightConnector1">
              <a:avLst/>
            </a:prstGeom>
            <a:ln w="9525" cap="flat" cmpd="sng">
              <a:solidFill>
                <a:schemeClr val="tx1"/>
              </a:solidFill>
              <a:prstDash val="solid"/>
              <a:headEnd type="none" w="med" len="med"/>
              <a:tailEnd type="none" w="med" len="med"/>
            </a:ln>
          </p:spPr>
        </p:cxnSp>
        <p:cxnSp>
          <p:nvCxnSpPr>
            <p:cNvPr id="98380" name="AutoShape 20"/>
            <p:cNvCxnSpPr>
              <a:stCxn id="98376" idx="2"/>
              <a:endCxn id="98375" idx="6"/>
            </p:cNvCxnSpPr>
            <p:nvPr/>
          </p:nvCxnSpPr>
          <p:spPr>
            <a:xfrm>
              <a:off x="3498" y="737"/>
              <a:ext cx="141" cy="130"/>
            </a:xfrm>
            <a:prstGeom prst="straightConnector1">
              <a:avLst/>
            </a:prstGeom>
            <a:ln w="9525" cap="flat" cmpd="sng">
              <a:solidFill>
                <a:schemeClr val="tx1"/>
              </a:solidFill>
              <a:prstDash val="solid"/>
              <a:headEnd type="none" w="med" len="med"/>
              <a:tailEnd type="none" w="med" len="med"/>
            </a:ln>
          </p:spPr>
        </p:cxnSp>
        <p:cxnSp>
          <p:nvCxnSpPr>
            <p:cNvPr id="98381" name="AutoShape 21"/>
            <p:cNvCxnSpPr>
              <a:stCxn id="98365" idx="6"/>
              <a:endCxn id="98366" idx="2"/>
            </p:cNvCxnSpPr>
            <p:nvPr/>
          </p:nvCxnSpPr>
          <p:spPr>
            <a:xfrm>
              <a:off x="2624" y="1872"/>
              <a:ext cx="192" cy="0"/>
            </a:xfrm>
            <a:prstGeom prst="straightConnector1">
              <a:avLst/>
            </a:prstGeom>
            <a:ln w="9525" cap="flat" cmpd="sng">
              <a:solidFill>
                <a:schemeClr val="tx1"/>
              </a:solidFill>
              <a:prstDash val="solid"/>
              <a:headEnd type="none" w="med" len="med"/>
              <a:tailEnd type="none" w="med" len="med"/>
            </a:ln>
          </p:spPr>
        </p:cxnSp>
        <p:sp>
          <p:nvSpPr>
            <p:cNvPr id="98382" name="Oval 22"/>
            <p:cNvSpPr/>
            <p:nvPr/>
          </p:nvSpPr>
          <p:spPr>
            <a:xfrm>
              <a:off x="1616" y="480"/>
              <a:ext cx="768" cy="816"/>
            </a:xfrm>
            <a:prstGeom prst="ellipse">
              <a:avLst/>
            </a:prstGeom>
            <a:noFill/>
            <a:ln w="9525" cap="flat" cmpd="sng">
              <a:solidFill>
                <a:schemeClr val="tx1"/>
              </a:solidFill>
              <a:prstDash val="lgDash"/>
              <a:headEnd type="none" w="med" len="med"/>
              <a:tailEnd type="none" w="med" len="med"/>
            </a:ln>
          </p:spPr>
          <p:txBody>
            <a:bodyPr wrap="none" anchor="ctr" anchorCtr="0"/>
            <a:p>
              <a:endParaRPr dirty="0">
                <a:latin typeface="Tahoma" panose="020B0604030504040204" pitchFamily="34" charset="0"/>
              </a:endParaRPr>
            </a:p>
          </p:txBody>
        </p:sp>
        <p:sp>
          <p:nvSpPr>
            <p:cNvPr id="98383" name="Oval 23"/>
            <p:cNvSpPr/>
            <p:nvPr/>
          </p:nvSpPr>
          <p:spPr>
            <a:xfrm>
              <a:off x="3072" y="480"/>
              <a:ext cx="768" cy="816"/>
            </a:xfrm>
            <a:prstGeom prst="ellipse">
              <a:avLst/>
            </a:prstGeom>
            <a:noFill/>
            <a:ln w="9525" cap="flat" cmpd="sng">
              <a:solidFill>
                <a:schemeClr val="tx1"/>
              </a:solidFill>
              <a:prstDash val="lgDash"/>
              <a:headEnd type="none" w="med" len="med"/>
              <a:tailEnd type="none" w="med" len="med"/>
            </a:ln>
          </p:spPr>
          <p:txBody>
            <a:bodyPr wrap="none" anchor="ctr" anchorCtr="0"/>
            <a:p>
              <a:endParaRPr dirty="0">
                <a:latin typeface="Tahoma" panose="020B0604030504040204" pitchFamily="34" charset="0"/>
              </a:endParaRPr>
            </a:p>
          </p:txBody>
        </p:sp>
        <p:sp>
          <p:nvSpPr>
            <p:cNvPr id="98384" name="Oval 24"/>
            <p:cNvSpPr/>
            <p:nvPr/>
          </p:nvSpPr>
          <p:spPr>
            <a:xfrm>
              <a:off x="2336" y="1344"/>
              <a:ext cx="768" cy="768"/>
            </a:xfrm>
            <a:prstGeom prst="ellipse">
              <a:avLst/>
            </a:prstGeom>
            <a:noFill/>
            <a:ln w="9525" cap="flat" cmpd="sng">
              <a:solidFill>
                <a:schemeClr val="tx1"/>
              </a:solidFill>
              <a:prstDash val="lgDash"/>
              <a:headEnd type="none" w="med" len="med"/>
              <a:tailEnd type="none" w="med" len="med"/>
            </a:ln>
          </p:spPr>
          <p:txBody>
            <a:bodyPr wrap="none" anchor="ctr" anchorCtr="0"/>
            <a:p>
              <a:endParaRPr dirty="0">
                <a:latin typeface="Tahoma" panose="020B0604030504040204" pitchFamily="34" charset="0"/>
              </a:endParaRPr>
            </a:p>
          </p:txBody>
        </p:sp>
        <p:cxnSp>
          <p:nvCxnSpPr>
            <p:cNvPr id="98385" name="AutoShape 25"/>
            <p:cNvCxnSpPr>
              <a:stCxn id="98382" idx="6"/>
              <a:endCxn id="98383" idx="2"/>
            </p:cNvCxnSpPr>
            <p:nvPr/>
          </p:nvCxnSpPr>
          <p:spPr>
            <a:xfrm>
              <a:off x="2384" y="888"/>
              <a:ext cx="688" cy="0"/>
            </a:xfrm>
            <a:prstGeom prst="straightConnector1">
              <a:avLst/>
            </a:prstGeom>
            <a:ln w="9525" cap="flat" cmpd="sng">
              <a:solidFill>
                <a:schemeClr val="tx1"/>
              </a:solidFill>
              <a:prstDash val="solid"/>
              <a:headEnd type="none" w="med" len="med"/>
              <a:tailEnd type="none" w="med" len="med"/>
            </a:ln>
          </p:spPr>
        </p:cxnSp>
        <p:cxnSp>
          <p:nvCxnSpPr>
            <p:cNvPr id="98386" name="AutoShape 26"/>
            <p:cNvCxnSpPr>
              <a:stCxn id="98382" idx="5"/>
              <a:endCxn id="98384" idx="1"/>
            </p:cNvCxnSpPr>
            <p:nvPr/>
          </p:nvCxnSpPr>
          <p:spPr>
            <a:xfrm>
              <a:off x="2272" y="1177"/>
              <a:ext cx="176" cy="279"/>
            </a:xfrm>
            <a:prstGeom prst="straightConnector1">
              <a:avLst/>
            </a:prstGeom>
            <a:ln w="9525" cap="flat" cmpd="sng">
              <a:solidFill>
                <a:schemeClr val="tx1"/>
              </a:solidFill>
              <a:prstDash val="solid"/>
              <a:headEnd type="none" w="med" len="med"/>
              <a:tailEnd type="none" w="med" len="med"/>
            </a:ln>
          </p:spPr>
        </p:cxnSp>
        <p:cxnSp>
          <p:nvCxnSpPr>
            <p:cNvPr id="98387" name="AutoShape 27"/>
            <p:cNvCxnSpPr>
              <a:stCxn id="98383" idx="3"/>
              <a:endCxn id="98384" idx="7"/>
            </p:cNvCxnSpPr>
            <p:nvPr/>
          </p:nvCxnSpPr>
          <p:spPr>
            <a:xfrm flipH="1">
              <a:off x="2992" y="1177"/>
              <a:ext cx="192" cy="279"/>
            </a:xfrm>
            <a:prstGeom prst="straightConnector1">
              <a:avLst/>
            </a:prstGeom>
            <a:ln w="9525" cap="flat" cmpd="sng">
              <a:solidFill>
                <a:schemeClr val="tx1"/>
              </a:solidFill>
              <a:prstDash val="solid"/>
              <a:headEnd type="none" w="med" len="med"/>
              <a:tailEnd type="none" w="med" len="med"/>
            </a:ln>
          </p:spPr>
        </p:cxnSp>
        <p:sp>
          <p:nvSpPr>
            <p:cNvPr id="98388" name="Oval 28"/>
            <p:cNvSpPr/>
            <p:nvPr/>
          </p:nvSpPr>
          <p:spPr>
            <a:xfrm>
              <a:off x="1440" y="144"/>
              <a:ext cx="2544" cy="2016"/>
            </a:xfrm>
            <a:prstGeom prst="ellipse">
              <a:avLst/>
            </a:prstGeom>
            <a:noFill/>
            <a:ln w="9525" cap="flat" cmpd="sng">
              <a:solidFill>
                <a:schemeClr val="tx1"/>
              </a:solidFill>
              <a:prstDash val="lgDash"/>
              <a:headEnd type="none" w="med" len="med"/>
              <a:tailEnd type="none" w="med" len="med"/>
            </a:ln>
          </p:spPr>
          <p:txBody>
            <a:bodyPr wrap="none" anchor="ctr" anchorCtr="0"/>
            <a:p>
              <a:endParaRPr dirty="0">
                <a:latin typeface="Tahoma" panose="020B0604030504040204" pitchFamily="34" charset="0"/>
              </a:endParaRPr>
            </a:p>
          </p:txBody>
        </p:sp>
      </p:grpSp>
      <p:cxnSp>
        <p:nvCxnSpPr>
          <p:cNvPr id="98308" name="AutoShape 29"/>
          <p:cNvCxnSpPr>
            <a:stCxn id="98388" idx="3"/>
            <a:endCxn id="98348" idx="1"/>
          </p:cNvCxnSpPr>
          <p:nvPr/>
        </p:nvCxnSpPr>
        <p:spPr>
          <a:xfrm flipH="1">
            <a:off x="2697163" y="3365500"/>
            <a:ext cx="623887" cy="477838"/>
          </a:xfrm>
          <a:prstGeom prst="straightConnector1">
            <a:avLst/>
          </a:prstGeom>
          <a:ln w="9525" cap="flat" cmpd="sng">
            <a:solidFill>
              <a:schemeClr val="tx1"/>
            </a:solidFill>
            <a:prstDash val="solid"/>
            <a:headEnd type="none" w="med" len="med"/>
            <a:tailEnd type="none" w="med" len="med"/>
          </a:ln>
        </p:spPr>
      </p:cxnSp>
      <p:grpSp>
        <p:nvGrpSpPr>
          <p:cNvPr id="98309" name="Group 30"/>
          <p:cNvGrpSpPr/>
          <p:nvPr/>
        </p:nvGrpSpPr>
        <p:grpSpPr>
          <a:xfrm rot="2535540">
            <a:off x="1589088" y="4044950"/>
            <a:ext cx="2751137" cy="1905000"/>
            <a:chOff x="1248" y="2784"/>
            <a:chExt cx="1968" cy="1392"/>
          </a:xfrm>
        </p:grpSpPr>
        <p:sp>
          <p:nvSpPr>
            <p:cNvPr id="98348" name="Oval 31"/>
            <p:cNvSpPr/>
            <p:nvPr/>
          </p:nvSpPr>
          <p:spPr>
            <a:xfrm>
              <a:off x="1248" y="2784"/>
              <a:ext cx="1968" cy="1392"/>
            </a:xfrm>
            <a:prstGeom prst="ellipse">
              <a:avLst/>
            </a:prstGeom>
            <a:noFill/>
            <a:ln w="9525" cap="flat" cmpd="sng">
              <a:solidFill>
                <a:schemeClr val="tx1"/>
              </a:solidFill>
              <a:prstDash val="lgDash"/>
              <a:headEnd type="none" w="med" len="med"/>
              <a:tailEnd type="none" w="med" len="med"/>
            </a:ln>
          </p:spPr>
          <p:txBody>
            <a:bodyPr wrap="none" anchor="ctr" anchorCtr="0"/>
            <a:p>
              <a:endParaRPr dirty="0">
                <a:latin typeface="Tahoma" panose="020B0604030504040204" pitchFamily="34" charset="0"/>
              </a:endParaRPr>
            </a:p>
          </p:txBody>
        </p:sp>
        <p:sp>
          <p:nvSpPr>
            <p:cNvPr id="98349" name="Oval 32"/>
            <p:cNvSpPr/>
            <p:nvPr/>
          </p:nvSpPr>
          <p:spPr>
            <a:xfrm rot="8706364">
              <a:off x="1748" y="3596"/>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8350" name="Oval 33"/>
            <p:cNvSpPr/>
            <p:nvPr/>
          </p:nvSpPr>
          <p:spPr>
            <a:xfrm rot="8706364">
              <a:off x="1686" y="3171"/>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8351" name="Oval 34"/>
            <p:cNvSpPr/>
            <p:nvPr/>
          </p:nvSpPr>
          <p:spPr>
            <a:xfrm rot="8706364">
              <a:off x="1371" y="3391"/>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cxnSp>
          <p:nvCxnSpPr>
            <p:cNvPr id="98352" name="AutoShape 35"/>
            <p:cNvCxnSpPr>
              <a:stCxn id="98349" idx="3"/>
              <a:endCxn id="98350" idx="0"/>
            </p:cNvCxnSpPr>
            <p:nvPr/>
          </p:nvCxnSpPr>
          <p:spPr>
            <a:xfrm flipH="1" flipV="1">
              <a:off x="1836" y="3345"/>
              <a:ext cx="24" cy="252"/>
            </a:xfrm>
            <a:prstGeom prst="straightConnector1">
              <a:avLst/>
            </a:prstGeom>
            <a:ln w="9525" cap="flat" cmpd="sng">
              <a:solidFill>
                <a:schemeClr val="tx1"/>
              </a:solidFill>
              <a:prstDash val="solid"/>
              <a:headEnd type="none" w="med" len="med"/>
              <a:tailEnd type="none" w="med" len="med"/>
            </a:ln>
          </p:spPr>
        </p:cxnSp>
        <p:cxnSp>
          <p:nvCxnSpPr>
            <p:cNvPr id="98353" name="AutoShape 36"/>
            <p:cNvCxnSpPr>
              <a:stCxn id="98349" idx="5"/>
              <a:endCxn id="98351" idx="0"/>
            </p:cNvCxnSpPr>
            <p:nvPr/>
          </p:nvCxnSpPr>
          <p:spPr>
            <a:xfrm flipH="1" flipV="1">
              <a:off x="1521" y="3565"/>
              <a:ext cx="228" cy="110"/>
            </a:xfrm>
            <a:prstGeom prst="straightConnector1">
              <a:avLst/>
            </a:prstGeom>
            <a:ln w="9525" cap="flat" cmpd="sng">
              <a:solidFill>
                <a:schemeClr val="tx1"/>
              </a:solidFill>
              <a:prstDash val="solid"/>
              <a:headEnd type="none" w="med" len="med"/>
              <a:tailEnd type="none" w="med" len="med"/>
            </a:ln>
          </p:spPr>
        </p:cxnSp>
        <p:sp>
          <p:nvSpPr>
            <p:cNvPr id="98354" name="Oval 37"/>
            <p:cNvSpPr/>
            <p:nvPr/>
          </p:nvSpPr>
          <p:spPr>
            <a:xfrm rot="-8230754">
              <a:off x="2540" y="3580"/>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8355" name="Oval 38"/>
            <p:cNvSpPr/>
            <p:nvPr/>
          </p:nvSpPr>
          <p:spPr>
            <a:xfrm rot="-8230754">
              <a:off x="2942" y="3429"/>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8356" name="Oval 39"/>
            <p:cNvSpPr/>
            <p:nvPr/>
          </p:nvSpPr>
          <p:spPr>
            <a:xfrm rot="-8230754">
              <a:off x="2660" y="3168"/>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cxnSp>
          <p:nvCxnSpPr>
            <p:cNvPr id="98357" name="AutoShape 40"/>
            <p:cNvCxnSpPr>
              <a:stCxn id="98354" idx="3"/>
              <a:endCxn id="98355" idx="0"/>
            </p:cNvCxnSpPr>
            <p:nvPr/>
          </p:nvCxnSpPr>
          <p:spPr>
            <a:xfrm flipV="1">
              <a:off x="2731" y="3595"/>
              <a:ext cx="241" cy="77"/>
            </a:xfrm>
            <a:prstGeom prst="straightConnector1">
              <a:avLst/>
            </a:prstGeom>
            <a:ln w="9525" cap="flat" cmpd="sng">
              <a:solidFill>
                <a:schemeClr val="tx1"/>
              </a:solidFill>
              <a:prstDash val="solid"/>
              <a:headEnd type="none" w="med" len="med"/>
              <a:tailEnd type="none" w="med" len="med"/>
            </a:ln>
          </p:spPr>
        </p:cxnSp>
        <p:cxnSp>
          <p:nvCxnSpPr>
            <p:cNvPr id="98358" name="AutoShape 41"/>
            <p:cNvCxnSpPr>
              <a:stCxn id="98354" idx="5"/>
              <a:endCxn id="98356" idx="0"/>
            </p:cNvCxnSpPr>
            <p:nvPr/>
          </p:nvCxnSpPr>
          <p:spPr>
            <a:xfrm flipV="1">
              <a:off x="2632" y="3334"/>
              <a:ext cx="58" cy="246"/>
            </a:xfrm>
            <a:prstGeom prst="straightConnector1">
              <a:avLst/>
            </a:prstGeom>
            <a:ln w="9525" cap="flat" cmpd="sng">
              <a:solidFill>
                <a:schemeClr val="tx1"/>
              </a:solidFill>
              <a:prstDash val="solid"/>
              <a:headEnd type="none" w="med" len="med"/>
              <a:tailEnd type="none" w="med" len="med"/>
            </a:ln>
          </p:spPr>
        </p:cxnSp>
        <p:cxnSp>
          <p:nvCxnSpPr>
            <p:cNvPr id="98359" name="AutoShape 42"/>
            <p:cNvCxnSpPr>
              <a:stCxn id="98351" idx="2"/>
              <a:endCxn id="98350" idx="6"/>
            </p:cNvCxnSpPr>
            <p:nvPr/>
          </p:nvCxnSpPr>
          <p:spPr>
            <a:xfrm flipV="1">
              <a:off x="1545" y="3321"/>
              <a:ext cx="158" cy="111"/>
            </a:xfrm>
            <a:prstGeom prst="straightConnector1">
              <a:avLst/>
            </a:prstGeom>
            <a:ln w="9525" cap="flat" cmpd="sng">
              <a:solidFill>
                <a:schemeClr val="tx1"/>
              </a:solidFill>
              <a:prstDash val="solid"/>
              <a:headEnd type="none" w="med" len="med"/>
              <a:tailEnd type="none" w="med" len="med"/>
            </a:ln>
          </p:spPr>
        </p:cxnSp>
        <p:cxnSp>
          <p:nvCxnSpPr>
            <p:cNvPr id="98360" name="AutoShape 43"/>
            <p:cNvCxnSpPr>
              <a:stCxn id="98356" idx="2"/>
              <a:endCxn id="98355" idx="6"/>
            </p:cNvCxnSpPr>
            <p:nvPr/>
          </p:nvCxnSpPr>
          <p:spPr>
            <a:xfrm>
              <a:off x="2826" y="3329"/>
              <a:ext cx="141" cy="130"/>
            </a:xfrm>
            <a:prstGeom prst="straightConnector1">
              <a:avLst/>
            </a:prstGeom>
            <a:ln w="9525" cap="flat" cmpd="sng">
              <a:solidFill>
                <a:schemeClr val="tx1"/>
              </a:solidFill>
              <a:prstDash val="solid"/>
              <a:headEnd type="none" w="med" len="med"/>
              <a:tailEnd type="none" w="med" len="med"/>
            </a:ln>
          </p:spPr>
        </p:cxnSp>
        <p:sp>
          <p:nvSpPr>
            <p:cNvPr id="98361" name="Oval 44"/>
            <p:cNvSpPr/>
            <p:nvPr/>
          </p:nvSpPr>
          <p:spPr>
            <a:xfrm>
              <a:off x="1296" y="3072"/>
              <a:ext cx="768" cy="816"/>
            </a:xfrm>
            <a:prstGeom prst="ellipse">
              <a:avLst/>
            </a:prstGeom>
            <a:noFill/>
            <a:ln w="9525" cap="flat" cmpd="sng">
              <a:solidFill>
                <a:schemeClr val="tx1"/>
              </a:solidFill>
              <a:prstDash val="lgDash"/>
              <a:headEnd type="none" w="med" len="med"/>
              <a:tailEnd type="none" w="med" len="med"/>
            </a:ln>
          </p:spPr>
          <p:txBody>
            <a:bodyPr wrap="none" anchor="ctr" anchorCtr="0"/>
            <a:p>
              <a:endParaRPr dirty="0">
                <a:latin typeface="Tahoma" panose="020B0604030504040204" pitchFamily="34" charset="0"/>
              </a:endParaRPr>
            </a:p>
          </p:txBody>
        </p:sp>
        <p:sp>
          <p:nvSpPr>
            <p:cNvPr id="98362" name="Oval 45"/>
            <p:cNvSpPr/>
            <p:nvPr/>
          </p:nvSpPr>
          <p:spPr>
            <a:xfrm>
              <a:off x="2400" y="3072"/>
              <a:ext cx="768" cy="816"/>
            </a:xfrm>
            <a:prstGeom prst="ellipse">
              <a:avLst/>
            </a:prstGeom>
            <a:noFill/>
            <a:ln w="9525" cap="flat" cmpd="sng">
              <a:solidFill>
                <a:schemeClr val="tx1"/>
              </a:solidFill>
              <a:prstDash val="lgDash"/>
              <a:headEnd type="none" w="med" len="med"/>
              <a:tailEnd type="none" w="med" len="med"/>
            </a:ln>
          </p:spPr>
          <p:txBody>
            <a:bodyPr wrap="none" anchor="ctr" anchorCtr="0"/>
            <a:p>
              <a:endParaRPr dirty="0">
                <a:latin typeface="Tahoma" panose="020B0604030504040204" pitchFamily="34" charset="0"/>
              </a:endParaRPr>
            </a:p>
          </p:txBody>
        </p:sp>
        <p:cxnSp>
          <p:nvCxnSpPr>
            <p:cNvPr id="98363" name="AutoShape 46"/>
            <p:cNvCxnSpPr>
              <a:stCxn id="98361" idx="6"/>
              <a:endCxn id="98362" idx="2"/>
            </p:cNvCxnSpPr>
            <p:nvPr/>
          </p:nvCxnSpPr>
          <p:spPr>
            <a:xfrm>
              <a:off x="2064" y="3480"/>
              <a:ext cx="336" cy="0"/>
            </a:xfrm>
            <a:prstGeom prst="straightConnector1">
              <a:avLst/>
            </a:prstGeom>
            <a:ln w="9525" cap="flat" cmpd="sng">
              <a:solidFill>
                <a:schemeClr val="tx1"/>
              </a:solidFill>
              <a:prstDash val="solid"/>
              <a:headEnd type="none" w="med" len="med"/>
              <a:tailEnd type="none" w="med" len="med"/>
            </a:ln>
          </p:spPr>
        </p:cxnSp>
      </p:grpSp>
      <p:grpSp>
        <p:nvGrpSpPr>
          <p:cNvPr id="98310" name="Group 47"/>
          <p:cNvGrpSpPr/>
          <p:nvPr/>
        </p:nvGrpSpPr>
        <p:grpSpPr>
          <a:xfrm rot="-2814623">
            <a:off x="4832350" y="3946525"/>
            <a:ext cx="2746375" cy="1863725"/>
            <a:chOff x="1248" y="2784"/>
            <a:chExt cx="1968" cy="1392"/>
          </a:xfrm>
        </p:grpSpPr>
        <p:sp>
          <p:nvSpPr>
            <p:cNvPr id="98332" name="Oval 48"/>
            <p:cNvSpPr/>
            <p:nvPr/>
          </p:nvSpPr>
          <p:spPr>
            <a:xfrm>
              <a:off x="1248" y="2784"/>
              <a:ext cx="1968" cy="1392"/>
            </a:xfrm>
            <a:prstGeom prst="ellipse">
              <a:avLst/>
            </a:prstGeom>
            <a:noFill/>
            <a:ln w="9525" cap="flat" cmpd="sng">
              <a:solidFill>
                <a:schemeClr val="tx1"/>
              </a:solidFill>
              <a:prstDash val="lgDash"/>
              <a:headEnd type="none" w="med" len="med"/>
              <a:tailEnd type="none" w="med" len="med"/>
            </a:ln>
          </p:spPr>
          <p:txBody>
            <a:bodyPr wrap="none" anchor="ctr" anchorCtr="0"/>
            <a:p>
              <a:endParaRPr dirty="0">
                <a:latin typeface="Tahoma" panose="020B0604030504040204" pitchFamily="34" charset="0"/>
              </a:endParaRPr>
            </a:p>
          </p:txBody>
        </p:sp>
        <p:sp>
          <p:nvSpPr>
            <p:cNvPr id="98333" name="Oval 49"/>
            <p:cNvSpPr/>
            <p:nvPr/>
          </p:nvSpPr>
          <p:spPr>
            <a:xfrm rot="8706364">
              <a:off x="1748" y="3596"/>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8334" name="Oval 50"/>
            <p:cNvSpPr/>
            <p:nvPr/>
          </p:nvSpPr>
          <p:spPr>
            <a:xfrm rot="8706364">
              <a:off x="1686" y="3171"/>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8335" name="Oval 51"/>
            <p:cNvSpPr/>
            <p:nvPr/>
          </p:nvSpPr>
          <p:spPr>
            <a:xfrm rot="8706364">
              <a:off x="1371" y="3391"/>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cxnSp>
          <p:nvCxnSpPr>
            <p:cNvPr id="98336" name="AutoShape 52"/>
            <p:cNvCxnSpPr>
              <a:stCxn id="98333" idx="3"/>
              <a:endCxn id="98334" idx="0"/>
            </p:cNvCxnSpPr>
            <p:nvPr/>
          </p:nvCxnSpPr>
          <p:spPr>
            <a:xfrm flipH="1" flipV="1">
              <a:off x="1836" y="3345"/>
              <a:ext cx="24" cy="252"/>
            </a:xfrm>
            <a:prstGeom prst="straightConnector1">
              <a:avLst/>
            </a:prstGeom>
            <a:ln w="9525" cap="flat" cmpd="sng">
              <a:solidFill>
                <a:schemeClr val="tx1"/>
              </a:solidFill>
              <a:prstDash val="solid"/>
              <a:headEnd type="none" w="med" len="med"/>
              <a:tailEnd type="none" w="med" len="med"/>
            </a:ln>
          </p:spPr>
        </p:cxnSp>
        <p:cxnSp>
          <p:nvCxnSpPr>
            <p:cNvPr id="98337" name="AutoShape 53"/>
            <p:cNvCxnSpPr>
              <a:stCxn id="98333" idx="5"/>
              <a:endCxn id="98335" idx="0"/>
            </p:cNvCxnSpPr>
            <p:nvPr/>
          </p:nvCxnSpPr>
          <p:spPr>
            <a:xfrm flipH="1" flipV="1">
              <a:off x="1521" y="3565"/>
              <a:ext cx="228" cy="110"/>
            </a:xfrm>
            <a:prstGeom prst="straightConnector1">
              <a:avLst/>
            </a:prstGeom>
            <a:ln w="9525" cap="flat" cmpd="sng">
              <a:solidFill>
                <a:schemeClr val="tx1"/>
              </a:solidFill>
              <a:prstDash val="solid"/>
              <a:headEnd type="none" w="med" len="med"/>
              <a:tailEnd type="none" w="med" len="med"/>
            </a:ln>
          </p:spPr>
        </p:cxnSp>
        <p:sp>
          <p:nvSpPr>
            <p:cNvPr id="98338" name="Oval 54"/>
            <p:cNvSpPr/>
            <p:nvPr/>
          </p:nvSpPr>
          <p:spPr>
            <a:xfrm rot="-8230754">
              <a:off x="2540" y="3580"/>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8339" name="Oval 55"/>
            <p:cNvSpPr/>
            <p:nvPr/>
          </p:nvSpPr>
          <p:spPr>
            <a:xfrm rot="-8230754">
              <a:off x="2942" y="3429"/>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8340" name="Oval 56"/>
            <p:cNvSpPr/>
            <p:nvPr/>
          </p:nvSpPr>
          <p:spPr>
            <a:xfrm rot="-8230754">
              <a:off x="2660" y="3168"/>
              <a:ext cx="192" cy="19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cxnSp>
          <p:nvCxnSpPr>
            <p:cNvPr id="98341" name="AutoShape 57"/>
            <p:cNvCxnSpPr>
              <a:stCxn id="98338" idx="3"/>
              <a:endCxn id="98339" idx="0"/>
            </p:cNvCxnSpPr>
            <p:nvPr/>
          </p:nvCxnSpPr>
          <p:spPr>
            <a:xfrm flipV="1">
              <a:off x="2731" y="3595"/>
              <a:ext cx="241" cy="77"/>
            </a:xfrm>
            <a:prstGeom prst="straightConnector1">
              <a:avLst/>
            </a:prstGeom>
            <a:ln w="9525" cap="flat" cmpd="sng">
              <a:solidFill>
                <a:schemeClr val="tx1"/>
              </a:solidFill>
              <a:prstDash val="solid"/>
              <a:headEnd type="none" w="med" len="med"/>
              <a:tailEnd type="none" w="med" len="med"/>
            </a:ln>
          </p:spPr>
        </p:cxnSp>
        <p:cxnSp>
          <p:nvCxnSpPr>
            <p:cNvPr id="98342" name="AutoShape 58"/>
            <p:cNvCxnSpPr>
              <a:stCxn id="98338" idx="5"/>
              <a:endCxn id="98340" idx="0"/>
            </p:cNvCxnSpPr>
            <p:nvPr/>
          </p:nvCxnSpPr>
          <p:spPr>
            <a:xfrm flipV="1">
              <a:off x="2632" y="3334"/>
              <a:ext cx="58" cy="246"/>
            </a:xfrm>
            <a:prstGeom prst="straightConnector1">
              <a:avLst/>
            </a:prstGeom>
            <a:ln w="9525" cap="flat" cmpd="sng">
              <a:solidFill>
                <a:schemeClr val="tx1"/>
              </a:solidFill>
              <a:prstDash val="solid"/>
              <a:headEnd type="none" w="med" len="med"/>
              <a:tailEnd type="none" w="med" len="med"/>
            </a:ln>
          </p:spPr>
        </p:cxnSp>
        <p:cxnSp>
          <p:nvCxnSpPr>
            <p:cNvPr id="98343" name="AutoShape 59"/>
            <p:cNvCxnSpPr>
              <a:stCxn id="98335" idx="2"/>
              <a:endCxn id="98334" idx="6"/>
            </p:cNvCxnSpPr>
            <p:nvPr/>
          </p:nvCxnSpPr>
          <p:spPr>
            <a:xfrm flipV="1">
              <a:off x="1545" y="3321"/>
              <a:ext cx="158" cy="111"/>
            </a:xfrm>
            <a:prstGeom prst="straightConnector1">
              <a:avLst/>
            </a:prstGeom>
            <a:ln w="9525" cap="flat" cmpd="sng">
              <a:solidFill>
                <a:schemeClr val="tx1"/>
              </a:solidFill>
              <a:prstDash val="solid"/>
              <a:headEnd type="none" w="med" len="med"/>
              <a:tailEnd type="none" w="med" len="med"/>
            </a:ln>
          </p:spPr>
        </p:cxnSp>
        <p:cxnSp>
          <p:nvCxnSpPr>
            <p:cNvPr id="98344" name="AutoShape 60"/>
            <p:cNvCxnSpPr>
              <a:stCxn id="98340" idx="2"/>
              <a:endCxn id="98339" idx="6"/>
            </p:cNvCxnSpPr>
            <p:nvPr/>
          </p:nvCxnSpPr>
          <p:spPr>
            <a:xfrm>
              <a:off x="2826" y="3329"/>
              <a:ext cx="141" cy="130"/>
            </a:xfrm>
            <a:prstGeom prst="straightConnector1">
              <a:avLst/>
            </a:prstGeom>
            <a:ln w="9525" cap="flat" cmpd="sng">
              <a:solidFill>
                <a:schemeClr val="tx1"/>
              </a:solidFill>
              <a:prstDash val="solid"/>
              <a:headEnd type="none" w="med" len="med"/>
              <a:tailEnd type="none" w="med" len="med"/>
            </a:ln>
          </p:spPr>
        </p:cxnSp>
        <p:sp>
          <p:nvSpPr>
            <p:cNvPr id="98345" name="Oval 61"/>
            <p:cNvSpPr/>
            <p:nvPr/>
          </p:nvSpPr>
          <p:spPr>
            <a:xfrm>
              <a:off x="1296" y="3072"/>
              <a:ext cx="768" cy="816"/>
            </a:xfrm>
            <a:prstGeom prst="ellipse">
              <a:avLst/>
            </a:prstGeom>
            <a:noFill/>
            <a:ln w="9525" cap="flat" cmpd="sng">
              <a:solidFill>
                <a:schemeClr val="tx1"/>
              </a:solidFill>
              <a:prstDash val="lgDash"/>
              <a:headEnd type="none" w="med" len="med"/>
              <a:tailEnd type="none" w="med" len="med"/>
            </a:ln>
          </p:spPr>
          <p:txBody>
            <a:bodyPr wrap="none" anchor="ctr" anchorCtr="0"/>
            <a:p>
              <a:endParaRPr dirty="0">
                <a:latin typeface="Tahoma" panose="020B0604030504040204" pitchFamily="34" charset="0"/>
              </a:endParaRPr>
            </a:p>
          </p:txBody>
        </p:sp>
        <p:sp>
          <p:nvSpPr>
            <p:cNvPr id="98346" name="Oval 62"/>
            <p:cNvSpPr/>
            <p:nvPr/>
          </p:nvSpPr>
          <p:spPr>
            <a:xfrm>
              <a:off x="2400" y="3072"/>
              <a:ext cx="768" cy="816"/>
            </a:xfrm>
            <a:prstGeom prst="ellipse">
              <a:avLst/>
            </a:prstGeom>
            <a:noFill/>
            <a:ln w="9525" cap="flat" cmpd="sng">
              <a:solidFill>
                <a:schemeClr val="tx1"/>
              </a:solidFill>
              <a:prstDash val="lgDash"/>
              <a:headEnd type="none" w="med" len="med"/>
              <a:tailEnd type="none" w="med" len="med"/>
            </a:ln>
          </p:spPr>
          <p:txBody>
            <a:bodyPr wrap="none" anchor="ctr" anchorCtr="0"/>
            <a:p>
              <a:endParaRPr dirty="0">
                <a:latin typeface="Tahoma" panose="020B0604030504040204" pitchFamily="34" charset="0"/>
              </a:endParaRPr>
            </a:p>
          </p:txBody>
        </p:sp>
        <p:cxnSp>
          <p:nvCxnSpPr>
            <p:cNvPr id="98347" name="AutoShape 63"/>
            <p:cNvCxnSpPr>
              <a:stCxn id="98345" idx="6"/>
              <a:endCxn id="98346" idx="2"/>
            </p:cNvCxnSpPr>
            <p:nvPr/>
          </p:nvCxnSpPr>
          <p:spPr>
            <a:xfrm>
              <a:off x="2064" y="3480"/>
              <a:ext cx="336" cy="0"/>
            </a:xfrm>
            <a:prstGeom prst="straightConnector1">
              <a:avLst/>
            </a:prstGeom>
            <a:ln w="9525" cap="flat" cmpd="sng">
              <a:solidFill>
                <a:schemeClr val="tx1"/>
              </a:solidFill>
              <a:prstDash val="solid"/>
              <a:headEnd type="none" w="med" len="med"/>
              <a:tailEnd type="none" w="med" len="med"/>
            </a:ln>
          </p:spPr>
        </p:cxnSp>
      </p:grpSp>
      <p:cxnSp>
        <p:nvCxnSpPr>
          <p:cNvPr id="98311" name="AutoShape 64"/>
          <p:cNvCxnSpPr>
            <a:stCxn id="98332" idx="7"/>
            <a:endCxn id="98388" idx="5"/>
          </p:cNvCxnSpPr>
          <p:nvPr/>
        </p:nvCxnSpPr>
        <p:spPr>
          <a:xfrm flipH="1" flipV="1">
            <a:off x="5746750" y="3365500"/>
            <a:ext cx="639763" cy="352425"/>
          </a:xfrm>
          <a:prstGeom prst="straightConnector1">
            <a:avLst/>
          </a:prstGeom>
          <a:ln w="9525" cap="flat" cmpd="sng">
            <a:solidFill>
              <a:schemeClr val="tx1"/>
            </a:solidFill>
            <a:prstDash val="solid"/>
            <a:headEnd type="none" w="med" len="med"/>
            <a:tailEnd type="none" w="med" len="med"/>
          </a:ln>
        </p:spPr>
      </p:cxnSp>
      <p:cxnSp>
        <p:nvCxnSpPr>
          <p:cNvPr id="98312" name="AutoShape 65"/>
          <p:cNvCxnSpPr>
            <a:stCxn id="98348" idx="7"/>
            <a:endCxn id="98332" idx="1"/>
          </p:cNvCxnSpPr>
          <p:nvPr/>
        </p:nvCxnSpPr>
        <p:spPr>
          <a:xfrm flipV="1">
            <a:off x="4137025" y="5137150"/>
            <a:ext cx="923925" cy="14288"/>
          </a:xfrm>
          <a:prstGeom prst="straightConnector1">
            <a:avLst/>
          </a:prstGeom>
          <a:ln w="9525" cap="flat" cmpd="sng">
            <a:solidFill>
              <a:schemeClr val="tx1"/>
            </a:solidFill>
            <a:prstDash val="solid"/>
            <a:headEnd type="none" w="med" len="med"/>
            <a:tailEnd type="none" w="med" len="med"/>
          </a:ln>
        </p:spPr>
      </p:cxnSp>
      <p:sp>
        <p:nvSpPr>
          <p:cNvPr id="98313" name="AutoShape 66"/>
          <p:cNvSpPr/>
          <p:nvPr/>
        </p:nvSpPr>
        <p:spPr>
          <a:xfrm>
            <a:off x="1676400" y="1066800"/>
            <a:ext cx="5791200" cy="5181600"/>
          </a:xfrm>
          <a:prstGeom prst="roundRect">
            <a:avLst>
              <a:gd name="adj" fmla="val 16667"/>
            </a:avLst>
          </a:prstGeom>
          <a:noFill/>
          <a:ln w="9525" cap="flat" cmpd="sng">
            <a:solidFill>
              <a:schemeClr val="tx1"/>
            </a:solidFill>
            <a:prstDash val="lgDash"/>
            <a:headEnd type="none" w="med" len="med"/>
            <a:tailEnd type="none" w="med" len="med"/>
          </a:ln>
        </p:spPr>
        <p:txBody>
          <a:bodyPr wrap="none" anchor="ctr" anchorCtr="0"/>
          <a:p>
            <a:endParaRPr dirty="0">
              <a:latin typeface="Tahoma" panose="020B0604030504040204" pitchFamily="34" charset="0"/>
            </a:endParaRPr>
          </a:p>
        </p:txBody>
      </p:sp>
      <p:sp>
        <p:nvSpPr>
          <p:cNvPr id="98314" name="Text Box 67"/>
          <p:cNvSpPr txBox="1"/>
          <p:nvPr/>
        </p:nvSpPr>
        <p:spPr>
          <a:xfrm>
            <a:off x="-152400" y="1143000"/>
            <a:ext cx="2819400" cy="701675"/>
          </a:xfrm>
          <a:prstGeom prst="rect">
            <a:avLst/>
          </a:prstGeom>
          <a:noFill/>
          <a:ln w="9525">
            <a:noFill/>
          </a:ln>
        </p:spPr>
        <p:txBody>
          <a:bodyPr>
            <a:spAutoFit/>
          </a:bodyPr>
          <a:p>
            <a:pPr>
              <a:spcBef>
                <a:spcPct val="50000"/>
              </a:spcBef>
            </a:pPr>
            <a:r>
              <a:rPr lang="en-US" altLang="zh-CN" sz="2000" dirty="0">
                <a:latin typeface="Arial" panose="020B0604020202020204" pitchFamily="34" charset="0"/>
                <a:ea typeface="SimSun" panose="02010600030101010101" pitchFamily="2" charset="-122"/>
              </a:rPr>
              <a:t>Each leaf node represents an object</a:t>
            </a:r>
            <a:endParaRPr lang="en-US" altLang="zh-CN" sz="2000" dirty="0">
              <a:latin typeface="Arial" panose="020B0604020202020204" pitchFamily="34" charset="0"/>
              <a:ea typeface="SimSun" panose="02010600030101010101" pitchFamily="2" charset="-122"/>
            </a:endParaRPr>
          </a:p>
        </p:txBody>
      </p:sp>
      <p:sp>
        <p:nvSpPr>
          <p:cNvPr id="98315" name="Line 68"/>
          <p:cNvSpPr/>
          <p:nvPr/>
        </p:nvSpPr>
        <p:spPr>
          <a:xfrm>
            <a:off x="2286000" y="1524000"/>
            <a:ext cx="914400" cy="533400"/>
          </a:xfrm>
          <a:prstGeom prst="line">
            <a:avLst/>
          </a:prstGeom>
          <a:ln w="9525" cap="flat" cmpd="sng">
            <a:solidFill>
              <a:schemeClr val="tx1"/>
            </a:solidFill>
            <a:prstDash val="solid"/>
            <a:headEnd type="none" w="med" len="med"/>
            <a:tailEnd type="triangle" w="med" len="med"/>
          </a:ln>
        </p:spPr>
      </p:sp>
      <p:sp>
        <p:nvSpPr>
          <p:cNvPr id="98316" name="Text Box 69"/>
          <p:cNvSpPr txBox="1"/>
          <p:nvPr/>
        </p:nvSpPr>
        <p:spPr>
          <a:xfrm>
            <a:off x="6477000" y="1066800"/>
            <a:ext cx="2590800" cy="1311275"/>
          </a:xfrm>
          <a:prstGeom prst="rect">
            <a:avLst/>
          </a:prstGeom>
          <a:noFill/>
          <a:ln w="9525">
            <a:noFill/>
          </a:ln>
        </p:spPr>
        <p:txBody>
          <a:bodyPr>
            <a:spAutoFit/>
          </a:bodyPr>
          <a:p>
            <a:pPr>
              <a:spcBef>
                <a:spcPct val="50000"/>
              </a:spcBef>
            </a:pPr>
            <a:r>
              <a:rPr lang="en-US" altLang="zh-CN" sz="2000" dirty="0">
                <a:latin typeface="Arial" panose="020B0604020202020204" pitchFamily="34" charset="0"/>
                <a:ea typeface="SimSun" panose="02010600030101010101" pitchFamily="2" charset="-122"/>
              </a:rPr>
              <a:t>Each non-leaf node represents a group of similar lower-level nodes</a:t>
            </a:r>
            <a:endParaRPr lang="en-US" altLang="zh-CN" sz="2000" dirty="0">
              <a:latin typeface="Arial" panose="020B0604020202020204" pitchFamily="34" charset="0"/>
              <a:ea typeface="SimSun" panose="02010600030101010101" pitchFamily="2" charset="-122"/>
            </a:endParaRPr>
          </a:p>
        </p:txBody>
      </p:sp>
      <p:sp>
        <p:nvSpPr>
          <p:cNvPr id="98317" name="Line 70"/>
          <p:cNvSpPr/>
          <p:nvPr/>
        </p:nvSpPr>
        <p:spPr>
          <a:xfrm flipH="1">
            <a:off x="6019800" y="1524000"/>
            <a:ext cx="609600" cy="457200"/>
          </a:xfrm>
          <a:prstGeom prst="line">
            <a:avLst/>
          </a:prstGeom>
          <a:ln w="9525" cap="flat" cmpd="sng">
            <a:solidFill>
              <a:schemeClr val="tx1"/>
            </a:solidFill>
            <a:prstDash val="solid"/>
            <a:headEnd type="none" w="med" len="med"/>
            <a:tailEnd type="triangle" w="med" len="med"/>
          </a:ln>
        </p:spPr>
      </p:sp>
      <p:sp>
        <p:nvSpPr>
          <p:cNvPr id="98318" name="Text Box 71"/>
          <p:cNvSpPr txBox="1"/>
          <p:nvPr/>
        </p:nvSpPr>
        <p:spPr>
          <a:xfrm>
            <a:off x="152400" y="2362200"/>
            <a:ext cx="2819400" cy="701675"/>
          </a:xfrm>
          <a:prstGeom prst="rect">
            <a:avLst/>
          </a:prstGeom>
          <a:noFill/>
          <a:ln w="9525">
            <a:noFill/>
          </a:ln>
        </p:spPr>
        <p:txBody>
          <a:bodyPr>
            <a:spAutoFit/>
          </a:bodyPr>
          <a:p>
            <a:pPr>
              <a:spcBef>
                <a:spcPct val="50000"/>
              </a:spcBef>
            </a:pPr>
            <a:r>
              <a:rPr lang="en-US" altLang="zh-CN" sz="2000" dirty="0">
                <a:latin typeface="Arial" panose="020B0604020202020204" pitchFamily="34" charset="0"/>
                <a:ea typeface="SimSun" panose="02010600030101010101" pitchFamily="2" charset="-122"/>
              </a:rPr>
              <a:t>Similarities between siblings are stored</a:t>
            </a:r>
            <a:endParaRPr lang="en-US" altLang="zh-CN" sz="2000" dirty="0">
              <a:latin typeface="Arial" panose="020B0604020202020204" pitchFamily="34" charset="0"/>
              <a:ea typeface="SimSun" panose="02010600030101010101" pitchFamily="2" charset="-122"/>
            </a:endParaRPr>
          </a:p>
        </p:txBody>
      </p:sp>
      <p:sp>
        <p:nvSpPr>
          <p:cNvPr id="98319" name="Line 72"/>
          <p:cNvSpPr/>
          <p:nvPr/>
        </p:nvSpPr>
        <p:spPr>
          <a:xfrm flipV="1">
            <a:off x="2743200" y="2286000"/>
            <a:ext cx="762000" cy="304800"/>
          </a:xfrm>
          <a:prstGeom prst="line">
            <a:avLst/>
          </a:prstGeom>
          <a:ln w="9525" cap="flat" cmpd="sng">
            <a:solidFill>
              <a:schemeClr val="tx1"/>
            </a:solidFill>
            <a:prstDash val="solid"/>
            <a:headEnd type="none" w="med" len="med"/>
            <a:tailEnd type="triangle" w="med" len="med"/>
          </a:ln>
        </p:spPr>
      </p:sp>
      <p:sp>
        <p:nvSpPr>
          <p:cNvPr id="98320" name="Line 73"/>
          <p:cNvSpPr/>
          <p:nvPr/>
        </p:nvSpPr>
        <p:spPr>
          <a:xfrm>
            <a:off x="2667000" y="2971800"/>
            <a:ext cx="381000" cy="609600"/>
          </a:xfrm>
          <a:prstGeom prst="line">
            <a:avLst/>
          </a:prstGeom>
          <a:ln w="9525" cap="flat" cmpd="sng">
            <a:solidFill>
              <a:schemeClr val="tx1"/>
            </a:solidFill>
            <a:prstDash val="solid"/>
            <a:headEnd type="none" w="med" len="med"/>
            <a:tailEnd type="triangle" w="med" len="med"/>
          </a:ln>
        </p:spPr>
      </p:sp>
      <p:sp>
        <p:nvSpPr>
          <p:cNvPr id="98321" name="Text Box 74"/>
          <p:cNvSpPr txBox="1"/>
          <p:nvPr/>
        </p:nvSpPr>
        <p:spPr>
          <a:xfrm>
            <a:off x="1981200" y="4572000"/>
            <a:ext cx="1828800" cy="701675"/>
          </a:xfrm>
          <a:prstGeom prst="rect">
            <a:avLst/>
          </a:prstGeom>
          <a:solidFill>
            <a:schemeClr val="bg1">
              <a:alpha val="79999"/>
            </a:schemeClr>
          </a:solidFill>
          <a:ln w="9525">
            <a:noFill/>
          </a:ln>
        </p:spPr>
        <p:txBody>
          <a:bodyPr>
            <a:spAutoFit/>
          </a:bodyPr>
          <a:p>
            <a:pPr>
              <a:spcBef>
                <a:spcPct val="50000"/>
              </a:spcBef>
            </a:pPr>
            <a:r>
              <a:rPr lang="en-US" altLang="zh-CN" sz="2000" dirty="0">
                <a:latin typeface="Arial" panose="020B0604020202020204" pitchFamily="34" charset="0"/>
                <a:ea typeface="SimSun" panose="02010600030101010101" pitchFamily="2" charset="-122"/>
              </a:rPr>
              <a:t>Consumer electronics</a:t>
            </a:r>
            <a:endParaRPr lang="en-US" altLang="zh-CN" sz="2000" dirty="0">
              <a:latin typeface="Arial" panose="020B0604020202020204" pitchFamily="34" charset="0"/>
              <a:ea typeface="SimSun" panose="02010600030101010101" pitchFamily="2" charset="-122"/>
            </a:endParaRPr>
          </a:p>
        </p:txBody>
      </p:sp>
      <p:sp>
        <p:nvSpPr>
          <p:cNvPr id="98322" name="Text Box 75"/>
          <p:cNvSpPr txBox="1"/>
          <p:nvPr/>
        </p:nvSpPr>
        <p:spPr>
          <a:xfrm>
            <a:off x="5334000" y="4572000"/>
            <a:ext cx="1828800" cy="396875"/>
          </a:xfrm>
          <a:prstGeom prst="rect">
            <a:avLst/>
          </a:prstGeom>
          <a:solidFill>
            <a:schemeClr val="bg1">
              <a:alpha val="79999"/>
            </a:schemeClr>
          </a:solidFill>
          <a:ln w="9525">
            <a:noFill/>
          </a:ln>
        </p:spPr>
        <p:txBody>
          <a:bodyPr>
            <a:spAutoFit/>
          </a:bodyPr>
          <a:p>
            <a:pPr>
              <a:spcBef>
                <a:spcPct val="50000"/>
              </a:spcBef>
            </a:pPr>
            <a:r>
              <a:rPr lang="en-US" altLang="zh-CN" sz="2000" dirty="0">
                <a:latin typeface="Arial" panose="020B0604020202020204" pitchFamily="34" charset="0"/>
                <a:ea typeface="SimSun" panose="02010600030101010101" pitchFamily="2" charset="-122"/>
              </a:rPr>
              <a:t>Apparels</a:t>
            </a:r>
            <a:endParaRPr lang="en-US" altLang="zh-CN" sz="2000" dirty="0">
              <a:latin typeface="Arial" panose="020B0604020202020204" pitchFamily="34" charset="0"/>
              <a:ea typeface="SimSun" panose="02010600030101010101" pitchFamily="2" charset="-122"/>
            </a:endParaRPr>
          </a:p>
        </p:txBody>
      </p:sp>
      <p:grpSp>
        <p:nvGrpSpPr>
          <p:cNvPr id="98323" name="Group 76"/>
          <p:cNvGrpSpPr/>
          <p:nvPr/>
        </p:nvGrpSpPr>
        <p:grpSpPr>
          <a:xfrm>
            <a:off x="152400" y="3581400"/>
            <a:ext cx="1905000" cy="641350"/>
            <a:chOff x="96" y="2256"/>
            <a:chExt cx="1200" cy="404"/>
          </a:xfrm>
        </p:grpSpPr>
        <p:sp>
          <p:nvSpPr>
            <p:cNvPr id="98330" name="Text Box 77"/>
            <p:cNvSpPr txBox="1"/>
            <p:nvPr/>
          </p:nvSpPr>
          <p:spPr>
            <a:xfrm>
              <a:off x="96" y="2256"/>
              <a:ext cx="1152" cy="404"/>
            </a:xfrm>
            <a:prstGeom prst="rect">
              <a:avLst/>
            </a:prstGeom>
            <a:solidFill>
              <a:schemeClr val="bg1">
                <a:alpha val="79999"/>
              </a:schemeClr>
            </a:solidFill>
            <a:ln w="9525">
              <a:noFill/>
            </a:ln>
          </p:spPr>
          <p:txBody>
            <a:bodyPr>
              <a:spAutoFit/>
            </a:bodyPr>
            <a:p>
              <a:pPr>
                <a:spcBef>
                  <a:spcPct val="50000"/>
                </a:spcBef>
              </a:pPr>
              <a:r>
                <a:rPr lang="en-US" altLang="zh-CN" sz="1800" dirty="0">
                  <a:latin typeface="Arial" panose="020B0604020202020204" pitchFamily="34" charset="0"/>
                  <a:ea typeface="SimSun" panose="02010600030101010101" pitchFamily="2" charset="-122"/>
                </a:rPr>
                <a:t>Canon A40 digital camera</a:t>
              </a:r>
              <a:endParaRPr lang="en-US" altLang="zh-CN" sz="1800" dirty="0">
                <a:latin typeface="Arial" panose="020B0604020202020204" pitchFamily="34" charset="0"/>
                <a:ea typeface="SimSun" panose="02010600030101010101" pitchFamily="2" charset="-122"/>
              </a:endParaRPr>
            </a:p>
          </p:txBody>
        </p:sp>
        <p:sp>
          <p:nvSpPr>
            <p:cNvPr id="98331" name="Line 78"/>
            <p:cNvSpPr/>
            <p:nvPr/>
          </p:nvSpPr>
          <p:spPr>
            <a:xfrm>
              <a:off x="1152" y="2544"/>
              <a:ext cx="144" cy="96"/>
            </a:xfrm>
            <a:prstGeom prst="line">
              <a:avLst/>
            </a:prstGeom>
            <a:ln w="9525" cap="flat" cmpd="sng">
              <a:solidFill>
                <a:schemeClr val="tx1"/>
              </a:solidFill>
              <a:prstDash val="solid"/>
              <a:headEnd type="none" w="med" len="med"/>
              <a:tailEnd type="triangle" w="med" len="med"/>
            </a:ln>
          </p:spPr>
        </p:sp>
      </p:grpSp>
      <p:grpSp>
        <p:nvGrpSpPr>
          <p:cNvPr id="98324" name="Group 79"/>
          <p:cNvGrpSpPr/>
          <p:nvPr/>
        </p:nvGrpSpPr>
        <p:grpSpPr>
          <a:xfrm>
            <a:off x="76200" y="4495800"/>
            <a:ext cx="2209800" cy="641350"/>
            <a:chOff x="48" y="2832"/>
            <a:chExt cx="1392" cy="404"/>
          </a:xfrm>
        </p:grpSpPr>
        <p:sp>
          <p:nvSpPr>
            <p:cNvPr id="98328" name="Text Box 80"/>
            <p:cNvSpPr txBox="1"/>
            <p:nvPr/>
          </p:nvSpPr>
          <p:spPr>
            <a:xfrm>
              <a:off x="48" y="2832"/>
              <a:ext cx="1152" cy="404"/>
            </a:xfrm>
            <a:prstGeom prst="rect">
              <a:avLst/>
            </a:prstGeom>
            <a:solidFill>
              <a:schemeClr val="bg1">
                <a:alpha val="79999"/>
              </a:schemeClr>
            </a:solidFill>
            <a:ln w="9525">
              <a:noFill/>
            </a:ln>
          </p:spPr>
          <p:txBody>
            <a:bodyPr>
              <a:spAutoFit/>
            </a:bodyPr>
            <a:p>
              <a:pPr>
                <a:spcBef>
                  <a:spcPct val="50000"/>
                </a:spcBef>
              </a:pPr>
              <a:r>
                <a:rPr lang="en-US" altLang="zh-CN" sz="1800" dirty="0">
                  <a:latin typeface="Arial" panose="020B0604020202020204" pitchFamily="34" charset="0"/>
                  <a:ea typeface="SimSun" panose="02010600030101010101" pitchFamily="2" charset="-122"/>
                </a:rPr>
                <a:t>Sony V3 digital camera</a:t>
              </a:r>
              <a:endParaRPr lang="en-US" altLang="zh-CN" sz="1800" dirty="0">
                <a:latin typeface="Arial" panose="020B0604020202020204" pitchFamily="34" charset="0"/>
                <a:ea typeface="SimSun" panose="02010600030101010101" pitchFamily="2" charset="-122"/>
              </a:endParaRPr>
            </a:p>
          </p:txBody>
        </p:sp>
        <p:sp>
          <p:nvSpPr>
            <p:cNvPr id="98329" name="Line 81"/>
            <p:cNvSpPr/>
            <p:nvPr/>
          </p:nvSpPr>
          <p:spPr>
            <a:xfrm>
              <a:off x="1104" y="3024"/>
              <a:ext cx="336" cy="0"/>
            </a:xfrm>
            <a:prstGeom prst="line">
              <a:avLst/>
            </a:prstGeom>
            <a:ln w="9525" cap="flat" cmpd="sng">
              <a:solidFill>
                <a:schemeClr val="tx1"/>
              </a:solidFill>
              <a:prstDash val="solid"/>
              <a:headEnd type="none" w="med" len="med"/>
              <a:tailEnd type="triangle" w="med" len="med"/>
            </a:ln>
          </p:spPr>
        </p:sp>
      </p:grpSp>
      <p:sp>
        <p:nvSpPr>
          <p:cNvPr id="98325" name="Text Box 82"/>
          <p:cNvSpPr txBox="1"/>
          <p:nvPr/>
        </p:nvSpPr>
        <p:spPr>
          <a:xfrm>
            <a:off x="1676400" y="4114800"/>
            <a:ext cx="1371600" cy="701675"/>
          </a:xfrm>
          <a:prstGeom prst="rect">
            <a:avLst/>
          </a:prstGeom>
          <a:solidFill>
            <a:schemeClr val="bg1">
              <a:alpha val="79999"/>
            </a:schemeClr>
          </a:solidFill>
          <a:ln w="9525">
            <a:noFill/>
          </a:ln>
        </p:spPr>
        <p:txBody>
          <a:bodyPr>
            <a:spAutoFit/>
          </a:bodyPr>
          <a:p>
            <a:pPr>
              <a:spcBef>
                <a:spcPct val="50000"/>
              </a:spcBef>
            </a:pPr>
            <a:r>
              <a:rPr lang="en-US" altLang="zh-CN" sz="2000" dirty="0">
                <a:latin typeface="Arial" panose="020B0604020202020204" pitchFamily="34" charset="0"/>
                <a:ea typeface="SimSun" panose="02010600030101010101" pitchFamily="2" charset="-122"/>
              </a:rPr>
              <a:t>Digital Cameras</a:t>
            </a:r>
            <a:endParaRPr lang="en-US" altLang="zh-CN" sz="2000" dirty="0">
              <a:latin typeface="Arial" panose="020B0604020202020204" pitchFamily="34" charset="0"/>
              <a:ea typeface="SimSun" panose="02010600030101010101" pitchFamily="2" charset="-122"/>
            </a:endParaRPr>
          </a:p>
        </p:txBody>
      </p:sp>
      <p:sp>
        <p:nvSpPr>
          <p:cNvPr id="98326" name="Text Box 83"/>
          <p:cNvSpPr txBox="1"/>
          <p:nvPr/>
        </p:nvSpPr>
        <p:spPr>
          <a:xfrm>
            <a:off x="2667000" y="5287963"/>
            <a:ext cx="1828800" cy="396875"/>
          </a:xfrm>
          <a:prstGeom prst="rect">
            <a:avLst/>
          </a:prstGeom>
          <a:solidFill>
            <a:schemeClr val="bg1">
              <a:alpha val="79999"/>
            </a:schemeClr>
          </a:solidFill>
          <a:ln w="9525">
            <a:noFill/>
          </a:ln>
        </p:spPr>
        <p:txBody>
          <a:bodyPr>
            <a:spAutoFit/>
          </a:bodyPr>
          <a:p>
            <a:pPr>
              <a:spcBef>
                <a:spcPct val="50000"/>
              </a:spcBef>
            </a:pPr>
            <a:r>
              <a:rPr lang="en-US" altLang="zh-CN" sz="2000" dirty="0">
                <a:latin typeface="Arial" panose="020B0604020202020204" pitchFamily="34" charset="0"/>
                <a:ea typeface="SimSun" panose="02010600030101010101" pitchFamily="2" charset="-122"/>
              </a:rPr>
              <a:t>TVs</a:t>
            </a:r>
            <a:endParaRPr lang="en-US" altLang="zh-CN" sz="2000" dirty="0">
              <a:latin typeface="Arial" panose="020B0604020202020204" pitchFamily="34" charset="0"/>
              <a:ea typeface="SimSun" panose="02010600030101010101" pitchFamily="2" charset="-122"/>
            </a:endParaRPr>
          </a:p>
        </p:txBody>
      </p:sp>
      <p:sp>
        <p:nvSpPr>
          <p:cNvPr id="98327" name="Slide Number Placeholder 86"/>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2"/>
          <p:cNvSpPr>
            <a:spLocks noGrp="1"/>
          </p:cNvSpPr>
          <p:nvPr>
            <p:ph type="title" idx="4294967295"/>
          </p:nvPr>
        </p:nvSpPr>
        <p:spPr>
          <a:xfrm>
            <a:off x="381000" y="304800"/>
            <a:ext cx="8250238" cy="609600"/>
          </a:xfrm>
        </p:spPr>
        <p:txBody>
          <a:bodyPr vert="horz" wrap="square" lIns="91440" tIns="45720" rIns="91440" bIns="45720" anchor="b" anchorCtr="0"/>
          <a:p>
            <a:pPr eaLnBrk="1" hangingPunct="1"/>
            <a:r>
              <a:rPr lang="en-US" altLang="zh-CN" dirty="0">
                <a:ea typeface="SimSun" panose="02010600030101010101" pitchFamily="2" charset="-122"/>
              </a:rPr>
              <a:t>Similarity Defined by SimTree</a:t>
            </a:r>
            <a:endParaRPr lang="en-US" altLang="zh-CN" dirty="0">
              <a:ea typeface="SimSun" panose="02010600030101010101" pitchFamily="2" charset="-122"/>
            </a:endParaRPr>
          </a:p>
        </p:txBody>
      </p:sp>
      <p:sp>
        <p:nvSpPr>
          <p:cNvPr id="99331" name="Rectangle 3"/>
          <p:cNvSpPr>
            <a:spLocks noGrp="1"/>
          </p:cNvSpPr>
          <p:nvPr>
            <p:ph type="body" idx="4294967295"/>
          </p:nvPr>
        </p:nvSpPr>
        <p:spPr>
          <a:xfrm>
            <a:off x="228600" y="3962400"/>
            <a:ext cx="8763000" cy="2590800"/>
          </a:xfrm>
        </p:spPr>
        <p:txBody>
          <a:bodyPr vert="horz" wrap="square" lIns="91440" tIns="45720" rIns="91440" bIns="45720" anchor="t" anchorCtr="0"/>
          <a:p>
            <a:pPr eaLnBrk="1" hangingPunct="1">
              <a:lnSpc>
                <a:spcPct val="110000"/>
              </a:lnSpc>
            </a:pPr>
            <a:r>
              <a:rPr lang="en-US" altLang="zh-CN" sz="2400" dirty="0">
                <a:ea typeface="SimSun" panose="02010600030101010101" pitchFamily="2" charset="-122"/>
              </a:rPr>
              <a:t>Path-based node similarity</a:t>
            </a:r>
            <a:r>
              <a:rPr lang="en-US" altLang="zh-CN" sz="2400" i="1" dirty="0">
                <a:ea typeface="SimSun" panose="02010600030101010101" pitchFamily="2" charset="-122"/>
              </a:rPr>
              <a:t> </a:t>
            </a:r>
            <a:endParaRPr lang="en-US" altLang="zh-CN" sz="2400" i="1" dirty="0">
              <a:ea typeface="SimSun" panose="02010600030101010101" pitchFamily="2" charset="-122"/>
            </a:endParaRPr>
          </a:p>
          <a:p>
            <a:pPr lvl="1" eaLnBrk="1" hangingPunct="1">
              <a:lnSpc>
                <a:spcPct val="110000"/>
              </a:lnSpc>
            </a:pPr>
            <a:r>
              <a:rPr lang="en-US" altLang="zh-CN" sz="2400" i="1" dirty="0">
                <a:ea typeface="SimSun" panose="02010600030101010101" pitchFamily="2" charset="-122"/>
              </a:rPr>
              <a:t>sim</a:t>
            </a:r>
            <a:r>
              <a:rPr lang="en-US" altLang="zh-CN" sz="2400" i="1" baseline="-25000" dirty="0">
                <a:ea typeface="SimSun" panose="02010600030101010101" pitchFamily="2" charset="-122"/>
              </a:rPr>
              <a:t>p</a:t>
            </a:r>
            <a:r>
              <a:rPr lang="en-US" altLang="zh-CN" sz="2400" dirty="0">
                <a:ea typeface="SimSun" panose="02010600030101010101" pitchFamily="2" charset="-122"/>
              </a:rPr>
              <a:t>(</a:t>
            </a:r>
            <a:r>
              <a:rPr lang="en-US" altLang="zh-CN" sz="2400" i="1" dirty="0">
                <a:ea typeface="SimSun" panose="02010600030101010101" pitchFamily="2" charset="-122"/>
              </a:rPr>
              <a:t>n</a:t>
            </a:r>
            <a:r>
              <a:rPr lang="en-US" altLang="zh-CN" sz="2400" baseline="-25000" dirty="0">
                <a:ea typeface="SimSun" panose="02010600030101010101" pitchFamily="2" charset="-122"/>
              </a:rPr>
              <a:t>7</a:t>
            </a:r>
            <a:r>
              <a:rPr lang="en-US" altLang="zh-CN" sz="2400" dirty="0">
                <a:ea typeface="SimSun" panose="02010600030101010101" pitchFamily="2" charset="-122"/>
              </a:rPr>
              <a:t>,</a:t>
            </a:r>
            <a:r>
              <a:rPr lang="en-US" altLang="zh-CN" sz="2400" i="1" dirty="0">
                <a:ea typeface="SimSun" panose="02010600030101010101" pitchFamily="2" charset="-122"/>
              </a:rPr>
              <a:t>n</a:t>
            </a:r>
            <a:r>
              <a:rPr lang="en-US" altLang="zh-CN" sz="2400" baseline="-25000" dirty="0">
                <a:ea typeface="SimSun" panose="02010600030101010101" pitchFamily="2" charset="-122"/>
              </a:rPr>
              <a:t>8</a:t>
            </a:r>
            <a:r>
              <a:rPr lang="en-US" altLang="zh-CN" sz="2400" dirty="0">
                <a:ea typeface="SimSun" panose="02010600030101010101" pitchFamily="2" charset="-122"/>
              </a:rPr>
              <a:t>) =  </a:t>
            </a:r>
            <a:r>
              <a:rPr lang="en-US" altLang="zh-CN" sz="2400" i="1" dirty="0">
                <a:ea typeface="SimSun" panose="02010600030101010101" pitchFamily="2" charset="-122"/>
              </a:rPr>
              <a:t>s</a:t>
            </a:r>
            <a:r>
              <a:rPr lang="en-US" altLang="zh-CN" sz="2400" dirty="0">
                <a:ea typeface="SimSun" panose="02010600030101010101" pitchFamily="2" charset="-122"/>
              </a:rPr>
              <a:t>(</a:t>
            </a:r>
            <a:r>
              <a:rPr lang="en-US" altLang="zh-CN" sz="2400" i="1" dirty="0">
                <a:ea typeface="SimSun" panose="02010600030101010101" pitchFamily="2" charset="-122"/>
              </a:rPr>
              <a:t>n</a:t>
            </a:r>
            <a:r>
              <a:rPr lang="en-US" altLang="zh-CN" sz="2400" baseline="-25000" dirty="0">
                <a:ea typeface="SimSun" panose="02010600030101010101" pitchFamily="2" charset="-122"/>
              </a:rPr>
              <a:t>7</a:t>
            </a:r>
            <a:r>
              <a:rPr lang="en-US" altLang="zh-CN" sz="2400" dirty="0">
                <a:ea typeface="SimSun" panose="02010600030101010101" pitchFamily="2" charset="-122"/>
              </a:rPr>
              <a:t>, </a:t>
            </a:r>
            <a:r>
              <a:rPr lang="en-US" altLang="zh-CN" sz="2400" i="1" dirty="0">
                <a:ea typeface="SimSun" panose="02010600030101010101" pitchFamily="2" charset="-122"/>
              </a:rPr>
              <a:t>n</a:t>
            </a:r>
            <a:r>
              <a:rPr lang="en-US" altLang="zh-CN" sz="2400" baseline="-25000" dirty="0">
                <a:ea typeface="SimSun" panose="02010600030101010101" pitchFamily="2" charset="-122"/>
              </a:rPr>
              <a:t>4</a:t>
            </a:r>
            <a:r>
              <a:rPr lang="en-US" altLang="zh-CN" sz="2400" dirty="0">
                <a:ea typeface="SimSun" panose="02010600030101010101" pitchFamily="2" charset="-122"/>
              </a:rPr>
              <a:t>) x </a:t>
            </a:r>
            <a:r>
              <a:rPr lang="en-US" altLang="zh-CN" sz="2400" i="1" dirty="0">
                <a:ea typeface="SimSun" panose="02010600030101010101" pitchFamily="2" charset="-122"/>
              </a:rPr>
              <a:t>s</a:t>
            </a:r>
            <a:r>
              <a:rPr lang="en-US" altLang="zh-CN" sz="2400" dirty="0">
                <a:ea typeface="SimSun" panose="02010600030101010101" pitchFamily="2" charset="-122"/>
              </a:rPr>
              <a:t>(</a:t>
            </a:r>
            <a:r>
              <a:rPr lang="en-US" altLang="zh-CN" sz="2400" i="1" dirty="0">
                <a:ea typeface="SimSun" panose="02010600030101010101" pitchFamily="2" charset="-122"/>
              </a:rPr>
              <a:t>n</a:t>
            </a:r>
            <a:r>
              <a:rPr lang="en-US" altLang="zh-CN" sz="2400" baseline="-25000" dirty="0">
                <a:ea typeface="SimSun" panose="02010600030101010101" pitchFamily="2" charset="-122"/>
              </a:rPr>
              <a:t>4</a:t>
            </a:r>
            <a:r>
              <a:rPr lang="en-US" altLang="zh-CN" sz="2400" dirty="0">
                <a:ea typeface="SimSun" panose="02010600030101010101" pitchFamily="2" charset="-122"/>
              </a:rPr>
              <a:t>, </a:t>
            </a:r>
            <a:r>
              <a:rPr lang="en-US" altLang="zh-CN" sz="2400" i="1" dirty="0">
                <a:ea typeface="SimSun" panose="02010600030101010101" pitchFamily="2" charset="-122"/>
              </a:rPr>
              <a:t>n</a:t>
            </a:r>
            <a:r>
              <a:rPr lang="en-US" altLang="zh-CN" sz="2400" baseline="-25000" dirty="0">
                <a:ea typeface="SimSun" panose="02010600030101010101" pitchFamily="2" charset="-122"/>
              </a:rPr>
              <a:t>5</a:t>
            </a:r>
            <a:r>
              <a:rPr lang="en-US" altLang="zh-CN" sz="2400" dirty="0">
                <a:ea typeface="SimSun" panose="02010600030101010101" pitchFamily="2" charset="-122"/>
              </a:rPr>
              <a:t>) x</a:t>
            </a:r>
            <a:r>
              <a:rPr lang="en-US" altLang="zh-CN" sz="2400" i="1" dirty="0">
                <a:ea typeface="SimSun" panose="02010600030101010101" pitchFamily="2" charset="-122"/>
              </a:rPr>
              <a:t> s</a:t>
            </a:r>
            <a:r>
              <a:rPr lang="en-US" altLang="zh-CN" sz="2400" dirty="0">
                <a:ea typeface="SimSun" panose="02010600030101010101" pitchFamily="2" charset="-122"/>
              </a:rPr>
              <a:t>(</a:t>
            </a:r>
            <a:r>
              <a:rPr lang="en-US" altLang="zh-CN" sz="2400" i="1" dirty="0">
                <a:ea typeface="SimSun" panose="02010600030101010101" pitchFamily="2" charset="-122"/>
              </a:rPr>
              <a:t>n</a:t>
            </a:r>
            <a:r>
              <a:rPr lang="en-US" altLang="zh-CN" sz="2400" baseline="-25000" dirty="0">
                <a:ea typeface="SimSun" panose="02010600030101010101" pitchFamily="2" charset="-122"/>
              </a:rPr>
              <a:t>5</a:t>
            </a:r>
            <a:r>
              <a:rPr lang="en-US" altLang="zh-CN" sz="2400" dirty="0">
                <a:ea typeface="SimSun" panose="02010600030101010101" pitchFamily="2" charset="-122"/>
              </a:rPr>
              <a:t>, </a:t>
            </a:r>
            <a:r>
              <a:rPr lang="en-US" altLang="zh-CN" sz="2400" i="1" dirty="0">
                <a:ea typeface="SimSun" panose="02010600030101010101" pitchFamily="2" charset="-122"/>
              </a:rPr>
              <a:t>n</a:t>
            </a:r>
            <a:r>
              <a:rPr lang="en-US" altLang="zh-CN" sz="2400" baseline="-25000" dirty="0">
                <a:ea typeface="SimSun" panose="02010600030101010101" pitchFamily="2" charset="-122"/>
              </a:rPr>
              <a:t>8</a:t>
            </a:r>
            <a:r>
              <a:rPr lang="en-US" altLang="zh-CN" sz="2400" dirty="0">
                <a:ea typeface="SimSun" panose="02010600030101010101" pitchFamily="2" charset="-122"/>
              </a:rPr>
              <a:t>)</a:t>
            </a:r>
            <a:endParaRPr lang="en-US" altLang="zh-CN" sz="2400" dirty="0">
              <a:ea typeface="SimSun" panose="02010600030101010101" pitchFamily="2" charset="-122"/>
            </a:endParaRPr>
          </a:p>
          <a:p>
            <a:pPr eaLnBrk="1" hangingPunct="1">
              <a:lnSpc>
                <a:spcPct val="110000"/>
              </a:lnSpc>
            </a:pPr>
            <a:r>
              <a:rPr lang="en-US" altLang="zh-CN" sz="2400" dirty="0">
                <a:ea typeface="SimSun" panose="02010600030101010101" pitchFamily="2" charset="-122"/>
              </a:rPr>
              <a:t>Similarity between two nodes is the average similarity between objects linked with them in other SimTrees</a:t>
            </a:r>
            <a:endParaRPr lang="en-US" altLang="zh-CN" sz="2400" dirty="0">
              <a:ea typeface="SimSun" panose="02010600030101010101" pitchFamily="2" charset="-122"/>
            </a:endParaRPr>
          </a:p>
          <a:p>
            <a:pPr eaLnBrk="1" hangingPunct="1">
              <a:lnSpc>
                <a:spcPct val="110000"/>
              </a:lnSpc>
            </a:pPr>
            <a:r>
              <a:rPr lang="en-US" altLang="zh-CN" sz="2400" dirty="0">
                <a:ea typeface="SimSun" panose="02010600030101010101" pitchFamily="2" charset="-122"/>
              </a:rPr>
              <a:t>Adjust/ ratio for </a:t>
            </a:r>
            <a:r>
              <a:rPr lang="en-US" altLang="zh-CN" sz="2400" i="1" dirty="0">
                <a:ea typeface="SimSun" panose="02010600030101010101" pitchFamily="2" charset="-122"/>
              </a:rPr>
              <a:t>x = </a:t>
            </a:r>
            <a:r>
              <a:rPr lang="en-US" altLang="zh-CN" sz="2400" dirty="0">
                <a:ea typeface="SimSun" panose="02010600030101010101" pitchFamily="2" charset="-122"/>
              </a:rPr>
              <a:t> </a:t>
            </a:r>
            <a:endParaRPr lang="en-US" altLang="zh-CN" sz="2400" dirty="0">
              <a:ea typeface="SimSun" panose="02010600030101010101" pitchFamily="2" charset="-122"/>
            </a:endParaRPr>
          </a:p>
        </p:txBody>
      </p:sp>
      <p:grpSp>
        <p:nvGrpSpPr>
          <p:cNvPr id="99332" name="Group 4"/>
          <p:cNvGrpSpPr/>
          <p:nvPr/>
        </p:nvGrpSpPr>
        <p:grpSpPr>
          <a:xfrm>
            <a:off x="838200" y="1219200"/>
            <a:ext cx="6858000" cy="2895600"/>
            <a:chOff x="336" y="624"/>
            <a:chExt cx="4320" cy="1824"/>
          </a:xfrm>
        </p:grpSpPr>
        <p:sp>
          <p:nvSpPr>
            <p:cNvPr id="99338" name="Oval 5"/>
            <p:cNvSpPr/>
            <p:nvPr/>
          </p:nvSpPr>
          <p:spPr>
            <a:xfrm>
              <a:off x="3408" y="624"/>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9339" name="Oval 6"/>
            <p:cNvSpPr/>
            <p:nvPr/>
          </p:nvSpPr>
          <p:spPr>
            <a:xfrm>
              <a:off x="2544" y="1248"/>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anchor="b" anchorCtr="0"/>
            <a:p>
              <a:r>
                <a:rPr lang="en-US" altLang="zh-CN" sz="1800" i="1" dirty="0">
                  <a:latin typeface="Times New Roman" panose="02020603050405020304" pitchFamily="18" charset="0"/>
                  <a:ea typeface="SimSun" panose="02010600030101010101" pitchFamily="2" charset="-122"/>
                </a:rPr>
                <a:t>n</a:t>
              </a:r>
              <a:r>
                <a:rPr lang="en-US" altLang="zh-CN" sz="1800" baseline="-25000" dirty="0">
                  <a:latin typeface="Times New Roman" panose="02020603050405020304" pitchFamily="18" charset="0"/>
                  <a:ea typeface="SimSun" panose="02010600030101010101" pitchFamily="2" charset="-122"/>
                </a:rPr>
                <a:t>1</a:t>
              </a:r>
              <a:endParaRPr lang="en-US" altLang="zh-CN" sz="1800" baseline="-25000" dirty="0">
                <a:latin typeface="Times New Roman" panose="02020603050405020304" pitchFamily="18" charset="0"/>
                <a:ea typeface="SimSun" panose="02010600030101010101" pitchFamily="2" charset="-122"/>
              </a:endParaRPr>
            </a:p>
          </p:txBody>
        </p:sp>
        <p:sp>
          <p:nvSpPr>
            <p:cNvPr id="99340" name="Oval 7"/>
            <p:cNvSpPr/>
            <p:nvPr/>
          </p:nvSpPr>
          <p:spPr>
            <a:xfrm>
              <a:off x="3408" y="1248"/>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anchor="b" anchorCtr="0"/>
            <a:p>
              <a:r>
                <a:rPr lang="en-US" altLang="zh-CN" sz="1800" i="1" dirty="0">
                  <a:latin typeface="Times New Roman" panose="02020603050405020304" pitchFamily="18" charset="0"/>
                  <a:ea typeface="SimSun" panose="02010600030101010101" pitchFamily="2" charset="-122"/>
                </a:rPr>
                <a:t>n</a:t>
              </a:r>
              <a:r>
                <a:rPr lang="en-US" altLang="zh-CN" sz="1800" baseline="-25000" dirty="0">
                  <a:latin typeface="Times New Roman" panose="02020603050405020304" pitchFamily="18" charset="0"/>
                  <a:ea typeface="SimSun" panose="02010600030101010101" pitchFamily="2" charset="-122"/>
                </a:rPr>
                <a:t>2</a:t>
              </a:r>
              <a:endParaRPr lang="en-US" altLang="zh-CN" sz="1800" baseline="-25000" dirty="0">
                <a:latin typeface="Times New Roman" panose="02020603050405020304" pitchFamily="18" charset="0"/>
                <a:ea typeface="SimSun" panose="02010600030101010101" pitchFamily="2" charset="-122"/>
              </a:endParaRPr>
            </a:p>
          </p:txBody>
        </p:sp>
        <p:sp>
          <p:nvSpPr>
            <p:cNvPr id="99341" name="Oval 8"/>
            <p:cNvSpPr/>
            <p:nvPr/>
          </p:nvSpPr>
          <p:spPr>
            <a:xfrm>
              <a:off x="2352" y="1785"/>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tIns="0" bIns="0" anchor="b" anchorCtr="0"/>
            <a:p>
              <a:r>
                <a:rPr lang="en-US" altLang="zh-CN" sz="1800" i="1" dirty="0">
                  <a:latin typeface="Times New Roman" panose="02020603050405020304" pitchFamily="18" charset="0"/>
                  <a:ea typeface="SimSun" panose="02010600030101010101" pitchFamily="2" charset="-122"/>
                </a:rPr>
                <a:t>n</a:t>
              </a:r>
              <a:r>
                <a:rPr lang="en-US" altLang="zh-CN" sz="1800" baseline="-25000" dirty="0">
                  <a:latin typeface="Times New Roman" panose="02020603050405020304" pitchFamily="18" charset="0"/>
                  <a:ea typeface="SimSun" panose="02010600030101010101" pitchFamily="2" charset="-122"/>
                </a:rPr>
                <a:t>4</a:t>
              </a:r>
              <a:endParaRPr lang="en-US" altLang="zh-CN" sz="1800" baseline="-25000" dirty="0">
                <a:latin typeface="Times New Roman" panose="02020603050405020304" pitchFamily="18" charset="0"/>
                <a:ea typeface="SimSun" panose="02010600030101010101" pitchFamily="2" charset="-122"/>
              </a:endParaRPr>
            </a:p>
          </p:txBody>
        </p:sp>
        <p:sp>
          <p:nvSpPr>
            <p:cNvPr id="99342" name="Oval 9"/>
            <p:cNvSpPr/>
            <p:nvPr/>
          </p:nvSpPr>
          <p:spPr>
            <a:xfrm>
              <a:off x="2736" y="1785"/>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tIns="0" bIns="0" anchor="b" anchorCtr="0"/>
            <a:p>
              <a:r>
                <a:rPr lang="en-US" altLang="zh-CN" sz="1800" i="1" dirty="0">
                  <a:latin typeface="Times New Roman" panose="02020603050405020304" pitchFamily="18" charset="0"/>
                  <a:ea typeface="SimSun" panose="02010600030101010101" pitchFamily="2" charset="-122"/>
                </a:rPr>
                <a:t>n</a:t>
              </a:r>
              <a:r>
                <a:rPr lang="en-US" altLang="zh-CN" sz="1800" baseline="-25000" dirty="0">
                  <a:latin typeface="Times New Roman" panose="02020603050405020304" pitchFamily="18" charset="0"/>
                  <a:ea typeface="SimSun" panose="02010600030101010101" pitchFamily="2" charset="-122"/>
                </a:rPr>
                <a:t>5</a:t>
              </a:r>
              <a:endParaRPr lang="en-US" altLang="zh-CN" sz="1800" baseline="-25000" dirty="0">
                <a:latin typeface="Times New Roman" panose="02020603050405020304" pitchFamily="18" charset="0"/>
                <a:ea typeface="SimSun" panose="02010600030101010101" pitchFamily="2" charset="-122"/>
              </a:endParaRPr>
            </a:p>
          </p:txBody>
        </p:sp>
        <p:sp>
          <p:nvSpPr>
            <p:cNvPr id="99343" name="Oval 10"/>
            <p:cNvSpPr/>
            <p:nvPr/>
          </p:nvSpPr>
          <p:spPr>
            <a:xfrm>
              <a:off x="3120" y="1785"/>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anchor="b" anchorCtr="0"/>
            <a:p>
              <a:r>
                <a:rPr lang="en-US" altLang="zh-CN" sz="1800" i="1" dirty="0">
                  <a:latin typeface="Times New Roman" panose="02020603050405020304" pitchFamily="18" charset="0"/>
                  <a:ea typeface="SimSun" panose="02010600030101010101" pitchFamily="2" charset="-122"/>
                </a:rPr>
                <a:t>n</a:t>
              </a:r>
              <a:r>
                <a:rPr lang="en-US" altLang="zh-CN" sz="1800" baseline="-25000" dirty="0">
                  <a:latin typeface="Times New Roman" panose="02020603050405020304" pitchFamily="18" charset="0"/>
                  <a:ea typeface="SimSun" panose="02010600030101010101" pitchFamily="2" charset="-122"/>
                </a:rPr>
                <a:t>6</a:t>
              </a:r>
              <a:endParaRPr lang="en-US" altLang="zh-CN" sz="1800" baseline="-25000" dirty="0">
                <a:latin typeface="Times New Roman" panose="02020603050405020304" pitchFamily="18" charset="0"/>
                <a:ea typeface="SimSun" panose="02010600030101010101" pitchFamily="2" charset="-122"/>
              </a:endParaRPr>
            </a:p>
          </p:txBody>
        </p:sp>
        <p:sp>
          <p:nvSpPr>
            <p:cNvPr id="99344" name="Oval 11"/>
            <p:cNvSpPr/>
            <p:nvPr/>
          </p:nvSpPr>
          <p:spPr>
            <a:xfrm>
              <a:off x="3696" y="1785"/>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cxnSp>
          <p:nvCxnSpPr>
            <p:cNvPr id="99345" name="AutoShape 12"/>
            <p:cNvCxnSpPr>
              <a:stCxn id="99338" idx="4"/>
              <a:endCxn id="99340" idx="0"/>
            </p:cNvCxnSpPr>
            <p:nvPr/>
          </p:nvCxnSpPr>
          <p:spPr>
            <a:xfrm>
              <a:off x="3504" y="816"/>
              <a:ext cx="0" cy="432"/>
            </a:xfrm>
            <a:prstGeom prst="straightConnector1">
              <a:avLst/>
            </a:prstGeom>
            <a:ln w="9525" cap="flat" cmpd="sng">
              <a:solidFill>
                <a:schemeClr val="tx1"/>
              </a:solidFill>
              <a:prstDash val="solid"/>
              <a:headEnd type="none" w="med" len="med"/>
              <a:tailEnd type="none" w="med" len="med"/>
            </a:ln>
          </p:spPr>
        </p:cxnSp>
        <p:cxnSp>
          <p:nvCxnSpPr>
            <p:cNvPr id="99346" name="AutoShape 13"/>
            <p:cNvCxnSpPr>
              <a:stCxn id="99338" idx="3"/>
              <a:endCxn id="99339" idx="0"/>
            </p:cNvCxnSpPr>
            <p:nvPr/>
          </p:nvCxnSpPr>
          <p:spPr>
            <a:xfrm flipH="1">
              <a:off x="2640" y="788"/>
              <a:ext cx="796" cy="460"/>
            </a:xfrm>
            <a:prstGeom prst="straightConnector1">
              <a:avLst/>
            </a:prstGeom>
            <a:ln w="9525" cap="flat" cmpd="sng">
              <a:solidFill>
                <a:schemeClr val="tx1"/>
              </a:solidFill>
              <a:prstDash val="solid"/>
              <a:headEnd type="none" w="med" len="med"/>
              <a:tailEnd type="none" w="med" len="med"/>
            </a:ln>
          </p:spPr>
        </p:cxnSp>
        <p:cxnSp>
          <p:nvCxnSpPr>
            <p:cNvPr id="99347" name="AutoShape 14"/>
            <p:cNvCxnSpPr>
              <a:stCxn id="99339" idx="3"/>
              <a:endCxn id="99341" idx="0"/>
            </p:cNvCxnSpPr>
            <p:nvPr/>
          </p:nvCxnSpPr>
          <p:spPr>
            <a:xfrm flipH="1">
              <a:off x="2448" y="1412"/>
              <a:ext cx="124" cy="373"/>
            </a:xfrm>
            <a:prstGeom prst="straightConnector1">
              <a:avLst/>
            </a:prstGeom>
            <a:ln w="9525" cap="flat" cmpd="sng">
              <a:solidFill>
                <a:schemeClr val="tx1"/>
              </a:solidFill>
              <a:prstDash val="solid"/>
              <a:headEnd type="none" w="med" len="med"/>
              <a:tailEnd type="none" w="med" len="med"/>
            </a:ln>
          </p:spPr>
        </p:cxnSp>
        <p:cxnSp>
          <p:nvCxnSpPr>
            <p:cNvPr id="99348" name="AutoShape 15"/>
            <p:cNvCxnSpPr>
              <a:stCxn id="99339" idx="5"/>
              <a:endCxn id="99342" idx="0"/>
            </p:cNvCxnSpPr>
            <p:nvPr/>
          </p:nvCxnSpPr>
          <p:spPr>
            <a:xfrm>
              <a:off x="2708" y="1412"/>
              <a:ext cx="124" cy="373"/>
            </a:xfrm>
            <a:prstGeom prst="straightConnector1">
              <a:avLst/>
            </a:prstGeom>
            <a:ln w="9525" cap="flat" cmpd="sng">
              <a:solidFill>
                <a:schemeClr val="tx1"/>
              </a:solidFill>
              <a:prstDash val="solid"/>
              <a:headEnd type="none" w="med" len="med"/>
              <a:tailEnd type="none" w="med" len="med"/>
            </a:ln>
          </p:spPr>
        </p:cxnSp>
        <p:cxnSp>
          <p:nvCxnSpPr>
            <p:cNvPr id="99349" name="AutoShape 16"/>
            <p:cNvCxnSpPr>
              <a:stCxn id="99340" idx="3"/>
              <a:endCxn id="99343" idx="0"/>
            </p:cNvCxnSpPr>
            <p:nvPr/>
          </p:nvCxnSpPr>
          <p:spPr>
            <a:xfrm flipH="1">
              <a:off x="3216" y="1412"/>
              <a:ext cx="220" cy="373"/>
            </a:xfrm>
            <a:prstGeom prst="straightConnector1">
              <a:avLst/>
            </a:prstGeom>
            <a:ln w="9525" cap="flat" cmpd="sng">
              <a:solidFill>
                <a:schemeClr val="tx1"/>
              </a:solidFill>
              <a:prstDash val="solid"/>
              <a:headEnd type="none" w="med" len="med"/>
              <a:tailEnd type="none" w="med" len="med"/>
            </a:ln>
          </p:spPr>
        </p:cxnSp>
        <p:cxnSp>
          <p:nvCxnSpPr>
            <p:cNvPr id="99350" name="AutoShape 17"/>
            <p:cNvCxnSpPr>
              <a:stCxn id="99340" idx="5"/>
              <a:endCxn id="99344" idx="0"/>
            </p:cNvCxnSpPr>
            <p:nvPr/>
          </p:nvCxnSpPr>
          <p:spPr>
            <a:xfrm>
              <a:off x="3572" y="1412"/>
              <a:ext cx="220" cy="373"/>
            </a:xfrm>
            <a:prstGeom prst="straightConnector1">
              <a:avLst/>
            </a:prstGeom>
            <a:ln w="9525" cap="flat" cmpd="sng">
              <a:solidFill>
                <a:schemeClr val="tx1"/>
              </a:solidFill>
              <a:prstDash val="solid"/>
              <a:headEnd type="none" w="med" len="med"/>
              <a:tailEnd type="none" w="med" len="med"/>
            </a:ln>
          </p:spPr>
        </p:cxnSp>
        <p:cxnSp>
          <p:nvCxnSpPr>
            <p:cNvPr id="99351" name="AutoShape 18"/>
            <p:cNvCxnSpPr>
              <a:stCxn id="99341" idx="3"/>
              <a:endCxn id="99372" idx="0"/>
            </p:cNvCxnSpPr>
            <p:nvPr/>
          </p:nvCxnSpPr>
          <p:spPr>
            <a:xfrm flipH="1">
              <a:off x="2352" y="1949"/>
              <a:ext cx="28" cy="212"/>
            </a:xfrm>
            <a:prstGeom prst="straightConnector1">
              <a:avLst/>
            </a:prstGeom>
            <a:ln w="9525" cap="flat" cmpd="sng">
              <a:solidFill>
                <a:schemeClr val="tx1"/>
              </a:solidFill>
              <a:prstDash val="solid"/>
              <a:headEnd type="none" w="med" len="med"/>
              <a:tailEnd type="none" w="med" len="med"/>
            </a:ln>
          </p:spPr>
        </p:cxnSp>
        <p:cxnSp>
          <p:nvCxnSpPr>
            <p:cNvPr id="99352" name="AutoShape 19"/>
            <p:cNvCxnSpPr>
              <a:stCxn id="99341" idx="5"/>
              <a:endCxn id="99374" idx="0"/>
            </p:cNvCxnSpPr>
            <p:nvPr/>
          </p:nvCxnSpPr>
          <p:spPr>
            <a:xfrm>
              <a:off x="2516" y="1949"/>
              <a:ext cx="28" cy="220"/>
            </a:xfrm>
            <a:prstGeom prst="straightConnector1">
              <a:avLst/>
            </a:prstGeom>
            <a:ln w="9525" cap="flat" cmpd="sng">
              <a:solidFill>
                <a:schemeClr val="tx1"/>
              </a:solidFill>
              <a:prstDash val="solid"/>
              <a:headEnd type="none" w="med" len="med"/>
              <a:tailEnd type="none" w="med" len="med"/>
            </a:ln>
          </p:spPr>
        </p:cxnSp>
        <p:cxnSp>
          <p:nvCxnSpPr>
            <p:cNvPr id="99353" name="AutoShape 20"/>
            <p:cNvCxnSpPr>
              <a:stCxn id="99342" idx="3"/>
              <a:endCxn id="99375" idx="0"/>
            </p:cNvCxnSpPr>
            <p:nvPr/>
          </p:nvCxnSpPr>
          <p:spPr>
            <a:xfrm flipH="1">
              <a:off x="2736" y="1949"/>
              <a:ext cx="28" cy="212"/>
            </a:xfrm>
            <a:prstGeom prst="straightConnector1">
              <a:avLst/>
            </a:prstGeom>
            <a:ln w="9525" cap="flat" cmpd="sng">
              <a:solidFill>
                <a:schemeClr val="tx1"/>
              </a:solidFill>
              <a:prstDash val="solid"/>
              <a:headEnd type="none" w="med" len="med"/>
              <a:tailEnd type="none" w="med" len="med"/>
            </a:ln>
          </p:spPr>
        </p:cxnSp>
        <p:cxnSp>
          <p:nvCxnSpPr>
            <p:cNvPr id="99354" name="AutoShape 21"/>
            <p:cNvCxnSpPr>
              <a:stCxn id="99342" idx="5"/>
              <a:endCxn id="99376" idx="0"/>
            </p:cNvCxnSpPr>
            <p:nvPr/>
          </p:nvCxnSpPr>
          <p:spPr>
            <a:xfrm>
              <a:off x="2900" y="1949"/>
              <a:ext cx="28" cy="220"/>
            </a:xfrm>
            <a:prstGeom prst="straightConnector1">
              <a:avLst/>
            </a:prstGeom>
            <a:ln w="9525" cap="flat" cmpd="sng">
              <a:solidFill>
                <a:schemeClr val="tx1"/>
              </a:solidFill>
              <a:prstDash val="solid"/>
              <a:headEnd type="none" w="med" len="med"/>
              <a:tailEnd type="none" w="med" len="med"/>
            </a:ln>
          </p:spPr>
        </p:cxnSp>
        <p:cxnSp>
          <p:nvCxnSpPr>
            <p:cNvPr id="99355" name="AutoShape 22"/>
            <p:cNvCxnSpPr>
              <a:stCxn id="99343" idx="3"/>
              <a:endCxn id="99377" idx="0"/>
            </p:cNvCxnSpPr>
            <p:nvPr/>
          </p:nvCxnSpPr>
          <p:spPr>
            <a:xfrm flipH="1">
              <a:off x="3120" y="1949"/>
              <a:ext cx="28" cy="212"/>
            </a:xfrm>
            <a:prstGeom prst="straightConnector1">
              <a:avLst/>
            </a:prstGeom>
            <a:ln w="9525" cap="flat" cmpd="sng">
              <a:solidFill>
                <a:schemeClr val="tx1"/>
              </a:solidFill>
              <a:prstDash val="solid"/>
              <a:headEnd type="none" w="med" len="med"/>
              <a:tailEnd type="none" w="med" len="med"/>
            </a:ln>
          </p:spPr>
        </p:cxnSp>
        <p:cxnSp>
          <p:nvCxnSpPr>
            <p:cNvPr id="99356" name="AutoShape 23"/>
            <p:cNvCxnSpPr>
              <a:stCxn id="99343" idx="5"/>
              <a:endCxn id="99379" idx="0"/>
            </p:cNvCxnSpPr>
            <p:nvPr/>
          </p:nvCxnSpPr>
          <p:spPr>
            <a:xfrm>
              <a:off x="3284" y="1949"/>
              <a:ext cx="28" cy="220"/>
            </a:xfrm>
            <a:prstGeom prst="straightConnector1">
              <a:avLst/>
            </a:prstGeom>
            <a:ln w="9525" cap="flat" cmpd="sng">
              <a:solidFill>
                <a:schemeClr val="tx1"/>
              </a:solidFill>
              <a:prstDash val="solid"/>
              <a:headEnd type="none" w="med" len="med"/>
              <a:tailEnd type="none" w="med" len="med"/>
            </a:ln>
          </p:spPr>
        </p:cxnSp>
        <p:cxnSp>
          <p:nvCxnSpPr>
            <p:cNvPr id="99357" name="AutoShape 24"/>
            <p:cNvCxnSpPr>
              <a:stCxn id="99344" idx="3"/>
              <a:endCxn id="99380" idx="0"/>
            </p:cNvCxnSpPr>
            <p:nvPr/>
          </p:nvCxnSpPr>
          <p:spPr>
            <a:xfrm flipH="1">
              <a:off x="3696" y="1949"/>
              <a:ext cx="28" cy="220"/>
            </a:xfrm>
            <a:prstGeom prst="straightConnector1">
              <a:avLst/>
            </a:prstGeom>
            <a:ln w="9525" cap="flat" cmpd="sng">
              <a:solidFill>
                <a:schemeClr val="tx1"/>
              </a:solidFill>
              <a:prstDash val="solid"/>
              <a:headEnd type="none" w="med" len="med"/>
              <a:tailEnd type="none" w="med" len="med"/>
            </a:ln>
          </p:spPr>
        </p:cxnSp>
        <p:cxnSp>
          <p:nvCxnSpPr>
            <p:cNvPr id="99358" name="AutoShape 25"/>
            <p:cNvCxnSpPr>
              <a:stCxn id="99344" idx="5"/>
              <a:endCxn id="99381" idx="0"/>
            </p:cNvCxnSpPr>
            <p:nvPr/>
          </p:nvCxnSpPr>
          <p:spPr>
            <a:xfrm>
              <a:off x="3860" y="1949"/>
              <a:ext cx="28" cy="220"/>
            </a:xfrm>
            <a:prstGeom prst="straightConnector1">
              <a:avLst/>
            </a:prstGeom>
            <a:ln w="9525" cap="flat" cmpd="sng">
              <a:solidFill>
                <a:schemeClr val="tx1"/>
              </a:solidFill>
              <a:prstDash val="solid"/>
              <a:headEnd type="none" w="med" len="med"/>
              <a:tailEnd type="none" w="med" len="med"/>
            </a:ln>
          </p:spPr>
        </p:cxnSp>
        <p:cxnSp>
          <p:nvCxnSpPr>
            <p:cNvPr id="99359" name="AutoShape 26"/>
            <p:cNvCxnSpPr>
              <a:stCxn id="99343" idx="4"/>
              <a:endCxn id="99378" idx="0"/>
            </p:cNvCxnSpPr>
            <p:nvPr/>
          </p:nvCxnSpPr>
          <p:spPr>
            <a:xfrm>
              <a:off x="3216" y="1977"/>
              <a:ext cx="0" cy="192"/>
            </a:xfrm>
            <a:prstGeom prst="straightConnector1">
              <a:avLst/>
            </a:prstGeom>
            <a:ln w="9525" cap="flat" cmpd="sng">
              <a:solidFill>
                <a:schemeClr val="tx1"/>
              </a:solidFill>
              <a:prstDash val="solid"/>
              <a:headEnd type="none" w="med" len="med"/>
              <a:tailEnd type="none" w="med" len="med"/>
            </a:ln>
          </p:spPr>
        </p:cxnSp>
        <p:cxnSp>
          <p:nvCxnSpPr>
            <p:cNvPr id="99360" name="AutoShape 27"/>
            <p:cNvCxnSpPr>
              <a:stCxn id="99341" idx="4"/>
              <a:endCxn id="99373" idx="0"/>
            </p:cNvCxnSpPr>
            <p:nvPr/>
          </p:nvCxnSpPr>
          <p:spPr>
            <a:xfrm>
              <a:off x="2448" y="1977"/>
              <a:ext cx="0" cy="192"/>
            </a:xfrm>
            <a:prstGeom prst="straightConnector1">
              <a:avLst/>
            </a:prstGeom>
            <a:ln w="9525" cap="flat" cmpd="sng">
              <a:solidFill>
                <a:schemeClr val="tx1"/>
              </a:solidFill>
              <a:prstDash val="solid"/>
              <a:headEnd type="none" w="med" len="med"/>
              <a:tailEnd type="none" w="med" len="med"/>
            </a:ln>
          </p:spPr>
        </p:cxnSp>
        <p:sp>
          <p:nvSpPr>
            <p:cNvPr id="99361" name="Oval 28"/>
            <p:cNvSpPr/>
            <p:nvPr/>
          </p:nvSpPr>
          <p:spPr>
            <a:xfrm>
              <a:off x="4224" y="1248"/>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anchor="b" anchorCtr="0"/>
            <a:p>
              <a:r>
                <a:rPr lang="en-US" altLang="zh-CN" sz="1800" i="1" dirty="0">
                  <a:latin typeface="Times New Roman" panose="02020603050405020304" pitchFamily="18" charset="0"/>
                  <a:ea typeface="SimSun" panose="02010600030101010101" pitchFamily="2" charset="-122"/>
                </a:rPr>
                <a:t>n</a:t>
              </a:r>
              <a:r>
                <a:rPr lang="en-US" altLang="zh-CN" sz="1800" baseline="-25000" dirty="0">
                  <a:latin typeface="Times New Roman" panose="02020603050405020304" pitchFamily="18" charset="0"/>
                  <a:ea typeface="SimSun" panose="02010600030101010101" pitchFamily="2" charset="-122"/>
                </a:rPr>
                <a:t>3</a:t>
              </a:r>
              <a:endParaRPr lang="en-US" altLang="zh-CN" sz="1800" baseline="-25000" dirty="0">
                <a:latin typeface="Times New Roman" panose="02020603050405020304" pitchFamily="18" charset="0"/>
                <a:ea typeface="SimSun" panose="02010600030101010101" pitchFamily="2" charset="-122"/>
              </a:endParaRPr>
            </a:p>
          </p:txBody>
        </p:sp>
        <p:sp>
          <p:nvSpPr>
            <p:cNvPr id="99362" name="Oval 29"/>
            <p:cNvSpPr/>
            <p:nvPr/>
          </p:nvSpPr>
          <p:spPr>
            <a:xfrm>
              <a:off x="4032" y="1785"/>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9363" name="Oval 30"/>
            <p:cNvSpPr/>
            <p:nvPr/>
          </p:nvSpPr>
          <p:spPr>
            <a:xfrm>
              <a:off x="4416" y="1785"/>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cxnSp>
          <p:nvCxnSpPr>
            <p:cNvPr id="99364" name="AutoShape 31"/>
            <p:cNvCxnSpPr>
              <a:stCxn id="99361" idx="3"/>
              <a:endCxn id="99362" idx="0"/>
            </p:cNvCxnSpPr>
            <p:nvPr/>
          </p:nvCxnSpPr>
          <p:spPr>
            <a:xfrm flipH="1">
              <a:off x="4128" y="1412"/>
              <a:ext cx="124" cy="373"/>
            </a:xfrm>
            <a:prstGeom prst="straightConnector1">
              <a:avLst/>
            </a:prstGeom>
            <a:ln w="9525" cap="flat" cmpd="sng">
              <a:solidFill>
                <a:schemeClr val="tx1"/>
              </a:solidFill>
              <a:prstDash val="solid"/>
              <a:headEnd type="none" w="med" len="med"/>
              <a:tailEnd type="none" w="med" len="med"/>
            </a:ln>
          </p:spPr>
        </p:cxnSp>
        <p:cxnSp>
          <p:nvCxnSpPr>
            <p:cNvPr id="99365" name="AutoShape 32"/>
            <p:cNvCxnSpPr>
              <a:stCxn id="99361" idx="5"/>
              <a:endCxn id="99363" idx="0"/>
            </p:cNvCxnSpPr>
            <p:nvPr/>
          </p:nvCxnSpPr>
          <p:spPr>
            <a:xfrm>
              <a:off x="4388" y="1412"/>
              <a:ext cx="124" cy="373"/>
            </a:xfrm>
            <a:prstGeom prst="straightConnector1">
              <a:avLst/>
            </a:prstGeom>
            <a:ln w="9525" cap="flat" cmpd="sng">
              <a:solidFill>
                <a:schemeClr val="tx1"/>
              </a:solidFill>
              <a:prstDash val="solid"/>
              <a:headEnd type="none" w="med" len="med"/>
              <a:tailEnd type="none" w="med" len="med"/>
            </a:ln>
          </p:spPr>
        </p:cxnSp>
        <p:cxnSp>
          <p:nvCxnSpPr>
            <p:cNvPr id="99366" name="AutoShape 33"/>
            <p:cNvCxnSpPr>
              <a:stCxn id="99362" idx="3"/>
              <a:endCxn id="99382" idx="0"/>
            </p:cNvCxnSpPr>
            <p:nvPr/>
          </p:nvCxnSpPr>
          <p:spPr>
            <a:xfrm flipH="1">
              <a:off x="4032" y="1949"/>
              <a:ext cx="28" cy="220"/>
            </a:xfrm>
            <a:prstGeom prst="straightConnector1">
              <a:avLst/>
            </a:prstGeom>
            <a:ln w="9525" cap="flat" cmpd="sng">
              <a:solidFill>
                <a:schemeClr val="tx1"/>
              </a:solidFill>
              <a:prstDash val="solid"/>
              <a:headEnd type="none" w="med" len="med"/>
              <a:tailEnd type="none" w="med" len="med"/>
            </a:ln>
          </p:spPr>
        </p:cxnSp>
        <p:cxnSp>
          <p:nvCxnSpPr>
            <p:cNvPr id="99367" name="AutoShape 34"/>
            <p:cNvCxnSpPr>
              <a:stCxn id="99362" idx="5"/>
              <a:endCxn id="99384" idx="0"/>
            </p:cNvCxnSpPr>
            <p:nvPr/>
          </p:nvCxnSpPr>
          <p:spPr>
            <a:xfrm>
              <a:off x="4196" y="1949"/>
              <a:ext cx="28" cy="220"/>
            </a:xfrm>
            <a:prstGeom prst="straightConnector1">
              <a:avLst/>
            </a:prstGeom>
            <a:ln w="9525" cap="flat" cmpd="sng">
              <a:solidFill>
                <a:schemeClr val="tx1"/>
              </a:solidFill>
              <a:prstDash val="solid"/>
              <a:headEnd type="none" w="med" len="med"/>
              <a:tailEnd type="none" w="med" len="med"/>
            </a:ln>
          </p:spPr>
        </p:cxnSp>
        <p:cxnSp>
          <p:nvCxnSpPr>
            <p:cNvPr id="99368" name="AutoShape 35"/>
            <p:cNvCxnSpPr>
              <a:stCxn id="99363" idx="3"/>
              <a:endCxn id="99385" idx="0"/>
            </p:cNvCxnSpPr>
            <p:nvPr/>
          </p:nvCxnSpPr>
          <p:spPr>
            <a:xfrm flipH="1">
              <a:off x="4416" y="1949"/>
              <a:ext cx="28" cy="220"/>
            </a:xfrm>
            <a:prstGeom prst="straightConnector1">
              <a:avLst/>
            </a:prstGeom>
            <a:ln w="9525" cap="flat" cmpd="sng">
              <a:solidFill>
                <a:schemeClr val="tx1"/>
              </a:solidFill>
              <a:prstDash val="solid"/>
              <a:headEnd type="none" w="med" len="med"/>
              <a:tailEnd type="none" w="med" len="med"/>
            </a:ln>
          </p:spPr>
        </p:cxnSp>
        <p:cxnSp>
          <p:nvCxnSpPr>
            <p:cNvPr id="99369" name="AutoShape 36"/>
            <p:cNvCxnSpPr>
              <a:stCxn id="99363" idx="5"/>
              <a:endCxn id="99386" idx="0"/>
            </p:cNvCxnSpPr>
            <p:nvPr/>
          </p:nvCxnSpPr>
          <p:spPr>
            <a:xfrm>
              <a:off x="4580" y="1949"/>
              <a:ext cx="28" cy="220"/>
            </a:xfrm>
            <a:prstGeom prst="straightConnector1">
              <a:avLst/>
            </a:prstGeom>
            <a:ln w="9525" cap="flat" cmpd="sng">
              <a:solidFill>
                <a:schemeClr val="tx1"/>
              </a:solidFill>
              <a:prstDash val="solid"/>
              <a:headEnd type="none" w="med" len="med"/>
              <a:tailEnd type="none" w="med" len="med"/>
            </a:ln>
          </p:spPr>
        </p:cxnSp>
        <p:cxnSp>
          <p:nvCxnSpPr>
            <p:cNvPr id="99370" name="AutoShape 37"/>
            <p:cNvCxnSpPr>
              <a:stCxn id="99362" idx="4"/>
              <a:endCxn id="99383" idx="0"/>
            </p:cNvCxnSpPr>
            <p:nvPr/>
          </p:nvCxnSpPr>
          <p:spPr>
            <a:xfrm>
              <a:off x="4128" y="1977"/>
              <a:ext cx="0" cy="192"/>
            </a:xfrm>
            <a:prstGeom prst="straightConnector1">
              <a:avLst/>
            </a:prstGeom>
            <a:ln w="9525" cap="flat" cmpd="sng">
              <a:solidFill>
                <a:schemeClr val="tx1"/>
              </a:solidFill>
              <a:prstDash val="solid"/>
              <a:headEnd type="none" w="med" len="med"/>
              <a:tailEnd type="none" w="med" len="med"/>
            </a:ln>
          </p:spPr>
        </p:cxnSp>
        <p:cxnSp>
          <p:nvCxnSpPr>
            <p:cNvPr id="99371" name="AutoShape 38"/>
            <p:cNvCxnSpPr>
              <a:stCxn id="99338" idx="5"/>
              <a:endCxn id="99361" idx="0"/>
            </p:cNvCxnSpPr>
            <p:nvPr/>
          </p:nvCxnSpPr>
          <p:spPr>
            <a:xfrm>
              <a:off x="3572" y="788"/>
              <a:ext cx="748" cy="460"/>
            </a:xfrm>
            <a:prstGeom prst="straightConnector1">
              <a:avLst/>
            </a:prstGeom>
            <a:ln w="9525" cap="flat" cmpd="sng">
              <a:solidFill>
                <a:schemeClr val="tx1"/>
              </a:solidFill>
              <a:prstDash val="solid"/>
              <a:headEnd type="none" w="med" len="med"/>
              <a:tailEnd type="none" w="med" len="med"/>
            </a:ln>
          </p:spPr>
        </p:cxnSp>
        <p:sp>
          <p:nvSpPr>
            <p:cNvPr id="99372" name="Oval 39"/>
            <p:cNvSpPr/>
            <p:nvPr/>
          </p:nvSpPr>
          <p:spPr>
            <a:xfrm>
              <a:off x="2304" y="2169"/>
              <a:ext cx="96" cy="96"/>
            </a:xfrm>
            <a:prstGeom prst="ellipse">
              <a:avLst/>
            </a:prstGeom>
            <a:solidFill>
              <a:srgbClr val="C0C0C0"/>
            </a:solidFill>
            <a:ln w="25400" cap="flat" cmpd="sng">
              <a:solidFill>
                <a:schemeClr val="tx1"/>
              </a:solidFill>
              <a:prstDash val="solid"/>
              <a:headEnd type="none" w="med" len="med"/>
              <a:tailEnd type="none" w="med" len="med"/>
            </a:ln>
          </p:spPr>
          <p:txBody>
            <a:bodyPr wrap="none" anchor="ctr" anchorCtr="0"/>
            <a:p>
              <a:endParaRPr sz="1600" dirty="0">
                <a:latin typeface="Arial" panose="020B0604020202020204" pitchFamily="34" charset="0"/>
                <a:ea typeface="SimSun" panose="02010600030101010101" pitchFamily="2" charset="-122"/>
              </a:endParaRPr>
            </a:p>
          </p:txBody>
        </p:sp>
        <p:sp>
          <p:nvSpPr>
            <p:cNvPr id="99373" name="Oval 40"/>
            <p:cNvSpPr/>
            <p:nvPr/>
          </p:nvSpPr>
          <p:spPr>
            <a:xfrm>
              <a:off x="2400" y="2169"/>
              <a:ext cx="96" cy="96"/>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sz="1400" dirty="0">
                <a:latin typeface="Arial" panose="020B0604020202020204" pitchFamily="34" charset="0"/>
                <a:ea typeface="SimSun" panose="02010600030101010101" pitchFamily="2" charset="-122"/>
              </a:endParaRPr>
            </a:p>
          </p:txBody>
        </p:sp>
        <p:sp>
          <p:nvSpPr>
            <p:cNvPr id="99374" name="Oval 41"/>
            <p:cNvSpPr/>
            <p:nvPr/>
          </p:nvSpPr>
          <p:spPr>
            <a:xfrm>
              <a:off x="2496" y="2169"/>
              <a:ext cx="96" cy="96"/>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9375" name="Oval 42"/>
            <p:cNvSpPr/>
            <p:nvPr/>
          </p:nvSpPr>
          <p:spPr>
            <a:xfrm>
              <a:off x="2688" y="2169"/>
              <a:ext cx="96" cy="96"/>
            </a:xfrm>
            <a:prstGeom prst="ellipse">
              <a:avLst/>
            </a:prstGeom>
            <a:solidFill>
              <a:srgbClr val="C0C0C0"/>
            </a:solidFill>
            <a:ln w="254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9376" name="Oval 43"/>
            <p:cNvSpPr/>
            <p:nvPr/>
          </p:nvSpPr>
          <p:spPr>
            <a:xfrm>
              <a:off x="2880" y="2169"/>
              <a:ext cx="96" cy="96"/>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sz="1600" dirty="0">
                <a:latin typeface="Arial" panose="020B0604020202020204" pitchFamily="34" charset="0"/>
                <a:ea typeface="SimSun" panose="02010600030101010101" pitchFamily="2" charset="-122"/>
              </a:endParaRPr>
            </a:p>
          </p:txBody>
        </p:sp>
        <p:sp>
          <p:nvSpPr>
            <p:cNvPr id="99377" name="Oval 44"/>
            <p:cNvSpPr/>
            <p:nvPr/>
          </p:nvSpPr>
          <p:spPr>
            <a:xfrm>
              <a:off x="3072" y="2169"/>
              <a:ext cx="96" cy="96"/>
            </a:xfrm>
            <a:prstGeom prst="ellipse">
              <a:avLst/>
            </a:prstGeom>
            <a:solidFill>
              <a:srgbClr val="C0C0C0"/>
            </a:solidFill>
            <a:ln w="254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9378" name="Oval 45"/>
            <p:cNvSpPr/>
            <p:nvPr/>
          </p:nvSpPr>
          <p:spPr>
            <a:xfrm>
              <a:off x="3168" y="2169"/>
              <a:ext cx="96" cy="96"/>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9379" name="Oval 46"/>
            <p:cNvSpPr/>
            <p:nvPr/>
          </p:nvSpPr>
          <p:spPr>
            <a:xfrm>
              <a:off x="3264" y="2169"/>
              <a:ext cx="96" cy="96"/>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9380" name="Oval 47"/>
            <p:cNvSpPr/>
            <p:nvPr/>
          </p:nvSpPr>
          <p:spPr>
            <a:xfrm>
              <a:off x="3648" y="2169"/>
              <a:ext cx="96" cy="96"/>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9381" name="Oval 48"/>
            <p:cNvSpPr/>
            <p:nvPr/>
          </p:nvSpPr>
          <p:spPr>
            <a:xfrm>
              <a:off x="3840" y="2169"/>
              <a:ext cx="96" cy="96"/>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9382" name="Oval 49"/>
            <p:cNvSpPr/>
            <p:nvPr/>
          </p:nvSpPr>
          <p:spPr>
            <a:xfrm>
              <a:off x="3984" y="2169"/>
              <a:ext cx="96" cy="96"/>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9383" name="Oval 50"/>
            <p:cNvSpPr/>
            <p:nvPr/>
          </p:nvSpPr>
          <p:spPr>
            <a:xfrm>
              <a:off x="4080" y="2169"/>
              <a:ext cx="96" cy="96"/>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9384" name="Oval 51"/>
            <p:cNvSpPr/>
            <p:nvPr/>
          </p:nvSpPr>
          <p:spPr>
            <a:xfrm>
              <a:off x="4176" y="2169"/>
              <a:ext cx="96" cy="96"/>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9385" name="Oval 52"/>
            <p:cNvSpPr/>
            <p:nvPr/>
          </p:nvSpPr>
          <p:spPr>
            <a:xfrm>
              <a:off x="4368" y="2169"/>
              <a:ext cx="96" cy="96"/>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9386" name="Oval 53"/>
            <p:cNvSpPr/>
            <p:nvPr/>
          </p:nvSpPr>
          <p:spPr>
            <a:xfrm>
              <a:off x="4560" y="2169"/>
              <a:ext cx="96" cy="96"/>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cxnSp>
          <p:nvCxnSpPr>
            <p:cNvPr id="99387" name="AutoShape 54"/>
            <p:cNvCxnSpPr>
              <a:stCxn id="99341" idx="6"/>
              <a:endCxn id="99342" idx="2"/>
            </p:cNvCxnSpPr>
            <p:nvPr/>
          </p:nvCxnSpPr>
          <p:spPr>
            <a:xfrm>
              <a:off x="2544" y="1881"/>
              <a:ext cx="192" cy="0"/>
            </a:xfrm>
            <a:prstGeom prst="straightConnector1">
              <a:avLst/>
            </a:prstGeom>
            <a:ln w="9525" cap="flat" cmpd="sng">
              <a:solidFill>
                <a:schemeClr val="tx1"/>
              </a:solidFill>
              <a:prstDash val="solid"/>
              <a:headEnd type="none" w="med" len="med"/>
              <a:tailEnd type="none" w="med" len="med"/>
            </a:ln>
          </p:spPr>
        </p:cxnSp>
        <p:sp>
          <p:nvSpPr>
            <p:cNvPr id="99388" name="Text Box 55"/>
            <p:cNvSpPr txBox="1"/>
            <p:nvPr/>
          </p:nvSpPr>
          <p:spPr>
            <a:xfrm>
              <a:off x="2160" y="1920"/>
              <a:ext cx="288" cy="192"/>
            </a:xfrm>
            <a:prstGeom prst="rect">
              <a:avLst/>
            </a:prstGeom>
            <a:noFill/>
            <a:ln w="9525">
              <a:noFill/>
            </a:ln>
          </p:spPr>
          <p:txBody>
            <a:bodyPr>
              <a:spAutoFit/>
            </a:bodyPr>
            <a:p>
              <a:pPr>
                <a:spcBef>
                  <a:spcPct val="50000"/>
                </a:spcBef>
              </a:pPr>
              <a:r>
                <a:rPr lang="en-US" altLang="zh-CN" sz="1400" dirty="0">
                  <a:latin typeface="Times New Roman" panose="02020603050405020304" pitchFamily="18" charset="0"/>
                  <a:ea typeface="SimSun" panose="02010600030101010101" pitchFamily="2" charset="-122"/>
                </a:rPr>
                <a:t>0.9</a:t>
              </a:r>
              <a:endParaRPr lang="en-US" altLang="zh-CN" sz="1400" dirty="0">
                <a:latin typeface="Times New Roman" panose="02020603050405020304" pitchFamily="18" charset="0"/>
                <a:ea typeface="SimSun" panose="02010600030101010101" pitchFamily="2" charset="-122"/>
              </a:endParaRPr>
            </a:p>
          </p:txBody>
        </p:sp>
        <p:sp>
          <p:nvSpPr>
            <p:cNvPr id="99389" name="Text Box 56"/>
            <p:cNvSpPr txBox="1"/>
            <p:nvPr/>
          </p:nvSpPr>
          <p:spPr>
            <a:xfrm>
              <a:off x="2928" y="1929"/>
              <a:ext cx="288" cy="192"/>
            </a:xfrm>
            <a:prstGeom prst="rect">
              <a:avLst/>
            </a:prstGeom>
            <a:noFill/>
            <a:ln w="9525">
              <a:noFill/>
            </a:ln>
          </p:spPr>
          <p:txBody>
            <a:bodyPr>
              <a:spAutoFit/>
            </a:bodyPr>
            <a:p>
              <a:pPr>
                <a:spcBef>
                  <a:spcPct val="50000"/>
                </a:spcBef>
              </a:pPr>
              <a:r>
                <a:rPr lang="en-US" altLang="zh-CN" sz="1400" dirty="0">
                  <a:latin typeface="Times New Roman" panose="02020603050405020304" pitchFamily="18" charset="0"/>
                  <a:ea typeface="SimSun" panose="02010600030101010101" pitchFamily="2" charset="-122"/>
                </a:rPr>
                <a:t>1.0</a:t>
              </a:r>
              <a:endParaRPr lang="en-US" altLang="zh-CN" sz="1400" dirty="0">
                <a:latin typeface="Times New Roman" panose="02020603050405020304" pitchFamily="18" charset="0"/>
                <a:ea typeface="SimSun" panose="02010600030101010101" pitchFamily="2" charset="-122"/>
              </a:endParaRPr>
            </a:p>
          </p:txBody>
        </p:sp>
        <p:sp>
          <p:nvSpPr>
            <p:cNvPr id="99390" name="Text Box 57"/>
            <p:cNvSpPr txBox="1"/>
            <p:nvPr/>
          </p:nvSpPr>
          <p:spPr>
            <a:xfrm>
              <a:off x="3072" y="1488"/>
              <a:ext cx="288" cy="192"/>
            </a:xfrm>
            <a:prstGeom prst="rect">
              <a:avLst/>
            </a:prstGeom>
            <a:noFill/>
            <a:ln w="9525">
              <a:noFill/>
            </a:ln>
          </p:spPr>
          <p:txBody>
            <a:bodyPr>
              <a:spAutoFit/>
            </a:bodyPr>
            <a:p>
              <a:pPr>
                <a:spcBef>
                  <a:spcPct val="50000"/>
                </a:spcBef>
              </a:pPr>
              <a:r>
                <a:rPr lang="en-US" altLang="zh-CN" sz="1400" dirty="0">
                  <a:latin typeface="Times New Roman" panose="02020603050405020304" pitchFamily="18" charset="0"/>
                  <a:ea typeface="SimSun" panose="02010600030101010101" pitchFamily="2" charset="-122"/>
                </a:rPr>
                <a:t>0.9</a:t>
              </a:r>
              <a:endParaRPr lang="en-US" altLang="zh-CN" sz="1400" dirty="0">
                <a:latin typeface="Times New Roman" panose="02020603050405020304" pitchFamily="18" charset="0"/>
                <a:ea typeface="SimSun" panose="02010600030101010101" pitchFamily="2" charset="-122"/>
              </a:endParaRPr>
            </a:p>
          </p:txBody>
        </p:sp>
        <p:cxnSp>
          <p:nvCxnSpPr>
            <p:cNvPr id="99391" name="AutoShape 58"/>
            <p:cNvCxnSpPr>
              <a:stCxn id="99343" idx="7"/>
              <a:endCxn id="99344" idx="1"/>
            </p:cNvCxnSpPr>
            <p:nvPr/>
          </p:nvCxnSpPr>
          <p:spPr>
            <a:xfrm rot="5400000" flipV="1">
              <a:off x="3503" y="1593"/>
              <a:ext cx="1" cy="440"/>
            </a:xfrm>
            <a:prstGeom prst="curvedConnector3">
              <a:avLst>
                <a:gd name="adj1" fmla="val -10600005"/>
              </a:avLst>
            </a:prstGeom>
            <a:ln w="9525" cap="flat" cmpd="sng">
              <a:solidFill>
                <a:schemeClr val="tx1"/>
              </a:solidFill>
              <a:prstDash val="solid"/>
              <a:headEnd type="none" w="med" len="med"/>
              <a:tailEnd type="none" w="med" len="med"/>
            </a:ln>
          </p:spPr>
        </p:cxnSp>
        <p:cxnSp>
          <p:nvCxnSpPr>
            <p:cNvPr id="99392" name="AutoShape 59"/>
            <p:cNvCxnSpPr>
              <a:stCxn id="99362" idx="6"/>
              <a:endCxn id="99363" idx="2"/>
            </p:cNvCxnSpPr>
            <p:nvPr/>
          </p:nvCxnSpPr>
          <p:spPr>
            <a:xfrm>
              <a:off x="4224" y="1881"/>
              <a:ext cx="192" cy="0"/>
            </a:xfrm>
            <a:prstGeom prst="straightConnector1">
              <a:avLst/>
            </a:prstGeom>
            <a:ln w="9525" cap="flat" cmpd="sng">
              <a:solidFill>
                <a:schemeClr val="tx1"/>
              </a:solidFill>
              <a:prstDash val="solid"/>
              <a:headEnd type="none" w="med" len="med"/>
              <a:tailEnd type="none" w="med" len="med"/>
            </a:ln>
          </p:spPr>
        </p:cxnSp>
        <p:cxnSp>
          <p:nvCxnSpPr>
            <p:cNvPr id="99393" name="AutoShape 60"/>
            <p:cNvCxnSpPr>
              <a:stCxn id="99339" idx="6"/>
              <a:endCxn id="99340" idx="2"/>
            </p:cNvCxnSpPr>
            <p:nvPr/>
          </p:nvCxnSpPr>
          <p:spPr>
            <a:xfrm>
              <a:off x="2736" y="1344"/>
              <a:ext cx="672" cy="0"/>
            </a:xfrm>
            <a:prstGeom prst="straightConnector1">
              <a:avLst/>
            </a:prstGeom>
            <a:ln w="9525" cap="flat" cmpd="sng">
              <a:solidFill>
                <a:schemeClr val="tx1"/>
              </a:solidFill>
              <a:prstDash val="solid"/>
              <a:headEnd type="none" w="med" len="med"/>
              <a:tailEnd type="none" w="med" len="med"/>
            </a:ln>
          </p:spPr>
        </p:cxnSp>
        <p:cxnSp>
          <p:nvCxnSpPr>
            <p:cNvPr id="99394" name="AutoShape 61"/>
            <p:cNvCxnSpPr>
              <a:stCxn id="99340" idx="6"/>
              <a:endCxn id="99361" idx="2"/>
            </p:cNvCxnSpPr>
            <p:nvPr/>
          </p:nvCxnSpPr>
          <p:spPr>
            <a:xfrm>
              <a:off x="3600" y="1344"/>
              <a:ext cx="624" cy="0"/>
            </a:xfrm>
            <a:prstGeom prst="straightConnector1">
              <a:avLst/>
            </a:prstGeom>
            <a:ln w="9525" cap="flat" cmpd="sng">
              <a:solidFill>
                <a:schemeClr val="tx1"/>
              </a:solidFill>
              <a:prstDash val="solid"/>
              <a:headEnd type="none" w="med" len="med"/>
              <a:tailEnd type="none" w="med" len="med"/>
            </a:ln>
          </p:spPr>
        </p:cxnSp>
        <p:cxnSp>
          <p:nvCxnSpPr>
            <p:cNvPr id="99395" name="AutoShape 62"/>
            <p:cNvCxnSpPr>
              <a:stCxn id="99339" idx="7"/>
              <a:endCxn id="99361" idx="1"/>
            </p:cNvCxnSpPr>
            <p:nvPr/>
          </p:nvCxnSpPr>
          <p:spPr>
            <a:xfrm rot="5400000" flipV="1">
              <a:off x="3479" y="504"/>
              <a:ext cx="1" cy="1544"/>
            </a:xfrm>
            <a:prstGeom prst="curvedConnector3">
              <a:avLst>
                <a:gd name="adj1" fmla="val -17200009"/>
              </a:avLst>
            </a:prstGeom>
            <a:ln w="9525" cap="flat" cmpd="sng">
              <a:solidFill>
                <a:schemeClr val="tx1"/>
              </a:solidFill>
              <a:prstDash val="solid"/>
              <a:headEnd type="none" w="med" len="med"/>
              <a:tailEnd type="none" w="med" len="med"/>
            </a:ln>
          </p:spPr>
        </p:cxnSp>
        <p:cxnSp>
          <p:nvCxnSpPr>
            <p:cNvPr id="99396" name="AutoShape 63"/>
            <p:cNvCxnSpPr>
              <a:stCxn id="99363" idx="4"/>
              <a:endCxn id="99397" idx="0"/>
            </p:cNvCxnSpPr>
            <p:nvPr/>
          </p:nvCxnSpPr>
          <p:spPr>
            <a:xfrm>
              <a:off x="4512" y="1977"/>
              <a:ext cx="0" cy="192"/>
            </a:xfrm>
            <a:prstGeom prst="straightConnector1">
              <a:avLst/>
            </a:prstGeom>
            <a:ln w="9525" cap="flat" cmpd="sng">
              <a:solidFill>
                <a:schemeClr val="tx1"/>
              </a:solidFill>
              <a:prstDash val="solid"/>
              <a:headEnd type="none" w="med" len="med"/>
              <a:tailEnd type="none" w="med" len="med"/>
            </a:ln>
          </p:spPr>
        </p:cxnSp>
        <p:sp>
          <p:nvSpPr>
            <p:cNvPr id="99397" name="Oval 64"/>
            <p:cNvSpPr/>
            <p:nvPr/>
          </p:nvSpPr>
          <p:spPr>
            <a:xfrm>
              <a:off x="4464" y="2169"/>
              <a:ext cx="96" cy="96"/>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cxnSp>
          <p:nvCxnSpPr>
            <p:cNvPr id="99398" name="AutoShape 65"/>
            <p:cNvCxnSpPr>
              <a:stCxn id="99344" idx="4"/>
              <a:endCxn id="99399" idx="0"/>
            </p:cNvCxnSpPr>
            <p:nvPr/>
          </p:nvCxnSpPr>
          <p:spPr>
            <a:xfrm>
              <a:off x="3792" y="1977"/>
              <a:ext cx="0" cy="192"/>
            </a:xfrm>
            <a:prstGeom prst="straightConnector1">
              <a:avLst/>
            </a:prstGeom>
            <a:ln w="9525" cap="flat" cmpd="sng">
              <a:solidFill>
                <a:schemeClr val="tx1"/>
              </a:solidFill>
              <a:prstDash val="solid"/>
              <a:headEnd type="none" w="med" len="med"/>
              <a:tailEnd type="none" w="med" len="med"/>
            </a:ln>
          </p:spPr>
        </p:cxnSp>
        <p:sp>
          <p:nvSpPr>
            <p:cNvPr id="99399" name="Oval 66"/>
            <p:cNvSpPr/>
            <p:nvPr/>
          </p:nvSpPr>
          <p:spPr>
            <a:xfrm>
              <a:off x="3744" y="2169"/>
              <a:ext cx="96" cy="96"/>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cxnSp>
          <p:nvCxnSpPr>
            <p:cNvPr id="99400" name="AutoShape 67"/>
            <p:cNvCxnSpPr>
              <a:stCxn id="99342" idx="4"/>
              <a:endCxn id="99401" idx="0"/>
            </p:cNvCxnSpPr>
            <p:nvPr/>
          </p:nvCxnSpPr>
          <p:spPr>
            <a:xfrm>
              <a:off x="2832" y="1977"/>
              <a:ext cx="0" cy="192"/>
            </a:xfrm>
            <a:prstGeom prst="straightConnector1">
              <a:avLst/>
            </a:prstGeom>
            <a:ln w="9525" cap="flat" cmpd="sng">
              <a:solidFill>
                <a:schemeClr val="tx1"/>
              </a:solidFill>
              <a:prstDash val="solid"/>
              <a:headEnd type="none" w="med" len="med"/>
              <a:tailEnd type="none" w="med" len="med"/>
            </a:ln>
          </p:spPr>
        </p:cxnSp>
        <p:sp>
          <p:nvSpPr>
            <p:cNvPr id="99401" name="Oval 68"/>
            <p:cNvSpPr/>
            <p:nvPr/>
          </p:nvSpPr>
          <p:spPr>
            <a:xfrm>
              <a:off x="2784" y="2169"/>
              <a:ext cx="96" cy="96"/>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9402" name="Oval 69"/>
            <p:cNvSpPr/>
            <p:nvPr/>
          </p:nvSpPr>
          <p:spPr>
            <a:xfrm>
              <a:off x="3408" y="1785"/>
              <a:ext cx="192" cy="19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cxnSp>
          <p:nvCxnSpPr>
            <p:cNvPr id="99403" name="AutoShape 70"/>
            <p:cNvCxnSpPr>
              <a:stCxn id="99402" idx="3"/>
              <a:endCxn id="99405" idx="0"/>
            </p:cNvCxnSpPr>
            <p:nvPr/>
          </p:nvCxnSpPr>
          <p:spPr>
            <a:xfrm flipH="1">
              <a:off x="3408" y="1949"/>
              <a:ext cx="28" cy="220"/>
            </a:xfrm>
            <a:prstGeom prst="straightConnector1">
              <a:avLst/>
            </a:prstGeom>
            <a:ln w="9525" cap="flat" cmpd="sng">
              <a:solidFill>
                <a:schemeClr val="tx1"/>
              </a:solidFill>
              <a:prstDash val="solid"/>
              <a:headEnd type="none" w="med" len="med"/>
              <a:tailEnd type="none" w="med" len="med"/>
            </a:ln>
          </p:spPr>
        </p:cxnSp>
        <p:cxnSp>
          <p:nvCxnSpPr>
            <p:cNvPr id="99404" name="AutoShape 71"/>
            <p:cNvCxnSpPr>
              <a:stCxn id="99402" idx="5"/>
              <a:endCxn id="99406" idx="0"/>
            </p:cNvCxnSpPr>
            <p:nvPr/>
          </p:nvCxnSpPr>
          <p:spPr>
            <a:xfrm>
              <a:off x="3572" y="1949"/>
              <a:ext cx="28" cy="220"/>
            </a:xfrm>
            <a:prstGeom prst="straightConnector1">
              <a:avLst/>
            </a:prstGeom>
            <a:ln w="9525" cap="flat" cmpd="sng">
              <a:solidFill>
                <a:schemeClr val="tx1"/>
              </a:solidFill>
              <a:prstDash val="solid"/>
              <a:headEnd type="none" w="med" len="med"/>
              <a:tailEnd type="none" w="med" len="med"/>
            </a:ln>
          </p:spPr>
        </p:cxnSp>
        <p:sp>
          <p:nvSpPr>
            <p:cNvPr id="99405" name="Oval 72"/>
            <p:cNvSpPr/>
            <p:nvPr/>
          </p:nvSpPr>
          <p:spPr>
            <a:xfrm>
              <a:off x="3360" y="2169"/>
              <a:ext cx="96" cy="96"/>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99406" name="Oval 73"/>
            <p:cNvSpPr/>
            <p:nvPr/>
          </p:nvSpPr>
          <p:spPr>
            <a:xfrm>
              <a:off x="3552" y="2169"/>
              <a:ext cx="96" cy="96"/>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cxnSp>
          <p:nvCxnSpPr>
            <p:cNvPr id="99407" name="AutoShape 74"/>
            <p:cNvCxnSpPr>
              <a:stCxn id="99402" idx="4"/>
              <a:endCxn id="99408" idx="0"/>
            </p:cNvCxnSpPr>
            <p:nvPr/>
          </p:nvCxnSpPr>
          <p:spPr>
            <a:xfrm>
              <a:off x="3504" y="1977"/>
              <a:ext cx="0" cy="192"/>
            </a:xfrm>
            <a:prstGeom prst="straightConnector1">
              <a:avLst/>
            </a:prstGeom>
            <a:ln w="9525" cap="flat" cmpd="sng">
              <a:solidFill>
                <a:schemeClr val="tx1"/>
              </a:solidFill>
              <a:prstDash val="solid"/>
              <a:headEnd type="none" w="med" len="med"/>
              <a:tailEnd type="none" w="med" len="med"/>
            </a:ln>
          </p:spPr>
        </p:cxnSp>
        <p:sp>
          <p:nvSpPr>
            <p:cNvPr id="99408" name="Oval 75"/>
            <p:cNvSpPr/>
            <p:nvPr/>
          </p:nvSpPr>
          <p:spPr>
            <a:xfrm>
              <a:off x="3456" y="2169"/>
              <a:ext cx="96" cy="96"/>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cxnSp>
          <p:nvCxnSpPr>
            <p:cNvPr id="99409" name="AutoShape 76"/>
            <p:cNvCxnSpPr>
              <a:stCxn id="99340" idx="4"/>
              <a:endCxn id="99402" idx="0"/>
            </p:cNvCxnSpPr>
            <p:nvPr/>
          </p:nvCxnSpPr>
          <p:spPr>
            <a:xfrm>
              <a:off x="3504" y="1440"/>
              <a:ext cx="0" cy="345"/>
            </a:xfrm>
            <a:prstGeom prst="straightConnector1">
              <a:avLst/>
            </a:prstGeom>
            <a:ln w="9525" cap="flat" cmpd="sng">
              <a:solidFill>
                <a:schemeClr val="tx1"/>
              </a:solidFill>
              <a:prstDash val="solid"/>
              <a:headEnd type="none" w="med" len="med"/>
              <a:tailEnd type="none" w="med" len="med"/>
            </a:ln>
          </p:spPr>
        </p:cxnSp>
        <p:cxnSp>
          <p:nvCxnSpPr>
            <p:cNvPr id="99410" name="AutoShape 77"/>
            <p:cNvCxnSpPr>
              <a:stCxn id="99343" idx="6"/>
              <a:endCxn id="99402" idx="2"/>
            </p:cNvCxnSpPr>
            <p:nvPr/>
          </p:nvCxnSpPr>
          <p:spPr>
            <a:xfrm>
              <a:off x="3312" y="1881"/>
              <a:ext cx="96" cy="0"/>
            </a:xfrm>
            <a:prstGeom prst="straightConnector1">
              <a:avLst/>
            </a:prstGeom>
            <a:ln w="9525" cap="flat" cmpd="sng">
              <a:solidFill>
                <a:schemeClr val="tx1"/>
              </a:solidFill>
              <a:prstDash val="solid"/>
              <a:headEnd type="none" w="med" len="med"/>
              <a:tailEnd type="none" w="med" len="med"/>
            </a:ln>
          </p:spPr>
        </p:cxnSp>
        <p:cxnSp>
          <p:nvCxnSpPr>
            <p:cNvPr id="99411" name="AutoShape 78"/>
            <p:cNvCxnSpPr>
              <a:stCxn id="99402" idx="6"/>
              <a:endCxn id="99344" idx="2"/>
            </p:cNvCxnSpPr>
            <p:nvPr/>
          </p:nvCxnSpPr>
          <p:spPr>
            <a:xfrm>
              <a:off x="3600" y="1881"/>
              <a:ext cx="96" cy="0"/>
            </a:xfrm>
            <a:prstGeom prst="straightConnector1">
              <a:avLst/>
            </a:prstGeom>
            <a:ln w="9525" cap="flat" cmpd="sng">
              <a:solidFill>
                <a:schemeClr val="tx1"/>
              </a:solidFill>
              <a:prstDash val="solid"/>
              <a:headEnd type="none" w="med" len="med"/>
              <a:tailEnd type="none" w="med" len="med"/>
            </a:ln>
          </p:spPr>
        </p:cxnSp>
        <p:sp>
          <p:nvSpPr>
            <p:cNvPr id="99412" name="Text Box 79"/>
            <p:cNvSpPr txBox="1"/>
            <p:nvPr/>
          </p:nvSpPr>
          <p:spPr>
            <a:xfrm>
              <a:off x="2256" y="1488"/>
              <a:ext cx="288" cy="192"/>
            </a:xfrm>
            <a:prstGeom prst="rect">
              <a:avLst/>
            </a:prstGeom>
            <a:noFill/>
            <a:ln w="9525">
              <a:noFill/>
            </a:ln>
          </p:spPr>
          <p:txBody>
            <a:bodyPr>
              <a:spAutoFit/>
            </a:bodyPr>
            <a:p>
              <a:pPr>
                <a:spcBef>
                  <a:spcPct val="50000"/>
                </a:spcBef>
              </a:pPr>
              <a:r>
                <a:rPr lang="en-US" altLang="zh-CN" sz="1400" dirty="0">
                  <a:latin typeface="Times New Roman" panose="02020603050405020304" pitchFamily="18" charset="0"/>
                  <a:ea typeface="SimSun" panose="02010600030101010101" pitchFamily="2" charset="-122"/>
                </a:rPr>
                <a:t>0.8</a:t>
              </a:r>
              <a:endParaRPr lang="en-US" altLang="zh-CN" sz="1400" dirty="0">
                <a:latin typeface="Times New Roman" panose="02020603050405020304" pitchFamily="18" charset="0"/>
                <a:ea typeface="SimSun" panose="02010600030101010101" pitchFamily="2" charset="-122"/>
              </a:endParaRPr>
            </a:p>
          </p:txBody>
        </p:sp>
        <p:sp>
          <p:nvSpPr>
            <p:cNvPr id="99413" name="Text Box 80"/>
            <p:cNvSpPr txBox="1"/>
            <p:nvPr/>
          </p:nvSpPr>
          <p:spPr>
            <a:xfrm>
              <a:off x="2880" y="1200"/>
              <a:ext cx="288" cy="192"/>
            </a:xfrm>
            <a:prstGeom prst="rect">
              <a:avLst/>
            </a:prstGeom>
            <a:noFill/>
            <a:ln w="9525">
              <a:noFill/>
            </a:ln>
          </p:spPr>
          <p:txBody>
            <a:bodyPr>
              <a:spAutoFit/>
            </a:bodyPr>
            <a:p>
              <a:pPr>
                <a:spcBef>
                  <a:spcPct val="50000"/>
                </a:spcBef>
              </a:pPr>
              <a:r>
                <a:rPr lang="en-US" altLang="zh-CN" sz="1400" dirty="0">
                  <a:latin typeface="Times New Roman" panose="02020603050405020304" pitchFamily="18" charset="0"/>
                  <a:ea typeface="SimSun" panose="02010600030101010101" pitchFamily="2" charset="-122"/>
                </a:rPr>
                <a:t>0.2</a:t>
              </a:r>
              <a:endParaRPr lang="en-US" altLang="zh-CN" sz="1400" dirty="0">
                <a:latin typeface="Times New Roman" panose="02020603050405020304" pitchFamily="18" charset="0"/>
                <a:ea typeface="SimSun" panose="02010600030101010101" pitchFamily="2" charset="-122"/>
              </a:endParaRPr>
            </a:p>
          </p:txBody>
        </p:sp>
        <p:sp>
          <p:nvSpPr>
            <p:cNvPr id="99414" name="Text Box 81"/>
            <p:cNvSpPr txBox="1"/>
            <p:nvPr/>
          </p:nvSpPr>
          <p:spPr>
            <a:xfrm>
              <a:off x="2208" y="2217"/>
              <a:ext cx="240" cy="231"/>
            </a:xfrm>
            <a:prstGeom prst="rect">
              <a:avLst/>
            </a:prstGeom>
            <a:noFill/>
            <a:ln w="9525">
              <a:noFill/>
            </a:ln>
          </p:spPr>
          <p:txBody>
            <a:bodyPr>
              <a:spAutoFit/>
            </a:bodyPr>
            <a:p>
              <a:pPr algn="l">
                <a:spcBef>
                  <a:spcPct val="50000"/>
                </a:spcBef>
              </a:pPr>
              <a:r>
                <a:rPr lang="en-US" altLang="zh-CN" sz="1800" i="1" dirty="0">
                  <a:latin typeface="Times New Roman" panose="02020603050405020304" pitchFamily="18" charset="0"/>
                  <a:ea typeface="SimSun" panose="02010600030101010101" pitchFamily="2" charset="-122"/>
                </a:rPr>
                <a:t>n</a:t>
              </a:r>
              <a:r>
                <a:rPr lang="en-US" altLang="zh-CN" sz="1800" baseline="-25000" dirty="0">
                  <a:latin typeface="Times New Roman" panose="02020603050405020304" pitchFamily="18" charset="0"/>
                  <a:ea typeface="SimSun" panose="02010600030101010101" pitchFamily="2" charset="-122"/>
                </a:rPr>
                <a:t>7</a:t>
              </a:r>
              <a:endParaRPr lang="en-US" altLang="zh-CN" sz="1800" baseline="-25000" dirty="0">
                <a:latin typeface="Times New Roman" panose="02020603050405020304" pitchFamily="18" charset="0"/>
                <a:ea typeface="SimSun" panose="02010600030101010101" pitchFamily="2" charset="-122"/>
              </a:endParaRPr>
            </a:p>
          </p:txBody>
        </p:sp>
        <p:sp>
          <p:nvSpPr>
            <p:cNvPr id="99415" name="Text Box 82"/>
            <p:cNvSpPr txBox="1"/>
            <p:nvPr/>
          </p:nvSpPr>
          <p:spPr>
            <a:xfrm>
              <a:off x="3024" y="2217"/>
              <a:ext cx="240" cy="231"/>
            </a:xfrm>
            <a:prstGeom prst="rect">
              <a:avLst/>
            </a:prstGeom>
            <a:noFill/>
            <a:ln w="9525">
              <a:noFill/>
            </a:ln>
          </p:spPr>
          <p:txBody>
            <a:bodyPr>
              <a:spAutoFit/>
            </a:bodyPr>
            <a:p>
              <a:pPr algn="l">
                <a:spcBef>
                  <a:spcPct val="50000"/>
                </a:spcBef>
              </a:pPr>
              <a:r>
                <a:rPr lang="en-US" altLang="zh-CN" sz="1800" i="1" dirty="0">
                  <a:latin typeface="Times New Roman" panose="02020603050405020304" pitchFamily="18" charset="0"/>
                  <a:ea typeface="SimSun" panose="02010600030101010101" pitchFamily="2" charset="-122"/>
                </a:rPr>
                <a:t>n</a:t>
              </a:r>
              <a:r>
                <a:rPr lang="en-US" altLang="zh-CN" sz="1800" baseline="-25000" dirty="0">
                  <a:latin typeface="Times New Roman" panose="02020603050405020304" pitchFamily="18" charset="0"/>
                  <a:ea typeface="SimSun" panose="02010600030101010101" pitchFamily="2" charset="-122"/>
                </a:rPr>
                <a:t>9</a:t>
              </a:r>
              <a:endParaRPr lang="en-US" altLang="zh-CN" sz="1800" baseline="-25000" dirty="0">
                <a:latin typeface="Times New Roman" panose="02020603050405020304" pitchFamily="18" charset="0"/>
                <a:ea typeface="SimSun" panose="02010600030101010101" pitchFamily="2" charset="-122"/>
              </a:endParaRPr>
            </a:p>
          </p:txBody>
        </p:sp>
        <p:sp>
          <p:nvSpPr>
            <p:cNvPr id="99416" name="Text Box 83"/>
            <p:cNvSpPr txBox="1"/>
            <p:nvPr/>
          </p:nvSpPr>
          <p:spPr>
            <a:xfrm>
              <a:off x="2496" y="1728"/>
              <a:ext cx="288" cy="192"/>
            </a:xfrm>
            <a:prstGeom prst="rect">
              <a:avLst/>
            </a:prstGeom>
            <a:noFill/>
            <a:ln w="9525">
              <a:noFill/>
            </a:ln>
          </p:spPr>
          <p:txBody>
            <a:bodyPr>
              <a:spAutoFit/>
            </a:bodyPr>
            <a:p>
              <a:pPr>
                <a:spcBef>
                  <a:spcPct val="50000"/>
                </a:spcBef>
              </a:pPr>
              <a:r>
                <a:rPr lang="en-US" altLang="zh-CN" sz="1400" dirty="0">
                  <a:latin typeface="Times New Roman" panose="02020603050405020304" pitchFamily="18" charset="0"/>
                  <a:ea typeface="SimSun" panose="02010600030101010101" pitchFamily="2" charset="-122"/>
                </a:rPr>
                <a:t>0.3</a:t>
              </a:r>
              <a:endParaRPr lang="en-US" altLang="zh-CN" sz="1400" dirty="0">
                <a:latin typeface="Times New Roman" panose="02020603050405020304" pitchFamily="18" charset="0"/>
                <a:ea typeface="SimSun" panose="02010600030101010101" pitchFamily="2" charset="-122"/>
              </a:endParaRPr>
            </a:p>
          </p:txBody>
        </p:sp>
        <p:sp>
          <p:nvSpPr>
            <p:cNvPr id="99417" name="Text Box 84"/>
            <p:cNvSpPr txBox="1"/>
            <p:nvPr/>
          </p:nvSpPr>
          <p:spPr>
            <a:xfrm>
              <a:off x="2640" y="2217"/>
              <a:ext cx="240" cy="231"/>
            </a:xfrm>
            <a:prstGeom prst="rect">
              <a:avLst/>
            </a:prstGeom>
            <a:noFill/>
            <a:ln w="9525">
              <a:noFill/>
            </a:ln>
          </p:spPr>
          <p:txBody>
            <a:bodyPr>
              <a:spAutoFit/>
            </a:bodyPr>
            <a:p>
              <a:pPr algn="l">
                <a:spcBef>
                  <a:spcPct val="50000"/>
                </a:spcBef>
              </a:pPr>
              <a:r>
                <a:rPr lang="en-US" altLang="zh-CN" sz="1800" i="1" dirty="0">
                  <a:latin typeface="Times New Roman" panose="02020603050405020304" pitchFamily="18" charset="0"/>
                  <a:ea typeface="SimSun" panose="02010600030101010101" pitchFamily="2" charset="-122"/>
                </a:rPr>
                <a:t>n</a:t>
              </a:r>
              <a:r>
                <a:rPr lang="en-US" altLang="zh-CN" sz="1800" baseline="-25000" dirty="0">
                  <a:latin typeface="Times New Roman" panose="02020603050405020304" pitchFamily="18" charset="0"/>
                  <a:ea typeface="SimSun" panose="02010600030101010101" pitchFamily="2" charset="-122"/>
                </a:rPr>
                <a:t>8</a:t>
              </a:r>
              <a:endParaRPr lang="en-US" altLang="zh-CN" sz="1800" baseline="-25000" dirty="0">
                <a:latin typeface="Times New Roman" panose="02020603050405020304" pitchFamily="18" charset="0"/>
                <a:ea typeface="SimSun" panose="02010600030101010101" pitchFamily="2" charset="-122"/>
              </a:endParaRPr>
            </a:p>
          </p:txBody>
        </p:sp>
        <p:sp>
          <p:nvSpPr>
            <p:cNvPr id="99418" name="Text Box 85"/>
            <p:cNvSpPr txBox="1"/>
            <p:nvPr/>
          </p:nvSpPr>
          <p:spPr>
            <a:xfrm>
              <a:off x="2544" y="1920"/>
              <a:ext cx="288" cy="192"/>
            </a:xfrm>
            <a:prstGeom prst="rect">
              <a:avLst/>
            </a:prstGeom>
            <a:noFill/>
            <a:ln w="9525">
              <a:noFill/>
            </a:ln>
          </p:spPr>
          <p:txBody>
            <a:bodyPr>
              <a:spAutoFit/>
            </a:bodyPr>
            <a:p>
              <a:pPr>
                <a:spcBef>
                  <a:spcPct val="50000"/>
                </a:spcBef>
              </a:pPr>
              <a:r>
                <a:rPr lang="en-US" altLang="zh-CN" sz="1400" dirty="0">
                  <a:latin typeface="Times New Roman" panose="02020603050405020304" pitchFamily="18" charset="0"/>
                  <a:ea typeface="SimSun" panose="02010600030101010101" pitchFamily="2" charset="-122"/>
                </a:rPr>
                <a:t>0.8</a:t>
              </a:r>
              <a:endParaRPr lang="en-US" altLang="zh-CN" sz="1400" dirty="0">
                <a:latin typeface="Times New Roman" panose="02020603050405020304" pitchFamily="18" charset="0"/>
                <a:ea typeface="SimSun" panose="02010600030101010101" pitchFamily="2" charset="-122"/>
              </a:endParaRPr>
            </a:p>
          </p:txBody>
        </p:sp>
        <p:sp>
          <p:nvSpPr>
            <p:cNvPr id="99419" name="Text Box 86"/>
            <p:cNvSpPr txBox="1"/>
            <p:nvPr/>
          </p:nvSpPr>
          <p:spPr>
            <a:xfrm>
              <a:off x="2688" y="1488"/>
              <a:ext cx="288" cy="192"/>
            </a:xfrm>
            <a:prstGeom prst="rect">
              <a:avLst/>
            </a:prstGeom>
            <a:noFill/>
            <a:ln w="9525">
              <a:noFill/>
            </a:ln>
          </p:spPr>
          <p:txBody>
            <a:bodyPr>
              <a:spAutoFit/>
            </a:bodyPr>
            <a:p>
              <a:pPr>
                <a:spcBef>
                  <a:spcPct val="50000"/>
                </a:spcBef>
              </a:pPr>
              <a:r>
                <a:rPr lang="en-US" altLang="zh-CN" sz="1400" dirty="0">
                  <a:latin typeface="Times New Roman" panose="02020603050405020304" pitchFamily="18" charset="0"/>
                  <a:ea typeface="SimSun" panose="02010600030101010101" pitchFamily="2" charset="-122"/>
                </a:rPr>
                <a:t>0.9</a:t>
              </a:r>
              <a:endParaRPr lang="en-US" altLang="zh-CN" sz="1400" dirty="0">
                <a:latin typeface="Times New Roman" panose="02020603050405020304" pitchFamily="18" charset="0"/>
                <a:ea typeface="SimSun" panose="02010600030101010101" pitchFamily="2" charset="-122"/>
              </a:endParaRPr>
            </a:p>
          </p:txBody>
        </p:sp>
        <p:sp>
          <p:nvSpPr>
            <p:cNvPr id="99420" name="Text Box 87"/>
            <p:cNvSpPr txBox="1"/>
            <p:nvPr/>
          </p:nvSpPr>
          <p:spPr>
            <a:xfrm>
              <a:off x="336" y="624"/>
              <a:ext cx="1968" cy="442"/>
            </a:xfrm>
            <a:prstGeom prst="rect">
              <a:avLst/>
            </a:prstGeom>
            <a:noFill/>
            <a:ln w="9525">
              <a:noFill/>
            </a:ln>
          </p:spPr>
          <p:txBody>
            <a:bodyPr>
              <a:spAutoFit/>
            </a:bodyPr>
            <a:p>
              <a:pPr>
                <a:spcBef>
                  <a:spcPct val="50000"/>
                </a:spcBef>
              </a:pPr>
              <a:r>
                <a:rPr lang="en-US" altLang="zh-CN" sz="2000" dirty="0">
                  <a:latin typeface="Tahoma" panose="020B0604030504040204" pitchFamily="34" charset="0"/>
                  <a:ea typeface="SimSun" panose="02010600030101010101" pitchFamily="2" charset="-122"/>
                </a:rPr>
                <a:t>Similarity between two sibling nodes </a:t>
              </a:r>
              <a:r>
                <a:rPr lang="en-US" altLang="zh-CN" sz="2000" i="1" dirty="0">
                  <a:latin typeface="Tahoma" panose="020B0604030504040204" pitchFamily="34" charset="0"/>
                  <a:ea typeface="SimSun" panose="02010600030101010101" pitchFamily="2" charset="-122"/>
                </a:rPr>
                <a:t>n</a:t>
              </a:r>
              <a:r>
                <a:rPr lang="en-US" altLang="zh-CN" sz="2000" baseline="-25000" dirty="0">
                  <a:latin typeface="Tahoma" panose="020B0604030504040204" pitchFamily="34" charset="0"/>
                  <a:ea typeface="SimSun" panose="02010600030101010101" pitchFamily="2" charset="-122"/>
                </a:rPr>
                <a:t>1</a:t>
              </a:r>
              <a:r>
                <a:rPr lang="en-US" altLang="zh-CN" sz="2000" dirty="0">
                  <a:latin typeface="Tahoma" panose="020B0604030504040204" pitchFamily="34" charset="0"/>
                  <a:ea typeface="SimSun" panose="02010600030101010101" pitchFamily="2" charset="-122"/>
                </a:rPr>
                <a:t> and </a:t>
              </a:r>
              <a:r>
                <a:rPr lang="en-US" altLang="zh-CN" sz="2000" i="1" dirty="0">
                  <a:latin typeface="Tahoma" panose="020B0604030504040204" pitchFamily="34" charset="0"/>
                  <a:ea typeface="SimSun" panose="02010600030101010101" pitchFamily="2" charset="-122"/>
                </a:rPr>
                <a:t>n</a:t>
              </a:r>
              <a:r>
                <a:rPr lang="en-US" altLang="zh-CN" sz="2000" baseline="-25000" dirty="0">
                  <a:latin typeface="Tahoma" panose="020B0604030504040204" pitchFamily="34" charset="0"/>
                  <a:ea typeface="SimSun" panose="02010600030101010101" pitchFamily="2" charset="-122"/>
                </a:rPr>
                <a:t>2</a:t>
              </a:r>
              <a:endParaRPr lang="en-US" altLang="zh-CN" sz="2000" baseline="-25000" dirty="0">
                <a:latin typeface="Tahoma" panose="020B0604030504040204" pitchFamily="34" charset="0"/>
                <a:ea typeface="SimSun" panose="02010600030101010101" pitchFamily="2" charset="-122"/>
              </a:endParaRPr>
            </a:p>
          </p:txBody>
        </p:sp>
        <p:sp>
          <p:nvSpPr>
            <p:cNvPr id="99421" name="Line 88"/>
            <p:cNvSpPr/>
            <p:nvPr/>
          </p:nvSpPr>
          <p:spPr>
            <a:xfrm>
              <a:off x="2208" y="912"/>
              <a:ext cx="720" cy="336"/>
            </a:xfrm>
            <a:prstGeom prst="line">
              <a:avLst/>
            </a:prstGeom>
            <a:ln w="9525" cap="flat" cmpd="sng">
              <a:solidFill>
                <a:schemeClr val="tx1"/>
              </a:solidFill>
              <a:prstDash val="solid"/>
              <a:headEnd type="none" w="med" len="med"/>
              <a:tailEnd type="triangle" w="med" len="med"/>
            </a:ln>
          </p:spPr>
        </p:sp>
        <p:sp>
          <p:nvSpPr>
            <p:cNvPr id="99422" name="Text Box 89"/>
            <p:cNvSpPr txBox="1"/>
            <p:nvPr/>
          </p:nvSpPr>
          <p:spPr>
            <a:xfrm>
              <a:off x="336" y="1536"/>
              <a:ext cx="1488" cy="442"/>
            </a:xfrm>
            <a:prstGeom prst="rect">
              <a:avLst/>
            </a:prstGeom>
            <a:noFill/>
            <a:ln w="9525">
              <a:noFill/>
            </a:ln>
          </p:spPr>
          <p:txBody>
            <a:bodyPr>
              <a:spAutoFit/>
            </a:bodyPr>
            <a:p>
              <a:pPr>
                <a:spcBef>
                  <a:spcPct val="50000"/>
                </a:spcBef>
              </a:pPr>
              <a:r>
                <a:rPr lang="en-US" altLang="zh-CN" sz="2000" dirty="0">
                  <a:latin typeface="Tahoma" panose="020B0604030504040204" pitchFamily="34" charset="0"/>
                  <a:ea typeface="SimSun" panose="02010600030101010101" pitchFamily="2" charset="-122"/>
                </a:rPr>
                <a:t>Adjustment ratio for node </a:t>
              </a:r>
              <a:r>
                <a:rPr lang="en-US" altLang="zh-CN" sz="2000" i="1" dirty="0">
                  <a:latin typeface="Tahoma" panose="020B0604030504040204" pitchFamily="34" charset="0"/>
                  <a:ea typeface="SimSun" panose="02010600030101010101" pitchFamily="2" charset="-122"/>
                </a:rPr>
                <a:t>n</a:t>
              </a:r>
              <a:r>
                <a:rPr lang="en-US" altLang="zh-CN" sz="2000" baseline="-25000" dirty="0">
                  <a:latin typeface="Tahoma" panose="020B0604030504040204" pitchFamily="34" charset="0"/>
                  <a:ea typeface="SimSun" panose="02010600030101010101" pitchFamily="2" charset="-122"/>
                </a:rPr>
                <a:t>7</a:t>
              </a:r>
              <a:endParaRPr lang="en-US" altLang="zh-CN" sz="2000" baseline="-25000" dirty="0">
                <a:latin typeface="Tahoma" panose="020B0604030504040204" pitchFamily="34" charset="0"/>
                <a:ea typeface="SimSun" panose="02010600030101010101" pitchFamily="2" charset="-122"/>
              </a:endParaRPr>
            </a:p>
          </p:txBody>
        </p:sp>
        <p:sp>
          <p:nvSpPr>
            <p:cNvPr id="99423" name="Line 90"/>
            <p:cNvSpPr/>
            <p:nvPr/>
          </p:nvSpPr>
          <p:spPr>
            <a:xfrm>
              <a:off x="1680" y="1824"/>
              <a:ext cx="528" cy="144"/>
            </a:xfrm>
            <a:prstGeom prst="line">
              <a:avLst/>
            </a:prstGeom>
            <a:ln w="9525" cap="flat" cmpd="sng">
              <a:solidFill>
                <a:schemeClr val="tx1"/>
              </a:solidFill>
              <a:prstDash val="solid"/>
              <a:headEnd type="none" w="med" len="med"/>
              <a:tailEnd type="triangle" w="med" len="med"/>
            </a:ln>
          </p:spPr>
        </p:sp>
      </p:grpSp>
      <p:grpSp>
        <p:nvGrpSpPr>
          <p:cNvPr id="99333" name="Group 91"/>
          <p:cNvGrpSpPr/>
          <p:nvPr/>
        </p:nvGrpSpPr>
        <p:grpSpPr>
          <a:xfrm>
            <a:off x="3200400" y="5715000"/>
            <a:ext cx="6096000" cy="838200"/>
            <a:chOff x="2256" y="3590"/>
            <a:chExt cx="3264" cy="644"/>
          </a:xfrm>
        </p:grpSpPr>
        <p:sp>
          <p:nvSpPr>
            <p:cNvPr id="99335" name="Line 92"/>
            <p:cNvSpPr/>
            <p:nvPr/>
          </p:nvSpPr>
          <p:spPr>
            <a:xfrm>
              <a:off x="2304" y="3830"/>
              <a:ext cx="3168" cy="0"/>
            </a:xfrm>
            <a:prstGeom prst="line">
              <a:avLst/>
            </a:prstGeom>
            <a:ln w="9525" cap="flat" cmpd="sng">
              <a:solidFill>
                <a:schemeClr val="tx1"/>
              </a:solidFill>
              <a:prstDash val="solid"/>
              <a:headEnd type="none" w="med" len="med"/>
              <a:tailEnd type="none" w="med" len="med"/>
            </a:ln>
          </p:spPr>
        </p:sp>
        <p:sp>
          <p:nvSpPr>
            <p:cNvPr id="99336" name="Text Box 93"/>
            <p:cNvSpPr txBox="1"/>
            <p:nvPr/>
          </p:nvSpPr>
          <p:spPr>
            <a:xfrm>
              <a:off x="2256" y="3590"/>
              <a:ext cx="3264" cy="231"/>
            </a:xfrm>
            <a:prstGeom prst="rect">
              <a:avLst/>
            </a:prstGeom>
            <a:noFill/>
            <a:ln w="9525">
              <a:noFill/>
            </a:ln>
          </p:spPr>
          <p:txBody>
            <a:bodyPr>
              <a:spAutoFit/>
            </a:bodyPr>
            <a:p>
              <a:pPr>
                <a:spcBef>
                  <a:spcPct val="50000"/>
                </a:spcBef>
              </a:pPr>
              <a:r>
                <a:rPr lang="en-US" altLang="zh-CN" sz="1800" dirty="0">
                  <a:latin typeface="Tahoma" panose="020B0604030504040204" pitchFamily="34" charset="0"/>
                  <a:ea typeface="SimSun" panose="02010600030101010101" pitchFamily="2" charset="-122"/>
                </a:rPr>
                <a:t>Average similarity between </a:t>
              </a:r>
              <a:r>
                <a:rPr lang="en-US" altLang="zh-CN" sz="1800" i="1" dirty="0">
                  <a:latin typeface="Tahoma" panose="020B0604030504040204" pitchFamily="34" charset="0"/>
                  <a:ea typeface="SimSun" panose="02010600030101010101" pitchFamily="2" charset="-122"/>
                </a:rPr>
                <a:t>x</a:t>
              </a:r>
              <a:r>
                <a:rPr lang="en-US" altLang="zh-CN" sz="1800" dirty="0">
                  <a:latin typeface="Tahoma" panose="020B0604030504040204" pitchFamily="34" charset="0"/>
                  <a:ea typeface="SimSun" panose="02010600030101010101" pitchFamily="2" charset="-122"/>
                </a:rPr>
                <a:t> and all other nodes</a:t>
              </a:r>
              <a:endParaRPr lang="en-US" altLang="zh-CN" sz="1800" dirty="0">
                <a:latin typeface="Tahoma" panose="020B0604030504040204" pitchFamily="34" charset="0"/>
                <a:ea typeface="SimSun" panose="02010600030101010101" pitchFamily="2" charset="-122"/>
              </a:endParaRPr>
            </a:p>
          </p:txBody>
        </p:sp>
        <p:sp>
          <p:nvSpPr>
            <p:cNvPr id="99337" name="Text Box 94"/>
            <p:cNvSpPr txBox="1"/>
            <p:nvPr/>
          </p:nvSpPr>
          <p:spPr>
            <a:xfrm>
              <a:off x="2256" y="3830"/>
              <a:ext cx="3264" cy="404"/>
            </a:xfrm>
            <a:prstGeom prst="rect">
              <a:avLst/>
            </a:prstGeom>
            <a:noFill/>
            <a:ln w="9525">
              <a:noFill/>
            </a:ln>
          </p:spPr>
          <p:txBody>
            <a:bodyPr>
              <a:spAutoFit/>
            </a:bodyPr>
            <a:p>
              <a:pPr>
                <a:spcBef>
                  <a:spcPct val="50000"/>
                </a:spcBef>
              </a:pPr>
              <a:r>
                <a:rPr lang="en-US" altLang="zh-CN" sz="1800" dirty="0">
                  <a:latin typeface="Tahoma" panose="020B0604030504040204" pitchFamily="34" charset="0"/>
                  <a:ea typeface="SimSun" panose="02010600030101010101" pitchFamily="2" charset="-122"/>
                </a:rPr>
                <a:t>Average similarity between </a:t>
              </a:r>
              <a:r>
                <a:rPr lang="en-US" altLang="zh-CN" sz="1800" i="1" dirty="0">
                  <a:latin typeface="Tahoma" panose="020B0604030504040204" pitchFamily="34" charset="0"/>
                  <a:ea typeface="SimSun" panose="02010600030101010101" pitchFamily="2" charset="-122"/>
                </a:rPr>
                <a:t>x</a:t>
              </a:r>
              <a:r>
                <a:rPr lang="en-US" altLang="zh-CN" sz="1800" dirty="0">
                  <a:latin typeface="Tahoma" panose="020B0604030504040204" pitchFamily="34" charset="0"/>
                  <a:ea typeface="SimSun" panose="02010600030101010101" pitchFamily="2" charset="-122"/>
                </a:rPr>
                <a:t>’s parent and all other nodes</a:t>
              </a:r>
              <a:endParaRPr lang="en-US" altLang="zh-CN" sz="1800" dirty="0">
                <a:latin typeface="Tahoma" panose="020B0604030504040204" pitchFamily="34" charset="0"/>
                <a:ea typeface="SimSun" panose="02010600030101010101" pitchFamily="2" charset="-122"/>
              </a:endParaRPr>
            </a:p>
          </p:txBody>
        </p:sp>
      </p:grpSp>
      <p:sp>
        <p:nvSpPr>
          <p:cNvPr id="99334" name="Slide Number Placeholder 97"/>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a:spLocks noGrp="1"/>
          </p:cNvSpPr>
          <p:nvPr>
            <p:ph type="title" idx="4294967295"/>
          </p:nvPr>
        </p:nvSpPr>
        <p:spPr>
          <a:xfrm>
            <a:off x="228600" y="152400"/>
            <a:ext cx="8686800" cy="990600"/>
          </a:xfrm>
        </p:spPr>
        <p:txBody>
          <a:bodyPr vert="horz" wrap="square" lIns="91440" tIns="45720" rIns="91440" bIns="45720" anchor="b" anchorCtr="0"/>
          <a:p>
            <a:pPr eaLnBrk="1" hangingPunct="1"/>
            <a:r>
              <a:rPr lang="en-US" altLang="zh-CN" dirty="0">
                <a:ea typeface="SimSun" panose="02010600030101010101" pitchFamily="2" charset="-122"/>
              </a:rPr>
              <a:t>LinkClus: </a:t>
            </a:r>
            <a:r>
              <a:rPr sz="3200" dirty="0"/>
              <a:t>Efficient Clustering via Heterogeneous Semantic Links</a:t>
            </a:r>
            <a:endParaRPr lang="en-US" altLang="zh-CN" sz="3200" dirty="0">
              <a:ea typeface="SimSun" panose="02010600030101010101" pitchFamily="2" charset="-122"/>
            </a:endParaRPr>
          </a:p>
        </p:txBody>
      </p:sp>
      <p:sp>
        <p:nvSpPr>
          <p:cNvPr id="100355" name="Rectangle 3"/>
          <p:cNvSpPr>
            <a:spLocks noGrp="1"/>
          </p:cNvSpPr>
          <p:nvPr>
            <p:ph type="body" idx="4294967295"/>
          </p:nvPr>
        </p:nvSpPr>
        <p:spPr>
          <a:xfrm>
            <a:off x="381000" y="1371600"/>
            <a:ext cx="8458200" cy="5029200"/>
          </a:xfrm>
        </p:spPr>
        <p:txBody>
          <a:bodyPr vert="horz" wrap="square" lIns="91440" tIns="45720" rIns="91440" bIns="45720" anchor="t" anchorCtr="0"/>
          <a:p>
            <a:pPr eaLnBrk="1" hangingPunct="1">
              <a:buNone/>
            </a:pPr>
            <a:r>
              <a:rPr lang="en-US" altLang="zh-CN" sz="2400" dirty="0">
                <a:ea typeface="SimSun" panose="02010600030101010101" pitchFamily="2" charset="-122"/>
              </a:rPr>
              <a:t>Method</a:t>
            </a:r>
            <a:endParaRPr lang="en-US" altLang="zh-CN" sz="2400" dirty="0">
              <a:ea typeface="SimSun" panose="02010600030101010101" pitchFamily="2" charset="-122"/>
            </a:endParaRPr>
          </a:p>
          <a:p>
            <a:pPr eaLnBrk="1" hangingPunct="1"/>
            <a:r>
              <a:rPr lang="en-US" altLang="zh-CN" sz="2400" dirty="0">
                <a:ea typeface="SimSun" panose="02010600030101010101" pitchFamily="2" charset="-122"/>
              </a:rPr>
              <a:t>Initialize a SimTree for objects of each type</a:t>
            </a:r>
            <a:endParaRPr lang="en-US" altLang="zh-CN" sz="2400" dirty="0">
              <a:ea typeface="SimSun" panose="02010600030101010101" pitchFamily="2" charset="-122"/>
            </a:endParaRPr>
          </a:p>
          <a:p>
            <a:pPr eaLnBrk="1" hangingPunct="1"/>
            <a:r>
              <a:rPr lang="en-US" altLang="zh-CN" sz="2400" dirty="0">
                <a:ea typeface="SimSun" panose="02010600030101010101" pitchFamily="2" charset="-122"/>
              </a:rPr>
              <a:t>Repeat until stable</a:t>
            </a:r>
            <a:endParaRPr lang="en-US" altLang="zh-CN" sz="2400" dirty="0">
              <a:ea typeface="SimSun" panose="02010600030101010101" pitchFamily="2" charset="-122"/>
            </a:endParaRPr>
          </a:p>
          <a:p>
            <a:pPr lvl="1" eaLnBrk="1" hangingPunct="1"/>
            <a:r>
              <a:rPr lang="en-US" altLang="zh-CN" sz="2400" dirty="0">
                <a:ea typeface="SimSun" panose="02010600030101010101" pitchFamily="2" charset="-122"/>
              </a:rPr>
              <a:t>For each SimTree, update the similarities between its nodes using similarities in other SimTrees</a:t>
            </a:r>
            <a:endParaRPr lang="en-US" altLang="zh-CN" sz="2400" dirty="0">
              <a:ea typeface="SimSun" panose="02010600030101010101" pitchFamily="2" charset="-122"/>
            </a:endParaRPr>
          </a:p>
          <a:p>
            <a:pPr lvl="2" eaLnBrk="1" hangingPunct="1"/>
            <a:r>
              <a:rPr lang="en-US" altLang="zh-CN" dirty="0">
                <a:ea typeface="SimSun" panose="02010600030101010101" pitchFamily="2" charset="-122"/>
              </a:rPr>
              <a:t>Similarity between two nodes </a:t>
            </a:r>
            <a:r>
              <a:rPr lang="en-US" altLang="zh-CN" i="1" dirty="0">
                <a:ea typeface="SimSun" panose="02010600030101010101" pitchFamily="2" charset="-122"/>
              </a:rPr>
              <a:t>x</a:t>
            </a:r>
            <a:r>
              <a:rPr lang="en-US" altLang="zh-CN" dirty="0">
                <a:ea typeface="SimSun" panose="02010600030101010101" pitchFamily="2" charset="-122"/>
              </a:rPr>
              <a:t> and </a:t>
            </a:r>
            <a:r>
              <a:rPr lang="en-US" altLang="zh-CN" i="1" dirty="0">
                <a:ea typeface="SimSun" panose="02010600030101010101" pitchFamily="2" charset="-122"/>
              </a:rPr>
              <a:t>y</a:t>
            </a:r>
            <a:r>
              <a:rPr lang="en-US" altLang="zh-CN" dirty="0">
                <a:ea typeface="SimSun" panose="02010600030101010101" pitchFamily="2" charset="-122"/>
              </a:rPr>
              <a:t> is the average similarity between objects linked with them</a:t>
            </a:r>
            <a:endParaRPr lang="en-US" altLang="zh-CN" dirty="0">
              <a:ea typeface="SimSun" panose="02010600030101010101" pitchFamily="2" charset="-122"/>
            </a:endParaRPr>
          </a:p>
          <a:p>
            <a:pPr lvl="1" eaLnBrk="1" hangingPunct="1"/>
            <a:r>
              <a:rPr lang="en-US" altLang="zh-CN" sz="2400" dirty="0">
                <a:ea typeface="SimSun" panose="02010600030101010101" pitchFamily="2" charset="-122"/>
              </a:rPr>
              <a:t>Adjust the structure of each SimTree</a:t>
            </a:r>
            <a:endParaRPr lang="en-US" altLang="zh-CN" sz="2400" dirty="0">
              <a:ea typeface="SimSun" panose="02010600030101010101" pitchFamily="2" charset="-122"/>
            </a:endParaRPr>
          </a:p>
          <a:p>
            <a:pPr lvl="2" eaLnBrk="1" hangingPunct="1"/>
            <a:r>
              <a:rPr lang="en-US" altLang="zh-CN" dirty="0">
                <a:ea typeface="SimSun" panose="02010600030101010101" pitchFamily="2" charset="-122"/>
              </a:rPr>
              <a:t>Assign each node to the parent node that it is most similar to</a:t>
            </a:r>
            <a:endParaRPr sz="2000" dirty="0">
              <a:ea typeface="SimSun" panose="02010600030101010101" pitchFamily="2" charset="-122"/>
            </a:endParaRPr>
          </a:p>
          <a:p>
            <a:pPr eaLnBrk="1" hangingPunct="1">
              <a:buNone/>
            </a:pPr>
            <a:r>
              <a:rPr sz="2400" dirty="0"/>
              <a:t>For details: X. Yin, J. Han, and P. S. Yu, “LinkClus: Efficient Clustering via Heterogeneous Semantic Links”, VLDB'06</a:t>
            </a:r>
            <a:endParaRPr lang="en-US" altLang="zh-CN" sz="2400" dirty="0">
              <a:ea typeface="SimSun" panose="02010600030101010101" pitchFamily="2" charset="-122"/>
            </a:endParaRPr>
          </a:p>
        </p:txBody>
      </p:sp>
      <p:sp>
        <p:nvSpPr>
          <p:cNvPr id="100356" name="Slide Number Placeholder 6"/>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2"/>
          <p:cNvSpPr>
            <a:spLocks noGrp="1"/>
          </p:cNvSpPr>
          <p:nvPr>
            <p:ph type="title" idx="4294967295"/>
          </p:nvPr>
        </p:nvSpPr>
        <p:spPr/>
        <p:txBody>
          <a:bodyPr vert="horz" wrap="square" lIns="91440" tIns="45720" rIns="91440" bIns="45720" anchor="b" anchorCtr="0"/>
          <a:p>
            <a:pPr eaLnBrk="1" hangingPunct="1"/>
            <a:r>
              <a:rPr lang="en-US" altLang="zh-CN" dirty="0">
                <a:ea typeface="SimSun" panose="02010600030101010101" pitchFamily="2" charset="-122"/>
              </a:rPr>
              <a:t>Initialization of SimTrees</a:t>
            </a:r>
            <a:endParaRPr lang="en-US" altLang="zh-CN" dirty="0">
              <a:ea typeface="SimSun" panose="02010600030101010101" pitchFamily="2" charset="-122"/>
            </a:endParaRPr>
          </a:p>
        </p:txBody>
      </p:sp>
      <p:sp>
        <p:nvSpPr>
          <p:cNvPr id="101379" name="Rectangle 3"/>
          <p:cNvSpPr>
            <a:spLocks noGrp="1"/>
          </p:cNvSpPr>
          <p:nvPr>
            <p:ph type="body" idx="4294967295"/>
          </p:nvPr>
        </p:nvSpPr>
        <p:spPr>
          <a:xfrm>
            <a:off x="304800" y="1295400"/>
            <a:ext cx="8382000" cy="3124200"/>
          </a:xfrm>
        </p:spPr>
        <p:txBody>
          <a:bodyPr vert="horz" wrap="square" lIns="91440" tIns="45720" rIns="91440" bIns="45720" anchor="t" anchorCtr="0"/>
          <a:p>
            <a:pPr eaLnBrk="1" hangingPunct="1"/>
            <a:r>
              <a:rPr lang="en-US" altLang="zh-CN" sz="2400" dirty="0">
                <a:ea typeface="SimSun" panose="02010600030101010101" pitchFamily="2" charset="-122"/>
              </a:rPr>
              <a:t>Initializing a SimTree</a:t>
            </a:r>
            <a:endParaRPr lang="en-US" altLang="zh-CN" sz="2400" dirty="0">
              <a:ea typeface="SimSun" panose="02010600030101010101" pitchFamily="2" charset="-122"/>
            </a:endParaRPr>
          </a:p>
          <a:p>
            <a:pPr lvl="1" eaLnBrk="1" hangingPunct="1"/>
            <a:r>
              <a:rPr lang="en-US" altLang="zh-CN" sz="2400" dirty="0">
                <a:ea typeface="SimSun" panose="02010600030101010101" pitchFamily="2" charset="-122"/>
              </a:rPr>
              <a:t>Repeatedly find groups of tightly related nodes, which are merged into a higher-level node</a:t>
            </a:r>
            <a:endParaRPr lang="en-US" altLang="zh-CN" sz="2400" dirty="0">
              <a:ea typeface="SimSun" panose="02010600030101010101" pitchFamily="2" charset="-122"/>
            </a:endParaRPr>
          </a:p>
          <a:p>
            <a:pPr eaLnBrk="1" hangingPunct="1"/>
            <a:r>
              <a:rPr lang="en-US" altLang="zh-CN" sz="2400" dirty="0">
                <a:ea typeface="SimSun" panose="02010600030101010101" pitchFamily="2" charset="-122"/>
              </a:rPr>
              <a:t>Tightness of a group of nodes</a:t>
            </a:r>
            <a:endParaRPr lang="en-US" altLang="zh-CN" sz="2400" dirty="0">
              <a:ea typeface="SimSun" panose="02010600030101010101" pitchFamily="2" charset="-122"/>
            </a:endParaRPr>
          </a:p>
          <a:p>
            <a:pPr lvl="1" eaLnBrk="1" hangingPunct="1"/>
            <a:r>
              <a:rPr lang="en-US" altLang="zh-CN" sz="2400" dirty="0">
                <a:ea typeface="SimSun" panose="02010600030101010101" pitchFamily="2" charset="-122"/>
              </a:rPr>
              <a:t>For a group of nodes </a:t>
            </a:r>
            <a:r>
              <a:rPr lang="en-US" altLang="zh-CN" sz="2400" dirty="0">
                <a:latin typeface="Times New Roman" panose="02020603050405020304" pitchFamily="18" charset="0"/>
                <a:ea typeface="SimSun" panose="02010600030101010101" pitchFamily="2" charset="-122"/>
              </a:rPr>
              <a:t>{</a:t>
            </a:r>
            <a:r>
              <a:rPr lang="en-US" altLang="zh-CN" sz="2400" i="1" dirty="0">
                <a:latin typeface="Times New Roman" panose="02020603050405020304" pitchFamily="18" charset="0"/>
                <a:ea typeface="SimSun" panose="02010600030101010101" pitchFamily="2" charset="-122"/>
              </a:rPr>
              <a:t>n</a:t>
            </a:r>
            <a:r>
              <a:rPr lang="en-US" altLang="zh-CN" sz="2400" baseline="-25000" dirty="0">
                <a:latin typeface="Times New Roman" panose="02020603050405020304" pitchFamily="18" charset="0"/>
                <a:ea typeface="SimSun" panose="02010600030101010101" pitchFamily="2" charset="-122"/>
              </a:rPr>
              <a:t>1</a:t>
            </a:r>
            <a:r>
              <a:rPr lang="en-US" altLang="zh-CN" sz="2400" dirty="0">
                <a:latin typeface="Times New Roman" panose="02020603050405020304" pitchFamily="18" charset="0"/>
                <a:ea typeface="SimSun" panose="02010600030101010101" pitchFamily="2" charset="-122"/>
              </a:rPr>
              <a:t>, …, </a:t>
            </a:r>
            <a:r>
              <a:rPr lang="en-US" altLang="zh-CN" sz="2400" i="1" dirty="0">
                <a:latin typeface="Times New Roman" panose="02020603050405020304" pitchFamily="18" charset="0"/>
                <a:ea typeface="SimSun" panose="02010600030101010101" pitchFamily="2" charset="-122"/>
              </a:rPr>
              <a:t>n</a:t>
            </a:r>
            <a:r>
              <a:rPr lang="en-US" altLang="zh-CN" sz="2400" i="1" baseline="-25000" dirty="0">
                <a:latin typeface="Times New Roman" panose="02020603050405020304" pitchFamily="18" charset="0"/>
                <a:ea typeface="SimSun" panose="02010600030101010101" pitchFamily="2" charset="-122"/>
              </a:rPr>
              <a:t>k</a:t>
            </a:r>
            <a:r>
              <a:rPr lang="en-US" altLang="zh-CN" sz="2400" dirty="0">
                <a:latin typeface="Times New Roman" panose="02020603050405020304" pitchFamily="18" charset="0"/>
                <a:ea typeface="SimSun" panose="02010600030101010101" pitchFamily="2" charset="-122"/>
              </a:rPr>
              <a:t>}</a:t>
            </a:r>
            <a:r>
              <a:rPr lang="en-US" altLang="zh-CN" sz="2400" dirty="0">
                <a:ea typeface="SimSun" panose="02010600030101010101" pitchFamily="2" charset="-122"/>
              </a:rPr>
              <a:t>, its tightness is defined as the number of leaf nodes in other SimTrees that are connected to all of </a:t>
            </a:r>
            <a:r>
              <a:rPr lang="en-US" altLang="zh-CN" sz="2400" dirty="0">
                <a:latin typeface="Times New Roman" panose="02020603050405020304" pitchFamily="18" charset="0"/>
                <a:ea typeface="SimSun" panose="02010600030101010101" pitchFamily="2" charset="-122"/>
              </a:rPr>
              <a:t>{</a:t>
            </a:r>
            <a:r>
              <a:rPr lang="en-US" altLang="zh-CN" sz="2400" i="1" dirty="0">
                <a:latin typeface="Times New Roman" panose="02020603050405020304" pitchFamily="18" charset="0"/>
                <a:ea typeface="SimSun" panose="02010600030101010101" pitchFamily="2" charset="-122"/>
              </a:rPr>
              <a:t>n</a:t>
            </a:r>
            <a:r>
              <a:rPr lang="en-US" altLang="zh-CN" sz="2400" baseline="-25000" dirty="0">
                <a:latin typeface="Times New Roman" panose="02020603050405020304" pitchFamily="18" charset="0"/>
                <a:ea typeface="SimSun" panose="02010600030101010101" pitchFamily="2" charset="-122"/>
              </a:rPr>
              <a:t>1</a:t>
            </a:r>
            <a:r>
              <a:rPr lang="en-US" altLang="zh-CN" sz="2400" dirty="0">
                <a:latin typeface="Times New Roman" panose="02020603050405020304" pitchFamily="18" charset="0"/>
                <a:ea typeface="SimSun" panose="02010600030101010101" pitchFamily="2" charset="-122"/>
              </a:rPr>
              <a:t>, …, </a:t>
            </a:r>
            <a:r>
              <a:rPr lang="en-US" altLang="zh-CN" sz="2400" i="1" dirty="0">
                <a:latin typeface="Times New Roman" panose="02020603050405020304" pitchFamily="18" charset="0"/>
                <a:ea typeface="SimSun" panose="02010600030101010101" pitchFamily="2" charset="-122"/>
              </a:rPr>
              <a:t>n</a:t>
            </a:r>
            <a:r>
              <a:rPr lang="en-US" altLang="zh-CN" sz="2400" i="1" baseline="-25000" dirty="0">
                <a:latin typeface="Times New Roman" panose="02020603050405020304" pitchFamily="18" charset="0"/>
                <a:ea typeface="SimSun" panose="02010600030101010101" pitchFamily="2" charset="-122"/>
              </a:rPr>
              <a:t>k</a:t>
            </a:r>
            <a:r>
              <a:rPr lang="en-US" altLang="zh-CN" sz="2400" dirty="0">
                <a:latin typeface="Times New Roman" panose="02020603050405020304" pitchFamily="18" charset="0"/>
                <a:ea typeface="SimSun" panose="02010600030101010101" pitchFamily="2" charset="-122"/>
              </a:rPr>
              <a:t>}</a:t>
            </a:r>
            <a:endParaRPr lang="en-US" altLang="zh-CN" sz="2400" dirty="0">
              <a:latin typeface="Times New Roman" panose="02020603050405020304" pitchFamily="18" charset="0"/>
              <a:ea typeface="SimSun" panose="02010600030101010101" pitchFamily="2" charset="-122"/>
            </a:endParaRPr>
          </a:p>
        </p:txBody>
      </p:sp>
      <p:grpSp>
        <p:nvGrpSpPr>
          <p:cNvPr id="101380" name="Group 24"/>
          <p:cNvGrpSpPr/>
          <p:nvPr/>
        </p:nvGrpSpPr>
        <p:grpSpPr>
          <a:xfrm>
            <a:off x="1219200" y="4827588"/>
            <a:ext cx="2743200" cy="1420812"/>
            <a:chOff x="1066800" y="4675188"/>
            <a:chExt cx="2743200" cy="1420812"/>
          </a:xfrm>
        </p:grpSpPr>
        <p:sp>
          <p:nvSpPr>
            <p:cNvPr id="101385" name="Rectangle 4"/>
            <p:cNvSpPr/>
            <p:nvPr/>
          </p:nvSpPr>
          <p:spPr>
            <a:xfrm>
              <a:off x="1066800" y="4800600"/>
              <a:ext cx="914400" cy="304800"/>
            </a:xfrm>
            <a:prstGeom prst="rect">
              <a:avLst/>
            </a:prstGeom>
            <a:solidFill>
              <a:srgbClr val="C0C0C0"/>
            </a:solidFill>
            <a:ln w="9525" cap="flat" cmpd="sng">
              <a:solidFill>
                <a:schemeClr val="tx1"/>
              </a:solidFill>
              <a:prstDash val="solid"/>
              <a:miter/>
              <a:headEnd type="none" w="med" len="med"/>
              <a:tailEnd type="none" w="med" len="med"/>
            </a:ln>
          </p:spPr>
          <p:txBody>
            <a:bodyPr wrap="none" tIns="0" bIns="137160" anchor="ctr" anchorCtr="0"/>
            <a:p>
              <a:r>
                <a:rPr lang="en-US" altLang="zh-CN" i="1" dirty="0">
                  <a:latin typeface="Times New Roman" panose="02020603050405020304" pitchFamily="18" charset="0"/>
                  <a:ea typeface="SimSun" panose="02010600030101010101" pitchFamily="2" charset="-122"/>
                </a:rPr>
                <a:t>n</a:t>
              </a:r>
              <a:r>
                <a:rPr lang="en-US" altLang="zh-CN" baseline="-25000" dirty="0">
                  <a:latin typeface="Times New Roman" panose="02020603050405020304" pitchFamily="18" charset="0"/>
                  <a:ea typeface="SimSun" panose="02010600030101010101" pitchFamily="2" charset="-122"/>
                </a:rPr>
                <a:t>1</a:t>
              </a:r>
              <a:endParaRPr lang="en-US" altLang="zh-CN" baseline="-25000" dirty="0">
                <a:latin typeface="Times New Roman" panose="02020603050405020304" pitchFamily="18" charset="0"/>
                <a:ea typeface="SimSun" panose="02010600030101010101" pitchFamily="2" charset="-122"/>
              </a:endParaRPr>
            </a:p>
          </p:txBody>
        </p:sp>
        <p:sp>
          <p:nvSpPr>
            <p:cNvPr id="101386" name="Rectangle 5"/>
            <p:cNvSpPr/>
            <p:nvPr/>
          </p:nvSpPr>
          <p:spPr>
            <a:xfrm>
              <a:off x="2895600" y="4675188"/>
              <a:ext cx="914400" cy="201612"/>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p>
              <a:r>
                <a:rPr lang="en-US" altLang="zh-CN" sz="1800" dirty="0">
                  <a:latin typeface="Times New Roman" panose="02020603050405020304" pitchFamily="18" charset="0"/>
                  <a:ea typeface="SimSun" panose="02010600030101010101" pitchFamily="2" charset="-122"/>
                </a:rPr>
                <a:t>1</a:t>
              </a:r>
              <a:endParaRPr lang="en-US" altLang="zh-CN" sz="1800" dirty="0">
                <a:latin typeface="Times New Roman" panose="02020603050405020304" pitchFamily="18" charset="0"/>
                <a:ea typeface="SimSun" panose="02010600030101010101" pitchFamily="2" charset="-122"/>
              </a:endParaRPr>
            </a:p>
          </p:txBody>
        </p:sp>
        <p:sp>
          <p:nvSpPr>
            <p:cNvPr id="101387" name="Rectangle 6"/>
            <p:cNvSpPr/>
            <p:nvPr/>
          </p:nvSpPr>
          <p:spPr>
            <a:xfrm>
              <a:off x="2895600" y="4979988"/>
              <a:ext cx="914400" cy="201612"/>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p>
              <a:r>
                <a:rPr lang="en-US" altLang="zh-CN" sz="1800" dirty="0">
                  <a:latin typeface="Times New Roman" panose="02020603050405020304" pitchFamily="18" charset="0"/>
                  <a:ea typeface="SimSun" panose="02010600030101010101" pitchFamily="2" charset="-122"/>
                </a:rPr>
                <a:t>2</a:t>
              </a:r>
              <a:endParaRPr lang="en-US" altLang="zh-CN" sz="1800" dirty="0">
                <a:latin typeface="Times New Roman" panose="02020603050405020304" pitchFamily="18" charset="0"/>
                <a:ea typeface="SimSun" panose="02010600030101010101" pitchFamily="2" charset="-122"/>
              </a:endParaRPr>
            </a:p>
          </p:txBody>
        </p:sp>
        <p:sp>
          <p:nvSpPr>
            <p:cNvPr id="101388" name="Rectangle 7"/>
            <p:cNvSpPr/>
            <p:nvPr/>
          </p:nvSpPr>
          <p:spPr>
            <a:xfrm>
              <a:off x="2895600" y="5284788"/>
              <a:ext cx="914400" cy="201612"/>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p>
              <a:r>
                <a:rPr lang="en-US" altLang="zh-CN" sz="1800" dirty="0">
                  <a:latin typeface="Times New Roman" panose="02020603050405020304" pitchFamily="18" charset="0"/>
                  <a:ea typeface="SimSun" panose="02010600030101010101" pitchFamily="2" charset="-122"/>
                </a:rPr>
                <a:t>3</a:t>
              </a:r>
              <a:endParaRPr lang="en-US" altLang="zh-CN" sz="1800" dirty="0">
                <a:latin typeface="Times New Roman" panose="02020603050405020304" pitchFamily="18" charset="0"/>
                <a:ea typeface="SimSun" panose="02010600030101010101" pitchFamily="2" charset="-122"/>
              </a:endParaRPr>
            </a:p>
          </p:txBody>
        </p:sp>
        <p:sp>
          <p:nvSpPr>
            <p:cNvPr id="101389" name="Rectangle 8"/>
            <p:cNvSpPr/>
            <p:nvPr/>
          </p:nvSpPr>
          <p:spPr>
            <a:xfrm>
              <a:off x="2895600" y="5589588"/>
              <a:ext cx="914400" cy="201612"/>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p>
              <a:r>
                <a:rPr lang="en-US" altLang="zh-CN" sz="1800" dirty="0">
                  <a:latin typeface="Times New Roman" panose="02020603050405020304" pitchFamily="18" charset="0"/>
                  <a:ea typeface="SimSun" panose="02010600030101010101" pitchFamily="2" charset="-122"/>
                </a:rPr>
                <a:t>4</a:t>
              </a:r>
              <a:endParaRPr lang="en-US" altLang="zh-CN" sz="1800" dirty="0">
                <a:latin typeface="Times New Roman" panose="02020603050405020304" pitchFamily="18" charset="0"/>
                <a:ea typeface="SimSun" panose="02010600030101010101" pitchFamily="2" charset="-122"/>
              </a:endParaRPr>
            </a:p>
          </p:txBody>
        </p:sp>
        <p:sp>
          <p:nvSpPr>
            <p:cNvPr id="101390" name="Rectangle 9"/>
            <p:cNvSpPr/>
            <p:nvPr/>
          </p:nvSpPr>
          <p:spPr>
            <a:xfrm>
              <a:off x="2895600" y="5894388"/>
              <a:ext cx="914400" cy="201612"/>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p>
              <a:r>
                <a:rPr lang="en-US" altLang="zh-CN" sz="1800" dirty="0">
                  <a:latin typeface="Times New Roman" panose="02020603050405020304" pitchFamily="18" charset="0"/>
                  <a:ea typeface="SimSun" panose="02010600030101010101" pitchFamily="2" charset="-122"/>
                </a:rPr>
                <a:t>5</a:t>
              </a:r>
              <a:endParaRPr lang="en-US" altLang="zh-CN" sz="1800" dirty="0">
                <a:latin typeface="Times New Roman" panose="02020603050405020304" pitchFamily="18" charset="0"/>
                <a:ea typeface="SimSun" panose="02010600030101010101" pitchFamily="2" charset="-122"/>
              </a:endParaRPr>
            </a:p>
          </p:txBody>
        </p:sp>
        <p:cxnSp>
          <p:nvCxnSpPr>
            <p:cNvPr id="101391" name="AutoShape 10"/>
            <p:cNvCxnSpPr>
              <a:stCxn id="101385" idx="3"/>
              <a:endCxn id="101386" idx="1"/>
            </p:cNvCxnSpPr>
            <p:nvPr/>
          </p:nvCxnSpPr>
          <p:spPr>
            <a:xfrm flipV="1">
              <a:off x="1981200" y="4776788"/>
              <a:ext cx="914400" cy="176212"/>
            </a:xfrm>
            <a:prstGeom prst="straightConnector1">
              <a:avLst/>
            </a:prstGeom>
            <a:ln w="9525" cap="flat" cmpd="sng">
              <a:solidFill>
                <a:schemeClr val="tx1"/>
              </a:solidFill>
              <a:prstDash val="solid"/>
              <a:headEnd type="none" w="med" len="med"/>
              <a:tailEnd type="none" w="med" len="med"/>
            </a:ln>
          </p:spPr>
        </p:cxnSp>
        <p:cxnSp>
          <p:nvCxnSpPr>
            <p:cNvPr id="101392" name="AutoShape 11"/>
            <p:cNvCxnSpPr>
              <a:stCxn id="101385" idx="3"/>
              <a:endCxn id="101387" idx="1"/>
            </p:cNvCxnSpPr>
            <p:nvPr/>
          </p:nvCxnSpPr>
          <p:spPr>
            <a:xfrm>
              <a:off x="1981200" y="4953000"/>
              <a:ext cx="914400" cy="128588"/>
            </a:xfrm>
            <a:prstGeom prst="straightConnector1">
              <a:avLst/>
            </a:prstGeom>
            <a:ln w="9525" cap="flat" cmpd="sng">
              <a:solidFill>
                <a:schemeClr val="tx1"/>
              </a:solidFill>
              <a:prstDash val="solid"/>
              <a:headEnd type="none" w="med" len="med"/>
              <a:tailEnd type="none" w="med" len="med"/>
            </a:ln>
          </p:spPr>
        </p:cxnSp>
        <p:cxnSp>
          <p:nvCxnSpPr>
            <p:cNvPr id="101393" name="AutoShape 12"/>
            <p:cNvCxnSpPr>
              <a:stCxn id="101385" idx="3"/>
              <a:endCxn id="101389" idx="1"/>
            </p:cNvCxnSpPr>
            <p:nvPr/>
          </p:nvCxnSpPr>
          <p:spPr>
            <a:xfrm>
              <a:off x="1981200" y="4953000"/>
              <a:ext cx="914400" cy="738188"/>
            </a:xfrm>
            <a:prstGeom prst="straightConnector1">
              <a:avLst/>
            </a:prstGeom>
            <a:ln w="9525" cap="flat" cmpd="sng">
              <a:solidFill>
                <a:schemeClr val="tx1"/>
              </a:solidFill>
              <a:prstDash val="solid"/>
              <a:headEnd type="none" w="med" len="med"/>
              <a:tailEnd type="none" w="med" len="med"/>
            </a:ln>
          </p:spPr>
        </p:cxnSp>
        <p:cxnSp>
          <p:nvCxnSpPr>
            <p:cNvPr id="101394" name="AutoShape 13"/>
            <p:cNvCxnSpPr>
              <a:stCxn id="101397" idx="3"/>
              <a:endCxn id="101387" idx="1"/>
            </p:cNvCxnSpPr>
            <p:nvPr/>
          </p:nvCxnSpPr>
          <p:spPr>
            <a:xfrm flipV="1">
              <a:off x="1981200" y="5081588"/>
              <a:ext cx="914400" cy="709612"/>
            </a:xfrm>
            <a:prstGeom prst="straightConnector1">
              <a:avLst/>
            </a:prstGeom>
            <a:ln w="9525" cap="flat" cmpd="sng">
              <a:solidFill>
                <a:schemeClr val="tx1"/>
              </a:solidFill>
              <a:prstDash val="solid"/>
              <a:headEnd type="none" w="med" len="med"/>
              <a:tailEnd type="none" w="med" len="med"/>
            </a:ln>
          </p:spPr>
        </p:cxnSp>
        <p:cxnSp>
          <p:nvCxnSpPr>
            <p:cNvPr id="101395" name="AutoShape 14"/>
            <p:cNvCxnSpPr>
              <a:stCxn id="101397" idx="3"/>
              <a:endCxn id="101388" idx="1"/>
            </p:cNvCxnSpPr>
            <p:nvPr/>
          </p:nvCxnSpPr>
          <p:spPr>
            <a:xfrm flipV="1">
              <a:off x="1981200" y="5386388"/>
              <a:ext cx="914400" cy="404812"/>
            </a:xfrm>
            <a:prstGeom prst="straightConnector1">
              <a:avLst/>
            </a:prstGeom>
            <a:ln w="9525" cap="flat" cmpd="sng">
              <a:solidFill>
                <a:schemeClr val="tx1"/>
              </a:solidFill>
              <a:prstDash val="solid"/>
              <a:headEnd type="none" w="med" len="med"/>
              <a:tailEnd type="none" w="med" len="med"/>
            </a:ln>
          </p:spPr>
        </p:cxnSp>
        <p:cxnSp>
          <p:nvCxnSpPr>
            <p:cNvPr id="101396" name="AutoShape 15"/>
            <p:cNvCxnSpPr>
              <a:stCxn id="101397" idx="3"/>
              <a:endCxn id="101390" idx="1"/>
            </p:cNvCxnSpPr>
            <p:nvPr/>
          </p:nvCxnSpPr>
          <p:spPr>
            <a:xfrm>
              <a:off x="1981200" y="5791200"/>
              <a:ext cx="914400" cy="204788"/>
            </a:xfrm>
            <a:prstGeom prst="straightConnector1">
              <a:avLst/>
            </a:prstGeom>
            <a:ln w="9525" cap="flat" cmpd="sng">
              <a:solidFill>
                <a:schemeClr val="tx1"/>
              </a:solidFill>
              <a:prstDash val="solid"/>
              <a:headEnd type="none" w="med" len="med"/>
              <a:tailEnd type="none" w="med" len="med"/>
            </a:ln>
          </p:spPr>
        </p:cxnSp>
        <p:sp>
          <p:nvSpPr>
            <p:cNvPr id="101397" name="Rectangle 16"/>
            <p:cNvSpPr/>
            <p:nvPr/>
          </p:nvSpPr>
          <p:spPr>
            <a:xfrm>
              <a:off x="1066800" y="5638800"/>
              <a:ext cx="914400" cy="304800"/>
            </a:xfrm>
            <a:prstGeom prst="rect">
              <a:avLst/>
            </a:prstGeom>
            <a:solidFill>
              <a:srgbClr val="C0C0C0"/>
            </a:solidFill>
            <a:ln w="9525" cap="flat" cmpd="sng">
              <a:solidFill>
                <a:schemeClr val="tx1"/>
              </a:solidFill>
              <a:prstDash val="solid"/>
              <a:miter/>
              <a:headEnd type="none" w="med" len="med"/>
              <a:tailEnd type="none" w="med" len="med"/>
            </a:ln>
          </p:spPr>
          <p:txBody>
            <a:bodyPr wrap="none" tIns="0" bIns="137160" anchor="ctr" anchorCtr="0"/>
            <a:p>
              <a:r>
                <a:rPr lang="en-US" altLang="zh-CN" i="1" dirty="0">
                  <a:latin typeface="Times New Roman" panose="02020603050405020304" pitchFamily="18" charset="0"/>
                  <a:ea typeface="SimSun" panose="02010600030101010101" pitchFamily="2" charset="-122"/>
                </a:rPr>
                <a:t>n</a:t>
              </a:r>
              <a:r>
                <a:rPr lang="en-US" altLang="zh-CN" baseline="-25000" dirty="0">
                  <a:latin typeface="Times New Roman" panose="02020603050405020304" pitchFamily="18" charset="0"/>
                  <a:ea typeface="SimSun" panose="02010600030101010101" pitchFamily="2" charset="-122"/>
                </a:rPr>
                <a:t>2</a:t>
              </a:r>
              <a:endParaRPr lang="en-US" altLang="zh-CN" baseline="-25000" dirty="0">
                <a:latin typeface="Times New Roman" panose="02020603050405020304" pitchFamily="18" charset="0"/>
                <a:ea typeface="SimSun" panose="02010600030101010101" pitchFamily="2" charset="-122"/>
              </a:endParaRPr>
            </a:p>
          </p:txBody>
        </p:sp>
        <p:cxnSp>
          <p:nvCxnSpPr>
            <p:cNvPr id="101398" name="AutoShape 17"/>
            <p:cNvCxnSpPr>
              <a:stCxn id="101397" idx="3"/>
              <a:endCxn id="101389" idx="1"/>
            </p:cNvCxnSpPr>
            <p:nvPr/>
          </p:nvCxnSpPr>
          <p:spPr>
            <a:xfrm flipV="1">
              <a:off x="1981200" y="5691188"/>
              <a:ext cx="914400" cy="100012"/>
            </a:xfrm>
            <a:prstGeom prst="straightConnector1">
              <a:avLst/>
            </a:prstGeom>
            <a:ln w="9525" cap="flat" cmpd="sng">
              <a:solidFill>
                <a:schemeClr val="tx1"/>
              </a:solidFill>
              <a:prstDash val="solid"/>
              <a:headEnd type="none" w="med" len="med"/>
              <a:tailEnd type="none" w="med" len="med"/>
            </a:ln>
          </p:spPr>
        </p:cxnSp>
        <p:cxnSp>
          <p:nvCxnSpPr>
            <p:cNvPr id="101399" name="AutoShape 18"/>
            <p:cNvCxnSpPr>
              <a:stCxn id="101385" idx="3"/>
              <a:endCxn id="101390" idx="1"/>
            </p:cNvCxnSpPr>
            <p:nvPr/>
          </p:nvCxnSpPr>
          <p:spPr>
            <a:xfrm>
              <a:off x="1981200" y="4953000"/>
              <a:ext cx="914400" cy="1042988"/>
            </a:xfrm>
            <a:prstGeom prst="straightConnector1">
              <a:avLst/>
            </a:prstGeom>
            <a:ln w="9525" cap="flat" cmpd="sng">
              <a:solidFill>
                <a:schemeClr val="tx1"/>
              </a:solidFill>
              <a:prstDash val="solid"/>
              <a:headEnd type="none" w="med" len="med"/>
              <a:tailEnd type="none" w="med" len="med"/>
            </a:ln>
          </p:spPr>
        </p:cxnSp>
      </p:grpSp>
      <p:sp>
        <p:nvSpPr>
          <p:cNvPr id="101381" name="Text Box 19"/>
          <p:cNvSpPr txBox="1"/>
          <p:nvPr/>
        </p:nvSpPr>
        <p:spPr>
          <a:xfrm>
            <a:off x="4419600" y="5257800"/>
            <a:ext cx="3962400" cy="457200"/>
          </a:xfrm>
          <a:prstGeom prst="rect">
            <a:avLst/>
          </a:prstGeom>
          <a:noFill/>
          <a:ln w="9525">
            <a:noFill/>
          </a:ln>
        </p:spPr>
        <p:txBody>
          <a:bodyPr>
            <a:spAutoFit/>
          </a:bodyPr>
          <a:p>
            <a:pPr>
              <a:spcBef>
                <a:spcPct val="50000"/>
              </a:spcBef>
            </a:pPr>
            <a:r>
              <a:rPr lang="en-US" altLang="zh-CN" dirty="0">
                <a:latin typeface="Arial" panose="020B0604020202020204" pitchFamily="34" charset="0"/>
                <a:ea typeface="SimSun" panose="02010600030101010101" pitchFamily="2" charset="-122"/>
              </a:rPr>
              <a:t>The tightness of</a:t>
            </a:r>
            <a:r>
              <a:rPr lang="en-US" altLang="zh-CN" dirty="0">
                <a:latin typeface="Times New Roman" panose="02020603050405020304" pitchFamily="18" charset="0"/>
                <a:ea typeface="SimSun" panose="02010600030101010101" pitchFamily="2" charset="-122"/>
              </a:rPr>
              <a:t> {</a:t>
            </a:r>
            <a:r>
              <a:rPr lang="en-US" altLang="zh-CN" i="1" dirty="0">
                <a:latin typeface="Times New Roman" panose="02020603050405020304" pitchFamily="18" charset="0"/>
                <a:ea typeface="SimSun" panose="02010600030101010101" pitchFamily="2" charset="-122"/>
              </a:rPr>
              <a:t>n</a:t>
            </a:r>
            <a:r>
              <a:rPr lang="en-US" altLang="zh-CN" baseline="-25000" dirty="0">
                <a:latin typeface="Times New Roman" panose="02020603050405020304" pitchFamily="18" charset="0"/>
                <a:ea typeface="SimSun" panose="02010600030101010101" pitchFamily="2" charset="-122"/>
              </a:rPr>
              <a:t>1</a:t>
            </a:r>
            <a:r>
              <a:rPr lang="en-US" altLang="zh-CN" dirty="0">
                <a:latin typeface="Times New Roman" panose="02020603050405020304" pitchFamily="18" charset="0"/>
                <a:ea typeface="SimSun" panose="02010600030101010101" pitchFamily="2" charset="-122"/>
              </a:rPr>
              <a:t>, </a:t>
            </a:r>
            <a:r>
              <a:rPr lang="en-US" altLang="zh-CN" i="1" dirty="0">
                <a:latin typeface="Times New Roman" panose="02020603050405020304" pitchFamily="18" charset="0"/>
                <a:ea typeface="SimSun" panose="02010600030101010101" pitchFamily="2" charset="-122"/>
              </a:rPr>
              <a:t>n</a:t>
            </a:r>
            <a:r>
              <a:rPr lang="en-US" altLang="zh-CN" baseline="-25000" dirty="0">
                <a:latin typeface="Times New Roman" panose="02020603050405020304" pitchFamily="18" charset="0"/>
                <a:ea typeface="SimSun" panose="02010600030101010101" pitchFamily="2" charset="-122"/>
              </a:rPr>
              <a:t>2</a:t>
            </a:r>
            <a:r>
              <a:rPr lang="en-US" altLang="zh-CN" dirty="0">
                <a:latin typeface="Times New Roman" panose="02020603050405020304" pitchFamily="18" charset="0"/>
                <a:ea typeface="SimSun" panose="02010600030101010101" pitchFamily="2" charset="-122"/>
              </a:rPr>
              <a:t>} </a:t>
            </a:r>
            <a:r>
              <a:rPr lang="en-US" altLang="zh-CN" dirty="0">
                <a:latin typeface="Arial" panose="020B0604020202020204" pitchFamily="34" charset="0"/>
                <a:ea typeface="SimSun" panose="02010600030101010101" pitchFamily="2" charset="-122"/>
              </a:rPr>
              <a:t>is 3</a:t>
            </a:r>
            <a:endParaRPr lang="en-US" altLang="zh-CN" dirty="0">
              <a:latin typeface="Arial" panose="020B0604020202020204" pitchFamily="34" charset="0"/>
              <a:ea typeface="SimSun" panose="02010600030101010101" pitchFamily="2" charset="-122"/>
            </a:endParaRPr>
          </a:p>
        </p:txBody>
      </p:sp>
      <p:sp>
        <p:nvSpPr>
          <p:cNvPr id="101382" name="Text Box 20"/>
          <p:cNvSpPr txBox="1"/>
          <p:nvPr/>
        </p:nvSpPr>
        <p:spPr>
          <a:xfrm>
            <a:off x="1219200" y="4267200"/>
            <a:ext cx="1066800" cy="400050"/>
          </a:xfrm>
          <a:prstGeom prst="rect">
            <a:avLst/>
          </a:prstGeom>
          <a:noFill/>
          <a:ln w="9525">
            <a:noFill/>
          </a:ln>
        </p:spPr>
        <p:txBody>
          <a:bodyPr>
            <a:spAutoFit/>
          </a:bodyPr>
          <a:p>
            <a:pPr algn="l">
              <a:spcBef>
                <a:spcPct val="50000"/>
              </a:spcBef>
            </a:pPr>
            <a:r>
              <a:rPr lang="en-US" altLang="zh-CN" sz="2000" i="1" dirty="0">
                <a:latin typeface="Arial" panose="020B0604020202020204" pitchFamily="34" charset="0"/>
                <a:ea typeface="SimSun" panose="02010600030101010101" pitchFamily="2" charset="-122"/>
              </a:rPr>
              <a:t>Nodes</a:t>
            </a:r>
            <a:endParaRPr lang="en-US" altLang="zh-CN" sz="2000" i="1" dirty="0">
              <a:latin typeface="Arial" panose="020B0604020202020204" pitchFamily="34" charset="0"/>
              <a:ea typeface="SimSun" panose="02010600030101010101" pitchFamily="2" charset="-122"/>
            </a:endParaRPr>
          </a:p>
        </p:txBody>
      </p:sp>
      <p:sp>
        <p:nvSpPr>
          <p:cNvPr id="101383" name="Text Box 21"/>
          <p:cNvSpPr txBox="1"/>
          <p:nvPr/>
        </p:nvSpPr>
        <p:spPr>
          <a:xfrm>
            <a:off x="2590800" y="4175125"/>
            <a:ext cx="2057400" cy="701675"/>
          </a:xfrm>
          <a:prstGeom prst="rect">
            <a:avLst/>
          </a:prstGeom>
          <a:noFill/>
          <a:ln w="9525">
            <a:noFill/>
          </a:ln>
        </p:spPr>
        <p:txBody>
          <a:bodyPr>
            <a:spAutoFit/>
          </a:bodyPr>
          <a:p>
            <a:pPr algn="l">
              <a:spcBef>
                <a:spcPct val="50000"/>
              </a:spcBef>
            </a:pPr>
            <a:r>
              <a:rPr lang="en-US" altLang="zh-CN" sz="2000" i="1" dirty="0">
                <a:latin typeface="Arial" panose="020B0604020202020204" pitchFamily="34" charset="0"/>
                <a:ea typeface="SimSun" panose="02010600030101010101" pitchFamily="2" charset="-122"/>
              </a:rPr>
              <a:t>Leaf nodes in another SimTree</a:t>
            </a:r>
            <a:endParaRPr lang="en-US" altLang="zh-CN" sz="2000" i="1" dirty="0">
              <a:latin typeface="Arial" panose="020B0604020202020204" pitchFamily="34" charset="0"/>
              <a:ea typeface="SimSun" panose="02010600030101010101" pitchFamily="2" charset="-122"/>
            </a:endParaRPr>
          </a:p>
        </p:txBody>
      </p:sp>
      <p:sp>
        <p:nvSpPr>
          <p:cNvPr id="101384" name="Slide Number Placeholder 2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2"/>
          <p:cNvSpPr>
            <a:spLocks noGrp="1"/>
          </p:cNvSpPr>
          <p:nvPr>
            <p:ph type="title" idx="4294967295"/>
          </p:nvPr>
        </p:nvSpPr>
        <p:spPr>
          <a:xfrm>
            <a:off x="0" y="381000"/>
            <a:ext cx="9144000" cy="609600"/>
          </a:xfrm>
        </p:spPr>
        <p:txBody>
          <a:bodyPr vert="horz" wrap="square" lIns="91440" tIns="45720" rIns="91440" bIns="45720" anchor="b" anchorCtr="0"/>
          <a:p>
            <a:pPr eaLnBrk="1" hangingPunct="1"/>
            <a:r>
              <a:rPr lang="en-US" altLang="zh-CN" sz="3200" dirty="0">
                <a:ea typeface="SimSun" panose="02010600030101010101" pitchFamily="2" charset="-122"/>
              </a:rPr>
              <a:t>Finding Tight Groups by Freq. Pattern Mining</a:t>
            </a:r>
            <a:endParaRPr lang="en-US" altLang="zh-CN" sz="3200" dirty="0">
              <a:ea typeface="SimSun" panose="02010600030101010101" pitchFamily="2" charset="-122"/>
            </a:endParaRPr>
          </a:p>
        </p:txBody>
      </p:sp>
      <p:sp>
        <p:nvSpPr>
          <p:cNvPr id="102403" name="Rectangle 3"/>
          <p:cNvSpPr>
            <a:spLocks noGrp="1"/>
          </p:cNvSpPr>
          <p:nvPr>
            <p:ph type="body" idx="4294967295"/>
          </p:nvPr>
        </p:nvSpPr>
        <p:spPr>
          <a:xfrm>
            <a:off x="381000" y="1295400"/>
            <a:ext cx="8763000" cy="5181600"/>
          </a:xfrm>
        </p:spPr>
        <p:txBody>
          <a:bodyPr vert="horz" wrap="square" lIns="91440" tIns="45720" rIns="91440" bIns="45720" anchor="t" anchorCtr="0"/>
          <a:p>
            <a:pPr eaLnBrk="1" hangingPunct="1">
              <a:lnSpc>
                <a:spcPct val="90000"/>
              </a:lnSpc>
            </a:pPr>
            <a:r>
              <a:rPr lang="en-US" altLang="zh-CN" sz="2400" dirty="0">
                <a:ea typeface="SimSun" panose="02010600030101010101" pitchFamily="2" charset="-122"/>
              </a:rPr>
              <a:t>Finding tight groups                   Frequent pattern mining</a:t>
            </a:r>
            <a:endParaRPr lang="en-US" altLang="zh-CN" sz="2400" dirty="0">
              <a:ea typeface="SimSun" panose="02010600030101010101" pitchFamily="2" charset="-122"/>
            </a:endParaRPr>
          </a:p>
          <a:p>
            <a:pPr eaLnBrk="1" hangingPunct="1">
              <a:lnSpc>
                <a:spcPct val="90000"/>
              </a:lnSpc>
            </a:pPr>
            <a:endParaRPr lang="en-US" altLang="zh-CN" dirty="0">
              <a:ea typeface="SimSun" panose="02010600030101010101" pitchFamily="2" charset="-122"/>
            </a:endParaRPr>
          </a:p>
          <a:p>
            <a:pPr eaLnBrk="1" hangingPunct="1">
              <a:lnSpc>
                <a:spcPct val="90000"/>
              </a:lnSpc>
            </a:pPr>
            <a:endParaRPr lang="en-US" altLang="zh-CN" dirty="0">
              <a:ea typeface="SimSun" panose="02010600030101010101" pitchFamily="2" charset="-122"/>
            </a:endParaRPr>
          </a:p>
          <a:p>
            <a:pPr eaLnBrk="1" hangingPunct="1">
              <a:lnSpc>
                <a:spcPct val="90000"/>
              </a:lnSpc>
            </a:pPr>
            <a:endParaRPr lang="en-US" altLang="zh-CN" dirty="0">
              <a:ea typeface="SimSun" panose="02010600030101010101" pitchFamily="2" charset="-122"/>
            </a:endParaRPr>
          </a:p>
          <a:p>
            <a:pPr eaLnBrk="1" hangingPunct="1">
              <a:lnSpc>
                <a:spcPct val="90000"/>
              </a:lnSpc>
            </a:pPr>
            <a:endParaRPr lang="en-US" altLang="zh-CN" dirty="0">
              <a:ea typeface="SimSun" panose="02010600030101010101" pitchFamily="2" charset="-122"/>
            </a:endParaRPr>
          </a:p>
          <a:p>
            <a:pPr eaLnBrk="1" hangingPunct="1">
              <a:lnSpc>
                <a:spcPct val="90000"/>
              </a:lnSpc>
            </a:pPr>
            <a:endParaRPr lang="en-US" altLang="zh-CN" dirty="0">
              <a:ea typeface="SimSun" panose="02010600030101010101" pitchFamily="2" charset="-122"/>
            </a:endParaRPr>
          </a:p>
          <a:p>
            <a:pPr eaLnBrk="1" hangingPunct="1">
              <a:lnSpc>
                <a:spcPct val="90000"/>
              </a:lnSpc>
            </a:pPr>
            <a:endParaRPr lang="en-US" altLang="zh-CN" dirty="0">
              <a:ea typeface="SimSun" panose="02010600030101010101" pitchFamily="2" charset="-122"/>
            </a:endParaRPr>
          </a:p>
          <a:p>
            <a:pPr eaLnBrk="1" hangingPunct="1">
              <a:lnSpc>
                <a:spcPct val="90000"/>
              </a:lnSpc>
            </a:pPr>
            <a:endParaRPr lang="en-US" altLang="zh-CN" dirty="0">
              <a:ea typeface="SimSun" panose="02010600030101010101" pitchFamily="2" charset="-122"/>
            </a:endParaRPr>
          </a:p>
          <a:p>
            <a:pPr eaLnBrk="1" hangingPunct="1">
              <a:lnSpc>
                <a:spcPct val="90000"/>
              </a:lnSpc>
            </a:pPr>
            <a:r>
              <a:rPr lang="en-US" altLang="zh-CN" sz="2400" dirty="0">
                <a:ea typeface="SimSun" panose="02010600030101010101" pitchFamily="2" charset="-122"/>
              </a:rPr>
              <a:t>Procedure of initializing a tree</a:t>
            </a:r>
            <a:endParaRPr lang="en-US" altLang="zh-CN" sz="2400" dirty="0">
              <a:ea typeface="SimSun" panose="02010600030101010101" pitchFamily="2" charset="-122"/>
            </a:endParaRPr>
          </a:p>
          <a:p>
            <a:pPr lvl="1" eaLnBrk="1" hangingPunct="1">
              <a:lnSpc>
                <a:spcPct val="90000"/>
              </a:lnSpc>
            </a:pPr>
            <a:r>
              <a:rPr lang="en-US" altLang="zh-CN" sz="2400" dirty="0">
                <a:ea typeface="SimSun" panose="02010600030101010101" pitchFamily="2" charset="-122"/>
              </a:rPr>
              <a:t>Start from leaf nodes (level-0)</a:t>
            </a:r>
            <a:endParaRPr lang="en-US" altLang="zh-CN" sz="2400" dirty="0">
              <a:ea typeface="SimSun" panose="02010600030101010101" pitchFamily="2" charset="-122"/>
            </a:endParaRPr>
          </a:p>
          <a:p>
            <a:pPr lvl="1" eaLnBrk="1" hangingPunct="1">
              <a:lnSpc>
                <a:spcPct val="90000"/>
              </a:lnSpc>
            </a:pPr>
            <a:r>
              <a:rPr lang="en-US" altLang="zh-CN" sz="2400" dirty="0">
                <a:ea typeface="SimSun" panose="02010600030101010101" pitchFamily="2" charset="-122"/>
              </a:rPr>
              <a:t>At each level </a:t>
            </a:r>
            <a:r>
              <a:rPr lang="en-US" altLang="zh-CN" sz="2400" i="1" dirty="0">
                <a:ea typeface="SimSun" panose="02010600030101010101" pitchFamily="2" charset="-122"/>
              </a:rPr>
              <a:t>l</a:t>
            </a:r>
            <a:r>
              <a:rPr lang="en-US" altLang="zh-CN" sz="2400" dirty="0">
                <a:ea typeface="SimSun" panose="02010600030101010101" pitchFamily="2" charset="-122"/>
              </a:rPr>
              <a:t>, find non-overlapping groups of similar nodes with frequent pattern mining</a:t>
            </a:r>
            <a:endParaRPr lang="en-US" altLang="zh-CN" sz="2400" dirty="0">
              <a:ea typeface="SimSun" panose="02010600030101010101" pitchFamily="2" charset="-122"/>
            </a:endParaRPr>
          </a:p>
        </p:txBody>
      </p:sp>
      <p:grpSp>
        <p:nvGrpSpPr>
          <p:cNvPr id="102404" name="Group 4"/>
          <p:cNvGrpSpPr/>
          <p:nvPr/>
        </p:nvGrpSpPr>
        <p:grpSpPr>
          <a:xfrm>
            <a:off x="228600" y="1524000"/>
            <a:ext cx="8763000" cy="3429000"/>
            <a:chOff x="96" y="768"/>
            <a:chExt cx="5520" cy="2208"/>
          </a:xfrm>
        </p:grpSpPr>
        <p:sp>
          <p:nvSpPr>
            <p:cNvPr id="102406" name="Line 5"/>
            <p:cNvSpPr/>
            <p:nvPr/>
          </p:nvSpPr>
          <p:spPr>
            <a:xfrm>
              <a:off x="2400" y="768"/>
              <a:ext cx="480" cy="0"/>
            </a:xfrm>
            <a:prstGeom prst="line">
              <a:avLst/>
            </a:prstGeom>
            <a:ln w="19050" cap="flat" cmpd="sng">
              <a:solidFill>
                <a:schemeClr val="tx1"/>
              </a:solidFill>
              <a:prstDash val="solid"/>
              <a:headEnd type="none" w="med" len="med"/>
              <a:tailEnd type="triangle" w="lg" len="lg"/>
            </a:ln>
          </p:spPr>
        </p:sp>
        <p:sp>
          <p:nvSpPr>
            <p:cNvPr id="102407" name="Text Box 6"/>
            <p:cNvSpPr txBox="1"/>
            <p:nvPr/>
          </p:nvSpPr>
          <p:spPr>
            <a:xfrm>
              <a:off x="2112" y="806"/>
              <a:ext cx="1008" cy="255"/>
            </a:xfrm>
            <a:prstGeom prst="rect">
              <a:avLst/>
            </a:prstGeom>
            <a:noFill/>
            <a:ln w="9525">
              <a:noFill/>
            </a:ln>
          </p:spPr>
          <p:txBody>
            <a:bodyPr>
              <a:spAutoFit/>
            </a:bodyPr>
            <a:p>
              <a:pPr>
                <a:spcBef>
                  <a:spcPct val="50000"/>
                </a:spcBef>
              </a:pPr>
              <a:r>
                <a:rPr lang="en-US" altLang="zh-CN" sz="2000" i="1" dirty="0">
                  <a:latin typeface="Arial" panose="020B0604020202020204" pitchFamily="34" charset="0"/>
                  <a:ea typeface="SimSun" panose="02010600030101010101" pitchFamily="2" charset="-122"/>
                </a:rPr>
                <a:t>Reduced to</a:t>
              </a:r>
              <a:endParaRPr lang="en-US" altLang="zh-CN" sz="2000" i="1" dirty="0">
                <a:latin typeface="Arial" panose="020B0604020202020204" pitchFamily="34" charset="0"/>
                <a:ea typeface="SimSun" panose="02010600030101010101" pitchFamily="2" charset="-122"/>
              </a:endParaRPr>
            </a:p>
          </p:txBody>
        </p:sp>
        <p:grpSp>
          <p:nvGrpSpPr>
            <p:cNvPr id="102408" name="Group 7"/>
            <p:cNvGrpSpPr/>
            <p:nvPr/>
          </p:nvGrpSpPr>
          <p:grpSpPr>
            <a:xfrm>
              <a:off x="1968" y="1248"/>
              <a:ext cx="1152" cy="1584"/>
              <a:chOff x="1056" y="1766"/>
              <a:chExt cx="1152" cy="1584"/>
            </a:xfrm>
          </p:grpSpPr>
          <p:sp>
            <p:nvSpPr>
              <p:cNvPr id="102459" name="Rectangle 8"/>
              <p:cNvSpPr/>
              <p:nvPr/>
            </p:nvSpPr>
            <p:spPr>
              <a:xfrm>
                <a:off x="1440" y="1766"/>
                <a:ext cx="768" cy="672"/>
              </a:xfrm>
              <a:prstGeom prst="rect">
                <a:avLst/>
              </a:prstGeom>
              <a:noFill/>
              <a:ln w="9525" cap="flat" cmpd="sng">
                <a:solidFill>
                  <a:schemeClr val="tx1"/>
                </a:solidFill>
                <a:prstDash val="lgDash"/>
                <a:miter/>
                <a:headEnd type="none" w="med" len="med"/>
                <a:tailEnd type="none" w="med" len="med"/>
              </a:ln>
            </p:spPr>
            <p:txBody>
              <a:bodyPr wrap="none" anchor="ctr" anchorCtr="0"/>
              <a:p>
                <a:endParaRPr dirty="0">
                  <a:latin typeface="Tahoma" panose="020B0604030504040204" pitchFamily="34" charset="0"/>
                </a:endParaRPr>
              </a:p>
            </p:txBody>
          </p:sp>
          <p:sp>
            <p:nvSpPr>
              <p:cNvPr id="102460" name="Rectangle 9"/>
              <p:cNvSpPr/>
              <p:nvPr/>
            </p:nvSpPr>
            <p:spPr>
              <a:xfrm>
                <a:off x="1440" y="2678"/>
                <a:ext cx="768" cy="672"/>
              </a:xfrm>
              <a:prstGeom prst="rect">
                <a:avLst/>
              </a:prstGeom>
              <a:noFill/>
              <a:ln w="9525" cap="flat" cmpd="sng">
                <a:solidFill>
                  <a:schemeClr val="tx1"/>
                </a:solidFill>
                <a:prstDash val="lgDash"/>
                <a:miter/>
                <a:headEnd type="none" w="med" len="med"/>
                <a:tailEnd type="none" w="med" len="med"/>
              </a:ln>
            </p:spPr>
            <p:txBody>
              <a:bodyPr wrap="none" anchor="ctr" anchorCtr="0"/>
              <a:p>
                <a:endParaRPr dirty="0">
                  <a:latin typeface="Tahoma" panose="020B0604030504040204" pitchFamily="34" charset="0"/>
                </a:endParaRPr>
              </a:p>
            </p:txBody>
          </p:sp>
          <p:sp>
            <p:nvSpPr>
              <p:cNvPr id="102461" name="Text Box 10"/>
              <p:cNvSpPr txBox="1"/>
              <p:nvPr/>
            </p:nvSpPr>
            <p:spPr>
              <a:xfrm>
                <a:off x="1056" y="1862"/>
                <a:ext cx="336" cy="295"/>
              </a:xfrm>
              <a:prstGeom prst="rect">
                <a:avLst/>
              </a:prstGeom>
              <a:noFill/>
              <a:ln w="9525">
                <a:noFill/>
              </a:ln>
            </p:spPr>
            <p:txBody>
              <a:bodyPr>
                <a:spAutoFit/>
              </a:bodyPr>
              <a:p>
                <a:pPr>
                  <a:spcBef>
                    <a:spcPct val="50000"/>
                  </a:spcBef>
                </a:pPr>
                <a:r>
                  <a:rPr lang="en-US" altLang="zh-CN" b="1" i="1" dirty="0">
                    <a:latin typeface="Arial" panose="020B0604020202020204" pitchFamily="34" charset="0"/>
                    <a:ea typeface="SimSun" panose="02010600030101010101" pitchFamily="2" charset="-122"/>
                  </a:rPr>
                  <a:t>g</a:t>
                </a:r>
                <a:r>
                  <a:rPr lang="en-US" altLang="zh-CN" b="1" baseline="-25000" dirty="0">
                    <a:latin typeface="Arial" panose="020B0604020202020204" pitchFamily="34" charset="0"/>
                    <a:ea typeface="SimSun" panose="02010600030101010101" pitchFamily="2" charset="-122"/>
                  </a:rPr>
                  <a:t>1</a:t>
                </a:r>
                <a:endParaRPr lang="en-US" altLang="zh-CN" b="1" baseline="-25000" dirty="0">
                  <a:latin typeface="Arial" panose="020B0604020202020204" pitchFamily="34" charset="0"/>
                  <a:ea typeface="SimSun" panose="02010600030101010101" pitchFamily="2" charset="-122"/>
                </a:endParaRPr>
              </a:p>
            </p:txBody>
          </p:sp>
          <p:sp>
            <p:nvSpPr>
              <p:cNvPr id="102462" name="Text Box 11"/>
              <p:cNvSpPr txBox="1"/>
              <p:nvPr/>
            </p:nvSpPr>
            <p:spPr>
              <a:xfrm>
                <a:off x="1056" y="2822"/>
                <a:ext cx="336" cy="295"/>
              </a:xfrm>
              <a:prstGeom prst="rect">
                <a:avLst/>
              </a:prstGeom>
              <a:noFill/>
              <a:ln w="9525">
                <a:noFill/>
              </a:ln>
            </p:spPr>
            <p:txBody>
              <a:bodyPr>
                <a:spAutoFit/>
              </a:bodyPr>
              <a:p>
                <a:pPr>
                  <a:spcBef>
                    <a:spcPct val="50000"/>
                  </a:spcBef>
                </a:pPr>
                <a:r>
                  <a:rPr lang="en-US" altLang="zh-CN" b="1" i="1" dirty="0">
                    <a:latin typeface="Arial" panose="020B0604020202020204" pitchFamily="34" charset="0"/>
                    <a:ea typeface="SimSun" panose="02010600030101010101" pitchFamily="2" charset="-122"/>
                  </a:rPr>
                  <a:t>g</a:t>
                </a:r>
                <a:r>
                  <a:rPr lang="en-US" altLang="zh-CN" b="1" baseline="-25000" dirty="0">
                    <a:latin typeface="Arial" panose="020B0604020202020204" pitchFamily="34" charset="0"/>
                    <a:ea typeface="SimSun" panose="02010600030101010101" pitchFamily="2" charset="-122"/>
                  </a:rPr>
                  <a:t>2</a:t>
                </a:r>
                <a:endParaRPr lang="en-US" altLang="zh-CN" b="1" baseline="-25000" dirty="0">
                  <a:latin typeface="Arial" panose="020B0604020202020204" pitchFamily="34" charset="0"/>
                  <a:ea typeface="SimSun" panose="02010600030101010101" pitchFamily="2" charset="-122"/>
                </a:endParaRPr>
              </a:p>
            </p:txBody>
          </p:sp>
        </p:grpSp>
        <p:grpSp>
          <p:nvGrpSpPr>
            <p:cNvPr id="102409" name="Group 12"/>
            <p:cNvGrpSpPr/>
            <p:nvPr/>
          </p:nvGrpSpPr>
          <p:grpSpPr>
            <a:xfrm>
              <a:off x="4320" y="952"/>
              <a:ext cx="1296" cy="1991"/>
              <a:chOff x="3408" y="1470"/>
              <a:chExt cx="1296" cy="1991"/>
            </a:xfrm>
          </p:grpSpPr>
          <p:sp>
            <p:nvSpPr>
              <p:cNvPr id="102449" name="Text Box 13"/>
              <p:cNvSpPr txBox="1"/>
              <p:nvPr/>
            </p:nvSpPr>
            <p:spPr>
              <a:xfrm>
                <a:off x="3408" y="1679"/>
                <a:ext cx="672" cy="256"/>
              </a:xfrm>
              <a:prstGeom prst="rect">
                <a:avLst/>
              </a:prstGeom>
              <a:noFill/>
              <a:ln w="9525">
                <a:noFill/>
              </a:ln>
            </p:spPr>
            <p:txBody>
              <a:bodyPr>
                <a:spAutoFit/>
              </a:bodyPr>
              <a:p>
                <a:pPr algn="l">
                  <a:spcBef>
                    <a:spcPct val="50000"/>
                  </a:spcBef>
                </a:pPr>
                <a:r>
                  <a:rPr lang="en-US" altLang="zh-CN" sz="2000" dirty="0">
                    <a:latin typeface="Times New Roman" panose="02020603050405020304" pitchFamily="18" charset="0"/>
                    <a:ea typeface="SimSun" panose="02010600030101010101" pitchFamily="2" charset="-122"/>
                  </a:rPr>
                  <a:t>{</a:t>
                </a:r>
                <a:r>
                  <a:rPr lang="en-US" altLang="zh-CN" sz="2000" i="1" dirty="0">
                    <a:latin typeface="Times New Roman" panose="02020603050405020304" pitchFamily="18" charset="0"/>
                    <a:ea typeface="SimSun" panose="02010600030101010101" pitchFamily="2" charset="-122"/>
                  </a:rPr>
                  <a:t>n</a:t>
                </a:r>
                <a:r>
                  <a:rPr lang="en-US" altLang="zh-CN" sz="2000" dirty="0">
                    <a:latin typeface="Times New Roman" panose="02020603050405020304" pitchFamily="18" charset="0"/>
                    <a:ea typeface="SimSun" panose="02010600030101010101" pitchFamily="2" charset="-122"/>
                  </a:rPr>
                  <a:t>1}</a:t>
                </a:r>
                <a:endParaRPr lang="en-US" altLang="zh-CN" sz="2000" dirty="0">
                  <a:latin typeface="Times New Roman" panose="02020603050405020304" pitchFamily="18" charset="0"/>
                  <a:ea typeface="SimSun" panose="02010600030101010101" pitchFamily="2" charset="-122"/>
                </a:endParaRPr>
              </a:p>
            </p:txBody>
          </p:sp>
          <p:sp>
            <p:nvSpPr>
              <p:cNvPr id="102450" name="Text Box 14"/>
              <p:cNvSpPr txBox="1"/>
              <p:nvPr/>
            </p:nvSpPr>
            <p:spPr>
              <a:xfrm>
                <a:off x="3408" y="1862"/>
                <a:ext cx="672" cy="256"/>
              </a:xfrm>
              <a:prstGeom prst="rect">
                <a:avLst/>
              </a:prstGeom>
              <a:noFill/>
              <a:ln w="9525">
                <a:noFill/>
              </a:ln>
            </p:spPr>
            <p:txBody>
              <a:bodyPr>
                <a:spAutoFit/>
              </a:bodyPr>
              <a:p>
                <a:pPr algn="l">
                  <a:spcBef>
                    <a:spcPct val="50000"/>
                  </a:spcBef>
                </a:pPr>
                <a:r>
                  <a:rPr lang="en-US" altLang="zh-CN" sz="2000" dirty="0">
                    <a:latin typeface="Times New Roman" panose="02020603050405020304" pitchFamily="18" charset="0"/>
                    <a:ea typeface="SimSun" panose="02010600030101010101" pitchFamily="2" charset="-122"/>
                  </a:rPr>
                  <a:t>{</a:t>
                </a:r>
                <a:r>
                  <a:rPr lang="en-US" altLang="zh-CN" sz="2000" i="1" dirty="0">
                    <a:latin typeface="Times New Roman" panose="02020603050405020304" pitchFamily="18" charset="0"/>
                    <a:ea typeface="SimSun" panose="02010600030101010101" pitchFamily="2" charset="-122"/>
                  </a:rPr>
                  <a:t>n</a:t>
                </a:r>
                <a:r>
                  <a:rPr lang="en-US" altLang="zh-CN" sz="2000" dirty="0">
                    <a:latin typeface="Times New Roman" panose="02020603050405020304" pitchFamily="18" charset="0"/>
                    <a:ea typeface="SimSun" panose="02010600030101010101" pitchFamily="2" charset="-122"/>
                  </a:rPr>
                  <a:t>1, </a:t>
                </a:r>
                <a:r>
                  <a:rPr lang="en-US" altLang="zh-CN" sz="2000" i="1" dirty="0">
                    <a:latin typeface="Times New Roman" panose="02020603050405020304" pitchFamily="18" charset="0"/>
                    <a:ea typeface="SimSun" panose="02010600030101010101" pitchFamily="2" charset="-122"/>
                  </a:rPr>
                  <a:t>n</a:t>
                </a:r>
                <a:r>
                  <a:rPr lang="en-US" altLang="zh-CN" sz="2000" dirty="0">
                    <a:latin typeface="Times New Roman" panose="02020603050405020304" pitchFamily="18" charset="0"/>
                    <a:ea typeface="SimSun" panose="02010600030101010101" pitchFamily="2" charset="-122"/>
                  </a:rPr>
                  <a:t>2}</a:t>
                </a:r>
                <a:endParaRPr lang="en-US" altLang="zh-CN" sz="2000" dirty="0">
                  <a:latin typeface="Times New Roman" panose="02020603050405020304" pitchFamily="18" charset="0"/>
                  <a:ea typeface="SimSun" panose="02010600030101010101" pitchFamily="2" charset="-122"/>
                </a:endParaRPr>
              </a:p>
            </p:txBody>
          </p:sp>
          <p:sp>
            <p:nvSpPr>
              <p:cNvPr id="102451" name="Text Box 15"/>
              <p:cNvSpPr txBox="1"/>
              <p:nvPr/>
            </p:nvSpPr>
            <p:spPr>
              <a:xfrm>
                <a:off x="3408" y="2053"/>
                <a:ext cx="672" cy="255"/>
              </a:xfrm>
              <a:prstGeom prst="rect">
                <a:avLst/>
              </a:prstGeom>
              <a:noFill/>
              <a:ln w="9525">
                <a:noFill/>
              </a:ln>
            </p:spPr>
            <p:txBody>
              <a:bodyPr>
                <a:spAutoFit/>
              </a:bodyPr>
              <a:p>
                <a:pPr algn="l">
                  <a:spcBef>
                    <a:spcPct val="50000"/>
                  </a:spcBef>
                </a:pPr>
                <a:r>
                  <a:rPr lang="en-US" altLang="zh-CN" sz="2000" dirty="0">
                    <a:latin typeface="Times New Roman" panose="02020603050405020304" pitchFamily="18" charset="0"/>
                    <a:ea typeface="SimSun" panose="02010600030101010101" pitchFamily="2" charset="-122"/>
                  </a:rPr>
                  <a:t>{</a:t>
                </a:r>
                <a:r>
                  <a:rPr lang="en-US" altLang="zh-CN" sz="2000" i="1" dirty="0">
                    <a:latin typeface="Times New Roman" panose="02020603050405020304" pitchFamily="18" charset="0"/>
                    <a:ea typeface="SimSun" panose="02010600030101010101" pitchFamily="2" charset="-122"/>
                  </a:rPr>
                  <a:t>n</a:t>
                </a:r>
                <a:r>
                  <a:rPr lang="en-US" altLang="zh-CN" sz="2000" dirty="0">
                    <a:latin typeface="Times New Roman" panose="02020603050405020304" pitchFamily="18" charset="0"/>
                    <a:ea typeface="SimSun" panose="02010600030101010101" pitchFamily="2" charset="-122"/>
                  </a:rPr>
                  <a:t>2}</a:t>
                </a:r>
                <a:endParaRPr lang="en-US" altLang="zh-CN" sz="2000" dirty="0">
                  <a:latin typeface="Times New Roman" panose="02020603050405020304" pitchFamily="18" charset="0"/>
                  <a:ea typeface="SimSun" panose="02010600030101010101" pitchFamily="2" charset="-122"/>
                </a:endParaRPr>
              </a:p>
            </p:txBody>
          </p:sp>
          <p:sp>
            <p:nvSpPr>
              <p:cNvPr id="102452" name="Text Box 16"/>
              <p:cNvSpPr txBox="1"/>
              <p:nvPr/>
            </p:nvSpPr>
            <p:spPr>
              <a:xfrm>
                <a:off x="3408" y="2236"/>
                <a:ext cx="672" cy="256"/>
              </a:xfrm>
              <a:prstGeom prst="rect">
                <a:avLst/>
              </a:prstGeom>
              <a:noFill/>
              <a:ln w="9525">
                <a:noFill/>
              </a:ln>
            </p:spPr>
            <p:txBody>
              <a:bodyPr>
                <a:spAutoFit/>
              </a:bodyPr>
              <a:p>
                <a:pPr algn="l">
                  <a:spcBef>
                    <a:spcPct val="50000"/>
                  </a:spcBef>
                </a:pPr>
                <a:r>
                  <a:rPr lang="en-US" altLang="zh-CN" sz="2000" dirty="0">
                    <a:latin typeface="Times New Roman" panose="02020603050405020304" pitchFamily="18" charset="0"/>
                    <a:ea typeface="SimSun" panose="02010600030101010101" pitchFamily="2" charset="-122"/>
                  </a:rPr>
                  <a:t>{</a:t>
                </a:r>
                <a:r>
                  <a:rPr lang="en-US" altLang="zh-CN" sz="2000" i="1" dirty="0">
                    <a:latin typeface="Times New Roman" panose="02020603050405020304" pitchFamily="18" charset="0"/>
                    <a:ea typeface="SimSun" panose="02010600030101010101" pitchFamily="2" charset="-122"/>
                  </a:rPr>
                  <a:t>n</a:t>
                </a:r>
                <a:r>
                  <a:rPr lang="en-US" altLang="zh-CN" sz="2000" dirty="0">
                    <a:latin typeface="Times New Roman" panose="02020603050405020304" pitchFamily="18" charset="0"/>
                    <a:ea typeface="SimSun" panose="02010600030101010101" pitchFamily="2" charset="-122"/>
                  </a:rPr>
                  <a:t>1, </a:t>
                </a:r>
                <a:r>
                  <a:rPr lang="en-US" altLang="zh-CN" sz="2000" i="1" dirty="0">
                    <a:latin typeface="Times New Roman" panose="02020603050405020304" pitchFamily="18" charset="0"/>
                    <a:ea typeface="SimSun" panose="02010600030101010101" pitchFamily="2" charset="-122"/>
                  </a:rPr>
                  <a:t>n</a:t>
                </a:r>
                <a:r>
                  <a:rPr lang="en-US" altLang="zh-CN" sz="2000" dirty="0">
                    <a:latin typeface="Times New Roman" panose="02020603050405020304" pitchFamily="18" charset="0"/>
                    <a:ea typeface="SimSun" panose="02010600030101010101" pitchFamily="2" charset="-122"/>
                  </a:rPr>
                  <a:t>2}</a:t>
                </a:r>
                <a:endParaRPr lang="en-US" altLang="zh-CN" sz="2000" dirty="0">
                  <a:latin typeface="Times New Roman" panose="02020603050405020304" pitchFamily="18" charset="0"/>
                  <a:ea typeface="SimSun" panose="02010600030101010101" pitchFamily="2" charset="-122"/>
                </a:endParaRPr>
              </a:p>
            </p:txBody>
          </p:sp>
          <p:sp>
            <p:nvSpPr>
              <p:cNvPr id="102453" name="Text Box 17"/>
              <p:cNvSpPr txBox="1"/>
              <p:nvPr/>
            </p:nvSpPr>
            <p:spPr>
              <a:xfrm>
                <a:off x="3408" y="2438"/>
                <a:ext cx="672" cy="255"/>
              </a:xfrm>
              <a:prstGeom prst="rect">
                <a:avLst/>
              </a:prstGeom>
              <a:noFill/>
              <a:ln w="9525">
                <a:noFill/>
              </a:ln>
            </p:spPr>
            <p:txBody>
              <a:bodyPr>
                <a:spAutoFit/>
              </a:bodyPr>
              <a:p>
                <a:pPr algn="l">
                  <a:spcBef>
                    <a:spcPct val="50000"/>
                  </a:spcBef>
                </a:pPr>
                <a:r>
                  <a:rPr lang="en-US" altLang="zh-CN" sz="2000" dirty="0">
                    <a:latin typeface="Times New Roman" panose="02020603050405020304" pitchFamily="18" charset="0"/>
                    <a:ea typeface="SimSun" panose="02010600030101010101" pitchFamily="2" charset="-122"/>
                  </a:rPr>
                  <a:t>{</a:t>
                </a:r>
                <a:r>
                  <a:rPr lang="en-US" altLang="zh-CN" sz="2000" i="1" dirty="0">
                    <a:latin typeface="Times New Roman" panose="02020603050405020304" pitchFamily="18" charset="0"/>
                    <a:ea typeface="SimSun" panose="02010600030101010101" pitchFamily="2" charset="-122"/>
                  </a:rPr>
                  <a:t>n</a:t>
                </a:r>
                <a:r>
                  <a:rPr lang="en-US" altLang="zh-CN" sz="2000" dirty="0">
                    <a:latin typeface="Times New Roman" panose="02020603050405020304" pitchFamily="18" charset="0"/>
                    <a:ea typeface="SimSun" panose="02010600030101010101" pitchFamily="2" charset="-122"/>
                  </a:rPr>
                  <a:t>1, </a:t>
                </a:r>
                <a:r>
                  <a:rPr lang="en-US" altLang="zh-CN" sz="2000" i="1" dirty="0">
                    <a:latin typeface="Times New Roman" panose="02020603050405020304" pitchFamily="18" charset="0"/>
                    <a:ea typeface="SimSun" panose="02010600030101010101" pitchFamily="2" charset="-122"/>
                  </a:rPr>
                  <a:t>n</a:t>
                </a:r>
                <a:r>
                  <a:rPr lang="en-US" altLang="zh-CN" sz="2000" dirty="0">
                    <a:latin typeface="Times New Roman" panose="02020603050405020304" pitchFamily="18" charset="0"/>
                    <a:ea typeface="SimSun" panose="02010600030101010101" pitchFamily="2" charset="-122"/>
                  </a:rPr>
                  <a:t>2}</a:t>
                </a:r>
                <a:endParaRPr lang="en-US" altLang="zh-CN" sz="2000" dirty="0">
                  <a:latin typeface="Times New Roman" panose="02020603050405020304" pitchFamily="18" charset="0"/>
                  <a:ea typeface="SimSun" panose="02010600030101010101" pitchFamily="2" charset="-122"/>
                </a:endParaRPr>
              </a:p>
            </p:txBody>
          </p:sp>
          <p:sp>
            <p:nvSpPr>
              <p:cNvPr id="102454" name="Text Box 18"/>
              <p:cNvSpPr txBox="1"/>
              <p:nvPr/>
            </p:nvSpPr>
            <p:spPr>
              <a:xfrm>
                <a:off x="3408" y="2621"/>
                <a:ext cx="912" cy="255"/>
              </a:xfrm>
              <a:prstGeom prst="rect">
                <a:avLst/>
              </a:prstGeom>
              <a:noFill/>
              <a:ln w="9525">
                <a:noFill/>
              </a:ln>
            </p:spPr>
            <p:txBody>
              <a:bodyPr>
                <a:spAutoFit/>
              </a:bodyPr>
              <a:p>
                <a:pPr algn="l">
                  <a:spcBef>
                    <a:spcPct val="50000"/>
                  </a:spcBef>
                </a:pPr>
                <a:r>
                  <a:rPr lang="en-US" altLang="zh-CN" sz="2000" dirty="0">
                    <a:latin typeface="Times New Roman" panose="02020603050405020304" pitchFamily="18" charset="0"/>
                    <a:ea typeface="SimSun" panose="02010600030101010101" pitchFamily="2" charset="-122"/>
                  </a:rPr>
                  <a:t>{</a:t>
                </a:r>
                <a:r>
                  <a:rPr lang="en-US" altLang="zh-CN" sz="2000" i="1" dirty="0">
                    <a:latin typeface="Times New Roman" panose="02020603050405020304" pitchFamily="18" charset="0"/>
                    <a:ea typeface="SimSun" panose="02010600030101010101" pitchFamily="2" charset="-122"/>
                  </a:rPr>
                  <a:t>n</a:t>
                </a:r>
                <a:r>
                  <a:rPr lang="en-US" altLang="zh-CN" sz="2000" dirty="0">
                    <a:latin typeface="Times New Roman" panose="02020603050405020304" pitchFamily="18" charset="0"/>
                    <a:ea typeface="SimSun" panose="02010600030101010101" pitchFamily="2" charset="-122"/>
                  </a:rPr>
                  <a:t>2, </a:t>
                </a:r>
                <a:r>
                  <a:rPr lang="en-US" altLang="zh-CN" sz="2000" i="1" dirty="0">
                    <a:latin typeface="Times New Roman" panose="02020603050405020304" pitchFamily="18" charset="0"/>
                    <a:ea typeface="SimSun" panose="02010600030101010101" pitchFamily="2" charset="-122"/>
                  </a:rPr>
                  <a:t>n</a:t>
                </a:r>
                <a:r>
                  <a:rPr lang="en-US" altLang="zh-CN" sz="2000" dirty="0">
                    <a:latin typeface="Times New Roman" panose="02020603050405020304" pitchFamily="18" charset="0"/>
                    <a:ea typeface="SimSun" panose="02010600030101010101" pitchFamily="2" charset="-122"/>
                  </a:rPr>
                  <a:t>3, </a:t>
                </a:r>
                <a:r>
                  <a:rPr lang="en-US" altLang="zh-CN" sz="2000" i="1" dirty="0">
                    <a:latin typeface="Times New Roman" panose="02020603050405020304" pitchFamily="18" charset="0"/>
                    <a:ea typeface="SimSun" panose="02010600030101010101" pitchFamily="2" charset="-122"/>
                  </a:rPr>
                  <a:t>n</a:t>
                </a:r>
                <a:r>
                  <a:rPr lang="en-US" altLang="zh-CN" sz="2000" dirty="0">
                    <a:latin typeface="Times New Roman" panose="02020603050405020304" pitchFamily="18" charset="0"/>
                    <a:ea typeface="SimSun" panose="02010600030101010101" pitchFamily="2" charset="-122"/>
                  </a:rPr>
                  <a:t>4}</a:t>
                </a:r>
                <a:endParaRPr lang="en-US" altLang="zh-CN" sz="2000" dirty="0">
                  <a:latin typeface="Times New Roman" panose="02020603050405020304" pitchFamily="18" charset="0"/>
                  <a:ea typeface="SimSun" panose="02010600030101010101" pitchFamily="2" charset="-122"/>
                </a:endParaRPr>
              </a:p>
            </p:txBody>
          </p:sp>
          <p:sp>
            <p:nvSpPr>
              <p:cNvPr id="102455" name="Text Box 19"/>
              <p:cNvSpPr txBox="1"/>
              <p:nvPr/>
            </p:nvSpPr>
            <p:spPr>
              <a:xfrm>
                <a:off x="3408" y="2821"/>
                <a:ext cx="672" cy="256"/>
              </a:xfrm>
              <a:prstGeom prst="rect">
                <a:avLst/>
              </a:prstGeom>
              <a:noFill/>
              <a:ln w="9525">
                <a:noFill/>
              </a:ln>
            </p:spPr>
            <p:txBody>
              <a:bodyPr>
                <a:spAutoFit/>
              </a:bodyPr>
              <a:p>
                <a:pPr algn="l">
                  <a:spcBef>
                    <a:spcPct val="50000"/>
                  </a:spcBef>
                </a:pPr>
                <a:r>
                  <a:rPr lang="en-US" altLang="zh-CN" sz="2000" dirty="0">
                    <a:latin typeface="Times New Roman" panose="02020603050405020304" pitchFamily="18" charset="0"/>
                    <a:ea typeface="SimSun" panose="02010600030101010101" pitchFamily="2" charset="-122"/>
                  </a:rPr>
                  <a:t>{</a:t>
                </a:r>
                <a:r>
                  <a:rPr lang="en-US" altLang="zh-CN" sz="2000" i="1" dirty="0">
                    <a:latin typeface="Times New Roman" panose="02020603050405020304" pitchFamily="18" charset="0"/>
                    <a:ea typeface="SimSun" panose="02010600030101010101" pitchFamily="2" charset="-122"/>
                  </a:rPr>
                  <a:t>n</a:t>
                </a:r>
                <a:r>
                  <a:rPr lang="en-US" altLang="zh-CN" sz="2000" dirty="0">
                    <a:latin typeface="Times New Roman" panose="02020603050405020304" pitchFamily="18" charset="0"/>
                    <a:ea typeface="SimSun" panose="02010600030101010101" pitchFamily="2" charset="-122"/>
                  </a:rPr>
                  <a:t>4}</a:t>
                </a:r>
                <a:endParaRPr lang="en-US" altLang="zh-CN" sz="2000" dirty="0">
                  <a:latin typeface="Times New Roman" panose="02020603050405020304" pitchFamily="18" charset="0"/>
                  <a:ea typeface="SimSun" panose="02010600030101010101" pitchFamily="2" charset="-122"/>
                </a:endParaRPr>
              </a:p>
            </p:txBody>
          </p:sp>
          <p:sp>
            <p:nvSpPr>
              <p:cNvPr id="102456" name="Text Box 20"/>
              <p:cNvSpPr txBox="1"/>
              <p:nvPr/>
            </p:nvSpPr>
            <p:spPr>
              <a:xfrm>
                <a:off x="3408" y="3014"/>
                <a:ext cx="672" cy="256"/>
              </a:xfrm>
              <a:prstGeom prst="rect">
                <a:avLst/>
              </a:prstGeom>
              <a:noFill/>
              <a:ln w="9525">
                <a:noFill/>
              </a:ln>
            </p:spPr>
            <p:txBody>
              <a:bodyPr>
                <a:spAutoFit/>
              </a:bodyPr>
              <a:p>
                <a:pPr algn="l">
                  <a:spcBef>
                    <a:spcPct val="50000"/>
                  </a:spcBef>
                </a:pPr>
                <a:r>
                  <a:rPr lang="en-US" altLang="zh-CN" sz="2000" dirty="0">
                    <a:latin typeface="Times New Roman" panose="02020603050405020304" pitchFamily="18" charset="0"/>
                    <a:ea typeface="SimSun" panose="02010600030101010101" pitchFamily="2" charset="-122"/>
                  </a:rPr>
                  <a:t>{</a:t>
                </a:r>
                <a:r>
                  <a:rPr lang="en-US" altLang="zh-CN" sz="2000" i="1" dirty="0">
                    <a:latin typeface="Times New Roman" panose="02020603050405020304" pitchFamily="18" charset="0"/>
                    <a:ea typeface="SimSun" panose="02010600030101010101" pitchFamily="2" charset="-122"/>
                  </a:rPr>
                  <a:t>n</a:t>
                </a:r>
                <a:r>
                  <a:rPr lang="en-US" altLang="zh-CN" sz="2000" dirty="0">
                    <a:latin typeface="Times New Roman" panose="02020603050405020304" pitchFamily="18" charset="0"/>
                    <a:ea typeface="SimSun" panose="02010600030101010101" pitchFamily="2" charset="-122"/>
                  </a:rPr>
                  <a:t>3, </a:t>
                </a:r>
                <a:r>
                  <a:rPr lang="en-US" altLang="zh-CN" sz="2000" i="1" dirty="0">
                    <a:latin typeface="Times New Roman" panose="02020603050405020304" pitchFamily="18" charset="0"/>
                    <a:ea typeface="SimSun" panose="02010600030101010101" pitchFamily="2" charset="-122"/>
                  </a:rPr>
                  <a:t>n</a:t>
                </a:r>
                <a:r>
                  <a:rPr lang="en-US" altLang="zh-CN" sz="2000" dirty="0">
                    <a:latin typeface="Times New Roman" panose="02020603050405020304" pitchFamily="18" charset="0"/>
                    <a:ea typeface="SimSun" panose="02010600030101010101" pitchFamily="2" charset="-122"/>
                  </a:rPr>
                  <a:t>4}</a:t>
                </a:r>
                <a:endParaRPr lang="en-US" altLang="zh-CN" sz="2000" dirty="0">
                  <a:latin typeface="Times New Roman" panose="02020603050405020304" pitchFamily="18" charset="0"/>
                  <a:ea typeface="SimSun" panose="02010600030101010101" pitchFamily="2" charset="-122"/>
                </a:endParaRPr>
              </a:p>
            </p:txBody>
          </p:sp>
          <p:sp>
            <p:nvSpPr>
              <p:cNvPr id="102457" name="Text Box 21"/>
              <p:cNvSpPr txBox="1"/>
              <p:nvPr/>
            </p:nvSpPr>
            <p:spPr>
              <a:xfrm>
                <a:off x="3408" y="3206"/>
                <a:ext cx="672" cy="255"/>
              </a:xfrm>
              <a:prstGeom prst="rect">
                <a:avLst/>
              </a:prstGeom>
              <a:noFill/>
              <a:ln w="9525">
                <a:noFill/>
              </a:ln>
            </p:spPr>
            <p:txBody>
              <a:bodyPr>
                <a:spAutoFit/>
              </a:bodyPr>
              <a:p>
                <a:pPr algn="l">
                  <a:spcBef>
                    <a:spcPct val="50000"/>
                  </a:spcBef>
                </a:pPr>
                <a:r>
                  <a:rPr lang="en-US" altLang="zh-CN" sz="2000" dirty="0">
                    <a:latin typeface="Times New Roman" panose="02020603050405020304" pitchFamily="18" charset="0"/>
                    <a:ea typeface="SimSun" panose="02010600030101010101" pitchFamily="2" charset="-122"/>
                  </a:rPr>
                  <a:t>{</a:t>
                </a:r>
                <a:r>
                  <a:rPr lang="en-US" altLang="zh-CN" sz="2000" i="1" dirty="0">
                    <a:latin typeface="Times New Roman" panose="02020603050405020304" pitchFamily="18" charset="0"/>
                    <a:ea typeface="SimSun" panose="02010600030101010101" pitchFamily="2" charset="-122"/>
                  </a:rPr>
                  <a:t>n</a:t>
                </a:r>
                <a:r>
                  <a:rPr lang="en-US" altLang="zh-CN" sz="2000" dirty="0">
                    <a:latin typeface="Times New Roman" panose="02020603050405020304" pitchFamily="18" charset="0"/>
                    <a:ea typeface="SimSun" panose="02010600030101010101" pitchFamily="2" charset="-122"/>
                  </a:rPr>
                  <a:t>3, </a:t>
                </a:r>
                <a:r>
                  <a:rPr lang="en-US" altLang="zh-CN" sz="2000" i="1" dirty="0">
                    <a:latin typeface="Times New Roman" panose="02020603050405020304" pitchFamily="18" charset="0"/>
                    <a:ea typeface="SimSun" panose="02010600030101010101" pitchFamily="2" charset="-122"/>
                  </a:rPr>
                  <a:t>n</a:t>
                </a:r>
                <a:r>
                  <a:rPr lang="en-US" altLang="zh-CN" sz="2000" dirty="0">
                    <a:latin typeface="Times New Roman" panose="02020603050405020304" pitchFamily="18" charset="0"/>
                    <a:ea typeface="SimSun" panose="02010600030101010101" pitchFamily="2" charset="-122"/>
                  </a:rPr>
                  <a:t>4}</a:t>
                </a:r>
                <a:endParaRPr lang="en-US" altLang="zh-CN" sz="2000" dirty="0">
                  <a:latin typeface="Times New Roman" panose="02020603050405020304" pitchFamily="18" charset="0"/>
                  <a:ea typeface="SimSun" panose="02010600030101010101" pitchFamily="2" charset="-122"/>
                </a:endParaRPr>
              </a:p>
            </p:txBody>
          </p:sp>
          <p:sp>
            <p:nvSpPr>
              <p:cNvPr id="102458" name="Text Box 22"/>
              <p:cNvSpPr txBox="1"/>
              <p:nvPr/>
            </p:nvSpPr>
            <p:spPr>
              <a:xfrm>
                <a:off x="3408" y="1470"/>
                <a:ext cx="1296" cy="258"/>
              </a:xfrm>
              <a:prstGeom prst="rect">
                <a:avLst/>
              </a:prstGeom>
              <a:noFill/>
              <a:ln w="9525">
                <a:noFill/>
              </a:ln>
            </p:spPr>
            <p:txBody>
              <a:bodyPr>
                <a:spAutoFit/>
              </a:bodyPr>
              <a:p>
                <a:pPr algn="l">
                  <a:spcBef>
                    <a:spcPct val="50000"/>
                  </a:spcBef>
                </a:pPr>
                <a:r>
                  <a:rPr lang="en-US" altLang="zh-CN" sz="2000" i="1" dirty="0">
                    <a:latin typeface="Times New Roman" panose="02020603050405020304" pitchFamily="18" charset="0"/>
                    <a:ea typeface="SimSun" panose="02010600030101010101" pitchFamily="2" charset="-122"/>
                  </a:rPr>
                  <a:t>Transactions</a:t>
                </a:r>
                <a:endParaRPr lang="en-US" altLang="zh-CN" sz="2000" i="1" dirty="0">
                  <a:latin typeface="Times New Roman" panose="02020603050405020304" pitchFamily="18" charset="0"/>
                  <a:ea typeface="SimSun" panose="02010600030101010101" pitchFamily="2" charset="-122"/>
                </a:endParaRPr>
              </a:p>
            </p:txBody>
          </p:sp>
        </p:grpSp>
        <p:grpSp>
          <p:nvGrpSpPr>
            <p:cNvPr id="102410" name="Group 23"/>
            <p:cNvGrpSpPr/>
            <p:nvPr/>
          </p:nvGrpSpPr>
          <p:grpSpPr>
            <a:xfrm>
              <a:off x="2448" y="1248"/>
              <a:ext cx="1728" cy="1663"/>
              <a:chOff x="1536" y="1766"/>
              <a:chExt cx="1728" cy="1663"/>
            </a:xfrm>
          </p:grpSpPr>
          <p:sp>
            <p:nvSpPr>
              <p:cNvPr id="102420" name="Rectangle 24"/>
              <p:cNvSpPr/>
              <p:nvPr/>
            </p:nvSpPr>
            <p:spPr>
              <a:xfrm>
                <a:off x="1536" y="1814"/>
                <a:ext cx="576" cy="192"/>
              </a:xfrm>
              <a:prstGeom prst="rect">
                <a:avLst/>
              </a:prstGeom>
              <a:solidFill>
                <a:srgbClr val="C0C0C0"/>
              </a:solidFill>
              <a:ln w="9525" cap="flat" cmpd="sng">
                <a:solidFill>
                  <a:schemeClr val="tx1"/>
                </a:solidFill>
                <a:prstDash val="solid"/>
                <a:miter/>
                <a:headEnd type="none" w="med" len="med"/>
                <a:tailEnd type="none" w="med" len="med"/>
              </a:ln>
            </p:spPr>
            <p:txBody>
              <a:bodyPr wrap="none" tIns="0" bIns="137160" anchor="ctr" anchorCtr="0"/>
              <a:p>
                <a:r>
                  <a:rPr lang="en-US" altLang="zh-CN" i="1" dirty="0">
                    <a:latin typeface="Times New Roman" panose="02020603050405020304" pitchFamily="18" charset="0"/>
                    <a:ea typeface="SimSun" panose="02010600030101010101" pitchFamily="2" charset="-122"/>
                  </a:rPr>
                  <a:t>n</a:t>
                </a:r>
                <a:r>
                  <a:rPr lang="en-US" altLang="zh-CN" baseline="-25000" dirty="0">
                    <a:latin typeface="Times New Roman" panose="02020603050405020304" pitchFamily="18" charset="0"/>
                    <a:ea typeface="SimSun" panose="02010600030101010101" pitchFamily="2" charset="-122"/>
                  </a:rPr>
                  <a:t>1</a:t>
                </a:r>
                <a:endParaRPr lang="en-US" altLang="zh-CN" baseline="-25000" dirty="0">
                  <a:latin typeface="Times New Roman" panose="02020603050405020304" pitchFamily="18" charset="0"/>
                  <a:ea typeface="SimSun" panose="02010600030101010101" pitchFamily="2" charset="-122"/>
                </a:endParaRPr>
              </a:p>
            </p:txBody>
          </p:sp>
          <p:sp>
            <p:nvSpPr>
              <p:cNvPr id="102421" name="Rectangle 25"/>
              <p:cNvSpPr/>
              <p:nvPr/>
            </p:nvSpPr>
            <p:spPr>
              <a:xfrm>
                <a:off x="2688" y="1766"/>
                <a:ext cx="576" cy="127"/>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p>
                <a:r>
                  <a:rPr lang="en-US" altLang="zh-CN" sz="1800" dirty="0">
                    <a:latin typeface="Times New Roman" panose="02020603050405020304" pitchFamily="18" charset="0"/>
                    <a:ea typeface="SimSun" panose="02010600030101010101" pitchFamily="2" charset="-122"/>
                  </a:rPr>
                  <a:t>1</a:t>
                </a:r>
                <a:endParaRPr lang="en-US" altLang="zh-CN" sz="1800" dirty="0">
                  <a:latin typeface="Times New Roman" panose="02020603050405020304" pitchFamily="18" charset="0"/>
                  <a:ea typeface="SimSun" panose="02010600030101010101" pitchFamily="2" charset="-122"/>
                </a:endParaRPr>
              </a:p>
            </p:txBody>
          </p:sp>
          <p:sp>
            <p:nvSpPr>
              <p:cNvPr id="102422" name="Rectangle 26"/>
              <p:cNvSpPr/>
              <p:nvPr/>
            </p:nvSpPr>
            <p:spPr>
              <a:xfrm>
                <a:off x="2688" y="1958"/>
                <a:ext cx="576" cy="127"/>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p>
                <a:r>
                  <a:rPr lang="en-US" altLang="zh-CN" sz="1800" dirty="0">
                    <a:latin typeface="Times New Roman" panose="02020603050405020304" pitchFamily="18" charset="0"/>
                    <a:ea typeface="SimSun" panose="02010600030101010101" pitchFamily="2" charset="-122"/>
                  </a:rPr>
                  <a:t>2</a:t>
                </a:r>
                <a:endParaRPr lang="en-US" altLang="zh-CN" sz="1800" dirty="0">
                  <a:latin typeface="Times New Roman" panose="02020603050405020304" pitchFamily="18" charset="0"/>
                  <a:ea typeface="SimSun" panose="02010600030101010101" pitchFamily="2" charset="-122"/>
                </a:endParaRPr>
              </a:p>
            </p:txBody>
          </p:sp>
          <p:sp>
            <p:nvSpPr>
              <p:cNvPr id="102423" name="Rectangle 27"/>
              <p:cNvSpPr/>
              <p:nvPr/>
            </p:nvSpPr>
            <p:spPr>
              <a:xfrm>
                <a:off x="2688" y="2150"/>
                <a:ext cx="576" cy="127"/>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p>
                <a:r>
                  <a:rPr lang="en-US" altLang="zh-CN" sz="1800" dirty="0">
                    <a:latin typeface="Times New Roman" panose="02020603050405020304" pitchFamily="18" charset="0"/>
                    <a:ea typeface="SimSun" panose="02010600030101010101" pitchFamily="2" charset="-122"/>
                  </a:rPr>
                  <a:t>3</a:t>
                </a:r>
                <a:endParaRPr lang="en-US" altLang="zh-CN" sz="1800" dirty="0">
                  <a:latin typeface="Times New Roman" panose="02020603050405020304" pitchFamily="18" charset="0"/>
                  <a:ea typeface="SimSun" panose="02010600030101010101" pitchFamily="2" charset="-122"/>
                </a:endParaRPr>
              </a:p>
            </p:txBody>
          </p:sp>
          <p:sp>
            <p:nvSpPr>
              <p:cNvPr id="102424" name="Rectangle 28"/>
              <p:cNvSpPr/>
              <p:nvPr/>
            </p:nvSpPr>
            <p:spPr>
              <a:xfrm>
                <a:off x="2688" y="2342"/>
                <a:ext cx="576" cy="127"/>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p>
                <a:r>
                  <a:rPr lang="en-US" altLang="zh-CN" sz="1800" dirty="0">
                    <a:latin typeface="Times New Roman" panose="02020603050405020304" pitchFamily="18" charset="0"/>
                    <a:ea typeface="SimSun" panose="02010600030101010101" pitchFamily="2" charset="-122"/>
                  </a:rPr>
                  <a:t>4</a:t>
                </a:r>
                <a:endParaRPr lang="en-US" altLang="zh-CN" sz="1800" dirty="0">
                  <a:latin typeface="Times New Roman" panose="02020603050405020304" pitchFamily="18" charset="0"/>
                  <a:ea typeface="SimSun" panose="02010600030101010101" pitchFamily="2" charset="-122"/>
                </a:endParaRPr>
              </a:p>
            </p:txBody>
          </p:sp>
          <p:sp>
            <p:nvSpPr>
              <p:cNvPr id="102425" name="Rectangle 29"/>
              <p:cNvSpPr/>
              <p:nvPr/>
            </p:nvSpPr>
            <p:spPr>
              <a:xfrm>
                <a:off x="2688" y="2534"/>
                <a:ext cx="576" cy="127"/>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p>
                <a:r>
                  <a:rPr lang="en-US" altLang="zh-CN" sz="1800" dirty="0">
                    <a:latin typeface="Times New Roman" panose="02020603050405020304" pitchFamily="18" charset="0"/>
                    <a:ea typeface="SimSun" panose="02010600030101010101" pitchFamily="2" charset="-122"/>
                  </a:rPr>
                  <a:t>5</a:t>
                </a:r>
                <a:endParaRPr lang="en-US" altLang="zh-CN" sz="1800" dirty="0">
                  <a:latin typeface="Times New Roman" panose="02020603050405020304" pitchFamily="18" charset="0"/>
                  <a:ea typeface="SimSun" panose="02010600030101010101" pitchFamily="2" charset="-122"/>
                </a:endParaRPr>
              </a:p>
            </p:txBody>
          </p:sp>
          <p:sp>
            <p:nvSpPr>
              <p:cNvPr id="102426" name="Rectangle 30"/>
              <p:cNvSpPr/>
              <p:nvPr/>
            </p:nvSpPr>
            <p:spPr>
              <a:xfrm>
                <a:off x="2688" y="2726"/>
                <a:ext cx="576" cy="127"/>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p>
                <a:r>
                  <a:rPr lang="en-US" altLang="zh-CN" sz="1800" dirty="0">
                    <a:latin typeface="Times New Roman" panose="02020603050405020304" pitchFamily="18" charset="0"/>
                    <a:ea typeface="SimSun" panose="02010600030101010101" pitchFamily="2" charset="-122"/>
                  </a:rPr>
                  <a:t>6</a:t>
                </a:r>
                <a:endParaRPr lang="en-US" altLang="zh-CN" sz="1800" dirty="0">
                  <a:latin typeface="Times New Roman" panose="02020603050405020304" pitchFamily="18" charset="0"/>
                  <a:ea typeface="SimSun" panose="02010600030101010101" pitchFamily="2" charset="-122"/>
                </a:endParaRPr>
              </a:p>
            </p:txBody>
          </p:sp>
          <p:sp>
            <p:nvSpPr>
              <p:cNvPr id="102427" name="Rectangle 31"/>
              <p:cNvSpPr/>
              <p:nvPr/>
            </p:nvSpPr>
            <p:spPr>
              <a:xfrm>
                <a:off x="2688" y="2918"/>
                <a:ext cx="576" cy="127"/>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p>
                <a:r>
                  <a:rPr lang="en-US" altLang="zh-CN" sz="1800" dirty="0">
                    <a:latin typeface="Times New Roman" panose="02020603050405020304" pitchFamily="18" charset="0"/>
                    <a:ea typeface="SimSun" panose="02010600030101010101" pitchFamily="2" charset="-122"/>
                  </a:rPr>
                  <a:t>7</a:t>
                </a:r>
                <a:endParaRPr lang="en-US" altLang="zh-CN" sz="1800" dirty="0">
                  <a:latin typeface="Times New Roman" panose="02020603050405020304" pitchFamily="18" charset="0"/>
                  <a:ea typeface="SimSun" panose="02010600030101010101" pitchFamily="2" charset="-122"/>
                </a:endParaRPr>
              </a:p>
            </p:txBody>
          </p:sp>
          <p:sp>
            <p:nvSpPr>
              <p:cNvPr id="102428" name="Rectangle 32"/>
              <p:cNvSpPr/>
              <p:nvPr/>
            </p:nvSpPr>
            <p:spPr>
              <a:xfrm>
                <a:off x="2688" y="3110"/>
                <a:ext cx="576" cy="127"/>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p>
                <a:r>
                  <a:rPr lang="en-US" altLang="zh-CN" sz="1800" dirty="0">
                    <a:latin typeface="Times New Roman" panose="02020603050405020304" pitchFamily="18" charset="0"/>
                    <a:ea typeface="SimSun" panose="02010600030101010101" pitchFamily="2" charset="-122"/>
                  </a:rPr>
                  <a:t>8</a:t>
                </a:r>
                <a:endParaRPr lang="en-US" altLang="zh-CN" sz="1800" dirty="0">
                  <a:latin typeface="Times New Roman" panose="02020603050405020304" pitchFamily="18" charset="0"/>
                  <a:ea typeface="SimSun" panose="02010600030101010101" pitchFamily="2" charset="-122"/>
                </a:endParaRPr>
              </a:p>
            </p:txBody>
          </p:sp>
          <p:sp>
            <p:nvSpPr>
              <p:cNvPr id="102429" name="Rectangle 33"/>
              <p:cNvSpPr/>
              <p:nvPr/>
            </p:nvSpPr>
            <p:spPr>
              <a:xfrm>
                <a:off x="2688" y="3302"/>
                <a:ext cx="576" cy="127"/>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p>
                <a:r>
                  <a:rPr lang="en-US" altLang="zh-CN" sz="1800" dirty="0">
                    <a:latin typeface="Times New Roman" panose="02020603050405020304" pitchFamily="18" charset="0"/>
                    <a:ea typeface="SimSun" panose="02010600030101010101" pitchFamily="2" charset="-122"/>
                  </a:rPr>
                  <a:t>9</a:t>
                </a:r>
                <a:endParaRPr lang="en-US" altLang="zh-CN" sz="1800" dirty="0">
                  <a:latin typeface="Times New Roman" panose="02020603050405020304" pitchFamily="18" charset="0"/>
                  <a:ea typeface="SimSun" panose="02010600030101010101" pitchFamily="2" charset="-122"/>
                </a:endParaRPr>
              </a:p>
            </p:txBody>
          </p:sp>
          <p:cxnSp>
            <p:nvCxnSpPr>
              <p:cNvPr id="102430" name="AutoShape 34"/>
              <p:cNvCxnSpPr>
                <a:stCxn id="102420" idx="3"/>
                <a:endCxn id="102421" idx="1"/>
              </p:cNvCxnSpPr>
              <p:nvPr/>
            </p:nvCxnSpPr>
            <p:spPr>
              <a:xfrm flipV="1">
                <a:off x="2112" y="1830"/>
                <a:ext cx="576" cy="80"/>
              </a:xfrm>
              <a:prstGeom prst="straightConnector1">
                <a:avLst/>
              </a:prstGeom>
              <a:ln w="9525" cap="flat" cmpd="sng">
                <a:solidFill>
                  <a:schemeClr val="tx1"/>
                </a:solidFill>
                <a:prstDash val="solid"/>
                <a:headEnd type="none" w="med" len="med"/>
                <a:tailEnd type="none" w="med" len="med"/>
              </a:ln>
            </p:spPr>
          </p:cxnSp>
          <p:cxnSp>
            <p:nvCxnSpPr>
              <p:cNvPr id="102431" name="AutoShape 35"/>
              <p:cNvCxnSpPr>
                <a:stCxn id="102420" idx="3"/>
                <a:endCxn id="102422" idx="1"/>
              </p:cNvCxnSpPr>
              <p:nvPr/>
            </p:nvCxnSpPr>
            <p:spPr>
              <a:xfrm>
                <a:off x="2112" y="1910"/>
                <a:ext cx="576" cy="112"/>
              </a:xfrm>
              <a:prstGeom prst="straightConnector1">
                <a:avLst/>
              </a:prstGeom>
              <a:ln w="9525" cap="flat" cmpd="sng">
                <a:solidFill>
                  <a:schemeClr val="tx1"/>
                </a:solidFill>
                <a:prstDash val="solid"/>
                <a:headEnd type="none" w="med" len="med"/>
                <a:tailEnd type="none" w="med" len="med"/>
              </a:ln>
            </p:spPr>
          </p:cxnSp>
          <p:cxnSp>
            <p:nvCxnSpPr>
              <p:cNvPr id="102432" name="AutoShape 36"/>
              <p:cNvCxnSpPr>
                <a:stCxn id="102420" idx="3"/>
                <a:endCxn id="102424" idx="1"/>
              </p:cNvCxnSpPr>
              <p:nvPr/>
            </p:nvCxnSpPr>
            <p:spPr>
              <a:xfrm>
                <a:off x="2112" y="1910"/>
                <a:ext cx="576" cy="496"/>
              </a:xfrm>
              <a:prstGeom prst="straightConnector1">
                <a:avLst/>
              </a:prstGeom>
              <a:ln w="9525" cap="flat" cmpd="sng">
                <a:solidFill>
                  <a:schemeClr val="tx1"/>
                </a:solidFill>
                <a:prstDash val="solid"/>
                <a:headEnd type="none" w="med" len="med"/>
                <a:tailEnd type="none" w="med" len="med"/>
              </a:ln>
            </p:spPr>
          </p:cxnSp>
          <p:cxnSp>
            <p:nvCxnSpPr>
              <p:cNvPr id="102433" name="AutoShape 37"/>
              <p:cNvCxnSpPr>
                <a:stCxn id="102440" idx="3"/>
                <a:endCxn id="102422" idx="1"/>
              </p:cNvCxnSpPr>
              <p:nvPr/>
            </p:nvCxnSpPr>
            <p:spPr>
              <a:xfrm flipV="1">
                <a:off x="2112" y="2022"/>
                <a:ext cx="576" cy="272"/>
              </a:xfrm>
              <a:prstGeom prst="straightConnector1">
                <a:avLst/>
              </a:prstGeom>
              <a:ln w="9525" cap="flat" cmpd="sng">
                <a:solidFill>
                  <a:schemeClr val="tx1"/>
                </a:solidFill>
                <a:prstDash val="solid"/>
                <a:headEnd type="none" w="med" len="med"/>
                <a:tailEnd type="none" w="med" len="med"/>
              </a:ln>
            </p:spPr>
          </p:cxnSp>
          <p:cxnSp>
            <p:nvCxnSpPr>
              <p:cNvPr id="102434" name="AutoShape 38"/>
              <p:cNvCxnSpPr>
                <a:stCxn id="102440" idx="3"/>
                <a:endCxn id="102423" idx="1"/>
              </p:cNvCxnSpPr>
              <p:nvPr/>
            </p:nvCxnSpPr>
            <p:spPr>
              <a:xfrm flipV="1">
                <a:off x="2112" y="2214"/>
                <a:ext cx="576" cy="80"/>
              </a:xfrm>
              <a:prstGeom prst="straightConnector1">
                <a:avLst/>
              </a:prstGeom>
              <a:ln w="9525" cap="flat" cmpd="sng">
                <a:solidFill>
                  <a:schemeClr val="tx1"/>
                </a:solidFill>
                <a:prstDash val="solid"/>
                <a:headEnd type="none" w="med" len="med"/>
                <a:tailEnd type="none" w="med" len="med"/>
              </a:ln>
            </p:spPr>
          </p:cxnSp>
          <p:cxnSp>
            <p:nvCxnSpPr>
              <p:cNvPr id="102435" name="AutoShape 39"/>
              <p:cNvCxnSpPr>
                <a:stCxn id="102440" idx="3"/>
                <a:endCxn id="102425" idx="1"/>
              </p:cNvCxnSpPr>
              <p:nvPr/>
            </p:nvCxnSpPr>
            <p:spPr>
              <a:xfrm>
                <a:off x="2112" y="2294"/>
                <a:ext cx="576" cy="304"/>
              </a:xfrm>
              <a:prstGeom prst="straightConnector1">
                <a:avLst/>
              </a:prstGeom>
              <a:ln w="9525" cap="flat" cmpd="sng">
                <a:solidFill>
                  <a:schemeClr val="tx1"/>
                </a:solidFill>
                <a:prstDash val="solid"/>
                <a:headEnd type="none" w="med" len="med"/>
                <a:tailEnd type="none" w="med" len="med"/>
              </a:ln>
            </p:spPr>
          </p:cxnSp>
          <p:cxnSp>
            <p:nvCxnSpPr>
              <p:cNvPr id="102436" name="AutoShape 40"/>
              <p:cNvCxnSpPr>
                <a:stCxn id="102441" idx="3"/>
                <a:endCxn id="102426" idx="1"/>
              </p:cNvCxnSpPr>
              <p:nvPr/>
            </p:nvCxnSpPr>
            <p:spPr>
              <a:xfrm flipV="1">
                <a:off x="2112" y="2790"/>
                <a:ext cx="576" cy="32"/>
              </a:xfrm>
              <a:prstGeom prst="straightConnector1">
                <a:avLst/>
              </a:prstGeom>
              <a:ln w="9525" cap="flat" cmpd="sng">
                <a:solidFill>
                  <a:schemeClr val="tx1"/>
                </a:solidFill>
                <a:prstDash val="solid"/>
                <a:headEnd type="none" w="med" len="med"/>
                <a:tailEnd type="none" w="med" len="med"/>
              </a:ln>
            </p:spPr>
          </p:cxnSp>
          <p:cxnSp>
            <p:nvCxnSpPr>
              <p:cNvPr id="102437" name="AutoShape 41"/>
              <p:cNvCxnSpPr>
                <a:stCxn id="102441" idx="3"/>
                <a:endCxn id="102429" idx="1"/>
              </p:cNvCxnSpPr>
              <p:nvPr/>
            </p:nvCxnSpPr>
            <p:spPr>
              <a:xfrm>
                <a:off x="2112" y="2822"/>
                <a:ext cx="576" cy="544"/>
              </a:xfrm>
              <a:prstGeom prst="straightConnector1">
                <a:avLst/>
              </a:prstGeom>
              <a:ln w="9525" cap="flat" cmpd="sng">
                <a:solidFill>
                  <a:schemeClr val="tx1"/>
                </a:solidFill>
                <a:prstDash val="solid"/>
                <a:headEnd type="none" w="med" len="med"/>
                <a:tailEnd type="none" w="med" len="med"/>
              </a:ln>
            </p:spPr>
          </p:cxnSp>
          <p:cxnSp>
            <p:nvCxnSpPr>
              <p:cNvPr id="102438" name="AutoShape 42"/>
              <p:cNvCxnSpPr>
                <a:stCxn id="102440" idx="3"/>
                <a:endCxn id="102426" idx="1"/>
              </p:cNvCxnSpPr>
              <p:nvPr/>
            </p:nvCxnSpPr>
            <p:spPr>
              <a:xfrm>
                <a:off x="2112" y="2294"/>
                <a:ext cx="576" cy="496"/>
              </a:xfrm>
              <a:prstGeom prst="straightConnector1">
                <a:avLst/>
              </a:prstGeom>
              <a:ln w="9525" cap="flat" cmpd="sng">
                <a:solidFill>
                  <a:schemeClr val="tx1"/>
                </a:solidFill>
                <a:prstDash val="solid"/>
                <a:headEnd type="none" w="med" len="med"/>
                <a:tailEnd type="none" w="med" len="med"/>
              </a:ln>
            </p:spPr>
          </p:cxnSp>
          <p:cxnSp>
            <p:nvCxnSpPr>
              <p:cNvPr id="102439" name="AutoShape 43"/>
              <p:cNvCxnSpPr>
                <a:stCxn id="102442" idx="3"/>
                <a:endCxn id="102428" idx="1"/>
              </p:cNvCxnSpPr>
              <p:nvPr/>
            </p:nvCxnSpPr>
            <p:spPr>
              <a:xfrm flipV="1">
                <a:off x="2112" y="3174"/>
                <a:ext cx="576" cy="32"/>
              </a:xfrm>
              <a:prstGeom prst="straightConnector1">
                <a:avLst/>
              </a:prstGeom>
              <a:ln w="9525" cap="flat" cmpd="sng">
                <a:solidFill>
                  <a:schemeClr val="tx1"/>
                </a:solidFill>
                <a:prstDash val="solid"/>
                <a:headEnd type="none" w="med" len="med"/>
                <a:tailEnd type="none" w="med" len="med"/>
              </a:ln>
            </p:spPr>
          </p:cxnSp>
          <p:sp>
            <p:nvSpPr>
              <p:cNvPr id="102440" name="Rectangle 44"/>
              <p:cNvSpPr/>
              <p:nvPr/>
            </p:nvSpPr>
            <p:spPr>
              <a:xfrm>
                <a:off x="1536" y="2198"/>
                <a:ext cx="576" cy="192"/>
              </a:xfrm>
              <a:prstGeom prst="rect">
                <a:avLst/>
              </a:prstGeom>
              <a:solidFill>
                <a:srgbClr val="C0C0C0"/>
              </a:solidFill>
              <a:ln w="9525" cap="flat" cmpd="sng">
                <a:solidFill>
                  <a:schemeClr val="tx1"/>
                </a:solidFill>
                <a:prstDash val="solid"/>
                <a:miter/>
                <a:headEnd type="none" w="med" len="med"/>
                <a:tailEnd type="none" w="med" len="med"/>
              </a:ln>
            </p:spPr>
            <p:txBody>
              <a:bodyPr wrap="none" tIns="0" bIns="137160" anchor="ctr" anchorCtr="0"/>
              <a:p>
                <a:r>
                  <a:rPr lang="en-US" altLang="zh-CN" i="1" dirty="0">
                    <a:latin typeface="Times New Roman" panose="02020603050405020304" pitchFamily="18" charset="0"/>
                    <a:ea typeface="SimSun" panose="02010600030101010101" pitchFamily="2" charset="-122"/>
                  </a:rPr>
                  <a:t>n</a:t>
                </a:r>
                <a:r>
                  <a:rPr lang="en-US" altLang="zh-CN" baseline="-25000" dirty="0">
                    <a:latin typeface="Times New Roman" panose="02020603050405020304" pitchFamily="18" charset="0"/>
                    <a:ea typeface="SimSun" panose="02010600030101010101" pitchFamily="2" charset="-122"/>
                  </a:rPr>
                  <a:t>2</a:t>
                </a:r>
                <a:endParaRPr lang="en-US" altLang="zh-CN" baseline="-25000" dirty="0">
                  <a:latin typeface="Times New Roman" panose="02020603050405020304" pitchFamily="18" charset="0"/>
                  <a:ea typeface="SimSun" panose="02010600030101010101" pitchFamily="2" charset="-122"/>
                </a:endParaRPr>
              </a:p>
            </p:txBody>
          </p:sp>
          <p:sp>
            <p:nvSpPr>
              <p:cNvPr id="102441" name="Rectangle 45"/>
              <p:cNvSpPr/>
              <p:nvPr/>
            </p:nvSpPr>
            <p:spPr>
              <a:xfrm>
                <a:off x="1536" y="2726"/>
                <a:ext cx="576" cy="192"/>
              </a:xfrm>
              <a:prstGeom prst="rect">
                <a:avLst/>
              </a:prstGeom>
              <a:solidFill>
                <a:srgbClr val="C0C0C0"/>
              </a:solidFill>
              <a:ln w="9525" cap="flat" cmpd="sng">
                <a:solidFill>
                  <a:schemeClr val="tx1"/>
                </a:solidFill>
                <a:prstDash val="solid"/>
                <a:miter/>
                <a:headEnd type="none" w="med" len="med"/>
                <a:tailEnd type="none" w="med" len="med"/>
              </a:ln>
            </p:spPr>
            <p:txBody>
              <a:bodyPr wrap="none" tIns="0" bIns="137160" anchor="ctr" anchorCtr="0"/>
              <a:p>
                <a:r>
                  <a:rPr lang="en-US" altLang="zh-CN" i="1" dirty="0">
                    <a:latin typeface="Times New Roman" panose="02020603050405020304" pitchFamily="18" charset="0"/>
                    <a:ea typeface="SimSun" panose="02010600030101010101" pitchFamily="2" charset="-122"/>
                  </a:rPr>
                  <a:t>n</a:t>
                </a:r>
                <a:r>
                  <a:rPr lang="en-US" altLang="zh-CN" baseline="-25000" dirty="0">
                    <a:latin typeface="Times New Roman" panose="02020603050405020304" pitchFamily="18" charset="0"/>
                    <a:ea typeface="SimSun" panose="02010600030101010101" pitchFamily="2" charset="-122"/>
                  </a:rPr>
                  <a:t>3</a:t>
                </a:r>
                <a:endParaRPr lang="en-US" altLang="zh-CN" baseline="-25000" dirty="0">
                  <a:latin typeface="Times New Roman" panose="02020603050405020304" pitchFamily="18" charset="0"/>
                  <a:ea typeface="SimSun" panose="02010600030101010101" pitchFamily="2" charset="-122"/>
                </a:endParaRPr>
              </a:p>
            </p:txBody>
          </p:sp>
          <p:sp>
            <p:nvSpPr>
              <p:cNvPr id="102442" name="Rectangle 46"/>
              <p:cNvSpPr/>
              <p:nvPr/>
            </p:nvSpPr>
            <p:spPr>
              <a:xfrm>
                <a:off x="1536" y="3110"/>
                <a:ext cx="576" cy="192"/>
              </a:xfrm>
              <a:prstGeom prst="rect">
                <a:avLst/>
              </a:prstGeom>
              <a:solidFill>
                <a:srgbClr val="C0C0C0"/>
              </a:solidFill>
              <a:ln w="9525" cap="flat" cmpd="sng">
                <a:solidFill>
                  <a:schemeClr val="tx1"/>
                </a:solidFill>
                <a:prstDash val="solid"/>
                <a:miter/>
                <a:headEnd type="none" w="med" len="med"/>
                <a:tailEnd type="none" w="med" len="med"/>
              </a:ln>
            </p:spPr>
            <p:txBody>
              <a:bodyPr wrap="none" tIns="0" bIns="137160" anchor="ctr" anchorCtr="0"/>
              <a:p>
                <a:r>
                  <a:rPr lang="en-US" altLang="zh-CN" i="1" dirty="0">
                    <a:latin typeface="Times New Roman" panose="02020603050405020304" pitchFamily="18" charset="0"/>
                    <a:ea typeface="SimSun" panose="02010600030101010101" pitchFamily="2" charset="-122"/>
                  </a:rPr>
                  <a:t>n</a:t>
                </a:r>
                <a:r>
                  <a:rPr lang="en-US" altLang="zh-CN" baseline="-25000" dirty="0">
                    <a:latin typeface="Times New Roman" panose="02020603050405020304" pitchFamily="18" charset="0"/>
                    <a:ea typeface="SimSun" panose="02010600030101010101" pitchFamily="2" charset="-122"/>
                  </a:rPr>
                  <a:t>4</a:t>
                </a:r>
                <a:endParaRPr lang="en-US" altLang="zh-CN" baseline="-25000" dirty="0">
                  <a:latin typeface="Times New Roman" panose="02020603050405020304" pitchFamily="18" charset="0"/>
                  <a:ea typeface="SimSun" panose="02010600030101010101" pitchFamily="2" charset="-122"/>
                </a:endParaRPr>
              </a:p>
            </p:txBody>
          </p:sp>
          <p:cxnSp>
            <p:nvCxnSpPr>
              <p:cNvPr id="102443" name="AutoShape 47"/>
              <p:cNvCxnSpPr>
                <a:stCxn id="102440" idx="3"/>
                <a:endCxn id="102424" idx="1"/>
              </p:cNvCxnSpPr>
              <p:nvPr/>
            </p:nvCxnSpPr>
            <p:spPr>
              <a:xfrm>
                <a:off x="2112" y="2294"/>
                <a:ext cx="576" cy="112"/>
              </a:xfrm>
              <a:prstGeom prst="straightConnector1">
                <a:avLst/>
              </a:prstGeom>
              <a:ln w="9525" cap="flat" cmpd="sng">
                <a:solidFill>
                  <a:schemeClr val="tx1"/>
                </a:solidFill>
                <a:prstDash val="solid"/>
                <a:headEnd type="none" w="med" len="med"/>
                <a:tailEnd type="none" w="med" len="med"/>
              </a:ln>
            </p:spPr>
          </p:cxnSp>
          <p:cxnSp>
            <p:nvCxnSpPr>
              <p:cNvPr id="102444" name="AutoShape 48"/>
              <p:cNvCxnSpPr>
                <a:stCxn id="102442" idx="3"/>
                <a:endCxn id="102429" idx="1"/>
              </p:cNvCxnSpPr>
              <p:nvPr/>
            </p:nvCxnSpPr>
            <p:spPr>
              <a:xfrm>
                <a:off x="2112" y="3206"/>
                <a:ext cx="576" cy="160"/>
              </a:xfrm>
              <a:prstGeom prst="straightConnector1">
                <a:avLst/>
              </a:prstGeom>
              <a:ln w="9525" cap="flat" cmpd="sng">
                <a:solidFill>
                  <a:schemeClr val="tx1"/>
                </a:solidFill>
                <a:prstDash val="solid"/>
                <a:headEnd type="none" w="med" len="med"/>
                <a:tailEnd type="none" w="med" len="med"/>
              </a:ln>
            </p:spPr>
          </p:cxnSp>
          <p:cxnSp>
            <p:nvCxnSpPr>
              <p:cNvPr id="102445" name="AutoShape 49"/>
              <p:cNvCxnSpPr>
                <a:stCxn id="102441" idx="3"/>
                <a:endCxn id="102428" idx="1"/>
              </p:cNvCxnSpPr>
              <p:nvPr/>
            </p:nvCxnSpPr>
            <p:spPr>
              <a:xfrm>
                <a:off x="2112" y="2822"/>
                <a:ext cx="576" cy="352"/>
              </a:xfrm>
              <a:prstGeom prst="straightConnector1">
                <a:avLst/>
              </a:prstGeom>
              <a:ln w="9525" cap="flat" cmpd="sng">
                <a:solidFill>
                  <a:schemeClr val="tx1"/>
                </a:solidFill>
                <a:prstDash val="solid"/>
                <a:headEnd type="none" w="med" len="med"/>
                <a:tailEnd type="none" w="med" len="med"/>
              </a:ln>
            </p:spPr>
          </p:cxnSp>
          <p:cxnSp>
            <p:nvCxnSpPr>
              <p:cNvPr id="102446" name="AutoShape 50"/>
              <p:cNvCxnSpPr>
                <a:stCxn id="102442" idx="3"/>
                <a:endCxn id="102426" idx="1"/>
              </p:cNvCxnSpPr>
              <p:nvPr/>
            </p:nvCxnSpPr>
            <p:spPr>
              <a:xfrm flipV="1">
                <a:off x="2112" y="2790"/>
                <a:ext cx="576" cy="416"/>
              </a:xfrm>
              <a:prstGeom prst="straightConnector1">
                <a:avLst/>
              </a:prstGeom>
              <a:ln w="9525" cap="flat" cmpd="sng">
                <a:solidFill>
                  <a:schemeClr val="tx1"/>
                </a:solidFill>
                <a:prstDash val="solid"/>
                <a:headEnd type="none" w="med" len="med"/>
                <a:tailEnd type="none" w="med" len="med"/>
              </a:ln>
            </p:spPr>
          </p:cxnSp>
          <p:cxnSp>
            <p:nvCxnSpPr>
              <p:cNvPr id="102447" name="AutoShape 51"/>
              <p:cNvCxnSpPr>
                <a:stCxn id="102442" idx="3"/>
                <a:endCxn id="102427" idx="1"/>
              </p:cNvCxnSpPr>
              <p:nvPr/>
            </p:nvCxnSpPr>
            <p:spPr>
              <a:xfrm flipV="1">
                <a:off x="2112" y="2982"/>
                <a:ext cx="576" cy="224"/>
              </a:xfrm>
              <a:prstGeom prst="straightConnector1">
                <a:avLst/>
              </a:prstGeom>
              <a:ln w="9525" cap="flat" cmpd="sng">
                <a:solidFill>
                  <a:schemeClr val="tx1"/>
                </a:solidFill>
                <a:prstDash val="solid"/>
                <a:headEnd type="none" w="med" len="med"/>
                <a:tailEnd type="none" w="med" len="med"/>
              </a:ln>
            </p:spPr>
          </p:cxnSp>
          <p:cxnSp>
            <p:nvCxnSpPr>
              <p:cNvPr id="102448" name="AutoShape 52"/>
              <p:cNvCxnSpPr>
                <a:stCxn id="102420" idx="3"/>
                <a:endCxn id="102425" idx="1"/>
              </p:cNvCxnSpPr>
              <p:nvPr/>
            </p:nvCxnSpPr>
            <p:spPr>
              <a:xfrm>
                <a:off x="2112" y="1910"/>
                <a:ext cx="576" cy="688"/>
              </a:xfrm>
              <a:prstGeom prst="straightConnector1">
                <a:avLst/>
              </a:prstGeom>
              <a:ln w="9525" cap="flat" cmpd="sng">
                <a:solidFill>
                  <a:schemeClr val="tx1"/>
                </a:solidFill>
                <a:prstDash val="solid"/>
                <a:headEnd type="none" w="med" len="med"/>
                <a:tailEnd type="none" w="med" len="med"/>
              </a:ln>
            </p:spPr>
          </p:cxnSp>
        </p:grpSp>
        <p:sp>
          <p:nvSpPr>
            <p:cNvPr id="102411" name="Text Box 53"/>
            <p:cNvSpPr txBox="1"/>
            <p:nvPr/>
          </p:nvSpPr>
          <p:spPr>
            <a:xfrm>
              <a:off x="96" y="1344"/>
              <a:ext cx="1968" cy="999"/>
            </a:xfrm>
            <a:prstGeom prst="rect">
              <a:avLst/>
            </a:prstGeom>
            <a:noFill/>
            <a:ln w="9525">
              <a:noFill/>
            </a:ln>
          </p:spPr>
          <p:txBody>
            <a:bodyPr>
              <a:spAutoFit/>
            </a:bodyPr>
            <a:p>
              <a:pPr algn="l">
                <a:spcBef>
                  <a:spcPct val="50000"/>
                </a:spcBef>
              </a:pPr>
              <a:r>
                <a:rPr lang="en-US" altLang="zh-CN" dirty="0">
                  <a:latin typeface="Arial" panose="020B0604020202020204" pitchFamily="34" charset="0"/>
                  <a:ea typeface="SimSun" panose="02010600030101010101" pitchFamily="2" charset="-122"/>
                </a:rPr>
                <a:t>The tightness of a group of nodes is the support of a frequent pattern</a:t>
              </a:r>
              <a:endParaRPr lang="en-US" altLang="zh-CN" dirty="0">
                <a:latin typeface="Arial" panose="020B0604020202020204" pitchFamily="34" charset="0"/>
                <a:ea typeface="SimSun" panose="02010600030101010101" pitchFamily="2" charset="-122"/>
              </a:endParaRPr>
            </a:p>
          </p:txBody>
        </p:sp>
        <p:grpSp>
          <p:nvGrpSpPr>
            <p:cNvPr id="102412" name="Group 54"/>
            <p:cNvGrpSpPr/>
            <p:nvPr/>
          </p:nvGrpSpPr>
          <p:grpSpPr>
            <a:xfrm>
              <a:off x="4416" y="2112"/>
              <a:ext cx="720" cy="864"/>
              <a:chOff x="4416" y="2256"/>
              <a:chExt cx="720" cy="864"/>
            </a:xfrm>
          </p:grpSpPr>
          <p:sp>
            <p:nvSpPr>
              <p:cNvPr id="102417" name="Rectangle 55"/>
              <p:cNvSpPr/>
              <p:nvPr/>
            </p:nvSpPr>
            <p:spPr>
              <a:xfrm>
                <a:off x="4656" y="2256"/>
                <a:ext cx="480" cy="240"/>
              </a:xfrm>
              <a:prstGeom prst="rect">
                <a:avLst/>
              </a:prstGeom>
              <a:noFill/>
              <a:ln w="19050" cap="flat" cmpd="sng">
                <a:solidFill>
                  <a:srgbClr val="FF0000"/>
                </a:solidFill>
                <a:prstDash val="solid"/>
                <a:miter/>
                <a:headEnd type="none" w="med" len="med"/>
                <a:tailEnd type="none" w="med" len="med"/>
              </a:ln>
            </p:spPr>
            <p:txBody>
              <a:bodyPr wrap="none" anchor="ctr" anchorCtr="0"/>
              <a:p>
                <a:endParaRPr dirty="0">
                  <a:latin typeface="Tahoma" panose="020B0604030504040204" pitchFamily="34" charset="0"/>
                </a:endParaRPr>
              </a:p>
            </p:txBody>
          </p:sp>
          <p:sp>
            <p:nvSpPr>
              <p:cNvPr id="102418" name="Rectangle 56"/>
              <p:cNvSpPr/>
              <p:nvPr/>
            </p:nvSpPr>
            <p:spPr>
              <a:xfrm>
                <a:off x="4416" y="2640"/>
                <a:ext cx="480" cy="240"/>
              </a:xfrm>
              <a:prstGeom prst="rect">
                <a:avLst/>
              </a:prstGeom>
              <a:noFill/>
              <a:ln w="19050" cap="flat" cmpd="sng">
                <a:solidFill>
                  <a:srgbClr val="FF0000"/>
                </a:solidFill>
                <a:prstDash val="solid"/>
                <a:miter/>
                <a:headEnd type="none" w="med" len="med"/>
                <a:tailEnd type="none" w="med" len="med"/>
              </a:ln>
            </p:spPr>
            <p:txBody>
              <a:bodyPr wrap="none" anchor="ctr" anchorCtr="0"/>
              <a:p>
                <a:endParaRPr dirty="0">
                  <a:latin typeface="Tahoma" panose="020B0604030504040204" pitchFamily="34" charset="0"/>
                </a:endParaRPr>
              </a:p>
            </p:txBody>
          </p:sp>
          <p:sp>
            <p:nvSpPr>
              <p:cNvPr id="102419" name="Rectangle 57"/>
              <p:cNvSpPr/>
              <p:nvPr/>
            </p:nvSpPr>
            <p:spPr>
              <a:xfrm>
                <a:off x="4416" y="2880"/>
                <a:ext cx="480" cy="240"/>
              </a:xfrm>
              <a:prstGeom prst="rect">
                <a:avLst/>
              </a:prstGeom>
              <a:noFill/>
              <a:ln w="19050" cap="flat" cmpd="sng">
                <a:solidFill>
                  <a:srgbClr val="FF0000"/>
                </a:solidFill>
                <a:prstDash val="solid"/>
                <a:miter/>
                <a:headEnd type="none" w="med" len="med"/>
                <a:tailEnd type="none" w="med" len="med"/>
              </a:ln>
            </p:spPr>
            <p:txBody>
              <a:bodyPr wrap="none" anchor="ctr" anchorCtr="0"/>
              <a:p>
                <a:endParaRPr dirty="0">
                  <a:latin typeface="Tahoma" panose="020B0604030504040204" pitchFamily="34" charset="0"/>
                </a:endParaRPr>
              </a:p>
            </p:txBody>
          </p:sp>
        </p:grpSp>
        <p:grpSp>
          <p:nvGrpSpPr>
            <p:cNvPr id="102413" name="Group 58"/>
            <p:cNvGrpSpPr/>
            <p:nvPr/>
          </p:nvGrpSpPr>
          <p:grpSpPr>
            <a:xfrm>
              <a:off x="3600" y="2208"/>
              <a:ext cx="576" cy="708"/>
              <a:chOff x="3600" y="2352"/>
              <a:chExt cx="576" cy="708"/>
            </a:xfrm>
          </p:grpSpPr>
          <p:sp>
            <p:nvSpPr>
              <p:cNvPr id="102414" name="Rectangle 59"/>
              <p:cNvSpPr/>
              <p:nvPr/>
            </p:nvSpPr>
            <p:spPr>
              <a:xfrm>
                <a:off x="3600" y="2352"/>
                <a:ext cx="576" cy="132"/>
              </a:xfrm>
              <a:prstGeom prst="rect">
                <a:avLst/>
              </a:prstGeom>
              <a:noFill/>
              <a:ln w="19050" cap="flat" cmpd="sng">
                <a:solidFill>
                  <a:srgbClr val="FF0000"/>
                </a:solidFill>
                <a:prstDash val="solid"/>
                <a:miter/>
                <a:headEnd type="none" w="med" len="med"/>
                <a:tailEnd type="none" w="med" len="med"/>
              </a:ln>
            </p:spPr>
            <p:txBody>
              <a:bodyPr wrap="none" anchor="ctr" anchorCtr="0"/>
              <a:p>
                <a:endParaRPr dirty="0">
                  <a:latin typeface="Tahoma" panose="020B0604030504040204" pitchFamily="34" charset="0"/>
                </a:endParaRPr>
              </a:p>
            </p:txBody>
          </p:sp>
          <p:sp>
            <p:nvSpPr>
              <p:cNvPr id="102415" name="Rectangle 60"/>
              <p:cNvSpPr/>
              <p:nvPr/>
            </p:nvSpPr>
            <p:spPr>
              <a:xfrm>
                <a:off x="3600" y="2736"/>
                <a:ext cx="576" cy="132"/>
              </a:xfrm>
              <a:prstGeom prst="rect">
                <a:avLst/>
              </a:prstGeom>
              <a:noFill/>
              <a:ln w="19050" cap="flat" cmpd="sng">
                <a:solidFill>
                  <a:srgbClr val="FF0000"/>
                </a:solidFill>
                <a:prstDash val="solid"/>
                <a:miter/>
                <a:headEnd type="none" w="med" len="med"/>
                <a:tailEnd type="none" w="med" len="med"/>
              </a:ln>
            </p:spPr>
            <p:txBody>
              <a:bodyPr wrap="none" anchor="ctr" anchorCtr="0"/>
              <a:p>
                <a:endParaRPr dirty="0">
                  <a:latin typeface="Tahoma" panose="020B0604030504040204" pitchFamily="34" charset="0"/>
                </a:endParaRPr>
              </a:p>
            </p:txBody>
          </p:sp>
          <p:sp>
            <p:nvSpPr>
              <p:cNvPr id="102416" name="Rectangle 61"/>
              <p:cNvSpPr/>
              <p:nvPr/>
            </p:nvSpPr>
            <p:spPr>
              <a:xfrm>
                <a:off x="3600" y="2928"/>
                <a:ext cx="576" cy="132"/>
              </a:xfrm>
              <a:prstGeom prst="rect">
                <a:avLst/>
              </a:prstGeom>
              <a:noFill/>
              <a:ln w="19050" cap="flat" cmpd="sng">
                <a:solidFill>
                  <a:srgbClr val="FF0000"/>
                </a:solidFill>
                <a:prstDash val="solid"/>
                <a:miter/>
                <a:headEnd type="none" w="med" len="med"/>
                <a:tailEnd type="none" w="med" len="med"/>
              </a:ln>
            </p:spPr>
            <p:txBody>
              <a:bodyPr wrap="none" anchor="ctr" anchorCtr="0"/>
              <a:p>
                <a:endParaRPr dirty="0">
                  <a:latin typeface="Tahoma" panose="020B0604030504040204" pitchFamily="34" charset="0"/>
                </a:endParaRPr>
              </a:p>
            </p:txBody>
          </p:sp>
        </p:grpSp>
      </p:grpSp>
      <p:sp>
        <p:nvSpPr>
          <p:cNvPr id="102405" name="Slide Number Placeholder 64"/>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p:cNvSpPr>
          <p:nvPr>
            <p:ph type="title" idx="4294967295"/>
          </p:nvPr>
        </p:nvSpPr>
        <p:spPr/>
        <p:txBody>
          <a:bodyPr vert="horz" wrap="square" lIns="91440" tIns="45720" rIns="91440" bIns="45720" anchor="b" anchorCtr="0"/>
          <a:p>
            <a:pPr eaLnBrk="1" hangingPunct="1"/>
            <a:r>
              <a:rPr lang="en-US" altLang="zh-CN" dirty="0">
                <a:ea typeface="SimSun" panose="02010600030101010101" pitchFamily="2" charset="-122"/>
              </a:rPr>
              <a:t>Adjusting SimTree Structures</a:t>
            </a:r>
            <a:endParaRPr lang="en-US" altLang="zh-CN" dirty="0">
              <a:ea typeface="SimSun" panose="02010600030101010101" pitchFamily="2" charset="-122"/>
            </a:endParaRPr>
          </a:p>
        </p:txBody>
      </p:sp>
      <p:sp>
        <p:nvSpPr>
          <p:cNvPr id="103427" name="Rectangle 3"/>
          <p:cNvSpPr>
            <a:spLocks noGrp="1"/>
          </p:cNvSpPr>
          <p:nvPr>
            <p:ph type="body" idx="4294967295"/>
          </p:nvPr>
        </p:nvSpPr>
        <p:spPr>
          <a:xfrm>
            <a:off x="152400" y="3657600"/>
            <a:ext cx="8763000" cy="3048000"/>
          </a:xfrm>
        </p:spPr>
        <p:txBody>
          <a:bodyPr vert="horz" wrap="square" lIns="91440" tIns="45720" rIns="91440" bIns="45720" anchor="t" anchorCtr="0"/>
          <a:p>
            <a:pPr eaLnBrk="1" hangingPunct="1"/>
            <a:r>
              <a:rPr lang="en-US" altLang="zh-CN" sz="2400" dirty="0">
                <a:ea typeface="SimSun" panose="02010600030101010101" pitchFamily="2" charset="-122"/>
              </a:rPr>
              <a:t>After similarity changes, the tree structure also needs to be changed</a:t>
            </a:r>
            <a:endParaRPr lang="en-US" altLang="zh-CN" sz="2400" dirty="0">
              <a:ea typeface="SimSun" panose="02010600030101010101" pitchFamily="2" charset="-122"/>
            </a:endParaRPr>
          </a:p>
          <a:p>
            <a:pPr lvl="1" eaLnBrk="1" hangingPunct="1"/>
            <a:r>
              <a:rPr lang="en-US" altLang="zh-CN" sz="2400" dirty="0">
                <a:ea typeface="SimSun" panose="02010600030101010101" pitchFamily="2" charset="-122"/>
              </a:rPr>
              <a:t>If a node is more similar to its parent’s sibling, then move it to be a child of that sibling</a:t>
            </a:r>
            <a:endParaRPr lang="en-US" altLang="zh-CN" sz="2400" dirty="0">
              <a:ea typeface="SimSun" panose="02010600030101010101" pitchFamily="2" charset="-122"/>
            </a:endParaRPr>
          </a:p>
          <a:p>
            <a:pPr lvl="1" eaLnBrk="1" hangingPunct="1"/>
            <a:r>
              <a:rPr lang="en-US" altLang="zh-CN" sz="2400" dirty="0">
                <a:ea typeface="SimSun" panose="02010600030101010101" pitchFamily="2" charset="-122"/>
              </a:rPr>
              <a:t>Try to move each node to its parent’s sibling that it is most similar to, under the constraint that each parent node can have at most </a:t>
            </a:r>
            <a:r>
              <a:rPr lang="en-US" altLang="zh-CN" sz="2400" i="1" dirty="0">
                <a:ea typeface="SimSun" panose="02010600030101010101" pitchFamily="2" charset="-122"/>
              </a:rPr>
              <a:t>c</a:t>
            </a:r>
            <a:r>
              <a:rPr lang="en-US" altLang="zh-CN" sz="2400" dirty="0">
                <a:ea typeface="SimSun" panose="02010600030101010101" pitchFamily="2" charset="-122"/>
              </a:rPr>
              <a:t> children</a:t>
            </a:r>
            <a:endParaRPr lang="en-US" altLang="zh-CN" sz="2400" dirty="0">
              <a:ea typeface="SimSun" panose="02010600030101010101" pitchFamily="2" charset="-122"/>
            </a:endParaRPr>
          </a:p>
        </p:txBody>
      </p:sp>
      <p:sp>
        <p:nvSpPr>
          <p:cNvPr id="103428" name="Oval 4"/>
          <p:cNvSpPr/>
          <p:nvPr/>
        </p:nvSpPr>
        <p:spPr>
          <a:xfrm>
            <a:off x="4419600" y="9144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103429" name="Oval 5"/>
          <p:cNvSpPr/>
          <p:nvPr/>
        </p:nvSpPr>
        <p:spPr>
          <a:xfrm>
            <a:off x="3048000" y="17526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b" anchorCtr="0"/>
          <a:p>
            <a:r>
              <a:rPr lang="en-US" altLang="zh-CN" sz="1800" i="1" dirty="0">
                <a:latin typeface="Times New Roman" panose="02020603050405020304" pitchFamily="18" charset="0"/>
                <a:ea typeface="SimSun" panose="02010600030101010101" pitchFamily="2" charset="-122"/>
              </a:rPr>
              <a:t>n</a:t>
            </a:r>
            <a:r>
              <a:rPr lang="en-US" altLang="zh-CN" sz="1800" baseline="-25000" dirty="0">
                <a:latin typeface="Times New Roman" panose="02020603050405020304" pitchFamily="18" charset="0"/>
                <a:ea typeface="SimSun" panose="02010600030101010101" pitchFamily="2" charset="-122"/>
              </a:rPr>
              <a:t>1</a:t>
            </a:r>
            <a:endParaRPr lang="en-US" altLang="zh-CN" sz="1800" baseline="-25000" dirty="0">
              <a:latin typeface="Times New Roman" panose="02020603050405020304" pitchFamily="18" charset="0"/>
              <a:ea typeface="SimSun" panose="02010600030101010101" pitchFamily="2" charset="-122"/>
            </a:endParaRPr>
          </a:p>
        </p:txBody>
      </p:sp>
      <p:sp>
        <p:nvSpPr>
          <p:cNvPr id="103430" name="Oval 6"/>
          <p:cNvSpPr/>
          <p:nvPr/>
        </p:nvSpPr>
        <p:spPr>
          <a:xfrm>
            <a:off x="4724400" y="17526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b" anchorCtr="0"/>
          <a:p>
            <a:r>
              <a:rPr lang="en-US" altLang="zh-CN" sz="1800" i="1" dirty="0">
                <a:latin typeface="Times New Roman" panose="02020603050405020304" pitchFamily="18" charset="0"/>
                <a:ea typeface="SimSun" panose="02010600030101010101" pitchFamily="2" charset="-122"/>
              </a:rPr>
              <a:t>n</a:t>
            </a:r>
            <a:r>
              <a:rPr lang="en-US" altLang="zh-CN" sz="1800" baseline="-25000" dirty="0">
                <a:latin typeface="Times New Roman" panose="02020603050405020304" pitchFamily="18" charset="0"/>
                <a:ea typeface="SimSun" panose="02010600030101010101" pitchFamily="2" charset="-122"/>
              </a:rPr>
              <a:t>2</a:t>
            </a:r>
            <a:endParaRPr lang="en-US" altLang="zh-CN" sz="1800" baseline="-25000" dirty="0">
              <a:latin typeface="Times New Roman" panose="02020603050405020304" pitchFamily="18" charset="0"/>
              <a:ea typeface="SimSun" panose="02010600030101010101" pitchFamily="2" charset="-122"/>
            </a:endParaRPr>
          </a:p>
        </p:txBody>
      </p:sp>
      <p:sp>
        <p:nvSpPr>
          <p:cNvPr id="103431" name="Oval 7"/>
          <p:cNvSpPr/>
          <p:nvPr/>
        </p:nvSpPr>
        <p:spPr>
          <a:xfrm>
            <a:off x="2743200" y="24384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tIns="0" bIns="0" anchor="b" anchorCtr="0"/>
          <a:p>
            <a:r>
              <a:rPr lang="en-US" altLang="zh-CN" sz="1800" i="1" dirty="0">
                <a:latin typeface="Times New Roman" panose="02020603050405020304" pitchFamily="18" charset="0"/>
                <a:ea typeface="SimSun" panose="02010600030101010101" pitchFamily="2" charset="-122"/>
              </a:rPr>
              <a:t>n</a:t>
            </a:r>
            <a:r>
              <a:rPr lang="en-US" altLang="zh-CN" sz="1800" baseline="-25000" dirty="0">
                <a:latin typeface="Times New Roman" panose="02020603050405020304" pitchFamily="18" charset="0"/>
                <a:ea typeface="SimSun" panose="02010600030101010101" pitchFamily="2" charset="-122"/>
              </a:rPr>
              <a:t>4</a:t>
            </a:r>
            <a:endParaRPr lang="en-US" altLang="zh-CN" sz="1800" baseline="-25000" dirty="0">
              <a:latin typeface="Times New Roman" panose="02020603050405020304" pitchFamily="18" charset="0"/>
              <a:ea typeface="SimSun" panose="02010600030101010101" pitchFamily="2" charset="-122"/>
            </a:endParaRPr>
          </a:p>
        </p:txBody>
      </p:sp>
      <p:sp>
        <p:nvSpPr>
          <p:cNvPr id="103432" name="Oval 8"/>
          <p:cNvSpPr/>
          <p:nvPr/>
        </p:nvSpPr>
        <p:spPr>
          <a:xfrm>
            <a:off x="3505200" y="24384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tIns="0" bIns="0" anchor="b" anchorCtr="0"/>
          <a:p>
            <a:r>
              <a:rPr lang="en-US" altLang="zh-CN" sz="1800" i="1" dirty="0">
                <a:latin typeface="Times New Roman" panose="02020603050405020304" pitchFamily="18" charset="0"/>
                <a:ea typeface="SimSun" panose="02010600030101010101" pitchFamily="2" charset="-122"/>
              </a:rPr>
              <a:t>n</a:t>
            </a:r>
            <a:r>
              <a:rPr lang="en-US" altLang="zh-CN" sz="1800" baseline="-25000" dirty="0">
                <a:latin typeface="Times New Roman" panose="02020603050405020304" pitchFamily="18" charset="0"/>
                <a:ea typeface="SimSun" panose="02010600030101010101" pitchFamily="2" charset="-122"/>
              </a:rPr>
              <a:t>5</a:t>
            </a:r>
            <a:endParaRPr lang="en-US" altLang="zh-CN" sz="1800" baseline="-25000" dirty="0">
              <a:latin typeface="Times New Roman" panose="02020603050405020304" pitchFamily="18" charset="0"/>
              <a:ea typeface="SimSun" panose="02010600030101010101" pitchFamily="2" charset="-122"/>
            </a:endParaRPr>
          </a:p>
        </p:txBody>
      </p:sp>
      <p:sp>
        <p:nvSpPr>
          <p:cNvPr id="103433" name="Oval 9"/>
          <p:cNvSpPr/>
          <p:nvPr/>
        </p:nvSpPr>
        <p:spPr>
          <a:xfrm>
            <a:off x="4267200" y="24384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b" anchorCtr="0"/>
          <a:p>
            <a:r>
              <a:rPr lang="en-US" altLang="zh-CN" sz="1800" i="1" dirty="0">
                <a:latin typeface="Times New Roman" panose="02020603050405020304" pitchFamily="18" charset="0"/>
                <a:ea typeface="SimSun" panose="02010600030101010101" pitchFamily="2" charset="-122"/>
              </a:rPr>
              <a:t>n</a:t>
            </a:r>
            <a:r>
              <a:rPr lang="en-US" altLang="zh-CN" sz="1800" baseline="-25000" dirty="0">
                <a:latin typeface="Times New Roman" panose="02020603050405020304" pitchFamily="18" charset="0"/>
                <a:ea typeface="SimSun" panose="02010600030101010101" pitchFamily="2" charset="-122"/>
              </a:rPr>
              <a:t>6</a:t>
            </a:r>
            <a:endParaRPr lang="en-US" altLang="zh-CN" sz="1800" baseline="-25000" dirty="0">
              <a:latin typeface="Times New Roman" panose="02020603050405020304" pitchFamily="18" charset="0"/>
              <a:ea typeface="SimSun" panose="02010600030101010101" pitchFamily="2" charset="-122"/>
            </a:endParaRPr>
          </a:p>
        </p:txBody>
      </p:sp>
      <p:sp>
        <p:nvSpPr>
          <p:cNvPr id="103434" name="Oval 10"/>
          <p:cNvSpPr/>
          <p:nvPr/>
        </p:nvSpPr>
        <p:spPr>
          <a:xfrm>
            <a:off x="5181600" y="24384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cxnSp>
        <p:nvCxnSpPr>
          <p:cNvPr id="103435" name="AutoShape 11"/>
          <p:cNvCxnSpPr>
            <a:stCxn id="103428" idx="4"/>
            <a:endCxn id="103430" idx="0"/>
          </p:cNvCxnSpPr>
          <p:nvPr/>
        </p:nvCxnSpPr>
        <p:spPr>
          <a:xfrm>
            <a:off x="4572000" y="1219200"/>
            <a:ext cx="304800" cy="533400"/>
          </a:xfrm>
          <a:prstGeom prst="straightConnector1">
            <a:avLst/>
          </a:prstGeom>
          <a:ln w="9525" cap="flat" cmpd="sng">
            <a:solidFill>
              <a:schemeClr val="tx1"/>
            </a:solidFill>
            <a:prstDash val="solid"/>
            <a:headEnd type="none" w="med" len="med"/>
            <a:tailEnd type="none" w="med" len="med"/>
          </a:ln>
        </p:spPr>
      </p:cxnSp>
      <p:cxnSp>
        <p:nvCxnSpPr>
          <p:cNvPr id="103436" name="AutoShape 12"/>
          <p:cNvCxnSpPr>
            <a:stCxn id="103428" idx="3"/>
            <a:endCxn id="103429" idx="0"/>
          </p:cNvCxnSpPr>
          <p:nvPr/>
        </p:nvCxnSpPr>
        <p:spPr>
          <a:xfrm flipH="1">
            <a:off x="3200400" y="1174750"/>
            <a:ext cx="1263650" cy="577850"/>
          </a:xfrm>
          <a:prstGeom prst="straightConnector1">
            <a:avLst/>
          </a:prstGeom>
          <a:ln w="9525" cap="flat" cmpd="sng">
            <a:solidFill>
              <a:schemeClr val="tx1"/>
            </a:solidFill>
            <a:prstDash val="solid"/>
            <a:headEnd type="none" w="med" len="med"/>
            <a:tailEnd type="none" w="med" len="med"/>
          </a:ln>
        </p:spPr>
      </p:cxnSp>
      <p:cxnSp>
        <p:nvCxnSpPr>
          <p:cNvPr id="103437" name="AutoShape 13"/>
          <p:cNvCxnSpPr>
            <a:stCxn id="103429" idx="3"/>
            <a:endCxn id="103431" idx="0"/>
          </p:cNvCxnSpPr>
          <p:nvPr/>
        </p:nvCxnSpPr>
        <p:spPr>
          <a:xfrm flipH="1">
            <a:off x="2895600" y="2012950"/>
            <a:ext cx="196850" cy="425450"/>
          </a:xfrm>
          <a:prstGeom prst="straightConnector1">
            <a:avLst/>
          </a:prstGeom>
          <a:ln w="9525" cap="flat" cmpd="sng">
            <a:solidFill>
              <a:schemeClr val="tx1"/>
            </a:solidFill>
            <a:prstDash val="solid"/>
            <a:headEnd type="none" w="med" len="med"/>
            <a:tailEnd type="none" w="med" len="med"/>
          </a:ln>
        </p:spPr>
      </p:cxnSp>
      <p:cxnSp>
        <p:nvCxnSpPr>
          <p:cNvPr id="103438" name="AutoShape 14"/>
          <p:cNvCxnSpPr>
            <a:stCxn id="103429" idx="5"/>
            <a:endCxn id="103432" idx="0"/>
          </p:cNvCxnSpPr>
          <p:nvPr/>
        </p:nvCxnSpPr>
        <p:spPr>
          <a:xfrm>
            <a:off x="3308350" y="2012950"/>
            <a:ext cx="349250" cy="425450"/>
          </a:xfrm>
          <a:prstGeom prst="straightConnector1">
            <a:avLst/>
          </a:prstGeom>
          <a:ln w="9525" cap="flat" cmpd="sng">
            <a:solidFill>
              <a:schemeClr val="tx1"/>
            </a:solidFill>
            <a:prstDash val="solid"/>
            <a:headEnd type="none" w="med" len="med"/>
            <a:tailEnd type="none" w="med" len="med"/>
          </a:ln>
        </p:spPr>
      </p:cxnSp>
      <p:cxnSp>
        <p:nvCxnSpPr>
          <p:cNvPr id="103439" name="AutoShape 15"/>
          <p:cNvCxnSpPr>
            <a:stCxn id="103430" idx="3"/>
            <a:endCxn id="103433" idx="0"/>
          </p:cNvCxnSpPr>
          <p:nvPr/>
        </p:nvCxnSpPr>
        <p:spPr>
          <a:xfrm flipH="1">
            <a:off x="4419600" y="2012950"/>
            <a:ext cx="349250" cy="425450"/>
          </a:xfrm>
          <a:prstGeom prst="straightConnector1">
            <a:avLst/>
          </a:prstGeom>
          <a:ln w="9525" cap="flat" cmpd="sng">
            <a:solidFill>
              <a:schemeClr val="tx1"/>
            </a:solidFill>
            <a:prstDash val="solid"/>
            <a:headEnd type="none" w="med" len="med"/>
            <a:tailEnd type="none" w="med" len="med"/>
          </a:ln>
        </p:spPr>
      </p:cxnSp>
      <p:cxnSp>
        <p:nvCxnSpPr>
          <p:cNvPr id="103440" name="AutoShape 16"/>
          <p:cNvCxnSpPr>
            <a:stCxn id="103430" idx="5"/>
            <a:endCxn id="103434" idx="0"/>
          </p:cNvCxnSpPr>
          <p:nvPr/>
        </p:nvCxnSpPr>
        <p:spPr>
          <a:xfrm>
            <a:off x="4984750" y="2012950"/>
            <a:ext cx="349250" cy="425450"/>
          </a:xfrm>
          <a:prstGeom prst="straightConnector1">
            <a:avLst/>
          </a:prstGeom>
          <a:ln w="9525" cap="flat" cmpd="sng">
            <a:solidFill>
              <a:schemeClr val="tx1"/>
            </a:solidFill>
            <a:prstDash val="solid"/>
            <a:headEnd type="none" w="med" len="med"/>
            <a:tailEnd type="none" w="med" len="med"/>
          </a:ln>
        </p:spPr>
      </p:cxnSp>
      <p:cxnSp>
        <p:nvCxnSpPr>
          <p:cNvPr id="103441" name="AutoShape 17"/>
          <p:cNvCxnSpPr>
            <a:stCxn id="103431" idx="5"/>
            <a:endCxn id="103462" idx="0"/>
          </p:cNvCxnSpPr>
          <p:nvPr/>
        </p:nvCxnSpPr>
        <p:spPr>
          <a:xfrm>
            <a:off x="3003550" y="2698750"/>
            <a:ext cx="44450" cy="349250"/>
          </a:xfrm>
          <a:prstGeom prst="straightConnector1">
            <a:avLst/>
          </a:prstGeom>
          <a:ln w="9525" cap="flat" cmpd="sng">
            <a:solidFill>
              <a:schemeClr val="tx1"/>
            </a:solidFill>
            <a:prstDash val="solid"/>
            <a:headEnd type="none" w="med" len="med"/>
            <a:tailEnd type="none" w="med" len="med"/>
          </a:ln>
        </p:spPr>
      </p:cxnSp>
      <p:cxnSp>
        <p:nvCxnSpPr>
          <p:cNvPr id="103442" name="AutoShape 18"/>
          <p:cNvCxnSpPr>
            <a:stCxn id="103432" idx="3"/>
            <a:endCxn id="103463" idx="0"/>
          </p:cNvCxnSpPr>
          <p:nvPr/>
        </p:nvCxnSpPr>
        <p:spPr>
          <a:xfrm flipH="1">
            <a:off x="3505200" y="2698750"/>
            <a:ext cx="44450" cy="336550"/>
          </a:xfrm>
          <a:prstGeom prst="straightConnector1">
            <a:avLst/>
          </a:prstGeom>
          <a:ln w="9525" cap="flat" cmpd="sng">
            <a:solidFill>
              <a:schemeClr val="tx1"/>
            </a:solidFill>
            <a:prstDash val="solid"/>
            <a:headEnd type="none" w="med" len="med"/>
            <a:tailEnd type="none" w="med" len="med"/>
          </a:ln>
        </p:spPr>
      </p:cxnSp>
      <p:cxnSp>
        <p:nvCxnSpPr>
          <p:cNvPr id="103443" name="AutoShape 19"/>
          <p:cNvCxnSpPr>
            <a:stCxn id="103432" idx="5"/>
            <a:endCxn id="103464" idx="0"/>
          </p:cNvCxnSpPr>
          <p:nvPr/>
        </p:nvCxnSpPr>
        <p:spPr>
          <a:xfrm>
            <a:off x="3765550" y="2698750"/>
            <a:ext cx="44450" cy="349250"/>
          </a:xfrm>
          <a:prstGeom prst="straightConnector1">
            <a:avLst/>
          </a:prstGeom>
          <a:ln w="9525" cap="flat" cmpd="sng">
            <a:solidFill>
              <a:schemeClr val="tx1"/>
            </a:solidFill>
            <a:prstDash val="solid"/>
            <a:headEnd type="none" w="med" len="med"/>
            <a:tailEnd type="none" w="med" len="med"/>
          </a:ln>
        </p:spPr>
      </p:cxnSp>
      <p:cxnSp>
        <p:nvCxnSpPr>
          <p:cNvPr id="103444" name="AutoShape 20"/>
          <p:cNvCxnSpPr>
            <a:stCxn id="103433" idx="3"/>
            <a:endCxn id="103465" idx="0"/>
          </p:cNvCxnSpPr>
          <p:nvPr/>
        </p:nvCxnSpPr>
        <p:spPr>
          <a:xfrm flipH="1">
            <a:off x="4267200" y="2698750"/>
            <a:ext cx="44450" cy="336550"/>
          </a:xfrm>
          <a:prstGeom prst="straightConnector1">
            <a:avLst/>
          </a:prstGeom>
          <a:ln w="9525" cap="flat" cmpd="sng">
            <a:solidFill>
              <a:schemeClr val="tx1"/>
            </a:solidFill>
            <a:prstDash val="solid"/>
            <a:headEnd type="none" w="med" len="med"/>
            <a:tailEnd type="none" w="med" len="med"/>
          </a:ln>
        </p:spPr>
      </p:cxnSp>
      <p:cxnSp>
        <p:nvCxnSpPr>
          <p:cNvPr id="103445" name="AutoShape 21"/>
          <p:cNvCxnSpPr>
            <a:stCxn id="103433" idx="5"/>
            <a:endCxn id="103467" idx="0"/>
          </p:cNvCxnSpPr>
          <p:nvPr/>
        </p:nvCxnSpPr>
        <p:spPr>
          <a:xfrm>
            <a:off x="4527550" y="2698750"/>
            <a:ext cx="44450" cy="349250"/>
          </a:xfrm>
          <a:prstGeom prst="straightConnector1">
            <a:avLst/>
          </a:prstGeom>
          <a:ln w="9525" cap="flat" cmpd="sng">
            <a:solidFill>
              <a:schemeClr val="tx1"/>
            </a:solidFill>
            <a:prstDash val="solid"/>
            <a:headEnd type="none" w="med" len="med"/>
            <a:tailEnd type="none" w="med" len="med"/>
          </a:ln>
        </p:spPr>
      </p:cxnSp>
      <p:cxnSp>
        <p:nvCxnSpPr>
          <p:cNvPr id="103446" name="AutoShape 22"/>
          <p:cNvCxnSpPr>
            <a:stCxn id="103434" idx="3"/>
            <a:endCxn id="103468" idx="0"/>
          </p:cNvCxnSpPr>
          <p:nvPr/>
        </p:nvCxnSpPr>
        <p:spPr>
          <a:xfrm flipH="1">
            <a:off x="5181600" y="2698750"/>
            <a:ext cx="44450" cy="349250"/>
          </a:xfrm>
          <a:prstGeom prst="straightConnector1">
            <a:avLst/>
          </a:prstGeom>
          <a:ln w="9525" cap="flat" cmpd="sng">
            <a:solidFill>
              <a:schemeClr val="tx1"/>
            </a:solidFill>
            <a:prstDash val="solid"/>
            <a:headEnd type="none" w="med" len="med"/>
            <a:tailEnd type="none" w="med" len="med"/>
          </a:ln>
        </p:spPr>
      </p:cxnSp>
      <p:cxnSp>
        <p:nvCxnSpPr>
          <p:cNvPr id="103447" name="AutoShape 23"/>
          <p:cNvCxnSpPr>
            <a:stCxn id="103434" idx="5"/>
            <a:endCxn id="103469" idx="0"/>
          </p:cNvCxnSpPr>
          <p:nvPr/>
        </p:nvCxnSpPr>
        <p:spPr>
          <a:xfrm>
            <a:off x="5441950" y="2698750"/>
            <a:ext cx="44450" cy="349250"/>
          </a:xfrm>
          <a:prstGeom prst="straightConnector1">
            <a:avLst/>
          </a:prstGeom>
          <a:ln w="9525" cap="flat" cmpd="sng">
            <a:solidFill>
              <a:schemeClr val="tx1"/>
            </a:solidFill>
            <a:prstDash val="solid"/>
            <a:headEnd type="none" w="med" len="med"/>
            <a:tailEnd type="none" w="med" len="med"/>
          </a:ln>
        </p:spPr>
      </p:cxnSp>
      <p:cxnSp>
        <p:nvCxnSpPr>
          <p:cNvPr id="103448" name="AutoShape 24"/>
          <p:cNvCxnSpPr>
            <a:stCxn id="103433" idx="4"/>
            <a:endCxn id="103466" idx="0"/>
          </p:cNvCxnSpPr>
          <p:nvPr/>
        </p:nvCxnSpPr>
        <p:spPr>
          <a:xfrm>
            <a:off x="4419600" y="2743200"/>
            <a:ext cx="0" cy="304800"/>
          </a:xfrm>
          <a:prstGeom prst="straightConnector1">
            <a:avLst/>
          </a:prstGeom>
          <a:ln w="9525" cap="flat" cmpd="sng">
            <a:solidFill>
              <a:schemeClr val="tx1"/>
            </a:solidFill>
            <a:prstDash val="solid"/>
            <a:headEnd type="none" w="med" len="med"/>
            <a:tailEnd type="none" w="med" len="med"/>
          </a:ln>
        </p:spPr>
      </p:cxnSp>
      <p:cxnSp>
        <p:nvCxnSpPr>
          <p:cNvPr id="103449" name="AutoShape 25"/>
          <p:cNvCxnSpPr>
            <a:stCxn id="103431" idx="4"/>
            <a:endCxn id="103461" idx="0"/>
          </p:cNvCxnSpPr>
          <p:nvPr/>
        </p:nvCxnSpPr>
        <p:spPr>
          <a:xfrm>
            <a:off x="2895600" y="2743200"/>
            <a:ext cx="0" cy="304800"/>
          </a:xfrm>
          <a:prstGeom prst="straightConnector1">
            <a:avLst/>
          </a:prstGeom>
          <a:ln w="9525" cap="flat" cmpd="sng">
            <a:solidFill>
              <a:schemeClr val="tx1"/>
            </a:solidFill>
            <a:prstDash val="solid"/>
            <a:headEnd type="none" w="med" len="med"/>
            <a:tailEnd type="none" w="med" len="med"/>
          </a:ln>
        </p:spPr>
      </p:cxnSp>
      <p:sp>
        <p:nvSpPr>
          <p:cNvPr id="103450" name="Oval 26"/>
          <p:cNvSpPr/>
          <p:nvPr/>
        </p:nvSpPr>
        <p:spPr>
          <a:xfrm>
            <a:off x="6019800" y="17526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b" anchorCtr="0"/>
          <a:p>
            <a:r>
              <a:rPr lang="en-US" altLang="zh-CN" sz="1800" i="1" dirty="0">
                <a:latin typeface="Times New Roman" panose="02020603050405020304" pitchFamily="18" charset="0"/>
                <a:ea typeface="SimSun" panose="02010600030101010101" pitchFamily="2" charset="-122"/>
              </a:rPr>
              <a:t>n</a:t>
            </a:r>
            <a:r>
              <a:rPr lang="en-US" altLang="zh-CN" sz="1800" baseline="-25000" dirty="0">
                <a:latin typeface="Times New Roman" panose="02020603050405020304" pitchFamily="18" charset="0"/>
                <a:ea typeface="SimSun" panose="02010600030101010101" pitchFamily="2" charset="-122"/>
              </a:rPr>
              <a:t>3</a:t>
            </a:r>
            <a:endParaRPr lang="en-US" altLang="zh-CN" sz="1800" baseline="-25000" dirty="0">
              <a:latin typeface="Times New Roman" panose="02020603050405020304" pitchFamily="18" charset="0"/>
              <a:ea typeface="SimSun" panose="02010600030101010101" pitchFamily="2" charset="-122"/>
            </a:endParaRPr>
          </a:p>
        </p:txBody>
      </p:sp>
      <p:sp>
        <p:nvSpPr>
          <p:cNvPr id="103451" name="Oval 27"/>
          <p:cNvSpPr/>
          <p:nvPr/>
        </p:nvSpPr>
        <p:spPr>
          <a:xfrm>
            <a:off x="5715000" y="24384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103452" name="Oval 28"/>
          <p:cNvSpPr/>
          <p:nvPr/>
        </p:nvSpPr>
        <p:spPr>
          <a:xfrm>
            <a:off x="6324600" y="24384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cxnSp>
        <p:nvCxnSpPr>
          <p:cNvPr id="103453" name="AutoShape 29"/>
          <p:cNvCxnSpPr>
            <a:stCxn id="103450" idx="3"/>
            <a:endCxn id="103451" idx="0"/>
          </p:cNvCxnSpPr>
          <p:nvPr/>
        </p:nvCxnSpPr>
        <p:spPr>
          <a:xfrm flipH="1">
            <a:off x="5867400" y="2012950"/>
            <a:ext cx="196850" cy="425450"/>
          </a:xfrm>
          <a:prstGeom prst="straightConnector1">
            <a:avLst/>
          </a:prstGeom>
          <a:ln w="9525" cap="flat" cmpd="sng">
            <a:solidFill>
              <a:schemeClr val="tx1"/>
            </a:solidFill>
            <a:prstDash val="solid"/>
            <a:headEnd type="none" w="med" len="med"/>
            <a:tailEnd type="none" w="med" len="med"/>
          </a:ln>
        </p:spPr>
      </p:cxnSp>
      <p:cxnSp>
        <p:nvCxnSpPr>
          <p:cNvPr id="103454" name="AutoShape 30"/>
          <p:cNvCxnSpPr>
            <a:stCxn id="103450" idx="5"/>
            <a:endCxn id="103452" idx="0"/>
          </p:cNvCxnSpPr>
          <p:nvPr/>
        </p:nvCxnSpPr>
        <p:spPr>
          <a:xfrm>
            <a:off x="6280150" y="2012950"/>
            <a:ext cx="196850" cy="425450"/>
          </a:xfrm>
          <a:prstGeom prst="straightConnector1">
            <a:avLst/>
          </a:prstGeom>
          <a:ln w="9525" cap="flat" cmpd="sng">
            <a:solidFill>
              <a:schemeClr val="tx1"/>
            </a:solidFill>
            <a:prstDash val="solid"/>
            <a:headEnd type="none" w="med" len="med"/>
            <a:tailEnd type="none" w="med" len="med"/>
          </a:ln>
        </p:spPr>
      </p:cxnSp>
      <p:cxnSp>
        <p:nvCxnSpPr>
          <p:cNvPr id="103455" name="AutoShape 31"/>
          <p:cNvCxnSpPr>
            <a:stCxn id="103451" idx="3"/>
            <a:endCxn id="103470" idx="0"/>
          </p:cNvCxnSpPr>
          <p:nvPr/>
        </p:nvCxnSpPr>
        <p:spPr>
          <a:xfrm flipH="1">
            <a:off x="5715000" y="2698750"/>
            <a:ext cx="44450" cy="349250"/>
          </a:xfrm>
          <a:prstGeom prst="straightConnector1">
            <a:avLst/>
          </a:prstGeom>
          <a:ln w="9525" cap="flat" cmpd="sng">
            <a:solidFill>
              <a:schemeClr val="tx1"/>
            </a:solidFill>
            <a:prstDash val="solid"/>
            <a:headEnd type="none" w="med" len="med"/>
            <a:tailEnd type="none" w="med" len="med"/>
          </a:ln>
        </p:spPr>
      </p:cxnSp>
      <p:cxnSp>
        <p:nvCxnSpPr>
          <p:cNvPr id="103456" name="AutoShape 32"/>
          <p:cNvCxnSpPr>
            <a:stCxn id="103451" idx="5"/>
            <a:endCxn id="103472" idx="0"/>
          </p:cNvCxnSpPr>
          <p:nvPr/>
        </p:nvCxnSpPr>
        <p:spPr>
          <a:xfrm>
            <a:off x="5975350" y="2698750"/>
            <a:ext cx="44450" cy="349250"/>
          </a:xfrm>
          <a:prstGeom prst="straightConnector1">
            <a:avLst/>
          </a:prstGeom>
          <a:ln w="9525" cap="flat" cmpd="sng">
            <a:solidFill>
              <a:schemeClr val="tx1"/>
            </a:solidFill>
            <a:prstDash val="solid"/>
            <a:headEnd type="none" w="med" len="med"/>
            <a:tailEnd type="none" w="med" len="med"/>
          </a:ln>
        </p:spPr>
      </p:cxnSp>
      <p:cxnSp>
        <p:nvCxnSpPr>
          <p:cNvPr id="103457" name="AutoShape 33"/>
          <p:cNvCxnSpPr>
            <a:stCxn id="103452" idx="3"/>
            <a:endCxn id="103473" idx="0"/>
          </p:cNvCxnSpPr>
          <p:nvPr/>
        </p:nvCxnSpPr>
        <p:spPr>
          <a:xfrm flipH="1">
            <a:off x="6324600" y="2698750"/>
            <a:ext cx="44450" cy="349250"/>
          </a:xfrm>
          <a:prstGeom prst="straightConnector1">
            <a:avLst/>
          </a:prstGeom>
          <a:ln w="9525" cap="flat" cmpd="sng">
            <a:solidFill>
              <a:schemeClr val="tx1"/>
            </a:solidFill>
            <a:prstDash val="solid"/>
            <a:headEnd type="none" w="med" len="med"/>
            <a:tailEnd type="none" w="med" len="med"/>
          </a:ln>
        </p:spPr>
      </p:cxnSp>
      <p:cxnSp>
        <p:nvCxnSpPr>
          <p:cNvPr id="103458" name="AutoShape 34"/>
          <p:cNvCxnSpPr>
            <a:stCxn id="103452" idx="5"/>
            <a:endCxn id="103474" idx="0"/>
          </p:cNvCxnSpPr>
          <p:nvPr/>
        </p:nvCxnSpPr>
        <p:spPr>
          <a:xfrm>
            <a:off x="6584950" y="2698750"/>
            <a:ext cx="44450" cy="349250"/>
          </a:xfrm>
          <a:prstGeom prst="straightConnector1">
            <a:avLst/>
          </a:prstGeom>
          <a:ln w="9525" cap="flat" cmpd="sng">
            <a:solidFill>
              <a:schemeClr val="tx1"/>
            </a:solidFill>
            <a:prstDash val="solid"/>
            <a:headEnd type="none" w="med" len="med"/>
            <a:tailEnd type="none" w="med" len="med"/>
          </a:ln>
        </p:spPr>
      </p:cxnSp>
      <p:cxnSp>
        <p:nvCxnSpPr>
          <p:cNvPr id="103459" name="AutoShape 35"/>
          <p:cNvCxnSpPr>
            <a:stCxn id="103451" idx="4"/>
            <a:endCxn id="103471" idx="0"/>
          </p:cNvCxnSpPr>
          <p:nvPr/>
        </p:nvCxnSpPr>
        <p:spPr>
          <a:xfrm>
            <a:off x="5867400" y="2743200"/>
            <a:ext cx="0" cy="304800"/>
          </a:xfrm>
          <a:prstGeom prst="straightConnector1">
            <a:avLst/>
          </a:prstGeom>
          <a:ln w="9525" cap="flat" cmpd="sng">
            <a:solidFill>
              <a:schemeClr val="tx1"/>
            </a:solidFill>
            <a:prstDash val="solid"/>
            <a:headEnd type="none" w="med" len="med"/>
            <a:tailEnd type="none" w="med" len="med"/>
          </a:ln>
        </p:spPr>
      </p:cxnSp>
      <p:cxnSp>
        <p:nvCxnSpPr>
          <p:cNvPr id="103460" name="AutoShape 36"/>
          <p:cNvCxnSpPr>
            <a:stCxn id="103428" idx="5"/>
            <a:endCxn id="103450" idx="0"/>
          </p:cNvCxnSpPr>
          <p:nvPr/>
        </p:nvCxnSpPr>
        <p:spPr>
          <a:xfrm>
            <a:off x="4679950" y="1174750"/>
            <a:ext cx="1492250" cy="577850"/>
          </a:xfrm>
          <a:prstGeom prst="straightConnector1">
            <a:avLst/>
          </a:prstGeom>
          <a:ln w="9525" cap="flat" cmpd="sng">
            <a:solidFill>
              <a:schemeClr val="tx1"/>
            </a:solidFill>
            <a:prstDash val="solid"/>
            <a:headEnd type="none" w="med" len="med"/>
            <a:tailEnd type="none" w="med" len="med"/>
          </a:ln>
        </p:spPr>
      </p:cxnSp>
      <p:sp>
        <p:nvSpPr>
          <p:cNvPr id="103461" name="Oval 37"/>
          <p:cNvSpPr/>
          <p:nvPr/>
        </p:nvSpPr>
        <p:spPr>
          <a:xfrm>
            <a:off x="2819400" y="3048000"/>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sz="1400" dirty="0">
              <a:latin typeface="Arial" panose="020B0604020202020204" pitchFamily="34" charset="0"/>
              <a:ea typeface="SimSun" panose="02010600030101010101" pitchFamily="2" charset="-122"/>
            </a:endParaRPr>
          </a:p>
        </p:txBody>
      </p:sp>
      <p:sp>
        <p:nvSpPr>
          <p:cNvPr id="103462" name="Oval 38"/>
          <p:cNvSpPr/>
          <p:nvPr/>
        </p:nvSpPr>
        <p:spPr>
          <a:xfrm>
            <a:off x="2971800" y="3048000"/>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103463" name="Oval 39"/>
          <p:cNvSpPr/>
          <p:nvPr/>
        </p:nvSpPr>
        <p:spPr>
          <a:xfrm>
            <a:off x="3429000" y="3048000"/>
            <a:ext cx="152400" cy="152400"/>
          </a:xfrm>
          <a:prstGeom prst="ellipse">
            <a:avLst/>
          </a:prstGeom>
          <a:solidFill>
            <a:srgbClr val="C0C0C0"/>
          </a:solidFill>
          <a:ln w="254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103464" name="Oval 40"/>
          <p:cNvSpPr/>
          <p:nvPr/>
        </p:nvSpPr>
        <p:spPr>
          <a:xfrm>
            <a:off x="3733800" y="3048000"/>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sz="1600" dirty="0">
              <a:latin typeface="Arial" panose="020B0604020202020204" pitchFamily="34" charset="0"/>
              <a:ea typeface="SimSun" panose="02010600030101010101" pitchFamily="2" charset="-122"/>
            </a:endParaRPr>
          </a:p>
        </p:txBody>
      </p:sp>
      <p:sp>
        <p:nvSpPr>
          <p:cNvPr id="103465" name="Oval 41"/>
          <p:cNvSpPr/>
          <p:nvPr/>
        </p:nvSpPr>
        <p:spPr>
          <a:xfrm>
            <a:off x="4191000" y="3048000"/>
            <a:ext cx="152400" cy="152400"/>
          </a:xfrm>
          <a:prstGeom prst="ellipse">
            <a:avLst/>
          </a:prstGeom>
          <a:solidFill>
            <a:srgbClr val="C0C0C0"/>
          </a:solidFill>
          <a:ln w="254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103466" name="Oval 42"/>
          <p:cNvSpPr/>
          <p:nvPr/>
        </p:nvSpPr>
        <p:spPr>
          <a:xfrm>
            <a:off x="4343400" y="3048000"/>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103467" name="Oval 43"/>
          <p:cNvSpPr/>
          <p:nvPr/>
        </p:nvSpPr>
        <p:spPr>
          <a:xfrm>
            <a:off x="4495800" y="3048000"/>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103468" name="Oval 44"/>
          <p:cNvSpPr/>
          <p:nvPr/>
        </p:nvSpPr>
        <p:spPr>
          <a:xfrm>
            <a:off x="5105400" y="3048000"/>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103469" name="Oval 45"/>
          <p:cNvSpPr/>
          <p:nvPr/>
        </p:nvSpPr>
        <p:spPr>
          <a:xfrm>
            <a:off x="5410200" y="3048000"/>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103470" name="Oval 46"/>
          <p:cNvSpPr/>
          <p:nvPr/>
        </p:nvSpPr>
        <p:spPr>
          <a:xfrm>
            <a:off x="5638800" y="3048000"/>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103471" name="Oval 47"/>
          <p:cNvSpPr/>
          <p:nvPr/>
        </p:nvSpPr>
        <p:spPr>
          <a:xfrm>
            <a:off x="5791200" y="3048000"/>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103472" name="Oval 48"/>
          <p:cNvSpPr/>
          <p:nvPr/>
        </p:nvSpPr>
        <p:spPr>
          <a:xfrm>
            <a:off x="5943600" y="3048000"/>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103473" name="Oval 49"/>
          <p:cNvSpPr/>
          <p:nvPr/>
        </p:nvSpPr>
        <p:spPr>
          <a:xfrm>
            <a:off x="6248400" y="3048000"/>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103474" name="Oval 50"/>
          <p:cNvSpPr/>
          <p:nvPr/>
        </p:nvSpPr>
        <p:spPr>
          <a:xfrm>
            <a:off x="6553200" y="3048000"/>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cxnSp>
        <p:nvCxnSpPr>
          <p:cNvPr id="103475" name="AutoShape 51"/>
          <p:cNvCxnSpPr>
            <a:stCxn id="103452" idx="4"/>
            <a:endCxn id="103476" idx="0"/>
          </p:cNvCxnSpPr>
          <p:nvPr/>
        </p:nvCxnSpPr>
        <p:spPr>
          <a:xfrm>
            <a:off x="6477000" y="2743200"/>
            <a:ext cx="0" cy="304800"/>
          </a:xfrm>
          <a:prstGeom prst="straightConnector1">
            <a:avLst/>
          </a:prstGeom>
          <a:ln w="9525" cap="flat" cmpd="sng">
            <a:solidFill>
              <a:schemeClr val="tx1"/>
            </a:solidFill>
            <a:prstDash val="solid"/>
            <a:headEnd type="none" w="med" len="med"/>
            <a:tailEnd type="none" w="med" len="med"/>
          </a:ln>
        </p:spPr>
      </p:cxnSp>
      <p:sp>
        <p:nvSpPr>
          <p:cNvPr id="103476" name="Oval 52"/>
          <p:cNvSpPr/>
          <p:nvPr/>
        </p:nvSpPr>
        <p:spPr>
          <a:xfrm>
            <a:off x="6400800" y="3048000"/>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cxnSp>
        <p:nvCxnSpPr>
          <p:cNvPr id="103477" name="AutoShape 53"/>
          <p:cNvCxnSpPr>
            <a:stCxn id="103434" idx="4"/>
            <a:endCxn id="103478" idx="0"/>
          </p:cNvCxnSpPr>
          <p:nvPr/>
        </p:nvCxnSpPr>
        <p:spPr>
          <a:xfrm>
            <a:off x="5334000" y="2743200"/>
            <a:ext cx="0" cy="304800"/>
          </a:xfrm>
          <a:prstGeom prst="straightConnector1">
            <a:avLst/>
          </a:prstGeom>
          <a:ln w="9525" cap="flat" cmpd="sng">
            <a:solidFill>
              <a:schemeClr val="tx1"/>
            </a:solidFill>
            <a:prstDash val="solid"/>
            <a:headEnd type="none" w="med" len="med"/>
            <a:tailEnd type="none" w="med" len="med"/>
          </a:ln>
        </p:spPr>
      </p:cxnSp>
      <p:sp>
        <p:nvSpPr>
          <p:cNvPr id="103478" name="Oval 54"/>
          <p:cNvSpPr/>
          <p:nvPr/>
        </p:nvSpPr>
        <p:spPr>
          <a:xfrm>
            <a:off x="5257800" y="3048000"/>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cxnSp>
        <p:nvCxnSpPr>
          <p:cNvPr id="103479" name="AutoShape 55"/>
          <p:cNvCxnSpPr>
            <a:stCxn id="103432" idx="4"/>
            <a:endCxn id="103480" idx="0"/>
          </p:cNvCxnSpPr>
          <p:nvPr/>
        </p:nvCxnSpPr>
        <p:spPr>
          <a:xfrm>
            <a:off x="3657600" y="2743200"/>
            <a:ext cx="0" cy="304800"/>
          </a:xfrm>
          <a:prstGeom prst="straightConnector1">
            <a:avLst/>
          </a:prstGeom>
          <a:ln w="9525" cap="flat" cmpd="sng">
            <a:solidFill>
              <a:schemeClr val="tx1"/>
            </a:solidFill>
            <a:prstDash val="solid"/>
            <a:headEnd type="none" w="med" len="med"/>
            <a:tailEnd type="none" w="med" len="med"/>
          </a:ln>
        </p:spPr>
      </p:cxnSp>
      <p:sp>
        <p:nvSpPr>
          <p:cNvPr id="103480" name="Oval 56"/>
          <p:cNvSpPr/>
          <p:nvPr/>
        </p:nvSpPr>
        <p:spPr>
          <a:xfrm>
            <a:off x="3581400" y="3048000"/>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103481" name="Oval 57"/>
          <p:cNvSpPr/>
          <p:nvPr/>
        </p:nvSpPr>
        <p:spPr>
          <a:xfrm>
            <a:off x="4724400" y="2438400"/>
            <a:ext cx="304800" cy="3048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cxnSp>
        <p:nvCxnSpPr>
          <p:cNvPr id="103482" name="AutoShape 58"/>
          <p:cNvCxnSpPr>
            <a:stCxn id="103481" idx="3"/>
            <a:endCxn id="103484" idx="0"/>
          </p:cNvCxnSpPr>
          <p:nvPr/>
        </p:nvCxnSpPr>
        <p:spPr>
          <a:xfrm flipH="1">
            <a:off x="4724400" y="2698750"/>
            <a:ext cx="44450" cy="349250"/>
          </a:xfrm>
          <a:prstGeom prst="straightConnector1">
            <a:avLst/>
          </a:prstGeom>
          <a:ln w="9525" cap="flat" cmpd="sng">
            <a:solidFill>
              <a:schemeClr val="tx1"/>
            </a:solidFill>
            <a:prstDash val="solid"/>
            <a:headEnd type="none" w="med" len="med"/>
            <a:tailEnd type="none" w="med" len="med"/>
          </a:ln>
        </p:spPr>
      </p:cxnSp>
      <p:cxnSp>
        <p:nvCxnSpPr>
          <p:cNvPr id="103483" name="AutoShape 59"/>
          <p:cNvCxnSpPr>
            <a:stCxn id="103481" idx="5"/>
            <a:endCxn id="103485" idx="0"/>
          </p:cNvCxnSpPr>
          <p:nvPr/>
        </p:nvCxnSpPr>
        <p:spPr>
          <a:xfrm>
            <a:off x="4984750" y="2698750"/>
            <a:ext cx="44450" cy="349250"/>
          </a:xfrm>
          <a:prstGeom prst="straightConnector1">
            <a:avLst/>
          </a:prstGeom>
          <a:ln w="9525" cap="flat" cmpd="sng">
            <a:solidFill>
              <a:schemeClr val="tx1"/>
            </a:solidFill>
            <a:prstDash val="solid"/>
            <a:headEnd type="none" w="med" len="med"/>
            <a:tailEnd type="none" w="med" len="med"/>
          </a:ln>
        </p:spPr>
      </p:cxnSp>
      <p:sp>
        <p:nvSpPr>
          <p:cNvPr id="103484" name="Oval 60"/>
          <p:cNvSpPr/>
          <p:nvPr/>
        </p:nvSpPr>
        <p:spPr>
          <a:xfrm>
            <a:off x="4648200" y="3048000"/>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103485" name="Oval 61"/>
          <p:cNvSpPr/>
          <p:nvPr/>
        </p:nvSpPr>
        <p:spPr>
          <a:xfrm>
            <a:off x="4953000" y="3048000"/>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cxnSp>
        <p:nvCxnSpPr>
          <p:cNvPr id="103486" name="AutoShape 62"/>
          <p:cNvCxnSpPr>
            <a:stCxn id="103481" idx="4"/>
            <a:endCxn id="103487" idx="0"/>
          </p:cNvCxnSpPr>
          <p:nvPr/>
        </p:nvCxnSpPr>
        <p:spPr>
          <a:xfrm>
            <a:off x="4876800" y="2743200"/>
            <a:ext cx="0" cy="304800"/>
          </a:xfrm>
          <a:prstGeom prst="straightConnector1">
            <a:avLst/>
          </a:prstGeom>
          <a:ln w="9525" cap="flat" cmpd="sng">
            <a:solidFill>
              <a:schemeClr val="tx1"/>
            </a:solidFill>
            <a:prstDash val="solid"/>
            <a:headEnd type="none" w="med" len="med"/>
            <a:tailEnd type="none" w="med" len="med"/>
          </a:ln>
        </p:spPr>
      </p:cxnSp>
      <p:sp>
        <p:nvSpPr>
          <p:cNvPr id="103487" name="Oval 63"/>
          <p:cNvSpPr/>
          <p:nvPr/>
        </p:nvSpPr>
        <p:spPr>
          <a:xfrm>
            <a:off x="4800600" y="3048000"/>
            <a:ext cx="152400" cy="152400"/>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cxnSp>
        <p:nvCxnSpPr>
          <p:cNvPr id="103488" name="AutoShape 64"/>
          <p:cNvCxnSpPr>
            <a:stCxn id="103430" idx="4"/>
            <a:endCxn id="103481" idx="0"/>
          </p:cNvCxnSpPr>
          <p:nvPr/>
        </p:nvCxnSpPr>
        <p:spPr>
          <a:xfrm>
            <a:off x="4876800" y="2057400"/>
            <a:ext cx="0" cy="381000"/>
          </a:xfrm>
          <a:prstGeom prst="straightConnector1">
            <a:avLst/>
          </a:prstGeom>
          <a:ln w="9525" cap="flat" cmpd="sng">
            <a:solidFill>
              <a:schemeClr val="tx1"/>
            </a:solidFill>
            <a:prstDash val="solid"/>
            <a:headEnd type="none" w="med" len="med"/>
            <a:tailEnd type="none" w="med" len="med"/>
          </a:ln>
        </p:spPr>
      </p:cxnSp>
      <p:grpSp>
        <p:nvGrpSpPr>
          <p:cNvPr id="103489" name="Group 65"/>
          <p:cNvGrpSpPr/>
          <p:nvPr/>
        </p:nvGrpSpPr>
        <p:grpSpPr>
          <a:xfrm>
            <a:off x="2514600" y="2698750"/>
            <a:ext cx="381000" cy="792163"/>
            <a:chOff x="1584" y="1700"/>
            <a:chExt cx="240" cy="499"/>
          </a:xfrm>
        </p:grpSpPr>
        <p:cxnSp>
          <p:nvCxnSpPr>
            <p:cNvPr id="103502" name="AutoShape 66"/>
            <p:cNvCxnSpPr>
              <a:stCxn id="103431" idx="3"/>
              <a:endCxn id="103503" idx="0"/>
            </p:cNvCxnSpPr>
            <p:nvPr/>
          </p:nvCxnSpPr>
          <p:spPr>
            <a:xfrm flipH="1">
              <a:off x="1728" y="1700"/>
              <a:ext cx="28" cy="212"/>
            </a:xfrm>
            <a:prstGeom prst="straightConnector1">
              <a:avLst/>
            </a:prstGeom>
            <a:ln w="9525" cap="flat" cmpd="sng">
              <a:solidFill>
                <a:schemeClr val="tx1"/>
              </a:solidFill>
              <a:prstDash val="solid"/>
              <a:headEnd type="none" w="med" len="med"/>
              <a:tailEnd type="none" w="med" len="med"/>
            </a:ln>
          </p:spPr>
        </p:cxnSp>
        <p:sp>
          <p:nvSpPr>
            <p:cNvPr id="103503" name="Oval 67"/>
            <p:cNvSpPr/>
            <p:nvPr/>
          </p:nvSpPr>
          <p:spPr>
            <a:xfrm>
              <a:off x="1680" y="1920"/>
              <a:ext cx="96" cy="96"/>
            </a:xfrm>
            <a:prstGeom prst="ellipse">
              <a:avLst/>
            </a:prstGeom>
            <a:solidFill>
              <a:srgbClr val="C0C0C0"/>
            </a:solidFill>
            <a:ln w="25400" cap="flat" cmpd="sng">
              <a:solidFill>
                <a:schemeClr val="tx1"/>
              </a:solidFill>
              <a:prstDash val="solid"/>
              <a:headEnd type="none" w="med" len="med"/>
              <a:tailEnd type="none" w="med" len="med"/>
            </a:ln>
          </p:spPr>
          <p:txBody>
            <a:bodyPr wrap="none" anchor="ctr" anchorCtr="0"/>
            <a:p>
              <a:endParaRPr sz="1600" dirty="0">
                <a:latin typeface="Arial" panose="020B0604020202020204" pitchFamily="34" charset="0"/>
                <a:ea typeface="SimSun" panose="02010600030101010101" pitchFamily="2" charset="-122"/>
              </a:endParaRPr>
            </a:p>
          </p:txBody>
        </p:sp>
        <p:sp>
          <p:nvSpPr>
            <p:cNvPr id="103504" name="Text Box 68"/>
            <p:cNvSpPr txBox="1"/>
            <p:nvPr/>
          </p:nvSpPr>
          <p:spPr>
            <a:xfrm>
              <a:off x="1584" y="1968"/>
              <a:ext cx="240" cy="231"/>
            </a:xfrm>
            <a:prstGeom prst="rect">
              <a:avLst/>
            </a:prstGeom>
            <a:noFill/>
            <a:ln w="9525">
              <a:noFill/>
            </a:ln>
          </p:spPr>
          <p:txBody>
            <a:bodyPr>
              <a:spAutoFit/>
            </a:bodyPr>
            <a:p>
              <a:pPr algn="l">
                <a:spcBef>
                  <a:spcPct val="50000"/>
                </a:spcBef>
              </a:pPr>
              <a:r>
                <a:rPr lang="en-US" altLang="zh-CN" sz="1800" i="1" dirty="0">
                  <a:latin typeface="Times New Roman" panose="02020603050405020304" pitchFamily="18" charset="0"/>
                  <a:ea typeface="SimSun" panose="02010600030101010101" pitchFamily="2" charset="-122"/>
                </a:rPr>
                <a:t>n</a:t>
              </a:r>
              <a:r>
                <a:rPr lang="en-US" altLang="zh-CN" sz="1800" baseline="-25000" dirty="0">
                  <a:latin typeface="Times New Roman" panose="02020603050405020304" pitchFamily="18" charset="0"/>
                  <a:ea typeface="SimSun" panose="02010600030101010101" pitchFamily="2" charset="-122"/>
                </a:rPr>
                <a:t>7</a:t>
              </a:r>
              <a:endParaRPr lang="en-US" altLang="zh-CN" sz="1800" baseline="-25000" dirty="0">
                <a:latin typeface="Times New Roman" panose="02020603050405020304" pitchFamily="18" charset="0"/>
                <a:ea typeface="SimSun" panose="02010600030101010101" pitchFamily="2" charset="-122"/>
              </a:endParaRPr>
            </a:p>
          </p:txBody>
        </p:sp>
      </p:grpSp>
      <p:sp>
        <p:nvSpPr>
          <p:cNvPr id="103490" name="Text Box 69"/>
          <p:cNvSpPr txBox="1"/>
          <p:nvPr/>
        </p:nvSpPr>
        <p:spPr>
          <a:xfrm>
            <a:off x="4114800" y="3124200"/>
            <a:ext cx="381000" cy="366713"/>
          </a:xfrm>
          <a:prstGeom prst="rect">
            <a:avLst/>
          </a:prstGeom>
          <a:noFill/>
          <a:ln w="9525">
            <a:noFill/>
          </a:ln>
        </p:spPr>
        <p:txBody>
          <a:bodyPr>
            <a:spAutoFit/>
          </a:bodyPr>
          <a:p>
            <a:pPr algn="l">
              <a:spcBef>
                <a:spcPct val="50000"/>
              </a:spcBef>
            </a:pPr>
            <a:r>
              <a:rPr lang="en-US" altLang="zh-CN" sz="1800" i="1" dirty="0">
                <a:latin typeface="Times New Roman" panose="02020603050405020304" pitchFamily="18" charset="0"/>
                <a:ea typeface="SimSun" panose="02010600030101010101" pitchFamily="2" charset="-122"/>
              </a:rPr>
              <a:t>n</a:t>
            </a:r>
            <a:r>
              <a:rPr lang="en-US" altLang="zh-CN" sz="1800" baseline="-25000" dirty="0">
                <a:latin typeface="Times New Roman" panose="02020603050405020304" pitchFamily="18" charset="0"/>
                <a:ea typeface="SimSun" panose="02010600030101010101" pitchFamily="2" charset="-122"/>
              </a:rPr>
              <a:t>9</a:t>
            </a:r>
            <a:endParaRPr lang="en-US" altLang="zh-CN" sz="1800" baseline="-25000" dirty="0">
              <a:latin typeface="Times New Roman" panose="02020603050405020304" pitchFamily="18" charset="0"/>
              <a:ea typeface="SimSun" panose="02010600030101010101" pitchFamily="2" charset="-122"/>
            </a:endParaRPr>
          </a:p>
        </p:txBody>
      </p:sp>
      <p:sp>
        <p:nvSpPr>
          <p:cNvPr id="103491" name="Text Box 70"/>
          <p:cNvSpPr txBox="1"/>
          <p:nvPr/>
        </p:nvSpPr>
        <p:spPr>
          <a:xfrm>
            <a:off x="3352800" y="3124200"/>
            <a:ext cx="381000" cy="366713"/>
          </a:xfrm>
          <a:prstGeom prst="rect">
            <a:avLst/>
          </a:prstGeom>
          <a:noFill/>
          <a:ln w="9525">
            <a:noFill/>
          </a:ln>
        </p:spPr>
        <p:txBody>
          <a:bodyPr>
            <a:spAutoFit/>
          </a:bodyPr>
          <a:p>
            <a:pPr algn="l">
              <a:spcBef>
                <a:spcPct val="50000"/>
              </a:spcBef>
            </a:pPr>
            <a:r>
              <a:rPr lang="en-US" altLang="zh-CN" sz="1800" i="1" dirty="0">
                <a:latin typeface="Times New Roman" panose="02020603050405020304" pitchFamily="18" charset="0"/>
                <a:ea typeface="SimSun" panose="02010600030101010101" pitchFamily="2" charset="-122"/>
              </a:rPr>
              <a:t>n</a:t>
            </a:r>
            <a:r>
              <a:rPr lang="en-US" altLang="zh-CN" sz="1800" baseline="-25000" dirty="0">
                <a:latin typeface="Times New Roman" panose="02020603050405020304" pitchFamily="18" charset="0"/>
                <a:ea typeface="SimSun" panose="02010600030101010101" pitchFamily="2" charset="-122"/>
              </a:rPr>
              <a:t>8</a:t>
            </a:r>
            <a:endParaRPr lang="en-US" altLang="zh-CN" sz="1800" baseline="-25000" dirty="0">
              <a:latin typeface="Times New Roman" panose="02020603050405020304" pitchFamily="18" charset="0"/>
              <a:ea typeface="SimSun" panose="02010600030101010101" pitchFamily="2" charset="-122"/>
            </a:endParaRPr>
          </a:p>
        </p:txBody>
      </p:sp>
      <p:grpSp>
        <p:nvGrpSpPr>
          <p:cNvPr id="103492" name="Group 71"/>
          <p:cNvGrpSpPr/>
          <p:nvPr/>
        </p:nvGrpSpPr>
        <p:grpSpPr>
          <a:xfrm>
            <a:off x="1981200" y="2117725"/>
            <a:ext cx="1600200" cy="1073150"/>
            <a:chOff x="1248" y="1334"/>
            <a:chExt cx="1008" cy="676"/>
          </a:xfrm>
        </p:grpSpPr>
        <p:cxnSp>
          <p:nvCxnSpPr>
            <p:cNvPr id="103498" name="AutoShape 72"/>
            <p:cNvCxnSpPr>
              <a:stCxn id="103503" idx="2"/>
              <a:endCxn id="103431" idx="2"/>
            </p:cNvCxnSpPr>
            <p:nvPr/>
          </p:nvCxnSpPr>
          <p:spPr>
            <a:xfrm rot="-10800000" flipH="1">
              <a:off x="1672" y="1632"/>
              <a:ext cx="56" cy="336"/>
            </a:xfrm>
            <a:prstGeom prst="curvedConnector3">
              <a:avLst>
                <a:gd name="adj1" fmla="val -242856"/>
              </a:avLst>
            </a:prstGeom>
            <a:ln w="9525" cap="flat" cmpd="sng">
              <a:solidFill>
                <a:schemeClr val="tx1"/>
              </a:solidFill>
              <a:prstDash val="solid"/>
              <a:headEnd type="none" w="med" len="med"/>
              <a:tailEnd type="none" w="med" len="med"/>
            </a:ln>
          </p:spPr>
        </p:cxnSp>
        <p:cxnSp>
          <p:nvCxnSpPr>
            <p:cNvPr id="103499" name="AutoShape 73"/>
            <p:cNvCxnSpPr>
              <a:stCxn id="103503" idx="3"/>
              <a:endCxn id="103432" idx="1"/>
            </p:cNvCxnSpPr>
            <p:nvPr/>
          </p:nvCxnSpPr>
          <p:spPr>
            <a:xfrm rot="5400000" flipH="1" flipV="1">
              <a:off x="1742" y="1516"/>
              <a:ext cx="446" cy="542"/>
            </a:xfrm>
            <a:prstGeom prst="curvedConnector5">
              <a:avLst>
                <a:gd name="adj1" fmla="val -33634"/>
                <a:gd name="adj2" fmla="val 54981"/>
                <a:gd name="adj3" fmla="val 107620"/>
              </a:avLst>
            </a:prstGeom>
            <a:ln w="9525" cap="flat" cmpd="sng">
              <a:solidFill>
                <a:schemeClr val="tx1"/>
              </a:solidFill>
              <a:prstDash val="solid"/>
              <a:headEnd type="none" w="med" len="med"/>
              <a:tailEnd type="none" w="med" len="med"/>
            </a:ln>
          </p:spPr>
        </p:cxnSp>
        <p:sp>
          <p:nvSpPr>
            <p:cNvPr id="103500" name="Text Box 74"/>
            <p:cNvSpPr txBox="1"/>
            <p:nvPr/>
          </p:nvSpPr>
          <p:spPr>
            <a:xfrm>
              <a:off x="1248" y="1536"/>
              <a:ext cx="384" cy="250"/>
            </a:xfrm>
            <a:prstGeom prst="rect">
              <a:avLst/>
            </a:prstGeom>
            <a:noFill/>
            <a:ln w="9525">
              <a:noFill/>
            </a:ln>
          </p:spPr>
          <p:txBody>
            <a:bodyPr>
              <a:spAutoFit/>
            </a:bodyPr>
            <a:p>
              <a:pPr>
                <a:spcBef>
                  <a:spcPct val="50000"/>
                </a:spcBef>
              </a:pPr>
              <a:r>
                <a:rPr lang="en-US" altLang="zh-CN" sz="2000" dirty="0">
                  <a:latin typeface="Times New Roman" panose="02020603050405020304" pitchFamily="18" charset="0"/>
                  <a:ea typeface="SimSun" panose="02010600030101010101" pitchFamily="2" charset="-122"/>
                </a:rPr>
                <a:t>0.8</a:t>
              </a:r>
              <a:endParaRPr lang="en-US" altLang="zh-CN" sz="2000" dirty="0">
                <a:latin typeface="Times New Roman" panose="02020603050405020304" pitchFamily="18" charset="0"/>
                <a:ea typeface="SimSun" panose="02010600030101010101" pitchFamily="2" charset="-122"/>
              </a:endParaRPr>
            </a:p>
          </p:txBody>
        </p:sp>
        <p:sp>
          <p:nvSpPr>
            <p:cNvPr id="103501" name="Text Box 75"/>
            <p:cNvSpPr txBox="1"/>
            <p:nvPr/>
          </p:nvSpPr>
          <p:spPr>
            <a:xfrm>
              <a:off x="1872" y="1334"/>
              <a:ext cx="384" cy="250"/>
            </a:xfrm>
            <a:prstGeom prst="rect">
              <a:avLst/>
            </a:prstGeom>
            <a:noFill/>
            <a:ln w="9525">
              <a:noFill/>
            </a:ln>
          </p:spPr>
          <p:txBody>
            <a:bodyPr>
              <a:spAutoFit/>
            </a:bodyPr>
            <a:p>
              <a:pPr>
                <a:spcBef>
                  <a:spcPct val="50000"/>
                </a:spcBef>
              </a:pPr>
              <a:r>
                <a:rPr lang="en-US" altLang="zh-CN" sz="2000" dirty="0">
                  <a:latin typeface="Times New Roman" panose="02020603050405020304" pitchFamily="18" charset="0"/>
                  <a:ea typeface="SimSun" panose="02010600030101010101" pitchFamily="2" charset="-122"/>
                </a:rPr>
                <a:t>0.9</a:t>
              </a:r>
              <a:endParaRPr lang="en-US" altLang="zh-CN" sz="2000" dirty="0">
                <a:latin typeface="Times New Roman" panose="02020603050405020304" pitchFamily="18" charset="0"/>
                <a:ea typeface="SimSun" panose="02010600030101010101" pitchFamily="2" charset="-122"/>
              </a:endParaRPr>
            </a:p>
          </p:txBody>
        </p:sp>
      </p:grpSp>
      <p:grpSp>
        <p:nvGrpSpPr>
          <p:cNvPr id="103493" name="Group 76"/>
          <p:cNvGrpSpPr/>
          <p:nvPr/>
        </p:nvGrpSpPr>
        <p:grpSpPr>
          <a:xfrm>
            <a:off x="3124200" y="2698750"/>
            <a:ext cx="425450" cy="792163"/>
            <a:chOff x="1968" y="1700"/>
            <a:chExt cx="268" cy="499"/>
          </a:xfrm>
        </p:grpSpPr>
        <p:cxnSp>
          <p:nvCxnSpPr>
            <p:cNvPr id="103495" name="AutoShape 77"/>
            <p:cNvCxnSpPr>
              <a:stCxn id="103432" idx="3"/>
              <a:endCxn id="103496" idx="0"/>
            </p:cNvCxnSpPr>
            <p:nvPr/>
          </p:nvCxnSpPr>
          <p:spPr>
            <a:xfrm flipH="1">
              <a:off x="2112" y="1700"/>
              <a:ext cx="124" cy="212"/>
            </a:xfrm>
            <a:prstGeom prst="straightConnector1">
              <a:avLst/>
            </a:prstGeom>
            <a:ln w="9525" cap="flat" cmpd="sng">
              <a:solidFill>
                <a:schemeClr val="tx1"/>
              </a:solidFill>
              <a:prstDash val="solid"/>
              <a:headEnd type="none" w="med" len="med"/>
              <a:tailEnd type="none" w="med" len="med"/>
            </a:ln>
          </p:spPr>
        </p:cxnSp>
        <p:sp>
          <p:nvSpPr>
            <p:cNvPr id="103496" name="Oval 78"/>
            <p:cNvSpPr/>
            <p:nvPr/>
          </p:nvSpPr>
          <p:spPr>
            <a:xfrm>
              <a:off x="2064" y="1920"/>
              <a:ext cx="96" cy="96"/>
            </a:xfrm>
            <a:prstGeom prst="ellipse">
              <a:avLst/>
            </a:prstGeom>
            <a:solidFill>
              <a:srgbClr val="C0C0C0"/>
            </a:solidFill>
            <a:ln w="25400" cap="flat" cmpd="sng">
              <a:solidFill>
                <a:schemeClr val="tx1"/>
              </a:solidFill>
              <a:prstDash val="solid"/>
              <a:headEnd type="none" w="med" len="med"/>
              <a:tailEnd type="none" w="med" len="med"/>
            </a:ln>
          </p:spPr>
          <p:txBody>
            <a:bodyPr wrap="none" anchor="ctr" anchorCtr="0"/>
            <a:p>
              <a:endParaRPr dirty="0">
                <a:latin typeface="Tahoma" panose="020B0604030504040204" pitchFamily="34" charset="0"/>
              </a:endParaRPr>
            </a:p>
          </p:txBody>
        </p:sp>
        <p:sp>
          <p:nvSpPr>
            <p:cNvPr id="103497" name="Text Box 79"/>
            <p:cNvSpPr txBox="1"/>
            <p:nvPr/>
          </p:nvSpPr>
          <p:spPr>
            <a:xfrm>
              <a:off x="1968" y="1968"/>
              <a:ext cx="240" cy="231"/>
            </a:xfrm>
            <a:prstGeom prst="rect">
              <a:avLst/>
            </a:prstGeom>
            <a:noFill/>
            <a:ln w="9525">
              <a:noFill/>
            </a:ln>
          </p:spPr>
          <p:txBody>
            <a:bodyPr>
              <a:spAutoFit/>
            </a:bodyPr>
            <a:p>
              <a:pPr algn="l">
                <a:spcBef>
                  <a:spcPct val="50000"/>
                </a:spcBef>
              </a:pPr>
              <a:r>
                <a:rPr lang="en-US" altLang="zh-CN" sz="1800" i="1" dirty="0">
                  <a:latin typeface="Times New Roman" panose="02020603050405020304" pitchFamily="18" charset="0"/>
                  <a:ea typeface="SimSun" panose="02010600030101010101" pitchFamily="2" charset="-122"/>
                </a:rPr>
                <a:t>n</a:t>
              </a:r>
              <a:r>
                <a:rPr lang="en-US" altLang="zh-CN" sz="1800" baseline="-25000" dirty="0">
                  <a:latin typeface="Times New Roman" panose="02020603050405020304" pitchFamily="18" charset="0"/>
                  <a:ea typeface="SimSun" panose="02010600030101010101" pitchFamily="2" charset="-122"/>
                </a:rPr>
                <a:t>7</a:t>
              </a:r>
              <a:endParaRPr lang="en-US" altLang="zh-CN" sz="1800" baseline="-25000" dirty="0">
                <a:latin typeface="Times New Roman" panose="02020603050405020304" pitchFamily="18" charset="0"/>
                <a:ea typeface="SimSun" panose="02010600030101010101" pitchFamily="2" charset="-122"/>
              </a:endParaRPr>
            </a:p>
          </p:txBody>
        </p:sp>
      </p:grpSp>
      <p:sp>
        <p:nvSpPr>
          <p:cNvPr id="103494" name="Slide Number Placeholder 82"/>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2"/>
          <p:cNvSpPr>
            <a:spLocks noGrp="1"/>
          </p:cNvSpPr>
          <p:nvPr>
            <p:ph type="title" idx="4294967295"/>
          </p:nvPr>
        </p:nvSpPr>
        <p:spPr/>
        <p:txBody>
          <a:bodyPr vert="horz" wrap="square" lIns="91440" tIns="45720" rIns="91440" bIns="45720" anchor="b" anchorCtr="0"/>
          <a:p>
            <a:pPr eaLnBrk="1" hangingPunct="1"/>
            <a:r>
              <a:rPr lang="en-US" altLang="zh-CN" dirty="0">
                <a:ea typeface="SimSun" panose="02010600030101010101" pitchFamily="2" charset="-122"/>
              </a:rPr>
              <a:t>Complexity</a:t>
            </a:r>
            <a:endParaRPr lang="en-US" altLang="zh-CN" dirty="0">
              <a:ea typeface="SimSun" panose="02010600030101010101" pitchFamily="2" charset="-122"/>
            </a:endParaRPr>
          </a:p>
        </p:txBody>
      </p:sp>
      <p:graphicFrame>
        <p:nvGraphicFramePr>
          <p:cNvPr id="104451" name="Content Placeholder 104450"/>
          <p:cNvGraphicFramePr/>
          <p:nvPr>
            <p:ph idx="4294967295"/>
          </p:nvPr>
        </p:nvGraphicFramePr>
        <p:xfrm>
          <a:off x="533400" y="2857500"/>
          <a:ext cx="8235950" cy="2690813"/>
        </p:xfrm>
        <a:graphic>
          <a:graphicData uri="http://schemas.openxmlformats.org/drawingml/2006/table">
            <a:tbl>
              <a:tblPr/>
              <a:tblGrid>
                <a:gridCol w="3733800"/>
                <a:gridCol w="2286000"/>
                <a:gridCol w="2216150"/>
              </a:tblGrid>
              <a:tr h="504825">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l" eaLnBrk="1" hangingPunct="1">
                        <a:spcBef>
                          <a:spcPct val="20000"/>
                        </a:spcBef>
                        <a:buClr>
                          <a:schemeClr val="folHlink"/>
                        </a:buClr>
                        <a:buSzPct val="60000"/>
                        <a:buFont typeface="Wingdings" panose="05000000000000000000" pitchFamily="2" charset="2"/>
                        <a:buNone/>
                      </a:pPr>
                      <a:endParaRPr lang="en-US" dirty="0">
                        <a:latin typeface="Arial" panose="020B0604020202020204" pitchFamily="34" charset="0"/>
                      </a:endParaRPr>
                    </a:p>
                  </a:txBody>
                  <a:tcPr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l" eaLnBrk="1" hangingPunct="1">
                        <a:spcBef>
                          <a:spcPct val="20000"/>
                        </a:spcBef>
                        <a:buClr>
                          <a:schemeClr val="folHlink"/>
                        </a:buClr>
                        <a:buSzPct val="60000"/>
                        <a:buFont typeface="Wingdings" panose="05000000000000000000" pitchFamily="2" charset="2"/>
                        <a:buNone/>
                      </a:pPr>
                      <a:r>
                        <a:rPr lang="en-US" altLang="zh-CN" dirty="0">
                          <a:latin typeface="Arial" panose="020B0604020202020204" pitchFamily="34" charset="0"/>
                          <a:ea typeface="SimSun" panose="02010600030101010101" pitchFamily="2" charset="-122"/>
                        </a:rPr>
                        <a:t>Time</a:t>
                      </a:r>
                      <a:endParaRPr lang="en-US" altLang="zh-CN" dirty="0">
                        <a:latin typeface="Arial" panose="020B0604020202020204" pitchFamily="34" charset="0"/>
                        <a:ea typeface="SimSun" panose="02010600030101010101" pitchFamily="2" charset="-122"/>
                      </a:endParaRPr>
                    </a:p>
                  </a:txBody>
                  <a:tcPr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l" eaLnBrk="1" hangingPunct="1">
                        <a:spcBef>
                          <a:spcPct val="20000"/>
                        </a:spcBef>
                        <a:buClr>
                          <a:schemeClr val="folHlink"/>
                        </a:buClr>
                        <a:buSzPct val="60000"/>
                        <a:buFont typeface="Wingdings" panose="05000000000000000000" pitchFamily="2" charset="2"/>
                        <a:buNone/>
                      </a:pPr>
                      <a:r>
                        <a:rPr lang="en-US" altLang="zh-CN" dirty="0">
                          <a:latin typeface="Arial" panose="020B0604020202020204" pitchFamily="34" charset="0"/>
                          <a:ea typeface="SimSun" panose="02010600030101010101" pitchFamily="2" charset="-122"/>
                        </a:rPr>
                        <a:t>Space</a:t>
                      </a:r>
                      <a:endParaRPr lang="en-US" altLang="zh-CN" dirty="0">
                        <a:latin typeface="Arial" panose="020B0604020202020204" pitchFamily="34" charset="0"/>
                        <a:ea typeface="SimSun" panose="02010600030101010101" pitchFamily="2" charset="-122"/>
                      </a:endParaRPr>
                    </a:p>
                  </a:txBody>
                  <a:tcPr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06413">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l" eaLnBrk="1" hangingPunct="1">
                        <a:spcBef>
                          <a:spcPct val="20000"/>
                        </a:spcBef>
                        <a:buClr>
                          <a:schemeClr val="folHlink"/>
                        </a:buClr>
                        <a:buSzPct val="60000"/>
                        <a:buFont typeface="Wingdings" panose="05000000000000000000" pitchFamily="2" charset="2"/>
                        <a:buNone/>
                      </a:pPr>
                      <a:r>
                        <a:rPr lang="en-US" altLang="zh-CN" dirty="0">
                          <a:latin typeface="Arial" panose="020B0604020202020204" pitchFamily="34" charset="0"/>
                          <a:ea typeface="SimSun" panose="02010600030101010101" pitchFamily="2" charset="-122"/>
                        </a:rPr>
                        <a:t>Updating similarities</a:t>
                      </a:r>
                      <a:endParaRPr lang="en-US" altLang="zh-CN" dirty="0">
                        <a:latin typeface="Arial" panose="020B0604020202020204" pitchFamily="34" charset="0"/>
                        <a:ea typeface="SimSun" panose="02010600030101010101" pitchFamily="2" charset="-122"/>
                      </a:endParaRPr>
                    </a:p>
                  </a:txBody>
                  <a:tcPr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l" eaLnBrk="1" hangingPunct="1">
                        <a:spcBef>
                          <a:spcPct val="20000"/>
                        </a:spcBef>
                        <a:buClr>
                          <a:schemeClr val="folHlink"/>
                        </a:buClr>
                        <a:buSzPct val="60000"/>
                        <a:buFont typeface="Wingdings" panose="05000000000000000000" pitchFamily="2" charset="2"/>
                        <a:buNone/>
                      </a:pPr>
                      <a:r>
                        <a:rPr lang="en-US" altLang="zh-CN" i="1" dirty="0">
                          <a:latin typeface="Arial" panose="020B0604020202020204" pitchFamily="34" charset="0"/>
                          <a:ea typeface="SimSun" panose="02010600030101010101" pitchFamily="2" charset="-122"/>
                        </a:rPr>
                        <a:t>O</a:t>
                      </a:r>
                      <a:r>
                        <a:rPr lang="en-US" altLang="zh-CN" dirty="0">
                          <a:latin typeface="Arial" panose="020B0604020202020204" pitchFamily="34" charset="0"/>
                          <a:ea typeface="SimSun" panose="02010600030101010101" pitchFamily="2" charset="-122"/>
                        </a:rPr>
                        <a:t>(</a:t>
                      </a:r>
                      <a:r>
                        <a:rPr lang="en-US" altLang="zh-CN" i="1" dirty="0">
                          <a:latin typeface="Arial" panose="020B0604020202020204" pitchFamily="34" charset="0"/>
                          <a:ea typeface="SimSun" panose="02010600030101010101" pitchFamily="2" charset="-122"/>
                        </a:rPr>
                        <a:t>M</a:t>
                      </a:r>
                      <a:r>
                        <a:rPr lang="en-US" altLang="zh-CN" dirty="0">
                          <a:latin typeface="Arial" panose="020B0604020202020204" pitchFamily="34" charset="0"/>
                          <a:ea typeface="SimSun" panose="02010600030101010101" pitchFamily="2" charset="-122"/>
                        </a:rPr>
                        <a:t>(log</a:t>
                      </a:r>
                      <a:r>
                        <a:rPr lang="en-US" altLang="zh-CN" i="1" dirty="0">
                          <a:latin typeface="Arial" panose="020B0604020202020204" pitchFamily="34" charset="0"/>
                          <a:ea typeface="SimSun" panose="02010600030101010101" pitchFamily="2" charset="-122"/>
                        </a:rPr>
                        <a:t>N</a:t>
                      </a:r>
                      <a:r>
                        <a:rPr lang="en-US" altLang="zh-CN" dirty="0">
                          <a:latin typeface="Arial" panose="020B0604020202020204" pitchFamily="34" charset="0"/>
                          <a:ea typeface="SimSun" panose="02010600030101010101" pitchFamily="2" charset="-122"/>
                        </a:rPr>
                        <a:t>)</a:t>
                      </a:r>
                      <a:r>
                        <a:rPr lang="en-US" altLang="zh-CN" baseline="30000" dirty="0">
                          <a:latin typeface="Arial" panose="020B0604020202020204" pitchFamily="34" charset="0"/>
                          <a:ea typeface="SimSun" panose="02010600030101010101" pitchFamily="2" charset="-122"/>
                        </a:rPr>
                        <a:t>2</a:t>
                      </a:r>
                      <a:r>
                        <a:rPr lang="en-US" altLang="zh-CN" dirty="0">
                          <a:latin typeface="Arial" panose="020B0604020202020204" pitchFamily="34" charset="0"/>
                          <a:ea typeface="SimSun" panose="02010600030101010101" pitchFamily="2" charset="-122"/>
                        </a:rPr>
                        <a:t>)</a:t>
                      </a:r>
                      <a:endParaRPr lang="en-US" altLang="zh-CN" i="1" baseline="30000" dirty="0">
                        <a:latin typeface="Arial" panose="020B0604020202020204" pitchFamily="34" charset="0"/>
                        <a:ea typeface="SimSun" panose="02010600030101010101" pitchFamily="2" charset="-122"/>
                      </a:endParaRPr>
                    </a:p>
                  </a:txBody>
                  <a:tcPr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l" eaLnBrk="1" hangingPunct="1">
                        <a:spcBef>
                          <a:spcPct val="20000"/>
                        </a:spcBef>
                        <a:buClr>
                          <a:schemeClr val="folHlink"/>
                        </a:buClr>
                        <a:buSzPct val="60000"/>
                        <a:buFont typeface="Wingdings" panose="05000000000000000000" pitchFamily="2" charset="2"/>
                        <a:buNone/>
                      </a:pPr>
                      <a:r>
                        <a:rPr lang="en-US" altLang="zh-CN" i="1" dirty="0">
                          <a:latin typeface="Arial" panose="020B0604020202020204" pitchFamily="34" charset="0"/>
                          <a:ea typeface="SimSun" panose="02010600030101010101" pitchFamily="2" charset="-122"/>
                        </a:rPr>
                        <a:t>O</a:t>
                      </a:r>
                      <a:r>
                        <a:rPr lang="en-US" altLang="zh-CN" dirty="0">
                          <a:latin typeface="Arial" panose="020B0604020202020204" pitchFamily="34" charset="0"/>
                          <a:ea typeface="SimSun" panose="02010600030101010101" pitchFamily="2" charset="-122"/>
                        </a:rPr>
                        <a:t>(</a:t>
                      </a:r>
                      <a:r>
                        <a:rPr lang="en-US" altLang="zh-CN" i="1" dirty="0">
                          <a:latin typeface="Arial" panose="020B0604020202020204" pitchFamily="34" charset="0"/>
                          <a:ea typeface="SimSun" panose="02010600030101010101" pitchFamily="2" charset="-122"/>
                        </a:rPr>
                        <a:t>M+N</a:t>
                      </a:r>
                      <a:r>
                        <a:rPr lang="en-US" altLang="zh-CN" dirty="0">
                          <a:latin typeface="Arial" panose="020B0604020202020204" pitchFamily="34" charset="0"/>
                          <a:ea typeface="SimSun" panose="02010600030101010101" pitchFamily="2" charset="-122"/>
                        </a:rPr>
                        <a:t>)</a:t>
                      </a:r>
                      <a:endParaRPr lang="en-US" altLang="zh-CN" dirty="0">
                        <a:latin typeface="Arial" panose="020B0604020202020204" pitchFamily="34" charset="0"/>
                        <a:ea typeface="SimSun" panose="02010600030101010101" pitchFamily="2" charset="-122"/>
                      </a:endParaRPr>
                    </a:p>
                  </a:txBody>
                  <a:tcPr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7525">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l" eaLnBrk="1" hangingPunct="1">
                        <a:spcBef>
                          <a:spcPct val="20000"/>
                        </a:spcBef>
                        <a:buClr>
                          <a:schemeClr val="folHlink"/>
                        </a:buClr>
                        <a:buSzPct val="60000"/>
                        <a:buFont typeface="Wingdings" panose="05000000000000000000" pitchFamily="2" charset="2"/>
                        <a:buNone/>
                      </a:pPr>
                      <a:r>
                        <a:rPr lang="en-US" altLang="zh-CN" dirty="0">
                          <a:latin typeface="Arial" panose="020B0604020202020204" pitchFamily="34" charset="0"/>
                          <a:ea typeface="SimSun" panose="02010600030101010101" pitchFamily="2" charset="-122"/>
                        </a:rPr>
                        <a:t>Adjusting tree structures</a:t>
                      </a:r>
                      <a:endParaRPr lang="en-US" altLang="zh-CN" dirty="0">
                        <a:latin typeface="Arial" panose="020B0604020202020204" pitchFamily="34" charset="0"/>
                        <a:ea typeface="SimSun" panose="02010600030101010101" pitchFamily="2" charset="-122"/>
                      </a:endParaRPr>
                    </a:p>
                  </a:txBody>
                  <a:tcPr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l" eaLnBrk="1" hangingPunct="1">
                        <a:spcBef>
                          <a:spcPct val="20000"/>
                        </a:spcBef>
                        <a:buClr>
                          <a:schemeClr val="folHlink"/>
                        </a:buClr>
                        <a:buSzPct val="60000"/>
                        <a:buFont typeface="Wingdings" panose="05000000000000000000" pitchFamily="2" charset="2"/>
                        <a:buNone/>
                      </a:pPr>
                      <a:r>
                        <a:rPr lang="en-US" altLang="zh-CN" i="1" dirty="0">
                          <a:latin typeface="Arial" panose="020B0604020202020204" pitchFamily="34" charset="0"/>
                          <a:ea typeface="SimSun" panose="02010600030101010101" pitchFamily="2" charset="-122"/>
                        </a:rPr>
                        <a:t>O</a:t>
                      </a:r>
                      <a:r>
                        <a:rPr lang="en-US" altLang="zh-CN" dirty="0">
                          <a:latin typeface="Arial" panose="020B0604020202020204" pitchFamily="34" charset="0"/>
                          <a:ea typeface="SimSun" panose="02010600030101010101" pitchFamily="2" charset="-122"/>
                        </a:rPr>
                        <a:t>(</a:t>
                      </a:r>
                      <a:r>
                        <a:rPr lang="en-US" altLang="zh-CN" i="1" dirty="0">
                          <a:latin typeface="Arial" panose="020B0604020202020204" pitchFamily="34" charset="0"/>
                          <a:ea typeface="SimSun" panose="02010600030101010101" pitchFamily="2" charset="-122"/>
                        </a:rPr>
                        <a:t>N</a:t>
                      </a:r>
                      <a:r>
                        <a:rPr lang="en-US" altLang="zh-CN" dirty="0">
                          <a:latin typeface="Arial" panose="020B0604020202020204" pitchFamily="34" charset="0"/>
                          <a:ea typeface="SimSun" panose="02010600030101010101" pitchFamily="2" charset="-122"/>
                        </a:rPr>
                        <a:t>)</a:t>
                      </a:r>
                      <a:endParaRPr lang="en-US" altLang="zh-CN" i="1" dirty="0">
                        <a:latin typeface="Arial" panose="020B0604020202020204" pitchFamily="34" charset="0"/>
                        <a:ea typeface="SimSun" panose="02010600030101010101" pitchFamily="2" charset="-122"/>
                      </a:endParaRPr>
                    </a:p>
                  </a:txBody>
                  <a:tcPr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l" eaLnBrk="1" hangingPunct="1">
                        <a:spcBef>
                          <a:spcPct val="20000"/>
                        </a:spcBef>
                        <a:buClr>
                          <a:schemeClr val="folHlink"/>
                        </a:buClr>
                        <a:buSzPct val="60000"/>
                        <a:buFont typeface="Wingdings" panose="05000000000000000000" pitchFamily="2" charset="2"/>
                        <a:buNone/>
                      </a:pPr>
                      <a:r>
                        <a:rPr lang="en-US" altLang="zh-CN" i="1" dirty="0">
                          <a:latin typeface="Arial" panose="020B0604020202020204" pitchFamily="34" charset="0"/>
                          <a:ea typeface="SimSun" panose="02010600030101010101" pitchFamily="2" charset="-122"/>
                        </a:rPr>
                        <a:t>O</a:t>
                      </a:r>
                      <a:r>
                        <a:rPr lang="en-US" altLang="zh-CN" dirty="0">
                          <a:latin typeface="Arial" panose="020B0604020202020204" pitchFamily="34" charset="0"/>
                          <a:ea typeface="SimSun" panose="02010600030101010101" pitchFamily="2" charset="-122"/>
                        </a:rPr>
                        <a:t>(</a:t>
                      </a:r>
                      <a:r>
                        <a:rPr lang="en-US" altLang="zh-CN" i="1" dirty="0">
                          <a:latin typeface="Arial" panose="020B0604020202020204" pitchFamily="34" charset="0"/>
                          <a:ea typeface="SimSun" panose="02010600030101010101" pitchFamily="2" charset="-122"/>
                        </a:rPr>
                        <a:t>N</a:t>
                      </a:r>
                      <a:r>
                        <a:rPr lang="en-US" altLang="zh-CN" dirty="0">
                          <a:latin typeface="Arial" panose="020B0604020202020204" pitchFamily="34" charset="0"/>
                          <a:ea typeface="SimSun" panose="02010600030101010101" pitchFamily="2" charset="-122"/>
                        </a:rPr>
                        <a:t>)</a:t>
                      </a:r>
                      <a:endParaRPr lang="en-US" altLang="zh-CN" dirty="0">
                        <a:latin typeface="Arial" panose="020B0604020202020204" pitchFamily="34" charset="0"/>
                        <a:ea typeface="SimSun" panose="02010600030101010101" pitchFamily="2" charset="-122"/>
                      </a:endParaRPr>
                    </a:p>
                  </a:txBody>
                  <a:tcPr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53987">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l" eaLnBrk="1" hangingPunct="1">
                        <a:spcBef>
                          <a:spcPct val="20000"/>
                        </a:spcBef>
                        <a:buClr>
                          <a:schemeClr val="folHlink"/>
                        </a:buClr>
                        <a:buSzPct val="60000"/>
                        <a:buFont typeface="Wingdings" panose="05000000000000000000" pitchFamily="2" charset="2"/>
                        <a:buNone/>
                      </a:pPr>
                      <a:endParaRPr lang="en-US" sz="100" dirty="0">
                        <a:latin typeface="Arial" panose="020B0604020202020204" pitchFamily="34" charset="0"/>
                      </a:endParaRPr>
                    </a:p>
                  </a:txBody>
                  <a:tcPr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l" eaLnBrk="1" hangingPunct="1">
                        <a:spcBef>
                          <a:spcPct val="20000"/>
                        </a:spcBef>
                        <a:buClr>
                          <a:schemeClr val="folHlink"/>
                        </a:buClr>
                        <a:buSzPct val="60000"/>
                        <a:buFont typeface="Wingdings" panose="05000000000000000000" pitchFamily="2" charset="2"/>
                        <a:buNone/>
                      </a:pPr>
                      <a:endParaRPr lang="en-US" sz="100" dirty="0">
                        <a:latin typeface="Arial" panose="020B0604020202020204" pitchFamily="34" charset="0"/>
                      </a:endParaRPr>
                    </a:p>
                  </a:txBody>
                  <a:tcPr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l" eaLnBrk="1" hangingPunct="1">
                        <a:spcBef>
                          <a:spcPct val="20000"/>
                        </a:spcBef>
                        <a:buClr>
                          <a:schemeClr val="folHlink"/>
                        </a:buClr>
                        <a:buSzPct val="60000"/>
                        <a:buFont typeface="Wingdings" panose="05000000000000000000" pitchFamily="2" charset="2"/>
                        <a:buNone/>
                      </a:pPr>
                      <a:endParaRPr lang="en-US" sz="100" dirty="0">
                        <a:latin typeface="Arial" panose="020B0604020202020204" pitchFamily="34" charset="0"/>
                      </a:endParaRPr>
                    </a:p>
                  </a:txBody>
                  <a:tcPr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50863">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l" eaLnBrk="1" hangingPunct="1">
                        <a:spcBef>
                          <a:spcPct val="20000"/>
                        </a:spcBef>
                        <a:buClr>
                          <a:schemeClr val="folHlink"/>
                        </a:buClr>
                        <a:buSzPct val="60000"/>
                        <a:buFont typeface="Wingdings" panose="05000000000000000000" pitchFamily="2" charset="2"/>
                        <a:buNone/>
                      </a:pPr>
                      <a:r>
                        <a:rPr lang="en-US" altLang="zh-CN" i="1" dirty="0">
                          <a:latin typeface="Arial" panose="020B0604020202020204" pitchFamily="34" charset="0"/>
                          <a:ea typeface="SimSun" panose="02010600030101010101" pitchFamily="2" charset="-122"/>
                        </a:rPr>
                        <a:t>LinkClus</a:t>
                      </a:r>
                      <a:endParaRPr lang="en-US" altLang="zh-CN" i="1" dirty="0">
                        <a:latin typeface="Arial" panose="020B0604020202020204" pitchFamily="34" charset="0"/>
                        <a:ea typeface="SimSun" panose="02010600030101010101" pitchFamily="2" charset="-122"/>
                      </a:endParaRPr>
                    </a:p>
                  </a:txBody>
                  <a:tcPr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l" eaLnBrk="1" hangingPunct="1">
                        <a:spcBef>
                          <a:spcPct val="20000"/>
                        </a:spcBef>
                        <a:buClr>
                          <a:schemeClr val="folHlink"/>
                        </a:buClr>
                        <a:buSzPct val="60000"/>
                        <a:buFont typeface="Wingdings" panose="05000000000000000000" pitchFamily="2" charset="2"/>
                        <a:buNone/>
                      </a:pPr>
                      <a:r>
                        <a:rPr lang="en-US" altLang="zh-CN" i="1" dirty="0">
                          <a:latin typeface="Arial" panose="020B0604020202020204" pitchFamily="34" charset="0"/>
                          <a:ea typeface="SimSun" panose="02010600030101010101" pitchFamily="2" charset="-122"/>
                        </a:rPr>
                        <a:t>O</a:t>
                      </a:r>
                      <a:r>
                        <a:rPr lang="en-US" altLang="zh-CN" dirty="0">
                          <a:latin typeface="Arial" panose="020B0604020202020204" pitchFamily="34" charset="0"/>
                          <a:ea typeface="SimSun" panose="02010600030101010101" pitchFamily="2" charset="-122"/>
                        </a:rPr>
                        <a:t>(</a:t>
                      </a:r>
                      <a:r>
                        <a:rPr lang="en-US" altLang="zh-CN" i="1" dirty="0">
                          <a:latin typeface="Arial" panose="020B0604020202020204" pitchFamily="34" charset="0"/>
                          <a:ea typeface="SimSun" panose="02010600030101010101" pitchFamily="2" charset="-122"/>
                        </a:rPr>
                        <a:t>M</a:t>
                      </a:r>
                      <a:r>
                        <a:rPr lang="en-US" altLang="zh-CN" dirty="0">
                          <a:latin typeface="Arial" panose="020B0604020202020204" pitchFamily="34" charset="0"/>
                          <a:ea typeface="SimSun" panose="02010600030101010101" pitchFamily="2" charset="-122"/>
                        </a:rPr>
                        <a:t>(log</a:t>
                      </a:r>
                      <a:r>
                        <a:rPr lang="en-US" altLang="zh-CN" i="1" dirty="0">
                          <a:latin typeface="Arial" panose="020B0604020202020204" pitchFamily="34" charset="0"/>
                          <a:ea typeface="SimSun" panose="02010600030101010101" pitchFamily="2" charset="-122"/>
                        </a:rPr>
                        <a:t>N</a:t>
                      </a:r>
                      <a:r>
                        <a:rPr lang="en-US" altLang="zh-CN" dirty="0">
                          <a:latin typeface="Arial" panose="020B0604020202020204" pitchFamily="34" charset="0"/>
                          <a:ea typeface="SimSun" panose="02010600030101010101" pitchFamily="2" charset="-122"/>
                        </a:rPr>
                        <a:t>)</a:t>
                      </a:r>
                      <a:r>
                        <a:rPr lang="en-US" altLang="zh-CN" baseline="30000" dirty="0">
                          <a:latin typeface="Arial" panose="020B0604020202020204" pitchFamily="34" charset="0"/>
                          <a:ea typeface="SimSun" panose="02010600030101010101" pitchFamily="2" charset="-122"/>
                        </a:rPr>
                        <a:t>2</a:t>
                      </a:r>
                      <a:r>
                        <a:rPr lang="en-US" altLang="zh-CN" dirty="0">
                          <a:latin typeface="Arial" panose="020B0604020202020204" pitchFamily="34" charset="0"/>
                          <a:ea typeface="SimSun" panose="02010600030101010101" pitchFamily="2" charset="-122"/>
                        </a:rPr>
                        <a:t>)</a:t>
                      </a:r>
                      <a:endParaRPr lang="en-US" altLang="zh-CN" i="1" baseline="30000" dirty="0">
                        <a:latin typeface="Arial" panose="020B0604020202020204" pitchFamily="34" charset="0"/>
                        <a:ea typeface="SimSun" panose="02010600030101010101" pitchFamily="2" charset="-122"/>
                      </a:endParaRPr>
                    </a:p>
                  </a:txBody>
                  <a:tcPr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l" eaLnBrk="1" hangingPunct="1">
                        <a:spcBef>
                          <a:spcPct val="20000"/>
                        </a:spcBef>
                        <a:buClr>
                          <a:schemeClr val="folHlink"/>
                        </a:buClr>
                        <a:buSzPct val="60000"/>
                        <a:buFont typeface="Wingdings" panose="05000000000000000000" pitchFamily="2" charset="2"/>
                        <a:buNone/>
                      </a:pPr>
                      <a:r>
                        <a:rPr lang="en-US" altLang="zh-CN" i="1" dirty="0">
                          <a:latin typeface="Arial" panose="020B0604020202020204" pitchFamily="34" charset="0"/>
                          <a:ea typeface="SimSun" panose="02010600030101010101" pitchFamily="2" charset="-122"/>
                        </a:rPr>
                        <a:t>O</a:t>
                      </a:r>
                      <a:r>
                        <a:rPr lang="en-US" altLang="zh-CN" dirty="0">
                          <a:latin typeface="Arial" panose="020B0604020202020204" pitchFamily="34" charset="0"/>
                          <a:ea typeface="SimSun" panose="02010600030101010101" pitchFamily="2" charset="-122"/>
                        </a:rPr>
                        <a:t>(</a:t>
                      </a:r>
                      <a:r>
                        <a:rPr lang="en-US" altLang="zh-CN" i="1" dirty="0">
                          <a:latin typeface="Arial" panose="020B0604020202020204" pitchFamily="34" charset="0"/>
                          <a:ea typeface="SimSun" panose="02010600030101010101" pitchFamily="2" charset="-122"/>
                        </a:rPr>
                        <a:t>M+N</a:t>
                      </a:r>
                      <a:r>
                        <a:rPr lang="en-US" altLang="zh-CN" dirty="0">
                          <a:latin typeface="Arial" panose="020B0604020202020204" pitchFamily="34" charset="0"/>
                          <a:ea typeface="SimSun" panose="02010600030101010101" pitchFamily="2" charset="-122"/>
                        </a:rPr>
                        <a:t>)</a:t>
                      </a:r>
                      <a:endParaRPr lang="en-US" altLang="zh-CN" dirty="0">
                        <a:latin typeface="Arial" panose="020B0604020202020204" pitchFamily="34" charset="0"/>
                        <a:ea typeface="SimSun" panose="02010600030101010101" pitchFamily="2" charset="-122"/>
                      </a:endParaRPr>
                    </a:p>
                  </a:txBody>
                  <a:tcPr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l" eaLnBrk="1" hangingPunct="1">
                        <a:spcBef>
                          <a:spcPct val="20000"/>
                        </a:spcBef>
                        <a:buClr>
                          <a:schemeClr val="folHlink"/>
                        </a:buClr>
                        <a:buSzPct val="60000"/>
                        <a:buFont typeface="Wingdings" panose="05000000000000000000" pitchFamily="2" charset="2"/>
                        <a:buNone/>
                      </a:pPr>
                      <a:r>
                        <a:rPr lang="en-US" altLang="zh-CN" i="1" dirty="0">
                          <a:latin typeface="Arial" panose="020B0604020202020204" pitchFamily="34" charset="0"/>
                          <a:ea typeface="SimSun" panose="02010600030101010101" pitchFamily="2" charset="-122"/>
                        </a:rPr>
                        <a:t>SimRank</a:t>
                      </a:r>
                      <a:endParaRPr lang="en-US" altLang="zh-CN" i="1" dirty="0">
                        <a:latin typeface="Arial" panose="020B0604020202020204" pitchFamily="34" charset="0"/>
                        <a:ea typeface="SimSun" panose="02010600030101010101" pitchFamily="2" charset="-122"/>
                      </a:endParaRPr>
                    </a:p>
                  </a:txBody>
                  <a:tcPr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l" eaLnBrk="1" hangingPunct="1">
                        <a:spcBef>
                          <a:spcPct val="20000"/>
                        </a:spcBef>
                        <a:buClr>
                          <a:schemeClr val="folHlink"/>
                        </a:buClr>
                        <a:buSzPct val="60000"/>
                        <a:buFont typeface="Wingdings" panose="05000000000000000000" pitchFamily="2" charset="2"/>
                        <a:buNone/>
                      </a:pPr>
                      <a:r>
                        <a:rPr lang="en-US" altLang="zh-CN" i="1" dirty="0">
                          <a:latin typeface="Arial" panose="020B0604020202020204" pitchFamily="34" charset="0"/>
                          <a:ea typeface="SimSun" panose="02010600030101010101" pitchFamily="2" charset="-122"/>
                        </a:rPr>
                        <a:t>O</a:t>
                      </a:r>
                      <a:r>
                        <a:rPr lang="en-US" altLang="zh-CN" dirty="0">
                          <a:latin typeface="Arial" panose="020B0604020202020204" pitchFamily="34" charset="0"/>
                          <a:ea typeface="SimSun" panose="02010600030101010101" pitchFamily="2" charset="-122"/>
                        </a:rPr>
                        <a:t>(</a:t>
                      </a:r>
                      <a:r>
                        <a:rPr lang="en-US" altLang="zh-CN" i="1" dirty="0">
                          <a:latin typeface="Arial" panose="020B0604020202020204" pitchFamily="34" charset="0"/>
                          <a:ea typeface="SimSun" panose="02010600030101010101" pitchFamily="2" charset="-122"/>
                        </a:rPr>
                        <a:t>M</a:t>
                      </a:r>
                      <a:r>
                        <a:rPr lang="en-US" altLang="zh-CN" baseline="30000" dirty="0">
                          <a:latin typeface="Arial" panose="020B0604020202020204" pitchFamily="34" charset="0"/>
                          <a:ea typeface="SimSun" panose="02010600030101010101" pitchFamily="2" charset="-122"/>
                        </a:rPr>
                        <a:t>2</a:t>
                      </a:r>
                      <a:r>
                        <a:rPr lang="en-US" altLang="zh-CN" dirty="0">
                          <a:latin typeface="Arial" panose="020B0604020202020204" pitchFamily="34" charset="0"/>
                          <a:ea typeface="SimSun" panose="02010600030101010101" pitchFamily="2" charset="-122"/>
                        </a:rPr>
                        <a:t>)</a:t>
                      </a:r>
                      <a:endParaRPr lang="en-US" altLang="zh-CN" dirty="0">
                        <a:latin typeface="Arial" panose="020B0604020202020204" pitchFamily="34" charset="0"/>
                        <a:ea typeface="SimSun" panose="02010600030101010101" pitchFamily="2" charset="-122"/>
                      </a:endParaRPr>
                    </a:p>
                  </a:txBody>
                  <a:tcPr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mn-ea"/>
                          <a:cs typeface="+mn-cs"/>
                        </a:defRPr>
                      </a:lvl5pPr>
                    </a:lstStyle>
                    <a:p>
                      <a:pPr lvl="0" algn="l" eaLnBrk="1" hangingPunct="1">
                        <a:spcBef>
                          <a:spcPct val="20000"/>
                        </a:spcBef>
                        <a:buClr>
                          <a:schemeClr val="folHlink"/>
                        </a:buClr>
                        <a:buSzPct val="60000"/>
                        <a:buFont typeface="Wingdings" panose="05000000000000000000" pitchFamily="2" charset="2"/>
                        <a:buNone/>
                      </a:pPr>
                      <a:r>
                        <a:rPr lang="en-US" altLang="zh-CN" i="1" dirty="0">
                          <a:latin typeface="Arial" panose="020B0604020202020204" pitchFamily="34" charset="0"/>
                          <a:ea typeface="SimSun" panose="02010600030101010101" pitchFamily="2" charset="-122"/>
                        </a:rPr>
                        <a:t>O</a:t>
                      </a:r>
                      <a:r>
                        <a:rPr lang="en-US" altLang="zh-CN" dirty="0">
                          <a:latin typeface="Arial" panose="020B0604020202020204" pitchFamily="34" charset="0"/>
                          <a:ea typeface="SimSun" panose="02010600030101010101" pitchFamily="2" charset="-122"/>
                        </a:rPr>
                        <a:t>(</a:t>
                      </a:r>
                      <a:r>
                        <a:rPr lang="en-US" altLang="zh-CN" i="1" dirty="0">
                          <a:latin typeface="Arial" panose="020B0604020202020204" pitchFamily="34" charset="0"/>
                          <a:ea typeface="SimSun" panose="02010600030101010101" pitchFamily="2" charset="-122"/>
                        </a:rPr>
                        <a:t>N</a:t>
                      </a:r>
                      <a:r>
                        <a:rPr lang="en-US" altLang="zh-CN" baseline="30000" dirty="0">
                          <a:latin typeface="Arial" panose="020B0604020202020204" pitchFamily="34" charset="0"/>
                          <a:ea typeface="SimSun" panose="02010600030101010101" pitchFamily="2" charset="-122"/>
                        </a:rPr>
                        <a:t>2</a:t>
                      </a:r>
                      <a:r>
                        <a:rPr lang="en-US" altLang="zh-CN" dirty="0">
                          <a:latin typeface="Arial" panose="020B0604020202020204" pitchFamily="34" charset="0"/>
                          <a:ea typeface="SimSun" panose="02010600030101010101" pitchFamily="2" charset="-122"/>
                        </a:rPr>
                        <a:t>)</a:t>
                      </a:r>
                      <a:endParaRPr lang="en-US" altLang="zh-CN" dirty="0">
                        <a:latin typeface="Arial" panose="020B0604020202020204" pitchFamily="34" charset="0"/>
                        <a:ea typeface="SimSun" panose="02010600030101010101" pitchFamily="2" charset="-122"/>
                      </a:endParaRPr>
                    </a:p>
                  </a:txBody>
                  <a:tcPr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04481" name="Text Box 33"/>
          <p:cNvSpPr txBox="1"/>
          <p:nvPr/>
        </p:nvSpPr>
        <p:spPr>
          <a:xfrm>
            <a:off x="381000" y="1828800"/>
            <a:ext cx="8382000" cy="396875"/>
          </a:xfrm>
          <a:prstGeom prst="rect">
            <a:avLst/>
          </a:prstGeom>
          <a:noFill/>
          <a:ln w="9525">
            <a:noFill/>
          </a:ln>
        </p:spPr>
        <p:txBody>
          <a:bodyPr>
            <a:spAutoFit/>
          </a:bodyPr>
          <a:p>
            <a:pPr algn="l">
              <a:spcBef>
                <a:spcPct val="50000"/>
              </a:spcBef>
            </a:pPr>
            <a:r>
              <a:rPr lang="en-US" altLang="zh-CN" sz="2000" dirty="0">
                <a:latin typeface="Tahoma" panose="020B0604030504040204" pitchFamily="34" charset="0"/>
                <a:ea typeface="SimSun" panose="02010600030101010101" pitchFamily="2" charset="-122"/>
              </a:rPr>
              <a:t>For two types of objects, </a:t>
            </a:r>
            <a:r>
              <a:rPr lang="en-US" altLang="zh-CN" sz="2000" i="1" dirty="0">
                <a:latin typeface="Tahoma" panose="020B0604030504040204" pitchFamily="34" charset="0"/>
                <a:ea typeface="SimSun" panose="02010600030101010101" pitchFamily="2" charset="-122"/>
              </a:rPr>
              <a:t>N</a:t>
            </a:r>
            <a:r>
              <a:rPr lang="en-US" altLang="zh-CN" sz="2000" dirty="0">
                <a:latin typeface="Tahoma" panose="020B0604030504040204" pitchFamily="34" charset="0"/>
                <a:ea typeface="SimSun" panose="02010600030101010101" pitchFamily="2" charset="-122"/>
              </a:rPr>
              <a:t> in each, and </a:t>
            </a:r>
            <a:r>
              <a:rPr lang="en-US" altLang="zh-CN" sz="2000" i="1" dirty="0">
                <a:latin typeface="Tahoma" panose="020B0604030504040204" pitchFamily="34" charset="0"/>
                <a:ea typeface="SimSun" panose="02010600030101010101" pitchFamily="2" charset="-122"/>
              </a:rPr>
              <a:t>M</a:t>
            </a:r>
            <a:r>
              <a:rPr lang="en-US" altLang="zh-CN" sz="2000" dirty="0">
                <a:latin typeface="Tahoma" panose="020B0604030504040204" pitchFamily="34" charset="0"/>
                <a:ea typeface="SimSun" panose="02010600030101010101" pitchFamily="2" charset="-122"/>
              </a:rPr>
              <a:t> linkages between them. </a:t>
            </a:r>
            <a:endParaRPr lang="en-US" altLang="zh-CN" sz="2000" dirty="0">
              <a:latin typeface="Tahoma" panose="020B0604030504040204" pitchFamily="34" charset="0"/>
              <a:ea typeface="SimSun" panose="02010600030101010101" pitchFamily="2" charset="-122"/>
            </a:endParaRPr>
          </a:p>
        </p:txBody>
      </p:sp>
      <p:sp>
        <p:nvSpPr>
          <p:cNvPr id="104482" name="Slide Number Placeholder 7"/>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2"/>
          <p:cNvSpPr>
            <a:spLocks noGrp="1"/>
          </p:cNvSpPr>
          <p:nvPr>
            <p:ph type="title" idx="4294967295"/>
          </p:nvPr>
        </p:nvSpPr>
        <p:spPr>
          <a:xfrm>
            <a:off x="0" y="381000"/>
            <a:ext cx="9144000" cy="609600"/>
          </a:xfrm>
        </p:spPr>
        <p:txBody>
          <a:bodyPr vert="horz" wrap="square" lIns="91440" tIns="45720" rIns="91440" bIns="45720" anchor="b" anchorCtr="0"/>
          <a:p>
            <a:pPr eaLnBrk="1" hangingPunct="1"/>
            <a:r>
              <a:rPr dirty="0"/>
              <a:t>Experiment: Email Dataset</a:t>
            </a:r>
            <a:endParaRPr dirty="0"/>
          </a:p>
        </p:txBody>
      </p:sp>
      <p:sp>
        <p:nvSpPr>
          <p:cNvPr id="105475" name="Rectangle 3"/>
          <p:cNvSpPr>
            <a:spLocks noGrp="1"/>
          </p:cNvSpPr>
          <p:nvPr>
            <p:ph type="body" sz="half" idx="4294967295"/>
          </p:nvPr>
        </p:nvSpPr>
        <p:spPr>
          <a:xfrm>
            <a:off x="228600" y="1295400"/>
            <a:ext cx="5029200" cy="2971800"/>
          </a:xfrm>
        </p:spPr>
        <p:txBody>
          <a:bodyPr vert="horz" wrap="square" lIns="91440" tIns="45720" rIns="91440" bIns="45720" anchor="t" anchorCtr="0"/>
          <a:lstStyle>
            <a:lvl1pPr lvl="0">
              <a:buClr>
                <a:schemeClr val="folHlink"/>
              </a:buClr>
              <a:buSzPct val="60000"/>
              <a:buFont typeface="Wingdings" panose="05000000000000000000" pitchFamily="2" charset="2"/>
              <a:defRPr sz="2400"/>
            </a:lvl1pPr>
            <a:lvl2pPr lvl="1">
              <a:buClr>
                <a:schemeClr val="hlink"/>
              </a:buClr>
              <a:buSzPct val="55000"/>
              <a:buFont typeface="Wingdings" panose="05000000000000000000" pitchFamily="2" charset="2"/>
              <a:defRPr sz="2400"/>
            </a:lvl2pPr>
            <a:lvl3pPr lvl="2">
              <a:buClr>
                <a:schemeClr val="folHlink"/>
              </a:buClr>
              <a:buSzPct val="50000"/>
              <a:buFont typeface="Wingdings" panose="05000000000000000000" pitchFamily="2" charset="2"/>
              <a:defRPr sz="2000"/>
            </a:lvl3pPr>
            <a:lvl4pPr lvl="3">
              <a:buClr>
                <a:schemeClr val="accent2"/>
              </a:buClr>
              <a:buSzPct val="55000"/>
              <a:buFont typeface="Wingdings" panose="05000000000000000000" pitchFamily="2" charset="2"/>
              <a:defRPr sz="1800"/>
            </a:lvl4pPr>
            <a:lvl5pPr lvl="4">
              <a:buClr>
                <a:schemeClr val="accent1"/>
              </a:buClr>
              <a:buSzPct val="50000"/>
              <a:buFont typeface="Wingdings" panose="05000000000000000000" pitchFamily="2" charset="2"/>
              <a:defRPr sz="1800"/>
            </a:lvl5pPr>
          </a:lstStyle>
          <a:p>
            <a:pPr lvl="0" eaLnBrk="1" hangingPunct="1"/>
            <a:r>
              <a:rPr sz="1800" dirty="0"/>
              <a:t>F. Nielsen. Email dataset. www.imm.dtu.dk/~rem/data/Email-1431.zip</a:t>
            </a:r>
            <a:endParaRPr sz="1800" dirty="0"/>
          </a:p>
          <a:p>
            <a:pPr lvl="0" eaLnBrk="1" hangingPunct="1"/>
            <a:r>
              <a:rPr sz="1800" dirty="0"/>
              <a:t>370 emails on conferences, 272 on jobs, and 789 spam emails </a:t>
            </a:r>
            <a:endParaRPr sz="1800" dirty="0"/>
          </a:p>
          <a:p>
            <a:pPr lvl="0" eaLnBrk="1" hangingPunct="1"/>
            <a:r>
              <a:rPr lang="en-US" altLang="zh-CN" sz="1800" dirty="0">
                <a:ea typeface="SimSun" panose="02010600030101010101" pitchFamily="2" charset="-122"/>
              </a:rPr>
              <a:t>Accuracy: measured by manually labeled data</a:t>
            </a:r>
            <a:endParaRPr lang="en-US" altLang="zh-CN" sz="1800" dirty="0">
              <a:ea typeface="SimSun" panose="02010600030101010101" pitchFamily="2" charset="-122"/>
            </a:endParaRPr>
          </a:p>
          <a:p>
            <a:pPr lvl="0" eaLnBrk="1" hangingPunct="1"/>
            <a:r>
              <a:rPr lang="en-US" altLang="zh-CN" sz="1800" dirty="0">
                <a:ea typeface="SimSun" panose="02010600030101010101" pitchFamily="2" charset="-122"/>
              </a:rPr>
              <a:t>Accuracy of clustering: % of pairs of objects in the same cluster that share common label</a:t>
            </a:r>
            <a:endParaRPr sz="1800" dirty="0"/>
          </a:p>
        </p:txBody>
      </p:sp>
      <p:graphicFrame>
        <p:nvGraphicFramePr>
          <p:cNvPr id="1913918" name="Group 62"/>
          <p:cNvGraphicFramePr>
            <a:graphicFrameLocks noGrp="1"/>
          </p:cNvGraphicFramePr>
          <p:nvPr>
            <p:ph sz="half" idx="1"/>
          </p:nvPr>
        </p:nvGraphicFramePr>
        <p:xfrm>
          <a:off x="5181600" y="1357313"/>
          <a:ext cx="3962400" cy="2381250"/>
        </p:xfrm>
        <a:graphic>
          <a:graphicData uri="http://schemas.openxmlformats.org/drawingml/2006/table">
            <a:tbl>
              <a:tblPr/>
              <a:tblGrid>
                <a:gridCol w="1625600"/>
                <a:gridCol w="1263650"/>
                <a:gridCol w="1073150"/>
              </a:tblGrid>
              <a:tr h="400050">
                <a:tc>
                  <a:txBody>
                    <a:bodyPr/>
                    <a:lstStyle/>
                    <a:p>
                      <a:pPr marL="342900" marR="0" lvl="0" indent="-342900" algn="ctr"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sz="2000" b="0" i="1" u="none" strike="noStrike" cap="none" normalizeH="0" baseline="0" smtClean="0">
                          <a:ln>
                            <a:noFill/>
                          </a:ln>
                          <a:solidFill>
                            <a:schemeClr val="tx1"/>
                          </a:solidFill>
                          <a:effectLst/>
                          <a:latin typeface="Arial" panose="020B0604020202020204" pitchFamily="34" charset="0"/>
                          <a:cs typeface="Arial" panose="020B0604020202020204" pitchFamily="34" charset="0"/>
                        </a:rPr>
                        <a:t>Approach</a:t>
                      </a:r>
                      <a:endParaRPr kumimoji="0" lang="en-US" sz="2000" b="0" i="1"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sz="2000" b="0" i="1" u="none" strike="noStrike" cap="none" normalizeH="0" baseline="0" smtClean="0">
                          <a:ln>
                            <a:noFill/>
                          </a:ln>
                          <a:solidFill>
                            <a:schemeClr val="tx1"/>
                          </a:solidFill>
                          <a:effectLst/>
                          <a:latin typeface="Arial" panose="020B0604020202020204" pitchFamily="34" charset="0"/>
                          <a:cs typeface="Arial" panose="020B0604020202020204" pitchFamily="34" charset="0"/>
                        </a:rPr>
                        <a:t>Accuracy</a:t>
                      </a:r>
                      <a:endParaRPr kumimoji="0" lang="en-US" sz="2000" b="0" i="1"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sz="2000" b="0" i="1" u="none" strike="noStrike" cap="none" normalizeH="0" baseline="0" smtClean="0">
                          <a:ln>
                            <a:noFill/>
                          </a:ln>
                          <a:solidFill>
                            <a:schemeClr val="tx1"/>
                          </a:solidFill>
                          <a:effectLst/>
                          <a:latin typeface="Arial" panose="020B0604020202020204" pitchFamily="34" charset="0"/>
                          <a:cs typeface="Arial" panose="020B0604020202020204" pitchFamily="34" charset="0"/>
                        </a:rPr>
                        <a:t>time (s)</a:t>
                      </a:r>
                      <a:endParaRPr kumimoji="0" lang="en-US" sz="2000" b="0" i="1"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79388">
                <a:tc>
                  <a:txBody>
                    <a:bodyPr/>
                    <a:lstStyle/>
                    <a:p>
                      <a:pPr marL="342900" marR="0" lvl="0" indent="-342900" algn="ctr"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LinkClus</a:t>
                      </a:r>
                      <a:endParaRPr kumimoji="0" lang="en-US" sz="2000" b="0"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0.8026</a:t>
                      </a:r>
                      <a:endParaRPr kumimoji="0" lang="en-US" sz="2000" b="0"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1579.6</a:t>
                      </a:r>
                      <a:endParaRPr kumimoji="0" lang="en-US" sz="2000" b="0"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79388">
                <a:tc>
                  <a:txBody>
                    <a:bodyPr/>
                    <a:lstStyle/>
                    <a:p>
                      <a:pPr marL="342900" marR="0" lvl="0" indent="-342900" algn="ctr"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SimRank</a:t>
                      </a:r>
                      <a:endParaRPr kumimoji="0" lang="en-US" sz="2000" b="0"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0.7965</a:t>
                      </a:r>
                      <a:endParaRPr kumimoji="0" lang="en-US" sz="2000" b="0"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39160</a:t>
                      </a:r>
                      <a:endParaRPr kumimoji="0" lang="en-US" sz="2000" b="0"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79388">
                <a:tc>
                  <a:txBody>
                    <a:bodyPr/>
                    <a:lstStyle/>
                    <a:p>
                      <a:pPr marL="342900" marR="0" lvl="0" indent="-342900" algn="ctr"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ReCom </a:t>
                      </a:r>
                      <a:endParaRPr kumimoji="0" lang="en-US" sz="2000" b="0"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0.5711</a:t>
                      </a:r>
                      <a:endParaRPr kumimoji="0" lang="en-US" sz="2000" b="0"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74.6</a:t>
                      </a:r>
                      <a:endParaRPr kumimoji="0" lang="en-US" sz="2000" b="0"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77800">
                <a:tc>
                  <a:txBody>
                    <a:bodyPr/>
                    <a:lstStyle/>
                    <a:p>
                      <a:pPr marL="342900" marR="0" lvl="0" indent="-342900" algn="ctr"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F-SimRank</a:t>
                      </a:r>
                      <a:endParaRPr kumimoji="0" lang="en-US" sz="2000" b="0"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0.3688</a:t>
                      </a:r>
                      <a:endParaRPr kumimoji="0" lang="en-US" sz="2000" b="0"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479.7</a:t>
                      </a:r>
                      <a:endParaRPr kumimoji="0" lang="en-US" sz="2000" b="0"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79388">
                <a:tc>
                  <a:txBody>
                    <a:bodyPr/>
                    <a:lstStyle/>
                    <a:p>
                      <a:pPr marL="342900" marR="0" lvl="0" indent="-342900" algn="ctr"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CLARANS </a:t>
                      </a:r>
                      <a:endParaRPr kumimoji="0" lang="en-US" sz="2000" b="0"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0.4768</a:t>
                      </a:r>
                      <a:endParaRPr kumimoji="0" lang="en-US" sz="2000" b="0"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sz="20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8.55</a:t>
                      </a:r>
                      <a:endParaRPr kumimoji="0" lang="en-US" sz="2000" b="0"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5506" name="Rectangle 54"/>
          <p:cNvSpPr/>
          <p:nvPr/>
        </p:nvSpPr>
        <p:spPr>
          <a:xfrm>
            <a:off x="228600" y="3886200"/>
            <a:ext cx="8763000" cy="2514600"/>
          </a:xfrm>
          <a:prstGeom prst="rect">
            <a:avLst/>
          </a:prstGeom>
          <a:noFill/>
          <a:ln w="9525">
            <a:noFill/>
          </a:ln>
        </p:spPr>
        <p:txBody>
          <a:bodyPr/>
          <a:p>
            <a:pPr marL="342900" indent="-342900" algn="l">
              <a:lnSpc>
                <a:spcPct val="110000"/>
              </a:lnSpc>
              <a:spcBef>
                <a:spcPct val="20000"/>
              </a:spcBef>
              <a:buClr>
                <a:schemeClr val="folHlink"/>
              </a:buClr>
              <a:buSzPct val="60000"/>
              <a:buFont typeface="Wingdings" panose="05000000000000000000" pitchFamily="2" charset="2"/>
              <a:buChar char="n"/>
            </a:pPr>
            <a:r>
              <a:rPr lang="en-US" altLang="zh-CN" sz="1800" dirty="0">
                <a:latin typeface="Arial" panose="020B0604020202020204" pitchFamily="34" charset="0"/>
                <a:ea typeface="SimSun" panose="02010600030101010101" pitchFamily="2" charset="-122"/>
              </a:rPr>
              <a:t>Approaches compared:</a:t>
            </a:r>
            <a:endParaRPr lang="en-US" altLang="zh-CN" sz="1800" dirty="0">
              <a:latin typeface="Arial" panose="020B0604020202020204" pitchFamily="34" charset="0"/>
              <a:ea typeface="SimSun" panose="02010600030101010101" pitchFamily="2" charset="-122"/>
            </a:endParaRPr>
          </a:p>
          <a:p>
            <a:pPr marL="742950" lvl="1" indent="-285750" algn="l" eaLnBrk="1" hangingPunct="1">
              <a:lnSpc>
                <a:spcPct val="110000"/>
              </a:lnSpc>
              <a:spcBef>
                <a:spcPct val="20000"/>
              </a:spcBef>
              <a:buClr>
                <a:schemeClr val="hlink"/>
              </a:buClr>
              <a:buSzPct val="55000"/>
              <a:buFont typeface="Wingdings" panose="05000000000000000000" pitchFamily="2" charset="2"/>
              <a:buChar char="n"/>
            </a:pPr>
            <a:r>
              <a:rPr lang="en-US" altLang="zh-CN" sz="1800" dirty="0">
                <a:latin typeface="Arial" panose="020B0604020202020204" pitchFamily="34" charset="0"/>
                <a:ea typeface="SimSun" panose="02010600030101010101" pitchFamily="2" charset="-122"/>
              </a:rPr>
              <a:t>SimRank (Jeh &amp; Widom, KDD 2002): Computing pair-wise similarities</a:t>
            </a:r>
            <a:endParaRPr lang="en-US" altLang="zh-CN" sz="1800" dirty="0">
              <a:latin typeface="Arial" panose="020B0604020202020204" pitchFamily="34" charset="0"/>
              <a:ea typeface="SimSun" panose="02010600030101010101" pitchFamily="2" charset="-122"/>
            </a:endParaRPr>
          </a:p>
          <a:p>
            <a:pPr marL="742950" lvl="1" indent="-285750" algn="l" eaLnBrk="1" hangingPunct="1">
              <a:lnSpc>
                <a:spcPct val="110000"/>
              </a:lnSpc>
              <a:spcBef>
                <a:spcPct val="20000"/>
              </a:spcBef>
              <a:buClr>
                <a:schemeClr val="hlink"/>
              </a:buClr>
              <a:buSzPct val="55000"/>
              <a:buFont typeface="Wingdings" panose="05000000000000000000" pitchFamily="2" charset="2"/>
              <a:buChar char="n"/>
            </a:pPr>
            <a:r>
              <a:rPr lang="en-US" altLang="zh-CN" sz="1800" dirty="0">
                <a:latin typeface="Arial" panose="020B0604020202020204" pitchFamily="34" charset="0"/>
                <a:ea typeface="SimSun" panose="02010600030101010101" pitchFamily="2" charset="-122"/>
              </a:rPr>
              <a:t>SimRank with FingerPrints (F-SimRank): Fogaras &amp; R´acz, WWW 2005</a:t>
            </a:r>
            <a:endParaRPr lang="en-US" altLang="zh-CN" sz="1800" dirty="0">
              <a:latin typeface="Arial" panose="020B0604020202020204" pitchFamily="34" charset="0"/>
              <a:ea typeface="SimSun" panose="02010600030101010101" pitchFamily="2" charset="-122"/>
            </a:endParaRPr>
          </a:p>
          <a:p>
            <a:pPr marL="1143000" lvl="2" indent="-228600" algn="l" eaLnBrk="1" hangingPunct="1">
              <a:lnSpc>
                <a:spcPct val="110000"/>
              </a:lnSpc>
              <a:spcBef>
                <a:spcPct val="20000"/>
              </a:spcBef>
              <a:buClr>
                <a:schemeClr val="folHlink"/>
              </a:buClr>
              <a:buSzPct val="50000"/>
              <a:buFont typeface="Wingdings" panose="05000000000000000000" pitchFamily="2" charset="2"/>
              <a:buChar char="n"/>
            </a:pPr>
            <a:r>
              <a:rPr lang="en-US" altLang="zh-CN" sz="1800" dirty="0">
                <a:latin typeface="Arial" panose="020B0604020202020204" pitchFamily="34" charset="0"/>
                <a:ea typeface="SimSun" panose="02010600030101010101" pitchFamily="2" charset="-122"/>
              </a:rPr>
              <a:t>pre-computes a large sample of random paths from each object and uses samples of two objects to estimate SimRank similarity</a:t>
            </a:r>
            <a:endParaRPr lang="en-US" altLang="zh-CN" sz="1800" dirty="0">
              <a:latin typeface="Arial" panose="020B0604020202020204" pitchFamily="34" charset="0"/>
              <a:ea typeface="SimSun" panose="02010600030101010101" pitchFamily="2" charset="-122"/>
            </a:endParaRPr>
          </a:p>
          <a:p>
            <a:pPr marL="742950" lvl="1" indent="-285750" algn="l" eaLnBrk="1" hangingPunct="1">
              <a:lnSpc>
                <a:spcPct val="110000"/>
              </a:lnSpc>
              <a:spcBef>
                <a:spcPct val="20000"/>
              </a:spcBef>
              <a:buClr>
                <a:schemeClr val="hlink"/>
              </a:buClr>
              <a:buSzPct val="55000"/>
              <a:buFont typeface="Wingdings" panose="05000000000000000000" pitchFamily="2" charset="2"/>
              <a:buChar char="n"/>
            </a:pPr>
            <a:r>
              <a:rPr lang="en-US" altLang="zh-CN" sz="1800" dirty="0">
                <a:latin typeface="Arial" panose="020B0604020202020204" pitchFamily="34" charset="0"/>
                <a:ea typeface="SimSun" panose="02010600030101010101" pitchFamily="2" charset="-122"/>
              </a:rPr>
              <a:t>ReCom (Wang et al. SIGIR 2003)</a:t>
            </a:r>
            <a:endParaRPr lang="en-US" altLang="zh-CN" sz="1800" dirty="0">
              <a:latin typeface="Arial" panose="020B0604020202020204" pitchFamily="34" charset="0"/>
              <a:ea typeface="SimSun" panose="02010600030101010101" pitchFamily="2" charset="-122"/>
            </a:endParaRPr>
          </a:p>
          <a:p>
            <a:pPr marL="1143000" lvl="2" indent="-228600" algn="l" eaLnBrk="1" hangingPunct="1">
              <a:lnSpc>
                <a:spcPct val="110000"/>
              </a:lnSpc>
              <a:spcBef>
                <a:spcPct val="20000"/>
              </a:spcBef>
              <a:buClr>
                <a:schemeClr val="folHlink"/>
              </a:buClr>
              <a:buSzPct val="50000"/>
              <a:buFont typeface="Wingdings" panose="05000000000000000000" pitchFamily="2" charset="2"/>
              <a:buChar char="n"/>
            </a:pPr>
            <a:r>
              <a:rPr lang="en-US" altLang="zh-CN" sz="1800" dirty="0">
                <a:latin typeface="Arial" panose="020B0604020202020204" pitchFamily="34" charset="0"/>
                <a:ea typeface="SimSun" panose="02010600030101010101" pitchFamily="2" charset="-122"/>
              </a:rPr>
              <a:t>Iteratively clustering objects using cluster labels of linked objects</a:t>
            </a:r>
            <a:endParaRPr sz="1800" dirty="0">
              <a:latin typeface="Arial" panose="020B0604020202020204" pitchFamily="34" charset="0"/>
            </a:endParaRPr>
          </a:p>
        </p:txBody>
      </p:sp>
      <p:sp>
        <p:nvSpPr>
          <p:cNvPr id="105507" name="Slide Number Placeholder 8"/>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2"/>
          <p:cNvSpPr>
            <a:spLocks noGrp="1"/>
          </p:cNvSpPr>
          <p:nvPr>
            <p:ph type="title" idx="4294967295"/>
          </p:nvPr>
        </p:nvSpPr>
        <p:spPr>
          <a:xfrm>
            <a:off x="228600" y="304800"/>
            <a:ext cx="8763000" cy="762000"/>
          </a:xfrm>
        </p:spPr>
        <p:txBody>
          <a:bodyPr vert="horz" wrap="square" lIns="92075" tIns="46038" rIns="92075" bIns="46038" anchor="ctr" anchorCtr="0"/>
          <a:p>
            <a:pPr eaLnBrk="1" hangingPunct="1"/>
            <a:r>
              <a:rPr sz="2800" dirty="0"/>
              <a:t>WaveCluster: Clustering by Wavelet Analysis (1998)</a:t>
            </a:r>
            <a:endParaRPr sz="2800" dirty="0"/>
          </a:p>
        </p:txBody>
      </p:sp>
      <p:sp>
        <p:nvSpPr>
          <p:cNvPr id="106499" name="Rectangle 3"/>
          <p:cNvSpPr>
            <a:spLocks noGrp="1"/>
          </p:cNvSpPr>
          <p:nvPr>
            <p:ph type="body" idx="4294967295"/>
          </p:nvPr>
        </p:nvSpPr>
        <p:spPr>
          <a:xfrm>
            <a:off x="304800" y="1371600"/>
            <a:ext cx="8686800" cy="2667000"/>
          </a:xfrm>
        </p:spPr>
        <p:txBody>
          <a:bodyPr vert="horz" wrap="square" lIns="92075" tIns="46038" rIns="92075" bIns="46038" anchor="t" anchorCtr="0"/>
          <a:p>
            <a:pPr eaLnBrk="1" hangingPunct="1"/>
            <a:r>
              <a:rPr sz="2000" dirty="0"/>
              <a:t>Sheikholeslami, Chatterjee, and Zhang (VLDB’98) </a:t>
            </a:r>
            <a:endParaRPr sz="2000" dirty="0"/>
          </a:p>
          <a:p>
            <a:pPr eaLnBrk="1" hangingPunct="1"/>
            <a:r>
              <a:rPr sz="2000" dirty="0"/>
              <a:t>A multi-resolution clustering approach which applies wavelet transform to the feature space; both grid-based and density-based</a:t>
            </a:r>
            <a:endParaRPr sz="2000" dirty="0"/>
          </a:p>
          <a:p>
            <a:pPr eaLnBrk="1" hangingPunct="1"/>
            <a:r>
              <a:rPr sz="2000" dirty="0"/>
              <a:t>Wavelet transform: A signal processing technique that decomposes a signal into different frequency sub-band</a:t>
            </a:r>
            <a:endParaRPr sz="2000" dirty="0"/>
          </a:p>
          <a:p>
            <a:pPr lvl="1" eaLnBrk="1" hangingPunct="1"/>
            <a:r>
              <a:rPr sz="2000" dirty="0"/>
              <a:t>Data are transformed to preserve relative distance between objects at different levels of resolution</a:t>
            </a:r>
            <a:endParaRPr sz="2000" dirty="0"/>
          </a:p>
          <a:p>
            <a:pPr lvl="1" eaLnBrk="1" hangingPunct="1"/>
            <a:r>
              <a:rPr sz="2000" dirty="0"/>
              <a:t>Allows natural clusters to become more distinguishable</a:t>
            </a:r>
            <a:endParaRPr sz="2000" dirty="0"/>
          </a:p>
          <a:p>
            <a:pPr eaLnBrk="1" hangingPunct="1">
              <a:lnSpc>
                <a:spcPct val="110000"/>
              </a:lnSpc>
            </a:pPr>
            <a:endParaRPr sz="2000" dirty="0"/>
          </a:p>
        </p:txBody>
      </p:sp>
      <p:pic>
        <p:nvPicPr>
          <p:cNvPr id="106500" name="Picture 4"/>
          <p:cNvPicPr/>
          <p:nvPr/>
        </p:nvPicPr>
        <p:blipFill>
          <a:blip r:embed="rId1"/>
          <a:stretch>
            <a:fillRect/>
          </a:stretch>
        </p:blipFill>
        <p:spPr>
          <a:xfrm>
            <a:off x="928688" y="4343400"/>
            <a:ext cx="3262312" cy="2209800"/>
          </a:xfrm>
          <a:prstGeom prst="rect">
            <a:avLst/>
          </a:prstGeom>
          <a:noFill/>
          <a:ln w="9525">
            <a:noFill/>
          </a:ln>
        </p:spPr>
      </p:pic>
      <p:pic>
        <p:nvPicPr>
          <p:cNvPr id="106501" name="Picture 5"/>
          <p:cNvPicPr/>
          <p:nvPr/>
        </p:nvPicPr>
        <p:blipFill>
          <a:blip r:embed="rId2"/>
          <a:stretch>
            <a:fillRect/>
          </a:stretch>
        </p:blipFill>
        <p:spPr>
          <a:xfrm>
            <a:off x="4876800" y="4311650"/>
            <a:ext cx="3319463" cy="2317750"/>
          </a:xfrm>
          <a:prstGeom prst="rect">
            <a:avLst/>
          </a:prstGeom>
          <a:noFill/>
          <a:ln w="9525">
            <a:noFill/>
          </a:ln>
        </p:spPr>
      </p:pic>
      <p:sp>
        <p:nvSpPr>
          <p:cNvPr id="106502" name="Slide Number Placeholder 8"/>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2"/>
          <p:cNvSpPr>
            <a:spLocks noGrp="1"/>
          </p:cNvSpPr>
          <p:nvPr>
            <p:ph type="title" idx="4294967295"/>
          </p:nvPr>
        </p:nvSpPr>
        <p:spPr>
          <a:xfrm>
            <a:off x="822325" y="381000"/>
            <a:ext cx="7580313" cy="609600"/>
          </a:xfrm>
        </p:spPr>
        <p:txBody>
          <a:bodyPr vert="horz" wrap="square" lIns="92075" tIns="46038" rIns="92075" bIns="46038" anchor="ctr" anchorCtr="0"/>
          <a:p>
            <a:pPr eaLnBrk="1" hangingPunct="1"/>
            <a:r>
              <a:rPr dirty="0"/>
              <a:t>The WaveCluster Algorithm</a:t>
            </a:r>
            <a:endParaRPr dirty="0"/>
          </a:p>
        </p:txBody>
      </p:sp>
      <p:sp>
        <p:nvSpPr>
          <p:cNvPr id="107523" name="Rectangle 3"/>
          <p:cNvSpPr>
            <a:spLocks noGrp="1"/>
          </p:cNvSpPr>
          <p:nvPr>
            <p:ph type="body" idx="4294967295"/>
          </p:nvPr>
        </p:nvSpPr>
        <p:spPr>
          <a:xfrm>
            <a:off x="304800" y="1371600"/>
            <a:ext cx="8305800" cy="5029200"/>
          </a:xfrm>
        </p:spPr>
        <p:txBody>
          <a:bodyPr vert="horz" wrap="square" lIns="92075" tIns="46038" rIns="92075" bIns="46038" anchor="t" anchorCtr="0"/>
          <a:p>
            <a:pPr eaLnBrk="1" hangingPunct="1"/>
            <a:r>
              <a:rPr sz="2000" dirty="0"/>
              <a:t>How to apply wavelet transform to find clusters</a:t>
            </a:r>
            <a:endParaRPr sz="2000" dirty="0"/>
          </a:p>
          <a:p>
            <a:pPr lvl="1" eaLnBrk="1" hangingPunct="1"/>
            <a:r>
              <a:rPr sz="2000" dirty="0"/>
              <a:t>Summarizes the data by imposing a multidimensional grid structure onto data space</a:t>
            </a:r>
            <a:endParaRPr sz="2000" dirty="0"/>
          </a:p>
          <a:p>
            <a:pPr lvl="1" eaLnBrk="1" hangingPunct="1"/>
            <a:r>
              <a:rPr sz="2000" dirty="0"/>
              <a:t>These multidimensional spatial data objects are represented in a n-dimensional feature space</a:t>
            </a:r>
            <a:endParaRPr sz="2000" dirty="0"/>
          </a:p>
          <a:p>
            <a:pPr lvl="1" eaLnBrk="1" hangingPunct="1"/>
            <a:r>
              <a:rPr sz="2000" dirty="0"/>
              <a:t>Apply wavelet transform on feature space to find the dense regions in the feature space</a:t>
            </a:r>
            <a:endParaRPr sz="2000" dirty="0"/>
          </a:p>
          <a:p>
            <a:pPr lvl="1" eaLnBrk="1" hangingPunct="1"/>
            <a:r>
              <a:rPr sz="2000" dirty="0"/>
              <a:t>Apply wavelet transform multiple times which result in clusters at different scales from fine to coarse </a:t>
            </a:r>
            <a:endParaRPr sz="2000" dirty="0"/>
          </a:p>
          <a:p>
            <a:pPr eaLnBrk="1" hangingPunct="1"/>
            <a:r>
              <a:rPr sz="2000" dirty="0"/>
              <a:t>Major features:</a:t>
            </a:r>
            <a:endParaRPr sz="2000" dirty="0"/>
          </a:p>
          <a:p>
            <a:pPr lvl="1" eaLnBrk="1" hangingPunct="1"/>
            <a:r>
              <a:rPr sz="2000" dirty="0"/>
              <a:t>Complexity O(N)</a:t>
            </a:r>
            <a:endParaRPr sz="2000" dirty="0"/>
          </a:p>
          <a:p>
            <a:pPr lvl="1" eaLnBrk="1" hangingPunct="1"/>
            <a:r>
              <a:rPr sz="2000" dirty="0"/>
              <a:t>Detect arbitrary shaped clusters at different scales</a:t>
            </a:r>
            <a:endParaRPr sz="2000" dirty="0"/>
          </a:p>
          <a:p>
            <a:pPr lvl="1" eaLnBrk="1" hangingPunct="1"/>
            <a:r>
              <a:rPr sz="2000" dirty="0"/>
              <a:t>Not sensitive to noise, not sensitive to input order</a:t>
            </a:r>
            <a:endParaRPr sz="2000" dirty="0"/>
          </a:p>
          <a:p>
            <a:pPr lvl="1" eaLnBrk="1" hangingPunct="1"/>
            <a:r>
              <a:rPr sz="2000" dirty="0"/>
              <a:t>Only applicable to low dimensional data</a:t>
            </a:r>
            <a:endParaRPr sz="2000" dirty="0"/>
          </a:p>
        </p:txBody>
      </p:sp>
      <p:sp>
        <p:nvSpPr>
          <p:cNvPr id="107524" name="Slide Number Placeholder 6"/>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spTree>
  </p:cSld>
  <p:clrMapOvr>
    <a:masterClrMapping/>
  </p:clrMapOvr>
  <p:transition>
    <p:zoom/>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Slide Number Placeholder 5"/>
          <p:cNvSpPr txBox="1">
            <a:spLocks noGrp="1"/>
          </p:cNvSpPr>
          <p:nvPr/>
        </p:nvSpPr>
        <p:spPr>
          <a:xfrm>
            <a:off x="7239000" y="6477000"/>
            <a:ext cx="1905000" cy="381000"/>
          </a:xfrm>
          <a:prstGeom prst="rect">
            <a:avLst/>
          </a:prstGeom>
          <a:noFill/>
          <a:ln w="9525">
            <a:noFill/>
          </a:ln>
        </p:spPr>
        <p:txBody>
          <a:bodyPr anchor="b" anchorCtr="0"/>
          <a:p>
            <a:pPr algn="r"/>
            <a:fld id="{9A0DB2DC-4C9A-4742-B13C-FB6460FD3503}" type="slidenum">
              <a:rPr lang="en-US" sz="1200" dirty="0">
                <a:latin typeface="Tahoma" panose="020B0604030504040204" pitchFamily="34" charset="0"/>
              </a:rPr>
            </a:fld>
            <a:endParaRPr lang="en-US" sz="1200" dirty="0">
              <a:latin typeface="Tahoma" panose="020B0604030504040204" pitchFamily="34" charset="0"/>
            </a:endParaRPr>
          </a:p>
        </p:txBody>
      </p:sp>
      <p:pic>
        <p:nvPicPr>
          <p:cNvPr id="108547" name="Picture 24"/>
          <p:cNvPicPr/>
          <p:nvPr/>
        </p:nvPicPr>
        <p:blipFill>
          <a:blip r:embed="rId1"/>
          <a:stretch>
            <a:fillRect/>
          </a:stretch>
        </p:blipFill>
        <p:spPr>
          <a:xfrm>
            <a:off x="0" y="2900363"/>
            <a:ext cx="9142413" cy="4110037"/>
          </a:xfrm>
          <a:prstGeom prst="rect">
            <a:avLst/>
          </a:prstGeom>
          <a:noFill/>
          <a:ln w="9525">
            <a:noFill/>
          </a:ln>
        </p:spPr>
      </p:pic>
      <p:sp>
        <p:nvSpPr>
          <p:cNvPr id="108548" name="Rectangle 2"/>
          <p:cNvSpPr>
            <a:spLocks noGrp="1"/>
          </p:cNvSpPr>
          <p:nvPr>
            <p:ph type="title" idx="4294967295"/>
          </p:nvPr>
        </p:nvSpPr>
        <p:spPr>
          <a:xfrm>
            <a:off x="304800" y="152400"/>
            <a:ext cx="4953000" cy="990600"/>
          </a:xfrm>
        </p:spPr>
        <p:txBody>
          <a:bodyPr vert="horz" wrap="square" lIns="92075" tIns="46038" rIns="92075" bIns="46038" anchor="ctr" anchorCtr="0"/>
          <a:p>
            <a:pPr eaLnBrk="1" hangingPunct="1"/>
            <a:r>
              <a:rPr sz="3200" dirty="0"/>
              <a:t>Quantization</a:t>
            </a:r>
            <a:br>
              <a:rPr sz="3200" dirty="0"/>
            </a:br>
            <a:r>
              <a:rPr sz="3200" dirty="0"/>
              <a:t>&amp; Transformation</a:t>
            </a:r>
            <a:endParaRPr sz="3200" dirty="0"/>
          </a:p>
        </p:txBody>
      </p:sp>
      <p:sp>
        <p:nvSpPr>
          <p:cNvPr id="108549" name="Rectangle 13"/>
          <p:cNvSpPr>
            <a:spLocks noGrp="1"/>
          </p:cNvSpPr>
          <p:nvPr>
            <p:ph type="body" idx="4294967295"/>
          </p:nvPr>
        </p:nvSpPr>
        <p:spPr>
          <a:xfrm>
            <a:off x="381000" y="1371600"/>
            <a:ext cx="5029200" cy="1981200"/>
          </a:xfrm>
        </p:spPr>
        <p:txBody>
          <a:bodyPr vert="horz" wrap="square" lIns="91440" tIns="45720" rIns="91440" bIns="45720" anchor="t" anchorCtr="0"/>
          <a:p>
            <a:pPr eaLnBrk="1" hangingPunct="1"/>
            <a:r>
              <a:rPr sz="2000" dirty="0"/>
              <a:t>Quantize data into m-D grid structure, then wavelet transform</a:t>
            </a:r>
            <a:endParaRPr sz="2000" dirty="0"/>
          </a:p>
          <a:p>
            <a:pPr lvl="1" eaLnBrk="1" hangingPunct="1">
              <a:buNone/>
            </a:pPr>
            <a:r>
              <a:rPr sz="2000" dirty="0"/>
              <a:t>a) scale 1: high resolution</a:t>
            </a:r>
            <a:endParaRPr sz="2000" dirty="0"/>
          </a:p>
          <a:p>
            <a:pPr lvl="1" eaLnBrk="1" hangingPunct="1">
              <a:buNone/>
            </a:pPr>
            <a:r>
              <a:rPr sz="2000" dirty="0"/>
              <a:t>b) scale 2: medium resolution</a:t>
            </a:r>
            <a:endParaRPr sz="2000" dirty="0"/>
          </a:p>
          <a:p>
            <a:pPr lvl="1" eaLnBrk="1" hangingPunct="1">
              <a:buNone/>
            </a:pPr>
            <a:r>
              <a:rPr sz="2000" dirty="0"/>
              <a:t>c) scale 3: low resolution</a:t>
            </a:r>
            <a:endParaRPr sz="2000" dirty="0"/>
          </a:p>
        </p:txBody>
      </p:sp>
      <p:grpSp>
        <p:nvGrpSpPr>
          <p:cNvPr id="108550" name="Group 14"/>
          <p:cNvGrpSpPr/>
          <p:nvPr/>
        </p:nvGrpSpPr>
        <p:grpSpPr>
          <a:xfrm>
            <a:off x="4495800" y="0"/>
            <a:ext cx="4648200" cy="3200400"/>
            <a:chOff x="960" y="1152"/>
            <a:chExt cx="3807" cy="2750"/>
          </a:xfrm>
        </p:grpSpPr>
        <p:pic>
          <p:nvPicPr>
            <p:cNvPr id="108551" name="Picture 15"/>
            <p:cNvPicPr/>
            <p:nvPr/>
          </p:nvPicPr>
          <p:blipFill>
            <a:blip r:embed="rId2"/>
            <a:stretch>
              <a:fillRect/>
            </a:stretch>
          </p:blipFill>
          <p:spPr>
            <a:xfrm>
              <a:off x="960" y="1152"/>
              <a:ext cx="3807" cy="2750"/>
            </a:xfrm>
            <a:prstGeom prst="rect">
              <a:avLst/>
            </a:prstGeom>
            <a:noFill/>
            <a:ln w="9525">
              <a:noFill/>
            </a:ln>
          </p:spPr>
        </p:pic>
        <p:grpSp>
          <p:nvGrpSpPr>
            <p:cNvPr id="108552" name="Group 16"/>
            <p:cNvGrpSpPr/>
            <p:nvPr/>
          </p:nvGrpSpPr>
          <p:grpSpPr>
            <a:xfrm>
              <a:off x="1728" y="1392"/>
              <a:ext cx="2016" cy="2064"/>
              <a:chOff x="1728" y="1392"/>
              <a:chExt cx="2016" cy="2064"/>
            </a:xfrm>
          </p:grpSpPr>
          <p:sp>
            <p:nvSpPr>
              <p:cNvPr id="108553" name="Line 17"/>
              <p:cNvSpPr/>
              <p:nvPr/>
            </p:nvSpPr>
            <p:spPr>
              <a:xfrm>
                <a:off x="1728" y="1872"/>
                <a:ext cx="2016" cy="0"/>
              </a:xfrm>
              <a:prstGeom prst="line">
                <a:avLst/>
              </a:prstGeom>
              <a:ln w="12700" cap="flat" cmpd="sng">
                <a:solidFill>
                  <a:schemeClr val="tx1"/>
                </a:solidFill>
                <a:prstDash val="solid"/>
                <a:headEnd type="none" w="sm" len="sm"/>
                <a:tailEnd type="none" w="sm" len="sm"/>
              </a:ln>
            </p:spPr>
          </p:sp>
          <p:sp>
            <p:nvSpPr>
              <p:cNvPr id="108554" name="Line 18"/>
              <p:cNvSpPr/>
              <p:nvPr/>
            </p:nvSpPr>
            <p:spPr>
              <a:xfrm>
                <a:off x="1728" y="2448"/>
                <a:ext cx="2016" cy="0"/>
              </a:xfrm>
              <a:prstGeom prst="line">
                <a:avLst/>
              </a:prstGeom>
              <a:ln w="12700" cap="flat" cmpd="sng">
                <a:solidFill>
                  <a:schemeClr val="tx1"/>
                </a:solidFill>
                <a:prstDash val="solid"/>
                <a:headEnd type="none" w="sm" len="sm"/>
                <a:tailEnd type="none" w="sm" len="sm"/>
              </a:ln>
            </p:spPr>
          </p:sp>
          <p:sp>
            <p:nvSpPr>
              <p:cNvPr id="108555" name="Line 19"/>
              <p:cNvSpPr/>
              <p:nvPr/>
            </p:nvSpPr>
            <p:spPr>
              <a:xfrm>
                <a:off x="1728" y="2976"/>
                <a:ext cx="2016" cy="0"/>
              </a:xfrm>
              <a:prstGeom prst="line">
                <a:avLst/>
              </a:prstGeom>
              <a:ln w="12700" cap="flat" cmpd="sng">
                <a:solidFill>
                  <a:schemeClr val="tx1"/>
                </a:solidFill>
                <a:prstDash val="solid"/>
                <a:headEnd type="none" w="sm" len="sm"/>
                <a:tailEnd type="none" w="sm" len="sm"/>
              </a:ln>
            </p:spPr>
          </p:sp>
          <p:sp>
            <p:nvSpPr>
              <p:cNvPr id="108556" name="Line 20"/>
              <p:cNvSpPr/>
              <p:nvPr/>
            </p:nvSpPr>
            <p:spPr>
              <a:xfrm>
                <a:off x="2736" y="1392"/>
                <a:ext cx="0" cy="2064"/>
              </a:xfrm>
              <a:prstGeom prst="line">
                <a:avLst/>
              </a:prstGeom>
              <a:ln w="12700" cap="flat" cmpd="sng">
                <a:solidFill>
                  <a:schemeClr val="tx1"/>
                </a:solidFill>
                <a:prstDash val="solid"/>
                <a:headEnd type="none" w="sm" len="sm"/>
                <a:tailEnd type="none" w="sm" len="sm"/>
              </a:ln>
            </p:spPr>
          </p:sp>
          <p:sp>
            <p:nvSpPr>
              <p:cNvPr id="108557" name="Line 21"/>
              <p:cNvSpPr/>
              <p:nvPr/>
            </p:nvSpPr>
            <p:spPr>
              <a:xfrm>
                <a:off x="3264" y="1392"/>
                <a:ext cx="0" cy="2064"/>
              </a:xfrm>
              <a:prstGeom prst="line">
                <a:avLst/>
              </a:prstGeom>
              <a:ln w="12700" cap="flat" cmpd="sng">
                <a:solidFill>
                  <a:schemeClr val="tx1"/>
                </a:solidFill>
                <a:prstDash val="solid"/>
                <a:headEnd type="none" w="sm" len="sm"/>
                <a:tailEnd type="none" w="sm" len="sm"/>
              </a:ln>
            </p:spPr>
          </p:sp>
          <p:sp>
            <p:nvSpPr>
              <p:cNvPr id="108558" name="Line 22"/>
              <p:cNvSpPr/>
              <p:nvPr/>
            </p:nvSpPr>
            <p:spPr>
              <a:xfrm>
                <a:off x="2256" y="1392"/>
                <a:ext cx="0" cy="2064"/>
              </a:xfrm>
              <a:prstGeom prst="line">
                <a:avLst/>
              </a:prstGeom>
              <a:ln w="12700" cap="flat" cmpd="sng">
                <a:solidFill>
                  <a:schemeClr val="tx1"/>
                </a:solidFill>
                <a:prstDash val="solid"/>
                <a:headEnd type="none" w="sm" len="sm"/>
                <a:tailEnd type="none" w="sm" len="sm"/>
              </a:ln>
            </p:spPr>
          </p:sp>
        </p:grpSp>
      </p:grpSp>
    </p:spTree>
  </p:cSld>
  <p:clrMapOvr>
    <a:masterClrMapping/>
  </p:clrMapOvr>
  <p:transition>
    <p:zoom/>
  </p:transition>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Berlin Sans FB Demi"/>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ahom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ahoma" panose="020B060403050404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0</TotalTime>
  <Words>43475</Words>
  <Application>WPS Presentation</Application>
  <PresentationFormat>On-screen Show (4:3)</PresentationFormat>
  <Paragraphs>2184</Paragraphs>
  <Slides>102</Slides>
  <Notes>102</Notes>
  <HiddenSlides>1</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36</vt:i4>
      </vt:variant>
      <vt:variant>
        <vt:lpstr>幻灯片标题</vt:lpstr>
      </vt:variant>
      <vt:variant>
        <vt:i4>102</vt:i4>
      </vt:variant>
    </vt:vector>
  </HeadingPairs>
  <TitlesOfParts>
    <vt:vector size="153" baseType="lpstr">
      <vt:lpstr>Arial</vt:lpstr>
      <vt:lpstr>SimSun</vt:lpstr>
      <vt:lpstr>Wingdings</vt:lpstr>
      <vt:lpstr>Tahoma</vt:lpstr>
      <vt:lpstr>Berlin Sans FB Demi</vt:lpstr>
      <vt:lpstr>Times New Roman</vt:lpstr>
      <vt:lpstr>PMingLiU</vt:lpstr>
      <vt:lpstr>Calibri</vt:lpstr>
      <vt:lpstr>Symbol</vt:lpstr>
      <vt:lpstr>Microsoft YaHei</vt:lpstr>
      <vt:lpstr>Arial Unicode MS</vt:lpstr>
      <vt:lpstr>Gulim</vt:lpstr>
      <vt:lpstr>Small Fonts</vt:lpstr>
      <vt:lpstr>Segoe Print</vt:lpstr>
      <vt:lpstr>Blends</vt:lpstr>
      <vt:lpstr>Equation.3</vt:lpstr>
      <vt:lpstr>Excel.Sheet.8</vt:lpstr>
      <vt:lpstr>Excel.Sheet.8</vt:lpstr>
      <vt:lpstr>Excel.Sheet.8</vt:lpstr>
      <vt:lpstr>Excel.Sheet.8</vt:lpstr>
      <vt:lpstr>Excel.Sheet.8</vt:lpstr>
      <vt:lpstr>Excel.Sheet.8</vt:lpstr>
      <vt:lpstr>Equation.3</vt:lpstr>
      <vt:lpstr>Equation.3</vt:lpstr>
      <vt:lpstr>Equation.3</vt:lpstr>
      <vt:lpstr>Excel.Sheet.8</vt:lpstr>
      <vt:lpstr>SmartDraw.2</vt:lpstr>
      <vt:lpstr>Equation.3</vt:lpstr>
      <vt:lpstr>Equation.3</vt:lpstr>
      <vt:lpstr>Equation.3</vt:lpstr>
      <vt:lpstr>Word.Document.8</vt:lpstr>
      <vt:lpstr>Word.Document.8</vt:lpstr>
      <vt:lpstr>Word.Document.8</vt:lpstr>
      <vt:lpstr>Equation.2</vt:lpstr>
      <vt:lpstr>Equation.3</vt:lpstr>
      <vt:lpstr>Equation.3</vt:lpstr>
      <vt:lpstr>SmartDraw.2</vt:lpstr>
      <vt:lpstr>SmartDraw.2</vt:lpstr>
      <vt:lpstr>Excel.Sheet.8</vt:lpstr>
      <vt:lpstr>Excel.Sheet.8</vt:lpstr>
      <vt:lpstr>Equation.3</vt:lpstr>
      <vt:lpstr>Equation.3</vt:lpstr>
      <vt:lpstr>Equation.3</vt:lpstr>
      <vt:lpstr>Equation.3</vt:lpstr>
      <vt:lpstr>Excel.Chart.8</vt:lpstr>
      <vt:lpstr>SmartDraw.2</vt:lpstr>
      <vt:lpstr>SmartDraw.2</vt:lpstr>
      <vt:lpstr>SmartDraw.2</vt:lpstr>
      <vt:lpstr>SmartDraw.2</vt:lpstr>
      <vt:lpstr>Excel.Sheet.8</vt:lpstr>
      <vt:lpstr>Excel.Sheet.8</vt:lpstr>
      <vt:lpstr>Data Mining:   Concepts and Techniques  (3rd ed.)  — Chapter 10 —</vt:lpstr>
      <vt:lpstr>Chapter 10. Cluster Analysis: Basic Concepts and Methods</vt:lpstr>
      <vt:lpstr>What is Cluster Analysis?</vt:lpstr>
      <vt:lpstr>Clustering for Data Understanding and Applications</vt:lpstr>
      <vt:lpstr>Clustering as a Preprocessing Tool (Utility)</vt:lpstr>
      <vt:lpstr>Quality: What Is Good Clustering?</vt:lpstr>
      <vt:lpstr>Measure the Quality of Clustering</vt:lpstr>
      <vt:lpstr>Considerations for Cluster Analysis</vt:lpstr>
      <vt:lpstr>Requirements and Challenges</vt:lpstr>
      <vt:lpstr>Major Clustering Approaches (I)</vt:lpstr>
      <vt:lpstr>Major Clustering Approaches (II)</vt:lpstr>
      <vt:lpstr>Chapter 10. Cluster Analysis: Basic Concepts and Methods</vt:lpstr>
      <vt:lpstr>Partitioning Algorithms: Basic Concept</vt:lpstr>
      <vt:lpstr>The K-Means Clustering Method </vt:lpstr>
      <vt:lpstr>An Example of K-Means Clustering</vt:lpstr>
      <vt:lpstr>Comments on the K-Means Method</vt:lpstr>
      <vt:lpstr>Variations of the K-Means Method</vt:lpstr>
      <vt:lpstr>What Is the Problem of the K-Means Method?</vt:lpstr>
      <vt:lpstr>PAM: A Typical K-Medoids Algorithm</vt:lpstr>
      <vt:lpstr>The K-Medoid Clustering Method</vt:lpstr>
      <vt:lpstr>Chapter 10. Cluster Analysis: Basic Concepts and Methods</vt:lpstr>
      <vt:lpstr>Hierarchical Clustering</vt:lpstr>
      <vt:lpstr>AGNES (Agglomerative Nesting)</vt:lpstr>
      <vt:lpstr>PowerPoint 演示文稿</vt:lpstr>
      <vt:lpstr>DIANA (Divisive Analysis)</vt:lpstr>
      <vt:lpstr>Distance between Clusters</vt:lpstr>
      <vt:lpstr>Centroid, Radius and Diameter of a Cluster (for numerical data sets)</vt:lpstr>
      <vt:lpstr>Extensions to Hierarchical Clustering</vt:lpstr>
      <vt:lpstr>BIRCH (Balanced Iterative Reducing and Clustering Using Hierarchies)</vt:lpstr>
      <vt:lpstr>PowerPoint 演示文稿</vt:lpstr>
      <vt:lpstr>CF-Tree in BIRCH</vt:lpstr>
      <vt:lpstr>The CF Tree Structure</vt:lpstr>
      <vt:lpstr>The Birch Algorithm</vt:lpstr>
      <vt:lpstr>CHAMELEON: Hierarchical Clustering Using Dynamic Modeling (1999)</vt:lpstr>
      <vt:lpstr>Overall Framework of CHAMELEON</vt:lpstr>
      <vt:lpstr>CHAMELEON (Clustering Complex Objects)</vt:lpstr>
      <vt:lpstr>Probabilistic Hierarchical Clustering</vt:lpstr>
      <vt:lpstr>Generative Model</vt:lpstr>
      <vt:lpstr>A Probabilistic Hierarchical Clustering Algorithm</vt:lpstr>
      <vt:lpstr>Chapter 10. Cluster Analysis: Basic Concepts and Methods</vt:lpstr>
      <vt:lpstr>Density-Based Clustering Methods</vt:lpstr>
      <vt:lpstr>Density-Based Clustering: Basic Concepts</vt:lpstr>
      <vt:lpstr>Density-Reachable and Density-Connected</vt:lpstr>
      <vt:lpstr>DBSCAN: Density-Based Spatial Clustering of Applications with Noise</vt:lpstr>
      <vt:lpstr>DBSCAN: The Algorithm</vt:lpstr>
      <vt:lpstr>DBSCAN: Sensitive to Parameters</vt:lpstr>
      <vt:lpstr>OPTICS:  A Cluster-Ordering Method (1999)</vt:lpstr>
      <vt:lpstr>OPTICS: Some Extension from DBSCAN</vt:lpstr>
      <vt:lpstr>PowerPoint 演示文稿</vt:lpstr>
      <vt:lpstr>Density-Based Clustering: OPTICS &amp; Its Applications</vt:lpstr>
      <vt:lpstr>DENCLUE: Using Statistical Density Functions</vt:lpstr>
      <vt:lpstr>Denclue: Technical Essence</vt:lpstr>
      <vt:lpstr>Density Attractor</vt:lpstr>
      <vt:lpstr>Center-Defined and Arbitrary</vt:lpstr>
      <vt:lpstr>Chapter 10. Cluster Analysis: Basic Concepts and Methods</vt:lpstr>
      <vt:lpstr>Grid-Based Clustering Method </vt:lpstr>
      <vt:lpstr>STING: A Statistical Information Grid Approach</vt:lpstr>
      <vt:lpstr>The STING Clustering Method</vt:lpstr>
      <vt:lpstr>STING Algorithm and Its Analysis</vt:lpstr>
      <vt:lpstr>CLIQUE (Clustering In QUEst) </vt:lpstr>
      <vt:lpstr>CLIQUE: The Major Steps</vt:lpstr>
      <vt:lpstr>PowerPoint 演示文稿</vt:lpstr>
      <vt:lpstr>Strength and Weakness of CLIQUE</vt:lpstr>
      <vt:lpstr>Chapter 10. Cluster Analysis: Basic Concepts and Methods</vt:lpstr>
      <vt:lpstr>Assessing Clustering Tendency</vt:lpstr>
      <vt:lpstr>Determine the Number of Clusters</vt:lpstr>
      <vt:lpstr>Measuring Clustering Quality</vt:lpstr>
      <vt:lpstr>Measuring Clustering Quality: Extrinsic Methods </vt:lpstr>
      <vt:lpstr>Chapter 10. Cluster Analysis: Basic Concepts and Methods</vt:lpstr>
      <vt:lpstr>Summary</vt:lpstr>
      <vt:lpstr>CS512-Spring 2011: An Introduction</vt:lpstr>
      <vt:lpstr>References (1)</vt:lpstr>
      <vt:lpstr>References (2)</vt:lpstr>
      <vt:lpstr>References (3)</vt:lpstr>
      <vt:lpstr>PowerPoint 演示文稿</vt:lpstr>
      <vt:lpstr>A Typical K-Medoids Algorithm (PAM)</vt:lpstr>
      <vt:lpstr>PAM (Partitioning Around Medoids) (1987)</vt:lpstr>
      <vt:lpstr>PAM Clustering: Finding the Best Cluster Center</vt:lpstr>
      <vt:lpstr>What Is the Problem with PAM?</vt:lpstr>
      <vt:lpstr>CLARA (Clustering Large Applications) (1990)</vt:lpstr>
      <vt:lpstr>CLARANS (“Randomized” CLARA) (1994)</vt:lpstr>
      <vt:lpstr>ROCK: Clustering Categorical Data</vt:lpstr>
      <vt:lpstr>Similarity Measure in ROCK</vt:lpstr>
      <vt:lpstr>Link Measure in ROCK</vt:lpstr>
      <vt:lpstr>Rock Algorithm</vt:lpstr>
      <vt:lpstr>Aggregation-Based Similarity Computation</vt:lpstr>
      <vt:lpstr>Computing Similarity with Aggregation</vt:lpstr>
      <vt:lpstr>Chapter 10. Cluster Analysis: Basic Concepts and Methods</vt:lpstr>
      <vt:lpstr>Link-Based Clustering: Calculate Similarities Based On Links</vt:lpstr>
      <vt:lpstr>Observation 1: Hierarchical Structures</vt:lpstr>
      <vt:lpstr>Observation 2: Distribution of Similarity</vt:lpstr>
      <vt:lpstr>A Novel Data Structure: SimTree</vt:lpstr>
      <vt:lpstr>Similarity Defined by SimTree</vt:lpstr>
      <vt:lpstr>LinkClus: Efficient Clustering via Heterogeneous Semantic Links</vt:lpstr>
      <vt:lpstr>Initialization of SimTrees</vt:lpstr>
      <vt:lpstr>Finding Tight Groups by Freq. Pattern Mining</vt:lpstr>
      <vt:lpstr>Adjusting SimTree Structures</vt:lpstr>
      <vt:lpstr>Complexity</vt:lpstr>
      <vt:lpstr>Experiment: Email Dataset</vt:lpstr>
      <vt:lpstr>WaveCluster: Clustering by Wavelet Analysis (1998)</vt:lpstr>
      <vt:lpstr>The WaveCluster Algorithm</vt:lpstr>
      <vt:lpstr>Quantization &amp; Transformation</vt:lpstr>
    </vt:vector>
  </TitlesOfParts>
  <Company>S.F.U.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Jiawei Han</dc:creator>
  <cp:lastModifiedBy>Admin</cp:lastModifiedBy>
  <cp:revision>549</cp:revision>
  <cp:lastPrinted>2010-12-03T19:14:00Z</cp:lastPrinted>
  <dcterms:created xsi:type="dcterms:W3CDTF">1998-06-19T04:38:00Z</dcterms:created>
  <dcterms:modified xsi:type="dcterms:W3CDTF">2023-10-30T07:18:37Z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42C2FD706BF94827B3332B5D6761ADC2</vt:lpwstr>
  </property>
  <property fmtid="{D5CDD505-2E9C-101B-9397-08002B2CF9AE}" pid="3" name="KSOProductBuildVer">
    <vt:lpwstr>1033-12.2.0.13266</vt:lpwstr>
  </property>
</Properties>
</file>