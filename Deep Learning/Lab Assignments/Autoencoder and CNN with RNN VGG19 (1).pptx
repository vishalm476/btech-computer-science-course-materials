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100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FB4EC29-9074-43EE-88CB-D49EF3D927E4}" type="datetimeFigureOut">
              <a:rPr lang="en-IN" smtClean="0"/>
              <a:t>16-10-2024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103620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FB4EC29-9074-43EE-88CB-D49EF3D927E4}" type="datetimeFigureOut">
              <a:rPr lang="en-IN" smtClean="0"/>
              <a:t>16-10-2024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2129652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B4EC29-9074-43EE-88CB-D49EF3D927E4}" type="datetimeFigureOut">
              <a:rPr lang="en-IN" smtClean="0"/>
              <a:t>16-10-2024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13004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FB4EC29-9074-43EE-88CB-D49EF3D927E4}" type="datetimeFigureOut">
              <a:rPr lang="en-IN" smtClean="0"/>
              <a:t>16-10-2024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3679360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FB4EC29-9074-43EE-88CB-D49EF3D927E4}" type="datetimeFigureOut">
              <a:rPr lang="en-IN" smtClean="0"/>
              <a:t>16-10-2024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229828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FB4EC29-9074-43EE-88CB-D49EF3D927E4}" type="datetimeFigureOut">
              <a:rPr lang="en-IN" smtClean="0"/>
              <a:t>16-10-2024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2245218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B4EC29-9074-43EE-88CB-D49EF3D927E4}" type="datetimeFigureOut">
              <a:rPr lang="en-IN" smtClean="0"/>
              <a:t>16-10-2024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621875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B4EC29-9074-43EE-88CB-D49EF3D927E4}" type="datetimeFigureOut">
              <a:rPr lang="en-IN" smtClean="0"/>
              <a:t>16-10-2024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3130908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B4EC29-9074-43EE-88CB-D49EF3D927E4}" type="datetimeFigureOut">
              <a:rPr lang="en-IN" smtClean="0"/>
              <a:t>16-10-2024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300890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FB4EC29-9074-43EE-88CB-D49EF3D927E4}" type="datetimeFigureOut">
              <a:rPr lang="en-IN" smtClean="0"/>
              <a:t>16-10-2024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3219995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FB4EC29-9074-43EE-88CB-D49EF3D927E4}" type="datetimeFigureOut">
              <a:rPr lang="en-IN" smtClean="0"/>
              <a:t>16-10-2024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2F4B2-0CF2-40C4-A57E-1444A1989414}" type="slidenum">
              <a:rPr lang="en-IN" smtClean="0"/>
              <a:t>‹#›</a:t>
            </a:fld>
            <a:endParaRPr lang="en-IN"/>
          </a:p>
        </p:txBody>
      </p:sp>
    </p:spTree>
    <p:extLst>
      <p:ext uri="{BB962C8B-B14F-4D97-AF65-F5344CB8AC3E}">
        <p14:creationId xmlns:p14="http://schemas.microsoft.com/office/powerpoint/2010/main" val="289661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B4EC29-9074-43EE-88CB-D49EF3D927E4}" type="datetimeFigureOut">
              <a:rPr lang="en-IN" smtClean="0"/>
              <a:t>16-10-2024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2F4B2-0CF2-40C4-A57E-1444A1989414}" type="slidenum">
              <a:rPr lang="en-IN" smtClean="0"/>
              <a:t>‹#›</a:t>
            </a:fld>
            <a:endParaRPr lang="en-IN"/>
          </a:p>
        </p:txBody>
      </p:sp>
    </p:spTree>
    <p:extLst>
      <p:ext uri="{BB962C8B-B14F-4D97-AF65-F5344CB8AC3E}">
        <p14:creationId xmlns:p14="http://schemas.microsoft.com/office/powerpoint/2010/main" val="878729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Autoencoder</a:t>
            </a:r>
            <a:r>
              <a:rPr lang="en-US" dirty="0"/>
              <a:t> </a:t>
            </a:r>
            <a:endParaRPr lang="en-IN" dirty="0"/>
          </a:p>
        </p:txBody>
      </p:sp>
      <p:sp>
        <p:nvSpPr>
          <p:cNvPr id="5" name="Content Placeholder 4"/>
          <p:cNvSpPr>
            <a:spLocks noGrp="1"/>
          </p:cNvSpPr>
          <p:nvPr>
            <p:ph idx="1"/>
          </p:nvPr>
        </p:nvSpPr>
        <p:spPr/>
        <p:txBody>
          <a:bodyPr/>
          <a:lstStyle/>
          <a:p>
            <a:r>
              <a:rPr lang="en-US" dirty="0"/>
              <a:t>Topics</a:t>
            </a:r>
          </a:p>
          <a:p>
            <a:r>
              <a:rPr lang="en-US" dirty="0"/>
              <a:t>Introduction to </a:t>
            </a:r>
            <a:r>
              <a:rPr lang="en-US" dirty="0" err="1"/>
              <a:t>autoencoder</a:t>
            </a:r>
            <a:endParaRPr lang="en-US" dirty="0"/>
          </a:p>
          <a:p>
            <a:r>
              <a:rPr lang="en-US" dirty="0"/>
              <a:t>Examples</a:t>
            </a:r>
          </a:p>
          <a:p>
            <a:r>
              <a:rPr lang="en-US" dirty="0"/>
              <a:t>Idea for feature set</a:t>
            </a:r>
          </a:p>
          <a:p>
            <a:r>
              <a:rPr lang="en-US" dirty="0"/>
              <a:t>With MLP idea</a:t>
            </a:r>
          </a:p>
          <a:p>
            <a:r>
              <a:rPr lang="en-US" dirty="0"/>
              <a:t>Exercise</a:t>
            </a:r>
            <a:endParaRPr lang="en-IN" dirty="0"/>
          </a:p>
        </p:txBody>
      </p:sp>
    </p:spTree>
    <p:extLst>
      <p:ext uri="{BB962C8B-B14F-4D97-AF65-F5344CB8AC3E}">
        <p14:creationId xmlns:p14="http://schemas.microsoft.com/office/powerpoint/2010/main" val="1903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endParaRPr lang="en-IN" dirty="0"/>
          </a:p>
        </p:txBody>
      </p:sp>
      <p:sp>
        <p:nvSpPr>
          <p:cNvPr id="3" name="Content Placeholder 2"/>
          <p:cNvSpPr>
            <a:spLocks noGrp="1"/>
          </p:cNvSpPr>
          <p:nvPr>
            <p:ph idx="1"/>
          </p:nvPr>
        </p:nvSpPr>
        <p:spPr>
          <a:xfrm>
            <a:off x="457200" y="764704"/>
            <a:ext cx="8291264" cy="5832648"/>
          </a:xfrm>
        </p:spPr>
        <p:txBody>
          <a:bodyPr>
            <a:normAutofit fontScale="92500" lnSpcReduction="20000"/>
          </a:bodyPr>
          <a:lstStyle/>
          <a:p>
            <a:r>
              <a:rPr lang="en-IN" dirty="0"/>
              <a:t>An </a:t>
            </a:r>
            <a:r>
              <a:rPr lang="en-IN" dirty="0" err="1"/>
              <a:t>autoencoder</a:t>
            </a:r>
            <a:r>
              <a:rPr lang="en-IN" dirty="0"/>
              <a:t> is a neural network that tries to reconstruct its input.</a:t>
            </a:r>
          </a:p>
          <a:p>
            <a:r>
              <a:rPr lang="en-IN" dirty="0"/>
              <a:t>So if you feed the </a:t>
            </a:r>
            <a:r>
              <a:rPr lang="en-IN" dirty="0" err="1"/>
              <a:t>autoencoder</a:t>
            </a:r>
            <a:r>
              <a:rPr lang="en-IN" dirty="0"/>
              <a:t> the vector (1,0,0,1,0) the </a:t>
            </a:r>
            <a:r>
              <a:rPr lang="en-IN" dirty="0" err="1"/>
              <a:t>autoencoder</a:t>
            </a:r>
            <a:r>
              <a:rPr lang="en-IN" dirty="0"/>
              <a:t> will try to output (1,0,0,1,0). Of course I will have to explain why this is useful and how this works.</a:t>
            </a:r>
          </a:p>
          <a:p>
            <a:r>
              <a:rPr lang="en-IN" dirty="0"/>
              <a:t>The trick is the hidden layer, say you have inputs in 5 dimensions as in our example if we use 2 neurons in the hidden layer then our </a:t>
            </a:r>
            <a:r>
              <a:rPr lang="en-IN" dirty="0" err="1"/>
              <a:t>autoencoder</a:t>
            </a:r>
            <a:r>
              <a:rPr lang="en-IN" dirty="0"/>
              <a:t> will receive 5 features, and "encode" them in 2 features in a way such as it can re-construct the same 5 dim input.</a:t>
            </a:r>
          </a:p>
          <a:p>
            <a:r>
              <a:rPr lang="en-IN" dirty="0"/>
              <a:t>So we go from (1,0,0,1,0) to (</a:t>
            </a:r>
            <a:r>
              <a:rPr lang="en-IN" dirty="0" err="1"/>
              <a:t>x,y</a:t>
            </a:r>
            <a:r>
              <a:rPr lang="en-IN" dirty="0"/>
              <a:t>) and from (</a:t>
            </a:r>
            <a:r>
              <a:rPr lang="en-IN" dirty="0" err="1"/>
              <a:t>x,y</a:t>
            </a:r>
            <a:r>
              <a:rPr lang="en-IN" dirty="0"/>
              <a:t>) to (1,0,0,1,0).</a:t>
            </a:r>
          </a:p>
        </p:txBody>
      </p:sp>
    </p:spTree>
    <p:extLst>
      <p:ext uri="{BB962C8B-B14F-4D97-AF65-F5344CB8AC3E}">
        <p14:creationId xmlns:p14="http://schemas.microsoft.com/office/powerpoint/2010/main" val="403342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lstStyle/>
          <a:p>
            <a:r>
              <a:rPr lang="en-IN" dirty="0"/>
              <a:t>The data is the famous MNIST dataset, each MNIST image is a scan of a handwritten digit in a 28x28 image, so our "inputs" are in 28x28 = 784 dimensions. </a:t>
            </a:r>
          </a:p>
          <a:p>
            <a:r>
              <a:rPr lang="en-IN" dirty="0"/>
              <a:t>We train an </a:t>
            </a:r>
            <a:r>
              <a:rPr lang="en-IN" dirty="0" err="1"/>
              <a:t>autoencoder</a:t>
            </a:r>
            <a:r>
              <a:rPr lang="en-IN" dirty="0"/>
              <a:t> using just 25 hidden neurons</a:t>
            </a:r>
          </a:p>
        </p:txBody>
      </p:sp>
    </p:spTree>
    <p:extLst>
      <p:ext uri="{BB962C8B-B14F-4D97-AF65-F5344CB8AC3E}">
        <p14:creationId xmlns:p14="http://schemas.microsoft.com/office/powerpoint/2010/main" val="28618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2288" y="4800600"/>
            <a:ext cx="5486400" cy="140568"/>
          </a:xfrm>
        </p:spPr>
        <p:txBody>
          <a:bodyPr>
            <a:normAutofit fontScale="90000"/>
          </a:bodyPr>
          <a:lstStyle/>
          <a:p>
            <a:endParaRPr lang="en-IN" dirty="0"/>
          </a:p>
        </p:txBody>
      </p:sp>
      <p:pic>
        <p:nvPicPr>
          <p:cNvPr id="4" name="Content Placeholder 3" descr="https://qph.cf2.quoracdn.net/main-qimg-96cbe77908b5013b03c737c65884d4bc-pjlq"/>
          <p:cNvPicPr>
            <a:picLocks noGrp="1"/>
          </p:cNvPicPr>
          <p:nvPr>
            <p:ph type="pic" idx="1"/>
          </p:nvPr>
        </p:nvPicPr>
        <p:blipFill>
          <a:blip r:embed="rId2">
            <a:extLst>
              <a:ext uri="{28A0092B-C50C-407E-A947-70E740481C1C}">
                <a14:useLocalDpi xmlns:a14="http://schemas.microsoft.com/office/drawing/2010/main" val="0"/>
              </a:ext>
            </a:extLst>
          </a:blip>
          <a:srcRect l="16556" r="16556"/>
          <a:stretch>
            <a:fillRect/>
          </a:stretch>
        </p:blipFill>
        <p:spPr bwMode="auto">
          <a:xfrm>
            <a:off x="539552" y="612775"/>
            <a:ext cx="8064896" cy="4114800"/>
          </a:xfrm>
          <a:prstGeom prst="rect">
            <a:avLst/>
          </a:prstGeom>
          <a:noFill/>
          <a:ln>
            <a:noFill/>
          </a:ln>
        </p:spPr>
      </p:pic>
      <p:sp>
        <p:nvSpPr>
          <p:cNvPr id="6" name="Text Placeholder 5"/>
          <p:cNvSpPr>
            <a:spLocks noGrp="1"/>
          </p:cNvSpPr>
          <p:nvPr>
            <p:ph type="body" sz="half" idx="2"/>
          </p:nvPr>
        </p:nvSpPr>
        <p:spPr>
          <a:xfrm>
            <a:off x="467544" y="4941168"/>
            <a:ext cx="8136904" cy="1656184"/>
          </a:xfrm>
        </p:spPr>
        <p:txBody>
          <a:bodyPr>
            <a:normAutofit/>
          </a:bodyPr>
          <a:lstStyle/>
          <a:p>
            <a:r>
              <a:rPr lang="en-IN" sz="1600" dirty="0"/>
              <a:t>On the left some of our original input points, on the right what the </a:t>
            </a:r>
            <a:r>
              <a:rPr lang="en-IN" sz="1600" dirty="0" err="1"/>
              <a:t>autoencoder</a:t>
            </a:r>
            <a:r>
              <a:rPr lang="en-IN" sz="1600" dirty="0"/>
              <a:t> can reconstruct from the 25 dimensions in the middle layer. It's not perfect but it is pretty awesome isn't it?</a:t>
            </a:r>
          </a:p>
          <a:p>
            <a:endParaRPr lang="en-IN" sz="1600" dirty="0"/>
          </a:p>
        </p:txBody>
      </p:sp>
    </p:spTree>
    <p:extLst>
      <p:ext uri="{BB962C8B-B14F-4D97-AF65-F5344CB8AC3E}">
        <p14:creationId xmlns:p14="http://schemas.microsoft.com/office/powerpoint/2010/main" val="18880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18058"/>
          </a:xfrm>
        </p:spPr>
        <p:txBody>
          <a:bodyPr>
            <a:normAutofit fontScale="90000"/>
          </a:bodyPr>
          <a:lstStyle/>
          <a:p>
            <a:endParaRPr lang="en-IN" dirty="0"/>
          </a:p>
        </p:txBody>
      </p:sp>
      <p:sp>
        <p:nvSpPr>
          <p:cNvPr id="6" name="Content Placeholder 5"/>
          <p:cNvSpPr>
            <a:spLocks noGrp="1"/>
          </p:cNvSpPr>
          <p:nvPr>
            <p:ph idx="1"/>
          </p:nvPr>
        </p:nvSpPr>
        <p:spPr>
          <a:xfrm>
            <a:off x="457200" y="836712"/>
            <a:ext cx="8363272" cy="5688632"/>
          </a:xfrm>
        </p:spPr>
        <p:txBody>
          <a:bodyPr/>
          <a:lstStyle/>
          <a:p>
            <a:r>
              <a:rPr lang="en-IN" dirty="0"/>
              <a:t>So this shows that we can represent each MNIST digit as a vector in 25 dimensions, and this is where we can see the utility of an </a:t>
            </a:r>
            <a:r>
              <a:rPr lang="en-IN" dirty="0" err="1"/>
              <a:t>autoencoder</a:t>
            </a:r>
            <a:r>
              <a:rPr lang="en-IN" dirty="0"/>
              <a:t>, it is a feature extraction algorithm it helps us find a representation for our data and we can feed that representation to other algorithms, for example a classifier.</a:t>
            </a:r>
          </a:p>
          <a:p>
            <a:r>
              <a:rPr lang="en-IN" dirty="0"/>
              <a:t>In some cases the features generated by the </a:t>
            </a:r>
            <a:r>
              <a:rPr lang="en-IN" dirty="0" err="1"/>
              <a:t>autoencoder</a:t>
            </a:r>
            <a:r>
              <a:rPr lang="en-IN" dirty="0"/>
              <a:t> represent the data points better than the points themselves, that's the key!</a:t>
            </a:r>
          </a:p>
          <a:p>
            <a:endParaRPr lang="en-IN" dirty="0"/>
          </a:p>
        </p:txBody>
      </p:sp>
    </p:spTree>
    <p:extLst>
      <p:ext uri="{BB962C8B-B14F-4D97-AF65-F5344CB8AC3E}">
        <p14:creationId xmlns:p14="http://schemas.microsoft.com/office/powerpoint/2010/main" val="292300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sp>
        <p:nvSpPr>
          <p:cNvPr id="3" name="Content Placeholder 2"/>
          <p:cNvSpPr>
            <a:spLocks noGrp="1"/>
          </p:cNvSpPr>
          <p:nvPr>
            <p:ph idx="1"/>
          </p:nvPr>
        </p:nvSpPr>
        <p:spPr>
          <a:xfrm>
            <a:off x="457200" y="764704"/>
            <a:ext cx="8229600" cy="5361459"/>
          </a:xfrm>
        </p:spPr>
        <p:txBody>
          <a:bodyPr>
            <a:normAutofit fontScale="85000" lnSpcReduction="20000"/>
          </a:bodyPr>
          <a:lstStyle/>
          <a:p>
            <a:r>
              <a:rPr lang="en-IN" dirty="0"/>
              <a:t>There are three main layers : encoder, code and decoder.</a:t>
            </a:r>
          </a:p>
          <a:p>
            <a:r>
              <a:rPr lang="en-IN" b="1" dirty="0"/>
              <a:t>Encoder</a:t>
            </a:r>
            <a:r>
              <a:rPr lang="en-IN" dirty="0"/>
              <a:t>- This is the part of the network that compresses the input into a latent space representation. The encoder layer encodes the input image as a compressed representation in a reduced dimension. The compressed image typically looks garbled, nothing like the original image</a:t>
            </a:r>
          </a:p>
          <a:p>
            <a:r>
              <a:rPr lang="en-IN" b="1" dirty="0"/>
              <a:t>Code</a:t>
            </a:r>
            <a:r>
              <a:rPr lang="en-IN" dirty="0"/>
              <a:t>- The next component represents the latent space. Code is the part of the network that represents the compressed input fed to the decoder.</a:t>
            </a:r>
          </a:p>
          <a:p>
            <a:r>
              <a:rPr lang="en-IN" b="1" dirty="0"/>
              <a:t>Decoder</a:t>
            </a:r>
            <a:r>
              <a:rPr lang="en-IN" dirty="0"/>
              <a:t>- This layer decodes the encoded image back to the original dimension. The decoded image is a </a:t>
            </a:r>
            <a:r>
              <a:rPr lang="en-IN" dirty="0" err="1"/>
              <a:t>lossy</a:t>
            </a:r>
            <a:r>
              <a:rPr lang="en-IN" dirty="0"/>
              <a:t> reconstruction of the original image. It reconstructs the input from the latent space representation.</a:t>
            </a:r>
          </a:p>
          <a:p>
            <a:endParaRPr lang="en-IN" dirty="0"/>
          </a:p>
        </p:txBody>
      </p:sp>
    </p:spTree>
    <p:extLst>
      <p:ext uri="{BB962C8B-B14F-4D97-AF65-F5344CB8AC3E}">
        <p14:creationId xmlns:p14="http://schemas.microsoft.com/office/powerpoint/2010/main" val="358414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US" dirty="0"/>
              <a:t>Application</a:t>
            </a:r>
            <a:endParaRPr lang="en-IN" dirty="0"/>
          </a:p>
        </p:txBody>
      </p:sp>
      <p:sp>
        <p:nvSpPr>
          <p:cNvPr id="3" name="Content Placeholder 2"/>
          <p:cNvSpPr>
            <a:spLocks noGrp="1"/>
          </p:cNvSpPr>
          <p:nvPr>
            <p:ph idx="1"/>
          </p:nvPr>
        </p:nvSpPr>
        <p:spPr>
          <a:xfrm>
            <a:off x="457200" y="1124744"/>
            <a:ext cx="8229600" cy="5001419"/>
          </a:xfrm>
        </p:spPr>
        <p:txBody>
          <a:bodyPr>
            <a:normAutofit fontScale="85000" lnSpcReduction="20000"/>
          </a:bodyPr>
          <a:lstStyle/>
          <a:p>
            <a:pPr lvl="0"/>
            <a:r>
              <a:rPr lang="en-IN" dirty="0"/>
              <a:t>Data Storage: The encoding processes are able to compress down large quantities of data, compressing it. This process, as you can imagine, has big benefits for data storage at scale.</a:t>
            </a:r>
          </a:p>
          <a:p>
            <a:pPr lvl="0"/>
            <a:r>
              <a:rPr lang="en-IN" dirty="0"/>
              <a:t>Feature detection: The process used to encode the data identifies features of the data that can be used to identify it. This list of features is used in multiple systems to understand the data. (Convolutional Neural Networks also do feature detection in images)</a:t>
            </a:r>
          </a:p>
          <a:p>
            <a:pPr lvl="0"/>
            <a:r>
              <a:rPr lang="en-IN" dirty="0"/>
              <a:t>Recommendation systems: One application of </a:t>
            </a:r>
            <a:r>
              <a:rPr lang="en-IN" dirty="0" err="1"/>
              <a:t>autoencoders</a:t>
            </a:r>
            <a:r>
              <a:rPr lang="en-IN" dirty="0"/>
              <a:t> is in recommendation systems. These are the systems that identify films or TV series you are likely to enjoy on your </a:t>
            </a:r>
            <a:r>
              <a:rPr lang="en-IN" dirty="0" err="1"/>
              <a:t>favorite</a:t>
            </a:r>
            <a:r>
              <a:rPr lang="en-IN" dirty="0"/>
              <a:t> streaming services.</a:t>
            </a:r>
          </a:p>
          <a:p>
            <a:r>
              <a:rPr lang="en-IN" dirty="0"/>
              <a:t> </a:t>
            </a:r>
          </a:p>
          <a:p>
            <a:endParaRPr lang="en-IN" dirty="0"/>
          </a:p>
        </p:txBody>
      </p:sp>
    </p:spTree>
    <p:extLst>
      <p:ext uri="{BB962C8B-B14F-4D97-AF65-F5344CB8AC3E}">
        <p14:creationId xmlns:p14="http://schemas.microsoft.com/office/powerpoint/2010/main" val="1378335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in </a:t>
            </a:r>
            <a:r>
              <a:rPr lang="en-US" dirty="0" err="1"/>
              <a:t>Keras</a:t>
            </a:r>
            <a:endParaRPr lang="en-IN" dirty="0"/>
          </a:p>
        </p:txBody>
      </p:sp>
      <p:sp>
        <p:nvSpPr>
          <p:cNvPr id="3" name="Content Placeholder 2"/>
          <p:cNvSpPr>
            <a:spLocks noGrp="1"/>
          </p:cNvSpPr>
          <p:nvPr>
            <p:ph idx="1"/>
          </p:nvPr>
        </p:nvSpPr>
        <p:spPr/>
        <p:txBody>
          <a:bodyPr>
            <a:normAutofit fontScale="85000" lnSpcReduction="10000"/>
          </a:bodyPr>
          <a:lstStyle/>
          <a:p>
            <a:r>
              <a:rPr lang="en-IN" dirty="0"/>
              <a:t>Lets Implementing an </a:t>
            </a:r>
            <a:r>
              <a:rPr lang="en-IN" dirty="0" err="1"/>
              <a:t>autoencoder</a:t>
            </a:r>
            <a:r>
              <a:rPr lang="en-IN" dirty="0"/>
              <a:t> for a numeric dataset .</a:t>
            </a:r>
          </a:p>
          <a:p>
            <a:r>
              <a:rPr lang="en-IN" b="1" dirty="0"/>
              <a:t>Step 1: Import Libraries</a:t>
            </a:r>
            <a:endParaRPr lang="en-IN" dirty="0"/>
          </a:p>
          <a:p>
            <a:pPr lvl="0"/>
            <a:r>
              <a:rPr lang="en-IN" dirty="0"/>
              <a:t>import </a:t>
            </a:r>
            <a:r>
              <a:rPr lang="en-IN" dirty="0" err="1"/>
              <a:t>numpy</a:t>
            </a:r>
            <a:r>
              <a:rPr lang="en-IN" dirty="0"/>
              <a:t> as </a:t>
            </a:r>
            <a:r>
              <a:rPr lang="en-IN" dirty="0" err="1"/>
              <a:t>np</a:t>
            </a:r>
            <a:r>
              <a:rPr lang="en-IN" dirty="0"/>
              <a:t> </a:t>
            </a:r>
          </a:p>
          <a:p>
            <a:pPr lvl="0"/>
            <a:r>
              <a:rPr lang="en-IN" dirty="0"/>
              <a:t>import pandas as </a:t>
            </a:r>
            <a:r>
              <a:rPr lang="en-IN" dirty="0" err="1"/>
              <a:t>pd</a:t>
            </a:r>
            <a:r>
              <a:rPr lang="en-IN" dirty="0"/>
              <a:t> </a:t>
            </a:r>
          </a:p>
          <a:p>
            <a:pPr lvl="0"/>
            <a:r>
              <a:rPr lang="en-IN" dirty="0"/>
              <a:t>from </a:t>
            </a:r>
            <a:r>
              <a:rPr lang="en-IN" dirty="0" err="1"/>
              <a:t>sklearn.model_selection</a:t>
            </a:r>
            <a:r>
              <a:rPr lang="en-IN" dirty="0"/>
              <a:t> import </a:t>
            </a:r>
            <a:r>
              <a:rPr lang="en-IN" dirty="0" err="1"/>
              <a:t>train_test_split</a:t>
            </a:r>
            <a:r>
              <a:rPr lang="en-IN" dirty="0"/>
              <a:t> </a:t>
            </a:r>
          </a:p>
          <a:p>
            <a:pPr lvl="0"/>
            <a:r>
              <a:rPr lang="en-IN" dirty="0"/>
              <a:t>from </a:t>
            </a:r>
            <a:r>
              <a:rPr lang="en-IN" dirty="0" err="1"/>
              <a:t>sklearn.preprocessing</a:t>
            </a:r>
            <a:r>
              <a:rPr lang="en-IN" dirty="0"/>
              <a:t> import </a:t>
            </a:r>
            <a:r>
              <a:rPr lang="en-IN" dirty="0" err="1"/>
              <a:t>StandardScaler</a:t>
            </a:r>
            <a:r>
              <a:rPr lang="en-IN" dirty="0"/>
              <a:t> </a:t>
            </a:r>
          </a:p>
          <a:p>
            <a:pPr lvl="0"/>
            <a:r>
              <a:rPr lang="en-IN" dirty="0"/>
              <a:t>from </a:t>
            </a:r>
            <a:r>
              <a:rPr lang="en-IN" dirty="0" err="1"/>
              <a:t>tensorflow</a:t>
            </a:r>
            <a:r>
              <a:rPr lang="en-IN" dirty="0"/>
              <a:t> import </a:t>
            </a:r>
            <a:r>
              <a:rPr lang="en-IN" dirty="0" err="1"/>
              <a:t>keras</a:t>
            </a:r>
            <a:r>
              <a:rPr lang="en-IN" dirty="0"/>
              <a:t> </a:t>
            </a:r>
          </a:p>
          <a:p>
            <a:pPr lvl="0"/>
            <a:r>
              <a:rPr lang="en-IN" dirty="0"/>
              <a:t>from </a:t>
            </a:r>
            <a:r>
              <a:rPr lang="en-IN" dirty="0" err="1"/>
              <a:t>tensorflow.keras</a:t>
            </a:r>
            <a:r>
              <a:rPr lang="en-IN" dirty="0"/>
              <a:t> import layers </a:t>
            </a:r>
          </a:p>
          <a:p>
            <a:pPr lvl="0"/>
            <a:endParaRPr lang="en-IN" dirty="0"/>
          </a:p>
          <a:p>
            <a:endParaRPr lang="en-IN" dirty="0"/>
          </a:p>
        </p:txBody>
      </p:sp>
    </p:spTree>
    <p:extLst>
      <p:ext uri="{BB962C8B-B14F-4D97-AF65-F5344CB8AC3E}">
        <p14:creationId xmlns:p14="http://schemas.microsoft.com/office/powerpoint/2010/main" val="2667703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b="1" dirty="0"/>
              <a:t>Step 2: Load Your Dataset</a:t>
            </a:r>
            <a:endParaRPr lang="en-IN" dirty="0"/>
          </a:p>
          <a:p>
            <a:r>
              <a:rPr lang="en-IN" dirty="0"/>
              <a:t>Assuming you have a numeric dataset in a CSV file:</a:t>
            </a:r>
          </a:p>
          <a:p>
            <a:pPr lvl="0"/>
            <a:r>
              <a:rPr lang="en-IN" dirty="0"/>
              <a:t># Load the dataset </a:t>
            </a:r>
          </a:p>
          <a:p>
            <a:pPr lvl="0"/>
            <a:r>
              <a:rPr lang="en-IN" dirty="0"/>
              <a:t>data = </a:t>
            </a:r>
            <a:r>
              <a:rPr lang="en-IN" dirty="0" err="1"/>
              <a:t>pd.read_csv</a:t>
            </a:r>
            <a:r>
              <a:rPr lang="en-IN" dirty="0"/>
              <a:t>('your_dataset.csv') </a:t>
            </a:r>
          </a:p>
          <a:p>
            <a:pPr lvl="0"/>
            <a:r>
              <a:rPr lang="en-IN" dirty="0"/>
              <a:t> </a:t>
            </a:r>
          </a:p>
          <a:p>
            <a:pPr lvl="0"/>
            <a:r>
              <a:rPr lang="en-IN" dirty="0"/>
              <a:t># Optionally, inspect the data </a:t>
            </a:r>
          </a:p>
          <a:p>
            <a:pPr lvl="0"/>
            <a:r>
              <a:rPr lang="en-IN" dirty="0"/>
              <a:t>print(</a:t>
            </a:r>
            <a:r>
              <a:rPr lang="en-IN" dirty="0" err="1"/>
              <a:t>data.head</a:t>
            </a:r>
            <a:r>
              <a:rPr lang="en-IN" dirty="0"/>
              <a:t>()) </a:t>
            </a:r>
          </a:p>
          <a:p>
            <a:endParaRPr lang="en-IN" dirty="0"/>
          </a:p>
        </p:txBody>
      </p:sp>
    </p:spTree>
    <p:extLst>
      <p:ext uri="{BB962C8B-B14F-4D97-AF65-F5344CB8AC3E}">
        <p14:creationId xmlns:p14="http://schemas.microsoft.com/office/powerpoint/2010/main" val="2960407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IN" b="1" dirty="0"/>
              <a:t>Step 3: </a:t>
            </a:r>
            <a:r>
              <a:rPr lang="en-IN" b="1" dirty="0" err="1"/>
              <a:t>Preprocess</a:t>
            </a:r>
            <a:r>
              <a:rPr lang="en-IN" b="1" dirty="0"/>
              <a:t> the Data</a:t>
            </a:r>
            <a:endParaRPr lang="en-IN" dirty="0"/>
          </a:p>
          <a:p>
            <a:pPr lvl="0"/>
            <a:r>
              <a:rPr lang="en-IN" b="1" dirty="0"/>
              <a:t>Handle Missing Values</a:t>
            </a:r>
            <a:r>
              <a:rPr lang="en-IN" dirty="0"/>
              <a:t>: Fill or drop any missing values.</a:t>
            </a:r>
          </a:p>
          <a:p>
            <a:pPr lvl="0"/>
            <a:r>
              <a:rPr lang="en-IN" b="1" dirty="0"/>
              <a:t>Scale the Data</a:t>
            </a:r>
            <a:r>
              <a:rPr lang="en-IN" dirty="0"/>
              <a:t>: </a:t>
            </a:r>
            <a:r>
              <a:rPr lang="en-IN" dirty="0" err="1"/>
              <a:t>Autoencoders</a:t>
            </a:r>
            <a:r>
              <a:rPr lang="en-IN" dirty="0"/>
              <a:t> work better with scaled data, so standardize or normalize your features.</a:t>
            </a:r>
          </a:p>
          <a:p>
            <a:pPr lvl="0"/>
            <a:r>
              <a:rPr lang="en-IN" dirty="0"/>
              <a:t># Fill missing values if necessary </a:t>
            </a:r>
          </a:p>
          <a:p>
            <a:pPr lvl="0"/>
            <a:r>
              <a:rPr lang="en-IN" dirty="0" err="1"/>
              <a:t>data.fillna</a:t>
            </a:r>
            <a:r>
              <a:rPr lang="en-IN" dirty="0"/>
              <a:t>(</a:t>
            </a:r>
            <a:r>
              <a:rPr lang="en-IN" dirty="0" err="1"/>
              <a:t>data.mean</a:t>
            </a:r>
            <a:r>
              <a:rPr lang="en-IN" dirty="0"/>
              <a:t>(), </a:t>
            </a:r>
            <a:r>
              <a:rPr lang="en-IN" dirty="0" err="1"/>
              <a:t>inplace</a:t>
            </a:r>
            <a:r>
              <a:rPr lang="en-IN" dirty="0"/>
              <a:t>=True) </a:t>
            </a:r>
          </a:p>
          <a:p>
            <a:pPr lvl="0"/>
            <a:r>
              <a:rPr lang="en-IN" dirty="0"/>
              <a:t> </a:t>
            </a:r>
          </a:p>
          <a:p>
            <a:pPr lvl="0"/>
            <a:r>
              <a:rPr lang="en-IN" dirty="0"/>
              <a:t># Split the data into features and target if needed </a:t>
            </a:r>
          </a:p>
          <a:p>
            <a:pPr lvl="0"/>
            <a:r>
              <a:rPr lang="en-IN" dirty="0"/>
              <a:t>X = </a:t>
            </a:r>
            <a:r>
              <a:rPr lang="en-IN" dirty="0" err="1"/>
              <a:t>data.values</a:t>
            </a:r>
            <a:r>
              <a:rPr lang="en-IN" dirty="0"/>
              <a:t>  # Use all columns if no target variable </a:t>
            </a:r>
          </a:p>
          <a:p>
            <a:pPr lvl="0"/>
            <a:r>
              <a:rPr lang="en-IN" dirty="0"/>
              <a:t># X, y = </a:t>
            </a:r>
            <a:r>
              <a:rPr lang="en-IN" dirty="0" err="1"/>
              <a:t>data.drop</a:t>
            </a:r>
            <a:r>
              <a:rPr lang="en-IN" dirty="0"/>
              <a:t>('</a:t>
            </a:r>
            <a:r>
              <a:rPr lang="en-IN" dirty="0" err="1"/>
              <a:t>target_column</a:t>
            </a:r>
            <a:r>
              <a:rPr lang="en-IN" dirty="0"/>
              <a:t>', axis=1).values, data['</a:t>
            </a:r>
            <a:r>
              <a:rPr lang="en-IN" dirty="0" err="1"/>
              <a:t>target_column</a:t>
            </a:r>
            <a:r>
              <a:rPr lang="en-IN" dirty="0"/>
              <a:t>'].values </a:t>
            </a:r>
          </a:p>
          <a:p>
            <a:pPr lvl="0"/>
            <a:r>
              <a:rPr lang="en-IN" dirty="0"/>
              <a:t> </a:t>
            </a:r>
          </a:p>
          <a:p>
            <a:pPr lvl="0"/>
            <a:r>
              <a:rPr lang="en-IN" dirty="0"/>
              <a:t># Scale the data </a:t>
            </a:r>
          </a:p>
          <a:p>
            <a:pPr lvl="0"/>
            <a:r>
              <a:rPr lang="en-IN" dirty="0" err="1"/>
              <a:t>scaler</a:t>
            </a:r>
            <a:r>
              <a:rPr lang="en-IN" dirty="0"/>
              <a:t> = </a:t>
            </a:r>
            <a:r>
              <a:rPr lang="en-IN" dirty="0" err="1"/>
              <a:t>StandardScaler</a:t>
            </a:r>
            <a:r>
              <a:rPr lang="en-IN" dirty="0"/>
              <a:t>() </a:t>
            </a:r>
          </a:p>
          <a:p>
            <a:pPr lvl="0"/>
            <a:r>
              <a:rPr lang="en-IN" dirty="0" err="1"/>
              <a:t>X_scaled</a:t>
            </a:r>
            <a:r>
              <a:rPr lang="en-IN" dirty="0"/>
              <a:t> = </a:t>
            </a:r>
            <a:r>
              <a:rPr lang="en-IN" dirty="0" err="1"/>
              <a:t>scaler.fit_transform</a:t>
            </a:r>
            <a:r>
              <a:rPr lang="en-IN" dirty="0"/>
              <a:t>(X) </a:t>
            </a:r>
          </a:p>
          <a:p>
            <a:pPr lvl="0"/>
            <a:r>
              <a:rPr lang="en-IN" dirty="0"/>
              <a:t> </a:t>
            </a:r>
          </a:p>
          <a:p>
            <a:pPr lvl="0"/>
            <a:r>
              <a:rPr lang="en-IN" dirty="0"/>
              <a:t># Split into training and testing sets </a:t>
            </a:r>
          </a:p>
          <a:p>
            <a:pPr lvl="0"/>
            <a:r>
              <a:rPr lang="en-IN" dirty="0" err="1"/>
              <a:t>X_train</a:t>
            </a:r>
            <a:r>
              <a:rPr lang="en-IN" dirty="0"/>
              <a:t>, </a:t>
            </a:r>
            <a:r>
              <a:rPr lang="en-IN" dirty="0" err="1"/>
              <a:t>X_test</a:t>
            </a:r>
            <a:r>
              <a:rPr lang="en-IN" dirty="0"/>
              <a:t> = </a:t>
            </a:r>
            <a:r>
              <a:rPr lang="en-IN" dirty="0" err="1"/>
              <a:t>train_test_split</a:t>
            </a:r>
            <a:r>
              <a:rPr lang="en-IN" dirty="0"/>
              <a:t>(</a:t>
            </a:r>
            <a:r>
              <a:rPr lang="en-IN" dirty="0" err="1"/>
              <a:t>X_scaled</a:t>
            </a:r>
            <a:r>
              <a:rPr lang="en-IN" dirty="0"/>
              <a:t>, </a:t>
            </a:r>
            <a:r>
              <a:rPr lang="en-IN" dirty="0" err="1"/>
              <a:t>test_size</a:t>
            </a:r>
            <a:r>
              <a:rPr lang="en-IN" dirty="0"/>
              <a:t>=0.2, </a:t>
            </a:r>
            <a:r>
              <a:rPr lang="en-IN" dirty="0" err="1"/>
              <a:t>random_state</a:t>
            </a:r>
            <a:r>
              <a:rPr lang="en-IN" dirty="0"/>
              <a:t>=42) </a:t>
            </a:r>
          </a:p>
          <a:p>
            <a:endParaRPr lang="en-IN" dirty="0"/>
          </a:p>
        </p:txBody>
      </p:sp>
    </p:spTree>
    <p:extLst>
      <p:ext uri="{BB962C8B-B14F-4D97-AF65-F5344CB8AC3E}">
        <p14:creationId xmlns:p14="http://schemas.microsoft.com/office/powerpoint/2010/main" val="1365508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b="1" dirty="0"/>
              <a:t>Step 4: Build the </a:t>
            </a:r>
            <a:r>
              <a:rPr lang="en-IN" b="1" dirty="0" err="1"/>
              <a:t>Autoencoder</a:t>
            </a:r>
            <a:r>
              <a:rPr lang="en-IN" b="1" dirty="0"/>
              <a:t> Model</a:t>
            </a:r>
            <a:endParaRPr lang="en-IN" dirty="0"/>
          </a:p>
          <a:p>
            <a:r>
              <a:rPr lang="en-IN" dirty="0"/>
              <a:t>Define the architecture for your </a:t>
            </a:r>
            <a:r>
              <a:rPr lang="en-IN" dirty="0" err="1"/>
              <a:t>autoencoder</a:t>
            </a:r>
            <a:r>
              <a:rPr lang="en-IN" dirty="0"/>
              <a:t>. The architecture can vary based on the complexity of your data.</a:t>
            </a:r>
          </a:p>
          <a:p>
            <a:pPr lvl="0"/>
            <a:r>
              <a:rPr lang="en-IN" dirty="0"/>
              <a:t># Define the </a:t>
            </a:r>
            <a:r>
              <a:rPr lang="en-IN" dirty="0" err="1"/>
              <a:t>autoencoder</a:t>
            </a:r>
            <a:r>
              <a:rPr lang="en-IN" dirty="0"/>
              <a:t> model </a:t>
            </a:r>
          </a:p>
          <a:p>
            <a:pPr lvl="0"/>
            <a:r>
              <a:rPr lang="en-IN" dirty="0" err="1"/>
              <a:t>input_dim</a:t>
            </a:r>
            <a:r>
              <a:rPr lang="en-IN" dirty="0"/>
              <a:t> = </a:t>
            </a:r>
            <a:r>
              <a:rPr lang="en-IN" dirty="0" err="1"/>
              <a:t>X_train.shape</a:t>
            </a:r>
            <a:r>
              <a:rPr lang="en-IN" dirty="0"/>
              <a:t>[1]  # Number of features </a:t>
            </a:r>
          </a:p>
          <a:p>
            <a:pPr lvl="0"/>
            <a:r>
              <a:rPr lang="en-IN" dirty="0"/>
              <a:t> </a:t>
            </a:r>
          </a:p>
          <a:p>
            <a:pPr lvl="0"/>
            <a:r>
              <a:rPr lang="en-IN" dirty="0" err="1"/>
              <a:t>autoencoder</a:t>
            </a:r>
            <a:r>
              <a:rPr lang="en-IN" dirty="0"/>
              <a:t> = </a:t>
            </a:r>
            <a:r>
              <a:rPr lang="en-IN" dirty="0" err="1"/>
              <a:t>keras.Sequential</a:t>
            </a:r>
            <a:r>
              <a:rPr lang="en-IN" dirty="0"/>
              <a:t>([ </a:t>
            </a:r>
          </a:p>
          <a:p>
            <a:pPr lvl="0"/>
            <a:r>
              <a:rPr lang="en-IN" dirty="0"/>
              <a:t>    </a:t>
            </a:r>
            <a:r>
              <a:rPr lang="en-IN" dirty="0" err="1"/>
              <a:t>layers.Input</a:t>
            </a:r>
            <a:r>
              <a:rPr lang="en-IN" dirty="0"/>
              <a:t>(shape=(</a:t>
            </a:r>
            <a:r>
              <a:rPr lang="en-IN" dirty="0" err="1"/>
              <a:t>input_dim</a:t>
            </a:r>
            <a:r>
              <a:rPr lang="en-IN" dirty="0"/>
              <a:t>,)), </a:t>
            </a:r>
          </a:p>
          <a:p>
            <a:pPr lvl="0"/>
            <a:r>
              <a:rPr lang="en-IN" dirty="0"/>
              <a:t>    </a:t>
            </a:r>
            <a:r>
              <a:rPr lang="en-IN" dirty="0" err="1"/>
              <a:t>layers.Dense</a:t>
            </a:r>
            <a:r>
              <a:rPr lang="en-IN" dirty="0"/>
              <a:t>(64, activation='</a:t>
            </a:r>
            <a:r>
              <a:rPr lang="en-IN" dirty="0" err="1"/>
              <a:t>relu</a:t>
            </a:r>
            <a:r>
              <a:rPr lang="en-IN" dirty="0"/>
              <a:t>'),  # Encoder </a:t>
            </a:r>
          </a:p>
          <a:p>
            <a:pPr lvl="0"/>
            <a:r>
              <a:rPr lang="en-IN" dirty="0"/>
              <a:t>    </a:t>
            </a:r>
            <a:r>
              <a:rPr lang="en-IN" dirty="0" err="1"/>
              <a:t>layers.Dense</a:t>
            </a:r>
            <a:r>
              <a:rPr lang="en-IN" dirty="0"/>
              <a:t>(32, activation='</a:t>
            </a:r>
            <a:r>
              <a:rPr lang="en-IN" dirty="0" err="1"/>
              <a:t>relu</a:t>
            </a:r>
            <a:r>
              <a:rPr lang="en-IN" dirty="0"/>
              <a:t>'),  # Bottleneck </a:t>
            </a:r>
          </a:p>
          <a:p>
            <a:pPr lvl="0"/>
            <a:r>
              <a:rPr lang="en-IN" dirty="0"/>
              <a:t>    </a:t>
            </a:r>
            <a:r>
              <a:rPr lang="en-IN" dirty="0" err="1"/>
              <a:t>layers.Dense</a:t>
            </a:r>
            <a:r>
              <a:rPr lang="en-IN" dirty="0"/>
              <a:t>(64, activation='</a:t>
            </a:r>
            <a:r>
              <a:rPr lang="en-IN" dirty="0" err="1"/>
              <a:t>relu</a:t>
            </a:r>
            <a:r>
              <a:rPr lang="en-IN" dirty="0"/>
              <a:t>'),  # Decoder </a:t>
            </a:r>
          </a:p>
          <a:p>
            <a:pPr lvl="0"/>
            <a:r>
              <a:rPr lang="en-IN" dirty="0"/>
              <a:t>    </a:t>
            </a:r>
            <a:r>
              <a:rPr lang="en-IN" dirty="0" err="1"/>
              <a:t>layers.Dense</a:t>
            </a:r>
            <a:r>
              <a:rPr lang="en-IN" dirty="0"/>
              <a:t>(</a:t>
            </a:r>
            <a:r>
              <a:rPr lang="en-IN" dirty="0" err="1"/>
              <a:t>input_dim</a:t>
            </a:r>
            <a:r>
              <a:rPr lang="en-IN" dirty="0"/>
              <a:t>, activation='sigmoid')  # Output layer </a:t>
            </a:r>
          </a:p>
          <a:p>
            <a:pPr lvl="0"/>
            <a:r>
              <a:rPr lang="en-IN" dirty="0"/>
              <a:t>]) </a:t>
            </a:r>
          </a:p>
          <a:p>
            <a:endParaRPr lang="en-IN" dirty="0"/>
          </a:p>
        </p:txBody>
      </p:sp>
    </p:spTree>
    <p:extLst>
      <p:ext uri="{BB962C8B-B14F-4D97-AF65-F5344CB8AC3E}">
        <p14:creationId xmlns:p14="http://schemas.microsoft.com/office/powerpoint/2010/main" val="739800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b="1" dirty="0"/>
              <a:t>Step 5: Compile the Model</a:t>
            </a:r>
            <a:endParaRPr lang="en-IN" dirty="0"/>
          </a:p>
          <a:p>
            <a:r>
              <a:rPr lang="en-IN" dirty="0" err="1"/>
              <a:t>autoencoder.compile</a:t>
            </a:r>
            <a:r>
              <a:rPr lang="en-IN" dirty="0"/>
              <a:t>(optimizer='</a:t>
            </a:r>
            <a:r>
              <a:rPr lang="en-IN" dirty="0" err="1"/>
              <a:t>adam</a:t>
            </a:r>
            <a:r>
              <a:rPr lang="en-IN" dirty="0"/>
              <a:t>', loss='</a:t>
            </a:r>
            <a:r>
              <a:rPr lang="en-IN" dirty="0" err="1"/>
              <a:t>mean_squared_error</a:t>
            </a:r>
            <a:r>
              <a:rPr lang="en-IN" dirty="0"/>
              <a:t>')</a:t>
            </a:r>
          </a:p>
          <a:p>
            <a:r>
              <a:rPr lang="en-IN" b="1" dirty="0"/>
              <a:t>Step 6: Train the Model</a:t>
            </a:r>
            <a:endParaRPr lang="en-IN" dirty="0"/>
          </a:p>
          <a:p>
            <a:pPr lvl="0"/>
            <a:r>
              <a:rPr lang="en-IN" dirty="0"/>
              <a:t># Fit the model </a:t>
            </a:r>
          </a:p>
          <a:p>
            <a:pPr lvl="0"/>
            <a:r>
              <a:rPr lang="en-IN" dirty="0"/>
              <a:t>history = </a:t>
            </a:r>
            <a:r>
              <a:rPr lang="en-IN" dirty="0" err="1"/>
              <a:t>autoencoder.fit</a:t>
            </a:r>
            <a:r>
              <a:rPr lang="en-IN" dirty="0"/>
              <a:t>(</a:t>
            </a:r>
            <a:r>
              <a:rPr lang="en-IN" dirty="0" err="1"/>
              <a:t>X_train</a:t>
            </a:r>
            <a:r>
              <a:rPr lang="en-IN" dirty="0"/>
              <a:t>, </a:t>
            </a:r>
            <a:r>
              <a:rPr lang="en-IN" dirty="0" err="1"/>
              <a:t>X_train</a:t>
            </a:r>
            <a:r>
              <a:rPr lang="en-IN" dirty="0"/>
              <a:t>,  </a:t>
            </a:r>
          </a:p>
          <a:p>
            <a:pPr lvl="0"/>
            <a:r>
              <a:rPr lang="en-IN" dirty="0"/>
              <a:t>                          epochs=50,  </a:t>
            </a:r>
          </a:p>
          <a:p>
            <a:pPr lvl="0"/>
            <a:r>
              <a:rPr lang="en-IN" dirty="0"/>
              <a:t>                          </a:t>
            </a:r>
            <a:r>
              <a:rPr lang="en-IN" dirty="0" err="1"/>
              <a:t>batch_size</a:t>
            </a:r>
            <a:r>
              <a:rPr lang="en-IN" dirty="0"/>
              <a:t>=256,  </a:t>
            </a:r>
          </a:p>
          <a:p>
            <a:pPr lvl="0"/>
            <a:r>
              <a:rPr lang="en-IN" dirty="0"/>
              <a:t>                          </a:t>
            </a:r>
            <a:r>
              <a:rPr lang="en-IN" dirty="0" err="1"/>
              <a:t>validation_data</a:t>
            </a:r>
            <a:r>
              <a:rPr lang="en-IN" dirty="0"/>
              <a:t>=(</a:t>
            </a:r>
            <a:r>
              <a:rPr lang="en-IN" dirty="0" err="1"/>
              <a:t>X_test</a:t>
            </a:r>
            <a:r>
              <a:rPr lang="en-IN" dirty="0"/>
              <a:t>, </a:t>
            </a:r>
            <a:r>
              <a:rPr lang="en-IN" dirty="0" err="1"/>
              <a:t>X_test</a:t>
            </a:r>
            <a:r>
              <a:rPr lang="en-IN" dirty="0"/>
              <a:t>)) </a:t>
            </a:r>
          </a:p>
          <a:p>
            <a:endParaRPr lang="en-IN" dirty="0"/>
          </a:p>
        </p:txBody>
      </p:sp>
    </p:spTree>
    <p:extLst>
      <p:ext uri="{BB962C8B-B14F-4D97-AF65-F5344CB8AC3E}">
        <p14:creationId xmlns:p14="http://schemas.microsoft.com/office/powerpoint/2010/main" val="3039111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IN" b="1" dirty="0"/>
              <a:t>Step 7: Evaluate the Model</a:t>
            </a:r>
            <a:endParaRPr lang="en-IN" dirty="0"/>
          </a:p>
          <a:p>
            <a:r>
              <a:rPr lang="en-IN" dirty="0"/>
              <a:t>You can use the model to reconstruct the input data and evaluate its performance.</a:t>
            </a:r>
          </a:p>
          <a:p>
            <a:pPr lvl="0"/>
            <a:r>
              <a:rPr lang="en-IN" dirty="0"/>
              <a:t># Get the reconstructed data </a:t>
            </a:r>
          </a:p>
          <a:p>
            <a:pPr lvl="0"/>
            <a:r>
              <a:rPr lang="en-IN" dirty="0" err="1"/>
              <a:t>X_train_reconstructed</a:t>
            </a:r>
            <a:r>
              <a:rPr lang="en-IN" dirty="0"/>
              <a:t> = </a:t>
            </a:r>
            <a:r>
              <a:rPr lang="en-IN" dirty="0" err="1"/>
              <a:t>autoencoder.predict</a:t>
            </a:r>
            <a:r>
              <a:rPr lang="en-IN" dirty="0"/>
              <a:t>(</a:t>
            </a:r>
            <a:r>
              <a:rPr lang="en-IN" dirty="0" err="1"/>
              <a:t>X_train</a:t>
            </a:r>
            <a:r>
              <a:rPr lang="en-IN" dirty="0"/>
              <a:t>) </a:t>
            </a:r>
          </a:p>
          <a:p>
            <a:pPr lvl="0"/>
            <a:r>
              <a:rPr lang="en-IN" dirty="0" err="1"/>
              <a:t>X_test_reconstructed</a:t>
            </a:r>
            <a:r>
              <a:rPr lang="en-IN" dirty="0"/>
              <a:t> = </a:t>
            </a:r>
            <a:r>
              <a:rPr lang="en-IN" dirty="0" err="1"/>
              <a:t>autoencoder.predict</a:t>
            </a:r>
            <a:r>
              <a:rPr lang="en-IN" dirty="0"/>
              <a:t>(</a:t>
            </a:r>
            <a:r>
              <a:rPr lang="en-IN" dirty="0" err="1"/>
              <a:t>X_test</a:t>
            </a:r>
            <a:r>
              <a:rPr lang="en-IN" dirty="0"/>
              <a:t>) </a:t>
            </a:r>
          </a:p>
          <a:p>
            <a:pPr lvl="0"/>
            <a:r>
              <a:rPr lang="en-IN" dirty="0"/>
              <a:t> </a:t>
            </a:r>
          </a:p>
          <a:p>
            <a:pPr lvl="0"/>
            <a:r>
              <a:rPr lang="en-IN" dirty="0"/>
              <a:t># You can calculate the reconstruction error </a:t>
            </a:r>
          </a:p>
          <a:p>
            <a:pPr lvl="0"/>
            <a:r>
              <a:rPr lang="en-IN" dirty="0" err="1"/>
              <a:t>train_loss</a:t>
            </a:r>
            <a:r>
              <a:rPr lang="en-IN" dirty="0"/>
              <a:t> = </a:t>
            </a:r>
            <a:r>
              <a:rPr lang="en-IN" dirty="0" err="1"/>
              <a:t>np.mean</a:t>
            </a:r>
            <a:r>
              <a:rPr lang="en-IN" dirty="0"/>
              <a:t>(</a:t>
            </a:r>
            <a:r>
              <a:rPr lang="en-IN" dirty="0" err="1"/>
              <a:t>np.square</a:t>
            </a:r>
            <a:r>
              <a:rPr lang="en-IN" dirty="0"/>
              <a:t>(</a:t>
            </a:r>
            <a:r>
              <a:rPr lang="en-IN" dirty="0" err="1"/>
              <a:t>X_train</a:t>
            </a:r>
            <a:r>
              <a:rPr lang="en-IN" dirty="0"/>
              <a:t> - </a:t>
            </a:r>
            <a:r>
              <a:rPr lang="en-IN" dirty="0" err="1"/>
              <a:t>X_train_reconstructed</a:t>
            </a:r>
            <a:r>
              <a:rPr lang="en-IN" dirty="0"/>
              <a:t>), axis=1) </a:t>
            </a:r>
          </a:p>
          <a:p>
            <a:pPr lvl="0"/>
            <a:r>
              <a:rPr lang="en-IN" dirty="0" err="1"/>
              <a:t>test_loss</a:t>
            </a:r>
            <a:r>
              <a:rPr lang="en-IN" dirty="0"/>
              <a:t> = </a:t>
            </a:r>
            <a:r>
              <a:rPr lang="en-IN" dirty="0" err="1"/>
              <a:t>np.mean</a:t>
            </a:r>
            <a:r>
              <a:rPr lang="en-IN" dirty="0"/>
              <a:t>(</a:t>
            </a:r>
            <a:r>
              <a:rPr lang="en-IN" dirty="0" err="1"/>
              <a:t>np.square</a:t>
            </a:r>
            <a:r>
              <a:rPr lang="en-IN" dirty="0"/>
              <a:t>(</a:t>
            </a:r>
            <a:r>
              <a:rPr lang="en-IN" dirty="0" err="1"/>
              <a:t>X_test</a:t>
            </a:r>
            <a:r>
              <a:rPr lang="en-IN" dirty="0"/>
              <a:t> - </a:t>
            </a:r>
            <a:r>
              <a:rPr lang="en-IN" dirty="0" err="1"/>
              <a:t>X_test_reconstructed</a:t>
            </a:r>
            <a:r>
              <a:rPr lang="en-IN" dirty="0"/>
              <a:t>), axis=1) </a:t>
            </a:r>
          </a:p>
          <a:p>
            <a:pPr lvl="0"/>
            <a:r>
              <a:rPr lang="en-IN" dirty="0"/>
              <a:t> </a:t>
            </a:r>
          </a:p>
          <a:p>
            <a:pPr lvl="0"/>
            <a:r>
              <a:rPr lang="en-IN" dirty="0"/>
              <a:t># Print some example losses </a:t>
            </a:r>
          </a:p>
          <a:p>
            <a:pPr lvl="0"/>
            <a:r>
              <a:rPr lang="en-IN" dirty="0"/>
              <a:t>print("Train Loss: ", </a:t>
            </a:r>
            <a:r>
              <a:rPr lang="en-IN" dirty="0" err="1"/>
              <a:t>train_loss</a:t>
            </a:r>
            <a:r>
              <a:rPr lang="en-IN" dirty="0"/>
              <a:t>[:5]) </a:t>
            </a:r>
          </a:p>
          <a:p>
            <a:pPr lvl="0"/>
            <a:r>
              <a:rPr lang="en-IN" dirty="0"/>
              <a:t>print("Test Loss: ", </a:t>
            </a:r>
            <a:r>
              <a:rPr lang="en-IN" dirty="0" err="1"/>
              <a:t>test_loss</a:t>
            </a:r>
            <a:r>
              <a:rPr lang="en-IN" dirty="0"/>
              <a:t>[:5]) </a:t>
            </a:r>
          </a:p>
          <a:p>
            <a:endParaRPr lang="en-IN" dirty="0"/>
          </a:p>
        </p:txBody>
      </p:sp>
    </p:spTree>
    <p:extLst>
      <p:ext uri="{BB962C8B-B14F-4D97-AF65-F5344CB8AC3E}">
        <p14:creationId xmlns:p14="http://schemas.microsoft.com/office/powerpoint/2010/main" val="3393028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IN" b="1" dirty="0"/>
              <a:t>Step 8: </a:t>
            </a:r>
            <a:r>
              <a:rPr lang="en-IN" b="1" dirty="0" err="1"/>
              <a:t>Analyze</a:t>
            </a:r>
            <a:r>
              <a:rPr lang="en-IN" b="1" dirty="0"/>
              <a:t> the Results</a:t>
            </a:r>
            <a:endParaRPr lang="en-IN" dirty="0"/>
          </a:p>
          <a:p>
            <a:r>
              <a:rPr lang="en-IN" dirty="0"/>
              <a:t>You can visualize the reconstruction error to identify anomalies or evaluate the performance of your </a:t>
            </a:r>
            <a:r>
              <a:rPr lang="en-IN" dirty="0" err="1"/>
              <a:t>autoencoder</a:t>
            </a:r>
            <a:r>
              <a:rPr lang="en-IN" dirty="0"/>
              <a:t>.</a:t>
            </a:r>
          </a:p>
          <a:p>
            <a:pPr lvl="0"/>
            <a:r>
              <a:rPr lang="en-IN" dirty="0"/>
              <a:t>import </a:t>
            </a:r>
            <a:r>
              <a:rPr lang="en-IN" dirty="0" err="1"/>
              <a:t>matplotlib.pyplot</a:t>
            </a:r>
            <a:r>
              <a:rPr lang="en-IN" dirty="0"/>
              <a:t> as </a:t>
            </a:r>
            <a:r>
              <a:rPr lang="en-IN" dirty="0" err="1"/>
              <a:t>plt</a:t>
            </a:r>
            <a:r>
              <a:rPr lang="en-IN" dirty="0"/>
              <a:t> </a:t>
            </a:r>
          </a:p>
          <a:p>
            <a:pPr lvl="0"/>
            <a:r>
              <a:rPr lang="en-IN" dirty="0"/>
              <a:t> </a:t>
            </a:r>
          </a:p>
          <a:p>
            <a:pPr lvl="0"/>
            <a:r>
              <a:rPr lang="en-IN" dirty="0" err="1"/>
              <a:t>plt.hist</a:t>
            </a:r>
            <a:r>
              <a:rPr lang="en-IN" dirty="0"/>
              <a:t>(</a:t>
            </a:r>
            <a:r>
              <a:rPr lang="en-IN" dirty="0" err="1"/>
              <a:t>train_loss</a:t>
            </a:r>
            <a:r>
              <a:rPr lang="en-IN" dirty="0"/>
              <a:t>, bins=50, alpha=0.5, label='Train Loss') </a:t>
            </a:r>
          </a:p>
          <a:p>
            <a:pPr lvl="0"/>
            <a:r>
              <a:rPr lang="en-IN" dirty="0" err="1"/>
              <a:t>plt.hist</a:t>
            </a:r>
            <a:r>
              <a:rPr lang="en-IN" dirty="0"/>
              <a:t>(</a:t>
            </a:r>
            <a:r>
              <a:rPr lang="en-IN" dirty="0" err="1"/>
              <a:t>test_loss</a:t>
            </a:r>
            <a:r>
              <a:rPr lang="en-IN" dirty="0"/>
              <a:t>, bins=50, alpha=0.5, label='Test Loss') </a:t>
            </a:r>
          </a:p>
          <a:p>
            <a:pPr lvl="0"/>
            <a:r>
              <a:rPr lang="en-IN" dirty="0" err="1"/>
              <a:t>plt.legend</a:t>
            </a:r>
            <a:r>
              <a:rPr lang="en-IN" dirty="0"/>
              <a:t>() </a:t>
            </a:r>
          </a:p>
          <a:p>
            <a:pPr lvl="0"/>
            <a:r>
              <a:rPr lang="en-IN" dirty="0" err="1"/>
              <a:t>plt.xlabel</a:t>
            </a:r>
            <a:r>
              <a:rPr lang="en-IN" dirty="0"/>
              <a:t>('Reconstruction Loss') </a:t>
            </a:r>
          </a:p>
          <a:p>
            <a:pPr lvl="0"/>
            <a:r>
              <a:rPr lang="en-IN" dirty="0" err="1"/>
              <a:t>plt.ylabel</a:t>
            </a:r>
            <a:r>
              <a:rPr lang="en-IN" dirty="0"/>
              <a:t>('Frequency') </a:t>
            </a:r>
          </a:p>
          <a:p>
            <a:pPr lvl="0"/>
            <a:r>
              <a:rPr lang="en-IN" dirty="0" err="1"/>
              <a:t>plt.title</a:t>
            </a:r>
            <a:r>
              <a:rPr lang="en-IN" dirty="0"/>
              <a:t>('Reconstruction Loss Distribution') </a:t>
            </a:r>
          </a:p>
          <a:p>
            <a:pPr lvl="0"/>
            <a:r>
              <a:rPr lang="en-IN" dirty="0" err="1"/>
              <a:t>plt.show</a:t>
            </a:r>
            <a:r>
              <a:rPr lang="en-IN" dirty="0"/>
              <a:t>() </a:t>
            </a:r>
          </a:p>
          <a:p>
            <a:endParaRPr lang="en-IN" dirty="0"/>
          </a:p>
        </p:txBody>
      </p:sp>
    </p:spTree>
    <p:extLst>
      <p:ext uri="{BB962C8B-B14F-4D97-AF65-F5344CB8AC3E}">
        <p14:creationId xmlns:p14="http://schemas.microsoft.com/office/powerpoint/2010/main" val="338272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IN" dirty="0"/>
          </a:p>
        </p:txBody>
      </p:sp>
      <p:sp>
        <p:nvSpPr>
          <p:cNvPr id="3" name="Content Placeholder 2"/>
          <p:cNvSpPr>
            <a:spLocks noGrp="1"/>
          </p:cNvSpPr>
          <p:nvPr>
            <p:ph idx="1"/>
          </p:nvPr>
        </p:nvSpPr>
        <p:spPr/>
        <p:txBody>
          <a:bodyPr>
            <a:normAutofit fontScale="55000" lnSpcReduction="20000"/>
          </a:bodyPr>
          <a:lstStyle/>
          <a:p>
            <a:pPr lvl="7"/>
            <a:r>
              <a:rPr lang="en-US" sz="3200" b="1" dirty="0"/>
              <a:t>Baseline Code</a:t>
            </a:r>
          </a:p>
          <a:p>
            <a:r>
              <a:rPr lang="en-IN" dirty="0"/>
              <a:t>from </a:t>
            </a:r>
            <a:r>
              <a:rPr lang="en-IN" dirty="0" err="1"/>
              <a:t>sklearn.datasets</a:t>
            </a:r>
            <a:r>
              <a:rPr lang="en-IN" dirty="0"/>
              <a:t> import </a:t>
            </a:r>
            <a:r>
              <a:rPr lang="en-IN" dirty="0" err="1"/>
              <a:t>make_classification</a:t>
            </a:r>
            <a:r>
              <a:rPr lang="en-IN" dirty="0"/>
              <a:t> </a:t>
            </a:r>
          </a:p>
          <a:p>
            <a:r>
              <a:rPr lang="en-IN" dirty="0"/>
              <a:t>from </a:t>
            </a:r>
            <a:r>
              <a:rPr lang="en-IN" dirty="0" err="1"/>
              <a:t>sklearn.preprocessing</a:t>
            </a:r>
            <a:r>
              <a:rPr lang="en-IN" dirty="0"/>
              <a:t> import </a:t>
            </a:r>
            <a:r>
              <a:rPr lang="en-IN" dirty="0" err="1"/>
              <a:t>MinMaxScaler</a:t>
            </a:r>
            <a:r>
              <a:rPr lang="en-IN" dirty="0"/>
              <a:t> </a:t>
            </a:r>
          </a:p>
          <a:p>
            <a:r>
              <a:rPr lang="en-IN" dirty="0"/>
              <a:t>from </a:t>
            </a:r>
            <a:r>
              <a:rPr lang="en-IN" dirty="0" err="1"/>
              <a:t>sklearn.preprocessing</a:t>
            </a:r>
            <a:r>
              <a:rPr lang="en-IN" dirty="0"/>
              <a:t> import </a:t>
            </a:r>
            <a:r>
              <a:rPr lang="en-IN" dirty="0" err="1"/>
              <a:t>LabelEncoder</a:t>
            </a:r>
            <a:r>
              <a:rPr lang="en-IN" dirty="0"/>
              <a:t> </a:t>
            </a:r>
          </a:p>
          <a:p>
            <a:r>
              <a:rPr lang="en-IN" dirty="0"/>
              <a:t>from </a:t>
            </a:r>
            <a:r>
              <a:rPr lang="en-IN" dirty="0" err="1"/>
              <a:t>sklearn.model_selection</a:t>
            </a:r>
            <a:r>
              <a:rPr lang="en-IN" dirty="0"/>
              <a:t> import </a:t>
            </a:r>
            <a:r>
              <a:rPr lang="en-IN" dirty="0" err="1"/>
              <a:t>train_test_split</a:t>
            </a:r>
            <a:endParaRPr lang="en-IN" dirty="0"/>
          </a:p>
          <a:p>
            <a:r>
              <a:rPr lang="en-IN" dirty="0"/>
              <a:t> from </a:t>
            </a:r>
            <a:r>
              <a:rPr lang="en-IN" dirty="0" err="1"/>
              <a:t>sklearn.linear_model</a:t>
            </a:r>
            <a:r>
              <a:rPr lang="en-IN" dirty="0"/>
              <a:t> import </a:t>
            </a:r>
            <a:r>
              <a:rPr lang="en-IN" dirty="0" err="1"/>
              <a:t>LogisticRegression</a:t>
            </a:r>
            <a:r>
              <a:rPr lang="en-IN" dirty="0"/>
              <a:t> </a:t>
            </a:r>
          </a:p>
          <a:p>
            <a:r>
              <a:rPr lang="en-IN" dirty="0"/>
              <a:t>from </a:t>
            </a:r>
            <a:r>
              <a:rPr lang="en-IN" dirty="0" err="1"/>
              <a:t>sklearn.metrics</a:t>
            </a:r>
            <a:r>
              <a:rPr lang="en-IN" dirty="0"/>
              <a:t> import </a:t>
            </a:r>
            <a:r>
              <a:rPr lang="en-IN" dirty="0" err="1"/>
              <a:t>accuracy_score</a:t>
            </a:r>
            <a:r>
              <a:rPr lang="en-IN" dirty="0"/>
              <a:t> </a:t>
            </a:r>
          </a:p>
          <a:p>
            <a:r>
              <a:rPr lang="en-IN" dirty="0"/>
              <a:t>from </a:t>
            </a:r>
            <a:r>
              <a:rPr lang="en-IN" dirty="0" err="1"/>
              <a:t>tensorflow.keras.models</a:t>
            </a:r>
            <a:r>
              <a:rPr lang="en-IN" dirty="0"/>
              <a:t> import </a:t>
            </a:r>
            <a:r>
              <a:rPr lang="en-IN" dirty="0" err="1"/>
              <a:t>load_model</a:t>
            </a:r>
            <a:r>
              <a:rPr lang="en-IN" dirty="0"/>
              <a:t> </a:t>
            </a:r>
          </a:p>
          <a:p>
            <a:r>
              <a:rPr lang="en-IN" dirty="0"/>
              <a:t>from </a:t>
            </a:r>
            <a:r>
              <a:rPr lang="en-IN" dirty="0" err="1"/>
              <a:t>tensorflow.keras.models</a:t>
            </a:r>
            <a:r>
              <a:rPr lang="en-IN" dirty="0"/>
              <a:t> import Model </a:t>
            </a:r>
          </a:p>
          <a:p>
            <a:r>
              <a:rPr lang="en-IN" dirty="0"/>
              <a:t>from </a:t>
            </a:r>
            <a:r>
              <a:rPr lang="en-IN" dirty="0" err="1"/>
              <a:t>tensorflow.keras.layers</a:t>
            </a:r>
            <a:r>
              <a:rPr lang="en-IN" dirty="0"/>
              <a:t> import Input </a:t>
            </a:r>
          </a:p>
          <a:p>
            <a:r>
              <a:rPr lang="en-IN" dirty="0"/>
              <a:t>from </a:t>
            </a:r>
            <a:r>
              <a:rPr lang="en-IN" dirty="0" err="1"/>
              <a:t>tensorflow.keras.layers</a:t>
            </a:r>
            <a:r>
              <a:rPr lang="en-IN" dirty="0"/>
              <a:t> import Dense </a:t>
            </a:r>
          </a:p>
          <a:p>
            <a:r>
              <a:rPr lang="en-IN" dirty="0"/>
              <a:t>from </a:t>
            </a:r>
            <a:r>
              <a:rPr lang="en-IN" dirty="0" err="1"/>
              <a:t>tensorflow.keras.layers</a:t>
            </a:r>
            <a:r>
              <a:rPr lang="en-IN" dirty="0"/>
              <a:t> import </a:t>
            </a:r>
            <a:r>
              <a:rPr lang="en-IN" dirty="0" err="1"/>
              <a:t>LeakyReLU</a:t>
            </a:r>
            <a:r>
              <a:rPr lang="en-IN" dirty="0"/>
              <a:t> </a:t>
            </a:r>
          </a:p>
          <a:p>
            <a:r>
              <a:rPr lang="en-IN" dirty="0"/>
              <a:t>from </a:t>
            </a:r>
            <a:r>
              <a:rPr lang="en-IN" dirty="0" err="1"/>
              <a:t>tensorflow.keras.layers</a:t>
            </a:r>
            <a:r>
              <a:rPr lang="en-IN" dirty="0"/>
              <a:t> import </a:t>
            </a:r>
            <a:r>
              <a:rPr lang="en-IN" dirty="0" err="1"/>
              <a:t>BatchNormalization</a:t>
            </a:r>
            <a:endParaRPr lang="en-IN" dirty="0"/>
          </a:p>
          <a:p>
            <a:r>
              <a:rPr lang="en-IN" dirty="0"/>
              <a:t>from </a:t>
            </a:r>
            <a:r>
              <a:rPr lang="en-IN" dirty="0" err="1"/>
              <a:t>tensorflow.keras.utils</a:t>
            </a:r>
            <a:r>
              <a:rPr lang="en-IN" dirty="0"/>
              <a:t> import </a:t>
            </a:r>
            <a:r>
              <a:rPr lang="en-IN" dirty="0" err="1"/>
              <a:t>plot_model</a:t>
            </a:r>
            <a:r>
              <a:rPr lang="en-IN" dirty="0"/>
              <a:t> </a:t>
            </a:r>
          </a:p>
          <a:p>
            <a:r>
              <a:rPr lang="en-IN" dirty="0"/>
              <a:t>import </a:t>
            </a:r>
            <a:r>
              <a:rPr lang="en-IN" dirty="0" err="1"/>
              <a:t>matplotlib.pyplot</a:t>
            </a:r>
            <a:r>
              <a:rPr lang="en-IN" dirty="0"/>
              <a:t> as </a:t>
            </a:r>
            <a:r>
              <a:rPr lang="en-IN" dirty="0" err="1"/>
              <a:t>plt</a:t>
            </a:r>
            <a:endParaRPr lang="en-IN" dirty="0"/>
          </a:p>
        </p:txBody>
      </p:sp>
    </p:spTree>
    <p:extLst>
      <p:ext uri="{BB962C8B-B14F-4D97-AF65-F5344CB8AC3E}">
        <p14:creationId xmlns:p14="http://schemas.microsoft.com/office/powerpoint/2010/main" val="2997755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sp>
        <p:nvSpPr>
          <p:cNvPr id="3" name="Content Placeholder 2"/>
          <p:cNvSpPr>
            <a:spLocks noGrp="1"/>
          </p:cNvSpPr>
          <p:nvPr>
            <p:ph idx="1"/>
          </p:nvPr>
        </p:nvSpPr>
        <p:spPr>
          <a:xfrm>
            <a:off x="323528" y="764704"/>
            <a:ext cx="8640960" cy="5361459"/>
          </a:xfrm>
        </p:spPr>
        <p:txBody>
          <a:bodyPr>
            <a:normAutofit/>
          </a:bodyPr>
          <a:lstStyle/>
          <a:p>
            <a:r>
              <a:rPr lang="en-IN" sz="2000" dirty="0"/>
              <a:t>X, y = </a:t>
            </a:r>
            <a:r>
              <a:rPr lang="en-IN" sz="2000" dirty="0" err="1"/>
              <a:t>make_classification</a:t>
            </a:r>
            <a:r>
              <a:rPr lang="en-IN" sz="2000" dirty="0"/>
              <a:t>(</a:t>
            </a:r>
            <a:r>
              <a:rPr lang="en-IN" sz="2000" dirty="0" err="1"/>
              <a:t>n_samples</a:t>
            </a:r>
            <a:r>
              <a:rPr lang="en-IN" sz="2000" dirty="0"/>
              <a:t>=1000, </a:t>
            </a:r>
            <a:r>
              <a:rPr lang="en-IN" sz="2000" dirty="0" err="1"/>
              <a:t>n_features</a:t>
            </a:r>
            <a:r>
              <a:rPr lang="en-IN" sz="2000" dirty="0"/>
              <a:t>=100, </a:t>
            </a:r>
            <a:r>
              <a:rPr lang="en-IN" sz="2000" dirty="0" err="1"/>
              <a:t>n_informative</a:t>
            </a:r>
            <a:r>
              <a:rPr lang="en-IN" sz="2000" dirty="0"/>
              <a:t>=10, </a:t>
            </a:r>
            <a:r>
              <a:rPr lang="en-IN" sz="2000" dirty="0" err="1"/>
              <a:t>n_redundant</a:t>
            </a:r>
            <a:r>
              <a:rPr lang="en-IN" sz="2000" dirty="0"/>
              <a:t>=90, </a:t>
            </a:r>
            <a:r>
              <a:rPr lang="en-IN" sz="2000" dirty="0" err="1"/>
              <a:t>random_state</a:t>
            </a:r>
            <a:r>
              <a:rPr lang="en-IN" sz="2000" dirty="0"/>
              <a:t>=1)</a:t>
            </a:r>
          </a:p>
          <a:p>
            <a:r>
              <a:rPr lang="en-IN" sz="2000" dirty="0"/>
              <a:t> </a:t>
            </a:r>
            <a:r>
              <a:rPr lang="en-IN" sz="2000" dirty="0" err="1"/>
              <a:t>X_train</a:t>
            </a:r>
            <a:r>
              <a:rPr lang="en-IN" sz="2000" dirty="0"/>
              <a:t>, </a:t>
            </a:r>
            <a:r>
              <a:rPr lang="en-IN" sz="2000" dirty="0" err="1"/>
              <a:t>X_test</a:t>
            </a:r>
            <a:r>
              <a:rPr lang="en-IN" sz="2000" dirty="0"/>
              <a:t>, </a:t>
            </a:r>
            <a:r>
              <a:rPr lang="en-IN" sz="2000" dirty="0" err="1"/>
              <a:t>y_train</a:t>
            </a:r>
            <a:r>
              <a:rPr lang="en-IN" sz="2000" dirty="0"/>
              <a:t>, </a:t>
            </a:r>
            <a:r>
              <a:rPr lang="en-IN" sz="2000" dirty="0" err="1"/>
              <a:t>y_test</a:t>
            </a:r>
            <a:r>
              <a:rPr lang="en-IN" sz="2000" dirty="0"/>
              <a:t> = </a:t>
            </a:r>
            <a:r>
              <a:rPr lang="en-IN" sz="2000" dirty="0" err="1"/>
              <a:t>train_test_split</a:t>
            </a:r>
            <a:r>
              <a:rPr lang="en-IN" sz="2000" dirty="0"/>
              <a:t>(X, y, </a:t>
            </a:r>
            <a:r>
              <a:rPr lang="en-IN" sz="2000" dirty="0" err="1"/>
              <a:t>test_size</a:t>
            </a:r>
            <a:r>
              <a:rPr lang="en-IN" sz="2000" dirty="0"/>
              <a:t>=0.33, </a:t>
            </a:r>
            <a:r>
              <a:rPr lang="en-IN" sz="2000" dirty="0" err="1"/>
              <a:t>random_state</a:t>
            </a:r>
            <a:r>
              <a:rPr lang="en-IN" sz="2000" dirty="0"/>
              <a:t>=1)</a:t>
            </a:r>
          </a:p>
          <a:p>
            <a:r>
              <a:rPr lang="en-IN" sz="2000" dirty="0"/>
              <a:t> t = </a:t>
            </a:r>
            <a:r>
              <a:rPr lang="en-IN" sz="2000" dirty="0" err="1"/>
              <a:t>MinMaxScaler</a:t>
            </a:r>
            <a:r>
              <a:rPr lang="en-IN" sz="2000" dirty="0"/>
              <a:t>() </a:t>
            </a:r>
          </a:p>
          <a:p>
            <a:r>
              <a:rPr lang="en-IN" sz="2000" dirty="0" err="1"/>
              <a:t>t.fit</a:t>
            </a:r>
            <a:r>
              <a:rPr lang="en-IN" sz="2000" dirty="0"/>
              <a:t>(</a:t>
            </a:r>
            <a:r>
              <a:rPr lang="en-IN" sz="2000" dirty="0" err="1"/>
              <a:t>X_train</a:t>
            </a:r>
            <a:r>
              <a:rPr lang="en-IN" sz="2000" dirty="0"/>
              <a:t>) </a:t>
            </a:r>
          </a:p>
          <a:p>
            <a:r>
              <a:rPr lang="en-IN" sz="2000" dirty="0" err="1"/>
              <a:t>X_train</a:t>
            </a:r>
            <a:r>
              <a:rPr lang="en-IN" sz="2000" dirty="0"/>
              <a:t> = </a:t>
            </a:r>
            <a:r>
              <a:rPr lang="en-IN" sz="2000" dirty="0" err="1"/>
              <a:t>t.transform</a:t>
            </a:r>
            <a:r>
              <a:rPr lang="en-IN" sz="2000" dirty="0"/>
              <a:t>(</a:t>
            </a:r>
            <a:r>
              <a:rPr lang="en-IN" sz="2000" dirty="0" err="1"/>
              <a:t>X_train</a:t>
            </a:r>
            <a:r>
              <a:rPr lang="en-IN" sz="2000" dirty="0"/>
              <a:t>)</a:t>
            </a:r>
          </a:p>
          <a:p>
            <a:r>
              <a:rPr lang="en-IN" sz="2000" dirty="0"/>
              <a:t> </a:t>
            </a:r>
            <a:r>
              <a:rPr lang="en-IN" sz="2000" dirty="0" err="1"/>
              <a:t>X_test</a:t>
            </a:r>
            <a:r>
              <a:rPr lang="en-IN" sz="2000" dirty="0"/>
              <a:t> = </a:t>
            </a:r>
            <a:r>
              <a:rPr lang="en-IN" sz="2000" dirty="0" err="1"/>
              <a:t>t.transform</a:t>
            </a:r>
            <a:r>
              <a:rPr lang="en-IN" sz="2000" dirty="0"/>
              <a:t>(</a:t>
            </a:r>
            <a:r>
              <a:rPr lang="en-IN" sz="2000" dirty="0" err="1"/>
              <a:t>X_test</a:t>
            </a:r>
            <a:r>
              <a:rPr lang="en-IN" sz="2000" dirty="0"/>
              <a:t>) </a:t>
            </a:r>
          </a:p>
          <a:p>
            <a:r>
              <a:rPr lang="en-IN" sz="2000" dirty="0"/>
              <a:t>model = </a:t>
            </a:r>
            <a:r>
              <a:rPr lang="en-IN" sz="2000" dirty="0" err="1"/>
              <a:t>LogisticRegression</a:t>
            </a:r>
            <a:r>
              <a:rPr lang="en-IN" sz="2000" dirty="0"/>
              <a:t>() </a:t>
            </a:r>
          </a:p>
          <a:p>
            <a:r>
              <a:rPr lang="en-IN" sz="2000" dirty="0" err="1"/>
              <a:t>model.fit</a:t>
            </a:r>
            <a:r>
              <a:rPr lang="en-IN" sz="2000" dirty="0"/>
              <a:t>(</a:t>
            </a:r>
            <a:r>
              <a:rPr lang="en-IN" sz="2000" dirty="0" err="1"/>
              <a:t>X_train</a:t>
            </a:r>
            <a:r>
              <a:rPr lang="en-IN" sz="2000" dirty="0"/>
              <a:t>, </a:t>
            </a:r>
            <a:r>
              <a:rPr lang="en-IN" sz="2000" dirty="0" err="1"/>
              <a:t>y_train</a:t>
            </a:r>
            <a:r>
              <a:rPr lang="en-IN" sz="2000" dirty="0"/>
              <a:t>) </a:t>
            </a:r>
          </a:p>
          <a:p>
            <a:r>
              <a:rPr lang="en-IN" sz="2000" dirty="0" err="1"/>
              <a:t>y_pred</a:t>
            </a:r>
            <a:r>
              <a:rPr lang="en-IN" sz="2000" dirty="0"/>
              <a:t> = </a:t>
            </a:r>
            <a:r>
              <a:rPr lang="en-IN" sz="2000" dirty="0" err="1"/>
              <a:t>model.predict</a:t>
            </a:r>
            <a:r>
              <a:rPr lang="en-IN" sz="2000" dirty="0"/>
              <a:t>(</a:t>
            </a:r>
            <a:r>
              <a:rPr lang="en-IN" sz="2000" dirty="0" err="1"/>
              <a:t>X_test</a:t>
            </a:r>
            <a:r>
              <a:rPr lang="en-IN" sz="2000" dirty="0"/>
              <a:t>) </a:t>
            </a:r>
          </a:p>
          <a:p>
            <a:r>
              <a:rPr lang="en-IN" sz="2000" dirty="0" err="1"/>
              <a:t>acc</a:t>
            </a:r>
            <a:r>
              <a:rPr lang="en-IN" sz="2000" dirty="0"/>
              <a:t> = </a:t>
            </a:r>
            <a:r>
              <a:rPr lang="en-IN" sz="2000" dirty="0" err="1"/>
              <a:t>accuracy_score</a:t>
            </a:r>
            <a:r>
              <a:rPr lang="en-IN" sz="2000" dirty="0"/>
              <a:t>(</a:t>
            </a:r>
            <a:r>
              <a:rPr lang="en-IN" sz="2000" dirty="0" err="1"/>
              <a:t>y_test</a:t>
            </a:r>
            <a:r>
              <a:rPr lang="en-IN" sz="2000" dirty="0"/>
              <a:t>, </a:t>
            </a:r>
            <a:r>
              <a:rPr lang="en-IN" sz="2000" dirty="0" err="1"/>
              <a:t>y_pred</a:t>
            </a:r>
            <a:r>
              <a:rPr lang="en-IN" sz="2000" dirty="0"/>
              <a:t>) </a:t>
            </a:r>
          </a:p>
          <a:p>
            <a:r>
              <a:rPr lang="en-IN" sz="2000" dirty="0"/>
              <a:t>print(</a:t>
            </a:r>
            <a:r>
              <a:rPr lang="en-IN" sz="2000" dirty="0" err="1"/>
              <a:t>acc</a:t>
            </a:r>
            <a:r>
              <a:rPr lang="en-IN" sz="2000" dirty="0"/>
              <a:t>)</a:t>
            </a:r>
          </a:p>
        </p:txBody>
      </p:sp>
    </p:spTree>
    <p:extLst>
      <p:ext uri="{BB962C8B-B14F-4D97-AF65-F5344CB8AC3E}">
        <p14:creationId xmlns:p14="http://schemas.microsoft.com/office/powerpoint/2010/main" val="393080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i="1" dirty="0"/>
              <a:t># load the model from file(</a:t>
            </a:r>
            <a:r>
              <a:rPr lang="en-US" i="1" dirty="0" err="1"/>
              <a:t>autoencoder</a:t>
            </a:r>
            <a:r>
              <a:rPr lang="en-US" i="1" dirty="0"/>
              <a:t>)</a:t>
            </a:r>
          </a:p>
          <a:p>
            <a:r>
              <a:rPr lang="en-IN" dirty="0"/>
              <a:t>encoder = </a:t>
            </a:r>
            <a:r>
              <a:rPr lang="en-IN" dirty="0" err="1"/>
              <a:t>load_model</a:t>
            </a:r>
            <a:r>
              <a:rPr lang="en-IN" dirty="0"/>
              <a:t>('encoder.h5')</a:t>
            </a:r>
          </a:p>
          <a:p>
            <a:r>
              <a:rPr lang="en-IN" i="1" dirty="0"/>
              <a:t># encode the data</a:t>
            </a:r>
          </a:p>
          <a:p>
            <a:r>
              <a:rPr lang="en-IN" dirty="0" err="1"/>
              <a:t>X_train_encode</a:t>
            </a:r>
            <a:r>
              <a:rPr lang="en-IN" dirty="0"/>
              <a:t> = </a:t>
            </a:r>
            <a:r>
              <a:rPr lang="en-IN" dirty="0" err="1"/>
              <a:t>encoder.predict</a:t>
            </a:r>
            <a:r>
              <a:rPr lang="en-IN" dirty="0"/>
              <a:t>(</a:t>
            </a:r>
            <a:r>
              <a:rPr lang="en-IN" dirty="0" err="1"/>
              <a:t>X_train</a:t>
            </a:r>
            <a:r>
              <a:rPr lang="en-IN" dirty="0"/>
              <a:t>) </a:t>
            </a:r>
            <a:r>
              <a:rPr lang="en-IN" dirty="0" err="1"/>
              <a:t>X_test_encode</a:t>
            </a:r>
            <a:r>
              <a:rPr lang="en-IN" dirty="0"/>
              <a:t> = </a:t>
            </a:r>
            <a:r>
              <a:rPr lang="en-IN" dirty="0" err="1"/>
              <a:t>encoder.predict</a:t>
            </a:r>
            <a:r>
              <a:rPr lang="en-IN" dirty="0"/>
              <a:t>(</a:t>
            </a:r>
            <a:r>
              <a:rPr lang="en-IN" dirty="0" err="1"/>
              <a:t>X_test</a:t>
            </a:r>
            <a:r>
              <a:rPr lang="en-IN" dirty="0"/>
              <a:t>)</a:t>
            </a:r>
          </a:p>
        </p:txBody>
      </p:sp>
    </p:spTree>
    <p:extLst>
      <p:ext uri="{BB962C8B-B14F-4D97-AF65-F5344CB8AC3E}">
        <p14:creationId xmlns:p14="http://schemas.microsoft.com/office/powerpoint/2010/main" val="4000203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endParaRPr lang="en-IN" dirty="0"/>
          </a:p>
        </p:txBody>
      </p:sp>
      <p:sp>
        <p:nvSpPr>
          <p:cNvPr id="3" name="Content Placeholder 2"/>
          <p:cNvSpPr>
            <a:spLocks noGrp="1"/>
          </p:cNvSpPr>
          <p:nvPr>
            <p:ph idx="1"/>
          </p:nvPr>
        </p:nvSpPr>
        <p:spPr>
          <a:xfrm>
            <a:off x="323528" y="1600200"/>
            <a:ext cx="8640960" cy="4525963"/>
          </a:xfrm>
        </p:spPr>
        <p:txBody>
          <a:bodyPr>
            <a:normAutofit/>
          </a:bodyPr>
          <a:lstStyle/>
          <a:p>
            <a:r>
              <a:rPr lang="en-IN" sz="2800" dirty="0" err="1"/>
              <a:t>model_encode</a:t>
            </a:r>
            <a:r>
              <a:rPr lang="en-IN" sz="2800" dirty="0"/>
              <a:t> = </a:t>
            </a:r>
            <a:r>
              <a:rPr lang="en-IN" sz="2800" dirty="0" err="1"/>
              <a:t>LogisticRegression</a:t>
            </a:r>
            <a:r>
              <a:rPr lang="en-IN" sz="2800" dirty="0"/>
              <a:t>()</a:t>
            </a:r>
          </a:p>
          <a:p>
            <a:r>
              <a:rPr lang="en-IN" sz="2800" dirty="0"/>
              <a:t> </a:t>
            </a:r>
            <a:r>
              <a:rPr lang="en-IN" sz="2800" i="1" dirty="0"/>
              <a:t># fit the model on the training set</a:t>
            </a:r>
            <a:r>
              <a:rPr lang="en-IN" sz="2800" dirty="0"/>
              <a:t> </a:t>
            </a:r>
            <a:r>
              <a:rPr lang="en-IN" sz="2800" dirty="0" err="1"/>
              <a:t>model_encode.fit</a:t>
            </a:r>
            <a:r>
              <a:rPr lang="en-IN" sz="2800" dirty="0"/>
              <a:t>(</a:t>
            </a:r>
            <a:r>
              <a:rPr lang="en-IN" sz="2800" dirty="0" err="1"/>
              <a:t>X_train_encode</a:t>
            </a:r>
            <a:r>
              <a:rPr lang="en-IN" sz="2800" dirty="0"/>
              <a:t>, </a:t>
            </a:r>
            <a:r>
              <a:rPr lang="en-IN" sz="2800" dirty="0" err="1"/>
              <a:t>y_train</a:t>
            </a:r>
            <a:r>
              <a:rPr lang="en-IN" sz="2800" dirty="0"/>
              <a:t>) </a:t>
            </a:r>
          </a:p>
          <a:p>
            <a:r>
              <a:rPr lang="en-IN" sz="2800" i="1" dirty="0"/>
              <a:t># make predictions on the test set</a:t>
            </a:r>
          </a:p>
          <a:p>
            <a:r>
              <a:rPr lang="en-IN" sz="2800" dirty="0" err="1"/>
              <a:t>y_pred_encode</a:t>
            </a:r>
            <a:r>
              <a:rPr lang="en-IN" sz="2800" dirty="0"/>
              <a:t>=</a:t>
            </a:r>
            <a:r>
              <a:rPr lang="en-IN" sz="2800" dirty="0" err="1"/>
              <a:t>model_encode.predict</a:t>
            </a:r>
            <a:r>
              <a:rPr lang="en-IN" sz="2800" dirty="0"/>
              <a:t>(</a:t>
            </a:r>
            <a:r>
              <a:rPr lang="en-IN" sz="2800" dirty="0" err="1"/>
              <a:t>X_test_encode</a:t>
            </a:r>
            <a:r>
              <a:rPr lang="en-IN" sz="2800" dirty="0"/>
              <a:t>)</a:t>
            </a:r>
          </a:p>
          <a:p>
            <a:r>
              <a:rPr lang="en-IN" sz="2800" dirty="0" err="1"/>
              <a:t>acc_encode</a:t>
            </a:r>
            <a:r>
              <a:rPr lang="en-IN" sz="2800" dirty="0"/>
              <a:t> = </a:t>
            </a:r>
            <a:r>
              <a:rPr lang="en-IN" sz="2800" dirty="0" err="1"/>
              <a:t>accuracy_score</a:t>
            </a:r>
            <a:r>
              <a:rPr lang="en-IN" sz="2800" dirty="0"/>
              <a:t>(</a:t>
            </a:r>
            <a:r>
              <a:rPr lang="en-IN" sz="2800" dirty="0" err="1"/>
              <a:t>y_test</a:t>
            </a:r>
            <a:r>
              <a:rPr lang="en-IN" sz="2800" dirty="0"/>
              <a:t>, </a:t>
            </a:r>
            <a:r>
              <a:rPr lang="en-IN" sz="2800" dirty="0" err="1"/>
              <a:t>y_pred_encode</a:t>
            </a:r>
            <a:r>
              <a:rPr lang="en-IN" sz="2800" dirty="0"/>
              <a:t>) </a:t>
            </a:r>
          </a:p>
          <a:p>
            <a:r>
              <a:rPr lang="en-IN" sz="2800" dirty="0"/>
              <a:t>print(</a:t>
            </a:r>
            <a:r>
              <a:rPr lang="en-IN" sz="2800" dirty="0" err="1"/>
              <a:t>acc_encode</a:t>
            </a:r>
            <a:r>
              <a:rPr lang="en-IN" sz="2800" dirty="0"/>
              <a:t>)</a:t>
            </a:r>
          </a:p>
        </p:txBody>
      </p:sp>
    </p:spTree>
    <p:extLst>
      <p:ext uri="{BB962C8B-B14F-4D97-AF65-F5344CB8AC3E}">
        <p14:creationId xmlns:p14="http://schemas.microsoft.com/office/powerpoint/2010/main" val="3675679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432048"/>
          </a:xfrm>
        </p:spPr>
        <p:txBody>
          <a:bodyPr>
            <a:normAutofit fontScale="90000"/>
          </a:bodyPr>
          <a:lstStyle/>
          <a:p>
            <a:endParaRPr lang="en-IN" dirty="0"/>
          </a:p>
        </p:txBody>
      </p:sp>
      <p:sp>
        <p:nvSpPr>
          <p:cNvPr id="3" name="Content Placeholder 2"/>
          <p:cNvSpPr>
            <a:spLocks noGrp="1"/>
          </p:cNvSpPr>
          <p:nvPr>
            <p:ph idx="1"/>
          </p:nvPr>
        </p:nvSpPr>
        <p:spPr>
          <a:xfrm>
            <a:off x="251520" y="1600200"/>
            <a:ext cx="8435280" cy="4525963"/>
          </a:xfrm>
        </p:spPr>
        <p:txBody>
          <a:bodyPr>
            <a:normAutofit/>
          </a:bodyPr>
          <a:lstStyle/>
          <a:p>
            <a:r>
              <a:rPr lang="en-IN" sz="1800" dirty="0"/>
              <a:t>print('Accuracy </a:t>
            </a:r>
            <a:r>
              <a:rPr lang="en-IN" sz="1800" dirty="0" err="1"/>
              <a:t>LogisticRegression</a:t>
            </a:r>
            <a:r>
              <a:rPr lang="en-IN" sz="1800" dirty="0"/>
              <a:t> Simple: {}'.format(</a:t>
            </a:r>
            <a:r>
              <a:rPr lang="en-IN" sz="1800" dirty="0" err="1"/>
              <a:t>acc</a:t>
            </a:r>
            <a:r>
              <a:rPr lang="en-IN" sz="1800" dirty="0"/>
              <a:t>)) </a:t>
            </a:r>
          </a:p>
          <a:p>
            <a:r>
              <a:rPr lang="en-IN" sz="1800" dirty="0"/>
              <a:t>print('Accuracy </a:t>
            </a:r>
            <a:r>
              <a:rPr lang="en-IN" sz="1800" dirty="0" err="1"/>
              <a:t>LogisticRegression</a:t>
            </a:r>
            <a:r>
              <a:rPr lang="en-IN" sz="1800" dirty="0"/>
              <a:t> With </a:t>
            </a:r>
            <a:r>
              <a:rPr lang="en-IN" sz="1800" dirty="0" err="1"/>
              <a:t>Autoencoder</a:t>
            </a:r>
            <a:r>
              <a:rPr lang="en-IN" sz="1800" dirty="0"/>
              <a:t>: {}'.format(</a:t>
            </a:r>
            <a:r>
              <a:rPr lang="en-IN" sz="1800" dirty="0" err="1"/>
              <a:t>acc_encode</a:t>
            </a:r>
            <a:r>
              <a:rPr lang="en-IN" sz="1800" dirty="0"/>
              <a:t>))</a:t>
            </a:r>
          </a:p>
        </p:txBody>
      </p:sp>
    </p:spTree>
    <p:extLst>
      <p:ext uri="{BB962C8B-B14F-4D97-AF65-F5344CB8AC3E}">
        <p14:creationId xmlns:p14="http://schemas.microsoft.com/office/powerpoint/2010/main" val="187836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Autoencoder</a:t>
            </a:r>
            <a:r>
              <a:rPr lang="en-US" dirty="0"/>
              <a:t> Design</a:t>
            </a:r>
            <a:endParaRPr lang="en-IN" dirty="0"/>
          </a:p>
        </p:txBody>
      </p:sp>
      <p:sp>
        <p:nvSpPr>
          <p:cNvPr id="3" name="Content Placeholder 2"/>
          <p:cNvSpPr>
            <a:spLocks noGrp="1"/>
          </p:cNvSpPr>
          <p:nvPr>
            <p:ph idx="1"/>
          </p:nvPr>
        </p:nvSpPr>
        <p:spPr>
          <a:xfrm>
            <a:off x="179512" y="1600200"/>
            <a:ext cx="8712968" cy="4525963"/>
          </a:xfrm>
        </p:spPr>
        <p:txBody>
          <a:bodyPr>
            <a:normAutofit/>
          </a:bodyPr>
          <a:lstStyle/>
          <a:p>
            <a:r>
              <a:rPr lang="en-US" sz="2400" dirty="0"/>
              <a:t>X, y = </a:t>
            </a:r>
            <a:r>
              <a:rPr lang="en-US" sz="2400" dirty="0" err="1"/>
              <a:t>make_classification</a:t>
            </a:r>
            <a:r>
              <a:rPr lang="en-US" sz="2400" dirty="0"/>
              <a:t>(</a:t>
            </a:r>
            <a:r>
              <a:rPr lang="en-US" sz="2400" dirty="0" err="1"/>
              <a:t>n_samples</a:t>
            </a:r>
            <a:r>
              <a:rPr lang="en-US" sz="2400" dirty="0"/>
              <a:t> = 1000, </a:t>
            </a:r>
            <a:r>
              <a:rPr lang="en-US" sz="2400" dirty="0" err="1"/>
              <a:t>n_features</a:t>
            </a:r>
            <a:r>
              <a:rPr lang="en-US" sz="2400" dirty="0"/>
              <a:t> = 100, </a:t>
            </a:r>
            <a:r>
              <a:rPr lang="en-US" sz="2400" dirty="0" err="1"/>
              <a:t>n_informative</a:t>
            </a:r>
            <a:r>
              <a:rPr lang="en-US" sz="2400" dirty="0"/>
              <a:t> = 10, </a:t>
            </a:r>
            <a:r>
              <a:rPr lang="en-US" sz="2400" dirty="0" err="1"/>
              <a:t>n_redundant</a:t>
            </a:r>
            <a:r>
              <a:rPr lang="en-US" sz="2400" dirty="0"/>
              <a:t>=90, </a:t>
            </a:r>
            <a:r>
              <a:rPr lang="en-US" sz="2400" dirty="0" err="1"/>
              <a:t>random_state</a:t>
            </a:r>
            <a:r>
              <a:rPr lang="en-US" sz="2400" dirty="0"/>
              <a:t> = 1) print('Shape', </a:t>
            </a:r>
            <a:r>
              <a:rPr lang="en-US" sz="2400" dirty="0" err="1"/>
              <a:t>X.shape</a:t>
            </a:r>
            <a:r>
              <a:rPr lang="en-US" sz="2400" dirty="0"/>
              <a:t>)</a:t>
            </a:r>
          </a:p>
          <a:p>
            <a:r>
              <a:rPr lang="en-US" sz="2400" dirty="0"/>
              <a:t> X</a:t>
            </a:r>
            <a:endParaRPr lang="en-IN" sz="2400" dirty="0"/>
          </a:p>
        </p:txBody>
      </p:sp>
    </p:spTree>
    <p:extLst>
      <p:ext uri="{BB962C8B-B14F-4D97-AF65-F5344CB8AC3E}">
        <p14:creationId xmlns:p14="http://schemas.microsoft.com/office/powerpoint/2010/main" val="1227145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251520" y="1600200"/>
            <a:ext cx="8784976" cy="4525963"/>
          </a:xfrm>
        </p:spPr>
        <p:txBody>
          <a:bodyPr/>
          <a:lstStyle/>
          <a:p>
            <a:r>
              <a:rPr lang="en-US" dirty="0" err="1"/>
              <a:t>n_inputs</a:t>
            </a:r>
            <a:r>
              <a:rPr lang="en-US" dirty="0"/>
              <a:t> = </a:t>
            </a:r>
            <a:r>
              <a:rPr lang="en-US" dirty="0" err="1"/>
              <a:t>X.shape</a:t>
            </a:r>
            <a:r>
              <a:rPr lang="en-US" dirty="0"/>
              <a:t>[1] </a:t>
            </a:r>
            <a:r>
              <a:rPr lang="en-US" i="1" dirty="0"/>
              <a:t># Number of inputs</a:t>
            </a:r>
          </a:p>
          <a:p>
            <a:r>
              <a:rPr lang="en-US" i="1" dirty="0"/>
              <a:t># Train test Split</a:t>
            </a:r>
          </a:p>
          <a:p>
            <a:r>
              <a:rPr lang="en-US" dirty="0"/>
              <a:t> </a:t>
            </a:r>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(X, y, </a:t>
            </a:r>
            <a:r>
              <a:rPr lang="en-US" dirty="0" err="1"/>
              <a:t>test_size</a:t>
            </a:r>
            <a:r>
              <a:rPr lang="en-US" dirty="0"/>
              <a:t> = 0.33, </a:t>
            </a:r>
            <a:r>
              <a:rPr lang="en-US" dirty="0" err="1"/>
              <a:t>random_state</a:t>
            </a:r>
            <a:r>
              <a:rPr lang="en-US" dirty="0"/>
              <a:t> = 1)</a:t>
            </a:r>
            <a:endParaRPr lang="en-IN" dirty="0"/>
          </a:p>
        </p:txBody>
      </p:sp>
    </p:spTree>
    <p:extLst>
      <p:ext uri="{BB962C8B-B14F-4D97-AF65-F5344CB8AC3E}">
        <p14:creationId xmlns:p14="http://schemas.microsoft.com/office/powerpoint/2010/main" val="1938301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i="1" dirty="0"/>
              <a:t>#Scale data</a:t>
            </a:r>
          </a:p>
          <a:p>
            <a:r>
              <a:rPr lang="en-IN" dirty="0"/>
              <a:t> t = </a:t>
            </a:r>
            <a:r>
              <a:rPr lang="en-IN" dirty="0" err="1"/>
              <a:t>MinMaxScaler</a:t>
            </a:r>
            <a:r>
              <a:rPr lang="en-IN" dirty="0"/>
              <a:t>() </a:t>
            </a:r>
          </a:p>
          <a:p>
            <a:r>
              <a:rPr lang="en-IN" dirty="0" err="1"/>
              <a:t>t.fit</a:t>
            </a:r>
            <a:r>
              <a:rPr lang="en-IN" dirty="0"/>
              <a:t>(</a:t>
            </a:r>
            <a:r>
              <a:rPr lang="en-IN" dirty="0" err="1"/>
              <a:t>X_train</a:t>
            </a:r>
            <a:r>
              <a:rPr lang="en-IN" dirty="0"/>
              <a:t>) </a:t>
            </a:r>
          </a:p>
          <a:p>
            <a:r>
              <a:rPr lang="en-IN" dirty="0" err="1"/>
              <a:t>X_train</a:t>
            </a:r>
            <a:r>
              <a:rPr lang="en-IN" dirty="0"/>
              <a:t> = </a:t>
            </a:r>
            <a:r>
              <a:rPr lang="en-IN" dirty="0" err="1"/>
              <a:t>t.transform</a:t>
            </a:r>
            <a:r>
              <a:rPr lang="en-IN" dirty="0"/>
              <a:t>(</a:t>
            </a:r>
            <a:r>
              <a:rPr lang="en-IN" dirty="0" err="1"/>
              <a:t>X_train</a:t>
            </a:r>
            <a:r>
              <a:rPr lang="en-IN" dirty="0"/>
              <a:t>)</a:t>
            </a:r>
          </a:p>
          <a:p>
            <a:r>
              <a:rPr lang="en-IN" dirty="0"/>
              <a:t> </a:t>
            </a:r>
            <a:r>
              <a:rPr lang="en-IN" dirty="0" err="1"/>
              <a:t>X_test</a:t>
            </a:r>
            <a:r>
              <a:rPr lang="en-IN" dirty="0"/>
              <a:t> = </a:t>
            </a:r>
            <a:r>
              <a:rPr lang="en-IN" dirty="0" err="1"/>
              <a:t>t.transform</a:t>
            </a:r>
            <a:r>
              <a:rPr lang="en-IN" dirty="0"/>
              <a:t>(</a:t>
            </a:r>
            <a:r>
              <a:rPr lang="en-IN" dirty="0" err="1"/>
              <a:t>X_test</a:t>
            </a:r>
            <a:r>
              <a:rPr lang="en-IN" dirty="0"/>
              <a:t>)</a:t>
            </a:r>
          </a:p>
        </p:txBody>
      </p:sp>
    </p:spTree>
    <p:extLst>
      <p:ext uri="{BB962C8B-B14F-4D97-AF65-F5344CB8AC3E}">
        <p14:creationId xmlns:p14="http://schemas.microsoft.com/office/powerpoint/2010/main" val="1230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474345"/>
            <a:ext cx="8496944" cy="4832092"/>
          </a:xfrm>
          <a:prstGeom prst="rect">
            <a:avLst/>
          </a:prstGeom>
        </p:spPr>
        <p:txBody>
          <a:bodyPr wrap="square">
            <a:spAutoFit/>
          </a:bodyPr>
          <a:lstStyle/>
          <a:p>
            <a:r>
              <a:rPr lang="en-IN" sz="1100" b="1" dirty="0"/>
              <a:t>Encoder</a:t>
            </a:r>
          </a:p>
          <a:p>
            <a:pPr fontAlgn="t"/>
            <a:r>
              <a:rPr lang="en-IN" sz="1100" dirty="0"/>
              <a:t>In [ ]:</a:t>
            </a:r>
          </a:p>
          <a:p>
            <a:pPr fontAlgn="t"/>
            <a:r>
              <a:rPr lang="en-IN" sz="1100" dirty="0"/>
              <a:t>visible = Input(shape = (</a:t>
            </a:r>
            <a:r>
              <a:rPr lang="en-IN" sz="1100" dirty="0" err="1"/>
              <a:t>n_inputs</a:t>
            </a:r>
            <a:r>
              <a:rPr lang="en-IN" sz="1100" dirty="0"/>
              <a:t>,))</a:t>
            </a:r>
          </a:p>
          <a:p>
            <a:pPr fontAlgn="t"/>
            <a:r>
              <a:rPr lang="en-IN" sz="1100" dirty="0"/>
              <a:t> </a:t>
            </a:r>
            <a:r>
              <a:rPr lang="en-IN" sz="1100" i="1" dirty="0"/>
              <a:t>#Define Encoder</a:t>
            </a:r>
            <a:r>
              <a:rPr lang="en-IN" sz="1100" dirty="0"/>
              <a:t> </a:t>
            </a:r>
            <a:r>
              <a:rPr lang="en-IN" sz="1100" i="1" dirty="0"/>
              <a:t>#level 1</a:t>
            </a:r>
            <a:r>
              <a:rPr lang="en-IN" sz="1100" dirty="0"/>
              <a:t> </a:t>
            </a:r>
          </a:p>
          <a:p>
            <a:pPr fontAlgn="t"/>
            <a:r>
              <a:rPr lang="en-IN" sz="1100" dirty="0"/>
              <a:t>e = Dense(</a:t>
            </a:r>
            <a:r>
              <a:rPr lang="en-IN" sz="1100" dirty="0" err="1"/>
              <a:t>n_inputs</a:t>
            </a:r>
            <a:r>
              <a:rPr lang="en-IN" sz="1100" dirty="0"/>
              <a:t>*2)(visible) </a:t>
            </a:r>
            <a:r>
              <a:rPr lang="en-IN" sz="1100" i="1" dirty="0"/>
              <a:t># e = encoder</a:t>
            </a:r>
            <a:r>
              <a:rPr lang="en-IN" sz="1100" dirty="0"/>
              <a:t> </a:t>
            </a:r>
          </a:p>
          <a:p>
            <a:pPr fontAlgn="t"/>
            <a:r>
              <a:rPr lang="en-IN" sz="1100" dirty="0"/>
              <a:t>e = </a:t>
            </a:r>
            <a:r>
              <a:rPr lang="en-IN" sz="1100" dirty="0" err="1"/>
              <a:t>BatchNormalization</a:t>
            </a:r>
            <a:r>
              <a:rPr lang="en-IN" sz="1100" dirty="0"/>
              <a:t>()(e) </a:t>
            </a:r>
          </a:p>
          <a:p>
            <a:pPr fontAlgn="t"/>
            <a:r>
              <a:rPr lang="en-IN" sz="1100" dirty="0"/>
              <a:t>e = </a:t>
            </a:r>
            <a:r>
              <a:rPr lang="en-IN" sz="1100" dirty="0" err="1"/>
              <a:t>LeakyReLU</a:t>
            </a:r>
            <a:r>
              <a:rPr lang="en-IN" sz="1100" dirty="0"/>
              <a:t>()(e) </a:t>
            </a:r>
          </a:p>
          <a:p>
            <a:pPr fontAlgn="t"/>
            <a:r>
              <a:rPr lang="en-IN" sz="1100" i="1" dirty="0"/>
              <a:t># level 2 </a:t>
            </a:r>
          </a:p>
          <a:p>
            <a:pPr fontAlgn="t"/>
            <a:r>
              <a:rPr lang="en-IN" sz="1100" dirty="0"/>
              <a:t>e = Dense(</a:t>
            </a:r>
            <a:r>
              <a:rPr lang="en-IN" sz="1100" dirty="0" err="1"/>
              <a:t>n_inputs</a:t>
            </a:r>
            <a:r>
              <a:rPr lang="en-IN" sz="1100" dirty="0"/>
              <a:t>)(e) e</a:t>
            </a:r>
          </a:p>
          <a:p>
            <a:pPr fontAlgn="t"/>
            <a:r>
              <a:rPr lang="en-IN" sz="1100" dirty="0"/>
              <a:t> = </a:t>
            </a:r>
            <a:r>
              <a:rPr lang="en-IN" sz="1100" dirty="0" err="1"/>
              <a:t>BatchNormalization</a:t>
            </a:r>
            <a:r>
              <a:rPr lang="en-IN" sz="1100" dirty="0"/>
              <a:t>()(e) </a:t>
            </a:r>
          </a:p>
          <a:p>
            <a:pPr fontAlgn="t"/>
            <a:r>
              <a:rPr lang="en-IN" sz="1100" dirty="0"/>
              <a:t>e = </a:t>
            </a:r>
            <a:r>
              <a:rPr lang="en-IN" sz="1100" dirty="0" err="1"/>
              <a:t>LeakyReLU</a:t>
            </a:r>
            <a:r>
              <a:rPr lang="en-IN" sz="1100" dirty="0"/>
              <a:t>()(e) </a:t>
            </a:r>
          </a:p>
          <a:p>
            <a:pPr fontAlgn="t"/>
            <a:r>
              <a:rPr lang="en-IN" sz="1100" i="1" dirty="0"/>
              <a:t>#Bottleneck </a:t>
            </a:r>
          </a:p>
          <a:p>
            <a:pPr fontAlgn="t"/>
            <a:r>
              <a:rPr lang="en-IN" sz="1100" dirty="0" err="1"/>
              <a:t>n_bottleneck</a:t>
            </a:r>
            <a:r>
              <a:rPr lang="en-IN" sz="1100" dirty="0"/>
              <a:t> = round(float(</a:t>
            </a:r>
            <a:r>
              <a:rPr lang="en-IN" sz="1100" dirty="0" err="1"/>
              <a:t>n_inputs</a:t>
            </a:r>
            <a:r>
              <a:rPr lang="en-IN" sz="1100" dirty="0"/>
              <a:t>)/2.0) </a:t>
            </a:r>
          </a:p>
          <a:p>
            <a:pPr fontAlgn="t"/>
            <a:r>
              <a:rPr lang="en-IN" sz="1100" dirty="0"/>
              <a:t>bottleneck = Dense(</a:t>
            </a:r>
            <a:r>
              <a:rPr lang="en-IN" sz="1100" dirty="0" err="1"/>
              <a:t>n_bottleneck</a:t>
            </a:r>
            <a:r>
              <a:rPr lang="en-IN" sz="1100" dirty="0"/>
              <a:t>)(e) </a:t>
            </a:r>
          </a:p>
          <a:p>
            <a:pPr fontAlgn="t"/>
            <a:r>
              <a:rPr lang="en-IN" sz="1100" i="1" dirty="0"/>
              <a:t># Define Decoder</a:t>
            </a:r>
            <a:r>
              <a:rPr lang="en-IN" sz="1100" dirty="0"/>
              <a:t> </a:t>
            </a:r>
            <a:r>
              <a:rPr lang="en-IN" sz="1100" i="1" dirty="0"/>
              <a:t>#level 1</a:t>
            </a:r>
            <a:r>
              <a:rPr lang="en-IN" sz="1100" dirty="0"/>
              <a:t> </a:t>
            </a:r>
          </a:p>
          <a:p>
            <a:pPr fontAlgn="t"/>
            <a:r>
              <a:rPr lang="en-IN" sz="1100" dirty="0"/>
              <a:t>d = Dense(</a:t>
            </a:r>
            <a:r>
              <a:rPr lang="en-IN" sz="1100" dirty="0" err="1"/>
              <a:t>n_inputs</a:t>
            </a:r>
            <a:r>
              <a:rPr lang="en-IN" sz="1100" dirty="0"/>
              <a:t>)(bottleneck) </a:t>
            </a:r>
            <a:r>
              <a:rPr lang="en-IN" sz="1100" i="1" dirty="0"/>
              <a:t># d = </a:t>
            </a:r>
            <a:r>
              <a:rPr lang="en-IN" sz="1100" i="1" dirty="0" err="1"/>
              <a:t>dencoder</a:t>
            </a:r>
            <a:r>
              <a:rPr lang="en-IN" sz="1100" dirty="0"/>
              <a:t> </a:t>
            </a:r>
          </a:p>
          <a:p>
            <a:pPr fontAlgn="t"/>
            <a:r>
              <a:rPr lang="en-IN" sz="1100" dirty="0"/>
              <a:t>d = </a:t>
            </a:r>
            <a:r>
              <a:rPr lang="en-IN" sz="1100" dirty="0" err="1"/>
              <a:t>BatchNormalization</a:t>
            </a:r>
            <a:r>
              <a:rPr lang="en-IN" sz="1100" dirty="0"/>
              <a:t>()(d) </a:t>
            </a:r>
          </a:p>
          <a:p>
            <a:pPr fontAlgn="t"/>
            <a:r>
              <a:rPr lang="en-IN" sz="1100" dirty="0"/>
              <a:t>d = </a:t>
            </a:r>
            <a:r>
              <a:rPr lang="en-IN" sz="1100" dirty="0" err="1"/>
              <a:t>LeakyReLU</a:t>
            </a:r>
            <a:r>
              <a:rPr lang="en-IN" sz="1100" dirty="0"/>
              <a:t>()(d) </a:t>
            </a:r>
          </a:p>
          <a:p>
            <a:pPr fontAlgn="t"/>
            <a:r>
              <a:rPr lang="en-IN" sz="1100" i="1" dirty="0"/>
              <a:t>#level 2</a:t>
            </a:r>
            <a:r>
              <a:rPr lang="en-IN" sz="1100" dirty="0"/>
              <a:t> </a:t>
            </a:r>
          </a:p>
          <a:p>
            <a:pPr fontAlgn="t"/>
            <a:r>
              <a:rPr lang="en-IN" sz="1100" dirty="0"/>
              <a:t>d = Dense(</a:t>
            </a:r>
            <a:r>
              <a:rPr lang="en-IN" sz="1100" dirty="0" err="1"/>
              <a:t>n_inputs</a:t>
            </a:r>
            <a:r>
              <a:rPr lang="en-IN" sz="1100" dirty="0"/>
              <a:t>*2)(d) </a:t>
            </a:r>
            <a:r>
              <a:rPr lang="en-IN" sz="1100" i="1" dirty="0"/>
              <a:t># d = </a:t>
            </a:r>
            <a:r>
              <a:rPr lang="en-IN" sz="1100" i="1" dirty="0" err="1"/>
              <a:t>dencoder</a:t>
            </a:r>
            <a:r>
              <a:rPr lang="en-IN" sz="1100" dirty="0"/>
              <a:t> </a:t>
            </a:r>
          </a:p>
          <a:p>
            <a:pPr fontAlgn="t"/>
            <a:r>
              <a:rPr lang="en-IN" sz="1100" dirty="0"/>
              <a:t>d = </a:t>
            </a:r>
            <a:r>
              <a:rPr lang="en-IN" sz="1100" dirty="0" err="1"/>
              <a:t>BatchNormalization</a:t>
            </a:r>
            <a:r>
              <a:rPr lang="en-IN" sz="1100" dirty="0"/>
              <a:t>()(d) </a:t>
            </a:r>
          </a:p>
          <a:p>
            <a:pPr fontAlgn="t"/>
            <a:r>
              <a:rPr lang="en-IN" sz="1100" dirty="0"/>
              <a:t>d = </a:t>
            </a:r>
            <a:r>
              <a:rPr lang="en-IN" sz="1100" dirty="0" err="1"/>
              <a:t>LeakyReLU</a:t>
            </a:r>
            <a:r>
              <a:rPr lang="en-IN" sz="1100" dirty="0"/>
              <a:t>()(d) </a:t>
            </a:r>
          </a:p>
          <a:p>
            <a:pPr fontAlgn="t"/>
            <a:r>
              <a:rPr lang="en-IN" sz="1100" i="1" dirty="0"/>
              <a:t>#Output layer</a:t>
            </a:r>
            <a:r>
              <a:rPr lang="en-IN" sz="1100" dirty="0"/>
              <a:t> </a:t>
            </a:r>
          </a:p>
          <a:p>
            <a:pPr fontAlgn="t"/>
            <a:r>
              <a:rPr lang="en-IN" sz="1100" dirty="0"/>
              <a:t>output = Dense(</a:t>
            </a:r>
            <a:r>
              <a:rPr lang="en-IN" sz="1100" dirty="0" err="1"/>
              <a:t>n_inputs</a:t>
            </a:r>
            <a:r>
              <a:rPr lang="en-IN" sz="1100" dirty="0"/>
              <a:t>, activation = 'linear')(d) </a:t>
            </a:r>
          </a:p>
          <a:p>
            <a:pPr fontAlgn="t"/>
            <a:r>
              <a:rPr lang="en-IN" sz="1100" i="1" dirty="0"/>
              <a:t>#Define </a:t>
            </a:r>
            <a:r>
              <a:rPr lang="en-IN" sz="1100" i="1" dirty="0" err="1"/>
              <a:t>autoencoder</a:t>
            </a:r>
            <a:r>
              <a:rPr lang="en-IN" sz="1100" i="1" dirty="0"/>
              <a:t> model</a:t>
            </a:r>
            <a:r>
              <a:rPr lang="en-IN" sz="1100" dirty="0"/>
              <a:t> </a:t>
            </a:r>
          </a:p>
          <a:p>
            <a:pPr fontAlgn="t"/>
            <a:r>
              <a:rPr lang="en-IN" sz="1100" dirty="0"/>
              <a:t>model = Model(inputs = visible, outputs = output) </a:t>
            </a:r>
          </a:p>
          <a:p>
            <a:pPr fontAlgn="t"/>
            <a:r>
              <a:rPr lang="en-IN" sz="1100" i="1" dirty="0"/>
              <a:t>#compile </a:t>
            </a:r>
            <a:r>
              <a:rPr lang="en-IN" sz="1100" i="1" dirty="0" err="1"/>
              <a:t>autoencoder</a:t>
            </a:r>
            <a:r>
              <a:rPr lang="en-IN" sz="1100" dirty="0"/>
              <a:t> </a:t>
            </a:r>
          </a:p>
          <a:p>
            <a:pPr fontAlgn="t"/>
            <a:r>
              <a:rPr lang="en-IN" sz="1100" dirty="0" err="1"/>
              <a:t>model.compile</a:t>
            </a:r>
            <a:r>
              <a:rPr lang="en-IN" sz="1100" dirty="0"/>
              <a:t>(optimizer = '</a:t>
            </a:r>
            <a:r>
              <a:rPr lang="en-IN" sz="1100" dirty="0" err="1"/>
              <a:t>adam</a:t>
            </a:r>
            <a:r>
              <a:rPr lang="en-IN" sz="1100" dirty="0"/>
              <a:t>', loss = '</a:t>
            </a:r>
            <a:r>
              <a:rPr lang="en-IN" sz="1100" dirty="0" err="1"/>
              <a:t>mse</a:t>
            </a:r>
            <a:r>
              <a:rPr lang="en-IN" sz="1100" dirty="0"/>
              <a:t>')</a:t>
            </a:r>
          </a:p>
        </p:txBody>
      </p:sp>
    </p:spTree>
    <p:extLst>
      <p:ext uri="{BB962C8B-B14F-4D97-AF65-F5344CB8AC3E}">
        <p14:creationId xmlns:p14="http://schemas.microsoft.com/office/powerpoint/2010/main" val="2347825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1400" dirty="0" err="1"/>
              <a:t>plot_model</a:t>
            </a:r>
            <a:r>
              <a:rPr lang="en-IN" sz="1400" dirty="0"/>
              <a:t>(model, 'autoencoder_compress.png', </a:t>
            </a:r>
            <a:r>
              <a:rPr lang="en-IN" sz="1400" dirty="0" err="1"/>
              <a:t>show_shapes</a:t>
            </a:r>
            <a:r>
              <a:rPr lang="en-IN" sz="1400" dirty="0"/>
              <a:t> = True)</a:t>
            </a:r>
          </a:p>
          <a:p>
            <a:r>
              <a:rPr lang="en-US" sz="1400" i="1" dirty="0"/>
              <a:t/>
            </a:r>
            <a:br>
              <a:rPr lang="en-US" sz="1400" i="1" dirty="0"/>
            </a:br>
            <a:r>
              <a:rPr lang="en-US" sz="1400" i="1" dirty="0"/>
              <a:t># Fit the </a:t>
            </a:r>
            <a:r>
              <a:rPr lang="en-US" sz="1400" i="1" dirty="0" err="1"/>
              <a:t>autoencoder</a:t>
            </a:r>
            <a:r>
              <a:rPr lang="en-US" sz="1400" i="1" dirty="0"/>
              <a:t> model to reconstruct input</a:t>
            </a:r>
            <a:r>
              <a:rPr lang="en-US" sz="1400" dirty="0"/>
              <a:t> history = </a:t>
            </a:r>
            <a:r>
              <a:rPr lang="en-US" sz="1400" dirty="0" err="1"/>
              <a:t>model.fit</a:t>
            </a:r>
            <a:r>
              <a:rPr lang="en-US" sz="1400" dirty="0"/>
              <a:t>(</a:t>
            </a:r>
            <a:r>
              <a:rPr lang="en-US" sz="1400" dirty="0" err="1"/>
              <a:t>X_train</a:t>
            </a:r>
            <a:r>
              <a:rPr lang="en-US" sz="1400" dirty="0"/>
              <a:t>, </a:t>
            </a:r>
            <a:r>
              <a:rPr lang="en-US" sz="1400" dirty="0" err="1"/>
              <a:t>X_train</a:t>
            </a:r>
            <a:r>
              <a:rPr lang="en-US" sz="1400" dirty="0"/>
              <a:t>, epochs = 200, </a:t>
            </a:r>
            <a:r>
              <a:rPr lang="en-US" sz="1400" dirty="0" err="1"/>
              <a:t>batch_size</a:t>
            </a:r>
            <a:r>
              <a:rPr lang="en-US" sz="1400" dirty="0"/>
              <a:t> = 16, verbose = 2, </a:t>
            </a:r>
            <a:r>
              <a:rPr lang="en-US" sz="1400" dirty="0" err="1"/>
              <a:t>validation_data</a:t>
            </a:r>
            <a:r>
              <a:rPr lang="en-US" sz="1400" dirty="0"/>
              <a:t> = (</a:t>
            </a:r>
            <a:r>
              <a:rPr lang="en-US" sz="1400" dirty="0" err="1"/>
              <a:t>X_test,X_test</a:t>
            </a:r>
            <a:r>
              <a:rPr lang="en-US" sz="1400" dirty="0"/>
              <a:t>))</a:t>
            </a:r>
          </a:p>
          <a:p>
            <a:r>
              <a:rPr lang="en-IN" sz="1400" i="1" dirty="0"/>
              <a:t>#Plot Loss</a:t>
            </a:r>
            <a:r>
              <a:rPr lang="en-IN" sz="1400" dirty="0"/>
              <a:t> </a:t>
            </a:r>
          </a:p>
          <a:p>
            <a:r>
              <a:rPr lang="en-IN" sz="1400" dirty="0"/>
              <a:t>fig, </a:t>
            </a:r>
            <a:r>
              <a:rPr lang="en-IN" sz="1400" dirty="0" err="1"/>
              <a:t>ax</a:t>
            </a:r>
            <a:r>
              <a:rPr lang="en-IN" sz="1400" dirty="0"/>
              <a:t> = </a:t>
            </a:r>
            <a:r>
              <a:rPr lang="en-IN" sz="1400" dirty="0" err="1"/>
              <a:t>plt.subplots</a:t>
            </a:r>
            <a:r>
              <a:rPr lang="en-IN" sz="1400" dirty="0"/>
              <a:t>(</a:t>
            </a:r>
            <a:r>
              <a:rPr lang="en-IN" sz="1400" dirty="0" err="1"/>
              <a:t>figsize</a:t>
            </a:r>
            <a:r>
              <a:rPr lang="en-IN" sz="1400" dirty="0"/>
              <a:t>=(10,5)) </a:t>
            </a:r>
          </a:p>
          <a:p>
            <a:r>
              <a:rPr lang="en-IN" sz="1400" dirty="0" err="1"/>
              <a:t>plt.plot</a:t>
            </a:r>
            <a:r>
              <a:rPr lang="en-IN" sz="1400" dirty="0"/>
              <a:t>(</a:t>
            </a:r>
            <a:r>
              <a:rPr lang="en-IN" sz="1400" dirty="0" err="1"/>
              <a:t>history.history</a:t>
            </a:r>
            <a:r>
              <a:rPr lang="en-IN" sz="1400" dirty="0"/>
              <a:t>['loss'], label = 'train') </a:t>
            </a:r>
          </a:p>
          <a:p>
            <a:r>
              <a:rPr lang="en-IN" sz="1400" dirty="0" err="1"/>
              <a:t>plt.plot</a:t>
            </a:r>
            <a:r>
              <a:rPr lang="en-IN" sz="1400" dirty="0"/>
              <a:t>(</a:t>
            </a:r>
            <a:r>
              <a:rPr lang="en-IN" sz="1400" dirty="0" err="1"/>
              <a:t>history.history</a:t>
            </a:r>
            <a:r>
              <a:rPr lang="en-IN" sz="1400" dirty="0"/>
              <a:t>['</a:t>
            </a:r>
            <a:r>
              <a:rPr lang="en-IN" sz="1400" dirty="0" err="1"/>
              <a:t>val_loss</a:t>
            </a:r>
            <a:r>
              <a:rPr lang="en-IN" sz="1400" dirty="0"/>
              <a:t>'], label = 'test')</a:t>
            </a:r>
          </a:p>
          <a:p>
            <a:r>
              <a:rPr lang="en-IN" sz="1400" dirty="0"/>
              <a:t> </a:t>
            </a:r>
            <a:r>
              <a:rPr lang="en-IN" sz="1400" dirty="0" err="1"/>
              <a:t>plt.title</a:t>
            </a:r>
            <a:r>
              <a:rPr lang="en-IN" sz="1400" dirty="0"/>
              <a:t>('</a:t>
            </a:r>
            <a:r>
              <a:rPr lang="en-IN" sz="1400" dirty="0" err="1"/>
              <a:t>Autoencoder</a:t>
            </a:r>
            <a:r>
              <a:rPr lang="en-IN" sz="1400" dirty="0"/>
              <a:t> loss') </a:t>
            </a:r>
          </a:p>
          <a:p>
            <a:r>
              <a:rPr lang="en-IN" sz="1400" dirty="0" err="1"/>
              <a:t>plt.xlabel</a:t>
            </a:r>
            <a:r>
              <a:rPr lang="en-IN" sz="1400" dirty="0"/>
              <a:t>('Epochs')</a:t>
            </a:r>
          </a:p>
          <a:p>
            <a:r>
              <a:rPr lang="en-IN" sz="1400" dirty="0"/>
              <a:t> </a:t>
            </a:r>
            <a:r>
              <a:rPr lang="en-IN" sz="1400" dirty="0" err="1"/>
              <a:t>plt.ylabel</a:t>
            </a:r>
            <a:r>
              <a:rPr lang="en-IN" sz="1400" dirty="0"/>
              <a:t>('Loss') </a:t>
            </a:r>
          </a:p>
          <a:p>
            <a:r>
              <a:rPr lang="en-IN" sz="1400" dirty="0" err="1"/>
              <a:t>plt.legend</a:t>
            </a:r>
            <a:r>
              <a:rPr lang="en-IN" sz="1400" dirty="0"/>
              <a:t>() </a:t>
            </a:r>
          </a:p>
          <a:p>
            <a:r>
              <a:rPr lang="en-IN" sz="1400" dirty="0" err="1"/>
              <a:t>plt.savefig</a:t>
            </a:r>
            <a:r>
              <a:rPr lang="en-IN" sz="1400" dirty="0"/>
              <a:t>('Autoencoderloss.png')</a:t>
            </a:r>
          </a:p>
        </p:txBody>
      </p:sp>
    </p:spTree>
    <p:extLst>
      <p:ext uri="{BB962C8B-B14F-4D97-AF65-F5344CB8AC3E}">
        <p14:creationId xmlns:p14="http://schemas.microsoft.com/office/powerpoint/2010/main" val="391237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i="1" dirty="0"/>
              <a:t>#Define an encoder model without the decoder</a:t>
            </a:r>
          </a:p>
          <a:p>
            <a:r>
              <a:rPr lang="en-IN" dirty="0"/>
              <a:t> encoder = Model(inputs =visible, outputs = bottleneck) </a:t>
            </a:r>
          </a:p>
          <a:p>
            <a:r>
              <a:rPr lang="en-IN" dirty="0" err="1"/>
              <a:t>plot_model</a:t>
            </a:r>
            <a:r>
              <a:rPr lang="en-IN" dirty="0"/>
              <a:t>(model, 'encoder_compress.png', </a:t>
            </a:r>
            <a:r>
              <a:rPr lang="en-IN" dirty="0" err="1"/>
              <a:t>show_shapes</a:t>
            </a:r>
            <a:r>
              <a:rPr lang="en-IN" dirty="0"/>
              <a:t> = True)</a:t>
            </a:r>
          </a:p>
        </p:txBody>
      </p:sp>
    </p:spTree>
    <p:extLst>
      <p:ext uri="{BB962C8B-B14F-4D97-AF65-F5344CB8AC3E}">
        <p14:creationId xmlns:p14="http://schemas.microsoft.com/office/powerpoint/2010/main" val="862849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i="1" dirty="0"/>
              <a:t># Save model</a:t>
            </a:r>
          </a:p>
          <a:p>
            <a:r>
              <a:rPr lang="en-IN" dirty="0"/>
              <a:t> </a:t>
            </a:r>
            <a:r>
              <a:rPr lang="en-IN" dirty="0" err="1"/>
              <a:t>encoder.save</a:t>
            </a:r>
            <a:r>
              <a:rPr lang="en-IN" dirty="0"/>
              <a:t>('encoder.h5')</a:t>
            </a:r>
          </a:p>
        </p:txBody>
      </p:sp>
    </p:spTree>
    <p:extLst>
      <p:ext uri="{BB962C8B-B14F-4D97-AF65-F5344CB8AC3E}">
        <p14:creationId xmlns:p14="http://schemas.microsoft.com/office/powerpoint/2010/main" val="3682526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Q2. Load the built in data MNIST add some noise to images and then apply the </a:t>
            </a:r>
            <a:r>
              <a:rPr lang="en-US" dirty="0" err="1"/>
              <a:t>autoencoder</a:t>
            </a:r>
            <a:r>
              <a:rPr lang="en-US" dirty="0"/>
              <a:t> to </a:t>
            </a:r>
            <a:r>
              <a:rPr lang="en-US" dirty="0" err="1"/>
              <a:t>denoise</a:t>
            </a:r>
            <a:r>
              <a:rPr lang="en-US" dirty="0"/>
              <a:t> the dataset.</a:t>
            </a:r>
          </a:p>
          <a:p>
            <a:r>
              <a:rPr lang="en-US" dirty="0"/>
              <a:t> </a:t>
            </a:r>
            <a:endParaRPr lang="en-IN" dirty="0"/>
          </a:p>
        </p:txBody>
      </p:sp>
    </p:spTree>
    <p:extLst>
      <p:ext uri="{BB962C8B-B14F-4D97-AF65-F5344CB8AC3E}">
        <p14:creationId xmlns:p14="http://schemas.microsoft.com/office/powerpoint/2010/main" val="4074413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noise</a:t>
            </a:r>
            <a:endParaRPr lang="en-IN" dirty="0"/>
          </a:p>
        </p:txBody>
      </p:sp>
      <p:sp>
        <p:nvSpPr>
          <p:cNvPr id="3" name="Content Placeholder 2"/>
          <p:cNvSpPr>
            <a:spLocks noGrp="1"/>
          </p:cNvSpPr>
          <p:nvPr>
            <p:ph idx="1"/>
          </p:nvPr>
        </p:nvSpPr>
        <p:spPr/>
        <p:txBody>
          <a:bodyPr>
            <a:normAutofit/>
          </a:bodyPr>
          <a:lstStyle/>
          <a:p>
            <a:r>
              <a:rPr lang="en-IN" sz="1800" dirty="0" err="1"/>
              <a:t>noise_factor</a:t>
            </a:r>
            <a:r>
              <a:rPr lang="en-IN" sz="1800" dirty="0"/>
              <a:t> </a:t>
            </a:r>
            <a:r>
              <a:rPr lang="en-IN" sz="1800" b="1" dirty="0">
                <a:effectLst/>
              </a:rPr>
              <a:t>=</a:t>
            </a:r>
            <a:r>
              <a:rPr lang="en-IN" sz="1800" dirty="0"/>
              <a:t> </a:t>
            </a:r>
            <a:r>
              <a:rPr lang="en-IN" sz="1800" dirty="0">
                <a:effectLst/>
              </a:rPr>
              <a:t>0.5</a:t>
            </a:r>
          </a:p>
          <a:p>
            <a:r>
              <a:rPr lang="en-IN" sz="1800" dirty="0"/>
              <a:t> </a:t>
            </a:r>
            <a:r>
              <a:rPr lang="en-IN" sz="1800" dirty="0" err="1"/>
              <a:t>X_train_noisy</a:t>
            </a:r>
            <a:r>
              <a:rPr lang="en-IN" sz="1800" dirty="0"/>
              <a:t> </a:t>
            </a:r>
            <a:r>
              <a:rPr lang="en-IN" sz="1800" b="1" dirty="0">
                <a:effectLst/>
              </a:rPr>
              <a:t>=</a:t>
            </a:r>
            <a:r>
              <a:rPr lang="en-IN" sz="1800" dirty="0"/>
              <a:t> </a:t>
            </a:r>
            <a:r>
              <a:rPr lang="en-IN" sz="1800" dirty="0" err="1"/>
              <a:t>X_train</a:t>
            </a:r>
            <a:r>
              <a:rPr lang="en-IN" sz="1800" dirty="0"/>
              <a:t> </a:t>
            </a:r>
            <a:r>
              <a:rPr lang="en-IN" sz="1800" b="1" dirty="0">
                <a:effectLst/>
              </a:rPr>
              <a:t>+</a:t>
            </a:r>
            <a:r>
              <a:rPr lang="en-IN" sz="1800" dirty="0"/>
              <a:t> </a:t>
            </a:r>
            <a:r>
              <a:rPr lang="en-IN" sz="1800" dirty="0" err="1"/>
              <a:t>noise_factor</a:t>
            </a:r>
            <a:r>
              <a:rPr lang="en-IN" sz="1800" dirty="0"/>
              <a:t> </a:t>
            </a:r>
            <a:r>
              <a:rPr lang="en-IN" sz="1800" b="1" dirty="0">
                <a:effectLst/>
              </a:rPr>
              <a:t>*</a:t>
            </a:r>
            <a:r>
              <a:rPr lang="en-IN" sz="1800" dirty="0"/>
              <a:t> </a:t>
            </a:r>
            <a:r>
              <a:rPr lang="en-IN" sz="1800" dirty="0" err="1"/>
              <a:t>np</a:t>
            </a:r>
            <a:r>
              <a:rPr lang="en-IN" sz="1800" b="1" dirty="0" err="1">
                <a:effectLst/>
              </a:rPr>
              <a:t>.</a:t>
            </a:r>
            <a:r>
              <a:rPr lang="en-IN" sz="1800" dirty="0" err="1"/>
              <a:t>random</a:t>
            </a:r>
            <a:r>
              <a:rPr lang="en-IN" sz="1800" b="1" dirty="0" err="1">
                <a:effectLst/>
              </a:rPr>
              <a:t>.</a:t>
            </a:r>
            <a:r>
              <a:rPr lang="en-IN" sz="1800" dirty="0" err="1"/>
              <a:t>normal</a:t>
            </a:r>
            <a:r>
              <a:rPr lang="en-IN" sz="1800" dirty="0">
                <a:effectLst/>
              </a:rPr>
              <a:t>(</a:t>
            </a:r>
            <a:r>
              <a:rPr lang="en-IN" sz="1800" dirty="0" err="1"/>
              <a:t>loc</a:t>
            </a:r>
            <a:r>
              <a:rPr lang="en-IN" sz="1800" b="1" dirty="0">
                <a:effectLst/>
              </a:rPr>
              <a:t>=</a:t>
            </a:r>
            <a:r>
              <a:rPr lang="en-IN" sz="1800" dirty="0">
                <a:effectLst/>
              </a:rPr>
              <a:t>0.0,</a:t>
            </a:r>
            <a:r>
              <a:rPr lang="en-IN" sz="1800" dirty="0"/>
              <a:t> scale</a:t>
            </a:r>
            <a:r>
              <a:rPr lang="en-IN" sz="1800" b="1" dirty="0">
                <a:effectLst/>
              </a:rPr>
              <a:t>=</a:t>
            </a:r>
            <a:r>
              <a:rPr lang="en-IN" sz="1800" dirty="0">
                <a:effectLst/>
              </a:rPr>
              <a:t>1.0,</a:t>
            </a:r>
            <a:r>
              <a:rPr lang="en-IN" sz="1800" dirty="0"/>
              <a:t> size</a:t>
            </a:r>
            <a:r>
              <a:rPr lang="en-IN" sz="1800" b="1" dirty="0">
                <a:effectLst/>
              </a:rPr>
              <a:t>=</a:t>
            </a:r>
            <a:r>
              <a:rPr lang="en-IN" sz="1800" dirty="0" err="1"/>
              <a:t>X_train</a:t>
            </a:r>
            <a:r>
              <a:rPr lang="en-IN" sz="1800" b="1" dirty="0" err="1">
                <a:effectLst/>
              </a:rPr>
              <a:t>.</a:t>
            </a:r>
            <a:r>
              <a:rPr lang="en-IN" sz="1800" dirty="0" err="1"/>
              <a:t>shape</a:t>
            </a:r>
            <a:r>
              <a:rPr lang="en-IN" sz="1800" dirty="0">
                <a:effectLst/>
              </a:rPr>
              <a:t>)</a:t>
            </a:r>
          </a:p>
          <a:p>
            <a:r>
              <a:rPr lang="en-IN" sz="1800" dirty="0"/>
              <a:t> </a:t>
            </a:r>
            <a:r>
              <a:rPr lang="en-IN" sz="1800" dirty="0" err="1"/>
              <a:t>X_test_noisy</a:t>
            </a:r>
            <a:r>
              <a:rPr lang="en-IN" sz="1800" dirty="0"/>
              <a:t> </a:t>
            </a:r>
            <a:r>
              <a:rPr lang="en-IN" sz="1800" b="1" dirty="0">
                <a:effectLst/>
              </a:rPr>
              <a:t>=</a:t>
            </a:r>
            <a:r>
              <a:rPr lang="en-IN" sz="1800" dirty="0"/>
              <a:t> </a:t>
            </a:r>
            <a:r>
              <a:rPr lang="en-IN" sz="1800" dirty="0" err="1"/>
              <a:t>X_test</a:t>
            </a:r>
            <a:r>
              <a:rPr lang="en-IN" sz="1800" dirty="0"/>
              <a:t> </a:t>
            </a:r>
            <a:r>
              <a:rPr lang="en-IN" sz="1800" b="1" dirty="0">
                <a:effectLst/>
              </a:rPr>
              <a:t>+</a:t>
            </a:r>
            <a:r>
              <a:rPr lang="en-IN" sz="1800" dirty="0"/>
              <a:t> </a:t>
            </a:r>
            <a:r>
              <a:rPr lang="en-IN" sz="1800" dirty="0" err="1"/>
              <a:t>noise_factor</a:t>
            </a:r>
            <a:r>
              <a:rPr lang="en-IN" sz="1800" dirty="0"/>
              <a:t> </a:t>
            </a:r>
            <a:r>
              <a:rPr lang="en-IN" sz="1800" b="1" dirty="0">
                <a:effectLst/>
              </a:rPr>
              <a:t>*</a:t>
            </a:r>
            <a:r>
              <a:rPr lang="en-IN" sz="1800" dirty="0"/>
              <a:t> </a:t>
            </a:r>
            <a:r>
              <a:rPr lang="en-IN" sz="1800" dirty="0" err="1"/>
              <a:t>np</a:t>
            </a:r>
            <a:r>
              <a:rPr lang="en-IN" sz="1800" b="1" dirty="0" err="1">
                <a:effectLst/>
              </a:rPr>
              <a:t>.</a:t>
            </a:r>
            <a:r>
              <a:rPr lang="en-IN" sz="1800" dirty="0" err="1"/>
              <a:t>random</a:t>
            </a:r>
            <a:r>
              <a:rPr lang="en-IN" sz="1800" b="1" dirty="0" err="1">
                <a:effectLst/>
              </a:rPr>
              <a:t>.</a:t>
            </a:r>
            <a:r>
              <a:rPr lang="en-IN" sz="1800" dirty="0" err="1"/>
              <a:t>normal</a:t>
            </a:r>
            <a:r>
              <a:rPr lang="en-IN" sz="1800" dirty="0">
                <a:effectLst/>
              </a:rPr>
              <a:t>(</a:t>
            </a:r>
            <a:r>
              <a:rPr lang="en-IN" sz="1800" dirty="0" err="1"/>
              <a:t>loc</a:t>
            </a:r>
            <a:r>
              <a:rPr lang="en-IN" sz="1800" b="1" dirty="0">
                <a:effectLst/>
              </a:rPr>
              <a:t>=</a:t>
            </a:r>
            <a:r>
              <a:rPr lang="en-IN" sz="1800" dirty="0">
                <a:effectLst/>
              </a:rPr>
              <a:t>0.0,</a:t>
            </a:r>
            <a:r>
              <a:rPr lang="en-IN" sz="1800" dirty="0"/>
              <a:t> scale</a:t>
            </a:r>
            <a:r>
              <a:rPr lang="en-IN" sz="1800" b="1" dirty="0">
                <a:effectLst/>
              </a:rPr>
              <a:t>=</a:t>
            </a:r>
            <a:r>
              <a:rPr lang="en-IN" sz="1800" dirty="0">
                <a:effectLst/>
              </a:rPr>
              <a:t>1.0,</a:t>
            </a:r>
            <a:r>
              <a:rPr lang="en-IN" sz="1800" dirty="0"/>
              <a:t> size</a:t>
            </a:r>
            <a:r>
              <a:rPr lang="en-IN" sz="1800" b="1" dirty="0">
                <a:effectLst/>
              </a:rPr>
              <a:t>=</a:t>
            </a:r>
            <a:r>
              <a:rPr lang="en-IN" sz="1800" dirty="0" err="1"/>
              <a:t>X_test</a:t>
            </a:r>
            <a:r>
              <a:rPr lang="en-IN" sz="1800" b="1" dirty="0" err="1">
                <a:effectLst/>
              </a:rPr>
              <a:t>.</a:t>
            </a:r>
            <a:r>
              <a:rPr lang="en-IN" sz="1800" dirty="0" err="1"/>
              <a:t>shape</a:t>
            </a:r>
            <a:r>
              <a:rPr lang="en-IN" sz="1800" dirty="0">
                <a:effectLst/>
              </a:rPr>
              <a:t>)</a:t>
            </a:r>
            <a:r>
              <a:rPr lang="en-IN" sz="1800" dirty="0"/>
              <a:t> </a:t>
            </a:r>
            <a:r>
              <a:rPr lang="en-IN" sz="1800" dirty="0" err="1"/>
              <a:t>X_train_noisy</a:t>
            </a:r>
            <a:r>
              <a:rPr lang="en-IN" sz="1800" dirty="0"/>
              <a:t> </a:t>
            </a:r>
            <a:r>
              <a:rPr lang="en-IN" sz="1800" b="1" dirty="0">
                <a:effectLst/>
              </a:rPr>
              <a:t>=</a:t>
            </a:r>
            <a:r>
              <a:rPr lang="en-IN" sz="1800" dirty="0"/>
              <a:t> </a:t>
            </a:r>
            <a:r>
              <a:rPr lang="en-IN" sz="1800" dirty="0" err="1"/>
              <a:t>np</a:t>
            </a:r>
            <a:r>
              <a:rPr lang="en-IN" sz="1800" b="1" dirty="0" err="1">
                <a:effectLst/>
              </a:rPr>
              <a:t>.</a:t>
            </a:r>
            <a:r>
              <a:rPr lang="en-IN" sz="1800" dirty="0" err="1"/>
              <a:t>clip</a:t>
            </a:r>
            <a:r>
              <a:rPr lang="en-IN" sz="1800" dirty="0">
                <a:effectLst/>
              </a:rPr>
              <a:t>(</a:t>
            </a:r>
            <a:r>
              <a:rPr lang="en-IN" sz="1800" dirty="0" err="1"/>
              <a:t>X_train_noisy</a:t>
            </a:r>
            <a:r>
              <a:rPr lang="en-IN" sz="1800" dirty="0">
                <a:effectLst/>
              </a:rPr>
              <a:t>,</a:t>
            </a:r>
            <a:r>
              <a:rPr lang="en-IN" sz="1800" dirty="0"/>
              <a:t> </a:t>
            </a:r>
            <a:r>
              <a:rPr lang="en-IN" sz="1800" dirty="0">
                <a:effectLst/>
              </a:rPr>
              <a:t>0.,</a:t>
            </a:r>
            <a:r>
              <a:rPr lang="en-IN" sz="1800" dirty="0"/>
              <a:t> </a:t>
            </a:r>
            <a:r>
              <a:rPr lang="en-IN" sz="1800" dirty="0">
                <a:effectLst/>
              </a:rPr>
              <a:t>1.)</a:t>
            </a:r>
          </a:p>
          <a:p>
            <a:r>
              <a:rPr lang="en-IN" sz="1800" dirty="0"/>
              <a:t> </a:t>
            </a:r>
            <a:r>
              <a:rPr lang="en-IN" sz="1800" dirty="0" err="1"/>
              <a:t>X_test_noisy</a:t>
            </a:r>
            <a:r>
              <a:rPr lang="en-IN" sz="1800" dirty="0"/>
              <a:t> </a:t>
            </a:r>
            <a:r>
              <a:rPr lang="en-IN" sz="1800" b="1" dirty="0">
                <a:effectLst/>
              </a:rPr>
              <a:t>=</a:t>
            </a:r>
            <a:r>
              <a:rPr lang="en-IN" sz="1800" dirty="0"/>
              <a:t> </a:t>
            </a:r>
            <a:r>
              <a:rPr lang="en-IN" sz="1800" dirty="0" err="1"/>
              <a:t>np</a:t>
            </a:r>
            <a:r>
              <a:rPr lang="en-IN" sz="1800" b="1" dirty="0" err="1">
                <a:effectLst/>
              </a:rPr>
              <a:t>.</a:t>
            </a:r>
            <a:r>
              <a:rPr lang="en-IN" sz="1800" dirty="0" err="1"/>
              <a:t>clip</a:t>
            </a:r>
            <a:r>
              <a:rPr lang="en-IN" sz="1800" dirty="0">
                <a:effectLst/>
              </a:rPr>
              <a:t>(</a:t>
            </a:r>
            <a:r>
              <a:rPr lang="en-IN" sz="1800" dirty="0" err="1"/>
              <a:t>X_test_noisy</a:t>
            </a:r>
            <a:r>
              <a:rPr lang="en-IN" sz="1800" dirty="0">
                <a:effectLst/>
              </a:rPr>
              <a:t>,</a:t>
            </a:r>
            <a:r>
              <a:rPr lang="en-IN" sz="1800" dirty="0"/>
              <a:t> </a:t>
            </a:r>
            <a:r>
              <a:rPr lang="en-IN" sz="1800" dirty="0">
                <a:effectLst/>
              </a:rPr>
              <a:t>0.,</a:t>
            </a:r>
            <a:r>
              <a:rPr lang="en-IN" sz="1800" dirty="0"/>
              <a:t> </a:t>
            </a:r>
            <a:r>
              <a:rPr lang="en-IN" sz="1800" dirty="0">
                <a:effectLst/>
              </a:rPr>
              <a:t>1.)</a:t>
            </a:r>
            <a:endParaRPr lang="en-IN" sz="1800" dirty="0"/>
          </a:p>
        </p:txBody>
      </p:sp>
    </p:spTree>
    <p:extLst>
      <p:ext uri="{BB962C8B-B14F-4D97-AF65-F5344CB8AC3E}">
        <p14:creationId xmlns:p14="http://schemas.microsoft.com/office/powerpoint/2010/main" val="2329714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CNN</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9000999" cy="5544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7093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196752"/>
            <a:ext cx="8604448"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9224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842493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102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9" y="620712"/>
            <a:ext cx="8424936" cy="61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3351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txBody>
          <a:bodyPr>
            <a:normAutofit fontScale="90000"/>
          </a:bodyPr>
          <a:lstStyle/>
          <a:p>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908720"/>
            <a:ext cx="8064895"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5549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1412776"/>
            <a:ext cx="8820471"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1901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484784"/>
            <a:ext cx="8496944"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8786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RNN</a:t>
            </a:r>
          </a:p>
        </p:txBody>
      </p:sp>
      <p:sp>
        <p:nvSpPr>
          <p:cNvPr id="5" name="Content Placeholder 4"/>
          <p:cNvSpPr>
            <a:spLocks noGrp="1"/>
          </p:cNvSpPr>
          <p:nvPr>
            <p:ph idx="1"/>
          </p:nvPr>
        </p:nvSpPr>
        <p:spPr/>
        <p:txBody>
          <a:bodyPr>
            <a:normAutofit fontScale="92500" lnSpcReduction="20000"/>
          </a:bodyPr>
          <a:lstStyle/>
          <a:p>
            <a:r>
              <a:rPr lang="en-US" dirty="0"/>
              <a:t>The next step in DL after having explored CNN is to start exploring RNN, popularly known as “sequence models.” </a:t>
            </a:r>
          </a:p>
          <a:p>
            <a:r>
              <a:rPr lang="en-US" dirty="0"/>
              <a:t>This name became popular because RNN makes use of sequential information. </a:t>
            </a:r>
          </a:p>
          <a:p>
            <a:r>
              <a:rPr lang="en-US" dirty="0"/>
              <a:t>So far, all the DNNs that we have explored process training data with the assumption that</a:t>
            </a:r>
          </a:p>
          <a:p>
            <a:r>
              <a:rPr lang="en-US" dirty="0"/>
              <a:t>there is no relationship between any two training samples.</a:t>
            </a:r>
          </a:p>
          <a:p>
            <a:r>
              <a:rPr lang="en-US" dirty="0"/>
              <a:t> </a:t>
            </a:r>
          </a:p>
        </p:txBody>
      </p:sp>
    </p:spTree>
    <p:extLst>
      <p:ext uri="{BB962C8B-B14F-4D97-AF65-F5344CB8AC3E}">
        <p14:creationId xmlns:p14="http://schemas.microsoft.com/office/powerpoint/2010/main" val="4174224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Consider the predictive text feature in your </a:t>
            </a:r>
            <a:r>
              <a:rPr lang="en-US" dirty="0" err="1"/>
              <a:t>iOS</a:t>
            </a:r>
            <a:r>
              <a:rPr lang="en-US" dirty="0"/>
              <a:t> or Android phone; the prediction of the next word is highly dependent on the last few words you already typed. </a:t>
            </a:r>
          </a:p>
          <a:p>
            <a:r>
              <a:rPr lang="en-US" dirty="0"/>
              <a:t>That’s where the sequential model comes into the picture.</a:t>
            </a:r>
          </a:p>
        </p:txBody>
      </p:sp>
    </p:spTree>
    <p:extLst>
      <p:ext uri="{BB962C8B-B14F-4D97-AF65-F5344CB8AC3E}">
        <p14:creationId xmlns:p14="http://schemas.microsoft.com/office/powerpoint/2010/main" val="1959887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RNNs can also be understood as neural networks with memory.</a:t>
            </a:r>
          </a:p>
          <a:p>
            <a:r>
              <a:rPr lang="en-US" dirty="0"/>
              <a:t> It connects a layer to itself and thereby gets simultaneous access to two or more consecutive input samples to process the end output.</a:t>
            </a:r>
          </a:p>
          <a:p>
            <a:r>
              <a:rPr lang="en-US" dirty="0"/>
              <a:t>This property is unique to RNN, and with its rise in research, it delivered amazing success</a:t>
            </a:r>
          </a:p>
          <a:p>
            <a:r>
              <a:rPr lang="en-US" dirty="0"/>
              <a:t>in the field of natural language understanding.</a:t>
            </a:r>
          </a:p>
        </p:txBody>
      </p:sp>
    </p:spTree>
    <p:extLst>
      <p:ext uri="{BB962C8B-B14F-4D97-AF65-F5344CB8AC3E}">
        <p14:creationId xmlns:p14="http://schemas.microsoft.com/office/powerpoint/2010/main" val="3860666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US" dirty="0"/>
              <a:t>All the legacy natural language processing techniques could now be significantly improved with RNNs.</a:t>
            </a:r>
          </a:p>
          <a:p>
            <a:r>
              <a:rPr lang="en-US" dirty="0"/>
              <a:t> The rise of </a:t>
            </a:r>
            <a:r>
              <a:rPr lang="en-US" dirty="0" err="1"/>
              <a:t>chatbots</a:t>
            </a:r>
            <a:r>
              <a:rPr lang="en-US" dirty="0"/>
              <a:t>, improved autocorrect in text messaging, suggested reply in e-mail clients and other apps, and machine translation (i.e., translating text from a source language to a target language, Google Translate being the classic example) have all been propelled with the adoption of RNN.</a:t>
            </a:r>
          </a:p>
        </p:txBody>
      </p:sp>
    </p:spTree>
    <p:extLst>
      <p:ext uri="{BB962C8B-B14F-4D97-AF65-F5344CB8AC3E}">
        <p14:creationId xmlns:p14="http://schemas.microsoft.com/office/powerpoint/2010/main" val="4247306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There are again different types of LSTM (long short-term memory) networks that overcome the limitations within the existing RNN architecture and take performance for natural language processing–related tasks a notch higher.</a:t>
            </a:r>
          </a:p>
          <a:p>
            <a:r>
              <a:rPr lang="en-US" dirty="0"/>
              <a:t> The most popular versions of RNN are LSTM and GRU (gated recurrent unit) networks.</a:t>
            </a:r>
          </a:p>
        </p:txBody>
      </p:sp>
    </p:spTree>
    <p:extLst>
      <p:ext uri="{BB962C8B-B14F-4D97-AF65-F5344CB8AC3E}">
        <p14:creationId xmlns:p14="http://schemas.microsoft.com/office/powerpoint/2010/main" val="3102885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pPr marL="0" indent="0">
              <a:buNone/>
            </a:pPr>
            <a:r>
              <a:rPr lang="en-US" dirty="0"/>
              <a:t>from </a:t>
            </a:r>
            <a:r>
              <a:rPr lang="en-US" dirty="0" err="1"/>
              <a:t>keras.datasets</a:t>
            </a:r>
            <a:r>
              <a:rPr lang="en-US" dirty="0"/>
              <a:t> import </a:t>
            </a:r>
            <a:r>
              <a:rPr lang="en-US" dirty="0" err="1"/>
              <a:t>imdb</a:t>
            </a:r>
            <a:endParaRPr lang="en-US" dirty="0">
              <a:cs typeface="Calibri"/>
            </a:endParaRPr>
          </a:p>
          <a:p>
            <a:pPr marL="0" indent="0">
              <a:buNone/>
            </a:pPr>
            <a:r>
              <a:rPr lang="en-US" dirty="0"/>
              <a:t>from </a:t>
            </a:r>
            <a:r>
              <a:rPr lang="en-US" dirty="0" err="1"/>
              <a:t>keras.models</a:t>
            </a:r>
            <a:r>
              <a:rPr lang="en-US" dirty="0"/>
              <a:t> import Sequential</a:t>
            </a:r>
            <a:endParaRPr lang="en-US" dirty="0">
              <a:cs typeface="Calibri"/>
            </a:endParaRPr>
          </a:p>
          <a:p>
            <a:pPr marL="0" indent="0">
              <a:buNone/>
            </a:pPr>
            <a:r>
              <a:rPr lang="en-US" dirty="0"/>
              <a:t>from </a:t>
            </a:r>
            <a:r>
              <a:rPr lang="en-US" dirty="0" err="1"/>
              <a:t>keras.layers</a:t>
            </a:r>
            <a:r>
              <a:rPr lang="en-US" dirty="0"/>
              <a:t> import Dense, LSTM</a:t>
            </a:r>
            <a:endParaRPr lang="en-US" dirty="0">
              <a:cs typeface="Calibri"/>
            </a:endParaRPr>
          </a:p>
          <a:p>
            <a:pPr marL="0" indent="0">
              <a:buNone/>
            </a:pPr>
            <a:r>
              <a:rPr lang="en-US" dirty="0"/>
              <a:t>from </a:t>
            </a:r>
            <a:r>
              <a:rPr lang="en-US" dirty="0" err="1"/>
              <a:t>keras.layers.embeddings</a:t>
            </a:r>
            <a:r>
              <a:rPr lang="en-US" dirty="0"/>
              <a:t> import Embedding</a:t>
            </a:r>
            <a:endParaRPr lang="en-US" dirty="0">
              <a:cs typeface="Calibri"/>
            </a:endParaRPr>
          </a:p>
          <a:p>
            <a:pPr marL="0" indent="0">
              <a:buNone/>
            </a:pPr>
            <a:r>
              <a:rPr lang="en-US" dirty="0"/>
              <a:t>from </a:t>
            </a:r>
            <a:r>
              <a:rPr lang="en-US" dirty="0" err="1"/>
              <a:t>keras.preprocessing</a:t>
            </a:r>
            <a:r>
              <a:rPr lang="en-US" dirty="0"/>
              <a:t> import sequence</a:t>
            </a:r>
            <a:endParaRPr lang="en-US" dirty="0">
              <a:cs typeface="Calibri"/>
            </a:endParaRPr>
          </a:p>
          <a:p>
            <a:pPr marL="0" indent="0">
              <a:buNone/>
            </a:pPr>
            <a:r>
              <a:rPr lang="en-US" dirty="0"/>
              <a:t>#Setting a max cap for the number of distinct words</a:t>
            </a:r>
            <a:endParaRPr lang="en-US" dirty="0">
              <a:cs typeface="Calibri"/>
            </a:endParaRPr>
          </a:p>
          <a:p>
            <a:pPr marL="0" indent="0">
              <a:buNone/>
            </a:pPr>
            <a:r>
              <a:rPr lang="en-US" dirty="0" err="1"/>
              <a:t>top_words</a:t>
            </a:r>
            <a:r>
              <a:rPr lang="en-US" dirty="0"/>
              <a:t> = 5000</a:t>
            </a:r>
            <a:endParaRPr lang="en-US" dirty="0">
              <a:cs typeface="Calibri"/>
            </a:endParaRPr>
          </a:p>
          <a:p>
            <a:pPr marL="0" indent="0">
              <a:buNone/>
            </a:pPr>
            <a:r>
              <a:rPr lang="en-US" dirty="0"/>
              <a:t>#Loading the training and test data from </a:t>
            </a:r>
            <a:r>
              <a:rPr lang="en-US" dirty="0" err="1"/>
              <a:t>keras</a:t>
            </a:r>
            <a:r>
              <a:rPr lang="en-US" dirty="0"/>
              <a:t> datasets</a:t>
            </a:r>
            <a:endParaRPr lang="en-US" dirty="0">
              <a:cs typeface="Calibri"/>
            </a:endParaRPr>
          </a:p>
          <a:p>
            <a:pPr marL="0" indent="0">
              <a:buNone/>
            </a:pPr>
            <a:r>
              <a:rPr lang="en-US" sz="2400" dirty="0"/>
              <a:t>(</a:t>
            </a:r>
            <a:r>
              <a:rPr lang="en-US" sz="2400" dirty="0" err="1"/>
              <a:t>x_train</a:t>
            </a:r>
            <a:r>
              <a:rPr lang="en-US" sz="2400" dirty="0"/>
              <a:t>, </a:t>
            </a:r>
            <a:r>
              <a:rPr lang="en-US" sz="2400" dirty="0" err="1"/>
              <a:t>y_train</a:t>
            </a:r>
            <a:r>
              <a:rPr lang="en-US" sz="2400" dirty="0"/>
              <a:t>), (</a:t>
            </a:r>
            <a:r>
              <a:rPr lang="en-US" sz="2400" dirty="0" err="1"/>
              <a:t>x_test</a:t>
            </a:r>
            <a:r>
              <a:rPr lang="en-US" sz="2400" dirty="0"/>
              <a:t>, </a:t>
            </a:r>
            <a:r>
              <a:rPr lang="en-US" sz="2400" dirty="0" err="1"/>
              <a:t>y_test</a:t>
            </a:r>
            <a:r>
              <a:rPr lang="en-US" sz="2400" dirty="0"/>
              <a:t>) = </a:t>
            </a:r>
            <a:r>
              <a:rPr lang="en-US" sz="2400" dirty="0" err="1"/>
              <a:t>imdb.load_data</a:t>
            </a:r>
            <a:r>
              <a:rPr lang="en-US" sz="2400" dirty="0"/>
              <a:t>(num_</a:t>
            </a:r>
            <a:endParaRPr lang="en-US" sz="2400" dirty="0">
              <a:cs typeface="Calibri"/>
            </a:endParaRPr>
          </a:p>
          <a:p>
            <a:pPr marL="0" indent="0">
              <a:buNone/>
            </a:pPr>
            <a:r>
              <a:rPr lang="en-US" sz="2400" dirty="0"/>
              <a:t>words=</a:t>
            </a:r>
            <a:r>
              <a:rPr lang="en-US" sz="2400" dirty="0" err="1"/>
              <a:t>top_words</a:t>
            </a:r>
            <a:r>
              <a:rPr lang="en-US" sz="2400" dirty="0"/>
              <a:t>)</a:t>
            </a:r>
            <a:endParaRPr lang="en-US" sz="2400" dirty="0">
              <a:cs typeface="Calibri"/>
            </a:endParaRPr>
          </a:p>
        </p:txBody>
      </p:sp>
    </p:spTree>
    <p:extLst>
      <p:ext uri="{BB962C8B-B14F-4D97-AF65-F5344CB8AC3E}">
        <p14:creationId xmlns:p14="http://schemas.microsoft.com/office/powerpoint/2010/main" val="3768472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#Since the length of each text will be varying</a:t>
            </a:r>
          </a:p>
          <a:p>
            <a:r>
              <a:rPr lang="en-US" dirty="0"/>
              <a:t>#We will pad the sequences (i.e. text) to get a uniform length throughout</a:t>
            </a:r>
          </a:p>
          <a:p>
            <a:r>
              <a:rPr lang="en-US" dirty="0" err="1"/>
              <a:t>max_text_length</a:t>
            </a:r>
            <a:r>
              <a:rPr lang="en-US" dirty="0"/>
              <a:t> = 500</a:t>
            </a:r>
          </a:p>
          <a:p>
            <a:r>
              <a:rPr lang="en-US" dirty="0" err="1"/>
              <a:t>x_train</a:t>
            </a:r>
            <a:r>
              <a:rPr lang="en-US" dirty="0"/>
              <a:t> = </a:t>
            </a:r>
            <a:r>
              <a:rPr lang="en-US" dirty="0" err="1"/>
              <a:t>sequence.pad_sequences</a:t>
            </a:r>
            <a:r>
              <a:rPr lang="en-US" dirty="0"/>
              <a:t>(</a:t>
            </a:r>
            <a:r>
              <a:rPr lang="en-US" dirty="0" err="1"/>
              <a:t>x_train</a:t>
            </a:r>
            <a:r>
              <a:rPr lang="en-US" dirty="0"/>
              <a:t>, </a:t>
            </a:r>
            <a:r>
              <a:rPr lang="en-US" dirty="0" err="1"/>
              <a:t>maxlen</a:t>
            </a:r>
            <a:r>
              <a:rPr lang="en-US" dirty="0"/>
              <a:t>=</a:t>
            </a:r>
            <a:r>
              <a:rPr lang="en-US" dirty="0" err="1"/>
              <a:t>max_text</a:t>
            </a:r>
            <a:r>
              <a:rPr lang="en-US" dirty="0"/>
              <a:t>_ length)</a:t>
            </a:r>
          </a:p>
          <a:p>
            <a:r>
              <a:rPr lang="en-US" dirty="0" err="1"/>
              <a:t>x_test</a:t>
            </a:r>
            <a:r>
              <a:rPr lang="en-US" dirty="0"/>
              <a:t> = </a:t>
            </a:r>
            <a:r>
              <a:rPr lang="en-US" dirty="0" err="1"/>
              <a:t>sequence.pad_sequences</a:t>
            </a:r>
            <a:r>
              <a:rPr lang="en-US" dirty="0"/>
              <a:t>(</a:t>
            </a:r>
            <a:r>
              <a:rPr lang="en-US" dirty="0" err="1"/>
              <a:t>x_test</a:t>
            </a:r>
            <a:r>
              <a:rPr lang="en-US" dirty="0"/>
              <a:t>, </a:t>
            </a:r>
            <a:r>
              <a:rPr lang="en-US" dirty="0" err="1"/>
              <a:t>maxlen</a:t>
            </a:r>
            <a:r>
              <a:rPr lang="en-US" dirty="0"/>
              <a:t>=</a:t>
            </a:r>
            <a:r>
              <a:rPr lang="en-US" dirty="0" err="1"/>
              <a:t>max_text_length</a:t>
            </a:r>
            <a:r>
              <a:rPr lang="en-US" dirty="0"/>
              <a:t>)</a:t>
            </a:r>
          </a:p>
        </p:txBody>
      </p:sp>
    </p:spTree>
    <p:extLst>
      <p:ext uri="{BB962C8B-B14F-4D97-AF65-F5344CB8AC3E}">
        <p14:creationId xmlns:p14="http://schemas.microsoft.com/office/powerpoint/2010/main" val="2976419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#Design the network</a:t>
            </a:r>
          </a:p>
          <a:p>
            <a:r>
              <a:rPr lang="en-US" dirty="0" err="1"/>
              <a:t>embedding_length</a:t>
            </a:r>
            <a:r>
              <a:rPr lang="en-US" dirty="0"/>
              <a:t> = 32</a:t>
            </a:r>
          </a:p>
          <a:p>
            <a:r>
              <a:rPr lang="en-US" dirty="0"/>
              <a:t>model = Sequential()</a:t>
            </a:r>
          </a:p>
          <a:p>
            <a:r>
              <a:rPr lang="en-US" dirty="0" err="1"/>
              <a:t>model.add</a:t>
            </a:r>
            <a:r>
              <a:rPr lang="en-US" dirty="0"/>
              <a:t>(Embedding(</a:t>
            </a:r>
            <a:r>
              <a:rPr lang="en-US" dirty="0" err="1"/>
              <a:t>top_words</a:t>
            </a:r>
            <a:r>
              <a:rPr lang="en-US" dirty="0"/>
              <a:t>, </a:t>
            </a:r>
            <a:r>
              <a:rPr lang="en-US" dirty="0" err="1"/>
              <a:t>embedding_length</a:t>
            </a:r>
            <a:r>
              <a:rPr lang="en-US" dirty="0"/>
              <a:t>, </a:t>
            </a:r>
            <a:r>
              <a:rPr lang="en-US" dirty="0" err="1"/>
              <a:t>input_length</a:t>
            </a:r>
            <a:r>
              <a:rPr lang="en-US" dirty="0"/>
              <a:t>=</a:t>
            </a:r>
            <a:r>
              <a:rPr lang="en-US" dirty="0" err="1"/>
              <a:t>max_text_length</a:t>
            </a:r>
            <a:r>
              <a:rPr lang="en-US" dirty="0"/>
              <a:t>))</a:t>
            </a:r>
          </a:p>
          <a:p>
            <a:r>
              <a:rPr lang="en-US" dirty="0" err="1"/>
              <a:t>model.add</a:t>
            </a:r>
            <a:r>
              <a:rPr lang="en-US" dirty="0"/>
              <a:t>(LSTM(100))</a:t>
            </a:r>
          </a:p>
          <a:p>
            <a:r>
              <a:rPr lang="en-US" dirty="0" err="1"/>
              <a:t>model.add</a:t>
            </a:r>
            <a:r>
              <a:rPr lang="en-US" dirty="0"/>
              <a:t>(Dense(1, activation='sigmoid'))</a:t>
            </a:r>
          </a:p>
        </p:txBody>
      </p:sp>
    </p:spTree>
    <p:extLst>
      <p:ext uri="{BB962C8B-B14F-4D97-AF65-F5344CB8AC3E}">
        <p14:creationId xmlns:p14="http://schemas.microsoft.com/office/powerpoint/2010/main" val="41272790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#Compile the model</a:t>
            </a:r>
          </a:p>
          <a:p>
            <a:r>
              <a:rPr lang="en-US" dirty="0" err="1"/>
              <a:t>model.compile</a:t>
            </a:r>
            <a:r>
              <a:rPr lang="en-US" dirty="0"/>
              <a:t>(loss='</a:t>
            </a:r>
            <a:r>
              <a:rPr lang="en-US" dirty="0" err="1"/>
              <a:t>binary_crossentropy</a:t>
            </a:r>
            <a:r>
              <a:rPr lang="en-US" dirty="0"/>
              <a:t>', optimizer='</a:t>
            </a:r>
            <a:r>
              <a:rPr lang="en-US" dirty="0" err="1"/>
              <a:t>adam</a:t>
            </a:r>
            <a:r>
              <a:rPr lang="en-US" dirty="0"/>
              <a:t>‘, metrics=['accuracy'])</a:t>
            </a:r>
          </a:p>
        </p:txBody>
      </p:sp>
    </p:spTree>
    <p:extLst>
      <p:ext uri="{BB962C8B-B14F-4D97-AF65-F5344CB8AC3E}">
        <p14:creationId xmlns:p14="http://schemas.microsoft.com/office/powerpoint/2010/main" val="21118869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#Fit the model</a:t>
            </a:r>
          </a:p>
          <a:p>
            <a:r>
              <a:rPr lang="en-US" dirty="0"/>
              <a:t>model.fit(</a:t>
            </a:r>
            <a:r>
              <a:rPr lang="en-US" dirty="0" err="1"/>
              <a:t>x_train</a:t>
            </a:r>
            <a:r>
              <a:rPr lang="en-US" dirty="0"/>
              <a:t>, </a:t>
            </a:r>
            <a:r>
              <a:rPr lang="en-US" dirty="0" err="1"/>
              <a:t>y_train</a:t>
            </a:r>
            <a:r>
              <a:rPr lang="en-US" dirty="0"/>
              <a:t>, </a:t>
            </a:r>
            <a:r>
              <a:rPr lang="en-US" dirty="0" err="1"/>
              <a:t>validation_data</a:t>
            </a:r>
            <a:r>
              <a:rPr lang="en-US" dirty="0"/>
              <a:t>=(</a:t>
            </a:r>
            <a:r>
              <a:rPr lang="en-US" dirty="0" err="1"/>
              <a:t>x_test</a:t>
            </a:r>
            <a:r>
              <a:rPr lang="en-US" dirty="0"/>
              <a:t>, </a:t>
            </a:r>
            <a:r>
              <a:rPr lang="en-US" dirty="0" err="1"/>
              <a:t>y_test</a:t>
            </a:r>
            <a:r>
              <a:rPr lang="en-US" dirty="0"/>
              <a:t>),epochs=3, </a:t>
            </a:r>
            <a:r>
              <a:rPr lang="en-US" dirty="0" err="1"/>
              <a:t>batch_size</a:t>
            </a:r>
            <a:r>
              <a:rPr lang="en-US" dirty="0"/>
              <a:t>=64)</a:t>
            </a:r>
          </a:p>
          <a:p>
            <a:r>
              <a:rPr lang="en-US" dirty="0"/>
              <a:t>scores = </a:t>
            </a:r>
            <a:r>
              <a:rPr lang="en-US" dirty="0" err="1"/>
              <a:t>model.evaluate</a:t>
            </a:r>
            <a:r>
              <a:rPr lang="en-US" dirty="0"/>
              <a:t>(</a:t>
            </a:r>
            <a:r>
              <a:rPr lang="en-US" dirty="0" err="1"/>
              <a:t>x_test</a:t>
            </a:r>
            <a:r>
              <a:rPr lang="en-US" dirty="0"/>
              <a:t>, </a:t>
            </a:r>
            <a:r>
              <a:rPr lang="en-US" dirty="0" err="1"/>
              <a:t>y_test</a:t>
            </a:r>
            <a:r>
              <a:rPr lang="en-US" dirty="0"/>
              <a:t>, verbose=0)</a:t>
            </a:r>
          </a:p>
          <a:p>
            <a:r>
              <a:rPr lang="en-US" dirty="0"/>
              <a:t>print("Accuracy:",scores[1])</a:t>
            </a:r>
          </a:p>
        </p:txBody>
      </p:sp>
    </p:spTree>
    <p:extLst>
      <p:ext uri="{BB962C8B-B14F-4D97-AF65-F5344CB8AC3E}">
        <p14:creationId xmlns:p14="http://schemas.microsoft.com/office/powerpoint/2010/main" val="1963618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VGG19 and VGG16</a:t>
            </a:r>
          </a:p>
        </p:txBody>
      </p:sp>
      <p:sp>
        <p:nvSpPr>
          <p:cNvPr id="5" name="Content Placeholder 4"/>
          <p:cNvSpPr>
            <a:spLocks noGrp="1"/>
          </p:cNvSpPr>
          <p:nvPr>
            <p:ph idx="1"/>
          </p:nvPr>
        </p:nvSpPr>
        <p:spPr>
          <a:xfrm>
            <a:off x="457200" y="1371600"/>
            <a:ext cx="8229600" cy="4953000"/>
          </a:xfrm>
        </p:spPr>
        <p:txBody>
          <a:bodyPr>
            <a:normAutofit fontScale="77500" lnSpcReduction="20000"/>
          </a:bodyPr>
          <a:lstStyle/>
          <a:p>
            <a:pPr>
              <a:buNone/>
            </a:pPr>
            <a:r>
              <a:rPr lang="en-US" sz="3400" dirty="0"/>
              <a:t>VGG is a simple network to understand because of the following reasons:</a:t>
            </a:r>
          </a:p>
          <a:p>
            <a:pPr>
              <a:buNone/>
            </a:pPr>
            <a:r>
              <a:rPr lang="en-US" sz="3400" dirty="0"/>
              <a:t>1.It uses only 3x3 convolution and 2x2 pooling throughout the network.</a:t>
            </a:r>
          </a:p>
          <a:p>
            <a:pPr>
              <a:buNone/>
            </a:pPr>
            <a:r>
              <a:rPr lang="en-US" sz="3400" dirty="0"/>
              <a:t>2.The </a:t>
            </a:r>
            <a:r>
              <a:rPr lang="en-US" sz="3400" dirty="0" err="1"/>
              <a:t>convolutional</a:t>
            </a:r>
            <a:r>
              <a:rPr lang="en-US" sz="3400" dirty="0"/>
              <a:t> layers use a very small kernel size (3x3).</a:t>
            </a:r>
          </a:p>
          <a:p>
            <a:pPr>
              <a:buNone/>
            </a:pPr>
            <a:r>
              <a:rPr lang="en-US" sz="3400" dirty="0"/>
              <a:t>3.There are 1x1 convolutions to linearly transform the input.</a:t>
            </a:r>
          </a:p>
          <a:p>
            <a:pPr>
              <a:buNone/>
            </a:pPr>
            <a:r>
              <a:rPr lang="en-US" sz="3400" dirty="0"/>
              <a:t>4.The stride is 1 pixel, and it helps to preserve the spatial resolution.</a:t>
            </a:r>
          </a:p>
          <a:p>
            <a:pPr>
              <a:buNone/>
            </a:pPr>
            <a:r>
              <a:rPr lang="en-US" sz="3400" dirty="0"/>
              <a:t>5.ReLU is used throughout all the hidden layers.</a:t>
            </a:r>
          </a:p>
          <a:p>
            <a:pPr>
              <a:buNone/>
            </a:pPr>
            <a:r>
              <a:rPr lang="en-US" sz="3400" dirty="0"/>
              <a:t>6.There are three Fully Connected layers with the _</a:t>
            </a:r>
            <a:r>
              <a:rPr lang="en-US" sz="3400" dirty="0" err="1"/>
              <a:t>irst</a:t>
            </a:r>
            <a:r>
              <a:rPr lang="en-US" sz="3400" dirty="0"/>
              <a:t> two layers having 4096 channels and the last one having 1000 channels. And finally we have a </a:t>
            </a:r>
            <a:r>
              <a:rPr lang="en-US" sz="3400" dirty="0" err="1"/>
              <a:t>softmax</a:t>
            </a:r>
            <a:r>
              <a:rPr lang="en-US" sz="3400" dirty="0"/>
              <a:t> layer.</a:t>
            </a:r>
          </a:p>
          <a:p>
            <a:endParaRPr lang="en-US" dirty="0"/>
          </a:p>
        </p:txBody>
      </p:sp>
    </p:spTree>
    <p:extLst>
      <p:ext uri="{BB962C8B-B14F-4D97-AF65-F5344CB8AC3E}">
        <p14:creationId xmlns:p14="http://schemas.microsoft.com/office/powerpoint/2010/main" val="1832369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endParaRPr lang="en-US" dirty="0"/>
          </a:p>
        </p:txBody>
      </p:sp>
      <p:pic>
        <p:nvPicPr>
          <p:cNvPr id="4" name="Content Placeholder 3"/>
          <p:cNvPicPr>
            <a:picLocks noGrp="1"/>
          </p:cNvPicPr>
          <p:nvPr>
            <p:ph idx="1"/>
          </p:nvPr>
        </p:nvPicPr>
        <p:blipFill>
          <a:blip r:embed="rId2"/>
          <a:srcRect/>
          <a:stretch>
            <a:fillRect/>
          </a:stretch>
        </p:blipFill>
        <p:spPr bwMode="auto">
          <a:xfrm>
            <a:off x="914400" y="762000"/>
            <a:ext cx="4038600" cy="5364163"/>
          </a:xfrm>
          <a:prstGeom prst="rect">
            <a:avLst/>
          </a:prstGeom>
          <a:noFill/>
          <a:ln w="9525">
            <a:noFill/>
            <a:miter lim="800000"/>
            <a:headEnd/>
            <a:tailEnd/>
          </a:ln>
        </p:spPr>
      </p:pic>
    </p:spTree>
    <p:extLst>
      <p:ext uri="{BB962C8B-B14F-4D97-AF65-F5344CB8AC3E}">
        <p14:creationId xmlns:p14="http://schemas.microsoft.com/office/powerpoint/2010/main" val="1641123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Difference between VGG16 and VGG19</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Generally, VGG16 is mostly used and is more popular. </a:t>
            </a:r>
          </a:p>
          <a:p>
            <a:r>
              <a:rPr lang="en-US" dirty="0"/>
              <a:t>It is due to the fact that in the general business world, we do </a:t>
            </a:r>
            <a:r>
              <a:rPr lang="en-US" i="1" dirty="0"/>
              <a:t>not </a:t>
            </a:r>
            <a:r>
              <a:rPr lang="en-US" dirty="0"/>
              <a:t>classify beyond eight to ten classes for a problem. </a:t>
            </a:r>
          </a:p>
          <a:p>
            <a:r>
              <a:rPr lang="en-US" dirty="0"/>
              <a:t>Moreover, getting a true representative and balanced data is not achieved. Hence, in practice, VGG16 is mostly used.</a:t>
            </a:r>
          </a:p>
          <a:p>
            <a:endParaRPr lang="en-US" dirty="0"/>
          </a:p>
        </p:txBody>
      </p:sp>
    </p:spTree>
    <p:extLst>
      <p:ext uri="{BB962C8B-B14F-4D97-AF65-F5344CB8AC3E}">
        <p14:creationId xmlns:p14="http://schemas.microsoft.com/office/powerpoint/2010/main" val="1609024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a:srcRect/>
          <a:stretch>
            <a:fillRect/>
          </a:stretch>
        </p:blipFill>
        <p:spPr bwMode="auto">
          <a:xfrm>
            <a:off x="533400" y="2362200"/>
            <a:ext cx="7671596" cy="2129786"/>
          </a:xfrm>
          <a:prstGeom prst="rect">
            <a:avLst/>
          </a:prstGeom>
          <a:noFill/>
          <a:ln w="9525">
            <a:noFill/>
            <a:miter lim="800000"/>
            <a:headEnd/>
            <a:tailEnd/>
          </a:ln>
        </p:spPr>
      </p:pic>
    </p:spTree>
    <p:extLst>
      <p:ext uri="{BB962C8B-B14F-4D97-AF65-F5344CB8AC3E}">
        <p14:creationId xmlns:p14="http://schemas.microsoft.com/office/powerpoint/2010/main" val="1286479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47800"/>
            <a:ext cx="8229600" cy="4678363"/>
          </a:xfrm>
        </p:spPr>
        <p:txBody>
          <a:bodyPr>
            <a:normAutofit fontScale="70000" lnSpcReduction="20000"/>
          </a:bodyPr>
          <a:lstStyle/>
          <a:p>
            <a:r>
              <a:rPr lang="en-US" i="1" dirty="0"/>
              <a:t>The CIFAR-10 dataset consists of 60000 32x32 color images in 10 classes, with 6000 images per class.</a:t>
            </a:r>
          </a:p>
          <a:p>
            <a:r>
              <a:rPr lang="en-US" i="1" dirty="0"/>
              <a:t> There are 50000 training images and 10000 test images. The dataset is divided into five training batches and one test batch, each with 10000 images. The test batch contains exactly 1000 randomly-selected images from each class. </a:t>
            </a:r>
          </a:p>
          <a:p>
            <a:r>
              <a:rPr lang="en-US" i="1" dirty="0"/>
              <a:t>The training batches contain the remaining images in random order, but some training batches may contain more images from one class than another. Between them, the training batches contain exactly 5000 images from each class.</a:t>
            </a:r>
          </a:p>
          <a:p>
            <a:r>
              <a:rPr lang="en-US" i="1" dirty="0"/>
              <a:t>The classes are completely mutually exclusive. There is no overlap between automobiles and trucks. “Automobile” includes sedans, SUVs, etc. and “Truck” includes only big trucks. Neither includes pickup trucks</a:t>
            </a:r>
            <a:endParaRPr lang="en-US" dirty="0"/>
          </a:p>
        </p:txBody>
      </p:sp>
    </p:spTree>
    <p:extLst>
      <p:ext uri="{BB962C8B-B14F-4D97-AF65-F5344CB8AC3E}">
        <p14:creationId xmlns:p14="http://schemas.microsoft.com/office/powerpoint/2010/main" val="1044803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pPr latinLnBrk="1"/>
            <a:r>
              <a:rPr lang="en-US" dirty="0"/>
              <a:t>import </a:t>
            </a:r>
            <a:r>
              <a:rPr lang="en-US" dirty="0" err="1"/>
              <a:t>numpy</a:t>
            </a:r>
            <a:r>
              <a:rPr lang="en-US" dirty="0"/>
              <a:t> as </a:t>
            </a:r>
            <a:r>
              <a:rPr lang="en-US" dirty="0" err="1"/>
              <a:t>np</a:t>
            </a:r>
            <a:endParaRPr lang="en-US" dirty="0"/>
          </a:p>
          <a:p>
            <a:pPr latinLnBrk="1"/>
            <a:r>
              <a:rPr lang="en-US" dirty="0"/>
              <a:t> </a:t>
            </a:r>
          </a:p>
          <a:p>
            <a:pPr latinLnBrk="1"/>
            <a:r>
              <a:rPr lang="en-US" i="1" dirty="0"/>
              <a:t># Image manipulation | </a:t>
            </a:r>
            <a:r>
              <a:rPr lang="en-US" i="1" dirty="0" err="1"/>
              <a:t>OpenCV</a:t>
            </a:r>
            <a:endParaRPr lang="en-US" dirty="0"/>
          </a:p>
          <a:p>
            <a:pPr latinLnBrk="1"/>
            <a:r>
              <a:rPr lang="en-US" dirty="0"/>
              <a:t>import cv2</a:t>
            </a:r>
          </a:p>
          <a:p>
            <a:pPr latinLnBrk="1"/>
            <a:r>
              <a:rPr lang="en-US" dirty="0"/>
              <a:t> </a:t>
            </a:r>
          </a:p>
          <a:p>
            <a:pPr latinLnBrk="1"/>
            <a:r>
              <a:rPr lang="en-US" i="1" dirty="0"/>
              <a:t># Showing images and evaluating model results</a:t>
            </a:r>
            <a:endParaRPr lang="en-US" dirty="0"/>
          </a:p>
          <a:p>
            <a:pPr latinLnBrk="1"/>
            <a:r>
              <a:rPr lang="en-US" dirty="0"/>
              <a:t>import </a:t>
            </a:r>
            <a:r>
              <a:rPr lang="en-US" dirty="0" err="1"/>
              <a:t>matplotlib.pyplot</a:t>
            </a:r>
            <a:r>
              <a:rPr lang="en-US" dirty="0"/>
              <a:t> as </a:t>
            </a:r>
            <a:r>
              <a:rPr lang="en-US" dirty="0" err="1"/>
              <a:t>plt</a:t>
            </a:r>
            <a:endParaRPr lang="en-US" dirty="0"/>
          </a:p>
          <a:p>
            <a:pPr latinLnBrk="1"/>
            <a:r>
              <a:rPr lang="en-US" dirty="0"/>
              <a:t> </a:t>
            </a:r>
          </a:p>
          <a:p>
            <a:pPr latinLnBrk="1"/>
            <a:r>
              <a:rPr lang="en-US" i="1" dirty="0"/>
              <a:t># VGG19 Model </a:t>
            </a:r>
            <a:endParaRPr lang="en-US" dirty="0"/>
          </a:p>
          <a:p>
            <a:pPr latinLnBrk="1"/>
            <a:r>
              <a:rPr lang="en-US" dirty="0"/>
              <a:t>from keras.applications.vgg19 import VGG19</a:t>
            </a:r>
          </a:p>
          <a:p>
            <a:pPr latinLnBrk="1"/>
            <a:r>
              <a:rPr lang="en-US" dirty="0"/>
              <a:t> </a:t>
            </a:r>
          </a:p>
          <a:p>
            <a:pPr latinLnBrk="1"/>
            <a:r>
              <a:rPr lang="en-US" i="1" dirty="0"/>
              <a:t># Preparing VGG19 Model</a:t>
            </a:r>
            <a:endParaRPr lang="en-US" dirty="0"/>
          </a:p>
          <a:p>
            <a:pPr latinLnBrk="1"/>
            <a:r>
              <a:rPr lang="en-US" dirty="0"/>
              <a:t>from </a:t>
            </a:r>
            <a:r>
              <a:rPr lang="en-US" dirty="0" err="1"/>
              <a:t>keras.layers</a:t>
            </a:r>
            <a:r>
              <a:rPr lang="en-US" dirty="0"/>
              <a:t> import </a:t>
            </a:r>
            <a:r>
              <a:rPr lang="en-US" dirty="0" err="1"/>
              <a:t>Dense,Flatten,Input</a:t>
            </a:r>
            <a:endParaRPr lang="en-US" dirty="0"/>
          </a:p>
          <a:p>
            <a:pPr latinLnBrk="1"/>
            <a:r>
              <a:rPr lang="en-US" dirty="0"/>
              <a:t>from </a:t>
            </a:r>
            <a:r>
              <a:rPr lang="en-US" dirty="0" err="1"/>
              <a:t>keras.models</a:t>
            </a:r>
            <a:r>
              <a:rPr lang="en-US" dirty="0"/>
              <a:t> import Sequential</a:t>
            </a:r>
          </a:p>
          <a:p>
            <a:pPr latinLnBrk="1"/>
            <a:r>
              <a:rPr lang="en-US" dirty="0"/>
              <a:t> </a:t>
            </a:r>
          </a:p>
          <a:p>
            <a:pPr latinLnBrk="1"/>
            <a:r>
              <a:rPr lang="en-US" i="1" dirty="0"/>
              <a:t># One hot label encoding</a:t>
            </a:r>
            <a:endParaRPr lang="en-US" dirty="0"/>
          </a:p>
          <a:p>
            <a:pPr latinLnBrk="1"/>
            <a:r>
              <a:rPr lang="en-US" dirty="0"/>
              <a:t>from </a:t>
            </a:r>
            <a:r>
              <a:rPr lang="en-US" dirty="0" err="1"/>
              <a:t>keras.utils</a:t>
            </a:r>
            <a:r>
              <a:rPr lang="en-US" dirty="0"/>
              <a:t> import </a:t>
            </a:r>
            <a:r>
              <a:rPr lang="en-US" dirty="0" err="1"/>
              <a:t>to_categorical</a:t>
            </a:r>
            <a:endParaRPr lang="en-US" dirty="0"/>
          </a:p>
          <a:p>
            <a:pPr latinLnBrk="1"/>
            <a:r>
              <a:rPr lang="en-US" dirty="0"/>
              <a:t> </a:t>
            </a:r>
          </a:p>
          <a:p>
            <a:endParaRPr lang="en-US" dirty="0"/>
          </a:p>
        </p:txBody>
      </p:sp>
    </p:spTree>
    <p:extLst>
      <p:ext uri="{BB962C8B-B14F-4D97-AF65-F5344CB8AC3E}">
        <p14:creationId xmlns:p14="http://schemas.microsoft.com/office/powerpoint/2010/main" val="4151760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endParaRPr lang="en-US"/>
          </a:p>
        </p:txBody>
      </p:sp>
      <p:sp>
        <p:nvSpPr>
          <p:cNvPr id="3" name="Content Placeholder 2"/>
          <p:cNvSpPr>
            <a:spLocks noGrp="1"/>
          </p:cNvSpPr>
          <p:nvPr>
            <p:ph idx="1"/>
          </p:nvPr>
        </p:nvSpPr>
        <p:spPr>
          <a:xfrm>
            <a:off x="457200" y="838200"/>
            <a:ext cx="8229600" cy="5287963"/>
          </a:xfrm>
        </p:spPr>
        <p:txBody>
          <a:bodyPr>
            <a:normAutofit/>
          </a:bodyPr>
          <a:lstStyle/>
          <a:p>
            <a:pPr latinLnBrk="1"/>
            <a:r>
              <a:rPr lang="en-US" i="1" dirty="0"/>
              <a:t># CIFAR10 dataset</a:t>
            </a:r>
            <a:endParaRPr lang="en-US" dirty="0"/>
          </a:p>
          <a:p>
            <a:pPr latinLnBrk="1"/>
            <a:r>
              <a:rPr lang="en-US" sz="2400" dirty="0"/>
              <a:t>from </a:t>
            </a:r>
            <a:r>
              <a:rPr lang="en-US" sz="2400" dirty="0" err="1"/>
              <a:t>keras.datasets</a:t>
            </a:r>
            <a:r>
              <a:rPr lang="en-US" sz="2400" dirty="0"/>
              <a:t> import cifar10</a:t>
            </a:r>
          </a:p>
          <a:p>
            <a:r>
              <a:rPr lang="en-US" sz="2400" dirty="0"/>
              <a:t>(</a:t>
            </a:r>
            <a:r>
              <a:rPr lang="en-US" sz="2400" dirty="0" err="1"/>
              <a:t>x_train,y_train</a:t>
            </a:r>
            <a:r>
              <a:rPr lang="en-US" sz="2400" dirty="0"/>
              <a:t>),(</a:t>
            </a:r>
            <a:r>
              <a:rPr lang="en-US" sz="2400" dirty="0" err="1"/>
              <a:t>x_test,y_test</a:t>
            </a:r>
            <a:r>
              <a:rPr lang="en-US" sz="2400" dirty="0"/>
              <a:t>) = cifar10.load_data()</a:t>
            </a:r>
          </a:p>
          <a:p>
            <a:r>
              <a:rPr lang="en-US" sz="2400" dirty="0"/>
              <a:t>print("Shape of </a:t>
            </a:r>
            <a:r>
              <a:rPr lang="en-US" sz="2400" dirty="0" err="1"/>
              <a:t>x_train</a:t>
            </a:r>
            <a:r>
              <a:rPr lang="en-US" sz="2400" dirty="0"/>
              <a:t> is ",</a:t>
            </a:r>
            <a:r>
              <a:rPr lang="en-US" sz="2400" dirty="0" err="1"/>
              <a:t>x_train.shape</a:t>
            </a:r>
            <a:r>
              <a:rPr lang="en-US" sz="2400" dirty="0"/>
              <a:t>)</a:t>
            </a:r>
          </a:p>
          <a:p>
            <a:r>
              <a:rPr lang="en-US" sz="2400" dirty="0"/>
              <a:t>print("Shape of </a:t>
            </a:r>
            <a:r>
              <a:rPr lang="en-US" sz="2400" dirty="0" err="1"/>
              <a:t>y_train</a:t>
            </a:r>
            <a:r>
              <a:rPr lang="en-US" sz="2400" dirty="0"/>
              <a:t> is ",</a:t>
            </a:r>
            <a:r>
              <a:rPr lang="en-US" sz="2400" dirty="0" err="1"/>
              <a:t>y_train.shape</a:t>
            </a:r>
            <a:r>
              <a:rPr lang="en-US" sz="2400" dirty="0"/>
              <a:t>)</a:t>
            </a:r>
          </a:p>
          <a:p>
            <a:r>
              <a:rPr lang="en-US" sz="2400" dirty="0"/>
              <a:t>print("Shape of </a:t>
            </a:r>
            <a:r>
              <a:rPr lang="en-US" sz="2400" dirty="0" err="1"/>
              <a:t>x_test</a:t>
            </a:r>
            <a:r>
              <a:rPr lang="en-US" sz="2400" dirty="0"/>
              <a:t>  is ",</a:t>
            </a:r>
            <a:r>
              <a:rPr lang="en-US" sz="2400" dirty="0" err="1"/>
              <a:t>x_test.shape</a:t>
            </a:r>
            <a:r>
              <a:rPr lang="en-US" sz="2400" dirty="0"/>
              <a:t>)</a:t>
            </a:r>
          </a:p>
          <a:p>
            <a:r>
              <a:rPr lang="en-US" sz="2400" dirty="0"/>
              <a:t>print("Shape of </a:t>
            </a:r>
            <a:r>
              <a:rPr lang="en-US" sz="2400" dirty="0" err="1"/>
              <a:t>y_test</a:t>
            </a:r>
            <a:r>
              <a:rPr lang="en-US" sz="2400" dirty="0"/>
              <a:t>  </a:t>
            </a:r>
            <a:r>
              <a:rPr lang="en-US" sz="2400" dirty="0" err="1"/>
              <a:t>is",y_test.shape</a:t>
            </a:r>
            <a:r>
              <a:rPr lang="en-US" sz="2400" dirty="0"/>
              <a:t>)</a:t>
            </a:r>
          </a:p>
          <a:p>
            <a:r>
              <a:rPr lang="en-US" sz="2400" dirty="0"/>
              <a:t>Shape of </a:t>
            </a:r>
            <a:r>
              <a:rPr lang="en-US" sz="2400" dirty="0" err="1"/>
              <a:t>x_train</a:t>
            </a:r>
            <a:r>
              <a:rPr lang="en-US" sz="2400" dirty="0"/>
              <a:t> is  (50000, 32, 32, 3)</a:t>
            </a:r>
          </a:p>
          <a:p>
            <a:r>
              <a:rPr lang="en-US" sz="2400" dirty="0"/>
              <a:t>Shape of </a:t>
            </a:r>
            <a:r>
              <a:rPr lang="en-US" sz="2400" dirty="0" err="1"/>
              <a:t>y_train</a:t>
            </a:r>
            <a:r>
              <a:rPr lang="en-US" sz="2400" dirty="0"/>
              <a:t> is  (50000, 1)</a:t>
            </a:r>
          </a:p>
          <a:p>
            <a:r>
              <a:rPr lang="en-US" sz="2400" dirty="0"/>
              <a:t>Shape of </a:t>
            </a:r>
            <a:r>
              <a:rPr lang="en-US" sz="2400" dirty="0" err="1"/>
              <a:t>x_test</a:t>
            </a:r>
            <a:r>
              <a:rPr lang="en-US" sz="2400" dirty="0"/>
              <a:t>  is  (10000, 32, 32, 3)Shape of </a:t>
            </a:r>
            <a:r>
              <a:rPr lang="en-US" sz="2400" dirty="0" err="1"/>
              <a:t>y_test</a:t>
            </a:r>
            <a:r>
              <a:rPr lang="en-US" sz="2400" dirty="0"/>
              <a:t>  is (10000, 1)</a:t>
            </a:r>
          </a:p>
        </p:txBody>
      </p:sp>
    </p:spTree>
    <p:extLst>
      <p:ext uri="{BB962C8B-B14F-4D97-AF65-F5344CB8AC3E}">
        <p14:creationId xmlns:p14="http://schemas.microsoft.com/office/powerpoint/2010/main" val="3409994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t>def </a:t>
            </a:r>
            <a:r>
              <a:rPr lang="en-US" sz="2400" dirty="0" err="1"/>
              <a:t>resize_img</a:t>
            </a:r>
            <a:r>
              <a:rPr lang="en-US" sz="2400" dirty="0"/>
              <a:t>(</a:t>
            </a:r>
            <a:r>
              <a:rPr lang="en-US" sz="2400" dirty="0" err="1"/>
              <a:t>img</a:t>
            </a:r>
            <a:r>
              <a:rPr lang="en-US" sz="2400" dirty="0"/>
              <a:t>): </a:t>
            </a:r>
          </a:p>
          <a:p>
            <a:r>
              <a:rPr lang="en-US" sz="2400" dirty="0"/>
              <a:t>   </a:t>
            </a:r>
            <a:r>
              <a:rPr lang="en-US" sz="2400" dirty="0" err="1"/>
              <a:t>numberOfImage</a:t>
            </a:r>
            <a:r>
              <a:rPr lang="en-US" sz="2400" dirty="0"/>
              <a:t> = </a:t>
            </a:r>
            <a:r>
              <a:rPr lang="en-US" sz="2400" dirty="0" err="1"/>
              <a:t>img.shape</a:t>
            </a:r>
            <a:r>
              <a:rPr lang="en-US" sz="2400" dirty="0"/>
              <a:t>[0]   </a:t>
            </a:r>
          </a:p>
          <a:p>
            <a:r>
              <a:rPr lang="en-US" sz="2400" dirty="0"/>
              <a:t> </a:t>
            </a:r>
            <a:r>
              <a:rPr lang="en-US" sz="2400" dirty="0" err="1"/>
              <a:t>new_array</a:t>
            </a:r>
            <a:r>
              <a:rPr lang="en-US" sz="2400" dirty="0"/>
              <a:t> = </a:t>
            </a:r>
            <a:r>
              <a:rPr lang="en-US" sz="2400" dirty="0" err="1"/>
              <a:t>np.zeros</a:t>
            </a:r>
            <a:r>
              <a:rPr lang="en-US" sz="2400" dirty="0"/>
              <a:t>((</a:t>
            </a:r>
            <a:r>
              <a:rPr lang="en-US" sz="2400" dirty="0" err="1"/>
              <a:t>numberOfImage</a:t>
            </a:r>
            <a:r>
              <a:rPr lang="en-US" sz="2400" dirty="0"/>
              <a:t>, 48,48,3))   </a:t>
            </a:r>
          </a:p>
          <a:p>
            <a:r>
              <a:rPr lang="en-US" sz="2400" dirty="0"/>
              <a:t> for </a:t>
            </a:r>
            <a:r>
              <a:rPr lang="en-US" sz="2400" dirty="0" err="1"/>
              <a:t>i</a:t>
            </a:r>
            <a:r>
              <a:rPr lang="en-US" sz="2400" dirty="0"/>
              <a:t> </a:t>
            </a:r>
            <a:r>
              <a:rPr lang="en-US" sz="2400" b="1" dirty="0"/>
              <a:t>in</a:t>
            </a:r>
            <a:r>
              <a:rPr lang="en-US" sz="2400" dirty="0"/>
              <a:t> range(</a:t>
            </a:r>
            <a:r>
              <a:rPr lang="en-US" sz="2400" dirty="0" err="1"/>
              <a:t>numberOfImage</a:t>
            </a:r>
            <a:r>
              <a:rPr lang="en-US" sz="2400" dirty="0"/>
              <a:t>):</a:t>
            </a:r>
          </a:p>
          <a:p>
            <a:r>
              <a:rPr lang="en-US" sz="2400" dirty="0"/>
              <a:t>        </a:t>
            </a:r>
            <a:r>
              <a:rPr lang="en-US" sz="2400" dirty="0" err="1"/>
              <a:t>new_array</a:t>
            </a:r>
            <a:r>
              <a:rPr lang="en-US" sz="2400" dirty="0"/>
              <a:t>[</a:t>
            </a:r>
            <a:r>
              <a:rPr lang="en-US" sz="2400" dirty="0" err="1"/>
              <a:t>i</a:t>
            </a:r>
            <a:r>
              <a:rPr lang="en-US" sz="2400" dirty="0"/>
              <a:t>] = cv2.resize(</a:t>
            </a:r>
            <a:r>
              <a:rPr lang="en-US" sz="2400" dirty="0" err="1"/>
              <a:t>img</a:t>
            </a:r>
            <a:r>
              <a:rPr lang="en-US" sz="2400" dirty="0"/>
              <a:t>[</a:t>
            </a:r>
            <a:r>
              <a:rPr lang="en-US" sz="2400" dirty="0" err="1"/>
              <a:t>i</a:t>
            </a:r>
            <a:r>
              <a:rPr lang="en-US" sz="2400" dirty="0"/>
              <a:t>,:,:,:],(48,48)) </a:t>
            </a:r>
          </a:p>
          <a:p>
            <a:r>
              <a:rPr lang="en-US" sz="2400" dirty="0"/>
              <a:t>   return </a:t>
            </a:r>
            <a:r>
              <a:rPr lang="en-US" sz="2400" dirty="0" err="1"/>
              <a:t>new_array</a:t>
            </a:r>
            <a:endParaRPr lang="en-US" sz="2400" dirty="0"/>
          </a:p>
        </p:txBody>
      </p:sp>
    </p:spTree>
    <p:extLst>
      <p:ext uri="{BB962C8B-B14F-4D97-AF65-F5344CB8AC3E}">
        <p14:creationId xmlns:p14="http://schemas.microsoft.com/office/powerpoint/2010/main" val="34605489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err="1"/>
              <a:t>x_train</a:t>
            </a:r>
            <a:r>
              <a:rPr lang="en-US" sz="2400" dirty="0"/>
              <a:t> = </a:t>
            </a:r>
            <a:r>
              <a:rPr lang="en-US" sz="2400" dirty="0" err="1"/>
              <a:t>resize_img</a:t>
            </a:r>
            <a:r>
              <a:rPr lang="en-US" sz="2400" dirty="0"/>
              <a:t>(</a:t>
            </a:r>
            <a:r>
              <a:rPr lang="en-US" sz="2400" dirty="0" err="1"/>
              <a:t>x_train</a:t>
            </a:r>
            <a:r>
              <a:rPr lang="en-US" sz="2400" dirty="0"/>
              <a:t>)</a:t>
            </a:r>
          </a:p>
          <a:p>
            <a:r>
              <a:rPr lang="en-US" sz="2400" dirty="0" err="1"/>
              <a:t>x_test</a:t>
            </a:r>
            <a:r>
              <a:rPr lang="en-US" sz="2400" dirty="0"/>
              <a:t> = </a:t>
            </a:r>
            <a:r>
              <a:rPr lang="en-US" sz="2400" dirty="0" err="1"/>
              <a:t>resize_img</a:t>
            </a:r>
            <a:r>
              <a:rPr lang="en-US" sz="2400" dirty="0"/>
              <a:t>(</a:t>
            </a:r>
            <a:r>
              <a:rPr lang="en-US" sz="2400" dirty="0" err="1"/>
              <a:t>x_test</a:t>
            </a:r>
            <a:r>
              <a:rPr lang="en-US" sz="2400" dirty="0"/>
              <a:t>)</a:t>
            </a:r>
          </a:p>
          <a:p>
            <a:r>
              <a:rPr lang="en-US" sz="2400" dirty="0"/>
              <a:t>print("New shape of </a:t>
            </a:r>
            <a:r>
              <a:rPr lang="en-US" sz="2400" dirty="0" err="1"/>
              <a:t>x_train</a:t>
            </a:r>
            <a:r>
              <a:rPr lang="en-US" sz="2400" dirty="0"/>
              <a:t> is ",</a:t>
            </a:r>
            <a:r>
              <a:rPr lang="en-US" sz="2400" dirty="0" err="1"/>
              <a:t>x_train.shape</a:t>
            </a:r>
            <a:r>
              <a:rPr lang="en-US" sz="2400" dirty="0"/>
              <a:t>)</a:t>
            </a:r>
          </a:p>
          <a:p>
            <a:r>
              <a:rPr lang="en-US" sz="2400" dirty="0"/>
              <a:t>print("New shape of </a:t>
            </a:r>
            <a:r>
              <a:rPr lang="en-US" sz="2400" dirty="0" err="1"/>
              <a:t>x_test</a:t>
            </a:r>
            <a:r>
              <a:rPr lang="en-US" sz="2400" dirty="0"/>
              <a:t>  is ",</a:t>
            </a:r>
            <a:r>
              <a:rPr lang="en-US" sz="2400" dirty="0" err="1"/>
              <a:t>x_test.shape</a:t>
            </a:r>
            <a:r>
              <a:rPr lang="en-US" sz="2400" dirty="0"/>
              <a:t>)</a:t>
            </a:r>
          </a:p>
          <a:p>
            <a:r>
              <a:rPr lang="en-US" sz="2400" dirty="0"/>
              <a:t>New shape of </a:t>
            </a:r>
            <a:r>
              <a:rPr lang="en-US" sz="2400" dirty="0" err="1"/>
              <a:t>x_train</a:t>
            </a:r>
            <a:r>
              <a:rPr lang="en-US" sz="2400" dirty="0"/>
              <a:t> is  (50000, 48, 48, 3)</a:t>
            </a:r>
          </a:p>
          <a:p>
            <a:r>
              <a:rPr lang="en-US" sz="2400" dirty="0"/>
              <a:t>New shape of </a:t>
            </a:r>
            <a:r>
              <a:rPr lang="en-US" sz="2400" dirty="0" err="1"/>
              <a:t>x_test</a:t>
            </a:r>
            <a:r>
              <a:rPr lang="en-US" sz="2400" dirty="0"/>
              <a:t>  is  (10000, 48, 48, 3)</a:t>
            </a:r>
          </a:p>
          <a:p>
            <a:r>
              <a:rPr lang="en-US" sz="2400" i="1" dirty="0"/>
              <a:t># one hot encoding</a:t>
            </a:r>
          </a:p>
          <a:p>
            <a:r>
              <a:rPr lang="en-US" sz="2400" dirty="0" err="1"/>
              <a:t>y_train</a:t>
            </a:r>
            <a:r>
              <a:rPr lang="en-US" sz="2400" dirty="0"/>
              <a:t> = </a:t>
            </a:r>
            <a:r>
              <a:rPr lang="en-US" sz="2400" dirty="0" err="1"/>
              <a:t>to_categorical</a:t>
            </a:r>
            <a:r>
              <a:rPr lang="en-US" sz="2400" dirty="0"/>
              <a:t>(</a:t>
            </a:r>
            <a:r>
              <a:rPr lang="en-US" sz="2400" dirty="0" err="1"/>
              <a:t>y_train,num_classes</a:t>
            </a:r>
            <a:r>
              <a:rPr lang="en-US" sz="2400" dirty="0"/>
              <a:t>=10)</a:t>
            </a:r>
          </a:p>
          <a:p>
            <a:r>
              <a:rPr lang="en-US" sz="2400" dirty="0" err="1"/>
              <a:t>y_test</a:t>
            </a:r>
            <a:r>
              <a:rPr lang="en-US" sz="2400" dirty="0"/>
              <a:t> = </a:t>
            </a:r>
            <a:r>
              <a:rPr lang="en-US" sz="2400" dirty="0" err="1"/>
              <a:t>to_categorical</a:t>
            </a:r>
            <a:r>
              <a:rPr lang="en-US" sz="2400" dirty="0"/>
              <a:t>(</a:t>
            </a:r>
            <a:r>
              <a:rPr lang="en-US" sz="2400" dirty="0" err="1"/>
              <a:t>y_test,num_classes</a:t>
            </a:r>
            <a:r>
              <a:rPr lang="en-US" sz="2400" dirty="0"/>
              <a:t>=10</a:t>
            </a:r>
            <a:r>
              <a:rPr lang="en-US" dirty="0"/>
              <a:t>) </a:t>
            </a:r>
          </a:p>
        </p:txBody>
      </p:sp>
    </p:spTree>
    <p:extLst>
      <p:ext uri="{BB962C8B-B14F-4D97-AF65-F5344CB8AC3E}">
        <p14:creationId xmlns:p14="http://schemas.microsoft.com/office/powerpoint/2010/main" val="51368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print("New shape of </a:t>
            </a:r>
            <a:r>
              <a:rPr lang="en-US" dirty="0" err="1"/>
              <a:t>y_train</a:t>
            </a:r>
            <a:r>
              <a:rPr lang="en-US" dirty="0"/>
              <a:t> is ",</a:t>
            </a:r>
            <a:r>
              <a:rPr lang="en-US" dirty="0" err="1"/>
              <a:t>y_train.shape</a:t>
            </a:r>
            <a:r>
              <a:rPr lang="en-US" dirty="0"/>
              <a:t>)</a:t>
            </a:r>
          </a:p>
          <a:p>
            <a:r>
              <a:rPr lang="en-US" dirty="0"/>
              <a:t>print("New shape of </a:t>
            </a:r>
            <a:r>
              <a:rPr lang="en-US" dirty="0" err="1"/>
              <a:t>y_test</a:t>
            </a:r>
            <a:r>
              <a:rPr lang="en-US" dirty="0"/>
              <a:t>  is ",</a:t>
            </a:r>
            <a:r>
              <a:rPr lang="en-US" dirty="0" err="1"/>
              <a:t>y_test.shape</a:t>
            </a:r>
            <a:r>
              <a:rPr lang="en-US" dirty="0"/>
              <a:t>)</a:t>
            </a:r>
          </a:p>
          <a:p>
            <a:r>
              <a:rPr lang="en-US" dirty="0"/>
              <a:t>New shape of </a:t>
            </a:r>
            <a:r>
              <a:rPr lang="en-US" dirty="0" err="1"/>
              <a:t>y_train</a:t>
            </a:r>
            <a:r>
              <a:rPr lang="en-US" dirty="0"/>
              <a:t> is  (50000, 10)</a:t>
            </a:r>
          </a:p>
          <a:p>
            <a:r>
              <a:rPr lang="en-US" dirty="0"/>
              <a:t>New shape of </a:t>
            </a:r>
            <a:r>
              <a:rPr lang="en-US" dirty="0" err="1"/>
              <a:t>y_test</a:t>
            </a:r>
            <a:r>
              <a:rPr lang="en-US" dirty="0"/>
              <a:t>  is  (10000, 10)</a:t>
            </a:r>
          </a:p>
        </p:txBody>
      </p:sp>
    </p:spTree>
    <p:extLst>
      <p:ext uri="{BB962C8B-B14F-4D97-AF65-F5344CB8AC3E}">
        <p14:creationId xmlns:p14="http://schemas.microsoft.com/office/powerpoint/2010/main" val="261071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Include top = add fully connected layers to layer.# Weights = use </a:t>
            </a:r>
            <a:r>
              <a:rPr lang="en-US" i="1" dirty="0" err="1"/>
              <a:t>pretrained</a:t>
            </a:r>
            <a:r>
              <a:rPr lang="en-US" i="1" dirty="0"/>
              <a:t> weights (trained in </a:t>
            </a:r>
            <a:r>
              <a:rPr lang="en-US" i="1" dirty="0" err="1"/>
              <a:t>imagenet</a:t>
            </a:r>
            <a:r>
              <a:rPr lang="en-US" i="1" dirty="0"/>
              <a:t>)</a:t>
            </a:r>
          </a:p>
          <a:p>
            <a:r>
              <a:rPr lang="en-US" sz="1800" dirty="0" err="1"/>
              <a:t>vgg</a:t>
            </a:r>
            <a:r>
              <a:rPr lang="en-US" sz="1800" dirty="0"/>
              <a:t> = VGG19(</a:t>
            </a:r>
            <a:r>
              <a:rPr lang="en-US" sz="1800" dirty="0" err="1"/>
              <a:t>include_top</a:t>
            </a:r>
            <a:r>
              <a:rPr lang="en-US" sz="1800" dirty="0"/>
              <a:t>=False, weights="</a:t>
            </a:r>
            <a:r>
              <a:rPr lang="en-US" sz="1800" dirty="0" err="1"/>
              <a:t>imagenet",input_shape</a:t>
            </a:r>
            <a:r>
              <a:rPr lang="en-US" sz="1800" dirty="0"/>
              <a:t>=(48,48,3)) </a:t>
            </a:r>
          </a:p>
          <a:p>
            <a:r>
              <a:rPr lang="en-US" sz="1800" dirty="0" err="1"/>
              <a:t>vgg.summary</a:t>
            </a:r>
            <a:r>
              <a:rPr lang="en-US" sz="1800" dirty="0"/>
              <a:t>()</a:t>
            </a:r>
          </a:p>
        </p:txBody>
      </p:sp>
    </p:spTree>
    <p:extLst>
      <p:ext uri="{BB962C8B-B14F-4D97-AF65-F5344CB8AC3E}">
        <p14:creationId xmlns:p14="http://schemas.microsoft.com/office/powerpoint/2010/main" val="1933646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model = Sequential() </a:t>
            </a:r>
          </a:p>
          <a:p>
            <a:r>
              <a:rPr lang="en-US" i="1" dirty="0"/>
              <a:t># Adding layers to the blank model</a:t>
            </a:r>
          </a:p>
          <a:p>
            <a:r>
              <a:rPr lang="en-US" dirty="0"/>
              <a:t>for layer </a:t>
            </a:r>
            <a:r>
              <a:rPr lang="en-US" b="1" dirty="0"/>
              <a:t>in</a:t>
            </a:r>
            <a:r>
              <a:rPr lang="en-US" dirty="0"/>
              <a:t> </a:t>
            </a:r>
            <a:r>
              <a:rPr lang="en-US" dirty="0" err="1"/>
              <a:t>vgg.layers</a:t>
            </a:r>
            <a:r>
              <a:rPr lang="en-US" dirty="0"/>
              <a:t>:  </a:t>
            </a:r>
          </a:p>
          <a:p>
            <a:r>
              <a:rPr lang="en-US" dirty="0"/>
              <a:t>  </a:t>
            </a:r>
            <a:r>
              <a:rPr lang="en-US" dirty="0" err="1"/>
              <a:t>model.add</a:t>
            </a:r>
            <a:r>
              <a:rPr lang="en-US" dirty="0"/>
              <a:t>(layer)   </a:t>
            </a:r>
          </a:p>
          <a:p>
            <a:r>
              <a:rPr lang="en-US" dirty="0"/>
              <a:t> </a:t>
            </a:r>
            <a:r>
              <a:rPr lang="en-US" i="1" dirty="0"/>
              <a:t># Don't train layers again, because they are already trained</a:t>
            </a:r>
          </a:p>
          <a:p>
            <a:r>
              <a:rPr lang="en-US" dirty="0"/>
              <a:t>for layer </a:t>
            </a:r>
            <a:r>
              <a:rPr lang="en-US" b="1" dirty="0"/>
              <a:t>in</a:t>
            </a:r>
            <a:r>
              <a:rPr lang="en-US" dirty="0"/>
              <a:t> </a:t>
            </a:r>
            <a:r>
              <a:rPr lang="en-US" dirty="0" err="1"/>
              <a:t>model.layers</a:t>
            </a:r>
            <a:r>
              <a:rPr lang="en-US" dirty="0"/>
              <a:t>: </a:t>
            </a:r>
          </a:p>
          <a:p>
            <a:r>
              <a:rPr lang="en-US" dirty="0"/>
              <a:t>   </a:t>
            </a:r>
            <a:r>
              <a:rPr lang="en-US" dirty="0" err="1"/>
              <a:t>layer.trainable</a:t>
            </a:r>
            <a:r>
              <a:rPr lang="en-US" dirty="0"/>
              <a:t> = False</a:t>
            </a:r>
          </a:p>
        </p:txBody>
      </p:sp>
    </p:spTree>
    <p:extLst>
      <p:ext uri="{BB962C8B-B14F-4D97-AF65-F5344CB8AC3E}">
        <p14:creationId xmlns:p14="http://schemas.microsoft.com/office/powerpoint/2010/main" val="937609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 Adding fully connected layers</a:t>
            </a:r>
          </a:p>
          <a:p>
            <a:r>
              <a:rPr lang="en-US" dirty="0" err="1"/>
              <a:t>model.add</a:t>
            </a:r>
            <a:r>
              <a:rPr lang="en-US" dirty="0"/>
              <a:t>(Flatten())</a:t>
            </a:r>
          </a:p>
          <a:p>
            <a:r>
              <a:rPr lang="en-US" dirty="0" err="1"/>
              <a:t>model.add</a:t>
            </a:r>
            <a:r>
              <a:rPr lang="en-US" dirty="0"/>
              <a:t>(Dense(128))</a:t>
            </a:r>
          </a:p>
          <a:p>
            <a:r>
              <a:rPr lang="en-US" dirty="0" err="1"/>
              <a:t>model.add</a:t>
            </a:r>
            <a:r>
              <a:rPr lang="en-US" dirty="0"/>
              <a:t>(Dense(10,activation="</a:t>
            </a:r>
            <a:r>
              <a:rPr lang="en-US" dirty="0" err="1"/>
              <a:t>softmax</a:t>
            </a:r>
            <a:r>
              <a:rPr lang="en-US" dirty="0"/>
              <a:t>")) </a:t>
            </a:r>
          </a:p>
          <a:p>
            <a:r>
              <a:rPr lang="en-US" i="1" dirty="0"/>
              <a:t># Checking model</a:t>
            </a:r>
          </a:p>
          <a:p>
            <a:r>
              <a:rPr lang="en-US" dirty="0" err="1"/>
              <a:t>model.summary</a:t>
            </a:r>
            <a:r>
              <a:rPr lang="en-US" dirty="0"/>
              <a:t>()</a:t>
            </a:r>
          </a:p>
        </p:txBody>
      </p:sp>
    </p:spTree>
    <p:extLst>
      <p:ext uri="{BB962C8B-B14F-4D97-AF65-F5344CB8AC3E}">
        <p14:creationId xmlns:p14="http://schemas.microsoft.com/office/powerpoint/2010/main" val="14864978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 However before this, we need to compile the model</a:t>
            </a:r>
          </a:p>
          <a:p>
            <a:r>
              <a:rPr lang="en-US" dirty="0" err="1"/>
              <a:t>model.compile</a:t>
            </a:r>
            <a:r>
              <a:rPr lang="en-US" dirty="0"/>
              <a:t>(optimizer="</a:t>
            </a:r>
            <a:r>
              <a:rPr lang="en-US" dirty="0" err="1"/>
              <a:t>RMSprop",loss</a:t>
            </a:r>
            <a:r>
              <a:rPr lang="en-US" dirty="0"/>
              <a:t>="</a:t>
            </a:r>
            <a:r>
              <a:rPr lang="en-US" dirty="0" err="1"/>
              <a:t>categorical_crossentropy",metrics</a:t>
            </a:r>
            <a:r>
              <a:rPr lang="en-US" dirty="0"/>
              <a:t>=["accuracy"]) </a:t>
            </a:r>
            <a:r>
              <a:rPr lang="en-US" i="1" dirty="0"/>
              <a:t># Let's train.</a:t>
            </a:r>
          </a:p>
          <a:p>
            <a:r>
              <a:rPr lang="en-US" sz="1800" dirty="0" err="1"/>
              <a:t>hist</a:t>
            </a:r>
            <a:r>
              <a:rPr lang="en-US" sz="1800" dirty="0"/>
              <a:t> = model.fit(</a:t>
            </a:r>
            <a:r>
              <a:rPr lang="en-US" sz="1800" dirty="0" err="1"/>
              <a:t>x_train,y_train,validation_split</a:t>
            </a:r>
            <a:r>
              <a:rPr lang="en-US" sz="1800" dirty="0"/>
              <a:t>=0.15,epochs=20,batch_size=1000) </a:t>
            </a:r>
          </a:p>
        </p:txBody>
      </p:sp>
    </p:spTree>
    <p:extLst>
      <p:ext uri="{BB962C8B-B14F-4D97-AF65-F5344CB8AC3E}">
        <p14:creationId xmlns:p14="http://schemas.microsoft.com/office/powerpoint/2010/main" val="3995837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sz="2400" i="1" dirty="0"/>
              <a:t># We use %15 of the train set as validation set.</a:t>
            </a:r>
          </a:p>
          <a:p>
            <a:r>
              <a:rPr lang="en-US" sz="1800" dirty="0" err="1"/>
              <a:t>plt.subplots</a:t>
            </a:r>
            <a:r>
              <a:rPr lang="en-US" sz="1800" dirty="0"/>
              <a:t>(</a:t>
            </a:r>
            <a:r>
              <a:rPr lang="en-US" sz="1800" dirty="0" err="1"/>
              <a:t>figsize</a:t>
            </a:r>
            <a:r>
              <a:rPr lang="en-US" sz="1800" dirty="0"/>
              <a:t>=(6,4))</a:t>
            </a:r>
          </a:p>
          <a:p>
            <a:r>
              <a:rPr lang="en-US" sz="1800" dirty="0" err="1"/>
              <a:t>plt.plot</a:t>
            </a:r>
            <a:r>
              <a:rPr lang="en-US" sz="1800" dirty="0"/>
              <a:t>(</a:t>
            </a:r>
            <a:r>
              <a:rPr lang="en-US" sz="1800" dirty="0" err="1"/>
              <a:t>hist.epoch,hist.history</a:t>
            </a:r>
            <a:r>
              <a:rPr lang="en-US" sz="1800" dirty="0"/>
              <a:t>["loss"],color="</a:t>
            </a:r>
            <a:r>
              <a:rPr lang="en-US" sz="1800" dirty="0" err="1"/>
              <a:t>green",label</a:t>
            </a:r>
            <a:r>
              <a:rPr lang="en-US" sz="1800" dirty="0"/>
              <a:t>="Train Loss")</a:t>
            </a:r>
          </a:p>
          <a:p>
            <a:r>
              <a:rPr lang="en-US" sz="1800" dirty="0" err="1"/>
              <a:t>plt.plot</a:t>
            </a:r>
            <a:r>
              <a:rPr lang="en-US" sz="1800" dirty="0"/>
              <a:t>(</a:t>
            </a:r>
            <a:r>
              <a:rPr lang="en-US" sz="1800" dirty="0" err="1"/>
              <a:t>hist.epoch,hist.history</a:t>
            </a:r>
            <a:r>
              <a:rPr lang="en-US" sz="1800" dirty="0"/>
              <a:t>["</a:t>
            </a:r>
            <a:r>
              <a:rPr lang="en-US" sz="1800" dirty="0" err="1"/>
              <a:t>val_loss</a:t>
            </a:r>
            <a:r>
              <a:rPr lang="en-US" sz="1800" dirty="0"/>
              <a:t>"],color="</a:t>
            </a:r>
            <a:r>
              <a:rPr lang="en-US" sz="1800" dirty="0" err="1"/>
              <a:t>blue",label</a:t>
            </a:r>
            <a:r>
              <a:rPr lang="en-US" sz="1800" dirty="0"/>
              <a:t>="Validation Loss")</a:t>
            </a:r>
          </a:p>
          <a:p>
            <a:r>
              <a:rPr lang="en-US" sz="1800" dirty="0" err="1"/>
              <a:t>plt.xlabel</a:t>
            </a:r>
            <a:r>
              <a:rPr lang="en-US" sz="1800" dirty="0"/>
              <a:t>("Epoch Number")</a:t>
            </a:r>
          </a:p>
          <a:p>
            <a:r>
              <a:rPr lang="en-US" sz="1800" dirty="0" err="1"/>
              <a:t>plt.ylabel</a:t>
            </a:r>
            <a:r>
              <a:rPr lang="en-US" sz="1800" dirty="0"/>
              <a:t>("Loss")</a:t>
            </a:r>
            <a:r>
              <a:rPr lang="en-US" sz="1800" dirty="0" err="1"/>
              <a:t>plt.legend</a:t>
            </a:r>
            <a:r>
              <a:rPr lang="en-US" sz="1800" dirty="0"/>
              <a:t>()</a:t>
            </a:r>
            <a:r>
              <a:rPr lang="en-US" sz="1800" dirty="0" err="1"/>
              <a:t>plt.title</a:t>
            </a:r>
            <a:r>
              <a:rPr lang="en-US" sz="1800" dirty="0"/>
              <a:t>("Loss Graph")</a:t>
            </a:r>
          </a:p>
          <a:p>
            <a:r>
              <a:rPr lang="en-US" sz="1800" dirty="0" err="1"/>
              <a:t>plt.show</a:t>
            </a:r>
            <a:r>
              <a:rPr lang="en-US" sz="1800" dirty="0"/>
              <a:t>()</a:t>
            </a:r>
          </a:p>
        </p:txBody>
      </p:sp>
    </p:spTree>
    <p:extLst>
      <p:ext uri="{BB962C8B-B14F-4D97-AF65-F5344CB8AC3E}">
        <p14:creationId xmlns:p14="http://schemas.microsoft.com/office/powerpoint/2010/main" val="2340123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dirty="0" err="1"/>
              <a:t>plt.subplots</a:t>
            </a:r>
            <a:r>
              <a:rPr lang="en-US" sz="2000" dirty="0"/>
              <a:t>(</a:t>
            </a:r>
            <a:r>
              <a:rPr lang="en-US" sz="2000" dirty="0" err="1"/>
              <a:t>figsize</a:t>
            </a:r>
            <a:r>
              <a:rPr lang="en-US" sz="2000" dirty="0"/>
              <a:t>=(6,4))</a:t>
            </a:r>
          </a:p>
          <a:p>
            <a:r>
              <a:rPr lang="en-US" sz="2000" dirty="0" err="1"/>
              <a:t>plt.plot</a:t>
            </a:r>
            <a:r>
              <a:rPr lang="en-US" sz="2000" dirty="0"/>
              <a:t>(</a:t>
            </a:r>
            <a:r>
              <a:rPr lang="en-US" sz="2000" dirty="0" err="1"/>
              <a:t>hist.epoch,hist.history</a:t>
            </a:r>
            <a:r>
              <a:rPr lang="en-US" sz="2000" dirty="0"/>
              <a:t>["accuracy"],color="</a:t>
            </a:r>
            <a:r>
              <a:rPr lang="en-US" sz="2000" dirty="0" err="1"/>
              <a:t>green",label</a:t>
            </a:r>
            <a:r>
              <a:rPr lang="en-US" sz="2000" dirty="0"/>
              <a:t>="Train Accuracy")</a:t>
            </a:r>
          </a:p>
          <a:p>
            <a:r>
              <a:rPr lang="en-US" sz="2000" dirty="0" err="1"/>
              <a:t>plt.plot</a:t>
            </a:r>
            <a:r>
              <a:rPr lang="en-US" sz="2000" dirty="0"/>
              <a:t>(</a:t>
            </a:r>
            <a:r>
              <a:rPr lang="en-US" sz="2000" dirty="0" err="1"/>
              <a:t>hist.epoch,hist.history</a:t>
            </a:r>
            <a:r>
              <a:rPr lang="en-US" sz="2000" dirty="0"/>
              <a:t>["</a:t>
            </a:r>
            <a:r>
              <a:rPr lang="en-US" sz="2000" dirty="0" err="1"/>
              <a:t>val_accuracy</a:t>
            </a:r>
            <a:r>
              <a:rPr lang="en-US" sz="2000" dirty="0"/>
              <a:t>"],color="</a:t>
            </a:r>
            <a:r>
              <a:rPr lang="en-US" sz="2000" dirty="0" err="1"/>
              <a:t>blue",label</a:t>
            </a:r>
            <a:r>
              <a:rPr lang="en-US" sz="2000" dirty="0"/>
              <a:t>="Validation Accuracy")</a:t>
            </a:r>
          </a:p>
          <a:p>
            <a:r>
              <a:rPr lang="en-US" sz="2000" dirty="0" err="1"/>
              <a:t>plt.xlabel</a:t>
            </a:r>
            <a:r>
              <a:rPr lang="en-US" sz="2000" dirty="0"/>
              <a:t>("Epoch Number")</a:t>
            </a:r>
          </a:p>
          <a:p>
            <a:r>
              <a:rPr lang="en-US" sz="2000" dirty="0" err="1"/>
              <a:t>plt.ylabel</a:t>
            </a:r>
            <a:r>
              <a:rPr lang="en-US" sz="2000" dirty="0"/>
              <a:t>("Accuracy")</a:t>
            </a:r>
          </a:p>
          <a:p>
            <a:r>
              <a:rPr lang="en-US" sz="2000" dirty="0" err="1"/>
              <a:t>plt.legend</a:t>
            </a:r>
            <a:r>
              <a:rPr lang="en-US" sz="2000" dirty="0"/>
              <a:t>()</a:t>
            </a:r>
          </a:p>
          <a:p>
            <a:r>
              <a:rPr lang="en-US" sz="2000" dirty="0" err="1"/>
              <a:t>plt.title</a:t>
            </a:r>
            <a:r>
              <a:rPr lang="en-US" sz="2000" dirty="0"/>
              <a:t>("Accuracy Graph")</a:t>
            </a:r>
          </a:p>
          <a:p>
            <a:r>
              <a:rPr lang="en-US" sz="2000" dirty="0" err="1"/>
              <a:t>plt.show</a:t>
            </a:r>
            <a:r>
              <a:rPr lang="en-US" sz="2000" dirty="0"/>
              <a:t>()</a:t>
            </a:r>
          </a:p>
          <a:p>
            <a:r>
              <a:rPr lang="en-US" sz="2000" dirty="0"/>
              <a:t> </a:t>
            </a:r>
            <a:r>
              <a:rPr lang="en-US" sz="2000" dirty="0" err="1"/>
              <a:t>model.evaluate</a:t>
            </a:r>
            <a:r>
              <a:rPr lang="en-US" sz="2000" dirty="0"/>
              <a:t>(</a:t>
            </a:r>
            <a:r>
              <a:rPr lang="en-US" sz="2000" dirty="0" err="1"/>
              <a:t>x_test,y_test</a:t>
            </a:r>
            <a:r>
              <a:rPr lang="en-US" sz="2000" dirty="0"/>
              <a:t>)  </a:t>
            </a:r>
          </a:p>
          <a:p>
            <a:endParaRPr lang="en-US" sz="1800" dirty="0"/>
          </a:p>
        </p:txBody>
      </p:sp>
    </p:spTree>
    <p:extLst>
      <p:ext uri="{BB962C8B-B14F-4D97-AF65-F5344CB8AC3E}">
        <p14:creationId xmlns:p14="http://schemas.microsoft.com/office/powerpoint/2010/main" val="21819707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t>What is a </a:t>
            </a:r>
            <a:r>
              <a:rPr lang="en-US" err="1"/>
              <a:t>Convolutional</a:t>
            </a:r>
            <a:r>
              <a:rPr lang="en-US"/>
              <a:t> Neural Network?</a:t>
            </a:r>
          </a:p>
        </p:txBody>
      </p:sp>
      <p:sp>
        <p:nvSpPr>
          <p:cNvPr id="5" name="Content Placeholder 4"/>
          <p:cNvSpPr>
            <a:spLocks noGrp="1"/>
          </p:cNvSpPr>
          <p:nvPr>
            <p:ph idx="1"/>
          </p:nvPr>
        </p:nvSpPr>
        <p:spPr>
          <a:xfrm>
            <a:off x="381000" y="1581913"/>
            <a:ext cx="8382000" cy="3828288"/>
          </a:xfrm>
        </p:spPr>
        <p:txBody>
          <a:bodyPr vert="horz" lIns="91440" tIns="45720" rIns="91440" bIns="45720" rtlCol="0" anchor="t">
            <a:normAutofit fontScale="62500" lnSpcReduction="20000"/>
          </a:bodyPr>
          <a:lstStyle/>
          <a:p>
            <a:r>
              <a:rPr lang="en-US"/>
              <a:t>When we humans see an image or a face, we are able to identify it immediately. It is one of the basic skills we have. This identification process is an amalgamation of a large number of small processes and coordination between various vital components of our visual system	.</a:t>
            </a:r>
          </a:p>
          <a:p>
            <a:r>
              <a:rPr lang="en-US"/>
              <a:t>A Convolutional Neural Network or CNN is able to replicate this astounding capability using Deep Learning.</a:t>
            </a:r>
          </a:p>
          <a:p>
            <a:r>
              <a:rPr lang="en-US"/>
              <a:t>Consider this. We have to create a solution to distinguish between a cat and a dog. The attributes which make them different can be ears, whiskers, nose, and so on. CNNs are helpful for extracting the attributes of the images which are significant for the images. Or in other words, CNNs will extract the features which are distinguishing between a cat and a dog. CNNs are very powerful in image classification.		</a:t>
            </a:r>
          </a:p>
        </p:txBody>
      </p:sp>
    </p:spTree>
    <p:extLst>
      <p:ext uri="{BB962C8B-B14F-4D97-AF65-F5344CB8AC3E}">
        <p14:creationId xmlns:p14="http://schemas.microsoft.com/office/powerpoint/2010/main" val="2204782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3782"/>
            <a:ext cx="8229600" cy="4754563"/>
          </a:xfrm>
        </p:spPr>
        <p:txBody>
          <a:bodyPr>
            <a:normAutofit lnSpcReduction="10000"/>
          </a:bodyPr>
          <a:lstStyle/>
          <a:p>
            <a:r>
              <a:rPr lang="en-US"/>
              <a:t>Imagine you have an image of size 32x32. That means it can be represented as 32x32x3 pixels if it is a colored image (remember RGB). </a:t>
            </a:r>
          </a:p>
          <a:p>
            <a:r>
              <a:rPr lang="en-US"/>
              <a:t>Now let us move (or convolute) an area of 5x5 over this image and cover the entire image. This process is called convolving. Starting from the top left, this area is passed over the entire image. You can refer to Figure 2-2 to see how an image 32x32 is being convoluted by a filter of 5x5. </a:t>
            </a:r>
            <a:endParaRPr lang="en-IN"/>
          </a:p>
        </p:txBody>
      </p:sp>
    </p:spTree>
    <p:extLst>
      <p:ext uri="{BB962C8B-B14F-4D97-AF65-F5344CB8AC3E}">
        <p14:creationId xmlns:p14="http://schemas.microsoft.com/office/powerpoint/2010/main" val="36045007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130" y="1611891"/>
            <a:ext cx="8707581" cy="3712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0197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011" y="231199"/>
            <a:ext cx="8134350" cy="6393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59277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t="120" r="4993" b="327"/>
          <a:stretch/>
        </p:blipFill>
        <p:spPr bwMode="auto">
          <a:xfrm>
            <a:off x="106507" y="1714500"/>
            <a:ext cx="8904626" cy="3950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94215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39" y="2008910"/>
            <a:ext cx="8420965" cy="285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80743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778" y="2527300"/>
            <a:ext cx="7974445" cy="101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21093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46" y="1194955"/>
            <a:ext cx="7719579" cy="3411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85172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18" y="392256"/>
            <a:ext cx="8831694" cy="571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4272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39" y="769795"/>
            <a:ext cx="8930984" cy="530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5511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What is a Pooling Layer?</a:t>
            </a:r>
            <a:br>
              <a:rPr lang="en-US"/>
            </a:br>
            <a:endParaRPr lang="en-IN"/>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65" y="985981"/>
            <a:ext cx="8089034" cy="5338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43761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30" y="522577"/>
            <a:ext cx="8614929" cy="6085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33245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Fully Connected Layer?</a:t>
            </a:r>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269" y="1712769"/>
            <a:ext cx="3926031" cy="3990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03008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13" y="585643"/>
            <a:ext cx="8717973" cy="568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09392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25" y="1143000"/>
            <a:ext cx="762635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10968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768" y="1179095"/>
            <a:ext cx="7785100" cy="450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16503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358" y="718868"/>
            <a:ext cx="78105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2248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2565400"/>
            <a:ext cx="628650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27612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 y="1990725"/>
            <a:ext cx="78359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867275"/>
            <a:ext cx="66484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519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1035050"/>
            <a:ext cx="8356600" cy="478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52334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47800"/>
            <a:ext cx="8064500" cy="42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64647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l="2260" r="8333" b="602"/>
          <a:stretch/>
        </p:blipFill>
        <p:spPr bwMode="auto">
          <a:xfrm>
            <a:off x="116305" y="2269289"/>
            <a:ext cx="8918398" cy="2318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2762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300" y="381000"/>
            <a:ext cx="7899400" cy="569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3996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079B38143C1347880C8C61DB2B2B1B" ma:contentTypeVersion="5" ma:contentTypeDescription="Create a new document." ma:contentTypeScope="" ma:versionID="82e548e8432a8d9133b9aa95d60a80b5">
  <xsd:schema xmlns:xsd="http://www.w3.org/2001/XMLSchema" xmlns:xs="http://www.w3.org/2001/XMLSchema" xmlns:p="http://schemas.microsoft.com/office/2006/metadata/properties" xmlns:ns2="8f9774c7-25fb-44eb-bbbf-e7c2c4561bfa" targetNamespace="http://schemas.microsoft.com/office/2006/metadata/properties" ma:root="true" ma:fieldsID="9d1a0b72e9682ec39e04159342034ced" ns2:_="">
    <xsd:import namespace="8f9774c7-25fb-44eb-bbbf-e7c2c4561bfa"/>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9774c7-25fb-44eb-bbbf-e7c2c4561bfa"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7B8B3C-3070-4004-9B30-2C9EE7C7761C}">
  <ds:schemaRefs>
    <ds:schemaRef ds:uri="http://schemas.microsoft.com/sharepoint/v3/contenttype/forms"/>
  </ds:schemaRefs>
</ds:datastoreItem>
</file>

<file path=customXml/itemProps2.xml><?xml version="1.0" encoding="utf-8"?>
<ds:datastoreItem xmlns:ds="http://schemas.openxmlformats.org/officeDocument/2006/customXml" ds:itemID="{63FDA63B-DDF0-451A-A6DA-4FE877385661}"/>
</file>

<file path=docProps/app.xml><?xml version="1.0" encoding="utf-8"?>
<Properties xmlns="http://schemas.openxmlformats.org/officeDocument/2006/extended-properties" xmlns:vt="http://schemas.openxmlformats.org/officeDocument/2006/docPropsVTypes">
  <TotalTime>211</TotalTime>
  <Words>2496</Words>
  <Application>Microsoft Office PowerPoint</Application>
  <PresentationFormat>On-screen Show (4:3)</PresentationFormat>
  <Paragraphs>353</Paragraphs>
  <Slides>84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Autoencoder </vt:lpstr>
      <vt:lpstr>PowerPoint Presentation</vt:lpstr>
      <vt:lpstr>Example</vt:lpstr>
      <vt:lpstr>PowerPoint Presentation</vt:lpstr>
      <vt:lpstr>PowerPoint Presentation</vt:lpstr>
      <vt:lpstr>PowerPoint Presentation</vt:lpstr>
      <vt:lpstr>Application</vt:lpstr>
      <vt:lpstr>Example in Keras</vt:lpstr>
      <vt:lpstr>PowerPoint Presentation</vt:lpstr>
      <vt:lpstr>PowerPoint Presentation</vt:lpstr>
      <vt:lpstr>PowerPoint Presentation</vt:lpstr>
      <vt:lpstr>PowerPoint Presentation</vt:lpstr>
      <vt:lpstr>PowerPoint Presentation</vt:lpstr>
      <vt:lpstr>PowerPoint Presentation</vt:lpstr>
      <vt:lpstr>Exercise</vt:lpstr>
      <vt:lpstr>PowerPoint Presentation</vt:lpstr>
      <vt:lpstr>PowerPoint Presentation</vt:lpstr>
      <vt:lpstr>PowerPoint Presentation</vt:lpstr>
      <vt:lpstr>PowerPoint Presentation</vt:lpstr>
      <vt:lpstr>Autoencoder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Adding noise</vt:lpstr>
      <vt:lpstr>CNN</vt:lpstr>
      <vt:lpstr>PowerPoint Presentation</vt:lpstr>
      <vt:lpstr>PowerPoint Presentation</vt:lpstr>
      <vt:lpstr>PowerPoint Presentation</vt:lpstr>
      <vt:lpstr>PowerPoint Presentation</vt:lpstr>
      <vt:lpstr>PowerPoint Presentation</vt:lpstr>
      <vt:lpstr>PowerPoint Presentation</vt:lpstr>
      <vt:lpstr>RNN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VGG19 and VGG16</vt:lpstr>
      <vt:lpstr>PowerPoint Presentation</vt:lpstr>
      <vt:lpstr>Difference between VGG16 and VGG19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Convolutional Neural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Pooling Layer? </vt:lpstr>
      <vt:lpstr>PowerPoint Presentation</vt:lpstr>
      <vt:lpstr>What is a Fully Connected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Autoencoder</dc:title>
  <dc:creator>COMPUTER</dc:creator>
  <cp:lastModifiedBy>DELL</cp:lastModifiedBy>
  <cp:revision>14</cp:revision>
  <dcterms:created xsi:type="dcterms:W3CDTF">2024-09-20T04:05:49Z</dcterms:created>
  <dcterms:modified xsi:type="dcterms:W3CDTF">2024-10-16T06:31:09Z</dcterms:modified>
</cp:coreProperties>
</file>