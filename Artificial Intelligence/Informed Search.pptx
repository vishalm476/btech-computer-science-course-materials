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506" r:id="rId2"/>
    <p:sldId id="415" r:id="rId3"/>
    <p:sldId id="497" r:id="rId4"/>
    <p:sldId id="500" r:id="rId5"/>
    <p:sldId id="376" r:id="rId6"/>
    <p:sldId id="501" r:id="rId7"/>
    <p:sldId id="502" r:id="rId8"/>
    <p:sldId id="416" r:id="rId9"/>
    <p:sldId id="379" r:id="rId10"/>
    <p:sldId id="380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88" r:id="rId19"/>
    <p:sldId id="389" r:id="rId20"/>
    <p:sldId id="390" r:id="rId21"/>
    <p:sldId id="391" r:id="rId22"/>
    <p:sldId id="392" r:id="rId23"/>
    <p:sldId id="484" r:id="rId24"/>
    <p:sldId id="485" r:id="rId25"/>
    <p:sldId id="486" r:id="rId26"/>
    <p:sldId id="487" r:id="rId27"/>
    <p:sldId id="489" r:id="rId28"/>
    <p:sldId id="493" r:id="rId29"/>
    <p:sldId id="504" r:id="rId30"/>
    <p:sldId id="494" r:id="rId31"/>
    <p:sldId id="490" r:id="rId32"/>
    <p:sldId id="505" r:id="rId33"/>
    <p:sldId id="456" r:id="rId34"/>
    <p:sldId id="422" r:id="rId35"/>
    <p:sldId id="400" r:id="rId36"/>
    <p:sldId id="429" r:id="rId37"/>
    <p:sldId id="431" r:id="rId38"/>
    <p:sldId id="432" r:id="rId39"/>
    <p:sldId id="440" r:id="rId40"/>
    <p:sldId id="441" r:id="rId41"/>
    <p:sldId id="446" r:id="rId42"/>
    <p:sldId id="443" r:id="rId43"/>
    <p:sldId id="444" r:id="rId44"/>
    <p:sldId id="445" r:id="rId45"/>
    <p:sldId id="257" r:id="rId46"/>
    <p:sldId id="304" r:id="rId47"/>
    <p:sldId id="305" r:id="rId48"/>
    <p:sldId id="308" r:id="rId49"/>
    <p:sldId id="258" r:id="rId50"/>
    <p:sldId id="344" r:id="rId51"/>
    <p:sldId id="343" r:id="rId52"/>
    <p:sldId id="314" r:id="rId53"/>
    <p:sldId id="341" r:id="rId54"/>
    <p:sldId id="342" r:id="rId55"/>
    <p:sldId id="261" r:id="rId56"/>
    <p:sldId id="260" r:id="rId57"/>
    <p:sldId id="259" r:id="rId58"/>
    <p:sldId id="311" r:id="rId59"/>
    <p:sldId id="309" r:id="rId60"/>
    <p:sldId id="262" r:id="rId61"/>
    <p:sldId id="312" r:id="rId62"/>
    <p:sldId id="294" r:id="rId63"/>
    <p:sldId id="313" r:id="rId64"/>
    <p:sldId id="296" r:id="rId65"/>
    <p:sldId id="317" r:id="rId66"/>
    <p:sldId id="265" r:id="rId67"/>
    <p:sldId id="315" r:id="rId68"/>
    <p:sldId id="297" r:id="rId69"/>
    <p:sldId id="316" r:id="rId70"/>
    <p:sldId id="345" r:id="rId71"/>
    <p:sldId id="319" r:id="rId72"/>
    <p:sldId id="321" r:id="rId73"/>
    <p:sldId id="322" r:id="rId74"/>
    <p:sldId id="323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D3548-2147-452A-A7F9-36BFF0904A26}" v="3" dt="2024-01-30T08:57:11.5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customXml" Target="../customXml/item2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85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imamul Bakas" userId="0b176b4ed9944c14" providerId="LiveId" clId="{2DCD3548-2147-452A-A7F9-36BFF0904A26}"/>
    <pc:docChg chg="modSld">
      <pc:chgData name="Jamimamul Bakas" userId="0b176b4ed9944c14" providerId="LiveId" clId="{2DCD3548-2147-452A-A7F9-36BFF0904A26}" dt="2024-01-30T08:57:11.577" v="2" actId="14100"/>
      <pc:docMkLst>
        <pc:docMk/>
      </pc:docMkLst>
      <pc:sldChg chg="delSp modAnim">
        <pc:chgData name="Jamimamul Bakas" userId="0b176b4ed9944c14" providerId="LiveId" clId="{2DCD3548-2147-452A-A7F9-36BFF0904A26}" dt="2024-01-30T08:56:53.848" v="0" actId="478"/>
        <pc:sldMkLst>
          <pc:docMk/>
          <pc:sldMk cId="0" sldId="297"/>
        </pc:sldMkLst>
        <pc:picChg chg="del">
          <ac:chgData name="Jamimamul Bakas" userId="0b176b4ed9944c14" providerId="LiveId" clId="{2DCD3548-2147-452A-A7F9-36BFF0904A26}" dt="2024-01-30T08:56:53.848" v="0" actId="478"/>
          <ac:picMkLst>
            <pc:docMk/>
            <pc:sldMk cId="0" sldId="297"/>
            <ac:picMk id="91140" creationId="{003BF992-1BC9-5728-8A69-ACA67A9C814A}"/>
          </ac:picMkLst>
        </pc:picChg>
      </pc:sldChg>
      <pc:sldChg chg="modSp modNotes">
        <pc:chgData name="Jamimamul Bakas" userId="0b176b4ed9944c14" providerId="LiveId" clId="{2DCD3548-2147-452A-A7F9-36BFF0904A26}" dt="2024-01-30T08:57:11.577" v="2" actId="14100"/>
        <pc:sldMkLst>
          <pc:docMk/>
          <pc:sldMk cId="0" sldId="313"/>
        </pc:sldMkLst>
        <pc:spChg chg="mod">
          <ac:chgData name="Jamimamul Bakas" userId="0b176b4ed9944c14" providerId="LiveId" clId="{2DCD3548-2147-452A-A7F9-36BFF0904A26}" dt="2024-01-30T08:57:08.137" v="1" actId="14100"/>
          <ac:spMkLst>
            <pc:docMk/>
            <pc:sldMk cId="0" sldId="313"/>
            <ac:spMk id="35845" creationId="{A3DBA1DF-56F5-0096-0B50-9EDD9625A1D6}"/>
          </ac:spMkLst>
        </pc:spChg>
        <pc:spChg chg="mod">
          <ac:chgData name="Jamimamul Bakas" userId="0b176b4ed9944c14" providerId="LiveId" clId="{2DCD3548-2147-452A-A7F9-36BFF0904A26}" dt="2024-01-30T08:57:11.577" v="2" actId="14100"/>
          <ac:spMkLst>
            <pc:docMk/>
            <pc:sldMk cId="0" sldId="313"/>
            <ac:spMk id="35846" creationId="{3846A130-8144-1548-E938-BBB548863EF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04CB3-D6CB-4914-9557-1E9B80B6278E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1DC3B-A513-400B-BD71-A52A86903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334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5FAC833E-B5EA-31D6-BB85-90BFB84CAA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21EAA0-BEE1-4EDC-B203-B4F1586542EC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3D95D6E2-4637-3B8D-7F73-D8366754D8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00D772AF-8548-B872-FCA3-205E5470E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021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191549E-B611-D945-B1C7-1FBDA73CCB5D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136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6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The error in the heuristic function grows no faster than the logarithm of the actual path cost.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E5E9BF4-2827-284E-87B6-3F37F34AD4C5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136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6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Why1 – H(goal)=0;</a:t>
            </a:r>
          </a:p>
          <a:p>
            <a:pPr>
              <a:defRPr/>
            </a:pPr>
            <a:r>
              <a:rPr lang="en-US">
                <a:cs typeface="+mn-cs"/>
              </a:rPr>
              <a:t>Why 2 - Finite number of nodes with cost less than or eqaul to C*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711D9D-58DC-7F4C-9819-DA12380059F2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147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7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711D9D-58DC-7F4C-9819-DA12380059F2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147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7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538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C3593C-75F0-9545-8022-95EBA20984B9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1477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7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E7FD10-48AC-AE4D-99F4-6AEA4E5D4D20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7F50C5-1970-EF45-9588-CAA14578EFB5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39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39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n-cs"/>
              </a:rPr>
              <a:t>Could also build pattern database while solving cases of the 8-puzzle</a:t>
            </a:r>
          </a:p>
          <a:p>
            <a:pPr lvl="1">
              <a:defRPr/>
            </a:pPr>
            <a:r>
              <a:rPr lang="en-US"/>
              <a:t>Must keep track of intermediate states and true final cost of solution</a:t>
            </a:r>
          </a:p>
          <a:p>
            <a:pPr lvl="1">
              <a:defRPr/>
            </a:pPr>
            <a:r>
              <a:rPr lang="en-US">
                <a:solidFill>
                  <a:schemeClr val="tx2"/>
                </a:solidFill>
              </a:rPr>
              <a:t>Inductive learning</a:t>
            </a:r>
            <a:r>
              <a:rPr lang="en-US"/>
              <a:t> builds mapping of state features  -&gt; cost</a:t>
            </a:r>
          </a:p>
          <a:p>
            <a:pPr lvl="1">
              <a:defRPr/>
            </a:pPr>
            <a:r>
              <a:rPr lang="en-US"/>
              <a:t>Because too many permutations of actual states</a:t>
            </a:r>
          </a:p>
          <a:p>
            <a:pPr lvl="2">
              <a:defRPr/>
            </a:pPr>
            <a:r>
              <a:rPr lang="en-US"/>
              <a:t>Construct important </a:t>
            </a:r>
            <a:r>
              <a:rPr lang="en-US">
                <a:solidFill>
                  <a:schemeClr val="tx2"/>
                </a:solidFill>
              </a:rPr>
              <a:t>features </a:t>
            </a:r>
            <a:r>
              <a:rPr lang="en-US"/>
              <a:t>to reduce size of space</a:t>
            </a:r>
            <a:endParaRPr lang="en-US">
              <a:solidFill>
                <a:schemeClr val="tx2"/>
              </a:solidFill>
            </a:endParaRPr>
          </a:p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5FAC833E-B5EA-31D6-BB85-90BFB84CAA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21EAA0-BEE1-4EDC-B203-B4F1586542EC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3D95D6E2-4637-3B8D-7F73-D8366754D8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00D772AF-8548-B872-FCA3-205E5470E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27913E9D-64B8-5D1F-D8B7-2955E2E074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EA1868C-5CCD-447C-8318-0EF331D8D4A4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77B7F12-ECDC-E77E-35BE-76FCC1D8D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9514A1A-174B-26AE-0A0C-2CE315009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B1D6707A-4629-5C8A-76B8-4D8A06638F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4644180-9187-459E-A65D-AE7197E81852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68310FA-1EA9-EBBF-70DF-9EFF00DFDD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8A88734-C18A-4E5A-DBC5-0E6EC2A95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4F11C62C-7B81-D250-5417-9A2638856F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FAC942B-EF08-4526-AFBF-BC64CDDF09B8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D6E46B4-27B3-87F3-D98D-9D0D4EF42D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64FAFA9-2005-D5DD-4198-D417AE5C9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B96A878C-9E3D-DDD3-9205-2875907864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694027-6836-4EA5-A6B6-7D23C0EA2EED}" type="slidenum">
              <a:rPr lang="en-US" altLang="en-US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45106F86-FF58-9D8B-9740-2C5EAB7E3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CEF2B310-3368-9E8E-A11E-DAFE6932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AB7F1984-F11B-3880-6966-A659E6CC4B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A3E1D3F-E7F1-470B-8330-E8B3244248DC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EF5605B9-36DC-F00F-C6CE-CE15A187FE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0AD8B3D-38FF-CD7F-730A-4BE0EB59F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8C4A866-E311-3681-1995-E2A15AF2DC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C87F9BB-29A8-4646-B57F-45CF3B08F6B5}" type="slidenum">
              <a:rPr lang="en-US" altLang="en-US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5D9C5D7-49A6-4043-7648-06525CD801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B347475-86D6-AC69-BE27-1A412CE13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AEE9B96F-17B3-74C4-E063-342654598D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CFBB67A-D2A0-427A-A67E-0CB2F5CE10A3}" type="slidenum">
              <a:rPr lang="en-US" altLang="en-US"/>
              <a:pPr>
                <a:spcBef>
                  <a:spcPct val="0"/>
                </a:spcBef>
              </a:pPr>
              <a:t>56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F2F5E86-D700-BD33-77C9-121CA2100C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CD1689A-CFF9-05CD-4177-374694D02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0AFB9CE5-0F06-5640-5509-5035CCA53A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3221AC7-BA82-4010-A60D-72AFFC1A723D}" type="slidenum">
              <a:rPr lang="en-US" altLang="en-US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3596339-F3F0-D3F3-E85A-1542519DC0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9298A93-1EDF-2DD3-D6D4-8A9A772FEC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F98AB13-166A-A537-5F55-231B3F7F24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0DAA56-55B8-4CBF-B375-059AB7AD9ABF}" type="slidenum">
              <a:rPr lang="en-US" altLang="en-US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AD36B0CD-164A-CEC9-1A14-1DDCE489EB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965FC11-5A69-19AF-A02E-BDAFEE287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34C7C48E-9B6A-1C50-CE15-831DC910E5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28CBC19-4FE3-4BBA-8C3E-48F13F7A8162}" type="slidenum">
              <a:rPr lang="en-US" altLang="en-US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1EFBBF1-EA3E-31CF-955E-56FDCD7D40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E9CAD2D-D8CD-072B-9219-921EB042AB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B4C5D757-D22E-6113-73B6-29CEC81B1E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130F9C-B04A-4797-B964-E58F5322F281}" type="slidenum">
              <a:rPr lang="en-US" altLang="en-US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E3CCC6FA-DFBD-D03C-DDAA-8FB691C54A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63D56EB-5D52-826C-F3A5-38FA0DF35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1216946A-9DAD-71F2-C844-40EAD9738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9EF17E-D215-4FDA-BD87-F7A167B75C8A}" type="slidenum">
              <a:rPr lang="en-US" altLang="en-US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3D174EA-C67A-864E-B974-708D7368AA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C4423A7-6578-6CC1-D848-85F00A3F10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1E6E33BF-888B-00D8-76D1-3B692C2906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7ACAF70-D34E-4288-8337-5ED1BA318B66}" type="slidenum">
              <a:rPr lang="en-US" altLang="en-US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D3FBE14A-5639-35C6-F22F-546D7250DF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D7830977-3E49-1F94-675E-61AB7E8C8F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>
            <a:extLst>
              <a:ext uri="{FF2B5EF4-FFF2-40B4-BE49-F238E27FC236}">
                <a16:creationId xmlns:a16="http://schemas.microsoft.com/office/drawing/2014/main" id="{7137CF9E-3808-C3F7-1C3B-E7B8BA986D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BC104A-AA30-4C02-8022-E15E27C10794}" type="slidenum">
              <a:rPr lang="en-US" altLang="en-US"/>
              <a:pPr>
                <a:spcBef>
                  <a:spcPct val="0"/>
                </a:spcBef>
              </a:pPr>
              <a:t>63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56ECC3E0-2AD6-D736-C976-F37DB683EA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2825" cy="3427413"/>
          </a:xfrm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BCA95EC2-91D4-B580-D30B-3DAF962DAC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1813"/>
            <a:ext cx="502920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1AD39CD-262C-E53D-632C-86A8E6A352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472EFCE-14C7-4442-A788-F7F261CDBC52}" type="slidenum">
              <a:rPr lang="en-US" altLang="en-US"/>
              <a:pPr>
                <a:spcBef>
                  <a:spcPct val="0"/>
                </a:spcBef>
              </a:pPr>
              <a:t>64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A87D6F7-DD8B-8C46-AF6C-4CA3418865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86EEBCC-7560-AFD5-B6E3-DB90B9CCBB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47206BC1-4607-45ED-C164-E74F5A6C34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B1DE50C-94CD-437B-82DD-FAA27BAE7D53}" type="slidenum">
              <a:rPr lang="en-US" altLang="en-US"/>
              <a:pPr>
                <a:spcBef>
                  <a:spcPct val="0"/>
                </a:spcBef>
              </a:pPr>
              <a:t>66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3F1A835-ADC9-3F26-D5D3-0B613B72E8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CC665319-6810-1AD2-0946-85B7CC5130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F046231-27AD-0519-AC2B-34B8A11CB4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8FF516A-50F1-4D50-B64D-716716CE5481}" type="slidenum">
              <a:rPr lang="en-US" altLang="en-US"/>
              <a:pPr>
                <a:spcBef>
                  <a:spcPct val="0"/>
                </a:spcBef>
              </a:pPr>
              <a:t>68</a:t>
            </a:fld>
            <a:endParaRPr lang="en-US" altLang="en-US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DA36852-B143-D034-B829-0551644423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A34AD05F-BF40-8B71-704C-40619E7768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16292B3A-124D-71E5-3C53-37BDA0C3A5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BCF4E78-9049-43F8-A9DF-9A7BF1F811CB}" type="slidenum">
              <a:rPr lang="en-US" altLang="en-US"/>
              <a:pPr>
                <a:spcBef>
                  <a:spcPct val="0"/>
                </a:spcBef>
              </a:pPr>
              <a:t>69</a:t>
            </a:fld>
            <a:endParaRPr lang="en-US" altLang="en-US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D14C74B4-A787-8FB6-E2CB-3CF201E1FD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583E4FBF-61AC-79C8-790C-F615F1661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A00A35E6-9EF3-5723-D274-CD9F3BC147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7A8085-DE7C-47FA-B84C-F627EDFDAA77}" type="slidenum">
              <a:rPr lang="en-US" altLang="en-US"/>
              <a:pPr>
                <a:spcBef>
                  <a:spcPct val="0"/>
                </a:spcBef>
              </a:pPr>
              <a:t>70</a:t>
            </a:fld>
            <a:endParaRPr lang="en-US" altLang="en-US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3B8DAA3F-993E-F169-F7C0-61C1E80BB1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E599ED7-C3BD-648D-67EF-EFCEFAB0AB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59E4C346-1B81-02B9-66D1-997A42166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B521F4-89D0-4CD5-B242-0DB5C0ED89E7}" type="slidenum">
              <a:rPr lang="en-US" altLang="en-US"/>
              <a:pPr>
                <a:spcBef>
                  <a:spcPct val="0"/>
                </a:spcBef>
              </a:pPr>
              <a:t>71</a:t>
            </a:fld>
            <a:endParaRPr lang="en-US" altLang="en-US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994ADA3-AF3D-EFD9-9BE8-6A8ED1A40A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26743BFE-FA9D-AA61-2E26-AF72D206C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0B3B0132-0705-374E-4F55-02217AC0AB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E6FAA6-5DD8-4C81-BCAF-D5206BEAF793}" type="slidenum">
              <a:rPr lang="en-US" altLang="en-US"/>
              <a:pPr>
                <a:spcBef>
                  <a:spcPct val="0"/>
                </a:spcBef>
              </a:pPr>
              <a:t>72</a:t>
            </a:fld>
            <a:endParaRPr lang="en-US" altLang="en-US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E4C7D71F-B5A0-52D2-6A75-24E448C5C1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985F35D8-AF3A-EE5A-40E3-FCE6C00DC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84AE68E6-FD2B-563A-10F7-4F3AA5C6E2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9D9C6FC-5FDF-4E59-A7DB-A884E49E53F1}" type="slidenum">
              <a:rPr lang="en-US" altLang="en-US"/>
              <a:pPr>
                <a:spcBef>
                  <a:spcPct val="0"/>
                </a:spcBef>
              </a:pPr>
              <a:t>73</a:t>
            </a:fld>
            <a:endParaRPr lang="en-US" altLang="en-US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E82D8950-9102-9536-955D-0C09B26899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EAABD880-2525-E7C6-E3A4-73CB78C023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5BA6832F-8B32-3F13-ABDB-35E8409502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5EA836-E6A5-42B7-A42B-53A6025CC99F}" type="slidenum">
              <a:rPr lang="en-US" altLang="en-US"/>
              <a:pPr>
                <a:spcBef>
                  <a:spcPct val="0"/>
                </a:spcBef>
              </a:pPr>
              <a:t>74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28161CBD-01A0-22FB-55CA-FCE92AF98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8F67669-CE01-1F4F-93C2-10EE3F757C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C98B1-4E77-1292-3E42-60BF55B6E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384BF3-7CE4-2D0F-1349-1F812C2B5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878FE-2F19-4098-97C8-6D4529D3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5E54B-1395-6791-10D6-42955954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63D7-34A6-39E1-601B-7BDE40213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48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5A7D-8A41-135C-FB5F-84DAC2A60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D5CBA-E2F1-E196-E74B-BB6AEF1A4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EC812-863F-E72F-D86E-EF570930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0CD21-02E2-41AA-797E-91514A2F3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3203C-35A3-A6E9-186F-76BB17B6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05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D73B-BE1E-A861-C8A9-F2BD5809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AAF18-02B3-F861-6FEC-B2090A01B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F0A6-8959-E625-84BB-FB9FAC86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13FF2-2C6C-D4BA-9DFE-9A042902C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EDC25-2FE8-B32E-C277-EAD842CF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5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FEF0-F8AE-34A9-AC1B-609AB51FD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211FD-24F6-43DC-EF07-D1508CDF1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B1EB06-63E2-536F-5EE8-A2B091728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68B72-5569-5479-7D10-3FD2915DF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88A6-1D71-0CB3-DF8B-D6123EDEC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26C41-6131-62E2-07F2-5A3101750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067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E56F-4ECC-5695-6FFE-3A77320A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DCD25-DB32-04EC-1649-ADE5AB169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29534-49B2-0A8A-1800-40D01AF4B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71125-4703-7BA0-5D6C-2A5D8D731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19D93-A2FB-3F79-2760-114F133A3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A2AFB7-652F-5EF6-33CE-F34A2081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88935-8207-8F94-9C1E-5B2C80B7A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E9D3C-FFE7-A41D-2FA2-EA93E386B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23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4BC6-9CE7-29EF-0DC7-BF2E8A8E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3BEF37-AF2D-EFA8-99A1-3CDD218E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C1842-5960-12D1-3877-2BEC258C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6E9E0-8CF0-E14B-C588-6D3F7072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607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C32E5F-849C-511E-1EA3-302EE360F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87E6B4-4C71-9954-CB35-3F1050018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568C7-2F61-7C9E-9858-C786077A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0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25D0-6B5D-6248-41BF-3CF88D5EC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9B19E-F3AA-E4B8-ED44-3F1ADBCDA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3B27A-E2E2-B91C-DA9E-D5AD5BCD6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9DE5C-568C-4BFB-8126-123CC5809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3F1E6-90DC-BC61-3575-2DC8E1837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742F4-903F-38C3-8A42-D06056BC3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8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58C4-4130-EDA9-442D-138F2FE7A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B89F50-4172-61F6-3529-BDD93FC5FA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8566E-0FA9-61E9-1EBF-8D57AD0AF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833DD-0788-8E19-5A2A-E3B5339B6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F0AE7-0E94-3EA6-D2C0-97EAC0A18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0FF092-4EE2-58E4-53BC-1FEAA9342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89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9AEC-B8EB-567A-EF32-6BF705B69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A08FE-4D1A-4DB7-F3D4-69A8417FD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5454E-2D96-DEA4-6B38-3FE230885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618AD-B64F-8313-05C3-E9789DC0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F1A6C-B2AB-35F7-50A4-8543B070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14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20CDE-D2E5-CB19-8C71-3CF11CDAC3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C0CD6-0E9C-B875-D1B5-B6B4901A7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B9C6-C774-7076-E441-0F87909DA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5F2D9-60DD-AEA3-6892-5C347DF84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01B78-29D5-2E1D-A41D-48B3D56A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83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D013A9F-48A8-DCE6-5098-44C8E2A48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9BB46-20C1-4199-AF80-6097CC11E117}" type="datetime1">
              <a:rPr lang="en-US"/>
              <a:pPr>
                <a:defRPr/>
              </a:pPr>
              <a:t>1/30/2024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E5208D3-E4C9-0243-57F7-18748E181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FD5B794-CA5F-438B-B0BA-292EAAAE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F840DF-BF9B-4EBF-B2F2-5E81C5FD62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39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6AAF81-28AD-792C-FFC2-94235D02F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3C9114-5C43-C63D-9F8F-86CCE0443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34C0C-A78B-7AC8-8CD8-4B7ABAC3D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8921F-C957-4E3F-8FB0-83BC7412FD41}" type="datetimeFigureOut">
              <a:rPr lang="en-IN" smtClean="0"/>
              <a:t>30-01-2024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9ADAF-7898-33FA-BB92-35DAD6205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43B1-8130-58EA-BCF6-E4B3CE78D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2C0D00-BBDF-43B4-84CA-5EA061F7E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62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8117DBB-A629-4744-40EA-96F245AE9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1999" cy="2387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Informed Search</a:t>
            </a:r>
            <a:br>
              <a:rPr lang="en-US" altLang="en-US" dirty="0"/>
            </a:br>
            <a:r>
              <a:rPr lang="en-US" altLang="en-US" sz="3200" dirty="0"/>
              <a:t>(</a:t>
            </a:r>
            <a:r>
              <a:rPr lang="en-US" sz="3200" dirty="0"/>
              <a:t>Best-first search, Greedy best-first search, A* search, Local Search</a:t>
            </a:r>
            <a:r>
              <a:rPr lang="en-US" altLang="en-US" sz="3200" dirty="0"/>
              <a:t>)</a:t>
            </a:r>
            <a:endParaRPr lang="en-US" altLang="en-US" dirty="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AC37378-6B47-B7DA-BBEA-6F22A3FDE1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52600" y="3886200"/>
            <a:ext cx="8458200" cy="1752600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/>
              <a:t>(Based on slides of Bart Selman)</a:t>
            </a:r>
          </a:p>
        </p:txBody>
      </p:sp>
      <p:sp>
        <p:nvSpPr>
          <p:cNvPr id="3076" name="Slide Number Placeholder 3">
            <a:extLst>
              <a:ext uri="{FF2B5EF4-FFF2-40B4-BE49-F238E27FC236}">
                <a16:creationId xmlns:a16="http://schemas.microsoft.com/office/drawing/2014/main" id="{0A17894E-B4A5-7D22-CA1E-B73AAD74B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2519AA-377F-4652-88F7-C00CA231735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576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-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Search</a:t>
            </a:r>
          </a:p>
        </p:txBody>
      </p:sp>
      <p:sp>
        <p:nvSpPr>
          <p:cNvPr id="135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066800"/>
            <a:ext cx="8153400" cy="54864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b="1" i="1" dirty="0">
                <a:solidFill>
                  <a:schemeClr val="accent2"/>
                </a:solidFill>
              </a:rPr>
              <a:t>Search strategies determined by choice of node (in queue) to expand</a:t>
            </a:r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r>
              <a:rPr lang="en-US" sz="2400" i="1" u="sng" dirty="0">
                <a:solidFill>
                  <a:srgbClr val="FF0000"/>
                </a:solidFill>
              </a:rPr>
              <a:t>Uninformed</a:t>
            </a:r>
            <a:r>
              <a:rPr lang="en-US" sz="2400" dirty="0"/>
              <a:t> search: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8000"/>
                </a:solidFill>
              </a:rPr>
              <a:t>Distance to goal not taken into account</a:t>
            </a:r>
          </a:p>
          <a:p>
            <a:pPr marL="457200" lvl="1" indent="0">
              <a:buNone/>
              <a:defRPr/>
            </a:pPr>
            <a:endParaRPr lang="en-US" dirty="0">
              <a:solidFill>
                <a:srgbClr val="008000"/>
              </a:solidFill>
            </a:endParaRPr>
          </a:p>
          <a:p>
            <a:pPr eaLnBrk="1" hangingPunct="1">
              <a:defRPr/>
            </a:pPr>
            <a:r>
              <a:rPr lang="en-US" sz="2400" i="1" u="sng" dirty="0">
                <a:solidFill>
                  <a:srgbClr val="FF0000"/>
                </a:solidFill>
              </a:rPr>
              <a:t>Informed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search :</a:t>
            </a:r>
          </a:p>
          <a:p>
            <a:pPr lvl="1" eaLnBrk="1" hangingPunct="1">
              <a:defRPr/>
            </a:pPr>
            <a:r>
              <a:rPr lang="en-US" dirty="0">
                <a:solidFill>
                  <a:srgbClr val="008000"/>
                </a:solidFill>
              </a:rPr>
              <a:t>Information about cost to goal taken into account</a:t>
            </a:r>
          </a:p>
          <a:p>
            <a:pPr lvl="1" eaLnBrk="1" hangingPunct="1">
              <a:defRPr/>
            </a:pPr>
            <a:endParaRPr lang="en-US" dirty="0">
              <a:solidFill>
                <a:srgbClr val="008000"/>
              </a:solidFill>
            </a:endParaRPr>
          </a:p>
          <a:p>
            <a:pPr eaLnBrk="1" hangingPunct="1">
              <a:defRPr/>
            </a:pPr>
            <a:r>
              <a:rPr lang="en-US" sz="2400" b="1" dirty="0">
                <a:solidFill>
                  <a:srgbClr val="FF0000"/>
                </a:solidFill>
              </a:rPr>
              <a:t>Aside: </a:t>
            </a:r>
            <a:r>
              <a:rPr lang="en-US" sz="2400" b="1" dirty="0">
                <a:solidFill>
                  <a:schemeClr val="accent2"/>
                </a:solidFill>
              </a:rPr>
              <a:t>“Cleverness” about what option to explore next, </a:t>
            </a:r>
            <a:r>
              <a:rPr lang="en-US" sz="2400" b="1" dirty="0">
                <a:solidFill>
                  <a:srgbClr val="FF0000"/>
                </a:solidFill>
              </a:rPr>
              <a:t>almost seems a hallmark of intelligence</a:t>
            </a:r>
            <a:r>
              <a:rPr lang="en-US" sz="2400" b="1" dirty="0">
                <a:solidFill>
                  <a:schemeClr val="accent2"/>
                </a:solidFill>
              </a:rPr>
              <a:t>. E.g., a sense of what might be a good move in chess or what step to try next in a mathematical proof. </a:t>
            </a:r>
            <a:r>
              <a:rPr lang="en-US" sz="2400" b="1" dirty="0">
                <a:solidFill>
                  <a:srgbClr val="FF0000"/>
                </a:solidFill>
              </a:rPr>
              <a:t>We don’t do blind search…</a:t>
            </a:r>
          </a:p>
          <a:p>
            <a:pPr eaLnBrk="1" hangingPunct="1">
              <a:defRPr/>
            </a:pPr>
            <a:endParaRPr lang="en-US" sz="2400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5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5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5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5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5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5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135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135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35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35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358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"/>
            <a:ext cx="9661525" cy="573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2" name="TextBox 2"/>
          <p:cNvSpPr txBox="1">
            <a:spLocks noChangeArrowheads="1"/>
          </p:cNvSpPr>
          <p:nvPr/>
        </p:nvSpPr>
        <p:spPr bwMode="auto">
          <a:xfrm>
            <a:off x="4876800" y="4876800"/>
            <a:ext cx="2910156" cy="36933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 dirty="0">
                <a:solidFill>
                  <a:srgbClr val="3333CC"/>
                </a:solidFill>
              </a:rPr>
              <a:t>A breadth-first search tree. </a:t>
            </a:r>
            <a:endParaRPr lang="en-US" sz="1600" b="1" dirty="0">
              <a:solidFill>
                <a:srgbClr val="3333CC"/>
              </a:solidFill>
            </a:endParaRPr>
          </a:p>
        </p:txBody>
      </p:sp>
      <p:sp>
        <p:nvSpPr>
          <p:cNvPr id="25603" name="TextBox 3"/>
          <p:cNvSpPr txBox="1">
            <a:spLocks noChangeArrowheads="1"/>
          </p:cNvSpPr>
          <p:nvPr/>
        </p:nvSpPr>
        <p:spPr bwMode="auto">
          <a:xfrm>
            <a:off x="6553201" y="304800"/>
            <a:ext cx="1317625" cy="400050"/>
          </a:xfrm>
          <a:prstGeom prst="rect">
            <a:avLst/>
          </a:prstGeom>
          <a:solidFill>
            <a:schemeClr val="bg1">
              <a:alpha val="8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3333CC"/>
                </a:solidFill>
              </a:rPr>
              <a:t>Start state</a:t>
            </a:r>
          </a:p>
        </p:txBody>
      </p:sp>
      <p:sp>
        <p:nvSpPr>
          <p:cNvPr id="25604" name="Rectangle 5"/>
          <p:cNvSpPr>
            <a:spLocks noChangeArrowheads="1"/>
          </p:cNvSpPr>
          <p:nvPr/>
        </p:nvSpPr>
        <p:spPr bwMode="auto">
          <a:xfrm>
            <a:off x="7010401" y="4495800"/>
            <a:ext cx="732893" cy="400110"/>
          </a:xfrm>
          <a:prstGeom prst="rect">
            <a:avLst/>
          </a:prstGeom>
          <a:solidFill>
            <a:schemeClr val="bg1">
              <a:alpha val="8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Goal</a:t>
            </a:r>
          </a:p>
        </p:txBody>
      </p:sp>
      <p:sp>
        <p:nvSpPr>
          <p:cNvPr id="24582" name="TextBox 4"/>
          <p:cNvSpPr txBox="1">
            <a:spLocks noChangeArrowheads="1"/>
          </p:cNvSpPr>
          <p:nvPr/>
        </p:nvSpPr>
        <p:spPr bwMode="auto">
          <a:xfrm>
            <a:off x="5257800" y="304800"/>
            <a:ext cx="762000" cy="400050"/>
          </a:xfrm>
          <a:prstGeom prst="rect">
            <a:avLst/>
          </a:prstGeom>
          <a:solidFill>
            <a:schemeClr val="accent1">
              <a:alpha val="32156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FF0000"/>
                </a:solidFill>
              </a:rPr>
              <a:t>d = 5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3962401" y="1143000"/>
            <a:ext cx="782587" cy="369332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 &gt;= 5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4584" name="Rectangle 13"/>
          <p:cNvSpPr>
            <a:spLocks noChangeArrowheads="1"/>
          </p:cNvSpPr>
          <p:nvPr/>
        </p:nvSpPr>
        <p:spPr bwMode="auto">
          <a:xfrm>
            <a:off x="5486401" y="2057400"/>
            <a:ext cx="782587" cy="369332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 &gt;= 4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4585" name="Rectangle 14"/>
          <p:cNvSpPr>
            <a:spLocks noChangeArrowheads="1"/>
          </p:cNvSpPr>
          <p:nvPr/>
        </p:nvSpPr>
        <p:spPr bwMode="auto">
          <a:xfrm>
            <a:off x="8001001" y="2057400"/>
            <a:ext cx="782587" cy="369332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 &gt;= 3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4586" name="Rectangle 15"/>
          <p:cNvSpPr>
            <a:spLocks noChangeArrowheads="1"/>
          </p:cNvSpPr>
          <p:nvPr/>
        </p:nvSpPr>
        <p:spPr bwMode="auto">
          <a:xfrm>
            <a:off x="6934201" y="2057400"/>
            <a:ext cx="659155" cy="369332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 = 3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4587" name="Rectangle 16"/>
          <p:cNvSpPr>
            <a:spLocks noChangeArrowheads="1"/>
          </p:cNvSpPr>
          <p:nvPr/>
        </p:nvSpPr>
        <p:spPr bwMode="auto">
          <a:xfrm>
            <a:off x="8229601" y="1143000"/>
            <a:ext cx="782587" cy="369332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 &gt;= 4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4588" name="Rectangle 17"/>
          <p:cNvSpPr>
            <a:spLocks noChangeArrowheads="1"/>
          </p:cNvSpPr>
          <p:nvPr/>
        </p:nvSpPr>
        <p:spPr bwMode="auto">
          <a:xfrm>
            <a:off x="6477001" y="1143000"/>
            <a:ext cx="659155" cy="369332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 = 4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4589" name="TextBox 12"/>
          <p:cNvSpPr txBox="1">
            <a:spLocks noChangeArrowheads="1"/>
          </p:cNvSpPr>
          <p:nvPr/>
        </p:nvSpPr>
        <p:spPr bwMode="auto">
          <a:xfrm>
            <a:off x="1752601" y="152401"/>
            <a:ext cx="314833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i="1" dirty="0">
                <a:solidFill>
                  <a:srgbClr val="FF0000"/>
                </a:solidFill>
              </a:rPr>
              <a:t>Reminder: Perfect distance</a:t>
            </a:r>
          </a:p>
          <a:p>
            <a:pPr eaLnBrk="1" hangingPunct="1"/>
            <a:r>
              <a:rPr lang="en-US" sz="2000" b="1" i="1" dirty="0">
                <a:solidFill>
                  <a:srgbClr val="FF0000"/>
                </a:solidFill>
              </a:rPr>
              <a:t>to goal info.</a:t>
            </a:r>
          </a:p>
          <a:p>
            <a:pPr eaLnBrk="1" hangingPunct="1"/>
            <a:r>
              <a:rPr lang="en-US" sz="2000" b="1" i="1" dirty="0">
                <a:solidFill>
                  <a:srgbClr val="FF0000"/>
                </a:solidFill>
              </a:rPr>
              <a:t>Eliminates search.</a:t>
            </a:r>
          </a:p>
        </p:txBody>
      </p:sp>
      <p:sp>
        <p:nvSpPr>
          <p:cNvPr id="25614" name="TextBox 18"/>
          <p:cNvSpPr txBox="1">
            <a:spLocks noChangeArrowheads="1"/>
          </p:cNvSpPr>
          <p:nvPr/>
        </p:nvSpPr>
        <p:spPr bwMode="auto">
          <a:xfrm>
            <a:off x="8229601" y="0"/>
            <a:ext cx="2354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3333CC"/>
                </a:solidFill>
              </a:rPr>
              <a:t>d = min dist. to goal</a:t>
            </a:r>
          </a:p>
        </p:txBody>
      </p:sp>
      <p:sp>
        <p:nvSpPr>
          <p:cNvPr id="24592" name="Rectangle 21"/>
          <p:cNvSpPr>
            <a:spLocks noChangeArrowheads="1"/>
          </p:cNvSpPr>
          <p:nvPr/>
        </p:nvSpPr>
        <p:spPr bwMode="auto">
          <a:xfrm>
            <a:off x="6934201" y="2738438"/>
            <a:ext cx="735013" cy="400050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d = 2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4593" name="Rectangle 22"/>
          <p:cNvSpPr>
            <a:spLocks noChangeArrowheads="1"/>
          </p:cNvSpPr>
          <p:nvPr/>
        </p:nvSpPr>
        <p:spPr bwMode="auto">
          <a:xfrm>
            <a:off x="6889750" y="3500438"/>
            <a:ext cx="730250" cy="400050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d = 1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4594" name="Rectangle 23"/>
          <p:cNvSpPr>
            <a:spLocks noChangeArrowheads="1"/>
          </p:cNvSpPr>
          <p:nvPr/>
        </p:nvSpPr>
        <p:spPr bwMode="auto">
          <a:xfrm>
            <a:off x="7010400" y="4114800"/>
            <a:ext cx="730250" cy="400050"/>
          </a:xfrm>
          <a:prstGeom prst="rect">
            <a:avLst/>
          </a:prstGeom>
          <a:solidFill>
            <a:schemeClr val="accent1">
              <a:alpha val="4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d = 0</a:t>
            </a: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5791200" y="1219201"/>
            <a:ext cx="954088" cy="461963"/>
          </a:xfrm>
          <a:prstGeom prst="rect">
            <a:avLst/>
          </a:prstGeom>
          <a:solidFill>
            <a:srgbClr val="FFFF00">
              <a:alpha val="6196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3333CC"/>
                </a:solidFill>
              </a:rPr>
              <a:t>Select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858001" y="1981200"/>
            <a:ext cx="856325" cy="369332"/>
          </a:xfrm>
          <a:prstGeom prst="rect">
            <a:avLst/>
          </a:prstGeom>
          <a:solidFill>
            <a:srgbClr val="FFFF00">
              <a:alpha val="5882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33CC"/>
                </a:solidFill>
              </a:rPr>
              <a:t>Select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96201" y="4114800"/>
            <a:ext cx="782587" cy="369332"/>
          </a:xfrm>
          <a:prstGeom prst="rect">
            <a:avLst/>
          </a:prstGeom>
          <a:solidFill>
            <a:schemeClr val="accent1">
              <a:alpha val="4313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d &gt;= 1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18314" y="2743200"/>
            <a:ext cx="856325" cy="369332"/>
          </a:xfrm>
          <a:prstGeom prst="rect">
            <a:avLst/>
          </a:prstGeom>
          <a:solidFill>
            <a:srgbClr val="FFFF00">
              <a:alpha val="6392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33CC"/>
                </a:solidFill>
              </a:rPr>
              <a:t>Select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34201" y="3424238"/>
            <a:ext cx="856325" cy="369332"/>
          </a:xfrm>
          <a:prstGeom prst="rect">
            <a:avLst/>
          </a:prstGeom>
          <a:solidFill>
            <a:srgbClr val="FFFF00">
              <a:alpha val="6117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33CC"/>
                </a:solidFill>
              </a:rPr>
              <a:t>Select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94514" y="4033838"/>
            <a:ext cx="856325" cy="369332"/>
          </a:xfrm>
          <a:prstGeom prst="rect">
            <a:avLst/>
          </a:prstGeom>
          <a:solidFill>
            <a:srgbClr val="FFFF00">
              <a:alpha val="5098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3333CC"/>
                </a:solidFill>
              </a:rPr>
              <a:t>Select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5638802"/>
            <a:ext cx="7162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Practice: </a:t>
            </a:r>
          </a:p>
          <a:p>
            <a:r>
              <a:rPr lang="en-US" sz="2000" b="1" dirty="0">
                <a:solidFill>
                  <a:schemeClr val="accent2"/>
                </a:solidFill>
              </a:rPr>
              <a:t>Only have estimate of distance to goal (“heuristic information”).</a:t>
            </a:r>
          </a:p>
        </p:txBody>
      </p:sp>
    </p:spTree>
    <p:extLst>
      <p:ext uri="{BB962C8B-B14F-4D97-AF65-F5344CB8AC3E}">
        <p14:creationId xmlns:p14="http://schemas.microsoft.com/office/powerpoint/2010/main" val="136767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2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2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2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24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24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24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24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4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9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9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4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4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nimBg="1"/>
      <p:bldP spid="25603" grpId="0" animBg="1"/>
      <p:bldP spid="25604" grpId="0" animBg="1"/>
      <p:bldP spid="24582" grpId="0" animBg="1"/>
      <p:bldP spid="24583" grpId="0" animBg="1"/>
      <p:bldP spid="24584" grpId="0" animBg="1"/>
      <p:bldP spid="24585" grpId="0" animBg="1"/>
      <p:bldP spid="24586" grpId="0" animBg="1"/>
      <p:bldP spid="24587" grpId="0" animBg="1"/>
      <p:bldP spid="24588" grpId="0" animBg="1"/>
      <p:bldP spid="24589" grpId="0"/>
      <p:bldP spid="25614" grpId="0"/>
      <p:bldP spid="24592" grpId="0" animBg="1"/>
      <p:bldP spid="24593" grpId="0" animBg="1"/>
      <p:bldP spid="24594" grpId="0" animBg="1"/>
      <p:bldP spid="2" grpId="0" animBg="1"/>
      <p:bldP spid="3" grpId="0" animBg="1"/>
      <p:bldP spid="4" grpId="0" animBg="1"/>
      <p:bldP spid="5" grpId="0" animBg="1"/>
      <p:bldP spid="5" grpId="1" animBg="1"/>
      <p:bldP spid="6" grpId="0" animBg="1"/>
      <p:bldP spid="8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639" y="1"/>
            <a:ext cx="9661525" cy="573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TextBox 2"/>
          <p:cNvSpPr txBox="1">
            <a:spLocks noChangeArrowheads="1"/>
          </p:cNvSpPr>
          <p:nvPr/>
        </p:nvSpPr>
        <p:spPr bwMode="auto">
          <a:xfrm>
            <a:off x="4267200" y="4800600"/>
            <a:ext cx="2910156" cy="369332"/>
          </a:xfrm>
          <a:prstGeom prst="rect">
            <a:avLst/>
          </a:prstGeom>
          <a:solidFill>
            <a:schemeClr val="bg1">
              <a:alpha val="9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>
                <a:solidFill>
                  <a:srgbClr val="3333CC"/>
                </a:solidFill>
              </a:rPr>
              <a:t>A breadth-first search tree. </a:t>
            </a:r>
            <a:endParaRPr lang="en-US" sz="1600" b="1">
              <a:solidFill>
                <a:srgbClr val="3333CC"/>
              </a:solidFill>
            </a:endParaRPr>
          </a:p>
        </p:txBody>
      </p:sp>
      <p:sp>
        <p:nvSpPr>
          <p:cNvPr id="27651" name="TextBox 3"/>
          <p:cNvSpPr txBox="1">
            <a:spLocks noChangeArrowheads="1"/>
          </p:cNvSpPr>
          <p:nvPr/>
        </p:nvSpPr>
        <p:spPr bwMode="auto">
          <a:xfrm>
            <a:off x="6553201" y="304800"/>
            <a:ext cx="1317625" cy="400050"/>
          </a:xfrm>
          <a:prstGeom prst="rect">
            <a:avLst/>
          </a:prstGeom>
          <a:solidFill>
            <a:schemeClr val="bg1">
              <a:alpha val="8509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3333CC"/>
                </a:solidFill>
              </a:rPr>
              <a:t>Start state</a:t>
            </a:r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7086601" y="4572000"/>
            <a:ext cx="732893" cy="400110"/>
          </a:xfrm>
          <a:prstGeom prst="rect">
            <a:avLst/>
          </a:prstGeom>
          <a:solidFill>
            <a:schemeClr val="bg1">
              <a:alpha val="87842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</a:rPr>
              <a:t>Goal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200400" y="5334000"/>
            <a:ext cx="419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>
                <a:solidFill>
                  <a:srgbClr val="009973"/>
                </a:solidFill>
              </a:rPr>
              <a:t>Perfect “heuristics,” eliminates search.</a:t>
            </a:r>
          </a:p>
        </p:txBody>
      </p:sp>
      <p:sp>
        <p:nvSpPr>
          <p:cNvPr id="2" name="Oval 1"/>
          <p:cNvSpPr/>
          <p:nvPr/>
        </p:nvSpPr>
        <p:spPr>
          <a:xfrm>
            <a:off x="6096000" y="152400"/>
            <a:ext cx="457200" cy="1828800"/>
          </a:xfrm>
          <a:prstGeom prst="ellipse">
            <a:avLst/>
          </a:prstGeom>
          <a:solidFill>
            <a:schemeClr val="accent1">
              <a:alpha val="4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imes New Roman"/>
              <a:ea typeface="ＭＳ Ｐゴシック"/>
            </a:endParaRPr>
          </a:p>
        </p:txBody>
      </p:sp>
      <p:sp>
        <p:nvSpPr>
          <p:cNvPr id="11" name="Oval 10"/>
          <p:cNvSpPr/>
          <p:nvPr/>
        </p:nvSpPr>
        <p:spPr>
          <a:xfrm rot="16843747">
            <a:off x="6584950" y="1328738"/>
            <a:ext cx="457200" cy="1219200"/>
          </a:xfrm>
          <a:prstGeom prst="ellipse">
            <a:avLst/>
          </a:prstGeom>
          <a:solidFill>
            <a:schemeClr val="accent1">
              <a:alpha val="5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imes New Roman"/>
              <a:ea typeface="ＭＳ Ｐゴシック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162800" y="1981200"/>
            <a:ext cx="457200" cy="2514600"/>
          </a:xfrm>
          <a:prstGeom prst="ellipse">
            <a:avLst/>
          </a:prstGeom>
          <a:solidFill>
            <a:schemeClr val="accent1">
              <a:alpha val="6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imes New Roman"/>
              <a:ea typeface="ＭＳ Ｐゴシック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200400" y="5715000"/>
            <a:ext cx="6858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6600"/>
                </a:solidFill>
              </a:rPr>
              <a:t>Approximate heuristics, significantly reduces search.</a:t>
            </a:r>
          </a:p>
          <a:p>
            <a:r>
              <a:rPr lang="en-US" b="1" dirty="0">
                <a:solidFill>
                  <a:srgbClr val="FF6600"/>
                </a:solidFill>
              </a:rPr>
              <a:t>Best (provably) use of search heuristic info: Best-first / A*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28601"/>
            <a:ext cx="4038600" cy="258532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</a:rPr>
              <a:t>Basic idea: State evaluation function can effectively guide search.</a:t>
            </a:r>
          </a:p>
          <a:p>
            <a:pPr>
              <a:defRPr/>
            </a:pPr>
            <a:endParaRPr lang="en-US" b="1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000000"/>
                </a:solidFill>
              </a:rPr>
              <a:t>Also in multi-agent settings. (Chess: board </a:t>
            </a:r>
            <a:r>
              <a:rPr lang="en-US" b="1" dirty="0" err="1">
                <a:solidFill>
                  <a:srgbClr val="000000"/>
                </a:solidFill>
              </a:rPr>
              <a:t>eval</a:t>
            </a:r>
            <a:r>
              <a:rPr lang="en-US" b="1" dirty="0">
                <a:solidFill>
                  <a:srgbClr val="000000"/>
                </a:solidFill>
              </a:rPr>
              <a:t>.)</a:t>
            </a:r>
          </a:p>
          <a:p>
            <a:pPr>
              <a:defRPr/>
            </a:pPr>
            <a:endParaRPr lang="en-US" b="1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000000"/>
                </a:solidFill>
              </a:rPr>
              <a:t>Reinforcement learning: Learn the state </a:t>
            </a:r>
            <a:r>
              <a:rPr lang="en-US" b="1" dirty="0" err="1">
                <a:solidFill>
                  <a:srgbClr val="000000"/>
                </a:solidFill>
              </a:rPr>
              <a:t>eval</a:t>
            </a:r>
            <a:r>
              <a:rPr lang="en-US" b="1" dirty="0">
                <a:solidFill>
                  <a:srgbClr val="000000"/>
                </a:solidFill>
              </a:rPr>
              <a:t> function.</a:t>
            </a:r>
          </a:p>
          <a:p>
            <a:pPr>
              <a:defRPr/>
            </a:pP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3" name="Trapezoid 2"/>
          <p:cNvSpPr/>
          <p:nvPr/>
        </p:nvSpPr>
        <p:spPr>
          <a:xfrm>
            <a:off x="5410200" y="152400"/>
            <a:ext cx="2438400" cy="2133600"/>
          </a:xfrm>
          <a:prstGeom prst="trapezoid">
            <a:avLst>
              <a:gd name="adj" fmla="val 37897"/>
            </a:avLst>
          </a:prstGeom>
          <a:solidFill>
            <a:srgbClr val="FF0000">
              <a:alpha val="4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imes New Roman"/>
              <a:ea typeface="ＭＳ Ｐゴシック"/>
            </a:endParaRPr>
          </a:p>
        </p:txBody>
      </p:sp>
      <p:sp>
        <p:nvSpPr>
          <p:cNvPr id="14" name="Trapezoid 13"/>
          <p:cNvSpPr/>
          <p:nvPr/>
        </p:nvSpPr>
        <p:spPr>
          <a:xfrm rot="10800000">
            <a:off x="5410200" y="2286000"/>
            <a:ext cx="2438400" cy="2209800"/>
          </a:xfrm>
          <a:prstGeom prst="trapezoid">
            <a:avLst>
              <a:gd name="adj" fmla="val 13169"/>
            </a:avLst>
          </a:prstGeom>
          <a:solidFill>
            <a:srgbClr val="FF0000">
              <a:alpha val="4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FFFFFF"/>
              </a:solidFill>
              <a:latin typeface="Times New Roman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26118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2" grpId="1" animBg="1"/>
      <p:bldP spid="11" grpId="0" animBg="1"/>
      <p:bldP spid="11" grpId="1" animBg="1"/>
      <p:bldP spid="12" grpId="0" animBg="1"/>
      <p:bldP spid="12" grpId="1" animBg="1"/>
      <p:bldP spid="5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457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Outline</a:t>
            </a:r>
          </a:p>
        </p:txBody>
      </p:sp>
      <p:sp>
        <p:nvSpPr>
          <p:cNvPr id="131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4600" y="2438400"/>
            <a:ext cx="7620000" cy="2514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r>
              <a:rPr lang="en-US" sz="2400" b="1" dirty="0">
                <a:solidFill>
                  <a:schemeClr val="accent6"/>
                </a:solidFill>
              </a:rPr>
              <a:t>Best-first search</a:t>
            </a: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r>
              <a:rPr lang="en-US" sz="2400" b="1" dirty="0">
                <a:solidFill>
                  <a:schemeClr val="accent6"/>
                </a:solidFill>
              </a:rPr>
              <a:t>Greedy best-first search</a:t>
            </a: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r>
              <a:rPr lang="en-US" sz="2400" b="1" dirty="0">
                <a:solidFill>
                  <a:schemeClr val="accent6"/>
                </a:solidFill>
              </a:rPr>
              <a:t>A</a:t>
            </a:r>
            <a:r>
              <a:rPr lang="en-US" sz="2400" b="1" baseline="30000" dirty="0">
                <a:solidFill>
                  <a:schemeClr val="accent6"/>
                </a:solidFill>
              </a:rPr>
              <a:t>*</a:t>
            </a:r>
            <a:r>
              <a:rPr lang="en-US" sz="2400" b="1" dirty="0">
                <a:solidFill>
                  <a:schemeClr val="accent6"/>
                </a:solidFill>
              </a:rPr>
              <a:t> search</a:t>
            </a:r>
          </a:p>
          <a:p>
            <a:pPr eaLnBrk="1" hangingPunct="1">
              <a:lnSpc>
                <a:spcPct val="90000"/>
              </a:lnSpc>
              <a:buFontTx/>
              <a:buChar char="•"/>
              <a:defRPr/>
            </a:pPr>
            <a:r>
              <a:rPr lang="en-US" sz="2400" b="1" dirty="0">
                <a:solidFill>
                  <a:schemeClr val="accent6"/>
                </a:solidFill>
              </a:rPr>
              <a:t>Heuristics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-152400"/>
            <a:ext cx="8991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General Tree Search Paradigm</a:t>
            </a:r>
          </a:p>
        </p:txBody>
      </p:sp>
      <p:sp>
        <p:nvSpPr>
          <p:cNvPr id="135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762000"/>
            <a:ext cx="9220200" cy="571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CFB8E1-9621-CBA8-EF78-421050F0D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964163"/>
            <a:ext cx="8305800" cy="337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4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-152400"/>
            <a:ext cx="8991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General Tree Search Paradigm</a:t>
            </a:r>
          </a:p>
        </p:txBody>
      </p:sp>
      <p:sp>
        <p:nvSpPr>
          <p:cNvPr id="135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762000"/>
            <a:ext cx="9220200" cy="5715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cs typeface="+mn-cs"/>
              </a:rPr>
              <a:t>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E7585D-0D8A-D0FF-C449-BA696AA19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143000"/>
            <a:ext cx="7571974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822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-152400"/>
            <a:ext cx="8991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How to take information into account? Best-first search.</a:t>
            </a:r>
          </a:p>
        </p:txBody>
      </p:sp>
      <p:sp>
        <p:nvSpPr>
          <p:cNvPr id="135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47800" y="762000"/>
            <a:ext cx="9220200" cy="5715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chemeClr val="accent2"/>
                </a:solidFill>
              </a:rPr>
              <a:t>Idea : use an evaluation function for each node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/>
              <a:t>Estimate of “desirability” of node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/>
              <a:t>Expand most desirable unexpanded node first (“best-first search”)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/>
              <a:t>Heuristic Functions :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i="1" dirty="0"/>
              <a:t> f</a:t>
            </a:r>
            <a:r>
              <a:rPr lang="en-US" dirty="0"/>
              <a:t>:  States  </a:t>
            </a:r>
            <a:r>
              <a:rPr lang="en-US" dirty="0">
                <a:sym typeface="Wingdings" charset="0"/>
              </a:rPr>
              <a:t></a:t>
            </a:r>
            <a:r>
              <a:rPr lang="en-US" dirty="0"/>
              <a:t>   Numbers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i="1" dirty="0"/>
              <a:t> f(n)</a:t>
            </a:r>
            <a:r>
              <a:rPr lang="en-US" dirty="0"/>
              <a:t>: expresses the quality of the state </a:t>
            </a:r>
            <a:r>
              <a:rPr lang="en-US" i="1" dirty="0"/>
              <a:t>n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en-US" sz="2000" dirty="0"/>
              <a:t>Allows us to express problem-specific knowledge, </a:t>
            </a:r>
          </a:p>
          <a:p>
            <a:pPr lvl="3" eaLnBrk="1" hangingPunct="1">
              <a:lnSpc>
                <a:spcPct val="80000"/>
              </a:lnSpc>
              <a:defRPr/>
            </a:pPr>
            <a:r>
              <a:rPr lang="en-US" sz="2000" dirty="0"/>
              <a:t>Can be imported in a generic way in the algorithms.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/>
              <a:t>Use uniform-cost search. See Figure 3.14 but use f(n) instead of path cost g(n).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dirty="0"/>
              <a:t>Queuing based on f(n):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sym typeface="Wingdings" charset="0"/>
              </a:rPr>
              <a:t>		   </a:t>
            </a:r>
            <a:r>
              <a:rPr lang="en-US" sz="2400" b="1" dirty="0">
                <a:solidFill>
                  <a:srgbClr val="FF0000"/>
                </a:solidFill>
              </a:rPr>
              <a:t>Order the nodes in fringe in decreasing order of desirability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/>
              <a:t>
      </a:t>
            </a:r>
            <a:r>
              <a:rPr lang="en-US" sz="2400" b="1" dirty="0">
                <a:solidFill>
                  <a:schemeClr val="accent2"/>
                </a:solidFill>
              </a:rPr>
              <a:t>Special cases: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2200" b="1" dirty="0">
                <a:solidFill>
                  <a:schemeClr val="accent2"/>
                </a:solidFill>
              </a:rPr>
              <a:t>greedy best-first search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2200" b="1" dirty="0">
                <a:solidFill>
                  <a:schemeClr val="accent2"/>
                </a:solidFill>
              </a:rPr>
              <a:t>A</a:t>
            </a:r>
            <a:r>
              <a:rPr lang="en-US" sz="2200" b="1" baseline="30000" dirty="0">
                <a:solidFill>
                  <a:schemeClr val="accent2"/>
                </a:solidFill>
              </a:rPr>
              <a:t>*</a:t>
            </a:r>
            <a:r>
              <a:rPr lang="en-US" sz="2200" b="1" dirty="0">
                <a:solidFill>
                  <a:schemeClr val="accent2"/>
                </a:solidFill>
              </a:rPr>
              <a:t> search</a:t>
            </a:r>
            <a:r>
              <a:rPr lang="en-US" sz="2200" dirty="0"/>
              <a:t>
</a:t>
            </a:r>
          </a:p>
          <a:p>
            <a:pPr lvl="2" eaLnBrk="1" hangingPunct="1">
              <a:lnSpc>
                <a:spcPct val="80000"/>
              </a:lnSpc>
              <a:defRPr/>
            </a:pPr>
            <a:endParaRPr lang="en-US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5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5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5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5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5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5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5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5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5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5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5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5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5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59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5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5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5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5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35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5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59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59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8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598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598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97159" y="-381000"/>
            <a:ext cx="6718041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Romanian path finding problem</a:t>
            </a:r>
          </a:p>
        </p:txBody>
      </p:sp>
      <p:pic>
        <p:nvPicPr>
          <p:cNvPr id="9218" name="Picture 3" descr="romani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19200"/>
            <a:ext cx="8229600" cy="403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Box 1"/>
          <p:cNvSpPr txBox="1">
            <a:spLocks noChangeArrowheads="1"/>
          </p:cNvSpPr>
          <p:nvPr/>
        </p:nvSpPr>
        <p:spPr bwMode="auto">
          <a:xfrm>
            <a:off x="1828800" y="5410200"/>
            <a:ext cx="80899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chemeClr val="accent2"/>
                </a:solidFill>
              </a:rPr>
              <a:t>Searching for good path from Arad to Bucharest,</a:t>
            </a:r>
          </a:p>
          <a:p>
            <a:pPr eaLnBrk="1" hangingPunct="1"/>
            <a:r>
              <a:rPr lang="en-US" b="1" dirty="0">
                <a:solidFill>
                  <a:schemeClr val="accent2"/>
                </a:solidFill>
              </a:rPr>
              <a:t>what is a reasonable “desirability measure” to expand nodes </a:t>
            </a:r>
          </a:p>
          <a:p>
            <a:pPr eaLnBrk="1" hangingPunct="1"/>
            <a:r>
              <a:rPr lang="en-US" b="1" dirty="0">
                <a:solidFill>
                  <a:schemeClr val="accent2"/>
                </a:solidFill>
              </a:rPr>
              <a:t>on the fringe?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01001" y="685801"/>
            <a:ext cx="2028569" cy="646331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4"/>
                </a:solidFill>
              </a:rPr>
              <a:t>Straight-line</a:t>
            </a:r>
          </a:p>
          <a:p>
            <a:pPr>
              <a:defRPr/>
            </a:pPr>
            <a:r>
              <a:rPr lang="en-US" b="1" dirty="0">
                <a:solidFill>
                  <a:schemeClr val="accent4"/>
                </a:solidFill>
              </a:rPr>
              <a:t>dist. to Bucharest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1000" y="685800"/>
            <a:ext cx="2514600" cy="3416320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76800" y="685801"/>
            <a:ext cx="23101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Base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eg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on GPS info.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 map needed.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86000" y="3429000"/>
            <a:ext cx="3733800" cy="99060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657600" y="2819400"/>
            <a:ext cx="2362200" cy="1600200"/>
          </a:xfrm>
          <a:prstGeom prst="line">
            <a:avLst/>
          </a:prstGeom>
          <a:ln w="508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438400" y="1905000"/>
            <a:ext cx="3429000" cy="2438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343400" y="304800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253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069" y="3195935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905000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374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3" grpId="0" animBg="1"/>
      <p:bldP spid="4" grpId="0"/>
      <p:bldP spid="9" grpId="0"/>
      <p:bldP spid="14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Greedy best-first search</a:t>
            </a:r>
          </a:p>
        </p:txBody>
      </p:sp>
      <p:sp>
        <p:nvSpPr>
          <p:cNvPr id="132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295400"/>
            <a:ext cx="8991600" cy="411480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z="2400" b="1" dirty="0">
                <a:solidFill>
                  <a:schemeClr val="accent2"/>
                </a:solidFill>
              </a:rPr>
              <a:t>Evaluation function at node </a:t>
            </a:r>
            <a:r>
              <a:rPr lang="en-US" sz="2400" b="1" i="1" dirty="0">
                <a:solidFill>
                  <a:schemeClr val="accent2"/>
                </a:solidFill>
              </a:rPr>
              <a:t>n</a:t>
            </a:r>
            <a:r>
              <a:rPr lang="en-US" sz="2400" b="1" dirty="0">
                <a:solidFill>
                  <a:schemeClr val="accent2"/>
                </a:solidFill>
              </a:rPr>
              <a:t>,  </a:t>
            </a:r>
            <a:r>
              <a:rPr lang="en-US" sz="2400" b="1" i="1" dirty="0">
                <a:solidFill>
                  <a:schemeClr val="accent2"/>
                </a:solidFill>
              </a:rPr>
              <a:t>f(n) = h(n) </a:t>
            </a:r>
            <a:r>
              <a:rPr lang="en-US" sz="2400" b="1" dirty="0">
                <a:solidFill>
                  <a:schemeClr val="accent2"/>
                </a:solidFill>
              </a:rPr>
              <a:t>(heuristic)</a:t>
            </a:r>
          </a:p>
          <a:p>
            <a:pPr eaLnBrk="1" hangingPunct="1">
              <a:defRPr/>
            </a:pPr>
            <a:r>
              <a:rPr lang="en-US" sz="2400" b="1" dirty="0">
                <a:solidFill>
                  <a:schemeClr val="accent2"/>
                </a:solidFill>
              </a:rPr>
              <a:t>		= </a:t>
            </a:r>
            <a:r>
              <a:rPr lang="en-US" sz="2400" b="1" i="1" dirty="0">
                <a:solidFill>
                  <a:schemeClr val="accent2"/>
                </a:solidFill>
              </a:rPr>
              <a:t>estimate</a:t>
            </a:r>
            <a:r>
              <a:rPr lang="en-US" sz="2400" b="1" dirty="0">
                <a:solidFill>
                  <a:schemeClr val="accent2"/>
                </a:solidFill>
              </a:rPr>
              <a:t> of cost from </a:t>
            </a:r>
            <a:r>
              <a:rPr lang="en-US" sz="2400" b="1" i="1" dirty="0">
                <a:solidFill>
                  <a:schemeClr val="accent2"/>
                </a:solidFill>
              </a:rPr>
              <a:t>n</a:t>
            </a:r>
            <a:r>
              <a:rPr lang="en-US" sz="2400" b="1" dirty="0">
                <a:solidFill>
                  <a:schemeClr val="accent2"/>
                </a:solidFill>
              </a:rPr>
              <a:t> to </a:t>
            </a:r>
            <a:r>
              <a:rPr lang="en-US" sz="2400" b="1" i="1" dirty="0">
                <a:solidFill>
                  <a:schemeClr val="accent2"/>
                </a:solidFill>
              </a:rPr>
              <a:t>goal</a:t>
            </a:r>
            <a:r>
              <a:rPr lang="en-US" sz="2400" dirty="0">
                <a:solidFill>
                  <a:schemeClr val="accent2"/>
                </a:solidFill>
              </a:rPr>
              <a:t>
</a:t>
            </a:r>
          </a:p>
          <a:p>
            <a:pPr eaLnBrk="1" hangingPunct="1">
              <a:defRPr/>
            </a:pPr>
            <a:r>
              <a:rPr lang="en-US" sz="2400" b="1" dirty="0"/>
              <a:t>e.g., </a:t>
            </a:r>
            <a:r>
              <a:rPr lang="en-US" sz="2400" b="1" i="1" dirty="0" err="1"/>
              <a:t>h</a:t>
            </a:r>
            <a:r>
              <a:rPr lang="en-US" sz="2400" b="1" i="1" baseline="-25000" dirty="0" err="1"/>
              <a:t>SLD</a:t>
            </a:r>
            <a:r>
              <a:rPr lang="en-US" sz="2400" b="1" i="1" dirty="0"/>
              <a:t>(n)</a:t>
            </a:r>
            <a:r>
              <a:rPr lang="en-US" sz="2400" b="1" dirty="0"/>
              <a:t> = straight-line distance from </a:t>
            </a:r>
            <a:r>
              <a:rPr lang="en-US" sz="2400" b="1" i="1" dirty="0"/>
              <a:t>n</a:t>
            </a:r>
            <a:r>
              <a:rPr lang="en-US" sz="2400" b="1" dirty="0"/>
              <a:t> to Bucharest</a:t>
            </a:r>
            <a:r>
              <a:rPr lang="en-US" sz="2400" dirty="0"/>
              <a:t>
</a:t>
            </a:r>
          </a:p>
          <a:p>
            <a:pPr eaLnBrk="1" hangingPunct="1">
              <a:defRPr/>
            </a:pPr>
            <a:r>
              <a:rPr lang="en-US" sz="2400" b="1" dirty="0">
                <a:solidFill>
                  <a:srgbClr val="FF0000"/>
                </a:solidFill>
              </a:rPr>
              <a:t>Greedy best-first</a:t>
            </a:r>
            <a:r>
              <a:rPr lang="en-US" sz="2400" b="1" dirty="0"/>
              <a:t> search expands the node that </a:t>
            </a:r>
          </a:p>
          <a:p>
            <a:pPr eaLnBrk="1" hangingPunct="1">
              <a:defRPr/>
            </a:pPr>
            <a:r>
              <a:rPr lang="en-US" sz="2400" b="1" dirty="0">
                <a:solidFill>
                  <a:srgbClr val="FF0000"/>
                </a:solidFill>
              </a:rPr>
              <a:t>appears to have shortest path </a:t>
            </a:r>
            <a:r>
              <a:rPr lang="en-US" sz="2400" b="1" dirty="0"/>
              <a:t>to goal. </a:t>
            </a:r>
          </a:p>
          <a:p>
            <a:pPr eaLnBrk="1" hangingPunct="1">
              <a:defRPr/>
            </a:pPr>
            <a:endParaRPr lang="en-US" sz="2400" b="1" dirty="0"/>
          </a:p>
          <a:p>
            <a:pPr eaLnBrk="1" hangingPunct="1">
              <a:defRPr/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</a:rPr>
              <a:t>Idea: those nodes may lead to solution quickly.</a:t>
            </a:r>
            <a:r>
              <a:rPr lang="en-US" sz="1800" dirty="0"/>
              <a:t>
</a:t>
            </a:r>
          </a:p>
        </p:txBody>
      </p:sp>
      <p:sp>
        <p:nvSpPr>
          <p:cNvPr id="1323012" name="Text Box 4"/>
          <p:cNvSpPr txBox="1">
            <a:spLocks noChangeArrowheads="1"/>
          </p:cNvSpPr>
          <p:nvPr/>
        </p:nvSpPr>
        <p:spPr bwMode="auto">
          <a:xfrm>
            <a:off x="2819400" y="5410200"/>
            <a:ext cx="7620000" cy="92333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Similar to depth-first search: It prefers to follow a single </a:t>
            </a:r>
          </a:p>
          <a:p>
            <a:pPr>
              <a:defRPr/>
            </a:pPr>
            <a:r>
              <a:rPr lang="en-US" dirty="0"/>
              <a:t>path to goal (guided by the heuristic), backing up  when it </a:t>
            </a:r>
          </a:p>
          <a:p>
            <a:pPr>
              <a:defRPr/>
            </a:pPr>
            <a:r>
              <a:rPr lang="en-US" dirty="0"/>
              <a:t>hits a dead-end.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2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2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3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3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30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Greedy best-first search example</a:t>
            </a:r>
          </a:p>
        </p:txBody>
      </p:sp>
      <p:pic>
        <p:nvPicPr>
          <p:cNvPr id="11266" name="Picture 3" descr="greedy-progress0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828801"/>
            <a:ext cx="54673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2" descr="greedy-progress0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828801"/>
            <a:ext cx="54673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50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Greedy best-first search example</a:t>
            </a:r>
          </a:p>
        </p:txBody>
      </p:sp>
      <p:pic>
        <p:nvPicPr>
          <p:cNvPr id="12291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3" name="Picture 2" descr="greedy-progress0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828801"/>
            <a:ext cx="54673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60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cs typeface="+mj-cs"/>
              </a:rPr>
              <a:t>Greedy best-first search example</a:t>
            </a:r>
          </a:p>
        </p:txBody>
      </p:sp>
      <p:pic>
        <p:nvPicPr>
          <p:cNvPr id="13315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2" descr="greedy-progress0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143001"/>
            <a:ext cx="54673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7107" name="Rectangle 3"/>
          <p:cNvSpPr>
            <a:spLocks noGrp="1" noChangeArrowheads="1"/>
          </p:cNvSpPr>
          <p:nvPr>
            <p:ph type="title"/>
          </p:nvPr>
        </p:nvSpPr>
        <p:spPr>
          <a:xfrm>
            <a:off x="2878138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Greedy best-first search example</a:t>
            </a:r>
          </a:p>
        </p:txBody>
      </p:sp>
      <p:pic>
        <p:nvPicPr>
          <p:cNvPr id="14339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7109" name="Text Box 5"/>
          <p:cNvSpPr txBox="1">
            <a:spLocks noChangeArrowheads="1"/>
          </p:cNvSpPr>
          <p:nvPr/>
        </p:nvSpPr>
        <p:spPr bwMode="auto">
          <a:xfrm>
            <a:off x="1676400" y="3352800"/>
            <a:ext cx="2209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Is it optimal?</a:t>
            </a:r>
          </a:p>
        </p:txBody>
      </p:sp>
      <p:sp>
        <p:nvSpPr>
          <p:cNvPr id="1327110" name="Text Box 6"/>
          <p:cNvSpPr txBox="1">
            <a:spLocks noChangeArrowheads="1"/>
          </p:cNvSpPr>
          <p:nvPr/>
        </p:nvSpPr>
        <p:spPr bwMode="auto">
          <a:xfrm>
            <a:off x="1524001" y="5029201"/>
            <a:ext cx="36314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Also, consider going from </a:t>
            </a: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Iasi to </a:t>
            </a:r>
            <a:r>
              <a:rPr lang="en-US" dirty="0" err="1">
                <a:solidFill>
                  <a:srgbClr val="FF0000"/>
                </a:solidFill>
              </a:rPr>
              <a:t>Fagaras</a:t>
            </a:r>
            <a:r>
              <a:rPr lang="en-US" dirty="0">
                <a:solidFill>
                  <a:srgbClr val="FF0000"/>
                </a:solidFill>
              </a:rPr>
              <a:t> – what can happen?</a:t>
            </a:r>
          </a:p>
        </p:txBody>
      </p:sp>
      <p:sp>
        <p:nvSpPr>
          <p:cNvPr id="14342" name="TextBox 1"/>
          <p:cNvSpPr txBox="1">
            <a:spLocks noChangeArrowheads="1"/>
          </p:cNvSpPr>
          <p:nvPr/>
        </p:nvSpPr>
        <p:spPr bwMode="auto">
          <a:xfrm>
            <a:off x="4887914" y="2743201"/>
            <a:ext cx="57880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chemeClr val="accent2"/>
                </a:solidFill>
              </a:rPr>
              <a:t>So, Arad --- Sibiu --- </a:t>
            </a:r>
            <a:r>
              <a:rPr lang="en-US" b="1" dirty="0" err="1">
                <a:solidFill>
                  <a:schemeClr val="accent2"/>
                </a:solidFill>
              </a:rPr>
              <a:t>Fagaras</a:t>
            </a:r>
            <a:r>
              <a:rPr lang="en-US" b="1" dirty="0">
                <a:solidFill>
                  <a:schemeClr val="accent2"/>
                </a:solidFill>
              </a:rPr>
              <a:t> --- Bucharest</a:t>
            </a:r>
          </a:p>
          <a:p>
            <a:pPr eaLnBrk="1" hangingPunct="1"/>
            <a:r>
              <a:rPr lang="en-US" b="1" dirty="0">
                <a:solidFill>
                  <a:schemeClr val="accent2"/>
                </a:solidFill>
              </a:rPr>
              <a:t>140+99+211 = 450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676401" y="4267201"/>
            <a:ext cx="32242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32946A"/>
                </a:solidFill>
              </a:rPr>
              <a:t>What are we ignoring?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7109" grpId="0"/>
      <p:bldP spid="1327110" grpId="0"/>
      <p:bldP spid="1327110" grpId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-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Properties of greedy best-first search</a:t>
            </a:r>
          </a:p>
        </p:txBody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762000"/>
            <a:ext cx="8305800" cy="55626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defRPr/>
            </a:pPr>
            <a:r>
              <a:rPr lang="en-US" b="1" u="sng" dirty="0">
                <a:solidFill>
                  <a:srgbClr val="CC0099"/>
                </a:solidFill>
                <a:cs typeface="+mn-cs"/>
              </a:rPr>
              <a:t>Complete?</a:t>
            </a:r>
            <a:r>
              <a:rPr lang="en-US" b="1" dirty="0">
                <a:cs typeface="+mn-cs"/>
              </a:rPr>
              <a:t> No – can get stuck in loops, e.g., </a:t>
            </a: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      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Iasi </a:t>
            </a:r>
            <a:r>
              <a:rPr lang="en-US" b="1" dirty="0">
                <a:solidFill>
                  <a:srgbClr val="FF0000"/>
                </a:solidFill>
                <a:cs typeface="+mn-cs"/>
                <a:sym typeface="Wingdings" charset="0"/>
              </a:rPr>
              <a:t>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+mn-cs"/>
              </a:rPr>
              <a:t>Neamt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b="1" dirty="0">
                <a:solidFill>
                  <a:srgbClr val="FF0000"/>
                </a:solidFill>
                <a:cs typeface="+mn-cs"/>
                <a:sym typeface="Wingdings" charset="0"/>
              </a:rPr>
              <a:t>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 Iasi </a:t>
            </a:r>
            <a:r>
              <a:rPr lang="en-US" b="1" dirty="0">
                <a:solidFill>
                  <a:srgbClr val="FF0000"/>
                </a:solidFill>
                <a:cs typeface="+mn-cs"/>
                <a:sym typeface="Wingdings" charset="0"/>
              </a:rPr>
              <a:t>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+mn-cs"/>
              </a:rPr>
              <a:t>Neamt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…</a:t>
            </a:r>
            <a:r>
              <a:rPr lang="en-US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But, complete in finite space with repeated state elimination.</a:t>
            </a:r>
          </a:p>
          <a:p>
            <a:pPr eaLnBrk="1" hangingPunct="1">
              <a:defRPr/>
            </a:pPr>
            <a:endParaRPr lang="en-US" b="1" dirty="0">
              <a:cs typeface="+mn-cs"/>
            </a:endParaRPr>
          </a:p>
          <a:p>
            <a:pPr eaLnBrk="1" hangingPunct="1">
              <a:defRPr/>
            </a:pPr>
            <a:r>
              <a:rPr lang="en-US" b="1" u="sng" dirty="0">
                <a:solidFill>
                  <a:srgbClr val="CC0099"/>
                </a:solidFill>
                <a:cs typeface="+mn-cs"/>
              </a:rPr>
              <a:t>Time?</a:t>
            </a:r>
            <a:r>
              <a:rPr lang="en-US" b="1" dirty="0">
                <a:cs typeface="+mn-cs"/>
              </a:rPr>
              <a:t>   </a:t>
            </a:r>
            <a:r>
              <a:rPr lang="en-US" b="1" i="1" dirty="0">
                <a:cs typeface="+mn-cs"/>
              </a:rPr>
              <a:t>O(</a:t>
            </a:r>
            <a:r>
              <a:rPr lang="en-US" b="1" i="1" dirty="0" err="1">
                <a:cs typeface="+mn-cs"/>
              </a:rPr>
              <a:t>b</a:t>
            </a:r>
            <a:r>
              <a:rPr lang="en-US" b="1" i="1" baseline="30000" dirty="0" err="1">
                <a:cs typeface="+mn-cs"/>
              </a:rPr>
              <a:t>m</a:t>
            </a:r>
            <a:r>
              <a:rPr lang="en-US" b="1" i="1" dirty="0">
                <a:cs typeface="+mn-cs"/>
              </a:rPr>
              <a:t>)</a:t>
            </a:r>
            <a:r>
              <a:rPr lang="en-US" b="1" dirty="0">
                <a:cs typeface="+mn-cs"/>
              </a:rPr>
              <a:t> (imagine nodes all have same distance estimate to goal)</a:t>
            </a: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     but a good heuristic can give dramatic improvement </a:t>
            </a:r>
            <a:r>
              <a:rPr lang="en-US" dirty="0">
                <a:cs typeface="+mn-cs"/>
                <a:sym typeface="Wingdings" charset="0"/>
              </a:rPr>
              <a:t> Becomes more </a:t>
            </a:r>
            <a:r>
              <a:rPr lang="en-US" dirty="0">
                <a:cs typeface="+mn-cs"/>
              </a:rPr>
              <a:t>similar to depth-first search, with reduced branching.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b="1" u="sng" dirty="0">
                <a:solidFill>
                  <a:srgbClr val="CC0099"/>
                </a:solidFill>
                <a:cs typeface="+mn-cs"/>
              </a:rPr>
              <a:t>Space?</a:t>
            </a:r>
            <a:r>
              <a:rPr lang="en-US" b="1" dirty="0">
                <a:cs typeface="+mn-cs"/>
              </a:rPr>
              <a:t> </a:t>
            </a:r>
            <a:r>
              <a:rPr lang="en-US" b="1" i="1" dirty="0">
                <a:cs typeface="+mn-cs"/>
              </a:rPr>
              <a:t>O(</a:t>
            </a:r>
            <a:r>
              <a:rPr lang="en-US" b="1" i="1" dirty="0" err="1">
                <a:cs typeface="+mn-cs"/>
              </a:rPr>
              <a:t>b</a:t>
            </a:r>
            <a:r>
              <a:rPr lang="en-US" b="1" i="1" baseline="30000" dirty="0" err="1">
                <a:cs typeface="+mn-cs"/>
              </a:rPr>
              <a:t>m</a:t>
            </a:r>
            <a:r>
              <a:rPr lang="en-US" b="1" i="1" dirty="0">
                <a:cs typeface="+mn-cs"/>
              </a:rPr>
              <a:t>) </a:t>
            </a:r>
            <a:r>
              <a:rPr lang="en-US" b="1" dirty="0">
                <a:cs typeface="+mn-cs"/>
              </a:rPr>
              <a:t>-- keeps all nodes in memory</a:t>
            </a:r>
            <a:r>
              <a:rPr lang="en-US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b="1" u="sng" dirty="0">
                <a:solidFill>
                  <a:srgbClr val="CC0099"/>
                </a:solidFill>
                <a:cs typeface="+mn-cs"/>
              </a:rPr>
              <a:t>Optimal?</a:t>
            </a:r>
            <a:r>
              <a:rPr lang="en-US" b="1" dirty="0">
                <a:cs typeface="+mn-cs"/>
              </a:rPr>
              <a:t>  </a:t>
            </a:r>
          </a:p>
          <a:p>
            <a:pPr eaLnBrk="1" hangingPunct="1">
              <a:defRPr/>
            </a:pPr>
            <a:endParaRPr lang="en-US" b="1" dirty="0">
              <a:cs typeface="+mn-cs"/>
            </a:endParaRPr>
          </a:p>
          <a:p>
            <a:pPr eaLnBrk="1" hangingPunct="1">
              <a:defRPr/>
            </a:pPr>
            <a:r>
              <a:rPr lang="en-US" sz="2400" b="1" i="1" dirty="0">
                <a:solidFill>
                  <a:srgbClr val="32946A"/>
                </a:solidFill>
              </a:rPr>
              <a:t>How can we fix this?</a:t>
            </a:r>
            <a:r>
              <a:rPr lang="en-US" dirty="0">
                <a:cs typeface="+mn-cs"/>
              </a:rPr>
              <a:t>
</a:t>
            </a:r>
          </a:p>
        </p:txBody>
      </p:sp>
      <p:sp>
        <p:nvSpPr>
          <p:cNvPr id="1328133" name="Rectangle 5"/>
          <p:cNvSpPr>
            <a:spLocks noChangeArrowheads="1"/>
          </p:cNvSpPr>
          <p:nvPr/>
        </p:nvSpPr>
        <p:spPr bwMode="auto">
          <a:xfrm>
            <a:off x="5715000" y="4495801"/>
            <a:ext cx="4572000" cy="1845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000" i="1" dirty="0"/>
              <a:t> </a:t>
            </a:r>
            <a:r>
              <a:rPr lang="en-US" i="1" dirty="0"/>
              <a:t>b:</a:t>
            </a:r>
            <a:r>
              <a:rPr lang="en-US" dirty="0"/>
              <a:t> maximum branching factor of the search tree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i="1" dirty="0"/>
              <a:t>d: </a:t>
            </a:r>
            <a:r>
              <a:rPr lang="en-US" dirty="0"/>
              <a:t>depth of the least-cost solution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i="1" dirty="0"/>
              <a:t>m</a:t>
            </a:r>
            <a:r>
              <a:rPr lang="en-US" dirty="0"/>
              <a:t>: maximum depth of the state space (may be </a:t>
            </a:r>
            <a:r>
              <a:rPr lang="en-US" dirty="0">
                <a:cs typeface="Arial" charset="0"/>
              </a:rPr>
              <a:t>∞</a:t>
            </a:r>
            <a:r>
              <a:rPr lang="en-US" dirty="0"/>
              <a:t>)</a:t>
            </a:r>
            <a:r>
              <a:rPr lang="en-US" sz="2000" dirty="0"/>
              <a:t>
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810001" y="4572001"/>
            <a:ext cx="676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solidFill>
                  <a:srgbClr val="FF0000"/>
                </a:solidFill>
              </a:rPr>
              <a:t>No!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2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2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2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2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2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2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2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2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2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2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2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2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2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2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2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2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28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A</a:t>
            </a:r>
            <a:r>
              <a:rPr lang="en-US" baseline="30000" dirty="0">
                <a:solidFill>
                  <a:srgbClr val="FF0000"/>
                </a:solidFill>
                <a:cs typeface="+mj-cs"/>
              </a:rPr>
              <a:t>*</a:t>
            </a:r>
            <a:r>
              <a:rPr lang="en-US" dirty="0">
                <a:solidFill>
                  <a:srgbClr val="FF0000"/>
                </a:solidFill>
                <a:cs typeface="+mj-cs"/>
              </a:rPr>
              <a:t> search</a:t>
            </a:r>
          </a:p>
        </p:txBody>
      </p:sp>
      <p:sp>
        <p:nvSpPr>
          <p:cNvPr id="132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981200"/>
            <a:ext cx="7772400" cy="4114800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z="2400" b="1" dirty="0">
                <a:solidFill>
                  <a:srgbClr val="FF0000"/>
                </a:solidFill>
              </a:rPr>
              <a:t>Idea: avoid expanding paths that are </a:t>
            </a:r>
            <a:r>
              <a:rPr lang="en-US" sz="2400" b="1" u="sng" dirty="0">
                <a:solidFill>
                  <a:srgbClr val="FF0000"/>
                </a:solidFill>
              </a:rPr>
              <a:t>already expensive</a:t>
            </a:r>
            <a:r>
              <a:rPr lang="en-US" dirty="0">
                <a:cs typeface="+mn-cs"/>
              </a:rPr>
              <a:t>
</a:t>
            </a:r>
          </a:p>
          <a:p>
            <a:pPr eaLnBrk="1" hangingPunct="1">
              <a:defRPr/>
            </a:pPr>
            <a:r>
              <a:rPr lang="en-US" sz="2400" b="1" dirty="0">
                <a:solidFill>
                  <a:srgbClr val="3333CC"/>
                </a:solidFill>
              </a:rPr>
              <a:t>Evaluation function </a:t>
            </a:r>
            <a:r>
              <a:rPr lang="en-US" sz="2400" b="1" i="1" dirty="0">
                <a:solidFill>
                  <a:srgbClr val="3333CC"/>
                </a:solidFill>
              </a:rPr>
              <a:t>f(n) = g(n) + h(n)</a:t>
            </a:r>
            <a:r>
              <a:rPr lang="en-US" sz="2400" b="1" dirty="0">
                <a:solidFill>
                  <a:srgbClr val="3333CC"/>
                </a:solidFill>
              </a:rPr>
              <a:t>
</a:t>
            </a:r>
          </a:p>
          <a:p>
            <a:pPr lvl="1" eaLnBrk="1" hangingPunct="1">
              <a:defRPr/>
            </a:pPr>
            <a:r>
              <a:rPr lang="en-US" b="1" i="1" dirty="0">
                <a:solidFill>
                  <a:srgbClr val="3333CC"/>
                </a:solidFill>
              </a:rPr>
              <a:t>g(n) </a:t>
            </a:r>
            <a:r>
              <a:rPr lang="en-US" b="1" dirty="0">
                <a:solidFill>
                  <a:srgbClr val="3333CC"/>
                </a:solidFill>
              </a:rPr>
              <a:t>= cost so far to reach </a:t>
            </a:r>
            <a:r>
              <a:rPr lang="en-US" b="1" i="1" dirty="0">
                <a:solidFill>
                  <a:srgbClr val="3333CC"/>
                </a:solidFill>
              </a:rPr>
              <a:t>n </a:t>
            </a:r>
          </a:p>
          <a:p>
            <a:pPr lvl="1" eaLnBrk="1" hangingPunct="1">
              <a:defRPr/>
            </a:pPr>
            <a:r>
              <a:rPr lang="en-US" b="1" i="1" dirty="0">
                <a:solidFill>
                  <a:srgbClr val="3333CC"/>
                </a:solidFill>
              </a:rPr>
              <a:t>h(n)</a:t>
            </a:r>
            <a:r>
              <a:rPr lang="en-US" b="1" dirty="0">
                <a:solidFill>
                  <a:srgbClr val="3333CC"/>
                </a:solidFill>
              </a:rPr>
              <a:t> = estimated cost from </a:t>
            </a:r>
            <a:r>
              <a:rPr lang="en-US" b="1" i="1" dirty="0">
                <a:solidFill>
                  <a:srgbClr val="3333CC"/>
                </a:solidFill>
              </a:rPr>
              <a:t>n</a:t>
            </a:r>
            <a:r>
              <a:rPr lang="en-US" b="1" dirty="0">
                <a:solidFill>
                  <a:srgbClr val="3333CC"/>
                </a:solidFill>
              </a:rPr>
              <a:t> to goal</a:t>
            </a:r>
          </a:p>
          <a:p>
            <a:pPr lvl="1" eaLnBrk="1" hangingPunct="1">
              <a:defRPr/>
            </a:pPr>
            <a:r>
              <a:rPr lang="en-US" b="1" i="1" dirty="0">
                <a:solidFill>
                  <a:srgbClr val="3333CC"/>
                </a:solidFill>
              </a:rPr>
              <a:t>f(n) </a:t>
            </a:r>
            <a:r>
              <a:rPr lang="en-US" b="1" dirty="0">
                <a:solidFill>
                  <a:srgbClr val="3333CC"/>
                </a:solidFill>
              </a:rPr>
              <a:t>= estimated </a:t>
            </a:r>
            <a:r>
              <a:rPr lang="en-US" b="1" dirty="0">
                <a:solidFill>
                  <a:srgbClr val="FF0000"/>
                </a:solidFill>
              </a:rPr>
              <a:t>total</a:t>
            </a:r>
            <a:r>
              <a:rPr lang="en-US" b="1" dirty="0">
                <a:solidFill>
                  <a:srgbClr val="3333CC"/>
                </a:solidFill>
              </a:rPr>
              <a:t> cost of path through </a:t>
            </a:r>
            <a:r>
              <a:rPr lang="en-US" b="1" i="1" dirty="0">
                <a:solidFill>
                  <a:srgbClr val="3333CC"/>
                </a:solidFill>
              </a:rPr>
              <a:t>n</a:t>
            </a:r>
            <a:r>
              <a:rPr lang="en-US" b="1" dirty="0">
                <a:solidFill>
                  <a:srgbClr val="3333CC"/>
                </a:solidFill>
              </a:rPr>
              <a:t> to goal
</a:t>
            </a:r>
          </a:p>
        </p:txBody>
      </p:sp>
      <p:sp>
        <p:nvSpPr>
          <p:cNvPr id="16387" name="TextBox 1"/>
          <p:cNvSpPr txBox="1">
            <a:spLocks noChangeArrowheads="1"/>
          </p:cNvSpPr>
          <p:nvPr/>
        </p:nvSpPr>
        <p:spPr bwMode="auto">
          <a:xfrm>
            <a:off x="1438988" y="876806"/>
            <a:ext cx="66802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FF0000"/>
                </a:solidFill>
              </a:rPr>
              <a:t>Note: </a:t>
            </a:r>
            <a:r>
              <a:rPr lang="en-US" sz="2000" b="1" dirty="0">
                <a:solidFill>
                  <a:schemeClr val="accent2"/>
                </a:solidFill>
              </a:rPr>
              <a:t>Greedy best-first search expands the node that </a:t>
            </a:r>
            <a:r>
              <a:rPr lang="en-US" sz="2000" b="1" i="1" dirty="0">
                <a:solidFill>
                  <a:srgbClr val="FF0000"/>
                </a:solidFill>
              </a:rPr>
              <a:t>appears</a:t>
            </a:r>
            <a:r>
              <a:rPr lang="en-US" sz="2000" b="1" dirty="0">
                <a:solidFill>
                  <a:schemeClr val="accent2"/>
                </a:solidFill>
              </a:rPr>
              <a:t> to have shortest path to goal. But what about cost of getting to that node? Take it into account!</a:t>
            </a:r>
          </a:p>
        </p:txBody>
      </p:sp>
      <p:sp>
        <p:nvSpPr>
          <p:cNvPr id="3" name="Oval 2"/>
          <p:cNvSpPr/>
          <p:nvPr/>
        </p:nvSpPr>
        <p:spPr>
          <a:xfrm>
            <a:off x="5410200" y="2743200"/>
            <a:ext cx="685800" cy="533400"/>
          </a:xfrm>
          <a:prstGeom prst="ellipse">
            <a:avLst/>
          </a:prstGeom>
          <a:gradFill>
            <a:gsLst>
              <a:gs pos="40000">
                <a:schemeClr val="accent1">
                  <a:tint val="100000"/>
                  <a:shade val="100000"/>
                  <a:satMod val="130000"/>
                  <a:alpha val="31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  <a:ln>
            <a:solidFill>
              <a:schemeClr val="accent1">
                <a:shade val="95000"/>
                <a:satMod val="105000"/>
                <a:alpha val="52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24000" y="5287964"/>
            <a:ext cx="5805488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/>
              <a:t>Aside: do we still have “looping problem”?</a:t>
            </a:r>
          </a:p>
          <a:p>
            <a:pPr eaLnBrk="1" hangingPunct="1"/>
            <a:r>
              <a:rPr lang="en-US" b="1">
                <a:solidFill>
                  <a:srgbClr val="FF0000"/>
                </a:solidFill>
              </a:rPr>
              <a:t>Iasi to Fagaras:</a:t>
            </a:r>
          </a:p>
          <a:p>
            <a:pPr eaLnBrk="1" hangingPunct="1"/>
            <a:r>
              <a:rPr lang="en-US" b="1">
                <a:solidFill>
                  <a:srgbClr val="FF0000"/>
                </a:solidFill>
              </a:rPr>
              <a:t>Iasi </a:t>
            </a:r>
            <a:r>
              <a:rPr lang="en-US" b="1">
                <a:solidFill>
                  <a:srgbClr val="FF0000"/>
                </a:solidFill>
                <a:sym typeface="Wingdings" charset="0"/>
              </a:rPr>
              <a:t></a:t>
            </a:r>
            <a:r>
              <a:rPr lang="en-US" b="1">
                <a:solidFill>
                  <a:srgbClr val="FF0000"/>
                </a:solidFill>
              </a:rPr>
              <a:t> Neamt </a:t>
            </a:r>
            <a:r>
              <a:rPr lang="en-US" b="1">
                <a:solidFill>
                  <a:srgbClr val="FF0000"/>
                </a:solidFill>
                <a:sym typeface="Wingdings" charset="0"/>
              </a:rPr>
              <a:t></a:t>
            </a:r>
            <a:r>
              <a:rPr lang="en-US" b="1">
                <a:solidFill>
                  <a:srgbClr val="FF0000"/>
                </a:solidFill>
              </a:rPr>
              <a:t> Iasi </a:t>
            </a:r>
            <a:r>
              <a:rPr lang="en-US" b="1">
                <a:solidFill>
                  <a:srgbClr val="FF0000"/>
                </a:solidFill>
                <a:sym typeface="Wingdings" charset="0"/>
              </a:rPr>
              <a:t></a:t>
            </a:r>
            <a:r>
              <a:rPr lang="en-US" b="1">
                <a:solidFill>
                  <a:srgbClr val="FF0000"/>
                </a:solidFill>
              </a:rPr>
              <a:t> Neamt…</a:t>
            </a:r>
            <a:r>
              <a:rPr lang="en-US"/>
              <a:t>
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467600" y="5486400"/>
            <a:ext cx="2971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solidFill>
                  <a:srgbClr val="FF0000"/>
                </a:solidFill>
              </a:rPr>
              <a:t>No! We’ll eventually get out of it. g(n) keeps going up. </a:t>
            </a:r>
          </a:p>
        </p:txBody>
      </p:sp>
      <p:sp>
        <p:nvSpPr>
          <p:cNvPr id="7" name="Bevel 6"/>
          <p:cNvSpPr/>
          <p:nvPr/>
        </p:nvSpPr>
        <p:spPr>
          <a:xfrm>
            <a:off x="1838131" y="2908131"/>
            <a:ext cx="6553200" cy="914400"/>
          </a:xfrm>
          <a:prstGeom prst="bevel">
            <a:avLst/>
          </a:prstGeom>
          <a:solidFill>
            <a:schemeClr val="accent6">
              <a:alpha val="3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2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2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3" grpId="0" animBg="1"/>
      <p:bldP spid="4" grpId="0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870200" y="17463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A</a:t>
            </a:r>
            <a:r>
              <a:rPr lang="en-US" baseline="30000" dirty="0">
                <a:solidFill>
                  <a:srgbClr val="FF0000"/>
                </a:solidFill>
                <a:cs typeface="+mj-cs"/>
              </a:rPr>
              <a:t>*</a:t>
            </a:r>
            <a:r>
              <a:rPr lang="en-US" dirty="0">
                <a:solidFill>
                  <a:srgbClr val="FF0000"/>
                </a:solidFill>
                <a:cs typeface="+mj-cs"/>
              </a:rPr>
              <a:t> search example</a:t>
            </a:r>
          </a:p>
        </p:txBody>
      </p:sp>
      <p:pic>
        <p:nvPicPr>
          <p:cNvPr id="17410" name="Picture 3" descr="astar-progress0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524001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5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Box 1"/>
          <p:cNvSpPr txBox="1">
            <a:spLocks noChangeArrowheads="1"/>
          </p:cNvSpPr>
          <p:nvPr/>
        </p:nvSpPr>
        <p:spPr bwMode="auto">
          <a:xfrm>
            <a:off x="1444690" y="1947068"/>
            <a:ext cx="350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 dirty="0">
                <a:solidFill>
                  <a:srgbClr val="3333CC"/>
                </a:solidFill>
              </a:rPr>
              <a:t>Using: f(n) = g(n) + h(n)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2" descr="astar-progress0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524001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203" name="Rectangle 3"/>
          <p:cNvSpPr>
            <a:spLocks noGrp="1" noChangeArrowheads="1"/>
          </p:cNvSpPr>
          <p:nvPr>
            <p:ph type="title"/>
          </p:nvPr>
        </p:nvSpPr>
        <p:spPr>
          <a:xfrm>
            <a:off x="2913063" y="-17463"/>
            <a:ext cx="77724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A</a:t>
            </a:r>
            <a:r>
              <a:rPr lang="en-US" baseline="30000" dirty="0">
                <a:solidFill>
                  <a:srgbClr val="FF0000"/>
                </a:solidFill>
                <a:cs typeface="+mj-cs"/>
              </a:rPr>
              <a:t>*</a:t>
            </a:r>
            <a:r>
              <a:rPr lang="en-US" dirty="0">
                <a:solidFill>
                  <a:srgbClr val="FF0000"/>
                </a:solidFill>
                <a:cs typeface="+mj-cs"/>
              </a:rPr>
              <a:t> search example</a:t>
            </a:r>
          </a:p>
        </p:txBody>
      </p:sp>
      <p:pic>
        <p:nvPicPr>
          <p:cNvPr id="18435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Box 4"/>
          <p:cNvSpPr txBox="1">
            <a:spLocks noChangeArrowheads="1"/>
          </p:cNvSpPr>
          <p:nvPr/>
        </p:nvSpPr>
        <p:spPr bwMode="auto">
          <a:xfrm>
            <a:off x="586273" y="1103119"/>
            <a:ext cx="350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 dirty="0">
                <a:solidFill>
                  <a:srgbClr val="3333CC"/>
                </a:solidFill>
              </a:rPr>
              <a:t>Using: f(n) = g(n) + h(n)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2903538" y="17463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A</a:t>
            </a:r>
            <a:r>
              <a:rPr lang="en-US" baseline="30000" dirty="0">
                <a:solidFill>
                  <a:srgbClr val="FF0000"/>
                </a:solidFill>
                <a:cs typeface="+mj-cs"/>
              </a:rPr>
              <a:t>*</a:t>
            </a:r>
            <a:r>
              <a:rPr lang="en-US" dirty="0">
                <a:solidFill>
                  <a:srgbClr val="FF0000"/>
                </a:solidFill>
                <a:cs typeface="+mj-cs"/>
              </a:rPr>
              <a:t> search example</a:t>
            </a:r>
          </a:p>
        </p:txBody>
      </p:sp>
      <p:pic>
        <p:nvPicPr>
          <p:cNvPr id="19458" name="Picture 3" descr="astar-progress0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524001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TextBox 4"/>
          <p:cNvSpPr txBox="1">
            <a:spLocks noChangeArrowheads="1"/>
          </p:cNvSpPr>
          <p:nvPr/>
        </p:nvSpPr>
        <p:spPr bwMode="auto">
          <a:xfrm>
            <a:off x="1150938" y="1062038"/>
            <a:ext cx="350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>
                <a:solidFill>
                  <a:srgbClr val="3333CC"/>
                </a:solidFill>
              </a:rPr>
              <a:t>Using: f(n) = g(n) + h(n)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0" y="17463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A</a:t>
            </a:r>
            <a:r>
              <a:rPr lang="en-US" baseline="30000" dirty="0">
                <a:solidFill>
                  <a:srgbClr val="FF0000"/>
                </a:solidFill>
                <a:cs typeface="+mj-cs"/>
              </a:rPr>
              <a:t>*</a:t>
            </a:r>
            <a:r>
              <a:rPr lang="en-US" dirty="0">
                <a:solidFill>
                  <a:srgbClr val="FF0000"/>
                </a:solidFill>
                <a:cs typeface="+mj-cs"/>
              </a:rPr>
              <a:t> search example</a:t>
            </a:r>
          </a:p>
        </p:txBody>
      </p:sp>
      <p:pic>
        <p:nvPicPr>
          <p:cNvPr id="20482" name="Picture 3" descr="astar-progress0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524001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3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Box 4"/>
          <p:cNvSpPr txBox="1">
            <a:spLocks noChangeArrowheads="1"/>
          </p:cNvSpPr>
          <p:nvPr/>
        </p:nvSpPr>
        <p:spPr bwMode="auto">
          <a:xfrm>
            <a:off x="707572" y="1524001"/>
            <a:ext cx="350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 dirty="0">
                <a:solidFill>
                  <a:srgbClr val="3333CC"/>
                </a:solidFill>
              </a:rPr>
              <a:t>Using: f(n) = g(n) + h(n)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878138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A</a:t>
            </a:r>
            <a:r>
              <a:rPr lang="en-US" baseline="30000" dirty="0">
                <a:solidFill>
                  <a:srgbClr val="FF0000"/>
                </a:solidFill>
                <a:cs typeface="+mj-cs"/>
              </a:rPr>
              <a:t>*</a:t>
            </a:r>
            <a:r>
              <a:rPr lang="en-US" dirty="0">
                <a:solidFill>
                  <a:srgbClr val="FF0000"/>
                </a:solidFill>
                <a:cs typeface="+mj-cs"/>
              </a:rPr>
              <a:t> search example</a:t>
            </a:r>
          </a:p>
        </p:txBody>
      </p:sp>
      <p:pic>
        <p:nvPicPr>
          <p:cNvPr id="21506" name="Picture 3" descr="astar-progress0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524001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7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657600"/>
            <a:ext cx="4800600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4279" name="Group 7"/>
          <p:cNvGrpSpPr>
            <a:grpSpLocks/>
          </p:cNvGrpSpPr>
          <p:nvPr/>
        </p:nvGrpSpPr>
        <p:grpSpPr bwMode="auto">
          <a:xfrm>
            <a:off x="1635126" y="3276601"/>
            <a:ext cx="3927475" cy="3375025"/>
            <a:chOff x="173" y="2064"/>
            <a:chExt cx="2474" cy="2126"/>
          </a:xfrm>
        </p:grpSpPr>
        <p:sp>
          <p:nvSpPr>
            <p:cNvPr id="1334277" name="Line 5"/>
            <p:cNvSpPr>
              <a:spLocks noChangeShapeType="1"/>
            </p:cNvSpPr>
            <p:nvPr/>
          </p:nvSpPr>
          <p:spPr bwMode="auto">
            <a:xfrm flipH="1">
              <a:off x="1680" y="2064"/>
              <a:ext cx="336" cy="62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34278" name="Text Box 6"/>
            <p:cNvSpPr txBox="1">
              <a:spLocks noChangeArrowheads="1"/>
            </p:cNvSpPr>
            <p:nvPr/>
          </p:nvSpPr>
          <p:spPr bwMode="auto">
            <a:xfrm>
              <a:off x="173" y="2736"/>
              <a:ext cx="2474" cy="1454"/>
            </a:xfrm>
            <a:prstGeom prst="rect">
              <a:avLst/>
            </a:prstGeom>
            <a:solidFill>
              <a:schemeClr val="accent1">
                <a:alpha val="47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Bucharest appears  on the fringe</a:t>
              </a:r>
            </a:p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 but not selected for expansion </a:t>
              </a:r>
            </a:p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since its cost (450)</a:t>
              </a:r>
            </a:p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is higher than that of Pitesti (417).</a:t>
              </a:r>
            </a:p>
            <a:p>
              <a:pPr algn="ctr">
                <a:defRPr/>
              </a:pPr>
              <a:endParaRPr lang="en-US" b="1" dirty="0">
                <a:solidFill>
                  <a:srgbClr val="FF0000"/>
                </a:solidFill>
              </a:endParaRPr>
            </a:p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Important to understand for the proof of</a:t>
              </a:r>
            </a:p>
            <a:p>
              <a:pPr algn="ctr">
                <a:defRPr/>
              </a:pPr>
              <a:r>
                <a:rPr lang="en-US" b="1" dirty="0">
                  <a:solidFill>
                    <a:srgbClr val="FF0000"/>
                  </a:solidFill>
                </a:rPr>
                <a:t>optimality of A* </a:t>
              </a:r>
            </a:p>
          </p:txBody>
        </p:sp>
      </p:grpSp>
      <p:sp>
        <p:nvSpPr>
          <p:cNvPr id="21509" name="TextBox 7"/>
          <p:cNvSpPr txBox="1">
            <a:spLocks noChangeArrowheads="1"/>
          </p:cNvSpPr>
          <p:nvPr/>
        </p:nvSpPr>
        <p:spPr bwMode="auto">
          <a:xfrm>
            <a:off x="1055689" y="1338196"/>
            <a:ext cx="350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 dirty="0">
                <a:solidFill>
                  <a:srgbClr val="3333CC"/>
                </a:solidFill>
              </a:rPr>
              <a:t>Using: f(n) = g(n) + h(n)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001001" y="2590801"/>
            <a:ext cx="1846531" cy="646331"/>
          </a:xfrm>
          <a:prstGeom prst="rect">
            <a:avLst/>
          </a:prstGeom>
          <a:solidFill>
            <a:schemeClr val="accent5">
              <a:lumMod val="60000"/>
              <a:lumOff val="40000"/>
              <a:alpha val="66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What happens if </a:t>
            </a:r>
          </a:p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h(Pitesti) = 150?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2921000" y="-3048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A</a:t>
            </a:r>
            <a:r>
              <a:rPr lang="en-US" baseline="30000" dirty="0">
                <a:solidFill>
                  <a:srgbClr val="FF0000"/>
                </a:solidFill>
                <a:cs typeface="+mj-cs"/>
              </a:rPr>
              <a:t>*</a:t>
            </a:r>
            <a:r>
              <a:rPr lang="en-US" dirty="0">
                <a:solidFill>
                  <a:srgbClr val="FF0000"/>
                </a:solidFill>
                <a:cs typeface="+mj-cs"/>
              </a:rPr>
              <a:t> search example</a:t>
            </a:r>
          </a:p>
        </p:txBody>
      </p:sp>
      <p:pic>
        <p:nvPicPr>
          <p:cNvPr id="22530" name="Picture 3" descr="astar-progress06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447801"/>
            <a:ext cx="5410200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1" name="Picture 4" descr="romania-distanc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973514"/>
            <a:ext cx="4800600" cy="288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474306" y="540544"/>
            <a:ext cx="350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 dirty="0">
                <a:solidFill>
                  <a:srgbClr val="3333CC"/>
                </a:solidFill>
              </a:rPr>
              <a:t>Using: f(n) = g(n) + h(n)</a:t>
            </a:r>
            <a:endParaRPr lang="en-US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24001" y="1066801"/>
            <a:ext cx="4183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800">
                <a:solidFill>
                  <a:srgbClr val="FF0000"/>
                </a:solidFill>
              </a:rPr>
              <a:t>Claim: Optimal path found!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524001" y="1752601"/>
            <a:ext cx="2646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1) Can it go wrong?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524000" y="3124201"/>
            <a:ext cx="35385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2) What’s special about “straight distance” to goal?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76401" y="4876800"/>
            <a:ext cx="36734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3) What if all our estimates to goal are 0? Eg h(n) = 0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1676400" y="5638801"/>
            <a:ext cx="3665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4) What if we overestimate?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752600" y="3962401"/>
            <a:ext cx="3611886" cy="830997"/>
          </a:xfrm>
          <a:prstGeom prst="rect">
            <a:avLst/>
          </a:prstGeom>
          <a:solidFill>
            <a:schemeClr val="accent1">
              <a:alpha val="54117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 dirty="0">
                <a:solidFill>
                  <a:srgbClr val="FF0000"/>
                </a:solidFill>
              </a:rPr>
              <a:t>It underestimates true path</a:t>
            </a:r>
          </a:p>
          <a:p>
            <a:pPr eaLnBrk="1" hangingPunct="1"/>
            <a:r>
              <a:rPr lang="en-US" b="1" i="1" dirty="0">
                <a:solidFill>
                  <a:srgbClr val="FF0000"/>
                </a:solidFill>
              </a:rPr>
              <a:t>distance! 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752600" y="6096001"/>
            <a:ext cx="391697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5) What if h(n) is true distance (h*(n))?</a:t>
            </a:r>
          </a:p>
          <a:p>
            <a:r>
              <a:rPr lang="en-US" dirty="0"/>
              <a:t>     What is f(n)?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91000" y="609600"/>
            <a:ext cx="4923720" cy="369332"/>
          </a:xfrm>
          <a:prstGeom prst="rect">
            <a:avLst/>
          </a:prstGeom>
          <a:solidFill>
            <a:schemeClr val="accent6">
              <a:lumMod val="60000"/>
              <a:lumOff val="40000"/>
              <a:alpha val="55000"/>
            </a:schemeClr>
          </a:solidFill>
          <a:ln w="19050" cmpd="sng">
            <a:solidFill>
              <a:srgbClr val="FF0000">
                <a:alpha val="63000"/>
              </a:srgb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/>
              <a:t>Arad --- Sibiu --- </a:t>
            </a:r>
            <a:r>
              <a:rPr lang="en-US" dirty="0" err="1"/>
              <a:t>Rimnicu</a:t>
            </a:r>
            <a:r>
              <a:rPr lang="en-US" dirty="0"/>
              <a:t> --- Pitesti --- Bucharest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14800" y="6477000"/>
            <a:ext cx="6172200" cy="40011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/>
              <a:t>Shortest dist. through n --- perfect heuristics --- no search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675033" y="2514601"/>
            <a:ext cx="29718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Note: Best first</a:t>
            </a:r>
          </a:p>
          <a:p>
            <a:r>
              <a:rPr lang="en-US" sz="2000" b="1" dirty="0">
                <a:solidFill>
                  <a:schemeClr val="accent2"/>
                </a:solidFill>
              </a:rPr>
              <a:t>Arad --- Sibiu --- </a:t>
            </a:r>
            <a:r>
              <a:rPr lang="en-US" sz="2000" b="1" dirty="0" err="1">
                <a:solidFill>
                  <a:schemeClr val="accent2"/>
                </a:solidFill>
              </a:rPr>
              <a:t>Fagaras</a:t>
            </a:r>
            <a:r>
              <a:rPr lang="en-US" sz="2000" b="1" dirty="0">
                <a:solidFill>
                  <a:schemeClr val="accent2"/>
                </a:solidFill>
              </a:rPr>
              <a:t> --- Bucharest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7010400" y="3886200"/>
            <a:ext cx="2550122" cy="40011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lvl="0"/>
            <a:r>
              <a:rPr lang="en-US" sz="2000" b="1" dirty="0">
                <a:solidFill>
                  <a:srgbClr val="FF0000"/>
                </a:solidFill>
              </a:rPr>
              <a:t>Uniform cost search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 animBg="1"/>
      <p:bldP spid="8" grpId="0"/>
      <p:bldP spid="9" grpId="0" animBg="1"/>
      <p:bldP spid="10" grpId="0" animBg="1"/>
      <p:bldP spid="11" grpId="0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-228600"/>
            <a:ext cx="7772400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A* properties   </a:t>
            </a:r>
          </a:p>
        </p:txBody>
      </p:sp>
      <p:sp>
        <p:nvSpPr>
          <p:cNvPr id="136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7042" y="685800"/>
            <a:ext cx="8991600" cy="42672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CC00CC"/>
                </a:solidFill>
              </a:rPr>
              <a:t>Under some reasonable conditions for the heuristics, we have: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CC00CC"/>
                </a:solidFill>
              </a:rPr>
              <a:t>Complete</a:t>
            </a:r>
            <a:r>
              <a:rPr lang="en-US" sz="2400" dirty="0"/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Yes, unless there are infinitely many nodes with f(n) &lt; f(Goal)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CC00CC"/>
                </a:solidFill>
              </a:rPr>
              <a:t>Time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Sub-exponential grow when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So, a </a:t>
            </a:r>
            <a:r>
              <a:rPr lang="en-US" dirty="0">
                <a:solidFill>
                  <a:srgbClr val="FF0000"/>
                </a:solidFill>
              </a:rPr>
              <a:t>good heuristics </a:t>
            </a:r>
            <a:r>
              <a:rPr lang="en-US" dirty="0"/>
              <a:t>can bring exponential search down</a:t>
            </a:r>
          </a:p>
          <a:p>
            <a:pPr marL="457200" lvl="1" indent="0">
              <a:buNone/>
              <a:defRPr/>
            </a:pPr>
            <a:r>
              <a:rPr lang="en-US" dirty="0"/>
              <a:t>    significantly!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CC00CC"/>
                </a:solidFill>
              </a:rPr>
              <a:t>Space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Fringe nodes in memory. Often exponential. Solution: IDA*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solidFill>
                  <a:srgbClr val="CC00CC"/>
                </a:solidFill>
              </a:rPr>
              <a:t>Optimal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Yes (under admissible heuristics; discussed next)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/>
              <a:t>Also, optimal use of heuristics information!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Widely used. After almost 40 </a:t>
            </a:r>
            <a:r>
              <a:rPr lang="en-US" sz="2400" b="1" dirty="0" err="1">
                <a:solidFill>
                  <a:schemeClr val="accent1">
                    <a:lumMod val="75000"/>
                  </a:schemeClr>
                </a:solidFill>
              </a:rPr>
              <a:t>yrs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, still new applications found.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Also, optimal use of heuristic information.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Provably: Can’t do better!</a:t>
            </a:r>
          </a:p>
        </p:txBody>
      </p:sp>
      <p:graphicFrame>
        <p:nvGraphicFramePr>
          <p:cNvPr id="24579" name="Object 4"/>
          <p:cNvGraphicFramePr>
            <a:graphicFrameLocks noChangeAspect="1"/>
          </p:cNvGraphicFramePr>
          <p:nvPr/>
        </p:nvGraphicFramePr>
        <p:xfrm>
          <a:off x="6324600" y="2209800"/>
          <a:ext cx="3905250" cy="63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500" imgH="279400" progId="Equation.DSMT4">
                  <p:embed/>
                </p:oleObj>
              </mc:Choice>
              <mc:Fallback>
                <p:oleObj name="Equation" r:id="rId3" imgW="1714500" imgH="279400" progId="Equation.DSMT4">
                  <p:embed/>
                  <p:pic>
                    <p:nvPicPr>
                      <p:cNvPr id="2457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209800"/>
                        <a:ext cx="3905250" cy="6365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6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6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6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6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6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6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6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660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6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660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66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660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660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660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660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6601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660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660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-7938"/>
            <a:ext cx="77724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Heuristics: (1) Admissibility</a:t>
            </a:r>
          </a:p>
        </p:txBody>
      </p:sp>
      <p:sp>
        <p:nvSpPr>
          <p:cNvPr id="133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19200"/>
            <a:ext cx="8458200" cy="41148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defRPr/>
            </a:pPr>
            <a:r>
              <a:rPr lang="en-US" b="1" dirty="0">
                <a:cs typeface="+mn-cs"/>
              </a:rPr>
              <a:t>A heuristic </a:t>
            </a:r>
            <a:r>
              <a:rPr lang="en-US" b="1" i="1" dirty="0">
                <a:cs typeface="+mn-cs"/>
              </a:rPr>
              <a:t>h(n)</a:t>
            </a:r>
            <a:r>
              <a:rPr lang="en-US" b="1" dirty="0">
                <a:cs typeface="+mn-cs"/>
              </a:rPr>
              <a:t> is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admissible</a:t>
            </a:r>
            <a:r>
              <a:rPr lang="en-US" b="1" dirty="0">
                <a:cs typeface="+mn-cs"/>
              </a:rPr>
              <a:t> if for every node </a:t>
            </a:r>
            <a:r>
              <a:rPr lang="en-US" b="1" i="1" dirty="0">
                <a:cs typeface="+mn-cs"/>
              </a:rPr>
              <a:t>n</a:t>
            </a:r>
            <a:r>
              <a:rPr lang="en-US" b="1" dirty="0">
                <a:cs typeface="+mn-cs"/>
              </a:rPr>
              <a:t>, </a:t>
            </a:r>
            <a:r>
              <a:rPr lang="en-US" b="1" i="1" dirty="0">
                <a:cs typeface="+mn-cs"/>
              </a:rPr>
              <a:t>h(n) </a:t>
            </a:r>
            <a:r>
              <a:rPr lang="en-US" b="1" i="1" dirty="0">
                <a:cs typeface="Arial" charset="0"/>
              </a:rPr>
              <a:t>≤</a:t>
            </a:r>
            <a:r>
              <a:rPr lang="en-US" b="1" i="1" dirty="0">
                <a:cs typeface="+mn-cs"/>
              </a:rPr>
              <a:t> h</a:t>
            </a:r>
            <a:r>
              <a:rPr lang="en-US" b="1" i="1" baseline="30000" dirty="0">
                <a:cs typeface="+mn-cs"/>
              </a:rPr>
              <a:t>*</a:t>
            </a:r>
            <a:r>
              <a:rPr lang="en-US" b="1" i="1" dirty="0">
                <a:cs typeface="+mn-cs"/>
              </a:rPr>
              <a:t>(n), </a:t>
            </a:r>
            <a:r>
              <a:rPr lang="en-US" b="1" dirty="0">
                <a:cs typeface="+mn-cs"/>
              </a:rPr>
              <a:t>where </a:t>
            </a:r>
            <a:r>
              <a:rPr lang="en-US" b="1" i="1" dirty="0">
                <a:cs typeface="+mn-cs"/>
              </a:rPr>
              <a:t>h</a:t>
            </a:r>
            <a:r>
              <a:rPr lang="en-US" b="1" i="1" baseline="30000" dirty="0">
                <a:cs typeface="+mn-cs"/>
              </a:rPr>
              <a:t>*</a:t>
            </a:r>
            <a:r>
              <a:rPr lang="en-US" b="1" i="1" dirty="0">
                <a:cs typeface="+mn-cs"/>
              </a:rPr>
              <a:t>(n)</a:t>
            </a:r>
            <a:r>
              <a:rPr lang="en-US" b="1" dirty="0">
                <a:cs typeface="+mn-cs"/>
              </a:rPr>
              <a:t> is the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true </a:t>
            </a:r>
            <a:r>
              <a:rPr lang="en-US" b="1" dirty="0">
                <a:cs typeface="+mn-cs"/>
              </a:rPr>
              <a:t>cost to reach the goal state from </a:t>
            </a:r>
            <a:r>
              <a:rPr lang="en-US" b="1" i="1" dirty="0">
                <a:cs typeface="+mn-cs"/>
              </a:rPr>
              <a:t>n</a:t>
            </a:r>
            <a:r>
              <a:rPr lang="en-US" b="1" dirty="0">
                <a:cs typeface="+mn-cs"/>
              </a:rPr>
              <a:t>.</a:t>
            </a:r>
            <a:endParaRPr lang="en-US" dirty="0">
              <a:cs typeface="+mn-cs"/>
            </a:endParaRPr>
          </a:p>
          <a:p>
            <a:pPr eaLnBrk="1" hangingPunct="1">
              <a:defRPr/>
            </a:pPr>
            <a:endParaRPr lang="en-US" b="1" dirty="0"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An admissible heuristic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never overestimates</a:t>
            </a:r>
            <a:r>
              <a:rPr lang="en-US" b="1" dirty="0">
                <a:cs typeface="+mn-cs"/>
              </a:rPr>
              <a:t> the cost to reach the goal,  i.e., it is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optimistic. </a:t>
            </a:r>
            <a:r>
              <a:rPr lang="en-US" b="1" dirty="0">
                <a:cs typeface="+mn-cs"/>
              </a:rPr>
              <a:t>(But no info of where the goal is if set to 0.)</a:t>
            </a:r>
          </a:p>
          <a:p>
            <a:pPr eaLnBrk="1" hangingPunct="1">
              <a:defRPr/>
            </a:pPr>
            <a:endParaRPr lang="en-US" dirty="0">
              <a:cs typeface="+mn-cs"/>
            </a:endParaRP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Example: </a:t>
            </a:r>
            <a:r>
              <a:rPr lang="en-US" b="1" i="1" dirty="0" err="1">
                <a:cs typeface="+mn-cs"/>
              </a:rPr>
              <a:t>h</a:t>
            </a:r>
            <a:r>
              <a:rPr lang="en-US" b="1" i="1" baseline="-25000" dirty="0" err="1">
                <a:cs typeface="+mn-cs"/>
              </a:rPr>
              <a:t>SLD</a:t>
            </a:r>
            <a:r>
              <a:rPr lang="en-US" b="1" i="1" dirty="0">
                <a:cs typeface="+mn-cs"/>
              </a:rPr>
              <a:t>(n) </a:t>
            </a:r>
            <a:r>
              <a:rPr lang="en-US" b="1" dirty="0">
                <a:cs typeface="+mn-cs"/>
              </a:rPr>
              <a:t>(never overestimates the actual road distance)</a:t>
            </a:r>
          </a:p>
          <a:p>
            <a:pPr eaLnBrk="1" hangingPunct="1">
              <a:defRPr/>
            </a:pPr>
            <a:r>
              <a:rPr lang="en-US" b="1" dirty="0">
                <a:cs typeface="+mn-cs"/>
              </a:rPr>
              <a:t>Note: it follows that h(goal) = 0.</a:t>
            </a:r>
            <a:r>
              <a:rPr lang="en-US" sz="2400" dirty="0"/>
              <a:t>
</a:t>
            </a:r>
          </a:p>
          <a:p>
            <a:pPr eaLnBrk="1" hangingPunct="1">
              <a:defRPr/>
            </a:pP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2" name="Picture 1" descr="Screen Shot 2013-09-27 at 2.16.4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860" y="4648200"/>
            <a:ext cx="6155184" cy="990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601" y="6019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81200" y="6001313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Note: less optimistic heuristic push nodes to be expanded</a:t>
            </a:r>
          </a:p>
          <a:p>
            <a:r>
              <a:rPr lang="en-US" sz="2000" b="1" dirty="0">
                <a:solidFill>
                  <a:schemeClr val="accent2"/>
                </a:solidFill>
              </a:rPr>
              <a:t>later. Can prune a lot more.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3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3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3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3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-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Heuristics: (2) Consistency</a:t>
            </a:r>
          </a:p>
        </p:txBody>
      </p:sp>
      <p:sp>
        <p:nvSpPr>
          <p:cNvPr id="136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102" y="1010362"/>
            <a:ext cx="9265298" cy="4095037"/>
          </a:xfrm>
        </p:spPr>
        <p:txBody>
          <a:bodyPr>
            <a:normAutofit fontScale="55000" lnSpcReduction="20000"/>
          </a:bodyPr>
          <a:lstStyle/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cs typeface="+mn-cs"/>
              </a:rPr>
              <a:t>A heuristic is 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consistent (or monotone) </a:t>
            </a:r>
            <a:r>
              <a:rPr lang="en-US" b="1" dirty="0">
                <a:cs typeface="+mn-cs"/>
              </a:rPr>
              <a:t>if for every node </a:t>
            </a:r>
            <a:r>
              <a:rPr lang="en-US" b="1" i="1" dirty="0">
                <a:cs typeface="+mn-cs"/>
              </a:rPr>
              <a:t>n</a:t>
            </a:r>
            <a:r>
              <a:rPr lang="en-US" b="1" dirty="0">
                <a:cs typeface="+mn-cs"/>
              </a:rPr>
              <a:t>, every successor </a:t>
            </a:r>
            <a:r>
              <a:rPr lang="en-US" b="1" i="1" dirty="0">
                <a:cs typeface="+mn-cs"/>
              </a:rPr>
              <a:t>n'</a:t>
            </a:r>
            <a:r>
              <a:rPr lang="en-US" b="1" dirty="0">
                <a:cs typeface="+mn-cs"/>
              </a:rPr>
              <a:t> of </a:t>
            </a:r>
            <a:r>
              <a:rPr lang="en-US" b="1" i="1" dirty="0">
                <a:cs typeface="+mn-cs"/>
              </a:rPr>
              <a:t>n</a:t>
            </a:r>
            <a:r>
              <a:rPr lang="en-US" b="1" dirty="0">
                <a:cs typeface="+mn-cs"/>
              </a:rPr>
              <a:t> generated by any action </a:t>
            </a:r>
            <a:r>
              <a:rPr lang="en-US" b="1" i="1" dirty="0">
                <a:cs typeface="+mn-cs"/>
              </a:rPr>
              <a:t>a</a:t>
            </a:r>
            <a:r>
              <a:rPr lang="en-US" b="1" dirty="0">
                <a:cs typeface="+mn-cs"/>
              </a:rPr>
              <a:t>, </a:t>
            </a:r>
            <a:r>
              <a:rPr lang="en-US" dirty="0">
                <a:cs typeface="+mn-cs"/>
              </a:rPr>
              <a:t>
 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dirty="0">
                <a:cs typeface="+mn-cs"/>
              </a:rPr>
              <a:t>	</a:t>
            </a:r>
            <a:r>
              <a:rPr lang="en-US" sz="2400" b="1" i="1" dirty="0">
                <a:solidFill>
                  <a:srgbClr val="FF0000"/>
                </a:solidFill>
              </a:rPr>
              <a:t>h(n) </a:t>
            </a: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≤</a:t>
            </a:r>
            <a:r>
              <a:rPr lang="en-US" sz="2400" b="1" i="1" dirty="0">
                <a:solidFill>
                  <a:srgbClr val="FF0000"/>
                </a:solidFill>
              </a:rPr>
              <a:t> c(</a:t>
            </a:r>
            <a:r>
              <a:rPr lang="en-US" sz="2400" b="1" i="1" dirty="0" err="1">
                <a:solidFill>
                  <a:srgbClr val="FF0000"/>
                </a:solidFill>
              </a:rPr>
              <a:t>n,a,n</a:t>
            </a:r>
            <a:r>
              <a:rPr lang="en-US" sz="2400" b="1" i="1" dirty="0">
                <a:solidFill>
                  <a:srgbClr val="FF0000"/>
                </a:solidFill>
              </a:rPr>
              <a:t>') + h(n')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dirty="0">
              <a:cs typeface="+mn-cs"/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dirty="0">
                <a:cs typeface="+mn-cs"/>
              </a:rPr>
              <a:t>(form of the triangle inequality)
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If </a:t>
            </a:r>
            <a:r>
              <a:rPr lang="en-US" b="1" i="1" dirty="0">
                <a:solidFill>
                  <a:srgbClr val="FF0000"/>
                </a:solidFill>
                <a:cs typeface="+mn-cs"/>
              </a:rPr>
              <a:t>h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 is consistent, we have</a:t>
            </a:r>
            <a:r>
              <a:rPr lang="en-US" dirty="0">
                <a:cs typeface="+mn-cs"/>
              </a:rPr>
              <a:t>
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solidFill>
                  <a:srgbClr val="0000FF"/>
                </a:solidFill>
                <a:cs typeface="+mn-cs"/>
              </a:rPr>
              <a:t>f(n')</a:t>
            </a:r>
            <a:r>
              <a:rPr lang="en-US" dirty="0">
                <a:solidFill>
                  <a:srgbClr val="0000FF"/>
                </a:solidFill>
                <a:cs typeface="+mn-cs"/>
              </a:rPr>
              <a:t> 	= g(n') + h(n')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dirty="0">
                <a:solidFill>
                  <a:srgbClr val="0000FF"/>
                </a:solidFill>
                <a:cs typeface="+mn-cs"/>
              </a:rPr>
              <a:t>      	= g(n) + c(</a:t>
            </a:r>
            <a:r>
              <a:rPr lang="en-US" dirty="0" err="1">
                <a:solidFill>
                  <a:srgbClr val="0000FF"/>
                </a:solidFill>
                <a:cs typeface="+mn-cs"/>
              </a:rPr>
              <a:t>n,a,n</a:t>
            </a:r>
            <a:r>
              <a:rPr lang="en-US" dirty="0">
                <a:solidFill>
                  <a:srgbClr val="0000FF"/>
                </a:solidFill>
                <a:cs typeface="+mn-cs"/>
              </a:rPr>
              <a:t>') + h(n')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dirty="0">
                <a:solidFill>
                  <a:srgbClr val="0000FF"/>
                </a:solidFill>
                <a:cs typeface="+mn-cs"/>
              </a:rPr>
              <a:t>      	</a:t>
            </a:r>
            <a:r>
              <a:rPr lang="en-US" b="1" dirty="0">
                <a:solidFill>
                  <a:srgbClr val="0000FF"/>
                </a:solidFill>
                <a:cs typeface="Arial" charset="0"/>
              </a:rPr>
              <a:t>≥</a:t>
            </a:r>
            <a:r>
              <a:rPr lang="en-US" dirty="0">
                <a:solidFill>
                  <a:srgbClr val="0000FF"/>
                </a:solidFill>
                <a:cs typeface="Arial" charset="0"/>
              </a:rPr>
              <a:t> </a:t>
            </a:r>
            <a:r>
              <a:rPr lang="en-US" dirty="0">
                <a:solidFill>
                  <a:srgbClr val="0000FF"/>
                </a:solidFill>
                <a:cs typeface="+mn-cs"/>
              </a:rPr>
              <a:t>g(n) + h(n) 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dirty="0">
                <a:solidFill>
                  <a:srgbClr val="0000FF"/>
                </a:solidFill>
                <a:cs typeface="+mn-cs"/>
              </a:rPr>
              <a:t>      </a:t>
            </a:r>
            <a:r>
              <a:rPr lang="en-US" b="1" dirty="0">
                <a:solidFill>
                  <a:srgbClr val="0000FF"/>
                </a:solidFill>
                <a:cs typeface="+mn-cs"/>
              </a:rPr>
              <a:t>	= f(n)</a:t>
            </a:r>
            <a:r>
              <a:rPr lang="en-US" b="1" dirty="0">
                <a:cs typeface="+mn-cs"/>
              </a:rPr>
              <a:t>
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i.e.,</a:t>
            </a:r>
            <a:r>
              <a:rPr lang="en-US" dirty="0">
                <a:solidFill>
                  <a:srgbClr val="FF0000"/>
                </a:solidFill>
                <a:cs typeface="+mn-cs"/>
              </a:rPr>
              <a:t>   </a:t>
            </a:r>
            <a:r>
              <a:rPr lang="en-US" b="1" i="1" dirty="0">
                <a:solidFill>
                  <a:srgbClr val="FF0000"/>
                </a:solidFill>
                <a:cs typeface="+mn-cs"/>
              </a:rPr>
              <a:t>f(n)</a:t>
            </a:r>
            <a:r>
              <a:rPr lang="en-US" b="1" dirty="0">
                <a:solidFill>
                  <a:srgbClr val="FF0000"/>
                </a:solidFill>
                <a:cs typeface="+mn-cs"/>
              </a:rPr>
              <a:t> is non-decreasing along any path.</a:t>
            </a:r>
            <a:r>
              <a:rPr lang="en-US" dirty="0">
                <a:cs typeface="+mn-cs"/>
              </a:rPr>
              <a:t>
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dirty="0">
              <a:cs typeface="+mn-cs"/>
            </a:endParaRPr>
          </a:p>
        </p:txBody>
      </p:sp>
      <p:pic>
        <p:nvPicPr>
          <p:cNvPr id="27651" name="Picture 4" descr="consistenc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1600201"/>
            <a:ext cx="196215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2950" name="Rectangle 6"/>
          <p:cNvSpPr>
            <a:spLocks noChangeArrowheads="1"/>
          </p:cNvSpPr>
          <p:nvPr/>
        </p:nvSpPr>
        <p:spPr bwMode="auto">
          <a:xfrm>
            <a:off x="6248400" y="3810001"/>
            <a:ext cx="4343400" cy="124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sym typeface="Wingdings" charset="0"/>
              </a:rPr>
              <a:t> sequence of nodes expanded by A* is in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sym typeface="Wingdings" charset="0"/>
              </a:rPr>
              <a:t>nondecreasing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sym typeface="Wingdings" charset="0"/>
              </a:rPr>
              <a:t> order of f(n)</a:t>
            </a:r>
          </a:p>
          <a:p>
            <a:pPr>
              <a:lnSpc>
                <a:spcPct val="80000"/>
              </a:lnSpc>
              <a:spcBef>
                <a:spcPct val="50000"/>
              </a:spcBef>
              <a:defRPr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sym typeface="Wingdings" charset="0"/>
              </a:rPr>
              <a:t>  the </a:t>
            </a:r>
            <a:r>
              <a:rPr lang="en-US" sz="2000" b="1" dirty="0">
                <a:solidFill>
                  <a:srgbClr val="FF0000"/>
                </a:solidFill>
                <a:sym typeface="Wingdings" charset="0"/>
              </a:rPr>
              <a:t>first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sym typeface="Wingdings" charset="0"/>
              </a:rPr>
              <a:t> goal selected for expansion must be an optimal goal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362952" name="Text Box 8"/>
          <p:cNvSpPr txBox="1">
            <a:spLocks noChangeArrowheads="1"/>
          </p:cNvSpPr>
          <p:nvPr/>
        </p:nvSpPr>
        <p:spPr bwMode="auto">
          <a:xfrm>
            <a:off x="3962401" y="64008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62953" name="Text Box 9"/>
          <p:cNvSpPr txBox="1">
            <a:spLocks noChangeArrowheads="1"/>
          </p:cNvSpPr>
          <p:nvPr/>
        </p:nvSpPr>
        <p:spPr bwMode="auto">
          <a:xfrm>
            <a:off x="3886201" y="624840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62954" name="Text Box 10"/>
          <p:cNvSpPr txBox="1">
            <a:spLocks noChangeArrowheads="1"/>
          </p:cNvSpPr>
          <p:nvPr/>
        </p:nvSpPr>
        <p:spPr bwMode="auto">
          <a:xfrm>
            <a:off x="2362200" y="5715000"/>
            <a:ext cx="658103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/>
                </a:solidFill>
              </a:rPr>
              <a:t>Note:  Monotonicity is a stronger condition than admissibility.</a:t>
            </a:r>
          </a:p>
          <a:p>
            <a:pPr>
              <a:defRPr/>
            </a:pPr>
            <a:r>
              <a:rPr lang="en-US" b="1" dirty="0">
                <a:solidFill>
                  <a:schemeClr val="accent2"/>
                </a:solidFill>
              </a:rPr>
              <a:t>Any consistent heuristic is also admissible.</a:t>
            </a:r>
          </a:p>
          <a:p>
            <a:pPr>
              <a:defRPr/>
            </a:pPr>
            <a:r>
              <a:rPr lang="en-US" b="1" dirty="0">
                <a:solidFill>
                  <a:schemeClr val="accent2"/>
                </a:solidFill>
              </a:rPr>
              <a:t>(Exercise 3.29)</a:t>
            </a:r>
          </a:p>
        </p:txBody>
      </p:sp>
      <p:sp>
        <p:nvSpPr>
          <p:cNvPr id="2" name="Rectangle 1"/>
          <p:cNvSpPr/>
          <p:nvPr/>
        </p:nvSpPr>
        <p:spPr>
          <a:xfrm>
            <a:off x="166316" y="4495799"/>
            <a:ext cx="5486400" cy="609600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6248400" y="2362200"/>
            <a:ext cx="19050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800" b="1" dirty="0">
                <a:solidFill>
                  <a:srgbClr val="3366FF"/>
                </a:solidFill>
              </a:rPr>
              <a:t>f(n')</a:t>
            </a:r>
            <a:r>
              <a:rPr lang="en-US" sz="2800" dirty="0">
                <a:solidFill>
                  <a:srgbClr val="3366FF"/>
                </a:solidFill>
              </a:rPr>
              <a:t> </a:t>
            </a:r>
            <a:r>
              <a:rPr lang="en-US" b="1" dirty="0">
                <a:solidFill>
                  <a:srgbClr val="3366FF"/>
                </a:solidFill>
                <a:cs typeface="Arial" charset="0"/>
              </a:rPr>
              <a:t>≥</a:t>
            </a:r>
            <a:r>
              <a:rPr lang="en-US" dirty="0">
                <a:solidFill>
                  <a:srgbClr val="3366FF"/>
                </a:solidFill>
                <a:cs typeface="Arial" charset="0"/>
              </a:rPr>
              <a:t>  </a:t>
            </a:r>
            <a:r>
              <a:rPr lang="en-US" sz="2800" b="1" dirty="0">
                <a:solidFill>
                  <a:srgbClr val="3366FF"/>
                </a:solidFill>
              </a:rPr>
              <a:t>f(n)</a:t>
            </a:r>
            <a:endParaRPr lang="en-US" dirty="0">
              <a:solidFill>
                <a:srgbClr val="3366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6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6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6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6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6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6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6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6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6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6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6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6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6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629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6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629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62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62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954" grpId="0"/>
      <p:bldP spid="2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2286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A*: Tree Search  vs. Graph Search</a:t>
            </a:r>
          </a:p>
        </p:txBody>
      </p:sp>
      <p:sp>
        <p:nvSpPr>
          <p:cNvPr id="1475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762000"/>
            <a:ext cx="8305800" cy="5410200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None/>
              <a:defRPr/>
            </a:pPr>
            <a:r>
              <a:rPr lang="en-US" b="1" dirty="0">
                <a:cs typeface="+mn-cs"/>
              </a:rPr>
              <a:t>TREE SEARCH (See Fig. 3.7; used in earlier examples): </a:t>
            </a:r>
          </a:p>
          <a:p>
            <a:pPr marL="0" indent="0" eaLnBrk="1" hangingPunct="1">
              <a:buNone/>
              <a:defRPr/>
            </a:pPr>
            <a:r>
              <a:rPr lang="en-US" b="1" dirty="0">
                <a:cs typeface="+mn-cs"/>
              </a:rPr>
              <a:t> </a:t>
            </a:r>
          </a:p>
          <a:p>
            <a:pPr marL="0" indent="0" eaLnBrk="1" hangingPunct="1">
              <a:buNone/>
              <a:defRPr/>
            </a:pPr>
            <a:r>
              <a:rPr lang="en-US" b="1" dirty="0">
                <a:solidFill>
                  <a:schemeClr val="accent6"/>
                </a:solidFill>
                <a:cs typeface="+mn-cs"/>
              </a:rPr>
              <a:t>If </a:t>
            </a:r>
            <a:r>
              <a:rPr lang="en-US" b="1" i="1" dirty="0">
                <a:solidFill>
                  <a:schemeClr val="accent6"/>
                </a:solidFill>
                <a:cs typeface="+mn-cs"/>
              </a:rPr>
              <a:t>h(n) </a:t>
            </a:r>
            <a:r>
              <a:rPr lang="en-US" b="1" dirty="0">
                <a:solidFill>
                  <a:schemeClr val="accent6"/>
                </a:solidFill>
                <a:cs typeface="+mn-cs"/>
              </a:rPr>
              <a:t>is admissible, A* using  tree search is optimal.</a:t>
            </a:r>
          </a:p>
          <a:p>
            <a:pPr marL="0" indent="0" eaLnBrk="1" hangingPunct="1">
              <a:buNone/>
              <a:defRPr/>
            </a:pPr>
            <a:endParaRPr lang="en-US" dirty="0">
              <a:cs typeface="+mn-cs"/>
            </a:endParaRPr>
          </a:p>
          <a:p>
            <a:pPr marL="0" indent="0" algn="just" eaLnBrk="1" hangingPunct="1">
              <a:buNone/>
              <a:defRPr/>
            </a:pPr>
            <a:r>
              <a:rPr lang="en-US" b="1" dirty="0">
                <a:cs typeface="+mn-cs"/>
              </a:rPr>
              <a:t>GRAPH SEARCH  (See Fig. 3.7) </a:t>
            </a:r>
            <a:r>
              <a:rPr lang="en-US" sz="1800" b="1" dirty="0"/>
              <a:t>A modification of tree search that includes an </a:t>
            </a:r>
            <a:r>
              <a:rPr lang="en-US" sz="1800" b="1" dirty="0">
                <a:solidFill>
                  <a:srgbClr val="FF0000"/>
                </a:solidFill>
              </a:rPr>
              <a:t>“explored set” (or “closed list”; list of  expanded nodes to avoid re-visiting the same state)</a:t>
            </a:r>
            <a:r>
              <a:rPr lang="en-US" sz="1800" b="1" dirty="0"/>
              <a:t>; if the current node matches  a node </a:t>
            </a:r>
            <a:r>
              <a:rPr lang="en-US" sz="1800" b="1" dirty="0">
                <a:solidFill>
                  <a:srgbClr val="FF0000"/>
                </a:solidFill>
              </a:rPr>
              <a:t>on the closed list</a:t>
            </a:r>
            <a:r>
              <a:rPr lang="en-US" sz="1800" b="1" dirty="0"/>
              <a:t>, it is discarded instead of being expanded. In order to guarantee optimality of A*, we need to make sure  that the optimal path to any repeated state is always the first one followed:</a:t>
            </a:r>
          </a:p>
          <a:p>
            <a:pPr marL="0" indent="0" eaLnBrk="1" hangingPunct="1">
              <a:buNone/>
              <a:defRPr/>
            </a:pPr>
            <a:endParaRPr lang="en-US" sz="1800" dirty="0"/>
          </a:p>
          <a:p>
            <a:pPr marL="0" indent="0" eaLnBrk="1" hangingPunct="1">
              <a:buNone/>
              <a:defRPr/>
            </a:pPr>
            <a:r>
              <a:rPr lang="en-US" b="1" dirty="0">
                <a:solidFill>
                  <a:srgbClr val="2D2DB9"/>
                </a:solidFill>
                <a:cs typeface="+mn-cs"/>
              </a:rPr>
              <a:t>If </a:t>
            </a:r>
            <a:r>
              <a:rPr lang="en-US" b="1" i="1" dirty="0">
                <a:solidFill>
                  <a:srgbClr val="2D2DB9"/>
                </a:solidFill>
                <a:cs typeface="+mn-cs"/>
              </a:rPr>
              <a:t>h(n) </a:t>
            </a:r>
            <a:r>
              <a:rPr lang="en-US" b="1" dirty="0">
                <a:solidFill>
                  <a:srgbClr val="2D2DB9"/>
                </a:solidFill>
                <a:cs typeface="+mn-cs"/>
              </a:rPr>
              <a:t>is monotonic, A* using  graph search is optimal.</a:t>
            </a:r>
          </a:p>
          <a:p>
            <a:pPr marL="0" indent="0" eaLnBrk="1" hangingPunct="1">
              <a:buNone/>
              <a:defRPr/>
            </a:pPr>
            <a:endParaRPr lang="en-US" dirty="0">
              <a:cs typeface="+mn-cs"/>
            </a:endParaRPr>
          </a:p>
          <a:p>
            <a:pPr marL="0" indent="0" eaLnBrk="1" hangingPunct="1">
              <a:buNone/>
              <a:defRPr/>
            </a:pPr>
            <a:endParaRPr lang="en-US" dirty="0">
              <a:cs typeface="+mn-cs"/>
            </a:endParaRPr>
          </a:p>
          <a:p>
            <a:pPr marL="0" indent="0" eaLnBrk="1" hangingPunct="1">
              <a:buNone/>
              <a:defRPr/>
            </a:pPr>
            <a:endParaRPr lang="en-US" dirty="0">
              <a:cs typeface="+mn-cs"/>
            </a:endParaRPr>
          </a:p>
          <a:p>
            <a:pPr marL="0" indent="0" eaLnBrk="1" hangingPunct="1">
              <a:buNone/>
              <a:defRPr/>
            </a:pPr>
            <a:endParaRPr lang="en-US" dirty="0">
              <a:cs typeface="+mn-cs"/>
            </a:endParaRPr>
          </a:p>
          <a:p>
            <a:pPr marL="0" indent="0" eaLnBrk="1" hangingPunct="1">
              <a:buNone/>
              <a:defRPr/>
            </a:pPr>
            <a:endParaRPr lang="en-US" dirty="0">
              <a:cs typeface="+mn-cs"/>
            </a:endParaRPr>
          </a:p>
          <a:p>
            <a:pPr marL="0" indent="0" eaLnBrk="1" hangingPunct="1">
              <a:buNone/>
              <a:defRPr/>
            </a:pPr>
            <a:endParaRPr lang="en-US" dirty="0">
              <a:cs typeface="+mn-cs"/>
            </a:endParaRPr>
          </a:p>
        </p:txBody>
      </p:sp>
      <p:sp>
        <p:nvSpPr>
          <p:cNvPr id="1475591" name="Rectangle 7"/>
          <p:cNvSpPr>
            <a:spLocks noChangeArrowheads="1"/>
          </p:cNvSpPr>
          <p:nvPr/>
        </p:nvSpPr>
        <p:spPr bwMode="auto">
          <a:xfrm>
            <a:off x="1828800" y="2019300"/>
            <a:ext cx="7924800" cy="685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475592" name="Rectangle 8"/>
          <p:cNvSpPr>
            <a:spLocks noChangeArrowheads="1"/>
          </p:cNvSpPr>
          <p:nvPr/>
        </p:nvSpPr>
        <p:spPr bwMode="auto">
          <a:xfrm>
            <a:off x="1828800" y="5181600"/>
            <a:ext cx="8305800" cy="914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5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5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75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75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559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127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Intuition: Contours of A</a:t>
            </a:r>
            <a:r>
              <a:rPr lang="en-US" baseline="30000" dirty="0">
                <a:solidFill>
                  <a:srgbClr val="FF0000"/>
                </a:solidFill>
                <a:cs typeface="+mj-cs"/>
              </a:rPr>
              <a:t>*</a:t>
            </a:r>
          </a:p>
        </p:txBody>
      </p:sp>
      <p:sp>
        <p:nvSpPr>
          <p:cNvPr id="134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066800"/>
            <a:ext cx="8305800" cy="4114800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A</a:t>
            </a:r>
            <a:r>
              <a:rPr lang="en-US" sz="1800" b="1" baseline="30000" dirty="0">
                <a:solidFill>
                  <a:srgbClr val="FF0000"/>
                </a:solidFill>
              </a:rPr>
              <a:t>*</a:t>
            </a:r>
            <a:r>
              <a:rPr lang="en-US" sz="1800" b="1" dirty="0">
                <a:solidFill>
                  <a:srgbClr val="FF0000"/>
                </a:solidFill>
              </a:rPr>
              <a:t> expands nodes in order of increasing </a:t>
            </a:r>
            <a:r>
              <a:rPr lang="en-US" sz="1800" b="1" i="1" dirty="0">
                <a:solidFill>
                  <a:srgbClr val="FF0000"/>
                </a:solidFill>
              </a:rPr>
              <a:t>f</a:t>
            </a:r>
            <a:r>
              <a:rPr lang="en-US" sz="1800" b="1" dirty="0">
                <a:solidFill>
                  <a:srgbClr val="FF0000"/>
                </a:solidFill>
              </a:rPr>
              <a:t> value.</a:t>
            </a:r>
            <a:r>
              <a:rPr lang="en-US" sz="1800" dirty="0"/>
              <a:t>
</a:t>
            </a:r>
          </a:p>
          <a:p>
            <a:pPr marL="0" indent="0" eaLnBrk="1" hangingPunct="1">
              <a:buNone/>
              <a:defRPr/>
            </a:pPr>
            <a:r>
              <a:rPr lang="en-US" sz="1800" b="1" dirty="0"/>
              <a:t>Gradually adds "</a:t>
            </a:r>
            <a:r>
              <a:rPr lang="en-US" sz="1800" b="1" i="1" dirty="0"/>
              <a:t>f</a:t>
            </a:r>
            <a:r>
              <a:rPr lang="en-US" sz="1800" b="1" dirty="0"/>
              <a:t>-contours" of nodes.</a:t>
            </a:r>
          </a:p>
          <a:p>
            <a:pPr marL="0" indent="0" eaLnBrk="1" hangingPunct="1">
              <a:buNone/>
              <a:defRPr/>
            </a:pPr>
            <a:r>
              <a:rPr lang="en-US" sz="1800" b="1" dirty="0"/>
              <a:t>Contour </a:t>
            </a:r>
            <a:r>
              <a:rPr lang="en-US" sz="1800" b="1" i="1" dirty="0" err="1"/>
              <a:t>i</a:t>
            </a:r>
            <a:r>
              <a:rPr lang="en-US" sz="1800" b="1" dirty="0"/>
              <a:t> has all nodes with </a:t>
            </a:r>
            <a:r>
              <a:rPr lang="en-US" sz="1800" b="1" i="1" dirty="0"/>
              <a:t>f &lt;= f</a:t>
            </a:r>
            <a:r>
              <a:rPr lang="en-US" sz="1800" b="1" i="1" baseline="-25000" dirty="0"/>
              <a:t>i</a:t>
            </a:r>
            <a:r>
              <a:rPr lang="en-US" sz="1800" b="1" dirty="0"/>
              <a:t>, where </a:t>
            </a:r>
            <a:r>
              <a:rPr lang="en-US" sz="1800" b="1" i="1" dirty="0"/>
              <a:t>f</a:t>
            </a:r>
            <a:r>
              <a:rPr lang="en-US" sz="1800" b="1" i="1" baseline="-25000" dirty="0"/>
              <a:t>i</a:t>
            </a:r>
            <a:r>
              <a:rPr lang="en-US" sz="1800" b="1" i="1" dirty="0"/>
              <a:t> &lt; f</a:t>
            </a:r>
            <a:r>
              <a:rPr lang="en-US" sz="1800" b="1" i="1" baseline="-25000" dirty="0"/>
              <a:t>i+1</a:t>
            </a:r>
            <a:r>
              <a:rPr lang="en-US" sz="1800" dirty="0"/>
              <a:t>
</a:t>
            </a:r>
            <a:endParaRPr lang="en-US" sz="1800" b="1" dirty="0"/>
          </a:p>
          <a:p>
            <a:pPr marL="0" indent="0" eaLnBrk="1" hangingPunct="1">
              <a:buNone/>
              <a:defRPr/>
            </a:pPr>
            <a:r>
              <a:rPr lang="en-US" sz="1800" dirty="0"/>
              <a:t>Note: with uniform cost (h(n)=0) the bands will be circular around the start state.</a:t>
            </a:r>
          </a:p>
        </p:txBody>
      </p:sp>
      <p:pic>
        <p:nvPicPr>
          <p:cNvPr id="29699" name="Picture 4" descr="f-circl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845" y="3572069"/>
            <a:ext cx="4114800" cy="283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40421" name="Text Box 5"/>
          <p:cNvSpPr txBox="1">
            <a:spLocks noChangeArrowheads="1"/>
          </p:cNvSpPr>
          <p:nvPr/>
        </p:nvSpPr>
        <p:spPr bwMode="auto">
          <a:xfrm>
            <a:off x="7242175" y="5181600"/>
            <a:ext cx="4114800" cy="1569660"/>
          </a:xfrm>
          <a:prstGeom prst="rect">
            <a:avLst/>
          </a:prstGeom>
          <a:solidFill>
            <a:schemeClr val="accent1">
              <a:alpha val="37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FF0000"/>
                </a:solidFill>
              </a:rPr>
              <a:t>Optimality</a:t>
            </a:r>
            <a:r>
              <a:rPr lang="en-US" sz="1600" b="1" dirty="0"/>
              <a:t> (intuition)</a:t>
            </a:r>
          </a:p>
          <a:p>
            <a:pPr>
              <a:defRPr/>
            </a:pPr>
            <a:r>
              <a:rPr lang="en-US" sz="1600" b="1" dirty="0"/>
              <a:t>1</a:t>
            </a:r>
            <a:r>
              <a:rPr lang="en-US" sz="1600" b="1" baseline="30000" dirty="0"/>
              <a:t>st</a:t>
            </a:r>
            <a:r>
              <a:rPr lang="en-US" sz="1600" b="1" dirty="0"/>
              <a:t> solution found (goal node expanded) must be an optimal one since  </a:t>
            </a:r>
            <a:r>
              <a:rPr lang="en-US" sz="1600" b="1" u="sng" dirty="0"/>
              <a:t>goal nodes in subsequent contours will have higher f-cost and therefore higher g-cost</a:t>
            </a:r>
            <a:r>
              <a:rPr lang="en-US" sz="1600" b="1" dirty="0"/>
              <a:t> (since h(goal)=0)</a:t>
            </a:r>
          </a:p>
        </p:txBody>
      </p:sp>
      <p:sp>
        <p:nvSpPr>
          <p:cNvPr id="1340422" name="Text Box 6"/>
          <p:cNvSpPr txBox="1">
            <a:spLocks noChangeArrowheads="1"/>
          </p:cNvSpPr>
          <p:nvPr/>
        </p:nvSpPr>
        <p:spPr bwMode="auto">
          <a:xfrm>
            <a:off x="7302759" y="3384550"/>
            <a:ext cx="3733800" cy="1568450"/>
          </a:xfrm>
          <a:prstGeom prst="rect">
            <a:avLst/>
          </a:prstGeom>
          <a:solidFill>
            <a:schemeClr val="accent1">
              <a:alpha val="60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FF0000"/>
                </a:solidFill>
              </a:rPr>
              <a:t>Completeness</a:t>
            </a:r>
            <a:r>
              <a:rPr lang="en-US" sz="1600" b="1" dirty="0"/>
              <a:t> (intuition)</a:t>
            </a:r>
          </a:p>
          <a:p>
            <a:pPr>
              <a:defRPr/>
            </a:pPr>
            <a:r>
              <a:rPr lang="en-US" sz="1600" b="1" dirty="0"/>
              <a:t>As we add bands of increasing f, we must eventually reach a band where f is equal to the cost of the path to a goal state. (assuming b finite and  step cost exceed some positive finite </a:t>
            </a:r>
            <a:r>
              <a:rPr lang="el-GR" sz="1600" b="1" dirty="0">
                <a:cs typeface="Times New Roman" charset="0"/>
              </a:rPr>
              <a:t>ε</a:t>
            </a:r>
            <a:r>
              <a:rPr lang="en-US" sz="1600" b="1" dirty="0"/>
              <a:t>).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845425" y="1155700"/>
            <a:ext cx="3511550" cy="1323975"/>
          </a:xfrm>
          <a:prstGeom prst="rect">
            <a:avLst/>
          </a:prstGeom>
          <a:solidFill>
            <a:schemeClr val="accent1"/>
          </a:solidFill>
          <a:ln>
            <a:solidFill>
              <a:schemeClr val="accent6">
                <a:alpha val="63000"/>
              </a:schemeClr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/>
              <a:t>A* expands all nodes</a:t>
            </a:r>
          </a:p>
          <a:p>
            <a:pPr>
              <a:defRPr/>
            </a:pPr>
            <a:r>
              <a:rPr lang="en-US" sz="2000" dirty="0"/>
              <a:t>with f(n)&lt;C*</a:t>
            </a:r>
          </a:p>
          <a:p>
            <a:pPr>
              <a:defRPr/>
            </a:pPr>
            <a:r>
              <a:rPr lang="en-US" sz="2000" dirty="0"/>
              <a:t>Uniform-cost (h(n)=0)</a:t>
            </a:r>
          </a:p>
          <a:p>
            <a:pPr>
              <a:defRPr/>
            </a:pPr>
            <a:r>
              <a:rPr lang="en-US" sz="2000" dirty="0"/>
              <a:t>expands in circles.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981200" y="3886200"/>
            <a:ext cx="554960" cy="369332"/>
          </a:xfrm>
          <a:prstGeom prst="rect">
            <a:avLst/>
          </a:prstGeom>
          <a:solidFill>
            <a:schemeClr val="accent6">
              <a:alpha val="46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380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4343400"/>
            <a:ext cx="554960" cy="369332"/>
          </a:xfrm>
          <a:prstGeom prst="rect">
            <a:avLst/>
          </a:prstGeom>
          <a:solidFill>
            <a:schemeClr val="accent6">
              <a:alpha val="46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400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334000"/>
            <a:ext cx="554960" cy="369332"/>
          </a:xfrm>
          <a:prstGeom prst="rect">
            <a:avLst/>
          </a:prstGeom>
          <a:solidFill>
            <a:schemeClr val="accent6">
              <a:alpha val="46000"/>
            </a:schemeClr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/>
              <a:t>420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0421" grpId="0" animBg="1"/>
      <p:bldP spid="1340422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9248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A* Search: Optimality</a:t>
            </a:r>
          </a:p>
        </p:txBody>
      </p:sp>
      <p:sp>
        <p:nvSpPr>
          <p:cNvPr id="147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3895725"/>
            <a:ext cx="8229600" cy="1295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Theorem: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 A* used with a </a:t>
            </a:r>
            <a:r>
              <a:rPr lang="en-US" sz="2400" b="1" i="1" dirty="0">
                <a:solidFill>
                  <a:srgbClr val="FF0000"/>
                </a:solidFill>
                <a:cs typeface="Arial" charset="0"/>
              </a:rPr>
              <a:t>consistent </a:t>
            </a:r>
            <a:r>
              <a:rPr lang="en-US" sz="2400" b="1" dirty="0">
                <a:solidFill>
                  <a:srgbClr val="FF0000"/>
                </a:solidFill>
                <a:cs typeface="Arial" charset="0"/>
              </a:rPr>
              <a:t>heuristic ensures optimality with graph search.</a:t>
            </a:r>
          </a:p>
        </p:txBody>
      </p:sp>
      <p:pic>
        <p:nvPicPr>
          <p:cNvPr id="31747" name="Picture 4" descr="consistenc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7847" y="1425835"/>
            <a:ext cx="1962150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9248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A* Search: Pseudocode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6CF275-2EC5-7A72-4E66-A9341FFE3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8066" y="2114390"/>
            <a:ext cx="7746267" cy="4743610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64F79EA2-15BE-055C-7D7D-3AEF2F4DBA82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942895"/>
            <a:ext cx="8229600" cy="1295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80000"/>
              </a:lnSpc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Open List:  consists on nodes that have been visited but not expanded (meaning that </a:t>
            </a:r>
            <a:r>
              <a:rPr lang="en-US" b="1" dirty="0" err="1">
                <a:solidFill>
                  <a:srgbClr val="2D2DB9"/>
                </a:solidFill>
                <a:cs typeface="Arial" charset="0"/>
              </a:rPr>
              <a:t>sucessors</a:t>
            </a:r>
            <a:r>
              <a:rPr lang="en-US" b="1" dirty="0">
                <a:solidFill>
                  <a:srgbClr val="2D2DB9"/>
                </a:solidFill>
                <a:cs typeface="Arial" charset="0"/>
              </a:rPr>
              <a:t> have not been explored yet ). This is the list of pending tasks.</a:t>
            </a:r>
          </a:p>
          <a:p>
            <a:pPr marL="0" indent="0">
              <a:lnSpc>
                <a:spcPct val="80000"/>
              </a:lnSpc>
              <a:defRPr/>
            </a:pPr>
            <a:endParaRPr lang="en-US" b="1" dirty="0">
              <a:solidFill>
                <a:srgbClr val="2D2DB9"/>
              </a:solidFill>
              <a:cs typeface="Arial" charset="0"/>
            </a:endParaRPr>
          </a:p>
          <a:p>
            <a:pPr marL="0" indent="0" algn="just">
              <a:lnSpc>
                <a:spcPct val="80000"/>
              </a:lnSpc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Close List: consists on nodes that have been visited and expanded (</a:t>
            </a:r>
            <a:r>
              <a:rPr lang="en-US" b="1" dirty="0" err="1">
                <a:solidFill>
                  <a:srgbClr val="2D2DB9"/>
                </a:solidFill>
                <a:cs typeface="Arial" charset="0"/>
              </a:rPr>
              <a:t>sucessors</a:t>
            </a:r>
            <a:r>
              <a:rPr lang="en-US" b="1" dirty="0">
                <a:solidFill>
                  <a:srgbClr val="2D2DB9"/>
                </a:solidFill>
                <a:cs typeface="Arial" charset="0"/>
              </a:rPr>
              <a:t> have been explored already and included in the </a:t>
            </a:r>
            <a:r>
              <a:rPr lang="en-US" b="1" dirty="0" err="1">
                <a:solidFill>
                  <a:srgbClr val="2D2DB9"/>
                </a:solidFill>
                <a:cs typeface="Arial" charset="0"/>
              </a:rPr>
              <a:t>openlist</a:t>
            </a:r>
            <a:r>
              <a:rPr lang="en-US" b="1" dirty="0">
                <a:solidFill>
                  <a:srgbClr val="2D2DB9"/>
                </a:solidFill>
                <a:cs typeface="Arial" charset="0"/>
              </a:rPr>
              <a:t>, if this was the case).</a:t>
            </a:r>
          </a:p>
          <a:p>
            <a:pPr>
              <a:lnSpc>
                <a:spcPct val="80000"/>
              </a:lnSpc>
              <a:defRPr/>
            </a:pPr>
            <a:endParaRPr lang="en-US" sz="2400" b="1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51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6996" y="740228"/>
            <a:ext cx="9408367" cy="4953000"/>
          </a:xfrm>
        </p:spPr>
        <p:txBody>
          <a:bodyPr>
            <a:normAutofit fontScale="47500" lnSpcReduction="2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5000" b="1" dirty="0">
                <a:cs typeface="Arial" charset="0"/>
              </a:rPr>
              <a:t>Proof: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b="1" dirty="0">
              <a:cs typeface="Arial" charset="0"/>
            </a:endParaRPr>
          </a:p>
          <a:p>
            <a:pPr marL="457200" indent="-457200">
              <a:lnSpc>
                <a:spcPct val="80000"/>
              </a:lnSpc>
              <a:buFontTx/>
              <a:buAutoNum type="arabicParenBoth"/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If h(n) is consistent, then the values of f(n) along any path are  non-decreasing. See consistent heuristics slide.</a:t>
            </a:r>
          </a:p>
          <a:p>
            <a:pPr marL="0" indent="0">
              <a:lnSpc>
                <a:spcPct val="80000"/>
              </a:lnSpc>
              <a:defRPr/>
            </a:pPr>
            <a:endParaRPr lang="en-US" b="1" dirty="0">
              <a:cs typeface="Arial" charset="0"/>
            </a:endParaRP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(2) Whenever A* selects a node n for expansion, the optimal path  to that node has been found. Why?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Assume 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not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. Then, the optimal path, P, must have some not yet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     expanded nodes. (*) Thus, on P, there must be an </a:t>
            </a:r>
            <a:r>
              <a:rPr lang="en-US" b="1" dirty="0">
                <a:solidFill>
                  <a:srgbClr val="FF0000"/>
                </a:solidFill>
                <a:cs typeface="Arial" charset="0"/>
              </a:rPr>
              <a:t>unexpanded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     node n` on the current frontier (because of graph separation;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     fig. 3.9; frontier separates explored region from unexplored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     region). But, because f is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nondecreasing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along any path, n`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     would have a lower f-cost than n and would have been selected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cs typeface="Arial" charset="0"/>
              </a:rPr>
              <a:t>      first for expansion before n. Contradiction.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From (1) and (2), it follows that the sequence of nodes expanded by A*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using Graph-Search is in non-decreasing order of f(n). Thus, the first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goal node selected must have the optimal path, because f(n) is the true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path cost for goal nodes (h(Goal) = 0), and all later goal nodes have paths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b="1" dirty="0">
                <a:solidFill>
                  <a:srgbClr val="2D2DB9"/>
                </a:solidFill>
                <a:cs typeface="Arial" charset="0"/>
              </a:rPr>
              <a:t>that are are at least as expensive.  QED</a:t>
            </a:r>
          </a:p>
          <a:p>
            <a:pPr marL="0" indent="0">
              <a:lnSpc>
                <a:spcPct val="80000"/>
              </a:lnSpc>
              <a:defRPr/>
            </a:pPr>
            <a:endParaRPr lang="en-US" b="1" dirty="0">
              <a:solidFill>
                <a:srgbClr val="2D2DB9"/>
              </a:solidFill>
              <a:cs typeface="Arial" charset="0"/>
            </a:endParaRPr>
          </a:p>
          <a:p>
            <a:pPr marL="0" indent="0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009973"/>
                </a:solidFill>
                <a:cs typeface="Arial" charset="0"/>
              </a:rPr>
              <a:t>(*) requires a bit of thought. Must argue that there cannot be a shorter</a:t>
            </a:r>
          </a:p>
          <a:p>
            <a:pPr marL="0" indent="0">
              <a:lnSpc>
                <a:spcPct val="80000"/>
              </a:lnSpc>
              <a:defRPr/>
            </a:pPr>
            <a:r>
              <a:rPr lang="en-US" sz="1800" b="1" dirty="0">
                <a:solidFill>
                  <a:srgbClr val="009973"/>
                </a:solidFill>
                <a:cs typeface="Arial" charset="0"/>
              </a:rPr>
              <a:t>path going only through expanded nodes (by contradiction).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6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6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7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76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7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76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7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76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76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76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76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76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76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766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76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766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76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766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76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766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766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766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766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766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766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766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766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766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6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4766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4766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-1524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>
                <a:solidFill>
                  <a:srgbClr val="FF0000"/>
                </a:solidFill>
              </a:rPr>
              <a:t>Note: Termination / Completeness</a:t>
            </a:r>
          </a:p>
        </p:txBody>
      </p:sp>
      <p:sp>
        <p:nvSpPr>
          <p:cNvPr id="136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90600"/>
            <a:ext cx="7924800" cy="49530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solidFill>
                  <a:schemeClr val="accent2"/>
                </a:solidFill>
              </a:rPr>
              <a:t>Termination is guaranteed when the number of nodes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solidFill>
                  <a:schemeClr val="accent2"/>
                </a:solidFill>
              </a:rPr>
              <a:t>  with                  is finite.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400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400" b="1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b="1" dirty="0">
                <a:solidFill>
                  <a:srgbClr val="FF0000"/>
                </a:solidFill>
              </a:rPr>
              <a:t>None-termination can only happen when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400" b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</a:rPr>
              <a:t>There is a node with an infinite branching factor, or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b="1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</a:rPr>
              <a:t>There is a path with a finite cost but an infinite number of nodes along it. </a:t>
            </a:r>
          </a:p>
          <a:p>
            <a:pPr marL="457200" lvl="1" indent="0">
              <a:buNone/>
              <a:defRPr/>
            </a:pPr>
            <a:endParaRPr lang="en-US" b="1" dirty="0">
              <a:solidFill>
                <a:schemeClr val="accent2"/>
              </a:solidFill>
            </a:endParaRP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</a:rPr>
              <a:t>Can be avoided by assuming that the cost of each action is larger than a positive constant </a:t>
            </a:r>
            <a:r>
              <a:rPr lang="en-US" b="1" i="1" dirty="0">
                <a:solidFill>
                  <a:schemeClr val="accent2"/>
                </a:solidFill>
              </a:rPr>
              <a:t>d</a:t>
            </a:r>
          </a:p>
        </p:txBody>
      </p:sp>
      <p:graphicFrame>
        <p:nvGraphicFramePr>
          <p:cNvPr id="35843" name="Object 4"/>
          <p:cNvGraphicFramePr>
            <a:graphicFrameLocks noChangeAspect="1"/>
          </p:cNvGraphicFramePr>
          <p:nvPr/>
        </p:nvGraphicFramePr>
        <p:xfrm>
          <a:off x="3048000" y="1371600"/>
          <a:ext cx="12192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34725" imgH="228501" progId="Equation.DSMT4">
                  <p:embed/>
                </p:oleObj>
              </mc:Choice>
              <mc:Fallback>
                <p:oleObj name="Equation" r:id="rId2" imgW="634725" imgH="228501" progId="Equation.DSMT4">
                  <p:embed/>
                  <p:pic>
                    <p:nvPicPr>
                      <p:cNvPr id="3584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371600"/>
                        <a:ext cx="1219200" cy="4381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4997" name="Text Box 5"/>
          <p:cNvSpPr txBox="1">
            <a:spLocks noChangeArrowheads="1"/>
          </p:cNvSpPr>
          <p:nvPr/>
        </p:nvSpPr>
        <p:spPr bwMode="auto">
          <a:xfrm>
            <a:off x="3657600" y="1440418"/>
            <a:ext cx="31130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sym typeface="Symbol" charset="0"/>
              </a:rPr>
              <a:t>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6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6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6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6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64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64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A* Optimal in Another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0" y="2133600"/>
            <a:ext cx="7620000" cy="34290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It has also been shown that A* makes optimal use of the heuristics in the sense that there is no search algorithm that could expand fewer nodes using the heuristic information (and still find the optimal / least cost solution.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b="1" dirty="0">
                <a:solidFill>
                  <a:srgbClr val="FF0000"/>
                </a:solidFill>
              </a:rPr>
              <a:t>So, A* is “the best we can get” (in this setting).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Note: We’re assuming a search based approach with states/nodes, actions on them leading to other states/nodes, start and goal states/nodes.</a:t>
            </a:r>
          </a:p>
        </p:txBody>
      </p:sp>
    </p:spTree>
    <p:extLst>
      <p:ext uri="{BB962C8B-B14F-4D97-AF65-F5344CB8AC3E}">
        <p14:creationId xmlns:p14="http://schemas.microsoft.com/office/powerpoint/2010/main" val="2046721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4600" y="609600"/>
            <a:ext cx="7772400" cy="4191000"/>
          </a:xfrm>
        </p:spPr>
        <p:txBody>
          <a:bodyPr/>
          <a:lstStyle/>
          <a:p>
            <a:pPr marL="0" indent="0" algn="ctr" eaLnBrk="1" hangingPunct="1"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marL="0" indent="0" algn="ctr" eaLnBrk="1" hangingPunct="1"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marL="0" indent="0" algn="ctr" eaLnBrk="1" hangingPunct="1">
              <a:buNone/>
              <a:defRPr/>
            </a:pPr>
            <a:endParaRPr lang="en-US" b="1" dirty="0">
              <a:solidFill>
                <a:srgbClr val="FF0000"/>
              </a:solidFill>
            </a:endParaRPr>
          </a:p>
          <a:p>
            <a:pPr marL="0" indent="0" algn="ctr" eaLnBrk="1" hangingPunct="1">
              <a:buNone/>
              <a:defRPr/>
            </a:pPr>
            <a:r>
              <a:rPr lang="en-US" sz="4400" b="1" dirty="0">
                <a:solidFill>
                  <a:srgbClr val="FF0000"/>
                </a:solidFill>
              </a:rPr>
              <a:t>Heuristics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  <a:cs typeface="+mj-cs"/>
              </a:rPr>
              <a:t>8-Puzzle</a:t>
            </a:r>
          </a:p>
        </p:txBody>
      </p:sp>
      <p:sp>
        <p:nvSpPr>
          <p:cNvPr id="136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6490" y="351392"/>
            <a:ext cx="8780398" cy="3534807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endParaRPr lang="en-US" dirty="0"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Slide the tiles horizontally or vertically into the empty space until the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cs typeface="+mn-cs"/>
              </a:rPr>
              <a:t>configuration matches the goal configuration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What</a:t>
            </a:r>
            <a:r>
              <a:rPr lang="en-US" b="1" dirty="0">
                <a:solidFill>
                  <a:schemeClr val="accent2"/>
                </a:solidFill>
                <a:latin typeface="Arial"/>
                <a:cs typeface="+mn-cs"/>
              </a:rPr>
              <a:t>’</a:t>
            </a:r>
            <a:r>
              <a:rPr lang="en-US" b="1" dirty="0">
                <a:solidFill>
                  <a:schemeClr val="accent2"/>
                </a:solidFill>
                <a:cs typeface="+mn-cs"/>
              </a:rPr>
              <a:t>s the branching factor?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(slide “empty space”)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b="1" dirty="0">
              <a:solidFill>
                <a:schemeClr val="accent2"/>
              </a:solidFill>
              <a:cs typeface="+mn-cs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3200" dirty="0"/>
          </a:p>
          <a:p>
            <a:pPr eaLnBrk="1" hangingPunct="1">
              <a:lnSpc>
                <a:spcPct val="90000"/>
              </a:lnSpc>
              <a:defRPr/>
            </a:pPr>
            <a:endParaRPr lang="en-US" sz="2400" dirty="0"/>
          </a:p>
        </p:txBody>
      </p:sp>
      <p:pic>
        <p:nvPicPr>
          <p:cNvPr id="79875" name="Picture 4" descr="8puzz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457" y="1416844"/>
            <a:ext cx="3724275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8070" name="Text Box 6"/>
          <p:cNvSpPr txBox="1">
            <a:spLocks noChangeArrowheads="1"/>
          </p:cNvSpPr>
          <p:nvPr/>
        </p:nvSpPr>
        <p:spPr bwMode="auto">
          <a:xfrm>
            <a:off x="1087017" y="3235804"/>
            <a:ext cx="3810000" cy="1169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/>
              <a:t>About 3, depending on location of empty tile:</a:t>
            </a:r>
          </a:p>
          <a:p>
            <a:pPr>
              <a:defRPr/>
            </a:pPr>
            <a:r>
              <a:rPr lang="en-US" sz="1600" dirty="0"/>
              <a:t>     </a:t>
            </a:r>
            <a:r>
              <a:rPr lang="en-US" sz="1600" b="1" dirty="0">
                <a:solidFill>
                  <a:srgbClr val="FF0000"/>
                </a:solidFill>
              </a:rPr>
              <a:t>middle </a:t>
            </a:r>
            <a:r>
              <a:rPr lang="en-US" sz="1600" b="1" dirty="0">
                <a:solidFill>
                  <a:srgbClr val="FF0000"/>
                </a:solidFill>
                <a:sym typeface="Wingdings" charset="0"/>
              </a:rPr>
              <a:t> 4; corner   2; edge</a:t>
            </a:r>
            <a:r>
              <a:rPr lang="en-US" b="1" dirty="0">
                <a:solidFill>
                  <a:srgbClr val="FF0000"/>
                </a:solidFill>
                <a:sym typeface="Wingdings" charset="0"/>
              </a:rPr>
              <a:t>  3</a:t>
            </a:r>
          </a:p>
          <a:p>
            <a:pPr>
              <a:defRPr/>
            </a:pPr>
            <a:endParaRPr lang="en-US" sz="2000" dirty="0"/>
          </a:p>
        </p:txBody>
      </p:sp>
      <p:sp>
        <p:nvSpPr>
          <p:cNvPr id="1368071" name="Text Box 7"/>
          <p:cNvSpPr txBox="1">
            <a:spLocks noChangeArrowheads="1"/>
          </p:cNvSpPr>
          <p:nvPr/>
        </p:nvSpPr>
        <p:spPr bwMode="auto">
          <a:xfrm>
            <a:off x="1965326" y="61372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68072" name="Text Box 8"/>
          <p:cNvSpPr txBox="1">
            <a:spLocks noChangeArrowheads="1"/>
          </p:cNvSpPr>
          <p:nvPr/>
        </p:nvSpPr>
        <p:spPr bwMode="auto">
          <a:xfrm>
            <a:off x="374779" y="3936067"/>
            <a:ext cx="1021848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The average solution cost for a randomly generated 8-puzzle instance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sym typeface="Wingdings" charset="0"/>
              </a:rPr>
              <a:t> about 22 steps</a:t>
            </a:r>
          </a:p>
          <a:p>
            <a:pPr>
              <a:defRPr/>
            </a:pPr>
            <a:r>
              <a:rPr lang="en-US" b="1" dirty="0">
                <a:sym typeface="Wingdings" charset="0"/>
              </a:rPr>
              <a:t>So, search space to depth 22 is about 3</a:t>
            </a:r>
            <a:r>
              <a:rPr lang="en-US" b="1" baseline="30000" dirty="0">
                <a:sym typeface="Wingdings" charset="0"/>
              </a:rPr>
              <a:t>22 </a:t>
            </a:r>
            <a:r>
              <a:rPr lang="en-US" b="1" dirty="0">
                <a:sym typeface="Symbol" charset="0"/>
              </a:rPr>
              <a:t> 3.1  10</a:t>
            </a:r>
            <a:r>
              <a:rPr lang="en-US" b="1" baseline="30000" dirty="0">
                <a:sym typeface="Symbol" charset="0"/>
              </a:rPr>
              <a:t>10</a:t>
            </a:r>
            <a:r>
              <a:rPr lang="en-US" b="1" dirty="0">
                <a:sym typeface="Symbol" charset="0"/>
              </a:rPr>
              <a:t> states. </a:t>
            </a:r>
          </a:p>
          <a:p>
            <a:pPr>
              <a:buFont typeface="Wingdings" charset="0"/>
              <a:buChar char="à"/>
              <a:defRPr/>
            </a:pPr>
            <a:r>
              <a:rPr lang="en-US" b="1" dirty="0">
                <a:sym typeface="Symbol" charset="0"/>
              </a:rPr>
              <a:t>Reduced to by a factor of about 170,000 by keeping track of repeated states </a:t>
            </a:r>
          </a:p>
          <a:p>
            <a:pPr>
              <a:defRPr/>
            </a:pPr>
            <a:r>
              <a:rPr lang="en-US" b="1" dirty="0">
                <a:sym typeface="Symbol" charset="0"/>
              </a:rPr>
              <a:t>          (9!/2 = 181,440 distinct states) note: 2 sets of disjoint states. See exercise 3.4</a:t>
            </a:r>
          </a:p>
          <a:p>
            <a:pPr>
              <a:defRPr/>
            </a:pPr>
            <a:endParaRPr lang="en-US" b="1" dirty="0">
              <a:sym typeface="Symbol" charset="0"/>
            </a:endParaRP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  <a:sym typeface="Symbol" charset="0"/>
              </a:rPr>
              <a:t>But: 15-puzzle </a:t>
            </a:r>
            <a:r>
              <a:rPr lang="en-US" b="1" dirty="0">
                <a:solidFill>
                  <a:srgbClr val="FF0000"/>
                </a:solidFill>
                <a:sym typeface="Wingdings" charset="0"/>
              </a:rPr>
              <a:t> 10</a:t>
            </a:r>
            <a:r>
              <a:rPr lang="en-US" b="1" baseline="30000" dirty="0">
                <a:solidFill>
                  <a:srgbClr val="FF0000"/>
                </a:solidFill>
                <a:sym typeface="Wingdings" charset="0"/>
              </a:rPr>
              <a:t>13</a:t>
            </a:r>
            <a:r>
              <a:rPr lang="en-US" b="1" dirty="0">
                <a:solidFill>
                  <a:srgbClr val="FF0000"/>
                </a:solidFill>
                <a:sym typeface="Wingdings" charset="0"/>
              </a:rPr>
              <a:t> distinct states! </a:t>
            </a:r>
            <a:endParaRPr lang="en-US" b="1" dirty="0">
              <a:solidFill>
                <a:srgbClr val="FF0000"/>
              </a:solidFill>
              <a:sym typeface="Symbol" charset="0"/>
            </a:endParaRPr>
          </a:p>
        </p:txBody>
      </p:sp>
      <p:sp>
        <p:nvSpPr>
          <p:cNvPr id="1368073" name="Text Box 9"/>
          <p:cNvSpPr txBox="1">
            <a:spLocks noChangeArrowheads="1"/>
          </p:cNvSpPr>
          <p:nvPr/>
        </p:nvSpPr>
        <p:spPr bwMode="auto">
          <a:xfrm>
            <a:off x="5390682" y="5105400"/>
            <a:ext cx="5047600" cy="707886"/>
          </a:xfrm>
          <a:prstGeom prst="rect">
            <a:avLst/>
          </a:prstGeom>
          <a:solidFill>
            <a:schemeClr val="accent1">
              <a:alpha val="49000"/>
            </a:schemeClr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000" b="1" dirty="0"/>
              <a:t>We</a:t>
            </a:r>
            <a:r>
              <a:rPr lang="en-US" sz="2000" b="1" dirty="0">
                <a:latin typeface="Arial"/>
              </a:rPr>
              <a:t>’</a:t>
            </a:r>
            <a:r>
              <a:rPr lang="en-US" sz="2000" b="1" dirty="0"/>
              <a:t>d better find  a good heuristic </a:t>
            </a:r>
          </a:p>
          <a:p>
            <a:pPr algn="ctr">
              <a:defRPr/>
            </a:pPr>
            <a:r>
              <a:rPr lang="en-US" sz="2000" b="1" dirty="0"/>
              <a:t>to speed up search! Can you suggest one?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905000" y="6096001"/>
            <a:ext cx="71580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 dirty="0">
                <a:solidFill>
                  <a:schemeClr val="accent2"/>
                </a:solidFill>
              </a:rPr>
              <a:t>Note:  “Clever” heuristics now allow us to solve the 15-puzzle in</a:t>
            </a:r>
          </a:p>
          <a:p>
            <a:pPr eaLnBrk="1" hangingPunct="1"/>
            <a:r>
              <a:rPr lang="en-US" sz="2000" b="1" dirty="0">
                <a:solidFill>
                  <a:schemeClr val="accent2"/>
                </a:solidFill>
              </a:rPr>
              <a:t>a few milliseconds!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68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68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8070" grpId="0"/>
      <p:bldP spid="1368072" grpId="0"/>
      <p:bldP spid="136807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Admissible heuristics</a:t>
            </a:r>
          </a:p>
        </p:txBody>
      </p:sp>
      <p:sp>
        <p:nvSpPr>
          <p:cNvPr id="134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683" y="890588"/>
            <a:ext cx="9777186" cy="48006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600" b="1" dirty="0">
                <a:solidFill>
                  <a:schemeClr val="accent6"/>
                </a:solidFill>
              </a:rPr>
              <a:t>     E.g., for the 8-puzzle: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600" b="1" i="1" dirty="0">
                <a:solidFill>
                  <a:schemeClr val="accent6"/>
                </a:solidFill>
              </a:rPr>
              <a:t>     h</a:t>
            </a:r>
            <a:r>
              <a:rPr lang="en-US" sz="1600" b="1" i="1" baseline="-25000" dirty="0">
                <a:solidFill>
                  <a:schemeClr val="accent6"/>
                </a:solidFill>
              </a:rPr>
              <a:t>1</a:t>
            </a:r>
            <a:r>
              <a:rPr lang="en-US" sz="1600" b="1" i="1" dirty="0">
                <a:solidFill>
                  <a:schemeClr val="accent6"/>
                </a:solidFill>
              </a:rPr>
              <a:t>(n) </a:t>
            </a:r>
            <a:r>
              <a:rPr lang="en-US" sz="1600" b="1" dirty="0">
                <a:solidFill>
                  <a:schemeClr val="accent6"/>
                </a:solidFill>
              </a:rPr>
              <a:t>= number of misplaced tiles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600" b="1" i="1" dirty="0">
                <a:solidFill>
                  <a:schemeClr val="accent6"/>
                </a:solidFill>
              </a:rPr>
              <a:t>     h</a:t>
            </a:r>
            <a:r>
              <a:rPr lang="en-US" sz="1600" b="1" i="1" baseline="-25000" dirty="0">
                <a:solidFill>
                  <a:schemeClr val="accent6"/>
                </a:solidFill>
              </a:rPr>
              <a:t>2</a:t>
            </a:r>
            <a:r>
              <a:rPr lang="en-US" sz="1600" b="1" i="1" dirty="0">
                <a:solidFill>
                  <a:schemeClr val="accent6"/>
                </a:solidFill>
              </a:rPr>
              <a:t>(n) </a:t>
            </a:r>
            <a:r>
              <a:rPr lang="en-US" sz="1600" b="1" dirty="0">
                <a:solidFill>
                  <a:schemeClr val="accent6"/>
                </a:solidFill>
              </a:rPr>
              <a:t>= total Manhattan distance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600" b="1" dirty="0">
                <a:solidFill>
                  <a:schemeClr val="accent6"/>
                </a:solidFill>
              </a:rPr>
              <a:t>     (i.e., no. of steps from desired location of each tile)</a:t>
            </a:r>
            <a:r>
              <a:rPr lang="en-US" sz="1600" dirty="0">
                <a:solidFill>
                  <a:schemeClr val="accent6"/>
                </a:solidFill>
              </a:rPr>
              <a:t>
</a:t>
            </a:r>
            <a:endParaRPr lang="en-US" dirty="0">
              <a:cs typeface="+mn-cs"/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800" u="sng" dirty="0">
                <a:solidFill>
                  <a:srgbClr val="CC0099"/>
                </a:solidFill>
              </a:rPr>
              <a:t>    h</a:t>
            </a:r>
            <a:r>
              <a:rPr lang="en-US" sz="1800" u="sng" baseline="-25000" dirty="0">
                <a:solidFill>
                  <a:srgbClr val="CC0099"/>
                </a:solidFill>
              </a:rPr>
              <a:t>1</a:t>
            </a:r>
            <a:r>
              <a:rPr lang="en-US" sz="1800" u="sng" dirty="0">
                <a:solidFill>
                  <a:srgbClr val="CC0099"/>
                </a:solidFill>
              </a:rPr>
              <a:t>(Start) = ?</a:t>
            </a:r>
            <a:r>
              <a:rPr lang="en-US" sz="1800" dirty="0"/>
              <a:t> </a:t>
            </a:r>
            <a:endParaRPr lang="en-US" sz="1800" u="sng" dirty="0">
              <a:solidFill>
                <a:srgbClr val="CC0099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800" u="sng" dirty="0">
                <a:solidFill>
                  <a:srgbClr val="CC0099"/>
                </a:solidFill>
              </a:rPr>
              <a:t>    h</a:t>
            </a:r>
            <a:r>
              <a:rPr lang="en-US" sz="1800" u="sng" baseline="-25000" dirty="0">
                <a:solidFill>
                  <a:srgbClr val="CC0099"/>
                </a:solidFill>
              </a:rPr>
              <a:t>2</a:t>
            </a:r>
            <a:r>
              <a:rPr lang="en-US" sz="1800" u="sng" dirty="0">
                <a:solidFill>
                  <a:srgbClr val="CC0099"/>
                </a:solidFill>
              </a:rPr>
              <a:t>(Start) = ?</a:t>
            </a:r>
            <a:r>
              <a:rPr lang="en-US" sz="1800" dirty="0"/>
              <a:t> </a:t>
            </a:r>
            <a:endParaRPr lang="en-US" sz="1800" b="1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  Why are heuristics admissible?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  Which is better?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1800" b="1" dirty="0">
                <a:solidFill>
                  <a:srgbClr val="FF0000"/>
                </a:solidFill>
              </a:rPr>
              <a:t>  How can we get the optimal heuristics? (Given </a:t>
            </a:r>
            <a:r>
              <a:rPr lang="en-US" sz="1800" b="1" dirty="0" err="1">
                <a:solidFill>
                  <a:srgbClr val="FF0000"/>
                </a:solidFill>
              </a:rPr>
              <a:t>H_opt</a:t>
            </a:r>
            <a:r>
              <a:rPr lang="en-US" sz="1800" b="1" dirty="0">
                <a:solidFill>
                  <a:srgbClr val="FF0000"/>
                </a:solidFill>
              </a:rPr>
              <a:t>(Start) = 26. How would we find  the next board on the optimal path to the goal?)</a:t>
            </a:r>
          </a:p>
        </p:txBody>
      </p:sp>
      <p:pic>
        <p:nvPicPr>
          <p:cNvPr id="80899" name="Picture 4" descr="8puzz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4451" y="1219201"/>
            <a:ext cx="42576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4953001" y="6400800"/>
            <a:ext cx="5611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/>
              <a:t>Note: each empty-square-move = 1 step tile move.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1979614" y="2593673"/>
            <a:ext cx="381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/>
              <a:t>8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836576" y="2981326"/>
            <a:ext cx="2752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/>
              <a:t>3+1+2+2+2+3+3+2 = 18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89301" y="3290888"/>
            <a:ext cx="1666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/>
              <a:t>True cost = 26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59683" y="4906358"/>
            <a:ext cx="783940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Desired properties heuristics: </a:t>
            </a:r>
          </a:p>
          <a:p>
            <a:pPr eaLnBrk="1" hangingPunct="1"/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(1) consistent (admissible)</a:t>
            </a:r>
          </a:p>
          <a:p>
            <a:pPr eaLnBrk="1" hangingPunct="1"/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(2) As close to opt as we can get (sometimes go a bit over…)</a:t>
            </a:r>
          </a:p>
          <a:p>
            <a:pPr eaLnBrk="1" hangingPunct="1"/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(3) Easy to compute! We want to explore many nodes.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4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4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4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4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4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34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127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Comparing heuristics</a:t>
            </a:r>
          </a:p>
        </p:txBody>
      </p:sp>
      <p:sp>
        <p:nvSpPr>
          <p:cNvPr id="137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6996" y="1295400"/>
            <a:ext cx="8825204" cy="41148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2"/>
                </a:solidFill>
                <a:cs typeface="+mn-cs"/>
              </a:rPr>
              <a:t>Effective Branching Factor, b*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chemeClr val="accent2"/>
              </a:solidFill>
              <a:cs typeface="+mn-cs"/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/>
              <a:t>If A* generates </a:t>
            </a:r>
            <a:r>
              <a:rPr lang="en-US" sz="1800" b="1" dirty="0">
                <a:solidFill>
                  <a:schemeClr val="tx2"/>
                </a:solidFill>
              </a:rPr>
              <a:t>N</a:t>
            </a:r>
            <a:r>
              <a:rPr lang="en-US" sz="1800" b="1" dirty="0"/>
              <a:t> nodes to find the goal at depth </a:t>
            </a:r>
            <a:r>
              <a:rPr lang="en-US" sz="1800" b="1" dirty="0">
                <a:solidFill>
                  <a:schemeClr val="tx2"/>
                </a:solidFill>
              </a:rPr>
              <a:t>d</a:t>
            </a:r>
          </a:p>
          <a:p>
            <a:pPr lvl="2" eaLnBrk="1" hangingPunct="1">
              <a:lnSpc>
                <a:spcPct val="80000"/>
              </a:lnSpc>
              <a:buFontTx/>
              <a:buNone/>
              <a:defRPr/>
            </a:pPr>
            <a:r>
              <a:rPr lang="en-US" b="1" dirty="0"/>
              <a:t>b* = branching factor such that a uniform tree of depth d contains N+1 nodes (we add one for the root node that wasn</a:t>
            </a:r>
            <a:r>
              <a:rPr lang="en-US" b="1" dirty="0">
                <a:latin typeface="Arial"/>
              </a:rPr>
              <a:t>’</a:t>
            </a:r>
            <a:r>
              <a:rPr lang="en-US" b="1" dirty="0"/>
              <a:t>t included in N)</a:t>
            </a:r>
          </a:p>
          <a:p>
            <a:pPr lvl="2" eaLnBrk="1" hangingPunct="1">
              <a:lnSpc>
                <a:spcPct val="80000"/>
              </a:lnSpc>
              <a:buFontTx/>
              <a:buNone/>
              <a:defRPr/>
            </a:pPr>
            <a:r>
              <a:rPr lang="en-US" b="1" dirty="0"/>
              <a:t>N+1 = 1 + b* + (b*)</a:t>
            </a:r>
            <a:r>
              <a:rPr lang="en-US" b="1" baseline="30000" dirty="0"/>
              <a:t>2</a:t>
            </a:r>
            <a:r>
              <a:rPr lang="en-US" b="1" dirty="0"/>
              <a:t> + … + (b*)</a:t>
            </a:r>
            <a:r>
              <a:rPr lang="en-US" b="1" baseline="30000" dirty="0"/>
              <a:t>d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endParaRPr lang="en-US" sz="1800" dirty="0"/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r>
              <a:rPr lang="en-US" sz="1800" dirty="0"/>
              <a:t>	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</a:rPr>
              <a:t>E.g., if A* finds solution at depth  5 using 52 nodes, then the effective branching factor is 1.92.</a:t>
            </a:r>
          </a:p>
          <a:p>
            <a:pPr lvl="1" eaLnBrk="1" hangingPunct="1">
              <a:lnSpc>
                <a:spcPct val="80000"/>
              </a:lnSpc>
              <a:buFontTx/>
              <a:buNone/>
              <a:defRPr/>
            </a:pPr>
            <a:endParaRPr lang="en-US" sz="18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1800" b="1" dirty="0">
                <a:solidFill>
                  <a:schemeClr val="accent6"/>
                </a:solidFill>
              </a:rPr>
              <a:t>b* close to 1 is ideal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6"/>
                </a:solidFill>
              </a:rPr>
              <a:t>because this means the heuristic guided the A* search is</a:t>
            </a:r>
          </a:p>
          <a:p>
            <a:pPr marL="914400" lvl="2" indent="0">
              <a:lnSpc>
                <a:spcPct val="80000"/>
              </a:lnSpc>
              <a:buNone/>
              <a:defRPr/>
            </a:pPr>
            <a:r>
              <a:rPr lang="en-US" b="1" dirty="0">
                <a:solidFill>
                  <a:schemeClr val="accent6"/>
                </a:solidFill>
              </a:rPr>
              <a:t>    closer to ideal (linear).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6"/>
                </a:solidFill>
              </a:rPr>
              <a:t>If b* were 100, on average, the heuristic had to consider 100 children for each node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b="1" dirty="0">
                <a:solidFill>
                  <a:schemeClr val="accent6"/>
                </a:solidFill>
              </a:rPr>
              <a:t>Compare heuristics based on their b*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52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7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7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7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7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-17463"/>
            <a:ext cx="7772400" cy="1143001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Comparison of heuristics</a:t>
            </a:r>
          </a:p>
        </p:txBody>
      </p:sp>
      <p:pic>
        <p:nvPicPr>
          <p:cNvPr id="83970" name="Picture 3" descr="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152526"/>
            <a:ext cx="6934200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77284" name="Text Box 4"/>
          <p:cNvSpPr txBox="1">
            <a:spLocks noChangeArrowheads="1"/>
          </p:cNvSpPr>
          <p:nvPr/>
        </p:nvSpPr>
        <p:spPr bwMode="auto">
          <a:xfrm>
            <a:off x="5410200" y="5562600"/>
            <a:ext cx="44965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FF0000"/>
                </a:solidFill>
              </a:rPr>
              <a:t>h2 indeed significantly better than h1</a:t>
            </a:r>
          </a:p>
        </p:txBody>
      </p:sp>
      <p:sp>
        <p:nvSpPr>
          <p:cNvPr id="1377285" name="Text Box 5"/>
          <p:cNvSpPr txBox="1">
            <a:spLocks noChangeArrowheads="1"/>
          </p:cNvSpPr>
          <p:nvPr/>
        </p:nvSpPr>
        <p:spPr bwMode="auto">
          <a:xfrm>
            <a:off x="1812926" y="5791200"/>
            <a:ext cx="26065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/>
              <a:t>d – depth of goal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772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772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77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728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3333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Dominating heuristics</a:t>
            </a:r>
          </a:p>
        </p:txBody>
      </p:sp>
      <p:sp>
        <p:nvSpPr>
          <p:cNvPr id="137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90600"/>
            <a:ext cx="77724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008000"/>
                </a:solidFill>
                <a:cs typeface="+mn-cs"/>
              </a:rPr>
              <a:t>h</a:t>
            </a:r>
            <a:r>
              <a:rPr lang="en-US" b="1" baseline="-25000" dirty="0">
                <a:solidFill>
                  <a:srgbClr val="008000"/>
                </a:solidFill>
                <a:cs typeface="+mn-cs"/>
              </a:rPr>
              <a:t>2</a:t>
            </a:r>
            <a:r>
              <a:rPr lang="en-US" b="1" dirty="0">
                <a:solidFill>
                  <a:srgbClr val="008000"/>
                </a:solidFill>
                <a:cs typeface="+mn-cs"/>
              </a:rPr>
              <a:t> is always better than h</a:t>
            </a:r>
            <a:r>
              <a:rPr lang="en-US" b="1" baseline="-25000" dirty="0">
                <a:solidFill>
                  <a:srgbClr val="008000"/>
                </a:solidFill>
                <a:cs typeface="+mn-cs"/>
              </a:rPr>
              <a:t>1</a:t>
            </a:r>
          </a:p>
          <a:p>
            <a:pPr lvl="1" eaLnBrk="1" hangingPunct="1">
              <a:defRPr/>
            </a:pPr>
            <a:r>
              <a:rPr lang="en-US" b="1" dirty="0">
                <a:solidFill>
                  <a:srgbClr val="008000"/>
                </a:solidFill>
              </a:rPr>
              <a:t>Because for any node, n, h</a:t>
            </a:r>
            <a:r>
              <a:rPr lang="en-US" b="1" baseline="-25000" dirty="0">
                <a:solidFill>
                  <a:srgbClr val="008000"/>
                </a:solidFill>
              </a:rPr>
              <a:t>2</a:t>
            </a:r>
            <a:r>
              <a:rPr lang="en-US" b="1" dirty="0">
                <a:solidFill>
                  <a:srgbClr val="008000"/>
                </a:solidFill>
              </a:rPr>
              <a:t>(n) &gt;= h</a:t>
            </a:r>
            <a:r>
              <a:rPr lang="en-US" b="1" baseline="-25000" dirty="0">
                <a:solidFill>
                  <a:srgbClr val="008000"/>
                </a:solidFill>
              </a:rPr>
              <a:t>1</a:t>
            </a:r>
            <a:r>
              <a:rPr lang="en-US" b="1" dirty="0">
                <a:solidFill>
                  <a:srgbClr val="008000"/>
                </a:solidFill>
              </a:rPr>
              <a:t>(n).   (Why?)</a:t>
            </a:r>
          </a:p>
        </p:txBody>
      </p:sp>
      <p:sp>
        <p:nvSpPr>
          <p:cNvPr id="1378309" name="Rectangle 5"/>
          <p:cNvSpPr>
            <a:spLocks noChangeArrowheads="1"/>
          </p:cNvSpPr>
          <p:nvPr/>
        </p:nvSpPr>
        <p:spPr bwMode="auto">
          <a:xfrm>
            <a:off x="1981200" y="2057400"/>
            <a:ext cx="7467600" cy="439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en-US" sz="2000" b="1" dirty="0"/>
              <a:t>We say h</a:t>
            </a:r>
            <a:r>
              <a:rPr lang="en-US" sz="2000" b="1" baseline="-25000" dirty="0"/>
              <a:t>2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accent2"/>
                </a:solidFill>
              </a:rPr>
              <a:t>dominates</a:t>
            </a:r>
            <a:r>
              <a:rPr lang="en-US" sz="2000" b="1" dirty="0"/>
              <a:t> h</a:t>
            </a:r>
            <a:r>
              <a:rPr lang="en-US" sz="2000" b="1" baseline="-25000" dirty="0"/>
              <a:t>1 </a:t>
            </a:r>
          </a:p>
          <a:p>
            <a:pPr lvl="1">
              <a:spcBef>
                <a:spcPct val="20000"/>
              </a:spcBef>
              <a:defRPr/>
            </a:pPr>
            <a:endParaRPr lang="en-US" sz="2000" baseline="-25000" dirty="0"/>
          </a:p>
          <a:p>
            <a:pPr lvl="1">
              <a:spcBef>
                <a:spcPct val="20000"/>
              </a:spcBef>
              <a:defRPr/>
            </a:pPr>
            <a:r>
              <a:rPr lang="en-US" sz="2000" dirty="0">
                <a:solidFill>
                  <a:schemeClr val="accent6"/>
                </a:solidFill>
              </a:rPr>
              <a:t>It follows that h1 will expand at least as many nodes as h2.</a:t>
            </a:r>
          </a:p>
          <a:p>
            <a:pPr lvl="1">
              <a:spcBef>
                <a:spcPct val="20000"/>
              </a:spcBef>
              <a:defRPr/>
            </a:pPr>
            <a:endParaRPr lang="en-US" sz="2000" dirty="0">
              <a:solidFill>
                <a:schemeClr val="accent6"/>
              </a:solidFill>
            </a:endParaRPr>
          </a:p>
          <a:p>
            <a:pPr lvl="1">
              <a:spcBef>
                <a:spcPct val="20000"/>
              </a:spcBef>
              <a:defRPr/>
            </a:pPr>
            <a:r>
              <a:rPr lang="en-US" sz="2000" dirty="0">
                <a:solidFill>
                  <a:schemeClr val="accent6"/>
                </a:solidFill>
              </a:rPr>
              <a:t>Because:</a:t>
            </a:r>
          </a:p>
          <a:p>
            <a:pPr lvl="1">
              <a:spcBef>
                <a:spcPct val="20000"/>
              </a:spcBef>
              <a:buFontTx/>
              <a:buChar char="–"/>
              <a:defRPr/>
            </a:pPr>
            <a:endParaRPr lang="en-US" sz="2000" dirty="0">
              <a:solidFill>
                <a:schemeClr val="accent6"/>
              </a:solidFill>
            </a:endParaRPr>
          </a:p>
          <a:p>
            <a:pPr lvl="1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Recall all nodes with f(n) &lt; C* will be expanded.</a:t>
            </a:r>
          </a:p>
          <a:p>
            <a:pPr lvl="1">
              <a:spcBef>
                <a:spcPct val="20000"/>
              </a:spcBef>
              <a:defRPr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2">
              <a:spcBef>
                <a:spcPct val="20000"/>
              </a:spcBef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means all nodes, h(n) + g(n) &lt; C*, will be expanded.</a:t>
            </a:r>
          </a:p>
          <a:p>
            <a:pPr lvl="3">
              <a:spcBef>
                <a:spcPct val="20000"/>
              </a:spcBef>
              <a:defRPr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So, all nodes n where h(n) &lt; C* - g(n) will be expanded</a:t>
            </a:r>
          </a:p>
          <a:p>
            <a:pPr lvl="3">
              <a:spcBef>
                <a:spcPct val="20000"/>
              </a:spcBef>
              <a:defRPr/>
            </a:pP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2">
              <a:spcBef>
                <a:spcPct val="20000"/>
              </a:spcBef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All nodes h</a:t>
            </a:r>
            <a:r>
              <a:rPr lang="en-US" b="1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expands will also be expanded by h</a:t>
            </a:r>
            <a:r>
              <a:rPr lang="en-US" b="1" baseline="-25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and because h</a:t>
            </a:r>
            <a:r>
              <a:rPr lang="en-US" b="1" baseline="-25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 is smaller, others may be expanded as well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78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78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78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78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8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8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78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78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3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783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783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830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cs typeface="+mj-cs"/>
              </a:rPr>
              <a:t>Inventing admissible heuristics:</a:t>
            </a:r>
            <a:br>
              <a:rPr lang="en-US" dirty="0">
                <a:cs typeface="+mj-cs"/>
              </a:rPr>
            </a:br>
            <a:r>
              <a:rPr lang="en-US" dirty="0">
                <a:solidFill>
                  <a:srgbClr val="FF0000"/>
                </a:solidFill>
                <a:cs typeface="+mj-cs"/>
              </a:rPr>
              <a:t>Relaxed Problems </a:t>
            </a:r>
          </a:p>
        </p:txBody>
      </p:sp>
      <p:sp>
        <p:nvSpPr>
          <p:cNvPr id="138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21336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b="1" dirty="0">
                <a:cs typeface="+mn-cs"/>
              </a:rPr>
              <a:t>Can we generate h(n) automatically?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b="1" dirty="0">
              <a:cs typeface="+mn-cs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0000"/>
                </a:solidFill>
              </a:rPr>
              <a:t>Simplify problem by reducing restrictions on actions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b="1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>
                <a:cs typeface="+mn-cs"/>
              </a:rPr>
              <a:t>A problem with fewer restrictions on the actions is called a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    relaxed problem</a:t>
            </a:r>
            <a:r>
              <a:rPr lang="en-US" sz="2400" dirty="0"/>
              <a:t>
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8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864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8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864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Examples of relaxed problems</a:t>
            </a:r>
          </a:p>
        </p:txBody>
      </p:sp>
      <p:sp>
        <p:nvSpPr>
          <p:cNvPr id="138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981200"/>
            <a:ext cx="89154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</a:rPr>
              <a:t>Original:</a:t>
            </a:r>
            <a:r>
              <a:rPr lang="en-US" sz="1800" b="1" dirty="0"/>
              <a:t> A tile can move from square </a:t>
            </a:r>
            <a:r>
              <a:rPr lang="en-US" sz="1800" b="1" dirty="0">
                <a:solidFill>
                  <a:schemeClr val="tx2"/>
                </a:solidFill>
              </a:rPr>
              <a:t>A</a:t>
            </a:r>
            <a:r>
              <a:rPr lang="en-US" sz="1800" b="1" dirty="0"/>
              <a:t> to square </a:t>
            </a:r>
            <a:r>
              <a:rPr lang="en-US" sz="1800" b="1" dirty="0">
                <a:solidFill>
                  <a:schemeClr val="tx2"/>
                </a:solidFill>
              </a:rPr>
              <a:t>B</a:t>
            </a:r>
            <a:r>
              <a:rPr lang="en-US" sz="1800" b="1" dirty="0"/>
              <a:t> </a:t>
            </a:r>
            <a:r>
              <a:rPr lang="en-US" sz="1800" b="1" dirty="0" err="1"/>
              <a:t>iff</a:t>
            </a:r>
            <a:endParaRPr lang="en-US" sz="1800" b="1" dirty="0"/>
          </a:p>
          <a:p>
            <a:pPr eaLnBrk="1" hangingPunct="1">
              <a:defRPr/>
            </a:pPr>
            <a:r>
              <a:rPr lang="en-US" sz="1800" b="1" dirty="0"/>
              <a:t>	(1) </a:t>
            </a:r>
            <a:r>
              <a:rPr lang="en-US" sz="1800" b="1" dirty="0">
                <a:solidFill>
                  <a:schemeClr val="tx2"/>
                </a:solidFill>
              </a:rPr>
              <a:t>A</a:t>
            </a:r>
            <a:r>
              <a:rPr lang="en-US" sz="1800" b="1" dirty="0"/>
              <a:t> is horizontally or vertically adjacent to </a:t>
            </a:r>
            <a:r>
              <a:rPr lang="en-US" sz="1800" b="1" dirty="0">
                <a:solidFill>
                  <a:schemeClr val="tx2"/>
                </a:solidFill>
              </a:rPr>
              <a:t>B </a:t>
            </a:r>
            <a:r>
              <a:rPr lang="en-US" sz="1800" b="1" i="1" dirty="0">
                <a:solidFill>
                  <a:srgbClr val="FF0000"/>
                </a:solidFill>
              </a:rPr>
              <a:t>and</a:t>
            </a:r>
            <a:r>
              <a:rPr lang="en-US" sz="1800" b="1" dirty="0"/>
              <a:t> (2) </a:t>
            </a:r>
            <a:r>
              <a:rPr lang="en-US" sz="1800" b="1" dirty="0">
                <a:solidFill>
                  <a:schemeClr val="tx2"/>
                </a:solidFill>
              </a:rPr>
              <a:t>B</a:t>
            </a:r>
            <a:r>
              <a:rPr lang="en-US" sz="1800" b="1" dirty="0"/>
              <a:t> is blank</a:t>
            </a:r>
          </a:p>
          <a:p>
            <a:pPr eaLnBrk="1" hangingPunct="1">
              <a:defRPr/>
            </a:pPr>
            <a:endParaRPr lang="en-US" sz="1800" dirty="0"/>
          </a:p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</a:rPr>
              <a:t>Relaxed versions: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chemeClr val="accent2"/>
                </a:solidFill>
              </a:rPr>
              <a:t>A tile can move from A to B if A is adjacent to B (“overlap”; </a:t>
            </a:r>
            <a:r>
              <a:rPr lang="en-US" sz="1800" b="1" dirty="0">
                <a:solidFill>
                  <a:schemeClr val="accent2"/>
                </a:solidFill>
                <a:sym typeface="Wingdings" charset="0"/>
              </a:rPr>
              <a:t>Manhattan distance)</a:t>
            </a:r>
            <a:endParaRPr lang="en-US" sz="1800" b="1" dirty="0">
              <a:solidFill>
                <a:schemeClr val="accent2"/>
              </a:solidFill>
            </a:endParaRPr>
          </a:p>
          <a:p>
            <a:pPr lvl="1" eaLnBrk="1" hangingPunct="1">
              <a:defRPr/>
            </a:pPr>
            <a:r>
              <a:rPr lang="en-US" sz="1800" b="1" dirty="0">
                <a:solidFill>
                  <a:schemeClr val="accent2"/>
                </a:solidFill>
              </a:rPr>
              <a:t>A tile can move from A to B if B is blank (“teleport”)</a:t>
            </a:r>
          </a:p>
          <a:p>
            <a:pPr lvl="1" eaLnBrk="1" hangingPunct="1">
              <a:defRPr/>
            </a:pPr>
            <a:r>
              <a:rPr lang="en-US" sz="1800" b="1" dirty="0">
                <a:solidFill>
                  <a:schemeClr val="accent2"/>
                </a:solidFill>
              </a:rPr>
              <a:t>A tile can move from A to B (“teleport and overlap”)</a:t>
            </a:r>
          </a:p>
          <a:p>
            <a:pPr lvl="1" eaLnBrk="1" hangingPunct="1">
              <a:defRPr/>
            </a:pPr>
            <a:endParaRPr lang="en-US" sz="1800" b="1" dirty="0"/>
          </a:p>
          <a:p>
            <a:pPr eaLnBrk="1" hangingPunct="1">
              <a:defRPr/>
            </a:pPr>
            <a:r>
              <a:rPr lang="en-US" sz="1800" b="1" dirty="0">
                <a:solidFill>
                  <a:srgbClr val="FF0000"/>
                </a:solidFill>
              </a:rPr>
              <a:t>Key:</a:t>
            </a:r>
            <a:r>
              <a:rPr lang="en-US" sz="1800" b="1" dirty="0"/>
              <a:t> Solutions to these relaxed problems can be computed </a:t>
            </a:r>
            <a:r>
              <a:rPr lang="en-US" sz="1800" b="1" u="sng" dirty="0"/>
              <a:t>without search</a:t>
            </a:r>
            <a:r>
              <a:rPr lang="en-US" sz="1800" b="1" dirty="0"/>
              <a:t> </a:t>
            </a:r>
          </a:p>
          <a:p>
            <a:pPr eaLnBrk="1" hangingPunct="1">
              <a:defRPr/>
            </a:pPr>
            <a:r>
              <a:rPr lang="en-US" sz="1800" b="1" dirty="0"/>
              <a:t>         and therefore provide a heuristic that is easy/fast to compute.</a:t>
            </a:r>
          </a:p>
          <a:p>
            <a:pPr eaLnBrk="1" hangingPunct="1">
              <a:defRPr/>
            </a:pPr>
            <a:endParaRPr lang="en-US" sz="1800" b="1" dirty="0"/>
          </a:p>
        </p:txBody>
      </p:sp>
      <p:sp>
        <p:nvSpPr>
          <p:cNvPr id="1387524" name="Rectangle 4"/>
          <p:cNvSpPr>
            <a:spLocks noChangeArrowheads="1"/>
          </p:cNvSpPr>
          <p:nvPr/>
        </p:nvSpPr>
        <p:spPr bwMode="auto">
          <a:xfrm>
            <a:off x="1828801" y="5410201"/>
            <a:ext cx="8644289" cy="136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en-US" b="1" dirty="0">
              <a:solidFill>
                <a:srgbClr val="CC00CC"/>
              </a:solidFill>
            </a:endParaRPr>
          </a:p>
          <a:p>
            <a:pPr>
              <a:spcBef>
                <a:spcPct val="20000"/>
              </a:spcBef>
              <a:defRPr/>
            </a:pPr>
            <a:r>
              <a:rPr lang="en-US" b="1" dirty="0">
                <a:solidFill>
                  <a:srgbClr val="CC00CC"/>
                </a:solidFill>
              </a:rPr>
              <a:t>This technique was used by ABSOLVER (1993) to invent heuristics for the 8-puzzle </a:t>
            </a:r>
          </a:p>
          <a:p>
            <a:pPr>
              <a:spcBef>
                <a:spcPct val="20000"/>
              </a:spcBef>
              <a:defRPr/>
            </a:pPr>
            <a:r>
              <a:rPr lang="en-US" b="1" dirty="0">
                <a:solidFill>
                  <a:srgbClr val="CC00CC"/>
                </a:solidFill>
              </a:rPr>
              <a:t>better than existing ones and it also found a useful heuristic for famous Rubik</a:t>
            </a:r>
            <a:r>
              <a:rPr lang="en-US" b="1" dirty="0">
                <a:solidFill>
                  <a:srgbClr val="CC00CC"/>
                </a:solidFill>
                <a:latin typeface="Arial"/>
              </a:rPr>
              <a:t>’</a:t>
            </a:r>
            <a:r>
              <a:rPr lang="en-US" b="1" dirty="0">
                <a:solidFill>
                  <a:srgbClr val="CC00CC"/>
                </a:solidFill>
              </a:rPr>
              <a:t>s </a:t>
            </a:r>
          </a:p>
          <a:p>
            <a:pPr>
              <a:spcBef>
                <a:spcPct val="20000"/>
              </a:spcBef>
              <a:defRPr/>
            </a:pPr>
            <a:r>
              <a:rPr lang="en-US" b="1" dirty="0">
                <a:solidFill>
                  <a:srgbClr val="CC00CC"/>
                </a:solidFill>
              </a:rPr>
              <a:t>cube puzzle.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752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7620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Inventing admissible heuristics: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Relaxed Problems </a:t>
            </a:r>
          </a:p>
        </p:txBody>
      </p:sp>
      <p:sp>
        <p:nvSpPr>
          <p:cNvPr id="139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1447800"/>
            <a:ext cx="7772400" cy="3581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1800" b="1" dirty="0">
                <a:solidFill>
                  <a:schemeClr val="accent2"/>
                </a:solidFill>
              </a:rPr>
              <a:t>The cost of an optimal solution to a relaxed problem is an admissible heuristic</a:t>
            </a:r>
            <a:r>
              <a:rPr lang="en-US" sz="1800" b="1" dirty="0"/>
              <a:t>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b="1" dirty="0"/>
              <a:t>   </a:t>
            </a:r>
            <a:r>
              <a:rPr lang="en-US" sz="1800" b="1" dirty="0">
                <a:solidFill>
                  <a:schemeClr val="accent2"/>
                </a:solidFill>
              </a:rPr>
              <a:t>  for the original problem. Why?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1800" b="1" dirty="0">
              <a:solidFill>
                <a:schemeClr val="accent2"/>
              </a:solidFill>
            </a:endParaRPr>
          </a:p>
        </p:txBody>
      </p:sp>
      <p:sp>
        <p:nvSpPr>
          <p:cNvPr id="1394692" name="Rectangle 4"/>
          <p:cNvSpPr>
            <a:spLocks noChangeArrowheads="1"/>
          </p:cNvSpPr>
          <p:nvPr/>
        </p:nvSpPr>
        <p:spPr bwMode="auto">
          <a:xfrm>
            <a:off x="2209800" y="2286001"/>
            <a:ext cx="8153400" cy="219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008000"/>
                </a:solidFill>
              </a:rPr>
              <a:t>1) The optimal solution in the original problem is also a solution to the relaxed problem (satisfying in addition all  the relaxed constraints). So, the solution cost matches at most the original optimal solution.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Char char="-"/>
              <a:defRPr/>
            </a:pPr>
            <a:endParaRPr lang="en-US" dirty="0"/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008000"/>
                </a:solidFill>
              </a:rPr>
              <a:t>2) The relaxed problem has fewer constraints. So, there may be other, less</a:t>
            </a: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r>
              <a:rPr lang="en-US" b="1" dirty="0">
                <a:solidFill>
                  <a:srgbClr val="008000"/>
                </a:solidFill>
              </a:rPr>
              <a:t>expensive solutions, given a lower cost (admissible) relaxed solution.</a:t>
            </a:r>
          </a:p>
          <a:p>
            <a:pPr>
              <a:lnSpc>
                <a:spcPct val="80000"/>
              </a:lnSpc>
              <a:spcBef>
                <a:spcPct val="20000"/>
              </a:spcBef>
              <a:defRPr/>
            </a:pPr>
            <a:endParaRPr lang="en-US" dirty="0"/>
          </a:p>
          <a:p>
            <a:pPr lvl="2">
              <a:lnSpc>
                <a:spcPct val="80000"/>
              </a:lnSpc>
              <a:spcBef>
                <a:spcPct val="50000"/>
              </a:spcBef>
              <a:buFontTx/>
              <a:buChar char="•"/>
              <a:defRPr/>
            </a:pPr>
            <a:endParaRPr lang="en-US" sz="1600" dirty="0"/>
          </a:p>
        </p:txBody>
      </p:sp>
      <p:sp>
        <p:nvSpPr>
          <p:cNvPr id="1394694" name="Rectangle 6"/>
          <p:cNvSpPr>
            <a:spLocks noChangeArrowheads="1"/>
          </p:cNvSpPr>
          <p:nvPr/>
        </p:nvSpPr>
        <p:spPr bwMode="auto">
          <a:xfrm>
            <a:off x="2667000" y="4953000"/>
            <a:ext cx="7010400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h(n) = </a:t>
            </a:r>
            <a:r>
              <a:rPr lang="en-US" sz="2000" b="1" dirty="0">
                <a:solidFill>
                  <a:srgbClr val="FF0000"/>
                </a:solidFill>
              </a:rPr>
              <a:t>max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 {h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(n), h</a:t>
            </a:r>
            <a:r>
              <a:rPr lang="en-US" sz="2000" b="1" baseline="-25000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(n), …,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</a:rPr>
              <a:t>h</a:t>
            </a:r>
            <a:r>
              <a:rPr lang="en-US" sz="2000" b="1" baseline="-25000" dirty="0" err="1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(n)}</a:t>
            </a:r>
          </a:p>
          <a:p>
            <a:pPr lvl="1">
              <a:spcBef>
                <a:spcPct val="20000"/>
              </a:spcBef>
              <a:buFontTx/>
              <a:buChar char="–"/>
              <a:defRPr/>
            </a:pP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lvl="1"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If component heuristics are admissible so is the composite</a:t>
            </a:r>
            <a:r>
              <a:rPr lang="en-US" sz="2000" dirty="0"/>
              <a:t>.</a:t>
            </a:r>
          </a:p>
        </p:txBody>
      </p:sp>
      <p:sp>
        <p:nvSpPr>
          <p:cNvPr id="1394695" name="Rectangle 7"/>
          <p:cNvSpPr>
            <a:spLocks noChangeArrowheads="1"/>
          </p:cNvSpPr>
          <p:nvPr/>
        </p:nvSpPr>
        <p:spPr bwMode="auto">
          <a:xfrm>
            <a:off x="2362200" y="4343400"/>
            <a:ext cx="79323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2000" b="1" dirty="0">
                <a:solidFill>
                  <a:schemeClr val="accent2"/>
                </a:solidFill>
              </a:rPr>
              <a:t>What if we have multiple heuristics available? I.e., h_1(n), h_2(n),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94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4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94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946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692" grpId="0" build="allAtOnce"/>
      <p:bldP spid="139469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570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dirty="0">
                <a:solidFill>
                  <a:srgbClr val="FF0000"/>
                </a:solidFill>
                <a:cs typeface="+mn-cs"/>
              </a:rPr>
              <a:t>What is the optimal cost of solving some portion of original problem?</a:t>
            </a:r>
          </a:p>
          <a:p>
            <a:pPr lvl="1" eaLnBrk="1" hangingPunct="1">
              <a:defRPr/>
            </a:pPr>
            <a:r>
              <a:rPr lang="en-US" b="1" dirty="0" err="1">
                <a:solidFill>
                  <a:srgbClr val="FF0000"/>
                </a:solidFill>
              </a:rPr>
              <a:t>subproblem</a:t>
            </a:r>
            <a:r>
              <a:rPr lang="en-US" b="1" dirty="0">
                <a:solidFill>
                  <a:srgbClr val="FF0000"/>
                </a:solidFill>
              </a:rPr>
              <a:t> solution is heuristic of original problem</a:t>
            </a:r>
          </a:p>
        </p:txBody>
      </p:sp>
      <p:pic>
        <p:nvPicPr>
          <p:cNvPr id="89090" name="Picture 3" descr="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124200"/>
            <a:ext cx="532765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89572" name="Rectangle 4"/>
          <p:cNvSpPr>
            <a:spLocks noChangeArrowheads="1"/>
          </p:cNvSpPr>
          <p:nvPr/>
        </p:nvSpPr>
        <p:spPr bwMode="auto">
          <a:xfrm>
            <a:off x="2743200" y="952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r">
              <a:defRPr/>
            </a:pPr>
            <a:r>
              <a:rPr lang="en-US" sz="2800" b="1" dirty="0">
                <a:solidFill>
                  <a:srgbClr val="FF0000"/>
                </a:solidFill>
              </a:rPr>
              <a:t>Inventing admissible heuristics: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 Sub-problem solutions as heuristic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Pattern Databases</a:t>
            </a:r>
          </a:p>
        </p:txBody>
      </p:sp>
      <p:sp>
        <p:nvSpPr>
          <p:cNvPr id="139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2362200"/>
            <a:ext cx="7467600" cy="3505200"/>
          </a:xfrm>
        </p:spPr>
        <p:txBody>
          <a:bodyPr/>
          <a:lstStyle/>
          <a:p>
            <a:pPr eaLnBrk="1" hangingPunct="1">
              <a:defRPr/>
            </a:pPr>
            <a:r>
              <a:rPr lang="en-US" sz="2100" b="1" dirty="0"/>
              <a:t>Store optimal solutions to </a:t>
            </a:r>
            <a:r>
              <a:rPr lang="en-US" sz="2100" b="1" dirty="0" err="1"/>
              <a:t>subproblems</a:t>
            </a:r>
            <a:r>
              <a:rPr lang="en-US" sz="2100" b="1" dirty="0"/>
              <a:t> in database</a:t>
            </a:r>
          </a:p>
          <a:p>
            <a:pPr eaLnBrk="1" hangingPunct="1">
              <a:defRPr/>
            </a:pPr>
            <a:endParaRPr lang="en-US" sz="2100" b="1" dirty="0"/>
          </a:p>
          <a:p>
            <a:pPr lvl="1" eaLnBrk="1" hangingPunct="1">
              <a:defRPr/>
            </a:pPr>
            <a:r>
              <a:rPr lang="en-US" sz="2100" b="1" dirty="0"/>
              <a:t>We use an </a:t>
            </a:r>
            <a:r>
              <a:rPr lang="en-US" sz="2100" b="1" dirty="0">
                <a:solidFill>
                  <a:schemeClr val="accent2"/>
                </a:solidFill>
              </a:rPr>
              <a:t>exhaustive search to solve every permutation</a:t>
            </a:r>
            <a:r>
              <a:rPr lang="en-US" sz="2100" b="1" dirty="0"/>
              <a:t> of the 1,2,3,4-piece </a:t>
            </a:r>
            <a:r>
              <a:rPr lang="en-US" sz="2100" b="1" dirty="0" err="1"/>
              <a:t>subproblem</a:t>
            </a:r>
            <a:r>
              <a:rPr lang="en-US" sz="2100" b="1" dirty="0"/>
              <a:t> of the 8-puzzle</a:t>
            </a:r>
          </a:p>
          <a:p>
            <a:pPr lvl="1" eaLnBrk="1" hangingPunct="1">
              <a:defRPr/>
            </a:pPr>
            <a:r>
              <a:rPr lang="en-US" sz="2100" b="1" dirty="0"/>
              <a:t>During solution of 8-puzzle, </a:t>
            </a:r>
            <a:r>
              <a:rPr lang="en-US" sz="2100" b="1" dirty="0">
                <a:solidFill>
                  <a:schemeClr val="accent2"/>
                </a:solidFill>
              </a:rPr>
              <a:t>look up optimal cost</a:t>
            </a:r>
            <a:r>
              <a:rPr lang="en-US" sz="2100" b="1" dirty="0"/>
              <a:t> to solve the 1,2,3,4-piece sub-problem and use as heuristic</a:t>
            </a:r>
          </a:p>
          <a:p>
            <a:pPr lvl="1" eaLnBrk="1" hangingPunct="1">
              <a:defRPr/>
            </a:pPr>
            <a:r>
              <a:rPr lang="en-US" sz="2100" b="1" dirty="0"/>
              <a:t>Other configurations can be considered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9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9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9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>
                <a:solidFill>
                  <a:srgbClr val="FF0000"/>
                </a:solidFill>
              </a:rPr>
              <a:t>Inventing admissible heuristics: 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Learning</a:t>
            </a:r>
          </a:p>
        </p:txBody>
      </p:sp>
      <p:sp>
        <p:nvSpPr>
          <p:cNvPr id="1391620" name="Text Box 4"/>
          <p:cNvSpPr txBox="1">
            <a:spLocks noChangeArrowheads="1"/>
          </p:cNvSpPr>
          <p:nvPr/>
        </p:nvSpPr>
        <p:spPr bwMode="auto">
          <a:xfrm>
            <a:off x="2514600" y="2514601"/>
            <a:ext cx="76962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Also automatically learning admissible heuristics</a:t>
            </a:r>
          </a:p>
          <a:p>
            <a:pPr>
              <a:defRPr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using machine learning techniques, e.g., inductive learning and reinforcement learning.</a:t>
            </a:r>
          </a:p>
          <a:p>
            <a:pPr>
              <a:defRPr/>
            </a:pP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Generally, you try to learn a “state-evaluation” function or “board evaluation” function. (How desirable is state in terms of getting to the goal?) Key: What “features / properties” of state are most useful?</a:t>
            </a: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 </a:t>
            </a:r>
          </a:p>
          <a:p>
            <a:pPr>
              <a:defRPr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More later…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9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1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9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916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9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916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9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916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9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916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162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8117DBB-A629-4744-40EA-96F245AE95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Local Search</a:t>
            </a:r>
            <a:br>
              <a:rPr lang="en-US" altLang="en-US"/>
            </a:br>
            <a:r>
              <a:rPr lang="en-US" altLang="en-US" sz="3200"/>
              <a:t>(Hill-climbing, Simulated Annealing)</a:t>
            </a:r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7AC37378-6B47-B7DA-BBEA-6F22A3FDE1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752600" y="3886200"/>
            <a:ext cx="8458200" cy="1752600"/>
          </a:xfrm>
        </p:spPr>
        <p:txBody>
          <a:bodyPr/>
          <a:lstStyle/>
          <a:p>
            <a:pPr>
              <a:buFont typeface="Arial" charset="0"/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/>
              <a:t>(Based on slides of Mausam, Padhraic Smyth, Stuart Russell, Rao </a:t>
            </a:r>
            <a:r>
              <a:rPr lang="en-US" dirty="0" err="1"/>
              <a:t>Kambhampati</a:t>
            </a:r>
            <a:r>
              <a:rPr lang="en-US" dirty="0"/>
              <a:t>,  Raj Rao, Dan Weld, </a:t>
            </a:r>
            <a:r>
              <a:rPr lang="en-US" altLang="en-US" dirty="0"/>
              <a:t>Jim Martin</a:t>
            </a:r>
            <a:r>
              <a:rPr lang="en-US" dirty="0"/>
              <a:t>…)</a:t>
            </a:r>
          </a:p>
        </p:txBody>
      </p:sp>
      <p:sp>
        <p:nvSpPr>
          <p:cNvPr id="3076" name="Slide Number Placeholder 3">
            <a:extLst>
              <a:ext uri="{FF2B5EF4-FFF2-40B4-BE49-F238E27FC236}">
                <a16:creationId xmlns:a16="http://schemas.microsoft.com/office/drawing/2014/main" id="{0A17894E-B4A5-7D22-CA1E-B73AAD74B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2519AA-377F-4652-88F7-C00CA231735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58566A2-520F-DE74-BEA5-7299E427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2EDEA9D-C25F-2BB1-5FD2-A141192DC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Local search techniques and optimization</a:t>
            </a:r>
          </a:p>
          <a:p>
            <a:pPr lvl="1"/>
            <a:r>
              <a:rPr lang="en-US" altLang="en-US"/>
              <a:t>Hill-climbing</a:t>
            </a:r>
          </a:p>
          <a:p>
            <a:pPr lvl="1"/>
            <a:r>
              <a:rPr lang="en-US" altLang="en-US"/>
              <a:t>Simulated annealing</a:t>
            </a:r>
          </a:p>
          <a:p>
            <a:pPr lvl="1"/>
            <a:r>
              <a:rPr lang="en-US" altLang="en-US"/>
              <a:t>Issues with local search</a:t>
            </a:r>
          </a:p>
          <a:p>
            <a:pPr lvl="1"/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33D12C9D-8B62-71E8-7CD5-FED3666FF5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E93ADD-BC86-43BC-8F23-7D51C19972D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A438BF0-F622-32F7-2059-558B5DAE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Local search and optimization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606F607-CA8C-F744-6FFD-10FF7C438C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charset="0"/>
              <a:buChar char="•"/>
              <a:defRPr/>
            </a:pPr>
            <a:r>
              <a:rPr lang="en-US" dirty="0"/>
              <a:t>Previous lecture: path to goal is solution to problem</a:t>
            </a:r>
            <a:endParaRPr lang="en-US" sz="2000" dirty="0"/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systematic exploration of search space.</a:t>
            </a:r>
          </a:p>
          <a:p>
            <a:pPr lvl="1">
              <a:buFont typeface="Arial" charset="0"/>
              <a:buChar char="–"/>
              <a:defRPr/>
            </a:pPr>
            <a:endParaRPr lang="en-US" sz="2000" dirty="0"/>
          </a:p>
          <a:p>
            <a:pPr>
              <a:buFont typeface="Arial" charset="0"/>
              <a:buChar char="•"/>
              <a:defRPr/>
            </a:pPr>
            <a:r>
              <a:rPr lang="en-US" sz="2400" dirty="0"/>
              <a:t>This lecture: a state is solution to problem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for some problems path is irrelevant.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E.g., 8-queens</a:t>
            </a:r>
          </a:p>
          <a:p>
            <a:pPr lvl="1">
              <a:buFont typeface="Arial" charset="0"/>
              <a:buChar char="–"/>
              <a:defRPr/>
            </a:pPr>
            <a:endParaRPr lang="en-US" sz="2000" dirty="0"/>
          </a:p>
          <a:p>
            <a:pPr>
              <a:buFont typeface="Arial" charset="0"/>
              <a:buChar char="•"/>
              <a:defRPr/>
            </a:pPr>
            <a:r>
              <a:rPr lang="en-US" sz="2400" dirty="0"/>
              <a:t>Different algorithms can be used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Depth First Branch and Bound</a:t>
            </a:r>
          </a:p>
          <a:p>
            <a:pPr lvl="1">
              <a:buFont typeface="Arial" charset="0"/>
              <a:buChar char="–"/>
              <a:defRPr/>
            </a:pPr>
            <a:r>
              <a:rPr lang="en-US" sz="2000" dirty="0"/>
              <a:t>Local search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FDDE6BDB-5E73-5163-D4BD-CB15BF706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352800"/>
            <a:ext cx="28956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Slide Number Placeholder 4">
            <a:extLst>
              <a:ext uri="{FF2B5EF4-FFF2-40B4-BE49-F238E27FC236}">
                <a16:creationId xmlns:a16="http://schemas.microsoft.com/office/drawing/2014/main" id="{023AF736-FDA3-633F-5215-02F981E31E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58D5A1-E7A4-48F1-9423-5885AA59C550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19C657-E4A2-4765-6355-DD36B46B7F14}"/>
              </a:ext>
            </a:extLst>
          </p:cNvPr>
          <p:cNvSpPr/>
          <p:nvPr/>
        </p:nvSpPr>
        <p:spPr>
          <a:xfrm>
            <a:off x="2209800" y="1447800"/>
            <a:ext cx="26670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/>
              <a:t>Goal Satisfaction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6627D4-CBAA-462A-8579-4E6DD457A657}"/>
              </a:ext>
            </a:extLst>
          </p:cNvPr>
          <p:cNvSpPr/>
          <p:nvPr/>
        </p:nvSpPr>
        <p:spPr>
          <a:xfrm>
            <a:off x="7086600" y="1447800"/>
            <a:ext cx="29718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800" dirty="0"/>
              <a:t>Optimization</a:t>
            </a:r>
          </a:p>
        </p:txBody>
      </p:sp>
      <p:sp>
        <p:nvSpPr>
          <p:cNvPr id="9220" name="TextBox 5">
            <a:extLst>
              <a:ext uri="{FF2B5EF4-FFF2-40B4-BE49-F238E27FC236}">
                <a16:creationId xmlns:a16="http://schemas.microsoft.com/office/drawing/2014/main" id="{BBFC44D5-6A7D-A702-6C82-95318DDD0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2514601"/>
            <a:ext cx="24542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reach the goal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Constraint satisfaction</a:t>
            </a:r>
          </a:p>
        </p:txBody>
      </p:sp>
      <p:sp>
        <p:nvSpPr>
          <p:cNvPr id="9221" name="TextBox 6">
            <a:extLst>
              <a:ext uri="{FF2B5EF4-FFF2-40B4-BE49-F238E27FC236}">
                <a16:creationId xmlns:a16="http://schemas.microsoft.com/office/drawing/2014/main" id="{56BD7E46-DD5C-C222-3DA0-D4A955D2B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2514601"/>
            <a:ext cx="25828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optimize(objective fn)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Constraint Optimization</a:t>
            </a:r>
          </a:p>
        </p:txBody>
      </p:sp>
      <p:sp>
        <p:nvSpPr>
          <p:cNvPr id="9222" name="TextBox 7">
            <a:extLst>
              <a:ext uri="{FF2B5EF4-FFF2-40B4-BE49-F238E27FC236}">
                <a16:creationId xmlns:a16="http://schemas.microsoft.com/office/drawing/2014/main" id="{70FB0513-A4E5-9ADF-598D-C2C557E06A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0925" y="4343401"/>
            <a:ext cx="743108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You can go back and forth between the two problems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Typically in the same complexity class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EC1A11A-0DE2-3BDB-AD01-A19C3C63E512}"/>
              </a:ext>
            </a:extLst>
          </p:cNvPr>
          <p:cNvSpPr txBox="1">
            <a:spLocks/>
          </p:cNvSpPr>
          <p:nvPr/>
        </p:nvSpPr>
        <p:spPr>
          <a:xfrm>
            <a:off x="1981200" y="6356351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sz="1200" dirty="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en-US" sz="1200" dirty="0" err="1">
                <a:solidFill>
                  <a:schemeClr val="tx1">
                    <a:tint val="75000"/>
                  </a:schemeClr>
                </a:solidFill>
              </a:rPr>
              <a:t>Mausam</a:t>
            </a:r>
            <a:endParaRPr lang="en-US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224" name="Slide Number Placeholder 7">
            <a:extLst>
              <a:ext uri="{FF2B5EF4-FFF2-40B4-BE49-F238E27FC236}">
                <a16:creationId xmlns:a16="http://schemas.microsoft.com/office/drawing/2014/main" id="{F6C9C6D2-4C50-5915-77AD-9FF7C707AE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63F908-7CE1-406A-9A93-323D4A3BF8C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D327681-1347-45D9-C1CB-83722DE0E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Local search and optimization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3B02258-F669-EF06-D6DB-97D5689E8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257800"/>
          </a:xfrm>
        </p:spPr>
        <p:txBody>
          <a:bodyPr/>
          <a:lstStyle/>
          <a:p>
            <a:r>
              <a:rPr lang="en-US" altLang="en-US"/>
              <a:t>Sometimes referred to as </a:t>
            </a:r>
            <a:r>
              <a:rPr lang="en-US" altLang="en-US">
                <a:solidFill>
                  <a:srgbClr val="A50021"/>
                </a:solidFill>
              </a:rPr>
              <a:t>iterative improvement</a:t>
            </a:r>
            <a:r>
              <a:rPr lang="en-US" altLang="en-US"/>
              <a:t> or </a:t>
            </a:r>
            <a:r>
              <a:rPr lang="en-US" altLang="en-US">
                <a:solidFill>
                  <a:srgbClr val="A50021"/>
                </a:solidFill>
              </a:rPr>
              <a:t>local search</a:t>
            </a:r>
            <a:r>
              <a:rPr lang="en-US" altLang="en-US"/>
              <a:t>.</a:t>
            </a:r>
          </a:p>
          <a:p>
            <a:r>
              <a:rPr lang="en-US" altLang="en-US"/>
              <a:t>We’ll talk about three simple but effective techniques:</a:t>
            </a:r>
          </a:p>
          <a:p>
            <a:pPr lvl="1"/>
            <a:r>
              <a:rPr lang="en-US" altLang="en-US"/>
              <a:t>Hillclimbing</a:t>
            </a:r>
          </a:p>
          <a:p>
            <a:pPr lvl="1"/>
            <a:r>
              <a:rPr lang="en-US" altLang="en-US"/>
              <a:t>Random Restart Hillclimbing</a:t>
            </a:r>
          </a:p>
          <a:p>
            <a:pPr lvl="1"/>
            <a:r>
              <a:rPr lang="en-US" altLang="en-US"/>
              <a:t>Simulated Annealing </a:t>
            </a: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5DE127D-5A70-2BAA-82D2-3B1CD05FF4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197504-E403-4F9B-92B5-5FB8C13C448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2F2AC639-ADFF-B4BF-57F0-749CED13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Optimization Framework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AC15BA7-0089-B8EE-31D7-53EF819C8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Working with 1 state in memory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No agenda/queue/fringe…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Usually</a:t>
            </a:r>
          </a:p>
          <a:p>
            <a:pPr>
              <a:lnSpc>
                <a:spcPct val="90000"/>
              </a:lnSpc>
            </a:pPr>
            <a:r>
              <a:rPr lang="en-US" altLang="en-US"/>
              <a:t>Usually generating new states from this 1 state in an attempt to improve things</a:t>
            </a:r>
          </a:p>
          <a:p>
            <a:pPr>
              <a:lnSpc>
                <a:spcPct val="90000"/>
              </a:lnSpc>
            </a:pPr>
            <a:r>
              <a:rPr lang="en-US" altLang="en-US"/>
              <a:t>Goal notion is slightly different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Normally solutions are easy to find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We can compare solutions and say one is better than another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Goal is usually an optimization of some function of the “solution” (cost).</a:t>
            </a: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FD8D582-D51D-EB1B-ED04-854A5B8E46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EDCD1F-36AF-49C4-B930-02949C5FA98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FB2A85A-ED74-7BB2-69C1-431ACAC3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Local search and optimization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408AC91-7D9C-9E5E-5283-7D5A5DA29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257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Local search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Keep track of single current state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Move only to neighboring states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Ignore paths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Use very little memory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Can often find reasonable solutions in large or infinite (continuous) state spaces</a:t>
            </a:r>
            <a:r>
              <a:rPr lang="en-US" altLang="en-US" sz="1200"/>
              <a:t>.</a:t>
            </a:r>
          </a:p>
          <a:p>
            <a:pPr lvl="1">
              <a:lnSpc>
                <a:spcPct val="90000"/>
              </a:lnSpc>
            </a:pPr>
            <a:endParaRPr lang="en-US" altLang="en-US" sz="1200"/>
          </a:p>
          <a:p>
            <a:pPr>
              <a:lnSpc>
                <a:spcPct val="90000"/>
              </a:lnSpc>
            </a:pPr>
            <a:r>
              <a:rPr lang="en-US" altLang="en-US" sz="2400"/>
              <a:t>“Pure optimization” problems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All states have an objective function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Goal is to find state with max (or min) objective value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Does not quite fit into path-cost/goal-state formulation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Local search can do quite well on these problems.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76D9AF3F-8B05-416C-D01E-225E946E21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426AD8-2B5C-49D4-8AE2-C27E2DA93B7A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E3E22AD2-0874-665E-839C-9C3ABF2C6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Trivial Algorithms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CAF48B46-8A9F-9835-92C0-73B6AF6B9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Random Sampling</a:t>
            </a:r>
          </a:p>
          <a:p>
            <a:pPr lvl="1"/>
            <a:r>
              <a:rPr lang="en-US" altLang="en-US"/>
              <a:t>Generate a state randomly</a:t>
            </a:r>
          </a:p>
          <a:p>
            <a:pPr lvl="1"/>
            <a:endParaRPr lang="en-US" altLang="en-US"/>
          </a:p>
          <a:p>
            <a:r>
              <a:rPr lang="en-US" altLang="en-US"/>
              <a:t>Random Walk</a:t>
            </a:r>
          </a:p>
          <a:p>
            <a:pPr lvl="1"/>
            <a:r>
              <a:rPr lang="en-US" altLang="en-US"/>
              <a:t>Randomly pick a neighbor of the current state</a:t>
            </a:r>
          </a:p>
          <a:p>
            <a:pPr lvl="1"/>
            <a:endParaRPr lang="en-US" altLang="en-US"/>
          </a:p>
          <a:p>
            <a:r>
              <a:rPr lang="en-US" altLang="en-US"/>
              <a:t>Both algorithms asymptotically complete.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20671C-FC26-7F9F-57C6-FE617797885E}"/>
              </a:ext>
            </a:extLst>
          </p:cNvPr>
          <p:cNvSpPr txBox="1">
            <a:spLocks/>
          </p:cNvSpPr>
          <p:nvPr/>
        </p:nvSpPr>
        <p:spPr>
          <a:xfrm>
            <a:off x="1981200" y="6356351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sz="1200" dirty="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en-US" sz="1200" dirty="0" err="1">
                <a:solidFill>
                  <a:schemeClr val="tx1">
                    <a:tint val="75000"/>
                  </a:schemeClr>
                </a:solidFill>
              </a:rPr>
              <a:t>Mausam</a:t>
            </a:r>
            <a:endParaRPr lang="en-US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6389" name="Slide Number Placeholder 4">
            <a:extLst>
              <a:ext uri="{FF2B5EF4-FFF2-40B4-BE49-F238E27FC236}">
                <a16:creationId xmlns:a16="http://schemas.microsoft.com/office/drawing/2014/main" id="{B3BD71B6-5569-3639-24EA-0052CD215C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9055A7-76E5-44A2-9403-5252F785271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722E0BD6-5758-FAC5-4387-71AED792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Hill-climbing Search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B4B6368B-8FD1-2C3E-B449-C7C5F874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Generate nearby successor states to the current state based on some knowledge of the problem.</a:t>
            </a:r>
          </a:p>
          <a:p>
            <a:endParaRPr lang="en-US" altLang="en-US"/>
          </a:p>
          <a:p>
            <a:r>
              <a:rPr lang="en-US" altLang="en-US"/>
              <a:t>Pick the best of the bunch and replace the current state with that one.</a:t>
            </a:r>
          </a:p>
          <a:p>
            <a:endParaRPr lang="en-US" altLang="en-US"/>
          </a:p>
          <a:p>
            <a:r>
              <a:rPr lang="en-US" altLang="en-US"/>
              <a:t>Loop (until?)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BFEAC-F6F4-70F4-186D-7437082A040D}"/>
              </a:ext>
            </a:extLst>
          </p:cNvPr>
          <p:cNvSpPr txBox="1">
            <a:spLocks/>
          </p:cNvSpPr>
          <p:nvPr/>
        </p:nvSpPr>
        <p:spPr>
          <a:xfrm>
            <a:off x="1981200" y="6356351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sz="1200" dirty="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en-US" sz="1200" dirty="0" err="1">
                <a:solidFill>
                  <a:schemeClr val="tx1">
                    <a:tint val="75000"/>
                  </a:schemeClr>
                </a:solidFill>
              </a:rPr>
              <a:t>Mausam</a:t>
            </a:r>
            <a:endParaRPr lang="en-US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294D969E-DA63-182B-4A85-ED872ED718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35B0F7-9507-44ED-9B28-8E1406CA892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D11CB9E-8FB5-1140-352E-A6D824986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Hill-climbing Search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17AEA43E-32A3-E21A-37FC-B9E37564B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Implicit in this scheme is the notion of a </a:t>
            </a:r>
            <a:r>
              <a:rPr lang="en-US" altLang="en-US" i="1">
                <a:solidFill>
                  <a:srgbClr val="A50021"/>
                </a:solidFill>
              </a:rPr>
              <a:t>neighborhood</a:t>
            </a:r>
            <a:r>
              <a:rPr lang="en-US" altLang="en-US"/>
              <a:t> that in some way preserves the cost behavior of the solution space.</a:t>
            </a:r>
          </a:p>
          <a:p>
            <a:pPr algn="just">
              <a:lnSpc>
                <a:spcPct val="90000"/>
              </a:lnSpc>
            </a:pPr>
            <a:r>
              <a:rPr lang="en-US" altLang="en-US"/>
              <a:t>The successor function is where the intelligence lies in hill-climbing search</a:t>
            </a:r>
          </a:p>
          <a:p>
            <a:pPr algn="just">
              <a:lnSpc>
                <a:spcPct val="90000"/>
              </a:lnSpc>
            </a:pPr>
            <a:r>
              <a:rPr lang="en-US" altLang="en-US"/>
              <a:t>It has to be conservative enough to preserve significant “good” portions of the current solution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548E-767A-CEEE-2AF9-E64F3EC4677C}"/>
              </a:ext>
            </a:extLst>
          </p:cNvPr>
          <p:cNvSpPr txBox="1">
            <a:spLocks/>
          </p:cNvSpPr>
          <p:nvPr/>
        </p:nvSpPr>
        <p:spPr>
          <a:xfrm>
            <a:off x="1981200" y="6356351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sz="1200" dirty="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en-US" sz="1200" dirty="0" err="1">
                <a:solidFill>
                  <a:schemeClr val="tx1">
                    <a:tint val="75000"/>
                  </a:schemeClr>
                </a:solidFill>
              </a:rPr>
              <a:t>Mausam</a:t>
            </a:r>
            <a:endParaRPr lang="en-US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18437" name="Slide Number Placeholder 4">
            <a:extLst>
              <a:ext uri="{FF2B5EF4-FFF2-40B4-BE49-F238E27FC236}">
                <a16:creationId xmlns:a16="http://schemas.microsoft.com/office/drawing/2014/main" id="{1C25B1A9-F246-518B-FD9D-267F331EAA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C1D507-77A9-4E3A-9230-A910B5D80999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A953D55-C308-3CAD-547D-5A074038C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Hill-climbing (Greedy Local Search)</a:t>
            </a:r>
            <a:br>
              <a:rPr lang="en-US" altLang="en-US"/>
            </a:br>
            <a:r>
              <a:rPr lang="en-US" altLang="en-US"/>
              <a:t>max version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FCC549C-EE06-712C-526F-3D2EEB4BB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/>
              <a:t>function</a:t>
            </a:r>
            <a:r>
              <a:rPr lang="en-US" altLang="en-US" sz="2000"/>
              <a:t> HILL-CLIMBING( </a:t>
            </a:r>
            <a:r>
              <a:rPr lang="en-US" altLang="en-US" sz="2000" i="1"/>
              <a:t>problem</a:t>
            </a:r>
            <a:r>
              <a:rPr lang="en-US" altLang="en-US" sz="2000"/>
              <a:t>) </a:t>
            </a:r>
            <a:r>
              <a:rPr lang="en-US" altLang="en-US" sz="2000" b="1"/>
              <a:t>return</a:t>
            </a:r>
            <a:r>
              <a:rPr lang="en-US" altLang="en-US" sz="2000"/>
              <a:t> a state that is a local maximum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input:</a:t>
            </a:r>
            <a:r>
              <a:rPr lang="en-US" altLang="en-US" sz="2000"/>
              <a:t> </a:t>
            </a:r>
            <a:r>
              <a:rPr lang="en-US" altLang="en-US" sz="2000" i="1"/>
              <a:t>problem</a:t>
            </a:r>
            <a:r>
              <a:rPr lang="en-US" altLang="en-US" sz="2000"/>
              <a:t>, a problem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/>
              <a:t>	</a:t>
            </a:r>
            <a:r>
              <a:rPr lang="en-US" altLang="en-US" sz="2000" b="1"/>
              <a:t>local variables: </a:t>
            </a:r>
            <a:r>
              <a:rPr lang="en-US" altLang="en-US" sz="2000" i="1"/>
              <a:t>current</a:t>
            </a:r>
            <a:r>
              <a:rPr lang="en-US" altLang="en-US" sz="2000" b="1"/>
              <a:t>, a node.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/>
              <a:t>			 </a:t>
            </a:r>
            <a:r>
              <a:rPr lang="en-US" altLang="en-US" sz="2000" i="1"/>
              <a:t>neighbor</a:t>
            </a:r>
            <a:r>
              <a:rPr lang="en-US" altLang="en-US" sz="2000" b="1"/>
              <a:t>, a node.</a:t>
            </a:r>
            <a:endParaRPr lang="en-US" altLang="en-US" sz="2000" i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/>
              <a:t>	current </a:t>
            </a:r>
            <a:r>
              <a:rPr lang="en-US" altLang="en-US" sz="2000" i="1">
                <a:sym typeface="Symbol" panose="05050102010706020507" pitchFamily="18" charset="2"/>
              </a:rPr>
              <a:t> </a:t>
            </a:r>
            <a:r>
              <a:rPr lang="en-US" altLang="en-US" sz="2000"/>
              <a:t>MAKE-NODE(INITIAL-STATE[</a:t>
            </a:r>
            <a:r>
              <a:rPr lang="en-US" altLang="en-US" sz="2000" i="1"/>
              <a:t>problem</a:t>
            </a:r>
            <a:r>
              <a:rPr lang="en-US" altLang="en-US" sz="2000"/>
              <a:t>])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loop do</a:t>
            </a:r>
            <a:endParaRPr lang="en-US" altLang="en-US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/>
              <a:t>		</a:t>
            </a:r>
            <a:r>
              <a:rPr lang="en-US" altLang="en-US" sz="2000" i="1"/>
              <a:t>neighbor</a:t>
            </a:r>
            <a:r>
              <a:rPr lang="en-US" altLang="en-US" sz="2000"/>
              <a:t> </a:t>
            </a:r>
            <a:r>
              <a:rPr lang="en-US" altLang="en-US" sz="2000">
                <a:sym typeface="Symbol" panose="05050102010706020507" pitchFamily="18" charset="2"/>
              </a:rPr>
              <a:t> </a:t>
            </a:r>
            <a:r>
              <a:rPr lang="en-US" altLang="en-US" sz="2000"/>
              <a:t>a highest valued successor of </a:t>
            </a:r>
            <a:r>
              <a:rPr lang="en-US" altLang="en-US" sz="2000" i="1"/>
              <a:t>current</a:t>
            </a:r>
            <a:endParaRPr lang="en-US" altLang="en-US" sz="2000" b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	</a:t>
            </a:r>
            <a:r>
              <a:rPr lang="en-US" altLang="en-US" sz="2000" b="1"/>
              <a:t>if</a:t>
            </a:r>
            <a:r>
              <a:rPr lang="en-US" altLang="en-US" sz="2000"/>
              <a:t> VALUE</a:t>
            </a:r>
            <a:r>
              <a:rPr lang="en-US" altLang="en-US" sz="2000" i="1"/>
              <a:t> </a:t>
            </a:r>
            <a:r>
              <a:rPr lang="en-US" altLang="en-US" sz="2000"/>
              <a:t>[</a:t>
            </a:r>
            <a:r>
              <a:rPr lang="en-US" altLang="en-US" sz="2000" i="1"/>
              <a:t>neighbor</a:t>
            </a:r>
            <a:r>
              <a:rPr lang="en-US" altLang="en-US" sz="2000"/>
              <a:t>]</a:t>
            </a:r>
            <a:r>
              <a:rPr lang="en-US" altLang="en-US" sz="2000" i="1"/>
              <a:t> ≤ </a:t>
            </a:r>
            <a:r>
              <a:rPr lang="en-US" altLang="en-US" sz="2000"/>
              <a:t>VALUE[</a:t>
            </a:r>
            <a:r>
              <a:rPr lang="en-US" altLang="en-US" sz="2000" i="1"/>
              <a:t>current</a:t>
            </a:r>
            <a:r>
              <a:rPr lang="en-US" altLang="en-US" sz="2000"/>
              <a:t>] </a:t>
            </a:r>
            <a:r>
              <a:rPr lang="en-US" altLang="en-US" sz="2000" b="1"/>
              <a:t>then return</a:t>
            </a:r>
            <a:r>
              <a:rPr lang="en-US" altLang="en-US" sz="2000"/>
              <a:t> STATE[</a:t>
            </a:r>
            <a:r>
              <a:rPr lang="en-US" altLang="en-US" sz="2000" i="1"/>
              <a:t>current</a:t>
            </a:r>
            <a:r>
              <a:rPr lang="en-US" altLang="en-US" sz="2000"/>
              <a:t>]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	</a:t>
            </a:r>
            <a:r>
              <a:rPr lang="en-US" altLang="en-US" sz="2000" i="1"/>
              <a:t>current</a:t>
            </a:r>
            <a:r>
              <a:rPr lang="en-US" altLang="en-US" sz="2000"/>
              <a:t> </a:t>
            </a:r>
            <a:r>
              <a:rPr lang="en-US" altLang="en-US" sz="2000">
                <a:sym typeface="Symbol" panose="05050102010706020507" pitchFamily="18" charset="2"/>
              </a:rPr>
              <a:t> </a:t>
            </a:r>
            <a:r>
              <a:rPr lang="en-US" altLang="en-US" sz="2000" i="1"/>
              <a:t>neighbor</a:t>
            </a:r>
            <a:endParaRPr lang="en-US" altLang="en-US" sz="2000"/>
          </a:p>
          <a:p>
            <a:pPr>
              <a:lnSpc>
                <a:spcPct val="90000"/>
              </a:lnSpc>
              <a:buFontTx/>
              <a:buNone/>
            </a:pPr>
            <a:endParaRPr lang="en-US" altLang="en-US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/>
              <a:t>min version will reverse inequalities and look for lowest valued successor</a:t>
            </a:r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EF6F686B-EDC6-750C-2A4D-3181D4FADE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D7CA7B-1766-494B-A690-902A5A219F5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949DE0C-B5D1-2845-572F-D0EF9C67A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Hill-climbing search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4580D6F-51EC-BA38-428E-1FD5B1DF8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400"/>
              <a:t>“a loop that continuously moves towards increasing value”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terminates when a peak is reached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Aka greedy local search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Value can be either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Objective function value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Heuristic function value (minimized)</a:t>
            </a:r>
          </a:p>
          <a:p>
            <a:pPr lvl="1">
              <a:lnSpc>
                <a:spcPct val="90000"/>
              </a:lnSpc>
            </a:pPr>
            <a:endParaRPr lang="en-US" altLang="en-US" sz="2000"/>
          </a:p>
          <a:p>
            <a:pPr>
              <a:lnSpc>
                <a:spcPct val="90000"/>
              </a:lnSpc>
            </a:pPr>
            <a:r>
              <a:rPr lang="en-US" altLang="en-US" sz="2400"/>
              <a:t>Hill climbing does not look ahead of the immediate neighbors 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Can randomly choose among the set of best successors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if multiple have the best value</a:t>
            </a:r>
          </a:p>
          <a:p>
            <a:pPr lvl="1">
              <a:lnSpc>
                <a:spcPct val="90000"/>
              </a:lnSpc>
            </a:pPr>
            <a:endParaRPr lang="en-US" altLang="en-US" sz="1800" i="1"/>
          </a:p>
          <a:p>
            <a:pPr>
              <a:lnSpc>
                <a:spcPct val="90000"/>
              </a:lnSpc>
            </a:pPr>
            <a:r>
              <a:rPr lang="en-US" altLang="en-US">
                <a:solidFill>
                  <a:srgbClr val="C00000"/>
                </a:solidFill>
              </a:rPr>
              <a:t>“climbing Mount Everest in a thick fog with amnesia”</a:t>
            </a: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ADA05910-5BC9-9DC3-9D7B-55509316F4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3F389C-F16F-47CB-BF09-3408CC97477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FD7707B-FEA2-8BBD-8C37-059CDB8A4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8975" y="136526"/>
            <a:ext cx="8229600" cy="639763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“Landscape” of Hill-climbing search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28678-CBE2-7FA8-EBD3-45CAD31DD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662614"/>
            <a:ext cx="63817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C00000"/>
                </a:solidFill>
                <a:latin typeface="Arial" panose="020B0604020202020204" pitchFamily="34" charset="0"/>
              </a:rPr>
              <a:t>Hill Climbing gets stuck in local minima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depending on?</a:t>
            </a:r>
          </a:p>
        </p:txBody>
      </p:sp>
      <p:pic>
        <p:nvPicPr>
          <p:cNvPr id="23556" name="Picture 4" descr="hill-climbing">
            <a:extLst>
              <a:ext uri="{FF2B5EF4-FFF2-40B4-BE49-F238E27FC236}">
                <a16:creationId xmlns:a16="http://schemas.microsoft.com/office/drawing/2014/main" id="{0C36B14F-81DB-3582-EC8F-807719139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639" y="1081088"/>
            <a:ext cx="6383337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Slide Number Placeholder 4">
            <a:extLst>
              <a:ext uri="{FF2B5EF4-FFF2-40B4-BE49-F238E27FC236}">
                <a16:creationId xmlns:a16="http://schemas.microsoft.com/office/drawing/2014/main" id="{16E54199-D80F-BD0A-EB06-D5B17C8385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31E240-8A47-4A57-8F78-BB2EBE2E2D95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pic>
        <p:nvPicPr>
          <p:cNvPr id="23558" name="Picture 5">
            <a:extLst>
              <a:ext uri="{FF2B5EF4-FFF2-40B4-BE49-F238E27FC236}">
                <a16:creationId xmlns:a16="http://schemas.microsoft.com/office/drawing/2014/main" id="{14508DAD-9FCE-6166-30AE-F5EC8607B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8925" y="3224213"/>
            <a:ext cx="2738438" cy="215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BEC3C10-8F11-3B26-2A6E-AB33DA4CA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Example: </a:t>
            </a:r>
            <a:r>
              <a:rPr lang="en-US" altLang="en-US" i="1"/>
              <a:t>n</a:t>
            </a:r>
            <a:r>
              <a:rPr lang="en-US" altLang="en-US"/>
              <a:t>-queens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3A18623-263B-8CE3-150B-779C89984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Put </a:t>
            </a:r>
            <a:r>
              <a:rPr lang="en-US" altLang="en-US" i="1"/>
              <a:t>n</a:t>
            </a:r>
            <a:r>
              <a:rPr lang="en-US" altLang="en-US"/>
              <a:t> queens on an </a:t>
            </a:r>
            <a:r>
              <a:rPr lang="en-US" altLang="en-US" i="1"/>
              <a:t>n </a:t>
            </a:r>
            <a:r>
              <a:rPr lang="en-US" altLang="en-US">
                <a:cs typeface="Arial" panose="020B0604020202020204" pitchFamily="34" charset="0"/>
              </a:rPr>
              <a:t>x</a:t>
            </a:r>
            <a:r>
              <a:rPr lang="en-US" altLang="en-US" i="1">
                <a:cs typeface="Arial" panose="020B0604020202020204" pitchFamily="34" charset="0"/>
              </a:rPr>
              <a:t> </a:t>
            </a:r>
            <a:r>
              <a:rPr lang="en-US" altLang="en-US" i="1"/>
              <a:t>n</a:t>
            </a:r>
            <a:r>
              <a:rPr lang="en-US" altLang="en-US"/>
              <a:t> board with no two queens on the same row, column, or diagonal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Is it a satisfaction problem or optimization?</a:t>
            </a:r>
          </a:p>
        </p:txBody>
      </p:sp>
      <p:pic>
        <p:nvPicPr>
          <p:cNvPr id="25604" name="Picture 4" descr="4queens-sequence">
            <a:extLst>
              <a:ext uri="{FF2B5EF4-FFF2-40B4-BE49-F238E27FC236}">
                <a16:creationId xmlns:a16="http://schemas.microsoft.com/office/drawing/2014/main" id="{3A04E194-8C18-DA66-9F89-524A2241A1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505200"/>
            <a:ext cx="7467600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595D84C5-EE2E-A741-8B14-51F2D65FB8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0F90A55-E29D-4F35-B04F-139C37EDC4F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3B48DF2-BB77-49D1-F4E4-8C05EA373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Hill-climbing search: 8-queens problem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5718480-E8AF-F4C1-85A2-D23E9C3D2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4800601"/>
            <a:ext cx="8229600" cy="132556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Need to convert to an optimization problem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i="1"/>
              <a:t>h</a:t>
            </a:r>
            <a:r>
              <a:rPr lang="en-US" altLang="en-US" sz="2400"/>
              <a:t> = number of pairs of queens that are attacking each other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i="1"/>
              <a:t>h = 17</a:t>
            </a:r>
            <a:r>
              <a:rPr lang="en-US" altLang="en-US" sz="2400"/>
              <a:t> for the above state</a:t>
            </a:r>
          </a:p>
        </p:txBody>
      </p:sp>
      <p:pic>
        <p:nvPicPr>
          <p:cNvPr id="27652" name="Picture 4">
            <a:extLst>
              <a:ext uri="{FF2B5EF4-FFF2-40B4-BE49-F238E27FC236}">
                <a16:creationId xmlns:a16="http://schemas.microsoft.com/office/drawing/2014/main" id="{6DF7FB22-CF9E-4BD9-41C5-04B8E6D3A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219200"/>
            <a:ext cx="386715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3ECB1801-DB32-ED63-C68F-369060F570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CF649C-B6E4-4A80-9F35-D6247B80899C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0D84AC6-84D5-CD43-A620-117A6C84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Search Space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ACEDCE2-82FF-CDC5-C868-DF07CAD81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State</a:t>
            </a:r>
          </a:p>
          <a:p>
            <a:pPr lvl="1"/>
            <a:r>
              <a:rPr lang="en-US" altLang="en-US"/>
              <a:t>All 8 queens on the board in some configuration</a:t>
            </a:r>
          </a:p>
          <a:p>
            <a:endParaRPr lang="en-US" altLang="en-US" sz="1200"/>
          </a:p>
          <a:p>
            <a:r>
              <a:rPr lang="en-US" altLang="en-US"/>
              <a:t>Successor function</a:t>
            </a:r>
          </a:p>
          <a:p>
            <a:pPr lvl="1"/>
            <a:r>
              <a:rPr lang="en-US" altLang="en-US"/>
              <a:t>move a single queen to another square in the same column.</a:t>
            </a:r>
          </a:p>
          <a:p>
            <a:endParaRPr lang="en-US" altLang="en-US" sz="1200"/>
          </a:p>
          <a:p>
            <a:r>
              <a:rPr lang="en-US" altLang="en-US"/>
              <a:t>Example of a heuristic function </a:t>
            </a:r>
            <a:r>
              <a:rPr lang="en-US" altLang="en-US" i="1"/>
              <a:t>h(n)</a:t>
            </a:r>
            <a:r>
              <a:rPr lang="en-US" altLang="en-US"/>
              <a:t>: </a:t>
            </a:r>
          </a:p>
          <a:p>
            <a:pPr lvl="1"/>
            <a:r>
              <a:rPr lang="en-US" altLang="en-US"/>
              <a:t>the number of pairs of queens that are attacking each other</a:t>
            </a:r>
          </a:p>
          <a:p>
            <a:pPr lvl="1"/>
            <a:r>
              <a:rPr lang="en-US" altLang="en-US"/>
              <a:t>(so we want to minimize this)</a:t>
            </a: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3771E917-E7F5-2D9F-447B-6355A3DD30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1CB4596-760F-4AE7-A430-ABE3D991957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170E959-5B1A-E446-D969-75938AE7C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Hill-climbing search: 8-queens problem</a:t>
            </a:r>
          </a:p>
        </p:txBody>
      </p:sp>
      <p:pic>
        <p:nvPicPr>
          <p:cNvPr id="31747" name="Picture 4" descr="8queens-local-minimum">
            <a:extLst>
              <a:ext uri="{FF2B5EF4-FFF2-40B4-BE49-F238E27FC236}">
                <a16:creationId xmlns:a16="http://schemas.microsoft.com/office/drawing/2014/main" id="{F99DEC4D-22C7-6A36-66F9-53CB53A8F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295400"/>
            <a:ext cx="373380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6">
            <a:extLst>
              <a:ext uri="{FF2B5EF4-FFF2-40B4-BE49-F238E27FC236}">
                <a16:creationId xmlns:a16="http://schemas.microsoft.com/office/drawing/2014/main" id="{9B70682E-D785-2710-0171-550DCE533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800601"/>
            <a:ext cx="8229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Char char="•"/>
            </a:pPr>
            <a:endParaRPr lang="en-US" altLang="en-US" sz="2800">
              <a:latin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Is this a solution?</a:t>
            </a:r>
          </a:p>
          <a:p>
            <a:pPr eaLnBrk="1" hangingPunct="1">
              <a:buFontTx/>
              <a:buChar char="•"/>
            </a:pPr>
            <a:r>
              <a:rPr lang="en-US" altLang="en-US">
                <a:latin typeface="Arial" panose="020B0604020202020204" pitchFamily="34" charset="0"/>
              </a:rPr>
              <a:t>What is h?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B9FF1297-F87F-40B4-AD26-5E6EEC3FF3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082A81-A3E4-4C6D-94D5-2DCB20898BC1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7C5CFF-3C44-F7C4-70E5-4FD48BF3E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Hill-climbing on 8-queens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05F5569-BD53-C58A-02EA-DA41215AA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686800" cy="4525963"/>
          </a:xfrm>
        </p:spPr>
        <p:txBody>
          <a:bodyPr/>
          <a:lstStyle/>
          <a:p>
            <a:r>
              <a:rPr lang="en-US" altLang="en-US"/>
              <a:t>Randomly generated 8-queens starting states…</a:t>
            </a:r>
          </a:p>
          <a:p>
            <a:r>
              <a:rPr lang="en-US" altLang="en-US"/>
              <a:t>14% the time it solves the problem</a:t>
            </a:r>
          </a:p>
          <a:p>
            <a:r>
              <a:rPr lang="en-US" altLang="en-US"/>
              <a:t>86% of the time it get stuck at a local minimum</a:t>
            </a:r>
          </a:p>
          <a:p>
            <a:pPr>
              <a:buFont typeface="Arial" panose="020B0604020202020204" pitchFamily="34" charset="0"/>
              <a:buNone/>
            </a:pPr>
            <a:endParaRPr lang="en-US" altLang="en-US"/>
          </a:p>
          <a:p>
            <a:r>
              <a:rPr lang="en-US" altLang="en-US"/>
              <a:t>However…</a:t>
            </a:r>
          </a:p>
          <a:p>
            <a:pPr lvl="1"/>
            <a:r>
              <a:rPr lang="en-US" altLang="en-US"/>
              <a:t>Takes only 4 steps on average when it succeeds </a:t>
            </a:r>
          </a:p>
          <a:p>
            <a:pPr lvl="1"/>
            <a:r>
              <a:rPr lang="en-US" altLang="en-US"/>
              <a:t>And 3 on average when it gets stuck</a:t>
            </a:r>
          </a:p>
          <a:p>
            <a:pPr lvl="1"/>
            <a:r>
              <a:rPr lang="en-US" altLang="en-US"/>
              <a:t>(for a state space with 8^8  =~17 million states)</a:t>
            </a:r>
          </a:p>
          <a:p>
            <a:pPr lvl="1"/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0D804D4E-7D8B-312A-6967-C9E1C1C64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93F99B-F9B5-4949-A0D8-122BFF6BE05F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>
            <a:extLst>
              <a:ext uri="{FF2B5EF4-FFF2-40B4-BE49-F238E27FC236}">
                <a16:creationId xmlns:a16="http://schemas.microsoft.com/office/drawing/2014/main" id="{15FA2898-C88B-634D-6B4E-428BF70DBF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8F040B-AF7C-49A6-A462-F858067B2867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4EEA0DA2-DAFD-F016-EB70-84CF2585F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600" y="230188"/>
            <a:ext cx="6375400" cy="901700"/>
          </a:xfrm>
        </p:spPr>
        <p:txBody>
          <a:bodyPr/>
          <a:lstStyle/>
          <a:p>
            <a:r>
              <a:rPr lang="en-US" altLang="en-US"/>
              <a:t>Hill Climbing Drawbacks</a:t>
            </a: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E2FDC822-773F-7AB2-84E6-E4BD597AB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7" y="2316164"/>
            <a:ext cx="3957638" cy="88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5425" indent="-2254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7575" indent="-2286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60475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en-US" altLang="en-US">
                <a:latin typeface="Comic Sans MS" panose="030F0702030302020204" pitchFamily="66" charset="0"/>
              </a:rPr>
              <a:t>Local maxima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endParaRPr lang="en-US" altLang="en-US" sz="2000">
              <a:latin typeface="Comic Sans MS" panose="030F0702030302020204" pitchFamily="66" charset="0"/>
            </a:endParaRPr>
          </a:p>
          <a:p>
            <a:pPr lvl="2">
              <a:lnSpc>
                <a:spcPct val="90000"/>
              </a:lnSpc>
              <a:spcBef>
                <a:spcPct val="30000"/>
              </a:spcBef>
              <a:buFontTx/>
              <a:buChar char="–"/>
            </a:pPr>
            <a:endParaRPr lang="en-US" altLang="en-US" sz="2000">
              <a:latin typeface="Comic Sans MS" panose="030F0702030302020204" pitchFamily="66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endParaRPr lang="en-US" altLang="en-US">
              <a:latin typeface="Comic Sans MS" panose="030F0702030302020204" pitchFamily="66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en-US" altLang="en-US">
                <a:latin typeface="Comic Sans MS" panose="030F0702030302020204" pitchFamily="66" charset="0"/>
              </a:rPr>
              <a:t>Plateaus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endParaRPr lang="en-US" altLang="en-US">
              <a:latin typeface="Comic Sans MS" panose="030F0702030302020204" pitchFamily="66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endParaRPr lang="en-US" altLang="en-US">
              <a:latin typeface="Comic Sans MS" panose="030F0702030302020204" pitchFamily="66" charset="0"/>
            </a:endParaRPr>
          </a:p>
          <a:p>
            <a:pPr lvl="1"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r>
              <a:rPr lang="en-US" altLang="en-US">
                <a:latin typeface="Comic Sans MS" panose="030F0702030302020204" pitchFamily="66" charset="0"/>
              </a:rPr>
              <a:t>Diagonal ridges </a:t>
            </a:r>
          </a:p>
          <a:p>
            <a:pPr lvl="2">
              <a:lnSpc>
                <a:spcPct val="90000"/>
              </a:lnSpc>
              <a:spcBef>
                <a:spcPct val="30000"/>
              </a:spcBef>
              <a:buFontTx/>
              <a:buNone/>
            </a:pPr>
            <a:endParaRPr lang="en-US" altLang="en-US" sz="2000">
              <a:latin typeface="Comic Sans MS" panose="030F0702030302020204" pitchFamily="66" charset="0"/>
            </a:endParaRPr>
          </a:p>
          <a:p>
            <a:pPr>
              <a:lnSpc>
                <a:spcPct val="90000"/>
              </a:lnSpc>
              <a:spcBef>
                <a:spcPct val="30000"/>
              </a:spcBef>
              <a:buFontTx/>
              <a:buChar char="•"/>
            </a:pPr>
            <a:endParaRPr lang="en-US" altLang="en-US" sz="2800">
              <a:latin typeface="Comic Sans MS" panose="030F0702030302020204" pitchFamily="66" charset="0"/>
            </a:endParaRPr>
          </a:p>
        </p:txBody>
      </p:sp>
      <p:sp>
        <p:nvSpPr>
          <p:cNvPr id="35845" name="Freeform 5">
            <a:extLst>
              <a:ext uri="{FF2B5EF4-FFF2-40B4-BE49-F238E27FC236}">
                <a16:creationId xmlns:a16="http://schemas.microsoft.com/office/drawing/2014/main" id="{A3DBA1DF-56F5-0096-0B50-9EDD9625A1D6}"/>
              </a:ext>
            </a:extLst>
          </p:cNvPr>
          <p:cNvSpPr>
            <a:spLocks/>
          </p:cNvSpPr>
          <p:nvPr/>
        </p:nvSpPr>
        <p:spPr bwMode="auto">
          <a:xfrm>
            <a:off x="6596064" y="2303463"/>
            <a:ext cx="2762540" cy="884236"/>
          </a:xfrm>
          <a:custGeom>
            <a:avLst/>
            <a:gdLst>
              <a:gd name="T0" fmla="*/ 0 w 2114"/>
              <a:gd name="T1" fmla="*/ 2147483646 h 660"/>
              <a:gd name="T2" fmla="*/ 2147483646 w 2114"/>
              <a:gd name="T3" fmla="*/ 2147483646 h 660"/>
              <a:gd name="T4" fmla="*/ 2147483646 w 2114"/>
              <a:gd name="T5" fmla="*/ 2147483646 h 660"/>
              <a:gd name="T6" fmla="*/ 2147483646 w 2114"/>
              <a:gd name="T7" fmla="*/ 2147483646 h 660"/>
              <a:gd name="T8" fmla="*/ 2147483646 w 2114"/>
              <a:gd name="T9" fmla="*/ 2147483646 h 660"/>
              <a:gd name="T10" fmla="*/ 2147483646 w 2114"/>
              <a:gd name="T11" fmla="*/ 2147483646 h 660"/>
              <a:gd name="T12" fmla="*/ 2147483646 w 2114"/>
              <a:gd name="T13" fmla="*/ 2147483646 h 660"/>
              <a:gd name="T14" fmla="*/ 2147483646 w 2114"/>
              <a:gd name="T15" fmla="*/ 2147483646 h 660"/>
              <a:gd name="T16" fmla="*/ 2147483646 w 2114"/>
              <a:gd name="T17" fmla="*/ 2147483646 h 660"/>
              <a:gd name="T18" fmla="*/ 2147483646 w 2114"/>
              <a:gd name="T19" fmla="*/ 2147483646 h 660"/>
              <a:gd name="T20" fmla="*/ 2147483646 w 2114"/>
              <a:gd name="T21" fmla="*/ 2147483646 h 660"/>
              <a:gd name="T22" fmla="*/ 2147483646 w 2114"/>
              <a:gd name="T23" fmla="*/ 2147483646 h 660"/>
              <a:gd name="T24" fmla="*/ 2147483646 w 2114"/>
              <a:gd name="T25" fmla="*/ 2147483646 h 660"/>
              <a:gd name="T26" fmla="*/ 2147483646 w 2114"/>
              <a:gd name="T27" fmla="*/ 2147483646 h 660"/>
              <a:gd name="T28" fmla="*/ 2147483646 w 2114"/>
              <a:gd name="T29" fmla="*/ 2147483646 h 660"/>
              <a:gd name="T30" fmla="*/ 2147483646 w 2114"/>
              <a:gd name="T31" fmla="*/ 2147483646 h 660"/>
              <a:gd name="T32" fmla="*/ 2147483646 w 2114"/>
              <a:gd name="T33" fmla="*/ 2147483646 h 660"/>
              <a:gd name="T34" fmla="*/ 2147483646 w 2114"/>
              <a:gd name="T35" fmla="*/ 2147483646 h 660"/>
              <a:gd name="T36" fmla="*/ 2147483646 w 2114"/>
              <a:gd name="T37" fmla="*/ 2147483646 h 660"/>
              <a:gd name="T38" fmla="*/ 2147483646 w 2114"/>
              <a:gd name="T39" fmla="*/ 2147483646 h 660"/>
              <a:gd name="T40" fmla="*/ 2147483646 w 2114"/>
              <a:gd name="T41" fmla="*/ 2147483646 h 660"/>
              <a:gd name="T42" fmla="*/ 2147483646 w 2114"/>
              <a:gd name="T43" fmla="*/ 2147483646 h 660"/>
              <a:gd name="T44" fmla="*/ 2147483646 w 2114"/>
              <a:gd name="T45" fmla="*/ 2147483646 h 660"/>
              <a:gd name="T46" fmla="*/ 2147483646 w 2114"/>
              <a:gd name="T47" fmla="*/ 0 h 660"/>
              <a:gd name="T48" fmla="*/ 2147483646 w 2114"/>
              <a:gd name="T49" fmla="*/ 2147483646 h 660"/>
              <a:gd name="T50" fmla="*/ 2147483646 w 2114"/>
              <a:gd name="T51" fmla="*/ 2147483646 h 660"/>
              <a:gd name="T52" fmla="*/ 2147483646 w 2114"/>
              <a:gd name="T53" fmla="*/ 2147483646 h 660"/>
              <a:gd name="T54" fmla="*/ 2147483646 w 2114"/>
              <a:gd name="T55" fmla="*/ 2147483646 h 660"/>
              <a:gd name="T56" fmla="*/ 2147483646 w 2114"/>
              <a:gd name="T57" fmla="*/ 2147483646 h 660"/>
              <a:gd name="T58" fmla="*/ 2147483646 w 2114"/>
              <a:gd name="T59" fmla="*/ 2147483646 h 660"/>
              <a:gd name="T60" fmla="*/ 2147483646 w 2114"/>
              <a:gd name="T61" fmla="*/ 2147483646 h 660"/>
              <a:gd name="T62" fmla="*/ 2147483646 w 2114"/>
              <a:gd name="T63" fmla="*/ 2147483646 h 660"/>
              <a:gd name="T64" fmla="*/ 2147483646 w 2114"/>
              <a:gd name="T65" fmla="*/ 2147483646 h 660"/>
              <a:gd name="T66" fmla="*/ 2147483646 w 2114"/>
              <a:gd name="T67" fmla="*/ 2147483646 h 660"/>
              <a:gd name="T68" fmla="*/ 2147483646 w 2114"/>
              <a:gd name="T69" fmla="*/ 2147483646 h 660"/>
              <a:gd name="T70" fmla="*/ 2147483646 w 2114"/>
              <a:gd name="T71" fmla="*/ 2147483646 h 660"/>
              <a:gd name="T72" fmla="*/ 2147483646 w 2114"/>
              <a:gd name="T73" fmla="*/ 2147483646 h 660"/>
              <a:gd name="T74" fmla="*/ 2147483646 w 2114"/>
              <a:gd name="T75" fmla="*/ 2147483646 h 660"/>
              <a:gd name="T76" fmla="*/ 2147483646 w 2114"/>
              <a:gd name="T77" fmla="*/ 2147483646 h 660"/>
              <a:gd name="T78" fmla="*/ 2147483646 w 2114"/>
              <a:gd name="T79" fmla="*/ 2147483646 h 660"/>
              <a:gd name="T80" fmla="*/ 2147483646 w 2114"/>
              <a:gd name="T81" fmla="*/ 2147483646 h 660"/>
              <a:gd name="T82" fmla="*/ 2147483646 w 2114"/>
              <a:gd name="T83" fmla="*/ 2147483646 h 660"/>
              <a:gd name="T84" fmla="*/ 2147483646 w 2114"/>
              <a:gd name="T85" fmla="*/ 2147483646 h 660"/>
              <a:gd name="T86" fmla="*/ 2147483646 w 2114"/>
              <a:gd name="T87" fmla="*/ 2147483646 h 660"/>
              <a:gd name="T88" fmla="*/ 2147483646 w 2114"/>
              <a:gd name="T89" fmla="*/ 2147483646 h 660"/>
              <a:gd name="T90" fmla="*/ 2147483646 w 2114"/>
              <a:gd name="T91" fmla="*/ 2147483646 h 660"/>
              <a:gd name="T92" fmla="*/ 2147483646 w 2114"/>
              <a:gd name="T93" fmla="*/ 2147483646 h 660"/>
              <a:gd name="T94" fmla="*/ 2147483646 w 2114"/>
              <a:gd name="T95" fmla="*/ 2147483646 h 660"/>
              <a:gd name="T96" fmla="*/ 2147483646 w 2114"/>
              <a:gd name="T97" fmla="*/ 2147483646 h 660"/>
              <a:gd name="T98" fmla="*/ 2147483646 w 2114"/>
              <a:gd name="T99" fmla="*/ 2147483646 h 660"/>
              <a:gd name="T100" fmla="*/ 2147483646 w 2114"/>
              <a:gd name="T101" fmla="*/ 2147483646 h 660"/>
              <a:gd name="T102" fmla="*/ 2147483646 w 2114"/>
              <a:gd name="T103" fmla="*/ 2147483646 h 660"/>
              <a:gd name="T104" fmla="*/ 2147483646 w 2114"/>
              <a:gd name="T105" fmla="*/ 2147483646 h 660"/>
              <a:gd name="T106" fmla="*/ 2147483646 w 2114"/>
              <a:gd name="T107" fmla="*/ 2147483646 h 660"/>
              <a:gd name="T108" fmla="*/ 2147483646 w 2114"/>
              <a:gd name="T109" fmla="*/ 2147483646 h 660"/>
              <a:gd name="T110" fmla="*/ 2147483646 w 2114"/>
              <a:gd name="T111" fmla="*/ 2147483646 h 660"/>
              <a:gd name="T112" fmla="*/ 2147483646 w 2114"/>
              <a:gd name="T113" fmla="*/ 2147483646 h 660"/>
              <a:gd name="T114" fmla="*/ 2147483646 w 2114"/>
              <a:gd name="T115" fmla="*/ 2147483646 h 660"/>
              <a:gd name="T116" fmla="*/ 2147483646 w 2114"/>
              <a:gd name="T117" fmla="*/ 2147483646 h 660"/>
              <a:gd name="T118" fmla="*/ 2147483646 w 2114"/>
              <a:gd name="T119" fmla="*/ 2147483646 h 66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w 2114"/>
              <a:gd name="T181" fmla="*/ 0 h 660"/>
              <a:gd name="T182" fmla="*/ 2114 w 2114"/>
              <a:gd name="T183" fmla="*/ 660 h 660"/>
            </a:gdLst>
            <a:ahLst/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T180" t="T181" r="T182" b="T183"/>
            <a:pathLst>
              <a:path w="2114" h="660">
                <a:moveTo>
                  <a:pt x="0" y="649"/>
                </a:moveTo>
                <a:cubicBezTo>
                  <a:pt x="55" y="660"/>
                  <a:pt x="44" y="660"/>
                  <a:pt x="129" y="649"/>
                </a:cubicBezTo>
                <a:cubicBezTo>
                  <a:pt x="142" y="647"/>
                  <a:pt x="166" y="637"/>
                  <a:pt x="166" y="637"/>
                </a:cubicBezTo>
                <a:cubicBezTo>
                  <a:pt x="200" y="614"/>
                  <a:pt x="218" y="579"/>
                  <a:pt x="251" y="557"/>
                </a:cubicBezTo>
                <a:cubicBezTo>
                  <a:pt x="270" y="530"/>
                  <a:pt x="284" y="494"/>
                  <a:pt x="307" y="471"/>
                </a:cubicBezTo>
                <a:cubicBezTo>
                  <a:pt x="317" y="441"/>
                  <a:pt x="338" y="407"/>
                  <a:pt x="368" y="398"/>
                </a:cubicBezTo>
                <a:cubicBezTo>
                  <a:pt x="410" y="412"/>
                  <a:pt x="394" y="468"/>
                  <a:pt x="411" y="502"/>
                </a:cubicBezTo>
                <a:cubicBezTo>
                  <a:pt x="422" y="525"/>
                  <a:pt x="438" y="526"/>
                  <a:pt x="460" y="533"/>
                </a:cubicBezTo>
                <a:cubicBezTo>
                  <a:pt x="523" y="524"/>
                  <a:pt x="506" y="527"/>
                  <a:pt x="546" y="490"/>
                </a:cubicBezTo>
                <a:cubicBezTo>
                  <a:pt x="561" y="445"/>
                  <a:pt x="567" y="378"/>
                  <a:pt x="619" y="361"/>
                </a:cubicBezTo>
                <a:cubicBezTo>
                  <a:pt x="629" y="363"/>
                  <a:pt x="641" y="361"/>
                  <a:pt x="650" y="367"/>
                </a:cubicBezTo>
                <a:cubicBezTo>
                  <a:pt x="662" y="375"/>
                  <a:pt x="658" y="396"/>
                  <a:pt x="662" y="410"/>
                </a:cubicBezTo>
                <a:cubicBezTo>
                  <a:pt x="669" y="434"/>
                  <a:pt x="682" y="461"/>
                  <a:pt x="699" y="478"/>
                </a:cubicBezTo>
                <a:cubicBezTo>
                  <a:pt x="716" y="528"/>
                  <a:pt x="702" y="510"/>
                  <a:pt x="748" y="527"/>
                </a:cubicBezTo>
                <a:cubicBezTo>
                  <a:pt x="763" y="480"/>
                  <a:pt x="741" y="534"/>
                  <a:pt x="772" y="496"/>
                </a:cubicBezTo>
                <a:cubicBezTo>
                  <a:pt x="776" y="491"/>
                  <a:pt x="775" y="483"/>
                  <a:pt x="778" y="478"/>
                </a:cubicBezTo>
                <a:cubicBezTo>
                  <a:pt x="781" y="473"/>
                  <a:pt x="787" y="469"/>
                  <a:pt x="791" y="465"/>
                </a:cubicBezTo>
                <a:cubicBezTo>
                  <a:pt x="793" y="459"/>
                  <a:pt x="794" y="453"/>
                  <a:pt x="797" y="447"/>
                </a:cubicBezTo>
                <a:cubicBezTo>
                  <a:pt x="800" y="441"/>
                  <a:pt x="806" y="436"/>
                  <a:pt x="809" y="429"/>
                </a:cubicBezTo>
                <a:cubicBezTo>
                  <a:pt x="824" y="394"/>
                  <a:pt x="816" y="400"/>
                  <a:pt x="827" y="373"/>
                </a:cubicBezTo>
                <a:cubicBezTo>
                  <a:pt x="834" y="355"/>
                  <a:pt x="846" y="318"/>
                  <a:pt x="846" y="318"/>
                </a:cubicBezTo>
                <a:cubicBezTo>
                  <a:pt x="848" y="300"/>
                  <a:pt x="851" y="281"/>
                  <a:pt x="852" y="263"/>
                </a:cubicBezTo>
                <a:cubicBezTo>
                  <a:pt x="855" y="230"/>
                  <a:pt x="855" y="198"/>
                  <a:pt x="858" y="165"/>
                </a:cubicBezTo>
                <a:cubicBezTo>
                  <a:pt x="861" y="121"/>
                  <a:pt x="882" y="16"/>
                  <a:pt x="932" y="0"/>
                </a:cubicBezTo>
                <a:cubicBezTo>
                  <a:pt x="936" y="12"/>
                  <a:pt x="940" y="24"/>
                  <a:pt x="944" y="36"/>
                </a:cubicBezTo>
                <a:cubicBezTo>
                  <a:pt x="946" y="42"/>
                  <a:pt x="948" y="49"/>
                  <a:pt x="950" y="55"/>
                </a:cubicBezTo>
                <a:cubicBezTo>
                  <a:pt x="952" y="61"/>
                  <a:pt x="956" y="73"/>
                  <a:pt x="956" y="73"/>
                </a:cubicBezTo>
                <a:cubicBezTo>
                  <a:pt x="963" y="124"/>
                  <a:pt x="970" y="177"/>
                  <a:pt x="999" y="220"/>
                </a:cubicBezTo>
                <a:cubicBezTo>
                  <a:pt x="1026" y="307"/>
                  <a:pt x="1023" y="402"/>
                  <a:pt x="1048" y="490"/>
                </a:cubicBezTo>
                <a:cubicBezTo>
                  <a:pt x="1060" y="534"/>
                  <a:pt x="1057" y="573"/>
                  <a:pt x="1097" y="600"/>
                </a:cubicBezTo>
                <a:cubicBezTo>
                  <a:pt x="1104" y="589"/>
                  <a:pt x="1115" y="580"/>
                  <a:pt x="1122" y="569"/>
                </a:cubicBezTo>
                <a:cubicBezTo>
                  <a:pt x="1125" y="564"/>
                  <a:pt x="1125" y="557"/>
                  <a:pt x="1128" y="551"/>
                </a:cubicBezTo>
                <a:cubicBezTo>
                  <a:pt x="1131" y="545"/>
                  <a:pt x="1136" y="539"/>
                  <a:pt x="1140" y="533"/>
                </a:cubicBezTo>
                <a:cubicBezTo>
                  <a:pt x="1151" y="500"/>
                  <a:pt x="1157" y="469"/>
                  <a:pt x="1177" y="441"/>
                </a:cubicBezTo>
                <a:cubicBezTo>
                  <a:pt x="1223" y="456"/>
                  <a:pt x="1207" y="491"/>
                  <a:pt x="1213" y="539"/>
                </a:cubicBezTo>
                <a:cubicBezTo>
                  <a:pt x="1217" y="566"/>
                  <a:pt x="1229" y="574"/>
                  <a:pt x="1250" y="588"/>
                </a:cubicBezTo>
                <a:cubicBezTo>
                  <a:pt x="1265" y="611"/>
                  <a:pt x="1273" y="615"/>
                  <a:pt x="1299" y="606"/>
                </a:cubicBezTo>
                <a:cubicBezTo>
                  <a:pt x="1313" y="585"/>
                  <a:pt x="1315" y="571"/>
                  <a:pt x="1336" y="557"/>
                </a:cubicBezTo>
                <a:cubicBezTo>
                  <a:pt x="1342" y="539"/>
                  <a:pt x="1348" y="520"/>
                  <a:pt x="1354" y="502"/>
                </a:cubicBezTo>
                <a:cubicBezTo>
                  <a:pt x="1358" y="488"/>
                  <a:pt x="1367" y="459"/>
                  <a:pt x="1367" y="459"/>
                </a:cubicBezTo>
                <a:cubicBezTo>
                  <a:pt x="1422" y="473"/>
                  <a:pt x="1400" y="465"/>
                  <a:pt x="1434" y="478"/>
                </a:cubicBezTo>
                <a:cubicBezTo>
                  <a:pt x="1442" y="490"/>
                  <a:pt x="1451" y="502"/>
                  <a:pt x="1459" y="514"/>
                </a:cubicBezTo>
                <a:cubicBezTo>
                  <a:pt x="1466" y="524"/>
                  <a:pt x="1463" y="539"/>
                  <a:pt x="1465" y="551"/>
                </a:cubicBezTo>
                <a:cubicBezTo>
                  <a:pt x="1470" y="579"/>
                  <a:pt x="1476" y="604"/>
                  <a:pt x="1495" y="625"/>
                </a:cubicBezTo>
                <a:cubicBezTo>
                  <a:pt x="1539" y="609"/>
                  <a:pt x="1527" y="610"/>
                  <a:pt x="1557" y="582"/>
                </a:cubicBezTo>
                <a:cubicBezTo>
                  <a:pt x="1564" y="559"/>
                  <a:pt x="1574" y="542"/>
                  <a:pt x="1593" y="527"/>
                </a:cubicBezTo>
                <a:cubicBezTo>
                  <a:pt x="1605" y="518"/>
                  <a:pt x="1630" y="502"/>
                  <a:pt x="1630" y="502"/>
                </a:cubicBezTo>
                <a:cubicBezTo>
                  <a:pt x="1693" y="511"/>
                  <a:pt x="1661" y="505"/>
                  <a:pt x="1698" y="539"/>
                </a:cubicBezTo>
                <a:cubicBezTo>
                  <a:pt x="1716" y="595"/>
                  <a:pt x="1705" y="600"/>
                  <a:pt x="1765" y="612"/>
                </a:cubicBezTo>
                <a:cubicBezTo>
                  <a:pt x="1775" y="610"/>
                  <a:pt x="1789" y="613"/>
                  <a:pt x="1796" y="606"/>
                </a:cubicBezTo>
                <a:cubicBezTo>
                  <a:pt x="1805" y="597"/>
                  <a:pt x="1804" y="581"/>
                  <a:pt x="1808" y="569"/>
                </a:cubicBezTo>
                <a:cubicBezTo>
                  <a:pt x="1823" y="524"/>
                  <a:pt x="1825" y="442"/>
                  <a:pt x="1875" y="422"/>
                </a:cubicBezTo>
                <a:cubicBezTo>
                  <a:pt x="1879" y="426"/>
                  <a:pt x="1882" y="432"/>
                  <a:pt x="1887" y="435"/>
                </a:cubicBezTo>
                <a:cubicBezTo>
                  <a:pt x="1893" y="438"/>
                  <a:pt x="1901" y="436"/>
                  <a:pt x="1906" y="441"/>
                </a:cubicBezTo>
                <a:cubicBezTo>
                  <a:pt x="1911" y="445"/>
                  <a:pt x="1908" y="454"/>
                  <a:pt x="1912" y="459"/>
                </a:cubicBezTo>
                <a:cubicBezTo>
                  <a:pt x="1917" y="465"/>
                  <a:pt x="1924" y="467"/>
                  <a:pt x="1930" y="471"/>
                </a:cubicBezTo>
                <a:cubicBezTo>
                  <a:pt x="1941" y="501"/>
                  <a:pt x="1955" y="537"/>
                  <a:pt x="1973" y="563"/>
                </a:cubicBezTo>
                <a:cubicBezTo>
                  <a:pt x="1974" y="566"/>
                  <a:pt x="1983" y="598"/>
                  <a:pt x="1986" y="600"/>
                </a:cubicBezTo>
                <a:cubicBezTo>
                  <a:pt x="1991" y="604"/>
                  <a:pt x="1998" y="603"/>
                  <a:pt x="2004" y="606"/>
                </a:cubicBezTo>
                <a:cubicBezTo>
                  <a:pt x="2040" y="624"/>
                  <a:pt x="2072" y="637"/>
                  <a:pt x="2114" y="637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IN"/>
          </a:p>
        </p:txBody>
      </p:sp>
      <p:sp>
        <p:nvSpPr>
          <p:cNvPr id="35846" name="Freeform 6">
            <a:extLst>
              <a:ext uri="{FF2B5EF4-FFF2-40B4-BE49-F238E27FC236}">
                <a16:creationId xmlns:a16="http://schemas.microsoft.com/office/drawing/2014/main" id="{3846A130-8144-1548-E938-BBB548863EF3}"/>
              </a:ext>
            </a:extLst>
          </p:cNvPr>
          <p:cNvSpPr>
            <a:spLocks/>
          </p:cNvSpPr>
          <p:nvPr/>
        </p:nvSpPr>
        <p:spPr bwMode="auto">
          <a:xfrm>
            <a:off x="6135689" y="3716338"/>
            <a:ext cx="3474842" cy="482438"/>
          </a:xfrm>
          <a:custGeom>
            <a:avLst/>
            <a:gdLst>
              <a:gd name="T0" fmla="*/ 0 w 2757"/>
              <a:gd name="T1" fmla="*/ 2147483646 h 598"/>
              <a:gd name="T2" fmla="*/ 2147483646 w 2757"/>
              <a:gd name="T3" fmla="*/ 2147483646 h 598"/>
              <a:gd name="T4" fmla="*/ 2147483646 w 2757"/>
              <a:gd name="T5" fmla="*/ 2147483646 h 598"/>
              <a:gd name="T6" fmla="*/ 2147483646 w 2757"/>
              <a:gd name="T7" fmla="*/ 2147483646 h 598"/>
              <a:gd name="T8" fmla="*/ 2147483646 w 2757"/>
              <a:gd name="T9" fmla="*/ 2147483646 h 598"/>
              <a:gd name="T10" fmla="*/ 2147483646 w 2757"/>
              <a:gd name="T11" fmla="*/ 0 h 598"/>
              <a:gd name="T12" fmla="*/ 2147483646 w 2757"/>
              <a:gd name="T13" fmla="*/ 2147483646 h 598"/>
              <a:gd name="T14" fmla="*/ 2147483646 w 2757"/>
              <a:gd name="T15" fmla="*/ 2147483646 h 598"/>
              <a:gd name="T16" fmla="*/ 2147483646 w 2757"/>
              <a:gd name="T17" fmla="*/ 2147483646 h 598"/>
              <a:gd name="T18" fmla="*/ 2147483646 w 2757"/>
              <a:gd name="T19" fmla="*/ 2147483646 h 598"/>
              <a:gd name="T20" fmla="*/ 2147483646 w 2757"/>
              <a:gd name="T21" fmla="*/ 2147483646 h 598"/>
              <a:gd name="T22" fmla="*/ 2147483646 w 2757"/>
              <a:gd name="T23" fmla="*/ 2147483646 h 598"/>
              <a:gd name="T24" fmla="*/ 2147483646 w 2757"/>
              <a:gd name="T25" fmla="*/ 2147483646 h 59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757"/>
              <a:gd name="T40" fmla="*/ 0 h 598"/>
              <a:gd name="T41" fmla="*/ 2757 w 2757"/>
              <a:gd name="T42" fmla="*/ 598 h 59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757" h="598">
                <a:moveTo>
                  <a:pt x="0" y="527"/>
                </a:moveTo>
                <a:cubicBezTo>
                  <a:pt x="73" y="535"/>
                  <a:pt x="147" y="536"/>
                  <a:pt x="220" y="545"/>
                </a:cubicBezTo>
                <a:cubicBezTo>
                  <a:pt x="384" y="534"/>
                  <a:pt x="544" y="513"/>
                  <a:pt x="710" y="508"/>
                </a:cubicBezTo>
                <a:cubicBezTo>
                  <a:pt x="856" y="484"/>
                  <a:pt x="1042" y="598"/>
                  <a:pt x="1152" y="496"/>
                </a:cubicBezTo>
                <a:cubicBezTo>
                  <a:pt x="1174" y="427"/>
                  <a:pt x="1195" y="359"/>
                  <a:pt x="1213" y="288"/>
                </a:cubicBezTo>
                <a:cubicBezTo>
                  <a:pt x="1225" y="192"/>
                  <a:pt x="1241" y="97"/>
                  <a:pt x="1250" y="0"/>
                </a:cubicBezTo>
                <a:cubicBezTo>
                  <a:pt x="1256" y="4"/>
                  <a:pt x="1264" y="6"/>
                  <a:pt x="1268" y="12"/>
                </a:cubicBezTo>
                <a:cubicBezTo>
                  <a:pt x="1275" y="23"/>
                  <a:pt x="1280" y="49"/>
                  <a:pt x="1280" y="49"/>
                </a:cubicBezTo>
                <a:cubicBezTo>
                  <a:pt x="1285" y="181"/>
                  <a:pt x="1278" y="335"/>
                  <a:pt x="1311" y="465"/>
                </a:cubicBezTo>
                <a:cubicBezTo>
                  <a:pt x="1313" y="481"/>
                  <a:pt x="1305" y="503"/>
                  <a:pt x="1317" y="514"/>
                </a:cubicBezTo>
                <a:cubicBezTo>
                  <a:pt x="1327" y="522"/>
                  <a:pt x="1354" y="502"/>
                  <a:pt x="1354" y="502"/>
                </a:cubicBezTo>
                <a:cubicBezTo>
                  <a:pt x="1530" y="506"/>
                  <a:pt x="1706" y="515"/>
                  <a:pt x="1881" y="496"/>
                </a:cubicBezTo>
                <a:cubicBezTo>
                  <a:pt x="2186" y="506"/>
                  <a:pt x="2418" y="514"/>
                  <a:pt x="2757" y="514"/>
                </a:cubicBezTo>
              </a:path>
            </a:pathLst>
          </a:custGeom>
          <a:noFill/>
          <a:ln w="28575" cap="flat" cmpd="sng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endParaRPr lang="en-IN"/>
          </a:p>
        </p:txBody>
      </p:sp>
      <p:graphicFrame>
        <p:nvGraphicFramePr>
          <p:cNvPr id="35847" name="Object 2">
            <a:extLst>
              <a:ext uri="{FF2B5EF4-FFF2-40B4-BE49-F238E27FC236}">
                <a16:creationId xmlns:a16="http://schemas.microsoft.com/office/drawing/2014/main" id="{C1338761-C3ED-97BD-16A4-7412B438139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018338" y="4878388"/>
          <a:ext cx="2449512" cy="197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552381" imgH="3419952" progId="Paint.Picture">
                  <p:embed/>
                </p:oleObj>
              </mc:Choice>
              <mc:Fallback>
                <p:oleObj name="Bitmap Image" r:id="rId3" imgW="3552381" imgH="3419952" progId="Paint.Picture">
                  <p:embed/>
                  <p:pic>
                    <p:nvPicPr>
                      <p:cNvPr id="35847" name="Object 2">
                        <a:extLst>
                          <a:ext uri="{FF2B5EF4-FFF2-40B4-BE49-F238E27FC236}">
                            <a16:creationId xmlns:a16="http://schemas.microsoft.com/office/drawing/2014/main" id="{C1338761-C3ED-97BD-16A4-7412B43813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8338" y="4878388"/>
                        <a:ext cx="2449512" cy="197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C49BC41-A198-EE22-CD05-98440C7E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/>
              <a:t>Escaping Shoulders: Sideways Move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988B021-599E-0F53-237F-00267FDC1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5334000"/>
          </a:xfrm>
        </p:spPr>
        <p:txBody>
          <a:bodyPr/>
          <a:lstStyle/>
          <a:p>
            <a:r>
              <a:rPr lang="en-US" altLang="en-US"/>
              <a:t>If no downhill (uphill) moves, allow sideways moves in hope that algorithm can escape</a:t>
            </a:r>
          </a:p>
          <a:p>
            <a:pPr lvl="1"/>
            <a:r>
              <a:rPr lang="en-US" altLang="en-US"/>
              <a:t>Need to place a limit on the possible number of sideways moves to avoid infinite loops</a:t>
            </a:r>
          </a:p>
          <a:p>
            <a:r>
              <a:rPr lang="en-US" altLang="en-US"/>
              <a:t>For 8-queens</a:t>
            </a:r>
          </a:p>
          <a:p>
            <a:pPr lvl="1"/>
            <a:r>
              <a:rPr lang="en-US" altLang="en-US"/>
              <a:t>Now allow sideways moves with a limit of 100</a:t>
            </a:r>
          </a:p>
          <a:p>
            <a:pPr lvl="1"/>
            <a:r>
              <a:rPr lang="en-US" altLang="en-US"/>
              <a:t>Raises percentage of problem instances solved  from 14 to 94%</a:t>
            </a:r>
          </a:p>
          <a:p>
            <a:pPr lvl="1"/>
            <a:endParaRPr lang="en-US" altLang="en-US"/>
          </a:p>
          <a:p>
            <a:pPr lvl="1"/>
            <a:r>
              <a:rPr lang="en-US" altLang="en-US"/>
              <a:t>However….</a:t>
            </a:r>
          </a:p>
          <a:p>
            <a:pPr lvl="2"/>
            <a:r>
              <a:rPr lang="en-US" altLang="en-US"/>
              <a:t>21 steps for every successful solution</a:t>
            </a:r>
          </a:p>
          <a:p>
            <a:pPr lvl="2"/>
            <a:r>
              <a:rPr lang="en-US" altLang="en-US"/>
              <a:t>64 for each failure</a:t>
            </a: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3B3D2520-D113-180A-5728-55BD9BAB3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AF15C6-6731-46A5-9482-E08D209DAAC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B3F88950-5F01-9716-1AB7-5769C1A6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Local Minima/Maxima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C25E152F-5AEA-A38D-3A91-6B2ADC244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1"/>
            <a:ext cx="8534400" cy="4525963"/>
          </a:xfrm>
        </p:spPr>
        <p:txBody>
          <a:bodyPr/>
          <a:lstStyle/>
          <a:p>
            <a:r>
              <a:rPr lang="en-US" altLang="en-US"/>
              <a:t>Hill-climbing is subject to getting stuck in a variety of local conditions…</a:t>
            </a:r>
          </a:p>
          <a:p>
            <a:r>
              <a:rPr lang="en-US" altLang="en-US"/>
              <a:t>Solutions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Random-walk hill-climbing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Random-restart hill-climbing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Hill-climbing with both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Simulated Annealing</a:t>
            </a:r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C6340761-687C-FDF2-932C-3A7939FE36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8B2460-C03E-45F9-8FD6-80C86AB8A16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C2BF229-A8A3-DAAF-796D-778F458E5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r>
              <a:rPr lang="en-US" altLang="en-US"/>
              <a:t>Hill-climbing: stochastic variations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5323F05-AF28-5032-9054-D71ABCC5D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417638"/>
            <a:ext cx="8534400" cy="45259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Stochastic hill-climbing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Random selection among the uphill moves.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The selection probability can vary with the steepness of the uphill move.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None/>
            </a:pPr>
            <a:endParaRPr lang="en-US" altLang="en-US" sz="2400"/>
          </a:p>
          <a:p>
            <a:pPr>
              <a:lnSpc>
                <a:spcPct val="90000"/>
              </a:lnSpc>
            </a:pPr>
            <a:r>
              <a:rPr lang="en-US" altLang="en-US"/>
              <a:t>To avoid getting stuck in local minima/maxima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Random-walk hill-climbing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Random-restart hill-climbing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Hill-climbing with both</a:t>
            </a: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693792AB-AFCA-3F79-A93B-BDD39245F0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802C2F-0406-477F-8ABB-3EBC9D3F2916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48B60162-0460-55EB-ABFE-210E1C3F4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Hill Climbing: stochastic variations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5A601DA5-35E2-BF82-A561-4858C96C8D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à"/>
            </a:pPr>
            <a:r>
              <a:rPr lang="en-US" altLang="en-US">
                <a:sym typeface="Wingdings" panose="05000000000000000000" pitchFamily="2" charset="2"/>
              </a:rPr>
              <a:t>When the state-space landscape has </a:t>
            </a:r>
            <a:r>
              <a:rPr lang="en-US" altLang="en-US"/>
              <a:t>local minima, any search that moves only in the greedy direction cannot be complete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buFont typeface="Wingdings" panose="05000000000000000000" pitchFamily="2" charset="2"/>
              <a:buChar char="à"/>
            </a:pPr>
            <a:r>
              <a:rPr lang="en-US" altLang="en-US">
                <a:sym typeface="Wingdings" panose="05000000000000000000" pitchFamily="2" charset="2"/>
              </a:rPr>
              <a:t>Random walk, on the other hand, is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    asymptotically complete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>
              <a:buFont typeface="Wingdings" panose="05000000000000000000" pitchFamily="2" charset="2"/>
              <a:buNone/>
            </a:pPr>
            <a:r>
              <a:rPr lang="en-US" altLang="en-US"/>
              <a:t>Idea: Put random walk into greedy hill-climbing</a:t>
            </a: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0ADCE6A4-0EC9-E86A-3FDE-BCCABF1382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CF2309-31CC-4F0E-BFE1-BAFB257C4B4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8EBE1C5-F3FB-9C38-7215-F6FDAB52C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Hill-climbing with random restarts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6502AB49-C606-61CD-92A1-2DB255B117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81200" y="1371600"/>
            <a:ext cx="8458200" cy="51054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solidFill>
                  <a:srgbClr val="C00000"/>
                </a:solidFill>
              </a:rPr>
              <a:t>If at first you don’t succeed, try, try again!</a:t>
            </a:r>
          </a:p>
          <a:p>
            <a:pPr>
              <a:defRPr/>
            </a:pPr>
            <a:r>
              <a:rPr lang="en-US" altLang="en-US" dirty="0"/>
              <a:t>Pretty obvious what this is….</a:t>
            </a:r>
          </a:p>
          <a:p>
            <a:pPr lvl="1">
              <a:defRPr/>
            </a:pPr>
            <a:r>
              <a:rPr lang="en-US" altLang="en-US" dirty="0"/>
              <a:t>Generate a random start state</a:t>
            </a:r>
          </a:p>
          <a:p>
            <a:pPr lvl="1">
              <a:defRPr/>
            </a:pPr>
            <a:r>
              <a:rPr lang="en-US" altLang="en-US" dirty="0"/>
              <a:t>Run hill-climbing and store answer</a:t>
            </a:r>
          </a:p>
          <a:p>
            <a:pPr lvl="1">
              <a:defRPr/>
            </a:pPr>
            <a:r>
              <a:rPr lang="en-US" altLang="en-US" dirty="0"/>
              <a:t>Iterate, keeping the current best answer as you go</a:t>
            </a:r>
          </a:p>
          <a:p>
            <a:pPr lvl="1">
              <a:defRPr/>
            </a:pPr>
            <a:r>
              <a:rPr lang="en-US" altLang="en-US" dirty="0"/>
              <a:t>Stopping… when?</a:t>
            </a:r>
          </a:p>
          <a:p>
            <a:pPr lvl="1">
              <a:defRPr/>
            </a:pPr>
            <a:endParaRPr lang="en-US" altLang="en-US" sz="1200" dirty="0"/>
          </a:p>
          <a:p>
            <a:pPr marL="457200" lvl="1" indent="0">
              <a:buNone/>
              <a:defRPr/>
            </a:pPr>
            <a:endParaRPr lang="en-US" altLang="en-US" sz="1200" dirty="0"/>
          </a:p>
          <a:p>
            <a:pPr>
              <a:defRPr/>
            </a:pPr>
            <a:r>
              <a:rPr lang="en-US" altLang="en-US" sz="2400" dirty="0">
                <a:solidFill>
                  <a:srgbClr val="C00000"/>
                </a:solidFill>
              </a:rPr>
              <a:t>If you want to pick one local search algorithm, learn this one!!</a:t>
            </a:r>
          </a:p>
        </p:txBody>
      </p:sp>
      <p:sp>
        <p:nvSpPr>
          <p:cNvPr id="44037" name="Slide Number Placeholder 4">
            <a:extLst>
              <a:ext uri="{FF2B5EF4-FFF2-40B4-BE49-F238E27FC236}">
                <a16:creationId xmlns:a16="http://schemas.microsoft.com/office/drawing/2014/main" id="{0EFCB8C4-4701-24CC-ADB1-1FF45D8527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58DBC38-43EA-49D5-994D-FC9BB6C06432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CC59795-3532-7F30-D76A-2307FEBAE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Hill-climbing with random walk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BFB0121-9FB9-20C8-C581-4D5521DAD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71600"/>
            <a:ext cx="8458200" cy="1447800"/>
          </a:xfrm>
        </p:spPr>
        <p:txBody>
          <a:bodyPr>
            <a:normAutofit lnSpcReduction="10000"/>
          </a:bodyPr>
          <a:lstStyle/>
          <a:p>
            <a:r>
              <a:rPr lang="en-US" altLang="en-US"/>
              <a:t>At each step do one of the two</a:t>
            </a:r>
          </a:p>
          <a:p>
            <a:pPr lvl="1"/>
            <a:r>
              <a:rPr lang="en-US" altLang="en-US"/>
              <a:t>Greedy: With prob p move to the neighbor with largest value</a:t>
            </a:r>
          </a:p>
          <a:p>
            <a:pPr lvl="1"/>
            <a:r>
              <a:rPr lang="en-US" altLang="en-US"/>
              <a:t>Random: With prob 1-p move to a random neighbor</a:t>
            </a:r>
          </a:p>
          <a:p>
            <a:pPr lvl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D65F2A4-29F4-C71C-57F4-F63A3BAB4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3322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4400" dirty="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Hill-climbing with both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40E82A-07F2-5946-2F40-A4F000E0B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419600"/>
            <a:ext cx="84582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  <a:defRPr/>
            </a:pPr>
            <a:r>
              <a:rPr lang="en-US" sz="2800" dirty="0"/>
              <a:t>At each step do one of the three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/>
              <a:t>Greedy: move to the neighbor with largest value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/>
              <a:t>Random Walk: move to a random neighbor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r>
              <a:rPr lang="en-US" sz="2400" dirty="0"/>
              <a:t>Random Restart: Resample a new current state</a:t>
            </a:r>
          </a:p>
          <a:p>
            <a:pPr marL="742950" lvl="1" indent="-285750">
              <a:spcBef>
                <a:spcPct val="20000"/>
              </a:spcBef>
              <a:buFont typeface="Arial" charset="0"/>
              <a:buChar char="–"/>
              <a:defRPr/>
            </a:pPr>
            <a:endParaRPr lang="en-US" sz="2400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944B1A6-42D4-67DE-2410-C4F45A05D489}"/>
              </a:ext>
            </a:extLst>
          </p:cNvPr>
          <p:cNvSpPr txBox="1">
            <a:spLocks/>
          </p:cNvSpPr>
          <p:nvPr/>
        </p:nvSpPr>
        <p:spPr>
          <a:xfrm>
            <a:off x="1981200" y="6356351"/>
            <a:ext cx="2133600" cy="365125"/>
          </a:xfrm>
          <a:prstGeom prst="rect">
            <a:avLst/>
          </a:prstGeom>
          <a:noFill/>
        </p:spPr>
        <p:txBody>
          <a:bodyPr anchor="ctr"/>
          <a:lstStyle/>
          <a:p>
            <a:pPr>
              <a:defRPr/>
            </a:pPr>
            <a:r>
              <a:rPr lang="en-US" sz="1200" dirty="0">
                <a:solidFill>
                  <a:schemeClr val="tx1">
                    <a:tint val="75000"/>
                  </a:schemeClr>
                </a:solidFill>
              </a:rPr>
              <a:t>© </a:t>
            </a:r>
            <a:r>
              <a:rPr lang="en-US" sz="1200" dirty="0" err="1">
                <a:solidFill>
                  <a:schemeClr val="tx1">
                    <a:tint val="75000"/>
                  </a:schemeClr>
                </a:solidFill>
              </a:rPr>
              <a:t>Mausam</a:t>
            </a:r>
            <a:endParaRPr lang="en-US" sz="1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46087" name="Slide Number Placeholder 6">
            <a:extLst>
              <a:ext uri="{FF2B5EF4-FFF2-40B4-BE49-F238E27FC236}">
                <a16:creationId xmlns:a16="http://schemas.microsoft.com/office/drawing/2014/main" id="{7BBEE2A7-420B-447F-95A2-72A478E078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698297-AF2F-44F1-919C-158C76E32A54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16B0AFE-BB9B-04AB-8A0F-2F21116A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4800"/>
            <a:ext cx="7772400" cy="6096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/>
              <a:t>Simulated Annealing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2794CE6-0739-58BA-8DCD-4C384A131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588" y="1295400"/>
            <a:ext cx="8634412" cy="5029200"/>
          </a:xfrm>
        </p:spPr>
        <p:txBody>
          <a:bodyPr/>
          <a:lstStyle/>
          <a:p>
            <a:r>
              <a:rPr lang="en-US" altLang="en-US"/>
              <a:t>Based on a metallurgical metaphor</a:t>
            </a:r>
          </a:p>
          <a:p>
            <a:pPr lvl="1"/>
            <a:r>
              <a:rPr lang="en-US" altLang="en-US"/>
              <a:t>Start with a temperature set very high and slowly reduce it.</a:t>
            </a:r>
          </a:p>
          <a:p>
            <a:pPr lvl="1"/>
            <a:r>
              <a:rPr lang="en-US" altLang="en-US"/>
              <a:t>Run hillclimbing with the twist that you can occasionally replace the current state with a </a:t>
            </a:r>
            <a:r>
              <a:rPr lang="en-US" altLang="en-US">
                <a:solidFill>
                  <a:srgbClr val="A50021"/>
                </a:solidFill>
              </a:rPr>
              <a:t> worse </a:t>
            </a:r>
            <a:r>
              <a:rPr lang="en-US" altLang="en-US"/>
              <a:t>state based on the current temperature and how much worse the new state is.</a:t>
            </a:r>
            <a:endParaRPr lang="en-US" altLang="en-US">
              <a:solidFill>
                <a:srgbClr val="A50021"/>
              </a:solidFill>
            </a:endParaRPr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DF37A00F-3D7F-C40D-2515-2A7F9CFCA7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D564BF1-DC23-4EF8-8BC4-AD257F3CC7C3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80FEE33-1539-69F8-70E6-66C85BCB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04800"/>
            <a:ext cx="7772400" cy="6096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/>
              <a:t>Simulated Annealing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3F58124-A17F-B73C-E366-61EF0C63A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588" y="1295400"/>
            <a:ext cx="8634412" cy="5029200"/>
          </a:xfrm>
        </p:spPr>
        <p:txBody>
          <a:bodyPr/>
          <a:lstStyle/>
          <a:p>
            <a:r>
              <a:rPr lang="en-US" altLang="en-US" sz="2400"/>
              <a:t>Simulated Annealing = physics inspired twist on random walk</a:t>
            </a:r>
            <a:endParaRPr lang="en-US" altLang="en-US" sz="2000"/>
          </a:p>
          <a:p>
            <a:r>
              <a:rPr lang="en-US" altLang="en-US" sz="2400"/>
              <a:t>Basic ideas:</a:t>
            </a:r>
          </a:p>
          <a:p>
            <a:pPr lvl="1"/>
            <a:r>
              <a:rPr lang="en-US" altLang="en-US" sz="2000"/>
              <a:t>like hill-climbing identify the quality of the local improvements</a:t>
            </a:r>
          </a:p>
          <a:p>
            <a:pPr lvl="1"/>
            <a:r>
              <a:rPr lang="en-US" altLang="en-US" sz="2000"/>
              <a:t>instead of picking the best move, pick one randomly </a:t>
            </a:r>
          </a:p>
          <a:p>
            <a:pPr lvl="1"/>
            <a:r>
              <a:rPr lang="en-US" altLang="en-US" sz="2000"/>
              <a:t>say the change in objective function is 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</a:p>
          <a:p>
            <a:pPr lvl="1"/>
            <a:r>
              <a:rPr lang="en-US" altLang="en-US" sz="2000"/>
              <a:t>if </a:t>
            </a:r>
            <a:r>
              <a:rPr lang="en-US" altLang="en-US" sz="2000">
                <a:latin typeface="Symbol" panose="05050102010706020507" pitchFamily="18" charset="2"/>
              </a:rPr>
              <a:t>d</a:t>
            </a:r>
            <a:r>
              <a:rPr lang="en-US" altLang="en-US" sz="2000"/>
              <a:t> is positive, then move to that state</a:t>
            </a:r>
          </a:p>
          <a:p>
            <a:pPr lvl="1"/>
            <a:r>
              <a:rPr lang="en-US" altLang="en-US" sz="2000"/>
              <a:t>otherwise: </a:t>
            </a:r>
          </a:p>
          <a:p>
            <a:pPr lvl="2"/>
            <a:r>
              <a:rPr lang="en-US" altLang="en-US" sz="1800"/>
              <a:t>move to this state with probability proportional to </a:t>
            </a:r>
            <a:r>
              <a:rPr lang="en-US" altLang="en-US" sz="1800">
                <a:latin typeface="Symbol" panose="05050102010706020507" pitchFamily="18" charset="2"/>
              </a:rPr>
              <a:t>d</a:t>
            </a:r>
          </a:p>
          <a:p>
            <a:pPr lvl="2"/>
            <a:r>
              <a:rPr lang="en-US" altLang="en-US" sz="1800"/>
              <a:t>thus: worse moves (very large negative </a:t>
            </a:r>
            <a:r>
              <a:rPr lang="en-US" altLang="en-US" sz="1800">
                <a:latin typeface="Symbol" panose="05050102010706020507" pitchFamily="18" charset="2"/>
              </a:rPr>
              <a:t>d</a:t>
            </a:r>
            <a:r>
              <a:rPr lang="en-US" altLang="en-US" sz="1800"/>
              <a:t>) are executed less often</a:t>
            </a:r>
          </a:p>
          <a:p>
            <a:pPr lvl="1"/>
            <a:r>
              <a:rPr lang="en-US" altLang="en-US" sz="2000"/>
              <a:t>however, there is always a chance of escaping from local maxima</a:t>
            </a:r>
          </a:p>
          <a:p>
            <a:pPr lvl="1"/>
            <a:r>
              <a:rPr lang="en-US" altLang="en-US" sz="2000"/>
              <a:t>over time, make it less likely to accept locally bad moves</a:t>
            </a:r>
          </a:p>
          <a:p>
            <a:pPr lvl="1"/>
            <a:r>
              <a:rPr lang="en-US" altLang="en-US" sz="2000"/>
              <a:t>(Can also make the size of the move random as well, i.e., allow “large” steps in state space)</a:t>
            </a:r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EF9198C0-25E3-2436-2F77-509FCA43F5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B93A14-605E-4514-B027-5FFF3B68236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757F1F7-EE3D-5B00-2E43-90F0F8FBF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Simulated annealing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A53D9AB4-9503-FC09-6157-9E43125CD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71601"/>
            <a:ext cx="8686800" cy="452596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/>
              <a:t>function</a:t>
            </a:r>
            <a:r>
              <a:rPr lang="en-US" altLang="en-US" sz="2000"/>
              <a:t> SIMULATED-ANNEALING( </a:t>
            </a:r>
            <a:r>
              <a:rPr lang="en-US" altLang="en-US" sz="2000" i="1"/>
              <a:t>problem, schedule</a:t>
            </a:r>
            <a:r>
              <a:rPr lang="en-US" altLang="en-US" sz="2000"/>
              <a:t>) </a:t>
            </a:r>
            <a:r>
              <a:rPr lang="en-US" altLang="en-US" sz="2000" b="1"/>
              <a:t>return</a:t>
            </a:r>
            <a:r>
              <a:rPr lang="en-US" altLang="en-US" sz="2000"/>
              <a:t> a solution state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input:</a:t>
            </a:r>
            <a:r>
              <a:rPr lang="en-US" altLang="en-US" sz="2000"/>
              <a:t> </a:t>
            </a:r>
            <a:r>
              <a:rPr lang="en-US" altLang="en-US" sz="2000" i="1"/>
              <a:t>problem</a:t>
            </a:r>
            <a:r>
              <a:rPr lang="en-US" altLang="en-US" sz="2000"/>
              <a:t>, a problem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	</a:t>
            </a:r>
            <a:r>
              <a:rPr lang="en-US" altLang="en-US" sz="2000" i="1"/>
              <a:t>schedule</a:t>
            </a:r>
            <a:r>
              <a:rPr lang="en-US" altLang="en-US" sz="2000"/>
              <a:t>, a mapping from time to temperature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/>
              <a:t>	</a:t>
            </a:r>
            <a:r>
              <a:rPr lang="en-US" altLang="en-US" sz="2000" b="1"/>
              <a:t>local variables: </a:t>
            </a:r>
            <a:r>
              <a:rPr lang="en-US" altLang="en-US" sz="2000" i="1"/>
              <a:t>current</a:t>
            </a:r>
            <a:r>
              <a:rPr lang="en-US" altLang="en-US" sz="2000" b="1"/>
              <a:t>, </a:t>
            </a:r>
            <a:r>
              <a:rPr lang="en-US" altLang="en-US" sz="2000"/>
              <a:t>a node.</a:t>
            </a:r>
            <a:endParaRPr lang="en-US" altLang="en-US" sz="2000" b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/>
              <a:t>			 </a:t>
            </a:r>
            <a:r>
              <a:rPr lang="en-US" altLang="en-US" sz="2000" i="1"/>
              <a:t>next</a:t>
            </a:r>
            <a:r>
              <a:rPr lang="en-US" altLang="en-US" sz="2000" b="1"/>
              <a:t>, </a:t>
            </a:r>
            <a:r>
              <a:rPr lang="en-US" altLang="en-US" sz="2000"/>
              <a:t>a node.</a:t>
            </a:r>
            <a:endParaRPr lang="en-US" altLang="en-US" sz="2000" b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/>
              <a:t>			</a:t>
            </a:r>
            <a:r>
              <a:rPr lang="en-US" altLang="en-US" sz="2000" i="1"/>
              <a:t>T</a:t>
            </a:r>
            <a:r>
              <a:rPr lang="en-US" altLang="en-US" sz="2000" b="1"/>
              <a:t>, </a:t>
            </a:r>
            <a:r>
              <a:rPr lang="en-US" altLang="en-US" sz="2000"/>
              <a:t>a “temperature” controlling the prob. of downward steps</a:t>
            </a:r>
            <a:endParaRPr lang="en-US" altLang="en-US" sz="2000" i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/>
              <a:t>	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/>
              <a:t>	current </a:t>
            </a:r>
            <a:r>
              <a:rPr lang="en-US" altLang="en-US" sz="2000" i="1">
                <a:sym typeface="Symbol" panose="05050102010706020507" pitchFamily="18" charset="2"/>
              </a:rPr>
              <a:t> </a:t>
            </a:r>
            <a:r>
              <a:rPr lang="en-US" altLang="en-US" sz="2000"/>
              <a:t>MAKE-NODE(INITIAL-STATE[</a:t>
            </a:r>
            <a:r>
              <a:rPr lang="en-US" altLang="en-US" sz="2000" i="1"/>
              <a:t>problem</a:t>
            </a:r>
            <a:r>
              <a:rPr lang="en-US" altLang="en-US" sz="2000"/>
              <a:t>])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</a:t>
            </a:r>
            <a:r>
              <a:rPr lang="en-US" altLang="en-US" sz="2000" b="1"/>
              <a:t>for t </a:t>
            </a:r>
            <a:r>
              <a:rPr lang="en-US" altLang="en-US" sz="2000" b="1">
                <a:sym typeface="Symbol" panose="05050102010706020507" pitchFamily="18" charset="2"/>
              </a:rPr>
              <a:t> </a:t>
            </a:r>
            <a:r>
              <a:rPr lang="en-US" altLang="en-US" sz="2000" b="1"/>
              <a:t>1 to ∞ do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/>
              <a:t>		</a:t>
            </a:r>
            <a:r>
              <a:rPr lang="en-US" altLang="en-US" sz="2000" i="1"/>
              <a:t>T </a:t>
            </a:r>
            <a:r>
              <a:rPr lang="en-US" altLang="en-US" sz="2000" i="1">
                <a:sym typeface="Symbol" panose="05050102010706020507" pitchFamily="18" charset="2"/>
              </a:rPr>
              <a:t> </a:t>
            </a:r>
            <a:r>
              <a:rPr lang="en-US" altLang="en-US" sz="2000" i="1"/>
              <a:t>schedule</a:t>
            </a:r>
            <a:r>
              <a:rPr lang="en-US" altLang="en-US" sz="2000"/>
              <a:t>[</a:t>
            </a:r>
            <a:r>
              <a:rPr lang="en-US" altLang="en-US" sz="2000" i="1"/>
              <a:t>t</a:t>
            </a:r>
            <a:r>
              <a:rPr lang="en-US" altLang="en-US" sz="2000"/>
              <a:t>]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	</a:t>
            </a:r>
            <a:r>
              <a:rPr lang="en-US" altLang="en-US" sz="2000" b="1"/>
              <a:t>if</a:t>
            </a:r>
            <a:r>
              <a:rPr lang="en-US" altLang="en-US" sz="2000"/>
              <a:t> </a:t>
            </a:r>
            <a:r>
              <a:rPr lang="en-US" altLang="en-US" sz="2000" i="1"/>
              <a:t>T = 0</a:t>
            </a:r>
            <a:r>
              <a:rPr lang="en-US" altLang="en-US" sz="2000"/>
              <a:t> </a:t>
            </a:r>
            <a:r>
              <a:rPr lang="en-US" altLang="en-US" sz="2000" b="1"/>
              <a:t>then return</a:t>
            </a:r>
            <a:r>
              <a:rPr lang="en-US" altLang="en-US" sz="2000"/>
              <a:t> </a:t>
            </a:r>
            <a:r>
              <a:rPr lang="en-US" altLang="en-US" sz="2000" i="1"/>
              <a:t>current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b="1"/>
              <a:t>		</a:t>
            </a:r>
            <a:r>
              <a:rPr lang="en-US" altLang="en-US" sz="2000" i="1"/>
              <a:t>next</a:t>
            </a:r>
            <a:r>
              <a:rPr lang="en-US" altLang="en-US" sz="2000"/>
              <a:t> </a:t>
            </a:r>
            <a:r>
              <a:rPr lang="en-US" altLang="en-US" sz="2000">
                <a:sym typeface="Symbol" panose="05050102010706020507" pitchFamily="18" charset="2"/>
              </a:rPr>
              <a:t> </a:t>
            </a:r>
            <a:r>
              <a:rPr lang="en-US" altLang="en-US" sz="2000"/>
              <a:t>a randomly selected successor of </a:t>
            </a:r>
            <a:r>
              <a:rPr lang="en-US" altLang="en-US" sz="2000" i="1"/>
              <a:t>current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 i="1"/>
              <a:t>		∆E</a:t>
            </a:r>
            <a:r>
              <a:rPr lang="en-US" altLang="en-US" sz="2000"/>
              <a:t> </a:t>
            </a:r>
            <a:r>
              <a:rPr lang="en-US" altLang="en-US" sz="2000">
                <a:sym typeface="Symbol" panose="05050102010706020507" pitchFamily="18" charset="2"/>
              </a:rPr>
              <a:t> </a:t>
            </a:r>
            <a:r>
              <a:rPr lang="en-US" altLang="en-US" sz="2000" i="1"/>
              <a:t> </a:t>
            </a:r>
            <a:r>
              <a:rPr lang="en-US" altLang="en-US" sz="2000"/>
              <a:t>VALUE[</a:t>
            </a:r>
            <a:r>
              <a:rPr lang="en-US" altLang="en-US" sz="2000" i="1"/>
              <a:t>next</a:t>
            </a:r>
            <a:r>
              <a:rPr lang="en-US" altLang="en-US" sz="2000"/>
              <a:t>] - VALUE[</a:t>
            </a:r>
            <a:r>
              <a:rPr lang="en-US" altLang="en-US" sz="2000" i="1"/>
              <a:t>current</a:t>
            </a:r>
            <a:r>
              <a:rPr lang="en-US" altLang="en-US" sz="2000"/>
              <a:t>]</a:t>
            </a:r>
            <a:endParaRPr lang="en-US" altLang="en-US" sz="2000" b="1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	</a:t>
            </a:r>
            <a:r>
              <a:rPr lang="en-US" altLang="en-US" sz="2000" b="1"/>
              <a:t>if</a:t>
            </a:r>
            <a:r>
              <a:rPr lang="en-US" altLang="en-US" sz="2000"/>
              <a:t> </a:t>
            </a:r>
            <a:r>
              <a:rPr lang="en-US" altLang="en-US" sz="2000" i="1"/>
              <a:t>∆E &gt; </a:t>
            </a:r>
            <a:r>
              <a:rPr lang="en-US" altLang="en-US" sz="2000"/>
              <a:t>0 </a:t>
            </a:r>
            <a:r>
              <a:rPr lang="en-US" altLang="en-US" sz="2000" b="1"/>
              <a:t>then </a:t>
            </a:r>
            <a:r>
              <a:rPr lang="en-US" altLang="en-US" sz="2000" i="1"/>
              <a:t>current</a:t>
            </a:r>
            <a:r>
              <a:rPr lang="en-US" altLang="en-US" sz="2000"/>
              <a:t> </a:t>
            </a:r>
            <a:r>
              <a:rPr lang="en-US" altLang="en-US" sz="2000">
                <a:sym typeface="Symbol" panose="05050102010706020507" pitchFamily="18" charset="2"/>
              </a:rPr>
              <a:t> </a:t>
            </a:r>
            <a:r>
              <a:rPr lang="en-US" altLang="en-US" sz="2000" i="1"/>
              <a:t>next </a:t>
            </a:r>
            <a:endParaRPr lang="en-US" altLang="en-US" sz="200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000"/>
              <a:t>		</a:t>
            </a:r>
            <a:r>
              <a:rPr lang="en-US" altLang="en-US" sz="2000" b="1"/>
              <a:t>else</a:t>
            </a:r>
            <a:r>
              <a:rPr lang="en-US" altLang="en-US" sz="2000"/>
              <a:t> </a:t>
            </a:r>
            <a:r>
              <a:rPr lang="en-US" altLang="en-US" sz="2000" i="1"/>
              <a:t>current</a:t>
            </a:r>
            <a:r>
              <a:rPr lang="en-US" altLang="en-US" sz="2000"/>
              <a:t> </a:t>
            </a:r>
            <a:r>
              <a:rPr lang="en-US" altLang="en-US" sz="2000">
                <a:sym typeface="Symbol" panose="05050102010706020507" pitchFamily="18" charset="2"/>
              </a:rPr>
              <a:t> </a:t>
            </a:r>
            <a:r>
              <a:rPr lang="en-US" altLang="en-US" sz="2000" i="1"/>
              <a:t>next </a:t>
            </a:r>
            <a:r>
              <a:rPr lang="en-US" altLang="en-US" sz="2000"/>
              <a:t>only with probability </a:t>
            </a:r>
            <a:r>
              <a:rPr lang="en-US" altLang="en-US" sz="2000" i="1"/>
              <a:t>e</a:t>
            </a:r>
            <a:r>
              <a:rPr lang="en-US" altLang="en-US" sz="2000" i="1" baseline="30000"/>
              <a:t>∆E /T</a:t>
            </a:r>
            <a:endParaRPr lang="en-US" altLang="en-US" sz="2000"/>
          </a:p>
        </p:txBody>
      </p:sp>
      <p:sp>
        <p:nvSpPr>
          <p:cNvPr id="52228" name="Slide Number Placeholder 3">
            <a:extLst>
              <a:ext uri="{FF2B5EF4-FFF2-40B4-BE49-F238E27FC236}">
                <a16:creationId xmlns:a16="http://schemas.microsoft.com/office/drawing/2014/main" id="{E31988EF-E2D2-1832-D296-651B60A02A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B0A0B9-7E50-4403-8EE8-C6C7E54C7E7B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E24E7394-B30D-0ADD-AF5C-94F7DC832AB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Temperature T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AF3DEE5-FE4E-702C-6839-C282E1745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high T: probability of “locally bad” move is higher</a:t>
            </a:r>
          </a:p>
          <a:p>
            <a:r>
              <a:rPr lang="en-US" altLang="en-US"/>
              <a:t>low T: probability of “locally bad” move is lower</a:t>
            </a:r>
          </a:p>
          <a:p>
            <a:r>
              <a:rPr lang="en-US" altLang="en-US"/>
              <a:t>typically, T is decreased as the algorithm runs longer</a:t>
            </a:r>
          </a:p>
          <a:p>
            <a:r>
              <a:rPr lang="en-US" altLang="en-US"/>
              <a:t>i.e., there is a “temperature schedule”</a:t>
            </a:r>
          </a:p>
          <a:p>
            <a:endParaRPr lang="en-US" altLang="en-US"/>
          </a:p>
        </p:txBody>
      </p:sp>
      <p:sp>
        <p:nvSpPr>
          <p:cNvPr id="54276" name="Slide Number Placeholder 3">
            <a:extLst>
              <a:ext uri="{FF2B5EF4-FFF2-40B4-BE49-F238E27FC236}">
                <a16:creationId xmlns:a16="http://schemas.microsoft.com/office/drawing/2014/main" id="{DCF4F813-6A45-369D-BC2C-D3D1C270F8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6B3917-28BC-4EA3-8C07-62DE00C3946D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077019ED-7145-6EA1-E4CD-D79D1F056E6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/>
              <a:t>Simulated Annealing in Practice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98E62D4-C6D6-3A85-D2F4-5FB665CB9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371601"/>
            <a:ext cx="8229600" cy="4525963"/>
          </a:xfrm>
        </p:spPr>
        <p:txBody>
          <a:bodyPr/>
          <a:lstStyle/>
          <a:p>
            <a:pPr lvl="1"/>
            <a:r>
              <a:rPr lang="en-US" altLang="en-US"/>
              <a:t>method proposed in 1983 by IBM researchers for solving VLSI layout problems (Kirkpatrick et al, </a:t>
            </a:r>
            <a:r>
              <a:rPr lang="en-US" altLang="en-US" i="1"/>
              <a:t>Science</a:t>
            </a:r>
            <a:r>
              <a:rPr lang="en-US" altLang="en-US"/>
              <a:t>, 220:671-680, 1983).</a:t>
            </a:r>
          </a:p>
          <a:p>
            <a:pPr lvl="2"/>
            <a:r>
              <a:rPr lang="en-US" altLang="en-US"/>
              <a:t>theoretically will always find the global optimum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Other applications: Traveling salesman, Graph partitioning, Graph coloring, Scheduling, Facility Layout, Image Processing, …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/>
          </a:p>
          <a:p>
            <a:pPr lvl="1"/>
            <a:r>
              <a:rPr lang="en-US" altLang="en-US"/>
              <a:t>useful for some problems, but can be very slow</a:t>
            </a:r>
          </a:p>
          <a:p>
            <a:pPr lvl="2"/>
            <a:r>
              <a:rPr lang="en-US" altLang="en-US"/>
              <a:t>slowness comes about because T must be decreased very gradually to retain optimality</a:t>
            </a:r>
          </a:p>
          <a:p>
            <a:pPr lvl="1">
              <a:buFontTx/>
              <a:buNone/>
            </a:pPr>
            <a:endParaRPr lang="en-US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96DB28E4-7054-14CB-2F09-243440F260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596D8A-C8CA-4028-8003-8264146A5EBE}" type="slidenum">
              <a:rPr lang="en-US" altLang="en-US" sz="1200">
                <a:solidFill>
                  <a:srgbClr val="898989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200">
              <a:solidFill>
                <a:srgbClr val="89898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F42214FF2AA841B0BBAD38772DC8CF" ma:contentTypeVersion="0" ma:contentTypeDescription="Create a new document." ma:contentTypeScope="" ma:versionID="9a0a874dc89471ab73d6d05fe2070e7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5bdcf26f133259999730471111e8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4AA209A-A577-4C39-80A1-D214B31331A6}"/>
</file>

<file path=customXml/itemProps2.xml><?xml version="1.0" encoding="utf-8"?>
<ds:datastoreItem xmlns:ds="http://schemas.openxmlformats.org/officeDocument/2006/customXml" ds:itemID="{0E403DD4-4BCF-4235-8F61-D3C9DB5FBA3C}"/>
</file>

<file path=customXml/itemProps3.xml><?xml version="1.0" encoding="utf-8"?>
<ds:datastoreItem xmlns:ds="http://schemas.openxmlformats.org/officeDocument/2006/customXml" ds:itemID="{C6A12D9D-E398-4604-A36B-CE035F234B36}"/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5265</Words>
  <Application>Microsoft Office PowerPoint</Application>
  <PresentationFormat>Widescreen</PresentationFormat>
  <Paragraphs>740</Paragraphs>
  <Slides>74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Aptos</vt:lpstr>
      <vt:lpstr>Aptos Display</vt:lpstr>
      <vt:lpstr>Arial</vt:lpstr>
      <vt:lpstr>Comic Sans MS</vt:lpstr>
      <vt:lpstr>Symbol</vt:lpstr>
      <vt:lpstr>Times New Roman</vt:lpstr>
      <vt:lpstr>Wingdings</vt:lpstr>
      <vt:lpstr>Office Theme</vt:lpstr>
      <vt:lpstr>Equation</vt:lpstr>
      <vt:lpstr>Bitmap Image</vt:lpstr>
      <vt:lpstr>Informed Search (Best-first search, Greedy best-first search, A* search, Local Search)</vt:lpstr>
      <vt:lpstr>Search</vt:lpstr>
      <vt:lpstr>PowerPoint Presentation</vt:lpstr>
      <vt:lpstr>PowerPoint Presentation</vt:lpstr>
      <vt:lpstr>Outline</vt:lpstr>
      <vt:lpstr>General Tree Search Paradigm</vt:lpstr>
      <vt:lpstr>General Tree Search Paradigm</vt:lpstr>
      <vt:lpstr>How to take information into account? Best-first search.</vt:lpstr>
      <vt:lpstr>Romanian path finding problem</vt:lpstr>
      <vt:lpstr>Greedy best-first search</vt:lpstr>
      <vt:lpstr>Greedy best-first search example</vt:lpstr>
      <vt:lpstr>Greedy best-first search example</vt:lpstr>
      <vt:lpstr>Greedy best-first search example</vt:lpstr>
      <vt:lpstr>Greedy best-first search example</vt:lpstr>
      <vt:lpstr>Properties of greedy best-first search</vt:lpstr>
      <vt:lpstr>A* search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A* properties   </vt:lpstr>
      <vt:lpstr>Heuristics: (1) Admissibility</vt:lpstr>
      <vt:lpstr>Heuristics: (2) Consistency</vt:lpstr>
      <vt:lpstr>A*: Tree Search  vs. Graph Search</vt:lpstr>
      <vt:lpstr>Intuition: Contours of A*</vt:lpstr>
      <vt:lpstr>A* Search: Optimality</vt:lpstr>
      <vt:lpstr>A* Search: Pseudocode</vt:lpstr>
      <vt:lpstr>PowerPoint Presentation</vt:lpstr>
      <vt:lpstr>Note: Termination / Completeness</vt:lpstr>
      <vt:lpstr>A* Optimal in Another Way</vt:lpstr>
      <vt:lpstr>PowerPoint Presentation</vt:lpstr>
      <vt:lpstr>8-Puzzle</vt:lpstr>
      <vt:lpstr>Admissible heuristics</vt:lpstr>
      <vt:lpstr>Comparing heuristics</vt:lpstr>
      <vt:lpstr>Comparison of heuristics</vt:lpstr>
      <vt:lpstr>Dominating heuristics</vt:lpstr>
      <vt:lpstr>Inventing admissible heuristics: Relaxed Problems </vt:lpstr>
      <vt:lpstr>Examples of relaxed problems</vt:lpstr>
      <vt:lpstr>Inventing admissible heuristics: Relaxed Problems </vt:lpstr>
      <vt:lpstr>PowerPoint Presentation</vt:lpstr>
      <vt:lpstr>Pattern Databases</vt:lpstr>
      <vt:lpstr>Inventing admissible heuristics:  Learning</vt:lpstr>
      <vt:lpstr>Local Search (Hill-climbing, Simulated Annealing)</vt:lpstr>
      <vt:lpstr>Outline</vt:lpstr>
      <vt:lpstr>Local search and optimization</vt:lpstr>
      <vt:lpstr>PowerPoint Presentation</vt:lpstr>
      <vt:lpstr>Local search and optimization</vt:lpstr>
      <vt:lpstr>Optimization Framework</vt:lpstr>
      <vt:lpstr>Local search and optimization</vt:lpstr>
      <vt:lpstr>Trivial Algorithms</vt:lpstr>
      <vt:lpstr>Hill-climbing Search</vt:lpstr>
      <vt:lpstr>Hill-climbing Search</vt:lpstr>
      <vt:lpstr>Hill-climbing (Greedy Local Search) max version</vt:lpstr>
      <vt:lpstr>Hill-climbing search</vt:lpstr>
      <vt:lpstr>“Landscape” of Hill-climbing search  </vt:lpstr>
      <vt:lpstr>Example: n-queens</vt:lpstr>
      <vt:lpstr>Hill-climbing search: 8-queens problem</vt:lpstr>
      <vt:lpstr>Search Space</vt:lpstr>
      <vt:lpstr>Hill-climbing search: 8-queens problem</vt:lpstr>
      <vt:lpstr>Hill-climbing on 8-queens</vt:lpstr>
      <vt:lpstr>Hill Climbing Drawbacks</vt:lpstr>
      <vt:lpstr>Escaping Shoulders: Sideways Move</vt:lpstr>
      <vt:lpstr>Local Minima/Maxima</vt:lpstr>
      <vt:lpstr>Hill-climbing: stochastic variations</vt:lpstr>
      <vt:lpstr>Hill Climbing: stochastic variations</vt:lpstr>
      <vt:lpstr>Hill-climbing with random restarts</vt:lpstr>
      <vt:lpstr>Hill-climbing with random walk</vt:lpstr>
      <vt:lpstr>Simulated Annealing</vt:lpstr>
      <vt:lpstr>Simulated Annealing</vt:lpstr>
      <vt:lpstr>Simulated annealing</vt:lpstr>
      <vt:lpstr>Temperature T</vt:lpstr>
      <vt:lpstr>Simulated Annealing in 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Informed Search (Best-first search, Greedy best-first search, A* search, Local Search)</dc:title>
  <dc:creator>Jamimamul Bakas</dc:creator>
  <cp:lastModifiedBy>Jamimamul Bakas</cp:lastModifiedBy>
  <cp:revision>1</cp:revision>
  <dcterms:created xsi:type="dcterms:W3CDTF">2024-01-29T06:39:17Z</dcterms:created>
  <dcterms:modified xsi:type="dcterms:W3CDTF">2024-01-30T08:57:14Z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0x010100E1F42214FF2AA841B0BBAD38772DC8CF</vt:lpwstr>
  </property>
</Properties>
</file>