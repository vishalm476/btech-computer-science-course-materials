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74882-2A38-48E7-A56F-F36671AAF979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06B2D-3D4F-4088-8DA2-A605E9C757A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506B2D-3D4F-4088-8DA2-A605E9C757AC}" type="slidenum">
              <a:rPr lang="en-IN" smtClean="0"/>
              <a:pPr/>
              <a:t>22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8D2B6-71A4-422E-B927-35FBAAE19465}" type="datetimeFigureOut">
              <a:rPr lang="en-US" smtClean="0"/>
              <a:pPr/>
              <a:t>7/26/2019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4D36-A458-4D7F-8AFB-8EEE7D3A5C23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457200"/>
            <a:ext cx="6324600" cy="4274319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209800" y="5181600"/>
            <a:ext cx="51330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PLANT FACTORY?</a:t>
            </a:r>
            <a:endParaRPr lang="en-IN" sz="5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3200400"/>
            <a:ext cx="7162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In order to feed the world, protect the environment, improve health, and </a:t>
            </a:r>
            <a:r>
              <a:rPr lang="en-IN" sz="2000" dirty="0" smtClean="0"/>
              <a:t>achieve economic </a:t>
            </a:r>
            <a:r>
              <a:rPr lang="en-IN" sz="2000" dirty="0"/>
              <a:t>growth, a new form of agricultural cultivation is required</a:t>
            </a:r>
            <a:r>
              <a:rPr lang="en-IN" sz="2000" dirty="0" smtClean="0"/>
              <a:t>:</a:t>
            </a:r>
          </a:p>
          <a:p>
            <a:endParaRPr lang="en-IN" sz="2000" dirty="0"/>
          </a:p>
          <a:p>
            <a:r>
              <a:rPr lang="en-IN" sz="2000" dirty="0" smtClean="0"/>
              <a:t>Indoor </a:t>
            </a:r>
            <a:r>
              <a:rPr lang="en-IN" sz="2000" dirty="0"/>
              <a:t>vertical farming using </a:t>
            </a:r>
            <a:r>
              <a:rPr lang="en-IN" sz="2000" dirty="0" smtClean="0"/>
              <a:t>a system </a:t>
            </a:r>
            <a:r>
              <a:rPr lang="en-IN" sz="2000" dirty="0"/>
              <a:t>with artificial </a:t>
            </a:r>
            <a:r>
              <a:rPr lang="en-IN" sz="2000" dirty="0" smtClean="0"/>
              <a:t>lighting, thermally insulated and nearly airtight warehouse, Multiple culture shelves, air circulation fans, CO2 and nutrient solution supply units, and an environmental control unit </a:t>
            </a:r>
            <a:r>
              <a:rPr lang="en-IN" sz="2000" dirty="0"/>
              <a:t>for efficient production of food crops</a:t>
            </a:r>
            <a:r>
              <a:rPr lang="en-IN" sz="2000" dirty="0" smtClean="0"/>
              <a:t>.</a:t>
            </a: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85800"/>
            <a:ext cx="84582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Potential </a:t>
            </a:r>
            <a:r>
              <a:rPr lang="en-IN" sz="2800" b="1" dirty="0"/>
              <a:t>advantages over the conventional production system</a:t>
            </a:r>
            <a:r>
              <a:rPr lang="en-IN" sz="2800" b="1" dirty="0" smtClean="0"/>
              <a:t>:</a:t>
            </a:r>
          </a:p>
          <a:p>
            <a:endParaRPr lang="en-IN" sz="2800" b="1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/>
              <a:t>It </a:t>
            </a:r>
            <a:r>
              <a:rPr lang="en-IN" sz="2000" dirty="0"/>
              <a:t>can be built anywhere because neither solar light nor soil is needed;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/>
              <a:t>The </a:t>
            </a:r>
            <a:r>
              <a:rPr lang="en-IN" sz="2000" dirty="0"/>
              <a:t>growing environment is not affected by the outside climate and soil fertility;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/>
              <a:t>Production </a:t>
            </a:r>
            <a:r>
              <a:rPr lang="en-IN" sz="2000" dirty="0"/>
              <a:t>can be year-round and productivity is over 100 times that of field production;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/>
              <a:t>Produce </a:t>
            </a:r>
            <a:r>
              <a:rPr lang="en-IN" sz="2000" dirty="0"/>
              <a:t>quality such as concentrations of </a:t>
            </a:r>
            <a:r>
              <a:rPr lang="en-IN" sz="2000" dirty="0" err="1"/>
              <a:t>phytonutrients</a:t>
            </a:r>
            <a:r>
              <a:rPr lang="en-IN" sz="2000" dirty="0"/>
              <a:t> can be enhanced through manipulation </a:t>
            </a:r>
            <a:r>
              <a:rPr lang="en-IN" sz="2000" dirty="0" smtClean="0"/>
              <a:t>of the </a:t>
            </a:r>
            <a:r>
              <a:rPr lang="en-IN" sz="2000" dirty="0"/>
              <a:t>growing environment, especially light quality;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/>
              <a:t>Produce </a:t>
            </a:r>
            <a:r>
              <a:rPr lang="en-IN" sz="2000" dirty="0"/>
              <a:t>is pesticide-free and need not be washed before eating;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/>
              <a:t>Produce </a:t>
            </a:r>
            <a:r>
              <a:rPr lang="en-IN" sz="2000" dirty="0"/>
              <a:t>has a longer shelf life because the bacterial load is generally less than 300 </a:t>
            </a:r>
            <a:r>
              <a:rPr lang="en-IN" sz="2000" dirty="0" smtClean="0"/>
              <a:t>CFU/gm which is </a:t>
            </a:r>
            <a:r>
              <a:rPr lang="en-IN" sz="2000" dirty="0"/>
              <a:t>1/100 to 1/1000 that of field-grown produce;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/>
              <a:t>Energy </a:t>
            </a:r>
            <a:r>
              <a:rPr lang="en-IN" sz="2000" dirty="0"/>
              <a:t>for transportation can be reduced by building PFALs near urban areas; and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 smtClean="0"/>
              <a:t>High </a:t>
            </a:r>
            <a:r>
              <a:rPr lang="en-IN" sz="2000" dirty="0"/>
              <a:t>resource use efficiency (water, CO2, fertilizer, etc.) can be achieved with minimum </a:t>
            </a:r>
            <a:r>
              <a:rPr lang="en-IN" sz="2000" dirty="0" smtClean="0"/>
              <a:t>emission of </a:t>
            </a:r>
            <a:r>
              <a:rPr lang="en-IN" sz="2000" dirty="0"/>
              <a:t>pollutants to the outside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2563" y="1804988"/>
            <a:ext cx="6238875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362200" y="685800"/>
            <a:ext cx="4467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Plant Factory : Need in Urban area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173892"/>
            <a:ext cx="8088264" cy="4693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066800" y="533400"/>
            <a:ext cx="7498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Trend of world population, Agricultural Population</a:t>
            </a: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457200"/>
            <a:ext cx="557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Factors affecting Plant growth in climate control chamber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286000" y="1600200"/>
            <a:ext cx="26673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 smtClean="0"/>
              <a:t>Availbility</a:t>
            </a:r>
            <a:r>
              <a:rPr lang="en-US" dirty="0" smtClean="0"/>
              <a:t> of water</a:t>
            </a:r>
          </a:p>
          <a:p>
            <a:pPr marL="342900" indent="-342900">
              <a:buAutoNum type="arabicPeriod"/>
            </a:pPr>
            <a:r>
              <a:rPr lang="en-US" dirty="0" smtClean="0"/>
              <a:t>Availability of CO2</a:t>
            </a:r>
          </a:p>
          <a:p>
            <a:pPr marL="342900" indent="-342900">
              <a:buAutoNum type="arabicPeriod"/>
            </a:pPr>
            <a:r>
              <a:rPr lang="en-US" dirty="0" err="1" smtClean="0"/>
              <a:t>Avalability</a:t>
            </a:r>
            <a:r>
              <a:rPr lang="en-US" dirty="0" smtClean="0"/>
              <a:t> of Light</a:t>
            </a:r>
          </a:p>
          <a:p>
            <a:pPr marL="342900" indent="-342900">
              <a:buAutoNum type="arabicPeriod"/>
            </a:pPr>
            <a:r>
              <a:rPr lang="en-US" dirty="0" smtClean="0"/>
              <a:t>Rate of Photosynthesis</a:t>
            </a:r>
          </a:p>
          <a:p>
            <a:pPr marL="342900" indent="-342900">
              <a:buAutoNum type="arabicPeriod"/>
            </a:pPr>
            <a:r>
              <a:rPr lang="en-US" dirty="0" smtClean="0"/>
              <a:t>Rate of Transpiration</a:t>
            </a:r>
          </a:p>
          <a:p>
            <a:pPr marL="342900" indent="-342900">
              <a:buAutoNum type="arabicPeriod"/>
            </a:pPr>
            <a:r>
              <a:rPr lang="en-US" dirty="0" smtClean="0"/>
              <a:t>Electricity/Cooling cost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752600"/>
            <a:ext cx="6998042" cy="3657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838200" y="762000"/>
            <a:ext cx="7657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Model Ecosystem connected with other </a:t>
            </a:r>
            <a:r>
              <a:rPr lang="en-US" sz="2800" dirty="0" err="1" smtClean="0"/>
              <a:t>Biosystems</a:t>
            </a: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http://hyperphysics.phy-astr.gsu.edu/hbase/Biology/imgbio/chlab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3215147"/>
            <a:ext cx="3962400" cy="364285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447800" y="228600"/>
            <a:ext cx="6497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LED light: more energy efficient to carry out photosynthesis</a:t>
            </a:r>
            <a:endParaRPr lang="en-IN" sz="2000" b="1" dirty="0"/>
          </a:p>
        </p:txBody>
      </p:sp>
      <p:pic>
        <p:nvPicPr>
          <p:cNvPr id="7174" name="Picture 6" descr="Image result for electromagnetic spectru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914400"/>
            <a:ext cx="5257800" cy="228932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Image result for light emitting diode plan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1676400"/>
            <a:ext cx="5276850" cy="351472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2667000" y="533400"/>
            <a:ext cx="420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 of energy efficient LED in Plant Factory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447800"/>
            <a:ext cx="7530876" cy="398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 b="45845"/>
          <a:stretch>
            <a:fillRect/>
          </a:stretch>
        </p:blipFill>
        <p:spPr bwMode="auto">
          <a:xfrm>
            <a:off x="1371600" y="990600"/>
            <a:ext cx="699891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743200" y="304800"/>
            <a:ext cx="359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Elements/Nutrients for Plant growth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 t="54155"/>
          <a:stretch>
            <a:fillRect/>
          </a:stretch>
        </p:blipFill>
        <p:spPr bwMode="auto">
          <a:xfrm>
            <a:off x="914399" y="1447800"/>
            <a:ext cx="714184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 t="-1015" r="-5978" b="47208"/>
          <a:stretch>
            <a:fillRect/>
          </a:stretch>
        </p:blipFill>
        <p:spPr bwMode="auto">
          <a:xfrm>
            <a:off x="1066800" y="807534"/>
            <a:ext cx="7239000" cy="4678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 t="52792"/>
          <a:stretch>
            <a:fillRect/>
          </a:stretch>
        </p:blipFill>
        <p:spPr bwMode="auto">
          <a:xfrm>
            <a:off x="1042424" y="1447800"/>
            <a:ext cx="735412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22" y="1371600"/>
            <a:ext cx="8973037" cy="313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895600" y="609600"/>
            <a:ext cx="2823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Hydroponics Systems</a:t>
            </a:r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24000" y="4648200"/>
            <a:ext cx="224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Drain Film Technology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257800" y="4495800"/>
            <a:ext cx="253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Nutrient Film Technology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0" y="457200"/>
            <a:ext cx="1839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crops</a:t>
            </a:r>
            <a:endParaRPr lang="en-I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219200"/>
            <a:ext cx="6629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Green Leafy Vegetables- </a:t>
            </a:r>
            <a:r>
              <a:rPr lang="en-US" sz="2000" dirty="0" err="1" smtClean="0"/>
              <a:t>Leetuce</a:t>
            </a:r>
            <a:r>
              <a:rPr lang="en-US" sz="2000" dirty="0" smtClean="0"/>
              <a:t>, Basil, organic herbs etc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Vegetables like Tomato, Garlic, cucumber, egg plant etc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685800" y="2590800"/>
            <a:ext cx="8001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C00000"/>
                </a:solidFill>
              </a:rPr>
              <a:t>Health Benefits </a:t>
            </a:r>
            <a:r>
              <a:rPr lang="en-IN" sz="2000" b="1" dirty="0" smtClean="0">
                <a:solidFill>
                  <a:srgbClr val="C00000"/>
                </a:solidFill>
              </a:rPr>
              <a:t>vegetables grown in plant factory</a:t>
            </a:r>
          </a:p>
          <a:p>
            <a:endParaRPr lang="en-IN" b="1" dirty="0" smtClean="0"/>
          </a:p>
          <a:p>
            <a:pPr marL="342900" indent="-342900">
              <a:buFont typeface="+mj-lt"/>
              <a:buAutoNum type="arabicPeriod"/>
            </a:pPr>
            <a:r>
              <a:rPr lang="en-IN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Fiber</a:t>
            </a:r>
            <a:r>
              <a:rPr lang="en-IN" dirty="0" smtClean="0"/>
              <a:t> supports normal bowel movements and helps lower cholesterol levels.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Vitamin K </a:t>
            </a:r>
            <a:r>
              <a:rPr lang="en-IN" dirty="0" smtClean="0"/>
              <a:t>is essential for blood clotting, heart health, and building strong bones.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Vitamins A and C </a:t>
            </a:r>
            <a:r>
              <a:rPr lang="en-IN" dirty="0" smtClean="0"/>
              <a:t>are both antioxidants, which help prevent cell damage from free radicals.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Vitamin A also helps with vision while vitamin C strengthens the immune system and supports healthy skin.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Folate</a:t>
            </a:r>
            <a:r>
              <a:rPr lang="en-IN" dirty="0" smtClean="0"/>
              <a:t> is a key coenzyme to hundreds of metabolic processes and is required for cell division.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Iron </a:t>
            </a:r>
            <a:r>
              <a:rPr lang="en-IN" dirty="0" smtClean="0"/>
              <a:t>is a key component of </a:t>
            </a:r>
            <a:r>
              <a:rPr lang="en-IN" dirty="0" err="1" smtClean="0"/>
              <a:t>hemoglobin</a:t>
            </a:r>
            <a:r>
              <a:rPr lang="en-IN" dirty="0" smtClean="0"/>
              <a:t>, which delivers oxygen to tissues. Deficiency can cause </a:t>
            </a:r>
            <a:r>
              <a:rPr lang="en-IN" dirty="0" err="1" smtClean="0"/>
              <a:t>anemia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Picture 4" descr="lettuce varieti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28600"/>
            <a:ext cx="7620000" cy="616267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657600" y="6248400"/>
            <a:ext cx="3062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Variety of Green leafy Lettuces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371600"/>
            <a:ext cx="6219825" cy="351472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733800" y="5562600"/>
            <a:ext cx="2112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Hydroponics Tomato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Image result for hydroponics strawberr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143000"/>
            <a:ext cx="7067550" cy="3514726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3733800" y="5334000"/>
            <a:ext cx="2597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Hydroponics Strawberries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8" name="Picture 4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762000"/>
            <a:ext cx="5791200" cy="429304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581400" y="5562600"/>
            <a:ext cx="3078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Hydroponics Pepper/</a:t>
            </a:r>
            <a:r>
              <a:rPr lang="en-US" dirty="0" err="1" smtClean="0"/>
              <a:t>Capcicum</a:t>
            </a:r>
            <a:endParaRPr lang="en-IN" dirty="0"/>
          </a:p>
        </p:txBody>
      </p:sp>
      <p:pic>
        <p:nvPicPr>
          <p:cNvPr id="36870" name="Picture 6" descr="Image result for hydroponics Bell pepper"/>
          <p:cNvPicPr>
            <a:picLocks noChangeAspect="1" noChangeArrowheads="1"/>
          </p:cNvPicPr>
          <p:nvPr/>
        </p:nvPicPr>
        <p:blipFill>
          <a:blip r:embed="rId3"/>
          <a:srcRect l="13544" r="20206"/>
          <a:stretch>
            <a:fillRect/>
          </a:stretch>
        </p:blipFill>
        <p:spPr bwMode="auto">
          <a:xfrm>
            <a:off x="6705600" y="2971800"/>
            <a:ext cx="1905000" cy="1990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533400"/>
            <a:ext cx="4381500" cy="3286126"/>
          </a:xfrm>
          <a:prstGeom prst="rect">
            <a:avLst/>
          </a:prstGeom>
          <a:noFill/>
        </p:spPr>
      </p:pic>
      <p:pic>
        <p:nvPicPr>
          <p:cNvPr id="37892" name="Picture 4" descr="Image result for hydroponics egg plant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990600"/>
            <a:ext cx="4059936" cy="27432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419600" y="5029200"/>
            <a:ext cx="2481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Cucumber and egg plant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8600" y="0"/>
            <a:ext cx="85344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ROLES OF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PFALs (Plant Factories in artificial Lighting)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URBAN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AREAS</a:t>
            </a:r>
          </a:p>
          <a:p>
            <a:endParaRPr lang="en-IN" dirty="0" smtClean="0"/>
          </a:p>
          <a:p>
            <a:r>
              <a:rPr lang="en-IN" b="1" dirty="0" smtClean="0"/>
              <a:t>In addition to food production, PFALs as one form of agriculture play environmental, social, </a:t>
            </a:r>
            <a:r>
              <a:rPr lang="en-IN" b="1" dirty="0" smtClean="0"/>
              <a:t>and cultural </a:t>
            </a:r>
            <a:r>
              <a:rPr lang="en-IN" b="1" dirty="0" smtClean="0"/>
              <a:t>roles, as described in Chapter 2. PFALs are expected to become a key component in </a:t>
            </a:r>
            <a:r>
              <a:rPr lang="en-IN" b="1" dirty="0" smtClean="0"/>
              <a:t>urban areas </a:t>
            </a:r>
            <a:r>
              <a:rPr lang="en-IN" b="1" dirty="0" smtClean="0"/>
              <a:t>to help alleviate the following local and global issues</a:t>
            </a:r>
            <a:r>
              <a:rPr lang="en-IN" b="1" dirty="0" smtClean="0"/>
              <a:t>:</a:t>
            </a:r>
          </a:p>
          <a:p>
            <a:endParaRPr lang="en-IN" dirty="0" smtClean="0"/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Climate </a:t>
            </a:r>
            <a:r>
              <a:rPr lang="en-IN" dirty="0" smtClean="0"/>
              <a:t>change (global warming), pest insects, and natural disasters (strong wind, rain, </a:t>
            </a:r>
            <a:r>
              <a:rPr lang="en-IN" dirty="0" smtClean="0"/>
              <a:t>flood, drought</a:t>
            </a:r>
            <a:r>
              <a:rPr lang="en-IN" dirty="0" smtClean="0"/>
              <a:t>, etc.), and resultant vulnerabilities of crop yield and quality.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Increasing </a:t>
            </a:r>
            <a:r>
              <a:rPr lang="en-IN" dirty="0" smtClean="0"/>
              <a:t>urban population.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Increasing </a:t>
            </a:r>
            <a:r>
              <a:rPr lang="en-IN" dirty="0" smtClean="0"/>
              <a:t>demands for local production for local consumption to improve food security </a:t>
            </a:r>
            <a:r>
              <a:rPr lang="en-IN" dirty="0" smtClean="0"/>
              <a:t>and safety</a:t>
            </a:r>
            <a:r>
              <a:rPr lang="en-IN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Increasing </a:t>
            </a:r>
            <a:r>
              <a:rPr lang="en-IN" dirty="0" smtClean="0"/>
              <a:t>demands for fresh food, nutritious food, functional food for health care and/or </a:t>
            </a:r>
            <a:r>
              <a:rPr lang="en-IN" dirty="0" smtClean="0"/>
              <a:t>higher quality </a:t>
            </a:r>
            <a:r>
              <a:rPr lang="en-IN" dirty="0" smtClean="0"/>
              <a:t>of life.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Increasing </a:t>
            </a:r>
            <a:r>
              <a:rPr lang="en-IN" dirty="0" smtClean="0"/>
              <a:t>shortages and/or prices of water for irrigation and fossil fuels.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Decreasing </a:t>
            </a:r>
            <a:r>
              <a:rPr lang="en-IN" dirty="0" smtClean="0"/>
              <a:t>population involved in agriculture due to aging of farmers.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Decreasing </a:t>
            </a:r>
            <a:r>
              <a:rPr lang="en-IN" dirty="0" smtClean="0"/>
              <a:t>arable land area due to urbanization, soil contamination, and salt accumulation at </a:t>
            </a:r>
            <a:r>
              <a:rPr lang="en-IN" dirty="0" smtClean="0"/>
              <a:t>soil surface</a:t>
            </a:r>
            <a:r>
              <a:rPr lang="en-IN" dirty="0" smtClean="0"/>
              <a:t>, etc.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Decreasing </a:t>
            </a:r>
            <a:r>
              <a:rPr lang="en-IN" dirty="0" smtClean="0"/>
              <a:t>opportunities for growing plants or producing foods by people living in urban areas.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 OF PRODUCING FRESH VEGETABLES USING PFALs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URBAN AREAS</a:t>
            </a:r>
          </a:p>
          <a:p>
            <a:endParaRPr lang="en-IN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dirty="0" smtClean="0"/>
              <a:t>The </a:t>
            </a:r>
            <a:r>
              <a:rPr lang="en-IN" dirty="0" smtClean="0"/>
              <a:t>benefits of producing fresh vegetables using PFALs in urban areas include</a:t>
            </a:r>
            <a:r>
              <a:rPr lang="en-IN" dirty="0" smtClean="0"/>
              <a:t>:</a:t>
            </a:r>
          </a:p>
          <a:p>
            <a:endParaRPr lang="en-IN" dirty="0" smtClean="0"/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Compared </a:t>
            </a:r>
            <a:r>
              <a:rPr lang="en-IN" dirty="0" smtClean="0"/>
              <a:t>with field agriculture, over 100 times higher annual productivity per unit land </a:t>
            </a:r>
            <a:r>
              <a:rPr lang="en-IN" dirty="0" smtClean="0"/>
              <a:t>area regardless </a:t>
            </a:r>
            <a:r>
              <a:rPr lang="en-IN" dirty="0" smtClean="0"/>
              <a:t>of weather and season, by the use of multiple tiers, optimal environmental </a:t>
            </a:r>
            <a:r>
              <a:rPr lang="en-IN" dirty="0" smtClean="0"/>
              <a:t>control, minimum </a:t>
            </a:r>
            <a:r>
              <a:rPr lang="en-IN" dirty="0" smtClean="0"/>
              <a:t>loss of plants to pest insects, etc</a:t>
            </a:r>
            <a:r>
              <a:rPr lang="en-IN" dirty="0" smtClean="0"/>
              <a:t>. A </a:t>
            </a:r>
            <a:r>
              <a:rPr lang="en-IN" dirty="0" smtClean="0"/>
              <a:t>large land area is not required for producing fresh foods.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PFALs </a:t>
            </a:r>
            <a:r>
              <a:rPr lang="en-IN" dirty="0" smtClean="0"/>
              <a:t>can be built in shaded and/or unused areas such as an empty space in a building, and even </a:t>
            </a:r>
            <a:r>
              <a:rPr lang="en-IN" dirty="0" smtClean="0"/>
              <a:t>the basement</a:t>
            </a:r>
            <a:r>
              <a:rPr lang="en-IN" dirty="0" smtClean="0"/>
              <a:t>, because neither soil nor sunlight is needed.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The </a:t>
            </a:r>
            <a:r>
              <a:rPr lang="en-IN" dirty="0" smtClean="0"/>
              <a:t>distance between production and consumption sites is minimized, thus reducing </a:t>
            </a:r>
            <a:r>
              <a:rPr lang="en-IN" dirty="0" smtClean="0"/>
              <a:t>fuel consumption</a:t>
            </a:r>
            <a:r>
              <a:rPr lang="en-IN" dirty="0" smtClean="0"/>
              <a:t>, CO2 emissions, and traffic for food transportation.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Citizens </a:t>
            </a:r>
            <a:r>
              <a:rPr lang="en-IN" dirty="0" smtClean="0"/>
              <a:t>can enjoy fresh food at lower prices.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Losses </a:t>
            </a:r>
            <a:r>
              <a:rPr lang="en-IN" dirty="0" smtClean="0"/>
              <a:t>of fresh produce and/or fuel for cooling the produce during transportation are minimized.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Safe</a:t>
            </a:r>
            <a:r>
              <a:rPr lang="en-IN" dirty="0" smtClean="0"/>
              <a:t>, enjoyable, and light-work job opportunities under comfortable environments are created for </a:t>
            </a:r>
            <a:r>
              <a:rPr lang="en-IN" dirty="0" smtClean="0"/>
              <a:t>a wide </a:t>
            </a:r>
            <a:r>
              <a:rPr lang="en-IN" dirty="0" smtClean="0"/>
              <a:t>range of people including elderly and handicapped persons.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Waste </a:t>
            </a:r>
            <a:r>
              <a:rPr lang="en-IN" dirty="0" smtClean="0"/>
              <a:t>water, vegetable waste, and CO2 produced in urban areas can be reused, after </a:t>
            </a:r>
            <a:r>
              <a:rPr lang="en-IN" dirty="0" smtClean="0"/>
              <a:t>proper processing</a:t>
            </a:r>
            <a:r>
              <a:rPr lang="en-IN" dirty="0" smtClean="0"/>
              <a:t>, as essential resources (water, CO2, and fertilizer) for growing plants in PFALs. </a:t>
            </a:r>
            <a:r>
              <a:rPr lang="en-IN" dirty="0" smtClean="0"/>
              <a:t>Waste heat </a:t>
            </a:r>
            <a:r>
              <a:rPr lang="en-IN" dirty="0" smtClean="0"/>
              <a:t>energy can be used for heating greenhouses in winter and for other purposes.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The </a:t>
            </a:r>
            <a:r>
              <a:rPr lang="en-IN" dirty="0" smtClean="0"/>
              <a:t>PFAL can be combined with aquaculture, mushroom culture, and fermentation systems </a:t>
            </a:r>
            <a:r>
              <a:rPr lang="en-IN" dirty="0" smtClean="0"/>
              <a:t>for mutual </a:t>
            </a:r>
            <a:r>
              <a:rPr lang="en-IN" dirty="0" smtClean="0"/>
              <a:t>efficient use of their respective wastes as resources.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smtClean="0"/>
              <a:t>Surplus </a:t>
            </a:r>
            <a:r>
              <a:rPr lang="en-IN" dirty="0" smtClean="0"/>
              <a:t>electricity supply at </a:t>
            </a:r>
            <a:r>
              <a:rPr lang="en-IN" dirty="0" smtClean="0"/>
              <a:t>night time </a:t>
            </a:r>
            <a:r>
              <a:rPr lang="en-IN" dirty="0" smtClean="0"/>
              <a:t>compared with daytime can be used.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4E0DF0AA1A204C87E2AD670C058966" ma:contentTypeVersion="4" ma:contentTypeDescription="Create a new document." ma:contentTypeScope="" ma:versionID="15b933ce0c0716803d25be1cd932ea4d">
  <xsd:schema xmlns:xsd="http://www.w3.org/2001/XMLSchema" xmlns:xs="http://www.w3.org/2001/XMLSchema" xmlns:p="http://schemas.microsoft.com/office/2006/metadata/properties" xmlns:ns2="98675793-adc3-4e47-a85f-9eea497c169c" targetNamespace="http://schemas.microsoft.com/office/2006/metadata/properties" ma:root="true" ma:fieldsID="d51886acfc1e4a9acfe40e812bf3e3a1" ns2:_="">
    <xsd:import namespace="98675793-adc3-4e47-a85f-9eea497c16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675793-adc3-4e47-a85f-9eea497c1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A769C3-6C10-4928-AE12-8236B1466744}"/>
</file>

<file path=customXml/itemProps2.xml><?xml version="1.0" encoding="utf-8"?>
<ds:datastoreItem xmlns:ds="http://schemas.openxmlformats.org/officeDocument/2006/customXml" ds:itemID="{FBA7D2A9-1717-4E50-90EB-EF211FC370BA}"/>
</file>

<file path=customXml/itemProps3.xml><?xml version="1.0" encoding="utf-8"?>
<ds:datastoreItem xmlns:ds="http://schemas.openxmlformats.org/officeDocument/2006/customXml" ds:itemID="{613CF9F2-2BE9-4778-80F4-FA0420D93DB2}"/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905</Words>
  <Application>Microsoft Office PowerPoint</Application>
  <PresentationFormat>On-screen Show (4:3)</PresentationFormat>
  <Paragraphs>73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Dinesh</dc:creator>
  <cp:lastModifiedBy>Dinesh</cp:lastModifiedBy>
  <cp:revision>14</cp:revision>
  <dcterms:created xsi:type="dcterms:W3CDTF">2019-07-08T23:40:58Z</dcterms:created>
  <dcterms:modified xsi:type="dcterms:W3CDTF">2019-07-26T03:36:28Z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0x010100694E0DF0AA1A204C87E2AD670C058966</vt:lpwstr>
  </property>
</Properties>
</file>