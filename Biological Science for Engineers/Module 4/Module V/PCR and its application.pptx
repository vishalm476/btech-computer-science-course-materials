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29"/>
  </p:notesMasterIdLst>
  <p:handoutMasterIdLst>
    <p:handoutMasterId r:id="rId30"/>
  </p:handoutMasterIdLst>
  <p:sldIdLst>
    <p:sldId id="335" r:id="rId5"/>
    <p:sldId id="361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2" r:id="rId28"/>
  </p:sldIdLst>
  <p:sldSz cx="9144000" cy="6858000" type="screen4x3"/>
  <p:notesSz cx="6781800" cy="99187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C5C5FF"/>
    <a:srgbClr val="0099CC"/>
    <a:srgbClr val="FFCC00"/>
    <a:srgbClr val="0066CC"/>
    <a:srgbClr val="3333FF"/>
    <a:srgbClr val="00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9" autoAdjust="0"/>
    <p:restoredTop sz="94681" autoAdjust="0"/>
  </p:normalViewPr>
  <p:slideViewPr>
    <p:cSldViewPr snapToGrid="0">
      <p:cViewPr varScale="1">
        <p:scale>
          <a:sx n="69" d="100"/>
          <a:sy n="69" d="100"/>
        </p:scale>
        <p:origin x="-139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 defTabSz="925513">
              <a:defRPr sz="1200"/>
            </a:lvl1pPr>
          </a:lstStyle>
          <a:p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87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/>
            </a:lvl1pPr>
          </a:lstStyle>
          <a:p>
            <a:endParaRPr lang="en-US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3563"/>
            <a:ext cx="2947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 defTabSz="925513">
              <a:defRPr sz="1200"/>
            </a:lvl1pPr>
          </a:lstStyle>
          <a:p>
            <a:endParaRPr lang="en-US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9453563"/>
            <a:ext cx="2870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/>
            </a:lvl1pPr>
          </a:lstStyle>
          <a:p>
            <a:fld id="{27E824B0-6638-4259-A581-8D258DF855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3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0B265C-9494-4F77-B121-9792B5E18775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2AE96C-46B8-432F-AF41-2C3B4B7AACD4}" type="slidenum">
              <a:rPr lang="fr-FR"/>
              <a:pPr/>
              <a:t>2</a:t>
            </a:fld>
            <a:endParaRPr lang="fr-FR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24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6205B7-9A0D-490D-90C6-90C2F49E9D32}" type="slidenum">
              <a:rPr lang="fr-FR"/>
              <a:pPr/>
              <a:t>11</a:t>
            </a:fld>
            <a:endParaRPr lang="fr-FR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40293C-9254-4AC0-ABCC-FA4A76A4A4C9}" type="slidenum">
              <a:rPr lang="fr-FR"/>
              <a:pPr/>
              <a:t>12</a:t>
            </a:fld>
            <a:endParaRPr lang="fr-FR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BB757C-67E5-4CAD-8D24-F941AC00319E}" type="slidenum">
              <a:rPr lang="fr-FR"/>
              <a:pPr/>
              <a:t>13</a:t>
            </a:fld>
            <a:endParaRPr lang="fr-FR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B5539-A664-4364-B008-FF11B09FA3AB}" type="slidenum">
              <a:rPr lang="fr-FR"/>
              <a:pPr/>
              <a:t>14</a:t>
            </a:fld>
            <a:endParaRPr lang="fr-FR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1248F7-5386-4509-A00F-33761B278DE9}" type="slidenum">
              <a:rPr lang="fr-FR"/>
              <a:pPr/>
              <a:t>15</a:t>
            </a:fld>
            <a:endParaRPr lang="fr-FR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FC60F0-3FD0-4C2F-BE20-A1EBA25AE0C1}" type="slidenum">
              <a:rPr lang="fr-FR"/>
              <a:pPr/>
              <a:t>16</a:t>
            </a:fld>
            <a:endParaRPr lang="fr-FR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A0C6DF-5E3B-4060-B78E-18995740E7EE}" type="slidenum">
              <a:rPr lang="fr-FR"/>
              <a:pPr/>
              <a:t>17</a:t>
            </a:fld>
            <a:endParaRPr lang="fr-FR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2950"/>
            <a:ext cx="4960938" cy="3721100"/>
          </a:xfrm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1700"/>
            <a:ext cx="4972050" cy="4464050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4" name="Rectangle 28"/>
          <p:cNvSpPr>
            <a:spLocks noChangeArrowheads="1"/>
          </p:cNvSpPr>
          <p:nvPr userDrawn="1"/>
        </p:nvSpPr>
        <p:spPr bwMode="auto">
          <a:xfrm>
            <a:off x="0" y="6408738"/>
            <a:ext cx="9144000" cy="444500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GB" sz="1600">
                <a:solidFill>
                  <a:schemeClr val="bg1"/>
                </a:solidFill>
                <a:latin typeface="Arial" charset="0"/>
              </a:rPr>
              <a:t>Laboratory Training for Field Epidemiologists</a:t>
            </a:r>
            <a:endParaRPr lang="en-US" sz="16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130" name="Rectangle 34"/>
          <p:cNvSpPr>
            <a:spLocks noChangeArrowheads="1"/>
          </p:cNvSpPr>
          <p:nvPr userDrawn="1"/>
        </p:nvSpPr>
        <p:spPr bwMode="auto">
          <a:xfrm>
            <a:off x="0" y="0"/>
            <a:ext cx="9144000" cy="1052513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131" name="Line 35"/>
          <p:cNvSpPr>
            <a:spLocks noChangeShapeType="1"/>
          </p:cNvSpPr>
          <p:nvPr userDrawn="1"/>
        </p:nvSpPr>
        <p:spPr bwMode="auto">
          <a:xfrm>
            <a:off x="0" y="1052513"/>
            <a:ext cx="9144000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pic>
        <p:nvPicPr>
          <p:cNvPr id="4133" name="Picture 37" descr="EN-WHOlogoQnew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24750" y="6424613"/>
            <a:ext cx="1368425" cy="4333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524000"/>
            <a:ext cx="4122738" cy="2732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524000"/>
            <a:ext cx="4124325" cy="2732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4256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4256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4000" tIns="144000" rIns="144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et modifiez le titre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524000"/>
            <a:ext cx="8399463" cy="273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</a:p>
        </p:txBody>
      </p:sp>
      <p:sp>
        <p:nvSpPr>
          <p:cNvPr id="3094" name="Rectangle 22"/>
          <p:cNvSpPr>
            <a:spLocks noChangeArrowheads="1"/>
          </p:cNvSpPr>
          <p:nvPr userDrawn="1"/>
        </p:nvSpPr>
        <p:spPr bwMode="auto">
          <a:xfrm>
            <a:off x="0" y="6408738"/>
            <a:ext cx="9144000" cy="444500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GB" sz="1600">
                <a:solidFill>
                  <a:schemeClr val="bg1"/>
                </a:solidFill>
                <a:latin typeface="Arial" charset="0"/>
              </a:rPr>
              <a:t>Laboratory Training for Field Epidemiologists</a:t>
            </a:r>
            <a:endParaRPr lang="en-US" sz="160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095" name="Picture 23" descr="EN-WHOlogoQnew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524750" y="6424613"/>
            <a:ext cx="1368425" cy="43338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40000"/>
        </a:spcAft>
        <a:buClr>
          <a:srgbClr val="000066"/>
        </a:buClr>
        <a:buSzPct val="80000"/>
        <a:buFont typeface="Times"/>
        <a:buChar char="•"/>
        <a:defRPr sz="26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0000"/>
        </a:spcBef>
        <a:spcAft>
          <a:spcPct val="40000"/>
        </a:spcAft>
        <a:buChar char="•"/>
        <a:defRPr sz="24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40000"/>
        </a:spcBef>
        <a:spcAft>
          <a:spcPct val="40000"/>
        </a:spcAft>
        <a:buChar char="•"/>
        <a:defRPr sz="2000"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40000"/>
        </a:spcBef>
        <a:spcAft>
          <a:spcPct val="40000"/>
        </a:spcAft>
        <a:buChar char="–"/>
        <a:defRPr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40000"/>
        </a:spcBef>
        <a:spcAft>
          <a:spcPct val="40000"/>
        </a:spcAft>
        <a:buChar char="»"/>
        <a:defRPr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40000"/>
        </a:spcBef>
        <a:spcAft>
          <a:spcPct val="40000"/>
        </a:spcAft>
        <a:buChar char="»"/>
        <a:defRPr>
          <a:solidFill>
            <a:srgbClr val="000066"/>
          </a:solidFill>
          <a:latin typeface="+mn-lt"/>
        </a:defRPr>
      </a:lvl6pPr>
      <a:lvl7pPr marL="2971800" indent="-228600" algn="l" rtl="0" eaLnBrk="0" fontAlgn="base" hangingPunct="0">
        <a:spcBef>
          <a:spcPct val="40000"/>
        </a:spcBef>
        <a:spcAft>
          <a:spcPct val="40000"/>
        </a:spcAft>
        <a:buChar char="»"/>
        <a:defRPr>
          <a:solidFill>
            <a:srgbClr val="000066"/>
          </a:solidFill>
          <a:latin typeface="+mn-lt"/>
        </a:defRPr>
      </a:lvl7pPr>
      <a:lvl8pPr marL="3429000" indent="-228600" algn="l" rtl="0" eaLnBrk="0" fontAlgn="base" hangingPunct="0">
        <a:spcBef>
          <a:spcPct val="40000"/>
        </a:spcBef>
        <a:spcAft>
          <a:spcPct val="40000"/>
        </a:spcAft>
        <a:buChar char="»"/>
        <a:defRPr>
          <a:solidFill>
            <a:srgbClr val="000066"/>
          </a:solidFill>
          <a:latin typeface="+mn-lt"/>
        </a:defRPr>
      </a:lvl8pPr>
      <a:lvl9pPr marL="3886200" indent="-228600" algn="l" rtl="0" eaLnBrk="0" fontAlgn="base" hangingPunct="0">
        <a:spcBef>
          <a:spcPct val="40000"/>
        </a:spcBef>
        <a:spcAft>
          <a:spcPct val="40000"/>
        </a:spcAft>
        <a:buChar char="»"/>
        <a:defRPr>
          <a:solidFill>
            <a:srgbClr val="0000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ChangeArrowheads="1"/>
          </p:cNvSpPr>
          <p:nvPr/>
        </p:nvSpPr>
        <p:spPr bwMode="auto">
          <a:xfrm>
            <a:off x="385763" y="2100263"/>
            <a:ext cx="8226425" cy="235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4000" tIns="144000" rIns="144000" bIns="0" anchor="ctr"/>
          <a:lstStyle/>
          <a:p>
            <a:pPr algn="ctr"/>
            <a:r>
              <a:rPr lang="fr-CH" sz="4100">
                <a:solidFill>
                  <a:srgbClr val="000066"/>
                </a:solidFill>
                <a:latin typeface="Arial Black" pitchFamily="34" charset="0"/>
              </a:rPr>
              <a:t>Polymerase Chain Reaction</a:t>
            </a:r>
            <a:endParaRPr lang="fr-FR" sz="4100">
              <a:solidFill>
                <a:srgbClr val="000066"/>
              </a:solidFill>
              <a:latin typeface="Arial Black" pitchFamily="34" charset="0"/>
            </a:endParaRPr>
          </a:p>
        </p:txBody>
      </p:sp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741363" y="523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fr-FR"/>
          </a:p>
        </p:txBody>
      </p:sp>
      <p:sp>
        <p:nvSpPr>
          <p:cNvPr id="263179" name="Text Box 11"/>
          <p:cNvSpPr txBox="1">
            <a:spLocks noChangeArrowheads="1"/>
          </p:cNvSpPr>
          <p:nvPr/>
        </p:nvSpPr>
        <p:spPr bwMode="auto">
          <a:xfrm>
            <a:off x="544513" y="166688"/>
            <a:ext cx="5151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Arial" charset="0"/>
              </a:rPr>
              <a:t>Investigation strategies and methods</a:t>
            </a:r>
          </a:p>
        </p:txBody>
      </p:sp>
      <p:sp>
        <p:nvSpPr>
          <p:cNvPr id="263180" name="Text Box 12"/>
          <p:cNvSpPr txBox="1">
            <a:spLocks noChangeArrowheads="1"/>
          </p:cNvSpPr>
          <p:nvPr/>
        </p:nvSpPr>
        <p:spPr bwMode="auto">
          <a:xfrm>
            <a:off x="7578725" y="5757863"/>
            <a:ext cx="1298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>
                <a:latin typeface="Arial" charset="0"/>
                <a:cs typeface="Arial" charset="0"/>
              </a:rPr>
              <a:t>May 2007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objectives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524000"/>
            <a:ext cx="8626475" cy="3787775"/>
          </a:xfrm>
        </p:spPr>
        <p:txBody>
          <a:bodyPr/>
          <a:lstStyle/>
          <a:p>
            <a:pPr marL="495300" indent="-495300">
              <a:buFont typeface="Times"/>
              <a:buNone/>
            </a:pPr>
            <a:r>
              <a:rPr lang="en-GB"/>
              <a:t>At the end of the presentation, participants should know:</a:t>
            </a:r>
          </a:p>
          <a:p>
            <a:pPr marL="876300" lvl="1" indent="-419100"/>
            <a:r>
              <a:rPr lang="nl-NL"/>
              <a:t>History of polymerase chain reaction (PCR)</a:t>
            </a:r>
          </a:p>
          <a:p>
            <a:pPr marL="876300" lvl="1" indent="-419100"/>
            <a:r>
              <a:rPr lang="nl-NL"/>
              <a:t>Definition and short technical overview of PCR</a:t>
            </a:r>
          </a:p>
          <a:p>
            <a:pPr marL="876300" lvl="1" indent="-419100"/>
            <a:r>
              <a:rPr lang="en-GB"/>
              <a:t>Applications of PCR</a:t>
            </a:r>
          </a:p>
          <a:p>
            <a:pPr marL="876300" lvl="1" indent="-419100"/>
            <a:r>
              <a:rPr lang="en-GB"/>
              <a:t>Restrictions of PCR</a:t>
            </a:r>
          </a:p>
          <a:p>
            <a:pPr marL="876300" lvl="1" indent="-419100"/>
            <a:r>
              <a:rPr lang="en-GB"/>
              <a:t>Examples for diagnostics with PCR</a:t>
            </a:r>
            <a:endParaRPr lang="en-GB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History of PCR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1203325"/>
          </a:xfrm>
        </p:spPr>
        <p:txBody>
          <a:bodyPr/>
          <a:lstStyle/>
          <a:p>
            <a:pPr>
              <a:buFont typeface="Times"/>
              <a:buNone/>
            </a:pPr>
            <a:r>
              <a:rPr lang="en-GB"/>
              <a:t>Invented and patented in 1983</a:t>
            </a:r>
          </a:p>
          <a:p>
            <a:pPr>
              <a:buFont typeface="Times"/>
              <a:buNone/>
            </a:pPr>
            <a:r>
              <a:rPr lang="en-GB"/>
              <a:t>Revolutionary technique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PRC overview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525" y="1614488"/>
            <a:ext cx="8399463" cy="2632075"/>
          </a:xfrm>
        </p:spPr>
        <p:txBody>
          <a:bodyPr/>
          <a:lstStyle/>
          <a:p>
            <a:pPr>
              <a:buFont typeface="Times"/>
              <a:buNone/>
            </a:pPr>
            <a:r>
              <a:rPr lang="nl-NL"/>
              <a:t>Enzymatic DNA amplification</a:t>
            </a:r>
          </a:p>
          <a:p>
            <a:pPr>
              <a:buFont typeface="Times"/>
              <a:buNone/>
            </a:pPr>
            <a:r>
              <a:rPr lang="nl-NL"/>
              <a:t>Need two short sequences on the DNA</a:t>
            </a:r>
          </a:p>
          <a:p>
            <a:pPr>
              <a:buFont typeface="Times"/>
              <a:buNone/>
            </a:pPr>
            <a:r>
              <a:rPr lang="nl-NL"/>
              <a:t>Repetition of 30-35 cycles of three steps</a:t>
            </a:r>
          </a:p>
          <a:p>
            <a:endParaRPr lang="nl-NL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Technical overview</a:t>
            </a:r>
            <a:endParaRPr lang="en-GB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3103563"/>
          </a:xfrm>
        </p:spPr>
        <p:txBody>
          <a:bodyPr/>
          <a:lstStyle/>
          <a:p>
            <a:pPr>
              <a:buFont typeface="Times"/>
              <a:buNone/>
            </a:pPr>
            <a:r>
              <a:rPr lang="nl-NL"/>
              <a:t>DNA consists of four elements: A, C, G and T</a:t>
            </a:r>
          </a:p>
          <a:p>
            <a:pPr>
              <a:buFont typeface="Times"/>
              <a:buNone/>
            </a:pPr>
            <a:r>
              <a:rPr lang="nl-NL"/>
              <a:t>DNA molecule </a:t>
            </a:r>
          </a:p>
          <a:p>
            <a:pPr lvl="1"/>
            <a:r>
              <a:rPr lang="nl-NL"/>
              <a:t>Double stranded DNA strands </a:t>
            </a:r>
          </a:p>
          <a:p>
            <a:pPr lvl="1"/>
            <a:r>
              <a:rPr lang="nl-NL"/>
              <a:t>Bound together by chemical forces</a:t>
            </a:r>
          </a:p>
          <a:p>
            <a:pPr lvl="2">
              <a:buFont typeface="Times"/>
              <a:buChar char="–"/>
            </a:pPr>
            <a:r>
              <a:rPr lang="nl-NL"/>
              <a:t>Exception: single stranded DNA/RNA viruses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57275"/>
          </a:xfrm>
        </p:spPr>
        <p:txBody>
          <a:bodyPr/>
          <a:lstStyle/>
          <a:p>
            <a:r>
              <a:rPr lang="nl-NL"/>
              <a:t>Background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1981200"/>
            <a:ext cx="7772400" cy="4060825"/>
          </a:xfrm>
        </p:spPr>
        <p:txBody>
          <a:bodyPr/>
          <a:lstStyle/>
          <a:p>
            <a:pPr>
              <a:buFont typeface="Times"/>
              <a:buNone/>
            </a:pPr>
            <a:r>
              <a:rPr lang="nl-NL"/>
              <a:t>Double stranded DNA:</a:t>
            </a:r>
          </a:p>
          <a:p>
            <a:endParaRPr lang="nl-NL"/>
          </a:p>
          <a:p>
            <a:endParaRPr lang="nl-NL"/>
          </a:p>
          <a:p>
            <a:endParaRPr lang="nl-NL"/>
          </a:p>
          <a:p>
            <a:pPr>
              <a:buFont typeface="Times"/>
              <a:buNone/>
            </a:pPr>
            <a:r>
              <a:rPr lang="nl-NL"/>
              <a:t>…….A T G G C A T A T C G……..</a:t>
            </a:r>
          </a:p>
          <a:p>
            <a:pPr>
              <a:buFont typeface="Times"/>
              <a:buNone/>
            </a:pPr>
            <a:r>
              <a:rPr lang="nl-NL"/>
              <a:t>…….T A C C G T A T A G C…….. </a:t>
            </a:r>
          </a:p>
        </p:txBody>
      </p:sp>
      <p:sp>
        <p:nvSpPr>
          <p:cNvPr id="274436" name="Line 4"/>
          <p:cNvSpPr>
            <a:spLocks noChangeShapeType="1"/>
          </p:cNvSpPr>
          <p:nvPr/>
        </p:nvSpPr>
        <p:spPr bwMode="auto">
          <a:xfrm>
            <a:off x="1477963" y="3276600"/>
            <a:ext cx="597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4437" name="Line 5"/>
          <p:cNvSpPr>
            <a:spLocks noChangeShapeType="1"/>
          </p:cNvSpPr>
          <p:nvPr/>
        </p:nvSpPr>
        <p:spPr bwMode="auto">
          <a:xfrm>
            <a:off x="1406525" y="3657600"/>
            <a:ext cx="6119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4438" name="Freeform 6"/>
          <p:cNvSpPr>
            <a:spLocks/>
          </p:cNvSpPr>
          <p:nvPr/>
        </p:nvSpPr>
        <p:spPr bwMode="auto">
          <a:xfrm>
            <a:off x="4502150" y="1536700"/>
            <a:ext cx="2439988" cy="1333500"/>
          </a:xfrm>
          <a:custGeom>
            <a:avLst/>
            <a:gdLst/>
            <a:ahLst/>
            <a:cxnLst>
              <a:cxn ang="0">
                <a:pos x="162" y="130"/>
              </a:cxn>
              <a:cxn ang="0">
                <a:pos x="114" y="146"/>
              </a:cxn>
              <a:cxn ang="0">
                <a:pos x="49" y="244"/>
              </a:cxn>
              <a:cxn ang="0">
                <a:pos x="195" y="373"/>
              </a:cxn>
              <a:cxn ang="0">
                <a:pos x="503" y="357"/>
              </a:cxn>
              <a:cxn ang="0">
                <a:pos x="487" y="276"/>
              </a:cxn>
              <a:cxn ang="0">
                <a:pos x="454" y="308"/>
              </a:cxn>
              <a:cxn ang="0">
                <a:pos x="406" y="325"/>
              </a:cxn>
              <a:cxn ang="0">
                <a:pos x="373" y="357"/>
              </a:cxn>
              <a:cxn ang="0">
                <a:pos x="357" y="406"/>
              </a:cxn>
              <a:cxn ang="0">
                <a:pos x="292" y="422"/>
              </a:cxn>
              <a:cxn ang="0">
                <a:pos x="260" y="373"/>
              </a:cxn>
              <a:cxn ang="0">
                <a:pos x="292" y="325"/>
              </a:cxn>
              <a:cxn ang="0">
                <a:pos x="438" y="244"/>
              </a:cxn>
              <a:cxn ang="0">
                <a:pos x="422" y="179"/>
              </a:cxn>
              <a:cxn ang="0">
                <a:pos x="325" y="146"/>
              </a:cxn>
              <a:cxn ang="0">
                <a:pos x="552" y="179"/>
              </a:cxn>
              <a:cxn ang="0">
                <a:pos x="536" y="130"/>
              </a:cxn>
              <a:cxn ang="0">
                <a:pos x="406" y="114"/>
              </a:cxn>
              <a:cxn ang="0">
                <a:pos x="227" y="130"/>
              </a:cxn>
              <a:cxn ang="0">
                <a:pos x="179" y="81"/>
              </a:cxn>
              <a:cxn ang="0">
                <a:pos x="130" y="65"/>
              </a:cxn>
              <a:cxn ang="0">
                <a:pos x="0" y="227"/>
              </a:cxn>
              <a:cxn ang="0">
                <a:pos x="17" y="276"/>
              </a:cxn>
              <a:cxn ang="0">
                <a:pos x="162" y="276"/>
              </a:cxn>
              <a:cxn ang="0">
                <a:pos x="179" y="227"/>
              </a:cxn>
              <a:cxn ang="0">
                <a:pos x="146" y="260"/>
              </a:cxn>
              <a:cxn ang="0">
                <a:pos x="81" y="341"/>
              </a:cxn>
              <a:cxn ang="0">
                <a:pos x="98" y="406"/>
              </a:cxn>
              <a:cxn ang="0">
                <a:pos x="162" y="325"/>
              </a:cxn>
              <a:cxn ang="0">
                <a:pos x="179" y="390"/>
              </a:cxn>
              <a:cxn ang="0">
                <a:pos x="211" y="357"/>
              </a:cxn>
              <a:cxn ang="0">
                <a:pos x="260" y="325"/>
              </a:cxn>
              <a:cxn ang="0">
                <a:pos x="292" y="49"/>
              </a:cxn>
              <a:cxn ang="0">
                <a:pos x="390" y="0"/>
              </a:cxn>
              <a:cxn ang="0">
                <a:pos x="390" y="114"/>
              </a:cxn>
              <a:cxn ang="0">
                <a:pos x="357" y="81"/>
              </a:cxn>
              <a:cxn ang="0">
                <a:pos x="390" y="49"/>
              </a:cxn>
              <a:cxn ang="0">
                <a:pos x="438" y="162"/>
              </a:cxn>
              <a:cxn ang="0">
                <a:pos x="503" y="81"/>
              </a:cxn>
              <a:cxn ang="0">
                <a:pos x="454" y="98"/>
              </a:cxn>
              <a:cxn ang="0">
                <a:pos x="438" y="227"/>
              </a:cxn>
              <a:cxn ang="0">
                <a:pos x="487" y="211"/>
              </a:cxn>
              <a:cxn ang="0">
                <a:pos x="471" y="276"/>
              </a:cxn>
            </a:cxnLst>
            <a:rect l="0" t="0" r="r" b="b"/>
            <a:pathLst>
              <a:path w="568" h="426">
                <a:moveTo>
                  <a:pt x="162" y="130"/>
                </a:moveTo>
                <a:cubicBezTo>
                  <a:pt x="146" y="135"/>
                  <a:pt x="126" y="134"/>
                  <a:pt x="114" y="146"/>
                </a:cubicBezTo>
                <a:cubicBezTo>
                  <a:pt x="86" y="174"/>
                  <a:pt x="49" y="244"/>
                  <a:pt x="49" y="244"/>
                </a:cubicBezTo>
                <a:cubicBezTo>
                  <a:pt x="74" y="369"/>
                  <a:pt x="66" y="352"/>
                  <a:pt x="195" y="373"/>
                </a:cubicBezTo>
                <a:cubicBezTo>
                  <a:pt x="298" y="368"/>
                  <a:pt x="405" y="389"/>
                  <a:pt x="503" y="357"/>
                </a:cubicBezTo>
                <a:cubicBezTo>
                  <a:pt x="529" y="348"/>
                  <a:pt x="506" y="295"/>
                  <a:pt x="487" y="276"/>
                </a:cubicBezTo>
                <a:cubicBezTo>
                  <a:pt x="476" y="265"/>
                  <a:pt x="467" y="300"/>
                  <a:pt x="454" y="308"/>
                </a:cubicBezTo>
                <a:cubicBezTo>
                  <a:pt x="439" y="317"/>
                  <a:pt x="422" y="319"/>
                  <a:pt x="406" y="325"/>
                </a:cubicBezTo>
                <a:cubicBezTo>
                  <a:pt x="395" y="336"/>
                  <a:pt x="381" y="344"/>
                  <a:pt x="373" y="357"/>
                </a:cubicBezTo>
                <a:cubicBezTo>
                  <a:pt x="364" y="372"/>
                  <a:pt x="370" y="395"/>
                  <a:pt x="357" y="406"/>
                </a:cubicBezTo>
                <a:cubicBezTo>
                  <a:pt x="340" y="420"/>
                  <a:pt x="314" y="417"/>
                  <a:pt x="292" y="422"/>
                </a:cubicBezTo>
                <a:cubicBezTo>
                  <a:pt x="281" y="406"/>
                  <a:pt x="260" y="393"/>
                  <a:pt x="260" y="373"/>
                </a:cubicBezTo>
                <a:cubicBezTo>
                  <a:pt x="260" y="354"/>
                  <a:pt x="277" y="338"/>
                  <a:pt x="292" y="325"/>
                </a:cubicBezTo>
                <a:cubicBezTo>
                  <a:pt x="361" y="265"/>
                  <a:pt x="371" y="266"/>
                  <a:pt x="438" y="244"/>
                </a:cubicBezTo>
                <a:cubicBezTo>
                  <a:pt x="433" y="222"/>
                  <a:pt x="439" y="194"/>
                  <a:pt x="422" y="179"/>
                </a:cubicBezTo>
                <a:cubicBezTo>
                  <a:pt x="396" y="157"/>
                  <a:pt x="325" y="146"/>
                  <a:pt x="325" y="146"/>
                </a:cubicBezTo>
                <a:cubicBezTo>
                  <a:pt x="359" y="249"/>
                  <a:pt x="341" y="249"/>
                  <a:pt x="552" y="179"/>
                </a:cubicBezTo>
                <a:cubicBezTo>
                  <a:pt x="568" y="174"/>
                  <a:pt x="552" y="137"/>
                  <a:pt x="536" y="130"/>
                </a:cubicBezTo>
                <a:cubicBezTo>
                  <a:pt x="496" y="112"/>
                  <a:pt x="449" y="119"/>
                  <a:pt x="406" y="114"/>
                </a:cubicBezTo>
                <a:cubicBezTo>
                  <a:pt x="346" y="119"/>
                  <a:pt x="286" y="139"/>
                  <a:pt x="227" y="130"/>
                </a:cubicBezTo>
                <a:cubicBezTo>
                  <a:pt x="204" y="127"/>
                  <a:pt x="198" y="94"/>
                  <a:pt x="179" y="81"/>
                </a:cubicBezTo>
                <a:cubicBezTo>
                  <a:pt x="165" y="71"/>
                  <a:pt x="146" y="70"/>
                  <a:pt x="130" y="65"/>
                </a:cubicBezTo>
                <a:cubicBezTo>
                  <a:pt x="18" y="102"/>
                  <a:pt x="60" y="139"/>
                  <a:pt x="0" y="227"/>
                </a:cubicBezTo>
                <a:cubicBezTo>
                  <a:pt x="6" y="243"/>
                  <a:pt x="4" y="265"/>
                  <a:pt x="17" y="276"/>
                </a:cubicBezTo>
                <a:cubicBezTo>
                  <a:pt x="58" y="309"/>
                  <a:pt x="122" y="284"/>
                  <a:pt x="162" y="276"/>
                </a:cubicBezTo>
                <a:cubicBezTo>
                  <a:pt x="168" y="260"/>
                  <a:pt x="191" y="239"/>
                  <a:pt x="179" y="227"/>
                </a:cubicBezTo>
                <a:cubicBezTo>
                  <a:pt x="168" y="216"/>
                  <a:pt x="156" y="248"/>
                  <a:pt x="146" y="260"/>
                </a:cubicBezTo>
                <a:cubicBezTo>
                  <a:pt x="63" y="363"/>
                  <a:pt x="161" y="261"/>
                  <a:pt x="81" y="341"/>
                </a:cubicBezTo>
                <a:cubicBezTo>
                  <a:pt x="87" y="363"/>
                  <a:pt x="78" y="396"/>
                  <a:pt x="98" y="406"/>
                </a:cubicBezTo>
                <a:cubicBezTo>
                  <a:pt x="139" y="426"/>
                  <a:pt x="158" y="337"/>
                  <a:pt x="162" y="325"/>
                </a:cubicBezTo>
                <a:cubicBezTo>
                  <a:pt x="168" y="347"/>
                  <a:pt x="160" y="378"/>
                  <a:pt x="179" y="390"/>
                </a:cubicBezTo>
                <a:cubicBezTo>
                  <a:pt x="192" y="398"/>
                  <a:pt x="199" y="367"/>
                  <a:pt x="211" y="357"/>
                </a:cubicBezTo>
                <a:cubicBezTo>
                  <a:pt x="226" y="345"/>
                  <a:pt x="244" y="336"/>
                  <a:pt x="260" y="325"/>
                </a:cubicBezTo>
                <a:cubicBezTo>
                  <a:pt x="282" y="235"/>
                  <a:pt x="268" y="138"/>
                  <a:pt x="292" y="49"/>
                </a:cubicBezTo>
                <a:cubicBezTo>
                  <a:pt x="298" y="25"/>
                  <a:pt x="372" y="6"/>
                  <a:pt x="390" y="0"/>
                </a:cubicBezTo>
                <a:cubicBezTo>
                  <a:pt x="399" y="27"/>
                  <a:pt x="429" y="89"/>
                  <a:pt x="390" y="114"/>
                </a:cubicBezTo>
                <a:cubicBezTo>
                  <a:pt x="377" y="123"/>
                  <a:pt x="368" y="92"/>
                  <a:pt x="357" y="81"/>
                </a:cubicBezTo>
                <a:cubicBezTo>
                  <a:pt x="368" y="70"/>
                  <a:pt x="375" y="45"/>
                  <a:pt x="390" y="49"/>
                </a:cubicBezTo>
                <a:cubicBezTo>
                  <a:pt x="419" y="57"/>
                  <a:pt x="434" y="146"/>
                  <a:pt x="438" y="162"/>
                </a:cubicBezTo>
                <a:cubicBezTo>
                  <a:pt x="439" y="161"/>
                  <a:pt x="536" y="113"/>
                  <a:pt x="503" y="81"/>
                </a:cubicBezTo>
                <a:cubicBezTo>
                  <a:pt x="491" y="69"/>
                  <a:pt x="470" y="92"/>
                  <a:pt x="454" y="98"/>
                </a:cubicBezTo>
                <a:cubicBezTo>
                  <a:pt x="429" y="135"/>
                  <a:pt x="386" y="175"/>
                  <a:pt x="438" y="227"/>
                </a:cubicBezTo>
                <a:cubicBezTo>
                  <a:pt x="450" y="239"/>
                  <a:pt x="471" y="216"/>
                  <a:pt x="487" y="211"/>
                </a:cubicBezTo>
                <a:cubicBezTo>
                  <a:pt x="482" y="233"/>
                  <a:pt x="471" y="276"/>
                  <a:pt x="471" y="276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4439" name="AutoShape 7"/>
          <p:cNvSpPr>
            <a:spLocks noChangeArrowheads="1"/>
          </p:cNvSpPr>
          <p:nvPr/>
        </p:nvSpPr>
        <p:spPr bwMode="auto">
          <a:xfrm rot="4565142">
            <a:off x="6700838" y="1931988"/>
            <a:ext cx="2108200" cy="1003300"/>
          </a:xfrm>
          <a:custGeom>
            <a:avLst/>
            <a:gdLst>
              <a:gd name="G0" fmla="+- 0 0 0"/>
              <a:gd name="G1" fmla="+- 9391851 0 0"/>
              <a:gd name="G2" fmla="+- 0 0 9391851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9391851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391851"/>
              <a:gd name="G36" fmla="sin G34 9391851"/>
              <a:gd name="G37" fmla="+/ 9391851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7400 w 21600"/>
              <a:gd name="T5" fmla="*/ 548 h 21600"/>
              <a:gd name="T6" fmla="*/ 4304 w 21600"/>
              <a:gd name="T7" fmla="*/ 15639 h 21600"/>
              <a:gd name="T8" fmla="*/ 9100 w 21600"/>
              <a:gd name="T9" fmla="*/ 5674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cubicBezTo>
                  <a:pt x="5399" y="11962"/>
                  <a:pt x="5775" y="13094"/>
                  <a:pt x="6469" y="14026"/>
                </a:cubicBezTo>
                <a:lnTo>
                  <a:pt x="2139" y="17253"/>
                </a:lnTo>
                <a:cubicBezTo>
                  <a:pt x="750" y="15388"/>
                  <a:pt x="0" y="1312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4440" name="Rectangle 8"/>
          <p:cNvSpPr>
            <a:spLocks noChangeArrowheads="1"/>
          </p:cNvSpPr>
          <p:nvPr/>
        </p:nvSpPr>
        <p:spPr bwMode="auto">
          <a:xfrm>
            <a:off x="5345113" y="1752600"/>
            <a:ext cx="633412" cy="304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What you need for PCR</a:t>
            </a:r>
            <a:endParaRPr lang="en-GB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41116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nl-NL"/>
              <a:t>Two short DNA fragment that stick specifically to each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nl-NL"/>
              <a:t>of the DNA strands at some distance of each other</a:t>
            </a:r>
          </a:p>
          <a:p>
            <a:pPr>
              <a:buFont typeface="Times"/>
              <a:buNone/>
            </a:pPr>
            <a:endParaRPr lang="nl-NL" sz="1200"/>
          </a:p>
          <a:p>
            <a:pPr>
              <a:buFont typeface="Times"/>
              <a:buNone/>
            </a:pPr>
            <a:r>
              <a:rPr lang="nl-NL"/>
              <a:t>Primers</a:t>
            </a:r>
          </a:p>
          <a:p>
            <a:pPr lvl="1"/>
            <a:r>
              <a:rPr lang="nl-NL"/>
              <a:t>Can be specific for: </a:t>
            </a:r>
          </a:p>
          <a:p>
            <a:pPr lvl="2">
              <a:buFont typeface="Times"/>
              <a:buChar char="–"/>
            </a:pPr>
            <a:r>
              <a:rPr lang="nl-NL"/>
              <a:t>A certain bacterium</a:t>
            </a:r>
          </a:p>
          <a:p>
            <a:pPr lvl="2">
              <a:buFont typeface="Times"/>
              <a:buChar char="–"/>
            </a:pPr>
            <a:r>
              <a:rPr lang="nl-NL"/>
              <a:t>Bacterial species </a:t>
            </a:r>
          </a:p>
          <a:p>
            <a:pPr lvl="2">
              <a:buFont typeface="Times"/>
              <a:buChar char="–"/>
            </a:pPr>
            <a:r>
              <a:rPr lang="nl-NL"/>
              <a:t>Genes (e.g., toxin gene)	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What you need for PCR</a:t>
            </a:r>
            <a:endParaRPr lang="en-GB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27114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nl-NL"/>
              <a:t>Apparatus to perform about 35 cycles of a three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nl-NL"/>
              <a:t>temperature procedure</a:t>
            </a:r>
          </a:p>
          <a:p>
            <a:pPr lvl="1"/>
            <a:r>
              <a:rPr lang="nl-NL"/>
              <a:t>95 </a:t>
            </a:r>
            <a:r>
              <a:rPr lang="en-US">
                <a:cs typeface="Arial" charset="0"/>
              </a:rPr>
              <a:t>°</a:t>
            </a:r>
            <a:r>
              <a:rPr lang="nl-NL"/>
              <a:t>C (denaturation of DNA)</a:t>
            </a:r>
          </a:p>
          <a:p>
            <a:pPr lvl="1"/>
            <a:r>
              <a:rPr lang="nl-NL"/>
              <a:t>50-60 </a:t>
            </a:r>
            <a:r>
              <a:rPr lang="en-US">
                <a:cs typeface="Arial" charset="0"/>
              </a:rPr>
              <a:t>°</a:t>
            </a:r>
            <a:r>
              <a:rPr lang="nl-NL"/>
              <a:t>C (annealing of primers)</a:t>
            </a:r>
          </a:p>
          <a:p>
            <a:pPr lvl="1"/>
            <a:r>
              <a:rPr lang="nl-NL"/>
              <a:t>72 </a:t>
            </a:r>
            <a:r>
              <a:rPr lang="en-US">
                <a:cs typeface="Arial" charset="0"/>
              </a:rPr>
              <a:t>°</a:t>
            </a:r>
            <a:r>
              <a:rPr lang="nl-NL"/>
              <a:t>C (extension of the primers)	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What you need for PCR</a:t>
            </a:r>
            <a:endParaRPr lang="en-GB"/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3130550"/>
          </a:xfrm>
        </p:spPr>
        <p:txBody>
          <a:bodyPr/>
          <a:lstStyle/>
          <a:p>
            <a:pPr>
              <a:buFont typeface="Times"/>
              <a:buNone/>
            </a:pPr>
            <a:r>
              <a:rPr lang="nl-NL"/>
              <a:t>Put into one reaction tube:</a:t>
            </a:r>
          </a:p>
          <a:p>
            <a:pPr lvl="1"/>
            <a:r>
              <a:rPr lang="nl-NL"/>
              <a:t>Sample (+/- target DNA)</a:t>
            </a:r>
          </a:p>
          <a:p>
            <a:pPr lvl="1"/>
            <a:r>
              <a:rPr lang="nl-NL"/>
              <a:t>Primers for the specific detection</a:t>
            </a:r>
          </a:p>
          <a:p>
            <a:pPr lvl="1"/>
            <a:r>
              <a:rPr lang="nl-NL"/>
              <a:t>Nucleotides</a:t>
            </a:r>
          </a:p>
          <a:p>
            <a:pPr lvl="1"/>
            <a:r>
              <a:rPr lang="nl-NL"/>
              <a:t>Enzyme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Performing PCR</a:t>
            </a:r>
            <a:endParaRPr lang="en-GB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4003675"/>
          </a:xfrm>
        </p:spPr>
        <p:txBody>
          <a:bodyPr/>
          <a:lstStyle/>
          <a:p>
            <a:pPr marL="495300" indent="-495300">
              <a:buFont typeface="Times"/>
              <a:buAutoNum type="arabicPeriod"/>
            </a:pPr>
            <a:r>
              <a:rPr lang="nl-NL"/>
              <a:t>Put your tube in the apparatus</a:t>
            </a:r>
          </a:p>
          <a:p>
            <a:pPr marL="495300" indent="-495300">
              <a:buFont typeface="Times"/>
              <a:buAutoNum type="arabicPeriod"/>
            </a:pPr>
            <a:r>
              <a:rPr lang="en-GB"/>
              <a:t>Let the program run (35 cycles)</a:t>
            </a:r>
          </a:p>
          <a:p>
            <a:pPr marL="495300" indent="-495300">
              <a:buFont typeface="Times"/>
              <a:buAutoNum type="arabicPeriod"/>
            </a:pPr>
            <a:r>
              <a:rPr lang="en-GB"/>
              <a:t>If primers fit, there is amplification of target DNA</a:t>
            </a:r>
          </a:p>
          <a:p>
            <a:pPr marL="495300" indent="-495300">
              <a:buFont typeface="Times"/>
              <a:buAutoNum type="arabicPeriod"/>
            </a:pPr>
            <a:r>
              <a:rPr lang="en-GB"/>
              <a:t>If primers do not fit, no amplification product</a:t>
            </a:r>
          </a:p>
          <a:p>
            <a:pPr marL="876300" lvl="1" indent="-419100">
              <a:buFont typeface="Times"/>
              <a:buNone/>
            </a:pPr>
            <a:r>
              <a:rPr lang="en-GB"/>
              <a:t>	=&gt; the DNA (micro-organism) was not in the sample</a:t>
            </a:r>
          </a:p>
          <a:p>
            <a:pPr marL="495300" indent="-495300">
              <a:buFont typeface="Times"/>
              <a:buAutoNum type="arabicPeriod"/>
            </a:pPr>
            <a:r>
              <a:rPr lang="en-GB"/>
              <a:t>Detect if there is PCR product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554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79555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9556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79557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79558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9559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7956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Logaritmic multiplication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602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81603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04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1605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81606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07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1608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81609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10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1611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81612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13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1614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81615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16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1617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81618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619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81620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Logaritmic multiplication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650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83651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52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53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83654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55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56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83657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58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59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83660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61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62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83663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64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65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83666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667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3668" name="Group 20"/>
          <p:cNvGrpSpPr>
            <a:grpSpLocks/>
          </p:cNvGrpSpPr>
          <p:nvPr/>
        </p:nvGrpSpPr>
        <p:grpSpPr bwMode="auto">
          <a:xfrm>
            <a:off x="1547813" y="4038600"/>
            <a:ext cx="5133975" cy="1066800"/>
            <a:chOff x="1056" y="2544"/>
            <a:chExt cx="3504" cy="672"/>
          </a:xfrm>
        </p:grpSpPr>
        <p:grpSp>
          <p:nvGrpSpPr>
            <p:cNvPr id="283669" name="Group 2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3670" name="Group 2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3671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72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73" name="Group 2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3674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75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76" name="Group 2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3677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78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79" name="Group 3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368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8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3682" name="Group 3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3683" name="Group 3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368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8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86" name="Group 3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3687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88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89" name="Group 4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3690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9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3692" name="Group 4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369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3694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83695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Logaritmic multiplication</a:t>
            </a:r>
            <a:endParaRPr lang="en-GB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698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85699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00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01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85702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03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04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85705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06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07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85708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09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10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85711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12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13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85714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5715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5716" name="Group 20"/>
          <p:cNvGrpSpPr>
            <a:grpSpLocks/>
          </p:cNvGrpSpPr>
          <p:nvPr/>
        </p:nvGrpSpPr>
        <p:grpSpPr bwMode="auto">
          <a:xfrm>
            <a:off x="1547813" y="4038600"/>
            <a:ext cx="5133975" cy="1066800"/>
            <a:chOff x="1056" y="2544"/>
            <a:chExt cx="3504" cy="672"/>
          </a:xfrm>
        </p:grpSpPr>
        <p:grpSp>
          <p:nvGrpSpPr>
            <p:cNvPr id="285717" name="Group 2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5718" name="Group 2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5719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20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21" name="Group 2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5722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23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24" name="Group 2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572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26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27" name="Group 3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5728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29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5730" name="Group 3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5731" name="Group 3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5732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33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34" name="Group 3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5735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36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37" name="Group 4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573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39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40" name="Group 4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5741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42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85743" name="Group 47"/>
          <p:cNvGrpSpPr>
            <a:grpSpLocks/>
          </p:cNvGrpSpPr>
          <p:nvPr/>
        </p:nvGrpSpPr>
        <p:grpSpPr bwMode="auto">
          <a:xfrm>
            <a:off x="1547813" y="5334000"/>
            <a:ext cx="5133975" cy="1066800"/>
            <a:chOff x="1056" y="2544"/>
            <a:chExt cx="3504" cy="672"/>
          </a:xfrm>
        </p:grpSpPr>
        <p:grpSp>
          <p:nvGrpSpPr>
            <p:cNvPr id="285744" name="Group 48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5745" name="Group 49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5746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47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48" name="Group 52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5749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50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51" name="Group 55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5752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53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54" name="Group 58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5755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56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5757" name="Group 61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5758" name="Group 6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5759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60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61" name="Group 6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5762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63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64" name="Group 6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5765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66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5767" name="Group 7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5768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5769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85770" name="Rectangle 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Logaritmic multiplication</a:t>
            </a:r>
            <a:endParaRPr lang="en-GB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746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87747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48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49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87750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51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52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87753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54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55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87756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57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58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87759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60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61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87762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763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7764" name="Group 20"/>
          <p:cNvGrpSpPr>
            <a:grpSpLocks/>
          </p:cNvGrpSpPr>
          <p:nvPr/>
        </p:nvGrpSpPr>
        <p:grpSpPr bwMode="auto">
          <a:xfrm>
            <a:off x="1547813" y="4038600"/>
            <a:ext cx="5133975" cy="1066800"/>
            <a:chOff x="1056" y="2544"/>
            <a:chExt cx="3504" cy="672"/>
          </a:xfrm>
        </p:grpSpPr>
        <p:grpSp>
          <p:nvGrpSpPr>
            <p:cNvPr id="287765" name="Group 2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7766" name="Group 2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767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68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69" name="Group 2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770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71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72" name="Group 2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773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74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75" name="Group 3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776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77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7778" name="Group 3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7779" name="Group 3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780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81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82" name="Group 3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783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84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85" name="Group 4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786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8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88" name="Group 4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789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90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87791" name="Rectangle 47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nl-NL"/>
              <a:t>Logaritmic multiplication</a:t>
            </a:r>
          </a:p>
        </p:txBody>
      </p:sp>
      <p:grpSp>
        <p:nvGrpSpPr>
          <p:cNvPr id="287792" name="Group 48"/>
          <p:cNvGrpSpPr>
            <a:grpSpLocks/>
          </p:cNvGrpSpPr>
          <p:nvPr/>
        </p:nvGrpSpPr>
        <p:grpSpPr bwMode="auto">
          <a:xfrm>
            <a:off x="1547813" y="5334000"/>
            <a:ext cx="5133975" cy="1066800"/>
            <a:chOff x="1056" y="2544"/>
            <a:chExt cx="3504" cy="672"/>
          </a:xfrm>
        </p:grpSpPr>
        <p:grpSp>
          <p:nvGrpSpPr>
            <p:cNvPr id="287793" name="Group 49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7794" name="Group 5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795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96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797" name="Group 5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79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799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00" name="Group 5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01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02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03" name="Group 5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04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05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7806" name="Group 62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7807" name="Group 63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808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09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10" name="Group 66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811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12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13" name="Group 69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14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15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16" name="Group 72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17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18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87819" name="Group 75"/>
          <p:cNvGrpSpPr>
            <a:grpSpLocks/>
          </p:cNvGrpSpPr>
          <p:nvPr/>
        </p:nvGrpSpPr>
        <p:grpSpPr bwMode="auto">
          <a:xfrm>
            <a:off x="280988" y="228600"/>
            <a:ext cx="5135562" cy="1066800"/>
            <a:chOff x="1056" y="2544"/>
            <a:chExt cx="3504" cy="672"/>
          </a:xfrm>
        </p:grpSpPr>
        <p:grpSp>
          <p:nvGrpSpPr>
            <p:cNvPr id="287820" name="Group 76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7821" name="Group 7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82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2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24" name="Group 8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825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26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27" name="Group 8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2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29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30" name="Group 8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31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32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7833" name="Group 89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7834" name="Group 9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835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36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37" name="Group 9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838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39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40" name="Group 9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41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42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43" name="Group 9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44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45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87846" name="Group 102"/>
          <p:cNvGrpSpPr>
            <a:grpSpLocks/>
          </p:cNvGrpSpPr>
          <p:nvPr/>
        </p:nvGrpSpPr>
        <p:grpSpPr bwMode="auto">
          <a:xfrm>
            <a:off x="3516313" y="914400"/>
            <a:ext cx="5135562" cy="1066800"/>
            <a:chOff x="1056" y="2544"/>
            <a:chExt cx="3504" cy="672"/>
          </a:xfrm>
        </p:grpSpPr>
        <p:grpSp>
          <p:nvGrpSpPr>
            <p:cNvPr id="287847" name="Group 103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7848" name="Group 10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849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50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51" name="Group 10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852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53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54" name="Group 11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55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56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57" name="Group 11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58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59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7860" name="Group 116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7861" name="Group 11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7862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63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64" name="Group 12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7865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66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67" name="Group 12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7868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69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7870" name="Group 12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7871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7872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794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89795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796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797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89798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799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800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89801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802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803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89804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805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806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89807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808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809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89810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9811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9812" name="Group 20"/>
          <p:cNvGrpSpPr>
            <a:grpSpLocks/>
          </p:cNvGrpSpPr>
          <p:nvPr/>
        </p:nvGrpSpPr>
        <p:grpSpPr bwMode="auto">
          <a:xfrm>
            <a:off x="1547813" y="4038600"/>
            <a:ext cx="5133975" cy="1066800"/>
            <a:chOff x="1056" y="2544"/>
            <a:chExt cx="3504" cy="672"/>
          </a:xfrm>
        </p:grpSpPr>
        <p:grpSp>
          <p:nvGrpSpPr>
            <p:cNvPr id="289813" name="Group 2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9814" name="Group 2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15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16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17" name="Group 2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1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19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20" name="Group 2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21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2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23" name="Group 3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24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25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9826" name="Group 3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9827" name="Group 3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28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29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30" name="Group 3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31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32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33" name="Group 4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34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35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36" name="Group 4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37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38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89839" name="Rectangle 47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nl-NL"/>
              <a:t>Logaritmic multiplication</a:t>
            </a:r>
          </a:p>
        </p:txBody>
      </p:sp>
      <p:grpSp>
        <p:nvGrpSpPr>
          <p:cNvPr id="289840" name="Group 48"/>
          <p:cNvGrpSpPr>
            <a:grpSpLocks/>
          </p:cNvGrpSpPr>
          <p:nvPr/>
        </p:nvGrpSpPr>
        <p:grpSpPr bwMode="auto">
          <a:xfrm>
            <a:off x="1547813" y="5334000"/>
            <a:ext cx="5133975" cy="1066800"/>
            <a:chOff x="1056" y="2544"/>
            <a:chExt cx="3504" cy="672"/>
          </a:xfrm>
        </p:grpSpPr>
        <p:grpSp>
          <p:nvGrpSpPr>
            <p:cNvPr id="289841" name="Group 49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9842" name="Group 5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43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44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45" name="Group 5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46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47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48" name="Group 5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49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50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51" name="Group 5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52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53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9854" name="Group 62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9855" name="Group 63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56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57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58" name="Group 66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59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60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61" name="Group 69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62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63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64" name="Group 72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65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66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89867" name="Group 75"/>
          <p:cNvGrpSpPr>
            <a:grpSpLocks/>
          </p:cNvGrpSpPr>
          <p:nvPr/>
        </p:nvGrpSpPr>
        <p:grpSpPr bwMode="auto">
          <a:xfrm>
            <a:off x="280988" y="228600"/>
            <a:ext cx="5135562" cy="1066800"/>
            <a:chOff x="1056" y="2544"/>
            <a:chExt cx="3504" cy="672"/>
          </a:xfrm>
        </p:grpSpPr>
        <p:grpSp>
          <p:nvGrpSpPr>
            <p:cNvPr id="289868" name="Group 76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9869" name="Group 7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70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71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72" name="Group 8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73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74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75" name="Group 8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76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77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78" name="Group 8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79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80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9881" name="Group 89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9882" name="Group 9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83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84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85" name="Group 9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886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87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88" name="Group 9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889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90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91" name="Group 9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892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93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89894" name="Group 102"/>
          <p:cNvGrpSpPr>
            <a:grpSpLocks/>
          </p:cNvGrpSpPr>
          <p:nvPr/>
        </p:nvGrpSpPr>
        <p:grpSpPr bwMode="auto">
          <a:xfrm>
            <a:off x="3516313" y="914400"/>
            <a:ext cx="5135562" cy="1066800"/>
            <a:chOff x="1056" y="2544"/>
            <a:chExt cx="3504" cy="672"/>
          </a:xfrm>
        </p:grpSpPr>
        <p:grpSp>
          <p:nvGrpSpPr>
            <p:cNvPr id="289895" name="Group 103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89896" name="Group 10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897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898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899" name="Group 10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900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01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902" name="Group 11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903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04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905" name="Group 11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906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07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89908" name="Group 116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89909" name="Group 11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89910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11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912" name="Group 12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89913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14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915" name="Group 12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89916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17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89918" name="Group 12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89919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9920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842" name="Group 2"/>
          <p:cNvGrpSpPr>
            <a:grpSpLocks/>
          </p:cNvGrpSpPr>
          <p:nvPr/>
        </p:nvGrpSpPr>
        <p:grpSpPr bwMode="auto">
          <a:xfrm>
            <a:off x="1547813" y="2286000"/>
            <a:ext cx="5133975" cy="0"/>
            <a:chOff x="768" y="2496"/>
            <a:chExt cx="3504" cy="0"/>
          </a:xfrm>
        </p:grpSpPr>
        <p:sp>
          <p:nvSpPr>
            <p:cNvPr id="291843" name="Line 3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44" name="Line 4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45" name="Group 5"/>
          <p:cNvGrpSpPr>
            <a:grpSpLocks/>
          </p:cNvGrpSpPr>
          <p:nvPr/>
        </p:nvGrpSpPr>
        <p:grpSpPr bwMode="auto">
          <a:xfrm>
            <a:off x="1547813" y="2438400"/>
            <a:ext cx="5133975" cy="0"/>
            <a:chOff x="768" y="2496"/>
            <a:chExt cx="3504" cy="0"/>
          </a:xfrm>
        </p:grpSpPr>
        <p:sp>
          <p:nvSpPr>
            <p:cNvPr id="291846" name="Line 6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47" name="Line 7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48" name="Group 8"/>
          <p:cNvGrpSpPr>
            <a:grpSpLocks/>
          </p:cNvGrpSpPr>
          <p:nvPr/>
        </p:nvGrpSpPr>
        <p:grpSpPr bwMode="auto">
          <a:xfrm>
            <a:off x="1547813" y="3048000"/>
            <a:ext cx="5133975" cy="0"/>
            <a:chOff x="768" y="2496"/>
            <a:chExt cx="3504" cy="0"/>
          </a:xfrm>
        </p:grpSpPr>
        <p:sp>
          <p:nvSpPr>
            <p:cNvPr id="291849" name="Line 9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50" name="Line 10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51" name="Group 11"/>
          <p:cNvGrpSpPr>
            <a:grpSpLocks/>
          </p:cNvGrpSpPr>
          <p:nvPr/>
        </p:nvGrpSpPr>
        <p:grpSpPr bwMode="auto">
          <a:xfrm>
            <a:off x="1547813" y="3200400"/>
            <a:ext cx="5133975" cy="0"/>
            <a:chOff x="768" y="2496"/>
            <a:chExt cx="3504" cy="0"/>
          </a:xfrm>
        </p:grpSpPr>
        <p:sp>
          <p:nvSpPr>
            <p:cNvPr id="291852" name="Line 12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53" name="Line 13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54" name="Group 14"/>
          <p:cNvGrpSpPr>
            <a:grpSpLocks/>
          </p:cNvGrpSpPr>
          <p:nvPr/>
        </p:nvGrpSpPr>
        <p:grpSpPr bwMode="auto">
          <a:xfrm>
            <a:off x="1547813" y="3352800"/>
            <a:ext cx="5133975" cy="0"/>
            <a:chOff x="768" y="2496"/>
            <a:chExt cx="3504" cy="0"/>
          </a:xfrm>
        </p:grpSpPr>
        <p:sp>
          <p:nvSpPr>
            <p:cNvPr id="291855" name="Line 15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56" name="Line 16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57" name="Group 17"/>
          <p:cNvGrpSpPr>
            <a:grpSpLocks/>
          </p:cNvGrpSpPr>
          <p:nvPr/>
        </p:nvGrpSpPr>
        <p:grpSpPr bwMode="auto">
          <a:xfrm>
            <a:off x="1547813" y="3505200"/>
            <a:ext cx="5133975" cy="0"/>
            <a:chOff x="768" y="2496"/>
            <a:chExt cx="3504" cy="0"/>
          </a:xfrm>
        </p:grpSpPr>
        <p:sp>
          <p:nvSpPr>
            <p:cNvPr id="291858" name="Line 18"/>
            <p:cNvSpPr>
              <a:spLocks noChangeShapeType="1"/>
            </p:cNvSpPr>
            <p:nvPr/>
          </p:nvSpPr>
          <p:spPr bwMode="auto">
            <a:xfrm flipH="1">
              <a:off x="3552" y="2496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1859" name="Line 19"/>
            <p:cNvSpPr>
              <a:spLocks noChangeShapeType="1"/>
            </p:cNvSpPr>
            <p:nvPr/>
          </p:nvSpPr>
          <p:spPr bwMode="auto">
            <a:xfrm flipH="1">
              <a:off x="768" y="2496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1860" name="Group 20"/>
          <p:cNvGrpSpPr>
            <a:grpSpLocks/>
          </p:cNvGrpSpPr>
          <p:nvPr/>
        </p:nvGrpSpPr>
        <p:grpSpPr bwMode="auto">
          <a:xfrm>
            <a:off x="1547813" y="4038600"/>
            <a:ext cx="5133975" cy="1066800"/>
            <a:chOff x="1056" y="2544"/>
            <a:chExt cx="3504" cy="672"/>
          </a:xfrm>
        </p:grpSpPr>
        <p:grpSp>
          <p:nvGrpSpPr>
            <p:cNvPr id="291861" name="Group 2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862" name="Group 2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86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64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65" name="Group 2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866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6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68" name="Group 2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869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70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71" name="Group 3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872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73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1874" name="Group 3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1875" name="Group 3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876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7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78" name="Group 3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879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80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81" name="Group 4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882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83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84" name="Group 4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885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86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91887" name="Rectangle 47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nl-NL"/>
              <a:t>Logaritmic multiplication</a:t>
            </a:r>
          </a:p>
        </p:txBody>
      </p:sp>
      <p:grpSp>
        <p:nvGrpSpPr>
          <p:cNvPr id="291888" name="Group 48"/>
          <p:cNvGrpSpPr>
            <a:grpSpLocks/>
          </p:cNvGrpSpPr>
          <p:nvPr/>
        </p:nvGrpSpPr>
        <p:grpSpPr bwMode="auto">
          <a:xfrm>
            <a:off x="1547813" y="5334000"/>
            <a:ext cx="5133975" cy="1066800"/>
            <a:chOff x="1056" y="2544"/>
            <a:chExt cx="3504" cy="672"/>
          </a:xfrm>
        </p:grpSpPr>
        <p:grpSp>
          <p:nvGrpSpPr>
            <p:cNvPr id="291889" name="Group 49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890" name="Group 5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891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92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93" name="Group 5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894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95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96" name="Group 5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897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898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899" name="Group 5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00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01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1902" name="Group 62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1903" name="Group 63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04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05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06" name="Group 66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07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08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09" name="Group 69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10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11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12" name="Group 72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13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14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1915" name="Group 75"/>
          <p:cNvGrpSpPr>
            <a:grpSpLocks/>
          </p:cNvGrpSpPr>
          <p:nvPr/>
        </p:nvGrpSpPr>
        <p:grpSpPr bwMode="auto">
          <a:xfrm>
            <a:off x="280988" y="228600"/>
            <a:ext cx="5135562" cy="1066800"/>
            <a:chOff x="1056" y="2544"/>
            <a:chExt cx="3504" cy="672"/>
          </a:xfrm>
        </p:grpSpPr>
        <p:grpSp>
          <p:nvGrpSpPr>
            <p:cNvPr id="291916" name="Group 76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917" name="Group 7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18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19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20" name="Group 8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21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2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23" name="Group 8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2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25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26" name="Group 8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27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28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1929" name="Group 89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1930" name="Group 9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31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32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33" name="Group 9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34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35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36" name="Group 9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37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38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39" name="Group 9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40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41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1942" name="Group 102"/>
          <p:cNvGrpSpPr>
            <a:grpSpLocks/>
          </p:cNvGrpSpPr>
          <p:nvPr/>
        </p:nvGrpSpPr>
        <p:grpSpPr bwMode="auto">
          <a:xfrm>
            <a:off x="3516313" y="914400"/>
            <a:ext cx="5135562" cy="1066800"/>
            <a:chOff x="1056" y="2544"/>
            <a:chExt cx="3504" cy="672"/>
          </a:xfrm>
        </p:grpSpPr>
        <p:grpSp>
          <p:nvGrpSpPr>
            <p:cNvPr id="291943" name="Group 103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944" name="Group 10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45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46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47" name="Group 10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48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49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50" name="Group 11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51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52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53" name="Group 11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54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55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1956" name="Group 116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1957" name="Group 11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58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59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60" name="Group 12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61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62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63" name="Group 12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64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65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66" name="Group 12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67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68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1969" name="Group 129"/>
          <p:cNvGrpSpPr>
            <a:grpSpLocks/>
          </p:cNvGrpSpPr>
          <p:nvPr/>
        </p:nvGrpSpPr>
        <p:grpSpPr bwMode="auto">
          <a:xfrm>
            <a:off x="280988" y="1828800"/>
            <a:ext cx="5135562" cy="1066800"/>
            <a:chOff x="1056" y="2544"/>
            <a:chExt cx="3504" cy="672"/>
          </a:xfrm>
        </p:grpSpPr>
        <p:grpSp>
          <p:nvGrpSpPr>
            <p:cNvPr id="291970" name="Group 130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971" name="Group 131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72" name="Line 1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73" name="Line 1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74" name="Group 134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75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76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77" name="Group 137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78" name="Line 13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79" name="Line 13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80" name="Group 140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81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82" name="Line 14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1983" name="Group 143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1984" name="Group 14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85" name="Line 1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86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87" name="Group 14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1988" name="Line 14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89" name="Line 14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90" name="Group 15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1991" name="Line 1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92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1993" name="Group 15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1994" name="Line 15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1995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1996" name="Group 156"/>
          <p:cNvGrpSpPr>
            <a:grpSpLocks/>
          </p:cNvGrpSpPr>
          <p:nvPr/>
        </p:nvGrpSpPr>
        <p:grpSpPr bwMode="auto">
          <a:xfrm>
            <a:off x="3094038" y="2133600"/>
            <a:ext cx="5135562" cy="1066800"/>
            <a:chOff x="1056" y="2544"/>
            <a:chExt cx="3504" cy="672"/>
          </a:xfrm>
        </p:grpSpPr>
        <p:grpSp>
          <p:nvGrpSpPr>
            <p:cNvPr id="291997" name="Group 157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1998" name="Group 158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1999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00" name="Line 16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01" name="Group 161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02" name="Line 16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03" name="Line 16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04" name="Group 164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05" name="Line 16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06" name="Line 16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07" name="Group 167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08" name="Line 16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09" name="Line 16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010" name="Group 170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011" name="Group 171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12" name="Line 17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13" name="Line 17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14" name="Group 174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15" name="Line 17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16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17" name="Group 177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18" name="Line 1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19" name="Line 1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20" name="Group 180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21" name="Line 18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22" name="Line 18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023" name="Group 183"/>
          <p:cNvGrpSpPr>
            <a:grpSpLocks/>
          </p:cNvGrpSpPr>
          <p:nvPr/>
        </p:nvGrpSpPr>
        <p:grpSpPr bwMode="auto">
          <a:xfrm rot="-2495557">
            <a:off x="280988" y="2286000"/>
            <a:ext cx="5135562" cy="1066800"/>
            <a:chOff x="1056" y="2544"/>
            <a:chExt cx="3504" cy="672"/>
          </a:xfrm>
        </p:grpSpPr>
        <p:grpSp>
          <p:nvGrpSpPr>
            <p:cNvPr id="292024" name="Group 184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025" name="Group 18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26" name="Line 18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27" name="Line 18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28" name="Group 18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29" name="Line 18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30" name="Line 19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31" name="Group 19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32" name="Line 19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33" name="Line 19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34" name="Group 19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35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36" name="Line 19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037" name="Group 197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038" name="Group 198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39" name="Line 19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40" name="Line 20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41" name="Group 201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42" name="Line 20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43" name="Line 20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44" name="Group 204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45" name="Line 2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46" name="Line 2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47" name="Group 207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48" name="Line 20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49" name="Line 20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050" name="Group 210"/>
          <p:cNvGrpSpPr>
            <a:grpSpLocks/>
          </p:cNvGrpSpPr>
          <p:nvPr/>
        </p:nvGrpSpPr>
        <p:grpSpPr bwMode="auto">
          <a:xfrm rot="-2495557">
            <a:off x="2392363" y="3886200"/>
            <a:ext cx="5133975" cy="1066800"/>
            <a:chOff x="1056" y="2544"/>
            <a:chExt cx="3504" cy="672"/>
          </a:xfrm>
        </p:grpSpPr>
        <p:grpSp>
          <p:nvGrpSpPr>
            <p:cNvPr id="292051" name="Group 21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052" name="Group 21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53" name="Line 21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54" name="Line 21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55" name="Group 21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56" name="Line 21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57" name="Line 21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58" name="Group 21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59" name="Line 21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60" name="Line 22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61" name="Group 22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62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63" name="Line 22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064" name="Group 22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065" name="Group 22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66" name="Line 22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67" name="Line 22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68" name="Group 22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69" name="Line 2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70" name="Line 2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71" name="Group 23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72" name="Line 2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73" name="Line 2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74" name="Group 23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75" name="Line 23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76" name="Line 23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077" name="Group 237"/>
          <p:cNvGrpSpPr>
            <a:grpSpLocks/>
          </p:cNvGrpSpPr>
          <p:nvPr/>
        </p:nvGrpSpPr>
        <p:grpSpPr bwMode="auto">
          <a:xfrm rot="-2495557">
            <a:off x="1265238" y="3276600"/>
            <a:ext cx="5135562" cy="1066800"/>
            <a:chOff x="1056" y="2544"/>
            <a:chExt cx="3504" cy="672"/>
          </a:xfrm>
        </p:grpSpPr>
        <p:grpSp>
          <p:nvGrpSpPr>
            <p:cNvPr id="292078" name="Group 238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079" name="Group 239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80" name="Line 24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81" name="Line 24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82" name="Group 242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83" name="Line 24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84" name="Line 24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85" name="Group 245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86" name="Line 24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87" name="Line 24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88" name="Group 248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089" name="Line 24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90" name="Line 25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091" name="Group 251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092" name="Group 25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093" name="Line 25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94" name="Line 25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95" name="Group 25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096" name="Line 25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097" name="Line 25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098" name="Group 25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099" name="Line 25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00" name="Line 26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01" name="Group 26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02" name="Line 26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03" name="Line 26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104" name="Group 264"/>
          <p:cNvGrpSpPr>
            <a:grpSpLocks/>
          </p:cNvGrpSpPr>
          <p:nvPr/>
        </p:nvGrpSpPr>
        <p:grpSpPr bwMode="auto">
          <a:xfrm rot="-2495557">
            <a:off x="4221163" y="4495800"/>
            <a:ext cx="5133975" cy="1066800"/>
            <a:chOff x="1056" y="2544"/>
            <a:chExt cx="3504" cy="672"/>
          </a:xfrm>
        </p:grpSpPr>
        <p:grpSp>
          <p:nvGrpSpPr>
            <p:cNvPr id="292105" name="Group 265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106" name="Group 266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07" name="Line 26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08" name="Line 26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09" name="Group 269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1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11" name="Line 27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12" name="Group 272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1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14" name="Line 27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15" name="Group 275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16" name="Line 27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17" name="Line 27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118" name="Group 278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119" name="Group 279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20" name="Line 28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21" name="Line 28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22" name="Group 282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23" name="Line 28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24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25" name="Group 285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26" name="Line 28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27" name="Line 28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28" name="Group 288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29" name="Line 28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30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131" name="Group 291"/>
          <p:cNvGrpSpPr>
            <a:grpSpLocks/>
          </p:cNvGrpSpPr>
          <p:nvPr/>
        </p:nvGrpSpPr>
        <p:grpSpPr bwMode="auto">
          <a:xfrm rot="-19612229">
            <a:off x="3165475" y="2819400"/>
            <a:ext cx="5133975" cy="1066800"/>
            <a:chOff x="1056" y="2544"/>
            <a:chExt cx="3504" cy="672"/>
          </a:xfrm>
        </p:grpSpPr>
        <p:grpSp>
          <p:nvGrpSpPr>
            <p:cNvPr id="292132" name="Group 292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133" name="Group 293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34" name="Line 29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35" name="Line 29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36" name="Group 296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37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38" name="Line 29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39" name="Group 299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40" name="Line 30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41" name="Line 30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42" name="Group 302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43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44" name="Line 30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145" name="Group 305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146" name="Group 306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47" name="Line 30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48" name="Line 30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49" name="Group 309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50" name="Line 31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51" name="Line 31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52" name="Group 312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53" name="Line 31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54" name="Line 31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55" name="Group 315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56" name="Line 31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57" name="Line 31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158" name="Group 318"/>
          <p:cNvGrpSpPr>
            <a:grpSpLocks/>
          </p:cNvGrpSpPr>
          <p:nvPr/>
        </p:nvGrpSpPr>
        <p:grpSpPr bwMode="auto">
          <a:xfrm rot="-19612229">
            <a:off x="3376613" y="1981200"/>
            <a:ext cx="5133975" cy="1066800"/>
            <a:chOff x="1056" y="2544"/>
            <a:chExt cx="3504" cy="672"/>
          </a:xfrm>
        </p:grpSpPr>
        <p:grpSp>
          <p:nvGrpSpPr>
            <p:cNvPr id="292159" name="Group 319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160" name="Group 32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61" name="Line 32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62" name="Line 32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63" name="Group 32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64" name="Line 32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65" name="Line 32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66" name="Group 32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67" name="Line 32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68" name="Line 32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69" name="Group 32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70" name="Line 33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71" name="Line 33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172" name="Group 332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173" name="Group 333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74" name="Line 33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75" name="Line 33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76" name="Group 336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77" name="Line 33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78" name="Line 33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79" name="Group 339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80" name="Line 34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81" name="Line 34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82" name="Group 342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83" name="Line 34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84" name="Line 34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185" name="Group 345"/>
          <p:cNvGrpSpPr>
            <a:grpSpLocks/>
          </p:cNvGrpSpPr>
          <p:nvPr/>
        </p:nvGrpSpPr>
        <p:grpSpPr bwMode="auto">
          <a:xfrm rot="-19612229">
            <a:off x="773113" y="2590800"/>
            <a:ext cx="5135562" cy="1066800"/>
            <a:chOff x="1056" y="2544"/>
            <a:chExt cx="3504" cy="672"/>
          </a:xfrm>
        </p:grpSpPr>
        <p:grpSp>
          <p:nvGrpSpPr>
            <p:cNvPr id="292186" name="Group 346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187" name="Group 34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188" name="Line 34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89" name="Line 34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90" name="Group 35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191" name="Line 3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92" name="Line 3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93" name="Group 35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194" name="Line 35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95" name="Line 35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196" name="Group 35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197" name="Line 35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198" name="Line 35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199" name="Group 359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200" name="Group 360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01" name="Line 36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02" name="Line 36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03" name="Group 363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04" name="Line 36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05" name="Line 36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06" name="Group 366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07" name="Line 36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08" name="Line 36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09" name="Group 369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10" name="Line 370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11" name="Line 371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212" name="Group 372"/>
          <p:cNvGrpSpPr>
            <a:grpSpLocks/>
          </p:cNvGrpSpPr>
          <p:nvPr/>
        </p:nvGrpSpPr>
        <p:grpSpPr bwMode="auto">
          <a:xfrm rot="-19612229">
            <a:off x="492125" y="3505200"/>
            <a:ext cx="5135563" cy="1066800"/>
            <a:chOff x="1056" y="2544"/>
            <a:chExt cx="3504" cy="672"/>
          </a:xfrm>
        </p:grpSpPr>
        <p:grpSp>
          <p:nvGrpSpPr>
            <p:cNvPr id="292213" name="Group 373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214" name="Group 37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15" name="Line 37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16" name="Line 37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17" name="Group 37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18" name="Line 3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19" name="Line 3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20" name="Group 38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21" name="Line 38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22" name="Line 38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23" name="Group 38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24" name="Line 38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25" name="Line 38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226" name="Group 386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227" name="Group 387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28" name="Line 38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29" name="Line 38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30" name="Group 390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31" name="Line 39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32" name="Line 39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33" name="Group 393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34" name="Line 39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35" name="Line 39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36" name="Group 396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37" name="Line 397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38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239" name="Group 399"/>
          <p:cNvGrpSpPr>
            <a:grpSpLocks/>
          </p:cNvGrpSpPr>
          <p:nvPr/>
        </p:nvGrpSpPr>
        <p:grpSpPr bwMode="auto">
          <a:xfrm rot="-19612229">
            <a:off x="4008438" y="1447800"/>
            <a:ext cx="5135562" cy="1066800"/>
            <a:chOff x="1056" y="2544"/>
            <a:chExt cx="3504" cy="672"/>
          </a:xfrm>
        </p:grpSpPr>
        <p:grpSp>
          <p:nvGrpSpPr>
            <p:cNvPr id="292240" name="Group 400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241" name="Group 401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42" name="Line 40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43" name="Line 40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44" name="Group 404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45" name="Line 4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46" name="Line 4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47" name="Group 407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48" name="Line 40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49" name="Line 40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50" name="Group 410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51" name="Line 41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52" name="Line 41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253" name="Group 413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254" name="Group 414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55" name="Line 41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56" name="Line 41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57" name="Group 417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58" name="Line 41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59" name="Line 41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60" name="Group 420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61" name="Line 42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62" name="Line 42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63" name="Group 423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64" name="Line 424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65" name="Line 425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266" name="Group 426"/>
          <p:cNvGrpSpPr>
            <a:grpSpLocks/>
          </p:cNvGrpSpPr>
          <p:nvPr/>
        </p:nvGrpSpPr>
        <p:grpSpPr bwMode="auto">
          <a:xfrm rot="-19612229">
            <a:off x="4008438" y="1447800"/>
            <a:ext cx="5135562" cy="1066800"/>
            <a:chOff x="1056" y="2544"/>
            <a:chExt cx="3504" cy="672"/>
          </a:xfrm>
        </p:grpSpPr>
        <p:grpSp>
          <p:nvGrpSpPr>
            <p:cNvPr id="292267" name="Group 427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268" name="Group 428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69" name="Line 42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70" name="Line 43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71" name="Group 431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72" name="Line 43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73" name="Line 43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74" name="Group 434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75" name="Line 43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76" name="Line 43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77" name="Group 437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78" name="Line 43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79" name="Line 43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280" name="Group 440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281" name="Group 441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82" name="Line 44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83" name="Line 44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84" name="Group 444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85" name="Line 44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86" name="Line 44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87" name="Group 447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288" name="Line 44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89" name="Line 44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90" name="Group 450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291" name="Line 451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92" name="Line 452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293" name="Group 453"/>
          <p:cNvGrpSpPr>
            <a:grpSpLocks/>
          </p:cNvGrpSpPr>
          <p:nvPr/>
        </p:nvGrpSpPr>
        <p:grpSpPr bwMode="auto">
          <a:xfrm rot="-19612229">
            <a:off x="4008438" y="1447800"/>
            <a:ext cx="5135562" cy="1066800"/>
            <a:chOff x="1056" y="2544"/>
            <a:chExt cx="3504" cy="672"/>
          </a:xfrm>
        </p:grpSpPr>
        <p:grpSp>
          <p:nvGrpSpPr>
            <p:cNvPr id="292294" name="Group 454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295" name="Group 45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296" name="Line 45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297" name="Line 45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298" name="Group 45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299" name="Line 45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00" name="Line 46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01" name="Group 46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302" name="Line 46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03" name="Line 46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04" name="Group 46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305" name="Line 46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06" name="Line 46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307" name="Group 467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308" name="Group 468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309" name="Line 46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10" name="Line 47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11" name="Group 471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312" name="Line 47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13" name="Line 47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14" name="Group 474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315" name="Line 47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16" name="Line 47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17" name="Group 477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318" name="Line 478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19" name="Line 479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92320" name="Group 480"/>
          <p:cNvGrpSpPr>
            <a:grpSpLocks/>
          </p:cNvGrpSpPr>
          <p:nvPr/>
        </p:nvGrpSpPr>
        <p:grpSpPr bwMode="auto">
          <a:xfrm rot="-19612229">
            <a:off x="4008438" y="1447800"/>
            <a:ext cx="5135562" cy="1066800"/>
            <a:chOff x="1056" y="2544"/>
            <a:chExt cx="3504" cy="672"/>
          </a:xfrm>
        </p:grpSpPr>
        <p:grpSp>
          <p:nvGrpSpPr>
            <p:cNvPr id="292321" name="Group 481"/>
            <p:cNvGrpSpPr>
              <a:grpSpLocks/>
            </p:cNvGrpSpPr>
            <p:nvPr/>
          </p:nvGrpSpPr>
          <p:grpSpPr bwMode="auto">
            <a:xfrm>
              <a:off x="1056" y="2544"/>
              <a:ext cx="3504" cy="288"/>
              <a:chOff x="1056" y="1920"/>
              <a:chExt cx="3504" cy="288"/>
            </a:xfrm>
          </p:grpSpPr>
          <p:grpSp>
            <p:nvGrpSpPr>
              <p:cNvPr id="292322" name="Group 482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323" name="Line 483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24" name="Line 484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25" name="Group 485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326" name="Line 48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27" name="Line 48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28" name="Group 488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329" name="Line 48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30" name="Line 49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31" name="Group 491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332" name="Line 49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33" name="Line 49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2334" name="Group 494"/>
            <p:cNvGrpSpPr>
              <a:grpSpLocks/>
            </p:cNvGrpSpPr>
            <p:nvPr/>
          </p:nvGrpSpPr>
          <p:grpSpPr bwMode="auto">
            <a:xfrm>
              <a:off x="1056" y="2928"/>
              <a:ext cx="3504" cy="288"/>
              <a:chOff x="1056" y="1920"/>
              <a:chExt cx="3504" cy="288"/>
            </a:xfrm>
          </p:grpSpPr>
          <p:grpSp>
            <p:nvGrpSpPr>
              <p:cNvPr id="292335" name="Group 495"/>
              <p:cNvGrpSpPr>
                <a:grpSpLocks/>
              </p:cNvGrpSpPr>
              <p:nvPr/>
            </p:nvGrpSpPr>
            <p:grpSpPr bwMode="auto">
              <a:xfrm>
                <a:off x="1056" y="1920"/>
                <a:ext cx="3504" cy="0"/>
                <a:chOff x="768" y="2496"/>
                <a:chExt cx="3504" cy="0"/>
              </a:xfrm>
            </p:grpSpPr>
            <p:sp>
              <p:nvSpPr>
                <p:cNvPr id="292336" name="Line 496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37" name="Line 497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38" name="Group 498"/>
              <p:cNvGrpSpPr>
                <a:grpSpLocks/>
              </p:cNvGrpSpPr>
              <p:nvPr/>
            </p:nvGrpSpPr>
            <p:grpSpPr bwMode="auto">
              <a:xfrm>
                <a:off x="1056" y="2016"/>
                <a:ext cx="3504" cy="0"/>
                <a:chOff x="768" y="2496"/>
                <a:chExt cx="3504" cy="0"/>
              </a:xfrm>
            </p:grpSpPr>
            <p:sp>
              <p:nvSpPr>
                <p:cNvPr id="292339" name="Line 499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40" name="Line 500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41" name="Group 501"/>
              <p:cNvGrpSpPr>
                <a:grpSpLocks/>
              </p:cNvGrpSpPr>
              <p:nvPr/>
            </p:nvGrpSpPr>
            <p:grpSpPr bwMode="auto">
              <a:xfrm>
                <a:off x="1056" y="2112"/>
                <a:ext cx="3504" cy="0"/>
                <a:chOff x="768" y="2496"/>
                <a:chExt cx="3504" cy="0"/>
              </a:xfrm>
            </p:grpSpPr>
            <p:sp>
              <p:nvSpPr>
                <p:cNvPr id="292342" name="Line 502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43" name="Line 503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292344" name="Group 504"/>
              <p:cNvGrpSpPr>
                <a:grpSpLocks/>
              </p:cNvGrpSpPr>
              <p:nvPr/>
            </p:nvGrpSpPr>
            <p:grpSpPr bwMode="auto">
              <a:xfrm>
                <a:off x="1056" y="2208"/>
                <a:ext cx="3504" cy="0"/>
                <a:chOff x="768" y="2496"/>
                <a:chExt cx="3504" cy="0"/>
              </a:xfrm>
            </p:grpSpPr>
            <p:sp>
              <p:nvSpPr>
                <p:cNvPr id="292345" name="Line 505"/>
                <p:cNvSpPr>
                  <a:spLocks noChangeShapeType="1"/>
                </p:cNvSpPr>
                <p:nvPr/>
              </p:nvSpPr>
              <p:spPr bwMode="auto">
                <a:xfrm flipH="1">
                  <a:off x="3552" y="2496"/>
                  <a:ext cx="7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2346" name="Line 506"/>
                <p:cNvSpPr>
                  <a:spLocks noChangeShapeType="1"/>
                </p:cNvSpPr>
                <p:nvPr/>
              </p:nvSpPr>
              <p:spPr bwMode="auto">
                <a:xfrm flipH="1">
                  <a:off x="768" y="2496"/>
                  <a:ext cx="312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0" y="0"/>
            <a:ext cx="94948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Advantages of PCR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1562100"/>
            <a:ext cx="7065963" cy="3346450"/>
          </a:xfrm>
        </p:spPr>
        <p:txBody>
          <a:bodyPr/>
          <a:lstStyle/>
          <a:p>
            <a:pPr>
              <a:buFont typeface="Times"/>
              <a:buNone/>
            </a:pPr>
            <a:r>
              <a:rPr lang="en-GB"/>
              <a:t>Quick</a:t>
            </a:r>
          </a:p>
          <a:p>
            <a:pPr>
              <a:buFont typeface="Times"/>
              <a:buNone/>
            </a:pPr>
            <a:r>
              <a:rPr lang="en-GB"/>
              <a:t>Reliable</a:t>
            </a:r>
          </a:p>
          <a:p>
            <a:pPr>
              <a:buFont typeface="Times"/>
              <a:buNone/>
            </a:pPr>
            <a:r>
              <a:rPr lang="en-GB"/>
              <a:t>Sensitive</a:t>
            </a:r>
          </a:p>
          <a:p>
            <a:pPr>
              <a:buFont typeface="Times"/>
              <a:buNone/>
            </a:pPr>
            <a:r>
              <a:rPr lang="en-GB"/>
              <a:t>Relatively easy</a:t>
            </a:r>
          </a:p>
          <a:p>
            <a:pPr>
              <a:buFont typeface="Times"/>
              <a:buNone/>
            </a:pPr>
            <a:r>
              <a:rPr lang="en-GB"/>
              <a:t>Specific</a:t>
            </a:r>
            <a:endParaRPr lang="nl-NL" sz="32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Disadvantage of PCR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288" y="1195388"/>
            <a:ext cx="8399462" cy="5240337"/>
          </a:xfrm>
        </p:spPr>
        <p:txBody>
          <a:bodyPr/>
          <a:lstStyle/>
          <a:p>
            <a:pPr>
              <a:buFont typeface="Times"/>
              <a:buNone/>
            </a:pPr>
            <a:r>
              <a:rPr lang="nl-NL" sz="2200"/>
              <a:t>Need for equipment</a:t>
            </a:r>
          </a:p>
          <a:p>
            <a:pPr>
              <a:buFont typeface="Times"/>
              <a:buNone/>
            </a:pPr>
            <a:r>
              <a:rPr lang="nl-NL" sz="2200"/>
              <a:t>Taq polymerase is expensive</a:t>
            </a:r>
          </a:p>
          <a:p>
            <a:pPr>
              <a:buFont typeface="Times"/>
              <a:buNone/>
            </a:pPr>
            <a:r>
              <a:rPr lang="nl-NL" sz="2200"/>
              <a:t>Contamination </a:t>
            </a:r>
          </a:p>
          <a:p>
            <a:pPr>
              <a:buFont typeface="Times"/>
              <a:buNone/>
            </a:pPr>
            <a:r>
              <a:rPr lang="nl-NL" sz="2200"/>
              <a:t>False reactions </a:t>
            </a:r>
          </a:p>
          <a:p>
            <a:pPr>
              <a:buFont typeface="Times"/>
              <a:buNone/>
            </a:pPr>
            <a:r>
              <a:rPr lang="nl-NL" sz="2200"/>
              <a:t>Internal control</a:t>
            </a:r>
          </a:p>
          <a:p>
            <a:pPr>
              <a:buFont typeface="Times"/>
              <a:buNone/>
            </a:pPr>
            <a:r>
              <a:rPr lang="en-GB" sz="2200"/>
              <a:t>Cross-reaction</a:t>
            </a:r>
            <a:endParaRPr lang="nl-NL" sz="2200"/>
          </a:p>
          <a:p>
            <a:pPr>
              <a:buFont typeface="Times"/>
              <a:buNone/>
            </a:pPr>
            <a:r>
              <a:rPr lang="nl-NL" sz="2200"/>
              <a:t>Enrichment steps in (contaminated) samples</a:t>
            </a:r>
          </a:p>
          <a:p>
            <a:pPr>
              <a:buFont typeface="Times"/>
              <a:buNone/>
            </a:pPr>
            <a:r>
              <a:rPr lang="nl-NL" sz="2200"/>
              <a:t>Capacity building</a:t>
            </a:r>
            <a:r>
              <a:rPr lang="en-GB" sz="2200"/>
              <a:t> needed</a:t>
            </a:r>
          </a:p>
          <a:p>
            <a:pPr>
              <a:buFont typeface="Times"/>
              <a:buNone/>
            </a:pPr>
            <a:r>
              <a:rPr lang="en-GB" sz="2200"/>
              <a:t>Unspecific amplification</a:t>
            </a:r>
            <a:endParaRPr lang="nl-NL" sz="22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Applications of PCR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25" y="974725"/>
            <a:ext cx="9020175" cy="5308600"/>
          </a:xfrm>
        </p:spPr>
        <p:txBody>
          <a:bodyPr/>
          <a:lstStyle/>
          <a:p>
            <a:pPr>
              <a:buFont typeface="Times"/>
              <a:buNone/>
            </a:pPr>
            <a:r>
              <a:rPr lang="en-GB"/>
              <a:t>Detection of specific genome</a:t>
            </a:r>
          </a:p>
          <a:p>
            <a:pPr lvl="1"/>
            <a:r>
              <a:rPr lang="en-GB"/>
              <a:t>Classical with a primer pair</a:t>
            </a:r>
          </a:p>
          <a:p>
            <a:pPr lvl="1"/>
            <a:r>
              <a:rPr lang="en-GB"/>
              <a:t>Nested – amplification of larger area then specific detection in multiplied genome part (more sensitive)</a:t>
            </a:r>
          </a:p>
          <a:p>
            <a:pPr lvl="1"/>
            <a:r>
              <a:rPr lang="en-GB"/>
              <a:t>Real time PCR to quantify the amount of genome in sample</a:t>
            </a:r>
          </a:p>
          <a:p>
            <a:pPr lvl="1"/>
            <a:r>
              <a:rPr lang="en-GB"/>
              <a:t>Detection of RNA with reverse transcriptase </a:t>
            </a:r>
          </a:p>
          <a:p>
            <a:pPr>
              <a:buFont typeface="Times"/>
              <a:buNone/>
            </a:pPr>
            <a:r>
              <a:rPr lang="en-GB"/>
              <a:t>Screening specific genes for unknown mutations</a:t>
            </a:r>
          </a:p>
          <a:p>
            <a:pPr>
              <a:spcAft>
                <a:spcPct val="0"/>
              </a:spcAft>
              <a:buFont typeface="Times"/>
              <a:buNone/>
            </a:pPr>
            <a:r>
              <a:rPr lang="en-GB"/>
              <a:t>Genotyping using short primers or primer pairs that are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en-GB"/>
              <a:t>often repeated in the genome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Restrictions of PCR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2711450"/>
          </a:xfrm>
        </p:spPr>
        <p:txBody>
          <a:bodyPr/>
          <a:lstStyle/>
          <a:p>
            <a:pPr>
              <a:spcAft>
                <a:spcPct val="0"/>
              </a:spcAft>
              <a:buFont typeface="Times"/>
              <a:buNone/>
            </a:pPr>
            <a:r>
              <a:rPr lang="en-GB"/>
              <a:t>Contamination of reagents or lab results in false</a:t>
            </a:r>
          </a:p>
          <a:p>
            <a:pPr>
              <a:spcBef>
                <a:spcPct val="0"/>
              </a:spcBef>
              <a:buFont typeface="Times"/>
              <a:buNone/>
            </a:pPr>
            <a:r>
              <a:rPr lang="en-GB"/>
              <a:t>positive results</a:t>
            </a:r>
          </a:p>
          <a:p>
            <a:pPr>
              <a:buFont typeface="Times"/>
              <a:buNone/>
            </a:pPr>
            <a:r>
              <a:rPr lang="en-GB"/>
              <a:t>Failure due to a mistake in the protocol </a:t>
            </a:r>
          </a:p>
          <a:p>
            <a:pPr>
              <a:spcAft>
                <a:spcPct val="0"/>
              </a:spcAft>
              <a:buFont typeface="Times"/>
              <a:buNone/>
            </a:pPr>
            <a:r>
              <a:rPr lang="en-GB"/>
              <a:t>Different materials/parts of the sample can inhibit the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Times"/>
              <a:buNone/>
            </a:pPr>
            <a:r>
              <a:rPr lang="en-GB"/>
              <a:t>PRC process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PRC diagnostics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524000"/>
            <a:ext cx="8399463" cy="3902075"/>
          </a:xfrm>
        </p:spPr>
        <p:txBody>
          <a:bodyPr/>
          <a:lstStyle/>
          <a:p>
            <a:pPr>
              <a:buFont typeface="Times"/>
              <a:buNone/>
            </a:pPr>
            <a:r>
              <a:rPr lang="en-GB"/>
              <a:t>Viruses </a:t>
            </a:r>
          </a:p>
          <a:p>
            <a:pPr lvl="1"/>
            <a:r>
              <a:rPr lang="en-GB"/>
              <a:t>HIV, SARS, H5N1</a:t>
            </a:r>
          </a:p>
          <a:p>
            <a:pPr>
              <a:buFont typeface="Times"/>
              <a:buNone/>
            </a:pPr>
            <a:r>
              <a:rPr lang="en-GB"/>
              <a:t>Bacteria </a:t>
            </a:r>
          </a:p>
          <a:p>
            <a:pPr lvl="1"/>
            <a:r>
              <a:rPr lang="en-GB"/>
              <a:t>meningococcus, legionellosis</a:t>
            </a:r>
          </a:p>
          <a:p>
            <a:pPr>
              <a:buFont typeface="Times"/>
              <a:buNone/>
            </a:pPr>
            <a:r>
              <a:rPr lang="en-GB"/>
              <a:t>Analysis for resistant genes </a:t>
            </a:r>
          </a:p>
          <a:p>
            <a:pPr lvl="1"/>
            <a:r>
              <a:rPr lang="en-GB"/>
              <a:t>MRSA, VRE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582613" y="1039813"/>
            <a:ext cx="7983537" cy="531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4000" tIns="144000" rIns="144000" bIns="0" anchor="ctr"/>
          <a:lstStyle/>
          <a:p>
            <a:r>
              <a:rPr lang="en-GB">
                <a:solidFill>
                  <a:srgbClr val="000066"/>
                </a:solidFill>
                <a:latin typeface="Arial" charset="0"/>
              </a:rPr>
              <a:t>Developed by the Department of Epidemic and Pandemic Alert and Response of the World Health Organization with assistance from: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European Program for Intervention 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Epidemiology Training 	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Canadian Field Epidemiology Program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Thailand Ministry of Health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</a:t>
            </a:r>
            <a:br>
              <a:rPr lang="en-GB">
                <a:solidFill>
                  <a:srgbClr val="000066"/>
                </a:solidFill>
                <a:latin typeface="Arial" charset="0"/>
              </a:rPr>
            </a:br>
            <a:r>
              <a:rPr lang="en-GB">
                <a:solidFill>
                  <a:srgbClr val="000066"/>
                </a:solidFill>
                <a:latin typeface="Arial" charset="0"/>
              </a:rPr>
              <a:t>	Institut Pasteur</a:t>
            </a:r>
            <a:endParaRPr lang="fr-FR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741363" y="523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fr-FR"/>
          </a:p>
        </p:txBody>
      </p:sp>
      <p:sp>
        <p:nvSpPr>
          <p:cNvPr id="304132" name="Text Box 4"/>
          <p:cNvSpPr txBox="1">
            <a:spLocks noChangeArrowheads="1"/>
          </p:cNvSpPr>
          <p:nvPr/>
        </p:nvSpPr>
        <p:spPr bwMode="auto">
          <a:xfrm>
            <a:off x="544513" y="149225"/>
            <a:ext cx="5151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Arial" charset="0"/>
              </a:rPr>
              <a:t>Investigation strategies and methods</a:t>
            </a:r>
          </a:p>
        </p:txBody>
      </p:sp>
      <p:pic>
        <p:nvPicPr>
          <p:cNvPr id="304133" name="Picture 5" descr="epiet_white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250" y="3121025"/>
            <a:ext cx="706438" cy="588963"/>
          </a:xfrm>
          <a:prstGeom prst="rect">
            <a:avLst/>
          </a:prstGeom>
          <a:noFill/>
        </p:spPr>
      </p:pic>
      <p:pic>
        <p:nvPicPr>
          <p:cNvPr id="304134" name="Picture 6" descr="fetp_logo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0238" y="4054475"/>
            <a:ext cx="571500" cy="541338"/>
          </a:xfrm>
          <a:prstGeom prst="rect">
            <a:avLst/>
          </a:prstGeom>
          <a:noFill/>
        </p:spPr>
      </p:pic>
      <p:pic>
        <p:nvPicPr>
          <p:cNvPr id="304135" name="Picture 7" descr="pasteur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9100" y="5605463"/>
            <a:ext cx="966788" cy="361950"/>
          </a:xfrm>
          <a:prstGeom prst="rect">
            <a:avLst/>
          </a:prstGeom>
          <a:noFill/>
        </p:spPr>
      </p:pic>
      <p:pic>
        <p:nvPicPr>
          <p:cNvPr id="304136" name="Picture 8" descr="tailand ministry of health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" y="4865688"/>
            <a:ext cx="582612" cy="433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srtemplate">
  <a:themeElements>
    <a:clrScheme name="csr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srtemplat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sr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r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r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r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r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r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r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4E0DF0AA1A204C87E2AD670C058966" ma:contentTypeVersion="4" ma:contentTypeDescription="Create a new document." ma:contentTypeScope="" ma:versionID="15b933ce0c0716803d25be1cd932ea4d">
  <xsd:schema xmlns:xsd="http://www.w3.org/2001/XMLSchema" xmlns:xs="http://www.w3.org/2001/XMLSchema" xmlns:p="http://schemas.microsoft.com/office/2006/metadata/properties" xmlns:ns2="98675793-adc3-4e47-a85f-9eea497c169c" targetNamespace="http://schemas.microsoft.com/office/2006/metadata/properties" ma:root="true" ma:fieldsID="d51886acfc1e4a9acfe40e812bf3e3a1" ns2:_="">
    <xsd:import namespace="98675793-adc3-4e47-a85f-9eea497c1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75793-adc3-4e47-a85f-9eea497c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5934D5-77E3-491E-A651-3CB80E18B886}"/>
</file>

<file path=customXml/itemProps2.xml><?xml version="1.0" encoding="utf-8"?>
<ds:datastoreItem xmlns:ds="http://schemas.openxmlformats.org/officeDocument/2006/customXml" ds:itemID="{A1C3D416-EBA5-4552-8641-3F06CD5553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F69C8B-E54F-4695-AFEB-38C3AE9DA42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for Lab4Epi_001_SM</Template>
  <TotalTime>2678</TotalTime>
  <Words>480</Words>
  <Application>Microsoft Office PowerPoint</Application>
  <PresentationFormat>On-screen Show (4:3)</PresentationFormat>
  <Paragraphs>113</Paragraphs>
  <Slides>24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csrtemplate</vt:lpstr>
      <vt:lpstr>PowerPoint Presentation</vt:lpstr>
      <vt:lpstr>Learning objectives</vt:lpstr>
      <vt:lpstr>History of PCR</vt:lpstr>
      <vt:lpstr>PRC overview</vt:lpstr>
      <vt:lpstr>Technical overview</vt:lpstr>
      <vt:lpstr>Background</vt:lpstr>
      <vt:lpstr>What you need for PCR</vt:lpstr>
      <vt:lpstr>What you need for PCR</vt:lpstr>
      <vt:lpstr>What you need for PCR</vt:lpstr>
      <vt:lpstr>Performing PCR</vt:lpstr>
      <vt:lpstr>Logaritmic multiplication</vt:lpstr>
      <vt:lpstr>Logaritmic multiplication</vt:lpstr>
      <vt:lpstr>Logaritmic multiplication</vt:lpstr>
      <vt:lpstr>Logaritmic multiplication</vt:lpstr>
      <vt:lpstr>Logaritmic multiplication</vt:lpstr>
      <vt:lpstr>Logaritmic multiplication</vt:lpstr>
      <vt:lpstr>Logaritmic multiplication</vt:lpstr>
      <vt:lpstr>PowerPoint Presentation</vt:lpstr>
      <vt:lpstr>Advantages of PCR</vt:lpstr>
      <vt:lpstr>Disadvantage of PCR</vt:lpstr>
      <vt:lpstr>Applications of PCR</vt:lpstr>
      <vt:lpstr>Restrictions of PCR</vt:lpstr>
      <vt:lpstr>PRC diagnostics</vt:lpstr>
      <vt:lpstr>PowerPoint Presentation</vt:lpstr>
    </vt:vector>
  </TitlesOfParts>
  <Company>Who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Anouk Berger</dc:creator>
  <cp:lastModifiedBy>Dinesh</cp:lastModifiedBy>
  <cp:revision>333</cp:revision>
  <cp:lastPrinted>2002-10-17T11:50:03Z</cp:lastPrinted>
  <dcterms:created xsi:type="dcterms:W3CDTF">2002-12-12T11:37:54Z</dcterms:created>
  <dcterms:modified xsi:type="dcterms:W3CDTF">2021-04-26T15:20:49Z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0x010100694E0DF0AA1A204C87E2AD670C058966</vt:lpwstr>
  </property>
</Properties>
</file>