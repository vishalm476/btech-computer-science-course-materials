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7" r:id="rId2"/>
    <p:sldId id="547" r:id="rId3"/>
    <p:sldId id="338" r:id="rId4"/>
    <p:sldId id="549" r:id="rId5"/>
    <p:sldId id="548" r:id="rId6"/>
    <p:sldId id="559" r:id="rId7"/>
    <p:sldId id="415" r:id="rId8"/>
    <p:sldId id="551" r:id="rId9"/>
    <p:sldId id="550" r:id="rId10"/>
    <p:sldId id="416" r:id="rId11"/>
    <p:sldId id="339" r:id="rId12"/>
    <p:sldId id="552" r:id="rId13"/>
    <p:sldId id="560" r:id="rId14"/>
    <p:sldId id="553" r:id="rId15"/>
    <p:sldId id="417" r:id="rId16"/>
    <p:sldId id="340" r:id="rId17"/>
    <p:sldId id="554" r:id="rId18"/>
    <p:sldId id="555" r:id="rId19"/>
    <p:sldId id="561" r:id="rId20"/>
    <p:sldId id="341" r:id="rId21"/>
    <p:sldId id="556" r:id="rId22"/>
    <p:sldId id="557" r:id="rId23"/>
    <p:sldId id="55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05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64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045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36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38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4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7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09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71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40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8356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158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6853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507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76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47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E3FAA-F4F4-4C43-BE43-68DFC75C7230}" type="datetimeFigureOut">
              <a:rPr lang="en-IN" smtClean="0"/>
              <a:t>28-09-2021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1AAEDC1-EC44-41FE-B1D6-D74C6641F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89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590" y="786674"/>
            <a:ext cx="990656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Enzyme immobilization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defined as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confining the enzyme molecules to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 phase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one in which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substrates and the products are present.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of attachment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 enzyme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=&gt; a solid matrix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escape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still 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 on its substrate.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640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416666-2ED5-419C-B0BC-A159DC10F45B}"/>
              </a:ext>
            </a:extLst>
          </p:cNvPr>
          <p:cNvSpPr/>
          <p:nvPr/>
        </p:nvSpPr>
        <p:spPr>
          <a:xfrm>
            <a:off x="449943" y="101603"/>
            <a:ext cx="10337327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Materials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materials used for immobilization of enzymes, called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carrier matrices, are usually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inert polymers or inorganic materials. The ideal carrier matrix has the following properties: 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cost,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Inertness,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strength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</a:p>
          <a:p>
            <a:pPr marL="342900" indent="-342900">
              <a:buAutoNum type="arabicPeriod"/>
            </a:pPr>
            <a:r>
              <a:rPr lang="en-US" sz="28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Regenerability</a:t>
            </a: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after the useful lifetime of the immobilized enzyme,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Enhancement of enzyme specificity,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product inhibition,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shift in the pH optimum for enzyme action to =&gt; desired value for the process, and reduction in microbial contamination and nonspecific adsorption</a:t>
            </a:r>
          </a:p>
          <a:p>
            <a:pPr marL="342900" indent="-342900"/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91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6885"/>
            <a:ext cx="9952383" cy="4435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used for the Immobilization of Enzymes  </a:t>
            </a:r>
            <a:endParaRPr lang="en-US" sz="28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1.Physical adsorption onto an inert carrier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Adsorption of enzymes onto insoluble supports is a very simple method of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wide applicability and capable of high enzyme loading (about one gram per gram of matrix).</a:t>
            </a:r>
          </a:p>
        </p:txBody>
      </p:sp>
    </p:spTree>
    <p:extLst>
      <p:ext uri="{BB962C8B-B14F-4D97-AF65-F5344CB8AC3E}">
        <p14:creationId xmlns:p14="http://schemas.microsoft.com/office/powerpoint/2010/main" val="335505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63074-3041-4619-87B3-88D0E9017CCB}"/>
              </a:ext>
            </a:extLst>
          </p:cNvPr>
          <p:cNvSpPr/>
          <p:nvPr/>
        </p:nvSpPr>
        <p:spPr>
          <a:xfrm>
            <a:off x="435429" y="116115"/>
            <a:ext cx="9742241" cy="7106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mixing the enzyme with a suitable adsorbent =&gt;  under appropriate conditions of pH and ionic strength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followed after a sufficient incubation period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washing off loosely bound and unbound enzyme will produce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immobilised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enzyme in  a directly usable form.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driving force causing this binding is usually due to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combination of hydrophobic effects and the formation of several salt links per enzyme molecule.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10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2FBACD-7CF0-4583-87F8-12FF812200E5}"/>
              </a:ext>
            </a:extLst>
          </p:cNvPr>
          <p:cNvSpPr/>
          <p:nvPr/>
        </p:nvSpPr>
        <p:spPr>
          <a:xfrm>
            <a:off x="1" y="319316"/>
            <a:ext cx="10190922" cy="591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particular choice of adsorbent depends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principally upon minimizing leakage of enzyme during use.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the physical links between the enzyme molecules and the support are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very strong, they may be reduced by many factors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the introduction of the substrate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484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E04249-DD7E-4025-8D8A-EC757A960805}"/>
              </a:ext>
            </a:extLst>
          </p:cNvPr>
          <p:cNvSpPr txBox="1"/>
          <p:nvPr/>
        </p:nvSpPr>
        <p:spPr>
          <a:xfrm>
            <a:off x="410817" y="424070"/>
            <a:ext cx="938254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must be taken that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binding forces are not weakened during use by inappropriate changes in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 or ionic strength.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 of suitable adsorbents are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ion-exchange matrices, porous carbon, clays, hydrous metal oxides, glasses and polymeric aromatic resins.</a:t>
            </a:r>
          </a:p>
        </p:txBody>
      </p:sp>
    </p:spTree>
    <p:extLst>
      <p:ext uri="{BB962C8B-B14F-4D97-AF65-F5344CB8AC3E}">
        <p14:creationId xmlns:p14="http://schemas.microsoft.com/office/powerpoint/2010/main" val="96239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961" y="46746"/>
            <a:ext cx="10545536" cy="7104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2.Covalent binding to a reactive insoluble support 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small amounts of enzymes may be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immobilised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=&gt; covalent binding (about 0.02 gram per gram of matrix).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strength of binding is very strong, however, and very little leakage of enzyme from the support occurs.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relative usefulness of various groups, found in enzymes, for covalent link formation depends upon =&gt; their  availability and reactivity (nucleophilicity) =&gt; in addition to the stability of the covalent link, once formed.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117002-9FD3-42E6-8404-20F83D49C60B}"/>
              </a:ext>
            </a:extLst>
          </p:cNvPr>
          <p:cNvSpPr/>
          <p:nvPr/>
        </p:nvSpPr>
        <p:spPr>
          <a:xfrm>
            <a:off x="198152" y="377371"/>
            <a:ext cx="10032527" cy="4435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reactivity of the protein side-chain nucleophiles is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determined by their state of protonation (i.e. charged status)    and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roughly follows the relationship  -S- &gt; -SH &gt; -O- &gt; -NH2 &gt; -COO- &gt; -OH &gt; NH3+ where =&gt; charges may be estimated from =&gt; knowledge of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of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ionising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groups and the pH of the solution.</a:t>
            </a:r>
          </a:p>
        </p:txBody>
      </p:sp>
    </p:spTree>
    <p:extLst>
      <p:ext uri="{BB962C8B-B14F-4D97-AF65-F5344CB8AC3E}">
        <p14:creationId xmlns:p14="http://schemas.microsoft.com/office/powerpoint/2010/main" val="3261485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096AFD-289F-498C-857F-4B7F7D423283}"/>
              </a:ext>
            </a:extLst>
          </p:cNvPr>
          <p:cNvSpPr/>
          <p:nvPr/>
        </p:nvSpPr>
        <p:spPr>
          <a:xfrm>
            <a:off x="0" y="478972"/>
            <a:ext cx="9806609" cy="5174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Lysine residues are found to be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the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generally useful groups for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covalent bonding of enzymes to insoluble supports due to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widespread surface exposure and high reactivity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especially in slightly alkaline solutions.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appear to be only very rarely involved in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active sites of enzymes.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86445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559E78-C7EF-4023-8D31-FD31416E0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4" y="177445"/>
            <a:ext cx="11974737" cy="57734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0786C2-A844-493C-AA4F-02A0D506C4BB}"/>
              </a:ext>
            </a:extLst>
          </p:cNvPr>
          <p:cNvSpPr/>
          <p:nvPr/>
        </p:nvSpPr>
        <p:spPr>
          <a:xfrm>
            <a:off x="116114" y="6095779"/>
            <a:ext cx="12075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Commonly used method for the covalent immobilization of enzymes</a:t>
            </a:r>
            <a:endParaRPr lang="en-IN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6199" y="31666"/>
            <a:ext cx="10157244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3.Inclusion in the lattices of a polymerized gel or</a:t>
            </a:r>
          </a:p>
          <a:p>
            <a:pPr algn="just"/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entrapment or membrane confinement</a:t>
            </a:r>
          </a:p>
          <a:p>
            <a:pPr algn="just"/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Entrapment of enzymes within gels or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convenient method for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in processes involving low molecular weight substrates and products.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Amounts in excess of 1 g of enzyme per gram of gel or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may be entrapped.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molecules have difficulty in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approaching the catalytic sites of entrapped enzymes precludes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of entrapped enzymes with high molecular weight substrates.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03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2E9678-9812-4410-9752-2CD557D8CB2D}"/>
              </a:ext>
            </a:extLst>
          </p:cNvPr>
          <p:cNvSpPr/>
          <p:nvPr/>
        </p:nvSpPr>
        <p:spPr>
          <a:xfrm>
            <a:off x="493486" y="406400"/>
            <a:ext cx="964442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entrapment process may be a purely physical caging or involve covalent binding.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example of this latter method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enzymes' surface lysine residues may be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derivatised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reaction with acryloyl chloride (CH2=CH-CO-Cl)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give the acryloyl amides.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product may then be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copolymerised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cross-linked with acrylamide (CH2=CH-CO-NH2) and bis acrylamide (H2NCO-CH=CH-CH=CH-CO-NH2) to form a gel.</a:t>
            </a:r>
          </a:p>
        </p:txBody>
      </p:sp>
    </p:spTree>
    <p:extLst>
      <p:ext uri="{BB962C8B-B14F-4D97-AF65-F5344CB8AC3E}">
        <p14:creationId xmlns:p14="http://schemas.microsoft.com/office/powerpoint/2010/main" val="97941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21CA42-3BA0-4819-BCD4-1F4D7D221929}"/>
              </a:ext>
            </a:extLst>
          </p:cNvPr>
          <p:cNvSpPr txBox="1"/>
          <p:nvPr/>
        </p:nvSpPr>
        <p:spPr>
          <a:xfrm>
            <a:off x="490330" y="1192697"/>
            <a:ext cx="866360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Enzymes may be entrapped in cellulose acetate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by, for example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making up an emulsion of the enzyme plus cellulose acetate in methylene chloride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followed by extrusion through a spinneret into a solution of an aqueous precipitant.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6537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078295-C272-4780-A847-4CA053669BA9}"/>
              </a:ext>
            </a:extLst>
          </p:cNvPr>
          <p:cNvSpPr/>
          <p:nvPr/>
        </p:nvSpPr>
        <p:spPr>
          <a:xfrm>
            <a:off x="0" y="1045029"/>
            <a:ext cx="99656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Entrapment is the method of choice for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immobilisation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microbial, animal and plant cells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calcium alginate is widely used.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AutoNum type="alphaLcParenBoth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enzyme non-covalently adsorbed to an insoluble particle;</a:t>
            </a:r>
          </a:p>
          <a:p>
            <a:pPr marL="342900" indent="-342900" algn="just">
              <a:buAutoNum type="alphaLcParenBoth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enzyme covalently attached to an insoluble particle;</a:t>
            </a:r>
          </a:p>
          <a:p>
            <a:pPr marL="342900" indent="-342900" algn="just">
              <a:buAutoNum type="alphaLcParenBoth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enzyme entrapped within an insoluble particle by a cross-linked polymer;</a:t>
            </a:r>
          </a:p>
          <a:p>
            <a:pPr marL="342900" indent="-342900" algn="just">
              <a:buAutoNum type="alphaLcParenBoth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enzyme confined within a semipermeable membrane </a:t>
            </a:r>
          </a:p>
        </p:txBody>
      </p:sp>
    </p:spTree>
    <p:extLst>
      <p:ext uri="{BB962C8B-B14F-4D97-AF65-F5344CB8AC3E}">
        <p14:creationId xmlns:p14="http://schemas.microsoft.com/office/powerpoint/2010/main" val="258799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08093"/>
            <a:ext cx="11263086" cy="47608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BAF422-EE16-4FEB-AAFC-936E10683F61}"/>
              </a:ext>
            </a:extLst>
          </p:cNvPr>
          <p:cNvSpPr/>
          <p:nvPr/>
        </p:nvSpPr>
        <p:spPr>
          <a:xfrm>
            <a:off x="1828798" y="6364904"/>
            <a:ext cx="65667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Immobilised enzyme systems</a:t>
            </a:r>
            <a:endParaRPr lang="en-IN" sz="3200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3E79D4-4737-415A-9291-4310624B4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57" y="4868940"/>
            <a:ext cx="10218057" cy="16189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4236" y="-44541"/>
            <a:ext cx="10116199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 of Enzyme Immobilization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immobilized enzyme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 enzyme separation step from the main process thus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simplifying and increasing the overall process yield.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separation from reaction mixture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providing the ability to control reaction times and minimize the enzymes lost in the product.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Re-use of enzymes for many reaction cycles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lowering the total production cost of enzyme mediated reactions.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of enzymes to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multiple standard chemical steps and provide commercially pure products. </a:t>
            </a:r>
          </a:p>
          <a:p>
            <a:pPr algn="just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538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A10BF4-F9D5-4E62-A5B4-EC41C56BD5F8}"/>
              </a:ext>
            </a:extLst>
          </p:cNvPr>
          <p:cNvSpPr/>
          <p:nvPr/>
        </p:nvSpPr>
        <p:spPr>
          <a:xfrm>
            <a:off x="420914" y="333829"/>
            <a:ext cx="9557973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Immobilized Enzymes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understand the changes in physical and chemical properties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an enzyme would be expected to undergo upon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insolubilization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=&gt; the best use is to be made of the various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insolubilization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available.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have been observed in the stability of enzymes and in their kinetic properties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microenvironment imposed upon them by the supporting matrix and by the products of their own action. </a:t>
            </a:r>
          </a:p>
        </p:txBody>
      </p:sp>
    </p:spTree>
    <p:extLst>
      <p:ext uri="{BB962C8B-B14F-4D97-AF65-F5344CB8AC3E}">
        <p14:creationId xmlns:p14="http://schemas.microsoft.com/office/powerpoint/2010/main" val="1977724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AB7E89-815B-48C0-9477-A787CFA616CD}"/>
              </a:ext>
            </a:extLst>
          </p:cNvPr>
          <p:cNvSpPr/>
          <p:nvPr/>
        </p:nvSpPr>
        <p:spPr>
          <a:xfrm>
            <a:off x="377371" y="333829"/>
            <a:ext cx="958826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endParaRPr lang="en-US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stability of enzymes might be expected to either increase or decrease 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insolubilization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depending on whether the carrier provides a microenvironment capable of denaturing the enzymic protein or of stabilizing it.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Inactivation due to autodigestion of proteolytic enzymes should be reduced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isolating the enzyme molecules from mutual attack by immobilizing them on a matrix. </a:t>
            </a:r>
          </a:p>
        </p:txBody>
      </p:sp>
    </p:spTree>
    <p:extLst>
      <p:ext uri="{BB962C8B-B14F-4D97-AF65-F5344CB8AC3E}">
        <p14:creationId xmlns:p14="http://schemas.microsoft.com/office/powerpoint/2010/main" val="2343171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0AEE1C-852E-4F68-9F3B-554992AA867D}"/>
              </a:ext>
            </a:extLst>
          </p:cNvPr>
          <p:cNvSpPr txBox="1"/>
          <p:nvPr/>
        </p:nvSpPr>
        <p:spPr>
          <a:xfrm>
            <a:off x="79513" y="357809"/>
            <a:ext cx="9713844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been found that enzymes coupled to inorganic carriers were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generally more stable than those attached to organic polymers when stored at 4 or 23 °C.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to denaturing agents may also be changed upon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insolubilization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Kinetic properties Changes in activity of enzymes due to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actual process of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insolubilization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not been studied in detail.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usually a decrease in specific activity of an enzyme upon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insolubilization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this can be attributed to denaturation of the enzymic protein caused by the coupling process.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585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64" y="420926"/>
            <a:ext cx="903154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an enzyme has been insolubilized, however,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finds itself in a microenvironment that may be drastically different from that existing in free solution.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microenvironment may be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of the physical and chemical character of the support matrix alone, or it may result from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interactions of the matrix with substrates or products involved in the enzymatic reaction. 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6226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99BD62-74C8-478C-8DDF-5C3D1DED3FF5}"/>
              </a:ext>
            </a:extLst>
          </p:cNvPr>
          <p:cNvSpPr/>
          <p:nvPr/>
        </p:nvSpPr>
        <p:spPr>
          <a:xfrm>
            <a:off x="508000" y="464458"/>
            <a:ext cx="9166087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diffusion of substrate from the bulk solution to the micro-environment of an immobilized enzyme can limit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rate of enzyme reaction.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at which substrate passes over the insoluble particle affects =&gt; thickness of the diffusion film =&gt; which in turn determines the concentration of substrate in the vicinity of the enzyme and hence the rate of reaction.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 of the molecular weight of the substrate can also be large.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7261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112D9C-47B7-401B-8436-0926B2AC223E}"/>
              </a:ext>
            </a:extLst>
          </p:cNvPr>
          <p:cNvSpPr/>
          <p:nvPr/>
        </p:nvSpPr>
        <p:spPr>
          <a:xfrm>
            <a:off x="391886" y="391886"/>
            <a:ext cx="928220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Diffusion of large molecules will obviously be limited by steric interactions with the matrix, and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reflected in the fact that =&gt; relative activity of bound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enymes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towards high molecular weight substrates has been generally found to be lower than towards low molecular weight substrates.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This, however, may be an advantage in some cases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the immobilized enzymes may be protected from attack by large inhibitor molecules.  </a:t>
            </a:r>
          </a:p>
          <a:p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9542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9036CF-88D3-4977-A738-4D61684AFE72}"/>
              </a:ext>
            </a:extLst>
          </p:cNvPr>
          <p:cNvSpPr/>
          <p:nvPr/>
        </p:nvSpPr>
        <p:spPr>
          <a:xfrm>
            <a:off x="3309257" y="3244334"/>
            <a:ext cx="615405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en-IN" sz="6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8742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4E0DF0AA1A204C87E2AD670C058966" ma:contentTypeVersion="4" ma:contentTypeDescription="Create a new document." ma:contentTypeScope="" ma:versionID="15b933ce0c0716803d25be1cd932ea4d">
  <xsd:schema xmlns:xsd="http://www.w3.org/2001/XMLSchema" xmlns:xs="http://www.w3.org/2001/XMLSchema" xmlns:p="http://schemas.microsoft.com/office/2006/metadata/properties" xmlns:ns2="98675793-adc3-4e47-a85f-9eea497c169c" targetNamespace="http://schemas.microsoft.com/office/2006/metadata/properties" ma:root="true" ma:fieldsID="d51886acfc1e4a9acfe40e812bf3e3a1" ns2:_="">
    <xsd:import namespace="98675793-adc3-4e47-a85f-9eea497c16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675793-adc3-4e47-a85f-9eea497c1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40DC4E-2D2F-4AD5-877C-7503EE8BE0F7}"/>
</file>

<file path=customXml/itemProps2.xml><?xml version="1.0" encoding="utf-8"?>
<ds:datastoreItem xmlns:ds="http://schemas.openxmlformats.org/officeDocument/2006/customXml" ds:itemID="{40D87513-54B2-4B8A-8076-CF6F0A4B95EC}"/>
</file>

<file path=customXml/itemProps3.xml><?xml version="1.0" encoding="utf-8"?>
<ds:datastoreItem xmlns:ds="http://schemas.openxmlformats.org/officeDocument/2006/customXml" ds:itemID="{15E70DB3-168E-4FAD-9E19-A7D0E1D47464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305</TotalTime>
  <Words>1398</Words>
  <Application>Microsoft Office PowerPoint</Application>
  <PresentationFormat>Widescreen</PresentationFormat>
  <Paragraphs>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 Anshuman</dc:creator>
  <cp:lastModifiedBy>DINESH PRASAD</cp:lastModifiedBy>
  <cp:revision>18</cp:revision>
  <dcterms:created xsi:type="dcterms:W3CDTF">2020-06-01T12:55:35Z</dcterms:created>
  <dcterms:modified xsi:type="dcterms:W3CDTF">2021-09-28T06:30:06Z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0x010100694E0DF0AA1A204C87E2AD670C058966</vt:lpwstr>
  </property>
</Properties>
</file>