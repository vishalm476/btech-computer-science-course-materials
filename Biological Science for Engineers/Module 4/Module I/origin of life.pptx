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72" r:id="rId2"/>
    <p:sldId id="273" r:id="rId3"/>
    <p:sldId id="262" r:id="rId4"/>
    <p:sldId id="268" r:id="rId5"/>
    <p:sldId id="259" r:id="rId6"/>
    <p:sldId id="261" r:id="rId7"/>
    <p:sldId id="260" r:id="rId8"/>
    <p:sldId id="274" r:id="rId9"/>
    <p:sldId id="263" r:id="rId10"/>
    <p:sldId id="264" r:id="rId11"/>
    <p:sldId id="265" r:id="rId12"/>
    <p:sldId id="266" r:id="rId13"/>
    <p:sldId id="269" r:id="rId14"/>
    <p:sldId id="270" r:id="rId15"/>
    <p:sldId id="276" r:id="rId16"/>
    <p:sldId id="275"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6" r:id="rId36"/>
    <p:sldId id="299" r:id="rId37"/>
    <p:sldId id="300" r:id="rId38"/>
    <p:sldId id="301" r:id="rId39"/>
    <p:sldId id="302"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FFB5B7-C40E-4231-BC5A-4BF72C3672FC}" type="datetimeFigureOut">
              <a:rPr lang="en-US" smtClean="0"/>
              <a:t>1/14/2019</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3FB1D7-BE44-4D8C-A2C3-7C95D6402547}"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Ro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Rot="1" noChangeArrowheads="1" noTextEdit="1"/>
          </p:cNvSpPr>
          <p:nvPr>
            <p:ph type="sldImg"/>
          </p:nvPr>
        </p:nvSpPr>
        <p:spPr>
          <a:ln/>
        </p:spPr>
      </p:sp>
      <p:sp>
        <p:nvSpPr>
          <p:cNvPr id="25603"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Ro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Rot="1" noChangeArrowheads="1" noTextEdit="1"/>
          </p:cNvSpPr>
          <p:nvPr>
            <p:ph type="sldImg"/>
          </p:nvPr>
        </p:nvSpPr>
        <p:spPr>
          <a:ln/>
        </p:spPr>
      </p:sp>
      <p:sp>
        <p:nvSpPr>
          <p:cNvPr id="27651"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10856CA-1D56-4A6F-9207-D62D0AAB1C13}"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980A803-8811-42C2-A78E-2A4EC8E39DCD}"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0F0FC76-72C0-4207-9B8C-21E12B6055B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163B28F-EEAE-4558-859F-176DA0B30EB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6AF78D68-38A5-4F60-BE5B-F30B512AC201}"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6D56A430-9095-4735-A266-2572C2843456}"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3E2E624A-82A7-45A8-A979-36BF48979277}"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01B97EC-2AF2-47CA-93AC-ECCB2043342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F3EA73C-8A3F-4D64-A0EB-BB04F4B8DF0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FAFC97C-CDC4-4A01-AE22-46DE05CBE5A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B3D6587-A0FE-4B57-B42A-D2B2B24F92C2}"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71F30C5C-281C-4D9F-AF09-FC2F1D25187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www.saburchill.com/IBbiology/bio_hp.html"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www.saburchill.com/IBbiology/bio_hp.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saburchill.com/IBbiology/bio_hp.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saburchill.com/IBbiology/bio_hp.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saburchill.com/IBbiology/bio_hp.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microscopy.fsu.edu/cells/plants/plantmodel.html" TargetMode="External"/><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hyperlink" Target="http://micro.magnet.fsu.edu/cells/animalcell.html"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4000" b="1"/>
              <a:t>The Big Bang theory of the formation of the universe</a:t>
            </a:r>
          </a:p>
        </p:txBody>
      </p:sp>
      <p:sp>
        <p:nvSpPr>
          <p:cNvPr id="23555" name="Rectangle 3"/>
          <p:cNvSpPr>
            <a:spLocks noGrp="1" noChangeArrowheads="1"/>
          </p:cNvSpPr>
          <p:nvPr>
            <p:ph type="body" sz="half" idx="1"/>
          </p:nvPr>
        </p:nvSpPr>
        <p:spPr>
          <a:xfrm>
            <a:off x="0" y="1600200"/>
            <a:ext cx="4495800" cy="4876800"/>
          </a:xfrm>
        </p:spPr>
        <p:txBody>
          <a:bodyPr/>
          <a:lstStyle/>
          <a:p>
            <a:pPr>
              <a:lnSpc>
                <a:spcPct val="80000"/>
              </a:lnSpc>
            </a:pPr>
            <a:endParaRPr lang="en-US" sz="2400" b="1"/>
          </a:p>
          <a:p>
            <a:pPr>
              <a:lnSpc>
                <a:spcPct val="80000"/>
              </a:lnSpc>
            </a:pPr>
            <a:r>
              <a:rPr lang="en-US" sz="2400"/>
              <a:t>All material in the universe was created in a huge "explosion," creating and defining matter and space.</a:t>
            </a:r>
          </a:p>
          <a:p>
            <a:pPr>
              <a:lnSpc>
                <a:spcPct val="80000"/>
              </a:lnSpc>
            </a:pPr>
            <a:r>
              <a:rPr lang="en-US" sz="2400"/>
              <a:t>The sudden cooling of the superheated ejecta facilitated the combination of atomic components into atoms and molecules. </a:t>
            </a:r>
          </a:p>
          <a:p>
            <a:pPr>
              <a:lnSpc>
                <a:spcPct val="80000"/>
              </a:lnSpc>
            </a:pPr>
            <a:r>
              <a:rPr lang="en-US" sz="2400"/>
              <a:t>These clouds of gasses eventually cooled and formed the principle components of galaxies - including stars and planets. </a:t>
            </a:r>
          </a:p>
        </p:txBody>
      </p:sp>
      <p:sp>
        <p:nvSpPr>
          <p:cNvPr id="23556" name="Rectangle 4"/>
          <p:cNvSpPr>
            <a:spLocks noGrp="1" noChangeArrowheads="1"/>
          </p:cNvSpPr>
          <p:nvPr>
            <p:ph type="body" sz="half" idx="2"/>
          </p:nvPr>
        </p:nvSpPr>
        <p:spPr/>
        <p:txBody>
          <a:bodyPr/>
          <a:lstStyle/>
          <a:p>
            <a:pPr>
              <a:lnSpc>
                <a:spcPct val="80000"/>
              </a:lnSpc>
            </a:pPr>
            <a:endParaRPr lang="en-US" sz="2400"/>
          </a:p>
        </p:txBody>
      </p:sp>
      <p:pic>
        <p:nvPicPr>
          <p:cNvPr id="23558" name="Picture 6" descr="big+bang"/>
          <p:cNvPicPr>
            <a:picLocks noChangeAspect="1" noChangeArrowheads="1"/>
          </p:cNvPicPr>
          <p:nvPr/>
        </p:nvPicPr>
        <p:blipFill>
          <a:blip r:embed="rId2"/>
          <a:srcRect/>
          <a:stretch>
            <a:fillRect/>
          </a:stretch>
        </p:blipFill>
        <p:spPr bwMode="auto">
          <a:xfrm>
            <a:off x="4648200" y="1600200"/>
            <a:ext cx="4267200" cy="48006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type="title"/>
          </p:nvPr>
        </p:nvSpPr>
        <p:spPr/>
        <p:txBody>
          <a:bodyPr/>
          <a:lstStyle/>
          <a:p>
            <a:r>
              <a:rPr lang="en-US" sz="4000"/>
              <a:t>Formation of the solar system</a:t>
            </a:r>
            <a:br>
              <a:rPr lang="en-US" sz="4000"/>
            </a:br>
            <a:endParaRPr lang="en-US" sz="4000"/>
          </a:p>
        </p:txBody>
      </p:sp>
      <p:sp>
        <p:nvSpPr>
          <p:cNvPr id="25605" name="Rectangle 5"/>
          <p:cNvSpPr>
            <a:spLocks noGrp="1" noChangeArrowheads="1"/>
          </p:cNvSpPr>
          <p:nvPr>
            <p:ph type="body" sz="half" idx="1"/>
          </p:nvPr>
        </p:nvSpPr>
        <p:spPr/>
        <p:txBody>
          <a:bodyPr/>
          <a:lstStyle/>
          <a:p>
            <a:pPr>
              <a:lnSpc>
                <a:spcPct val="80000"/>
              </a:lnSpc>
            </a:pPr>
            <a:endParaRPr lang="en-US" sz="1800"/>
          </a:p>
        </p:txBody>
      </p:sp>
      <p:sp>
        <p:nvSpPr>
          <p:cNvPr id="25606" name="Rectangle 6"/>
          <p:cNvSpPr>
            <a:spLocks noGrp="1" noChangeArrowheads="1"/>
          </p:cNvSpPr>
          <p:nvPr>
            <p:ph type="body" sz="half" idx="2"/>
          </p:nvPr>
        </p:nvSpPr>
        <p:spPr>
          <a:xfrm>
            <a:off x="4648200" y="1219200"/>
            <a:ext cx="4495800" cy="5638800"/>
          </a:xfrm>
        </p:spPr>
        <p:txBody>
          <a:bodyPr/>
          <a:lstStyle/>
          <a:p>
            <a:pPr>
              <a:lnSpc>
                <a:spcPct val="80000"/>
              </a:lnSpc>
              <a:buFontTx/>
              <a:buNone/>
            </a:pPr>
            <a:r>
              <a:rPr lang="en-US" sz="1800" b="1"/>
              <a:t>A. The earth formed approximately 4.6 BYA (billion years ago.) Initially, there was a cloud of gasses and dust particles, possibly originating from the ejected particles of a nearby supernova. </a:t>
            </a:r>
          </a:p>
          <a:p>
            <a:pPr>
              <a:lnSpc>
                <a:spcPct val="80000"/>
              </a:lnSpc>
              <a:buFontTx/>
              <a:buNone/>
            </a:pPr>
            <a:r>
              <a:rPr lang="en-US" sz="1800" b="1"/>
              <a:t>  </a:t>
            </a:r>
          </a:p>
          <a:p>
            <a:pPr>
              <a:lnSpc>
                <a:spcPct val="80000"/>
              </a:lnSpc>
              <a:buFontTx/>
              <a:buNone/>
            </a:pPr>
            <a:r>
              <a:rPr lang="en-US" sz="1800" b="1"/>
              <a:t>B. The cloud gradually contracted and flattened, concentrating about 99% of its mass in the center with the rest rotating counterclockwise in a flattened disk. </a:t>
            </a:r>
          </a:p>
          <a:p>
            <a:pPr>
              <a:lnSpc>
                <a:spcPct val="80000"/>
              </a:lnSpc>
              <a:buFontTx/>
              <a:buNone/>
            </a:pPr>
            <a:r>
              <a:rPr lang="en-US" sz="1800" b="1"/>
              <a:t>  </a:t>
            </a:r>
          </a:p>
          <a:p>
            <a:pPr>
              <a:lnSpc>
                <a:spcPct val="80000"/>
              </a:lnSpc>
              <a:buFontTx/>
              <a:buNone/>
            </a:pPr>
            <a:r>
              <a:rPr lang="en-US" sz="1800" b="1"/>
              <a:t>C. As the disk rotated, turbulence was created, causing condensation of the disk into small, turbular eddies. These gradually accreted together to form protoplanets. </a:t>
            </a:r>
          </a:p>
          <a:p>
            <a:pPr>
              <a:lnSpc>
                <a:spcPct val="80000"/>
              </a:lnSpc>
              <a:buFontTx/>
              <a:buNone/>
            </a:pPr>
            <a:r>
              <a:rPr lang="en-US" sz="1800" b="1"/>
              <a:t>  </a:t>
            </a:r>
          </a:p>
          <a:p>
            <a:pPr>
              <a:lnSpc>
                <a:spcPct val="80000"/>
              </a:lnSpc>
              <a:buFontTx/>
              <a:buNone/>
            </a:pPr>
            <a:r>
              <a:rPr lang="en-US" sz="1800" b="1"/>
              <a:t>D. These protoplanets further accreted, creating the mature planets of the solar system. </a:t>
            </a:r>
          </a:p>
          <a:p>
            <a:pPr>
              <a:lnSpc>
                <a:spcPct val="80000"/>
              </a:lnSpc>
              <a:buFontTx/>
              <a:buNone/>
            </a:pPr>
            <a:r>
              <a:rPr lang="en-US" sz="1800"/>
              <a:t>  </a:t>
            </a:r>
          </a:p>
        </p:txBody>
      </p:sp>
      <p:pic>
        <p:nvPicPr>
          <p:cNvPr id="25608" name="Picture 8" descr="solarsyscolor"/>
          <p:cNvPicPr>
            <a:picLocks noChangeAspect="1" noChangeArrowheads="1"/>
          </p:cNvPicPr>
          <p:nvPr/>
        </p:nvPicPr>
        <p:blipFill>
          <a:blip r:embed="rId2"/>
          <a:srcRect/>
          <a:stretch>
            <a:fillRect/>
          </a:stretch>
        </p:blipFill>
        <p:spPr bwMode="auto">
          <a:xfrm>
            <a:off x="0" y="1066800"/>
            <a:ext cx="4495800" cy="57912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Origin of life</a:t>
            </a:r>
          </a:p>
        </p:txBody>
      </p:sp>
      <p:sp>
        <p:nvSpPr>
          <p:cNvPr id="11267" name="Rectangle 3"/>
          <p:cNvSpPr>
            <a:spLocks noGrp="1" noChangeArrowheads="1"/>
          </p:cNvSpPr>
          <p:nvPr>
            <p:ph type="body" idx="1"/>
          </p:nvPr>
        </p:nvSpPr>
        <p:spPr>
          <a:xfrm>
            <a:off x="304800" y="1219200"/>
            <a:ext cx="8382000" cy="5638800"/>
          </a:xfrm>
        </p:spPr>
        <p:txBody>
          <a:bodyPr/>
          <a:lstStyle/>
          <a:p>
            <a:pPr marL="381000" indent="-381000" algn="ctr">
              <a:lnSpc>
                <a:spcPct val="80000"/>
              </a:lnSpc>
              <a:buFontTx/>
              <a:buNone/>
            </a:pPr>
            <a:r>
              <a:rPr lang="en-US" sz="2400" b="1" u="sng"/>
              <a:t>Oparin-Haldane hypothesis</a:t>
            </a:r>
            <a:r>
              <a:rPr lang="en-US" sz="1800"/>
              <a:t>.</a:t>
            </a:r>
          </a:p>
          <a:p>
            <a:pPr marL="381000" indent="-381000">
              <a:lnSpc>
                <a:spcPct val="80000"/>
              </a:lnSpc>
            </a:pPr>
            <a:r>
              <a:rPr lang="en-US" sz="1800"/>
              <a:t>The atmosphere of the early Earth may have been chemically reducing in nature, composed primarily of </a:t>
            </a:r>
          </a:p>
          <a:p>
            <a:pPr marL="381000" indent="-381000">
              <a:lnSpc>
                <a:spcPct val="80000"/>
              </a:lnSpc>
              <a:buFontTx/>
              <a:buAutoNum type="arabicPeriod"/>
            </a:pPr>
            <a:r>
              <a:rPr lang="en-US" sz="1800"/>
              <a:t>methane (CH4), </a:t>
            </a:r>
          </a:p>
          <a:p>
            <a:pPr marL="381000" indent="-381000">
              <a:lnSpc>
                <a:spcPct val="80000"/>
              </a:lnSpc>
              <a:buFontTx/>
              <a:buAutoNum type="arabicPeriod"/>
            </a:pPr>
            <a:r>
              <a:rPr lang="en-US" sz="1800"/>
              <a:t>ammonia (NH3),</a:t>
            </a:r>
          </a:p>
          <a:p>
            <a:pPr marL="381000" indent="-381000">
              <a:lnSpc>
                <a:spcPct val="80000"/>
              </a:lnSpc>
              <a:buFontTx/>
              <a:buAutoNum type="arabicPeriod"/>
            </a:pPr>
            <a:r>
              <a:rPr lang="en-US" sz="1800"/>
              <a:t>water (H2O), </a:t>
            </a:r>
          </a:p>
          <a:p>
            <a:pPr marL="381000" indent="-381000">
              <a:lnSpc>
                <a:spcPct val="80000"/>
              </a:lnSpc>
              <a:buFontTx/>
              <a:buAutoNum type="arabicPeriod"/>
            </a:pPr>
            <a:r>
              <a:rPr lang="en-US" sz="1800"/>
              <a:t>hydrogen sulfide (H2S), </a:t>
            </a:r>
          </a:p>
          <a:p>
            <a:pPr marL="381000" indent="-381000">
              <a:lnSpc>
                <a:spcPct val="80000"/>
              </a:lnSpc>
              <a:buFontTx/>
              <a:buAutoNum type="arabicPeriod"/>
            </a:pPr>
            <a:r>
              <a:rPr lang="en-US" sz="1800"/>
              <a:t>carbon dioxide (CO2) or </a:t>
            </a:r>
          </a:p>
          <a:p>
            <a:pPr marL="381000" indent="-381000">
              <a:lnSpc>
                <a:spcPct val="80000"/>
              </a:lnSpc>
              <a:buFontTx/>
              <a:buAutoNum type="arabicPeriod"/>
            </a:pPr>
            <a:r>
              <a:rPr lang="en-US" sz="1800"/>
              <a:t>carbon monoxide (CO), and </a:t>
            </a:r>
          </a:p>
          <a:p>
            <a:pPr marL="381000" indent="-381000">
              <a:lnSpc>
                <a:spcPct val="80000"/>
              </a:lnSpc>
              <a:buFontTx/>
              <a:buAutoNum type="arabicPeriod"/>
            </a:pPr>
            <a:r>
              <a:rPr lang="en-US" sz="1800"/>
              <a:t>phosphate (PO43-), with </a:t>
            </a:r>
          </a:p>
          <a:p>
            <a:pPr marL="381000" indent="-381000">
              <a:lnSpc>
                <a:spcPct val="80000"/>
              </a:lnSpc>
              <a:buFontTx/>
              <a:buAutoNum type="arabicPeriod"/>
            </a:pPr>
            <a:r>
              <a:rPr lang="en-US" sz="1800"/>
              <a:t>molecular oxygen (O2) and </a:t>
            </a:r>
          </a:p>
          <a:p>
            <a:pPr marL="381000" indent="-381000">
              <a:lnSpc>
                <a:spcPct val="80000"/>
              </a:lnSpc>
              <a:buFontTx/>
              <a:buAutoNum type="arabicPeriod"/>
            </a:pPr>
            <a:r>
              <a:rPr lang="en-US" sz="1800"/>
              <a:t>ozone (O3) either rare or absent. </a:t>
            </a:r>
          </a:p>
          <a:p>
            <a:pPr marL="381000" indent="-381000">
              <a:lnSpc>
                <a:spcPct val="80000"/>
              </a:lnSpc>
            </a:pPr>
            <a:r>
              <a:rPr lang="en-US" sz="1800"/>
              <a:t>In such a reducing atmosphere, electrical activity can catalyze the creation of certain basic small molecules (monomers) of life, such as amino acids. </a:t>
            </a:r>
          </a:p>
          <a:p>
            <a:pPr marL="381000" indent="-381000">
              <a:lnSpc>
                <a:spcPct val="80000"/>
              </a:lnSpc>
            </a:pPr>
            <a:r>
              <a:rPr lang="en-US" sz="1800"/>
              <a:t>This was demonstrated in the Miller–Urey experiment by Stanley L. Miller and Harold C. Urey in 1953. </a:t>
            </a:r>
          </a:p>
          <a:p>
            <a:pPr marL="381000" indent="-381000">
              <a:lnSpc>
                <a:spcPct val="80000"/>
              </a:lnSpc>
            </a:pPr>
            <a:r>
              <a:rPr lang="en-US" sz="1800"/>
              <a:t>Phospholipids (of an appropriate length) can spontaneously form lipid bilayers, a basic component of the cell membrane </a:t>
            </a:r>
          </a:p>
          <a:p>
            <a:pPr marL="381000" indent="-381000">
              <a:lnSpc>
                <a:spcPct val="80000"/>
              </a:lnSpc>
            </a:pPr>
            <a:r>
              <a:rPr lang="en-US" sz="1800"/>
              <a:t>These organics, accumulated in the surface waters of the ocean, forming a "primordial soup", out of which, in time, life in its most elementary form emerged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Oparin-Haldane model</a:t>
            </a:r>
          </a:p>
        </p:txBody>
      </p:sp>
      <p:sp>
        <p:nvSpPr>
          <p:cNvPr id="19459" name="Rectangle 3"/>
          <p:cNvSpPr>
            <a:spLocks noGrp="1" noChangeArrowheads="1"/>
          </p:cNvSpPr>
          <p:nvPr>
            <p:ph type="body" idx="1"/>
          </p:nvPr>
        </p:nvSpPr>
        <p:spPr>
          <a:xfrm>
            <a:off x="457200" y="1600200"/>
            <a:ext cx="8229600" cy="4953000"/>
          </a:xfrm>
        </p:spPr>
        <p:txBody>
          <a:bodyPr/>
          <a:lstStyle/>
          <a:p>
            <a:pPr>
              <a:lnSpc>
                <a:spcPct val="90000"/>
              </a:lnSpc>
              <a:buFontTx/>
              <a:buNone/>
            </a:pPr>
            <a:r>
              <a:rPr lang="en-US" sz="2800"/>
              <a:t>The steps of the Oparin-Haldane model are described below. </a:t>
            </a:r>
          </a:p>
          <a:p>
            <a:pPr>
              <a:lnSpc>
                <a:spcPct val="90000"/>
              </a:lnSpc>
            </a:pPr>
            <a:r>
              <a:rPr lang="en-US" sz="2800"/>
              <a:t>1) Organic molecules including amino acids and nucleotides are synthesized abiotically (without living cells). </a:t>
            </a:r>
          </a:p>
          <a:p>
            <a:pPr>
              <a:lnSpc>
                <a:spcPct val="90000"/>
              </a:lnSpc>
            </a:pPr>
            <a:r>
              <a:rPr lang="en-US" sz="2800"/>
              <a:t>2) Organic building blocks in the prebiotic soup are assembled into polymers of proteins and nucleic acids. </a:t>
            </a:r>
          </a:p>
          <a:p>
            <a:pPr>
              <a:lnSpc>
                <a:spcPct val="90000"/>
              </a:lnSpc>
            </a:pPr>
            <a:r>
              <a:rPr lang="en-US" sz="2800"/>
              <a:t>3) Biological polymers are assembled into a self-replicating organism that fed on the existing organic molecules.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endParaRPr lang="en-US"/>
          </a:p>
        </p:txBody>
      </p:sp>
      <p:sp>
        <p:nvSpPr>
          <p:cNvPr id="6147" name="Rectangle 3"/>
          <p:cNvSpPr>
            <a:spLocks noGrp="1" noChangeArrowheads="1"/>
          </p:cNvSpPr>
          <p:nvPr>
            <p:ph type="body" idx="1"/>
          </p:nvPr>
        </p:nvSpPr>
        <p:spPr/>
        <p:txBody>
          <a:bodyPr/>
          <a:lstStyle/>
          <a:p>
            <a:endParaRPr lang="en-US"/>
          </a:p>
        </p:txBody>
      </p:sp>
      <p:pic>
        <p:nvPicPr>
          <p:cNvPr id="6149" name="Picture 5" descr="lifeorigin1"/>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p:txBody>
          <a:bodyPr/>
          <a:lstStyle/>
          <a:p>
            <a:r>
              <a:rPr lang="en-US" b="1"/>
              <a:t>Miller-Urey Experiment</a:t>
            </a:r>
          </a:p>
        </p:txBody>
      </p:sp>
      <p:sp>
        <p:nvSpPr>
          <p:cNvPr id="9221" name="Rectangle 5"/>
          <p:cNvSpPr>
            <a:spLocks noGrp="1" noChangeArrowheads="1"/>
          </p:cNvSpPr>
          <p:nvPr>
            <p:ph type="body" sz="half" idx="1"/>
          </p:nvPr>
        </p:nvSpPr>
        <p:spPr>
          <a:xfrm>
            <a:off x="457200" y="1371600"/>
            <a:ext cx="4038600" cy="5334000"/>
          </a:xfrm>
        </p:spPr>
        <p:txBody>
          <a:bodyPr/>
          <a:lstStyle/>
          <a:p>
            <a:pPr>
              <a:lnSpc>
                <a:spcPct val="80000"/>
              </a:lnSpc>
            </a:pPr>
            <a:r>
              <a:rPr lang="en-US" sz="1600"/>
              <a:t>Diagram of the Miller-Urey apparatus Conducted in 1953 by Stanley Miller under the supervision of Harold Urey; the first experiment to test the Oparin-Haldane theory about the evolution of prebiotic chemicals and the origin of life on Earth. </a:t>
            </a:r>
          </a:p>
          <a:p>
            <a:pPr>
              <a:lnSpc>
                <a:spcPct val="80000"/>
              </a:lnSpc>
              <a:buFontTx/>
              <a:buAutoNum type="arabicPeriod"/>
            </a:pPr>
            <a:r>
              <a:rPr lang="en-US" sz="1600"/>
              <a:t>A mixture of methane, ammonia, hydrogen, and water vapor, to simulate the version of Earth's primitive, reducing atmosphere proposed by Oparin, was introduced into a 5-liter flask and energized by an electrical discharge apparatus to represent ultraviolet radiation from the Sun.</a:t>
            </a:r>
          </a:p>
          <a:p>
            <a:pPr>
              <a:lnSpc>
                <a:spcPct val="80000"/>
              </a:lnSpc>
              <a:buFontTx/>
              <a:buAutoNum type="arabicPeriod"/>
            </a:pPr>
            <a:r>
              <a:rPr lang="en-US" sz="1600"/>
              <a:t>The products were allowed to condense and collect in a lower flask which modeled a body of water on the Earth's surface.</a:t>
            </a:r>
          </a:p>
          <a:p>
            <a:pPr>
              <a:lnSpc>
                <a:spcPct val="80000"/>
              </a:lnSpc>
              <a:buFontTx/>
              <a:buAutoNum type="arabicPeriod"/>
            </a:pPr>
            <a:r>
              <a:rPr lang="en-US" sz="1600"/>
              <a:t>Heat supplied to this flask recycled the water vapor just as water evaporates from lakes and seas, before moving into the atmosphere and condensing again as rain. </a:t>
            </a:r>
          </a:p>
        </p:txBody>
      </p:sp>
      <p:sp>
        <p:nvSpPr>
          <p:cNvPr id="9222" name="Rectangle 6"/>
          <p:cNvSpPr>
            <a:spLocks noGrp="1" noChangeArrowheads="1"/>
          </p:cNvSpPr>
          <p:nvPr>
            <p:ph type="body" sz="half" idx="2"/>
          </p:nvPr>
        </p:nvSpPr>
        <p:spPr/>
        <p:txBody>
          <a:bodyPr/>
          <a:lstStyle/>
          <a:p>
            <a:pPr>
              <a:lnSpc>
                <a:spcPct val="80000"/>
              </a:lnSpc>
            </a:pPr>
            <a:endParaRPr lang="en-US" sz="1600"/>
          </a:p>
        </p:txBody>
      </p:sp>
      <p:pic>
        <p:nvPicPr>
          <p:cNvPr id="9226" name="Picture 10" descr="urey"/>
          <p:cNvPicPr>
            <a:picLocks noChangeAspect="1" noChangeArrowheads="1"/>
          </p:cNvPicPr>
          <p:nvPr/>
        </p:nvPicPr>
        <p:blipFill>
          <a:blip r:embed="rId2"/>
          <a:srcRect/>
          <a:stretch>
            <a:fillRect/>
          </a:stretch>
        </p:blipFill>
        <p:spPr bwMode="auto">
          <a:xfrm>
            <a:off x="4495800" y="1219200"/>
            <a:ext cx="4371975" cy="539115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p:txBody>
          <a:bodyPr/>
          <a:lstStyle/>
          <a:p>
            <a:r>
              <a:rPr lang="en-US" b="1"/>
              <a:t>Miller-Urey Experiment</a:t>
            </a:r>
          </a:p>
        </p:txBody>
      </p:sp>
      <p:sp>
        <p:nvSpPr>
          <p:cNvPr id="7173" name="Rectangle 5"/>
          <p:cNvSpPr>
            <a:spLocks noGrp="1" noChangeArrowheads="1"/>
          </p:cNvSpPr>
          <p:nvPr>
            <p:ph type="body" sz="half" idx="1"/>
          </p:nvPr>
        </p:nvSpPr>
        <p:spPr>
          <a:xfrm>
            <a:off x="457200" y="1219200"/>
            <a:ext cx="4038600" cy="5334000"/>
          </a:xfrm>
        </p:spPr>
        <p:txBody>
          <a:bodyPr/>
          <a:lstStyle/>
          <a:p>
            <a:pPr>
              <a:lnSpc>
                <a:spcPct val="80000"/>
              </a:lnSpc>
            </a:pPr>
            <a:r>
              <a:rPr lang="en-US" sz="1600"/>
              <a:t>After a day of continuous operation, Miller and Urey found a thin layer of hydrocarbons on the surface of the water.</a:t>
            </a:r>
          </a:p>
          <a:p>
            <a:pPr>
              <a:lnSpc>
                <a:spcPct val="80000"/>
              </a:lnSpc>
            </a:pPr>
            <a:r>
              <a:rPr lang="en-US" sz="1600"/>
              <a:t>After about a week of operation, a dark brown scum had collected in the lower flask and was found to contain several types of amino acids, including glycine and alanine, together with sugars, tars, and various other unidentified organic chemicals </a:t>
            </a:r>
          </a:p>
          <a:p>
            <a:pPr>
              <a:lnSpc>
                <a:spcPct val="80000"/>
              </a:lnSpc>
            </a:pPr>
            <a:r>
              <a:rPr lang="en-US" sz="1600"/>
              <a:t>The conditions were:</a:t>
            </a:r>
          </a:p>
          <a:p>
            <a:pPr>
              <a:lnSpc>
                <a:spcPct val="80000"/>
              </a:lnSpc>
              <a:buFontTx/>
              <a:buAutoNum type="arabicPeriod"/>
            </a:pPr>
            <a:r>
              <a:rPr lang="en-US" sz="1600"/>
              <a:t>A gaseous phase containing reduced sources of carbon (methane), nitrogen (ammonia), oxygen atoms (water), and hydrogen atoms from any or all of these precursors as well as hydrogen gas. </a:t>
            </a:r>
          </a:p>
          <a:p>
            <a:pPr>
              <a:lnSpc>
                <a:spcPct val="80000"/>
              </a:lnSpc>
              <a:buFontTx/>
              <a:buAutoNum type="arabicPeriod"/>
            </a:pPr>
            <a:r>
              <a:rPr lang="en-US" sz="1600"/>
              <a:t>Electrical energy provided by spark discharge. </a:t>
            </a:r>
          </a:p>
          <a:p>
            <a:pPr>
              <a:lnSpc>
                <a:spcPct val="80000"/>
              </a:lnSpc>
              <a:buFontTx/>
              <a:buAutoNum type="arabicPeriod"/>
            </a:pPr>
            <a:r>
              <a:rPr lang="en-US" sz="1600"/>
              <a:t>Ambient temperature between 0 and 100 C. </a:t>
            </a:r>
          </a:p>
          <a:p>
            <a:pPr>
              <a:lnSpc>
                <a:spcPct val="80000"/>
              </a:lnSpc>
              <a:buFontTx/>
              <a:buAutoNum type="arabicPeriod"/>
            </a:pPr>
            <a:r>
              <a:rPr lang="en-US" sz="1600"/>
              <a:t>Sterile conditions to begin with (abiotic environment). </a:t>
            </a:r>
          </a:p>
          <a:p>
            <a:pPr>
              <a:lnSpc>
                <a:spcPct val="80000"/>
              </a:lnSpc>
              <a:buFontTx/>
              <a:buAutoNum type="arabicPeriod" startAt="4"/>
            </a:pPr>
            <a:endParaRPr lang="en-US" sz="1600"/>
          </a:p>
        </p:txBody>
      </p:sp>
      <p:sp>
        <p:nvSpPr>
          <p:cNvPr id="7174" name="Rectangle 6"/>
          <p:cNvSpPr>
            <a:spLocks noGrp="1" noChangeArrowheads="1"/>
          </p:cNvSpPr>
          <p:nvPr>
            <p:ph type="body" sz="half" idx="2"/>
          </p:nvPr>
        </p:nvSpPr>
        <p:spPr>
          <a:xfrm>
            <a:off x="4648200" y="1219200"/>
            <a:ext cx="4038600" cy="4906963"/>
          </a:xfrm>
        </p:spPr>
        <p:txBody>
          <a:bodyPr/>
          <a:lstStyle/>
          <a:p>
            <a:pPr>
              <a:lnSpc>
                <a:spcPct val="80000"/>
              </a:lnSpc>
            </a:pPr>
            <a:r>
              <a:rPr lang="en-US" sz="1600"/>
              <a:t>Apparatus used in the Miller-Urey experiment</a:t>
            </a:r>
            <a:br>
              <a:rPr lang="en-US" sz="1600"/>
            </a:br>
            <a:endParaRPr lang="en-US" sz="1600"/>
          </a:p>
        </p:txBody>
      </p:sp>
      <p:pic>
        <p:nvPicPr>
          <p:cNvPr id="7176" name="Picture 8" descr="photo of the Miller-Urey apparatus"/>
          <p:cNvPicPr>
            <a:picLocks noChangeAspect="1" noChangeArrowheads="1"/>
          </p:cNvPicPr>
          <p:nvPr/>
        </p:nvPicPr>
        <p:blipFill>
          <a:blip r:embed="rId2"/>
          <a:srcRect/>
          <a:stretch>
            <a:fillRect/>
          </a:stretch>
        </p:blipFill>
        <p:spPr bwMode="auto">
          <a:xfrm>
            <a:off x="4648200" y="1828800"/>
            <a:ext cx="4038600" cy="48768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srcRect/>
          <a:stretch>
            <a:fillRect/>
          </a:stretch>
        </p:blipFill>
        <p:spPr bwMode="auto">
          <a:xfrm>
            <a:off x="466725" y="1385888"/>
            <a:ext cx="8210550" cy="408622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microspheres</a:t>
            </a:r>
          </a:p>
        </p:txBody>
      </p:sp>
      <p:sp>
        <p:nvSpPr>
          <p:cNvPr id="13315" name="Rectangle 3"/>
          <p:cNvSpPr>
            <a:spLocks noGrp="1" noChangeArrowheads="1"/>
          </p:cNvSpPr>
          <p:nvPr>
            <p:ph type="body" idx="1"/>
          </p:nvPr>
        </p:nvSpPr>
        <p:spPr/>
        <p:txBody>
          <a:bodyPr/>
          <a:lstStyle/>
          <a:p>
            <a:pPr>
              <a:lnSpc>
                <a:spcPct val="80000"/>
              </a:lnSpc>
            </a:pPr>
            <a:r>
              <a:rPr lang="en-US" sz="2800"/>
              <a:t>Fox was best known for his seminal experiments in the synthesis of thermal proteins (previously known as "proteinoids") from amino acids which he carried out in the 1960s and for his demonstration that these proteins, when placed in water, spontaneously self-organize into structures, known as microspheres, that resemble primitive cells. </a:t>
            </a:r>
          </a:p>
          <a:p>
            <a:pPr>
              <a:lnSpc>
                <a:spcPct val="80000"/>
              </a:lnSpc>
            </a:pPr>
            <a:r>
              <a:rPr lang="en-US" sz="2800"/>
              <a:t>His most recent experiments sought to demonstrate that the cell-like structures he created in the laboratory also act as protonerve cells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p:txBody>
          <a:bodyPr/>
          <a:lstStyle/>
          <a:p>
            <a:r>
              <a:rPr lang="en-US"/>
              <a:t>Microspheres</a:t>
            </a:r>
          </a:p>
        </p:txBody>
      </p:sp>
      <p:sp>
        <p:nvSpPr>
          <p:cNvPr id="14339" name="Rectangle 3"/>
          <p:cNvSpPr>
            <a:spLocks noGrp="1" noChangeArrowheads="1"/>
          </p:cNvSpPr>
          <p:nvPr>
            <p:ph type="body" sz="half" idx="1"/>
          </p:nvPr>
        </p:nvSpPr>
        <p:spPr>
          <a:xfrm>
            <a:off x="0" y="1524000"/>
            <a:ext cx="4495800" cy="5181600"/>
          </a:xfrm>
        </p:spPr>
        <p:txBody>
          <a:bodyPr/>
          <a:lstStyle/>
          <a:p>
            <a:pPr>
              <a:lnSpc>
                <a:spcPct val="80000"/>
              </a:lnSpc>
            </a:pPr>
            <a:r>
              <a:rPr lang="en-US" sz="1600"/>
              <a:t>Microscopic, firm spherules which form on the cooling of hot saturated solutions of proteinoids.</a:t>
            </a:r>
          </a:p>
          <a:p>
            <a:pPr>
              <a:lnSpc>
                <a:spcPct val="80000"/>
              </a:lnSpc>
            </a:pPr>
            <a:r>
              <a:rPr lang="en-US" sz="1600"/>
              <a:t>They were first reported in 1959 by Sidney Fox, K. Harada, and J. Kendrick who proposed that microspheres might represent a significant early stage in precellular evolution. </a:t>
            </a:r>
          </a:p>
          <a:p>
            <a:pPr>
              <a:lnSpc>
                <a:spcPct val="80000"/>
              </a:lnSpc>
            </a:pPr>
            <a:r>
              <a:rPr lang="en-US" sz="1600"/>
              <a:t>It has been suggested that their greater stability makes them a better proposition in this regard than coacervates.</a:t>
            </a:r>
          </a:p>
          <a:p>
            <a:pPr>
              <a:lnSpc>
                <a:spcPct val="80000"/>
              </a:lnSpc>
            </a:pPr>
            <a:r>
              <a:rPr lang="en-US" sz="1600"/>
              <a:t> One milligram of proteinoids can yield 100 million microspheres, ranging from 1.4 to about 2.5 microns in diameter.</a:t>
            </a:r>
          </a:p>
          <a:p>
            <a:pPr>
              <a:lnSpc>
                <a:spcPct val="80000"/>
              </a:lnSpc>
            </a:pPr>
            <a:r>
              <a:rPr lang="en-US" sz="1600"/>
              <a:t>Microspheres have been observed to retain their form for several weeks and, when sectioned, may display a double-walled structure.</a:t>
            </a:r>
          </a:p>
          <a:p>
            <a:pPr>
              <a:lnSpc>
                <a:spcPct val="80000"/>
              </a:lnSpc>
            </a:pPr>
            <a:r>
              <a:rPr lang="en-US" sz="1600"/>
              <a:t> Recently, Fox argued that microspheres also display characteristics of primitive nerve cells. </a:t>
            </a:r>
            <a:br>
              <a:rPr lang="en-US" sz="1600"/>
            </a:br>
            <a:r>
              <a:rPr lang="en-US" sz="1600"/>
              <a:t/>
            </a:r>
            <a:br>
              <a:rPr lang="en-US" sz="1600"/>
            </a:br>
            <a:endParaRPr lang="en-US" sz="1600"/>
          </a:p>
        </p:txBody>
      </p:sp>
      <p:sp>
        <p:nvSpPr>
          <p:cNvPr id="14341" name="Rectangle 5"/>
          <p:cNvSpPr>
            <a:spLocks noGrp="1" noChangeArrowheads="1"/>
          </p:cNvSpPr>
          <p:nvPr>
            <p:ph type="body" sz="half" idx="2"/>
          </p:nvPr>
        </p:nvSpPr>
        <p:spPr/>
        <p:txBody>
          <a:bodyPr/>
          <a:lstStyle/>
          <a:p>
            <a:pPr>
              <a:lnSpc>
                <a:spcPct val="80000"/>
              </a:lnSpc>
            </a:pPr>
            <a:endParaRPr lang="en-US" sz="1600"/>
          </a:p>
        </p:txBody>
      </p:sp>
      <p:pic>
        <p:nvPicPr>
          <p:cNvPr id="14343" name="Picture 7" descr="microsphere"/>
          <p:cNvPicPr>
            <a:picLocks noChangeAspect="1" noChangeArrowheads="1"/>
          </p:cNvPicPr>
          <p:nvPr/>
        </p:nvPicPr>
        <p:blipFill>
          <a:blip r:embed="rId2"/>
          <a:srcRect/>
          <a:stretch>
            <a:fillRect/>
          </a:stretch>
        </p:blipFill>
        <p:spPr bwMode="auto">
          <a:xfrm>
            <a:off x="4648200" y="1600200"/>
            <a:ext cx="4038600" cy="48006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Coacervates</a:t>
            </a:r>
          </a:p>
        </p:txBody>
      </p:sp>
      <p:sp>
        <p:nvSpPr>
          <p:cNvPr id="16387" name="Rectangle 3"/>
          <p:cNvSpPr>
            <a:spLocks noGrp="1" noChangeArrowheads="1"/>
          </p:cNvSpPr>
          <p:nvPr>
            <p:ph type="body" idx="1"/>
          </p:nvPr>
        </p:nvSpPr>
        <p:spPr>
          <a:xfrm>
            <a:off x="228600" y="1600200"/>
            <a:ext cx="5486400" cy="5257800"/>
          </a:xfrm>
        </p:spPr>
        <p:txBody>
          <a:bodyPr/>
          <a:lstStyle/>
          <a:p>
            <a:pPr>
              <a:lnSpc>
                <a:spcPct val="80000"/>
              </a:lnSpc>
            </a:pPr>
            <a:r>
              <a:rPr lang="en-US" sz="1600"/>
              <a:t>Their name derives from the Latin </a:t>
            </a:r>
            <a:r>
              <a:rPr lang="en-US" sz="1600" i="1"/>
              <a:t>coacervare</a:t>
            </a:r>
            <a:r>
              <a:rPr lang="en-US" sz="1600"/>
              <a:t>, meaning to assemble together or cluster </a:t>
            </a:r>
          </a:p>
          <a:p>
            <a:pPr>
              <a:lnSpc>
                <a:spcPct val="80000"/>
              </a:lnSpc>
            </a:pPr>
            <a:r>
              <a:rPr lang="en-US" sz="1600"/>
              <a:t>Coacervates measure 1 to 100 micrometers across, possess osmotic properties, and form spontaneously from certain weak organic solutions </a:t>
            </a:r>
          </a:p>
          <a:p>
            <a:pPr>
              <a:lnSpc>
                <a:spcPct val="80000"/>
              </a:lnSpc>
            </a:pPr>
            <a:r>
              <a:rPr lang="en-US" sz="1600"/>
              <a:t>A spherical aggregation of lipid molecules making up a colloidal inclusion which is held together by hydrophobic forces.</a:t>
            </a:r>
          </a:p>
          <a:p>
            <a:pPr>
              <a:lnSpc>
                <a:spcPct val="80000"/>
              </a:lnSpc>
            </a:pPr>
            <a:r>
              <a:rPr lang="en-US" sz="1600"/>
              <a:t>It was suggested by Oparin that coacervates may have played a significant role in the evolution of cells. </a:t>
            </a:r>
          </a:p>
          <a:p>
            <a:pPr>
              <a:lnSpc>
                <a:spcPct val="80000"/>
              </a:lnSpc>
            </a:pPr>
            <a:r>
              <a:rPr lang="en-US" sz="1600"/>
              <a:t>In water, organic chemicals do not necessarily remain uniformly dispersed, but may separate out into layers or droplets.</a:t>
            </a:r>
          </a:p>
          <a:p>
            <a:pPr>
              <a:lnSpc>
                <a:spcPct val="80000"/>
              </a:lnSpc>
            </a:pPr>
            <a:r>
              <a:rPr lang="en-US" sz="1600"/>
              <a:t>If the droplets which form contain a colloid rich in organic compounds and are surrounded by a tight skin of water molecules then they are known as coacervates. </a:t>
            </a:r>
          </a:p>
          <a:p>
            <a:pPr>
              <a:lnSpc>
                <a:spcPct val="80000"/>
              </a:lnSpc>
            </a:pPr>
            <a:r>
              <a:rPr lang="en-US" sz="1600"/>
              <a:t>These structures were first investigated by Bungenburg de Jong in 1932.</a:t>
            </a:r>
          </a:p>
          <a:p>
            <a:pPr>
              <a:lnSpc>
                <a:spcPct val="80000"/>
              </a:lnSpc>
            </a:pPr>
            <a:r>
              <a:rPr lang="en-US" sz="1600"/>
              <a:t>A wide variety of solutions can give rise to them; for example, coacervates form spontaneously when a protein, such as gelatin, reacts with gum arabic. </a:t>
            </a:r>
          </a:p>
        </p:txBody>
      </p:sp>
      <p:pic>
        <p:nvPicPr>
          <p:cNvPr id="16389" name="Picture 5" descr="coacervates"/>
          <p:cNvPicPr>
            <a:picLocks noChangeAspect="1" noChangeArrowheads="1"/>
          </p:cNvPicPr>
          <p:nvPr/>
        </p:nvPicPr>
        <p:blipFill>
          <a:blip r:embed="rId2"/>
          <a:srcRect/>
          <a:stretch>
            <a:fillRect/>
          </a:stretch>
        </p:blipFill>
        <p:spPr bwMode="auto">
          <a:xfrm>
            <a:off x="5867400" y="1828800"/>
            <a:ext cx="2857500" cy="44958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Origin of life</a:t>
            </a:r>
          </a:p>
        </p:txBody>
      </p:sp>
      <p:sp>
        <p:nvSpPr>
          <p:cNvPr id="17411" name="Rectangle 3"/>
          <p:cNvSpPr>
            <a:spLocks noGrp="1" noChangeArrowheads="1"/>
          </p:cNvSpPr>
          <p:nvPr>
            <p:ph type="body" idx="1"/>
          </p:nvPr>
        </p:nvSpPr>
        <p:spPr>
          <a:xfrm>
            <a:off x="304800" y="1219200"/>
            <a:ext cx="8382000" cy="5638800"/>
          </a:xfrm>
        </p:spPr>
        <p:txBody>
          <a:bodyPr/>
          <a:lstStyle/>
          <a:p>
            <a:pPr>
              <a:lnSpc>
                <a:spcPct val="80000"/>
              </a:lnSpc>
            </a:pPr>
            <a:r>
              <a:rPr lang="en-US" sz="2400"/>
              <a:t>Stage 1: The formation of the earth and atmosphere is considered the first stage in the long trek from inanimate matter to life. This stage provided the inorganic raw materials for the evolution of life and set up the conditions for their interaction.</a:t>
            </a:r>
          </a:p>
          <a:p>
            <a:pPr>
              <a:lnSpc>
                <a:spcPct val="80000"/>
              </a:lnSpc>
            </a:pPr>
            <a:r>
              <a:rPr lang="en-US" sz="2400"/>
              <a:t>Stage 2: The second stage produced organic molecules through interactions between inorganic substances, driven by energy sources such as lightning and ultraviolet radiation from the sun.</a:t>
            </a:r>
          </a:p>
          <a:p>
            <a:pPr>
              <a:lnSpc>
                <a:spcPct val="80000"/>
              </a:lnSpc>
            </a:pPr>
            <a:r>
              <a:rPr lang="en-US" sz="2400"/>
              <a:t>Stage 3: In the third stage, the organic molecules present assembled randomly into collections capable of chemical interaction with the environment. As the collections formed, interactions taking place within them produced still more complex organic substances, including polypeptides and nucleic acids. Some of these collections of molecules were capable of carrying out primitive living reactions. There is little agreement on the form taken by the first spark of life in these primitive aggregates.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Origin of life</a:t>
            </a:r>
          </a:p>
        </p:txBody>
      </p:sp>
      <p:sp>
        <p:nvSpPr>
          <p:cNvPr id="20483" name="Rectangle 3"/>
          <p:cNvSpPr>
            <a:spLocks noGrp="1" noChangeArrowheads="1"/>
          </p:cNvSpPr>
          <p:nvPr>
            <p:ph type="body" idx="1"/>
          </p:nvPr>
        </p:nvSpPr>
        <p:spPr>
          <a:xfrm>
            <a:off x="457200" y="1219200"/>
            <a:ext cx="8229600" cy="5410200"/>
          </a:xfrm>
        </p:spPr>
        <p:txBody>
          <a:bodyPr/>
          <a:lstStyle/>
          <a:p>
            <a:pPr>
              <a:lnSpc>
                <a:spcPct val="80000"/>
              </a:lnSpc>
            </a:pPr>
            <a:r>
              <a:rPr lang="en-US" sz="2800"/>
              <a:t>Stage 4: In the fourth stage, a genetic code appeared in the primitive living aggregates. This code regulated duplication of information required for reproduction of the aggregates and established the link between nucleic acids and the ordered synthesis of proteins. Things were still pre-cellular, but with these developments (directed synthesis and reproduction), life was fully established in the molecular assemblages.</a:t>
            </a:r>
          </a:p>
          <a:p>
            <a:pPr>
              <a:lnSpc>
                <a:spcPct val="80000"/>
              </a:lnSpc>
            </a:pPr>
            <a:r>
              <a:rPr lang="en-US" sz="2800"/>
              <a:t>Stage 5: The fifth and final stage involves conversion of the pre-cellular assemblages into fully organized cells with a nuclear region and a cytoplasm, all enclosed by an outer boundary membrane--a plasma membrane.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sz="2800"/>
              <a:t>Eukaryotic cells are actually the descendents of separate prokaryotic cells</a:t>
            </a:r>
          </a:p>
        </p:txBody>
      </p:sp>
      <p:sp>
        <p:nvSpPr>
          <p:cNvPr id="21507" name="Rectangle 3"/>
          <p:cNvSpPr>
            <a:spLocks noGrp="1" noChangeArrowheads="1"/>
          </p:cNvSpPr>
          <p:nvPr>
            <p:ph type="body" idx="1"/>
          </p:nvPr>
        </p:nvSpPr>
        <p:spPr>
          <a:xfrm>
            <a:off x="304800" y="1600200"/>
            <a:ext cx="8839200" cy="5257800"/>
          </a:xfrm>
        </p:spPr>
        <p:txBody>
          <a:bodyPr/>
          <a:lstStyle/>
          <a:p>
            <a:pPr>
              <a:lnSpc>
                <a:spcPct val="80000"/>
              </a:lnSpc>
            </a:pPr>
            <a:r>
              <a:rPr lang="en-US" sz="2400"/>
              <a:t>Evidence supports the idea that eukaryotic cells are actually the descendents of separate prokaryotic cells that joined together in a symbiotic union.</a:t>
            </a:r>
          </a:p>
          <a:p>
            <a:pPr>
              <a:lnSpc>
                <a:spcPct val="80000"/>
              </a:lnSpc>
            </a:pPr>
            <a:r>
              <a:rPr lang="en-US" sz="2400"/>
              <a:t>In fact, the mitochondrion itself seems to be the "great-great-great-great-great-great-great-great-great granddaughter" of a free-living bacterium that was engulfed by another cell, perhaps as a meal, and ended up staying as a sort of permanent houseguest. </a:t>
            </a:r>
          </a:p>
          <a:p>
            <a:pPr>
              <a:lnSpc>
                <a:spcPct val="80000"/>
              </a:lnSpc>
            </a:pPr>
            <a:r>
              <a:rPr lang="en-US" sz="2400"/>
              <a:t>The host cell profited from the chemical energy the mitochondrion produced, and the mitochondrion benefited from the protected, nutrient-rich environment surrounding it. </a:t>
            </a:r>
          </a:p>
          <a:p>
            <a:pPr>
              <a:lnSpc>
                <a:spcPct val="80000"/>
              </a:lnSpc>
            </a:pPr>
            <a:r>
              <a:rPr lang="en-US" sz="2400"/>
              <a:t>This kind of "internal" symbiosis - one organism taking up permanent residence inside another and eventually evolving into a single lineage - is called endosymbiosis. </a:t>
            </a:r>
            <a:br>
              <a:rPr lang="en-US" sz="2400"/>
            </a:br>
            <a:r>
              <a:rPr lang="en-US" sz="2400"/>
              <a:t/>
            </a:r>
            <a:br>
              <a:rPr lang="en-US" sz="2400"/>
            </a:br>
            <a:endParaRPr lang="en-US" sz="24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srcRect l="7622" r="5027"/>
          <a:stretch>
            <a:fillRect/>
          </a:stretch>
        </p:blipFill>
        <p:spPr bwMode="auto">
          <a:xfrm>
            <a:off x="838200" y="933450"/>
            <a:ext cx="7696200" cy="49911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srcRect l="9900" r="9900"/>
          <a:stretch>
            <a:fillRect/>
          </a:stretch>
        </p:blipFill>
        <p:spPr bwMode="auto">
          <a:xfrm>
            <a:off x="265776" y="457200"/>
            <a:ext cx="8504794" cy="60198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277813"/>
            <a:ext cx="8229600" cy="11398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4400" b="1" i="0" u="none" strike="noStrike" kern="0" cap="none" spc="0" normalizeH="0" baseline="0" noProof="0" smtClean="0">
                <a:ln>
                  <a:noFill/>
                </a:ln>
                <a:solidFill>
                  <a:schemeClr val="tx2"/>
                </a:solidFill>
                <a:effectLst/>
                <a:uLnTx/>
                <a:uFillTx/>
                <a:latin typeface="+mj-lt"/>
                <a:ea typeface="+mj-ea"/>
                <a:cs typeface="+mj-cs"/>
              </a:rPr>
              <a:t>Why classify organisms?</a:t>
            </a:r>
            <a:r>
              <a:rPr kumimoji="0" lang="fr-FR" sz="4400" b="0" i="0" u="none" strike="noStrike" kern="0" cap="none" spc="0" normalizeH="0" baseline="0" noProof="0" smtClean="0">
                <a:ln>
                  <a:noFill/>
                </a:ln>
                <a:solidFill>
                  <a:schemeClr val="tx2"/>
                </a:solidFill>
                <a:effectLst/>
                <a:uLnTx/>
                <a:uFillTx/>
                <a:latin typeface="+mj-lt"/>
                <a:ea typeface="+mj-ea"/>
                <a:cs typeface="+mj-cs"/>
              </a:rPr>
              <a:t> </a:t>
            </a:r>
            <a:endParaRPr kumimoji="0" lang="en-GB" sz="4400" b="0" i="0" u="none" strike="noStrike" kern="0" cap="none" spc="0" normalizeH="0" baseline="0" noProof="0" dirty="0" smtClean="0">
              <a:ln>
                <a:noFill/>
              </a:ln>
              <a:solidFill>
                <a:schemeClr val="tx2"/>
              </a:solidFill>
              <a:effectLst/>
              <a:uLnTx/>
              <a:uFillTx/>
              <a:latin typeface="+mj-lt"/>
              <a:ea typeface="+mj-ea"/>
              <a:cs typeface="+mj-cs"/>
            </a:endParaRPr>
          </a:p>
        </p:txBody>
      </p:sp>
      <p:sp>
        <p:nvSpPr>
          <p:cNvPr id="3" name="Rectangle 3"/>
          <p:cNvSpPr txBox="1">
            <a:spLocks noChangeArrowheads="1"/>
          </p:cNvSpPr>
          <p:nvPr/>
        </p:nvSpPr>
        <p:spPr>
          <a:xfrm>
            <a:off x="457200" y="1317625"/>
            <a:ext cx="8229600" cy="4813300"/>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Tx/>
              <a:buSzTx/>
              <a:buFont typeface="Wingdings" charset="0"/>
              <a:buChar char="n"/>
              <a:tabLst/>
              <a:defRPr/>
            </a:pPr>
            <a:r>
              <a:rPr kumimoji="0" lang="en-GB" sz="3200" b="0" i="0" u="none" strike="noStrike" kern="0" cap="none" spc="0" normalizeH="0" baseline="0" noProof="0" smtClean="0">
                <a:ln>
                  <a:noFill/>
                </a:ln>
                <a:solidFill>
                  <a:schemeClr val="tx1"/>
                </a:solidFill>
                <a:effectLst/>
                <a:uLnTx/>
                <a:uFillTx/>
                <a:latin typeface="+mn-lt"/>
                <a:ea typeface="+mn-ea"/>
                <a:cs typeface="+mn-cs"/>
              </a:rPr>
              <a:t>Over a million species so far identified</a:t>
            </a:r>
          </a:p>
          <a:p>
            <a:pPr marL="342900" marR="0" lvl="0" indent="-342900" algn="l" defTabSz="914400" rtl="0" eaLnBrk="1" fontAlgn="base" latinLnBrk="0" hangingPunct="1">
              <a:lnSpc>
                <a:spcPct val="100000"/>
              </a:lnSpc>
              <a:spcBef>
                <a:spcPct val="20000"/>
              </a:spcBef>
              <a:spcAft>
                <a:spcPct val="0"/>
              </a:spcAft>
              <a:buClrTx/>
              <a:buSzTx/>
              <a:buFont typeface="Wingdings" charset="0"/>
              <a:buChar char="n"/>
              <a:tabLst/>
              <a:defRPr/>
            </a:pPr>
            <a:r>
              <a:rPr kumimoji="0" lang="en-GB" sz="3200" b="0" i="0" u="none" strike="noStrike" kern="0" cap="none" spc="0" normalizeH="0" baseline="0" noProof="0" smtClean="0">
                <a:ln>
                  <a:noFill/>
                </a:ln>
                <a:solidFill>
                  <a:schemeClr val="tx1"/>
                </a:solidFill>
                <a:effectLst/>
                <a:uLnTx/>
                <a:uFillTx/>
                <a:latin typeface="+mn-lt"/>
                <a:ea typeface="+mn-ea"/>
                <a:cs typeface="+mn-cs"/>
              </a:rPr>
              <a:t>Estimates of up to 30 million species on Earth</a:t>
            </a:r>
          </a:p>
          <a:p>
            <a:pPr marL="342900" marR="0" lvl="0" indent="-342900" algn="l" defTabSz="914400" rtl="0" eaLnBrk="1" fontAlgn="base" latinLnBrk="0" hangingPunct="1">
              <a:lnSpc>
                <a:spcPct val="100000"/>
              </a:lnSpc>
              <a:spcBef>
                <a:spcPct val="20000"/>
              </a:spcBef>
              <a:spcAft>
                <a:spcPct val="0"/>
              </a:spcAft>
              <a:buClrTx/>
              <a:buSzTx/>
              <a:buFont typeface="Wingdings" charset="0"/>
              <a:buChar char="n"/>
              <a:tabLst/>
              <a:defRPr/>
            </a:pPr>
            <a:r>
              <a:rPr kumimoji="0" lang="en-GB" sz="3200" b="0" i="0" u="none" strike="noStrike" kern="0" cap="none" spc="0" normalizeH="0" baseline="0" noProof="0" smtClean="0">
                <a:ln>
                  <a:noFill/>
                </a:ln>
                <a:solidFill>
                  <a:schemeClr val="tx1"/>
                </a:solidFill>
                <a:effectLst/>
                <a:uLnTx/>
                <a:uFillTx/>
                <a:latin typeface="+mn-lt"/>
                <a:ea typeface="+mn-ea"/>
                <a:cs typeface="+mn-cs"/>
              </a:rPr>
              <a:t>Need to organise this biodiversity</a:t>
            </a:r>
          </a:p>
          <a:p>
            <a:pPr marL="342900" marR="0" lvl="0" indent="-342900" algn="l" defTabSz="914400" rtl="0" eaLnBrk="1" fontAlgn="base" latinLnBrk="0" hangingPunct="1">
              <a:lnSpc>
                <a:spcPct val="100000"/>
              </a:lnSpc>
              <a:spcBef>
                <a:spcPct val="20000"/>
              </a:spcBef>
              <a:spcAft>
                <a:spcPct val="0"/>
              </a:spcAft>
              <a:buClrTx/>
              <a:buSzTx/>
              <a:buFont typeface="Wingdings" charset="0"/>
              <a:buChar char="n"/>
              <a:tabLst/>
              <a:defRPr/>
            </a:pPr>
            <a:r>
              <a:rPr kumimoji="0" lang="en-GB" sz="3200" b="0" i="0" u="none" strike="noStrike" kern="0" cap="none" spc="0" normalizeH="0" baseline="0" noProof="0" smtClean="0">
                <a:ln>
                  <a:noFill/>
                </a:ln>
                <a:solidFill>
                  <a:schemeClr val="tx1"/>
                </a:solidFill>
                <a:effectLst/>
                <a:uLnTx/>
                <a:uFillTx/>
                <a:latin typeface="+mn-lt"/>
                <a:ea typeface="+mn-ea"/>
                <a:cs typeface="+mn-cs"/>
              </a:rPr>
              <a:t>Systematics tells us about </a:t>
            </a:r>
            <a:br>
              <a:rPr kumimoji="0" lang="en-GB" sz="3200" b="0" i="0" u="none" strike="noStrike" kern="0" cap="none" spc="0" normalizeH="0" baseline="0" noProof="0" smtClean="0">
                <a:ln>
                  <a:noFill/>
                </a:ln>
                <a:solidFill>
                  <a:schemeClr val="tx1"/>
                </a:solidFill>
                <a:effectLst/>
                <a:uLnTx/>
                <a:uFillTx/>
                <a:latin typeface="+mn-lt"/>
                <a:ea typeface="+mn-ea"/>
                <a:cs typeface="+mn-cs"/>
              </a:rPr>
            </a:br>
            <a:r>
              <a:rPr kumimoji="0" lang="en-GB" sz="3200" b="0" i="0" u="none" strike="noStrike" kern="0" cap="none" spc="0" normalizeH="0" baseline="0" noProof="0" smtClean="0">
                <a:ln>
                  <a:noFill/>
                </a:ln>
                <a:solidFill>
                  <a:schemeClr val="tx1"/>
                </a:solidFill>
                <a:effectLst/>
                <a:uLnTx/>
                <a:uFillTx/>
                <a:latin typeface="+mn-lt"/>
                <a:ea typeface="+mn-ea"/>
                <a:cs typeface="+mn-cs"/>
              </a:rPr>
              <a:t>the patterns in nature, </a:t>
            </a:r>
            <a:br>
              <a:rPr kumimoji="0" lang="en-GB" sz="3200" b="0" i="0" u="none" strike="noStrike" kern="0" cap="none" spc="0" normalizeH="0" baseline="0" noProof="0" smtClean="0">
                <a:ln>
                  <a:noFill/>
                </a:ln>
                <a:solidFill>
                  <a:schemeClr val="tx1"/>
                </a:solidFill>
                <a:effectLst/>
                <a:uLnTx/>
                <a:uFillTx/>
                <a:latin typeface="+mn-lt"/>
                <a:ea typeface="+mn-ea"/>
                <a:cs typeface="+mn-cs"/>
              </a:rPr>
            </a:br>
            <a:r>
              <a:rPr kumimoji="0" lang="en-GB" sz="3200" b="0" i="0" u="none" strike="noStrike" kern="0" cap="none" spc="0" normalizeH="0" baseline="0" noProof="0" smtClean="0">
                <a:ln>
                  <a:noFill/>
                </a:ln>
                <a:solidFill>
                  <a:schemeClr val="tx1"/>
                </a:solidFill>
                <a:effectLst/>
                <a:uLnTx/>
                <a:uFillTx/>
                <a:latin typeface="+mn-lt"/>
                <a:ea typeface="+mn-ea"/>
                <a:cs typeface="+mn-cs"/>
              </a:rPr>
              <a:t>the way organisms are related, </a:t>
            </a:r>
            <a:br>
              <a:rPr kumimoji="0" lang="en-GB" sz="3200" b="0" i="0" u="none" strike="noStrike" kern="0" cap="none" spc="0" normalizeH="0" baseline="0" noProof="0" smtClean="0">
                <a:ln>
                  <a:noFill/>
                </a:ln>
                <a:solidFill>
                  <a:schemeClr val="tx1"/>
                </a:solidFill>
                <a:effectLst/>
                <a:uLnTx/>
                <a:uFillTx/>
                <a:latin typeface="+mn-lt"/>
                <a:ea typeface="+mn-ea"/>
                <a:cs typeface="+mn-cs"/>
              </a:rPr>
            </a:br>
            <a:r>
              <a:rPr kumimoji="0" lang="en-GB" sz="3200" b="0" i="0" u="none" strike="noStrike" kern="0" cap="none" spc="0" normalizeH="0" baseline="0" noProof="0" smtClean="0">
                <a:ln>
                  <a:noFill/>
                </a:ln>
                <a:solidFill>
                  <a:schemeClr val="tx1"/>
                </a:solidFill>
                <a:effectLst/>
                <a:uLnTx/>
                <a:uFillTx/>
                <a:latin typeface="+mn-lt"/>
                <a:ea typeface="+mn-ea"/>
                <a:cs typeface="+mn-cs"/>
              </a:rPr>
              <a:t>how they evolve</a:t>
            </a:r>
          </a:p>
          <a:p>
            <a:pPr marL="342900" marR="0" lvl="0" indent="-342900" algn="l" defTabSz="914400" rtl="0" eaLnBrk="1" fontAlgn="base" latinLnBrk="0" hangingPunct="1">
              <a:lnSpc>
                <a:spcPct val="100000"/>
              </a:lnSpc>
              <a:spcBef>
                <a:spcPct val="20000"/>
              </a:spcBef>
              <a:spcAft>
                <a:spcPct val="0"/>
              </a:spcAft>
              <a:buClrTx/>
              <a:buSzTx/>
              <a:buFont typeface="Wingdings" charset="0"/>
              <a:buChar char="n"/>
              <a:tabLst/>
              <a:defRPr/>
            </a:pPr>
            <a:r>
              <a:rPr kumimoji="0" lang="en-GB" sz="3200" b="0" i="0" u="none" strike="noStrike" kern="0" cap="none" spc="0" normalizeH="0" baseline="0" noProof="0" smtClean="0">
                <a:ln>
                  <a:noFill/>
                </a:ln>
                <a:solidFill>
                  <a:schemeClr val="tx1"/>
                </a:solidFill>
                <a:effectLst/>
                <a:uLnTx/>
                <a:uFillTx/>
                <a:latin typeface="+mn-lt"/>
                <a:ea typeface="+mn-ea"/>
                <a:cs typeface="+mn-cs"/>
              </a:rPr>
              <a:t>Systematics can be used to identify organisms that are important to us.</a:t>
            </a:r>
            <a:endParaRPr kumimoji="0" lang="en-GB" sz="32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4" name="Text Box 4"/>
          <p:cNvSpPr txBox="1">
            <a:spLocks noChangeArrowheads="1"/>
          </p:cNvSpPr>
          <p:nvPr/>
        </p:nvSpPr>
        <p:spPr bwMode="auto">
          <a:xfrm>
            <a:off x="395288" y="6165850"/>
            <a:ext cx="2171700" cy="274638"/>
          </a:xfrm>
          <a:prstGeom prst="rect">
            <a:avLst/>
          </a:prstGeom>
          <a:noFill/>
          <a:ln w="9525">
            <a:noFill/>
            <a:miter lim="800000"/>
            <a:headEnd/>
            <a:tailEnd/>
          </a:ln>
        </p:spPr>
        <p:txBody>
          <a:bodyPr>
            <a:spAutoFit/>
          </a:bodyPr>
          <a:lstStyle/>
          <a:p>
            <a:r>
              <a:rPr lang="en-US" sz="1200"/>
              <a:t>© 2016 Paul Billiet </a:t>
            </a:r>
            <a:r>
              <a:rPr lang="en-US" sz="1200">
                <a:hlinkClick r:id="rId2"/>
              </a:rPr>
              <a:t>ODWS</a:t>
            </a:r>
            <a:endParaRPr lang="en-US">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re 1"/>
          <p:cNvSpPr>
            <a:spLocks noGrp="1"/>
          </p:cNvSpPr>
          <p:nvPr>
            <p:ph type="title"/>
          </p:nvPr>
        </p:nvSpPr>
        <p:spPr>
          <a:xfrm>
            <a:off x="1524000" y="190500"/>
            <a:ext cx="7010400" cy="1028700"/>
          </a:xfrm>
        </p:spPr>
        <p:txBody>
          <a:bodyPr/>
          <a:lstStyle/>
          <a:p>
            <a:r>
              <a:rPr lang="fr-FR" smtClean="0">
                <a:latin typeface="Arial" charset="0"/>
              </a:rPr>
              <a:t>Levels of hierarchy</a:t>
            </a:r>
          </a:p>
        </p:txBody>
      </p:sp>
      <p:graphicFrame>
        <p:nvGraphicFramePr>
          <p:cNvPr id="4" name="Espace réservé du contenu 3"/>
          <p:cNvGraphicFramePr>
            <a:graphicFrameLocks noGrp="1"/>
          </p:cNvGraphicFramePr>
          <p:nvPr>
            <p:ph idx="1"/>
          </p:nvPr>
        </p:nvGraphicFramePr>
        <p:xfrm>
          <a:off x="1524000" y="1905000"/>
          <a:ext cx="7010400" cy="3338514"/>
        </p:xfrm>
        <a:graphic>
          <a:graphicData uri="http://schemas.openxmlformats.org/drawingml/2006/table">
            <a:tbl>
              <a:tblPr firstRow="1" bandRow="1">
                <a:tableStyleId>{5C22544A-7EE6-4342-B048-85BDC9FD1C3A}</a:tableStyleId>
              </a:tblPr>
              <a:tblGrid>
                <a:gridCol w="1400175"/>
                <a:gridCol w="5610225"/>
              </a:tblGrid>
              <a:tr h="370946">
                <a:tc>
                  <a:txBody>
                    <a:bodyPr/>
                    <a:lstStyle/>
                    <a:p>
                      <a:r>
                        <a:rPr lang="fr-FR" sz="1800" dirty="0" smtClean="0">
                          <a:solidFill>
                            <a:srgbClr val="FFFF00"/>
                          </a:solidFill>
                        </a:rPr>
                        <a:t>Taxon</a:t>
                      </a:r>
                      <a:endParaRPr lang="fr-FR" sz="1800" dirty="0">
                        <a:solidFill>
                          <a:srgbClr val="FFFF00"/>
                        </a:solidFill>
                      </a:endParaRPr>
                    </a:p>
                  </a:txBody>
                  <a:tcPr marT="45733" marB="45733"/>
                </a:tc>
                <a:tc>
                  <a:txBody>
                    <a:bodyPr/>
                    <a:lstStyle/>
                    <a:p>
                      <a:endParaRPr lang="fr-FR" sz="1800"/>
                    </a:p>
                  </a:txBody>
                  <a:tcPr marT="45733" marB="45733"/>
                </a:tc>
              </a:tr>
              <a:tr h="370946">
                <a:tc>
                  <a:txBody>
                    <a:bodyPr/>
                    <a:lstStyle/>
                    <a:p>
                      <a:r>
                        <a:rPr lang="fr-FR" sz="1800" dirty="0" smtClean="0"/>
                        <a:t>Domain</a:t>
                      </a:r>
                      <a:endParaRPr lang="fr-FR" sz="1800" dirty="0"/>
                    </a:p>
                  </a:txBody>
                  <a:tcPr marT="45733" marB="45733"/>
                </a:tc>
                <a:tc>
                  <a:txBody>
                    <a:bodyPr/>
                    <a:lstStyle/>
                    <a:p>
                      <a:endParaRPr lang="fr-FR" sz="1800" dirty="0"/>
                    </a:p>
                  </a:txBody>
                  <a:tcPr marT="45733" marB="45733"/>
                </a:tc>
              </a:tr>
              <a:tr h="370946">
                <a:tc>
                  <a:txBody>
                    <a:bodyPr/>
                    <a:lstStyle/>
                    <a:p>
                      <a:r>
                        <a:rPr lang="fr-FR" sz="1800" dirty="0" err="1" smtClean="0"/>
                        <a:t>Kingdom</a:t>
                      </a:r>
                      <a:endParaRPr lang="fr-FR" sz="1800" dirty="0"/>
                    </a:p>
                  </a:txBody>
                  <a:tcPr marT="45733" marB="45733"/>
                </a:tc>
                <a:tc>
                  <a:txBody>
                    <a:bodyPr/>
                    <a:lstStyle/>
                    <a:p>
                      <a:endParaRPr lang="fr-FR" sz="1800" dirty="0"/>
                    </a:p>
                  </a:txBody>
                  <a:tcPr marT="45733" marB="45733"/>
                </a:tc>
              </a:tr>
              <a:tr h="370946">
                <a:tc>
                  <a:txBody>
                    <a:bodyPr/>
                    <a:lstStyle/>
                    <a:p>
                      <a:r>
                        <a:rPr lang="fr-FR" sz="1800" dirty="0" smtClean="0"/>
                        <a:t>Phylum</a:t>
                      </a:r>
                      <a:endParaRPr lang="fr-FR" sz="1800" dirty="0"/>
                    </a:p>
                  </a:txBody>
                  <a:tcPr marT="45733" marB="45733"/>
                </a:tc>
                <a:tc>
                  <a:txBody>
                    <a:bodyPr/>
                    <a:lstStyle/>
                    <a:p>
                      <a:endParaRPr lang="fr-FR" sz="1800" dirty="0"/>
                    </a:p>
                  </a:txBody>
                  <a:tcPr marT="45733" marB="45733"/>
                </a:tc>
              </a:tr>
              <a:tr h="370946">
                <a:tc>
                  <a:txBody>
                    <a:bodyPr/>
                    <a:lstStyle/>
                    <a:p>
                      <a:r>
                        <a:rPr lang="fr-FR" sz="1800" dirty="0" smtClean="0"/>
                        <a:t>Class</a:t>
                      </a:r>
                      <a:endParaRPr lang="fr-FR" sz="1800" dirty="0"/>
                    </a:p>
                  </a:txBody>
                  <a:tcPr marT="45733" marB="45733"/>
                </a:tc>
                <a:tc>
                  <a:txBody>
                    <a:bodyPr/>
                    <a:lstStyle/>
                    <a:p>
                      <a:r>
                        <a:rPr lang="fr-FR" sz="1800" dirty="0" err="1" smtClean="0"/>
                        <a:t>Based</a:t>
                      </a:r>
                      <a:r>
                        <a:rPr lang="fr-FR" sz="1800" dirty="0" smtClean="0"/>
                        <a:t> on </a:t>
                      </a:r>
                      <a:r>
                        <a:rPr lang="fr-FR" sz="1800" dirty="0" err="1" smtClean="0"/>
                        <a:t>related</a:t>
                      </a:r>
                      <a:r>
                        <a:rPr lang="fr-FR" sz="1800" baseline="0" dirty="0" err="1" smtClean="0"/>
                        <a:t>ness</a:t>
                      </a:r>
                      <a:r>
                        <a:rPr lang="fr-FR" sz="1800" baseline="0" dirty="0" smtClean="0"/>
                        <a:t> (</a:t>
                      </a:r>
                      <a:r>
                        <a:rPr lang="fr-FR" sz="1800" baseline="0" dirty="0" err="1" smtClean="0"/>
                        <a:t>phylogeny</a:t>
                      </a:r>
                      <a:r>
                        <a:rPr lang="fr-FR" sz="1800" baseline="0" dirty="0" smtClean="0"/>
                        <a:t>) but </a:t>
                      </a:r>
                      <a:r>
                        <a:rPr lang="fr-FR" sz="1800" baseline="0" dirty="0" err="1" smtClean="0"/>
                        <a:t>artificial</a:t>
                      </a:r>
                      <a:endParaRPr lang="fr-FR" sz="1800" dirty="0"/>
                    </a:p>
                  </a:txBody>
                  <a:tcPr marT="45733" marB="45733"/>
                </a:tc>
              </a:tr>
              <a:tr h="370946">
                <a:tc>
                  <a:txBody>
                    <a:bodyPr/>
                    <a:lstStyle/>
                    <a:p>
                      <a:r>
                        <a:rPr lang="fr-FR" sz="1800" dirty="0" err="1" smtClean="0"/>
                        <a:t>Order</a:t>
                      </a:r>
                      <a:endParaRPr lang="fr-FR" sz="1800" dirty="0"/>
                    </a:p>
                  </a:txBody>
                  <a:tcPr marT="45733" marB="45733"/>
                </a:tc>
                <a:tc>
                  <a:txBody>
                    <a:bodyPr/>
                    <a:lstStyle/>
                    <a:p>
                      <a:endParaRPr lang="fr-FR" sz="1800" dirty="0"/>
                    </a:p>
                  </a:txBody>
                  <a:tcPr marT="45733" marB="45733"/>
                </a:tc>
              </a:tr>
              <a:tr h="370946">
                <a:tc>
                  <a:txBody>
                    <a:bodyPr/>
                    <a:lstStyle/>
                    <a:p>
                      <a:r>
                        <a:rPr lang="fr-FR" sz="1800" dirty="0" err="1" smtClean="0"/>
                        <a:t>Family</a:t>
                      </a:r>
                      <a:endParaRPr lang="fr-FR" sz="1800" dirty="0"/>
                    </a:p>
                  </a:txBody>
                  <a:tcPr marT="45733" marB="45733"/>
                </a:tc>
                <a:tc>
                  <a:txBody>
                    <a:bodyPr/>
                    <a:lstStyle/>
                    <a:p>
                      <a:endParaRPr lang="fr-FR" sz="1800" dirty="0"/>
                    </a:p>
                  </a:txBody>
                  <a:tcPr marT="45733" marB="45733"/>
                </a:tc>
              </a:tr>
              <a:tr h="370946">
                <a:tc>
                  <a:txBody>
                    <a:bodyPr/>
                    <a:lstStyle/>
                    <a:p>
                      <a:r>
                        <a:rPr lang="fr-FR" sz="1800" dirty="0" err="1" smtClean="0"/>
                        <a:t>Genus</a:t>
                      </a:r>
                      <a:endParaRPr lang="fr-FR" sz="1800" dirty="0"/>
                    </a:p>
                  </a:txBody>
                  <a:tcPr marT="45733" marB="45733"/>
                </a:tc>
                <a:tc>
                  <a:txBody>
                    <a:bodyPr/>
                    <a:lstStyle/>
                    <a:p>
                      <a:endParaRPr lang="fr-FR" sz="1800" dirty="0"/>
                    </a:p>
                  </a:txBody>
                  <a:tcPr marT="45733" marB="45733"/>
                </a:tc>
              </a:tr>
              <a:tr h="370946">
                <a:tc>
                  <a:txBody>
                    <a:bodyPr/>
                    <a:lstStyle/>
                    <a:p>
                      <a:r>
                        <a:rPr lang="fr-FR" sz="1800" dirty="0" err="1" smtClean="0"/>
                        <a:t>Species</a:t>
                      </a:r>
                      <a:endParaRPr lang="fr-FR" sz="1800" dirty="0"/>
                    </a:p>
                  </a:txBody>
                  <a:tcPr marT="45733" marB="45733"/>
                </a:tc>
                <a:tc>
                  <a:txBody>
                    <a:bodyPr/>
                    <a:lstStyle/>
                    <a:p>
                      <a:r>
                        <a:rPr lang="fr-FR" sz="1800" dirty="0" err="1" smtClean="0"/>
                        <a:t>Some</a:t>
                      </a:r>
                      <a:r>
                        <a:rPr lang="fr-FR" sz="1800" baseline="0" dirty="0" smtClean="0"/>
                        <a:t> </a:t>
                      </a:r>
                      <a:r>
                        <a:rPr lang="fr-FR" sz="1800" baseline="0" dirty="0" err="1" smtClean="0"/>
                        <a:t>b</a:t>
                      </a:r>
                      <a:r>
                        <a:rPr lang="fr-FR" sz="1800" dirty="0" err="1" smtClean="0"/>
                        <a:t>iological</a:t>
                      </a:r>
                      <a:r>
                        <a:rPr lang="fr-FR" sz="1800" dirty="0" smtClean="0"/>
                        <a:t> basis</a:t>
                      </a:r>
                      <a:endParaRPr lang="fr-FR" sz="1800" dirty="0"/>
                    </a:p>
                  </a:txBody>
                  <a:tcPr marT="45733" marB="45733"/>
                </a:tc>
              </a:tr>
            </a:tbl>
          </a:graphicData>
        </a:graphic>
      </p:graphicFrame>
      <p:sp>
        <p:nvSpPr>
          <p:cNvPr id="5" name="Accolade fermante 4"/>
          <p:cNvSpPr>
            <a:spLocks/>
          </p:cNvSpPr>
          <p:nvPr/>
        </p:nvSpPr>
        <p:spPr bwMode="auto">
          <a:xfrm>
            <a:off x="2552700" y="2286000"/>
            <a:ext cx="425450" cy="2546350"/>
          </a:xfrm>
          <a:prstGeom prst="rightBrace">
            <a:avLst>
              <a:gd name="adj1" fmla="val 8331"/>
              <a:gd name="adj2" fmla="val 50000"/>
            </a:avLst>
          </a:prstGeom>
          <a:noFill/>
          <a:ln w="25400">
            <a:solidFill>
              <a:srgbClr val="FF0000"/>
            </a:solidFill>
            <a:round/>
            <a:headEnd/>
            <a:tailEnd/>
          </a:ln>
          <a:effectLst>
            <a:outerShdw blurRad="63500" dist="20000" dir="5400000" rotWithShape="0">
              <a:srgbClr val="000000">
                <a:alpha val="37999"/>
              </a:srgbClr>
            </a:outerShdw>
          </a:effectLst>
          <a:extLst>
            <a:ext uri="{909E8E84-426E-40dd-AFC4-6F175D3DCCD1}"/>
          </a:extLst>
        </p:spPr>
        <p:txBody>
          <a:bodyPr anchor="ctr"/>
          <a:lstStyle/>
          <a:p>
            <a:pPr algn="ctr">
              <a:defRPr/>
            </a:pPr>
            <a:endParaRPr lang="fr-FR">
              <a:latin typeface="+mn-lt"/>
              <a:ea typeface="+mn-ea"/>
            </a:endParaRPr>
          </a:p>
        </p:txBody>
      </p:sp>
      <p:sp>
        <p:nvSpPr>
          <p:cNvPr id="8228" name="Text Box 36"/>
          <p:cNvSpPr txBox="1">
            <a:spLocks noChangeArrowheads="1"/>
          </p:cNvSpPr>
          <p:nvPr/>
        </p:nvSpPr>
        <p:spPr bwMode="auto">
          <a:xfrm>
            <a:off x="395288" y="6181725"/>
            <a:ext cx="2171700" cy="274638"/>
          </a:xfrm>
          <a:prstGeom prst="rect">
            <a:avLst/>
          </a:prstGeom>
          <a:noFill/>
          <a:ln w="9525">
            <a:noFill/>
            <a:miter lim="800000"/>
            <a:headEnd/>
            <a:tailEnd/>
          </a:ln>
        </p:spPr>
        <p:txBody>
          <a:bodyPr>
            <a:spAutoFit/>
          </a:bodyPr>
          <a:lstStyle/>
          <a:p>
            <a:r>
              <a:rPr lang="en-US" sz="1200"/>
              <a:t>© 2016 Paul Billiet </a:t>
            </a:r>
            <a:r>
              <a:rPr lang="en-US" sz="1200">
                <a:hlinkClick r:id="rId3"/>
              </a:rPr>
              <a:t>ODWS</a:t>
            </a:r>
            <a:endParaRPr lang="en-US">
              <a:latin typeface="Verdana"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277813"/>
            <a:ext cx="8229600" cy="749300"/>
          </a:xfrm>
        </p:spPr>
        <p:txBody>
          <a:bodyPr/>
          <a:lstStyle/>
          <a:p>
            <a:pPr eaLnBrk="1" hangingPunct="1">
              <a:defRPr/>
            </a:pPr>
            <a:r>
              <a:rPr lang="en-GB" sz="3600" b="1" smtClean="0">
                <a:ea typeface="+mj-ea"/>
                <a:cs typeface="+mj-cs"/>
              </a:rPr>
              <a:t>The unit of taxonomy:</a:t>
            </a:r>
            <a:r>
              <a:rPr lang="en-GB" sz="3600" smtClean="0">
                <a:ea typeface="+mj-ea"/>
                <a:cs typeface="+mj-cs"/>
              </a:rPr>
              <a:t> </a:t>
            </a:r>
            <a:r>
              <a:rPr lang="en-GB" sz="3600" b="1" smtClean="0">
                <a:ea typeface="+mj-ea"/>
                <a:cs typeface="+mj-cs"/>
              </a:rPr>
              <a:t>The SPECIES</a:t>
            </a:r>
            <a:endParaRPr lang="en-GB" b="1" smtClean="0">
              <a:ea typeface="+mj-ea"/>
              <a:cs typeface="+mj-cs"/>
            </a:endParaRPr>
          </a:p>
        </p:txBody>
      </p:sp>
      <p:sp>
        <p:nvSpPr>
          <p:cNvPr id="4099" name="Rectangle 3"/>
          <p:cNvSpPr>
            <a:spLocks noGrp="1" noChangeArrowheads="1"/>
          </p:cNvSpPr>
          <p:nvPr>
            <p:ph type="body" idx="1"/>
          </p:nvPr>
        </p:nvSpPr>
        <p:spPr>
          <a:xfrm>
            <a:off x="457200" y="1050925"/>
            <a:ext cx="8229600" cy="2538413"/>
          </a:xfrm>
        </p:spPr>
        <p:txBody>
          <a:bodyPr/>
          <a:lstStyle/>
          <a:p>
            <a:pPr eaLnBrk="1" hangingPunct="1">
              <a:buFont typeface="Wingdings" charset="0"/>
              <a:buChar char="n"/>
              <a:defRPr/>
            </a:pPr>
            <a:r>
              <a:rPr lang="en-GB" sz="2800" dirty="0" smtClean="0">
                <a:ea typeface="+mn-ea"/>
                <a:cs typeface="+mn-cs"/>
              </a:rPr>
              <a:t>The term species has biological significance</a:t>
            </a:r>
          </a:p>
          <a:p>
            <a:pPr eaLnBrk="1" hangingPunct="1">
              <a:buFont typeface="Wingdings" charset="0"/>
              <a:buChar char="n"/>
              <a:defRPr/>
            </a:pPr>
            <a:r>
              <a:rPr lang="en-GB" sz="2800" dirty="0" smtClean="0">
                <a:ea typeface="+mn-ea"/>
                <a:cs typeface="+mn-cs"/>
              </a:rPr>
              <a:t>Species form populations of individuals which may interbreed to form fully fertile offspring</a:t>
            </a:r>
          </a:p>
          <a:p>
            <a:pPr marL="0" indent="0" eaLnBrk="1" hangingPunct="1">
              <a:buFont typeface="Wingdings" charset="0"/>
              <a:buNone/>
              <a:defRPr/>
            </a:pPr>
            <a:r>
              <a:rPr lang="en-GB" sz="2800" dirty="0" smtClean="0">
                <a:ea typeface="+mn-ea"/>
                <a:cs typeface="+mn-cs"/>
              </a:rPr>
              <a:t>Problem: Some species only use asexual reproduction or rarely use sexual reproduction.</a:t>
            </a:r>
          </a:p>
        </p:txBody>
      </p:sp>
      <p:sp>
        <p:nvSpPr>
          <p:cNvPr id="9220" name="Text Box 4"/>
          <p:cNvSpPr txBox="1">
            <a:spLocks noChangeArrowheads="1"/>
          </p:cNvSpPr>
          <p:nvPr/>
        </p:nvSpPr>
        <p:spPr bwMode="auto">
          <a:xfrm>
            <a:off x="395288" y="6165850"/>
            <a:ext cx="2171700" cy="274638"/>
          </a:xfrm>
          <a:prstGeom prst="rect">
            <a:avLst/>
          </a:prstGeom>
          <a:noFill/>
          <a:ln w="9525">
            <a:noFill/>
            <a:miter lim="800000"/>
            <a:headEnd/>
            <a:tailEnd/>
          </a:ln>
        </p:spPr>
        <p:txBody>
          <a:bodyPr>
            <a:spAutoFit/>
          </a:bodyPr>
          <a:lstStyle/>
          <a:p>
            <a:r>
              <a:rPr lang="en-US" sz="1200"/>
              <a:t>© 2016 Paul Billiet </a:t>
            </a:r>
            <a:r>
              <a:rPr lang="en-US" sz="1200">
                <a:hlinkClick r:id="rId3"/>
              </a:rPr>
              <a:t>ODWS</a:t>
            </a:r>
            <a:endParaRPr lang="en-US">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fade">
                                      <p:cBhvr>
                                        <p:cTn id="7" dur="1000"/>
                                        <p:tgtEl>
                                          <p:spTgt spid="4099">
                                            <p:txEl>
                                              <p:pRg st="0" end="0"/>
                                            </p:txEl>
                                          </p:spTgt>
                                        </p:tgtEl>
                                      </p:cBhvr>
                                    </p:animEffect>
                                    <p:anim calcmode="lin" valueType="num">
                                      <p:cBhvr>
                                        <p:cTn id="8" dur="1000" fill="hold"/>
                                        <p:tgtEl>
                                          <p:spTgt spid="40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099">
                                            <p:txEl>
                                              <p:pRg st="1" end="1"/>
                                            </p:txEl>
                                          </p:spTgt>
                                        </p:tgtEl>
                                        <p:attrNameLst>
                                          <p:attrName>style.visibility</p:attrName>
                                        </p:attrNameLst>
                                      </p:cBhvr>
                                      <p:to>
                                        <p:strVal val="visible"/>
                                      </p:to>
                                    </p:set>
                                    <p:animEffect transition="in" filter="fade">
                                      <p:cBhvr>
                                        <p:cTn id="14" dur="1000"/>
                                        <p:tgtEl>
                                          <p:spTgt spid="4099">
                                            <p:txEl>
                                              <p:pRg st="1" end="1"/>
                                            </p:txEl>
                                          </p:spTgt>
                                        </p:tgtEl>
                                      </p:cBhvr>
                                    </p:animEffect>
                                    <p:anim calcmode="lin" valueType="num">
                                      <p:cBhvr>
                                        <p:cTn id="15" dur="1000" fill="hold"/>
                                        <p:tgtEl>
                                          <p:spTgt spid="409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0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099">
                                            <p:txEl>
                                              <p:pRg st="2" end="2"/>
                                            </p:txEl>
                                          </p:spTgt>
                                        </p:tgtEl>
                                        <p:attrNameLst>
                                          <p:attrName>style.visibility</p:attrName>
                                        </p:attrNameLst>
                                      </p:cBhvr>
                                      <p:to>
                                        <p:strVal val="visible"/>
                                      </p:to>
                                    </p:set>
                                    <p:animEffect transition="in" filter="fade">
                                      <p:cBhvr>
                                        <p:cTn id="21" dur="1000"/>
                                        <p:tgtEl>
                                          <p:spTgt spid="4099">
                                            <p:txEl>
                                              <p:pRg st="2" end="2"/>
                                            </p:txEl>
                                          </p:spTgt>
                                        </p:tgtEl>
                                      </p:cBhvr>
                                    </p:animEffect>
                                    <p:anim calcmode="lin" valueType="num">
                                      <p:cBhvr>
                                        <p:cTn id="22" dur="1000" fill="hold"/>
                                        <p:tgtEl>
                                          <p:spTgt spid="409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09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defRPr/>
            </a:pPr>
            <a:r>
              <a:rPr lang="en-GB" b="1" smtClean="0">
                <a:ea typeface="+mj-ea"/>
                <a:cs typeface="+mj-cs"/>
              </a:rPr>
              <a:t>How taxonomy works</a:t>
            </a:r>
          </a:p>
        </p:txBody>
      </p:sp>
      <p:sp>
        <p:nvSpPr>
          <p:cNvPr id="5123" name="Rectangle 3"/>
          <p:cNvSpPr>
            <a:spLocks noGrp="1" noChangeArrowheads="1"/>
          </p:cNvSpPr>
          <p:nvPr>
            <p:ph type="body" idx="1"/>
          </p:nvPr>
        </p:nvSpPr>
        <p:spPr>
          <a:xfrm>
            <a:off x="457200" y="1117600"/>
            <a:ext cx="8229600" cy="4494213"/>
          </a:xfrm>
        </p:spPr>
        <p:txBody>
          <a:bodyPr/>
          <a:lstStyle/>
          <a:p>
            <a:pPr eaLnBrk="1" hangingPunct="1">
              <a:buFont typeface="Wingdings" charset="0"/>
              <a:buChar char="n"/>
              <a:defRPr/>
            </a:pPr>
            <a:r>
              <a:rPr lang="en-GB" sz="2600" dirty="0" smtClean="0">
                <a:ea typeface="+mn-ea"/>
                <a:cs typeface="+mn-cs"/>
              </a:rPr>
              <a:t>The aim is to group organisms according to their evolutionary relationship (</a:t>
            </a:r>
            <a:r>
              <a:rPr lang="en-GB" sz="2600" b="1" dirty="0" smtClean="0">
                <a:ea typeface="+mn-ea"/>
                <a:cs typeface="+mn-cs"/>
              </a:rPr>
              <a:t>phylogeny</a:t>
            </a:r>
            <a:r>
              <a:rPr lang="en-GB" sz="2600" dirty="0" smtClean="0">
                <a:ea typeface="+mn-ea"/>
                <a:cs typeface="+mn-cs"/>
              </a:rPr>
              <a:t>)</a:t>
            </a:r>
          </a:p>
          <a:p>
            <a:pPr eaLnBrk="1" hangingPunct="1">
              <a:buFont typeface="Wingdings" charset="0"/>
              <a:buChar char="n"/>
              <a:defRPr/>
            </a:pPr>
            <a:r>
              <a:rPr lang="en-GB" sz="2600" dirty="0" smtClean="0">
                <a:ea typeface="+mn-ea"/>
                <a:cs typeface="+mn-cs"/>
              </a:rPr>
              <a:t>Established by studying the phenotypes of living organisms or fossils </a:t>
            </a:r>
          </a:p>
          <a:p>
            <a:pPr eaLnBrk="1" hangingPunct="1">
              <a:buFont typeface="Wingdings" charset="0"/>
              <a:buChar char="n"/>
              <a:defRPr/>
            </a:pPr>
            <a:r>
              <a:rPr lang="en-GB" sz="2600" dirty="0" smtClean="0">
                <a:ea typeface="+mn-ea"/>
                <a:cs typeface="+mn-cs"/>
              </a:rPr>
              <a:t>DNA sequencing compares the genotypes </a:t>
            </a:r>
          </a:p>
          <a:p>
            <a:pPr eaLnBrk="1" hangingPunct="1">
              <a:buFont typeface="Wingdings" charset="0"/>
              <a:buChar char="n"/>
              <a:defRPr/>
            </a:pPr>
            <a:r>
              <a:rPr lang="en-GB" sz="2600" dirty="0" smtClean="0">
                <a:ea typeface="+mn-ea"/>
                <a:cs typeface="+mn-cs"/>
              </a:rPr>
              <a:t>Use characteristic features to group organisms </a:t>
            </a:r>
            <a:br>
              <a:rPr lang="en-GB" sz="2600" dirty="0" smtClean="0">
                <a:ea typeface="+mn-ea"/>
                <a:cs typeface="+mn-cs"/>
              </a:rPr>
            </a:br>
            <a:r>
              <a:rPr lang="en-GB" sz="2600" dirty="0" smtClean="0">
                <a:ea typeface="+mn-ea"/>
                <a:cs typeface="+mn-cs"/>
              </a:rPr>
              <a:t>(e.g. all animals with feathers = Birds)</a:t>
            </a:r>
          </a:p>
          <a:p>
            <a:pPr eaLnBrk="1" hangingPunct="1">
              <a:buFont typeface="Wingdings" charset="0"/>
              <a:buChar char="n"/>
              <a:defRPr/>
            </a:pPr>
            <a:r>
              <a:rPr lang="en-GB" sz="2600" dirty="0" smtClean="0">
                <a:ea typeface="+mn-ea"/>
                <a:cs typeface="+mn-cs"/>
              </a:rPr>
              <a:t>Taxonomists decide which are the most significant or "important" characteristics by the way they occur in different groups of organisms</a:t>
            </a:r>
            <a:r>
              <a:rPr lang="fr-FR" sz="2600" dirty="0" smtClean="0">
                <a:ea typeface="+mn-ea"/>
                <a:cs typeface="+mn-cs"/>
              </a:rPr>
              <a:t>.</a:t>
            </a:r>
            <a:endParaRPr lang="en-GB" sz="2600" dirty="0" smtClean="0">
              <a:ea typeface="+mn-ea"/>
              <a:cs typeface="+mn-cs"/>
            </a:endParaRPr>
          </a:p>
        </p:txBody>
      </p:sp>
      <p:sp>
        <p:nvSpPr>
          <p:cNvPr id="10244" name="Text Box 4"/>
          <p:cNvSpPr txBox="1">
            <a:spLocks noChangeArrowheads="1"/>
          </p:cNvSpPr>
          <p:nvPr/>
        </p:nvSpPr>
        <p:spPr bwMode="auto">
          <a:xfrm>
            <a:off x="395288" y="6165850"/>
            <a:ext cx="2171700" cy="274638"/>
          </a:xfrm>
          <a:prstGeom prst="rect">
            <a:avLst/>
          </a:prstGeom>
          <a:noFill/>
          <a:ln w="9525">
            <a:noFill/>
            <a:miter lim="800000"/>
            <a:headEnd/>
            <a:tailEnd/>
          </a:ln>
        </p:spPr>
        <p:txBody>
          <a:bodyPr>
            <a:spAutoFit/>
          </a:bodyPr>
          <a:lstStyle/>
          <a:p>
            <a:r>
              <a:rPr lang="en-US" sz="1200"/>
              <a:t>© 2016 Paul Billiet </a:t>
            </a:r>
            <a:r>
              <a:rPr lang="en-US" sz="1200">
                <a:hlinkClick r:id="rId3"/>
              </a:rPr>
              <a:t>ODWS</a:t>
            </a:r>
            <a:endParaRPr lang="en-US">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1000"/>
                                        <p:tgtEl>
                                          <p:spTgt spid="5123">
                                            <p:txEl>
                                              <p:pRg st="0" end="0"/>
                                            </p:txEl>
                                          </p:spTgt>
                                        </p:tgtEl>
                                      </p:cBhvr>
                                    </p:animEffect>
                                    <p:anim calcmode="lin" valueType="num">
                                      <p:cBhvr>
                                        <p:cTn id="8"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123">
                                            <p:txEl>
                                              <p:pRg st="1" end="1"/>
                                            </p:txEl>
                                          </p:spTgt>
                                        </p:tgtEl>
                                        <p:attrNameLst>
                                          <p:attrName>style.visibility</p:attrName>
                                        </p:attrNameLst>
                                      </p:cBhvr>
                                      <p:to>
                                        <p:strVal val="visible"/>
                                      </p:to>
                                    </p:set>
                                    <p:animEffect transition="in" filter="fade">
                                      <p:cBhvr>
                                        <p:cTn id="14" dur="1000"/>
                                        <p:tgtEl>
                                          <p:spTgt spid="5123">
                                            <p:txEl>
                                              <p:pRg st="1" end="1"/>
                                            </p:txEl>
                                          </p:spTgt>
                                        </p:tgtEl>
                                      </p:cBhvr>
                                    </p:animEffect>
                                    <p:anim calcmode="lin" valueType="num">
                                      <p:cBhvr>
                                        <p:cTn id="15"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animEffect transition="in" filter="fade">
                                      <p:cBhvr>
                                        <p:cTn id="21" dur="1000"/>
                                        <p:tgtEl>
                                          <p:spTgt spid="5123">
                                            <p:txEl>
                                              <p:pRg st="2" end="2"/>
                                            </p:txEl>
                                          </p:spTgt>
                                        </p:tgtEl>
                                      </p:cBhvr>
                                    </p:animEffect>
                                    <p:anim calcmode="lin" valueType="num">
                                      <p:cBhvr>
                                        <p:cTn id="22" dur="1000" fill="hold"/>
                                        <p:tgtEl>
                                          <p:spTgt spid="512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1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123">
                                            <p:txEl>
                                              <p:pRg st="3" end="3"/>
                                            </p:txEl>
                                          </p:spTgt>
                                        </p:tgtEl>
                                        <p:attrNameLst>
                                          <p:attrName>style.visibility</p:attrName>
                                        </p:attrNameLst>
                                      </p:cBhvr>
                                      <p:to>
                                        <p:strVal val="visible"/>
                                      </p:to>
                                    </p:set>
                                    <p:animEffect transition="in" filter="fade">
                                      <p:cBhvr>
                                        <p:cTn id="28" dur="1000"/>
                                        <p:tgtEl>
                                          <p:spTgt spid="5123">
                                            <p:txEl>
                                              <p:pRg st="3" end="3"/>
                                            </p:txEl>
                                          </p:spTgt>
                                        </p:tgtEl>
                                      </p:cBhvr>
                                    </p:animEffect>
                                    <p:anim calcmode="lin" valueType="num">
                                      <p:cBhvr>
                                        <p:cTn id="29" dur="1000" fill="hold"/>
                                        <p:tgtEl>
                                          <p:spTgt spid="512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1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123">
                                            <p:txEl>
                                              <p:pRg st="4" end="4"/>
                                            </p:txEl>
                                          </p:spTgt>
                                        </p:tgtEl>
                                        <p:attrNameLst>
                                          <p:attrName>style.visibility</p:attrName>
                                        </p:attrNameLst>
                                      </p:cBhvr>
                                      <p:to>
                                        <p:strVal val="visible"/>
                                      </p:to>
                                    </p:set>
                                    <p:animEffect transition="in" filter="fade">
                                      <p:cBhvr>
                                        <p:cTn id="35" dur="1000"/>
                                        <p:tgtEl>
                                          <p:spTgt spid="5123">
                                            <p:txEl>
                                              <p:pRg st="4" end="4"/>
                                            </p:txEl>
                                          </p:spTgt>
                                        </p:tgtEl>
                                      </p:cBhvr>
                                    </p:animEffect>
                                    <p:anim calcmode="lin" valueType="num">
                                      <p:cBhvr>
                                        <p:cTn id="36" dur="1000" fill="hold"/>
                                        <p:tgtEl>
                                          <p:spTgt spid="512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12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defRPr/>
            </a:pPr>
            <a:r>
              <a:rPr lang="en-GB" b="1" smtClean="0">
                <a:ea typeface="+mj-ea"/>
                <a:cs typeface="+mj-cs"/>
              </a:rPr>
              <a:t>Comparing phenotypes &amp; genotypes</a:t>
            </a:r>
            <a:endParaRPr lang="en-GB" smtClean="0">
              <a:ea typeface="+mj-ea"/>
              <a:cs typeface="+mj-cs"/>
            </a:endParaRPr>
          </a:p>
        </p:txBody>
      </p:sp>
      <p:sp>
        <p:nvSpPr>
          <p:cNvPr id="24579" name="Rectangle 3"/>
          <p:cNvSpPr>
            <a:spLocks noGrp="1" noChangeArrowheads="1"/>
          </p:cNvSpPr>
          <p:nvPr>
            <p:ph type="body" idx="1"/>
          </p:nvPr>
        </p:nvSpPr>
        <p:spPr>
          <a:xfrm>
            <a:off x="395288" y="1693863"/>
            <a:ext cx="8528050" cy="4187825"/>
          </a:xfrm>
        </p:spPr>
        <p:txBody>
          <a:bodyPr/>
          <a:lstStyle/>
          <a:p>
            <a:pPr eaLnBrk="1" hangingPunct="1">
              <a:buFont typeface="Wingdings" charset="0"/>
              <a:buNone/>
              <a:defRPr/>
            </a:pPr>
            <a:r>
              <a:rPr lang="en-GB" sz="2500" dirty="0" smtClean="0">
                <a:ea typeface="+mn-ea"/>
                <a:cs typeface="+mn-cs"/>
              </a:rPr>
              <a:t>Taxonomists compare a new specimen with given characteristics to other specimens: </a:t>
            </a:r>
          </a:p>
          <a:p>
            <a:pPr eaLnBrk="1" hangingPunct="1">
              <a:buFont typeface="Wingdings" charset="0"/>
              <a:buChar char="n"/>
              <a:defRPr/>
            </a:pPr>
            <a:r>
              <a:rPr lang="en-GB" sz="2500" dirty="0" smtClean="0">
                <a:ea typeface="+mn-ea"/>
                <a:cs typeface="+mn-cs"/>
              </a:rPr>
              <a:t>morphology</a:t>
            </a:r>
          </a:p>
          <a:p>
            <a:pPr eaLnBrk="1" hangingPunct="1">
              <a:buFont typeface="Wingdings" charset="0"/>
              <a:buChar char="n"/>
              <a:defRPr/>
            </a:pPr>
            <a:r>
              <a:rPr lang="en-GB" sz="2500" dirty="0" smtClean="0">
                <a:ea typeface="+mn-ea"/>
                <a:cs typeface="+mn-cs"/>
              </a:rPr>
              <a:t>anatomy</a:t>
            </a:r>
          </a:p>
          <a:p>
            <a:pPr eaLnBrk="1" hangingPunct="1">
              <a:buFont typeface="Wingdings" charset="0"/>
              <a:buChar char="n"/>
              <a:defRPr/>
            </a:pPr>
            <a:r>
              <a:rPr lang="en-GB" sz="2500" dirty="0" smtClean="0">
                <a:ea typeface="+mn-ea"/>
                <a:cs typeface="+mn-cs"/>
              </a:rPr>
              <a:t>behaviour</a:t>
            </a:r>
          </a:p>
          <a:p>
            <a:pPr eaLnBrk="1" hangingPunct="1">
              <a:buFont typeface="Wingdings" charset="0"/>
              <a:buChar char="n"/>
              <a:defRPr/>
            </a:pPr>
            <a:r>
              <a:rPr lang="en-GB" sz="2500" dirty="0" smtClean="0">
                <a:ea typeface="+mn-ea"/>
                <a:cs typeface="+mn-cs"/>
              </a:rPr>
              <a:t>embryology</a:t>
            </a:r>
          </a:p>
          <a:p>
            <a:pPr eaLnBrk="1" hangingPunct="1">
              <a:buFont typeface="Wingdings" charset="0"/>
              <a:buChar char="n"/>
              <a:defRPr/>
            </a:pPr>
            <a:r>
              <a:rPr lang="en-GB" sz="2500" dirty="0" smtClean="0">
                <a:ea typeface="+mn-ea"/>
                <a:cs typeface="+mn-cs"/>
              </a:rPr>
              <a:t>protein structure</a:t>
            </a:r>
          </a:p>
          <a:p>
            <a:pPr eaLnBrk="1" hangingPunct="1">
              <a:buFont typeface="Wingdings" charset="0"/>
              <a:buChar char="n"/>
              <a:defRPr/>
            </a:pPr>
            <a:r>
              <a:rPr lang="en-GB" sz="2500" dirty="0" smtClean="0">
                <a:ea typeface="+mn-ea"/>
                <a:cs typeface="+mn-cs"/>
              </a:rPr>
              <a:t>karyotypes</a:t>
            </a:r>
          </a:p>
          <a:p>
            <a:pPr eaLnBrk="1" hangingPunct="1">
              <a:buFont typeface="Wingdings" charset="0"/>
              <a:buChar char="n"/>
              <a:defRPr/>
            </a:pPr>
            <a:r>
              <a:rPr lang="en-GB" sz="2500" dirty="0" smtClean="0">
                <a:ea typeface="+mn-ea"/>
                <a:cs typeface="+mn-cs"/>
              </a:rPr>
              <a:t>DNA sequence (DNA fingerprints).</a:t>
            </a:r>
            <a:endParaRPr lang="en-GB" dirty="0" smtClean="0">
              <a:ea typeface="+mn-ea"/>
              <a:cs typeface="+mn-cs"/>
            </a:endParaRPr>
          </a:p>
        </p:txBody>
      </p:sp>
      <p:grpSp>
        <p:nvGrpSpPr>
          <p:cNvPr id="3" name="Grouper 5"/>
          <p:cNvGrpSpPr>
            <a:grpSpLocks/>
          </p:cNvGrpSpPr>
          <p:nvPr/>
        </p:nvGrpSpPr>
        <p:grpSpPr bwMode="auto">
          <a:xfrm>
            <a:off x="5565775" y="2705100"/>
            <a:ext cx="2111375" cy="2220913"/>
            <a:chOff x="5565884" y="2705652"/>
            <a:chExt cx="2111384" cy="2219739"/>
          </a:xfrm>
        </p:grpSpPr>
        <p:sp>
          <p:nvSpPr>
            <p:cNvPr id="2" name="Accolade fermante 1"/>
            <p:cNvSpPr>
              <a:spLocks/>
            </p:cNvSpPr>
            <p:nvPr/>
          </p:nvSpPr>
          <p:spPr bwMode="auto">
            <a:xfrm>
              <a:off x="5565884" y="2705652"/>
              <a:ext cx="331789" cy="2219739"/>
            </a:xfrm>
            <a:prstGeom prst="rightBrace">
              <a:avLst>
                <a:gd name="adj1" fmla="val 8344"/>
                <a:gd name="adj2" fmla="val 50000"/>
              </a:avLst>
            </a:prstGeom>
            <a:noFill/>
            <a:ln w="25400">
              <a:solidFill>
                <a:schemeClr val="accent1"/>
              </a:solidFill>
              <a:round/>
              <a:headEnd/>
              <a:tailEnd/>
            </a:ln>
            <a:effectLst>
              <a:outerShdw dist="20000" dir="5400000" rotWithShape="0">
                <a:srgbClr val="808080">
                  <a:alpha val="37999"/>
                </a:srgbClr>
              </a:outerShdw>
            </a:effectLst>
          </p:spPr>
          <p:txBody>
            <a:bodyPr anchor="ctr"/>
            <a:lstStyle/>
            <a:p>
              <a:pPr algn="ctr">
                <a:defRPr/>
              </a:pPr>
              <a:endParaRPr lang="fr-FR">
                <a:latin typeface="+mn-lt"/>
                <a:ea typeface="+mn-ea"/>
              </a:endParaRPr>
            </a:p>
          </p:txBody>
        </p:sp>
        <p:sp>
          <p:nvSpPr>
            <p:cNvPr id="11274" name="ZoneTexte 2"/>
            <p:cNvSpPr txBox="1">
              <a:spLocks noChangeArrowheads="1"/>
            </p:cNvSpPr>
            <p:nvPr/>
          </p:nvSpPr>
          <p:spPr bwMode="auto">
            <a:xfrm>
              <a:off x="5919305" y="3567044"/>
              <a:ext cx="1757963" cy="461665"/>
            </a:xfrm>
            <a:prstGeom prst="rect">
              <a:avLst/>
            </a:prstGeom>
            <a:noFill/>
            <a:ln w="9525">
              <a:noFill/>
              <a:miter lim="800000"/>
              <a:headEnd/>
              <a:tailEnd/>
            </a:ln>
          </p:spPr>
          <p:txBody>
            <a:bodyPr wrap="none">
              <a:spAutoFit/>
            </a:bodyPr>
            <a:lstStyle/>
            <a:p>
              <a:r>
                <a:rPr lang="fr-FR" sz="2400" b="1"/>
                <a:t>Phenotype</a:t>
              </a:r>
            </a:p>
          </p:txBody>
        </p:sp>
      </p:grpSp>
      <p:grpSp>
        <p:nvGrpSpPr>
          <p:cNvPr id="4" name="Grouper 3"/>
          <p:cNvGrpSpPr>
            <a:grpSpLocks/>
          </p:cNvGrpSpPr>
          <p:nvPr/>
        </p:nvGrpSpPr>
        <p:grpSpPr bwMode="auto">
          <a:xfrm>
            <a:off x="5575300" y="4957763"/>
            <a:ext cx="1946275" cy="782637"/>
            <a:chOff x="5574759" y="4958522"/>
            <a:chExt cx="1946412" cy="781878"/>
          </a:xfrm>
        </p:grpSpPr>
        <p:sp>
          <p:nvSpPr>
            <p:cNvPr id="5" name="Accolade fermante 4"/>
            <p:cNvSpPr>
              <a:spLocks/>
            </p:cNvSpPr>
            <p:nvPr/>
          </p:nvSpPr>
          <p:spPr bwMode="auto">
            <a:xfrm>
              <a:off x="5574759" y="4958522"/>
              <a:ext cx="333398" cy="781878"/>
            </a:xfrm>
            <a:prstGeom prst="rightBrace">
              <a:avLst>
                <a:gd name="adj1" fmla="val 8335"/>
                <a:gd name="adj2" fmla="val 50000"/>
              </a:avLst>
            </a:prstGeom>
            <a:noFill/>
            <a:ln w="25400">
              <a:solidFill>
                <a:schemeClr val="accent1"/>
              </a:solidFill>
              <a:round/>
              <a:headEnd/>
              <a:tailEnd/>
            </a:ln>
            <a:effectLst>
              <a:outerShdw dist="20000" dir="5400000" rotWithShape="0">
                <a:srgbClr val="808080">
                  <a:alpha val="37999"/>
                </a:srgbClr>
              </a:outerShdw>
            </a:effectLst>
          </p:spPr>
          <p:txBody>
            <a:bodyPr anchor="ctr"/>
            <a:lstStyle/>
            <a:p>
              <a:pPr algn="ctr">
                <a:defRPr/>
              </a:pPr>
              <a:endParaRPr lang="fr-FR">
                <a:latin typeface="+mn-lt"/>
                <a:ea typeface="+mn-ea"/>
              </a:endParaRPr>
            </a:p>
          </p:txBody>
        </p:sp>
        <p:sp>
          <p:nvSpPr>
            <p:cNvPr id="11272" name="ZoneTexte 6"/>
            <p:cNvSpPr txBox="1">
              <a:spLocks noChangeArrowheads="1"/>
            </p:cNvSpPr>
            <p:nvPr/>
          </p:nvSpPr>
          <p:spPr bwMode="auto">
            <a:xfrm>
              <a:off x="5917096" y="5110923"/>
              <a:ext cx="1604075" cy="461665"/>
            </a:xfrm>
            <a:prstGeom prst="rect">
              <a:avLst/>
            </a:prstGeom>
            <a:noFill/>
            <a:ln w="9525">
              <a:noFill/>
              <a:miter lim="800000"/>
              <a:headEnd/>
              <a:tailEnd/>
            </a:ln>
          </p:spPr>
          <p:txBody>
            <a:bodyPr wrap="none">
              <a:spAutoFit/>
            </a:bodyPr>
            <a:lstStyle/>
            <a:p>
              <a:r>
                <a:rPr lang="fr-FR" sz="2400" b="1"/>
                <a:t>Genotype</a:t>
              </a:r>
            </a:p>
          </p:txBody>
        </p:sp>
      </p:grpSp>
      <p:sp>
        <p:nvSpPr>
          <p:cNvPr id="11270" name="Text Box 10"/>
          <p:cNvSpPr txBox="1">
            <a:spLocks noChangeArrowheads="1"/>
          </p:cNvSpPr>
          <p:nvPr/>
        </p:nvSpPr>
        <p:spPr bwMode="auto">
          <a:xfrm>
            <a:off x="395288" y="6165850"/>
            <a:ext cx="2171700" cy="274638"/>
          </a:xfrm>
          <a:prstGeom prst="rect">
            <a:avLst/>
          </a:prstGeom>
          <a:noFill/>
          <a:ln w="9525">
            <a:noFill/>
            <a:miter lim="800000"/>
            <a:headEnd/>
            <a:tailEnd/>
          </a:ln>
        </p:spPr>
        <p:txBody>
          <a:bodyPr>
            <a:spAutoFit/>
          </a:bodyPr>
          <a:lstStyle/>
          <a:p>
            <a:r>
              <a:rPr lang="en-US" sz="1200"/>
              <a:t>© 2016 Paul Billiet </a:t>
            </a:r>
            <a:r>
              <a:rPr lang="en-US" sz="1200">
                <a:hlinkClick r:id="rId3"/>
              </a:rPr>
              <a:t>ODWS</a:t>
            </a:r>
            <a:endParaRPr lang="en-US">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fade">
                                      <p:cBhvr>
                                        <p:cTn id="7" dur="1000"/>
                                        <p:tgtEl>
                                          <p:spTgt spid="24579">
                                            <p:txEl>
                                              <p:pRg st="0" end="0"/>
                                            </p:txEl>
                                          </p:spTgt>
                                        </p:tgtEl>
                                      </p:cBhvr>
                                    </p:animEffect>
                                    <p:anim calcmode="lin" valueType="num">
                                      <p:cBhvr>
                                        <p:cTn id="8" dur="10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5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579">
                                            <p:txEl>
                                              <p:pRg st="1" end="1"/>
                                            </p:txEl>
                                          </p:spTgt>
                                        </p:tgtEl>
                                        <p:attrNameLst>
                                          <p:attrName>style.visibility</p:attrName>
                                        </p:attrNameLst>
                                      </p:cBhvr>
                                      <p:to>
                                        <p:strVal val="visible"/>
                                      </p:to>
                                    </p:set>
                                    <p:animEffect transition="in" filter="fade">
                                      <p:cBhvr>
                                        <p:cTn id="14" dur="1000"/>
                                        <p:tgtEl>
                                          <p:spTgt spid="24579">
                                            <p:txEl>
                                              <p:pRg st="1" end="1"/>
                                            </p:txEl>
                                          </p:spTgt>
                                        </p:tgtEl>
                                      </p:cBhvr>
                                    </p:animEffect>
                                    <p:anim calcmode="lin" valueType="num">
                                      <p:cBhvr>
                                        <p:cTn id="15" dur="10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5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4579">
                                            <p:txEl>
                                              <p:pRg st="2" end="2"/>
                                            </p:txEl>
                                          </p:spTgt>
                                        </p:tgtEl>
                                        <p:attrNameLst>
                                          <p:attrName>style.visibility</p:attrName>
                                        </p:attrNameLst>
                                      </p:cBhvr>
                                      <p:to>
                                        <p:strVal val="visible"/>
                                      </p:to>
                                    </p:set>
                                    <p:animEffect transition="in" filter="fade">
                                      <p:cBhvr>
                                        <p:cTn id="21" dur="1000"/>
                                        <p:tgtEl>
                                          <p:spTgt spid="24579">
                                            <p:txEl>
                                              <p:pRg st="2" end="2"/>
                                            </p:txEl>
                                          </p:spTgt>
                                        </p:tgtEl>
                                      </p:cBhvr>
                                    </p:animEffect>
                                    <p:anim calcmode="lin" valueType="num">
                                      <p:cBhvr>
                                        <p:cTn id="22" dur="10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45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4579">
                                            <p:txEl>
                                              <p:pRg st="3" end="3"/>
                                            </p:txEl>
                                          </p:spTgt>
                                        </p:tgtEl>
                                        <p:attrNameLst>
                                          <p:attrName>style.visibility</p:attrName>
                                        </p:attrNameLst>
                                      </p:cBhvr>
                                      <p:to>
                                        <p:strVal val="visible"/>
                                      </p:to>
                                    </p:set>
                                    <p:animEffect transition="in" filter="fade">
                                      <p:cBhvr>
                                        <p:cTn id="28" dur="1000"/>
                                        <p:tgtEl>
                                          <p:spTgt spid="24579">
                                            <p:txEl>
                                              <p:pRg st="3" end="3"/>
                                            </p:txEl>
                                          </p:spTgt>
                                        </p:tgtEl>
                                      </p:cBhvr>
                                    </p:animEffect>
                                    <p:anim calcmode="lin" valueType="num">
                                      <p:cBhvr>
                                        <p:cTn id="29" dur="10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457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4579">
                                            <p:txEl>
                                              <p:pRg st="4" end="4"/>
                                            </p:txEl>
                                          </p:spTgt>
                                        </p:tgtEl>
                                        <p:attrNameLst>
                                          <p:attrName>style.visibility</p:attrName>
                                        </p:attrNameLst>
                                      </p:cBhvr>
                                      <p:to>
                                        <p:strVal val="visible"/>
                                      </p:to>
                                    </p:set>
                                    <p:animEffect transition="in" filter="fade">
                                      <p:cBhvr>
                                        <p:cTn id="35" dur="1000"/>
                                        <p:tgtEl>
                                          <p:spTgt spid="24579">
                                            <p:txEl>
                                              <p:pRg st="4" end="4"/>
                                            </p:txEl>
                                          </p:spTgt>
                                        </p:tgtEl>
                                      </p:cBhvr>
                                    </p:animEffect>
                                    <p:anim calcmode="lin" valueType="num">
                                      <p:cBhvr>
                                        <p:cTn id="36" dur="10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457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4579">
                                            <p:txEl>
                                              <p:pRg st="5" end="5"/>
                                            </p:txEl>
                                          </p:spTgt>
                                        </p:tgtEl>
                                        <p:attrNameLst>
                                          <p:attrName>style.visibility</p:attrName>
                                        </p:attrNameLst>
                                      </p:cBhvr>
                                      <p:to>
                                        <p:strVal val="visible"/>
                                      </p:to>
                                    </p:set>
                                    <p:animEffect transition="in" filter="fade">
                                      <p:cBhvr>
                                        <p:cTn id="42" dur="1000"/>
                                        <p:tgtEl>
                                          <p:spTgt spid="24579">
                                            <p:txEl>
                                              <p:pRg st="5" end="5"/>
                                            </p:txEl>
                                          </p:spTgt>
                                        </p:tgtEl>
                                      </p:cBhvr>
                                    </p:animEffect>
                                    <p:anim calcmode="lin" valueType="num">
                                      <p:cBhvr>
                                        <p:cTn id="43" dur="10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457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4579">
                                            <p:txEl>
                                              <p:pRg st="6" end="6"/>
                                            </p:txEl>
                                          </p:spTgt>
                                        </p:tgtEl>
                                        <p:attrNameLst>
                                          <p:attrName>style.visibility</p:attrName>
                                        </p:attrNameLst>
                                      </p:cBhvr>
                                      <p:to>
                                        <p:strVal val="visible"/>
                                      </p:to>
                                    </p:set>
                                    <p:animEffect transition="in" filter="fade">
                                      <p:cBhvr>
                                        <p:cTn id="49" dur="1000"/>
                                        <p:tgtEl>
                                          <p:spTgt spid="24579">
                                            <p:txEl>
                                              <p:pRg st="6" end="6"/>
                                            </p:txEl>
                                          </p:spTgt>
                                        </p:tgtEl>
                                      </p:cBhvr>
                                    </p:animEffect>
                                    <p:anim calcmode="lin" valueType="num">
                                      <p:cBhvr>
                                        <p:cTn id="50" dur="1000" fill="hold"/>
                                        <p:tgtEl>
                                          <p:spTgt spid="24579">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457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4579">
                                            <p:txEl>
                                              <p:pRg st="7" end="7"/>
                                            </p:txEl>
                                          </p:spTgt>
                                        </p:tgtEl>
                                        <p:attrNameLst>
                                          <p:attrName>style.visibility</p:attrName>
                                        </p:attrNameLst>
                                      </p:cBhvr>
                                      <p:to>
                                        <p:strVal val="visible"/>
                                      </p:to>
                                    </p:set>
                                    <p:animEffect transition="in" filter="fade">
                                      <p:cBhvr>
                                        <p:cTn id="56" dur="1000"/>
                                        <p:tgtEl>
                                          <p:spTgt spid="24579">
                                            <p:txEl>
                                              <p:pRg st="7" end="7"/>
                                            </p:txEl>
                                          </p:spTgt>
                                        </p:tgtEl>
                                      </p:cBhvr>
                                    </p:animEffect>
                                    <p:anim calcmode="lin" valueType="num">
                                      <p:cBhvr>
                                        <p:cTn id="57" dur="1000" fill="hold"/>
                                        <p:tgtEl>
                                          <p:spTgt spid="24579">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457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wipe(left)">
                                      <p:cBhvr>
                                        <p:cTn id="63" dur="500"/>
                                        <p:tgtEl>
                                          <p:spTgt spid="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4"/>
                                        </p:tgtEl>
                                        <p:attrNameLst>
                                          <p:attrName>style.visibility</p:attrName>
                                        </p:attrNameLst>
                                      </p:cBhvr>
                                      <p:to>
                                        <p:strVal val="visible"/>
                                      </p:to>
                                    </p:set>
                                    <p:animEffect transition="in" filter="wipe(left)">
                                      <p:cBhvr>
                                        <p:cTn id="6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eaLnBrk="1" hangingPunct="1"/>
            <a:r>
              <a:rPr lang="en-US" sz="4600" smtClean="0"/>
              <a:t>Eukaryotic Cells</a:t>
            </a:r>
            <a:br>
              <a:rPr lang="en-US" sz="4600" smtClean="0"/>
            </a:br>
            <a:r>
              <a:rPr lang="en-US" sz="4600" smtClean="0"/>
              <a:t>vs.</a:t>
            </a:r>
            <a:br>
              <a:rPr lang="en-US" sz="4600" smtClean="0"/>
            </a:br>
            <a:r>
              <a:rPr lang="en-US" sz="4600" smtClean="0"/>
              <a:t>Prokaryotic Cells</a:t>
            </a:r>
          </a:p>
        </p:txBody>
      </p:sp>
      <p:sp>
        <p:nvSpPr>
          <p:cNvPr id="4099" name="Rectangle 3"/>
          <p:cNvSpPr>
            <a:spLocks noGrp="1" noChangeArrowheads="1"/>
          </p:cNvSpPr>
          <p:nvPr>
            <p:ph type="subTitle" idx="1"/>
          </p:nvPr>
        </p:nvSpPr>
        <p:spPr/>
        <p:txBody>
          <a:bodyPr/>
          <a:lstStyle/>
          <a:p>
            <a:pPr eaLnBrk="1" hangingPunct="1"/>
            <a:endParaRPr lang="en-US"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Cell Theory</a:t>
            </a:r>
          </a:p>
        </p:txBody>
      </p:sp>
      <p:sp>
        <p:nvSpPr>
          <p:cNvPr id="5123" name="Rectangle 3"/>
          <p:cNvSpPr>
            <a:spLocks noGrp="1" noChangeArrowheads="1"/>
          </p:cNvSpPr>
          <p:nvPr>
            <p:ph type="body" idx="1"/>
          </p:nvPr>
        </p:nvSpPr>
        <p:spPr/>
        <p:txBody>
          <a:bodyPr/>
          <a:lstStyle/>
          <a:p>
            <a:pPr eaLnBrk="1" hangingPunct="1"/>
            <a:r>
              <a:rPr lang="en-US" smtClean="0"/>
              <a:t>Cells are the basic units of living organisms.</a:t>
            </a:r>
          </a:p>
          <a:p>
            <a:pPr eaLnBrk="1" hangingPunct="1"/>
            <a:r>
              <a:rPr lang="en-US" smtClean="0"/>
              <a:t>The cell theory states that:</a:t>
            </a:r>
          </a:p>
          <a:p>
            <a:pPr lvl="1" eaLnBrk="1" hangingPunct="1"/>
            <a:r>
              <a:rPr lang="en-US" smtClean="0"/>
              <a:t>All living things are made of one or more cells.</a:t>
            </a:r>
          </a:p>
          <a:p>
            <a:pPr lvl="1" eaLnBrk="1" hangingPunct="1"/>
            <a:r>
              <a:rPr lang="en-US" smtClean="0"/>
              <a:t>Cells are the basic unit of structure and function in living things.</a:t>
            </a:r>
          </a:p>
          <a:p>
            <a:pPr lvl="1" eaLnBrk="1" hangingPunct="1"/>
            <a:r>
              <a:rPr lang="en-US" smtClean="0"/>
              <a:t>All cells come from other cells.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sz="half" idx="1"/>
          </p:nvPr>
        </p:nvSpPr>
        <p:spPr>
          <a:xfrm>
            <a:off x="0" y="1295400"/>
            <a:ext cx="4572000" cy="4343400"/>
          </a:xfrm>
        </p:spPr>
        <p:txBody>
          <a:bodyPr/>
          <a:lstStyle/>
          <a:p>
            <a:pPr eaLnBrk="1" hangingPunct="1"/>
            <a:r>
              <a:rPr lang="en-US" sz="2400" u="sng" smtClean="0"/>
              <a:t>Two categories:</a:t>
            </a:r>
            <a:r>
              <a:rPr lang="en-US" sz="2400" smtClean="0"/>
              <a:t>                </a:t>
            </a:r>
          </a:p>
          <a:p>
            <a:pPr eaLnBrk="1" hangingPunct="1">
              <a:buFont typeface="Wingdings" pitchFamily="2" charset="2"/>
              <a:buNone/>
            </a:pPr>
            <a:r>
              <a:rPr lang="en-US" sz="2400" smtClean="0"/>
              <a:t>	  1. </a:t>
            </a:r>
            <a:r>
              <a:rPr lang="en-US" sz="2000" smtClean="0"/>
              <a:t>Cell that have     </a:t>
            </a:r>
          </a:p>
          <a:p>
            <a:pPr eaLnBrk="1" hangingPunct="1">
              <a:buFont typeface="Wingdings" pitchFamily="2" charset="2"/>
              <a:buNone/>
            </a:pPr>
            <a:r>
              <a:rPr lang="en-US" sz="2000" smtClean="0"/>
              <a:t>           membrane-bound organelles</a:t>
            </a:r>
            <a:r>
              <a:rPr lang="en-US" sz="2400" smtClean="0"/>
              <a:t> </a:t>
            </a:r>
          </a:p>
          <a:p>
            <a:pPr lvl="1" eaLnBrk="1" hangingPunct="1"/>
            <a:r>
              <a:rPr lang="en-US" sz="1800" smtClean="0"/>
              <a:t>Called </a:t>
            </a:r>
            <a:r>
              <a:rPr lang="en-US" sz="1800" b="1" smtClean="0">
                <a:solidFill>
                  <a:srgbClr val="FF3300"/>
                </a:solidFill>
              </a:rPr>
              <a:t>Eukaryotic Cells</a:t>
            </a:r>
            <a:r>
              <a:rPr lang="en-US" sz="2000" smtClean="0"/>
              <a:t>         	</a:t>
            </a:r>
          </a:p>
          <a:p>
            <a:pPr lvl="1" eaLnBrk="1" hangingPunct="1">
              <a:buFont typeface="Wingdings" pitchFamily="2" charset="2"/>
              <a:buNone/>
            </a:pPr>
            <a:r>
              <a:rPr lang="en-US" sz="2000" smtClean="0"/>
              <a:t>2. Cells that </a:t>
            </a:r>
            <a:r>
              <a:rPr lang="en-US" sz="2000" b="1" u="sng" smtClean="0">
                <a:solidFill>
                  <a:srgbClr val="FF0000"/>
                </a:solidFill>
              </a:rPr>
              <a:t>do not</a:t>
            </a:r>
            <a:r>
              <a:rPr lang="en-US" sz="2000" smtClean="0"/>
              <a:t> have membrane-bound organelles</a:t>
            </a:r>
            <a:r>
              <a:rPr lang="en-US" smtClean="0"/>
              <a:t> </a:t>
            </a:r>
            <a:endParaRPr lang="en-US" sz="2000" smtClean="0"/>
          </a:p>
          <a:p>
            <a:pPr lvl="1" eaLnBrk="1" hangingPunct="1"/>
            <a:r>
              <a:rPr lang="en-US" sz="1800" smtClean="0"/>
              <a:t>called </a:t>
            </a:r>
            <a:r>
              <a:rPr lang="en-US" sz="1800" b="1" smtClean="0">
                <a:solidFill>
                  <a:srgbClr val="0000CC"/>
                </a:solidFill>
              </a:rPr>
              <a:t>prokaryotic cells</a:t>
            </a:r>
            <a:endParaRPr lang="en-US" sz="1800" smtClean="0">
              <a:solidFill>
                <a:srgbClr val="0000CC"/>
              </a:solidFill>
            </a:endParaRPr>
          </a:p>
          <a:p>
            <a:pPr lvl="2" eaLnBrk="1" hangingPunct="1"/>
            <a:r>
              <a:rPr lang="en-US" sz="1800" b="1" smtClean="0">
                <a:solidFill>
                  <a:srgbClr val="FF0000"/>
                </a:solidFill>
              </a:rPr>
              <a:t>Unicellular</a:t>
            </a:r>
            <a:r>
              <a:rPr lang="en-US" sz="1800" b="1" smtClean="0"/>
              <a:t> </a:t>
            </a:r>
            <a:r>
              <a:rPr lang="en-US" sz="1800" smtClean="0"/>
              <a:t>organisms such as </a:t>
            </a:r>
            <a:r>
              <a:rPr lang="en-US" sz="1800" b="1" smtClean="0">
                <a:solidFill>
                  <a:srgbClr val="FF0000"/>
                </a:solidFill>
              </a:rPr>
              <a:t>bacteria</a:t>
            </a:r>
            <a:r>
              <a:rPr lang="en-US" sz="1800" smtClean="0"/>
              <a:t> are examples of prokaryotes.</a:t>
            </a:r>
          </a:p>
        </p:txBody>
      </p:sp>
      <p:sp>
        <p:nvSpPr>
          <p:cNvPr id="6148" name="Rectangle 6"/>
          <p:cNvSpPr>
            <a:spLocks noGrp="1" noChangeArrowheads="1"/>
          </p:cNvSpPr>
          <p:nvPr>
            <p:ph type="body" sz="half" idx="2"/>
          </p:nvPr>
        </p:nvSpPr>
        <p:spPr/>
        <p:txBody>
          <a:bodyPr/>
          <a:lstStyle/>
          <a:p>
            <a:pPr eaLnBrk="1" hangingPunct="1">
              <a:lnSpc>
                <a:spcPct val="80000"/>
              </a:lnSpc>
            </a:pPr>
            <a:endParaRPr lang="en-US" sz="2400" smtClean="0"/>
          </a:p>
        </p:txBody>
      </p:sp>
      <p:pic>
        <p:nvPicPr>
          <p:cNvPr id="6149" name="Picture 8" descr="r?t=a&amp;d=us&amp;s=a&amp;c=p&amp;ti=1&amp;ai=30751&amp;l=dir&amp;o=333&amp;sv=0a300516&amp;ip=4673345a&amp;u=http%3A%2F%2Fwww"/>
          <p:cNvPicPr>
            <a:picLocks noChangeAspect="1" noChangeArrowheads="1"/>
          </p:cNvPicPr>
          <p:nvPr/>
        </p:nvPicPr>
        <p:blipFill>
          <a:blip r:embed="rId2"/>
          <a:srcRect/>
          <a:stretch>
            <a:fillRect/>
          </a:stretch>
        </p:blipFill>
        <p:spPr bwMode="auto">
          <a:xfrm>
            <a:off x="4572000" y="609600"/>
            <a:ext cx="4343400"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28600"/>
            <a:ext cx="8229600" cy="990600"/>
          </a:xfrm>
        </p:spPr>
        <p:txBody>
          <a:bodyPr/>
          <a:lstStyle/>
          <a:p>
            <a:pPr eaLnBrk="1" hangingPunct="1"/>
            <a:r>
              <a:rPr lang="en-US" smtClean="0"/>
              <a:t>Cell Types</a:t>
            </a:r>
          </a:p>
        </p:txBody>
      </p:sp>
      <p:sp>
        <p:nvSpPr>
          <p:cNvPr id="7171" name="Rectangle 3"/>
          <p:cNvSpPr>
            <a:spLocks noGrp="1" noChangeArrowheads="1"/>
          </p:cNvSpPr>
          <p:nvPr>
            <p:ph type="body" idx="1"/>
          </p:nvPr>
        </p:nvSpPr>
        <p:spPr>
          <a:xfrm>
            <a:off x="457200" y="1066800"/>
            <a:ext cx="8229600" cy="4800600"/>
          </a:xfrm>
        </p:spPr>
        <p:txBody>
          <a:bodyPr/>
          <a:lstStyle/>
          <a:p>
            <a:pPr eaLnBrk="1" hangingPunct="1"/>
            <a:r>
              <a:rPr lang="en-US" sz="2800" b="1" smtClean="0">
                <a:solidFill>
                  <a:srgbClr val="0000CC"/>
                </a:solidFill>
              </a:rPr>
              <a:t>Eukaryotic cells</a:t>
            </a:r>
            <a:r>
              <a:rPr lang="en-US" sz="2800" smtClean="0">
                <a:solidFill>
                  <a:srgbClr val="0000CC"/>
                </a:solidFill>
              </a:rPr>
              <a:t>-</a:t>
            </a:r>
          </a:p>
          <a:p>
            <a:pPr lvl="1" eaLnBrk="1" hangingPunct="1"/>
            <a:r>
              <a:rPr lang="en-US" sz="2400" smtClean="0"/>
              <a:t>Cells that contain organelles which are held together by membranes </a:t>
            </a:r>
          </a:p>
          <a:p>
            <a:pPr lvl="1" eaLnBrk="1" hangingPunct="1"/>
            <a:r>
              <a:rPr lang="en-US" sz="2400" smtClean="0"/>
              <a:t>Examples include plant and animal cells.</a:t>
            </a:r>
          </a:p>
        </p:txBody>
      </p:sp>
      <p:pic>
        <p:nvPicPr>
          <p:cNvPr id="7172" name="Picture 5" descr="r?t=a&amp;d=us&amp;s=a&amp;c=p&amp;ti=1&amp;ai=30751&amp;l=dir&amp;o=333&amp;sv=0a300523&amp;ip=4673345a&amp;u=http%3A%2F%2Fwww"/>
          <p:cNvPicPr>
            <a:picLocks noChangeAspect="1" noChangeArrowheads="1"/>
          </p:cNvPicPr>
          <p:nvPr/>
        </p:nvPicPr>
        <p:blipFill>
          <a:blip r:embed="rId2"/>
          <a:srcRect/>
          <a:stretch>
            <a:fillRect/>
          </a:stretch>
        </p:blipFill>
        <p:spPr bwMode="auto">
          <a:xfrm>
            <a:off x="1219200" y="2819400"/>
            <a:ext cx="6438900"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Eukaryotic Cell Structure</a:t>
            </a:r>
          </a:p>
        </p:txBody>
      </p:sp>
      <p:sp>
        <p:nvSpPr>
          <p:cNvPr id="8195" name="Rectangle 4"/>
          <p:cNvSpPr>
            <a:spLocks noGrp="1" noChangeArrowheads="1"/>
          </p:cNvSpPr>
          <p:nvPr>
            <p:ph type="body" sz="half" idx="1"/>
          </p:nvPr>
        </p:nvSpPr>
        <p:spPr>
          <a:xfrm>
            <a:off x="0" y="1676400"/>
            <a:ext cx="4800600" cy="4876800"/>
          </a:xfrm>
        </p:spPr>
        <p:txBody>
          <a:bodyPr/>
          <a:lstStyle/>
          <a:p>
            <a:pPr eaLnBrk="1" hangingPunct="1">
              <a:lnSpc>
                <a:spcPct val="90000"/>
              </a:lnSpc>
            </a:pPr>
            <a:r>
              <a:rPr lang="en-US" sz="3200" smtClean="0"/>
              <a:t>The </a:t>
            </a:r>
            <a:r>
              <a:rPr lang="en-US" sz="3200" smtClean="0">
                <a:solidFill>
                  <a:srgbClr val="FF0000"/>
                </a:solidFill>
              </a:rPr>
              <a:t>plasma</a:t>
            </a:r>
            <a:r>
              <a:rPr lang="en-US" sz="3200" u="sng" smtClean="0"/>
              <a:t> </a:t>
            </a:r>
            <a:r>
              <a:rPr lang="en-US" sz="3200" smtClean="0">
                <a:solidFill>
                  <a:srgbClr val="FF0000"/>
                </a:solidFill>
              </a:rPr>
              <a:t>membrane/cell membrane</a:t>
            </a:r>
          </a:p>
          <a:p>
            <a:pPr lvl="1" eaLnBrk="1" hangingPunct="1">
              <a:lnSpc>
                <a:spcPct val="90000"/>
              </a:lnSpc>
            </a:pPr>
            <a:r>
              <a:rPr lang="en-US" sz="3200" smtClean="0"/>
              <a:t> </a:t>
            </a:r>
            <a:r>
              <a:rPr lang="en-US" sz="2500" smtClean="0"/>
              <a:t>the flexible boundary  of a cell</a:t>
            </a:r>
          </a:p>
          <a:p>
            <a:pPr lvl="1" eaLnBrk="1" hangingPunct="1">
              <a:lnSpc>
                <a:spcPct val="90000"/>
              </a:lnSpc>
            </a:pPr>
            <a:r>
              <a:rPr lang="en-US" sz="2500" smtClean="0"/>
              <a:t>separates a cell from its surroundings</a:t>
            </a:r>
            <a:endParaRPr lang="en-US" sz="3200" smtClean="0"/>
          </a:p>
        </p:txBody>
      </p:sp>
      <p:pic>
        <p:nvPicPr>
          <p:cNvPr id="8196" name="Picture 8" descr="r?t=a&amp;d=us&amp;s=a&amp;c=p&amp;ti=1&amp;ai=30751&amp;l=dir&amp;o=333&amp;sv=0a30050b&amp;ip=4673345a&amp;u=http%3A%2F%2Fwww"/>
          <p:cNvPicPr>
            <a:picLocks noChangeAspect="1" noChangeArrowheads="1"/>
          </p:cNvPicPr>
          <p:nvPr>
            <p:ph type="body" sz="half" idx="2"/>
          </p:nvPr>
        </p:nvPicPr>
        <p:blipFill>
          <a:blip r:embed="rId2"/>
          <a:srcRect/>
          <a:stretch>
            <a:fillRect/>
          </a:stretch>
        </p:blipFill>
        <p:spPr>
          <a:xfrm>
            <a:off x="4572000" y="1371600"/>
            <a:ext cx="5029200" cy="5105400"/>
          </a:xfr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z="4000" smtClean="0"/>
              <a:t>Plasma Membrane/Cell Membrane continued:</a:t>
            </a:r>
          </a:p>
        </p:txBody>
      </p:sp>
      <p:sp>
        <p:nvSpPr>
          <p:cNvPr id="9219" name="Rectangle 3"/>
          <p:cNvSpPr>
            <a:spLocks noGrp="1" noChangeArrowheads="1"/>
          </p:cNvSpPr>
          <p:nvPr>
            <p:ph type="body" idx="1"/>
          </p:nvPr>
        </p:nvSpPr>
        <p:spPr>
          <a:xfrm>
            <a:off x="457200" y="1981200"/>
            <a:ext cx="8229600" cy="4495800"/>
          </a:xfrm>
        </p:spPr>
        <p:txBody>
          <a:bodyPr/>
          <a:lstStyle/>
          <a:p>
            <a:pPr eaLnBrk="1" hangingPunct="1"/>
            <a:r>
              <a:rPr lang="en-US" smtClean="0"/>
              <a:t> </a:t>
            </a:r>
            <a:r>
              <a:rPr lang="en-US" sz="3000" smtClean="0"/>
              <a:t>allows nutrients to enter the cell and waste to be removed</a:t>
            </a:r>
          </a:p>
          <a:p>
            <a:pPr eaLnBrk="1" hangingPunct="1"/>
            <a:endParaRPr lang="en-US" sz="900" smtClean="0"/>
          </a:p>
          <a:p>
            <a:pPr lvl="1" eaLnBrk="1" hangingPunct="1"/>
            <a:r>
              <a:rPr lang="en-US" sz="2400" smtClean="0"/>
              <a:t>This is referred to as </a:t>
            </a:r>
            <a:r>
              <a:rPr lang="en-US" sz="2400" b="1" smtClean="0">
                <a:solidFill>
                  <a:srgbClr val="FF0000"/>
                </a:solidFill>
              </a:rPr>
              <a:t>selective permeability</a:t>
            </a:r>
            <a:r>
              <a:rPr lang="en-US" sz="2400" b="1" smtClean="0"/>
              <a:t>.  </a:t>
            </a:r>
            <a:r>
              <a:rPr lang="en-US" sz="2400" smtClean="0"/>
              <a:t>*(Selective=Chooses, Permeability=filter through)*</a:t>
            </a:r>
          </a:p>
          <a:p>
            <a:pPr lvl="1" eaLnBrk="1" hangingPunct="1"/>
            <a:endParaRPr lang="en-US" sz="900" smtClean="0"/>
          </a:p>
          <a:p>
            <a:pPr eaLnBrk="1" hangingPunct="1"/>
            <a:r>
              <a:rPr lang="en-US" sz="3000" smtClean="0"/>
              <a:t>keeping a healthy balance of nutrients and water within the cell is called </a:t>
            </a:r>
            <a:r>
              <a:rPr lang="en-US" sz="3000" b="1" smtClean="0">
                <a:solidFill>
                  <a:srgbClr val="FF0000"/>
                </a:solidFill>
              </a:rPr>
              <a:t>homeostasis</a:t>
            </a:r>
            <a:endParaRPr lang="en-US" b="1"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mtClean="0"/>
              <a:t>Overview of Organelles</a:t>
            </a:r>
          </a:p>
        </p:txBody>
      </p:sp>
      <p:sp>
        <p:nvSpPr>
          <p:cNvPr id="11267" name="Rectangle 3"/>
          <p:cNvSpPr>
            <a:spLocks noGrp="1" noChangeArrowheads="1"/>
          </p:cNvSpPr>
          <p:nvPr>
            <p:ph type="body" idx="1"/>
          </p:nvPr>
        </p:nvSpPr>
        <p:spPr>
          <a:xfrm>
            <a:off x="457200" y="1676400"/>
            <a:ext cx="8229600" cy="4495800"/>
          </a:xfrm>
        </p:spPr>
        <p:txBody>
          <a:bodyPr/>
          <a:lstStyle/>
          <a:p>
            <a:pPr eaLnBrk="1" hangingPunct="1"/>
            <a:r>
              <a:rPr lang="en-US" sz="2800" b="1" u="sng" smtClean="0"/>
              <a:t>Nucleus</a:t>
            </a:r>
            <a:r>
              <a:rPr lang="en-US" sz="2800" u="sng" smtClean="0"/>
              <a:t>- </a:t>
            </a:r>
          </a:p>
          <a:p>
            <a:pPr lvl="1" eaLnBrk="1" hangingPunct="1"/>
            <a:r>
              <a:rPr lang="en-US" sz="2400" smtClean="0"/>
              <a:t>Largest organelle in the cell and it is the most inner compartment of the cell </a:t>
            </a:r>
          </a:p>
          <a:p>
            <a:pPr lvl="1" eaLnBrk="1" hangingPunct="1"/>
            <a:r>
              <a:rPr lang="en-US" sz="2400" smtClean="0"/>
              <a:t>contains chromatin (DNA); genetic information on strands called chromosomes</a:t>
            </a:r>
          </a:p>
          <a:p>
            <a:pPr lvl="1" eaLnBrk="1" hangingPunct="1"/>
            <a:r>
              <a:rPr lang="en-US" sz="2400" smtClean="0"/>
              <a:t>“control center” for cell metabolism and reproduction</a:t>
            </a:r>
          </a:p>
          <a:p>
            <a:pPr eaLnBrk="1" hangingPunct="1"/>
            <a:r>
              <a:rPr lang="en-US" sz="2800" b="1" u="sng" smtClean="0"/>
              <a:t>Chromatin</a:t>
            </a:r>
            <a:r>
              <a:rPr lang="en-US" sz="2800" u="sng" smtClean="0"/>
              <a:t>-</a:t>
            </a:r>
            <a:r>
              <a:rPr lang="en-US" sz="2800" smtClean="0"/>
              <a:t> </a:t>
            </a:r>
            <a:r>
              <a:rPr lang="en-US" sz="2400" smtClean="0"/>
              <a:t>Directions on how to make proteins</a:t>
            </a:r>
          </a:p>
          <a:p>
            <a:pPr eaLnBrk="1" hangingPunct="1"/>
            <a:r>
              <a:rPr lang="en-US" sz="2800" b="1" u="sng" smtClean="0"/>
              <a:t>Nucleolus</a:t>
            </a:r>
            <a:r>
              <a:rPr lang="en-US" sz="2800" smtClean="0"/>
              <a:t>- </a:t>
            </a:r>
            <a:r>
              <a:rPr lang="en-US" sz="2400" smtClean="0"/>
              <a:t>Found inside nucleus; ribosomes are made here</a:t>
            </a:r>
          </a:p>
          <a:p>
            <a:pPr eaLnBrk="1" hangingPunct="1"/>
            <a:endParaRPr lang="en-US" sz="240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mtClean="0"/>
              <a:t>Overview Cont’d</a:t>
            </a:r>
          </a:p>
        </p:txBody>
      </p:sp>
      <p:sp>
        <p:nvSpPr>
          <p:cNvPr id="12291" name="Rectangle 3"/>
          <p:cNvSpPr>
            <a:spLocks noGrp="1" noChangeArrowheads="1"/>
          </p:cNvSpPr>
          <p:nvPr>
            <p:ph type="body" idx="1"/>
          </p:nvPr>
        </p:nvSpPr>
        <p:spPr>
          <a:xfrm>
            <a:off x="457200" y="1752600"/>
            <a:ext cx="8229600" cy="4114800"/>
          </a:xfrm>
        </p:spPr>
        <p:txBody>
          <a:bodyPr/>
          <a:lstStyle/>
          <a:p>
            <a:pPr eaLnBrk="1" hangingPunct="1">
              <a:lnSpc>
                <a:spcPct val="90000"/>
              </a:lnSpc>
            </a:pPr>
            <a:r>
              <a:rPr lang="en-US" sz="2800" b="1" u="sng" smtClean="0"/>
              <a:t>Ribosomes</a:t>
            </a:r>
            <a:r>
              <a:rPr lang="en-US" sz="2800" smtClean="0"/>
              <a:t>- </a:t>
            </a:r>
            <a:r>
              <a:rPr lang="en-US" sz="2000" smtClean="0"/>
              <a:t>make proteins (made up of RNA and protein); thought of as “factories”</a:t>
            </a:r>
          </a:p>
          <a:p>
            <a:pPr eaLnBrk="1" hangingPunct="1">
              <a:lnSpc>
                <a:spcPct val="90000"/>
              </a:lnSpc>
            </a:pPr>
            <a:r>
              <a:rPr lang="en-US" sz="2800" b="1" u="sng" smtClean="0"/>
              <a:t>Cytoplasm</a:t>
            </a:r>
            <a:r>
              <a:rPr lang="en-US" sz="2800" u="sng" smtClean="0"/>
              <a:t>-</a:t>
            </a:r>
            <a:r>
              <a:rPr lang="en-US" sz="2800" smtClean="0"/>
              <a:t> </a:t>
            </a:r>
            <a:r>
              <a:rPr lang="en-US" sz="2000" smtClean="0"/>
              <a:t>clear gel like fluid inside the cell, which suspends all organelles</a:t>
            </a:r>
            <a:r>
              <a:rPr lang="en-US" sz="2800" b="1" smtClean="0"/>
              <a:t> </a:t>
            </a:r>
          </a:p>
          <a:p>
            <a:pPr eaLnBrk="1" hangingPunct="1">
              <a:lnSpc>
                <a:spcPct val="90000"/>
              </a:lnSpc>
            </a:pPr>
            <a:r>
              <a:rPr lang="en-US" sz="2800" b="1" u="sng" smtClean="0"/>
              <a:t>Endoplasmic Reticulum</a:t>
            </a:r>
            <a:r>
              <a:rPr lang="en-US" sz="2800" u="sng" smtClean="0"/>
              <a:t>-</a:t>
            </a:r>
            <a:r>
              <a:rPr lang="en-US" sz="2800" smtClean="0"/>
              <a:t> </a:t>
            </a:r>
            <a:r>
              <a:rPr lang="en-US" sz="2000" smtClean="0"/>
              <a:t>extensive network of membranes</a:t>
            </a:r>
          </a:p>
          <a:p>
            <a:pPr lvl="1" eaLnBrk="1" hangingPunct="1">
              <a:lnSpc>
                <a:spcPct val="90000"/>
              </a:lnSpc>
            </a:pPr>
            <a:r>
              <a:rPr lang="en-US" sz="2400" smtClean="0"/>
              <a:t>Rough ER: with ribosomes</a:t>
            </a:r>
          </a:p>
          <a:p>
            <a:pPr lvl="1" eaLnBrk="1" hangingPunct="1">
              <a:lnSpc>
                <a:spcPct val="90000"/>
              </a:lnSpc>
            </a:pPr>
            <a:r>
              <a:rPr lang="en-US" sz="2400" smtClean="0"/>
              <a:t>Smooth ER: with no visible ribosomes</a:t>
            </a:r>
          </a:p>
          <a:p>
            <a:pPr eaLnBrk="1" hangingPunct="1">
              <a:lnSpc>
                <a:spcPct val="90000"/>
              </a:lnSpc>
            </a:pPr>
            <a:r>
              <a:rPr lang="en-US" sz="2800" b="1" u="sng" smtClean="0"/>
              <a:t>Golgi Apparatus</a:t>
            </a:r>
            <a:r>
              <a:rPr lang="en-US" sz="2800" u="sng" smtClean="0"/>
              <a:t>-</a:t>
            </a:r>
            <a:r>
              <a:rPr lang="en-US" sz="2800" smtClean="0"/>
              <a:t> </a:t>
            </a:r>
            <a:r>
              <a:rPr lang="en-US" sz="2000" smtClean="0"/>
              <a:t>sorts proteins made by the ribosomes and sends them to needed places in the cell</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endParaRPr lang="en-US" smtClean="0"/>
          </a:p>
        </p:txBody>
      </p:sp>
      <p:sp>
        <p:nvSpPr>
          <p:cNvPr id="36867" name="Rectangle 3"/>
          <p:cNvSpPr>
            <a:spLocks noGrp="1" noChangeArrowheads="1"/>
          </p:cNvSpPr>
          <p:nvPr>
            <p:ph type="body" idx="1"/>
          </p:nvPr>
        </p:nvSpPr>
        <p:spPr/>
        <p:txBody>
          <a:bodyPr/>
          <a:lstStyle/>
          <a:p>
            <a:pPr eaLnBrk="1" hangingPunct="1">
              <a:lnSpc>
                <a:spcPct val="90000"/>
              </a:lnSpc>
            </a:pPr>
            <a:r>
              <a:rPr lang="en-US" sz="2400" b="1" u="sng" smtClean="0"/>
              <a:t>Lysosomes</a:t>
            </a:r>
            <a:r>
              <a:rPr lang="en-US" sz="2400" u="sng" smtClean="0"/>
              <a:t>- </a:t>
            </a:r>
            <a:r>
              <a:rPr lang="en-US" sz="2400" smtClean="0"/>
              <a:t>organelles that are filled with digestive enzymes to remove waste and invading bacteria </a:t>
            </a:r>
          </a:p>
          <a:p>
            <a:pPr eaLnBrk="1" hangingPunct="1">
              <a:lnSpc>
                <a:spcPct val="90000"/>
              </a:lnSpc>
            </a:pPr>
            <a:endParaRPr lang="en-US" sz="1000" smtClean="0"/>
          </a:p>
          <a:p>
            <a:pPr eaLnBrk="1" hangingPunct="1">
              <a:lnSpc>
                <a:spcPct val="90000"/>
              </a:lnSpc>
            </a:pPr>
            <a:r>
              <a:rPr lang="en-US" sz="2400" b="1" u="sng" smtClean="0"/>
              <a:t>Mitochondria</a:t>
            </a:r>
            <a:r>
              <a:rPr lang="en-US" sz="2400" u="sng" smtClean="0"/>
              <a:t>-</a:t>
            </a:r>
            <a:r>
              <a:rPr lang="en-US" sz="2400" smtClean="0"/>
              <a:t> often referred to as the “powerhouse” of the cell</a:t>
            </a:r>
          </a:p>
          <a:p>
            <a:pPr lvl="1" eaLnBrk="1" hangingPunct="1">
              <a:lnSpc>
                <a:spcPct val="90000"/>
              </a:lnSpc>
            </a:pPr>
            <a:r>
              <a:rPr lang="en-US" sz="2000" smtClean="0"/>
              <a:t>release energy for the cell</a:t>
            </a:r>
          </a:p>
          <a:p>
            <a:pPr lvl="1" eaLnBrk="1" hangingPunct="1">
              <a:lnSpc>
                <a:spcPct val="90000"/>
              </a:lnSpc>
            </a:pPr>
            <a:r>
              <a:rPr lang="en-US" sz="2000" smtClean="0"/>
              <a:t> It converts the energy stored in glucose into ATP for the cell</a:t>
            </a:r>
          </a:p>
          <a:p>
            <a:pPr lvl="1" eaLnBrk="1" hangingPunct="1">
              <a:lnSpc>
                <a:spcPct val="90000"/>
              </a:lnSpc>
            </a:pPr>
            <a:endParaRPr lang="en-US" sz="1000" smtClean="0"/>
          </a:p>
          <a:p>
            <a:pPr eaLnBrk="1" hangingPunct="1">
              <a:lnSpc>
                <a:spcPct val="90000"/>
              </a:lnSpc>
            </a:pPr>
            <a:r>
              <a:rPr lang="en-US" sz="2400" b="1" u="sng" smtClean="0"/>
              <a:t>Vacuoles-</a:t>
            </a:r>
            <a:r>
              <a:rPr lang="en-US" sz="2400" smtClean="0"/>
              <a:t> fluid filled organelles enclosed by a membrane</a:t>
            </a:r>
          </a:p>
          <a:p>
            <a:pPr lvl="1" eaLnBrk="1" hangingPunct="1">
              <a:lnSpc>
                <a:spcPct val="90000"/>
              </a:lnSpc>
            </a:pPr>
            <a:r>
              <a:rPr lang="en-US" sz="2000" smtClean="0"/>
              <a:t>Store materials such as food, sugar, water, and waste products</a:t>
            </a:r>
          </a:p>
          <a:p>
            <a:pPr>
              <a:lnSpc>
                <a:spcPct val="90000"/>
              </a:lnSpc>
            </a:pPr>
            <a:endParaRPr lang="en-US" sz="240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457200"/>
            <a:ext cx="8229600" cy="1066800"/>
          </a:xfrm>
        </p:spPr>
        <p:txBody>
          <a:bodyPr/>
          <a:lstStyle/>
          <a:p>
            <a:pPr eaLnBrk="1" hangingPunct="1"/>
            <a:r>
              <a:rPr lang="en-US" smtClean="0"/>
              <a:t>Eukaryotic plant cell</a:t>
            </a:r>
          </a:p>
        </p:txBody>
      </p:sp>
      <p:sp>
        <p:nvSpPr>
          <p:cNvPr id="13315" name="Rectangle 3"/>
          <p:cNvSpPr>
            <a:spLocks noGrp="1" noChangeArrowheads="1"/>
          </p:cNvSpPr>
          <p:nvPr>
            <p:ph type="body" idx="1"/>
          </p:nvPr>
        </p:nvSpPr>
        <p:spPr>
          <a:xfrm>
            <a:off x="457200" y="1295400"/>
            <a:ext cx="8229600" cy="4572000"/>
          </a:xfrm>
        </p:spPr>
        <p:txBody>
          <a:bodyPr/>
          <a:lstStyle/>
          <a:p>
            <a:pPr eaLnBrk="1" hangingPunct="1"/>
            <a:r>
              <a:rPr lang="en-US" sz="2800" smtClean="0"/>
              <a:t>Plant cells are also Eukaryotic cells, but plant cells contain some organelles that are not found in animal cells.</a:t>
            </a:r>
          </a:p>
          <a:p>
            <a:pPr eaLnBrk="1" hangingPunct="1"/>
            <a:endParaRPr lang="en-US" smtClean="0"/>
          </a:p>
        </p:txBody>
      </p:sp>
      <p:pic>
        <p:nvPicPr>
          <p:cNvPr id="13316" name="Picture 5" descr="r?t=a&amp;d=us&amp;s=a&amp;c=p&amp;ti=1&amp;ai=30751&amp;l=dir&amp;o=333&amp;sv=0a30051c&amp;ip=4673345a&amp;u=http%3A%2F%2Fwww"/>
          <p:cNvPicPr>
            <a:picLocks noChangeAspect="1" noChangeArrowheads="1"/>
          </p:cNvPicPr>
          <p:nvPr/>
        </p:nvPicPr>
        <p:blipFill>
          <a:blip r:embed="rId2"/>
          <a:srcRect/>
          <a:stretch>
            <a:fillRect/>
          </a:stretch>
        </p:blipFill>
        <p:spPr bwMode="auto">
          <a:xfrm>
            <a:off x="3429000" y="2362200"/>
            <a:ext cx="5181600" cy="4495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304800"/>
            <a:ext cx="8229600" cy="1371600"/>
          </a:xfrm>
        </p:spPr>
        <p:txBody>
          <a:bodyPr/>
          <a:lstStyle/>
          <a:p>
            <a:pPr eaLnBrk="1" hangingPunct="1"/>
            <a:r>
              <a:rPr lang="en-US" smtClean="0"/>
              <a:t>Plant Cell Organelles</a:t>
            </a:r>
          </a:p>
        </p:txBody>
      </p:sp>
      <p:sp>
        <p:nvSpPr>
          <p:cNvPr id="14339" name="Rectangle 3"/>
          <p:cNvSpPr>
            <a:spLocks noGrp="1" noChangeArrowheads="1"/>
          </p:cNvSpPr>
          <p:nvPr>
            <p:ph type="body" idx="1"/>
          </p:nvPr>
        </p:nvSpPr>
        <p:spPr>
          <a:xfrm>
            <a:off x="457200" y="1676400"/>
            <a:ext cx="8229600" cy="4191000"/>
          </a:xfrm>
        </p:spPr>
        <p:txBody>
          <a:bodyPr/>
          <a:lstStyle/>
          <a:p>
            <a:pPr eaLnBrk="1" hangingPunct="1"/>
            <a:r>
              <a:rPr lang="en-US" sz="2800" b="1" u="sng" smtClean="0"/>
              <a:t>Cell</a:t>
            </a:r>
            <a:r>
              <a:rPr lang="en-US" sz="2800" u="sng" smtClean="0"/>
              <a:t> </a:t>
            </a:r>
            <a:r>
              <a:rPr lang="en-US" sz="2800" b="1" u="sng" smtClean="0"/>
              <a:t>wall</a:t>
            </a:r>
            <a:r>
              <a:rPr lang="en-US" sz="2800" u="sng" smtClean="0"/>
              <a:t>-</a:t>
            </a:r>
            <a:r>
              <a:rPr lang="en-US" smtClean="0"/>
              <a:t> </a:t>
            </a:r>
            <a:r>
              <a:rPr lang="en-US" sz="2400" smtClean="0"/>
              <a:t>rigid wall outside the plasma membrane. It provides the cell with extra support.</a:t>
            </a:r>
          </a:p>
          <a:p>
            <a:pPr eaLnBrk="1" hangingPunct="1"/>
            <a:r>
              <a:rPr lang="en-US" sz="2800" b="1" u="sng" smtClean="0"/>
              <a:t>Chloroplasts</a:t>
            </a:r>
            <a:r>
              <a:rPr lang="en-US" sz="2800" u="sng" smtClean="0"/>
              <a:t>-</a:t>
            </a:r>
            <a:r>
              <a:rPr lang="en-US" smtClean="0"/>
              <a:t> </a:t>
            </a:r>
            <a:r>
              <a:rPr lang="en-US" sz="2400" smtClean="0"/>
              <a:t>captures light and energy; and converts it into chemical energy.</a:t>
            </a:r>
          </a:p>
          <a:p>
            <a:pPr eaLnBrk="1" hangingPunct="1"/>
            <a:r>
              <a:rPr lang="en-US" sz="2800" b="1" u="sng" smtClean="0"/>
              <a:t>Chlorophyll</a:t>
            </a:r>
            <a:r>
              <a:rPr lang="en-US" sz="2800" u="sng" smtClean="0"/>
              <a:t>-</a:t>
            </a:r>
            <a:r>
              <a:rPr lang="en-US" smtClean="0"/>
              <a:t> </a:t>
            </a:r>
            <a:r>
              <a:rPr lang="en-US" sz="2400" smtClean="0"/>
              <a:t>green pigment found inside the chloroplast.</a:t>
            </a:r>
          </a:p>
          <a:p>
            <a:pPr eaLnBrk="1" hangingPunct="1"/>
            <a:r>
              <a:rPr lang="en-US" sz="2800" b="1" u="sng" smtClean="0"/>
              <a:t>Plastids</a:t>
            </a:r>
            <a:r>
              <a:rPr lang="en-US" sz="2800" u="sng" smtClean="0"/>
              <a:t>- </a:t>
            </a:r>
            <a:r>
              <a:rPr lang="en-US" sz="2400" smtClean="0"/>
              <a:t>organelles that store things such as food in the plant cell.</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457200" y="457200"/>
            <a:ext cx="8229600" cy="6400800"/>
          </a:xfrm>
        </p:spPr>
        <p:txBody>
          <a:bodyPr/>
          <a:lstStyle/>
          <a:p>
            <a:pPr eaLnBrk="1" hangingPunct="1">
              <a:buFont typeface="Wingdings" pitchFamily="2" charset="2"/>
              <a:buNone/>
            </a:pPr>
            <a:endParaRPr lang="en-US" smtClean="0"/>
          </a:p>
        </p:txBody>
      </p:sp>
      <p:pic>
        <p:nvPicPr>
          <p:cNvPr id="16387" name="Picture 5" descr="78585-004"/>
          <p:cNvPicPr>
            <a:picLocks noChangeAspect="1" noChangeArrowheads="1"/>
          </p:cNvPicPr>
          <p:nvPr/>
        </p:nvPicPr>
        <p:blipFill>
          <a:blip r:embed="rId2"/>
          <a:srcRect/>
          <a:stretch>
            <a:fillRect/>
          </a:stretch>
        </p:blipFill>
        <p:spPr bwMode="auto">
          <a:xfrm>
            <a:off x="796925" y="0"/>
            <a:ext cx="6789738" cy="6858000"/>
          </a:xfrm>
          <a:prstGeom prst="rect">
            <a:avLst/>
          </a:prstGeom>
          <a:noFill/>
          <a:ln w="9525">
            <a:noFill/>
            <a:miter lim="800000"/>
            <a:headEnd/>
            <a:tailEnd/>
          </a:ln>
        </p:spPr>
      </p:pic>
      <p:sp>
        <p:nvSpPr>
          <p:cNvPr id="16388" name="Freeform 6"/>
          <p:cNvSpPr>
            <a:spLocks/>
          </p:cNvSpPr>
          <p:nvPr/>
        </p:nvSpPr>
        <p:spPr bwMode="auto">
          <a:xfrm>
            <a:off x="2198688" y="355600"/>
            <a:ext cx="1152525" cy="57150"/>
          </a:xfrm>
          <a:custGeom>
            <a:avLst/>
            <a:gdLst>
              <a:gd name="T0" fmla="*/ 12 w 726"/>
              <a:gd name="T1" fmla="*/ 12 h 36"/>
              <a:gd name="T2" fmla="*/ 41 w 726"/>
              <a:gd name="T3" fmla="*/ 17 h 36"/>
              <a:gd name="T4" fmla="*/ 69 w 726"/>
              <a:gd name="T5" fmla="*/ 23 h 36"/>
              <a:gd name="T6" fmla="*/ 104 w 726"/>
              <a:gd name="T7" fmla="*/ 23 h 36"/>
              <a:gd name="T8" fmla="*/ 133 w 726"/>
              <a:gd name="T9" fmla="*/ 17 h 36"/>
              <a:gd name="T10" fmla="*/ 167 w 726"/>
              <a:gd name="T11" fmla="*/ 17 h 36"/>
              <a:gd name="T12" fmla="*/ 196 w 726"/>
              <a:gd name="T13" fmla="*/ 12 h 36"/>
              <a:gd name="T14" fmla="*/ 230 w 726"/>
              <a:gd name="T15" fmla="*/ 12 h 36"/>
              <a:gd name="T16" fmla="*/ 265 w 726"/>
              <a:gd name="T17" fmla="*/ 12 h 36"/>
              <a:gd name="T18" fmla="*/ 299 w 726"/>
              <a:gd name="T19" fmla="*/ 12 h 36"/>
              <a:gd name="T20" fmla="*/ 328 w 726"/>
              <a:gd name="T21" fmla="*/ 6 h 36"/>
              <a:gd name="T22" fmla="*/ 363 w 726"/>
              <a:gd name="T23" fmla="*/ 6 h 36"/>
              <a:gd name="T24" fmla="*/ 397 w 726"/>
              <a:gd name="T25" fmla="*/ 6 h 36"/>
              <a:gd name="T26" fmla="*/ 432 w 726"/>
              <a:gd name="T27" fmla="*/ 6 h 36"/>
              <a:gd name="T28" fmla="*/ 466 w 726"/>
              <a:gd name="T29" fmla="*/ 6 h 36"/>
              <a:gd name="T30" fmla="*/ 501 w 726"/>
              <a:gd name="T31" fmla="*/ 0 h 36"/>
              <a:gd name="T32" fmla="*/ 535 w 726"/>
              <a:gd name="T33" fmla="*/ 0 h 36"/>
              <a:gd name="T34" fmla="*/ 569 w 726"/>
              <a:gd name="T35" fmla="*/ 0 h 36"/>
              <a:gd name="T36" fmla="*/ 604 w 726"/>
              <a:gd name="T37" fmla="*/ 0 h 36"/>
              <a:gd name="T38" fmla="*/ 638 w 726"/>
              <a:gd name="T39" fmla="*/ 0 h 36"/>
              <a:gd name="T40" fmla="*/ 667 w 726"/>
              <a:gd name="T41" fmla="*/ 6 h 36"/>
              <a:gd name="T42" fmla="*/ 702 w 726"/>
              <a:gd name="T43" fmla="*/ 6 h 36"/>
              <a:gd name="T44" fmla="*/ 719 w 726"/>
              <a:gd name="T45" fmla="*/ 12 h 36"/>
              <a:gd name="T46" fmla="*/ 702 w 726"/>
              <a:gd name="T47" fmla="*/ 29 h 36"/>
              <a:gd name="T48" fmla="*/ 679 w 726"/>
              <a:gd name="T49" fmla="*/ 35 h 36"/>
              <a:gd name="T50" fmla="*/ 644 w 726"/>
              <a:gd name="T51" fmla="*/ 35 h 36"/>
              <a:gd name="T52" fmla="*/ 610 w 726"/>
              <a:gd name="T53" fmla="*/ 35 h 36"/>
              <a:gd name="T54" fmla="*/ 575 w 726"/>
              <a:gd name="T55" fmla="*/ 35 h 36"/>
              <a:gd name="T56" fmla="*/ 541 w 726"/>
              <a:gd name="T57" fmla="*/ 35 h 36"/>
              <a:gd name="T58" fmla="*/ 506 w 726"/>
              <a:gd name="T59" fmla="*/ 35 h 36"/>
              <a:gd name="T60" fmla="*/ 472 w 726"/>
              <a:gd name="T61" fmla="*/ 35 h 36"/>
              <a:gd name="T62" fmla="*/ 437 w 726"/>
              <a:gd name="T63" fmla="*/ 29 h 36"/>
              <a:gd name="T64" fmla="*/ 386 w 726"/>
              <a:gd name="T65" fmla="*/ 29 h 36"/>
              <a:gd name="T66" fmla="*/ 351 w 726"/>
              <a:gd name="T67" fmla="*/ 29 h 36"/>
              <a:gd name="T68" fmla="*/ 311 w 726"/>
              <a:gd name="T69" fmla="*/ 29 h 36"/>
              <a:gd name="T70" fmla="*/ 265 w 726"/>
              <a:gd name="T71" fmla="*/ 29 h 36"/>
              <a:gd name="T72" fmla="*/ 230 w 726"/>
              <a:gd name="T73" fmla="*/ 29 h 36"/>
              <a:gd name="T74" fmla="*/ 196 w 726"/>
              <a:gd name="T75" fmla="*/ 29 h 36"/>
              <a:gd name="T76" fmla="*/ 156 w 726"/>
              <a:gd name="T77" fmla="*/ 35 h 36"/>
              <a:gd name="T78" fmla="*/ 127 w 726"/>
              <a:gd name="T79" fmla="*/ 35 h 36"/>
              <a:gd name="T80" fmla="*/ 92 w 726"/>
              <a:gd name="T81" fmla="*/ 35 h 36"/>
              <a:gd name="T82" fmla="*/ 58 w 726"/>
              <a:gd name="T83" fmla="*/ 35 h 36"/>
              <a:gd name="T84" fmla="*/ 23 w 726"/>
              <a:gd name="T85" fmla="*/ 35 h 36"/>
              <a:gd name="T86" fmla="*/ 0 w 726"/>
              <a:gd name="T87" fmla="*/ 35 h 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26"/>
              <a:gd name="T133" fmla="*/ 0 h 36"/>
              <a:gd name="T134" fmla="*/ 726 w 726"/>
              <a:gd name="T135" fmla="*/ 36 h 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26" h="36">
                <a:moveTo>
                  <a:pt x="0" y="12"/>
                </a:moveTo>
                <a:lnTo>
                  <a:pt x="0" y="12"/>
                </a:lnTo>
                <a:lnTo>
                  <a:pt x="12" y="12"/>
                </a:lnTo>
                <a:lnTo>
                  <a:pt x="18" y="17"/>
                </a:lnTo>
                <a:lnTo>
                  <a:pt x="29" y="17"/>
                </a:lnTo>
                <a:lnTo>
                  <a:pt x="41" y="17"/>
                </a:lnTo>
                <a:lnTo>
                  <a:pt x="52" y="17"/>
                </a:lnTo>
                <a:lnTo>
                  <a:pt x="64" y="17"/>
                </a:lnTo>
                <a:lnTo>
                  <a:pt x="69" y="23"/>
                </a:lnTo>
                <a:lnTo>
                  <a:pt x="81" y="23"/>
                </a:lnTo>
                <a:lnTo>
                  <a:pt x="92" y="23"/>
                </a:lnTo>
                <a:lnTo>
                  <a:pt x="104" y="23"/>
                </a:lnTo>
                <a:lnTo>
                  <a:pt x="110" y="17"/>
                </a:lnTo>
                <a:lnTo>
                  <a:pt x="121" y="17"/>
                </a:lnTo>
                <a:lnTo>
                  <a:pt x="133" y="17"/>
                </a:lnTo>
                <a:lnTo>
                  <a:pt x="144" y="17"/>
                </a:lnTo>
                <a:lnTo>
                  <a:pt x="156" y="17"/>
                </a:lnTo>
                <a:lnTo>
                  <a:pt x="167" y="17"/>
                </a:lnTo>
                <a:lnTo>
                  <a:pt x="179" y="17"/>
                </a:lnTo>
                <a:lnTo>
                  <a:pt x="190" y="17"/>
                </a:lnTo>
                <a:lnTo>
                  <a:pt x="196" y="12"/>
                </a:lnTo>
                <a:lnTo>
                  <a:pt x="207" y="12"/>
                </a:lnTo>
                <a:lnTo>
                  <a:pt x="219" y="12"/>
                </a:lnTo>
                <a:lnTo>
                  <a:pt x="230" y="12"/>
                </a:lnTo>
                <a:lnTo>
                  <a:pt x="242" y="12"/>
                </a:lnTo>
                <a:lnTo>
                  <a:pt x="253" y="12"/>
                </a:lnTo>
                <a:lnTo>
                  <a:pt x="265" y="12"/>
                </a:lnTo>
                <a:lnTo>
                  <a:pt x="276" y="12"/>
                </a:lnTo>
                <a:lnTo>
                  <a:pt x="288" y="12"/>
                </a:lnTo>
                <a:lnTo>
                  <a:pt x="299" y="12"/>
                </a:lnTo>
                <a:lnTo>
                  <a:pt x="311" y="12"/>
                </a:lnTo>
                <a:lnTo>
                  <a:pt x="322" y="12"/>
                </a:lnTo>
                <a:lnTo>
                  <a:pt x="328" y="6"/>
                </a:lnTo>
                <a:lnTo>
                  <a:pt x="340" y="6"/>
                </a:lnTo>
                <a:lnTo>
                  <a:pt x="351" y="6"/>
                </a:lnTo>
                <a:lnTo>
                  <a:pt x="363" y="6"/>
                </a:lnTo>
                <a:lnTo>
                  <a:pt x="374" y="6"/>
                </a:lnTo>
                <a:lnTo>
                  <a:pt x="386" y="6"/>
                </a:lnTo>
                <a:lnTo>
                  <a:pt x="397" y="6"/>
                </a:lnTo>
                <a:lnTo>
                  <a:pt x="409" y="6"/>
                </a:lnTo>
                <a:lnTo>
                  <a:pt x="420" y="6"/>
                </a:lnTo>
                <a:lnTo>
                  <a:pt x="432" y="6"/>
                </a:lnTo>
                <a:lnTo>
                  <a:pt x="443" y="6"/>
                </a:lnTo>
                <a:lnTo>
                  <a:pt x="455" y="6"/>
                </a:lnTo>
                <a:lnTo>
                  <a:pt x="466" y="6"/>
                </a:lnTo>
                <a:lnTo>
                  <a:pt x="478" y="0"/>
                </a:lnTo>
                <a:lnTo>
                  <a:pt x="489" y="0"/>
                </a:lnTo>
                <a:lnTo>
                  <a:pt x="501" y="0"/>
                </a:lnTo>
                <a:lnTo>
                  <a:pt x="512" y="0"/>
                </a:lnTo>
                <a:lnTo>
                  <a:pt x="524" y="0"/>
                </a:lnTo>
                <a:lnTo>
                  <a:pt x="535" y="0"/>
                </a:lnTo>
                <a:lnTo>
                  <a:pt x="546" y="0"/>
                </a:lnTo>
                <a:lnTo>
                  <a:pt x="558" y="0"/>
                </a:lnTo>
                <a:lnTo>
                  <a:pt x="569" y="0"/>
                </a:lnTo>
                <a:lnTo>
                  <a:pt x="581" y="0"/>
                </a:lnTo>
                <a:lnTo>
                  <a:pt x="592" y="0"/>
                </a:lnTo>
                <a:lnTo>
                  <a:pt x="604" y="0"/>
                </a:lnTo>
                <a:lnTo>
                  <a:pt x="615" y="0"/>
                </a:lnTo>
                <a:lnTo>
                  <a:pt x="627" y="0"/>
                </a:lnTo>
                <a:lnTo>
                  <a:pt x="638" y="0"/>
                </a:lnTo>
                <a:lnTo>
                  <a:pt x="650" y="0"/>
                </a:lnTo>
                <a:lnTo>
                  <a:pt x="661" y="0"/>
                </a:lnTo>
                <a:lnTo>
                  <a:pt x="667" y="6"/>
                </a:lnTo>
                <a:lnTo>
                  <a:pt x="679" y="6"/>
                </a:lnTo>
                <a:lnTo>
                  <a:pt x="690" y="6"/>
                </a:lnTo>
                <a:lnTo>
                  <a:pt x="702" y="6"/>
                </a:lnTo>
                <a:lnTo>
                  <a:pt x="713" y="6"/>
                </a:lnTo>
                <a:lnTo>
                  <a:pt x="725" y="6"/>
                </a:lnTo>
                <a:lnTo>
                  <a:pt x="719" y="12"/>
                </a:lnTo>
                <a:lnTo>
                  <a:pt x="713" y="17"/>
                </a:lnTo>
                <a:lnTo>
                  <a:pt x="707" y="23"/>
                </a:lnTo>
                <a:lnTo>
                  <a:pt x="702" y="29"/>
                </a:lnTo>
                <a:lnTo>
                  <a:pt x="690" y="29"/>
                </a:lnTo>
                <a:lnTo>
                  <a:pt x="684" y="29"/>
                </a:lnTo>
                <a:lnTo>
                  <a:pt x="679" y="35"/>
                </a:lnTo>
                <a:lnTo>
                  <a:pt x="667" y="35"/>
                </a:lnTo>
                <a:lnTo>
                  <a:pt x="656" y="35"/>
                </a:lnTo>
                <a:lnTo>
                  <a:pt x="644" y="35"/>
                </a:lnTo>
                <a:lnTo>
                  <a:pt x="633" y="35"/>
                </a:lnTo>
                <a:lnTo>
                  <a:pt x="621" y="35"/>
                </a:lnTo>
                <a:lnTo>
                  <a:pt x="610" y="35"/>
                </a:lnTo>
                <a:lnTo>
                  <a:pt x="598" y="35"/>
                </a:lnTo>
                <a:lnTo>
                  <a:pt x="587" y="35"/>
                </a:lnTo>
                <a:lnTo>
                  <a:pt x="575" y="35"/>
                </a:lnTo>
                <a:lnTo>
                  <a:pt x="564" y="35"/>
                </a:lnTo>
                <a:lnTo>
                  <a:pt x="552" y="35"/>
                </a:lnTo>
                <a:lnTo>
                  <a:pt x="541" y="35"/>
                </a:lnTo>
                <a:lnTo>
                  <a:pt x="529" y="35"/>
                </a:lnTo>
                <a:lnTo>
                  <a:pt x="518" y="35"/>
                </a:lnTo>
                <a:lnTo>
                  <a:pt x="506" y="35"/>
                </a:lnTo>
                <a:lnTo>
                  <a:pt x="495" y="35"/>
                </a:lnTo>
                <a:lnTo>
                  <a:pt x="483" y="35"/>
                </a:lnTo>
                <a:lnTo>
                  <a:pt x="472" y="35"/>
                </a:lnTo>
                <a:lnTo>
                  <a:pt x="455" y="35"/>
                </a:lnTo>
                <a:lnTo>
                  <a:pt x="449" y="29"/>
                </a:lnTo>
                <a:lnTo>
                  <a:pt x="437" y="29"/>
                </a:lnTo>
                <a:lnTo>
                  <a:pt x="420" y="29"/>
                </a:lnTo>
                <a:lnTo>
                  <a:pt x="403" y="29"/>
                </a:lnTo>
                <a:lnTo>
                  <a:pt x="386" y="29"/>
                </a:lnTo>
                <a:lnTo>
                  <a:pt x="374" y="29"/>
                </a:lnTo>
                <a:lnTo>
                  <a:pt x="363" y="29"/>
                </a:lnTo>
                <a:lnTo>
                  <a:pt x="351" y="29"/>
                </a:lnTo>
                <a:lnTo>
                  <a:pt x="340" y="29"/>
                </a:lnTo>
                <a:lnTo>
                  <a:pt x="328" y="29"/>
                </a:lnTo>
                <a:lnTo>
                  <a:pt x="311" y="29"/>
                </a:lnTo>
                <a:lnTo>
                  <a:pt x="294" y="29"/>
                </a:lnTo>
                <a:lnTo>
                  <a:pt x="276" y="29"/>
                </a:lnTo>
                <a:lnTo>
                  <a:pt x="265" y="29"/>
                </a:lnTo>
                <a:lnTo>
                  <a:pt x="253" y="29"/>
                </a:lnTo>
                <a:lnTo>
                  <a:pt x="242" y="29"/>
                </a:lnTo>
                <a:lnTo>
                  <a:pt x="230" y="29"/>
                </a:lnTo>
                <a:lnTo>
                  <a:pt x="219" y="29"/>
                </a:lnTo>
                <a:lnTo>
                  <a:pt x="207" y="29"/>
                </a:lnTo>
                <a:lnTo>
                  <a:pt x="196" y="29"/>
                </a:lnTo>
                <a:lnTo>
                  <a:pt x="184" y="29"/>
                </a:lnTo>
                <a:lnTo>
                  <a:pt x="167" y="35"/>
                </a:lnTo>
                <a:lnTo>
                  <a:pt x="156" y="35"/>
                </a:lnTo>
                <a:lnTo>
                  <a:pt x="150" y="35"/>
                </a:lnTo>
                <a:lnTo>
                  <a:pt x="138" y="35"/>
                </a:lnTo>
                <a:lnTo>
                  <a:pt x="127" y="35"/>
                </a:lnTo>
                <a:lnTo>
                  <a:pt x="115" y="35"/>
                </a:lnTo>
                <a:lnTo>
                  <a:pt x="104" y="35"/>
                </a:lnTo>
                <a:lnTo>
                  <a:pt x="92" y="35"/>
                </a:lnTo>
                <a:lnTo>
                  <a:pt x="81" y="35"/>
                </a:lnTo>
                <a:lnTo>
                  <a:pt x="69" y="35"/>
                </a:lnTo>
                <a:lnTo>
                  <a:pt x="58" y="35"/>
                </a:lnTo>
                <a:lnTo>
                  <a:pt x="46" y="35"/>
                </a:lnTo>
                <a:lnTo>
                  <a:pt x="35" y="35"/>
                </a:lnTo>
                <a:lnTo>
                  <a:pt x="23" y="35"/>
                </a:lnTo>
                <a:lnTo>
                  <a:pt x="12" y="35"/>
                </a:lnTo>
                <a:lnTo>
                  <a:pt x="0" y="35"/>
                </a:lnTo>
              </a:path>
            </a:pathLst>
          </a:custGeom>
          <a:noFill/>
          <a:ln w="38100" cmpd="sng">
            <a:solidFill>
              <a:srgbClr val="FFFF00">
                <a:alpha val="50195"/>
              </a:srgbClr>
            </a:solidFill>
            <a:round/>
            <a:headEnd type="none" w="med" len="med"/>
            <a:tailEnd type="none" w="med" len="med"/>
          </a:ln>
        </p:spPr>
        <p:txBody>
          <a:bodyPr wrap="none" anchor="ctr"/>
          <a:lstStyle/>
          <a:p>
            <a:endParaRPr lang="en-IN"/>
          </a:p>
        </p:txBody>
      </p:sp>
      <p:sp>
        <p:nvSpPr>
          <p:cNvPr id="16389" name="Freeform 8"/>
          <p:cNvSpPr>
            <a:spLocks/>
          </p:cNvSpPr>
          <p:nvPr/>
        </p:nvSpPr>
        <p:spPr bwMode="auto">
          <a:xfrm>
            <a:off x="2125663" y="338138"/>
            <a:ext cx="1169987" cy="109537"/>
          </a:xfrm>
          <a:custGeom>
            <a:avLst/>
            <a:gdLst>
              <a:gd name="T0" fmla="*/ 23 w 737"/>
              <a:gd name="T1" fmla="*/ 23 h 69"/>
              <a:gd name="T2" fmla="*/ 41 w 737"/>
              <a:gd name="T3" fmla="*/ 17 h 69"/>
              <a:gd name="T4" fmla="*/ 75 w 737"/>
              <a:gd name="T5" fmla="*/ 17 h 69"/>
              <a:gd name="T6" fmla="*/ 104 w 737"/>
              <a:gd name="T7" fmla="*/ 23 h 69"/>
              <a:gd name="T8" fmla="*/ 133 w 737"/>
              <a:gd name="T9" fmla="*/ 28 h 69"/>
              <a:gd name="T10" fmla="*/ 167 w 737"/>
              <a:gd name="T11" fmla="*/ 28 h 69"/>
              <a:gd name="T12" fmla="*/ 202 w 737"/>
              <a:gd name="T13" fmla="*/ 28 h 69"/>
              <a:gd name="T14" fmla="*/ 236 w 737"/>
              <a:gd name="T15" fmla="*/ 28 h 69"/>
              <a:gd name="T16" fmla="*/ 265 w 737"/>
              <a:gd name="T17" fmla="*/ 23 h 69"/>
              <a:gd name="T18" fmla="*/ 299 w 737"/>
              <a:gd name="T19" fmla="*/ 23 h 69"/>
              <a:gd name="T20" fmla="*/ 334 w 737"/>
              <a:gd name="T21" fmla="*/ 23 h 69"/>
              <a:gd name="T22" fmla="*/ 368 w 737"/>
              <a:gd name="T23" fmla="*/ 23 h 69"/>
              <a:gd name="T24" fmla="*/ 397 w 737"/>
              <a:gd name="T25" fmla="*/ 17 h 69"/>
              <a:gd name="T26" fmla="*/ 432 w 737"/>
              <a:gd name="T27" fmla="*/ 17 h 69"/>
              <a:gd name="T28" fmla="*/ 460 w 737"/>
              <a:gd name="T29" fmla="*/ 11 h 69"/>
              <a:gd name="T30" fmla="*/ 495 w 737"/>
              <a:gd name="T31" fmla="*/ 11 h 69"/>
              <a:gd name="T32" fmla="*/ 524 w 737"/>
              <a:gd name="T33" fmla="*/ 5 h 69"/>
              <a:gd name="T34" fmla="*/ 558 w 737"/>
              <a:gd name="T35" fmla="*/ 5 h 69"/>
              <a:gd name="T36" fmla="*/ 587 w 737"/>
              <a:gd name="T37" fmla="*/ 0 h 69"/>
              <a:gd name="T38" fmla="*/ 621 w 737"/>
              <a:gd name="T39" fmla="*/ 0 h 69"/>
              <a:gd name="T40" fmla="*/ 656 w 737"/>
              <a:gd name="T41" fmla="*/ 0 h 69"/>
              <a:gd name="T42" fmla="*/ 690 w 737"/>
              <a:gd name="T43" fmla="*/ 0 h 69"/>
              <a:gd name="T44" fmla="*/ 719 w 737"/>
              <a:gd name="T45" fmla="*/ 5 h 69"/>
              <a:gd name="T46" fmla="*/ 736 w 737"/>
              <a:gd name="T47" fmla="*/ 23 h 69"/>
              <a:gd name="T48" fmla="*/ 719 w 737"/>
              <a:gd name="T49" fmla="*/ 40 h 69"/>
              <a:gd name="T50" fmla="*/ 684 w 737"/>
              <a:gd name="T51" fmla="*/ 40 h 69"/>
              <a:gd name="T52" fmla="*/ 656 w 737"/>
              <a:gd name="T53" fmla="*/ 46 h 69"/>
              <a:gd name="T54" fmla="*/ 621 w 737"/>
              <a:gd name="T55" fmla="*/ 46 h 69"/>
              <a:gd name="T56" fmla="*/ 587 w 737"/>
              <a:gd name="T57" fmla="*/ 46 h 69"/>
              <a:gd name="T58" fmla="*/ 558 w 737"/>
              <a:gd name="T59" fmla="*/ 51 h 69"/>
              <a:gd name="T60" fmla="*/ 524 w 737"/>
              <a:gd name="T61" fmla="*/ 51 h 69"/>
              <a:gd name="T62" fmla="*/ 489 w 737"/>
              <a:gd name="T63" fmla="*/ 51 h 69"/>
              <a:gd name="T64" fmla="*/ 437 w 737"/>
              <a:gd name="T65" fmla="*/ 51 h 69"/>
              <a:gd name="T66" fmla="*/ 386 w 737"/>
              <a:gd name="T67" fmla="*/ 51 h 69"/>
              <a:gd name="T68" fmla="*/ 345 w 737"/>
              <a:gd name="T69" fmla="*/ 57 h 69"/>
              <a:gd name="T70" fmla="*/ 311 w 737"/>
              <a:gd name="T71" fmla="*/ 57 h 69"/>
              <a:gd name="T72" fmla="*/ 265 w 737"/>
              <a:gd name="T73" fmla="*/ 57 h 69"/>
              <a:gd name="T74" fmla="*/ 219 w 737"/>
              <a:gd name="T75" fmla="*/ 57 h 69"/>
              <a:gd name="T76" fmla="*/ 190 w 737"/>
              <a:gd name="T77" fmla="*/ 63 h 69"/>
              <a:gd name="T78" fmla="*/ 156 w 737"/>
              <a:gd name="T79" fmla="*/ 63 h 69"/>
              <a:gd name="T80" fmla="*/ 115 w 737"/>
              <a:gd name="T81" fmla="*/ 63 h 69"/>
              <a:gd name="T82" fmla="*/ 81 w 737"/>
              <a:gd name="T83" fmla="*/ 63 h 69"/>
              <a:gd name="T84" fmla="*/ 41 w 737"/>
              <a:gd name="T85" fmla="*/ 63 h 69"/>
              <a:gd name="T86" fmla="*/ 12 w 737"/>
              <a:gd name="T87" fmla="*/ 68 h 6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37"/>
              <a:gd name="T133" fmla="*/ 0 h 69"/>
              <a:gd name="T134" fmla="*/ 737 w 737"/>
              <a:gd name="T135" fmla="*/ 69 h 6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37" h="69">
                <a:moveTo>
                  <a:pt x="46" y="23"/>
                </a:moveTo>
                <a:lnTo>
                  <a:pt x="35" y="23"/>
                </a:lnTo>
                <a:lnTo>
                  <a:pt x="23" y="23"/>
                </a:lnTo>
                <a:lnTo>
                  <a:pt x="18" y="23"/>
                </a:lnTo>
                <a:lnTo>
                  <a:pt x="29" y="23"/>
                </a:lnTo>
                <a:lnTo>
                  <a:pt x="41" y="17"/>
                </a:lnTo>
                <a:lnTo>
                  <a:pt x="52" y="17"/>
                </a:lnTo>
                <a:lnTo>
                  <a:pt x="64" y="17"/>
                </a:lnTo>
                <a:lnTo>
                  <a:pt x="75" y="17"/>
                </a:lnTo>
                <a:lnTo>
                  <a:pt x="81" y="23"/>
                </a:lnTo>
                <a:lnTo>
                  <a:pt x="92" y="23"/>
                </a:lnTo>
                <a:lnTo>
                  <a:pt x="104" y="23"/>
                </a:lnTo>
                <a:lnTo>
                  <a:pt x="110" y="28"/>
                </a:lnTo>
                <a:lnTo>
                  <a:pt x="121" y="28"/>
                </a:lnTo>
                <a:lnTo>
                  <a:pt x="133" y="28"/>
                </a:lnTo>
                <a:lnTo>
                  <a:pt x="144" y="28"/>
                </a:lnTo>
                <a:lnTo>
                  <a:pt x="156" y="28"/>
                </a:lnTo>
                <a:lnTo>
                  <a:pt x="167" y="28"/>
                </a:lnTo>
                <a:lnTo>
                  <a:pt x="179" y="28"/>
                </a:lnTo>
                <a:lnTo>
                  <a:pt x="190" y="28"/>
                </a:lnTo>
                <a:lnTo>
                  <a:pt x="202" y="28"/>
                </a:lnTo>
                <a:lnTo>
                  <a:pt x="213" y="28"/>
                </a:lnTo>
                <a:lnTo>
                  <a:pt x="225" y="28"/>
                </a:lnTo>
                <a:lnTo>
                  <a:pt x="236" y="28"/>
                </a:lnTo>
                <a:lnTo>
                  <a:pt x="242" y="23"/>
                </a:lnTo>
                <a:lnTo>
                  <a:pt x="253" y="23"/>
                </a:lnTo>
                <a:lnTo>
                  <a:pt x="265" y="23"/>
                </a:lnTo>
                <a:lnTo>
                  <a:pt x="276" y="23"/>
                </a:lnTo>
                <a:lnTo>
                  <a:pt x="288" y="23"/>
                </a:lnTo>
                <a:lnTo>
                  <a:pt x="299" y="23"/>
                </a:lnTo>
                <a:lnTo>
                  <a:pt x="311" y="23"/>
                </a:lnTo>
                <a:lnTo>
                  <a:pt x="322" y="23"/>
                </a:lnTo>
                <a:lnTo>
                  <a:pt x="334" y="23"/>
                </a:lnTo>
                <a:lnTo>
                  <a:pt x="345" y="23"/>
                </a:lnTo>
                <a:lnTo>
                  <a:pt x="357" y="23"/>
                </a:lnTo>
                <a:lnTo>
                  <a:pt x="368" y="23"/>
                </a:lnTo>
                <a:lnTo>
                  <a:pt x="380" y="23"/>
                </a:lnTo>
                <a:lnTo>
                  <a:pt x="386" y="17"/>
                </a:lnTo>
                <a:lnTo>
                  <a:pt x="397" y="17"/>
                </a:lnTo>
                <a:lnTo>
                  <a:pt x="409" y="17"/>
                </a:lnTo>
                <a:lnTo>
                  <a:pt x="420" y="17"/>
                </a:lnTo>
                <a:lnTo>
                  <a:pt x="432" y="17"/>
                </a:lnTo>
                <a:lnTo>
                  <a:pt x="437" y="11"/>
                </a:lnTo>
                <a:lnTo>
                  <a:pt x="449" y="11"/>
                </a:lnTo>
                <a:lnTo>
                  <a:pt x="460" y="11"/>
                </a:lnTo>
                <a:lnTo>
                  <a:pt x="472" y="11"/>
                </a:lnTo>
                <a:lnTo>
                  <a:pt x="483" y="11"/>
                </a:lnTo>
                <a:lnTo>
                  <a:pt x="495" y="11"/>
                </a:lnTo>
                <a:lnTo>
                  <a:pt x="506" y="11"/>
                </a:lnTo>
                <a:lnTo>
                  <a:pt x="512" y="5"/>
                </a:lnTo>
                <a:lnTo>
                  <a:pt x="524" y="5"/>
                </a:lnTo>
                <a:lnTo>
                  <a:pt x="535" y="5"/>
                </a:lnTo>
                <a:lnTo>
                  <a:pt x="547" y="5"/>
                </a:lnTo>
                <a:lnTo>
                  <a:pt x="558" y="5"/>
                </a:lnTo>
                <a:lnTo>
                  <a:pt x="570" y="5"/>
                </a:lnTo>
                <a:lnTo>
                  <a:pt x="581" y="5"/>
                </a:lnTo>
                <a:lnTo>
                  <a:pt x="587" y="0"/>
                </a:lnTo>
                <a:lnTo>
                  <a:pt x="598" y="0"/>
                </a:lnTo>
                <a:lnTo>
                  <a:pt x="610" y="0"/>
                </a:lnTo>
                <a:lnTo>
                  <a:pt x="621" y="0"/>
                </a:lnTo>
                <a:lnTo>
                  <a:pt x="633" y="0"/>
                </a:lnTo>
                <a:lnTo>
                  <a:pt x="644" y="0"/>
                </a:lnTo>
                <a:lnTo>
                  <a:pt x="656" y="0"/>
                </a:lnTo>
                <a:lnTo>
                  <a:pt x="667" y="0"/>
                </a:lnTo>
                <a:lnTo>
                  <a:pt x="679" y="0"/>
                </a:lnTo>
                <a:lnTo>
                  <a:pt x="690" y="0"/>
                </a:lnTo>
                <a:lnTo>
                  <a:pt x="696" y="5"/>
                </a:lnTo>
                <a:lnTo>
                  <a:pt x="707" y="5"/>
                </a:lnTo>
                <a:lnTo>
                  <a:pt x="719" y="5"/>
                </a:lnTo>
                <a:lnTo>
                  <a:pt x="730" y="5"/>
                </a:lnTo>
                <a:lnTo>
                  <a:pt x="730" y="17"/>
                </a:lnTo>
                <a:lnTo>
                  <a:pt x="736" y="23"/>
                </a:lnTo>
                <a:lnTo>
                  <a:pt x="736" y="34"/>
                </a:lnTo>
                <a:lnTo>
                  <a:pt x="730" y="34"/>
                </a:lnTo>
                <a:lnTo>
                  <a:pt x="719" y="40"/>
                </a:lnTo>
                <a:lnTo>
                  <a:pt x="707" y="40"/>
                </a:lnTo>
                <a:lnTo>
                  <a:pt x="696" y="40"/>
                </a:lnTo>
                <a:lnTo>
                  <a:pt x="684" y="40"/>
                </a:lnTo>
                <a:lnTo>
                  <a:pt x="673" y="40"/>
                </a:lnTo>
                <a:lnTo>
                  <a:pt x="661" y="40"/>
                </a:lnTo>
                <a:lnTo>
                  <a:pt x="656" y="46"/>
                </a:lnTo>
                <a:lnTo>
                  <a:pt x="644" y="46"/>
                </a:lnTo>
                <a:lnTo>
                  <a:pt x="633" y="46"/>
                </a:lnTo>
                <a:lnTo>
                  <a:pt x="621" y="46"/>
                </a:lnTo>
                <a:lnTo>
                  <a:pt x="610" y="46"/>
                </a:lnTo>
                <a:lnTo>
                  <a:pt x="598" y="46"/>
                </a:lnTo>
                <a:lnTo>
                  <a:pt x="587" y="46"/>
                </a:lnTo>
                <a:lnTo>
                  <a:pt x="575" y="46"/>
                </a:lnTo>
                <a:lnTo>
                  <a:pt x="570" y="51"/>
                </a:lnTo>
                <a:lnTo>
                  <a:pt x="558" y="51"/>
                </a:lnTo>
                <a:lnTo>
                  <a:pt x="552" y="51"/>
                </a:lnTo>
                <a:lnTo>
                  <a:pt x="535" y="51"/>
                </a:lnTo>
                <a:lnTo>
                  <a:pt x="524" y="51"/>
                </a:lnTo>
                <a:lnTo>
                  <a:pt x="512" y="51"/>
                </a:lnTo>
                <a:lnTo>
                  <a:pt x="501" y="51"/>
                </a:lnTo>
                <a:lnTo>
                  <a:pt x="489" y="51"/>
                </a:lnTo>
                <a:lnTo>
                  <a:pt x="472" y="51"/>
                </a:lnTo>
                <a:lnTo>
                  <a:pt x="455" y="51"/>
                </a:lnTo>
                <a:lnTo>
                  <a:pt x="437" y="51"/>
                </a:lnTo>
                <a:lnTo>
                  <a:pt x="420" y="51"/>
                </a:lnTo>
                <a:lnTo>
                  <a:pt x="403" y="51"/>
                </a:lnTo>
                <a:lnTo>
                  <a:pt x="386" y="51"/>
                </a:lnTo>
                <a:lnTo>
                  <a:pt x="374" y="51"/>
                </a:lnTo>
                <a:lnTo>
                  <a:pt x="363" y="51"/>
                </a:lnTo>
                <a:lnTo>
                  <a:pt x="345" y="57"/>
                </a:lnTo>
                <a:lnTo>
                  <a:pt x="334" y="57"/>
                </a:lnTo>
                <a:lnTo>
                  <a:pt x="322" y="57"/>
                </a:lnTo>
                <a:lnTo>
                  <a:pt x="311" y="57"/>
                </a:lnTo>
                <a:lnTo>
                  <a:pt x="294" y="57"/>
                </a:lnTo>
                <a:lnTo>
                  <a:pt x="282" y="57"/>
                </a:lnTo>
                <a:lnTo>
                  <a:pt x="265" y="57"/>
                </a:lnTo>
                <a:lnTo>
                  <a:pt x="253" y="57"/>
                </a:lnTo>
                <a:lnTo>
                  <a:pt x="236" y="57"/>
                </a:lnTo>
                <a:lnTo>
                  <a:pt x="219" y="57"/>
                </a:lnTo>
                <a:lnTo>
                  <a:pt x="202" y="57"/>
                </a:lnTo>
                <a:lnTo>
                  <a:pt x="196" y="57"/>
                </a:lnTo>
                <a:lnTo>
                  <a:pt x="190" y="63"/>
                </a:lnTo>
                <a:lnTo>
                  <a:pt x="179" y="63"/>
                </a:lnTo>
                <a:lnTo>
                  <a:pt x="167" y="63"/>
                </a:lnTo>
                <a:lnTo>
                  <a:pt x="156" y="63"/>
                </a:lnTo>
                <a:lnTo>
                  <a:pt x="144" y="63"/>
                </a:lnTo>
                <a:lnTo>
                  <a:pt x="127" y="63"/>
                </a:lnTo>
                <a:lnTo>
                  <a:pt x="115" y="63"/>
                </a:lnTo>
                <a:lnTo>
                  <a:pt x="104" y="63"/>
                </a:lnTo>
                <a:lnTo>
                  <a:pt x="92" y="63"/>
                </a:lnTo>
                <a:lnTo>
                  <a:pt x="81" y="63"/>
                </a:lnTo>
                <a:lnTo>
                  <a:pt x="69" y="63"/>
                </a:lnTo>
                <a:lnTo>
                  <a:pt x="58" y="63"/>
                </a:lnTo>
                <a:lnTo>
                  <a:pt x="41" y="63"/>
                </a:lnTo>
                <a:lnTo>
                  <a:pt x="29" y="63"/>
                </a:lnTo>
                <a:lnTo>
                  <a:pt x="18" y="63"/>
                </a:lnTo>
                <a:lnTo>
                  <a:pt x="12" y="68"/>
                </a:lnTo>
                <a:lnTo>
                  <a:pt x="0" y="68"/>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0" name="Oval 9"/>
          <p:cNvSpPr>
            <a:spLocks noChangeArrowheads="1"/>
          </p:cNvSpPr>
          <p:nvPr/>
        </p:nvSpPr>
        <p:spPr bwMode="auto">
          <a:xfrm>
            <a:off x="3560763" y="812800"/>
            <a:ext cx="88900" cy="88900"/>
          </a:xfrm>
          <a:prstGeom prst="ellipse">
            <a:avLst/>
          </a:prstGeom>
          <a:solidFill>
            <a:srgbClr val="FFFF00">
              <a:alpha val="50195"/>
            </a:srgbClr>
          </a:solidFill>
          <a:ln w="0">
            <a:solidFill>
              <a:srgbClr val="FFFF00">
                <a:alpha val="50195"/>
              </a:srgbClr>
            </a:solidFill>
            <a:round/>
            <a:headEnd/>
            <a:tailEnd/>
          </a:ln>
        </p:spPr>
        <p:txBody>
          <a:bodyPr wrap="none" anchor="ctr"/>
          <a:lstStyle/>
          <a:p>
            <a:endParaRPr lang="en-US"/>
          </a:p>
        </p:txBody>
      </p:sp>
      <p:sp>
        <p:nvSpPr>
          <p:cNvPr id="16391" name="Freeform 10"/>
          <p:cNvSpPr>
            <a:spLocks/>
          </p:cNvSpPr>
          <p:nvPr/>
        </p:nvSpPr>
        <p:spPr bwMode="auto">
          <a:xfrm>
            <a:off x="3832225" y="866775"/>
            <a:ext cx="111125" cy="1588"/>
          </a:xfrm>
          <a:custGeom>
            <a:avLst/>
            <a:gdLst>
              <a:gd name="T0" fmla="*/ 0 w 70"/>
              <a:gd name="T1" fmla="*/ 0 h 1"/>
              <a:gd name="T2" fmla="*/ 12 w 70"/>
              <a:gd name="T3" fmla="*/ 0 h 1"/>
              <a:gd name="T4" fmla="*/ 23 w 70"/>
              <a:gd name="T5" fmla="*/ 0 h 1"/>
              <a:gd name="T6" fmla="*/ 35 w 70"/>
              <a:gd name="T7" fmla="*/ 0 h 1"/>
              <a:gd name="T8" fmla="*/ 46 w 70"/>
              <a:gd name="T9" fmla="*/ 0 h 1"/>
              <a:gd name="T10" fmla="*/ 58 w 70"/>
              <a:gd name="T11" fmla="*/ 0 h 1"/>
              <a:gd name="T12" fmla="*/ 69 w 70"/>
              <a:gd name="T13" fmla="*/ 0 h 1"/>
              <a:gd name="T14" fmla="*/ 69 w 70"/>
              <a:gd name="T15" fmla="*/ 0 h 1"/>
              <a:gd name="T16" fmla="*/ 0 60000 65536"/>
              <a:gd name="T17" fmla="*/ 0 60000 65536"/>
              <a:gd name="T18" fmla="*/ 0 60000 65536"/>
              <a:gd name="T19" fmla="*/ 0 60000 65536"/>
              <a:gd name="T20" fmla="*/ 0 60000 65536"/>
              <a:gd name="T21" fmla="*/ 0 60000 65536"/>
              <a:gd name="T22" fmla="*/ 0 60000 65536"/>
              <a:gd name="T23" fmla="*/ 0 60000 65536"/>
              <a:gd name="T24" fmla="*/ 0 w 70"/>
              <a:gd name="T25" fmla="*/ 0 h 1"/>
              <a:gd name="T26" fmla="*/ 70 w 70"/>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 h="1">
                <a:moveTo>
                  <a:pt x="0" y="0"/>
                </a:moveTo>
                <a:lnTo>
                  <a:pt x="12" y="0"/>
                </a:lnTo>
                <a:lnTo>
                  <a:pt x="23" y="0"/>
                </a:lnTo>
                <a:lnTo>
                  <a:pt x="35" y="0"/>
                </a:lnTo>
                <a:lnTo>
                  <a:pt x="46" y="0"/>
                </a:lnTo>
                <a:lnTo>
                  <a:pt x="58" y="0"/>
                </a:lnTo>
                <a:lnTo>
                  <a:pt x="69" y="0"/>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2" name="Freeform 11"/>
          <p:cNvSpPr>
            <a:spLocks/>
          </p:cNvSpPr>
          <p:nvPr/>
        </p:nvSpPr>
        <p:spPr bwMode="auto">
          <a:xfrm>
            <a:off x="3987800" y="857250"/>
            <a:ext cx="385763" cy="1588"/>
          </a:xfrm>
          <a:custGeom>
            <a:avLst/>
            <a:gdLst>
              <a:gd name="T0" fmla="*/ 0 w 243"/>
              <a:gd name="T1" fmla="*/ 0 h 1"/>
              <a:gd name="T2" fmla="*/ 12 w 243"/>
              <a:gd name="T3" fmla="*/ 0 h 1"/>
              <a:gd name="T4" fmla="*/ 23 w 243"/>
              <a:gd name="T5" fmla="*/ 0 h 1"/>
              <a:gd name="T6" fmla="*/ 35 w 243"/>
              <a:gd name="T7" fmla="*/ 0 h 1"/>
              <a:gd name="T8" fmla="*/ 46 w 243"/>
              <a:gd name="T9" fmla="*/ 0 h 1"/>
              <a:gd name="T10" fmla="*/ 58 w 243"/>
              <a:gd name="T11" fmla="*/ 0 h 1"/>
              <a:gd name="T12" fmla="*/ 69 w 243"/>
              <a:gd name="T13" fmla="*/ 0 h 1"/>
              <a:gd name="T14" fmla="*/ 81 w 243"/>
              <a:gd name="T15" fmla="*/ 0 h 1"/>
              <a:gd name="T16" fmla="*/ 92 w 243"/>
              <a:gd name="T17" fmla="*/ 0 h 1"/>
              <a:gd name="T18" fmla="*/ 104 w 243"/>
              <a:gd name="T19" fmla="*/ 0 h 1"/>
              <a:gd name="T20" fmla="*/ 115 w 243"/>
              <a:gd name="T21" fmla="*/ 0 h 1"/>
              <a:gd name="T22" fmla="*/ 127 w 243"/>
              <a:gd name="T23" fmla="*/ 0 h 1"/>
              <a:gd name="T24" fmla="*/ 138 w 243"/>
              <a:gd name="T25" fmla="*/ 0 h 1"/>
              <a:gd name="T26" fmla="*/ 150 w 243"/>
              <a:gd name="T27" fmla="*/ 0 h 1"/>
              <a:gd name="T28" fmla="*/ 161 w 243"/>
              <a:gd name="T29" fmla="*/ 0 h 1"/>
              <a:gd name="T30" fmla="*/ 173 w 243"/>
              <a:gd name="T31" fmla="*/ 0 h 1"/>
              <a:gd name="T32" fmla="*/ 184 w 243"/>
              <a:gd name="T33" fmla="*/ 0 h 1"/>
              <a:gd name="T34" fmla="*/ 196 w 243"/>
              <a:gd name="T35" fmla="*/ 0 h 1"/>
              <a:gd name="T36" fmla="*/ 207 w 243"/>
              <a:gd name="T37" fmla="*/ 0 h 1"/>
              <a:gd name="T38" fmla="*/ 219 w 243"/>
              <a:gd name="T39" fmla="*/ 0 h 1"/>
              <a:gd name="T40" fmla="*/ 230 w 243"/>
              <a:gd name="T41" fmla="*/ 0 h 1"/>
              <a:gd name="T42" fmla="*/ 242 w 243"/>
              <a:gd name="T43" fmla="*/ 0 h 1"/>
              <a:gd name="T44" fmla="*/ 236 w 243"/>
              <a:gd name="T45" fmla="*/ 0 h 1"/>
              <a:gd name="T46" fmla="*/ 236 w 243"/>
              <a:gd name="T47" fmla="*/ 0 h 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3"/>
              <a:gd name="T73" fmla="*/ 0 h 1"/>
              <a:gd name="T74" fmla="*/ 243 w 243"/>
              <a:gd name="T75" fmla="*/ 1 h 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3" h="1">
                <a:moveTo>
                  <a:pt x="0" y="0"/>
                </a:moveTo>
                <a:lnTo>
                  <a:pt x="12" y="0"/>
                </a:lnTo>
                <a:lnTo>
                  <a:pt x="23" y="0"/>
                </a:lnTo>
                <a:lnTo>
                  <a:pt x="35" y="0"/>
                </a:lnTo>
                <a:lnTo>
                  <a:pt x="46" y="0"/>
                </a:lnTo>
                <a:lnTo>
                  <a:pt x="58" y="0"/>
                </a:lnTo>
                <a:lnTo>
                  <a:pt x="69" y="0"/>
                </a:lnTo>
                <a:lnTo>
                  <a:pt x="81" y="0"/>
                </a:lnTo>
                <a:lnTo>
                  <a:pt x="92" y="0"/>
                </a:lnTo>
                <a:lnTo>
                  <a:pt x="104" y="0"/>
                </a:lnTo>
                <a:lnTo>
                  <a:pt x="115" y="0"/>
                </a:lnTo>
                <a:lnTo>
                  <a:pt x="127" y="0"/>
                </a:lnTo>
                <a:lnTo>
                  <a:pt x="138" y="0"/>
                </a:lnTo>
                <a:lnTo>
                  <a:pt x="150" y="0"/>
                </a:lnTo>
                <a:lnTo>
                  <a:pt x="161" y="0"/>
                </a:lnTo>
                <a:lnTo>
                  <a:pt x="173" y="0"/>
                </a:lnTo>
                <a:lnTo>
                  <a:pt x="184" y="0"/>
                </a:lnTo>
                <a:lnTo>
                  <a:pt x="196" y="0"/>
                </a:lnTo>
                <a:lnTo>
                  <a:pt x="207" y="0"/>
                </a:lnTo>
                <a:lnTo>
                  <a:pt x="219" y="0"/>
                </a:lnTo>
                <a:lnTo>
                  <a:pt x="230" y="0"/>
                </a:lnTo>
                <a:lnTo>
                  <a:pt x="242" y="0"/>
                </a:lnTo>
                <a:lnTo>
                  <a:pt x="236" y="0"/>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3" name="Freeform 12"/>
          <p:cNvSpPr>
            <a:spLocks/>
          </p:cNvSpPr>
          <p:nvPr/>
        </p:nvSpPr>
        <p:spPr bwMode="auto">
          <a:xfrm>
            <a:off x="3622675" y="847725"/>
            <a:ext cx="147638" cy="11113"/>
          </a:xfrm>
          <a:custGeom>
            <a:avLst/>
            <a:gdLst>
              <a:gd name="T0" fmla="*/ 0 w 93"/>
              <a:gd name="T1" fmla="*/ 6 h 7"/>
              <a:gd name="T2" fmla="*/ 12 w 93"/>
              <a:gd name="T3" fmla="*/ 6 h 7"/>
              <a:gd name="T4" fmla="*/ 23 w 93"/>
              <a:gd name="T5" fmla="*/ 6 h 7"/>
              <a:gd name="T6" fmla="*/ 35 w 93"/>
              <a:gd name="T7" fmla="*/ 6 h 7"/>
              <a:gd name="T8" fmla="*/ 46 w 93"/>
              <a:gd name="T9" fmla="*/ 0 h 7"/>
              <a:gd name="T10" fmla="*/ 58 w 93"/>
              <a:gd name="T11" fmla="*/ 0 h 7"/>
              <a:gd name="T12" fmla="*/ 69 w 93"/>
              <a:gd name="T13" fmla="*/ 0 h 7"/>
              <a:gd name="T14" fmla="*/ 81 w 93"/>
              <a:gd name="T15" fmla="*/ 0 h 7"/>
              <a:gd name="T16" fmla="*/ 92 w 93"/>
              <a:gd name="T17" fmla="*/ 0 h 7"/>
              <a:gd name="T18" fmla="*/ 92 w 93"/>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3"/>
              <a:gd name="T31" fmla="*/ 0 h 7"/>
              <a:gd name="T32" fmla="*/ 93 w 93"/>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3" h="7">
                <a:moveTo>
                  <a:pt x="0" y="6"/>
                </a:moveTo>
                <a:lnTo>
                  <a:pt x="12" y="6"/>
                </a:lnTo>
                <a:lnTo>
                  <a:pt x="23" y="6"/>
                </a:lnTo>
                <a:lnTo>
                  <a:pt x="35" y="6"/>
                </a:lnTo>
                <a:lnTo>
                  <a:pt x="46" y="0"/>
                </a:lnTo>
                <a:lnTo>
                  <a:pt x="58" y="0"/>
                </a:lnTo>
                <a:lnTo>
                  <a:pt x="69" y="0"/>
                </a:lnTo>
                <a:lnTo>
                  <a:pt x="81" y="0"/>
                </a:lnTo>
                <a:lnTo>
                  <a:pt x="92" y="0"/>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4" name="Freeform 13"/>
          <p:cNvSpPr>
            <a:spLocks/>
          </p:cNvSpPr>
          <p:nvPr/>
        </p:nvSpPr>
        <p:spPr bwMode="auto">
          <a:xfrm>
            <a:off x="3814763" y="1149350"/>
            <a:ext cx="877887" cy="19050"/>
          </a:xfrm>
          <a:custGeom>
            <a:avLst/>
            <a:gdLst>
              <a:gd name="T0" fmla="*/ 0 w 553"/>
              <a:gd name="T1" fmla="*/ 6 h 12"/>
              <a:gd name="T2" fmla="*/ 11 w 553"/>
              <a:gd name="T3" fmla="*/ 6 h 12"/>
              <a:gd name="T4" fmla="*/ 17 w 553"/>
              <a:gd name="T5" fmla="*/ 11 h 12"/>
              <a:gd name="T6" fmla="*/ 29 w 553"/>
              <a:gd name="T7" fmla="*/ 11 h 12"/>
              <a:gd name="T8" fmla="*/ 40 w 553"/>
              <a:gd name="T9" fmla="*/ 11 h 12"/>
              <a:gd name="T10" fmla="*/ 52 w 553"/>
              <a:gd name="T11" fmla="*/ 11 h 12"/>
              <a:gd name="T12" fmla="*/ 63 w 553"/>
              <a:gd name="T13" fmla="*/ 11 h 12"/>
              <a:gd name="T14" fmla="*/ 80 w 553"/>
              <a:gd name="T15" fmla="*/ 11 h 12"/>
              <a:gd name="T16" fmla="*/ 92 w 553"/>
              <a:gd name="T17" fmla="*/ 11 h 12"/>
              <a:gd name="T18" fmla="*/ 103 w 553"/>
              <a:gd name="T19" fmla="*/ 11 h 12"/>
              <a:gd name="T20" fmla="*/ 115 w 553"/>
              <a:gd name="T21" fmla="*/ 11 h 12"/>
              <a:gd name="T22" fmla="*/ 132 w 553"/>
              <a:gd name="T23" fmla="*/ 11 h 12"/>
              <a:gd name="T24" fmla="*/ 144 w 553"/>
              <a:gd name="T25" fmla="*/ 6 h 12"/>
              <a:gd name="T26" fmla="*/ 149 w 553"/>
              <a:gd name="T27" fmla="*/ 11 h 12"/>
              <a:gd name="T28" fmla="*/ 155 w 553"/>
              <a:gd name="T29" fmla="*/ 6 h 12"/>
              <a:gd name="T30" fmla="*/ 167 w 553"/>
              <a:gd name="T31" fmla="*/ 6 h 12"/>
              <a:gd name="T32" fmla="*/ 178 w 553"/>
              <a:gd name="T33" fmla="*/ 6 h 12"/>
              <a:gd name="T34" fmla="*/ 190 w 553"/>
              <a:gd name="T35" fmla="*/ 6 h 12"/>
              <a:gd name="T36" fmla="*/ 201 w 553"/>
              <a:gd name="T37" fmla="*/ 6 h 12"/>
              <a:gd name="T38" fmla="*/ 213 w 553"/>
              <a:gd name="T39" fmla="*/ 6 h 12"/>
              <a:gd name="T40" fmla="*/ 224 w 553"/>
              <a:gd name="T41" fmla="*/ 6 h 12"/>
              <a:gd name="T42" fmla="*/ 236 w 553"/>
              <a:gd name="T43" fmla="*/ 6 h 12"/>
              <a:gd name="T44" fmla="*/ 247 w 553"/>
              <a:gd name="T45" fmla="*/ 6 h 12"/>
              <a:gd name="T46" fmla="*/ 264 w 553"/>
              <a:gd name="T47" fmla="*/ 6 h 12"/>
              <a:gd name="T48" fmla="*/ 276 w 553"/>
              <a:gd name="T49" fmla="*/ 6 h 12"/>
              <a:gd name="T50" fmla="*/ 293 w 553"/>
              <a:gd name="T51" fmla="*/ 6 h 12"/>
              <a:gd name="T52" fmla="*/ 305 w 553"/>
              <a:gd name="T53" fmla="*/ 6 h 12"/>
              <a:gd name="T54" fmla="*/ 316 w 553"/>
              <a:gd name="T55" fmla="*/ 6 h 12"/>
              <a:gd name="T56" fmla="*/ 328 w 553"/>
              <a:gd name="T57" fmla="*/ 6 h 12"/>
              <a:gd name="T58" fmla="*/ 345 w 553"/>
              <a:gd name="T59" fmla="*/ 0 h 12"/>
              <a:gd name="T60" fmla="*/ 362 w 553"/>
              <a:gd name="T61" fmla="*/ 0 h 12"/>
              <a:gd name="T62" fmla="*/ 374 w 553"/>
              <a:gd name="T63" fmla="*/ 0 h 12"/>
              <a:gd name="T64" fmla="*/ 385 w 553"/>
              <a:gd name="T65" fmla="*/ 0 h 12"/>
              <a:gd name="T66" fmla="*/ 402 w 553"/>
              <a:gd name="T67" fmla="*/ 0 h 12"/>
              <a:gd name="T68" fmla="*/ 414 w 553"/>
              <a:gd name="T69" fmla="*/ 0 h 12"/>
              <a:gd name="T70" fmla="*/ 425 w 553"/>
              <a:gd name="T71" fmla="*/ 0 h 12"/>
              <a:gd name="T72" fmla="*/ 437 w 553"/>
              <a:gd name="T73" fmla="*/ 0 h 12"/>
              <a:gd name="T74" fmla="*/ 448 w 553"/>
              <a:gd name="T75" fmla="*/ 0 h 12"/>
              <a:gd name="T76" fmla="*/ 460 w 553"/>
              <a:gd name="T77" fmla="*/ 0 h 12"/>
              <a:gd name="T78" fmla="*/ 466 w 553"/>
              <a:gd name="T79" fmla="*/ 6 h 12"/>
              <a:gd name="T80" fmla="*/ 477 w 553"/>
              <a:gd name="T81" fmla="*/ 6 h 12"/>
              <a:gd name="T82" fmla="*/ 488 w 553"/>
              <a:gd name="T83" fmla="*/ 6 h 12"/>
              <a:gd name="T84" fmla="*/ 500 w 553"/>
              <a:gd name="T85" fmla="*/ 6 h 12"/>
              <a:gd name="T86" fmla="*/ 511 w 553"/>
              <a:gd name="T87" fmla="*/ 6 h 12"/>
              <a:gd name="T88" fmla="*/ 523 w 553"/>
              <a:gd name="T89" fmla="*/ 6 h 12"/>
              <a:gd name="T90" fmla="*/ 534 w 553"/>
              <a:gd name="T91" fmla="*/ 6 h 12"/>
              <a:gd name="T92" fmla="*/ 546 w 553"/>
              <a:gd name="T93" fmla="*/ 6 h 12"/>
              <a:gd name="T94" fmla="*/ 552 w 553"/>
              <a:gd name="T95" fmla="*/ 11 h 12"/>
              <a:gd name="T96" fmla="*/ 546 w 553"/>
              <a:gd name="T97" fmla="*/ 6 h 12"/>
              <a:gd name="T98" fmla="*/ 546 w 553"/>
              <a:gd name="T99" fmla="*/ 6 h 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53"/>
              <a:gd name="T151" fmla="*/ 0 h 12"/>
              <a:gd name="T152" fmla="*/ 553 w 553"/>
              <a:gd name="T153" fmla="*/ 12 h 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53" h="12">
                <a:moveTo>
                  <a:pt x="0" y="6"/>
                </a:moveTo>
                <a:lnTo>
                  <a:pt x="11" y="6"/>
                </a:lnTo>
                <a:lnTo>
                  <a:pt x="17" y="11"/>
                </a:lnTo>
                <a:lnTo>
                  <a:pt x="29" y="11"/>
                </a:lnTo>
                <a:lnTo>
                  <a:pt x="40" y="11"/>
                </a:lnTo>
                <a:lnTo>
                  <a:pt x="52" y="11"/>
                </a:lnTo>
                <a:lnTo>
                  <a:pt x="63" y="11"/>
                </a:lnTo>
                <a:lnTo>
                  <a:pt x="80" y="11"/>
                </a:lnTo>
                <a:lnTo>
                  <a:pt x="92" y="11"/>
                </a:lnTo>
                <a:lnTo>
                  <a:pt x="103" y="11"/>
                </a:lnTo>
                <a:lnTo>
                  <a:pt x="115" y="11"/>
                </a:lnTo>
                <a:lnTo>
                  <a:pt x="132" y="11"/>
                </a:lnTo>
                <a:lnTo>
                  <a:pt x="144" y="6"/>
                </a:lnTo>
                <a:lnTo>
                  <a:pt x="149" y="11"/>
                </a:lnTo>
                <a:lnTo>
                  <a:pt x="155" y="6"/>
                </a:lnTo>
                <a:lnTo>
                  <a:pt x="167" y="6"/>
                </a:lnTo>
                <a:lnTo>
                  <a:pt x="178" y="6"/>
                </a:lnTo>
                <a:lnTo>
                  <a:pt x="190" y="6"/>
                </a:lnTo>
                <a:lnTo>
                  <a:pt x="201" y="6"/>
                </a:lnTo>
                <a:lnTo>
                  <a:pt x="213" y="6"/>
                </a:lnTo>
                <a:lnTo>
                  <a:pt x="224" y="6"/>
                </a:lnTo>
                <a:lnTo>
                  <a:pt x="236" y="6"/>
                </a:lnTo>
                <a:lnTo>
                  <a:pt x="247" y="6"/>
                </a:lnTo>
                <a:lnTo>
                  <a:pt x="264" y="6"/>
                </a:lnTo>
                <a:lnTo>
                  <a:pt x="276" y="6"/>
                </a:lnTo>
                <a:lnTo>
                  <a:pt x="293" y="6"/>
                </a:lnTo>
                <a:lnTo>
                  <a:pt x="305" y="6"/>
                </a:lnTo>
                <a:lnTo>
                  <a:pt x="316" y="6"/>
                </a:lnTo>
                <a:lnTo>
                  <a:pt x="328" y="6"/>
                </a:lnTo>
                <a:lnTo>
                  <a:pt x="345" y="0"/>
                </a:lnTo>
                <a:lnTo>
                  <a:pt x="362" y="0"/>
                </a:lnTo>
                <a:lnTo>
                  <a:pt x="374" y="0"/>
                </a:lnTo>
                <a:lnTo>
                  <a:pt x="385" y="0"/>
                </a:lnTo>
                <a:lnTo>
                  <a:pt x="402" y="0"/>
                </a:lnTo>
                <a:lnTo>
                  <a:pt x="414" y="0"/>
                </a:lnTo>
                <a:lnTo>
                  <a:pt x="425" y="0"/>
                </a:lnTo>
                <a:lnTo>
                  <a:pt x="437" y="0"/>
                </a:lnTo>
                <a:lnTo>
                  <a:pt x="448" y="0"/>
                </a:lnTo>
                <a:lnTo>
                  <a:pt x="460" y="0"/>
                </a:lnTo>
                <a:lnTo>
                  <a:pt x="466" y="6"/>
                </a:lnTo>
                <a:lnTo>
                  <a:pt x="477" y="6"/>
                </a:lnTo>
                <a:lnTo>
                  <a:pt x="488" y="6"/>
                </a:lnTo>
                <a:lnTo>
                  <a:pt x="500" y="6"/>
                </a:lnTo>
                <a:lnTo>
                  <a:pt x="511" y="6"/>
                </a:lnTo>
                <a:lnTo>
                  <a:pt x="523" y="6"/>
                </a:lnTo>
                <a:lnTo>
                  <a:pt x="534" y="6"/>
                </a:lnTo>
                <a:lnTo>
                  <a:pt x="546" y="6"/>
                </a:lnTo>
                <a:lnTo>
                  <a:pt x="552" y="11"/>
                </a:lnTo>
                <a:lnTo>
                  <a:pt x="546" y="6"/>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5" name="Freeform 14"/>
          <p:cNvSpPr>
            <a:spLocks/>
          </p:cNvSpPr>
          <p:nvPr/>
        </p:nvSpPr>
        <p:spPr bwMode="auto">
          <a:xfrm>
            <a:off x="3905250" y="1339850"/>
            <a:ext cx="631825" cy="20638"/>
          </a:xfrm>
          <a:custGeom>
            <a:avLst/>
            <a:gdLst>
              <a:gd name="T0" fmla="*/ 0 w 398"/>
              <a:gd name="T1" fmla="*/ 12 h 13"/>
              <a:gd name="T2" fmla="*/ 12 w 398"/>
              <a:gd name="T3" fmla="*/ 12 h 13"/>
              <a:gd name="T4" fmla="*/ 18 w 398"/>
              <a:gd name="T5" fmla="*/ 6 h 13"/>
              <a:gd name="T6" fmla="*/ 29 w 398"/>
              <a:gd name="T7" fmla="*/ 6 h 13"/>
              <a:gd name="T8" fmla="*/ 46 w 398"/>
              <a:gd name="T9" fmla="*/ 6 h 13"/>
              <a:gd name="T10" fmla="*/ 64 w 398"/>
              <a:gd name="T11" fmla="*/ 6 h 13"/>
              <a:gd name="T12" fmla="*/ 75 w 398"/>
              <a:gd name="T13" fmla="*/ 6 h 13"/>
              <a:gd name="T14" fmla="*/ 87 w 398"/>
              <a:gd name="T15" fmla="*/ 6 h 13"/>
              <a:gd name="T16" fmla="*/ 92 w 398"/>
              <a:gd name="T17" fmla="*/ 0 h 13"/>
              <a:gd name="T18" fmla="*/ 104 w 398"/>
              <a:gd name="T19" fmla="*/ 0 h 13"/>
              <a:gd name="T20" fmla="*/ 115 w 398"/>
              <a:gd name="T21" fmla="*/ 0 h 13"/>
              <a:gd name="T22" fmla="*/ 127 w 398"/>
              <a:gd name="T23" fmla="*/ 0 h 13"/>
              <a:gd name="T24" fmla="*/ 144 w 398"/>
              <a:gd name="T25" fmla="*/ 0 h 13"/>
              <a:gd name="T26" fmla="*/ 161 w 398"/>
              <a:gd name="T27" fmla="*/ 0 h 13"/>
              <a:gd name="T28" fmla="*/ 179 w 398"/>
              <a:gd name="T29" fmla="*/ 0 h 13"/>
              <a:gd name="T30" fmla="*/ 190 w 398"/>
              <a:gd name="T31" fmla="*/ 0 h 13"/>
              <a:gd name="T32" fmla="*/ 202 w 398"/>
              <a:gd name="T33" fmla="*/ 0 h 13"/>
              <a:gd name="T34" fmla="*/ 213 w 398"/>
              <a:gd name="T35" fmla="*/ 0 h 13"/>
              <a:gd name="T36" fmla="*/ 230 w 398"/>
              <a:gd name="T37" fmla="*/ 6 h 13"/>
              <a:gd name="T38" fmla="*/ 236 w 398"/>
              <a:gd name="T39" fmla="*/ 0 h 13"/>
              <a:gd name="T40" fmla="*/ 248 w 398"/>
              <a:gd name="T41" fmla="*/ 6 h 13"/>
              <a:gd name="T42" fmla="*/ 253 w 398"/>
              <a:gd name="T43" fmla="*/ 0 h 13"/>
              <a:gd name="T44" fmla="*/ 265 w 398"/>
              <a:gd name="T45" fmla="*/ 0 h 13"/>
              <a:gd name="T46" fmla="*/ 276 w 398"/>
              <a:gd name="T47" fmla="*/ 0 h 13"/>
              <a:gd name="T48" fmla="*/ 288 w 398"/>
              <a:gd name="T49" fmla="*/ 0 h 13"/>
              <a:gd name="T50" fmla="*/ 299 w 398"/>
              <a:gd name="T51" fmla="*/ 0 h 13"/>
              <a:gd name="T52" fmla="*/ 311 w 398"/>
              <a:gd name="T53" fmla="*/ 0 h 13"/>
              <a:gd name="T54" fmla="*/ 322 w 398"/>
              <a:gd name="T55" fmla="*/ 0 h 13"/>
              <a:gd name="T56" fmla="*/ 340 w 398"/>
              <a:gd name="T57" fmla="*/ 0 h 13"/>
              <a:gd name="T58" fmla="*/ 357 w 398"/>
              <a:gd name="T59" fmla="*/ 0 h 13"/>
              <a:gd name="T60" fmla="*/ 368 w 398"/>
              <a:gd name="T61" fmla="*/ 0 h 13"/>
              <a:gd name="T62" fmla="*/ 380 w 398"/>
              <a:gd name="T63" fmla="*/ 0 h 13"/>
              <a:gd name="T64" fmla="*/ 391 w 398"/>
              <a:gd name="T65" fmla="*/ 0 h 13"/>
              <a:gd name="T66" fmla="*/ 397 w 398"/>
              <a:gd name="T67" fmla="*/ 6 h 13"/>
              <a:gd name="T68" fmla="*/ 397 w 398"/>
              <a:gd name="T69" fmla="*/ 6 h 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98"/>
              <a:gd name="T106" fmla="*/ 0 h 13"/>
              <a:gd name="T107" fmla="*/ 398 w 398"/>
              <a:gd name="T108" fmla="*/ 13 h 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98" h="13">
                <a:moveTo>
                  <a:pt x="0" y="12"/>
                </a:moveTo>
                <a:lnTo>
                  <a:pt x="12" y="12"/>
                </a:lnTo>
                <a:lnTo>
                  <a:pt x="18" y="6"/>
                </a:lnTo>
                <a:lnTo>
                  <a:pt x="29" y="6"/>
                </a:lnTo>
                <a:lnTo>
                  <a:pt x="46" y="6"/>
                </a:lnTo>
                <a:lnTo>
                  <a:pt x="64" y="6"/>
                </a:lnTo>
                <a:lnTo>
                  <a:pt x="75" y="6"/>
                </a:lnTo>
                <a:lnTo>
                  <a:pt x="87" y="6"/>
                </a:lnTo>
                <a:lnTo>
                  <a:pt x="92" y="0"/>
                </a:lnTo>
                <a:lnTo>
                  <a:pt x="104" y="0"/>
                </a:lnTo>
                <a:lnTo>
                  <a:pt x="115" y="0"/>
                </a:lnTo>
                <a:lnTo>
                  <a:pt x="127" y="0"/>
                </a:lnTo>
                <a:lnTo>
                  <a:pt x="144" y="0"/>
                </a:lnTo>
                <a:lnTo>
                  <a:pt x="161" y="0"/>
                </a:lnTo>
                <a:lnTo>
                  <a:pt x="179" y="0"/>
                </a:lnTo>
                <a:lnTo>
                  <a:pt x="190" y="0"/>
                </a:lnTo>
                <a:lnTo>
                  <a:pt x="202" y="0"/>
                </a:lnTo>
                <a:lnTo>
                  <a:pt x="213" y="0"/>
                </a:lnTo>
                <a:lnTo>
                  <a:pt x="230" y="6"/>
                </a:lnTo>
                <a:lnTo>
                  <a:pt x="236" y="0"/>
                </a:lnTo>
                <a:lnTo>
                  <a:pt x="248" y="6"/>
                </a:lnTo>
                <a:lnTo>
                  <a:pt x="253" y="0"/>
                </a:lnTo>
                <a:lnTo>
                  <a:pt x="265" y="0"/>
                </a:lnTo>
                <a:lnTo>
                  <a:pt x="276" y="0"/>
                </a:lnTo>
                <a:lnTo>
                  <a:pt x="288" y="0"/>
                </a:lnTo>
                <a:lnTo>
                  <a:pt x="299" y="0"/>
                </a:lnTo>
                <a:lnTo>
                  <a:pt x="311" y="0"/>
                </a:lnTo>
                <a:lnTo>
                  <a:pt x="322" y="0"/>
                </a:lnTo>
                <a:lnTo>
                  <a:pt x="340" y="0"/>
                </a:lnTo>
                <a:lnTo>
                  <a:pt x="357" y="0"/>
                </a:lnTo>
                <a:lnTo>
                  <a:pt x="368" y="0"/>
                </a:lnTo>
                <a:lnTo>
                  <a:pt x="380" y="0"/>
                </a:lnTo>
                <a:lnTo>
                  <a:pt x="391" y="0"/>
                </a:lnTo>
                <a:lnTo>
                  <a:pt x="397" y="6"/>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6" name="Freeform 15"/>
          <p:cNvSpPr>
            <a:spLocks/>
          </p:cNvSpPr>
          <p:nvPr/>
        </p:nvSpPr>
        <p:spPr bwMode="auto">
          <a:xfrm>
            <a:off x="4024313" y="1751013"/>
            <a:ext cx="1023937" cy="11112"/>
          </a:xfrm>
          <a:custGeom>
            <a:avLst/>
            <a:gdLst>
              <a:gd name="T0" fmla="*/ 0 w 645"/>
              <a:gd name="T1" fmla="*/ 0 h 7"/>
              <a:gd name="T2" fmla="*/ 12 w 645"/>
              <a:gd name="T3" fmla="*/ 0 h 7"/>
              <a:gd name="T4" fmla="*/ 23 w 645"/>
              <a:gd name="T5" fmla="*/ 0 h 7"/>
              <a:gd name="T6" fmla="*/ 35 w 645"/>
              <a:gd name="T7" fmla="*/ 0 h 7"/>
              <a:gd name="T8" fmla="*/ 46 w 645"/>
              <a:gd name="T9" fmla="*/ 0 h 7"/>
              <a:gd name="T10" fmla="*/ 58 w 645"/>
              <a:gd name="T11" fmla="*/ 0 h 7"/>
              <a:gd name="T12" fmla="*/ 75 w 645"/>
              <a:gd name="T13" fmla="*/ 0 h 7"/>
              <a:gd name="T14" fmla="*/ 92 w 645"/>
              <a:gd name="T15" fmla="*/ 0 h 7"/>
              <a:gd name="T16" fmla="*/ 104 w 645"/>
              <a:gd name="T17" fmla="*/ 0 h 7"/>
              <a:gd name="T18" fmla="*/ 121 w 645"/>
              <a:gd name="T19" fmla="*/ 0 h 7"/>
              <a:gd name="T20" fmla="*/ 132 w 645"/>
              <a:gd name="T21" fmla="*/ 0 h 7"/>
              <a:gd name="T22" fmla="*/ 144 w 645"/>
              <a:gd name="T23" fmla="*/ 0 h 7"/>
              <a:gd name="T24" fmla="*/ 155 w 645"/>
              <a:gd name="T25" fmla="*/ 0 h 7"/>
              <a:gd name="T26" fmla="*/ 173 w 645"/>
              <a:gd name="T27" fmla="*/ 0 h 7"/>
              <a:gd name="T28" fmla="*/ 184 w 645"/>
              <a:gd name="T29" fmla="*/ 0 h 7"/>
              <a:gd name="T30" fmla="*/ 196 w 645"/>
              <a:gd name="T31" fmla="*/ 0 h 7"/>
              <a:gd name="T32" fmla="*/ 213 w 645"/>
              <a:gd name="T33" fmla="*/ 0 h 7"/>
              <a:gd name="T34" fmla="*/ 224 w 645"/>
              <a:gd name="T35" fmla="*/ 0 h 7"/>
              <a:gd name="T36" fmla="*/ 242 w 645"/>
              <a:gd name="T37" fmla="*/ 0 h 7"/>
              <a:gd name="T38" fmla="*/ 259 w 645"/>
              <a:gd name="T39" fmla="*/ 0 h 7"/>
              <a:gd name="T40" fmla="*/ 270 w 645"/>
              <a:gd name="T41" fmla="*/ 0 h 7"/>
              <a:gd name="T42" fmla="*/ 282 w 645"/>
              <a:gd name="T43" fmla="*/ 0 h 7"/>
              <a:gd name="T44" fmla="*/ 299 w 645"/>
              <a:gd name="T45" fmla="*/ 0 h 7"/>
              <a:gd name="T46" fmla="*/ 311 w 645"/>
              <a:gd name="T47" fmla="*/ 0 h 7"/>
              <a:gd name="T48" fmla="*/ 322 w 645"/>
              <a:gd name="T49" fmla="*/ 0 h 7"/>
              <a:gd name="T50" fmla="*/ 334 w 645"/>
              <a:gd name="T51" fmla="*/ 0 h 7"/>
              <a:gd name="T52" fmla="*/ 345 w 645"/>
              <a:gd name="T53" fmla="*/ 0 h 7"/>
              <a:gd name="T54" fmla="*/ 362 w 645"/>
              <a:gd name="T55" fmla="*/ 0 h 7"/>
              <a:gd name="T56" fmla="*/ 379 w 645"/>
              <a:gd name="T57" fmla="*/ 0 h 7"/>
              <a:gd name="T58" fmla="*/ 391 w 645"/>
              <a:gd name="T59" fmla="*/ 0 h 7"/>
              <a:gd name="T60" fmla="*/ 408 w 645"/>
              <a:gd name="T61" fmla="*/ 0 h 7"/>
              <a:gd name="T62" fmla="*/ 425 w 645"/>
              <a:gd name="T63" fmla="*/ 0 h 7"/>
              <a:gd name="T64" fmla="*/ 443 w 645"/>
              <a:gd name="T65" fmla="*/ 0 h 7"/>
              <a:gd name="T66" fmla="*/ 454 w 645"/>
              <a:gd name="T67" fmla="*/ 0 h 7"/>
              <a:gd name="T68" fmla="*/ 471 w 645"/>
              <a:gd name="T69" fmla="*/ 0 h 7"/>
              <a:gd name="T70" fmla="*/ 483 w 645"/>
              <a:gd name="T71" fmla="*/ 0 h 7"/>
              <a:gd name="T72" fmla="*/ 494 w 645"/>
              <a:gd name="T73" fmla="*/ 0 h 7"/>
              <a:gd name="T74" fmla="*/ 512 w 645"/>
              <a:gd name="T75" fmla="*/ 0 h 7"/>
              <a:gd name="T76" fmla="*/ 523 w 645"/>
              <a:gd name="T77" fmla="*/ 0 h 7"/>
              <a:gd name="T78" fmla="*/ 535 w 645"/>
              <a:gd name="T79" fmla="*/ 0 h 7"/>
              <a:gd name="T80" fmla="*/ 552 w 645"/>
              <a:gd name="T81" fmla="*/ 0 h 7"/>
              <a:gd name="T82" fmla="*/ 563 w 645"/>
              <a:gd name="T83" fmla="*/ 0 h 7"/>
              <a:gd name="T84" fmla="*/ 575 w 645"/>
              <a:gd name="T85" fmla="*/ 0 h 7"/>
              <a:gd name="T86" fmla="*/ 592 w 645"/>
              <a:gd name="T87" fmla="*/ 0 h 7"/>
              <a:gd name="T88" fmla="*/ 609 w 645"/>
              <a:gd name="T89" fmla="*/ 6 h 7"/>
              <a:gd name="T90" fmla="*/ 627 w 645"/>
              <a:gd name="T91" fmla="*/ 6 h 7"/>
              <a:gd name="T92" fmla="*/ 638 w 645"/>
              <a:gd name="T93" fmla="*/ 6 h 7"/>
              <a:gd name="T94" fmla="*/ 644 w 645"/>
              <a:gd name="T95" fmla="*/ 6 h 7"/>
              <a:gd name="T96" fmla="*/ 644 w 645"/>
              <a:gd name="T97" fmla="*/ 6 h 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45"/>
              <a:gd name="T148" fmla="*/ 0 h 7"/>
              <a:gd name="T149" fmla="*/ 645 w 645"/>
              <a:gd name="T150" fmla="*/ 7 h 7"/>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45" h="7">
                <a:moveTo>
                  <a:pt x="0" y="0"/>
                </a:moveTo>
                <a:lnTo>
                  <a:pt x="12" y="0"/>
                </a:lnTo>
                <a:lnTo>
                  <a:pt x="23" y="0"/>
                </a:lnTo>
                <a:lnTo>
                  <a:pt x="35" y="0"/>
                </a:lnTo>
                <a:lnTo>
                  <a:pt x="46" y="0"/>
                </a:lnTo>
                <a:lnTo>
                  <a:pt x="58" y="0"/>
                </a:lnTo>
                <a:lnTo>
                  <a:pt x="75" y="0"/>
                </a:lnTo>
                <a:lnTo>
                  <a:pt x="92" y="0"/>
                </a:lnTo>
                <a:lnTo>
                  <a:pt x="104" y="0"/>
                </a:lnTo>
                <a:lnTo>
                  <a:pt x="121" y="0"/>
                </a:lnTo>
                <a:lnTo>
                  <a:pt x="132" y="0"/>
                </a:lnTo>
                <a:lnTo>
                  <a:pt x="144" y="0"/>
                </a:lnTo>
                <a:lnTo>
                  <a:pt x="155" y="0"/>
                </a:lnTo>
                <a:lnTo>
                  <a:pt x="173" y="0"/>
                </a:lnTo>
                <a:lnTo>
                  <a:pt x="184" y="0"/>
                </a:lnTo>
                <a:lnTo>
                  <a:pt x="196" y="0"/>
                </a:lnTo>
                <a:lnTo>
                  <a:pt x="213" y="0"/>
                </a:lnTo>
                <a:lnTo>
                  <a:pt x="224" y="0"/>
                </a:lnTo>
                <a:lnTo>
                  <a:pt x="242" y="0"/>
                </a:lnTo>
                <a:lnTo>
                  <a:pt x="259" y="0"/>
                </a:lnTo>
                <a:lnTo>
                  <a:pt x="270" y="0"/>
                </a:lnTo>
                <a:lnTo>
                  <a:pt x="282" y="0"/>
                </a:lnTo>
                <a:lnTo>
                  <a:pt x="299" y="0"/>
                </a:lnTo>
                <a:lnTo>
                  <a:pt x="311" y="0"/>
                </a:lnTo>
                <a:lnTo>
                  <a:pt x="322" y="0"/>
                </a:lnTo>
                <a:lnTo>
                  <a:pt x="334" y="0"/>
                </a:lnTo>
                <a:lnTo>
                  <a:pt x="345" y="0"/>
                </a:lnTo>
                <a:lnTo>
                  <a:pt x="362" y="0"/>
                </a:lnTo>
                <a:lnTo>
                  <a:pt x="379" y="0"/>
                </a:lnTo>
                <a:lnTo>
                  <a:pt x="391" y="0"/>
                </a:lnTo>
                <a:lnTo>
                  <a:pt x="408" y="0"/>
                </a:lnTo>
                <a:lnTo>
                  <a:pt x="425" y="0"/>
                </a:lnTo>
                <a:lnTo>
                  <a:pt x="443" y="0"/>
                </a:lnTo>
                <a:lnTo>
                  <a:pt x="454" y="0"/>
                </a:lnTo>
                <a:lnTo>
                  <a:pt x="471" y="0"/>
                </a:lnTo>
                <a:lnTo>
                  <a:pt x="483" y="0"/>
                </a:lnTo>
                <a:lnTo>
                  <a:pt x="494" y="0"/>
                </a:lnTo>
                <a:lnTo>
                  <a:pt x="512" y="0"/>
                </a:lnTo>
                <a:lnTo>
                  <a:pt x="523" y="0"/>
                </a:lnTo>
                <a:lnTo>
                  <a:pt x="535" y="0"/>
                </a:lnTo>
                <a:lnTo>
                  <a:pt x="552" y="0"/>
                </a:lnTo>
                <a:lnTo>
                  <a:pt x="563" y="0"/>
                </a:lnTo>
                <a:lnTo>
                  <a:pt x="575" y="0"/>
                </a:lnTo>
                <a:lnTo>
                  <a:pt x="592" y="0"/>
                </a:lnTo>
                <a:lnTo>
                  <a:pt x="609" y="6"/>
                </a:lnTo>
                <a:lnTo>
                  <a:pt x="627" y="6"/>
                </a:lnTo>
                <a:lnTo>
                  <a:pt x="638" y="6"/>
                </a:lnTo>
                <a:lnTo>
                  <a:pt x="644" y="6"/>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7" name="Freeform 16"/>
          <p:cNvSpPr>
            <a:spLocks/>
          </p:cNvSpPr>
          <p:nvPr/>
        </p:nvSpPr>
        <p:spPr bwMode="auto">
          <a:xfrm>
            <a:off x="4014788" y="2408238"/>
            <a:ext cx="549275" cy="9525"/>
          </a:xfrm>
          <a:custGeom>
            <a:avLst/>
            <a:gdLst>
              <a:gd name="T0" fmla="*/ 0 w 346"/>
              <a:gd name="T1" fmla="*/ 5 h 6"/>
              <a:gd name="T2" fmla="*/ 12 w 346"/>
              <a:gd name="T3" fmla="*/ 5 h 6"/>
              <a:gd name="T4" fmla="*/ 23 w 346"/>
              <a:gd name="T5" fmla="*/ 5 h 6"/>
              <a:gd name="T6" fmla="*/ 41 w 346"/>
              <a:gd name="T7" fmla="*/ 5 h 6"/>
              <a:gd name="T8" fmla="*/ 52 w 346"/>
              <a:gd name="T9" fmla="*/ 5 h 6"/>
              <a:gd name="T10" fmla="*/ 58 w 346"/>
              <a:gd name="T11" fmla="*/ 0 h 6"/>
              <a:gd name="T12" fmla="*/ 69 w 346"/>
              <a:gd name="T13" fmla="*/ 0 h 6"/>
              <a:gd name="T14" fmla="*/ 87 w 346"/>
              <a:gd name="T15" fmla="*/ 5 h 6"/>
              <a:gd name="T16" fmla="*/ 98 w 346"/>
              <a:gd name="T17" fmla="*/ 0 h 6"/>
              <a:gd name="T18" fmla="*/ 110 w 346"/>
              <a:gd name="T19" fmla="*/ 0 h 6"/>
              <a:gd name="T20" fmla="*/ 127 w 346"/>
              <a:gd name="T21" fmla="*/ 0 h 6"/>
              <a:gd name="T22" fmla="*/ 144 w 346"/>
              <a:gd name="T23" fmla="*/ 0 h 6"/>
              <a:gd name="T24" fmla="*/ 156 w 346"/>
              <a:gd name="T25" fmla="*/ 0 h 6"/>
              <a:gd name="T26" fmla="*/ 173 w 346"/>
              <a:gd name="T27" fmla="*/ 0 h 6"/>
              <a:gd name="T28" fmla="*/ 184 w 346"/>
              <a:gd name="T29" fmla="*/ 0 h 6"/>
              <a:gd name="T30" fmla="*/ 196 w 346"/>
              <a:gd name="T31" fmla="*/ 0 h 6"/>
              <a:gd name="T32" fmla="*/ 213 w 346"/>
              <a:gd name="T33" fmla="*/ 0 h 6"/>
              <a:gd name="T34" fmla="*/ 225 w 346"/>
              <a:gd name="T35" fmla="*/ 0 h 6"/>
              <a:gd name="T36" fmla="*/ 236 w 346"/>
              <a:gd name="T37" fmla="*/ 5 h 6"/>
              <a:gd name="T38" fmla="*/ 253 w 346"/>
              <a:gd name="T39" fmla="*/ 5 h 6"/>
              <a:gd name="T40" fmla="*/ 265 w 346"/>
              <a:gd name="T41" fmla="*/ 5 h 6"/>
              <a:gd name="T42" fmla="*/ 276 w 346"/>
              <a:gd name="T43" fmla="*/ 5 h 6"/>
              <a:gd name="T44" fmla="*/ 288 w 346"/>
              <a:gd name="T45" fmla="*/ 5 h 6"/>
              <a:gd name="T46" fmla="*/ 305 w 346"/>
              <a:gd name="T47" fmla="*/ 5 h 6"/>
              <a:gd name="T48" fmla="*/ 317 w 346"/>
              <a:gd name="T49" fmla="*/ 5 h 6"/>
              <a:gd name="T50" fmla="*/ 328 w 346"/>
              <a:gd name="T51" fmla="*/ 5 h 6"/>
              <a:gd name="T52" fmla="*/ 340 w 346"/>
              <a:gd name="T53" fmla="*/ 5 h 6"/>
              <a:gd name="T54" fmla="*/ 345 w 346"/>
              <a:gd name="T55" fmla="*/ 5 h 6"/>
              <a:gd name="T56" fmla="*/ 345 w 346"/>
              <a:gd name="T57" fmla="*/ 5 h 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46"/>
              <a:gd name="T88" fmla="*/ 0 h 6"/>
              <a:gd name="T89" fmla="*/ 346 w 346"/>
              <a:gd name="T90" fmla="*/ 6 h 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46" h="6">
                <a:moveTo>
                  <a:pt x="0" y="5"/>
                </a:moveTo>
                <a:lnTo>
                  <a:pt x="12" y="5"/>
                </a:lnTo>
                <a:lnTo>
                  <a:pt x="23" y="5"/>
                </a:lnTo>
                <a:lnTo>
                  <a:pt x="41" y="5"/>
                </a:lnTo>
                <a:lnTo>
                  <a:pt x="52" y="5"/>
                </a:lnTo>
                <a:lnTo>
                  <a:pt x="58" y="0"/>
                </a:lnTo>
                <a:lnTo>
                  <a:pt x="69" y="0"/>
                </a:lnTo>
                <a:lnTo>
                  <a:pt x="87" y="5"/>
                </a:lnTo>
                <a:lnTo>
                  <a:pt x="98" y="0"/>
                </a:lnTo>
                <a:lnTo>
                  <a:pt x="110" y="0"/>
                </a:lnTo>
                <a:lnTo>
                  <a:pt x="127" y="0"/>
                </a:lnTo>
                <a:lnTo>
                  <a:pt x="144" y="0"/>
                </a:lnTo>
                <a:lnTo>
                  <a:pt x="156" y="0"/>
                </a:lnTo>
                <a:lnTo>
                  <a:pt x="173" y="0"/>
                </a:lnTo>
                <a:lnTo>
                  <a:pt x="184" y="0"/>
                </a:lnTo>
                <a:lnTo>
                  <a:pt x="196" y="0"/>
                </a:lnTo>
                <a:lnTo>
                  <a:pt x="213" y="0"/>
                </a:lnTo>
                <a:lnTo>
                  <a:pt x="225" y="0"/>
                </a:lnTo>
                <a:lnTo>
                  <a:pt x="236" y="5"/>
                </a:lnTo>
                <a:lnTo>
                  <a:pt x="253" y="5"/>
                </a:lnTo>
                <a:lnTo>
                  <a:pt x="265" y="5"/>
                </a:lnTo>
                <a:lnTo>
                  <a:pt x="276" y="5"/>
                </a:lnTo>
                <a:lnTo>
                  <a:pt x="288" y="5"/>
                </a:lnTo>
                <a:lnTo>
                  <a:pt x="305" y="5"/>
                </a:lnTo>
                <a:lnTo>
                  <a:pt x="317" y="5"/>
                </a:lnTo>
                <a:lnTo>
                  <a:pt x="328" y="5"/>
                </a:lnTo>
                <a:lnTo>
                  <a:pt x="340" y="5"/>
                </a:lnTo>
                <a:lnTo>
                  <a:pt x="345" y="5"/>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8" name="Freeform 17"/>
          <p:cNvSpPr>
            <a:spLocks/>
          </p:cNvSpPr>
          <p:nvPr/>
        </p:nvSpPr>
        <p:spPr bwMode="auto">
          <a:xfrm>
            <a:off x="3030538" y="3794125"/>
            <a:ext cx="1077912" cy="47625"/>
          </a:xfrm>
          <a:custGeom>
            <a:avLst/>
            <a:gdLst>
              <a:gd name="T0" fmla="*/ 0 w 679"/>
              <a:gd name="T1" fmla="*/ 0 h 30"/>
              <a:gd name="T2" fmla="*/ 11 w 679"/>
              <a:gd name="T3" fmla="*/ 0 h 30"/>
              <a:gd name="T4" fmla="*/ 22 w 679"/>
              <a:gd name="T5" fmla="*/ 0 h 30"/>
              <a:gd name="T6" fmla="*/ 34 w 679"/>
              <a:gd name="T7" fmla="*/ 11 h 30"/>
              <a:gd name="T8" fmla="*/ 45 w 679"/>
              <a:gd name="T9" fmla="*/ 11 h 30"/>
              <a:gd name="T10" fmla="*/ 57 w 679"/>
              <a:gd name="T11" fmla="*/ 11 h 30"/>
              <a:gd name="T12" fmla="*/ 68 w 679"/>
              <a:gd name="T13" fmla="*/ 11 h 30"/>
              <a:gd name="T14" fmla="*/ 80 w 679"/>
              <a:gd name="T15" fmla="*/ 11 h 30"/>
              <a:gd name="T16" fmla="*/ 91 w 679"/>
              <a:gd name="T17" fmla="*/ 11 h 30"/>
              <a:gd name="T18" fmla="*/ 103 w 679"/>
              <a:gd name="T19" fmla="*/ 11 h 30"/>
              <a:gd name="T20" fmla="*/ 114 w 679"/>
              <a:gd name="T21" fmla="*/ 11 h 30"/>
              <a:gd name="T22" fmla="*/ 126 w 679"/>
              <a:gd name="T23" fmla="*/ 11 h 30"/>
              <a:gd name="T24" fmla="*/ 137 w 679"/>
              <a:gd name="T25" fmla="*/ 11 h 30"/>
              <a:gd name="T26" fmla="*/ 149 w 679"/>
              <a:gd name="T27" fmla="*/ 17 h 30"/>
              <a:gd name="T28" fmla="*/ 160 w 679"/>
              <a:gd name="T29" fmla="*/ 17 h 30"/>
              <a:gd name="T30" fmla="*/ 172 w 679"/>
              <a:gd name="T31" fmla="*/ 17 h 30"/>
              <a:gd name="T32" fmla="*/ 189 w 679"/>
              <a:gd name="T33" fmla="*/ 17 h 30"/>
              <a:gd name="T34" fmla="*/ 201 w 679"/>
              <a:gd name="T35" fmla="*/ 17 h 30"/>
              <a:gd name="T36" fmla="*/ 212 w 679"/>
              <a:gd name="T37" fmla="*/ 17 h 30"/>
              <a:gd name="T38" fmla="*/ 224 w 679"/>
              <a:gd name="T39" fmla="*/ 17 h 30"/>
              <a:gd name="T40" fmla="*/ 235 w 679"/>
              <a:gd name="T41" fmla="*/ 17 h 30"/>
              <a:gd name="T42" fmla="*/ 247 w 679"/>
              <a:gd name="T43" fmla="*/ 17 h 30"/>
              <a:gd name="T44" fmla="*/ 258 w 679"/>
              <a:gd name="T45" fmla="*/ 17 h 30"/>
              <a:gd name="T46" fmla="*/ 270 w 679"/>
              <a:gd name="T47" fmla="*/ 17 h 30"/>
              <a:gd name="T48" fmla="*/ 281 w 679"/>
              <a:gd name="T49" fmla="*/ 17 h 30"/>
              <a:gd name="T50" fmla="*/ 298 w 679"/>
              <a:gd name="T51" fmla="*/ 17 h 30"/>
              <a:gd name="T52" fmla="*/ 310 w 679"/>
              <a:gd name="T53" fmla="*/ 17 h 30"/>
              <a:gd name="T54" fmla="*/ 321 w 679"/>
              <a:gd name="T55" fmla="*/ 17 h 30"/>
              <a:gd name="T56" fmla="*/ 339 w 679"/>
              <a:gd name="T57" fmla="*/ 17 h 30"/>
              <a:gd name="T58" fmla="*/ 350 w 679"/>
              <a:gd name="T59" fmla="*/ 17 h 30"/>
              <a:gd name="T60" fmla="*/ 362 w 679"/>
              <a:gd name="T61" fmla="*/ 17 h 30"/>
              <a:gd name="T62" fmla="*/ 373 w 679"/>
              <a:gd name="T63" fmla="*/ 17 h 30"/>
              <a:gd name="T64" fmla="*/ 385 w 679"/>
              <a:gd name="T65" fmla="*/ 17 h 30"/>
              <a:gd name="T66" fmla="*/ 396 w 679"/>
              <a:gd name="T67" fmla="*/ 17 h 30"/>
              <a:gd name="T68" fmla="*/ 408 w 679"/>
              <a:gd name="T69" fmla="*/ 17 h 30"/>
              <a:gd name="T70" fmla="*/ 419 w 679"/>
              <a:gd name="T71" fmla="*/ 17 h 30"/>
              <a:gd name="T72" fmla="*/ 431 w 679"/>
              <a:gd name="T73" fmla="*/ 17 h 30"/>
              <a:gd name="T74" fmla="*/ 442 w 679"/>
              <a:gd name="T75" fmla="*/ 17 h 30"/>
              <a:gd name="T76" fmla="*/ 459 w 679"/>
              <a:gd name="T77" fmla="*/ 17 h 30"/>
              <a:gd name="T78" fmla="*/ 471 w 679"/>
              <a:gd name="T79" fmla="*/ 17 h 30"/>
              <a:gd name="T80" fmla="*/ 488 w 679"/>
              <a:gd name="T81" fmla="*/ 17 h 30"/>
              <a:gd name="T82" fmla="*/ 500 w 679"/>
              <a:gd name="T83" fmla="*/ 17 h 30"/>
              <a:gd name="T84" fmla="*/ 517 w 679"/>
              <a:gd name="T85" fmla="*/ 17 h 30"/>
              <a:gd name="T86" fmla="*/ 528 w 679"/>
              <a:gd name="T87" fmla="*/ 17 h 30"/>
              <a:gd name="T88" fmla="*/ 540 w 679"/>
              <a:gd name="T89" fmla="*/ 17 h 30"/>
              <a:gd name="T90" fmla="*/ 551 w 679"/>
              <a:gd name="T91" fmla="*/ 17 h 30"/>
              <a:gd name="T92" fmla="*/ 563 w 679"/>
              <a:gd name="T93" fmla="*/ 17 h 30"/>
              <a:gd name="T94" fmla="*/ 574 w 679"/>
              <a:gd name="T95" fmla="*/ 17 h 30"/>
              <a:gd name="T96" fmla="*/ 586 w 679"/>
              <a:gd name="T97" fmla="*/ 17 h 30"/>
              <a:gd name="T98" fmla="*/ 597 w 679"/>
              <a:gd name="T99" fmla="*/ 17 h 30"/>
              <a:gd name="T100" fmla="*/ 609 w 679"/>
              <a:gd name="T101" fmla="*/ 17 h 30"/>
              <a:gd name="T102" fmla="*/ 620 w 679"/>
              <a:gd name="T103" fmla="*/ 17 h 30"/>
              <a:gd name="T104" fmla="*/ 638 w 679"/>
              <a:gd name="T105" fmla="*/ 17 h 30"/>
              <a:gd name="T106" fmla="*/ 649 w 679"/>
              <a:gd name="T107" fmla="*/ 17 h 30"/>
              <a:gd name="T108" fmla="*/ 655 w 679"/>
              <a:gd name="T109" fmla="*/ 29 h 30"/>
              <a:gd name="T110" fmla="*/ 666 w 679"/>
              <a:gd name="T111" fmla="*/ 29 h 30"/>
              <a:gd name="T112" fmla="*/ 672 w 679"/>
              <a:gd name="T113" fmla="*/ 29 h 30"/>
              <a:gd name="T114" fmla="*/ 678 w 679"/>
              <a:gd name="T115" fmla="*/ 29 h 30"/>
              <a:gd name="T116" fmla="*/ 678 w 679"/>
              <a:gd name="T117" fmla="*/ 29 h 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79"/>
              <a:gd name="T178" fmla="*/ 0 h 30"/>
              <a:gd name="T179" fmla="*/ 679 w 679"/>
              <a:gd name="T180" fmla="*/ 30 h 3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79" h="30">
                <a:moveTo>
                  <a:pt x="0" y="0"/>
                </a:moveTo>
                <a:lnTo>
                  <a:pt x="11" y="0"/>
                </a:lnTo>
                <a:lnTo>
                  <a:pt x="22" y="0"/>
                </a:lnTo>
                <a:lnTo>
                  <a:pt x="34" y="11"/>
                </a:lnTo>
                <a:lnTo>
                  <a:pt x="45" y="11"/>
                </a:lnTo>
                <a:lnTo>
                  <a:pt x="57" y="11"/>
                </a:lnTo>
                <a:lnTo>
                  <a:pt x="68" y="11"/>
                </a:lnTo>
                <a:lnTo>
                  <a:pt x="80" y="11"/>
                </a:lnTo>
                <a:lnTo>
                  <a:pt x="91" y="11"/>
                </a:lnTo>
                <a:lnTo>
                  <a:pt x="103" y="11"/>
                </a:lnTo>
                <a:lnTo>
                  <a:pt x="114" y="11"/>
                </a:lnTo>
                <a:lnTo>
                  <a:pt x="126" y="11"/>
                </a:lnTo>
                <a:lnTo>
                  <a:pt x="137" y="11"/>
                </a:lnTo>
                <a:lnTo>
                  <a:pt x="149" y="17"/>
                </a:lnTo>
                <a:lnTo>
                  <a:pt x="160" y="17"/>
                </a:lnTo>
                <a:lnTo>
                  <a:pt x="172" y="17"/>
                </a:lnTo>
                <a:lnTo>
                  <a:pt x="189" y="17"/>
                </a:lnTo>
                <a:lnTo>
                  <a:pt x="201" y="17"/>
                </a:lnTo>
                <a:lnTo>
                  <a:pt x="212" y="17"/>
                </a:lnTo>
                <a:lnTo>
                  <a:pt x="224" y="17"/>
                </a:lnTo>
                <a:lnTo>
                  <a:pt x="235" y="17"/>
                </a:lnTo>
                <a:lnTo>
                  <a:pt x="247" y="17"/>
                </a:lnTo>
                <a:lnTo>
                  <a:pt x="258" y="17"/>
                </a:lnTo>
                <a:lnTo>
                  <a:pt x="270" y="17"/>
                </a:lnTo>
                <a:lnTo>
                  <a:pt x="281" y="17"/>
                </a:lnTo>
                <a:lnTo>
                  <a:pt x="298" y="17"/>
                </a:lnTo>
                <a:lnTo>
                  <a:pt x="310" y="17"/>
                </a:lnTo>
                <a:lnTo>
                  <a:pt x="321" y="17"/>
                </a:lnTo>
                <a:lnTo>
                  <a:pt x="339" y="17"/>
                </a:lnTo>
                <a:lnTo>
                  <a:pt x="350" y="17"/>
                </a:lnTo>
                <a:lnTo>
                  <a:pt x="362" y="17"/>
                </a:lnTo>
                <a:lnTo>
                  <a:pt x="373" y="17"/>
                </a:lnTo>
                <a:lnTo>
                  <a:pt x="385" y="17"/>
                </a:lnTo>
                <a:lnTo>
                  <a:pt x="396" y="17"/>
                </a:lnTo>
                <a:lnTo>
                  <a:pt x="408" y="17"/>
                </a:lnTo>
                <a:lnTo>
                  <a:pt x="419" y="17"/>
                </a:lnTo>
                <a:lnTo>
                  <a:pt x="431" y="17"/>
                </a:lnTo>
                <a:lnTo>
                  <a:pt x="442" y="17"/>
                </a:lnTo>
                <a:lnTo>
                  <a:pt x="459" y="17"/>
                </a:lnTo>
                <a:lnTo>
                  <a:pt x="471" y="17"/>
                </a:lnTo>
                <a:lnTo>
                  <a:pt x="488" y="17"/>
                </a:lnTo>
                <a:lnTo>
                  <a:pt x="500" y="17"/>
                </a:lnTo>
                <a:lnTo>
                  <a:pt x="517" y="17"/>
                </a:lnTo>
                <a:lnTo>
                  <a:pt x="528" y="17"/>
                </a:lnTo>
                <a:lnTo>
                  <a:pt x="540" y="17"/>
                </a:lnTo>
                <a:lnTo>
                  <a:pt x="551" y="17"/>
                </a:lnTo>
                <a:lnTo>
                  <a:pt x="563" y="17"/>
                </a:lnTo>
                <a:lnTo>
                  <a:pt x="574" y="17"/>
                </a:lnTo>
                <a:lnTo>
                  <a:pt x="586" y="17"/>
                </a:lnTo>
                <a:lnTo>
                  <a:pt x="597" y="17"/>
                </a:lnTo>
                <a:lnTo>
                  <a:pt x="609" y="17"/>
                </a:lnTo>
                <a:lnTo>
                  <a:pt x="620" y="17"/>
                </a:lnTo>
                <a:lnTo>
                  <a:pt x="638" y="17"/>
                </a:lnTo>
                <a:lnTo>
                  <a:pt x="649" y="17"/>
                </a:lnTo>
                <a:lnTo>
                  <a:pt x="655" y="29"/>
                </a:lnTo>
                <a:lnTo>
                  <a:pt x="666" y="29"/>
                </a:lnTo>
                <a:lnTo>
                  <a:pt x="672" y="29"/>
                </a:lnTo>
                <a:lnTo>
                  <a:pt x="678" y="29"/>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399" name="Freeform 18"/>
          <p:cNvSpPr>
            <a:spLocks/>
          </p:cNvSpPr>
          <p:nvPr/>
        </p:nvSpPr>
        <p:spPr bwMode="auto">
          <a:xfrm>
            <a:off x="2938463" y="4313238"/>
            <a:ext cx="850900" cy="28575"/>
          </a:xfrm>
          <a:custGeom>
            <a:avLst/>
            <a:gdLst>
              <a:gd name="T0" fmla="*/ 0 w 536"/>
              <a:gd name="T1" fmla="*/ 0 h 18"/>
              <a:gd name="T2" fmla="*/ 12 w 536"/>
              <a:gd name="T3" fmla="*/ 0 h 18"/>
              <a:gd name="T4" fmla="*/ 23 w 536"/>
              <a:gd name="T5" fmla="*/ 6 h 18"/>
              <a:gd name="T6" fmla="*/ 35 w 536"/>
              <a:gd name="T7" fmla="*/ 6 h 18"/>
              <a:gd name="T8" fmla="*/ 46 w 536"/>
              <a:gd name="T9" fmla="*/ 6 h 18"/>
              <a:gd name="T10" fmla="*/ 58 w 536"/>
              <a:gd name="T11" fmla="*/ 12 h 18"/>
              <a:gd name="T12" fmla="*/ 69 w 536"/>
              <a:gd name="T13" fmla="*/ 12 h 18"/>
              <a:gd name="T14" fmla="*/ 86 w 536"/>
              <a:gd name="T15" fmla="*/ 12 h 18"/>
              <a:gd name="T16" fmla="*/ 98 w 536"/>
              <a:gd name="T17" fmla="*/ 12 h 18"/>
              <a:gd name="T18" fmla="*/ 115 w 536"/>
              <a:gd name="T19" fmla="*/ 12 h 18"/>
              <a:gd name="T20" fmla="*/ 132 w 536"/>
              <a:gd name="T21" fmla="*/ 12 h 18"/>
              <a:gd name="T22" fmla="*/ 149 w 536"/>
              <a:gd name="T23" fmla="*/ 12 h 18"/>
              <a:gd name="T24" fmla="*/ 167 w 536"/>
              <a:gd name="T25" fmla="*/ 12 h 18"/>
              <a:gd name="T26" fmla="*/ 184 w 536"/>
              <a:gd name="T27" fmla="*/ 12 h 18"/>
              <a:gd name="T28" fmla="*/ 201 w 536"/>
              <a:gd name="T29" fmla="*/ 12 h 18"/>
              <a:gd name="T30" fmla="*/ 213 w 536"/>
              <a:gd name="T31" fmla="*/ 12 h 18"/>
              <a:gd name="T32" fmla="*/ 230 w 536"/>
              <a:gd name="T33" fmla="*/ 12 h 18"/>
              <a:gd name="T34" fmla="*/ 241 w 536"/>
              <a:gd name="T35" fmla="*/ 12 h 18"/>
              <a:gd name="T36" fmla="*/ 259 w 536"/>
              <a:gd name="T37" fmla="*/ 12 h 18"/>
              <a:gd name="T38" fmla="*/ 270 w 536"/>
              <a:gd name="T39" fmla="*/ 12 h 18"/>
              <a:gd name="T40" fmla="*/ 287 w 536"/>
              <a:gd name="T41" fmla="*/ 12 h 18"/>
              <a:gd name="T42" fmla="*/ 299 w 536"/>
              <a:gd name="T43" fmla="*/ 12 h 18"/>
              <a:gd name="T44" fmla="*/ 310 w 536"/>
              <a:gd name="T45" fmla="*/ 12 h 18"/>
              <a:gd name="T46" fmla="*/ 328 w 536"/>
              <a:gd name="T47" fmla="*/ 12 h 18"/>
              <a:gd name="T48" fmla="*/ 345 w 536"/>
              <a:gd name="T49" fmla="*/ 12 h 18"/>
              <a:gd name="T50" fmla="*/ 351 w 536"/>
              <a:gd name="T51" fmla="*/ 6 h 18"/>
              <a:gd name="T52" fmla="*/ 368 w 536"/>
              <a:gd name="T53" fmla="*/ 6 h 18"/>
              <a:gd name="T54" fmla="*/ 385 w 536"/>
              <a:gd name="T55" fmla="*/ 6 h 18"/>
              <a:gd name="T56" fmla="*/ 397 w 536"/>
              <a:gd name="T57" fmla="*/ 6 h 18"/>
              <a:gd name="T58" fmla="*/ 408 w 536"/>
              <a:gd name="T59" fmla="*/ 6 h 18"/>
              <a:gd name="T60" fmla="*/ 425 w 536"/>
              <a:gd name="T61" fmla="*/ 6 h 18"/>
              <a:gd name="T62" fmla="*/ 437 w 536"/>
              <a:gd name="T63" fmla="*/ 6 h 18"/>
              <a:gd name="T64" fmla="*/ 448 w 536"/>
              <a:gd name="T65" fmla="*/ 6 h 18"/>
              <a:gd name="T66" fmla="*/ 460 w 536"/>
              <a:gd name="T67" fmla="*/ 6 h 18"/>
              <a:gd name="T68" fmla="*/ 477 w 536"/>
              <a:gd name="T69" fmla="*/ 6 h 18"/>
              <a:gd name="T70" fmla="*/ 489 w 536"/>
              <a:gd name="T71" fmla="*/ 6 h 18"/>
              <a:gd name="T72" fmla="*/ 500 w 536"/>
              <a:gd name="T73" fmla="*/ 6 h 18"/>
              <a:gd name="T74" fmla="*/ 512 w 536"/>
              <a:gd name="T75" fmla="*/ 12 h 18"/>
              <a:gd name="T76" fmla="*/ 523 w 536"/>
              <a:gd name="T77" fmla="*/ 12 h 18"/>
              <a:gd name="T78" fmla="*/ 535 w 536"/>
              <a:gd name="T79" fmla="*/ 17 h 18"/>
              <a:gd name="T80" fmla="*/ 535 w 536"/>
              <a:gd name="T81" fmla="*/ 17 h 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36"/>
              <a:gd name="T124" fmla="*/ 0 h 18"/>
              <a:gd name="T125" fmla="*/ 536 w 536"/>
              <a:gd name="T126" fmla="*/ 18 h 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36" h="18">
                <a:moveTo>
                  <a:pt x="0" y="0"/>
                </a:moveTo>
                <a:lnTo>
                  <a:pt x="12" y="0"/>
                </a:lnTo>
                <a:lnTo>
                  <a:pt x="23" y="6"/>
                </a:lnTo>
                <a:lnTo>
                  <a:pt x="35" y="6"/>
                </a:lnTo>
                <a:lnTo>
                  <a:pt x="46" y="6"/>
                </a:lnTo>
                <a:lnTo>
                  <a:pt x="58" y="12"/>
                </a:lnTo>
                <a:lnTo>
                  <a:pt x="69" y="12"/>
                </a:lnTo>
                <a:lnTo>
                  <a:pt x="86" y="12"/>
                </a:lnTo>
                <a:lnTo>
                  <a:pt x="98" y="12"/>
                </a:lnTo>
                <a:lnTo>
                  <a:pt x="115" y="12"/>
                </a:lnTo>
                <a:lnTo>
                  <a:pt x="132" y="12"/>
                </a:lnTo>
                <a:lnTo>
                  <a:pt x="149" y="12"/>
                </a:lnTo>
                <a:lnTo>
                  <a:pt x="167" y="12"/>
                </a:lnTo>
                <a:lnTo>
                  <a:pt x="184" y="12"/>
                </a:lnTo>
                <a:lnTo>
                  <a:pt x="201" y="12"/>
                </a:lnTo>
                <a:lnTo>
                  <a:pt x="213" y="12"/>
                </a:lnTo>
                <a:lnTo>
                  <a:pt x="230" y="12"/>
                </a:lnTo>
                <a:lnTo>
                  <a:pt x="241" y="12"/>
                </a:lnTo>
                <a:lnTo>
                  <a:pt x="259" y="12"/>
                </a:lnTo>
                <a:lnTo>
                  <a:pt x="270" y="12"/>
                </a:lnTo>
                <a:lnTo>
                  <a:pt x="287" y="12"/>
                </a:lnTo>
                <a:lnTo>
                  <a:pt x="299" y="12"/>
                </a:lnTo>
                <a:lnTo>
                  <a:pt x="310" y="12"/>
                </a:lnTo>
                <a:lnTo>
                  <a:pt x="328" y="12"/>
                </a:lnTo>
                <a:lnTo>
                  <a:pt x="345" y="12"/>
                </a:lnTo>
                <a:lnTo>
                  <a:pt x="351" y="6"/>
                </a:lnTo>
                <a:lnTo>
                  <a:pt x="368" y="6"/>
                </a:lnTo>
                <a:lnTo>
                  <a:pt x="385" y="6"/>
                </a:lnTo>
                <a:lnTo>
                  <a:pt x="397" y="6"/>
                </a:lnTo>
                <a:lnTo>
                  <a:pt x="408" y="6"/>
                </a:lnTo>
                <a:lnTo>
                  <a:pt x="425" y="6"/>
                </a:lnTo>
                <a:lnTo>
                  <a:pt x="437" y="6"/>
                </a:lnTo>
                <a:lnTo>
                  <a:pt x="448" y="6"/>
                </a:lnTo>
                <a:lnTo>
                  <a:pt x="460" y="6"/>
                </a:lnTo>
                <a:lnTo>
                  <a:pt x="477" y="6"/>
                </a:lnTo>
                <a:lnTo>
                  <a:pt x="489" y="6"/>
                </a:lnTo>
                <a:lnTo>
                  <a:pt x="500" y="6"/>
                </a:lnTo>
                <a:lnTo>
                  <a:pt x="512" y="12"/>
                </a:lnTo>
                <a:lnTo>
                  <a:pt x="523" y="12"/>
                </a:lnTo>
                <a:lnTo>
                  <a:pt x="535" y="17"/>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0" name="Freeform 19"/>
          <p:cNvSpPr>
            <a:spLocks/>
          </p:cNvSpPr>
          <p:nvPr/>
        </p:nvSpPr>
        <p:spPr bwMode="auto">
          <a:xfrm>
            <a:off x="4133850" y="4997450"/>
            <a:ext cx="795338" cy="20638"/>
          </a:xfrm>
          <a:custGeom>
            <a:avLst/>
            <a:gdLst>
              <a:gd name="T0" fmla="*/ 0 w 501"/>
              <a:gd name="T1" fmla="*/ 0 h 13"/>
              <a:gd name="T2" fmla="*/ 12 w 501"/>
              <a:gd name="T3" fmla="*/ 0 h 13"/>
              <a:gd name="T4" fmla="*/ 23 w 501"/>
              <a:gd name="T5" fmla="*/ 0 h 13"/>
              <a:gd name="T6" fmla="*/ 35 w 501"/>
              <a:gd name="T7" fmla="*/ 0 h 13"/>
              <a:gd name="T8" fmla="*/ 52 w 501"/>
              <a:gd name="T9" fmla="*/ 0 h 13"/>
              <a:gd name="T10" fmla="*/ 63 w 501"/>
              <a:gd name="T11" fmla="*/ 6 h 13"/>
              <a:gd name="T12" fmla="*/ 75 w 501"/>
              <a:gd name="T13" fmla="*/ 6 h 13"/>
              <a:gd name="T14" fmla="*/ 86 w 501"/>
              <a:gd name="T15" fmla="*/ 6 h 13"/>
              <a:gd name="T16" fmla="*/ 98 w 501"/>
              <a:gd name="T17" fmla="*/ 6 h 13"/>
              <a:gd name="T18" fmla="*/ 109 w 501"/>
              <a:gd name="T19" fmla="*/ 6 h 13"/>
              <a:gd name="T20" fmla="*/ 127 w 501"/>
              <a:gd name="T21" fmla="*/ 6 h 13"/>
              <a:gd name="T22" fmla="*/ 138 w 501"/>
              <a:gd name="T23" fmla="*/ 6 h 13"/>
              <a:gd name="T24" fmla="*/ 150 w 501"/>
              <a:gd name="T25" fmla="*/ 6 h 13"/>
              <a:gd name="T26" fmla="*/ 161 w 501"/>
              <a:gd name="T27" fmla="*/ 6 h 13"/>
              <a:gd name="T28" fmla="*/ 173 w 501"/>
              <a:gd name="T29" fmla="*/ 6 h 13"/>
              <a:gd name="T30" fmla="*/ 190 w 501"/>
              <a:gd name="T31" fmla="*/ 6 h 13"/>
              <a:gd name="T32" fmla="*/ 201 w 501"/>
              <a:gd name="T33" fmla="*/ 6 h 13"/>
              <a:gd name="T34" fmla="*/ 213 w 501"/>
              <a:gd name="T35" fmla="*/ 6 h 13"/>
              <a:gd name="T36" fmla="*/ 224 w 501"/>
              <a:gd name="T37" fmla="*/ 6 h 13"/>
              <a:gd name="T38" fmla="*/ 236 w 501"/>
              <a:gd name="T39" fmla="*/ 6 h 13"/>
              <a:gd name="T40" fmla="*/ 247 w 501"/>
              <a:gd name="T41" fmla="*/ 6 h 13"/>
              <a:gd name="T42" fmla="*/ 265 w 501"/>
              <a:gd name="T43" fmla="*/ 6 h 13"/>
              <a:gd name="T44" fmla="*/ 270 w 501"/>
              <a:gd name="T45" fmla="*/ 0 h 13"/>
              <a:gd name="T46" fmla="*/ 287 w 501"/>
              <a:gd name="T47" fmla="*/ 0 h 13"/>
              <a:gd name="T48" fmla="*/ 305 w 501"/>
              <a:gd name="T49" fmla="*/ 0 h 13"/>
              <a:gd name="T50" fmla="*/ 310 w 501"/>
              <a:gd name="T51" fmla="*/ 6 h 13"/>
              <a:gd name="T52" fmla="*/ 322 w 501"/>
              <a:gd name="T53" fmla="*/ 6 h 13"/>
              <a:gd name="T54" fmla="*/ 333 w 501"/>
              <a:gd name="T55" fmla="*/ 6 h 13"/>
              <a:gd name="T56" fmla="*/ 345 w 501"/>
              <a:gd name="T57" fmla="*/ 6 h 13"/>
              <a:gd name="T58" fmla="*/ 362 w 501"/>
              <a:gd name="T59" fmla="*/ 6 h 13"/>
              <a:gd name="T60" fmla="*/ 374 w 501"/>
              <a:gd name="T61" fmla="*/ 6 h 13"/>
              <a:gd name="T62" fmla="*/ 391 w 501"/>
              <a:gd name="T63" fmla="*/ 6 h 13"/>
              <a:gd name="T64" fmla="*/ 402 w 501"/>
              <a:gd name="T65" fmla="*/ 6 h 13"/>
              <a:gd name="T66" fmla="*/ 420 w 501"/>
              <a:gd name="T67" fmla="*/ 12 h 13"/>
              <a:gd name="T68" fmla="*/ 431 w 501"/>
              <a:gd name="T69" fmla="*/ 12 h 13"/>
              <a:gd name="T70" fmla="*/ 448 w 501"/>
              <a:gd name="T71" fmla="*/ 12 h 13"/>
              <a:gd name="T72" fmla="*/ 460 w 501"/>
              <a:gd name="T73" fmla="*/ 12 h 13"/>
              <a:gd name="T74" fmla="*/ 471 w 501"/>
              <a:gd name="T75" fmla="*/ 12 h 13"/>
              <a:gd name="T76" fmla="*/ 483 w 501"/>
              <a:gd name="T77" fmla="*/ 6 h 13"/>
              <a:gd name="T78" fmla="*/ 494 w 501"/>
              <a:gd name="T79" fmla="*/ 6 h 13"/>
              <a:gd name="T80" fmla="*/ 500 w 501"/>
              <a:gd name="T81" fmla="*/ 6 h 13"/>
              <a:gd name="T82" fmla="*/ 500 w 501"/>
              <a:gd name="T83" fmla="*/ 6 h 1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01"/>
              <a:gd name="T127" fmla="*/ 0 h 13"/>
              <a:gd name="T128" fmla="*/ 501 w 501"/>
              <a:gd name="T129" fmla="*/ 13 h 1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01" h="13">
                <a:moveTo>
                  <a:pt x="0" y="0"/>
                </a:moveTo>
                <a:lnTo>
                  <a:pt x="12" y="0"/>
                </a:lnTo>
                <a:lnTo>
                  <a:pt x="23" y="0"/>
                </a:lnTo>
                <a:lnTo>
                  <a:pt x="35" y="0"/>
                </a:lnTo>
                <a:lnTo>
                  <a:pt x="52" y="0"/>
                </a:lnTo>
                <a:lnTo>
                  <a:pt x="63" y="6"/>
                </a:lnTo>
                <a:lnTo>
                  <a:pt x="75" y="6"/>
                </a:lnTo>
                <a:lnTo>
                  <a:pt x="86" y="6"/>
                </a:lnTo>
                <a:lnTo>
                  <a:pt x="98" y="6"/>
                </a:lnTo>
                <a:lnTo>
                  <a:pt x="109" y="6"/>
                </a:lnTo>
                <a:lnTo>
                  <a:pt x="127" y="6"/>
                </a:lnTo>
                <a:lnTo>
                  <a:pt x="138" y="6"/>
                </a:lnTo>
                <a:lnTo>
                  <a:pt x="150" y="6"/>
                </a:lnTo>
                <a:lnTo>
                  <a:pt x="161" y="6"/>
                </a:lnTo>
                <a:lnTo>
                  <a:pt x="173" y="6"/>
                </a:lnTo>
                <a:lnTo>
                  <a:pt x="190" y="6"/>
                </a:lnTo>
                <a:lnTo>
                  <a:pt x="201" y="6"/>
                </a:lnTo>
                <a:lnTo>
                  <a:pt x="213" y="6"/>
                </a:lnTo>
                <a:lnTo>
                  <a:pt x="224" y="6"/>
                </a:lnTo>
                <a:lnTo>
                  <a:pt x="236" y="6"/>
                </a:lnTo>
                <a:lnTo>
                  <a:pt x="247" y="6"/>
                </a:lnTo>
                <a:lnTo>
                  <a:pt x="265" y="6"/>
                </a:lnTo>
                <a:lnTo>
                  <a:pt x="270" y="0"/>
                </a:lnTo>
                <a:lnTo>
                  <a:pt x="287" y="0"/>
                </a:lnTo>
                <a:lnTo>
                  <a:pt x="305" y="0"/>
                </a:lnTo>
                <a:lnTo>
                  <a:pt x="310" y="6"/>
                </a:lnTo>
                <a:lnTo>
                  <a:pt x="322" y="6"/>
                </a:lnTo>
                <a:lnTo>
                  <a:pt x="333" y="6"/>
                </a:lnTo>
                <a:lnTo>
                  <a:pt x="345" y="6"/>
                </a:lnTo>
                <a:lnTo>
                  <a:pt x="362" y="6"/>
                </a:lnTo>
                <a:lnTo>
                  <a:pt x="374" y="6"/>
                </a:lnTo>
                <a:lnTo>
                  <a:pt x="391" y="6"/>
                </a:lnTo>
                <a:lnTo>
                  <a:pt x="402" y="6"/>
                </a:lnTo>
                <a:lnTo>
                  <a:pt x="420" y="12"/>
                </a:lnTo>
                <a:lnTo>
                  <a:pt x="431" y="12"/>
                </a:lnTo>
                <a:lnTo>
                  <a:pt x="448" y="12"/>
                </a:lnTo>
                <a:lnTo>
                  <a:pt x="460" y="12"/>
                </a:lnTo>
                <a:lnTo>
                  <a:pt x="471" y="12"/>
                </a:lnTo>
                <a:lnTo>
                  <a:pt x="483" y="6"/>
                </a:lnTo>
                <a:lnTo>
                  <a:pt x="494" y="6"/>
                </a:lnTo>
                <a:lnTo>
                  <a:pt x="500" y="6"/>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1" name="Freeform 20"/>
          <p:cNvSpPr>
            <a:spLocks/>
          </p:cNvSpPr>
          <p:nvPr/>
        </p:nvSpPr>
        <p:spPr bwMode="auto">
          <a:xfrm>
            <a:off x="3503613" y="4641850"/>
            <a:ext cx="942975" cy="38100"/>
          </a:xfrm>
          <a:custGeom>
            <a:avLst/>
            <a:gdLst>
              <a:gd name="T0" fmla="*/ 0 w 594"/>
              <a:gd name="T1" fmla="*/ 0 h 24"/>
              <a:gd name="T2" fmla="*/ 6 w 594"/>
              <a:gd name="T3" fmla="*/ 6 h 24"/>
              <a:gd name="T4" fmla="*/ 18 w 594"/>
              <a:gd name="T5" fmla="*/ 6 h 24"/>
              <a:gd name="T6" fmla="*/ 29 w 594"/>
              <a:gd name="T7" fmla="*/ 6 h 24"/>
              <a:gd name="T8" fmla="*/ 35 w 594"/>
              <a:gd name="T9" fmla="*/ 12 h 24"/>
              <a:gd name="T10" fmla="*/ 46 w 594"/>
              <a:gd name="T11" fmla="*/ 12 h 24"/>
              <a:gd name="T12" fmla="*/ 58 w 594"/>
              <a:gd name="T13" fmla="*/ 12 h 24"/>
              <a:gd name="T14" fmla="*/ 69 w 594"/>
              <a:gd name="T15" fmla="*/ 12 h 24"/>
              <a:gd name="T16" fmla="*/ 87 w 594"/>
              <a:gd name="T17" fmla="*/ 12 h 24"/>
              <a:gd name="T18" fmla="*/ 98 w 594"/>
              <a:gd name="T19" fmla="*/ 12 h 24"/>
              <a:gd name="T20" fmla="*/ 110 w 594"/>
              <a:gd name="T21" fmla="*/ 12 h 24"/>
              <a:gd name="T22" fmla="*/ 121 w 594"/>
              <a:gd name="T23" fmla="*/ 12 h 24"/>
              <a:gd name="T24" fmla="*/ 138 w 594"/>
              <a:gd name="T25" fmla="*/ 12 h 24"/>
              <a:gd name="T26" fmla="*/ 144 w 594"/>
              <a:gd name="T27" fmla="*/ 6 h 24"/>
              <a:gd name="T28" fmla="*/ 156 w 594"/>
              <a:gd name="T29" fmla="*/ 6 h 24"/>
              <a:gd name="T30" fmla="*/ 167 w 594"/>
              <a:gd name="T31" fmla="*/ 6 h 24"/>
              <a:gd name="T32" fmla="*/ 184 w 594"/>
              <a:gd name="T33" fmla="*/ 6 h 24"/>
              <a:gd name="T34" fmla="*/ 196 w 594"/>
              <a:gd name="T35" fmla="*/ 6 h 24"/>
              <a:gd name="T36" fmla="*/ 207 w 594"/>
              <a:gd name="T37" fmla="*/ 6 h 24"/>
              <a:gd name="T38" fmla="*/ 219 w 594"/>
              <a:gd name="T39" fmla="*/ 6 h 24"/>
              <a:gd name="T40" fmla="*/ 230 w 594"/>
              <a:gd name="T41" fmla="*/ 6 h 24"/>
              <a:gd name="T42" fmla="*/ 242 w 594"/>
              <a:gd name="T43" fmla="*/ 6 h 24"/>
              <a:gd name="T44" fmla="*/ 253 w 594"/>
              <a:gd name="T45" fmla="*/ 6 h 24"/>
              <a:gd name="T46" fmla="*/ 265 w 594"/>
              <a:gd name="T47" fmla="*/ 6 h 24"/>
              <a:gd name="T48" fmla="*/ 276 w 594"/>
              <a:gd name="T49" fmla="*/ 6 h 24"/>
              <a:gd name="T50" fmla="*/ 288 w 594"/>
              <a:gd name="T51" fmla="*/ 6 h 24"/>
              <a:gd name="T52" fmla="*/ 299 w 594"/>
              <a:gd name="T53" fmla="*/ 6 h 24"/>
              <a:gd name="T54" fmla="*/ 311 w 594"/>
              <a:gd name="T55" fmla="*/ 6 h 24"/>
              <a:gd name="T56" fmla="*/ 322 w 594"/>
              <a:gd name="T57" fmla="*/ 6 h 24"/>
              <a:gd name="T58" fmla="*/ 334 w 594"/>
              <a:gd name="T59" fmla="*/ 6 h 24"/>
              <a:gd name="T60" fmla="*/ 345 w 594"/>
              <a:gd name="T61" fmla="*/ 12 h 24"/>
              <a:gd name="T62" fmla="*/ 357 w 594"/>
              <a:gd name="T63" fmla="*/ 12 h 24"/>
              <a:gd name="T64" fmla="*/ 368 w 594"/>
              <a:gd name="T65" fmla="*/ 12 h 24"/>
              <a:gd name="T66" fmla="*/ 380 w 594"/>
              <a:gd name="T67" fmla="*/ 12 h 24"/>
              <a:gd name="T68" fmla="*/ 397 w 594"/>
              <a:gd name="T69" fmla="*/ 12 h 24"/>
              <a:gd name="T70" fmla="*/ 409 w 594"/>
              <a:gd name="T71" fmla="*/ 12 h 24"/>
              <a:gd name="T72" fmla="*/ 420 w 594"/>
              <a:gd name="T73" fmla="*/ 12 h 24"/>
              <a:gd name="T74" fmla="*/ 432 w 594"/>
              <a:gd name="T75" fmla="*/ 12 h 24"/>
              <a:gd name="T76" fmla="*/ 443 w 594"/>
              <a:gd name="T77" fmla="*/ 12 h 24"/>
              <a:gd name="T78" fmla="*/ 455 w 594"/>
              <a:gd name="T79" fmla="*/ 17 h 24"/>
              <a:gd name="T80" fmla="*/ 466 w 594"/>
              <a:gd name="T81" fmla="*/ 17 h 24"/>
              <a:gd name="T82" fmla="*/ 478 w 594"/>
              <a:gd name="T83" fmla="*/ 17 h 24"/>
              <a:gd name="T84" fmla="*/ 489 w 594"/>
              <a:gd name="T85" fmla="*/ 17 h 24"/>
              <a:gd name="T86" fmla="*/ 501 w 594"/>
              <a:gd name="T87" fmla="*/ 17 h 24"/>
              <a:gd name="T88" fmla="*/ 512 w 594"/>
              <a:gd name="T89" fmla="*/ 17 h 24"/>
              <a:gd name="T90" fmla="*/ 524 w 594"/>
              <a:gd name="T91" fmla="*/ 17 h 24"/>
              <a:gd name="T92" fmla="*/ 535 w 594"/>
              <a:gd name="T93" fmla="*/ 17 h 24"/>
              <a:gd name="T94" fmla="*/ 547 w 594"/>
              <a:gd name="T95" fmla="*/ 17 h 24"/>
              <a:gd name="T96" fmla="*/ 558 w 594"/>
              <a:gd name="T97" fmla="*/ 17 h 24"/>
              <a:gd name="T98" fmla="*/ 570 w 594"/>
              <a:gd name="T99" fmla="*/ 17 h 24"/>
              <a:gd name="T100" fmla="*/ 575 w 594"/>
              <a:gd name="T101" fmla="*/ 23 h 24"/>
              <a:gd name="T102" fmla="*/ 587 w 594"/>
              <a:gd name="T103" fmla="*/ 23 h 24"/>
              <a:gd name="T104" fmla="*/ 593 w 594"/>
              <a:gd name="T105" fmla="*/ 23 h 24"/>
              <a:gd name="T106" fmla="*/ 593 w 594"/>
              <a:gd name="T107" fmla="*/ 23 h 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94"/>
              <a:gd name="T163" fmla="*/ 0 h 24"/>
              <a:gd name="T164" fmla="*/ 594 w 594"/>
              <a:gd name="T165" fmla="*/ 24 h 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94" h="24">
                <a:moveTo>
                  <a:pt x="0" y="0"/>
                </a:moveTo>
                <a:lnTo>
                  <a:pt x="6" y="6"/>
                </a:lnTo>
                <a:lnTo>
                  <a:pt x="18" y="6"/>
                </a:lnTo>
                <a:lnTo>
                  <a:pt x="29" y="6"/>
                </a:lnTo>
                <a:lnTo>
                  <a:pt x="35" y="12"/>
                </a:lnTo>
                <a:lnTo>
                  <a:pt x="46" y="12"/>
                </a:lnTo>
                <a:lnTo>
                  <a:pt x="58" y="12"/>
                </a:lnTo>
                <a:lnTo>
                  <a:pt x="69" y="12"/>
                </a:lnTo>
                <a:lnTo>
                  <a:pt x="87" y="12"/>
                </a:lnTo>
                <a:lnTo>
                  <a:pt x="98" y="12"/>
                </a:lnTo>
                <a:lnTo>
                  <a:pt x="110" y="12"/>
                </a:lnTo>
                <a:lnTo>
                  <a:pt x="121" y="12"/>
                </a:lnTo>
                <a:lnTo>
                  <a:pt x="138" y="12"/>
                </a:lnTo>
                <a:lnTo>
                  <a:pt x="144" y="6"/>
                </a:lnTo>
                <a:lnTo>
                  <a:pt x="156" y="6"/>
                </a:lnTo>
                <a:lnTo>
                  <a:pt x="167" y="6"/>
                </a:lnTo>
                <a:lnTo>
                  <a:pt x="184" y="6"/>
                </a:lnTo>
                <a:lnTo>
                  <a:pt x="196" y="6"/>
                </a:lnTo>
                <a:lnTo>
                  <a:pt x="207" y="6"/>
                </a:lnTo>
                <a:lnTo>
                  <a:pt x="219" y="6"/>
                </a:lnTo>
                <a:lnTo>
                  <a:pt x="230" y="6"/>
                </a:lnTo>
                <a:lnTo>
                  <a:pt x="242" y="6"/>
                </a:lnTo>
                <a:lnTo>
                  <a:pt x="253" y="6"/>
                </a:lnTo>
                <a:lnTo>
                  <a:pt x="265" y="6"/>
                </a:lnTo>
                <a:lnTo>
                  <a:pt x="276" y="6"/>
                </a:lnTo>
                <a:lnTo>
                  <a:pt x="288" y="6"/>
                </a:lnTo>
                <a:lnTo>
                  <a:pt x="299" y="6"/>
                </a:lnTo>
                <a:lnTo>
                  <a:pt x="311" y="6"/>
                </a:lnTo>
                <a:lnTo>
                  <a:pt x="322" y="6"/>
                </a:lnTo>
                <a:lnTo>
                  <a:pt x="334" y="6"/>
                </a:lnTo>
                <a:lnTo>
                  <a:pt x="345" y="12"/>
                </a:lnTo>
                <a:lnTo>
                  <a:pt x="357" y="12"/>
                </a:lnTo>
                <a:lnTo>
                  <a:pt x="368" y="12"/>
                </a:lnTo>
                <a:lnTo>
                  <a:pt x="380" y="12"/>
                </a:lnTo>
                <a:lnTo>
                  <a:pt x="397" y="12"/>
                </a:lnTo>
                <a:lnTo>
                  <a:pt x="409" y="12"/>
                </a:lnTo>
                <a:lnTo>
                  <a:pt x="420" y="12"/>
                </a:lnTo>
                <a:lnTo>
                  <a:pt x="432" y="12"/>
                </a:lnTo>
                <a:lnTo>
                  <a:pt x="443" y="12"/>
                </a:lnTo>
                <a:lnTo>
                  <a:pt x="455" y="17"/>
                </a:lnTo>
                <a:lnTo>
                  <a:pt x="466" y="17"/>
                </a:lnTo>
                <a:lnTo>
                  <a:pt x="478" y="17"/>
                </a:lnTo>
                <a:lnTo>
                  <a:pt x="489" y="17"/>
                </a:lnTo>
                <a:lnTo>
                  <a:pt x="501" y="17"/>
                </a:lnTo>
                <a:lnTo>
                  <a:pt x="512" y="17"/>
                </a:lnTo>
                <a:lnTo>
                  <a:pt x="524" y="17"/>
                </a:lnTo>
                <a:lnTo>
                  <a:pt x="535" y="17"/>
                </a:lnTo>
                <a:lnTo>
                  <a:pt x="547" y="17"/>
                </a:lnTo>
                <a:lnTo>
                  <a:pt x="558" y="17"/>
                </a:lnTo>
                <a:lnTo>
                  <a:pt x="570" y="17"/>
                </a:lnTo>
                <a:lnTo>
                  <a:pt x="575" y="23"/>
                </a:lnTo>
                <a:lnTo>
                  <a:pt x="587" y="23"/>
                </a:lnTo>
                <a:lnTo>
                  <a:pt x="593" y="23"/>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2" name="Freeform 21"/>
          <p:cNvSpPr>
            <a:spLocks/>
          </p:cNvSpPr>
          <p:nvPr/>
        </p:nvSpPr>
        <p:spPr bwMode="auto">
          <a:xfrm>
            <a:off x="1112838" y="6684963"/>
            <a:ext cx="649287" cy="11112"/>
          </a:xfrm>
          <a:custGeom>
            <a:avLst/>
            <a:gdLst>
              <a:gd name="T0" fmla="*/ 408 w 409"/>
              <a:gd name="T1" fmla="*/ 0 h 7"/>
              <a:gd name="T2" fmla="*/ 403 w 409"/>
              <a:gd name="T3" fmla="*/ 6 h 7"/>
              <a:gd name="T4" fmla="*/ 391 w 409"/>
              <a:gd name="T5" fmla="*/ 6 h 7"/>
              <a:gd name="T6" fmla="*/ 380 w 409"/>
              <a:gd name="T7" fmla="*/ 6 h 7"/>
              <a:gd name="T8" fmla="*/ 368 w 409"/>
              <a:gd name="T9" fmla="*/ 6 h 7"/>
              <a:gd name="T10" fmla="*/ 357 w 409"/>
              <a:gd name="T11" fmla="*/ 6 h 7"/>
              <a:gd name="T12" fmla="*/ 345 w 409"/>
              <a:gd name="T13" fmla="*/ 6 h 7"/>
              <a:gd name="T14" fmla="*/ 328 w 409"/>
              <a:gd name="T15" fmla="*/ 6 h 7"/>
              <a:gd name="T16" fmla="*/ 316 w 409"/>
              <a:gd name="T17" fmla="*/ 6 h 7"/>
              <a:gd name="T18" fmla="*/ 305 w 409"/>
              <a:gd name="T19" fmla="*/ 6 h 7"/>
              <a:gd name="T20" fmla="*/ 299 w 409"/>
              <a:gd name="T21" fmla="*/ 6 h 7"/>
              <a:gd name="T22" fmla="*/ 288 w 409"/>
              <a:gd name="T23" fmla="*/ 6 h 7"/>
              <a:gd name="T24" fmla="*/ 276 w 409"/>
              <a:gd name="T25" fmla="*/ 6 h 7"/>
              <a:gd name="T26" fmla="*/ 270 w 409"/>
              <a:gd name="T27" fmla="*/ 0 h 7"/>
              <a:gd name="T28" fmla="*/ 259 w 409"/>
              <a:gd name="T29" fmla="*/ 0 h 7"/>
              <a:gd name="T30" fmla="*/ 248 w 409"/>
              <a:gd name="T31" fmla="*/ 0 h 7"/>
              <a:gd name="T32" fmla="*/ 230 w 409"/>
              <a:gd name="T33" fmla="*/ 0 h 7"/>
              <a:gd name="T34" fmla="*/ 219 w 409"/>
              <a:gd name="T35" fmla="*/ 0 h 7"/>
              <a:gd name="T36" fmla="*/ 207 w 409"/>
              <a:gd name="T37" fmla="*/ 0 h 7"/>
              <a:gd name="T38" fmla="*/ 190 w 409"/>
              <a:gd name="T39" fmla="*/ 0 h 7"/>
              <a:gd name="T40" fmla="*/ 173 w 409"/>
              <a:gd name="T41" fmla="*/ 0 h 7"/>
              <a:gd name="T42" fmla="*/ 161 w 409"/>
              <a:gd name="T43" fmla="*/ 0 h 7"/>
              <a:gd name="T44" fmla="*/ 156 w 409"/>
              <a:gd name="T45" fmla="*/ 6 h 7"/>
              <a:gd name="T46" fmla="*/ 144 w 409"/>
              <a:gd name="T47" fmla="*/ 6 h 7"/>
              <a:gd name="T48" fmla="*/ 127 w 409"/>
              <a:gd name="T49" fmla="*/ 6 h 7"/>
              <a:gd name="T50" fmla="*/ 115 w 409"/>
              <a:gd name="T51" fmla="*/ 6 h 7"/>
              <a:gd name="T52" fmla="*/ 98 w 409"/>
              <a:gd name="T53" fmla="*/ 6 h 7"/>
              <a:gd name="T54" fmla="*/ 81 w 409"/>
              <a:gd name="T55" fmla="*/ 6 h 7"/>
              <a:gd name="T56" fmla="*/ 64 w 409"/>
              <a:gd name="T57" fmla="*/ 6 h 7"/>
              <a:gd name="T58" fmla="*/ 46 w 409"/>
              <a:gd name="T59" fmla="*/ 6 h 7"/>
              <a:gd name="T60" fmla="*/ 35 w 409"/>
              <a:gd name="T61" fmla="*/ 6 h 7"/>
              <a:gd name="T62" fmla="*/ 23 w 409"/>
              <a:gd name="T63" fmla="*/ 6 h 7"/>
              <a:gd name="T64" fmla="*/ 12 w 409"/>
              <a:gd name="T65" fmla="*/ 6 h 7"/>
              <a:gd name="T66" fmla="*/ 0 w 409"/>
              <a:gd name="T67" fmla="*/ 6 h 7"/>
              <a:gd name="T68" fmla="*/ 0 w 409"/>
              <a:gd name="T69" fmla="*/ 6 h 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09"/>
              <a:gd name="T106" fmla="*/ 0 h 7"/>
              <a:gd name="T107" fmla="*/ 409 w 409"/>
              <a:gd name="T108" fmla="*/ 7 h 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09" h="7">
                <a:moveTo>
                  <a:pt x="408" y="0"/>
                </a:moveTo>
                <a:lnTo>
                  <a:pt x="403" y="6"/>
                </a:lnTo>
                <a:lnTo>
                  <a:pt x="391" y="6"/>
                </a:lnTo>
                <a:lnTo>
                  <a:pt x="380" y="6"/>
                </a:lnTo>
                <a:lnTo>
                  <a:pt x="368" y="6"/>
                </a:lnTo>
                <a:lnTo>
                  <a:pt x="357" y="6"/>
                </a:lnTo>
                <a:lnTo>
                  <a:pt x="345" y="6"/>
                </a:lnTo>
                <a:lnTo>
                  <a:pt x="328" y="6"/>
                </a:lnTo>
                <a:lnTo>
                  <a:pt x="316" y="6"/>
                </a:lnTo>
                <a:lnTo>
                  <a:pt x="305" y="6"/>
                </a:lnTo>
                <a:lnTo>
                  <a:pt x="299" y="6"/>
                </a:lnTo>
                <a:lnTo>
                  <a:pt x="288" y="6"/>
                </a:lnTo>
                <a:lnTo>
                  <a:pt x="276" y="6"/>
                </a:lnTo>
                <a:lnTo>
                  <a:pt x="270" y="0"/>
                </a:lnTo>
                <a:lnTo>
                  <a:pt x="259" y="0"/>
                </a:lnTo>
                <a:lnTo>
                  <a:pt x="248" y="0"/>
                </a:lnTo>
                <a:lnTo>
                  <a:pt x="230" y="0"/>
                </a:lnTo>
                <a:lnTo>
                  <a:pt x="219" y="0"/>
                </a:lnTo>
                <a:lnTo>
                  <a:pt x="207" y="0"/>
                </a:lnTo>
                <a:lnTo>
                  <a:pt x="190" y="0"/>
                </a:lnTo>
                <a:lnTo>
                  <a:pt x="173" y="0"/>
                </a:lnTo>
                <a:lnTo>
                  <a:pt x="161" y="0"/>
                </a:lnTo>
                <a:lnTo>
                  <a:pt x="156" y="6"/>
                </a:lnTo>
                <a:lnTo>
                  <a:pt x="144" y="6"/>
                </a:lnTo>
                <a:lnTo>
                  <a:pt x="127" y="6"/>
                </a:lnTo>
                <a:lnTo>
                  <a:pt x="115" y="6"/>
                </a:lnTo>
                <a:lnTo>
                  <a:pt x="98" y="6"/>
                </a:lnTo>
                <a:lnTo>
                  <a:pt x="81" y="6"/>
                </a:lnTo>
                <a:lnTo>
                  <a:pt x="64" y="6"/>
                </a:lnTo>
                <a:lnTo>
                  <a:pt x="46" y="6"/>
                </a:lnTo>
                <a:lnTo>
                  <a:pt x="35" y="6"/>
                </a:lnTo>
                <a:lnTo>
                  <a:pt x="23" y="6"/>
                </a:lnTo>
                <a:lnTo>
                  <a:pt x="12" y="6"/>
                </a:lnTo>
                <a:lnTo>
                  <a:pt x="0" y="6"/>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3" name="Freeform 22"/>
          <p:cNvSpPr>
            <a:spLocks/>
          </p:cNvSpPr>
          <p:nvPr/>
        </p:nvSpPr>
        <p:spPr bwMode="auto">
          <a:xfrm>
            <a:off x="949325" y="6183313"/>
            <a:ext cx="503238" cy="19050"/>
          </a:xfrm>
          <a:custGeom>
            <a:avLst/>
            <a:gdLst>
              <a:gd name="T0" fmla="*/ 316 w 317"/>
              <a:gd name="T1" fmla="*/ 0 h 12"/>
              <a:gd name="T2" fmla="*/ 305 w 317"/>
              <a:gd name="T3" fmla="*/ 0 h 12"/>
              <a:gd name="T4" fmla="*/ 299 w 317"/>
              <a:gd name="T5" fmla="*/ 6 h 12"/>
              <a:gd name="T6" fmla="*/ 287 w 317"/>
              <a:gd name="T7" fmla="*/ 6 h 12"/>
              <a:gd name="T8" fmla="*/ 270 w 317"/>
              <a:gd name="T9" fmla="*/ 6 h 12"/>
              <a:gd name="T10" fmla="*/ 259 w 317"/>
              <a:gd name="T11" fmla="*/ 6 h 12"/>
              <a:gd name="T12" fmla="*/ 241 w 317"/>
              <a:gd name="T13" fmla="*/ 6 h 12"/>
              <a:gd name="T14" fmla="*/ 230 w 317"/>
              <a:gd name="T15" fmla="*/ 6 h 12"/>
              <a:gd name="T16" fmla="*/ 218 w 317"/>
              <a:gd name="T17" fmla="*/ 6 h 12"/>
              <a:gd name="T18" fmla="*/ 201 w 317"/>
              <a:gd name="T19" fmla="*/ 6 h 12"/>
              <a:gd name="T20" fmla="*/ 190 w 317"/>
              <a:gd name="T21" fmla="*/ 0 h 12"/>
              <a:gd name="T22" fmla="*/ 178 w 317"/>
              <a:gd name="T23" fmla="*/ 0 h 12"/>
              <a:gd name="T24" fmla="*/ 161 w 317"/>
              <a:gd name="T25" fmla="*/ 0 h 12"/>
              <a:gd name="T26" fmla="*/ 149 w 317"/>
              <a:gd name="T27" fmla="*/ 0 h 12"/>
              <a:gd name="T28" fmla="*/ 138 w 317"/>
              <a:gd name="T29" fmla="*/ 0 h 12"/>
              <a:gd name="T30" fmla="*/ 121 w 317"/>
              <a:gd name="T31" fmla="*/ 6 h 12"/>
              <a:gd name="T32" fmla="*/ 109 w 317"/>
              <a:gd name="T33" fmla="*/ 0 h 12"/>
              <a:gd name="T34" fmla="*/ 98 w 317"/>
              <a:gd name="T35" fmla="*/ 6 h 12"/>
              <a:gd name="T36" fmla="*/ 86 w 317"/>
              <a:gd name="T37" fmla="*/ 6 h 12"/>
              <a:gd name="T38" fmla="*/ 75 w 317"/>
              <a:gd name="T39" fmla="*/ 6 h 12"/>
              <a:gd name="T40" fmla="*/ 63 w 317"/>
              <a:gd name="T41" fmla="*/ 6 h 12"/>
              <a:gd name="T42" fmla="*/ 46 w 317"/>
              <a:gd name="T43" fmla="*/ 6 h 12"/>
              <a:gd name="T44" fmla="*/ 34 w 317"/>
              <a:gd name="T45" fmla="*/ 6 h 12"/>
              <a:gd name="T46" fmla="*/ 23 w 317"/>
              <a:gd name="T47" fmla="*/ 6 h 12"/>
              <a:gd name="T48" fmla="*/ 11 w 317"/>
              <a:gd name="T49" fmla="*/ 6 h 12"/>
              <a:gd name="T50" fmla="*/ 6 w 317"/>
              <a:gd name="T51" fmla="*/ 11 h 12"/>
              <a:gd name="T52" fmla="*/ 0 w 317"/>
              <a:gd name="T53" fmla="*/ 11 h 12"/>
              <a:gd name="T54" fmla="*/ 0 w 317"/>
              <a:gd name="T55" fmla="*/ 11 h 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17"/>
              <a:gd name="T85" fmla="*/ 0 h 12"/>
              <a:gd name="T86" fmla="*/ 317 w 317"/>
              <a:gd name="T87" fmla="*/ 12 h 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17" h="12">
                <a:moveTo>
                  <a:pt x="316" y="0"/>
                </a:moveTo>
                <a:lnTo>
                  <a:pt x="305" y="0"/>
                </a:lnTo>
                <a:lnTo>
                  <a:pt x="299" y="6"/>
                </a:lnTo>
                <a:lnTo>
                  <a:pt x="287" y="6"/>
                </a:lnTo>
                <a:lnTo>
                  <a:pt x="270" y="6"/>
                </a:lnTo>
                <a:lnTo>
                  <a:pt x="259" y="6"/>
                </a:lnTo>
                <a:lnTo>
                  <a:pt x="241" y="6"/>
                </a:lnTo>
                <a:lnTo>
                  <a:pt x="230" y="6"/>
                </a:lnTo>
                <a:lnTo>
                  <a:pt x="218" y="6"/>
                </a:lnTo>
                <a:lnTo>
                  <a:pt x="201" y="6"/>
                </a:lnTo>
                <a:lnTo>
                  <a:pt x="190" y="0"/>
                </a:lnTo>
                <a:lnTo>
                  <a:pt x="178" y="0"/>
                </a:lnTo>
                <a:lnTo>
                  <a:pt x="161" y="0"/>
                </a:lnTo>
                <a:lnTo>
                  <a:pt x="149" y="0"/>
                </a:lnTo>
                <a:lnTo>
                  <a:pt x="138" y="0"/>
                </a:lnTo>
                <a:lnTo>
                  <a:pt x="121" y="6"/>
                </a:lnTo>
                <a:lnTo>
                  <a:pt x="109" y="0"/>
                </a:lnTo>
                <a:lnTo>
                  <a:pt x="98" y="6"/>
                </a:lnTo>
                <a:lnTo>
                  <a:pt x="86" y="6"/>
                </a:lnTo>
                <a:lnTo>
                  <a:pt x="75" y="6"/>
                </a:lnTo>
                <a:lnTo>
                  <a:pt x="63" y="6"/>
                </a:lnTo>
                <a:lnTo>
                  <a:pt x="46" y="6"/>
                </a:lnTo>
                <a:lnTo>
                  <a:pt x="34" y="6"/>
                </a:lnTo>
                <a:lnTo>
                  <a:pt x="23" y="6"/>
                </a:lnTo>
                <a:lnTo>
                  <a:pt x="11" y="6"/>
                </a:lnTo>
                <a:lnTo>
                  <a:pt x="6" y="11"/>
                </a:lnTo>
                <a:lnTo>
                  <a:pt x="0" y="11"/>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4" name="Freeform 23"/>
          <p:cNvSpPr>
            <a:spLocks/>
          </p:cNvSpPr>
          <p:nvPr/>
        </p:nvSpPr>
        <p:spPr bwMode="auto">
          <a:xfrm>
            <a:off x="939800" y="6402388"/>
            <a:ext cx="768350" cy="19050"/>
          </a:xfrm>
          <a:custGeom>
            <a:avLst/>
            <a:gdLst>
              <a:gd name="T0" fmla="*/ 483 w 484"/>
              <a:gd name="T1" fmla="*/ 11 h 12"/>
              <a:gd name="T2" fmla="*/ 477 w 484"/>
              <a:gd name="T3" fmla="*/ 6 h 12"/>
              <a:gd name="T4" fmla="*/ 466 w 484"/>
              <a:gd name="T5" fmla="*/ 6 h 12"/>
              <a:gd name="T6" fmla="*/ 448 w 484"/>
              <a:gd name="T7" fmla="*/ 6 h 12"/>
              <a:gd name="T8" fmla="*/ 431 w 484"/>
              <a:gd name="T9" fmla="*/ 6 h 12"/>
              <a:gd name="T10" fmla="*/ 420 w 484"/>
              <a:gd name="T11" fmla="*/ 0 h 12"/>
              <a:gd name="T12" fmla="*/ 408 w 484"/>
              <a:gd name="T13" fmla="*/ 0 h 12"/>
              <a:gd name="T14" fmla="*/ 391 w 484"/>
              <a:gd name="T15" fmla="*/ 0 h 12"/>
              <a:gd name="T16" fmla="*/ 379 w 484"/>
              <a:gd name="T17" fmla="*/ 0 h 12"/>
              <a:gd name="T18" fmla="*/ 368 w 484"/>
              <a:gd name="T19" fmla="*/ 0 h 12"/>
              <a:gd name="T20" fmla="*/ 351 w 484"/>
              <a:gd name="T21" fmla="*/ 0 h 12"/>
              <a:gd name="T22" fmla="*/ 339 w 484"/>
              <a:gd name="T23" fmla="*/ 0 h 12"/>
              <a:gd name="T24" fmla="*/ 322 w 484"/>
              <a:gd name="T25" fmla="*/ 0 h 12"/>
              <a:gd name="T26" fmla="*/ 311 w 484"/>
              <a:gd name="T27" fmla="*/ 0 h 12"/>
              <a:gd name="T28" fmla="*/ 293 w 484"/>
              <a:gd name="T29" fmla="*/ 0 h 12"/>
              <a:gd name="T30" fmla="*/ 276 w 484"/>
              <a:gd name="T31" fmla="*/ 0 h 12"/>
              <a:gd name="T32" fmla="*/ 265 w 484"/>
              <a:gd name="T33" fmla="*/ 0 h 12"/>
              <a:gd name="T34" fmla="*/ 247 w 484"/>
              <a:gd name="T35" fmla="*/ 0 h 12"/>
              <a:gd name="T36" fmla="*/ 230 w 484"/>
              <a:gd name="T37" fmla="*/ 0 h 12"/>
              <a:gd name="T38" fmla="*/ 219 w 484"/>
              <a:gd name="T39" fmla="*/ 0 h 12"/>
              <a:gd name="T40" fmla="*/ 207 w 484"/>
              <a:gd name="T41" fmla="*/ 0 h 12"/>
              <a:gd name="T42" fmla="*/ 190 w 484"/>
              <a:gd name="T43" fmla="*/ 0 h 12"/>
              <a:gd name="T44" fmla="*/ 178 w 484"/>
              <a:gd name="T45" fmla="*/ 0 h 12"/>
              <a:gd name="T46" fmla="*/ 161 w 484"/>
              <a:gd name="T47" fmla="*/ 0 h 12"/>
              <a:gd name="T48" fmla="*/ 150 w 484"/>
              <a:gd name="T49" fmla="*/ 0 h 12"/>
              <a:gd name="T50" fmla="*/ 132 w 484"/>
              <a:gd name="T51" fmla="*/ 6 h 12"/>
              <a:gd name="T52" fmla="*/ 121 w 484"/>
              <a:gd name="T53" fmla="*/ 6 h 12"/>
              <a:gd name="T54" fmla="*/ 109 w 484"/>
              <a:gd name="T55" fmla="*/ 6 h 12"/>
              <a:gd name="T56" fmla="*/ 98 w 484"/>
              <a:gd name="T57" fmla="*/ 6 h 12"/>
              <a:gd name="T58" fmla="*/ 86 w 484"/>
              <a:gd name="T59" fmla="*/ 6 h 12"/>
              <a:gd name="T60" fmla="*/ 69 w 484"/>
              <a:gd name="T61" fmla="*/ 11 h 12"/>
              <a:gd name="T62" fmla="*/ 52 w 484"/>
              <a:gd name="T63" fmla="*/ 11 h 12"/>
              <a:gd name="T64" fmla="*/ 40 w 484"/>
              <a:gd name="T65" fmla="*/ 11 h 12"/>
              <a:gd name="T66" fmla="*/ 29 w 484"/>
              <a:gd name="T67" fmla="*/ 11 h 12"/>
              <a:gd name="T68" fmla="*/ 17 w 484"/>
              <a:gd name="T69" fmla="*/ 6 h 12"/>
              <a:gd name="T70" fmla="*/ 6 w 484"/>
              <a:gd name="T71" fmla="*/ 6 h 12"/>
              <a:gd name="T72" fmla="*/ 0 w 484"/>
              <a:gd name="T73" fmla="*/ 6 h 12"/>
              <a:gd name="T74" fmla="*/ 0 w 484"/>
              <a:gd name="T75" fmla="*/ 6 h 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84"/>
              <a:gd name="T115" fmla="*/ 0 h 12"/>
              <a:gd name="T116" fmla="*/ 484 w 484"/>
              <a:gd name="T117" fmla="*/ 12 h 1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84" h="12">
                <a:moveTo>
                  <a:pt x="483" y="11"/>
                </a:moveTo>
                <a:lnTo>
                  <a:pt x="477" y="6"/>
                </a:lnTo>
                <a:lnTo>
                  <a:pt x="466" y="6"/>
                </a:lnTo>
                <a:lnTo>
                  <a:pt x="448" y="6"/>
                </a:lnTo>
                <a:lnTo>
                  <a:pt x="431" y="6"/>
                </a:lnTo>
                <a:lnTo>
                  <a:pt x="420" y="0"/>
                </a:lnTo>
                <a:lnTo>
                  <a:pt x="408" y="0"/>
                </a:lnTo>
                <a:lnTo>
                  <a:pt x="391" y="0"/>
                </a:lnTo>
                <a:lnTo>
                  <a:pt x="379" y="0"/>
                </a:lnTo>
                <a:lnTo>
                  <a:pt x="368" y="0"/>
                </a:lnTo>
                <a:lnTo>
                  <a:pt x="351" y="0"/>
                </a:lnTo>
                <a:lnTo>
                  <a:pt x="339" y="0"/>
                </a:lnTo>
                <a:lnTo>
                  <a:pt x="322" y="0"/>
                </a:lnTo>
                <a:lnTo>
                  <a:pt x="311" y="0"/>
                </a:lnTo>
                <a:lnTo>
                  <a:pt x="293" y="0"/>
                </a:lnTo>
                <a:lnTo>
                  <a:pt x="276" y="0"/>
                </a:lnTo>
                <a:lnTo>
                  <a:pt x="265" y="0"/>
                </a:lnTo>
                <a:lnTo>
                  <a:pt x="247" y="0"/>
                </a:lnTo>
                <a:lnTo>
                  <a:pt x="230" y="0"/>
                </a:lnTo>
                <a:lnTo>
                  <a:pt x="219" y="0"/>
                </a:lnTo>
                <a:lnTo>
                  <a:pt x="207" y="0"/>
                </a:lnTo>
                <a:lnTo>
                  <a:pt x="190" y="0"/>
                </a:lnTo>
                <a:lnTo>
                  <a:pt x="178" y="0"/>
                </a:lnTo>
                <a:lnTo>
                  <a:pt x="161" y="0"/>
                </a:lnTo>
                <a:lnTo>
                  <a:pt x="150" y="0"/>
                </a:lnTo>
                <a:lnTo>
                  <a:pt x="132" y="6"/>
                </a:lnTo>
                <a:lnTo>
                  <a:pt x="121" y="6"/>
                </a:lnTo>
                <a:lnTo>
                  <a:pt x="109" y="6"/>
                </a:lnTo>
                <a:lnTo>
                  <a:pt x="98" y="6"/>
                </a:lnTo>
                <a:lnTo>
                  <a:pt x="86" y="6"/>
                </a:lnTo>
                <a:lnTo>
                  <a:pt x="69" y="11"/>
                </a:lnTo>
                <a:lnTo>
                  <a:pt x="52" y="11"/>
                </a:lnTo>
                <a:lnTo>
                  <a:pt x="40" y="11"/>
                </a:lnTo>
                <a:lnTo>
                  <a:pt x="29" y="11"/>
                </a:lnTo>
                <a:lnTo>
                  <a:pt x="17" y="6"/>
                </a:lnTo>
                <a:lnTo>
                  <a:pt x="6" y="6"/>
                </a:lnTo>
                <a:lnTo>
                  <a:pt x="0" y="6"/>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5" name="Freeform 24"/>
          <p:cNvSpPr>
            <a:spLocks/>
          </p:cNvSpPr>
          <p:nvPr/>
        </p:nvSpPr>
        <p:spPr bwMode="auto">
          <a:xfrm>
            <a:off x="857250" y="5654675"/>
            <a:ext cx="203200" cy="9525"/>
          </a:xfrm>
          <a:custGeom>
            <a:avLst/>
            <a:gdLst>
              <a:gd name="T0" fmla="*/ 127 w 128"/>
              <a:gd name="T1" fmla="*/ 0 h 6"/>
              <a:gd name="T2" fmla="*/ 115 w 128"/>
              <a:gd name="T3" fmla="*/ 0 h 6"/>
              <a:gd name="T4" fmla="*/ 98 w 128"/>
              <a:gd name="T5" fmla="*/ 0 h 6"/>
              <a:gd name="T6" fmla="*/ 87 w 128"/>
              <a:gd name="T7" fmla="*/ 0 h 6"/>
              <a:gd name="T8" fmla="*/ 75 w 128"/>
              <a:gd name="T9" fmla="*/ 0 h 6"/>
              <a:gd name="T10" fmla="*/ 58 w 128"/>
              <a:gd name="T11" fmla="*/ 0 h 6"/>
              <a:gd name="T12" fmla="*/ 46 w 128"/>
              <a:gd name="T13" fmla="*/ 0 h 6"/>
              <a:gd name="T14" fmla="*/ 35 w 128"/>
              <a:gd name="T15" fmla="*/ 0 h 6"/>
              <a:gd name="T16" fmla="*/ 23 w 128"/>
              <a:gd name="T17" fmla="*/ 0 h 6"/>
              <a:gd name="T18" fmla="*/ 18 w 128"/>
              <a:gd name="T19" fmla="*/ 5 h 6"/>
              <a:gd name="T20" fmla="*/ 6 w 128"/>
              <a:gd name="T21" fmla="*/ 5 h 6"/>
              <a:gd name="T22" fmla="*/ 0 w 128"/>
              <a:gd name="T23" fmla="*/ 5 h 6"/>
              <a:gd name="T24" fmla="*/ 0 w 128"/>
              <a:gd name="T25" fmla="*/ 5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8"/>
              <a:gd name="T40" fmla="*/ 0 h 6"/>
              <a:gd name="T41" fmla="*/ 128 w 128"/>
              <a:gd name="T42" fmla="*/ 6 h 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8" h="6">
                <a:moveTo>
                  <a:pt x="127" y="0"/>
                </a:moveTo>
                <a:lnTo>
                  <a:pt x="115" y="0"/>
                </a:lnTo>
                <a:lnTo>
                  <a:pt x="98" y="0"/>
                </a:lnTo>
                <a:lnTo>
                  <a:pt x="87" y="0"/>
                </a:lnTo>
                <a:lnTo>
                  <a:pt x="75" y="0"/>
                </a:lnTo>
                <a:lnTo>
                  <a:pt x="58" y="0"/>
                </a:lnTo>
                <a:lnTo>
                  <a:pt x="46" y="0"/>
                </a:lnTo>
                <a:lnTo>
                  <a:pt x="35" y="0"/>
                </a:lnTo>
                <a:lnTo>
                  <a:pt x="23" y="0"/>
                </a:lnTo>
                <a:lnTo>
                  <a:pt x="18" y="5"/>
                </a:lnTo>
                <a:lnTo>
                  <a:pt x="6" y="5"/>
                </a:lnTo>
                <a:lnTo>
                  <a:pt x="0" y="5"/>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6" name="Freeform 25"/>
          <p:cNvSpPr>
            <a:spLocks/>
          </p:cNvSpPr>
          <p:nvPr/>
        </p:nvSpPr>
        <p:spPr bwMode="auto">
          <a:xfrm>
            <a:off x="866775" y="5837238"/>
            <a:ext cx="247650" cy="9525"/>
          </a:xfrm>
          <a:custGeom>
            <a:avLst/>
            <a:gdLst>
              <a:gd name="T0" fmla="*/ 155 w 156"/>
              <a:gd name="T1" fmla="*/ 0 h 6"/>
              <a:gd name="T2" fmla="*/ 144 w 156"/>
              <a:gd name="T3" fmla="*/ 0 h 6"/>
              <a:gd name="T4" fmla="*/ 127 w 156"/>
              <a:gd name="T5" fmla="*/ 0 h 6"/>
              <a:gd name="T6" fmla="*/ 104 w 156"/>
              <a:gd name="T7" fmla="*/ 0 h 6"/>
              <a:gd name="T8" fmla="*/ 92 w 156"/>
              <a:gd name="T9" fmla="*/ 0 h 6"/>
              <a:gd name="T10" fmla="*/ 81 w 156"/>
              <a:gd name="T11" fmla="*/ 0 h 6"/>
              <a:gd name="T12" fmla="*/ 63 w 156"/>
              <a:gd name="T13" fmla="*/ 0 h 6"/>
              <a:gd name="T14" fmla="*/ 52 w 156"/>
              <a:gd name="T15" fmla="*/ 0 h 6"/>
              <a:gd name="T16" fmla="*/ 40 w 156"/>
              <a:gd name="T17" fmla="*/ 0 h 6"/>
              <a:gd name="T18" fmla="*/ 29 w 156"/>
              <a:gd name="T19" fmla="*/ 0 h 6"/>
              <a:gd name="T20" fmla="*/ 17 w 156"/>
              <a:gd name="T21" fmla="*/ 0 h 6"/>
              <a:gd name="T22" fmla="*/ 6 w 156"/>
              <a:gd name="T23" fmla="*/ 5 h 6"/>
              <a:gd name="T24" fmla="*/ 0 w 156"/>
              <a:gd name="T25" fmla="*/ 5 h 6"/>
              <a:gd name="T26" fmla="*/ 0 w 156"/>
              <a:gd name="T27" fmla="*/ 5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6"/>
              <a:gd name="T43" fmla="*/ 0 h 6"/>
              <a:gd name="T44" fmla="*/ 156 w 156"/>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6" h="6">
                <a:moveTo>
                  <a:pt x="155" y="0"/>
                </a:moveTo>
                <a:lnTo>
                  <a:pt x="144" y="0"/>
                </a:lnTo>
                <a:lnTo>
                  <a:pt x="127" y="0"/>
                </a:lnTo>
                <a:lnTo>
                  <a:pt x="104" y="0"/>
                </a:lnTo>
                <a:lnTo>
                  <a:pt x="92" y="0"/>
                </a:lnTo>
                <a:lnTo>
                  <a:pt x="81" y="0"/>
                </a:lnTo>
                <a:lnTo>
                  <a:pt x="63" y="0"/>
                </a:lnTo>
                <a:lnTo>
                  <a:pt x="52" y="0"/>
                </a:lnTo>
                <a:lnTo>
                  <a:pt x="40" y="0"/>
                </a:lnTo>
                <a:lnTo>
                  <a:pt x="29" y="0"/>
                </a:lnTo>
                <a:lnTo>
                  <a:pt x="17" y="0"/>
                </a:lnTo>
                <a:lnTo>
                  <a:pt x="6" y="5"/>
                </a:lnTo>
                <a:lnTo>
                  <a:pt x="0" y="5"/>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7" name="Freeform 26"/>
          <p:cNvSpPr>
            <a:spLocks/>
          </p:cNvSpPr>
          <p:nvPr/>
        </p:nvSpPr>
        <p:spPr bwMode="auto">
          <a:xfrm>
            <a:off x="1989138" y="6592888"/>
            <a:ext cx="157162" cy="38100"/>
          </a:xfrm>
          <a:custGeom>
            <a:avLst/>
            <a:gdLst>
              <a:gd name="T0" fmla="*/ 98 w 99"/>
              <a:gd name="T1" fmla="*/ 0 h 24"/>
              <a:gd name="T2" fmla="*/ 92 w 99"/>
              <a:gd name="T3" fmla="*/ 6 h 24"/>
              <a:gd name="T4" fmla="*/ 81 w 99"/>
              <a:gd name="T5" fmla="*/ 6 h 24"/>
              <a:gd name="T6" fmla="*/ 69 w 99"/>
              <a:gd name="T7" fmla="*/ 12 h 24"/>
              <a:gd name="T8" fmla="*/ 58 w 99"/>
              <a:gd name="T9" fmla="*/ 12 h 24"/>
              <a:gd name="T10" fmla="*/ 40 w 99"/>
              <a:gd name="T11" fmla="*/ 18 h 24"/>
              <a:gd name="T12" fmla="*/ 23 w 99"/>
              <a:gd name="T13" fmla="*/ 18 h 24"/>
              <a:gd name="T14" fmla="*/ 17 w 99"/>
              <a:gd name="T15" fmla="*/ 23 h 24"/>
              <a:gd name="T16" fmla="*/ 6 w 99"/>
              <a:gd name="T17" fmla="*/ 23 h 24"/>
              <a:gd name="T18" fmla="*/ 0 w 99"/>
              <a:gd name="T19" fmla="*/ 23 h 24"/>
              <a:gd name="T20" fmla="*/ 0 w 99"/>
              <a:gd name="T21" fmla="*/ 23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9"/>
              <a:gd name="T34" fmla="*/ 0 h 24"/>
              <a:gd name="T35" fmla="*/ 99 w 99"/>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9" h="24">
                <a:moveTo>
                  <a:pt x="98" y="0"/>
                </a:moveTo>
                <a:lnTo>
                  <a:pt x="92" y="6"/>
                </a:lnTo>
                <a:lnTo>
                  <a:pt x="81" y="6"/>
                </a:lnTo>
                <a:lnTo>
                  <a:pt x="69" y="12"/>
                </a:lnTo>
                <a:lnTo>
                  <a:pt x="58" y="12"/>
                </a:lnTo>
                <a:lnTo>
                  <a:pt x="40" y="18"/>
                </a:lnTo>
                <a:lnTo>
                  <a:pt x="23" y="18"/>
                </a:lnTo>
                <a:lnTo>
                  <a:pt x="17" y="23"/>
                </a:lnTo>
                <a:lnTo>
                  <a:pt x="6" y="23"/>
                </a:lnTo>
                <a:lnTo>
                  <a:pt x="0" y="23"/>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8" name="Freeform 27"/>
          <p:cNvSpPr>
            <a:spLocks/>
          </p:cNvSpPr>
          <p:nvPr/>
        </p:nvSpPr>
        <p:spPr bwMode="auto">
          <a:xfrm>
            <a:off x="4964113" y="6265863"/>
            <a:ext cx="485775" cy="38100"/>
          </a:xfrm>
          <a:custGeom>
            <a:avLst/>
            <a:gdLst>
              <a:gd name="T0" fmla="*/ 0 w 306"/>
              <a:gd name="T1" fmla="*/ 0 h 24"/>
              <a:gd name="T2" fmla="*/ 12 w 306"/>
              <a:gd name="T3" fmla="*/ 0 h 24"/>
              <a:gd name="T4" fmla="*/ 23 w 306"/>
              <a:gd name="T5" fmla="*/ 0 h 24"/>
              <a:gd name="T6" fmla="*/ 35 w 306"/>
              <a:gd name="T7" fmla="*/ 0 h 24"/>
              <a:gd name="T8" fmla="*/ 46 w 306"/>
              <a:gd name="T9" fmla="*/ 0 h 24"/>
              <a:gd name="T10" fmla="*/ 63 w 306"/>
              <a:gd name="T11" fmla="*/ 0 h 24"/>
              <a:gd name="T12" fmla="*/ 75 w 306"/>
              <a:gd name="T13" fmla="*/ 5 h 24"/>
              <a:gd name="T14" fmla="*/ 86 w 306"/>
              <a:gd name="T15" fmla="*/ 5 h 24"/>
              <a:gd name="T16" fmla="*/ 104 w 306"/>
              <a:gd name="T17" fmla="*/ 5 h 24"/>
              <a:gd name="T18" fmla="*/ 115 w 306"/>
              <a:gd name="T19" fmla="*/ 5 h 24"/>
              <a:gd name="T20" fmla="*/ 132 w 306"/>
              <a:gd name="T21" fmla="*/ 5 h 24"/>
              <a:gd name="T22" fmla="*/ 138 w 306"/>
              <a:gd name="T23" fmla="*/ 11 h 24"/>
              <a:gd name="T24" fmla="*/ 150 w 306"/>
              <a:gd name="T25" fmla="*/ 11 h 24"/>
              <a:gd name="T26" fmla="*/ 161 w 306"/>
              <a:gd name="T27" fmla="*/ 11 h 24"/>
              <a:gd name="T28" fmla="*/ 173 w 306"/>
              <a:gd name="T29" fmla="*/ 11 h 24"/>
              <a:gd name="T30" fmla="*/ 184 w 306"/>
              <a:gd name="T31" fmla="*/ 17 h 24"/>
              <a:gd name="T32" fmla="*/ 196 w 306"/>
              <a:gd name="T33" fmla="*/ 17 h 24"/>
              <a:gd name="T34" fmla="*/ 213 w 306"/>
              <a:gd name="T35" fmla="*/ 17 h 24"/>
              <a:gd name="T36" fmla="*/ 224 w 306"/>
              <a:gd name="T37" fmla="*/ 17 h 24"/>
              <a:gd name="T38" fmla="*/ 230 w 306"/>
              <a:gd name="T39" fmla="*/ 23 h 24"/>
              <a:gd name="T40" fmla="*/ 242 w 306"/>
              <a:gd name="T41" fmla="*/ 23 h 24"/>
              <a:gd name="T42" fmla="*/ 253 w 306"/>
              <a:gd name="T43" fmla="*/ 23 h 24"/>
              <a:gd name="T44" fmla="*/ 265 w 306"/>
              <a:gd name="T45" fmla="*/ 23 h 24"/>
              <a:gd name="T46" fmla="*/ 276 w 306"/>
              <a:gd name="T47" fmla="*/ 23 h 24"/>
              <a:gd name="T48" fmla="*/ 288 w 306"/>
              <a:gd name="T49" fmla="*/ 23 h 24"/>
              <a:gd name="T50" fmla="*/ 299 w 306"/>
              <a:gd name="T51" fmla="*/ 23 h 24"/>
              <a:gd name="T52" fmla="*/ 305 w 306"/>
              <a:gd name="T53" fmla="*/ 23 h 24"/>
              <a:gd name="T54" fmla="*/ 305 w 306"/>
              <a:gd name="T55" fmla="*/ 23 h 2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06"/>
              <a:gd name="T85" fmla="*/ 0 h 24"/>
              <a:gd name="T86" fmla="*/ 306 w 306"/>
              <a:gd name="T87" fmla="*/ 24 h 2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06" h="24">
                <a:moveTo>
                  <a:pt x="0" y="0"/>
                </a:moveTo>
                <a:lnTo>
                  <a:pt x="12" y="0"/>
                </a:lnTo>
                <a:lnTo>
                  <a:pt x="23" y="0"/>
                </a:lnTo>
                <a:lnTo>
                  <a:pt x="35" y="0"/>
                </a:lnTo>
                <a:lnTo>
                  <a:pt x="46" y="0"/>
                </a:lnTo>
                <a:lnTo>
                  <a:pt x="63" y="0"/>
                </a:lnTo>
                <a:lnTo>
                  <a:pt x="75" y="5"/>
                </a:lnTo>
                <a:lnTo>
                  <a:pt x="86" y="5"/>
                </a:lnTo>
                <a:lnTo>
                  <a:pt x="104" y="5"/>
                </a:lnTo>
                <a:lnTo>
                  <a:pt x="115" y="5"/>
                </a:lnTo>
                <a:lnTo>
                  <a:pt x="132" y="5"/>
                </a:lnTo>
                <a:lnTo>
                  <a:pt x="138" y="11"/>
                </a:lnTo>
                <a:lnTo>
                  <a:pt x="150" y="11"/>
                </a:lnTo>
                <a:lnTo>
                  <a:pt x="161" y="11"/>
                </a:lnTo>
                <a:lnTo>
                  <a:pt x="173" y="11"/>
                </a:lnTo>
                <a:lnTo>
                  <a:pt x="184" y="17"/>
                </a:lnTo>
                <a:lnTo>
                  <a:pt x="196" y="17"/>
                </a:lnTo>
                <a:lnTo>
                  <a:pt x="213" y="17"/>
                </a:lnTo>
                <a:lnTo>
                  <a:pt x="224" y="17"/>
                </a:lnTo>
                <a:lnTo>
                  <a:pt x="230" y="23"/>
                </a:lnTo>
                <a:lnTo>
                  <a:pt x="242" y="23"/>
                </a:lnTo>
                <a:lnTo>
                  <a:pt x="253" y="23"/>
                </a:lnTo>
                <a:lnTo>
                  <a:pt x="265" y="23"/>
                </a:lnTo>
                <a:lnTo>
                  <a:pt x="276" y="23"/>
                </a:lnTo>
                <a:lnTo>
                  <a:pt x="288" y="23"/>
                </a:lnTo>
                <a:lnTo>
                  <a:pt x="299" y="23"/>
                </a:lnTo>
                <a:lnTo>
                  <a:pt x="305" y="23"/>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09" name="Freeform 28"/>
          <p:cNvSpPr>
            <a:spLocks/>
          </p:cNvSpPr>
          <p:nvPr/>
        </p:nvSpPr>
        <p:spPr bwMode="auto">
          <a:xfrm>
            <a:off x="6853238" y="4405313"/>
            <a:ext cx="685800" cy="65087"/>
          </a:xfrm>
          <a:custGeom>
            <a:avLst/>
            <a:gdLst>
              <a:gd name="T0" fmla="*/ 0 w 432"/>
              <a:gd name="T1" fmla="*/ 5 h 41"/>
              <a:gd name="T2" fmla="*/ 12 w 432"/>
              <a:gd name="T3" fmla="*/ 5 h 41"/>
              <a:gd name="T4" fmla="*/ 23 w 432"/>
              <a:gd name="T5" fmla="*/ 0 h 41"/>
              <a:gd name="T6" fmla="*/ 35 w 432"/>
              <a:gd name="T7" fmla="*/ 0 h 41"/>
              <a:gd name="T8" fmla="*/ 46 w 432"/>
              <a:gd name="T9" fmla="*/ 0 h 41"/>
              <a:gd name="T10" fmla="*/ 58 w 432"/>
              <a:gd name="T11" fmla="*/ 5 h 41"/>
              <a:gd name="T12" fmla="*/ 69 w 432"/>
              <a:gd name="T13" fmla="*/ 5 h 41"/>
              <a:gd name="T14" fmla="*/ 81 w 432"/>
              <a:gd name="T15" fmla="*/ 5 h 41"/>
              <a:gd name="T16" fmla="*/ 92 w 432"/>
              <a:gd name="T17" fmla="*/ 5 h 41"/>
              <a:gd name="T18" fmla="*/ 104 w 432"/>
              <a:gd name="T19" fmla="*/ 5 h 41"/>
              <a:gd name="T20" fmla="*/ 115 w 432"/>
              <a:gd name="T21" fmla="*/ 5 h 41"/>
              <a:gd name="T22" fmla="*/ 132 w 432"/>
              <a:gd name="T23" fmla="*/ 11 h 41"/>
              <a:gd name="T24" fmla="*/ 150 w 432"/>
              <a:gd name="T25" fmla="*/ 11 h 41"/>
              <a:gd name="T26" fmla="*/ 167 w 432"/>
              <a:gd name="T27" fmla="*/ 11 h 41"/>
              <a:gd name="T28" fmla="*/ 184 w 432"/>
              <a:gd name="T29" fmla="*/ 11 h 41"/>
              <a:gd name="T30" fmla="*/ 201 w 432"/>
              <a:gd name="T31" fmla="*/ 17 h 41"/>
              <a:gd name="T32" fmla="*/ 219 w 432"/>
              <a:gd name="T33" fmla="*/ 17 h 41"/>
              <a:gd name="T34" fmla="*/ 236 w 432"/>
              <a:gd name="T35" fmla="*/ 23 h 41"/>
              <a:gd name="T36" fmla="*/ 247 w 432"/>
              <a:gd name="T37" fmla="*/ 23 h 41"/>
              <a:gd name="T38" fmla="*/ 265 w 432"/>
              <a:gd name="T39" fmla="*/ 23 h 41"/>
              <a:gd name="T40" fmla="*/ 282 w 432"/>
              <a:gd name="T41" fmla="*/ 23 h 41"/>
              <a:gd name="T42" fmla="*/ 293 w 432"/>
              <a:gd name="T43" fmla="*/ 23 h 41"/>
              <a:gd name="T44" fmla="*/ 311 w 432"/>
              <a:gd name="T45" fmla="*/ 28 h 41"/>
              <a:gd name="T46" fmla="*/ 328 w 432"/>
              <a:gd name="T47" fmla="*/ 28 h 41"/>
              <a:gd name="T48" fmla="*/ 339 w 432"/>
              <a:gd name="T49" fmla="*/ 28 h 41"/>
              <a:gd name="T50" fmla="*/ 351 w 432"/>
              <a:gd name="T51" fmla="*/ 28 h 41"/>
              <a:gd name="T52" fmla="*/ 368 w 432"/>
              <a:gd name="T53" fmla="*/ 28 h 41"/>
              <a:gd name="T54" fmla="*/ 380 w 432"/>
              <a:gd name="T55" fmla="*/ 34 h 41"/>
              <a:gd name="T56" fmla="*/ 391 w 432"/>
              <a:gd name="T57" fmla="*/ 34 h 41"/>
              <a:gd name="T58" fmla="*/ 403 w 432"/>
              <a:gd name="T59" fmla="*/ 34 h 41"/>
              <a:gd name="T60" fmla="*/ 420 w 432"/>
              <a:gd name="T61" fmla="*/ 34 h 41"/>
              <a:gd name="T62" fmla="*/ 426 w 432"/>
              <a:gd name="T63" fmla="*/ 40 h 41"/>
              <a:gd name="T64" fmla="*/ 431 w 432"/>
              <a:gd name="T65" fmla="*/ 34 h 41"/>
              <a:gd name="T66" fmla="*/ 431 w 432"/>
              <a:gd name="T67" fmla="*/ 34 h 4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32"/>
              <a:gd name="T103" fmla="*/ 0 h 41"/>
              <a:gd name="T104" fmla="*/ 432 w 432"/>
              <a:gd name="T105" fmla="*/ 41 h 4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32" h="41">
                <a:moveTo>
                  <a:pt x="0" y="5"/>
                </a:moveTo>
                <a:lnTo>
                  <a:pt x="12" y="5"/>
                </a:lnTo>
                <a:lnTo>
                  <a:pt x="23" y="0"/>
                </a:lnTo>
                <a:lnTo>
                  <a:pt x="35" y="0"/>
                </a:lnTo>
                <a:lnTo>
                  <a:pt x="46" y="0"/>
                </a:lnTo>
                <a:lnTo>
                  <a:pt x="58" y="5"/>
                </a:lnTo>
                <a:lnTo>
                  <a:pt x="69" y="5"/>
                </a:lnTo>
                <a:lnTo>
                  <a:pt x="81" y="5"/>
                </a:lnTo>
                <a:lnTo>
                  <a:pt x="92" y="5"/>
                </a:lnTo>
                <a:lnTo>
                  <a:pt x="104" y="5"/>
                </a:lnTo>
                <a:lnTo>
                  <a:pt x="115" y="5"/>
                </a:lnTo>
                <a:lnTo>
                  <a:pt x="132" y="11"/>
                </a:lnTo>
                <a:lnTo>
                  <a:pt x="150" y="11"/>
                </a:lnTo>
                <a:lnTo>
                  <a:pt x="167" y="11"/>
                </a:lnTo>
                <a:lnTo>
                  <a:pt x="184" y="11"/>
                </a:lnTo>
                <a:lnTo>
                  <a:pt x="201" y="17"/>
                </a:lnTo>
                <a:lnTo>
                  <a:pt x="219" y="17"/>
                </a:lnTo>
                <a:lnTo>
                  <a:pt x="236" y="23"/>
                </a:lnTo>
                <a:lnTo>
                  <a:pt x="247" y="23"/>
                </a:lnTo>
                <a:lnTo>
                  <a:pt x="265" y="23"/>
                </a:lnTo>
                <a:lnTo>
                  <a:pt x="282" y="23"/>
                </a:lnTo>
                <a:lnTo>
                  <a:pt x="293" y="23"/>
                </a:lnTo>
                <a:lnTo>
                  <a:pt x="311" y="28"/>
                </a:lnTo>
                <a:lnTo>
                  <a:pt x="328" y="28"/>
                </a:lnTo>
                <a:lnTo>
                  <a:pt x="339" y="28"/>
                </a:lnTo>
                <a:lnTo>
                  <a:pt x="351" y="28"/>
                </a:lnTo>
                <a:lnTo>
                  <a:pt x="368" y="28"/>
                </a:lnTo>
                <a:lnTo>
                  <a:pt x="380" y="34"/>
                </a:lnTo>
                <a:lnTo>
                  <a:pt x="391" y="34"/>
                </a:lnTo>
                <a:lnTo>
                  <a:pt x="403" y="34"/>
                </a:lnTo>
                <a:lnTo>
                  <a:pt x="420" y="34"/>
                </a:lnTo>
                <a:lnTo>
                  <a:pt x="426" y="40"/>
                </a:lnTo>
                <a:lnTo>
                  <a:pt x="431" y="34"/>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10" name="Freeform 29"/>
          <p:cNvSpPr>
            <a:spLocks/>
          </p:cNvSpPr>
          <p:nvPr/>
        </p:nvSpPr>
        <p:spPr bwMode="auto">
          <a:xfrm>
            <a:off x="6826250" y="1660525"/>
            <a:ext cx="695325" cy="9525"/>
          </a:xfrm>
          <a:custGeom>
            <a:avLst/>
            <a:gdLst>
              <a:gd name="T0" fmla="*/ 0 w 438"/>
              <a:gd name="T1" fmla="*/ 5 h 6"/>
              <a:gd name="T2" fmla="*/ 11 w 438"/>
              <a:gd name="T3" fmla="*/ 5 h 6"/>
              <a:gd name="T4" fmla="*/ 23 w 438"/>
              <a:gd name="T5" fmla="*/ 5 h 6"/>
              <a:gd name="T6" fmla="*/ 40 w 438"/>
              <a:gd name="T7" fmla="*/ 5 h 6"/>
              <a:gd name="T8" fmla="*/ 52 w 438"/>
              <a:gd name="T9" fmla="*/ 5 h 6"/>
              <a:gd name="T10" fmla="*/ 69 w 438"/>
              <a:gd name="T11" fmla="*/ 5 h 6"/>
              <a:gd name="T12" fmla="*/ 80 w 438"/>
              <a:gd name="T13" fmla="*/ 5 h 6"/>
              <a:gd name="T14" fmla="*/ 92 w 438"/>
              <a:gd name="T15" fmla="*/ 5 h 6"/>
              <a:gd name="T16" fmla="*/ 103 w 438"/>
              <a:gd name="T17" fmla="*/ 5 h 6"/>
              <a:gd name="T18" fmla="*/ 115 w 438"/>
              <a:gd name="T19" fmla="*/ 5 h 6"/>
              <a:gd name="T20" fmla="*/ 126 w 438"/>
              <a:gd name="T21" fmla="*/ 5 h 6"/>
              <a:gd name="T22" fmla="*/ 138 w 438"/>
              <a:gd name="T23" fmla="*/ 5 h 6"/>
              <a:gd name="T24" fmla="*/ 149 w 438"/>
              <a:gd name="T25" fmla="*/ 5 h 6"/>
              <a:gd name="T26" fmla="*/ 167 w 438"/>
              <a:gd name="T27" fmla="*/ 5 h 6"/>
              <a:gd name="T28" fmla="*/ 178 w 438"/>
              <a:gd name="T29" fmla="*/ 0 h 6"/>
              <a:gd name="T30" fmla="*/ 195 w 438"/>
              <a:gd name="T31" fmla="*/ 5 h 6"/>
              <a:gd name="T32" fmla="*/ 213 w 438"/>
              <a:gd name="T33" fmla="*/ 0 h 6"/>
              <a:gd name="T34" fmla="*/ 230 w 438"/>
              <a:gd name="T35" fmla="*/ 0 h 6"/>
              <a:gd name="T36" fmla="*/ 247 w 438"/>
              <a:gd name="T37" fmla="*/ 0 h 6"/>
              <a:gd name="T38" fmla="*/ 259 w 438"/>
              <a:gd name="T39" fmla="*/ 0 h 6"/>
              <a:gd name="T40" fmla="*/ 276 w 438"/>
              <a:gd name="T41" fmla="*/ 0 h 6"/>
              <a:gd name="T42" fmla="*/ 287 w 438"/>
              <a:gd name="T43" fmla="*/ 0 h 6"/>
              <a:gd name="T44" fmla="*/ 305 w 438"/>
              <a:gd name="T45" fmla="*/ 5 h 6"/>
              <a:gd name="T46" fmla="*/ 322 w 438"/>
              <a:gd name="T47" fmla="*/ 0 h 6"/>
              <a:gd name="T48" fmla="*/ 333 w 438"/>
              <a:gd name="T49" fmla="*/ 0 h 6"/>
              <a:gd name="T50" fmla="*/ 351 w 438"/>
              <a:gd name="T51" fmla="*/ 0 h 6"/>
              <a:gd name="T52" fmla="*/ 362 w 438"/>
              <a:gd name="T53" fmla="*/ 0 h 6"/>
              <a:gd name="T54" fmla="*/ 374 w 438"/>
              <a:gd name="T55" fmla="*/ 0 h 6"/>
              <a:gd name="T56" fmla="*/ 385 w 438"/>
              <a:gd name="T57" fmla="*/ 5 h 6"/>
              <a:gd name="T58" fmla="*/ 397 w 438"/>
              <a:gd name="T59" fmla="*/ 5 h 6"/>
              <a:gd name="T60" fmla="*/ 414 w 438"/>
              <a:gd name="T61" fmla="*/ 5 h 6"/>
              <a:gd name="T62" fmla="*/ 425 w 438"/>
              <a:gd name="T63" fmla="*/ 5 h 6"/>
              <a:gd name="T64" fmla="*/ 431 w 438"/>
              <a:gd name="T65" fmla="*/ 0 h 6"/>
              <a:gd name="T66" fmla="*/ 437 w 438"/>
              <a:gd name="T67" fmla="*/ 0 h 6"/>
              <a:gd name="T68" fmla="*/ 437 w 438"/>
              <a:gd name="T69" fmla="*/ 0 h 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38"/>
              <a:gd name="T106" fmla="*/ 0 h 6"/>
              <a:gd name="T107" fmla="*/ 438 w 438"/>
              <a:gd name="T108" fmla="*/ 6 h 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38" h="6">
                <a:moveTo>
                  <a:pt x="0" y="5"/>
                </a:moveTo>
                <a:lnTo>
                  <a:pt x="11" y="5"/>
                </a:lnTo>
                <a:lnTo>
                  <a:pt x="23" y="5"/>
                </a:lnTo>
                <a:lnTo>
                  <a:pt x="40" y="5"/>
                </a:lnTo>
                <a:lnTo>
                  <a:pt x="52" y="5"/>
                </a:lnTo>
                <a:lnTo>
                  <a:pt x="69" y="5"/>
                </a:lnTo>
                <a:lnTo>
                  <a:pt x="80" y="5"/>
                </a:lnTo>
                <a:lnTo>
                  <a:pt x="92" y="5"/>
                </a:lnTo>
                <a:lnTo>
                  <a:pt x="103" y="5"/>
                </a:lnTo>
                <a:lnTo>
                  <a:pt x="115" y="5"/>
                </a:lnTo>
                <a:lnTo>
                  <a:pt x="126" y="5"/>
                </a:lnTo>
                <a:lnTo>
                  <a:pt x="138" y="5"/>
                </a:lnTo>
                <a:lnTo>
                  <a:pt x="149" y="5"/>
                </a:lnTo>
                <a:lnTo>
                  <a:pt x="167" y="5"/>
                </a:lnTo>
                <a:lnTo>
                  <a:pt x="178" y="0"/>
                </a:lnTo>
                <a:lnTo>
                  <a:pt x="195" y="5"/>
                </a:lnTo>
                <a:lnTo>
                  <a:pt x="213" y="0"/>
                </a:lnTo>
                <a:lnTo>
                  <a:pt x="230" y="0"/>
                </a:lnTo>
                <a:lnTo>
                  <a:pt x="247" y="0"/>
                </a:lnTo>
                <a:lnTo>
                  <a:pt x="259" y="0"/>
                </a:lnTo>
                <a:lnTo>
                  <a:pt x="276" y="0"/>
                </a:lnTo>
                <a:lnTo>
                  <a:pt x="287" y="0"/>
                </a:lnTo>
                <a:lnTo>
                  <a:pt x="305" y="5"/>
                </a:lnTo>
                <a:lnTo>
                  <a:pt x="322" y="0"/>
                </a:lnTo>
                <a:lnTo>
                  <a:pt x="333" y="0"/>
                </a:lnTo>
                <a:lnTo>
                  <a:pt x="351" y="0"/>
                </a:lnTo>
                <a:lnTo>
                  <a:pt x="362" y="0"/>
                </a:lnTo>
                <a:lnTo>
                  <a:pt x="374" y="0"/>
                </a:lnTo>
                <a:lnTo>
                  <a:pt x="385" y="5"/>
                </a:lnTo>
                <a:lnTo>
                  <a:pt x="397" y="5"/>
                </a:lnTo>
                <a:lnTo>
                  <a:pt x="414" y="5"/>
                </a:lnTo>
                <a:lnTo>
                  <a:pt x="425" y="5"/>
                </a:lnTo>
                <a:lnTo>
                  <a:pt x="431" y="0"/>
                </a:lnTo>
                <a:lnTo>
                  <a:pt x="437" y="0"/>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11" name="Freeform 30"/>
          <p:cNvSpPr>
            <a:spLocks/>
          </p:cNvSpPr>
          <p:nvPr/>
        </p:nvSpPr>
        <p:spPr bwMode="auto">
          <a:xfrm>
            <a:off x="6707188" y="1249363"/>
            <a:ext cx="850900" cy="20637"/>
          </a:xfrm>
          <a:custGeom>
            <a:avLst/>
            <a:gdLst>
              <a:gd name="T0" fmla="*/ 0 w 536"/>
              <a:gd name="T1" fmla="*/ 6 h 13"/>
              <a:gd name="T2" fmla="*/ 12 w 536"/>
              <a:gd name="T3" fmla="*/ 6 h 13"/>
              <a:gd name="T4" fmla="*/ 23 w 536"/>
              <a:gd name="T5" fmla="*/ 6 h 13"/>
              <a:gd name="T6" fmla="*/ 40 w 536"/>
              <a:gd name="T7" fmla="*/ 6 h 13"/>
              <a:gd name="T8" fmla="*/ 58 w 536"/>
              <a:gd name="T9" fmla="*/ 6 h 13"/>
              <a:gd name="T10" fmla="*/ 69 w 536"/>
              <a:gd name="T11" fmla="*/ 6 h 13"/>
              <a:gd name="T12" fmla="*/ 81 w 536"/>
              <a:gd name="T13" fmla="*/ 6 h 13"/>
              <a:gd name="T14" fmla="*/ 92 w 536"/>
              <a:gd name="T15" fmla="*/ 6 h 13"/>
              <a:gd name="T16" fmla="*/ 104 w 536"/>
              <a:gd name="T17" fmla="*/ 6 h 13"/>
              <a:gd name="T18" fmla="*/ 115 w 536"/>
              <a:gd name="T19" fmla="*/ 6 h 13"/>
              <a:gd name="T20" fmla="*/ 132 w 536"/>
              <a:gd name="T21" fmla="*/ 6 h 13"/>
              <a:gd name="T22" fmla="*/ 150 w 536"/>
              <a:gd name="T23" fmla="*/ 6 h 13"/>
              <a:gd name="T24" fmla="*/ 161 w 536"/>
              <a:gd name="T25" fmla="*/ 6 h 13"/>
              <a:gd name="T26" fmla="*/ 178 w 536"/>
              <a:gd name="T27" fmla="*/ 6 h 13"/>
              <a:gd name="T28" fmla="*/ 196 w 536"/>
              <a:gd name="T29" fmla="*/ 6 h 13"/>
              <a:gd name="T30" fmla="*/ 213 w 536"/>
              <a:gd name="T31" fmla="*/ 6 h 13"/>
              <a:gd name="T32" fmla="*/ 230 w 536"/>
              <a:gd name="T33" fmla="*/ 0 h 13"/>
              <a:gd name="T34" fmla="*/ 242 w 536"/>
              <a:gd name="T35" fmla="*/ 0 h 13"/>
              <a:gd name="T36" fmla="*/ 259 w 536"/>
              <a:gd name="T37" fmla="*/ 0 h 13"/>
              <a:gd name="T38" fmla="*/ 282 w 536"/>
              <a:gd name="T39" fmla="*/ 0 h 13"/>
              <a:gd name="T40" fmla="*/ 299 w 536"/>
              <a:gd name="T41" fmla="*/ 0 h 13"/>
              <a:gd name="T42" fmla="*/ 316 w 536"/>
              <a:gd name="T43" fmla="*/ 0 h 13"/>
              <a:gd name="T44" fmla="*/ 334 w 536"/>
              <a:gd name="T45" fmla="*/ 0 h 13"/>
              <a:gd name="T46" fmla="*/ 351 w 536"/>
              <a:gd name="T47" fmla="*/ 0 h 13"/>
              <a:gd name="T48" fmla="*/ 368 w 536"/>
              <a:gd name="T49" fmla="*/ 0 h 13"/>
              <a:gd name="T50" fmla="*/ 380 w 536"/>
              <a:gd name="T51" fmla="*/ 0 h 13"/>
              <a:gd name="T52" fmla="*/ 403 w 536"/>
              <a:gd name="T53" fmla="*/ 0 h 13"/>
              <a:gd name="T54" fmla="*/ 420 w 536"/>
              <a:gd name="T55" fmla="*/ 6 h 13"/>
              <a:gd name="T56" fmla="*/ 437 w 536"/>
              <a:gd name="T57" fmla="*/ 6 h 13"/>
              <a:gd name="T58" fmla="*/ 454 w 536"/>
              <a:gd name="T59" fmla="*/ 6 h 13"/>
              <a:gd name="T60" fmla="*/ 466 w 536"/>
              <a:gd name="T61" fmla="*/ 6 h 13"/>
              <a:gd name="T62" fmla="*/ 477 w 536"/>
              <a:gd name="T63" fmla="*/ 6 h 13"/>
              <a:gd name="T64" fmla="*/ 489 w 536"/>
              <a:gd name="T65" fmla="*/ 6 h 13"/>
              <a:gd name="T66" fmla="*/ 500 w 536"/>
              <a:gd name="T67" fmla="*/ 6 h 13"/>
              <a:gd name="T68" fmla="*/ 512 w 536"/>
              <a:gd name="T69" fmla="*/ 12 h 13"/>
              <a:gd name="T70" fmla="*/ 523 w 536"/>
              <a:gd name="T71" fmla="*/ 12 h 13"/>
              <a:gd name="T72" fmla="*/ 535 w 536"/>
              <a:gd name="T73" fmla="*/ 12 h 13"/>
              <a:gd name="T74" fmla="*/ 535 w 536"/>
              <a:gd name="T75" fmla="*/ 12 h 1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36"/>
              <a:gd name="T115" fmla="*/ 0 h 13"/>
              <a:gd name="T116" fmla="*/ 536 w 536"/>
              <a:gd name="T117" fmla="*/ 13 h 1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36" h="13">
                <a:moveTo>
                  <a:pt x="0" y="6"/>
                </a:moveTo>
                <a:lnTo>
                  <a:pt x="12" y="6"/>
                </a:lnTo>
                <a:lnTo>
                  <a:pt x="23" y="6"/>
                </a:lnTo>
                <a:lnTo>
                  <a:pt x="40" y="6"/>
                </a:lnTo>
                <a:lnTo>
                  <a:pt x="58" y="6"/>
                </a:lnTo>
                <a:lnTo>
                  <a:pt x="69" y="6"/>
                </a:lnTo>
                <a:lnTo>
                  <a:pt x="81" y="6"/>
                </a:lnTo>
                <a:lnTo>
                  <a:pt x="92" y="6"/>
                </a:lnTo>
                <a:lnTo>
                  <a:pt x="104" y="6"/>
                </a:lnTo>
                <a:lnTo>
                  <a:pt x="115" y="6"/>
                </a:lnTo>
                <a:lnTo>
                  <a:pt x="132" y="6"/>
                </a:lnTo>
                <a:lnTo>
                  <a:pt x="150" y="6"/>
                </a:lnTo>
                <a:lnTo>
                  <a:pt x="161" y="6"/>
                </a:lnTo>
                <a:lnTo>
                  <a:pt x="178" y="6"/>
                </a:lnTo>
                <a:lnTo>
                  <a:pt x="196" y="6"/>
                </a:lnTo>
                <a:lnTo>
                  <a:pt x="213" y="6"/>
                </a:lnTo>
                <a:lnTo>
                  <a:pt x="230" y="0"/>
                </a:lnTo>
                <a:lnTo>
                  <a:pt x="242" y="0"/>
                </a:lnTo>
                <a:lnTo>
                  <a:pt x="259" y="0"/>
                </a:lnTo>
                <a:lnTo>
                  <a:pt x="282" y="0"/>
                </a:lnTo>
                <a:lnTo>
                  <a:pt x="299" y="0"/>
                </a:lnTo>
                <a:lnTo>
                  <a:pt x="316" y="0"/>
                </a:lnTo>
                <a:lnTo>
                  <a:pt x="334" y="0"/>
                </a:lnTo>
                <a:lnTo>
                  <a:pt x="351" y="0"/>
                </a:lnTo>
                <a:lnTo>
                  <a:pt x="368" y="0"/>
                </a:lnTo>
                <a:lnTo>
                  <a:pt x="380" y="0"/>
                </a:lnTo>
                <a:lnTo>
                  <a:pt x="403" y="0"/>
                </a:lnTo>
                <a:lnTo>
                  <a:pt x="420" y="6"/>
                </a:lnTo>
                <a:lnTo>
                  <a:pt x="437" y="6"/>
                </a:lnTo>
                <a:lnTo>
                  <a:pt x="454" y="6"/>
                </a:lnTo>
                <a:lnTo>
                  <a:pt x="466" y="6"/>
                </a:lnTo>
                <a:lnTo>
                  <a:pt x="477" y="6"/>
                </a:lnTo>
                <a:lnTo>
                  <a:pt x="489" y="6"/>
                </a:lnTo>
                <a:lnTo>
                  <a:pt x="500" y="6"/>
                </a:lnTo>
                <a:lnTo>
                  <a:pt x="512" y="12"/>
                </a:lnTo>
                <a:lnTo>
                  <a:pt x="523" y="12"/>
                </a:lnTo>
                <a:lnTo>
                  <a:pt x="535" y="12"/>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12" name="Freeform 31"/>
          <p:cNvSpPr>
            <a:spLocks/>
          </p:cNvSpPr>
          <p:nvPr/>
        </p:nvSpPr>
        <p:spPr bwMode="auto">
          <a:xfrm>
            <a:off x="6388100" y="976313"/>
            <a:ext cx="603250" cy="28575"/>
          </a:xfrm>
          <a:custGeom>
            <a:avLst/>
            <a:gdLst>
              <a:gd name="T0" fmla="*/ 0 w 380"/>
              <a:gd name="T1" fmla="*/ 17 h 18"/>
              <a:gd name="T2" fmla="*/ 11 w 380"/>
              <a:gd name="T3" fmla="*/ 17 h 18"/>
              <a:gd name="T4" fmla="*/ 23 w 380"/>
              <a:gd name="T5" fmla="*/ 17 h 18"/>
              <a:gd name="T6" fmla="*/ 34 w 380"/>
              <a:gd name="T7" fmla="*/ 17 h 18"/>
              <a:gd name="T8" fmla="*/ 46 w 380"/>
              <a:gd name="T9" fmla="*/ 17 h 18"/>
              <a:gd name="T10" fmla="*/ 63 w 380"/>
              <a:gd name="T11" fmla="*/ 17 h 18"/>
              <a:gd name="T12" fmla="*/ 80 w 380"/>
              <a:gd name="T13" fmla="*/ 17 h 18"/>
              <a:gd name="T14" fmla="*/ 92 w 380"/>
              <a:gd name="T15" fmla="*/ 11 h 18"/>
              <a:gd name="T16" fmla="*/ 109 w 380"/>
              <a:gd name="T17" fmla="*/ 11 h 18"/>
              <a:gd name="T18" fmla="*/ 126 w 380"/>
              <a:gd name="T19" fmla="*/ 11 h 18"/>
              <a:gd name="T20" fmla="*/ 138 w 380"/>
              <a:gd name="T21" fmla="*/ 11 h 18"/>
              <a:gd name="T22" fmla="*/ 155 w 380"/>
              <a:gd name="T23" fmla="*/ 11 h 18"/>
              <a:gd name="T24" fmla="*/ 172 w 380"/>
              <a:gd name="T25" fmla="*/ 11 h 18"/>
              <a:gd name="T26" fmla="*/ 184 w 380"/>
              <a:gd name="T27" fmla="*/ 5 h 18"/>
              <a:gd name="T28" fmla="*/ 207 w 380"/>
              <a:gd name="T29" fmla="*/ 5 h 18"/>
              <a:gd name="T30" fmla="*/ 218 w 380"/>
              <a:gd name="T31" fmla="*/ 5 h 18"/>
              <a:gd name="T32" fmla="*/ 236 w 380"/>
              <a:gd name="T33" fmla="*/ 5 h 18"/>
              <a:gd name="T34" fmla="*/ 253 w 380"/>
              <a:gd name="T35" fmla="*/ 5 h 18"/>
              <a:gd name="T36" fmla="*/ 264 w 380"/>
              <a:gd name="T37" fmla="*/ 5 h 18"/>
              <a:gd name="T38" fmla="*/ 282 w 380"/>
              <a:gd name="T39" fmla="*/ 5 h 18"/>
              <a:gd name="T40" fmla="*/ 293 w 380"/>
              <a:gd name="T41" fmla="*/ 5 h 18"/>
              <a:gd name="T42" fmla="*/ 310 w 380"/>
              <a:gd name="T43" fmla="*/ 5 h 18"/>
              <a:gd name="T44" fmla="*/ 322 w 380"/>
              <a:gd name="T45" fmla="*/ 5 h 18"/>
              <a:gd name="T46" fmla="*/ 333 w 380"/>
              <a:gd name="T47" fmla="*/ 0 h 18"/>
              <a:gd name="T48" fmla="*/ 345 w 380"/>
              <a:gd name="T49" fmla="*/ 0 h 18"/>
              <a:gd name="T50" fmla="*/ 356 w 380"/>
              <a:gd name="T51" fmla="*/ 0 h 18"/>
              <a:gd name="T52" fmla="*/ 368 w 380"/>
              <a:gd name="T53" fmla="*/ 0 h 18"/>
              <a:gd name="T54" fmla="*/ 379 w 380"/>
              <a:gd name="T55" fmla="*/ 0 h 18"/>
              <a:gd name="T56" fmla="*/ 379 w 380"/>
              <a:gd name="T57" fmla="*/ 5 h 18"/>
              <a:gd name="T58" fmla="*/ 379 w 380"/>
              <a:gd name="T59" fmla="*/ 5 h 1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80"/>
              <a:gd name="T91" fmla="*/ 0 h 18"/>
              <a:gd name="T92" fmla="*/ 380 w 380"/>
              <a:gd name="T93" fmla="*/ 18 h 1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80" h="18">
                <a:moveTo>
                  <a:pt x="0" y="17"/>
                </a:moveTo>
                <a:lnTo>
                  <a:pt x="11" y="17"/>
                </a:lnTo>
                <a:lnTo>
                  <a:pt x="23" y="17"/>
                </a:lnTo>
                <a:lnTo>
                  <a:pt x="34" y="17"/>
                </a:lnTo>
                <a:lnTo>
                  <a:pt x="46" y="17"/>
                </a:lnTo>
                <a:lnTo>
                  <a:pt x="63" y="17"/>
                </a:lnTo>
                <a:lnTo>
                  <a:pt x="80" y="17"/>
                </a:lnTo>
                <a:lnTo>
                  <a:pt x="92" y="11"/>
                </a:lnTo>
                <a:lnTo>
                  <a:pt x="109" y="11"/>
                </a:lnTo>
                <a:lnTo>
                  <a:pt x="126" y="11"/>
                </a:lnTo>
                <a:lnTo>
                  <a:pt x="138" y="11"/>
                </a:lnTo>
                <a:lnTo>
                  <a:pt x="155" y="11"/>
                </a:lnTo>
                <a:lnTo>
                  <a:pt x="172" y="11"/>
                </a:lnTo>
                <a:lnTo>
                  <a:pt x="184" y="5"/>
                </a:lnTo>
                <a:lnTo>
                  <a:pt x="207" y="5"/>
                </a:lnTo>
                <a:lnTo>
                  <a:pt x="218" y="5"/>
                </a:lnTo>
                <a:lnTo>
                  <a:pt x="236" y="5"/>
                </a:lnTo>
                <a:lnTo>
                  <a:pt x="253" y="5"/>
                </a:lnTo>
                <a:lnTo>
                  <a:pt x="264" y="5"/>
                </a:lnTo>
                <a:lnTo>
                  <a:pt x="282" y="5"/>
                </a:lnTo>
                <a:lnTo>
                  <a:pt x="293" y="5"/>
                </a:lnTo>
                <a:lnTo>
                  <a:pt x="310" y="5"/>
                </a:lnTo>
                <a:lnTo>
                  <a:pt x="322" y="5"/>
                </a:lnTo>
                <a:lnTo>
                  <a:pt x="333" y="0"/>
                </a:lnTo>
                <a:lnTo>
                  <a:pt x="345" y="0"/>
                </a:lnTo>
                <a:lnTo>
                  <a:pt x="356" y="0"/>
                </a:lnTo>
                <a:lnTo>
                  <a:pt x="368" y="0"/>
                </a:lnTo>
                <a:lnTo>
                  <a:pt x="379" y="0"/>
                </a:lnTo>
                <a:lnTo>
                  <a:pt x="379" y="5"/>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13" name="Freeform 32"/>
          <p:cNvSpPr>
            <a:spLocks/>
          </p:cNvSpPr>
          <p:nvPr/>
        </p:nvSpPr>
        <p:spPr bwMode="auto">
          <a:xfrm>
            <a:off x="5092700" y="1066800"/>
            <a:ext cx="557213" cy="28575"/>
          </a:xfrm>
          <a:custGeom>
            <a:avLst/>
            <a:gdLst>
              <a:gd name="T0" fmla="*/ 0 w 351"/>
              <a:gd name="T1" fmla="*/ 17 h 18"/>
              <a:gd name="T2" fmla="*/ 11 w 351"/>
              <a:gd name="T3" fmla="*/ 17 h 18"/>
              <a:gd name="T4" fmla="*/ 23 w 351"/>
              <a:gd name="T5" fmla="*/ 17 h 18"/>
              <a:gd name="T6" fmla="*/ 40 w 351"/>
              <a:gd name="T7" fmla="*/ 17 h 18"/>
              <a:gd name="T8" fmla="*/ 46 w 351"/>
              <a:gd name="T9" fmla="*/ 12 h 18"/>
              <a:gd name="T10" fmla="*/ 57 w 351"/>
              <a:gd name="T11" fmla="*/ 12 h 18"/>
              <a:gd name="T12" fmla="*/ 69 w 351"/>
              <a:gd name="T13" fmla="*/ 12 h 18"/>
              <a:gd name="T14" fmla="*/ 80 w 351"/>
              <a:gd name="T15" fmla="*/ 12 h 18"/>
              <a:gd name="T16" fmla="*/ 92 w 351"/>
              <a:gd name="T17" fmla="*/ 12 h 18"/>
              <a:gd name="T18" fmla="*/ 103 w 351"/>
              <a:gd name="T19" fmla="*/ 12 h 18"/>
              <a:gd name="T20" fmla="*/ 120 w 351"/>
              <a:gd name="T21" fmla="*/ 12 h 18"/>
              <a:gd name="T22" fmla="*/ 132 w 351"/>
              <a:gd name="T23" fmla="*/ 12 h 18"/>
              <a:gd name="T24" fmla="*/ 149 w 351"/>
              <a:gd name="T25" fmla="*/ 12 h 18"/>
              <a:gd name="T26" fmla="*/ 161 w 351"/>
              <a:gd name="T27" fmla="*/ 12 h 18"/>
              <a:gd name="T28" fmla="*/ 172 w 351"/>
              <a:gd name="T29" fmla="*/ 6 h 18"/>
              <a:gd name="T30" fmla="*/ 189 w 351"/>
              <a:gd name="T31" fmla="*/ 6 h 18"/>
              <a:gd name="T32" fmla="*/ 201 w 351"/>
              <a:gd name="T33" fmla="*/ 6 h 18"/>
              <a:gd name="T34" fmla="*/ 218 w 351"/>
              <a:gd name="T35" fmla="*/ 6 h 18"/>
              <a:gd name="T36" fmla="*/ 230 w 351"/>
              <a:gd name="T37" fmla="*/ 6 h 18"/>
              <a:gd name="T38" fmla="*/ 241 w 351"/>
              <a:gd name="T39" fmla="*/ 6 h 18"/>
              <a:gd name="T40" fmla="*/ 253 w 351"/>
              <a:gd name="T41" fmla="*/ 6 h 18"/>
              <a:gd name="T42" fmla="*/ 270 w 351"/>
              <a:gd name="T43" fmla="*/ 6 h 18"/>
              <a:gd name="T44" fmla="*/ 281 w 351"/>
              <a:gd name="T45" fmla="*/ 6 h 18"/>
              <a:gd name="T46" fmla="*/ 299 w 351"/>
              <a:gd name="T47" fmla="*/ 6 h 18"/>
              <a:gd name="T48" fmla="*/ 310 w 351"/>
              <a:gd name="T49" fmla="*/ 6 h 18"/>
              <a:gd name="T50" fmla="*/ 322 w 351"/>
              <a:gd name="T51" fmla="*/ 6 h 18"/>
              <a:gd name="T52" fmla="*/ 333 w 351"/>
              <a:gd name="T53" fmla="*/ 0 h 18"/>
              <a:gd name="T54" fmla="*/ 345 w 351"/>
              <a:gd name="T55" fmla="*/ 0 h 18"/>
              <a:gd name="T56" fmla="*/ 350 w 351"/>
              <a:gd name="T57" fmla="*/ 6 h 18"/>
              <a:gd name="T58" fmla="*/ 345 w 351"/>
              <a:gd name="T59" fmla="*/ 0 h 18"/>
              <a:gd name="T60" fmla="*/ 345 w 351"/>
              <a:gd name="T61" fmla="*/ 0 h 1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51"/>
              <a:gd name="T94" fmla="*/ 0 h 18"/>
              <a:gd name="T95" fmla="*/ 351 w 351"/>
              <a:gd name="T96" fmla="*/ 18 h 1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51" h="18">
                <a:moveTo>
                  <a:pt x="0" y="17"/>
                </a:moveTo>
                <a:lnTo>
                  <a:pt x="11" y="17"/>
                </a:lnTo>
                <a:lnTo>
                  <a:pt x="23" y="17"/>
                </a:lnTo>
                <a:lnTo>
                  <a:pt x="40" y="17"/>
                </a:lnTo>
                <a:lnTo>
                  <a:pt x="46" y="12"/>
                </a:lnTo>
                <a:lnTo>
                  <a:pt x="57" y="12"/>
                </a:lnTo>
                <a:lnTo>
                  <a:pt x="69" y="12"/>
                </a:lnTo>
                <a:lnTo>
                  <a:pt x="80" y="12"/>
                </a:lnTo>
                <a:lnTo>
                  <a:pt x="92" y="12"/>
                </a:lnTo>
                <a:lnTo>
                  <a:pt x="103" y="12"/>
                </a:lnTo>
                <a:lnTo>
                  <a:pt x="120" y="12"/>
                </a:lnTo>
                <a:lnTo>
                  <a:pt x="132" y="12"/>
                </a:lnTo>
                <a:lnTo>
                  <a:pt x="149" y="12"/>
                </a:lnTo>
                <a:lnTo>
                  <a:pt x="161" y="12"/>
                </a:lnTo>
                <a:lnTo>
                  <a:pt x="172" y="6"/>
                </a:lnTo>
                <a:lnTo>
                  <a:pt x="189" y="6"/>
                </a:lnTo>
                <a:lnTo>
                  <a:pt x="201" y="6"/>
                </a:lnTo>
                <a:lnTo>
                  <a:pt x="218" y="6"/>
                </a:lnTo>
                <a:lnTo>
                  <a:pt x="230" y="6"/>
                </a:lnTo>
                <a:lnTo>
                  <a:pt x="241" y="6"/>
                </a:lnTo>
                <a:lnTo>
                  <a:pt x="253" y="6"/>
                </a:lnTo>
                <a:lnTo>
                  <a:pt x="270" y="6"/>
                </a:lnTo>
                <a:lnTo>
                  <a:pt x="281" y="6"/>
                </a:lnTo>
                <a:lnTo>
                  <a:pt x="299" y="6"/>
                </a:lnTo>
                <a:lnTo>
                  <a:pt x="310" y="6"/>
                </a:lnTo>
                <a:lnTo>
                  <a:pt x="322" y="6"/>
                </a:lnTo>
                <a:lnTo>
                  <a:pt x="333" y="0"/>
                </a:lnTo>
                <a:lnTo>
                  <a:pt x="345" y="0"/>
                </a:lnTo>
                <a:lnTo>
                  <a:pt x="350" y="6"/>
                </a:lnTo>
                <a:lnTo>
                  <a:pt x="345" y="0"/>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
        <p:nvSpPr>
          <p:cNvPr id="16414" name="Freeform 33"/>
          <p:cNvSpPr>
            <a:spLocks/>
          </p:cNvSpPr>
          <p:nvPr/>
        </p:nvSpPr>
        <p:spPr bwMode="auto">
          <a:xfrm>
            <a:off x="5092700" y="1258888"/>
            <a:ext cx="685800" cy="19050"/>
          </a:xfrm>
          <a:custGeom>
            <a:avLst/>
            <a:gdLst>
              <a:gd name="T0" fmla="*/ 0 w 432"/>
              <a:gd name="T1" fmla="*/ 0 h 12"/>
              <a:gd name="T2" fmla="*/ 5 w 432"/>
              <a:gd name="T3" fmla="*/ 6 h 12"/>
              <a:gd name="T4" fmla="*/ 17 w 432"/>
              <a:gd name="T5" fmla="*/ 6 h 12"/>
              <a:gd name="T6" fmla="*/ 28 w 432"/>
              <a:gd name="T7" fmla="*/ 6 h 12"/>
              <a:gd name="T8" fmla="*/ 46 w 432"/>
              <a:gd name="T9" fmla="*/ 6 h 12"/>
              <a:gd name="T10" fmla="*/ 63 w 432"/>
              <a:gd name="T11" fmla="*/ 11 h 12"/>
              <a:gd name="T12" fmla="*/ 74 w 432"/>
              <a:gd name="T13" fmla="*/ 11 h 12"/>
              <a:gd name="T14" fmla="*/ 86 w 432"/>
              <a:gd name="T15" fmla="*/ 11 h 12"/>
              <a:gd name="T16" fmla="*/ 97 w 432"/>
              <a:gd name="T17" fmla="*/ 11 h 12"/>
              <a:gd name="T18" fmla="*/ 109 w 432"/>
              <a:gd name="T19" fmla="*/ 11 h 12"/>
              <a:gd name="T20" fmla="*/ 126 w 432"/>
              <a:gd name="T21" fmla="*/ 11 h 12"/>
              <a:gd name="T22" fmla="*/ 138 w 432"/>
              <a:gd name="T23" fmla="*/ 11 h 12"/>
              <a:gd name="T24" fmla="*/ 155 w 432"/>
              <a:gd name="T25" fmla="*/ 11 h 12"/>
              <a:gd name="T26" fmla="*/ 172 w 432"/>
              <a:gd name="T27" fmla="*/ 11 h 12"/>
              <a:gd name="T28" fmla="*/ 184 w 432"/>
              <a:gd name="T29" fmla="*/ 6 h 12"/>
              <a:gd name="T30" fmla="*/ 201 w 432"/>
              <a:gd name="T31" fmla="*/ 6 h 12"/>
              <a:gd name="T32" fmla="*/ 218 w 432"/>
              <a:gd name="T33" fmla="*/ 6 h 12"/>
              <a:gd name="T34" fmla="*/ 235 w 432"/>
              <a:gd name="T35" fmla="*/ 6 h 12"/>
              <a:gd name="T36" fmla="*/ 253 w 432"/>
              <a:gd name="T37" fmla="*/ 6 h 12"/>
              <a:gd name="T38" fmla="*/ 270 w 432"/>
              <a:gd name="T39" fmla="*/ 6 h 12"/>
              <a:gd name="T40" fmla="*/ 281 w 432"/>
              <a:gd name="T41" fmla="*/ 6 h 12"/>
              <a:gd name="T42" fmla="*/ 299 w 432"/>
              <a:gd name="T43" fmla="*/ 6 h 12"/>
              <a:gd name="T44" fmla="*/ 316 w 432"/>
              <a:gd name="T45" fmla="*/ 6 h 12"/>
              <a:gd name="T46" fmla="*/ 333 w 432"/>
              <a:gd name="T47" fmla="*/ 6 h 12"/>
              <a:gd name="T48" fmla="*/ 350 w 432"/>
              <a:gd name="T49" fmla="*/ 6 h 12"/>
              <a:gd name="T50" fmla="*/ 362 w 432"/>
              <a:gd name="T51" fmla="*/ 6 h 12"/>
              <a:gd name="T52" fmla="*/ 379 w 432"/>
              <a:gd name="T53" fmla="*/ 6 h 12"/>
              <a:gd name="T54" fmla="*/ 391 w 432"/>
              <a:gd name="T55" fmla="*/ 6 h 12"/>
              <a:gd name="T56" fmla="*/ 408 w 432"/>
              <a:gd name="T57" fmla="*/ 6 h 12"/>
              <a:gd name="T58" fmla="*/ 419 w 432"/>
              <a:gd name="T59" fmla="*/ 6 h 12"/>
              <a:gd name="T60" fmla="*/ 431 w 432"/>
              <a:gd name="T61" fmla="*/ 6 h 12"/>
              <a:gd name="T62" fmla="*/ 431 w 432"/>
              <a:gd name="T63" fmla="*/ 6 h 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32"/>
              <a:gd name="T97" fmla="*/ 0 h 12"/>
              <a:gd name="T98" fmla="*/ 432 w 432"/>
              <a:gd name="T99" fmla="*/ 12 h 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32" h="12">
                <a:moveTo>
                  <a:pt x="0" y="0"/>
                </a:moveTo>
                <a:lnTo>
                  <a:pt x="5" y="6"/>
                </a:lnTo>
                <a:lnTo>
                  <a:pt x="17" y="6"/>
                </a:lnTo>
                <a:lnTo>
                  <a:pt x="28" y="6"/>
                </a:lnTo>
                <a:lnTo>
                  <a:pt x="46" y="6"/>
                </a:lnTo>
                <a:lnTo>
                  <a:pt x="63" y="11"/>
                </a:lnTo>
                <a:lnTo>
                  <a:pt x="74" y="11"/>
                </a:lnTo>
                <a:lnTo>
                  <a:pt x="86" y="11"/>
                </a:lnTo>
                <a:lnTo>
                  <a:pt x="97" y="11"/>
                </a:lnTo>
                <a:lnTo>
                  <a:pt x="109" y="11"/>
                </a:lnTo>
                <a:lnTo>
                  <a:pt x="126" y="11"/>
                </a:lnTo>
                <a:lnTo>
                  <a:pt x="138" y="11"/>
                </a:lnTo>
                <a:lnTo>
                  <a:pt x="155" y="11"/>
                </a:lnTo>
                <a:lnTo>
                  <a:pt x="172" y="11"/>
                </a:lnTo>
                <a:lnTo>
                  <a:pt x="184" y="6"/>
                </a:lnTo>
                <a:lnTo>
                  <a:pt x="201" y="6"/>
                </a:lnTo>
                <a:lnTo>
                  <a:pt x="218" y="6"/>
                </a:lnTo>
                <a:lnTo>
                  <a:pt x="235" y="6"/>
                </a:lnTo>
                <a:lnTo>
                  <a:pt x="253" y="6"/>
                </a:lnTo>
                <a:lnTo>
                  <a:pt x="270" y="6"/>
                </a:lnTo>
                <a:lnTo>
                  <a:pt x="281" y="6"/>
                </a:lnTo>
                <a:lnTo>
                  <a:pt x="299" y="6"/>
                </a:lnTo>
                <a:lnTo>
                  <a:pt x="316" y="6"/>
                </a:lnTo>
                <a:lnTo>
                  <a:pt x="333" y="6"/>
                </a:lnTo>
                <a:lnTo>
                  <a:pt x="350" y="6"/>
                </a:lnTo>
                <a:lnTo>
                  <a:pt x="362" y="6"/>
                </a:lnTo>
                <a:lnTo>
                  <a:pt x="379" y="6"/>
                </a:lnTo>
                <a:lnTo>
                  <a:pt x="391" y="6"/>
                </a:lnTo>
                <a:lnTo>
                  <a:pt x="408" y="6"/>
                </a:lnTo>
                <a:lnTo>
                  <a:pt x="419" y="6"/>
                </a:lnTo>
                <a:lnTo>
                  <a:pt x="431" y="6"/>
                </a:lnTo>
              </a:path>
            </a:pathLst>
          </a:custGeom>
          <a:noFill/>
          <a:ln w="88900" cmpd="sng">
            <a:solidFill>
              <a:srgbClr val="FFFF00">
                <a:alpha val="50195"/>
              </a:srgbClr>
            </a:solidFill>
            <a:round/>
            <a:headEnd type="none" w="med" len="med"/>
            <a:tailEnd type="none" w="med" len="med"/>
          </a:ln>
        </p:spPr>
        <p:txBody>
          <a:bodyPr wrap="none" anchor="ctr"/>
          <a:lstStyle/>
          <a:p>
            <a:endParaRPr lang="en-I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title"/>
          </p:nvPr>
        </p:nvSpPr>
        <p:spPr/>
        <p:txBody>
          <a:bodyPr/>
          <a:lstStyle/>
          <a:p>
            <a:pPr eaLnBrk="1" hangingPunct="1"/>
            <a:r>
              <a:rPr lang="en-US" sz="2000" smtClean="0"/>
              <a:t>Bacterial cell		      Animal cell	                         Plant cell</a:t>
            </a:r>
          </a:p>
        </p:txBody>
      </p:sp>
      <p:sp>
        <p:nvSpPr>
          <p:cNvPr id="18435" name="Rectangle 10"/>
          <p:cNvSpPr>
            <a:spLocks noGrp="1" noChangeArrowheads="1"/>
          </p:cNvSpPr>
          <p:nvPr>
            <p:ph sz="half" idx="1"/>
          </p:nvPr>
        </p:nvSpPr>
        <p:spPr>
          <a:xfrm>
            <a:off x="152400" y="1981200"/>
            <a:ext cx="2514600" cy="3886200"/>
          </a:xfrm>
        </p:spPr>
        <p:txBody>
          <a:bodyPr/>
          <a:lstStyle/>
          <a:p>
            <a:pPr eaLnBrk="1" hangingPunct="1"/>
            <a:endParaRPr lang="en-US" smtClean="0"/>
          </a:p>
        </p:txBody>
      </p:sp>
      <p:pic>
        <p:nvPicPr>
          <p:cNvPr id="18436" name="Picture 14" descr="Anatomy of the Plant Cell">
            <a:hlinkClick r:id="rId2"/>
          </p:cNvPr>
          <p:cNvPicPr>
            <a:picLocks noChangeAspect="1" noChangeArrowheads="1"/>
          </p:cNvPicPr>
          <p:nvPr/>
        </p:nvPicPr>
        <p:blipFill>
          <a:blip r:embed="rId3"/>
          <a:srcRect/>
          <a:stretch>
            <a:fillRect/>
          </a:stretch>
        </p:blipFill>
        <p:spPr bwMode="auto">
          <a:xfrm>
            <a:off x="6248400" y="2057400"/>
            <a:ext cx="2667000" cy="3810000"/>
          </a:xfrm>
          <a:prstGeom prst="rect">
            <a:avLst/>
          </a:prstGeom>
          <a:noFill/>
          <a:ln w="9525">
            <a:noFill/>
            <a:miter lim="800000"/>
            <a:headEnd/>
            <a:tailEnd/>
          </a:ln>
        </p:spPr>
      </p:pic>
      <p:pic>
        <p:nvPicPr>
          <p:cNvPr id="18437" name="Picture 15" descr="Anatomy of the Animal Cell">
            <a:hlinkClick r:id="rId4"/>
          </p:cNvPr>
          <p:cNvPicPr>
            <a:picLocks noChangeAspect="1" noChangeArrowheads="1"/>
          </p:cNvPicPr>
          <p:nvPr>
            <p:ph sz="half" idx="2"/>
          </p:nvPr>
        </p:nvPicPr>
        <p:blipFill>
          <a:blip r:embed="rId5"/>
          <a:srcRect/>
          <a:stretch>
            <a:fillRect/>
          </a:stretch>
        </p:blipFill>
        <p:spPr>
          <a:xfrm>
            <a:off x="2819400" y="2133600"/>
            <a:ext cx="3200400" cy="3657600"/>
          </a:xfrm>
        </p:spPr>
      </p:pic>
      <p:pic>
        <p:nvPicPr>
          <p:cNvPr id="18438" name="Picture 19" descr="Bacterial cell"/>
          <p:cNvPicPr>
            <a:picLocks noChangeAspect="1" noChangeArrowheads="1"/>
          </p:cNvPicPr>
          <p:nvPr/>
        </p:nvPicPr>
        <p:blipFill>
          <a:blip r:embed="rId6"/>
          <a:srcRect/>
          <a:stretch>
            <a:fillRect/>
          </a:stretch>
        </p:blipFill>
        <p:spPr bwMode="auto">
          <a:xfrm>
            <a:off x="228600" y="2209800"/>
            <a:ext cx="2457450" cy="335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457200" y="533400"/>
            <a:ext cx="8229600" cy="6019800"/>
          </a:xfrm>
        </p:spPr>
        <p:txBody>
          <a:bodyPr/>
          <a:lstStyle/>
          <a:p>
            <a:pPr eaLnBrk="1" hangingPunct="1"/>
            <a:endParaRPr lang="en-US" smtClean="0"/>
          </a:p>
        </p:txBody>
      </p:sp>
      <p:pic>
        <p:nvPicPr>
          <p:cNvPr id="19459" name="Picture 5" descr="anatomy"/>
          <p:cNvPicPr>
            <a:picLocks noChangeAspect="1" noChangeArrowheads="1"/>
          </p:cNvPicPr>
          <p:nvPr/>
        </p:nvPicPr>
        <p:blipFill>
          <a:blip r:embed="rId2"/>
          <a:srcRect/>
          <a:stretch>
            <a:fillRect/>
          </a:stretch>
        </p:blipFill>
        <p:spPr bwMode="auto">
          <a:xfrm>
            <a:off x="609600" y="638175"/>
            <a:ext cx="7848600" cy="570388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457200" y="533400"/>
            <a:ext cx="8229600" cy="5943600"/>
          </a:xfrm>
        </p:spPr>
        <p:txBody>
          <a:bodyPr/>
          <a:lstStyle/>
          <a:p>
            <a:pPr eaLnBrk="1" hangingPunct="1"/>
            <a:endParaRPr lang="en-US" smtClean="0"/>
          </a:p>
        </p:txBody>
      </p:sp>
      <p:pic>
        <p:nvPicPr>
          <p:cNvPr id="20483" name="Picture 5" descr="anatomy"/>
          <p:cNvPicPr>
            <a:picLocks noChangeAspect="1" noChangeArrowheads="1"/>
          </p:cNvPicPr>
          <p:nvPr/>
        </p:nvPicPr>
        <p:blipFill>
          <a:blip r:embed="rId2"/>
          <a:srcRect/>
          <a:stretch>
            <a:fillRect/>
          </a:stretch>
        </p:blipFill>
        <p:spPr bwMode="auto">
          <a:xfrm>
            <a:off x="1143000" y="609600"/>
            <a:ext cx="6858000" cy="57531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457200" y="609600"/>
            <a:ext cx="8229600" cy="5943600"/>
          </a:xfrm>
        </p:spPr>
        <p:txBody>
          <a:bodyPr/>
          <a:lstStyle/>
          <a:p>
            <a:pPr eaLnBrk="1" hangingPunct="1">
              <a:buFont typeface="Wingdings" pitchFamily="2" charset="2"/>
              <a:buNone/>
            </a:pPr>
            <a:endParaRPr lang="en-US" smtClean="0"/>
          </a:p>
        </p:txBody>
      </p:sp>
      <p:pic>
        <p:nvPicPr>
          <p:cNvPr id="21507" name="Picture 5" descr="animal"/>
          <p:cNvPicPr>
            <a:picLocks noChangeAspect="1" noChangeArrowheads="1"/>
          </p:cNvPicPr>
          <p:nvPr/>
        </p:nvPicPr>
        <p:blipFill>
          <a:blip r:embed="rId2"/>
          <a:srcRect/>
          <a:stretch>
            <a:fillRect/>
          </a:stretch>
        </p:blipFill>
        <p:spPr bwMode="auto">
          <a:xfrm>
            <a:off x="1295400" y="995363"/>
            <a:ext cx="6858000" cy="50434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4E0DF0AA1A204C87E2AD670C058966" ma:contentTypeVersion="4" ma:contentTypeDescription="Create a new document." ma:contentTypeScope="" ma:versionID="15b933ce0c0716803d25be1cd932ea4d">
  <xsd:schema xmlns:xsd="http://www.w3.org/2001/XMLSchema" xmlns:xs="http://www.w3.org/2001/XMLSchema" xmlns:p="http://schemas.microsoft.com/office/2006/metadata/properties" xmlns:ns2="98675793-adc3-4e47-a85f-9eea497c169c" targetNamespace="http://schemas.microsoft.com/office/2006/metadata/properties" ma:root="true" ma:fieldsID="d51886acfc1e4a9acfe40e812bf3e3a1" ns2:_="">
    <xsd:import namespace="98675793-adc3-4e47-a85f-9eea497c169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675793-adc3-4e47-a85f-9eea497c16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CE78B8-6EF8-49CD-BDC7-88F47AE1844B}"/>
</file>

<file path=customXml/itemProps2.xml><?xml version="1.0" encoding="utf-8"?>
<ds:datastoreItem xmlns:ds="http://schemas.openxmlformats.org/officeDocument/2006/customXml" ds:itemID="{56F18B9D-5A74-479C-B8C3-324F23875F8F}"/>
</file>

<file path=customXml/itemProps3.xml><?xml version="1.0" encoding="utf-8"?>
<ds:datastoreItem xmlns:ds="http://schemas.openxmlformats.org/officeDocument/2006/customXml" ds:itemID="{B78361CA-82C6-4F66-A0F5-95354E43F0AD}"/>
</file>

<file path=docProps/app.xml><?xml version="1.0" encoding="utf-8"?>
<Properties xmlns="http://schemas.openxmlformats.org/officeDocument/2006/extended-properties" xmlns:vt="http://schemas.openxmlformats.org/officeDocument/2006/docPropsVTypes">
  <TotalTime>92</TotalTime>
  <Words>1986</Words>
  <Application>Microsoft Office PowerPoint</Application>
  <PresentationFormat>On-screen Show (4:3)</PresentationFormat>
  <Paragraphs>182</Paragraphs>
  <Slides>39</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39</vt:i4>
      </vt:variant>
    </vt:vector>
  </HeadingPairs>
  <TitlesOfParts>
    <vt:vector size="41" baseType="lpstr">
      <vt:lpstr>Arial</vt:lpstr>
      <vt:lpstr>Default Design</vt:lpstr>
      <vt:lpstr>The Big Bang theory of the formation of the universe</vt:lpstr>
      <vt:lpstr>Formation of the solar system </vt:lpstr>
      <vt:lpstr>Origin of life</vt:lpstr>
      <vt:lpstr>Oparin-Haldane model</vt:lpstr>
      <vt:lpstr>Slide 5</vt:lpstr>
      <vt:lpstr>Miller-Urey Experiment</vt:lpstr>
      <vt:lpstr>Miller-Urey Experiment</vt:lpstr>
      <vt:lpstr>Slide 8</vt:lpstr>
      <vt:lpstr>microspheres</vt:lpstr>
      <vt:lpstr>Microspheres</vt:lpstr>
      <vt:lpstr>Coacervates</vt:lpstr>
      <vt:lpstr>Origin of life</vt:lpstr>
      <vt:lpstr>Origin of life</vt:lpstr>
      <vt:lpstr>Eukaryotic cells are actually the descendents of separate prokaryotic cells</vt:lpstr>
      <vt:lpstr>Slide 15</vt:lpstr>
      <vt:lpstr>Slide 16</vt:lpstr>
      <vt:lpstr>Slide 17</vt:lpstr>
      <vt:lpstr>Slide 18</vt:lpstr>
      <vt:lpstr>Levels of hierarchy</vt:lpstr>
      <vt:lpstr>The unit of taxonomy: The SPECIES</vt:lpstr>
      <vt:lpstr>How taxonomy works</vt:lpstr>
      <vt:lpstr>Comparing phenotypes &amp; genotypes</vt:lpstr>
      <vt:lpstr>Slide 23</vt:lpstr>
      <vt:lpstr>Eukaryotic Cells vs. Prokaryotic Cells</vt:lpstr>
      <vt:lpstr>Cell Theory</vt:lpstr>
      <vt:lpstr>Slide 26</vt:lpstr>
      <vt:lpstr>Cell Types</vt:lpstr>
      <vt:lpstr>Eukaryotic Cell Structure</vt:lpstr>
      <vt:lpstr>Plasma Membrane/Cell Membrane continued:</vt:lpstr>
      <vt:lpstr>Overview of Organelles</vt:lpstr>
      <vt:lpstr>Overview Cont’d</vt:lpstr>
      <vt:lpstr>Slide 32</vt:lpstr>
      <vt:lpstr>Eukaryotic plant cell</vt:lpstr>
      <vt:lpstr>Plant Cell Organelles</vt:lpstr>
      <vt:lpstr>Slide 35</vt:lpstr>
      <vt:lpstr>Bacterial cell        Animal cell                          Plant cell</vt:lpstr>
      <vt:lpstr>Slide 37</vt:lpstr>
      <vt:lpstr>Slide 38</vt:lpstr>
      <vt:lpstr>Slide 39</vt:lpstr>
    </vt:vector>
  </TitlesOfParts>
  <Company>&lt;arabianhorse&gt;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computer12</dc:creator>
  <cp:lastModifiedBy>Dinesh</cp:lastModifiedBy>
  <cp:revision>7</cp:revision>
  <dcterms:created xsi:type="dcterms:W3CDTF">2010-05-12T05:25:02Z</dcterms:created>
  <dcterms:modified xsi:type="dcterms:W3CDTF">2019-01-14T08:09:49Z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0x010100694E0DF0AA1A204C87E2AD670C058966</vt:lpwstr>
  </property>
</Properties>
</file>